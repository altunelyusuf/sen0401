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2-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P(attacker ever catches up) vs confirmations (log axis)</a:t>
            </a:r>
          </a:p>
        </c:rich>
      </c:tx>
      <c:layout/>
      <c:overlay val="0"/>
    </c:title>
    <c:autoTitleDeleted val="0"/>
    <c:plotArea>
      <c:layout/>
      <c:lineChart>
        <c:varyColors val="0"/>
        <c:ser>
          <c:idx val="0"/>
          <c:order val="0"/>
          <c:tx>
            <c:strRef>
              <c:f>Sheet1!$B$1</c:f>
              <c:strCache>
                <c:ptCount val="1"/>
                <c:pt idx="0">
                  <c:v>attacker holds 10% of hash power</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0.2045873</c:v>
                </c:pt>
                <c:pt idx="1">
                  <c:v>0.0509779</c:v>
                </c:pt>
                <c:pt idx="2">
                  <c:v>0.0131722</c:v>
                </c:pt>
                <c:pt idx="3">
                  <c:v>0.0034552</c:v>
                </c:pt>
                <c:pt idx="4">
                  <c:v>0.0009137</c:v>
                </c:pt>
                <c:pt idx="5">
                  <c:v>0.0002428</c:v>
                </c:pt>
              </c:numCache>
            </c:numRef>
          </c:val>
          <c:smooth val="0"/>
        </c:ser>
        <c:ser>
          <c:idx val="1"/>
          <c:order val="1"/>
          <c:tx>
            <c:strRef>
              <c:f>Sheet1!$C$1</c:f>
              <c:strCache>
                <c:ptCount val="1"/>
                <c:pt idx="0">
                  <c:v>attacker holds 30%</c:v>
                </c:pt>
              </c:strCache>
            </c:strRef>
          </c:tx>
          <c:spPr>
            <a:solidFill>
              <a:srgbClr val="2F6D62"/>
            </a:solidFill>
            <a:ln w="31750" cap="flat">
              <a:solidFill>
                <a:srgbClr val="2F6D62"/>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2F6D62"/>
              </a:solidFill>
              <a:ln w="9525" cap="flat">
                <a:solidFill>
                  <a:srgbClr val="2F6D62"/>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0.6277491</c:v>
                </c:pt>
                <c:pt idx="1">
                  <c:v>0.4457171</c:v>
                </c:pt>
                <c:pt idx="2">
                  <c:v>0.3245841</c:v>
                </c:pt>
                <c:pt idx="3">
                  <c:v>0.2391269</c:v>
                </c:pt>
                <c:pt idx="4">
                  <c:v>0.1773523</c:v>
                </c:pt>
                <c:pt idx="5">
                  <c:v>0.1321112</c:v>
                </c:pt>
              </c:numCache>
            </c:numRef>
          </c:val>
          <c:smooth val="0"/>
        </c:ser>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max val="1"/>
          <c:min val="0.000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asked what Bitcoin is; chapter 2 follows one payment - Alice pays Bob - all the way from her wallet to a buried block, and meets every moving part on the way.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one payment followed all the way. The stories carry the why, the consoles carry the proof, and every slide number here is printed bottom-right as we pass it. A question to think about is this: which part do you expect to be hardest?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question on this slide is one the chapter answers, from the parts of a transaction to what a confirmation buys. We return to every one of them as the chapter proceeds. If you can answer them at the end, the chapter is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 Network and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The full explanation is on the course page, chapter 2, in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31 October 2008 a pseudonymous author posted nine pages to a cryptography mailing list. Section 11 does something unusual for a systems paper, because it computes the attacker's odds. For an attacker with ten percent of the power, the paper's table gives about 0.2046 at one confirmation and 0.0002428 at six, and the example group AttackerSuccess reruns both. The sources are Nakamoto's 2008 paper and the announcement on the metzdowd cryptography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A question to think about is this: why must the 100,000 be spent whole rather than split? The full explanation is on the course page, chapter 2, in Transaction and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unspent transaction output, abbreviated UTXO, is a transaction output that has not yet been used as an input by any later transaction. The glossary defines it as an unspent transaction output that can be spent as an input in a new transaction (Antonopoulos and Harding, 2023). A question to think about is this: where does the idea of an 'account balance' live, if not on the chain? The full explanation is on the course page, chapter 2, in Unspent output and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change is the practice of adding to a transaction an output that returns the surplus to the person who is paying. The book explains the need with money in a shop: if you buy a five-dollar item with a twenty-dollar bill you expect fifteen dollars back, and in the same way a transaction input, like a currency note, cannot be partly spent (Antonopoulos and Harding, 2023). Think about this case: pay a 20-lira coffee with a 50-lira note: where is the change output? The full explanation is on the course page, chapter 2, in Making change and Transaction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fee rate is the fee a transaction pays for each unit of the space it takes in a block. Miners do not compare transactions by their total fee alone; they divide the fee by the size of the transaction, as a shopper divides the price of a bag of rice by its weight to find the best deal. A question to think about is this: why does moving 1 BTC cost the same as moving 100? The full explanation is on the course page, chapter 2, in Fee rate and Transaction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Bitcoin network is the set of computers that run the Bitcoin protocol and exchange transactions and blocks with one another. This second branch of the chapter follows Alice's transaction out of her wallet and across that network. The full explanation is on the course page, chapter 2, in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2010-06-11. In June 2010 there was almost nowhere to buy bitcoin, so a developer in Massachusetts stocked a website with 1,100 of his own coins and gave five to anyone who asked - solving a CAPTCHA was the only price. Thousands of people got their first bitcoin from Gavin Andresen's faucet. The source is Andresen's own announcement thread, bitcointalk.org topic 141, 2010-06-11: 'Get 5 free bitcoins from freebitcoins.appspot.com', initially stocked with 1,100 BTC.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 propagation is the spread of a signed transaction across the network until it has reached, in practice, everyone who cares, including the miners who may record it. It is the composition of the two previous concepts: the wallet transmits the transaction to some node, and then the gossip rule carries it onward hop by hop. A question to think about is this: what happens if two conflicting spends gossip at once? The full explanation is on the course page, chapter 2, in Transaction propagation and Mempool.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which the chapter calls a full verification node, is a program that has both the software logic and the data necessary to fully verify the correctness of a new transaction (Antonopoulos and Harding, 2023). A question to think about is this: which one is Alice's phone wallet, and what exactly does it trust? The full explanation is on the course page, chapter 2, in Full node and Lightweight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explorer is a web application that operates as a Bitcoin search engine: it allows you to search for addresses, transactions and blocks and to see the relationships and flows between them, in the chapter's own words (Antonopoulos and Harding, 2023). A question to think about is this: why does Bob check his OWN copy rather than trust Alice's screenshot? The full explanation is on the course page, chapter 2, in Block explorer and Recipient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blockchain is the record in which Bitcoin's transactions are finally written down. The chapter calls it the distributed journal of all transactions and, in its opening overview, the consensus blockchain which is the authoritative journal of all transactions (Antonopoulos and Harding, 2023). The full explanation is on the course page, chapter 2, in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work is a piece of data that takes a great deal of computation to find and almost none to check. A question to think about is this: who pays for all the losing tickets? The full explanation is on the course page, chapter 2, in Proof of work and Sudoku 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is the unit in which transactions are added to the blockchain. The chapter says that transactions are bundled into blocks, and that blocks have a very small header that must be formed in a very specific way, requiring an enormous amount of computation to get right but only a small amount to verify as correct (Antonopoulos and Harding, 2023). A question to think about is this: why hash the header only, not the whole megabyte? The full explanation is on the course page, chapter 2, in Block and Block 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merkle tree, also called a binary hash tree, is a structure for summarizing and verifying the integrity of large sets of data. The book defines it as a tree constructed by hashing paired data, the leaves, then pairing and hashing the results until a single hash remains, the merkle root, and notes that in Bitcoin the leaves are almost always the transactions of a single block (Antonopoulos and Harding, 2023). Think about this case: a light client holds only the root. The full explanation is on the course page, chapter 2, in Merkle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coinbase transaction is the special first transaction of every block, by which the miner pays itself. The book's glossary calls it the first transaction in a block, always created by a miner, and the mining chapter adds the distinguishing property: unlike regular transactions the coinbase transaction does not consume unspent outputs as inputs, but has only one input, called the coinbase input, which implicitly contains the block reward (Antonopoulos and Harding, 2023). The full explanation is on the course page, chapter 2, in Coinbase transaction and Block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On 15 August 2010 block 74,638 contained a transaction paying out about 184,467,440,737 BTC - thousands of times the 21 million cap. Two outputs were so large that, summed as 64-bit integers, they overflowed to a small number and slipped past the checks. The source is en.bitcoin.it/wiki/Value_overflow_incident: block 74,638 of 2010-08-15 (two outputs of 92,233,720,368.54 BTC each), Garzik's 'Strange block 74638' thread, Satoshi's 0.3.10 patch ~5 hours later, good chain ahead by block 74,691.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confirmation is a block that commits to a transaction, counted once for the block that contains it and once more for each block built on top. A question to think about is this: why does a reorg of depth 1 happen weekly, depth 6 almost never? The full explanation is on the course page, chapter 2, in Confirmation and Best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is not an illustration: the build ran the whitepaper's section-11 procedure (examples group AttackerSuccess) and drew what it returned; the chapter research record matched the q=0.1 column against the paper to seven decimals. Think about this case: read the 30% line at six blocks. The full explanation is on the course page, chapter 2, in Probability and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Accepting a small payment unconfirmed is the practice of treating a transaction as paid as soon as it has propagated, without waiting for a block. It is not a rule of Bitcoin but a judgement about risk. A question to think about is this: where would you put a used-car sale on this line? The full explanation is on the course page, chapter 2, in Small payment acceptance and Unconfirmed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branch reads the chapter with the eyes of the course rather than of the book. A transaction chain, as the first branch described it, is a record of what came from what: each output exists because a transaction consumed earlier outputs, and each transaction happened because somebody who held a key authorized it. The full explanation is on the course page, chapter 2, in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triple is the unit in which these descriptions are written: a subject, a predicate and an object, read as a single sentence. The statement that Alice's transaction used Joe's output is a triple whose subject is the transaction, whose predicate is the relation used and whose object is the output. A question to think about is this: what triple would record Alice's payment to Bob? The full explanation is on the course page, chapter 2, in Triple and Provenance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branch of this chapter is about trying things out. The concepts of the earlier branches are all mechanical, which means that a learner can operate them rather than only read about them, and a small number of interactive pages have become the standard way to do that in teaching.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lines, one per part. If any feels like a claim rather than a fact, the agenda names the slides that prove it; the course page carries the full text. A question to think about is this: which line would you defend to a sceptic first, and with which slide? The full explanation is on the course page, chapter 2, in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Watch one transaction confirm on mempool.space tonight - pick any txid from the latest block - and you will have SEEN this whole chapter happen once. A question to think about is this: who can find Alice-sized fees (about 35 sat/vB) in the current mempool? The full explanation is on the course page, chapter 2,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one carried by a computation you watched run. Next week: the wallet that holds Alice's keys. The full explanation is on the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hyperlink" Target="https://bitcointalk.org/index.php?topic=183.0"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en.bitcoin.it/wiki/Value_overflow_incident"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raw.githubusercontent.com/bitcoinbook/bitcoinbook/develop/ch02_overview.adoc" TargetMode="External"/><Relationship Id="rId3" Type="http://schemas.openxmlformats.org/officeDocument/2006/relationships/hyperlink" Target="https://en.bitcoin.it/wiki/Value_overflow_incident" TargetMode="External"/><Relationship Id="rId4" Type="http://schemas.openxmlformats.org/officeDocument/2006/relationships/hyperlink" Target="https://mempool.space" TargetMode="External"/><Relationship Id="rId5" Type="http://schemas.openxmlformats.org/officeDocument/2006/relationships/hyperlink" Target="https://blockstream.info" TargetMode="External"/><Relationship Id="rId6" Type="http://schemas.openxmlformats.org/officeDocument/2006/relationships/hyperlink" Target="https://learnmeabitcoin.com" TargetMode="External"/><Relationship Id="rId7" Type="http://schemas.openxmlformats.org/officeDocument/2006/relationships/hyperlink" Target="https://bitcoin.stackexchange.com" TargetMode="External"/><Relationship Id="rId8" Type="http://schemas.openxmlformats.org/officeDocument/2006/relationships/hyperlink" Target="https://bitcointalk.org/index.php?topic=183.0" TargetMode="External"/><Relationship Id="rId9" Type="http://schemas.openxmlformats.org/officeDocument/2006/relationships/hyperlink" Target="https://www.youtube.com/watch?v=bBC-nXj3Ng4" TargetMode="External"/><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2: How Bitcoin Works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Transactions, the network, and the chain - one payment, followed all the way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2/assets/c2s04_overview.png">    </p:cNvPr>
          <p:cNvPicPr>
            <a:picLocks noChangeAspect="1"/>
          </p:cNvPicPr>
          <p:nvPr/>
        </p:nvPicPr>
        <p:blipFill>
          <a:blip r:embed="rId1"/>
          <a:srcRect l="0" r="0" t="0" b="0"/>
          <a:stretch/>
        </p:blipFill>
        <p:spPr>
          <a:xfrm>
            <a:off x="5394960" y="1051560"/>
            <a:ext cx="3383280" cy="2377440"/>
          </a:xfrm>
          <a:prstGeom prst="rect">
            <a:avLst/>
          </a:prstGeom>
        </p:spPr>
      </p:pic>
      <p:sp>
        <p:nvSpPr>
          <p:cNvPr id="12" name="Text 9"/>
          <p:cNvSpPr txBox="1"/>
          <p:nvPr/>
        </p:nvSpPr>
        <p:spPr>
          <a:xfrm>
            <a:off x="5394960" y="344728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users, wallets, nodes, miners - 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 inputs, outputs, change, fees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 gossip, nodes, explorers  (slides 11-15)</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Blockchain and mining - blocks, proof, confirmations  (slides 16-24)</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Semantics, practice, summary, and resources  (slides 25-30)</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30</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5793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one payment followed all the way through</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parts does a Bitcoin transaction consist of?</a:t>
            </a:r>
            <a:endParaRPr lang="en-US" sz="1250" dirty="0"/>
          </a:p>
        </p:txBody>
      </p:sp>
      <p:sp>
        <p:nvSpPr>
          <p:cNvPr id="9" name="Shape 7"/>
          <p:cNvSpPr/>
          <p:nvPr/>
        </p:nvSpPr>
        <p:spPr>
          <a:xfrm>
            <a:off x="457200" y="169392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939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5735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mathematical tools does a transaction rely on - hashing?</a:t>
            </a:r>
            <a:endParaRPr lang="en-US" sz="1250" dirty="0"/>
          </a:p>
        </p:txBody>
      </p:sp>
      <p:sp>
        <p:nvSpPr>
          <p:cNvPr id="12" name="Shape 10"/>
          <p:cNvSpPr/>
          <p:nvPr/>
        </p:nvSpPr>
        <p:spPr>
          <a:xfrm>
            <a:off x="457200" y="21168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16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8026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payment begin: what does the invoice of the chapter contain?</a:t>
            </a:r>
            <a:endParaRPr lang="en-US" sz="1250" dirty="0"/>
          </a:p>
        </p:txBody>
      </p:sp>
      <p:sp>
        <p:nvSpPr>
          <p:cNvPr id="15" name="Shape 13"/>
          <p:cNvSpPr/>
          <p:nvPr/>
        </p:nvSpPr>
        <p:spPr>
          <a:xfrm>
            <a:off x="457200" y="253974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974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0317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signed transaction reach the miners?</a:t>
            </a:r>
            <a:endParaRPr lang="en-US" sz="1250" dirty="0"/>
          </a:p>
        </p:txBody>
      </p:sp>
      <p:sp>
        <p:nvSpPr>
          <p:cNvPr id="18" name="Shape 16"/>
          <p:cNvSpPr/>
          <p:nvPr/>
        </p:nvSpPr>
        <p:spPr>
          <a:xfrm>
            <a:off x="457200" y="296265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2608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transaction recorded: how is a block built?</a:t>
            </a:r>
            <a:endParaRPr lang="en-US" sz="1250" dirty="0"/>
          </a:p>
        </p:txBody>
      </p:sp>
      <p:sp>
        <p:nvSpPr>
          <p:cNvPr id="21" name="Shape 19"/>
          <p:cNvSpPr/>
          <p:nvPr/>
        </p:nvSpPr>
        <p:spPr>
          <a:xfrm>
            <a:off x="457200" y="338556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855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4899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exactly does a confirmation buy?</a:t>
            </a:r>
            <a:endParaRPr lang="en-US" sz="1250" dirty="0"/>
          </a:p>
        </p:txBody>
      </p:sp>
      <p:sp>
        <p:nvSpPr>
          <p:cNvPr id="24" name="Shape 22"/>
          <p:cNvSpPr/>
          <p:nvPr/>
        </p:nvSpPr>
        <p:spPr>
          <a:xfrm>
            <a:off x="457200" y="380847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8084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7190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the chapter's transaction chain be expressed as a provenance graph in the vocabulary of the W3C PROV Ontology?</a:t>
            </a:r>
            <a:endParaRPr lang="en-US" sz="1250" dirty="0"/>
          </a:p>
        </p:txBody>
      </p:sp>
      <p:sp>
        <p:nvSpPr>
          <p:cNvPr id="27" name="Shape 25"/>
          <p:cNvSpPr/>
          <p:nvPr/>
        </p:nvSpPr>
        <p:spPr>
          <a:xfrm>
            <a:off x="457200" y="4231386"/>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2313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9481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2 is yours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2</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Transaction Part  ·  Cryptography  ·  Linkage  ·  Form  ·  Unit  ·  Payment Request  ·  Construction</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Participants  ·  Propagation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Blockchain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Mining  ·  Security  ·  Spending</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Provenance Model</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Demo</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Who pays whom, with what, and what it costs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outputs</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Change</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 of spends</a:t>
            </a:r>
            <a:endParaRPr lang="en-US" sz="1400" dirty="0"/>
          </a:p>
        </p:txBody>
      </p:sp>
      <p:pic>
        <p:nvPicPr>
          <p:cNvPr id="14" name="Image 0" descr="../../03-materials/ch02/assets/mbc3_0203.png">    </p:cNvPr>
          <p:cNvPicPr>
            <a:picLocks noChangeAspect="1"/>
          </p:cNvPicPr>
          <p:nvPr/>
        </p:nvPicPr>
        <p:blipFill>
          <a:blip r:embed="rId1"/>
          <a:srcRect l="0" r="0" t="0" b="0"/>
          <a:stretch/>
        </p:blipFill>
        <p:spPr>
          <a:xfrm>
            <a:off x="5852160" y="2011680"/>
            <a:ext cx="2926080" cy="1463040"/>
          </a:xfrm>
          <a:prstGeom prst="rect">
            <a:avLst/>
          </a:prstGeom>
        </p:spPr>
      </p:pic>
      <p:sp>
        <p:nvSpPr>
          <p:cNvPr id="15" name="Text 12"/>
          <p:cNvSpPr txBox="1"/>
          <p:nvPr/>
        </p:nvSpPr>
        <p:spPr>
          <a:xfrm>
            <a:off x="5852160" y="349300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outputs become inputs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Nine pages, and a table of odds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2008-10-31</a:t>
            </a:r>
            <a:endParaRPr lang="en-US" sz="1300" dirty="0"/>
          </a:p>
        </p:txBody>
      </p:sp>
      <p:sp>
        <p:nvSpPr>
          <p:cNvPr id="6" name="Shape 4"/>
          <p:cNvSpPr/>
          <p:nvPr/>
        </p:nvSpPr>
        <p:spPr>
          <a:xfrm>
            <a:off x="457200" y="1298448"/>
            <a:ext cx="2834640" cy="2286000"/>
          </a:xfrm>
          <a:prstGeom prst="rect">
            <a:avLst/>
          </a:prstGeom>
          <a:solidFill>
            <a:srgbClr val="FBF8F2"/>
          </a:solidFill>
          <a:ln w="15875">
            <a:solidFill>
              <a:srgbClr val="C9BFAE"/>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2B2622"/>
                </a:solidFill>
                <a:latin typeface="Cambria" pitchFamily="34" charset="0"/>
                <a:ea typeface="Cambria" pitchFamily="34" charset="-122"/>
                <a:cs typeface="Cambria"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2B2622"/>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mbria" pitchFamily="34" charset="0"/>
                <a:ea typeface="Cambria" pitchFamily="34" charset="-122"/>
                <a:cs typeface="Cambria" pitchFamily="34" charset="-120"/>
              </a:rPr>
              <a:t>Friday October 31 2008</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2B2622"/>
                </a:solidFill>
                <a:latin typeface="Cambria" pitchFamily="34" charset="0"/>
                <a:ea typeface="Cambria" pitchFamily="34" charset="-122"/>
                <a:cs typeface="Cambria" pitchFamily="34" charset="-120"/>
              </a:rPr>
              <a:t>Bitcoin P2P e-cash paper</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nine pages at bitcoin.org</a:t>
            </a:r>
            <a:endParaRPr lang="en-US" sz="1000" dirty="0"/>
          </a:p>
        </p:txBody>
      </p:sp>
      <p:sp>
        <p:nvSpPr>
          <p:cNvPr id="13" name="Text 11"/>
          <p:cNvSpPr txBox="1"/>
          <p:nvPr/>
        </p:nvSpPr>
        <p:spPr>
          <a:xfrm>
            <a:off x="3611880" y="1417320"/>
            <a:ext cx="5074920" cy="1371600"/>
          </a:xfrm>
          <a:prstGeom prst="rect">
            <a:avLst/>
          </a:prstGeom>
          <a:noFill/>
          <a:ln/>
        </p:spPr>
        <p:txBody>
          <a:bodyPr wrap="square" lIns="0" tIns="0" rIns="0" bIns="0" rtlCol="0" anchor="t"/>
          <a:lstStyle/>
          <a:p>
            <a:pPr algn="l" indent="0" marL="0">
              <a:buNone/>
            </a:pPr>
            <a:r>
              <a:rPr lang="en-US" sz="1200" i="1" dirty="0">
                <a:solidFill>
                  <a:srgbClr val="6E655C"/>
                </a:solidFill>
                <a:latin typeface="Calibri" pitchFamily="34" charset="0"/>
                <a:ea typeface="Calibri" pitchFamily="34" charset="-122"/>
                <a:cs typeface="Calibri" pitchFamily="34" charset="-120"/>
              </a:rPr>
              <a:t>"A purely peer-to-peer version of electronic cash would allow online payments to be sent directly from one party to another without going through a financial institution." - the abstract's first sentence</a:t>
            </a:r>
            <a:endParaRPr lang="en-US" sz="1200" dirty="0"/>
          </a:p>
        </p:txBody>
      </p:sp>
      <p:sp>
        <p:nvSpPr>
          <p:cNvPr id="14" name="Shape 12"/>
          <p:cNvSpPr/>
          <p:nvPr/>
        </p:nvSpPr>
        <p:spPr>
          <a:xfrm>
            <a:off x="3611880" y="30335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3886200" y="283464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Section 11 computes the attacker's catch-up odds</a:t>
            </a:r>
            <a:endParaRPr lang="en-US" sz="1300" dirty="0"/>
          </a:p>
        </p:txBody>
      </p:sp>
      <p:sp>
        <p:nvSpPr>
          <p:cNvPr id="16" name="Shape 14"/>
          <p:cNvSpPr/>
          <p:nvPr/>
        </p:nvSpPr>
        <p:spPr>
          <a:xfrm>
            <a:off x="3611880" y="355930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3886200" y="336042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rerun that computation live, later in this deck</a:t>
            </a:r>
            <a:endParaRPr lang="en-US" sz="1300" dirty="0"/>
          </a:p>
        </p:txBody>
      </p:sp>
      <p:sp>
        <p:nvSpPr>
          <p:cNvPr id="18" name="Shape 16"/>
          <p:cNvSpPr/>
          <p:nvPr/>
        </p:nvSpPr>
        <p:spPr>
          <a:xfrm>
            <a:off x="3611880" y="4041648"/>
            <a:ext cx="949147"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703320" y="4041648"/>
            <a:ext cx="80284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a:t>
            </a:r>
            <a:endParaRPr lang="en-US" sz="750" dirty="0"/>
          </a:p>
        </p:txBody>
      </p:sp>
      <p:sp>
        <p:nvSpPr>
          <p:cNvPr id="20" name="Shape 18"/>
          <p:cNvSpPr/>
          <p:nvPr/>
        </p:nvSpPr>
        <p:spPr>
          <a:xfrm>
            <a:off x="4670755" y="4041648"/>
            <a:ext cx="901690"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4762195" y="4041648"/>
            <a:ext cx="755386"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a:t>
            </a:r>
            <a:endParaRPr lang="en-US" sz="750" dirty="0"/>
          </a:p>
        </p:txBody>
      </p:sp>
      <p:sp>
        <p:nvSpPr>
          <p:cNvPr id="22" name="Shape 20"/>
          <p:cNvSpPr/>
          <p:nvPr/>
        </p:nvSpPr>
        <p:spPr>
          <a:xfrm>
            <a:off x="5682173" y="4041648"/>
            <a:ext cx="806775"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5773613"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2008-…</a:t>
            </a:r>
            <a:endParaRPr lang="en-US" sz="750" dirty="0"/>
          </a:p>
        </p:txBody>
      </p:sp>
      <p:sp>
        <p:nvSpPr>
          <p:cNvPr id="24" name="Shape 22"/>
          <p:cNvSpPr/>
          <p:nvPr/>
        </p:nvSpPr>
        <p:spPr>
          <a:xfrm>
            <a:off x="6598676" y="4041648"/>
            <a:ext cx="2088124"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6690116" y="4041648"/>
            <a:ext cx="1941820"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paper computes its promises - today we recompute them</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 pays Bob: one transaction, whole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example, shown as the ledger sees it</a:t>
            </a:r>
            <a:endParaRPr lang="en-US" sz="1300" dirty="0"/>
          </a:p>
        </p:txBody>
      </p:sp>
      <p:pic>
        <p:nvPicPr>
          <p:cNvPr id="6" name="Image 0" descr="../../03-materials/ch02/assets/mbc3_0202.png">    </p:cNvPr>
          <p:cNvPicPr>
            <a:picLocks noChangeAspect="1"/>
          </p:cNvPicPr>
          <p:nvPr/>
        </p:nvPicPr>
        <p:blipFill>
          <a:blip r:embed="rId1"/>
          <a:srcRect l="0" r="0" t="0" b="0"/>
          <a:stretch/>
        </p:blipFill>
        <p:spPr>
          <a:xfrm>
            <a:off x="457200" y="1371600"/>
            <a:ext cx="3931920" cy="2606040"/>
          </a:xfrm>
          <a:prstGeom prst="rect">
            <a:avLst/>
          </a:prstGeom>
        </p:spPr>
      </p:pic>
      <p:sp>
        <p:nvSpPr>
          <p:cNvPr id="7" name="Text 4"/>
          <p:cNvSpPr txBox="1"/>
          <p:nvPr/>
        </p:nvSpPr>
        <p:spPr>
          <a:xfrm>
            <a:off x="457200" y="3995928"/>
            <a:ext cx="39319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double-entry view - Mastering Bitcoin 3e, CC BY-SA</a:t>
            </a:r>
            <a:endParaRPr lang="en-US" sz="900" dirty="0"/>
          </a:p>
        </p:txBody>
      </p:sp>
      <p:sp>
        <p:nvSpPr>
          <p:cNvPr id="8" name="Shape 5"/>
          <p:cNvSpPr/>
          <p:nvPr/>
        </p:nvSpPr>
        <p:spPr>
          <a:xfrm>
            <a:off x="466344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466344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5230368" y="14173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100,000-sat output of Alice's is spent whole</a:t>
            </a:r>
            <a:endParaRPr lang="en-US" sz="1050" dirty="0"/>
          </a:p>
        </p:txBody>
      </p:sp>
      <p:sp>
        <p:nvSpPr>
          <p:cNvPr id="11" name="Shape 8"/>
          <p:cNvSpPr/>
          <p:nvPr/>
        </p:nvSpPr>
        <p:spPr>
          <a:xfrm>
            <a:off x="4663440" y="1911096"/>
            <a:ext cx="402336" cy="402336"/>
          </a:xfrm>
          <a:prstGeom prst="ellipse">
            <a:avLst/>
          </a:prstGeom>
          <a:solidFill>
            <a:srgbClr val="D97A14"/>
          </a:solidFill>
          <a:ln w="12700">
            <a:solidFill>
              <a:srgbClr val="D97A14"/>
            </a:solidFill>
            <a:prstDash val="solid"/>
          </a:ln>
        </p:spPr>
      </p:sp>
      <p:sp>
        <p:nvSpPr>
          <p:cNvPr id="12" name="Text 9"/>
          <p:cNvSpPr txBox="1"/>
          <p:nvPr/>
        </p:nvSpPr>
        <p:spPr>
          <a:xfrm>
            <a:off x="4663440" y="1911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230368" y="18745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Two new outputs: 75,000 to Bob, 20,000 back to Alice</a:t>
            </a:r>
            <a:endParaRPr lang="en-US" sz="1050" dirty="0"/>
          </a:p>
        </p:txBody>
      </p:sp>
      <p:sp>
        <p:nvSpPr>
          <p:cNvPr id="14" name="Shape 11"/>
          <p:cNvSpPr/>
          <p:nvPr/>
        </p:nvSpPr>
        <p:spPr>
          <a:xfrm>
            <a:off x="4663440" y="236829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4663440" y="23682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5230368" y="23317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the sums leave over - 5,000 sat - is the fee</a:t>
            </a:r>
            <a:endParaRPr lang="en-US" sz="1050" dirty="0"/>
          </a:p>
        </p:txBody>
      </p:sp>
      <p:sp>
        <p:nvSpPr>
          <p:cNvPr id="17" name="Text 14"/>
          <p:cNvSpPr txBox="1"/>
          <p:nvPr/>
        </p:nvSpPr>
        <p:spPr>
          <a:xfrm>
            <a:off x="4663440" y="27432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counted by the run: 1 input, 2 outputs, 5,000 fee</a:t>
            </a:r>
            <a:endParaRPr lang="en-US" sz="1150" dirty="0"/>
          </a:p>
        </p:txBody>
      </p:sp>
      <p:sp>
        <p:nvSpPr>
          <p:cNvPr id="18" name="Shape 15"/>
          <p:cNvSpPr/>
          <p:nvPr/>
        </p:nvSpPr>
        <p:spPr>
          <a:xfrm>
            <a:off x="4663440" y="3017520"/>
            <a:ext cx="4023360" cy="960120"/>
          </a:xfrm>
          <a:prstGeom prst="roundRect">
            <a:avLst>
              <a:gd name="adj" fmla="val 9524"/>
            </a:avLst>
          </a:prstGeom>
          <a:solidFill>
            <a:srgbClr val="23272E"/>
          </a:solidFill>
          <a:ln w="12700">
            <a:solidFill>
              <a:srgbClr val="23272E"/>
            </a:solidFill>
            <a:prstDash val="solid"/>
          </a:ln>
        </p:spPr>
      </p:sp>
      <p:sp>
        <p:nvSpPr>
          <p:cNvPr id="19" name="Text 16"/>
          <p:cNvSpPr txBox="1"/>
          <p:nvPr/>
        </p:nvSpPr>
        <p:spPr>
          <a:xfrm>
            <a:off x="4846320" y="3136392"/>
            <a:ext cx="365760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ins, outs = [</a:t>
            </a:r>
            <a:r>
              <a:rPr lang="en-US" sz="950" dirty="0">
                <a:solidFill>
                  <a:srgbClr val="FFD28A"/>
                </a:solidFill>
                <a:latin typeface="Courier New" pitchFamily="34" charset="0"/>
                <a:ea typeface="Courier New" pitchFamily="34" charset="-122"/>
                <a:cs typeface="Courier New" pitchFamily="34" charset="-120"/>
              </a:rPr>
              <a:t>100000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75000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(len(ins), len(outs), sum(ins) - sum(outs))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(1, 2, 5000)</a:t>
            </a:r>
            <a:endParaRPr lang="en-US" sz="950" dirty="0"/>
          </a:p>
        </p:txBody>
      </p:sp>
      <p:sp>
        <p:nvSpPr>
          <p:cNvPr id="20" name="Text 17"/>
          <p:cNvSpPr txBox="1"/>
          <p:nvPr/>
        </p:nvSpPr>
        <p:spPr>
          <a:xfrm>
            <a:off x="4663440" y="3995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spends whole outputs and makes new ones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Your balance is outputs, not an account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UTXO idea - what a wallet actually sums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 payment leaves outputs - coins of exact sizes</a:t>
            </a:r>
            <a:endParaRPr lang="en-US" sz="1050" dirty="0"/>
          </a:p>
        </p:txBody>
      </p:sp>
      <p:sp>
        <p:nvSpPr>
          <p:cNvPr id="9" name="Shape 7"/>
          <p:cNvSpPr/>
          <p:nvPr/>
        </p:nvSpPr>
        <p:spPr>
          <a:xfrm>
            <a:off x="457200" y="187680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7680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4023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Spending consumes outputs whole and mints new ones</a:t>
            </a:r>
            <a:endParaRPr lang="en-US" sz="1050" dirty="0"/>
          </a:p>
        </p:txBody>
      </p:sp>
      <p:sp>
        <p:nvSpPr>
          <p:cNvPr id="12" name="Shape 10"/>
          <p:cNvSpPr/>
          <p:nvPr/>
        </p:nvSpPr>
        <p:spPr>
          <a:xfrm>
            <a:off x="457200" y="22539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39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1742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Your balance = the outputs your keys can unlock</a:t>
            </a:r>
            <a:endParaRPr lang="en-US" sz="1050" dirty="0"/>
          </a:p>
        </p:txBody>
      </p:sp>
      <p:sp>
        <p:nvSpPr>
          <p:cNvPr id="15" name="Shape 13"/>
          <p:cNvSpPr/>
          <p:nvPr/>
        </p:nvSpPr>
        <p:spPr>
          <a:xfrm>
            <a:off x="457200" y="263118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311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94610"/>
            <a:ext cx="4279392" cy="34061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keeps only the unspent: Tx2:0 and Tx2:1</a:t>
            </a:r>
            <a:endParaRPr lang="en-US" sz="1050" dirty="0"/>
          </a:p>
        </p:txBody>
      </p:sp>
      <p:sp>
        <p:nvSpPr>
          <p:cNvPr id="18" name="Shape 16"/>
          <p:cNvSpPr/>
          <p:nvPr/>
        </p:nvSpPr>
        <p:spPr>
          <a:xfrm>
            <a:off x="5669280" y="1737360"/>
            <a:ext cx="2092833" cy="316992"/>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669280" y="1737360"/>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Tx2:0 unspent</a:t>
            </a:r>
            <a:endParaRPr lang="en-US" sz="1250" dirty="0"/>
          </a:p>
        </p:txBody>
      </p:sp>
      <p:sp>
        <p:nvSpPr>
          <p:cNvPr id="20" name="Shape 18"/>
          <p:cNvSpPr/>
          <p:nvPr/>
        </p:nvSpPr>
        <p:spPr>
          <a:xfrm>
            <a:off x="5669280" y="2127504"/>
            <a:ext cx="2092833" cy="316992"/>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669280" y="2127504"/>
            <a:ext cx="209283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Tx2:1 unspent</a:t>
            </a:r>
            <a:endParaRPr lang="en-US" sz="1250" dirty="0"/>
          </a:p>
        </p:txBody>
      </p:sp>
      <p:sp>
        <p:nvSpPr>
          <p:cNvPr id="22" name="Shape 20"/>
          <p:cNvSpPr/>
          <p:nvPr/>
        </p:nvSpPr>
        <p:spPr>
          <a:xfrm>
            <a:off x="5669280" y="2517648"/>
            <a:ext cx="1829943" cy="316992"/>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5669280" y="2517648"/>
            <a:ext cx="1829943" cy="316992"/>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Tx1:0 spent</a:t>
            </a:r>
            <a:endParaRPr lang="en-US" sz="1250" dirty="0"/>
          </a:p>
        </p:txBody>
      </p:sp>
      <p:sp>
        <p:nvSpPr>
          <p:cNvPr id="24" name="Text 22"/>
          <p:cNvSpPr txBox="1"/>
          <p:nvPr/>
        </p:nvSpPr>
        <p:spPr>
          <a:xfrm>
            <a:off x="457200" y="30175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ledger's view, filtered to the spendable</a:t>
            </a:r>
            <a:endParaRPr lang="en-US" sz="1150" dirty="0"/>
          </a:p>
        </p:txBody>
      </p:sp>
      <p:sp>
        <p:nvSpPr>
          <p:cNvPr id="25" name="Shape 23"/>
          <p:cNvSpPr/>
          <p:nvPr/>
        </p:nvSpPr>
        <p:spPr>
          <a:xfrm>
            <a:off x="457200" y="329184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41071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[o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spent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'Tx1:0'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'Tx2:0'</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'Tx2:1'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False</a:t>
            </a:r>
            <a:r>
              <a:rPr lang="en-US" sz="950" dirty="0">
                <a:solidFill>
                  <a:srgbClr val="E6EDF3"/>
                </a:solidFill>
                <a:latin typeface="Courier New" pitchFamily="34" charset="0"/>
                <a:ea typeface="Courier New" pitchFamily="34" charset="-122"/>
                <a:cs typeface="Courier New" pitchFamily="34" charset="-120"/>
              </a:rPr>
              <a:t>}.items()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not</a:t>
            </a:r>
            <a:r>
              <a:rPr lang="en-US" sz="950" dirty="0">
                <a:solidFill>
                  <a:srgbClr val="E6EDF3"/>
                </a:solidFill>
                <a:latin typeface="Courier New" pitchFamily="34" charset="0"/>
                <a:ea typeface="Courier New" pitchFamily="34" charset="-122"/>
                <a:cs typeface="Courier New" pitchFamily="34" charset="-120"/>
              </a:rPr>
              <a:t> spent]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['Tx2:0', 'Tx2:1']</a:t>
            </a:r>
            <a:endParaRPr lang="en-US" sz="950" dirty="0"/>
          </a:p>
        </p:txBody>
      </p:sp>
      <p:sp>
        <p:nvSpPr>
          <p:cNvPr id="27" name="Text 25"/>
          <p:cNvSpPr txBox="1"/>
          <p:nvPr/>
        </p:nvSpPr>
        <p:spPr>
          <a:xfrm>
            <a:off x="7040880" y="30175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accounts anywhere - only unspent outputs your keys can unlock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Change comes back to you</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Inputs are spent whole, like banknotes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100,000-satoshi output pays a 75,000 bill the way a banknote pays a coffee: spent whole, with change coming back - minus the tip to the miner.</a:t>
            </a:r>
            <a:endParaRPr lang="en-US" sz="1250" dirty="0"/>
          </a:p>
        </p:txBody>
      </p:sp>
      <p:sp>
        <p:nvSpPr>
          <p:cNvPr id="7" name="Text 5"/>
          <p:cNvSpPr txBox="1"/>
          <p:nvPr/>
        </p:nvSpPr>
        <p:spPr>
          <a:xfrm>
            <a:off x="457200" y="15544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Bob</a:t>
            </a:r>
            <a:endParaRPr lang="en-US" sz="1050" dirty="0"/>
          </a:p>
        </p:txBody>
      </p:sp>
      <p:sp>
        <p:nvSpPr>
          <p:cNvPr id="8" name="Shape 6"/>
          <p:cNvSpPr/>
          <p:nvPr/>
        </p:nvSpPr>
        <p:spPr>
          <a:xfrm>
            <a:off x="1737360" y="1581912"/>
            <a:ext cx="2834640" cy="310896"/>
          </a:xfrm>
          <a:prstGeom prst="roundRect">
            <a:avLst>
              <a:gd name="adj" fmla="val 14706"/>
            </a:avLst>
          </a:prstGeom>
          <a:solidFill>
            <a:srgbClr val="D97A14"/>
          </a:solidFill>
          <a:ln w="12700">
            <a:solidFill>
              <a:srgbClr val="D97A14"/>
            </a:solidFill>
            <a:prstDash val="solid"/>
          </a:ln>
        </p:spPr>
      </p:sp>
      <p:sp>
        <p:nvSpPr>
          <p:cNvPr id="9" name="Text 7"/>
          <p:cNvSpPr txBox="1"/>
          <p:nvPr/>
        </p:nvSpPr>
        <p:spPr>
          <a:xfrm>
            <a:off x="4626864" y="15819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75,000</a:t>
            </a:r>
            <a:endParaRPr lang="en-US" sz="1000" dirty="0"/>
          </a:p>
        </p:txBody>
      </p:sp>
      <p:sp>
        <p:nvSpPr>
          <p:cNvPr id="10" name="Text 8"/>
          <p:cNvSpPr txBox="1"/>
          <p:nvPr/>
        </p:nvSpPr>
        <p:spPr>
          <a:xfrm>
            <a:off x="457200" y="198120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back to Alice</a:t>
            </a:r>
            <a:endParaRPr lang="en-US" sz="1050" dirty="0"/>
          </a:p>
        </p:txBody>
      </p:sp>
      <p:sp>
        <p:nvSpPr>
          <p:cNvPr id="11" name="Shape 9"/>
          <p:cNvSpPr/>
          <p:nvPr/>
        </p:nvSpPr>
        <p:spPr>
          <a:xfrm>
            <a:off x="1737360" y="2008632"/>
            <a:ext cx="755904" cy="310896"/>
          </a:xfrm>
          <a:prstGeom prst="roundRect">
            <a:avLst>
              <a:gd name="adj" fmla="val 14706"/>
            </a:avLst>
          </a:prstGeom>
          <a:solidFill>
            <a:srgbClr val="2F6D62"/>
          </a:solidFill>
          <a:ln w="12700">
            <a:solidFill>
              <a:srgbClr val="2F6D62"/>
            </a:solidFill>
            <a:prstDash val="solid"/>
          </a:ln>
        </p:spPr>
      </p:sp>
      <p:sp>
        <p:nvSpPr>
          <p:cNvPr id="12" name="Text 10"/>
          <p:cNvSpPr txBox="1"/>
          <p:nvPr/>
        </p:nvSpPr>
        <p:spPr>
          <a:xfrm>
            <a:off x="2548128" y="200863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20,000</a:t>
            </a:r>
            <a:endParaRPr lang="en-US" sz="1000" dirty="0"/>
          </a:p>
        </p:txBody>
      </p:sp>
      <p:sp>
        <p:nvSpPr>
          <p:cNvPr id="13" name="Text 11"/>
          <p:cNvSpPr txBox="1"/>
          <p:nvPr/>
        </p:nvSpPr>
        <p:spPr>
          <a:xfrm>
            <a:off x="457200" y="24079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fee, to the miner</a:t>
            </a:r>
            <a:endParaRPr lang="en-US" sz="1050" dirty="0"/>
          </a:p>
        </p:txBody>
      </p:sp>
      <p:sp>
        <p:nvSpPr>
          <p:cNvPr id="14" name="Shape 12"/>
          <p:cNvSpPr/>
          <p:nvPr/>
        </p:nvSpPr>
        <p:spPr>
          <a:xfrm>
            <a:off x="1737360" y="2435352"/>
            <a:ext cx="188976" cy="310896"/>
          </a:xfrm>
          <a:prstGeom prst="roundRect">
            <a:avLst>
              <a:gd name="adj" fmla="val 24194"/>
            </a:avLst>
          </a:prstGeom>
          <a:solidFill>
            <a:srgbClr val="2F6D62"/>
          </a:solidFill>
          <a:ln w="12700">
            <a:solidFill>
              <a:srgbClr val="2F6D62"/>
            </a:solidFill>
            <a:prstDash val="solid"/>
          </a:ln>
        </p:spPr>
      </p:sp>
      <p:sp>
        <p:nvSpPr>
          <p:cNvPr id="15" name="Text 13"/>
          <p:cNvSpPr txBox="1"/>
          <p:nvPr/>
        </p:nvSpPr>
        <p:spPr>
          <a:xfrm>
            <a:off x="1981200" y="24353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5,000</a:t>
            </a:r>
            <a:endParaRPr lang="en-US" sz="1000" dirty="0"/>
          </a:p>
        </p:txBody>
      </p:sp>
      <p:sp>
        <p:nvSpPr>
          <p:cNvPr id="16" name="Shape 14"/>
          <p:cNvSpPr/>
          <p:nvPr/>
        </p:nvSpPr>
        <p:spPr>
          <a:xfrm>
            <a:off x="5760720" y="1600200"/>
            <a:ext cx="2834640" cy="402336"/>
          </a:xfrm>
          <a:prstGeom prst="roundRect">
            <a:avLst>
              <a:gd name="adj" fmla="val 50000"/>
            </a:avLst>
          </a:prstGeom>
          <a:solidFill>
            <a:srgbClr val="2F6D62"/>
          </a:solidFill>
          <a:ln w="12700">
            <a:solidFill>
              <a:srgbClr val="2F6D62"/>
            </a:solidFill>
            <a:prstDash val="solid"/>
          </a:ln>
        </p:spPr>
      </p:sp>
      <p:sp>
        <p:nvSpPr>
          <p:cNvPr id="17" name="Text 15"/>
          <p:cNvSpPr txBox="1"/>
          <p:nvPr/>
        </p:nvSpPr>
        <p:spPr>
          <a:xfrm>
            <a:off x="5760720" y="1600200"/>
            <a:ext cx="28346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75,000 + 20,000 + 5,000 = 100,000</a:t>
            </a:r>
            <a:endParaRPr lang="en-US" sz="1300" dirty="0"/>
          </a:p>
        </p:txBody>
      </p:sp>
      <p:sp>
        <p:nvSpPr>
          <p:cNvPr id="18" name="Text 16"/>
          <p:cNvSpPr txBox="1"/>
          <p:nvPr/>
        </p:nvSpPr>
        <p:spPr>
          <a:xfrm>
            <a:off x="457200" y="297180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fee is the remainder - computed, not quoted</a:t>
            </a:r>
            <a:endParaRPr lang="en-US" sz="1150" dirty="0"/>
          </a:p>
        </p:txBody>
      </p:sp>
      <p:sp>
        <p:nvSpPr>
          <p:cNvPr id="19" name="Shape 17"/>
          <p:cNvSpPr/>
          <p:nvPr/>
        </p:nvSpPr>
        <p:spPr>
          <a:xfrm>
            <a:off x="457200" y="3246120"/>
            <a:ext cx="4937760" cy="868680"/>
          </a:xfrm>
          <a:prstGeom prst="roundRect">
            <a:avLst>
              <a:gd name="adj" fmla="val 10526"/>
            </a:avLst>
          </a:prstGeom>
          <a:solidFill>
            <a:srgbClr val="23272E"/>
          </a:solidFill>
          <a:ln w="12700">
            <a:solidFill>
              <a:srgbClr val="23272E"/>
            </a:solidFill>
            <a:prstDash val="solid"/>
          </a:ln>
        </p:spPr>
      </p:sp>
      <p:sp>
        <p:nvSpPr>
          <p:cNvPr id="20" name="Text 18"/>
          <p:cNvSpPr txBox="1"/>
          <p:nvPr/>
        </p:nvSpPr>
        <p:spPr>
          <a:xfrm>
            <a:off x="640080" y="3364992"/>
            <a:ext cx="457200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FFD28A"/>
                </a:solidFill>
                <a:latin typeface="Courier New" pitchFamily="34" charset="0"/>
                <a:ea typeface="Courier New" pitchFamily="34" charset="-122"/>
                <a:cs typeface="Courier New" pitchFamily="34" charset="-120"/>
              </a:rPr>
              <a:t>100000</a:t>
            </a:r>
            <a:r>
              <a:rPr lang="en-US" sz="1050" dirty="0">
                <a:solidFill>
                  <a:srgbClr val="E6EDF3"/>
                </a:solidFill>
                <a:latin typeface="Courier New" pitchFamily="34" charset="0"/>
                <a:ea typeface="Courier New" pitchFamily="34" charset="-122"/>
                <a:cs typeface="Courier New" pitchFamily="34" charset="-120"/>
              </a:rPr>
              <a:t> - sum([</a:t>
            </a:r>
            <a:r>
              <a:rPr lang="en-US" sz="1050" dirty="0">
                <a:solidFill>
                  <a:srgbClr val="FFD28A"/>
                </a:solidFill>
                <a:latin typeface="Courier New" pitchFamily="34" charset="0"/>
                <a:ea typeface="Courier New" pitchFamily="34" charset="-122"/>
                <a:cs typeface="Courier New" pitchFamily="34" charset="-120"/>
              </a:rPr>
              <a:t>75000</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20000</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a:t>
            </a:r>
            <a:endParaRPr lang="en-US" sz="1050" dirty="0"/>
          </a:p>
        </p:txBody>
      </p:sp>
      <p:sp>
        <p:nvSpPr>
          <p:cNvPr id="21" name="Text 19"/>
          <p:cNvSpPr txBox="1"/>
          <p:nvPr/>
        </p:nvSpPr>
        <p:spPr>
          <a:xfrm>
            <a:off x="457200" y="413308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22" name="Image 0" descr="../../03-materials/ch02/assets/c2s07_fractions.jpg">    </p:cNvPr>
          <p:cNvPicPr>
            <a:picLocks noChangeAspect="1"/>
          </p:cNvPicPr>
          <p:nvPr/>
        </p:nvPicPr>
        <p:blipFill>
          <a:blip r:embed="rId1"/>
          <a:srcRect l="0" r="0" t="0" b="0"/>
          <a:stretch/>
        </p:blipFill>
        <p:spPr>
          <a:xfrm>
            <a:off x="5760720" y="3017520"/>
            <a:ext cx="2834640" cy="1097280"/>
          </a:xfrm>
          <a:prstGeom prst="rect">
            <a:avLst/>
          </a:prstGeom>
        </p:spPr>
      </p:pic>
      <p:sp>
        <p:nvSpPr>
          <p:cNvPr id="23" name="Text 20"/>
          <p:cNvSpPr txBox="1"/>
          <p:nvPr/>
        </p:nvSpPr>
        <p:spPr>
          <a:xfrm>
            <a:off x="5760720" y="413308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Inputs are spent whole; the difference returns as change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price bytes, not value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space is the scarce good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block holds bytes, not value - space is what runs out</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fees are bid per virtual byte, not per coin moved</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This transaction: 143 vbytes, 5,000 sat - about 35 sat/vB</a:t>
            </a:r>
            <a:endParaRPr lang="en-US" sz="1050" dirty="0"/>
          </a:p>
        </p:txBody>
      </p:sp>
      <p:sp>
        <p:nvSpPr>
          <p:cNvPr id="15" name="Text 13"/>
          <p:cNvSpPr txBox="1"/>
          <p:nvPr/>
        </p:nvSpPr>
        <p:spPr>
          <a:xfrm>
            <a:off x="3931920" y="1188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weight to virtual bytes</a:t>
            </a:r>
            <a:endParaRPr lang="en-US" sz="1150" dirty="0"/>
          </a:p>
        </p:txBody>
      </p:sp>
      <p:sp>
        <p:nvSpPr>
          <p:cNvPr id="16" name="Shape 14"/>
          <p:cNvSpPr/>
          <p:nvPr/>
        </p:nvSpPr>
        <p:spPr>
          <a:xfrm>
            <a:off x="3931920" y="1463040"/>
            <a:ext cx="475488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4114800" y="1581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569</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143</a:t>
            </a:r>
            <a:endParaRPr lang="en-US" sz="1000" dirty="0"/>
          </a:p>
        </p:txBody>
      </p:sp>
      <p:sp>
        <p:nvSpPr>
          <p:cNvPr id="18" name="Text 16"/>
          <p:cNvSpPr txBox="1"/>
          <p:nvPr/>
        </p:nvSpPr>
        <p:spPr>
          <a:xfrm>
            <a:off x="7040880" y="1188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Text 17"/>
          <p:cNvSpPr txBox="1"/>
          <p:nvPr/>
        </p:nvSpPr>
        <p:spPr>
          <a:xfrm>
            <a:off x="3931920" y="233172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the rate a wallet actually bids</a:t>
            </a:r>
            <a:endParaRPr lang="en-US" sz="1150" dirty="0"/>
          </a:p>
        </p:txBody>
      </p:sp>
      <p:sp>
        <p:nvSpPr>
          <p:cNvPr id="20" name="Shape 18"/>
          <p:cNvSpPr/>
          <p:nvPr/>
        </p:nvSpPr>
        <p:spPr>
          <a:xfrm>
            <a:off x="3931920" y="2606040"/>
            <a:ext cx="475488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114800" y="2724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round(</a:t>
            </a:r>
            <a:r>
              <a:rPr lang="en-US" sz="1000" dirty="0">
                <a:solidFill>
                  <a:srgbClr val="FFD28A"/>
                </a:solidFill>
                <a:latin typeface="Courier New" pitchFamily="34" charset="0"/>
                <a:ea typeface="Courier New" pitchFamily="34" charset="-122"/>
                <a:cs typeface="Courier New" pitchFamily="34" charset="-120"/>
              </a:rPr>
              <a:t>5000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143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34.97</a:t>
            </a:r>
            <a:endParaRPr lang="en-US" sz="1000" dirty="0"/>
          </a:p>
        </p:txBody>
      </p:sp>
      <p:sp>
        <p:nvSpPr>
          <p:cNvPr id="22" name="Text 20"/>
          <p:cNvSpPr txBox="1"/>
          <p:nvPr/>
        </p:nvSpPr>
        <p:spPr>
          <a:xfrm>
            <a:off x="7040880" y="2331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3" name="Shape 21"/>
          <p:cNvSpPr/>
          <p:nvPr/>
        </p:nvSpPr>
        <p:spPr>
          <a:xfrm>
            <a:off x="3931920" y="3566160"/>
            <a:ext cx="2263140" cy="1051560"/>
          </a:xfrm>
          <a:prstGeom prst="roundRect">
            <a:avLst>
              <a:gd name="adj" fmla="val 6957"/>
            </a:avLst>
          </a:prstGeom>
          <a:solidFill>
            <a:srgbClr val="F2ECE1"/>
          </a:solidFill>
          <a:ln w="12700">
            <a:solidFill>
              <a:srgbClr val="DFD6C7"/>
            </a:solidFill>
            <a:prstDash val="solid"/>
          </a:ln>
        </p:spPr>
      </p:sp>
      <p:sp>
        <p:nvSpPr>
          <p:cNvPr id="24" name="Text 22"/>
          <p:cNvSpPr txBox="1"/>
          <p:nvPr/>
        </p:nvSpPr>
        <p:spPr>
          <a:xfrm>
            <a:off x="404164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34.97</a:t>
            </a:r>
            <a:endParaRPr lang="en-US" sz="2800" dirty="0"/>
          </a:p>
        </p:txBody>
      </p:sp>
      <p:sp>
        <p:nvSpPr>
          <p:cNvPr id="25" name="Text 23"/>
          <p:cNvSpPr txBox="1"/>
          <p:nvPr/>
        </p:nvSpPr>
        <p:spPr>
          <a:xfrm>
            <a:off x="404164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sat/vB, from the run</a:t>
            </a:r>
            <a:endParaRPr lang="en-US" sz="1150" dirty="0"/>
          </a:p>
        </p:txBody>
      </p:sp>
      <p:sp>
        <p:nvSpPr>
          <p:cNvPr id="26" name="Shape 24"/>
          <p:cNvSpPr/>
          <p:nvPr/>
        </p:nvSpPr>
        <p:spPr>
          <a:xfrm>
            <a:off x="6423660" y="3566160"/>
            <a:ext cx="2263140" cy="1051560"/>
          </a:xfrm>
          <a:prstGeom prst="roundRect">
            <a:avLst>
              <a:gd name="adj" fmla="val 6957"/>
            </a:avLst>
          </a:prstGeom>
          <a:solidFill>
            <a:srgbClr val="F2ECE1"/>
          </a:solidFill>
          <a:ln w="12700">
            <a:solidFill>
              <a:srgbClr val="DFD6C7"/>
            </a:solidFill>
            <a:prstDash val="solid"/>
          </a:ln>
        </p:spPr>
      </p:sp>
      <p:sp>
        <p:nvSpPr>
          <p:cNvPr id="27" name="Text 25"/>
          <p:cNvSpPr txBox="1"/>
          <p:nvPr/>
        </p:nvSpPr>
        <p:spPr>
          <a:xfrm>
            <a:off x="6533388" y="3639312"/>
            <a:ext cx="2043684" cy="45262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143</a:t>
            </a:r>
            <a:endParaRPr lang="en-US" sz="2800" dirty="0"/>
          </a:p>
        </p:txBody>
      </p:sp>
      <p:sp>
        <p:nvSpPr>
          <p:cNvPr id="28" name="Text 26"/>
          <p:cNvSpPr txBox="1"/>
          <p:nvPr/>
        </p:nvSpPr>
        <p:spPr>
          <a:xfrm>
            <a:off x="6533388" y="4112971"/>
            <a:ext cx="2043684" cy="46268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bytes here</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pay for block space - size, not amount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postmaster - transactions travel by gossip</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Propagation</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Mempools</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and light nodes</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Explorers</a:t>
            </a:r>
            <a:endParaRPr lang="en-US" sz="1400" dirty="0"/>
          </a:p>
        </p:txBody>
      </p:sp>
      <p:pic>
        <p:nvPicPr>
          <p:cNvPr id="14" name="Image 0" descr="../../03-materials/ch02/assets/c8s06_mesh.png">    </p:cNvPr>
          <p:cNvPicPr>
            <a:picLocks noChangeAspect="1"/>
          </p:cNvPicPr>
          <p:nvPr/>
        </p:nvPicPr>
        <p:blipFill>
          <a:blip r:embed="rId1"/>
          <a:srcRect l="0" r="0" t="0" b="0"/>
          <a:stretch/>
        </p:blipFill>
        <p:spPr>
          <a:xfrm>
            <a:off x="5943600" y="1920240"/>
            <a:ext cx="2834640" cy="228600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free bitcoins for every visitor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2010-06-11, from the bitcointalk announcement</a:t>
            </a:r>
            <a:endParaRPr lang="en-US" sz="1300" dirty="0"/>
          </a:p>
        </p:txBody>
      </p:sp>
      <p:pic>
        <p:nvPicPr>
          <p:cNvPr id="6" name="Image 0" descr="../../03-materials/ch02/assets/photo_gavin_andresen.jpg">    </p:cNvPr>
          <p:cNvPicPr>
            <a:picLocks noChangeAspect="1"/>
          </p:cNvPicPr>
          <p:nvPr/>
        </p:nvPicPr>
        <p:blipFill>
          <a:blip r:embed="rId1"/>
          <a:srcRect l="0" r="0" t="0" b="0"/>
          <a:stretch/>
        </p:blipFill>
        <p:spPr>
          <a:xfrm>
            <a:off x="457200" y="1325880"/>
            <a:ext cx="2377440" cy="2788920"/>
          </a:xfrm>
          <a:prstGeom prst="rect">
            <a:avLst/>
          </a:prstGeom>
        </p:spPr>
      </p:pic>
      <p:sp>
        <p:nvSpPr>
          <p:cNvPr id="7" name="Text 4"/>
          <p:cNvSpPr txBox="1"/>
          <p:nvPr/>
        </p:nvSpPr>
        <p:spPr>
          <a:xfrm>
            <a:off x="457200" y="413308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 photo: Stephen McCarthy / Web Summit, CC BY 2.0</a:t>
            </a:r>
            <a:endParaRPr lang="en-US" sz="900" dirty="0"/>
          </a:p>
        </p:txBody>
      </p:sp>
      <p:sp>
        <p:nvSpPr>
          <p:cNvPr id="8" name="Shape 5"/>
          <p:cNvSpPr/>
          <p:nvPr/>
        </p:nvSpPr>
        <p:spPr>
          <a:xfrm>
            <a:off x="32004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474720" y="137160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June 2010: almost nowhere to buy bitcoin existed</a:t>
            </a:r>
            <a:endParaRPr lang="en-US" sz="1300" dirty="0"/>
          </a:p>
        </p:txBody>
      </p:sp>
      <p:sp>
        <p:nvSpPr>
          <p:cNvPr id="10" name="Shape 7"/>
          <p:cNvSpPr/>
          <p:nvPr/>
        </p:nvSpPr>
        <p:spPr>
          <a:xfrm>
            <a:off x="32004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474720" y="189738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Andresen stocked a website with 1,100 BTC of his own</a:t>
            </a:r>
            <a:endParaRPr lang="en-US" sz="1300" dirty="0"/>
          </a:p>
        </p:txBody>
      </p:sp>
      <p:sp>
        <p:nvSpPr>
          <p:cNvPr id="12" name="Shape 9"/>
          <p:cNvSpPr/>
          <p:nvPr/>
        </p:nvSpPr>
        <p:spPr>
          <a:xfrm>
            <a:off x="32004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474720" y="242316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coins free per visitor; a CAPTCHA was the only price</a:t>
            </a:r>
            <a:endParaRPr lang="en-US" sz="1300" dirty="0"/>
          </a:p>
        </p:txBody>
      </p:sp>
      <p:sp>
        <p:nvSpPr>
          <p:cNvPr id="14" name="Shape 11"/>
          <p:cNvSpPr/>
          <p:nvPr/>
        </p:nvSpPr>
        <p:spPr>
          <a:xfrm>
            <a:off x="32004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474720" y="294894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Thousands got their first coins - then came the exchanges</a:t>
            </a:r>
            <a:endParaRPr lang="en-US" sz="1300" dirty="0"/>
          </a:p>
        </p:txBody>
      </p:sp>
      <p:sp>
        <p:nvSpPr>
          <p:cNvPr id="16" name="Shape 13"/>
          <p:cNvSpPr/>
          <p:nvPr/>
        </p:nvSpPr>
        <p:spPr>
          <a:xfrm>
            <a:off x="3200400" y="3703320"/>
            <a:ext cx="1031443"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291840" y="3703320"/>
            <a:ext cx="88513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Gavin Andr…</a:t>
            </a:r>
            <a:endParaRPr lang="en-US" sz="750" dirty="0"/>
          </a:p>
        </p:txBody>
      </p:sp>
      <p:sp>
        <p:nvSpPr>
          <p:cNvPr id="18" name="Shape 15"/>
          <p:cNvSpPr/>
          <p:nvPr/>
        </p:nvSpPr>
        <p:spPr>
          <a:xfrm>
            <a:off x="4341571" y="3703320"/>
            <a:ext cx="9798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4433011" y="3703320"/>
            <a:ext cx="833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freebitco…</a:t>
            </a:r>
            <a:endParaRPr lang="en-US" sz="750" dirty="0"/>
          </a:p>
        </p:txBody>
      </p:sp>
      <p:sp>
        <p:nvSpPr>
          <p:cNvPr id="20" name="Shape 17"/>
          <p:cNvSpPr/>
          <p:nvPr/>
        </p:nvSpPr>
        <p:spPr>
          <a:xfrm>
            <a:off x="5431170" y="3703320"/>
            <a:ext cx="87672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522610" y="3703320"/>
            <a:ext cx="73042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2010-06…</a:t>
            </a:r>
            <a:endParaRPr lang="en-US" sz="750" dirty="0"/>
          </a:p>
        </p:txBody>
      </p:sp>
      <p:sp>
        <p:nvSpPr>
          <p:cNvPr id="22" name="Shape 19"/>
          <p:cNvSpPr/>
          <p:nvPr/>
        </p:nvSpPr>
        <p:spPr>
          <a:xfrm>
            <a:off x="6417625" y="3703320"/>
            <a:ext cx="2269175"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6509065" y="3703320"/>
            <a:ext cx="212287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exchanges, distribution itself had to be invented</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transaction's journey to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Gossip, hop by hop, until every mempool holds it</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Alice signs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her wallet builds the tx</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peer hears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any node will do</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Gossip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each peer tells its peers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 mempool</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seconds later</a:t>
            </a:r>
            <a:endParaRPr lang="en-US" sz="1250" dirty="0"/>
          </a:p>
        </p:txBody>
      </p:sp>
      <p:sp>
        <p:nvSpPr>
          <p:cNvPr id="17" name="Shape 15"/>
          <p:cNvSpPr/>
          <p:nvPr/>
        </p:nvSpPr>
        <p:spPr>
          <a:xfrm>
            <a:off x="457200" y="2871216"/>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871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83464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 central dispatcher - the whisper network is the mail</a:t>
            </a:r>
            <a:endParaRPr lang="en-US" sz="1050" dirty="0"/>
          </a:p>
        </p:txBody>
      </p:sp>
      <p:sp>
        <p:nvSpPr>
          <p:cNvPr id="20" name="Shape 18"/>
          <p:cNvSpPr/>
          <p:nvPr/>
        </p:nvSpPr>
        <p:spPr>
          <a:xfrm>
            <a:off x="457200" y="3267456"/>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267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23088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sees it unconfirmed within seconds</a:t>
            </a:r>
            <a:endParaRPr lang="en-US" sz="1050" dirty="0"/>
          </a:p>
        </p:txBody>
      </p:sp>
      <p:sp>
        <p:nvSpPr>
          <p:cNvPr id="23" name="Shape 21"/>
          <p:cNvSpPr/>
          <p:nvPr/>
        </p:nvSpPr>
        <p:spPr>
          <a:xfrm>
            <a:off x="457200" y="3663696"/>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6636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62712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 waits in mempools until a miner picks it</a:t>
            </a:r>
            <a:endParaRPr lang="en-US" sz="1050" dirty="0"/>
          </a:p>
        </p:txBody>
      </p:sp>
      <p:sp>
        <p:nvSpPr>
          <p:cNvPr id="26" name="Text 24"/>
          <p:cNvSpPr txBox="1"/>
          <p:nvPr/>
        </p:nvSpPr>
        <p:spPr>
          <a:xfrm>
            <a:off x="3931920" y="251460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hops counted by the run</a:t>
            </a:r>
            <a:endParaRPr lang="en-US" sz="1150" dirty="0"/>
          </a:p>
        </p:txBody>
      </p:sp>
      <p:sp>
        <p:nvSpPr>
          <p:cNvPr id="27" name="Shape 25"/>
          <p:cNvSpPr/>
          <p:nvPr/>
        </p:nvSpPr>
        <p:spPr>
          <a:xfrm>
            <a:off x="3931920" y="2788920"/>
            <a:ext cx="4754880" cy="914400"/>
          </a:xfrm>
          <a:prstGeom prst="roundRect">
            <a:avLst>
              <a:gd name="adj" fmla="val 10000"/>
            </a:avLst>
          </a:prstGeom>
          <a:solidFill>
            <a:srgbClr val="23272E"/>
          </a:solidFill>
          <a:ln w="12700">
            <a:solidFill>
              <a:srgbClr val="23272E"/>
            </a:solidFill>
            <a:prstDash val="solid"/>
          </a:ln>
        </p:spPr>
      </p:sp>
      <p:sp>
        <p:nvSpPr>
          <p:cNvPr id="28" name="Text 26"/>
          <p:cNvSpPr txBox="1"/>
          <p:nvPr/>
        </p:nvSpPr>
        <p:spPr>
          <a:xfrm>
            <a:off x="4114800" y="2907792"/>
            <a:ext cx="4389120" cy="6766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sec, nodes = </a:t>
            </a:r>
            <a:r>
              <a:rPr lang="en-US" sz="950" dirty="0">
                <a:solidFill>
                  <a:srgbClr val="FFD28A"/>
                </a:solidFill>
                <a:latin typeface="Courier New" pitchFamily="34" charset="0"/>
                <a:ea typeface="Courier New" pitchFamily="34" charset="-122"/>
                <a:cs typeface="Courier New" pitchFamily="34" charset="-120"/>
              </a:rPr>
              <a:t>5</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round(nodes / sec)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2000</a:t>
            </a:r>
            <a:endParaRPr lang="en-US" sz="950" dirty="0"/>
          </a:p>
        </p:txBody>
      </p:sp>
      <p:sp>
        <p:nvSpPr>
          <p:cNvPr id="29" name="Text 27"/>
          <p:cNvSpPr txBox="1"/>
          <p:nvPr/>
        </p:nvSpPr>
        <p:spPr>
          <a:xfrm>
            <a:off x="7040880" y="25146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30" name="Image 0" descr="../../03-materials/ch02/assets/shot_bitcoinqt_0_5_2.png">    </p:cNvPr>
          <p:cNvPicPr>
            <a:picLocks noChangeAspect="1"/>
          </p:cNvPicPr>
          <p:nvPr/>
        </p:nvPicPr>
        <p:blipFill>
          <a:blip r:embed="rId1"/>
          <a:srcRect l="0" r="0" t="0" b="0"/>
          <a:stretch/>
        </p:blipFill>
        <p:spPr>
          <a:xfrm>
            <a:off x="3931920" y="3840480"/>
            <a:ext cx="2103120" cy="658368"/>
          </a:xfrm>
          <a:prstGeom prst="rect">
            <a:avLst/>
          </a:prstGeom>
        </p:spPr>
      </p:pic>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seconds of gossip puts Alice's payment in every mempool</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checks? Everyone who wants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nodes verify history; light clients verify proofs</a:t>
            </a:r>
            <a:endParaRPr lang="en-US" sz="1300" dirty="0"/>
          </a:p>
        </p:txBody>
      </p:sp>
      <p:sp>
        <p:nvSpPr>
          <p:cNvPr id="6" name="Shape 4"/>
          <p:cNvSpPr/>
          <p:nvPr/>
        </p:nvSpPr>
        <p:spPr>
          <a:xfrm>
            <a:off x="457200" y="1463040"/>
            <a:ext cx="3931920" cy="2103120"/>
          </a:xfrm>
          <a:prstGeom prst="roundRect">
            <a:avLst>
              <a:gd name="adj" fmla="val 4348"/>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node</a:t>
            </a:r>
            <a:endParaRPr lang="en-US" sz="1500" dirty="0"/>
          </a:p>
        </p:txBody>
      </p:sp>
      <p:sp>
        <p:nvSpPr>
          <p:cNvPr id="8" name="Text 6"/>
          <p:cNvSpPr txBox="1"/>
          <p:nvPr/>
        </p:nvSpPr>
        <p:spPr>
          <a:xfrm>
            <a:off x="64008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Downloads and checks every block since 2009</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Trusts nobody - recomputes all the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Serves the network; needs disk and patience</a:t>
            </a:r>
            <a:endParaRPr lang="en-US" sz="1250" dirty="0"/>
          </a:p>
        </p:txBody>
      </p:sp>
      <p:sp>
        <p:nvSpPr>
          <p:cNvPr id="9" name="Shape 7"/>
          <p:cNvSpPr/>
          <p:nvPr/>
        </p:nvSpPr>
        <p:spPr>
          <a:xfrm>
            <a:off x="4754880" y="1463040"/>
            <a:ext cx="3931920" cy="2103120"/>
          </a:xfrm>
          <a:prstGeom prst="roundRect">
            <a:avLst>
              <a:gd name="adj" fmla="val 4348"/>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Lightweight client</a:t>
            </a:r>
            <a:endParaRPr lang="en-US" sz="1500" dirty="0"/>
          </a:p>
        </p:txBody>
      </p:sp>
      <p:sp>
        <p:nvSpPr>
          <p:cNvPr id="11" name="Text 9"/>
          <p:cNvSpPr txBox="1"/>
          <p:nvPr/>
        </p:nvSpPr>
        <p:spPr>
          <a:xfrm>
            <a:off x="493776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Keeps headers only - megabytes, not gigabytes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Verifies proofs that a tx sits in a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Perfect for phones; trusts the strongest chain</a:t>
            </a:r>
            <a:endParaRPr lang="en-US" sz="1250" dirty="0"/>
          </a:p>
        </p:txBody>
      </p:sp>
      <p:sp>
        <p:nvSpPr>
          <p:cNvPr id="12" name="Text 10"/>
          <p:cNvSpPr txBox="1"/>
          <p:nvPr/>
        </p:nvSpPr>
        <p:spPr>
          <a:xfrm>
            <a:off x="457200" y="347472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checklist a full node runs on every block</a:t>
            </a:r>
            <a:endParaRPr lang="en-US" sz="1150" dirty="0"/>
          </a:p>
        </p:txBody>
      </p:sp>
      <p:sp>
        <p:nvSpPr>
          <p:cNvPr id="13" name="Shape 11"/>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14" name="Text 12"/>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checks = {</a:t>
            </a:r>
            <a:r>
              <a:rPr lang="en-US" sz="800" dirty="0">
                <a:solidFill>
                  <a:srgbClr val="9ECBFF"/>
                </a:solidFill>
                <a:latin typeface="Courier New" pitchFamily="34" charset="0"/>
                <a:ea typeface="Courier New" pitchFamily="34" charset="-122"/>
                <a:cs typeface="Courier New" pitchFamily="34" charset="-120"/>
              </a:rPr>
              <a:t>'syntax'</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'inputs_nonempty'</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'amounts_in_range'</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'outputs_unspent'</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'scripts_valid'</a:t>
            </a:r>
            <a:r>
              <a:rPr lang="en-US" sz="800" dirty="0">
                <a:solidFill>
                  <a:srgbClr val="E6EDF3"/>
                </a:solidFill>
                <a:latin typeface="Courier New" pitchFamily="34" charset="0"/>
                <a:ea typeface="Courier New" pitchFamily="34" charset="-122"/>
                <a:cs typeface="Courier New" pitchFamily="34" charset="-120"/>
              </a:rPr>
              <a:t>: </a:t>
            </a:r>
            <a:r>
              <a:rPr lang="en-US" sz="800" b="1" dirty="0">
                <a:solidFill>
                  <a:srgbClr val="F2A860"/>
                </a:solidFill>
                <a:latin typeface="Courier New" pitchFamily="34" charset="0"/>
                <a:ea typeface="Courier New" pitchFamily="34" charset="-122"/>
                <a:cs typeface="Courier New" pitchFamily="34" charset="-120"/>
              </a:rPr>
              <a:t>True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all(checks.values()) </a:t>
            </a:r>
            <a:r>
              <a:rPr lang="en-US" sz="800" b="1" dirty="0">
                <a:solidFill>
                  <a:srgbClr val="F2A860"/>
                </a:solidFill>
                <a:latin typeface="Courier New" pitchFamily="34" charset="0"/>
                <a:ea typeface="Courier New" pitchFamily="34" charset="-122"/>
                <a:cs typeface="Courier New" pitchFamily="34" charset="-120"/>
              </a:rPr>
              <a:t>and</a:t>
            </a:r>
            <a:r>
              <a:rPr lang="en-US" sz="800" dirty="0">
                <a:solidFill>
                  <a:srgbClr val="E6EDF3"/>
                </a:solidFill>
                <a:latin typeface="Courier New" pitchFamily="34" charset="0"/>
                <a:ea typeface="Courier New" pitchFamily="34" charset="-122"/>
                <a:cs typeface="Courier New" pitchFamily="34" charset="-120"/>
              </a:rPr>
              <a:t> len(checks)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15" name="Text 13"/>
          <p:cNvSpPr txBox="1"/>
          <p:nvPr/>
        </p:nvSpPr>
        <p:spPr>
          <a:xfrm>
            <a:off x="7040880" y="34747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Full nodes verify; light clients trust proofs, not people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Watch any transaction live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ledger is public - explorers are windows on it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Paste any txid into an explorer and watch it confirm</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Chapter 1's genesis bytes came from such an API</a:t>
            </a:r>
            <a:endParaRPr lang="en-US" sz="1050" dirty="0"/>
          </a:p>
        </p:txBody>
      </p:sp>
      <p:sp>
        <p:nvSpPr>
          <p:cNvPr id="12" name="Shape 10"/>
          <p:cNvSpPr/>
          <p:nvPr/>
        </p:nvSpPr>
        <p:spPr>
          <a:xfrm>
            <a:off x="457200" y="25664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64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98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Same data, three windows: your node, a site, an API</a:t>
            </a:r>
            <a:endParaRPr lang="en-US" sz="1050" dirty="0"/>
          </a:p>
        </p:txBody>
      </p:sp>
      <p:sp>
        <p:nvSpPr>
          <p:cNvPr id="15" name="Text 13"/>
          <p:cNvSpPr txBox="1"/>
          <p:nvPr/>
        </p:nvSpPr>
        <p:spPr>
          <a:xfrm>
            <a:off x="3931920" y="1243584"/>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an explorer answers, computed by the run</a:t>
            </a:r>
            <a:endParaRPr lang="en-US" sz="1150" dirty="0"/>
          </a:p>
        </p:txBody>
      </p:sp>
      <p:sp>
        <p:nvSpPr>
          <p:cNvPr id="16" name="Shape 14"/>
          <p:cNvSpPr/>
          <p:nvPr/>
        </p:nvSpPr>
        <p:spPr>
          <a:xfrm>
            <a:off x="3931920" y="1517904"/>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636776"/>
            <a:ext cx="4389120" cy="95097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q = </a:t>
            </a:r>
            <a:r>
              <a:rPr lang="en-US" sz="730" dirty="0">
                <a:solidFill>
                  <a:srgbClr val="9ECBFF"/>
                </a:solidFill>
                <a:latin typeface="Courier New" pitchFamily="34" charset="0"/>
                <a:ea typeface="Courier New" pitchFamily="34" charset="-122"/>
                <a:cs typeface="Courier New" pitchFamily="34" charset="-120"/>
              </a:rPr>
              <a:t>'466200308696215bbc949d5141a49a4138ecdfdfaa2a8029c1f9bcecd1f96177'</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9ECBFF"/>
                </a:solidFill>
                <a:latin typeface="Courier New" pitchFamily="34" charset="0"/>
                <a:ea typeface="Courier New" pitchFamily="34" charset="-122"/>
                <a:cs typeface="Courier New" pitchFamily="34" charset="-120"/>
              </a:rPr>
              <a:t>'txid'</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len(q) == </a:t>
            </a:r>
            <a:r>
              <a:rPr lang="en-US" sz="730" dirty="0">
                <a:solidFill>
                  <a:srgbClr val="FFD28A"/>
                </a:solidFill>
                <a:latin typeface="Courier New" pitchFamily="34" charset="0"/>
                <a:ea typeface="Courier New" pitchFamily="34" charset="-122"/>
                <a:cs typeface="Courier New" pitchFamily="34" charset="-120"/>
              </a:rPr>
              <a:t>64</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'address'</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q.startswith(</a:t>
            </a:r>
            <a:r>
              <a:rPr lang="en-US" sz="730" dirty="0">
                <a:solidFill>
                  <a:srgbClr val="9ECBFF"/>
                </a:solidFill>
                <a:latin typeface="Courier New" pitchFamily="34" charset="0"/>
                <a:ea typeface="Courier New" pitchFamily="34" charset="-122"/>
                <a:cs typeface="Courier New" pitchFamily="34" charset="-120"/>
              </a:rPr>
              <a:t>'bc1'</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'height'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'txid'</a:t>
            </a:r>
            <a:endParaRPr lang="en-US" sz="730" dirty="0"/>
          </a:p>
        </p:txBody>
      </p:sp>
      <p:sp>
        <p:nvSpPr>
          <p:cNvPr id="18" name="Text 16"/>
          <p:cNvSpPr txBox="1"/>
          <p:nvPr/>
        </p:nvSpPr>
        <p:spPr>
          <a:xfrm>
            <a:off x="3931920" y="2724912"/>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9" name="Shape 17"/>
          <p:cNvSpPr/>
          <p:nvPr/>
        </p:nvSpPr>
        <p:spPr>
          <a:xfrm>
            <a:off x="457200" y="3566160"/>
            <a:ext cx="216118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mempool.space</a:t>
            </a:r>
            <a:endParaRPr lang="en-US" sz="1300" dirty="0"/>
          </a:p>
        </p:txBody>
      </p:sp>
      <p:sp>
        <p:nvSpPr>
          <p:cNvPr id="21" name="Shape 19"/>
          <p:cNvSpPr/>
          <p:nvPr/>
        </p:nvSpPr>
        <p:spPr>
          <a:xfrm>
            <a:off x="2819552" y="3566160"/>
            <a:ext cx="2571293"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19552" y="3566160"/>
            <a:ext cx="2571293"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blockstream.info</a:t>
            </a:r>
            <a:endParaRPr lang="en-US" sz="1300" dirty="0"/>
          </a:p>
        </p:txBody>
      </p:sp>
      <p:sp>
        <p:nvSpPr>
          <p:cNvPr id="23" name="Shape 21"/>
          <p:cNvSpPr/>
          <p:nvPr/>
        </p:nvSpPr>
        <p:spPr>
          <a:xfrm>
            <a:off x="5592013" y="3566160"/>
            <a:ext cx="2161184"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592013"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your own node</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ledger is public - explorers are just viewers on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Blockchain and mining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the next page of history gets written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Proof-of-work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Blocks and Merkle trees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Confirmations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hard to win, instant to verify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sudoku in reverse - and the run finds a real nonce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Guess a nonce, hash the block, hope the digest is small</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Like sudoku: hours to solve, seconds to check</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really searches - and finds 6,630</a:t>
            </a:r>
            <a:endParaRPr lang="en-US" sz="1050" dirty="0"/>
          </a:p>
        </p:txBody>
      </p:sp>
      <p:sp>
        <p:nvSpPr>
          <p:cNvPr id="15" name="Shape 13"/>
          <p:cNvSpPr/>
          <p:nvPr/>
        </p:nvSpPr>
        <p:spPr>
          <a:xfrm flipV="1">
            <a:off x="3977640" y="1463040"/>
            <a:ext cx="4663440" cy="18745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try nonce 0, 1, 2, ...</a:t>
            </a:r>
            <a:endParaRPr lang="en-US" sz="1050" dirty="0"/>
          </a:p>
        </p:txBody>
      </p:sp>
      <p:sp>
        <p:nvSpPr>
          <p:cNvPr id="17" name="Shape 15"/>
          <p:cNvSpPr/>
          <p:nvPr/>
        </p:nvSpPr>
        <p:spPr>
          <a:xfrm flipV="1">
            <a:off x="4397350" y="1760220"/>
            <a:ext cx="3824021" cy="187452"/>
          </a:xfrm>
          <a:prstGeom prst="trapezoid">
            <a:avLst/>
          </a:prstGeom>
          <a:solidFill>
            <a:srgbClr val="2F6D62"/>
          </a:solidFill>
          <a:ln w="12700">
            <a:solidFill>
              <a:srgbClr val="FFFFFF"/>
            </a:solidFill>
            <a:prstDash val="solid"/>
          </a:ln>
        </p:spPr>
      </p:sp>
      <p:sp>
        <p:nvSpPr>
          <p:cNvPr id="18" name="Text 16"/>
          <p:cNvSpPr txBox="1"/>
          <p:nvPr/>
        </p:nvSpPr>
        <p:spPr>
          <a:xfrm>
            <a:off x="4397350" y="1760220"/>
            <a:ext cx="3824021"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hash each candidate</a:t>
            </a:r>
            <a:endParaRPr lang="en-US" sz="1050" dirty="0"/>
          </a:p>
        </p:txBody>
      </p:sp>
      <p:sp>
        <p:nvSpPr>
          <p:cNvPr id="19" name="Shape 17"/>
          <p:cNvSpPr/>
          <p:nvPr/>
        </p:nvSpPr>
        <p:spPr>
          <a:xfrm flipV="1">
            <a:off x="4817059" y="2057400"/>
            <a:ext cx="2984602" cy="187452"/>
          </a:xfrm>
          <a:prstGeom prst="trapezoid">
            <a:avLst/>
          </a:prstGeom>
          <a:solidFill>
            <a:srgbClr val="2F6D62"/>
          </a:solidFill>
          <a:ln w="12700">
            <a:solidFill>
              <a:srgbClr val="FFFFFF"/>
            </a:solidFill>
            <a:prstDash val="solid"/>
          </a:ln>
        </p:spPr>
      </p:sp>
      <p:sp>
        <p:nvSpPr>
          <p:cNvPr id="20" name="Text 18"/>
          <p:cNvSpPr txBox="1"/>
          <p:nvPr/>
        </p:nvSpPr>
        <p:spPr>
          <a:xfrm>
            <a:off x="4817059" y="2057400"/>
            <a:ext cx="2984602" cy="18745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most fail the target</a:t>
            </a:r>
            <a:endParaRPr lang="en-US" sz="1050" dirty="0"/>
          </a:p>
        </p:txBody>
      </p:sp>
      <p:sp>
        <p:nvSpPr>
          <p:cNvPr id="21" name="Shape 19"/>
          <p:cNvSpPr/>
          <p:nvPr/>
        </p:nvSpPr>
        <p:spPr>
          <a:xfrm flipV="1">
            <a:off x="5236769" y="2354580"/>
            <a:ext cx="2145182" cy="187452"/>
          </a:xfrm>
          <a:prstGeom prst="trapezoid">
            <a:avLst/>
          </a:prstGeom>
          <a:solidFill>
            <a:srgbClr val="D97A14"/>
          </a:solidFill>
          <a:ln w="12700">
            <a:solidFill>
              <a:srgbClr val="FFFFFF"/>
            </a:solidFill>
            <a:prstDash val="solid"/>
          </a:ln>
        </p:spPr>
      </p:sp>
      <p:sp>
        <p:nvSpPr>
          <p:cNvPr id="22" name="Text 20"/>
          <p:cNvSpPr txBox="1"/>
          <p:nvPr/>
        </p:nvSpPr>
        <p:spPr>
          <a:xfrm>
            <a:off x="5236769" y="2354580"/>
            <a:ext cx="2145182" cy="1874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6,630 clears it</a:t>
            </a:r>
            <a:endParaRPr lang="en-US" sz="1050" dirty="0"/>
          </a:p>
        </p:txBody>
      </p:sp>
      <p:sp>
        <p:nvSpPr>
          <p:cNvPr id="23" name="Text 21"/>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nonce found: 6630 - anyone re-checks it in one hash</a:t>
            </a:r>
            <a:endParaRPr lang="en-US" sz="1050" dirty="0"/>
          </a:p>
        </p:txBody>
      </p:sp>
      <p:sp>
        <p:nvSpPr>
          <p:cNvPr id="24" name="Text 22"/>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search, exactly as the slide claims it</a:t>
            </a:r>
            <a:endParaRPr lang="en-US" sz="1150" dirty="0"/>
          </a:p>
        </p:txBody>
      </p:sp>
      <p:sp>
        <p:nvSpPr>
          <p:cNvPr id="25" name="Shape 23"/>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200000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27" name="Text 25"/>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Proof-of-work is a lottery whose ticket anyone can check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anatomized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80 bytes of header summarize everything beneath</a:t>
            </a:r>
            <a:endParaRPr lang="en-US" sz="1300" dirty="0"/>
          </a:p>
        </p:txBody>
      </p:sp>
      <p:pic>
        <p:nvPicPr>
          <p:cNvPr id="6" name="Image 0" descr="../../03-materials/ch02/assets/mbc3_0207.png">    </p:cNvPr>
          <p:cNvPicPr>
            <a:picLocks noChangeAspect="1"/>
          </p:cNvPicPr>
          <p:nvPr/>
        </p:nvPicPr>
        <p:blipFill>
          <a:blip r:embed="rId1"/>
          <a:srcRect l="0" r="0" t="0" b="0"/>
          <a:stretch/>
        </p:blipFill>
        <p:spPr>
          <a:xfrm>
            <a:off x="457200" y="1325880"/>
            <a:ext cx="2834640" cy="2743200"/>
          </a:xfrm>
          <a:prstGeom prst="rect">
            <a:avLst/>
          </a:prstGeom>
        </p:spPr>
      </p:pic>
      <p:sp>
        <p:nvSpPr>
          <p:cNvPr id="7" name="Text 4"/>
          <p:cNvSpPr txBox="1"/>
          <p:nvPr/>
        </p:nvSpPr>
        <p:spPr>
          <a:xfrm>
            <a:off x="457200" y="408736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Alice's tx inside a block - Mastering Bitcoin 3e, CC BY-SA</a:t>
            </a:r>
            <a:endParaRPr lang="en-US" sz="900" dirty="0"/>
          </a:p>
        </p:txBody>
      </p:sp>
      <p:sp>
        <p:nvSpPr>
          <p:cNvPr id="8" name="Shape 5"/>
          <p:cNvSpPr/>
          <p:nvPr/>
        </p:nvSpPr>
        <p:spPr>
          <a:xfrm>
            <a:off x="361188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361188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4178808" y="141732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Header: previous-block hash, Merkle root, time, target, nonce</a:t>
            </a:r>
            <a:endParaRPr lang="en-US" sz="1050" dirty="0"/>
          </a:p>
        </p:txBody>
      </p:sp>
      <p:sp>
        <p:nvSpPr>
          <p:cNvPr id="11" name="Shape 8"/>
          <p:cNvSpPr/>
          <p:nvPr/>
        </p:nvSpPr>
        <p:spPr>
          <a:xfrm>
            <a:off x="3611880" y="1926336"/>
            <a:ext cx="402336" cy="402336"/>
          </a:xfrm>
          <a:prstGeom prst="ellipse">
            <a:avLst/>
          </a:prstGeom>
          <a:solidFill>
            <a:srgbClr val="D97A14"/>
          </a:solidFill>
          <a:ln w="12700">
            <a:solidFill>
              <a:srgbClr val="D97A14"/>
            </a:solidFill>
            <a:prstDash val="solid"/>
          </a:ln>
        </p:spPr>
      </p:sp>
      <p:sp>
        <p:nvSpPr>
          <p:cNvPr id="12" name="Text 9"/>
          <p:cNvSpPr txBox="1"/>
          <p:nvPr/>
        </p:nvSpPr>
        <p:spPr>
          <a:xfrm>
            <a:off x="361188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4178808" y="188976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Body: the transactions - Alice's among them</a:t>
            </a:r>
            <a:endParaRPr lang="en-US" sz="1050" dirty="0"/>
          </a:p>
        </p:txBody>
      </p:sp>
      <p:sp>
        <p:nvSpPr>
          <p:cNvPr id="14" name="Shape 11"/>
          <p:cNvSpPr/>
          <p:nvPr/>
        </p:nvSpPr>
        <p:spPr>
          <a:xfrm>
            <a:off x="3611880" y="239877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3611880" y="2398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4178808" y="2362200"/>
            <a:ext cx="4507992" cy="4358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Chain the headers and you chain all history</a:t>
            </a:r>
            <a:endParaRPr lang="en-US" sz="1050" dirty="0"/>
          </a:p>
        </p:txBody>
      </p:sp>
      <p:sp>
        <p:nvSpPr>
          <p:cNvPr id="17" name="Shape 14"/>
          <p:cNvSpPr/>
          <p:nvPr/>
        </p:nvSpPr>
        <p:spPr>
          <a:xfrm>
            <a:off x="3611880" y="2880360"/>
            <a:ext cx="1330452" cy="283464"/>
          </a:xfrm>
          <a:prstGeom prst="roundRect">
            <a:avLst>
              <a:gd name="adj" fmla="val 50000"/>
            </a:avLst>
          </a:prstGeom>
          <a:solidFill>
            <a:srgbClr val="F2ECE1"/>
          </a:solidFill>
          <a:ln w="12700">
            <a:solidFill>
              <a:srgbClr val="D97A14"/>
            </a:solidFill>
            <a:prstDash val="solid"/>
          </a:ln>
        </p:spPr>
      </p:sp>
      <p:sp>
        <p:nvSpPr>
          <p:cNvPr id="18" name="Text 15"/>
          <p:cNvSpPr txBox="1"/>
          <p:nvPr/>
        </p:nvSpPr>
        <p:spPr>
          <a:xfrm>
            <a:off x="3611880" y="2880360"/>
            <a:ext cx="133045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prev hash</a:t>
            </a:r>
            <a:endParaRPr lang="en-US" sz="1000" dirty="0"/>
          </a:p>
        </p:txBody>
      </p:sp>
      <p:sp>
        <p:nvSpPr>
          <p:cNvPr id="19" name="Shape 16"/>
          <p:cNvSpPr/>
          <p:nvPr/>
        </p:nvSpPr>
        <p:spPr>
          <a:xfrm>
            <a:off x="5143500" y="2880360"/>
            <a:ext cx="1540764" cy="283464"/>
          </a:xfrm>
          <a:prstGeom prst="roundRect">
            <a:avLst>
              <a:gd name="adj" fmla="val 50000"/>
            </a:avLst>
          </a:prstGeom>
          <a:solidFill>
            <a:srgbClr val="F2ECE1"/>
          </a:solidFill>
          <a:ln w="12700">
            <a:solidFill>
              <a:srgbClr val="D97A14"/>
            </a:solidFill>
            <a:prstDash val="solid"/>
          </a:ln>
        </p:spPr>
      </p:sp>
      <p:sp>
        <p:nvSpPr>
          <p:cNvPr id="20" name="Text 17"/>
          <p:cNvSpPr txBox="1"/>
          <p:nvPr/>
        </p:nvSpPr>
        <p:spPr>
          <a:xfrm>
            <a:off x="5143500" y="2880360"/>
            <a:ext cx="154076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Merkle root</a:t>
            </a:r>
            <a:endParaRPr lang="en-US" sz="1000" dirty="0"/>
          </a:p>
        </p:txBody>
      </p:sp>
      <p:sp>
        <p:nvSpPr>
          <p:cNvPr id="21" name="Shape 18"/>
          <p:cNvSpPr/>
          <p:nvPr/>
        </p:nvSpPr>
        <p:spPr>
          <a:xfrm>
            <a:off x="6885432" y="2880360"/>
            <a:ext cx="804672" cy="283464"/>
          </a:xfrm>
          <a:prstGeom prst="roundRect">
            <a:avLst>
              <a:gd name="adj" fmla="val 50000"/>
            </a:avLst>
          </a:prstGeom>
          <a:solidFill>
            <a:srgbClr val="F2ECE1"/>
          </a:solidFill>
          <a:ln w="12700">
            <a:solidFill>
              <a:srgbClr val="D97A14"/>
            </a:solidFill>
            <a:prstDash val="solid"/>
          </a:ln>
        </p:spPr>
      </p:sp>
      <p:sp>
        <p:nvSpPr>
          <p:cNvPr id="22" name="Text 19"/>
          <p:cNvSpPr txBox="1"/>
          <p:nvPr/>
        </p:nvSpPr>
        <p:spPr>
          <a:xfrm>
            <a:off x="6885432" y="2880360"/>
            <a:ext cx="804672"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p>
        </p:txBody>
      </p:sp>
      <p:sp>
        <p:nvSpPr>
          <p:cNvPr id="23" name="Shape 20"/>
          <p:cNvSpPr/>
          <p:nvPr/>
        </p:nvSpPr>
        <p:spPr>
          <a:xfrm>
            <a:off x="3611880" y="3236976"/>
            <a:ext cx="1014984" cy="283464"/>
          </a:xfrm>
          <a:prstGeom prst="roundRect">
            <a:avLst>
              <a:gd name="adj" fmla="val 50000"/>
            </a:avLst>
          </a:prstGeom>
          <a:solidFill>
            <a:srgbClr val="F2ECE1"/>
          </a:solidFill>
          <a:ln w="12700">
            <a:solidFill>
              <a:srgbClr val="D97A14"/>
            </a:solidFill>
            <a:prstDash val="solid"/>
          </a:ln>
        </p:spPr>
      </p:sp>
      <p:sp>
        <p:nvSpPr>
          <p:cNvPr id="24" name="Text 21"/>
          <p:cNvSpPr txBox="1"/>
          <p:nvPr/>
        </p:nvSpPr>
        <p:spPr>
          <a:xfrm>
            <a:off x="3611880" y="3236976"/>
            <a:ext cx="1014984"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target</a:t>
            </a:r>
            <a:endParaRPr lang="en-US" sz="1000" dirty="0"/>
          </a:p>
        </p:txBody>
      </p:sp>
      <p:sp>
        <p:nvSpPr>
          <p:cNvPr id="25" name="Shape 22"/>
          <p:cNvSpPr/>
          <p:nvPr/>
        </p:nvSpPr>
        <p:spPr>
          <a:xfrm>
            <a:off x="4828032" y="3236976"/>
            <a:ext cx="909828" cy="283464"/>
          </a:xfrm>
          <a:prstGeom prst="roundRect">
            <a:avLst>
              <a:gd name="adj" fmla="val 50000"/>
            </a:avLst>
          </a:prstGeom>
          <a:solidFill>
            <a:srgbClr val="F2ECE1"/>
          </a:solidFill>
          <a:ln w="12700">
            <a:solidFill>
              <a:srgbClr val="D97A14"/>
            </a:solidFill>
            <a:prstDash val="solid"/>
          </a:ln>
        </p:spPr>
      </p:sp>
      <p:sp>
        <p:nvSpPr>
          <p:cNvPr id="26" name="Text 23"/>
          <p:cNvSpPr txBox="1"/>
          <p:nvPr/>
        </p:nvSpPr>
        <p:spPr>
          <a:xfrm>
            <a:off x="4828032" y="3236976"/>
            <a:ext cx="909828" cy="28346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nonce</a:t>
            </a:r>
            <a:endParaRPr lang="en-US" sz="1000" dirty="0"/>
          </a:p>
        </p:txBody>
      </p:sp>
      <p:sp>
        <p:nvSpPr>
          <p:cNvPr id="27" name="Text 24"/>
          <p:cNvSpPr txBox="1"/>
          <p:nvPr/>
        </p:nvSpPr>
        <p:spPr>
          <a:xfrm>
            <a:off x="3611880" y="3566160"/>
            <a:ext cx="33375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80 bytes carry a 4 MB body: 1 to 50,000</a:t>
            </a:r>
            <a:endParaRPr lang="en-US" sz="1150" dirty="0"/>
          </a:p>
        </p:txBody>
      </p:sp>
      <p:sp>
        <p:nvSpPr>
          <p:cNvPr id="28" name="Shape 25"/>
          <p:cNvSpPr/>
          <p:nvPr/>
        </p:nvSpPr>
        <p:spPr>
          <a:xfrm>
            <a:off x="3611880" y="3840480"/>
            <a:ext cx="5074920" cy="731520"/>
          </a:xfrm>
          <a:prstGeom prst="roundRect">
            <a:avLst>
              <a:gd name="adj" fmla="val 12500"/>
            </a:avLst>
          </a:prstGeom>
          <a:solidFill>
            <a:srgbClr val="23272E"/>
          </a:solidFill>
          <a:ln w="12700">
            <a:solidFill>
              <a:srgbClr val="23272E"/>
            </a:solidFill>
            <a:prstDash val="solid"/>
          </a:ln>
        </p:spPr>
      </p:sp>
      <p:sp>
        <p:nvSpPr>
          <p:cNvPr id="29" name="Text 26"/>
          <p:cNvSpPr txBox="1"/>
          <p:nvPr/>
        </p:nvSpPr>
        <p:spPr>
          <a:xfrm>
            <a:off x="3794760" y="3959352"/>
            <a:ext cx="470916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a:t>
            </a:r>
            <a:r>
              <a:rPr lang="en-US" sz="950" dirty="0">
                <a:solidFill>
                  <a:srgbClr val="FFD28A"/>
                </a:solidFill>
                <a:latin typeface="Courier New" pitchFamily="34" charset="0"/>
                <a:ea typeface="Courier New" pitchFamily="34" charset="-122"/>
                <a:cs typeface="Courier New" pitchFamily="34" charset="-120"/>
              </a:rPr>
              <a:t>80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4000000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(header, body // header)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(80, 50000)</a:t>
            </a:r>
            <a:endParaRPr lang="en-US" sz="950" dirty="0"/>
          </a:p>
        </p:txBody>
      </p:sp>
      <p:sp>
        <p:nvSpPr>
          <p:cNvPr id="30" name="Text 27"/>
          <p:cNvSpPr txBox="1"/>
          <p:nvPr/>
        </p:nvSpPr>
        <p:spPr>
          <a:xfrm>
            <a:off x="7040880" y="3566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header of 80 bytes summarizes everything beneath it</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root for a thousand leaves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Merkle tree pins every transaction at 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transactions in pairs, then pairs of pairs</a:t>
            </a:r>
            <a:endParaRPr lang="en-US" sz="105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root remains - 32 bytes for any number of leaves</a:t>
            </a:r>
            <a:endParaRPr lang="en-US" sz="105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any leaf and the root betrays it instantly</a:t>
            </a:r>
            <a:endParaRPr lang="en-US" sz="1050" dirty="0"/>
          </a:p>
        </p:txBody>
      </p:sp>
      <p:sp>
        <p:nvSpPr>
          <p:cNvPr id="15" name="Shape 13"/>
          <p:cNvSpPr/>
          <p:nvPr/>
        </p:nvSpPr>
        <p:spPr>
          <a:xfrm flipV="1">
            <a:off x="3977640" y="1463040"/>
            <a:ext cx="4663440" cy="28651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4 leaves: A B C D</a:t>
            </a:r>
            <a:endParaRPr lang="en-US" sz="1050" dirty="0"/>
          </a:p>
        </p:txBody>
      </p:sp>
      <p:sp>
        <p:nvSpPr>
          <p:cNvPr id="17" name="Shape 15"/>
          <p:cNvSpPr/>
          <p:nvPr/>
        </p:nvSpPr>
        <p:spPr>
          <a:xfrm flipV="1">
            <a:off x="4397350" y="1859280"/>
            <a:ext cx="3824021" cy="286512"/>
          </a:xfrm>
          <a:prstGeom prst="trapezoid">
            <a:avLst/>
          </a:prstGeom>
          <a:solidFill>
            <a:srgbClr val="2F6D62"/>
          </a:solidFill>
          <a:ln w="12700">
            <a:solidFill>
              <a:srgbClr val="FFFFFF"/>
            </a:solidFill>
            <a:prstDash val="solid"/>
          </a:ln>
        </p:spPr>
      </p:sp>
      <p:sp>
        <p:nvSpPr>
          <p:cNvPr id="18" name="Text 16"/>
          <p:cNvSpPr txBox="1"/>
          <p:nvPr/>
        </p:nvSpPr>
        <p:spPr>
          <a:xfrm>
            <a:off x="4397350" y="1859280"/>
            <a:ext cx="3824021" cy="2865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2 pair-hashes</a:t>
            </a:r>
            <a:endParaRPr lang="en-US" sz="1050" dirty="0"/>
          </a:p>
        </p:txBody>
      </p:sp>
      <p:sp>
        <p:nvSpPr>
          <p:cNvPr id="19" name="Shape 17"/>
          <p:cNvSpPr/>
          <p:nvPr/>
        </p:nvSpPr>
        <p:spPr>
          <a:xfrm flipV="1">
            <a:off x="4817059" y="2255520"/>
            <a:ext cx="2984602" cy="286512"/>
          </a:xfrm>
          <a:prstGeom prst="trapezoid">
            <a:avLst/>
          </a:prstGeom>
          <a:solidFill>
            <a:srgbClr val="D97A14"/>
          </a:solidFill>
          <a:ln w="12700">
            <a:solidFill>
              <a:srgbClr val="FFFFFF"/>
            </a:solidFill>
            <a:prstDash val="solid"/>
          </a:ln>
        </p:spPr>
      </p:sp>
      <p:sp>
        <p:nvSpPr>
          <p:cNvPr id="20" name="Text 18"/>
          <p:cNvSpPr txBox="1"/>
          <p:nvPr/>
        </p:nvSpPr>
        <p:spPr>
          <a:xfrm>
            <a:off x="4817059" y="2255520"/>
            <a:ext cx="2984602" cy="2865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root seals them all</a:t>
            </a:r>
            <a:endParaRPr lang="en-US" sz="1050" dirty="0"/>
          </a:p>
        </p:txBody>
      </p:sp>
      <p:sp>
        <p:nvSpPr>
          <p:cNvPr id="21" name="Text 19"/>
          <p:cNvSpPr txBox="1"/>
          <p:nvPr/>
        </p:nvSpPr>
        <p:spPr>
          <a:xfrm>
            <a:off x="3977640" y="268833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root of A,B,C,D: 59e82c45a3662f55...</a:t>
            </a:r>
            <a:endParaRPr lang="en-US" sz="1050" dirty="0"/>
          </a:p>
        </p:txBody>
      </p:sp>
      <p:sp>
        <p:nvSpPr>
          <p:cNvPr id="22" name="Text 20"/>
          <p:cNvSpPr txBox="1"/>
          <p:nvPr/>
        </p:nvSpPr>
        <p:spPr>
          <a:xfrm>
            <a:off x="457200" y="31546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leaves to one root, computed</a:t>
            </a:r>
            <a:endParaRPr lang="en-US" sz="1150" dirty="0"/>
          </a:p>
        </p:txBody>
      </p:sp>
      <p:sp>
        <p:nvSpPr>
          <p:cNvPr id="23" name="Shape 21"/>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4" name="Text 22"/>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 = </a:t>
            </a:r>
            <a:r>
              <a:rPr lang="en-US" sz="950" b="1" dirty="0">
                <a:solidFill>
                  <a:srgbClr val="F2A860"/>
                </a:solidFill>
                <a:latin typeface="Courier New" pitchFamily="34" charset="0"/>
                <a:ea typeface="Courier New" pitchFamily="34" charset="-122"/>
                <a:cs typeface="Courier New" pitchFamily="34" charset="-120"/>
              </a:rPr>
              <a:t>lambda</a:t>
            </a:r>
            <a:r>
              <a:rPr lang="en-US" sz="950" dirty="0">
                <a:solidFill>
                  <a:srgbClr val="E6EDF3"/>
                </a:solidFill>
                <a:latin typeface="Courier New" pitchFamily="34" charset="0"/>
                <a:ea typeface="Courier New" pitchFamily="34" charset="-122"/>
                <a:cs typeface="Courier New" pitchFamily="34" charset="-120"/>
              </a:rPr>
              <a:t> b: hashlib.sha256(hashlib.sha256(b).digest()).digest()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 = [d(x)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x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'B'</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'C'</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'D'</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d(d(L[</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 d(L[</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 L[</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])).hex()[:</a:t>
            </a:r>
            <a:r>
              <a:rPr lang="en-US" sz="950" dirty="0">
                <a:solidFill>
                  <a:srgbClr val="FFD28A"/>
                </a:solidFill>
                <a:latin typeface="Courier New" pitchFamily="34" charset="0"/>
                <a:ea typeface="Courier New" pitchFamily="34" charset="-122"/>
                <a:cs typeface="Courier New" pitchFamily="34" charset="-120"/>
              </a:rPr>
              <a:t>16</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'59e82c45a3662f55'</a:t>
            </a:r>
            <a:endParaRPr lang="en-US" sz="950" dirty="0"/>
          </a:p>
        </p:txBody>
      </p:sp>
      <p:sp>
        <p:nvSpPr>
          <p:cNvPr id="25" name="Text 23"/>
          <p:cNvSpPr txBox="1"/>
          <p:nvPr/>
        </p:nvSpPr>
        <p:spPr>
          <a:xfrm>
            <a:off x="7040880" y="31546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any leaf and the root betrays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where new coin enters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transaction with no inputs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Coinbase tx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first in every block</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inputs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value from the protocol</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Subsidy + fees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chapter 1's chart</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before it can be spent</a:t>
            </a:r>
            <a:endParaRPr lang="en-US" sz="1250" dirty="0"/>
          </a:p>
        </p:txBody>
      </p:sp>
      <p:sp>
        <p:nvSpPr>
          <p:cNvPr id="17" name="Text 15"/>
          <p:cNvSpPr txBox="1"/>
          <p:nvPr/>
        </p:nvSpPr>
        <p:spPr>
          <a:xfrm>
            <a:off x="457200" y="2560320"/>
            <a:ext cx="33832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reward at this block, computed</a:t>
            </a:r>
            <a:endParaRPr lang="en-US" sz="1150" dirty="0"/>
          </a:p>
        </p:txBody>
      </p:sp>
      <p:sp>
        <p:nvSpPr>
          <p:cNvPr id="18" name="Shape 16"/>
          <p:cNvSpPr/>
          <p:nvPr/>
        </p:nvSpPr>
        <p:spPr>
          <a:xfrm>
            <a:off x="457200" y="2834640"/>
            <a:ext cx="5120640" cy="914400"/>
          </a:xfrm>
          <a:prstGeom prst="roundRect">
            <a:avLst>
              <a:gd name="adj" fmla="val 10000"/>
            </a:avLst>
          </a:prstGeom>
          <a:solidFill>
            <a:srgbClr val="23272E"/>
          </a:solidFill>
          <a:ln w="12700">
            <a:solidFill>
              <a:srgbClr val="23272E"/>
            </a:solidFill>
            <a:prstDash val="solid"/>
          </a:ln>
        </p:spPr>
      </p:sp>
      <p:sp>
        <p:nvSpPr>
          <p:cNvPr id="19" name="Text 17"/>
          <p:cNvSpPr txBox="1"/>
          <p:nvPr/>
        </p:nvSpPr>
        <p:spPr>
          <a:xfrm>
            <a:off x="640080" y="2953512"/>
            <a:ext cx="4754880" cy="6766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fees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625000000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183000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(inputs_spent, subsidy + fees)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(0, 625183000)</a:t>
            </a:r>
            <a:endParaRPr lang="en-US" sz="1000" dirty="0"/>
          </a:p>
        </p:txBody>
      </p:sp>
      <p:sp>
        <p:nvSpPr>
          <p:cNvPr id="20" name="Text 18"/>
          <p:cNvSpPr txBox="1"/>
          <p:nvPr/>
        </p:nvSpPr>
        <p:spPr>
          <a:xfrm>
            <a:off x="3931920" y="256032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5852160" y="2788920"/>
            <a:ext cx="2834640" cy="1234440"/>
          </a:xfrm>
          <a:prstGeom prst="roundRect">
            <a:avLst>
              <a:gd name="adj" fmla="val 5926"/>
            </a:avLst>
          </a:prstGeom>
          <a:solidFill>
            <a:srgbClr val="F2ECE1"/>
          </a:solidFill>
          <a:ln w="12700">
            <a:solidFill>
              <a:srgbClr val="DFD6C7"/>
            </a:solidFill>
            <a:prstDash val="solid"/>
          </a:ln>
        </p:spPr>
      </p:sp>
      <p:sp>
        <p:nvSpPr>
          <p:cNvPr id="22" name="Text 20"/>
          <p:cNvSpPr txBox="1"/>
          <p:nvPr/>
        </p:nvSpPr>
        <p:spPr>
          <a:xfrm>
            <a:off x="5961888" y="2862072"/>
            <a:ext cx="2615184" cy="54406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3" name="Text 21"/>
          <p:cNvSpPr txBox="1"/>
          <p:nvPr/>
        </p:nvSpPr>
        <p:spPr>
          <a:xfrm>
            <a:off x="5961888" y="3430829"/>
            <a:ext cx="2615184" cy="54315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inputs in a coinbase - the only transaction so allowed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coin in existence began life in a coinbase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someone printed 184 billion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Recorded: 2010-08-15, from the bitcointalk reports</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475488"/>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184,467,440,737</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conjured by one transaction in block 74,638</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74,638</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block that carried it, 2010-08-15</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475488"/>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 hours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from forum report to Satoshi's 0.3.10 fix</a:t>
            </a:r>
            <a:endParaRPr lang="en-US" sz="1150" dirty="0"/>
          </a:p>
        </p:txBody>
      </p:sp>
      <p:sp>
        <p:nvSpPr>
          <p:cNvPr id="15" name="Shape 13"/>
          <p:cNvSpPr/>
          <p:nvPr/>
        </p:nvSpPr>
        <p:spPr>
          <a:xfrm>
            <a:off x="457200" y="2743200"/>
            <a:ext cx="8229600" cy="286512"/>
          </a:xfrm>
          <a:prstGeom prst="roundRect">
            <a:avLst>
              <a:gd name="adj" fmla="val 25532"/>
            </a:avLst>
          </a:prstGeom>
          <a:solidFill>
            <a:srgbClr val="F2ECE1"/>
          </a:solidFill>
          <a:ln w="19050">
            <a:solidFill>
              <a:srgbClr val="D97A14"/>
            </a:solidFill>
            <a:prstDash val="solid"/>
          </a:ln>
        </p:spPr>
      </p:sp>
      <p:sp>
        <p:nvSpPr>
          <p:cNvPr id="16" name="Shape 14"/>
          <p:cNvSpPr/>
          <p:nvPr/>
        </p:nvSpPr>
        <p:spPr>
          <a:xfrm>
            <a:off x="548640" y="2740152"/>
            <a:ext cx="292608" cy="292608"/>
          </a:xfrm>
          <a:prstGeom prst="ellipse">
            <a:avLst/>
          </a:prstGeom>
          <a:solidFill>
            <a:srgbClr val="D97A14"/>
          </a:solidFill>
          <a:ln w="12700">
            <a:solidFill>
              <a:srgbClr val="D97A14"/>
            </a:solidFill>
            <a:prstDash val="solid"/>
          </a:ln>
        </p:spPr>
      </p:sp>
      <p:sp>
        <p:nvSpPr>
          <p:cNvPr id="17" name="Text 15"/>
          <p:cNvSpPr txBox="1"/>
          <p:nvPr/>
        </p:nvSpPr>
        <p:spPr>
          <a:xfrm>
            <a:off x="548640" y="27401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274320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output of 92,233,720,368.54 BTC - overflow, summed as a small number</a:t>
            </a:r>
            <a:endParaRPr lang="en-US" sz="1050" dirty="0"/>
          </a:p>
        </p:txBody>
      </p:sp>
      <p:sp>
        <p:nvSpPr>
          <p:cNvPr id="19" name="Shape 17"/>
          <p:cNvSpPr/>
          <p:nvPr/>
        </p:nvSpPr>
        <p:spPr>
          <a:xfrm>
            <a:off x="457200" y="3139440"/>
            <a:ext cx="8229600" cy="286512"/>
          </a:xfrm>
          <a:prstGeom prst="roundRect">
            <a:avLst>
              <a:gd name="adj" fmla="val 25532"/>
            </a:avLst>
          </a:prstGeom>
          <a:solidFill>
            <a:srgbClr val="F2ECE1"/>
          </a:solidFill>
          <a:ln w="19050">
            <a:solidFill>
              <a:srgbClr val="D97A14"/>
            </a:solidFill>
            <a:prstDash val="solid"/>
          </a:ln>
        </p:spPr>
      </p:sp>
      <p:sp>
        <p:nvSpPr>
          <p:cNvPr id="20" name="Shape 18"/>
          <p:cNvSpPr/>
          <p:nvPr/>
        </p:nvSpPr>
        <p:spPr>
          <a:xfrm>
            <a:off x="548640" y="3136392"/>
            <a:ext cx="292608" cy="292608"/>
          </a:xfrm>
          <a:prstGeom prst="ellipse">
            <a:avLst/>
          </a:prstGeom>
          <a:solidFill>
            <a:srgbClr val="D97A14"/>
          </a:solidFill>
          <a:ln w="12700">
            <a:solidFill>
              <a:srgbClr val="D97A14"/>
            </a:solidFill>
            <a:prstDash val="solid"/>
          </a:ln>
        </p:spPr>
      </p:sp>
      <p:sp>
        <p:nvSpPr>
          <p:cNvPr id="21" name="Text 19"/>
          <p:cNvSpPr txBox="1"/>
          <p:nvPr/>
        </p:nvSpPr>
        <p:spPr>
          <a:xfrm>
            <a:off x="548640" y="3136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932688" y="313944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twin output, same trick</a:t>
            </a:r>
            <a:endParaRPr lang="en-US" sz="1050" dirty="0"/>
          </a:p>
        </p:txBody>
      </p:sp>
      <p:sp>
        <p:nvSpPr>
          <p:cNvPr id="23" name="Shape 21"/>
          <p:cNvSpPr/>
          <p:nvPr/>
        </p:nvSpPr>
        <p:spPr>
          <a:xfrm>
            <a:off x="457200" y="3535680"/>
            <a:ext cx="8229600" cy="286512"/>
          </a:xfrm>
          <a:prstGeom prst="roundRect">
            <a:avLst>
              <a:gd name="adj" fmla="val 25532"/>
            </a:avLst>
          </a:prstGeom>
          <a:solidFill>
            <a:srgbClr val="F2ECE1"/>
          </a:solidFill>
          <a:ln w="19050">
            <a:solidFill>
              <a:srgbClr val="2F6D62"/>
            </a:solidFill>
            <a:prstDash val="solid"/>
          </a:ln>
        </p:spPr>
      </p:sp>
      <p:sp>
        <p:nvSpPr>
          <p:cNvPr id="24" name="Shape 22"/>
          <p:cNvSpPr/>
          <p:nvPr/>
        </p:nvSpPr>
        <p:spPr>
          <a:xfrm>
            <a:off x="548640" y="3532632"/>
            <a:ext cx="292608" cy="292608"/>
          </a:xfrm>
          <a:prstGeom prst="ellipse">
            <a:avLst/>
          </a:prstGeom>
          <a:solidFill>
            <a:srgbClr val="2F6D62"/>
          </a:solidFill>
          <a:ln w="12700">
            <a:solidFill>
              <a:srgbClr val="2F6D62"/>
            </a:solidFill>
            <a:prstDash val="solid"/>
          </a:ln>
        </p:spPr>
      </p:sp>
      <p:sp>
        <p:nvSpPr>
          <p:cNvPr id="25" name="Text 23"/>
          <p:cNvSpPr txBox="1"/>
          <p:nvPr/>
        </p:nvSpPr>
        <p:spPr>
          <a:xfrm>
            <a:off x="548640" y="35326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932688" y="353568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0.3.10's corrected rule: outputs must sum in range - chain rebuilt without them</a:t>
            </a:r>
            <a:endParaRPr lang="en-US" sz="1050" dirty="0"/>
          </a:p>
        </p:txBody>
      </p:sp>
      <p:sp>
        <p:nvSpPr>
          <p:cNvPr id="27" name="Shape 25"/>
          <p:cNvSpPr/>
          <p:nvPr/>
        </p:nvSpPr>
        <p:spPr>
          <a:xfrm>
            <a:off x="457200" y="4041648"/>
            <a:ext cx="1738092"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48640" y="4041648"/>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spo…</a:t>
            </a:r>
            <a:endParaRPr lang="en-US" sz="750" dirty="0"/>
          </a:p>
        </p:txBody>
      </p:sp>
      <p:sp>
        <p:nvSpPr>
          <p:cNvPr id="29" name="Shape 27"/>
          <p:cNvSpPr/>
          <p:nvPr/>
        </p:nvSpPr>
        <p:spPr>
          <a:xfrm>
            <a:off x="2305020" y="4041648"/>
            <a:ext cx="1659087" cy="365760"/>
          </a:xfrm>
          <a:prstGeom prst="roundRect">
            <a:avLst>
              <a:gd name="adj" fmla="val 50000"/>
            </a:avLst>
          </a:prstGeom>
          <a:solidFill>
            <a:srgbClr val="EFE9DC"/>
          </a:solidFill>
          <a:ln w="9525">
            <a:solidFill>
              <a:srgbClr val="DFD6C7"/>
            </a:solidFill>
            <a:prstDash val="solid"/>
          </a:ln>
        </p:spPr>
      </p:sp>
      <p:sp>
        <p:nvSpPr>
          <p:cNvPr id="30" name="Text 28"/>
          <p:cNvSpPr txBox="1"/>
          <p:nvPr/>
        </p:nvSpPr>
        <p:spPr>
          <a:xfrm>
            <a:off x="2396460" y="4041648"/>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discusse…</a:t>
            </a:r>
            <a:endParaRPr lang="en-US" sz="750" dirty="0"/>
          </a:p>
        </p:txBody>
      </p:sp>
      <p:sp>
        <p:nvSpPr>
          <p:cNvPr id="31" name="Shape 29"/>
          <p:cNvSpPr/>
          <p:nvPr/>
        </p:nvSpPr>
        <p:spPr>
          <a:xfrm>
            <a:off x="4073835" y="4041648"/>
            <a:ext cx="1343071" cy="365760"/>
          </a:xfrm>
          <a:prstGeom prst="roundRect">
            <a:avLst>
              <a:gd name="adj" fmla="val 50000"/>
            </a:avLst>
          </a:prstGeom>
          <a:solidFill>
            <a:srgbClr val="EFE9DC"/>
          </a:solidFill>
          <a:ln w="9525">
            <a:solidFill>
              <a:srgbClr val="DFD6C7"/>
            </a:solidFill>
            <a:prstDash val="solid"/>
          </a:ln>
        </p:spPr>
      </p:sp>
      <p:sp>
        <p:nvSpPr>
          <p:cNvPr id="32" name="Text 30"/>
          <p:cNvSpPr txBox="1"/>
          <p:nvPr/>
        </p:nvSpPr>
        <p:spPr>
          <a:xfrm>
            <a:off x="4165275"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33" name="Shape 31"/>
          <p:cNvSpPr/>
          <p:nvPr/>
        </p:nvSpPr>
        <p:spPr>
          <a:xfrm>
            <a:off x="5526634" y="4041648"/>
            <a:ext cx="3160166" cy="365760"/>
          </a:xfrm>
          <a:prstGeom prst="roundRect">
            <a:avLst>
              <a:gd name="adj" fmla="val 50000"/>
            </a:avLst>
          </a:prstGeom>
          <a:solidFill>
            <a:srgbClr val="2F6D62"/>
          </a:solidFill>
          <a:ln w="9525">
            <a:solidFill>
              <a:srgbClr val="2F6D62"/>
            </a:solidFill>
            <a:prstDash val="solid"/>
          </a:ln>
        </p:spPr>
      </p:sp>
      <p:sp>
        <p:nvSpPr>
          <p:cNvPr id="34" name="Text 32"/>
          <p:cNvSpPr txBox="1"/>
          <p:nvPr/>
        </p:nvSpPr>
        <p:spPr>
          <a:xfrm>
            <a:off x="5618074" y="4041648"/>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Validation by every node is the immune system - it worked</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Confirmations: depth, not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on top multiplies the attacker's bill</a:t>
            </a:r>
            <a:endParaRPr lang="en-US" sz="1300" dirty="0"/>
          </a:p>
        </p:txBody>
      </p:sp>
      <p:sp>
        <p:nvSpPr>
          <p:cNvPr id="6" name="Shape 4"/>
          <p:cNvSpPr/>
          <p:nvPr/>
        </p:nvSpPr>
        <p:spPr>
          <a:xfrm>
            <a:off x="457200" y="1517904"/>
            <a:ext cx="1371600" cy="914400"/>
          </a:xfrm>
          <a:prstGeom prst="roundRect">
            <a:avLst>
              <a:gd name="adj" fmla="val 8000"/>
            </a:avLst>
          </a:prstGeom>
          <a:solidFill>
            <a:srgbClr val="F2ECE1"/>
          </a:solidFill>
          <a:ln w="22225">
            <a:solidFill>
              <a:srgbClr val="2F6D62"/>
            </a:solidFill>
            <a:prstDash val="solid"/>
          </a:ln>
        </p:spPr>
      </p:sp>
      <p:sp>
        <p:nvSpPr>
          <p:cNvPr id="7" name="Text 5"/>
          <p:cNvSpPr txBox="1"/>
          <p:nvPr/>
        </p:nvSpPr>
        <p:spPr>
          <a:xfrm>
            <a:off x="45720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0</a:t>
            </a:r>
            <a:endParaRPr lang="en-US" sz="1100" dirty="0"/>
          </a:p>
        </p:txBody>
      </p:sp>
      <p:sp>
        <p:nvSpPr>
          <p:cNvPr id="8" name="Text 6"/>
          <p:cNvSpPr txBox="1"/>
          <p:nvPr/>
        </p:nvSpPr>
        <p:spPr>
          <a:xfrm>
            <a:off x="50292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9" name="Shape 7"/>
          <p:cNvSpPr/>
          <p:nvPr/>
        </p:nvSpPr>
        <p:spPr>
          <a:xfrm>
            <a:off x="1828800" y="1975104"/>
            <a:ext cx="365760" cy="0"/>
          </a:xfrm>
          <a:prstGeom prst="line">
            <a:avLst/>
          </a:prstGeom>
          <a:noFill/>
          <a:ln w="25400">
            <a:solidFill>
              <a:srgbClr val="2F6D62"/>
            </a:solidFill>
            <a:prstDash val="solid"/>
            <a:tailEnd type="triangle"/>
          </a:ln>
        </p:spPr>
      </p:sp>
      <p:sp>
        <p:nvSpPr>
          <p:cNvPr id="10" name="Shape 8"/>
          <p:cNvSpPr/>
          <p:nvPr/>
        </p:nvSpPr>
        <p:spPr>
          <a:xfrm>
            <a:off x="2194560" y="1517904"/>
            <a:ext cx="1371600" cy="914400"/>
          </a:xfrm>
          <a:prstGeom prst="roundRect">
            <a:avLst>
              <a:gd name="adj" fmla="val 8000"/>
            </a:avLst>
          </a:prstGeom>
          <a:solidFill>
            <a:srgbClr val="F2ECE1"/>
          </a:solidFill>
          <a:ln w="22225">
            <a:solidFill>
              <a:srgbClr val="2F6D62"/>
            </a:solidFill>
            <a:prstDash val="solid"/>
          </a:ln>
        </p:spPr>
      </p:sp>
      <p:sp>
        <p:nvSpPr>
          <p:cNvPr id="11" name="Text 9"/>
          <p:cNvSpPr txBox="1"/>
          <p:nvPr/>
        </p:nvSpPr>
        <p:spPr>
          <a:xfrm>
            <a:off x="219456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1</a:t>
            </a:r>
            <a:endParaRPr lang="en-US" sz="1100" dirty="0"/>
          </a:p>
        </p:txBody>
      </p:sp>
      <p:sp>
        <p:nvSpPr>
          <p:cNvPr id="12" name="Text 10"/>
          <p:cNvSpPr txBox="1"/>
          <p:nvPr/>
        </p:nvSpPr>
        <p:spPr>
          <a:xfrm>
            <a:off x="224028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0</a:t>
            </a:r>
            <a:endParaRPr lang="en-US" sz="850" dirty="0"/>
          </a:p>
        </p:txBody>
      </p:sp>
      <p:sp>
        <p:nvSpPr>
          <p:cNvPr id="13" name="Shape 11"/>
          <p:cNvSpPr/>
          <p:nvPr/>
        </p:nvSpPr>
        <p:spPr>
          <a:xfrm>
            <a:off x="3566160" y="1975104"/>
            <a:ext cx="365760" cy="0"/>
          </a:xfrm>
          <a:prstGeom prst="line">
            <a:avLst/>
          </a:prstGeom>
          <a:noFill/>
          <a:ln w="25400">
            <a:solidFill>
              <a:srgbClr val="2F6D62"/>
            </a:solidFill>
            <a:prstDash val="solid"/>
            <a:tailEnd type="triangle"/>
          </a:ln>
        </p:spPr>
      </p:sp>
      <p:sp>
        <p:nvSpPr>
          <p:cNvPr id="14" name="Shape 12"/>
          <p:cNvSpPr/>
          <p:nvPr/>
        </p:nvSpPr>
        <p:spPr>
          <a:xfrm>
            <a:off x="3931920" y="1517904"/>
            <a:ext cx="1371600" cy="914400"/>
          </a:xfrm>
          <a:prstGeom prst="roundRect">
            <a:avLst>
              <a:gd name="adj" fmla="val 8000"/>
            </a:avLst>
          </a:prstGeom>
          <a:solidFill>
            <a:srgbClr val="F2ECE1"/>
          </a:solidFill>
          <a:ln w="22225">
            <a:solidFill>
              <a:srgbClr val="2F6D62"/>
            </a:solidFill>
            <a:prstDash val="solid"/>
          </a:ln>
        </p:spPr>
      </p:sp>
      <p:sp>
        <p:nvSpPr>
          <p:cNvPr id="15" name="Text 13"/>
          <p:cNvSpPr txBox="1"/>
          <p:nvPr/>
        </p:nvSpPr>
        <p:spPr>
          <a:xfrm>
            <a:off x="3931920" y="1572768"/>
            <a:ext cx="1371600" cy="274320"/>
          </a:xfrm>
          <a:prstGeom prst="rect">
            <a:avLst/>
          </a:prstGeom>
          <a:noFill/>
          <a:ln/>
        </p:spPr>
        <p:txBody>
          <a:bodyPr wrap="square" lIns="0" tIns="0" rIns="0" bIns="0" rtlCol="0" anchor="ctr"/>
          <a:lstStyle/>
          <a:p>
            <a:pPr algn="ctr" indent="0" marL="0">
              <a:buNone/>
            </a:pPr>
            <a:r>
              <a:rPr lang="en-US" sz="1100" b="1" dirty="0">
                <a:solidFill>
                  <a:srgbClr val="2F6D62"/>
                </a:solidFill>
                <a:latin typeface="Calibri" pitchFamily="34" charset="0"/>
                <a:ea typeface="Calibri" pitchFamily="34" charset="-122"/>
                <a:cs typeface="Calibri" pitchFamily="34" charset="-120"/>
              </a:rPr>
              <a:t>block 2</a:t>
            </a:r>
            <a:endParaRPr lang="en-US" sz="1100" dirty="0"/>
          </a:p>
        </p:txBody>
      </p:sp>
      <p:sp>
        <p:nvSpPr>
          <p:cNvPr id="16" name="Text 14"/>
          <p:cNvSpPr txBox="1"/>
          <p:nvPr/>
        </p:nvSpPr>
        <p:spPr>
          <a:xfrm>
            <a:off x="397764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1</a:t>
            </a:r>
            <a:endParaRPr lang="en-US" sz="850" dirty="0"/>
          </a:p>
        </p:txBody>
      </p:sp>
      <p:sp>
        <p:nvSpPr>
          <p:cNvPr id="17" name="Text 15"/>
          <p:cNvSpPr txBox="1"/>
          <p:nvPr/>
        </p:nvSpPr>
        <p:spPr>
          <a:xfrm>
            <a:off x="457200" y="2505456"/>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Alice's block + 2 on top = 3 confirmations</a:t>
            </a:r>
            <a:endParaRPr lang="en-US" sz="1050" dirty="0"/>
          </a:p>
        </p:txBody>
      </p:sp>
      <p:sp>
        <p:nvSpPr>
          <p:cNvPr id="18" name="Text 16"/>
          <p:cNvSpPr txBox="1"/>
          <p:nvPr/>
        </p:nvSpPr>
        <p:spPr>
          <a:xfrm>
            <a:off x="5669280" y="1280160"/>
            <a:ext cx="1280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depth, counted</a:t>
            </a:r>
            <a:endParaRPr lang="en-US" sz="1150" dirty="0"/>
          </a:p>
        </p:txBody>
      </p:sp>
      <p:sp>
        <p:nvSpPr>
          <p:cNvPr id="19" name="Shape 17"/>
          <p:cNvSpPr/>
          <p:nvPr/>
        </p:nvSpPr>
        <p:spPr>
          <a:xfrm>
            <a:off x="5669280" y="1554480"/>
            <a:ext cx="301752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5852160" y="1673352"/>
            <a:ext cx="2651760" cy="8595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depth + </a:t>
            </a:r>
            <a:r>
              <a:rPr lang="en-US" sz="950" dirty="0">
                <a:solidFill>
                  <a:srgbClr val="FFD28A"/>
                </a:solidFill>
                <a:latin typeface="Courier New" pitchFamily="34" charset="0"/>
                <a:ea typeface="Courier New" pitchFamily="34" charset="-122"/>
                <a:cs typeface="Courier New" pitchFamily="34" charset="-120"/>
              </a:rPr>
              <a:t>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p:txBody>
      </p:sp>
      <p:sp>
        <p:nvSpPr>
          <p:cNvPr id="21" name="Text 19"/>
          <p:cNvSpPr txBox="1"/>
          <p:nvPr/>
        </p:nvSpPr>
        <p:spPr>
          <a:xfrm>
            <a:off x="7040880" y="12801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3236976"/>
            <a:ext cx="402336" cy="402336"/>
          </a:xfrm>
          <a:prstGeom prst="ellipse">
            <a:avLst/>
          </a:prstGeom>
          <a:solidFill>
            <a:srgbClr val="D97A14"/>
          </a:solidFill>
          <a:ln w="12700">
            <a:solidFill>
              <a:srgbClr val="D97A14"/>
            </a:solidFill>
            <a:prstDash val="solid"/>
          </a:ln>
        </p:spPr>
      </p:sp>
      <p:sp>
        <p:nvSpPr>
          <p:cNvPr id="23" name="Text 21"/>
          <p:cNvSpPr txBox="1"/>
          <p:nvPr/>
        </p:nvSpPr>
        <p:spPr>
          <a:xfrm>
            <a:off x="457200" y="3236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4" name="Text 22"/>
          <p:cNvSpPr txBox="1"/>
          <p:nvPr/>
        </p:nvSpPr>
        <p:spPr>
          <a:xfrm>
            <a:off x="1024128" y="320040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confirmation is a block on top of yours - depth, not minutes</a:t>
            </a:r>
            <a:endParaRPr lang="en-US" sz="1050" dirty="0"/>
          </a:p>
        </p:txBody>
      </p:sp>
      <p:sp>
        <p:nvSpPr>
          <p:cNvPr id="25" name="Shape 23"/>
          <p:cNvSpPr/>
          <p:nvPr/>
        </p:nvSpPr>
        <p:spPr>
          <a:xfrm>
            <a:off x="457200" y="3633216"/>
            <a:ext cx="402336" cy="402336"/>
          </a:xfrm>
          <a:prstGeom prst="ellipse">
            <a:avLst/>
          </a:prstGeom>
          <a:solidFill>
            <a:srgbClr val="D97A14"/>
          </a:solidFill>
          <a:ln w="12700">
            <a:solidFill>
              <a:srgbClr val="D97A14"/>
            </a:solidFill>
            <a:prstDash val="solid"/>
          </a:ln>
        </p:spPr>
      </p:sp>
      <p:sp>
        <p:nvSpPr>
          <p:cNvPr id="26" name="Text 24"/>
          <p:cNvSpPr txBox="1"/>
          <p:nvPr/>
        </p:nvSpPr>
        <p:spPr>
          <a:xfrm>
            <a:off x="457200" y="3633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7" name="Text 25"/>
          <p:cNvSpPr txBox="1"/>
          <p:nvPr/>
        </p:nvSpPr>
        <p:spPr>
          <a:xfrm>
            <a:off x="1024128" y="359664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rewrite yours an attacker must redo every block above it, faster than everyone</a:t>
            </a:r>
            <a:endParaRPr lang="en-US" sz="1050" dirty="0"/>
          </a:p>
        </p:txBody>
      </p:sp>
      <p:sp>
        <p:nvSpPr>
          <p:cNvPr id="28" name="Shape 26"/>
          <p:cNvSpPr/>
          <p:nvPr/>
        </p:nvSpPr>
        <p:spPr>
          <a:xfrm>
            <a:off x="457200" y="4029456"/>
            <a:ext cx="402336" cy="402336"/>
          </a:xfrm>
          <a:prstGeom prst="ellipse">
            <a:avLst/>
          </a:prstGeom>
          <a:solidFill>
            <a:srgbClr val="D97A14"/>
          </a:solidFill>
          <a:ln w="12700">
            <a:solidFill>
              <a:srgbClr val="D97A14"/>
            </a:solidFill>
            <a:prstDash val="solid"/>
          </a:ln>
        </p:spPr>
      </p:sp>
      <p:sp>
        <p:nvSpPr>
          <p:cNvPr id="29" name="Text 27"/>
          <p:cNvSpPr txBox="1"/>
          <p:nvPr/>
        </p:nvSpPr>
        <p:spPr>
          <a:xfrm>
            <a:off x="457200" y="4029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0" name="Text 28"/>
          <p:cNvSpPr txBox="1"/>
          <p:nvPr/>
        </p:nvSpPr>
        <p:spPr>
          <a:xfrm>
            <a:off x="1024128" y="399288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unlikely that is, the whitepaper computes - next slide</a:t>
            </a:r>
            <a:endParaRPr lang="en-US" sz="10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block on top multiplies the cost of rewriting yours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whitepaper's table, recomputed live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Section 11's procedure, rerun for this deck - not quoted</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0.2045873</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catch-up odds after 1 block (q=0.1)</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24500"/>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0.0002428</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after 6 - the '6 confirmations' rule</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paper's own table</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confirmations: the attacker's odds drop below 0.03%</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Zero-conf espresso, six-block house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Match the wait to the stake</a:t>
            </a:r>
            <a:endParaRPr lang="en-US" sz="1300" dirty="0"/>
          </a:p>
        </p:txBody>
      </p:sp>
      <p:sp>
        <p:nvSpPr>
          <p:cNvPr id="6" name="Shape 4"/>
          <p:cNvSpPr/>
          <p:nvPr/>
        </p:nvSpPr>
        <p:spPr>
          <a:xfrm>
            <a:off x="457200" y="1554480"/>
            <a:ext cx="3931920" cy="2194560"/>
          </a:xfrm>
          <a:prstGeom prst="roundRect">
            <a:avLst>
              <a:gd name="adj" fmla="val 4167"/>
            </a:avLst>
          </a:prstGeom>
          <a:solidFill>
            <a:srgbClr val="F2ECE1"/>
          </a:solidFill>
          <a:ln w="15875">
            <a:solidFill>
              <a:srgbClr val="D97A14"/>
            </a:solidFill>
            <a:prstDash val="solid"/>
          </a:ln>
        </p:spPr>
      </p:sp>
      <p:sp>
        <p:nvSpPr>
          <p:cNvPr id="7" name="Text 5"/>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Espresso: accept at zero</a:t>
            </a:r>
            <a:endParaRPr lang="en-US" sz="1500" dirty="0"/>
          </a:p>
        </p:txBody>
      </p:sp>
      <p:sp>
        <p:nvSpPr>
          <p:cNvPr id="8" name="Text 6"/>
          <p:cNvSpPr txBox="1"/>
          <p:nvPr/>
        </p:nvSpPr>
        <p:spPr>
          <a:xfrm>
            <a:off x="64008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Small sum, repeat customer, in person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Risk: someone races a double-spend for a coffee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Seconds matter more than certainty</a:t>
            </a:r>
            <a:endParaRPr lang="en-US" sz="1250" dirty="0"/>
          </a:p>
        </p:txBody>
      </p:sp>
      <p:sp>
        <p:nvSpPr>
          <p:cNvPr id="9" name="Shape 7"/>
          <p:cNvSpPr/>
          <p:nvPr/>
        </p:nvSpPr>
        <p:spPr>
          <a:xfrm>
            <a:off x="4754880" y="1554480"/>
            <a:ext cx="3931920" cy="2194560"/>
          </a:xfrm>
          <a:prstGeom prst="roundRect">
            <a:avLst>
              <a:gd name="adj" fmla="val 4167"/>
            </a:avLst>
          </a:prstGeom>
          <a:solidFill>
            <a:srgbClr val="F2ECE1"/>
          </a:solidFill>
          <a:ln w="15875">
            <a:solidFill>
              <a:srgbClr val="2F6D62"/>
            </a:solidFill>
            <a:prstDash val="solid"/>
          </a:ln>
        </p:spPr>
      </p:sp>
      <p:sp>
        <p:nvSpPr>
          <p:cNvPr id="10" name="Text 8"/>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House: wait for six</a:t>
            </a:r>
            <a:endParaRPr lang="en-US" sz="1500" dirty="0"/>
          </a:p>
        </p:txBody>
      </p:sp>
      <p:sp>
        <p:nvSpPr>
          <p:cNvPr id="11" name="Text 9"/>
          <p:cNvSpPr txBox="1"/>
          <p:nvPr/>
        </p:nvSpPr>
        <p:spPr>
          <a:xfrm>
            <a:off x="493776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Large, irreversible, worth attacking</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Six blocks: odds near one in four thousand (q=0.1)</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An hour of patience prices out the attack</a:t>
            </a:r>
            <a:endParaRPr lang="en-US" sz="1250" dirty="0"/>
          </a:p>
        </p:txBody>
      </p:sp>
      <p:sp>
        <p:nvSpPr>
          <p:cNvPr id="12" name="Shape 10"/>
          <p:cNvSpPr/>
          <p:nvPr/>
        </p:nvSpPr>
        <p:spPr>
          <a:xfrm>
            <a:off x="3063240" y="3977640"/>
            <a:ext cx="3017520" cy="402336"/>
          </a:xfrm>
          <a:prstGeom prst="roundRect">
            <a:avLst>
              <a:gd name="adj" fmla="val 50000"/>
            </a:avLst>
          </a:prstGeom>
          <a:solidFill>
            <a:srgbClr val="2F6D62"/>
          </a:solidFill>
          <a:ln w="12700">
            <a:solidFill>
              <a:srgbClr val="2F6D62"/>
            </a:solidFill>
            <a:prstDash val="solid"/>
          </a:ln>
        </p:spPr>
      </p:sp>
      <p:sp>
        <p:nvSpPr>
          <p:cNvPr id="13" name="Text 11"/>
          <p:cNvSpPr txBox="1"/>
          <p:nvPr/>
        </p:nvSpPr>
        <p:spPr>
          <a:xfrm>
            <a:off x="3063240" y="397764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rule, different stakes</a:t>
            </a:r>
            <a:endParaRPr lang="en-US" sz="13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the wait to the stake - that is all 6 blocks means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Semantics and 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chapter as data, and the chapter on your laptop</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Triples</a:t>
            </a: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Provenance</a:t>
            </a: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 it at home</a:t>
            </a: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triples and provenance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course page itself stores what you just learned</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Every fact on the course page is a triple: subject, predicate, object</a:t>
            </a:r>
            <a:endParaRPr lang="en-US" sz="950" dirty="0"/>
          </a:p>
        </p:txBody>
      </p:sp>
      <p:sp>
        <p:nvSpPr>
          <p:cNvPr id="9" name="Shape 7"/>
          <p:cNvSpPr/>
          <p:nvPr/>
        </p:nvSpPr>
        <p:spPr>
          <a:xfrm>
            <a:off x="457200" y="186537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65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88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Provenance says who asserted it and from where - the run builds one of each and reads it back</a:t>
            </a:r>
            <a:endParaRPr lang="en-US" sz="950" dirty="0"/>
          </a:p>
        </p:txBody>
      </p:sp>
      <p:sp>
        <p:nvSpPr>
          <p:cNvPr id="12" name="Text 10"/>
          <p:cNvSpPr txBox="1"/>
          <p:nvPr/>
        </p:nvSpPr>
        <p:spPr>
          <a:xfrm>
            <a:off x="457200" y="224028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one fact, as the page stores it</a:t>
            </a:r>
            <a:endParaRPr lang="en-US" sz="1150" dirty="0"/>
          </a:p>
        </p:txBody>
      </p:sp>
      <p:sp>
        <p:nvSpPr>
          <p:cNvPr id="13" name="Shape 11"/>
          <p:cNvSpPr/>
          <p:nvPr/>
        </p:nvSpPr>
        <p:spPr>
          <a:xfrm>
            <a:off x="457200" y="2514600"/>
            <a:ext cx="8229600" cy="822960"/>
          </a:xfrm>
          <a:prstGeom prst="roundRect">
            <a:avLst>
              <a:gd name="adj" fmla="val 11111"/>
            </a:avLst>
          </a:prstGeom>
          <a:solidFill>
            <a:srgbClr val="23272E"/>
          </a:solidFill>
          <a:ln w="12700">
            <a:solidFill>
              <a:srgbClr val="23272E"/>
            </a:solidFill>
            <a:prstDash val="solid"/>
          </a:ln>
        </p:spPr>
      </p:sp>
      <p:sp>
        <p:nvSpPr>
          <p:cNvPr id="14" name="Text 12"/>
          <p:cNvSpPr txBox="1"/>
          <p:nvPr/>
        </p:nvSpPr>
        <p:spPr>
          <a:xfrm>
            <a:off x="640080" y="2633472"/>
            <a:ext cx="7863840" cy="5852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triples =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'used'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'Tx1:0'</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'Tx2:1'</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'wasGeneratedBy'</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'Tx2'</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'wasAttributedTo'</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'Alice'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(len(triples), len({s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 | {o </a:t>
            </a:r>
            <a:r>
              <a:rPr lang="en-US" sz="900" b="1" dirty="0">
                <a:solidFill>
                  <a:srgbClr val="F2A860"/>
                </a:solidFill>
                <a:latin typeface="Courier New" pitchFamily="34" charset="0"/>
                <a:ea typeface="Courier New" pitchFamily="34" charset="-122"/>
                <a:cs typeface="Courier New" pitchFamily="34" charset="-120"/>
              </a:rPr>
              <a:t>for</a:t>
            </a:r>
            <a:r>
              <a:rPr lang="en-US" sz="900" dirty="0">
                <a:solidFill>
                  <a:srgbClr val="E6EDF3"/>
                </a:solidFill>
                <a:latin typeface="Courier New" pitchFamily="34" charset="0"/>
                <a:ea typeface="Courier New" pitchFamily="34" charset="-122"/>
                <a:cs typeface="Courier New" pitchFamily="34" charset="-120"/>
              </a:rPr>
              <a:t> s, p, o </a:t>
            </a:r>
            <a:r>
              <a:rPr lang="en-US" sz="900" b="1" dirty="0">
                <a:solidFill>
                  <a:srgbClr val="F2A860"/>
                </a:solidFill>
                <a:latin typeface="Courier New" pitchFamily="34" charset="0"/>
                <a:ea typeface="Courier New" pitchFamily="34" charset="-122"/>
                <a:cs typeface="Courier New" pitchFamily="34" charset="-120"/>
              </a:rPr>
              <a:t>in</a:t>
            </a:r>
            <a:r>
              <a:rPr lang="en-US" sz="900" dirty="0">
                <a:solidFill>
                  <a:srgbClr val="E6EDF3"/>
                </a:solidFill>
                <a:latin typeface="Courier New" pitchFamily="34" charset="0"/>
                <a:ea typeface="Courier New" pitchFamily="34" charset="-122"/>
                <a:cs typeface="Courier New" pitchFamily="34" charset="-120"/>
              </a:rPr>
              <a:t> triples}))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(3, 4)</a:t>
            </a:r>
            <a:endParaRPr lang="en-US" sz="900" dirty="0"/>
          </a:p>
        </p:txBody>
      </p:sp>
      <p:sp>
        <p:nvSpPr>
          <p:cNvPr id="15" name="Text 13"/>
          <p:cNvSpPr txBox="1"/>
          <p:nvPr/>
        </p:nvSpPr>
        <p:spPr>
          <a:xfrm>
            <a:off x="7040880" y="224028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Text 14"/>
          <p:cNvSpPr txBox="1"/>
          <p:nvPr/>
        </p:nvSpPr>
        <p:spPr>
          <a:xfrm>
            <a:off x="457200" y="333756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and who says so</a:t>
            </a:r>
            <a:endParaRPr lang="en-US" sz="1150" dirty="0"/>
          </a:p>
        </p:txBody>
      </p:sp>
      <p:sp>
        <p:nvSpPr>
          <p:cNvPr id="17" name="Shape 15"/>
          <p:cNvSpPr/>
          <p:nvPr/>
        </p:nvSpPr>
        <p:spPr>
          <a:xfrm>
            <a:off x="457200" y="3611880"/>
            <a:ext cx="8229600" cy="822960"/>
          </a:xfrm>
          <a:prstGeom prst="roundRect">
            <a:avLst>
              <a:gd name="adj" fmla="val 11111"/>
            </a:avLst>
          </a:prstGeom>
          <a:solidFill>
            <a:srgbClr val="23272E"/>
          </a:solidFill>
          <a:ln w="12700">
            <a:solidFill>
              <a:srgbClr val="23272E"/>
            </a:solidFill>
            <a:prstDash val="solid"/>
          </a:ln>
        </p:spPr>
      </p:sp>
      <p:sp>
        <p:nvSpPr>
          <p:cNvPr id="18" name="Text 16"/>
          <p:cNvSpPr txBox="1"/>
          <p:nvPr/>
        </p:nvSpPr>
        <p:spPr>
          <a:xfrm>
            <a:off x="640080" y="3730752"/>
            <a:ext cx="7863840" cy="58521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chain = [</a:t>
            </a:r>
            <a:r>
              <a:rPr lang="en-US" sz="1000" dirty="0">
                <a:solidFill>
                  <a:srgbClr val="9ECBFF"/>
                </a:solidFill>
                <a:latin typeface="Courier New" pitchFamily="34" charset="0"/>
                <a:ea typeface="Courier New" pitchFamily="34" charset="-122"/>
                <a:cs typeface="Courier New" pitchFamily="34" charset="-120"/>
              </a:rPr>
              <a:t>'Tx1:0'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'Tx3:0'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a:t>
            </a:r>
            <a:r>
              <a:rPr lang="en-US" sz="1000" dirty="0">
                <a:solidFill>
                  <a:srgbClr val="9ECBFF"/>
                </a:solidFill>
                <a:latin typeface="Courier New" pitchFamily="34" charset="0"/>
                <a:ea typeface="Courier New" pitchFamily="34" charset="-122"/>
                <a:cs typeface="Courier New" pitchFamily="34" charset="-120"/>
              </a:rPr>
              <a:t>'wasDerivedFrom'</a:t>
            </a:r>
            <a:r>
              <a:rPr lang="en-US" sz="1000" dirty="0">
                <a:solidFill>
                  <a:srgbClr val="E6EDF3"/>
                </a:solidFill>
                <a:latin typeface="Courier New" pitchFamily="34" charset="0"/>
                <a:ea typeface="Courier New" pitchFamily="34" charset="-122"/>
                <a:cs typeface="Courier New" pitchFamily="34" charset="-120"/>
              </a:rPr>
              <a:t>, a)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a, b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zip(chain, chain[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[('Tx2:1', 'wasDerivedFrom', 'Tx1:0'), ('Tx3:0', 'wasDerivedFrom', 'Tx2:1')]</a:t>
            </a:r>
            <a:endParaRPr lang="en-US" sz="1000" dirty="0"/>
          </a:p>
        </p:txBody>
      </p:sp>
      <p:sp>
        <p:nvSpPr>
          <p:cNvPr id="19" name="Text 17"/>
          <p:cNvSpPr txBox="1"/>
          <p:nvPr/>
        </p:nvSpPr>
        <p:spPr>
          <a:xfrm>
            <a:off x="7040880" y="333756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you use is built exactly this way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Run the chapter at home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consoles reproduce today's claims</a:t>
            </a:r>
            <a:endParaRPr lang="en-US" sz="1300" dirty="0"/>
          </a:p>
        </p:txBody>
      </p:sp>
      <p:sp>
        <p:nvSpPr>
          <p:cNvPr id="6" name="Text 4"/>
          <p:cNvSpPr txBox="1"/>
          <p:nvPr/>
        </p:nvSpPr>
        <p:spPr>
          <a:xfrm>
            <a:off x="457200" y="1143000"/>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fingerprint that seals everything</a:t>
            </a:r>
            <a:endParaRPr lang="en-US" sz="1150" dirty="0"/>
          </a:p>
        </p:txBody>
      </p:sp>
      <p:sp>
        <p:nvSpPr>
          <p:cNvPr id="7" name="Shape 5"/>
          <p:cNvSpPr/>
          <p:nvPr/>
        </p:nvSpPr>
        <p:spPr>
          <a:xfrm>
            <a:off x="457200" y="1417320"/>
            <a:ext cx="8229600" cy="777240"/>
          </a:xfrm>
          <a:prstGeom prst="roundRect">
            <a:avLst>
              <a:gd name="adj" fmla="val 11765"/>
            </a:avLst>
          </a:prstGeom>
          <a:solidFill>
            <a:srgbClr val="23272E"/>
          </a:solidFill>
          <a:ln w="12700">
            <a:solidFill>
              <a:srgbClr val="23272E"/>
            </a:solidFill>
            <a:prstDash val="solid"/>
          </a:ln>
        </p:spPr>
      </p:sp>
      <p:sp>
        <p:nvSpPr>
          <p:cNvPr id="8" name="Text 6"/>
          <p:cNvSpPr txBox="1"/>
          <p:nvPr/>
        </p:nvSpPr>
        <p:spPr>
          <a:xfrm>
            <a:off x="640080" y="1536192"/>
            <a:ext cx="7863840" cy="53949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hashlib.sha256(b</a:t>
            </a:r>
            <a:r>
              <a:rPr lang="en-US" sz="1050" dirty="0">
                <a:solidFill>
                  <a:srgbClr val="9ECBFF"/>
                </a:solidFill>
                <a:latin typeface="Courier New" pitchFamily="34" charset="0"/>
                <a:ea typeface="Courier New" pitchFamily="34" charset="-122"/>
                <a:cs typeface="Courier New" pitchFamily="34" charset="-120"/>
              </a:rPr>
              <a:t>'Alice pays Bob 75000'</a:t>
            </a:r>
            <a:r>
              <a:rPr lang="en-US" sz="1050" dirty="0">
                <a:solidFill>
                  <a:srgbClr val="E6EDF3"/>
                </a:solidFill>
                <a:latin typeface="Courier New" pitchFamily="34" charset="0"/>
                <a:ea typeface="Courier New" pitchFamily="34" charset="-122"/>
                <a:cs typeface="Courier New" pitchFamily="34" charset="-120"/>
              </a:rPr>
              <a:t>).hexdigest()[:</a:t>
            </a:r>
            <a:r>
              <a:rPr lang="en-US" sz="1050" dirty="0">
                <a:solidFill>
                  <a:srgbClr val="FFD28A"/>
                </a:solidFill>
                <a:latin typeface="Courier New" pitchFamily="34" charset="0"/>
                <a:ea typeface="Courier New" pitchFamily="34" charset="-122"/>
                <a:cs typeface="Courier New" pitchFamily="34" charset="-120"/>
              </a:rPr>
              <a:t>16</a:t>
            </a:r>
            <a:r>
              <a:rPr lang="en-US" sz="1050" dirty="0">
                <a:solidFill>
                  <a:srgbClr val="E6EDF3"/>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'320a22eeeb9c0391'</a:t>
            </a:r>
            <a:endParaRPr lang="en-US" sz="1050" dirty="0"/>
          </a:p>
        </p:txBody>
      </p:sp>
      <p:sp>
        <p:nvSpPr>
          <p:cNvPr id="9" name="Text 7"/>
          <p:cNvSpPr txBox="1"/>
          <p:nvPr/>
        </p:nvSpPr>
        <p:spPr>
          <a:xfrm>
            <a:off x="7040880" y="1143000"/>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176272"/>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toy block, mined like the real ones</a:t>
            </a:r>
            <a:endParaRPr lang="en-US" sz="1150" dirty="0"/>
          </a:p>
        </p:txBody>
      </p:sp>
      <p:sp>
        <p:nvSpPr>
          <p:cNvPr id="11" name="Shape 9"/>
          <p:cNvSpPr/>
          <p:nvPr/>
        </p:nvSpPr>
        <p:spPr>
          <a:xfrm>
            <a:off x="457200" y="2450592"/>
            <a:ext cx="8229600" cy="777240"/>
          </a:xfrm>
          <a:prstGeom prst="roundRect">
            <a:avLst>
              <a:gd name="adj" fmla="val 11765"/>
            </a:avLst>
          </a:prstGeom>
          <a:solidFill>
            <a:srgbClr val="23272E"/>
          </a:solidFill>
          <a:ln w="12700">
            <a:solidFill>
              <a:srgbClr val="23272E"/>
            </a:solidFill>
            <a:prstDash val="solid"/>
          </a:ln>
        </p:spPr>
      </p:sp>
      <p:sp>
        <p:nvSpPr>
          <p:cNvPr id="12" name="Text 10"/>
          <p:cNvSpPr txBox="1"/>
          <p:nvPr/>
        </p:nvSpPr>
        <p:spPr>
          <a:xfrm>
            <a:off x="640080" y="2569464"/>
            <a:ext cx="7863840" cy="5394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next(n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n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500000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if</a:t>
            </a:r>
            <a:r>
              <a:rPr lang="en-US" sz="850" dirty="0">
                <a:solidFill>
                  <a:srgbClr val="E6EDF3"/>
                </a:solidFill>
                <a:latin typeface="Courier New" pitchFamily="34" charset="0"/>
                <a:ea typeface="Courier New" pitchFamily="34" charset="-122"/>
                <a:cs typeface="Courier New" pitchFamily="34" charset="-120"/>
              </a:rPr>
              <a:t> h((</a:t>
            </a:r>
            <a:r>
              <a:rPr lang="en-US" sz="850" dirty="0">
                <a:solidFill>
                  <a:srgbClr val="9ECBFF"/>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 str(n) + </a:t>
            </a:r>
            <a:r>
              <a:rPr lang="en-US" sz="850" dirty="0">
                <a:solidFill>
                  <a:srgbClr val="9ECBFF"/>
                </a:solidFill>
                <a:latin typeface="Courier New" pitchFamily="34" charset="0"/>
                <a:ea typeface="Courier New" pitchFamily="34" charset="-122"/>
                <a:cs typeface="Courier New" pitchFamily="34" charset="-120"/>
              </a:rPr>
              <a:t>'Alice pays Bob 75000'</a:t>
            </a:r>
            <a:r>
              <a:rPr lang="en-US" sz="850" dirty="0">
                <a:solidFill>
                  <a:srgbClr val="E6EDF3"/>
                </a:solidFill>
                <a:latin typeface="Courier New" pitchFamily="34" charset="0"/>
                <a:ea typeface="Courier New" pitchFamily="34" charset="-122"/>
                <a:cs typeface="Courier New" pitchFamily="34" charset="-120"/>
              </a:rPr>
              <a:t>).encode()).hexdigest().startswith(</a:t>
            </a:r>
            <a:r>
              <a:rPr lang="en-US" sz="850" dirty="0">
                <a:solidFill>
                  <a:srgbClr val="9ECBFF"/>
                </a:solidFill>
                <a:latin typeface="Courier New" pitchFamily="34" charset="0"/>
                <a:ea typeface="Courier New" pitchFamily="34" charset="-122"/>
                <a:cs typeface="Courier New" pitchFamily="34" charset="-120"/>
              </a:rPr>
              <a:t>'0000'</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13" name="Text 11"/>
          <p:cNvSpPr txBox="1"/>
          <p:nvPr/>
        </p:nvSpPr>
        <p:spPr>
          <a:xfrm>
            <a:off x="7040880" y="2176272"/>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Text 12"/>
          <p:cNvSpPr txBox="1"/>
          <p:nvPr/>
        </p:nvSpPr>
        <p:spPr>
          <a:xfrm>
            <a:off x="457200" y="3209544"/>
            <a:ext cx="6492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chain two and break one</a:t>
            </a:r>
            <a:endParaRPr lang="en-US" sz="1150" dirty="0"/>
          </a:p>
        </p:txBody>
      </p:sp>
      <p:sp>
        <p:nvSpPr>
          <p:cNvPr id="15" name="Shape 13"/>
          <p:cNvSpPr/>
          <p:nvPr/>
        </p:nvSpPr>
        <p:spPr>
          <a:xfrm>
            <a:off x="457200" y="3483864"/>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3602736"/>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chain, edited = [</a:t>
            </a:r>
            <a:r>
              <a:rPr lang="en-US" sz="1050" dirty="0">
                <a:solidFill>
                  <a:srgbClr val="9ECBFF"/>
                </a:solidFill>
                <a:latin typeface="Courier New" pitchFamily="34" charset="0"/>
                <a:ea typeface="Courier New" pitchFamily="34" charset="-122"/>
                <a:cs typeface="Courier New" pitchFamily="34" charset="-120"/>
              </a:rPr>
              <a:t>'b1'</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'b2'</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'b3'</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'b4'</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9ECBFF"/>
                </a:solidFill>
                <a:latin typeface="Courier New" pitchFamily="34" charset="0"/>
                <a:ea typeface="Courier New" pitchFamily="34" charset="-122"/>
                <a:cs typeface="Courier New" pitchFamily="34" charset="-120"/>
              </a:rPr>
              <a:t>'b5'</a:t>
            </a:r>
            <a:r>
              <a:rPr lang="en-US" sz="1050" dirty="0">
                <a:solidFill>
                  <a:srgbClr val="E6EDF3"/>
                </a:solidFill>
                <a:latin typeface="Courier New" pitchFamily="34" charset="0"/>
                <a:ea typeface="Courier New" pitchFamily="34" charset="-122"/>
                <a:cs typeface="Courier New" pitchFamily="34" charset="-120"/>
              </a:rPr>
              <a:t>], </a:t>
            </a:r>
            <a:r>
              <a:rPr lang="en-US" sz="1050" dirty="0">
                <a:solidFill>
                  <a:srgbClr val="FFD28A"/>
                </a:solidFill>
                <a:latin typeface="Courier New" pitchFamily="34" charset="0"/>
                <a:ea typeface="Courier New" pitchFamily="34" charset="-122"/>
                <a:cs typeface="Courier New" pitchFamily="34" charset="-120"/>
              </a:rPr>
              <a:t>1</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[i </a:t>
            </a:r>
            <a:r>
              <a:rPr lang="en-US" sz="1050" b="1" dirty="0">
                <a:solidFill>
                  <a:srgbClr val="F2A860"/>
                </a:solidFill>
                <a:latin typeface="Courier New" pitchFamily="34" charset="0"/>
                <a:ea typeface="Courier New" pitchFamily="34" charset="-122"/>
                <a:cs typeface="Courier New" pitchFamily="34" charset="-120"/>
              </a:rPr>
              <a:t>for</a:t>
            </a:r>
            <a:r>
              <a:rPr lang="en-US" sz="1050" dirty="0">
                <a:solidFill>
                  <a:srgbClr val="E6EDF3"/>
                </a:solidFill>
                <a:latin typeface="Courier New" pitchFamily="34" charset="0"/>
                <a:ea typeface="Courier New" pitchFamily="34" charset="-122"/>
                <a:cs typeface="Courier New" pitchFamily="34" charset="-120"/>
              </a:rPr>
              <a:t> i </a:t>
            </a:r>
            <a:r>
              <a:rPr lang="en-US" sz="1050" b="1" dirty="0">
                <a:solidFill>
                  <a:srgbClr val="F2A860"/>
                </a:solidFill>
                <a:latin typeface="Courier New" pitchFamily="34" charset="0"/>
                <a:ea typeface="Courier New" pitchFamily="34" charset="-122"/>
                <a:cs typeface="Courier New" pitchFamily="34" charset="-120"/>
              </a:rPr>
              <a:t>in</a:t>
            </a:r>
            <a:r>
              <a:rPr lang="en-US" sz="1050" dirty="0">
                <a:solidFill>
                  <a:srgbClr val="E6EDF3"/>
                </a:solidFill>
                <a:latin typeface="Courier New" pitchFamily="34" charset="0"/>
                <a:ea typeface="Courier New" pitchFamily="34" charset="-122"/>
                <a:cs typeface="Courier New" pitchFamily="34" charset="-120"/>
              </a:rPr>
              <a:t> range(len(chain)) </a:t>
            </a:r>
            <a:r>
              <a:rPr lang="en-US" sz="1050" b="1" dirty="0">
                <a:solidFill>
                  <a:srgbClr val="F2A860"/>
                </a:solidFill>
                <a:latin typeface="Courier New" pitchFamily="34" charset="0"/>
                <a:ea typeface="Courier New" pitchFamily="34" charset="-122"/>
                <a:cs typeface="Courier New" pitchFamily="34" charset="-120"/>
              </a:rPr>
              <a:t>if</a:t>
            </a:r>
            <a:r>
              <a:rPr lang="en-US" sz="1050" dirty="0">
                <a:solidFill>
                  <a:srgbClr val="E6EDF3"/>
                </a:solidFill>
                <a:latin typeface="Courier New" pitchFamily="34" charset="0"/>
                <a:ea typeface="Courier New" pitchFamily="34" charset="-122"/>
                <a:cs typeface="Courier New" pitchFamily="34" charset="-120"/>
              </a:rPr>
              <a:t> i &gt;= edited]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3, 4]</a:t>
            </a:r>
            <a:endParaRPr lang="en-US" sz="1050" dirty="0"/>
          </a:p>
        </p:txBody>
      </p:sp>
      <p:sp>
        <p:nvSpPr>
          <p:cNvPr id="17" name="Text 15"/>
          <p:cNvSpPr txBox="1"/>
          <p:nvPr/>
        </p:nvSpPr>
        <p:spPr>
          <a:xfrm>
            <a:off x="7040880" y="3209544"/>
            <a:ext cx="1645920" cy="256032"/>
          </a:xfrm>
          <a:prstGeom prst="rect">
            <a:avLst/>
          </a:prstGeom>
          <a:noFill/>
          <a:ln/>
        </p:spPr>
        <p:txBody>
          <a:bodyPr wrap="square" lIns="0" tIns="0" rIns="0" bIns="0" rtlCol="0" anchor="b"/>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consoles reproduce the chapter - tonight, on your laptop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spends outputs whole and mints new ones - balance is a sum, not an account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Fees buy bytes of block space; change is just an output back to yourself</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travel by gossip; within seconds every mempool holds Alice's payment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Miners race a lottery that is instant to verify - and rules caught the 184-billion forgery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confirmation is depth; the whitepaper computes what each block of depth buys you</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Section 11: the table of attacker odds this chapter charts</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ch. 2: How Bitcoin Works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What block 74,638 did and how it was fixed  en.bitcoin.it</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verify</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Live blocks, transactions and fee rates; look up any txid</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blockstream.info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or address  blockstream.info</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learnmeabitcoin.com (illustrated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Bitcoin structure drawn and explained, with code</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 &amp; history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Get 5 free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Gavin Andresen's faucet announcement, 11 June 2010</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But how does bitcoin actually work?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3Blue1Brown draws the ledger, signatures and proof of work</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evening on an explorer replays this whole chapter for free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30</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spends, creates, and pays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reaches every mempool with no postmaster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rewriting a buried block costs more than it wins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six confirmations actually promises - a number</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2</dc:title>
  <dc:subject>PptxGenJS Presentation</dc:subject>
  <dc:creator>Yusuf Altunel</dc:creator>
  <cp:lastModifiedBy>Yusuf Altunel</cp:lastModifiedBy>
  <cp:revision>1</cp:revision>
  <dcterms:created xsi:type="dcterms:W3CDTF">2026-10-18T22:25:33Z</dcterms:created>
  <dcterms:modified xsi:type="dcterms:W3CDTF">2026-10-18T22:25:33Z</dcterms:modified>
  <cp:version>2.2.0</cp:version>
</cp:coreProperties>
</file>