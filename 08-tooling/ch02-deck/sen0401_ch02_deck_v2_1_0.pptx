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P(attacker ever catches up) vs confirmations (log axis)</a:t>
            </a:r>
          </a:p>
        </c:rich>
      </c:tx>
      <c:layout/>
      <c:overlay val="0"/>
    </c:title>
    <c:autoTitleDeleted val="0"/>
    <c:plotArea>
      <c:layout/>
      <c:lineChart>
        <c:varyColors val="0"/>
        <c:ser>
          <c:idx val="0"/>
          <c:order val="0"/>
          <c:tx>
            <c:strRef>
              <c:f>Sheet1!$B$1</c:f>
              <c:strCache>
                <c:ptCount val="1"/>
                <c:pt idx="0">
                  <c:v>attacker holds 10% of hash power</c:v>
                </c:pt>
              </c:strCache>
            </c:strRef>
          </c:tx>
          <c:spPr>
            <a:solidFill>
              <a:srgbClr val="D97A14"/>
            </a:solidFill>
            <a:ln w="31750" cap="flat">
              <a:solidFill>
                <a:srgbClr val="D97A14"/>
              </a:solidFill>
              <a:prstDash val="solid"/>
              <a:round/>
            </a:ln>
            <a:effectLst/>
          </c:spPr>
          <c:invertIfNegative val="0"/>
          <c:dLbls>
            <c:numFmt formatCode="0.0###"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c:symbol val="circle"/>
            <c:size val="5"/>
            <c:spPr>
              <a:solidFill>
                <a:srgbClr val="D97A14"/>
              </a:solidFill>
              <a:ln w="9525" cap="flat">
                <a:solidFill>
                  <a:srgbClr val="D97A14"/>
                </a:solidFill>
                <a:prstDash val="solid"/>
                <a:round/>
              </a:ln>
              <a:effectLst/>
            </c:spPr>
          </c:marker>
          <c:cat>
            <c:multiLvlStrRef>
              <c:f>Sheet1!$A$2:$A$7</c:f>
              <c:multiLvlStrCache>
                <c:ptCount val="6"/>
                <c:lvl>
                  <c:pt idx="0">
                    <c:v>1</c:v>
                  </c:pt>
                  <c:pt idx="1">
                    <c:v>2</c:v>
                  </c:pt>
                  <c:pt idx="2">
                    <c:v>3</c:v>
                  </c:pt>
                  <c:pt idx="3">
                    <c:v>4</c:v>
                  </c:pt>
                  <c:pt idx="4">
                    <c:v>5</c:v>
                  </c:pt>
                  <c:pt idx="5">
                    <c:v>6</c:v>
                  </c:pt>
                </c:lvl>
              </c:multiLvlStrCache>
            </c:multiLvlStrRef>
          </c:cat>
          <c:val>
            <c:numRef>
              <c:f>Sheet1!$B$2:$B$7</c:f>
              <c:numCache>
                <c:formatCode>General</c:formatCode>
                <c:ptCount val="6"/>
                <c:pt idx="0">
                  <c:v>0.2045873</c:v>
                </c:pt>
                <c:pt idx="1">
                  <c:v>0.0509779</c:v>
                </c:pt>
                <c:pt idx="2">
                  <c:v>0.0131722</c:v>
                </c:pt>
                <c:pt idx="3">
                  <c:v>0.0034552</c:v>
                </c:pt>
                <c:pt idx="4">
                  <c:v>0.0009137</c:v>
                </c:pt>
                <c:pt idx="5">
                  <c:v>0.0002428</c:v>
                </c:pt>
              </c:numCache>
            </c:numRef>
          </c:val>
          <c:smooth val="0"/>
        </c:ser>
        <c:ser>
          <c:idx val="1"/>
          <c:order val="1"/>
          <c:tx>
            <c:strRef>
              <c:f>Sheet1!$C$1</c:f>
              <c:strCache>
                <c:ptCount val="1"/>
                <c:pt idx="0">
                  <c:v>attacker holds 30%</c:v>
                </c:pt>
              </c:strCache>
            </c:strRef>
          </c:tx>
          <c:spPr>
            <a:solidFill>
              <a:srgbClr val="2F6D62"/>
            </a:solidFill>
            <a:ln w="31750" cap="flat">
              <a:solidFill>
                <a:srgbClr val="2F6D62"/>
              </a:solidFill>
              <a:prstDash val="solid"/>
              <a:round/>
            </a:ln>
            <a:effectLst/>
          </c:spPr>
          <c:invertIfNegative val="0"/>
          <c:dLbls>
            <c:numFmt formatCode="0.0###"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c:symbol val="circle"/>
            <c:size val="5"/>
            <c:spPr>
              <a:solidFill>
                <a:srgbClr val="2F6D62"/>
              </a:solidFill>
              <a:ln w="9525" cap="flat">
                <a:solidFill>
                  <a:srgbClr val="2F6D62"/>
                </a:solidFill>
                <a:prstDash val="solid"/>
                <a:round/>
              </a:ln>
              <a:effectLst/>
            </c:spPr>
          </c:marker>
          <c:cat>
            <c:multiLvlStrRef>
              <c:f>Sheet1!$A$2:$A$7</c:f>
              <c:multiLvlStrCache>
                <c:ptCount val="6"/>
                <c:lvl>
                  <c:pt idx="0">
                    <c:v>1</c:v>
                  </c:pt>
                  <c:pt idx="1">
                    <c:v>2</c:v>
                  </c:pt>
                  <c:pt idx="2">
                    <c:v>3</c:v>
                  </c:pt>
                  <c:pt idx="3">
                    <c:v>4</c:v>
                  </c:pt>
                  <c:pt idx="4">
                    <c:v>5</c:v>
                  </c:pt>
                  <c:pt idx="5">
                    <c:v>6</c:v>
                  </c:pt>
                </c:lvl>
              </c:multiLvlStrCache>
            </c:multiLvlStrRef>
          </c:cat>
          <c:val>
            <c:numRef>
              <c:f>Sheet1!$C$2:$C$7</c:f>
              <c:numCache>
                <c:formatCode>General</c:formatCode>
                <c:ptCount val="6"/>
                <c:pt idx="0">
                  <c:v>0.6277491</c:v>
                </c:pt>
                <c:pt idx="1">
                  <c:v>0.4457171</c:v>
                </c:pt>
                <c:pt idx="2">
                  <c:v>0.3245841</c:v>
                </c:pt>
                <c:pt idx="3">
                  <c:v>0.2391269</c:v>
                </c:pt>
                <c:pt idx="4">
                  <c:v>0.1773523</c:v>
                </c:pt>
                <c:pt idx="5">
                  <c:v>0.1321112</c:v>
                </c:pt>
              </c:numCache>
            </c:numRef>
          </c:val>
          <c:smooth val="0"/>
        </c:ser>
        <c:dLbls>
          <c:numFmt formatCode="0.0###"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max val="1"/>
          <c:min val="0.0001"/>
        </c:scaling>
        <c:delete val="0"/>
        <c:axPos val="l"/>
        <c:majorGridlines>
          <c:spPr>
            <a:ln w="6350" cap="flat">
              <a:solidFill>
                <a:srgbClr val="E3DAC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Chapter 1 asked what Bitcoin is; chapter 2 follows one payment - Alice pays Bob - all the way from her wallet to a buried block, and meets every moving part on the way.
FULL TEXT: course page, chapter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Five parts, one payment followed all the way. The stories carry the why, the consoles carry the proof, and every slide number here is printed bottom-right as we pass it.
ASK: Which part do you expect to be hardest - mark it now, check at the summary.
FULL TEXT: course page, chapter 2 -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transaction is the unit of action in Bitcoin: a message telling the network that the owner of certain bitcoins has authorized the transfer of that value to another owner. The new owner can in turn spend the value by creating another transaction, and so on, which gives a chain of ownership.
FULL TEXT: course page, chapter 2 -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transaction is the unit of action in Bitcoin: a message telling the network that the owner of certain bitcoins has authorized the transfer of that value to another owner. The new owner can in turn spend the value by creating another transaction, and so on, which gives a chain of ownership.
FULL TEXT: course page, chapter 2 - Transaction, Network, Blockchain.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transaction is the unit of action in Bitcoin: a message telling the network that the owner of certain bitcoins has authorized the transfer of that value to another owner. The new owner can in turn spend the value by creating another transaction, and so on, which gives a chain of ownership.
FULL TEXT: course page, chapter 2 -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(2008-10-31): On 31 October 2008 a pseudonymous author posted nine pages to a cryptography mailing list. Section 11 does something unusual for a systems paper: it computes the attacker's odds. Modelling the race between an honest chain and a secret one as a binomial random walk, it tabulates the probability that an attacker with a share q of the hash power ever catches up from z blocks behind. This deck does not quote that table - it reruns the paper's own procedure and draws the result.
SOURCE: Nakamoto, 'Bitcoin: A Peer-to-Peer Electronic Cash System' (2008), section 11; announcement of 2008-10-31 on the metzdowd.com cryptography list. The chapter research record reproduced the paper's q=0.1 column - 0.2045873 at one confirmation, 0.0002428 at six - to seven decimal places (examples group AttackerSuccess reruns it for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transaction is the unit of action in Bitcoin: a message telling the network that the owner of certain bitcoins has authorized the transfer of that value to another owner. The new owner can in turn spend the value by creating another transaction, and so on, which gives a chain of ownership.
ASK: Why must the 100,000 be spent whole rather than split?
FULL TEXT: course page, chapter 2 - Transaction,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An unspent transaction output, abbreviated UTXO, is a transaction output that has not yet been used as an input by any later transaction. The glossary defines it as an unspent transaction output that can be spent as an input in a new transaction (Antonopoulos and Harding, 2023).
ASK: Where does the idea of an 'account balance' live, if not on the chain?
FULL TEXT: course page, chapter 2 - UnspentOutput,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Making change is the practice of adding to a transaction an output that returns the surplus to the person who is paying. The book explains the need with money in a shop: if you buy a five-dollar item with a twenty-dollar bill you expect fifteen dollars back, and in the same way a transaction input, like a currency note, cannot be partly spent (Antonopoulos and Harding, 2023).
ASK: Pay a 20-lira coffee with a 50-lira note: where is the change output?
FULL TEXT: course page, chapter 2 - MakingChange, TransactionFee.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fee rate is the fee a transaction pays for each unit of the space it takes in a block. Miners do not compare transactions by their total fee alone; they divide the fee by the size of the transaction, as a shopper divides the price of a bag of rice by its weight to find the best deal.
ASK: Why does moving 1 BTC cost the same as moving 100?
FULL TEXT: course page, chapter 2 - FeeRate, TransactionSize.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Bitcoin network is the set of computers that run the Bitcoin protocol and exchange transactions and blocks with one another. This second branch of the chapter follows Alice's transaction out of her wallet and across that network.
FULL TEXT: course page, chapter 2 -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(2010-06-11): In June 2010 there was almost nowhere to buy bitcoin, so a developer in Massachusetts stocked a website with 1,100 of his own coins and gave five to anyone who asked - solving a CAPTCHA was the only price. Thousands of people got their first bitcoin from Gavin Andresen's faucet. The giveaway seeded the user base the first exchanges and the first payments then grew from, and Andresen went on to lead Bitcoin's development when Satoshi withdrew in 2011.
SOURCE: Andresen's own announcement thread, bitcointalk.org topic 141, 2010-06-11: 'Get 5 free bitcoins from freebitcoins.appspot.com', initially stocked with 1,100 BTC. Photo: Web Summit 2014, CC BY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Transaction propagation is the spread of a signed transaction across the network until it has reached, in practice, everyone who cares, including the miners who may record it. It is the composition of the two previous concepts: the wallet transmits the transaction to some node, and then the gossip rule carries it onward hop by hop.
ASK: What happens if two conflicting spends gossip at once? (next section answers)
FULL TEXT: course page, chapter 2 - TransactionPropagation, Mempool.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full node, which the chapter calls a full verification node, is a program that has both the software logic and the data necessary to fully verify the correctness of a new transaction (Antonopoulos and Harding, 2023).
ASK: Which one is Alice's phone wallet, and what exactly does it trust?
FULL TEXT: course page, chapter 2 - FullNode, LightweightClient.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block explorer is a web application that operates as a Bitcoin search engine: it allows you to search for addresses, transactions and blocks and to see the relationships and flows between them, in the chapter's own words (Antonopoulos and Harding, 2023).
ASK: Why does Bob check his OWN copy rather than trust Alice's screenshot?
FULL TEXT: course page, chapter 2 - BlockExplorer, RecipientVerification.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blockchain is the record in which Bitcoin's transactions are finally written down. The chapter calls it the distributed journal of all transactions and, in its opening overview, the consensus blockchain which is the authoritative journal of all transactions (Antonopoulos and Harding, 2023).
FULL TEXT: course page, chapter 2 - Blockchain.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Proof of work is a piece of data that takes a great deal of computation to find and almost none to check.
ASK: Who pays for all the losing tickets - and why is that the point?
FULL TEXT: course page, chapter 2 - ProofOfWork, SudokuAnalogy.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block is the unit in which transactions are added to the blockchain. The chapter says that transactions are bundled into blocks, and that blocks have a very small header that must be formed in a very specific way, requiring an enormous amount of computation to get right but only a small amount to verify as correct (Antonopoulos and Harding, 2023).
ASK: Why hash the header only, not the whole megabyte?
FULL TEXT: course page, chapter 2 - Block, BlockHeader.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merkle tree, also called a binary hash tree, is a structure for summarizing and verifying the integrity of large sets of data. The book defines it as a tree constructed by hashing paired data, the leaves, then pairing and hashing the results until a single hash remains, the merkle root, and notes that in Bitcoin the leaves are almost always the transactions of a single block (Antonopoulos and Harding, 2023).
ASK: A light client holds only the root - what must a proof hand it?
FULL TEXT: course page, chapter 2 - MerkleTree.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coinbase transaction is the special first transaction of every block, by which the miner pays itself. The book's glossary calls it the first transaction in a block, always created by a miner, and the mining chapter adds the distinguishing property: unlike regular transactions the coinbase transaction does not consume unspent outputs as inputs, but has only one input, called the coinbase input, which implicitly contains the block reward (Antonopoulos and Harding, 2023).
ASK: Trace any coin backwards: where must the trail always end?
FULL TEXT: course page, chapter 2 - CoinbaseTransaction, BlockReward.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(2010-08-15): On 15 August 2010 block 74,638 contained a transaction paying out about 184,467,440,737 BTC - thousands of times the 21 million cap. Two outputs were so large that, summed as 64-bit integers, they overflowed to a small number and slipped past the checks. Jeff Garzik flagged the 'strange block' on the forum within the hour; Satoshi shipped version 0.3.10 with a corrected rule about five hours after the block, and the honest chain, rebuilt without the forged coins, overtook the bad one. The 184 billion bitcoins ceased to exist.
SOURCE: en.bitcoin.it/wiki/Value_overflow_incident: block 74,638 of 2010-08-15 (two outputs of 92,233,720,368.54 BTC each), Garzik's 'Strange block 74638' thread, Satoshi's 0.3.10 patch ~5 hours later, good chain ahead by block 74,691.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confirmation is a block that commits to a transaction, counted once for the block that contains it and once more for each block built on top.
ASK: Why does a reorg of depth 1 happen weekly, depth 6 almost never?
FULL TEXT: course page, chapter 2 - Confirmation, BestBlockchain.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chart is not an illustration: the build ran the whitepaper's section-11 procedure (examples group AttackerSuccess) and drew what it returned; the chapter research record matched the q=0.1 column against the paper to seven decimals.
ASK: Read the 30% line at six blocks - why do exchanges wait longer for huge deposits?
FULL TEXT: course page, chapter 2 - Probability,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Accepting a small payment unconfirmed is the practice of treating a transaction as paid as soon as it has propagated, without waiting for a block. It is not a rule of Bitcoin but a judgement about risk.
ASK: Where would you put a used-car sale on this line?
FULL TEXT: course page, chapter 2 - SmallPaymentAcceptance, UnconfirmedTransaction.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branch reads the chapter with the eyes of the course rather than of the book. A transaction chain, as the first branch described it, is a record of what came from what: each output exists because a transaction consumed earlier outputs, and each transaction happened because somebody who held a key authorized it.
FULL TEXT: course page, chapter 2 - Semantics.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triple is the unit in which these descriptions are written: a subject, a predicate and an object, read as a single sentence. The statement that Alice's transaction used Joe's output is a triple whose subject is the transaction, whose predicate is the relation used and whose object is the output.
ASK: What triple would record Alice's payment to Bob?
FULL TEXT: course page, chapter 2 - Triple, ProvenanceGraph.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last branch of this chapter is about trying things out. The concepts of the earlier branches are all mechanical, which means that a learner can operate them rather than only read about them, and a small number of interactive pages have become the standard way to do that in teaching.
FULL TEXT: course page, chapter 2 -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Five lines, one per part. If any feels like a claim rather than a fact, the agenda names the slides that prove it; the course page carries the full text.
ASK: Which line would you defend to a sceptic first, and with which slide?
FULL TEXT: course page, chapter 2 -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Everything here is free. Watch one transaction confirm on mempool.space tonight - pick any txid from the latest block - and you will have SEEN this whole chapter happen once.
ASK: Who can find Alice-sized fees (about 35 sat/vB) in the current mempool?
FULL TEXT: course page, chapter 2 -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claims, each one carried by a computation you watched run. Next week: the wallet that holds Alice's keys.
FULL TEXT: course page, chapter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bitcointalk.org/index.php?topic=183.0" TargetMode="External"/><Relationship Id="rId1" Type="http://schemas.openxmlformats.org/officeDocument/2006/relationships/image" Target="../media/image-12-1.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en.bitcoin.it/wiki/Value_overflow_incident" TargetMode="Externa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hyperlink" Target="https://raw.githubusercontent.com/bitcoinbook/bitcoinbook/develop/ch02_overview.adoc" TargetMode="External"/><Relationship Id="rId3" Type="http://schemas.openxmlformats.org/officeDocument/2006/relationships/hyperlink" Target="https://en.bitcoin.it/wiki/Value_overflow_incident" TargetMode="External"/><Relationship Id="rId4" Type="http://schemas.openxmlformats.org/officeDocument/2006/relationships/hyperlink" Target="https://mempool.space" TargetMode="External"/><Relationship Id="rId5" Type="http://schemas.openxmlformats.org/officeDocument/2006/relationships/hyperlink" Target="https://blockstream.info" TargetMode="External"/><Relationship Id="rId6" Type="http://schemas.openxmlformats.org/officeDocument/2006/relationships/hyperlink" Target="https://learnmeabitcoin.com" TargetMode="External"/><Relationship Id="rId7" Type="http://schemas.openxmlformats.org/officeDocument/2006/relationships/hyperlink" Target="https://bitcoin.stackexchange.com" TargetMode="External"/><Relationship Id="rId8" Type="http://schemas.openxmlformats.org/officeDocument/2006/relationships/hyperlink" Target="https://bitcointalk.org/index.php?topic=183.0" TargetMode="External"/><Relationship Id="rId9" Type="http://schemas.openxmlformats.org/officeDocument/2006/relationships/hyperlink" Target="https://www.youtube.com/watch?v=bBC-nXj3Ng4" TargetMode="External"/><Relationship Id="rId10" Type="http://schemas.openxmlformats.org/officeDocument/2006/relationships/slideLayout" Target="../slideLayouts/slideLayout1.xml"/><Relationship Id="rId11"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2: How Bitcoin Works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Transactions, the network, and the chain - one payment, followed all the way</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2/assets/c2s04_overview.png">    </p:cNvPr>
          <p:cNvPicPr>
            <a:picLocks noChangeAspect="1"/>
          </p:cNvPicPr>
          <p:nvPr/>
        </p:nvPicPr>
        <p:blipFill>
          <a:blip r:embed="rId1"/>
          <a:srcRect l="0" r="0" t="0" b="0"/>
          <a:stretch/>
        </p:blipFill>
        <p:spPr>
          <a:xfrm>
            <a:off x="5394960" y="1051560"/>
            <a:ext cx="3383280" cy="2377440"/>
          </a:xfrm>
          <a:prstGeom prst="rect">
            <a:avLst/>
          </a:prstGeom>
        </p:spPr>
      </p:pic>
      <p:sp>
        <p:nvSpPr>
          <p:cNvPr id="12" name="Text 9"/>
          <p:cNvSpPr txBox="1"/>
          <p:nvPr/>
        </p:nvSpPr>
        <p:spPr>
          <a:xfrm>
            <a:off x="5394960" y="3447288"/>
            <a:ext cx="33832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users, wallets, nodes, miners - from the owner's 2025 deck</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Questions and the chapter map  (slides 3-4)</a:t>
            </a:r>
            <a:endParaRPr lang="en-US" sz="125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Transactions - inputs, outputs, change, fees  (slides 5-10)</a:t>
            </a:r>
            <a:endParaRPr lang="en-US" sz="125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network - gossip, nodes, explorers  (slides 11-15)</a:t>
            </a:r>
            <a:endParaRPr lang="en-US" sz="125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Blockchain and mining - blocks, proof, confirmations  (slides 16-24)</a:t>
            </a:r>
            <a:endParaRPr lang="en-US" sz="125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Semantics, practice, summary, and resources  (slides 25-30)</a:t>
            </a:r>
            <a:endParaRPr lang="en-US" sz="125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30</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18</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run live - each shown with its result</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one payment followed all the way through</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30</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2710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271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3444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parts does a Bitcoin transaction consist of?</a:t>
            </a:r>
            <a:endParaRPr lang="en-US" sz="1250" dirty="0"/>
          </a:p>
        </p:txBody>
      </p:sp>
      <p:sp>
        <p:nvSpPr>
          <p:cNvPr id="9" name="Shape 7"/>
          <p:cNvSpPr/>
          <p:nvPr/>
        </p:nvSpPr>
        <p:spPr>
          <a:xfrm>
            <a:off x="457200" y="169392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69392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65735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mathematical tools does a transaction rely on - hashing?</a:t>
            </a:r>
            <a:endParaRPr lang="en-US" sz="1250" dirty="0"/>
          </a:p>
        </p:txBody>
      </p:sp>
      <p:sp>
        <p:nvSpPr>
          <p:cNvPr id="12" name="Shape 10"/>
          <p:cNvSpPr/>
          <p:nvPr/>
        </p:nvSpPr>
        <p:spPr>
          <a:xfrm>
            <a:off x="457200" y="21168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1168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08026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does a payment begin: what does the invoice of the chapter contain?</a:t>
            </a:r>
            <a:endParaRPr lang="en-US" sz="1250" dirty="0"/>
          </a:p>
        </p:txBody>
      </p:sp>
      <p:sp>
        <p:nvSpPr>
          <p:cNvPr id="15" name="Shape 13"/>
          <p:cNvSpPr/>
          <p:nvPr/>
        </p:nvSpPr>
        <p:spPr>
          <a:xfrm>
            <a:off x="457200" y="253974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53974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50317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does a signed transaction reach the miners?</a:t>
            </a:r>
            <a:endParaRPr lang="en-US" sz="1250" dirty="0"/>
          </a:p>
        </p:txBody>
      </p:sp>
      <p:sp>
        <p:nvSpPr>
          <p:cNvPr id="18" name="Shape 16"/>
          <p:cNvSpPr/>
          <p:nvPr/>
        </p:nvSpPr>
        <p:spPr>
          <a:xfrm>
            <a:off x="457200" y="296265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29626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292608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is a transaction recorded: how is a block built?</a:t>
            </a:r>
            <a:endParaRPr lang="en-US" sz="1250" dirty="0"/>
          </a:p>
        </p:txBody>
      </p:sp>
      <p:sp>
        <p:nvSpPr>
          <p:cNvPr id="21" name="Shape 19"/>
          <p:cNvSpPr/>
          <p:nvPr/>
        </p:nvSpPr>
        <p:spPr>
          <a:xfrm>
            <a:off x="457200" y="338556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38556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34899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exactly does a confirmation buy?</a:t>
            </a:r>
            <a:endParaRPr lang="en-US" sz="1250" dirty="0"/>
          </a:p>
        </p:txBody>
      </p:sp>
      <p:sp>
        <p:nvSpPr>
          <p:cNvPr id="24" name="Shape 22"/>
          <p:cNvSpPr/>
          <p:nvPr/>
        </p:nvSpPr>
        <p:spPr>
          <a:xfrm>
            <a:off x="457200" y="380847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38084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377190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can the chapter's transaction chain be expressed as a provenance graph in the vocabulary of the W3C PROV Ontology?</a:t>
            </a:r>
            <a:endParaRPr lang="en-US" sz="1250" dirty="0"/>
          </a:p>
        </p:txBody>
      </p:sp>
      <p:sp>
        <p:nvSpPr>
          <p:cNvPr id="27" name="Shape 25"/>
          <p:cNvSpPr/>
          <p:nvPr/>
        </p:nvSpPr>
        <p:spPr>
          <a:xfrm>
            <a:off x="457200" y="4231386"/>
            <a:ext cx="402336" cy="402336"/>
          </a:xfrm>
          <a:prstGeom prst="ellipse">
            <a:avLst/>
          </a:prstGeom>
          <a:solidFill>
            <a:srgbClr val="D97A14"/>
          </a:solidFill>
          <a:ln w="12700">
            <a:solidFill>
              <a:srgbClr val="D97A14"/>
            </a:solidFill>
            <a:prstDash val="solid"/>
          </a:ln>
        </p:spPr>
      </p:sp>
      <p:sp>
        <p:nvSpPr>
          <p:cNvPr id="28" name="Text 26"/>
          <p:cNvSpPr txBox="1"/>
          <p:nvPr/>
        </p:nvSpPr>
        <p:spPr>
          <a:xfrm>
            <a:off x="457200" y="423138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8</a:t>
            </a:r>
            <a:endParaRPr lang="en-US" sz="1400" dirty="0"/>
          </a:p>
        </p:txBody>
      </p:sp>
      <p:sp>
        <p:nvSpPr>
          <p:cNvPr id="29" name="Text 27"/>
          <p:cNvSpPr txBox="1"/>
          <p:nvPr/>
        </p:nvSpPr>
        <p:spPr>
          <a:xfrm>
            <a:off x="1024128" y="419481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terms do the explanations of this chapter rely on?</a:t>
            </a:r>
            <a:endParaRPr lang="en-US" sz="125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chapter 2 is yours</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30</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five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Each branch is a question the chapter answers; the grey lists are the concepts that answer it, every one explained on the course page.</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Chapter 2</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Transaction</a:t>
            </a:r>
            <a:endParaRPr lang="en-US" sz="130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Transaction Part  ·  Cryptography  ·  Linkage  ·  Form  ·  Unit  ·  Payment Request  ·  Construction</a:t>
            </a:r>
            <a:endParaRPr lang="en-US" sz="1200" dirty="0"/>
          </a:p>
        </p:txBody>
      </p:sp>
      <p:sp>
        <p:nvSpPr>
          <p:cNvPr id="15" name="Shape 13"/>
          <p:cNvSpPr/>
          <p:nvPr/>
        </p:nvSpPr>
        <p:spPr>
          <a:xfrm flipV="1">
            <a:off x="1783080" y="2354580"/>
            <a:ext cx="502920" cy="635508"/>
          </a:xfrm>
          <a:prstGeom prst="line">
            <a:avLst/>
          </a:prstGeom>
          <a:noFill/>
          <a:ln w="13970">
            <a:solidFill>
              <a:srgbClr val="C9BFAE"/>
            </a:solidFill>
            <a:prstDash val="solid"/>
          </a:ln>
        </p:spPr>
      </p:sp>
      <p:sp>
        <p:nvSpPr>
          <p:cNvPr id="16" name="Shape 14"/>
          <p:cNvSpPr/>
          <p:nvPr/>
        </p:nvSpPr>
        <p:spPr>
          <a:xfrm>
            <a:off x="2331720" y="2116836"/>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2116836"/>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Network</a:t>
            </a:r>
            <a:endParaRPr lang="en-US" sz="1300" dirty="0"/>
          </a:p>
        </p:txBody>
      </p:sp>
      <p:sp>
        <p:nvSpPr>
          <p:cNvPr id="18" name="Shape 16"/>
          <p:cNvSpPr/>
          <p:nvPr/>
        </p:nvSpPr>
        <p:spPr>
          <a:xfrm>
            <a:off x="4023360" y="2354580"/>
            <a:ext cx="274320" cy="0"/>
          </a:xfrm>
          <a:prstGeom prst="line">
            <a:avLst/>
          </a:prstGeom>
          <a:noFill/>
          <a:ln w="13970">
            <a:solidFill>
              <a:srgbClr val="C9BFAE"/>
            </a:solidFill>
            <a:prstDash val="solid"/>
          </a:ln>
        </p:spPr>
      </p:sp>
      <p:sp>
        <p:nvSpPr>
          <p:cNvPr id="19" name="Shape 17"/>
          <p:cNvSpPr/>
          <p:nvPr/>
        </p:nvSpPr>
        <p:spPr>
          <a:xfrm>
            <a:off x="4297680" y="2135124"/>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135124"/>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Participants  ·  Propagation</a:t>
            </a:r>
            <a:endParaRPr lang="en-US" sz="1200" dirty="0"/>
          </a:p>
        </p:txBody>
      </p:sp>
      <p:sp>
        <p:nvSpPr>
          <p:cNvPr id="21" name="Shape 19"/>
          <p:cNvSpPr/>
          <p:nvPr/>
        </p:nvSpPr>
        <p:spPr>
          <a:xfrm flipV="1">
            <a:off x="1783080" y="2990088"/>
            <a:ext cx="502920" cy="0"/>
          </a:xfrm>
          <a:prstGeom prst="line">
            <a:avLst/>
          </a:prstGeom>
          <a:noFill/>
          <a:ln w="13970">
            <a:solidFill>
              <a:srgbClr val="C9BFAE"/>
            </a:solidFill>
            <a:prstDash val="solid"/>
          </a:ln>
        </p:spPr>
      </p:sp>
      <p:sp>
        <p:nvSpPr>
          <p:cNvPr id="22" name="Shape 20"/>
          <p:cNvSpPr/>
          <p:nvPr/>
        </p:nvSpPr>
        <p:spPr>
          <a:xfrm>
            <a:off x="2331720" y="2752344"/>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275234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Blockchain</a:t>
            </a:r>
            <a:endParaRPr lang="en-US" sz="1300" dirty="0"/>
          </a:p>
        </p:txBody>
      </p:sp>
      <p:sp>
        <p:nvSpPr>
          <p:cNvPr id="24" name="Shape 22"/>
          <p:cNvSpPr/>
          <p:nvPr/>
        </p:nvSpPr>
        <p:spPr>
          <a:xfrm>
            <a:off x="4023360" y="2990088"/>
            <a:ext cx="274320" cy="0"/>
          </a:xfrm>
          <a:prstGeom prst="line">
            <a:avLst/>
          </a:prstGeom>
          <a:noFill/>
          <a:ln w="13970">
            <a:solidFill>
              <a:srgbClr val="C9BFAE"/>
            </a:solidFill>
            <a:prstDash val="solid"/>
          </a:ln>
        </p:spPr>
      </p:sp>
      <p:sp>
        <p:nvSpPr>
          <p:cNvPr id="25" name="Shape 23"/>
          <p:cNvSpPr/>
          <p:nvPr/>
        </p:nvSpPr>
        <p:spPr>
          <a:xfrm>
            <a:off x="4297680" y="2770632"/>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277063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Mining  ·  Security  ·  Spending</a:t>
            </a:r>
            <a:endParaRPr lang="en-US" sz="1200" dirty="0"/>
          </a:p>
        </p:txBody>
      </p:sp>
      <p:sp>
        <p:nvSpPr>
          <p:cNvPr id="27" name="Shape 25"/>
          <p:cNvSpPr/>
          <p:nvPr/>
        </p:nvSpPr>
        <p:spPr>
          <a:xfrm>
            <a:off x="1783080" y="2990088"/>
            <a:ext cx="502920" cy="635508"/>
          </a:xfrm>
          <a:prstGeom prst="line">
            <a:avLst/>
          </a:prstGeom>
          <a:noFill/>
          <a:ln w="13970">
            <a:solidFill>
              <a:srgbClr val="C9BFAE"/>
            </a:solidFill>
            <a:prstDash val="solid"/>
          </a:ln>
        </p:spPr>
      </p:sp>
      <p:sp>
        <p:nvSpPr>
          <p:cNvPr id="28" name="Shape 26"/>
          <p:cNvSpPr/>
          <p:nvPr/>
        </p:nvSpPr>
        <p:spPr>
          <a:xfrm>
            <a:off x="2331720" y="3387852"/>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3387852"/>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Semantics</a:t>
            </a:r>
            <a:endParaRPr lang="en-US" sz="1300" dirty="0"/>
          </a:p>
        </p:txBody>
      </p:sp>
      <p:sp>
        <p:nvSpPr>
          <p:cNvPr id="30" name="Shape 28"/>
          <p:cNvSpPr/>
          <p:nvPr/>
        </p:nvSpPr>
        <p:spPr>
          <a:xfrm>
            <a:off x="4023360" y="3625596"/>
            <a:ext cx="274320" cy="0"/>
          </a:xfrm>
          <a:prstGeom prst="line">
            <a:avLst/>
          </a:prstGeom>
          <a:noFill/>
          <a:ln w="13970">
            <a:solidFill>
              <a:srgbClr val="C9BFAE"/>
            </a:solidFill>
            <a:prstDash val="solid"/>
          </a:ln>
        </p:spPr>
      </p:sp>
      <p:sp>
        <p:nvSpPr>
          <p:cNvPr id="31" name="Shape 29"/>
          <p:cNvSpPr/>
          <p:nvPr/>
        </p:nvSpPr>
        <p:spPr>
          <a:xfrm>
            <a:off x="4297680" y="3406140"/>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3406140"/>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Provenance Model</a:t>
            </a:r>
            <a:endParaRPr lang="en-US" sz="1200" dirty="0"/>
          </a:p>
        </p:txBody>
      </p:sp>
      <p:sp>
        <p:nvSpPr>
          <p:cNvPr id="33" name="Shape 31"/>
          <p:cNvSpPr/>
          <p:nvPr/>
        </p:nvSpPr>
        <p:spPr>
          <a:xfrm>
            <a:off x="1783080" y="2990088"/>
            <a:ext cx="502920" cy="1271016"/>
          </a:xfrm>
          <a:prstGeom prst="line">
            <a:avLst/>
          </a:prstGeom>
          <a:noFill/>
          <a:ln w="13970">
            <a:solidFill>
              <a:srgbClr val="C9BFAE"/>
            </a:solidFill>
            <a:prstDash val="solid"/>
          </a:ln>
        </p:spPr>
      </p:sp>
      <p:sp>
        <p:nvSpPr>
          <p:cNvPr id="34" name="Shape 32"/>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35" name="Text 33"/>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Practice</a:t>
            </a:r>
            <a:endParaRPr lang="en-US" sz="1300" dirty="0"/>
          </a:p>
        </p:txBody>
      </p:sp>
      <p:sp>
        <p:nvSpPr>
          <p:cNvPr id="36" name="Shape 34"/>
          <p:cNvSpPr/>
          <p:nvPr/>
        </p:nvSpPr>
        <p:spPr>
          <a:xfrm>
            <a:off x="4023360" y="4261104"/>
            <a:ext cx="274320" cy="0"/>
          </a:xfrm>
          <a:prstGeom prst="line">
            <a:avLst/>
          </a:prstGeom>
          <a:noFill/>
          <a:ln w="13970">
            <a:solidFill>
              <a:srgbClr val="C9BFAE"/>
            </a:solidFill>
            <a:prstDash val="solid"/>
          </a:ln>
        </p:spPr>
      </p:sp>
      <p:sp>
        <p:nvSpPr>
          <p:cNvPr id="37" name="Shape 35"/>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8" name="Text 36"/>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Interactive Demo</a:t>
            </a:r>
            <a:endParaRPr lang="en-US" sz="1200" dirty="0"/>
          </a:p>
        </p:txBody>
      </p:sp>
      <p:sp>
        <p:nvSpPr>
          <p:cNvPr id="39" name="Shape 37"/>
          <p:cNvSpPr/>
          <p:nvPr/>
        </p:nvSpPr>
        <p:spPr>
          <a:xfrm>
            <a:off x="457200" y="4636008"/>
            <a:ext cx="91440" cy="310896"/>
          </a:xfrm>
          <a:prstGeom prst="rect">
            <a:avLst/>
          </a:prstGeom>
          <a:solidFill>
            <a:srgbClr val="D97A14"/>
          </a:solidFill>
          <a:ln w="12700">
            <a:solidFill>
              <a:srgbClr val="D97A14"/>
            </a:solidFill>
            <a:prstDash val="solid"/>
          </a:ln>
        </p:spPr>
      </p:sp>
      <p:sp>
        <p:nvSpPr>
          <p:cNvPr id="40" name="Text 3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branches - every slide today lives on this map</a:t>
            </a:r>
            <a:endParaRPr lang="en-US" sz="1350" dirty="0"/>
          </a:p>
        </p:txBody>
      </p:sp>
      <p:sp>
        <p:nvSpPr>
          <p:cNvPr id="41" name="Text 3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30</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Transactions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Who pays whom, with what, and what it costs</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Inputs and outputs</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Change</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Fees</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chain of spends</a:t>
            </a:r>
            <a:pPr algn="ctr" indent="0" marL="0">
              <a:buNone/>
            </a:pPr>
            <a:endParaRPr lang="en-US" sz="1400" dirty="0"/>
          </a:p>
        </p:txBody>
      </p:sp>
      <p:pic>
        <p:nvPicPr>
          <p:cNvPr id="14" name="Image 0" descr="../../03-materials/ch02/assets/mbc3_0203.png">    </p:cNvPr>
          <p:cNvPicPr>
            <a:picLocks noChangeAspect="1"/>
          </p:cNvPicPr>
          <p:nvPr/>
        </p:nvPicPr>
        <p:blipFill>
          <a:blip r:embed="rId1"/>
          <a:srcRect l="0" r="0" t="0" b="0"/>
          <a:stretch/>
        </p:blipFill>
        <p:spPr>
          <a:xfrm>
            <a:off x="5852160" y="2011680"/>
            <a:ext cx="2926080" cy="1463040"/>
          </a:xfrm>
          <a:prstGeom prst="rect">
            <a:avLst/>
          </a:prstGeom>
        </p:spPr>
      </p:pic>
      <p:sp>
        <p:nvSpPr>
          <p:cNvPr id="15" name="Text 12"/>
          <p:cNvSpPr txBox="1"/>
          <p:nvPr/>
        </p:nvSpPr>
        <p:spPr>
          <a:xfrm>
            <a:off x="5852160" y="3493008"/>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outputs become inputs -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30</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Nine pages, and a table of odds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2008-10-31</a:t>
            </a:r>
            <a:endParaRPr lang="en-US" sz="1300" dirty="0"/>
          </a:p>
        </p:txBody>
      </p:sp>
      <p:sp>
        <p:nvSpPr>
          <p:cNvPr id="6" name="Shape 4"/>
          <p:cNvSpPr/>
          <p:nvPr/>
        </p:nvSpPr>
        <p:spPr>
          <a:xfrm>
            <a:off x="457200" y="1298448"/>
            <a:ext cx="2834640" cy="2286000"/>
          </a:xfrm>
          <a:prstGeom prst="rect">
            <a:avLst/>
          </a:prstGeom>
          <a:solidFill>
            <a:srgbClr val="FFFDF7"/>
          </a:solidFill>
          <a:ln w="15875">
            <a:solidFill>
              <a:srgbClr val="B9AE9C"/>
            </a:solidFill>
            <a:prstDash val="solid"/>
          </a:ln>
          <a:effectLst>
            <a:outerShdw sx="100000" sy="100000" kx="0" ky="0" algn="bl" rotWithShape="0" blurRad="76200" dist="25400" dir="2700000">
              <a:srgbClr val="000000">
                <a:alpha val="25000"/>
              </a:srgbClr>
            </a:outerShdw>
          </a:effectLst>
        </p:spPr>
      </p:sp>
      <p:sp>
        <p:nvSpPr>
          <p:cNvPr id="7" name="Text 5"/>
          <p:cNvSpPr txBox="1"/>
          <p:nvPr/>
        </p:nvSpPr>
        <p:spPr>
          <a:xfrm>
            <a:off x="457200" y="1408176"/>
            <a:ext cx="2834640" cy="457200"/>
          </a:xfrm>
          <a:prstGeom prst="rect">
            <a:avLst/>
          </a:prstGeom>
          <a:noFill/>
          <a:ln/>
        </p:spPr>
        <p:txBody>
          <a:bodyPr wrap="square" lIns="0" tIns="0" rIns="0" bIns="0" rtlCol="0" anchor="ctr"/>
          <a:lstStyle/>
          <a:p>
            <a:pPr algn="ctr" indent="0" marL="0">
              <a:buNone/>
            </a:pPr>
            <a:r>
              <a:rPr lang="en-US" sz="1500" b="1" dirty="0">
                <a:solidFill>
                  <a:srgbClr val="1A1A1A"/>
                </a:solidFill>
                <a:latin typeface="Times New Roman" pitchFamily="34" charset="0"/>
                <a:ea typeface="Times New Roman" pitchFamily="34" charset="-122"/>
                <a:cs typeface="Times New Roman" pitchFamily="34" charset="-120"/>
              </a:rPr>
              <a:t>The Cryptography List</a:t>
            </a:r>
            <a:endParaRPr lang="en-US" sz="1500" dirty="0"/>
          </a:p>
        </p:txBody>
      </p:sp>
      <p:sp>
        <p:nvSpPr>
          <p:cNvPr id="8" name="Shape 6"/>
          <p:cNvSpPr/>
          <p:nvPr/>
        </p:nvSpPr>
        <p:spPr>
          <a:xfrm>
            <a:off x="685800" y="1920240"/>
            <a:ext cx="2377440" cy="0"/>
          </a:xfrm>
          <a:prstGeom prst="line">
            <a:avLst/>
          </a:prstGeom>
          <a:noFill/>
          <a:ln w="12700">
            <a:solidFill>
              <a:srgbClr val="1A1A1A"/>
            </a:solidFill>
            <a:prstDash val="solid"/>
          </a:ln>
        </p:spPr>
      </p:sp>
      <p:sp>
        <p:nvSpPr>
          <p:cNvPr id="9" name="Text 7"/>
          <p:cNvSpPr txBox="1"/>
          <p:nvPr/>
        </p:nvSpPr>
        <p:spPr>
          <a:xfrm>
            <a:off x="457200" y="1956816"/>
            <a:ext cx="2834640" cy="274320"/>
          </a:xfrm>
          <a:prstGeom prst="rect">
            <a:avLst/>
          </a:prstGeom>
          <a:noFill/>
          <a:ln/>
        </p:spPr>
        <p:txBody>
          <a:bodyPr wrap="square" lIns="0" tIns="0" rIns="0" bIns="0" rtlCol="0" anchor="ctr"/>
          <a:lstStyle/>
          <a:p>
            <a:pPr algn="ctr" indent="0" marL="0">
              <a:buNone/>
            </a:pPr>
            <a:r>
              <a:rPr lang="en-US" sz="1050" i="1" dirty="0">
                <a:solidFill>
                  <a:srgbClr val="444444"/>
                </a:solidFill>
                <a:latin typeface="Times New Roman" pitchFamily="34" charset="0"/>
                <a:ea typeface="Times New Roman" pitchFamily="34" charset="-122"/>
                <a:cs typeface="Times New Roman" pitchFamily="34" charset="-120"/>
              </a:rPr>
              <a:t>Friday October 31 2008</a:t>
            </a:r>
            <a:endParaRPr lang="en-US" sz="1050" dirty="0"/>
          </a:p>
        </p:txBody>
      </p:sp>
      <p:sp>
        <p:nvSpPr>
          <p:cNvPr id="10" name="Text 8"/>
          <p:cNvSpPr txBox="1"/>
          <p:nvPr/>
        </p:nvSpPr>
        <p:spPr>
          <a:xfrm>
            <a:off x="621792" y="2194560"/>
            <a:ext cx="2505456" cy="868680"/>
          </a:xfrm>
          <a:prstGeom prst="rect">
            <a:avLst/>
          </a:prstGeom>
          <a:noFill/>
          <a:ln/>
        </p:spPr>
        <p:txBody>
          <a:bodyPr wrap="square" lIns="0" tIns="0" rIns="0" bIns="0" rtlCol="0" anchor="ctr"/>
          <a:lstStyle/>
          <a:p>
            <a:pPr algn="ctr" indent="0" marL="0">
              <a:buNone/>
            </a:pPr>
            <a:r>
              <a:rPr lang="en-US" sz="1150" b="1" dirty="0">
                <a:solidFill>
                  <a:srgbClr val="1A1A1A"/>
                </a:solidFill>
                <a:latin typeface="Times New Roman" pitchFamily="34" charset="0"/>
                <a:ea typeface="Times New Roman" pitchFamily="34" charset="-122"/>
                <a:cs typeface="Times New Roman" pitchFamily="34" charset="-120"/>
              </a:rPr>
              <a:t>Bitcoin P2P e-cash paper</a:t>
            </a:r>
            <a:endParaRPr lang="en-US" sz="1150" dirty="0"/>
          </a:p>
        </p:txBody>
      </p:sp>
      <p:sp>
        <p:nvSpPr>
          <p:cNvPr id="11" name="Shape 9"/>
          <p:cNvSpPr/>
          <p:nvPr/>
        </p:nvSpPr>
        <p:spPr>
          <a:xfrm>
            <a:off x="822960" y="3182112"/>
            <a:ext cx="2103120" cy="310896"/>
          </a:xfrm>
          <a:prstGeom prst="roundRect">
            <a:avLst>
              <a:gd name="adj" fmla="val 52941"/>
            </a:avLst>
          </a:prstGeom>
          <a:solidFill>
            <a:srgbClr val="D97A14"/>
          </a:solidFill>
          <a:ln w="12700">
            <a:solidFill>
              <a:srgbClr val="D97A14"/>
            </a:solidFill>
            <a:prstDash val="solid"/>
          </a:ln>
        </p:spPr>
      </p:sp>
      <p:sp>
        <p:nvSpPr>
          <p:cNvPr id="12" name="Text 10"/>
          <p:cNvSpPr txBox="1"/>
          <p:nvPr/>
        </p:nvSpPr>
        <p:spPr>
          <a:xfrm>
            <a:off x="822960" y="3182112"/>
            <a:ext cx="21031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nine pages at bitcoin.org</a:t>
            </a:r>
            <a:endParaRPr lang="en-US" sz="1000" dirty="0"/>
          </a:p>
        </p:txBody>
      </p:sp>
      <p:sp>
        <p:nvSpPr>
          <p:cNvPr id="13" name="Text 11"/>
          <p:cNvSpPr txBox="1"/>
          <p:nvPr/>
        </p:nvSpPr>
        <p:spPr>
          <a:xfrm>
            <a:off x="3611880" y="1417320"/>
            <a:ext cx="5074920" cy="1371600"/>
          </a:xfrm>
          <a:prstGeom prst="rect">
            <a:avLst/>
          </a:prstGeom>
          <a:noFill/>
          <a:ln/>
        </p:spPr>
        <p:txBody>
          <a:bodyPr wrap="square" lIns="0" tIns="0" rIns="0" bIns="0" rtlCol="0" anchor="t"/>
          <a:lstStyle/>
          <a:p>
            <a:pPr algn="l" indent="0" marL="0">
              <a:buNone/>
            </a:pPr>
            <a:r>
              <a:rPr lang="en-US" sz="1200" i="1" dirty="0">
                <a:solidFill>
                  <a:srgbClr val="6E655C"/>
                </a:solidFill>
                <a:latin typeface="Calibri" pitchFamily="34" charset="0"/>
                <a:ea typeface="Calibri" pitchFamily="34" charset="-122"/>
                <a:cs typeface="Calibri" pitchFamily="34" charset="-120"/>
              </a:rPr>
              <a:t>"A purely peer-to-peer version of electronic cash would allow online payments to be sent directly from one party to another without going through a financial institution." - the abstract's first sentence</a:t>
            </a:r>
            <a:endParaRPr lang="en-US" sz="1200" dirty="0"/>
          </a:p>
        </p:txBody>
      </p:sp>
      <p:sp>
        <p:nvSpPr>
          <p:cNvPr id="14" name="Shape 12"/>
          <p:cNvSpPr/>
          <p:nvPr/>
        </p:nvSpPr>
        <p:spPr>
          <a:xfrm>
            <a:off x="3611880" y="303352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3886200" y="2834640"/>
            <a:ext cx="480060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Section 11 computes the attacker's catch-up odds</a:t>
            </a:r>
            <a:endParaRPr lang="en-US" sz="1300" dirty="0"/>
          </a:p>
        </p:txBody>
      </p:sp>
      <p:sp>
        <p:nvSpPr>
          <p:cNvPr id="16" name="Shape 14"/>
          <p:cNvSpPr/>
          <p:nvPr/>
        </p:nvSpPr>
        <p:spPr>
          <a:xfrm>
            <a:off x="3611880" y="3559302"/>
            <a:ext cx="128016" cy="128016"/>
          </a:xfrm>
          <a:prstGeom prst="diamond">
            <a:avLst/>
          </a:prstGeom>
          <a:solidFill>
            <a:srgbClr val="D97A14"/>
          </a:solidFill>
          <a:ln w="12700">
            <a:solidFill>
              <a:srgbClr val="D97A14"/>
            </a:solidFill>
            <a:prstDash val="solid"/>
          </a:ln>
        </p:spPr>
      </p:sp>
      <p:sp>
        <p:nvSpPr>
          <p:cNvPr id="17" name="Text 15"/>
          <p:cNvSpPr txBox="1"/>
          <p:nvPr/>
        </p:nvSpPr>
        <p:spPr>
          <a:xfrm>
            <a:off x="3886200" y="3360420"/>
            <a:ext cx="480060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We rerun that computation live, later in this deck</a:t>
            </a:r>
            <a:endParaRPr lang="en-US" sz="1300" dirty="0"/>
          </a:p>
        </p:txBody>
      </p:sp>
      <p:sp>
        <p:nvSpPr>
          <p:cNvPr id="18" name="Shape 16"/>
          <p:cNvSpPr/>
          <p:nvPr/>
        </p:nvSpPr>
        <p:spPr>
          <a:xfrm>
            <a:off x="3611880" y="4041648"/>
            <a:ext cx="949147" cy="365760"/>
          </a:xfrm>
          <a:prstGeom prst="roundRect">
            <a:avLst>
              <a:gd name="adj" fmla="val 50000"/>
            </a:avLst>
          </a:prstGeom>
          <a:solidFill>
            <a:srgbClr val="EFE9DC"/>
          </a:solidFill>
          <a:ln w="9525">
            <a:solidFill>
              <a:srgbClr val="DFD6C7"/>
            </a:solidFill>
            <a:prstDash val="solid"/>
          </a:ln>
        </p:spPr>
      </p:sp>
      <p:sp>
        <p:nvSpPr>
          <p:cNvPr id="19" name="Text 17"/>
          <p:cNvSpPr txBox="1"/>
          <p:nvPr/>
        </p:nvSpPr>
        <p:spPr>
          <a:xfrm>
            <a:off x="3703320" y="4041648"/>
            <a:ext cx="80284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Satoshi …</a:t>
            </a:r>
            <a:endParaRPr lang="en-US" sz="750" dirty="0"/>
          </a:p>
        </p:txBody>
      </p:sp>
      <p:sp>
        <p:nvSpPr>
          <p:cNvPr id="20" name="Shape 18"/>
          <p:cNvSpPr/>
          <p:nvPr/>
        </p:nvSpPr>
        <p:spPr>
          <a:xfrm>
            <a:off x="4670755" y="4041648"/>
            <a:ext cx="901690" cy="365760"/>
          </a:xfrm>
          <a:prstGeom prst="roundRect">
            <a:avLst>
              <a:gd name="adj" fmla="val 50000"/>
            </a:avLst>
          </a:prstGeom>
          <a:solidFill>
            <a:srgbClr val="EFE9DC"/>
          </a:solidFill>
          <a:ln w="9525">
            <a:solidFill>
              <a:srgbClr val="DFD6C7"/>
            </a:solidFill>
            <a:prstDash val="solid"/>
          </a:ln>
        </p:spPr>
      </p:sp>
      <p:sp>
        <p:nvSpPr>
          <p:cNvPr id="21" name="Text 19"/>
          <p:cNvSpPr txBox="1"/>
          <p:nvPr/>
        </p:nvSpPr>
        <p:spPr>
          <a:xfrm>
            <a:off x="4762195" y="4041648"/>
            <a:ext cx="75538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bitcoin…</a:t>
            </a:r>
            <a:endParaRPr lang="en-US" sz="750" dirty="0"/>
          </a:p>
        </p:txBody>
      </p:sp>
      <p:sp>
        <p:nvSpPr>
          <p:cNvPr id="22" name="Shape 20"/>
          <p:cNvSpPr/>
          <p:nvPr/>
        </p:nvSpPr>
        <p:spPr>
          <a:xfrm>
            <a:off x="5682173" y="4041648"/>
            <a:ext cx="806775" cy="365760"/>
          </a:xfrm>
          <a:prstGeom prst="roundRect">
            <a:avLst>
              <a:gd name="adj" fmla="val 50000"/>
            </a:avLst>
          </a:prstGeom>
          <a:solidFill>
            <a:srgbClr val="EFE9DC"/>
          </a:solidFill>
          <a:ln w="9525">
            <a:solidFill>
              <a:srgbClr val="DFD6C7"/>
            </a:solidFill>
            <a:prstDash val="solid"/>
          </a:ln>
        </p:spPr>
      </p:sp>
      <p:sp>
        <p:nvSpPr>
          <p:cNvPr id="23" name="Text 21"/>
          <p:cNvSpPr txBox="1"/>
          <p:nvPr/>
        </p:nvSpPr>
        <p:spPr>
          <a:xfrm>
            <a:off x="5773613" y="4041648"/>
            <a:ext cx="660471"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2008-…</a:t>
            </a:r>
            <a:endParaRPr lang="en-US" sz="750" dirty="0"/>
          </a:p>
        </p:txBody>
      </p:sp>
      <p:sp>
        <p:nvSpPr>
          <p:cNvPr id="24" name="Shape 22"/>
          <p:cNvSpPr/>
          <p:nvPr/>
        </p:nvSpPr>
        <p:spPr>
          <a:xfrm>
            <a:off x="6598676" y="4041648"/>
            <a:ext cx="2088124" cy="365760"/>
          </a:xfrm>
          <a:prstGeom prst="roundRect">
            <a:avLst>
              <a:gd name="adj" fmla="val 50000"/>
            </a:avLst>
          </a:prstGeom>
          <a:solidFill>
            <a:srgbClr val="2F6D62"/>
          </a:solidFill>
          <a:ln w="9525">
            <a:solidFill>
              <a:srgbClr val="2F6D62"/>
            </a:solidFill>
            <a:prstDash val="solid"/>
          </a:ln>
        </p:spPr>
      </p:sp>
      <p:sp>
        <p:nvSpPr>
          <p:cNvPr id="25" name="Text 23"/>
          <p:cNvSpPr txBox="1"/>
          <p:nvPr/>
        </p:nvSpPr>
        <p:spPr>
          <a:xfrm>
            <a:off x="6690116" y="4041648"/>
            <a:ext cx="1941820"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bitcoin.org</a:t>
            </a:r>
            <a:endParaRPr lang="en-US" sz="75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paper computes its promises - today we recompute them</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30</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Alice pays Bob: one transaction, whole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running example, shown as the ledger sees it</a:t>
            </a:r>
            <a:endParaRPr lang="en-US" sz="1300" dirty="0"/>
          </a:p>
        </p:txBody>
      </p:sp>
      <p:pic>
        <p:nvPicPr>
          <p:cNvPr id="6" name="Image 0" descr="../../03-materials/ch02/assets/mbc3_0202.png">    </p:cNvPr>
          <p:cNvPicPr>
            <a:picLocks noChangeAspect="1"/>
          </p:cNvPicPr>
          <p:nvPr/>
        </p:nvPicPr>
        <p:blipFill>
          <a:blip r:embed="rId1"/>
          <a:srcRect l="0" r="0" t="0" b="0"/>
          <a:stretch/>
        </p:blipFill>
        <p:spPr>
          <a:xfrm>
            <a:off x="457200" y="1371600"/>
            <a:ext cx="3931920" cy="2606040"/>
          </a:xfrm>
          <a:prstGeom prst="rect">
            <a:avLst/>
          </a:prstGeom>
        </p:spPr>
      </p:pic>
      <p:sp>
        <p:nvSpPr>
          <p:cNvPr id="7" name="Text 4"/>
          <p:cNvSpPr txBox="1"/>
          <p:nvPr/>
        </p:nvSpPr>
        <p:spPr>
          <a:xfrm>
            <a:off x="457200" y="3995928"/>
            <a:ext cx="39319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double-entry view - Mastering Bitcoin 3e, CC BY-SA</a:t>
            </a:r>
            <a:endParaRPr lang="en-US" sz="900" dirty="0"/>
          </a:p>
        </p:txBody>
      </p:sp>
      <p:sp>
        <p:nvSpPr>
          <p:cNvPr id="8" name="Shape 5"/>
          <p:cNvSpPr/>
          <p:nvPr/>
        </p:nvSpPr>
        <p:spPr>
          <a:xfrm>
            <a:off x="4663440" y="1453896"/>
            <a:ext cx="402336" cy="402336"/>
          </a:xfrm>
          <a:prstGeom prst="ellipse">
            <a:avLst/>
          </a:prstGeom>
          <a:solidFill>
            <a:srgbClr val="D97A14"/>
          </a:solidFill>
          <a:ln w="12700">
            <a:solidFill>
              <a:srgbClr val="D97A14"/>
            </a:solidFill>
            <a:prstDash val="solid"/>
          </a:ln>
        </p:spPr>
      </p:sp>
      <p:sp>
        <p:nvSpPr>
          <p:cNvPr id="9" name="Text 6"/>
          <p:cNvSpPr txBox="1"/>
          <p:nvPr/>
        </p:nvSpPr>
        <p:spPr>
          <a:xfrm>
            <a:off x="4663440" y="14538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7"/>
          <p:cNvSpPr txBox="1"/>
          <p:nvPr/>
        </p:nvSpPr>
        <p:spPr>
          <a:xfrm>
            <a:off x="5230368" y="1417320"/>
            <a:ext cx="3456432"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One 100,000-sat output of Alice's is spent whole</a:t>
            </a:r>
            <a:endParaRPr lang="en-US" sz="1050" dirty="0"/>
          </a:p>
        </p:txBody>
      </p:sp>
      <p:sp>
        <p:nvSpPr>
          <p:cNvPr id="11" name="Shape 8"/>
          <p:cNvSpPr/>
          <p:nvPr/>
        </p:nvSpPr>
        <p:spPr>
          <a:xfrm>
            <a:off x="4663440" y="1911096"/>
            <a:ext cx="402336" cy="402336"/>
          </a:xfrm>
          <a:prstGeom prst="ellipse">
            <a:avLst/>
          </a:prstGeom>
          <a:solidFill>
            <a:srgbClr val="D97A14"/>
          </a:solidFill>
          <a:ln w="12700">
            <a:solidFill>
              <a:srgbClr val="D97A14"/>
            </a:solidFill>
            <a:prstDash val="solid"/>
          </a:ln>
        </p:spPr>
      </p:sp>
      <p:sp>
        <p:nvSpPr>
          <p:cNvPr id="12" name="Text 9"/>
          <p:cNvSpPr txBox="1"/>
          <p:nvPr/>
        </p:nvSpPr>
        <p:spPr>
          <a:xfrm>
            <a:off x="4663440" y="19110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0"/>
          <p:cNvSpPr txBox="1"/>
          <p:nvPr/>
        </p:nvSpPr>
        <p:spPr>
          <a:xfrm>
            <a:off x="5230368" y="1874520"/>
            <a:ext cx="3456432"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Two new outputs: 75,000 to Bob, 20,000 back to Alice</a:t>
            </a:r>
            <a:endParaRPr lang="en-US" sz="1050" dirty="0"/>
          </a:p>
        </p:txBody>
      </p:sp>
      <p:sp>
        <p:nvSpPr>
          <p:cNvPr id="14" name="Shape 11"/>
          <p:cNvSpPr/>
          <p:nvPr/>
        </p:nvSpPr>
        <p:spPr>
          <a:xfrm>
            <a:off x="4663440" y="2368296"/>
            <a:ext cx="402336" cy="402336"/>
          </a:xfrm>
          <a:prstGeom prst="ellipse">
            <a:avLst/>
          </a:prstGeom>
          <a:solidFill>
            <a:srgbClr val="D97A14"/>
          </a:solidFill>
          <a:ln w="12700">
            <a:solidFill>
              <a:srgbClr val="D97A14"/>
            </a:solidFill>
            <a:prstDash val="solid"/>
          </a:ln>
        </p:spPr>
      </p:sp>
      <p:sp>
        <p:nvSpPr>
          <p:cNvPr id="15" name="Text 12"/>
          <p:cNvSpPr txBox="1"/>
          <p:nvPr/>
        </p:nvSpPr>
        <p:spPr>
          <a:xfrm>
            <a:off x="4663440" y="23682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6" name="Text 13"/>
          <p:cNvSpPr txBox="1"/>
          <p:nvPr/>
        </p:nvSpPr>
        <p:spPr>
          <a:xfrm>
            <a:off x="5230368" y="2331720"/>
            <a:ext cx="3456432"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What the sums leave over - 5,000 sat - is the fee</a:t>
            </a:r>
            <a:endParaRPr lang="en-US" sz="1050" dirty="0"/>
          </a:p>
        </p:txBody>
      </p:sp>
      <p:sp>
        <p:nvSpPr>
          <p:cNvPr id="17" name="Text 14"/>
          <p:cNvSpPr txBox="1"/>
          <p:nvPr/>
        </p:nvSpPr>
        <p:spPr>
          <a:xfrm>
            <a:off x="4663440" y="274320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counted by the run: 1 input, 2 outputs, 5,000 fee</a:t>
            </a:r>
            <a:endParaRPr lang="en-US" sz="1150" dirty="0"/>
          </a:p>
        </p:txBody>
      </p:sp>
      <p:sp>
        <p:nvSpPr>
          <p:cNvPr id="18" name="Shape 15"/>
          <p:cNvSpPr/>
          <p:nvPr/>
        </p:nvSpPr>
        <p:spPr>
          <a:xfrm>
            <a:off x="4663440" y="3017520"/>
            <a:ext cx="4023360" cy="960120"/>
          </a:xfrm>
          <a:prstGeom prst="roundRect">
            <a:avLst>
              <a:gd name="adj" fmla="val 9524"/>
            </a:avLst>
          </a:prstGeom>
          <a:solidFill>
            <a:srgbClr val="23272E"/>
          </a:solidFill>
          <a:ln w="12700">
            <a:solidFill>
              <a:srgbClr val="23272E"/>
            </a:solidFill>
            <a:prstDash val="solid"/>
          </a:ln>
        </p:spPr>
      </p:sp>
      <p:sp>
        <p:nvSpPr>
          <p:cNvPr id="19" name="Text 16"/>
          <p:cNvSpPr txBox="1"/>
          <p:nvPr/>
        </p:nvSpPr>
        <p:spPr>
          <a:xfrm>
            <a:off x="4846320" y="3136392"/>
            <a:ext cx="3657600" cy="72237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ins, outs = [100000], [20000, 75000]</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(len(ins), len(outs), sum(ins) - sum(outs))</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(1, 2, 5000)</a:t>
            </a:r>
            <a:endParaRPr lang="en-US" sz="950" dirty="0"/>
          </a:p>
        </p:txBody>
      </p:sp>
      <p:sp>
        <p:nvSpPr>
          <p:cNvPr id="20" name="Text 17"/>
          <p:cNvSpPr txBox="1"/>
          <p:nvPr/>
        </p:nvSpPr>
        <p:spPr>
          <a:xfrm>
            <a:off x="4663440" y="399592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21"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transaction spends whole outputs and makes new ones</a:t>
            </a:r>
            <a:endParaRPr lang="en-US" sz="1350" dirty="0"/>
          </a:p>
        </p:txBody>
      </p:sp>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30</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Your balance is outputs, not an account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UTXO idea - what a wallet actually sums</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4279392" cy="36347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Every payment leaves outputs - coins of exact sizes</a:t>
            </a:r>
            <a:endParaRPr lang="en-US" sz="1050" dirty="0"/>
          </a:p>
        </p:txBody>
      </p:sp>
      <p:sp>
        <p:nvSpPr>
          <p:cNvPr id="9" name="Shape 7"/>
          <p:cNvSpPr/>
          <p:nvPr/>
        </p:nvSpPr>
        <p:spPr>
          <a:xfrm>
            <a:off x="457200" y="189966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9966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63090"/>
            <a:ext cx="4279392" cy="36347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Spending consumes outputs whole and mints new ones</a:t>
            </a:r>
            <a:endParaRPr lang="en-US" sz="1050" dirty="0"/>
          </a:p>
        </p:txBody>
      </p:sp>
      <p:sp>
        <p:nvSpPr>
          <p:cNvPr id="12" name="Shape 10"/>
          <p:cNvSpPr/>
          <p:nvPr/>
        </p:nvSpPr>
        <p:spPr>
          <a:xfrm>
            <a:off x="457200" y="229971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997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263140"/>
            <a:ext cx="4279392" cy="36347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Your balance = the outputs your keys can unlock</a:t>
            </a:r>
            <a:endParaRPr lang="en-US" sz="1050" dirty="0"/>
          </a:p>
        </p:txBody>
      </p:sp>
      <p:sp>
        <p:nvSpPr>
          <p:cNvPr id="15" name="Shape 13"/>
          <p:cNvSpPr/>
          <p:nvPr/>
        </p:nvSpPr>
        <p:spPr>
          <a:xfrm>
            <a:off x="457200" y="269976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69976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63190"/>
            <a:ext cx="4279392" cy="36347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run keeps only the unspent: Tx2:0 and Tx2:1</a:t>
            </a:r>
            <a:endParaRPr lang="en-US" sz="1050" dirty="0"/>
          </a:p>
        </p:txBody>
      </p:sp>
      <p:sp>
        <p:nvSpPr>
          <p:cNvPr id="18" name="Shape 16"/>
          <p:cNvSpPr/>
          <p:nvPr/>
        </p:nvSpPr>
        <p:spPr>
          <a:xfrm>
            <a:off x="5669280" y="1737360"/>
            <a:ext cx="2092833"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5669280" y="1737360"/>
            <a:ext cx="2092833"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Tx2:0 unspent</a:t>
            </a:r>
            <a:endParaRPr lang="en-US" sz="1250" dirty="0"/>
          </a:p>
        </p:txBody>
      </p:sp>
      <p:sp>
        <p:nvSpPr>
          <p:cNvPr id="20" name="Shape 18"/>
          <p:cNvSpPr/>
          <p:nvPr/>
        </p:nvSpPr>
        <p:spPr>
          <a:xfrm>
            <a:off x="5669280" y="2322576"/>
            <a:ext cx="2092833"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5669280" y="2322576"/>
            <a:ext cx="2092833"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Tx2:1 unspent</a:t>
            </a:r>
            <a:endParaRPr lang="en-US" sz="1250" dirty="0"/>
          </a:p>
        </p:txBody>
      </p:sp>
      <p:sp>
        <p:nvSpPr>
          <p:cNvPr id="22" name="Shape 20"/>
          <p:cNvSpPr/>
          <p:nvPr/>
        </p:nvSpPr>
        <p:spPr>
          <a:xfrm>
            <a:off x="5669280" y="2907792"/>
            <a:ext cx="1829943" cy="420624"/>
          </a:xfrm>
          <a:prstGeom prst="roundRect">
            <a:avLst>
              <a:gd name="adj" fmla="val 50000"/>
            </a:avLst>
          </a:prstGeom>
          <a:solidFill>
            <a:srgbClr val="F2ECE1"/>
          </a:solidFill>
          <a:ln w="12700">
            <a:solidFill>
              <a:srgbClr val="D97A14"/>
            </a:solidFill>
            <a:prstDash val="solid"/>
          </a:ln>
        </p:spPr>
      </p:sp>
      <p:sp>
        <p:nvSpPr>
          <p:cNvPr id="23" name="Text 21"/>
          <p:cNvSpPr txBox="1"/>
          <p:nvPr/>
        </p:nvSpPr>
        <p:spPr>
          <a:xfrm>
            <a:off x="5669280" y="2907792"/>
            <a:ext cx="1829943"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Tx1:0 spent</a:t>
            </a:r>
            <a:endParaRPr lang="en-US" sz="1250" dirty="0"/>
          </a:p>
        </p:txBody>
      </p:sp>
      <p:sp>
        <p:nvSpPr>
          <p:cNvPr id="24" name="Text 22"/>
          <p:cNvSpPr txBox="1"/>
          <p:nvPr/>
        </p:nvSpPr>
        <p:spPr>
          <a:xfrm>
            <a:off x="457200" y="30175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ledger's view, filtered to the spendable</a:t>
            </a:r>
            <a:endParaRPr lang="en-US" sz="1150" dirty="0"/>
          </a:p>
        </p:txBody>
      </p:sp>
      <p:sp>
        <p:nvSpPr>
          <p:cNvPr id="25" name="Shape 23"/>
          <p:cNvSpPr/>
          <p:nvPr/>
        </p:nvSpPr>
        <p:spPr>
          <a:xfrm>
            <a:off x="457200" y="3291840"/>
            <a:ext cx="8229600" cy="1005840"/>
          </a:xfrm>
          <a:prstGeom prst="roundRect">
            <a:avLst>
              <a:gd name="adj" fmla="val 9091"/>
            </a:avLst>
          </a:prstGeom>
          <a:solidFill>
            <a:srgbClr val="23272E"/>
          </a:solidFill>
          <a:ln w="12700">
            <a:solidFill>
              <a:srgbClr val="23272E"/>
            </a:solidFill>
            <a:prstDash val="solid"/>
          </a:ln>
        </p:spPr>
      </p:sp>
      <p:sp>
        <p:nvSpPr>
          <p:cNvPr id="26" name="Text 24"/>
          <p:cNvSpPr txBox="1"/>
          <p:nvPr/>
        </p:nvSpPr>
        <p:spPr>
          <a:xfrm>
            <a:off x="640080" y="3410712"/>
            <a:ext cx="7863840" cy="76809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[o for o, spent in {'Tx1:0': True, 'Tx2:0': False, 'Tx2:1': False}.items() if not spent]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['Tx2:0', 'Tx2:1']</a:t>
            </a:r>
            <a:endParaRPr lang="en-US" sz="950" dirty="0"/>
          </a:p>
        </p:txBody>
      </p:sp>
      <p:sp>
        <p:nvSpPr>
          <p:cNvPr id="27" name="Text 25"/>
          <p:cNvSpPr txBox="1"/>
          <p:nvPr/>
        </p:nvSpPr>
        <p:spPr>
          <a:xfrm>
            <a:off x="457200" y="43159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No accounts anywhere - only unspent outputs your keys can unlock</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30</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Change comes back to you</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Inputs are spent whole, like banknotes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100,000-satoshi output pays a 75,000 bill the way a banknote pays a coffee: spent whole, with change coming back - minus the tip to the miner.</a:t>
            </a:r>
            <a:endParaRPr lang="en-US" sz="1250" dirty="0"/>
          </a:p>
        </p:txBody>
      </p:sp>
      <p:sp>
        <p:nvSpPr>
          <p:cNvPr id="7" name="Text 5"/>
          <p:cNvSpPr txBox="1"/>
          <p:nvPr/>
        </p:nvSpPr>
        <p:spPr>
          <a:xfrm>
            <a:off x="457200" y="1554480"/>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to Bob</a:t>
            </a:r>
            <a:endParaRPr lang="en-US" sz="1050" dirty="0"/>
          </a:p>
        </p:txBody>
      </p:sp>
      <p:sp>
        <p:nvSpPr>
          <p:cNvPr id="8" name="Shape 6"/>
          <p:cNvSpPr/>
          <p:nvPr/>
        </p:nvSpPr>
        <p:spPr>
          <a:xfrm>
            <a:off x="1737360" y="1581912"/>
            <a:ext cx="3200400" cy="310896"/>
          </a:xfrm>
          <a:prstGeom prst="roundRect">
            <a:avLst>
              <a:gd name="adj" fmla="val 14706"/>
            </a:avLst>
          </a:prstGeom>
          <a:solidFill>
            <a:srgbClr val="D97A14"/>
          </a:solidFill>
          <a:ln w="12700">
            <a:solidFill>
              <a:srgbClr val="D97A14"/>
            </a:solidFill>
            <a:prstDash val="solid"/>
          </a:ln>
        </p:spPr>
      </p:sp>
      <p:sp>
        <p:nvSpPr>
          <p:cNvPr id="9" name="Text 7"/>
          <p:cNvSpPr txBox="1"/>
          <p:nvPr/>
        </p:nvSpPr>
        <p:spPr>
          <a:xfrm>
            <a:off x="4992624" y="1581912"/>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75,000</a:t>
            </a:r>
            <a:endParaRPr lang="en-US" sz="1000" dirty="0"/>
          </a:p>
        </p:txBody>
      </p:sp>
      <p:sp>
        <p:nvSpPr>
          <p:cNvPr id="10" name="Text 8"/>
          <p:cNvSpPr txBox="1"/>
          <p:nvPr/>
        </p:nvSpPr>
        <p:spPr>
          <a:xfrm>
            <a:off x="457200" y="2011680"/>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change, back to Alice</a:t>
            </a:r>
            <a:endParaRPr lang="en-US" sz="1050" dirty="0"/>
          </a:p>
        </p:txBody>
      </p:sp>
      <p:sp>
        <p:nvSpPr>
          <p:cNvPr id="11" name="Shape 9"/>
          <p:cNvSpPr/>
          <p:nvPr/>
        </p:nvSpPr>
        <p:spPr>
          <a:xfrm>
            <a:off x="1737360" y="2039112"/>
            <a:ext cx="853440" cy="310896"/>
          </a:xfrm>
          <a:prstGeom prst="roundRect">
            <a:avLst>
              <a:gd name="adj" fmla="val 14706"/>
            </a:avLst>
          </a:prstGeom>
          <a:solidFill>
            <a:srgbClr val="2F6D62"/>
          </a:solidFill>
          <a:ln w="12700">
            <a:solidFill>
              <a:srgbClr val="2F6D62"/>
            </a:solidFill>
            <a:prstDash val="solid"/>
          </a:ln>
        </p:spPr>
      </p:sp>
      <p:sp>
        <p:nvSpPr>
          <p:cNvPr id="12" name="Text 10"/>
          <p:cNvSpPr txBox="1"/>
          <p:nvPr/>
        </p:nvSpPr>
        <p:spPr>
          <a:xfrm>
            <a:off x="2645664" y="2039112"/>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20,000</a:t>
            </a:r>
            <a:endParaRPr lang="en-US" sz="1000" dirty="0"/>
          </a:p>
        </p:txBody>
      </p:sp>
      <p:sp>
        <p:nvSpPr>
          <p:cNvPr id="13" name="Text 11"/>
          <p:cNvSpPr txBox="1"/>
          <p:nvPr/>
        </p:nvSpPr>
        <p:spPr>
          <a:xfrm>
            <a:off x="457200" y="2468880"/>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fee, to the miner</a:t>
            </a:r>
            <a:endParaRPr lang="en-US" sz="1050" dirty="0"/>
          </a:p>
        </p:txBody>
      </p:sp>
      <p:sp>
        <p:nvSpPr>
          <p:cNvPr id="14" name="Shape 12"/>
          <p:cNvSpPr/>
          <p:nvPr/>
        </p:nvSpPr>
        <p:spPr>
          <a:xfrm>
            <a:off x="1737360" y="2496312"/>
            <a:ext cx="213360" cy="310896"/>
          </a:xfrm>
          <a:prstGeom prst="roundRect">
            <a:avLst>
              <a:gd name="adj" fmla="val 21429"/>
            </a:avLst>
          </a:prstGeom>
          <a:solidFill>
            <a:srgbClr val="2F6D62"/>
          </a:solidFill>
          <a:ln w="12700">
            <a:solidFill>
              <a:srgbClr val="2F6D62"/>
            </a:solidFill>
            <a:prstDash val="solid"/>
          </a:ln>
        </p:spPr>
      </p:sp>
      <p:sp>
        <p:nvSpPr>
          <p:cNvPr id="15" name="Text 13"/>
          <p:cNvSpPr txBox="1"/>
          <p:nvPr/>
        </p:nvSpPr>
        <p:spPr>
          <a:xfrm>
            <a:off x="2005584" y="2496312"/>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5,000</a:t>
            </a:r>
            <a:endParaRPr lang="en-US" sz="1000" dirty="0"/>
          </a:p>
        </p:txBody>
      </p:sp>
      <p:sp>
        <p:nvSpPr>
          <p:cNvPr id="16" name="Shape 14"/>
          <p:cNvSpPr/>
          <p:nvPr/>
        </p:nvSpPr>
        <p:spPr>
          <a:xfrm>
            <a:off x="5760720" y="1600200"/>
            <a:ext cx="2834640" cy="402336"/>
          </a:xfrm>
          <a:prstGeom prst="roundRect">
            <a:avLst>
              <a:gd name="adj" fmla="val 50000"/>
            </a:avLst>
          </a:prstGeom>
          <a:solidFill>
            <a:srgbClr val="2F6D62"/>
          </a:solidFill>
          <a:ln w="12700">
            <a:solidFill>
              <a:srgbClr val="2F6D62"/>
            </a:solidFill>
            <a:prstDash val="solid"/>
          </a:ln>
        </p:spPr>
      </p:sp>
      <p:sp>
        <p:nvSpPr>
          <p:cNvPr id="17" name="Text 15"/>
          <p:cNvSpPr txBox="1"/>
          <p:nvPr/>
        </p:nvSpPr>
        <p:spPr>
          <a:xfrm>
            <a:off x="5760720" y="1600200"/>
            <a:ext cx="283464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75,000 + 20,000 + 5,000 = 100,000</a:t>
            </a:r>
            <a:endParaRPr lang="en-US" sz="1300" dirty="0"/>
          </a:p>
        </p:txBody>
      </p:sp>
      <p:sp>
        <p:nvSpPr>
          <p:cNvPr id="18" name="Text 16"/>
          <p:cNvSpPr txBox="1"/>
          <p:nvPr/>
        </p:nvSpPr>
        <p:spPr>
          <a:xfrm>
            <a:off x="457200" y="2971800"/>
            <a:ext cx="4937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fee is the remainder - computed, not quoted</a:t>
            </a:r>
            <a:endParaRPr lang="en-US" sz="1150" dirty="0"/>
          </a:p>
        </p:txBody>
      </p:sp>
      <p:sp>
        <p:nvSpPr>
          <p:cNvPr id="19" name="Shape 17"/>
          <p:cNvSpPr/>
          <p:nvPr/>
        </p:nvSpPr>
        <p:spPr>
          <a:xfrm>
            <a:off x="457200" y="3246120"/>
            <a:ext cx="4937760" cy="868680"/>
          </a:xfrm>
          <a:prstGeom prst="roundRect">
            <a:avLst>
              <a:gd name="adj" fmla="val 10526"/>
            </a:avLst>
          </a:prstGeom>
          <a:solidFill>
            <a:srgbClr val="23272E"/>
          </a:solidFill>
          <a:ln w="12700">
            <a:solidFill>
              <a:srgbClr val="23272E"/>
            </a:solidFill>
            <a:prstDash val="solid"/>
          </a:ln>
        </p:spPr>
      </p:sp>
      <p:sp>
        <p:nvSpPr>
          <p:cNvPr id="20" name="Text 18"/>
          <p:cNvSpPr txBox="1"/>
          <p:nvPr/>
        </p:nvSpPr>
        <p:spPr>
          <a:xfrm>
            <a:off x="640080" y="3364992"/>
            <a:ext cx="4572000" cy="630936"/>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100000 - sum([75000, 20000])</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5000</a:t>
            </a:r>
            <a:endParaRPr lang="en-US" sz="1050" dirty="0"/>
          </a:p>
        </p:txBody>
      </p:sp>
      <p:sp>
        <p:nvSpPr>
          <p:cNvPr id="21" name="Text 19"/>
          <p:cNvSpPr txBox="1"/>
          <p:nvPr/>
        </p:nvSpPr>
        <p:spPr>
          <a:xfrm>
            <a:off x="457200" y="4133088"/>
            <a:ext cx="49377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pic>
        <p:nvPicPr>
          <p:cNvPr id="22" name="Image 0" descr="../../03-materials/ch02/assets/c2s07_fractions.jpg">    </p:cNvPr>
          <p:cNvPicPr>
            <a:picLocks noChangeAspect="1"/>
          </p:cNvPicPr>
          <p:nvPr/>
        </p:nvPicPr>
        <p:blipFill>
          <a:blip r:embed="rId1"/>
          <a:srcRect l="0" r="0" t="0" b="0"/>
          <a:stretch/>
        </p:blipFill>
        <p:spPr>
          <a:xfrm>
            <a:off x="5760720" y="3017520"/>
            <a:ext cx="2834640" cy="1417320"/>
          </a:xfrm>
          <a:prstGeom prst="rect">
            <a:avLst/>
          </a:prstGeom>
        </p:spPr>
      </p:pic>
      <p:sp>
        <p:nvSpPr>
          <p:cNvPr id="23" name="Text 20"/>
          <p:cNvSpPr txBox="1"/>
          <p:nvPr/>
        </p:nvSpPr>
        <p:spPr>
          <a:xfrm>
            <a:off x="5760720" y="445312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fraction table, from the owner's 2025 deck</a:t>
            </a:r>
            <a:endParaRPr lang="en-US" sz="90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Inputs are spent whole; the difference returns as change</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30</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Fees price bytes, not value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Block space is the scarce good</a:t>
            </a:r>
            <a:endParaRPr lang="en-US" sz="1300" dirty="0"/>
          </a:p>
        </p:txBody>
      </p:sp>
      <p:sp>
        <p:nvSpPr>
          <p:cNvPr id="6" name="Shape 4"/>
          <p:cNvSpPr/>
          <p:nvPr/>
        </p:nvSpPr>
        <p:spPr>
          <a:xfrm>
            <a:off x="457200" y="1554480"/>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17904"/>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block holds bytes, not value - space is what runs out</a:t>
            </a:r>
            <a:endParaRPr lang="en-US" sz="1050" dirty="0"/>
          </a:p>
        </p:txBody>
      </p:sp>
      <p:sp>
        <p:nvSpPr>
          <p:cNvPr id="9" name="Shape 7"/>
          <p:cNvSpPr/>
          <p:nvPr/>
        </p:nvSpPr>
        <p:spPr>
          <a:xfrm>
            <a:off x="457200" y="213360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13360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97024"/>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So fees are bid per virtual byte, not per coin moved</a:t>
            </a:r>
            <a:endParaRPr lang="en-US" sz="1050" dirty="0"/>
          </a:p>
        </p:txBody>
      </p:sp>
      <p:sp>
        <p:nvSpPr>
          <p:cNvPr id="12" name="Shape 10"/>
          <p:cNvSpPr/>
          <p:nvPr/>
        </p:nvSpPr>
        <p:spPr>
          <a:xfrm>
            <a:off x="457200" y="271272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127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76144"/>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This transaction: 143 vbytes, 5,000 sat - about 35 sat/vB</a:t>
            </a:r>
            <a:endParaRPr lang="en-US" sz="1050" dirty="0"/>
          </a:p>
        </p:txBody>
      </p:sp>
      <p:sp>
        <p:nvSpPr>
          <p:cNvPr id="15" name="Text 13"/>
          <p:cNvSpPr txBox="1"/>
          <p:nvPr/>
        </p:nvSpPr>
        <p:spPr>
          <a:xfrm>
            <a:off x="3931920" y="118872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1 - weight to virtual bytes</a:t>
            </a:r>
            <a:endParaRPr lang="en-US" sz="1150" dirty="0"/>
          </a:p>
        </p:txBody>
      </p:sp>
      <p:sp>
        <p:nvSpPr>
          <p:cNvPr id="16" name="Shape 14"/>
          <p:cNvSpPr/>
          <p:nvPr/>
        </p:nvSpPr>
        <p:spPr>
          <a:xfrm>
            <a:off x="3931920" y="1463040"/>
            <a:ext cx="4754880" cy="868680"/>
          </a:xfrm>
          <a:prstGeom prst="roundRect">
            <a:avLst>
              <a:gd name="adj" fmla="val 10526"/>
            </a:avLst>
          </a:prstGeom>
          <a:solidFill>
            <a:srgbClr val="23272E"/>
          </a:solidFill>
          <a:ln w="12700">
            <a:solidFill>
              <a:srgbClr val="23272E"/>
            </a:solidFill>
            <a:prstDash val="solid"/>
          </a:ln>
        </p:spPr>
      </p:sp>
      <p:sp>
        <p:nvSpPr>
          <p:cNvPr id="17" name="Text 15"/>
          <p:cNvSpPr txBox="1"/>
          <p:nvPr/>
        </p:nvSpPr>
        <p:spPr>
          <a:xfrm>
            <a:off x="4114800" y="1581912"/>
            <a:ext cx="4389120" cy="63093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(569 + 3) // 4</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143</a:t>
            </a:r>
            <a:endParaRPr lang="en-US" sz="1000" dirty="0"/>
          </a:p>
        </p:txBody>
      </p:sp>
      <p:sp>
        <p:nvSpPr>
          <p:cNvPr id="18" name="Text 16"/>
          <p:cNvSpPr txBox="1"/>
          <p:nvPr/>
        </p:nvSpPr>
        <p:spPr>
          <a:xfrm>
            <a:off x="3931920" y="2350008"/>
            <a:ext cx="47548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9" name="Text 17"/>
          <p:cNvSpPr txBox="1"/>
          <p:nvPr/>
        </p:nvSpPr>
        <p:spPr>
          <a:xfrm>
            <a:off x="3931920" y="233172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 the rate a wallet actually bids</a:t>
            </a:r>
            <a:endParaRPr lang="en-US" sz="1150" dirty="0"/>
          </a:p>
        </p:txBody>
      </p:sp>
      <p:sp>
        <p:nvSpPr>
          <p:cNvPr id="20" name="Shape 18"/>
          <p:cNvSpPr/>
          <p:nvPr/>
        </p:nvSpPr>
        <p:spPr>
          <a:xfrm>
            <a:off x="3931920" y="2606040"/>
            <a:ext cx="4754880" cy="868680"/>
          </a:xfrm>
          <a:prstGeom prst="roundRect">
            <a:avLst>
              <a:gd name="adj" fmla="val 10526"/>
            </a:avLst>
          </a:prstGeom>
          <a:solidFill>
            <a:srgbClr val="23272E"/>
          </a:solidFill>
          <a:ln w="12700">
            <a:solidFill>
              <a:srgbClr val="23272E"/>
            </a:solidFill>
            <a:prstDash val="solid"/>
          </a:ln>
        </p:spPr>
      </p:sp>
      <p:sp>
        <p:nvSpPr>
          <p:cNvPr id="21" name="Text 19"/>
          <p:cNvSpPr txBox="1"/>
          <p:nvPr/>
        </p:nvSpPr>
        <p:spPr>
          <a:xfrm>
            <a:off x="4114800" y="2724912"/>
            <a:ext cx="4389120" cy="63093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round(5000 / 143, 2)</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34.97</a:t>
            </a:r>
            <a:endParaRPr lang="en-US" sz="1000" dirty="0"/>
          </a:p>
        </p:txBody>
      </p:sp>
      <p:sp>
        <p:nvSpPr>
          <p:cNvPr id="22" name="Text 20"/>
          <p:cNvSpPr txBox="1"/>
          <p:nvPr/>
        </p:nvSpPr>
        <p:spPr>
          <a:xfrm>
            <a:off x="3931920" y="3493008"/>
            <a:ext cx="47548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23" name="Shape 21"/>
          <p:cNvSpPr/>
          <p:nvPr/>
        </p:nvSpPr>
        <p:spPr>
          <a:xfrm>
            <a:off x="3931920" y="3611880"/>
            <a:ext cx="2263140" cy="914400"/>
          </a:xfrm>
          <a:prstGeom prst="roundRect">
            <a:avLst>
              <a:gd name="adj" fmla="val 8000"/>
            </a:avLst>
          </a:prstGeom>
          <a:solidFill>
            <a:srgbClr val="F2ECE1"/>
          </a:solidFill>
          <a:ln w="12700">
            <a:solidFill>
              <a:srgbClr val="DFD6C7"/>
            </a:solidFill>
            <a:prstDash val="solid"/>
          </a:ln>
        </p:spPr>
      </p:sp>
      <p:sp>
        <p:nvSpPr>
          <p:cNvPr id="24" name="Text 22"/>
          <p:cNvSpPr txBox="1"/>
          <p:nvPr/>
        </p:nvSpPr>
        <p:spPr>
          <a:xfrm>
            <a:off x="4041648" y="3685032"/>
            <a:ext cx="2043684" cy="4572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34.97</a:t>
            </a:r>
            <a:endParaRPr lang="en-US" sz="2800" dirty="0"/>
          </a:p>
        </p:txBody>
      </p:sp>
      <p:sp>
        <p:nvSpPr>
          <p:cNvPr id="25" name="Text 23"/>
          <p:cNvSpPr txBox="1"/>
          <p:nvPr/>
        </p:nvSpPr>
        <p:spPr>
          <a:xfrm>
            <a:off x="4041648" y="4087368"/>
            <a:ext cx="2043684" cy="402336"/>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sat/vB, from the run</a:t>
            </a:r>
            <a:endParaRPr lang="en-US" sz="1150" dirty="0"/>
          </a:p>
        </p:txBody>
      </p:sp>
      <p:sp>
        <p:nvSpPr>
          <p:cNvPr id="26" name="Shape 24"/>
          <p:cNvSpPr/>
          <p:nvPr/>
        </p:nvSpPr>
        <p:spPr>
          <a:xfrm>
            <a:off x="6423660" y="3611880"/>
            <a:ext cx="2263140" cy="914400"/>
          </a:xfrm>
          <a:prstGeom prst="roundRect">
            <a:avLst>
              <a:gd name="adj" fmla="val 8000"/>
            </a:avLst>
          </a:prstGeom>
          <a:solidFill>
            <a:srgbClr val="F2ECE1"/>
          </a:solidFill>
          <a:ln w="12700">
            <a:solidFill>
              <a:srgbClr val="DFD6C7"/>
            </a:solidFill>
            <a:prstDash val="solid"/>
          </a:ln>
        </p:spPr>
      </p:sp>
      <p:sp>
        <p:nvSpPr>
          <p:cNvPr id="27" name="Text 25"/>
          <p:cNvSpPr txBox="1"/>
          <p:nvPr/>
        </p:nvSpPr>
        <p:spPr>
          <a:xfrm>
            <a:off x="6533388" y="3685032"/>
            <a:ext cx="2043684" cy="4572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143</a:t>
            </a:r>
            <a:endParaRPr lang="en-US" sz="2800" dirty="0"/>
          </a:p>
        </p:txBody>
      </p:sp>
      <p:sp>
        <p:nvSpPr>
          <p:cNvPr id="28" name="Text 26"/>
          <p:cNvSpPr txBox="1"/>
          <p:nvPr/>
        </p:nvSpPr>
        <p:spPr>
          <a:xfrm>
            <a:off x="6533388" y="4087368"/>
            <a:ext cx="2043684" cy="402336"/>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virtual bytes here</a:t>
            </a:r>
            <a:endParaRPr lang="en-US" sz="115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You pay for block space - size, not amount</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30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network</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No postmaster - transactions travel by gossip</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Propagation</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Mempools</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Full and light nodes</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Explorers</a:t>
            </a:r>
            <a:pPr algn="ctr" indent="0" marL="0">
              <a:buNone/>
            </a:pPr>
            <a:endParaRPr lang="en-US" sz="1400" dirty="0"/>
          </a:p>
        </p:txBody>
      </p:sp>
      <p:pic>
        <p:nvPicPr>
          <p:cNvPr id="14" name="Image 0" descr="../../03-materials/ch02/assets/c8s06_mesh.png">    </p:cNvPr>
          <p:cNvPicPr>
            <a:picLocks noChangeAspect="1"/>
          </p:cNvPicPr>
          <p:nvPr/>
        </p:nvPicPr>
        <p:blipFill>
          <a:blip r:embed="rId1"/>
          <a:srcRect l="0" r="0" t="0" b="0"/>
          <a:stretch/>
        </p:blipFill>
        <p:spPr>
          <a:xfrm>
            <a:off x="5943600" y="1920240"/>
            <a:ext cx="2834640" cy="2286000"/>
          </a:xfrm>
          <a:prstGeom prst="rect">
            <a:avLst/>
          </a:prstGeom>
        </p:spPr>
      </p:pic>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30</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Five free bitcoins for every visitor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2010-06-11</a:t>
            </a:r>
            <a:endParaRPr lang="en-US" sz="1300" dirty="0"/>
          </a:p>
        </p:txBody>
      </p:sp>
      <p:pic>
        <p:nvPicPr>
          <p:cNvPr id="6" name="Image 0" descr="../../03-materials/ch02/assets/photo_gavin_andresen.jpg">    </p:cNvPr>
          <p:cNvPicPr>
            <a:picLocks noChangeAspect="1"/>
          </p:cNvPicPr>
          <p:nvPr/>
        </p:nvPicPr>
        <p:blipFill>
          <a:blip r:embed="rId1"/>
          <a:srcRect l="0" r="0" t="0" b="0"/>
          <a:stretch/>
        </p:blipFill>
        <p:spPr>
          <a:xfrm>
            <a:off x="457200" y="1325880"/>
            <a:ext cx="2377440" cy="2788920"/>
          </a:xfrm>
          <a:prstGeom prst="rect">
            <a:avLst/>
          </a:prstGeom>
        </p:spPr>
      </p:pic>
      <p:sp>
        <p:nvSpPr>
          <p:cNvPr id="7" name="Text 4"/>
          <p:cNvSpPr txBox="1"/>
          <p:nvPr/>
        </p:nvSpPr>
        <p:spPr>
          <a:xfrm>
            <a:off x="457200" y="4133088"/>
            <a:ext cx="23774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Gavin Andresen - photo: Stephen McCarthy / Web Summit, CC BY 2.0</a:t>
            </a:r>
            <a:endParaRPr lang="en-US" sz="900" dirty="0"/>
          </a:p>
        </p:txBody>
      </p:sp>
      <p:sp>
        <p:nvSpPr>
          <p:cNvPr id="8" name="Shape 5"/>
          <p:cNvSpPr/>
          <p:nvPr/>
        </p:nvSpPr>
        <p:spPr>
          <a:xfrm>
            <a:off x="3200400" y="1570482"/>
            <a:ext cx="128016" cy="128016"/>
          </a:xfrm>
          <a:prstGeom prst="diamond">
            <a:avLst/>
          </a:prstGeom>
          <a:solidFill>
            <a:srgbClr val="D97A14"/>
          </a:solidFill>
          <a:ln w="12700">
            <a:solidFill>
              <a:srgbClr val="D97A14"/>
            </a:solidFill>
            <a:prstDash val="solid"/>
          </a:ln>
        </p:spPr>
      </p:sp>
      <p:sp>
        <p:nvSpPr>
          <p:cNvPr id="9" name="Text 6"/>
          <p:cNvSpPr txBox="1"/>
          <p:nvPr/>
        </p:nvSpPr>
        <p:spPr>
          <a:xfrm>
            <a:off x="3474720" y="1371600"/>
            <a:ext cx="521208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June 2010: almost nowhere to buy bitcoin existed</a:t>
            </a:r>
            <a:endParaRPr lang="en-US" sz="1300" dirty="0"/>
          </a:p>
        </p:txBody>
      </p:sp>
      <p:sp>
        <p:nvSpPr>
          <p:cNvPr id="10" name="Shape 7"/>
          <p:cNvSpPr/>
          <p:nvPr/>
        </p:nvSpPr>
        <p:spPr>
          <a:xfrm>
            <a:off x="3200400" y="209626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474720" y="1897380"/>
            <a:ext cx="521208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Andresen stocked a website with 1,100 BTC of his own</a:t>
            </a:r>
            <a:endParaRPr lang="en-US" sz="1300" dirty="0"/>
          </a:p>
        </p:txBody>
      </p:sp>
      <p:sp>
        <p:nvSpPr>
          <p:cNvPr id="12" name="Shape 9"/>
          <p:cNvSpPr/>
          <p:nvPr/>
        </p:nvSpPr>
        <p:spPr>
          <a:xfrm>
            <a:off x="3200400" y="26220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474720" y="2423160"/>
            <a:ext cx="521208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Five coins free per visitor; a CAPTCHA was the only price</a:t>
            </a:r>
            <a:endParaRPr lang="en-US" sz="1300" dirty="0"/>
          </a:p>
        </p:txBody>
      </p:sp>
      <p:sp>
        <p:nvSpPr>
          <p:cNvPr id="14" name="Shape 11"/>
          <p:cNvSpPr/>
          <p:nvPr/>
        </p:nvSpPr>
        <p:spPr>
          <a:xfrm>
            <a:off x="3200400" y="31478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474720" y="2948940"/>
            <a:ext cx="521208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Thousands got their first coins - then came the exchanges</a:t>
            </a:r>
            <a:endParaRPr lang="en-US" sz="1300" dirty="0"/>
          </a:p>
        </p:txBody>
      </p:sp>
      <p:sp>
        <p:nvSpPr>
          <p:cNvPr id="16" name="Shape 13"/>
          <p:cNvSpPr/>
          <p:nvPr/>
        </p:nvSpPr>
        <p:spPr>
          <a:xfrm>
            <a:off x="3200400" y="3703320"/>
            <a:ext cx="1031443"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3291840" y="3703320"/>
            <a:ext cx="885139"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Gavin Andr…</a:t>
            </a:r>
            <a:endParaRPr lang="en-US" sz="750" dirty="0"/>
          </a:p>
        </p:txBody>
      </p:sp>
      <p:sp>
        <p:nvSpPr>
          <p:cNvPr id="18" name="Shape 15"/>
          <p:cNvSpPr/>
          <p:nvPr/>
        </p:nvSpPr>
        <p:spPr>
          <a:xfrm>
            <a:off x="4341571" y="3703320"/>
            <a:ext cx="9798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433011" y="3703320"/>
            <a:ext cx="8335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freebitco…</a:t>
            </a:r>
            <a:endParaRPr lang="en-US" sz="750" dirty="0"/>
          </a:p>
        </p:txBody>
      </p:sp>
      <p:sp>
        <p:nvSpPr>
          <p:cNvPr id="20" name="Shape 17"/>
          <p:cNvSpPr/>
          <p:nvPr/>
        </p:nvSpPr>
        <p:spPr>
          <a:xfrm>
            <a:off x="5431170" y="3703320"/>
            <a:ext cx="876727"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522610" y="3703320"/>
            <a:ext cx="73042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2010-06…</a:t>
            </a:r>
            <a:endParaRPr lang="en-US" sz="750" dirty="0"/>
          </a:p>
        </p:txBody>
      </p:sp>
      <p:sp>
        <p:nvSpPr>
          <p:cNvPr id="22" name="Shape 19"/>
          <p:cNvSpPr/>
          <p:nvPr/>
        </p:nvSpPr>
        <p:spPr>
          <a:xfrm>
            <a:off x="6417625" y="3703320"/>
            <a:ext cx="2269175"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6509065" y="3703320"/>
            <a:ext cx="2122871"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8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Get 5 free bitcoins (bitcointalk thread)</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Before exchanges, distribution itself had to be invented</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30</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transaction's journey to everyone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Gossip, hop by hop, until every mempool holds it</a:t>
            </a:r>
            <a:endParaRPr lang="en-US" sz="1300" dirty="0"/>
          </a:p>
        </p:txBody>
      </p:sp>
      <p:sp>
        <p:nvSpPr>
          <p:cNvPr id="6" name="Shape 4"/>
          <p:cNvSpPr/>
          <p:nvPr/>
        </p:nvSpPr>
        <p:spPr>
          <a:xfrm>
            <a:off x="457200" y="1463040"/>
            <a:ext cx="1700784" cy="1097280"/>
          </a:xfrm>
          <a:prstGeom prst="roundRect">
            <a:avLst>
              <a:gd name="adj" fmla="val 8333"/>
            </a:avLst>
          </a:prstGeom>
          <a:solidFill>
            <a:srgbClr val="2F6D62"/>
          </a:solidFill>
          <a:ln w="12700">
            <a:solidFill>
              <a:srgbClr val="2F6D62"/>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Alice signs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her wallet builds the tx</a:t>
            </a:r>
            <a:endParaRPr lang="en-US" sz="1250" dirty="0"/>
          </a:p>
        </p:txBody>
      </p:sp>
      <p:sp>
        <p:nvSpPr>
          <p:cNvPr id="8" name="Shape 6"/>
          <p:cNvSpPr/>
          <p:nvPr/>
        </p:nvSpPr>
        <p:spPr>
          <a:xfrm>
            <a:off x="2212848" y="201168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2F6D62"/>
          </a:solidFill>
          <a:ln w="12700">
            <a:solidFill>
              <a:srgbClr val="2F6D62"/>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One peer hears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any node will do</a:t>
            </a:r>
            <a:endParaRPr lang="en-US" sz="1250" dirty="0"/>
          </a:p>
        </p:txBody>
      </p:sp>
      <p:sp>
        <p:nvSpPr>
          <p:cNvPr id="11" name="Shape 9"/>
          <p:cNvSpPr/>
          <p:nvPr/>
        </p:nvSpPr>
        <p:spPr>
          <a:xfrm>
            <a:off x="4389120" y="201168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2F6D62"/>
          </a:solidFill>
          <a:ln w="12700">
            <a:solidFill>
              <a:srgbClr val="2F6D62"/>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Gossip</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each peer tells its peers</a:t>
            </a:r>
            <a:endParaRPr lang="en-US" sz="1250" dirty="0"/>
          </a:p>
        </p:txBody>
      </p:sp>
      <p:sp>
        <p:nvSpPr>
          <p:cNvPr id="14" name="Shape 12"/>
          <p:cNvSpPr/>
          <p:nvPr/>
        </p:nvSpPr>
        <p:spPr>
          <a:xfrm>
            <a:off x="6565392" y="201168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2F6D62"/>
          </a:solidFill>
          <a:ln w="12700">
            <a:solidFill>
              <a:srgbClr val="2F6D62"/>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Every mempool</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seconds later</a:t>
            </a:r>
            <a:endParaRPr lang="en-US" sz="1250" dirty="0"/>
          </a:p>
        </p:txBody>
      </p:sp>
      <p:sp>
        <p:nvSpPr>
          <p:cNvPr id="17" name="Shape 15"/>
          <p:cNvSpPr/>
          <p:nvPr/>
        </p:nvSpPr>
        <p:spPr>
          <a:xfrm>
            <a:off x="457200" y="2871216"/>
            <a:ext cx="402336" cy="402336"/>
          </a:xfrm>
          <a:prstGeom prst="ellipse">
            <a:avLst/>
          </a:prstGeom>
          <a:solidFill>
            <a:srgbClr val="D97A14"/>
          </a:solidFill>
          <a:ln w="12700">
            <a:solidFill>
              <a:srgbClr val="D97A14"/>
            </a:solidFill>
            <a:prstDash val="solid"/>
          </a:ln>
        </p:spPr>
      </p:sp>
      <p:sp>
        <p:nvSpPr>
          <p:cNvPr id="18" name="Text 16"/>
          <p:cNvSpPr txBox="1"/>
          <p:nvPr/>
        </p:nvSpPr>
        <p:spPr>
          <a:xfrm>
            <a:off x="457200" y="28712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9" name="Text 17"/>
          <p:cNvSpPr txBox="1"/>
          <p:nvPr/>
        </p:nvSpPr>
        <p:spPr>
          <a:xfrm>
            <a:off x="1024128" y="2834640"/>
            <a:ext cx="2724912" cy="3596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No central dispatcher - the whisper network is the mail</a:t>
            </a:r>
            <a:endParaRPr lang="en-US" sz="1050" dirty="0"/>
          </a:p>
        </p:txBody>
      </p:sp>
      <p:sp>
        <p:nvSpPr>
          <p:cNvPr id="20" name="Shape 18"/>
          <p:cNvSpPr/>
          <p:nvPr/>
        </p:nvSpPr>
        <p:spPr>
          <a:xfrm>
            <a:off x="457200" y="3267456"/>
            <a:ext cx="402336" cy="402336"/>
          </a:xfrm>
          <a:prstGeom prst="ellipse">
            <a:avLst/>
          </a:prstGeom>
          <a:solidFill>
            <a:srgbClr val="D97A14"/>
          </a:solidFill>
          <a:ln w="12700">
            <a:solidFill>
              <a:srgbClr val="D97A14"/>
            </a:solidFill>
            <a:prstDash val="solid"/>
          </a:ln>
        </p:spPr>
      </p:sp>
      <p:sp>
        <p:nvSpPr>
          <p:cNvPr id="21" name="Text 19"/>
          <p:cNvSpPr txBox="1"/>
          <p:nvPr/>
        </p:nvSpPr>
        <p:spPr>
          <a:xfrm>
            <a:off x="457200" y="3267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2" name="Text 20"/>
          <p:cNvSpPr txBox="1"/>
          <p:nvPr/>
        </p:nvSpPr>
        <p:spPr>
          <a:xfrm>
            <a:off x="1024128" y="3230880"/>
            <a:ext cx="2724912" cy="3596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Bob sees it unconfirmed within seconds</a:t>
            </a:r>
            <a:endParaRPr lang="en-US" sz="1050" dirty="0"/>
          </a:p>
        </p:txBody>
      </p:sp>
      <p:sp>
        <p:nvSpPr>
          <p:cNvPr id="23" name="Shape 21"/>
          <p:cNvSpPr/>
          <p:nvPr/>
        </p:nvSpPr>
        <p:spPr>
          <a:xfrm>
            <a:off x="457200" y="3663696"/>
            <a:ext cx="402336" cy="402336"/>
          </a:xfrm>
          <a:prstGeom prst="ellipse">
            <a:avLst/>
          </a:prstGeom>
          <a:solidFill>
            <a:srgbClr val="D97A14"/>
          </a:solidFill>
          <a:ln w="12700">
            <a:solidFill>
              <a:srgbClr val="D97A14"/>
            </a:solidFill>
            <a:prstDash val="solid"/>
          </a:ln>
        </p:spPr>
      </p:sp>
      <p:sp>
        <p:nvSpPr>
          <p:cNvPr id="24" name="Text 22"/>
          <p:cNvSpPr txBox="1"/>
          <p:nvPr/>
        </p:nvSpPr>
        <p:spPr>
          <a:xfrm>
            <a:off x="457200" y="36636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5" name="Text 23"/>
          <p:cNvSpPr txBox="1"/>
          <p:nvPr/>
        </p:nvSpPr>
        <p:spPr>
          <a:xfrm>
            <a:off x="1024128" y="3627120"/>
            <a:ext cx="2724912" cy="3596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It waits in mempools until a miner picks it</a:t>
            </a:r>
            <a:endParaRPr lang="en-US" sz="1050" dirty="0"/>
          </a:p>
        </p:txBody>
      </p:sp>
      <p:sp>
        <p:nvSpPr>
          <p:cNvPr id="26" name="Text 24"/>
          <p:cNvSpPr txBox="1"/>
          <p:nvPr/>
        </p:nvSpPr>
        <p:spPr>
          <a:xfrm>
            <a:off x="3931920" y="251460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hops counted by the run</a:t>
            </a:r>
            <a:endParaRPr lang="en-US" sz="1150" dirty="0"/>
          </a:p>
        </p:txBody>
      </p:sp>
      <p:sp>
        <p:nvSpPr>
          <p:cNvPr id="27" name="Shape 25"/>
          <p:cNvSpPr/>
          <p:nvPr/>
        </p:nvSpPr>
        <p:spPr>
          <a:xfrm>
            <a:off x="3931920" y="2788920"/>
            <a:ext cx="4754880" cy="914400"/>
          </a:xfrm>
          <a:prstGeom prst="roundRect">
            <a:avLst>
              <a:gd name="adj" fmla="val 10000"/>
            </a:avLst>
          </a:prstGeom>
          <a:solidFill>
            <a:srgbClr val="23272E"/>
          </a:solidFill>
          <a:ln w="12700">
            <a:solidFill>
              <a:srgbClr val="23272E"/>
            </a:solidFill>
            <a:prstDash val="solid"/>
          </a:ln>
        </p:spPr>
      </p:sp>
      <p:sp>
        <p:nvSpPr>
          <p:cNvPr id="28" name="Text 26"/>
          <p:cNvSpPr txBox="1"/>
          <p:nvPr/>
        </p:nvSpPr>
        <p:spPr>
          <a:xfrm>
            <a:off x="4114800" y="2907792"/>
            <a:ext cx="4389120" cy="67665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sec, nodes = 5, 10000</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round(nodes / sec)</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2000</a:t>
            </a:r>
            <a:endParaRPr lang="en-US" sz="950" dirty="0"/>
          </a:p>
        </p:txBody>
      </p:sp>
      <p:sp>
        <p:nvSpPr>
          <p:cNvPr id="29" name="Text 27"/>
          <p:cNvSpPr txBox="1"/>
          <p:nvPr/>
        </p:nvSpPr>
        <p:spPr>
          <a:xfrm>
            <a:off x="3931920" y="3721608"/>
            <a:ext cx="47548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pic>
        <p:nvPicPr>
          <p:cNvPr id="30" name="Image 0" descr="../../03-materials/ch02/assets/shot_bitcoinqt_0_5_2.png">    </p:cNvPr>
          <p:cNvPicPr>
            <a:picLocks noChangeAspect="1"/>
          </p:cNvPicPr>
          <p:nvPr/>
        </p:nvPicPr>
        <p:blipFill>
          <a:blip r:embed="rId1"/>
          <a:srcRect l="0" r="0" t="0" b="0"/>
          <a:stretch/>
        </p:blipFill>
        <p:spPr>
          <a:xfrm>
            <a:off x="3931920" y="3840480"/>
            <a:ext cx="2103120" cy="658368"/>
          </a:xfrm>
          <a:prstGeom prst="rect">
            <a:avLst/>
          </a:prstGeom>
        </p:spPr>
      </p:pic>
      <p:sp>
        <p:nvSpPr>
          <p:cNvPr id="31"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Four seconds of gossip puts Alice's payment in every mempool</a:t>
            </a:r>
            <a:endParaRPr lang="en-US" sz="1350" dirty="0"/>
          </a:p>
        </p:txBody>
      </p:sp>
      <p:sp>
        <p:nvSpPr>
          <p:cNvPr id="33"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30</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Who checks? Everyone who wants to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Full nodes verify history; light clients verify proofs</a:t>
            </a:r>
            <a:endParaRPr lang="en-US" sz="1300" dirty="0"/>
          </a:p>
        </p:txBody>
      </p:sp>
      <p:sp>
        <p:nvSpPr>
          <p:cNvPr id="6" name="Shape 4"/>
          <p:cNvSpPr/>
          <p:nvPr/>
        </p:nvSpPr>
        <p:spPr>
          <a:xfrm>
            <a:off x="457200" y="1463040"/>
            <a:ext cx="3931920" cy="2103120"/>
          </a:xfrm>
          <a:prstGeom prst="roundRect">
            <a:avLst>
              <a:gd name="adj" fmla="val 4348"/>
            </a:avLst>
          </a:prstGeom>
          <a:solidFill>
            <a:srgbClr val="F2ECE1"/>
          </a:solidFill>
          <a:ln w="15875">
            <a:solidFill>
              <a:srgbClr val="D97A14"/>
            </a:solidFill>
            <a:prstDash val="solid"/>
          </a:ln>
        </p:spPr>
      </p:sp>
      <p:sp>
        <p:nvSpPr>
          <p:cNvPr id="7" name="Text 5"/>
          <p:cNvSpPr txBox="1"/>
          <p:nvPr/>
        </p:nvSpPr>
        <p:spPr>
          <a:xfrm>
            <a:off x="640080" y="157276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Full node</a:t>
            </a:r>
            <a:endParaRPr lang="en-US" sz="1500" dirty="0"/>
          </a:p>
        </p:txBody>
      </p:sp>
      <p:sp>
        <p:nvSpPr>
          <p:cNvPr id="8" name="Text 6"/>
          <p:cNvSpPr txBox="1"/>
          <p:nvPr/>
        </p:nvSpPr>
        <p:spPr>
          <a:xfrm>
            <a:off x="640080" y="1993392"/>
            <a:ext cx="3566160" cy="144475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Downloads and checks every block since 2009</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Trusts nobody - recomputes all the rules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Serves the network; needs disk and patience</a:t>
            </a:r>
            <a:endParaRPr lang="en-US" sz="1250" dirty="0"/>
          </a:p>
        </p:txBody>
      </p:sp>
      <p:sp>
        <p:nvSpPr>
          <p:cNvPr id="9" name="Shape 7"/>
          <p:cNvSpPr/>
          <p:nvPr/>
        </p:nvSpPr>
        <p:spPr>
          <a:xfrm>
            <a:off x="4754880" y="1463040"/>
            <a:ext cx="3931920" cy="2103120"/>
          </a:xfrm>
          <a:prstGeom prst="roundRect">
            <a:avLst>
              <a:gd name="adj" fmla="val 4348"/>
            </a:avLst>
          </a:prstGeom>
          <a:solidFill>
            <a:srgbClr val="F2ECE1"/>
          </a:solidFill>
          <a:ln w="15875">
            <a:solidFill>
              <a:srgbClr val="2F6D62"/>
            </a:solidFill>
            <a:prstDash val="solid"/>
          </a:ln>
        </p:spPr>
      </p:sp>
      <p:sp>
        <p:nvSpPr>
          <p:cNvPr id="10" name="Text 8"/>
          <p:cNvSpPr txBox="1"/>
          <p:nvPr/>
        </p:nvSpPr>
        <p:spPr>
          <a:xfrm>
            <a:off x="4937760" y="157276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Lightweight client</a:t>
            </a:r>
            <a:endParaRPr lang="en-US" sz="1500" dirty="0"/>
          </a:p>
        </p:txBody>
      </p:sp>
      <p:sp>
        <p:nvSpPr>
          <p:cNvPr id="11" name="Text 9"/>
          <p:cNvSpPr txBox="1"/>
          <p:nvPr/>
        </p:nvSpPr>
        <p:spPr>
          <a:xfrm>
            <a:off x="4937760" y="1993392"/>
            <a:ext cx="3566160" cy="144475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Keeps headers only - megabytes, not gigabytes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Verifies proofs that a tx sits in a block</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Perfect for phones; trusts the strongest chain</a:t>
            </a:r>
            <a:endParaRPr lang="en-US" sz="1250" dirty="0"/>
          </a:p>
        </p:txBody>
      </p:sp>
      <p:sp>
        <p:nvSpPr>
          <p:cNvPr id="12" name="Text 10"/>
          <p:cNvSpPr txBox="1"/>
          <p:nvPr/>
        </p:nvSpPr>
        <p:spPr>
          <a:xfrm>
            <a:off x="457200" y="34747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checklist a full node runs on every block</a:t>
            </a:r>
            <a:endParaRPr lang="en-US" sz="1150" dirty="0"/>
          </a:p>
        </p:txBody>
      </p:sp>
      <p:sp>
        <p:nvSpPr>
          <p:cNvPr id="13" name="Shape 11"/>
          <p:cNvSpPr/>
          <p:nvPr/>
        </p:nvSpPr>
        <p:spPr>
          <a:xfrm>
            <a:off x="457200" y="3749040"/>
            <a:ext cx="8229600" cy="731520"/>
          </a:xfrm>
          <a:prstGeom prst="roundRect">
            <a:avLst>
              <a:gd name="adj" fmla="val 12500"/>
            </a:avLst>
          </a:prstGeom>
          <a:solidFill>
            <a:srgbClr val="23272E"/>
          </a:solidFill>
          <a:ln w="12700">
            <a:solidFill>
              <a:srgbClr val="23272E"/>
            </a:solidFill>
            <a:prstDash val="solid"/>
          </a:ln>
        </p:spPr>
      </p:sp>
      <p:sp>
        <p:nvSpPr>
          <p:cNvPr id="14" name="Text 12"/>
          <p:cNvSpPr txBox="1"/>
          <p:nvPr/>
        </p:nvSpPr>
        <p:spPr>
          <a:xfrm>
            <a:off x="640080" y="3867912"/>
            <a:ext cx="7863840" cy="493776"/>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checks = {'syntax': True, 'inputs_nonempty': True, 'amounts_in_range': True, 'outputs_unspent': True, 'scripts_valid': True}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all(checks.values()) and len(checks)</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5</a:t>
            </a:r>
            <a:endParaRPr lang="en-US" sz="800" dirty="0"/>
          </a:p>
        </p:txBody>
      </p:sp>
      <p:sp>
        <p:nvSpPr>
          <p:cNvPr id="15" name="Text 13"/>
          <p:cNvSpPr txBox="1"/>
          <p:nvPr/>
        </p:nvSpPr>
        <p:spPr>
          <a:xfrm>
            <a:off x="457200" y="44988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Full nodes verify; light clients trust proofs, not people</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30</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Watch any transaction live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ledger is public - explorers are windows on it</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Paste any txid into an explorer and watch it confirm</a:t>
            </a:r>
            <a:endParaRPr lang="en-US" sz="1050" dirty="0"/>
          </a:p>
        </p:txBody>
      </p:sp>
      <p:sp>
        <p:nvSpPr>
          <p:cNvPr id="9" name="Shape 7"/>
          <p:cNvSpPr/>
          <p:nvPr/>
        </p:nvSpPr>
        <p:spPr>
          <a:xfrm>
            <a:off x="457200" y="203301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33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6440"/>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Chapter 1's genesis bytes came from such an API</a:t>
            </a:r>
            <a:endParaRPr lang="en-US" sz="1050" dirty="0"/>
          </a:p>
        </p:txBody>
      </p:sp>
      <p:sp>
        <p:nvSpPr>
          <p:cNvPr id="12" name="Shape 10"/>
          <p:cNvSpPr/>
          <p:nvPr/>
        </p:nvSpPr>
        <p:spPr>
          <a:xfrm>
            <a:off x="457200" y="256641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5664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29840"/>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Same data, three windows: your node, a site, an API</a:t>
            </a:r>
            <a:endParaRPr lang="en-US" sz="1050" dirty="0"/>
          </a:p>
        </p:txBody>
      </p:sp>
      <p:sp>
        <p:nvSpPr>
          <p:cNvPr id="15" name="Text 13"/>
          <p:cNvSpPr txBox="1"/>
          <p:nvPr/>
        </p:nvSpPr>
        <p:spPr>
          <a:xfrm>
            <a:off x="3931920" y="1243584"/>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what an explorer answers, computed by the run</a:t>
            </a:r>
            <a:endParaRPr lang="en-US" sz="1150" dirty="0"/>
          </a:p>
        </p:txBody>
      </p:sp>
      <p:sp>
        <p:nvSpPr>
          <p:cNvPr id="16" name="Shape 14"/>
          <p:cNvSpPr/>
          <p:nvPr/>
        </p:nvSpPr>
        <p:spPr>
          <a:xfrm>
            <a:off x="3931920" y="1517904"/>
            <a:ext cx="4754880" cy="1188720"/>
          </a:xfrm>
          <a:prstGeom prst="roundRect">
            <a:avLst>
              <a:gd name="adj" fmla="val 7692"/>
            </a:avLst>
          </a:prstGeom>
          <a:solidFill>
            <a:srgbClr val="23272E"/>
          </a:solidFill>
          <a:ln w="12700">
            <a:solidFill>
              <a:srgbClr val="23272E"/>
            </a:solidFill>
            <a:prstDash val="solid"/>
          </a:ln>
        </p:spPr>
      </p:sp>
      <p:sp>
        <p:nvSpPr>
          <p:cNvPr id="17" name="Text 15"/>
          <p:cNvSpPr txBox="1"/>
          <p:nvPr/>
        </p:nvSpPr>
        <p:spPr>
          <a:xfrm>
            <a:off x="4114800" y="1636776"/>
            <a:ext cx="4389120" cy="950976"/>
          </a:xfrm>
          <a:prstGeom prst="rect">
            <a:avLst/>
          </a:prstGeom>
          <a:noFill/>
          <a:ln/>
        </p:spPr>
        <p:txBody>
          <a:bodyPr wrap="square" lIns="0" tIns="0" rIns="0" bIns="0" rtlCol="0" anchor="t"/>
          <a:lstStyle/>
          <a:p>
            <a:pPr indent="0" marL="0">
              <a:buNone/>
            </a:pPr>
            <a:r>
              <a:rPr lang="en-US" sz="730" b="1" dirty="0">
                <a:solidFill>
                  <a:srgbClr val="D97A14"/>
                </a:solidFill>
                <a:latin typeface="Courier New" pitchFamily="34" charset="0"/>
                <a:ea typeface="Courier New" pitchFamily="34" charset="-122"/>
                <a:cs typeface="Courier New" pitchFamily="34" charset="-120"/>
              </a:rPr>
              <a:t>&gt;&gt;&gt; </a:t>
            </a:r>
            <a:pPr indent="0" marL="0">
              <a:buNone/>
            </a:pPr>
            <a:r>
              <a:rPr lang="en-US" sz="730" dirty="0">
                <a:solidFill>
                  <a:srgbClr val="E6EDF3"/>
                </a:solidFill>
                <a:latin typeface="Courier New" pitchFamily="34" charset="0"/>
                <a:ea typeface="Courier New" pitchFamily="34" charset="-122"/>
                <a:cs typeface="Courier New" pitchFamily="34" charset="-120"/>
              </a:rPr>
              <a:t>q = '466200308696215bbc949d5141a49a4138ecdfdfaa2a8029c1f9bcecd1f96177'</a:t>
            </a:r>
            <a:endParaRPr lang="en-US" sz="730" dirty="0"/>
          </a:p>
          <a:p>
            <a:pPr indent="0" marL="0">
              <a:buNone/>
            </a:pPr>
            <a:r>
              <a:rPr lang="en-US" sz="730" b="1" dirty="0">
                <a:solidFill>
                  <a:srgbClr val="D97A14"/>
                </a:solidFill>
                <a:latin typeface="Courier New" pitchFamily="34" charset="0"/>
                <a:ea typeface="Courier New" pitchFamily="34" charset="-122"/>
                <a:cs typeface="Courier New" pitchFamily="34" charset="-120"/>
              </a:rPr>
              <a:t>&gt;&gt;&gt; </a:t>
            </a:r>
            <a:pPr indent="0" marL="0">
              <a:buNone/>
            </a:pPr>
            <a:r>
              <a:rPr lang="en-US" sz="730" dirty="0">
                <a:solidFill>
                  <a:srgbClr val="E6EDF3"/>
                </a:solidFill>
                <a:latin typeface="Courier New" pitchFamily="34" charset="0"/>
                <a:ea typeface="Courier New" pitchFamily="34" charset="-122"/>
                <a:cs typeface="Courier New" pitchFamily="34" charset="-120"/>
              </a:rPr>
              <a:t>'txid' if len(q) == 64 else 'address' if q.startswith('bc1') else 'height'</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'txid'</a:t>
            </a:r>
            <a:endParaRPr lang="en-US" sz="730" dirty="0"/>
          </a:p>
        </p:txBody>
      </p:sp>
      <p:sp>
        <p:nvSpPr>
          <p:cNvPr id="18" name="Text 16"/>
          <p:cNvSpPr txBox="1"/>
          <p:nvPr/>
        </p:nvSpPr>
        <p:spPr>
          <a:xfrm>
            <a:off x="3931920" y="2724912"/>
            <a:ext cx="47548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9" name="Shape 17"/>
          <p:cNvSpPr/>
          <p:nvPr/>
        </p:nvSpPr>
        <p:spPr>
          <a:xfrm>
            <a:off x="457200" y="3566160"/>
            <a:ext cx="2161184" cy="420624"/>
          </a:xfrm>
          <a:prstGeom prst="roundRect">
            <a:avLst>
              <a:gd name="adj" fmla="val 50000"/>
            </a:avLst>
          </a:prstGeom>
          <a:solidFill>
            <a:srgbClr val="F2ECE1"/>
          </a:solidFill>
          <a:ln w="12700">
            <a:solidFill>
              <a:srgbClr val="D97A14"/>
            </a:solidFill>
            <a:prstDash val="solid"/>
          </a:ln>
        </p:spPr>
      </p:sp>
      <p:sp>
        <p:nvSpPr>
          <p:cNvPr id="20" name="Text 18"/>
          <p:cNvSpPr txBox="1"/>
          <p:nvPr/>
        </p:nvSpPr>
        <p:spPr>
          <a:xfrm>
            <a:off x="457200" y="3566160"/>
            <a:ext cx="2161184"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mempool.space</a:t>
            </a:r>
            <a:endParaRPr lang="en-US" sz="1300" dirty="0"/>
          </a:p>
        </p:txBody>
      </p:sp>
      <p:sp>
        <p:nvSpPr>
          <p:cNvPr id="21" name="Shape 19"/>
          <p:cNvSpPr/>
          <p:nvPr/>
        </p:nvSpPr>
        <p:spPr>
          <a:xfrm>
            <a:off x="2819552" y="3566160"/>
            <a:ext cx="2571293" cy="420624"/>
          </a:xfrm>
          <a:prstGeom prst="roundRect">
            <a:avLst>
              <a:gd name="adj" fmla="val 50000"/>
            </a:avLst>
          </a:prstGeom>
          <a:solidFill>
            <a:srgbClr val="F2ECE1"/>
          </a:solidFill>
          <a:ln w="12700">
            <a:solidFill>
              <a:srgbClr val="D97A14"/>
            </a:solidFill>
            <a:prstDash val="solid"/>
          </a:ln>
        </p:spPr>
      </p:sp>
      <p:sp>
        <p:nvSpPr>
          <p:cNvPr id="22" name="Text 20"/>
          <p:cNvSpPr txBox="1"/>
          <p:nvPr/>
        </p:nvSpPr>
        <p:spPr>
          <a:xfrm>
            <a:off x="2819552" y="3566160"/>
            <a:ext cx="2571293"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blockstream.info</a:t>
            </a:r>
            <a:endParaRPr lang="en-US" sz="1300" dirty="0"/>
          </a:p>
        </p:txBody>
      </p:sp>
      <p:sp>
        <p:nvSpPr>
          <p:cNvPr id="23" name="Shape 21"/>
          <p:cNvSpPr/>
          <p:nvPr/>
        </p:nvSpPr>
        <p:spPr>
          <a:xfrm>
            <a:off x="5592013" y="3566160"/>
            <a:ext cx="2161184" cy="420624"/>
          </a:xfrm>
          <a:prstGeom prst="roundRect">
            <a:avLst>
              <a:gd name="adj" fmla="val 50000"/>
            </a:avLst>
          </a:prstGeom>
          <a:solidFill>
            <a:srgbClr val="F2ECE1"/>
          </a:solidFill>
          <a:ln w="12700">
            <a:solidFill>
              <a:srgbClr val="D97A14"/>
            </a:solidFill>
            <a:prstDash val="solid"/>
          </a:ln>
        </p:spPr>
      </p:sp>
      <p:sp>
        <p:nvSpPr>
          <p:cNvPr id="24" name="Text 22"/>
          <p:cNvSpPr txBox="1"/>
          <p:nvPr/>
        </p:nvSpPr>
        <p:spPr>
          <a:xfrm>
            <a:off x="5592013" y="3566160"/>
            <a:ext cx="2161184"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your own node</a:t>
            </a:r>
            <a:endParaRPr lang="en-US" sz="130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ledger is public - explorers are just viewers on it</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30</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Blockchain and mining</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How the next page of history gets written</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Proof-of-work</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Blocks and Merkle trees</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coinbase</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Confirmations</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30</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Mining: hard to win, instant to verify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sudoku in reverse - and the run finds a real nonce</a:t>
            </a:r>
            <a:endParaRPr lang="en-US" sz="1300" dirty="0"/>
          </a:p>
        </p:txBody>
      </p:sp>
      <p:sp>
        <p:nvSpPr>
          <p:cNvPr id="6" name="Shape 4"/>
          <p:cNvSpPr/>
          <p:nvPr/>
        </p:nvSpPr>
        <p:spPr>
          <a:xfrm>
            <a:off x="457200" y="1554480"/>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17904"/>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Guess a nonce, hash the block, hope the digest is small</a:t>
            </a:r>
            <a:endParaRPr lang="en-US" sz="1050" dirty="0"/>
          </a:p>
        </p:txBody>
      </p:sp>
      <p:sp>
        <p:nvSpPr>
          <p:cNvPr id="9" name="Shape 7"/>
          <p:cNvSpPr/>
          <p:nvPr/>
        </p:nvSpPr>
        <p:spPr>
          <a:xfrm>
            <a:off x="457200" y="213360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13360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97024"/>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Like sudoku: hours to solve, seconds to check</a:t>
            </a:r>
            <a:endParaRPr lang="en-US" sz="1050" dirty="0"/>
          </a:p>
        </p:txBody>
      </p:sp>
      <p:sp>
        <p:nvSpPr>
          <p:cNvPr id="12" name="Shape 10"/>
          <p:cNvSpPr/>
          <p:nvPr/>
        </p:nvSpPr>
        <p:spPr>
          <a:xfrm>
            <a:off x="457200" y="271272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127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76144"/>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run really searches - and finds 6,630</a:t>
            </a:r>
            <a:endParaRPr lang="en-US" sz="1050" dirty="0"/>
          </a:p>
        </p:txBody>
      </p:sp>
      <p:sp>
        <p:nvSpPr>
          <p:cNvPr id="15" name="Shape 13"/>
          <p:cNvSpPr/>
          <p:nvPr/>
        </p:nvSpPr>
        <p:spPr>
          <a:xfrm flipV="1">
            <a:off x="3977640" y="1463040"/>
            <a:ext cx="4663440" cy="210312"/>
          </a:xfrm>
          <a:prstGeom prst="trapezoid">
            <a:avLst/>
          </a:prstGeom>
          <a:solidFill>
            <a:srgbClr val="2F6D62"/>
          </a:solidFill>
          <a:ln w="12700">
            <a:solidFill>
              <a:srgbClr val="FFFFFF"/>
            </a:solidFill>
            <a:prstDash val="solid"/>
          </a:ln>
        </p:spPr>
      </p:sp>
      <p:sp>
        <p:nvSpPr>
          <p:cNvPr id="16" name="Text 14"/>
          <p:cNvSpPr txBox="1"/>
          <p:nvPr/>
        </p:nvSpPr>
        <p:spPr>
          <a:xfrm>
            <a:off x="3977640" y="1463040"/>
            <a:ext cx="4663440" cy="21031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try nonce 0, 1, 2, ...</a:t>
            </a:r>
            <a:endParaRPr lang="en-US" sz="1050" dirty="0"/>
          </a:p>
        </p:txBody>
      </p:sp>
      <p:sp>
        <p:nvSpPr>
          <p:cNvPr id="17" name="Shape 15"/>
          <p:cNvSpPr/>
          <p:nvPr/>
        </p:nvSpPr>
        <p:spPr>
          <a:xfrm flipV="1">
            <a:off x="4397350" y="1783080"/>
            <a:ext cx="3824021" cy="210312"/>
          </a:xfrm>
          <a:prstGeom prst="trapezoid">
            <a:avLst/>
          </a:prstGeom>
          <a:solidFill>
            <a:srgbClr val="2F6D62"/>
          </a:solidFill>
          <a:ln w="12700">
            <a:solidFill>
              <a:srgbClr val="FFFFFF"/>
            </a:solidFill>
            <a:prstDash val="solid"/>
          </a:ln>
        </p:spPr>
      </p:sp>
      <p:sp>
        <p:nvSpPr>
          <p:cNvPr id="18" name="Text 16"/>
          <p:cNvSpPr txBox="1"/>
          <p:nvPr/>
        </p:nvSpPr>
        <p:spPr>
          <a:xfrm>
            <a:off x="4397350" y="1783080"/>
            <a:ext cx="3824021" cy="21031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hash each candidate</a:t>
            </a:r>
            <a:endParaRPr lang="en-US" sz="1050" dirty="0"/>
          </a:p>
        </p:txBody>
      </p:sp>
      <p:sp>
        <p:nvSpPr>
          <p:cNvPr id="19" name="Shape 17"/>
          <p:cNvSpPr/>
          <p:nvPr/>
        </p:nvSpPr>
        <p:spPr>
          <a:xfrm flipV="1">
            <a:off x="4817059" y="2103120"/>
            <a:ext cx="2984602" cy="210312"/>
          </a:xfrm>
          <a:prstGeom prst="trapezoid">
            <a:avLst/>
          </a:prstGeom>
          <a:solidFill>
            <a:srgbClr val="2F6D62"/>
          </a:solidFill>
          <a:ln w="12700">
            <a:solidFill>
              <a:srgbClr val="FFFFFF"/>
            </a:solidFill>
            <a:prstDash val="solid"/>
          </a:ln>
        </p:spPr>
      </p:sp>
      <p:sp>
        <p:nvSpPr>
          <p:cNvPr id="20" name="Text 18"/>
          <p:cNvSpPr txBox="1"/>
          <p:nvPr/>
        </p:nvSpPr>
        <p:spPr>
          <a:xfrm>
            <a:off x="4817059" y="2103120"/>
            <a:ext cx="2984602" cy="21031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most fail the target</a:t>
            </a:r>
            <a:endParaRPr lang="en-US" sz="1050" dirty="0"/>
          </a:p>
        </p:txBody>
      </p:sp>
      <p:sp>
        <p:nvSpPr>
          <p:cNvPr id="21" name="Shape 19"/>
          <p:cNvSpPr/>
          <p:nvPr/>
        </p:nvSpPr>
        <p:spPr>
          <a:xfrm flipV="1">
            <a:off x="5236769" y="2423160"/>
            <a:ext cx="2145182" cy="210312"/>
          </a:xfrm>
          <a:prstGeom prst="trapezoid">
            <a:avLst/>
          </a:prstGeom>
          <a:solidFill>
            <a:srgbClr val="D97A14"/>
          </a:solidFill>
          <a:ln w="12700">
            <a:solidFill>
              <a:srgbClr val="FFFFFF"/>
            </a:solidFill>
            <a:prstDash val="solid"/>
          </a:ln>
        </p:spPr>
      </p:sp>
      <p:sp>
        <p:nvSpPr>
          <p:cNvPr id="22" name="Text 20"/>
          <p:cNvSpPr txBox="1"/>
          <p:nvPr/>
        </p:nvSpPr>
        <p:spPr>
          <a:xfrm>
            <a:off x="5236769" y="2423160"/>
            <a:ext cx="2145182" cy="2103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6,630 clears it</a:t>
            </a:r>
            <a:endParaRPr lang="en-US" sz="1050" dirty="0"/>
          </a:p>
        </p:txBody>
      </p:sp>
      <p:sp>
        <p:nvSpPr>
          <p:cNvPr id="23" name="Text 21"/>
          <p:cNvSpPr txBox="1"/>
          <p:nvPr/>
        </p:nvSpPr>
        <p:spPr>
          <a:xfrm>
            <a:off x="3977640" y="2779776"/>
            <a:ext cx="46634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nonce found: 6630 - anyone re-checks it in one hash</a:t>
            </a:r>
            <a:endParaRPr lang="en-US" sz="1050" dirty="0"/>
          </a:p>
        </p:txBody>
      </p:sp>
      <p:sp>
        <p:nvSpPr>
          <p:cNvPr id="24" name="Text 22"/>
          <p:cNvSpPr txBox="1"/>
          <p:nvPr/>
        </p:nvSpPr>
        <p:spPr>
          <a:xfrm>
            <a:off x="457200" y="31546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search, exactly as the slide claims it</a:t>
            </a:r>
            <a:endParaRPr lang="en-US" sz="1150" dirty="0"/>
          </a:p>
        </p:txBody>
      </p:sp>
      <p:sp>
        <p:nvSpPr>
          <p:cNvPr id="25" name="Shape 23"/>
          <p:cNvSpPr/>
          <p:nvPr/>
        </p:nvSpPr>
        <p:spPr>
          <a:xfrm>
            <a:off x="457200" y="3429000"/>
            <a:ext cx="8229600" cy="1005840"/>
          </a:xfrm>
          <a:prstGeom prst="roundRect">
            <a:avLst>
              <a:gd name="adj" fmla="val 9091"/>
            </a:avLst>
          </a:prstGeom>
          <a:solidFill>
            <a:srgbClr val="23272E"/>
          </a:solidFill>
          <a:ln w="12700">
            <a:solidFill>
              <a:srgbClr val="23272E"/>
            </a:solidFill>
            <a:prstDash val="solid"/>
          </a:ln>
        </p:spPr>
      </p:sp>
      <p:sp>
        <p:nvSpPr>
          <p:cNvPr id="26" name="Text 24"/>
          <p:cNvSpPr txBox="1"/>
          <p:nvPr/>
        </p:nvSpPr>
        <p:spPr>
          <a:xfrm>
            <a:off x="640080" y="3547872"/>
            <a:ext cx="7863840" cy="76809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h = hashlib.sha256</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next(n for n in range(200000) if h(('1' + str(n) + 'Alice pays Bob 75000').encode()).hexdigest().startswith('0000'))</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6630</a:t>
            </a:r>
            <a:endParaRPr lang="en-US" sz="850" dirty="0"/>
          </a:p>
        </p:txBody>
      </p:sp>
      <p:sp>
        <p:nvSpPr>
          <p:cNvPr id="27" name="Text 25"/>
          <p:cNvSpPr txBox="1"/>
          <p:nvPr/>
        </p:nvSpPr>
        <p:spPr>
          <a:xfrm>
            <a:off x="457200" y="445312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Proof-of-work is a lottery whose ticket anyone can check</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30</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block, anatomized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80 bytes of header summarize everything beneath</a:t>
            </a:r>
            <a:endParaRPr lang="en-US" sz="1300" dirty="0"/>
          </a:p>
        </p:txBody>
      </p:sp>
      <p:pic>
        <p:nvPicPr>
          <p:cNvPr id="6" name="Image 0" descr="../../03-materials/ch02/assets/mbc3_0207.png">    </p:cNvPr>
          <p:cNvPicPr>
            <a:picLocks noChangeAspect="1"/>
          </p:cNvPicPr>
          <p:nvPr/>
        </p:nvPicPr>
        <p:blipFill>
          <a:blip r:embed="rId1"/>
          <a:srcRect l="0" r="0" t="0" b="0"/>
          <a:stretch/>
        </p:blipFill>
        <p:spPr>
          <a:xfrm>
            <a:off x="457200" y="1325880"/>
            <a:ext cx="2834640" cy="3154680"/>
          </a:xfrm>
          <a:prstGeom prst="rect">
            <a:avLst/>
          </a:prstGeom>
        </p:spPr>
      </p:pic>
      <p:sp>
        <p:nvSpPr>
          <p:cNvPr id="7" name="Text 4"/>
          <p:cNvSpPr txBox="1"/>
          <p:nvPr/>
        </p:nvSpPr>
        <p:spPr>
          <a:xfrm>
            <a:off x="457200" y="449884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Alice's tx inside a block - Mastering Bitcoin 3e, CC BY-SA</a:t>
            </a:r>
            <a:endParaRPr lang="en-US" sz="900" dirty="0"/>
          </a:p>
        </p:txBody>
      </p:sp>
      <p:sp>
        <p:nvSpPr>
          <p:cNvPr id="8" name="Shape 5"/>
          <p:cNvSpPr/>
          <p:nvPr/>
        </p:nvSpPr>
        <p:spPr>
          <a:xfrm>
            <a:off x="3611880" y="1453896"/>
            <a:ext cx="402336" cy="402336"/>
          </a:xfrm>
          <a:prstGeom prst="ellipse">
            <a:avLst/>
          </a:prstGeom>
          <a:solidFill>
            <a:srgbClr val="D97A14"/>
          </a:solidFill>
          <a:ln w="12700">
            <a:solidFill>
              <a:srgbClr val="D97A14"/>
            </a:solidFill>
            <a:prstDash val="solid"/>
          </a:ln>
        </p:spPr>
      </p:sp>
      <p:sp>
        <p:nvSpPr>
          <p:cNvPr id="9" name="Text 6"/>
          <p:cNvSpPr txBox="1"/>
          <p:nvPr/>
        </p:nvSpPr>
        <p:spPr>
          <a:xfrm>
            <a:off x="3611880" y="14538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7"/>
          <p:cNvSpPr txBox="1"/>
          <p:nvPr/>
        </p:nvSpPr>
        <p:spPr>
          <a:xfrm>
            <a:off x="4178808" y="1417320"/>
            <a:ext cx="45079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Header: previous-block hash, Merkle root, time, target, nonce</a:t>
            </a:r>
            <a:endParaRPr lang="en-US" sz="1050" dirty="0"/>
          </a:p>
        </p:txBody>
      </p:sp>
      <p:sp>
        <p:nvSpPr>
          <p:cNvPr id="11" name="Shape 8"/>
          <p:cNvSpPr/>
          <p:nvPr/>
        </p:nvSpPr>
        <p:spPr>
          <a:xfrm>
            <a:off x="3611880" y="2033016"/>
            <a:ext cx="402336" cy="402336"/>
          </a:xfrm>
          <a:prstGeom prst="ellipse">
            <a:avLst/>
          </a:prstGeom>
          <a:solidFill>
            <a:srgbClr val="D97A14"/>
          </a:solidFill>
          <a:ln w="12700">
            <a:solidFill>
              <a:srgbClr val="D97A14"/>
            </a:solidFill>
            <a:prstDash val="solid"/>
          </a:ln>
        </p:spPr>
      </p:sp>
      <p:sp>
        <p:nvSpPr>
          <p:cNvPr id="12" name="Text 9"/>
          <p:cNvSpPr txBox="1"/>
          <p:nvPr/>
        </p:nvSpPr>
        <p:spPr>
          <a:xfrm>
            <a:off x="3611880" y="2033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0"/>
          <p:cNvSpPr txBox="1"/>
          <p:nvPr/>
        </p:nvSpPr>
        <p:spPr>
          <a:xfrm>
            <a:off x="4178808" y="1996440"/>
            <a:ext cx="45079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Body: the transactions - Alice's among them</a:t>
            </a:r>
            <a:endParaRPr lang="en-US" sz="1050" dirty="0"/>
          </a:p>
        </p:txBody>
      </p:sp>
      <p:sp>
        <p:nvSpPr>
          <p:cNvPr id="14" name="Shape 11"/>
          <p:cNvSpPr/>
          <p:nvPr/>
        </p:nvSpPr>
        <p:spPr>
          <a:xfrm>
            <a:off x="3611880" y="2612136"/>
            <a:ext cx="402336" cy="402336"/>
          </a:xfrm>
          <a:prstGeom prst="ellipse">
            <a:avLst/>
          </a:prstGeom>
          <a:solidFill>
            <a:srgbClr val="D97A14"/>
          </a:solidFill>
          <a:ln w="12700">
            <a:solidFill>
              <a:srgbClr val="D97A14"/>
            </a:solidFill>
            <a:prstDash val="solid"/>
          </a:ln>
        </p:spPr>
      </p:sp>
      <p:sp>
        <p:nvSpPr>
          <p:cNvPr id="15" name="Text 12"/>
          <p:cNvSpPr txBox="1"/>
          <p:nvPr/>
        </p:nvSpPr>
        <p:spPr>
          <a:xfrm>
            <a:off x="3611880" y="2612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6" name="Text 13"/>
          <p:cNvSpPr txBox="1"/>
          <p:nvPr/>
        </p:nvSpPr>
        <p:spPr>
          <a:xfrm>
            <a:off x="4178808" y="2575560"/>
            <a:ext cx="45079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Chain the headers and you chain all history</a:t>
            </a:r>
            <a:endParaRPr lang="en-US" sz="1050" dirty="0"/>
          </a:p>
        </p:txBody>
      </p:sp>
      <p:sp>
        <p:nvSpPr>
          <p:cNvPr id="17" name="Shape 14"/>
          <p:cNvSpPr/>
          <p:nvPr/>
        </p:nvSpPr>
        <p:spPr>
          <a:xfrm>
            <a:off x="3611880" y="3200400"/>
            <a:ext cx="1425092" cy="420624"/>
          </a:xfrm>
          <a:prstGeom prst="roundRect">
            <a:avLst>
              <a:gd name="adj" fmla="val 50000"/>
            </a:avLst>
          </a:prstGeom>
          <a:solidFill>
            <a:srgbClr val="F2ECE1"/>
          </a:solidFill>
          <a:ln w="12700">
            <a:solidFill>
              <a:srgbClr val="D97A14"/>
            </a:solidFill>
            <a:prstDash val="solid"/>
          </a:ln>
        </p:spPr>
      </p:sp>
      <p:sp>
        <p:nvSpPr>
          <p:cNvPr id="18" name="Text 15"/>
          <p:cNvSpPr txBox="1"/>
          <p:nvPr/>
        </p:nvSpPr>
        <p:spPr>
          <a:xfrm>
            <a:off x="3611880" y="3200400"/>
            <a:ext cx="1425092"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prev hash</a:t>
            </a:r>
            <a:endParaRPr lang="en-US" sz="1100" dirty="0"/>
          </a:p>
        </p:txBody>
      </p:sp>
      <p:sp>
        <p:nvSpPr>
          <p:cNvPr id="19" name="Shape 16"/>
          <p:cNvSpPr/>
          <p:nvPr/>
        </p:nvSpPr>
        <p:spPr>
          <a:xfrm>
            <a:off x="5238140" y="3200400"/>
            <a:ext cx="1656436" cy="420624"/>
          </a:xfrm>
          <a:prstGeom prst="roundRect">
            <a:avLst>
              <a:gd name="adj" fmla="val 50000"/>
            </a:avLst>
          </a:prstGeom>
          <a:solidFill>
            <a:srgbClr val="F2ECE1"/>
          </a:solidFill>
          <a:ln w="12700">
            <a:solidFill>
              <a:srgbClr val="D97A14"/>
            </a:solidFill>
            <a:prstDash val="solid"/>
          </a:ln>
        </p:spPr>
      </p:sp>
      <p:sp>
        <p:nvSpPr>
          <p:cNvPr id="20" name="Text 17"/>
          <p:cNvSpPr txBox="1"/>
          <p:nvPr/>
        </p:nvSpPr>
        <p:spPr>
          <a:xfrm>
            <a:off x="5238140" y="3200400"/>
            <a:ext cx="1656436"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Merkle root</a:t>
            </a:r>
            <a:endParaRPr lang="en-US" sz="1100" dirty="0"/>
          </a:p>
        </p:txBody>
      </p:sp>
      <p:sp>
        <p:nvSpPr>
          <p:cNvPr id="21" name="Shape 18"/>
          <p:cNvSpPr/>
          <p:nvPr/>
        </p:nvSpPr>
        <p:spPr>
          <a:xfrm>
            <a:off x="7095744" y="3200400"/>
            <a:ext cx="846734" cy="420624"/>
          </a:xfrm>
          <a:prstGeom prst="roundRect">
            <a:avLst>
              <a:gd name="adj" fmla="val 50000"/>
            </a:avLst>
          </a:prstGeom>
          <a:solidFill>
            <a:srgbClr val="F2ECE1"/>
          </a:solidFill>
          <a:ln w="12700">
            <a:solidFill>
              <a:srgbClr val="D97A14"/>
            </a:solidFill>
            <a:prstDash val="solid"/>
          </a:ln>
        </p:spPr>
      </p:sp>
      <p:sp>
        <p:nvSpPr>
          <p:cNvPr id="22" name="Text 19"/>
          <p:cNvSpPr txBox="1"/>
          <p:nvPr/>
        </p:nvSpPr>
        <p:spPr>
          <a:xfrm>
            <a:off x="7095744" y="3200400"/>
            <a:ext cx="846734"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time</a:t>
            </a:r>
            <a:endParaRPr lang="en-US" sz="1100" dirty="0"/>
          </a:p>
        </p:txBody>
      </p:sp>
      <p:sp>
        <p:nvSpPr>
          <p:cNvPr id="23" name="Shape 20"/>
          <p:cNvSpPr/>
          <p:nvPr/>
        </p:nvSpPr>
        <p:spPr>
          <a:xfrm>
            <a:off x="3611880" y="3785616"/>
            <a:ext cx="1078078" cy="420624"/>
          </a:xfrm>
          <a:prstGeom prst="roundRect">
            <a:avLst>
              <a:gd name="adj" fmla="val 50000"/>
            </a:avLst>
          </a:prstGeom>
          <a:solidFill>
            <a:srgbClr val="F2ECE1"/>
          </a:solidFill>
          <a:ln w="12700">
            <a:solidFill>
              <a:srgbClr val="D97A14"/>
            </a:solidFill>
            <a:prstDash val="solid"/>
          </a:ln>
        </p:spPr>
      </p:sp>
      <p:sp>
        <p:nvSpPr>
          <p:cNvPr id="24" name="Text 21"/>
          <p:cNvSpPr txBox="1"/>
          <p:nvPr/>
        </p:nvSpPr>
        <p:spPr>
          <a:xfrm>
            <a:off x="3611880" y="3785616"/>
            <a:ext cx="1078078"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target</a:t>
            </a:r>
            <a:endParaRPr lang="en-US" sz="1100" dirty="0"/>
          </a:p>
        </p:txBody>
      </p:sp>
      <p:sp>
        <p:nvSpPr>
          <p:cNvPr id="25" name="Shape 22"/>
          <p:cNvSpPr/>
          <p:nvPr/>
        </p:nvSpPr>
        <p:spPr>
          <a:xfrm>
            <a:off x="4891126" y="3785616"/>
            <a:ext cx="962406" cy="420624"/>
          </a:xfrm>
          <a:prstGeom prst="roundRect">
            <a:avLst>
              <a:gd name="adj" fmla="val 50000"/>
            </a:avLst>
          </a:prstGeom>
          <a:solidFill>
            <a:srgbClr val="F2ECE1"/>
          </a:solidFill>
          <a:ln w="12700">
            <a:solidFill>
              <a:srgbClr val="D97A14"/>
            </a:solidFill>
            <a:prstDash val="solid"/>
          </a:ln>
        </p:spPr>
      </p:sp>
      <p:sp>
        <p:nvSpPr>
          <p:cNvPr id="26" name="Text 23"/>
          <p:cNvSpPr txBox="1"/>
          <p:nvPr/>
        </p:nvSpPr>
        <p:spPr>
          <a:xfrm>
            <a:off x="4891126" y="3785616"/>
            <a:ext cx="962406"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nonce</a:t>
            </a:r>
            <a:endParaRPr lang="en-US" sz="1100" dirty="0"/>
          </a:p>
        </p:txBody>
      </p:sp>
      <p:sp>
        <p:nvSpPr>
          <p:cNvPr id="27" name="Text 24"/>
          <p:cNvSpPr txBox="1"/>
          <p:nvPr/>
        </p:nvSpPr>
        <p:spPr>
          <a:xfrm>
            <a:off x="3611880" y="3511296"/>
            <a:ext cx="5074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80 header bytes carry a 4,000,000-byte body: 1 to 50,000</a:t>
            </a:r>
            <a:endParaRPr lang="en-US" sz="1150" dirty="0"/>
          </a:p>
        </p:txBody>
      </p:sp>
      <p:sp>
        <p:nvSpPr>
          <p:cNvPr id="28" name="Shape 25"/>
          <p:cNvSpPr/>
          <p:nvPr/>
        </p:nvSpPr>
        <p:spPr>
          <a:xfrm>
            <a:off x="3611880" y="3785616"/>
            <a:ext cx="5074920" cy="731520"/>
          </a:xfrm>
          <a:prstGeom prst="roundRect">
            <a:avLst>
              <a:gd name="adj" fmla="val 12500"/>
            </a:avLst>
          </a:prstGeom>
          <a:solidFill>
            <a:srgbClr val="23272E"/>
          </a:solidFill>
          <a:ln w="12700">
            <a:solidFill>
              <a:srgbClr val="23272E"/>
            </a:solidFill>
            <a:prstDash val="solid"/>
          </a:ln>
        </p:spPr>
      </p:sp>
      <p:sp>
        <p:nvSpPr>
          <p:cNvPr id="29" name="Text 26"/>
          <p:cNvSpPr txBox="1"/>
          <p:nvPr/>
        </p:nvSpPr>
        <p:spPr>
          <a:xfrm>
            <a:off x="3794760" y="3904488"/>
            <a:ext cx="4709160" cy="49377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header, body = 80, 4000000</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(header, body // header)</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(80, 50000)</a:t>
            </a:r>
            <a:endParaRPr lang="en-US" sz="950" dirty="0"/>
          </a:p>
        </p:txBody>
      </p:sp>
      <p:sp>
        <p:nvSpPr>
          <p:cNvPr id="30" name="Text 27"/>
          <p:cNvSpPr txBox="1"/>
          <p:nvPr/>
        </p:nvSpPr>
        <p:spPr>
          <a:xfrm>
            <a:off x="3611880" y="4535424"/>
            <a:ext cx="5074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31"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header of 80 bytes summarizes everything beneath it</a:t>
            </a:r>
            <a:endParaRPr lang="en-US" sz="1350" dirty="0"/>
          </a:p>
        </p:txBody>
      </p:sp>
      <p:sp>
        <p:nvSpPr>
          <p:cNvPr id="33"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30</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root for a thousand leaves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Merkle tree pins every transaction at once</a:t>
            </a:r>
            <a:endParaRPr lang="en-US" sz="1300" dirty="0"/>
          </a:p>
        </p:txBody>
      </p:sp>
      <p:sp>
        <p:nvSpPr>
          <p:cNvPr id="6" name="Shape 4"/>
          <p:cNvSpPr/>
          <p:nvPr/>
        </p:nvSpPr>
        <p:spPr>
          <a:xfrm>
            <a:off x="457200" y="1554480"/>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17904"/>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Hash the transactions in pairs, then pairs of pairs</a:t>
            </a:r>
            <a:endParaRPr lang="en-US" sz="1050" dirty="0"/>
          </a:p>
        </p:txBody>
      </p:sp>
      <p:sp>
        <p:nvSpPr>
          <p:cNvPr id="9" name="Shape 7"/>
          <p:cNvSpPr/>
          <p:nvPr/>
        </p:nvSpPr>
        <p:spPr>
          <a:xfrm>
            <a:off x="457200" y="213360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13360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97024"/>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One root remains - 32 bytes for any number of leaves</a:t>
            </a:r>
            <a:endParaRPr lang="en-US" sz="1050" dirty="0"/>
          </a:p>
        </p:txBody>
      </p:sp>
      <p:sp>
        <p:nvSpPr>
          <p:cNvPr id="12" name="Shape 10"/>
          <p:cNvSpPr/>
          <p:nvPr/>
        </p:nvSpPr>
        <p:spPr>
          <a:xfrm>
            <a:off x="457200" y="271272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127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76144"/>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Change any leaf and the root betrays it instantly</a:t>
            </a:r>
            <a:endParaRPr lang="en-US" sz="1050" dirty="0"/>
          </a:p>
        </p:txBody>
      </p:sp>
      <p:sp>
        <p:nvSpPr>
          <p:cNvPr id="15" name="Shape 13"/>
          <p:cNvSpPr/>
          <p:nvPr/>
        </p:nvSpPr>
        <p:spPr>
          <a:xfrm flipV="1">
            <a:off x="3977640" y="1463040"/>
            <a:ext cx="4663440" cy="316992"/>
          </a:xfrm>
          <a:prstGeom prst="trapezoid">
            <a:avLst/>
          </a:prstGeom>
          <a:solidFill>
            <a:srgbClr val="2F6D62"/>
          </a:solidFill>
          <a:ln w="12700">
            <a:solidFill>
              <a:srgbClr val="FFFFFF"/>
            </a:solidFill>
            <a:prstDash val="solid"/>
          </a:ln>
        </p:spPr>
      </p:sp>
      <p:sp>
        <p:nvSpPr>
          <p:cNvPr id="16" name="Text 14"/>
          <p:cNvSpPr txBox="1"/>
          <p:nvPr/>
        </p:nvSpPr>
        <p:spPr>
          <a:xfrm>
            <a:off x="3977640" y="1463040"/>
            <a:ext cx="4663440" cy="31699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4 leaves: A B C D</a:t>
            </a:r>
            <a:endParaRPr lang="en-US" sz="1050" dirty="0"/>
          </a:p>
        </p:txBody>
      </p:sp>
      <p:sp>
        <p:nvSpPr>
          <p:cNvPr id="17" name="Shape 15"/>
          <p:cNvSpPr/>
          <p:nvPr/>
        </p:nvSpPr>
        <p:spPr>
          <a:xfrm flipV="1">
            <a:off x="4397350" y="1889760"/>
            <a:ext cx="3824021" cy="316992"/>
          </a:xfrm>
          <a:prstGeom prst="trapezoid">
            <a:avLst/>
          </a:prstGeom>
          <a:solidFill>
            <a:srgbClr val="2F6D62"/>
          </a:solidFill>
          <a:ln w="12700">
            <a:solidFill>
              <a:srgbClr val="FFFFFF"/>
            </a:solidFill>
            <a:prstDash val="solid"/>
          </a:ln>
        </p:spPr>
      </p:sp>
      <p:sp>
        <p:nvSpPr>
          <p:cNvPr id="18" name="Text 16"/>
          <p:cNvSpPr txBox="1"/>
          <p:nvPr/>
        </p:nvSpPr>
        <p:spPr>
          <a:xfrm>
            <a:off x="4397350" y="1889760"/>
            <a:ext cx="3824021" cy="31699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2 pair-hashes</a:t>
            </a:r>
            <a:endParaRPr lang="en-US" sz="1050" dirty="0"/>
          </a:p>
        </p:txBody>
      </p:sp>
      <p:sp>
        <p:nvSpPr>
          <p:cNvPr id="19" name="Shape 17"/>
          <p:cNvSpPr/>
          <p:nvPr/>
        </p:nvSpPr>
        <p:spPr>
          <a:xfrm flipV="1">
            <a:off x="4817059" y="2316480"/>
            <a:ext cx="2984602" cy="316992"/>
          </a:xfrm>
          <a:prstGeom prst="trapezoid">
            <a:avLst/>
          </a:prstGeom>
          <a:solidFill>
            <a:srgbClr val="D97A14"/>
          </a:solidFill>
          <a:ln w="12700">
            <a:solidFill>
              <a:srgbClr val="FFFFFF"/>
            </a:solidFill>
            <a:prstDash val="solid"/>
          </a:ln>
        </p:spPr>
      </p:sp>
      <p:sp>
        <p:nvSpPr>
          <p:cNvPr id="20" name="Text 18"/>
          <p:cNvSpPr txBox="1"/>
          <p:nvPr/>
        </p:nvSpPr>
        <p:spPr>
          <a:xfrm>
            <a:off x="4817059" y="2316480"/>
            <a:ext cx="2984602" cy="31699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 root seals them all</a:t>
            </a:r>
            <a:endParaRPr lang="en-US" sz="1050" dirty="0"/>
          </a:p>
        </p:txBody>
      </p:sp>
      <p:sp>
        <p:nvSpPr>
          <p:cNvPr id="21" name="Text 19"/>
          <p:cNvSpPr txBox="1"/>
          <p:nvPr/>
        </p:nvSpPr>
        <p:spPr>
          <a:xfrm>
            <a:off x="3977640" y="2779776"/>
            <a:ext cx="46634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root of A,B,C,D: 59e82c45a3662f55...</a:t>
            </a:r>
            <a:endParaRPr lang="en-US" sz="1050" dirty="0"/>
          </a:p>
        </p:txBody>
      </p:sp>
      <p:sp>
        <p:nvSpPr>
          <p:cNvPr id="22" name="Text 20"/>
          <p:cNvSpPr txBox="1"/>
          <p:nvPr/>
        </p:nvSpPr>
        <p:spPr>
          <a:xfrm>
            <a:off x="457200" y="31546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four leaves to one root, computed</a:t>
            </a:r>
            <a:endParaRPr lang="en-US" sz="1150" dirty="0"/>
          </a:p>
        </p:txBody>
      </p:sp>
      <p:sp>
        <p:nvSpPr>
          <p:cNvPr id="23" name="Shape 21"/>
          <p:cNvSpPr/>
          <p:nvPr/>
        </p:nvSpPr>
        <p:spPr>
          <a:xfrm>
            <a:off x="457200" y="3429000"/>
            <a:ext cx="8229600" cy="1005840"/>
          </a:xfrm>
          <a:prstGeom prst="roundRect">
            <a:avLst>
              <a:gd name="adj" fmla="val 9091"/>
            </a:avLst>
          </a:prstGeom>
          <a:solidFill>
            <a:srgbClr val="23272E"/>
          </a:solidFill>
          <a:ln w="12700">
            <a:solidFill>
              <a:srgbClr val="23272E"/>
            </a:solidFill>
            <a:prstDash val="solid"/>
          </a:ln>
        </p:spPr>
      </p:sp>
      <p:sp>
        <p:nvSpPr>
          <p:cNvPr id="24" name="Text 22"/>
          <p:cNvSpPr txBox="1"/>
          <p:nvPr/>
        </p:nvSpPr>
        <p:spPr>
          <a:xfrm>
            <a:off x="640080" y="3547872"/>
            <a:ext cx="7863840" cy="76809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d = lambda b: hashlib.sha256(hashlib.sha256(b).digest()).digest()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L = [d(x) for x in (b'A', b'B', b'C', b'D')]</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d(d(L[0] + L[1]) + d(L[2] + L[3])).hex()[:16]</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'59e82c45a3662f55'</a:t>
            </a:r>
            <a:endParaRPr lang="en-US" sz="950" dirty="0"/>
          </a:p>
        </p:txBody>
      </p:sp>
      <p:sp>
        <p:nvSpPr>
          <p:cNvPr id="25" name="Text 23"/>
          <p:cNvSpPr txBox="1"/>
          <p:nvPr/>
        </p:nvSpPr>
        <p:spPr>
          <a:xfrm>
            <a:off x="457200" y="445312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Change any leaf and the root betrays it</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30</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coinbase: where new coin enters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one transaction with no inputs</a:t>
            </a:r>
            <a:endParaRPr lang="en-US" sz="1300" dirty="0"/>
          </a:p>
        </p:txBody>
      </p:sp>
      <p:sp>
        <p:nvSpPr>
          <p:cNvPr id="6" name="Shape 4"/>
          <p:cNvSpPr/>
          <p:nvPr/>
        </p:nvSpPr>
        <p:spPr>
          <a:xfrm>
            <a:off x="457200" y="1463040"/>
            <a:ext cx="1700784" cy="1097280"/>
          </a:xfrm>
          <a:prstGeom prst="roundRect">
            <a:avLst>
              <a:gd name="adj" fmla="val 8333"/>
            </a:avLst>
          </a:prstGeom>
          <a:solidFill>
            <a:srgbClr val="2F6D62"/>
          </a:solidFill>
          <a:ln w="12700">
            <a:solidFill>
              <a:srgbClr val="2F6D62"/>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Coinbase tx</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first in every block</a:t>
            </a:r>
            <a:endParaRPr lang="en-US" sz="1250" dirty="0"/>
          </a:p>
        </p:txBody>
      </p:sp>
      <p:sp>
        <p:nvSpPr>
          <p:cNvPr id="8" name="Shape 6"/>
          <p:cNvSpPr/>
          <p:nvPr/>
        </p:nvSpPr>
        <p:spPr>
          <a:xfrm>
            <a:off x="2212848" y="201168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2F6D62"/>
          </a:solidFill>
          <a:ln w="12700">
            <a:solidFill>
              <a:srgbClr val="2F6D62"/>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 inputs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value from the protocol</a:t>
            </a:r>
            <a:endParaRPr lang="en-US" sz="1250" dirty="0"/>
          </a:p>
        </p:txBody>
      </p:sp>
      <p:sp>
        <p:nvSpPr>
          <p:cNvPr id="11" name="Shape 9"/>
          <p:cNvSpPr/>
          <p:nvPr/>
        </p:nvSpPr>
        <p:spPr>
          <a:xfrm>
            <a:off x="4389120" y="201168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2F6D62"/>
          </a:solidFill>
          <a:ln w="12700">
            <a:solidFill>
              <a:srgbClr val="2F6D62"/>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Subsidy + fees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chapter 1's chart</a:t>
            </a:r>
            <a:endParaRPr lang="en-US" sz="1250" dirty="0"/>
          </a:p>
        </p:txBody>
      </p:sp>
      <p:sp>
        <p:nvSpPr>
          <p:cNvPr id="14" name="Shape 12"/>
          <p:cNvSpPr/>
          <p:nvPr/>
        </p:nvSpPr>
        <p:spPr>
          <a:xfrm>
            <a:off x="6565392" y="201168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2F6D62"/>
          </a:solidFill>
          <a:ln w="12700">
            <a:solidFill>
              <a:srgbClr val="2F6D62"/>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100 blocks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before it can be spent</a:t>
            </a:r>
            <a:endParaRPr lang="en-US" sz="1250" dirty="0"/>
          </a:p>
        </p:txBody>
      </p:sp>
      <p:sp>
        <p:nvSpPr>
          <p:cNvPr id="17" name="Text 15"/>
          <p:cNvSpPr txBox="1"/>
          <p:nvPr/>
        </p:nvSpPr>
        <p:spPr>
          <a:xfrm>
            <a:off x="457200" y="2560320"/>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reward at this block, computed</a:t>
            </a:r>
            <a:endParaRPr lang="en-US" sz="1150" dirty="0"/>
          </a:p>
        </p:txBody>
      </p:sp>
      <p:sp>
        <p:nvSpPr>
          <p:cNvPr id="18" name="Shape 16"/>
          <p:cNvSpPr/>
          <p:nvPr/>
        </p:nvSpPr>
        <p:spPr>
          <a:xfrm>
            <a:off x="457200" y="2834640"/>
            <a:ext cx="5120640" cy="914400"/>
          </a:xfrm>
          <a:prstGeom prst="roundRect">
            <a:avLst>
              <a:gd name="adj" fmla="val 10000"/>
            </a:avLst>
          </a:prstGeom>
          <a:solidFill>
            <a:srgbClr val="23272E"/>
          </a:solidFill>
          <a:ln w="12700">
            <a:solidFill>
              <a:srgbClr val="23272E"/>
            </a:solidFill>
            <a:prstDash val="solid"/>
          </a:ln>
        </p:spPr>
      </p:sp>
      <p:sp>
        <p:nvSpPr>
          <p:cNvPr id="19" name="Text 17"/>
          <p:cNvSpPr txBox="1"/>
          <p:nvPr/>
        </p:nvSpPr>
        <p:spPr>
          <a:xfrm>
            <a:off x="640080" y="2953512"/>
            <a:ext cx="4754880" cy="67665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inputs_spent, subsidy, fees = 0, 625000000, 183000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(inputs_spent, subsidy + fees)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(0, 625183000)</a:t>
            </a:r>
            <a:endParaRPr lang="en-US" sz="1000" dirty="0"/>
          </a:p>
        </p:txBody>
      </p:sp>
      <p:sp>
        <p:nvSpPr>
          <p:cNvPr id="20" name="Text 18"/>
          <p:cNvSpPr txBox="1"/>
          <p:nvPr/>
        </p:nvSpPr>
        <p:spPr>
          <a:xfrm>
            <a:off x="457200" y="3767328"/>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21" name="Shape 19"/>
          <p:cNvSpPr/>
          <p:nvPr/>
        </p:nvSpPr>
        <p:spPr>
          <a:xfrm>
            <a:off x="5852160" y="2788920"/>
            <a:ext cx="2834640" cy="1234440"/>
          </a:xfrm>
          <a:prstGeom prst="roundRect">
            <a:avLst>
              <a:gd name="adj" fmla="val 5926"/>
            </a:avLst>
          </a:prstGeom>
          <a:solidFill>
            <a:srgbClr val="F2ECE1"/>
          </a:solidFill>
          <a:ln w="12700">
            <a:solidFill>
              <a:srgbClr val="DFD6C7"/>
            </a:solidFill>
            <a:prstDash val="solid"/>
          </a:ln>
        </p:spPr>
      </p:sp>
      <p:sp>
        <p:nvSpPr>
          <p:cNvPr id="22" name="Text 20"/>
          <p:cNvSpPr txBox="1"/>
          <p:nvPr/>
        </p:nvSpPr>
        <p:spPr>
          <a:xfrm>
            <a:off x="5961888" y="2862072"/>
            <a:ext cx="2615184" cy="6172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0</a:t>
            </a:r>
            <a:endParaRPr lang="en-US" sz="2800" dirty="0"/>
          </a:p>
        </p:txBody>
      </p:sp>
      <p:sp>
        <p:nvSpPr>
          <p:cNvPr id="23" name="Text 21"/>
          <p:cNvSpPr txBox="1"/>
          <p:nvPr/>
        </p:nvSpPr>
        <p:spPr>
          <a:xfrm>
            <a:off x="5961888" y="3430829"/>
            <a:ext cx="2615184" cy="54315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inputs in a coinbase - the only transaction so allowed</a:t>
            </a:r>
            <a:endParaRPr lang="en-US" sz="11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coin in existence began life in a coinbase</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30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day someone printed 184 billion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2010-08-15</a:t>
            </a:r>
            <a:endParaRPr lang="en-US" sz="1300" dirty="0"/>
          </a:p>
        </p:txBody>
      </p:sp>
      <p:sp>
        <p:nvSpPr>
          <p:cNvPr id="6" name="Shape 4"/>
          <p:cNvSpPr/>
          <p:nvPr/>
        </p:nvSpPr>
        <p:spPr>
          <a:xfrm>
            <a:off x="457200" y="1463040"/>
            <a:ext cx="2590800" cy="1097280"/>
          </a:xfrm>
          <a:prstGeom prst="roundRect">
            <a:avLst>
              <a:gd name="adj" fmla="val 6667"/>
            </a:avLst>
          </a:prstGeom>
          <a:solidFill>
            <a:srgbClr val="F2ECE1"/>
          </a:solidFill>
          <a:ln w="12700">
            <a:solidFill>
              <a:srgbClr val="DFD6C7"/>
            </a:solidFill>
            <a:prstDash val="solid"/>
          </a:ln>
        </p:spPr>
      </p:sp>
      <p:sp>
        <p:nvSpPr>
          <p:cNvPr id="7" name="Text 5"/>
          <p:cNvSpPr txBox="1"/>
          <p:nvPr/>
        </p:nvSpPr>
        <p:spPr>
          <a:xfrm>
            <a:off x="566928" y="1536192"/>
            <a:ext cx="2371344" cy="548640"/>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184,467,440,737</a:t>
            </a:r>
            <a:endParaRPr lang="en-US" sz="2200" dirty="0"/>
          </a:p>
        </p:txBody>
      </p:sp>
      <p:sp>
        <p:nvSpPr>
          <p:cNvPr id="8" name="Text 6"/>
          <p:cNvSpPr txBox="1"/>
          <p:nvPr/>
        </p:nvSpPr>
        <p:spPr>
          <a:xfrm>
            <a:off x="5669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BTC conjured by one transaction in block 74,638</a:t>
            </a:r>
            <a:endParaRPr lang="en-US" sz="1150" dirty="0"/>
          </a:p>
        </p:txBody>
      </p:sp>
      <p:sp>
        <p:nvSpPr>
          <p:cNvPr id="9" name="Shape 7"/>
          <p:cNvSpPr/>
          <p:nvPr/>
        </p:nvSpPr>
        <p:spPr>
          <a:xfrm>
            <a:off x="3276600" y="1463040"/>
            <a:ext cx="2590800" cy="1097280"/>
          </a:xfrm>
          <a:prstGeom prst="roundRect">
            <a:avLst>
              <a:gd name="adj" fmla="val 6667"/>
            </a:avLst>
          </a:prstGeom>
          <a:solidFill>
            <a:srgbClr val="F2ECE1"/>
          </a:solidFill>
          <a:ln w="12700">
            <a:solidFill>
              <a:srgbClr val="DFD6C7"/>
            </a:solidFill>
            <a:prstDash val="solid"/>
          </a:ln>
        </p:spPr>
      </p:sp>
      <p:sp>
        <p:nvSpPr>
          <p:cNvPr id="10" name="Text 8"/>
          <p:cNvSpPr txBox="1"/>
          <p:nvPr/>
        </p:nvSpPr>
        <p:spPr>
          <a:xfrm>
            <a:off x="3386328" y="1536192"/>
            <a:ext cx="2371344" cy="54864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74,638</a:t>
            </a:r>
            <a:endParaRPr lang="en-US" sz="2800" dirty="0"/>
          </a:p>
        </p:txBody>
      </p:sp>
      <p:sp>
        <p:nvSpPr>
          <p:cNvPr id="11" name="Text 9"/>
          <p:cNvSpPr txBox="1"/>
          <p:nvPr/>
        </p:nvSpPr>
        <p:spPr>
          <a:xfrm>
            <a:off x="33863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block that carried it, 2010-08-15</a:t>
            </a:r>
            <a:endParaRPr lang="en-US" sz="1150" dirty="0"/>
          </a:p>
        </p:txBody>
      </p:sp>
      <p:sp>
        <p:nvSpPr>
          <p:cNvPr id="12" name="Shape 10"/>
          <p:cNvSpPr/>
          <p:nvPr/>
        </p:nvSpPr>
        <p:spPr>
          <a:xfrm>
            <a:off x="6096000" y="1463040"/>
            <a:ext cx="2590800" cy="1097280"/>
          </a:xfrm>
          <a:prstGeom prst="roundRect">
            <a:avLst>
              <a:gd name="adj" fmla="val 6667"/>
            </a:avLst>
          </a:prstGeom>
          <a:solidFill>
            <a:srgbClr val="F2ECE1"/>
          </a:solidFill>
          <a:ln w="12700">
            <a:solidFill>
              <a:srgbClr val="DFD6C7"/>
            </a:solidFill>
            <a:prstDash val="solid"/>
          </a:ln>
        </p:spPr>
      </p:sp>
      <p:sp>
        <p:nvSpPr>
          <p:cNvPr id="13" name="Text 11"/>
          <p:cNvSpPr txBox="1"/>
          <p:nvPr/>
        </p:nvSpPr>
        <p:spPr>
          <a:xfrm>
            <a:off x="6205728" y="1536192"/>
            <a:ext cx="2371344" cy="54864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~5 hours</a:t>
            </a:r>
            <a:endParaRPr lang="en-US" sz="2800" dirty="0"/>
          </a:p>
        </p:txBody>
      </p:sp>
      <p:sp>
        <p:nvSpPr>
          <p:cNvPr id="14" name="Text 12"/>
          <p:cNvSpPr txBox="1"/>
          <p:nvPr/>
        </p:nvSpPr>
        <p:spPr>
          <a:xfrm>
            <a:off x="62057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from forum report to Satoshi's 0.3.10 fix</a:t>
            </a:r>
            <a:endParaRPr lang="en-US" sz="1150" dirty="0"/>
          </a:p>
        </p:txBody>
      </p:sp>
      <p:sp>
        <p:nvSpPr>
          <p:cNvPr id="15" name="Shape 13"/>
          <p:cNvSpPr/>
          <p:nvPr/>
        </p:nvSpPr>
        <p:spPr>
          <a:xfrm>
            <a:off x="457200" y="2743200"/>
            <a:ext cx="8229600" cy="286512"/>
          </a:xfrm>
          <a:prstGeom prst="roundRect">
            <a:avLst>
              <a:gd name="adj" fmla="val 25532"/>
            </a:avLst>
          </a:prstGeom>
          <a:solidFill>
            <a:srgbClr val="F2ECE1"/>
          </a:solidFill>
          <a:ln w="19050">
            <a:solidFill>
              <a:srgbClr val="B6533C"/>
            </a:solidFill>
            <a:prstDash val="solid"/>
          </a:ln>
        </p:spPr>
      </p:sp>
      <p:sp>
        <p:nvSpPr>
          <p:cNvPr id="16" name="Shape 14"/>
          <p:cNvSpPr/>
          <p:nvPr/>
        </p:nvSpPr>
        <p:spPr>
          <a:xfrm>
            <a:off x="548640" y="2740152"/>
            <a:ext cx="292608" cy="292608"/>
          </a:xfrm>
          <a:prstGeom prst="ellipse">
            <a:avLst/>
          </a:prstGeom>
          <a:solidFill>
            <a:srgbClr val="B6533C"/>
          </a:solidFill>
          <a:ln w="12700">
            <a:solidFill>
              <a:srgbClr val="B6533C"/>
            </a:solidFill>
            <a:prstDash val="solid"/>
          </a:ln>
        </p:spPr>
      </p:sp>
      <p:sp>
        <p:nvSpPr>
          <p:cNvPr id="17" name="Text 15"/>
          <p:cNvSpPr txBox="1"/>
          <p:nvPr/>
        </p:nvSpPr>
        <p:spPr>
          <a:xfrm>
            <a:off x="548640" y="274015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8" name="Text 16"/>
          <p:cNvSpPr txBox="1"/>
          <p:nvPr/>
        </p:nvSpPr>
        <p:spPr>
          <a:xfrm>
            <a:off x="932688" y="2743200"/>
            <a:ext cx="7680960" cy="286512"/>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output of 92,233,720,368.54 BTC - overflow, summed as a small number</a:t>
            </a:r>
            <a:endParaRPr lang="en-US" sz="1050" dirty="0"/>
          </a:p>
        </p:txBody>
      </p:sp>
      <p:sp>
        <p:nvSpPr>
          <p:cNvPr id="19" name="Shape 17"/>
          <p:cNvSpPr/>
          <p:nvPr/>
        </p:nvSpPr>
        <p:spPr>
          <a:xfrm>
            <a:off x="457200" y="3139440"/>
            <a:ext cx="8229600" cy="286512"/>
          </a:xfrm>
          <a:prstGeom prst="roundRect">
            <a:avLst>
              <a:gd name="adj" fmla="val 25532"/>
            </a:avLst>
          </a:prstGeom>
          <a:solidFill>
            <a:srgbClr val="F2ECE1"/>
          </a:solidFill>
          <a:ln w="19050">
            <a:solidFill>
              <a:srgbClr val="B6533C"/>
            </a:solidFill>
            <a:prstDash val="solid"/>
          </a:ln>
        </p:spPr>
      </p:sp>
      <p:sp>
        <p:nvSpPr>
          <p:cNvPr id="20" name="Shape 18"/>
          <p:cNvSpPr/>
          <p:nvPr/>
        </p:nvSpPr>
        <p:spPr>
          <a:xfrm>
            <a:off x="548640" y="3136392"/>
            <a:ext cx="292608" cy="292608"/>
          </a:xfrm>
          <a:prstGeom prst="ellipse">
            <a:avLst/>
          </a:prstGeom>
          <a:solidFill>
            <a:srgbClr val="B6533C"/>
          </a:solidFill>
          <a:ln w="12700">
            <a:solidFill>
              <a:srgbClr val="B6533C"/>
            </a:solidFill>
            <a:prstDash val="solid"/>
          </a:ln>
        </p:spPr>
      </p:sp>
      <p:sp>
        <p:nvSpPr>
          <p:cNvPr id="21" name="Text 19"/>
          <p:cNvSpPr txBox="1"/>
          <p:nvPr/>
        </p:nvSpPr>
        <p:spPr>
          <a:xfrm>
            <a:off x="548640" y="313639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2" name="Text 20"/>
          <p:cNvSpPr txBox="1"/>
          <p:nvPr/>
        </p:nvSpPr>
        <p:spPr>
          <a:xfrm>
            <a:off x="932688" y="3139440"/>
            <a:ext cx="7680960" cy="286512"/>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its twin output, same trick</a:t>
            </a:r>
            <a:endParaRPr lang="en-US" sz="1050" dirty="0"/>
          </a:p>
        </p:txBody>
      </p:sp>
      <p:sp>
        <p:nvSpPr>
          <p:cNvPr id="23" name="Shape 21"/>
          <p:cNvSpPr/>
          <p:nvPr/>
        </p:nvSpPr>
        <p:spPr>
          <a:xfrm>
            <a:off x="457200" y="3535680"/>
            <a:ext cx="8229600" cy="286512"/>
          </a:xfrm>
          <a:prstGeom prst="roundRect">
            <a:avLst>
              <a:gd name="adj" fmla="val 25532"/>
            </a:avLst>
          </a:prstGeom>
          <a:solidFill>
            <a:srgbClr val="F2ECE1"/>
          </a:solidFill>
          <a:ln w="19050">
            <a:solidFill>
              <a:srgbClr val="5B8C5A"/>
            </a:solidFill>
            <a:prstDash val="solid"/>
          </a:ln>
        </p:spPr>
      </p:sp>
      <p:sp>
        <p:nvSpPr>
          <p:cNvPr id="24" name="Shape 22"/>
          <p:cNvSpPr/>
          <p:nvPr/>
        </p:nvSpPr>
        <p:spPr>
          <a:xfrm>
            <a:off x="548640" y="3532632"/>
            <a:ext cx="292608" cy="292608"/>
          </a:xfrm>
          <a:prstGeom prst="ellipse">
            <a:avLst/>
          </a:prstGeom>
          <a:solidFill>
            <a:srgbClr val="5B8C5A"/>
          </a:solidFill>
          <a:ln w="12700">
            <a:solidFill>
              <a:srgbClr val="5B8C5A"/>
            </a:solidFill>
            <a:prstDash val="solid"/>
          </a:ln>
        </p:spPr>
      </p:sp>
      <p:sp>
        <p:nvSpPr>
          <p:cNvPr id="25" name="Text 23"/>
          <p:cNvSpPr txBox="1"/>
          <p:nvPr/>
        </p:nvSpPr>
        <p:spPr>
          <a:xfrm>
            <a:off x="548640" y="353263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6" name="Text 24"/>
          <p:cNvSpPr txBox="1"/>
          <p:nvPr/>
        </p:nvSpPr>
        <p:spPr>
          <a:xfrm>
            <a:off x="932688" y="3535680"/>
            <a:ext cx="7680960" cy="286512"/>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0.3.10's corrected rule: outputs must sum in range - chain rebuilt without them</a:t>
            </a:r>
            <a:endParaRPr lang="en-US" sz="1050" dirty="0"/>
          </a:p>
        </p:txBody>
      </p:sp>
      <p:sp>
        <p:nvSpPr>
          <p:cNvPr id="27" name="Shape 25"/>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8" name="Text 26"/>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An unknown attacker; spo…</a:t>
            </a:r>
            <a:endParaRPr lang="en-US" sz="750" dirty="0"/>
          </a:p>
        </p:txBody>
      </p:sp>
      <p:sp>
        <p:nvSpPr>
          <p:cNvPr id="29" name="Shape 27"/>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30" name="Text 28"/>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block 74,638, discusse…</a:t>
            </a:r>
            <a:endParaRPr lang="en-US" sz="750" dirty="0"/>
          </a:p>
        </p:txBody>
      </p:sp>
      <p:sp>
        <p:nvSpPr>
          <p:cNvPr id="31" name="Shape 29"/>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32" name="Text 30"/>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2010-08-15</a:t>
            </a:r>
            <a:endParaRPr lang="en-US" sz="750" dirty="0"/>
          </a:p>
        </p:txBody>
      </p:sp>
      <p:sp>
        <p:nvSpPr>
          <p:cNvPr id="33" name="Shape 31"/>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34" name="Text 32"/>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Value overflow incident (Bitcoin Wiki)</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en.bitcoin.it</a:t>
            </a:r>
            <a:endParaRPr lang="en-US" sz="750" dirty="0"/>
          </a:p>
        </p:txBody>
      </p:sp>
      <p:sp>
        <p:nvSpPr>
          <p:cNvPr id="35" name="Shape 33"/>
          <p:cNvSpPr/>
          <p:nvPr/>
        </p:nvSpPr>
        <p:spPr>
          <a:xfrm>
            <a:off x="457200" y="4636008"/>
            <a:ext cx="91440" cy="310896"/>
          </a:xfrm>
          <a:prstGeom prst="rect">
            <a:avLst/>
          </a:prstGeom>
          <a:solidFill>
            <a:srgbClr val="D97A14"/>
          </a:solidFill>
          <a:ln w="12700">
            <a:solidFill>
              <a:srgbClr val="D97A14"/>
            </a:solidFill>
            <a:prstDash val="solid"/>
          </a:ln>
        </p:spPr>
      </p:sp>
      <p:sp>
        <p:nvSpPr>
          <p:cNvPr id="36" name="Text 3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Validation by every node is the immune system - it worked</a:t>
            </a:r>
            <a:endParaRPr lang="en-US" sz="1350" dirty="0"/>
          </a:p>
        </p:txBody>
      </p:sp>
      <p:sp>
        <p:nvSpPr>
          <p:cNvPr id="37" name="Text 3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30</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Confirmations: depth, not time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block on top multiplies the attacker's bill</a:t>
            </a:r>
            <a:endParaRPr lang="en-US" sz="1300" dirty="0"/>
          </a:p>
        </p:txBody>
      </p:sp>
      <p:sp>
        <p:nvSpPr>
          <p:cNvPr id="6" name="Shape 4"/>
          <p:cNvSpPr/>
          <p:nvPr/>
        </p:nvSpPr>
        <p:spPr>
          <a:xfrm>
            <a:off x="457200" y="1517904"/>
            <a:ext cx="1371600" cy="914400"/>
          </a:xfrm>
          <a:prstGeom prst="roundRect">
            <a:avLst>
              <a:gd name="adj" fmla="val 8000"/>
            </a:avLst>
          </a:prstGeom>
          <a:solidFill>
            <a:srgbClr val="F2ECE1"/>
          </a:solidFill>
          <a:ln w="22225">
            <a:solidFill>
              <a:srgbClr val="5B8C5A"/>
            </a:solidFill>
            <a:prstDash val="solid"/>
          </a:ln>
        </p:spPr>
      </p:sp>
      <p:sp>
        <p:nvSpPr>
          <p:cNvPr id="7" name="Text 5"/>
          <p:cNvSpPr txBox="1"/>
          <p:nvPr/>
        </p:nvSpPr>
        <p:spPr>
          <a:xfrm>
            <a:off x="457200" y="1572768"/>
            <a:ext cx="1371600" cy="274320"/>
          </a:xfrm>
          <a:prstGeom prst="rect">
            <a:avLst/>
          </a:prstGeom>
          <a:noFill/>
          <a:ln/>
        </p:spPr>
        <p:txBody>
          <a:bodyPr wrap="square" lIns="0" tIns="0" rIns="0" bIns="0" rtlCol="0" anchor="ctr"/>
          <a:lstStyle/>
          <a:p>
            <a:pPr algn="ctr" indent="0" marL="0">
              <a:buNone/>
            </a:pPr>
            <a:r>
              <a:rPr lang="en-US" sz="1100" b="1" dirty="0">
                <a:solidFill>
                  <a:srgbClr val="3C6B3B"/>
                </a:solidFill>
                <a:latin typeface="Calibri" pitchFamily="34" charset="0"/>
                <a:ea typeface="Calibri" pitchFamily="34" charset="-122"/>
                <a:cs typeface="Calibri" pitchFamily="34" charset="-120"/>
              </a:rPr>
              <a:t>block 0</a:t>
            </a:r>
            <a:endParaRPr lang="en-US" sz="1100" dirty="0"/>
          </a:p>
        </p:txBody>
      </p:sp>
      <p:sp>
        <p:nvSpPr>
          <p:cNvPr id="8" name="Text 6"/>
          <p:cNvSpPr txBox="1"/>
          <p:nvPr/>
        </p:nvSpPr>
        <p:spPr>
          <a:xfrm>
            <a:off x="502920" y="1883664"/>
            <a:ext cx="1280160" cy="457200"/>
          </a:xfrm>
          <a:prstGeom prst="rect">
            <a:avLst/>
          </a:prstGeom>
          <a:noFill/>
          <a:ln/>
        </p:spPr>
        <p:txBody>
          <a:bodyPr wrap="square" lIns="0" tIns="0" rIns="0" bIns="0" rtlCol="0" anchor="t"/>
          <a:lstStyle/>
          <a:p>
            <a:pPr algn="ctr" indent="0" marL="0">
              <a:buNone/>
            </a:pPr>
            <a:r>
              <a:rPr lang="en-US" sz="850" dirty="0">
                <a:solidFill>
                  <a:srgbClr val="6E655C"/>
                </a:solidFill>
                <a:latin typeface="Courier New" pitchFamily="34" charset="0"/>
                <a:ea typeface="Courier New" pitchFamily="34" charset="-122"/>
                <a:cs typeface="Courier New" pitchFamily="34" charset="-120"/>
              </a:rPr>
              <a:t>the genesis record</a:t>
            </a:r>
            <a:endParaRPr lang="en-US" sz="850" dirty="0"/>
          </a:p>
        </p:txBody>
      </p:sp>
      <p:sp>
        <p:nvSpPr>
          <p:cNvPr id="9" name="Shape 7"/>
          <p:cNvSpPr/>
          <p:nvPr/>
        </p:nvSpPr>
        <p:spPr>
          <a:xfrm>
            <a:off x="1828800" y="1975104"/>
            <a:ext cx="365760" cy="0"/>
          </a:xfrm>
          <a:prstGeom prst="line">
            <a:avLst/>
          </a:prstGeom>
          <a:noFill/>
          <a:ln w="25400">
            <a:solidFill>
              <a:srgbClr val="5B8C5A"/>
            </a:solidFill>
            <a:prstDash val="solid"/>
            <a:tailEnd type="triangle"/>
          </a:ln>
        </p:spPr>
      </p:sp>
      <p:sp>
        <p:nvSpPr>
          <p:cNvPr id="10" name="Shape 8"/>
          <p:cNvSpPr/>
          <p:nvPr/>
        </p:nvSpPr>
        <p:spPr>
          <a:xfrm>
            <a:off x="2194560" y="1517904"/>
            <a:ext cx="1371600" cy="914400"/>
          </a:xfrm>
          <a:prstGeom prst="roundRect">
            <a:avLst>
              <a:gd name="adj" fmla="val 8000"/>
            </a:avLst>
          </a:prstGeom>
          <a:solidFill>
            <a:srgbClr val="F2ECE1"/>
          </a:solidFill>
          <a:ln w="22225">
            <a:solidFill>
              <a:srgbClr val="5B8C5A"/>
            </a:solidFill>
            <a:prstDash val="solid"/>
          </a:ln>
        </p:spPr>
      </p:sp>
      <p:sp>
        <p:nvSpPr>
          <p:cNvPr id="11" name="Text 9"/>
          <p:cNvSpPr txBox="1"/>
          <p:nvPr/>
        </p:nvSpPr>
        <p:spPr>
          <a:xfrm>
            <a:off x="2194560" y="1572768"/>
            <a:ext cx="1371600" cy="274320"/>
          </a:xfrm>
          <a:prstGeom prst="rect">
            <a:avLst/>
          </a:prstGeom>
          <a:noFill/>
          <a:ln/>
        </p:spPr>
        <p:txBody>
          <a:bodyPr wrap="square" lIns="0" tIns="0" rIns="0" bIns="0" rtlCol="0" anchor="ctr"/>
          <a:lstStyle/>
          <a:p>
            <a:pPr algn="ctr" indent="0" marL="0">
              <a:buNone/>
            </a:pPr>
            <a:r>
              <a:rPr lang="en-US" sz="1100" b="1" dirty="0">
                <a:solidFill>
                  <a:srgbClr val="3C6B3B"/>
                </a:solidFill>
                <a:latin typeface="Calibri" pitchFamily="34" charset="0"/>
                <a:ea typeface="Calibri" pitchFamily="34" charset="-122"/>
                <a:cs typeface="Calibri" pitchFamily="34" charset="-120"/>
              </a:rPr>
              <a:t>block 1</a:t>
            </a:r>
            <a:endParaRPr lang="en-US" sz="1100" dirty="0"/>
          </a:p>
        </p:txBody>
      </p:sp>
      <p:sp>
        <p:nvSpPr>
          <p:cNvPr id="12" name="Text 10"/>
          <p:cNvSpPr txBox="1"/>
          <p:nvPr/>
        </p:nvSpPr>
        <p:spPr>
          <a:xfrm>
            <a:off x="2240280" y="1883664"/>
            <a:ext cx="1280160" cy="457200"/>
          </a:xfrm>
          <a:prstGeom prst="rect">
            <a:avLst/>
          </a:prstGeom>
          <a:noFill/>
          <a:ln/>
        </p:spPr>
        <p:txBody>
          <a:bodyPr wrap="square" lIns="0" tIns="0" rIns="0" bIns="0" rtlCol="0" anchor="t"/>
          <a:lstStyle/>
          <a:p>
            <a:pPr algn="ctr" indent="0" marL="0">
              <a:buNone/>
            </a:pPr>
            <a:r>
              <a:rPr lang="en-US" sz="850" dirty="0">
                <a:solidFill>
                  <a:srgbClr val="6E655C"/>
                </a:solidFill>
                <a:latin typeface="Courier New" pitchFamily="34" charset="0"/>
                <a:ea typeface="Courier New" pitchFamily="34" charset="-122"/>
                <a:cs typeface="Courier New" pitchFamily="34" charset="-120"/>
              </a:rPr>
              <a:t>digest of block 0</a:t>
            </a:r>
            <a:endParaRPr lang="en-US" sz="850" dirty="0"/>
          </a:p>
        </p:txBody>
      </p:sp>
      <p:sp>
        <p:nvSpPr>
          <p:cNvPr id="13" name="Shape 11"/>
          <p:cNvSpPr/>
          <p:nvPr/>
        </p:nvSpPr>
        <p:spPr>
          <a:xfrm>
            <a:off x="3566160" y="1975104"/>
            <a:ext cx="365760" cy="0"/>
          </a:xfrm>
          <a:prstGeom prst="line">
            <a:avLst/>
          </a:prstGeom>
          <a:noFill/>
          <a:ln w="25400">
            <a:solidFill>
              <a:srgbClr val="5B8C5A"/>
            </a:solidFill>
            <a:prstDash val="solid"/>
            <a:tailEnd type="triangle"/>
          </a:ln>
        </p:spPr>
      </p:sp>
      <p:sp>
        <p:nvSpPr>
          <p:cNvPr id="14" name="Shape 12"/>
          <p:cNvSpPr/>
          <p:nvPr/>
        </p:nvSpPr>
        <p:spPr>
          <a:xfrm>
            <a:off x="3931920" y="1517904"/>
            <a:ext cx="1371600" cy="914400"/>
          </a:xfrm>
          <a:prstGeom prst="roundRect">
            <a:avLst>
              <a:gd name="adj" fmla="val 8000"/>
            </a:avLst>
          </a:prstGeom>
          <a:solidFill>
            <a:srgbClr val="F2ECE1"/>
          </a:solidFill>
          <a:ln w="22225">
            <a:solidFill>
              <a:srgbClr val="5B8C5A"/>
            </a:solidFill>
            <a:prstDash val="solid"/>
          </a:ln>
        </p:spPr>
      </p:sp>
      <p:sp>
        <p:nvSpPr>
          <p:cNvPr id="15" name="Text 13"/>
          <p:cNvSpPr txBox="1"/>
          <p:nvPr/>
        </p:nvSpPr>
        <p:spPr>
          <a:xfrm>
            <a:off x="3931920" y="1572768"/>
            <a:ext cx="1371600" cy="274320"/>
          </a:xfrm>
          <a:prstGeom prst="rect">
            <a:avLst/>
          </a:prstGeom>
          <a:noFill/>
          <a:ln/>
        </p:spPr>
        <p:txBody>
          <a:bodyPr wrap="square" lIns="0" tIns="0" rIns="0" bIns="0" rtlCol="0" anchor="ctr"/>
          <a:lstStyle/>
          <a:p>
            <a:pPr algn="ctr" indent="0" marL="0">
              <a:buNone/>
            </a:pPr>
            <a:r>
              <a:rPr lang="en-US" sz="1100" b="1" dirty="0">
                <a:solidFill>
                  <a:srgbClr val="3C6B3B"/>
                </a:solidFill>
                <a:latin typeface="Calibri" pitchFamily="34" charset="0"/>
                <a:ea typeface="Calibri" pitchFamily="34" charset="-122"/>
                <a:cs typeface="Calibri" pitchFamily="34" charset="-120"/>
              </a:rPr>
              <a:t>block 2</a:t>
            </a:r>
            <a:endParaRPr lang="en-US" sz="1100" dirty="0"/>
          </a:p>
        </p:txBody>
      </p:sp>
      <p:sp>
        <p:nvSpPr>
          <p:cNvPr id="16" name="Text 14"/>
          <p:cNvSpPr txBox="1"/>
          <p:nvPr/>
        </p:nvSpPr>
        <p:spPr>
          <a:xfrm>
            <a:off x="3977640" y="1883664"/>
            <a:ext cx="1280160" cy="457200"/>
          </a:xfrm>
          <a:prstGeom prst="rect">
            <a:avLst/>
          </a:prstGeom>
          <a:noFill/>
          <a:ln/>
        </p:spPr>
        <p:txBody>
          <a:bodyPr wrap="square" lIns="0" tIns="0" rIns="0" bIns="0" rtlCol="0" anchor="t"/>
          <a:lstStyle/>
          <a:p>
            <a:pPr algn="ctr" indent="0" marL="0">
              <a:buNone/>
            </a:pPr>
            <a:r>
              <a:rPr lang="en-US" sz="850" dirty="0">
                <a:solidFill>
                  <a:srgbClr val="6E655C"/>
                </a:solidFill>
                <a:latin typeface="Courier New" pitchFamily="34" charset="0"/>
                <a:ea typeface="Courier New" pitchFamily="34" charset="-122"/>
                <a:cs typeface="Courier New" pitchFamily="34" charset="-120"/>
              </a:rPr>
              <a:t>digest of block 1</a:t>
            </a:r>
            <a:endParaRPr lang="en-US" sz="850" dirty="0"/>
          </a:p>
        </p:txBody>
      </p:sp>
      <p:sp>
        <p:nvSpPr>
          <p:cNvPr id="17" name="Text 15"/>
          <p:cNvSpPr txBox="1"/>
          <p:nvPr/>
        </p:nvSpPr>
        <p:spPr>
          <a:xfrm>
            <a:off x="457200" y="2505456"/>
            <a:ext cx="4846320" cy="310896"/>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Alice's block + 2 on top = 3 confirmations</a:t>
            </a:r>
            <a:endParaRPr lang="en-US" sz="1050" dirty="0"/>
          </a:p>
        </p:txBody>
      </p:sp>
      <p:sp>
        <p:nvSpPr>
          <p:cNvPr id="18" name="Text 16"/>
          <p:cNvSpPr txBox="1"/>
          <p:nvPr/>
        </p:nvSpPr>
        <p:spPr>
          <a:xfrm>
            <a:off x="5669280" y="1280160"/>
            <a:ext cx="30175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depth, counted</a:t>
            </a:r>
            <a:endParaRPr lang="en-US" sz="1150" dirty="0"/>
          </a:p>
        </p:txBody>
      </p:sp>
      <p:sp>
        <p:nvSpPr>
          <p:cNvPr id="19" name="Shape 17"/>
          <p:cNvSpPr/>
          <p:nvPr/>
        </p:nvSpPr>
        <p:spPr>
          <a:xfrm>
            <a:off x="5669280" y="1554480"/>
            <a:ext cx="3017520" cy="1097280"/>
          </a:xfrm>
          <a:prstGeom prst="roundRect">
            <a:avLst>
              <a:gd name="adj" fmla="val 8333"/>
            </a:avLst>
          </a:prstGeom>
          <a:solidFill>
            <a:srgbClr val="23272E"/>
          </a:solidFill>
          <a:ln w="12700">
            <a:solidFill>
              <a:srgbClr val="23272E"/>
            </a:solidFill>
            <a:prstDash val="solid"/>
          </a:ln>
        </p:spPr>
      </p:sp>
      <p:sp>
        <p:nvSpPr>
          <p:cNvPr id="20" name="Text 18"/>
          <p:cNvSpPr txBox="1"/>
          <p:nvPr/>
        </p:nvSpPr>
        <p:spPr>
          <a:xfrm>
            <a:off x="5852160" y="1673352"/>
            <a:ext cx="2651760" cy="85953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depth = 2</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depth + 1</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3</a:t>
            </a:r>
            <a:endParaRPr lang="en-US" sz="950" dirty="0"/>
          </a:p>
        </p:txBody>
      </p:sp>
      <p:sp>
        <p:nvSpPr>
          <p:cNvPr id="21" name="Text 19"/>
          <p:cNvSpPr txBox="1"/>
          <p:nvPr/>
        </p:nvSpPr>
        <p:spPr>
          <a:xfrm>
            <a:off x="5669280" y="2670048"/>
            <a:ext cx="30175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22" name="Shape 20"/>
          <p:cNvSpPr/>
          <p:nvPr/>
        </p:nvSpPr>
        <p:spPr>
          <a:xfrm>
            <a:off x="457200" y="3236976"/>
            <a:ext cx="402336" cy="402336"/>
          </a:xfrm>
          <a:prstGeom prst="ellipse">
            <a:avLst/>
          </a:prstGeom>
          <a:solidFill>
            <a:srgbClr val="D97A14"/>
          </a:solidFill>
          <a:ln w="12700">
            <a:solidFill>
              <a:srgbClr val="D97A14"/>
            </a:solidFill>
            <a:prstDash val="solid"/>
          </a:ln>
        </p:spPr>
      </p:sp>
      <p:sp>
        <p:nvSpPr>
          <p:cNvPr id="23" name="Text 21"/>
          <p:cNvSpPr txBox="1"/>
          <p:nvPr/>
        </p:nvSpPr>
        <p:spPr>
          <a:xfrm>
            <a:off x="457200" y="32369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24" name="Text 22"/>
          <p:cNvSpPr txBox="1"/>
          <p:nvPr/>
        </p:nvSpPr>
        <p:spPr>
          <a:xfrm>
            <a:off x="1024128" y="3200400"/>
            <a:ext cx="7662672" cy="3596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confirmation is a block on top of yours - depth, not minutes</a:t>
            </a:r>
            <a:endParaRPr lang="en-US" sz="1050" dirty="0"/>
          </a:p>
        </p:txBody>
      </p:sp>
      <p:sp>
        <p:nvSpPr>
          <p:cNvPr id="25" name="Shape 23"/>
          <p:cNvSpPr/>
          <p:nvPr/>
        </p:nvSpPr>
        <p:spPr>
          <a:xfrm>
            <a:off x="457200" y="3633216"/>
            <a:ext cx="402336" cy="402336"/>
          </a:xfrm>
          <a:prstGeom prst="ellipse">
            <a:avLst/>
          </a:prstGeom>
          <a:solidFill>
            <a:srgbClr val="D97A14"/>
          </a:solidFill>
          <a:ln w="12700">
            <a:solidFill>
              <a:srgbClr val="D97A14"/>
            </a:solidFill>
            <a:prstDash val="solid"/>
          </a:ln>
        </p:spPr>
      </p:sp>
      <p:sp>
        <p:nvSpPr>
          <p:cNvPr id="26" name="Text 24"/>
          <p:cNvSpPr txBox="1"/>
          <p:nvPr/>
        </p:nvSpPr>
        <p:spPr>
          <a:xfrm>
            <a:off x="457200" y="36332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7" name="Text 25"/>
          <p:cNvSpPr txBox="1"/>
          <p:nvPr/>
        </p:nvSpPr>
        <p:spPr>
          <a:xfrm>
            <a:off x="1024128" y="3596640"/>
            <a:ext cx="7662672" cy="3596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To rewrite yours an attacker must redo every block above it, faster than everyone</a:t>
            </a:r>
            <a:endParaRPr lang="en-US" sz="1050" dirty="0"/>
          </a:p>
        </p:txBody>
      </p:sp>
      <p:sp>
        <p:nvSpPr>
          <p:cNvPr id="28" name="Shape 26"/>
          <p:cNvSpPr/>
          <p:nvPr/>
        </p:nvSpPr>
        <p:spPr>
          <a:xfrm>
            <a:off x="457200" y="4029456"/>
            <a:ext cx="402336" cy="402336"/>
          </a:xfrm>
          <a:prstGeom prst="ellipse">
            <a:avLst/>
          </a:prstGeom>
          <a:solidFill>
            <a:srgbClr val="D97A14"/>
          </a:solidFill>
          <a:ln w="12700">
            <a:solidFill>
              <a:srgbClr val="D97A14"/>
            </a:solidFill>
            <a:prstDash val="solid"/>
          </a:ln>
        </p:spPr>
      </p:sp>
      <p:sp>
        <p:nvSpPr>
          <p:cNvPr id="29" name="Text 27"/>
          <p:cNvSpPr txBox="1"/>
          <p:nvPr/>
        </p:nvSpPr>
        <p:spPr>
          <a:xfrm>
            <a:off x="457200" y="4029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30" name="Text 28"/>
          <p:cNvSpPr txBox="1"/>
          <p:nvPr/>
        </p:nvSpPr>
        <p:spPr>
          <a:xfrm>
            <a:off x="1024128" y="3992880"/>
            <a:ext cx="7662672" cy="3596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How unlikely that is, the whitepaper computes - next slide</a:t>
            </a:r>
            <a:endParaRPr lang="en-US" sz="1050" dirty="0"/>
          </a:p>
        </p:txBody>
      </p:sp>
      <p:sp>
        <p:nvSpPr>
          <p:cNvPr id="31"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block on top multiplies the cost of rewriting yours</a:t>
            </a:r>
            <a:endParaRPr lang="en-US" sz="1350" dirty="0"/>
          </a:p>
        </p:txBody>
      </p:sp>
      <p:sp>
        <p:nvSpPr>
          <p:cNvPr id="33"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30</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whitepaper's table, recomputed live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Section 11's procedure, rerun for this deck - not quoted</a:t>
            </a:r>
            <a:endParaRPr lang="en-US" sz="1300" dirty="0"/>
          </a:p>
        </p:txBody>
      </p:sp>
      <p:graphicFrame>
        <p:nvGraphicFramePr>
          <p:cNvPr id="6" name="Chart 0" descr=""/>
          <p:cNvGraphicFramePr/>
          <p:nvPr/>
        </p:nvGraphicFramePr>
        <p:xfrm>
          <a:off x="411480" y="1371600"/>
          <a:ext cx="594360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537960" y="1417320"/>
            <a:ext cx="2148840" cy="1078992"/>
          </a:xfrm>
          <a:prstGeom prst="roundRect">
            <a:avLst>
              <a:gd name="adj" fmla="val 6780"/>
            </a:avLst>
          </a:prstGeom>
          <a:solidFill>
            <a:srgbClr val="F2ECE1"/>
          </a:solidFill>
          <a:ln w="12700">
            <a:solidFill>
              <a:srgbClr val="DFD6C7"/>
            </a:solidFill>
            <a:prstDash val="solid"/>
          </a:ln>
        </p:spPr>
      </p:sp>
      <p:sp>
        <p:nvSpPr>
          <p:cNvPr id="8" name="Text 5"/>
          <p:cNvSpPr txBox="1"/>
          <p:nvPr/>
        </p:nvSpPr>
        <p:spPr>
          <a:xfrm>
            <a:off x="6647688" y="1453896"/>
            <a:ext cx="1929384" cy="561076"/>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0.2045873</a:t>
            </a:r>
            <a:endParaRPr lang="en-US" sz="2600" dirty="0"/>
          </a:p>
        </p:txBody>
      </p:sp>
      <p:sp>
        <p:nvSpPr>
          <p:cNvPr id="9" name="Text 6"/>
          <p:cNvSpPr txBox="1"/>
          <p:nvPr/>
        </p:nvSpPr>
        <p:spPr>
          <a:xfrm>
            <a:off x="6647688" y="1978396"/>
            <a:ext cx="1929384" cy="47475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catch-up odds after 1 block (q=0.1)</a:t>
            </a:r>
            <a:endParaRPr lang="en-US" sz="1100" dirty="0"/>
          </a:p>
        </p:txBody>
      </p:sp>
      <p:sp>
        <p:nvSpPr>
          <p:cNvPr id="10" name="Shape 7"/>
          <p:cNvSpPr/>
          <p:nvPr/>
        </p:nvSpPr>
        <p:spPr>
          <a:xfrm>
            <a:off x="6537960" y="2624328"/>
            <a:ext cx="2148840" cy="1078992"/>
          </a:xfrm>
          <a:prstGeom prst="roundRect">
            <a:avLst>
              <a:gd name="adj" fmla="val 6780"/>
            </a:avLst>
          </a:prstGeom>
          <a:solidFill>
            <a:srgbClr val="F2ECE1"/>
          </a:solidFill>
          <a:ln w="12700">
            <a:solidFill>
              <a:srgbClr val="DFD6C7"/>
            </a:solidFill>
            <a:prstDash val="solid"/>
          </a:ln>
        </p:spPr>
      </p:sp>
      <p:sp>
        <p:nvSpPr>
          <p:cNvPr id="11" name="Text 8"/>
          <p:cNvSpPr txBox="1"/>
          <p:nvPr/>
        </p:nvSpPr>
        <p:spPr>
          <a:xfrm>
            <a:off x="6647688" y="2660904"/>
            <a:ext cx="1929384" cy="561076"/>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0.0002428</a:t>
            </a:r>
            <a:endParaRPr lang="en-US" sz="2600" dirty="0"/>
          </a:p>
        </p:txBody>
      </p:sp>
      <p:sp>
        <p:nvSpPr>
          <p:cNvPr id="12" name="Text 9"/>
          <p:cNvSpPr txBox="1"/>
          <p:nvPr/>
        </p:nvSpPr>
        <p:spPr>
          <a:xfrm>
            <a:off x="6647688" y="3185404"/>
            <a:ext cx="1929384" cy="47475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after 6 - the '6 confirmations' rule</a:t>
            </a:r>
            <a:endParaRPr lang="en-US" sz="1100" dirty="0"/>
          </a:p>
        </p:txBody>
      </p:sp>
      <p:sp>
        <p:nvSpPr>
          <p:cNvPr id="13" name="Shape 10"/>
          <p:cNvSpPr/>
          <p:nvPr/>
        </p:nvSpPr>
        <p:spPr>
          <a:xfrm>
            <a:off x="6537960" y="3931920"/>
            <a:ext cx="2103120" cy="402336"/>
          </a:xfrm>
          <a:prstGeom prst="roundRect">
            <a:avLst>
              <a:gd name="adj" fmla="val 50000"/>
            </a:avLst>
          </a:prstGeom>
          <a:solidFill>
            <a:srgbClr val="2F6D62"/>
          </a:solidFill>
          <a:ln w="12700">
            <a:solidFill>
              <a:srgbClr val="2F6D62"/>
            </a:solidFill>
            <a:prstDash val="solid"/>
          </a:ln>
        </p:spPr>
      </p:sp>
      <p:sp>
        <p:nvSpPr>
          <p:cNvPr id="14" name="Text 11"/>
          <p:cNvSpPr txBox="1"/>
          <p:nvPr/>
        </p:nvSpPr>
        <p:spPr>
          <a:xfrm>
            <a:off x="6537960" y="3931920"/>
            <a:ext cx="21031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the paper's own table</a:t>
            </a:r>
            <a:endParaRPr lang="en-US" sz="1300" dirty="0"/>
          </a:p>
        </p:txBody>
      </p:sp>
      <p:sp>
        <p:nvSpPr>
          <p:cNvPr id="15"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confirmations: the attacker's odds drop below 0.03%</a:t>
            </a:r>
            <a:endParaRPr lang="en-US" sz="1350" dirty="0"/>
          </a:p>
        </p:txBody>
      </p:sp>
      <p:sp>
        <p:nvSpPr>
          <p:cNvPr id="17"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30</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Zero-conf espresso, six-block house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Match the wait to the stake</a:t>
            </a:r>
            <a:endParaRPr lang="en-US" sz="1300" dirty="0"/>
          </a:p>
        </p:txBody>
      </p:sp>
      <p:sp>
        <p:nvSpPr>
          <p:cNvPr id="6" name="Shape 4"/>
          <p:cNvSpPr/>
          <p:nvPr/>
        </p:nvSpPr>
        <p:spPr>
          <a:xfrm>
            <a:off x="457200" y="1554480"/>
            <a:ext cx="3931920" cy="2194560"/>
          </a:xfrm>
          <a:prstGeom prst="roundRect">
            <a:avLst>
              <a:gd name="adj" fmla="val 4167"/>
            </a:avLst>
          </a:prstGeom>
          <a:solidFill>
            <a:srgbClr val="F2ECE1"/>
          </a:solidFill>
          <a:ln w="15875">
            <a:solidFill>
              <a:srgbClr val="D97A14"/>
            </a:solidFill>
            <a:prstDash val="solid"/>
          </a:ln>
        </p:spPr>
      </p:sp>
      <p:sp>
        <p:nvSpPr>
          <p:cNvPr id="7" name="Text 5"/>
          <p:cNvSpPr txBox="1"/>
          <p:nvPr/>
        </p:nvSpPr>
        <p:spPr>
          <a:xfrm>
            <a:off x="640080" y="166420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Espresso: accept at zero</a:t>
            </a:r>
            <a:endParaRPr lang="en-US" sz="1500" dirty="0"/>
          </a:p>
        </p:txBody>
      </p:sp>
      <p:sp>
        <p:nvSpPr>
          <p:cNvPr id="8" name="Text 6"/>
          <p:cNvSpPr txBox="1"/>
          <p:nvPr/>
        </p:nvSpPr>
        <p:spPr>
          <a:xfrm>
            <a:off x="640080" y="2084832"/>
            <a:ext cx="3566160" cy="15361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Small sum, repeat customer, in person</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Risk: someone races a double-spend for a coffee</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Seconds matter more than certainty</a:t>
            </a:r>
            <a:endParaRPr lang="en-US" sz="1250" dirty="0"/>
          </a:p>
        </p:txBody>
      </p:sp>
      <p:sp>
        <p:nvSpPr>
          <p:cNvPr id="9" name="Shape 7"/>
          <p:cNvSpPr/>
          <p:nvPr/>
        </p:nvSpPr>
        <p:spPr>
          <a:xfrm>
            <a:off x="4754880" y="1554480"/>
            <a:ext cx="3931920" cy="2194560"/>
          </a:xfrm>
          <a:prstGeom prst="roundRect">
            <a:avLst>
              <a:gd name="adj" fmla="val 4167"/>
            </a:avLst>
          </a:prstGeom>
          <a:solidFill>
            <a:srgbClr val="F2ECE1"/>
          </a:solidFill>
          <a:ln w="15875">
            <a:solidFill>
              <a:srgbClr val="2F6D62"/>
            </a:solidFill>
            <a:prstDash val="solid"/>
          </a:ln>
        </p:spPr>
      </p:sp>
      <p:sp>
        <p:nvSpPr>
          <p:cNvPr id="10" name="Text 8"/>
          <p:cNvSpPr txBox="1"/>
          <p:nvPr/>
        </p:nvSpPr>
        <p:spPr>
          <a:xfrm>
            <a:off x="4937760" y="166420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House: wait for six</a:t>
            </a:r>
            <a:endParaRPr lang="en-US" sz="1500" dirty="0"/>
          </a:p>
        </p:txBody>
      </p:sp>
      <p:sp>
        <p:nvSpPr>
          <p:cNvPr id="11" name="Text 9"/>
          <p:cNvSpPr txBox="1"/>
          <p:nvPr/>
        </p:nvSpPr>
        <p:spPr>
          <a:xfrm>
            <a:off x="4937760" y="2084832"/>
            <a:ext cx="3566160" cy="15361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Large, irreversible, worth attacking</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Six blocks: odds near one in four thousand (q=0.1)</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An hour of patience prices out the attack</a:t>
            </a:r>
            <a:endParaRPr lang="en-US" sz="1250" dirty="0"/>
          </a:p>
        </p:txBody>
      </p:sp>
      <p:sp>
        <p:nvSpPr>
          <p:cNvPr id="12" name="Shape 10"/>
          <p:cNvSpPr/>
          <p:nvPr/>
        </p:nvSpPr>
        <p:spPr>
          <a:xfrm>
            <a:off x="3063240" y="3977640"/>
            <a:ext cx="3017520" cy="402336"/>
          </a:xfrm>
          <a:prstGeom prst="roundRect">
            <a:avLst>
              <a:gd name="adj" fmla="val 50000"/>
            </a:avLst>
          </a:prstGeom>
          <a:solidFill>
            <a:srgbClr val="2F6D62"/>
          </a:solidFill>
          <a:ln w="12700">
            <a:solidFill>
              <a:srgbClr val="2F6D62"/>
            </a:solidFill>
            <a:prstDash val="solid"/>
          </a:ln>
        </p:spPr>
      </p:sp>
      <p:sp>
        <p:nvSpPr>
          <p:cNvPr id="13" name="Text 11"/>
          <p:cNvSpPr txBox="1"/>
          <p:nvPr/>
        </p:nvSpPr>
        <p:spPr>
          <a:xfrm>
            <a:off x="3063240" y="3977640"/>
            <a:ext cx="30175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same rule, different stakes</a:t>
            </a:r>
            <a:endParaRPr lang="en-US" sz="130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Match the wait to the stake - that is all 6 blocks means</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30</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Semantics and practice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chapter as data, and the chapter on your laptop</a:t>
            </a:r>
            <a:endParaRPr lang="en-US" sz="1500" dirty="0"/>
          </a:p>
        </p:txBody>
      </p:sp>
      <p:sp>
        <p:nvSpPr>
          <p:cNvPr id="6" name="Shape 4"/>
          <p:cNvSpPr/>
          <p:nvPr/>
        </p:nvSpPr>
        <p:spPr>
          <a:xfrm>
            <a:off x="777240" y="2697480"/>
            <a:ext cx="2523744"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Triples</a:t>
            </a:r>
            <a:pPr algn="ctr" indent="0" marL="0">
              <a:buNone/>
            </a:pPr>
            <a:endParaRPr lang="en-US" sz="1400" dirty="0"/>
          </a:p>
        </p:txBody>
      </p:sp>
      <p:sp>
        <p:nvSpPr>
          <p:cNvPr id="8" name="Shape 6"/>
          <p:cNvSpPr/>
          <p:nvPr/>
        </p:nvSpPr>
        <p:spPr>
          <a:xfrm>
            <a:off x="3447288" y="2697480"/>
            <a:ext cx="2523744"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3520440"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Provenance</a:t>
            </a:r>
            <a:pPr algn="ctr" indent="0" marL="0">
              <a:buNone/>
            </a:pPr>
            <a:endParaRPr lang="en-US" sz="1400" dirty="0"/>
          </a:p>
        </p:txBody>
      </p:sp>
      <p:sp>
        <p:nvSpPr>
          <p:cNvPr id="10" name="Shape 8"/>
          <p:cNvSpPr/>
          <p:nvPr/>
        </p:nvSpPr>
        <p:spPr>
          <a:xfrm>
            <a:off x="6117336" y="2697480"/>
            <a:ext cx="2523744"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6190488"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Run it at home</a:t>
            </a:r>
            <a:pPr algn="ctr" indent="0" marL="0">
              <a:buNone/>
            </a:pPr>
            <a:endParaRPr lang="en-US" sz="140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30</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chapter as data: triples and provenance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the course page itself stores what you just learned</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42062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Every fact on the course page is a triple: subject, predicate, object</a:t>
            </a:r>
            <a:endParaRPr lang="en-US" sz="950" dirty="0"/>
          </a:p>
        </p:txBody>
      </p:sp>
      <p:sp>
        <p:nvSpPr>
          <p:cNvPr id="9" name="Shape 7"/>
          <p:cNvSpPr/>
          <p:nvPr/>
        </p:nvSpPr>
        <p:spPr>
          <a:xfrm>
            <a:off x="457200" y="186537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653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28800"/>
            <a:ext cx="7662672" cy="42062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Provenance says who asserted it and from where - the run builds one of each and reads it back</a:t>
            </a:r>
            <a:endParaRPr lang="en-US" sz="950" dirty="0"/>
          </a:p>
        </p:txBody>
      </p:sp>
      <p:sp>
        <p:nvSpPr>
          <p:cNvPr id="12" name="Text 10"/>
          <p:cNvSpPr txBox="1"/>
          <p:nvPr/>
        </p:nvSpPr>
        <p:spPr>
          <a:xfrm>
            <a:off x="457200" y="2240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1 - one fact, as the page stores it</a:t>
            </a:r>
            <a:endParaRPr lang="en-US" sz="1150" dirty="0"/>
          </a:p>
        </p:txBody>
      </p:sp>
      <p:sp>
        <p:nvSpPr>
          <p:cNvPr id="13" name="Shape 11"/>
          <p:cNvSpPr/>
          <p:nvPr/>
        </p:nvSpPr>
        <p:spPr>
          <a:xfrm>
            <a:off x="457200" y="2514600"/>
            <a:ext cx="8229600" cy="822960"/>
          </a:xfrm>
          <a:prstGeom prst="roundRect">
            <a:avLst>
              <a:gd name="adj" fmla="val 11111"/>
            </a:avLst>
          </a:prstGeom>
          <a:solidFill>
            <a:srgbClr val="23272E"/>
          </a:solidFill>
          <a:ln w="12700">
            <a:solidFill>
              <a:srgbClr val="23272E"/>
            </a:solidFill>
            <a:prstDash val="solid"/>
          </a:ln>
        </p:spPr>
      </p:sp>
      <p:sp>
        <p:nvSpPr>
          <p:cNvPr id="14" name="Text 12"/>
          <p:cNvSpPr txBox="1"/>
          <p:nvPr/>
        </p:nvSpPr>
        <p:spPr>
          <a:xfrm>
            <a:off x="640080" y="2633472"/>
            <a:ext cx="7863840" cy="58521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triples = [('Tx2', 'used', 'Tx1:0'), ('Tx2:1', 'wasGeneratedBy', 'Tx2'), ('Tx2', 'wasAttributedTo', 'Alice')]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(len(triples), len({s for s, p, o in triples} | {o for s, p, o in triples}))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(3, 4)</a:t>
            </a:r>
            <a:endParaRPr lang="en-US" sz="900" dirty="0"/>
          </a:p>
        </p:txBody>
      </p:sp>
      <p:sp>
        <p:nvSpPr>
          <p:cNvPr id="15" name="Text 13"/>
          <p:cNvSpPr txBox="1"/>
          <p:nvPr/>
        </p:nvSpPr>
        <p:spPr>
          <a:xfrm>
            <a:off x="457200" y="33558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6" name="Text 14"/>
          <p:cNvSpPr txBox="1"/>
          <p:nvPr/>
        </p:nvSpPr>
        <p:spPr>
          <a:xfrm>
            <a:off x="457200" y="33375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 and who says so</a:t>
            </a:r>
            <a:endParaRPr lang="en-US" sz="1150" dirty="0"/>
          </a:p>
        </p:txBody>
      </p:sp>
      <p:sp>
        <p:nvSpPr>
          <p:cNvPr id="17" name="Shape 15"/>
          <p:cNvSpPr/>
          <p:nvPr/>
        </p:nvSpPr>
        <p:spPr>
          <a:xfrm>
            <a:off x="457200" y="3611880"/>
            <a:ext cx="8229600" cy="822960"/>
          </a:xfrm>
          <a:prstGeom prst="roundRect">
            <a:avLst>
              <a:gd name="adj" fmla="val 11111"/>
            </a:avLst>
          </a:prstGeom>
          <a:solidFill>
            <a:srgbClr val="23272E"/>
          </a:solidFill>
          <a:ln w="12700">
            <a:solidFill>
              <a:srgbClr val="23272E"/>
            </a:solidFill>
            <a:prstDash val="solid"/>
          </a:ln>
        </p:spPr>
      </p:sp>
      <p:sp>
        <p:nvSpPr>
          <p:cNvPr id="18" name="Text 16"/>
          <p:cNvSpPr txBox="1"/>
          <p:nvPr/>
        </p:nvSpPr>
        <p:spPr>
          <a:xfrm>
            <a:off x="640080" y="3730752"/>
            <a:ext cx="7863840" cy="58521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chain = ['Tx1:0', 'Tx2:1', 'Tx3:0']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[(b, 'wasDerivedFrom', a) for a, b in zip(chain, chain[1:])]</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[('Tx2:1', 'wasDerivedFrom', 'Tx1:0'), ('Tx3:0', 'wasDerivedFrom', 'Tx2:1')]</a:t>
            </a:r>
            <a:endParaRPr lang="en-US" sz="1000" dirty="0"/>
          </a:p>
        </p:txBody>
      </p:sp>
      <p:sp>
        <p:nvSpPr>
          <p:cNvPr id="19" name="Text 17"/>
          <p:cNvSpPr txBox="1"/>
          <p:nvPr/>
        </p:nvSpPr>
        <p:spPr>
          <a:xfrm>
            <a:off x="457200" y="445312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course page you use is built exactly this way</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30</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Run the chapter at home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Three consoles reproduce today's claims</a:t>
            </a:r>
            <a:endParaRPr lang="en-US" sz="1300" dirty="0"/>
          </a:p>
        </p:txBody>
      </p:sp>
      <p:sp>
        <p:nvSpPr>
          <p:cNvPr id="6" name="Text 4"/>
          <p:cNvSpPr txBox="1"/>
          <p:nvPr/>
        </p:nvSpPr>
        <p:spPr>
          <a:xfrm>
            <a:off x="457200" y="11430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1 - the fingerprint that seals everything</a:t>
            </a:r>
            <a:endParaRPr lang="en-US" sz="1150" dirty="0"/>
          </a:p>
        </p:txBody>
      </p:sp>
      <p:sp>
        <p:nvSpPr>
          <p:cNvPr id="7" name="Shape 5"/>
          <p:cNvSpPr/>
          <p:nvPr/>
        </p:nvSpPr>
        <p:spPr>
          <a:xfrm>
            <a:off x="457200" y="1417320"/>
            <a:ext cx="8229600" cy="777240"/>
          </a:xfrm>
          <a:prstGeom prst="roundRect">
            <a:avLst>
              <a:gd name="adj" fmla="val 11765"/>
            </a:avLst>
          </a:prstGeom>
          <a:solidFill>
            <a:srgbClr val="23272E"/>
          </a:solidFill>
          <a:ln w="12700">
            <a:solidFill>
              <a:srgbClr val="23272E"/>
            </a:solidFill>
            <a:prstDash val="solid"/>
          </a:ln>
        </p:spPr>
      </p:sp>
      <p:sp>
        <p:nvSpPr>
          <p:cNvPr id="8" name="Text 6"/>
          <p:cNvSpPr txBox="1"/>
          <p:nvPr/>
        </p:nvSpPr>
        <p:spPr>
          <a:xfrm>
            <a:off x="640080" y="1536192"/>
            <a:ext cx="7863840" cy="539496"/>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hashlib.sha256(b'Alice pays Bob 75000').hexdigest()[:16]</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'320a22eeeb9c0391'</a:t>
            </a:r>
            <a:endParaRPr lang="en-US" sz="1050" dirty="0"/>
          </a:p>
        </p:txBody>
      </p:sp>
      <p:sp>
        <p:nvSpPr>
          <p:cNvPr id="9" name="Text 7"/>
          <p:cNvSpPr txBox="1"/>
          <p:nvPr/>
        </p:nvSpPr>
        <p:spPr>
          <a:xfrm>
            <a:off x="457200" y="22128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0" name="Text 8"/>
          <p:cNvSpPr txBox="1"/>
          <p:nvPr/>
        </p:nvSpPr>
        <p:spPr>
          <a:xfrm>
            <a:off x="457200" y="2176272"/>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 a toy block, mined like the real ones</a:t>
            </a:r>
            <a:endParaRPr lang="en-US" sz="1150" dirty="0"/>
          </a:p>
        </p:txBody>
      </p:sp>
      <p:sp>
        <p:nvSpPr>
          <p:cNvPr id="11" name="Shape 9"/>
          <p:cNvSpPr/>
          <p:nvPr/>
        </p:nvSpPr>
        <p:spPr>
          <a:xfrm>
            <a:off x="457200" y="2450592"/>
            <a:ext cx="8229600" cy="777240"/>
          </a:xfrm>
          <a:prstGeom prst="roundRect">
            <a:avLst>
              <a:gd name="adj" fmla="val 11765"/>
            </a:avLst>
          </a:prstGeom>
          <a:solidFill>
            <a:srgbClr val="23272E"/>
          </a:solidFill>
          <a:ln w="12700">
            <a:solidFill>
              <a:srgbClr val="23272E"/>
            </a:solidFill>
            <a:prstDash val="solid"/>
          </a:ln>
        </p:spPr>
      </p:sp>
      <p:sp>
        <p:nvSpPr>
          <p:cNvPr id="12" name="Text 10"/>
          <p:cNvSpPr txBox="1"/>
          <p:nvPr/>
        </p:nvSpPr>
        <p:spPr>
          <a:xfrm>
            <a:off x="640080" y="2569464"/>
            <a:ext cx="7863840" cy="53949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h = hashlib.sha256</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next(n for n in range(500000) if h(('1' + str(n) + 'Alice pays Bob 75000').encode()).hexdigest().startswith('0000'))</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6630</a:t>
            </a:r>
            <a:endParaRPr lang="en-US" sz="850" dirty="0"/>
          </a:p>
        </p:txBody>
      </p:sp>
      <p:sp>
        <p:nvSpPr>
          <p:cNvPr id="13" name="Text 11"/>
          <p:cNvSpPr txBox="1"/>
          <p:nvPr/>
        </p:nvSpPr>
        <p:spPr>
          <a:xfrm>
            <a:off x="457200" y="3246120"/>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4" name="Text 12"/>
          <p:cNvSpPr txBox="1"/>
          <p:nvPr/>
        </p:nvSpPr>
        <p:spPr>
          <a:xfrm>
            <a:off x="457200" y="3209544"/>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3 - chain two and break one</a:t>
            </a:r>
            <a:endParaRPr lang="en-US" sz="1150" dirty="0"/>
          </a:p>
        </p:txBody>
      </p:sp>
      <p:sp>
        <p:nvSpPr>
          <p:cNvPr id="15" name="Shape 13"/>
          <p:cNvSpPr/>
          <p:nvPr/>
        </p:nvSpPr>
        <p:spPr>
          <a:xfrm>
            <a:off x="457200" y="3483864"/>
            <a:ext cx="8229600" cy="868680"/>
          </a:xfrm>
          <a:prstGeom prst="roundRect">
            <a:avLst>
              <a:gd name="adj" fmla="val 10526"/>
            </a:avLst>
          </a:prstGeom>
          <a:solidFill>
            <a:srgbClr val="23272E"/>
          </a:solidFill>
          <a:ln w="12700">
            <a:solidFill>
              <a:srgbClr val="23272E"/>
            </a:solidFill>
            <a:prstDash val="solid"/>
          </a:ln>
        </p:spPr>
      </p:sp>
      <p:sp>
        <p:nvSpPr>
          <p:cNvPr id="16" name="Text 14"/>
          <p:cNvSpPr txBox="1"/>
          <p:nvPr/>
        </p:nvSpPr>
        <p:spPr>
          <a:xfrm>
            <a:off x="640080" y="3602736"/>
            <a:ext cx="7863840" cy="630936"/>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chain, edited = ['b1', 'b2', 'b3', 'b4', 'b5'], 1</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[i for i in range(len(chain)) if i &gt;= edited]</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 2, 3, 4]</a:t>
            </a:r>
            <a:endParaRPr lang="en-US" sz="1050" dirty="0"/>
          </a:p>
        </p:txBody>
      </p:sp>
      <p:sp>
        <p:nvSpPr>
          <p:cNvPr id="17" name="Text 15"/>
          <p:cNvSpPr txBox="1"/>
          <p:nvPr/>
        </p:nvSpPr>
        <p:spPr>
          <a:xfrm>
            <a:off x="457200" y="4370832"/>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consoles reproduce the chapter - tonight, on your laptop</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30</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transaction spends outputs whole and mints new ones - balance is a sum, not an account</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Fees buy bytes of block space; change is just an output back to yourself</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Transactions travel by gossip; within seconds every mempool holds Alice's payment</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Miners race a lottery that is instant to verify - and rules caught the 184-billion forgery</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confirmation is depth; the whitepaper computes what each block of depth buys you</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30</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2026-10-06;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Section 11: the table of attacker odds this chapter charts</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Mastering Bitcoin, ch. 2: How Bitcoin Works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Chapter text as AsciiDoc source, plain text, free to read</a:t>
            </a:r>
            <a:endParaRPr lang="en-US" sz="1000" dirty="0"/>
          </a:p>
        </p:txBody>
      </p:sp>
      <p:sp>
        <p:nvSpPr>
          <p:cNvPr id="11" name="Shape 9"/>
          <p:cNvSpPr/>
          <p:nvPr/>
        </p:nvSpPr>
        <p:spPr>
          <a:xfrm>
            <a:off x="493776" y="252374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45059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Value overflow incident (Bitcoin Wiki)</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What block 74,638 did and how it was fixed  en.bitcoin.it</a:t>
            </a:r>
            <a:endParaRPr lang="en-US" sz="1000" dirty="0"/>
          </a:p>
        </p:txBody>
      </p:sp>
      <p:sp>
        <p:nvSpPr>
          <p:cNvPr id="13" name="Text 11"/>
          <p:cNvSpPr txBox="1"/>
          <p:nvPr/>
        </p:nvSpPr>
        <p:spPr>
          <a:xfrm>
            <a:off x="457200" y="292608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Explore &amp; verify</a:t>
            </a:r>
            <a:endParaRPr lang="en-US" sz="125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mempool.space (block explorer)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Live blocks, transactions and fee rates; look up any txid</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blockstream.info (block explorer)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Look up any block, transaction or address  blockstream.info</a:t>
            </a:r>
            <a:endParaRPr lang="en-US" sz="1000" dirty="0"/>
          </a:p>
        </p:txBody>
      </p:sp>
      <p:sp>
        <p:nvSpPr>
          <p:cNvPr id="18" name="Shape 16"/>
          <p:cNvSpPr/>
          <p:nvPr/>
        </p:nvSpPr>
        <p:spPr>
          <a:xfrm>
            <a:off x="493776" y="40782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400507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learnmeabitcoin.com (illustrated guide)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Every Bitcoin structure drawn and explained, with code</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 &amp; history</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Bitcoin Stack Exchange (Q&amp;A site)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Search or ask any technical question; answers are voted</a:t>
            </a:r>
            <a:endParaRPr lang="en-US" sz="1000" dirty="0"/>
          </a:p>
        </p:txBody>
      </p:sp>
      <p:sp>
        <p:nvSpPr>
          <p:cNvPr id="23" name="Shape 21"/>
          <p:cNvSpPr/>
          <p:nvPr/>
        </p:nvSpPr>
        <p:spPr>
          <a:xfrm>
            <a:off x="4768596" y="2121408"/>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Get 5 free bitcoins (bitcointalk thread)</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Gavin Andresen's faucet announcement, 11 June 2010</a:t>
            </a:r>
            <a:endParaRPr lang="en-US" sz="1000" dirty="0"/>
          </a:p>
        </p:txBody>
      </p:sp>
      <p:sp>
        <p:nvSpPr>
          <p:cNvPr id="25" name="Text 23"/>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6" name="Shape 24"/>
          <p:cNvSpPr/>
          <p:nvPr/>
        </p:nvSpPr>
        <p:spPr>
          <a:xfrm>
            <a:off x="4768596" y="2871216"/>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But how does bitcoin actually work?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3Blue1Brown draws the ledger, signatures and proof of work</a:t>
            </a:r>
            <a:endParaRPr lang="en-US" sz="10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evening on an explorer replays this whole chapter for free</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30</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transaction spends, creates, and pays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payment reaches every mempool with no postmaster</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rewriting a buried block costs more than it wins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six confirmations actually promises - a number</a:t>
            </a:r>
            <a:endParaRPr lang="en-US" sz="1600" dirty="0"/>
          </a:p>
        </p:txBody>
      </p:sp>
      <p:sp>
        <p:nvSpPr>
          <p:cNvPr id="6" name="Text 4"/>
          <p:cNvSpPr txBox="1"/>
          <p:nvPr/>
        </p:nvSpPr>
        <p:spPr>
          <a:xfrm>
            <a:off x="548640" y="4407408"/>
            <a:ext cx="80467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30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2: How Bitcoin Works</dc:title>
  <dc:subject>PptxGenJS Presentation</dc:subject>
  <dc:creator>Yusuf Altunel</dc:creator>
  <cp:lastModifiedBy>Yusuf Altunel</cp:lastModifiedBy>
  <cp:revision>1</cp:revision>
  <dcterms:created xsi:type="dcterms:W3CDTF">2026-10-16T07:09:56Z</dcterms:created>
  <dcterms:modified xsi:type="dcterms:W3CDTF">2026-10-16T07:09:56Z</dcterms:modified>
</cp:coreProperties>
</file>