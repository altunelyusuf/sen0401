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1.jpg" ContentType="image/jpg"/>
  <Override PartName="/ppt/media/image-6-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0.2045873</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asked what Bitcoin is; chapter 2 follows one payment - Alice pays Bob - all the way from her wallet to a buried block, and meets every moving part on the way.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payment followed all the way. The stories carry the why, the consoles carry the proof, and every slide number here is printed bottom-right as we pass it. A question to think about is this: which part do you expect to be hardest?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on this slide is one the chapter answers, from the parts of a transaction to what a confirmation buys. We return to every one of them as the chapter proceeds. If you can answer them at the end, the chapter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 Network and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31 October 2008 a pseudonymous author posted nine pages to a cryptography mailing list. Section 11 does something unusual for a systems paper, because it computes the attacker's odds. For an attacker with ten percent of the power, the paper's table gives about 0.2046 at one confirmation and 0.0002428 at six, and the example group AttackerSuccess reruns both. The sources are Nakamoto's 2008 paper and the announcement on the metzdowd cryptography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 question to think about is this: why must the 100,000 be spent whole rather than split? The full explanation is on the course page, chapter 2, in Transaction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unspent transaction output, abbreviated UTXO, is a transaction output that has not yet been used as an input by any later transaction. The glossary defines it as an unspent transaction output that can be spent as an input in a new transaction (Antonopoulos and Harding, 2023). A question to think about is this: where does the idea of an 'account balance' live, if not on the chain? The full explanation is on the course page, chapter 2, in Unspent output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Think about this case: pay a 20-lira coffee with a 50-lira note: where is the change output? The full explanation is on the course page, chapter 2, in Making change and Transaction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 question to think about is this: why does moving 1 BTC cost the same as moving 100? The full explanation is on the course page, chapter 2, in Fee rate and Transaction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the set of computers that run the Bitcoin protocol and exchange transactions and blocks with one another. This second branch of the chapter follows Alice's transaction out of her wallet and across that network. The full explanation is on the course page, chapter 2,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 question to think about is this: what happens if two conflicting spends gossip at once? The full explanation is on the course page, chapter 2, in Transaction propagation and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which the chapter calls a full verification node, is a program that has both the software logic and the data necessary to fully verify the correctness of a new transaction (Antonopoulos and Harding, 2023). A question to think about is this: which one is Alice's phone wallet, and what exactly does it trust? The full explanation is on the course page, chapter 2, in Full node and Lightweight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explorer is a web application that operates as a Bitcoin search engine: it allows you to search for addresses, transactions and blocks and to see the relationships and flows between them, in the chapter's own words (Antonopoulos and Harding, 2023). A question to think about is this: why does Bob check his OWN copy rather than trust Alice's screenshot? The full explanation is on the course page, chapter 2, in Block explorer and Recipient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The full explanation is on the course page, chapter 2, in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piece of data that takes a great deal of computation to find and almost none to check. A question to think about is this: who pays for all the losing tickets? The full explanation is on the course page, chapter 2, in Proof of work and Sudoku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 question to think about is this: why hash the header only, not the whole megabyte? The full explanation is on the course page, chapter 2, in Block and Block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Think about this case: a light client holds only the root. The full explanation is on the course page, chapter 2, in Merkle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The full explanation is on the course page, chapter 2, in Coinbase transaction and Block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On 15 August 2010 block 74,638 contained a transaction paying out about 184,467,440,737 BTC - thousands of times the 21 million cap. Two outputs were so large that, summed as 64-bit integers, they overflowed to a small number and slipped past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confirmation is a block that commits to a transaction, counted once for the block that contains it and once more for each block built on top. A question to think about is this: why does a reorg of depth 1 happen weekly, depth 6 almost never? The full explanation is on the course page, chapter 2, in Confirmation and Best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not an illustration: the build ran the whitepaper's section-11 procedure (examples group AttackerSuccess) and drew what it returned; the chapter research record matched the q=0.1 column against the paper to seven decimals. Think about this case: read the 30% line at six blocks. The full explanation is on the course page, chapter 2, in Probability and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Accepting a small payment unconfirmed is the practice of treating a transaction as paid as soon as it has propagated, without waiting for a block. It is not a rule of Bitcoin but a judgement about risk. A question to think about is this: where would you put a used-car sale on this line? The full explanation is on the course page, chapter 2, in Small payment acceptance and Unconfirmed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The full explanation is on the course page, chapter 2,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 question to think about is this: what triple would record Alice's payment to Bob? The full explanation is on the course page, chapter 2, in Triple and Provenance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If any feels like a claim rather than a fact, the agenda names the slides that prove it; the course page carries the full text. A question to think about is this: which line would you defend to a sceptic first, and with which slide?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Watch one transaction confirm on mempool.space tonight - pick any txid from the latest block - and you will have SEEN this whole chapter happen once. A question to think about is this: who can find Alice-sized fees (about 35 sat/vB) in the current mempool?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one carried by a computation you watched run. Next week: the wallet that holds Alice's keys.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bitcointalk.org/index.php?topic=183.0"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raw.githubusercontent.com/bitcoinbook/bitcoinbook/develop/ch02_overview.adoc" TargetMode="External"/><Relationship Id="rId2" Type="http://schemas.openxmlformats.org/officeDocument/2006/relationships/hyperlink" Target="https://en.bitcoin.it/wiki/Value_overflow_incident" TargetMode="External"/><Relationship Id="rId3" Type="http://schemas.openxmlformats.org/officeDocument/2006/relationships/hyperlink" Target="https://bitcoin.org/bitcoin.pdf" TargetMode="External"/><Relationship Id="rId4" Type="http://schemas.openxmlformats.org/officeDocument/2006/relationships/hyperlink" Target="https://cdn.nakamotoinstitute.org/docs/hashcash.pdf"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learnmeabitcoin.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83.0" TargetMode="External"/><Relationship Id="rId10" Type="http://schemas.openxmlformats.org/officeDocument/2006/relationships/hyperlink" Target="https://www.youtube.com/embed/bBC-nXj3Ng4" TargetMode="External"/><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Posted to a cryptography mailing list on 31 October 2008</a:t>
            </a:r>
            <a:endParaRPr lang="en-US" sz="1300" dirty="0"/>
          </a:p>
        </p:txBody>
      </p:sp>
      <p:pic>
        <p:nvPicPr>
          <p:cNvPr id="6" name="Image 0" descr="../../03-materials/ch02/assets/photo_satoshi_bust_budapest.jpg">    </p:cNvPr>
          <p:cNvPicPr>
            <a:picLocks noChangeAspect="1"/>
          </p:cNvPicPr>
          <p:nvPr/>
        </p:nvPicPr>
        <p:blipFill>
          <a:blip r:embed="rId1"/>
          <a:srcRect l="0" r="0" t="0" b="0"/>
          <a:stretch/>
        </p:blipFill>
        <p:spPr>
          <a:xfrm>
            <a:off x="6903720" y="1325880"/>
            <a:ext cx="1783080" cy="2011680"/>
          </a:xfrm>
          <a:prstGeom prst="rect">
            <a:avLst/>
          </a:prstGeom>
        </p:spPr>
      </p:pic>
      <p:sp>
        <p:nvSpPr>
          <p:cNvPr id="7" name="Text 4"/>
          <p:cNvSpPr txBox="1"/>
          <p:nvPr/>
        </p:nvSpPr>
        <p:spPr>
          <a:xfrm>
            <a:off x="6903720" y="3355848"/>
            <a:ext cx="1783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457200" y="1298448"/>
            <a:ext cx="2377440" cy="224028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457200" y="1408176"/>
            <a:ext cx="2377440" cy="457200"/>
          </a:xfrm>
          <a:prstGeom prst="rect">
            <a:avLst/>
          </a:prstGeom>
          <a:noFill/>
          <a:ln/>
        </p:spPr>
        <p:txBody>
          <a:bodyPr wrap="square" lIns="0" tIns="0" rIns="0" bIns="0" rtlCol="0" anchor="ctr"/>
          <a:lstStyle/>
          <a:p>
            <a:pPr algn="ctr" indent="0" marL="0">
              <a:buNone/>
            </a:pPr>
            <a:r>
              <a:rPr lang="en-US" sz="1300" b="1" dirty="0">
                <a:solidFill>
                  <a:srgbClr val="2B2622"/>
                </a:solidFill>
                <a:latin typeface="Cambria" pitchFamily="34" charset="0"/>
                <a:ea typeface="Cambria" pitchFamily="34" charset="-122"/>
                <a:cs typeface="Cambria" pitchFamily="34" charset="-120"/>
              </a:rPr>
              <a:t>The Cryptography List</a:t>
            </a:r>
            <a:endParaRPr lang="en-US" sz="1300" dirty="0"/>
          </a:p>
        </p:txBody>
      </p:sp>
      <p:sp>
        <p:nvSpPr>
          <p:cNvPr id="10" name="Shape 7"/>
          <p:cNvSpPr/>
          <p:nvPr/>
        </p:nvSpPr>
        <p:spPr>
          <a:xfrm>
            <a:off x="685800" y="1920240"/>
            <a:ext cx="1920240" cy="0"/>
          </a:xfrm>
          <a:prstGeom prst="line">
            <a:avLst/>
          </a:prstGeom>
          <a:noFill/>
          <a:ln w="12700">
            <a:solidFill>
              <a:srgbClr val="2B2622"/>
            </a:solidFill>
            <a:prstDash val="solid"/>
          </a:ln>
        </p:spPr>
      </p:sp>
      <p:sp>
        <p:nvSpPr>
          <p:cNvPr id="11" name="Text 8"/>
          <p:cNvSpPr txBox="1"/>
          <p:nvPr/>
        </p:nvSpPr>
        <p:spPr>
          <a:xfrm>
            <a:off x="457200" y="1956816"/>
            <a:ext cx="2377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Friday October 31 2008</a:t>
            </a:r>
            <a:endParaRPr lang="en-US" sz="1050" dirty="0"/>
          </a:p>
        </p:txBody>
      </p:sp>
      <p:sp>
        <p:nvSpPr>
          <p:cNvPr id="12" name="Text 9"/>
          <p:cNvSpPr txBox="1"/>
          <p:nvPr/>
        </p:nvSpPr>
        <p:spPr>
          <a:xfrm>
            <a:off x="621792" y="2194560"/>
            <a:ext cx="20482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P2P e-cash paper</a:t>
            </a:r>
            <a:endParaRPr lang="en-US" sz="1150" dirty="0"/>
          </a:p>
        </p:txBody>
      </p:sp>
      <p:sp>
        <p:nvSpPr>
          <p:cNvPr id="13" name="Shape 10"/>
          <p:cNvSpPr/>
          <p:nvPr/>
        </p:nvSpPr>
        <p:spPr>
          <a:xfrm>
            <a:off x="594360" y="313639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594360" y="313639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5" name="Text 12"/>
          <p:cNvSpPr txBox="1"/>
          <p:nvPr/>
        </p:nvSpPr>
        <p:spPr>
          <a:xfrm>
            <a:off x="3063240" y="1417320"/>
            <a:ext cx="365760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6" name="Shape 13"/>
          <p:cNvSpPr/>
          <p:nvPr/>
        </p:nvSpPr>
        <p:spPr>
          <a:xfrm>
            <a:off x="3063240" y="3033522"/>
            <a:ext cx="128016" cy="128016"/>
          </a:xfrm>
          <a:prstGeom prst="diamond">
            <a:avLst/>
          </a:prstGeom>
          <a:solidFill>
            <a:srgbClr val="D97A14"/>
          </a:solidFill>
          <a:ln w="12700">
            <a:solidFill>
              <a:srgbClr val="D97A14"/>
            </a:solidFill>
            <a:prstDash val="solid"/>
          </a:ln>
        </p:spPr>
      </p:sp>
      <p:sp>
        <p:nvSpPr>
          <p:cNvPr id="17" name="Text 14"/>
          <p:cNvSpPr txBox="1"/>
          <p:nvPr/>
        </p:nvSpPr>
        <p:spPr>
          <a:xfrm>
            <a:off x="3337560" y="2834640"/>
            <a:ext cx="33832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8" name="Shape 15"/>
          <p:cNvSpPr/>
          <p:nvPr/>
        </p:nvSpPr>
        <p:spPr>
          <a:xfrm>
            <a:off x="3063240" y="3559302"/>
            <a:ext cx="128016" cy="128016"/>
          </a:xfrm>
          <a:prstGeom prst="diamond">
            <a:avLst/>
          </a:prstGeom>
          <a:solidFill>
            <a:srgbClr val="D97A14"/>
          </a:solidFill>
          <a:ln w="12700">
            <a:solidFill>
              <a:srgbClr val="D97A14"/>
            </a:solidFill>
            <a:prstDash val="solid"/>
          </a:ln>
        </p:spPr>
      </p:sp>
      <p:sp>
        <p:nvSpPr>
          <p:cNvPr id="19" name="Text 16"/>
          <p:cNvSpPr txBox="1"/>
          <p:nvPr/>
        </p:nvSpPr>
        <p:spPr>
          <a:xfrm>
            <a:off x="3337560" y="3360420"/>
            <a:ext cx="33832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20" name="Shape 17"/>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announ…</a:t>
            </a:r>
            <a:endParaRPr lang="en-US" sz="750" dirty="0"/>
          </a:p>
        </p:txBody>
      </p:sp>
      <p:sp>
        <p:nvSpPr>
          <p:cNvPr id="22" name="Shape 19"/>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bitcoin.org - a nine-p…</a:t>
            </a:r>
            <a:endParaRPr lang="en-US" sz="750" dirty="0"/>
          </a:p>
        </p:txBody>
      </p:sp>
      <p:sp>
        <p:nvSpPr>
          <p:cNvPr id="24" name="Shape 21"/>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6" name="Shape 23"/>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ins, outs = [</a:t>
            </a:r>
            <a:r>
              <a:rPr lang="en-US" sz="950" dirty="0">
                <a:solidFill>
                  <a:srgbClr val="FFD28A"/>
                </a:solidFill>
                <a:latin typeface="Courier New" pitchFamily="34" charset="0"/>
                <a:ea typeface="Courier New" pitchFamily="34" charset="-122"/>
                <a:cs typeface="Courier New" pitchFamily="34" charset="-120"/>
              </a:rPr>
              <a:t>100000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75000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(1, 2, 5000)</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7680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7680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4023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539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39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1742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3118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311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9461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31699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127504"/>
            <a:ext cx="2092833" cy="31699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127504"/>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517648"/>
            <a:ext cx="1829943" cy="316992"/>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517648"/>
            <a:ext cx="182994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[o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spent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'Tx1:0'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}.items()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not</a:t>
            </a:r>
            <a:r>
              <a:rPr lang="en-US" sz="950" dirty="0">
                <a:solidFill>
                  <a:srgbClr val="E6EDF3"/>
                </a:solidFill>
                <a:latin typeface="Courier New" pitchFamily="34" charset="0"/>
                <a:ea typeface="Courier New" pitchFamily="34" charset="-122"/>
                <a:cs typeface="Courier New" pitchFamily="34" charset="-120"/>
              </a:rPr>
              <a: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283464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62686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198120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08632"/>
            <a:ext cx="755904"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548128" y="200863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07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35352"/>
            <a:ext cx="188976" cy="310896"/>
          </a:xfrm>
          <a:prstGeom prst="roundRect">
            <a:avLst>
              <a:gd name="adj" fmla="val 24194"/>
            </a:avLst>
          </a:prstGeom>
          <a:solidFill>
            <a:srgbClr val="2F6D62"/>
          </a:solidFill>
          <a:ln w="12700">
            <a:solidFill>
              <a:srgbClr val="2F6D62"/>
            </a:solidFill>
            <a:prstDash val="solid"/>
          </a:ln>
        </p:spPr>
      </p:sp>
      <p:sp>
        <p:nvSpPr>
          <p:cNvPr id="15" name="Text 13"/>
          <p:cNvSpPr txBox="1"/>
          <p:nvPr/>
        </p:nvSpPr>
        <p:spPr>
          <a:xfrm>
            <a:off x="1981200" y="2435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FFD28A"/>
                </a:solidFill>
                <a:latin typeface="Courier New" pitchFamily="34" charset="0"/>
                <a:ea typeface="Courier New" pitchFamily="34" charset="-122"/>
                <a:cs typeface="Courier New" pitchFamily="34" charset="-120"/>
              </a:rPr>
              <a:t>100000</a:t>
            </a:r>
            <a:r>
              <a:rPr lang="en-US" sz="1050" dirty="0">
                <a:solidFill>
                  <a:srgbClr val="E6EDF3"/>
                </a:solidFill>
                <a:latin typeface="Courier New" pitchFamily="34" charset="0"/>
                <a:ea typeface="Courier New" pitchFamily="34" charset="-122"/>
                <a:cs typeface="Courier New" pitchFamily="34" charset="-120"/>
              </a:rPr>
              <a:t> - sum([</a:t>
            </a:r>
            <a:r>
              <a:rPr lang="en-US" sz="1050" dirty="0">
                <a:solidFill>
                  <a:srgbClr val="FFD28A"/>
                </a:solidFill>
                <a:latin typeface="Courier New" pitchFamily="34" charset="0"/>
                <a:ea typeface="Courier New" pitchFamily="34" charset="-122"/>
                <a:cs typeface="Courier New" pitchFamily="34" charset="-120"/>
              </a:rPr>
              <a:t>75000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20000</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097280"/>
          </a:xfrm>
          <a:prstGeom prst="rect">
            <a:avLst/>
          </a:prstGeom>
        </p:spPr>
      </p:pic>
      <p:sp>
        <p:nvSpPr>
          <p:cNvPr id="23" name="Text 20"/>
          <p:cNvSpPr txBox="1"/>
          <p:nvPr/>
        </p:nvSpPr>
        <p:spPr>
          <a:xfrm>
            <a:off x="5760720" y="41330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569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331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3931920" y="3566160"/>
            <a:ext cx="2263140" cy="1051560"/>
          </a:xfrm>
          <a:prstGeom prst="roundRect">
            <a:avLst>
              <a:gd name="adj" fmla="val 6957"/>
            </a:avLst>
          </a:prstGeom>
          <a:solidFill>
            <a:srgbClr val="F2ECE1"/>
          </a:solidFill>
          <a:ln w="12700">
            <a:solidFill>
              <a:srgbClr val="DFD6C7"/>
            </a:solidFill>
            <a:prstDash val="solid"/>
          </a:ln>
        </p:spPr>
      </p:sp>
      <p:sp>
        <p:nvSpPr>
          <p:cNvPr id="24" name="Text 22"/>
          <p:cNvSpPr txBox="1"/>
          <p:nvPr/>
        </p:nvSpPr>
        <p:spPr>
          <a:xfrm>
            <a:off x="404164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566160"/>
            <a:ext cx="2263140" cy="1051560"/>
          </a:xfrm>
          <a:prstGeom prst="roundRect">
            <a:avLst>
              <a:gd name="adj" fmla="val 6957"/>
            </a:avLst>
          </a:prstGeom>
          <a:solidFill>
            <a:srgbClr val="F2ECE1"/>
          </a:solidFill>
          <a:ln w="12700">
            <a:solidFill>
              <a:srgbClr val="DFD6C7"/>
            </a:solidFill>
            <a:prstDash val="solid"/>
          </a:ln>
        </p:spPr>
      </p:sp>
      <p:sp>
        <p:nvSpPr>
          <p:cNvPr id="27" name="Text 25"/>
          <p:cNvSpPr txBox="1"/>
          <p:nvPr/>
        </p:nvSpPr>
        <p:spPr>
          <a:xfrm>
            <a:off x="653338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2010-06-11, from the bitcointalk announcement</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331720"/>
          </a:xfrm>
          <a:prstGeom prst="rect">
            <a:avLst/>
          </a:prstGeom>
        </p:spPr>
      </p:pic>
      <p:sp>
        <p:nvSpPr>
          <p:cNvPr id="7" name="Text 4"/>
          <p:cNvSpPr txBox="1"/>
          <p:nvPr/>
        </p:nvSpPr>
        <p:spPr>
          <a:xfrm>
            <a:off x="457200" y="36758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Web Summit 2014 - Stephen McCarthy,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Andresen, the deve…</a:t>
            </a:r>
            <a:endParaRPr lang="en-US" sz="750" dirty="0"/>
          </a:p>
        </p:txBody>
      </p:sp>
      <p:sp>
        <p:nvSpPr>
          <p:cNvPr id="18" name="Shape 15"/>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freebitcoins.appspot.c…</a:t>
            </a:r>
            <a:endParaRPr lang="en-US" sz="750" dirty="0"/>
          </a:p>
        </p:txBody>
      </p:sp>
      <p:sp>
        <p:nvSpPr>
          <p:cNvPr id="20" name="Shape 17"/>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2010-06-11</a:t>
            </a:r>
            <a:endParaRPr lang="en-US" sz="750" dirty="0"/>
          </a:p>
        </p:txBody>
      </p:sp>
      <p:sp>
        <p:nvSpPr>
          <p:cNvPr id="22" name="Shape 19"/>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sec, nodes = </a:t>
            </a:r>
            <a:r>
              <a:rPr lang="en-US" sz="950" dirty="0">
                <a:solidFill>
                  <a:srgbClr val="FFD28A"/>
                </a:solidFill>
                <a:latin typeface="Courier New" pitchFamily="34" charset="0"/>
                <a:ea typeface="Courier New" pitchFamily="34" charset="-122"/>
                <a:cs typeface="Courier New" pitchFamily="34" charset="-120"/>
              </a:rPr>
              <a:t>5</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7040880" y="25146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checks = {</a:t>
            </a:r>
            <a:r>
              <a:rPr lang="en-US" sz="800" dirty="0">
                <a:solidFill>
                  <a:srgbClr val="9ECBFF"/>
                </a:solidFill>
                <a:latin typeface="Courier New" pitchFamily="34" charset="0"/>
                <a:ea typeface="Courier New" pitchFamily="34" charset="-122"/>
                <a:cs typeface="Courier New" pitchFamily="34" charset="-120"/>
              </a:rPr>
              <a:t>'syntax'</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'inputs_nonempty'</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'amounts_in_range'</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'outputs_unspent'</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'scripts_valid'</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all(checks.values()) </a:t>
            </a:r>
            <a:r>
              <a:rPr lang="en-US" sz="800" b="1" dirty="0">
                <a:solidFill>
                  <a:srgbClr val="F2A860"/>
                </a:solidFill>
                <a:latin typeface="Courier New" pitchFamily="34" charset="0"/>
                <a:ea typeface="Courier New" pitchFamily="34" charset="-122"/>
                <a:cs typeface="Courier New" pitchFamily="34" charset="-120"/>
              </a:rPr>
              <a:t>and</a:t>
            </a:r>
            <a:r>
              <a:rPr lang="en-US" sz="800" dirty="0">
                <a:solidFill>
                  <a:srgbClr val="E6EDF3"/>
                </a:solidFill>
                <a:latin typeface="Courier New" pitchFamily="34" charset="0"/>
                <a:ea typeface="Courier New" pitchFamily="34" charset="-122"/>
                <a:cs typeface="Courier New" pitchFamily="34" charset="-120"/>
              </a:rPr>
              <a:t>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q = </a:t>
            </a:r>
            <a:r>
              <a:rPr lang="en-US" sz="730" dirty="0">
                <a:solidFill>
                  <a:srgbClr val="9ECBFF"/>
                </a:solidFill>
                <a:latin typeface="Courier New" pitchFamily="34" charset="0"/>
                <a:ea typeface="Courier New" pitchFamily="34" charset="-122"/>
                <a:cs typeface="Courier New" pitchFamily="34" charset="-120"/>
              </a:rPr>
              <a:t>'466200308696215bbc949d5141a49a4138ecdfdfaa2a8029c1f9bcecd1f96177'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9ECBFF"/>
                </a:solidFill>
                <a:latin typeface="Courier New" pitchFamily="34" charset="0"/>
                <a:ea typeface="Courier New" pitchFamily="34" charset="-122"/>
                <a:cs typeface="Courier New" pitchFamily="34" charset="-120"/>
              </a:rPr>
              <a:t>'txid'</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len(q) == </a:t>
            </a:r>
            <a:r>
              <a:rPr lang="en-US" sz="730" dirty="0">
                <a:solidFill>
                  <a:srgbClr val="FFD28A"/>
                </a:solidFill>
                <a:latin typeface="Courier New" pitchFamily="34" charset="0"/>
                <a:ea typeface="Courier New" pitchFamily="34" charset="-122"/>
                <a:cs typeface="Courier New" pitchFamily="34" charset="-120"/>
              </a:rPr>
              <a:t>64</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'address'</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q.startswith(</a:t>
            </a:r>
            <a:r>
              <a:rPr lang="en-US" sz="730" dirty="0">
                <a:solidFill>
                  <a:srgbClr val="9ECBFF"/>
                </a:solidFill>
                <a:latin typeface="Courier New" pitchFamily="34" charset="0"/>
                <a:ea typeface="Courier New" pitchFamily="34" charset="-122"/>
                <a:cs typeface="Courier New" pitchFamily="34" charset="-120"/>
              </a:rPr>
              <a:t>'bc1'</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18745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60220"/>
            <a:ext cx="3824021" cy="187452"/>
          </a:xfrm>
          <a:prstGeom prst="trapezoid">
            <a:avLst/>
          </a:prstGeom>
          <a:solidFill>
            <a:srgbClr val="2F6D62"/>
          </a:solidFill>
          <a:ln w="12700">
            <a:solidFill>
              <a:srgbClr val="FFFFFF"/>
            </a:solidFill>
            <a:prstDash val="solid"/>
          </a:ln>
        </p:spPr>
      </p:sp>
      <p:sp>
        <p:nvSpPr>
          <p:cNvPr id="18" name="Text 16"/>
          <p:cNvSpPr txBox="1"/>
          <p:nvPr/>
        </p:nvSpPr>
        <p:spPr>
          <a:xfrm>
            <a:off x="4397350" y="1760220"/>
            <a:ext cx="3824021"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057400"/>
            <a:ext cx="2984602" cy="187452"/>
          </a:xfrm>
          <a:prstGeom prst="trapezoid">
            <a:avLst/>
          </a:prstGeom>
          <a:solidFill>
            <a:srgbClr val="2F6D62"/>
          </a:solidFill>
          <a:ln w="12700">
            <a:solidFill>
              <a:srgbClr val="FFFFFF"/>
            </a:solidFill>
            <a:prstDash val="solid"/>
          </a:ln>
        </p:spPr>
      </p:sp>
      <p:sp>
        <p:nvSpPr>
          <p:cNvPr id="20" name="Text 18"/>
          <p:cNvSpPr txBox="1"/>
          <p:nvPr/>
        </p:nvSpPr>
        <p:spPr>
          <a:xfrm>
            <a:off x="4817059" y="2057400"/>
            <a:ext cx="2984602"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354580"/>
            <a:ext cx="2145182" cy="187452"/>
          </a:xfrm>
          <a:prstGeom prst="trapezoid">
            <a:avLst/>
          </a:prstGeom>
          <a:solidFill>
            <a:srgbClr val="D97A14"/>
          </a:solidFill>
          <a:ln w="12700">
            <a:solidFill>
              <a:srgbClr val="FFFFFF"/>
            </a:solidFill>
            <a:prstDash val="solid"/>
          </a:ln>
        </p:spPr>
      </p:sp>
      <p:sp>
        <p:nvSpPr>
          <p:cNvPr id="22" name="Text 20"/>
          <p:cNvSpPr txBox="1"/>
          <p:nvPr/>
        </p:nvSpPr>
        <p:spPr>
          <a:xfrm>
            <a:off x="5236769" y="2354580"/>
            <a:ext cx="2145182" cy="1874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2743200"/>
          </a:xfrm>
          <a:prstGeom prst="rect">
            <a:avLst/>
          </a:prstGeom>
        </p:spPr>
      </p:pic>
      <p:sp>
        <p:nvSpPr>
          <p:cNvPr id="7" name="Text 4"/>
          <p:cNvSpPr txBox="1"/>
          <p:nvPr/>
        </p:nvSpPr>
        <p:spPr>
          <a:xfrm>
            <a:off x="457200" y="40873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192633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88976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39877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36220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2880360"/>
            <a:ext cx="1330452" cy="28346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2880360"/>
            <a:ext cx="133045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prev hash</a:t>
            </a:r>
            <a:endParaRPr lang="en-US" sz="1000" dirty="0"/>
          </a:p>
        </p:txBody>
      </p:sp>
      <p:sp>
        <p:nvSpPr>
          <p:cNvPr id="19" name="Shape 16"/>
          <p:cNvSpPr/>
          <p:nvPr/>
        </p:nvSpPr>
        <p:spPr>
          <a:xfrm>
            <a:off x="5143500" y="2880360"/>
            <a:ext cx="1540764" cy="28346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143500" y="2880360"/>
            <a:ext cx="154076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Merkle root</a:t>
            </a:r>
            <a:endParaRPr lang="en-US" sz="1000" dirty="0"/>
          </a:p>
        </p:txBody>
      </p:sp>
      <p:sp>
        <p:nvSpPr>
          <p:cNvPr id="21" name="Shape 18"/>
          <p:cNvSpPr/>
          <p:nvPr/>
        </p:nvSpPr>
        <p:spPr>
          <a:xfrm>
            <a:off x="6885432" y="2880360"/>
            <a:ext cx="804672" cy="28346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6885432" y="2880360"/>
            <a:ext cx="80467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p>
        </p:txBody>
      </p:sp>
      <p:sp>
        <p:nvSpPr>
          <p:cNvPr id="23" name="Shape 20"/>
          <p:cNvSpPr/>
          <p:nvPr/>
        </p:nvSpPr>
        <p:spPr>
          <a:xfrm>
            <a:off x="3611880" y="3236976"/>
            <a:ext cx="1014984" cy="28346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236976"/>
            <a:ext cx="101498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target</a:t>
            </a:r>
            <a:endParaRPr lang="en-US" sz="1000" dirty="0"/>
          </a:p>
        </p:txBody>
      </p:sp>
      <p:sp>
        <p:nvSpPr>
          <p:cNvPr id="25" name="Shape 22"/>
          <p:cNvSpPr/>
          <p:nvPr/>
        </p:nvSpPr>
        <p:spPr>
          <a:xfrm>
            <a:off x="4828032" y="3236976"/>
            <a:ext cx="909828" cy="28346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28032" y="3236976"/>
            <a:ext cx="909828"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nonce</a:t>
            </a:r>
            <a:endParaRPr lang="en-US" sz="1000" dirty="0"/>
          </a:p>
        </p:txBody>
      </p:sp>
      <p:sp>
        <p:nvSpPr>
          <p:cNvPr id="27" name="Text 24"/>
          <p:cNvSpPr txBox="1"/>
          <p:nvPr/>
        </p:nvSpPr>
        <p:spPr>
          <a:xfrm>
            <a:off x="3611880" y="3566160"/>
            <a:ext cx="3337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bytes carry a 4 MB body: 1 to 50,000</a:t>
            </a:r>
            <a:endParaRPr lang="en-US" sz="1150" dirty="0"/>
          </a:p>
        </p:txBody>
      </p:sp>
      <p:sp>
        <p:nvSpPr>
          <p:cNvPr id="28" name="Shape 25"/>
          <p:cNvSpPr/>
          <p:nvPr/>
        </p:nvSpPr>
        <p:spPr>
          <a:xfrm>
            <a:off x="3611880" y="3840480"/>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59352"/>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a:t>
            </a:r>
            <a:r>
              <a:rPr lang="en-US" sz="950" dirty="0">
                <a:solidFill>
                  <a:srgbClr val="FFD28A"/>
                </a:solidFill>
                <a:latin typeface="Courier New" pitchFamily="34" charset="0"/>
                <a:ea typeface="Courier New" pitchFamily="34" charset="-122"/>
                <a:cs typeface="Courier New" pitchFamily="34" charset="-120"/>
              </a:rPr>
              <a:t>80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7040880" y="3566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2865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59280"/>
            <a:ext cx="3824021" cy="286512"/>
          </a:xfrm>
          <a:prstGeom prst="trapezoid">
            <a:avLst/>
          </a:prstGeom>
          <a:solidFill>
            <a:srgbClr val="2F6D62"/>
          </a:solidFill>
          <a:ln w="12700">
            <a:solidFill>
              <a:srgbClr val="FFFFFF"/>
            </a:solidFill>
            <a:prstDash val="solid"/>
          </a:ln>
        </p:spPr>
      </p:sp>
      <p:sp>
        <p:nvSpPr>
          <p:cNvPr id="18" name="Text 16"/>
          <p:cNvSpPr txBox="1"/>
          <p:nvPr/>
        </p:nvSpPr>
        <p:spPr>
          <a:xfrm>
            <a:off x="4397350" y="1859280"/>
            <a:ext cx="3824021"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255520"/>
            <a:ext cx="2984602" cy="286512"/>
          </a:xfrm>
          <a:prstGeom prst="trapezoid">
            <a:avLst/>
          </a:prstGeom>
          <a:solidFill>
            <a:srgbClr val="D97A14"/>
          </a:solidFill>
          <a:ln w="12700">
            <a:solidFill>
              <a:srgbClr val="FFFFFF"/>
            </a:solidFill>
            <a:prstDash val="solid"/>
          </a:ln>
        </p:spPr>
      </p:sp>
      <p:sp>
        <p:nvSpPr>
          <p:cNvPr id="20" name="Text 18"/>
          <p:cNvSpPr txBox="1"/>
          <p:nvPr/>
        </p:nvSpPr>
        <p:spPr>
          <a:xfrm>
            <a:off x="4817059" y="2255520"/>
            <a:ext cx="2984602" cy="2865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 = [d(x)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'B'</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'C'</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d(d(L[</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d(L[</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])).hex()[:</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fees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625000000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393192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5440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2010-08-15, from the bitcointalk reports</a:t>
            </a:r>
            <a:endParaRPr lang="en-US" sz="1300" dirty="0"/>
          </a:p>
        </p:txBody>
      </p:sp>
      <p:pic>
        <p:nvPicPr>
          <p:cNvPr id="6" name="Image 0" descr="../../03-materials/ch02/assets/photo_bitcoin_logo.png">    </p:cNvPr>
          <p:cNvPicPr>
            <a:picLocks noChangeAspect="1"/>
          </p:cNvPicPr>
          <p:nvPr/>
        </p:nvPicPr>
        <p:blipFill>
          <a:blip r:embed="rId1"/>
          <a:srcRect l="0" r="0" t="0" b="0"/>
          <a:stretch/>
        </p:blipFill>
        <p:spPr>
          <a:xfrm>
            <a:off x="6903720" y="2697480"/>
            <a:ext cx="1783080" cy="868680"/>
          </a:xfrm>
          <a:prstGeom prst="rect">
            <a:avLst/>
          </a:prstGeom>
        </p:spPr>
      </p:pic>
      <p:sp>
        <p:nvSpPr>
          <p:cNvPr id="7" name="Text 4"/>
          <p:cNvSpPr txBox="1"/>
          <p:nvPr/>
        </p:nvSpPr>
        <p:spPr>
          <a:xfrm>
            <a:off x="6903720" y="3584448"/>
            <a:ext cx="1783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logo - Grayliptrot, public domain</a:t>
            </a:r>
            <a:endParaRPr lang="en-US" sz="900" dirty="0"/>
          </a:p>
        </p:txBody>
      </p:sp>
      <p:sp>
        <p:nvSpPr>
          <p:cNvPr id="8" name="Shape 5"/>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9" name="Text 6"/>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10" name="Text 7"/>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11" name="Shape 8"/>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2" name="Text 9"/>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3" name="Text 10"/>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4" name="Shape 11"/>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5" name="Text 12"/>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6" name="Text 13"/>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7" name="Shape 14"/>
          <p:cNvSpPr/>
          <p:nvPr/>
        </p:nvSpPr>
        <p:spPr>
          <a:xfrm>
            <a:off x="457200" y="2743200"/>
            <a:ext cx="6309360" cy="286512"/>
          </a:xfrm>
          <a:prstGeom prst="roundRect">
            <a:avLst>
              <a:gd name="adj" fmla="val 25532"/>
            </a:avLst>
          </a:prstGeom>
          <a:solidFill>
            <a:srgbClr val="F2ECE1"/>
          </a:solidFill>
          <a:ln w="19050">
            <a:solidFill>
              <a:srgbClr val="D97A14"/>
            </a:solidFill>
            <a:prstDash val="solid"/>
          </a:ln>
        </p:spPr>
      </p:sp>
      <p:sp>
        <p:nvSpPr>
          <p:cNvPr id="18" name="Shape 15"/>
          <p:cNvSpPr/>
          <p:nvPr/>
        </p:nvSpPr>
        <p:spPr>
          <a:xfrm>
            <a:off x="548640" y="2740152"/>
            <a:ext cx="292608" cy="292608"/>
          </a:xfrm>
          <a:prstGeom prst="ellipse">
            <a:avLst/>
          </a:prstGeom>
          <a:solidFill>
            <a:srgbClr val="D97A14"/>
          </a:solidFill>
          <a:ln w="12700">
            <a:solidFill>
              <a:srgbClr val="D97A14"/>
            </a:solidFill>
            <a:prstDash val="solid"/>
          </a:ln>
        </p:spPr>
      </p:sp>
      <p:sp>
        <p:nvSpPr>
          <p:cNvPr id="19" name="Text 16"/>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7"/>
          <p:cNvSpPr txBox="1"/>
          <p:nvPr/>
        </p:nvSpPr>
        <p:spPr>
          <a:xfrm>
            <a:off x="932688" y="2743200"/>
            <a:ext cx="576072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21" name="Shape 18"/>
          <p:cNvSpPr/>
          <p:nvPr/>
        </p:nvSpPr>
        <p:spPr>
          <a:xfrm>
            <a:off x="457200" y="3139440"/>
            <a:ext cx="6309360" cy="286512"/>
          </a:xfrm>
          <a:prstGeom prst="roundRect">
            <a:avLst>
              <a:gd name="adj" fmla="val 25532"/>
            </a:avLst>
          </a:prstGeom>
          <a:solidFill>
            <a:srgbClr val="F2ECE1"/>
          </a:solidFill>
          <a:ln w="19050">
            <a:solidFill>
              <a:srgbClr val="D97A14"/>
            </a:solidFill>
            <a:prstDash val="solid"/>
          </a:ln>
        </p:spPr>
      </p:sp>
      <p:sp>
        <p:nvSpPr>
          <p:cNvPr id="22" name="Shape 19"/>
          <p:cNvSpPr/>
          <p:nvPr/>
        </p:nvSpPr>
        <p:spPr>
          <a:xfrm>
            <a:off x="548640" y="3136392"/>
            <a:ext cx="292608" cy="292608"/>
          </a:xfrm>
          <a:prstGeom prst="ellipse">
            <a:avLst/>
          </a:prstGeom>
          <a:solidFill>
            <a:srgbClr val="D97A14"/>
          </a:solidFill>
          <a:ln w="12700">
            <a:solidFill>
              <a:srgbClr val="D97A14"/>
            </a:solidFill>
            <a:prstDash val="solid"/>
          </a:ln>
        </p:spPr>
      </p:sp>
      <p:sp>
        <p:nvSpPr>
          <p:cNvPr id="23" name="Text 20"/>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1"/>
          <p:cNvSpPr txBox="1"/>
          <p:nvPr/>
        </p:nvSpPr>
        <p:spPr>
          <a:xfrm>
            <a:off x="932688" y="3139440"/>
            <a:ext cx="576072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5" name="Shape 22"/>
          <p:cNvSpPr/>
          <p:nvPr/>
        </p:nvSpPr>
        <p:spPr>
          <a:xfrm>
            <a:off x="457200" y="3535680"/>
            <a:ext cx="6309360" cy="286512"/>
          </a:xfrm>
          <a:prstGeom prst="roundRect">
            <a:avLst>
              <a:gd name="adj" fmla="val 25532"/>
            </a:avLst>
          </a:prstGeom>
          <a:solidFill>
            <a:srgbClr val="F2ECE1"/>
          </a:solidFill>
          <a:ln w="19050">
            <a:solidFill>
              <a:srgbClr val="2F6D62"/>
            </a:solidFill>
            <a:prstDash val="solid"/>
          </a:ln>
        </p:spPr>
      </p:sp>
      <p:sp>
        <p:nvSpPr>
          <p:cNvPr id="26" name="Shape 23"/>
          <p:cNvSpPr/>
          <p:nvPr/>
        </p:nvSpPr>
        <p:spPr>
          <a:xfrm>
            <a:off x="548640" y="3532632"/>
            <a:ext cx="292608" cy="292608"/>
          </a:xfrm>
          <a:prstGeom prst="ellipse">
            <a:avLst/>
          </a:prstGeom>
          <a:solidFill>
            <a:srgbClr val="2F6D62"/>
          </a:solidFill>
          <a:ln w="12700">
            <a:solidFill>
              <a:srgbClr val="2F6D62"/>
            </a:solidFill>
            <a:prstDash val="solid"/>
          </a:ln>
        </p:spPr>
      </p:sp>
      <p:sp>
        <p:nvSpPr>
          <p:cNvPr id="27" name="Text 24"/>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5"/>
          <p:cNvSpPr txBox="1"/>
          <p:nvPr/>
        </p:nvSpPr>
        <p:spPr>
          <a:xfrm>
            <a:off x="932688" y="3535680"/>
            <a:ext cx="576072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9" name="Shape 26"/>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30" name="Text 27"/>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spo…</a:t>
            </a:r>
            <a:endParaRPr lang="en-US" sz="750" dirty="0"/>
          </a:p>
        </p:txBody>
      </p:sp>
      <p:sp>
        <p:nvSpPr>
          <p:cNvPr id="31" name="Shape 28"/>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2" name="Text 29"/>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discusse…</a:t>
            </a:r>
            <a:endParaRPr lang="en-US" sz="750" dirty="0"/>
          </a:p>
        </p:txBody>
      </p:sp>
      <p:sp>
        <p:nvSpPr>
          <p:cNvPr id="33" name="Shape 30"/>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4" name="Text 31"/>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5" name="Shape 32"/>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6" name="Text 33"/>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7"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9"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2F6D62"/>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2F6D62"/>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2F6D62"/>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2F6D62"/>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2F6D62"/>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1280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7040880" y="1280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triples =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'used'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'wasGeneratedBy'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'wasAttributedTo'</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'Alice'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(len(triples), len({s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 | {o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33756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chain = [</a:t>
            </a:r>
            <a:r>
              <a:rPr lang="en-US" sz="1000" dirty="0">
                <a:solidFill>
                  <a:srgbClr val="9ECBFF"/>
                </a:solidFill>
                <a:latin typeface="Courier New" pitchFamily="34" charset="0"/>
                <a:ea typeface="Courier New" pitchFamily="34" charset="-122"/>
                <a:cs typeface="Courier New" pitchFamily="34" charset="-120"/>
              </a:rPr>
              <a:t>'Tx1:0'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'Tx3:0'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a:t>
            </a:r>
            <a:r>
              <a:rPr lang="en-US" sz="1000" dirty="0">
                <a:solidFill>
                  <a:srgbClr val="9ECBFF"/>
                </a:solidFill>
                <a:latin typeface="Courier New" pitchFamily="34" charset="0"/>
                <a:ea typeface="Courier New" pitchFamily="34" charset="-122"/>
                <a:cs typeface="Courier New" pitchFamily="34" charset="-120"/>
              </a:rPr>
              <a:t>'wasDerivedFrom'</a:t>
            </a:r>
            <a:r>
              <a:rPr lang="en-US" sz="1000" dirty="0">
                <a:solidFill>
                  <a:srgbClr val="E6EDF3"/>
                </a:solidFill>
                <a:latin typeface="Courier New" pitchFamily="34" charset="0"/>
                <a:ea typeface="Courier New" pitchFamily="34" charset="-122"/>
                <a:cs typeface="Courier New" pitchFamily="34" charset="-120"/>
              </a:rPr>
              <a:t>,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zip(chain, chain[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7040880" y="3337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hashlib.sha256(b</a:t>
            </a:r>
            <a:r>
              <a:rPr lang="en-US" sz="1050" dirty="0">
                <a:solidFill>
                  <a:srgbClr val="9ECBFF"/>
                </a:solidFill>
                <a:latin typeface="Courier New" pitchFamily="34" charset="0"/>
                <a:ea typeface="Courier New" pitchFamily="34" charset="-122"/>
                <a:cs typeface="Courier New" pitchFamily="34" charset="-120"/>
              </a:rPr>
              <a:t>'Alice pays Bob 75000'</a:t>
            </a:r>
            <a:r>
              <a:rPr lang="en-US" sz="1050" dirty="0">
                <a:solidFill>
                  <a:srgbClr val="E6EDF3"/>
                </a:solidFill>
                <a:latin typeface="Courier New" pitchFamily="34" charset="0"/>
                <a:ea typeface="Courier New" pitchFamily="34" charset="-122"/>
                <a:cs typeface="Courier New" pitchFamily="34" charset="-120"/>
              </a:rPr>
              <a:t>).hexdigest()[:</a:t>
            </a:r>
            <a:r>
              <a:rPr lang="en-US" sz="1050" dirty="0">
                <a:solidFill>
                  <a:srgbClr val="FFD28A"/>
                </a:solidFill>
                <a:latin typeface="Courier New" pitchFamily="34" charset="0"/>
                <a:ea typeface="Courier New" pitchFamily="34" charset="-122"/>
                <a:cs typeface="Courier New" pitchFamily="34" charset="-120"/>
              </a:rPr>
              <a:t>16</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17627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500000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7040880" y="217627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2095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chain, edited = [</a:t>
            </a:r>
            <a:r>
              <a:rPr lang="en-US" sz="1050" dirty="0">
                <a:solidFill>
                  <a:srgbClr val="9ECBFF"/>
                </a:solidFill>
                <a:latin typeface="Courier New" pitchFamily="34" charset="0"/>
                <a:ea typeface="Courier New" pitchFamily="34" charset="-122"/>
                <a:cs typeface="Courier New" pitchFamily="34" charset="-120"/>
              </a:rPr>
              <a:t>'b1'</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'b2'</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'b5'</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i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range(len(chain)) </a:t>
            </a:r>
            <a:r>
              <a:rPr lang="en-US" sz="1050" b="1" dirty="0">
                <a:solidFill>
                  <a:srgbClr val="F2A860"/>
                </a:solidFill>
                <a:latin typeface="Courier New" pitchFamily="34" charset="0"/>
                <a:ea typeface="Courier New" pitchFamily="34" charset="-122"/>
                <a:cs typeface="Courier New" pitchFamily="34" charset="-120"/>
              </a:rPr>
              <a:t>if</a:t>
            </a:r>
            <a:r>
              <a:rPr lang="en-US" sz="1050" dirty="0">
                <a:solidFill>
                  <a:srgbClr val="E6EDF3"/>
                </a:solidFill>
                <a:latin typeface="Courier New" pitchFamily="34" charset="0"/>
                <a:ea typeface="Courier New" pitchFamily="34" charset="-122"/>
                <a:cs typeface="Courier New" pitchFamily="34" charset="-120"/>
              </a:rPr>
              <a:t>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7040880" y="32095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2026-10-19;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2: How Bitcoin Works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block 74,638 did and how it was fixed  en.bitcoin.it</a:t>
            </a:r>
            <a:endParaRPr lang="en-US" sz="1000" dirty="0"/>
          </a:p>
        </p:txBody>
      </p:sp>
      <p:sp>
        <p:nvSpPr>
          <p:cNvPr id="11" name="Text 9"/>
          <p:cNvSpPr txBox="1"/>
          <p:nvPr/>
        </p:nvSpPr>
        <p:spPr>
          <a:xfrm>
            <a:off x="45720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papers</a:t>
            </a:r>
            <a:endParaRPr lang="en-US" sz="1250" dirty="0"/>
          </a:p>
        </p:txBody>
      </p:sp>
      <p:sp>
        <p:nvSpPr>
          <p:cNvPr id="12" name="Shape 10"/>
          <p:cNvSpPr/>
          <p:nvPr/>
        </p:nvSpPr>
        <p:spPr>
          <a:xfrm>
            <a:off x="493776" y="2743200"/>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Section 11: the table of attacker odds this chapter charts</a:t>
            </a:r>
            <a:endParaRPr lang="en-US" sz="100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16" name="Text 14"/>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7" name="Shape 15"/>
          <p:cNvSpPr/>
          <p:nvPr/>
        </p:nvSpPr>
        <p:spPr>
          <a:xfrm>
            <a:off x="4768596" y="1719072"/>
            <a:ext cx="82296" cy="82296"/>
          </a:xfrm>
          <a:prstGeom prst="ellipse">
            <a:avLst/>
          </a:prstGeom>
          <a:solidFill>
            <a:srgbClr val="D97A14"/>
          </a:solidFill>
          <a:ln w="12700">
            <a:solidFill>
              <a:srgbClr val="D97A14"/>
            </a:solidFill>
            <a:prstDash val="solid"/>
          </a:ln>
        </p:spPr>
      </p:sp>
      <p:sp>
        <p:nvSpPr>
          <p:cNvPr id="18" name="Text 16"/>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9" name="Shape 17"/>
          <p:cNvSpPr/>
          <p:nvPr/>
        </p:nvSpPr>
        <p:spPr>
          <a:xfrm>
            <a:off x="4768596" y="2057400"/>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1" name="Shape 19"/>
          <p:cNvSpPr/>
          <p:nvPr/>
        </p:nvSpPr>
        <p:spPr>
          <a:xfrm>
            <a:off x="4768596" y="239572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 (illustrated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Bitcoin structure drawn and explained, with code</a:t>
            </a:r>
            <a:endParaRPr lang="en-US" sz="1000" dirty="0"/>
          </a:p>
        </p:txBody>
      </p:sp>
      <p:sp>
        <p:nvSpPr>
          <p:cNvPr id="23" name="Text 21"/>
          <p:cNvSpPr txBox="1"/>
          <p:nvPr/>
        </p:nvSpPr>
        <p:spPr>
          <a:xfrm>
            <a:off x="473202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4" name="Shape 22"/>
          <p:cNvSpPr/>
          <p:nvPr/>
        </p:nvSpPr>
        <p:spPr>
          <a:xfrm>
            <a:off x="4768596" y="3081528"/>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6" name="Shape 24"/>
          <p:cNvSpPr/>
          <p:nvPr/>
        </p:nvSpPr>
        <p:spPr>
          <a:xfrm>
            <a:off x="4768596" y="341985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Gavin Andresen's faucet announcement, 11 June 2010</a:t>
            </a:r>
            <a:endParaRPr lang="en-US" sz="1000" dirty="0"/>
          </a:p>
        </p:txBody>
      </p:sp>
      <p:sp>
        <p:nvSpPr>
          <p:cNvPr id="28" name="Text 26"/>
          <p:cNvSpPr txBox="1"/>
          <p:nvPr/>
        </p:nvSpPr>
        <p:spPr>
          <a:xfrm>
            <a:off x="4732020" y="375818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105656"/>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40325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dc:title>
  <dc:subject>PptxGenJS Presentation</dc:subject>
  <dc:creator>Yusuf Altunel</dc:creator>
  <cp:lastModifiedBy>Yusuf Altunel</cp:lastModifiedBy>
  <cp:revision>1</cp:revision>
  <dcterms:created xsi:type="dcterms:W3CDTF">2026-10-18T23:10:51Z</dcterms:created>
  <dcterms:modified xsi:type="dcterms:W3CDTF">2026-10-18T23:10:51Z</dcterms:modified>
  <cp:version>2.3.0</cp:version>
</cp:coreProperties>
</file>