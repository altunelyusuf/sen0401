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Reachable nodes by network, saved census</a:t>
            </a:r>
          </a:p>
        </c:rich>
      </c:tx>
      <c:layout/>
      <c:overlay val="0"/>
    </c:title>
    <c:autoTitleDeleted val="0"/>
    <c:plotArea>
      <c:layout/>
      <c:barChart>
        <c:barDir val="col"/>
        <c:grouping val="clustered"/>
        <c:varyColors val="0"/>
        <c:ser>
          <c:idx val="0"/>
          <c:order val="0"/>
          <c:tx>
            <c:strRef>
              <c:f>Sheet1!$B$1</c:f>
              <c:strCache>
                <c:ptCount val="1"/>
                <c:pt idx="0">
                  <c:v>nodes</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cat>
            <c:multiLvlStrRef>
              <c:f>Sheet1!$A$2:$A$6</c:f>
              <c:multiLvlStrCache>
                <c:ptCount val="5"/>
                <c:lvl>
                  <c:pt idx="0">
                    <c:v>onion</c:v>
                  </c:pt>
                  <c:pt idx="1">
                    <c:v>ipv4</c:v>
                  </c:pt>
                  <c:pt idx="2">
                    <c:v>i2p</c:v>
                  </c:pt>
                  <c:pt idx="3">
                    <c:v>ipv6</c:v>
                  </c:pt>
                  <c:pt idx="4">
                    <c:v>cjdns</c:v>
                  </c:pt>
                </c:lvl>
              </c:multiLvlStrCache>
            </c:multiLvlStrRef>
          </c:cat>
          <c:val>
            <c:numRef>
              <c:f>Sheet1!$B$2:$B$6</c:f>
              <c:numCache>
                <c:formatCode>General</c:formatCode>
                <c:ptCount val="5"/>
                <c:pt idx="0">
                  <c:v>12488</c:v>
                </c:pt>
                <c:pt idx="1">
                  <c:v>7473</c:v>
                </c:pt>
                <c:pt idx="2">
                  <c:v>4208</c:v>
                </c:pt>
                <c:pt idx="3">
                  <c:v>1191</c:v>
                </c:pt>
                <c:pt idx="4">
                  <c:v>1</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Recorded: bytes to send one block of 13 transactions</a:t>
            </a:r>
          </a:p>
        </c:rich>
      </c:tx>
      <c:layout/>
      <c:overlay val="0"/>
    </c:title>
    <c:autoTitleDeleted val="0"/>
    <c:plotArea>
      <c:layout/>
      <c:barChart>
        <c:barDir val="col"/>
        <c:grouping val="clustered"/>
        <c:varyColors val="0"/>
        <c:ser>
          <c:idx val="0"/>
          <c:order val="0"/>
          <c:tx>
            <c:strRef>
              <c:f>Sheet1!$B$1</c:f>
              <c:strCache>
                <c:ptCount val="1"/>
                <c:pt idx="0">
                  <c:v>bytes</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cat>
            <c:multiLvlStrRef>
              <c:f>Sheet1!$A$2:$A$3</c:f>
              <c:multiLvlStrCache>
                <c:ptCount val="2"/>
                <c:lvl>
                  <c:pt idx="0">
                    <c:v>compact block</c:v>
                  </c:pt>
                  <c:pt idx="1">
                    <c:v>full block</c:v>
                  </c:pt>
                </c:lvl>
              </c:multiLvlStrCache>
            </c:multiLvlStrRef>
          </c:cat>
          <c:val>
            <c:numRef>
              <c:f>Sheet1!$B$2:$B$3</c:f>
              <c:numCache>
                <c:formatCode>General</c:formatCode>
                <c:ptCount val="2"/>
                <c:pt idx="0">
                  <c:v>332</c:v>
                </c:pt>
                <c:pt idx="1">
                  <c:v>3062</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Recorded: bytes to prove one payment</a:t>
            </a:r>
          </a:p>
        </c:rich>
      </c:tx>
      <c:layout/>
      <c:overlay val="0"/>
    </c:title>
    <c:autoTitleDeleted val="0"/>
    <c:plotArea>
      <c:layout/>
      <c:barChart>
        <c:barDir val="col"/>
        <c:grouping val="clustered"/>
        <c:varyColors val="0"/>
        <c:ser>
          <c:idx val="0"/>
          <c:order val="0"/>
          <c:tx>
            <c:strRef>
              <c:f>Sheet1!$B$1</c:f>
              <c:strCache>
                <c:ptCount val="1"/>
                <c:pt idx="0">
                  <c:v>bytes</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cat>
            <c:multiLvlStrRef>
              <c:f>Sheet1!$A$2:$A$3</c:f>
              <c:multiLvlStrCache>
                <c:ptCount val="2"/>
                <c:lvl>
                  <c:pt idx="0">
                    <c:v>Merkle proof</c:v>
                  </c:pt>
                  <c:pt idx="1">
                    <c:v>whole block</c:v>
                  </c:pt>
                </c:lvl>
              </c:multiLvlStrCache>
            </c:multiLvlStrRef>
          </c:cat>
          <c:val>
            <c:numRef>
              <c:f>Sheet1!$B$2:$B$3</c:f>
              <c:numCache>
                <c:formatCode>General</c:formatCode>
                <c:ptCount val="2"/>
                <c:pt idx="0">
                  <c:v>215</c:v>
                </c:pt>
                <c:pt idx="1">
                  <c:v>4448</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the Bitcoin network: who the nodes are, how they find each other and shake hands, how blocks and transactions travel, and how light clients and encryption changed since the book went to print. Every example runs under Python 3.14.6 on the chapter's own library, and Bitcoin Core 31.1 was run on a test network, so its answers are Recorded and only read back here. The research package for chapter 10 holds the sources and the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three parts after the questions: who is on the network and how two nodes meet, how peers, blocks and payments are found and relayed, and finally light clients, privacy and the encrypted wire. Each part carries a true story or a correction of the book that a reader can check on the slide. The numbers in the list let a reader jump straight to a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asks two questions that this deck answers by computation: which of its statements can be checked, and what has changed since print. The three numbers are counted from the research package, which holds 85 sources, 24 findings and 67 executed claims. Each slide that follows shows the computation behind one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asks who is on the network and how two nodes meet. The village market on the slide is the picture to keep: no manager, and every stall deals with its neighbours. The census of the real network is saved, and the handshake was run on a test node of Bitcoin Core 31.1.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census of the reachable network shows a flat peer-to-peer system of equals, as the book says, but its numbers have moved. The saved snapshot lists 25,361 reachable nodes, and nearly half of them are onion services, so only 8,664 can be reached over the ordinary internet. More than 99 percent run code derived from Bitcoin Core, and the service bits tell a client which nodes keep the whole chain and which keep only the last 288 blocks.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nodes meet by exchanging a version message, a few option messages and a verack, each framed with four magic bytes, a command, a length and a checksum. A script that knew only the wire format introduced itself to a test node of Bitcoin Core 31.1 and was answered as an equal with protocol version 70016, not the 70002 of the book. The services field says what a node offers: a pruned node does not set NETWORK but only NETWORK_LIMITED.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follows a node from its first start to the data it relays. It finds peers through DNS seeds and gossip, keeps a few outbound connections of different kinds, and learns about blocks and transactions from them. A story about an attack on those connections and a story about compact blocks sit in the middle.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new node asks the DNS seeds named in its code for a few addresses, connects to some of them, and then asks those peers for more with addr messages. In the run the eight seeds answered with 20 to 29 addresses each, 182 different ones, but the test node could not connect to any mainnet peer, so that step was not run. The newer addrv2 message can carry the long addresses of Tor, I2P and CJDNS, which the old four-byte format could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node does not treat all its peers alike. It keeps eight outbound links that carry everything and two that carry only blocks, so that an attacker who sees its payment traffic still cannot see those two. Short feeler and address-fetch links test and learn addresses, and up to 125 connections are allowed in all. On the test network a peer that said it wanted no payments received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12 August 2015 Ethan Heilman and his colleagues presented the eclipse attack at the USENIX Security Symposium in Washington, D.C. An adversary that controls enough addresses can take over all of a node's connections and then feed it a false view of the chain. Bitcoin Core now keeps anchor connections and two block-relay-only links. The attack and the routing attack of 2017 were not run here; the passages were found in the saved papers.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node already holds most transactions of a new block in its mempool, so the block can travel as a header, a six-byte short id for each transaction, and the few transactions the receiver cannot have, always including the coinbase. In the run a block of 13 transactions took 332 bytes instead of 3,062, and the receiver asked for the two transactions it lacked. A node sends compact blocks unasked to at most three high-bandwidth peers.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27 April 2016 the number 152 was assigned to the proposal for compact block relay by Matt Corallo, and Bitcoin Core 0.13.0 lists the code of Suhas Daftuar. The book dates the feature to 2015, which is a year too early. Corallo had earlier built a relay network for miners, and its successor FIBRE adds forward error correction, so that a lost packet can be rebuilt. The demonstration rebuilds one lost piece of four; FIBRE itself was not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node that is catching up first asks for headers, at most 2,000 in one reply, and checks that each links to the one before. Only then does it fetch blocks, inside a window of 1,024 and at most 16 in flight from one peer. In the run a second node synced 2,105 blocks from the first and ended on the same chain. A peer that sent sendheaders is told of new blocks by their headers instead of an inv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Transactions are announced by their wtxid, and a peer's feefilter keeps cheaper ones from being announced to it. The mempool is local to each node whereas the set of unspent outputs is shared, and the run shows a node with six waiting payments next to a neighbour with none that nevertheless holds the same 107 outputs. A child that arrives before its parent waits in the orphan pool, and the node asks its peers for the parent.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is about the nodes that do not keep the chain. A light client checks a payment with headers and a short proof, asks a full node for what concerns it, and has to hide what it asks. Two stories show how the first answer, the Bloom filter, leaked and how the second turned the question around, and a third shows how the wire itself was encrypted.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light client keeps only the 80-byte block headers, which are about ten thousand times smaller than the chain. To check one payment it asks a full node for the Merkle path from that payment to the root in the header, and the test run needed three hashes for a block of five payments, 215 bytes against a block of 4,448. Nakamoto's formula gives the odds that an attacker catches up after six blocks: 0.0002428 for a tenth of the power.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Bloom filter is a short row of bits that answers either definitely not or probably yes, so a light client can send a full node a filter of its addresses and receive only matching payments. The toy filter of the chapter missed nothing and gave a few false hits, and the encoding of BIP 37 matches its published vector. The test node sent one matching payment as a 215-byte merkleblock, but a default node no longer offers the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24 October 2012 BIP 37 was assigned to Mike Hearn and Matt Corallo: a light client would send a Bloom filter of its addresses to a full node. In 2014 Arthur Gervais and his colleagues at ETH Zurich showed that the reliance on Bloom filters leaks considerable information about the addresses of the user. Bitcoin Core 0.19.0.1 switched the service off by default, and the test node hung up on a peer that sent filterload.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block filter reverses the Bloom filter: the full node builds one small filter for every block, and the light client downloads it and tests its own scripts locally, so it never reveals them. The filter stores the sorted differences with Golomb-Rice coding, about 21 bits for each element, not the 64 bits of the book. The chapter's own code reproduced all ten published vectors of BIP 158, and the filter and header of the test node.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9 May 2016 a developer writing as bfd posted to the bitcoin-dev list the idea of committed Bloom filters, one small filter for each block, so that the client tests its own addresses and reveals nothing. Olaoluwa Osuntokun and Alex Akselrod wrote it as BIP 157 and 158, and Lightning Labs built the light client Neutrino on it. A node of Bitcoin Core 31.1 served three filters on request, and one started without the option hung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old transport every message began with the same four magic bytes and the command name, so anyone on the path could read the traffic. The version 2 transport of BIP 324 hides all of that: in the run its stream showed neither the magic bytes nor the word version and looked like random bytes, and both ends derived the same session id. It encrypts but does not authenticate, so an active man in the middle remains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Jonas Schnelli proposed encrypting peer connections in BIP 151 in 2016, and the proposal was closed after mixed comments. On 8 March 2019 BIP 324 was assigned to Dhruv Mehta, Tim Ruffing, Jonas Schnelli and Pieter Wuille, and it replaces BIP 151. Bitcoin Core 26.0 added it as an option and 27.0 made it the default, so that 21,768 of the 25,361 nodes of the census now offer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Bitcoin Core can run over five networks, and the book knows only Tor. Tor version 3 and addrv2 came with release 0.21.0, I2P with 22.0 and CJDNS with 23.0, and the saved census shows 12,488 onion nodes, 4,208 I2P nodes and a single CJDNS node. The test node marked onion as reachable when given a proxy setting, but no Tor, I2P or CJDNS router was run, so no traffic was sent through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lines are the deck in miniature. Each can be traced to a part of the route on slide 2 and to computations that ran on its slides. A line that feels unproven should send the reader back to that part's consoles.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to read or watch, and every link was opened on 2026-10-15. A good start is the USENIX talk on eclipse attacks, then the Optech topic on compact block relay next to the chapter. The research package for chapter 10 lists all 85 sources with the passages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computations that ran on slides of this deck. A reader who can say them and point to the slide that proves them has the chapter. The research package for chapter 10 holds the sources and the test records behind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hyperlink" Target="https://www.usenix.org/conference/usenixsecurity15/technical-sessions/presentation/heilman" TargetMode="Externa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hyperlink" Target="https://bips.dev/152/" TargetMode="External"/><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hyperlink" Target="https://eprint.iacr.org/2014/763" TargetMode="External"/><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hyperlink" Target="https://bips.dev/157/" TargetMode="External"/><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hyperlink" Target="https://bips.dev/324/" TargetMode="External"/><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bitcoinops.org/en/topics/compact-block-relay/" TargetMode="External"/><Relationship Id="rId2" Type="http://schemas.openxmlformats.org/officeDocument/2006/relationships/hyperlink" Target="https://bitcoinops.org/en/topics/v2-p2p-transport/" TargetMode="External"/><Relationship Id="rId3" Type="http://schemas.openxmlformats.org/officeDocument/2006/relationships/hyperlink" Target="https://bitnodes.io/" TargetMode="External"/><Relationship Id="rId4" Type="http://schemas.openxmlformats.org/officeDocument/2006/relationships/hyperlink" Target="https://bips.dev/152/" TargetMode="External"/><Relationship Id="rId5" Type="http://schemas.openxmlformats.org/officeDocument/2006/relationships/hyperlink" Target="https://bips.dev/324/" TargetMode="External"/><Relationship Id="rId6" Type="http://schemas.openxmlformats.org/officeDocument/2006/relationships/hyperlink" Target="https://www.usenix.org/conference/usenixsecurity15/technical-sessions/presentation/heilman" TargetMode="External"/><Relationship Id="rId7" Type="http://schemas.openxmlformats.org/officeDocument/2006/relationships/hyperlink" Target="https://www.youtube.com/embed/b-qGTj2Vvns" TargetMode="External"/><Relationship Id="rId8" Type="http://schemas.openxmlformats.org/officeDocument/2006/relationships/hyperlink" Target="https://www.youtube.com/embed/7FWKc8lM4Ek" TargetMode="External"/><Relationship Id="rId9" Type="http://schemas.openxmlformats.org/officeDocument/2006/relationships/hyperlink" Target="https://bitcoinops.org/en/newsletters/" TargetMode="External"/><Relationship Id="rId10" Type="http://schemas.openxmlformats.org/officeDocument/2006/relationships/hyperlink" Target="https://delvingbitcoin.org/" TargetMode="External"/><Relationship Id="rId11" Type="http://schemas.openxmlformats.org/officeDocument/2006/relationships/hyperlink" Target="https://groups.google.com/g/bitcoindev" TargetMode="External"/><Relationship Id="rId12" Type="http://schemas.openxmlformats.org/officeDocument/2006/relationships/slideLayout" Target="../slideLayouts/slideLayout1.xml"/><Relationship Id="rId1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10: The Bitcoin Network</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How nodes find each other, pass blocks and payments, and what moved since print. Bitcoin Core 31.1 results are Recorded.</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questions, then three parts; every number is a slide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62179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The chapter's questions  (slides 3-3)</a:t>
            </a:r>
            <a:endParaRPr lang="en-US" sz="1200" dirty="0"/>
          </a:p>
        </p:txBody>
      </p:sp>
      <p:sp>
        <p:nvSpPr>
          <p:cNvPr id="9" name="Shape 7"/>
          <p:cNvSpPr/>
          <p:nvPr/>
        </p:nvSpPr>
        <p:spPr>
          <a:xfrm>
            <a:off x="457200" y="206654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665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29968"/>
            <a:ext cx="5193792" cy="62179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Who is on the network  (slides 4-6)</a:t>
            </a:r>
            <a:endParaRPr lang="en-US" sz="1200" dirty="0"/>
          </a:p>
        </p:txBody>
      </p:sp>
      <p:sp>
        <p:nvSpPr>
          <p:cNvPr id="12" name="Shape 10"/>
          <p:cNvSpPr/>
          <p:nvPr/>
        </p:nvSpPr>
        <p:spPr>
          <a:xfrm>
            <a:off x="457200" y="2724912"/>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72491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88336"/>
            <a:ext cx="5193792" cy="62179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Peers, blocks and transactions  (slides 7-14)</a:t>
            </a:r>
            <a:endParaRPr lang="en-US" sz="1200" dirty="0"/>
          </a:p>
        </p:txBody>
      </p:sp>
      <p:sp>
        <p:nvSpPr>
          <p:cNvPr id="15" name="Shape 13"/>
          <p:cNvSpPr/>
          <p:nvPr/>
        </p:nvSpPr>
        <p:spPr>
          <a:xfrm>
            <a:off x="457200" y="3383280"/>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3832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346704"/>
            <a:ext cx="5193792" cy="62179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Light clients, privacy and transport  (slides 15-26)</a:t>
            </a:r>
            <a:endParaRPr lang="en-US" sz="1200" dirty="0"/>
          </a:p>
        </p:txBody>
      </p:sp>
      <p:sp>
        <p:nvSpPr>
          <p:cNvPr id="18" name="Shape 16"/>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19" name="Text 17"/>
          <p:cNvSpPr txBox="1"/>
          <p:nvPr/>
        </p:nvSpPr>
        <p:spPr>
          <a:xfrm>
            <a:off x="6556248" y="1408176"/>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26</a:t>
            </a:r>
            <a:endParaRPr lang="en-US" sz="2600" dirty="0"/>
          </a:p>
        </p:txBody>
      </p:sp>
      <p:sp>
        <p:nvSpPr>
          <p:cNvPr id="20" name="Text 18"/>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1" name="Shape 19"/>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2" name="Text 20"/>
          <p:cNvSpPr txBox="1"/>
          <p:nvPr/>
        </p:nvSpPr>
        <p:spPr>
          <a:xfrm>
            <a:off x="6556248" y="2487168"/>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5</a:t>
            </a:r>
            <a:endParaRPr lang="en-US" sz="2600" dirty="0"/>
          </a:p>
        </p:txBody>
      </p:sp>
      <p:sp>
        <p:nvSpPr>
          <p:cNvPr id="23" name="Text 21"/>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 WHERE / WHEN / READ</a:t>
            </a:r>
            <a:endParaRPr lang="en-US" sz="1100" dirty="0"/>
          </a:p>
        </p:txBody>
      </p:sp>
      <p:sp>
        <p:nvSpPr>
          <p:cNvPr id="24" name="Shape 22"/>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3566160"/>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17</a:t>
            </a:r>
            <a:endParaRPr lang="en-US" sz="2600" dirty="0"/>
          </a:p>
        </p:txBody>
      </p:sp>
      <p:sp>
        <p:nvSpPr>
          <p:cNvPr id="26" name="Text 24"/>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live-run consoles, each shown with its result</a:t>
            </a:r>
            <a:endParaRPr lang="en-US" sz="110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Three parts, five true stories, and a list of what was not run</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26</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and the numbers behind the answers</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Which claims of the chapter can be checked by computation, and what does the computation give?</a:t>
            </a:r>
            <a:endParaRPr lang="en-US" sz="1300" dirty="0"/>
          </a:p>
        </p:txBody>
      </p:sp>
      <p:sp>
        <p:nvSpPr>
          <p:cNvPr id="9" name="Shape 7"/>
          <p:cNvSpPr/>
          <p:nvPr/>
        </p:nvSpPr>
        <p:spPr>
          <a:xfrm>
            <a:off x="457200" y="197510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751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38528"/>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What in the chapter has changed since the book went to print, and on what source?</a:t>
            </a:r>
            <a:endParaRPr lang="en-US" sz="1300" dirty="0"/>
          </a:p>
        </p:txBody>
      </p:sp>
      <p:sp>
        <p:nvSpPr>
          <p:cNvPr id="12" name="Shape 10"/>
          <p:cNvSpPr/>
          <p:nvPr/>
        </p:nvSpPr>
        <p:spPr>
          <a:xfrm>
            <a:off x="457200" y="3017520"/>
            <a:ext cx="2590800" cy="1463040"/>
          </a:xfrm>
          <a:prstGeom prst="roundRect">
            <a:avLst>
              <a:gd name="adj" fmla="val 5000"/>
            </a:avLst>
          </a:prstGeom>
          <a:solidFill>
            <a:srgbClr val="F2ECE1"/>
          </a:solidFill>
          <a:ln w="12700">
            <a:solidFill>
              <a:srgbClr val="DFD6C7"/>
            </a:solidFill>
            <a:prstDash val="solid"/>
          </a:ln>
        </p:spPr>
      </p:sp>
      <p:sp>
        <p:nvSpPr>
          <p:cNvPr id="13" name="Text 11"/>
          <p:cNvSpPr txBox="1"/>
          <p:nvPr/>
        </p:nvSpPr>
        <p:spPr>
          <a:xfrm>
            <a:off x="566928" y="3090672"/>
            <a:ext cx="2371344" cy="7315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85</a:t>
            </a:r>
            <a:endParaRPr lang="en-US" sz="2800" dirty="0"/>
          </a:p>
        </p:txBody>
      </p:sp>
      <p:sp>
        <p:nvSpPr>
          <p:cNvPr id="14" name="Text 12"/>
          <p:cNvSpPr txBox="1"/>
          <p:nvPr/>
        </p:nvSpPr>
        <p:spPr>
          <a:xfrm>
            <a:off x="566928" y="3778301"/>
            <a:ext cx="23713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sources, opened and read on 2026-10-15</a:t>
            </a:r>
            <a:endParaRPr lang="en-US" sz="1150" dirty="0"/>
          </a:p>
        </p:txBody>
      </p:sp>
      <p:sp>
        <p:nvSpPr>
          <p:cNvPr id="15" name="Shape 13"/>
          <p:cNvSpPr/>
          <p:nvPr/>
        </p:nvSpPr>
        <p:spPr>
          <a:xfrm>
            <a:off x="3276600" y="3017520"/>
            <a:ext cx="2590800" cy="1463040"/>
          </a:xfrm>
          <a:prstGeom prst="roundRect">
            <a:avLst>
              <a:gd name="adj" fmla="val 5000"/>
            </a:avLst>
          </a:prstGeom>
          <a:solidFill>
            <a:srgbClr val="F2ECE1"/>
          </a:solidFill>
          <a:ln w="12700">
            <a:solidFill>
              <a:srgbClr val="DFD6C7"/>
            </a:solidFill>
            <a:prstDash val="solid"/>
          </a:ln>
        </p:spPr>
      </p:sp>
      <p:sp>
        <p:nvSpPr>
          <p:cNvPr id="16" name="Text 14"/>
          <p:cNvSpPr txBox="1"/>
          <p:nvPr/>
        </p:nvSpPr>
        <p:spPr>
          <a:xfrm>
            <a:off x="3386328" y="3090672"/>
            <a:ext cx="2371344" cy="7315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67</a:t>
            </a:r>
            <a:endParaRPr lang="en-US" sz="2800" dirty="0"/>
          </a:p>
        </p:txBody>
      </p:sp>
      <p:sp>
        <p:nvSpPr>
          <p:cNvPr id="17" name="Text 15"/>
          <p:cNvSpPr txBox="1"/>
          <p:nvPr/>
        </p:nvSpPr>
        <p:spPr>
          <a:xfrm>
            <a:off x="3386328" y="3778301"/>
            <a:ext cx="23713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claims, each recomputed by running code</a:t>
            </a:r>
            <a:endParaRPr lang="en-US" sz="1150" dirty="0"/>
          </a:p>
        </p:txBody>
      </p:sp>
      <p:sp>
        <p:nvSpPr>
          <p:cNvPr id="18" name="Shape 16"/>
          <p:cNvSpPr/>
          <p:nvPr/>
        </p:nvSpPr>
        <p:spPr>
          <a:xfrm>
            <a:off x="6096000" y="3017520"/>
            <a:ext cx="2590800" cy="1463040"/>
          </a:xfrm>
          <a:prstGeom prst="roundRect">
            <a:avLst>
              <a:gd name="adj" fmla="val 5000"/>
            </a:avLst>
          </a:prstGeom>
          <a:solidFill>
            <a:srgbClr val="F2ECE1"/>
          </a:solidFill>
          <a:ln w="12700">
            <a:solidFill>
              <a:srgbClr val="DFD6C7"/>
            </a:solidFill>
            <a:prstDash val="solid"/>
          </a:ln>
        </p:spPr>
      </p:sp>
      <p:sp>
        <p:nvSpPr>
          <p:cNvPr id="19" name="Text 17"/>
          <p:cNvSpPr txBox="1"/>
          <p:nvPr/>
        </p:nvSpPr>
        <p:spPr>
          <a:xfrm>
            <a:off x="6205728" y="3090672"/>
            <a:ext cx="2371344" cy="7315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24</a:t>
            </a:r>
            <a:endParaRPr lang="en-US" sz="2800" dirty="0"/>
          </a:p>
        </p:txBody>
      </p:sp>
      <p:sp>
        <p:nvSpPr>
          <p:cNvPr id="20" name="Text 18"/>
          <p:cNvSpPr txBox="1"/>
          <p:nvPr/>
        </p:nvSpPr>
        <p:spPr>
          <a:xfrm>
            <a:off x="6205728" y="3778301"/>
            <a:ext cx="23713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findings, several of them corrections of the book</a:t>
            </a:r>
            <a:endParaRPr lang="en-US" sz="1150" dirty="0"/>
          </a:p>
        </p:txBody>
      </p:sp>
      <p:sp>
        <p:nvSpPr>
          <p:cNvPr id="21"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26</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Who is on the network</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Like a village market with no manager: every stall only talks to its neighbours</a:t>
            </a:r>
            <a:endParaRPr lang="en-US" sz="1500" dirty="0"/>
          </a:p>
        </p:txBody>
      </p:sp>
      <p:sp>
        <p:nvSpPr>
          <p:cNvPr id="6" name="Shape 4"/>
          <p:cNvSpPr/>
          <p:nvPr/>
        </p:nvSpPr>
        <p:spPr>
          <a:xfrm>
            <a:off x="777240" y="2697480"/>
            <a:ext cx="3858768"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3712464"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Nodes counted today</a:t>
            </a:r>
            <a:endParaRPr lang="en-US" sz="1400" dirty="0"/>
          </a:p>
        </p:txBody>
      </p:sp>
      <p:sp>
        <p:nvSpPr>
          <p:cNvPr id="8" name="Shape 6"/>
          <p:cNvSpPr/>
          <p:nvPr/>
        </p:nvSpPr>
        <p:spPr>
          <a:xfrm>
            <a:off x="4782312" y="2697480"/>
            <a:ext cx="3858768"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4855464" y="2743200"/>
            <a:ext cx="3712464"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handshake</a:t>
            </a:r>
            <a:endParaRPr lang="en-US" sz="1400" dirty="0"/>
          </a:p>
        </p:txBody>
      </p:sp>
      <p:sp>
        <p:nvSpPr>
          <p:cNvPr id="10" name="Text 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26</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Who is on the network today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village market with no manager: every stall only talks to its neighbours</a:t>
            </a:r>
            <a:endParaRPr lang="en-US" sz="1300" dirty="0"/>
          </a:p>
        </p:txBody>
      </p:sp>
      <p:sp>
        <p:nvSpPr>
          <p:cNvPr id="6" name="Shape 4"/>
          <p:cNvSpPr/>
          <p:nvPr/>
        </p:nvSpPr>
        <p:spPr>
          <a:xfrm>
            <a:off x="457200" y="1464564"/>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261872"/>
            <a:ext cx="3931920" cy="533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1: 25,361 reachable nodes, of which 12,488 are onion services; only 8,664 are on the clearnet (row 2), not the book's 10,000</a:t>
            </a:r>
            <a:endParaRPr lang="en-US" sz="1050" dirty="0"/>
          </a:p>
        </p:txBody>
      </p:sp>
      <p:sp>
        <p:nvSpPr>
          <p:cNvPr id="8" name="Shape 6"/>
          <p:cNvSpPr/>
          <p:nvPr/>
        </p:nvSpPr>
        <p:spPr>
          <a:xfrm>
            <a:off x="457200" y="1997964"/>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795272"/>
            <a:ext cx="3931920" cy="533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3: 99.67 percent report a /Satoshi: agent; plain Bitcoin Core is 83.57 percent, and 31.1.0 is the most common</a:t>
            </a:r>
            <a:endParaRPr lang="en-US" sz="1050" dirty="0"/>
          </a:p>
        </p:txBody>
      </p:sp>
      <p:sp>
        <p:nvSpPr>
          <p:cNvPr id="10" name="Shape 8"/>
          <p:cNvSpPr/>
          <p:nvPr/>
        </p:nvSpPr>
        <p:spPr>
          <a:xfrm>
            <a:off x="457200" y="2531364"/>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2328672"/>
            <a:ext cx="3931920" cy="533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4: the service bits show what a node offers: 22,402 keep the whole chain, 25,322 at least the last 288 blocks</a:t>
            </a:r>
            <a:endParaRPr lang="en-US" sz="1050" dirty="0"/>
          </a:p>
        </p:txBody>
      </p:sp>
      <p:graphicFrame>
        <p:nvGraphicFramePr>
          <p:cNvPr id="12" name="Chart 0" descr=""/>
          <p:cNvGraphicFramePr/>
          <p:nvPr/>
        </p:nvGraphicFramePr>
        <p:xfrm>
          <a:off x="4846320" y="1261872"/>
          <a:ext cx="3840480" cy="160020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457200" y="285292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saved Bitnodes snapshot of 2026-10-15</a:t>
            </a:r>
            <a:endParaRPr lang="en-US" sz="1150" dirty="0"/>
          </a:p>
        </p:txBody>
      </p:sp>
      <p:sp>
        <p:nvSpPr>
          <p:cNvPr id="14" name="Shape 11"/>
          <p:cNvSpPr/>
          <p:nvPr/>
        </p:nvSpPr>
        <p:spPr>
          <a:xfrm>
            <a:off x="457200" y="3127248"/>
            <a:ext cx="8229600" cy="1261872"/>
          </a:xfrm>
          <a:prstGeom prst="roundRect">
            <a:avLst>
              <a:gd name="adj" fmla="val 7246"/>
            </a:avLst>
          </a:prstGeom>
          <a:solidFill>
            <a:srgbClr val="23272E"/>
          </a:solidFill>
          <a:ln w="12700">
            <a:solidFill>
              <a:srgbClr val="23272E"/>
            </a:solidFill>
            <a:prstDash val="solid"/>
          </a:ln>
        </p:spPr>
      </p:sp>
      <p:sp>
        <p:nvSpPr>
          <p:cNvPr id="15" name="Text 12"/>
          <p:cNvSpPr txBox="1"/>
          <p:nvPr/>
        </p:nvSpPr>
        <p:spPr>
          <a:xfrm>
            <a:off x="640080" y="3246120"/>
            <a:ext cx="7863840" cy="1024128"/>
          </a:xfrm>
          <a:prstGeom prst="rect">
            <a:avLst/>
          </a:prstGeom>
          <a:noFill/>
          <a:ln/>
        </p:spPr>
        <p:txBody>
          <a:bodyPr wrap="square" lIns="0" tIns="0" rIns="0" bIns="0" rtlCol="0" anchor="t"/>
          <a:lstStyle/>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b[</a:t>
            </a:r>
            <a:r>
              <a:rPr lang="en-US" sz="750" dirty="0">
                <a:solidFill>
                  <a:srgbClr val="9ECBFF"/>
                </a:solidFill>
                <a:latin typeface="Courier New" pitchFamily="34" charset="0"/>
                <a:ea typeface="Courier New" pitchFamily="34" charset="-122"/>
                <a:cs typeface="Courier New" pitchFamily="34" charset="-120"/>
              </a:rPr>
              <a:t>'total'</a:t>
            </a:r>
            <a:r>
              <a:rPr lang="en-US" sz="750" dirty="0">
                <a:solidFill>
                  <a:srgbClr val="E6EDF3"/>
                </a:solidFill>
                <a:latin typeface="Courier New" pitchFamily="34" charset="0"/>
                <a:ea typeface="Courier New" pitchFamily="34" charset="-122"/>
                <a:cs typeface="Courier New" pitchFamily="34" charset="-120"/>
              </a:rPr>
              <a:t>], sorted(b[</a:t>
            </a:r>
            <a:r>
              <a:rPr lang="en-US" sz="750" dirty="0">
                <a:solidFill>
                  <a:srgbClr val="9ECBFF"/>
                </a:solidFill>
                <a:latin typeface="Courier New" pitchFamily="34" charset="0"/>
                <a:ea typeface="Courier New" pitchFamily="34" charset="-122"/>
                <a:cs typeface="Courier New" pitchFamily="34" charset="-120"/>
              </a:rPr>
              <a:t>'nets'</a:t>
            </a:r>
            <a:r>
              <a:rPr lang="en-US" sz="750" dirty="0">
                <a:solidFill>
                  <a:srgbClr val="E6EDF3"/>
                </a:solidFill>
                <a:latin typeface="Courier New" pitchFamily="34" charset="0"/>
                <a:ea typeface="Courier New" pitchFamily="34" charset="-122"/>
                <a:cs typeface="Courier New" pitchFamily="34" charset="-120"/>
              </a:rPr>
              <a:t>].items())</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(25361, [('cjdns', 1), ('i2p', 4208), ('ipv4', 7473), ('ipv6', 1191), ('onion', 12488)])</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b[</a:t>
            </a:r>
            <a:r>
              <a:rPr lang="en-US" sz="750" dirty="0">
                <a:solidFill>
                  <a:srgbClr val="9ECBFF"/>
                </a:solidFill>
                <a:latin typeface="Courier New" pitchFamily="34" charset="0"/>
                <a:ea typeface="Courier New" pitchFamily="34" charset="-122"/>
                <a:cs typeface="Courier New" pitchFamily="34" charset="-120"/>
              </a:rPr>
              <a:t>'nets'</a:t>
            </a:r>
            <a:r>
              <a:rPr lang="en-US" sz="750" dirty="0">
                <a:solidFill>
                  <a:srgbClr val="E6EDF3"/>
                </a:solidFill>
                <a:latin typeface="Courier New" pitchFamily="34" charset="0"/>
                <a:ea typeface="Courier New" pitchFamily="34" charset="-122"/>
                <a:cs typeface="Courier New" pitchFamily="34" charset="-120"/>
              </a:rPr>
              <a:t>][</a:t>
            </a:r>
            <a:r>
              <a:rPr lang="en-US" sz="750" dirty="0">
                <a:solidFill>
                  <a:srgbClr val="9ECBFF"/>
                </a:solidFill>
                <a:latin typeface="Courier New" pitchFamily="34" charset="0"/>
                <a:ea typeface="Courier New" pitchFamily="34" charset="-122"/>
                <a:cs typeface="Courier New" pitchFamily="34" charset="-120"/>
              </a:rPr>
              <a:t>'ipv4'</a:t>
            </a:r>
            <a:r>
              <a:rPr lang="en-US" sz="750" dirty="0">
                <a:solidFill>
                  <a:srgbClr val="E6EDF3"/>
                </a:solidFill>
                <a:latin typeface="Courier New" pitchFamily="34" charset="0"/>
                <a:ea typeface="Courier New" pitchFamily="34" charset="-122"/>
                <a:cs typeface="Courier New" pitchFamily="34" charset="-120"/>
              </a:rPr>
              <a:t>] + b[</a:t>
            </a:r>
            <a:r>
              <a:rPr lang="en-US" sz="750" dirty="0">
                <a:solidFill>
                  <a:srgbClr val="9ECBFF"/>
                </a:solidFill>
                <a:latin typeface="Courier New" pitchFamily="34" charset="0"/>
                <a:ea typeface="Courier New" pitchFamily="34" charset="-122"/>
                <a:cs typeface="Courier New" pitchFamily="34" charset="-120"/>
              </a:rPr>
              <a:t>'nets'</a:t>
            </a:r>
            <a:r>
              <a:rPr lang="en-US" sz="750" dirty="0">
                <a:solidFill>
                  <a:srgbClr val="E6EDF3"/>
                </a:solidFill>
                <a:latin typeface="Courier New" pitchFamily="34" charset="0"/>
                <a:ea typeface="Courier New" pitchFamily="34" charset="-122"/>
                <a:cs typeface="Courier New" pitchFamily="34" charset="-120"/>
              </a:rPr>
              <a:t>][</a:t>
            </a:r>
            <a:r>
              <a:rPr lang="en-US" sz="750" dirty="0">
                <a:solidFill>
                  <a:srgbClr val="9ECBFF"/>
                </a:solidFill>
                <a:latin typeface="Courier New" pitchFamily="34" charset="0"/>
                <a:ea typeface="Courier New" pitchFamily="34" charset="-122"/>
                <a:cs typeface="Courier New" pitchFamily="34" charset="-120"/>
              </a:rPr>
              <a:t>'ipv6'</a:t>
            </a:r>
            <a:r>
              <a:rPr lang="en-US" sz="750" dirty="0">
                <a:solidFill>
                  <a:srgbClr val="E6EDF3"/>
                </a:solidFill>
                <a:latin typeface="Courier New" pitchFamily="34" charset="0"/>
                <a:ea typeface="Courier New" pitchFamily="34" charset="-122"/>
                <a:cs typeface="Courier New" pitchFamily="34" charset="-120"/>
              </a:rPr>
              <a:t>], seen(</a:t>
            </a:r>
            <a:r>
              <a:rPr lang="en-US" sz="750" dirty="0">
                <a:solidFill>
                  <a:srgbClr val="9ECBFF"/>
                </a:solidFill>
                <a:latin typeface="Courier New" pitchFamily="34" charset="0"/>
                <a:ea typeface="Courier New" pitchFamily="34" charset="-122"/>
                <a:cs typeface="Courier New" pitchFamily="34" charset="-120"/>
              </a:rPr>
              <a:t>'book_ch10_network.adoc'</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'about 10,000'</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'listening nodes'</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(8664, True)</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b[</a:t>
            </a:r>
            <a:r>
              <a:rPr lang="en-US" sz="750" dirty="0">
                <a:solidFill>
                  <a:srgbClr val="9ECBFF"/>
                </a:solidFill>
                <a:latin typeface="Courier New" pitchFamily="34" charset="0"/>
                <a:ea typeface="Courier New" pitchFamily="34" charset="-122"/>
                <a:cs typeface="Courier New" pitchFamily="34" charset="-120"/>
              </a:rPr>
              <a:t>'satoshi_prefix'</a:t>
            </a:r>
            <a:r>
              <a:rPr lang="en-US" sz="750" dirty="0">
                <a:solidFill>
                  <a:srgbClr val="E6EDF3"/>
                </a:solidFill>
                <a:latin typeface="Courier New" pitchFamily="34" charset="0"/>
                <a:ea typeface="Courier New" pitchFamily="34" charset="-122"/>
                <a:cs typeface="Courier New" pitchFamily="34" charset="-120"/>
              </a:rPr>
              <a:t>], b[</a:t>
            </a:r>
            <a:r>
              <a:rPr lang="en-US" sz="750" dirty="0">
                <a:solidFill>
                  <a:srgbClr val="9ECBFF"/>
                </a:solidFill>
                <a:latin typeface="Courier New" pitchFamily="34" charset="0"/>
                <a:ea typeface="Courier New" pitchFamily="34" charset="-122"/>
                <a:cs typeface="Courier New" pitchFamily="34" charset="-120"/>
              </a:rPr>
              <a:t>'knots'</a:t>
            </a:r>
            <a:r>
              <a:rPr lang="en-US" sz="750" dirty="0">
                <a:solidFill>
                  <a:srgbClr val="E6EDF3"/>
                </a:solidFill>
                <a:latin typeface="Courier New" pitchFamily="34" charset="0"/>
                <a:ea typeface="Courier New" pitchFamily="34" charset="-122"/>
                <a:cs typeface="Courier New" pitchFamily="34" charset="-120"/>
              </a:rPr>
              <a:t>], round(</a:t>
            </a:r>
            <a:r>
              <a:rPr lang="en-US" sz="750" dirty="0">
                <a:solidFill>
                  <a:srgbClr val="FFD28A"/>
                </a:solidFill>
                <a:latin typeface="Courier New" pitchFamily="34" charset="0"/>
                <a:ea typeface="Courier New" pitchFamily="34" charset="-122"/>
                <a:cs typeface="Courier New" pitchFamily="34" charset="-120"/>
              </a:rPr>
              <a:t>100</a:t>
            </a:r>
            <a:r>
              <a:rPr lang="en-US" sz="750" dirty="0">
                <a:solidFill>
                  <a:srgbClr val="E6EDF3"/>
                </a:solidFill>
                <a:latin typeface="Courier New" pitchFamily="34" charset="0"/>
                <a:ea typeface="Courier New" pitchFamily="34" charset="-122"/>
                <a:cs typeface="Courier New" pitchFamily="34" charset="-120"/>
              </a:rPr>
              <a:t> * b[</a:t>
            </a:r>
            <a:r>
              <a:rPr lang="en-US" sz="750" dirty="0">
                <a:solidFill>
                  <a:srgbClr val="9ECBFF"/>
                </a:solidFill>
                <a:latin typeface="Courier New" pitchFamily="34" charset="0"/>
                <a:ea typeface="Courier New" pitchFamily="34" charset="-122"/>
                <a:cs typeface="Courier New" pitchFamily="34" charset="-120"/>
              </a:rPr>
              <a:t>'core_plain'</a:t>
            </a:r>
            <a:r>
              <a:rPr lang="en-US" sz="750" dirty="0">
                <a:solidFill>
                  <a:srgbClr val="E6EDF3"/>
                </a:solidFill>
                <a:latin typeface="Courier New" pitchFamily="34" charset="0"/>
                <a:ea typeface="Courier New" pitchFamily="34" charset="-122"/>
                <a:cs typeface="Courier New" pitchFamily="34" charset="-120"/>
              </a:rPr>
              <a:t>] / b[</a:t>
            </a:r>
            <a:r>
              <a:rPr lang="en-US" sz="750" dirty="0">
                <a:solidFill>
                  <a:srgbClr val="9ECBFF"/>
                </a:solidFill>
                <a:latin typeface="Courier New" pitchFamily="34" charset="0"/>
                <a:ea typeface="Courier New" pitchFamily="34" charset="-122"/>
                <a:cs typeface="Courier New" pitchFamily="34" charset="-120"/>
              </a:rPr>
              <a:t>'total'</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FFD28A"/>
                </a:solidFill>
                <a:latin typeface="Courier New" pitchFamily="34" charset="0"/>
                <a:ea typeface="Courier New" pitchFamily="34" charset="-122"/>
                <a:cs typeface="Courier New" pitchFamily="34" charset="-120"/>
              </a:rPr>
              <a:t>2</a:t>
            </a:r>
            <a:r>
              <a:rPr lang="en-US" sz="750" dirty="0">
                <a:solidFill>
                  <a:srgbClr val="E6EDF3"/>
                </a:solidFill>
                <a:latin typeface="Courier New" pitchFamily="34" charset="0"/>
                <a:ea typeface="Courier New" pitchFamily="34" charset="-122"/>
                <a:cs typeface="Courier New" pitchFamily="34" charset="-120"/>
              </a:rPr>
              <a:t>), b[</a:t>
            </a:r>
            <a:r>
              <a:rPr lang="en-US" sz="750" dirty="0">
                <a:solidFill>
                  <a:srgbClr val="9ECBFF"/>
                </a:solidFill>
                <a:latin typeface="Courier New" pitchFamily="34" charset="0"/>
                <a:ea typeface="Courier New" pitchFamily="34" charset="-122"/>
                <a:cs typeface="Courier New" pitchFamily="34" charset="-120"/>
              </a:rPr>
              <a:t>'top_agent'</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(25278, 4083, 83.57, ('/Satoshi:31.1.0/', 7442))</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sorted(b[</a:t>
            </a:r>
            <a:r>
              <a:rPr lang="en-US" sz="750" dirty="0">
                <a:solidFill>
                  <a:srgbClr val="9ECBFF"/>
                </a:solidFill>
                <a:latin typeface="Courier New" pitchFamily="34" charset="0"/>
                <a:ea typeface="Courier New" pitchFamily="34" charset="-122"/>
                <a:cs typeface="Courier New" pitchFamily="34" charset="-120"/>
              </a:rPr>
              <a:t>'services'</a:t>
            </a:r>
            <a:r>
              <a:rPr lang="en-US" sz="750" dirty="0">
                <a:solidFill>
                  <a:srgbClr val="E6EDF3"/>
                </a:solidFill>
                <a:latin typeface="Courier New" pitchFamily="34" charset="0"/>
                <a:ea typeface="Courier New" pitchFamily="34" charset="-122"/>
                <a:cs typeface="Courier New" pitchFamily="34" charset="-120"/>
              </a:rPr>
              <a:t>].items())</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[('BLOOM', 4308), ('COMPACT_FILTERS', 7905), ('NETWORK', 22402), ('NETWORK_LIMITED', 25322), ('P2P_V2', 21768), ('WITNESS', 24582)]</a:t>
            </a:r>
            <a:endParaRPr lang="en-US" sz="750" dirty="0"/>
          </a:p>
        </p:txBody>
      </p:sp>
      <p:sp>
        <p:nvSpPr>
          <p:cNvPr id="16" name="Text 13"/>
          <p:cNvSpPr txBox="1"/>
          <p:nvPr/>
        </p:nvSpPr>
        <p:spPr>
          <a:xfrm>
            <a:off x="457200" y="44074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7"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network is flat and open, and nearly half of its nodes sit behind Tor</a:t>
            </a:r>
            <a:endParaRPr lang="en-US" sz="1350" dirty="0"/>
          </a:p>
        </p:txBody>
      </p:sp>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handshake: version, verack, services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two people meeting: each says who they are, then they agree on a language</a:t>
            </a:r>
            <a:endParaRPr lang="en-US" sz="1300" dirty="0"/>
          </a:p>
        </p:txBody>
      </p:sp>
      <p:sp>
        <p:nvSpPr>
          <p:cNvPr id="6" name="Shape 4"/>
          <p:cNvSpPr/>
          <p:nvPr/>
        </p:nvSpPr>
        <p:spPr>
          <a:xfrm>
            <a:off x="457200" y="1261872"/>
            <a:ext cx="1700784" cy="502920"/>
          </a:xfrm>
          <a:prstGeom prst="roundRect">
            <a:avLst>
              <a:gd name="adj" fmla="val 18182"/>
            </a:avLst>
          </a:prstGeom>
          <a:solidFill>
            <a:srgbClr val="2F6D62"/>
          </a:solidFill>
          <a:ln w="12700">
            <a:solidFill>
              <a:srgbClr val="2F6D62"/>
            </a:solidFill>
            <a:prstDash val="solid"/>
          </a:ln>
        </p:spPr>
      </p:sp>
      <p:sp>
        <p:nvSpPr>
          <p:cNvPr id="7" name="Text 5"/>
          <p:cNvSpPr txBox="1"/>
          <p:nvPr/>
        </p:nvSpPr>
        <p:spPr>
          <a:xfrm>
            <a:off x="530352" y="1307592"/>
            <a:ext cx="1554480"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version</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who I am: 70016</a:t>
            </a:r>
            <a:endParaRPr lang="en-US" sz="1050" dirty="0"/>
          </a:p>
        </p:txBody>
      </p:sp>
      <p:sp>
        <p:nvSpPr>
          <p:cNvPr id="8" name="Shape 6"/>
          <p:cNvSpPr/>
          <p:nvPr/>
        </p:nvSpPr>
        <p:spPr>
          <a:xfrm>
            <a:off x="2212848" y="1513332"/>
            <a:ext cx="365760" cy="0"/>
          </a:xfrm>
          <a:prstGeom prst="line">
            <a:avLst/>
          </a:prstGeom>
          <a:noFill/>
          <a:ln w="25400">
            <a:solidFill>
              <a:srgbClr val="D97A14"/>
            </a:solidFill>
            <a:prstDash val="solid"/>
            <a:tailEnd type="triangle"/>
          </a:ln>
        </p:spPr>
      </p:sp>
      <p:sp>
        <p:nvSpPr>
          <p:cNvPr id="9" name="Shape 7"/>
          <p:cNvSpPr/>
          <p:nvPr/>
        </p:nvSpPr>
        <p:spPr>
          <a:xfrm>
            <a:off x="2633472" y="1261872"/>
            <a:ext cx="1700784" cy="502920"/>
          </a:xfrm>
          <a:prstGeom prst="roundRect">
            <a:avLst>
              <a:gd name="adj" fmla="val 18182"/>
            </a:avLst>
          </a:prstGeom>
          <a:solidFill>
            <a:srgbClr val="2F6D62"/>
          </a:solidFill>
          <a:ln w="12700">
            <a:solidFill>
              <a:srgbClr val="2F6D62"/>
            </a:solidFill>
            <a:prstDash val="solid"/>
          </a:ln>
        </p:spPr>
      </p:sp>
      <p:sp>
        <p:nvSpPr>
          <p:cNvPr id="10" name="Text 8"/>
          <p:cNvSpPr txBox="1"/>
          <p:nvPr/>
        </p:nvSpPr>
        <p:spPr>
          <a:xfrm>
            <a:off x="2706624" y="1307592"/>
            <a:ext cx="1554480"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wtxidrelay, sendaddrv2</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options</a:t>
            </a:r>
            <a:endParaRPr lang="en-US" sz="1050" dirty="0"/>
          </a:p>
        </p:txBody>
      </p:sp>
      <p:sp>
        <p:nvSpPr>
          <p:cNvPr id="11" name="Shape 9"/>
          <p:cNvSpPr/>
          <p:nvPr/>
        </p:nvSpPr>
        <p:spPr>
          <a:xfrm>
            <a:off x="4389120" y="1513332"/>
            <a:ext cx="365760" cy="0"/>
          </a:xfrm>
          <a:prstGeom prst="line">
            <a:avLst/>
          </a:prstGeom>
          <a:noFill/>
          <a:ln w="25400">
            <a:solidFill>
              <a:srgbClr val="D97A14"/>
            </a:solidFill>
            <a:prstDash val="solid"/>
            <a:tailEnd type="triangle"/>
          </a:ln>
        </p:spPr>
      </p:sp>
      <p:sp>
        <p:nvSpPr>
          <p:cNvPr id="12" name="Shape 10"/>
          <p:cNvSpPr/>
          <p:nvPr/>
        </p:nvSpPr>
        <p:spPr>
          <a:xfrm>
            <a:off x="4809744" y="1261872"/>
            <a:ext cx="1700784" cy="502920"/>
          </a:xfrm>
          <a:prstGeom prst="roundRect">
            <a:avLst>
              <a:gd name="adj" fmla="val 18182"/>
            </a:avLst>
          </a:prstGeom>
          <a:solidFill>
            <a:srgbClr val="2F6D62"/>
          </a:solidFill>
          <a:ln w="12700">
            <a:solidFill>
              <a:srgbClr val="2F6D62"/>
            </a:solidFill>
            <a:prstDash val="solid"/>
          </a:ln>
        </p:spPr>
      </p:sp>
      <p:sp>
        <p:nvSpPr>
          <p:cNvPr id="13" name="Text 11"/>
          <p:cNvSpPr txBox="1"/>
          <p:nvPr/>
        </p:nvSpPr>
        <p:spPr>
          <a:xfrm>
            <a:off x="4882896" y="1307592"/>
            <a:ext cx="1554480"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verack</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agreed</a:t>
            </a:r>
            <a:endParaRPr lang="en-US" sz="1050" dirty="0"/>
          </a:p>
        </p:txBody>
      </p:sp>
      <p:sp>
        <p:nvSpPr>
          <p:cNvPr id="14" name="Shape 12"/>
          <p:cNvSpPr/>
          <p:nvPr/>
        </p:nvSpPr>
        <p:spPr>
          <a:xfrm>
            <a:off x="6565392" y="1513332"/>
            <a:ext cx="365760" cy="0"/>
          </a:xfrm>
          <a:prstGeom prst="line">
            <a:avLst/>
          </a:prstGeom>
          <a:noFill/>
          <a:ln w="25400">
            <a:solidFill>
              <a:srgbClr val="D97A14"/>
            </a:solidFill>
            <a:prstDash val="solid"/>
            <a:tailEnd type="triangle"/>
          </a:ln>
        </p:spPr>
      </p:sp>
      <p:sp>
        <p:nvSpPr>
          <p:cNvPr id="15" name="Shape 13"/>
          <p:cNvSpPr/>
          <p:nvPr/>
        </p:nvSpPr>
        <p:spPr>
          <a:xfrm>
            <a:off x="6986016" y="1261872"/>
            <a:ext cx="1700784" cy="502920"/>
          </a:xfrm>
          <a:prstGeom prst="roundRect">
            <a:avLst>
              <a:gd name="adj" fmla="val 18182"/>
            </a:avLst>
          </a:prstGeom>
          <a:solidFill>
            <a:srgbClr val="2F6D62"/>
          </a:solidFill>
          <a:ln w="12700">
            <a:solidFill>
              <a:srgbClr val="2F6D62"/>
            </a:solidFill>
            <a:prstDash val="solid"/>
          </a:ln>
        </p:spPr>
      </p:sp>
      <p:sp>
        <p:nvSpPr>
          <p:cNvPr id="16" name="Text 14"/>
          <p:cNvSpPr txBox="1"/>
          <p:nvPr/>
        </p:nvSpPr>
        <p:spPr>
          <a:xfrm>
            <a:off x="7059168" y="1307592"/>
            <a:ext cx="1554480"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sendcmpct, getheaders</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first requests</a:t>
            </a:r>
            <a:endParaRPr lang="en-US" sz="1050" dirty="0"/>
          </a:p>
        </p:txBody>
      </p:sp>
      <p:sp>
        <p:nvSpPr>
          <p:cNvPr id="17" name="Text 15"/>
          <p:cNvSpPr txBox="1"/>
          <p:nvPr/>
        </p:nvSpPr>
        <p:spPr>
          <a:xfrm>
            <a:off x="457200" y="175564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the mainnet magic bytes are saved in the source</a:t>
            </a:r>
            <a:endParaRPr lang="en-US" sz="1150" dirty="0"/>
          </a:p>
        </p:txBody>
      </p:sp>
      <p:sp>
        <p:nvSpPr>
          <p:cNvPr id="18" name="Shape 16"/>
          <p:cNvSpPr/>
          <p:nvPr/>
        </p:nvSpPr>
        <p:spPr>
          <a:xfrm>
            <a:off x="457200" y="2029968"/>
            <a:ext cx="8229600" cy="1691640"/>
          </a:xfrm>
          <a:prstGeom prst="roundRect">
            <a:avLst>
              <a:gd name="adj" fmla="val 5405"/>
            </a:avLst>
          </a:prstGeom>
          <a:solidFill>
            <a:srgbClr val="23272E"/>
          </a:solidFill>
          <a:ln w="12700">
            <a:solidFill>
              <a:srgbClr val="23272E"/>
            </a:solidFill>
            <a:prstDash val="solid"/>
          </a:ln>
        </p:spPr>
      </p:sp>
      <p:sp>
        <p:nvSpPr>
          <p:cNvPr id="19" name="Text 17"/>
          <p:cNvSpPr txBox="1"/>
          <p:nvPr/>
        </p:nvSpPr>
        <p:spPr>
          <a:xfrm>
            <a:off x="640080" y="2148840"/>
            <a:ext cx="7863840" cy="1453896"/>
          </a:xfrm>
          <a:prstGeom prst="rect">
            <a:avLst/>
          </a:prstGeom>
          <a:noFill/>
          <a:ln/>
        </p:spPr>
        <p:txBody>
          <a:bodyPr wrap="square" lIns="0" tIns="0" rIns="0" bIns="0" rtlCol="0" anchor="t"/>
          <a:lstStyle/>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e, v = R[</a:t>
            </a:r>
            <a:r>
              <a:rPr lang="en-US" sz="780" dirty="0">
                <a:solidFill>
                  <a:srgbClr val="9ECBFF"/>
                </a:solidFill>
                <a:latin typeface="Courier New" pitchFamily="34" charset="0"/>
                <a:ea typeface="Courier New" pitchFamily="34" charset="-122"/>
                <a:cs typeface="Courier New" pitchFamily="34" charset="-120"/>
              </a:rPr>
              <a:t>'e1_handshake'</a:t>
            </a:r>
            <a:r>
              <a:rPr lang="en-US" sz="780" dirty="0">
                <a:solidFill>
                  <a:srgbClr val="E6EDF3"/>
                </a:solidFill>
                <a:latin typeface="Courier New" pitchFamily="34" charset="0"/>
                <a:ea typeface="Courier New" pitchFamily="34" charset="-122"/>
                <a:cs typeface="Courier New" pitchFamily="34" charset="-120"/>
              </a:rPr>
              <a:t>], R[</a:t>
            </a:r>
            <a:r>
              <a:rPr lang="en-US" sz="780" dirty="0">
                <a:solidFill>
                  <a:srgbClr val="9ECBFF"/>
                </a:solidFill>
                <a:latin typeface="Courier New" pitchFamily="34" charset="0"/>
                <a:ea typeface="Courier New" pitchFamily="34" charset="-122"/>
                <a:cs typeface="Courier New" pitchFamily="34" charset="-120"/>
              </a:rPr>
              <a:t>'e1_handshake'</a:t>
            </a:r>
            <a:r>
              <a:rPr lang="en-US" sz="780" dirty="0">
                <a:solidFill>
                  <a:srgbClr val="E6EDF3"/>
                </a:solidFill>
                <a:latin typeface="Courier New" pitchFamily="34" charset="0"/>
                <a:ea typeface="Courier New" pitchFamily="34" charset="-122"/>
                <a:cs typeface="Courier New" pitchFamily="34" charset="-120"/>
              </a:rPr>
              <a:t>][</a:t>
            </a:r>
            <a:r>
              <a:rPr lang="en-US" sz="780" dirty="0">
                <a:solidFill>
                  <a:srgbClr val="9ECBFF"/>
                </a:solidFill>
                <a:latin typeface="Courier New" pitchFamily="34" charset="0"/>
                <a:ea typeface="Courier New" pitchFamily="34" charset="-122"/>
                <a:cs typeface="Courier New" pitchFamily="34" charset="-120"/>
              </a:rPr>
              <a:t>'node_version'</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P.frame(</a:t>
            </a:r>
            <a:r>
              <a:rPr lang="en-US" sz="780" dirty="0">
                <a:solidFill>
                  <a:srgbClr val="9ECBFF"/>
                </a:solidFill>
                <a:latin typeface="Courier New" pitchFamily="34" charset="0"/>
                <a:ea typeface="Courier New" pitchFamily="34" charset="-122"/>
                <a:cs typeface="Courier New" pitchFamily="34" charset="-120"/>
              </a:rPr>
              <a:t>'verack'</a:t>
            </a:r>
            <a:r>
              <a:rPr lang="en-US" sz="780" dirty="0">
                <a:solidFill>
                  <a:srgbClr val="E6EDF3"/>
                </a:solidFill>
                <a:latin typeface="Courier New" pitchFamily="34" charset="0"/>
                <a:ea typeface="Courier New" pitchFamily="34" charset="-122"/>
                <a:cs typeface="Courier New" pitchFamily="34" charset="-120"/>
              </a:rPr>
              <a:t>, b</a:t>
            </a:r>
            <a:r>
              <a:rPr lang="en-US" sz="780" dirty="0">
                <a:solidFill>
                  <a:srgbClr val="9ECBFF"/>
                </a:solidFill>
                <a:latin typeface="Courier New" pitchFamily="34" charset="0"/>
                <a:ea typeface="Courier New" pitchFamily="34" charset="-122"/>
                <a:cs typeface="Courier New" pitchFamily="34" charset="-120"/>
              </a:rPr>
              <a:t>''</a:t>
            </a:r>
            <a:r>
              <a:rPr lang="en-US" sz="780" dirty="0">
                <a:solidFill>
                  <a:srgbClr val="E6EDF3"/>
                </a:solidFill>
                <a:latin typeface="Courier New" pitchFamily="34" charset="0"/>
                <a:ea typeface="Courier New" pitchFamily="34" charset="-122"/>
                <a:cs typeface="Courier New" pitchFamily="34" charset="-120"/>
              </a:rPr>
              <a:t>).hex(), len(P.frame(</a:t>
            </a:r>
            <a:r>
              <a:rPr lang="en-US" sz="780" dirty="0">
                <a:solidFill>
                  <a:srgbClr val="9ECBFF"/>
                </a:solidFill>
                <a:latin typeface="Courier New" pitchFamily="34" charset="0"/>
                <a:ea typeface="Courier New" pitchFamily="34" charset="-122"/>
                <a:cs typeface="Courier New" pitchFamily="34" charset="-120"/>
              </a:rPr>
              <a:t>'verack'</a:t>
            </a:r>
            <a:r>
              <a:rPr lang="en-US" sz="780" dirty="0">
                <a:solidFill>
                  <a:srgbClr val="E6EDF3"/>
                </a:solidFill>
                <a:latin typeface="Courier New" pitchFamily="34" charset="0"/>
                <a:ea typeface="Courier New" pitchFamily="34" charset="-122"/>
                <a:cs typeface="Courier New" pitchFamily="34" charset="-120"/>
              </a:rPr>
              <a:t>, b</a:t>
            </a:r>
            <a:r>
              <a:rPr lang="en-US" sz="780" dirty="0">
                <a:solidFill>
                  <a:srgbClr val="9ECBFF"/>
                </a:solidFill>
                <a:latin typeface="Courier New" pitchFamily="34" charset="0"/>
                <a:ea typeface="Courier New" pitchFamily="34" charset="-122"/>
                <a:cs typeface="Courier New" pitchFamily="34" charset="-120"/>
              </a:rPr>
              <a:t>''</a:t>
            </a:r>
            <a:r>
              <a:rPr lang="en-US" sz="780" dirty="0">
                <a:solidFill>
                  <a:srgbClr val="E6EDF3"/>
                </a:solidFill>
                <a:latin typeface="Courier New" pitchFamily="34" charset="0"/>
                <a:ea typeface="Courier New" pitchFamily="34" charset="-122"/>
                <a:cs typeface="Courier New" pitchFamily="34" charset="-120"/>
              </a:rPr>
              <a:t>)), P.MAGIC[</a:t>
            </a:r>
            <a:r>
              <a:rPr lang="en-US" sz="780" dirty="0">
                <a:solidFill>
                  <a:srgbClr val="9ECBFF"/>
                </a:solidFill>
                <a:latin typeface="Courier New" pitchFamily="34" charset="0"/>
                <a:ea typeface="Courier New" pitchFamily="34" charset="-122"/>
                <a:cs typeface="Courier New" pitchFamily="34" charset="-120"/>
              </a:rPr>
              <a:t>'main'</a:t>
            </a:r>
            <a:r>
              <a:rPr lang="en-US" sz="780" dirty="0">
                <a:solidFill>
                  <a:srgbClr val="E6EDF3"/>
                </a:solidFill>
                <a:latin typeface="Courier New" pitchFamily="34" charset="0"/>
                <a:ea typeface="Courier New" pitchFamily="34" charset="-122"/>
                <a:cs typeface="Courier New" pitchFamily="34" charset="-120"/>
              </a:rPr>
              <a:t>].hex(), e[</a:t>
            </a:r>
            <a:r>
              <a:rPr lang="en-US" sz="780" dirty="0">
                <a:solidFill>
                  <a:srgbClr val="9ECBFF"/>
                </a:solidFill>
                <a:latin typeface="Courier New" pitchFamily="34" charset="0"/>
                <a:ea typeface="Courier New" pitchFamily="34" charset="-122"/>
                <a:cs typeface="Courier New" pitchFamily="34" charset="-120"/>
              </a:rPr>
              <a:t>'magic'</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('fabfb5da76657261636b000000000000000000005df6e0e2', 24, 'f9beb4d9', 'fabfb5da')</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v[</a:t>
            </a:r>
            <a:r>
              <a:rPr lang="en-US" sz="780" dirty="0">
                <a:solidFill>
                  <a:srgbClr val="9ECBFF"/>
                </a:solidFill>
                <a:latin typeface="Courier New" pitchFamily="34" charset="0"/>
                <a:ea typeface="Courier New" pitchFamily="34" charset="-122"/>
                <a:cs typeface="Courier New" pitchFamily="34" charset="-120"/>
              </a:rPr>
              <a:t>'version'</a:t>
            </a:r>
            <a:r>
              <a:rPr lang="en-US" sz="780" dirty="0">
                <a:solidFill>
                  <a:srgbClr val="E6EDF3"/>
                </a:solidFill>
                <a:latin typeface="Courier New" pitchFamily="34" charset="0"/>
                <a:ea typeface="Courier New" pitchFamily="34" charset="-122"/>
                <a:cs typeface="Courier New" pitchFamily="34" charset="-120"/>
              </a:rPr>
              <a:t>], v[</a:t>
            </a:r>
            <a:r>
              <a:rPr lang="en-US" sz="780" dirty="0">
                <a:solidFill>
                  <a:srgbClr val="9ECBFF"/>
                </a:solidFill>
                <a:latin typeface="Courier New" pitchFamily="34" charset="0"/>
                <a:ea typeface="Courier New" pitchFamily="34" charset="-122"/>
                <a:cs typeface="Courier New" pitchFamily="34" charset="-120"/>
              </a:rPr>
              <a:t>'services'</a:t>
            </a:r>
            <a:r>
              <a:rPr lang="en-US" sz="780" dirty="0">
                <a:solidFill>
                  <a:srgbClr val="E6EDF3"/>
                </a:solidFill>
                <a:latin typeface="Courier New" pitchFamily="34" charset="0"/>
                <a:ea typeface="Courier New" pitchFamily="34" charset="-122"/>
                <a:cs typeface="Courier New" pitchFamily="34" charset="-120"/>
              </a:rPr>
              <a:t>], v[</a:t>
            </a:r>
            <a:r>
              <a:rPr lang="en-US" sz="780" dirty="0">
                <a:solidFill>
                  <a:srgbClr val="9ECBFF"/>
                </a:solidFill>
                <a:latin typeface="Courier New" pitchFamily="34" charset="0"/>
                <a:ea typeface="Courier New" pitchFamily="34" charset="-122"/>
                <a:cs typeface="Courier New" pitchFamily="34" charset="-120"/>
              </a:rPr>
              <a:t>'user_agent'</a:t>
            </a:r>
            <a:r>
              <a:rPr lang="en-US" sz="780" dirty="0">
                <a:solidFill>
                  <a:srgbClr val="E6EDF3"/>
                </a:solidFill>
                <a:latin typeface="Courier New" pitchFamily="34" charset="0"/>
                <a:ea typeface="Courier New" pitchFamily="34" charset="-122"/>
                <a:cs typeface="Courier New" pitchFamily="34" charset="-120"/>
              </a:rPr>
              <a:t>], v[</a:t>
            </a:r>
            <a:r>
              <a:rPr lang="en-US" sz="780" dirty="0">
                <a:solidFill>
                  <a:srgbClr val="9ECBFF"/>
                </a:solidFill>
                <a:latin typeface="Courier New" pitchFamily="34" charset="0"/>
                <a:ea typeface="Courier New" pitchFamily="34" charset="-122"/>
                <a:cs typeface="Courier New" pitchFamily="34" charset="-120"/>
              </a:rPr>
              <a:t>'start_height'</a:t>
            </a:r>
            <a:r>
              <a:rPr lang="en-US" sz="780" dirty="0">
                <a:solidFill>
                  <a:srgbClr val="E6EDF3"/>
                </a:solidFill>
                <a:latin typeface="Courier New" pitchFamily="34" charset="0"/>
                <a:ea typeface="Courier New" pitchFamily="34" charset="-122"/>
                <a:cs typeface="Courier New" pitchFamily="34" charset="-120"/>
              </a:rPr>
              <a:t>], v[</a:t>
            </a:r>
            <a:r>
              <a:rPr lang="en-US" sz="780" dirty="0">
                <a:solidFill>
                  <a:srgbClr val="9ECBFF"/>
                </a:solidFill>
                <a:latin typeface="Courier New" pitchFamily="34" charset="0"/>
                <a:ea typeface="Courier New" pitchFamily="34" charset="-122"/>
                <a:cs typeface="Courier New" pitchFamily="34" charset="-120"/>
              </a:rPr>
              <a:t>'relay'</a:t>
            </a:r>
            <a:r>
              <a:rPr lang="en-US" sz="780" dirty="0">
                <a:solidFill>
                  <a:srgbClr val="E6EDF3"/>
                </a:solidFill>
                <a:latin typeface="Courier New" pitchFamily="34" charset="0"/>
                <a:ea typeface="Courier New" pitchFamily="34" charset="-122"/>
                <a:cs typeface="Courier New" pitchFamily="34" charset="-120"/>
              </a:rPr>
              <a:t>], v[</a:t>
            </a:r>
            <a:r>
              <a:rPr lang="en-US" sz="780" dirty="0">
                <a:solidFill>
                  <a:srgbClr val="9ECBFF"/>
                </a:solidFill>
                <a:latin typeface="Courier New" pitchFamily="34" charset="0"/>
                <a:ea typeface="Courier New" pitchFamily="34" charset="-122"/>
                <a:cs typeface="Courier New" pitchFamily="34" charset="-120"/>
              </a:rPr>
              <a:t>'payload_bytes'</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(70016, 3081, '/Satoshi:31.1.0/', 2099, True, 102)</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[c </a:t>
            </a:r>
            <a:r>
              <a:rPr lang="en-US" sz="780" b="1" dirty="0">
                <a:solidFill>
                  <a:srgbClr val="F2A860"/>
                </a:solidFill>
                <a:latin typeface="Courier New" pitchFamily="34" charset="0"/>
                <a:ea typeface="Courier New" pitchFamily="34" charset="-122"/>
                <a:cs typeface="Courier New" pitchFamily="34" charset="-120"/>
              </a:rPr>
              <a:t>for</a:t>
            </a:r>
            <a:r>
              <a:rPr lang="en-US" sz="780" dirty="0">
                <a:solidFill>
                  <a:srgbClr val="E6EDF3"/>
                </a:solidFill>
                <a:latin typeface="Courier New" pitchFamily="34" charset="0"/>
                <a:ea typeface="Courier New" pitchFamily="34" charset="-122"/>
                <a:cs typeface="Courier New" pitchFamily="34" charset="-120"/>
              </a:rPr>
              <a:t> t, c, n </a:t>
            </a:r>
            <a:r>
              <a:rPr lang="en-US" sz="780" b="1" dirty="0">
                <a:solidFill>
                  <a:srgbClr val="F2A860"/>
                </a:solidFill>
                <a:latin typeface="Courier New" pitchFamily="34" charset="0"/>
                <a:ea typeface="Courier New" pitchFamily="34" charset="-122"/>
                <a:cs typeface="Courier New" pitchFamily="34" charset="-120"/>
              </a:rPr>
              <a:t>in</a:t>
            </a:r>
            <a:r>
              <a:rPr lang="en-US" sz="780" dirty="0">
                <a:solidFill>
                  <a:srgbClr val="E6EDF3"/>
                </a:solidFill>
                <a:latin typeface="Courier New" pitchFamily="34" charset="0"/>
                <a:ea typeface="Courier New" pitchFamily="34" charset="-122"/>
                <a:cs typeface="Courier New" pitchFamily="34" charset="-120"/>
              </a:rPr>
              <a:t> e[</a:t>
            </a:r>
            <a:r>
              <a:rPr lang="en-US" sz="780" dirty="0">
                <a:solidFill>
                  <a:srgbClr val="9ECBFF"/>
                </a:solidFill>
                <a:latin typeface="Courier New" pitchFamily="34" charset="0"/>
                <a:ea typeface="Courier New" pitchFamily="34" charset="-122"/>
                <a:cs typeface="Courier New" pitchFamily="34" charset="-120"/>
              </a:rPr>
              <a:t>'sequence'</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['version', 'wtxidrelay', 'sendaddrv2', 'verack', 'sendcmpct', 'ping', 'getheaders', 'inv', 'feefilter']</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src(</a:t>
            </a:r>
            <a:r>
              <a:rPr lang="en-US" sz="780" dirty="0">
                <a:solidFill>
                  <a:srgbClr val="9ECBFF"/>
                </a:solidFill>
                <a:latin typeface="Courier New" pitchFamily="34" charset="0"/>
                <a:ea typeface="Courier New" pitchFamily="34" charset="-122"/>
                <a:cs typeface="Courier New" pitchFamily="34" charset="-120"/>
              </a:rPr>
              <a:t>'core_src_node_protocol_version.h'</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'PROTOCOL_VERSION'</a:t>
            </a:r>
            <a:r>
              <a:rPr lang="en-US" sz="780" dirty="0">
                <a:solidFill>
                  <a:srgbClr val="E6EDF3"/>
                </a:solidFill>
                <a:latin typeface="Courier New" pitchFamily="34" charset="0"/>
                <a:ea typeface="Courier New" pitchFamily="34" charset="-122"/>
                <a:cs typeface="Courier New" pitchFamily="34" charset="-120"/>
              </a:rPr>
              <a:t>), seen(</a:t>
            </a:r>
            <a:r>
              <a:rPr lang="en-US" sz="780" dirty="0">
                <a:solidFill>
                  <a:srgbClr val="9ECBFF"/>
                </a:solidFill>
                <a:latin typeface="Courier New" pitchFamily="34" charset="0"/>
                <a:ea typeface="Courier New" pitchFamily="34" charset="-122"/>
                <a:cs typeface="Courier New" pitchFamily="34" charset="-120"/>
              </a:rPr>
              <a:t>'book_ch10_network.adoc'</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'(e.g., 70002)'</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('70016', True)</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R[</a:t>
            </a:r>
            <a:r>
              <a:rPr lang="en-US" sz="780" dirty="0">
                <a:solidFill>
                  <a:srgbClr val="9ECBFF"/>
                </a:solidFill>
                <a:latin typeface="Courier New" pitchFamily="34" charset="0"/>
                <a:ea typeface="Courier New" pitchFamily="34" charset="-122"/>
                <a:cs typeface="Courier New" pitchFamily="34" charset="-120"/>
              </a:rPr>
              <a:t>'networkinfo_A'</a:t>
            </a:r>
            <a:r>
              <a:rPr lang="en-US" sz="780" dirty="0">
                <a:solidFill>
                  <a:srgbClr val="E6EDF3"/>
                </a:solidFill>
                <a:latin typeface="Courier New" pitchFamily="34" charset="0"/>
                <a:ea typeface="Courier New" pitchFamily="34" charset="-122"/>
                <a:cs typeface="Courier New" pitchFamily="34" charset="-120"/>
              </a:rPr>
              <a:t>][</a:t>
            </a:r>
            <a:r>
              <a:rPr lang="en-US" sz="780" dirty="0">
                <a:solidFill>
                  <a:srgbClr val="9ECBFF"/>
                </a:solidFill>
                <a:latin typeface="Courier New" pitchFamily="34" charset="0"/>
                <a:ea typeface="Courier New" pitchFamily="34" charset="-122"/>
                <a:cs typeface="Courier New" pitchFamily="34" charset="-120"/>
              </a:rPr>
              <a:t>'localservicesnames'</a:t>
            </a:r>
            <a:r>
              <a:rPr lang="en-US" sz="780" dirty="0">
                <a:solidFill>
                  <a:srgbClr val="E6EDF3"/>
                </a:solidFill>
                <a:latin typeface="Courier New" pitchFamily="34" charset="0"/>
                <a:ea typeface="Courier New" pitchFamily="34" charset="-122"/>
                <a:cs typeface="Courier New" pitchFamily="34" charset="-120"/>
              </a:rPr>
              <a:t>], R[</a:t>
            </a:r>
            <a:r>
              <a:rPr lang="en-US" sz="780" dirty="0">
                <a:solidFill>
                  <a:srgbClr val="9ECBFF"/>
                </a:solidFill>
                <a:latin typeface="Courier New" pitchFamily="34" charset="0"/>
                <a:ea typeface="Courier New" pitchFamily="34" charset="-122"/>
                <a:cs typeface="Courier New" pitchFamily="34" charset="-120"/>
              </a:rPr>
              <a:t>'e10_pruned'</a:t>
            </a:r>
            <a:r>
              <a:rPr lang="en-US" sz="780" dirty="0">
                <a:solidFill>
                  <a:srgbClr val="E6EDF3"/>
                </a:solidFill>
                <a:latin typeface="Courier New" pitchFamily="34" charset="0"/>
                <a:ea typeface="Courier New" pitchFamily="34" charset="-122"/>
                <a:cs typeface="Courier New" pitchFamily="34" charset="-120"/>
              </a:rPr>
              <a:t>][</a:t>
            </a:r>
            <a:r>
              <a:rPr lang="en-US" sz="780" dirty="0">
                <a:solidFill>
                  <a:srgbClr val="9ECBFF"/>
                </a:solidFill>
                <a:latin typeface="Courier New" pitchFamily="34" charset="0"/>
                <a:ea typeface="Courier New" pitchFamily="34" charset="-122"/>
                <a:cs typeface="Courier New" pitchFamily="34" charset="-120"/>
              </a:rPr>
              <a:t>'services'</a:t>
            </a:r>
            <a:r>
              <a:rPr lang="en-US" sz="780" dirty="0">
                <a:solidFill>
                  <a:srgbClr val="E6EDF3"/>
                </a:solidFill>
                <a:latin typeface="Courier New" pitchFamily="34" charset="0"/>
                <a:ea typeface="Courier New" pitchFamily="34" charset="-122"/>
                <a:cs typeface="Courier New" pitchFamily="34" charset="-120"/>
              </a:rPr>
              <a:t>], R[</a:t>
            </a:r>
            <a:r>
              <a:rPr lang="en-US" sz="780" dirty="0">
                <a:solidFill>
                  <a:srgbClr val="9ECBFF"/>
                </a:solidFill>
                <a:latin typeface="Courier New" pitchFamily="34" charset="0"/>
                <a:ea typeface="Courier New" pitchFamily="34" charset="-122"/>
                <a:cs typeface="Courier New" pitchFamily="34" charset="-120"/>
              </a:rPr>
              <a:t>'e10_pruned'</a:t>
            </a:r>
            <a:r>
              <a:rPr lang="en-US" sz="780" dirty="0">
                <a:solidFill>
                  <a:srgbClr val="E6EDF3"/>
                </a:solidFill>
                <a:latin typeface="Courier New" pitchFamily="34" charset="0"/>
                <a:ea typeface="Courier New" pitchFamily="34" charset="-122"/>
                <a:cs typeface="Courier New" pitchFamily="34" charset="-120"/>
              </a:rPr>
              <a:t>][</a:t>
            </a:r>
            <a:r>
              <a:rPr lang="en-US" sz="780" dirty="0">
                <a:solidFill>
                  <a:srgbClr val="9ECBFF"/>
                </a:solidFill>
                <a:latin typeface="Courier New" pitchFamily="34" charset="0"/>
                <a:ea typeface="Courier New" pitchFamily="34" charset="-122"/>
                <a:cs typeface="Courier New" pitchFamily="34" charset="-120"/>
              </a:rPr>
              <a:t>'prune_info'</a:t>
            </a:r>
            <a:r>
              <a:rPr lang="en-US" sz="780" dirty="0">
                <a:solidFill>
                  <a:srgbClr val="E6EDF3"/>
                </a:solidFill>
                <a:latin typeface="Courier New" pitchFamily="34" charset="0"/>
                <a:ea typeface="Courier New" pitchFamily="34" charset="-122"/>
                <a:cs typeface="Courier New" pitchFamily="34" charset="-120"/>
              </a:rPr>
              <a:t>][</a:t>
            </a:r>
            <a:r>
              <a:rPr lang="en-US" sz="780" dirty="0">
                <a:solidFill>
                  <a:srgbClr val="9ECBFF"/>
                </a:solidFill>
                <a:latin typeface="Courier New" pitchFamily="34" charset="0"/>
                <a:ea typeface="Courier New" pitchFamily="34" charset="-122"/>
                <a:cs typeface="Courier New" pitchFamily="34" charset="-120"/>
              </a:rPr>
              <a:t>'pruned'</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(['NETWORK', 'WITNESS', 'NETWORK_LIMITED', 'P2P_V2'], ['WITNESS', 'NETWORK_LIMITED', 'P2P_V2'], True)</a:t>
            </a:r>
            <a:endParaRPr lang="en-US" sz="780" dirty="0"/>
          </a:p>
        </p:txBody>
      </p:sp>
      <p:sp>
        <p:nvSpPr>
          <p:cNvPr id="20" name="Text 18"/>
          <p:cNvSpPr txBox="1"/>
          <p:nvPr/>
        </p:nvSpPr>
        <p:spPr>
          <a:xfrm>
            <a:off x="457200" y="373989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1" name="Shape 19"/>
          <p:cNvSpPr/>
          <p:nvPr/>
        </p:nvSpPr>
        <p:spPr>
          <a:xfrm>
            <a:off x="457200" y="3971544"/>
            <a:ext cx="128016" cy="128016"/>
          </a:xfrm>
          <a:prstGeom prst="diamond">
            <a:avLst/>
          </a:prstGeom>
          <a:solidFill>
            <a:srgbClr val="D97A14"/>
          </a:solidFill>
          <a:ln w="12700">
            <a:solidFill>
              <a:srgbClr val="D97A14"/>
            </a:solidFill>
            <a:prstDash val="solid"/>
          </a:ln>
        </p:spPr>
      </p:sp>
      <p:sp>
        <p:nvSpPr>
          <p:cNvPr id="22" name="Text 20"/>
          <p:cNvSpPr txBox="1"/>
          <p:nvPr/>
        </p:nvSpPr>
        <p:spPr>
          <a:xfrm>
            <a:off x="731520" y="393192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magic, command, length, checksum make 24 bytes for verack; mainnet magic f9beb4d9, test chain fabfb5da</a:t>
            </a:r>
            <a:endParaRPr lang="en-US" sz="1000" dirty="0"/>
          </a:p>
        </p:txBody>
      </p:sp>
      <p:sp>
        <p:nvSpPr>
          <p:cNvPr id="23" name="Shape 21"/>
          <p:cNvSpPr/>
          <p:nvPr/>
        </p:nvSpPr>
        <p:spPr>
          <a:xfrm>
            <a:off x="457200" y="4178808"/>
            <a:ext cx="128016" cy="128016"/>
          </a:xfrm>
          <a:prstGeom prst="diamond">
            <a:avLst/>
          </a:prstGeom>
          <a:solidFill>
            <a:srgbClr val="D97A14"/>
          </a:solidFill>
          <a:ln w="12700">
            <a:solidFill>
              <a:srgbClr val="D97A14"/>
            </a:solidFill>
            <a:prstDash val="solid"/>
          </a:ln>
        </p:spPr>
      </p:sp>
      <p:sp>
        <p:nvSpPr>
          <p:cNvPr id="24" name="Text 22"/>
          <p:cNvSpPr txBox="1"/>
          <p:nvPr/>
        </p:nvSpPr>
        <p:spPr>
          <a:xfrm>
            <a:off x="731520" y="413918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3 and 5: the node sent protocol version 70016 and /Satoshi:31.1.0/; the book's listing shows 70002</a:t>
            </a:r>
            <a:endParaRPr lang="en-US" sz="1000" dirty="0"/>
          </a:p>
        </p:txBody>
      </p:sp>
      <p:sp>
        <p:nvSpPr>
          <p:cNvPr id="25" name="Shape 23"/>
          <p:cNvSpPr/>
          <p:nvPr/>
        </p:nvSpPr>
        <p:spPr>
          <a:xfrm>
            <a:off x="457200" y="4386072"/>
            <a:ext cx="128016" cy="128016"/>
          </a:xfrm>
          <a:prstGeom prst="diamond">
            <a:avLst/>
          </a:prstGeom>
          <a:solidFill>
            <a:srgbClr val="D97A14"/>
          </a:solidFill>
          <a:ln w="12700">
            <a:solidFill>
              <a:srgbClr val="D97A14"/>
            </a:solidFill>
            <a:prstDash val="solid"/>
          </a:ln>
        </p:spPr>
      </p:sp>
      <p:sp>
        <p:nvSpPr>
          <p:cNvPr id="26" name="Text 24"/>
          <p:cNvSpPr txBox="1"/>
          <p:nvPr/>
        </p:nvSpPr>
        <p:spPr>
          <a:xfrm>
            <a:off x="731520" y="434644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and 6: version, options, verack, then requests; an archival node offers NETWORK, a pruned one only NETWORK_LIMITED</a:t>
            </a:r>
            <a:endParaRPr lang="en-US" sz="100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Two nodes meet as equals: version, options, verack, then requests</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Peers, blocks and transactions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Finding peers, choosing connections, and passing blocks and payments along.</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Finding peers</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Compact blocks</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Headers first</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Relay and orphans</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Finding peers: DNS seeds and addr</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asking the phone directory for a few numbers, then your friends for more</a:t>
            </a:r>
            <a:endParaRPr lang="en-US" sz="1300" dirty="0"/>
          </a:p>
        </p:txBody>
      </p:sp>
      <p:sp>
        <p:nvSpPr>
          <p:cNvPr id="6" name="Shape 4"/>
          <p:cNvSpPr/>
          <p:nvPr/>
        </p:nvSpPr>
        <p:spPr>
          <a:xfrm>
            <a:off x="457200" y="1161288"/>
            <a:ext cx="1482928" cy="420624"/>
          </a:xfrm>
          <a:prstGeom prst="roundRect">
            <a:avLst>
              <a:gd name="adj" fmla="val 50000"/>
            </a:avLst>
          </a:prstGeom>
          <a:solidFill>
            <a:srgbClr val="F2ECE1"/>
          </a:solidFill>
          <a:ln w="12700">
            <a:solidFill>
              <a:srgbClr val="D97A14"/>
            </a:solidFill>
            <a:prstDash val="solid"/>
          </a:ln>
        </p:spPr>
      </p:sp>
      <p:sp>
        <p:nvSpPr>
          <p:cNvPr id="7" name="Text 5"/>
          <p:cNvSpPr txBox="1"/>
          <p:nvPr/>
        </p:nvSpPr>
        <p:spPr>
          <a:xfrm>
            <a:off x="457200" y="1161288"/>
            <a:ext cx="1482928"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8 DNS seeds</a:t>
            </a:r>
            <a:endParaRPr lang="en-US" sz="950" dirty="0"/>
          </a:p>
        </p:txBody>
      </p:sp>
      <p:sp>
        <p:nvSpPr>
          <p:cNvPr id="8" name="Shape 6"/>
          <p:cNvSpPr/>
          <p:nvPr/>
        </p:nvSpPr>
        <p:spPr>
          <a:xfrm>
            <a:off x="2141296" y="1161288"/>
            <a:ext cx="2581808" cy="420624"/>
          </a:xfrm>
          <a:prstGeom prst="roundRect">
            <a:avLst>
              <a:gd name="adj" fmla="val 50000"/>
            </a:avLst>
          </a:prstGeom>
          <a:solidFill>
            <a:srgbClr val="F2ECE1"/>
          </a:solidFill>
          <a:ln w="12700">
            <a:solidFill>
              <a:srgbClr val="D97A14"/>
            </a:solidFill>
            <a:prstDash val="solid"/>
          </a:ln>
        </p:spPr>
      </p:sp>
      <p:sp>
        <p:nvSpPr>
          <p:cNvPr id="9" name="Text 7"/>
          <p:cNvSpPr txBox="1"/>
          <p:nvPr/>
        </p:nvSpPr>
        <p:spPr>
          <a:xfrm>
            <a:off x="2141296" y="1161288"/>
            <a:ext cx="2581808"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182 distinct addresses</a:t>
            </a:r>
            <a:endParaRPr lang="en-US" sz="950" dirty="0"/>
          </a:p>
        </p:txBody>
      </p:sp>
      <p:sp>
        <p:nvSpPr>
          <p:cNvPr id="10" name="Shape 8"/>
          <p:cNvSpPr/>
          <p:nvPr/>
        </p:nvSpPr>
        <p:spPr>
          <a:xfrm>
            <a:off x="4924273" y="1161288"/>
            <a:ext cx="1283132" cy="420624"/>
          </a:xfrm>
          <a:prstGeom prst="roundRect">
            <a:avLst>
              <a:gd name="adj" fmla="val 50000"/>
            </a:avLst>
          </a:prstGeom>
          <a:solidFill>
            <a:srgbClr val="F2ECE1"/>
          </a:solidFill>
          <a:ln w="12700">
            <a:solidFill>
              <a:srgbClr val="D97A14"/>
            </a:solidFill>
            <a:prstDash val="solid"/>
          </a:ln>
        </p:spPr>
      </p:sp>
      <p:sp>
        <p:nvSpPr>
          <p:cNvPr id="11" name="Text 9"/>
          <p:cNvSpPr txBox="1"/>
          <p:nvPr/>
        </p:nvSpPr>
        <p:spPr>
          <a:xfrm>
            <a:off x="4924273" y="1161288"/>
            <a:ext cx="1283132"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port 8333</a:t>
            </a:r>
            <a:endParaRPr lang="en-US" sz="950" dirty="0"/>
          </a:p>
        </p:txBody>
      </p:sp>
      <p:sp>
        <p:nvSpPr>
          <p:cNvPr id="12" name="Text 10"/>
          <p:cNvSpPr txBox="1"/>
          <p:nvPr/>
        </p:nvSpPr>
        <p:spPr>
          <a:xfrm>
            <a:off x="457200" y="166420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with the DNS answers saved</a:t>
            </a:r>
            <a:endParaRPr lang="en-US" sz="1150" dirty="0"/>
          </a:p>
        </p:txBody>
      </p:sp>
      <p:sp>
        <p:nvSpPr>
          <p:cNvPr id="13" name="Shape 11"/>
          <p:cNvSpPr/>
          <p:nvPr/>
        </p:nvSpPr>
        <p:spPr>
          <a:xfrm>
            <a:off x="457200" y="1938528"/>
            <a:ext cx="8229600" cy="1691640"/>
          </a:xfrm>
          <a:prstGeom prst="roundRect">
            <a:avLst>
              <a:gd name="adj" fmla="val 5405"/>
            </a:avLst>
          </a:prstGeom>
          <a:solidFill>
            <a:srgbClr val="23272E"/>
          </a:solidFill>
          <a:ln w="12700">
            <a:solidFill>
              <a:srgbClr val="23272E"/>
            </a:solidFill>
            <a:prstDash val="solid"/>
          </a:ln>
        </p:spPr>
      </p:sp>
      <p:sp>
        <p:nvSpPr>
          <p:cNvPr id="14" name="Text 12"/>
          <p:cNvSpPr txBox="1"/>
          <p:nvPr/>
        </p:nvSpPr>
        <p:spPr>
          <a:xfrm>
            <a:off x="640080" y="2057400"/>
            <a:ext cx="7863840" cy="1453896"/>
          </a:xfrm>
          <a:prstGeom prst="rect">
            <a:avLst/>
          </a:prstGeom>
          <a:noFill/>
          <a:ln/>
        </p:spPr>
        <p:txBody>
          <a:bodyPr wrap="square" lIns="0" tIns="0" rIns="0" bIns="0" rtlCol="0" anchor="t"/>
          <a:lstStyle/>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d, a = R[</a:t>
            </a:r>
            <a:r>
              <a:rPr lang="en-US" sz="760" dirty="0">
                <a:solidFill>
                  <a:srgbClr val="9ECBFF"/>
                </a:solidFill>
                <a:latin typeface="Courier New" pitchFamily="34" charset="0"/>
                <a:ea typeface="Courier New" pitchFamily="34" charset="-122"/>
                <a:cs typeface="Courier New" pitchFamily="34" charset="-120"/>
              </a:rPr>
              <a:t>'e11_dns_seeds'</a:t>
            </a:r>
            <a:r>
              <a:rPr lang="en-US" sz="760" dirty="0">
                <a:solidFill>
                  <a:srgbClr val="E6EDF3"/>
                </a:solidFill>
                <a:latin typeface="Courier New" pitchFamily="34" charset="0"/>
                <a:ea typeface="Courier New" pitchFamily="34" charset="-122"/>
                <a:cs typeface="Courier New" pitchFamily="34" charset="-120"/>
              </a:rPr>
              <a:t>], R[</a:t>
            </a:r>
            <a:r>
              <a:rPr lang="en-US" sz="760" dirty="0">
                <a:solidFill>
                  <a:srgbClr val="9ECBFF"/>
                </a:solidFill>
                <a:latin typeface="Courier New" pitchFamily="34" charset="0"/>
                <a:ea typeface="Courier New" pitchFamily="34" charset="-122"/>
                <a:cs typeface="Courier New" pitchFamily="34" charset="-120"/>
              </a:rPr>
              <a:t>'e9_addr'</a:t>
            </a:r>
            <a:r>
              <a:rPr lang="en-US" sz="760" dirty="0">
                <a:solidFill>
                  <a:srgbClr val="E6EDF3"/>
                </a:solidFill>
                <a:latin typeface="Courier New" pitchFamily="34" charset="0"/>
                <a:ea typeface="Courier New" pitchFamily="34" charset="-122"/>
                <a:cs typeface="Courier New" pitchFamily="34" charset="-120"/>
              </a:rPr>
              <a:t>]; n = [len(v[</a:t>
            </a:r>
            <a:r>
              <a:rPr lang="en-US" sz="760" dirty="0">
                <a:solidFill>
                  <a:srgbClr val="9ECBFF"/>
                </a:solidFill>
                <a:latin typeface="Courier New" pitchFamily="34" charset="0"/>
                <a:ea typeface="Courier New" pitchFamily="34" charset="-122"/>
                <a:cs typeface="Courier New" pitchFamily="34" charset="-120"/>
              </a:rPr>
              <a:t>'ipv4'</a:t>
            </a:r>
            <a:r>
              <a:rPr lang="en-US" sz="760" dirty="0">
                <a:solidFill>
                  <a:srgbClr val="E6EDF3"/>
                </a:solidFill>
                <a:latin typeface="Courier New" pitchFamily="34" charset="0"/>
                <a:ea typeface="Courier New" pitchFamily="34" charset="-122"/>
                <a:cs typeface="Courier New" pitchFamily="34" charset="-120"/>
              </a:rPr>
              <a:t>]) </a:t>
            </a:r>
            <a:r>
              <a:rPr lang="en-US" sz="760" b="1" dirty="0">
                <a:solidFill>
                  <a:srgbClr val="F2A860"/>
                </a:solidFill>
                <a:latin typeface="Courier New" pitchFamily="34" charset="0"/>
                <a:ea typeface="Courier New" pitchFamily="34" charset="-122"/>
                <a:cs typeface="Courier New" pitchFamily="34" charset="-120"/>
              </a:rPr>
              <a:t>for</a:t>
            </a:r>
            <a:r>
              <a:rPr lang="en-US" sz="760" dirty="0">
                <a:solidFill>
                  <a:srgbClr val="E6EDF3"/>
                </a:solidFill>
                <a:latin typeface="Courier New" pitchFamily="34" charset="0"/>
                <a:ea typeface="Courier New" pitchFamily="34" charset="-122"/>
                <a:cs typeface="Courier New" pitchFamily="34" charset="-120"/>
              </a:rPr>
              <a:t> v </a:t>
            </a:r>
            <a:r>
              <a:rPr lang="en-US" sz="760" b="1" dirty="0">
                <a:solidFill>
                  <a:srgbClr val="F2A860"/>
                </a:solidFill>
                <a:latin typeface="Courier New" pitchFamily="34" charset="0"/>
                <a:ea typeface="Courier New" pitchFamily="34" charset="-122"/>
                <a:cs typeface="Courier New" pitchFamily="34" charset="-120"/>
              </a:rPr>
              <a:t>in</a:t>
            </a:r>
            <a:r>
              <a:rPr lang="en-US" sz="760" dirty="0">
                <a:solidFill>
                  <a:srgbClr val="E6EDF3"/>
                </a:solidFill>
                <a:latin typeface="Courier New" pitchFamily="34" charset="0"/>
                <a:ea typeface="Courier New" pitchFamily="34" charset="-122"/>
                <a:cs typeface="Courier New" pitchFamily="34" charset="-120"/>
              </a:rPr>
              <a:t> d[</a:t>
            </a:r>
            <a:r>
              <a:rPr lang="en-US" sz="760" dirty="0">
                <a:solidFill>
                  <a:srgbClr val="9ECBFF"/>
                </a:solidFill>
                <a:latin typeface="Courier New" pitchFamily="34" charset="0"/>
                <a:ea typeface="Courier New" pitchFamily="34" charset="-122"/>
                <a:cs typeface="Courier New" pitchFamily="34" charset="-120"/>
              </a:rPr>
              <a:t>'answers'</a:t>
            </a:r>
            <a:r>
              <a:rPr lang="en-US" sz="760" dirty="0">
                <a:solidFill>
                  <a:srgbClr val="E6EDF3"/>
                </a:solidFill>
                <a:latin typeface="Courier New" pitchFamily="34" charset="0"/>
                <a:ea typeface="Courier New" pitchFamily="34" charset="-122"/>
                <a:cs typeface="Courier New" pitchFamily="34" charset="-120"/>
              </a:rPr>
              <a:t>].values()]</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len(d[</a:t>
            </a:r>
            <a:r>
              <a:rPr lang="en-US" sz="760" dirty="0">
                <a:solidFill>
                  <a:srgbClr val="9ECBFF"/>
                </a:solidFill>
                <a:latin typeface="Courier New" pitchFamily="34" charset="0"/>
                <a:ea typeface="Courier New" pitchFamily="34" charset="-122"/>
                <a:cs typeface="Courier New" pitchFamily="34" charset="-120"/>
              </a:rPr>
              <a:t>'seeds_in_chainparams'</a:t>
            </a:r>
            <a:r>
              <a:rPr lang="en-US" sz="760" dirty="0">
                <a:solidFill>
                  <a:srgbClr val="E6EDF3"/>
                </a:solidFill>
                <a:latin typeface="Courier New" pitchFamily="34" charset="0"/>
                <a:ea typeface="Courier New" pitchFamily="34" charset="-122"/>
                <a:cs typeface="Courier New" pitchFamily="34" charset="-120"/>
              </a:rPr>
              <a:t>]), d[</a:t>
            </a:r>
            <a:r>
              <a:rPr lang="en-US" sz="760" dirty="0">
                <a:solidFill>
                  <a:srgbClr val="9ECBFF"/>
                </a:solidFill>
                <a:latin typeface="Courier New" pitchFamily="34" charset="0"/>
                <a:ea typeface="Courier New" pitchFamily="34" charset="-122"/>
                <a:cs typeface="Courier New" pitchFamily="34" charset="-120"/>
              </a:rPr>
              <a:t>'distinct_ipv4'</a:t>
            </a:r>
            <a:r>
              <a:rPr lang="en-US" sz="760" dirty="0">
                <a:solidFill>
                  <a:srgbClr val="E6EDF3"/>
                </a:solidFill>
                <a:latin typeface="Courier New" pitchFamily="34" charset="0"/>
                <a:ea typeface="Courier New" pitchFamily="34" charset="-122"/>
                <a:cs typeface="Courier New" pitchFamily="34" charset="-120"/>
              </a:rPr>
              <a:t>], min(n), max(n)</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(8, 182, 20, 29)</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src(</a:t>
            </a:r>
            <a:r>
              <a:rPr lang="en-US" sz="760" dirty="0">
                <a:solidFill>
                  <a:srgbClr val="9ECBFF"/>
                </a:solidFill>
                <a:latin typeface="Courier New" pitchFamily="34" charset="0"/>
                <a:ea typeface="Courier New" pitchFamily="34" charset="-122"/>
                <a:cs typeface="Courier New" pitchFamily="34" charset="-120"/>
              </a:rPr>
              <a:t>'core_src_kernel_chainparams.cpp'</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'nDefaultPort'</a:t>
            </a:r>
            <a:r>
              <a:rPr lang="en-US" sz="760" dirty="0">
                <a:solidFill>
                  <a:srgbClr val="E6EDF3"/>
                </a:solidFill>
                <a:latin typeface="Courier New" pitchFamily="34" charset="0"/>
                <a:ea typeface="Courier New" pitchFamily="34" charset="-122"/>
                <a:cs typeface="Courier New" pitchFamily="34" charset="-120"/>
              </a:rPr>
              <a:t>), d[</a:t>
            </a:r>
            <a:r>
              <a:rPr lang="en-US" sz="760" dirty="0">
                <a:solidFill>
                  <a:srgbClr val="9ECBFF"/>
                </a:solidFill>
                <a:latin typeface="Courier New" pitchFamily="34" charset="0"/>
                <a:ea typeface="Courier New" pitchFamily="34" charset="-122"/>
                <a:cs typeface="Courier New" pitchFamily="34" charset="-120"/>
              </a:rPr>
              <a:t>'tcp_probe'</a:t>
            </a:r>
            <a:r>
              <a:rPr lang="en-US" sz="760" dirty="0">
                <a:solidFill>
                  <a:srgbClr val="E6EDF3"/>
                </a:solidFill>
                <a:latin typeface="Courier New" pitchFamily="34" charset="0"/>
                <a:ea typeface="Courier New" pitchFamily="34" charset="-122"/>
                <a:cs typeface="Courier New" pitchFamily="34" charset="-120"/>
              </a:rPr>
              <a:t>][</a:t>
            </a:r>
            <a:r>
              <a:rPr lang="en-US" sz="760" dirty="0">
                <a:solidFill>
                  <a:srgbClr val="9ECBFF"/>
                </a:solidFill>
                <a:latin typeface="Courier New" pitchFamily="34" charset="0"/>
                <a:ea typeface="Courier New" pitchFamily="34" charset="-122"/>
                <a:cs typeface="Courier New" pitchFamily="34" charset="-120"/>
              </a:rPr>
              <a:t>'connected'</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('8333', False)</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a[</a:t>
            </a:r>
            <a:r>
              <a:rPr lang="en-US" sz="760" dirty="0">
                <a:solidFill>
                  <a:srgbClr val="9ECBFF"/>
                </a:solidFill>
                <a:latin typeface="Courier New" pitchFamily="34" charset="0"/>
                <a:ea typeface="Courier New" pitchFamily="34" charset="-122"/>
                <a:cs typeface="Courier New" pitchFamily="34" charset="-120"/>
              </a:rPr>
              <a:t>'without'</a:t>
            </a:r>
            <a:r>
              <a:rPr lang="en-US" sz="760" dirty="0">
                <a:solidFill>
                  <a:srgbClr val="E6EDF3"/>
                </a:solidFill>
                <a:latin typeface="Courier New" pitchFamily="34" charset="0"/>
                <a:ea typeface="Courier New" pitchFamily="34" charset="-122"/>
                <a:cs typeface="Courier New" pitchFamily="34" charset="-120"/>
              </a:rPr>
              <a:t>][</a:t>
            </a:r>
            <a:r>
              <a:rPr lang="en-US" sz="760" dirty="0">
                <a:solidFill>
                  <a:srgbClr val="9ECBFF"/>
                </a:solidFill>
                <a:latin typeface="Courier New" pitchFamily="34" charset="0"/>
                <a:ea typeface="Courier New" pitchFamily="34" charset="-122"/>
                <a:cs typeface="Courier New" pitchFamily="34" charset="-120"/>
              </a:rPr>
              <a:t>'addr'</a:t>
            </a:r>
            <a:r>
              <a:rPr lang="en-US" sz="760" dirty="0">
                <a:solidFill>
                  <a:srgbClr val="E6EDF3"/>
                </a:solidFill>
                <a:latin typeface="Courier New" pitchFamily="34" charset="0"/>
                <a:ea typeface="Courier New" pitchFamily="34" charset="-122"/>
                <a:cs typeface="Courier New" pitchFamily="34" charset="-120"/>
              </a:rPr>
              <a:t>][</a:t>
            </a:r>
            <a:r>
              <a:rPr lang="en-US" sz="760" dirty="0">
                <a:solidFill>
                  <a:srgbClr val="9ECBFF"/>
                </a:solidFill>
                <a:latin typeface="Courier New" pitchFamily="34" charset="0"/>
                <a:ea typeface="Courier New" pitchFamily="34" charset="-122"/>
                <a:cs typeface="Courier New" pitchFamily="34" charset="-120"/>
              </a:rPr>
              <a:t>'count'</a:t>
            </a:r>
            <a:r>
              <a:rPr lang="en-US" sz="760" dirty="0">
                <a:solidFill>
                  <a:srgbClr val="E6EDF3"/>
                </a:solidFill>
                <a:latin typeface="Courier New" pitchFamily="34" charset="0"/>
                <a:ea typeface="Courier New" pitchFamily="34" charset="-122"/>
                <a:cs typeface="Courier New" pitchFamily="34" charset="-120"/>
              </a:rPr>
              <a:t>], a[</a:t>
            </a:r>
            <a:r>
              <a:rPr lang="en-US" sz="760" dirty="0">
                <a:solidFill>
                  <a:srgbClr val="9ECBFF"/>
                </a:solidFill>
                <a:latin typeface="Courier New" pitchFamily="34" charset="0"/>
                <a:ea typeface="Courier New" pitchFamily="34" charset="-122"/>
                <a:cs typeface="Courier New" pitchFamily="34" charset="-120"/>
              </a:rPr>
              <a:t>'with_sendaddrv2'</a:t>
            </a:r>
            <a:r>
              <a:rPr lang="en-US" sz="760" dirty="0">
                <a:solidFill>
                  <a:srgbClr val="E6EDF3"/>
                </a:solidFill>
                <a:latin typeface="Courier New" pitchFamily="34" charset="0"/>
                <a:ea typeface="Courier New" pitchFamily="34" charset="-122"/>
                <a:cs typeface="Courier New" pitchFamily="34" charset="-120"/>
              </a:rPr>
              <a:t>][</a:t>
            </a:r>
            <a:r>
              <a:rPr lang="en-US" sz="760" dirty="0">
                <a:solidFill>
                  <a:srgbClr val="9ECBFF"/>
                </a:solidFill>
                <a:latin typeface="Courier New" pitchFamily="34" charset="0"/>
                <a:ea typeface="Courier New" pitchFamily="34" charset="-122"/>
                <a:cs typeface="Courier New" pitchFamily="34" charset="-120"/>
              </a:rPr>
              <a:t>'addrv2'</a:t>
            </a:r>
            <a:r>
              <a:rPr lang="en-US" sz="760" dirty="0">
                <a:solidFill>
                  <a:srgbClr val="E6EDF3"/>
                </a:solidFill>
                <a:latin typeface="Courier New" pitchFamily="34" charset="0"/>
                <a:ea typeface="Courier New" pitchFamily="34" charset="-122"/>
                <a:cs typeface="Courier New" pitchFamily="34" charset="-120"/>
              </a:rPr>
              <a:t>][</a:t>
            </a:r>
            <a:r>
              <a:rPr lang="en-US" sz="760" dirty="0">
                <a:solidFill>
                  <a:srgbClr val="9ECBFF"/>
                </a:solidFill>
                <a:latin typeface="Courier New" pitchFamily="34" charset="0"/>
                <a:ea typeface="Courier New" pitchFamily="34" charset="-122"/>
                <a:cs typeface="Courier New" pitchFamily="34" charset="-120"/>
              </a:rPr>
              <a:t>'count'</a:t>
            </a:r>
            <a:r>
              <a:rPr lang="en-US" sz="760" dirty="0">
                <a:solidFill>
                  <a:srgbClr val="E6EDF3"/>
                </a:solidFill>
                <a:latin typeface="Courier New" pitchFamily="34" charset="0"/>
                <a:ea typeface="Courier New" pitchFamily="34" charset="-122"/>
                <a:cs typeface="Courier New" pitchFamily="34" charset="-120"/>
              </a:rPr>
              <a:t>], src(</a:t>
            </a:r>
            <a:r>
              <a:rPr lang="en-US" sz="760" dirty="0">
                <a:solidFill>
                  <a:srgbClr val="9ECBFF"/>
                </a:solidFill>
                <a:latin typeface="Courier New" pitchFamily="34" charset="0"/>
                <a:ea typeface="Courier New" pitchFamily="34" charset="-122"/>
                <a:cs typeface="Courier New" pitchFamily="34" charset="-120"/>
              </a:rPr>
              <a:t>'core_src_net_processing.cpp'</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'MAX_PCT_ADDR_TO_SEND'</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(23, 23, '23')</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a[</a:t>
            </a:r>
            <a:r>
              <a:rPr lang="en-US" sz="760" dirty="0">
                <a:solidFill>
                  <a:srgbClr val="9ECBFF"/>
                </a:solidFill>
                <a:latin typeface="Courier New" pitchFamily="34" charset="0"/>
                <a:ea typeface="Courier New" pitchFamily="34" charset="-122"/>
                <a:cs typeface="Courier New" pitchFamily="34" charset="-120"/>
              </a:rPr>
              <a:t>'with_sendaddrv2'</a:t>
            </a:r>
            <a:r>
              <a:rPr lang="en-US" sz="760" dirty="0">
                <a:solidFill>
                  <a:srgbClr val="E6EDF3"/>
                </a:solidFill>
                <a:latin typeface="Courier New" pitchFamily="34" charset="0"/>
                <a:ea typeface="Courier New" pitchFamily="34" charset="-122"/>
                <a:cs typeface="Courier New" pitchFamily="34" charset="-120"/>
              </a:rPr>
              <a:t>][</a:t>
            </a:r>
            <a:r>
              <a:rPr lang="en-US" sz="760" dirty="0">
                <a:solidFill>
                  <a:srgbClr val="9ECBFF"/>
                </a:solidFill>
                <a:latin typeface="Courier New" pitchFamily="34" charset="0"/>
                <a:ea typeface="Courier New" pitchFamily="34" charset="-122"/>
                <a:cs typeface="Courier New" pitchFamily="34" charset="-120"/>
              </a:rPr>
              <a:t>'addrv2'</a:t>
            </a:r>
            <a:r>
              <a:rPr lang="en-US" sz="760" dirty="0">
                <a:solidFill>
                  <a:srgbClr val="E6EDF3"/>
                </a:solidFill>
                <a:latin typeface="Courier New" pitchFamily="34" charset="0"/>
                <a:ea typeface="Courier New" pitchFamily="34" charset="-122"/>
                <a:cs typeface="Courier New" pitchFamily="34" charset="-120"/>
              </a:rPr>
              <a:t>][</a:t>
            </a:r>
            <a:r>
              <a:rPr lang="en-US" sz="760" dirty="0">
                <a:solidFill>
                  <a:srgbClr val="9ECBFF"/>
                </a:solidFill>
                <a:latin typeface="Courier New" pitchFamily="34" charset="0"/>
                <a:ea typeface="Courier New" pitchFamily="34" charset="-122"/>
                <a:cs typeface="Courier New" pitchFamily="34" charset="-120"/>
              </a:rPr>
              <a:t>'networks'</a:t>
            </a:r>
            <a:r>
              <a:rPr lang="en-US" sz="760" dirty="0">
                <a:solidFill>
                  <a:srgbClr val="E6EDF3"/>
                </a:solidFill>
                <a:latin typeface="Courier New" pitchFamily="34" charset="0"/>
                <a:ea typeface="Courier New" pitchFamily="34" charset="-122"/>
                <a:cs typeface="Courier New" pitchFamily="34" charset="-120"/>
              </a:rPr>
              <a:t>], a[</a:t>
            </a:r>
            <a:r>
              <a:rPr lang="en-US" sz="760" dirty="0">
                <a:solidFill>
                  <a:srgbClr val="9ECBFF"/>
                </a:solidFill>
                <a:latin typeface="Courier New" pitchFamily="34" charset="0"/>
                <a:ea typeface="Courier New" pitchFamily="34" charset="-122"/>
                <a:cs typeface="Courier New" pitchFamily="34" charset="-120"/>
              </a:rPr>
              <a:t>'with_sendaddrv2'</a:t>
            </a:r>
            <a:r>
              <a:rPr lang="en-US" sz="760" dirty="0">
                <a:solidFill>
                  <a:srgbClr val="E6EDF3"/>
                </a:solidFill>
                <a:latin typeface="Courier New" pitchFamily="34" charset="0"/>
                <a:ea typeface="Courier New" pitchFamily="34" charset="-122"/>
                <a:cs typeface="Courier New" pitchFamily="34" charset="-120"/>
              </a:rPr>
              <a:t>][</a:t>
            </a:r>
            <a:r>
              <a:rPr lang="en-US" sz="760" dirty="0">
                <a:solidFill>
                  <a:srgbClr val="9ECBFF"/>
                </a:solidFill>
                <a:latin typeface="Courier New" pitchFamily="34" charset="0"/>
                <a:ea typeface="Courier New" pitchFamily="34" charset="-122"/>
                <a:cs typeface="Courier New" pitchFamily="34" charset="-120"/>
              </a:rPr>
              <a:t>'addrv2'</a:t>
            </a:r>
            <a:r>
              <a:rPr lang="en-US" sz="760" dirty="0">
                <a:solidFill>
                  <a:srgbClr val="E6EDF3"/>
                </a:solidFill>
                <a:latin typeface="Courier New" pitchFamily="34" charset="0"/>
                <a:ea typeface="Courier New" pitchFamily="34" charset="-122"/>
                <a:cs typeface="Courier New" pitchFamily="34" charset="-120"/>
              </a:rPr>
              <a:t>][</a:t>
            </a:r>
            <a:r>
              <a:rPr lang="en-US" sz="760" dirty="0">
                <a:solidFill>
                  <a:srgbClr val="9ECBFF"/>
                </a:solidFill>
                <a:latin typeface="Courier New" pitchFamily="34" charset="0"/>
                <a:ea typeface="Courier New" pitchFamily="34" charset="-122"/>
                <a:cs typeface="Courier New" pitchFamily="34" charset="-120"/>
              </a:rPr>
              <a:t>'addr_len'</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([1, 2], [4, 16])</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R[</a:t>
            </a:r>
            <a:r>
              <a:rPr lang="en-US" sz="760" dirty="0">
                <a:solidFill>
                  <a:srgbClr val="9ECBFF"/>
                </a:solidFill>
                <a:latin typeface="Courier New" pitchFamily="34" charset="0"/>
                <a:ea typeface="Courier New" pitchFamily="34" charset="-122"/>
                <a:cs typeface="Courier New" pitchFamily="34" charset="-120"/>
              </a:rPr>
              <a:t>'e9_addrman'</a:t>
            </a:r>
            <a:r>
              <a:rPr lang="en-US" sz="760" dirty="0">
                <a:solidFill>
                  <a:srgbClr val="E6EDF3"/>
                </a:solidFill>
                <a:latin typeface="Courier New" pitchFamily="34" charset="0"/>
                <a:ea typeface="Courier New" pitchFamily="34" charset="-122"/>
                <a:cs typeface="Courier New" pitchFamily="34" charset="-120"/>
              </a:rPr>
              <a:t>][</a:t>
            </a:r>
            <a:r>
              <a:rPr lang="en-US" sz="760" dirty="0">
                <a:solidFill>
                  <a:srgbClr val="9ECBFF"/>
                </a:solidFill>
                <a:latin typeface="Courier New" pitchFamily="34" charset="0"/>
                <a:ea typeface="Courier New" pitchFamily="34" charset="-122"/>
                <a:cs typeface="Courier New" pitchFamily="34" charset="-120"/>
              </a:rPr>
              <a:t>'addrman_info'</a:t>
            </a:r>
            <a:r>
              <a:rPr lang="en-US" sz="760" dirty="0">
                <a:solidFill>
                  <a:srgbClr val="E6EDF3"/>
                </a:solidFill>
                <a:latin typeface="Courier New" pitchFamily="34" charset="0"/>
                <a:ea typeface="Courier New" pitchFamily="34" charset="-122"/>
                <a:cs typeface="Courier New" pitchFamily="34" charset="-120"/>
              </a:rPr>
              <a:t>][</a:t>
            </a:r>
            <a:r>
              <a:rPr lang="en-US" sz="760" dirty="0">
                <a:solidFill>
                  <a:srgbClr val="9ECBFF"/>
                </a:solidFill>
                <a:latin typeface="Courier New" pitchFamily="34" charset="0"/>
                <a:ea typeface="Courier New" pitchFamily="34" charset="-122"/>
                <a:cs typeface="Courier New" pitchFamily="34" charset="-120"/>
              </a:rPr>
              <a:t>'ok'</a:t>
            </a:r>
            <a:r>
              <a:rPr lang="en-US" sz="760" dirty="0">
                <a:solidFill>
                  <a:srgbClr val="E6EDF3"/>
                </a:solidFill>
                <a:latin typeface="Courier New" pitchFamily="34" charset="0"/>
                <a:ea typeface="Courier New" pitchFamily="34" charset="-122"/>
                <a:cs typeface="Courier New" pitchFamily="34" charset="-120"/>
              </a:rPr>
              <a:t>][</a:t>
            </a:r>
            <a:r>
              <a:rPr lang="en-US" sz="760" dirty="0">
                <a:solidFill>
                  <a:srgbClr val="9ECBFF"/>
                </a:solidFill>
                <a:latin typeface="Courier New" pitchFamily="34" charset="0"/>
                <a:ea typeface="Courier New" pitchFamily="34" charset="-122"/>
                <a:cs typeface="Courier New" pitchFamily="34" charset="-120"/>
              </a:rPr>
              <a:t>'all_networks'</a:t>
            </a:r>
            <a:r>
              <a:rPr lang="en-US" sz="760" dirty="0">
                <a:solidFill>
                  <a:srgbClr val="E6EDF3"/>
                </a:solidFill>
                <a:latin typeface="Courier New" pitchFamily="34" charset="0"/>
                <a:ea typeface="Courier New" pitchFamily="34" charset="-122"/>
                <a:cs typeface="Courier New" pitchFamily="34" charset="-120"/>
              </a:rPr>
              <a:t>][</a:t>
            </a:r>
            <a:r>
              <a:rPr lang="en-US" sz="760" dirty="0">
                <a:solidFill>
                  <a:srgbClr val="9ECBFF"/>
                </a:solidFill>
                <a:latin typeface="Courier New" pitchFamily="34" charset="0"/>
                <a:ea typeface="Courier New" pitchFamily="34" charset="-122"/>
                <a:cs typeface="Courier New" pitchFamily="34" charset="-120"/>
              </a:rPr>
              <a:t>'total'</a:t>
            </a:r>
            <a:r>
              <a:rPr lang="en-US" sz="760" dirty="0">
                <a:solidFill>
                  <a:srgbClr val="E6EDF3"/>
                </a:solidFill>
                <a:latin typeface="Courier New" pitchFamily="34" charset="0"/>
                <a:ea typeface="Courier New" pitchFamily="34" charset="-122"/>
                <a:cs typeface="Courier New" pitchFamily="34" charset="-120"/>
              </a:rPr>
              <a:t>], seen(</a:t>
            </a:r>
            <a:r>
              <a:rPr lang="en-US" sz="760" dirty="0">
                <a:solidFill>
                  <a:srgbClr val="9ECBFF"/>
                </a:solidFill>
                <a:latin typeface="Courier New" pitchFamily="34" charset="0"/>
                <a:ea typeface="Courier New" pitchFamily="34" charset="-122"/>
                <a:cs typeface="Courier New" pitchFamily="34" charset="-120"/>
              </a:rPr>
              <a:t>'bip-0155.mediawiki'</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'TORV3'</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'I2P'</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'CJDNS'</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(103, True)</a:t>
            </a:r>
            <a:endParaRPr lang="en-US" sz="760" dirty="0"/>
          </a:p>
        </p:txBody>
      </p:sp>
      <p:sp>
        <p:nvSpPr>
          <p:cNvPr id="15" name="Text 13"/>
          <p:cNvSpPr txBox="1"/>
          <p:nvPr/>
        </p:nvSpPr>
        <p:spPr>
          <a:xfrm>
            <a:off x="457200" y="364845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4"/>
          <p:cNvSpPr/>
          <p:nvPr/>
        </p:nvSpPr>
        <p:spPr>
          <a:xfrm>
            <a:off x="457200" y="3970782"/>
            <a:ext cx="128016" cy="128016"/>
          </a:xfrm>
          <a:prstGeom prst="diamond">
            <a:avLst/>
          </a:prstGeom>
          <a:solidFill>
            <a:srgbClr val="D97A14"/>
          </a:solidFill>
          <a:ln w="12700">
            <a:solidFill>
              <a:srgbClr val="D97A14"/>
            </a:solidFill>
            <a:prstDash val="solid"/>
          </a:ln>
        </p:spPr>
      </p:sp>
      <p:sp>
        <p:nvSpPr>
          <p:cNvPr id="17" name="Text 15"/>
          <p:cNvSpPr txBox="1"/>
          <p:nvPr/>
        </p:nvSpPr>
        <p:spPr>
          <a:xfrm>
            <a:off x="731520" y="3931920"/>
            <a:ext cx="7955280" cy="20574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2 and 3: 8 DNS seeds answered with 20 to 29 addresses each, 182 in all, on port 8333; our probe did not connect</a:t>
            </a:r>
            <a:endParaRPr lang="en-US" sz="1000" dirty="0"/>
          </a:p>
        </p:txBody>
      </p:sp>
      <p:sp>
        <p:nvSpPr>
          <p:cNvPr id="18" name="Shape 16"/>
          <p:cNvSpPr/>
          <p:nvPr/>
        </p:nvSpPr>
        <p:spPr>
          <a:xfrm>
            <a:off x="457200" y="4176522"/>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4137660"/>
            <a:ext cx="7955280" cy="20574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to 6: a node sends up to 23 percent of its table as addr; with addrv2 it also names Tor, I2P and CJDNS peers</a:t>
            </a:r>
            <a:endParaRPr lang="en-US" sz="1000" dirty="0"/>
          </a:p>
        </p:txBody>
      </p:sp>
      <p:sp>
        <p:nvSpPr>
          <p:cNvPr id="20" name="Text 18"/>
          <p:cNvSpPr txBox="1"/>
          <p:nvPr/>
        </p:nvSpPr>
        <p:spPr>
          <a:xfrm>
            <a:off x="457200" y="4370832"/>
            <a:ext cx="8229600" cy="219456"/>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connections to mainnet peers; row 3 shows the probe did not connect.</a:t>
            </a:r>
            <a:endParaRPr lang="en-US" sz="100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Peers are found by DNS seeds first, then by gossip</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26</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Who connects to whom: connection types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Eight full-relay links, two block-relay-only links, and at most 125 connections in all</a:t>
            </a:r>
            <a:endParaRPr lang="en-US" sz="1300" dirty="0"/>
          </a:p>
        </p:txBody>
      </p:sp>
      <p:sp>
        <p:nvSpPr>
          <p:cNvPr id="6" name="Shape 4"/>
          <p:cNvSpPr/>
          <p:nvPr/>
        </p:nvSpPr>
        <p:spPr>
          <a:xfrm>
            <a:off x="457200" y="1261872"/>
            <a:ext cx="1700784" cy="502920"/>
          </a:xfrm>
          <a:prstGeom prst="roundRect">
            <a:avLst>
              <a:gd name="adj" fmla="val 18182"/>
            </a:avLst>
          </a:prstGeom>
          <a:solidFill>
            <a:srgbClr val="2F6D62"/>
          </a:solidFill>
          <a:ln w="12700">
            <a:solidFill>
              <a:srgbClr val="2F6D62"/>
            </a:solidFill>
            <a:prstDash val="solid"/>
          </a:ln>
        </p:spPr>
      </p:sp>
      <p:sp>
        <p:nvSpPr>
          <p:cNvPr id="7" name="Text 5"/>
          <p:cNvSpPr txBox="1"/>
          <p:nvPr/>
        </p:nvSpPr>
        <p:spPr>
          <a:xfrm>
            <a:off x="530352" y="1307592"/>
            <a:ext cx="1554480"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Outbound full relay</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8: blocks, payments, addr</a:t>
            </a:r>
            <a:endParaRPr lang="en-US" sz="1050" dirty="0"/>
          </a:p>
        </p:txBody>
      </p:sp>
      <p:sp>
        <p:nvSpPr>
          <p:cNvPr id="8" name="Shape 6"/>
          <p:cNvSpPr/>
          <p:nvPr/>
        </p:nvSpPr>
        <p:spPr>
          <a:xfrm>
            <a:off x="2212848" y="1513332"/>
            <a:ext cx="365760" cy="0"/>
          </a:xfrm>
          <a:prstGeom prst="line">
            <a:avLst/>
          </a:prstGeom>
          <a:noFill/>
          <a:ln w="25400">
            <a:solidFill>
              <a:srgbClr val="D97A14"/>
            </a:solidFill>
            <a:prstDash val="solid"/>
            <a:tailEnd type="triangle"/>
          </a:ln>
        </p:spPr>
      </p:sp>
      <p:sp>
        <p:nvSpPr>
          <p:cNvPr id="9" name="Shape 7"/>
          <p:cNvSpPr/>
          <p:nvPr/>
        </p:nvSpPr>
        <p:spPr>
          <a:xfrm>
            <a:off x="2633472" y="1261872"/>
            <a:ext cx="1700784" cy="502920"/>
          </a:xfrm>
          <a:prstGeom prst="roundRect">
            <a:avLst>
              <a:gd name="adj" fmla="val 18182"/>
            </a:avLst>
          </a:prstGeom>
          <a:solidFill>
            <a:srgbClr val="2F6D62"/>
          </a:solidFill>
          <a:ln w="12700">
            <a:solidFill>
              <a:srgbClr val="2F6D62"/>
            </a:solidFill>
            <a:prstDash val="solid"/>
          </a:ln>
        </p:spPr>
      </p:sp>
      <p:sp>
        <p:nvSpPr>
          <p:cNvPr id="10" name="Text 8"/>
          <p:cNvSpPr txBox="1"/>
          <p:nvPr/>
        </p:nvSpPr>
        <p:spPr>
          <a:xfrm>
            <a:off x="2706624" y="1307592"/>
            <a:ext cx="1554480"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Block-relay-only</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2: blocks only</a:t>
            </a:r>
            <a:endParaRPr lang="en-US" sz="1050" dirty="0"/>
          </a:p>
        </p:txBody>
      </p:sp>
      <p:sp>
        <p:nvSpPr>
          <p:cNvPr id="11" name="Shape 9"/>
          <p:cNvSpPr/>
          <p:nvPr/>
        </p:nvSpPr>
        <p:spPr>
          <a:xfrm>
            <a:off x="4389120" y="1513332"/>
            <a:ext cx="365760" cy="0"/>
          </a:xfrm>
          <a:prstGeom prst="line">
            <a:avLst/>
          </a:prstGeom>
          <a:noFill/>
          <a:ln w="25400">
            <a:solidFill>
              <a:srgbClr val="D97A14"/>
            </a:solidFill>
            <a:prstDash val="solid"/>
            <a:tailEnd type="triangle"/>
          </a:ln>
        </p:spPr>
      </p:sp>
      <p:sp>
        <p:nvSpPr>
          <p:cNvPr id="12" name="Shape 10"/>
          <p:cNvSpPr/>
          <p:nvPr/>
        </p:nvSpPr>
        <p:spPr>
          <a:xfrm>
            <a:off x="4809744" y="1261872"/>
            <a:ext cx="1700784" cy="502920"/>
          </a:xfrm>
          <a:prstGeom prst="roundRect">
            <a:avLst>
              <a:gd name="adj" fmla="val 18182"/>
            </a:avLst>
          </a:prstGeom>
          <a:solidFill>
            <a:srgbClr val="2F6D62"/>
          </a:solidFill>
          <a:ln w="12700">
            <a:solidFill>
              <a:srgbClr val="2F6D62"/>
            </a:solidFill>
            <a:prstDash val="solid"/>
          </a:ln>
        </p:spPr>
      </p:sp>
      <p:sp>
        <p:nvSpPr>
          <p:cNvPr id="13" name="Text 11"/>
          <p:cNvSpPr txBox="1"/>
          <p:nvPr/>
        </p:nvSpPr>
        <p:spPr>
          <a:xfrm>
            <a:off x="4882896" y="1307592"/>
            <a:ext cx="1554480"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Feeler, addr-fetch</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short, to test or learn</a:t>
            </a:r>
            <a:endParaRPr lang="en-US" sz="1050" dirty="0"/>
          </a:p>
        </p:txBody>
      </p:sp>
      <p:sp>
        <p:nvSpPr>
          <p:cNvPr id="14" name="Shape 12"/>
          <p:cNvSpPr/>
          <p:nvPr/>
        </p:nvSpPr>
        <p:spPr>
          <a:xfrm>
            <a:off x="6565392" y="1513332"/>
            <a:ext cx="365760" cy="0"/>
          </a:xfrm>
          <a:prstGeom prst="line">
            <a:avLst/>
          </a:prstGeom>
          <a:noFill/>
          <a:ln w="25400">
            <a:solidFill>
              <a:srgbClr val="D97A14"/>
            </a:solidFill>
            <a:prstDash val="solid"/>
            <a:tailEnd type="triangle"/>
          </a:ln>
        </p:spPr>
      </p:sp>
      <p:sp>
        <p:nvSpPr>
          <p:cNvPr id="15" name="Shape 13"/>
          <p:cNvSpPr/>
          <p:nvPr/>
        </p:nvSpPr>
        <p:spPr>
          <a:xfrm>
            <a:off x="6986016" y="1261872"/>
            <a:ext cx="1700784" cy="502920"/>
          </a:xfrm>
          <a:prstGeom prst="roundRect">
            <a:avLst>
              <a:gd name="adj" fmla="val 18182"/>
            </a:avLst>
          </a:prstGeom>
          <a:solidFill>
            <a:srgbClr val="2F6D62"/>
          </a:solidFill>
          <a:ln w="12700">
            <a:solidFill>
              <a:srgbClr val="2F6D62"/>
            </a:solidFill>
            <a:prstDash val="solid"/>
          </a:ln>
        </p:spPr>
      </p:sp>
      <p:sp>
        <p:nvSpPr>
          <p:cNvPr id="16" name="Text 14"/>
          <p:cNvSpPr txBox="1"/>
          <p:nvPr/>
        </p:nvSpPr>
        <p:spPr>
          <a:xfrm>
            <a:off x="7059168" y="1307592"/>
            <a:ext cx="1554480"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Inbound</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the rest of 125</a:t>
            </a:r>
            <a:endParaRPr lang="en-US" sz="1050" dirty="0"/>
          </a:p>
        </p:txBody>
      </p:sp>
      <p:sp>
        <p:nvSpPr>
          <p:cNvPr id="17" name="Text 15"/>
          <p:cNvSpPr txBox="1"/>
          <p:nvPr/>
        </p:nvSpPr>
        <p:spPr>
          <a:xfrm>
            <a:off x="457200" y="175564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three connection types</a:t>
            </a:r>
            <a:endParaRPr lang="en-US" sz="1150" dirty="0"/>
          </a:p>
        </p:txBody>
      </p:sp>
      <p:sp>
        <p:nvSpPr>
          <p:cNvPr id="18" name="Shape 16"/>
          <p:cNvSpPr/>
          <p:nvPr/>
        </p:nvSpPr>
        <p:spPr>
          <a:xfrm>
            <a:off x="457200" y="2029968"/>
            <a:ext cx="8229600" cy="1691640"/>
          </a:xfrm>
          <a:prstGeom prst="roundRect">
            <a:avLst>
              <a:gd name="adj" fmla="val 5405"/>
            </a:avLst>
          </a:prstGeom>
          <a:solidFill>
            <a:srgbClr val="23272E"/>
          </a:solidFill>
          <a:ln w="12700">
            <a:solidFill>
              <a:srgbClr val="23272E"/>
            </a:solidFill>
            <a:prstDash val="solid"/>
          </a:ln>
        </p:spPr>
      </p:sp>
      <p:sp>
        <p:nvSpPr>
          <p:cNvPr id="19" name="Text 17"/>
          <p:cNvSpPr txBox="1"/>
          <p:nvPr/>
        </p:nvSpPr>
        <p:spPr>
          <a:xfrm>
            <a:off x="640080" y="2148840"/>
            <a:ext cx="7863840" cy="1453896"/>
          </a:xfrm>
          <a:prstGeom prst="rect">
            <a:avLst/>
          </a:prstGeom>
          <a:noFill/>
          <a:ln/>
        </p:spPr>
        <p:txBody>
          <a:bodyPr wrap="square" lIns="0" tIns="0" rIns="0" bIns="0" rtlCol="0" anchor="t"/>
          <a:lstStyle/>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t, n = R[</a:t>
            </a:r>
            <a:r>
              <a:rPr lang="en-US" sz="770" dirty="0">
                <a:solidFill>
                  <a:srgbClr val="9ECBFF"/>
                </a:solidFill>
                <a:latin typeface="Courier New" pitchFamily="34" charset="0"/>
                <a:ea typeface="Courier New" pitchFamily="34" charset="-122"/>
                <a:cs typeface="Courier New" pitchFamily="34" charset="-120"/>
              </a:rPr>
              <a:t>'e8_types'</a:t>
            </a:r>
            <a:r>
              <a:rPr lang="en-US" sz="770" dirty="0">
                <a:solidFill>
                  <a:srgbClr val="E6EDF3"/>
                </a:solidFill>
                <a:latin typeface="Courier New" pitchFamily="34" charset="0"/>
                <a:ea typeface="Courier New" pitchFamily="34" charset="-122"/>
                <a:cs typeface="Courier New" pitchFamily="34" charset="-120"/>
              </a:rPr>
              <a:t>], </a:t>
            </a:r>
            <a:r>
              <a:rPr lang="en-US" sz="770" dirty="0">
                <a:solidFill>
                  <a:srgbClr val="9ECBFF"/>
                </a:solidFill>
                <a:latin typeface="Courier New" pitchFamily="34" charset="0"/>
                <a:ea typeface="Courier New" pitchFamily="34" charset="-122"/>
                <a:cs typeface="Courier New" pitchFamily="34" charset="-120"/>
              </a:rPr>
              <a:t>'core_src_net.h'</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t</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[['addr-fetch', True, True, 'v2'], ['block-relay-only', False, False, 'v1'], ['outbound-full-relay', True, True, 'v2']]</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src(n, </a:t>
            </a:r>
            <a:r>
              <a:rPr lang="en-US" sz="770" dirty="0">
                <a:solidFill>
                  <a:srgbClr val="9ECBFF"/>
                </a:solidFill>
                <a:latin typeface="Courier New" pitchFamily="34" charset="0"/>
                <a:ea typeface="Courier New" pitchFamily="34" charset="-122"/>
                <a:cs typeface="Courier New" pitchFamily="34" charset="-120"/>
              </a:rPr>
              <a:t>'MAX_OUTBOUND_FULL_RELAY_CONNECTIONS'</a:t>
            </a:r>
            <a:r>
              <a:rPr lang="en-US" sz="770" dirty="0">
                <a:solidFill>
                  <a:srgbClr val="E6EDF3"/>
                </a:solidFill>
                <a:latin typeface="Courier New" pitchFamily="34" charset="0"/>
                <a:ea typeface="Courier New" pitchFamily="34" charset="-122"/>
                <a:cs typeface="Courier New" pitchFamily="34" charset="-120"/>
              </a:rPr>
              <a:t>), src(n, </a:t>
            </a:r>
            <a:r>
              <a:rPr lang="en-US" sz="770" dirty="0">
                <a:solidFill>
                  <a:srgbClr val="9ECBFF"/>
                </a:solidFill>
                <a:latin typeface="Courier New" pitchFamily="34" charset="0"/>
                <a:ea typeface="Courier New" pitchFamily="34" charset="-122"/>
                <a:cs typeface="Courier New" pitchFamily="34" charset="-120"/>
              </a:rPr>
              <a:t>'MAX_BLOCK_RELAY_ONLY_CONNECTIONS'</a:t>
            </a:r>
            <a:r>
              <a:rPr lang="en-US" sz="770" dirty="0">
                <a:solidFill>
                  <a:srgbClr val="E6EDF3"/>
                </a:solidFill>
                <a:latin typeface="Courier New" pitchFamily="34" charset="0"/>
                <a:ea typeface="Courier New" pitchFamily="34" charset="-122"/>
                <a:cs typeface="Courier New" pitchFamily="34" charset="-120"/>
              </a:rPr>
              <a:t>), src(n, </a:t>
            </a:r>
            <a:r>
              <a:rPr lang="en-US" sz="770" dirty="0">
                <a:solidFill>
                  <a:srgbClr val="9ECBFF"/>
                </a:solidFill>
                <a:latin typeface="Courier New" pitchFamily="34" charset="0"/>
                <a:ea typeface="Courier New" pitchFamily="34" charset="-122"/>
                <a:cs typeface="Courier New" pitchFamily="34" charset="-120"/>
              </a:rPr>
              <a:t>'DEFAULT_MAX_PEER_CONNECTIONS'</a:t>
            </a:r>
            <a:r>
              <a:rPr lang="en-US" sz="770" dirty="0">
                <a:solidFill>
                  <a:srgbClr val="E6EDF3"/>
                </a:solidFill>
                <a:latin typeface="Courier New" pitchFamily="34" charset="0"/>
                <a:ea typeface="Courier New" pitchFamily="34" charset="-122"/>
                <a:cs typeface="Courier New" pitchFamily="34" charset="-120"/>
              </a:rPr>
              <a:t>)</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('8', '2', '125')</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i = R[</a:t>
            </a:r>
            <a:r>
              <a:rPr lang="en-US" sz="770" dirty="0">
                <a:solidFill>
                  <a:srgbClr val="9ECBFF"/>
                </a:solidFill>
                <a:latin typeface="Courier New" pitchFamily="34" charset="0"/>
                <a:ea typeface="Courier New" pitchFamily="34" charset="-122"/>
                <a:cs typeface="Courier New" pitchFamily="34" charset="-120"/>
              </a:rPr>
              <a:t>'e5_relay'</a:t>
            </a:r>
            <a:r>
              <a:rPr lang="en-US" sz="770" dirty="0">
                <a:solidFill>
                  <a:srgbClr val="E6EDF3"/>
                </a:solidFill>
                <a:latin typeface="Courier New" pitchFamily="34" charset="0"/>
                <a:ea typeface="Courier New" pitchFamily="34" charset="-122"/>
                <a:cs typeface="Courier New" pitchFamily="34" charset="-120"/>
              </a:rPr>
              <a:t>][</a:t>
            </a:r>
            <a:r>
              <a:rPr lang="en-US" sz="770" dirty="0">
                <a:solidFill>
                  <a:srgbClr val="9ECBFF"/>
                </a:solidFill>
                <a:latin typeface="Courier New" pitchFamily="34" charset="0"/>
                <a:ea typeface="Courier New" pitchFamily="34" charset="-122"/>
                <a:cs typeface="Courier New" pitchFamily="34" charset="-120"/>
              </a:rPr>
              <a:t>'invs'</a:t>
            </a:r>
            <a:r>
              <a:rPr lang="en-US" sz="770" dirty="0">
                <a:solidFill>
                  <a:srgbClr val="E6EDF3"/>
                </a:solidFill>
                <a:latin typeface="Courier New" pitchFamily="34" charset="0"/>
                <a:ea typeface="Courier New" pitchFamily="34" charset="-122"/>
                <a:cs typeface="Courier New" pitchFamily="34" charset="-120"/>
              </a:rPr>
              <a:t>]</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len(i[</a:t>
            </a:r>
            <a:r>
              <a:rPr lang="en-US" sz="770" dirty="0">
                <a:solidFill>
                  <a:srgbClr val="9ECBFF"/>
                </a:solidFill>
                <a:latin typeface="Courier New" pitchFamily="34" charset="0"/>
                <a:ea typeface="Courier New" pitchFamily="34" charset="-122"/>
                <a:cs typeface="Courier New" pitchFamily="34" charset="-120"/>
              </a:rPr>
              <a:t>'normal_wtxidrelay'</a:t>
            </a:r>
            <a:r>
              <a:rPr lang="en-US" sz="770" dirty="0">
                <a:solidFill>
                  <a:srgbClr val="E6EDF3"/>
                </a:solidFill>
                <a:latin typeface="Courier New" pitchFamily="34" charset="0"/>
                <a:ea typeface="Courier New" pitchFamily="34" charset="-122"/>
                <a:cs typeface="Courier New" pitchFamily="34" charset="-120"/>
              </a:rPr>
              <a:t>]), len(i[</a:t>
            </a:r>
            <a:r>
              <a:rPr lang="en-US" sz="770" dirty="0">
                <a:solidFill>
                  <a:srgbClr val="9ECBFF"/>
                </a:solidFill>
                <a:latin typeface="Courier New" pitchFamily="34" charset="0"/>
                <a:ea typeface="Courier New" pitchFamily="34" charset="-122"/>
                <a:cs typeface="Courier New" pitchFamily="34" charset="-120"/>
              </a:rPr>
              <a:t>'relay_false'</a:t>
            </a:r>
            <a:r>
              <a:rPr lang="en-US" sz="770" dirty="0">
                <a:solidFill>
                  <a:srgbClr val="E6EDF3"/>
                </a:solidFill>
                <a:latin typeface="Courier New" pitchFamily="34" charset="0"/>
                <a:ea typeface="Courier New" pitchFamily="34" charset="-122"/>
                <a:cs typeface="Courier New" pitchFamily="34" charset="-120"/>
              </a:rPr>
              <a:t>]), len(i[</a:t>
            </a:r>
            <a:r>
              <a:rPr lang="en-US" sz="770" dirty="0">
                <a:solidFill>
                  <a:srgbClr val="9ECBFF"/>
                </a:solidFill>
                <a:latin typeface="Courier New" pitchFamily="34" charset="0"/>
                <a:ea typeface="Courier New" pitchFamily="34" charset="-122"/>
                <a:cs typeface="Courier New" pitchFamily="34" charset="-120"/>
              </a:rPr>
              <a:t>'feefilter_5sat'</a:t>
            </a:r>
            <a:r>
              <a:rPr lang="en-US" sz="770" dirty="0">
                <a:solidFill>
                  <a:srgbClr val="E6EDF3"/>
                </a:solidFill>
                <a:latin typeface="Courier New" pitchFamily="34" charset="0"/>
                <a:ea typeface="Courier New" pitchFamily="34" charset="-122"/>
                <a:cs typeface="Courier New" pitchFamily="34" charset="-120"/>
              </a:rPr>
              <a:t>])</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(2, 0, 1)</a:t>
            </a:r>
            <a:endParaRPr lang="en-US" sz="770" dirty="0"/>
          </a:p>
        </p:txBody>
      </p:sp>
      <p:sp>
        <p:nvSpPr>
          <p:cNvPr id="20" name="Text 18"/>
          <p:cNvSpPr txBox="1"/>
          <p:nvPr/>
        </p:nvSpPr>
        <p:spPr>
          <a:xfrm>
            <a:off x="457200" y="373989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1" name="Shape 19"/>
          <p:cNvSpPr/>
          <p:nvPr/>
        </p:nvSpPr>
        <p:spPr>
          <a:xfrm>
            <a:off x="457200" y="3971544"/>
            <a:ext cx="128016" cy="128016"/>
          </a:xfrm>
          <a:prstGeom prst="diamond">
            <a:avLst/>
          </a:prstGeom>
          <a:solidFill>
            <a:srgbClr val="D97A14"/>
          </a:solidFill>
          <a:ln w="12700">
            <a:solidFill>
              <a:srgbClr val="D97A14"/>
            </a:solidFill>
            <a:prstDash val="solid"/>
          </a:ln>
        </p:spPr>
      </p:sp>
      <p:sp>
        <p:nvSpPr>
          <p:cNvPr id="22" name="Text 20"/>
          <p:cNvSpPr txBox="1"/>
          <p:nvPr/>
        </p:nvSpPr>
        <p:spPr>
          <a:xfrm>
            <a:off x="731520" y="393192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1: each entry is type, relays payments, relays addr, transport; the block-relay-only link relays neither and spoke v1</a:t>
            </a:r>
            <a:endParaRPr lang="en-US" sz="1000" dirty="0"/>
          </a:p>
        </p:txBody>
      </p:sp>
      <p:sp>
        <p:nvSpPr>
          <p:cNvPr id="23" name="Shape 21"/>
          <p:cNvSpPr/>
          <p:nvPr/>
        </p:nvSpPr>
        <p:spPr>
          <a:xfrm>
            <a:off x="457200" y="4178808"/>
            <a:ext cx="128016" cy="128016"/>
          </a:xfrm>
          <a:prstGeom prst="diamond">
            <a:avLst/>
          </a:prstGeom>
          <a:solidFill>
            <a:srgbClr val="D97A14"/>
          </a:solidFill>
          <a:ln w="12700">
            <a:solidFill>
              <a:srgbClr val="D97A14"/>
            </a:solidFill>
            <a:prstDash val="solid"/>
          </a:ln>
        </p:spPr>
      </p:sp>
      <p:sp>
        <p:nvSpPr>
          <p:cNvPr id="24" name="Text 22"/>
          <p:cNvSpPr txBox="1"/>
          <p:nvPr/>
        </p:nvSpPr>
        <p:spPr>
          <a:xfrm>
            <a:off x="731520" y="413918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the code sets 8 outbound full-relay links, 2 block-relay-only links and 125 connections in all</a:t>
            </a:r>
            <a:endParaRPr lang="en-US" sz="1000" dirty="0"/>
          </a:p>
        </p:txBody>
      </p:sp>
      <p:sp>
        <p:nvSpPr>
          <p:cNvPr id="25" name="Shape 23"/>
          <p:cNvSpPr/>
          <p:nvPr/>
        </p:nvSpPr>
        <p:spPr>
          <a:xfrm>
            <a:off x="457200" y="4386072"/>
            <a:ext cx="128016" cy="128016"/>
          </a:xfrm>
          <a:prstGeom prst="diamond">
            <a:avLst/>
          </a:prstGeom>
          <a:solidFill>
            <a:srgbClr val="D97A14"/>
          </a:solidFill>
          <a:ln w="12700">
            <a:solidFill>
              <a:srgbClr val="D97A14"/>
            </a:solidFill>
            <a:prstDash val="solid"/>
          </a:ln>
        </p:spPr>
      </p:sp>
      <p:sp>
        <p:nvSpPr>
          <p:cNvPr id="26" name="Text 24"/>
          <p:cNvSpPr txBox="1"/>
          <p:nvPr/>
        </p:nvSpPr>
        <p:spPr>
          <a:xfrm>
            <a:off x="731520" y="434644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and 5: a peer that said it wants no payments was sent none of the 2 announced, a normal peer was sent both</a:t>
            </a:r>
            <a:endParaRPr lang="en-US" sz="100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Two of a node's links carry blocks only, and hide from payment traffic</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Eight connections, one liar</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12 August 2015: who, where, when and what to read next</a:t>
            </a:r>
            <a:endParaRPr lang="en-US" sz="1300" dirty="0"/>
          </a:p>
        </p:txBody>
      </p:sp>
      <p:pic>
        <p:nvPicPr>
          <p:cNvPr id="6" name="Image 0" descr="../../03-materials/ch10/assets/photo_total_solar_eclipse_2017.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Total solar eclipse - NASA / Aubrey Gemignani, public domain, Commons</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12 August 2015 Ethan Heilman and colleagues present the eclipse attack at USENIX Security in Washington, D.C.</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With enough addresses an attacker could own all of a node's connections; Core now keeps 2 block-relay-only links (row 1)</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NOT EXECUTED: the attack itself; the papers' claims are found in the saved copies (rows 2 and 3)</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saved sources; NOT EXECUTED: the attack</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810" b="1" dirty="0">
                <a:solidFill>
                  <a:srgbClr val="D97A14"/>
                </a:solidFill>
                <a:latin typeface="Courier New" pitchFamily="34" charset="0"/>
                <a:ea typeface="Courier New" pitchFamily="34" charset="-122"/>
                <a:cs typeface="Courier New" pitchFamily="34" charset="-120"/>
              </a:rPr>
              <a:t>&gt;&gt;&gt; </a:t>
            </a:r>
            <a:r>
              <a:rPr lang="en-US" sz="810" dirty="0">
                <a:solidFill>
                  <a:srgbClr val="E6EDF3"/>
                </a:solidFill>
                <a:latin typeface="Courier New" pitchFamily="34" charset="0"/>
                <a:ea typeface="Courier New" pitchFamily="34" charset="-122"/>
                <a:cs typeface="Courier New" pitchFamily="34" charset="-120"/>
              </a:rPr>
              <a:t>src(</a:t>
            </a:r>
            <a:r>
              <a:rPr lang="en-US" sz="810" dirty="0">
                <a:solidFill>
                  <a:srgbClr val="9ECBFF"/>
                </a:solidFill>
                <a:latin typeface="Courier New" pitchFamily="34" charset="0"/>
                <a:ea typeface="Courier New" pitchFamily="34" charset="-122"/>
                <a:cs typeface="Courier New" pitchFamily="34" charset="-120"/>
              </a:rPr>
              <a:t>'core_src_net.h'</a:t>
            </a:r>
            <a:r>
              <a:rPr lang="en-US" sz="810" dirty="0">
                <a:solidFill>
                  <a:srgbClr val="E6EDF3"/>
                </a:solidFill>
                <a:latin typeface="Courier New" pitchFamily="34" charset="0"/>
                <a:ea typeface="Courier New" pitchFamily="34" charset="-122"/>
                <a:cs typeface="Courier New" pitchFamily="34" charset="-120"/>
              </a:rPr>
              <a:t>, </a:t>
            </a:r>
            <a:r>
              <a:rPr lang="en-US" sz="810" dirty="0">
                <a:solidFill>
                  <a:srgbClr val="9ECBFF"/>
                </a:solidFill>
                <a:latin typeface="Courier New" pitchFamily="34" charset="0"/>
                <a:ea typeface="Courier New" pitchFamily="34" charset="-122"/>
                <a:cs typeface="Courier New" pitchFamily="34" charset="-120"/>
              </a:rPr>
              <a:t>'MAX_BLOCK_RELAY_ONLY_CONNECTIONS'</a:t>
            </a:r>
            <a:r>
              <a:rPr lang="en-US" sz="810" dirty="0">
                <a:solidFill>
                  <a:srgbClr val="E6EDF3"/>
                </a:solidFill>
                <a:latin typeface="Courier New" pitchFamily="34" charset="0"/>
                <a:ea typeface="Courier New" pitchFamily="34" charset="-122"/>
                <a:cs typeface="Courier New" pitchFamily="34" charset="-120"/>
              </a:rPr>
              <a:t>)</a:t>
            </a:r>
            <a:endParaRPr lang="en-US" sz="810" dirty="0"/>
          </a:p>
          <a:p>
            <a:pPr indent="0" marL="0">
              <a:buNone/>
            </a:pPr>
            <a:r>
              <a:rPr lang="en-US" sz="810" dirty="0">
                <a:solidFill>
                  <a:srgbClr val="7EE787"/>
                </a:solidFill>
                <a:latin typeface="Courier New" pitchFamily="34" charset="0"/>
                <a:ea typeface="Courier New" pitchFamily="34" charset="-122"/>
                <a:cs typeface="Courier New" pitchFamily="34" charset="-120"/>
              </a:rPr>
              <a:t>'2'</a:t>
            </a:r>
            <a:endParaRPr lang="en-US" sz="810" dirty="0"/>
          </a:p>
          <a:p>
            <a:pPr indent="0" marL="0">
              <a:buNone/>
            </a:pPr>
            <a:r>
              <a:rPr lang="en-US" sz="810" b="1" dirty="0">
                <a:solidFill>
                  <a:srgbClr val="D97A14"/>
                </a:solidFill>
                <a:latin typeface="Courier New" pitchFamily="34" charset="0"/>
                <a:ea typeface="Courier New" pitchFamily="34" charset="-122"/>
                <a:cs typeface="Courier New" pitchFamily="34" charset="-120"/>
              </a:rPr>
              <a:t>&gt;&gt;&gt; </a:t>
            </a:r>
            <a:r>
              <a:rPr lang="en-US" sz="810" dirty="0">
                <a:solidFill>
                  <a:srgbClr val="E6EDF3"/>
                </a:solidFill>
                <a:latin typeface="Courier New" pitchFamily="34" charset="0"/>
                <a:ea typeface="Courier New" pitchFamily="34" charset="-122"/>
                <a:cs typeface="Courier New" pitchFamily="34" charset="-120"/>
              </a:rPr>
              <a:t>seen(</a:t>
            </a:r>
            <a:r>
              <a:rPr lang="en-US" sz="810" dirty="0">
                <a:solidFill>
                  <a:srgbClr val="9ECBFF"/>
                </a:solidFill>
                <a:latin typeface="Courier New" pitchFamily="34" charset="0"/>
                <a:ea typeface="Courier New" pitchFamily="34" charset="-122"/>
                <a:cs typeface="Courier New" pitchFamily="34" charset="-120"/>
              </a:rPr>
              <a:t>'heilman_2015_eclipse.pdf'</a:t>
            </a:r>
            <a:r>
              <a:rPr lang="en-US" sz="810" dirty="0">
                <a:solidFill>
                  <a:srgbClr val="E6EDF3"/>
                </a:solidFill>
                <a:latin typeface="Courier New" pitchFamily="34" charset="0"/>
                <a:ea typeface="Courier New" pitchFamily="34" charset="-122"/>
                <a:cs typeface="Courier New" pitchFamily="34" charset="-120"/>
              </a:rPr>
              <a:t>, </a:t>
            </a:r>
            <a:r>
              <a:rPr lang="en-US" sz="810" dirty="0">
                <a:solidFill>
                  <a:srgbClr val="9ECBFF"/>
                </a:solidFill>
                <a:latin typeface="Courier New" pitchFamily="34" charset="0"/>
                <a:ea typeface="Courier New" pitchFamily="34" charset="-122"/>
                <a:cs typeface="Courier New" pitchFamily="34" charset="-120"/>
              </a:rPr>
              <a:t>'Eclipse Attacks on Bitcoin’s Peer-to-Peer'</a:t>
            </a:r>
            <a:r>
              <a:rPr lang="en-US" sz="810" dirty="0">
                <a:solidFill>
                  <a:srgbClr val="E6EDF3"/>
                </a:solidFill>
                <a:latin typeface="Courier New" pitchFamily="34" charset="0"/>
                <a:ea typeface="Courier New" pitchFamily="34" charset="-122"/>
                <a:cs typeface="Courier New" pitchFamily="34" charset="-120"/>
              </a:rPr>
              <a:t>)</a:t>
            </a:r>
            <a:endParaRPr lang="en-US" sz="810" dirty="0"/>
          </a:p>
          <a:p>
            <a:pPr indent="0" marL="0">
              <a:buNone/>
            </a:pPr>
            <a:r>
              <a:rPr lang="en-US" sz="810" dirty="0">
                <a:solidFill>
                  <a:srgbClr val="7EE787"/>
                </a:solidFill>
                <a:latin typeface="Courier New" pitchFamily="34" charset="0"/>
                <a:ea typeface="Courier New" pitchFamily="34" charset="-122"/>
                <a:cs typeface="Courier New" pitchFamily="34" charset="-120"/>
              </a:rPr>
              <a:t>True</a:t>
            </a:r>
            <a:endParaRPr lang="en-US" sz="810" dirty="0"/>
          </a:p>
          <a:p>
            <a:pPr indent="0" marL="0">
              <a:buNone/>
            </a:pPr>
            <a:r>
              <a:rPr lang="en-US" sz="810" b="1" dirty="0">
                <a:solidFill>
                  <a:srgbClr val="D97A14"/>
                </a:solidFill>
                <a:latin typeface="Courier New" pitchFamily="34" charset="0"/>
                <a:ea typeface="Courier New" pitchFamily="34" charset="-122"/>
                <a:cs typeface="Courier New" pitchFamily="34" charset="-120"/>
              </a:rPr>
              <a:t>&gt;&gt;&gt; </a:t>
            </a:r>
            <a:r>
              <a:rPr lang="en-US" sz="810" dirty="0">
                <a:solidFill>
                  <a:srgbClr val="E6EDF3"/>
                </a:solidFill>
                <a:latin typeface="Courier New" pitchFamily="34" charset="0"/>
                <a:ea typeface="Courier New" pitchFamily="34" charset="-122"/>
                <a:cs typeface="Courier New" pitchFamily="34" charset="-120"/>
              </a:rPr>
              <a:t>seen(</a:t>
            </a:r>
            <a:r>
              <a:rPr lang="en-US" sz="810" dirty="0">
                <a:solidFill>
                  <a:srgbClr val="9ECBFF"/>
                </a:solidFill>
                <a:latin typeface="Courier New" pitchFamily="34" charset="0"/>
                <a:ea typeface="Courier New" pitchFamily="34" charset="-122"/>
                <a:cs typeface="Courier New" pitchFamily="34" charset="-120"/>
              </a:rPr>
              <a:t>'apostolaki_2017_hijacking.pdf'</a:t>
            </a:r>
            <a:r>
              <a:rPr lang="en-US" sz="810" dirty="0">
                <a:solidFill>
                  <a:srgbClr val="E6EDF3"/>
                </a:solidFill>
                <a:latin typeface="Courier New" pitchFamily="34" charset="0"/>
                <a:ea typeface="Courier New" pitchFamily="34" charset="-122"/>
                <a:cs typeface="Courier New" pitchFamily="34" charset="-120"/>
              </a:rPr>
              <a:t>, </a:t>
            </a:r>
            <a:r>
              <a:rPr lang="en-US" sz="810" dirty="0">
                <a:solidFill>
                  <a:srgbClr val="9ECBFF"/>
                </a:solidFill>
                <a:latin typeface="Courier New" pitchFamily="34" charset="0"/>
                <a:ea typeface="Courier New" pitchFamily="34" charset="-122"/>
                <a:cs typeface="Courier New" pitchFamily="34" charset="-120"/>
              </a:rPr>
              <a:t>'isolate ∼50% of the mining power'</a:t>
            </a:r>
            <a:r>
              <a:rPr lang="en-US" sz="810" dirty="0">
                <a:solidFill>
                  <a:srgbClr val="E6EDF3"/>
                </a:solidFill>
                <a:latin typeface="Courier New" pitchFamily="34" charset="0"/>
                <a:ea typeface="Courier New" pitchFamily="34" charset="-122"/>
                <a:cs typeface="Courier New" pitchFamily="34" charset="-120"/>
              </a:rPr>
              <a:t>)</a:t>
            </a:r>
            <a:endParaRPr lang="en-US" sz="810" dirty="0"/>
          </a:p>
          <a:p>
            <a:pPr indent="0" marL="0">
              <a:buNone/>
            </a:pPr>
            <a:r>
              <a:rPr lang="en-US" sz="810" dirty="0">
                <a:solidFill>
                  <a:srgbClr val="7EE787"/>
                </a:solidFill>
                <a:latin typeface="Courier New" pitchFamily="34" charset="0"/>
                <a:ea typeface="Courier New" pitchFamily="34" charset="-122"/>
                <a:cs typeface="Courier New" pitchFamily="34" charset="-120"/>
              </a:rPr>
              <a:t>True</a:t>
            </a:r>
            <a:endParaRPr lang="en-US" sz="81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Ethan Heilman and Alison Kendler of Bo…</a:t>
            </a:r>
            <a:endParaRPr lang="en-US" sz="750" dirty="0"/>
          </a:p>
        </p:txBody>
      </p:sp>
      <p:sp>
        <p:nvSpPr>
          <p:cNvPr id="20" name="Shape 17"/>
          <p:cNvSpPr/>
          <p:nvPr/>
        </p:nvSpPr>
        <p:spPr>
          <a:xfrm>
            <a:off x="3016057" y="4224528"/>
            <a:ext cx="2449129"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3107497"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24th USENIX Security Symposium in …</a:t>
            </a:r>
            <a:endParaRPr lang="en-US" sz="750" dirty="0"/>
          </a:p>
        </p:txBody>
      </p:sp>
      <p:sp>
        <p:nvSpPr>
          <p:cNvPr id="22" name="Shape 19"/>
          <p:cNvSpPr/>
          <p:nvPr/>
        </p:nvSpPr>
        <p:spPr>
          <a:xfrm>
            <a:off x="5574914" y="4224528"/>
            <a:ext cx="134307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5666354" y="422452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2015-08-12</a:t>
            </a:r>
            <a:endParaRPr lang="en-US" sz="750" dirty="0"/>
          </a:p>
        </p:txBody>
      </p:sp>
      <p:sp>
        <p:nvSpPr>
          <p:cNvPr id="24" name="Shape 21"/>
          <p:cNvSpPr/>
          <p:nvPr/>
        </p:nvSpPr>
        <p:spPr>
          <a:xfrm>
            <a:off x="7027713" y="4224528"/>
            <a:ext cx="1659087"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7119153" y="422452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usenix.org</a:t>
            </a:r>
            <a:endParaRPr lang="en-US" sz="750" dirty="0"/>
          </a:p>
        </p:txBody>
      </p:sp>
      <p:sp>
        <p:nvSpPr>
          <p:cNvPr id="26" name="Text 23"/>
          <p:cNvSpPr txBox="1"/>
          <p:nvPr/>
        </p:nvSpPr>
        <p:spPr>
          <a:xfrm>
            <a:off x="457200" y="3858768"/>
            <a:ext cx="2651760" cy="329184"/>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picture: an eclipse, not the paper.</a:t>
            </a:r>
            <a:endParaRPr lang="en-US" sz="90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Compact blocks: send only what is missing</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telling a friend the page numbers of a book they already own</a:t>
            </a:r>
            <a:endParaRPr lang="en-US" sz="1300" dirty="0"/>
          </a:p>
        </p:txBody>
      </p:sp>
      <p:sp>
        <p:nvSpPr>
          <p:cNvPr id="6" name="Shape 4"/>
          <p:cNvSpPr/>
          <p:nvPr/>
        </p:nvSpPr>
        <p:spPr>
          <a:xfrm>
            <a:off x="457200" y="1464564"/>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261872"/>
            <a:ext cx="3931920" cy="533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2: a block of 13 transactions was sent as 12 short ids of 6 bytes, and all 12 matched the receiver's own list</a:t>
            </a:r>
            <a:endParaRPr lang="en-US" sz="1050" dirty="0"/>
          </a:p>
        </p:txBody>
      </p:sp>
      <p:sp>
        <p:nvSpPr>
          <p:cNvPr id="8" name="Shape 6"/>
          <p:cNvSpPr/>
          <p:nvPr/>
        </p:nvSpPr>
        <p:spPr>
          <a:xfrm>
            <a:off x="457200" y="1997964"/>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795272"/>
            <a:ext cx="3931920" cy="533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3: the coinbase is always sent in full; the receiver lacked 2 transactions, asked for them and got exactly those</a:t>
            </a:r>
            <a:endParaRPr lang="en-US" sz="1050" dirty="0"/>
          </a:p>
        </p:txBody>
      </p:sp>
      <p:sp>
        <p:nvSpPr>
          <p:cNvPr id="10" name="Shape 8"/>
          <p:cNvSpPr/>
          <p:nvPr/>
        </p:nvSpPr>
        <p:spPr>
          <a:xfrm>
            <a:off x="457200" y="2531364"/>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2328672"/>
            <a:ext cx="3931920" cy="533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4: 332 bytes instead of 3,062, about a ninth of the block</a:t>
            </a:r>
            <a:endParaRPr lang="en-US" sz="1050" dirty="0"/>
          </a:p>
        </p:txBody>
      </p:sp>
      <p:graphicFrame>
        <p:nvGraphicFramePr>
          <p:cNvPr id="12" name="Chart 0" descr=""/>
          <p:cNvGraphicFramePr/>
          <p:nvPr/>
        </p:nvGraphicFramePr>
        <p:xfrm>
          <a:off x="4846320" y="1261872"/>
          <a:ext cx="3840480" cy="160020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457200" y="285292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a:t>
            </a:r>
            <a:endParaRPr lang="en-US" sz="1150" dirty="0"/>
          </a:p>
        </p:txBody>
      </p:sp>
      <p:sp>
        <p:nvSpPr>
          <p:cNvPr id="14" name="Shape 11"/>
          <p:cNvSpPr/>
          <p:nvPr/>
        </p:nvSpPr>
        <p:spPr>
          <a:xfrm>
            <a:off x="457200" y="3127248"/>
            <a:ext cx="8229600" cy="1261872"/>
          </a:xfrm>
          <a:prstGeom prst="roundRect">
            <a:avLst>
              <a:gd name="adj" fmla="val 7246"/>
            </a:avLst>
          </a:prstGeom>
          <a:solidFill>
            <a:srgbClr val="23272E"/>
          </a:solidFill>
          <a:ln w="12700">
            <a:solidFill>
              <a:srgbClr val="23272E"/>
            </a:solidFill>
            <a:prstDash val="solid"/>
          </a:ln>
        </p:spPr>
      </p:sp>
      <p:sp>
        <p:nvSpPr>
          <p:cNvPr id="15" name="Text 12"/>
          <p:cNvSpPr txBox="1"/>
          <p:nvPr/>
        </p:nvSpPr>
        <p:spPr>
          <a:xfrm>
            <a:off x="640080" y="3246120"/>
            <a:ext cx="7863840" cy="1024128"/>
          </a:xfrm>
          <a:prstGeom prst="rect">
            <a:avLst/>
          </a:prstGeom>
          <a:noFill/>
          <a:ln/>
        </p:spPr>
        <p:txBody>
          <a:bodyPr wrap="square" lIns="0" tIns="0" rIns="0" bIns="0" rtlCol="0" anchor="t"/>
          <a:lstStyle/>
          <a:p>
            <a:pPr indent="0" marL="0">
              <a:buNone/>
            </a:pPr>
            <a:r>
              <a:rPr lang="en-US" sz="720" b="1" dirty="0">
                <a:solidFill>
                  <a:srgbClr val="D97A14"/>
                </a:solidFill>
                <a:latin typeface="Courier New" pitchFamily="34" charset="0"/>
                <a:ea typeface="Courier New" pitchFamily="34" charset="-122"/>
                <a:cs typeface="Courier New" pitchFamily="34" charset="-120"/>
              </a:rPr>
              <a:t>&gt;&gt;&gt; </a:t>
            </a:r>
            <a:r>
              <a:rPr lang="en-US" sz="720" dirty="0">
                <a:solidFill>
                  <a:srgbClr val="E6EDF3"/>
                </a:solidFill>
                <a:latin typeface="Courier New" pitchFamily="34" charset="0"/>
                <a:ea typeface="Courier New" pitchFamily="34" charset="-122"/>
                <a:cs typeface="Courier New" pitchFamily="34" charset="-120"/>
              </a:rPr>
              <a:t>c = R[</a:t>
            </a:r>
            <a:r>
              <a:rPr lang="en-US" sz="720" dirty="0">
                <a:solidFill>
                  <a:srgbClr val="9ECBFF"/>
                </a:solidFill>
                <a:latin typeface="Courier New" pitchFamily="34" charset="0"/>
                <a:ea typeface="Courier New" pitchFamily="34" charset="-122"/>
                <a:cs typeface="Courier New" pitchFamily="34" charset="-120"/>
              </a:rPr>
              <a:t>'e3_compact'</a:t>
            </a:r>
            <a:r>
              <a:rPr lang="en-US" sz="720" dirty="0">
                <a:solidFill>
                  <a:srgbClr val="E6EDF3"/>
                </a:solidFill>
                <a:latin typeface="Courier New" pitchFamily="34" charset="0"/>
                <a:ea typeface="Courier New" pitchFamily="34" charset="-122"/>
                <a:cs typeface="Courier New" pitchFamily="34" charset="-120"/>
              </a:rPr>
              <a:t>]</a:t>
            </a:r>
            <a:endParaRPr lang="en-US" sz="720" dirty="0"/>
          </a:p>
          <a:p>
            <a:pPr indent="0" marL="0">
              <a:buNone/>
            </a:pPr>
            <a:r>
              <a:rPr lang="en-US" sz="720" b="1" dirty="0">
                <a:solidFill>
                  <a:srgbClr val="D97A14"/>
                </a:solidFill>
                <a:latin typeface="Courier New" pitchFamily="34" charset="0"/>
                <a:ea typeface="Courier New" pitchFamily="34" charset="-122"/>
                <a:cs typeface="Courier New" pitchFamily="34" charset="-120"/>
              </a:rPr>
              <a:t>&gt;&gt;&gt; </a:t>
            </a:r>
            <a:r>
              <a:rPr lang="en-US" sz="720" dirty="0">
                <a:solidFill>
                  <a:srgbClr val="E6EDF3"/>
                </a:solidFill>
                <a:latin typeface="Courier New" pitchFamily="34" charset="0"/>
                <a:ea typeface="Courier New" pitchFamily="34" charset="-122"/>
                <a:cs typeface="Courier New" pitchFamily="34" charset="-120"/>
              </a:rPr>
              <a:t>c[</a:t>
            </a:r>
            <a:r>
              <a:rPr lang="en-US" sz="720" dirty="0">
                <a:solidFill>
                  <a:srgbClr val="9ECBFF"/>
                </a:solidFill>
                <a:latin typeface="Courier New" pitchFamily="34" charset="0"/>
                <a:ea typeface="Courier New" pitchFamily="34" charset="-122"/>
                <a:cs typeface="Courier New" pitchFamily="34" charset="-120"/>
              </a:rPr>
              <a:t>'short_id_count'</a:t>
            </a:r>
            <a:r>
              <a:rPr lang="en-US" sz="720" dirty="0">
                <a:solidFill>
                  <a:srgbClr val="E6EDF3"/>
                </a:solidFill>
                <a:latin typeface="Courier New" pitchFamily="34" charset="0"/>
                <a:ea typeface="Courier New" pitchFamily="34" charset="-122"/>
                <a:cs typeface="Courier New" pitchFamily="34" charset="-120"/>
              </a:rPr>
              <a:t>], c[</a:t>
            </a:r>
            <a:r>
              <a:rPr lang="en-US" sz="720" dirty="0">
                <a:solidFill>
                  <a:srgbClr val="9ECBFF"/>
                </a:solidFill>
                <a:latin typeface="Courier New" pitchFamily="34" charset="0"/>
                <a:ea typeface="Courier New" pitchFamily="34" charset="-122"/>
                <a:cs typeface="Courier New" pitchFamily="34" charset="-120"/>
              </a:rPr>
              <a:t>'tx_count'</a:t>
            </a:r>
            <a:r>
              <a:rPr lang="en-US" sz="720" dirty="0">
                <a:solidFill>
                  <a:srgbClr val="E6EDF3"/>
                </a:solidFill>
                <a:latin typeface="Courier New" pitchFamily="34" charset="0"/>
                <a:ea typeface="Courier New" pitchFamily="34" charset="-122"/>
                <a:cs typeface="Courier New" pitchFamily="34" charset="-120"/>
              </a:rPr>
              <a:t>] - </a:t>
            </a:r>
            <a:r>
              <a:rPr lang="en-US" sz="720" dirty="0">
                <a:solidFill>
                  <a:srgbClr val="FFD28A"/>
                </a:solidFill>
                <a:latin typeface="Courier New" pitchFamily="34" charset="0"/>
                <a:ea typeface="Courier New" pitchFamily="34" charset="-122"/>
                <a:cs typeface="Courier New" pitchFamily="34" charset="-120"/>
              </a:rPr>
              <a:t>1</a:t>
            </a:r>
            <a:r>
              <a:rPr lang="en-US" sz="720" dirty="0">
                <a:solidFill>
                  <a:srgbClr val="E6EDF3"/>
                </a:solidFill>
                <a:latin typeface="Courier New" pitchFamily="34" charset="0"/>
                <a:ea typeface="Courier New" pitchFamily="34" charset="-122"/>
                <a:cs typeface="Courier New" pitchFamily="34" charset="-120"/>
              </a:rPr>
              <a:t>, c[</a:t>
            </a:r>
            <a:r>
              <a:rPr lang="en-US" sz="720" dirty="0">
                <a:solidFill>
                  <a:srgbClr val="9ECBFF"/>
                </a:solidFill>
                <a:latin typeface="Courier New" pitchFamily="34" charset="0"/>
                <a:ea typeface="Courier New" pitchFamily="34" charset="-122"/>
                <a:cs typeface="Courier New" pitchFamily="34" charset="-120"/>
              </a:rPr>
              <a:t>'short_ids_match'</a:t>
            </a:r>
            <a:r>
              <a:rPr lang="en-US" sz="720" dirty="0">
                <a:solidFill>
                  <a:srgbClr val="E6EDF3"/>
                </a:solidFill>
                <a:latin typeface="Courier New" pitchFamily="34" charset="0"/>
                <a:ea typeface="Courier New" pitchFamily="34" charset="-122"/>
                <a:cs typeface="Courier New" pitchFamily="34" charset="-120"/>
              </a:rPr>
              <a:t>], c[</a:t>
            </a:r>
            <a:r>
              <a:rPr lang="en-US" sz="720" dirty="0">
                <a:solidFill>
                  <a:srgbClr val="9ECBFF"/>
                </a:solidFill>
                <a:latin typeface="Courier New" pitchFamily="34" charset="0"/>
                <a:ea typeface="Courier New" pitchFamily="34" charset="-122"/>
                <a:cs typeface="Courier New" pitchFamily="34" charset="-120"/>
              </a:rPr>
              <a:t>'short_id_bytes'</a:t>
            </a:r>
            <a:r>
              <a:rPr lang="en-US" sz="720" dirty="0">
                <a:solidFill>
                  <a:srgbClr val="E6EDF3"/>
                </a:solidFill>
                <a:latin typeface="Courier New" pitchFamily="34" charset="0"/>
                <a:ea typeface="Courier New" pitchFamily="34" charset="-122"/>
                <a:cs typeface="Courier New" pitchFamily="34" charset="-120"/>
              </a:rPr>
              <a:t>], src(</a:t>
            </a:r>
            <a:r>
              <a:rPr lang="en-US" sz="720" dirty="0">
                <a:solidFill>
                  <a:srgbClr val="9ECBFF"/>
                </a:solidFill>
                <a:latin typeface="Courier New" pitchFamily="34" charset="0"/>
                <a:ea typeface="Courier New" pitchFamily="34" charset="-122"/>
                <a:cs typeface="Courier New" pitchFamily="34" charset="-120"/>
              </a:rPr>
              <a:t>'core_src_blockencodings.h'</a:t>
            </a:r>
            <a:r>
              <a:rPr lang="en-US" sz="720" dirty="0">
                <a:solidFill>
                  <a:srgbClr val="E6EDF3"/>
                </a:solidFill>
                <a:latin typeface="Courier New" pitchFamily="34" charset="0"/>
                <a:ea typeface="Courier New" pitchFamily="34" charset="-122"/>
                <a:cs typeface="Courier New" pitchFamily="34" charset="-120"/>
              </a:rPr>
              <a:t>, </a:t>
            </a:r>
            <a:r>
              <a:rPr lang="en-US" sz="720" dirty="0">
                <a:solidFill>
                  <a:srgbClr val="9ECBFF"/>
                </a:solidFill>
                <a:latin typeface="Courier New" pitchFamily="34" charset="0"/>
                <a:ea typeface="Courier New" pitchFamily="34" charset="-122"/>
                <a:cs typeface="Courier New" pitchFamily="34" charset="-120"/>
              </a:rPr>
              <a:t>'SHORTTXIDS_LENGTH'</a:t>
            </a:r>
            <a:r>
              <a:rPr lang="en-US" sz="720" dirty="0">
                <a:solidFill>
                  <a:srgbClr val="E6EDF3"/>
                </a:solidFill>
                <a:latin typeface="Courier New" pitchFamily="34" charset="0"/>
                <a:ea typeface="Courier New" pitchFamily="34" charset="-122"/>
                <a:cs typeface="Courier New" pitchFamily="34" charset="-120"/>
              </a:rPr>
              <a:t>)</a:t>
            </a:r>
            <a:endParaRPr lang="en-US" sz="720" dirty="0"/>
          </a:p>
          <a:p>
            <a:pPr indent="0" marL="0">
              <a:buNone/>
            </a:pPr>
            <a:r>
              <a:rPr lang="en-US" sz="720" dirty="0">
                <a:solidFill>
                  <a:srgbClr val="7EE787"/>
                </a:solidFill>
                <a:latin typeface="Courier New" pitchFamily="34" charset="0"/>
                <a:ea typeface="Courier New" pitchFamily="34" charset="-122"/>
                <a:cs typeface="Courier New" pitchFamily="34" charset="-120"/>
              </a:rPr>
              <a:t>(12, 12, True, 6, '6')</a:t>
            </a:r>
            <a:endParaRPr lang="en-US" sz="720" dirty="0"/>
          </a:p>
          <a:p>
            <a:pPr indent="0" marL="0">
              <a:buNone/>
            </a:pPr>
            <a:r>
              <a:rPr lang="en-US" sz="720" b="1" dirty="0">
                <a:solidFill>
                  <a:srgbClr val="D97A14"/>
                </a:solidFill>
                <a:latin typeface="Courier New" pitchFamily="34" charset="0"/>
                <a:ea typeface="Courier New" pitchFamily="34" charset="-122"/>
                <a:cs typeface="Courier New" pitchFamily="34" charset="-120"/>
              </a:rPr>
              <a:t>&gt;&gt;&gt; </a:t>
            </a:r>
            <a:r>
              <a:rPr lang="en-US" sz="720" dirty="0">
                <a:solidFill>
                  <a:srgbClr val="E6EDF3"/>
                </a:solidFill>
                <a:latin typeface="Courier New" pitchFamily="34" charset="0"/>
                <a:ea typeface="Courier New" pitchFamily="34" charset="-122"/>
                <a:cs typeface="Courier New" pitchFamily="34" charset="-120"/>
              </a:rPr>
              <a:t>c[</a:t>
            </a:r>
            <a:r>
              <a:rPr lang="en-US" sz="720" dirty="0">
                <a:solidFill>
                  <a:srgbClr val="9ECBFF"/>
                </a:solidFill>
                <a:latin typeface="Courier New" pitchFamily="34" charset="0"/>
                <a:ea typeface="Courier New" pitchFamily="34" charset="-122"/>
                <a:cs typeface="Courier New" pitchFamily="34" charset="-120"/>
              </a:rPr>
              <a:t>'prefilled_indexes'</a:t>
            </a:r>
            <a:r>
              <a:rPr lang="en-US" sz="720" dirty="0">
                <a:solidFill>
                  <a:srgbClr val="E6EDF3"/>
                </a:solidFill>
                <a:latin typeface="Courier New" pitchFamily="34" charset="0"/>
                <a:ea typeface="Courier New" pitchFamily="34" charset="-122"/>
                <a:cs typeface="Courier New" pitchFamily="34" charset="-120"/>
              </a:rPr>
              <a:t>], c[</a:t>
            </a:r>
            <a:r>
              <a:rPr lang="en-US" sz="720" dirty="0">
                <a:solidFill>
                  <a:srgbClr val="9ECBFF"/>
                </a:solidFill>
                <a:latin typeface="Courier New" pitchFamily="34" charset="0"/>
                <a:ea typeface="Courier New" pitchFamily="34" charset="-122"/>
                <a:cs typeface="Courier New" pitchFamily="34" charset="-120"/>
              </a:rPr>
              <a:t>'prefilled_txids'</a:t>
            </a:r>
            <a:r>
              <a:rPr lang="en-US" sz="720" dirty="0">
                <a:solidFill>
                  <a:srgbClr val="E6EDF3"/>
                </a:solidFill>
                <a:latin typeface="Courier New" pitchFamily="34" charset="0"/>
                <a:ea typeface="Courier New" pitchFamily="34" charset="-122"/>
                <a:cs typeface="Courier New" pitchFamily="34" charset="-120"/>
              </a:rPr>
              <a:t>] == [c[</a:t>
            </a:r>
            <a:r>
              <a:rPr lang="en-US" sz="720" dirty="0">
                <a:solidFill>
                  <a:srgbClr val="9ECBFF"/>
                </a:solidFill>
                <a:latin typeface="Courier New" pitchFamily="34" charset="0"/>
                <a:ea typeface="Courier New" pitchFamily="34" charset="-122"/>
                <a:cs typeface="Courier New" pitchFamily="34" charset="-120"/>
              </a:rPr>
              <a:t>'coinbase_txid'</a:t>
            </a:r>
            <a:r>
              <a:rPr lang="en-US" sz="720" dirty="0">
                <a:solidFill>
                  <a:srgbClr val="E6EDF3"/>
                </a:solidFill>
                <a:latin typeface="Courier New" pitchFamily="34" charset="0"/>
                <a:ea typeface="Courier New" pitchFamily="34" charset="-122"/>
                <a:cs typeface="Courier New" pitchFamily="34" charset="-120"/>
              </a:rPr>
              <a:t>]], len(c[</a:t>
            </a:r>
            <a:r>
              <a:rPr lang="en-US" sz="720" dirty="0">
                <a:solidFill>
                  <a:srgbClr val="9ECBFF"/>
                </a:solidFill>
                <a:latin typeface="Courier New" pitchFamily="34" charset="0"/>
                <a:ea typeface="Courier New" pitchFamily="34" charset="-122"/>
                <a:cs typeface="Courier New" pitchFamily="34" charset="-120"/>
              </a:rPr>
              <a:t>'blocktxn_txids'</a:t>
            </a:r>
            <a:r>
              <a:rPr lang="en-US" sz="720" dirty="0">
                <a:solidFill>
                  <a:srgbClr val="E6EDF3"/>
                </a:solidFill>
                <a:latin typeface="Courier New" pitchFamily="34" charset="0"/>
                <a:ea typeface="Courier New" pitchFamily="34" charset="-122"/>
                <a:cs typeface="Courier New" pitchFamily="34" charset="-120"/>
              </a:rPr>
              <a:t>]), c[</a:t>
            </a:r>
            <a:r>
              <a:rPr lang="en-US" sz="720" dirty="0">
                <a:solidFill>
                  <a:srgbClr val="9ECBFF"/>
                </a:solidFill>
                <a:latin typeface="Courier New" pitchFamily="34" charset="0"/>
                <a:ea typeface="Courier New" pitchFamily="34" charset="-122"/>
                <a:cs typeface="Courier New" pitchFamily="34" charset="-120"/>
              </a:rPr>
              <a:t>'blocktxn_txids'</a:t>
            </a:r>
            <a:r>
              <a:rPr lang="en-US" sz="720" dirty="0">
                <a:solidFill>
                  <a:srgbClr val="E6EDF3"/>
                </a:solidFill>
                <a:latin typeface="Courier New" pitchFamily="34" charset="0"/>
                <a:ea typeface="Courier New" pitchFamily="34" charset="-122"/>
                <a:cs typeface="Courier New" pitchFamily="34" charset="-120"/>
              </a:rPr>
              <a:t>] == c[</a:t>
            </a:r>
            <a:r>
              <a:rPr lang="en-US" sz="720" dirty="0">
                <a:solidFill>
                  <a:srgbClr val="9ECBFF"/>
                </a:solidFill>
                <a:latin typeface="Courier New" pitchFamily="34" charset="0"/>
                <a:ea typeface="Courier New" pitchFamily="34" charset="-122"/>
                <a:cs typeface="Courier New" pitchFamily="34" charset="-120"/>
              </a:rPr>
              <a:t>'expected_txids'</a:t>
            </a:r>
            <a:r>
              <a:rPr lang="en-US" sz="720" dirty="0">
                <a:solidFill>
                  <a:srgbClr val="E6EDF3"/>
                </a:solidFill>
                <a:latin typeface="Courier New" pitchFamily="34" charset="0"/>
                <a:ea typeface="Courier New" pitchFamily="34" charset="-122"/>
                <a:cs typeface="Courier New" pitchFamily="34" charset="-120"/>
              </a:rPr>
              <a:t>]</a:t>
            </a:r>
            <a:endParaRPr lang="en-US" sz="720" dirty="0"/>
          </a:p>
          <a:p>
            <a:pPr indent="0" marL="0">
              <a:buNone/>
            </a:pPr>
            <a:r>
              <a:rPr lang="en-US" sz="720" dirty="0">
                <a:solidFill>
                  <a:srgbClr val="7EE787"/>
                </a:solidFill>
                <a:latin typeface="Courier New" pitchFamily="34" charset="0"/>
                <a:ea typeface="Courier New" pitchFamily="34" charset="-122"/>
                <a:cs typeface="Courier New" pitchFamily="34" charset="-120"/>
              </a:rPr>
              <a:t>([0], True, 2, True)</a:t>
            </a:r>
            <a:endParaRPr lang="en-US" sz="720" dirty="0"/>
          </a:p>
          <a:p>
            <a:pPr indent="0" marL="0">
              <a:buNone/>
            </a:pPr>
            <a:r>
              <a:rPr lang="en-US" sz="720" b="1" dirty="0">
                <a:solidFill>
                  <a:srgbClr val="D97A14"/>
                </a:solidFill>
                <a:latin typeface="Courier New" pitchFamily="34" charset="0"/>
                <a:ea typeface="Courier New" pitchFamily="34" charset="-122"/>
                <a:cs typeface="Courier New" pitchFamily="34" charset="-120"/>
              </a:rPr>
              <a:t>&gt;&gt;&gt; </a:t>
            </a:r>
            <a:r>
              <a:rPr lang="en-US" sz="720" dirty="0">
                <a:solidFill>
                  <a:srgbClr val="E6EDF3"/>
                </a:solidFill>
                <a:latin typeface="Courier New" pitchFamily="34" charset="0"/>
                <a:ea typeface="Courier New" pitchFamily="34" charset="-122"/>
                <a:cs typeface="Courier New" pitchFamily="34" charset="-120"/>
              </a:rPr>
              <a:t>c[</a:t>
            </a:r>
            <a:r>
              <a:rPr lang="en-US" sz="720" dirty="0">
                <a:solidFill>
                  <a:srgbClr val="9ECBFF"/>
                </a:solidFill>
                <a:latin typeface="Courier New" pitchFamily="34" charset="0"/>
                <a:ea typeface="Courier New" pitchFamily="34" charset="-122"/>
                <a:cs typeface="Courier New" pitchFamily="34" charset="-120"/>
              </a:rPr>
              <a:t>'cmpctblock_bytes'</a:t>
            </a:r>
            <a:r>
              <a:rPr lang="en-US" sz="720" dirty="0">
                <a:solidFill>
                  <a:srgbClr val="E6EDF3"/>
                </a:solidFill>
                <a:latin typeface="Courier New" pitchFamily="34" charset="0"/>
                <a:ea typeface="Courier New" pitchFamily="34" charset="-122"/>
                <a:cs typeface="Courier New" pitchFamily="34" charset="-120"/>
              </a:rPr>
              <a:t>], c[</a:t>
            </a:r>
            <a:r>
              <a:rPr lang="en-US" sz="720" dirty="0">
                <a:solidFill>
                  <a:srgbClr val="9ECBFF"/>
                </a:solidFill>
                <a:latin typeface="Courier New" pitchFamily="34" charset="0"/>
                <a:ea typeface="Courier New" pitchFamily="34" charset="-122"/>
                <a:cs typeface="Courier New" pitchFamily="34" charset="-120"/>
              </a:rPr>
              <a:t>'full_block_bytes'</a:t>
            </a:r>
            <a:r>
              <a:rPr lang="en-US" sz="720" dirty="0">
                <a:solidFill>
                  <a:srgbClr val="E6EDF3"/>
                </a:solidFill>
                <a:latin typeface="Courier New" pitchFamily="34" charset="0"/>
                <a:ea typeface="Courier New" pitchFamily="34" charset="-122"/>
                <a:cs typeface="Courier New" pitchFamily="34" charset="-120"/>
              </a:rPr>
              <a:t>], round(c[</a:t>
            </a:r>
            <a:r>
              <a:rPr lang="en-US" sz="720" dirty="0">
                <a:solidFill>
                  <a:srgbClr val="9ECBFF"/>
                </a:solidFill>
                <a:latin typeface="Courier New" pitchFamily="34" charset="0"/>
                <a:ea typeface="Courier New" pitchFamily="34" charset="-122"/>
                <a:cs typeface="Courier New" pitchFamily="34" charset="-120"/>
              </a:rPr>
              <a:t>'cmpctblock_bytes'</a:t>
            </a:r>
            <a:r>
              <a:rPr lang="en-US" sz="720" dirty="0">
                <a:solidFill>
                  <a:srgbClr val="E6EDF3"/>
                </a:solidFill>
                <a:latin typeface="Courier New" pitchFamily="34" charset="0"/>
                <a:ea typeface="Courier New" pitchFamily="34" charset="-122"/>
                <a:cs typeface="Courier New" pitchFamily="34" charset="-120"/>
              </a:rPr>
              <a:t>] / c[</a:t>
            </a:r>
            <a:r>
              <a:rPr lang="en-US" sz="720" dirty="0">
                <a:solidFill>
                  <a:srgbClr val="9ECBFF"/>
                </a:solidFill>
                <a:latin typeface="Courier New" pitchFamily="34" charset="0"/>
                <a:ea typeface="Courier New" pitchFamily="34" charset="-122"/>
                <a:cs typeface="Courier New" pitchFamily="34" charset="-120"/>
              </a:rPr>
              <a:t>'full_block_bytes'</a:t>
            </a:r>
            <a:r>
              <a:rPr lang="en-US" sz="720" dirty="0">
                <a:solidFill>
                  <a:srgbClr val="E6EDF3"/>
                </a:solidFill>
                <a:latin typeface="Courier New" pitchFamily="34" charset="0"/>
                <a:ea typeface="Courier New" pitchFamily="34" charset="-122"/>
                <a:cs typeface="Courier New" pitchFamily="34" charset="-120"/>
              </a:rPr>
              <a:t>], </a:t>
            </a:r>
            <a:r>
              <a:rPr lang="en-US" sz="720" dirty="0">
                <a:solidFill>
                  <a:srgbClr val="FFD28A"/>
                </a:solidFill>
                <a:latin typeface="Courier New" pitchFamily="34" charset="0"/>
                <a:ea typeface="Courier New" pitchFamily="34" charset="-122"/>
                <a:cs typeface="Courier New" pitchFamily="34" charset="-120"/>
              </a:rPr>
              <a:t>4</a:t>
            </a:r>
            <a:r>
              <a:rPr lang="en-US" sz="720" dirty="0">
                <a:solidFill>
                  <a:srgbClr val="E6EDF3"/>
                </a:solidFill>
                <a:latin typeface="Courier New" pitchFamily="34" charset="0"/>
                <a:ea typeface="Courier New" pitchFamily="34" charset="-122"/>
                <a:cs typeface="Courier New" pitchFamily="34" charset="-120"/>
              </a:rPr>
              <a:t>)</a:t>
            </a:r>
            <a:endParaRPr lang="en-US" sz="720" dirty="0"/>
          </a:p>
          <a:p>
            <a:pPr indent="0" marL="0">
              <a:buNone/>
            </a:pPr>
            <a:r>
              <a:rPr lang="en-US" sz="720" dirty="0">
                <a:solidFill>
                  <a:srgbClr val="7EE787"/>
                </a:solidFill>
                <a:latin typeface="Courier New" pitchFamily="34" charset="0"/>
                <a:ea typeface="Courier New" pitchFamily="34" charset="-122"/>
                <a:cs typeface="Courier New" pitchFamily="34" charset="-120"/>
              </a:rPr>
              <a:t>(332, 3062, 0.1084)</a:t>
            </a:r>
            <a:endParaRPr lang="en-US" sz="720" dirty="0"/>
          </a:p>
        </p:txBody>
      </p:sp>
      <p:sp>
        <p:nvSpPr>
          <p:cNvPr id="16" name="Text 13"/>
          <p:cNvSpPr txBox="1"/>
          <p:nvPr/>
        </p:nvSpPr>
        <p:spPr>
          <a:xfrm>
            <a:off x="457200" y="44074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7"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compact block is a header and short ids: a ninth of the bytes</a:t>
            </a:r>
            <a:endParaRPr lang="en-US" sz="1350" dirty="0"/>
          </a:p>
        </p:txBody>
      </p:sp>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26</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Sending a block as a list of short codes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27 April 2016: who, where, when and what to read next</a:t>
            </a:r>
            <a:endParaRPr lang="en-US" sz="1300" dirty="0"/>
          </a:p>
        </p:txBody>
      </p:sp>
      <p:pic>
        <p:nvPicPr>
          <p:cNvPr id="6" name="Image 0" descr="../../03-materials/ch10/assets/photo_optical_fibre.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Optical fibre strands - BigRiz, CC BY-SA 3.0, Wikimedia Commons</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27 April 2016 BIP 152 is assigned to Matt Corallo; Bitcoin Core 0.13.0 ships Suhas Daftuar's code</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book says 2015 (row 1); Core's own list says 0.13.0 (row 2), so the book is a year early</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Relay networks go further: a lost piece of 4 is rebuilt from one parity piece (row 4); FIBRE is NOT EXECUTED</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saved sources and a demo; NOT EXECUTED: FIBRE</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seen(</a:t>
            </a:r>
            <a:r>
              <a:rPr lang="en-US" sz="780" dirty="0">
                <a:solidFill>
                  <a:srgbClr val="9ECBFF"/>
                </a:solidFill>
                <a:latin typeface="Courier New" pitchFamily="34" charset="0"/>
                <a:ea typeface="Courier New" pitchFamily="34" charset="-122"/>
                <a:cs typeface="Courier New" pitchFamily="34" charset="-120"/>
              </a:rPr>
              <a:t>'book_ch10_network.adoc'</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'In 2015, a new version of Bitcoin Core added'</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True</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seen(</a:t>
            </a:r>
            <a:r>
              <a:rPr lang="en-US" sz="780" dirty="0">
                <a:solidFill>
                  <a:srgbClr val="9ECBFF"/>
                </a:solidFill>
                <a:latin typeface="Courier New" pitchFamily="34" charset="0"/>
                <a:ea typeface="Courier New" pitchFamily="34" charset="-122"/>
                <a:cs typeface="Courier New" pitchFamily="34" charset="-120"/>
              </a:rPr>
              <a:t>'core_doc_bips.md'</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'are used as of **v0.13.0**'</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True</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parts = [b</a:t>
            </a:r>
            <a:r>
              <a:rPr lang="en-US" sz="780" dirty="0">
                <a:solidFill>
                  <a:srgbClr val="9ECBFF"/>
                </a:solidFill>
                <a:latin typeface="Courier New" pitchFamily="34" charset="0"/>
                <a:ea typeface="Courier New" pitchFamily="34" charset="-122"/>
                <a:cs typeface="Courier New" pitchFamily="34" charset="-120"/>
              </a:rPr>
              <a:t>'compac'</a:t>
            </a:r>
            <a:r>
              <a:rPr lang="en-US" sz="780" dirty="0">
                <a:solidFill>
                  <a:srgbClr val="E6EDF3"/>
                </a:solidFill>
                <a:latin typeface="Courier New" pitchFamily="34" charset="0"/>
                <a:ea typeface="Courier New" pitchFamily="34" charset="-122"/>
                <a:cs typeface="Courier New" pitchFamily="34" charset="-120"/>
              </a:rPr>
              <a:t>, b</a:t>
            </a:r>
            <a:r>
              <a:rPr lang="en-US" sz="780" dirty="0">
                <a:solidFill>
                  <a:srgbClr val="9ECBFF"/>
                </a:solidFill>
                <a:latin typeface="Courier New" pitchFamily="34" charset="0"/>
                <a:ea typeface="Courier New" pitchFamily="34" charset="-122"/>
                <a:cs typeface="Courier New" pitchFamily="34" charset="-120"/>
              </a:rPr>
              <a:t>'t bloc'</a:t>
            </a:r>
            <a:r>
              <a:rPr lang="en-US" sz="780" dirty="0">
                <a:solidFill>
                  <a:srgbClr val="E6EDF3"/>
                </a:solidFill>
                <a:latin typeface="Courier New" pitchFamily="34" charset="0"/>
                <a:ea typeface="Courier New" pitchFamily="34" charset="-122"/>
                <a:cs typeface="Courier New" pitchFamily="34" charset="-120"/>
              </a:rPr>
              <a:t>, b</a:t>
            </a:r>
            <a:r>
              <a:rPr lang="en-US" sz="780" dirty="0">
                <a:solidFill>
                  <a:srgbClr val="9ECBFF"/>
                </a:solidFill>
                <a:latin typeface="Courier New" pitchFamily="34" charset="0"/>
                <a:ea typeface="Courier New" pitchFamily="34" charset="-122"/>
                <a:cs typeface="Courier New" pitchFamily="34" charset="-120"/>
              </a:rPr>
              <a:t>'k mess'</a:t>
            </a:r>
            <a:r>
              <a:rPr lang="en-US" sz="780" dirty="0">
                <a:solidFill>
                  <a:srgbClr val="E6EDF3"/>
                </a:solidFill>
                <a:latin typeface="Courier New" pitchFamily="34" charset="0"/>
                <a:ea typeface="Courier New" pitchFamily="34" charset="-122"/>
                <a:cs typeface="Courier New" pitchFamily="34" charset="-120"/>
              </a:rPr>
              <a:t>, b</a:t>
            </a:r>
            <a:r>
              <a:rPr lang="en-US" sz="780" dirty="0">
                <a:solidFill>
                  <a:srgbClr val="9ECBFF"/>
                </a:solidFill>
                <a:latin typeface="Courier New" pitchFamily="34" charset="0"/>
                <a:ea typeface="Courier New" pitchFamily="34" charset="-122"/>
                <a:cs typeface="Courier New" pitchFamily="34" charset="-120"/>
              </a:rPr>
              <a:t>'age!!!'</a:t>
            </a:r>
            <a:r>
              <a:rPr lang="en-US" sz="780" dirty="0">
                <a:solidFill>
                  <a:srgbClr val="E6EDF3"/>
                </a:solidFill>
                <a:latin typeface="Courier New" pitchFamily="34" charset="0"/>
                <a:ea typeface="Courier New" pitchFamily="34" charset="-122"/>
                <a:cs typeface="Courier New" pitchFamily="34" charset="-120"/>
              </a:rPr>
              <a:t>]; par = L.parity_code(parts)</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b</a:t>
            </a:r>
            <a:r>
              <a:rPr lang="en-US" sz="780" dirty="0">
                <a:solidFill>
                  <a:srgbClr val="9ECBFF"/>
                </a:solidFill>
                <a:latin typeface="Courier New" pitchFamily="34" charset="0"/>
                <a:ea typeface="Courier New" pitchFamily="34" charset="-122"/>
                <a:cs typeface="Courier New" pitchFamily="34" charset="-120"/>
              </a:rPr>
              <a:t>''</a:t>
            </a:r>
            <a:r>
              <a:rPr lang="en-US" sz="780" dirty="0">
                <a:solidFill>
                  <a:srgbClr val="E6EDF3"/>
                </a:solidFill>
                <a:latin typeface="Courier New" pitchFamily="34" charset="0"/>
                <a:ea typeface="Courier New" pitchFamily="34" charset="-122"/>
                <a:cs typeface="Courier New" pitchFamily="34" charset="-120"/>
              </a:rPr>
              <a:t>.join(L.rebuild([parts[</a:t>
            </a:r>
            <a:r>
              <a:rPr lang="en-US" sz="780" dirty="0">
                <a:solidFill>
                  <a:srgbClr val="FFD28A"/>
                </a:solidFill>
                <a:latin typeface="Courier New" pitchFamily="34" charset="0"/>
                <a:ea typeface="Courier New" pitchFamily="34" charset="-122"/>
                <a:cs typeface="Courier New" pitchFamily="34" charset="-120"/>
              </a:rPr>
              <a:t>0</a:t>
            </a:r>
            <a:r>
              <a:rPr lang="en-US" sz="780" dirty="0">
                <a:solidFill>
                  <a:srgbClr val="E6EDF3"/>
                </a:solidFill>
                <a:latin typeface="Courier New" pitchFamily="34" charset="0"/>
                <a:ea typeface="Courier New" pitchFamily="34" charset="-122"/>
                <a:cs typeface="Courier New" pitchFamily="34" charset="-120"/>
              </a:rPr>
              <a:t>], </a:t>
            </a:r>
            <a:r>
              <a:rPr lang="en-US" sz="780" b="1" dirty="0">
                <a:solidFill>
                  <a:srgbClr val="F2A860"/>
                </a:solidFill>
                <a:latin typeface="Courier New" pitchFamily="34" charset="0"/>
                <a:ea typeface="Courier New" pitchFamily="34" charset="-122"/>
                <a:cs typeface="Courier New" pitchFamily="34" charset="-120"/>
              </a:rPr>
              <a:t>None</a:t>
            </a:r>
            <a:r>
              <a:rPr lang="en-US" sz="780" dirty="0">
                <a:solidFill>
                  <a:srgbClr val="E6EDF3"/>
                </a:solidFill>
                <a:latin typeface="Courier New" pitchFamily="34" charset="0"/>
                <a:ea typeface="Courier New" pitchFamily="34" charset="-122"/>
                <a:cs typeface="Courier New" pitchFamily="34" charset="-120"/>
              </a:rPr>
              <a:t>, parts[</a:t>
            </a:r>
            <a:r>
              <a:rPr lang="en-US" sz="780" dirty="0">
                <a:solidFill>
                  <a:srgbClr val="FFD28A"/>
                </a:solidFill>
                <a:latin typeface="Courier New" pitchFamily="34" charset="0"/>
                <a:ea typeface="Courier New" pitchFamily="34" charset="-122"/>
                <a:cs typeface="Courier New" pitchFamily="34" charset="-120"/>
              </a:rPr>
              <a:t>2</a:t>
            </a:r>
            <a:r>
              <a:rPr lang="en-US" sz="780" dirty="0">
                <a:solidFill>
                  <a:srgbClr val="E6EDF3"/>
                </a:solidFill>
                <a:latin typeface="Courier New" pitchFamily="34" charset="0"/>
                <a:ea typeface="Courier New" pitchFamily="34" charset="-122"/>
                <a:cs typeface="Courier New" pitchFamily="34" charset="-120"/>
              </a:rPr>
              <a:t>], parts[</a:t>
            </a:r>
            <a:r>
              <a:rPr lang="en-US" sz="780" dirty="0">
                <a:solidFill>
                  <a:srgbClr val="FFD28A"/>
                </a:solidFill>
                <a:latin typeface="Courier New" pitchFamily="34" charset="0"/>
                <a:ea typeface="Courier New" pitchFamily="34" charset="-122"/>
                <a:cs typeface="Courier New" pitchFamily="34" charset="-120"/>
              </a:rPr>
              <a:t>3</a:t>
            </a:r>
            <a:r>
              <a:rPr lang="en-US" sz="780" dirty="0">
                <a:solidFill>
                  <a:srgbClr val="E6EDF3"/>
                </a:solidFill>
                <a:latin typeface="Courier New" pitchFamily="34" charset="0"/>
                <a:ea typeface="Courier New" pitchFamily="34" charset="-122"/>
                <a:cs typeface="Courier New" pitchFamily="34" charset="-120"/>
              </a:rPr>
              <a:t>]], par))</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b'compact block message!!!'</a:t>
            </a:r>
            <a:endParaRPr lang="en-US" sz="78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Matt Corallo, a Bitcoin Core and relay…</a:t>
            </a:r>
            <a:endParaRPr lang="en-US" sz="750" dirty="0"/>
          </a:p>
        </p:txBody>
      </p:sp>
      <p:sp>
        <p:nvSpPr>
          <p:cNvPr id="20" name="Shape 17"/>
          <p:cNvSpPr/>
          <p:nvPr/>
        </p:nvSpPr>
        <p:spPr>
          <a:xfrm>
            <a:off x="3016057" y="4224528"/>
            <a:ext cx="2449129"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3107497"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bitcoin/bips repository on GitHub,…</a:t>
            </a:r>
            <a:endParaRPr lang="en-US" sz="750" dirty="0"/>
          </a:p>
        </p:txBody>
      </p:sp>
      <p:sp>
        <p:nvSpPr>
          <p:cNvPr id="22" name="Shape 19"/>
          <p:cNvSpPr/>
          <p:nvPr/>
        </p:nvSpPr>
        <p:spPr>
          <a:xfrm>
            <a:off x="5574914" y="4224528"/>
            <a:ext cx="134307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5666354" y="422452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2016-04-27</a:t>
            </a:r>
            <a:endParaRPr lang="en-US" sz="750" dirty="0"/>
          </a:p>
        </p:txBody>
      </p:sp>
      <p:sp>
        <p:nvSpPr>
          <p:cNvPr id="24" name="Shape 21"/>
          <p:cNvSpPr/>
          <p:nvPr/>
        </p:nvSpPr>
        <p:spPr>
          <a:xfrm>
            <a:off x="7027713" y="4224528"/>
            <a:ext cx="1659087"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7119153" y="422452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bips.dev</a:t>
            </a:r>
            <a:endParaRPr lang="en-US" sz="750" dirty="0"/>
          </a:p>
        </p:txBody>
      </p:sp>
      <p:sp>
        <p:nvSpPr>
          <p:cNvPr id="26" name="Text 23"/>
          <p:cNvSpPr txBox="1"/>
          <p:nvPr/>
        </p:nvSpPr>
        <p:spPr>
          <a:xfrm>
            <a:off x="457200" y="3858768"/>
            <a:ext cx="2651760" cy="329184"/>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picture: optical fibre, not the BIP.</a:t>
            </a:r>
            <a:endParaRPr lang="en-US" sz="90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26</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Syncing: headers first, then blocks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reading the contents page before asking for the chapters</a:t>
            </a:r>
            <a:endParaRPr lang="en-US" sz="1300" dirty="0"/>
          </a:p>
        </p:txBody>
      </p:sp>
      <p:sp>
        <p:nvSpPr>
          <p:cNvPr id="6" name="Shape 4"/>
          <p:cNvSpPr/>
          <p:nvPr/>
        </p:nvSpPr>
        <p:spPr>
          <a:xfrm>
            <a:off x="457200" y="1161288"/>
            <a:ext cx="2881503" cy="420624"/>
          </a:xfrm>
          <a:prstGeom prst="roundRect">
            <a:avLst>
              <a:gd name="adj" fmla="val 50000"/>
            </a:avLst>
          </a:prstGeom>
          <a:solidFill>
            <a:srgbClr val="F2ECE1"/>
          </a:solidFill>
          <a:ln w="12700">
            <a:solidFill>
              <a:srgbClr val="D97A14"/>
            </a:solidFill>
            <a:prstDash val="solid"/>
          </a:ln>
        </p:spPr>
      </p:sp>
      <p:sp>
        <p:nvSpPr>
          <p:cNvPr id="7" name="Text 5"/>
          <p:cNvSpPr txBox="1"/>
          <p:nvPr/>
        </p:nvSpPr>
        <p:spPr>
          <a:xfrm>
            <a:off x="457200" y="1161288"/>
            <a:ext cx="2881503"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2,000 headers per message</a:t>
            </a:r>
            <a:endParaRPr lang="en-US" sz="950" dirty="0"/>
          </a:p>
        </p:txBody>
      </p:sp>
      <p:sp>
        <p:nvSpPr>
          <p:cNvPr id="8" name="Shape 6"/>
          <p:cNvSpPr/>
          <p:nvPr/>
        </p:nvSpPr>
        <p:spPr>
          <a:xfrm>
            <a:off x="3539871" y="1161288"/>
            <a:ext cx="1682725" cy="420624"/>
          </a:xfrm>
          <a:prstGeom prst="roundRect">
            <a:avLst>
              <a:gd name="adj" fmla="val 50000"/>
            </a:avLst>
          </a:prstGeom>
          <a:solidFill>
            <a:srgbClr val="F2ECE1"/>
          </a:solidFill>
          <a:ln w="12700">
            <a:solidFill>
              <a:srgbClr val="D97A14"/>
            </a:solidFill>
            <a:prstDash val="solid"/>
          </a:ln>
        </p:spPr>
      </p:sp>
      <p:sp>
        <p:nvSpPr>
          <p:cNvPr id="9" name="Text 7"/>
          <p:cNvSpPr txBox="1"/>
          <p:nvPr/>
        </p:nvSpPr>
        <p:spPr>
          <a:xfrm>
            <a:off x="3539871" y="1161288"/>
            <a:ext cx="1682725"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80 bytes each</a:t>
            </a:r>
            <a:endParaRPr lang="en-US" sz="950" dirty="0"/>
          </a:p>
        </p:txBody>
      </p:sp>
      <p:sp>
        <p:nvSpPr>
          <p:cNvPr id="10" name="Shape 8"/>
          <p:cNvSpPr/>
          <p:nvPr/>
        </p:nvSpPr>
        <p:spPr>
          <a:xfrm>
            <a:off x="5423764" y="1161288"/>
            <a:ext cx="2581808" cy="420624"/>
          </a:xfrm>
          <a:prstGeom prst="roundRect">
            <a:avLst>
              <a:gd name="adj" fmla="val 50000"/>
            </a:avLst>
          </a:prstGeom>
          <a:solidFill>
            <a:srgbClr val="F2ECE1"/>
          </a:solidFill>
          <a:ln w="12700">
            <a:solidFill>
              <a:srgbClr val="D97A14"/>
            </a:solidFill>
            <a:prstDash val="solid"/>
          </a:ln>
        </p:spPr>
      </p:sp>
      <p:sp>
        <p:nvSpPr>
          <p:cNvPr id="11" name="Text 9"/>
          <p:cNvSpPr txBox="1"/>
          <p:nvPr/>
        </p:nvSpPr>
        <p:spPr>
          <a:xfrm>
            <a:off x="5423764" y="1161288"/>
            <a:ext cx="2581808"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window of 1,024 blocks</a:t>
            </a:r>
            <a:endParaRPr lang="en-US" sz="950" dirty="0"/>
          </a:p>
        </p:txBody>
      </p:sp>
      <p:sp>
        <p:nvSpPr>
          <p:cNvPr id="12" name="Text 10"/>
          <p:cNvSpPr txBox="1"/>
          <p:nvPr/>
        </p:nvSpPr>
        <p:spPr>
          <a:xfrm>
            <a:off x="457200" y="166420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a second node syncing from the first</a:t>
            </a:r>
            <a:endParaRPr lang="en-US" sz="1150" dirty="0"/>
          </a:p>
        </p:txBody>
      </p:sp>
      <p:sp>
        <p:nvSpPr>
          <p:cNvPr id="13" name="Shape 11"/>
          <p:cNvSpPr/>
          <p:nvPr/>
        </p:nvSpPr>
        <p:spPr>
          <a:xfrm>
            <a:off x="457200" y="1938528"/>
            <a:ext cx="8229600" cy="1691640"/>
          </a:xfrm>
          <a:prstGeom prst="roundRect">
            <a:avLst>
              <a:gd name="adj" fmla="val 5405"/>
            </a:avLst>
          </a:prstGeom>
          <a:solidFill>
            <a:srgbClr val="23272E"/>
          </a:solidFill>
          <a:ln w="12700">
            <a:solidFill>
              <a:srgbClr val="23272E"/>
            </a:solidFill>
            <a:prstDash val="solid"/>
          </a:ln>
        </p:spPr>
      </p:sp>
      <p:sp>
        <p:nvSpPr>
          <p:cNvPr id="14" name="Text 12"/>
          <p:cNvSpPr txBox="1"/>
          <p:nvPr/>
        </p:nvSpPr>
        <p:spPr>
          <a:xfrm>
            <a:off x="640080" y="2057400"/>
            <a:ext cx="7863840" cy="145389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h, i, p, c = R[</a:t>
            </a:r>
            <a:r>
              <a:rPr lang="en-US" sz="900" dirty="0">
                <a:solidFill>
                  <a:srgbClr val="9ECBFF"/>
                </a:solidFill>
                <a:latin typeface="Courier New" pitchFamily="34" charset="0"/>
                <a:ea typeface="Courier New" pitchFamily="34" charset="-122"/>
                <a:cs typeface="Courier New" pitchFamily="34" charset="-120"/>
              </a:rPr>
              <a:t>'e2_headers'</a:t>
            </a:r>
            <a:r>
              <a:rPr lang="en-US" sz="900" dirty="0">
                <a:solidFill>
                  <a:srgbClr val="E6EDF3"/>
                </a:solidFill>
                <a:latin typeface="Courier New" pitchFamily="34" charset="0"/>
                <a:ea typeface="Courier New" pitchFamily="34" charset="-122"/>
                <a:cs typeface="Courier New" pitchFamily="34" charset="-120"/>
              </a:rPr>
              <a:t>], R[</a:t>
            </a:r>
            <a:r>
              <a:rPr lang="en-US" sz="900" dirty="0">
                <a:solidFill>
                  <a:srgbClr val="9ECBFF"/>
                </a:solidFill>
                <a:latin typeface="Courier New" pitchFamily="34" charset="0"/>
                <a:ea typeface="Courier New" pitchFamily="34" charset="-122"/>
                <a:cs typeface="Courier New" pitchFamily="34" charset="-120"/>
              </a:rPr>
              <a:t>'e10_ibd'</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'core_src_net_processing.h'</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'core_src_net_processing.cpp'</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h[</a:t>
            </a:r>
            <a:r>
              <a:rPr lang="en-US" sz="900" dirty="0">
                <a:solidFill>
                  <a:srgbClr val="9ECBFF"/>
                </a:solidFill>
                <a:latin typeface="Courier New" pitchFamily="34" charset="0"/>
                <a:ea typeface="Courier New" pitchFamily="34" charset="-122"/>
                <a:cs typeface="Courier New" pitchFamily="34" charset="-120"/>
              </a:rPr>
              <a:t>'first_count'</a:t>
            </a:r>
            <a:r>
              <a:rPr lang="en-US" sz="900" dirty="0">
                <a:solidFill>
                  <a:srgbClr val="E6EDF3"/>
                </a:solidFill>
                <a:latin typeface="Courier New" pitchFamily="34" charset="0"/>
                <a:ea typeface="Courier New" pitchFamily="34" charset="-122"/>
                <a:cs typeface="Courier New" pitchFamily="34" charset="-120"/>
              </a:rPr>
              <a:t>], h[</a:t>
            </a:r>
            <a:r>
              <a:rPr lang="en-US" sz="900" dirty="0">
                <a:solidFill>
                  <a:srgbClr val="9ECBFF"/>
                </a:solidFill>
                <a:latin typeface="Courier New" pitchFamily="34" charset="0"/>
                <a:ea typeface="Courier New" pitchFamily="34" charset="-122"/>
                <a:cs typeface="Courier New" pitchFamily="34" charset="-120"/>
              </a:rPr>
              <a:t>'second_count'</a:t>
            </a:r>
            <a:r>
              <a:rPr lang="en-US" sz="900" dirty="0">
                <a:solidFill>
                  <a:srgbClr val="E6EDF3"/>
                </a:solidFill>
                <a:latin typeface="Courier New" pitchFamily="34" charset="0"/>
                <a:ea typeface="Courier New" pitchFamily="34" charset="-122"/>
                <a:cs typeface="Courier New" pitchFamily="34" charset="-120"/>
              </a:rPr>
              <a:t>], h[</a:t>
            </a:r>
            <a:r>
              <a:rPr lang="en-US" sz="900" dirty="0">
                <a:solidFill>
                  <a:srgbClr val="9ECBFF"/>
                </a:solidFill>
                <a:latin typeface="Courier New" pitchFamily="34" charset="0"/>
                <a:ea typeface="Courier New" pitchFamily="34" charset="-122"/>
                <a:cs typeface="Courier New" pitchFamily="34" charset="-120"/>
              </a:rPr>
              <a:t>'height'</a:t>
            </a:r>
            <a:r>
              <a:rPr lang="en-US" sz="900" dirty="0">
                <a:solidFill>
                  <a:srgbClr val="E6EDF3"/>
                </a:solidFill>
                <a:latin typeface="Courier New" pitchFamily="34" charset="0"/>
                <a:ea typeface="Courier New" pitchFamily="34" charset="-122"/>
                <a:cs typeface="Courier New" pitchFamily="34" charset="-120"/>
              </a:rPr>
              <a:t>], src(p, </a:t>
            </a:r>
            <a:r>
              <a:rPr lang="en-US" sz="900" dirty="0">
                <a:solidFill>
                  <a:srgbClr val="9ECBFF"/>
                </a:solidFill>
                <a:latin typeface="Courier New" pitchFamily="34" charset="0"/>
                <a:ea typeface="Courier New" pitchFamily="34" charset="-122"/>
                <a:cs typeface="Courier New" pitchFamily="34" charset="-120"/>
              </a:rPr>
              <a:t>'MAX_HEADERS_RESULTS'</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(2000, 101, 2101, '2000')</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h[</a:t>
            </a:r>
            <a:r>
              <a:rPr lang="en-US" sz="900" dirty="0">
                <a:solidFill>
                  <a:srgbClr val="9ECBFF"/>
                </a:solidFill>
                <a:latin typeface="Courier New" pitchFamily="34" charset="0"/>
                <a:ea typeface="Courier New" pitchFamily="34" charset="-122"/>
                <a:cs typeface="Courier New" pitchFamily="34" charset="-120"/>
              </a:rPr>
              <a:t>'first_bytes'</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3</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2000</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81</a:t>
            </a:r>
            <a:r>
              <a:rPr lang="en-US" sz="900" dirty="0">
                <a:solidFill>
                  <a:srgbClr val="E6EDF3"/>
                </a:solidFill>
                <a:latin typeface="Courier New" pitchFamily="34" charset="0"/>
                <a:ea typeface="Courier New" pitchFamily="34" charset="-122"/>
                <a:cs typeface="Courier New" pitchFamily="34" charset="-120"/>
              </a:rPr>
              <a:t>, h[</a:t>
            </a:r>
            <a:r>
              <a:rPr lang="en-US" sz="900" dirty="0">
                <a:solidFill>
                  <a:srgbClr val="9ECBFF"/>
                </a:solidFill>
                <a:latin typeface="Courier New" pitchFamily="34" charset="0"/>
                <a:ea typeface="Courier New" pitchFamily="34" charset="-122"/>
                <a:cs typeface="Courier New" pitchFamily="34" charset="-120"/>
              </a:rPr>
              <a:t>'header_size'</a:t>
            </a:r>
            <a:r>
              <a:rPr lang="en-US" sz="900" dirty="0">
                <a:solidFill>
                  <a:srgbClr val="E6EDF3"/>
                </a:solidFill>
                <a:latin typeface="Courier New" pitchFamily="34" charset="0"/>
                <a:ea typeface="Courier New" pitchFamily="34" charset="-122"/>
                <a:cs typeface="Courier New" pitchFamily="34" charset="-120"/>
              </a:rPr>
              <a:t>], h[</a:t>
            </a:r>
            <a:r>
              <a:rPr lang="en-US" sz="900" dirty="0">
                <a:solidFill>
                  <a:srgbClr val="9ECBFF"/>
                </a:solidFill>
                <a:latin typeface="Courier New" pitchFamily="34" charset="0"/>
                <a:ea typeface="Courier New" pitchFamily="34" charset="-122"/>
                <a:cs typeface="Courier New" pitchFamily="34" charset="-120"/>
              </a:rPr>
              <a:t>'chain_links_ok'</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 80, True)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R[</a:t>
            </a:r>
            <a:r>
              <a:rPr lang="en-US" sz="900" dirty="0">
                <a:solidFill>
                  <a:srgbClr val="9ECBFF"/>
                </a:solidFill>
                <a:latin typeface="Courier New" pitchFamily="34" charset="0"/>
                <a:ea typeface="Courier New" pitchFamily="34" charset="-122"/>
                <a:cs typeface="Courier New" pitchFamily="34" charset="-120"/>
              </a:rPr>
              <a:t>'e2_announce'</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{'without_sendheaders': ['inv'], 'with_sendheaders': ['headers']}</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src(c, </a:t>
            </a:r>
            <a:r>
              <a:rPr lang="en-US" sz="900" dirty="0">
                <a:solidFill>
                  <a:srgbClr val="9ECBFF"/>
                </a:solidFill>
                <a:latin typeface="Courier New" pitchFamily="34" charset="0"/>
                <a:ea typeface="Courier New" pitchFamily="34" charset="-122"/>
                <a:cs typeface="Courier New" pitchFamily="34" charset="-120"/>
              </a:rPr>
              <a:t>'BLOCK_DOWNLOAD_WINDOW'</a:t>
            </a:r>
            <a:r>
              <a:rPr lang="en-US" sz="900" dirty="0">
                <a:solidFill>
                  <a:srgbClr val="E6EDF3"/>
                </a:solidFill>
                <a:latin typeface="Courier New" pitchFamily="34" charset="0"/>
                <a:ea typeface="Courier New" pitchFamily="34" charset="-122"/>
                <a:cs typeface="Courier New" pitchFamily="34" charset="-120"/>
              </a:rPr>
              <a:t>), src(c, </a:t>
            </a:r>
            <a:r>
              <a:rPr lang="en-US" sz="900" dirty="0">
                <a:solidFill>
                  <a:srgbClr val="9ECBFF"/>
                </a:solidFill>
                <a:latin typeface="Courier New" pitchFamily="34" charset="0"/>
                <a:ea typeface="Courier New" pitchFamily="34" charset="-122"/>
                <a:cs typeface="Courier New" pitchFamily="34" charset="-120"/>
              </a:rPr>
              <a:t>'MAX_BLOCKS_IN_TRANSIT_PER_PEER'</a:t>
            </a:r>
            <a:r>
              <a:rPr lang="en-US" sz="900" dirty="0">
                <a:solidFill>
                  <a:srgbClr val="E6EDF3"/>
                </a:solidFill>
                <a:latin typeface="Courier New" pitchFamily="34" charset="0"/>
                <a:ea typeface="Courier New" pitchFamily="34" charset="-122"/>
                <a:cs typeface="Courier New" pitchFamily="34" charset="-120"/>
              </a:rPr>
              <a:t>), i[</a:t>
            </a:r>
            <a:r>
              <a:rPr lang="en-US" sz="900" dirty="0">
                <a:solidFill>
                  <a:srgbClr val="9ECBFF"/>
                </a:solidFill>
                <a:latin typeface="Courier New" pitchFamily="34" charset="0"/>
                <a:ea typeface="Courier New" pitchFamily="34" charset="-122"/>
                <a:cs typeface="Courier New" pitchFamily="34" charset="-120"/>
              </a:rPr>
              <a:t>'height'</a:t>
            </a:r>
            <a:r>
              <a:rPr lang="en-US" sz="900" dirty="0">
                <a:solidFill>
                  <a:srgbClr val="E6EDF3"/>
                </a:solidFill>
                <a:latin typeface="Courier New" pitchFamily="34" charset="0"/>
                <a:ea typeface="Courier New" pitchFamily="34" charset="-122"/>
                <a:cs typeface="Courier New" pitchFamily="34" charset="-120"/>
              </a:rPr>
              <a:t>], i[</a:t>
            </a:r>
            <a:r>
              <a:rPr lang="en-US" sz="900" dirty="0">
                <a:solidFill>
                  <a:srgbClr val="9ECBFF"/>
                </a:solidFill>
                <a:latin typeface="Courier New" pitchFamily="34" charset="0"/>
                <a:ea typeface="Courier New" pitchFamily="34" charset="-122"/>
                <a:cs typeface="Courier New" pitchFamily="34" charset="-120"/>
              </a:rPr>
              <a:t>'chain_equal'</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('1024', '16', 2105, True)</a:t>
            </a:r>
            <a:endParaRPr lang="en-US" sz="900" dirty="0"/>
          </a:p>
        </p:txBody>
      </p:sp>
      <p:sp>
        <p:nvSpPr>
          <p:cNvPr id="15" name="Text 13"/>
          <p:cNvSpPr txBox="1"/>
          <p:nvPr/>
        </p:nvSpPr>
        <p:spPr>
          <a:xfrm>
            <a:off x="457200" y="364845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4"/>
          <p:cNvSpPr/>
          <p:nvPr/>
        </p:nvSpPr>
        <p:spPr>
          <a:xfrm>
            <a:off x="457200" y="3971544"/>
            <a:ext cx="128016" cy="128016"/>
          </a:xfrm>
          <a:prstGeom prst="diamond">
            <a:avLst/>
          </a:prstGeom>
          <a:solidFill>
            <a:srgbClr val="D97A14"/>
          </a:solidFill>
          <a:ln w="12700">
            <a:solidFill>
              <a:srgbClr val="D97A14"/>
            </a:solidFill>
            <a:prstDash val="solid"/>
          </a:ln>
        </p:spPr>
      </p:sp>
      <p:sp>
        <p:nvSpPr>
          <p:cNvPr id="17" name="Text 15"/>
          <p:cNvSpPr txBox="1"/>
          <p:nvPr/>
        </p:nvSpPr>
        <p:spPr>
          <a:xfrm>
            <a:off x="731520" y="393192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2 and 3: 2,000 headers came first, then 101, so 2,101 blocks; each header is 80 bytes and links to the one before it</a:t>
            </a:r>
            <a:endParaRPr lang="en-US" sz="1000" dirty="0"/>
          </a:p>
        </p:txBody>
      </p:sp>
      <p:sp>
        <p:nvSpPr>
          <p:cNvPr id="18" name="Shape 16"/>
          <p:cNvSpPr/>
          <p:nvPr/>
        </p:nvSpPr>
        <p:spPr>
          <a:xfrm>
            <a:off x="457200" y="4178808"/>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413918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without sendheaders a new block is announced by inv, with it by the header itself</a:t>
            </a:r>
            <a:endParaRPr lang="en-US" sz="1000" dirty="0"/>
          </a:p>
        </p:txBody>
      </p:sp>
      <p:sp>
        <p:nvSpPr>
          <p:cNvPr id="20" name="Shape 18"/>
          <p:cNvSpPr/>
          <p:nvPr/>
        </p:nvSpPr>
        <p:spPr>
          <a:xfrm>
            <a:off x="457200" y="4386072"/>
            <a:ext cx="128016" cy="128016"/>
          </a:xfrm>
          <a:prstGeom prst="diamond">
            <a:avLst/>
          </a:prstGeom>
          <a:solidFill>
            <a:srgbClr val="D97A14"/>
          </a:solidFill>
          <a:ln w="12700">
            <a:solidFill>
              <a:srgbClr val="D97A14"/>
            </a:solidFill>
            <a:prstDash val="solid"/>
          </a:ln>
        </p:spPr>
      </p:sp>
      <p:sp>
        <p:nvSpPr>
          <p:cNvPr id="21" name="Text 19"/>
          <p:cNvSpPr txBox="1"/>
          <p:nvPr/>
        </p:nvSpPr>
        <p:spPr>
          <a:xfrm>
            <a:off x="731520" y="434644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5: blocks are fetched inside a window of 1,024, at most 16 in flight per peer; the second node ended on the same chain</a:t>
            </a:r>
            <a:endParaRPr lang="en-US" sz="10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Headers come first, then blocks, so a liar is caught cheaply</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26</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Relaying payments, and orphans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each shop keeping its own waiting list, while the town ledger is shared</a:t>
            </a:r>
            <a:endParaRPr lang="en-US" sz="1300" dirty="0"/>
          </a:p>
        </p:txBody>
      </p:sp>
      <p:sp>
        <p:nvSpPr>
          <p:cNvPr id="6" name="Text 4"/>
          <p:cNvSpPr txBox="1"/>
          <p:nvPr/>
        </p:nvSpPr>
        <p:spPr>
          <a:xfrm>
            <a:off x="457200" y="123444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a:t>
            </a:r>
            <a:endParaRPr lang="en-US" sz="1150" dirty="0"/>
          </a:p>
        </p:txBody>
      </p:sp>
      <p:sp>
        <p:nvSpPr>
          <p:cNvPr id="7" name="Shape 5"/>
          <p:cNvSpPr/>
          <p:nvPr/>
        </p:nvSpPr>
        <p:spPr>
          <a:xfrm>
            <a:off x="457200" y="1508760"/>
            <a:ext cx="8229600" cy="1920240"/>
          </a:xfrm>
          <a:prstGeom prst="roundRect">
            <a:avLst>
              <a:gd name="adj" fmla="val 4762"/>
            </a:avLst>
          </a:prstGeom>
          <a:solidFill>
            <a:srgbClr val="23272E"/>
          </a:solidFill>
          <a:ln w="12700">
            <a:solidFill>
              <a:srgbClr val="23272E"/>
            </a:solidFill>
            <a:prstDash val="solid"/>
          </a:ln>
        </p:spPr>
      </p:sp>
      <p:sp>
        <p:nvSpPr>
          <p:cNvPr id="8" name="Text 6"/>
          <p:cNvSpPr txBox="1"/>
          <p:nvPr/>
        </p:nvSpPr>
        <p:spPr>
          <a:xfrm>
            <a:off x="640080" y="1627632"/>
            <a:ext cx="7863840" cy="1682496"/>
          </a:xfrm>
          <a:prstGeom prst="rect">
            <a:avLst/>
          </a:prstGeom>
          <a:noFill/>
          <a:ln/>
        </p:spPr>
        <p:txBody>
          <a:bodyPr wrap="square" lIns="0" tIns="0" rIns="0" bIns="0" rtlCol="0" anchor="t"/>
          <a:lstStyle/>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r, m, o = R[</a:t>
            </a:r>
            <a:r>
              <a:rPr lang="en-US" sz="760" dirty="0">
                <a:solidFill>
                  <a:srgbClr val="9ECBFF"/>
                </a:solidFill>
                <a:latin typeface="Courier New" pitchFamily="34" charset="0"/>
                <a:ea typeface="Courier New" pitchFamily="34" charset="-122"/>
                <a:cs typeface="Courier New" pitchFamily="34" charset="-120"/>
              </a:rPr>
              <a:t>'e5_relay'</a:t>
            </a:r>
            <a:r>
              <a:rPr lang="en-US" sz="760" dirty="0">
                <a:solidFill>
                  <a:srgbClr val="E6EDF3"/>
                </a:solidFill>
                <a:latin typeface="Courier New" pitchFamily="34" charset="0"/>
                <a:ea typeface="Courier New" pitchFamily="34" charset="-122"/>
                <a:cs typeface="Courier New" pitchFamily="34" charset="-120"/>
              </a:rPr>
              <a:t>], R[</a:t>
            </a:r>
            <a:r>
              <a:rPr lang="en-US" sz="760" dirty="0">
                <a:solidFill>
                  <a:srgbClr val="9ECBFF"/>
                </a:solidFill>
                <a:latin typeface="Courier New" pitchFamily="34" charset="0"/>
                <a:ea typeface="Courier New" pitchFamily="34" charset="-122"/>
                <a:cs typeface="Courier New" pitchFamily="34" charset="-120"/>
              </a:rPr>
              <a:t>'e10_mempool_vs_utxo'</a:t>
            </a:r>
            <a:r>
              <a:rPr lang="en-US" sz="760" dirty="0">
                <a:solidFill>
                  <a:srgbClr val="E6EDF3"/>
                </a:solidFill>
                <a:latin typeface="Courier New" pitchFamily="34" charset="0"/>
                <a:ea typeface="Courier New" pitchFamily="34" charset="-122"/>
                <a:cs typeface="Courier New" pitchFamily="34" charset="-120"/>
              </a:rPr>
              <a:t>], R[</a:t>
            </a:r>
            <a:r>
              <a:rPr lang="en-US" sz="760" dirty="0">
                <a:solidFill>
                  <a:srgbClr val="9ECBFF"/>
                </a:solidFill>
                <a:latin typeface="Courier New" pitchFamily="34" charset="0"/>
                <a:ea typeface="Courier New" pitchFamily="34" charset="-122"/>
                <a:cs typeface="Courier New" pitchFamily="34" charset="-120"/>
              </a:rPr>
              <a:t>'e4_orphan'</a:t>
            </a:r>
            <a:r>
              <a:rPr lang="en-US" sz="760" dirty="0">
                <a:solidFill>
                  <a:srgbClr val="E6EDF3"/>
                </a:solidFill>
                <a:latin typeface="Courier New" pitchFamily="34" charset="0"/>
                <a:ea typeface="Courier New" pitchFamily="34" charset="-122"/>
                <a:cs typeface="Courier New" pitchFamily="34" charset="-120"/>
              </a:rPr>
              <a:t>]; k, u = r[</a:t>
            </a:r>
            <a:r>
              <a:rPr lang="en-US" sz="760" dirty="0">
                <a:solidFill>
                  <a:srgbClr val="9ECBFF"/>
                </a:solidFill>
                <a:latin typeface="Courier New" pitchFamily="34" charset="0"/>
                <a:ea typeface="Courier New" pitchFamily="34" charset="-122"/>
                <a:cs typeface="Courier New" pitchFamily="34" charset="-120"/>
              </a:rPr>
              <a:t>'invs'</a:t>
            </a:r>
            <a:r>
              <a:rPr lang="en-US" sz="760" dirty="0">
                <a:solidFill>
                  <a:srgbClr val="E6EDF3"/>
                </a:solidFill>
                <a:latin typeface="Courier New" pitchFamily="34" charset="0"/>
                <a:ea typeface="Courier New" pitchFamily="34" charset="-122"/>
                <a:cs typeface="Courier New" pitchFamily="34" charset="-120"/>
              </a:rPr>
              <a:t>], m[</a:t>
            </a:r>
            <a:r>
              <a:rPr lang="en-US" sz="760" dirty="0">
                <a:solidFill>
                  <a:srgbClr val="9ECBFF"/>
                </a:solidFill>
                <a:latin typeface="Courier New" pitchFamily="34" charset="0"/>
                <a:ea typeface="Courier New" pitchFamily="34" charset="-122"/>
                <a:cs typeface="Courier New" pitchFamily="34" charset="-120"/>
              </a:rPr>
              <a:t>'before_block'</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[i[</a:t>
            </a:r>
            <a:r>
              <a:rPr lang="en-US" sz="760" dirty="0">
                <a:solidFill>
                  <a:srgbClr val="FFD28A"/>
                </a:solidFill>
                <a:latin typeface="Courier New" pitchFamily="34" charset="0"/>
                <a:ea typeface="Courier New" pitchFamily="34" charset="-122"/>
                <a:cs typeface="Courier New" pitchFamily="34" charset="-120"/>
              </a:rPr>
              <a:t>1</a:t>
            </a:r>
            <a:r>
              <a:rPr lang="en-US" sz="760" dirty="0">
                <a:solidFill>
                  <a:srgbClr val="E6EDF3"/>
                </a:solidFill>
                <a:latin typeface="Courier New" pitchFamily="34" charset="0"/>
                <a:ea typeface="Courier New" pitchFamily="34" charset="-122"/>
                <a:cs typeface="Courier New" pitchFamily="34" charset="-120"/>
              </a:rPr>
              <a:t>] </a:t>
            </a:r>
            <a:r>
              <a:rPr lang="en-US" sz="760" b="1" dirty="0">
                <a:solidFill>
                  <a:srgbClr val="F2A860"/>
                </a:solidFill>
                <a:latin typeface="Courier New" pitchFamily="34" charset="0"/>
                <a:ea typeface="Courier New" pitchFamily="34" charset="-122"/>
                <a:cs typeface="Courier New" pitchFamily="34" charset="-120"/>
              </a:rPr>
              <a:t>for</a:t>
            </a:r>
            <a:r>
              <a:rPr lang="en-US" sz="760" dirty="0">
                <a:solidFill>
                  <a:srgbClr val="E6EDF3"/>
                </a:solidFill>
                <a:latin typeface="Courier New" pitchFamily="34" charset="0"/>
                <a:ea typeface="Courier New" pitchFamily="34" charset="-122"/>
                <a:cs typeface="Courier New" pitchFamily="34" charset="-120"/>
              </a:rPr>
              <a:t> i </a:t>
            </a:r>
            <a:r>
              <a:rPr lang="en-US" sz="760" b="1" dirty="0">
                <a:solidFill>
                  <a:srgbClr val="F2A860"/>
                </a:solidFill>
                <a:latin typeface="Courier New" pitchFamily="34" charset="0"/>
                <a:ea typeface="Courier New" pitchFamily="34" charset="-122"/>
                <a:cs typeface="Courier New" pitchFamily="34" charset="-120"/>
              </a:rPr>
              <a:t>in</a:t>
            </a:r>
            <a:r>
              <a:rPr lang="en-US" sz="760" dirty="0">
                <a:solidFill>
                  <a:srgbClr val="E6EDF3"/>
                </a:solidFill>
                <a:latin typeface="Courier New" pitchFamily="34" charset="0"/>
                <a:ea typeface="Courier New" pitchFamily="34" charset="-122"/>
                <a:cs typeface="Courier New" pitchFamily="34" charset="-120"/>
              </a:rPr>
              <a:t> k[</a:t>
            </a:r>
            <a:r>
              <a:rPr lang="en-US" sz="760" dirty="0">
                <a:solidFill>
                  <a:srgbClr val="9ECBFF"/>
                </a:solidFill>
                <a:latin typeface="Courier New" pitchFamily="34" charset="0"/>
                <a:ea typeface="Courier New" pitchFamily="34" charset="-122"/>
                <a:cs typeface="Courier New" pitchFamily="34" charset="-120"/>
              </a:rPr>
              <a:t>'normal_wtxidrelay'</a:t>
            </a:r>
            <a:r>
              <a:rPr lang="en-US" sz="760" dirty="0">
                <a:solidFill>
                  <a:srgbClr val="E6EDF3"/>
                </a:solidFill>
                <a:latin typeface="Courier New" pitchFamily="34" charset="0"/>
                <a:ea typeface="Courier New" pitchFamily="34" charset="-122"/>
                <a:cs typeface="Courier New" pitchFamily="34" charset="-120"/>
              </a:rPr>
              <a:t>]], seen(</a:t>
            </a:r>
            <a:r>
              <a:rPr lang="en-US" sz="760" dirty="0">
                <a:solidFill>
                  <a:srgbClr val="9ECBFF"/>
                </a:solidFill>
                <a:latin typeface="Courier New" pitchFamily="34" charset="0"/>
                <a:ea typeface="Courier New" pitchFamily="34" charset="-122"/>
                <a:cs typeface="Courier New" pitchFamily="34" charset="-120"/>
              </a:rPr>
              <a:t>'bip-0339.mediawiki'</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'MSG_WTX (0x00000005)'</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([5, 5], True)</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round(r[</a:t>
            </a:r>
            <a:r>
              <a:rPr lang="en-US" sz="760" dirty="0">
                <a:solidFill>
                  <a:srgbClr val="9ECBFF"/>
                </a:solidFill>
                <a:latin typeface="Courier New" pitchFamily="34" charset="0"/>
                <a:ea typeface="Courier New" pitchFamily="34" charset="-122"/>
                <a:cs typeface="Courier New" pitchFamily="34" charset="-120"/>
              </a:rPr>
              <a:t>'feerate_low'</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FFD28A"/>
                </a:solidFill>
                <a:latin typeface="Courier New" pitchFamily="34" charset="0"/>
                <a:ea typeface="Courier New" pitchFamily="34" charset="-122"/>
                <a:cs typeface="Courier New" pitchFamily="34" charset="-120"/>
              </a:rPr>
              <a:t>1</a:t>
            </a:r>
            <a:r>
              <a:rPr lang="en-US" sz="760" dirty="0">
                <a:solidFill>
                  <a:srgbClr val="E6EDF3"/>
                </a:solidFill>
                <a:latin typeface="Courier New" pitchFamily="34" charset="0"/>
                <a:ea typeface="Courier New" pitchFamily="34" charset="-122"/>
                <a:cs typeface="Courier New" pitchFamily="34" charset="-120"/>
              </a:rPr>
              <a:t>), round(r[</a:t>
            </a:r>
            <a:r>
              <a:rPr lang="en-US" sz="760" dirty="0">
                <a:solidFill>
                  <a:srgbClr val="9ECBFF"/>
                </a:solidFill>
                <a:latin typeface="Courier New" pitchFamily="34" charset="0"/>
                <a:ea typeface="Courier New" pitchFamily="34" charset="-122"/>
                <a:cs typeface="Courier New" pitchFamily="34" charset="-120"/>
              </a:rPr>
              <a:t>'feerate_high'</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FFD28A"/>
                </a:solidFill>
                <a:latin typeface="Courier New" pitchFamily="34" charset="0"/>
                <a:ea typeface="Courier New" pitchFamily="34" charset="-122"/>
                <a:cs typeface="Courier New" pitchFamily="34" charset="-120"/>
              </a:rPr>
              <a:t>1</a:t>
            </a:r>
            <a:r>
              <a:rPr lang="en-US" sz="760" dirty="0">
                <a:solidFill>
                  <a:srgbClr val="E6EDF3"/>
                </a:solidFill>
                <a:latin typeface="Courier New" pitchFamily="34" charset="0"/>
                <a:ea typeface="Courier New" pitchFamily="34" charset="-122"/>
                <a:cs typeface="Courier New" pitchFamily="34" charset="-120"/>
              </a:rPr>
              <a:t>), r[</a:t>
            </a:r>
            <a:r>
              <a:rPr lang="en-US" sz="760" dirty="0">
                <a:solidFill>
                  <a:srgbClr val="9ECBFF"/>
                </a:solidFill>
                <a:latin typeface="Courier New" pitchFamily="34" charset="0"/>
                <a:ea typeface="Courier New" pitchFamily="34" charset="-122"/>
                <a:cs typeface="Courier New" pitchFamily="34" charset="-120"/>
              </a:rPr>
              <a:t>'peer_feefilter_sat_per_kvb'</a:t>
            </a:r>
            <a:r>
              <a:rPr lang="en-US" sz="760" dirty="0">
                <a:solidFill>
                  <a:srgbClr val="E6EDF3"/>
                </a:solidFill>
                <a:latin typeface="Courier New" pitchFamily="34" charset="0"/>
                <a:ea typeface="Courier New" pitchFamily="34" charset="-122"/>
                <a:cs typeface="Courier New" pitchFamily="34" charset="-120"/>
              </a:rPr>
              <a:t>], len(k[</a:t>
            </a:r>
            <a:r>
              <a:rPr lang="en-US" sz="760" dirty="0">
                <a:solidFill>
                  <a:srgbClr val="9ECBFF"/>
                </a:solidFill>
                <a:latin typeface="Courier New" pitchFamily="34" charset="0"/>
                <a:ea typeface="Courier New" pitchFamily="34" charset="-122"/>
                <a:cs typeface="Courier New" pitchFamily="34" charset="-120"/>
              </a:rPr>
              <a:t>'feefilter_5sat'</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(2.0, 20.0, 5000, 1)</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u[</a:t>
            </a:r>
            <a:r>
              <a:rPr lang="en-US" sz="760" dirty="0">
                <a:solidFill>
                  <a:srgbClr val="9ECBFF"/>
                </a:solidFill>
                <a:latin typeface="Courier New" pitchFamily="34" charset="0"/>
                <a:ea typeface="Courier New" pitchFamily="34" charset="-122"/>
                <a:cs typeface="Courier New" pitchFamily="34" charset="-120"/>
              </a:rPr>
              <a:t>'F_mempool'</a:t>
            </a:r>
            <a:r>
              <a:rPr lang="en-US" sz="760" dirty="0">
                <a:solidFill>
                  <a:srgbClr val="E6EDF3"/>
                </a:solidFill>
                <a:latin typeface="Courier New" pitchFamily="34" charset="0"/>
                <a:ea typeface="Courier New" pitchFamily="34" charset="-122"/>
                <a:cs typeface="Courier New" pitchFamily="34" charset="-120"/>
              </a:rPr>
              <a:t>], u[</a:t>
            </a:r>
            <a:r>
              <a:rPr lang="en-US" sz="760" dirty="0">
                <a:solidFill>
                  <a:srgbClr val="9ECBFF"/>
                </a:solidFill>
                <a:latin typeface="Courier New" pitchFamily="34" charset="0"/>
                <a:ea typeface="Courier New" pitchFamily="34" charset="-122"/>
                <a:cs typeface="Courier New" pitchFamily="34" charset="-120"/>
              </a:rPr>
              <a:t>'G_mempool'</a:t>
            </a:r>
            <a:r>
              <a:rPr lang="en-US" sz="760" dirty="0">
                <a:solidFill>
                  <a:srgbClr val="E6EDF3"/>
                </a:solidFill>
                <a:latin typeface="Courier New" pitchFamily="34" charset="0"/>
                <a:ea typeface="Courier New" pitchFamily="34" charset="-122"/>
                <a:cs typeface="Courier New" pitchFamily="34" charset="-120"/>
              </a:rPr>
              <a:t>], m[</a:t>
            </a:r>
            <a:r>
              <a:rPr lang="en-US" sz="760" dirty="0">
                <a:solidFill>
                  <a:srgbClr val="9ECBFF"/>
                </a:solidFill>
                <a:latin typeface="Courier New" pitchFamily="34" charset="0"/>
                <a:ea typeface="Courier New" pitchFamily="34" charset="-122"/>
                <a:cs typeface="Courier New" pitchFamily="34" charset="-120"/>
              </a:rPr>
              <a:t>'utxo_hash_F'</a:t>
            </a:r>
            <a:r>
              <a:rPr lang="en-US" sz="760" dirty="0">
                <a:solidFill>
                  <a:srgbClr val="E6EDF3"/>
                </a:solidFill>
                <a:latin typeface="Courier New" pitchFamily="34" charset="0"/>
                <a:ea typeface="Courier New" pitchFamily="34" charset="-122"/>
                <a:cs typeface="Courier New" pitchFamily="34" charset="-120"/>
              </a:rPr>
              <a:t>] == m[</a:t>
            </a:r>
            <a:r>
              <a:rPr lang="en-US" sz="760" dirty="0">
                <a:solidFill>
                  <a:srgbClr val="9ECBFF"/>
                </a:solidFill>
                <a:latin typeface="Courier New" pitchFamily="34" charset="0"/>
                <a:ea typeface="Courier New" pitchFamily="34" charset="-122"/>
                <a:cs typeface="Courier New" pitchFamily="34" charset="-120"/>
              </a:rPr>
              <a:t>'utxo_hash_G'</a:t>
            </a:r>
            <a:r>
              <a:rPr lang="en-US" sz="760" dirty="0">
                <a:solidFill>
                  <a:srgbClr val="E6EDF3"/>
                </a:solidFill>
                <a:latin typeface="Courier New" pitchFamily="34" charset="0"/>
                <a:ea typeface="Courier New" pitchFamily="34" charset="-122"/>
                <a:cs typeface="Courier New" pitchFamily="34" charset="-120"/>
              </a:rPr>
              <a:t>], m[</a:t>
            </a:r>
            <a:r>
              <a:rPr lang="en-US" sz="760" dirty="0">
                <a:solidFill>
                  <a:srgbClr val="9ECBFF"/>
                </a:solidFill>
                <a:latin typeface="Courier New" pitchFamily="34" charset="0"/>
                <a:ea typeface="Courier New" pitchFamily="34" charset="-122"/>
                <a:cs typeface="Courier New" pitchFamily="34" charset="-120"/>
              </a:rPr>
              <a:t>'utxo_count_F'</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(6, 0, True, 107)</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o[</a:t>
            </a:r>
            <a:r>
              <a:rPr lang="en-US" sz="760" dirty="0">
                <a:solidFill>
                  <a:srgbClr val="9ECBFF"/>
                </a:solidFill>
                <a:latin typeface="Courier New" pitchFamily="34" charset="0"/>
                <a:ea typeface="Courier New" pitchFamily="34" charset="-122"/>
                <a:cs typeface="Courier New" pitchFamily="34" charset="-120"/>
              </a:rPr>
              <a:t>'child_in_mempool_after_child'</a:t>
            </a:r>
            <a:r>
              <a:rPr lang="en-US" sz="760" dirty="0">
                <a:solidFill>
                  <a:srgbClr val="E6EDF3"/>
                </a:solidFill>
                <a:latin typeface="Courier New" pitchFamily="34" charset="0"/>
                <a:ea typeface="Courier New" pitchFamily="34" charset="-122"/>
                <a:cs typeface="Courier New" pitchFamily="34" charset="-120"/>
              </a:rPr>
              <a:t>], hex(o[</a:t>
            </a:r>
            <a:r>
              <a:rPr lang="en-US" sz="760" dirty="0">
                <a:solidFill>
                  <a:srgbClr val="9ECBFF"/>
                </a:solidFill>
                <a:latin typeface="Courier New" pitchFamily="34" charset="0"/>
                <a:ea typeface="Courier New" pitchFamily="34" charset="-122"/>
                <a:cs typeface="Courier New" pitchFamily="34" charset="-120"/>
              </a:rPr>
              <a:t>'node_asked_for_parent'</a:t>
            </a:r>
            <a:r>
              <a:rPr lang="en-US" sz="760" dirty="0">
                <a:solidFill>
                  <a:srgbClr val="E6EDF3"/>
                </a:solidFill>
                <a:latin typeface="Courier New" pitchFamily="34" charset="0"/>
                <a:ea typeface="Courier New" pitchFamily="34" charset="-122"/>
                <a:cs typeface="Courier New" pitchFamily="34" charset="-120"/>
              </a:rPr>
              <a:t>][</a:t>
            </a:r>
            <a:r>
              <a:rPr lang="en-US" sz="760" dirty="0">
                <a:solidFill>
                  <a:srgbClr val="FFD28A"/>
                </a:solidFill>
                <a:latin typeface="Courier New" pitchFamily="34" charset="0"/>
                <a:ea typeface="Courier New" pitchFamily="34" charset="-122"/>
                <a:cs typeface="Courier New" pitchFamily="34" charset="-120"/>
              </a:rPr>
              <a:t>0</a:t>
            </a:r>
            <a:r>
              <a:rPr lang="en-US" sz="760" dirty="0">
                <a:solidFill>
                  <a:srgbClr val="E6EDF3"/>
                </a:solidFill>
                <a:latin typeface="Courier New" pitchFamily="34" charset="0"/>
                <a:ea typeface="Courier New" pitchFamily="34" charset="-122"/>
                <a:cs typeface="Courier New" pitchFamily="34" charset="-120"/>
              </a:rPr>
              <a:t>][</a:t>
            </a:r>
            <a:r>
              <a:rPr lang="en-US" sz="760" dirty="0">
                <a:solidFill>
                  <a:srgbClr val="FFD28A"/>
                </a:solidFill>
                <a:latin typeface="Courier New" pitchFamily="34" charset="0"/>
                <a:ea typeface="Courier New" pitchFamily="34" charset="-122"/>
                <a:cs typeface="Courier New" pitchFamily="34" charset="-120"/>
              </a:rPr>
              <a:t>0</a:t>
            </a:r>
            <a:r>
              <a:rPr lang="en-US" sz="760" dirty="0">
                <a:solidFill>
                  <a:srgbClr val="E6EDF3"/>
                </a:solidFill>
                <a:latin typeface="Courier New" pitchFamily="34" charset="0"/>
                <a:ea typeface="Courier New" pitchFamily="34" charset="-122"/>
                <a:cs typeface="Courier New" pitchFamily="34" charset="-120"/>
              </a:rPr>
              <a:t>]), o[</a:t>
            </a:r>
            <a:r>
              <a:rPr lang="en-US" sz="760" dirty="0">
                <a:solidFill>
                  <a:srgbClr val="9ECBFF"/>
                </a:solidFill>
                <a:latin typeface="Courier New" pitchFamily="34" charset="0"/>
                <a:ea typeface="Courier New" pitchFamily="34" charset="-122"/>
                <a:cs typeface="Courier New" pitchFamily="34" charset="-120"/>
              </a:rPr>
              <a:t>'parent_in_mempool_after'</a:t>
            </a:r>
            <a:r>
              <a:rPr lang="en-US" sz="760" dirty="0">
                <a:solidFill>
                  <a:srgbClr val="E6EDF3"/>
                </a:solidFill>
                <a:latin typeface="Courier New" pitchFamily="34" charset="0"/>
                <a:ea typeface="Courier New" pitchFamily="34" charset="-122"/>
                <a:cs typeface="Courier New" pitchFamily="34" charset="-120"/>
              </a:rPr>
              <a:t>], o[</a:t>
            </a:r>
            <a:r>
              <a:rPr lang="en-US" sz="760" dirty="0">
                <a:solidFill>
                  <a:srgbClr val="9ECBFF"/>
                </a:solidFill>
                <a:latin typeface="Courier New" pitchFamily="34" charset="0"/>
                <a:ea typeface="Courier New" pitchFamily="34" charset="-122"/>
                <a:cs typeface="Courier New" pitchFamily="34" charset="-120"/>
              </a:rPr>
              <a:t>'child_in_mempool_after'</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(False, '0x40000001', True, True)</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seen(</a:t>
            </a:r>
            <a:r>
              <a:rPr lang="en-US" sz="760" dirty="0">
                <a:solidFill>
                  <a:srgbClr val="9ECBFF"/>
                </a:solidFill>
                <a:latin typeface="Courier New" pitchFamily="34" charset="0"/>
                <a:ea typeface="Courier New" pitchFamily="34" charset="-122"/>
                <a:cs typeface="Courier New" pitchFamily="34" charset="-120"/>
              </a:rPr>
              <a:t>'bitcoind_help_31.1.txt'</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'transaction reconciliations per BIP 330 (default: 0)'</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True</a:t>
            </a:r>
            <a:endParaRPr lang="en-US" sz="760" dirty="0"/>
          </a:p>
        </p:txBody>
      </p:sp>
      <p:sp>
        <p:nvSpPr>
          <p:cNvPr id="9" name="Text 7"/>
          <p:cNvSpPr txBox="1"/>
          <p:nvPr/>
        </p:nvSpPr>
        <p:spPr>
          <a:xfrm>
            <a:off x="457200" y="34472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688080"/>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657600"/>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2 and 3: wtxid announcements (type 5); a peer with feefilter 5 sat/vB heard of 20.0 sat/vB, not 2.0</a:t>
            </a:r>
            <a:endParaRPr lang="en-US" sz="1000" dirty="0"/>
          </a:p>
        </p:txBody>
      </p:sp>
      <p:sp>
        <p:nvSpPr>
          <p:cNvPr id="12" name="Shape 10"/>
          <p:cNvSpPr/>
          <p:nvPr/>
        </p:nvSpPr>
        <p:spPr>
          <a:xfrm>
            <a:off x="457200" y="3877056"/>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846576"/>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one node held 6 payments, its blocks-only neighbour 0, yet both held the same 107 outputs after a block</a:t>
            </a:r>
            <a:endParaRPr lang="en-US" sz="1000" dirty="0"/>
          </a:p>
        </p:txBody>
      </p:sp>
      <p:sp>
        <p:nvSpPr>
          <p:cNvPr id="14" name="Shape 12"/>
          <p:cNvSpPr/>
          <p:nvPr/>
        </p:nvSpPr>
        <p:spPr>
          <a:xfrm>
            <a:off x="457200" y="406603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4035552"/>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5: the orphan child is refused (False), the node asks for its parent (0x40000001), then both are in</a:t>
            </a:r>
            <a:endParaRPr lang="en-US" sz="1000" dirty="0"/>
          </a:p>
        </p:txBody>
      </p:sp>
      <p:sp>
        <p:nvSpPr>
          <p:cNvPr id="16" name="Text 14"/>
          <p:cNvSpPr txBox="1"/>
          <p:nvPr/>
        </p:nvSpPr>
        <p:spPr>
          <a:xfrm>
            <a:off x="457200" y="4297680"/>
            <a:ext cx="8229600" cy="274320"/>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Erlay; row 6 shows that BIP 330 is off by default, so announcements are still flooded.</a:t>
            </a:r>
            <a:endParaRPr lang="en-US" sz="100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mempool is local; the set of unspent outputs is shared</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Light clients, privacy, transport</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How a phone checks a payment without the chain, what it leaked, and how the wire became private.</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Merkle proof</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Bloom and block filters</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Encrypted transport</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Onion, I2P and CJDNS</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26</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light client verifies with headers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proving a name is in a phone book by showing only the headings on its path</a:t>
            </a:r>
            <a:endParaRPr lang="en-US" sz="1300" dirty="0"/>
          </a:p>
        </p:txBody>
      </p:sp>
      <p:sp>
        <p:nvSpPr>
          <p:cNvPr id="6" name="Shape 4"/>
          <p:cNvSpPr/>
          <p:nvPr/>
        </p:nvSpPr>
        <p:spPr>
          <a:xfrm>
            <a:off x="457200" y="1464564"/>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261872"/>
            <a:ext cx="3931920" cy="533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2: at height 971,499 the headers are 77.7 MB and the chain 775,272 MB: 9,975 times smaller, as the book says</a:t>
            </a:r>
            <a:endParaRPr lang="en-US" sz="1050" dirty="0"/>
          </a:p>
        </p:txBody>
      </p:sp>
      <p:sp>
        <p:nvSpPr>
          <p:cNvPr id="8" name="Shape 6"/>
          <p:cNvSpPr/>
          <p:nvPr/>
        </p:nvSpPr>
        <p:spPr>
          <a:xfrm>
            <a:off x="457200" y="1997964"/>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795272"/>
            <a:ext cx="3931920" cy="533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3: a path of 3 hashes proves one of 5 payments in a block: 215 bytes against a block of 4,448</a:t>
            </a:r>
            <a:endParaRPr lang="en-US" sz="1050" dirty="0"/>
          </a:p>
        </p:txBody>
      </p:sp>
      <p:sp>
        <p:nvSpPr>
          <p:cNvPr id="10" name="Shape 8"/>
          <p:cNvSpPr/>
          <p:nvPr/>
        </p:nvSpPr>
        <p:spPr>
          <a:xfrm>
            <a:off x="457200" y="2531364"/>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2328672"/>
            <a:ext cx="3931920" cy="533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4: an attacker with 10 percent of the power has a 0.0002428 chance after 6 blocks, one with 30 percent 0.1321</a:t>
            </a:r>
            <a:endParaRPr lang="en-US" sz="1050" dirty="0"/>
          </a:p>
        </p:txBody>
      </p:sp>
      <p:graphicFrame>
        <p:nvGraphicFramePr>
          <p:cNvPr id="12" name="Chart 0" descr=""/>
          <p:cNvGraphicFramePr/>
          <p:nvPr/>
        </p:nvGraphicFramePr>
        <p:xfrm>
          <a:off x="4846320" y="1261872"/>
          <a:ext cx="3840480" cy="160020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457200" y="285292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the sizes come from saved data</a:t>
            </a:r>
            <a:endParaRPr lang="en-US" sz="1150" dirty="0"/>
          </a:p>
        </p:txBody>
      </p:sp>
      <p:sp>
        <p:nvSpPr>
          <p:cNvPr id="14" name="Shape 11"/>
          <p:cNvSpPr/>
          <p:nvPr/>
        </p:nvSpPr>
        <p:spPr>
          <a:xfrm>
            <a:off x="457200" y="3127248"/>
            <a:ext cx="8229600" cy="1261872"/>
          </a:xfrm>
          <a:prstGeom prst="roundRect">
            <a:avLst>
              <a:gd name="adj" fmla="val 7246"/>
            </a:avLst>
          </a:prstGeom>
          <a:solidFill>
            <a:srgbClr val="23272E"/>
          </a:solidFill>
          <a:ln w="12700">
            <a:solidFill>
              <a:srgbClr val="23272E"/>
            </a:solidFill>
            <a:prstDash val="solid"/>
          </a:ln>
        </p:spPr>
      </p:sp>
      <p:sp>
        <p:nvSpPr>
          <p:cNvPr id="15" name="Text 12"/>
          <p:cNvSpPr txBox="1"/>
          <p:nvPr/>
        </p:nvSpPr>
        <p:spPr>
          <a:xfrm>
            <a:off x="640080" y="3246120"/>
            <a:ext cx="7863840" cy="1024128"/>
          </a:xfrm>
          <a:prstGeom prst="rect">
            <a:avLst/>
          </a:prstGeom>
          <a:noFill/>
          <a:ln/>
        </p:spPr>
        <p:txBody>
          <a:bodyPr wrap="square" lIns="0" tIns="0" rIns="0" bIns="0" rtlCol="0" anchor="t"/>
          <a:lstStyle/>
          <a:p>
            <a:pPr indent="0" marL="0">
              <a:buNone/>
            </a:pPr>
            <a:r>
              <a:rPr lang="en-US" sz="730" b="1" dirty="0">
                <a:solidFill>
                  <a:srgbClr val="D97A14"/>
                </a:solidFill>
                <a:latin typeface="Courier New" pitchFamily="34" charset="0"/>
                <a:ea typeface="Courier New" pitchFamily="34" charset="-122"/>
                <a:cs typeface="Courier New" pitchFamily="34" charset="-120"/>
              </a:rPr>
              <a:t>&gt;&gt;&gt; </a:t>
            </a:r>
            <a:r>
              <a:rPr lang="en-US" sz="730" dirty="0">
                <a:solidFill>
                  <a:srgbClr val="E6EDF3"/>
                </a:solidFill>
                <a:latin typeface="Courier New" pitchFamily="34" charset="0"/>
                <a:ea typeface="Courier New" pitchFamily="34" charset="-122"/>
                <a:cs typeface="Courier New" pitchFamily="34" charset="-120"/>
              </a:rPr>
              <a:t>s, c = R[</a:t>
            </a:r>
            <a:r>
              <a:rPr lang="en-US" sz="730" dirty="0">
                <a:solidFill>
                  <a:srgbClr val="9ECBFF"/>
                </a:solidFill>
                <a:latin typeface="Courier New" pitchFamily="34" charset="0"/>
                <a:ea typeface="Courier New" pitchFamily="34" charset="-122"/>
                <a:cs typeface="Courier New" pitchFamily="34" charset="-120"/>
              </a:rPr>
              <a:t>'e6_spv'</a:t>
            </a:r>
            <a:r>
              <a:rPr lang="en-US" sz="730" dirty="0">
                <a:solidFill>
                  <a:srgbClr val="E6EDF3"/>
                </a:solidFill>
                <a:latin typeface="Courier New" pitchFamily="34" charset="0"/>
                <a:ea typeface="Courier New" pitchFamily="34" charset="-122"/>
                <a:cs typeface="Courier New" pitchFamily="34" charset="-120"/>
              </a:rPr>
              <a:t>], L.chain_size_ratio()</a:t>
            </a:r>
            <a:endParaRPr lang="en-US" sz="730" dirty="0"/>
          </a:p>
          <a:p>
            <a:pPr indent="0" marL="0">
              <a:buNone/>
            </a:pPr>
            <a:r>
              <a:rPr lang="en-US" sz="730" b="1" dirty="0">
                <a:solidFill>
                  <a:srgbClr val="D97A14"/>
                </a:solidFill>
                <a:latin typeface="Courier New" pitchFamily="34" charset="0"/>
                <a:ea typeface="Courier New" pitchFamily="34" charset="-122"/>
                <a:cs typeface="Courier New" pitchFamily="34" charset="-120"/>
              </a:rPr>
              <a:t>&gt;&gt;&gt; </a:t>
            </a:r>
            <a:r>
              <a:rPr lang="en-US" sz="730" dirty="0">
                <a:solidFill>
                  <a:srgbClr val="E6EDF3"/>
                </a:solidFill>
                <a:latin typeface="Courier New" pitchFamily="34" charset="0"/>
                <a:ea typeface="Courier New" pitchFamily="34" charset="-122"/>
                <a:cs typeface="Courier New" pitchFamily="34" charset="-120"/>
              </a:rPr>
              <a:t>c[</a:t>
            </a:r>
            <a:r>
              <a:rPr lang="en-US" sz="730" dirty="0">
                <a:solidFill>
                  <a:srgbClr val="9ECBFF"/>
                </a:solidFill>
                <a:latin typeface="Courier New" pitchFamily="34" charset="0"/>
                <a:ea typeface="Courier New" pitchFamily="34" charset="-122"/>
                <a:cs typeface="Courier New" pitchFamily="34" charset="-120"/>
              </a:rPr>
              <a:t>'tip_height'</a:t>
            </a:r>
            <a:r>
              <a:rPr lang="en-US" sz="730" dirty="0">
                <a:solidFill>
                  <a:srgbClr val="E6EDF3"/>
                </a:solidFill>
                <a:latin typeface="Courier New" pitchFamily="34" charset="0"/>
                <a:ea typeface="Courier New" pitchFamily="34" charset="-122"/>
                <a:cs typeface="Courier New" pitchFamily="34" charset="-120"/>
              </a:rPr>
              <a:t>], c[</a:t>
            </a:r>
            <a:r>
              <a:rPr lang="en-US" sz="730" dirty="0">
                <a:solidFill>
                  <a:srgbClr val="9ECBFF"/>
                </a:solidFill>
                <a:latin typeface="Courier New" pitchFamily="34" charset="0"/>
                <a:ea typeface="Courier New" pitchFamily="34" charset="-122"/>
                <a:cs typeface="Courier New" pitchFamily="34" charset="-120"/>
              </a:rPr>
              <a:t>'headers_mb'</a:t>
            </a:r>
            <a:r>
              <a:rPr lang="en-US" sz="730" dirty="0">
                <a:solidFill>
                  <a:srgbClr val="E6EDF3"/>
                </a:solidFill>
                <a:latin typeface="Courier New" pitchFamily="34" charset="0"/>
                <a:ea typeface="Courier New" pitchFamily="34" charset="-122"/>
                <a:cs typeface="Courier New" pitchFamily="34" charset="-120"/>
              </a:rPr>
              <a:t>], c[</a:t>
            </a:r>
            <a:r>
              <a:rPr lang="en-US" sz="730" dirty="0">
                <a:solidFill>
                  <a:srgbClr val="9ECBFF"/>
                </a:solidFill>
                <a:latin typeface="Courier New" pitchFamily="34" charset="0"/>
                <a:ea typeface="Courier New" pitchFamily="34" charset="-122"/>
                <a:cs typeface="Courier New" pitchFamily="34" charset="-120"/>
              </a:rPr>
              <a:t>'chain_mb'</a:t>
            </a:r>
            <a:r>
              <a:rPr lang="en-US" sz="730" dirty="0">
                <a:solidFill>
                  <a:srgbClr val="E6EDF3"/>
                </a:solidFill>
                <a:latin typeface="Courier New" pitchFamily="34" charset="0"/>
                <a:ea typeface="Courier New" pitchFamily="34" charset="-122"/>
                <a:cs typeface="Courier New" pitchFamily="34" charset="-120"/>
              </a:rPr>
              <a:t>], c[</a:t>
            </a:r>
            <a:r>
              <a:rPr lang="en-US" sz="730" dirty="0">
                <a:solidFill>
                  <a:srgbClr val="9ECBFF"/>
                </a:solidFill>
                <a:latin typeface="Courier New" pitchFamily="34" charset="0"/>
                <a:ea typeface="Courier New" pitchFamily="34" charset="-122"/>
                <a:cs typeface="Courier New" pitchFamily="34" charset="-120"/>
              </a:rPr>
              <a:t>'ratio'</a:t>
            </a:r>
            <a:r>
              <a:rPr lang="en-US" sz="730" dirty="0">
                <a:solidFill>
                  <a:srgbClr val="E6EDF3"/>
                </a:solidFill>
                <a:latin typeface="Courier New" pitchFamily="34" charset="0"/>
                <a:ea typeface="Courier New" pitchFamily="34" charset="-122"/>
                <a:cs typeface="Courier New" pitchFamily="34" charset="-120"/>
              </a:rPr>
              <a:t>]</a:t>
            </a:r>
            <a:endParaRPr lang="en-US" sz="730" dirty="0"/>
          </a:p>
          <a:p>
            <a:pPr indent="0" marL="0">
              <a:buNone/>
            </a:pPr>
            <a:r>
              <a:rPr lang="en-US" sz="730" dirty="0">
                <a:solidFill>
                  <a:srgbClr val="7EE787"/>
                </a:solidFill>
                <a:latin typeface="Courier New" pitchFamily="34" charset="0"/>
                <a:ea typeface="Courier New" pitchFamily="34" charset="-122"/>
                <a:cs typeface="Courier New" pitchFamily="34" charset="-120"/>
              </a:rPr>
              <a:t>(971499, 77.7, 775273, 9975)</a:t>
            </a:r>
            <a:endParaRPr lang="en-US" sz="730" dirty="0"/>
          </a:p>
          <a:p>
            <a:pPr indent="0" marL="0">
              <a:buNone/>
            </a:pPr>
            <a:r>
              <a:rPr lang="en-US" sz="730" b="1" dirty="0">
                <a:solidFill>
                  <a:srgbClr val="D97A14"/>
                </a:solidFill>
                <a:latin typeface="Courier New" pitchFamily="34" charset="0"/>
                <a:ea typeface="Courier New" pitchFamily="34" charset="-122"/>
                <a:cs typeface="Courier New" pitchFamily="34" charset="-120"/>
              </a:rPr>
              <a:t>&gt;&gt;&gt; </a:t>
            </a:r>
            <a:r>
              <a:rPr lang="en-US" sz="730" dirty="0">
                <a:solidFill>
                  <a:srgbClr val="E6EDF3"/>
                </a:solidFill>
                <a:latin typeface="Courier New" pitchFamily="34" charset="0"/>
                <a:ea typeface="Courier New" pitchFamily="34" charset="-122"/>
                <a:cs typeface="Courier New" pitchFamily="34" charset="-120"/>
              </a:rPr>
              <a:t>s[</a:t>
            </a:r>
            <a:r>
              <a:rPr lang="en-US" sz="730" dirty="0">
                <a:solidFill>
                  <a:srgbClr val="9ECBFF"/>
                </a:solidFill>
                <a:latin typeface="Courier New" pitchFamily="34" charset="0"/>
                <a:ea typeface="Courier New" pitchFamily="34" charset="-122"/>
                <a:cs typeface="Courier New" pitchFamily="34" charset="-120"/>
              </a:rPr>
              <a:t>'path_len'</a:t>
            </a:r>
            <a:r>
              <a:rPr lang="en-US" sz="730" dirty="0">
                <a:solidFill>
                  <a:srgbClr val="E6EDF3"/>
                </a:solidFill>
                <a:latin typeface="Courier New" pitchFamily="34" charset="0"/>
                <a:ea typeface="Courier New" pitchFamily="34" charset="-122"/>
                <a:cs typeface="Courier New" pitchFamily="34" charset="-120"/>
              </a:rPr>
              <a:t>], s[</a:t>
            </a:r>
            <a:r>
              <a:rPr lang="en-US" sz="730" dirty="0">
                <a:solidFill>
                  <a:srgbClr val="9ECBFF"/>
                </a:solidFill>
                <a:latin typeface="Courier New" pitchFamily="34" charset="0"/>
                <a:ea typeface="Courier New" pitchFamily="34" charset="-122"/>
                <a:cs typeface="Courier New" pitchFamily="34" charset="-120"/>
              </a:rPr>
              <a:t>'root_from_path'</a:t>
            </a:r>
            <a:r>
              <a:rPr lang="en-US" sz="730" dirty="0">
                <a:solidFill>
                  <a:srgbClr val="E6EDF3"/>
                </a:solidFill>
                <a:latin typeface="Courier New" pitchFamily="34" charset="0"/>
                <a:ea typeface="Courier New" pitchFamily="34" charset="-122"/>
                <a:cs typeface="Courier New" pitchFamily="34" charset="-120"/>
              </a:rPr>
              <a:t>] == s[</a:t>
            </a:r>
            <a:r>
              <a:rPr lang="en-US" sz="730" dirty="0">
                <a:solidFill>
                  <a:srgbClr val="9ECBFF"/>
                </a:solidFill>
                <a:latin typeface="Courier New" pitchFamily="34" charset="0"/>
                <a:ea typeface="Courier New" pitchFamily="34" charset="-122"/>
                <a:cs typeface="Courier New" pitchFamily="34" charset="-120"/>
              </a:rPr>
              <a:t>'header_root'</a:t>
            </a:r>
            <a:r>
              <a:rPr lang="en-US" sz="730" dirty="0">
                <a:solidFill>
                  <a:srgbClr val="E6EDF3"/>
                </a:solidFill>
                <a:latin typeface="Courier New" pitchFamily="34" charset="0"/>
                <a:ea typeface="Courier New" pitchFamily="34" charset="-122"/>
                <a:cs typeface="Courier New" pitchFamily="34" charset="-120"/>
              </a:rPr>
              <a:t>], s[</a:t>
            </a:r>
            <a:r>
              <a:rPr lang="en-US" sz="730" dirty="0">
                <a:solidFill>
                  <a:srgbClr val="9ECBFF"/>
                </a:solidFill>
                <a:latin typeface="Courier New" pitchFamily="34" charset="0"/>
                <a:ea typeface="Courier New" pitchFamily="34" charset="-122"/>
                <a:cs typeface="Courier New" pitchFamily="34" charset="-120"/>
              </a:rPr>
              <a:t>'block_tx_count'</a:t>
            </a:r>
            <a:r>
              <a:rPr lang="en-US" sz="730" dirty="0">
                <a:solidFill>
                  <a:srgbClr val="E6EDF3"/>
                </a:solidFill>
                <a:latin typeface="Courier New" pitchFamily="34" charset="0"/>
                <a:ea typeface="Courier New" pitchFamily="34" charset="-122"/>
                <a:cs typeface="Courier New" pitchFamily="34" charset="-120"/>
              </a:rPr>
              <a:t>], s[</a:t>
            </a:r>
            <a:r>
              <a:rPr lang="en-US" sz="730" dirty="0">
                <a:solidFill>
                  <a:srgbClr val="9ECBFF"/>
                </a:solidFill>
                <a:latin typeface="Courier New" pitchFamily="34" charset="0"/>
                <a:ea typeface="Courier New" pitchFamily="34" charset="-122"/>
                <a:cs typeface="Courier New" pitchFamily="34" charset="-120"/>
              </a:rPr>
              <a:t>'proof_bytes'</a:t>
            </a:r>
            <a:r>
              <a:rPr lang="en-US" sz="730" dirty="0">
                <a:solidFill>
                  <a:srgbClr val="E6EDF3"/>
                </a:solidFill>
                <a:latin typeface="Courier New" pitchFamily="34" charset="0"/>
                <a:ea typeface="Courier New" pitchFamily="34" charset="-122"/>
                <a:cs typeface="Courier New" pitchFamily="34" charset="-120"/>
              </a:rPr>
              <a:t>], R[</a:t>
            </a:r>
            <a:r>
              <a:rPr lang="en-US" sz="730" dirty="0">
                <a:solidFill>
                  <a:srgbClr val="9ECBFF"/>
                </a:solidFill>
                <a:latin typeface="Courier New" pitchFamily="34" charset="0"/>
                <a:ea typeface="Courier New" pitchFamily="34" charset="-122"/>
                <a:cs typeface="Courier New" pitchFamily="34" charset="-120"/>
              </a:rPr>
              <a:t>'e6_bloom_enabled'</a:t>
            </a:r>
            <a:r>
              <a:rPr lang="en-US" sz="730" dirty="0">
                <a:solidFill>
                  <a:srgbClr val="E6EDF3"/>
                </a:solidFill>
                <a:latin typeface="Courier New" pitchFamily="34" charset="0"/>
                <a:ea typeface="Courier New" pitchFamily="34" charset="-122"/>
                <a:cs typeface="Courier New" pitchFamily="34" charset="-120"/>
              </a:rPr>
              <a:t>][</a:t>
            </a:r>
            <a:r>
              <a:rPr lang="en-US" sz="730" dirty="0">
                <a:solidFill>
                  <a:srgbClr val="9ECBFF"/>
                </a:solidFill>
                <a:latin typeface="Courier New" pitchFamily="34" charset="0"/>
                <a:ea typeface="Courier New" pitchFamily="34" charset="-122"/>
                <a:cs typeface="Courier New" pitchFamily="34" charset="-120"/>
              </a:rPr>
              <a:t>'full_block_bytes'</a:t>
            </a:r>
            <a:r>
              <a:rPr lang="en-US" sz="730" dirty="0">
                <a:solidFill>
                  <a:srgbClr val="E6EDF3"/>
                </a:solidFill>
                <a:latin typeface="Courier New" pitchFamily="34" charset="0"/>
                <a:ea typeface="Courier New" pitchFamily="34" charset="-122"/>
                <a:cs typeface="Courier New" pitchFamily="34" charset="-120"/>
              </a:rPr>
              <a:t>]</a:t>
            </a:r>
            <a:endParaRPr lang="en-US" sz="730" dirty="0"/>
          </a:p>
          <a:p>
            <a:pPr indent="0" marL="0">
              <a:buNone/>
            </a:pPr>
            <a:r>
              <a:rPr lang="en-US" sz="730" dirty="0">
                <a:solidFill>
                  <a:srgbClr val="7EE787"/>
                </a:solidFill>
                <a:latin typeface="Courier New" pitchFamily="34" charset="0"/>
                <a:ea typeface="Courier New" pitchFamily="34" charset="-122"/>
                <a:cs typeface="Courier New" pitchFamily="34" charset="-120"/>
              </a:rPr>
              <a:t>(3, True, 5, 215, 4448)</a:t>
            </a:r>
            <a:endParaRPr lang="en-US" sz="730" dirty="0"/>
          </a:p>
          <a:p>
            <a:pPr indent="0" marL="0">
              <a:buNone/>
            </a:pPr>
            <a:r>
              <a:rPr lang="en-US" sz="730" b="1" dirty="0">
                <a:solidFill>
                  <a:srgbClr val="D97A14"/>
                </a:solidFill>
                <a:latin typeface="Courier New" pitchFamily="34" charset="0"/>
                <a:ea typeface="Courier New" pitchFamily="34" charset="-122"/>
                <a:cs typeface="Courier New" pitchFamily="34" charset="-120"/>
              </a:rPr>
              <a:t>&gt;&gt;&gt; </a:t>
            </a:r>
            <a:r>
              <a:rPr lang="en-US" sz="730" dirty="0">
                <a:solidFill>
                  <a:srgbClr val="E6EDF3"/>
                </a:solidFill>
                <a:latin typeface="Courier New" pitchFamily="34" charset="0"/>
                <a:ea typeface="Courier New" pitchFamily="34" charset="-122"/>
                <a:cs typeface="Courier New" pitchFamily="34" charset="-120"/>
              </a:rPr>
              <a:t>[round(L.double_spend_probability(q, </a:t>
            </a:r>
            <a:r>
              <a:rPr lang="en-US" sz="730" dirty="0">
                <a:solidFill>
                  <a:srgbClr val="FFD28A"/>
                </a:solidFill>
                <a:latin typeface="Courier New" pitchFamily="34" charset="0"/>
                <a:ea typeface="Courier New" pitchFamily="34" charset="-122"/>
                <a:cs typeface="Courier New" pitchFamily="34" charset="-120"/>
              </a:rPr>
              <a:t>6</a:t>
            </a:r>
            <a:r>
              <a:rPr lang="en-US" sz="730" dirty="0">
                <a:solidFill>
                  <a:srgbClr val="E6EDF3"/>
                </a:solidFill>
                <a:latin typeface="Courier New" pitchFamily="34" charset="0"/>
                <a:ea typeface="Courier New" pitchFamily="34" charset="-122"/>
                <a:cs typeface="Courier New" pitchFamily="34" charset="-120"/>
              </a:rPr>
              <a:t>), </a:t>
            </a:r>
            <a:r>
              <a:rPr lang="en-US" sz="730" dirty="0">
                <a:solidFill>
                  <a:srgbClr val="FFD28A"/>
                </a:solidFill>
                <a:latin typeface="Courier New" pitchFamily="34" charset="0"/>
                <a:ea typeface="Courier New" pitchFamily="34" charset="-122"/>
                <a:cs typeface="Courier New" pitchFamily="34" charset="-120"/>
              </a:rPr>
              <a:t>7</a:t>
            </a:r>
            <a:r>
              <a:rPr lang="en-US" sz="730" dirty="0">
                <a:solidFill>
                  <a:srgbClr val="E6EDF3"/>
                </a:solidFill>
                <a:latin typeface="Courier New" pitchFamily="34" charset="0"/>
                <a:ea typeface="Courier New" pitchFamily="34" charset="-122"/>
                <a:cs typeface="Courier New" pitchFamily="34" charset="-120"/>
              </a:rPr>
              <a:t>) </a:t>
            </a:r>
            <a:r>
              <a:rPr lang="en-US" sz="730" b="1" dirty="0">
                <a:solidFill>
                  <a:srgbClr val="F2A860"/>
                </a:solidFill>
                <a:latin typeface="Courier New" pitchFamily="34" charset="0"/>
                <a:ea typeface="Courier New" pitchFamily="34" charset="-122"/>
                <a:cs typeface="Courier New" pitchFamily="34" charset="-120"/>
              </a:rPr>
              <a:t>for</a:t>
            </a:r>
            <a:r>
              <a:rPr lang="en-US" sz="730" dirty="0">
                <a:solidFill>
                  <a:srgbClr val="E6EDF3"/>
                </a:solidFill>
                <a:latin typeface="Courier New" pitchFamily="34" charset="0"/>
                <a:ea typeface="Courier New" pitchFamily="34" charset="-122"/>
                <a:cs typeface="Courier New" pitchFamily="34" charset="-120"/>
              </a:rPr>
              <a:t> q </a:t>
            </a:r>
            <a:r>
              <a:rPr lang="en-US" sz="730" b="1" dirty="0">
                <a:solidFill>
                  <a:srgbClr val="F2A860"/>
                </a:solidFill>
                <a:latin typeface="Courier New" pitchFamily="34" charset="0"/>
                <a:ea typeface="Courier New" pitchFamily="34" charset="-122"/>
                <a:cs typeface="Courier New" pitchFamily="34" charset="-120"/>
              </a:rPr>
              <a:t>in</a:t>
            </a:r>
            <a:r>
              <a:rPr lang="en-US" sz="730" dirty="0">
                <a:solidFill>
                  <a:srgbClr val="E6EDF3"/>
                </a:solidFill>
                <a:latin typeface="Courier New" pitchFamily="34" charset="0"/>
                <a:ea typeface="Courier New" pitchFamily="34" charset="-122"/>
                <a:cs typeface="Courier New" pitchFamily="34" charset="-120"/>
              </a:rPr>
              <a:t> (</a:t>
            </a:r>
            <a:r>
              <a:rPr lang="en-US" sz="730" dirty="0">
                <a:solidFill>
                  <a:srgbClr val="FFD28A"/>
                </a:solidFill>
                <a:latin typeface="Courier New" pitchFamily="34" charset="0"/>
                <a:ea typeface="Courier New" pitchFamily="34" charset="-122"/>
                <a:cs typeface="Courier New" pitchFamily="34" charset="-120"/>
              </a:rPr>
              <a:t>0.1</a:t>
            </a:r>
            <a:r>
              <a:rPr lang="en-US" sz="730" dirty="0">
                <a:solidFill>
                  <a:srgbClr val="E6EDF3"/>
                </a:solidFill>
                <a:latin typeface="Courier New" pitchFamily="34" charset="0"/>
                <a:ea typeface="Courier New" pitchFamily="34" charset="-122"/>
                <a:cs typeface="Courier New" pitchFamily="34" charset="-120"/>
              </a:rPr>
              <a:t>, </a:t>
            </a:r>
            <a:r>
              <a:rPr lang="en-US" sz="730" dirty="0">
                <a:solidFill>
                  <a:srgbClr val="FFD28A"/>
                </a:solidFill>
                <a:latin typeface="Courier New" pitchFamily="34" charset="0"/>
                <a:ea typeface="Courier New" pitchFamily="34" charset="-122"/>
                <a:cs typeface="Courier New" pitchFamily="34" charset="-120"/>
              </a:rPr>
              <a:t>0.3</a:t>
            </a:r>
            <a:r>
              <a:rPr lang="en-US" sz="730" dirty="0">
                <a:solidFill>
                  <a:srgbClr val="E6EDF3"/>
                </a:solidFill>
                <a:latin typeface="Courier New" pitchFamily="34" charset="0"/>
                <a:ea typeface="Courier New" pitchFamily="34" charset="-122"/>
                <a:cs typeface="Courier New" pitchFamily="34" charset="-120"/>
              </a:rPr>
              <a:t>)]</a:t>
            </a:r>
            <a:endParaRPr lang="en-US" sz="730" dirty="0"/>
          </a:p>
          <a:p>
            <a:pPr indent="0" marL="0">
              <a:buNone/>
            </a:pPr>
            <a:r>
              <a:rPr lang="en-US" sz="730" dirty="0">
                <a:solidFill>
                  <a:srgbClr val="7EE787"/>
                </a:solidFill>
                <a:latin typeface="Courier New" pitchFamily="34" charset="0"/>
                <a:ea typeface="Courier New" pitchFamily="34" charset="-122"/>
                <a:cs typeface="Courier New" pitchFamily="34" charset="-120"/>
              </a:rPr>
              <a:t>[0.0002428, 0.1321112]</a:t>
            </a:r>
            <a:endParaRPr lang="en-US" sz="730" dirty="0"/>
          </a:p>
        </p:txBody>
      </p:sp>
      <p:sp>
        <p:nvSpPr>
          <p:cNvPr id="16" name="Text 13"/>
          <p:cNvSpPr txBox="1"/>
          <p:nvPr/>
        </p:nvSpPr>
        <p:spPr>
          <a:xfrm>
            <a:off x="457200" y="44074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7"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Headers and a short Merkle path are enough to check one payment</a:t>
            </a:r>
            <a:endParaRPr lang="en-US" sz="1350" dirty="0"/>
          </a:p>
        </p:txBody>
      </p:sp>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Bloom filters: a fuzzy guest list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guest list that admits a few strangers by mistake but never a listed friend</a:t>
            </a:r>
            <a:endParaRPr lang="en-US" sz="1300" dirty="0"/>
          </a:p>
        </p:txBody>
      </p:sp>
      <p:sp>
        <p:nvSpPr>
          <p:cNvPr id="6" name="Shape 4"/>
          <p:cNvSpPr/>
          <p:nvPr/>
        </p:nvSpPr>
        <p:spPr>
          <a:xfrm>
            <a:off x="457200" y="1161288"/>
            <a:ext cx="1383030" cy="420624"/>
          </a:xfrm>
          <a:prstGeom prst="roundRect">
            <a:avLst>
              <a:gd name="adj" fmla="val 50000"/>
            </a:avLst>
          </a:prstGeom>
          <a:solidFill>
            <a:srgbClr val="F2ECE1"/>
          </a:solidFill>
          <a:ln w="12700">
            <a:solidFill>
              <a:srgbClr val="D97A14"/>
            </a:solidFill>
            <a:prstDash val="solid"/>
          </a:ln>
        </p:spPr>
      </p:sp>
      <p:sp>
        <p:nvSpPr>
          <p:cNvPr id="7" name="Text 5"/>
          <p:cNvSpPr txBox="1"/>
          <p:nvPr/>
        </p:nvSpPr>
        <p:spPr>
          <a:xfrm>
            <a:off x="457200" y="1161288"/>
            <a:ext cx="1383030"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6 bits set</a:t>
            </a:r>
            <a:endParaRPr lang="en-US" sz="950" dirty="0"/>
          </a:p>
        </p:txBody>
      </p:sp>
      <p:sp>
        <p:nvSpPr>
          <p:cNvPr id="8" name="Shape 6"/>
          <p:cNvSpPr/>
          <p:nvPr/>
        </p:nvSpPr>
        <p:spPr>
          <a:xfrm>
            <a:off x="2041398" y="1161288"/>
            <a:ext cx="2581808" cy="420624"/>
          </a:xfrm>
          <a:prstGeom prst="roundRect">
            <a:avLst>
              <a:gd name="adj" fmla="val 50000"/>
            </a:avLst>
          </a:prstGeom>
          <a:solidFill>
            <a:srgbClr val="F2ECE1"/>
          </a:solidFill>
          <a:ln w="12700">
            <a:solidFill>
              <a:srgbClr val="D97A14"/>
            </a:solidFill>
            <a:prstDash val="solid"/>
          </a:ln>
        </p:spPr>
      </p:sp>
      <p:sp>
        <p:nvSpPr>
          <p:cNvPr id="9" name="Text 7"/>
          <p:cNvSpPr txBox="1"/>
          <p:nvPr/>
        </p:nvSpPr>
        <p:spPr>
          <a:xfrm>
            <a:off x="2041398" y="1161288"/>
            <a:ext cx="2581808"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5.3 percent false hits</a:t>
            </a:r>
            <a:endParaRPr lang="en-US" sz="950" dirty="0"/>
          </a:p>
        </p:txBody>
      </p:sp>
      <p:sp>
        <p:nvSpPr>
          <p:cNvPr id="10" name="Shape 8"/>
          <p:cNvSpPr/>
          <p:nvPr/>
        </p:nvSpPr>
        <p:spPr>
          <a:xfrm>
            <a:off x="4824374" y="1161288"/>
            <a:ext cx="2781605" cy="420624"/>
          </a:xfrm>
          <a:prstGeom prst="roundRect">
            <a:avLst>
              <a:gd name="adj" fmla="val 50000"/>
            </a:avLst>
          </a:prstGeom>
          <a:solidFill>
            <a:srgbClr val="F2ECE1"/>
          </a:solidFill>
          <a:ln w="12700">
            <a:solidFill>
              <a:srgbClr val="D97A14"/>
            </a:solidFill>
            <a:prstDash val="solid"/>
          </a:ln>
        </p:spPr>
      </p:sp>
      <p:sp>
        <p:nvSpPr>
          <p:cNvPr id="11" name="Text 9"/>
          <p:cNvSpPr txBox="1"/>
          <p:nvPr/>
        </p:nvSpPr>
        <p:spPr>
          <a:xfrm>
            <a:off x="4824374" y="1161288"/>
            <a:ext cx="2781605"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BLOOM bit off by default</a:t>
            </a:r>
            <a:endParaRPr lang="en-US" sz="950" dirty="0"/>
          </a:p>
        </p:txBody>
      </p:sp>
      <p:sp>
        <p:nvSpPr>
          <p:cNvPr id="12" name="Text 10"/>
          <p:cNvSpPr txBox="1"/>
          <p:nvPr/>
        </p:nvSpPr>
        <p:spPr>
          <a:xfrm>
            <a:off x="457200" y="166420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the BIP 37 vector is published</a:t>
            </a:r>
            <a:endParaRPr lang="en-US" sz="1150" dirty="0"/>
          </a:p>
        </p:txBody>
      </p:sp>
      <p:sp>
        <p:nvSpPr>
          <p:cNvPr id="13" name="Shape 11"/>
          <p:cNvSpPr/>
          <p:nvPr/>
        </p:nvSpPr>
        <p:spPr>
          <a:xfrm>
            <a:off x="457200" y="1938528"/>
            <a:ext cx="8229600" cy="1691640"/>
          </a:xfrm>
          <a:prstGeom prst="roundRect">
            <a:avLst>
              <a:gd name="adj" fmla="val 5405"/>
            </a:avLst>
          </a:prstGeom>
          <a:solidFill>
            <a:srgbClr val="23272E"/>
          </a:solidFill>
          <a:ln w="12700">
            <a:solidFill>
              <a:srgbClr val="23272E"/>
            </a:solidFill>
            <a:prstDash val="solid"/>
          </a:ln>
        </p:spPr>
      </p:sp>
      <p:sp>
        <p:nvSpPr>
          <p:cNvPr id="14" name="Text 12"/>
          <p:cNvSpPr txBox="1"/>
          <p:nvPr/>
        </p:nvSpPr>
        <p:spPr>
          <a:xfrm>
            <a:off x="640080" y="2057400"/>
            <a:ext cx="7863840" cy="1453896"/>
          </a:xfrm>
          <a:prstGeom prst="rect">
            <a:avLst/>
          </a:prstGeom>
          <a:noFill/>
          <a:ln/>
        </p:spPr>
        <p:txBody>
          <a:bodyPr wrap="square" lIns="0" tIns="0" rIns="0" bIns="0" rtlCol="0" anchor="t"/>
          <a:lstStyle/>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r, e = L.toy_bloom_experiment(), R[</a:t>
            </a:r>
            <a:r>
              <a:rPr lang="en-US" sz="770" dirty="0">
                <a:solidFill>
                  <a:srgbClr val="9ECBFF"/>
                </a:solidFill>
                <a:latin typeface="Courier New" pitchFamily="34" charset="0"/>
                <a:ea typeface="Courier New" pitchFamily="34" charset="-122"/>
                <a:cs typeface="Courier New" pitchFamily="34" charset="-120"/>
              </a:rPr>
              <a:t>'e6_bloom_enabled'</a:t>
            </a:r>
            <a:r>
              <a:rPr lang="en-US" sz="770" dirty="0">
                <a:solidFill>
                  <a:srgbClr val="E6EDF3"/>
                </a:solidFill>
                <a:latin typeface="Courier New" pitchFamily="34" charset="0"/>
                <a:ea typeface="Courier New" pitchFamily="34" charset="-122"/>
                <a:cs typeface="Courier New" pitchFamily="34" charset="-120"/>
              </a:rPr>
              <a:t>]</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r[</a:t>
            </a:r>
            <a:r>
              <a:rPr lang="en-US" sz="770" dirty="0">
                <a:solidFill>
                  <a:srgbClr val="9ECBFF"/>
                </a:solidFill>
                <a:latin typeface="Courier New" pitchFamily="34" charset="0"/>
                <a:ea typeface="Courier New" pitchFamily="34" charset="-122"/>
                <a:cs typeface="Courier New" pitchFamily="34" charset="-120"/>
              </a:rPr>
              <a:t>'inserted_ok'</a:t>
            </a:r>
            <a:r>
              <a:rPr lang="en-US" sz="770" dirty="0">
                <a:solidFill>
                  <a:srgbClr val="E6EDF3"/>
                </a:solidFill>
                <a:latin typeface="Courier New" pitchFamily="34" charset="0"/>
                <a:ea typeface="Courier New" pitchFamily="34" charset="-122"/>
                <a:cs typeface="Courier New" pitchFamily="34" charset="-120"/>
              </a:rPr>
              <a:t>], r[</a:t>
            </a:r>
            <a:r>
              <a:rPr lang="en-US" sz="770" dirty="0">
                <a:solidFill>
                  <a:srgbClr val="9ECBFF"/>
                </a:solidFill>
                <a:latin typeface="Courier New" pitchFamily="34" charset="0"/>
                <a:ea typeface="Courier New" pitchFamily="34" charset="-122"/>
                <a:cs typeface="Courier New" pitchFamily="34" charset="-120"/>
              </a:rPr>
              <a:t>'bits_set'</a:t>
            </a:r>
            <a:r>
              <a:rPr lang="en-US" sz="770" dirty="0">
                <a:solidFill>
                  <a:srgbClr val="E6EDF3"/>
                </a:solidFill>
                <a:latin typeface="Courier New" pitchFamily="34" charset="0"/>
                <a:ea typeface="Courier New" pitchFamily="34" charset="-122"/>
                <a:cs typeface="Courier New" pitchFamily="34" charset="-120"/>
              </a:rPr>
              <a:t>], r[</a:t>
            </a:r>
            <a:r>
              <a:rPr lang="en-US" sz="770" dirty="0">
                <a:solidFill>
                  <a:srgbClr val="9ECBFF"/>
                </a:solidFill>
                <a:latin typeface="Courier New" pitchFamily="34" charset="0"/>
                <a:ea typeface="Courier New" pitchFamily="34" charset="-122"/>
                <a:cs typeface="Courier New" pitchFamily="34" charset="-120"/>
              </a:rPr>
              <a:t>'fp_measured'</a:t>
            </a:r>
            <a:r>
              <a:rPr lang="en-US" sz="770" dirty="0">
                <a:solidFill>
                  <a:srgbClr val="E6EDF3"/>
                </a:solidFill>
                <a:latin typeface="Courier New" pitchFamily="34" charset="0"/>
                <a:ea typeface="Courier New" pitchFamily="34" charset="-122"/>
                <a:cs typeface="Courier New" pitchFamily="34" charset="-120"/>
              </a:rPr>
              <a:t>], r[</a:t>
            </a:r>
            <a:r>
              <a:rPr lang="en-US" sz="770" dirty="0">
                <a:solidFill>
                  <a:srgbClr val="9ECBFF"/>
                </a:solidFill>
                <a:latin typeface="Courier New" pitchFamily="34" charset="0"/>
                <a:ea typeface="Courier New" pitchFamily="34" charset="-122"/>
                <a:cs typeface="Courier New" pitchFamily="34" charset="-120"/>
              </a:rPr>
              <a:t>'fp_formula'</a:t>
            </a:r>
            <a:r>
              <a:rPr lang="en-US" sz="770" dirty="0">
                <a:solidFill>
                  <a:srgbClr val="E6EDF3"/>
                </a:solidFill>
                <a:latin typeface="Courier New" pitchFamily="34" charset="0"/>
                <a:ea typeface="Courier New" pitchFamily="34" charset="-122"/>
                <a:cs typeface="Courier New" pitchFamily="34" charset="-120"/>
              </a:rPr>
              <a:t>], r[</a:t>
            </a:r>
            <a:r>
              <a:rPr lang="en-US" sz="770" dirty="0">
                <a:solidFill>
                  <a:srgbClr val="9ECBFF"/>
                </a:solidFill>
                <a:latin typeface="Courier New" pitchFamily="34" charset="0"/>
                <a:ea typeface="Courier New" pitchFamily="34" charset="-122"/>
                <a:cs typeface="Courier New" pitchFamily="34" charset="-120"/>
              </a:rPr>
              <a:t>'maybe_exists'</a:t>
            </a:r>
            <a:r>
              <a:rPr lang="en-US" sz="770" dirty="0">
                <a:solidFill>
                  <a:srgbClr val="E6EDF3"/>
                </a:solidFill>
                <a:latin typeface="Courier New" pitchFamily="34" charset="0"/>
                <a:ea typeface="Courier New" pitchFamily="34" charset="-122"/>
                <a:cs typeface="Courier New" pitchFamily="34" charset="-120"/>
              </a:rPr>
              <a:t>], r[</a:t>
            </a:r>
            <a:r>
              <a:rPr lang="en-US" sz="770" dirty="0">
                <a:solidFill>
                  <a:srgbClr val="9ECBFF"/>
                </a:solidFill>
                <a:latin typeface="Courier New" pitchFamily="34" charset="0"/>
                <a:ea typeface="Courier New" pitchFamily="34" charset="-122"/>
                <a:cs typeface="Courier New" pitchFamily="34" charset="-120"/>
              </a:rPr>
              <a:t>'nope_exists'</a:t>
            </a:r>
            <a:r>
              <a:rPr lang="en-US" sz="770" dirty="0">
                <a:solidFill>
                  <a:srgbClr val="E6EDF3"/>
                </a:solidFill>
                <a:latin typeface="Courier New" pitchFamily="34" charset="0"/>
                <a:ea typeface="Courier New" pitchFamily="34" charset="-122"/>
                <a:cs typeface="Courier New" pitchFamily="34" charset="-120"/>
              </a:rPr>
              <a:t>]</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(True, 6, 0.053, 0.031, True, True)</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L.bloom_bip37_vector(), src(</a:t>
            </a:r>
            <a:r>
              <a:rPr lang="en-US" sz="770" dirty="0">
                <a:solidFill>
                  <a:srgbClr val="9ECBFF"/>
                </a:solidFill>
                <a:latin typeface="Courier New" pitchFamily="34" charset="0"/>
                <a:ea typeface="Courier New" pitchFamily="34" charset="-122"/>
                <a:cs typeface="Courier New" pitchFamily="34" charset="-120"/>
              </a:rPr>
              <a:t>'core_src_common_bloom.h'</a:t>
            </a:r>
            <a:r>
              <a:rPr lang="en-US" sz="770" dirty="0">
                <a:solidFill>
                  <a:srgbClr val="E6EDF3"/>
                </a:solidFill>
                <a:latin typeface="Courier New" pitchFamily="34" charset="0"/>
                <a:ea typeface="Courier New" pitchFamily="34" charset="-122"/>
                <a:cs typeface="Courier New" pitchFamily="34" charset="-120"/>
              </a:rPr>
              <a:t>, </a:t>
            </a:r>
            <a:r>
              <a:rPr lang="en-US" sz="770" dirty="0">
                <a:solidFill>
                  <a:srgbClr val="9ECBFF"/>
                </a:solidFill>
                <a:latin typeface="Courier New" pitchFamily="34" charset="0"/>
                <a:ea typeface="Courier New" pitchFamily="34" charset="-122"/>
                <a:cs typeface="Courier New" pitchFamily="34" charset="-120"/>
              </a:rPr>
              <a:t>'MAX_BLOOM_FILTER_SIZE'</a:t>
            </a:r>
            <a:r>
              <a:rPr lang="en-US" sz="770" dirty="0">
                <a:solidFill>
                  <a:srgbClr val="E6EDF3"/>
                </a:solidFill>
                <a:latin typeface="Courier New" pitchFamily="34" charset="0"/>
                <a:ea typeface="Courier New" pitchFamily="34" charset="-122"/>
                <a:cs typeface="Courier New" pitchFamily="34" charset="-120"/>
              </a:rPr>
              <a:t>), src(</a:t>
            </a:r>
            <a:r>
              <a:rPr lang="en-US" sz="770" dirty="0">
                <a:solidFill>
                  <a:srgbClr val="9ECBFF"/>
                </a:solidFill>
                <a:latin typeface="Courier New" pitchFamily="34" charset="0"/>
                <a:ea typeface="Courier New" pitchFamily="34" charset="-122"/>
                <a:cs typeface="Courier New" pitchFamily="34" charset="-120"/>
              </a:rPr>
              <a:t>'core_src_common_bloom.h'</a:t>
            </a:r>
            <a:r>
              <a:rPr lang="en-US" sz="770" dirty="0">
                <a:solidFill>
                  <a:srgbClr val="E6EDF3"/>
                </a:solidFill>
                <a:latin typeface="Courier New" pitchFamily="34" charset="0"/>
                <a:ea typeface="Courier New" pitchFamily="34" charset="-122"/>
                <a:cs typeface="Courier New" pitchFamily="34" charset="-120"/>
              </a:rPr>
              <a:t>, </a:t>
            </a:r>
            <a:r>
              <a:rPr lang="en-US" sz="770" dirty="0">
                <a:solidFill>
                  <a:srgbClr val="9ECBFF"/>
                </a:solidFill>
                <a:latin typeface="Courier New" pitchFamily="34" charset="0"/>
                <a:ea typeface="Courier New" pitchFamily="34" charset="-122"/>
                <a:cs typeface="Courier New" pitchFamily="34" charset="-120"/>
              </a:rPr>
              <a:t>'MAX_HASH_FUNCS'</a:t>
            </a:r>
            <a:r>
              <a:rPr lang="en-US" sz="770" dirty="0">
                <a:solidFill>
                  <a:srgbClr val="E6EDF3"/>
                </a:solidFill>
                <a:latin typeface="Courier New" pitchFamily="34" charset="0"/>
                <a:ea typeface="Courier New" pitchFamily="34" charset="-122"/>
                <a:cs typeface="Courier New" pitchFamily="34" charset="-120"/>
              </a:rPr>
              <a:t>)</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('03614e9b050000000000000001', '36000', '50')</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len(e[</a:t>
            </a:r>
            <a:r>
              <a:rPr lang="en-US" sz="770" dirty="0">
                <a:solidFill>
                  <a:srgbClr val="9ECBFF"/>
                </a:solidFill>
                <a:latin typeface="Courier New" pitchFamily="34" charset="0"/>
                <a:ea typeface="Courier New" pitchFamily="34" charset="-122"/>
                <a:cs typeface="Courier New" pitchFamily="34" charset="-120"/>
              </a:rPr>
              <a:t>'matched_txids'</a:t>
            </a:r>
            <a:r>
              <a:rPr lang="en-US" sz="770" dirty="0">
                <a:solidFill>
                  <a:srgbClr val="E6EDF3"/>
                </a:solidFill>
                <a:latin typeface="Courier New" pitchFamily="34" charset="0"/>
                <a:ea typeface="Courier New" pitchFamily="34" charset="-122"/>
                <a:cs typeface="Courier New" pitchFamily="34" charset="-120"/>
              </a:rPr>
              <a:t>]), e[</a:t>
            </a:r>
            <a:r>
              <a:rPr lang="en-US" sz="770" dirty="0">
                <a:solidFill>
                  <a:srgbClr val="9ECBFF"/>
                </a:solidFill>
                <a:latin typeface="Courier New" pitchFamily="34" charset="0"/>
                <a:ea typeface="Courier New" pitchFamily="34" charset="-122"/>
                <a:cs typeface="Courier New" pitchFamily="34" charset="-120"/>
              </a:rPr>
              <a:t>'merkleblock_bytes'</a:t>
            </a:r>
            <a:r>
              <a:rPr lang="en-US" sz="770" dirty="0">
                <a:solidFill>
                  <a:srgbClr val="E6EDF3"/>
                </a:solidFill>
                <a:latin typeface="Courier New" pitchFamily="34" charset="0"/>
                <a:ea typeface="Courier New" pitchFamily="34" charset="-122"/>
                <a:cs typeface="Courier New" pitchFamily="34" charset="-120"/>
              </a:rPr>
              <a:t>], e[</a:t>
            </a:r>
            <a:r>
              <a:rPr lang="en-US" sz="770" dirty="0">
                <a:solidFill>
                  <a:srgbClr val="9ECBFF"/>
                </a:solidFill>
                <a:latin typeface="Courier New" pitchFamily="34" charset="0"/>
                <a:ea typeface="Courier New" pitchFamily="34" charset="-122"/>
                <a:cs typeface="Courier New" pitchFamily="34" charset="-120"/>
              </a:rPr>
              <a:t>'full_block_bytes'</a:t>
            </a:r>
            <a:r>
              <a:rPr lang="en-US" sz="770" dirty="0">
                <a:solidFill>
                  <a:srgbClr val="E6EDF3"/>
                </a:solidFill>
                <a:latin typeface="Courier New" pitchFamily="34" charset="0"/>
                <a:ea typeface="Courier New" pitchFamily="34" charset="-122"/>
                <a:cs typeface="Courier New" pitchFamily="34" charset="-120"/>
              </a:rPr>
              <a:t>], e[</a:t>
            </a:r>
            <a:r>
              <a:rPr lang="en-US" sz="770" dirty="0">
                <a:solidFill>
                  <a:srgbClr val="9ECBFF"/>
                </a:solidFill>
                <a:latin typeface="Courier New" pitchFamily="34" charset="0"/>
                <a:ea typeface="Courier New" pitchFamily="34" charset="-122"/>
                <a:cs typeface="Courier New" pitchFamily="34" charset="-120"/>
              </a:rPr>
              <a:t>'block_txs'</a:t>
            </a:r>
            <a:r>
              <a:rPr lang="en-US" sz="770" dirty="0">
                <a:solidFill>
                  <a:srgbClr val="E6EDF3"/>
                </a:solidFill>
                <a:latin typeface="Courier New" pitchFamily="34" charset="0"/>
                <a:ea typeface="Courier New" pitchFamily="34" charset="-122"/>
                <a:cs typeface="Courier New" pitchFamily="34" charset="-120"/>
              </a:rPr>
              <a:t>], e[</a:t>
            </a:r>
            <a:r>
              <a:rPr lang="en-US" sz="770" dirty="0">
                <a:solidFill>
                  <a:srgbClr val="9ECBFF"/>
                </a:solidFill>
                <a:latin typeface="Courier New" pitchFamily="34" charset="0"/>
                <a:ea typeface="Courier New" pitchFamily="34" charset="-122"/>
                <a:cs typeface="Courier New" pitchFamily="34" charset="-120"/>
              </a:rPr>
              <a:t>'filter_bytes'</a:t>
            </a:r>
            <a:r>
              <a:rPr lang="en-US" sz="770" dirty="0">
                <a:solidFill>
                  <a:srgbClr val="E6EDF3"/>
                </a:solidFill>
                <a:latin typeface="Courier New" pitchFamily="34" charset="0"/>
                <a:ea typeface="Courier New" pitchFamily="34" charset="-122"/>
                <a:cs typeface="Courier New" pitchFamily="34" charset="-120"/>
              </a:rPr>
              <a:t>], e[</a:t>
            </a:r>
            <a:r>
              <a:rPr lang="en-US" sz="770" dirty="0">
                <a:solidFill>
                  <a:srgbClr val="9ECBFF"/>
                </a:solidFill>
                <a:latin typeface="Courier New" pitchFamily="34" charset="0"/>
                <a:ea typeface="Courier New" pitchFamily="34" charset="-122"/>
                <a:cs typeface="Courier New" pitchFamily="34" charset="-120"/>
              </a:rPr>
              <a:t>'hash_functions'</a:t>
            </a:r>
            <a:r>
              <a:rPr lang="en-US" sz="770" dirty="0">
                <a:solidFill>
                  <a:srgbClr val="E6EDF3"/>
                </a:solidFill>
                <a:latin typeface="Courier New" pitchFamily="34" charset="0"/>
                <a:ea typeface="Courier New" pitchFamily="34" charset="-122"/>
                <a:cs typeface="Courier New" pitchFamily="34" charset="-120"/>
              </a:rPr>
              <a:t>]</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(1, 215, 4448, 5, 7, 12)</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R[</a:t>
            </a:r>
            <a:r>
              <a:rPr lang="en-US" sz="770" dirty="0">
                <a:solidFill>
                  <a:srgbClr val="9ECBFF"/>
                </a:solidFill>
                <a:latin typeface="Courier New" pitchFamily="34" charset="0"/>
                <a:ea typeface="Courier New" pitchFamily="34" charset="-122"/>
                <a:cs typeface="Courier New" pitchFamily="34" charset="-120"/>
              </a:rPr>
              <a:t>'e6_bloom_default'</a:t>
            </a:r>
            <a:r>
              <a:rPr lang="en-US" sz="770" dirty="0">
                <a:solidFill>
                  <a:srgbClr val="E6EDF3"/>
                </a:solidFill>
                <a:latin typeface="Courier New" pitchFamily="34" charset="0"/>
                <a:ea typeface="Courier New" pitchFamily="34" charset="-122"/>
                <a:cs typeface="Courier New" pitchFamily="34" charset="-120"/>
              </a:rPr>
              <a:t>][</a:t>
            </a:r>
            <a:r>
              <a:rPr lang="en-US" sz="770" dirty="0">
                <a:solidFill>
                  <a:srgbClr val="9ECBFF"/>
                </a:solidFill>
                <a:latin typeface="Courier New" pitchFamily="34" charset="0"/>
                <a:ea typeface="Courier New" pitchFamily="34" charset="-122"/>
                <a:cs typeface="Courier New" pitchFamily="34" charset="-120"/>
              </a:rPr>
              <a:t>'has_bloom_bit'</a:t>
            </a:r>
            <a:r>
              <a:rPr lang="en-US" sz="770" dirty="0">
                <a:solidFill>
                  <a:srgbClr val="E6EDF3"/>
                </a:solidFill>
                <a:latin typeface="Courier New" pitchFamily="34" charset="0"/>
                <a:ea typeface="Courier New" pitchFamily="34" charset="-122"/>
                <a:cs typeface="Courier New" pitchFamily="34" charset="-120"/>
              </a:rPr>
              <a:t>], R[</a:t>
            </a:r>
            <a:r>
              <a:rPr lang="en-US" sz="770" dirty="0">
                <a:solidFill>
                  <a:srgbClr val="9ECBFF"/>
                </a:solidFill>
                <a:latin typeface="Courier New" pitchFamily="34" charset="0"/>
                <a:ea typeface="Courier New" pitchFamily="34" charset="-122"/>
                <a:cs typeface="Courier New" pitchFamily="34" charset="-120"/>
              </a:rPr>
              <a:t>'e6_bloom_default'</a:t>
            </a:r>
            <a:r>
              <a:rPr lang="en-US" sz="770" dirty="0">
                <a:solidFill>
                  <a:srgbClr val="E6EDF3"/>
                </a:solidFill>
                <a:latin typeface="Courier New" pitchFamily="34" charset="0"/>
                <a:ea typeface="Courier New" pitchFamily="34" charset="-122"/>
                <a:cs typeface="Courier New" pitchFamily="34" charset="-120"/>
              </a:rPr>
              <a:t>][</a:t>
            </a:r>
            <a:r>
              <a:rPr lang="en-US" sz="770" dirty="0">
                <a:solidFill>
                  <a:srgbClr val="9ECBFF"/>
                </a:solidFill>
                <a:latin typeface="Courier New" pitchFamily="34" charset="0"/>
                <a:ea typeface="Courier New" pitchFamily="34" charset="-122"/>
                <a:cs typeface="Courier New" pitchFamily="34" charset="-120"/>
              </a:rPr>
              <a:t>'disconnected_after_filterload'</a:t>
            </a:r>
            <a:r>
              <a:rPr lang="en-US" sz="770" dirty="0">
                <a:solidFill>
                  <a:srgbClr val="E6EDF3"/>
                </a:solidFill>
                <a:latin typeface="Courier New" pitchFamily="34" charset="0"/>
                <a:ea typeface="Courier New" pitchFamily="34" charset="-122"/>
                <a:cs typeface="Courier New" pitchFamily="34" charset="-120"/>
              </a:rPr>
              <a:t>], b[</a:t>
            </a:r>
            <a:r>
              <a:rPr lang="en-US" sz="770" dirty="0">
                <a:solidFill>
                  <a:srgbClr val="9ECBFF"/>
                </a:solidFill>
                <a:latin typeface="Courier New" pitchFamily="34" charset="0"/>
                <a:ea typeface="Courier New" pitchFamily="34" charset="-122"/>
                <a:cs typeface="Courier New" pitchFamily="34" charset="-120"/>
              </a:rPr>
              <a:t>'services'</a:t>
            </a:r>
            <a:r>
              <a:rPr lang="en-US" sz="770" dirty="0">
                <a:solidFill>
                  <a:srgbClr val="E6EDF3"/>
                </a:solidFill>
                <a:latin typeface="Courier New" pitchFamily="34" charset="0"/>
                <a:ea typeface="Courier New" pitchFamily="34" charset="-122"/>
                <a:cs typeface="Courier New" pitchFamily="34" charset="-120"/>
              </a:rPr>
              <a:t>][</a:t>
            </a:r>
            <a:r>
              <a:rPr lang="en-US" sz="770" dirty="0">
                <a:solidFill>
                  <a:srgbClr val="9ECBFF"/>
                </a:solidFill>
                <a:latin typeface="Courier New" pitchFamily="34" charset="0"/>
                <a:ea typeface="Courier New" pitchFamily="34" charset="-122"/>
                <a:cs typeface="Courier New" pitchFamily="34" charset="-120"/>
              </a:rPr>
              <a:t>'BLOOM'</a:t>
            </a:r>
            <a:r>
              <a:rPr lang="en-US" sz="770" dirty="0">
                <a:solidFill>
                  <a:srgbClr val="E6EDF3"/>
                </a:solidFill>
                <a:latin typeface="Courier New" pitchFamily="34" charset="0"/>
                <a:ea typeface="Courier New" pitchFamily="34" charset="-122"/>
                <a:cs typeface="Courier New" pitchFamily="34" charset="-120"/>
              </a:rPr>
              <a:t>]</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(False, True, 4308)</a:t>
            </a:r>
            <a:endParaRPr lang="en-US" sz="770" dirty="0"/>
          </a:p>
        </p:txBody>
      </p:sp>
      <p:sp>
        <p:nvSpPr>
          <p:cNvPr id="15" name="Text 13"/>
          <p:cNvSpPr txBox="1"/>
          <p:nvPr/>
        </p:nvSpPr>
        <p:spPr>
          <a:xfrm>
            <a:off x="457200" y="364845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4"/>
          <p:cNvSpPr/>
          <p:nvPr/>
        </p:nvSpPr>
        <p:spPr>
          <a:xfrm>
            <a:off x="457200" y="3971544"/>
            <a:ext cx="128016" cy="128016"/>
          </a:xfrm>
          <a:prstGeom prst="diamond">
            <a:avLst/>
          </a:prstGeom>
          <a:solidFill>
            <a:srgbClr val="D97A14"/>
          </a:solidFill>
          <a:ln w="12700">
            <a:solidFill>
              <a:srgbClr val="D97A14"/>
            </a:solidFill>
            <a:prstDash val="solid"/>
          </a:ln>
        </p:spPr>
      </p:sp>
      <p:sp>
        <p:nvSpPr>
          <p:cNvPr id="17" name="Text 15"/>
          <p:cNvSpPr txBox="1"/>
          <p:nvPr/>
        </p:nvSpPr>
        <p:spPr>
          <a:xfrm>
            <a:off x="731520" y="393192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2 and 3: a toy filter with 6 bits set missed nothing and gave 0.053 false hits; BIP 37's published vector matches ours</a:t>
            </a:r>
            <a:endParaRPr lang="en-US" sz="1000" dirty="0"/>
          </a:p>
        </p:txBody>
      </p:sp>
      <p:sp>
        <p:nvSpPr>
          <p:cNvPr id="18" name="Shape 16"/>
          <p:cNvSpPr/>
          <p:nvPr/>
        </p:nvSpPr>
        <p:spPr>
          <a:xfrm>
            <a:off x="457200" y="4178808"/>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413918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one wallet payment came back as a 215-byte merkleblock instead of a block of 4,448</a:t>
            </a:r>
            <a:endParaRPr lang="en-US" sz="1000" dirty="0"/>
          </a:p>
        </p:txBody>
      </p:sp>
      <p:sp>
        <p:nvSpPr>
          <p:cNvPr id="20" name="Shape 18"/>
          <p:cNvSpPr/>
          <p:nvPr/>
        </p:nvSpPr>
        <p:spPr>
          <a:xfrm>
            <a:off x="457200" y="4386072"/>
            <a:ext cx="128016" cy="128016"/>
          </a:xfrm>
          <a:prstGeom prst="diamond">
            <a:avLst/>
          </a:prstGeom>
          <a:solidFill>
            <a:srgbClr val="D97A14"/>
          </a:solidFill>
          <a:ln w="12700">
            <a:solidFill>
              <a:srgbClr val="D97A14"/>
            </a:solidFill>
            <a:prstDash val="solid"/>
          </a:ln>
        </p:spPr>
      </p:sp>
      <p:sp>
        <p:nvSpPr>
          <p:cNvPr id="21" name="Text 19"/>
          <p:cNvSpPr txBox="1"/>
          <p:nvPr/>
        </p:nvSpPr>
        <p:spPr>
          <a:xfrm>
            <a:off x="731520" y="434644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5: a default node sets no BLOOM bit and hung up on a peer that sent filterload</a:t>
            </a:r>
            <a:endParaRPr lang="en-US" sz="10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Bloom filter says definitely not or probably yes, and it leaked</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filter that told on the wallet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24 October 2012: who, where, when and what to read next</a:t>
            </a:r>
            <a:endParaRPr lang="en-US" sz="1300" dirty="0"/>
          </a:p>
        </p:txBody>
      </p:sp>
      <p:pic>
        <p:nvPicPr>
          <p:cNvPr id="6" name="Image 0" descr="../../03-materials/ch10/assets/photo_bloom_filter_diagram.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Bloom filter diagram - David Eppstein, public domain, Wikimedia Commons</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24 October 2012 BIP 37 is assigned to Mike Hearn and Matt Corallo: a phone sends a Bloom filter of its addresses</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In 2014 Arthur Gervais and colleagues at ETH Zurich show that the filters leak the user's addresses (row 1)</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Core 0.19.0.1 turned the service off: a default node hangs up on it (row 2), but 4,308 of 25,361 nodes still offer it (row 3)</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saved sources and the Core 31.1 record (Recorded)</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seen(</a:t>
            </a:r>
            <a:r>
              <a:rPr lang="en-US" sz="770" dirty="0">
                <a:solidFill>
                  <a:srgbClr val="9ECBFF"/>
                </a:solidFill>
                <a:latin typeface="Courier New" pitchFamily="34" charset="0"/>
                <a:ea typeface="Courier New" pitchFamily="34" charset="-122"/>
                <a:cs typeface="Courier New" pitchFamily="34" charset="-120"/>
              </a:rPr>
              <a:t>'gervais_2014_bloom_privacy.txt'</a:t>
            </a:r>
            <a:r>
              <a:rPr lang="en-US" sz="770" dirty="0">
                <a:solidFill>
                  <a:srgbClr val="E6EDF3"/>
                </a:solidFill>
                <a:latin typeface="Courier New" pitchFamily="34" charset="0"/>
                <a:ea typeface="Courier New" pitchFamily="34" charset="-122"/>
                <a:cs typeface="Courier New" pitchFamily="34" charset="-120"/>
              </a:rPr>
              <a:t>, </a:t>
            </a:r>
            <a:r>
              <a:rPr lang="en-US" sz="770" dirty="0">
                <a:solidFill>
                  <a:srgbClr val="9ECBFF"/>
                </a:solidFill>
                <a:latin typeface="Courier New" pitchFamily="34" charset="0"/>
                <a:ea typeface="Courier New" pitchFamily="34" charset="-122"/>
                <a:cs typeface="Courier New" pitchFamily="34" charset="-120"/>
              </a:rPr>
              <a:t>'leaks considerable information ab'</a:t>
            </a:r>
            <a:r>
              <a:rPr lang="en-US" sz="770" dirty="0">
                <a:solidFill>
                  <a:srgbClr val="E6EDF3"/>
                </a:solidFill>
                <a:latin typeface="Courier New" pitchFamily="34" charset="0"/>
                <a:ea typeface="Courier New" pitchFamily="34" charset="-122"/>
                <a:cs typeface="Courier New" pitchFamily="34" charset="-120"/>
              </a:rPr>
              <a:t>)</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True</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(d := R[</a:t>
            </a:r>
            <a:r>
              <a:rPr lang="en-US" sz="770" dirty="0">
                <a:solidFill>
                  <a:srgbClr val="9ECBFF"/>
                </a:solidFill>
                <a:latin typeface="Courier New" pitchFamily="34" charset="0"/>
                <a:ea typeface="Courier New" pitchFamily="34" charset="-122"/>
                <a:cs typeface="Courier New" pitchFamily="34" charset="-120"/>
              </a:rPr>
              <a:t>'e6_bloom_default'</a:t>
            </a:r>
            <a:r>
              <a:rPr lang="en-US" sz="770" dirty="0">
                <a:solidFill>
                  <a:srgbClr val="E6EDF3"/>
                </a:solidFill>
                <a:latin typeface="Courier New" pitchFamily="34" charset="0"/>
                <a:ea typeface="Courier New" pitchFamily="34" charset="-122"/>
                <a:cs typeface="Courier New" pitchFamily="34" charset="-120"/>
              </a:rPr>
              <a:t>])[</a:t>
            </a:r>
            <a:r>
              <a:rPr lang="en-US" sz="770" dirty="0">
                <a:solidFill>
                  <a:srgbClr val="9ECBFF"/>
                </a:solidFill>
                <a:latin typeface="Courier New" pitchFamily="34" charset="0"/>
                <a:ea typeface="Courier New" pitchFamily="34" charset="-122"/>
                <a:cs typeface="Courier New" pitchFamily="34" charset="-120"/>
              </a:rPr>
              <a:t>'has_bloom_bit'</a:t>
            </a:r>
            <a:r>
              <a:rPr lang="en-US" sz="770" dirty="0">
                <a:solidFill>
                  <a:srgbClr val="E6EDF3"/>
                </a:solidFill>
                <a:latin typeface="Courier New" pitchFamily="34" charset="0"/>
                <a:ea typeface="Courier New" pitchFamily="34" charset="-122"/>
                <a:cs typeface="Courier New" pitchFamily="34" charset="-120"/>
              </a:rPr>
              <a:t>], d[</a:t>
            </a:r>
            <a:r>
              <a:rPr lang="en-US" sz="770" dirty="0">
                <a:solidFill>
                  <a:srgbClr val="9ECBFF"/>
                </a:solidFill>
                <a:latin typeface="Courier New" pitchFamily="34" charset="0"/>
                <a:ea typeface="Courier New" pitchFamily="34" charset="-122"/>
                <a:cs typeface="Courier New" pitchFamily="34" charset="-120"/>
              </a:rPr>
              <a:t>'disconnected_after_filterload'</a:t>
            </a:r>
            <a:r>
              <a:rPr lang="en-US" sz="770" dirty="0">
                <a:solidFill>
                  <a:srgbClr val="E6EDF3"/>
                </a:solidFill>
                <a:latin typeface="Courier New" pitchFamily="34" charset="0"/>
                <a:ea typeface="Courier New" pitchFamily="34" charset="-122"/>
                <a:cs typeface="Courier New" pitchFamily="34" charset="-120"/>
              </a:rPr>
              <a:t>]</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(False, True)</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b[</a:t>
            </a:r>
            <a:r>
              <a:rPr lang="en-US" sz="770" dirty="0">
                <a:solidFill>
                  <a:srgbClr val="9ECBFF"/>
                </a:solidFill>
                <a:latin typeface="Courier New" pitchFamily="34" charset="0"/>
                <a:ea typeface="Courier New" pitchFamily="34" charset="-122"/>
                <a:cs typeface="Courier New" pitchFamily="34" charset="-120"/>
              </a:rPr>
              <a:t>'services'</a:t>
            </a:r>
            <a:r>
              <a:rPr lang="en-US" sz="770" dirty="0">
                <a:solidFill>
                  <a:srgbClr val="E6EDF3"/>
                </a:solidFill>
                <a:latin typeface="Courier New" pitchFamily="34" charset="0"/>
                <a:ea typeface="Courier New" pitchFamily="34" charset="-122"/>
                <a:cs typeface="Courier New" pitchFamily="34" charset="-120"/>
              </a:rPr>
              <a:t>][</a:t>
            </a:r>
            <a:r>
              <a:rPr lang="en-US" sz="770" dirty="0">
                <a:solidFill>
                  <a:srgbClr val="9ECBFF"/>
                </a:solidFill>
                <a:latin typeface="Courier New" pitchFamily="34" charset="0"/>
                <a:ea typeface="Courier New" pitchFamily="34" charset="-122"/>
                <a:cs typeface="Courier New" pitchFamily="34" charset="-120"/>
              </a:rPr>
              <a:t>'BLOOM'</a:t>
            </a:r>
            <a:r>
              <a:rPr lang="en-US" sz="770" dirty="0">
                <a:solidFill>
                  <a:srgbClr val="E6EDF3"/>
                </a:solidFill>
                <a:latin typeface="Courier New" pitchFamily="34" charset="0"/>
                <a:ea typeface="Courier New" pitchFamily="34" charset="-122"/>
                <a:cs typeface="Courier New" pitchFamily="34" charset="-120"/>
              </a:rPr>
              <a:t>], b[</a:t>
            </a:r>
            <a:r>
              <a:rPr lang="en-US" sz="770" dirty="0">
                <a:solidFill>
                  <a:srgbClr val="9ECBFF"/>
                </a:solidFill>
                <a:latin typeface="Courier New" pitchFamily="34" charset="0"/>
                <a:ea typeface="Courier New" pitchFamily="34" charset="-122"/>
                <a:cs typeface="Courier New" pitchFamily="34" charset="-120"/>
              </a:rPr>
              <a:t>'total'</a:t>
            </a:r>
            <a:r>
              <a:rPr lang="en-US" sz="770" dirty="0">
                <a:solidFill>
                  <a:srgbClr val="E6EDF3"/>
                </a:solidFill>
                <a:latin typeface="Courier New" pitchFamily="34" charset="0"/>
                <a:ea typeface="Courier New" pitchFamily="34" charset="-122"/>
                <a:cs typeface="Courier New" pitchFamily="34" charset="-120"/>
              </a:rPr>
              <a:t>]</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(4308, 25361)</a:t>
            </a:r>
            <a:endParaRPr lang="en-US" sz="77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Mike Hearn and Matt Corallo, who wrote…</a:t>
            </a:r>
            <a:endParaRPr lang="en-US" sz="750" dirty="0"/>
          </a:p>
        </p:txBody>
      </p:sp>
      <p:sp>
        <p:nvSpPr>
          <p:cNvPr id="20" name="Shape 17"/>
          <p:cNvSpPr/>
          <p:nvPr/>
        </p:nvSpPr>
        <p:spPr>
          <a:xfrm>
            <a:off x="3016057" y="4224528"/>
            <a:ext cx="2449129"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3107497"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bitcoin/bips repository, the ETH Z…</a:t>
            </a:r>
            <a:endParaRPr lang="en-US" sz="750" dirty="0"/>
          </a:p>
        </p:txBody>
      </p:sp>
      <p:sp>
        <p:nvSpPr>
          <p:cNvPr id="22" name="Shape 19"/>
          <p:cNvSpPr/>
          <p:nvPr/>
        </p:nvSpPr>
        <p:spPr>
          <a:xfrm>
            <a:off x="5574914" y="4224528"/>
            <a:ext cx="134307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5666354" y="422452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2012-10-24</a:t>
            </a:r>
            <a:endParaRPr lang="en-US" sz="750" dirty="0"/>
          </a:p>
        </p:txBody>
      </p:sp>
      <p:sp>
        <p:nvSpPr>
          <p:cNvPr id="24" name="Shape 21"/>
          <p:cNvSpPr/>
          <p:nvPr/>
        </p:nvSpPr>
        <p:spPr>
          <a:xfrm>
            <a:off x="7027713" y="4224528"/>
            <a:ext cx="1659087"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7119153" y="422452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eprint.iacr.org</a:t>
            </a:r>
            <a:endParaRPr lang="en-US" sz="7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26</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Block filters turn the question around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library posting each day's index, so you look yourself up without asking</a:t>
            </a:r>
            <a:endParaRPr lang="en-US" sz="1300" dirty="0"/>
          </a:p>
        </p:txBody>
      </p:sp>
      <p:sp>
        <p:nvSpPr>
          <p:cNvPr id="6" name="Shape 4"/>
          <p:cNvSpPr/>
          <p:nvPr/>
        </p:nvSpPr>
        <p:spPr>
          <a:xfrm>
            <a:off x="457200" y="1161288"/>
            <a:ext cx="2581808" cy="420624"/>
          </a:xfrm>
          <a:prstGeom prst="roundRect">
            <a:avLst>
              <a:gd name="adj" fmla="val 50000"/>
            </a:avLst>
          </a:prstGeom>
          <a:solidFill>
            <a:srgbClr val="F2ECE1"/>
          </a:solidFill>
          <a:ln w="12700">
            <a:solidFill>
              <a:srgbClr val="D97A14"/>
            </a:solidFill>
            <a:prstDash val="solid"/>
          </a:ln>
        </p:spPr>
      </p:sp>
      <p:sp>
        <p:nvSpPr>
          <p:cNvPr id="7" name="Text 5"/>
          <p:cNvSpPr txBox="1"/>
          <p:nvPr/>
        </p:nvSpPr>
        <p:spPr>
          <a:xfrm>
            <a:off x="457200" y="1161288"/>
            <a:ext cx="2581808"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M = 784,931 and P = 19</a:t>
            </a:r>
            <a:endParaRPr lang="en-US" sz="950" dirty="0"/>
          </a:p>
        </p:txBody>
      </p:sp>
      <p:sp>
        <p:nvSpPr>
          <p:cNvPr id="8" name="Shape 6"/>
          <p:cNvSpPr/>
          <p:nvPr/>
        </p:nvSpPr>
        <p:spPr>
          <a:xfrm>
            <a:off x="3240176" y="1161288"/>
            <a:ext cx="2282114" cy="420624"/>
          </a:xfrm>
          <a:prstGeom prst="roundRect">
            <a:avLst>
              <a:gd name="adj" fmla="val 50000"/>
            </a:avLst>
          </a:prstGeom>
          <a:solidFill>
            <a:srgbClr val="F2ECE1"/>
          </a:solidFill>
          <a:ln w="12700">
            <a:solidFill>
              <a:srgbClr val="D97A14"/>
            </a:solidFill>
            <a:prstDash val="solid"/>
          </a:ln>
        </p:spPr>
      </p:sp>
      <p:sp>
        <p:nvSpPr>
          <p:cNvPr id="9" name="Text 7"/>
          <p:cNvSpPr txBox="1"/>
          <p:nvPr/>
        </p:nvSpPr>
        <p:spPr>
          <a:xfrm>
            <a:off x="3240176" y="1161288"/>
            <a:ext cx="2282114"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21 bits per element</a:t>
            </a:r>
            <a:endParaRPr lang="en-US" sz="950" dirty="0"/>
          </a:p>
        </p:txBody>
      </p:sp>
      <p:sp>
        <p:nvSpPr>
          <p:cNvPr id="10" name="Shape 8"/>
          <p:cNvSpPr/>
          <p:nvPr/>
        </p:nvSpPr>
        <p:spPr>
          <a:xfrm>
            <a:off x="5723458" y="1161288"/>
            <a:ext cx="2182216" cy="420624"/>
          </a:xfrm>
          <a:prstGeom prst="roundRect">
            <a:avLst>
              <a:gd name="adj" fmla="val 50000"/>
            </a:avLst>
          </a:prstGeom>
          <a:solidFill>
            <a:srgbClr val="F2ECE1"/>
          </a:solidFill>
          <a:ln w="12700">
            <a:solidFill>
              <a:srgbClr val="D97A14"/>
            </a:solidFill>
            <a:prstDash val="solid"/>
          </a:ln>
        </p:spPr>
      </p:sp>
      <p:sp>
        <p:nvSpPr>
          <p:cNvPr id="11" name="Text 9"/>
          <p:cNvSpPr txBox="1"/>
          <p:nvPr/>
        </p:nvSpPr>
        <p:spPr>
          <a:xfrm>
            <a:off x="5723458" y="1161288"/>
            <a:ext cx="2182216"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OP_RETURN left out</a:t>
            </a:r>
            <a:endParaRPr lang="en-US" sz="950" dirty="0"/>
          </a:p>
        </p:txBody>
      </p:sp>
      <p:sp>
        <p:nvSpPr>
          <p:cNvPr id="12" name="Text 10"/>
          <p:cNvSpPr txBox="1"/>
          <p:nvPr/>
        </p:nvSpPr>
        <p:spPr>
          <a:xfrm>
            <a:off x="457200" y="166420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the BIP 158 vectors are published</a:t>
            </a:r>
            <a:endParaRPr lang="en-US" sz="1150" dirty="0"/>
          </a:p>
        </p:txBody>
      </p:sp>
      <p:sp>
        <p:nvSpPr>
          <p:cNvPr id="13" name="Shape 11"/>
          <p:cNvSpPr/>
          <p:nvPr/>
        </p:nvSpPr>
        <p:spPr>
          <a:xfrm>
            <a:off x="457200" y="1938528"/>
            <a:ext cx="8229600" cy="1691640"/>
          </a:xfrm>
          <a:prstGeom prst="roundRect">
            <a:avLst>
              <a:gd name="adj" fmla="val 5405"/>
            </a:avLst>
          </a:prstGeom>
          <a:solidFill>
            <a:srgbClr val="23272E"/>
          </a:solidFill>
          <a:ln w="12700">
            <a:solidFill>
              <a:srgbClr val="23272E"/>
            </a:solidFill>
            <a:prstDash val="solid"/>
          </a:ln>
        </p:spPr>
      </p:sp>
      <p:sp>
        <p:nvSpPr>
          <p:cNvPr id="14" name="Text 12"/>
          <p:cNvSpPr txBox="1"/>
          <p:nvPr/>
        </p:nvSpPr>
        <p:spPr>
          <a:xfrm>
            <a:off x="640080" y="2057400"/>
            <a:ext cx="7863840" cy="1453896"/>
          </a:xfrm>
          <a:prstGeom prst="rect">
            <a:avLst/>
          </a:prstGeom>
          <a:noFill/>
          <a:ln/>
        </p:spPr>
        <p:txBody>
          <a:bodyPr wrap="square" lIns="0" tIns="0" rIns="0" bIns="0" rtlCol="0" anchor="t"/>
          <a:lstStyle/>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g, r, f = L.gcs_book_example(), L.rice_roundtrip([</a:t>
            </a:r>
            <a:r>
              <a:rPr lang="en-US" sz="780" dirty="0">
                <a:solidFill>
                  <a:srgbClr val="FFD28A"/>
                </a:solidFill>
                <a:latin typeface="Courier New" pitchFamily="34" charset="0"/>
                <a:ea typeface="Courier New" pitchFamily="34" charset="-122"/>
                <a:cs typeface="Courier New" pitchFamily="34" charset="-120"/>
              </a:rPr>
              <a:t>379</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FFD28A"/>
                </a:solidFill>
                <a:latin typeface="Courier New" pitchFamily="34" charset="0"/>
                <a:ea typeface="Courier New" pitchFamily="34" charset="-122"/>
                <a:cs typeface="Courier New" pitchFamily="34" charset="-120"/>
              </a:rPr>
              <a:t>476</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FFD28A"/>
                </a:solidFill>
                <a:latin typeface="Courier New" pitchFamily="34" charset="0"/>
                <a:ea typeface="Courier New" pitchFamily="34" charset="-122"/>
                <a:cs typeface="Courier New" pitchFamily="34" charset="-120"/>
              </a:rPr>
              <a:t>653</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FFD28A"/>
                </a:solidFill>
                <a:latin typeface="Courier New" pitchFamily="34" charset="0"/>
                <a:ea typeface="Courier New" pitchFamily="34" charset="-122"/>
                <a:cs typeface="Courier New" pitchFamily="34" charset="-120"/>
              </a:rPr>
              <a:t>849</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FFD28A"/>
                </a:solidFill>
                <a:latin typeface="Courier New" pitchFamily="34" charset="0"/>
                <a:ea typeface="Courier New" pitchFamily="34" charset="-122"/>
                <a:cs typeface="Courier New" pitchFamily="34" charset="-120"/>
              </a:rPr>
              <a:t>900</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FFD28A"/>
                </a:solidFill>
                <a:latin typeface="Courier New" pitchFamily="34" charset="0"/>
                <a:ea typeface="Courier New" pitchFamily="34" charset="-122"/>
                <a:cs typeface="Courier New" pitchFamily="34" charset="-120"/>
              </a:rPr>
              <a:t>7</a:t>
            </a:r>
            <a:r>
              <a:rPr lang="en-US" sz="780" dirty="0">
                <a:solidFill>
                  <a:srgbClr val="E6EDF3"/>
                </a:solidFill>
                <a:latin typeface="Courier New" pitchFamily="34" charset="0"/>
                <a:ea typeface="Courier New" pitchFamily="34" charset="-122"/>
                <a:cs typeface="Courier New" pitchFamily="34" charset="-120"/>
              </a:rPr>
              <a:t>), R[</a:t>
            </a:r>
            <a:r>
              <a:rPr lang="en-US" sz="780" dirty="0">
                <a:solidFill>
                  <a:srgbClr val="9ECBFF"/>
                </a:solidFill>
                <a:latin typeface="Courier New" pitchFamily="34" charset="0"/>
                <a:ea typeface="Courier New" pitchFamily="34" charset="-122"/>
                <a:cs typeface="Courier New" pitchFamily="34" charset="-120"/>
              </a:rPr>
              <a:t>'e7_filter'</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g[</a:t>
            </a:r>
            <a:r>
              <a:rPr lang="en-US" sz="780" dirty="0">
                <a:solidFill>
                  <a:srgbClr val="9ECBFF"/>
                </a:solidFill>
                <a:latin typeface="Courier New" pitchFamily="34" charset="0"/>
                <a:ea typeface="Courier New" pitchFamily="34" charset="-122"/>
                <a:cs typeface="Courier New" pitchFamily="34" charset="-120"/>
              </a:rPr>
              <a:t>'sorted'</a:t>
            </a:r>
            <a:r>
              <a:rPr lang="en-US" sz="780" dirty="0">
                <a:solidFill>
                  <a:srgbClr val="E6EDF3"/>
                </a:solidFill>
                <a:latin typeface="Courier New" pitchFamily="34" charset="0"/>
                <a:ea typeface="Courier New" pitchFamily="34" charset="-122"/>
                <a:cs typeface="Courier New" pitchFamily="34" charset="-120"/>
              </a:rPr>
              <a:t>], g[</a:t>
            </a:r>
            <a:r>
              <a:rPr lang="en-US" sz="780" dirty="0">
                <a:solidFill>
                  <a:srgbClr val="9ECBFF"/>
                </a:solidFill>
                <a:latin typeface="Courier New" pitchFamily="34" charset="0"/>
                <a:ea typeface="Courier New" pitchFamily="34" charset="-122"/>
                <a:cs typeface="Courier New" pitchFamily="34" charset="-120"/>
              </a:rPr>
              <a:t>'deltas'</a:t>
            </a:r>
            <a:r>
              <a:rPr lang="en-US" sz="780" dirty="0">
                <a:solidFill>
                  <a:srgbClr val="E6EDF3"/>
                </a:solidFill>
                <a:latin typeface="Courier New" pitchFamily="34" charset="0"/>
                <a:ea typeface="Courier New" pitchFamily="34" charset="-122"/>
                <a:cs typeface="Courier New" pitchFamily="34" charset="-120"/>
              </a:rPr>
              <a:t>], g[</a:t>
            </a:r>
            <a:r>
              <a:rPr lang="en-US" sz="780" dirty="0">
                <a:solidFill>
                  <a:srgbClr val="9ECBFF"/>
                </a:solidFill>
                <a:latin typeface="Courier New" pitchFamily="34" charset="0"/>
                <a:ea typeface="Courier New" pitchFamily="34" charset="-122"/>
                <a:cs typeface="Courier New" pitchFamily="34" charset="-120"/>
              </a:rPr>
              <a:t>'equal'</a:t>
            </a:r>
            <a:r>
              <a:rPr lang="en-US" sz="780" dirty="0">
                <a:solidFill>
                  <a:srgbClr val="E6EDF3"/>
                </a:solidFill>
                <a:latin typeface="Courier New" pitchFamily="34" charset="0"/>
                <a:ea typeface="Courier New" pitchFamily="34" charset="-122"/>
                <a:cs typeface="Courier New" pitchFamily="34" charset="-120"/>
              </a:rPr>
              <a:t>], g[</a:t>
            </a:r>
            <a:r>
              <a:rPr lang="en-US" sz="780" dirty="0">
                <a:solidFill>
                  <a:srgbClr val="9ECBFF"/>
                </a:solidFill>
                <a:latin typeface="Courier New" pitchFamily="34" charset="0"/>
                <a:ea typeface="Courier New" pitchFamily="34" charset="-122"/>
                <a:cs typeface="Courier New" pitchFamily="34" charset="-120"/>
              </a:rPr>
              <a:t>'max_bits_original'</a:t>
            </a:r>
            <a:r>
              <a:rPr lang="en-US" sz="780" dirty="0">
                <a:solidFill>
                  <a:srgbClr val="E6EDF3"/>
                </a:solidFill>
                <a:latin typeface="Courier New" pitchFamily="34" charset="0"/>
                <a:ea typeface="Courier New" pitchFamily="34" charset="-122"/>
                <a:cs typeface="Courier New" pitchFamily="34" charset="-120"/>
              </a:rPr>
              <a:t>], g[</a:t>
            </a:r>
            <a:r>
              <a:rPr lang="en-US" sz="780" dirty="0">
                <a:solidFill>
                  <a:srgbClr val="9ECBFF"/>
                </a:solidFill>
                <a:latin typeface="Courier New" pitchFamily="34" charset="0"/>
                <a:ea typeface="Courier New" pitchFamily="34" charset="-122"/>
                <a:cs typeface="Courier New" pitchFamily="34" charset="-120"/>
              </a:rPr>
              <a:t>'max_bits_deltas'</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([379, 476, 653, 849, 900], [379, 97, 177, 196, 51], True, 10, 8)</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r[</a:t>
            </a:r>
            <a:r>
              <a:rPr lang="en-US" sz="780" dirty="0">
                <a:solidFill>
                  <a:srgbClr val="9ECBFF"/>
                </a:solidFill>
                <a:latin typeface="Courier New" pitchFamily="34" charset="0"/>
                <a:ea typeface="Courier New" pitchFamily="34" charset="-122"/>
                <a:cs typeface="Courier New" pitchFamily="34" charset="-120"/>
              </a:rPr>
              <a:t>'decoded'</a:t>
            </a:r>
            <a:r>
              <a:rPr lang="en-US" sz="780" dirty="0">
                <a:solidFill>
                  <a:srgbClr val="E6EDF3"/>
                </a:solidFill>
                <a:latin typeface="Courier New" pitchFamily="34" charset="0"/>
                <a:ea typeface="Courier New" pitchFamily="34" charset="-122"/>
                <a:cs typeface="Courier New" pitchFamily="34" charset="-120"/>
              </a:rPr>
              <a:t>] == [</a:t>
            </a:r>
            <a:r>
              <a:rPr lang="en-US" sz="780" dirty="0">
                <a:solidFill>
                  <a:srgbClr val="FFD28A"/>
                </a:solidFill>
                <a:latin typeface="Courier New" pitchFamily="34" charset="0"/>
                <a:ea typeface="Courier New" pitchFamily="34" charset="-122"/>
                <a:cs typeface="Courier New" pitchFamily="34" charset="-120"/>
              </a:rPr>
              <a:t>379</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FFD28A"/>
                </a:solidFill>
                <a:latin typeface="Courier New" pitchFamily="34" charset="0"/>
                <a:ea typeface="Courier New" pitchFamily="34" charset="-122"/>
                <a:cs typeface="Courier New" pitchFamily="34" charset="-120"/>
              </a:rPr>
              <a:t>476</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FFD28A"/>
                </a:solidFill>
                <a:latin typeface="Courier New" pitchFamily="34" charset="0"/>
                <a:ea typeface="Courier New" pitchFamily="34" charset="-122"/>
                <a:cs typeface="Courier New" pitchFamily="34" charset="-120"/>
              </a:rPr>
              <a:t>653</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FFD28A"/>
                </a:solidFill>
                <a:latin typeface="Courier New" pitchFamily="34" charset="0"/>
                <a:ea typeface="Courier New" pitchFamily="34" charset="-122"/>
                <a:cs typeface="Courier New" pitchFamily="34" charset="-120"/>
              </a:rPr>
              <a:t>849</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FFD28A"/>
                </a:solidFill>
                <a:latin typeface="Courier New" pitchFamily="34" charset="0"/>
                <a:ea typeface="Courier New" pitchFamily="34" charset="-122"/>
                <a:cs typeface="Courier New" pitchFamily="34" charset="-120"/>
              </a:rPr>
              <a:t>900</a:t>
            </a:r>
            <a:r>
              <a:rPr lang="en-US" sz="780" dirty="0">
                <a:solidFill>
                  <a:srgbClr val="E6EDF3"/>
                </a:solidFill>
                <a:latin typeface="Courier New" pitchFamily="34" charset="0"/>
                <a:ea typeface="Courier New" pitchFamily="34" charset="-122"/>
                <a:cs typeface="Courier New" pitchFamily="34" charset="-120"/>
              </a:rPr>
              <a:t>], r[</a:t>
            </a:r>
            <a:r>
              <a:rPr lang="en-US" sz="780" dirty="0">
                <a:solidFill>
                  <a:srgbClr val="9ECBFF"/>
                </a:solidFill>
                <a:latin typeface="Courier New" pitchFamily="34" charset="0"/>
                <a:ea typeface="Courier New" pitchFamily="34" charset="-122"/>
                <a:cs typeface="Courier New" pitchFamily="34" charset="-120"/>
              </a:rPr>
              <a:t>'bits'</a:t>
            </a:r>
            <a:r>
              <a:rPr lang="en-US" sz="780" dirty="0">
                <a:solidFill>
                  <a:srgbClr val="E6EDF3"/>
                </a:solidFill>
                <a:latin typeface="Courier New" pitchFamily="34" charset="0"/>
                <a:ea typeface="Courier New" pitchFamily="34" charset="-122"/>
                <a:cs typeface="Courier New" pitchFamily="34" charset="-120"/>
              </a:rPr>
              <a:t>], r[</a:t>
            </a:r>
            <a:r>
              <a:rPr lang="en-US" sz="780" dirty="0">
                <a:solidFill>
                  <a:srgbClr val="9ECBFF"/>
                </a:solidFill>
                <a:latin typeface="Courier New" pitchFamily="34" charset="0"/>
                <a:ea typeface="Courier New" pitchFamily="34" charset="-122"/>
                <a:cs typeface="Courier New" pitchFamily="34" charset="-120"/>
              </a:rPr>
              <a:t>'fixed_bits'</a:t>
            </a:r>
            <a:r>
              <a:rPr lang="en-US" sz="780" dirty="0">
                <a:solidFill>
                  <a:srgbClr val="E6EDF3"/>
                </a:solidFill>
                <a:latin typeface="Courier New" pitchFamily="34" charset="0"/>
                <a:ea typeface="Courier New" pitchFamily="34" charset="-122"/>
                <a:cs typeface="Courier New" pitchFamily="34" charset="-120"/>
              </a:rPr>
              <a:t>], r[</a:t>
            </a:r>
            <a:r>
              <a:rPr lang="en-US" sz="780" dirty="0">
                <a:solidFill>
                  <a:srgbClr val="9ECBFF"/>
                </a:solidFill>
                <a:latin typeface="Courier New" pitchFamily="34" charset="0"/>
                <a:ea typeface="Courier New" pitchFamily="34" charset="-122"/>
                <a:cs typeface="Courier New" pitchFamily="34" charset="-120"/>
              </a:rPr>
              <a:t>'bytes'</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(True, 44, 50, 6)</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P.GCS_P, P.GCS_M, L.bip158_vectors(), P.siphash_test_vector()</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(19, 784931, (10, 10), 'a129ca6149be45e5')</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f[</a:t>
            </a:r>
            <a:r>
              <a:rPr lang="en-US" sz="780" dirty="0">
                <a:solidFill>
                  <a:srgbClr val="9ECBFF"/>
                </a:solidFill>
                <a:latin typeface="Courier New" pitchFamily="34" charset="0"/>
                <a:ea typeface="Courier New" pitchFamily="34" charset="-122"/>
                <a:cs typeface="Courier New" pitchFamily="34" charset="-120"/>
              </a:rPr>
              <a:t>'my_filter_equal'</a:t>
            </a:r>
            <a:r>
              <a:rPr lang="en-US" sz="780" dirty="0">
                <a:solidFill>
                  <a:srgbClr val="E6EDF3"/>
                </a:solidFill>
                <a:latin typeface="Courier New" pitchFamily="34" charset="0"/>
                <a:ea typeface="Courier New" pitchFamily="34" charset="-122"/>
                <a:cs typeface="Courier New" pitchFamily="34" charset="-120"/>
              </a:rPr>
              <a:t>], f[</a:t>
            </a:r>
            <a:r>
              <a:rPr lang="en-US" sz="780" dirty="0">
                <a:solidFill>
                  <a:srgbClr val="9ECBFF"/>
                </a:solidFill>
                <a:latin typeface="Courier New" pitchFamily="34" charset="0"/>
                <a:ea typeface="Courier New" pitchFamily="34" charset="-122"/>
                <a:cs typeface="Courier New" pitchFamily="34" charset="-120"/>
              </a:rPr>
              <a:t>'my_header_equal'</a:t>
            </a:r>
            <a:r>
              <a:rPr lang="en-US" sz="780" dirty="0">
                <a:solidFill>
                  <a:srgbClr val="E6EDF3"/>
                </a:solidFill>
                <a:latin typeface="Courier New" pitchFamily="34" charset="0"/>
                <a:ea typeface="Courier New" pitchFamily="34" charset="-122"/>
                <a:cs typeface="Courier New" pitchFamily="34" charset="-120"/>
              </a:rPr>
              <a:t>], f[</a:t>
            </a:r>
            <a:r>
              <a:rPr lang="en-US" sz="780" dirty="0">
                <a:solidFill>
                  <a:srgbClr val="9ECBFF"/>
                </a:solidFill>
                <a:latin typeface="Courier New" pitchFamily="34" charset="0"/>
                <a:ea typeface="Courier New" pitchFamily="34" charset="-122"/>
                <a:cs typeface="Courier New" pitchFamily="34" charset="-120"/>
              </a:rPr>
              <a:t>'n_elements'</a:t>
            </a:r>
            <a:r>
              <a:rPr lang="en-US" sz="780" dirty="0">
                <a:solidFill>
                  <a:srgbClr val="E6EDF3"/>
                </a:solidFill>
                <a:latin typeface="Courier New" pitchFamily="34" charset="0"/>
                <a:ea typeface="Courier New" pitchFamily="34" charset="-122"/>
                <a:cs typeface="Courier New" pitchFamily="34" charset="-120"/>
              </a:rPr>
              <a:t>], f[</a:t>
            </a:r>
            <a:r>
              <a:rPr lang="en-US" sz="780" dirty="0">
                <a:solidFill>
                  <a:srgbClr val="9ECBFF"/>
                </a:solidFill>
                <a:latin typeface="Courier New" pitchFamily="34" charset="0"/>
                <a:ea typeface="Courier New" pitchFamily="34" charset="-122"/>
                <a:cs typeface="Courier New" pitchFamily="34" charset="-120"/>
              </a:rPr>
              <a:t>'filter_bytes'</a:t>
            </a:r>
            <a:r>
              <a:rPr lang="en-US" sz="780" dirty="0">
                <a:solidFill>
                  <a:srgbClr val="E6EDF3"/>
                </a:solidFill>
                <a:latin typeface="Courier New" pitchFamily="34" charset="0"/>
                <a:ea typeface="Courier New" pitchFamily="34" charset="-122"/>
                <a:cs typeface="Courier New" pitchFamily="34" charset="-120"/>
              </a:rPr>
              <a:t>], f[</a:t>
            </a:r>
            <a:r>
              <a:rPr lang="en-US" sz="780" dirty="0">
                <a:solidFill>
                  <a:srgbClr val="9ECBFF"/>
                </a:solidFill>
                <a:latin typeface="Courier New" pitchFamily="34" charset="0"/>
                <a:ea typeface="Courier New" pitchFamily="34" charset="-122"/>
                <a:cs typeface="Courier New" pitchFamily="34" charset="-120"/>
              </a:rPr>
              <a:t>'bits_per_element'</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(True, True, 104, 275, 21.15)</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f[</a:t>
            </a:r>
            <a:r>
              <a:rPr lang="en-US" sz="780" dirty="0">
                <a:solidFill>
                  <a:srgbClr val="9ECBFF"/>
                </a:solidFill>
                <a:latin typeface="Courier New" pitchFamily="34" charset="0"/>
                <a:ea typeface="Courier New" pitchFamily="34" charset="-122"/>
                <a:cs typeface="Courier New" pitchFamily="34" charset="-120"/>
              </a:rPr>
              <a:t>'op_return_outputs'</a:t>
            </a:r>
            <a:r>
              <a:rPr lang="en-US" sz="780" dirty="0">
                <a:solidFill>
                  <a:srgbClr val="E6EDF3"/>
                </a:solidFill>
                <a:latin typeface="Courier New" pitchFamily="34" charset="0"/>
                <a:ea typeface="Courier New" pitchFamily="34" charset="-122"/>
                <a:cs typeface="Courier New" pitchFamily="34" charset="-120"/>
              </a:rPr>
              <a:t>], f[</a:t>
            </a:r>
            <a:r>
              <a:rPr lang="en-US" sz="780" dirty="0">
                <a:solidFill>
                  <a:srgbClr val="9ECBFF"/>
                </a:solidFill>
                <a:latin typeface="Courier New" pitchFamily="34" charset="0"/>
                <a:ea typeface="Courier New" pitchFamily="34" charset="-122"/>
                <a:cs typeface="Courier New" pitchFamily="34" charset="-120"/>
              </a:rPr>
              <a:t>'any_op_return_in_filter'</a:t>
            </a:r>
            <a:r>
              <a:rPr lang="en-US" sz="780" dirty="0">
                <a:solidFill>
                  <a:srgbClr val="E6EDF3"/>
                </a:solidFill>
                <a:latin typeface="Courier New" pitchFamily="34" charset="0"/>
                <a:ea typeface="Courier New" pitchFamily="34" charset="-122"/>
                <a:cs typeface="Courier New" pitchFamily="34" charset="-120"/>
              </a:rPr>
              <a:t>], f[</a:t>
            </a:r>
            <a:r>
              <a:rPr lang="en-US" sz="780" dirty="0">
                <a:solidFill>
                  <a:srgbClr val="9ECBFF"/>
                </a:solidFill>
                <a:latin typeface="Courier New" pitchFamily="34" charset="0"/>
                <a:ea typeface="Courier New" pitchFamily="34" charset="-122"/>
                <a:cs typeface="Courier New" pitchFamily="34" charset="-120"/>
              </a:rPr>
              <a:t>'scripts_total'</a:t>
            </a:r>
            <a:r>
              <a:rPr lang="en-US" sz="780" dirty="0">
                <a:solidFill>
                  <a:srgbClr val="E6EDF3"/>
                </a:solidFill>
                <a:latin typeface="Courier New" pitchFamily="34" charset="0"/>
                <a:ea typeface="Courier New" pitchFamily="34" charset="-122"/>
                <a:cs typeface="Courier New" pitchFamily="34" charset="-120"/>
              </a:rPr>
              <a:t>], f[</a:t>
            </a:r>
            <a:r>
              <a:rPr lang="en-US" sz="780" dirty="0">
                <a:solidFill>
                  <a:srgbClr val="9ECBFF"/>
                </a:solidFill>
                <a:latin typeface="Courier New" pitchFamily="34" charset="0"/>
                <a:ea typeface="Courier New" pitchFamily="34" charset="-122"/>
                <a:cs typeface="Courier New" pitchFamily="34" charset="-120"/>
              </a:rPr>
              <a:t>'n_elements'</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(2, False, 144, 104)</a:t>
            </a:r>
            <a:endParaRPr lang="en-US" sz="780" dirty="0"/>
          </a:p>
        </p:txBody>
      </p:sp>
      <p:sp>
        <p:nvSpPr>
          <p:cNvPr id="15" name="Text 13"/>
          <p:cNvSpPr txBox="1"/>
          <p:nvPr/>
        </p:nvSpPr>
        <p:spPr>
          <a:xfrm>
            <a:off x="457200" y="364845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4"/>
          <p:cNvSpPr/>
          <p:nvPr/>
        </p:nvSpPr>
        <p:spPr>
          <a:xfrm>
            <a:off x="457200" y="3971544"/>
            <a:ext cx="128016" cy="128016"/>
          </a:xfrm>
          <a:prstGeom prst="diamond">
            <a:avLst/>
          </a:prstGeom>
          <a:solidFill>
            <a:srgbClr val="D97A14"/>
          </a:solidFill>
          <a:ln w="12700">
            <a:solidFill>
              <a:srgbClr val="D97A14"/>
            </a:solidFill>
            <a:prstDash val="solid"/>
          </a:ln>
        </p:spPr>
      </p:sp>
      <p:sp>
        <p:nvSpPr>
          <p:cNvPr id="17" name="Text 15"/>
          <p:cNvSpPr txBox="1"/>
          <p:nvPr/>
        </p:nvSpPr>
        <p:spPr>
          <a:xfrm>
            <a:off x="731520" y="393192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2 and 3: the gaps 379, 97, 177, 196, 51 fit in 8 bits, not 10; Rice coding stores the five numbers in 44 bits, not 50</a:t>
            </a:r>
            <a:endParaRPr lang="en-US" sz="1000" dirty="0"/>
          </a:p>
        </p:txBody>
      </p:sp>
      <p:sp>
        <p:nvSpPr>
          <p:cNvPr id="18" name="Shape 16"/>
          <p:cNvSpPr/>
          <p:nvPr/>
        </p:nvSpPr>
        <p:spPr>
          <a:xfrm>
            <a:off x="457200" y="4178808"/>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413918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and 5: all 10 published vectors pass; our filter equals the node's, at 21.15 bits per element, not 64</a:t>
            </a:r>
            <a:endParaRPr lang="en-US" sz="1000" dirty="0"/>
          </a:p>
        </p:txBody>
      </p:sp>
      <p:sp>
        <p:nvSpPr>
          <p:cNvPr id="20" name="Shape 18"/>
          <p:cNvSpPr/>
          <p:nvPr/>
        </p:nvSpPr>
        <p:spPr>
          <a:xfrm>
            <a:off x="457200" y="4386072"/>
            <a:ext cx="128016" cy="128016"/>
          </a:xfrm>
          <a:prstGeom prst="diamond">
            <a:avLst/>
          </a:prstGeom>
          <a:solidFill>
            <a:srgbClr val="D97A14"/>
          </a:solidFill>
          <a:ln w="12700">
            <a:solidFill>
              <a:srgbClr val="D97A14"/>
            </a:solidFill>
            <a:prstDash val="solid"/>
          </a:ln>
        </p:spPr>
      </p:sp>
      <p:sp>
        <p:nvSpPr>
          <p:cNvPr id="21" name="Text 19"/>
          <p:cNvSpPr txBox="1"/>
          <p:nvPr/>
        </p:nvSpPr>
        <p:spPr>
          <a:xfrm>
            <a:off x="731520" y="434644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6: the 2 OP_RETURN outputs of the block are not in the filter</a:t>
            </a:r>
            <a:endParaRPr lang="en-US" sz="10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block filter is tested on the client, so nothing is revealed</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An anonymous post turned the filter around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9 May 2016: who, where, when and what to read next</a:t>
            </a:r>
            <a:endParaRPr lang="en-US" sz="1300" dirty="0"/>
          </a:p>
        </p:txBody>
      </p:sp>
      <p:pic>
        <p:nvPicPr>
          <p:cNvPr id="6" name="Image 0" descr="../../03-materials/ch10/assets/photo_solomon_golomb.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Solomon W. Golomb - National Science Foundation, public domain, Commons</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9 May 2016 a developer writing as bfd posts the idea to the bitcoin-dev list: one small filter for each block (row 1)</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Olaoluwa Osuntokun and Alex Akselrod write it as BIP 157 and 158; Lightning Labs builds Neutrino on it</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Core 31.1 node served 3 filters on request, one without the option hung up (row 2); 7,905 nodes offer them (row 3)</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saved sources and the Core 31.1 record (Recorded)</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seen(</a:t>
            </a:r>
            <a:r>
              <a:rPr lang="en-US" sz="800" dirty="0">
                <a:solidFill>
                  <a:srgbClr val="9ECBFF"/>
                </a:solidFill>
                <a:latin typeface="Courier New" pitchFamily="34" charset="0"/>
                <a:ea typeface="Courier New" pitchFamily="34" charset="-122"/>
                <a:cs typeface="Courier New" pitchFamily="34" charset="-120"/>
              </a:rPr>
              <a:t>'ml_bfd_2016-05_committed_bloom.html'</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'Date: Mon, 09 May 2016'</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True</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(w := R[</a:t>
            </a:r>
            <a:r>
              <a:rPr lang="en-US" sz="800" dirty="0">
                <a:solidFill>
                  <a:srgbClr val="9ECBFF"/>
                </a:solidFill>
                <a:latin typeface="Courier New" pitchFamily="34" charset="0"/>
                <a:ea typeface="Courier New" pitchFamily="34" charset="-122"/>
                <a:cs typeface="Courier New" pitchFamily="34" charset="-120"/>
              </a:rPr>
              <a:t>'e7_wire'</a:t>
            </a:r>
            <a:r>
              <a:rPr lang="en-US" sz="800" dirty="0">
                <a:solidFill>
                  <a:srgbClr val="E6EDF3"/>
                </a:solidFill>
                <a:latin typeface="Courier New" pitchFamily="34" charset="0"/>
                <a:ea typeface="Courier New" pitchFamily="34" charset="-122"/>
                <a:cs typeface="Courier New" pitchFamily="34" charset="-120"/>
              </a:rPr>
              <a:t>])[</a:t>
            </a:r>
            <a:r>
              <a:rPr lang="en-US" sz="800" dirty="0">
                <a:solidFill>
                  <a:srgbClr val="9ECBFF"/>
                </a:solidFill>
                <a:latin typeface="Courier New" pitchFamily="34" charset="0"/>
                <a:ea typeface="Courier New" pitchFamily="34" charset="-122"/>
                <a:cs typeface="Courier New" pitchFamily="34" charset="-120"/>
              </a:rPr>
              <a:t>'cfilter_count'</a:t>
            </a:r>
            <a:r>
              <a:rPr lang="en-US" sz="800" dirty="0">
                <a:solidFill>
                  <a:srgbClr val="E6EDF3"/>
                </a:solidFill>
                <a:latin typeface="Courier New" pitchFamily="34" charset="0"/>
                <a:ea typeface="Courier New" pitchFamily="34" charset="-122"/>
                <a:cs typeface="Courier New" pitchFamily="34" charset="-120"/>
              </a:rPr>
              <a:t>], w[</a:t>
            </a:r>
            <a:r>
              <a:rPr lang="en-US" sz="800" dirty="0">
                <a:solidFill>
                  <a:srgbClr val="9ECBFF"/>
                </a:solidFill>
                <a:latin typeface="Courier New" pitchFamily="34" charset="0"/>
                <a:ea typeface="Courier New" pitchFamily="34" charset="-122"/>
                <a:cs typeface="Courier New" pitchFamily="34" charset="-120"/>
              </a:rPr>
              <a:t>'node_without_option'</a:t>
            </a:r>
            <a:r>
              <a:rPr lang="en-US" sz="800" dirty="0">
                <a:solidFill>
                  <a:srgbClr val="E6EDF3"/>
                </a:solidFill>
                <a:latin typeface="Courier New" pitchFamily="34" charset="0"/>
                <a:ea typeface="Courier New" pitchFamily="34" charset="-122"/>
                <a:cs typeface="Courier New" pitchFamily="34" charset="-120"/>
              </a:rPr>
              <a:t>][</a:t>
            </a:r>
            <a:r>
              <a:rPr lang="en-US" sz="800" dirty="0">
                <a:solidFill>
                  <a:srgbClr val="9ECBFF"/>
                </a:solidFill>
                <a:latin typeface="Courier New" pitchFamily="34" charset="0"/>
                <a:ea typeface="Courier New" pitchFamily="34" charset="-122"/>
                <a:cs typeface="Courier New" pitchFamily="34" charset="-120"/>
              </a:rPr>
              <a:t>'disconnected'</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(3, True)</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b[</a:t>
            </a:r>
            <a:r>
              <a:rPr lang="en-US" sz="800" dirty="0">
                <a:solidFill>
                  <a:srgbClr val="9ECBFF"/>
                </a:solidFill>
                <a:latin typeface="Courier New" pitchFamily="34" charset="0"/>
                <a:ea typeface="Courier New" pitchFamily="34" charset="-122"/>
                <a:cs typeface="Courier New" pitchFamily="34" charset="-120"/>
              </a:rPr>
              <a:t>'services'</a:t>
            </a:r>
            <a:r>
              <a:rPr lang="en-US" sz="800" dirty="0">
                <a:solidFill>
                  <a:srgbClr val="E6EDF3"/>
                </a:solidFill>
                <a:latin typeface="Courier New" pitchFamily="34" charset="0"/>
                <a:ea typeface="Courier New" pitchFamily="34" charset="-122"/>
                <a:cs typeface="Courier New" pitchFamily="34" charset="-120"/>
              </a:rPr>
              <a:t>][</a:t>
            </a:r>
            <a:r>
              <a:rPr lang="en-US" sz="800" dirty="0">
                <a:solidFill>
                  <a:srgbClr val="9ECBFF"/>
                </a:solidFill>
                <a:latin typeface="Courier New" pitchFamily="34" charset="0"/>
                <a:ea typeface="Courier New" pitchFamily="34" charset="-122"/>
                <a:cs typeface="Courier New" pitchFamily="34" charset="-120"/>
              </a:rPr>
              <a:t>'COMPACT_FILTERS'</a:t>
            </a:r>
            <a:r>
              <a:rPr lang="en-US" sz="800" dirty="0">
                <a:solidFill>
                  <a:srgbClr val="E6EDF3"/>
                </a:solidFill>
                <a:latin typeface="Courier New" pitchFamily="34" charset="0"/>
                <a:ea typeface="Courier New" pitchFamily="34" charset="-122"/>
                <a:cs typeface="Courier New" pitchFamily="34" charset="-120"/>
              </a:rPr>
              <a:t>], b[</a:t>
            </a:r>
            <a:r>
              <a:rPr lang="en-US" sz="800" dirty="0">
                <a:solidFill>
                  <a:srgbClr val="9ECBFF"/>
                </a:solidFill>
                <a:latin typeface="Courier New" pitchFamily="34" charset="0"/>
                <a:ea typeface="Courier New" pitchFamily="34" charset="-122"/>
                <a:cs typeface="Courier New" pitchFamily="34" charset="-120"/>
              </a:rPr>
              <a:t>'total'</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(7905, 25361)</a:t>
            </a:r>
            <a:endParaRPr lang="en-US" sz="80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an anonymous developer who wrote as bf…</a:t>
            </a:r>
            <a:endParaRPr lang="en-US" sz="750" dirty="0"/>
          </a:p>
        </p:txBody>
      </p:sp>
      <p:sp>
        <p:nvSpPr>
          <p:cNvPr id="20" name="Shape 17"/>
          <p:cNvSpPr/>
          <p:nvPr/>
        </p:nvSpPr>
        <p:spPr>
          <a:xfrm>
            <a:off x="3016057" y="4224528"/>
            <a:ext cx="2449129"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3107497"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bitcoin-dev mailing list, and the …</a:t>
            </a:r>
            <a:endParaRPr lang="en-US" sz="750" dirty="0"/>
          </a:p>
        </p:txBody>
      </p:sp>
      <p:sp>
        <p:nvSpPr>
          <p:cNvPr id="22" name="Shape 19"/>
          <p:cNvSpPr/>
          <p:nvPr/>
        </p:nvSpPr>
        <p:spPr>
          <a:xfrm>
            <a:off x="5574914" y="4224528"/>
            <a:ext cx="134307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5666354" y="422452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2016-05-09</a:t>
            </a:r>
            <a:endParaRPr lang="en-US" sz="750" dirty="0"/>
          </a:p>
        </p:txBody>
      </p:sp>
      <p:sp>
        <p:nvSpPr>
          <p:cNvPr id="24" name="Shape 21"/>
          <p:cNvSpPr/>
          <p:nvPr/>
        </p:nvSpPr>
        <p:spPr>
          <a:xfrm>
            <a:off x="7027713" y="4224528"/>
            <a:ext cx="1659087"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7119153" y="422452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bips.dev</a:t>
            </a:r>
            <a:endParaRPr lang="en-US" sz="750" dirty="0"/>
          </a:p>
        </p:txBody>
      </p:sp>
      <p:sp>
        <p:nvSpPr>
          <p:cNvPr id="26" name="Text 23"/>
          <p:cNvSpPr txBox="1"/>
          <p:nvPr/>
        </p:nvSpPr>
        <p:spPr>
          <a:xfrm>
            <a:off x="457200" y="3858768"/>
            <a:ext cx="2651760" cy="329184"/>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picture: Solomon Golomb, namesake of the coding.</a:t>
            </a:r>
            <a:endParaRPr lang="en-US" sz="90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26</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Transport v2: from postcard to envelope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moving from a postcard that anyone can read to a sealed envelope</a:t>
            </a:r>
            <a:endParaRPr lang="en-US" sz="1300" dirty="0"/>
          </a:p>
        </p:txBody>
      </p:sp>
      <p:sp>
        <p:nvSpPr>
          <p:cNvPr id="6" name="Shape 4"/>
          <p:cNvSpPr/>
          <p:nvPr/>
        </p:nvSpPr>
        <p:spPr>
          <a:xfrm>
            <a:off x="457200" y="1161288"/>
            <a:ext cx="2781605" cy="420624"/>
          </a:xfrm>
          <a:prstGeom prst="roundRect">
            <a:avLst>
              <a:gd name="adj" fmla="val 50000"/>
            </a:avLst>
          </a:prstGeom>
          <a:solidFill>
            <a:srgbClr val="F2ECE1"/>
          </a:solidFill>
          <a:ln w="12700">
            <a:solidFill>
              <a:srgbClr val="D97A14"/>
            </a:solidFill>
            <a:prstDash val="solid"/>
          </a:ln>
        </p:spPr>
      </p:sp>
      <p:sp>
        <p:nvSpPr>
          <p:cNvPr id="7" name="Text 5"/>
          <p:cNvSpPr txBox="1"/>
          <p:nvPr/>
        </p:nvSpPr>
        <p:spPr>
          <a:xfrm>
            <a:off x="457200" y="1161288"/>
            <a:ext cx="2781605"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v1 shows its magic bytes</a:t>
            </a:r>
            <a:endParaRPr lang="en-US" sz="950" dirty="0"/>
          </a:p>
        </p:txBody>
      </p:sp>
      <p:sp>
        <p:nvSpPr>
          <p:cNvPr id="8" name="Shape 6"/>
          <p:cNvSpPr/>
          <p:nvPr/>
        </p:nvSpPr>
        <p:spPr>
          <a:xfrm>
            <a:off x="3439973" y="1161288"/>
            <a:ext cx="1982419" cy="420624"/>
          </a:xfrm>
          <a:prstGeom prst="roundRect">
            <a:avLst>
              <a:gd name="adj" fmla="val 50000"/>
            </a:avLst>
          </a:prstGeom>
          <a:solidFill>
            <a:srgbClr val="F2ECE1"/>
          </a:solidFill>
          <a:ln w="12700">
            <a:solidFill>
              <a:srgbClr val="D97A14"/>
            </a:solidFill>
            <a:prstDash val="solid"/>
          </a:ln>
        </p:spPr>
      </p:sp>
      <p:sp>
        <p:nvSpPr>
          <p:cNvPr id="9" name="Text 7"/>
          <p:cNvSpPr txBox="1"/>
          <p:nvPr/>
        </p:nvSpPr>
        <p:spPr>
          <a:xfrm>
            <a:off x="3439973" y="1161288"/>
            <a:ext cx="1982419"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v2 shows nothing</a:t>
            </a:r>
            <a:endParaRPr lang="en-US" sz="950" dirty="0"/>
          </a:p>
        </p:txBody>
      </p:sp>
      <p:sp>
        <p:nvSpPr>
          <p:cNvPr id="10" name="Shape 8"/>
          <p:cNvSpPr/>
          <p:nvPr/>
        </p:nvSpPr>
        <p:spPr>
          <a:xfrm>
            <a:off x="5623560" y="1161288"/>
            <a:ext cx="2481910" cy="420624"/>
          </a:xfrm>
          <a:prstGeom prst="roundRect">
            <a:avLst>
              <a:gd name="adj" fmla="val 50000"/>
            </a:avLst>
          </a:prstGeom>
          <a:solidFill>
            <a:srgbClr val="F2ECE1"/>
          </a:solidFill>
          <a:ln w="12700">
            <a:solidFill>
              <a:srgbClr val="D97A14"/>
            </a:solidFill>
            <a:prstDash val="solid"/>
          </a:ln>
        </p:spPr>
      </p:sp>
      <p:sp>
        <p:nvSpPr>
          <p:cNvPr id="11" name="Text 9"/>
          <p:cNvSpPr txBox="1"/>
          <p:nvPr/>
        </p:nvSpPr>
        <p:spPr>
          <a:xfrm>
            <a:off x="5623560" y="1161288"/>
            <a:ext cx="2481910"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85.8 percent offer v2</a:t>
            </a:r>
            <a:endParaRPr lang="en-US" sz="950" dirty="0"/>
          </a:p>
        </p:txBody>
      </p:sp>
      <p:sp>
        <p:nvSpPr>
          <p:cNvPr id="12" name="Text 10"/>
          <p:cNvSpPr txBox="1"/>
          <p:nvPr/>
        </p:nvSpPr>
        <p:spPr>
          <a:xfrm>
            <a:off x="457200" y="166420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a:t>
            </a:r>
            <a:endParaRPr lang="en-US" sz="1150" dirty="0"/>
          </a:p>
        </p:txBody>
      </p:sp>
      <p:sp>
        <p:nvSpPr>
          <p:cNvPr id="13" name="Shape 11"/>
          <p:cNvSpPr/>
          <p:nvPr/>
        </p:nvSpPr>
        <p:spPr>
          <a:xfrm>
            <a:off x="457200" y="1938528"/>
            <a:ext cx="8229600" cy="1691640"/>
          </a:xfrm>
          <a:prstGeom prst="roundRect">
            <a:avLst>
              <a:gd name="adj" fmla="val 5405"/>
            </a:avLst>
          </a:prstGeom>
          <a:solidFill>
            <a:srgbClr val="23272E"/>
          </a:solidFill>
          <a:ln w="12700">
            <a:solidFill>
              <a:srgbClr val="23272E"/>
            </a:solidFill>
            <a:prstDash val="solid"/>
          </a:ln>
        </p:spPr>
      </p:sp>
      <p:sp>
        <p:nvSpPr>
          <p:cNvPr id="14" name="Text 12"/>
          <p:cNvSpPr txBox="1"/>
          <p:nvPr/>
        </p:nvSpPr>
        <p:spPr>
          <a:xfrm>
            <a:off x="640080" y="2057400"/>
            <a:ext cx="7863840" cy="1453896"/>
          </a:xfrm>
          <a:prstGeom prst="rect">
            <a:avLst/>
          </a:prstGeom>
          <a:noFill/>
          <a:ln/>
        </p:spPr>
        <p:txBody>
          <a:bodyPr wrap="square" lIns="0" tIns="0" rIns="0" bIns="0" rtlCol="0" anchor="t"/>
          <a:lstStyle/>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v1, v2 = R[</a:t>
            </a:r>
            <a:r>
              <a:rPr lang="en-US" sz="780" dirty="0">
                <a:solidFill>
                  <a:srgbClr val="9ECBFF"/>
                </a:solidFill>
                <a:latin typeface="Courier New" pitchFamily="34" charset="0"/>
                <a:ea typeface="Courier New" pitchFamily="34" charset="-122"/>
                <a:cs typeface="Courier New" pitchFamily="34" charset="-120"/>
              </a:rPr>
              <a:t>'e8_transport'</a:t>
            </a:r>
            <a:r>
              <a:rPr lang="en-US" sz="780" dirty="0">
                <a:solidFill>
                  <a:srgbClr val="E6EDF3"/>
                </a:solidFill>
                <a:latin typeface="Courier New" pitchFamily="34" charset="0"/>
                <a:ea typeface="Courier New" pitchFamily="34" charset="-122"/>
                <a:cs typeface="Courier New" pitchFamily="34" charset="-120"/>
              </a:rPr>
              <a:t>][</a:t>
            </a:r>
            <a:r>
              <a:rPr lang="en-US" sz="780" dirty="0">
                <a:solidFill>
                  <a:srgbClr val="9ECBFF"/>
                </a:solidFill>
                <a:latin typeface="Courier New" pitchFamily="34" charset="0"/>
                <a:ea typeface="Courier New" pitchFamily="34" charset="-122"/>
                <a:cs typeface="Courier New" pitchFamily="34" charset="-120"/>
              </a:rPr>
              <a:t>'v1'</a:t>
            </a:r>
            <a:r>
              <a:rPr lang="en-US" sz="780" dirty="0">
                <a:solidFill>
                  <a:srgbClr val="E6EDF3"/>
                </a:solidFill>
                <a:latin typeface="Courier New" pitchFamily="34" charset="0"/>
                <a:ea typeface="Courier New" pitchFamily="34" charset="-122"/>
                <a:cs typeface="Courier New" pitchFamily="34" charset="-120"/>
              </a:rPr>
              <a:t>], R[</a:t>
            </a:r>
            <a:r>
              <a:rPr lang="en-US" sz="780" dirty="0">
                <a:solidFill>
                  <a:srgbClr val="9ECBFF"/>
                </a:solidFill>
                <a:latin typeface="Courier New" pitchFamily="34" charset="0"/>
                <a:ea typeface="Courier New" pitchFamily="34" charset="-122"/>
                <a:cs typeface="Courier New" pitchFamily="34" charset="-120"/>
              </a:rPr>
              <a:t>'e8_transport'</a:t>
            </a:r>
            <a:r>
              <a:rPr lang="en-US" sz="780" dirty="0">
                <a:solidFill>
                  <a:srgbClr val="E6EDF3"/>
                </a:solidFill>
                <a:latin typeface="Courier New" pitchFamily="34" charset="0"/>
                <a:ea typeface="Courier New" pitchFamily="34" charset="-122"/>
                <a:cs typeface="Courier New" pitchFamily="34" charset="-120"/>
              </a:rPr>
              <a:t>][</a:t>
            </a:r>
            <a:r>
              <a:rPr lang="en-US" sz="780" dirty="0">
                <a:solidFill>
                  <a:srgbClr val="9ECBFF"/>
                </a:solidFill>
                <a:latin typeface="Courier New" pitchFamily="34" charset="0"/>
                <a:ea typeface="Courier New" pitchFamily="34" charset="-122"/>
                <a:cs typeface="Courier New" pitchFamily="34" charset="-120"/>
              </a:rPr>
              <a:t>'v2'</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v1[</a:t>
            </a:r>
            <a:r>
              <a:rPr lang="en-US" sz="780" dirty="0">
                <a:solidFill>
                  <a:srgbClr val="9ECBFF"/>
                </a:solidFill>
                <a:latin typeface="Courier New" pitchFamily="34" charset="0"/>
                <a:ea typeface="Courier New" pitchFamily="34" charset="-122"/>
                <a:cs typeface="Courier New" pitchFamily="34" charset="-120"/>
              </a:rPr>
              <a:t>'transport_a'</a:t>
            </a:r>
            <a:r>
              <a:rPr lang="en-US" sz="780" dirty="0">
                <a:solidFill>
                  <a:srgbClr val="E6EDF3"/>
                </a:solidFill>
                <a:latin typeface="Courier New" pitchFamily="34" charset="0"/>
                <a:ea typeface="Courier New" pitchFamily="34" charset="-122"/>
                <a:cs typeface="Courier New" pitchFamily="34" charset="-120"/>
              </a:rPr>
              <a:t>], v1[</a:t>
            </a:r>
            <a:r>
              <a:rPr lang="en-US" sz="780" dirty="0">
                <a:solidFill>
                  <a:srgbClr val="9ECBFF"/>
                </a:solidFill>
                <a:latin typeface="Courier New" pitchFamily="34" charset="0"/>
                <a:ea typeface="Courier New" pitchFamily="34" charset="-122"/>
                <a:cs typeface="Courier New" pitchFamily="34" charset="-120"/>
              </a:rPr>
              <a:t>'contains_magic'</a:t>
            </a:r>
            <a:r>
              <a:rPr lang="en-US" sz="780" dirty="0">
                <a:solidFill>
                  <a:srgbClr val="E6EDF3"/>
                </a:solidFill>
                <a:latin typeface="Courier New" pitchFamily="34" charset="0"/>
                <a:ea typeface="Courier New" pitchFamily="34" charset="-122"/>
                <a:cs typeface="Courier New" pitchFamily="34" charset="-120"/>
              </a:rPr>
              <a:t>], v1[</a:t>
            </a:r>
            <a:r>
              <a:rPr lang="en-US" sz="780" dirty="0">
                <a:solidFill>
                  <a:srgbClr val="9ECBFF"/>
                </a:solidFill>
                <a:latin typeface="Courier New" pitchFamily="34" charset="0"/>
                <a:ea typeface="Courier New" pitchFamily="34" charset="-122"/>
                <a:cs typeface="Courier New" pitchFamily="34" charset="-120"/>
              </a:rPr>
              <a:t>'contains_version_command'</a:t>
            </a:r>
            <a:r>
              <a:rPr lang="en-US" sz="780" dirty="0">
                <a:solidFill>
                  <a:srgbClr val="E6EDF3"/>
                </a:solidFill>
                <a:latin typeface="Courier New" pitchFamily="34" charset="0"/>
                <a:ea typeface="Courier New" pitchFamily="34" charset="-122"/>
                <a:cs typeface="Courier New" pitchFamily="34" charset="-120"/>
              </a:rPr>
              <a:t>], v1[</a:t>
            </a:r>
            <a:r>
              <a:rPr lang="en-US" sz="780" dirty="0">
                <a:solidFill>
                  <a:srgbClr val="9ECBFF"/>
                </a:solidFill>
                <a:latin typeface="Courier New" pitchFamily="34" charset="0"/>
                <a:ea typeface="Courier New" pitchFamily="34" charset="-122"/>
                <a:cs typeface="Courier New" pitchFamily="34" charset="-120"/>
              </a:rPr>
              <a:t>'first_bytes_a_to_b'</a:t>
            </a:r>
            <a:r>
              <a:rPr lang="en-US" sz="780" dirty="0">
                <a:solidFill>
                  <a:srgbClr val="E6EDF3"/>
                </a:solidFill>
                <a:latin typeface="Courier New" pitchFamily="34" charset="0"/>
                <a:ea typeface="Courier New" pitchFamily="34" charset="-122"/>
                <a:cs typeface="Courier New" pitchFamily="34" charset="-120"/>
              </a:rPr>
              <a:t>][:</a:t>
            </a:r>
            <a:r>
              <a:rPr lang="en-US" sz="780" dirty="0">
                <a:solidFill>
                  <a:srgbClr val="FFD28A"/>
                </a:solidFill>
                <a:latin typeface="Courier New" pitchFamily="34" charset="0"/>
                <a:ea typeface="Courier New" pitchFamily="34" charset="-122"/>
                <a:cs typeface="Courier New" pitchFamily="34" charset="-120"/>
              </a:rPr>
              <a:t>8</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('v1', True, True, 'fabfb5da')</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v2[</a:t>
            </a:r>
            <a:r>
              <a:rPr lang="en-US" sz="780" dirty="0">
                <a:solidFill>
                  <a:srgbClr val="9ECBFF"/>
                </a:solidFill>
                <a:latin typeface="Courier New" pitchFamily="34" charset="0"/>
                <a:ea typeface="Courier New" pitchFamily="34" charset="-122"/>
                <a:cs typeface="Courier New" pitchFamily="34" charset="-120"/>
              </a:rPr>
              <a:t>'transport_a'</a:t>
            </a:r>
            <a:r>
              <a:rPr lang="en-US" sz="780" dirty="0">
                <a:solidFill>
                  <a:srgbClr val="E6EDF3"/>
                </a:solidFill>
                <a:latin typeface="Courier New" pitchFamily="34" charset="0"/>
                <a:ea typeface="Courier New" pitchFamily="34" charset="-122"/>
                <a:cs typeface="Courier New" pitchFamily="34" charset="-120"/>
              </a:rPr>
              <a:t>], v2[</a:t>
            </a:r>
            <a:r>
              <a:rPr lang="en-US" sz="780" dirty="0">
                <a:solidFill>
                  <a:srgbClr val="9ECBFF"/>
                </a:solidFill>
                <a:latin typeface="Courier New" pitchFamily="34" charset="0"/>
                <a:ea typeface="Courier New" pitchFamily="34" charset="-122"/>
                <a:cs typeface="Courier New" pitchFamily="34" charset="-120"/>
              </a:rPr>
              <a:t>'contains_magic'</a:t>
            </a:r>
            <a:r>
              <a:rPr lang="en-US" sz="780" dirty="0">
                <a:solidFill>
                  <a:srgbClr val="E6EDF3"/>
                </a:solidFill>
                <a:latin typeface="Courier New" pitchFamily="34" charset="0"/>
                <a:ea typeface="Courier New" pitchFamily="34" charset="-122"/>
                <a:cs typeface="Courier New" pitchFamily="34" charset="-120"/>
              </a:rPr>
              <a:t>], v2[</a:t>
            </a:r>
            <a:r>
              <a:rPr lang="en-US" sz="780" dirty="0">
                <a:solidFill>
                  <a:srgbClr val="9ECBFF"/>
                </a:solidFill>
                <a:latin typeface="Courier New" pitchFamily="34" charset="0"/>
                <a:ea typeface="Courier New" pitchFamily="34" charset="-122"/>
                <a:cs typeface="Courier New" pitchFamily="34" charset="-120"/>
              </a:rPr>
              <a:t>'contains_version_command'</a:t>
            </a:r>
            <a:r>
              <a:rPr lang="en-US" sz="780" dirty="0">
                <a:solidFill>
                  <a:srgbClr val="E6EDF3"/>
                </a:solidFill>
                <a:latin typeface="Courier New" pitchFamily="34" charset="0"/>
                <a:ea typeface="Courier New" pitchFamily="34" charset="-122"/>
                <a:cs typeface="Courier New" pitchFamily="34" charset="-120"/>
              </a:rPr>
              <a:t>], v2[</a:t>
            </a:r>
            <a:r>
              <a:rPr lang="en-US" sz="780" dirty="0">
                <a:solidFill>
                  <a:srgbClr val="9ECBFF"/>
                </a:solidFill>
                <a:latin typeface="Courier New" pitchFamily="34" charset="0"/>
                <a:ea typeface="Courier New" pitchFamily="34" charset="-122"/>
                <a:cs typeface="Courier New" pitchFamily="34" charset="-120"/>
              </a:rPr>
              <a:t>'entropy_first_4096'</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('v2', False, False, 7.953)</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v2[</a:t>
            </a:r>
            <a:r>
              <a:rPr lang="en-US" sz="780" dirty="0">
                <a:solidFill>
                  <a:srgbClr val="9ECBFF"/>
                </a:solidFill>
                <a:latin typeface="Courier New" pitchFamily="34" charset="0"/>
                <a:ea typeface="Courier New" pitchFamily="34" charset="-122"/>
                <a:cs typeface="Courier New" pitchFamily="34" charset="-120"/>
              </a:rPr>
              <a:t>'session_id_a'</a:t>
            </a:r>
            <a:r>
              <a:rPr lang="en-US" sz="780" dirty="0">
                <a:solidFill>
                  <a:srgbClr val="E6EDF3"/>
                </a:solidFill>
                <a:latin typeface="Courier New" pitchFamily="34" charset="0"/>
                <a:ea typeface="Courier New" pitchFamily="34" charset="-122"/>
                <a:cs typeface="Courier New" pitchFamily="34" charset="-120"/>
              </a:rPr>
              <a:t>] == v2[</a:t>
            </a:r>
            <a:r>
              <a:rPr lang="en-US" sz="780" dirty="0">
                <a:solidFill>
                  <a:srgbClr val="9ECBFF"/>
                </a:solidFill>
                <a:latin typeface="Courier New" pitchFamily="34" charset="0"/>
                <a:ea typeface="Courier New" pitchFamily="34" charset="-122"/>
                <a:cs typeface="Courier New" pitchFamily="34" charset="-120"/>
              </a:rPr>
              <a:t>'session_id_n'</a:t>
            </a:r>
            <a:r>
              <a:rPr lang="en-US" sz="780" dirty="0">
                <a:solidFill>
                  <a:srgbClr val="E6EDF3"/>
                </a:solidFill>
                <a:latin typeface="Courier New" pitchFamily="34" charset="0"/>
                <a:ea typeface="Courier New" pitchFamily="34" charset="-122"/>
                <a:cs typeface="Courier New" pitchFamily="34" charset="-120"/>
              </a:rPr>
              <a:t>], len(v2[</a:t>
            </a:r>
            <a:r>
              <a:rPr lang="en-US" sz="780" dirty="0">
                <a:solidFill>
                  <a:srgbClr val="9ECBFF"/>
                </a:solidFill>
                <a:latin typeface="Courier New" pitchFamily="34" charset="0"/>
                <a:ea typeface="Courier New" pitchFamily="34" charset="-122"/>
                <a:cs typeface="Courier New" pitchFamily="34" charset="-120"/>
              </a:rPr>
              <a:t>'session_id_a'</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(True, 64)</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src(</a:t>
            </a:r>
            <a:r>
              <a:rPr lang="en-US" sz="780" dirty="0">
                <a:solidFill>
                  <a:srgbClr val="9ECBFF"/>
                </a:solidFill>
                <a:latin typeface="Courier New" pitchFamily="34" charset="0"/>
                <a:ea typeface="Courier New" pitchFamily="34" charset="-122"/>
                <a:cs typeface="Courier New" pitchFamily="34" charset="-120"/>
              </a:rPr>
              <a:t>'core_src_net.h'</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'DEFAULT_V2_TRANSPORT'</a:t>
            </a:r>
            <a:r>
              <a:rPr lang="en-US" sz="780" dirty="0">
                <a:solidFill>
                  <a:srgbClr val="E6EDF3"/>
                </a:solidFill>
                <a:latin typeface="Courier New" pitchFamily="34" charset="0"/>
                <a:ea typeface="Courier New" pitchFamily="34" charset="-122"/>
                <a:cs typeface="Courier New" pitchFamily="34" charset="-120"/>
              </a:rPr>
              <a:t>), round(</a:t>
            </a:r>
            <a:r>
              <a:rPr lang="en-US" sz="780" dirty="0">
                <a:solidFill>
                  <a:srgbClr val="FFD28A"/>
                </a:solidFill>
                <a:latin typeface="Courier New" pitchFamily="34" charset="0"/>
                <a:ea typeface="Courier New" pitchFamily="34" charset="-122"/>
                <a:cs typeface="Courier New" pitchFamily="34" charset="-120"/>
              </a:rPr>
              <a:t>100</a:t>
            </a:r>
            <a:r>
              <a:rPr lang="en-US" sz="780" dirty="0">
                <a:solidFill>
                  <a:srgbClr val="E6EDF3"/>
                </a:solidFill>
                <a:latin typeface="Courier New" pitchFamily="34" charset="0"/>
                <a:ea typeface="Courier New" pitchFamily="34" charset="-122"/>
                <a:cs typeface="Courier New" pitchFamily="34" charset="-120"/>
              </a:rPr>
              <a:t> * b[</a:t>
            </a:r>
            <a:r>
              <a:rPr lang="en-US" sz="780" dirty="0">
                <a:solidFill>
                  <a:srgbClr val="9ECBFF"/>
                </a:solidFill>
                <a:latin typeface="Courier New" pitchFamily="34" charset="0"/>
                <a:ea typeface="Courier New" pitchFamily="34" charset="-122"/>
                <a:cs typeface="Courier New" pitchFamily="34" charset="-120"/>
              </a:rPr>
              <a:t>'services'</a:t>
            </a:r>
            <a:r>
              <a:rPr lang="en-US" sz="780" dirty="0">
                <a:solidFill>
                  <a:srgbClr val="E6EDF3"/>
                </a:solidFill>
                <a:latin typeface="Courier New" pitchFamily="34" charset="0"/>
                <a:ea typeface="Courier New" pitchFamily="34" charset="-122"/>
                <a:cs typeface="Courier New" pitchFamily="34" charset="-120"/>
              </a:rPr>
              <a:t>][</a:t>
            </a:r>
            <a:r>
              <a:rPr lang="en-US" sz="780" dirty="0">
                <a:solidFill>
                  <a:srgbClr val="9ECBFF"/>
                </a:solidFill>
                <a:latin typeface="Courier New" pitchFamily="34" charset="0"/>
                <a:ea typeface="Courier New" pitchFamily="34" charset="-122"/>
                <a:cs typeface="Courier New" pitchFamily="34" charset="-120"/>
              </a:rPr>
              <a:t>'P2P_V2'</a:t>
            </a:r>
            <a:r>
              <a:rPr lang="en-US" sz="780" dirty="0">
                <a:solidFill>
                  <a:srgbClr val="E6EDF3"/>
                </a:solidFill>
                <a:latin typeface="Courier New" pitchFamily="34" charset="0"/>
                <a:ea typeface="Courier New" pitchFamily="34" charset="-122"/>
                <a:cs typeface="Courier New" pitchFamily="34" charset="-120"/>
              </a:rPr>
              <a:t>] / b[</a:t>
            </a:r>
            <a:r>
              <a:rPr lang="en-US" sz="780" dirty="0">
                <a:solidFill>
                  <a:srgbClr val="9ECBFF"/>
                </a:solidFill>
                <a:latin typeface="Courier New" pitchFamily="34" charset="0"/>
                <a:ea typeface="Courier New" pitchFamily="34" charset="-122"/>
                <a:cs typeface="Courier New" pitchFamily="34" charset="-120"/>
              </a:rPr>
              <a:t>'total'</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FFD28A"/>
                </a:solidFill>
                <a:latin typeface="Courier New" pitchFamily="34" charset="0"/>
                <a:ea typeface="Courier New" pitchFamily="34" charset="-122"/>
                <a:cs typeface="Courier New" pitchFamily="34" charset="-120"/>
              </a:rPr>
              <a:t>1</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('true', 85.8)</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seen(</a:t>
            </a:r>
            <a:r>
              <a:rPr lang="en-US" sz="780" dirty="0">
                <a:solidFill>
                  <a:srgbClr val="9ECBFF"/>
                </a:solidFill>
                <a:latin typeface="Courier New" pitchFamily="34" charset="0"/>
                <a:ea typeface="Courier New" pitchFamily="34" charset="-122"/>
                <a:cs typeface="Courier New" pitchFamily="34" charset="-120"/>
              </a:rPr>
              <a:t>'bip-0324.mediawiki'</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'unencrypted and unauthenticated'</a:t>
            </a:r>
            <a:r>
              <a:rPr lang="en-US" sz="780" dirty="0">
                <a:solidFill>
                  <a:srgbClr val="E6EDF3"/>
                </a:solidFill>
                <a:latin typeface="Courier New" pitchFamily="34" charset="0"/>
                <a:ea typeface="Courier New" pitchFamily="34" charset="-122"/>
                <a:cs typeface="Courier New" pitchFamily="34" charset="-120"/>
              </a:rPr>
              <a:t>), seen(</a:t>
            </a:r>
            <a:r>
              <a:rPr lang="en-US" sz="780" dirty="0">
                <a:solidFill>
                  <a:srgbClr val="9ECBFF"/>
                </a:solidFill>
                <a:latin typeface="Courier New" pitchFamily="34" charset="0"/>
                <a:ea typeface="Courier New" pitchFamily="34" charset="-122"/>
                <a:cs typeface="Courier New" pitchFamily="34" charset="-120"/>
              </a:rPr>
              <a:t>'bip-0324.mediawiki'</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'man-in-the-middle'</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(True, True)</a:t>
            </a:r>
            <a:endParaRPr lang="en-US" sz="780" dirty="0"/>
          </a:p>
        </p:txBody>
      </p:sp>
      <p:sp>
        <p:nvSpPr>
          <p:cNvPr id="15" name="Text 13"/>
          <p:cNvSpPr txBox="1"/>
          <p:nvPr/>
        </p:nvSpPr>
        <p:spPr>
          <a:xfrm>
            <a:off x="457200" y="364845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4"/>
          <p:cNvSpPr/>
          <p:nvPr/>
        </p:nvSpPr>
        <p:spPr>
          <a:xfrm>
            <a:off x="457200" y="3971544"/>
            <a:ext cx="128016" cy="128016"/>
          </a:xfrm>
          <a:prstGeom prst="diamond">
            <a:avLst/>
          </a:prstGeom>
          <a:solidFill>
            <a:srgbClr val="D97A14"/>
          </a:solidFill>
          <a:ln w="12700">
            <a:solidFill>
              <a:srgbClr val="D97A14"/>
            </a:solidFill>
            <a:prstDash val="solid"/>
          </a:ln>
        </p:spPr>
      </p:sp>
      <p:sp>
        <p:nvSpPr>
          <p:cNvPr id="17" name="Text 15"/>
          <p:cNvSpPr txBox="1"/>
          <p:nvPr/>
        </p:nvSpPr>
        <p:spPr>
          <a:xfrm>
            <a:off x="731520" y="393192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2 and 3: the v1 stream shows the magic bytes and the word version; v2 shows neither, at 7.953 bits of 8 per byte</a:t>
            </a:r>
            <a:endParaRPr lang="en-US" sz="1000" dirty="0"/>
          </a:p>
        </p:txBody>
      </p:sp>
      <p:sp>
        <p:nvSpPr>
          <p:cNvPr id="18" name="Shape 16"/>
          <p:cNvSpPr/>
          <p:nvPr/>
        </p:nvSpPr>
        <p:spPr>
          <a:xfrm>
            <a:off x="457200" y="4178808"/>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413918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and 5: both ends derive the same 64-character session id; v2 is the default since Core 27.0, offered by 85.8 percent</a:t>
            </a:r>
            <a:endParaRPr lang="en-US" sz="1000" dirty="0"/>
          </a:p>
        </p:txBody>
      </p:sp>
      <p:sp>
        <p:nvSpPr>
          <p:cNvPr id="20" name="Shape 18"/>
          <p:cNvSpPr/>
          <p:nvPr/>
        </p:nvSpPr>
        <p:spPr>
          <a:xfrm>
            <a:off x="457200" y="4386072"/>
            <a:ext cx="128016" cy="128016"/>
          </a:xfrm>
          <a:prstGeom prst="diamond">
            <a:avLst/>
          </a:prstGeom>
          <a:solidFill>
            <a:srgbClr val="D97A14"/>
          </a:solidFill>
          <a:ln w="12700">
            <a:solidFill>
              <a:srgbClr val="D97A14"/>
            </a:solidFill>
            <a:prstDash val="solid"/>
          </a:ln>
        </p:spPr>
      </p:sp>
      <p:sp>
        <p:nvSpPr>
          <p:cNvPr id="21" name="Text 19"/>
          <p:cNvSpPr txBox="1"/>
          <p:nvPr/>
        </p:nvSpPr>
        <p:spPr>
          <a:xfrm>
            <a:off x="731520" y="434644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6: BIP 324 calls v1 unencrypted and unauthenticated, and names the man in the middle that v2 does not stop</a:t>
            </a:r>
            <a:endParaRPr lang="en-US" sz="10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book says the wire is plain, but v2 has been the default since 27.0</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26</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From a closed proposal to the default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8 March 2019: who, where, when and what to read next</a:t>
            </a:r>
            <a:endParaRPr lang="en-US" sz="1300" dirty="0"/>
          </a:p>
        </p:txBody>
      </p:sp>
      <p:pic>
        <p:nvPicPr>
          <p:cNvPr id="6" name="Image 0" descr="../../03-materials/ch10/assets/photo_enigma_machine.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Enigma machine - Rama, CC BY-SA 2.0 FR, Wikimedia Commons</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Jonas Schnelli proposes encrypted connections in BIP 151 in 2016; it is closed after mixed comments (row 2)</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8 March 2019 BIP 324 is assigned to Mehta, Ruffing, Schnelli and Wuille; Core 26.0 offers it and 27.0 makes it the default (row 1)</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the 31.1 test node a v2 stream showed no magic bytes (row 3); 21,768 of 25,361 census nodes offer it</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saved sources and the Core 31.1 record (Recorded)</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seen(</a:t>
            </a:r>
            <a:r>
              <a:rPr lang="en-US" sz="800" dirty="0">
                <a:solidFill>
                  <a:srgbClr val="9ECBFF"/>
                </a:solidFill>
                <a:latin typeface="Courier New" pitchFamily="34" charset="0"/>
                <a:ea typeface="Courier New" pitchFamily="34" charset="-122"/>
                <a:cs typeface="Courier New" pitchFamily="34" charset="-120"/>
              </a:rPr>
              <a:t>'core_relnotes_27.0.md'</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'BIP324 v2 transport is now enabled by default'</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True</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seen(</a:t>
            </a:r>
            <a:r>
              <a:rPr lang="en-US" sz="800" dirty="0">
                <a:solidFill>
                  <a:srgbClr val="9ECBFF"/>
                </a:solidFill>
                <a:latin typeface="Courier New" pitchFamily="34" charset="0"/>
                <a:ea typeface="Courier New" pitchFamily="34" charset="-122"/>
                <a:cs typeface="Courier New" pitchFamily="34" charset="-120"/>
              </a:rPr>
              <a:t>'bip-0151.mediawiki'</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'Status: Closed'</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True</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R[</a:t>
            </a:r>
            <a:r>
              <a:rPr lang="en-US" sz="800" dirty="0">
                <a:solidFill>
                  <a:srgbClr val="9ECBFF"/>
                </a:solidFill>
                <a:latin typeface="Courier New" pitchFamily="34" charset="0"/>
                <a:ea typeface="Courier New" pitchFamily="34" charset="-122"/>
                <a:cs typeface="Courier New" pitchFamily="34" charset="-120"/>
              </a:rPr>
              <a:t>'e8_transport'</a:t>
            </a:r>
            <a:r>
              <a:rPr lang="en-US" sz="800" dirty="0">
                <a:solidFill>
                  <a:srgbClr val="E6EDF3"/>
                </a:solidFill>
                <a:latin typeface="Courier New" pitchFamily="34" charset="0"/>
                <a:ea typeface="Courier New" pitchFamily="34" charset="-122"/>
                <a:cs typeface="Courier New" pitchFamily="34" charset="-120"/>
              </a:rPr>
              <a:t>][</a:t>
            </a:r>
            <a:r>
              <a:rPr lang="en-US" sz="800" dirty="0">
                <a:solidFill>
                  <a:srgbClr val="9ECBFF"/>
                </a:solidFill>
                <a:latin typeface="Courier New" pitchFamily="34" charset="0"/>
                <a:ea typeface="Courier New" pitchFamily="34" charset="-122"/>
                <a:cs typeface="Courier New" pitchFamily="34" charset="-120"/>
              </a:rPr>
              <a:t>'v2'</a:t>
            </a:r>
            <a:r>
              <a:rPr lang="en-US" sz="800" dirty="0">
                <a:solidFill>
                  <a:srgbClr val="E6EDF3"/>
                </a:solidFill>
                <a:latin typeface="Courier New" pitchFamily="34" charset="0"/>
                <a:ea typeface="Courier New" pitchFamily="34" charset="-122"/>
                <a:cs typeface="Courier New" pitchFamily="34" charset="-120"/>
              </a:rPr>
              <a:t>][</a:t>
            </a:r>
            <a:r>
              <a:rPr lang="en-US" sz="800" dirty="0">
                <a:solidFill>
                  <a:srgbClr val="9ECBFF"/>
                </a:solidFill>
                <a:latin typeface="Courier New" pitchFamily="34" charset="0"/>
                <a:ea typeface="Courier New" pitchFamily="34" charset="-122"/>
                <a:cs typeface="Courier New" pitchFamily="34" charset="-120"/>
              </a:rPr>
              <a:t>'contains_magic'</a:t>
            </a:r>
            <a:r>
              <a:rPr lang="en-US" sz="800" dirty="0">
                <a:solidFill>
                  <a:srgbClr val="E6EDF3"/>
                </a:solidFill>
                <a:latin typeface="Courier New" pitchFamily="34" charset="0"/>
                <a:ea typeface="Courier New" pitchFamily="34" charset="-122"/>
                <a:cs typeface="Courier New" pitchFamily="34" charset="-120"/>
              </a:rPr>
              <a:t>], b[</a:t>
            </a:r>
            <a:r>
              <a:rPr lang="en-US" sz="800" dirty="0">
                <a:solidFill>
                  <a:srgbClr val="9ECBFF"/>
                </a:solidFill>
                <a:latin typeface="Courier New" pitchFamily="34" charset="0"/>
                <a:ea typeface="Courier New" pitchFamily="34" charset="-122"/>
                <a:cs typeface="Courier New" pitchFamily="34" charset="-120"/>
              </a:rPr>
              <a:t>'services'</a:t>
            </a:r>
            <a:r>
              <a:rPr lang="en-US" sz="800" dirty="0">
                <a:solidFill>
                  <a:srgbClr val="E6EDF3"/>
                </a:solidFill>
                <a:latin typeface="Courier New" pitchFamily="34" charset="0"/>
                <a:ea typeface="Courier New" pitchFamily="34" charset="-122"/>
                <a:cs typeface="Courier New" pitchFamily="34" charset="-120"/>
              </a:rPr>
              <a:t>][</a:t>
            </a:r>
            <a:r>
              <a:rPr lang="en-US" sz="800" dirty="0">
                <a:solidFill>
                  <a:srgbClr val="9ECBFF"/>
                </a:solidFill>
                <a:latin typeface="Courier New" pitchFamily="34" charset="0"/>
                <a:ea typeface="Courier New" pitchFamily="34" charset="-122"/>
                <a:cs typeface="Courier New" pitchFamily="34" charset="-120"/>
              </a:rPr>
              <a:t>'P2P_V2'</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(False, 21768)</a:t>
            </a:r>
            <a:endParaRPr lang="en-US" sz="80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Dhruv Mehta, Tim Ruffing, Jonas Schnel…</a:t>
            </a:r>
            <a:endParaRPr lang="en-US" sz="750" dirty="0"/>
          </a:p>
        </p:txBody>
      </p:sp>
      <p:sp>
        <p:nvSpPr>
          <p:cNvPr id="20" name="Shape 17"/>
          <p:cNvSpPr/>
          <p:nvPr/>
        </p:nvSpPr>
        <p:spPr>
          <a:xfrm>
            <a:off x="3016057" y="4224528"/>
            <a:ext cx="2449129"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3107497"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bitcoin/bips repository, and the r…</a:t>
            </a:r>
            <a:endParaRPr lang="en-US" sz="750" dirty="0"/>
          </a:p>
        </p:txBody>
      </p:sp>
      <p:sp>
        <p:nvSpPr>
          <p:cNvPr id="22" name="Shape 19"/>
          <p:cNvSpPr/>
          <p:nvPr/>
        </p:nvSpPr>
        <p:spPr>
          <a:xfrm>
            <a:off x="5574914" y="4224528"/>
            <a:ext cx="134307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5666354" y="422452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2019-03-08</a:t>
            </a:r>
            <a:endParaRPr lang="en-US" sz="750" dirty="0"/>
          </a:p>
        </p:txBody>
      </p:sp>
      <p:sp>
        <p:nvSpPr>
          <p:cNvPr id="24" name="Shape 21"/>
          <p:cNvSpPr/>
          <p:nvPr/>
        </p:nvSpPr>
        <p:spPr>
          <a:xfrm>
            <a:off x="7027713" y="4224528"/>
            <a:ext cx="1659087"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7119153" y="422452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bips.dev</a:t>
            </a:r>
            <a:endParaRPr lang="en-US" sz="750" dirty="0"/>
          </a:p>
        </p:txBody>
      </p:sp>
      <p:sp>
        <p:nvSpPr>
          <p:cNvPr id="26" name="Text 23"/>
          <p:cNvSpPr txBox="1"/>
          <p:nvPr/>
        </p:nvSpPr>
        <p:spPr>
          <a:xfrm>
            <a:off x="457200" y="3858768"/>
            <a:ext cx="2651760" cy="329184"/>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picture: an Enigma machine, not the protocol.</a:t>
            </a:r>
            <a:endParaRPr lang="en-US" sz="90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26</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Hiding who you are: Tor, I2P, CJDNS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passing a note through several friends so none knows both sender and reader</a:t>
            </a:r>
            <a:endParaRPr lang="en-US" sz="1300" dirty="0"/>
          </a:p>
        </p:txBody>
      </p:sp>
      <p:sp>
        <p:nvSpPr>
          <p:cNvPr id="6" name="Text 4"/>
          <p:cNvSpPr txBox="1"/>
          <p:nvPr/>
        </p:nvSpPr>
        <p:spPr>
          <a:xfrm>
            <a:off x="457200" y="123444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and counts from the saved census</a:t>
            </a:r>
            <a:endParaRPr lang="en-US" sz="1150" dirty="0"/>
          </a:p>
        </p:txBody>
      </p:sp>
      <p:sp>
        <p:nvSpPr>
          <p:cNvPr id="7" name="Shape 5"/>
          <p:cNvSpPr/>
          <p:nvPr/>
        </p:nvSpPr>
        <p:spPr>
          <a:xfrm>
            <a:off x="457200" y="1508760"/>
            <a:ext cx="8229600" cy="1874520"/>
          </a:xfrm>
          <a:prstGeom prst="roundRect">
            <a:avLst>
              <a:gd name="adj" fmla="val 4878"/>
            </a:avLst>
          </a:prstGeom>
          <a:solidFill>
            <a:srgbClr val="23272E"/>
          </a:solidFill>
          <a:ln w="12700">
            <a:solidFill>
              <a:srgbClr val="23272E"/>
            </a:solidFill>
            <a:prstDash val="solid"/>
          </a:ln>
        </p:spPr>
      </p:sp>
      <p:sp>
        <p:nvSpPr>
          <p:cNvPr id="8" name="Text 6"/>
          <p:cNvSpPr txBox="1"/>
          <p:nvPr/>
        </p:nvSpPr>
        <p:spPr>
          <a:xfrm>
            <a:off x="640080" y="1627632"/>
            <a:ext cx="7863840" cy="1636776"/>
          </a:xfrm>
          <a:prstGeom prst="rect">
            <a:avLst/>
          </a:prstGeom>
          <a:noFill/>
          <a:ln/>
        </p:spPr>
        <p:txBody>
          <a:bodyPr wrap="square" lIns="0" tIns="0" rIns="0" bIns="0" rtlCol="0" anchor="t"/>
          <a:lstStyle/>
          <a:p>
            <a:pPr indent="0" marL="0">
              <a:buNone/>
            </a:pPr>
            <a:r>
              <a:rPr lang="en-US" sz="840" b="1" dirty="0">
                <a:solidFill>
                  <a:srgbClr val="D97A14"/>
                </a:solidFill>
                <a:latin typeface="Courier New" pitchFamily="34" charset="0"/>
                <a:ea typeface="Courier New" pitchFamily="34" charset="-122"/>
                <a:cs typeface="Courier New" pitchFamily="34" charset="-120"/>
              </a:rPr>
              <a:t>&gt;&gt;&gt; </a:t>
            </a:r>
            <a:r>
              <a:rPr lang="en-US" sz="840" dirty="0">
                <a:solidFill>
                  <a:srgbClr val="E6EDF3"/>
                </a:solidFill>
                <a:latin typeface="Courier New" pitchFamily="34" charset="0"/>
                <a:ea typeface="Courier New" pitchFamily="34" charset="-122"/>
                <a:cs typeface="Courier New" pitchFamily="34" charset="-120"/>
              </a:rPr>
              <a:t>[(x[</a:t>
            </a:r>
            <a:r>
              <a:rPr lang="en-US" sz="840" dirty="0">
                <a:solidFill>
                  <a:srgbClr val="9ECBFF"/>
                </a:solidFill>
                <a:latin typeface="Courier New" pitchFamily="34" charset="0"/>
                <a:ea typeface="Courier New" pitchFamily="34" charset="-122"/>
                <a:cs typeface="Courier New" pitchFamily="34" charset="-120"/>
              </a:rPr>
              <a:t>'name'</a:t>
            </a:r>
            <a:r>
              <a:rPr lang="en-US" sz="840" dirty="0">
                <a:solidFill>
                  <a:srgbClr val="E6EDF3"/>
                </a:solidFill>
                <a:latin typeface="Courier New" pitchFamily="34" charset="0"/>
                <a:ea typeface="Courier New" pitchFamily="34" charset="-122"/>
                <a:cs typeface="Courier New" pitchFamily="34" charset="-120"/>
              </a:rPr>
              <a:t>], x[</a:t>
            </a:r>
            <a:r>
              <a:rPr lang="en-US" sz="840" dirty="0">
                <a:solidFill>
                  <a:srgbClr val="9ECBFF"/>
                </a:solidFill>
                <a:latin typeface="Courier New" pitchFamily="34" charset="0"/>
                <a:ea typeface="Courier New" pitchFamily="34" charset="-122"/>
                <a:cs typeface="Courier New" pitchFamily="34" charset="-120"/>
              </a:rPr>
              <a:t>'reachable'</a:t>
            </a:r>
            <a:r>
              <a:rPr lang="en-US" sz="840" dirty="0">
                <a:solidFill>
                  <a:srgbClr val="E6EDF3"/>
                </a:solidFill>
                <a:latin typeface="Courier New" pitchFamily="34" charset="0"/>
                <a:ea typeface="Courier New" pitchFamily="34" charset="-122"/>
                <a:cs typeface="Courier New" pitchFamily="34" charset="-120"/>
              </a:rPr>
              <a:t>]) </a:t>
            </a:r>
            <a:r>
              <a:rPr lang="en-US" sz="840" b="1" dirty="0">
                <a:solidFill>
                  <a:srgbClr val="F2A860"/>
                </a:solidFill>
                <a:latin typeface="Courier New" pitchFamily="34" charset="0"/>
                <a:ea typeface="Courier New" pitchFamily="34" charset="-122"/>
                <a:cs typeface="Courier New" pitchFamily="34" charset="-120"/>
              </a:rPr>
              <a:t>for</a:t>
            </a:r>
            <a:r>
              <a:rPr lang="en-US" sz="840" dirty="0">
                <a:solidFill>
                  <a:srgbClr val="E6EDF3"/>
                </a:solidFill>
                <a:latin typeface="Courier New" pitchFamily="34" charset="0"/>
                <a:ea typeface="Courier New" pitchFamily="34" charset="-122"/>
                <a:cs typeface="Courier New" pitchFamily="34" charset="-120"/>
              </a:rPr>
              <a:t> x </a:t>
            </a:r>
            <a:r>
              <a:rPr lang="en-US" sz="840" b="1" dirty="0">
                <a:solidFill>
                  <a:srgbClr val="F2A860"/>
                </a:solidFill>
                <a:latin typeface="Courier New" pitchFamily="34" charset="0"/>
                <a:ea typeface="Courier New" pitchFamily="34" charset="-122"/>
                <a:cs typeface="Courier New" pitchFamily="34" charset="-120"/>
              </a:rPr>
              <a:t>in</a:t>
            </a:r>
            <a:r>
              <a:rPr lang="en-US" sz="840" dirty="0">
                <a:solidFill>
                  <a:srgbClr val="E6EDF3"/>
                </a:solidFill>
                <a:latin typeface="Courier New" pitchFamily="34" charset="0"/>
                <a:ea typeface="Courier New" pitchFamily="34" charset="-122"/>
                <a:cs typeface="Courier New" pitchFamily="34" charset="-120"/>
              </a:rPr>
              <a:t> R[</a:t>
            </a:r>
            <a:r>
              <a:rPr lang="en-US" sz="840" dirty="0">
                <a:solidFill>
                  <a:srgbClr val="9ECBFF"/>
                </a:solidFill>
                <a:latin typeface="Courier New" pitchFamily="34" charset="0"/>
                <a:ea typeface="Courier New" pitchFamily="34" charset="-122"/>
                <a:cs typeface="Courier New" pitchFamily="34" charset="-120"/>
              </a:rPr>
              <a:t>'networkinfo_A'</a:t>
            </a:r>
            <a:r>
              <a:rPr lang="en-US" sz="840" dirty="0">
                <a:solidFill>
                  <a:srgbClr val="E6EDF3"/>
                </a:solidFill>
                <a:latin typeface="Courier New" pitchFamily="34" charset="0"/>
                <a:ea typeface="Courier New" pitchFamily="34" charset="-122"/>
                <a:cs typeface="Courier New" pitchFamily="34" charset="-120"/>
              </a:rPr>
              <a:t>][</a:t>
            </a:r>
            <a:r>
              <a:rPr lang="en-US" sz="840" dirty="0">
                <a:solidFill>
                  <a:srgbClr val="9ECBFF"/>
                </a:solidFill>
                <a:latin typeface="Courier New" pitchFamily="34" charset="0"/>
                <a:ea typeface="Courier New" pitchFamily="34" charset="-122"/>
                <a:cs typeface="Courier New" pitchFamily="34" charset="-120"/>
              </a:rPr>
              <a:t>'networks'</a:t>
            </a:r>
            <a:r>
              <a:rPr lang="en-US" sz="840" dirty="0">
                <a:solidFill>
                  <a:srgbClr val="E6EDF3"/>
                </a:solidFill>
                <a:latin typeface="Courier New" pitchFamily="34" charset="0"/>
                <a:ea typeface="Courier New" pitchFamily="34" charset="-122"/>
                <a:cs typeface="Courier New" pitchFamily="34" charset="-120"/>
              </a:rPr>
              <a:t>]]</a:t>
            </a:r>
            <a:endParaRPr lang="en-US" sz="840" dirty="0"/>
          </a:p>
          <a:p>
            <a:pPr indent="0" marL="0">
              <a:buNone/>
            </a:pPr>
            <a:r>
              <a:rPr lang="en-US" sz="840" dirty="0">
                <a:solidFill>
                  <a:srgbClr val="7EE787"/>
                </a:solidFill>
                <a:latin typeface="Courier New" pitchFamily="34" charset="0"/>
                <a:ea typeface="Courier New" pitchFamily="34" charset="-122"/>
                <a:cs typeface="Courier New" pitchFamily="34" charset="-120"/>
              </a:rPr>
              <a:t>[('ipv4', True), ('ipv6', True), ('onion', False), ('i2p', False), ('cjdns', False)]</a:t>
            </a:r>
            <a:endParaRPr lang="en-US" sz="840" dirty="0"/>
          </a:p>
          <a:p>
            <a:pPr indent="0" marL="0">
              <a:buNone/>
            </a:pPr>
            <a:r>
              <a:rPr lang="en-US" sz="840" b="1" dirty="0">
                <a:solidFill>
                  <a:srgbClr val="D97A14"/>
                </a:solidFill>
                <a:latin typeface="Courier New" pitchFamily="34" charset="0"/>
                <a:ea typeface="Courier New" pitchFamily="34" charset="-122"/>
                <a:cs typeface="Courier New" pitchFamily="34" charset="-120"/>
              </a:rPr>
              <a:t>&gt;&gt;&gt; </a:t>
            </a:r>
            <a:r>
              <a:rPr lang="en-US" sz="840" dirty="0">
                <a:solidFill>
                  <a:srgbClr val="E6EDF3"/>
                </a:solidFill>
                <a:latin typeface="Courier New" pitchFamily="34" charset="0"/>
                <a:ea typeface="Courier New" pitchFamily="34" charset="-122"/>
                <a:cs typeface="Courier New" pitchFamily="34" charset="-120"/>
              </a:rPr>
              <a:t>[x </a:t>
            </a:r>
            <a:r>
              <a:rPr lang="en-US" sz="840" b="1" dirty="0">
                <a:solidFill>
                  <a:srgbClr val="F2A860"/>
                </a:solidFill>
                <a:latin typeface="Courier New" pitchFamily="34" charset="0"/>
                <a:ea typeface="Courier New" pitchFamily="34" charset="-122"/>
                <a:cs typeface="Courier New" pitchFamily="34" charset="-120"/>
              </a:rPr>
              <a:t>for</a:t>
            </a:r>
            <a:r>
              <a:rPr lang="en-US" sz="840" dirty="0">
                <a:solidFill>
                  <a:srgbClr val="E6EDF3"/>
                </a:solidFill>
                <a:latin typeface="Courier New" pitchFamily="34" charset="0"/>
                <a:ea typeface="Courier New" pitchFamily="34" charset="-122"/>
                <a:cs typeface="Courier New" pitchFamily="34" charset="-120"/>
              </a:rPr>
              <a:t> x </a:t>
            </a:r>
            <a:r>
              <a:rPr lang="en-US" sz="840" b="1" dirty="0">
                <a:solidFill>
                  <a:srgbClr val="F2A860"/>
                </a:solidFill>
                <a:latin typeface="Courier New" pitchFamily="34" charset="0"/>
                <a:ea typeface="Courier New" pitchFamily="34" charset="-122"/>
                <a:cs typeface="Courier New" pitchFamily="34" charset="-120"/>
              </a:rPr>
              <a:t>in</a:t>
            </a:r>
            <a:r>
              <a:rPr lang="en-US" sz="840" dirty="0">
                <a:solidFill>
                  <a:srgbClr val="E6EDF3"/>
                </a:solidFill>
                <a:latin typeface="Courier New" pitchFamily="34" charset="0"/>
                <a:ea typeface="Courier New" pitchFamily="34" charset="-122"/>
                <a:cs typeface="Courier New" pitchFamily="34" charset="-120"/>
              </a:rPr>
              <a:t> R[</a:t>
            </a:r>
            <a:r>
              <a:rPr lang="en-US" sz="840" dirty="0">
                <a:solidFill>
                  <a:srgbClr val="9ECBFF"/>
                </a:solidFill>
                <a:latin typeface="Courier New" pitchFamily="34" charset="0"/>
                <a:ea typeface="Courier New" pitchFamily="34" charset="-122"/>
                <a:cs typeface="Courier New" pitchFamily="34" charset="-120"/>
              </a:rPr>
              <a:t>'e8_onion_node'</a:t>
            </a:r>
            <a:r>
              <a:rPr lang="en-US" sz="840" dirty="0">
                <a:solidFill>
                  <a:srgbClr val="E6EDF3"/>
                </a:solidFill>
                <a:latin typeface="Courier New" pitchFamily="34" charset="0"/>
                <a:ea typeface="Courier New" pitchFamily="34" charset="-122"/>
                <a:cs typeface="Courier New" pitchFamily="34" charset="-120"/>
              </a:rPr>
              <a:t>][</a:t>
            </a:r>
            <a:r>
              <a:rPr lang="en-US" sz="840" dirty="0">
                <a:solidFill>
                  <a:srgbClr val="9ECBFF"/>
                </a:solidFill>
                <a:latin typeface="Courier New" pitchFamily="34" charset="0"/>
                <a:ea typeface="Courier New" pitchFamily="34" charset="-122"/>
                <a:cs typeface="Courier New" pitchFamily="34" charset="-120"/>
              </a:rPr>
              <a:t>'networks'</a:t>
            </a:r>
            <a:r>
              <a:rPr lang="en-US" sz="840" dirty="0">
                <a:solidFill>
                  <a:srgbClr val="E6EDF3"/>
                </a:solidFill>
                <a:latin typeface="Courier New" pitchFamily="34" charset="0"/>
                <a:ea typeface="Courier New" pitchFamily="34" charset="-122"/>
                <a:cs typeface="Courier New" pitchFamily="34" charset="-120"/>
              </a:rPr>
              <a:t>] </a:t>
            </a:r>
            <a:r>
              <a:rPr lang="en-US" sz="840" b="1" dirty="0">
                <a:solidFill>
                  <a:srgbClr val="F2A860"/>
                </a:solidFill>
                <a:latin typeface="Courier New" pitchFamily="34" charset="0"/>
                <a:ea typeface="Courier New" pitchFamily="34" charset="-122"/>
                <a:cs typeface="Courier New" pitchFamily="34" charset="-120"/>
              </a:rPr>
              <a:t>if</a:t>
            </a:r>
            <a:r>
              <a:rPr lang="en-US" sz="840" dirty="0">
                <a:solidFill>
                  <a:srgbClr val="E6EDF3"/>
                </a:solidFill>
                <a:latin typeface="Courier New" pitchFamily="34" charset="0"/>
                <a:ea typeface="Courier New" pitchFamily="34" charset="-122"/>
                <a:cs typeface="Courier New" pitchFamily="34" charset="-120"/>
              </a:rPr>
              <a:t> x[</a:t>
            </a:r>
            <a:r>
              <a:rPr lang="en-US" sz="840" dirty="0">
                <a:solidFill>
                  <a:srgbClr val="FFD28A"/>
                </a:solidFill>
                <a:latin typeface="Courier New" pitchFamily="34" charset="0"/>
                <a:ea typeface="Courier New" pitchFamily="34" charset="-122"/>
                <a:cs typeface="Courier New" pitchFamily="34" charset="-120"/>
              </a:rPr>
              <a:t>1</a:t>
            </a:r>
            <a:r>
              <a:rPr lang="en-US" sz="840" dirty="0">
                <a:solidFill>
                  <a:srgbClr val="E6EDF3"/>
                </a:solidFill>
                <a:latin typeface="Courier New" pitchFamily="34" charset="0"/>
                <a:ea typeface="Courier New" pitchFamily="34" charset="-122"/>
                <a:cs typeface="Courier New" pitchFamily="34" charset="-120"/>
              </a:rPr>
              <a:t>]]</a:t>
            </a:r>
            <a:endParaRPr lang="en-US" sz="840" dirty="0"/>
          </a:p>
          <a:p>
            <a:pPr indent="0" marL="0">
              <a:buNone/>
            </a:pPr>
            <a:r>
              <a:rPr lang="en-US" sz="840" dirty="0">
                <a:solidFill>
                  <a:srgbClr val="7EE787"/>
                </a:solidFill>
                <a:latin typeface="Courier New" pitchFamily="34" charset="0"/>
                <a:ea typeface="Courier New" pitchFamily="34" charset="-122"/>
                <a:cs typeface="Courier New" pitchFamily="34" charset="-120"/>
              </a:rPr>
              <a:t>[['onion', True, '127.0.0.1:9']]</a:t>
            </a:r>
            <a:endParaRPr lang="en-US" sz="840" dirty="0"/>
          </a:p>
          <a:p>
            <a:pPr indent="0" marL="0">
              <a:buNone/>
            </a:pPr>
            <a:r>
              <a:rPr lang="en-US" sz="840" b="1" dirty="0">
                <a:solidFill>
                  <a:srgbClr val="D97A14"/>
                </a:solidFill>
                <a:latin typeface="Courier New" pitchFamily="34" charset="0"/>
                <a:ea typeface="Courier New" pitchFamily="34" charset="-122"/>
                <a:cs typeface="Courier New" pitchFamily="34" charset="-120"/>
              </a:rPr>
              <a:t>&gt;&gt;&gt; </a:t>
            </a:r>
            <a:r>
              <a:rPr lang="en-US" sz="840" dirty="0">
                <a:solidFill>
                  <a:srgbClr val="E6EDF3"/>
                </a:solidFill>
                <a:latin typeface="Courier New" pitchFamily="34" charset="0"/>
                <a:ea typeface="Courier New" pitchFamily="34" charset="-122"/>
                <a:cs typeface="Courier New" pitchFamily="34" charset="-120"/>
              </a:rPr>
              <a:t>b[</a:t>
            </a:r>
            <a:r>
              <a:rPr lang="en-US" sz="840" dirty="0">
                <a:solidFill>
                  <a:srgbClr val="9ECBFF"/>
                </a:solidFill>
                <a:latin typeface="Courier New" pitchFamily="34" charset="0"/>
                <a:ea typeface="Courier New" pitchFamily="34" charset="-122"/>
                <a:cs typeface="Courier New" pitchFamily="34" charset="-120"/>
              </a:rPr>
              <a:t>'nets'</a:t>
            </a:r>
            <a:r>
              <a:rPr lang="en-US" sz="840" dirty="0">
                <a:solidFill>
                  <a:srgbClr val="E6EDF3"/>
                </a:solidFill>
                <a:latin typeface="Courier New" pitchFamily="34" charset="0"/>
                <a:ea typeface="Courier New" pitchFamily="34" charset="-122"/>
                <a:cs typeface="Courier New" pitchFamily="34" charset="-120"/>
              </a:rPr>
              <a:t>][</a:t>
            </a:r>
            <a:r>
              <a:rPr lang="en-US" sz="840" dirty="0">
                <a:solidFill>
                  <a:srgbClr val="9ECBFF"/>
                </a:solidFill>
                <a:latin typeface="Courier New" pitchFamily="34" charset="0"/>
                <a:ea typeface="Courier New" pitchFamily="34" charset="-122"/>
                <a:cs typeface="Courier New" pitchFamily="34" charset="-120"/>
              </a:rPr>
              <a:t>'onion'</a:t>
            </a:r>
            <a:r>
              <a:rPr lang="en-US" sz="840" dirty="0">
                <a:solidFill>
                  <a:srgbClr val="E6EDF3"/>
                </a:solidFill>
                <a:latin typeface="Courier New" pitchFamily="34" charset="0"/>
                <a:ea typeface="Courier New" pitchFamily="34" charset="-122"/>
                <a:cs typeface="Courier New" pitchFamily="34" charset="-120"/>
              </a:rPr>
              <a:t>], b[</a:t>
            </a:r>
            <a:r>
              <a:rPr lang="en-US" sz="840" dirty="0">
                <a:solidFill>
                  <a:srgbClr val="9ECBFF"/>
                </a:solidFill>
                <a:latin typeface="Courier New" pitchFamily="34" charset="0"/>
                <a:ea typeface="Courier New" pitchFamily="34" charset="-122"/>
                <a:cs typeface="Courier New" pitchFamily="34" charset="-120"/>
              </a:rPr>
              <a:t>'nets'</a:t>
            </a:r>
            <a:r>
              <a:rPr lang="en-US" sz="840" dirty="0">
                <a:solidFill>
                  <a:srgbClr val="E6EDF3"/>
                </a:solidFill>
                <a:latin typeface="Courier New" pitchFamily="34" charset="0"/>
                <a:ea typeface="Courier New" pitchFamily="34" charset="-122"/>
                <a:cs typeface="Courier New" pitchFamily="34" charset="-120"/>
              </a:rPr>
              <a:t>][</a:t>
            </a:r>
            <a:r>
              <a:rPr lang="en-US" sz="840" dirty="0">
                <a:solidFill>
                  <a:srgbClr val="9ECBFF"/>
                </a:solidFill>
                <a:latin typeface="Courier New" pitchFamily="34" charset="0"/>
                <a:ea typeface="Courier New" pitchFamily="34" charset="-122"/>
                <a:cs typeface="Courier New" pitchFamily="34" charset="-120"/>
              </a:rPr>
              <a:t>'i2p'</a:t>
            </a:r>
            <a:r>
              <a:rPr lang="en-US" sz="840" dirty="0">
                <a:solidFill>
                  <a:srgbClr val="E6EDF3"/>
                </a:solidFill>
                <a:latin typeface="Courier New" pitchFamily="34" charset="0"/>
                <a:ea typeface="Courier New" pitchFamily="34" charset="-122"/>
                <a:cs typeface="Courier New" pitchFamily="34" charset="-120"/>
              </a:rPr>
              <a:t>], b[</a:t>
            </a:r>
            <a:r>
              <a:rPr lang="en-US" sz="840" dirty="0">
                <a:solidFill>
                  <a:srgbClr val="9ECBFF"/>
                </a:solidFill>
                <a:latin typeface="Courier New" pitchFamily="34" charset="0"/>
                <a:ea typeface="Courier New" pitchFamily="34" charset="-122"/>
                <a:cs typeface="Courier New" pitchFamily="34" charset="-120"/>
              </a:rPr>
              <a:t>'nets'</a:t>
            </a:r>
            <a:r>
              <a:rPr lang="en-US" sz="840" dirty="0">
                <a:solidFill>
                  <a:srgbClr val="E6EDF3"/>
                </a:solidFill>
                <a:latin typeface="Courier New" pitchFamily="34" charset="0"/>
                <a:ea typeface="Courier New" pitchFamily="34" charset="-122"/>
                <a:cs typeface="Courier New" pitchFamily="34" charset="-120"/>
              </a:rPr>
              <a:t>][</a:t>
            </a:r>
            <a:r>
              <a:rPr lang="en-US" sz="840" dirty="0">
                <a:solidFill>
                  <a:srgbClr val="9ECBFF"/>
                </a:solidFill>
                <a:latin typeface="Courier New" pitchFamily="34" charset="0"/>
                <a:ea typeface="Courier New" pitchFamily="34" charset="-122"/>
                <a:cs typeface="Courier New" pitchFamily="34" charset="-120"/>
              </a:rPr>
              <a:t>'cjdns'</a:t>
            </a:r>
            <a:r>
              <a:rPr lang="en-US" sz="840" dirty="0">
                <a:solidFill>
                  <a:srgbClr val="E6EDF3"/>
                </a:solidFill>
                <a:latin typeface="Courier New" pitchFamily="34" charset="0"/>
                <a:ea typeface="Courier New" pitchFamily="34" charset="-122"/>
                <a:cs typeface="Courier New" pitchFamily="34" charset="-120"/>
              </a:rPr>
              <a:t>]</a:t>
            </a:r>
            <a:endParaRPr lang="en-US" sz="840" dirty="0"/>
          </a:p>
          <a:p>
            <a:pPr indent="0" marL="0">
              <a:buNone/>
            </a:pPr>
            <a:r>
              <a:rPr lang="en-US" sz="840" dirty="0">
                <a:solidFill>
                  <a:srgbClr val="7EE787"/>
                </a:solidFill>
                <a:latin typeface="Courier New" pitchFamily="34" charset="0"/>
                <a:ea typeface="Courier New" pitchFamily="34" charset="-122"/>
                <a:cs typeface="Courier New" pitchFamily="34" charset="-120"/>
              </a:rPr>
              <a:t>(12488, 4208, 1)</a:t>
            </a:r>
            <a:endParaRPr lang="en-US" sz="840" dirty="0"/>
          </a:p>
          <a:p>
            <a:pPr indent="0" marL="0">
              <a:buNone/>
            </a:pPr>
            <a:r>
              <a:rPr lang="en-US" sz="840" b="1" dirty="0">
                <a:solidFill>
                  <a:srgbClr val="D97A14"/>
                </a:solidFill>
                <a:latin typeface="Courier New" pitchFamily="34" charset="0"/>
                <a:ea typeface="Courier New" pitchFamily="34" charset="-122"/>
                <a:cs typeface="Courier New" pitchFamily="34" charset="-120"/>
              </a:rPr>
              <a:t>&gt;&gt;&gt; </a:t>
            </a:r>
            <a:r>
              <a:rPr lang="en-US" sz="840" dirty="0">
                <a:solidFill>
                  <a:srgbClr val="E6EDF3"/>
                </a:solidFill>
                <a:latin typeface="Courier New" pitchFamily="34" charset="0"/>
                <a:ea typeface="Courier New" pitchFamily="34" charset="-122"/>
                <a:cs typeface="Courier New" pitchFamily="34" charset="-120"/>
              </a:rPr>
              <a:t>seen(</a:t>
            </a:r>
            <a:r>
              <a:rPr lang="en-US" sz="840" dirty="0">
                <a:solidFill>
                  <a:srgbClr val="9ECBFF"/>
                </a:solidFill>
                <a:latin typeface="Courier New" pitchFamily="34" charset="0"/>
                <a:ea typeface="Courier New" pitchFamily="34" charset="-122"/>
                <a:cs typeface="Courier New" pitchFamily="34" charset="-120"/>
              </a:rPr>
              <a:t>'core_relnotes_22.0.md'</a:t>
            </a:r>
            <a:r>
              <a:rPr lang="en-US" sz="840" dirty="0">
                <a:solidFill>
                  <a:srgbClr val="E6EDF3"/>
                </a:solidFill>
                <a:latin typeface="Courier New" pitchFamily="34" charset="0"/>
                <a:ea typeface="Courier New" pitchFamily="34" charset="-122"/>
                <a:cs typeface="Courier New" pitchFamily="34" charset="-120"/>
              </a:rPr>
              <a:t>, </a:t>
            </a:r>
            <a:r>
              <a:rPr lang="en-US" sz="840" dirty="0">
                <a:solidFill>
                  <a:srgbClr val="9ECBFF"/>
                </a:solidFill>
                <a:latin typeface="Courier New" pitchFamily="34" charset="0"/>
                <a:ea typeface="Courier New" pitchFamily="34" charset="-122"/>
                <a:cs typeface="Courier New" pitchFamily="34" charset="-120"/>
              </a:rPr>
              <a:t>'I2P (Invisible'</a:t>
            </a:r>
            <a:r>
              <a:rPr lang="en-US" sz="840" dirty="0">
                <a:solidFill>
                  <a:srgbClr val="E6EDF3"/>
                </a:solidFill>
                <a:latin typeface="Courier New" pitchFamily="34" charset="0"/>
                <a:ea typeface="Courier New" pitchFamily="34" charset="-122"/>
                <a:cs typeface="Courier New" pitchFamily="34" charset="-120"/>
              </a:rPr>
              <a:t>), seen(</a:t>
            </a:r>
            <a:r>
              <a:rPr lang="en-US" sz="840" dirty="0">
                <a:solidFill>
                  <a:srgbClr val="9ECBFF"/>
                </a:solidFill>
                <a:latin typeface="Courier New" pitchFamily="34" charset="0"/>
                <a:ea typeface="Courier New" pitchFamily="34" charset="-122"/>
                <a:cs typeface="Courier New" pitchFamily="34" charset="-120"/>
              </a:rPr>
              <a:t>'core_relnotes_23.0.md'</a:t>
            </a:r>
            <a:r>
              <a:rPr lang="en-US" sz="840" dirty="0">
                <a:solidFill>
                  <a:srgbClr val="E6EDF3"/>
                </a:solidFill>
                <a:latin typeface="Courier New" pitchFamily="34" charset="0"/>
                <a:ea typeface="Courier New" pitchFamily="34" charset="-122"/>
                <a:cs typeface="Courier New" pitchFamily="34" charset="-120"/>
              </a:rPr>
              <a:t>, </a:t>
            </a:r>
            <a:r>
              <a:rPr lang="en-US" sz="840" dirty="0">
                <a:solidFill>
                  <a:srgbClr val="9ECBFF"/>
                </a:solidFill>
                <a:latin typeface="Courier New" pitchFamily="34" charset="0"/>
                <a:ea typeface="Courier New" pitchFamily="34" charset="-122"/>
                <a:cs typeface="Courier New" pitchFamily="34" charset="-120"/>
              </a:rPr>
              <a:t>'for the CJDNS network'</a:t>
            </a:r>
            <a:r>
              <a:rPr lang="en-US" sz="840" dirty="0">
                <a:solidFill>
                  <a:srgbClr val="E6EDF3"/>
                </a:solidFill>
                <a:latin typeface="Courier New" pitchFamily="34" charset="0"/>
                <a:ea typeface="Courier New" pitchFamily="34" charset="-122"/>
                <a:cs typeface="Courier New" pitchFamily="34" charset="-120"/>
              </a:rPr>
              <a:t>)</a:t>
            </a:r>
            <a:endParaRPr lang="en-US" sz="840" dirty="0"/>
          </a:p>
          <a:p>
            <a:pPr indent="0" marL="0">
              <a:buNone/>
            </a:pPr>
            <a:r>
              <a:rPr lang="en-US" sz="840" dirty="0">
                <a:solidFill>
                  <a:srgbClr val="7EE787"/>
                </a:solidFill>
                <a:latin typeface="Courier New" pitchFamily="34" charset="0"/>
                <a:ea typeface="Courier New" pitchFamily="34" charset="-122"/>
                <a:cs typeface="Courier New" pitchFamily="34" charset="-120"/>
              </a:rPr>
              <a:t>(True, True)</a:t>
            </a:r>
            <a:endParaRPr lang="en-US" sz="840" dirty="0"/>
          </a:p>
          <a:p>
            <a:pPr indent="0" marL="0">
              <a:buNone/>
            </a:pPr>
            <a:r>
              <a:rPr lang="en-US" sz="840" b="1" dirty="0">
                <a:solidFill>
                  <a:srgbClr val="D97A14"/>
                </a:solidFill>
                <a:latin typeface="Courier New" pitchFamily="34" charset="0"/>
                <a:ea typeface="Courier New" pitchFamily="34" charset="-122"/>
                <a:cs typeface="Courier New" pitchFamily="34" charset="-120"/>
              </a:rPr>
              <a:t>&gt;&gt;&gt; </a:t>
            </a:r>
            <a:r>
              <a:rPr lang="en-US" sz="840" dirty="0">
                <a:solidFill>
                  <a:srgbClr val="E6EDF3"/>
                </a:solidFill>
                <a:latin typeface="Courier New" pitchFamily="34" charset="0"/>
                <a:ea typeface="Courier New" pitchFamily="34" charset="-122"/>
                <a:cs typeface="Courier New" pitchFamily="34" charset="-120"/>
              </a:rPr>
              <a:t>seen(</a:t>
            </a:r>
            <a:r>
              <a:rPr lang="en-US" sz="840" dirty="0">
                <a:solidFill>
                  <a:srgbClr val="9ECBFF"/>
                </a:solidFill>
                <a:latin typeface="Courier New" pitchFamily="34" charset="0"/>
                <a:ea typeface="Courier New" pitchFamily="34" charset="-122"/>
                <a:cs typeface="Courier New" pitchFamily="34" charset="-120"/>
              </a:rPr>
              <a:t>'bitcoind_help_31.1.txt'</a:t>
            </a:r>
            <a:r>
              <a:rPr lang="en-US" sz="840" dirty="0">
                <a:solidFill>
                  <a:srgbClr val="E6EDF3"/>
                </a:solidFill>
                <a:latin typeface="Courier New" pitchFamily="34" charset="0"/>
                <a:ea typeface="Courier New" pitchFamily="34" charset="-122"/>
                <a:cs typeface="Courier New" pitchFamily="34" charset="-120"/>
              </a:rPr>
              <a:t>, </a:t>
            </a:r>
            <a:r>
              <a:rPr lang="en-US" sz="840" dirty="0">
                <a:solidFill>
                  <a:srgbClr val="9ECBFF"/>
                </a:solidFill>
                <a:latin typeface="Courier New" pitchFamily="34" charset="0"/>
                <a:ea typeface="Courier New" pitchFamily="34" charset="-122"/>
                <a:cs typeface="Courier New" pitchFamily="34" charset="-120"/>
              </a:rPr>
              <a:t>'Automatically create Tor onion service (default: 1)'</a:t>
            </a:r>
            <a:r>
              <a:rPr lang="en-US" sz="840" dirty="0">
                <a:solidFill>
                  <a:srgbClr val="E6EDF3"/>
                </a:solidFill>
                <a:latin typeface="Courier New" pitchFamily="34" charset="0"/>
                <a:ea typeface="Courier New" pitchFamily="34" charset="-122"/>
                <a:cs typeface="Courier New" pitchFamily="34" charset="-120"/>
              </a:rPr>
              <a:t>)</a:t>
            </a:r>
            <a:endParaRPr lang="en-US" sz="840" dirty="0"/>
          </a:p>
          <a:p>
            <a:pPr indent="0" marL="0">
              <a:buNone/>
            </a:pPr>
            <a:r>
              <a:rPr lang="en-US" sz="840" dirty="0">
                <a:solidFill>
                  <a:srgbClr val="7EE787"/>
                </a:solidFill>
                <a:latin typeface="Courier New" pitchFamily="34" charset="0"/>
                <a:ea typeface="Courier New" pitchFamily="34" charset="-122"/>
                <a:cs typeface="Courier New" pitchFamily="34" charset="-120"/>
              </a:rPr>
              <a:t>True</a:t>
            </a:r>
            <a:endParaRPr lang="en-US" sz="840" dirty="0"/>
          </a:p>
        </p:txBody>
      </p:sp>
      <p:sp>
        <p:nvSpPr>
          <p:cNvPr id="9" name="Text 7"/>
          <p:cNvSpPr txBox="1"/>
          <p:nvPr/>
        </p:nvSpPr>
        <p:spPr>
          <a:xfrm>
            <a:off x="457200" y="34015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675888"/>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639312"/>
            <a:ext cx="7955280" cy="201168"/>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Rows 1 and 2: five networks are known; with a proxy setting onion was marked reachable (nothing ran)</a:t>
            </a:r>
            <a:endParaRPr lang="en-US" sz="1050" dirty="0"/>
          </a:p>
        </p:txBody>
      </p:sp>
      <p:sp>
        <p:nvSpPr>
          <p:cNvPr id="12" name="Shape 10"/>
          <p:cNvSpPr/>
          <p:nvPr/>
        </p:nvSpPr>
        <p:spPr>
          <a:xfrm>
            <a:off x="457200" y="3877056"/>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840480"/>
            <a:ext cx="7955280" cy="201168"/>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3: the census holds 12,488 onion nodes, 4,208 I2P nodes and 1 on CJDNS; the book knows only Tor</a:t>
            </a:r>
            <a:endParaRPr lang="en-US" sz="1050" dirty="0"/>
          </a:p>
        </p:txBody>
      </p:sp>
      <p:sp>
        <p:nvSpPr>
          <p:cNvPr id="14" name="Shape 12"/>
          <p:cNvSpPr/>
          <p:nvPr/>
        </p:nvSpPr>
        <p:spPr>
          <a:xfrm>
            <a:off x="457200" y="4078224"/>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4041648"/>
            <a:ext cx="7955280" cy="201168"/>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Rows 4 and 5: I2P came with Core 22.0 and CJDNS with 23.0; Core creates a Tor onion service by default</a:t>
            </a:r>
            <a:endParaRPr lang="en-US" sz="1050" dirty="0"/>
          </a:p>
        </p:txBody>
      </p:sp>
      <p:sp>
        <p:nvSpPr>
          <p:cNvPr id="16" name="Text 14"/>
          <p:cNvSpPr txBox="1"/>
          <p:nvPr/>
        </p:nvSpPr>
        <p:spPr>
          <a:xfrm>
            <a:off x="457200" y="4279392"/>
            <a:ext cx="8229600" cy="310896"/>
          </a:xfrm>
          <a:prstGeom prst="rect">
            <a:avLst/>
          </a:prstGeom>
          <a:noFill/>
          <a:ln/>
        </p:spPr>
        <p:txBody>
          <a:bodyPr wrap="square" lIns="0" tIns="0" rIns="0" bIns="0" rtlCol="0" anchor="t"/>
          <a:lstStyle/>
          <a:p>
            <a:pPr indent="0" marL="0">
              <a:buNone/>
            </a:pPr>
            <a:r>
              <a:rPr lang="en-US" sz="1050" i="1" dirty="0">
                <a:solidFill>
                  <a:srgbClr val="6E655C"/>
                </a:solidFill>
                <a:latin typeface="Calibri" pitchFamily="34" charset="0"/>
                <a:ea typeface="Calibri" pitchFamily="34" charset="-122"/>
                <a:cs typeface="Calibri" pitchFamily="34" charset="-120"/>
              </a:rPr>
              <a:t>NOT EXECUTED: Tor, I2P and CJDNS routers; the proxy setting only marks a network reachable, and no traffic ran through it.</a:t>
            </a:r>
            <a:endParaRPr lang="en-US" sz="105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Onion nodes are about half of the network, I2P a sixth, CJDNS one node</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26</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part, each one provable from its slides</a:t>
            </a:r>
            <a:endParaRPr lang="en-US" sz="1300" dirty="0"/>
          </a:p>
        </p:txBody>
      </p:sp>
      <p:sp>
        <p:nvSpPr>
          <p:cNvPr id="6" name="Shape 4"/>
          <p:cNvSpPr/>
          <p:nvPr/>
        </p:nvSpPr>
        <p:spPr>
          <a:xfrm>
            <a:off x="457200" y="136245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624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25880"/>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network is flat and open: 25,361 reachable nodes, 99.67 percent on Bitcoin Core code, nearly half of them behind Tor</a:t>
            </a:r>
            <a:endParaRPr lang="en-US" sz="1250" dirty="0"/>
          </a:p>
        </p:txBody>
      </p:sp>
      <p:sp>
        <p:nvSpPr>
          <p:cNvPr id="9" name="Shape 7"/>
          <p:cNvSpPr/>
          <p:nvPr/>
        </p:nvSpPr>
        <p:spPr>
          <a:xfrm>
            <a:off x="457200" y="1984248"/>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842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47672"/>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Peers meet through DNS seeds and addr, shake hands on version 70016, and keep 8 full-relay and 2 block-relay-only links</a:t>
            </a:r>
            <a:endParaRPr lang="en-US" sz="1250" dirty="0"/>
          </a:p>
        </p:txBody>
      </p:sp>
      <p:sp>
        <p:nvSpPr>
          <p:cNvPr id="12" name="Shape 10"/>
          <p:cNvSpPr/>
          <p:nvPr/>
        </p:nvSpPr>
        <p:spPr>
          <a:xfrm>
            <a:off x="457200" y="260604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0604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69464"/>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Blocks travel as headers and compact blocks, payments as wtxid announcements, and the mempool stays local</a:t>
            </a:r>
            <a:endParaRPr lang="en-US" sz="1250" dirty="0"/>
          </a:p>
        </p:txBody>
      </p:sp>
      <p:sp>
        <p:nvSpPr>
          <p:cNvPr id="15" name="Shape 13"/>
          <p:cNvSpPr/>
          <p:nvPr/>
        </p:nvSpPr>
        <p:spPr>
          <a:xfrm>
            <a:off x="457200" y="3227832"/>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2783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91256"/>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light client needs headers and a Merkle path; Bloom filters leaked and are off, block filters turn the question around</a:t>
            </a:r>
            <a:endParaRPr lang="en-US" sz="1250" dirty="0"/>
          </a:p>
        </p:txBody>
      </p:sp>
      <p:sp>
        <p:nvSpPr>
          <p:cNvPr id="18" name="Shape 16"/>
          <p:cNvSpPr/>
          <p:nvPr/>
        </p:nvSpPr>
        <p:spPr>
          <a:xfrm>
            <a:off x="457200" y="3849624"/>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4962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813048"/>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Since print the wire is encrypted by default, I2P and CJDNS join Tor, and the orphan and mempool rules have moved</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part's consoles carry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26</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Opened on 2026-10-15;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Optech topic, compact block relay  </a:t>
            </a:r>
            <a:r>
              <a:rPr lang="en-US" sz="1000"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bitcoinops.org/en/topics/compact-block-relay/</a:t>
            </a:r>
            <a:endParaRPr lang="en-US" sz="1000" dirty="0"/>
          </a:p>
        </p:txBody>
      </p:sp>
      <p:sp>
        <p:nvSpPr>
          <p:cNvPr id="9" name="Shape 7"/>
          <p:cNvSpPr/>
          <p:nvPr/>
        </p:nvSpPr>
        <p:spPr>
          <a:xfrm>
            <a:off x="493776" y="2048256"/>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Optech topic, v2 P2P transport  </a:t>
            </a:r>
            <a:r>
              <a:rPr lang="en-US" sz="1000"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bitcoinops.org/en/topics/v2-p2p-transport/</a:t>
            </a:r>
            <a:endParaRPr lang="en-US" sz="1000" dirty="0"/>
          </a:p>
        </p:txBody>
      </p:sp>
      <p:sp>
        <p:nvSpPr>
          <p:cNvPr id="11" name="Shape 9"/>
          <p:cNvSpPr/>
          <p:nvPr/>
        </p:nvSpPr>
        <p:spPr>
          <a:xfrm>
            <a:off x="493776" y="2377440"/>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30428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Bitnodes, the live node census  </a:t>
            </a:r>
            <a:r>
              <a:rPr lang="en-US" sz="1000"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bitnodes.io/</a:t>
            </a:r>
            <a:endParaRPr lang="en-US" sz="1000" dirty="0"/>
          </a:p>
        </p:txBody>
      </p:sp>
      <p:sp>
        <p:nvSpPr>
          <p:cNvPr id="13" name="Text 11"/>
          <p:cNvSpPr txBox="1"/>
          <p:nvPr/>
        </p:nvSpPr>
        <p:spPr>
          <a:xfrm>
            <a:off x="457200" y="270662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Standards and papers</a:t>
            </a:r>
            <a:endParaRPr lang="en-US" sz="1250" dirty="0"/>
          </a:p>
        </p:txBody>
      </p:sp>
      <p:sp>
        <p:nvSpPr>
          <p:cNvPr id="14" name="Shape 12"/>
          <p:cNvSpPr/>
          <p:nvPr/>
        </p:nvSpPr>
        <p:spPr>
          <a:xfrm>
            <a:off x="493776" y="3054096"/>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BIP 152, compact block relay  </a:t>
            </a:r>
            <a:r>
              <a:rPr lang="en-US" sz="1000"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bips.dev/152/</a:t>
            </a:r>
            <a:endParaRPr lang="en-US" sz="1000" dirty="0"/>
          </a:p>
        </p:txBody>
      </p:sp>
      <p:sp>
        <p:nvSpPr>
          <p:cNvPr id="16" name="Shape 14"/>
          <p:cNvSpPr/>
          <p:nvPr/>
        </p:nvSpPr>
        <p:spPr>
          <a:xfrm>
            <a:off x="493776" y="3383280"/>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31012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BIP 324, v2 encrypted transport  </a:t>
            </a:r>
            <a:r>
              <a:rPr lang="en-US" sz="1000"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bips.dev/324/</a:t>
            </a:r>
            <a:endParaRPr lang="en-US" sz="1000" dirty="0"/>
          </a:p>
        </p:txBody>
      </p:sp>
      <p:sp>
        <p:nvSpPr>
          <p:cNvPr id="18" name="Shape 16"/>
          <p:cNvSpPr/>
          <p:nvPr/>
        </p:nvSpPr>
        <p:spPr>
          <a:xfrm>
            <a:off x="493776" y="371246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3639312"/>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Heilman et al., eclipse attacks  </a:t>
            </a:r>
            <a:r>
              <a:rPr lang="en-US" sz="1000"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usenix.org/conference/usenixsecurity15/technical-sessions/presentation/heilman</a:t>
            </a:r>
            <a:endParaRPr lang="en-US" sz="1000" dirty="0"/>
          </a:p>
        </p:txBody>
      </p:sp>
      <p:sp>
        <p:nvSpPr>
          <p:cNvPr id="20" name="Text 18"/>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Watch</a:t>
            </a:r>
            <a:endParaRPr lang="en-US" sz="1250" dirty="0"/>
          </a:p>
        </p:txBody>
      </p:sp>
      <p:sp>
        <p:nvSpPr>
          <p:cNvPr id="21" name="Shape 19"/>
          <p:cNvSpPr/>
          <p:nvPr/>
        </p:nvSpPr>
        <p:spPr>
          <a:xfrm>
            <a:off x="4768596" y="1719072"/>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USENIX talk: eclipse attacks (video)  </a:t>
            </a:r>
            <a:r>
              <a:rPr lang="en-US" sz="1000"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youtube.com/embed/b-qGTj2Vvns</a:t>
            </a:r>
            <a:endParaRPr lang="en-US" sz="1000" dirty="0"/>
          </a:p>
        </p:txBody>
      </p:sp>
      <p:sp>
        <p:nvSpPr>
          <p:cNvPr id="23" name="Shape 21"/>
          <p:cNvSpPr/>
          <p:nvPr/>
        </p:nvSpPr>
        <p:spPr>
          <a:xfrm>
            <a:off x="4768596" y="2048256"/>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Neutrino light client (video)  </a:t>
            </a:r>
            <a:r>
              <a:rPr lang="en-US" sz="1000"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youtube.com/embed/7FWKc8lM4Ek</a:t>
            </a:r>
            <a:endParaRPr lang="en-US" sz="1000" dirty="0"/>
          </a:p>
        </p:txBody>
      </p:sp>
      <p:sp>
        <p:nvSpPr>
          <p:cNvPr id="25" name="Text 23"/>
          <p:cNvSpPr txBox="1"/>
          <p:nvPr/>
        </p:nvSpPr>
        <p:spPr>
          <a:xfrm>
            <a:off x="4732020" y="237744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26" name="Shape 24"/>
          <p:cNvSpPr/>
          <p:nvPr/>
        </p:nvSpPr>
        <p:spPr>
          <a:xfrm>
            <a:off x="4768596" y="2724912"/>
            <a:ext cx="82296" cy="82296"/>
          </a:xfrm>
          <a:prstGeom prst="ellipse">
            <a:avLst/>
          </a:prstGeom>
          <a:solidFill>
            <a:srgbClr val="D97A14"/>
          </a:solidFill>
          <a:ln w="12700">
            <a:solidFill>
              <a:srgbClr val="D97A14"/>
            </a:solidFill>
            <a:prstDash val="solid"/>
          </a:ln>
        </p:spPr>
      </p:sp>
      <p:sp>
        <p:nvSpPr>
          <p:cNvPr id="27" name="Text 25"/>
          <p:cNvSpPr txBox="1"/>
          <p:nvPr/>
        </p:nvSpPr>
        <p:spPr>
          <a:xfrm>
            <a:off x="4933188" y="265176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Bitcoin Optech newsletters  </a:t>
            </a:r>
            <a:r>
              <a:rPr lang="en-US" sz="1000"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bitcoinops.org/en/newsletters/</a:t>
            </a:r>
            <a:endParaRPr lang="en-US" sz="1000" dirty="0"/>
          </a:p>
        </p:txBody>
      </p:sp>
      <p:sp>
        <p:nvSpPr>
          <p:cNvPr id="28" name="Shape 26"/>
          <p:cNvSpPr/>
          <p:nvPr/>
        </p:nvSpPr>
        <p:spPr>
          <a:xfrm>
            <a:off x="4768596" y="3054096"/>
            <a:ext cx="82296" cy="82296"/>
          </a:xfrm>
          <a:prstGeom prst="ellipse">
            <a:avLst/>
          </a:prstGeom>
          <a:solidFill>
            <a:srgbClr val="D97A14"/>
          </a:solidFill>
          <a:ln w="12700">
            <a:solidFill>
              <a:srgbClr val="D97A14"/>
            </a:solidFill>
            <a:prstDash val="solid"/>
          </a:ln>
        </p:spPr>
      </p:sp>
      <p:sp>
        <p:nvSpPr>
          <p:cNvPr id="29" name="Text 27"/>
          <p:cNvSpPr txBox="1"/>
          <p:nvPr/>
        </p:nvSpPr>
        <p:spPr>
          <a:xfrm>
            <a:off x="493318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Delving Bitcoin, research forum  </a:t>
            </a:r>
            <a:r>
              <a:rPr lang="en-US" sz="1000"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delvingbitcoin.org/</a:t>
            </a:r>
            <a:endParaRPr lang="en-US" sz="1000" dirty="0"/>
          </a:p>
        </p:txBody>
      </p:sp>
      <p:sp>
        <p:nvSpPr>
          <p:cNvPr id="30" name="Shape 28"/>
          <p:cNvSpPr/>
          <p:nvPr/>
        </p:nvSpPr>
        <p:spPr>
          <a:xfrm>
            <a:off x="4768596" y="3383280"/>
            <a:ext cx="82296" cy="82296"/>
          </a:xfrm>
          <a:prstGeom prst="ellipse">
            <a:avLst/>
          </a:prstGeom>
          <a:solidFill>
            <a:srgbClr val="D97A14"/>
          </a:solidFill>
          <a:ln w="12700">
            <a:solidFill>
              <a:srgbClr val="D97A14"/>
            </a:solidFill>
            <a:prstDash val="solid"/>
          </a:ln>
        </p:spPr>
      </p:sp>
      <p:sp>
        <p:nvSpPr>
          <p:cNvPr id="31" name="Text 29"/>
          <p:cNvSpPr txBox="1"/>
          <p:nvPr/>
        </p:nvSpPr>
        <p:spPr>
          <a:xfrm>
            <a:off x="4933188" y="331012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The bitcoin-dev group  </a:t>
            </a:r>
            <a:r>
              <a:rPr lang="en-US" sz="1000"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groups.google.com/g/bitcoindev</a:t>
            </a:r>
            <a:endParaRPr lang="en-US" sz="100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Watch the eclipse talk, then read the Optech topic beside the chapter</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26</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txBody>
          <a:bodyPr/>
          <a:p/>
        </p:txBody>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Who is on the network, and how two nodes meet</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blocks and payments travel, and what a node keeps</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a light client checks a payment without the chain</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stays hidden now: v2 transport, filters, Tor, I2P</a:t>
            </a:r>
            <a:endParaRPr lang="en-US" sz="1600" dirty="0"/>
          </a:p>
        </p:txBody>
      </p:sp>
      <p:sp>
        <p:nvSpPr>
          <p:cNvPr id="6" name="Text 4"/>
          <p:cNvSpPr txBox="1"/>
          <p:nvPr/>
        </p:nvSpPr>
        <p:spPr>
          <a:xfrm>
            <a:off x="548640" y="4407408"/>
            <a:ext cx="71323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10</dc:title>
  <dc:subject>PptxGenJS Presentation</dc:subject>
  <dc:creator>Yusuf Altunel</dc:creator>
  <cp:lastModifiedBy>Yusuf Altunel</cp:lastModifiedBy>
  <cp:revision>1</cp:revision>
  <dcterms:created xsi:type="dcterms:W3CDTF">2026-10-15T11:05:31Z</dcterms:created>
  <dcterms:modified xsi:type="dcterms:W3CDTF">2026-10-15T11:05:31Z</dcterms:modified>
  <cp:version>1.0.0</cp:version>
</cp:coreProperties>
</file>