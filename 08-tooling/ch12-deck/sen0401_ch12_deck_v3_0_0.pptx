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10.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notesMasterIdLst>
    <p:notesMasterId r:id="rId5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notesMaster" Target="notesMasters/notesMaster1.xml"/><Relationship Id="rId54" Type="http://schemas.openxmlformats.org/officeDocument/2006/relationships/presProps" Target="presProps.xml"/><Relationship Id="rId55" Type="http://schemas.openxmlformats.org/officeDocument/2006/relationships/viewProps" Target="viewProps.xml"/><Relationship Id="rId56" Type="http://schemas.openxmlformats.org/officeDocument/2006/relationships/theme" Target="theme/theme1.xml"/><Relationship Id="rId57"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10.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coins</c:v>
                </c:pt>
              </c:strCache>
            </c:strRef>
          </c:tx>
          <c:spPr>
            <a:solidFill>
              <a:srgbClr val="D97A14"/>
            </a:solidFill>
            <a:effectLst/>
          </c:spPr>
          <c:invertIfNegative val="0"/>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dPt>
            <c:idx val="4"/>
            <c:invertIfNegative val="0"/>
            <c:bubble3D val="0"/>
            <c:spPr>
              <a:solidFill>
                <a:srgbClr val="D97A14"/>
              </a:solidFill>
              <a:effectLst/>
            </c:spPr>
          </c:dPt>
          <c:cat>
            <c:multiLvlStrRef>
              <c:f>Sheet1!$A$2:$A$6</c:f>
              <c:multiLvlStrCache>
                <c:ptCount val="5"/>
                <c:lvl>
                  <c:pt idx="0">
                    <c:v>0</c:v>
                  </c:pt>
                  <c:pt idx="1">
                    <c:v>210,000</c:v>
                  </c:pt>
                  <c:pt idx="2">
                    <c:v>420,000</c:v>
                  </c:pt>
                  <c:pt idx="3">
                    <c:v>630,000</c:v>
                  </c:pt>
                  <c:pt idx="4">
                    <c:v>840,000</c:v>
                  </c:pt>
                </c:lvl>
              </c:multiLvlStrCache>
            </c:multiLvlStrRef>
          </c:cat>
          <c:val>
            <c:numRef>
              <c:f>Sheet1!$B$2:$B$6</c:f>
              <c:numCache>
                <c:formatCode>General</c:formatCode>
                <c:ptCount val="5"/>
                <c:pt idx="0">
                  <c:v>50</c:v>
                </c:pt>
                <c:pt idx="1">
                  <c:v>25</c:v>
                </c:pt>
                <c:pt idx="2">
                  <c:v>12.5</c:v>
                </c:pt>
                <c:pt idx="3">
                  <c:v>6.25</c:v>
                </c:pt>
                <c:pt idx="4">
                  <c:v>3.125</c:v>
                </c:pt>
              </c:numCache>
            </c:numRef>
          </c:val>
        </c:ser>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satoshis</c:v>
                </c:pt>
              </c:strCache>
            </c:strRef>
          </c:tx>
          <c:spPr>
            <a:solidFill>
              <a:srgbClr val="D97A14"/>
            </a:solidFill>
            <a:effectLst/>
          </c:spPr>
          <c:invertIfNegative val="0"/>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cat>
            <c:multiLvlStrRef>
              <c:f>Sheet1!$A$2:$A$5</c:f>
              <c:multiLvlStrCache>
                <c:ptCount val="4"/>
                <c:lvl>
                  <c:pt idx="0">
                    <c:v>Subsidy</c:v>
                  </c:pt>
                  <c:pt idx="1">
                    <c:v>Fees</c:v>
                  </c:pt>
                  <c:pt idx="2">
                    <c:v>Reward offered</c:v>
                  </c:pt>
                  <c:pt idx="3">
                    <c:v>Claimed</c:v>
                  </c:pt>
                </c:lvl>
              </c:multiLvlStrCache>
            </c:multiLvlStrRef>
          </c:cat>
          <c:val>
            <c:numRef>
              <c:f>Sheet1!$B$2:$B$5</c:f>
              <c:numCache>
                <c:formatCode>General</c:formatCode>
                <c:ptCount val="4"/>
                <c:pt idx="0">
                  <c:v>305175</c:v>
                </c:pt>
                <c:pt idx="1">
                  <c:v>40194</c:v>
                </c:pt>
                <c:pt idx="2">
                  <c:v>345369</c:v>
                </c:pt>
                <c:pt idx="3">
                  <c:v>345368</c:v>
                </c:pt>
              </c:numCache>
            </c:numRef>
          </c:val>
        </c:ser>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chain work</c:v>
                </c:pt>
              </c:strCache>
            </c:strRef>
          </c:tx>
          <c:spPr>
            <a:solidFill>
              <a:srgbClr val="D97A14"/>
            </a:solidFill>
            <a:effectLst/>
          </c:spPr>
          <c:invertIfNegative val="0"/>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cat>
            <c:multiLvlStrRef>
              <c:f>Sheet1!$A$2:$A$3</c:f>
              <c:multiLvlStrCache>
                <c:ptCount val="2"/>
                <c:lvl>
                  <c:pt idx="0">
                    <c:v>First branch</c:v>
                  </c:pt>
                  <c:pt idx="1">
                    <c:v>Second branch</c:v>
                  </c:pt>
                </c:lvl>
              </c:multiLvlStrCache>
            </c:multiLvlStrRef>
          </c:cat>
          <c:val>
            <c:numRef>
              <c:f>Sheet1!$B$2:$B$3</c:f>
              <c:numCache>
                <c:formatCode>General</c:formatCode>
                <c:ptCount val="2"/>
                <c:pt idx="0">
                  <c:v>206</c:v>
                </c:pt>
                <c:pt idx="1">
                  <c:v>208</c:v>
                </c:pt>
              </c:numCache>
            </c:numRef>
          </c:val>
        </c:ser>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tries</c:v>
                </c:pt>
              </c:strCache>
            </c:strRef>
          </c:tx>
          <c:spPr>
            <a:solidFill>
              <a:srgbClr val="D97A14"/>
            </a:solidFill>
            <a:effectLst/>
          </c:spPr>
          <c:invertIfNegative val="0"/>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cat>
            <c:multiLvlStrRef>
              <c:f>Sheet1!$A$2:$A$5</c:f>
              <c:multiLvlStrCache>
                <c:ptCount val="4"/>
                <c:lvl>
                  <c:pt idx="0">
                    <c:v>1 zero</c:v>
                  </c:pt>
                  <c:pt idx="1">
                    <c:v>2 zeros</c:v>
                  </c:pt>
                  <c:pt idx="2">
                    <c:v>3 zeros</c:v>
                  </c:pt>
                  <c:pt idx="3">
                    <c:v>4 zeros</c:v>
                  </c:pt>
                </c:lvl>
              </c:multiLvlStrCache>
            </c:multiLvlStrRef>
          </c:cat>
          <c:val>
            <c:numRef>
              <c:f>Sheet1!$B$2:$B$5</c:f>
              <c:numCache>
                <c:formatCode>General</c:formatCode>
                <c:ptCount val="4"/>
                <c:pt idx="0">
                  <c:v>32</c:v>
                </c:pt>
                <c:pt idx="1">
                  <c:v>228</c:v>
                </c:pt>
                <c:pt idx="2">
                  <c:v>3460</c:v>
                </c:pt>
                <c:pt idx="3">
                  <c:v>27835</c:v>
                </c:pt>
              </c:numCache>
            </c:numRef>
          </c:val>
        </c:ser>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target ratio</c:v>
                </c:pt>
              </c:strCache>
            </c:strRef>
          </c:tx>
          <c:spPr>
            <a:solidFill>
              <a:srgbClr val="D97A14"/>
            </a:solidFill>
            <a:effectLst/>
          </c:spPr>
          <c:invertIfNegative val="0"/>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cat>
            <c:multiLvlStrRef>
              <c:f>Sheet1!$A$2:$A$4</c:f>
              <c:multiLvlStrCache>
                <c:ptCount val="3"/>
                <c:lvl>
                  <c:pt idx="0">
                    <c:v>Far too fast</c:v>
                  </c:pt>
                  <c:pt idx="1">
                    <c:v>On time</c:v>
                  </c:pt>
                  <c:pt idx="2">
                    <c:v>Far too slow</c:v>
                  </c:pt>
                </c:lvl>
              </c:multiLvlStrCache>
            </c:multiLvlStrRef>
          </c:cat>
          <c:val>
            <c:numRef>
              <c:f>Sheet1!$B$2:$B$4</c:f>
              <c:numCache>
                <c:formatCode>General</c:formatCode>
                <c:ptCount val="3"/>
                <c:pt idx="0">
                  <c:v>0.25</c:v>
                </c:pt>
                <c:pt idx="1">
                  <c:v>1</c:v>
                </c:pt>
                <c:pt idx="2">
                  <c:v>4</c:v>
                </c:pt>
              </c:numCache>
            </c:numRef>
          </c:val>
        </c:ser>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bits</c:v>
                </c:pt>
              </c:strCache>
            </c:strRef>
          </c:tx>
          <c:spPr>
            <a:solidFill>
              <a:srgbClr val="D97A14"/>
            </a:solidFill>
            <a:effectLst/>
          </c:spPr>
          <c:invertIfNegative val="0"/>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cat>
            <c:multiLvlStrRef>
              <c:f>Sheet1!$A$2:$A$3</c:f>
              <c:multiLvlStrCache>
                <c:ptCount val="2"/>
                <c:lvl>
                  <c:pt idx="0">
                    <c:v>Header nonce</c:v>
                  </c:pt>
                  <c:pt idx="1">
                    <c:v>Version rolling</c:v>
                  </c:pt>
                </c:lvl>
              </c:multiLvlStrCache>
            </c:multiLvlStrRef>
          </c:cat>
          <c:val>
            <c:numRef>
              <c:f>Sheet1!$B$2:$B$3</c:f>
              <c:numCache>
                <c:formatCode>General</c:formatCode>
                <c:ptCount val="2"/>
                <c:pt idx="0">
                  <c:v>32</c:v>
                </c:pt>
                <c:pt idx="1">
                  <c:v>16</c:v>
                </c:pt>
              </c:numCache>
            </c:numRef>
          </c:val>
        </c:ser>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days</c:v>
                </c:pt>
              </c:strCache>
            </c:strRef>
          </c:tx>
          <c:spPr>
            <a:solidFill>
              <a:srgbClr val="D97A14"/>
            </a:solidFill>
            <a:effectLst/>
          </c:spPr>
          <c:invertIfNegative val="0"/>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cat>
            <c:multiLvlStrRef>
              <c:f>Sheet1!$A$2:$A$5</c:f>
              <c:multiLvlStrCache>
                <c:ptCount val="4"/>
                <c:lvl>
                  <c:pt idx="0">
                    <c:v>10 percent</c:v>
                  </c:pt>
                  <c:pt idx="1">
                    <c:v>1 percent</c:v>
                  </c:pt>
                  <c:pt idx="2">
                    <c:v>0.1 percent</c:v>
                  </c:pt>
                  <c:pt idx="3">
                    <c:v>0.01 percent</c:v>
                  </c:pt>
                </c:lvl>
              </c:multiLvlStrCache>
            </c:multiLvlStrRef>
          </c:cat>
          <c:val>
            <c:numRef>
              <c:f>Sheet1!$B$2:$B$5</c:f>
              <c:numCache>
                <c:formatCode>General</c:formatCode>
                <c:ptCount val="4"/>
                <c:pt idx="0">
                  <c:v>0.1</c:v>
                </c:pt>
                <c:pt idx="1">
                  <c:v>0.7</c:v>
                </c:pt>
                <c:pt idx="2">
                  <c:v>6.9</c:v>
                </c:pt>
                <c:pt idx="3">
                  <c:v>69.4</c:v>
                </c:pt>
              </c:numCache>
            </c:numRef>
          </c:val>
        </c:ser>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chance</c:v>
                </c:pt>
              </c:strCache>
            </c:strRef>
          </c:tx>
          <c:spPr>
            <a:solidFill>
              <a:srgbClr val="D97A14"/>
            </a:solidFill>
            <a:effectLst/>
          </c:spPr>
          <c:invertIfNegative val="0"/>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cat>
            <c:multiLvlStrRef>
              <c:f>Sheet1!$A$2:$A$4</c:f>
              <c:multiLvlStrCache>
                <c:ptCount val="3"/>
                <c:lvl>
                  <c:pt idx="0">
                    <c:v>Share 10 percent</c:v>
                  </c:pt>
                  <c:pt idx="1">
                    <c:v>Share 30 percent</c:v>
                  </c:pt>
                  <c:pt idx="2">
                    <c:v>Share 45 percent</c:v>
                  </c:pt>
                </c:lvl>
              </c:multiLvlStrCache>
            </c:multiLvlStrRef>
          </c:cat>
          <c:val>
            <c:numRef>
              <c:f>Sheet1!$B$2:$B$4</c:f>
              <c:numCache>
                <c:formatCode>General</c:formatCode>
                <c:ptCount val="3"/>
                <c:pt idx="0">
                  <c:v>0.0002</c:v>
                </c:pt>
                <c:pt idx="1">
                  <c:v>0.1321</c:v>
                </c:pt>
                <c:pt idx="2">
                  <c:v>0.7661</c:v>
                </c:pt>
              </c:numCache>
            </c:numRef>
          </c:val>
        </c:ser>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days</c:v>
                </c:pt>
              </c:strCache>
            </c:strRef>
          </c:tx>
          <c:spPr>
            <a:solidFill>
              <a:srgbClr val="D97A14"/>
            </a:solidFill>
            <a:effectLst/>
          </c:spPr>
          <c:invertIfNegative val="0"/>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cat>
            <c:multiLvlStrRef>
              <c:f>Sheet1!$A$2:$A$5</c:f>
              <c:multiLvlStrCache>
                <c:ptCount val="4"/>
                <c:lvl>
                  <c:pt idx="0">
                    <c:v>80 percent</c:v>
                  </c:pt>
                  <c:pt idx="1">
                    <c:v>50 percent</c:v>
                  </c:pt>
                  <c:pt idx="2">
                    <c:v>20 percent</c:v>
                  </c:pt>
                  <c:pt idx="3">
                    <c:v>10 percent</c:v>
                  </c:pt>
                </c:lvl>
              </c:multiLvlStrCache>
            </c:multiLvlStrRef>
          </c:cat>
          <c:val>
            <c:numRef>
              <c:f>Sheet1!$B$2:$B$5</c:f>
              <c:numCache>
                <c:formatCode>General</c:formatCode>
                <c:ptCount val="4"/>
                <c:pt idx="0">
                  <c:v>18</c:v>
                </c:pt>
                <c:pt idx="1">
                  <c:v>28</c:v>
                </c:pt>
                <c:pt idx="2">
                  <c:v>70</c:v>
                </c:pt>
                <c:pt idx="3">
                  <c:v>140</c:v>
                </c:pt>
              </c:numCache>
            </c:numRef>
          </c:val>
        </c:ser>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height</c:v>
                </c:pt>
              </c:strCache>
            </c:strRef>
          </c:tx>
          <c:spPr>
            <a:solidFill>
              <a:srgbClr val="D97A14"/>
            </a:solidFill>
            <a:effectLst/>
          </c:spPr>
          <c:invertIfNegative val="0"/>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cat>
            <c:multiLvlStrRef>
              <c:f>Sheet1!$A$2:$A$5</c:f>
              <c:multiLvlStrCache>
                <c:ptCount val="4"/>
                <c:lvl>
                  <c:pt idx="0">
                    <c:v>BIP 34</c:v>
                  </c:pt>
                  <c:pt idx="1">
                    <c:v>BIP 66</c:v>
                  </c:pt>
                  <c:pt idx="2">
                    <c:v>CSV</c:v>
                  </c:pt>
                  <c:pt idx="3">
                    <c:v>SegWit</c:v>
                  </c:pt>
                </c:lvl>
              </c:multiLvlStrCache>
            </c:multiLvlStrRef>
          </c:cat>
          <c:val>
            <c:numRef>
              <c:f>Sheet1!$B$2:$B$5</c:f>
              <c:numCache>
                <c:formatCode>General</c:formatCode>
                <c:ptCount val="4"/>
                <c:pt idx="0">
                  <c:v>227931</c:v>
                </c:pt>
                <c:pt idx="1">
                  <c:v>363725</c:v>
                </c:pt>
                <c:pt idx="2">
                  <c:v>419328</c:v>
                </c:pt>
                <c:pt idx="3">
                  <c:v>481824</c:v>
                </c:pt>
              </c:numCache>
            </c:numRef>
          </c:val>
        </c:ser>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explains how a miner earns a reward, how every node checks and chooses blocks, how proof of work sets the pace, and how the rules of Bitcoin are changed. Every number on a result picture was computed with the chapter's own Python library or read from one recorded run of Bitcoin Core 31.1.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route has six parts that follow the order of the chapter. Four true stories and twenty-two code examples are spread across them. The examples are listed in the same order in the chapter code tab of the course page, so every listing here can be run and edited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seven questions are the chapter's own, rewritten so that each has an answer on a slide. We return to them in the summary. A reader who can answer all seven has understood the chapter.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 has six parts. Together they hold 51 key concepts. Each part gets a divider, concept cards with everyday comparisons, code that runs, and some parts a true story. The deck follows the order of the chapter.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miner is paid in new coins and fees. This part shows how the subsidy halves, why the supply stops just below 21 million coins, and how Core checks that a miner claims no more than the reward.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6 key concepts of the part Money and rewards. Each pairs a short meaning with something from everyday life. The full explanation is on the course page, chapter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reward starts at 50 coins and is cut in half at every multiple of 210,000 blocks. The shift is done in whole satoshis, so after the 33rd halving a single satoshi is left, and after the 34th nothing. The sum of all rewards sets the supply. It is example 1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Adding the 33 non-zero rewards in whole satoshis gives a total just below 21 million coins. The book's script divides with a slash, which in Python 3 is a float division. Run as printed it ends at a float and never shows the shortfall. It is example 2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Bitcoin Core offered a reward made of the subsidy and the fees of the chosen transactions. A miner claimed one satoshi less and the block was accepted. A test block that claimed one satoshi more was refused with the name bad-cb-amount. It is example 3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2024-04-20. Block 840,000 was mined at 00:09:27 UTC on 20 April 2024 and was the first to pay the new subsidy of 3.125 coins, half of 6.25. The lesson is that the subsidy halves on schedule, but fees can swing wildly.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one is in charge, so every node checks everything itself. We run the rules for transactions and blocks, and see why the chain with the most work wins, not the longest chain.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Transaction checklist, Block checklist, Coinbase maturity and Most work, not longest. Each pairs a short meaning with something from everyday life, so that the idea can be retold in your own words. The full explanation is on the course page, chapter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node tests every transaction against the same rules. We asked a private node about a spoiled transaction and got a named reason each time. A coinbase output is refused at depth 99 and accepted at depth 100. It is example 4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block checks go further than the transaction checks. We handed Core blocks that each broke one rule. The reward one satoshi too high, a missing height, a wrong merkle root, a wrong clock or an old version each got its own named reason. It is example 5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branches were built, and the first paid Carol. The second branch carried more chain work, so Core switched to it and the payment fell out of the chain. This is why a shop waits for confirmations. It is example 6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the lottery starts the miner builds a candidate block. We read the coinbase that Core makes today, take an 80-byte header apart, and see how the extra nonce gives a new search space.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Block template, Coinbase fields of Bitcoin Core today, Coinbase data and tags, BIP 34 height push, Witness commitment and The extra nonce space. Each pairs a short meaning with something from everyday life, so that the idea can be retold in your own words. The full explanation is on the course page, chapter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coinbase script starts with the block height as a short pushed number. Bitcoin Core 31.1 also sets the lock time to the height minus one and a sequence below the maximum. The template's weight limit leaves room for the block header. It is example 7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The extra nonce changes the root, Median time past and Two-hour rule. Each pairs a short meaning with something from everyday life, so that the idea can be retold in your own words. The full explanation is on the course page, chapter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header of a regtest block is eighty bytes with six fields. Its hash, read as a number, is not larger than the target that the bits describe. On regtest the target is huge, so a few zero bits are enough. It is example 8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miner that has used up the nonce changes a counter in the coinbase script. That changes the coinbase id, the merkle root and so the whole header. The header's own nonce can start again from zero. It is example 9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Proof of work is a lottery with a target. We play it with a text, read the target from the bits, turn difficulty into days, and follow the retarget rule on a real period of 2024.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The Hello World nonce, Proof is cheap to check, Hash below target, Compact bits, The wait of a terahash miner and Hash rate from difficulty. Each pairs a short meaning with something from everyday life, so that the idea can be retold in your own words. The full explanation is on the course page, chapter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book hashes a text with a counter added. The first hash that starts with a zero comes at counter 32. Every further zero digit makes the search about sixteen times longer, while checking the answer always takes a single hash. It is example 10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2002-08-01. Proof of work did not start with Bitcoin: Cynthia Dwork and Moni Naor proposed in 1992 that a user should compute a moderately hard function before using a shared resource, to fight junk mail. The lesson is that a cheap check of an expensive search can price any request.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The 2015-gap retarget, The factor-of-four clamp, The BIP 94 branch and Regtest never retargets. Each pairs a short meaning with something from everyday life, so that the idea can be retold in your own words. The full explanation is on the course page, chapter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header stores the target as four bytes called bits. Block 277,316 has bits 1903a30c, a target of 194 bits. The difficulty is the number of times smaller this target is than the easiest one. A valid hash must start with 62 zero bits. It is example 11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Difficulty times two to the 32 is the number of hashes to find a block. A miner doing one terahash a second waits about 59 days at that difficulty. The same formula applied to today's difficulty estimates the network hash rate. It is example 12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2,016 blocks Bitcoin scales the target by the real duration over the intended fourteen days. The period before block 840,672 took 1,186,047 seconds, a little short of fourteen days. The rule gives the bits that the chain really has. It is example 13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period of 2,016 blocks may be much faster or slower than planned. To protect the network the rule limits the change of the target to a quarter or four times. The ratios stop at those two values. It is example 14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chain has its own constants in the source file. Regtest sets a flag that stops all retargeting, so its bits stay put after 2,016 blocks. Testnet4 enforces BIP 94, a branch of the retarget code that the book's listing does not have. It is example 15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Mining is a race. The nonce space runs out, small miners form pools, and a large share of the power buys the odds of an attack. We compute each of these.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The nonce space is tiny, Version rolling, Covert ASICBoost, Pool shares and fees, Stratum protocols and Solo miner variance. Each pairs a short meaning with something from everyday life, so that the idea can be retold in your own words. The full explanation is on the course page, chapter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32-bit nonce gives 4.3 billion tries. The network does a thousand billion billion hashes a second, so the space is used up far too often. Miners vary the version field and the coinbase script to get new header contents. It is example 16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Block withholding, Nakamoto's catch-up odds and The selfish-mining threshold. Each pairs a short meaning with something from everyday life, so that the idea can be retold in your own words. The full explanation is on the course page, chapter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network finds 144 blocks a day. A miner with a small share of the power has to wait long for one block. A pool collects power and pays members for easy partial solutions, so the income comes in small regular amounts. It is example 17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The top pool against the thresholds and The limits of a majority attack. Each pairs a short meaning with something from everyday life, so that the idea can be retold in your own words. The full explanation is on the course page, chapter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Nakamoto's formula gives the chance that an attacker with a given share ever catches up from six blocks behind. The share needed for selfish mining falls as more honest miners follow the selfish block. It is example 18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Rules change by forks. We watch a looser and a stricter node disagree, time a minority chain, follow a BIP 9 vote and read the heights of old soft forks in the source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6 key concepts of the part Changing the rules. Each pairs a short meaning with something from everyday life. The full explanation is on the course page, chapter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node with the old, looser rule accepted a block that has no height. A node with the new, stricter rule refused it. The loose node went on building, and the two nodes ended with different tips. It is example 19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hard fork loosens the rules, so old nodes refuse the new blocks and two histories grow. A soft fork tightens them, so old nodes still accept every new block. A soft fork needs a majority of the miners, but not of the nodes.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BIP 8 lock-in by height, Segwit activation in 2017, Speedy Trial and taproot, Buried deployments and BIP 54 consensus cleanup. Each pairs a short meaning with something from everyday life, so that the idea can be retold in your own words. The full explanation is on the course page, chapter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a split a branch has the old difficulty but only a share of the hash rate. Blocks arrive more slowly, and the next retarget is far away. In March 2013 the old chain was kept for only six hours for this reason. It is example 20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2013-03-11. On 11 March 2013 at 23:24:19 UTC block 225,430, with 797 transactions, was mined and accepted by nodes of Bitcoin 0.8 but rejected by some older nodes. The lesson is that an accident in software can become a rule of the network.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deployment is defined, started, locked in and then active. Core, on a private chain, reported each state at six heights. BIP 9 asks for 95 percent of 2,016 blocks. The Speedy Trial of taproot asked for 90 percent. It is example 21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2021-11-14. Taproot was activated by a variant of BIP 9 called Speedy Trial, which opened on 24 April 2021, timed out on 11 August 2021 and needed 1,815 of 2,016 blocks, 90 percent, instead of 1,916. The lesson is that fail fast or succeed: a short vote keeps a soft fork calm.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Once a soft fork is old and settled, Bitcoin Core writes its activation as a plain height in the source file. We read the heights of four soft forks from the saved file. Nobody needs to count signals any more. It is example 22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five lines are the deck in miniature. A line that feels unproven should send you back to its code slide, because every figure in it was computed there. The chapter code tab of the course page reruns all twenty-two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here is free to read or watch, and every link was opened on the date in the subtitle. A good start is the video of 3Blue1Brown on how Bitcoin works, then the Optech topic on soft fork activation next to the chapter.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claims, each carried by a computation that ran on a slide of this deck. The course page for chapter 12 has every word behind them, the stories with their sources, and the question bank to test yourself.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charts/chart2.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hyperlink" Target="https://mempool.space/block/0000000000000000000320283a032748cef8227873ff4872689bf23f1cda83a5" TargetMode="External"/><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charts/chart3.xml"/><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chart" Target="../charts/chart4.xml"/><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hyperlink" Target="http://www.hashcash.org/papers/hashcash.pdf" TargetMode="External"/><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chart" Target="../charts/chart5.xml"/><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chart" Target="../charts/chart6.xml"/><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chart" Target="../charts/chart7.xml"/><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chart" Target="../charts/chart8.xml"/><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chart" Target="../charts/chart9.xml"/><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hyperlink" Target="https://bips.dev/50/" TargetMode="External"/><Relationship Id="rId3" Type="http://schemas.openxmlformats.org/officeDocument/2006/relationships/slideLayout" Target="../slideLayouts/slideLayout1.xml"/><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hyperlink" Target="https://bitcoincore.org/en/releases/0.21.1/" TargetMode="External"/><Relationship Id="rId3" Type="http://schemas.openxmlformats.org/officeDocument/2006/relationships/slideLayout" Target="../slideLayouts/slideLayout1.xml"/><Relationship Id="rId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chart" Target="../charts/chart10.xml"/><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hyperlink" Target="https://bitcoinops.org/en/topics/soft-fork-activation/" TargetMode="External"/><Relationship Id="rId2" Type="http://schemas.openxmlformats.org/officeDocument/2006/relationships/hyperlink" Target="https://bitcoinops.org/en/topics/selfish-mining/" TargetMode="External"/><Relationship Id="rId3" Type="http://schemas.openxmlformats.org/officeDocument/2006/relationships/hyperlink" Target="https://mempool.space/" TargetMode="External"/><Relationship Id="rId4" Type="http://schemas.openxmlformats.org/officeDocument/2006/relationships/hyperlink" Target="https://bips.dev/9/" TargetMode="External"/><Relationship Id="rId5" Type="http://schemas.openxmlformats.org/officeDocument/2006/relationships/hyperlink" Target="https://bips.dev/54/" TargetMode="External"/><Relationship Id="rId6" Type="http://schemas.openxmlformats.org/officeDocument/2006/relationships/hyperlink" Target="https://arxiv.org/abs/1311.0243" TargetMode="External"/><Relationship Id="rId7" Type="http://schemas.openxmlformats.org/officeDocument/2006/relationships/hyperlink" Target="https://www.youtube.com/embed/bBC-nXj3Ng4" TargetMode="External"/><Relationship Id="rId8" Type="http://schemas.openxmlformats.org/officeDocument/2006/relationships/hyperlink" Target="https://www.youtube.com/embed/9V1bipPkCTU" TargetMode="External"/><Relationship Id="rId9" Type="http://schemas.openxmlformats.org/officeDocument/2006/relationships/hyperlink" Target="https://bitcoinops.org/en/newsletters/" TargetMode="External"/><Relationship Id="rId10" Type="http://schemas.openxmlformats.org/officeDocument/2006/relationships/hyperlink" Target="https://delvingbitcoin.org/" TargetMode="External"/><Relationship Id="rId11" Type="http://schemas.openxmlformats.org/officeDocument/2006/relationships/hyperlink" Target="https://groups.google.com/g/bitcoindev" TargetMode="External"/><Relationship Id="rId12" Type="http://schemas.openxmlformats.org/officeDocument/2006/relationships/slideLayout" Target="../slideLayouts/slideLayout1.xml"/><Relationship Id="rId1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548640" y="960120"/>
            <a:ext cx="731520" cy="731520"/>
          </a:xfrm>
          <a:prstGeom prst="roundRect">
            <a:avLst>
              <a:gd name="adj" fmla="val 12500"/>
            </a:avLst>
          </a:prstGeom>
          <a:solidFill>
            <a:srgbClr val="2F6D62"/>
          </a:solidFill>
          <a:ln w="19050">
            <a:solidFill>
              <a:srgbClr val="D97A14"/>
            </a:solidFill>
            <a:prstDash val="solid"/>
          </a:ln>
        </p:spPr>
      </p:sp>
      <p:sp>
        <p:nvSpPr>
          <p:cNvPr id="3" name="Shape 1"/>
          <p:cNvSpPr/>
          <p:nvPr/>
        </p:nvSpPr>
        <p:spPr>
          <a:xfrm>
            <a:off x="1280160" y="1325880"/>
            <a:ext cx="228600" cy="0"/>
          </a:xfrm>
          <a:prstGeom prst="line">
            <a:avLst/>
          </a:prstGeom>
          <a:noFill/>
          <a:ln w="19050">
            <a:solidFill>
              <a:srgbClr val="D97A14"/>
            </a:solidFill>
            <a:prstDash val="solid"/>
          </a:ln>
        </p:spPr>
      </p:sp>
      <p:sp>
        <p:nvSpPr>
          <p:cNvPr id="4" name="Shape 2"/>
          <p:cNvSpPr/>
          <p:nvPr/>
        </p:nvSpPr>
        <p:spPr>
          <a:xfrm>
            <a:off x="1508760" y="960120"/>
            <a:ext cx="731520" cy="731520"/>
          </a:xfrm>
          <a:prstGeom prst="roundRect">
            <a:avLst>
              <a:gd name="adj" fmla="val 12500"/>
            </a:avLst>
          </a:prstGeom>
          <a:solidFill>
            <a:srgbClr val="2F6D62"/>
          </a:solidFill>
          <a:ln w="19050">
            <a:solidFill>
              <a:srgbClr val="D97A14"/>
            </a:solidFill>
            <a:prstDash val="solid"/>
          </a:ln>
        </p:spPr>
      </p:sp>
      <p:sp>
        <p:nvSpPr>
          <p:cNvPr id="5" name="Shape 3"/>
          <p:cNvSpPr/>
          <p:nvPr/>
        </p:nvSpPr>
        <p:spPr>
          <a:xfrm>
            <a:off x="2240280" y="1325880"/>
            <a:ext cx="228600" cy="0"/>
          </a:xfrm>
          <a:prstGeom prst="line">
            <a:avLst/>
          </a:prstGeom>
          <a:noFill/>
          <a:ln w="19050">
            <a:solidFill>
              <a:srgbClr val="D97A14"/>
            </a:solidFill>
            <a:prstDash val="solid"/>
          </a:ln>
        </p:spPr>
      </p:sp>
      <p:sp>
        <p:nvSpPr>
          <p:cNvPr id="6" name="Shape 4"/>
          <p:cNvSpPr/>
          <p:nvPr/>
        </p:nvSpPr>
        <p:spPr>
          <a:xfrm>
            <a:off x="2468880" y="960120"/>
            <a:ext cx="731520" cy="731520"/>
          </a:xfrm>
          <a:prstGeom prst="roundRect">
            <a:avLst>
              <a:gd name="adj" fmla="val 12500"/>
            </a:avLst>
          </a:prstGeom>
          <a:solidFill>
            <a:srgbClr val="D97A14"/>
          </a:solidFill>
          <a:ln w="19050">
            <a:solidFill>
              <a:srgbClr val="D97A14"/>
            </a:solidFill>
            <a:prstDash val="solid"/>
          </a:ln>
        </p:spPr>
      </p:sp>
      <p:sp>
        <p:nvSpPr>
          <p:cNvPr id="7" name="Text 5"/>
          <p:cNvSpPr txBox="1"/>
          <p:nvPr/>
        </p:nvSpPr>
        <p:spPr>
          <a:xfrm>
            <a:off x="2468880" y="960120"/>
            <a:ext cx="731520" cy="731520"/>
          </a:xfrm>
          <a:prstGeom prst="rect">
            <a:avLst/>
          </a:prstGeom>
          <a:noFill/>
          <a:ln/>
        </p:spPr>
        <p:txBody>
          <a:bodyPr wrap="square" lIns="0" tIns="0" rIns="0" bIns="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a:t>
            </a:r>
            <a:endParaRPr lang="en-US" sz="3000" dirty="0"/>
          </a:p>
        </p:txBody>
      </p:sp>
      <p:sp>
        <p:nvSpPr>
          <p:cNvPr id="8" name="Text 6"/>
          <p:cNvSpPr txBox="1"/>
          <p:nvPr/>
        </p:nvSpPr>
        <p:spPr>
          <a:xfrm>
            <a:off x="548640" y="2011680"/>
            <a:ext cx="8046720" cy="731520"/>
          </a:xfrm>
          <a:prstGeom prst="rect">
            <a:avLst/>
          </a:prstGeom>
          <a:noFill/>
          <a:ln/>
        </p:spPr>
        <p:txBody>
          <a:bodyPr wrap="square" lIns="0" tIns="0" rIns="0" bIns="0" rtlCol="0" anchor="ctr"/>
          <a:lstStyle/>
          <a:p>
            <a:pPr indent="0" marL="0">
              <a:buNone/>
            </a:pPr>
            <a:r>
              <a:rPr lang="en-US" sz="3600" b="1" dirty="0">
                <a:solidFill>
                  <a:srgbClr val="2B2622"/>
                </a:solidFill>
                <a:latin typeface="Cambria" pitchFamily="34" charset="0"/>
                <a:ea typeface="Cambria" pitchFamily="34" charset="-122"/>
                <a:cs typeface="Cambria" pitchFamily="34" charset="-120"/>
              </a:rPr>
              <a:t>Chapter 12: Mining and Consensus</a:t>
            </a:r>
            <a:endParaRPr lang="en-US" sz="3600" dirty="0"/>
          </a:p>
        </p:txBody>
      </p:sp>
      <p:sp>
        <p:nvSpPr>
          <p:cNvPr id="9" name="Text 7"/>
          <p:cNvSpPr txBox="1"/>
          <p:nvPr/>
        </p:nvSpPr>
        <p:spPr>
          <a:xfrm>
            <a:off x="548640" y="2743200"/>
            <a:ext cx="8046720" cy="640080"/>
          </a:xfrm>
          <a:prstGeom prst="rect">
            <a:avLst/>
          </a:prstGeom>
          <a:noFill/>
          <a:ln/>
        </p:spPr>
        <p:txBody>
          <a:bodyPr wrap="square" lIns="0" tIns="0" rIns="0" bIns="0" rtlCol="0" anchor="t"/>
          <a:lstStyle/>
          <a:p>
            <a:pPr indent="0" marL="0">
              <a:buNone/>
            </a:pPr>
            <a:r>
              <a:rPr lang="en-US" sz="1600" i="1" dirty="0">
                <a:solidFill>
                  <a:srgbClr val="2F6D62"/>
                </a:solidFill>
                <a:latin typeface="Calibri" pitchFamily="34" charset="0"/>
                <a:ea typeface="Calibri" pitchFamily="34" charset="-122"/>
                <a:cs typeface="Calibri" pitchFamily="34" charset="-120"/>
              </a:rPr>
              <a:t>Where rewards and blocks come from, how nodes agree on one chain, and how the rules change</a:t>
            </a:r>
            <a:endParaRPr lang="en-US" sz="1600" dirty="0"/>
          </a:p>
        </p:txBody>
      </p:sp>
      <p:sp>
        <p:nvSpPr>
          <p:cNvPr id="10" name="Text 8"/>
          <p:cNvSpPr txBox="1"/>
          <p:nvPr/>
        </p:nvSpPr>
        <p:spPr>
          <a:xfrm>
            <a:off x="548640" y="4224528"/>
            <a:ext cx="8046720" cy="411480"/>
          </a:xfrm>
          <a:prstGeom prst="rect">
            <a:avLst/>
          </a:prstGeom>
          <a:noFill/>
          <a:ln/>
        </p:spPr>
        <p:txBody>
          <a:bodyPr wrap="square" lIns="0" tIns="0" rIns="0" bIns="0" rtlCol="0" anchor="ctr"/>
          <a:lstStyle/>
          <a:p>
            <a:pPr indent="0" marL="0">
              <a:buNone/>
            </a:pPr>
            <a:r>
              <a:rPr lang="en-US" sz="1200" dirty="0">
                <a:solidFill>
                  <a:srgbClr val="6E655C"/>
                </a:solidFill>
                <a:latin typeface="Calibri" pitchFamily="34" charset="0"/>
                <a:ea typeface="Calibri" pitchFamily="34" charset="-122"/>
                <a:cs typeface="Calibri" pitchFamily="34" charset="-120"/>
              </a:rPr>
              <a:t>SEN0401 Special Topics in Software Engineering: Block Chain · Fall 2026 · Yusuf Altunel, PhD · İstanbul Kültür University</a:t>
            </a:r>
            <a:endParaRPr lang="en-US" sz="1200" dirty="0"/>
          </a:p>
        </p:txBody>
      </p:sp>
      <p:pic>
        <p:nvPicPr>
          <p:cNvPr id="11" name="Image 0" descr="../../03-materials/ch12/assets/ch12_bitcoinlogo.png">    </p:cNvPr>
          <p:cNvPicPr>
            <a:picLocks noChangeAspect="1"/>
          </p:cNvPicPr>
          <p:nvPr/>
        </p:nvPicPr>
        <p:blipFill>
          <a:blip r:embed="rId1"/>
          <a:srcRect l="0" r="0" t="0" b="0"/>
          <a:stretch/>
        </p:blipFill>
        <p:spPr>
          <a:xfrm>
            <a:off x="6675120" y="320040"/>
            <a:ext cx="1737360" cy="1737360"/>
          </a:xfrm>
          <a:prstGeom prst="rect">
            <a:avLst/>
          </a:prstGeom>
        </p:spPr>
      </p:pic>
      <p:sp>
        <p:nvSpPr>
          <p:cNvPr id="12" name="Text 9"/>
          <p:cNvSpPr txBox="1"/>
          <p:nvPr/>
        </p:nvSpPr>
        <p:spPr>
          <a:xfrm>
            <a:off x="548640" y="3749040"/>
            <a:ext cx="8046720" cy="365760"/>
          </a:xfrm>
          <a:prstGeom prst="rect">
            <a:avLst/>
          </a:prstGeom>
          <a:noFill/>
          <a:ln/>
        </p:spPr>
        <p:txBody>
          <a:bodyPr wrap="square" lIns="0" tIns="0" rIns="0" bIns="0" rtlCol="0" anchor="t"/>
          <a:lstStyle/>
          <a:p>
            <a:pPr indent="0" marL="0">
              <a:buNone/>
            </a:pPr>
            <a:r>
              <a:rPr lang="en-US" sz="1000" i="1" dirty="0">
                <a:solidFill>
                  <a:srgbClr val="6E655C"/>
                </a:solidFill>
                <a:latin typeface="Calibri" pitchFamily="34" charset="0"/>
                <a:ea typeface="Calibri" pitchFamily="34" charset="-122"/>
                <a:cs typeface="Calibri" pitchFamily="34" charset="-120"/>
              </a:rPr>
              <a:t>Picture: the Bitcoin logo, public domain (Wikimedia Commons). Python 3.14.6; Bitcoin Core 31.1 results are one recorded run, read back here.</a:t>
            </a:r>
            <a:endParaRPr lang="en-US" sz="1000" dirty="0"/>
          </a:p>
        </p:txBody>
      </p:sp>
      <p:sp>
        <p:nvSpPr>
          <p:cNvPr id="13" name="Text 1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 / 51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Today's route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Six parts; every number is a slide you can jump to</a:t>
            </a:r>
            <a:endParaRPr lang="en-US" sz="1300" dirty="0"/>
          </a:p>
        </p:txBody>
      </p:sp>
      <p:sp>
        <p:nvSpPr>
          <p:cNvPr id="6" name="Shape 4"/>
          <p:cNvSpPr/>
          <p:nvPr/>
        </p:nvSpPr>
        <p:spPr>
          <a:xfrm>
            <a:off x="457200" y="1280160"/>
            <a:ext cx="2807208" cy="704088"/>
          </a:xfrm>
          <a:prstGeom prst="roundRect">
            <a:avLst>
              <a:gd name="adj" fmla="val 10390"/>
            </a:avLst>
          </a:prstGeom>
          <a:solidFill>
            <a:srgbClr val="F2ECE1"/>
          </a:solidFill>
          <a:ln w="12700">
            <a:solidFill>
              <a:srgbClr val="DFD6C7"/>
            </a:solidFill>
            <a:prstDash val="solid"/>
          </a:ln>
        </p:spPr>
      </p:sp>
      <p:sp>
        <p:nvSpPr>
          <p:cNvPr id="7" name="Text 5"/>
          <p:cNvSpPr txBox="1"/>
          <p:nvPr/>
        </p:nvSpPr>
        <p:spPr>
          <a:xfrm>
            <a:off x="548640" y="1335024"/>
            <a:ext cx="2624328" cy="594360"/>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1. Questions and the chapter map</a:t>
            </a:r>
            <a:endParaRPr lang="en-US" sz="1100" dirty="0"/>
          </a:p>
          <a:p>
            <a:pPr algn="ctr" indent="0" marL="0">
              <a:buNone/>
            </a:pPr>
            <a:r>
              <a:rPr lang="en-US" sz="1000" dirty="0">
                <a:solidFill>
                  <a:srgbClr val="6E655C"/>
                </a:solidFill>
                <a:latin typeface="Calibri" pitchFamily="34" charset="0"/>
                <a:ea typeface="Calibri" pitchFamily="34" charset="-122"/>
                <a:cs typeface="Calibri" pitchFamily="34" charset="-120"/>
              </a:rPr>
              <a:t>(slides 3-4)</a:t>
            </a:r>
            <a:endParaRPr lang="en-US" sz="1100" dirty="0"/>
          </a:p>
        </p:txBody>
      </p:sp>
      <p:sp>
        <p:nvSpPr>
          <p:cNvPr id="8" name="Shape 6"/>
          <p:cNvSpPr/>
          <p:nvPr/>
        </p:nvSpPr>
        <p:spPr>
          <a:xfrm>
            <a:off x="3410712" y="1280160"/>
            <a:ext cx="2807208" cy="704088"/>
          </a:xfrm>
          <a:prstGeom prst="roundRect">
            <a:avLst>
              <a:gd name="adj" fmla="val 10390"/>
            </a:avLst>
          </a:prstGeom>
          <a:solidFill>
            <a:srgbClr val="F2ECE1"/>
          </a:solidFill>
          <a:ln w="12700">
            <a:solidFill>
              <a:srgbClr val="DFD6C7"/>
            </a:solidFill>
            <a:prstDash val="solid"/>
          </a:ln>
        </p:spPr>
      </p:sp>
      <p:sp>
        <p:nvSpPr>
          <p:cNvPr id="9" name="Text 7"/>
          <p:cNvSpPr txBox="1"/>
          <p:nvPr/>
        </p:nvSpPr>
        <p:spPr>
          <a:xfrm>
            <a:off x="3502152" y="1335024"/>
            <a:ext cx="2624328" cy="594360"/>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2. Money and rewards</a:t>
            </a:r>
            <a:endParaRPr lang="en-US" sz="1100" dirty="0"/>
          </a:p>
          <a:p>
            <a:pPr algn="ctr" indent="0" marL="0">
              <a:buNone/>
            </a:pPr>
            <a:r>
              <a:rPr lang="en-US" sz="1000" dirty="0">
                <a:solidFill>
                  <a:srgbClr val="6E655C"/>
                </a:solidFill>
                <a:latin typeface="Calibri" pitchFamily="34" charset="0"/>
                <a:ea typeface="Calibri" pitchFamily="34" charset="-122"/>
                <a:cs typeface="Calibri" pitchFamily="34" charset="-120"/>
              </a:rPr>
              <a:t>(slides 5-10)</a:t>
            </a:r>
            <a:endParaRPr lang="en-US" sz="1100" dirty="0"/>
          </a:p>
        </p:txBody>
      </p:sp>
      <p:sp>
        <p:nvSpPr>
          <p:cNvPr id="10" name="Shape 8"/>
          <p:cNvSpPr/>
          <p:nvPr/>
        </p:nvSpPr>
        <p:spPr>
          <a:xfrm>
            <a:off x="457200" y="2112264"/>
            <a:ext cx="2807208" cy="704088"/>
          </a:xfrm>
          <a:prstGeom prst="roundRect">
            <a:avLst>
              <a:gd name="adj" fmla="val 10390"/>
            </a:avLst>
          </a:prstGeom>
          <a:solidFill>
            <a:srgbClr val="F2ECE1"/>
          </a:solidFill>
          <a:ln w="12700">
            <a:solidFill>
              <a:srgbClr val="DFD6C7"/>
            </a:solidFill>
            <a:prstDash val="solid"/>
          </a:ln>
        </p:spPr>
      </p:sp>
      <p:sp>
        <p:nvSpPr>
          <p:cNvPr id="11" name="Text 9"/>
          <p:cNvSpPr txBox="1"/>
          <p:nvPr/>
        </p:nvSpPr>
        <p:spPr>
          <a:xfrm>
            <a:off x="548640" y="2167128"/>
            <a:ext cx="2624328" cy="594360"/>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3. Verifying and agreeing</a:t>
            </a:r>
            <a:endParaRPr lang="en-US" sz="1100" dirty="0"/>
          </a:p>
          <a:p>
            <a:pPr algn="ctr" indent="0" marL="0">
              <a:buNone/>
            </a:pPr>
            <a:r>
              <a:rPr lang="en-US" sz="1000" dirty="0">
                <a:solidFill>
                  <a:srgbClr val="6E655C"/>
                </a:solidFill>
                <a:latin typeface="Calibri" pitchFamily="34" charset="0"/>
                <a:ea typeface="Calibri" pitchFamily="34" charset="-122"/>
                <a:cs typeface="Calibri" pitchFamily="34" charset="-120"/>
              </a:rPr>
              <a:t>(slides 11-15)</a:t>
            </a:r>
            <a:endParaRPr lang="en-US" sz="1100" dirty="0"/>
          </a:p>
        </p:txBody>
      </p:sp>
      <p:sp>
        <p:nvSpPr>
          <p:cNvPr id="12" name="Shape 10"/>
          <p:cNvSpPr/>
          <p:nvPr/>
        </p:nvSpPr>
        <p:spPr>
          <a:xfrm>
            <a:off x="3410712" y="2112264"/>
            <a:ext cx="2807208" cy="704088"/>
          </a:xfrm>
          <a:prstGeom prst="roundRect">
            <a:avLst>
              <a:gd name="adj" fmla="val 10390"/>
            </a:avLst>
          </a:prstGeom>
          <a:solidFill>
            <a:srgbClr val="F2ECE1"/>
          </a:solidFill>
          <a:ln w="12700">
            <a:solidFill>
              <a:srgbClr val="DFD6C7"/>
            </a:solidFill>
            <a:prstDash val="solid"/>
          </a:ln>
        </p:spPr>
      </p:sp>
      <p:sp>
        <p:nvSpPr>
          <p:cNvPr id="13" name="Text 11"/>
          <p:cNvSpPr txBox="1"/>
          <p:nvPr/>
        </p:nvSpPr>
        <p:spPr>
          <a:xfrm>
            <a:off x="3502152" y="2167128"/>
            <a:ext cx="2624328" cy="594360"/>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4. Building the block</a:t>
            </a:r>
            <a:endParaRPr lang="en-US" sz="1100" dirty="0"/>
          </a:p>
          <a:p>
            <a:pPr algn="ctr" indent="0" marL="0">
              <a:buNone/>
            </a:pPr>
            <a:r>
              <a:rPr lang="en-US" sz="1000" dirty="0">
                <a:solidFill>
                  <a:srgbClr val="6E655C"/>
                </a:solidFill>
                <a:latin typeface="Calibri" pitchFamily="34" charset="0"/>
                <a:ea typeface="Calibri" pitchFamily="34" charset="-122"/>
                <a:cs typeface="Calibri" pitchFamily="34" charset="-120"/>
              </a:rPr>
              <a:t>(slides 16-21)</a:t>
            </a:r>
            <a:endParaRPr lang="en-US" sz="1100" dirty="0"/>
          </a:p>
        </p:txBody>
      </p:sp>
      <p:sp>
        <p:nvSpPr>
          <p:cNvPr id="14" name="Shape 12"/>
          <p:cNvSpPr/>
          <p:nvPr/>
        </p:nvSpPr>
        <p:spPr>
          <a:xfrm>
            <a:off x="457200" y="2944368"/>
            <a:ext cx="2807208" cy="704088"/>
          </a:xfrm>
          <a:prstGeom prst="roundRect">
            <a:avLst>
              <a:gd name="adj" fmla="val 10390"/>
            </a:avLst>
          </a:prstGeom>
          <a:solidFill>
            <a:srgbClr val="F2ECE1"/>
          </a:solidFill>
          <a:ln w="12700">
            <a:solidFill>
              <a:srgbClr val="DFD6C7"/>
            </a:solidFill>
            <a:prstDash val="solid"/>
          </a:ln>
        </p:spPr>
      </p:sp>
      <p:sp>
        <p:nvSpPr>
          <p:cNvPr id="15" name="Text 13"/>
          <p:cNvSpPr txBox="1"/>
          <p:nvPr/>
        </p:nvSpPr>
        <p:spPr>
          <a:xfrm>
            <a:off x="548640" y="2999232"/>
            <a:ext cx="2624328" cy="594360"/>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5. Proof of work</a:t>
            </a:r>
            <a:endParaRPr lang="en-US" sz="1100" dirty="0"/>
          </a:p>
          <a:p>
            <a:pPr algn="ctr" indent="0" marL="0">
              <a:buNone/>
            </a:pPr>
            <a:r>
              <a:rPr lang="en-US" sz="1000" dirty="0">
                <a:solidFill>
                  <a:srgbClr val="6E655C"/>
                </a:solidFill>
                <a:latin typeface="Calibri" pitchFamily="34" charset="0"/>
                <a:ea typeface="Calibri" pitchFamily="34" charset="-122"/>
                <a:cs typeface="Calibri" pitchFamily="34" charset="-120"/>
              </a:rPr>
              <a:t>(slides 22-31)</a:t>
            </a:r>
            <a:endParaRPr lang="en-US" sz="1100" dirty="0"/>
          </a:p>
        </p:txBody>
      </p:sp>
      <p:sp>
        <p:nvSpPr>
          <p:cNvPr id="16" name="Shape 14"/>
          <p:cNvSpPr/>
          <p:nvPr/>
        </p:nvSpPr>
        <p:spPr>
          <a:xfrm>
            <a:off x="3410712" y="2944368"/>
            <a:ext cx="2807208" cy="704088"/>
          </a:xfrm>
          <a:prstGeom prst="roundRect">
            <a:avLst>
              <a:gd name="adj" fmla="val 10390"/>
            </a:avLst>
          </a:prstGeom>
          <a:solidFill>
            <a:srgbClr val="F2ECE1"/>
          </a:solidFill>
          <a:ln w="12700">
            <a:solidFill>
              <a:srgbClr val="DFD6C7"/>
            </a:solidFill>
            <a:prstDash val="solid"/>
          </a:ln>
        </p:spPr>
      </p:sp>
      <p:sp>
        <p:nvSpPr>
          <p:cNvPr id="17" name="Text 15"/>
          <p:cNvSpPr txBox="1"/>
          <p:nvPr/>
        </p:nvSpPr>
        <p:spPr>
          <a:xfrm>
            <a:off x="3502152" y="2999232"/>
            <a:ext cx="2624328" cy="594360"/>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6. Competition and attacks</a:t>
            </a:r>
            <a:endParaRPr lang="en-US" sz="1100" dirty="0"/>
          </a:p>
          <a:p>
            <a:pPr algn="ctr" indent="0" marL="0">
              <a:buNone/>
            </a:pPr>
            <a:r>
              <a:rPr lang="en-US" sz="1000" dirty="0">
                <a:solidFill>
                  <a:srgbClr val="6E655C"/>
                </a:solidFill>
                <a:latin typeface="Calibri" pitchFamily="34" charset="0"/>
                <a:ea typeface="Calibri" pitchFamily="34" charset="-122"/>
                <a:cs typeface="Calibri" pitchFamily="34" charset="-120"/>
              </a:rPr>
              <a:t>(slides 32-38)</a:t>
            </a:r>
            <a:endParaRPr lang="en-US" sz="1100" dirty="0"/>
          </a:p>
        </p:txBody>
      </p:sp>
      <p:sp>
        <p:nvSpPr>
          <p:cNvPr id="18" name="Shape 16"/>
          <p:cNvSpPr/>
          <p:nvPr/>
        </p:nvSpPr>
        <p:spPr>
          <a:xfrm>
            <a:off x="457200" y="3776472"/>
            <a:ext cx="2807208" cy="704088"/>
          </a:xfrm>
          <a:prstGeom prst="roundRect">
            <a:avLst>
              <a:gd name="adj" fmla="val 10390"/>
            </a:avLst>
          </a:prstGeom>
          <a:solidFill>
            <a:srgbClr val="F2ECE1"/>
          </a:solidFill>
          <a:ln w="12700">
            <a:solidFill>
              <a:srgbClr val="DFD6C7"/>
            </a:solidFill>
            <a:prstDash val="solid"/>
          </a:ln>
        </p:spPr>
      </p:sp>
      <p:sp>
        <p:nvSpPr>
          <p:cNvPr id="19" name="Text 17"/>
          <p:cNvSpPr txBox="1"/>
          <p:nvPr/>
        </p:nvSpPr>
        <p:spPr>
          <a:xfrm>
            <a:off x="548640" y="3831336"/>
            <a:ext cx="2624328" cy="594360"/>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7. Changing the rules</a:t>
            </a:r>
            <a:endParaRPr lang="en-US" sz="1100" dirty="0"/>
          </a:p>
          <a:p>
            <a:pPr algn="ctr" indent="0" marL="0">
              <a:buNone/>
            </a:pPr>
            <a:r>
              <a:rPr lang="en-US" sz="1000" dirty="0">
                <a:solidFill>
                  <a:srgbClr val="6E655C"/>
                </a:solidFill>
                <a:latin typeface="Calibri" pitchFamily="34" charset="0"/>
                <a:ea typeface="Calibri" pitchFamily="34" charset="-122"/>
                <a:cs typeface="Calibri" pitchFamily="34" charset="-120"/>
              </a:rPr>
              <a:t>(slides 39-51)</a:t>
            </a:r>
            <a:endParaRPr lang="en-US" sz="1100" dirty="0"/>
          </a:p>
        </p:txBody>
      </p:sp>
      <p:sp>
        <p:nvSpPr>
          <p:cNvPr id="20" name="Shape 18"/>
          <p:cNvSpPr/>
          <p:nvPr/>
        </p:nvSpPr>
        <p:spPr>
          <a:xfrm>
            <a:off x="6446520" y="1280160"/>
            <a:ext cx="2240280" cy="981456"/>
          </a:xfrm>
          <a:prstGeom prst="roundRect">
            <a:avLst>
              <a:gd name="adj" fmla="val 7453"/>
            </a:avLst>
          </a:prstGeom>
          <a:solidFill>
            <a:srgbClr val="F2ECE1"/>
          </a:solidFill>
          <a:ln w="12700">
            <a:solidFill>
              <a:srgbClr val="DFD6C7"/>
            </a:solidFill>
            <a:prstDash val="solid"/>
          </a:ln>
        </p:spPr>
      </p:sp>
      <p:sp>
        <p:nvSpPr>
          <p:cNvPr id="21" name="Text 19"/>
          <p:cNvSpPr txBox="1"/>
          <p:nvPr/>
        </p:nvSpPr>
        <p:spPr>
          <a:xfrm>
            <a:off x="6556248" y="1316736"/>
            <a:ext cx="2020824" cy="473781"/>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51</a:t>
            </a:r>
            <a:endParaRPr lang="en-US" sz="2600" dirty="0"/>
          </a:p>
        </p:txBody>
      </p:sp>
      <p:sp>
        <p:nvSpPr>
          <p:cNvPr id="22" name="Text 20"/>
          <p:cNvSpPr txBox="1"/>
          <p:nvPr/>
        </p:nvSpPr>
        <p:spPr>
          <a:xfrm>
            <a:off x="6556248" y="1790517"/>
            <a:ext cx="2020824" cy="431841"/>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slides, numbered bottom-right</a:t>
            </a:r>
            <a:endParaRPr lang="en-US" sz="1100" dirty="0"/>
          </a:p>
        </p:txBody>
      </p:sp>
      <p:sp>
        <p:nvSpPr>
          <p:cNvPr id="23" name="Shape 21"/>
          <p:cNvSpPr/>
          <p:nvPr/>
        </p:nvSpPr>
        <p:spPr>
          <a:xfrm>
            <a:off x="6446520" y="2389632"/>
            <a:ext cx="2240280" cy="981456"/>
          </a:xfrm>
          <a:prstGeom prst="roundRect">
            <a:avLst>
              <a:gd name="adj" fmla="val 7453"/>
            </a:avLst>
          </a:prstGeom>
          <a:solidFill>
            <a:srgbClr val="F2ECE1"/>
          </a:solidFill>
          <a:ln w="12700">
            <a:solidFill>
              <a:srgbClr val="DFD6C7"/>
            </a:solidFill>
            <a:prstDash val="solid"/>
          </a:ln>
        </p:spPr>
      </p:sp>
      <p:sp>
        <p:nvSpPr>
          <p:cNvPr id="24" name="Text 22"/>
          <p:cNvSpPr txBox="1"/>
          <p:nvPr/>
        </p:nvSpPr>
        <p:spPr>
          <a:xfrm>
            <a:off x="6556248" y="2426208"/>
            <a:ext cx="2020824" cy="473781"/>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4</a:t>
            </a:r>
            <a:endParaRPr lang="en-US" sz="2600" dirty="0"/>
          </a:p>
        </p:txBody>
      </p:sp>
      <p:sp>
        <p:nvSpPr>
          <p:cNvPr id="25" name="Text 23"/>
          <p:cNvSpPr txBox="1"/>
          <p:nvPr/>
        </p:nvSpPr>
        <p:spPr>
          <a:xfrm>
            <a:off x="6556248" y="2899989"/>
            <a:ext cx="2020824" cy="431841"/>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true stories, each told by 5N1K</a:t>
            </a:r>
            <a:endParaRPr lang="en-US" sz="1100" dirty="0"/>
          </a:p>
        </p:txBody>
      </p:sp>
      <p:sp>
        <p:nvSpPr>
          <p:cNvPr id="26" name="Shape 24"/>
          <p:cNvSpPr/>
          <p:nvPr/>
        </p:nvSpPr>
        <p:spPr>
          <a:xfrm>
            <a:off x="6446520" y="3499104"/>
            <a:ext cx="2240280" cy="981456"/>
          </a:xfrm>
          <a:prstGeom prst="roundRect">
            <a:avLst>
              <a:gd name="adj" fmla="val 7453"/>
            </a:avLst>
          </a:prstGeom>
          <a:solidFill>
            <a:srgbClr val="F2ECE1"/>
          </a:solidFill>
          <a:ln w="12700">
            <a:solidFill>
              <a:srgbClr val="DFD6C7"/>
            </a:solidFill>
            <a:prstDash val="solid"/>
          </a:ln>
        </p:spPr>
      </p:sp>
      <p:sp>
        <p:nvSpPr>
          <p:cNvPr id="27" name="Text 25"/>
          <p:cNvSpPr txBox="1"/>
          <p:nvPr/>
        </p:nvSpPr>
        <p:spPr>
          <a:xfrm>
            <a:off x="6556248" y="3535680"/>
            <a:ext cx="2020824" cy="473781"/>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22</a:t>
            </a:r>
            <a:endParaRPr lang="en-US" sz="2600" dirty="0"/>
          </a:p>
        </p:txBody>
      </p:sp>
      <p:sp>
        <p:nvSpPr>
          <p:cNvPr id="28" name="Text 26"/>
          <p:cNvSpPr txBox="1"/>
          <p:nvPr/>
        </p:nvSpPr>
        <p:spPr>
          <a:xfrm>
            <a:off x="6556248" y="4009461"/>
            <a:ext cx="2020824" cy="431841"/>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code examples with a picture of each result</a:t>
            </a:r>
            <a:endParaRPr lang="en-US" sz="1100" dirty="0"/>
          </a:p>
        </p:txBody>
      </p:sp>
      <p:sp>
        <p:nvSpPr>
          <p:cNvPr id="29" name="Shape 27"/>
          <p:cNvSpPr/>
          <p:nvPr/>
        </p:nvSpPr>
        <p:spPr>
          <a:xfrm>
            <a:off x="457200" y="4636008"/>
            <a:ext cx="91440" cy="310896"/>
          </a:xfrm>
          <a:prstGeom prst="rect">
            <a:avLst/>
          </a:prstGeom>
          <a:solidFill>
            <a:srgbClr val="D97A14"/>
          </a:solidFill>
          <a:ln w="12700">
            <a:solidFill>
              <a:srgbClr val="D97A14"/>
            </a:solidFill>
            <a:prstDash val="solid"/>
          </a:ln>
        </p:spPr>
      </p:sp>
      <p:sp>
        <p:nvSpPr>
          <p:cNvPr id="30" name="Text 2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Six parts, twenty-two examples, four true stories</a:t>
            </a:r>
            <a:endParaRPr lang="en-US" sz="1350" dirty="0"/>
          </a:p>
        </p:txBody>
      </p:sp>
      <p:sp>
        <p:nvSpPr>
          <p:cNvPr id="31" name="Text 2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 / 51</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questions this chapter answers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has an answer on a slide; we return to them in the summary</a:t>
            </a:r>
            <a:endParaRPr lang="en-US" sz="1300" dirty="0"/>
          </a:p>
        </p:txBody>
      </p:sp>
      <p:sp>
        <p:nvSpPr>
          <p:cNvPr id="6" name="Shape 4"/>
          <p:cNvSpPr/>
          <p:nvPr/>
        </p:nvSpPr>
        <p:spPr>
          <a:xfrm>
            <a:off x="457200" y="131673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3167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280160"/>
            <a:ext cx="7662672" cy="4206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How is a block's reward made, and why can there never be more than 21 million coins?</a:t>
            </a:r>
            <a:endParaRPr lang="en-US" sz="1200" dirty="0"/>
          </a:p>
        </p:txBody>
      </p:sp>
      <p:sp>
        <p:nvSpPr>
          <p:cNvPr id="9" name="Shape 7"/>
          <p:cNvSpPr/>
          <p:nvPr/>
        </p:nvSpPr>
        <p:spPr>
          <a:xfrm>
            <a:off x="457200" y="1773936"/>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7739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737360"/>
            <a:ext cx="7662672" cy="4206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Which checks must a transaction and a block pass before a node accepts them?</a:t>
            </a:r>
            <a:endParaRPr lang="en-US" sz="1200" dirty="0"/>
          </a:p>
        </p:txBody>
      </p:sp>
      <p:sp>
        <p:nvSpPr>
          <p:cNvPr id="12" name="Shape 10"/>
          <p:cNvSpPr/>
          <p:nvPr/>
        </p:nvSpPr>
        <p:spPr>
          <a:xfrm>
            <a:off x="457200" y="2231136"/>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2311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194560"/>
            <a:ext cx="7662672" cy="4206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Why does a node follow the chain with the most work and not the longest?</a:t>
            </a:r>
            <a:endParaRPr lang="en-US" sz="1200" dirty="0"/>
          </a:p>
        </p:txBody>
      </p:sp>
      <p:sp>
        <p:nvSpPr>
          <p:cNvPr id="15" name="Shape 13"/>
          <p:cNvSpPr/>
          <p:nvPr/>
        </p:nvSpPr>
        <p:spPr>
          <a:xfrm>
            <a:off x="457200" y="2688336"/>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26883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2651760"/>
            <a:ext cx="7662672" cy="4206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What does a miner put into a candidate block, and what does the coinbase carry?</a:t>
            </a:r>
            <a:endParaRPr lang="en-US" sz="1200" dirty="0"/>
          </a:p>
        </p:txBody>
      </p:sp>
      <p:sp>
        <p:nvSpPr>
          <p:cNvPr id="18" name="Shape 16"/>
          <p:cNvSpPr/>
          <p:nvPr/>
        </p:nvSpPr>
        <p:spPr>
          <a:xfrm>
            <a:off x="457200" y="3145536"/>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1455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108960"/>
            <a:ext cx="7662672" cy="4206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How do target, difficulty and retargeting set the pace of the lottery?</a:t>
            </a:r>
            <a:endParaRPr lang="en-US" sz="1200" dirty="0"/>
          </a:p>
        </p:txBody>
      </p:sp>
      <p:sp>
        <p:nvSpPr>
          <p:cNvPr id="21" name="Shape 19"/>
          <p:cNvSpPr/>
          <p:nvPr/>
        </p:nvSpPr>
        <p:spPr>
          <a:xfrm>
            <a:off x="457200" y="3602736"/>
            <a:ext cx="402336" cy="402336"/>
          </a:xfrm>
          <a:prstGeom prst="ellipse">
            <a:avLst/>
          </a:prstGeom>
          <a:solidFill>
            <a:srgbClr val="D97A14"/>
          </a:solidFill>
          <a:ln w="12700">
            <a:solidFill>
              <a:srgbClr val="D97A14"/>
            </a:solidFill>
            <a:prstDash val="solid"/>
          </a:ln>
        </p:spPr>
      </p:sp>
      <p:sp>
        <p:nvSpPr>
          <p:cNvPr id="22" name="Text 20"/>
          <p:cNvSpPr txBox="1"/>
          <p:nvPr/>
        </p:nvSpPr>
        <p:spPr>
          <a:xfrm>
            <a:off x="457200" y="36027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6</a:t>
            </a:r>
            <a:endParaRPr lang="en-US" sz="1400" dirty="0"/>
          </a:p>
        </p:txBody>
      </p:sp>
      <p:sp>
        <p:nvSpPr>
          <p:cNvPr id="23" name="Text 21"/>
          <p:cNvSpPr txBox="1"/>
          <p:nvPr/>
        </p:nvSpPr>
        <p:spPr>
          <a:xfrm>
            <a:off x="1024128" y="3566160"/>
            <a:ext cx="7662672" cy="4206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Why do small miners join pools, and what share of the power does an attack need?</a:t>
            </a:r>
            <a:endParaRPr lang="en-US" sz="1200" dirty="0"/>
          </a:p>
        </p:txBody>
      </p:sp>
      <p:sp>
        <p:nvSpPr>
          <p:cNvPr id="24" name="Shape 22"/>
          <p:cNvSpPr/>
          <p:nvPr/>
        </p:nvSpPr>
        <p:spPr>
          <a:xfrm>
            <a:off x="457200" y="4059936"/>
            <a:ext cx="402336" cy="402336"/>
          </a:xfrm>
          <a:prstGeom prst="ellipse">
            <a:avLst/>
          </a:prstGeom>
          <a:solidFill>
            <a:srgbClr val="D97A14"/>
          </a:solidFill>
          <a:ln w="12700">
            <a:solidFill>
              <a:srgbClr val="D97A14"/>
            </a:solidFill>
            <a:prstDash val="solid"/>
          </a:ln>
        </p:spPr>
      </p:sp>
      <p:sp>
        <p:nvSpPr>
          <p:cNvPr id="25" name="Text 23"/>
          <p:cNvSpPr txBox="1"/>
          <p:nvPr/>
        </p:nvSpPr>
        <p:spPr>
          <a:xfrm>
            <a:off x="457200" y="40599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7</a:t>
            </a:r>
            <a:endParaRPr lang="en-US" sz="1400" dirty="0"/>
          </a:p>
        </p:txBody>
      </p:sp>
      <p:sp>
        <p:nvSpPr>
          <p:cNvPr id="26" name="Text 24"/>
          <p:cNvSpPr txBox="1"/>
          <p:nvPr/>
        </p:nvSpPr>
        <p:spPr>
          <a:xfrm>
            <a:off x="1024128" y="4023360"/>
            <a:ext cx="7662672" cy="4206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How do hard and soft forks change the rules, and how is a soft fork voted in?</a:t>
            </a:r>
            <a:endParaRPr lang="en-US" sz="1200" dirty="0"/>
          </a:p>
        </p:txBody>
      </p:sp>
      <p:sp>
        <p:nvSpPr>
          <p:cNvPr id="27" name="Text 2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 / 51</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One chapter, six parts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concept map the whole deck hangs on</a:t>
            </a:r>
            <a:endParaRPr lang="en-US" sz="1300" dirty="0"/>
          </a:p>
        </p:txBody>
      </p:sp>
      <p:sp>
        <p:nvSpPr>
          <p:cNvPr id="6" name="Shape 4"/>
          <p:cNvSpPr/>
          <p:nvPr/>
        </p:nvSpPr>
        <p:spPr>
          <a:xfrm>
            <a:off x="457200" y="1280160"/>
            <a:ext cx="1947672" cy="1490472"/>
          </a:xfrm>
          <a:prstGeom prst="roundRect">
            <a:avLst>
              <a:gd name="adj" fmla="val 4908"/>
            </a:avLst>
          </a:prstGeom>
          <a:solidFill>
            <a:srgbClr val="F2ECE1"/>
          </a:solidFill>
          <a:ln w="12700">
            <a:solidFill>
              <a:srgbClr val="DFD6C7"/>
            </a:solidFill>
            <a:prstDash val="solid"/>
          </a:ln>
        </p:spPr>
      </p:sp>
      <p:sp>
        <p:nvSpPr>
          <p:cNvPr id="7" name="Text 5"/>
          <p:cNvSpPr txBox="1"/>
          <p:nvPr/>
        </p:nvSpPr>
        <p:spPr>
          <a:xfrm>
            <a:off x="548640" y="1335024"/>
            <a:ext cx="1764792" cy="1380744"/>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Money and rewards</a:t>
            </a:r>
            <a:endParaRPr lang="en-US" sz="1250" dirty="0"/>
          </a:p>
          <a:p>
            <a:pPr algn="ctr" indent="0" marL="0">
              <a:buNone/>
            </a:pPr>
            <a:r>
              <a:rPr lang="en-US" sz="1050" dirty="0">
                <a:solidFill>
                  <a:srgbClr val="6E655C"/>
                </a:solidFill>
                <a:latin typeface="Calibri" pitchFamily="34" charset="0"/>
                <a:ea typeface="Calibri" pitchFamily="34" charset="-122"/>
                <a:cs typeface="Calibri" pitchFamily="34" charset="-120"/>
              </a:rPr>
              <a:t>6 key concepts, 3 examples</a:t>
            </a:r>
            <a:endParaRPr lang="en-US" sz="1250" dirty="0"/>
          </a:p>
        </p:txBody>
      </p:sp>
      <p:sp>
        <p:nvSpPr>
          <p:cNvPr id="8" name="Shape 6"/>
          <p:cNvSpPr/>
          <p:nvPr/>
        </p:nvSpPr>
        <p:spPr>
          <a:xfrm>
            <a:off x="2551176" y="1280160"/>
            <a:ext cx="1947672" cy="1490472"/>
          </a:xfrm>
          <a:prstGeom prst="roundRect">
            <a:avLst>
              <a:gd name="adj" fmla="val 4908"/>
            </a:avLst>
          </a:prstGeom>
          <a:solidFill>
            <a:srgbClr val="F2ECE1"/>
          </a:solidFill>
          <a:ln w="12700">
            <a:solidFill>
              <a:srgbClr val="DFD6C7"/>
            </a:solidFill>
            <a:prstDash val="solid"/>
          </a:ln>
        </p:spPr>
      </p:sp>
      <p:sp>
        <p:nvSpPr>
          <p:cNvPr id="9" name="Text 7"/>
          <p:cNvSpPr txBox="1"/>
          <p:nvPr/>
        </p:nvSpPr>
        <p:spPr>
          <a:xfrm>
            <a:off x="2642616" y="1335024"/>
            <a:ext cx="1764792" cy="1380744"/>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Verifying and agreeing</a:t>
            </a:r>
            <a:endParaRPr lang="en-US" sz="1250" dirty="0"/>
          </a:p>
          <a:p>
            <a:pPr algn="ctr" indent="0" marL="0">
              <a:buNone/>
            </a:pPr>
            <a:r>
              <a:rPr lang="en-US" sz="1050" dirty="0">
                <a:solidFill>
                  <a:srgbClr val="6E655C"/>
                </a:solidFill>
                <a:latin typeface="Calibri" pitchFamily="34" charset="0"/>
                <a:ea typeface="Calibri" pitchFamily="34" charset="-122"/>
                <a:cs typeface="Calibri" pitchFamily="34" charset="-120"/>
              </a:rPr>
              <a:t>4 key concepts, 3 examples</a:t>
            </a:r>
            <a:endParaRPr lang="en-US" sz="1250" dirty="0"/>
          </a:p>
        </p:txBody>
      </p:sp>
      <p:sp>
        <p:nvSpPr>
          <p:cNvPr id="10" name="Shape 8"/>
          <p:cNvSpPr/>
          <p:nvPr/>
        </p:nvSpPr>
        <p:spPr>
          <a:xfrm>
            <a:off x="4645152" y="1280160"/>
            <a:ext cx="1947672" cy="1490472"/>
          </a:xfrm>
          <a:prstGeom prst="roundRect">
            <a:avLst>
              <a:gd name="adj" fmla="val 4908"/>
            </a:avLst>
          </a:prstGeom>
          <a:solidFill>
            <a:srgbClr val="F2ECE1"/>
          </a:solidFill>
          <a:ln w="12700">
            <a:solidFill>
              <a:srgbClr val="DFD6C7"/>
            </a:solidFill>
            <a:prstDash val="solid"/>
          </a:ln>
        </p:spPr>
      </p:sp>
      <p:sp>
        <p:nvSpPr>
          <p:cNvPr id="11" name="Text 9"/>
          <p:cNvSpPr txBox="1"/>
          <p:nvPr/>
        </p:nvSpPr>
        <p:spPr>
          <a:xfrm>
            <a:off x="4736592" y="1335024"/>
            <a:ext cx="1764792" cy="1380744"/>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Building the block</a:t>
            </a:r>
            <a:endParaRPr lang="en-US" sz="1250" dirty="0"/>
          </a:p>
          <a:p>
            <a:pPr algn="ctr" indent="0" marL="0">
              <a:buNone/>
            </a:pPr>
            <a:r>
              <a:rPr lang="en-US" sz="1050" dirty="0">
                <a:solidFill>
                  <a:srgbClr val="6E655C"/>
                </a:solidFill>
                <a:latin typeface="Calibri" pitchFamily="34" charset="0"/>
                <a:ea typeface="Calibri" pitchFamily="34" charset="-122"/>
                <a:cs typeface="Calibri" pitchFamily="34" charset="-120"/>
              </a:rPr>
              <a:t>9 key concepts, 3 examples</a:t>
            </a:r>
            <a:endParaRPr lang="en-US" sz="1250" dirty="0"/>
          </a:p>
        </p:txBody>
      </p:sp>
      <p:sp>
        <p:nvSpPr>
          <p:cNvPr id="12" name="Shape 10"/>
          <p:cNvSpPr/>
          <p:nvPr/>
        </p:nvSpPr>
        <p:spPr>
          <a:xfrm>
            <a:off x="6739128" y="1280160"/>
            <a:ext cx="1947672" cy="1490472"/>
          </a:xfrm>
          <a:prstGeom prst="roundRect">
            <a:avLst>
              <a:gd name="adj" fmla="val 4908"/>
            </a:avLst>
          </a:prstGeom>
          <a:solidFill>
            <a:srgbClr val="F2ECE1"/>
          </a:solidFill>
          <a:ln w="12700">
            <a:solidFill>
              <a:srgbClr val="DFD6C7"/>
            </a:solidFill>
            <a:prstDash val="solid"/>
          </a:ln>
        </p:spPr>
      </p:sp>
      <p:sp>
        <p:nvSpPr>
          <p:cNvPr id="13" name="Text 11"/>
          <p:cNvSpPr txBox="1"/>
          <p:nvPr/>
        </p:nvSpPr>
        <p:spPr>
          <a:xfrm>
            <a:off x="6830568" y="1335024"/>
            <a:ext cx="1764792" cy="1380744"/>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Proof of work</a:t>
            </a:r>
            <a:endParaRPr lang="en-US" sz="1250" dirty="0"/>
          </a:p>
          <a:p>
            <a:pPr algn="ctr" indent="0" marL="0">
              <a:buNone/>
            </a:pPr>
            <a:r>
              <a:rPr lang="en-US" sz="1050" dirty="0">
                <a:solidFill>
                  <a:srgbClr val="6E655C"/>
                </a:solidFill>
                <a:latin typeface="Calibri" pitchFamily="34" charset="0"/>
                <a:ea typeface="Calibri" pitchFamily="34" charset="-122"/>
                <a:cs typeface="Calibri" pitchFamily="34" charset="-120"/>
              </a:rPr>
              <a:t>10 key concepts, 6 examples</a:t>
            </a:r>
            <a:endParaRPr lang="en-US" sz="1250" dirty="0"/>
          </a:p>
        </p:txBody>
      </p:sp>
      <p:sp>
        <p:nvSpPr>
          <p:cNvPr id="14" name="Shape 12"/>
          <p:cNvSpPr/>
          <p:nvPr/>
        </p:nvSpPr>
        <p:spPr>
          <a:xfrm>
            <a:off x="457200" y="2898648"/>
            <a:ext cx="1947672" cy="1490472"/>
          </a:xfrm>
          <a:prstGeom prst="roundRect">
            <a:avLst>
              <a:gd name="adj" fmla="val 4908"/>
            </a:avLst>
          </a:prstGeom>
          <a:solidFill>
            <a:srgbClr val="D97A14"/>
          </a:solidFill>
          <a:ln w="12700">
            <a:solidFill>
              <a:srgbClr val="D97A14"/>
            </a:solidFill>
            <a:prstDash val="solid"/>
          </a:ln>
        </p:spPr>
      </p:sp>
      <p:sp>
        <p:nvSpPr>
          <p:cNvPr id="15" name="Text 13"/>
          <p:cNvSpPr txBox="1"/>
          <p:nvPr/>
        </p:nvSpPr>
        <p:spPr>
          <a:xfrm>
            <a:off x="548640" y="2953512"/>
            <a:ext cx="1764792" cy="138074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Competition and attacks</a:t>
            </a:r>
            <a:endParaRPr lang="en-US" sz="1250" dirty="0"/>
          </a:p>
          <a:p>
            <a:pPr algn="ctr" indent="0" marL="0">
              <a:buNone/>
            </a:pPr>
            <a:r>
              <a:rPr lang="en-US" sz="1050" dirty="0">
                <a:solidFill>
                  <a:srgbClr val="FFFFFF"/>
                </a:solidFill>
                <a:latin typeface="Calibri" pitchFamily="34" charset="0"/>
                <a:ea typeface="Calibri" pitchFamily="34" charset="-122"/>
                <a:cs typeface="Calibri" pitchFamily="34" charset="-120"/>
              </a:rPr>
              <a:t>11 key concepts, 3 examples</a:t>
            </a:r>
            <a:endParaRPr lang="en-US" sz="1250" dirty="0"/>
          </a:p>
        </p:txBody>
      </p:sp>
      <p:sp>
        <p:nvSpPr>
          <p:cNvPr id="16" name="Shape 14"/>
          <p:cNvSpPr/>
          <p:nvPr/>
        </p:nvSpPr>
        <p:spPr>
          <a:xfrm>
            <a:off x="2551176" y="2898648"/>
            <a:ext cx="1947672" cy="1490472"/>
          </a:xfrm>
          <a:prstGeom prst="roundRect">
            <a:avLst>
              <a:gd name="adj" fmla="val 4908"/>
            </a:avLst>
          </a:prstGeom>
          <a:solidFill>
            <a:srgbClr val="F2ECE1"/>
          </a:solidFill>
          <a:ln w="12700">
            <a:solidFill>
              <a:srgbClr val="DFD6C7"/>
            </a:solidFill>
            <a:prstDash val="solid"/>
          </a:ln>
        </p:spPr>
      </p:sp>
      <p:sp>
        <p:nvSpPr>
          <p:cNvPr id="17" name="Text 15"/>
          <p:cNvSpPr txBox="1"/>
          <p:nvPr/>
        </p:nvSpPr>
        <p:spPr>
          <a:xfrm>
            <a:off x="2642616" y="2953512"/>
            <a:ext cx="1764792" cy="1380744"/>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Changing the rules</a:t>
            </a:r>
            <a:endParaRPr lang="en-US" sz="1250" dirty="0"/>
          </a:p>
          <a:p>
            <a:pPr algn="ctr" indent="0" marL="0">
              <a:buNone/>
            </a:pPr>
            <a:r>
              <a:rPr lang="en-US" sz="1050" dirty="0">
                <a:solidFill>
                  <a:srgbClr val="6E655C"/>
                </a:solidFill>
                <a:latin typeface="Calibri" pitchFamily="34" charset="0"/>
                <a:ea typeface="Calibri" pitchFamily="34" charset="-122"/>
                <a:cs typeface="Calibri" pitchFamily="34" charset="-120"/>
              </a:rPr>
              <a:t>11 key concepts, 4 examples</a:t>
            </a:r>
            <a:endParaRPr lang="en-US" sz="1250" dirty="0"/>
          </a:p>
        </p:txBody>
      </p:sp>
      <p:sp>
        <p:nvSpPr>
          <p:cNvPr id="18" name="Shape 16"/>
          <p:cNvSpPr/>
          <p:nvPr/>
        </p:nvSpPr>
        <p:spPr>
          <a:xfrm>
            <a:off x="457200" y="4636008"/>
            <a:ext cx="91440" cy="310896"/>
          </a:xfrm>
          <a:prstGeom prst="rect">
            <a:avLst/>
          </a:prstGeom>
          <a:solidFill>
            <a:srgbClr val="D97A14"/>
          </a:solidFill>
          <a:ln w="12700">
            <a:solidFill>
              <a:srgbClr val="D97A14"/>
            </a:solidFill>
            <a:prstDash val="solid"/>
          </a:ln>
        </p:spPr>
      </p:sp>
      <p:sp>
        <p:nvSpPr>
          <p:cNvPr id="19" name="Text 1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Six parts; every slide today lives on this map</a:t>
            </a:r>
            <a:endParaRPr lang="en-US" sz="1350" dirty="0"/>
          </a:p>
        </p:txBody>
      </p:sp>
      <p:sp>
        <p:nvSpPr>
          <p:cNvPr id="20" name="Text 1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 / 51</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Money and rewards</a:t>
            </a:r>
            <a:endParaRPr lang="en-US" sz="3200" dirty="0"/>
          </a:p>
        </p:txBody>
      </p:sp>
      <p:sp>
        <p:nvSpPr>
          <p:cNvPr id="5" name="Text 3"/>
          <p:cNvSpPr txBox="1"/>
          <p:nvPr/>
        </p:nvSpPr>
        <p:spPr>
          <a:xfrm>
            <a:off x="777240" y="1645920"/>
            <a:ext cx="7863840" cy="384048"/>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The reward is a wage that halves on a fixed calendar, plus tips.</a:t>
            </a:r>
            <a:endParaRPr lang="en-US" sz="1500" dirty="0"/>
          </a:p>
        </p:txBody>
      </p:sp>
      <p:sp>
        <p:nvSpPr>
          <p:cNvPr id="6" name="Shape 4"/>
          <p:cNvSpPr/>
          <p:nvPr/>
        </p:nvSpPr>
        <p:spPr>
          <a:xfrm>
            <a:off x="777240" y="2103120"/>
            <a:ext cx="3840480" cy="310896"/>
          </a:xfrm>
          <a:prstGeom prst="roundRect">
            <a:avLst>
              <a:gd name="adj" fmla="val 50000"/>
            </a:avLst>
          </a:prstGeom>
          <a:solidFill>
            <a:srgbClr val="D97A14"/>
          </a:solidFill>
          <a:ln w="12700">
            <a:solidFill>
              <a:srgbClr val="D97A14"/>
            </a:solidFill>
            <a:prstDash val="solid"/>
          </a:ln>
        </p:spPr>
      </p:sp>
      <p:sp>
        <p:nvSpPr>
          <p:cNvPr id="7" name="Text 5"/>
          <p:cNvSpPr txBox="1"/>
          <p:nvPr/>
        </p:nvSpPr>
        <p:spPr>
          <a:xfrm>
            <a:off x="850392" y="2103120"/>
            <a:ext cx="369417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The subsidy schedule</a:t>
            </a:r>
            <a:endParaRPr lang="en-US" sz="1200" dirty="0"/>
          </a:p>
        </p:txBody>
      </p:sp>
      <p:sp>
        <p:nvSpPr>
          <p:cNvPr id="8" name="Text 6"/>
          <p:cNvSpPr txBox="1"/>
          <p:nvPr/>
        </p:nvSpPr>
        <p:spPr>
          <a:xfrm>
            <a:off x="777240" y="2487168"/>
            <a:ext cx="384048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New coins halve every 210,000 blocks, so the supply stops just below 21 million.</a:t>
            </a:r>
            <a:endParaRPr lang="en-US" sz="1150" dirty="0"/>
          </a:p>
        </p:txBody>
      </p:sp>
      <p:sp>
        <p:nvSpPr>
          <p:cNvPr id="9" name="Text 7"/>
          <p:cNvSpPr txBox="1"/>
          <p:nvPr/>
        </p:nvSpPr>
        <p:spPr>
          <a:xfrm>
            <a:off x="777240" y="2907792"/>
            <a:ext cx="384048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wage cut in half on a fixed calendar.</a:t>
            </a:r>
            <a:endParaRPr lang="en-US" sz="1150" dirty="0"/>
          </a:p>
        </p:txBody>
      </p:sp>
      <p:sp>
        <p:nvSpPr>
          <p:cNvPr id="10" name="Shape 8"/>
          <p:cNvSpPr/>
          <p:nvPr/>
        </p:nvSpPr>
        <p:spPr>
          <a:xfrm>
            <a:off x="4800600" y="2103120"/>
            <a:ext cx="3840480" cy="310896"/>
          </a:xfrm>
          <a:prstGeom prst="roundRect">
            <a:avLst>
              <a:gd name="adj" fmla="val 50000"/>
            </a:avLst>
          </a:prstGeom>
          <a:solidFill>
            <a:srgbClr val="D97A14"/>
          </a:solidFill>
          <a:ln w="12700">
            <a:solidFill>
              <a:srgbClr val="D97A14"/>
            </a:solidFill>
            <a:prstDash val="solid"/>
          </a:ln>
        </p:spPr>
      </p:sp>
      <p:sp>
        <p:nvSpPr>
          <p:cNvPr id="11" name="Text 9"/>
          <p:cNvSpPr txBox="1"/>
          <p:nvPr/>
        </p:nvSpPr>
        <p:spPr>
          <a:xfrm>
            <a:off x="4873752" y="2103120"/>
            <a:ext cx="369417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Subsidy plus fees</a:t>
            </a:r>
            <a:endParaRPr lang="en-US" sz="1200" dirty="0"/>
          </a:p>
        </p:txBody>
      </p:sp>
      <p:sp>
        <p:nvSpPr>
          <p:cNvPr id="12" name="Text 10"/>
          <p:cNvSpPr txBox="1"/>
          <p:nvPr/>
        </p:nvSpPr>
        <p:spPr>
          <a:xfrm>
            <a:off x="4800600" y="2487168"/>
            <a:ext cx="384048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A block pays its miner the subsidy plus the fees of its transactions, and no more.</a:t>
            </a:r>
            <a:endParaRPr lang="en-US" sz="1150" dirty="0"/>
          </a:p>
        </p:txBody>
      </p:sp>
      <p:sp>
        <p:nvSpPr>
          <p:cNvPr id="13" name="Text 11"/>
          <p:cNvSpPr txBox="1"/>
          <p:nvPr/>
        </p:nvSpPr>
        <p:spPr>
          <a:xfrm>
            <a:off x="4800600" y="2907792"/>
            <a:ext cx="3840480" cy="214884"/>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salary plus tips.</a:t>
            </a:r>
            <a:endParaRPr lang="en-US" sz="11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777240" y="3950208"/>
          <a:ext cx="7863840" cy="914400"/>
        </p:xfrm>
        <a:graphic>
          <a:graphicData uri="http://schemas.openxmlformats.org/drawingml/2006/table">
            <a:tbl>
              <a:tblPr/>
              <a:tblGrid>
                <a:gridCol w="1310335"/>
                <a:gridCol w="1310335"/>
                <a:gridCol w="1310335"/>
                <a:gridCol w="1310335"/>
                <a:gridCol w="1310335"/>
                <a:gridCol w="1310335"/>
              </a:tblGrid>
              <a:tr h="365760">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Money</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Verify</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Block</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Work</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Rivals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Rules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r>
            </a:tbl>
          </a:graphicData>
        </a:graphic>
      </p:graphicFrame>
      <p:sp>
        <p:nvSpPr>
          <p:cNvPr id="15"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 / 51</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Money and rewards: key concepts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2645664" cy="1532534"/>
          </a:xfrm>
          <a:prstGeom prst="roundRect">
            <a:avLst>
              <a:gd name="adj" fmla="val 4773"/>
            </a:avLst>
          </a:prstGeom>
          <a:solidFill>
            <a:srgbClr val="F2ECE1"/>
          </a:solidFill>
          <a:ln w="12700">
            <a:solidFill>
              <a:srgbClr val="DFD6C7"/>
            </a:solidFill>
            <a:prstDash val="solid"/>
          </a:ln>
        </p:spPr>
      </p:sp>
      <p:sp>
        <p:nvSpPr>
          <p:cNvPr id="7" name="Shape 5"/>
          <p:cNvSpPr/>
          <p:nvPr/>
        </p:nvSpPr>
        <p:spPr>
          <a:xfrm>
            <a:off x="475488" y="1408176"/>
            <a:ext cx="64008" cy="1276502"/>
          </a:xfrm>
          <a:prstGeom prst="rect">
            <a:avLst/>
          </a:prstGeom>
          <a:solidFill>
            <a:srgbClr val="D97A14"/>
          </a:solidFill>
          <a:ln w="12700">
            <a:solidFill>
              <a:srgbClr val="D97A14"/>
            </a:solidFill>
            <a:prstDash val="solid"/>
          </a:ln>
        </p:spPr>
      </p:sp>
      <p:sp>
        <p:nvSpPr>
          <p:cNvPr id="8" name="Text 6"/>
          <p:cNvSpPr txBox="1"/>
          <p:nvPr/>
        </p:nvSpPr>
        <p:spPr>
          <a:xfrm>
            <a:off x="640080" y="1344168"/>
            <a:ext cx="2371344" cy="875995"/>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Halving every 210,000 blocks</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The reward is cut in half after every 210,000 blocks, about four years.</a:t>
            </a:r>
            <a:endParaRPr lang="en-US" sz="1150" dirty="0"/>
          </a:p>
        </p:txBody>
      </p:sp>
      <p:sp>
        <p:nvSpPr>
          <p:cNvPr id="9" name="Text 7"/>
          <p:cNvSpPr txBox="1"/>
          <p:nvPr/>
        </p:nvSpPr>
        <p:spPr>
          <a:xfrm>
            <a:off x="640080" y="2247595"/>
            <a:ext cx="2371344" cy="501091"/>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a wage that is halved on every fourth birthday of the system.</a:t>
            </a:r>
            <a:endParaRPr lang="en-US" sz="1000" dirty="0"/>
          </a:p>
        </p:txBody>
      </p:sp>
      <p:sp>
        <p:nvSpPr>
          <p:cNvPr id="10" name="Shape 8"/>
          <p:cNvSpPr/>
          <p:nvPr/>
        </p:nvSpPr>
        <p:spPr>
          <a:xfrm>
            <a:off x="3249168" y="1280160"/>
            <a:ext cx="2645664" cy="1532534"/>
          </a:xfrm>
          <a:prstGeom prst="roundRect">
            <a:avLst>
              <a:gd name="adj" fmla="val 4773"/>
            </a:avLst>
          </a:prstGeom>
          <a:solidFill>
            <a:srgbClr val="F2ECE1"/>
          </a:solidFill>
          <a:ln w="12700">
            <a:solidFill>
              <a:srgbClr val="DFD6C7"/>
            </a:solidFill>
            <a:prstDash val="solid"/>
          </a:ln>
        </p:spPr>
      </p:sp>
      <p:sp>
        <p:nvSpPr>
          <p:cNvPr id="11" name="Shape 9"/>
          <p:cNvSpPr/>
          <p:nvPr/>
        </p:nvSpPr>
        <p:spPr>
          <a:xfrm>
            <a:off x="3267456" y="1408176"/>
            <a:ext cx="64008" cy="1276502"/>
          </a:xfrm>
          <a:prstGeom prst="rect">
            <a:avLst/>
          </a:prstGeom>
          <a:solidFill>
            <a:srgbClr val="D97A14"/>
          </a:solidFill>
          <a:ln w="12700">
            <a:solidFill>
              <a:srgbClr val="D97A14"/>
            </a:solidFill>
            <a:prstDash val="solid"/>
          </a:ln>
        </p:spPr>
      </p:sp>
      <p:sp>
        <p:nvSpPr>
          <p:cNvPr id="12" name="Text 10"/>
          <p:cNvSpPr txBox="1"/>
          <p:nvPr/>
        </p:nvSpPr>
        <p:spPr>
          <a:xfrm>
            <a:off x="3432048" y="1344168"/>
            <a:ext cx="2371344" cy="875995"/>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Total supply below 21 million</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All rewards ever paid add up to 2,099,999,997,690,000 satoshis, just short of 21 million coins.</a:t>
            </a:r>
            <a:endParaRPr lang="en-US" sz="1150" dirty="0"/>
          </a:p>
        </p:txBody>
      </p:sp>
      <p:sp>
        <p:nvSpPr>
          <p:cNvPr id="13" name="Text 11"/>
          <p:cNvSpPr txBox="1"/>
          <p:nvPr/>
        </p:nvSpPr>
        <p:spPr>
          <a:xfrm>
            <a:off x="3432048" y="2247595"/>
            <a:ext cx="2371344" cy="501091"/>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a mint with a fixed stock of metal that is never topped up.</a:t>
            </a:r>
            <a:endParaRPr lang="en-US" sz="1000" dirty="0"/>
          </a:p>
        </p:txBody>
      </p:sp>
      <p:sp>
        <p:nvSpPr>
          <p:cNvPr id="14" name="Shape 12"/>
          <p:cNvSpPr/>
          <p:nvPr/>
        </p:nvSpPr>
        <p:spPr>
          <a:xfrm>
            <a:off x="6041136" y="1280160"/>
            <a:ext cx="2645664" cy="1532534"/>
          </a:xfrm>
          <a:prstGeom prst="roundRect">
            <a:avLst>
              <a:gd name="adj" fmla="val 4773"/>
            </a:avLst>
          </a:prstGeom>
          <a:solidFill>
            <a:srgbClr val="F2ECE1"/>
          </a:solidFill>
          <a:ln w="12700">
            <a:solidFill>
              <a:srgbClr val="DFD6C7"/>
            </a:solidFill>
            <a:prstDash val="solid"/>
          </a:ln>
        </p:spPr>
      </p:sp>
      <p:sp>
        <p:nvSpPr>
          <p:cNvPr id="15" name="Shape 13"/>
          <p:cNvSpPr/>
          <p:nvPr/>
        </p:nvSpPr>
        <p:spPr>
          <a:xfrm>
            <a:off x="6059424" y="1408176"/>
            <a:ext cx="64008" cy="1276502"/>
          </a:xfrm>
          <a:prstGeom prst="rect">
            <a:avLst/>
          </a:prstGeom>
          <a:solidFill>
            <a:srgbClr val="D97A14"/>
          </a:solidFill>
          <a:ln w="12700">
            <a:solidFill>
              <a:srgbClr val="D97A14"/>
            </a:solidFill>
            <a:prstDash val="solid"/>
          </a:ln>
        </p:spPr>
      </p:sp>
      <p:sp>
        <p:nvSpPr>
          <p:cNvPr id="16" name="Text 14"/>
          <p:cNvSpPr txBox="1"/>
          <p:nvPr/>
        </p:nvSpPr>
        <p:spPr>
          <a:xfrm>
            <a:off x="6224016" y="1344168"/>
            <a:ext cx="2371344" cy="875995"/>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The float erratum of the book's script</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The printed script divides with a slash, so Python 3 keeps halving fractions of a satoshi.</a:t>
            </a:r>
            <a:endParaRPr lang="en-US" sz="1150" dirty="0"/>
          </a:p>
        </p:txBody>
      </p:sp>
      <p:sp>
        <p:nvSpPr>
          <p:cNvPr id="17" name="Text 15"/>
          <p:cNvSpPr txBox="1"/>
          <p:nvPr/>
        </p:nvSpPr>
        <p:spPr>
          <a:xfrm>
            <a:off x="6224016" y="2247595"/>
            <a:ext cx="2371344" cy="501091"/>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a calculator that keeps cutting a coin into smaller crumbs.</a:t>
            </a:r>
            <a:endParaRPr lang="en-US" sz="1000" dirty="0"/>
          </a:p>
        </p:txBody>
      </p:sp>
      <p:sp>
        <p:nvSpPr>
          <p:cNvPr id="18" name="Shape 16"/>
          <p:cNvSpPr/>
          <p:nvPr/>
        </p:nvSpPr>
        <p:spPr>
          <a:xfrm>
            <a:off x="457200" y="2940710"/>
            <a:ext cx="2645664" cy="1532534"/>
          </a:xfrm>
          <a:prstGeom prst="roundRect">
            <a:avLst>
              <a:gd name="adj" fmla="val 4773"/>
            </a:avLst>
          </a:prstGeom>
          <a:solidFill>
            <a:srgbClr val="F2ECE1"/>
          </a:solidFill>
          <a:ln w="12700">
            <a:solidFill>
              <a:srgbClr val="DFD6C7"/>
            </a:solidFill>
            <a:prstDash val="solid"/>
          </a:ln>
        </p:spPr>
      </p:sp>
      <p:sp>
        <p:nvSpPr>
          <p:cNvPr id="19" name="Shape 17"/>
          <p:cNvSpPr/>
          <p:nvPr/>
        </p:nvSpPr>
        <p:spPr>
          <a:xfrm>
            <a:off x="475488" y="3068726"/>
            <a:ext cx="64008" cy="1276502"/>
          </a:xfrm>
          <a:prstGeom prst="rect">
            <a:avLst/>
          </a:prstGeom>
          <a:solidFill>
            <a:srgbClr val="D97A14"/>
          </a:solidFill>
          <a:ln w="12700">
            <a:solidFill>
              <a:srgbClr val="D97A14"/>
            </a:solidFill>
            <a:prstDash val="solid"/>
          </a:ln>
        </p:spPr>
      </p:sp>
      <p:sp>
        <p:nvSpPr>
          <p:cNvPr id="20" name="Text 18"/>
          <p:cNvSpPr txBox="1"/>
          <p:nvPr/>
        </p:nvSpPr>
        <p:spPr>
          <a:xfrm>
            <a:off x="640080" y="3004718"/>
            <a:ext cx="2371344" cy="875995"/>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Reward is subsidy plus fees</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The miner is paid the new coins plus the fees of the included transactions.</a:t>
            </a:r>
            <a:endParaRPr lang="en-US" sz="1150" dirty="0"/>
          </a:p>
        </p:txBody>
      </p:sp>
      <p:sp>
        <p:nvSpPr>
          <p:cNvPr id="21" name="Text 19"/>
          <p:cNvSpPr txBox="1"/>
          <p:nvPr/>
        </p:nvSpPr>
        <p:spPr>
          <a:xfrm>
            <a:off x="640080" y="3908146"/>
            <a:ext cx="2371344" cy="191110"/>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a wage plus tips.</a:t>
            </a:r>
            <a:endParaRPr lang="en-US" sz="1000" dirty="0"/>
          </a:p>
        </p:txBody>
      </p:sp>
      <p:sp>
        <p:nvSpPr>
          <p:cNvPr id="22" name="Shape 20"/>
          <p:cNvSpPr/>
          <p:nvPr/>
        </p:nvSpPr>
        <p:spPr>
          <a:xfrm>
            <a:off x="3249168" y="2940710"/>
            <a:ext cx="2645664" cy="1532534"/>
          </a:xfrm>
          <a:prstGeom prst="roundRect">
            <a:avLst>
              <a:gd name="adj" fmla="val 4773"/>
            </a:avLst>
          </a:prstGeom>
          <a:solidFill>
            <a:srgbClr val="F2ECE1"/>
          </a:solidFill>
          <a:ln w="12700">
            <a:solidFill>
              <a:srgbClr val="DFD6C7"/>
            </a:solidFill>
            <a:prstDash val="solid"/>
          </a:ln>
        </p:spPr>
      </p:sp>
      <p:sp>
        <p:nvSpPr>
          <p:cNvPr id="23" name="Shape 21"/>
          <p:cNvSpPr/>
          <p:nvPr/>
        </p:nvSpPr>
        <p:spPr>
          <a:xfrm>
            <a:off x="3267456" y="3068726"/>
            <a:ext cx="64008" cy="1276502"/>
          </a:xfrm>
          <a:prstGeom prst="rect">
            <a:avLst/>
          </a:prstGeom>
          <a:solidFill>
            <a:srgbClr val="D97A14"/>
          </a:solidFill>
          <a:ln w="12700">
            <a:solidFill>
              <a:srgbClr val="D97A14"/>
            </a:solidFill>
            <a:prstDash val="solid"/>
          </a:ln>
        </p:spPr>
      </p:sp>
      <p:sp>
        <p:nvSpPr>
          <p:cNvPr id="24" name="Text 22"/>
          <p:cNvSpPr txBox="1"/>
          <p:nvPr/>
        </p:nvSpPr>
        <p:spPr>
          <a:xfrm>
            <a:off x="3432048" y="3004718"/>
            <a:ext cx="2371344" cy="697687"/>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The fees of block 840,000</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The first block of the 3.125-coin era paid fees twelve times its subsidy.</a:t>
            </a:r>
            <a:endParaRPr lang="en-US" sz="1150" dirty="0"/>
          </a:p>
        </p:txBody>
      </p:sp>
      <p:sp>
        <p:nvSpPr>
          <p:cNvPr id="25" name="Text 23"/>
          <p:cNvSpPr txBox="1"/>
          <p:nvPr/>
        </p:nvSpPr>
        <p:spPr>
          <a:xfrm>
            <a:off x="3432048" y="3729838"/>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a waiter whose tips on a busy night beat the salary.</a:t>
            </a:r>
            <a:endParaRPr lang="en-US" sz="1000" dirty="0"/>
          </a:p>
        </p:txBody>
      </p:sp>
      <p:sp>
        <p:nvSpPr>
          <p:cNvPr id="26" name="Shape 24"/>
          <p:cNvSpPr/>
          <p:nvPr/>
        </p:nvSpPr>
        <p:spPr>
          <a:xfrm>
            <a:off x="6041136" y="2940710"/>
            <a:ext cx="2645664" cy="1532534"/>
          </a:xfrm>
          <a:prstGeom prst="roundRect">
            <a:avLst>
              <a:gd name="adj" fmla="val 4773"/>
            </a:avLst>
          </a:prstGeom>
          <a:solidFill>
            <a:srgbClr val="F2ECE1"/>
          </a:solidFill>
          <a:ln w="12700">
            <a:solidFill>
              <a:srgbClr val="DFD6C7"/>
            </a:solidFill>
            <a:prstDash val="solid"/>
          </a:ln>
        </p:spPr>
      </p:sp>
      <p:sp>
        <p:nvSpPr>
          <p:cNvPr id="27" name="Shape 25"/>
          <p:cNvSpPr/>
          <p:nvPr/>
        </p:nvSpPr>
        <p:spPr>
          <a:xfrm>
            <a:off x="6059424" y="3068726"/>
            <a:ext cx="64008" cy="1276502"/>
          </a:xfrm>
          <a:prstGeom prst="rect">
            <a:avLst/>
          </a:prstGeom>
          <a:solidFill>
            <a:srgbClr val="D97A14"/>
          </a:solidFill>
          <a:ln w="12700">
            <a:solidFill>
              <a:srgbClr val="D97A14"/>
            </a:solidFill>
            <a:prstDash val="solid"/>
          </a:ln>
        </p:spPr>
      </p:sp>
      <p:sp>
        <p:nvSpPr>
          <p:cNvPr id="28" name="Text 26"/>
          <p:cNvSpPr txBox="1"/>
          <p:nvPr/>
        </p:nvSpPr>
        <p:spPr>
          <a:xfrm>
            <a:off x="6224016" y="3004718"/>
            <a:ext cx="2371344" cy="875995"/>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Regtest halves every 150 blocks</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The private test chain halves the reward every 150 blocks, so a halving can be watched in minutes.</a:t>
            </a:r>
            <a:endParaRPr lang="en-US" sz="1150" dirty="0"/>
          </a:p>
        </p:txBody>
      </p:sp>
      <p:sp>
        <p:nvSpPr>
          <p:cNvPr id="29" name="Text 27"/>
          <p:cNvSpPr txBox="1"/>
          <p:nvPr/>
        </p:nvSpPr>
        <p:spPr>
          <a:xfrm>
            <a:off x="6224016" y="3908146"/>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a time-lapse film of a four-year calendar.</a:t>
            </a:r>
            <a:endParaRPr lang="en-US" sz="1000" dirty="0"/>
          </a:p>
        </p:txBody>
      </p:sp>
      <p:sp>
        <p:nvSpPr>
          <p:cNvPr id="30" name="Shape 28"/>
          <p:cNvSpPr/>
          <p:nvPr/>
        </p:nvSpPr>
        <p:spPr>
          <a:xfrm>
            <a:off x="457200" y="4636008"/>
            <a:ext cx="91440" cy="310896"/>
          </a:xfrm>
          <a:prstGeom prst="rect">
            <a:avLst/>
          </a:prstGeom>
          <a:solidFill>
            <a:srgbClr val="D97A14"/>
          </a:solidFill>
          <a:ln w="12700">
            <a:solidFill>
              <a:srgbClr val="D97A14"/>
            </a:solidFill>
            <a:prstDash val="solid"/>
          </a:ln>
        </p:spPr>
      </p:sp>
      <p:sp>
        <p:nvSpPr>
          <p:cNvPr id="31" name="Text 2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32" name="Text 3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6 / 51</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Halving every 210,000 blocks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reward at five heights, and the last non-zero reward</a:t>
            </a:r>
            <a:endParaRPr lang="en-US" sz="1300" dirty="0"/>
          </a:p>
        </p:txBody>
      </p:sp>
      <p:sp>
        <p:nvSpPr>
          <p:cNvPr id="6" name="Shape 4"/>
          <p:cNvSpPr/>
          <p:nvPr/>
        </p:nvSpPr>
        <p:spPr>
          <a:xfrm>
            <a:off x="457200" y="1325880"/>
            <a:ext cx="5074920" cy="311810"/>
          </a:xfrm>
          <a:prstGeom prst="roundRect">
            <a:avLst>
              <a:gd name="adj" fmla="val 23460"/>
            </a:avLst>
          </a:prstGeom>
          <a:solidFill>
            <a:srgbClr val="23272E"/>
          </a:solidFill>
          <a:ln w="12700">
            <a:solidFill>
              <a:srgbClr val="23272E"/>
            </a:solidFill>
            <a:prstDash val="solid"/>
          </a:ln>
        </p:spPr>
      </p:sp>
      <p:sp>
        <p:nvSpPr>
          <p:cNvPr id="7" name="Text 5"/>
          <p:cNvSpPr txBox="1"/>
          <p:nvPr/>
        </p:nvSpPr>
        <p:spPr>
          <a:xfrm>
            <a:off x="603504" y="139903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hs = [</a:t>
            </a:r>
            <a:r>
              <a:rPr lang="en-US" sz="1000" dirty="0">
                <a:solidFill>
                  <a:srgbClr val="FFD28A"/>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210000</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420000</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630000</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840000</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122322"/>
            <a:ext cx="5074920" cy="311810"/>
          </a:xfrm>
          <a:prstGeom prst="roundRect">
            <a:avLst>
              <a:gd name="adj" fmla="val 23460"/>
            </a:avLst>
          </a:prstGeom>
          <a:solidFill>
            <a:srgbClr val="23272E"/>
          </a:solidFill>
          <a:ln w="12700">
            <a:solidFill>
              <a:srgbClr val="23272E"/>
            </a:solidFill>
            <a:prstDash val="solid"/>
          </a:ln>
        </p:spPr>
      </p:sp>
      <p:sp>
        <p:nvSpPr>
          <p:cNvPr id="9" name="Text 7"/>
          <p:cNvSpPr txBox="1"/>
          <p:nvPr/>
        </p:nvSpPr>
        <p:spPr>
          <a:xfrm>
            <a:off x="603504" y="2195474"/>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btc = [L.subsidy(h) / 1e8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h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hs]</a:t>
            </a:r>
            <a:endParaRPr lang="en-US" sz="1000" dirty="0"/>
          </a:p>
        </p:txBody>
      </p:sp>
      <p:sp>
        <p:nvSpPr>
          <p:cNvPr id="10" name="Shape 8"/>
          <p:cNvSpPr/>
          <p:nvPr/>
        </p:nvSpPr>
        <p:spPr>
          <a:xfrm>
            <a:off x="457200" y="2918765"/>
            <a:ext cx="5074920" cy="641909"/>
          </a:xfrm>
          <a:prstGeom prst="roundRect">
            <a:avLst>
              <a:gd name="adj" fmla="val 11396"/>
            </a:avLst>
          </a:prstGeom>
          <a:solidFill>
            <a:srgbClr val="23272E"/>
          </a:solidFill>
          <a:ln w="12700">
            <a:solidFill>
              <a:srgbClr val="23272E"/>
            </a:solidFill>
            <a:prstDash val="solid"/>
          </a:ln>
        </p:spPr>
      </p:sp>
      <p:sp>
        <p:nvSpPr>
          <p:cNvPr id="11" name="Text 9"/>
          <p:cNvSpPr txBox="1"/>
          <p:nvPr/>
        </p:nvSpPr>
        <p:spPr>
          <a:xfrm>
            <a:off x="603504" y="2991917"/>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last = L.subsidy(</a:t>
            </a:r>
            <a:r>
              <a:rPr lang="en-US" sz="1000" dirty="0">
                <a:solidFill>
                  <a:srgbClr val="FFD28A"/>
                </a:solidFill>
                <a:latin typeface="Courier New" pitchFamily="34" charset="0"/>
                <a:ea typeface="Courier New" pitchFamily="34" charset="-122"/>
                <a:cs typeface="Courier New" pitchFamily="34" charset="-120"/>
              </a:rPr>
              <a:t>33</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210000</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(btc, last)</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([50.0, 25.0, 12.5, 6.25, 3.125], 1)</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665122"/>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reward is cut in half at each multiple of 210,000 blocks, which is about every four years.</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461565"/>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Each height becomes a subsidy in coins; the halving is a right shift of whole satoshis.</a:t>
            </a:r>
            <a:endParaRPr lang="en-US" sz="1050" dirty="0"/>
          </a:p>
        </p:txBody>
      </p:sp>
      <p:sp>
        <p:nvSpPr>
          <p:cNvPr id="18" name="Shape 16"/>
          <p:cNvSpPr/>
          <p:nvPr/>
        </p:nvSpPr>
        <p:spPr>
          <a:xfrm>
            <a:off x="365760" y="2845613"/>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845613"/>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588106"/>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After the 33rd halving the subsidy is a single satoshi, and after the 34th it is zero.</a:t>
            </a:r>
            <a:endParaRPr lang="en-US" sz="1050" dirty="0"/>
          </a:p>
        </p:txBody>
      </p:sp>
      <p:sp>
        <p:nvSpPr>
          <p:cNvPr id="21" name="Text 19"/>
          <p:cNvSpPr txBox="1"/>
          <p:nvPr/>
        </p:nvSpPr>
        <p:spPr>
          <a:xfrm>
            <a:off x="457200" y="4008730"/>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its regtest record</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reward in coins from each height</a:t>
            </a:r>
            <a:endParaRPr lang="en-US" sz="1100" dirty="0"/>
          </a:p>
        </p:txBody>
      </p:sp>
      <p:graphicFrame>
        <p:nvGraphicFramePr>
          <p:cNvPr id="23" name="Chart 0" descr=""/>
          <p:cNvGraphicFramePr/>
          <p:nvPr/>
        </p:nvGraphicFramePr>
        <p:xfrm>
          <a:off x="5715000" y="1773936"/>
          <a:ext cx="2971800" cy="2075688"/>
        </p:xfrm>
        <a:graphic xmlns:a="http://schemas.openxmlformats.org/drawingml/2006/main">
          <a:graphicData uri="http://schemas.openxmlformats.org/drawingml/2006/chart">
            <c:chart xmlns:c="http://schemas.openxmlformats.org/drawingml/2006/chart" r:id="rId1"/>
          </a:graphicData>
        </a:graphic>
      </p:graphicFrame>
      <p:sp>
        <p:nvSpPr>
          <p:cNvPr id="24" name="Text 21"/>
          <p:cNvSpPr txBox="1"/>
          <p:nvPr/>
        </p:nvSpPr>
        <p:spPr>
          <a:xfrm>
            <a:off x="5715000" y="3941064"/>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reward falls from 50 to 3.125 coins. After the 33rd halving it is 1 satoshi, and after the 34th 0.</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reward halves on a fixed calendar until it reaches one satoshi</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7 / 51</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21 million limit</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Whole satoshis against the book's float script</a:t>
            </a:r>
            <a:endParaRPr lang="en-US" sz="1300" dirty="0"/>
          </a:p>
        </p:txBody>
      </p:sp>
      <p:sp>
        <p:nvSpPr>
          <p:cNvPr id="6" name="Shape 4"/>
          <p:cNvSpPr/>
          <p:nvPr/>
        </p:nvSpPr>
        <p:spPr>
          <a:xfrm>
            <a:off x="457200" y="1325880"/>
            <a:ext cx="5074920" cy="311810"/>
          </a:xfrm>
          <a:prstGeom prst="roundRect">
            <a:avLst>
              <a:gd name="adj" fmla="val 23460"/>
            </a:avLst>
          </a:prstGeom>
          <a:solidFill>
            <a:srgbClr val="23272E"/>
          </a:solidFill>
          <a:ln w="12700">
            <a:solidFill>
              <a:srgbClr val="23272E"/>
            </a:solidFill>
            <a:prstDash val="solid"/>
          </a:ln>
        </p:spPr>
      </p:sp>
      <p:sp>
        <p:nvSpPr>
          <p:cNvPr id="7" name="Text 5"/>
          <p:cNvSpPr txBox="1"/>
          <p:nvPr/>
        </p:nvSpPr>
        <p:spPr>
          <a:xfrm>
            <a:off x="603504" y="139903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tot = L.total_supply()</a:t>
            </a:r>
            <a:endParaRPr lang="en-US" sz="1000" dirty="0"/>
          </a:p>
        </p:txBody>
      </p:sp>
      <p:sp>
        <p:nvSpPr>
          <p:cNvPr id="8" name="Shape 6"/>
          <p:cNvSpPr/>
          <p:nvPr/>
        </p:nvSpPr>
        <p:spPr>
          <a:xfrm>
            <a:off x="457200" y="2122322"/>
            <a:ext cx="5074920" cy="311810"/>
          </a:xfrm>
          <a:prstGeom prst="roundRect">
            <a:avLst>
              <a:gd name="adj" fmla="val 23460"/>
            </a:avLst>
          </a:prstGeom>
          <a:solidFill>
            <a:srgbClr val="23272E"/>
          </a:solidFill>
          <a:ln w="12700">
            <a:solidFill>
              <a:srgbClr val="23272E"/>
            </a:solidFill>
            <a:prstDash val="solid"/>
          </a:ln>
        </p:spPr>
      </p:sp>
      <p:sp>
        <p:nvSpPr>
          <p:cNvPr id="9" name="Text 7"/>
          <p:cNvSpPr txBox="1"/>
          <p:nvPr/>
        </p:nvSpPr>
        <p:spPr>
          <a:xfrm>
            <a:off x="603504" y="2195474"/>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short = </a:t>
            </a:r>
            <a:r>
              <a:rPr lang="en-US" sz="1000" dirty="0">
                <a:solidFill>
                  <a:srgbClr val="FFD28A"/>
                </a:solidFill>
                <a:latin typeface="Courier New" pitchFamily="34" charset="0"/>
                <a:ea typeface="Courier New" pitchFamily="34" charset="-122"/>
                <a:cs typeface="Courier New" pitchFamily="34" charset="-120"/>
              </a:rPr>
              <a:t>21</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10</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14</a:t>
            </a:r>
            <a:r>
              <a:rPr lang="en-US" sz="1000" dirty="0">
                <a:solidFill>
                  <a:srgbClr val="E6EDF3"/>
                </a:solidFill>
                <a:latin typeface="Courier New" pitchFamily="34" charset="0"/>
                <a:ea typeface="Courier New" pitchFamily="34" charset="-122"/>
                <a:cs typeface="Courier New" pitchFamily="34" charset="-120"/>
              </a:rPr>
              <a:t> - tot</a:t>
            </a:r>
            <a:endParaRPr lang="en-US" sz="1000" dirty="0"/>
          </a:p>
        </p:txBody>
      </p:sp>
      <p:sp>
        <p:nvSpPr>
          <p:cNvPr id="10" name="Shape 8"/>
          <p:cNvSpPr/>
          <p:nvPr/>
        </p:nvSpPr>
        <p:spPr>
          <a:xfrm>
            <a:off x="457200" y="2918765"/>
            <a:ext cx="5074920" cy="641909"/>
          </a:xfrm>
          <a:prstGeom prst="roundRect">
            <a:avLst>
              <a:gd name="adj" fmla="val 11396"/>
            </a:avLst>
          </a:prstGeom>
          <a:solidFill>
            <a:srgbClr val="23272E"/>
          </a:solidFill>
          <a:ln w="12700">
            <a:solidFill>
              <a:srgbClr val="23272E"/>
            </a:solidFill>
            <a:prstDash val="solid"/>
          </a:ln>
        </p:spPr>
      </p:sp>
      <p:sp>
        <p:nvSpPr>
          <p:cNvPr id="11" name="Text 9"/>
          <p:cNvSpPr txBox="1"/>
          <p:nvPr/>
        </p:nvSpPr>
        <p:spPr>
          <a:xfrm>
            <a:off x="603504" y="2991917"/>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fl = L.book_script_as_printed()</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(tot, short, type(fl).__name__)</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(2099999997690000, 2310000, 'float')</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665122"/>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Adding the 33 non-zero rewards, in whole satoshis, gives the real total supply.</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461565"/>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total falls a little short of 21 million coins, counted in satoshis.</a:t>
            </a:r>
            <a:endParaRPr lang="en-US" sz="1050" dirty="0"/>
          </a:p>
        </p:txBody>
      </p:sp>
      <p:sp>
        <p:nvSpPr>
          <p:cNvPr id="18" name="Shape 16"/>
          <p:cNvSpPr/>
          <p:nvPr/>
        </p:nvSpPr>
        <p:spPr>
          <a:xfrm>
            <a:off x="365760" y="2845613"/>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845613"/>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588106"/>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book's script divides with a slash, which Python 3 turns into a float division.</a:t>
            </a:r>
            <a:endParaRPr lang="en-US" sz="1050" dirty="0"/>
          </a:p>
        </p:txBody>
      </p:sp>
      <p:sp>
        <p:nvSpPr>
          <p:cNvPr id="21" name="Text 19"/>
          <p:cNvSpPr txBox="1"/>
          <p:nvPr/>
        </p:nvSpPr>
        <p:spPr>
          <a:xfrm>
            <a:off x="457200" y="4008730"/>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its regtest record</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the supply, in whole satoshis</a:t>
            </a:r>
            <a:endParaRPr lang="en-US" sz="11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1371600"/>
                <a:gridCol w="160020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Quantity</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Value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Total, in satoshis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2,099,999,997,690,000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Short of 21 million coins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2,310,000 sat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Book script returns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float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Value as printed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2100000000000000.0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419856"/>
            <a:ext cx="2971800" cy="78638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exact total is 2,099,999,997,690,000 satoshis. Run as printed, the book's script ends with a float, which hides the shortfall.</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real total is a little under 21 million coins, and a float hides that</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8 / 51</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Subsidy plus fees is the reward</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private chain: what Core offers and what a miner claims</a:t>
            </a:r>
            <a:endParaRPr lang="en-US" sz="1300" dirty="0"/>
          </a:p>
        </p:txBody>
      </p:sp>
      <p:sp>
        <p:nvSpPr>
          <p:cNvPr id="6" name="Shape 4"/>
          <p:cNvSpPr/>
          <p:nvPr/>
        </p:nvSpPr>
        <p:spPr>
          <a:xfrm>
            <a:off x="457200" y="1325880"/>
            <a:ext cx="5074920" cy="311810"/>
          </a:xfrm>
          <a:prstGeom prst="roundRect">
            <a:avLst>
              <a:gd name="adj" fmla="val 23460"/>
            </a:avLst>
          </a:prstGeom>
          <a:solidFill>
            <a:srgbClr val="23272E"/>
          </a:solidFill>
          <a:ln w="12700">
            <a:solidFill>
              <a:srgbClr val="23272E"/>
            </a:solidFill>
            <a:prstDash val="solid"/>
          </a:ln>
        </p:spPr>
      </p:sp>
      <p:sp>
        <p:nvSpPr>
          <p:cNvPr id="7" name="Text 5"/>
          <p:cNvSpPr txBox="1"/>
          <p:nvPr/>
        </p:nvSpPr>
        <p:spPr>
          <a:xfrm>
            <a:off x="603504" y="139903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 = R[</a:t>
            </a:r>
            <a:r>
              <a:rPr lang="en-US" sz="1000" dirty="0">
                <a:solidFill>
                  <a:srgbClr val="9ECBFF"/>
                </a:solidFill>
                <a:latin typeface="Courier New" pitchFamily="34" charset="0"/>
                <a:ea typeface="Courier New" pitchFamily="34" charset="-122"/>
                <a:cs typeface="Courier New" pitchFamily="34" charset="-120"/>
              </a:rPr>
              <a:t>'b5_reward'</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122322"/>
            <a:ext cx="5074920" cy="311810"/>
          </a:xfrm>
          <a:prstGeom prst="roundRect">
            <a:avLst>
              <a:gd name="adj" fmla="val 23460"/>
            </a:avLst>
          </a:prstGeom>
          <a:solidFill>
            <a:srgbClr val="23272E"/>
          </a:solidFill>
          <a:ln w="12700">
            <a:solidFill>
              <a:srgbClr val="23272E"/>
            </a:solidFill>
            <a:prstDash val="solid"/>
          </a:ln>
        </p:spPr>
      </p:sp>
      <p:sp>
        <p:nvSpPr>
          <p:cNvPr id="9" name="Text 7"/>
          <p:cNvSpPr txBox="1"/>
          <p:nvPr/>
        </p:nvSpPr>
        <p:spPr>
          <a:xfrm>
            <a:off x="603504" y="2195474"/>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ok = r[</a:t>
            </a:r>
            <a:r>
              <a:rPr lang="en-US" sz="1000" dirty="0">
                <a:solidFill>
                  <a:srgbClr val="9ECBFF"/>
                </a:solidFill>
                <a:latin typeface="Courier New" pitchFamily="34" charset="0"/>
                <a:ea typeface="Courier New" pitchFamily="34" charset="-122"/>
                <a:cs typeface="Courier New" pitchFamily="34" charset="-120"/>
              </a:rPr>
              <a:t>'coinbasevalue'</a:t>
            </a:r>
            <a:r>
              <a:rPr lang="en-US" sz="1000" dirty="0">
                <a:solidFill>
                  <a:srgbClr val="E6EDF3"/>
                </a:solidFill>
                <a:latin typeface="Courier New" pitchFamily="34" charset="0"/>
                <a:ea typeface="Courier New" pitchFamily="34" charset="-122"/>
                <a:cs typeface="Courier New" pitchFamily="34" charset="-120"/>
              </a:rPr>
              <a:t>] == r[</a:t>
            </a:r>
            <a:r>
              <a:rPr lang="en-US" sz="1000" dirty="0">
                <a:solidFill>
                  <a:srgbClr val="9ECBFF"/>
                </a:solidFill>
                <a:latin typeface="Courier New" pitchFamily="34" charset="0"/>
                <a:ea typeface="Courier New" pitchFamily="34" charset="-122"/>
                <a:cs typeface="Courier New" pitchFamily="34" charset="-120"/>
              </a:rPr>
              <a:t>'subsidy'</a:t>
            </a:r>
            <a:r>
              <a:rPr lang="en-US" sz="1000" dirty="0">
                <a:solidFill>
                  <a:srgbClr val="E6EDF3"/>
                </a:solidFill>
                <a:latin typeface="Courier New" pitchFamily="34" charset="0"/>
                <a:ea typeface="Courier New" pitchFamily="34" charset="-122"/>
                <a:cs typeface="Courier New" pitchFamily="34" charset="-120"/>
              </a:rPr>
              <a:t>] + r[</a:t>
            </a:r>
            <a:r>
              <a:rPr lang="en-US" sz="1000" dirty="0">
                <a:solidFill>
                  <a:srgbClr val="9ECBFF"/>
                </a:solidFill>
                <a:latin typeface="Courier New" pitchFamily="34" charset="0"/>
                <a:ea typeface="Courier New" pitchFamily="34" charset="-122"/>
                <a:cs typeface="Courier New" pitchFamily="34" charset="-120"/>
              </a:rPr>
              <a:t>'fees'</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2918765"/>
            <a:ext cx="5074920" cy="806501"/>
          </a:xfrm>
          <a:prstGeom prst="roundRect">
            <a:avLst>
              <a:gd name="adj" fmla="val 9070"/>
            </a:avLst>
          </a:prstGeom>
          <a:solidFill>
            <a:srgbClr val="23272E"/>
          </a:solidFill>
          <a:ln w="12700">
            <a:solidFill>
              <a:srgbClr val="23272E"/>
            </a:solidFill>
            <a:prstDash val="solid"/>
          </a:ln>
        </p:spPr>
      </p:sp>
      <p:sp>
        <p:nvSpPr>
          <p:cNvPr id="11" name="Text 9"/>
          <p:cNvSpPr txBox="1"/>
          <p:nvPr/>
        </p:nvSpPr>
        <p:spPr>
          <a:xfrm>
            <a:off x="603504" y="2991917"/>
            <a:ext cx="4800600" cy="678485"/>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m = R[</a:t>
            </a:r>
            <a:r>
              <a:rPr lang="en-US" sz="1000" dirty="0">
                <a:solidFill>
                  <a:srgbClr val="9ECBFF"/>
                </a:solidFill>
                <a:latin typeface="Courier New" pitchFamily="34" charset="0"/>
                <a:ea typeface="Courier New" pitchFamily="34" charset="-122"/>
                <a:cs typeface="Courier New" pitchFamily="34" charset="-120"/>
              </a:rPr>
              <a:t>'b5_modest'</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'coinbase_output_sat'</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bad = R[</a:t>
            </a:r>
            <a:r>
              <a:rPr lang="en-US" sz="1000" dirty="0">
                <a:solidFill>
                  <a:srgbClr val="9ECBFF"/>
                </a:solidFill>
                <a:latin typeface="Courier New" pitchFamily="34" charset="0"/>
                <a:ea typeface="Courier New" pitchFamily="34" charset="-122"/>
                <a:cs typeface="Courier New" pitchFamily="34" charset="-120"/>
              </a:rPr>
              <a:t>'b4_rules'</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'reward_one_satoshi_too_high'</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a:t>
            </a:r>
            <a:r>
              <a:rPr lang="en-US" sz="1000" dirty="0">
                <a:solidFill>
                  <a:srgbClr val="9ECBFF"/>
                </a:solidFill>
                <a:latin typeface="Courier New" pitchFamily="34" charset="0"/>
                <a:ea typeface="Courier New" pitchFamily="34" charset="-122"/>
                <a:cs typeface="Courier New" pitchFamily="34" charset="-120"/>
              </a:rPr>
              <a:t>'subsidy'</a:t>
            </a:r>
            <a:r>
              <a:rPr lang="en-US" sz="1000" dirty="0">
                <a:solidFill>
                  <a:srgbClr val="E6EDF3"/>
                </a:solidFill>
                <a:latin typeface="Courier New" pitchFamily="34" charset="0"/>
                <a:ea typeface="Courier New" pitchFamily="34" charset="-122"/>
                <a:cs typeface="Courier New" pitchFamily="34" charset="-120"/>
              </a:rPr>
              <a:t>], r[</a:t>
            </a:r>
            <a:r>
              <a:rPr lang="en-US" sz="1000" dirty="0">
                <a:solidFill>
                  <a:srgbClr val="9ECBFF"/>
                </a:solidFill>
                <a:latin typeface="Courier New" pitchFamily="34" charset="0"/>
                <a:ea typeface="Courier New" pitchFamily="34" charset="-122"/>
                <a:cs typeface="Courier New" pitchFamily="34" charset="-120"/>
              </a:rPr>
              <a:t>'fees'</a:t>
            </a:r>
            <a:r>
              <a:rPr lang="en-US" sz="1000" dirty="0">
                <a:solidFill>
                  <a:srgbClr val="E6EDF3"/>
                </a:solidFill>
                <a:latin typeface="Courier New" pitchFamily="34" charset="0"/>
                <a:ea typeface="Courier New" pitchFamily="34" charset="-122"/>
                <a:cs typeface="Courier New" pitchFamily="34" charset="-120"/>
              </a:rPr>
              <a:t>], ok, bad)</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(305175, 40194, True, 'bad-cb-amount')</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665122"/>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Bitcoin Core, on a private chain, offers a block template that states the reward.</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461565"/>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reward it offers equals the subsidy plus the fees of the chosen transactions.</a:t>
            </a:r>
            <a:endParaRPr lang="en-US" sz="1050" dirty="0"/>
          </a:p>
        </p:txBody>
      </p:sp>
      <p:sp>
        <p:nvSpPr>
          <p:cNvPr id="18" name="Shape 16"/>
          <p:cNvSpPr/>
          <p:nvPr/>
        </p:nvSpPr>
        <p:spPr>
          <a:xfrm>
            <a:off x="365760" y="2845613"/>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845613"/>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752698"/>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miner may claim less than the reward, but one satoshi more is refused.</a:t>
            </a:r>
            <a:endParaRPr lang="en-US" sz="1050" dirty="0"/>
          </a:p>
        </p:txBody>
      </p:sp>
      <p:sp>
        <p:nvSpPr>
          <p:cNvPr id="21" name="Text 19"/>
          <p:cNvSpPr txBox="1"/>
          <p:nvPr/>
        </p:nvSpPr>
        <p:spPr>
          <a:xfrm>
            <a:off x="457200" y="4173322"/>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its regtest record</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satoshis offered and claimed</a:t>
            </a:r>
            <a:endParaRPr lang="en-US" sz="1100" dirty="0"/>
          </a:p>
        </p:txBody>
      </p:sp>
      <p:graphicFrame>
        <p:nvGraphicFramePr>
          <p:cNvPr id="23" name="Chart 0" descr=""/>
          <p:cNvGraphicFramePr/>
          <p:nvPr/>
        </p:nvGraphicFramePr>
        <p:xfrm>
          <a:off x="5715000" y="1773936"/>
          <a:ext cx="2971800" cy="1892808"/>
        </p:xfrm>
        <a:graphic xmlns:a="http://schemas.openxmlformats.org/drawingml/2006/main">
          <a:graphicData uri="http://schemas.openxmlformats.org/drawingml/2006/chart">
            <c:chart xmlns:c="http://schemas.openxmlformats.org/drawingml/2006/chart" r:id="rId1"/>
          </a:graphicData>
        </a:graphic>
      </p:graphicFrame>
      <p:sp>
        <p:nvSpPr>
          <p:cNvPr id="24" name="Text 21"/>
          <p:cNvSpPr txBox="1"/>
          <p:nvPr/>
        </p:nvSpPr>
        <p:spPr>
          <a:xfrm>
            <a:off x="5715000" y="3758184"/>
            <a:ext cx="2971800" cy="78638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Subsidy plus fees equals the reward: yes. The claim is one satoshi less and is accepted; one more gives bad-cb-amount.</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miner may claim less than the reward, never one satoshi more</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9 / 51</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Tips twelve times the wage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subsidy halves on schedule, but fees can swing wildly</a:t>
            </a:r>
            <a:endParaRPr lang="en-US" sz="1300" dirty="0"/>
          </a:p>
        </p:txBody>
      </p:sp>
      <p:pic>
        <p:nvPicPr>
          <p:cNvPr id="6" name="Image 0" descr="../../03-materials/ch12/assets/photo_asic_miner.png">    </p:cNvPr>
          <p:cNvPicPr>
            <a:picLocks noChangeAspect="1"/>
          </p:cNvPicPr>
          <p:nvPr/>
        </p:nvPicPr>
        <p:blipFill>
          <a:blip r:embed="rId1"/>
          <a:srcRect l="0" r="0" t="0" b="0"/>
          <a:stretch/>
        </p:blipFill>
        <p:spPr>
          <a:xfrm>
            <a:off x="457200" y="1280160"/>
            <a:ext cx="3108960" cy="2331720"/>
          </a:xfrm>
          <a:prstGeom prst="rect">
            <a:avLst/>
          </a:prstGeom>
        </p:spPr>
      </p:pic>
      <p:sp>
        <p:nvSpPr>
          <p:cNvPr id="7" name="Text 4"/>
          <p:cNvSpPr txBox="1"/>
          <p:nvPr/>
        </p:nvSpPr>
        <p:spPr>
          <a:xfrm>
            <a:off x="457200" y="3630168"/>
            <a:ext cx="31089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Antminer ASIC Miner - Steve Rainwater, CC BY-SA 2.0, Wikimedia Commons</a:t>
            </a:r>
            <a:endParaRPr lang="en-US" sz="900" dirty="0"/>
          </a:p>
        </p:txBody>
      </p:sp>
      <p:sp>
        <p:nvSpPr>
          <p:cNvPr id="8" name="Shape 5"/>
          <p:cNvSpPr/>
          <p:nvPr/>
        </p:nvSpPr>
        <p:spPr>
          <a:xfrm>
            <a:off x="3749040" y="1524762"/>
            <a:ext cx="128016" cy="128016"/>
          </a:xfrm>
          <a:prstGeom prst="diamond">
            <a:avLst/>
          </a:prstGeom>
          <a:solidFill>
            <a:srgbClr val="D97A14"/>
          </a:solidFill>
          <a:ln w="12700">
            <a:solidFill>
              <a:srgbClr val="D97A14"/>
            </a:solidFill>
            <a:prstDash val="solid"/>
          </a:ln>
        </p:spPr>
      </p:sp>
      <p:sp>
        <p:nvSpPr>
          <p:cNvPr id="9" name="Text 6"/>
          <p:cNvSpPr txBox="1"/>
          <p:nvPr/>
        </p:nvSpPr>
        <p:spPr>
          <a:xfrm>
            <a:off x="4023360" y="128016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WHAT: Block 840,000, mined by ViaBTC at 00:09:27 UTC on 20 April 2024, was the first to pay the new subsidy of 3.125 coins.</a:t>
            </a:r>
            <a:endParaRPr lang="en-US" sz="1150" dirty="0"/>
          </a:p>
        </p:txBody>
      </p:sp>
      <p:sp>
        <p:nvSpPr>
          <p:cNvPr id="10" name="Shape 7"/>
          <p:cNvSpPr/>
          <p:nvPr/>
        </p:nvSpPr>
        <p:spPr>
          <a:xfrm>
            <a:off x="3749040" y="2141982"/>
            <a:ext cx="128016" cy="128016"/>
          </a:xfrm>
          <a:prstGeom prst="diamond">
            <a:avLst/>
          </a:prstGeom>
          <a:solidFill>
            <a:srgbClr val="D97A14"/>
          </a:solidFill>
          <a:ln w="12700">
            <a:solidFill>
              <a:srgbClr val="D97A14"/>
            </a:solidFill>
            <a:prstDash val="solid"/>
          </a:ln>
        </p:spPr>
      </p:sp>
      <p:sp>
        <p:nvSpPr>
          <p:cNvPr id="11" name="Text 8"/>
          <p:cNvSpPr txBox="1"/>
          <p:nvPr/>
        </p:nvSpPr>
        <p:spPr>
          <a:xfrm>
            <a:off x="4023360" y="189738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WHY: Its 3,050 transactions paid 3,762,561,499 satoshis in fees, 12.04 times the subsidy, so the reward was mostly tips.</a:t>
            </a:r>
            <a:endParaRPr lang="en-US" sz="1150" dirty="0"/>
          </a:p>
        </p:txBody>
      </p:sp>
      <p:sp>
        <p:nvSpPr>
          <p:cNvPr id="12" name="Shape 9"/>
          <p:cNvSpPr/>
          <p:nvPr/>
        </p:nvSpPr>
        <p:spPr>
          <a:xfrm>
            <a:off x="3749040" y="275920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4023360" y="251460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HOW: The sum was recomputed from the saved block; its coinbase carries the tag ViaBTC, by which pool statistics are made.</a:t>
            </a:r>
            <a:endParaRPr lang="en-US" sz="1150" dirty="0"/>
          </a:p>
        </p:txBody>
      </p:sp>
      <p:sp>
        <p:nvSpPr>
          <p:cNvPr id="14" name="Shape 11"/>
          <p:cNvSpPr/>
          <p:nvPr/>
        </p:nvSpPr>
        <p:spPr>
          <a:xfrm>
            <a:off x="3749040" y="3376422"/>
            <a:ext cx="128016" cy="128016"/>
          </a:xfrm>
          <a:prstGeom prst="diamond">
            <a:avLst/>
          </a:prstGeom>
          <a:solidFill>
            <a:srgbClr val="D97A14"/>
          </a:solidFill>
          <a:ln w="12700">
            <a:solidFill>
              <a:srgbClr val="D97A14"/>
            </a:solidFill>
            <a:prstDash val="solid"/>
          </a:ln>
        </p:spPr>
      </p:sp>
      <p:sp>
        <p:nvSpPr>
          <p:cNvPr id="15" name="Text 12"/>
          <p:cNvSpPr txBox="1"/>
          <p:nvPr/>
        </p:nvSpPr>
        <p:spPr>
          <a:xfrm>
            <a:off x="4023360" y="313182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SO WHAT: The book says that fees are a small part of income; this block is an exception.</a:t>
            </a:r>
            <a:endParaRPr lang="en-US" sz="1150" dirty="0"/>
          </a:p>
        </p:txBody>
      </p:sp>
      <p:sp>
        <p:nvSpPr>
          <p:cNvPr id="16" name="Text 13"/>
          <p:cNvSpPr txBox="1"/>
          <p:nvPr/>
        </p:nvSpPr>
        <p:spPr>
          <a:xfrm>
            <a:off x="457200" y="3931920"/>
            <a:ext cx="3108960" cy="155448"/>
          </a:xfrm>
          <a:prstGeom prst="rect">
            <a:avLst/>
          </a:prstGeom>
          <a:noFill/>
          <a:ln/>
        </p:spPr>
        <p:txBody>
          <a:bodyPr wrap="square" lIns="0" tIns="0" rIns="0" bIns="0" rtlCol="0" anchor="t"/>
          <a:lstStyle/>
          <a:p>
            <a:pPr algn="l" indent="0" marL="0">
              <a:buNone/>
            </a:pPr>
            <a:r>
              <a:rPr lang="en-US" sz="850" i="1" dirty="0">
                <a:solidFill>
                  <a:srgbClr val="6E655C"/>
                </a:solidFill>
                <a:latin typeface="Calibri" pitchFamily="34" charset="0"/>
                <a:ea typeface="Calibri" pitchFamily="34" charset="-122"/>
                <a:cs typeface="Calibri" pitchFamily="34" charset="-120"/>
              </a:rPr>
              <a:t>Stand-in picture: a mining machine, not block 840,000</a:t>
            </a:r>
            <a:endParaRPr lang="en-US" sz="850" dirty="0"/>
          </a:p>
        </p:txBody>
      </p:sp>
      <p:sp>
        <p:nvSpPr>
          <p:cNvPr id="17" name="Shape 14"/>
          <p:cNvSpPr/>
          <p:nvPr/>
        </p:nvSpPr>
        <p:spPr>
          <a:xfrm>
            <a:off x="457200" y="4114800"/>
            <a:ext cx="1738092" cy="365760"/>
          </a:xfrm>
          <a:prstGeom prst="roundRect">
            <a:avLst>
              <a:gd name="adj" fmla="val 50000"/>
            </a:avLst>
          </a:prstGeom>
          <a:solidFill>
            <a:srgbClr val="EFE9DC"/>
          </a:solidFill>
          <a:ln w="9525">
            <a:solidFill>
              <a:srgbClr val="DFD6C7"/>
            </a:solidFill>
            <a:prstDash val="solid"/>
          </a:ln>
        </p:spPr>
      </p:sp>
      <p:sp>
        <p:nvSpPr>
          <p:cNvPr id="18" name="Text 15"/>
          <p:cNvSpPr txBox="1"/>
          <p:nvPr/>
        </p:nvSpPr>
        <p:spPr>
          <a:xfrm>
            <a:off x="548640" y="4114800"/>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Satoshi Nakamoto, who wr…</a:t>
            </a:r>
            <a:endParaRPr lang="en-US" sz="750" dirty="0"/>
          </a:p>
        </p:txBody>
      </p:sp>
      <p:sp>
        <p:nvSpPr>
          <p:cNvPr id="19" name="Shape 16"/>
          <p:cNvSpPr/>
          <p:nvPr/>
        </p:nvSpPr>
        <p:spPr>
          <a:xfrm>
            <a:off x="2305020" y="4114800"/>
            <a:ext cx="1659087" cy="365760"/>
          </a:xfrm>
          <a:prstGeom prst="roundRect">
            <a:avLst>
              <a:gd name="adj" fmla="val 50000"/>
            </a:avLst>
          </a:prstGeom>
          <a:solidFill>
            <a:srgbClr val="EFE9DC"/>
          </a:solidFill>
          <a:ln w="9525">
            <a:solidFill>
              <a:srgbClr val="DFD6C7"/>
            </a:solidFill>
            <a:prstDash val="solid"/>
          </a:ln>
        </p:spPr>
      </p:sp>
      <p:sp>
        <p:nvSpPr>
          <p:cNvPr id="20" name="Text 17"/>
          <p:cNvSpPr txBox="1"/>
          <p:nvPr/>
        </p:nvSpPr>
        <p:spPr>
          <a:xfrm>
            <a:off x="2396460" y="4114800"/>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the main chain of Bitc…</a:t>
            </a:r>
            <a:endParaRPr lang="en-US" sz="750" dirty="0"/>
          </a:p>
        </p:txBody>
      </p:sp>
      <p:sp>
        <p:nvSpPr>
          <p:cNvPr id="21" name="Shape 18"/>
          <p:cNvSpPr/>
          <p:nvPr/>
        </p:nvSpPr>
        <p:spPr>
          <a:xfrm>
            <a:off x="4073835" y="4114800"/>
            <a:ext cx="1343071" cy="365760"/>
          </a:xfrm>
          <a:prstGeom prst="roundRect">
            <a:avLst>
              <a:gd name="adj" fmla="val 50000"/>
            </a:avLst>
          </a:prstGeom>
          <a:solidFill>
            <a:srgbClr val="EFE9DC"/>
          </a:solidFill>
          <a:ln w="9525">
            <a:solidFill>
              <a:srgbClr val="DFD6C7"/>
            </a:solidFill>
            <a:prstDash val="solid"/>
          </a:ln>
        </p:spPr>
      </p:sp>
      <p:sp>
        <p:nvSpPr>
          <p:cNvPr id="22" name="Text 19"/>
          <p:cNvSpPr txBox="1"/>
          <p:nvPr/>
        </p:nvSpPr>
        <p:spPr>
          <a:xfrm>
            <a:off x="4165275" y="4114800"/>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2024-04-20</a:t>
            </a:r>
            <a:endParaRPr lang="en-US" sz="750" dirty="0"/>
          </a:p>
        </p:txBody>
      </p:sp>
      <p:sp>
        <p:nvSpPr>
          <p:cNvPr id="23" name="Shape 20"/>
          <p:cNvSpPr/>
          <p:nvPr/>
        </p:nvSpPr>
        <p:spPr>
          <a:xfrm>
            <a:off x="5526634" y="4114800"/>
            <a:ext cx="3160166" cy="365760"/>
          </a:xfrm>
          <a:prstGeom prst="roundRect">
            <a:avLst>
              <a:gd name="adj" fmla="val 50000"/>
            </a:avLst>
          </a:prstGeom>
          <a:solidFill>
            <a:srgbClr val="2F6D62"/>
          </a:solidFill>
          <a:ln w="9525">
            <a:solidFill>
              <a:srgbClr val="2F6D62"/>
            </a:solidFill>
            <a:prstDash val="solid"/>
          </a:ln>
        </p:spPr>
      </p:sp>
      <p:sp>
        <p:nvSpPr>
          <p:cNvPr id="24" name="Text 21"/>
          <p:cNvSpPr txBox="1"/>
          <p:nvPr/>
        </p:nvSpPr>
        <p:spPr>
          <a:xfrm>
            <a:off x="5618074" y="4114800"/>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Block 840,000 on mempool.space (block)</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mempool.space</a:t>
            </a:r>
            <a:endParaRPr lang="en-US" sz="750" dirty="0"/>
          </a:p>
        </p:txBody>
      </p:sp>
      <p:sp>
        <p:nvSpPr>
          <p:cNvPr id="25"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10 / 51</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Verifying and agreeing</a:t>
            </a:r>
            <a:endParaRPr lang="en-US" sz="3200" dirty="0"/>
          </a:p>
        </p:txBody>
      </p:sp>
      <p:sp>
        <p:nvSpPr>
          <p:cNvPr id="5" name="Text 3"/>
          <p:cNvSpPr txBox="1"/>
          <p:nvPr/>
        </p:nvSpPr>
        <p:spPr>
          <a:xfrm>
            <a:off x="777240" y="1645920"/>
            <a:ext cx="7863840" cy="384048"/>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Every node is a customs officer who checks each parcel against the same list.</a:t>
            </a:r>
            <a:endParaRPr lang="en-US" sz="1500" dirty="0"/>
          </a:p>
        </p:txBody>
      </p:sp>
      <p:sp>
        <p:nvSpPr>
          <p:cNvPr id="6" name="Shape 4"/>
          <p:cNvSpPr/>
          <p:nvPr/>
        </p:nvSpPr>
        <p:spPr>
          <a:xfrm>
            <a:off x="777240" y="2103120"/>
            <a:ext cx="3840480" cy="310896"/>
          </a:xfrm>
          <a:prstGeom prst="roundRect">
            <a:avLst>
              <a:gd name="adj" fmla="val 50000"/>
            </a:avLst>
          </a:prstGeom>
          <a:solidFill>
            <a:srgbClr val="D97A14"/>
          </a:solidFill>
          <a:ln w="12700">
            <a:solidFill>
              <a:srgbClr val="D97A14"/>
            </a:solidFill>
            <a:prstDash val="solid"/>
          </a:ln>
        </p:spPr>
      </p:sp>
      <p:sp>
        <p:nvSpPr>
          <p:cNvPr id="7" name="Text 5"/>
          <p:cNvSpPr txBox="1"/>
          <p:nvPr/>
        </p:nvSpPr>
        <p:spPr>
          <a:xfrm>
            <a:off x="850392" y="2103120"/>
            <a:ext cx="369417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Independent checking</a:t>
            </a:r>
            <a:endParaRPr lang="en-US" sz="1200" dirty="0"/>
          </a:p>
        </p:txBody>
      </p:sp>
      <p:sp>
        <p:nvSpPr>
          <p:cNvPr id="8" name="Text 6"/>
          <p:cNvSpPr txBox="1"/>
          <p:nvPr/>
        </p:nvSpPr>
        <p:spPr>
          <a:xfrm>
            <a:off x="777240" y="2487168"/>
            <a:ext cx="384048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Every node tests every transaction and block against the same list of rules.</a:t>
            </a:r>
            <a:endParaRPr lang="en-US" sz="1150" dirty="0"/>
          </a:p>
        </p:txBody>
      </p:sp>
      <p:sp>
        <p:nvSpPr>
          <p:cNvPr id="9" name="Text 7"/>
          <p:cNvSpPr txBox="1"/>
          <p:nvPr/>
        </p:nvSpPr>
        <p:spPr>
          <a:xfrm>
            <a:off x="777240" y="2907792"/>
            <a:ext cx="384048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customs officer with a printed checklist.</a:t>
            </a:r>
            <a:endParaRPr lang="en-US" sz="1150" dirty="0"/>
          </a:p>
        </p:txBody>
      </p:sp>
      <p:sp>
        <p:nvSpPr>
          <p:cNvPr id="10" name="Shape 8"/>
          <p:cNvSpPr/>
          <p:nvPr/>
        </p:nvSpPr>
        <p:spPr>
          <a:xfrm>
            <a:off x="4800600" y="2103120"/>
            <a:ext cx="3840480" cy="310896"/>
          </a:xfrm>
          <a:prstGeom prst="roundRect">
            <a:avLst>
              <a:gd name="adj" fmla="val 50000"/>
            </a:avLst>
          </a:prstGeom>
          <a:solidFill>
            <a:srgbClr val="D97A14"/>
          </a:solidFill>
          <a:ln w="12700">
            <a:solidFill>
              <a:srgbClr val="D97A14"/>
            </a:solidFill>
            <a:prstDash val="solid"/>
          </a:ln>
        </p:spPr>
      </p:sp>
      <p:sp>
        <p:nvSpPr>
          <p:cNvPr id="11" name="Text 9"/>
          <p:cNvSpPr txBox="1"/>
          <p:nvPr/>
        </p:nvSpPr>
        <p:spPr>
          <a:xfrm>
            <a:off x="4873752" y="2103120"/>
            <a:ext cx="369417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Choosing the chain</a:t>
            </a:r>
            <a:endParaRPr lang="en-US" sz="1200" dirty="0"/>
          </a:p>
        </p:txBody>
      </p:sp>
      <p:sp>
        <p:nvSpPr>
          <p:cNvPr id="12" name="Text 10"/>
          <p:cNvSpPr txBox="1"/>
          <p:nvPr/>
        </p:nvSpPr>
        <p:spPr>
          <a:xfrm>
            <a:off x="4800600" y="2487168"/>
            <a:ext cx="384048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Nodes follow the chain with the most accumulated work, not the one with most blocks.</a:t>
            </a:r>
            <a:endParaRPr lang="en-US" sz="1150" dirty="0"/>
          </a:p>
        </p:txBody>
      </p:sp>
      <p:sp>
        <p:nvSpPr>
          <p:cNvPr id="13" name="Text 11"/>
          <p:cNvSpPr txBox="1"/>
          <p:nvPr/>
        </p:nvSpPr>
        <p:spPr>
          <a:xfrm>
            <a:off x="4800600" y="2907792"/>
            <a:ext cx="3840480" cy="214884"/>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heaviest rope, not the longest.</a:t>
            </a:r>
            <a:endParaRPr lang="en-US" sz="115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777240" y="3950208"/>
          <a:ext cx="7863840" cy="914400"/>
        </p:xfrm>
        <a:graphic>
          <a:graphicData uri="http://schemas.openxmlformats.org/drawingml/2006/table">
            <a:tbl>
              <a:tblPr/>
              <a:tblGrid>
                <a:gridCol w="1310335"/>
                <a:gridCol w="1310335"/>
                <a:gridCol w="1310335"/>
                <a:gridCol w="1310335"/>
                <a:gridCol w="1310335"/>
                <a:gridCol w="1310335"/>
              </a:tblGrid>
              <a:tr h="365760">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Money</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Verify</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Block</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Work</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Rivals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Rules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r>
            </a:tbl>
          </a:graphicData>
        </a:graphic>
      </p:graphicFrame>
      <p:sp>
        <p:nvSpPr>
          <p:cNvPr id="15"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11 / 51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Verifying and agreeing: key concepts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161288"/>
          </a:xfrm>
          <a:prstGeom prst="roundRect">
            <a:avLst>
              <a:gd name="adj" fmla="val 6299"/>
            </a:avLst>
          </a:prstGeom>
          <a:solidFill>
            <a:srgbClr val="F2ECE1"/>
          </a:solidFill>
          <a:ln w="12700">
            <a:solidFill>
              <a:srgbClr val="DFD6C7"/>
            </a:solidFill>
            <a:prstDash val="solid"/>
          </a:ln>
        </p:spPr>
      </p:sp>
      <p:sp>
        <p:nvSpPr>
          <p:cNvPr id="7" name="Shape 5"/>
          <p:cNvSpPr/>
          <p:nvPr/>
        </p:nvSpPr>
        <p:spPr>
          <a:xfrm>
            <a:off x="475488" y="1408176"/>
            <a:ext cx="64008" cy="905256"/>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Transaction checklist</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Each transaction is tested against fixed rules and refused with a named reason.</a:t>
            </a:r>
            <a:endParaRPr lang="en-US" sz="1300" dirty="0"/>
          </a:p>
        </p:txBody>
      </p:sp>
      <p:sp>
        <p:nvSpPr>
          <p:cNvPr id="9" name="Text 7"/>
          <p:cNvSpPr txBox="1"/>
          <p:nvPr/>
        </p:nvSpPr>
        <p:spPr>
          <a:xfrm>
            <a:off x="640080" y="198424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customs officer with a printed checklist.</a:t>
            </a:r>
            <a:endParaRPr lang="en-US" sz="1150" dirty="0"/>
          </a:p>
        </p:txBody>
      </p:sp>
      <p:sp>
        <p:nvSpPr>
          <p:cNvPr id="10" name="Shape 8"/>
          <p:cNvSpPr/>
          <p:nvPr/>
        </p:nvSpPr>
        <p:spPr>
          <a:xfrm>
            <a:off x="4645152" y="1280160"/>
            <a:ext cx="4041648" cy="1161288"/>
          </a:xfrm>
          <a:prstGeom prst="roundRect">
            <a:avLst>
              <a:gd name="adj" fmla="val 6299"/>
            </a:avLst>
          </a:prstGeom>
          <a:solidFill>
            <a:srgbClr val="F2ECE1"/>
          </a:solidFill>
          <a:ln w="12700">
            <a:solidFill>
              <a:srgbClr val="DFD6C7"/>
            </a:solidFill>
            <a:prstDash val="solid"/>
          </a:ln>
        </p:spPr>
      </p:sp>
      <p:sp>
        <p:nvSpPr>
          <p:cNvPr id="11" name="Shape 9"/>
          <p:cNvSpPr/>
          <p:nvPr/>
        </p:nvSpPr>
        <p:spPr>
          <a:xfrm>
            <a:off x="4663440" y="1408176"/>
            <a:ext cx="64008" cy="905256"/>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Block checklist</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Each block must also obey the rules of reward, height, merkle root, time and version.</a:t>
            </a:r>
            <a:endParaRPr lang="en-US" sz="1300" dirty="0"/>
          </a:p>
        </p:txBody>
      </p:sp>
      <p:sp>
        <p:nvSpPr>
          <p:cNvPr id="13" name="Text 11"/>
          <p:cNvSpPr txBox="1"/>
          <p:nvPr/>
        </p:nvSpPr>
        <p:spPr>
          <a:xfrm>
            <a:off x="4828032" y="198424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an exam paper marked against a model answer.</a:t>
            </a:r>
            <a:endParaRPr lang="en-US" sz="1150" dirty="0"/>
          </a:p>
        </p:txBody>
      </p:sp>
      <p:sp>
        <p:nvSpPr>
          <p:cNvPr id="14" name="Shape 12"/>
          <p:cNvSpPr/>
          <p:nvPr/>
        </p:nvSpPr>
        <p:spPr>
          <a:xfrm>
            <a:off x="457200" y="2569464"/>
            <a:ext cx="4041648" cy="1161288"/>
          </a:xfrm>
          <a:prstGeom prst="roundRect">
            <a:avLst>
              <a:gd name="adj" fmla="val 6299"/>
            </a:avLst>
          </a:prstGeom>
          <a:solidFill>
            <a:srgbClr val="F2ECE1"/>
          </a:solidFill>
          <a:ln w="12700">
            <a:solidFill>
              <a:srgbClr val="DFD6C7"/>
            </a:solidFill>
            <a:prstDash val="solid"/>
          </a:ln>
        </p:spPr>
      </p:sp>
      <p:sp>
        <p:nvSpPr>
          <p:cNvPr id="15" name="Shape 13"/>
          <p:cNvSpPr/>
          <p:nvPr/>
        </p:nvSpPr>
        <p:spPr>
          <a:xfrm>
            <a:off x="475488" y="2697480"/>
            <a:ext cx="64008" cy="905256"/>
          </a:xfrm>
          <a:prstGeom prst="rect">
            <a:avLst/>
          </a:prstGeom>
          <a:solidFill>
            <a:srgbClr val="D97A14"/>
          </a:solidFill>
          <a:ln w="12700">
            <a:solidFill>
              <a:srgbClr val="D97A14"/>
            </a:solidFill>
            <a:prstDash val="solid"/>
          </a:ln>
        </p:spPr>
      </p:sp>
      <p:sp>
        <p:nvSpPr>
          <p:cNvPr id="16" name="Text 14"/>
          <p:cNvSpPr txBox="1"/>
          <p:nvPr/>
        </p:nvSpPr>
        <p:spPr>
          <a:xfrm>
            <a:off x="640080" y="2633472"/>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Coinbase maturity</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mining reward can be spent only after 100 confirmations.</a:t>
            </a:r>
            <a:endParaRPr lang="en-US" sz="1300" dirty="0"/>
          </a:p>
        </p:txBody>
      </p:sp>
      <p:sp>
        <p:nvSpPr>
          <p:cNvPr id="17" name="Text 15"/>
          <p:cNvSpPr txBox="1"/>
          <p:nvPr/>
        </p:nvSpPr>
        <p:spPr>
          <a:xfrm>
            <a:off x="640080" y="3273552"/>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cheque that clears only after a hundred days.</a:t>
            </a:r>
            <a:endParaRPr lang="en-US" sz="1150" dirty="0"/>
          </a:p>
        </p:txBody>
      </p:sp>
      <p:sp>
        <p:nvSpPr>
          <p:cNvPr id="18" name="Shape 16"/>
          <p:cNvSpPr/>
          <p:nvPr/>
        </p:nvSpPr>
        <p:spPr>
          <a:xfrm>
            <a:off x="4645152" y="2569464"/>
            <a:ext cx="4041648" cy="1161288"/>
          </a:xfrm>
          <a:prstGeom prst="roundRect">
            <a:avLst>
              <a:gd name="adj" fmla="val 6299"/>
            </a:avLst>
          </a:prstGeom>
          <a:solidFill>
            <a:srgbClr val="F2ECE1"/>
          </a:solidFill>
          <a:ln w="12700">
            <a:solidFill>
              <a:srgbClr val="DFD6C7"/>
            </a:solidFill>
            <a:prstDash val="solid"/>
          </a:ln>
        </p:spPr>
      </p:sp>
      <p:sp>
        <p:nvSpPr>
          <p:cNvPr id="19" name="Shape 17"/>
          <p:cNvSpPr/>
          <p:nvPr/>
        </p:nvSpPr>
        <p:spPr>
          <a:xfrm>
            <a:off x="4663440" y="2697480"/>
            <a:ext cx="64008" cy="905256"/>
          </a:xfrm>
          <a:prstGeom prst="rect">
            <a:avLst/>
          </a:prstGeom>
          <a:solidFill>
            <a:srgbClr val="D97A14"/>
          </a:solidFill>
          <a:ln w="12700">
            <a:solidFill>
              <a:srgbClr val="D97A14"/>
            </a:solidFill>
            <a:prstDash val="solid"/>
          </a:ln>
        </p:spPr>
      </p:sp>
      <p:sp>
        <p:nvSpPr>
          <p:cNvPr id="20" name="Text 18"/>
          <p:cNvSpPr txBox="1"/>
          <p:nvPr/>
        </p:nvSpPr>
        <p:spPr>
          <a:xfrm>
            <a:off x="4828032" y="2633472"/>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Most work, not longest</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Nodes follow the chain with the most accumulated work, not the one with the most blocks.</a:t>
            </a:r>
            <a:endParaRPr lang="en-US" sz="1300" dirty="0"/>
          </a:p>
        </p:txBody>
      </p:sp>
      <p:sp>
        <p:nvSpPr>
          <p:cNvPr id="21" name="Text 19"/>
          <p:cNvSpPr txBox="1"/>
          <p:nvPr/>
        </p:nvSpPr>
        <p:spPr>
          <a:xfrm>
            <a:off x="4828032" y="3273552"/>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heaviest rope, not the longest rope.</a:t>
            </a:r>
            <a:endParaRPr lang="en-US" sz="115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12 / 51</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A transaction faces a checklist</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Spoiled transactions and the reasons Core gave</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c = R[</a:t>
            </a:r>
            <a:r>
              <a:rPr lang="en-US" sz="1000" dirty="0">
                <a:solidFill>
                  <a:srgbClr val="9ECBFF"/>
                </a:solidFill>
                <a:latin typeface="Courier New" pitchFamily="34" charset="0"/>
                <a:ea typeface="Courier New" pitchFamily="34" charset="-122"/>
                <a:cs typeface="Courier New" pitchFamily="34" charset="-120"/>
              </a:rPr>
              <a:t>'b3_tx_checklist'</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ks = [</a:t>
            </a:r>
            <a:r>
              <a:rPr lang="en-US" sz="1000" dirty="0">
                <a:solidFill>
                  <a:srgbClr val="9ECBFF"/>
                </a:solidFill>
                <a:latin typeface="Courier New" pitchFamily="34" charset="0"/>
                <a:ea typeface="Courier New" pitchFamily="34" charset="-122"/>
                <a:cs typeface="Courier New" pitchFamily="34" charset="-120"/>
              </a:rPr>
              <a:t>'duplicate_input'</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9ECBFF"/>
                </a:solidFill>
                <a:latin typeface="Courier New" pitchFamily="34" charset="0"/>
                <a:ea typeface="Courier New" pitchFamily="34" charset="-122"/>
                <a:cs typeface="Courier New" pitchFamily="34" charset="-120"/>
              </a:rPr>
              <a:t>'negative_output'</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286914"/>
            <a:ext cx="5074920" cy="476402"/>
          </a:xfrm>
          <a:prstGeom prst="roundRect">
            <a:avLst>
              <a:gd name="adj" fmla="val 15355"/>
            </a:avLst>
          </a:prstGeom>
          <a:solidFill>
            <a:srgbClr val="23272E"/>
          </a:solidFill>
          <a:ln w="12700">
            <a:solidFill>
              <a:srgbClr val="23272E"/>
            </a:solidFill>
            <a:prstDash val="solid"/>
          </a:ln>
        </p:spPr>
      </p:sp>
      <p:sp>
        <p:nvSpPr>
          <p:cNvPr id="9" name="Text 7"/>
          <p:cNvSpPr txBox="1"/>
          <p:nvPr/>
        </p:nvSpPr>
        <p:spPr>
          <a:xfrm>
            <a:off x="603504" y="2360066"/>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ks += [</a:t>
            </a:r>
            <a:r>
              <a:rPr lang="en-US" sz="1000" dirty="0">
                <a:solidFill>
                  <a:srgbClr val="9ECBFF"/>
                </a:solidFill>
                <a:latin typeface="Courier New" pitchFamily="34" charset="0"/>
                <a:ea typeface="Courier New" pitchFamily="34" charset="-122"/>
                <a:cs typeface="Courier New" pitchFamily="34" charset="-120"/>
              </a:rPr>
              <a:t>'coinbase_99_confirmations'</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why = [c[k][</a:t>
            </a:r>
            <a:r>
              <a:rPr lang="en-US" sz="1000" dirty="0">
                <a:solidFill>
                  <a:srgbClr val="9ECBFF"/>
                </a:solidFill>
                <a:latin typeface="Courier New" pitchFamily="34" charset="0"/>
                <a:ea typeface="Courier New" pitchFamily="34" charset="-122"/>
                <a:cs typeface="Courier New" pitchFamily="34" charset="-120"/>
              </a:rPr>
              <a:t>'reject-reason'</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k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ks]</a:t>
            </a:r>
            <a:endParaRPr lang="en-US" sz="1000" dirty="0"/>
          </a:p>
        </p:txBody>
      </p:sp>
      <p:sp>
        <p:nvSpPr>
          <p:cNvPr id="10" name="Shape 8"/>
          <p:cNvSpPr/>
          <p:nvPr/>
        </p:nvSpPr>
        <p:spPr>
          <a:xfrm>
            <a:off x="457200" y="3247949"/>
            <a:ext cx="5074920" cy="641909"/>
          </a:xfrm>
          <a:prstGeom prst="roundRect">
            <a:avLst>
              <a:gd name="adj" fmla="val 11396"/>
            </a:avLst>
          </a:prstGeom>
          <a:solidFill>
            <a:srgbClr val="23272E"/>
          </a:solidFill>
          <a:ln w="12700">
            <a:solidFill>
              <a:srgbClr val="23272E"/>
            </a:solidFill>
            <a:prstDash val="solid"/>
          </a:ln>
        </p:spPr>
      </p:sp>
      <p:sp>
        <p:nvSpPr>
          <p:cNvPr id="11" name="Text 9"/>
          <p:cNvSpPr txBox="1"/>
          <p:nvPr/>
        </p:nvSpPr>
        <p:spPr>
          <a:xfrm>
            <a:off x="603504" y="3321101"/>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ok = c[</a:t>
            </a:r>
            <a:r>
              <a:rPr lang="en-US" sz="1000" dirty="0">
                <a:solidFill>
                  <a:srgbClr val="9ECBFF"/>
                </a:solidFill>
                <a:latin typeface="Courier New" pitchFamily="34" charset="0"/>
                <a:ea typeface="Courier New" pitchFamily="34" charset="-122"/>
                <a:cs typeface="Courier New" pitchFamily="34" charset="-120"/>
              </a:rPr>
              <a:t>'coinbase_100_confirmations'</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'allowed'</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(len(why), ok)</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(3, True)</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829714"/>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Bitcoin Core, on a private chain, was asked to test several spoiled transactions.</a:t>
            </a:r>
            <a:endParaRPr lang="en-US" sz="1050" dirty="0"/>
          </a:p>
        </p:txBody>
      </p:sp>
      <p:sp>
        <p:nvSpPr>
          <p:cNvPr id="15" name="Shape 13"/>
          <p:cNvSpPr/>
          <p:nvPr/>
        </p:nvSpPr>
        <p:spPr>
          <a:xfrm>
            <a:off x="365760" y="2213762"/>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213762"/>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790749"/>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Each broken rule gets a name; a coinbase may be spent only after 100 confirmations.</a:t>
            </a:r>
            <a:endParaRPr lang="en-US" sz="1050" dirty="0"/>
          </a:p>
        </p:txBody>
      </p:sp>
      <p:sp>
        <p:nvSpPr>
          <p:cNvPr id="18" name="Shape 16"/>
          <p:cNvSpPr/>
          <p:nvPr/>
        </p:nvSpPr>
        <p:spPr>
          <a:xfrm>
            <a:off x="365760" y="3174797"/>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3174797"/>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917290"/>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With 100 confirmations the same spend is allowed.</a:t>
            </a:r>
            <a:endParaRPr lang="en-US" sz="1050" dirty="0"/>
          </a:p>
        </p:txBody>
      </p:sp>
      <p:sp>
        <p:nvSpPr>
          <p:cNvPr id="21" name="Text 19"/>
          <p:cNvSpPr txBox="1"/>
          <p:nvPr/>
        </p:nvSpPr>
        <p:spPr>
          <a:xfrm>
            <a:off x="457200" y="4173322"/>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its regtest record</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named reasons from Bitcoin Core</a:t>
            </a:r>
            <a:endParaRPr lang="en-US" sz="11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1234440"/>
                <a:gridCol w="1737360"/>
              </a:tblGrid>
              <a:tr h="274320">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Spoiled transaction</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Reason (bad-txns- left out)</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Same input twice</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inputs-duplicate</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Negative output</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vout-negative</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Coinbase at depth 99</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premature-spend-of-coinbase</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Coinbase at depth 100</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accepted</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Lock time ahead</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non-final</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69417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Each refusal names the rule it broke. Only the coinbase at depth 100 is allowed.</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Every refusal has a name, and a fresh coinbase cannot be spent before 100 blocks</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13 / 51</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A block faces its own checklist</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Fourteen test blocks, each breaking one rule</a:t>
            </a:r>
            <a:endParaRPr lang="en-US" sz="1300" dirty="0"/>
          </a:p>
        </p:txBody>
      </p:sp>
      <p:sp>
        <p:nvSpPr>
          <p:cNvPr id="6" name="Shape 4"/>
          <p:cNvSpPr/>
          <p:nvPr/>
        </p:nvSpPr>
        <p:spPr>
          <a:xfrm>
            <a:off x="457200" y="1325880"/>
            <a:ext cx="5074920" cy="311810"/>
          </a:xfrm>
          <a:prstGeom prst="roundRect">
            <a:avLst>
              <a:gd name="adj" fmla="val 23460"/>
            </a:avLst>
          </a:prstGeom>
          <a:solidFill>
            <a:srgbClr val="23272E"/>
          </a:solidFill>
          <a:ln w="12700">
            <a:solidFill>
              <a:srgbClr val="23272E"/>
            </a:solidFill>
            <a:prstDash val="solid"/>
          </a:ln>
        </p:spPr>
      </p:sp>
      <p:sp>
        <p:nvSpPr>
          <p:cNvPr id="7" name="Text 5"/>
          <p:cNvSpPr txBox="1"/>
          <p:nvPr/>
        </p:nvSpPr>
        <p:spPr>
          <a:xfrm>
            <a:off x="603504" y="139903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rules = R[</a:t>
            </a:r>
            <a:r>
              <a:rPr lang="en-US" sz="1000" dirty="0">
                <a:solidFill>
                  <a:srgbClr val="9ECBFF"/>
                </a:solidFill>
                <a:latin typeface="Courier New" pitchFamily="34" charset="0"/>
                <a:ea typeface="Courier New" pitchFamily="34" charset="-122"/>
                <a:cs typeface="Courier New" pitchFamily="34" charset="-120"/>
              </a:rPr>
              <a:t>'b4_rules'</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1957730"/>
            <a:ext cx="5074920" cy="311810"/>
          </a:xfrm>
          <a:prstGeom prst="roundRect">
            <a:avLst>
              <a:gd name="adj" fmla="val 23460"/>
            </a:avLst>
          </a:prstGeom>
          <a:solidFill>
            <a:srgbClr val="23272E"/>
          </a:solidFill>
          <a:ln w="12700">
            <a:solidFill>
              <a:srgbClr val="23272E"/>
            </a:solidFill>
            <a:prstDash val="solid"/>
          </a:ln>
        </p:spPr>
      </p:sp>
      <p:sp>
        <p:nvSpPr>
          <p:cNvPr id="9" name="Text 7"/>
          <p:cNvSpPr txBox="1"/>
          <p:nvPr/>
        </p:nvSpPr>
        <p:spPr>
          <a:xfrm>
            <a:off x="603504" y="203088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ok = rules[</a:t>
            </a:r>
            <a:r>
              <a:rPr lang="en-US" sz="1000" dirty="0">
                <a:solidFill>
                  <a:srgbClr val="9ECBFF"/>
                </a:solidFill>
                <a:latin typeface="Courier New" pitchFamily="34" charset="0"/>
                <a:ea typeface="Courier New" pitchFamily="34" charset="-122"/>
                <a:cs typeface="Courier New" pitchFamily="34" charset="-120"/>
              </a:rPr>
              <a:t>'valid_block'</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2754173"/>
            <a:ext cx="5074920" cy="476402"/>
          </a:xfrm>
          <a:prstGeom prst="roundRect">
            <a:avLst>
              <a:gd name="adj" fmla="val 15355"/>
            </a:avLst>
          </a:prstGeom>
          <a:solidFill>
            <a:srgbClr val="23272E"/>
          </a:solidFill>
          <a:ln w="12700">
            <a:solidFill>
              <a:srgbClr val="23272E"/>
            </a:solidFill>
            <a:prstDash val="solid"/>
          </a:ln>
        </p:spPr>
      </p:sp>
      <p:sp>
        <p:nvSpPr>
          <p:cNvPr id="11" name="Text 9"/>
          <p:cNvSpPr txBox="1"/>
          <p:nvPr/>
        </p:nvSpPr>
        <p:spPr>
          <a:xfrm>
            <a:off x="603504" y="2827325"/>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(len(rules), ok)</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(14, 'accepted')</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665122"/>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same node was given blocks that each broke exactly one rule.</a:t>
            </a:r>
            <a:endParaRPr lang="en-US" sz="1050" dirty="0"/>
          </a:p>
        </p:txBody>
      </p:sp>
      <p:sp>
        <p:nvSpPr>
          <p:cNvPr id="15" name="Shape 13"/>
          <p:cNvSpPr/>
          <p:nvPr/>
        </p:nvSpPr>
        <p:spPr>
          <a:xfrm>
            <a:off x="365760" y="1884578"/>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188457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296973"/>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Each broken rule answers with a short reason; the valid block is accepted.</a:t>
            </a:r>
            <a:endParaRPr lang="en-US" sz="1050" dirty="0"/>
          </a:p>
        </p:txBody>
      </p:sp>
      <p:sp>
        <p:nvSpPr>
          <p:cNvPr id="18" name="Shape 16"/>
          <p:cNvSpPr/>
          <p:nvPr/>
        </p:nvSpPr>
        <p:spPr>
          <a:xfrm>
            <a:off x="365760" y="2681021"/>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681021"/>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258007"/>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reasons name the rule: the reward, the height, the merkle root and the clock.</a:t>
            </a:r>
            <a:endParaRPr lang="en-US" sz="1050" dirty="0"/>
          </a:p>
        </p:txBody>
      </p:sp>
      <p:sp>
        <p:nvSpPr>
          <p:cNvPr id="21" name="Text 19"/>
          <p:cNvSpPr txBox="1"/>
          <p:nvPr/>
        </p:nvSpPr>
        <p:spPr>
          <a:xfrm>
            <a:off x="457200" y="3678631"/>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its regtest record</a:t>
            </a:r>
            <a:endParaRPr lang="en-US" sz="900" dirty="0"/>
          </a:p>
        </p:txBody>
      </p:sp>
      <p:sp>
        <p:nvSpPr>
          <p:cNvPr id="22" name="Text 20"/>
          <p:cNvSpPr txBox="1"/>
          <p:nvPr/>
        </p:nvSpPr>
        <p:spPr>
          <a:xfrm>
            <a:off x="5715000" y="1325880"/>
            <a:ext cx="2971800" cy="21945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six of the 14 test blocks</a:t>
            </a:r>
            <a:endParaRPr lang="en-US" sz="11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715000" y="1591056"/>
          <a:ext cx="2971800" cy="914400"/>
        </p:xfrm>
        <a:graphic>
          <a:graphicData uri="http://schemas.openxmlformats.org/drawingml/2006/table">
            <a:tbl>
              <a:tblPr/>
              <a:tblGrid>
                <a:gridCol w="1463040"/>
                <a:gridCol w="1508760"/>
              </a:tblGrid>
              <a:tr h="274320">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Rule broken</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Reason given</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Reward one satoshi high</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bad-cb-amount</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No height in coinbase</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bad-cb-height</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Wrong merkle root</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bad-txnmrklroot</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Time equals median</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time-too-old</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Time two hours ahead</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time-too-new</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Version 1</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bad-version(0x00000001)</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78561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valid block is accepted; every other block is refused with a name for its rule.</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Reward, height, merkle root, clock and version each have a rule of their own</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14 / 51</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best chain has the most work</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Two branches on a private chain, and a reversed payment</a:t>
            </a:r>
            <a:endParaRPr lang="en-US" sz="1300" dirty="0"/>
          </a:p>
        </p:txBody>
      </p:sp>
      <p:sp>
        <p:nvSpPr>
          <p:cNvPr id="6" name="Shape 4"/>
          <p:cNvSpPr/>
          <p:nvPr/>
        </p:nvSpPr>
        <p:spPr>
          <a:xfrm>
            <a:off x="457200" y="1325880"/>
            <a:ext cx="5074920" cy="311810"/>
          </a:xfrm>
          <a:prstGeom prst="roundRect">
            <a:avLst>
              <a:gd name="adj" fmla="val 23460"/>
            </a:avLst>
          </a:prstGeom>
          <a:solidFill>
            <a:srgbClr val="23272E"/>
          </a:solidFill>
          <a:ln w="12700">
            <a:solidFill>
              <a:srgbClr val="23272E"/>
            </a:solidFill>
            <a:prstDash val="solid"/>
          </a:ln>
        </p:spPr>
      </p:sp>
      <p:sp>
        <p:nvSpPr>
          <p:cNvPr id="7" name="Text 5"/>
          <p:cNvSpPr txBox="1"/>
          <p:nvPr/>
        </p:nvSpPr>
        <p:spPr>
          <a:xfrm>
            <a:off x="603504" y="139903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a, b = R[</a:t>
            </a:r>
            <a:r>
              <a:rPr lang="en-US" sz="1000" dirty="0">
                <a:solidFill>
                  <a:srgbClr val="9ECBFF"/>
                </a:solidFill>
                <a:latin typeface="Courier New" pitchFamily="34" charset="0"/>
                <a:ea typeface="Courier New" pitchFamily="34" charset="-122"/>
                <a:cs typeface="Courier New" pitchFamily="34" charset="-120"/>
              </a:rPr>
              <a:t>'b7_after'</a:t>
            </a:r>
            <a:r>
              <a:rPr lang="en-US" sz="1000" dirty="0">
                <a:solidFill>
                  <a:srgbClr val="E6EDF3"/>
                </a:solidFill>
                <a:latin typeface="Courier New" pitchFamily="34" charset="0"/>
                <a:ea typeface="Courier New" pitchFamily="34" charset="-122"/>
                <a:cs typeface="Courier New" pitchFamily="34" charset="-120"/>
              </a:rPr>
              <a:t>], R[</a:t>
            </a:r>
            <a:r>
              <a:rPr lang="en-US" sz="1000" dirty="0">
                <a:solidFill>
                  <a:srgbClr val="9ECBFF"/>
                </a:solidFill>
                <a:latin typeface="Courier New" pitchFamily="34" charset="0"/>
                <a:ea typeface="Courier New" pitchFamily="34" charset="-122"/>
                <a:cs typeface="Courier New" pitchFamily="34" charset="-120"/>
              </a:rPr>
              <a:t>'b7_before'</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122322"/>
            <a:ext cx="5074920" cy="476402"/>
          </a:xfrm>
          <a:prstGeom prst="roundRect">
            <a:avLst>
              <a:gd name="adj" fmla="val 15355"/>
            </a:avLst>
          </a:prstGeom>
          <a:solidFill>
            <a:srgbClr val="23272E"/>
          </a:solidFill>
          <a:ln w="12700">
            <a:solidFill>
              <a:srgbClr val="23272E"/>
            </a:solidFill>
            <a:prstDash val="solid"/>
          </a:ln>
        </p:spPr>
      </p:sp>
      <p:sp>
        <p:nvSpPr>
          <p:cNvPr id="9" name="Text 7"/>
          <p:cNvSpPr txBox="1"/>
          <p:nvPr/>
        </p:nvSpPr>
        <p:spPr>
          <a:xfrm>
            <a:off x="603504" y="2195474"/>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w1 = int(a[</a:t>
            </a:r>
            <a:r>
              <a:rPr lang="en-US" sz="1000" dirty="0">
                <a:solidFill>
                  <a:srgbClr val="9ECBFF"/>
                </a:solidFill>
                <a:latin typeface="Courier New" pitchFamily="34" charset="0"/>
                <a:ea typeface="Courier New" pitchFamily="34" charset="-122"/>
                <a:cs typeface="Courier New" pitchFamily="34" charset="-120"/>
              </a:rPr>
              <a:t>'chainwork_x'</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16</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w2 = int(a[</a:t>
            </a:r>
            <a:r>
              <a:rPr lang="en-US" sz="1000" dirty="0">
                <a:solidFill>
                  <a:srgbClr val="9ECBFF"/>
                </a:solidFill>
                <a:latin typeface="Courier New" pitchFamily="34" charset="0"/>
                <a:ea typeface="Courier New" pitchFamily="34" charset="-122"/>
                <a:cs typeface="Courier New" pitchFamily="34" charset="-120"/>
              </a:rPr>
              <a:t>'chainwork_tip'</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16</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3083357"/>
            <a:ext cx="5074920" cy="476402"/>
          </a:xfrm>
          <a:prstGeom prst="roundRect">
            <a:avLst>
              <a:gd name="adj" fmla="val 15355"/>
            </a:avLst>
          </a:prstGeom>
          <a:solidFill>
            <a:srgbClr val="23272E"/>
          </a:solidFill>
          <a:ln w="12700">
            <a:solidFill>
              <a:srgbClr val="23272E"/>
            </a:solidFill>
            <a:prstDash val="solid"/>
          </a:ln>
        </p:spPr>
      </p:sp>
      <p:sp>
        <p:nvSpPr>
          <p:cNvPr id="11" name="Text 9"/>
          <p:cNvSpPr txBox="1"/>
          <p:nvPr/>
        </p:nvSpPr>
        <p:spPr>
          <a:xfrm>
            <a:off x="603504" y="3156509"/>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(w1, w2, a[</a:t>
            </a:r>
            <a:r>
              <a:rPr lang="en-US" sz="1000" dirty="0">
                <a:solidFill>
                  <a:srgbClr val="9ECBFF"/>
                </a:solidFill>
                <a:latin typeface="Courier New" pitchFamily="34" charset="0"/>
                <a:ea typeface="Courier New" pitchFamily="34" charset="-122"/>
                <a:cs typeface="Courier New" pitchFamily="34" charset="-120"/>
              </a:rPr>
              <a:t>'tip_is_y2'</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(206, 208, True)</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665122"/>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Two competing branches were built on a private chain; the first had paid Carol.</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626157"/>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chain work of each tip is a number; the larger number wins, not the longer chain.</a:t>
            </a:r>
            <a:endParaRPr lang="en-US" sz="1050" dirty="0"/>
          </a:p>
        </p:txBody>
      </p:sp>
      <p:sp>
        <p:nvSpPr>
          <p:cNvPr id="18" name="Shape 16"/>
          <p:cNvSpPr/>
          <p:nvPr/>
        </p:nvSpPr>
        <p:spPr>
          <a:xfrm>
            <a:off x="365760" y="3010205"/>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3010205"/>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587191"/>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After the switch the payment has fewer confirmations than before, and Carol holds nothing.</a:t>
            </a:r>
            <a:endParaRPr lang="en-US" sz="1050" dirty="0"/>
          </a:p>
        </p:txBody>
      </p:sp>
      <p:sp>
        <p:nvSpPr>
          <p:cNvPr id="21" name="Text 19"/>
          <p:cNvSpPr txBox="1"/>
          <p:nvPr/>
        </p:nvSpPr>
        <p:spPr>
          <a:xfrm>
            <a:off x="457200" y="4007815"/>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its regtest record</a:t>
            </a:r>
            <a:endParaRPr lang="en-US" sz="900" dirty="0"/>
          </a:p>
        </p:txBody>
      </p:sp>
      <p:sp>
        <p:nvSpPr>
          <p:cNvPr id="22" name="Text 20"/>
          <p:cNvSpPr txBox="1"/>
          <p:nvPr/>
        </p:nvSpPr>
        <p:spPr>
          <a:xfrm>
            <a:off x="5715000" y="1325880"/>
            <a:ext cx="2971800" cy="21945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chain work of the two tips</a:t>
            </a:r>
            <a:endParaRPr lang="en-US" sz="1100" dirty="0"/>
          </a:p>
        </p:txBody>
      </p:sp>
      <p:graphicFrame>
        <p:nvGraphicFramePr>
          <p:cNvPr id="23" name="Chart 0" descr=""/>
          <p:cNvGraphicFramePr/>
          <p:nvPr/>
        </p:nvGraphicFramePr>
        <p:xfrm>
          <a:off x="5715000" y="1591056"/>
          <a:ext cx="2971800" cy="2075688"/>
        </p:xfrm>
        <a:graphic xmlns:a="http://schemas.openxmlformats.org/drawingml/2006/main">
          <a:graphicData uri="http://schemas.openxmlformats.org/drawingml/2006/chart">
            <c:chart xmlns:c="http://schemas.openxmlformats.org/drawingml/2006/chart" r:id="rId1"/>
          </a:graphicData>
        </a:graphic>
      </p:graphicFrame>
      <p:sp>
        <p:nvSpPr>
          <p:cNvPr id="24" name="Text 21"/>
          <p:cNvSpPr txBox="1"/>
          <p:nvPr/>
        </p:nvSpPr>
        <p:spPr>
          <a:xfrm>
            <a:off x="5715000" y="3758184"/>
            <a:ext cx="2971800" cy="78638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second branch has more work, so it wins: yes. Carol held 49.999 before and 0.0 after; the payment went from 1 to -2 confirmations.</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heavier branch replaces a lighter one, even when both have equal length</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15 / 51</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Building the block</a:t>
            </a:r>
            <a:endParaRPr lang="en-US" sz="3200" dirty="0"/>
          </a:p>
        </p:txBody>
      </p:sp>
      <p:sp>
        <p:nvSpPr>
          <p:cNvPr id="5" name="Text 3"/>
          <p:cNvSpPr txBox="1"/>
          <p:nvPr/>
        </p:nvSpPr>
        <p:spPr>
          <a:xfrm>
            <a:off x="777240" y="1645920"/>
            <a:ext cx="7863840" cy="384048"/>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The miner packs a parcel and writes the label before sealing it.</a:t>
            </a:r>
            <a:endParaRPr lang="en-US" sz="1500" dirty="0"/>
          </a:p>
        </p:txBody>
      </p:sp>
      <p:sp>
        <p:nvSpPr>
          <p:cNvPr id="6" name="Shape 4"/>
          <p:cNvSpPr/>
          <p:nvPr/>
        </p:nvSpPr>
        <p:spPr>
          <a:xfrm>
            <a:off x="777240" y="2103120"/>
            <a:ext cx="2499360" cy="310896"/>
          </a:xfrm>
          <a:prstGeom prst="roundRect">
            <a:avLst>
              <a:gd name="adj" fmla="val 50000"/>
            </a:avLst>
          </a:prstGeom>
          <a:solidFill>
            <a:srgbClr val="D97A14"/>
          </a:solidFill>
          <a:ln w="12700">
            <a:solidFill>
              <a:srgbClr val="D97A14"/>
            </a:solidFill>
            <a:prstDash val="solid"/>
          </a:ln>
        </p:spPr>
      </p:sp>
      <p:sp>
        <p:nvSpPr>
          <p:cNvPr id="7" name="Text 5"/>
          <p:cNvSpPr txBox="1"/>
          <p:nvPr/>
        </p:nvSpPr>
        <p:spPr>
          <a:xfrm>
            <a:off x="85039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The block template</a:t>
            </a:r>
            <a:endParaRPr lang="en-US" sz="1200" dirty="0"/>
          </a:p>
        </p:txBody>
      </p:sp>
      <p:sp>
        <p:nvSpPr>
          <p:cNvPr id="8" name="Text 6"/>
          <p:cNvSpPr txBox="1"/>
          <p:nvPr/>
        </p:nvSpPr>
        <p:spPr>
          <a:xfrm>
            <a:off x="777240" y="2487168"/>
            <a:ext cx="249936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A node picks transactions by fee rate up to a weight limit.</a:t>
            </a:r>
            <a:endParaRPr lang="en-US" sz="1150" dirty="0"/>
          </a:p>
        </p:txBody>
      </p:sp>
      <p:sp>
        <p:nvSpPr>
          <p:cNvPr id="9" name="Text 7"/>
          <p:cNvSpPr txBox="1"/>
          <p:nvPr/>
        </p:nvSpPr>
        <p:spPr>
          <a:xfrm>
            <a:off x="777240" y="2907792"/>
            <a:ext cx="249936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loader who packs the best-paying parcels first.</a:t>
            </a:r>
            <a:endParaRPr lang="en-US" sz="1150" dirty="0"/>
          </a:p>
        </p:txBody>
      </p:sp>
      <p:sp>
        <p:nvSpPr>
          <p:cNvPr id="10" name="Shape 8"/>
          <p:cNvSpPr/>
          <p:nvPr/>
        </p:nvSpPr>
        <p:spPr>
          <a:xfrm>
            <a:off x="3459480" y="2103120"/>
            <a:ext cx="2499360" cy="310896"/>
          </a:xfrm>
          <a:prstGeom prst="roundRect">
            <a:avLst>
              <a:gd name="adj" fmla="val 50000"/>
            </a:avLst>
          </a:prstGeom>
          <a:solidFill>
            <a:srgbClr val="D97A14"/>
          </a:solidFill>
          <a:ln w="12700">
            <a:solidFill>
              <a:srgbClr val="D97A14"/>
            </a:solidFill>
            <a:prstDash val="solid"/>
          </a:ln>
        </p:spPr>
      </p:sp>
      <p:sp>
        <p:nvSpPr>
          <p:cNvPr id="11" name="Text 9"/>
          <p:cNvSpPr txBox="1"/>
          <p:nvPr/>
        </p:nvSpPr>
        <p:spPr>
          <a:xfrm>
            <a:off x="353263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The coinbase</a:t>
            </a:r>
            <a:endParaRPr lang="en-US" sz="1200" dirty="0"/>
          </a:p>
        </p:txBody>
      </p:sp>
      <p:sp>
        <p:nvSpPr>
          <p:cNvPr id="12" name="Text 10"/>
          <p:cNvSpPr txBox="1"/>
          <p:nvPr/>
        </p:nvSpPr>
        <p:spPr>
          <a:xfrm>
            <a:off x="3459480" y="2487168"/>
            <a:ext cx="2499360" cy="571500"/>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The first transaction creates the reward and carries the height and a witness commitment.</a:t>
            </a:r>
            <a:endParaRPr lang="en-US" sz="1150" dirty="0"/>
          </a:p>
        </p:txBody>
      </p:sp>
      <p:sp>
        <p:nvSpPr>
          <p:cNvPr id="13" name="Text 11"/>
          <p:cNvSpPr txBox="1"/>
          <p:nvPr/>
        </p:nvSpPr>
        <p:spPr>
          <a:xfrm>
            <a:off x="3459480" y="3086100"/>
            <a:ext cx="249936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first line of a ledger, with no payer.</a:t>
            </a:r>
            <a:endParaRPr lang="en-US" sz="1150" dirty="0"/>
          </a:p>
        </p:txBody>
      </p:sp>
      <p:sp>
        <p:nvSpPr>
          <p:cNvPr id="14" name="Shape 12"/>
          <p:cNvSpPr/>
          <p:nvPr/>
        </p:nvSpPr>
        <p:spPr>
          <a:xfrm>
            <a:off x="6141720" y="2103120"/>
            <a:ext cx="2499360" cy="310896"/>
          </a:xfrm>
          <a:prstGeom prst="roundRect">
            <a:avLst>
              <a:gd name="adj" fmla="val 50000"/>
            </a:avLst>
          </a:prstGeom>
          <a:solidFill>
            <a:srgbClr val="D97A14"/>
          </a:solidFill>
          <a:ln w="12700">
            <a:solidFill>
              <a:srgbClr val="D97A14"/>
            </a:solidFill>
            <a:prstDash val="solid"/>
          </a:ln>
        </p:spPr>
      </p:sp>
      <p:sp>
        <p:nvSpPr>
          <p:cNvPr id="15" name="Text 13"/>
          <p:cNvSpPr txBox="1"/>
          <p:nvPr/>
        </p:nvSpPr>
        <p:spPr>
          <a:xfrm>
            <a:off x="621487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The header</a:t>
            </a:r>
            <a:endParaRPr lang="en-US" sz="1200" dirty="0"/>
          </a:p>
        </p:txBody>
      </p:sp>
      <p:sp>
        <p:nvSpPr>
          <p:cNvPr id="16" name="Text 14"/>
          <p:cNvSpPr txBox="1"/>
          <p:nvPr/>
        </p:nvSpPr>
        <p:spPr>
          <a:xfrm>
            <a:off x="6141720" y="2487168"/>
            <a:ext cx="2499360" cy="571500"/>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Six fields in 80 bytes, with a time that must pass two rules.</a:t>
            </a:r>
            <a:endParaRPr lang="en-US" sz="1150" dirty="0"/>
          </a:p>
        </p:txBody>
      </p:sp>
      <p:sp>
        <p:nvSpPr>
          <p:cNvPr id="17" name="Text 15"/>
          <p:cNvSpPr txBox="1"/>
          <p:nvPr/>
        </p:nvSpPr>
        <p:spPr>
          <a:xfrm>
            <a:off x="6141720" y="3086100"/>
            <a:ext cx="249936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address label on the parcel.</a:t>
            </a:r>
            <a:endParaRPr lang="en-US" sz="115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777240" y="3950208"/>
          <a:ext cx="7863840" cy="914400"/>
        </p:xfrm>
        <a:graphic>
          <a:graphicData uri="http://schemas.openxmlformats.org/drawingml/2006/table">
            <a:tbl>
              <a:tblPr/>
              <a:tblGrid>
                <a:gridCol w="1310335"/>
                <a:gridCol w="1310335"/>
                <a:gridCol w="1310335"/>
                <a:gridCol w="1310335"/>
                <a:gridCol w="1310335"/>
                <a:gridCol w="1310335"/>
              </a:tblGrid>
              <a:tr h="365760">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Money</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Verify</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Block</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Work</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Rivals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Rules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r>
            </a:tbl>
          </a:graphicData>
        </a:graphic>
      </p:graphicFrame>
      <p:sp>
        <p:nvSpPr>
          <p:cNvPr id="19"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16 / 51</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Building the block: key concepts (1 of 2)</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2645664" cy="1532534"/>
          </a:xfrm>
          <a:prstGeom prst="roundRect">
            <a:avLst>
              <a:gd name="adj" fmla="val 4773"/>
            </a:avLst>
          </a:prstGeom>
          <a:solidFill>
            <a:srgbClr val="F2ECE1"/>
          </a:solidFill>
          <a:ln w="12700">
            <a:solidFill>
              <a:srgbClr val="DFD6C7"/>
            </a:solidFill>
            <a:prstDash val="solid"/>
          </a:ln>
        </p:spPr>
      </p:sp>
      <p:sp>
        <p:nvSpPr>
          <p:cNvPr id="7" name="Shape 5"/>
          <p:cNvSpPr/>
          <p:nvPr/>
        </p:nvSpPr>
        <p:spPr>
          <a:xfrm>
            <a:off x="475488" y="1408176"/>
            <a:ext cx="64008" cy="1276502"/>
          </a:xfrm>
          <a:prstGeom prst="rect">
            <a:avLst/>
          </a:prstGeom>
          <a:solidFill>
            <a:srgbClr val="D97A14"/>
          </a:solidFill>
          <a:ln w="12700">
            <a:solidFill>
              <a:srgbClr val="D97A14"/>
            </a:solidFill>
            <a:prstDash val="solid"/>
          </a:ln>
        </p:spPr>
      </p:sp>
      <p:sp>
        <p:nvSpPr>
          <p:cNvPr id="8" name="Text 6"/>
          <p:cNvSpPr txBox="1"/>
          <p:nvPr/>
        </p:nvSpPr>
        <p:spPr>
          <a:xfrm>
            <a:off x="640080" y="1344168"/>
            <a:ext cx="2371344" cy="697687"/>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Block template</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A node offers a template with transactions picked by fee rate, up to a weight limit.</a:t>
            </a:r>
            <a:endParaRPr lang="en-US" sz="1150" dirty="0"/>
          </a:p>
        </p:txBody>
      </p:sp>
      <p:sp>
        <p:nvSpPr>
          <p:cNvPr id="9" name="Text 7"/>
          <p:cNvSpPr txBox="1"/>
          <p:nvPr/>
        </p:nvSpPr>
        <p:spPr>
          <a:xfrm>
            <a:off x="640080" y="2069287"/>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a loader who packs the best-paying parcels first.</a:t>
            </a:r>
            <a:endParaRPr lang="en-US" sz="1000" dirty="0"/>
          </a:p>
        </p:txBody>
      </p:sp>
      <p:sp>
        <p:nvSpPr>
          <p:cNvPr id="10" name="Shape 8"/>
          <p:cNvSpPr/>
          <p:nvPr/>
        </p:nvSpPr>
        <p:spPr>
          <a:xfrm>
            <a:off x="3249168" y="1280160"/>
            <a:ext cx="2645664" cy="1532534"/>
          </a:xfrm>
          <a:prstGeom prst="roundRect">
            <a:avLst>
              <a:gd name="adj" fmla="val 4773"/>
            </a:avLst>
          </a:prstGeom>
          <a:solidFill>
            <a:srgbClr val="F2ECE1"/>
          </a:solidFill>
          <a:ln w="12700">
            <a:solidFill>
              <a:srgbClr val="DFD6C7"/>
            </a:solidFill>
            <a:prstDash val="solid"/>
          </a:ln>
        </p:spPr>
      </p:sp>
      <p:sp>
        <p:nvSpPr>
          <p:cNvPr id="11" name="Shape 9"/>
          <p:cNvSpPr/>
          <p:nvPr/>
        </p:nvSpPr>
        <p:spPr>
          <a:xfrm>
            <a:off x="3267456" y="1408176"/>
            <a:ext cx="64008" cy="1276502"/>
          </a:xfrm>
          <a:prstGeom prst="rect">
            <a:avLst/>
          </a:prstGeom>
          <a:solidFill>
            <a:srgbClr val="D97A14"/>
          </a:solidFill>
          <a:ln w="12700">
            <a:solidFill>
              <a:srgbClr val="D97A14"/>
            </a:solidFill>
            <a:prstDash val="solid"/>
          </a:ln>
        </p:spPr>
      </p:sp>
      <p:sp>
        <p:nvSpPr>
          <p:cNvPr id="12" name="Text 10"/>
          <p:cNvSpPr txBox="1"/>
          <p:nvPr/>
        </p:nvSpPr>
        <p:spPr>
          <a:xfrm>
            <a:off x="3432048" y="1344168"/>
            <a:ext cx="2371344" cy="1030529"/>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Coinbase fields of Bitcoin Core today</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Core 31.1 fills in the lock time, the sequence and the end of the script in ways the book's table does not show.</a:t>
            </a:r>
            <a:endParaRPr lang="en-US" sz="1150" dirty="0"/>
          </a:p>
        </p:txBody>
      </p:sp>
      <p:sp>
        <p:nvSpPr>
          <p:cNvPr id="13" name="Text 11"/>
          <p:cNvSpPr txBox="1"/>
          <p:nvPr/>
        </p:nvSpPr>
        <p:spPr>
          <a:xfrm>
            <a:off x="3432048" y="2402129"/>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a form that the clerk now fills in for you.</a:t>
            </a:r>
            <a:endParaRPr lang="en-US" sz="1000" dirty="0"/>
          </a:p>
        </p:txBody>
      </p:sp>
      <p:sp>
        <p:nvSpPr>
          <p:cNvPr id="14" name="Shape 12"/>
          <p:cNvSpPr/>
          <p:nvPr/>
        </p:nvSpPr>
        <p:spPr>
          <a:xfrm>
            <a:off x="6041136" y="1280160"/>
            <a:ext cx="2645664" cy="1532534"/>
          </a:xfrm>
          <a:prstGeom prst="roundRect">
            <a:avLst>
              <a:gd name="adj" fmla="val 4773"/>
            </a:avLst>
          </a:prstGeom>
          <a:solidFill>
            <a:srgbClr val="F2ECE1"/>
          </a:solidFill>
          <a:ln w="12700">
            <a:solidFill>
              <a:srgbClr val="DFD6C7"/>
            </a:solidFill>
            <a:prstDash val="solid"/>
          </a:ln>
        </p:spPr>
      </p:sp>
      <p:sp>
        <p:nvSpPr>
          <p:cNvPr id="15" name="Shape 13"/>
          <p:cNvSpPr/>
          <p:nvPr/>
        </p:nvSpPr>
        <p:spPr>
          <a:xfrm>
            <a:off x="6059424" y="1408176"/>
            <a:ext cx="64008" cy="1276502"/>
          </a:xfrm>
          <a:prstGeom prst="rect">
            <a:avLst/>
          </a:prstGeom>
          <a:solidFill>
            <a:srgbClr val="D97A14"/>
          </a:solidFill>
          <a:ln w="12700">
            <a:solidFill>
              <a:srgbClr val="D97A14"/>
            </a:solidFill>
            <a:prstDash val="solid"/>
          </a:ln>
        </p:spPr>
      </p:sp>
      <p:sp>
        <p:nvSpPr>
          <p:cNvPr id="16" name="Text 14"/>
          <p:cNvSpPr txBox="1"/>
          <p:nvPr/>
        </p:nvSpPr>
        <p:spPr>
          <a:xfrm>
            <a:off x="6224016" y="1344168"/>
            <a:ext cx="2371344" cy="853135"/>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Coinbase data and tags</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The free bytes of the coinbase script, two to one hundred in all, are where pools sign their blocks.</a:t>
            </a:r>
            <a:endParaRPr lang="en-US" sz="1150" dirty="0"/>
          </a:p>
        </p:txBody>
      </p:sp>
      <p:sp>
        <p:nvSpPr>
          <p:cNvPr id="17" name="Text 15"/>
          <p:cNvSpPr txBox="1"/>
          <p:nvPr/>
        </p:nvSpPr>
        <p:spPr>
          <a:xfrm>
            <a:off x="6224016" y="2224735"/>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the baker's mark pressed into each loaf.</a:t>
            </a:r>
            <a:endParaRPr lang="en-US" sz="1000" dirty="0"/>
          </a:p>
        </p:txBody>
      </p:sp>
      <p:sp>
        <p:nvSpPr>
          <p:cNvPr id="18" name="Shape 16"/>
          <p:cNvSpPr/>
          <p:nvPr/>
        </p:nvSpPr>
        <p:spPr>
          <a:xfrm>
            <a:off x="457200" y="2940710"/>
            <a:ext cx="2645664" cy="1532534"/>
          </a:xfrm>
          <a:prstGeom prst="roundRect">
            <a:avLst>
              <a:gd name="adj" fmla="val 4773"/>
            </a:avLst>
          </a:prstGeom>
          <a:solidFill>
            <a:srgbClr val="F2ECE1"/>
          </a:solidFill>
          <a:ln w="12700">
            <a:solidFill>
              <a:srgbClr val="DFD6C7"/>
            </a:solidFill>
            <a:prstDash val="solid"/>
          </a:ln>
        </p:spPr>
      </p:sp>
      <p:sp>
        <p:nvSpPr>
          <p:cNvPr id="19" name="Shape 17"/>
          <p:cNvSpPr/>
          <p:nvPr/>
        </p:nvSpPr>
        <p:spPr>
          <a:xfrm>
            <a:off x="475488" y="3068726"/>
            <a:ext cx="64008" cy="1276502"/>
          </a:xfrm>
          <a:prstGeom prst="rect">
            <a:avLst/>
          </a:prstGeom>
          <a:solidFill>
            <a:srgbClr val="D97A14"/>
          </a:solidFill>
          <a:ln w="12700">
            <a:solidFill>
              <a:srgbClr val="D97A14"/>
            </a:solidFill>
            <a:prstDash val="solid"/>
          </a:ln>
        </p:spPr>
      </p:sp>
      <p:sp>
        <p:nvSpPr>
          <p:cNvPr id="20" name="Text 18"/>
          <p:cNvSpPr txBox="1"/>
          <p:nvPr/>
        </p:nvSpPr>
        <p:spPr>
          <a:xfrm>
            <a:off x="640080" y="3004718"/>
            <a:ext cx="2371344" cy="697687"/>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BIP 34 height push</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The coinbase script starts with the block height, so every coinbase differs.</a:t>
            </a:r>
            <a:endParaRPr lang="en-US" sz="1150" dirty="0"/>
          </a:p>
        </p:txBody>
      </p:sp>
      <p:sp>
        <p:nvSpPr>
          <p:cNvPr id="21" name="Text 19"/>
          <p:cNvSpPr txBox="1"/>
          <p:nvPr/>
        </p:nvSpPr>
        <p:spPr>
          <a:xfrm>
            <a:off x="640080" y="3729838"/>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the page number written on the first line of each page.</a:t>
            </a:r>
            <a:endParaRPr lang="en-US" sz="1000" dirty="0"/>
          </a:p>
        </p:txBody>
      </p:sp>
      <p:sp>
        <p:nvSpPr>
          <p:cNvPr id="22" name="Shape 20"/>
          <p:cNvSpPr/>
          <p:nvPr/>
        </p:nvSpPr>
        <p:spPr>
          <a:xfrm>
            <a:off x="3249168" y="2940710"/>
            <a:ext cx="2645664" cy="1532534"/>
          </a:xfrm>
          <a:prstGeom prst="roundRect">
            <a:avLst>
              <a:gd name="adj" fmla="val 4773"/>
            </a:avLst>
          </a:prstGeom>
          <a:solidFill>
            <a:srgbClr val="F2ECE1"/>
          </a:solidFill>
          <a:ln w="12700">
            <a:solidFill>
              <a:srgbClr val="DFD6C7"/>
            </a:solidFill>
            <a:prstDash val="solid"/>
          </a:ln>
        </p:spPr>
      </p:sp>
      <p:sp>
        <p:nvSpPr>
          <p:cNvPr id="23" name="Shape 21"/>
          <p:cNvSpPr/>
          <p:nvPr/>
        </p:nvSpPr>
        <p:spPr>
          <a:xfrm>
            <a:off x="3267456" y="3068726"/>
            <a:ext cx="64008" cy="1276502"/>
          </a:xfrm>
          <a:prstGeom prst="rect">
            <a:avLst/>
          </a:prstGeom>
          <a:solidFill>
            <a:srgbClr val="D97A14"/>
          </a:solidFill>
          <a:ln w="12700">
            <a:solidFill>
              <a:srgbClr val="D97A14"/>
            </a:solidFill>
            <a:prstDash val="solid"/>
          </a:ln>
        </p:spPr>
      </p:sp>
      <p:sp>
        <p:nvSpPr>
          <p:cNvPr id="24" name="Text 22"/>
          <p:cNvSpPr txBox="1"/>
          <p:nvPr/>
        </p:nvSpPr>
        <p:spPr>
          <a:xfrm>
            <a:off x="3432048" y="3004718"/>
            <a:ext cx="2371344" cy="697687"/>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Witness commitment</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An extra coinbase output commits to the witness data of all transactions.</a:t>
            </a:r>
            <a:endParaRPr lang="en-US" sz="1150" dirty="0"/>
          </a:p>
        </p:txBody>
      </p:sp>
      <p:sp>
        <p:nvSpPr>
          <p:cNvPr id="25" name="Text 23"/>
          <p:cNvSpPr txBox="1"/>
          <p:nvPr/>
        </p:nvSpPr>
        <p:spPr>
          <a:xfrm>
            <a:off x="3432048" y="3729838"/>
            <a:ext cx="2371344" cy="501091"/>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a sealed envelope that lists what lies in the second drawer.</a:t>
            </a:r>
            <a:endParaRPr lang="en-US" sz="1000" dirty="0"/>
          </a:p>
        </p:txBody>
      </p:sp>
      <p:sp>
        <p:nvSpPr>
          <p:cNvPr id="26" name="Shape 24"/>
          <p:cNvSpPr/>
          <p:nvPr/>
        </p:nvSpPr>
        <p:spPr>
          <a:xfrm>
            <a:off x="6041136" y="2940710"/>
            <a:ext cx="2645664" cy="1532534"/>
          </a:xfrm>
          <a:prstGeom prst="roundRect">
            <a:avLst>
              <a:gd name="adj" fmla="val 4773"/>
            </a:avLst>
          </a:prstGeom>
          <a:solidFill>
            <a:srgbClr val="F2ECE1"/>
          </a:solidFill>
          <a:ln w="12700">
            <a:solidFill>
              <a:srgbClr val="DFD6C7"/>
            </a:solidFill>
            <a:prstDash val="solid"/>
          </a:ln>
        </p:spPr>
      </p:sp>
      <p:sp>
        <p:nvSpPr>
          <p:cNvPr id="27" name="Shape 25"/>
          <p:cNvSpPr/>
          <p:nvPr/>
        </p:nvSpPr>
        <p:spPr>
          <a:xfrm>
            <a:off x="6059424" y="3068726"/>
            <a:ext cx="64008" cy="1276502"/>
          </a:xfrm>
          <a:prstGeom prst="rect">
            <a:avLst/>
          </a:prstGeom>
          <a:solidFill>
            <a:srgbClr val="D97A14"/>
          </a:solidFill>
          <a:ln w="12700">
            <a:solidFill>
              <a:srgbClr val="D97A14"/>
            </a:solidFill>
            <a:prstDash val="solid"/>
          </a:ln>
        </p:spPr>
      </p:sp>
      <p:sp>
        <p:nvSpPr>
          <p:cNvPr id="28" name="Text 26"/>
          <p:cNvSpPr txBox="1"/>
          <p:nvPr/>
        </p:nvSpPr>
        <p:spPr>
          <a:xfrm>
            <a:off x="6224016" y="3004718"/>
            <a:ext cx="2371344" cy="697687"/>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The extra nonce space</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Eight extra bytes in the coinbase script give a miner 2 to the 96 headers to try.</a:t>
            </a:r>
            <a:endParaRPr lang="en-US" sz="1150" dirty="0"/>
          </a:p>
        </p:txBody>
      </p:sp>
      <p:sp>
        <p:nvSpPr>
          <p:cNvPr id="29" name="Text 27"/>
          <p:cNvSpPr txBox="1"/>
          <p:nvPr/>
        </p:nvSpPr>
        <p:spPr>
          <a:xfrm>
            <a:off x="6224016" y="3729838"/>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a second, far larger drum behind the lottery drum.</a:t>
            </a:r>
            <a:endParaRPr lang="en-US" sz="1000" dirty="0"/>
          </a:p>
        </p:txBody>
      </p:sp>
      <p:sp>
        <p:nvSpPr>
          <p:cNvPr id="30" name="Shape 28"/>
          <p:cNvSpPr/>
          <p:nvPr/>
        </p:nvSpPr>
        <p:spPr>
          <a:xfrm>
            <a:off x="457200" y="4636008"/>
            <a:ext cx="91440" cy="310896"/>
          </a:xfrm>
          <a:prstGeom prst="rect">
            <a:avLst/>
          </a:prstGeom>
          <a:solidFill>
            <a:srgbClr val="D97A14"/>
          </a:solidFill>
          <a:ln w="12700">
            <a:solidFill>
              <a:srgbClr val="D97A14"/>
            </a:solidFill>
            <a:prstDash val="solid"/>
          </a:ln>
        </p:spPr>
      </p:sp>
      <p:sp>
        <p:nvSpPr>
          <p:cNvPr id="31" name="Text 2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32" name="Text 3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17 / 51</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coinbase of Bitcoin Core today</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Height, lock time and sequence in the first transaction</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t = R[</a:t>
            </a:r>
            <a:r>
              <a:rPr lang="en-US" sz="1000" dirty="0">
                <a:solidFill>
                  <a:srgbClr val="9ECBFF"/>
                </a:solidFill>
                <a:latin typeface="Courier New" pitchFamily="34" charset="0"/>
                <a:ea typeface="Courier New" pitchFamily="34" charset="-122"/>
                <a:cs typeface="Courier New" pitchFamily="34" charset="-120"/>
              </a:rPr>
              <a:t>'b1_template0'</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w = t[</a:t>
            </a:r>
            <a:r>
              <a:rPr lang="en-US" sz="1000" dirty="0">
                <a:solidFill>
                  <a:srgbClr val="9ECBFF"/>
                </a:solidFill>
                <a:latin typeface="Courier New" pitchFamily="34" charset="0"/>
                <a:ea typeface="Courier New" pitchFamily="34" charset="-122"/>
                <a:cs typeface="Courier New" pitchFamily="34" charset="-120"/>
              </a:rPr>
              <a:t>'weightlimit'</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286914"/>
            <a:ext cx="5074920" cy="476402"/>
          </a:xfrm>
          <a:prstGeom prst="roundRect">
            <a:avLst>
              <a:gd name="adj" fmla="val 15355"/>
            </a:avLst>
          </a:prstGeom>
          <a:solidFill>
            <a:srgbClr val="23272E"/>
          </a:solidFill>
          <a:ln w="12700">
            <a:solidFill>
              <a:srgbClr val="23272E"/>
            </a:solidFill>
            <a:prstDash val="solid"/>
          </a:ln>
        </p:spPr>
      </p:sp>
      <p:sp>
        <p:nvSpPr>
          <p:cNvPr id="9" name="Text 7"/>
          <p:cNvSpPr txBox="1"/>
          <p:nvPr/>
        </p:nvSpPr>
        <p:spPr>
          <a:xfrm>
            <a:off x="603504" y="2360066"/>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k = R[</a:t>
            </a:r>
            <a:r>
              <a:rPr lang="en-US" sz="1000" dirty="0">
                <a:solidFill>
                  <a:srgbClr val="9ECBFF"/>
                </a:solidFill>
                <a:latin typeface="Courier New" pitchFamily="34" charset="0"/>
                <a:ea typeface="Courier New" pitchFamily="34" charset="-122"/>
                <a:cs typeface="Courier New" pitchFamily="34" charset="-120"/>
              </a:rPr>
              <a:t>'b5_core_coinbase'</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hx = L.push_num(k[</a:t>
            </a:r>
            <a:r>
              <a:rPr lang="en-US" sz="1000" dirty="0">
                <a:solidFill>
                  <a:srgbClr val="9ECBFF"/>
                </a:solidFill>
                <a:latin typeface="Courier New" pitchFamily="34" charset="0"/>
                <a:ea typeface="Courier New" pitchFamily="34" charset="-122"/>
                <a:cs typeface="Courier New" pitchFamily="34" charset="-120"/>
              </a:rPr>
              <a:t>'height'</a:t>
            </a:r>
            <a:r>
              <a:rPr lang="en-US" sz="1000" dirty="0">
                <a:solidFill>
                  <a:srgbClr val="E6EDF3"/>
                </a:solidFill>
                <a:latin typeface="Courier New" pitchFamily="34" charset="0"/>
                <a:ea typeface="Courier New" pitchFamily="34" charset="-122"/>
                <a:cs typeface="Courier New" pitchFamily="34" charset="-120"/>
              </a:rPr>
              <a:t>]).hex()</a:t>
            </a:r>
            <a:endParaRPr lang="en-US" sz="1000" dirty="0"/>
          </a:p>
        </p:txBody>
      </p:sp>
      <p:sp>
        <p:nvSpPr>
          <p:cNvPr id="10" name="Shape 8"/>
          <p:cNvSpPr/>
          <p:nvPr/>
        </p:nvSpPr>
        <p:spPr>
          <a:xfrm>
            <a:off x="457200" y="3247949"/>
            <a:ext cx="5074920" cy="476402"/>
          </a:xfrm>
          <a:prstGeom prst="roundRect">
            <a:avLst>
              <a:gd name="adj" fmla="val 15355"/>
            </a:avLst>
          </a:prstGeom>
          <a:solidFill>
            <a:srgbClr val="23272E"/>
          </a:solidFill>
          <a:ln w="12700">
            <a:solidFill>
              <a:srgbClr val="23272E"/>
            </a:solidFill>
            <a:prstDash val="solid"/>
          </a:ln>
        </p:spPr>
      </p:sp>
      <p:sp>
        <p:nvSpPr>
          <p:cNvPr id="11" name="Text 9"/>
          <p:cNvSpPr txBox="1"/>
          <p:nvPr/>
        </p:nvSpPr>
        <p:spPr>
          <a:xfrm>
            <a:off x="603504" y="3321101"/>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(w, k[</a:t>
            </a:r>
            <a:r>
              <a:rPr lang="en-US" sz="1000" dirty="0">
                <a:solidFill>
                  <a:srgbClr val="9ECBFF"/>
                </a:solidFill>
                <a:latin typeface="Courier New" pitchFamily="34" charset="0"/>
                <a:ea typeface="Courier New" pitchFamily="34" charset="-122"/>
                <a:cs typeface="Courier New" pitchFamily="34" charset="-120"/>
              </a:rPr>
              <a:t>'height'</a:t>
            </a:r>
            <a:r>
              <a:rPr lang="en-US" sz="1000" dirty="0">
                <a:solidFill>
                  <a:srgbClr val="E6EDF3"/>
                </a:solidFill>
                <a:latin typeface="Courier New" pitchFamily="34" charset="0"/>
                <a:ea typeface="Courier New" pitchFamily="34" charset="-122"/>
                <a:cs typeface="Courier New" pitchFamily="34" charset="-120"/>
              </a:rPr>
              <a:t>], hx)</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(4000000, 2204, '029c08')</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829714"/>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Bitcoin Core builds a block template; its weight limit leaves room for the header.</a:t>
            </a:r>
            <a:endParaRPr lang="en-US" sz="1050" dirty="0"/>
          </a:p>
        </p:txBody>
      </p:sp>
      <p:sp>
        <p:nvSpPr>
          <p:cNvPr id="15" name="Shape 13"/>
          <p:cNvSpPr/>
          <p:nvPr/>
        </p:nvSpPr>
        <p:spPr>
          <a:xfrm>
            <a:off x="365760" y="2213762"/>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213762"/>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790749"/>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coinbase script starts with the block height as a short pushed number.</a:t>
            </a:r>
            <a:endParaRPr lang="en-US" sz="1050" dirty="0"/>
          </a:p>
        </p:txBody>
      </p:sp>
      <p:sp>
        <p:nvSpPr>
          <p:cNvPr id="18" name="Shape 16"/>
          <p:cNvSpPr/>
          <p:nvPr/>
        </p:nvSpPr>
        <p:spPr>
          <a:xfrm>
            <a:off x="365760" y="3174797"/>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3174797"/>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751783"/>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Other fields are set by Core, not by the book: the lock time and the sequence.</a:t>
            </a:r>
            <a:endParaRPr lang="en-US" sz="1050" dirty="0"/>
          </a:p>
        </p:txBody>
      </p:sp>
      <p:sp>
        <p:nvSpPr>
          <p:cNvPr id="21" name="Text 19"/>
          <p:cNvSpPr txBox="1"/>
          <p:nvPr/>
        </p:nvSpPr>
        <p:spPr>
          <a:xfrm>
            <a:off x="457200" y="4172407"/>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its regtest record</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the first transaction of a Core block</a:t>
            </a:r>
            <a:endParaRPr lang="en-US" sz="11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1737360"/>
                <a:gridCol w="1234440"/>
              </a:tblGrid>
              <a:tr h="274320">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Field</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Value</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Weight limit of the template</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4,000,000</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Block height</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2204</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Height as a script push</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029c08</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Whole script</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029c0800</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Lock time is height - 1</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yes</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Sequence</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0xfffffffe</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941064"/>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script is the height as a short push, 029c08, and a zero byte. Core sets version 2.</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Core sets the lock time and the sequence, which the book does not say</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18 / 51</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Building the block: key concepts (2 of 2)</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2645664" cy="1719072"/>
          </a:xfrm>
          <a:prstGeom prst="roundRect">
            <a:avLst>
              <a:gd name="adj" fmla="val 4255"/>
            </a:avLst>
          </a:prstGeom>
          <a:solidFill>
            <a:srgbClr val="F2ECE1"/>
          </a:solidFill>
          <a:ln w="12700">
            <a:solidFill>
              <a:srgbClr val="DFD6C7"/>
            </a:solidFill>
            <a:prstDash val="solid"/>
          </a:ln>
        </p:spPr>
      </p:sp>
      <p:sp>
        <p:nvSpPr>
          <p:cNvPr id="7" name="Shape 5"/>
          <p:cNvSpPr/>
          <p:nvPr/>
        </p:nvSpPr>
        <p:spPr>
          <a:xfrm>
            <a:off x="475488" y="1408176"/>
            <a:ext cx="64008" cy="1463040"/>
          </a:xfrm>
          <a:prstGeom prst="rect">
            <a:avLst/>
          </a:prstGeom>
          <a:solidFill>
            <a:srgbClr val="D97A14"/>
          </a:solidFill>
          <a:ln w="12700">
            <a:solidFill>
              <a:srgbClr val="D97A14"/>
            </a:solidFill>
            <a:prstDash val="solid"/>
          </a:ln>
        </p:spPr>
      </p:sp>
      <p:sp>
        <p:nvSpPr>
          <p:cNvPr id="8" name="Text 6"/>
          <p:cNvSpPr txBox="1"/>
          <p:nvPr/>
        </p:nvSpPr>
        <p:spPr>
          <a:xfrm>
            <a:off x="640080" y="1344168"/>
            <a:ext cx="2371344" cy="1170432"/>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The extra nonce changes the root</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counter in the coinbase script changes the merkle root and so opens a fresh search space.</a:t>
            </a:r>
            <a:endParaRPr lang="en-US" sz="1300" dirty="0"/>
          </a:p>
        </p:txBody>
      </p:sp>
      <p:sp>
        <p:nvSpPr>
          <p:cNvPr id="9" name="Text 7"/>
          <p:cNvSpPr txBox="1"/>
          <p:nvPr/>
        </p:nvSpPr>
        <p:spPr>
          <a:xfrm>
            <a:off x="640080" y="2542032"/>
            <a:ext cx="2371344"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reshuffling the deck before the next draw.</a:t>
            </a:r>
            <a:endParaRPr lang="en-US" sz="1150" dirty="0"/>
          </a:p>
        </p:txBody>
      </p:sp>
      <p:sp>
        <p:nvSpPr>
          <p:cNvPr id="10" name="Shape 8"/>
          <p:cNvSpPr/>
          <p:nvPr/>
        </p:nvSpPr>
        <p:spPr>
          <a:xfrm>
            <a:off x="3249168" y="1280160"/>
            <a:ext cx="2645664" cy="1719072"/>
          </a:xfrm>
          <a:prstGeom prst="roundRect">
            <a:avLst>
              <a:gd name="adj" fmla="val 4255"/>
            </a:avLst>
          </a:prstGeom>
          <a:solidFill>
            <a:srgbClr val="F2ECE1"/>
          </a:solidFill>
          <a:ln w="12700">
            <a:solidFill>
              <a:srgbClr val="DFD6C7"/>
            </a:solidFill>
            <a:prstDash val="solid"/>
          </a:ln>
        </p:spPr>
      </p:sp>
      <p:sp>
        <p:nvSpPr>
          <p:cNvPr id="11" name="Shape 9"/>
          <p:cNvSpPr/>
          <p:nvPr/>
        </p:nvSpPr>
        <p:spPr>
          <a:xfrm>
            <a:off x="3267456" y="1408176"/>
            <a:ext cx="64008" cy="1463040"/>
          </a:xfrm>
          <a:prstGeom prst="rect">
            <a:avLst/>
          </a:prstGeom>
          <a:solidFill>
            <a:srgbClr val="D97A14"/>
          </a:solidFill>
          <a:ln w="12700">
            <a:solidFill>
              <a:srgbClr val="D97A14"/>
            </a:solidFill>
            <a:prstDash val="solid"/>
          </a:ln>
        </p:spPr>
      </p:sp>
      <p:sp>
        <p:nvSpPr>
          <p:cNvPr id="12" name="Text 10"/>
          <p:cNvSpPr txBox="1"/>
          <p:nvPr/>
        </p:nvSpPr>
        <p:spPr>
          <a:xfrm>
            <a:off x="3432048" y="1344168"/>
            <a:ext cx="2371344" cy="790956"/>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Median time past</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block's time must be later than the median of the last eleven blocks.</a:t>
            </a:r>
            <a:endParaRPr lang="en-US" sz="1300" dirty="0"/>
          </a:p>
        </p:txBody>
      </p:sp>
      <p:sp>
        <p:nvSpPr>
          <p:cNvPr id="13" name="Text 11"/>
          <p:cNvSpPr txBox="1"/>
          <p:nvPr/>
        </p:nvSpPr>
        <p:spPr>
          <a:xfrm>
            <a:off x="3432048" y="2162556"/>
            <a:ext cx="2371344" cy="571500"/>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clock that follows the majority, not a single watch.</a:t>
            </a:r>
            <a:endParaRPr lang="en-US" sz="1150" dirty="0"/>
          </a:p>
        </p:txBody>
      </p:sp>
      <p:sp>
        <p:nvSpPr>
          <p:cNvPr id="14" name="Shape 12"/>
          <p:cNvSpPr/>
          <p:nvPr/>
        </p:nvSpPr>
        <p:spPr>
          <a:xfrm>
            <a:off x="6041136" y="1280160"/>
            <a:ext cx="2645664" cy="1719072"/>
          </a:xfrm>
          <a:prstGeom prst="roundRect">
            <a:avLst>
              <a:gd name="adj" fmla="val 4255"/>
            </a:avLst>
          </a:prstGeom>
          <a:solidFill>
            <a:srgbClr val="F2ECE1"/>
          </a:solidFill>
          <a:ln w="12700">
            <a:solidFill>
              <a:srgbClr val="DFD6C7"/>
            </a:solidFill>
            <a:prstDash val="solid"/>
          </a:ln>
        </p:spPr>
      </p:sp>
      <p:sp>
        <p:nvSpPr>
          <p:cNvPr id="15" name="Shape 13"/>
          <p:cNvSpPr/>
          <p:nvPr/>
        </p:nvSpPr>
        <p:spPr>
          <a:xfrm>
            <a:off x="6059424" y="1408176"/>
            <a:ext cx="64008" cy="1463040"/>
          </a:xfrm>
          <a:prstGeom prst="rect">
            <a:avLst/>
          </a:prstGeom>
          <a:solidFill>
            <a:srgbClr val="D97A14"/>
          </a:solidFill>
          <a:ln w="12700">
            <a:solidFill>
              <a:srgbClr val="D97A14"/>
            </a:solidFill>
            <a:prstDash val="solid"/>
          </a:ln>
        </p:spPr>
      </p:sp>
      <p:sp>
        <p:nvSpPr>
          <p:cNvPr id="16" name="Text 14"/>
          <p:cNvSpPr txBox="1"/>
          <p:nvPr/>
        </p:nvSpPr>
        <p:spPr>
          <a:xfrm>
            <a:off x="6224016" y="1344168"/>
            <a:ext cx="2371344" cy="790956"/>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Two-hour rule</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block time more than two hours ahead of a node's clock is refused.</a:t>
            </a:r>
            <a:endParaRPr lang="en-US" sz="1300" dirty="0"/>
          </a:p>
        </p:txBody>
      </p:sp>
      <p:sp>
        <p:nvSpPr>
          <p:cNvPr id="17" name="Text 15"/>
          <p:cNvSpPr txBox="1"/>
          <p:nvPr/>
        </p:nvSpPr>
        <p:spPr>
          <a:xfrm>
            <a:off x="6224016" y="2162556"/>
            <a:ext cx="2371344"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rule against post-dated cheques.</a:t>
            </a:r>
            <a:endParaRPr lang="en-US" sz="1150" dirty="0"/>
          </a:p>
        </p:txBody>
      </p:sp>
      <p:sp>
        <p:nvSpPr>
          <p:cNvPr id="18" name="Shape 16"/>
          <p:cNvSpPr/>
          <p:nvPr/>
        </p:nvSpPr>
        <p:spPr>
          <a:xfrm>
            <a:off x="457200" y="4636008"/>
            <a:ext cx="91440" cy="310896"/>
          </a:xfrm>
          <a:prstGeom prst="rect">
            <a:avLst/>
          </a:prstGeom>
          <a:solidFill>
            <a:srgbClr val="D97A14"/>
          </a:solidFill>
          <a:ln w="12700">
            <a:solidFill>
              <a:srgbClr val="D97A14"/>
            </a:solidFill>
            <a:prstDash val="solid"/>
          </a:ln>
        </p:spPr>
      </p:sp>
      <p:sp>
        <p:nvSpPr>
          <p:cNvPr id="19" name="Text 1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0" name="Text 1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19 / 51</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header of a mined block</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Eighty bytes, and a hash under the target</a:t>
            </a:r>
            <a:endParaRPr lang="en-US" sz="1300" dirty="0"/>
          </a:p>
        </p:txBody>
      </p:sp>
      <p:sp>
        <p:nvSpPr>
          <p:cNvPr id="6" name="Shape 4"/>
          <p:cNvSpPr/>
          <p:nvPr/>
        </p:nvSpPr>
        <p:spPr>
          <a:xfrm>
            <a:off x="457200" y="1325880"/>
            <a:ext cx="5074920" cy="311810"/>
          </a:xfrm>
          <a:prstGeom prst="roundRect">
            <a:avLst>
              <a:gd name="adj" fmla="val 23460"/>
            </a:avLst>
          </a:prstGeom>
          <a:solidFill>
            <a:srgbClr val="23272E"/>
          </a:solidFill>
          <a:ln w="12700">
            <a:solidFill>
              <a:srgbClr val="23272E"/>
            </a:solidFill>
            <a:prstDash val="solid"/>
          </a:ln>
        </p:spPr>
      </p:sp>
      <p:sp>
        <p:nvSpPr>
          <p:cNvPr id="7" name="Text 5"/>
          <p:cNvSpPr txBox="1"/>
          <p:nvPr/>
        </p:nvSpPr>
        <p:spPr>
          <a:xfrm>
            <a:off x="603504" y="139903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h = L.header(R[</a:t>
            </a:r>
            <a:r>
              <a:rPr lang="en-US" sz="1000" dirty="0">
                <a:solidFill>
                  <a:srgbClr val="9ECBFF"/>
                </a:solidFill>
                <a:latin typeface="Courier New" pitchFamily="34" charset="0"/>
                <a:ea typeface="Courier New" pitchFamily="34" charset="-122"/>
                <a:cs typeface="Courier New" pitchFamily="34" charset="-120"/>
              </a:rPr>
              <a:t>'b1_getblock_raw_header'</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122322"/>
            <a:ext cx="5074920" cy="311810"/>
          </a:xfrm>
          <a:prstGeom prst="roundRect">
            <a:avLst>
              <a:gd name="adj" fmla="val 23460"/>
            </a:avLst>
          </a:prstGeom>
          <a:solidFill>
            <a:srgbClr val="23272E"/>
          </a:solidFill>
          <a:ln w="12700">
            <a:solidFill>
              <a:srgbClr val="23272E"/>
            </a:solidFill>
            <a:prstDash val="solid"/>
          </a:ln>
        </p:spPr>
      </p:sp>
      <p:sp>
        <p:nvSpPr>
          <p:cNvPr id="9" name="Text 7"/>
          <p:cNvSpPr txBox="1"/>
          <p:nvPr/>
        </p:nvSpPr>
        <p:spPr>
          <a:xfrm>
            <a:off x="603504" y="2195474"/>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ok = L.pow_ok(h[</a:t>
            </a:r>
            <a:r>
              <a:rPr lang="en-US" sz="1000" dirty="0">
                <a:solidFill>
                  <a:srgbClr val="9ECBFF"/>
                </a:solidFill>
                <a:latin typeface="Courier New" pitchFamily="34" charset="0"/>
                <a:ea typeface="Courier New" pitchFamily="34" charset="-122"/>
                <a:cs typeface="Courier New" pitchFamily="34" charset="-120"/>
              </a:rPr>
              <a:t>'hash'</a:t>
            </a:r>
            <a:r>
              <a:rPr lang="en-US" sz="1000" dirty="0">
                <a:solidFill>
                  <a:srgbClr val="E6EDF3"/>
                </a:solidFill>
                <a:latin typeface="Courier New" pitchFamily="34" charset="0"/>
                <a:ea typeface="Courier New" pitchFamily="34" charset="-122"/>
                <a:cs typeface="Courier New" pitchFamily="34" charset="-120"/>
              </a:rPr>
              <a:t>], h[</a:t>
            </a:r>
            <a:r>
              <a:rPr lang="en-US" sz="1000" dirty="0">
                <a:solidFill>
                  <a:srgbClr val="9ECBFF"/>
                </a:solidFill>
                <a:latin typeface="Courier New" pitchFamily="34" charset="0"/>
                <a:ea typeface="Courier New" pitchFamily="34" charset="-122"/>
                <a:cs typeface="Courier New" pitchFamily="34" charset="-120"/>
              </a:rPr>
              <a:t>'bits'</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2918765"/>
            <a:ext cx="5074920" cy="641909"/>
          </a:xfrm>
          <a:prstGeom prst="roundRect">
            <a:avLst>
              <a:gd name="adj" fmla="val 11396"/>
            </a:avLst>
          </a:prstGeom>
          <a:solidFill>
            <a:srgbClr val="23272E"/>
          </a:solidFill>
          <a:ln w="12700">
            <a:solidFill>
              <a:srgbClr val="23272E"/>
            </a:solidFill>
            <a:prstDash val="solid"/>
          </a:ln>
        </p:spPr>
      </p:sp>
      <p:sp>
        <p:nvSpPr>
          <p:cNvPr id="11" name="Text 9"/>
          <p:cNvSpPr txBox="1"/>
          <p:nvPr/>
        </p:nvSpPr>
        <p:spPr>
          <a:xfrm>
            <a:off x="603504" y="2991917"/>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z = L.leading_zero_bits(h[</a:t>
            </a:r>
            <a:r>
              <a:rPr lang="en-US" sz="1000" dirty="0">
                <a:solidFill>
                  <a:srgbClr val="9ECBFF"/>
                </a:solidFill>
                <a:latin typeface="Courier New" pitchFamily="34" charset="0"/>
                <a:ea typeface="Courier New" pitchFamily="34" charset="-122"/>
                <a:cs typeface="Courier New" pitchFamily="34" charset="-120"/>
              </a:rPr>
              <a:t>'hash'</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(h[</a:t>
            </a:r>
            <a:r>
              <a:rPr lang="en-US" sz="1000" dirty="0">
                <a:solidFill>
                  <a:srgbClr val="9ECBFF"/>
                </a:solidFill>
                <a:latin typeface="Courier New" pitchFamily="34" charset="0"/>
                <a:ea typeface="Courier New" pitchFamily="34" charset="-122"/>
                <a:cs typeface="Courier New" pitchFamily="34" charset="-120"/>
              </a:rPr>
              <a:t>'bytes'</a:t>
            </a:r>
            <a:r>
              <a:rPr lang="en-US" sz="1000" dirty="0">
                <a:solidFill>
                  <a:srgbClr val="E6EDF3"/>
                </a:solidFill>
                <a:latin typeface="Courier New" pitchFamily="34" charset="0"/>
                <a:ea typeface="Courier New" pitchFamily="34" charset="-122"/>
                <a:cs typeface="Courier New" pitchFamily="34" charset="-120"/>
              </a:rPr>
              <a:t>], h[</a:t>
            </a:r>
            <a:r>
              <a:rPr lang="en-US" sz="1000" dirty="0">
                <a:solidFill>
                  <a:srgbClr val="9ECBFF"/>
                </a:solidFill>
                <a:latin typeface="Courier New" pitchFamily="34" charset="0"/>
                <a:ea typeface="Courier New" pitchFamily="34" charset="-122"/>
                <a:cs typeface="Courier New" pitchFamily="34" charset="-120"/>
              </a:rPr>
              <a:t>'version'</a:t>
            </a:r>
            <a:r>
              <a:rPr lang="en-US" sz="1000" dirty="0">
                <a:solidFill>
                  <a:srgbClr val="E6EDF3"/>
                </a:solidFill>
                <a:latin typeface="Courier New" pitchFamily="34" charset="0"/>
                <a:ea typeface="Courier New" pitchFamily="34" charset="-122"/>
                <a:cs typeface="Courier New" pitchFamily="34" charset="-120"/>
              </a:rPr>
              <a:t>], ok)</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(80, 536870912, True)</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665122"/>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80-byte header of a regtest block is taken apart into its six fields.</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461565"/>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hash of the header must not be larger than the target that its bits describe.</a:t>
            </a:r>
            <a:endParaRPr lang="en-US" sz="1050" dirty="0"/>
          </a:p>
        </p:txBody>
      </p:sp>
      <p:sp>
        <p:nvSpPr>
          <p:cNvPr id="18" name="Shape 16"/>
          <p:cNvSpPr/>
          <p:nvPr/>
        </p:nvSpPr>
        <p:spPr>
          <a:xfrm>
            <a:off x="365760" y="2845613"/>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845613"/>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588106"/>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Regtest has a huge target, so one zero bit of hash is enough.</a:t>
            </a:r>
            <a:endParaRPr lang="en-US" sz="1050" dirty="0"/>
          </a:p>
        </p:txBody>
      </p:sp>
      <p:sp>
        <p:nvSpPr>
          <p:cNvPr id="21" name="Text 19"/>
          <p:cNvSpPr txBox="1"/>
          <p:nvPr/>
        </p:nvSpPr>
        <p:spPr>
          <a:xfrm>
            <a:off x="457200" y="3844138"/>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its regtest record</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a regtest header taken apart</a:t>
            </a:r>
            <a:endParaRPr lang="en-US" sz="11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1600200"/>
                <a:gridCol w="1371600"/>
              </a:tblGrid>
              <a:tr h="274320">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Field</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Value</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Header size, bytes</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80</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Version</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536870912</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Bits</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207fffff</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Nonce</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Zero bits at the start</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6</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Hash not above target</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yes</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941064"/>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bits 207fffff describe a huge target, so 6 zero bits are enough on this private chain.</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valid header hashes to a number that is not above its target</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20 / 51</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A new extra nonce, a new root</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Same block, one counter changed in the coinbase</a:t>
            </a:r>
            <a:endParaRPr lang="en-US" sz="1300" dirty="0"/>
          </a:p>
        </p:txBody>
      </p:sp>
      <p:sp>
        <p:nvSpPr>
          <p:cNvPr id="6" name="Shape 4"/>
          <p:cNvSpPr/>
          <p:nvPr/>
        </p:nvSpPr>
        <p:spPr>
          <a:xfrm>
            <a:off x="457200" y="1325880"/>
            <a:ext cx="5074920" cy="311810"/>
          </a:xfrm>
          <a:prstGeom prst="roundRect">
            <a:avLst>
              <a:gd name="adj" fmla="val 23460"/>
            </a:avLst>
          </a:prstGeom>
          <a:solidFill>
            <a:srgbClr val="23272E"/>
          </a:solidFill>
          <a:ln w="12700">
            <a:solidFill>
              <a:srgbClr val="23272E"/>
            </a:solidFill>
            <a:prstDash val="solid"/>
          </a:ln>
        </p:spPr>
      </p:sp>
      <p:sp>
        <p:nvSpPr>
          <p:cNvPr id="7" name="Text 5"/>
          <p:cNvSpPr txBox="1"/>
          <p:nvPr/>
        </p:nvSpPr>
        <p:spPr>
          <a:xfrm>
            <a:off x="603504" y="139903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e = R[</a:t>
            </a:r>
            <a:r>
              <a:rPr lang="en-US" sz="1000" dirty="0">
                <a:solidFill>
                  <a:srgbClr val="9ECBFF"/>
                </a:solidFill>
                <a:latin typeface="Courier New" pitchFamily="34" charset="0"/>
                <a:ea typeface="Courier New" pitchFamily="34" charset="-122"/>
                <a:cs typeface="Courier New" pitchFamily="34" charset="-120"/>
              </a:rPr>
              <a:t>'b5_extranonce'</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122322"/>
            <a:ext cx="5074920" cy="476402"/>
          </a:xfrm>
          <a:prstGeom prst="roundRect">
            <a:avLst>
              <a:gd name="adj" fmla="val 15355"/>
            </a:avLst>
          </a:prstGeom>
          <a:solidFill>
            <a:srgbClr val="23272E"/>
          </a:solidFill>
          <a:ln w="12700">
            <a:solidFill>
              <a:srgbClr val="23272E"/>
            </a:solidFill>
            <a:prstDash val="solid"/>
          </a:ln>
        </p:spPr>
      </p:sp>
      <p:sp>
        <p:nvSpPr>
          <p:cNvPr id="9" name="Text 7"/>
          <p:cNvSpPr txBox="1"/>
          <p:nvPr/>
        </p:nvSpPr>
        <p:spPr>
          <a:xfrm>
            <a:off x="603504" y="2195474"/>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t1, t2 = e[</a:t>
            </a:r>
            <a:r>
              <a:rPr lang="en-US" sz="1000" dirty="0">
                <a:solidFill>
                  <a:srgbClr val="9ECBFF"/>
                </a:solidFill>
                <a:latin typeface="Courier New" pitchFamily="34" charset="0"/>
                <a:ea typeface="Courier New" pitchFamily="34" charset="-122"/>
                <a:cs typeface="Courier New" pitchFamily="34" charset="-120"/>
              </a:rPr>
              <a:t>'coinbase_txid_1'</a:t>
            </a:r>
            <a:r>
              <a:rPr lang="en-US" sz="1000" dirty="0">
                <a:solidFill>
                  <a:srgbClr val="E6EDF3"/>
                </a:solidFill>
                <a:latin typeface="Courier New" pitchFamily="34" charset="0"/>
                <a:ea typeface="Courier New" pitchFamily="34" charset="-122"/>
                <a:cs typeface="Courier New" pitchFamily="34" charset="-120"/>
              </a:rPr>
              <a:t>], e[</a:t>
            </a:r>
            <a:r>
              <a:rPr lang="en-US" sz="1000" dirty="0">
                <a:solidFill>
                  <a:srgbClr val="9ECBFF"/>
                </a:solidFill>
                <a:latin typeface="Courier New" pitchFamily="34" charset="0"/>
                <a:ea typeface="Courier New" pitchFamily="34" charset="-122"/>
                <a:cs typeface="Courier New" pitchFamily="34" charset="-120"/>
              </a:rPr>
              <a:t>'coinbase_txid_2'</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m1, m2 = e[</a:t>
            </a:r>
            <a:r>
              <a:rPr lang="en-US" sz="1000" dirty="0">
                <a:solidFill>
                  <a:srgbClr val="9ECBFF"/>
                </a:solidFill>
                <a:latin typeface="Courier New" pitchFamily="34" charset="0"/>
                <a:ea typeface="Courier New" pitchFamily="34" charset="-122"/>
                <a:cs typeface="Courier New" pitchFamily="34" charset="-120"/>
              </a:rPr>
              <a:t>'merkle_1'</a:t>
            </a:r>
            <a:r>
              <a:rPr lang="en-US" sz="1000" dirty="0">
                <a:solidFill>
                  <a:srgbClr val="E6EDF3"/>
                </a:solidFill>
                <a:latin typeface="Courier New" pitchFamily="34" charset="0"/>
                <a:ea typeface="Courier New" pitchFamily="34" charset="-122"/>
                <a:cs typeface="Courier New" pitchFamily="34" charset="-120"/>
              </a:rPr>
              <a:t>], e[</a:t>
            </a:r>
            <a:r>
              <a:rPr lang="en-US" sz="1000" dirty="0">
                <a:solidFill>
                  <a:srgbClr val="9ECBFF"/>
                </a:solidFill>
                <a:latin typeface="Courier New" pitchFamily="34" charset="0"/>
                <a:ea typeface="Courier New" pitchFamily="34" charset="-122"/>
                <a:cs typeface="Courier New" pitchFamily="34" charset="-120"/>
              </a:rPr>
              <a:t>'merkle_2'</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3083357"/>
            <a:ext cx="5074920" cy="641909"/>
          </a:xfrm>
          <a:prstGeom prst="roundRect">
            <a:avLst>
              <a:gd name="adj" fmla="val 11396"/>
            </a:avLst>
          </a:prstGeom>
          <a:solidFill>
            <a:srgbClr val="23272E"/>
          </a:solidFill>
          <a:ln w="12700">
            <a:solidFill>
              <a:srgbClr val="23272E"/>
            </a:solidFill>
            <a:prstDash val="solid"/>
          </a:ln>
        </p:spPr>
      </p:sp>
      <p:sp>
        <p:nvSpPr>
          <p:cNvPr id="11" name="Text 9"/>
          <p:cNvSpPr txBox="1"/>
          <p:nvPr/>
        </p:nvSpPr>
        <p:spPr>
          <a:xfrm>
            <a:off x="603504" y="3156509"/>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n1, n2 = e[</a:t>
            </a:r>
            <a:r>
              <a:rPr lang="en-US" sz="1000" dirty="0">
                <a:solidFill>
                  <a:srgbClr val="9ECBFF"/>
                </a:solidFill>
                <a:latin typeface="Courier New" pitchFamily="34" charset="0"/>
                <a:ea typeface="Courier New" pitchFamily="34" charset="-122"/>
                <a:cs typeface="Courier New" pitchFamily="34" charset="-120"/>
              </a:rPr>
              <a:t>'nonce_1'</a:t>
            </a:r>
            <a:r>
              <a:rPr lang="en-US" sz="1000" dirty="0">
                <a:solidFill>
                  <a:srgbClr val="E6EDF3"/>
                </a:solidFill>
                <a:latin typeface="Courier New" pitchFamily="34" charset="0"/>
                <a:ea typeface="Courier New" pitchFamily="34" charset="-122"/>
                <a:cs typeface="Courier New" pitchFamily="34" charset="-120"/>
              </a:rPr>
              <a:t>], e[</a:t>
            </a:r>
            <a:r>
              <a:rPr lang="en-US" sz="1000" dirty="0">
                <a:solidFill>
                  <a:srgbClr val="9ECBFF"/>
                </a:solidFill>
                <a:latin typeface="Courier New" pitchFamily="34" charset="0"/>
                <a:ea typeface="Courier New" pitchFamily="34" charset="-122"/>
                <a:cs typeface="Courier New" pitchFamily="34" charset="-120"/>
              </a:rPr>
              <a:t>'nonce_2'</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(t1 != t2, m1 != m2, n1 == n2)</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(True, True, True)</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665122"/>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miner built the same block twice, changing only a counter in the coinbase script.</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626157"/>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coinbase transaction id differs, so the merkle root differs as well.</a:t>
            </a:r>
            <a:endParaRPr lang="en-US" sz="1050" dirty="0"/>
          </a:p>
        </p:txBody>
      </p:sp>
      <p:sp>
        <p:nvSpPr>
          <p:cNvPr id="18" name="Shape 16"/>
          <p:cNvSpPr/>
          <p:nvPr/>
        </p:nvSpPr>
        <p:spPr>
          <a:xfrm>
            <a:off x="365760" y="3010205"/>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3010205"/>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752698"/>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nonce in the header is the same in both, but the header hash is not.</a:t>
            </a:r>
            <a:endParaRPr lang="en-US" sz="1050" dirty="0"/>
          </a:p>
        </p:txBody>
      </p:sp>
      <p:sp>
        <p:nvSpPr>
          <p:cNvPr id="21" name="Text 19"/>
          <p:cNvSpPr txBox="1"/>
          <p:nvPr/>
        </p:nvSpPr>
        <p:spPr>
          <a:xfrm>
            <a:off x="457200" y="4173322"/>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its regtest record</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the same block, two extra nonces</a:t>
            </a:r>
            <a:endParaRPr lang="en-US" sz="11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1920240"/>
                <a:gridCol w="105156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Observation</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Result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Coinbase id differs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Merkle root differs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Header nonce is the same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Header hash differs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419856"/>
            <a:ext cx="2971800" cy="42062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Only the counter in the coinbase changed, yet the header is new.</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header's nonce stays, yet the hash is new: a fresh search space</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21 / 51</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Proof of work</a:t>
            </a:r>
            <a:endParaRPr lang="en-US" sz="3200" dirty="0"/>
          </a:p>
        </p:txBody>
      </p:sp>
      <p:sp>
        <p:nvSpPr>
          <p:cNvPr id="5" name="Text 3"/>
          <p:cNvSpPr txBox="1"/>
          <p:nvPr/>
        </p:nvSpPr>
        <p:spPr>
          <a:xfrm>
            <a:off x="777240" y="1645920"/>
            <a:ext cx="7863840" cy="384048"/>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Proof of work is a lottery whose tickets are costly to draw and cheap to check.</a:t>
            </a:r>
            <a:endParaRPr lang="en-US" sz="1500" dirty="0"/>
          </a:p>
        </p:txBody>
      </p:sp>
      <p:sp>
        <p:nvSpPr>
          <p:cNvPr id="6" name="Shape 4"/>
          <p:cNvSpPr/>
          <p:nvPr/>
        </p:nvSpPr>
        <p:spPr>
          <a:xfrm>
            <a:off x="777240" y="2103120"/>
            <a:ext cx="2499360" cy="310896"/>
          </a:xfrm>
          <a:prstGeom prst="roundRect">
            <a:avLst>
              <a:gd name="adj" fmla="val 50000"/>
            </a:avLst>
          </a:prstGeom>
          <a:solidFill>
            <a:srgbClr val="D97A14"/>
          </a:solidFill>
          <a:ln w="12700">
            <a:solidFill>
              <a:srgbClr val="D97A14"/>
            </a:solidFill>
            <a:prstDash val="solid"/>
          </a:ln>
        </p:spPr>
      </p:sp>
      <p:sp>
        <p:nvSpPr>
          <p:cNvPr id="7" name="Text 5"/>
          <p:cNvSpPr txBox="1"/>
          <p:nvPr/>
        </p:nvSpPr>
        <p:spPr>
          <a:xfrm>
            <a:off x="85039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The nonce lottery</a:t>
            </a:r>
            <a:endParaRPr lang="en-US" sz="1200" dirty="0"/>
          </a:p>
        </p:txBody>
      </p:sp>
      <p:sp>
        <p:nvSpPr>
          <p:cNvPr id="8" name="Text 6"/>
          <p:cNvSpPr txBox="1"/>
          <p:nvPr/>
        </p:nvSpPr>
        <p:spPr>
          <a:xfrm>
            <a:off x="777240" y="2487168"/>
            <a:ext cx="2499360" cy="571500"/>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Try numbers until the hash falls under the target; checking takes one hash.</a:t>
            </a:r>
            <a:endParaRPr lang="en-US" sz="1150" dirty="0"/>
          </a:p>
        </p:txBody>
      </p:sp>
      <p:sp>
        <p:nvSpPr>
          <p:cNvPr id="9" name="Text 7"/>
          <p:cNvSpPr txBox="1"/>
          <p:nvPr/>
        </p:nvSpPr>
        <p:spPr>
          <a:xfrm>
            <a:off x="777240" y="3086100"/>
            <a:ext cx="249936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rolling dice until a six.</a:t>
            </a:r>
            <a:endParaRPr lang="en-US" sz="1150" dirty="0"/>
          </a:p>
        </p:txBody>
      </p:sp>
      <p:sp>
        <p:nvSpPr>
          <p:cNvPr id="10" name="Shape 8"/>
          <p:cNvSpPr/>
          <p:nvPr/>
        </p:nvSpPr>
        <p:spPr>
          <a:xfrm>
            <a:off x="3459480" y="2103120"/>
            <a:ext cx="2499360" cy="310896"/>
          </a:xfrm>
          <a:prstGeom prst="roundRect">
            <a:avLst>
              <a:gd name="adj" fmla="val 50000"/>
            </a:avLst>
          </a:prstGeom>
          <a:solidFill>
            <a:srgbClr val="D97A14"/>
          </a:solidFill>
          <a:ln w="12700">
            <a:solidFill>
              <a:srgbClr val="D97A14"/>
            </a:solidFill>
            <a:prstDash val="solid"/>
          </a:ln>
        </p:spPr>
      </p:sp>
      <p:sp>
        <p:nvSpPr>
          <p:cNvPr id="11" name="Text 9"/>
          <p:cNvSpPr txBox="1"/>
          <p:nvPr/>
        </p:nvSpPr>
        <p:spPr>
          <a:xfrm>
            <a:off x="353263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Target and difficulty</a:t>
            </a:r>
            <a:endParaRPr lang="en-US" sz="1200" dirty="0"/>
          </a:p>
        </p:txBody>
      </p:sp>
      <p:sp>
        <p:nvSpPr>
          <p:cNvPr id="12" name="Text 10"/>
          <p:cNvSpPr txBox="1"/>
          <p:nvPr/>
        </p:nvSpPr>
        <p:spPr>
          <a:xfrm>
            <a:off x="3459480" y="2487168"/>
            <a:ext cx="2499360" cy="571500"/>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A four-byte code holds the target; difficulty says how small it is.</a:t>
            </a:r>
            <a:endParaRPr lang="en-US" sz="1150" dirty="0"/>
          </a:p>
        </p:txBody>
      </p:sp>
      <p:sp>
        <p:nvSpPr>
          <p:cNvPr id="13" name="Text 11"/>
          <p:cNvSpPr txBox="1"/>
          <p:nvPr/>
        </p:nvSpPr>
        <p:spPr>
          <a:xfrm>
            <a:off x="3459480" y="3086100"/>
            <a:ext cx="249936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height of a limbo bar.</a:t>
            </a:r>
            <a:endParaRPr lang="en-US" sz="1150" dirty="0"/>
          </a:p>
        </p:txBody>
      </p:sp>
      <p:sp>
        <p:nvSpPr>
          <p:cNvPr id="14" name="Shape 12"/>
          <p:cNvSpPr/>
          <p:nvPr/>
        </p:nvSpPr>
        <p:spPr>
          <a:xfrm>
            <a:off x="6141720" y="2103120"/>
            <a:ext cx="2499360" cy="310896"/>
          </a:xfrm>
          <a:prstGeom prst="roundRect">
            <a:avLst>
              <a:gd name="adj" fmla="val 50000"/>
            </a:avLst>
          </a:prstGeom>
          <a:solidFill>
            <a:srgbClr val="D97A14"/>
          </a:solidFill>
          <a:ln w="12700">
            <a:solidFill>
              <a:srgbClr val="D97A14"/>
            </a:solidFill>
            <a:prstDash val="solid"/>
          </a:ln>
        </p:spPr>
      </p:sp>
      <p:sp>
        <p:nvSpPr>
          <p:cNvPr id="15" name="Text 13"/>
          <p:cNvSpPr txBox="1"/>
          <p:nvPr/>
        </p:nvSpPr>
        <p:spPr>
          <a:xfrm>
            <a:off x="621487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Retargeting</a:t>
            </a:r>
            <a:endParaRPr lang="en-US" sz="1200" dirty="0"/>
          </a:p>
        </p:txBody>
      </p:sp>
      <p:sp>
        <p:nvSpPr>
          <p:cNvPr id="16" name="Text 14"/>
          <p:cNvSpPr txBox="1"/>
          <p:nvPr/>
        </p:nvSpPr>
        <p:spPr>
          <a:xfrm>
            <a:off x="6141720" y="2487168"/>
            <a:ext cx="2499360" cy="571500"/>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Every 2,016 blocks the target is scaled so blocks keep coming every ten minutes.</a:t>
            </a:r>
            <a:endParaRPr lang="en-US" sz="1150" dirty="0"/>
          </a:p>
        </p:txBody>
      </p:sp>
      <p:sp>
        <p:nvSpPr>
          <p:cNvPr id="17" name="Text 15"/>
          <p:cNvSpPr txBox="1"/>
          <p:nvPr/>
        </p:nvSpPr>
        <p:spPr>
          <a:xfrm>
            <a:off x="6141720" y="3086100"/>
            <a:ext cx="249936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thermostat for the pace of the lottery.</a:t>
            </a:r>
            <a:endParaRPr lang="en-US" sz="115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777240" y="3950208"/>
          <a:ext cx="7863840" cy="914400"/>
        </p:xfrm>
        <a:graphic>
          <a:graphicData uri="http://schemas.openxmlformats.org/drawingml/2006/table">
            <a:tbl>
              <a:tblPr/>
              <a:tblGrid>
                <a:gridCol w="1310335"/>
                <a:gridCol w="1310335"/>
                <a:gridCol w="1310335"/>
                <a:gridCol w="1310335"/>
                <a:gridCol w="1310335"/>
                <a:gridCol w="1310335"/>
              </a:tblGrid>
              <a:tr h="365760">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Money</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Verify</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Block</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Work</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Rivals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Rules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r>
            </a:tbl>
          </a:graphicData>
        </a:graphic>
      </p:graphicFrame>
      <p:sp>
        <p:nvSpPr>
          <p:cNvPr id="19"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22 / 51</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Proof of work: key concepts (1 of 2)</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2645664" cy="1378001"/>
          </a:xfrm>
          <a:prstGeom prst="roundRect">
            <a:avLst>
              <a:gd name="adj" fmla="val 5309"/>
            </a:avLst>
          </a:prstGeom>
          <a:solidFill>
            <a:srgbClr val="F2ECE1"/>
          </a:solidFill>
          <a:ln w="12700">
            <a:solidFill>
              <a:srgbClr val="DFD6C7"/>
            </a:solidFill>
            <a:prstDash val="solid"/>
          </a:ln>
        </p:spPr>
      </p:sp>
      <p:sp>
        <p:nvSpPr>
          <p:cNvPr id="7" name="Shape 5"/>
          <p:cNvSpPr/>
          <p:nvPr/>
        </p:nvSpPr>
        <p:spPr>
          <a:xfrm>
            <a:off x="475488" y="1408176"/>
            <a:ext cx="64008" cy="1121969"/>
          </a:xfrm>
          <a:prstGeom prst="rect">
            <a:avLst/>
          </a:prstGeom>
          <a:solidFill>
            <a:srgbClr val="D97A14"/>
          </a:solidFill>
          <a:ln w="12700">
            <a:solidFill>
              <a:srgbClr val="D97A14"/>
            </a:solidFill>
            <a:prstDash val="solid"/>
          </a:ln>
        </p:spPr>
      </p:sp>
      <p:sp>
        <p:nvSpPr>
          <p:cNvPr id="8" name="Text 6"/>
          <p:cNvSpPr txBox="1"/>
          <p:nvPr/>
        </p:nvSpPr>
        <p:spPr>
          <a:xfrm>
            <a:off x="640080" y="1344168"/>
            <a:ext cx="2371344" cy="697687"/>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The Hello World nonce</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Hash a text with a counter added, again and again, until the hash starts with zeros.</a:t>
            </a:r>
            <a:endParaRPr lang="en-US" sz="1150" dirty="0"/>
          </a:p>
        </p:txBody>
      </p:sp>
      <p:sp>
        <p:nvSpPr>
          <p:cNvPr id="9" name="Text 7"/>
          <p:cNvSpPr txBox="1"/>
          <p:nvPr/>
        </p:nvSpPr>
        <p:spPr>
          <a:xfrm>
            <a:off x="640080" y="2069287"/>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rolling a die until a six turns up.</a:t>
            </a:r>
            <a:endParaRPr lang="en-US" sz="1000" dirty="0"/>
          </a:p>
        </p:txBody>
      </p:sp>
      <p:sp>
        <p:nvSpPr>
          <p:cNvPr id="10" name="Shape 8"/>
          <p:cNvSpPr/>
          <p:nvPr/>
        </p:nvSpPr>
        <p:spPr>
          <a:xfrm>
            <a:off x="3249168" y="1280160"/>
            <a:ext cx="2645664" cy="1378001"/>
          </a:xfrm>
          <a:prstGeom prst="roundRect">
            <a:avLst>
              <a:gd name="adj" fmla="val 5309"/>
            </a:avLst>
          </a:prstGeom>
          <a:solidFill>
            <a:srgbClr val="F2ECE1"/>
          </a:solidFill>
          <a:ln w="12700">
            <a:solidFill>
              <a:srgbClr val="DFD6C7"/>
            </a:solidFill>
            <a:prstDash val="solid"/>
          </a:ln>
        </p:spPr>
      </p:sp>
      <p:sp>
        <p:nvSpPr>
          <p:cNvPr id="11" name="Shape 9"/>
          <p:cNvSpPr/>
          <p:nvPr/>
        </p:nvSpPr>
        <p:spPr>
          <a:xfrm>
            <a:off x="3267456" y="1408176"/>
            <a:ext cx="64008" cy="1121969"/>
          </a:xfrm>
          <a:prstGeom prst="rect">
            <a:avLst/>
          </a:prstGeom>
          <a:solidFill>
            <a:srgbClr val="D97A14"/>
          </a:solidFill>
          <a:ln w="12700">
            <a:solidFill>
              <a:srgbClr val="D97A14"/>
            </a:solidFill>
            <a:prstDash val="solid"/>
          </a:ln>
        </p:spPr>
      </p:sp>
      <p:sp>
        <p:nvSpPr>
          <p:cNvPr id="12" name="Text 10"/>
          <p:cNvSpPr txBox="1"/>
          <p:nvPr/>
        </p:nvSpPr>
        <p:spPr>
          <a:xfrm>
            <a:off x="3432048" y="1344168"/>
            <a:ext cx="2371344" cy="697687"/>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Proof is cheap to check</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Finding a valid header takes billions of hashes, and checking it takes one.</a:t>
            </a:r>
            <a:endParaRPr lang="en-US" sz="1150" dirty="0"/>
          </a:p>
        </p:txBody>
      </p:sp>
      <p:sp>
        <p:nvSpPr>
          <p:cNvPr id="13" name="Text 11"/>
          <p:cNvSpPr txBox="1"/>
          <p:nvPr/>
        </p:nvSpPr>
        <p:spPr>
          <a:xfrm>
            <a:off x="3432048" y="2069287"/>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a jigsaw piece: hard to find, easy to see that it fits.</a:t>
            </a:r>
            <a:endParaRPr lang="en-US" sz="1000" dirty="0"/>
          </a:p>
        </p:txBody>
      </p:sp>
      <p:sp>
        <p:nvSpPr>
          <p:cNvPr id="14" name="Shape 12"/>
          <p:cNvSpPr/>
          <p:nvPr/>
        </p:nvSpPr>
        <p:spPr>
          <a:xfrm>
            <a:off x="6041136" y="1280160"/>
            <a:ext cx="2645664" cy="1378001"/>
          </a:xfrm>
          <a:prstGeom prst="roundRect">
            <a:avLst>
              <a:gd name="adj" fmla="val 5309"/>
            </a:avLst>
          </a:prstGeom>
          <a:solidFill>
            <a:srgbClr val="F2ECE1"/>
          </a:solidFill>
          <a:ln w="12700">
            <a:solidFill>
              <a:srgbClr val="DFD6C7"/>
            </a:solidFill>
            <a:prstDash val="solid"/>
          </a:ln>
        </p:spPr>
      </p:sp>
      <p:sp>
        <p:nvSpPr>
          <p:cNvPr id="15" name="Shape 13"/>
          <p:cNvSpPr/>
          <p:nvPr/>
        </p:nvSpPr>
        <p:spPr>
          <a:xfrm>
            <a:off x="6059424" y="1408176"/>
            <a:ext cx="64008" cy="1121969"/>
          </a:xfrm>
          <a:prstGeom prst="rect">
            <a:avLst/>
          </a:prstGeom>
          <a:solidFill>
            <a:srgbClr val="D97A14"/>
          </a:solidFill>
          <a:ln w="12700">
            <a:solidFill>
              <a:srgbClr val="D97A14"/>
            </a:solidFill>
            <a:prstDash val="solid"/>
          </a:ln>
        </p:spPr>
      </p:sp>
      <p:sp>
        <p:nvSpPr>
          <p:cNvPr id="16" name="Text 14"/>
          <p:cNvSpPr txBox="1"/>
          <p:nvPr/>
        </p:nvSpPr>
        <p:spPr>
          <a:xfrm>
            <a:off x="6224016" y="1344168"/>
            <a:ext cx="2371344" cy="697687"/>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Hash below target</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A header is valid when its hash, read as a number, is not above the target.</a:t>
            </a:r>
            <a:endParaRPr lang="en-US" sz="1150" dirty="0"/>
          </a:p>
        </p:txBody>
      </p:sp>
      <p:sp>
        <p:nvSpPr>
          <p:cNvPr id="17" name="Text 15"/>
          <p:cNvSpPr txBox="1"/>
          <p:nvPr/>
        </p:nvSpPr>
        <p:spPr>
          <a:xfrm>
            <a:off x="6224016" y="2069287"/>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a limbo bar that the hash must pass under.</a:t>
            </a:r>
            <a:endParaRPr lang="en-US" sz="1000" dirty="0"/>
          </a:p>
        </p:txBody>
      </p:sp>
      <p:sp>
        <p:nvSpPr>
          <p:cNvPr id="18" name="Shape 16"/>
          <p:cNvSpPr/>
          <p:nvPr/>
        </p:nvSpPr>
        <p:spPr>
          <a:xfrm>
            <a:off x="457200" y="2786177"/>
            <a:ext cx="2645664" cy="1378001"/>
          </a:xfrm>
          <a:prstGeom prst="roundRect">
            <a:avLst>
              <a:gd name="adj" fmla="val 5309"/>
            </a:avLst>
          </a:prstGeom>
          <a:solidFill>
            <a:srgbClr val="F2ECE1"/>
          </a:solidFill>
          <a:ln w="12700">
            <a:solidFill>
              <a:srgbClr val="DFD6C7"/>
            </a:solidFill>
            <a:prstDash val="solid"/>
          </a:ln>
        </p:spPr>
      </p:sp>
      <p:sp>
        <p:nvSpPr>
          <p:cNvPr id="19" name="Shape 17"/>
          <p:cNvSpPr/>
          <p:nvPr/>
        </p:nvSpPr>
        <p:spPr>
          <a:xfrm>
            <a:off x="475488" y="2914193"/>
            <a:ext cx="64008" cy="1121969"/>
          </a:xfrm>
          <a:prstGeom prst="rect">
            <a:avLst/>
          </a:prstGeom>
          <a:solidFill>
            <a:srgbClr val="D97A14"/>
          </a:solidFill>
          <a:ln w="12700">
            <a:solidFill>
              <a:srgbClr val="D97A14"/>
            </a:solidFill>
            <a:prstDash val="solid"/>
          </a:ln>
        </p:spPr>
      </p:sp>
      <p:sp>
        <p:nvSpPr>
          <p:cNvPr id="20" name="Text 18"/>
          <p:cNvSpPr txBox="1"/>
          <p:nvPr/>
        </p:nvSpPr>
        <p:spPr>
          <a:xfrm>
            <a:off x="640080" y="2850185"/>
            <a:ext cx="2371344" cy="697687"/>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Compact bits</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The target is stored in four bytes: one for the size and three for the digits.</a:t>
            </a:r>
            <a:endParaRPr lang="en-US" sz="1150" dirty="0"/>
          </a:p>
        </p:txBody>
      </p:sp>
      <p:sp>
        <p:nvSpPr>
          <p:cNvPr id="21" name="Text 19"/>
          <p:cNvSpPr txBox="1"/>
          <p:nvPr/>
        </p:nvSpPr>
        <p:spPr>
          <a:xfrm>
            <a:off x="640080" y="3575304"/>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scientific notation for a huge number.</a:t>
            </a:r>
            <a:endParaRPr lang="en-US" sz="1000" dirty="0"/>
          </a:p>
        </p:txBody>
      </p:sp>
      <p:sp>
        <p:nvSpPr>
          <p:cNvPr id="22" name="Shape 20"/>
          <p:cNvSpPr/>
          <p:nvPr/>
        </p:nvSpPr>
        <p:spPr>
          <a:xfrm>
            <a:off x="3249168" y="2786177"/>
            <a:ext cx="2645664" cy="1378001"/>
          </a:xfrm>
          <a:prstGeom prst="roundRect">
            <a:avLst>
              <a:gd name="adj" fmla="val 5309"/>
            </a:avLst>
          </a:prstGeom>
          <a:solidFill>
            <a:srgbClr val="F2ECE1"/>
          </a:solidFill>
          <a:ln w="12700">
            <a:solidFill>
              <a:srgbClr val="DFD6C7"/>
            </a:solidFill>
            <a:prstDash val="solid"/>
          </a:ln>
        </p:spPr>
      </p:sp>
      <p:sp>
        <p:nvSpPr>
          <p:cNvPr id="23" name="Shape 21"/>
          <p:cNvSpPr/>
          <p:nvPr/>
        </p:nvSpPr>
        <p:spPr>
          <a:xfrm>
            <a:off x="3267456" y="2914193"/>
            <a:ext cx="64008" cy="1121969"/>
          </a:xfrm>
          <a:prstGeom prst="rect">
            <a:avLst/>
          </a:prstGeom>
          <a:solidFill>
            <a:srgbClr val="D97A14"/>
          </a:solidFill>
          <a:ln w="12700">
            <a:solidFill>
              <a:srgbClr val="D97A14"/>
            </a:solidFill>
            <a:prstDash val="solid"/>
          </a:ln>
        </p:spPr>
      </p:sp>
      <p:sp>
        <p:nvSpPr>
          <p:cNvPr id="24" name="Text 22"/>
          <p:cNvSpPr txBox="1"/>
          <p:nvPr/>
        </p:nvSpPr>
        <p:spPr>
          <a:xfrm>
            <a:off x="3432048" y="2850185"/>
            <a:ext cx="2371344" cy="875995"/>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The wait of a terahash miner</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At the difficulty of block 277,316 a miner doing one terahash a second waited about 59 days.</a:t>
            </a:r>
            <a:endParaRPr lang="en-US" sz="1150" dirty="0"/>
          </a:p>
        </p:txBody>
      </p:sp>
      <p:sp>
        <p:nvSpPr>
          <p:cNvPr id="25" name="Text 23"/>
          <p:cNvSpPr txBox="1"/>
          <p:nvPr/>
        </p:nvSpPr>
        <p:spPr>
          <a:xfrm>
            <a:off x="3432048" y="3753612"/>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one person with a single ticket in a national lottery.</a:t>
            </a:r>
            <a:endParaRPr lang="en-US" sz="1000" dirty="0"/>
          </a:p>
        </p:txBody>
      </p:sp>
      <p:sp>
        <p:nvSpPr>
          <p:cNvPr id="26" name="Shape 24"/>
          <p:cNvSpPr/>
          <p:nvPr/>
        </p:nvSpPr>
        <p:spPr>
          <a:xfrm>
            <a:off x="6041136" y="2786177"/>
            <a:ext cx="2645664" cy="1378001"/>
          </a:xfrm>
          <a:prstGeom prst="roundRect">
            <a:avLst>
              <a:gd name="adj" fmla="val 5309"/>
            </a:avLst>
          </a:prstGeom>
          <a:solidFill>
            <a:srgbClr val="F2ECE1"/>
          </a:solidFill>
          <a:ln w="12700">
            <a:solidFill>
              <a:srgbClr val="DFD6C7"/>
            </a:solidFill>
            <a:prstDash val="solid"/>
          </a:ln>
        </p:spPr>
      </p:sp>
      <p:sp>
        <p:nvSpPr>
          <p:cNvPr id="27" name="Shape 25"/>
          <p:cNvSpPr/>
          <p:nvPr/>
        </p:nvSpPr>
        <p:spPr>
          <a:xfrm>
            <a:off x="6059424" y="2914193"/>
            <a:ext cx="64008" cy="1121969"/>
          </a:xfrm>
          <a:prstGeom prst="rect">
            <a:avLst/>
          </a:prstGeom>
          <a:solidFill>
            <a:srgbClr val="D97A14"/>
          </a:solidFill>
          <a:ln w="12700">
            <a:solidFill>
              <a:srgbClr val="D97A14"/>
            </a:solidFill>
            <a:prstDash val="solid"/>
          </a:ln>
        </p:spPr>
      </p:sp>
      <p:sp>
        <p:nvSpPr>
          <p:cNvPr id="28" name="Text 26"/>
          <p:cNvSpPr txBox="1"/>
          <p:nvPr/>
        </p:nvSpPr>
        <p:spPr>
          <a:xfrm>
            <a:off x="6224016" y="2850185"/>
            <a:ext cx="2371344" cy="697687"/>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Hash rate from difficulty</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Difficulty times 2 to the 32, over 600 seconds, estimates the hashes a second of the network.</a:t>
            </a:r>
            <a:endParaRPr lang="en-US" sz="1150" dirty="0"/>
          </a:p>
        </p:txBody>
      </p:sp>
      <p:sp>
        <p:nvSpPr>
          <p:cNvPr id="29" name="Text 27"/>
          <p:cNvSpPr txBox="1"/>
          <p:nvPr/>
        </p:nvSpPr>
        <p:spPr>
          <a:xfrm>
            <a:off x="6224016" y="3575304"/>
            <a:ext cx="2371344" cy="501091"/>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guessing the size of a crowd from the effort needed to get in.</a:t>
            </a:r>
            <a:endParaRPr lang="en-US" sz="1000" dirty="0"/>
          </a:p>
        </p:txBody>
      </p:sp>
      <p:sp>
        <p:nvSpPr>
          <p:cNvPr id="30" name="Shape 28"/>
          <p:cNvSpPr/>
          <p:nvPr/>
        </p:nvSpPr>
        <p:spPr>
          <a:xfrm>
            <a:off x="457200" y="4636008"/>
            <a:ext cx="91440" cy="310896"/>
          </a:xfrm>
          <a:prstGeom prst="rect">
            <a:avLst/>
          </a:prstGeom>
          <a:solidFill>
            <a:srgbClr val="D97A14"/>
          </a:solidFill>
          <a:ln w="12700">
            <a:solidFill>
              <a:srgbClr val="D97A14"/>
            </a:solidFill>
            <a:prstDash val="solid"/>
          </a:ln>
        </p:spPr>
      </p:sp>
      <p:sp>
        <p:nvSpPr>
          <p:cNvPr id="31" name="Text 2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32" name="Text 3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23 / 51</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Proof of work is a nonce lottery</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Hello, world! with a counter, and the tries for each zero</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lo = hw(</a:t>
            </a:r>
            <a:r>
              <a:rPr lang="en-US" sz="1000" dirty="0">
                <a:solidFill>
                  <a:srgbClr val="FFD28A"/>
                </a:solidFill>
                <a:latin typeface="Courier New" pitchFamily="34" charset="0"/>
                <a:ea typeface="Courier New" pitchFamily="34" charset="-122"/>
                <a:cs typeface="Courier New" pitchFamily="34" charset="-120"/>
              </a:rPr>
              <a:t>32</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FFD28A"/>
                </a:solidFill>
                <a:latin typeface="Courier New" pitchFamily="34" charset="0"/>
                <a:ea typeface="Courier New" pitchFamily="34" charset="-122"/>
                <a:cs typeface="Courier New" pitchFamily="34" charset="-120"/>
              </a:rPr>
              <a:t>8</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up = hw(</a:t>
            </a:r>
            <a:r>
              <a:rPr lang="en-US" sz="1000" dirty="0">
                <a:solidFill>
                  <a:srgbClr val="FFD28A"/>
                </a:solidFill>
                <a:latin typeface="Courier New" pitchFamily="34" charset="0"/>
                <a:ea typeface="Courier New" pitchFamily="34" charset="-122"/>
                <a:cs typeface="Courier New" pitchFamily="34" charset="-120"/>
              </a:rPr>
              <a:t>32</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9ECBFF"/>
                </a:solidFill>
                <a:latin typeface="Courier New" pitchFamily="34" charset="0"/>
                <a:ea typeface="Courier New" pitchFamily="34" charset="-122"/>
                <a:cs typeface="Courier New" pitchFamily="34" charset="-120"/>
              </a:rPr>
              <a:t>'W'</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FFD28A"/>
                </a:solidFill>
                <a:latin typeface="Courier New" pitchFamily="34" charset="0"/>
                <a:ea typeface="Courier New" pitchFamily="34" charset="-122"/>
                <a:cs typeface="Courier New" pitchFamily="34" charset="-120"/>
              </a:rPr>
              <a:t>8</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286914"/>
            <a:ext cx="5074920" cy="641909"/>
          </a:xfrm>
          <a:prstGeom prst="roundRect">
            <a:avLst>
              <a:gd name="adj" fmla="val 11396"/>
            </a:avLst>
          </a:prstGeom>
          <a:solidFill>
            <a:srgbClr val="23272E"/>
          </a:solidFill>
          <a:ln w="12700">
            <a:solidFill>
              <a:srgbClr val="23272E"/>
            </a:solidFill>
            <a:prstDash val="solid"/>
          </a:ln>
        </p:spPr>
      </p:sp>
      <p:sp>
        <p:nvSpPr>
          <p:cNvPr id="9" name="Text 7"/>
          <p:cNvSpPr txBox="1"/>
          <p:nvPr/>
        </p:nvSpPr>
        <p:spPr>
          <a:xfrm>
            <a:off x="603504" y="2360066"/>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ns = range(</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10</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6</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ok = </a:t>
            </a:r>
            <a:r>
              <a:rPr lang="en-US" sz="1000" b="1" dirty="0">
                <a:solidFill>
                  <a:srgbClr val="F2A860"/>
                </a:solidFill>
                <a:latin typeface="Courier New" pitchFamily="34" charset="0"/>
                <a:ea typeface="Courier New" pitchFamily="34" charset="-122"/>
                <a:cs typeface="Courier New" pitchFamily="34" charset="-120"/>
              </a:rPr>
              <a:t>lambda</a:t>
            </a:r>
            <a:r>
              <a:rPr lang="en-US" sz="1000" dirty="0">
                <a:solidFill>
                  <a:srgbClr val="E6EDF3"/>
                </a:solidFill>
                <a:latin typeface="Courier New" pitchFamily="34" charset="0"/>
                <a:ea typeface="Courier New" pitchFamily="34" charset="-122"/>
                <a:cs typeface="Courier New" pitchFamily="34" charset="-120"/>
              </a:rPr>
              <a:t> n, z: hw(n).startswith(</a:t>
            </a:r>
            <a:r>
              <a:rPr lang="en-US" sz="1000" dirty="0">
                <a:solidFill>
                  <a:srgbClr val="9ECBFF"/>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 * z)</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f = </a:t>
            </a:r>
            <a:r>
              <a:rPr lang="en-US" sz="1000" b="1" dirty="0">
                <a:solidFill>
                  <a:srgbClr val="F2A860"/>
                </a:solidFill>
                <a:latin typeface="Courier New" pitchFamily="34" charset="0"/>
                <a:ea typeface="Courier New" pitchFamily="34" charset="-122"/>
                <a:cs typeface="Courier New" pitchFamily="34" charset="-120"/>
              </a:rPr>
              <a:t>lambda</a:t>
            </a:r>
            <a:r>
              <a:rPr lang="en-US" sz="1000" dirty="0">
                <a:solidFill>
                  <a:srgbClr val="E6EDF3"/>
                </a:solidFill>
                <a:latin typeface="Courier New" pitchFamily="34" charset="0"/>
                <a:ea typeface="Courier New" pitchFamily="34" charset="-122"/>
                <a:cs typeface="Courier New" pitchFamily="34" charset="-120"/>
              </a:rPr>
              <a:t> z: next(n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n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ns </a:t>
            </a:r>
            <a:r>
              <a:rPr lang="en-US" sz="1000" b="1" dirty="0">
                <a:solidFill>
                  <a:srgbClr val="F2A860"/>
                </a:solidFill>
                <a:latin typeface="Courier New" pitchFamily="34" charset="0"/>
                <a:ea typeface="Courier New" pitchFamily="34" charset="-122"/>
                <a:cs typeface="Courier New" pitchFamily="34" charset="-120"/>
              </a:rPr>
              <a:t>if</a:t>
            </a:r>
            <a:r>
              <a:rPr lang="en-US" sz="1000" dirty="0">
                <a:solidFill>
                  <a:srgbClr val="E6EDF3"/>
                </a:solidFill>
                <a:latin typeface="Courier New" pitchFamily="34" charset="0"/>
                <a:ea typeface="Courier New" pitchFamily="34" charset="-122"/>
                <a:cs typeface="Courier New" pitchFamily="34" charset="-120"/>
              </a:rPr>
              <a:t> ok(n, z))</a:t>
            </a:r>
            <a:endParaRPr lang="en-US" sz="1000" dirty="0"/>
          </a:p>
        </p:txBody>
      </p:sp>
      <p:sp>
        <p:nvSpPr>
          <p:cNvPr id="10" name="Shape 8"/>
          <p:cNvSpPr/>
          <p:nvPr/>
        </p:nvSpPr>
        <p:spPr>
          <a:xfrm>
            <a:off x="457200" y="3248863"/>
            <a:ext cx="5074920" cy="641909"/>
          </a:xfrm>
          <a:prstGeom prst="roundRect">
            <a:avLst>
              <a:gd name="adj" fmla="val 11396"/>
            </a:avLst>
          </a:prstGeom>
          <a:solidFill>
            <a:srgbClr val="23272E"/>
          </a:solidFill>
          <a:ln w="12700">
            <a:solidFill>
              <a:srgbClr val="23272E"/>
            </a:solidFill>
            <a:prstDash val="solid"/>
          </a:ln>
        </p:spPr>
      </p:sp>
      <p:sp>
        <p:nvSpPr>
          <p:cNvPr id="11" name="Text 9"/>
          <p:cNvSpPr txBox="1"/>
          <p:nvPr/>
        </p:nvSpPr>
        <p:spPr>
          <a:xfrm>
            <a:off x="603504" y="3322015"/>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t = [f(z)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z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3</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4</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(up, t)</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('6bbe6a3d', [32, 228, 3460, 27835])</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829714"/>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small w gives the book's hash; the capital W it types gives another.</a:t>
            </a:r>
            <a:endParaRPr lang="en-US" sz="1050" dirty="0"/>
          </a:p>
        </p:txBody>
      </p:sp>
      <p:sp>
        <p:nvSpPr>
          <p:cNvPr id="15" name="Shape 13"/>
          <p:cNvSpPr/>
          <p:nvPr/>
        </p:nvSpPr>
        <p:spPr>
          <a:xfrm>
            <a:off x="365760" y="2213762"/>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213762"/>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956255"/>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try counts if the hash starts with z zero digits.</a:t>
            </a:r>
            <a:endParaRPr lang="en-US" sz="1050" dirty="0"/>
          </a:p>
        </p:txBody>
      </p:sp>
      <p:sp>
        <p:nvSpPr>
          <p:cNvPr id="18" name="Shape 16"/>
          <p:cNvSpPr/>
          <p:nvPr/>
        </p:nvSpPr>
        <p:spPr>
          <a:xfrm>
            <a:off x="365760" y="3175711"/>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3175711"/>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91820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Tries needed for one, two, three and four zero digits.</a:t>
            </a:r>
            <a:endParaRPr lang="en-US" sz="1050" dirty="0"/>
          </a:p>
        </p:txBody>
      </p:sp>
      <p:sp>
        <p:nvSpPr>
          <p:cNvPr id="21" name="Text 19"/>
          <p:cNvSpPr txBox="1"/>
          <p:nvPr/>
        </p:nvSpPr>
        <p:spPr>
          <a:xfrm>
            <a:off x="457200" y="4174236"/>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its regtest record</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tries until the hash starts with zeros</a:t>
            </a:r>
            <a:endParaRPr lang="en-US" sz="1100" dirty="0"/>
          </a:p>
        </p:txBody>
      </p:sp>
      <p:graphicFrame>
        <p:nvGraphicFramePr>
          <p:cNvPr id="23" name="Chart 0" descr=""/>
          <p:cNvGraphicFramePr/>
          <p:nvPr/>
        </p:nvGraphicFramePr>
        <p:xfrm>
          <a:off x="5715000" y="1773936"/>
          <a:ext cx="2971800" cy="1892808"/>
        </p:xfrm>
        <a:graphic xmlns:a="http://schemas.openxmlformats.org/drawingml/2006/main">
          <a:graphicData uri="http://schemas.openxmlformats.org/drawingml/2006/chart">
            <c:chart xmlns:c="http://schemas.openxmlformats.org/drawingml/2006/chart" r:id="rId1"/>
          </a:graphicData>
        </a:graphic>
      </p:graphicFrame>
      <p:sp>
        <p:nvSpPr>
          <p:cNvPr id="24" name="Text 21"/>
          <p:cNvSpPr txBox="1"/>
          <p:nvPr/>
        </p:nvSpPr>
        <p:spPr>
          <a:xfrm>
            <a:off x="5715000" y="3758184"/>
            <a:ext cx="2971800" cy="78638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book prints the hash 09cb91f8 for the capital W, but that is the hash of the small w. The capital W gives 6bbe6a3d.</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Each extra zero digit costs about sixteen times more tries</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24 / 51</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stamp that made email cost</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Proof of work was invented to price email, years before Bitcoin</a:t>
            </a:r>
            <a:endParaRPr lang="en-US" sz="1300" dirty="0"/>
          </a:p>
        </p:txBody>
      </p:sp>
      <p:pic>
        <p:nvPicPr>
          <p:cNvPr id="6" name="Image 0" descr="../../03-materials/ch12/assets/photo_adam_back.png">    </p:cNvPr>
          <p:cNvPicPr>
            <a:picLocks noChangeAspect="1"/>
          </p:cNvPicPr>
          <p:nvPr/>
        </p:nvPicPr>
        <p:blipFill>
          <a:blip r:embed="rId1"/>
          <a:srcRect l="0" r="0" t="0" b="0"/>
          <a:stretch/>
        </p:blipFill>
        <p:spPr>
          <a:xfrm>
            <a:off x="457200" y="1280160"/>
            <a:ext cx="3108960" cy="2331720"/>
          </a:xfrm>
          <a:prstGeom prst="rect">
            <a:avLst/>
          </a:prstGeom>
        </p:spPr>
      </p:pic>
      <p:sp>
        <p:nvSpPr>
          <p:cNvPr id="7" name="Text 4"/>
          <p:cNvSpPr txBox="1"/>
          <p:nvPr/>
        </p:nvSpPr>
        <p:spPr>
          <a:xfrm>
            <a:off x="457200" y="3630168"/>
            <a:ext cx="31089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Adam Back - Joi Ito, CC BY 2.0, Wikimedia Commons</a:t>
            </a:r>
            <a:endParaRPr lang="en-US" sz="900" dirty="0"/>
          </a:p>
        </p:txBody>
      </p:sp>
      <p:sp>
        <p:nvSpPr>
          <p:cNvPr id="8" name="Shape 5"/>
          <p:cNvSpPr/>
          <p:nvPr/>
        </p:nvSpPr>
        <p:spPr>
          <a:xfrm>
            <a:off x="3749040" y="1524762"/>
            <a:ext cx="128016" cy="128016"/>
          </a:xfrm>
          <a:prstGeom prst="diamond">
            <a:avLst/>
          </a:prstGeom>
          <a:solidFill>
            <a:srgbClr val="D97A14"/>
          </a:solidFill>
          <a:ln w="12700">
            <a:solidFill>
              <a:srgbClr val="D97A14"/>
            </a:solidFill>
            <a:prstDash val="solid"/>
          </a:ln>
        </p:spPr>
      </p:sp>
      <p:sp>
        <p:nvSpPr>
          <p:cNvPr id="9" name="Text 6"/>
          <p:cNvSpPr txBox="1"/>
          <p:nvPr/>
        </p:nvSpPr>
        <p:spPr>
          <a:xfrm>
            <a:off x="4023360" y="128016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WHAT: Adam Back proposed Hashcash in 1997 and wrote it up in a paper dated 1 August 2002: a stamp of computing work that makes sending mail cost a little.</a:t>
            </a:r>
            <a:endParaRPr lang="en-US" sz="1150" dirty="0"/>
          </a:p>
        </p:txBody>
      </p:sp>
      <p:sp>
        <p:nvSpPr>
          <p:cNvPr id="10" name="Shape 7"/>
          <p:cNvSpPr/>
          <p:nvPr/>
        </p:nvSpPr>
        <p:spPr>
          <a:xfrm>
            <a:off x="3749040" y="2141982"/>
            <a:ext cx="128016" cy="128016"/>
          </a:xfrm>
          <a:prstGeom prst="diamond">
            <a:avLst/>
          </a:prstGeom>
          <a:solidFill>
            <a:srgbClr val="D97A14"/>
          </a:solidFill>
          <a:ln w="12700">
            <a:solidFill>
              <a:srgbClr val="D97A14"/>
            </a:solidFill>
            <a:prstDash val="solid"/>
          </a:ln>
        </p:spPr>
      </p:sp>
      <p:sp>
        <p:nvSpPr>
          <p:cNvPr id="11" name="Text 8"/>
          <p:cNvSpPr txBox="1"/>
          <p:nvPr/>
        </p:nvSpPr>
        <p:spPr>
          <a:xfrm>
            <a:off x="4023360" y="189738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WHY: Cynthia Dwork and Moni Naor had proposed in 1992 to price junk mail with a moderately hard function; Hashcash made the idea practical.</a:t>
            </a:r>
            <a:endParaRPr lang="en-US" sz="1150" dirty="0"/>
          </a:p>
        </p:txBody>
      </p:sp>
      <p:sp>
        <p:nvSpPr>
          <p:cNvPr id="12" name="Shape 9"/>
          <p:cNvSpPr/>
          <p:nvPr/>
        </p:nvSpPr>
        <p:spPr>
          <a:xfrm>
            <a:off x="3749040" y="275920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4023360" y="251460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HOW: The sender hashes a string with a growing counter until the hash starts with zeros, as in our lottery; the receiver checks it with one hash.</a:t>
            </a:r>
            <a:endParaRPr lang="en-US" sz="1150" dirty="0"/>
          </a:p>
        </p:txBody>
      </p:sp>
      <p:sp>
        <p:nvSpPr>
          <p:cNvPr id="14" name="Shape 11"/>
          <p:cNvSpPr/>
          <p:nvPr/>
        </p:nvSpPr>
        <p:spPr>
          <a:xfrm>
            <a:off x="3749040" y="3376422"/>
            <a:ext cx="128016" cy="128016"/>
          </a:xfrm>
          <a:prstGeom prst="diamond">
            <a:avLst/>
          </a:prstGeom>
          <a:solidFill>
            <a:srgbClr val="D97A14"/>
          </a:solidFill>
          <a:ln w="12700">
            <a:solidFill>
              <a:srgbClr val="D97A14"/>
            </a:solidFill>
            <a:prstDash val="solid"/>
          </a:ln>
        </p:spPr>
      </p:sp>
      <p:sp>
        <p:nvSpPr>
          <p:cNvPr id="15" name="Text 12"/>
          <p:cNvSpPr txBox="1"/>
          <p:nvPr/>
        </p:nvSpPr>
        <p:spPr>
          <a:xfrm>
            <a:off x="4023360" y="313182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SO WHAT: Satoshi Nakamoto's paper of 2008 calls Bitcoin's proof of work similar to Adam Back's Hashcash.</a:t>
            </a:r>
            <a:endParaRPr lang="en-US" sz="1150" dirty="0"/>
          </a:p>
        </p:txBody>
      </p:sp>
      <p:sp>
        <p:nvSpPr>
          <p:cNvPr id="16" name="Shape 13"/>
          <p:cNvSpPr/>
          <p:nvPr/>
        </p:nvSpPr>
        <p:spPr>
          <a:xfrm>
            <a:off x="457200" y="4114800"/>
            <a:ext cx="1738092" cy="365760"/>
          </a:xfrm>
          <a:prstGeom prst="roundRect">
            <a:avLst>
              <a:gd name="adj" fmla="val 50000"/>
            </a:avLst>
          </a:prstGeom>
          <a:solidFill>
            <a:srgbClr val="EFE9DC"/>
          </a:solidFill>
          <a:ln w="9525">
            <a:solidFill>
              <a:srgbClr val="DFD6C7"/>
            </a:solidFill>
            <a:prstDash val="solid"/>
          </a:ln>
        </p:spPr>
      </p:sp>
      <p:sp>
        <p:nvSpPr>
          <p:cNvPr id="17" name="Text 14"/>
          <p:cNvSpPr txBox="1"/>
          <p:nvPr/>
        </p:nvSpPr>
        <p:spPr>
          <a:xfrm>
            <a:off x="548640" y="4114800"/>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Adam Back, the cryptogra…</a:t>
            </a:r>
            <a:endParaRPr lang="en-US" sz="750" dirty="0"/>
          </a:p>
        </p:txBody>
      </p:sp>
      <p:sp>
        <p:nvSpPr>
          <p:cNvPr id="18" name="Shape 15"/>
          <p:cNvSpPr/>
          <p:nvPr/>
        </p:nvSpPr>
        <p:spPr>
          <a:xfrm>
            <a:off x="2305020" y="4114800"/>
            <a:ext cx="1659087"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2396460" y="4114800"/>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the paper Hashcash - A…</a:t>
            </a:r>
            <a:endParaRPr lang="en-US" sz="750" dirty="0"/>
          </a:p>
        </p:txBody>
      </p:sp>
      <p:sp>
        <p:nvSpPr>
          <p:cNvPr id="20" name="Shape 17"/>
          <p:cNvSpPr/>
          <p:nvPr/>
        </p:nvSpPr>
        <p:spPr>
          <a:xfrm>
            <a:off x="4073835" y="4114800"/>
            <a:ext cx="1343071"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4165275" y="4114800"/>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2002-08-01</a:t>
            </a:r>
            <a:endParaRPr lang="en-US" sz="750" dirty="0"/>
          </a:p>
        </p:txBody>
      </p:sp>
      <p:sp>
        <p:nvSpPr>
          <p:cNvPr id="22" name="Shape 19"/>
          <p:cNvSpPr/>
          <p:nvPr/>
        </p:nvSpPr>
        <p:spPr>
          <a:xfrm>
            <a:off x="5526634" y="4114800"/>
            <a:ext cx="3160166" cy="365760"/>
          </a:xfrm>
          <a:prstGeom prst="roundRect">
            <a:avLst>
              <a:gd name="adj" fmla="val 50000"/>
            </a:avLst>
          </a:prstGeom>
          <a:solidFill>
            <a:srgbClr val="2F6D62"/>
          </a:solidFill>
          <a:ln w="9525">
            <a:solidFill>
              <a:srgbClr val="2F6D62"/>
            </a:solidFill>
            <a:prstDash val="solid"/>
          </a:ln>
        </p:spPr>
      </p:sp>
      <p:sp>
        <p:nvSpPr>
          <p:cNvPr id="23" name="Text 20"/>
          <p:cNvSpPr txBox="1"/>
          <p:nvPr/>
        </p:nvSpPr>
        <p:spPr>
          <a:xfrm>
            <a:off x="5618074" y="4114800"/>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Back: Hashcash, a DoS counter-measure (PDF)</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hashcash.org</a:t>
            </a:r>
            <a:endParaRPr lang="en-US" sz="750" dirty="0"/>
          </a:p>
        </p:txBody>
      </p:sp>
      <p:sp>
        <p:nvSpPr>
          <p:cNvPr id="24"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25 / 51</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Proof of work: key concepts (2 of 2)</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339596"/>
          </a:xfrm>
          <a:prstGeom prst="roundRect">
            <a:avLst>
              <a:gd name="adj" fmla="val 5461"/>
            </a:avLst>
          </a:prstGeom>
          <a:solidFill>
            <a:srgbClr val="F2ECE1"/>
          </a:solidFill>
          <a:ln w="12700">
            <a:solidFill>
              <a:srgbClr val="DFD6C7"/>
            </a:solidFill>
            <a:prstDash val="solid"/>
          </a:ln>
        </p:spPr>
      </p:sp>
      <p:sp>
        <p:nvSpPr>
          <p:cNvPr id="7" name="Shape 5"/>
          <p:cNvSpPr/>
          <p:nvPr/>
        </p:nvSpPr>
        <p:spPr>
          <a:xfrm>
            <a:off x="475488" y="1408176"/>
            <a:ext cx="64008" cy="1083564"/>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790956"/>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The 2015-gap retarget</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2,016 blocks have only 2,015 gaps, and the rule measures the span from the first block to the last.</a:t>
            </a:r>
            <a:endParaRPr lang="en-US" sz="1300" dirty="0"/>
          </a:p>
        </p:txBody>
      </p:sp>
      <p:sp>
        <p:nvSpPr>
          <p:cNvPr id="9" name="Text 7"/>
          <p:cNvSpPr txBox="1"/>
          <p:nvPr/>
        </p:nvSpPr>
        <p:spPr>
          <a:xfrm>
            <a:off x="640080" y="2162556"/>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counting fence posts and the spaces between them.</a:t>
            </a:r>
            <a:endParaRPr lang="en-US" sz="1150" dirty="0"/>
          </a:p>
        </p:txBody>
      </p:sp>
      <p:sp>
        <p:nvSpPr>
          <p:cNvPr id="10" name="Shape 8"/>
          <p:cNvSpPr/>
          <p:nvPr/>
        </p:nvSpPr>
        <p:spPr>
          <a:xfrm>
            <a:off x="4645152" y="1280160"/>
            <a:ext cx="4041648" cy="1339596"/>
          </a:xfrm>
          <a:prstGeom prst="roundRect">
            <a:avLst>
              <a:gd name="adj" fmla="val 5461"/>
            </a:avLst>
          </a:prstGeom>
          <a:solidFill>
            <a:srgbClr val="F2ECE1"/>
          </a:solidFill>
          <a:ln w="12700">
            <a:solidFill>
              <a:srgbClr val="DFD6C7"/>
            </a:solidFill>
            <a:prstDash val="solid"/>
          </a:ln>
        </p:spPr>
      </p:sp>
      <p:sp>
        <p:nvSpPr>
          <p:cNvPr id="11" name="Shape 9"/>
          <p:cNvSpPr/>
          <p:nvPr/>
        </p:nvSpPr>
        <p:spPr>
          <a:xfrm>
            <a:off x="4663440" y="1408176"/>
            <a:ext cx="64008" cy="1083564"/>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The factor-of-four clamp</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One retarget never moves the target by more than a factor of four either way.</a:t>
            </a:r>
            <a:endParaRPr lang="en-US" sz="1300" dirty="0"/>
          </a:p>
        </p:txBody>
      </p:sp>
      <p:sp>
        <p:nvSpPr>
          <p:cNvPr id="13" name="Text 11"/>
          <p:cNvSpPr txBox="1"/>
          <p:nvPr/>
        </p:nvSpPr>
        <p:spPr>
          <a:xfrm>
            <a:off x="4828032" y="198424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speed limiter on the steering wheel.</a:t>
            </a:r>
            <a:endParaRPr lang="en-US" sz="1150" dirty="0"/>
          </a:p>
        </p:txBody>
      </p:sp>
      <p:sp>
        <p:nvSpPr>
          <p:cNvPr id="14" name="Shape 12"/>
          <p:cNvSpPr/>
          <p:nvPr/>
        </p:nvSpPr>
        <p:spPr>
          <a:xfrm>
            <a:off x="457200" y="2747772"/>
            <a:ext cx="4041648" cy="1339596"/>
          </a:xfrm>
          <a:prstGeom prst="roundRect">
            <a:avLst>
              <a:gd name="adj" fmla="val 5461"/>
            </a:avLst>
          </a:prstGeom>
          <a:solidFill>
            <a:srgbClr val="F2ECE1"/>
          </a:solidFill>
          <a:ln w="12700">
            <a:solidFill>
              <a:srgbClr val="DFD6C7"/>
            </a:solidFill>
            <a:prstDash val="solid"/>
          </a:ln>
        </p:spPr>
      </p:sp>
      <p:sp>
        <p:nvSpPr>
          <p:cNvPr id="15" name="Shape 13"/>
          <p:cNvSpPr/>
          <p:nvPr/>
        </p:nvSpPr>
        <p:spPr>
          <a:xfrm>
            <a:off x="475488" y="2875788"/>
            <a:ext cx="64008" cy="1083564"/>
          </a:xfrm>
          <a:prstGeom prst="rect">
            <a:avLst/>
          </a:prstGeom>
          <a:solidFill>
            <a:srgbClr val="D97A14"/>
          </a:solidFill>
          <a:ln w="12700">
            <a:solidFill>
              <a:srgbClr val="D97A14"/>
            </a:solidFill>
            <a:prstDash val="solid"/>
          </a:ln>
        </p:spPr>
      </p:sp>
      <p:sp>
        <p:nvSpPr>
          <p:cNvPr id="16" name="Text 14"/>
          <p:cNvSpPr txBox="1"/>
          <p:nvPr/>
        </p:nvSpPr>
        <p:spPr>
          <a:xfrm>
            <a:off x="640080" y="2811780"/>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The BIP 94 branch</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Testnet4 measures the period from its first block, so a late block cannot trick the rule.</a:t>
            </a:r>
            <a:endParaRPr lang="en-US" sz="1300" dirty="0"/>
          </a:p>
        </p:txBody>
      </p:sp>
      <p:sp>
        <p:nvSpPr>
          <p:cNvPr id="17" name="Text 15"/>
          <p:cNvSpPr txBox="1"/>
          <p:nvPr/>
        </p:nvSpPr>
        <p:spPr>
          <a:xfrm>
            <a:off x="640080" y="3451860"/>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stopwatch started at the start line.</a:t>
            </a:r>
            <a:endParaRPr lang="en-US" sz="1150" dirty="0"/>
          </a:p>
        </p:txBody>
      </p:sp>
      <p:sp>
        <p:nvSpPr>
          <p:cNvPr id="18" name="Shape 16"/>
          <p:cNvSpPr/>
          <p:nvPr/>
        </p:nvSpPr>
        <p:spPr>
          <a:xfrm>
            <a:off x="4645152" y="2747772"/>
            <a:ext cx="4041648" cy="1339596"/>
          </a:xfrm>
          <a:prstGeom prst="roundRect">
            <a:avLst>
              <a:gd name="adj" fmla="val 5461"/>
            </a:avLst>
          </a:prstGeom>
          <a:solidFill>
            <a:srgbClr val="F2ECE1"/>
          </a:solidFill>
          <a:ln w="12700">
            <a:solidFill>
              <a:srgbClr val="DFD6C7"/>
            </a:solidFill>
            <a:prstDash val="solid"/>
          </a:ln>
        </p:spPr>
      </p:sp>
      <p:sp>
        <p:nvSpPr>
          <p:cNvPr id="19" name="Shape 17"/>
          <p:cNvSpPr/>
          <p:nvPr/>
        </p:nvSpPr>
        <p:spPr>
          <a:xfrm>
            <a:off x="4663440" y="2875788"/>
            <a:ext cx="64008" cy="1083564"/>
          </a:xfrm>
          <a:prstGeom prst="rect">
            <a:avLst/>
          </a:prstGeom>
          <a:solidFill>
            <a:srgbClr val="D97A14"/>
          </a:solidFill>
          <a:ln w="12700">
            <a:solidFill>
              <a:srgbClr val="D97A14"/>
            </a:solidFill>
            <a:prstDash val="solid"/>
          </a:ln>
        </p:spPr>
      </p:sp>
      <p:sp>
        <p:nvSpPr>
          <p:cNvPr id="20" name="Text 18"/>
          <p:cNvSpPr txBox="1"/>
          <p:nvPr/>
        </p:nvSpPr>
        <p:spPr>
          <a:xfrm>
            <a:off x="4828032" y="2811780"/>
            <a:ext cx="3767328" cy="790956"/>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Regtest never retargets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chain parameter switches the difficulty adjustment off, so the difficulty of regtest stays the same.</a:t>
            </a:r>
            <a:endParaRPr lang="en-US" sz="1300" dirty="0"/>
          </a:p>
        </p:txBody>
      </p:sp>
      <p:sp>
        <p:nvSpPr>
          <p:cNvPr id="21" name="Text 19"/>
          <p:cNvSpPr txBox="1"/>
          <p:nvPr/>
        </p:nvSpPr>
        <p:spPr>
          <a:xfrm>
            <a:off x="4828032" y="3630168"/>
            <a:ext cx="3767328" cy="214884"/>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thermostat that has been unplugged.</a:t>
            </a:r>
            <a:endParaRPr lang="en-US" sz="115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26 / 51</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Target, bits and difficulty</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Block 277,316 as the book lists it</a:t>
            </a:r>
            <a:endParaRPr lang="en-US" sz="1300" dirty="0"/>
          </a:p>
        </p:txBody>
      </p:sp>
      <p:sp>
        <p:nvSpPr>
          <p:cNvPr id="6" name="Shape 4"/>
          <p:cNvSpPr/>
          <p:nvPr/>
        </p:nvSpPr>
        <p:spPr>
          <a:xfrm>
            <a:off x="457200" y="1325880"/>
            <a:ext cx="5074920" cy="311810"/>
          </a:xfrm>
          <a:prstGeom prst="roundRect">
            <a:avLst>
              <a:gd name="adj" fmla="val 23460"/>
            </a:avLst>
          </a:prstGeom>
          <a:solidFill>
            <a:srgbClr val="23272E"/>
          </a:solidFill>
          <a:ln w="12700">
            <a:solidFill>
              <a:srgbClr val="23272E"/>
            </a:solidFill>
            <a:prstDash val="solid"/>
          </a:ln>
        </p:spPr>
      </p:sp>
      <p:sp>
        <p:nvSpPr>
          <p:cNvPr id="7" name="Text 5"/>
          <p:cNvSpPr txBox="1"/>
          <p:nvPr/>
        </p:nvSpPr>
        <p:spPr>
          <a:xfrm>
            <a:off x="603504" y="139903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tg = L.bits_to_target(</a:t>
            </a:r>
            <a:r>
              <a:rPr lang="en-US" sz="1000" dirty="0">
                <a:solidFill>
                  <a:srgbClr val="9ECBFF"/>
                </a:solidFill>
                <a:latin typeface="Courier New" pitchFamily="34" charset="0"/>
                <a:ea typeface="Courier New" pitchFamily="34" charset="-122"/>
                <a:cs typeface="Courier New" pitchFamily="34" charset="-120"/>
              </a:rPr>
              <a:t>'1903a30c'</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122322"/>
            <a:ext cx="5074920" cy="311810"/>
          </a:xfrm>
          <a:prstGeom prst="roundRect">
            <a:avLst>
              <a:gd name="adj" fmla="val 23460"/>
            </a:avLst>
          </a:prstGeom>
          <a:solidFill>
            <a:srgbClr val="23272E"/>
          </a:solidFill>
          <a:ln w="12700">
            <a:solidFill>
              <a:srgbClr val="23272E"/>
            </a:solidFill>
            <a:prstDash val="solid"/>
          </a:ln>
        </p:spPr>
      </p:sp>
      <p:sp>
        <p:nvSpPr>
          <p:cNvPr id="9" name="Text 7"/>
          <p:cNvSpPr txBox="1"/>
          <p:nvPr/>
        </p:nvSpPr>
        <p:spPr>
          <a:xfrm>
            <a:off x="603504" y="2195474"/>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d = L.difficulty(</a:t>
            </a:r>
            <a:r>
              <a:rPr lang="en-US" sz="1000" dirty="0">
                <a:solidFill>
                  <a:srgbClr val="9ECBFF"/>
                </a:solidFill>
                <a:latin typeface="Courier New" pitchFamily="34" charset="0"/>
                <a:ea typeface="Courier New" pitchFamily="34" charset="-122"/>
                <a:cs typeface="Courier New" pitchFamily="34" charset="-120"/>
              </a:rPr>
              <a:t>'1903a30c'</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2918765"/>
            <a:ext cx="5074920" cy="641909"/>
          </a:xfrm>
          <a:prstGeom prst="roundRect">
            <a:avLst>
              <a:gd name="adj" fmla="val 11396"/>
            </a:avLst>
          </a:prstGeom>
          <a:solidFill>
            <a:srgbClr val="23272E"/>
          </a:solidFill>
          <a:ln w="12700">
            <a:solidFill>
              <a:srgbClr val="23272E"/>
            </a:solidFill>
            <a:prstDash val="solid"/>
          </a:ln>
        </p:spPr>
      </p:sp>
      <p:sp>
        <p:nvSpPr>
          <p:cNvPr id="11" name="Text 9"/>
          <p:cNvSpPr txBox="1"/>
          <p:nvPr/>
        </p:nvSpPr>
        <p:spPr>
          <a:xfrm>
            <a:off x="603504" y="2991917"/>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need = </a:t>
            </a:r>
            <a:r>
              <a:rPr lang="en-US" sz="1000" dirty="0">
                <a:solidFill>
                  <a:srgbClr val="FFD28A"/>
                </a:solidFill>
                <a:latin typeface="Courier New" pitchFamily="34" charset="0"/>
                <a:ea typeface="Courier New" pitchFamily="34" charset="-122"/>
                <a:cs typeface="Courier New" pitchFamily="34" charset="-120"/>
              </a:rPr>
              <a:t>256</a:t>
            </a:r>
            <a:r>
              <a:rPr lang="en-US" sz="1000" dirty="0">
                <a:solidFill>
                  <a:srgbClr val="E6EDF3"/>
                </a:solidFill>
                <a:latin typeface="Courier New" pitchFamily="34" charset="0"/>
                <a:ea typeface="Courier New" pitchFamily="34" charset="-122"/>
                <a:cs typeface="Courier New" pitchFamily="34" charset="-120"/>
              </a:rPr>
              <a:t> - tg.bit_length()</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(tg.bit_length(), round(d))</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(194, 1180923195)</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665122"/>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header stores the target in four bytes: one for the size, three for the digits.</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461565"/>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Difficulty compares this target with the easiest one that Bitcoin allows.</a:t>
            </a:r>
            <a:endParaRPr lang="en-US" sz="1050" dirty="0"/>
          </a:p>
        </p:txBody>
      </p:sp>
      <p:sp>
        <p:nvSpPr>
          <p:cNvPr id="18" name="Shape 16"/>
          <p:cNvSpPr/>
          <p:nvPr/>
        </p:nvSpPr>
        <p:spPr>
          <a:xfrm>
            <a:off x="365760" y="2845613"/>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845613"/>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588106"/>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smaller target means more zero bits at the start of a valid hash.</a:t>
            </a:r>
            <a:endParaRPr lang="en-US" sz="1050" dirty="0"/>
          </a:p>
        </p:txBody>
      </p:sp>
      <p:sp>
        <p:nvSpPr>
          <p:cNvPr id="21" name="Text 19"/>
          <p:cNvSpPr txBox="1"/>
          <p:nvPr/>
        </p:nvSpPr>
        <p:spPr>
          <a:xfrm>
            <a:off x="457200" y="3844138"/>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its regtest record</a:t>
            </a:r>
            <a:endParaRPr lang="en-US" sz="900" dirty="0"/>
          </a:p>
        </p:txBody>
      </p:sp>
      <p:sp>
        <p:nvSpPr>
          <p:cNvPr id="22" name="Text 20"/>
          <p:cNvSpPr txBox="1"/>
          <p:nvPr/>
        </p:nvSpPr>
        <p:spPr>
          <a:xfrm>
            <a:off x="5715000" y="1325880"/>
            <a:ext cx="2971800" cy="21945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block 277,316</a:t>
            </a:r>
            <a:endParaRPr lang="en-US" sz="11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715000" y="1591056"/>
          <a:ext cx="2971800" cy="914400"/>
        </p:xfrm>
        <a:graphic>
          <a:graphicData uri="http://schemas.openxmlformats.org/drawingml/2006/table">
            <a:tbl>
              <a:tblPr/>
              <a:tblGrid>
                <a:gridCol w="1737360"/>
                <a:gridCol w="1234440"/>
              </a:tblGrid>
              <a:tr h="274320">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Quantity</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Value</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Bits in the header</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1903a30c</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Target is how many bits long</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194</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Difficulty</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1,180,923,195</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Zero bits a hash needs</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62</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Bits written back</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0x1903a30c</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51129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A valid hash must start with 62 zero bits. The bits can be rebuilt from the target.</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smaller target means a higher difficulty and more zero bits</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27 / 51</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wait of a one-terahash miner</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Difficulty turned into days and into hashes</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d = L.difficulty(</a:t>
            </a:r>
            <a:r>
              <a:rPr lang="en-US" sz="1000" dirty="0">
                <a:solidFill>
                  <a:srgbClr val="9ECBFF"/>
                </a:solidFill>
                <a:latin typeface="Courier New" pitchFamily="34" charset="0"/>
                <a:ea typeface="Courier New" pitchFamily="34" charset="-122"/>
                <a:cs typeface="Courier New" pitchFamily="34" charset="-120"/>
              </a:rPr>
              <a:t>'1903a30c'</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secs = d * </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32</a:t>
            </a:r>
            <a:r>
              <a:rPr lang="en-US" sz="1000" dirty="0">
                <a:solidFill>
                  <a:srgbClr val="E6EDF3"/>
                </a:solidFill>
                <a:latin typeface="Courier New" pitchFamily="34" charset="0"/>
                <a:ea typeface="Courier New" pitchFamily="34" charset="-122"/>
                <a:cs typeface="Courier New" pitchFamily="34" charset="-120"/>
              </a:rPr>
              <a:t> / 1e12</a:t>
            </a:r>
            <a:endParaRPr lang="en-US" sz="1000" dirty="0"/>
          </a:p>
        </p:txBody>
      </p:sp>
      <p:sp>
        <p:nvSpPr>
          <p:cNvPr id="8" name="Shape 6"/>
          <p:cNvSpPr/>
          <p:nvPr/>
        </p:nvSpPr>
        <p:spPr>
          <a:xfrm>
            <a:off x="457200" y="2286914"/>
            <a:ext cx="5074920" cy="476402"/>
          </a:xfrm>
          <a:prstGeom prst="roundRect">
            <a:avLst>
              <a:gd name="adj" fmla="val 15355"/>
            </a:avLst>
          </a:prstGeom>
          <a:solidFill>
            <a:srgbClr val="23272E"/>
          </a:solidFill>
          <a:ln w="12700">
            <a:solidFill>
              <a:srgbClr val="23272E"/>
            </a:solidFill>
            <a:prstDash val="solid"/>
          </a:ln>
        </p:spPr>
      </p:sp>
      <p:sp>
        <p:nvSpPr>
          <p:cNvPr id="9" name="Text 7"/>
          <p:cNvSpPr txBox="1"/>
          <p:nvPr/>
        </p:nvSpPr>
        <p:spPr>
          <a:xfrm>
            <a:off x="603504" y="2360066"/>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days = secs / </a:t>
            </a:r>
            <a:r>
              <a:rPr lang="en-US" sz="1000" dirty="0">
                <a:solidFill>
                  <a:srgbClr val="FFD28A"/>
                </a:solidFill>
                <a:latin typeface="Courier New" pitchFamily="34" charset="0"/>
                <a:ea typeface="Courier New" pitchFamily="34" charset="-122"/>
                <a:cs typeface="Courier New" pitchFamily="34" charset="-120"/>
              </a:rPr>
              <a:t>86400</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blocks = round(secs / </a:t>
            </a:r>
            <a:r>
              <a:rPr lang="en-US" sz="1000" dirty="0">
                <a:solidFill>
                  <a:srgbClr val="FFD28A"/>
                </a:solidFill>
                <a:latin typeface="Courier New" pitchFamily="34" charset="0"/>
                <a:ea typeface="Courier New" pitchFamily="34" charset="-122"/>
                <a:cs typeface="Courier New" pitchFamily="34" charset="-120"/>
              </a:rPr>
              <a:t>600</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3083357"/>
            <a:ext cx="5074920" cy="806501"/>
          </a:xfrm>
          <a:prstGeom prst="roundRect">
            <a:avLst>
              <a:gd name="adj" fmla="val 9070"/>
            </a:avLst>
          </a:prstGeom>
          <a:solidFill>
            <a:srgbClr val="23272E"/>
          </a:solidFill>
          <a:ln w="12700">
            <a:solidFill>
              <a:srgbClr val="23272E"/>
            </a:solidFill>
            <a:prstDash val="solid"/>
          </a:ln>
        </p:spPr>
      </p:sp>
      <p:sp>
        <p:nvSpPr>
          <p:cNvPr id="11" name="Text 9"/>
          <p:cNvSpPr txBox="1"/>
          <p:nvPr/>
        </p:nvSpPr>
        <p:spPr>
          <a:xfrm>
            <a:off x="603504" y="3156509"/>
            <a:ext cx="4800600" cy="678485"/>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d2 = </a:t>
            </a:r>
            <a:r>
              <a:rPr lang="en-US" sz="1000" dirty="0">
                <a:solidFill>
                  <a:srgbClr val="FFD28A"/>
                </a:solidFill>
                <a:latin typeface="Courier New" pitchFamily="34" charset="0"/>
                <a:ea typeface="Courier New" pitchFamily="34" charset="-122"/>
                <a:cs typeface="Courier New" pitchFamily="34" charset="-120"/>
              </a:rPr>
              <a:t>132716002350731.3</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hr = f</a:t>
            </a:r>
            <a:r>
              <a:rPr lang="en-US" sz="1000" dirty="0">
                <a:solidFill>
                  <a:srgbClr val="9ECBFF"/>
                </a:solidFill>
                <a:latin typeface="Courier New" pitchFamily="34" charset="0"/>
                <a:ea typeface="Courier New" pitchFamily="34" charset="-122"/>
                <a:cs typeface="Courier New" pitchFamily="34" charset="-120"/>
              </a:rPr>
              <a:t>'{d2 * 2 ** 32 / 600:.2e}'</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(round(days, </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blocks)</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(58.7, 8453)</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829714"/>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At that difficulty a block takes about difficulty times 2 to the 32 hashes.</a:t>
            </a:r>
            <a:endParaRPr lang="en-US" sz="1050" dirty="0"/>
          </a:p>
        </p:txBody>
      </p:sp>
      <p:sp>
        <p:nvSpPr>
          <p:cNvPr id="15" name="Shape 13"/>
          <p:cNvSpPr/>
          <p:nvPr/>
        </p:nvSpPr>
        <p:spPr>
          <a:xfrm>
            <a:off x="365760" y="2213762"/>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213762"/>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790749"/>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One terahash a second waits this many days, or blocks.</a:t>
            </a:r>
            <a:endParaRPr lang="en-US" sz="1050" dirty="0"/>
          </a:p>
        </p:txBody>
      </p:sp>
      <p:sp>
        <p:nvSpPr>
          <p:cNvPr id="18" name="Shape 16"/>
          <p:cNvSpPr/>
          <p:nvPr/>
        </p:nvSpPr>
        <p:spPr>
          <a:xfrm>
            <a:off x="365760" y="3010205"/>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3010205"/>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917290"/>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Today's difficulty, typed in, estimates the network hash rate.</a:t>
            </a:r>
            <a:endParaRPr lang="en-US" sz="1050" dirty="0"/>
          </a:p>
        </p:txBody>
      </p:sp>
      <p:sp>
        <p:nvSpPr>
          <p:cNvPr id="21" name="Text 19"/>
          <p:cNvSpPr txBox="1"/>
          <p:nvPr/>
        </p:nvSpPr>
        <p:spPr>
          <a:xfrm>
            <a:off x="457200" y="4173322"/>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its regtest record</a:t>
            </a:r>
            <a:endParaRPr lang="en-US" sz="900" dirty="0"/>
          </a:p>
        </p:txBody>
      </p:sp>
      <p:sp>
        <p:nvSpPr>
          <p:cNvPr id="22" name="Text 20"/>
          <p:cNvSpPr txBox="1"/>
          <p:nvPr/>
        </p:nvSpPr>
        <p:spPr>
          <a:xfrm>
            <a:off x="5715000" y="1325880"/>
            <a:ext cx="2971800" cy="21945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waiting time and hash rate</a:t>
            </a:r>
            <a:endParaRPr lang="en-US" sz="11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5715000" y="1591056"/>
          <a:ext cx="2971800" cy="914400"/>
        </p:xfrm>
        <a:graphic>
          <a:graphicData uri="http://schemas.openxmlformats.org/drawingml/2006/table">
            <a:tbl>
              <a:tblPr/>
              <a:tblGrid>
                <a:gridCol w="1737360"/>
                <a:gridCol w="1234440"/>
              </a:tblGrid>
              <a:tr h="274320">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Quantity</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Value</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Difficulty, block 277,316</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1,180,923,195</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Days for one TH/s</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58.7</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Blocks of waiting</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8,453</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Hash rate by difficulty, 2026</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9.50e+20</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23697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book says 8,496 blocks. The difficulty gives 8,453 blocks, about 58.7 days.</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book's 8,496 blocks are 8,453 when recomputed</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28 / 51</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Retargeting on a real epoch</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period that ended at block 840,671</a:t>
            </a:r>
            <a:endParaRPr lang="en-US" sz="1300" dirty="0"/>
          </a:p>
        </p:txBody>
      </p:sp>
      <p:sp>
        <p:nvSpPr>
          <p:cNvPr id="6" name="Shape 4"/>
          <p:cNvSpPr/>
          <p:nvPr/>
        </p:nvSpPr>
        <p:spPr>
          <a:xfrm>
            <a:off x="457200" y="1325880"/>
            <a:ext cx="5074920" cy="311810"/>
          </a:xfrm>
          <a:prstGeom prst="roundRect">
            <a:avLst>
              <a:gd name="adj" fmla="val 23460"/>
            </a:avLst>
          </a:prstGeom>
          <a:solidFill>
            <a:srgbClr val="23272E"/>
          </a:solidFill>
          <a:ln w="12700">
            <a:solidFill>
              <a:srgbClr val="23272E"/>
            </a:solidFill>
            <a:prstDash val="solid"/>
          </a:ln>
        </p:spPr>
      </p:sp>
      <p:sp>
        <p:nvSpPr>
          <p:cNvPr id="7" name="Text 5"/>
          <p:cNvSpPr txBox="1"/>
          <p:nvPr/>
        </p:nvSpPr>
        <p:spPr>
          <a:xfrm>
            <a:off x="603504" y="139903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a, z, bits = </a:t>
            </a:r>
            <a:r>
              <a:rPr lang="en-US" sz="1000" dirty="0">
                <a:solidFill>
                  <a:srgbClr val="FFD28A"/>
                </a:solidFill>
                <a:latin typeface="Courier New" pitchFamily="34" charset="0"/>
                <a:ea typeface="Courier New" pitchFamily="34" charset="-122"/>
                <a:cs typeface="Courier New" pitchFamily="34" charset="-120"/>
              </a:rPr>
              <a:t>1712783853</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1713969900</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9ECBFF"/>
                </a:solidFill>
                <a:latin typeface="Courier New" pitchFamily="34" charset="0"/>
                <a:ea typeface="Courier New" pitchFamily="34" charset="-122"/>
                <a:cs typeface="Courier New" pitchFamily="34" charset="-120"/>
              </a:rPr>
              <a:t>'17034219'</a:t>
            </a:r>
            <a:endParaRPr lang="en-US" sz="1000" dirty="0"/>
          </a:p>
        </p:txBody>
      </p:sp>
      <p:sp>
        <p:nvSpPr>
          <p:cNvPr id="8" name="Shape 6"/>
          <p:cNvSpPr/>
          <p:nvPr/>
        </p:nvSpPr>
        <p:spPr>
          <a:xfrm>
            <a:off x="457200" y="2122322"/>
            <a:ext cx="5074920" cy="311810"/>
          </a:xfrm>
          <a:prstGeom prst="roundRect">
            <a:avLst>
              <a:gd name="adj" fmla="val 23460"/>
            </a:avLst>
          </a:prstGeom>
          <a:solidFill>
            <a:srgbClr val="23272E"/>
          </a:solidFill>
          <a:ln w="12700">
            <a:solidFill>
              <a:srgbClr val="23272E"/>
            </a:solidFill>
            <a:prstDash val="solid"/>
          </a:ln>
        </p:spPr>
      </p:sp>
      <p:sp>
        <p:nvSpPr>
          <p:cNvPr id="9" name="Text 7"/>
          <p:cNvSpPr txBox="1"/>
          <p:nvPr/>
        </p:nvSpPr>
        <p:spPr>
          <a:xfrm>
            <a:off x="603504" y="2195474"/>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new = L.retarget(a, z, bits)</a:t>
            </a:r>
            <a:endParaRPr lang="en-US" sz="1000" dirty="0"/>
          </a:p>
        </p:txBody>
      </p:sp>
      <p:sp>
        <p:nvSpPr>
          <p:cNvPr id="10" name="Shape 8"/>
          <p:cNvSpPr/>
          <p:nvPr/>
        </p:nvSpPr>
        <p:spPr>
          <a:xfrm>
            <a:off x="457200" y="2918765"/>
            <a:ext cx="5074920" cy="641909"/>
          </a:xfrm>
          <a:prstGeom prst="roundRect">
            <a:avLst>
              <a:gd name="adj" fmla="val 11396"/>
            </a:avLst>
          </a:prstGeom>
          <a:solidFill>
            <a:srgbClr val="23272E"/>
          </a:solidFill>
          <a:ln w="12700">
            <a:solidFill>
              <a:srgbClr val="23272E"/>
            </a:solidFill>
            <a:prstDash val="solid"/>
          </a:ln>
        </p:spPr>
      </p:sp>
      <p:sp>
        <p:nvSpPr>
          <p:cNvPr id="11" name="Text 9"/>
          <p:cNvSpPr txBox="1"/>
          <p:nvPr/>
        </p:nvSpPr>
        <p:spPr>
          <a:xfrm>
            <a:off x="603504" y="2991917"/>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bias = round((</a:t>
            </a:r>
            <a:r>
              <a:rPr lang="en-US" sz="1000" dirty="0">
                <a:solidFill>
                  <a:srgbClr val="FFD28A"/>
                </a:solidFill>
                <a:latin typeface="Courier New" pitchFamily="34" charset="0"/>
                <a:ea typeface="Courier New" pitchFamily="34" charset="-122"/>
                <a:cs typeface="Courier New" pitchFamily="34" charset="-120"/>
              </a:rPr>
              <a:t>2016</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2015</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100</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3</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(z - a, hex(new), bias)</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(1186047, '0x170331db', 0.05)</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665122"/>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Block times of 838,656 and 840,671 and the bits of the period are typed from the saved headers.</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461565"/>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rule of pow.cpp scales the target by the real time over the intended 14 days.</a:t>
            </a:r>
            <a:endParaRPr lang="en-US" sz="1050" dirty="0"/>
          </a:p>
        </p:txBody>
      </p:sp>
      <p:sp>
        <p:nvSpPr>
          <p:cNvPr id="18" name="Shape 16"/>
          <p:cNvSpPr/>
          <p:nvPr/>
        </p:nvSpPr>
        <p:spPr>
          <a:xfrm>
            <a:off x="365760" y="2845613"/>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845613"/>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588106"/>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result is the bits of block 840,672; counting 2,016 blocks instead of 2,015 gaps would add a small bias.</a:t>
            </a:r>
            <a:endParaRPr lang="en-US" sz="1050" dirty="0"/>
          </a:p>
        </p:txBody>
      </p:sp>
      <p:sp>
        <p:nvSpPr>
          <p:cNvPr id="21" name="Text 19"/>
          <p:cNvSpPr txBox="1"/>
          <p:nvPr/>
        </p:nvSpPr>
        <p:spPr>
          <a:xfrm>
            <a:off x="457200" y="4008730"/>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its regtest record</a:t>
            </a:r>
            <a:endParaRPr lang="en-US" sz="900" dirty="0"/>
          </a:p>
        </p:txBody>
      </p:sp>
      <p:sp>
        <p:nvSpPr>
          <p:cNvPr id="22" name="Text 20"/>
          <p:cNvSpPr txBox="1"/>
          <p:nvPr/>
        </p:nvSpPr>
        <p:spPr>
          <a:xfrm>
            <a:off x="5715000" y="1325880"/>
            <a:ext cx="2971800" cy="21945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the retarget of April 2024</a:t>
            </a:r>
            <a:endParaRPr lang="en-US" sz="11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5715000" y="1591056"/>
          <a:ext cx="2971800" cy="914400"/>
        </p:xfrm>
        <a:graphic>
          <a:graphicData uri="http://schemas.openxmlformats.org/drawingml/2006/table">
            <a:tbl>
              <a:tblPr/>
              <a:tblGrid>
                <a:gridCol w="1600200"/>
                <a:gridCol w="1371600"/>
              </a:tblGrid>
              <a:tr h="274320">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Quantity</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Value</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Seconds the period took</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1,186,047</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Seconds intended</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1,209,600</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Intended over real</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1.0199</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New bits by the rule</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0x170331db</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Equal to block 840,672</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yes</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Bias of 2,016 for 2,015</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0.05 percent</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78561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period was short, so the target shrank by 2.0 percent: mining became a little harder.</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rule reproduces the real adjustment from two block times</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29 / 51</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factor-of-four clamp</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period far too fast, on time, and far too slow</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t0 = L.bits_to_target(</a:t>
            </a:r>
            <a:r>
              <a:rPr lang="en-US" sz="1000" dirty="0">
                <a:solidFill>
                  <a:srgbClr val="9ECBFF"/>
                </a:solidFill>
                <a:latin typeface="Courier New" pitchFamily="34" charset="0"/>
                <a:ea typeface="Courier New" pitchFamily="34" charset="-122"/>
                <a:cs typeface="Courier New" pitchFamily="34" charset="-120"/>
              </a:rPr>
              <a:t>'17034219'</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rt = </a:t>
            </a:r>
            <a:r>
              <a:rPr lang="en-US" sz="1000" b="1" dirty="0">
                <a:solidFill>
                  <a:srgbClr val="F2A860"/>
                </a:solidFill>
                <a:latin typeface="Courier New" pitchFamily="34" charset="0"/>
                <a:ea typeface="Courier New" pitchFamily="34" charset="-122"/>
                <a:cs typeface="Courier New" pitchFamily="34" charset="-120"/>
              </a:rPr>
              <a:t>lambda</a:t>
            </a:r>
            <a:r>
              <a:rPr lang="en-US" sz="1000" dirty="0">
                <a:solidFill>
                  <a:srgbClr val="E6EDF3"/>
                </a:solidFill>
                <a:latin typeface="Courier New" pitchFamily="34" charset="0"/>
                <a:ea typeface="Courier New" pitchFamily="34" charset="-122"/>
                <a:cs typeface="Courier New" pitchFamily="34" charset="-120"/>
              </a:rPr>
              <a:t> s: L.retarget(</a:t>
            </a:r>
            <a:r>
              <a:rPr lang="en-US" sz="1000" dirty="0">
                <a:solidFill>
                  <a:srgbClr val="FFD28A"/>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 s, </a:t>
            </a:r>
            <a:r>
              <a:rPr lang="en-US" sz="1000" dirty="0">
                <a:solidFill>
                  <a:srgbClr val="9ECBFF"/>
                </a:solidFill>
                <a:latin typeface="Courier New" pitchFamily="34" charset="0"/>
                <a:ea typeface="Courier New" pitchFamily="34" charset="-122"/>
                <a:cs typeface="Courier New" pitchFamily="34" charset="-120"/>
              </a:rPr>
              <a:t>'17034219'</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286914"/>
            <a:ext cx="5074920" cy="311810"/>
          </a:xfrm>
          <a:prstGeom prst="roundRect">
            <a:avLst>
              <a:gd name="adj" fmla="val 23460"/>
            </a:avLst>
          </a:prstGeom>
          <a:solidFill>
            <a:srgbClr val="23272E"/>
          </a:solidFill>
          <a:ln w="12700">
            <a:solidFill>
              <a:srgbClr val="23272E"/>
            </a:solidFill>
            <a:prstDash val="solid"/>
          </a:ln>
        </p:spPr>
      </p:sp>
      <p:sp>
        <p:nvSpPr>
          <p:cNvPr id="9" name="Text 7"/>
          <p:cNvSpPr txBox="1"/>
          <p:nvPr/>
        </p:nvSpPr>
        <p:spPr>
          <a:xfrm>
            <a:off x="603504" y="2360066"/>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tg = </a:t>
            </a:r>
            <a:r>
              <a:rPr lang="en-US" sz="1000" b="1" dirty="0">
                <a:solidFill>
                  <a:srgbClr val="F2A860"/>
                </a:solidFill>
                <a:latin typeface="Courier New" pitchFamily="34" charset="0"/>
                <a:ea typeface="Courier New" pitchFamily="34" charset="-122"/>
                <a:cs typeface="Courier New" pitchFamily="34" charset="-120"/>
              </a:rPr>
              <a:t>lambda</a:t>
            </a:r>
            <a:r>
              <a:rPr lang="en-US" sz="1000" dirty="0">
                <a:solidFill>
                  <a:srgbClr val="E6EDF3"/>
                </a:solidFill>
                <a:latin typeface="Courier New" pitchFamily="34" charset="0"/>
                <a:ea typeface="Courier New" pitchFamily="34" charset="-122"/>
                <a:cs typeface="Courier New" pitchFamily="34" charset="-120"/>
              </a:rPr>
              <a:t> s: L.bits_to_target(rt(s)) / t0</a:t>
            </a:r>
            <a:endParaRPr lang="en-US" sz="1000" dirty="0"/>
          </a:p>
        </p:txBody>
      </p:sp>
      <p:sp>
        <p:nvSpPr>
          <p:cNvPr id="10" name="Shape 8"/>
          <p:cNvSpPr/>
          <p:nvPr/>
        </p:nvSpPr>
        <p:spPr>
          <a:xfrm>
            <a:off x="457200" y="3083357"/>
            <a:ext cx="5074920" cy="641909"/>
          </a:xfrm>
          <a:prstGeom prst="roundRect">
            <a:avLst>
              <a:gd name="adj" fmla="val 11396"/>
            </a:avLst>
          </a:prstGeom>
          <a:solidFill>
            <a:srgbClr val="23272E"/>
          </a:solidFill>
          <a:ln w="12700">
            <a:solidFill>
              <a:srgbClr val="23272E"/>
            </a:solidFill>
            <a:prstDash val="solid"/>
          </a:ln>
        </p:spPr>
      </p:sp>
      <p:sp>
        <p:nvSpPr>
          <p:cNvPr id="11" name="Text 9"/>
          <p:cNvSpPr txBox="1"/>
          <p:nvPr/>
        </p:nvSpPr>
        <p:spPr>
          <a:xfrm>
            <a:off x="603504" y="3156509"/>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 = [round(tg(s), </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s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10</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FFD28A"/>
                </a:solidFill>
                <a:latin typeface="Courier New" pitchFamily="34" charset="0"/>
                <a:ea typeface="Courier New" pitchFamily="34" charset="-122"/>
                <a:cs typeface="Courier New" pitchFamily="34" charset="-120"/>
              </a:rPr>
              <a:t>5</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1209600</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10</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FFD28A"/>
                </a:solidFill>
                <a:latin typeface="Courier New" pitchFamily="34" charset="0"/>
                <a:ea typeface="Courier New" pitchFamily="34" charset="-122"/>
                <a:cs typeface="Courier New" pitchFamily="34" charset="-120"/>
              </a:rPr>
              <a:t>7</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[0.25, 1.0, 4.0]</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829714"/>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very fast or very slow period cannot change the target by more than a factor of four.</a:t>
            </a:r>
            <a:endParaRPr lang="en-US" sz="1050" dirty="0"/>
          </a:p>
        </p:txBody>
      </p:sp>
      <p:sp>
        <p:nvSpPr>
          <p:cNvPr id="15" name="Shape 13"/>
          <p:cNvSpPr/>
          <p:nvPr/>
        </p:nvSpPr>
        <p:spPr>
          <a:xfrm>
            <a:off x="365760" y="2213762"/>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213762"/>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626157"/>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New target over old target, for a period too fast, on time and too slow.</a:t>
            </a:r>
            <a:endParaRPr lang="en-US" sz="1050" dirty="0"/>
          </a:p>
        </p:txBody>
      </p:sp>
      <p:sp>
        <p:nvSpPr>
          <p:cNvPr id="18" name="Shape 16"/>
          <p:cNvSpPr/>
          <p:nvPr/>
        </p:nvSpPr>
        <p:spPr>
          <a:xfrm>
            <a:off x="365760" y="3010205"/>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3010205"/>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752698"/>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ratios stop at one quarter and four.</a:t>
            </a:r>
            <a:endParaRPr lang="en-US" sz="1050" dirty="0"/>
          </a:p>
        </p:txBody>
      </p:sp>
      <p:sp>
        <p:nvSpPr>
          <p:cNvPr id="21" name="Text 19"/>
          <p:cNvSpPr txBox="1"/>
          <p:nvPr/>
        </p:nvSpPr>
        <p:spPr>
          <a:xfrm>
            <a:off x="457200" y="4008730"/>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its regtest record</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new target divided by old target</a:t>
            </a:r>
            <a:endParaRPr lang="en-US" sz="1100" dirty="0"/>
          </a:p>
        </p:txBody>
      </p:sp>
      <p:graphicFrame>
        <p:nvGraphicFramePr>
          <p:cNvPr id="23" name="Chart 0" descr=""/>
          <p:cNvGraphicFramePr/>
          <p:nvPr/>
        </p:nvGraphicFramePr>
        <p:xfrm>
          <a:off x="5715000" y="1773936"/>
          <a:ext cx="2971800" cy="2075688"/>
        </p:xfrm>
        <a:graphic xmlns:a="http://schemas.openxmlformats.org/drawingml/2006/main">
          <a:graphicData uri="http://schemas.openxmlformats.org/drawingml/2006/chart">
            <c:chart xmlns:c="http://schemas.openxmlformats.org/drawingml/2006/chart" r:id="rId1"/>
          </a:graphicData>
        </a:graphic>
      </p:graphicFrame>
      <p:sp>
        <p:nvSpPr>
          <p:cNvPr id="24" name="Text 21"/>
          <p:cNvSpPr txBox="1"/>
          <p:nvPr/>
        </p:nvSpPr>
        <p:spPr>
          <a:xfrm>
            <a:off x="5715000" y="3941064"/>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ratio stops at 0.25 and 4. The difficulty moves by the inverse, so it too changes at most fourfold.</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One retarget moves the target by at most a factor of four</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30 / 51</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Regtest never retargets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Chain constants, and the BIP 94 branch</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ch = [</a:t>
            </a:r>
            <a:r>
              <a:rPr lang="en-US" sz="1000" dirty="0">
                <a:solidFill>
                  <a:srgbClr val="9ECBFF"/>
                </a:solidFill>
                <a:latin typeface="Courier New" pitchFamily="34" charset="0"/>
                <a:ea typeface="Courier New" pitchFamily="34" charset="-122"/>
                <a:cs typeface="Courier New" pitchFamily="34" charset="-120"/>
              </a:rPr>
              <a:t>'main'</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9ECBFF"/>
                </a:solidFill>
                <a:latin typeface="Courier New" pitchFamily="34" charset="0"/>
                <a:ea typeface="Courier New" pitchFamily="34" charset="-122"/>
                <a:cs typeface="Courier New" pitchFamily="34" charset="-120"/>
              </a:rPr>
              <a:t>'testnet4'</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9ECBFF"/>
                </a:solidFill>
                <a:latin typeface="Courier New" pitchFamily="34" charset="0"/>
                <a:ea typeface="Courier New" pitchFamily="34" charset="-122"/>
                <a:cs typeface="Courier New" pitchFamily="34" charset="-120"/>
              </a:rPr>
              <a:t>'regtest'</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no = [cv(c, r</a:t>
            </a:r>
            <a:r>
              <a:rPr lang="en-US" sz="1000" dirty="0">
                <a:solidFill>
                  <a:srgbClr val="9ECBFF"/>
                </a:solidFill>
                <a:latin typeface="Courier New" pitchFamily="34" charset="0"/>
                <a:ea typeface="Courier New" pitchFamily="34" charset="-122"/>
                <a:cs typeface="Courier New" pitchFamily="34" charset="-120"/>
              </a:rPr>
              <a:t>'fPowNoRetargeting = (\w+)'</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c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ch]</a:t>
            </a:r>
            <a:endParaRPr lang="en-US" sz="1000" dirty="0"/>
          </a:p>
        </p:txBody>
      </p:sp>
      <p:sp>
        <p:nvSpPr>
          <p:cNvPr id="8" name="Shape 6"/>
          <p:cNvSpPr/>
          <p:nvPr/>
        </p:nvSpPr>
        <p:spPr>
          <a:xfrm>
            <a:off x="457200" y="2286914"/>
            <a:ext cx="5074920" cy="311810"/>
          </a:xfrm>
          <a:prstGeom prst="roundRect">
            <a:avLst>
              <a:gd name="adj" fmla="val 23460"/>
            </a:avLst>
          </a:prstGeom>
          <a:solidFill>
            <a:srgbClr val="23272E"/>
          </a:solidFill>
          <a:ln w="12700">
            <a:solidFill>
              <a:srgbClr val="23272E"/>
            </a:solidFill>
            <a:prstDash val="solid"/>
          </a:ln>
        </p:spPr>
      </p:sp>
      <p:sp>
        <p:nvSpPr>
          <p:cNvPr id="9" name="Text 7"/>
          <p:cNvSpPr txBox="1"/>
          <p:nvPr/>
        </p:nvSpPr>
        <p:spPr>
          <a:xfrm>
            <a:off x="603504" y="2360066"/>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b94 = [cv(c, r</a:t>
            </a:r>
            <a:r>
              <a:rPr lang="en-US" sz="1000" dirty="0">
                <a:solidFill>
                  <a:srgbClr val="9ECBFF"/>
                </a:solidFill>
                <a:latin typeface="Courier New" pitchFamily="34" charset="0"/>
                <a:ea typeface="Courier New" pitchFamily="34" charset="-122"/>
                <a:cs typeface="Courier New" pitchFamily="34" charset="-120"/>
              </a:rPr>
              <a:t>'enforce_BIP94 = (\w+)'</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c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ch]</a:t>
            </a:r>
            <a:endParaRPr lang="en-US" sz="1000" dirty="0"/>
          </a:p>
        </p:txBody>
      </p:sp>
      <p:sp>
        <p:nvSpPr>
          <p:cNvPr id="10" name="Shape 8"/>
          <p:cNvSpPr/>
          <p:nvPr/>
        </p:nvSpPr>
        <p:spPr>
          <a:xfrm>
            <a:off x="457200" y="3083357"/>
            <a:ext cx="5074920" cy="476402"/>
          </a:xfrm>
          <a:prstGeom prst="roundRect">
            <a:avLst>
              <a:gd name="adj" fmla="val 15355"/>
            </a:avLst>
          </a:prstGeom>
          <a:solidFill>
            <a:srgbClr val="23272E"/>
          </a:solidFill>
          <a:ln w="12700">
            <a:solidFill>
              <a:srgbClr val="23272E"/>
            </a:solidFill>
            <a:prstDash val="solid"/>
          </a:ln>
        </p:spPr>
      </p:sp>
      <p:sp>
        <p:nvSpPr>
          <p:cNvPr id="11" name="Text 9"/>
          <p:cNvSpPr txBox="1"/>
          <p:nvPr/>
        </p:nvSpPr>
        <p:spPr>
          <a:xfrm>
            <a:off x="603504" y="3156509"/>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(no[</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 b94[</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('true', 'true')</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829714"/>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Each chain has constants in chainparams.cpp: first, whether the target is never adjusted.</a:t>
            </a:r>
            <a:endParaRPr lang="en-US" sz="1050" dirty="0"/>
          </a:p>
        </p:txBody>
      </p:sp>
      <p:sp>
        <p:nvSpPr>
          <p:cNvPr id="15" name="Shape 13"/>
          <p:cNvSpPr/>
          <p:nvPr/>
        </p:nvSpPr>
        <p:spPr>
          <a:xfrm>
            <a:off x="365760" y="2213762"/>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213762"/>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626157"/>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Second, whether the BIP 94 branch of the retarget code is switched on.</a:t>
            </a:r>
            <a:endParaRPr lang="en-US" sz="1050" dirty="0"/>
          </a:p>
        </p:txBody>
      </p:sp>
      <p:sp>
        <p:nvSpPr>
          <p:cNvPr id="18" name="Shape 16"/>
          <p:cNvSpPr/>
          <p:nvPr/>
        </p:nvSpPr>
        <p:spPr>
          <a:xfrm>
            <a:off x="365760" y="3010205"/>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3010205"/>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587191"/>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On regtest the bits stay the same, even after 2,016 blocks.</a:t>
            </a:r>
            <a:endParaRPr lang="en-US" sz="1050" dirty="0"/>
          </a:p>
        </p:txBody>
      </p:sp>
      <p:sp>
        <p:nvSpPr>
          <p:cNvPr id="21" name="Text 19"/>
          <p:cNvSpPr txBox="1"/>
          <p:nvPr/>
        </p:nvSpPr>
        <p:spPr>
          <a:xfrm>
            <a:off x="457200" y="3843223"/>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its regtest record</a:t>
            </a:r>
            <a:endParaRPr lang="en-US" sz="900" dirty="0"/>
          </a:p>
        </p:txBody>
      </p:sp>
      <p:sp>
        <p:nvSpPr>
          <p:cNvPr id="22" name="Text 20"/>
          <p:cNvSpPr txBox="1"/>
          <p:nvPr/>
        </p:nvSpPr>
        <p:spPr>
          <a:xfrm>
            <a:off x="5715000" y="1325880"/>
            <a:ext cx="2971800" cy="21945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constants of three chains</a:t>
            </a:r>
            <a:endParaRPr lang="en-US" sz="11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5715000" y="1591056"/>
          <a:ext cx="2971800" cy="914400"/>
        </p:xfrm>
        <a:graphic>
          <a:graphicData uri="http://schemas.openxmlformats.org/drawingml/2006/table">
            <a:tbl>
              <a:tblPr/>
              <a:tblGrid>
                <a:gridCol w="1097280"/>
                <a:gridCol w="1005840"/>
                <a:gridCol w="86868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Chain</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No retarget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BIP 94</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Main</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no</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no</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Testnet4</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no</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Regtest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by option</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296265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Regtest keeps the bits 207fffff at block 2017. Core's pow.cpp has the BIP 94 branch: yes.</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Testnet4 turns the BIP 94 branch on; mainnet does not need it</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31 / 51</a:t>
            </a:r>
            <a:endParaRPr lang="en-US" sz="1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Competition and attacks</a:t>
            </a:r>
            <a:endParaRPr lang="en-US" sz="3200" dirty="0"/>
          </a:p>
        </p:txBody>
      </p:sp>
      <p:sp>
        <p:nvSpPr>
          <p:cNvPr id="5" name="Text 3"/>
          <p:cNvSpPr txBox="1"/>
          <p:nvPr/>
        </p:nvSpPr>
        <p:spPr>
          <a:xfrm>
            <a:off x="777240" y="1645920"/>
            <a:ext cx="7863840" cy="384048"/>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Mining is a race of lottery syndicates, and a big syndicate may cheat.</a:t>
            </a:r>
            <a:endParaRPr lang="en-US" sz="1500" dirty="0"/>
          </a:p>
        </p:txBody>
      </p:sp>
      <p:sp>
        <p:nvSpPr>
          <p:cNvPr id="6" name="Shape 4"/>
          <p:cNvSpPr/>
          <p:nvPr/>
        </p:nvSpPr>
        <p:spPr>
          <a:xfrm>
            <a:off x="777240" y="2103120"/>
            <a:ext cx="2499360" cy="310896"/>
          </a:xfrm>
          <a:prstGeom prst="roundRect">
            <a:avLst>
              <a:gd name="adj" fmla="val 50000"/>
            </a:avLst>
          </a:prstGeom>
          <a:solidFill>
            <a:srgbClr val="D97A14"/>
          </a:solidFill>
          <a:ln w="12700">
            <a:solidFill>
              <a:srgbClr val="D97A14"/>
            </a:solidFill>
            <a:prstDash val="solid"/>
          </a:ln>
        </p:spPr>
      </p:sp>
      <p:sp>
        <p:nvSpPr>
          <p:cNvPr id="7" name="Text 5"/>
          <p:cNvSpPr txBox="1"/>
          <p:nvPr/>
        </p:nvSpPr>
        <p:spPr>
          <a:xfrm>
            <a:off x="85039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The nonce space</a:t>
            </a:r>
            <a:endParaRPr lang="en-US" sz="1200" dirty="0"/>
          </a:p>
        </p:txBody>
      </p:sp>
      <p:sp>
        <p:nvSpPr>
          <p:cNvPr id="8" name="Text 6"/>
          <p:cNvSpPr txBox="1"/>
          <p:nvPr/>
        </p:nvSpPr>
        <p:spPr>
          <a:xfrm>
            <a:off x="777240" y="2487168"/>
            <a:ext cx="2499360" cy="571500"/>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Four billion tries are used up at once, so miners vary other fields too.</a:t>
            </a:r>
            <a:endParaRPr lang="en-US" sz="1150" dirty="0"/>
          </a:p>
        </p:txBody>
      </p:sp>
      <p:sp>
        <p:nvSpPr>
          <p:cNvPr id="9" name="Text 7"/>
          <p:cNvSpPr txBox="1"/>
          <p:nvPr/>
        </p:nvSpPr>
        <p:spPr>
          <a:xfrm>
            <a:off x="777240" y="3086100"/>
            <a:ext cx="249936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combination lock with too few wheels.</a:t>
            </a:r>
            <a:endParaRPr lang="en-US" sz="1150" dirty="0"/>
          </a:p>
        </p:txBody>
      </p:sp>
      <p:sp>
        <p:nvSpPr>
          <p:cNvPr id="10" name="Shape 8"/>
          <p:cNvSpPr/>
          <p:nvPr/>
        </p:nvSpPr>
        <p:spPr>
          <a:xfrm>
            <a:off x="3459480" y="2103120"/>
            <a:ext cx="2499360" cy="310896"/>
          </a:xfrm>
          <a:prstGeom prst="roundRect">
            <a:avLst>
              <a:gd name="adj" fmla="val 50000"/>
            </a:avLst>
          </a:prstGeom>
          <a:solidFill>
            <a:srgbClr val="D97A14"/>
          </a:solidFill>
          <a:ln w="12700">
            <a:solidFill>
              <a:srgbClr val="D97A14"/>
            </a:solidFill>
            <a:prstDash val="solid"/>
          </a:ln>
        </p:spPr>
      </p:sp>
      <p:sp>
        <p:nvSpPr>
          <p:cNvPr id="11" name="Text 9"/>
          <p:cNvSpPr txBox="1"/>
          <p:nvPr/>
        </p:nvSpPr>
        <p:spPr>
          <a:xfrm>
            <a:off x="353263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Mining pools</a:t>
            </a:r>
            <a:endParaRPr lang="en-US" sz="1200" dirty="0"/>
          </a:p>
        </p:txBody>
      </p:sp>
      <p:sp>
        <p:nvSpPr>
          <p:cNvPr id="12" name="Text 10"/>
          <p:cNvSpPr txBox="1"/>
          <p:nvPr/>
        </p:nvSpPr>
        <p:spPr>
          <a:xfrm>
            <a:off x="3459480" y="2487168"/>
            <a:ext cx="2499360" cy="571500"/>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Small miners pool power and share the pay, at the price of trust.</a:t>
            </a:r>
            <a:endParaRPr lang="en-US" sz="1150" dirty="0"/>
          </a:p>
        </p:txBody>
      </p:sp>
      <p:sp>
        <p:nvSpPr>
          <p:cNvPr id="13" name="Text 11"/>
          <p:cNvSpPr txBox="1"/>
          <p:nvPr/>
        </p:nvSpPr>
        <p:spPr>
          <a:xfrm>
            <a:off x="3459480" y="3086100"/>
            <a:ext cx="249936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lottery syndicate that splits small wins.</a:t>
            </a:r>
            <a:endParaRPr lang="en-US" sz="1150" dirty="0"/>
          </a:p>
        </p:txBody>
      </p:sp>
      <p:sp>
        <p:nvSpPr>
          <p:cNvPr id="14" name="Shape 12"/>
          <p:cNvSpPr/>
          <p:nvPr/>
        </p:nvSpPr>
        <p:spPr>
          <a:xfrm>
            <a:off x="6141720" y="2103120"/>
            <a:ext cx="2499360" cy="310896"/>
          </a:xfrm>
          <a:prstGeom prst="roundRect">
            <a:avLst>
              <a:gd name="adj" fmla="val 50000"/>
            </a:avLst>
          </a:prstGeom>
          <a:solidFill>
            <a:srgbClr val="D97A14"/>
          </a:solidFill>
          <a:ln w="12700">
            <a:solidFill>
              <a:srgbClr val="D97A14"/>
            </a:solidFill>
            <a:prstDash val="solid"/>
          </a:ln>
        </p:spPr>
      </p:sp>
      <p:sp>
        <p:nvSpPr>
          <p:cNvPr id="15" name="Text 13"/>
          <p:cNvSpPr txBox="1"/>
          <p:nvPr/>
        </p:nvSpPr>
        <p:spPr>
          <a:xfrm>
            <a:off x="621487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Hash rate attacks</a:t>
            </a:r>
            <a:endParaRPr lang="en-US" sz="1200" dirty="0"/>
          </a:p>
        </p:txBody>
      </p:sp>
      <p:sp>
        <p:nvSpPr>
          <p:cNvPr id="16" name="Text 14"/>
          <p:cNvSpPr txBox="1"/>
          <p:nvPr/>
        </p:nvSpPr>
        <p:spPr>
          <a:xfrm>
            <a:off x="6141720" y="2487168"/>
            <a:ext cx="249936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A share of the power buys odds of rewriting recent history.</a:t>
            </a:r>
            <a:endParaRPr lang="en-US" sz="1150" dirty="0"/>
          </a:p>
        </p:txBody>
      </p:sp>
      <p:sp>
        <p:nvSpPr>
          <p:cNvPr id="17" name="Text 15"/>
          <p:cNvSpPr txBox="1"/>
          <p:nvPr/>
        </p:nvSpPr>
        <p:spPr>
          <a:xfrm>
            <a:off x="6141720" y="2907792"/>
            <a:ext cx="249936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runner chasing a leader.</a:t>
            </a:r>
            <a:endParaRPr lang="en-US" sz="115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777240" y="3950208"/>
          <a:ext cx="7863840" cy="914400"/>
        </p:xfrm>
        <a:graphic>
          <a:graphicData uri="http://schemas.openxmlformats.org/drawingml/2006/table">
            <a:tbl>
              <a:tblPr/>
              <a:tblGrid>
                <a:gridCol w="1310335"/>
                <a:gridCol w="1310335"/>
                <a:gridCol w="1310335"/>
                <a:gridCol w="1310335"/>
                <a:gridCol w="1310335"/>
                <a:gridCol w="1310335"/>
              </a:tblGrid>
              <a:tr h="365760">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Money</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Verify</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Block</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Work</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Rivals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Rules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r>
            </a:tbl>
          </a:graphicData>
        </a:graphic>
      </p:graphicFrame>
      <p:sp>
        <p:nvSpPr>
          <p:cNvPr id="19"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32 / 51</a:t>
            </a:r>
            <a:endParaRPr lang="en-US" sz="11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Competition and attacks: concepts (1 of 3)</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2645664" cy="1463040"/>
          </a:xfrm>
          <a:prstGeom prst="roundRect">
            <a:avLst>
              <a:gd name="adj" fmla="val 5000"/>
            </a:avLst>
          </a:prstGeom>
          <a:solidFill>
            <a:srgbClr val="F2ECE1"/>
          </a:solidFill>
          <a:ln w="12700">
            <a:solidFill>
              <a:srgbClr val="DFD6C7"/>
            </a:solidFill>
            <a:prstDash val="solid"/>
          </a:ln>
        </p:spPr>
      </p:sp>
      <p:sp>
        <p:nvSpPr>
          <p:cNvPr id="7" name="Shape 5"/>
          <p:cNvSpPr/>
          <p:nvPr/>
        </p:nvSpPr>
        <p:spPr>
          <a:xfrm>
            <a:off x="475488" y="1408176"/>
            <a:ext cx="64008" cy="1207008"/>
          </a:xfrm>
          <a:prstGeom prst="rect">
            <a:avLst/>
          </a:prstGeom>
          <a:solidFill>
            <a:srgbClr val="D97A14"/>
          </a:solidFill>
          <a:ln w="12700">
            <a:solidFill>
              <a:srgbClr val="D97A14"/>
            </a:solidFill>
            <a:prstDash val="solid"/>
          </a:ln>
        </p:spPr>
      </p:sp>
      <p:sp>
        <p:nvSpPr>
          <p:cNvPr id="8" name="Text 6"/>
          <p:cNvSpPr txBox="1"/>
          <p:nvPr/>
        </p:nvSpPr>
        <p:spPr>
          <a:xfrm>
            <a:off x="640080" y="1344168"/>
            <a:ext cx="2371344" cy="759866"/>
          </a:xfrm>
          <a:prstGeom prst="rect">
            <a:avLst/>
          </a:prstGeom>
          <a:noFill/>
          <a:ln/>
        </p:spPr>
        <p:txBody>
          <a:bodyPr wrap="square" lIns="0" tIns="0" rIns="0" bIns="0" rtlCol="0" anchor="t"/>
          <a:lstStyle/>
          <a:p>
            <a:pPr indent="0" marL="0">
              <a:spcAft>
                <a:spcPts val="200"/>
              </a:spcAft>
              <a:buNone/>
            </a:pPr>
            <a:r>
              <a:rPr lang="en-US" sz="1250" b="1" dirty="0">
                <a:solidFill>
                  <a:srgbClr val="2B2622"/>
                </a:solidFill>
                <a:latin typeface="Cambria" pitchFamily="34" charset="0"/>
                <a:ea typeface="Cambria" pitchFamily="34" charset="-122"/>
                <a:cs typeface="Cambria" pitchFamily="34" charset="-120"/>
              </a:rPr>
              <a:t>The nonce space is tiny</a:t>
            </a:r>
            <a:endParaRPr lang="en-US" sz="1250" dirty="0"/>
          </a:p>
          <a:p>
            <a:pPr indent="0" marL="0">
              <a:spcAft>
                <a:spcPts val="200"/>
              </a:spcAft>
              <a:buNone/>
            </a:pPr>
            <a:r>
              <a:rPr lang="en-US" sz="1100" dirty="0">
                <a:solidFill>
                  <a:srgbClr val="2B2622"/>
                </a:solidFill>
                <a:latin typeface="Calibri" pitchFamily="34" charset="0"/>
                <a:ea typeface="Calibri" pitchFamily="34" charset="-122"/>
                <a:cs typeface="Calibri" pitchFamily="34" charset="-120"/>
              </a:rPr>
              <a:t>32 bits give 4.3 billion tries, which a modern machine uses up in a fraction of a second.</a:t>
            </a:r>
            <a:endParaRPr lang="en-US" sz="1250" dirty="0"/>
          </a:p>
        </p:txBody>
      </p:sp>
      <p:sp>
        <p:nvSpPr>
          <p:cNvPr id="9" name="Text 7"/>
          <p:cNvSpPr txBox="1"/>
          <p:nvPr/>
        </p:nvSpPr>
        <p:spPr>
          <a:xfrm>
            <a:off x="640080" y="2131466"/>
            <a:ext cx="2371344" cy="377647"/>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a padlock with only a few wheels.</a:t>
            </a:r>
            <a:endParaRPr lang="en-US" sz="1100" dirty="0"/>
          </a:p>
        </p:txBody>
      </p:sp>
      <p:sp>
        <p:nvSpPr>
          <p:cNvPr id="10" name="Shape 8"/>
          <p:cNvSpPr/>
          <p:nvPr/>
        </p:nvSpPr>
        <p:spPr>
          <a:xfrm>
            <a:off x="3249168" y="1280160"/>
            <a:ext cx="2645664" cy="1463040"/>
          </a:xfrm>
          <a:prstGeom prst="roundRect">
            <a:avLst>
              <a:gd name="adj" fmla="val 5000"/>
            </a:avLst>
          </a:prstGeom>
          <a:solidFill>
            <a:srgbClr val="F2ECE1"/>
          </a:solidFill>
          <a:ln w="12700">
            <a:solidFill>
              <a:srgbClr val="DFD6C7"/>
            </a:solidFill>
            <a:prstDash val="solid"/>
          </a:ln>
        </p:spPr>
      </p:sp>
      <p:sp>
        <p:nvSpPr>
          <p:cNvPr id="11" name="Shape 9"/>
          <p:cNvSpPr/>
          <p:nvPr/>
        </p:nvSpPr>
        <p:spPr>
          <a:xfrm>
            <a:off x="3267456" y="1408176"/>
            <a:ext cx="64008" cy="1207008"/>
          </a:xfrm>
          <a:prstGeom prst="rect">
            <a:avLst/>
          </a:prstGeom>
          <a:solidFill>
            <a:srgbClr val="D97A14"/>
          </a:solidFill>
          <a:ln w="12700">
            <a:solidFill>
              <a:srgbClr val="D97A14"/>
            </a:solidFill>
            <a:prstDash val="solid"/>
          </a:ln>
        </p:spPr>
      </p:sp>
      <p:sp>
        <p:nvSpPr>
          <p:cNvPr id="12" name="Text 10"/>
          <p:cNvSpPr txBox="1"/>
          <p:nvPr/>
        </p:nvSpPr>
        <p:spPr>
          <a:xfrm>
            <a:off x="3432048" y="1344168"/>
            <a:ext cx="2371344" cy="759866"/>
          </a:xfrm>
          <a:prstGeom prst="rect">
            <a:avLst/>
          </a:prstGeom>
          <a:noFill/>
          <a:ln/>
        </p:spPr>
        <p:txBody>
          <a:bodyPr wrap="square" lIns="0" tIns="0" rIns="0" bIns="0" rtlCol="0" anchor="t"/>
          <a:lstStyle/>
          <a:p>
            <a:pPr indent="0" marL="0">
              <a:spcAft>
                <a:spcPts val="200"/>
              </a:spcAft>
              <a:buNone/>
            </a:pPr>
            <a:r>
              <a:rPr lang="en-US" sz="1250" b="1" dirty="0">
                <a:solidFill>
                  <a:srgbClr val="2B2622"/>
                </a:solidFill>
                <a:latin typeface="Cambria" pitchFamily="34" charset="0"/>
                <a:ea typeface="Cambria" pitchFamily="34" charset="-122"/>
                <a:cs typeface="Cambria" pitchFamily="34" charset="-120"/>
              </a:rPr>
              <a:t>Version rolling</a:t>
            </a:r>
            <a:endParaRPr lang="en-US" sz="1250" dirty="0"/>
          </a:p>
          <a:p>
            <a:pPr indent="0" marL="0">
              <a:spcAft>
                <a:spcPts val="200"/>
              </a:spcAft>
              <a:buNone/>
            </a:pPr>
            <a:r>
              <a:rPr lang="en-US" sz="1100" dirty="0">
                <a:solidFill>
                  <a:srgbClr val="2B2622"/>
                </a:solidFill>
                <a:latin typeface="Calibri" pitchFamily="34" charset="0"/>
                <a:ea typeface="Calibri" pitchFamily="34" charset="-122"/>
                <a:cs typeface="Calibri" pitchFamily="34" charset="-120"/>
              </a:rPr>
              <a:t>16 bits of the version field may be changed freely, which multiplies the search space.</a:t>
            </a:r>
            <a:endParaRPr lang="en-US" sz="1250" dirty="0"/>
          </a:p>
        </p:txBody>
      </p:sp>
      <p:sp>
        <p:nvSpPr>
          <p:cNvPr id="13" name="Text 11"/>
          <p:cNvSpPr txBox="1"/>
          <p:nvPr/>
        </p:nvSpPr>
        <p:spPr>
          <a:xfrm>
            <a:off x="3432048" y="2131466"/>
            <a:ext cx="2371344" cy="377647"/>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a spare dial on the lock.</a:t>
            </a:r>
            <a:endParaRPr lang="en-US" sz="1100" dirty="0"/>
          </a:p>
        </p:txBody>
      </p:sp>
      <p:sp>
        <p:nvSpPr>
          <p:cNvPr id="14" name="Shape 12"/>
          <p:cNvSpPr/>
          <p:nvPr/>
        </p:nvSpPr>
        <p:spPr>
          <a:xfrm>
            <a:off x="6041136" y="1280160"/>
            <a:ext cx="2645664" cy="1463040"/>
          </a:xfrm>
          <a:prstGeom prst="roundRect">
            <a:avLst>
              <a:gd name="adj" fmla="val 5000"/>
            </a:avLst>
          </a:prstGeom>
          <a:solidFill>
            <a:srgbClr val="F2ECE1"/>
          </a:solidFill>
          <a:ln w="12700">
            <a:solidFill>
              <a:srgbClr val="DFD6C7"/>
            </a:solidFill>
            <a:prstDash val="solid"/>
          </a:ln>
        </p:spPr>
      </p:sp>
      <p:sp>
        <p:nvSpPr>
          <p:cNvPr id="15" name="Shape 13"/>
          <p:cNvSpPr/>
          <p:nvPr/>
        </p:nvSpPr>
        <p:spPr>
          <a:xfrm>
            <a:off x="6059424" y="1408176"/>
            <a:ext cx="64008" cy="1207008"/>
          </a:xfrm>
          <a:prstGeom prst="rect">
            <a:avLst/>
          </a:prstGeom>
          <a:solidFill>
            <a:srgbClr val="D97A14"/>
          </a:solidFill>
          <a:ln w="12700">
            <a:solidFill>
              <a:srgbClr val="D97A14"/>
            </a:solidFill>
            <a:prstDash val="solid"/>
          </a:ln>
        </p:spPr>
      </p:sp>
      <p:sp>
        <p:nvSpPr>
          <p:cNvPr id="16" name="Text 14"/>
          <p:cNvSpPr txBox="1"/>
          <p:nvPr/>
        </p:nvSpPr>
        <p:spPr>
          <a:xfrm>
            <a:off x="6224016" y="1344168"/>
            <a:ext cx="2371344" cy="759866"/>
          </a:xfrm>
          <a:prstGeom prst="rect">
            <a:avLst/>
          </a:prstGeom>
          <a:noFill/>
          <a:ln/>
        </p:spPr>
        <p:txBody>
          <a:bodyPr wrap="square" lIns="0" tIns="0" rIns="0" bIns="0" rtlCol="0" anchor="t"/>
          <a:lstStyle/>
          <a:p>
            <a:pPr indent="0" marL="0">
              <a:spcAft>
                <a:spcPts val="200"/>
              </a:spcAft>
              <a:buNone/>
            </a:pPr>
            <a:r>
              <a:rPr lang="en-US" sz="1250" b="1" dirty="0">
                <a:solidFill>
                  <a:srgbClr val="2B2622"/>
                </a:solidFill>
                <a:latin typeface="Cambria" pitchFamily="34" charset="0"/>
                <a:ea typeface="Cambria" pitchFamily="34" charset="-122"/>
                <a:cs typeface="Cambria" pitchFamily="34" charset="-120"/>
              </a:rPr>
              <a:t>Covert ASICBoost</a:t>
            </a:r>
            <a:endParaRPr lang="en-US" sz="1250" dirty="0"/>
          </a:p>
          <a:p>
            <a:pPr indent="0" marL="0">
              <a:spcAft>
                <a:spcPts val="200"/>
              </a:spcAft>
              <a:buNone/>
            </a:pPr>
            <a:r>
              <a:rPr lang="en-US" sz="1100" dirty="0">
                <a:solidFill>
                  <a:srgbClr val="2B2622"/>
                </a:solidFill>
                <a:latin typeface="Calibri" pitchFamily="34" charset="0"/>
                <a:ea typeface="Calibri" pitchFamily="34" charset="-122"/>
                <a:cs typeface="Calibri" pitchFamily="34" charset="-120"/>
              </a:rPr>
              <a:t>A way of building the block header so that mining hardware does less work per hash.</a:t>
            </a:r>
            <a:endParaRPr lang="en-US" sz="1250" dirty="0"/>
          </a:p>
        </p:txBody>
      </p:sp>
      <p:sp>
        <p:nvSpPr>
          <p:cNvPr id="17" name="Text 15"/>
          <p:cNvSpPr txBox="1"/>
          <p:nvPr/>
        </p:nvSpPr>
        <p:spPr>
          <a:xfrm>
            <a:off x="6224016" y="2131466"/>
            <a:ext cx="2371344" cy="547726"/>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a baker who reuses one batch of dough for many loaves.</a:t>
            </a:r>
            <a:endParaRPr lang="en-US" sz="1100" dirty="0"/>
          </a:p>
        </p:txBody>
      </p:sp>
      <p:sp>
        <p:nvSpPr>
          <p:cNvPr id="18" name="Shape 16"/>
          <p:cNvSpPr/>
          <p:nvPr/>
        </p:nvSpPr>
        <p:spPr>
          <a:xfrm>
            <a:off x="457200" y="2871216"/>
            <a:ext cx="2645664" cy="1463040"/>
          </a:xfrm>
          <a:prstGeom prst="roundRect">
            <a:avLst>
              <a:gd name="adj" fmla="val 5000"/>
            </a:avLst>
          </a:prstGeom>
          <a:solidFill>
            <a:srgbClr val="F2ECE1"/>
          </a:solidFill>
          <a:ln w="12700">
            <a:solidFill>
              <a:srgbClr val="DFD6C7"/>
            </a:solidFill>
            <a:prstDash val="solid"/>
          </a:ln>
        </p:spPr>
      </p:sp>
      <p:sp>
        <p:nvSpPr>
          <p:cNvPr id="19" name="Shape 17"/>
          <p:cNvSpPr/>
          <p:nvPr/>
        </p:nvSpPr>
        <p:spPr>
          <a:xfrm>
            <a:off x="475488" y="2999232"/>
            <a:ext cx="64008" cy="1207008"/>
          </a:xfrm>
          <a:prstGeom prst="rect">
            <a:avLst/>
          </a:prstGeom>
          <a:solidFill>
            <a:srgbClr val="D97A14"/>
          </a:solidFill>
          <a:ln w="12700">
            <a:solidFill>
              <a:srgbClr val="D97A14"/>
            </a:solidFill>
            <a:prstDash val="solid"/>
          </a:ln>
        </p:spPr>
      </p:sp>
      <p:sp>
        <p:nvSpPr>
          <p:cNvPr id="20" name="Text 18"/>
          <p:cNvSpPr txBox="1"/>
          <p:nvPr/>
        </p:nvSpPr>
        <p:spPr>
          <a:xfrm>
            <a:off x="640080" y="2935224"/>
            <a:ext cx="2371344" cy="759866"/>
          </a:xfrm>
          <a:prstGeom prst="rect">
            <a:avLst/>
          </a:prstGeom>
          <a:noFill/>
          <a:ln/>
        </p:spPr>
        <p:txBody>
          <a:bodyPr wrap="square" lIns="0" tIns="0" rIns="0" bIns="0" rtlCol="0" anchor="t"/>
          <a:lstStyle/>
          <a:p>
            <a:pPr indent="0" marL="0">
              <a:spcAft>
                <a:spcPts val="200"/>
              </a:spcAft>
              <a:buNone/>
            </a:pPr>
            <a:r>
              <a:rPr lang="en-US" sz="1250" b="1" dirty="0">
                <a:solidFill>
                  <a:srgbClr val="2B2622"/>
                </a:solidFill>
                <a:latin typeface="Cambria" pitchFamily="34" charset="0"/>
                <a:ea typeface="Cambria" pitchFamily="34" charset="-122"/>
                <a:cs typeface="Cambria" pitchFamily="34" charset="-120"/>
              </a:rPr>
              <a:t>Pool shares and fees</a:t>
            </a:r>
            <a:endParaRPr lang="en-US" sz="1250" dirty="0"/>
          </a:p>
          <a:p>
            <a:pPr indent="0" marL="0">
              <a:spcAft>
                <a:spcPts val="200"/>
              </a:spcAft>
              <a:buNone/>
            </a:pPr>
            <a:r>
              <a:rPr lang="en-US" sz="1100" dirty="0">
                <a:solidFill>
                  <a:srgbClr val="2B2622"/>
                </a:solidFill>
                <a:latin typeface="Calibri" pitchFamily="34" charset="0"/>
                <a:ea typeface="Calibri" pitchFamily="34" charset="-122"/>
                <a:cs typeface="Calibri" pitchFamily="34" charset="-120"/>
              </a:rPr>
              <a:t>A pool pays members for easy partial solutions and keeps a fee.</a:t>
            </a:r>
            <a:endParaRPr lang="en-US" sz="1250" dirty="0"/>
          </a:p>
        </p:txBody>
      </p:sp>
      <p:sp>
        <p:nvSpPr>
          <p:cNvPr id="21" name="Text 19"/>
          <p:cNvSpPr txBox="1"/>
          <p:nvPr/>
        </p:nvSpPr>
        <p:spPr>
          <a:xfrm>
            <a:off x="640080" y="3722522"/>
            <a:ext cx="2371344" cy="377647"/>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a lottery syndicate that splits small wins.</a:t>
            </a:r>
            <a:endParaRPr lang="en-US" sz="1100" dirty="0"/>
          </a:p>
        </p:txBody>
      </p:sp>
      <p:sp>
        <p:nvSpPr>
          <p:cNvPr id="22" name="Shape 20"/>
          <p:cNvSpPr/>
          <p:nvPr/>
        </p:nvSpPr>
        <p:spPr>
          <a:xfrm>
            <a:off x="3249168" y="2871216"/>
            <a:ext cx="2645664" cy="1463040"/>
          </a:xfrm>
          <a:prstGeom prst="roundRect">
            <a:avLst>
              <a:gd name="adj" fmla="val 5000"/>
            </a:avLst>
          </a:prstGeom>
          <a:solidFill>
            <a:srgbClr val="F2ECE1"/>
          </a:solidFill>
          <a:ln w="12700">
            <a:solidFill>
              <a:srgbClr val="DFD6C7"/>
            </a:solidFill>
            <a:prstDash val="solid"/>
          </a:ln>
        </p:spPr>
      </p:sp>
      <p:sp>
        <p:nvSpPr>
          <p:cNvPr id="23" name="Shape 21"/>
          <p:cNvSpPr/>
          <p:nvPr/>
        </p:nvSpPr>
        <p:spPr>
          <a:xfrm>
            <a:off x="3267456" y="2999232"/>
            <a:ext cx="64008" cy="1207008"/>
          </a:xfrm>
          <a:prstGeom prst="rect">
            <a:avLst/>
          </a:prstGeom>
          <a:solidFill>
            <a:srgbClr val="D97A14"/>
          </a:solidFill>
          <a:ln w="12700">
            <a:solidFill>
              <a:srgbClr val="D97A14"/>
            </a:solidFill>
            <a:prstDash val="solid"/>
          </a:ln>
        </p:spPr>
      </p:sp>
      <p:sp>
        <p:nvSpPr>
          <p:cNvPr id="24" name="Text 22"/>
          <p:cNvSpPr txBox="1"/>
          <p:nvPr/>
        </p:nvSpPr>
        <p:spPr>
          <a:xfrm>
            <a:off x="3432048" y="2935224"/>
            <a:ext cx="2371344" cy="929945"/>
          </a:xfrm>
          <a:prstGeom prst="rect">
            <a:avLst/>
          </a:prstGeom>
          <a:noFill/>
          <a:ln/>
        </p:spPr>
        <p:txBody>
          <a:bodyPr wrap="square" lIns="0" tIns="0" rIns="0" bIns="0" rtlCol="0" anchor="t"/>
          <a:lstStyle/>
          <a:p>
            <a:pPr indent="0" marL="0">
              <a:spcAft>
                <a:spcPts val="200"/>
              </a:spcAft>
              <a:buNone/>
            </a:pPr>
            <a:r>
              <a:rPr lang="en-US" sz="1250" b="1" dirty="0">
                <a:solidFill>
                  <a:srgbClr val="2B2622"/>
                </a:solidFill>
                <a:latin typeface="Cambria" pitchFamily="34" charset="0"/>
                <a:ea typeface="Cambria" pitchFamily="34" charset="-122"/>
                <a:cs typeface="Cambria" pitchFamily="34" charset="-120"/>
              </a:rPr>
              <a:t>Stratum protocols</a:t>
            </a:r>
            <a:endParaRPr lang="en-US" sz="1250" dirty="0"/>
          </a:p>
          <a:p>
            <a:pPr indent="0" marL="0">
              <a:spcAft>
                <a:spcPts val="200"/>
              </a:spcAft>
              <a:buNone/>
            </a:pPr>
            <a:r>
              <a:rPr lang="en-US" sz="1100" dirty="0">
                <a:solidFill>
                  <a:srgbClr val="2B2622"/>
                </a:solidFill>
                <a:latin typeface="Calibri" pitchFamily="34" charset="0"/>
                <a:ea typeface="Calibri" pitchFamily="34" charset="-122"/>
                <a:cs typeface="Calibri" pitchFamily="34" charset="-120"/>
              </a:rPr>
              <a:t>The language a pool and a mining machine speak, in use since 2012 and followed by a second version.</a:t>
            </a:r>
            <a:endParaRPr lang="en-US" sz="1250" dirty="0"/>
          </a:p>
        </p:txBody>
      </p:sp>
      <p:sp>
        <p:nvSpPr>
          <p:cNvPr id="25" name="Text 23"/>
          <p:cNvSpPr txBox="1"/>
          <p:nvPr/>
        </p:nvSpPr>
        <p:spPr>
          <a:xfrm>
            <a:off x="3432048" y="3892601"/>
            <a:ext cx="2371344" cy="377647"/>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the radio code between a dispatcher and a taxi.</a:t>
            </a:r>
            <a:endParaRPr lang="en-US" sz="1100" dirty="0"/>
          </a:p>
        </p:txBody>
      </p:sp>
      <p:sp>
        <p:nvSpPr>
          <p:cNvPr id="26" name="Shape 24"/>
          <p:cNvSpPr/>
          <p:nvPr/>
        </p:nvSpPr>
        <p:spPr>
          <a:xfrm>
            <a:off x="6041136" y="2871216"/>
            <a:ext cx="2645664" cy="1463040"/>
          </a:xfrm>
          <a:prstGeom prst="roundRect">
            <a:avLst>
              <a:gd name="adj" fmla="val 5000"/>
            </a:avLst>
          </a:prstGeom>
          <a:solidFill>
            <a:srgbClr val="F2ECE1"/>
          </a:solidFill>
          <a:ln w="12700">
            <a:solidFill>
              <a:srgbClr val="DFD6C7"/>
            </a:solidFill>
            <a:prstDash val="solid"/>
          </a:ln>
        </p:spPr>
      </p:sp>
      <p:sp>
        <p:nvSpPr>
          <p:cNvPr id="27" name="Shape 25"/>
          <p:cNvSpPr/>
          <p:nvPr/>
        </p:nvSpPr>
        <p:spPr>
          <a:xfrm>
            <a:off x="6059424" y="2999232"/>
            <a:ext cx="64008" cy="1207008"/>
          </a:xfrm>
          <a:prstGeom prst="rect">
            <a:avLst/>
          </a:prstGeom>
          <a:solidFill>
            <a:srgbClr val="D97A14"/>
          </a:solidFill>
          <a:ln w="12700">
            <a:solidFill>
              <a:srgbClr val="D97A14"/>
            </a:solidFill>
            <a:prstDash val="solid"/>
          </a:ln>
        </p:spPr>
      </p:sp>
      <p:sp>
        <p:nvSpPr>
          <p:cNvPr id="28" name="Text 26"/>
          <p:cNvSpPr txBox="1"/>
          <p:nvPr/>
        </p:nvSpPr>
        <p:spPr>
          <a:xfrm>
            <a:off x="6224016" y="2935224"/>
            <a:ext cx="2371344" cy="759866"/>
          </a:xfrm>
          <a:prstGeom prst="rect">
            <a:avLst/>
          </a:prstGeom>
          <a:noFill/>
          <a:ln/>
        </p:spPr>
        <p:txBody>
          <a:bodyPr wrap="square" lIns="0" tIns="0" rIns="0" bIns="0" rtlCol="0" anchor="t"/>
          <a:lstStyle/>
          <a:p>
            <a:pPr indent="0" marL="0">
              <a:spcAft>
                <a:spcPts val="200"/>
              </a:spcAft>
              <a:buNone/>
            </a:pPr>
            <a:r>
              <a:rPr lang="en-US" sz="1250" b="1" dirty="0">
                <a:solidFill>
                  <a:srgbClr val="2B2622"/>
                </a:solidFill>
                <a:latin typeface="Cambria" pitchFamily="34" charset="0"/>
                <a:ea typeface="Cambria" pitchFamily="34" charset="-122"/>
                <a:cs typeface="Cambria" pitchFamily="34" charset="-120"/>
              </a:rPr>
              <a:t>Solo miner variance</a:t>
            </a:r>
            <a:endParaRPr lang="en-US" sz="1250" dirty="0"/>
          </a:p>
          <a:p>
            <a:pPr indent="0" marL="0">
              <a:spcAft>
                <a:spcPts val="200"/>
              </a:spcAft>
              <a:buNone/>
            </a:pPr>
            <a:r>
              <a:rPr lang="en-US" sz="1100" dirty="0">
                <a:solidFill>
                  <a:srgbClr val="2B2622"/>
                </a:solidFill>
                <a:latin typeface="Calibri" pitchFamily="34" charset="0"/>
                <a:ea typeface="Calibri" pitchFamily="34" charset="-122"/>
                <a:cs typeface="Calibri" pitchFamily="34" charset="-120"/>
              </a:rPr>
              <a:t>A small miner may wait years for one block, so income is very uneven.</a:t>
            </a:r>
            <a:endParaRPr lang="en-US" sz="1250" dirty="0"/>
          </a:p>
        </p:txBody>
      </p:sp>
      <p:sp>
        <p:nvSpPr>
          <p:cNvPr id="29" name="Text 27"/>
          <p:cNvSpPr txBox="1"/>
          <p:nvPr/>
        </p:nvSpPr>
        <p:spPr>
          <a:xfrm>
            <a:off x="6224016" y="3722522"/>
            <a:ext cx="2371344" cy="377647"/>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fishing alone in a very large lake.</a:t>
            </a:r>
            <a:endParaRPr lang="en-US" sz="1100" dirty="0"/>
          </a:p>
        </p:txBody>
      </p:sp>
      <p:sp>
        <p:nvSpPr>
          <p:cNvPr id="30" name="Shape 28"/>
          <p:cNvSpPr/>
          <p:nvPr/>
        </p:nvSpPr>
        <p:spPr>
          <a:xfrm>
            <a:off x="457200" y="4636008"/>
            <a:ext cx="91440" cy="310896"/>
          </a:xfrm>
          <a:prstGeom prst="rect">
            <a:avLst/>
          </a:prstGeom>
          <a:solidFill>
            <a:srgbClr val="D97A14"/>
          </a:solidFill>
          <a:ln w="12700">
            <a:solidFill>
              <a:srgbClr val="D97A14"/>
            </a:solidFill>
            <a:prstDash val="solid"/>
          </a:ln>
        </p:spPr>
      </p:sp>
      <p:sp>
        <p:nvSpPr>
          <p:cNvPr id="31" name="Text 2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32" name="Text 3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33 / 51</a:t>
            </a:r>
            <a:endParaRPr lang="en-US" sz="1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When the 32-bit nonce runs out</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How often the nonce space is emptied each second</a:t>
            </a:r>
            <a:endParaRPr lang="en-US" sz="1300" dirty="0"/>
          </a:p>
        </p:txBody>
      </p:sp>
      <p:sp>
        <p:nvSpPr>
          <p:cNvPr id="6" name="Shape 4"/>
          <p:cNvSpPr/>
          <p:nvPr/>
        </p:nvSpPr>
        <p:spPr>
          <a:xfrm>
            <a:off x="457200" y="1325880"/>
            <a:ext cx="5074920" cy="311810"/>
          </a:xfrm>
          <a:prstGeom prst="roundRect">
            <a:avLst>
              <a:gd name="adj" fmla="val 23460"/>
            </a:avLst>
          </a:prstGeom>
          <a:solidFill>
            <a:srgbClr val="23272E"/>
          </a:solidFill>
          <a:ln w="12700">
            <a:solidFill>
              <a:srgbClr val="23272E"/>
            </a:solidFill>
            <a:prstDash val="solid"/>
          </a:ln>
        </p:spPr>
      </p:sp>
      <p:sp>
        <p:nvSpPr>
          <p:cNvPr id="7" name="Text 5"/>
          <p:cNvSpPr txBox="1"/>
          <p:nvPr/>
        </p:nvSpPr>
        <p:spPr>
          <a:xfrm>
            <a:off x="603504" y="139903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h = </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029e21</a:t>
            </a:r>
            <a:endParaRPr lang="en-US" sz="1000" dirty="0"/>
          </a:p>
        </p:txBody>
      </p:sp>
      <p:sp>
        <p:nvSpPr>
          <p:cNvPr id="8" name="Shape 6"/>
          <p:cNvSpPr/>
          <p:nvPr/>
        </p:nvSpPr>
        <p:spPr>
          <a:xfrm>
            <a:off x="457200" y="2122322"/>
            <a:ext cx="5074920" cy="311810"/>
          </a:xfrm>
          <a:prstGeom prst="roundRect">
            <a:avLst>
              <a:gd name="adj" fmla="val 23460"/>
            </a:avLst>
          </a:prstGeom>
          <a:solidFill>
            <a:srgbClr val="23272E"/>
          </a:solidFill>
          <a:ln w="12700">
            <a:solidFill>
              <a:srgbClr val="23272E"/>
            </a:solidFill>
            <a:prstDash val="solid"/>
          </a:ln>
        </p:spPr>
      </p:sp>
      <p:sp>
        <p:nvSpPr>
          <p:cNvPr id="9" name="Text 7"/>
          <p:cNvSpPr txBox="1"/>
          <p:nvPr/>
        </p:nvSpPr>
        <p:spPr>
          <a:xfrm>
            <a:off x="603504" y="2195474"/>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per = h / </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32</a:t>
            </a:r>
            <a:endParaRPr lang="en-US" sz="1000" dirty="0"/>
          </a:p>
        </p:txBody>
      </p:sp>
      <p:sp>
        <p:nvSpPr>
          <p:cNvPr id="10" name="Shape 8"/>
          <p:cNvSpPr/>
          <p:nvPr/>
        </p:nvSpPr>
        <p:spPr>
          <a:xfrm>
            <a:off x="457200" y="2754173"/>
            <a:ext cx="5074920" cy="641909"/>
          </a:xfrm>
          <a:prstGeom prst="roundRect">
            <a:avLst>
              <a:gd name="adj" fmla="val 11396"/>
            </a:avLst>
          </a:prstGeom>
          <a:solidFill>
            <a:srgbClr val="23272E"/>
          </a:solidFill>
          <a:ln w="12700">
            <a:solidFill>
              <a:srgbClr val="23272E"/>
            </a:solidFill>
            <a:prstDash val="solid"/>
          </a:ln>
        </p:spPr>
      </p:sp>
      <p:sp>
        <p:nvSpPr>
          <p:cNvPr id="11" name="Text 9"/>
          <p:cNvSpPr txBox="1"/>
          <p:nvPr/>
        </p:nvSpPr>
        <p:spPr>
          <a:xfrm>
            <a:off x="603504" y="2827325"/>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bits = [</a:t>
            </a:r>
            <a:r>
              <a:rPr lang="en-US" sz="1000" dirty="0">
                <a:solidFill>
                  <a:srgbClr val="FFD28A"/>
                </a:solidFill>
                <a:latin typeface="Courier New" pitchFamily="34" charset="0"/>
                <a:ea typeface="Courier New" pitchFamily="34" charset="-122"/>
                <a:cs typeface="Courier New" pitchFamily="34" charset="-120"/>
              </a:rPr>
              <a:t>32</a:t>
            </a:r>
            <a:r>
              <a:rPr lang="en-US" sz="1000" dirty="0">
                <a:solidFill>
                  <a:srgbClr val="E6EDF3"/>
                </a:solidFill>
                <a:latin typeface="Courier New" pitchFamily="34" charset="0"/>
                <a:ea typeface="Courier New" pitchFamily="34" charset="-122"/>
                <a:cs typeface="Courier New" pitchFamily="34" charset="-120"/>
              </a:rPr>
              <a:t>, bin(0x1fffe000).count(</a:t>
            </a:r>
            <a:r>
              <a:rPr lang="en-US" sz="1000" dirty="0">
                <a:solidFill>
                  <a:srgbClr val="9ECBFF"/>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(bits, f</a:t>
            </a:r>
            <a:r>
              <a:rPr lang="en-US" sz="1000" dirty="0">
                <a:solidFill>
                  <a:srgbClr val="9ECBFF"/>
                </a:solidFill>
                <a:latin typeface="Courier New" pitchFamily="34" charset="0"/>
                <a:ea typeface="Courier New" pitchFamily="34" charset="-122"/>
                <a:cs typeface="Courier New" pitchFamily="34" charset="-120"/>
              </a:rPr>
              <a:t>'{per:.1e}'</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([32, 16], '2.4e+11')</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665122"/>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hash rate of 15 October 2026, typed from the saved figure, in hashes a second.</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461565"/>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miner could empty the 32-bit nonce this many times in every second.</a:t>
            </a:r>
            <a:endParaRPr lang="en-US" sz="1050" dirty="0"/>
          </a:p>
        </p:txBody>
      </p:sp>
      <p:sp>
        <p:nvSpPr>
          <p:cNvPr id="18" name="Shape 16"/>
          <p:cNvSpPr/>
          <p:nvPr/>
        </p:nvSpPr>
        <p:spPr>
          <a:xfrm>
            <a:off x="365760" y="2681021"/>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681021"/>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423514"/>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Version rolling adds 16 free bits; the extra nonce adds more in the coinbase.</a:t>
            </a:r>
            <a:endParaRPr lang="en-US" sz="1050" dirty="0"/>
          </a:p>
        </p:txBody>
      </p:sp>
      <p:sp>
        <p:nvSpPr>
          <p:cNvPr id="21" name="Text 19"/>
          <p:cNvSpPr txBox="1"/>
          <p:nvPr/>
        </p:nvSpPr>
        <p:spPr>
          <a:xfrm>
            <a:off x="457200" y="3844138"/>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its regtest record</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free bits of the search space</a:t>
            </a:r>
            <a:endParaRPr lang="en-US" sz="1100" dirty="0"/>
          </a:p>
        </p:txBody>
      </p:sp>
      <p:graphicFrame>
        <p:nvGraphicFramePr>
          <p:cNvPr id="23" name="Chart 0" descr=""/>
          <p:cNvGraphicFramePr/>
          <p:nvPr/>
        </p:nvGraphicFramePr>
        <p:xfrm>
          <a:off x="5715000" y="1773936"/>
          <a:ext cx="2971800" cy="2075688"/>
        </p:xfrm>
        <a:graphic xmlns:a="http://schemas.openxmlformats.org/drawingml/2006/main">
          <a:graphicData uri="http://schemas.openxmlformats.org/drawingml/2006/chart">
            <c:chart xmlns:c="http://schemas.openxmlformats.org/drawingml/2006/chart" r:id="rId1"/>
          </a:graphicData>
        </a:graphic>
      </p:graphicFrame>
      <p:sp>
        <p:nvSpPr>
          <p:cNvPr id="24" name="Text 21"/>
          <p:cNvSpPr txBox="1"/>
          <p:nvPr/>
        </p:nvSpPr>
        <p:spPr>
          <a:xfrm>
            <a:off x="5715000" y="3941064"/>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At 1.029e21 hashes a second the 32-bit nonce is emptied 2.4e+11 times a second, so more room is needed.</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modern network empties the nonce space hundreds of billions of times a second</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34 / 51</a:t>
            </a:r>
            <a:endParaRPr lang="en-US" sz="1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Competition and attacks: concepts (2 of 3)</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2645664" cy="1540764"/>
          </a:xfrm>
          <a:prstGeom prst="roundRect">
            <a:avLst>
              <a:gd name="adj" fmla="val 4748"/>
            </a:avLst>
          </a:prstGeom>
          <a:solidFill>
            <a:srgbClr val="F2ECE1"/>
          </a:solidFill>
          <a:ln w="12700">
            <a:solidFill>
              <a:srgbClr val="DFD6C7"/>
            </a:solidFill>
            <a:prstDash val="solid"/>
          </a:ln>
        </p:spPr>
      </p:sp>
      <p:sp>
        <p:nvSpPr>
          <p:cNvPr id="7" name="Shape 5"/>
          <p:cNvSpPr/>
          <p:nvPr/>
        </p:nvSpPr>
        <p:spPr>
          <a:xfrm>
            <a:off x="475488" y="1408176"/>
            <a:ext cx="64008" cy="1284732"/>
          </a:xfrm>
          <a:prstGeom prst="rect">
            <a:avLst/>
          </a:prstGeom>
          <a:solidFill>
            <a:srgbClr val="D97A14"/>
          </a:solidFill>
          <a:ln w="12700">
            <a:solidFill>
              <a:srgbClr val="D97A14"/>
            </a:solidFill>
            <a:prstDash val="solid"/>
          </a:ln>
        </p:spPr>
      </p:sp>
      <p:sp>
        <p:nvSpPr>
          <p:cNvPr id="8" name="Text 6"/>
          <p:cNvSpPr txBox="1"/>
          <p:nvPr/>
        </p:nvSpPr>
        <p:spPr>
          <a:xfrm>
            <a:off x="640080" y="1344168"/>
            <a:ext cx="2371344" cy="790956"/>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Block withholding</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pool member who hides a full solution harms the pool and not the member.</a:t>
            </a:r>
            <a:endParaRPr lang="en-US" sz="1300" dirty="0"/>
          </a:p>
        </p:txBody>
      </p:sp>
      <p:sp>
        <p:nvSpPr>
          <p:cNvPr id="9" name="Text 7"/>
          <p:cNvSpPr txBox="1"/>
          <p:nvPr/>
        </p:nvSpPr>
        <p:spPr>
          <a:xfrm>
            <a:off x="640080" y="2162556"/>
            <a:ext cx="2371344" cy="571500"/>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saboteur on a team who pockets the winning ticket.</a:t>
            </a:r>
            <a:endParaRPr lang="en-US" sz="1150" dirty="0"/>
          </a:p>
        </p:txBody>
      </p:sp>
      <p:sp>
        <p:nvSpPr>
          <p:cNvPr id="10" name="Shape 8"/>
          <p:cNvSpPr/>
          <p:nvPr/>
        </p:nvSpPr>
        <p:spPr>
          <a:xfrm>
            <a:off x="3249168" y="1280160"/>
            <a:ext cx="2645664" cy="1540764"/>
          </a:xfrm>
          <a:prstGeom prst="roundRect">
            <a:avLst>
              <a:gd name="adj" fmla="val 4748"/>
            </a:avLst>
          </a:prstGeom>
          <a:solidFill>
            <a:srgbClr val="F2ECE1"/>
          </a:solidFill>
          <a:ln w="12700">
            <a:solidFill>
              <a:srgbClr val="DFD6C7"/>
            </a:solidFill>
            <a:prstDash val="solid"/>
          </a:ln>
        </p:spPr>
      </p:sp>
      <p:sp>
        <p:nvSpPr>
          <p:cNvPr id="11" name="Shape 9"/>
          <p:cNvSpPr/>
          <p:nvPr/>
        </p:nvSpPr>
        <p:spPr>
          <a:xfrm>
            <a:off x="3267456" y="1408176"/>
            <a:ext cx="64008" cy="1284732"/>
          </a:xfrm>
          <a:prstGeom prst="rect">
            <a:avLst/>
          </a:prstGeom>
          <a:solidFill>
            <a:srgbClr val="D97A14"/>
          </a:solidFill>
          <a:ln w="12700">
            <a:solidFill>
              <a:srgbClr val="D97A14"/>
            </a:solidFill>
            <a:prstDash val="solid"/>
          </a:ln>
        </p:spPr>
      </p:sp>
      <p:sp>
        <p:nvSpPr>
          <p:cNvPr id="12" name="Text 10"/>
          <p:cNvSpPr txBox="1"/>
          <p:nvPr/>
        </p:nvSpPr>
        <p:spPr>
          <a:xfrm>
            <a:off x="3432048" y="1344168"/>
            <a:ext cx="2371344" cy="992124"/>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Nakamoto's catch-up odds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chance that an attacker catches up falls quickly with the number of blocks behind.</a:t>
            </a:r>
            <a:endParaRPr lang="en-US" sz="1300" dirty="0"/>
          </a:p>
        </p:txBody>
      </p:sp>
      <p:sp>
        <p:nvSpPr>
          <p:cNvPr id="13" name="Text 11"/>
          <p:cNvSpPr txBox="1"/>
          <p:nvPr/>
        </p:nvSpPr>
        <p:spPr>
          <a:xfrm>
            <a:off x="3432048" y="2363724"/>
            <a:ext cx="2371344"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runner who starts further behind each time.</a:t>
            </a:r>
            <a:endParaRPr lang="en-US" sz="1150" dirty="0"/>
          </a:p>
        </p:txBody>
      </p:sp>
      <p:sp>
        <p:nvSpPr>
          <p:cNvPr id="14" name="Shape 12"/>
          <p:cNvSpPr/>
          <p:nvPr/>
        </p:nvSpPr>
        <p:spPr>
          <a:xfrm>
            <a:off x="6041136" y="1280160"/>
            <a:ext cx="2645664" cy="1540764"/>
          </a:xfrm>
          <a:prstGeom prst="roundRect">
            <a:avLst>
              <a:gd name="adj" fmla="val 4748"/>
            </a:avLst>
          </a:prstGeom>
          <a:solidFill>
            <a:srgbClr val="F2ECE1"/>
          </a:solidFill>
          <a:ln w="12700">
            <a:solidFill>
              <a:srgbClr val="DFD6C7"/>
            </a:solidFill>
            <a:prstDash val="solid"/>
          </a:ln>
        </p:spPr>
      </p:sp>
      <p:sp>
        <p:nvSpPr>
          <p:cNvPr id="15" name="Shape 13"/>
          <p:cNvSpPr/>
          <p:nvPr/>
        </p:nvSpPr>
        <p:spPr>
          <a:xfrm>
            <a:off x="6059424" y="1408176"/>
            <a:ext cx="64008" cy="1284732"/>
          </a:xfrm>
          <a:prstGeom prst="rect">
            <a:avLst/>
          </a:prstGeom>
          <a:solidFill>
            <a:srgbClr val="D97A14"/>
          </a:solidFill>
          <a:ln w="12700">
            <a:solidFill>
              <a:srgbClr val="D97A14"/>
            </a:solidFill>
            <a:prstDash val="solid"/>
          </a:ln>
        </p:spPr>
      </p:sp>
      <p:sp>
        <p:nvSpPr>
          <p:cNvPr id="16" name="Text 14"/>
          <p:cNvSpPr txBox="1"/>
          <p:nvPr/>
        </p:nvSpPr>
        <p:spPr>
          <a:xfrm>
            <a:off x="6224016" y="1344168"/>
            <a:ext cx="2371344" cy="992124"/>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The selfish-mining threshold</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Above a share between one quarter and one third, hiding blocks can pay.</a:t>
            </a:r>
            <a:endParaRPr lang="en-US" sz="1300" dirty="0"/>
          </a:p>
        </p:txBody>
      </p:sp>
      <p:sp>
        <p:nvSpPr>
          <p:cNvPr id="17" name="Text 15"/>
          <p:cNvSpPr txBox="1"/>
          <p:nvPr/>
        </p:nvSpPr>
        <p:spPr>
          <a:xfrm>
            <a:off x="6224016" y="2363724"/>
            <a:ext cx="2371344"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card player who holds back a winning card.</a:t>
            </a:r>
            <a:endParaRPr lang="en-US" sz="1150" dirty="0"/>
          </a:p>
        </p:txBody>
      </p:sp>
      <p:sp>
        <p:nvSpPr>
          <p:cNvPr id="18" name="Shape 16"/>
          <p:cNvSpPr/>
          <p:nvPr/>
        </p:nvSpPr>
        <p:spPr>
          <a:xfrm>
            <a:off x="457200" y="4636008"/>
            <a:ext cx="91440" cy="310896"/>
          </a:xfrm>
          <a:prstGeom prst="rect">
            <a:avLst/>
          </a:prstGeom>
          <a:solidFill>
            <a:srgbClr val="D97A14"/>
          </a:solidFill>
          <a:ln w="12700">
            <a:solidFill>
              <a:srgbClr val="D97A14"/>
            </a:solidFill>
            <a:prstDash val="solid"/>
          </a:ln>
        </p:spPr>
      </p:sp>
      <p:sp>
        <p:nvSpPr>
          <p:cNvPr id="19" name="Text 1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0" name="Text 1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35 / 51</a:t>
            </a:r>
            <a:endParaRPr lang="en-US" sz="1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Why a small miner joins a pool</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wait for one block, by share of the hash rate</a:t>
            </a:r>
            <a:endParaRPr lang="en-US" sz="1300" dirty="0"/>
          </a:p>
        </p:txBody>
      </p:sp>
      <p:sp>
        <p:nvSpPr>
          <p:cNvPr id="6" name="Shape 4"/>
          <p:cNvSpPr/>
          <p:nvPr/>
        </p:nvSpPr>
        <p:spPr>
          <a:xfrm>
            <a:off x="457200" y="1325880"/>
            <a:ext cx="5074920" cy="311810"/>
          </a:xfrm>
          <a:prstGeom prst="roundRect">
            <a:avLst>
              <a:gd name="adj" fmla="val 23460"/>
            </a:avLst>
          </a:prstGeom>
          <a:solidFill>
            <a:srgbClr val="23272E"/>
          </a:solidFill>
          <a:ln w="12700">
            <a:solidFill>
              <a:srgbClr val="23272E"/>
            </a:solidFill>
            <a:prstDash val="solid"/>
          </a:ln>
        </p:spPr>
      </p:sp>
      <p:sp>
        <p:nvSpPr>
          <p:cNvPr id="7" name="Text 5"/>
          <p:cNvSpPr txBox="1"/>
          <p:nvPr/>
        </p:nvSpPr>
        <p:spPr>
          <a:xfrm>
            <a:off x="603504" y="139903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shares = [</a:t>
            </a:r>
            <a:r>
              <a:rPr lang="en-US" sz="1000" dirty="0">
                <a:solidFill>
                  <a:srgbClr val="FFD28A"/>
                </a:solidFill>
                <a:latin typeface="Courier New" pitchFamily="34" charset="0"/>
                <a:ea typeface="Courier New" pitchFamily="34" charset="-122"/>
                <a:cs typeface="Courier New" pitchFamily="34" charset="-120"/>
              </a:rPr>
              <a:t>0.1</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0.01</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0.001</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0.0001</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122322"/>
            <a:ext cx="5074920" cy="311810"/>
          </a:xfrm>
          <a:prstGeom prst="roundRect">
            <a:avLst>
              <a:gd name="adj" fmla="val 23460"/>
            </a:avLst>
          </a:prstGeom>
          <a:solidFill>
            <a:srgbClr val="23272E"/>
          </a:solidFill>
          <a:ln w="12700">
            <a:solidFill>
              <a:srgbClr val="23272E"/>
            </a:solidFill>
            <a:prstDash val="solid"/>
          </a:ln>
        </p:spPr>
      </p:sp>
      <p:sp>
        <p:nvSpPr>
          <p:cNvPr id="9" name="Text 7"/>
          <p:cNvSpPr txBox="1"/>
          <p:nvPr/>
        </p:nvSpPr>
        <p:spPr>
          <a:xfrm>
            <a:off x="603504" y="2195474"/>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w = [round(</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144</a:t>
            </a:r>
            <a:r>
              <a:rPr lang="en-US" sz="1000" dirty="0">
                <a:solidFill>
                  <a:srgbClr val="E6EDF3"/>
                </a:solidFill>
                <a:latin typeface="Courier New" pitchFamily="34" charset="0"/>
                <a:ea typeface="Courier New" pitchFamily="34" charset="-122"/>
                <a:cs typeface="Courier New" pitchFamily="34" charset="-120"/>
              </a:rPr>
              <a:t> * s), </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s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shares]</a:t>
            </a:r>
            <a:endParaRPr lang="en-US" sz="1000" dirty="0"/>
          </a:p>
        </p:txBody>
      </p:sp>
      <p:sp>
        <p:nvSpPr>
          <p:cNvPr id="10" name="Shape 8"/>
          <p:cNvSpPr/>
          <p:nvPr/>
        </p:nvSpPr>
        <p:spPr>
          <a:xfrm>
            <a:off x="457200" y="2754173"/>
            <a:ext cx="5074920" cy="476402"/>
          </a:xfrm>
          <a:prstGeom prst="roundRect">
            <a:avLst>
              <a:gd name="adj" fmla="val 15355"/>
            </a:avLst>
          </a:prstGeom>
          <a:solidFill>
            <a:srgbClr val="23272E"/>
          </a:solidFill>
          <a:ln w="12700">
            <a:solidFill>
              <a:srgbClr val="23272E"/>
            </a:solidFill>
            <a:prstDash val="solid"/>
          </a:ln>
        </p:spPr>
      </p:sp>
      <p:sp>
        <p:nvSpPr>
          <p:cNvPr id="11" name="Text 9"/>
          <p:cNvSpPr txBox="1"/>
          <p:nvPr/>
        </p:nvSpPr>
        <p:spPr>
          <a:xfrm>
            <a:off x="603504" y="2827325"/>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w</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[0.1, 0.7, 6.9, 69.4]</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665122"/>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network finds 144 blocks a day. A miner with a share s expects 144 times s of them.</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461565"/>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wait for one block is the inverse of that rate, here in days.</a:t>
            </a:r>
            <a:endParaRPr lang="en-US" sz="1050" dirty="0"/>
          </a:p>
        </p:txBody>
      </p:sp>
      <p:sp>
        <p:nvSpPr>
          <p:cNvPr id="18" name="Shape 16"/>
          <p:cNvSpPr/>
          <p:nvPr/>
        </p:nvSpPr>
        <p:spPr>
          <a:xfrm>
            <a:off x="365760" y="2681021"/>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681021"/>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258007"/>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pool pays out small, regular shares instead of one rare block.</a:t>
            </a:r>
            <a:endParaRPr lang="en-US" sz="1050" dirty="0"/>
          </a:p>
        </p:txBody>
      </p:sp>
      <p:sp>
        <p:nvSpPr>
          <p:cNvPr id="21" name="Text 19"/>
          <p:cNvSpPr txBox="1"/>
          <p:nvPr/>
        </p:nvSpPr>
        <p:spPr>
          <a:xfrm>
            <a:off x="457200" y="3514039"/>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its regtest record</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expected days for one block, by share of power</a:t>
            </a:r>
            <a:endParaRPr lang="en-US" sz="1100" dirty="0"/>
          </a:p>
        </p:txBody>
      </p:sp>
      <p:graphicFrame>
        <p:nvGraphicFramePr>
          <p:cNvPr id="23" name="Chart 0" descr=""/>
          <p:cNvGraphicFramePr/>
          <p:nvPr/>
        </p:nvGraphicFramePr>
        <p:xfrm>
          <a:off x="5715000" y="1773936"/>
          <a:ext cx="2971800" cy="2075688"/>
        </p:xfrm>
        <a:graphic xmlns:a="http://schemas.openxmlformats.org/drawingml/2006/main">
          <a:graphicData uri="http://schemas.openxmlformats.org/drawingml/2006/chart">
            <c:chart xmlns:c="http://schemas.openxmlformats.org/drawingml/2006/chart" r:id="rId1"/>
          </a:graphicData>
        </a:graphic>
      </p:graphicFrame>
      <p:sp>
        <p:nvSpPr>
          <p:cNvPr id="24" name="Text 21"/>
          <p:cNvSpPr txBox="1"/>
          <p:nvPr/>
        </p:nvSpPr>
        <p:spPr>
          <a:xfrm>
            <a:off x="5715000" y="3941064"/>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A share of 0.01 percent expects 0.014 blocks a day, so one block in about 69.4 days.</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share of one in ten thousand waits more than two months for a block</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36 / 51</a:t>
            </a:r>
            <a:endParaRPr lang="en-US" sz="11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Competition and attacks: concepts (3 of 3)</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339596"/>
          </a:xfrm>
          <a:prstGeom prst="roundRect">
            <a:avLst>
              <a:gd name="adj" fmla="val 5461"/>
            </a:avLst>
          </a:prstGeom>
          <a:solidFill>
            <a:srgbClr val="F2ECE1"/>
          </a:solidFill>
          <a:ln w="12700">
            <a:solidFill>
              <a:srgbClr val="DFD6C7"/>
            </a:solidFill>
            <a:prstDash val="solid"/>
          </a:ln>
        </p:spPr>
      </p:sp>
      <p:sp>
        <p:nvSpPr>
          <p:cNvPr id="7" name="Shape 5"/>
          <p:cNvSpPr/>
          <p:nvPr/>
        </p:nvSpPr>
        <p:spPr>
          <a:xfrm>
            <a:off x="475488" y="1408176"/>
            <a:ext cx="64008" cy="1083564"/>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790956"/>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The top pool against the thresholds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largest pool of the last year found about 28 percent of the blocks, between one quarter and one third.</a:t>
            </a:r>
            <a:endParaRPr lang="en-US" sz="1300" dirty="0"/>
          </a:p>
        </p:txBody>
      </p:sp>
      <p:sp>
        <p:nvSpPr>
          <p:cNvPr id="9" name="Text 7"/>
          <p:cNvSpPr txBox="1"/>
          <p:nvPr/>
        </p:nvSpPr>
        <p:spPr>
          <a:xfrm>
            <a:off x="640080" y="2162556"/>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team ahead in the league, but not yet far enough ahead to rule it.</a:t>
            </a:r>
            <a:endParaRPr lang="en-US" sz="1150" dirty="0"/>
          </a:p>
        </p:txBody>
      </p:sp>
      <p:sp>
        <p:nvSpPr>
          <p:cNvPr id="10" name="Shape 8"/>
          <p:cNvSpPr/>
          <p:nvPr/>
        </p:nvSpPr>
        <p:spPr>
          <a:xfrm>
            <a:off x="4645152" y="1280160"/>
            <a:ext cx="4041648" cy="1339596"/>
          </a:xfrm>
          <a:prstGeom prst="roundRect">
            <a:avLst>
              <a:gd name="adj" fmla="val 5461"/>
            </a:avLst>
          </a:prstGeom>
          <a:solidFill>
            <a:srgbClr val="F2ECE1"/>
          </a:solidFill>
          <a:ln w="12700">
            <a:solidFill>
              <a:srgbClr val="DFD6C7"/>
            </a:solidFill>
            <a:prstDash val="solid"/>
          </a:ln>
        </p:spPr>
      </p:sp>
      <p:sp>
        <p:nvSpPr>
          <p:cNvPr id="11" name="Shape 9"/>
          <p:cNvSpPr/>
          <p:nvPr/>
        </p:nvSpPr>
        <p:spPr>
          <a:xfrm>
            <a:off x="4663440" y="1408176"/>
            <a:ext cx="64008" cy="1083564"/>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790956"/>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The limits of a majority attack</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majority can rewrite recent history and refuse transactions, but it cannot forge signatures.</a:t>
            </a:r>
            <a:endParaRPr lang="en-US" sz="1300" dirty="0"/>
          </a:p>
        </p:txBody>
      </p:sp>
      <p:sp>
        <p:nvSpPr>
          <p:cNvPr id="13" name="Text 11"/>
          <p:cNvSpPr txBox="1"/>
          <p:nvPr/>
        </p:nvSpPr>
        <p:spPr>
          <a:xfrm>
            <a:off x="4828032" y="2162556"/>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librarian who may reorder the shelves but cannot forge a book.</a:t>
            </a:r>
            <a:endParaRPr lang="en-US" sz="1150" dirty="0"/>
          </a:p>
        </p:txBody>
      </p:sp>
      <p:sp>
        <p:nvSpPr>
          <p:cNvPr id="14" name="Shape 12"/>
          <p:cNvSpPr/>
          <p:nvPr/>
        </p:nvSpPr>
        <p:spPr>
          <a:xfrm>
            <a:off x="457200" y="4636008"/>
            <a:ext cx="91440" cy="310896"/>
          </a:xfrm>
          <a:prstGeom prst="rect">
            <a:avLst/>
          </a:prstGeom>
          <a:solidFill>
            <a:srgbClr val="D97A14"/>
          </a:solidFill>
          <a:ln w="12700">
            <a:solidFill>
              <a:srgbClr val="D97A14"/>
            </a:solidFill>
            <a:prstDash val="solid"/>
          </a:ln>
        </p:spPr>
      </p:sp>
      <p:sp>
        <p:nvSpPr>
          <p:cNvPr id="15" name="Text 1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16" name="Text 1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37 / 51</a:t>
            </a:r>
            <a:endParaRPr lang="en-US" sz="11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Odds of a hash rate attack</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Catching up from six blocks, and the selfish-mining share</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qs = [</a:t>
            </a:r>
            <a:r>
              <a:rPr lang="en-US" sz="1000" dirty="0">
                <a:solidFill>
                  <a:srgbClr val="FFD28A"/>
                </a:solidFill>
                <a:latin typeface="Courier New" pitchFamily="34" charset="0"/>
                <a:ea typeface="Courier New" pitchFamily="34" charset="-122"/>
                <a:cs typeface="Courier New" pitchFamily="34" charset="-120"/>
              </a:rPr>
              <a:t>0.1</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0.3</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0.45</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odds = [round(pw(q, </a:t>
            </a:r>
            <a:r>
              <a:rPr lang="en-US" sz="1000" dirty="0">
                <a:solidFill>
                  <a:srgbClr val="FFD28A"/>
                </a:solidFill>
                <a:latin typeface="Courier New" pitchFamily="34" charset="0"/>
                <a:ea typeface="Courier New" pitchFamily="34" charset="-122"/>
                <a:cs typeface="Courier New" pitchFamily="34" charset="-120"/>
              </a:rPr>
              <a:t>6</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4</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q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qs]</a:t>
            </a:r>
            <a:endParaRPr lang="en-US" sz="1000" dirty="0"/>
          </a:p>
        </p:txBody>
      </p:sp>
      <p:sp>
        <p:nvSpPr>
          <p:cNvPr id="8" name="Shape 6"/>
          <p:cNvSpPr/>
          <p:nvPr/>
        </p:nvSpPr>
        <p:spPr>
          <a:xfrm>
            <a:off x="457200" y="2286914"/>
            <a:ext cx="5074920" cy="476402"/>
          </a:xfrm>
          <a:prstGeom prst="roundRect">
            <a:avLst>
              <a:gd name="adj" fmla="val 15355"/>
            </a:avLst>
          </a:prstGeom>
          <a:solidFill>
            <a:srgbClr val="23272E"/>
          </a:solidFill>
          <a:ln w="12700">
            <a:solidFill>
              <a:srgbClr val="23272E"/>
            </a:solidFill>
            <a:prstDash val="solid"/>
          </a:ln>
        </p:spPr>
      </p:sp>
      <p:sp>
        <p:nvSpPr>
          <p:cNvPr id="9" name="Text 7"/>
          <p:cNvSpPr txBox="1"/>
          <p:nvPr/>
        </p:nvSpPr>
        <p:spPr>
          <a:xfrm>
            <a:off x="603504" y="2360066"/>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g = [</a:t>
            </a:r>
            <a:r>
              <a:rPr lang="en-US" sz="1000" dirty="0">
                <a:solidFill>
                  <a:srgbClr val="FFD28A"/>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0.5</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thr = [round((</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 x) / (</a:t>
            </a:r>
            <a:r>
              <a:rPr lang="en-US" sz="1000" dirty="0">
                <a:solidFill>
                  <a:srgbClr val="FFD28A"/>
                </a:solidFill>
                <a:latin typeface="Courier New" pitchFamily="34" charset="0"/>
                <a:ea typeface="Courier New" pitchFamily="34" charset="-122"/>
                <a:cs typeface="Courier New" pitchFamily="34" charset="-120"/>
              </a:rPr>
              <a:t>3</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 * x), </a:t>
            </a:r>
            <a:r>
              <a:rPr lang="en-US" sz="1000" dirty="0">
                <a:solidFill>
                  <a:srgbClr val="FFD28A"/>
                </a:solidFill>
                <a:latin typeface="Courier New" pitchFamily="34" charset="0"/>
                <a:ea typeface="Courier New" pitchFamily="34" charset="-122"/>
                <a:cs typeface="Courier New" pitchFamily="34" charset="-120"/>
              </a:rPr>
              <a:t>4</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x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g]</a:t>
            </a:r>
            <a:endParaRPr lang="en-US" sz="1000" dirty="0"/>
          </a:p>
        </p:txBody>
      </p:sp>
      <p:sp>
        <p:nvSpPr>
          <p:cNvPr id="10" name="Shape 8"/>
          <p:cNvSpPr/>
          <p:nvPr/>
        </p:nvSpPr>
        <p:spPr>
          <a:xfrm>
            <a:off x="457200" y="3247949"/>
            <a:ext cx="5074920" cy="476402"/>
          </a:xfrm>
          <a:prstGeom prst="roundRect">
            <a:avLst>
              <a:gd name="adj" fmla="val 15355"/>
            </a:avLst>
          </a:prstGeom>
          <a:solidFill>
            <a:srgbClr val="23272E"/>
          </a:solidFill>
          <a:ln w="12700">
            <a:solidFill>
              <a:srgbClr val="23272E"/>
            </a:solidFill>
            <a:prstDash val="solid"/>
          </a:ln>
        </p:spPr>
      </p:sp>
      <p:sp>
        <p:nvSpPr>
          <p:cNvPr id="11" name="Text 9"/>
          <p:cNvSpPr txBox="1"/>
          <p:nvPr/>
        </p:nvSpPr>
        <p:spPr>
          <a:xfrm>
            <a:off x="603504" y="3321101"/>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(odds, thr)</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([0.0002, 0.1321, 0.7661], [0.3333, 0.25, 0.0])</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829714"/>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Nakamoto's formula: the chance that an attacker with a share q ever catches up from six blocks.</a:t>
            </a:r>
            <a:endParaRPr lang="en-US" sz="1050" dirty="0"/>
          </a:p>
        </p:txBody>
      </p:sp>
      <p:sp>
        <p:nvSpPr>
          <p:cNvPr id="15" name="Shape 13"/>
          <p:cNvSpPr/>
          <p:nvPr/>
        </p:nvSpPr>
        <p:spPr>
          <a:xfrm>
            <a:off x="365760" y="2213762"/>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213762"/>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790749"/>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Selfish mining pays above a share that depends on how many honest miners follow the selfish block.</a:t>
            </a:r>
            <a:endParaRPr lang="en-US" sz="1050" dirty="0"/>
          </a:p>
        </p:txBody>
      </p:sp>
      <p:sp>
        <p:nvSpPr>
          <p:cNvPr id="18" name="Shape 16"/>
          <p:cNvSpPr/>
          <p:nvPr/>
        </p:nvSpPr>
        <p:spPr>
          <a:xfrm>
            <a:off x="365760" y="3174797"/>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3174797"/>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751783"/>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thresholds fall from one third towards zero as more honest miners follow.</a:t>
            </a:r>
            <a:endParaRPr lang="en-US" sz="1050" dirty="0"/>
          </a:p>
        </p:txBody>
      </p:sp>
      <p:sp>
        <p:nvSpPr>
          <p:cNvPr id="21" name="Text 19"/>
          <p:cNvSpPr txBox="1"/>
          <p:nvPr/>
        </p:nvSpPr>
        <p:spPr>
          <a:xfrm>
            <a:off x="457200" y="4172407"/>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its regtest record</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chance of catching up from six blocks</a:t>
            </a:r>
            <a:endParaRPr lang="en-US" sz="1100" dirty="0"/>
          </a:p>
        </p:txBody>
      </p:sp>
      <p:graphicFrame>
        <p:nvGraphicFramePr>
          <p:cNvPr id="23" name="Chart 0" descr=""/>
          <p:cNvGraphicFramePr/>
          <p:nvPr/>
        </p:nvGraphicFramePr>
        <p:xfrm>
          <a:off x="5715000" y="1773936"/>
          <a:ext cx="2971800" cy="2075688"/>
        </p:xfrm>
        <a:graphic xmlns:a="http://schemas.openxmlformats.org/drawingml/2006/main">
          <a:graphicData uri="http://schemas.openxmlformats.org/drawingml/2006/chart">
            <c:chart xmlns:c="http://schemas.openxmlformats.org/drawingml/2006/chart" r:id="rId1"/>
          </a:graphicData>
        </a:graphic>
      </p:graphicFrame>
      <p:sp>
        <p:nvSpPr>
          <p:cNvPr id="24" name="Text 21"/>
          <p:cNvSpPr txBox="1"/>
          <p:nvPr/>
        </p:nvSpPr>
        <p:spPr>
          <a:xfrm>
            <a:off x="5715000" y="3941064"/>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Selfish mining pays above a share of 0.3333 if no honest miner follows, and 0.25 if half follow.</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odds climb steeply with the attacker's share of the power</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38 / 51</a:t>
            </a:r>
            <a:endParaRPr lang="en-US" sz="11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Changing the rules</a:t>
            </a:r>
            <a:endParaRPr lang="en-US" sz="3200" dirty="0"/>
          </a:p>
        </p:txBody>
      </p:sp>
      <p:sp>
        <p:nvSpPr>
          <p:cNvPr id="5" name="Text 3"/>
          <p:cNvSpPr txBox="1"/>
          <p:nvPr/>
        </p:nvSpPr>
        <p:spPr>
          <a:xfrm>
            <a:off x="777240" y="1645920"/>
            <a:ext cx="7863840" cy="384048"/>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Changing the rules is repainting the road signs while cars still drive.</a:t>
            </a:r>
            <a:endParaRPr lang="en-US" sz="1500" dirty="0"/>
          </a:p>
        </p:txBody>
      </p:sp>
      <p:sp>
        <p:nvSpPr>
          <p:cNvPr id="6" name="Shape 4"/>
          <p:cNvSpPr/>
          <p:nvPr/>
        </p:nvSpPr>
        <p:spPr>
          <a:xfrm>
            <a:off x="777240" y="2103120"/>
            <a:ext cx="3840480" cy="310896"/>
          </a:xfrm>
          <a:prstGeom prst="roundRect">
            <a:avLst>
              <a:gd name="adj" fmla="val 50000"/>
            </a:avLst>
          </a:prstGeom>
          <a:solidFill>
            <a:srgbClr val="D97A14"/>
          </a:solidFill>
          <a:ln w="12700">
            <a:solidFill>
              <a:srgbClr val="D97A14"/>
            </a:solidFill>
            <a:prstDash val="solid"/>
          </a:ln>
        </p:spPr>
      </p:sp>
      <p:sp>
        <p:nvSpPr>
          <p:cNvPr id="7" name="Text 5"/>
          <p:cNvSpPr txBox="1"/>
          <p:nvPr/>
        </p:nvSpPr>
        <p:spPr>
          <a:xfrm>
            <a:off x="850392" y="2103120"/>
            <a:ext cx="369417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Hard forks</a:t>
            </a:r>
            <a:endParaRPr lang="en-US" sz="1200" dirty="0"/>
          </a:p>
        </p:txBody>
      </p:sp>
      <p:sp>
        <p:nvSpPr>
          <p:cNvPr id="8" name="Text 6"/>
          <p:cNvSpPr txBox="1"/>
          <p:nvPr/>
        </p:nvSpPr>
        <p:spPr>
          <a:xfrm>
            <a:off x="777240" y="2487168"/>
            <a:ext cx="384048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Looser rules split the chain into two histories.</a:t>
            </a:r>
            <a:endParaRPr lang="en-US" sz="1150" dirty="0"/>
          </a:p>
        </p:txBody>
      </p:sp>
      <p:sp>
        <p:nvSpPr>
          <p:cNvPr id="9" name="Text 7"/>
          <p:cNvSpPr txBox="1"/>
          <p:nvPr/>
        </p:nvSpPr>
        <p:spPr>
          <a:xfrm>
            <a:off x="777240" y="2907792"/>
            <a:ext cx="3840480" cy="214884"/>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road that forks, with no way back.</a:t>
            </a:r>
            <a:endParaRPr lang="en-US" sz="1150" dirty="0"/>
          </a:p>
        </p:txBody>
      </p:sp>
      <p:sp>
        <p:nvSpPr>
          <p:cNvPr id="10" name="Shape 8"/>
          <p:cNvSpPr/>
          <p:nvPr/>
        </p:nvSpPr>
        <p:spPr>
          <a:xfrm>
            <a:off x="4800600" y="2103120"/>
            <a:ext cx="3840480" cy="310896"/>
          </a:xfrm>
          <a:prstGeom prst="roundRect">
            <a:avLst>
              <a:gd name="adj" fmla="val 50000"/>
            </a:avLst>
          </a:prstGeom>
          <a:solidFill>
            <a:srgbClr val="D97A14"/>
          </a:solidFill>
          <a:ln w="12700">
            <a:solidFill>
              <a:srgbClr val="D97A14"/>
            </a:solidFill>
            <a:prstDash val="solid"/>
          </a:ln>
        </p:spPr>
      </p:sp>
      <p:sp>
        <p:nvSpPr>
          <p:cNvPr id="11" name="Text 9"/>
          <p:cNvSpPr txBox="1"/>
          <p:nvPr/>
        </p:nvSpPr>
        <p:spPr>
          <a:xfrm>
            <a:off x="4873752" y="2103120"/>
            <a:ext cx="369417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Soft forks</a:t>
            </a:r>
            <a:endParaRPr lang="en-US" sz="1200" dirty="0"/>
          </a:p>
        </p:txBody>
      </p:sp>
      <p:sp>
        <p:nvSpPr>
          <p:cNvPr id="12" name="Text 10"/>
          <p:cNvSpPr txBox="1"/>
          <p:nvPr/>
        </p:nvSpPr>
        <p:spPr>
          <a:xfrm>
            <a:off x="4800600" y="2487168"/>
            <a:ext cx="384048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Stricter rules stay valid for old nodes and are switched on by a vote.</a:t>
            </a:r>
            <a:endParaRPr lang="en-US" sz="1150" dirty="0"/>
          </a:p>
        </p:txBody>
      </p:sp>
      <p:sp>
        <p:nvSpPr>
          <p:cNvPr id="13" name="Text 11"/>
          <p:cNvSpPr txBox="1"/>
          <p:nvPr/>
        </p:nvSpPr>
        <p:spPr>
          <a:xfrm>
            <a:off x="4800600" y="2907792"/>
            <a:ext cx="3840480" cy="214884"/>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stricter door policy.</a:t>
            </a:r>
            <a:endParaRPr lang="en-US" sz="1150" dirty="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777240" y="3950208"/>
          <a:ext cx="7863840" cy="914400"/>
        </p:xfrm>
        <a:graphic>
          <a:graphicData uri="http://schemas.openxmlformats.org/drawingml/2006/table">
            <a:tbl>
              <a:tblPr/>
              <a:tblGrid>
                <a:gridCol w="1310335"/>
                <a:gridCol w="1310335"/>
                <a:gridCol w="1310335"/>
                <a:gridCol w="1310335"/>
                <a:gridCol w="1310335"/>
                <a:gridCol w="1310335"/>
              </a:tblGrid>
              <a:tr h="365760">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Money</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Verify</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Block</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Work</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Rivals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Rules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r>
            </a:tbl>
          </a:graphicData>
        </a:graphic>
      </p:graphicFrame>
      <p:sp>
        <p:nvSpPr>
          <p:cNvPr id="15"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39 / 51</a:t>
            </a:r>
            <a:endParaRPr lang="en-US" sz="11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Changing the rules: key concepts (1 of 2)</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2645664" cy="1532534"/>
          </a:xfrm>
          <a:prstGeom prst="roundRect">
            <a:avLst>
              <a:gd name="adj" fmla="val 4773"/>
            </a:avLst>
          </a:prstGeom>
          <a:solidFill>
            <a:srgbClr val="F2ECE1"/>
          </a:solidFill>
          <a:ln w="12700">
            <a:solidFill>
              <a:srgbClr val="DFD6C7"/>
            </a:solidFill>
            <a:prstDash val="solid"/>
          </a:ln>
        </p:spPr>
      </p:sp>
      <p:sp>
        <p:nvSpPr>
          <p:cNvPr id="7" name="Shape 5"/>
          <p:cNvSpPr/>
          <p:nvPr/>
        </p:nvSpPr>
        <p:spPr>
          <a:xfrm>
            <a:off x="475488" y="1408176"/>
            <a:ext cx="64008" cy="1276502"/>
          </a:xfrm>
          <a:prstGeom prst="rect">
            <a:avLst/>
          </a:prstGeom>
          <a:solidFill>
            <a:srgbClr val="D97A14"/>
          </a:solidFill>
          <a:ln w="12700">
            <a:solidFill>
              <a:srgbClr val="D97A14"/>
            </a:solidFill>
            <a:prstDash val="solid"/>
          </a:ln>
        </p:spPr>
      </p:sp>
      <p:sp>
        <p:nvSpPr>
          <p:cNvPr id="8" name="Text 6"/>
          <p:cNvSpPr txBox="1"/>
          <p:nvPr/>
        </p:nvSpPr>
        <p:spPr>
          <a:xfrm>
            <a:off x="640080" y="1344168"/>
            <a:ext cx="2371344" cy="697687"/>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A soft fork only tightens</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The new rules are a subset of the old, so old nodes still accept the new blocks.</a:t>
            </a:r>
            <a:endParaRPr lang="en-US" sz="1150" dirty="0"/>
          </a:p>
        </p:txBody>
      </p:sp>
      <p:sp>
        <p:nvSpPr>
          <p:cNvPr id="9" name="Text 7"/>
          <p:cNvSpPr txBox="1"/>
          <p:nvPr/>
        </p:nvSpPr>
        <p:spPr>
          <a:xfrm>
            <a:off x="640080" y="2069287"/>
            <a:ext cx="2371344" cy="501091"/>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a stricter door policy that the old doorman still accepts.</a:t>
            </a:r>
            <a:endParaRPr lang="en-US" sz="1000" dirty="0"/>
          </a:p>
        </p:txBody>
      </p:sp>
      <p:sp>
        <p:nvSpPr>
          <p:cNvPr id="10" name="Shape 8"/>
          <p:cNvSpPr/>
          <p:nvPr/>
        </p:nvSpPr>
        <p:spPr>
          <a:xfrm>
            <a:off x="3249168" y="1280160"/>
            <a:ext cx="2645664" cy="1532534"/>
          </a:xfrm>
          <a:prstGeom prst="roundRect">
            <a:avLst>
              <a:gd name="adj" fmla="val 4773"/>
            </a:avLst>
          </a:prstGeom>
          <a:solidFill>
            <a:srgbClr val="F2ECE1"/>
          </a:solidFill>
          <a:ln w="12700">
            <a:solidFill>
              <a:srgbClr val="DFD6C7"/>
            </a:solidFill>
            <a:prstDash val="solid"/>
          </a:ln>
        </p:spPr>
      </p:sp>
      <p:sp>
        <p:nvSpPr>
          <p:cNvPr id="11" name="Shape 9"/>
          <p:cNvSpPr/>
          <p:nvPr/>
        </p:nvSpPr>
        <p:spPr>
          <a:xfrm>
            <a:off x="3267456" y="1408176"/>
            <a:ext cx="64008" cy="1276502"/>
          </a:xfrm>
          <a:prstGeom prst="rect">
            <a:avLst/>
          </a:prstGeom>
          <a:solidFill>
            <a:srgbClr val="D97A14"/>
          </a:solidFill>
          <a:ln w="12700">
            <a:solidFill>
              <a:srgbClr val="D97A14"/>
            </a:solidFill>
            <a:prstDash val="solid"/>
          </a:ln>
        </p:spPr>
      </p:sp>
      <p:sp>
        <p:nvSpPr>
          <p:cNvPr id="12" name="Text 10"/>
          <p:cNvSpPr txBox="1"/>
          <p:nvPr/>
        </p:nvSpPr>
        <p:spPr>
          <a:xfrm>
            <a:off x="3432048" y="1344168"/>
            <a:ext cx="2371344" cy="875995"/>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The minority chain is slow</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A branch with a small share of the power keeps the old difficulty and runs slowly.</a:t>
            </a:r>
            <a:endParaRPr lang="en-US" sz="1150" dirty="0"/>
          </a:p>
        </p:txBody>
      </p:sp>
      <p:sp>
        <p:nvSpPr>
          <p:cNvPr id="13" name="Text 11"/>
          <p:cNvSpPr txBox="1"/>
          <p:nvPr/>
        </p:nvSpPr>
        <p:spPr>
          <a:xfrm>
            <a:off x="3432048" y="2247595"/>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a bus timetable kept after most buses left.</a:t>
            </a:r>
            <a:endParaRPr lang="en-US" sz="1000" dirty="0"/>
          </a:p>
        </p:txBody>
      </p:sp>
      <p:sp>
        <p:nvSpPr>
          <p:cNvPr id="14" name="Shape 12"/>
          <p:cNvSpPr/>
          <p:nvPr/>
        </p:nvSpPr>
        <p:spPr>
          <a:xfrm>
            <a:off x="6041136" y="1280160"/>
            <a:ext cx="2645664" cy="1532534"/>
          </a:xfrm>
          <a:prstGeom prst="roundRect">
            <a:avLst>
              <a:gd name="adj" fmla="val 4773"/>
            </a:avLst>
          </a:prstGeom>
          <a:solidFill>
            <a:srgbClr val="F2ECE1"/>
          </a:solidFill>
          <a:ln w="12700">
            <a:solidFill>
              <a:srgbClr val="DFD6C7"/>
            </a:solidFill>
            <a:prstDash val="solid"/>
          </a:ln>
        </p:spPr>
      </p:sp>
      <p:sp>
        <p:nvSpPr>
          <p:cNvPr id="15" name="Shape 13"/>
          <p:cNvSpPr/>
          <p:nvPr/>
        </p:nvSpPr>
        <p:spPr>
          <a:xfrm>
            <a:off x="6059424" y="1408176"/>
            <a:ext cx="64008" cy="1276502"/>
          </a:xfrm>
          <a:prstGeom prst="rect">
            <a:avLst/>
          </a:prstGeom>
          <a:solidFill>
            <a:srgbClr val="D97A14"/>
          </a:solidFill>
          <a:ln w="12700">
            <a:solidFill>
              <a:srgbClr val="D97A14"/>
            </a:solidFill>
            <a:prstDash val="solid"/>
          </a:ln>
        </p:spPr>
      </p:sp>
      <p:sp>
        <p:nvSpPr>
          <p:cNvPr id="16" name="Text 14"/>
          <p:cNvSpPr txBox="1"/>
          <p:nvPr/>
        </p:nvSpPr>
        <p:spPr>
          <a:xfrm>
            <a:off x="6224016" y="1344168"/>
            <a:ext cx="2371344" cy="875995"/>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The chain split of March 2013</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A large block was valid for new nodes and refused by old ones, and the chain split for hours.</a:t>
            </a:r>
            <a:endParaRPr lang="en-US" sz="1150" dirty="0"/>
          </a:p>
        </p:txBody>
      </p:sp>
      <p:sp>
        <p:nvSpPr>
          <p:cNvPr id="17" name="Text 15"/>
          <p:cNvSpPr txBox="1"/>
          <p:nvPr/>
        </p:nvSpPr>
        <p:spPr>
          <a:xfrm>
            <a:off x="6224016" y="2247595"/>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two dictionaries that disagree on one word.</a:t>
            </a:r>
            <a:endParaRPr lang="en-US" sz="1000" dirty="0"/>
          </a:p>
        </p:txBody>
      </p:sp>
      <p:sp>
        <p:nvSpPr>
          <p:cNvPr id="18" name="Shape 16"/>
          <p:cNvSpPr/>
          <p:nvPr/>
        </p:nvSpPr>
        <p:spPr>
          <a:xfrm>
            <a:off x="457200" y="2940710"/>
            <a:ext cx="2645664" cy="1532534"/>
          </a:xfrm>
          <a:prstGeom prst="roundRect">
            <a:avLst>
              <a:gd name="adj" fmla="val 4773"/>
            </a:avLst>
          </a:prstGeom>
          <a:solidFill>
            <a:srgbClr val="F2ECE1"/>
          </a:solidFill>
          <a:ln w="12700">
            <a:solidFill>
              <a:srgbClr val="DFD6C7"/>
            </a:solidFill>
            <a:prstDash val="solid"/>
          </a:ln>
        </p:spPr>
      </p:sp>
      <p:sp>
        <p:nvSpPr>
          <p:cNvPr id="19" name="Shape 17"/>
          <p:cNvSpPr/>
          <p:nvPr/>
        </p:nvSpPr>
        <p:spPr>
          <a:xfrm>
            <a:off x="475488" y="3068726"/>
            <a:ext cx="64008" cy="1276502"/>
          </a:xfrm>
          <a:prstGeom prst="rect">
            <a:avLst/>
          </a:prstGeom>
          <a:solidFill>
            <a:srgbClr val="D97A14"/>
          </a:solidFill>
          <a:ln w="12700">
            <a:solidFill>
              <a:srgbClr val="D97A14"/>
            </a:solidFill>
            <a:prstDash val="solid"/>
          </a:ln>
        </p:spPr>
      </p:sp>
      <p:sp>
        <p:nvSpPr>
          <p:cNvPr id="20" name="Text 18"/>
          <p:cNvSpPr txBox="1"/>
          <p:nvPr/>
        </p:nvSpPr>
        <p:spPr>
          <a:xfrm>
            <a:off x="640080" y="3004718"/>
            <a:ext cx="2371344" cy="1030529"/>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The Bitcoin Cash fork of 2017</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A group changed the rules so that its blocks were refused by the old network, and a second coin was born.</a:t>
            </a:r>
            <a:endParaRPr lang="en-US" sz="1150" dirty="0"/>
          </a:p>
        </p:txBody>
      </p:sp>
      <p:sp>
        <p:nvSpPr>
          <p:cNvPr id="21" name="Text 19"/>
          <p:cNvSpPr txBox="1"/>
          <p:nvPr/>
        </p:nvSpPr>
        <p:spPr>
          <a:xfrm>
            <a:off x="640080" y="4062679"/>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a village that splits in two but keeps one history.</a:t>
            </a:r>
            <a:endParaRPr lang="en-US" sz="1000" dirty="0"/>
          </a:p>
        </p:txBody>
      </p:sp>
      <p:sp>
        <p:nvSpPr>
          <p:cNvPr id="22" name="Shape 20"/>
          <p:cNvSpPr/>
          <p:nvPr/>
        </p:nvSpPr>
        <p:spPr>
          <a:xfrm>
            <a:off x="3249168" y="2940710"/>
            <a:ext cx="2645664" cy="1532534"/>
          </a:xfrm>
          <a:prstGeom prst="roundRect">
            <a:avLst>
              <a:gd name="adj" fmla="val 4773"/>
            </a:avLst>
          </a:prstGeom>
          <a:solidFill>
            <a:srgbClr val="F2ECE1"/>
          </a:solidFill>
          <a:ln w="12700">
            <a:solidFill>
              <a:srgbClr val="DFD6C7"/>
            </a:solidFill>
            <a:prstDash val="solid"/>
          </a:ln>
        </p:spPr>
      </p:sp>
      <p:sp>
        <p:nvSpPr>
          <p:cNvPr id="23" name="Shape 21"/>
          <p:cNvSpPr/>
          <p:nvPr/>
        </p:nvSpPr>
        <p:spPr>
          <a:xfrm>
            <a:off x="3267456" y="3068726"/>
            <a:ext cx="64008" cy="1276502"/>
          </a:xfrm>
          <a:prstGeom prst="rect">
            <a:avLst/>
          </a:prstGeom>
          <a:solidFill>
            <a:srgbClr val="D97A14"/>
          </a:solidFill>
          <a:ln w="12700">
            <a:solidFill>
              <a:srgbClr val="D97A14"/>
            </a:solidFill>
            <a:prstDash val="solid"/>
          </a:ln>
        </p:spPr>
      </p:sp>
      <p:sp>
        <p:nvSpPr>
          <p:cNvPr id="24" name="Text 22"/>
          <p:cNvSpPr txBox="1"/>
          <p:nvPr/>
        </p:nvSpPr>
        <p:spPr>
          <a:xfrm>
            <a:off x="3432048" y="3004718"/>
            <a:ext cx="2371344" cy="853135"/>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BIP 34 activation</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The first soft fork switched on by counting block versions: 750, then 950, of the last 1,000 blocks.</a:t>
            </a:r>
            <a:endParaRPr lang="en-US" sz="1150" dirty="0"/>
          </a:p>
        </p:txBody>
      </p:sp>
      <p:sp>
        <p:nvSpPr>
          <p:cNvPr id="25" name="Text 23"/>
          <p:cNvSpPr txBox="1"/>
          <p:nvPr/>
        </p:nvSpPr>
        <p:spPr>
          <a:xfrm>
            <a:off x="3432048" y="3885286"/>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a show of hands among the last thousand voters.</a:t>
            </a:r>
            <a:endParaRPr lang="en-US" sz="1000" dirty="0"/>
          </a:p>
        </p:txBody>
      </p:sp>
      <p:sp>
        <p:nvSpPr>
          <p:cNvPr id="26" name="Shape 24"/>
          <p:cNvSpPr/>
          <p:nvPr/>
        </p:nvSpPr>
        <p:spPr>
          <a:xfrm>
            <a:off x="6041136" y="2940710"/>
            <a:ext cx="2645664" cy="1532534"/>
          </a:xfrm>
          <a:prstGeom prst="roundRect">
            <a:avLst>
              <a:gd name="adj" fmla="val 4773"/>
            </a:avLst>
          </a:prstGeom>
          <a:solidFill>
            <a:srgbClr val="F2ECE1"/>
          </a:solidFill>
          <a:ln w="12700">
            <a:solidFill>
              <a:srgbClr val="DFD6C7"/>
            </a:solidFill>
            <a:prstDash val="solid"/>
          </a:ln>
        </p:spPr>
      </p:sp>
      <p:sp>
        <p:nvSpPr>
          <p:cNvPr id="27" name="Shape 25"/>
          <p:cNvSpPr/>
          <p:nvPr/>
        </p:nvSpPr>
        <p:spPr>
          <a:xfrm>
            <a:off x="6059424" y="3068726"/>
            <a:ext cx="64008" cy="1276502"/>
          </a:xfrm>
          <a:prstGeom prst="rect">
            <a:avLst/>
          </a:prstGeom>
          <a:solidFill>
            <a:srgbClr val="D97A14"/>
          </a:solidFill>
          <a:ln w="12700">
            <a:solidFill>
              <a:srgbClr val="D97A14"/>
            </a:solidFill>
            <a:prstDash val="solid"/>
          </a:ln>
        </p:spPr>
      </p:sp>
      <p:sp>
        <p:nvSpPr>
          <p:cNvPr id="28" name="Text 26"/>
          <p:cNvSpPr txBox="1"/>
          <p:nvPr/>
        </p:nvSpPr>
        <p:spPr>
          <a:xfrm>
            <a:off x="6224016" y="3004718"/>
            <a:ext cx="2371344" cy="697687"/>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The BIP 9 state machine</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A deployment moves from defined through started and locked in to active as miners signal.</a:t>
            </a:r>
            <a:endParaRPr lang="en-US" sz="1150" dirty="0"/>
          </a:p>
        </p:txBody>
      </p:sp>
      <p:sp>
        <p:nvSpPr>
          <p:cNvPr id="29" name="Text 27"/>
          <p:cNvSpPr txBox="1"/>
          <p:nvPr/>
        </p:nvSpPr>
        <p:spPr>
          <a:xfrm>
            <a:off x="6224016" y="3729838"/>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a traffic light that changes in a fixed order.</a:t>
            </a:r>
            <a:endParaRPr lang="en-US" sz="1000" dirty="0"/>
          </a:p>
        </p:txBody>
      </p:sp>
      <p:sp>
        <p:nvSpPr>
          <p:cNvPr id="30" name="Shape 28"/>
          <p:cNvSpPr/>
          <p:nvPr/>
        </p:nvSpPr>
        <p:spPr>
          <a:xfrm>
            <a:off x="457200" y="4636008"/>
            <a:ext cx="91440" cy="310896"/>
          </a:xfrm>
          <a:prstGeom prst="rect">
            <a:avLst/>
          </a:prstGeom>
          <a:solidFill>
            <a:srgbClr val="D97A14"/>
          </a:solidFill>
          <a:ln w="12700">
            <a:solidFill>
              <a:srgbClr val="D97A14"/>
            </a:solidFill>
            <a:prstDash val="solid"/>
          </a:ln>
        </p:spPr>
      </p:sp>
      <p:sp>
        <p:nvSpPr>
          <p:cNvPr id="31" name="Text 2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32" name="Text 3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40 / 51</a:t>
            </a:r>
            <a:endParaRPr lang="en-US" sz="11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 hard fork splits, a soft fork does not</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loose and a strict node on a private chain</a:t>
            </a:r>
            <a:endParaRPr lang="en-US" sz="1300" dirty="0"/>
          </a:p>
        </p:txBody>
      </p:sp>
      <p:sp>
        <p:nvSpPr>
          <p:cNvPr id="6" name="Shape 4"/>
          <p:cNvSpPr/>
          <p:nvPr/>
        </p:nvSpPr>
        <p:spPr>
          <a:xfrm>
            <a:off x="457200" y="1325880"/>
            <a:ext cx="5074920" cy="311810"/>
          </a:xfrm>
          <a:prstGeom prst="roundRect">
            <a:avLst>
              <a:gd name="adj" fmla="val 23460"/>
            </a:avLst>
          </a:prstGeom>
          <a:solidFill>
            <a:srgbClr val="23272E"/>
          </a:solidFill>
          <a:ln w="12700">
            <a:solidFill>
              <a:srgbClr val="23272E"/>
            </a:solidFill>
            <a:prstDash val="solid"/>
          </a:ln>
        </p:spPr>
      </p:sp>
      <p:sp>
        <p:nvSpPr>
          <p:cNvPr id="7" name="Text 5"/>
          <p:cNvSpPr txBox="1"/>
          <p:nvPr/>
        </p:nvSpPr>
        <p:spPr>
          <a:xfrm>
            <a:off x="603504" y="139903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 = R[</a:t>
            </a:r>
            <a:r>
              <a:rPr lang="en-US" sz="1000" dirty="0">
                <a:solidFill>
                  <a:srgbClr val="9ECBFF"/>
                </a:solidFill>
                <a:latin typeface="Courier New" pitchFamily="34" charset="0"/>
                <a:ea typeface="Courier New" pitchFamily="34" charset="-122"/>
                <a:cs typeface="Courier New" pitchFamily="34" charset="-120"/>
              </a:rPr>
              <a:t>'b9_lax_block'</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122322"/>
            <a:ext cx="5074920" cy="311810"/>
          </a:xfrm>
          <a:prstGeom prst="roundRect">
            <a:avLst>
              <a:gd name="adj" fmla="val 23460"/>
            </a:avLst>
          </a:prstGeom>
          <a:solidFill>
            <a:srgbClr val="23272E"/>
          </a:solidFill>
          <a:ln w="12700">
            <a:solidFill>
              <a:srgbClr val="23272E"/>
            </a:solidFill>
            <a:prstDash val="solid"/>
          </a:ln>
        </p:spPr>
      </p:sp>
      <p:sp>
        <p:nvSpPr>
          <p:cNvPr id="9" name="Text 7"/>
          <p:cNvSpPr txBox="1"/>
          <p:nvPr/>
        </p:nvSpPr>
        <p:spPr>
          <a:xfrm>
            <a:off x="603504" y="2195474"/>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c = R[</a:t>
            </a:r>
            <a:r>
              <a:rPr lang="en-US" sz="1000" dirty="0">
                <a:solidFill>
                  <a:srgbClr val="9ECBFF"/>
                </a:solidFill>
                <a:latin typeface="Courier New" pitchFamily="34" charset="0"/>
                <a:ea typeface="Courier New" pitchFamily="34" charset="-122"/>
                <a:cs typeface="Courier New" pitchFamily="34" charset="-120"/>
              </a:rPr>
              <a:t>'b9_lax_chain'</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2918765"/>
            <a:ext cx="5074920" cy="476402"/>
          </a:xfrm>
          <a:prstGeom prst="roundRect">
            <a:avLst>
              <a:gd name="adj" fmla="val 15355"/>
            </a:avLst>
          </a:prstGeom>
          <a:solidFill>
            <a:srgbClr val="23272E"/>
          </a:solidFill>
          <a:ln w="12700">
            <a:solidFill>
              <a:srgbClr val="23272E"/>
            </a:solidFill>
            <a:prstDash val="solid"/>
          </a:ln>
        </p:spPr>
      </p:sp>
      <p:sp>
        <p:nvSpPr>
          <p:cNvPr id="11" name="Text 9"/>
          <p:cNvSpPr txBox="1"/>
          <p:nvPr/>
        </p:nvSpPr>
        <p:spPr>
          <a:xfrm>
            <a:off x="603504" y="2991917"/>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a:t>
            </a:r>
            <a:r>
              <a:rPr lang="en-US" sz="1000" dirty="0">
                <a:solidFill>
                  <a:srgbClr val="9ECBFF"/>
                </a:solidFill>
                <a:latin typeface="Courier New" pitchFamily="34" charset="0"/>
                <a:ea typeface="Courier New" pitchFamily="34" charset="-122"/>
                <a:cs typeface="Courier New" pitchFamily="34" charset="-120"/>
              </a:rPr>
              <a:t>'lax_node'</a:t>
            </a:r>
            <a:r>
              <a:rPr lang="en-US" sz="1000" dirty="0">
                <a:solidFill>
                  <a:srgbClr val="E6EDF3"/>
                </a:solidFill>
                <a:latin typeface="Courier New" pitchFamily="34" charset="0"/>
                <a:ea typeface="Courier New" pitchFamily="34" charset="-122"/>
                <a:cs typeface="Courier New" pitchFamily="34" charset="-120"/>
              </a:rPr>
              <a:t>], r[</a:t>
            </a:r>
            <a:r>
              <a:rPr lang="en-US" sz="1000" dirty="0">
                <a:solidFill>
                  <a:srgbClr val="9ECBFF"/>
                </a:solidFill>
                <a:latin typeface="Courier New" pitchFamily="34" charset="0"/>
                <a:ea typeface="Courier New" pitchFamily="34" charset="-122"/>
                <a:cs typeface="Courier New" pitchFamily="34" charset="-120"/>
              </a:rPr>
              <a:t>'strict_node'</a:t>
            </a:r>
            <a:r>
              <a:rPr lang="en-US" sz="1000" dirty="0">
                <a:solidFill>
                  <a:srgbClr val="E6EDF3"/>
                </a:solidFill>
                <a:latin typeface="Courier New" pitchFamily="34" charset="0"/>
                <a:ea typeface="Courier New" pitchFamily="34" charset="-122"/>
                <a:cs typeface="Courier New" pitchFamily="34" charset="-120"/>
              </a:rPr>
              <a:t>], c[</a:t>
            </a:r>
            <a:r>
              <a:rPr lang="en-US" sz="1000" dirty="0">
                <a:solidFill>
                  <a:srgbClr val="9ECBFF"/>
                </a:solidFill>
                <a:latin typeface="Courier New" pitchFamily="34" charset="0"/>
                <a:ea typeface="Courier New" pitchFamily="34" charset="-122"/>
                <a:cs typeface="Courier New" pitchFamily="34" charset="-120"/>
              </a:rPr>
              <a:t>'same_tip'</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('accepted', 'bad-cb-height', False)</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665122"/>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node with the old, looser rule and a node with the new, stricter rule saw the same block.</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461565"/>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loose node accepts a block with no height; the strict node refuses it.</a:t>
            </a:r>
            <a:endParaRPr lang="en-US" sz="1050" dirty="0"/>
          </a:p>
        </p:txBody>
      </p:sp>
      <p:sp>
        <p:nvSpPr>
          <p:cNvPr id="18" name="Shape 16"/>
          <p:cNvSpPr/>
          <p:nvPr/>
        </p:nvSpPr>
        <p:spPr>
          <a:xfrm>
            <a:off x="365760" y="2845613"/>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845613"/>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422599"/>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loose chain goes on, the strict node follows only blocks that obey: the two tips differ.</a:t>
            </a:r>
            <a:endParaRPr lang="en-US" sz="1050" dirty="0"/>
          </a:p>
        </p:txBody>
      </p:sp>
      <p:sp>
        <p:nvSpPr>
          <p:cNvPr id="21" name="Text 19"/>
          <p:cNvSpPr txBox="1"/>
          <p:nvPr/>
        </p:nvSpPr>
        <p:spPr>
          <a:xfrm>
            <a:off x="457200" y="3843223"/>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its regtest record</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one block seen by two nodes</a:t>
            </a:r>
            <a:endParaRPr lang="en-US" sz="110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1554480"/>
                <a:gridCol w="141732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Observation</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Result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Old, looser node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accepted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New, stricter node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bad-cb-height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Height of the loose node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6</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Height of the strict node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3</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Same tip</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no</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694176"/>
            <a:ext cx="2971800" cy="42062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two nodes now follow different chains: the chain has split.</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Looser rules split the chain into two; stricter rules do not</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41 / 51</a:t>
            </a:r>
            <a:endParaRPr lang="en-US" sz="11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Hard fork or soft fork?</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Why one splits the chain and the other does not</a:t>
            </a:r>
            <a:endParaRPr lang="en-US" sz="1300" dirty="0"/>
          </a:p>
        </p:txBody>
      </p:sp>
      <p:sp>
        <p:nvSpPr>
          <p:cNvPr id="6" name="Shape 4"/>
          <p:cNvSpPr/>
          <p:nvPr/>
        </p:nvSpPr>
        <p:spPr>
          <a:xfrm>
            <a:off x="457200" y="1325880"/>
            <a:ext cx="3931920" cy="3108960"/>
          </a:xfrm>
          <a:prstGeom prst="roundRect">
            <a:avLst>
              <a:gd name="adj" fmla="val 2941"/>
            </a:avLst>
          </a:prstGeom>
          <a:solidFill>
            <a:srgbClr val="F2ECE1"/>
          </a:solidFill>
          <a:ln w="15875">
            <a:solidFill>
              <a:srgbClr val="D97A14"/>
            </a:solidFill>
            <a:prstDash val="solid"/>
          </a:ln>
        </p:spPr>
      </p:sp>
      <p:sp>
        <p:nvSpPr>
          <p:cNvPr id="7" name="Text 5"/>
          <p:cNvSpPr txBox="1"/>
          <p:nvPr/>
        </p:nvSpPr>
        <p:spPr>
          <a:xfrm>
            <a:off x="640080" y="1435608"/>
            <a:ext cx="3566160" cy="365760"/>
          </a:xfrm>
          <a:prstGeom prst="rect">
            <a:avLst/>
          </a:prstGeom>
          <a:noFill/>
          <a:ln/>
        </p:spPr>
        <p:txBody>
          <a:bodyPr wrap="square" lIns="0" tIns="0" rIns="0" bIns="0" rtlCol="0" anchor="ctr"/>
          <a:lstStyle/>
          <a:p>
            <a:pPr indent="0" marL="0">
              <a:buNone/>
            </a:pPr>
            <a:r>
              <a:rPr lang="en-US" sz="1500" b="1" dirty="0">
                <a:solidFill>
                  <a:srgbClr val="D97A14"/>
                </a:solidFill>
                <a:latin typeface="Cambria" pitchFamily="34" charset="0"/>
                <a:ea typeface="Cambria" pitchFamily="34" charset="-122"/>
                <a:cs typeface="Cambria" pitchFamily="34" charset="-120"/>
              </a:rPr>
              <a:t>A hard fork loosens the rules</a:t>
            </a:r>
            <a:endParaRPr lang="en-US" sz="1500" dirty="0"/>
          </a:p>
        </p:txBody>
      </p:sp>
      <p:sp>
        <p:nvSpPr>
          <p:cNvPr id="8" name="Text 6"/>
          <p:cNvSpPr txBox="1"/>
          <p:nvPr/>
        </p:nvSpPr>
        <p:spPr>
          <a:xfrm>
            <a:off x="640080" y="1856232"/>
            <a:ext cx="3566160" cy="2450592"/>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New blocks may break the old rules.</a:t>
            </a:r>
            <a:endParaRPr lang="en-US" sz="1250" dirty="0"/>
          </a:p>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Old nodes refuse them, and the chain splits.</a:t>
            </a:r>
            <a:endParaRPr lang="en-US" sz="1250" dirty="0"/>
          </a:p>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Like a fork in the road.</a:t>
            </a:r>
            <a:endParaRPr lang="en-US" sz="1250" dirty="0"/>
          </a:p>
        </p:txBody>
      </p:sp>
      <p:sp>
        <p:nvSpPr>
          <p:cNvPr id="9" name="Shape 7"/>
          <p:cNvSpPr/>
          <p:nvPr/>
        </p:nvSpPr>
        <p:spPr>
          <a:xfrm>
            <a:off x="4754880" y="1325880"/>
            <a:ext cx="3931920" cy="3108960"/>
          </a:xfrm>
          <a:prstGeom prst="roundRect">
            <a:avLst>
              <a:gd name="adj" fmla="val 2941"/>
            </a:avLst>
          </a:prstGeom>
          <a:solidFill>
            <a:srgbClr val="F2ECE1"/>
          </a:solidFill>
          <a:ln w="15875">
            <a:solidFill>
              <a:srgbClr val="2F6D62"/>
            </a:solidFill>
            <a:prstDash val="solid"/>
          </a:ln>
        </p:spPr>
      </p:sp>
      <p:sp>
        <p:nvSpPr>
          <p:cNvPr id="10" name="Text 8"/>
          <p:cNvSpPr txBox="1"/>
          <p:nvPr/>
        </p:nvSpPr>
        <p:spPr>
          <a:xfrm>
            <a:off x="4937760" y="1435608"/>
            <a:ext cx="3566160" cy="365760"/>
          </a:xfrm>
          <a:prstGeom prst="rect">
            <a:avLst/>
          </a:prstGeom>
          <a:noFill/>
          <a:ln/>
        </p:spPr>
        <p:txBody>
          <a:bodyPr wrap="square" lIns="0" tIns="0" rIns="0" bIns="0" rtlCol="0" anchor="ctr"/>
          <a:lstStyle/>
          <a:p>
            <a:pPr indent="0" marL="0">
              <a:buNone/>
            </a:pPr>
            <a:r>
              <a:rPr lang="en-US" sz="1500" b="1" dirty="0">
                <a:solidFill>
                  <a:srgbClr val="2F6D62"/>
                </a:solidFill>
                <a:latin typeface="Cambria" pitchFamily="34" charset="0"/>
                <a:ea typeface="Cambria" pitchFamily="34" charset="-122"/>
                <a:cs typeface="Cambria" pitchFamily="34" charset="-120"/>
              </a:rPr>
              <a:t>A soft fork tightens the rules</a:t>
            </a:r>
            <a:endParaRPr lang="en-US" sz="1500" dirty="0"/>
          </a:p>
        </p:txBody>
      </p:sp>
      <p:sp>
        <p:nvSpPr>
          <p:cNvPr id="11" name="Text 9"/>
          <p:cNvSpPr txBox="1"/>
          <p:nvPr/>
        </p:nvSpPr>
        <p:spPr>
          <a:xfrm>
            <a:off x="4937760" y="1856232"/>
            <a:ext cx="3566160" cy="2450592"/>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New blocks still obey the old rules.</a:t>
            </a:r>
            <a:endParaRPr lang="en-US" sz="1250" dirty="0"/>
          </a:p>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Old nodes accept them, and the chain stays whole.</a:t>
            </a:r>
            <a:endParaRPr lang="en-US" sz="1250" dirty="0"/>
          </a:p>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Like a stricter door policy.</a:t>
            </a:r>
            <a:endParaRPr lang="en-US" sz="1250" dirty="0"/>
          </a:p>
        </p:txBody>
      </p:sp>
      <p:sp>
        <p:nvSpPr>
          <p:cNvPr id="12" name="Shape 10"/>
          <p:cNvSpPr/>
          <p:nvPr/>
        </p:nvSpPr>
        <p:spPr>
          <a:xfrm>
            <a:off x="457200" y="4636008"/>
            <a:ext cx="91440" cy="310896"/>
          </a:xfrm>
          <a:prstGeom prst="rect">
            <a:avLst/>
          </a:prstGeom>
          <a:solidFill>
            <a:srgbClr val="D97A14"/>
          </a:solidFill>
          <a:ln w="12700">
            <a:solidFill>
              <a:srgbClr val="D97A14"/>
            </a:solidFill>
            <a:prstDash val="solid"/>
          </a:ln>
        </p:spPr>
      </p:sp>
      <p:sp>
        <p:nvSpPr>
          <p:cNvPr id="13" name="Text 1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soft fork needs most of the miners; a hard fork needs everyone</a:t>
            </a:r>
            <a:endParaRPr lang="en-US" sz="1350" dirty="0"/>
          </a:p>
        </p:txBody>
      </p:sp>
      <p:sp>
        <p:nvSpPr>
          <p:cNvPr id="14"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42 / 51</a:t>
            </a:r>
            <a:endParaRPr lang="en-US" sz="11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Changing the rules: key concepts (2 of 2)</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2645664" cy="1199693"/>
          </a:xfrm>
          <a:prstGeom prst="roundRect">
            <a:avLst>
              <a:gd name="adj" fmla="val 6098"/>
            </a:avLst>
          </a:prstGeom>
          <a:solidFill>
            <a:srgbClr val="F2ECE1"/>
          </a:solidFill>
          <a:ln w="12700">
            <a:solidFill>
              <a:srgbClr val="DFD6C7"/>
            </a:solidFill>
            <a:prstDash val="solid"/>
          </a:ln>
        </p:spPr>
      </p:sp>
      <p:sp>
        <p:nvSpPr>
          <p:cNvPr id="7" name="Shape 5"/>
          <p:cNvSpPr/>
          <p:nvPr/>
        </p:nvSpPr>
        <p:spPr>
          <a:xfrm>
            <a:off x="475488" y="1408176"/>
            <a:ext cx="64008" cy="943661"/>
          </a:xfrm>
          <a:prstGeom prst="rect">
            <a:avLst/>
          </a:prstGeom>
          <a:solidFill>
            <a:srgbClr val="D97A14"/>
          </a:solidFill>
          <a:ln w="12700">
            <a:solidFill>
              <a:srgbClr val="D97A14"/>
            </a:solidFill>
            <a:prstDash val="solid"/>
          </a:ln>
        </p:spPr>
      </p:sp>
      <p:sp>
        <p:nvSpPr>
          <p:cNvPr id="8" name="Text 6"/>
          <p:cNvSpPr txBox="1"/>
          <p:nvPr/>
        </p:nvSpPr>
        <p:spPr>
          <a:xfrm>
            <a:off x="640080" y="1344168"/>
            <a:ext cx="2371344" cy="697687"/>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BIP 8 lock-in by height</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It counts in block heights, not time, and can force the lock-in when the timeout comes.</a:t>
            </a:r>
            <a:endParaRPr lang="en-US" sz="1150" dirty="0"/>
          </a:p>
        </p:txBody>
      </p:sp>
      <p:sp>
        <p:nvSpPr>
          <p:cNvPr id="9" name="Text 7"/>
          <p:cNvSpPr txBox="1"/>
          <p:nvPr/>
        </p:nvSpPr>
        <p:spPr>
          <a:xfrm>
            <a:off x="640080" y="2069287"/>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a deadline set by page number, not by the clock.</a:t>
            </a:r>
            <a:endParaRPr lang="en-US" sz="1000" dirty="0"/>
          </a:p>
        </p:txBody>
      </p:sp>
      <p:sp>
        <p:nvSpPr>
          <p:cNvPr id="10" name="Shape 8"/>
          <p:cNvSpPr/>
          <p:nvPr/>
        </p:nvSpPr>
        <p:spPr>
          <a:xfrm>
            <a:off x="3249168" y="1280160"/>
            <a:ext cx="2645664" cy="1199693"/>
          </a:xfrm>
          <a:prstGeom prst="roundRect">
            <a:avLst>
              <a:gd name="adj" fmla="val 6098"/>
            </a:avLst>
          </a:prstGeom>
          <a:solidFill>
            <a:srgbClr val="F2ECE1"/>
          </a:solidFill>
          <a:ln w="12700">
            <a:solidFill>
              <a:srgbClr val="DFD6C7"/>
            </a:solidFill>
            <a:prstDash val="solid"/>
          </a:ln>
        </p:spPr>
      </p:sp>
      <p:sp>
        <p:nvSpPr>
          <p:cNvPr id="11" name="Shape 9"/>
          <p:cNvSpPr/>
          <p:nvPr/>
        </p:nvSpPr>
        <p:spPr>
          <a:xfrm>
            <a:off x="3267456" y="1408176"/>
            <a:ext cx="64008" cy="943661"/>
          </a:xfrm>
          <a:prstGeom prst="rect">
            <a:avLst/>
          </a:prstGeom>
          <a:solidFill>
            <a:srgbClr val="D97A14"/>
          </a:solidFill>
          <a:ln w="12700">
            <a:solidFill>
              <a:srgbClr val="D97A14"/>
            </a:solidFill>
            <a:prstDash val="solid"/>
          </a:ln>
        </p:spPr>
      </p:sp>
      <p:sp>
        <p:nvSpPr>
          <p:cNvPr id="12" name="Text 10"/>
          <p:cNvSpPr txBox="1"/>
          <p:nvPr/>
        </p:nvSpPr>
        <p:spPr>
          <a:xfrm>
            <a:off x="3432048" y="1344168"/>
            <a:ext cx="2371344" cy="697687"/>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Segwit activation in 2017</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Miners held it back under BIP 9 until BIP 91 and BIP 148; it became active on 24 August 2017.</a:t>
            </a:r>
            <a:endParaRPr lang="en-US" sz="1150" dirty="0"/>
          </a:p>
        </p:txBody>
      </p:sp>
      <p:sp>
        <p:nvSpPr>
          <p:cNvPr id="13" name="Text 11"/>
          <p:cNvSpPr txBox="1"/>
          <p:nvPr/>
        </p:nvSpPr>
        <p:spPr>
          <a:xfrm>
            <a:off x="3432048" y="2069287"/>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a vote that stalled until everyone was given a deadline.</a:t>
            </a:r>
            <a:endParaRPr lang="en-US" sz="1000" dirty="0"/>
          </a:p>
        </p:txBody>
      </p:sp>
      <p:sp>
        <p:nvSpPr>
          <p:cNvPr id="14" name="Shape 12"/>
          <p:cNvSpPr/>
          <p:nvPr/>
        </p:nvSpPr>
        <p:spPr>
          <a:xfrm>
            <a:off x="6041136" y="1280160"/>
            <a:ext cx="2645664" cy="1199693"/>
          </a:xfrm>
          <a:prstGeom prst="roundRect">
            <a:avLst>
              <a:gd name="adj" fmla="val 6098"/>
            </a:avLst>
          </a:prstGeom>
          <a:solidFill>
            <a:srgbClr val="F2ECE1"/>
          </a:solidFill>
          <a:ln w="12700">
            <a:solidFill>
              <a:srgbClr val="DFD6C7"/>
            </a:solidFill>
            <a:prstDash val="solid"/>
          </a:ln>
        </p:spPr>
      </p:sp>
      <p:sp>
        <p:nvSpPr>
          <p:cNvPr id="15" name="Shape 13"/>
          <p:cNvSpPr/>
          <p:nvPr/>
        </p:nvSpPr>
        <p:spPr>
          <a:xfrm>
            <a:off x="6059424" y="1408176"/>
            <a:ext cx="64008" cy="943661"/>
          </a:xfrm>
          <a:prstGeom prst="rect">
            <a:avLst/>
          </a:prstGeom>
          <a:solidFill>
            <a:srgbClr val="D97A14"/>
          </a:solidFill>
          <a:ln w="12700">
            <a:solidFill>
              <a:srgbClr val="D97A14"/>
            </a:solidFill>
            <a:prstDash val="solid"/>
          </a:ln>
        </p:spPr>
      </p:sp>
      <p:sp>
        <p:nvSpPr>
          <p:cNvPr id="16" name="Text 14"/>
          <p:cNvSpPr txBox="1"/>
          <p:nvPr/>
        </p:nvSpPr>
        <p:spPr>
          <a:xfrm>
            <a:off x="6224016" y="1344168"/>
            <a:ext cx="2371344" cy="697687"/>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Speedy Trial and taproot</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A three-month vote that needed 90 percent, then a delay before the new rules began.</a:t>
            </a:r>
            <a:endParaRPr lang="en-US" sz="1150" dirty="0"/>
          </a:p>
        </p:txBody>
      </p:sp>
      <p:sp>
        <p:nvSpPr>
          <p:cNvPr id="17" name="Text 15"/>
          <p:cNvSpPr txBox="1"/>
          <p:nvPr/>
        </p:nvSpPr>
        <p:spPr>
          <a:xfrm>
            <a:off x="6224016" y="2069287"/>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a short referendum with a high bar.</a:t>
            </a:r>
            <a:endParaRPr lang="en-US" sz="1000" dirty="0"/>
          </a:p>
        </p:txBody>
      </p:sp>
      <p:sp>
        <p:nvSpPr>
          <p:cNvPr id="18" name="Shape 16"/>
          <p:cNvSpPr/>
          <p:nvPr/>
        </p:nvSpPr>
        <p:spPr>
          <a:xfrm>
            <a:off x="457200" y="2607869"/>
            <a:ext cx="2645664" cy="1199693"/>
          </a:xfrm>
          <a:prstGeom prst="roundRect">
            <a:avLst>
              <a:gd name="adj" fmla="val 6098"/>
            </a:avLst>
          </a:prstGeom>
          <a:solidFill>
            <a:srgbClr val="F2ECE1"/>
          </a:solidFill>
          <a:ln w="12700">
            <a:solidFill>
              <a:srgbClr val="DFD6C7"/>
            </a:solidFill>
            <a:prstDash val="solid"/>
          </a:ln>
        </p:spPr>
      </p:sp>
      <p:sp>
        <p:nvSpPr>
          <p:cNvPr id="19" name="Shape 17"/>
          <p:cNvSpPr/>
          <p:nvPr/>
        </p:nvSpPr>
        <p:spPr>
          <a:xfrm>
            <a:off x="475488" y="2735885"/>
            <a:ext cx="64008" cy="943661"/>
          </a:xfrm>
          <a:prstGeom prst="rect">
            <a:avLst/>
          </a:prstGeom>
          <a:solidFill>
            <a:srgbClr val="D97A14"/>
          </a:solidFill>
          <a:ln w="12700">
            <a:solidFill>
              <a:srgbClr val="D97A14"/>
            </a:solidFill>
            <a:prstDash val="solid"/>
          </a:ln>
        </p:spPr>
      </p:sp>
      <p:sp>
        <p:nvSpPr>
          <p:cNvPr id="20" name="Text 18"/>
          <p:cNvSpPr txBox="1"/>
          <p:nvPr/>
        </p:nvSpPr>
        <p:spPr>
          <a:xfrm>
            <a:off x="640080" y="2671877"/>
            <a:ext cx="2371344" cy="697687"/>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Buried deployments</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Old soft forks are now plain activation heights in the source code.</a:t>
            </a:r>
            <a:endParaRPr lang="en-US" sz="1150" dirty="0"/>
          </a:p>
        </p:txBody>
      </p:sp>
      <p:sp>
        <p:nvSpPr>
          <p:cNvPr id="21" name="Text 19"/>
          <p:cNvSpPr txBox="1"/>
          <p:nvPr/>
        </p:nvSpPr>
        <p:spPr>
          <a:xfrm>
            <a:off x="640080" y="3396996"/>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a law so old that it is printed in the constitution.</a:t>
            </a:r>
            <a:endParaRPr lang="en-US" sz="1000" dirty="0"/>
          </a:p>
        </p:txBody>
      </p:sp>
      <p:sp>
        <p:nvSpPr>
          <p:cNvPr id="22" name="Shape 20"/>
          <p:cNvSpPr/>
          <p:nvPr/>
        </p:nvSpPr>
        <p:spPr>
          <a:xfrm>
            <a:off x="3249168" y="2607869"/>
            <a:ext cx="2645664" cy="1199693"/>
          </a:xfrm>
          <a:prstGeom prst="roundRect">
            <a:avLst>
              <a:gd name="adj" fmla="val 6098"/>
            </a:avLst>
          </a:prstGeom>
          <a:solidFill>
            <a:srgbClr val="F2ECE1"/>
          </a:solidFill>
          <a:ln w="12700">
            <a:solidFill>
              <a:srgbClr val="DFD6C7"/>
            </a:solidFill>
            <a:prstDash val="solid"/>
          </a:ln>
        </p:spPr>
      </p:sp>
      <p:sp>
        <p:nvSpPr>
          <p:cNvPr id="23" name="Shape 21"/>
          <p:cNvSpPr/>
          <p:nvPr/>
        </p:nvSpPr>
        <p:spPr>
          <a:xfrm>
            <a:off x="3267456" y="2735885"/>
            <a:ext cx="64008" cy="943661"/>
          </a:xfrm>
          <a:prstGeom prst="rect">
            <a:avLst/>
          </a:prstGeom>
          <a:solidFill>
            <a:srgbClr val="D97A14"/>
          </a:solidFill>
          <a:ln w="12700">
            <a:solidFill>
              <a:srgbClr val="D97A14"/>
            </a:solidFill>
            <a:prstDash val="solid"/>
          </a:ln>
        </p:spPr>
      </p:sp>
      <p:sp>
        <p:nvSpPr>
          <p:cNvPr id="24" name="Text 22"/>
          <p:cNvSpPr txBox="1"/>
          <p:nvPr/>
        </p:nvSpPr>
        <p:spPr>
          <a:xfrm>
            <a:off x="3432048" y="2671877"/>
            <a:ext cx="2371344" cy="697687"/>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BIP 54 consensus cleanup</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A proposal that would fix the time warp attack and limit signature operations and transaction size.</a:t>
            </a:r>
            <a:endParaRPr lang="en-US" sz="1150" dirty="0"/>
          </a:p>
        </p:txBody>
      </p:sp>
      <p:sp>
        <p:nvSpPr>
          <p:cNvPr id="25" name="Text 23"/>
          <p:cNvSpPr txBox="1"/>
          <p:nvPr/>
        </p:nvSpPr>
        <p:spPr>
          <a:xfrm>
            <a:off x="3432048" y="3396996"/>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a spring clean of an old rulebook.</a:t>
            </a:r>
            <a:endParaRPr lang="en-US" sz="1000" dirty="0"/>
          </a:p>
        </p:txBody>
      </p:sp>
      <p:sp>
        <p:nvSpPr>
          <p:cNvPr id="26" name="Shape 24"/>
          <p:cNvSpPr/>
          <p:nvPr/>
        </p:nvSpPr>
        <p:spPr>
          <a:xfrm>
            <a:off x="457200" y="4636008"/>
            <a:ext cx="91440" cy="310896"/>
          </a:xfrm>
          <a:prstGeom prst="rect">
            <a:avLst/>
          </a:prstGeom>
          <a:solidFill>
            <a:srgbClr val="D97A14"/>
          </a:solidFill>
          <a:ln w="12700">
            <a:solidFill>
              <a:srgbClr val="D97A14"/>
            </a:solidFill>
            <a:prstDash val="solid"/>
          </a:ln>
        </p:spPr>
      </p:sp>
      <p:sp>
        <p:nvSpPr>
          <p:cNvPr id="27" name="Text 2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8" name="Text 2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43 / 51</a:t>
            </a:r>
            <a:endParaRPr lang="en-US" sz="11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minority chain is slow</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How long 2,016 blocks take on a weaker branch</a:t>
            </a:r>
            <a:endParaRPr lang="en-US" sz="1300" dirty="0"/>
          </a:p>
        </p:txBody>
      </p:sp>
      <p:sp>
        <p:nvSpPr>
          <p:cNvPr id="6" name="Shape 4"/>
          <p:cNvSpPr/>
          <p:nvPr/>
        </p:nvSpPr>
        <p:spPr>
          <a:xfrm>
            <a:off x="457200" y="1325880"/>
            <a:ext cx="5074920" cy="311810"/>
          </a:xfrm>
          <a:prstGeom prst="roundRect">
            <a:avLst>
              <a:gd name="adj" fmla="val 23460"/>
            </a:avLst>
          </a:prstGeom>
          <a:solidFill>
            <a:srgbClr val="23272E"/>
          </a:solidFill>
          <a:ln w="12700">
            <a:solidFill>
              <a:srgbClr val="23272E"/>
            </a:solidFill>
            <a:prstDash val="solid"/>
          </a:ln>
        </p:spPr>
      </p:sp>
      <p:sp>
        <p:nvSpPr>
          <p:cNvPr id="7" name="Text 5"/>
          <p:cNvSpPr txBox="1"/>
          <p:nvPr/>
        </p:nvSpPr>
        <p:spPr>
          <a:xfrm>
            <a:off x="603504" y="139903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sh = [</a:t>
            </a:r>
            <a:r>
              <a:rPr lang="en-US" sz="1000" dirty="0">
                <a:solidFill>
                  <a:srgbClr val="FFD28A"/>
                </a:solidFill>
                <a:latin typeface="Courier New" pitchFamily="34" charset="0"/>
                <a:ea typeface="Courier New" pitchFamily="34" charset="-122"/>
                <a:cs typeface="Courier New" pitchFamily="34" charset="-120"/>
              </a:rPr>
              <a:t>0.8</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0.5</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0.2</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0.1</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122322"/>
            <a:ext cx="5074920" cy="311810"/>
          </a:xfrm>
          <a:prstGeom prst="roundRect">
            <a:avLst>
              <a:gd name="adj" fmla="val 23460"/>
            </a:avLst>
          </a:prstGeom>
          <a:solidFill>
            <a:srgbClr val="23272E"/>
          </a:solidFill>
          <a:ln w="12700">
            <a:solidFill>
              <a:srgbClr val="23272E"/>
            </a:solidFill>
            <a:prstDash val="solid"/>
          </a:ln>
        </p:spPr>
      </p:sp>
      <p:sp>
        <p:nvSpPr>
          <p:cNvPr id="9" name="Text 7"/>
          <p:cNvSpPr txBox="1"/>
          <p:nvPr/>
        </p:nvSpPr>
        <p:spPr>
          <a:xfrm>
            <a:off x="603504" y="2195474"/>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d = [round(L.blocks_per_period(s)[</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s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sh]</a:t>
            </a:r>
            <a:endParaRPr lang="en-US" sz="1000" dirty="0"/>
          </a:p>
        </p:txBody>
      </p:sp>
      <p:sp>
        <p:nvSpPr>
          <p:cNvPr id="10" name="Shape 8"/>
          <p:cNvSpPr/>
          <p:nvPr/>
        </p:nvSpPr>
        <p:spPr>
          <a:xfrm>
            <a:off x="457200" y="2754173"/>
            <a:ext cx="5074920" cy="476402"/>
          </a:xfrm>
          <a:prstGeom prst="roundRect">
            <a:avLst>
              <a:gd name="adj" fmla="val 15355"/>
            </a:avLst>
          </a:prstGeom>
          <a:solidFill>
            <a:srgbClr val="23272E"/>
          </a:solidFill>
          <a:ln w="12700">
            <a:solidFill>
              <a:srgbClr val="23272E"/>
            </a:solidFill>
            <a:prstDash val="solid"/>
          </a:ln>
        </p:spPr>
      </p:sp>
      <p:sp>
        <p:nvSpPr>
          <p:cNvPr id="11" name="Text 9"/>
          <p:cNvSpPr txBox="1"/>
          <p:nvPr/>
        </p:nvSpPr>
        <p:spPr>
          <a:xfrm>
            <a:off x="603504" y="2827325"/>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d</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[18, 28, 70, 140]</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665122"/>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After a split a branch keeps the old difficulty but only a share of the hash rate.</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461565"/>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Blocks come more slowly; this is the time of 2,016 blocks, in days.</a:t>
            </a:r>
            <a:endParaRPr lang="en-US" sz="1050" dirty="0"/>
          </a:p>
        </p:txBody>
      </p:sp>
      <p:sp>
        <p:nvSpPr>
          <p:cNvPr id="18" name="Shape 16"/>
          <p:cNvSpPr/>
          <p:nvPr/>
        </p:nvSpPr>
        <p:spPr>
          <a:xfrm>
            <a:off x="365760" y="2681021"/>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681021"/>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258007"/>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branch with a tenth of the power needs 140 days for what took 14.</a:t>
            </a:r>
            <a:endParaRPr lang="en-US" sz="1050" dirty="0"/>
          </a:p>
        </p:txBody>
      </p:sp>
      <p:sp>
        <p:nvSpPr>
          <p:cNvPr id="21" name="Text 19"/>
          <p:cNvSpPr txBox="1"/>
          <p:nvPr/>
        </p:nvSpPr>
        <p:spPr>
          <a:xfrm>
            <a:off x="457200" y="3514039"/>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its regtest record</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days for 2,016 blocks, by share of power</a:t>
            </a:r>
            <a:endParaRPr lang="en-US" sz="1100" dirty="0"/>
          </a:p>
        </p:txBody>
      </p:sp>
      <p:graphicFrame>
        <p:nvGraphicFramePr>
          <p:cNvPr id="23" name="Chart 0" descr=""/>
          <p:cNvGraphicFramePr/>
          <p:nvPr/>
        </p:nvGraphicFramePr>
        <p:xfrm>
          <a:off x="5715000" y="1773936"/>
          <a:ext cx="2971800" cy="2075688"/>
        </p:xfrm>
        <a:graphic xmlns:a="http://schemas.openxmlformats.org/drawingml/2006/main">
          <a:graphicData uri="http://schemas.openxmlformats.org/drawingml/2006/chart">
            <c:chart xmlns:c="http://schemas.openxmlformats.org/drawingml/2006/chart" r:id="rId1"/>
          </a:graphicData>
        </a:graphic>
      </p:graphicFrame>
      <p:sp>
        <p:nvSpPr>
          <p:cNvPr id="24" name="Text 21"/>
          <p:cNvSpPr txBox="1"/>
          <p:nvPr/>
        </p:nvSpPr>
        <p:spPr>
          <a:xfrm>
            <a:off x="5715000" y="3941064"/>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With a tenth of the power a block takes 100 minutes and 2,016 blocks take 140 days.</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With a tenth of the power a fortnight of blocks takes 140 days</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44 / 51</a:t>
            </a:r>
            <a:endParaRPr lang="en-US" sz="11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day Bitcoin had two histories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An accident in software became a rule of the network</a:t>
            </a:r>
            <a:endParaRPr lang="en-US" sz="1300" dirty="0"/>
          </a:p>
        </p:txBody>
      </p:sp>
      <p:pic>
        <p:nvPicPr>
          <p:cNvPr id="6" name="Image 0" descr="../../03-materials/ch12/assets/photo_fork_in_the_road.png">    </p:cNvPr>
          <p:cNvPicPr>
            <a:picLocks noChangeAspect="1"/>
          </p:cNvPicPr>
          <p:nvPr/>
        </p:nvPicPr>
        <p:blipFill>
          <a:blip r:embed="rId1"/>
          <a:srcRect l="0" r="0" t="0" b="0"/>
          <a:stretch/>
        </p:blipFill>
        <p:spPr>
          <a:xfrm>
            <a:off x="457200" y="1280160"/>
            <a:ext cx="3108960" cy="2331720"/>
          </a:xfrm>
          <a:prstGeom prst="rect">
            <a:avLst/>
          </a:prstGeom>
        </p:spPr>
      </p:pic>
      <p:sp>
        <p:nvSpPr>
          <p:cNvPr id="7" name="Text 4"/>
          <p:cNvSpPr txBox="1"/>
          <p:nvPr/>
        </p:nvSpPr>
        <p:spPr>
          <a:xfrm>
            <a:off x="457200" y="3630168"/>
            <a:ext cx="31089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Fork in the road - Ian Sane, CC BY 2.0, Flickr</a:t>
            </a:r>
            <a:endParaRPr lang="en-US" sz="900" dirty="0"/>
          </a:p>
        </p:txBody>
      </p:sp>
      <p:sp>
        <p:nvSpPr>
          <p:cNvPr id="8" name="Shape 5"/>
          <p:cNvSpPr/>
          <p:nvPr/>
        </p:nvSpPr>
        <p:spPr>
          <a:xfrm>
            <a:off x="3749040" y="1524762"/>
            <a:ext cx="128016" cy="128016"/>
          </a:xfrm>
          <a:prstGeom prst="diamond">
            <a:avLst/>
          </a:prstGeom>
          <a:solidFill>
            <a:srgbClr val="D97A14"/>
          </a:solidFill>
          <a:ln w="12700">
            <a:solidFill>
              <a:srgbClr val="D97A14"/>
            </a:solidFill>
            <a:prstDash val="solid"/>
          </a:ln>
        </p:spPr>
      </p:sp>
      <p:sp>
        <p:nvSpPr>
          <p:cNvPr id="9" name="Text 6"/>
          <p:cNvSpPr txBox="1"/>
          <p:nvPr/>
        </p:nvSpPr>
        <p:spPr>
          <a:xfrm>
            <a:off x="4023360" y="128016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WHAT: On 11 March 2013 block 225,430 was valid for Bitcoin 0.8 and refused by older nodes, so the chain split for 24 blocks, about six hours.</a:t>
            </a:r>
            <a:endParaRPr lang="en-US" sz="1150" dirty="0"/>
          </a:p>
        </p:txBody>
      </p:sp>
      <p:sp>
        <p:nvSpPr>
          <p:cNvPr id="10" name="Shape 7"/>
          <p:cNvSpPr/>
          <p:nvPr/>
        </p:nvSpPr>
        <p:spPr>
          <a:xfrm>
            <a:off x="3749040" y="2141982"/>
            <a:ext cx="128016" cy="128016"/>
          </a:xfrm>
          <a:prstGeom prst="diamond">
            <a:avLst/>
          </a:prstGeom>
          <a:solidFill>
            <a:srgbClr val="D97A14"/>
          </a:solidFill>
          <a:ln w="12700">
            <a:solidFill>
              <a:srgbClr val="D97A14"/>
            </a:solidFill>
            <a:prstDash val="solid"/>
          </a:ln>
        </p:spPr>
      </p:sp>
      <p:sp>
        <p:nvSpPr>
          <p:cNvPr id="11" name="Text 8"/>
          <p:cNvSpPr txBox="1"/>
          <p:nvPr/>
        </p:nvSpPr>
        <p:spPr>
          <a:xfrm>
            <a:off x="4023360" y="189738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WHY: Older versions had too few Berkeley DB locks for a large block, and this accident had become a rule of consensus.</a:t>
            </a:r>
            <a:endParaRPr lang="en-US" sz="1150" dirty="0"/>
          </a:p>
        </p:txBody>
      </p:sp>
      <p:sp>
        <p:nvSpPr>
          <p:cNvPr id="12" name="Shape 9"/>
          <p:cNvSpPr/>
          <p:nvPr/>
        </p:nvSpPr>
        <p:spPr>
          <a:xfrm>
            <a:off x="3749040" y="275920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4023360" y="251460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HOW: Marek Palatinus and Michael Marsee moved their pools back to 0.7, so the old chain carried the most work; Gavin Andresen wrote BIP 50.</a:t>
            </a:r>
            <a:endParaRPr lang="en-US" sz="1150" dirty="0"/>
          </a:p>
        </p:txBody>
      </p:sp>
      <p:sp>
        <p:nvSpPr>
          <p:cNvPr id="14" name="Shape 11"/>
          <p:cNvSpPr/>
          <p:nvPr/>
        </p:nvSpPr>
        <p:spPr>
          <a:xfrm>
            <a:off x="3749040" y="3376422"/>
            <a:ext cx="128016" cy="128016"/>
          </a:xfrm>
          <a:prstGeom prst="diamond">
            <a:avLst/>
          </a:prstGeom>
          <a:solidFill>
            <a:srgbClr val="D97A14"/>
          </a:solidFill>
          <a:ln w="12700">
            <a:solidFill>
              <a:srgbClr val="D97A14"/>
            </a:solidFill>
            <a:prstDash val="solid"/>
          </a:ln>
        </p:spPr>
      </p:sp>
      <p:sp>
        <p:nvSpPr>
          <p:cNvPr id="15" name="Text 12"/>
          <p:cNvSpPr txBox="1"/>
          <p:nvPr/>
        </p:nvSpPr>
        <p:spPr>
          <a:xfrm>
            <a:off x="4023360" y="313182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SO WHAT: Most large businesses paused deposits: they knew that the chain with the most work wins.</a:t>
            </a:r>
            <a:endParaRPr lang="en-US" sz="1150" dirty="0"/>
          </a:p>
        </p:txBody>
      </p:sp>
      <p:sp>
        <p:nvSpPr>
          <p:cNvPr id="16" name="Text 13"/>
          <p:cNvSpPr txBox="1"/>
          <p:nvPr/>
        </p:nvSpPr>
        <p:spPr>
          <a:xfrm>
            <a:off x="457200" y="3931920"/>
            <a:ext cx="3108960" cy="155448"/>
          </a:xfrm>
          <a:prstGeom prst="rect">
            <a:avLst/>
          </a:prstGeom>
          <a:noFill/>
          <a:ln/>
        </p:spPr>
        <p:txBody>
          <a:bodyPr wrap="square" lIns="0" tIns="0" rIns="0" bIns="0" rtlCol="0" anchor="t"/>
          <a:lstStyle/>
          <a:p>
            <a:pPr algn="l" indent="0" marL="0">
              <a:buNone/>
            </a:pPr>
            <a:r>
              <a:rPr lang="en-US" sz="850" i="1" dirty="0">
                <a:solidFill>
                  <a:srgbClr val="6E655C"/>
                </a:solidFill>
                <a:latin typeface="Calibri" pitchFamily="34" charset="0"/>
                <a:ea typeface="Calibri" pitchFamily="34" charset="-122"/>
                <a:cs typeface="Calibri" pitchFamily="34" charset="-120"/>
              </a:rPr>
              <a:t>Stand-in picture: a fork in a road stands for the split</a:t>
            </a:r>
            <a:endParaRPr lang="en-US" sz="850" dirty="0"/>
          </a:p>
        </p:txBody>
      </p:sp>
      <p:sp>
        <p:nvSpPr>
          <p:cNvPr id="17" name="Shape 14"/>
          <p:cNvSpPr/>
          <p:nvPr/>
        </p:nvSpPr>
        <p:spPr>
          <a:xfrm>
            <a:off x="457200" y="4114800"/>
            <a:ext cx="1738092" cy="365760"/>
          </a:xfrm>
          <a:prstGeom prst="roundRect">
            <a:avLst>
              <a:gd name="adj" fmla="val 50000"/>
            </a:avLst>
          </a:prstGeom>
          <a:solidFill>
            <a:srgbClr val="EFE9DC"/>
          </a:solidFill>
          <a:ln w="9525">
            <a:solidFill>
              <a:srgbClr val="DFD6C7"/>
            </a:solidFill>
            <a:prstDash val="solid"/>
          </a:ln>
        </p:spPr>
      </p:sp>
      <p:sp>
        <p:nvSpPr>
          <p:cNvPr id="18" name="Text 15"/>
          <p:cNvSpPr txBox="1"/>
          <p:nvPr/>
        </p:nvSpPr>
        <p:spPr>
          <a:xfrm>
            <a:off x="548640" y="4114800"/>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Gavin Andresen, who wrot…</a:t>
            </a:r>
            <a:endParaRPr lang="en-US" sz="750" dirty="0"/>
          </a:p>
        </p:txBody>
      </p:sp>
      <p:sp>
        <p:nvSpPr>
          <p:cNvPr id="19" name="Shape 16"/>
          <p:cNvSpPr/>
          <p:nvPr/>
        </p:nvSpPr>
        <p:spPr>
          <a:xfrm>
            <a:off x="2305020" y="4114800"/>
            <a:ext cx="1659087" cy="365760"/>
          </a:xfrm>
          <a:prstGeom prst="roundRect">
            <a:avLst>
              <a:gd name="adj" fmla="val 50000"/>
            </a:avLst>
          </a:prstGeom>
          <a:solidFill>
            <a:srgbClr val="EFE9DC"/>
          </a:solidFill>
          <a:ln w="9525">
            <a:solidFill>
              <a:srgbClr val="DFD6C7"/>
            </a:solidFill>
            <a:prstDash val="solid"/>
          </a:ln>
        </p:spPr>
      </p:sp>
      <p:sp>
        <p:nvSpPr>
          <p:cNvPr id="20" name="Text 17"/>
          <p:cNvSpPr txBox="1"/>
          <p:nvPr/>
        </p:nvSpPr>
        <p:spPr>
          <a:xfrm>
            <a:off x="2396460" y="4114800"/>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the Bitcoin network, f…</a:t>
            </a:r>
            <a:endParaRPr lang="en-US" sz="750" dirty="0"/>
          </a:p>
        </p:txBody>
      </p:sp>
      <p:sp>
        <p:nvSpPr>
          <p:cNvPr id="21" name="Shape 18"/>
          <p:cNvSpPr/>
          <p:nvPr/>
        </p:nvSpPr>
        <p:spPr>
          <a:xfrm>
            <a:off x="4073835" y="4114800"/>
            <a:ext cx="1343071" cy="365760"/>
          </a:xfrm>
          <a:prstGeom prst="roundRect">
            <a:avLst>
              <a:gd name="adj" fmla="val 50000"/>
            </a:avLst>
          </a:prstGeom>
          <a:solidFill>
            <a:srgbClr val="EFE9DC"/>
          </a:solidFill>
          <a:ln w="9525">
            <a:solidFill>
              <a:srgbClr val="DFD6C7"/>
            </a:solidFill>
            <a:prstDash val="solid"/>
          </a:ln>
        </p:spPr>
      </p:sp>
      <p:sp>
        <p:nvSpPr>
          <p:cNvPr id="22" name="Text 19"/>
          <p:cNvSpPr txBox="1"/>
          <p:nvPr/>
        </p:nvSpPr>
        <p:spPr>
          <a:xfrm>
            <a:off x="4165275" y="4114800"/>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2013-03-11</a:t>
            </a:r>
            <a:endParaRPr lang="en-US" sz="750" dirty="0"/>
          </a:p>
        </p:txBody>
      </p:sp>
      <p:sp>
        <p:nvSpPr>
          <p:cNvPr id="23" name="Shape 20"/>
          <p:cNvSpPr/>
          <p:nvPr/>
        </p:nvSpPr>
        <p:spPr>
          <a:xfrm>
            <a:off x="5526634" y="4114800"/>
            <a:ext cx="3160166" cy="365760"/>
          </a:xfrm>
          <a:prstGeom prst="roundRect">
            <a:avLst>
              <a:gd name="adj" fmla="val 50000"/>
            </a:avLst>
          </a:prstGeom>
          <a:solidFill>
            <a:srgbClr val="2F6D62"/>
          </a:solidFill>
          <a:ln w="9525">
            <a:solidFill>
              <a:srgbClr val="2F6D62"/>
            </a:solidFill>
            <a:prstDash val="solid"/>
          </a:ln>
        </p:spPr>
      </p:sp>
      <p:sp>
        <p:nvSpPr>
          <p:cNvPr id="24" name="Text 21"/>
          <p:cNvSpPr txBox="1"/>
          <p:nvPr/>
        </p:nvSpPr>
        <p:spPr>
          <a:xfrm>
            <a:off x="5618074" y="4114800"/>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BIP 50: March 2013 Chain Fork Post-Mortem</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bips.dev</a:t>
            </a:r>
            <a:endParaRPr lang="en-US" sz="750" dirty="0"/>
          </a:p>
        </p:txBody>
      </p:sp>
      <p:sp>
        <p:nvSpPr>
          <p:cNvPr id="25"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45 / 51</a:t>
            </a:r>
            <a:endParaRPr lang="en-US" sz="11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BIP 9 states and the vote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test deployment and the two thresholds</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v = R[</a:t>
            </a:r>
            <a:r>
              <a:rPr lang="en-US" sz="1000" dirty="0">
                <a:solidFill>
                  <a:srgbClr val="9ECBFF"/>
                </a:solidFill>
                <a:latin typeface="Courier New" pitchFamily="34" charset="0"/>
                <a:ea typeface="Courier New" pitchFamily="34" charset="-122"/>
                <a:cs typeface="Courier New" pitchFamily="34" charset="-120"/>
              </a:rPr>
              <a:t>'b8_versionbits'</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'V'</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'rows'</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st = [x[</a:t>
            </a:r>
            <a:r>
              <a:rPr lang="en-US" sz="1000" dirty="0">
                <a:solidFill>
                  <a:srgbClr val="9ECBFF"/>
                </a:solidFill>
                <a:latin typeface="Courier New" pitchFamily="34" charset="0"/>
                <a:ea typeface="Courier New" pitchFamily="34" charset="-122"/>
                <a:cs typeface="Courier New" pitchFamily="34" charset="-120"/>
              </a:rPr>
              <a:t>'status'</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x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v]</a:t>
            </a:r>
            <a:endParaRPr lang="en-US" sz="1000" dirty="0"/>
          </a:p>
        </p:txBody>
      </p:sp>
      <p:sp>
        <p:nvSpPr>
          <p:cNvPr id="8" name="Shape 6"/>
          <p:cNvSpPr/>
          <p:nvPr/>
        </p:nvSpPr>
        <p:spPr>
          <a:xfrm>
            <a:off x="457200" y="2286914"/>
            <a:ext cx="5074920" cy="311810"/>
          </a:xfrm>
          <a:prstGeom prst="roundRect">
            <a:avLst>
              <a:gd name="adj" fmla="val 23460"/>
            </a:avLst>
          </a:prstGeom>
          <a:solidFill>
            <a:srgbClr val="23272E"/>
          </a:solidFill>
          <a:ln w="12700">
            <a:solidFill>
              <a:srgbClr val="23272E"/>
            </a:solidFill>
            <a:prstDash val="solid"/>
          </a:ln>
        </p:spPr>
      </p:sp>
      <p:sp>
        <p:nvSpPr>
          <p:cNvPr id="9" name="Text 7"/>
          <p:cNvSpPr txBox="1"/>
          <p:nvPr/>
        </p:nvSpPr>
        <p:spPr>
          <a:xfrm>
            <a:off x="603504" y="2360066"/>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th = [math.ceil(</a:t>
            </a:r>
            <a:r>
              <a:rPr lang="en-US" sz="1000" dirty="0">
                <a:solidFill>
                  <a:srgbClr val="FFD28A"/>
                </a:solidFill>
                <a:latin typeface="Courier New" pitchFamily="34" charset="0"/>
                <a:ea typeface="Courier New" pitchFamily="34" charset="-122"/>
                <a:cs typeface="Courier New" pitchFamily="34" charset="-120"/>
              </a:rPr>
              <a:t>0.95</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2016</a:t>
            </a:r>
            <a:r>
              <a:rPr lang="en-US" sz="1000" dirty="0">
                <a:solidFill>
                  <a:srgbClr val="E6EDF3"/>
                </a:solidFill>
                <a:latin typeface="Courier New" pitchFamily="34" charset="0"/>
                <a:ea typeface="Courier New" pitchFamily="34" charset="-122"/>
                <a:cs typeface="Courier New" pitchFamily="34" charset="-120"/>
              </a:rPr>
              <a:t>), math.ceil(</a:t>
            </a:r>
            <a:r>
              <a:rPr lang="en-US" sz="1000" dirty="0">
                <a:solidFill>
                  <a:srgbClr val="FFD28A"/>
                </a:solidFill>
                <a:latin typeface="Courier New" pitchFamily="34" charset="0"/>
                <a:ea typeface="Courier New" pitchFamily="34" charset="-122"/>
                <a:cs typeface="Courier New" pitchFamily="34" charset="-120"/>
              </a:rPr>
              <a:t>0.9</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2016</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3083357"/>
            <a:ext cx="5074920" cy="476402"/>
          </a:xfrm>
          <a:prstGeom prst="roundRect">
            <a:avLst>
              <a:gd name="adj" fmla="val 15355"/>
            </a:avLst>
          </a:prstGeom>
          <a:solidFill>
            <a:srgbClr val="23272E"/>
          </a:solidFill>
          <a:ln w="12700">
            <a:solidFill>
              <a:srgbClr val="23272E"/>
            </a:solidFill>
            <a:prstDash val="solid"/>
          </a:ln>
        </p:spPr>
      </p:sp>
      <p:sp>
        <p:nvSpPr>
          <p:cNvPr id="11" name="Text 9"/>
          <p:cNvSpPr txBox="1"/>
          <p:nvPr/>
        </p:nvSpPr>
        <p:spPr>
          <a:xfrm>
            <a:off x="603504" y="3156509"/>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(st[-</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th)</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('active', [1916, 1815])</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829714"/>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Bitcoin Core, on a private chain, reported the state of a test deployment at six heights.</a:t>
            </a:r>
            <a:endParaRPr lang="en-US" sz="1050" dirty="0"/>
          </a:p>
        </p:txBody>
      </p:sp>
      <p:sp>
        <p:nvSpPr>
          <p:cNvPr id="15" name="Shape 13"/>
          <p:cNvSpPr/>
          <p:nvPr/>
        </p:nvSpPr>
        <p:spPr>
          <a:xfrm>
            <a:off x="365760" y="2213762"/>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213762"/>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626157"/>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Bits 9 asked for 95 percent of 2,016 blocks; the Speedy Trial of taproot asked for 90.</a:t>
            </a:r>
            <a:endParaRPr lang="en-US" sz="1050" dirty="0"/>
          </a:p>
        </p:txBody>
      </p:sp>
      <p:sp>
        <p:nvSpPr>
          <p:cNvPr id="18" name="Shape 16"/>
          <p:cNvSpPr/>
          <p:nvPr/>
        </p:nvSpPr>
        <p:spPr>
          <a:xfrm>
            <a:off x="365760" y="3010205"/>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3010205"/>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587191"/>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version of block 709,632 signals bit 2.</a:t>
            </a:r>
            <a:endParaRPr lang="en-US" sz="1050" dirty="0"/>
          </a:p>
        </p:txBody>
      </p:sp>
      <p:sp>
        <p:nvSpPr>
          <p:cNvPr id="21" name="Text 19"/>
          <p:cNvSpPr txBox="1"/>
          <p:nvPr/>
        </p:nvSpPr>
        <p:spPr>
          <a:xfrm>
            <a:off x="457200" y="3843223"/>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its regtest record</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a test deployment on a private chain</a:t>
            </a:r>
            <a:endParaRPr lang="en-US" sz="11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914400"/>
                <a:gridCol w="2057400"/>
              </a:tblGrid>
              <a:tr h="270662">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Height</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State</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0662">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143</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defined</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0662">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144</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started</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0662">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287</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started</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0662">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288</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locked_in</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0662">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431</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locked_in</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0662">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432</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active</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758184"/>
            <a:ext cx="2971800" cy="78638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Thresholds: 1,916 of 2,016 for 95 percent and 1,815 for 90 percent. Version 0x20200004 signals bit 2: yes.</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state moves forward only on signals; taproot needed 90 percent</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46 / 51</a:t>
            </a:r>
            <a:endParaRPr lang="en-US" sz="11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A ninety percent vote on a clock</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Fail fast or succeed: a short vote keeps a soft fork calm</a:t>
            </a:r>
            <a:endParaRPr lang="en-US" sz="1300" dirty="0"/>
          </a:p>
        </p:txBody>
      </p:sp>
      <p:pic>
        <p:nvPicPr>
          <p:cNvPr id="6" name="Image 0" descr="../../03-materials/ch12/assets/photo_taproot_profile.png">    </p:cNvPr>
          <p:cNvPicPr>
            <a:picLocks noChangeAspect="1"/>
          </p:cNvPicPr>
          <p:nvPr/>
        </p:nvPicPr>
        <p:blipFill>
          <a:blip r:embed="rId1"/>
          <a:srcRect l="0" r="0" t="0" b="0"/>
          <a:stretch/>
        </p:blipFill>
        <p:spPr>
          <a:xfrm>
            <a:off x="457200" y="1280160"/>
            <a:ext cx="3108960" cy="2331720"/>
          </a:xfrm>
          <a:prstGeom prst="rect">
            <a:avLst/>
          </a:prstGeom>
        </p:spPr>
      </p:pic>
      <p:sp>
        <p:nvSpPr>
          <p:cNvPr id="7" name="Text 4"/>
          <p:cNvSpPr txBox="1"/>
          <p:nvPr/>
        </p:nvSpPr>
        <p:spPr>
          <a:xfrm>
            <a:off x="457200" y="3630168"/>
            <a:ext cx="31089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Taproot profile - Forest and Kim Starr, CC BY 3.0, Wikimedia Commons</a:t>
            </a:r>
            <a:endParaRPr lang="en-US" sz="900" dirty="0"/>
          </a:p>
        </p:txBody>
      </p:sp>
      <p:sp>
        <p:nvSpPr>
          <p:cNvPr id="8" name="Shape 5"/>
          <p:cNvSpPr/>
          <p:nvPr/>
        </p:nvSpPr>
        <p:spPr>
          <a:xfrm>
            <a:off x="3749040" y="1524762"/>
            <a:ext cx="128016" cy="128016"/>
          </a:xfrm>
          <a:prstGeom prst="diamond">
            <a:avLst/>
          </a:prstGeom>
          <a:solidFill>
            <a:srgbClr val="D97A14"/>
          </a:solidFill>
          <a:ln w="12700">
            <a:solidFill>
              <a:srgbClr val="D97A14"/>
            </a:solidFill>
            <a:prstDash val="solid"/>
          </a:ln>
        </p:spPr>
      </p:sp>
      <p:sp>
        <p:nvSpPr>
          <p:cNvPr id="9" name="Text 6"/>
          <p:cNvSpPr txBox="1"/>
          <p:nvPr/>
        </p:nvSpPr>
        <p:spPr>
          <a:xfrm>
            <a:off x="4023360" y="128016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WHAT: Taproot was activated by Speedy Trial: it opened on 24 April 2021, timed out on 11 August 2021 and needed 1,815 of 2,016 blocks.</a:t>
            </a:r>
            <a:endParaRPr lang="en-US" sz="1150" dirty="0"/>
          </a:p>
        </p:txBody>
      </p:sp>
      <p:sp>
        <p:nvSpPr>
          <p:cNvPr id="10" name="Shape 7"/>
          <p:cNvSpPr/>
          <p:nvPr/>
        </p:nvSpPr>
        <p:spPr>
          <a:xfrm>
            <a:off x="3749040" y="2141982"/>
            <a:ext cx="128016" cy="128016"/>
          </a:xfrm>
          <a:prstGeom prst="diamond">
            <a:avLst/>
          </a:prstGeom>
          <a:solidFill>
            <a:srgbClr val="D97A14"/>
          </a:solidFill>
          <a:ln w="12700">
            <a:solidFill>
              <a:srgbClr val="D97A14"/>
            </a:solidFill>
            <a:prstDash val="solid"/>
          </a:ln>
        </p:spPr>
      </p:sp>
      <p:sp>
        <p:nvSpPr>
          <p:cNvPr id="11" name="Text 8"/>
          <p:cNvSpPr txBox="1"/>
          <p:nvPr/>
        </p:nvSpPr>
        <p:spPr>
          <a:xfrm>
            <a:off x="4023360" y="189738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WHY: A short vote at 90 percent makes a soft fork succeed or fail quickly, and a minimum activation height gave nodes time to upgrade.</a:t>
            </a:r>
            <a:endParaRPr lang="en-US" sz="1150" dirty="0"/>
          </a:p>
        </p:txBody>
      </p:sp>
      <p:sp>
        <p:nvSpPr>
          <p:cNvPr id="12" name="Shape 9"/>
          <p:cNvSpPr/>
          <p:nvPr/>
        </p:nvSpPr>
        <p:spPr>
          <a:xfrm>
            <a:off x="3749040" y="275920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4023360" y="251460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HOW: F2Pool mined block 709,632 on 14 November 2021 with version 0x20200004, in which bit 2 is the taproot signal.</a:t>
            </a:r>
            <a:endParaRPr lang="en-US" sz="1150" dirty="0"/>
          </a:p>
        </p:txBody>
      </p:sp>
      <p:sp>
        <p:nvSpPr>
          <p:cNvPr id="14" name="Shape 11"/>
          <p:cNvSpPr/>
          <p:nvPr/>
        </p:nvSpPr>
        <p:spPr>
          <a:xfrm>
            <a:off x="3749040" y="3376422"/>
            <a:ext cx="128016" cy="128016"/>
          </a:xfrm>
          <a:prstGeom prst="diamond">
            <a:avLst/>
          </a:prstGeom>
          <a:solidFill>
            <a:srgbClr val="D97A14"/>
          </a:solidFill>
          <a:ln w="12700">
            <a:solidFill>
              <a:srgbClr val="D97A14"/>
            </a:solidFill>
            <a:prstDash val="solid"/>
          </a:ln>
        </p:spPr>
      </p:sp>
      <p:sp>
        <p:nvSpPr>
          <p:cNvPr id="15" name="Text 12"/>
          <p:cNvSpPr txBox="1"/>
          <p:nvPr/>
        </p:nvSpPr>
        <p:spPr>
          <a:xfrm>
            <a:off x="4023360" y="313182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SO WHAT: Bitcoin Core 31.1 still holds these parameters in chainparams.cpp, which is how the dates were recomputed.</a:t>
            </a:r>
            <a:endParaRPr lang="en-US" sz="1150" dirty="0"/>
          </a:p>
        </p:txBody>
      </p:sp>
      <p:sp>
        <p:nvSpPr>
          <p:cNvPr id="16" name="Text 13"/>
          <p:cNvSpPr txBox="1"/>
          <p:nvPr/>
        </p:nvSpPr>
        <p:spPr>
          <a:xfrm>
            <a:off x="457200" y="3931920"/>
            <a:ext cx="3108960" cy="155448"/>
          </a:xfrm>
          <a:prstGeom prst="rect">
            <a:avLst/>
          </a:prstGeom>
          <a:noFill/>
          <a:ln/>
        </p:spPr>
        <p:txBody>
          <a:bodyPr wrap="square" lIns="0" tIns="0" rIns="0" bIns="0" rtlCol="0" anchor="t"/>
          <a:lstStyle/>
          <a:p>
            <a:pPr algn="l" indent="0" marL="0">
              <a:buNone/>
            </a:pPr>
            <a:r>
              <a:rPr lang="en-US" sz="850" i="1" dirty="0">
                <a:solidFill>
                  <a:srgbClr val="6E655C"/>
                </a:solidFill>
                <a:latin typeface="Calibri" pitchFamily="34" charset="0"/>
                <a:ea typeface="Calibri" pitchFamily="34" charset="-122"/>
                <a:cs typeface="Calibri" pitchFamily="34" charset="-120"/>
              </a:rPr>
              <a:t>Stand-in picture: a taproot stands for the name</a:t>
            </a:r>
            <a:endParaRPr lang="en-US" sz="850" dirty="0"/>
          </a:p>
        </p:txBody>
      </p:sp>
      <p:sp>
        <p:nvSpPr>
          <p:cNvPr id="17" name="Shape 14"/>
          <p:cNvSpPr/>
          <p:nvPr/>
        </p:nvSpPr>
        <p:spPr>
          <a:xfrm>
            <a:off x="457200" y="4114800"/>
            <a:ext cx="1738092" cy="365760"/>
          </a:xfrm>
          <a:prstGeom prst="roundRect">
            <a:avLst>
              <a:gd name="adj" fmla="val 50000"/>
            </a:avLst>
          </a:prstGeom>
          <a:solidFill>
            <a:srgbClr val="EFE9DC"/>
          </a:solidFill>
          <a:ln w="9525">
            <a:solidFill>
              <a:srgbClr val="DFD6C7"/>
            </a:solidFill>
            <a:prstDash val="solid"/>
          </a:ln>
        </p:spPr>
      </p:sp>
      <p:sp>
        <p:nvSpPr>
          <p:cNvPr id="18" name="Text 15"/>
          <p:cNvSpPr txBox="1"/>
          <p:nvPr/>
        </p:nvSpPr>
        <p:spPr>
          <a:xfrm>
            <a:off x="548640" y="4114800"/>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Pieter Wuille, Jonas Nic…</a:t>
            </a:r>
            <a:endParaRPr lang="en-US" sz="750" dirty="0"/>
          </a:p>
        </p:txBody>
      </p:sp>
      <p:sp>
        <p:nvSpPr>
          <p:cNvPr id="19" name="Shape 16"/>
          <p:cNvSpPr/>
          <p:nvPr/>
        </p:nvSpPr>
        <p:spPr>
          <a:xfrm>
            <a:off x="2305020" y="4114800"/>
            <a:ext cx="1659087" cy="365760"/>
          </a:xfrm>
          <a:prstGeom prst="roundRect">
            <a:avLst>
              <a:gd name="adj" fmla="val 50000"/>
            </a:avLst>
          </a:prstGeom>
          <a:solidFill>
            <a:srgbClr val="EFE9DC"/>
          </a:solidFill>
          <a:ln w="9525">
            <a:solidFill>
              <a:srgbClr val="DFD6C7"/>
            </a:solidFill>
            <a:prstDash val="solid"/>
          </a:ln>
        </p:spPr>
      </p:sp>
      <p:sp>
        <p:nvSpPr>
          <p:cNvPr id="20" name="Text 17"/>
          <p:cNvSpPr txBox="1"/>
          <p:nvPr/>
        </p:nvSpPr>
        <p:spPr>
          <a:xfrm>
            <a:off x="2396460" y="4114800"/>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the main chain of Bitc…</a:t>
            </a:r>
            <a:endParaRPr lang="en-US" sz="750" dirty="0"/>
          </a:p>
        </p:txBody>
      </p:sp>
      <p:sp>
        <p:nvSpPr>
          <p:cNvPr id="21" name="Shape 18"/>
          <p:cNvSpPr/>
          <p:nvPr/>
        </p:nvSpPr>
        <p:spPr>
          <a:xfrm>
            <a:off x="4073835" y="4114800"/>
            <a:ext cx="1343071" cy="365760"/>
          </a:xfrm>
          <a:prstGeom prst="roundRect">
            <a:avLst>
              <a:gd name="adj" fmla="val 50000"/>
            </a:avLst>
          </a:prstGeom>
          <a:solidFill>
            <a:srgbClr val="EFE9DC"/>
          </a:solidFill>
          <a:ln w="9525">
            <a:solidFill>
              <a:srgbClr val="DFD6C7"/>
            </a:solidFill>
            <a:prstDash val="solid"/>
          </a:ln>
        </p:spPr>
      </p:sp>
      <p:sp>
        <p:nvSpPr>
          <p:cNvPr id="22" name="Text 19"/>
          <p:cNvSpPr txBox="1"/>
          <p:nvPr/>
        </p:nvSpPr>
        <p:spPr>
          <a:xfrm>
            <a:off x="4165275" y="4114800"/>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2021-11-14</a:t>
            </a:r>
            <a:endParaRPr lang="en-US" sz="750" dirty="0"/>
          </a:p>
        </p:txBody>
      </p:sp>
      <p:sp>
        <p:nvSpPr>
          <p:cNvPr id="23" name="Shape 20"/>
          <p:cNvSpPr/>
          <p:nvPr/>
        </p:nvSpPr>
        <p:spPr>
          <a:xfrm>
            <a:off x="5526634" y="4114800"/>
            <a:ext cx="3160166" cy="365760"/>
          </a:xfrm>
          <a:prstGeom prst="roundRect">
            <a:avLst>
              <a:gd name="adj" fmla="val 50000"/>
            </a:avLst>
          </a:prstGeom>
          <a:solidFill>
            <a:srgbClr val="2F6D62"/>
          </a:solidFill>
          <a:ln w="9525">
            <a:solidFill>
              <a:srgbClr val="2F6D62"/>
            </a:solidFill>
            <a:prstDash val="solid"/>
          </a:ln>
        </p:spPr>
      </p:sp>
      <p:sp>
        <p:nvSpPr>
          <p:cNvPr id="24" name="Text 21"/>
          <p:cNvSpPr txBox="1"/>
          <p:nvPr/>
        </p:nvSpPr>
        <p:spPr>
          <a:xfrm>
            <a:off x="5618074" y="4114800"/>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Core 0.21.1 release notes: Speedy Trial</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bitcoincore.org</a:t>
            </a:r>
            <a:endParaRPr lang="en-US" sz="750" dirty="0"/>
          </a:p>
        </p:txBody>
      </p:sp>
      <p:sp>
        <p:nvSpPr>
          <p:cNvPr id="25"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47 / 51</a:t>
            </a:r>
            <a:endParaRPr lang="en-US" sz="11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Buried deployments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Soft fork heights in the source code</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pats = </a:t>
            </a:r>
            <a:r>
              <a:rPr lang="en-US" sz="1000" dirty="0">
                <a:solidFill>
                  <a:srgbClr val="9ECBFF"/>
                </a:solidFill>
                <a:latin typeface="Courier New" pitchFamily="34" charset="0"/>
                <a:ea typeface="Courier New" pitchFamily="34" charset="-122"/>
                <a:cs typeface="Courier New" pitchFamily="34" charset="-120"/>
              </a:rPr>
              <a:t>'BIP34 BIP66 CSV Segwit'</a:t>
            </a:r>
            <a:r>
              <a:rPr lang="en-US" sz="1000" dirty="0">
                <a:solidFill>
                  <a:srgbClr val="E6EDF3"/>
                </a:solidFill>
                <a:latin typeface="Courier New" pitchFamily="34" charset="0"/>
                <a:ea typeface="Courier New" pitchFamily="34" charset="-122"/>
                <a:cs typeface="Courier New" pitchFamily="34" charset="-120"/>
              </a:rPr>
              <a:t>.split()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pt = r</a:t>
            </a:r>
            <a:r>
              <a:rPr lang="en-US" sz="1000" dirty="0">
                <a:solidFill>
                  <a:srgbClr val="9ECBFF"/>
                </a:solidFill>
                <a:latin typeface="Courier New" pitchFamily="34" charset="0"/>
                <a:ea typeface="Courier New" pitchFamily="34" charset="-122"/>
                <a:cs typeface="Courier New" pitchFamily="34" charset="-120"/>
              </a:rPr>
              <a:t>'%sHeight = (\d+)'</a:t>
            </a:r>
            <a:endParaRPr lang="en-US" sz="1000" dirty="0"/>
          </a:p>
        </p:txBody>
      </p:sp>
      <p:sp>
        <p:nvSpPr>
          <p:cNvPr id="8" name="Shape 6"/>
          <p:cNvSpPr/>
          <p:nvPr/>
        </p:nvSpPr>
        <p:spPr>
          <a:xfrm>
            <a:off x="457200" y="2122322"/>
            <a:ext cx="5074920" cy="311810"/>
          </a:xfrm>
          <a:prstGeom prst="roundRect">
            <a:avLst>
              <a:gd name="adj" fmla="val 23460"/>
            </a:avLst>
          </a:prstGeom>
          <a:solidFill>
            <a:srgbClr val="23272E"/>
          </a:solidFill>
          <a:ln w="12700">
            <a:solidFill>
              <a:srgbClr val="23272E"/>
            </a:solidFill>
            <a:prstDash val="solid"/>
          </a:ln>
        </p:spPr>
      </p:sp>
      <p:sp>
        <p:nvSpPr>
          <p:cNvPr id="9" name="Text 7"/>
          <p:cNvSpPr txBox="1"/>
          <p:nvPr/>
        </p:nvSpPr>
        <p:spPr>
          <a:xfrm>
            <a:off x="603504" y="2195474"/>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hs = [int(cv(</a:t>
            </a:r>
            <a:r>
              <a:rPr lang="en-US" sz="1000" dirty="0">
                <a:solidFill>
                  <a:srgbClr val="9ECBFF"/>
                </a:solidFill>
                <a:latin typeface="Courier New" pitchFamily="34" charset="0"/>
                <a:ea typeface="Courier New" pitchFamily="34" charset="-122"/>
                <a:cs typeface="Courier New" pitchFamily="34" charset="-120"/>
              </a:rPr>
              <a:t>'main'</a:t>
            </a:r>
            <a:r>
              <a:rPr lang="en-US" sz="1000" dirty="0">
                <a:solidFill>
                  <a:srgbClr val="E6EDF3"/>
                </a:solidFill>
                <a:latin typeface="Courier New" pitchFamily="34" charset="0"/>
                <a:ea typeface="Courier New" pitchFamily="34" charset="-122"/>
                <a:cs typeface="Courier New" pitchFamily="34" charset="-120"/>
              </a:rPr>
              <a:t>, pt % p))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p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pats]</a:t>
            </a:r>
            <a:endParaRPr lang="en-US" sz="1000" dirty="0"/>
          </a:p>
        </p:txBody>
      </p:sp>
      <p:sp>
        <p:nvSpPr>
          <p:cNvPr id="10" name="Shape 8"/>
          <p:cNvSpPr/>
          <p:nvPr/>
        </p:nvSpPr>
        <p:spPr>
          <a:xfrm>
            <a:off x="457200" y="2918765"/>
            <a:ext cx="5074920" cy="476402"/>
          </a:xfrm>
          <a:prstGeom prst="roundRect">
            <a:avLst>
              <a:gd name="adj" fmla="val 15355"/>
            </a:avLst>
          </a:prstGeom>
          <a:solidFill>
            <a:srgbClr val="23272E"/>
          </a:solidFill>
          <a:ln w="12700">
            <a:solidFill>
              <a:srgbClr val="23272E"/>
            </a:solidFill>
            <a:prstDash val="solid"/>
          </a:ln>
        </p:spPr>
      </p:sp>
      <p:sp>
        <p:nvSpPr>
          <p:cNvPr id="11" name="Text 9"/>
          <p:cNvSpPr txBox="1"/>
          <p:nvPr/>
        </p:nvSpPr>
        <p:spPr>
          <a:xfrm>
            <a:off x="603504" y="2991917"/>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hs</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[227931, 363725, 419328, 481824]</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8297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Old soft forks are now written as plain heights in the source code.</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461565"/>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Read the height of each from the saved chainparams.cpp for the main chain.</a:t>
            </a:r>
            <a:endParaRPr lang="en-US" sz="1050" dirty="0"/>
          </a:p>
        </p:txBody>
      </p:sp>
      <p:sp>
        <p:nvSpPr>
          <p:cNvPr id="18" name="Shape 16"/>
          <p:cNvSpPr/>
          <p:nvPr/>
        </p:nvSpPr>
        <p:spPr>
          <a:xfrm>
            <a:off x="365760" y="2845613"/>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845613"/>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422599"/>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buried fork is no longer voted on; it is simply part of the rules.</a:t>
            </a:r>
            <a:endParaRPr lang="en-US" sz="1050" dirty="0"/>
          </a:p>
        </p:txBody>
      </p:sp>
      <p:sp>
        <p:nvSpPr>
          <p:cNvPr id="21" name="Text 19"/>
          <p:cNvSpPr txBox="1"/>
          <p:nvPr/>
        </p:nvSpPr>
        <p:spPr>
          <a:xfrm>
            <a:off x="457200" y="3678631"/>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its regtest record</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main chain activation heights</a:t>
            </a:r>
            <a:endParaRPr lang="en-US" sz="1100" dirty="0"/>
          </a:p>
        </p:txBody>
      </p:sp>
      <p:graphicFrame>
        <p:nvGraphicFramePr>
          <p:cNvPr id="23" name="Chart 0" descr=""/>
          <p:cNvGraphicFramePr/>
          <p:nvPr/>
        </p:nvGraphicFramePr>
        <p:xfrm>
          <a:off x="5715000" y="1773936"/>
          <a:ext cx="2971800" cy="2075688"/>
        </p:xfrm>
        <a:graphic xmlns:a="http://schemas.openxmlformats.org/drawingml/2006/main">
          <a:graphicData uri="http://schemas.openxmlformats.org/drawingml/2006/chart">
            <c:chart xmlns:c="http://schemas.openxmlformats.org/drawingml/2006/chart" r:id="rId1"/>
          </a:graphicData>
        </a:graphic>
      </p:graphicFrame>
      <p:sp>
        <p:nvSpPr>
          <p:cNvPr id="24" name="Text 21"/>
          <p:cNvSpPr txBox="1"/>
          <p:nvPr/>
        </p:nvSpPr>
        <p:spPr>
          <a:xfrm>
            <a:off x="5715000" y="3941064"/>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heights run from 227,931 to 481,824; none of these forks is voted on any more.</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An old soft fork is no longer voted on; it is a plain height</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48 / 51</a:t>
            </a:r>
            <a:endParaRPr lang="en-US" sz="11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chapter in five lines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One line per idea, each provable from its slides</a:t>
            </a:r>
            <a:endParaRPr lang="en-US" sz="1300" dirty="0"/>
          </a:p>
        </p:txBody>
      </p:sp>
      <p:sp>
        <p:nvSpPr>
          <p:cNvPr id="6" name="Shape 4"/>
          <p:cNvSpPr/>
          <p:nvPr/>
        </p:nvSpPr>
        <p:spPr>
          <a:xfrm>
            <a:off x="457200" y="140817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081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71600"/>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The reward is subsidy plus fees; the subsidy halves every 210,000 blocks, and the supply stops just below 21 million coins.</a:t>
            </a:r>
            <a:endParaRPr lang="en-US" sz="1250" dirty="0"/>
          </a:p>
        </p:txBody>
      </p:sp>
      <p:sp>
        <p:nvSpPr>
          <p:cNvPr id="9" name="Shape 7"/>
          <p:cNvSpPr/>
          <p:nvPr/>
        </p:nvSpPr>
        <p:spPr>
          <a:xfrm>
            <a:off x="457200" y="2011680"/>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0116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75104"/>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Every node checks every transaction and block by the same rules, and follows the chain with the most work.</a:t>
            </a:r>
            <a:endParaRPr lang="en-US" sz="1250" dirty="0"/>
          </a:p>
        </p:txBody>
      </p:sp>
      <p:sp>
        <p:nvSpPr>
          <p:cNvPr id="12" name="Shape 10"/>
          <p:cNvSpPr/>
          <p:nvPr/>
        </p:nvSpPr>
        <p:spPr>
          <a:xfrm>
            <a:off x="457200" y="2615184"/>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61518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578608"/>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 candidate block has a template, a coinbase with the height, and a header whose nonce, extra nonce and version are searched.</a:t>
            </a:r>
            <a:endParaRPr lang="en-US" sz="1250" dirty="0"/>
          </a:p>
        </p:txBody>
      </p:sp>
      <p:sp>
        <p:nvSpPr>
          <p:cNvPr id="15" name="Shape 13"/>
          <p:cNvSpPr/>
          <p:nvPr/>
        </p:nvSpPr>
        <p:spPr>
          <a:xfrm>
            <a:off x="457200" y="3218688"/>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321868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3182112"/>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Proof of work is a hash below a target; retargeting every 2,016 blocks keeps the pace at ten minutes, at most fourfold per step.</a:t>
            </a:r>
            <a:endParaRPr lang="en-US" sz="1250" dirty="0"/>
          </a:p>
        </p:txBody>
      </p:sp>
      <p:sp>
        <p:nvSpPr>
          <p:cNvPr id="18" name="Shape 16"/>
          <p:cNvSpPr/>
          <p:nvPr/>
        </p:nvSpPr>
        <p:spPr>
          <a:xfrm>
            <a:off x="457200" y="3822192"/>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82219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785616"/>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Pools smooth a miner's income, attacks need a large share, and soft forks tighten the rules by a vote.</a:t>
            </a:r>
            <a:endParaRPr lang="en-US" sz="1250" dirty="0"/>
          </a:p>
        </p:txBody>
      </p:sp>
      <p:sp>
        <p:nvSpPr>
          <p:cNvPr id="21" name="Shape 19"/>
          <p:cNvSpPr/>
          <p:nvPr/>
        </p:nvSpPr>
        <p:spPr>
          <a:xfrm>
            <a:off x="457200" y="4636008"/>
            <a:ext cx="91440" cy="310896"/>
          </a:xfrm>
          <a:prstGeom prst="rect">
            <a:avLst/>
          </a:prstGeom>
          <a:solidFill>
            <a:srgbClr val="D97A14"/>
          </a:solidFill>
          <a:ln w="12700">
            <a:solidFill>
              <a:srgbClr val="D97A14"/>
            </a:solidFill>
            <a:prstDash val="solid"/>
          </a:ln>
        </p:spPr>
      </p:sp>
      <p:sp>
        <p:nvSpPr>
          <p:cNvPr id="22" name="Text 2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If a line feels unproven, the code slide of its part carries the receipt</a:t>
            </a:r>
            <a:endParaRPr lang="en-US" sz="1350" dirty="0"/>
          </a:p>
        </p:txBody>
      </p:sp>
      <p:sp>
        <p:nvSpPr>
          <p:cNvPr id="23"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49 / 51</a:t>
            </a:r>
            <a:endParaRPr lang="en-US" sz="11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Where to go from here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Opened on 2026-10-25; every entry is a live link in this file</a:t>
            </a:r>
            <a:endParaRPr lang="en-US" sz="1300" dirty="0"/>
          </a:p>
        </p:txBody>
      </p:sp>
      <p:sp>
        <p:nvSpPr>
          <p:cNvPr id="6" name="Text 4"/>
          <p:cNvSpPr txBox="1"/>
          <p:nvPr/>
        </p:nvSpPr>
        <p:spPr>
          <a:xfrm>
            <a:off x="457200" y="137160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Read</a:t>
            </a:r>
            <a:endParaRPr lang="en-US" sz="1250" dirty="0"/>
          </a:p>
        </p:txBody>
      </p:sp>
      <p:sp>
        <p:nvSpPr>
          <p:cNvPr id="7" name="Shape 5"/>
          <p:cNvSpPr/>
          <p:nvPr/>
        </p:nvSpPr>
        <p:spPr>
          <a:xfrm>
            <a:off x="493776" y="1719072"/>
            <a:ext cx="82296" cy="82296"/>
          </a:xfrm>
          <a:prstGeom prst="ellipse">
            <a:avLst/>
          </a:prstGeom>
          <a:solidFill>
            <a:srgbClr val="D97A14"/>
          </a:solidFill>
          <a:ln w="12700">
            <a:solidFill>
              <a:srgbClr val="D97A14"/>
            </a:solidFill>
            <a:prstDash val="solid"/>
          </a:ln>
        </p:spPr>
      </p:sp>
      <p:sp>
        <p:nvSpPr>
          <p:cNvPr id="8" name="Text 6"/>
          <p:cNvSpPr txBox="1"/>
          <p:nvPr/>
        </p:nvSpPr>
        <p:spPr>
          <a:xfrm>
            <a:off x="658368" y="1645920"/>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Optech topic: Soft fork activation</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The activation methods tried, with links to the debates</a:t>
            </a:r>
            <a:endParaRPr lang="en-US" sz="1000" dirty="0"/>
          </a:p>
        </p:txBody>
      </p:sp>
      <p:sp>
        <p:nvSpPr>
          <p:cNvPr id="9" name="Shape 7"/>
          <p:cNvSpPr/>
          <p:nvPr/>
        </p:nvSpPr>
        <p:spPr>
          <a:xfrm>
            <a:off x="493776" y="2121408"/>
            <a:ext cx="82296" cy="82296"/>
          </a:xfrm>
          <a:prstGeom prst="ellipse">
            <a:avLst/>
          </a:prstGeom>
          <a:solidFill>
            <a:srgbClr val="D97A14"/>
          </a:solidFill>
          <a:ln w="12700">
            <a:solidFill>
              <a:srgbClr val="D97A14"/>
            </a:solidFill>
            <a:prstDash val="solid"/>
          </a:ln>
        </p:spPr>
      </p:sp>
      <p:sp>
        <p:nvSpPr>
          <p:cNvPr id="10" name="Text 8"/>
          <p:cNvSpPr txBox="1"/>
          <p:nvPr/>
        </p:nvSpPr>
        <p:spPr>
          <a:xfrm>
            <a:off x="658368" y="2048256"/>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Optech topic: Selfish mining</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Summary of the attack and what is known about it  bitcoinops.org</a:t>
            </a:r>
            <a:endParaRPr lang="en-US" sz="1000" dirty="0"/>
          </a:p>
        </p:txBody>
      </p:sp>
      <p:sp>
        <p:nvSpPr>
          <p:cNvPr id="11" name="Shape 9"/>
          <p:cNvSpPr/>
          <p:nvPr/>
        </p:nvSpPr>
        <p:spPr>
          <a:xfrm>
            <a:off x="493776" y="2523744"/>
            <a:ext cx="82296" cy="82296"/>
          </a:xfrm>
          <a:prstGeom prst="ellipse">
            <a:avLst/>
          </a:prstGeom>
          <a:solidFill>
            <a:srgbClr val="D97A14"/>
          </a:solidFill>
          <a:ln w="12700">
            <a:solidFill>
              <a:srgbClr val="D97A14"/>
            </a:solidFill>
            <a:prstDash val="solid"/>
          </a:ln>
        </p:spPr>
      </p:sp>
      <p:sp>
        <p:nvSpPr>
          <p:cNvPr id="12" name="Text 10"/>
          <p:cNvSpPr txBox="1"/>
          <p:nvPr/>
        </p:nvSpPr>
        <p:spPr>
          <a:xfrm>
            <a:off x="658368" y="2450592"/>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mempool.space (block explorer)</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Look up any block, transaction, fee rate and mempool</a:t>
            </a:r>
            <a:endParaRPr lang="en-US" sz="1000" dirty="0"/>
          </a:p>
        </p:txBody>
      </p:sp>
      <p:sp>
        <p:nvSpPr>
          <p:cNvPr id="13" name="Text 11"/>
          <p:cNvSpPr txBox="1"/>
          <p:nvPr/>
        </p:nvSpPr>
        <p:spPr>
          <a:xfrm>
            <a:off x="457200" y="292608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Standards and papers</a:t>
            </a:r>
            <a:endParaRPr lang="en-US" sz="1250" dirty="0"/>
          </a:p>
        </p:txBody>
      </p:sp>
      <p:sp>
        <p:nvSpPr>
          <p:cNvPr id="14" name="Shape 12"/>
          <p:cNvSpPr/>
          <p:nvPr/>
        </p:nvSpPr>
        <p:spPr>
          <a:xfrm>
            <a:off x="493776" y="3273552"/>
            <a:ext cx="82296" cy="82296"/>
          </a:xfrm>
          <a:prstGeom prst="ellipse">
            <a:avLst/>
          </a:prstGeom>
          <a:solidFill>
            <a:srgbClr val="D97A14"/>
          </a:solidFill>
          <a:ln w="12700">
            <a:solidFill>
              <a:srgbClr val="D97A14"/>
            </a:solidFill>
            <a:prstDash val="solid"/>
          </a:ln>
        </p:spPr>
      </p:sp>
      <p:sp>
        <p:nvSpPr>
          <p:cNvPr id="15" name="Text 13"/>
          <p:cNvSpPr txBox="1"/>
          <p:nvPr/>
        </p:nvSpPr>
        <p:spPr>
          <a:xfrm>
            <a:off x="658368" y="3200400"/>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BIP 9: Version bits with timeout and delay</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How soft forks are signalled in block versions  bips.dev</a:t>
            </a:r>
            <a:endParaRPr lang="en-US" sz="1000" dirty="0"/>
          </a:p>
        </p:txBody>
      </p:sp>
      <p:sp>
        <p:nvSpPr>
          <p:cNvPr id="16" name="Shape 14"/>
          <p:cNvSpPr/>
          <p:nvPr/>
        </p:nvSpPr>
        <p:spPr>
          <a:xfrm>
            <a:off x="493776" y="3675888"/>
            <a:ext cx="82296" cy="82296"/>
          </a:xfrm>
          <a:prstGeom prst="ellipse">
            <a:avLst/>
          </a:prstGeom>
          <a:solidFill>
            <a:srgbClr val="D97A14"/>
          </a:solidFill>
          <a:ln w="12700">
            <a:solidFill>
              <a:srgbClr val="D97A14"/>
            </a:solidFill>
            <a:prstDash val="solid"/>
          </a:ln>
        </p:spPr>
      </p:sp>
      <p:sp>
        <p:nvSpPr>
          <p:cNvPr id="17" name="Text 15"/>
          <p:cNvSpPr txBox="1"/>
          <p:nvPr/>
        </p:nvSpPr>
        <p:spPr>
          <a:xfrm>
            <a:off x="658368" y="3602736"/>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BIP 54: Consensus Cleanup</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Proposed fixes of long-known consensus weaknesses  bips.dev</a:t>
            </a:r>
            <a:endParaRPr lang="en-US" sz="1000" dirty="0"/>
          </a:p>
        </p:txBody>
      </p:sp>
      <p:sp>
        <p:nvSpPr>
          <p:cNvPr id="18" name="Shape 16"/>
          <p:cNvSpPr/>
          <p:nvPr/>
        </p:nvSpPr>
        <p:spPr>
          <a:xfrm>
            <a:off x="493776" y="4078224"/>
            <a:ext cx="82296" cy="82296"/>
          </a:xfrm>
          <a:prstGeom prst="ellipse">
            <a:avLst/>
          </a:prstGeom>
          <a:solidFill>
            <a:srgbClr val="D97A14"/>
          </a:solidFill>
          <a:ln w="12700">
            <a:solidFill>
              <a:srgbClr val="D97A14"/>
            </a:solidFill>
            <a:prstDash val="solid"/>
          </a:ln>
        </p:spPr>
      </p:sp>
      <p:sp>
        <p:nvSpPr>
          <p:cNvPr id="19" name="Text 17"/>
          <p:cNvSpPr txBox="1"/>
          <p:nvPr/>
        </p:nvSpPr>
        <p:spPr>
          <a:xfrm>
            <a:off x="658368" y="4005072"/>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Eyal and Sirer: Majority is not Enough (paper)</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The selfish-mining paper, free to download  arxiv.org</a:t>
            </a:r>
            <a:endParaRPr lang="en-US" sz="1000" dirty="0"/>
          </a:p>
        </p:txBody>
      </p:sp>
      <p:sp>
        <p:nvSpPr>
          <p:cNvPr id="20" name="Text 18"/>
          <p:cNvSpPr txBox="1"/>
          <p:nvPr/>
        </p:nvSpPr>
        <p:spPr>
          <a:xfrm>
            <a:off x="4732020" y="137160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Watch</a:t>
            </a:r>
            <a:endParaRPr lang="en-US" sz="1250" dirty="0"/>
          </a:p>
        </p:txBody>
      </p:sp>
      <p:sp>
        <p:nvSpPr>
          <p:cNvPr id="21" name="Shape 19"/>
          <p:cNvSpPr/>
          <p:nvPr/>
        </p:nvSpPr>
        <p:spPr>
          <a:xfrm>
            <a:off x="4768596" y="1719072"/>
            <a:ext cx="82296" cy="82296"/>
          </a:xfrm>
          <a:prstGeom prst="ellipse">
            <a:avLst/>
          </a:prstGeom>
          <a:solidFill>
            <a:srgbClr val="D97A14"/>
          </a:solidFill>
          <a:ln w="12700">
            <a:solidFill>
              <a:srgbClr val="D97A14"/>
            </a:solidFill>
            <a:prstDash val="solid"/>
          </a:ln>
        </p:spPr>
      </p:sp>
      <p:sp>
        <p:nvSpPr>
          <p:cNvPr id="22" name="Text 20"/>
          <p:cNvSpPr txBox="1"/>
          <p:nvPr/>
        </p:nvSpPr>
        <p:spPr>
          <a:xfrm>
            <a:off x="4933188" y="1645920"/>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3Blue1Brown: But how does bitcoin work? (video)</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Ledger, signatures and proof of work, drawn out  youtube.com</a:t>
            </a:r>
            <a:endParaRPr lang="en-US" sz="1000" dirty="0"/>
          </a:p>
        </p:txBody>
      </p:sp>
      <p:sp>
        <p:nvSpPr>
          <p:cNvPr id="23" name="Shape 21"/>
          <p:cNvSpPr/>
          <p:nvPr/>
        </p:nvSpPr>
        <p:spPr>
          <a:xfrm>
            <a:off x="4768596" y="2121408"/>
            <a:ext cx="82296" cy="82296"/>
          </a:xfrm>
          <a:prstGeom prst="ellipse">
            <a:avLst/>
          </a:prstGeom>
          <a:solidFill>
            <a:srgbClr val="D97A14"/>
          </a:solidFill>
          <a:ln w="12700">
            <a:solidFill>
              <a:srgbClr val="D97A14"/>
            </a:solidFill>
            <a:prstDash val="solid"/>
          </a:ln>
        </p:spPr>
      </p:sp>
      <p:sp>
        <p:nvSpPr>
          <p:cNvPr id="24" name="Text 22"/>
          <p:cNvSpPr txBox="1"/>
          <p:nvPr/>
        </p:nvSpPr>
        <p:spPr>
          <a:xfrm>
            <a:off x="4933188" y="2048256"/>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Khan Academy: Bitcoin, proof of work (video)</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Proof of work in a few minutes  youtube.com</a:t>
            </a:r>
            <a:endParaRPr lang="en-US" sz="1000" dirty="0"/>
          </a:p>
        </p:txBody>
      </p:sp>
      <p:sp>
        <p:nvSpPr>
          <p:cNvPr id="25" name="Text 23"/>
          <p:cNvSpPr txBox="1"/>
          <p:nvPr/>
        </p:nvSpPr>
        <p:spPr>
          <a:xfrm>
            <a:off x="4732020" y="2523744"/>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Community</a:t>
            </a:r>
            <a:endParaRPr lang="en-US" sz="1250" dirty="0"/>
          </a:p>
        </p:txBody>
      </p:sp>
      <p:sp>
        <p:nvSpPr>
          <p:cNvPr id="26" name="Shape 24"/>
          <p:cNvSpPr/>
          <p:nvPr/>
        </p:nvSpPr>
        <p:spPr>
          <a:xfrm>
            <a:off x="4768596" y="2871216"/>
            <a:ext cx="82296" cy="82296"/>
          </a:xfrm>
          <a:prstGeom prst="ellipse">
            <a:avLst/>
          </a:prstGeom>
          <a:solidFill>
            <a:srgbClr val="D97A14"/>
          </a:solidFill>
          <a:ln w="12700">
            <a:solidFill>
              <a:srgbClr val="D97A14"/>
            </a:solidFill>
            <a:prstDash val="solid"/>
          </a:ln>
        </p:spPr>
      </p:sp>
      <p:sp>
        <p:nvSpPr>
          <p:cNvPr id="27" name="Text 25"/>
          <p:cNvSpPr txBox="1"/>
          <p:nvPr/>
        </p:nvSpPr>
        <p:spPr>
          <a:xfrm>
            <a:off x="4933188" y="2798064"/>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Bitcoin Optech newsletters (weekly)</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Weekly digest of protocol and wallet development; all issues</a:t>
            </a:r>
            <a:endParaRPr lang="en-US" sz="1000" dirty="0"/>
          </a:p>
        </p:txBody>
      </p:sp>
      <p:sp>
        <p:nvSpPr>
          <p:cNvPr id="28" name="Shape 26"/>
          <p:cNvSpPr/>
          <p:nvPr/>
        </p:nvSpPr>
        <p:spPr>
          <a:xfrm>
            <a:off x="4768596" y="3273552"/>
            <a:ext cx="82296" cy="82296"/>
          </a:xfrm>
          <a:prstGeom prst="ellipse">
            <a:avLst/>
          </a:prstGeom>
          <a:solidFill>
            <a:srgbClr val="D97A14"/>
          </a:solidFill>
          <a:ln w="12700">
            <a:solidFill>
              <a:srgbClr val="D97A14"/>
            </a:solidFill>
            <a:prstDash val="solid"/>
          </a:ln>
        </p:spPr>
      </p:sp>
      <p:sp>
        <p:nvSpPr>
          <p:cNvPr id="29" name="Text 27"/>
          <p:cNvSpPr txBox="1"/>
          <p:nvPr/>
        </p:nvSpPr>
        <p:spPr>
          <a:xfrm>
            <a:off x="4933188" y="3200400"/>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10" invalidUrl="" action="" tgtFrame="" tooltip="" history="1" highlightClick="0" endSnd="0">
                  <a:extLst>
                    <a:ext uri="{A12FA001-AC4F-418D-AE19-62706E023703}">
                      <ahyp:hlinkClr xmlns:ahyp="http://schemas.microsoft.com/office/drawing/2018/hyperlinkcolor" val="tx"/>
                    </a:ext>
                  </a:extLst>
                </a:hlinkClick>
              </a:rPr>
              <a:t>Delving Bitcoin (research forum)</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Developers argue out proposals and research in public threads</a:t>
            </a:r>
            <a:endParaRPr lang="en-US" sz="1000" dirty="0"/>
          </a:p>
        </p:txBody>
      </p:sp>
      <p:sp>
        <p:nvSpPr>
          <p:cNvPr id="30" name="Shape 28"/>
          <p:cNvSpPr/>
          <p:nvPr/>
        </p:nvSpPr>
        <p:spPr>
          <a:xfrm>
            <a:off x="4768596" y="3675888"/>
            <a:ext cx="82296" cy="82296"/>
          </a:xfrm>
          <a:prstGeom prst="ellipse">
            <a:avLst/>
          </a:prstGeom>
          <a:solidFill>
            <a:srgbClr val="D97A14"/>
          </a:solidFill>
          <a:ln w="12700">
            <a:solidFill>
              <a:srgbClr val="D97A14"/>
            </a:solidFill>
            <a:prstDash val="solid"/>
          </a:ln>
        </p:spPr>
      </p:sp>
      <p:sp>
        <p:nvSpPr>
          <p:cNvPr id="31" name="Text 29"/>
          <p:cNvSpPr txBox="1"/>
          <p:nvPr/>
        </p:nvSpPr>
        <p:spPr>
          <a:xfrm>
            <a:off x="4933188" y="3602736"/>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11" invalidUrl="" action="" tgtFrame="" tooltip="" history="1" highlightClick="0" endSnd="0">
                  <a:extLst>
                    <a:ext uri="{A12FA001-AC4F-418D-AE19-62706E023703}">
                      <ahyp:hlinkClr xmlns:ahyp="http://schemas.microsoft.com/office/drawing/2018/hyperlinkcolor" val="tx"/>
                    </a:ext>
                  </a:extLst>
                </a:hlinkClick>
              </a:rPr>
              <a:t>bitcoin-dev (mailing list)</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Where BIPs and soft forks are first proposed and debated</a:t>
            </a:r>
            <a:endParaRPr lang="en-US" sz="1000" dirty="0"/>
          </a:p>
        </p:txBody>
      </p:sp>
      <p:sp>
        <p:nvSpPr>
          <p:cNvPr id="32" name="Shape 30"/>
          <p:cNvSpPr/>
          <p:nvPr/>
        </p:nvSpPr>
        <p:spPr>
          <a:xfrm>
            <a:off x="457200" y="4636008"/>
            <a:ext cx="91440" cy="310896"/>
          </a:xfrm>
          <a:prstGeom prst="rect">
            <a:avLst/>
          </a:prstGeom>
          <a:solidFill>
            <a:srgbClr val="D97A14"/>
          </a:solidFill>
          <a:ln w="12700">
            <a:solidFill>
              <a:srgbClr val="D97A14"/>
            </a:solidFill>
            <a:prstDash val="solid"/>
          </a:ln>
        </p:spPr>
      </p:sp>
      <p:sp>
        <p:nvSpPr>
          <p:cNvPr id="33" name="Text 3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Watch 3Blue1Brown, then read the Optech topic on soft forks beside the chapter</a:t>
            </a:r>
            <a:endParaRPr lang="en-US" sz="1350" dirty="0"/>
          </a:p>
        </p:txBody>
      </p:sp>
      <p:sp>
        <p:nvSpPr>
          <p:cNvPr id="34" name="Text 3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50 / 51</a:t>
            </a:r>
            <a:endParaRPr lang="en-US" sz="11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Text 1"/>
          <p:cNvSpPr txBox="1"/>
          <p:nvPr/>
        </p:nvSpPr>
        <p:spPr>
          <a:xfrm>
            <a:off x="548640" y="1325880"/>
            <a:ext cx="8046720" cy="868680"/>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What you should now be able to say</a:t>
            </a:r>
            <a:endParaRPr lang="en-US" sz="2800" dirty="0"/>
          </a:p>
        </p:txBody>
      </p:sp>
      <p:sp>
        <p:nvSpPr>
          <p:cNvPr id="4" name="Text 2"/>
          <p:cNvSpPr txBox="1"/>
          <p:nvPr/>
        </p:nvSpPr>
        <p:spPr>
          <a:xfrm>
            <a:off x="548640" y="2194560"/>
            <a:ext cx="8046720" cy="548640"/>
          </a:xfrm>
          <a:prstGeom prst="rect">
            <a:avLst/>
          </a:prstGeom>
          <a:noFill/>
          <a:ln/>
        </p:spPr>
        <p:txBody>
          <a:bodyPr wrap="square" lIns="0" tIns="0" rIns="0" bIns="0" rtlCol="0" anchor="t"/>
          <a:lstStyle/>
          <a:p>
            <a:pPr indent="0" marL="0">
              <a:buNone/>
            </a:pPr>
            <a:r>
              <a:rPr lang="en-US" sz="1600" dirty="0">
                <a:solidFill>
                  <a:srgbClr val="2F6D62"/>
                </a:solidFill>
                <a:latin typeface="Calibri" pitchFamily="34" charset="0"/>
                <a:ea typeface="Calibri" pitchFamily="34" charset="-122"/>
                <a:cs typeface="Calibri" pitchFamily="34" charset="-120"/>
              </a:rPr>
              <a:t>And where each claim gets its proof</a:t>
            </a:r>
            <a:endParaRPr lang="en-US" sz="1600" dirty="0"/>
          </a:p>
        </p:txBody>
      </p:sp>
      <p:sp>
        <p:nvSpPr>
          <p:cNvPr id="5" name="Text 3"/>
          <p:cNvSpPr txBox="1"/>
          <p:nvPr/>
        </p:nvSpPr>
        <p:spPr>
          <a:xfrm>
            <a:off x="548640" y="2788920"/>
            <a:ext cx="8046720" cy="1508760"/>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How the reward is fixed</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How nodes check and choose a chain</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How proof of work sets the pace</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How pools, attacks and forks matter</a:t>
            </a:r>
            <a:endParaRPr lang="en-US" sz="1600" dirty="0"/>
          </a:p>
        </p:txBody>
      </p:sp>
      <p:sp>
        <p:nvSpPr>
          <p:cNvPr id="6" name="Text 4"/>
          <p:cNvSpPr txBox="1"/>
          <p:nvPr/>
        </p:nvSpPr>
        <p:spPr>
          <a:xfrm>
            <a:off x="548640" y="4407408"/>
            <a:ext cx="7132320" cy="457200"/>
          </a:xfrm>
          <a:prstGeom prst="rect">
            <a:avLst/>
          </a:prstGeom>
          <a:noFill/>
          <a:ln/>
        </p:spPr>
        <p:txBody>
          <a:bodyPr wrap="square" lIns="0" tIns="0" rIns="0" bIns="0" rtlCol="0" anchor="ctr"/>
          <a:lstStyle/>
          <a:p>
            <a:pPr indent="0" marL="0">
              <a:buNone/>
            </a:pPr>
            <a:r>
              <a:rPr lang="en-US" sz="2000" i="1" dirty="0">
                <a:solidFill>
                  <a:srgbClr val="6E655C"/>
                </a:solidFill>
                <a:latin typeface="Cambria" pitchFamily="34" charset="0"/>
                <a:ea typeface="Cambria" pitchFamily="34" charset="-122"/>
                <a:cs typeface="Cambria" pitchFamily="34" charset="-120"/>
              </a:rPr>
              <a:t>Questions?</a:t>
            </a:r>
            <a:endParaRPr lang="en-US" sz="2000" dirty="0"/>
          </a:p>
        </p:txBody>
      </p:sp>
      <p:sp>
        <p:nvSpPr>
          <p:cNvPr id="7" name="Text 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51 / 51</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51</Slides>
  <Notes>51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51</vt:i4>
      </vt:variant>
    </vt:vector>
  </HeadingPairs>
  <TitlesOfParts>
    <vt:vector size="5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SEN0401 Chapter 12</dc:title>
  <dc:subject>PptxGenJS Presentation</dc:subject>
  <dc:creator>Yusuf Altunel</dc:creator>
  <cp:lastModifiedBy>Yusuf Altunel</cp:lastModifiedBy>
  <cp:revision>1</cp:revision>
  <dcterms:created xsi:type="dcterms:W3CDTF">2026-10-25T11:56:53Z</dcterms:created>
  <dcterms:modified xsi:type="dcterms:W3CDTF">2026-10-25T11:56:53Z</dcterms:modified>
  <cp:version>3.0.0</cp:version>
</cp:coreProperties>
</file>