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300 signatures by length (bytes)</a:t>
            </a:r>
          </a:p>
        </c:rich>
      </c:tx>
      <c:layout/>
      <c:overlay val="0"/>
    </c:title>
    <c:autoTitleDeleted val="0"/>
    <c:plotArea>
      <c:layout/>
      <c:barChart>
        <c:barDir val="col"/>
        <c:grouping val="clustered"/>
        <c:varyColors val="0"/>
        <c:ser>
          <c:idx val="0"/>
          <c:order val="0"/>
          <c:tx>
            <c:strRef>
              <c:f>Sheet1!$B$1</c:f>
              <c:strCache>
                <c:ptCount val="1"/>
                <c:pt idx="0">
                  <c:v>signatures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70 bytes</c:v>
                  </c:pt>
                  <c:pt idx="1">
                    <c:v>71 bytes</c:v>
                  </c:pt>
                </c:lvl>
              </c:multiLvlStrCache>
            </c:multiLvlStrRef>
          </c:cat>
          <c:val>
            <c:numRef>
              <c:f>Sheet1!$B$2:$B$3</c:f>
              <c:numCache>
                <c:formatCode>General</c:formatCode>
                <c:ptCount val="2"/>
                <c:pt idx="0">
                  <c:v>2</c:v>
                </c:pt>
                <c:pt idx="1">
                  <c:v>298</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hashed by all signatures of a transaction</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legacy, 10 inputs</c:v>
                  </c:pt>
                  <c:pt idx="1">
                    <c:v>BIP143, 10 inputs</c:v>
                  </c:pt>
                  <c:pt idx="2">
                    <c:v>legacy, 100 inputs</c:v>
                  </c:pt>
                  <c:pt idx="3">
                    <c:v>BIP143, 100 inputs</c:v>
                  </c:pt>
                </c:lvl>
              </c:multiLvlStrCache>
            </c:multiLvlStrRef>
          </c:cat>
          <c:val>
            <c:numRef>
              <c:f>Sheet1!$B$2:$B$5</c:f>
              <c:numCache>
                <c:formatCode>General</c:formatCode>
                <c:ptCount val="4"/>
                <c:pt idx="0">
                  <c:v>5150</c:v>
                </c:pt>
                <c:pt idx="1">
                  <c:v>2670</c:v>
                </c:pt>
                <c:pt idx="2">
                  <c:v>420500</c:v>
                </c:pt>
                <c:pt idx="3">
                  <c:v>25530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BIPs of this chapter by status</a:t>
            </a:r>
          </a:p>
        </c:rich>
      </c:tx>
      <c:layout/>
      <c:overlay val="0"/>
    </c:title>
    <c:autoTitleDeleted val="0"/>
    <c:plotArea>
      <c:layout/>
      <c:barChart>
        <c:barDir val="col"/>
        <c:grouping val="clustered"/>
        <c:varyColors val="0"/>
        <c:ser>
          <c:idx val="0"/>
          <c:order val="0"/>
          <c:tx>
            <c:strRef>
              <c:f>Sheet1!$B$1</c:f>
              <c:strCache>
                <c:ptCount val="1"/>
                <c:pt idx="0">
                  <c:v>BIPs</c:v>
                </c:pt>
              </c:strCache>
            </c:strRef>
          </c:tx>
          <c:spPr>
            <a:solidFill>
              <a:srgbClr val="D97A14"/>
            </a:solidFill>
            <a:effectLst/>
          </c:spPr>
          <c:invertIfNegative val="0"/>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Deployed</c:v>
                  </c:pt>
                  <c:pt idx="1">
                    <c:v>Draft</c:v>
                  </c:pt>
                  <c:pt idx="2">
                    <c:v>Complete</c:v>
                  </c:pt>
                  <c:pt idx="3">
                    <c:v>Closed</c:v>
                  </c:pt>
                </c:lvl>
              </c:multiLvlStrCache>
            </c:multiLvlStrRef>
          </c:cat>
          <c:val>
            <c:numRef>
              <c:f>Sheet1!$B$2:$B$5</c:f>
              <c:numCache>
                <c:formatCode>General</c:formatCode>
                <c:ptCount val="4"/>
                <c:pt idx="0">
                  <c:v>6</c:v>
                </c:pt>
                <c:pt idx="1">
                  <c:v>4</c:v>
                </c:pt>
                <c:pt idx="2">
                  <c:v>2</c:v>
                </c:pt>
                <c:pt idx="3">
                  <c:v>1</c:v>
                </c:pt>
              </c:numCache>
            </c:numRef>
          </c:val>
        </c:ser>
        <c:dLbls>
          <c:numFmt formatCode="0"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a Bitcoin signature works and what it commits to. Every example runs under Python 3.14.6 on the chapter's own library, and Bitcoin Core 31.1.0 was run once on a test network, so its answers are Recorded and only read back here. The full text of every slide is in the research package for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signature proves and signs, schnorr signatures, ECDSA with its encoding and its nonce, and finally segwit, taproot and what moved since the book. Each part ends in a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reproduced, and which have changed since print. The three numbers below them are counted from the research package, which holds 66 sources, 20 findings and 91 executed claims. Each slide that follows shows the computation behind its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verification function, with three inputs and one answer. It then separates the two numbers that the book calls modulus, and shows how the SIGHASH flags choose what a signature covers. The cheque on the slide is the picture to keep: a signature is only as strong as the fields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check needs only a message, a public key and a signature, so any node can run it without a secret or a link to the signer. The console signs a message hash, verifies it, and then shows two ways to break it: a message changed by one bit and a neighbour's key. The last row shows that two owners can sign two inputs of one transaction independently, and that swapping their signatures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the arithmetic is done modulo p, but the scalars of the signature equation are reduced modulo n, the order of the group. The console shows the toy equation with plain integers, where division would reveal the key, and then the real curve, where the equation holds modulo n and fails modulo p. The two numbers are different and both have 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flag removes fields from the hash, and the left table shows which of five fields change it, found by changing one field at a time. The right table asks the same question of signatures that Bitcoin Core 31.1.0 made on a test network, which are Recorded here and edited and verified again on this machine. The two tables agree, and the book's wording about all inputs holds for outpoints but not for the other inputs' sequence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does not say what SIGHASH_SINGLE signs when the input has no output with its index. In the legacy algorithm the value that is signed is then the number one, which the first rows print and which Core's own source marks as a bug. The last row is Recorded: Core 31.1.0 refuses to sign such an input, and signs the same transaction once each input has 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Schnorr's idea from a three-move proof of identity to the 64-byte signature that taproot uses. It then shows what the signature's linearity allows, from adding keys to sharing a secret among three people. A story about a patent explains why Bitcoin began with ECDSA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prover commits to a nonce, the verifier answers with a random challenge, and the prover responds so that one equation can be checked. The console runs the toy numbers, the real curve round, a response that is wrong by one, and a cheat who is told the challenge in advance and passes without the key. Replacing the verifier by a hash of the commitment, the key and the message gives a signature that verifies for its own message and fails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February 1991 the United States published Claus-Peter Schnorr's patent 4,995,082, filed in 1990 for a scheme he had presented at Crypto 89. The patent kept the algorithm out of open standards, so ECDSA became the signature Bitcoin used from its first release until the taproot soft fork. The console computes both possible end dates, 19 February 2008 and 23 February 2010, and Wikipedia states that the patent expired in February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BIP340 signatures are 64 bytes, public keys are 32 bytes, and the published test vectors all reproduce here. Signing is deterministic by default, and hashing the public key into the challenge stops a related-key forgery that works without it. A combined equation accepts nine valid signatures and rejects the batch when one is swapped, but the claimed speed-up is NOT EXECUTED because the library lists no batch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private keys adds public keys, and signing is linear, so two people can make one signature for a sum key. The naive protocol has a hole: a partner who sees your key first can publish a key that cancels it and then sign alone, which the console reproduces. MuSig2 weights each key by a hash, so the same attack no longer gives the attacker the aggregate, and its four published key vectors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hides a secret as the point where a line crosses an axis, so any two of three shares rebuild it and one share shows nothing. The book's threshold protocol has a weakness that the console reproduces: a partner can tell each of the others that the other is away and collect both partial keys. The BIP index has no number for a threshold scheme, although Optech lists a FROST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ECDSA, the signature Bitcoin used until 2021. It covers the formulas, the two forms of one signature, the DER encoding and a real signature from the chain, and then the nonce, which must never repeat. Two stories belong here, one about a signature printed in the book and one about weak random numbers on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ECDSA computes s from the hash, the key, the nonce and the point R, and the check recomputes R from s. The console verifies the book's formulas, shows that a second signature with s replaced by n minus s also verifies, and checks that 200 library signatures are low-S and strictly DER encoded. The two forms are the malleability that the low-S rule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 signature that the book uses to explain DER is a real one, from block 277,316 on 27 December 2013. The console finds it in the saved transaction record, splits it into its nine elements, recomputes the legacy signature hash and verifies it against the 65-byte public key; the same check fails when the flag byte is changed to NONE. Its R value begins with 0x88, so a padding zero makes it 72 bytes, which Bitcoin Core avoids today by grinding for a small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can be derived from the key and the message with RFC 6979, so no random number generator is needed at signing time. The console reproduces the standard's published nonce, and the Recorded rows show that Bitcoin Core signs deterministically and grinds the nonce until R is small. All 300 signatures in one Core transaction are low-R, 298 of 71 bytes and 2 of 70, while about half of the library's unground signatures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August 2013 Bitcoin.org warned that Android's secure random number generator was weak, and four wallets were named. The sources say the generator was improperly initialized but not which flaw was exploited. The console shows why this is fatal for ECDSA: two signatures with one nonce give away the key, while two different nonces do not, and a deterministic nonce removes the dependence on randomness. The picture is the Android robot, a stand-in for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segwit changed in what is signed, how a node judges a signature and what has moved since the book was printed. It uses the Recorded answers of Bitcoin Core for policy and consensus, and the saved sources for the status of proposals. It closes with a plain list of what this deck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signing hashes a copy of the transaction for each input, so ten times the inputs cost almost a hundred times the bytes; BIP143 keeps the cost linear. The chart shows 10 and 100 inputs, and the console shows the growth factors, 97.8 and 10.0. A version 0 signature also commits to the amount being spent, and a taproot signature commits to all spent amounts unless ANYONECANPAY is used. Block 709,635 holds the first taproot key-path spend, which verifies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can accept a signature in a block that it would not relay. Core 31.1.0 on a test network refuses a high-S signature in its memory pool but mines it into a block, while a signature that is not strictly DER encoded makes the block invalid. For taproot, the explicit hash type byte 0x00 is invalid and the default is the absence of the byte; the tables show Core's own error for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is a snapshot of 2023. Most of the proposals it names are Deployed, but BIP118 is still a Draft, BIP461 and BIP361 are new drafts, and Core 30.0 caps legacy signature operations at 2,500 in policy. Several things were not run here and are marked NOT EXECUTED on the slide: the security proof of ECDSA, quantum attacks and any Core release other than 31.1.0.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Optech workshop videos on schnorr and MuSig, then BIP340 read next to the chapter. The research package for chapter 8 lists all 66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8 holds the sources and the test vectors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en.wikipedia.org/wiki/Schnorr_signature"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mempool.space/tx/0627052b6f28912f2703066a912ea577f2ce4da4caa5a5fbd8a57286c345c2f2"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bitcoin.org/en/alert/2013-08-11-android"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ps.dev/340/" TargetMode="External"/><Relationship Id="rId2" Type="http://schemas.openxmlformats.org/officeDocument/2006/relationships/hyperlink" Target="https://aantonop.com/books/mastering-bitcoin/" TargetMode="External"/><Relationship Id="rId3" Type="http://schemas.openxmlformats.org/officeDocument/2006/relationships/hyperlink" Target="https://en.bitcoin.it/wiki/OP_CHECKSIG" TargetMode="External"/><Relationship Id="rId4" Type="http://schemas.openxmlformats.org/officeDocument/2006/relationships/hyperlink" Target="https://bips.dev/327/" TargetMode="External"/><Relationship Id="rId5" Type="http://schemas.openxmlformats.org/officeDocument/2006/relationships/hyperlink" Target="https://www.rfc-editor.org/rfc/rfc6979.txt" TargetMode="External"/><Relationship Id="rId6" Type="http://schemas.openxmlformats.org/officeDocument/2006/relationships/hyperlink" Target="https://link.springer.com/article/10.1007/BF00196725" TargetMode="External"/><Relationship Id="rId7" Type="http://schemas.openxmlformats.org/officeDocument/2006/relationships/hyperlink" Target="https://ocw.mit.edu/courses/15-s12-blockchain-and-money-fall-2018/" TargetMode="External"/><Relationship Id="rId8" Type="http://schemas.openxmlformats.org/officeDocument/2006/relationships/hyperlink" Target="https://bitcoinops.org/en/schnorr-taproot-workshop/"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8: Digital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commits to, how schnorr and ECDSA work, and what moved since print. Bitcoin Core 31.1.0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 signature proves and signs  (slides 4-8)</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Schnorr: proof, BIP340, MuSig2, threshold  (slides 9-14)</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ECDSA: encoding, nonces, Android  (slides 15-19)</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Segwit, taproot, policy, what moved since print  (slides 20-26)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three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examples, figures and statements of the chapter can be reproduced by execution, by the standards' own test vectors and by Bitcoin Core, and what does the execution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differs from the standards or from Bitcoin Core as it is now, or has changed status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66</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signature proves and signs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 and verify, the two moduli and the SIGHASH flags. Think of a cheque: ALL fills in every line, NONE leaves the payee blank.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 verify, break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Moduli n and p</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Flags and commitments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SINGLE bug</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Anyone can verify a signature, no secret needed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inputs go in and yes or no comes out; change any one and it turns to no</a:t>
            </a:r>
            <a:endParaRPr lang="en-US" sz="1300" dirty="0"/>
          </a:p>
        </p:txBody>
      </p:sp>
      <p:sp>
        <p:nvSpPr>
          <p:cNvPr id="6" name="Shape 4"/>
          <p:cNvSpPr/>
          <p:nvPr/>
        </p:nvSpPr>
        <p:spPr>
          <a:xfrm>
            <a:off x="457200" y="1280160"/>
            <a:ext cx="2426208" cy="566928"/>
          </a:xfrm>
          <a:prstGeom prst="roundRect">
            <a:avLst>
              <a:gd name="adj" fmla="val 16129"/>
            </a:avLst>
          </a:prstGeom>
          <a:solidFill>
            <a:srgbClr val="2F6D62"/>
          </a:solidFill>
          <a:ln w="12700">
            <a:solidFill>
              <a:srgbClr val="2F6D62"/>
            </a:solidFill>
            <a:prstDash val="solid"/>
          </a:ln>
        </p:spPr>
      </p:sp>
      <p:sp>
        <p:nvSpPr>
          <p:cNvPr id="7" name="Text 5"/>
          <p:cNvSpPr txBox="1"/>
          <p:nvPr/>
        </p:nvSpPr>
        <p:spPr>
          <a:xfrm>
            <a:off x="530352"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Message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hash of part of the transaction</a:t>
            </a:r>
            <a:endParaRPr lang="en-US" sz="1150" dirty="0"/>
          </a:p>
        </p:txBody>
      </p:sp>
      <p:sp>
        <p:nvSpPr>
          <p:cNvPr id="8" name="Shape 6"/>
          <p:cNvSpPr/>
          <p:nvPr/>
        </p:nvSpPr>
        <p:spPr>
          <a:xfrm>
            <a:off x="2938272" y="1563624"/>
            <a:ext cx="365760" cy="0"/>
          </a:xfrm>
          <a:prstGeom prst="line">
            <a:avLst/>
          </a:prstGeom>
          <a:noFill/>
          <a:ln w="25400">
            <a:solidFill>
              <a:srgbClr val="D97A14"/>
            </a:solidFill>
            <a:prstDash val="solid"/>
            <a:tailEnd type="triangle"/>
          </a:ln>
        </p:spPr>
      </p:sp>
      <p:sp>
        <p:nvSpPr>
          <p:cNvPr id="9" name="Shape 7"/>
          <p:cNvSpPr/>
          <p:nvPr/>
        </p:nvSpPr>
        <p:spPr>
          <a:xfrm>
            <a:off x="3358896" y="1280160"/>
            <a:ext cx="2426208" cy="566928"/>
          </a:xfrm>
          <a:prstGeom prst="roundRect">
            <a:avLst>
              <a:gd name="adj" fmla="val 16129"/>
            </a:avLst>
          </a:prstGeom>
          <a:solidFill>
            <a:srgbClr val="2F6D62"/>
          </a:solidFill>
          <a:ln w="12700">
            <a:solidFill>
              <a:srgbClr val="2F6D62"/>
            </a:solidFill>
            <a:prstDash val="solid"/>
          </a:ln>
        </p:spPr>
      </p:sp>
      <p:sp>
        <p:nvSpPr>
          <p:cNvPr id="10" name="Text 8"/>
          <p:cNvSpPr txBox="1"/>
          <p:nvPr/>
        </p:nvSpPr>
        <p:spPr>
          <a:xfrm>
            <a:off x="3432048"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Public key and signature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published with the transaction</a:t>
            </a:r>
            <a:endParaRPr lang="en-US" sz="1150" dirty="0"/>
          </a:p>
        </p:txBody>
      </p:sp>
      <p:sp>
        <p:nvSpPr>
          <p:cNvPr id="11" name="Shape 9"/>
          <p:cNvSpPr/>
          <p:nvPr/>
        </p:nvSpPr>
        <p:spPr>
          <a:xfrm>
            <a:off x="5839968" y="1563624"/>
            <a:ext cx="365760" cy="0"/>
          </a:xfrm>
          <a:prstGeom prst="line">
            <a:avLst/>
          </a:prstGeom>
          <a:noFill/>
          <a:ln w="25400">
            <a:solidFill>
              <a:srgbClr val="D97A14"/>
            </a:solidFill>
            <a:prstDash val="solid"/>
            <a:tailEnd type="triangle"/>
          </a:ln>
        </p:spPr>
      </p:sp>
      <p:sp>
        <p:nvSpPr>
          <p:cNvPr id="12" name="Shape 10"/>
          <p:cNvSpPr/>
          <p:nvPr/>
        </p:nvSpPr>
        <p:spPr>
          <a:xfrm>
            <a:off x="6260592" y="1280160"/>
            <a:ext cx="2426208" cy="566928"/>
          </a:xfrm>
          <a:prstGeom prst="roundRect">
            <a:avLst>
              <a:gd name="adj" fmla="val 16129"/>
            </a:avLst>
          </a:prstGeom>
          <a:solidFill>
            <a:srgbClr val="2F6D62"/>
          </a:solidFill>
          <a:ln w="12700">
            <a:solidFill>
              <a:srgbClr val="2F6D62"/>
            </a:solidFill>
            <a:prstDash val="solid"/>
          </a:ln>
        </p:spPr>
      </p:sp>
      <p:sp>
        <p:nvSpPr>
          <p:cNvPr id="13" name="Text 11"/>
          <p:cNvSpPr txBox="1"/>
          <p:nvPr/>
        </p:nvSpPr>
        <p:spPr>
          <a:xfrm>
            <a:off x="6333744" y="1325880"/>
            <a:ext cx="2279904"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Verify</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answers yes or no</a:t>
            </a:r>
            <a:endParaRPr lang="en-US" sz="1150" dirty="0"/>
          </a:p>
        </p:txBody>
      </p:sp>
      <p:sp>
        <p:nvSpPr>
          <p:cNvPr id="14" name="Text 12"/>
          <p:cNvSpPr txBox="1"/>
          <p:nvPr/>
        </p:nvSpPr>
        <p:spPr>
          <a:xfrm>
            <a:off x="457200" y="1965960"/>
            <a:ext cx="52120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sign, verify, and two ways to break it</a:t>
            </a:r>
            <a:endParaRPr lang="en-US" sz="1150" dirty="0"/>
          </a:p>
        </p:txBody>
      </p:sp>
      <p:sp>
        <p:nvSpPr>
          <p:cNvPr id="15" name="Shape 13"/>
          <p:cNvSpPr/>
          <p:nvPr/>
        </p:nvSpPr>
        <p:spPr>
          <a:xfrm>
            <a:off x="457200" y="2240280"/>
            <a:ext cx="521208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2359152"/>
            <a:ext cx="4846320" cy="15453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pk = L.ecdsa_sign(K.SK, K.MSG), L.pubkey_create(K.SK)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len(d), L.ecdsa_verify(pk,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(71,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L.ecdsa_verify(pk, bytes([K.MSG[</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K.MSG[</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L.ecdsa_verify(L.pubkey_create(K.SK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K.MSG, 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K.two_parties_two_inputs()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a:t>
            </a:r>
            <a:endParaRPr lang="en-US" sz="1000" dirty="0"/>
          </a:p>
        </p:txBody>
      </p:sp>
      <p:sp>
        <p:nvSpPr>
          <p:cNvPr id="17" name="Text 15"/>
          <p:cNvSpPr txBox="1"/>
          <p:nvPr/>
        </p:nvSpPr>
        <p:spPr>
          <a:xfrm>
            <a:off x="457200" y="4041648"/>
            <a:ext cx="52120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5852160" y="211226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6126480" y="1965960"/>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sign a message hash with the private key</a:t>
            </a:r>
            <a:endParaRPr lang="en-US" sz="1050" dirty="0"/>
          </a:p>
        </p:txBody>
      </p:sp>
      <p:sp>
        <p:nvSpPr>
          <p:cNvPr id="20" name="Shape 18"/>
          <p:cNvSpPr/>
          <p:nvPr/>
        </p:nvSpPr>
        <p:spPr>
          <a:xfrm>
            <a:off x="5852160" y="253288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6126480" y="2386584"/>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verify with the public key: 70 bytes, True</a:t>
            </a:r>
            <a:endParaRPr lang="en-US" sz="1050" dirty="0"/>
          </a:p>
        </p:txBody>
      </p:sp>
      <p:sp>
        <p:nvSpPr>
          <p:cNvPr id="22" name="Shape 20"/>
          <p:cNvSpPr/>
          <p:nvPr/>
        </p:nvSpPr>
        <p:spPr>
          <a:xfrm>
            <a:off x="5852160" y="295351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6126480" y="2807208"/>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flip one bit of the message: False</a:t>
            </a:r>
            <a:endParaRPr lang="en-US" sz="1050" dirty="0"/>
          </a:p>
        </p:txBody>
      </p:sp>
      <p:sp>
        <p:nvSpPr>
          <p:cNvPr id="24" name="Shape 22"/>
          <p:cNvSpPr/>
          <p:nvPr/>
        </p:nvSpPr>
        <p:spPr>
          <a:xfrm>
            <a:off x="5852160" y="3374136"/>
            <a:ext cx="128016" cy="128016"/>
          </a:xfrm>
          <a:prstGeom prst="diamond">
            <a:avLst/>
          </a:prstGeom>
          <a:solidFill>
            <a:srgbClr val="D97A14"/>
          </a:solidFill>
          <a:ln w="12700">
            <a:solidFill>
              <a:srgbClr val="D97A14"/>
            </a:solidFill>
            <a:prstDash val="solid"/>
          </a:ln>
        </p:spPr>
      </p:sp>
      <p:sp>
        <p:nvSpPr>
          <p:cNvPr id="25" name="Text 23"/>
          <p:cNvSpPr txBox="1"/>
          <p:nvPr/>
        </p:nvSpPr>
        <p:spPr>
          <a:xfrm>
            <a:off x="6126480" y="3227832"/>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use the neighbour's public key: False</a:t>
            </a:r>
            <a:endParaRPr lang="en-US" sz="1050" dirty="0"/>
          </a:p>
        </p:txBody>
      </p:sp>
      <p:sp>
        <p:nvSpPr>
          <p:cNvPr id="26" name="Shape 24"/>
          <p:cNvSpPr/>
          <p:nvPr/>
        </p:nvSpPr>
        <p:spPr>
          <a:xfrm>
            <a:off x="5852160" y="3794760"/>
            <a:ext cx="128016" cy="128016"/>
          </a:xfrm>
          <a:prstGeom prst="diamond">
            <a:avLst/>
          </a:prstGeom>
          <a:solidFill>
            <a:srgbClr val="D97A14"/>
          </a:solidFill>
          <a:ln w="12700">
            <a:solidFill>
              <a:srgbClr val="D97A14"/>
            </a:solidFill>
            <a:prstDash val="solid"/>
          </a:ln>
        </p:spPr>
      </p:sp>
      <p:sp>
        <p:nvSpPr>
          <p:cNvPr id="27" name="Text 25"/>
          <p:cNvSpPr txBox="1"/>
          <p:nvPr/>
        </p:nvSpPr>
        <p:spPr>
          <a:xfrm>
            <a:off x="6126480" y="3648456"/>
            <a:ext cx="2560320"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5: two inputs, two owners; swapping fails</a:t>
            </a:r>
            <a:endParaRPr lang="en-US" sz="1050" dirty="0"/>
          </a:p>
        </p:txBody>
      </p:sp>
      <p:sp>
        <p:nvSpPr>
          <p:cNvPr id="28" name="Text 26"/>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Like a wax seal: anyone can compare it with the ring's pattern, but only the ring's owner can press a new one.</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Anyone can verify a signature; only the owner of the key can make one</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Scalars live modulo n, coordinates modulo 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says everything is modulo p; the signature equation needs the group order 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equation sG = kG + eX holds only when s is reduced modulo n, the order of the group of points, and not modulo p.</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 clock, a toy, and the real curve</a:t>
            </a:r>
            <a:endParaRPr lang="en-US" sz="1150" dirty="0"/>
          </a:p>
        </p:txBody>
      </p:sp>
      <p:sp>
        <p:nvSpPr>
          <p:cNvPr id="8" name="Shape 6"/>
          <p:cNvSpPr/>
          <p:nvPr/>
        </p:nvSpPr>
        <p:spPr>
          <a:xfrm>
            <a:off x="457200" y="1874520"/>
            <a:ext cx="5029200" cy="1691640"/>
          </a:xfrm>
          <a:prstGeom prst="roundRect">
            <a:avLst>
              <a:gd name="adj" fmla="val 5405"/>
            </a:avLst>
          </a:prstGeom>
          <a:solidFill>
            <a:srgbClr val="23272E"/>
          </a:solidFill>
          <a:ln w="12700">
            <a:solidFill>
              <a:srgbClr val="23272E"/>
            </a:solidFill>
            <a:prstDash val="solid"/>
          </a:ln>
        </p:spPr>
      </p:sp>
      <p:sp>
        <p:nvSpPr>
          <p:cNvPr id="9" name="Text 7"/>
          <p:cNvSpPr txBox="1"/>
          <p:nvPr/>
        </p:nvSpPr>
        <p:spPr>
          <a:xfrm>
            <a:off x="640080" y="1993392"/>
            <a:ext cx="46634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K.scalar_modulus()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L.P - L.N &gt;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128</a:t>
            </a:r>
            <a:r>
              <a:rPr lang="en-US" sz="1000" dirty="0">
                <a:solidFill>
                  <a:srgbClr val="E6EDF3"/>
                </a:solidFill>
                <a:latin typeface="Courier New" pitchFamily="34" charset="0"/>
                <a:ea typeface="Courier New" pitchFamily="34" charset="-122"/>
                <a:cs typeface="Courier New" pitchFamily="34" charset="-120"/>
              </a:rPr>
              <a:t>, L.P.bit_length(), L.N.bit_length()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256, 256)</a:t>
            </a:r>
            <a:endParaRPr lang="en-US" sz="1000" dirty="0"/>
          </a:p>
        </p:txBody>
      </p:sp>
      <p:sp>
        <p:nvSpPr>
          <p:cNvPr id="10" name="Text 8"/>
          <p:cNvSpPr txBox="1"/>
          <p:nvPr/>
        </p:nvSpPr>
        <p:spPr>
          <a:xfrm>
            <a:off x="457200" y="3584448"/>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five divided by three leaves two; that is all modulus 3 means</a:t>
            </a:r>
            <a:endParaRPr lang="en-US" sz="1050" dirty="0"/>
          </a:p>
        </p:txBody>
      </p:sp>
      <p:sp>
        <p:nvSpPr>
          <p:cNvPr id="13" name="Shape 11"/>
          <p:cNvSpPr/>
          <p:nvPr/>
        </p:nvSpPr>
        <p:spPr>
          <a:xfrm>
            <a:off x="56692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171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plain integers, x 3, G 5, k 7, e 11: s is 40 and both sides give 200; dividing xG by G gives 3 back</a:t>
            </a:r>
            <a:endParaRPr lang="en-US" sz="1050" dirty="0"/>
          </a:p>
        </p:txBody>
      </p:sp>
      <p:sp>
        <p:nvSpPr>
          <p:cNvPr id="15" name="Shape 13"/>
          <p:cNvSpPr/>
          <p:nvPr/>
        </p:nvSpPr>
        <p:spPr>
          <a:xfrm>
            <a:off x="56692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7432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on secp256k1, reduce s modulo n and the check holds; modulo p it fails</a:t>
            </a:r>
            <a:endParaRPr lang="en-US" sz="1050" dirty="0"/>
          </a:p>
        </p:txBody>
      </p:sp>
      <p:sp>
        <p:nvSpPr>
          <p:cNvPr id="17" name="Shape 15"/>
          <p:cNvSpPr/>
          <p:nvPr/>
        </p:nvSpPr>
        <p:spPr>
          <a:xfrm>
            <a:off x="56692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943600" y="3314700"/>
            <a:ext cx="27432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p exceeds n by more than 2 to the power 128; both have 256 bits</a:t>
            </a:r>
            <a:endParaRPr lang="en-US" sz="1050" dirty="0"/>
          </a:p>
        </p:txBody>
      </p:sp>
      <p:sp>
        <p:nvSpPr>
          <p:cNvPr id="19" name="Text 17"/>
          <p:cNvSpPr txBox="1"/>
          <p:nvPr/>
        </p:nvSpPr>
        <p:spPr>
          <a:xfrm>
            <a:off x="457200" y="3977640"/>
            <a:ext cx="8229600" cy="50292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a clock: fifteen hours after noon reads three. A dial for points and a dial for scalars are different clocks with different sizes, p and n.</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Scalars wrap at the group order n; only the coordinates wrap at the prime 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flag chooses what the signature commits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Only plain ALL covers other inputs' sequence numbers; ACP means ANYONECANPAY</a:t>
            </a:r>
            <a:endParaRPr lang="en-US" sz="1300" dirty="0"/>
          </a:p>
        </p:txBody>
      </p:sp>
      <p:sp>
        <p:nvSpPr>
          <p:cNvPr id="6" name="Text 4"/>
          <p:cNvSpPr txBox="1"/>
          <p:nvPr/>
        </p:nvSpPr>
        <p:spPr>
          <a:xfrm>
            <a:off x="457200" y="1207008"/>
            <a:ext cx="420624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Computed: which fields change the hash</a:t>
            </a:r>
            <a:endParaRPr lang="en-US" sz="1100" dirty="0"/>
          </a:p>
        </p:txBody>
      </p:sp>
      <p:sp>
        <p:nvSpPr>
          <p:cNvPr id="7" name="Text 5"/>
          <p:cNvSpPr txBox="1"/>
          <p:nvPr/>
        </p:nvSpPr>
        <p:spPr>
          <a:xfrm>
            <a:off x="4754880" y="1207008"/>
            <a:ext cx="3931920" cy="228600"/>
          </a:xfrm>
          <a:prstGeom prst="rect">
            <a:avLst/>
          </a:prstGeom>
          <a:noFill/>
          <a:ln/>
        </p:spPr>
        <p:txBody>
          <a:bodyPr wrap="square" lIns="0" tIns="0" rIns="0" bIns="0" rtlCol="0" anchor="t"/>
          <a:lstStyle/>
          <a:p>
            <a:pPr algn="l" indent="0" marL="0">
              <a:buNone/>
            </a:pPr>
            <a:r>
              <a:rPr lang="en-US" sz="1100" b="1" dirty="0">
                <a:solidFill>
                  <a:srgbClr val="2B2622"/>
                </a:solidFill>
                <a:latin typeface="Calibri" pitchFamily="34" charset="0"/>
                <a:ea typeface="Calibri" pitchFamily="34" charset="-122"/>
                <a:cs typeface="Calibri" pitchFamily="34" charset="-120"/>
              </a:rPr>
              <a:t>Recorded: Core's own signatures, edited here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206240" cy="914400"/>
        </p:xfrm>
        <a:graphic>
          <a:graphicData uri="http://schemas.openxmlformats.org/drawingml/2006/table">
            <a:tbl>
              <a:tblPr/>
              <a:tblGrid>
                <a:gridCol w="868680"/>
                <a:gridCol w="640080"/>
                <a:gridCol w="640080"/>
                <a:gridCol w="731520"/>
                <a:gridCol w="685800"/>
                <a:gridCol w="64008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outpoints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Others' sequences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Own sequence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463040"/>
          <a:ext cx="3931920" cy="914400"/>
        </p:xfrm>
        <a:graphic>
          <a:graphicData uri="http://schemas.openxmlformats.org/drawingml/2006/table">
            <a:tbl>
              <a:tblPr/>
              <a:tblGrid>
                <a:gridCol w="1051560"/>
                <a:gridCol w="960120"/>
                <a:gridCol w="960120"/>
                <a:gridCol w="960120"/>
              </a:tblGrid>
              <a:tr h="36576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Flag</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Same-index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output edited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Other input changed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ALL+ACP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17373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SINGLE+ACP</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broken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0" name="Text 6"/>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fields per flag; Recorded: do Core's signatures survive an edit?</a:t>
            </a:r>
            <a:endParaRPr lang="en-US" sz="1150" dirty="0"/>
          </a:p>
        </p:txBody>
      </p:sp>
      <p:sp>
        <p:nvSpPr>
          <p:cNvPr id="11" name="Shape 7"/>
          <p:cNvSpPr/>
          <p:nvPr/>
        </p:nvSpPr>
        <p:spPr>
          <a:xfrm>
            <a:off x="457200" y="3310128"/>
            <a:ext cx="8229600" cy="987552"/>
          </a:xfrm>
          <a:prstGeom prst="roundRect">
            <a:avLst>
              <a:gd name="adj" fmla="val 9259"/>
            </a:avLst>
          </a:prstGeom>
          <a:solidFill>
            <a:srgbClr val="23272E"/>
          </a:solidFill>
          <a:ln w="12700">
            <a:solidFill>
              <a:srgbClr val="23272E"/>
            </a:solidFill>
            <a:prstDash val="solid"/>
          </a:ln>
        </p:spPr>
      </p:sp>
      <p:sp>
        <p:nvSpPr>
          <p:cNvPr id="12" name="Text 8"/>
          <p:cNvSpPr txBox="1"/>
          <p:nvPr/>
        </p:nvSpPr>
        <p:spPr>
          <a:xfrm>
            <a:off x="640080" y="3429000"/>
            <a:ext cx="7863840" cy="74980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.join(</a:t>
            </a:r>
            <a:r>
              <a:rPr lang="en-US" sz="720" dirty="0">
                <a:solidFill>
                  <a:srgbClr val="9ECBFF"/>
                </a:solidFill>
                <a:latin typeface="Courier New" pitchFamily="34" charset="0"/>
                <a:ea typeface="Courier New" pitchFamily="34" charset="-122"/>
                <a:cs typeface="Courier New" pitchFamily="34" charset="-120"/>
              </a:rPr>
              <a:t>'Y'</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if</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else</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a:t>
            </a:r>
            <a:r>
              <a:rPr lang="en-US" sz="720" dirty="0">
                <a:solidFill>
                  <a:srgbClr val="E6EDF3"/>
                </a:solidFill>
                <a:latin typeface="Courier New" pitchFamily="34" charset="0"/>
                <a:ea typeface="Courier New" pitchFamily="34" charset="-122"/>
                <a:cs typeface="Courier New" pitchFamily="34" charset="-120"/>
              </a:rPr>
              <a:t>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x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v) </a:t>
            </a: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h, v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K.commitments_table().items()}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{'0x1': 'YYYYY', '0x2': 'Y...Y', '0x3': 'Y.Y.Y', '0x81': '..YYY', '0x82': '....Y', '0x83': '..Y.Y'}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yn(K.core_signature_survives_changes())</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YY | SINGLE .Y | ALL|ANYONECANPAY .. | NONE|ANYONECANPAY YY | SINGLE|ANYONECANPAY .Y'</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yn(K.core_anyonecanpay_survives_other_input_change())</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'ALL . | NONE . | SINGLE . | ALL|ANYONECANPAY Y | NONE|ANYONECANPAY Y | SINGLE|ANYONECANPAY Y'</a:t>
            </a:r>
            <a:endParaRPr lang="en-US" sz="720" dirty="0"/>
          </a:p>
        </p:txBody>
      </p:sp>
      <p:sp>
        <p:nvSpPr>
          <p:cNvPr id="13" name="Text 9"/>
          <p:cNvSpPr txBox="1"/>
          <p:nvPr/>
        </p:nvSpPr>
        <p:spPr>
          <a:xfrm>
            <a:off x="457200" y="4315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NONE signs no outputs, SINGLE one, ALL all; ANYONECANPAY frees other inputs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SIGHASH_SINGLE with no matching output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is silent: the legacy hash becomes the number 1, and Core 31.1 refuses to sign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Input 1 of a SINGLE signature has no output 1 to commit to, so the value that is signed is the constant one.</a:t>
            </a:r>
            <a:endParaRPr lang="en-US" sz="1250" dirty="0"/>
          </a:p>
        </p:txBody>
      </p:sp>
      <p:sp>
        <p:nvSpPr>
          <p:cNvPr id="7" name="Text 5"/>
          <p:cNvSpPr txBox="1"/>
          <p:nvPr/>
        </p:nvSpPr>
        <p:spPr>
          <a:xfrm>
            <a:off x="457200" y="1600200"/>
            <a:ext cx="54864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published vectors; the last row is Recorded</a:t>
            </a:r>
            <a:endParaRPr lang="en-US" sz="1150" dirty="0"/>
          </a:p>
        </p:txBody>
      </p:sp>
      <p:sp>
        <p:nvSpPr>
          <p:cNvPr id="8" name="Shape 6"/>
          <p:cNvSpPr/>
          <p:nvPr/>
        </p:nvSpPr>
        <p:spPr>
          <a:xfrm>
            <a:off x="457200" y="1874520"/>
            <a:ext cx="5486400" cy="1600200"/>
          </a:xfrm>
          <a:prstGeom prst="roundRect">
            <a:avLst>
              <a:gd name="adj" fmla="val 5714"/>
            </a:avLst>
          </a:prstGeom>
          <a:solidFill>
            <a:srgbClr val="23272E"/>
          </a:solidFill>
          <a:ln w="12700">
            <a:solidFill>
              <a:srgbClr val="23272E"/>
            </a:solidFill>
            <a:prstDash val="solid"/>
          </a:ln>
        </p:spPr>
      </p:sp>
      <p:sp>
        <p:nvSpPr>
          <p:cNvPr id="9" name="Text 7"/>
          <p:cNvSpPr txBox="1"/>
          <p:nvPr/>
        </p:nvSpPr>
        <p:spPr>
          <a:xfrm>
            <a:off x="640080" y="1993392"/>
            <a:ext cx="5120640" cy="13624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K.single_bug_hash()  </a:t>
            </a:r>
            <a:r>
              <a:rPr lang="en-US" sz="1000" i="1" dirty="0">
                <a:solidFill>
                  <a:srgbClr val="8FA98F"/>
                </a:solidFill>
                <a:latin typeface="Courier New" pitchFamily="34" charset="0"/>
                <a:ea typeface="Courier New" pitchFamily="34" charset="-122"/>
                <a:cs typeface="Courier New" pitchFamily="34" charset="-120"/>
              </a:rPr>
              <a:t># input 1, no output 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'0100000000000000000000000000000000000000000000000000000000000000'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K.single_bug_equals_uint256_one()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K.sighash_json_vectors()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(500, 500, 8)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K.core_refuses_single_bug_signature()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a:t>
            </a:r>
            <a:endParaRPr lang="en-US" sz="1000" dirty="0"/>
          </a:p>
        </p:txBody>
      </p:sp>
      <p:sp>
        <p:nvSpPr>
          <p:cNvPr id="10" name="Text 8"/>
          <p:cNvSpPr txBox="1"/>
          <p:nvPr/>
        </p:nvSpPr>
        <p:spPr>
          <a:xfrm>
            <a:off x="457200" y="3493008"/>
            <a:ext cx="5486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6126480" y="182194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6400800" y="1600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legacy hash when input 1 has no output 1</a:t>
            </a:r>
            <a:endParaRPr lang="en-US" sz="1050" dirty="0"/>
          </a:p>
        </p:txBody>
      </p:sp>
      <p:sp>
        <p:nvSpPr>
          <p:cNvPr id="13" name="Shape 11"/>
          <p:cNvSpPr/>
          <p:nvPr/>
        </p:nvSpPr>
        <p:spPr>
          <a:xfrm>
            <a:off x="6126480" y="239344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6400800" y="2171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it is the 32-byte number one, 01 then 31 zero bytes</a:t>
            </a:r>
            <a:endParaRPr lang="en-US" sz="1050" dirty="0"/>
          </a:p>
        </p:txBody>
      </p:sp>
      <p:sp>
        <p:nvSpPr>
          <p:cNvPr id="15" name="Shape 13"/>
          <p:cNvSpPr/>
          <p:nvPr/>
        </p:nvSpPr>
        <p:spPr>
          <a:xfrm>
            <a:off x="6126480" y="296494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6400800" y="27432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Core's 500 published hash vectors reproduce here</a:t>
            </a:r>
            <a:endParaRPr lang="en-US" sz="1050" dirty="0"/>
          </a:p>
        </p:txBody>
      </p:sp>
      <p:sp>
        <p:nvSpPr>
          <p:cNvPr id="17" name="Shape 15"/>
          <p:cNvSpPr/>
          <p:nvPr/>
        </p:nvSpPr>
        <p:spPr>
          <a:xfrm>
            <a:off x="6126480" y="353644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6400800" y="3314700"/>
            <a:ext cx="2286000" cy="5715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Core refuses to sign (False), but signs when each input has an output (True)</a:t>
            </a:r>
            <a:endParaRPr lang="en-US" sz="1050" dirty="0"/>
          </a:p>
        </p:txBody>
      </p:sp>
      <p:sp>
        <p:nvSpPr>
          <p:cNvPr id="19" name="Shape 17"/>
          <p:cNvSpPr/>
          <p:nvPr/>
        </p:nvSpPr>
        <p:spPr>
          <a:xfrm>
            <a:off x="457200" y="3840480"/>
            <a:ext cx="2150669"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840480"/>
            <a:ext cx="2150669"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legacy hash only</a:t>
            </a:r>
            <a:endParaRPr lang="en-US" sz="1050" dirty="0"/>
          </a:p>
        </p:txBody>
      </p:sp>
      <p:sp>
        <p:nvSpPr>
          <p:cNvPr id="21" name="Shape 19"/>
          <p:cNvSpPr/>
          <p:nvPr/>
        </p:nvSpPr>
        <p:spPr>
          <a:xfrm>
            <a:off x="2809037" y="3840480"/>
            <a:ext cx="2371496"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09037" y="3840480"/>
            <a:ext cx="2371496"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500 of 500 vectors</a:t>
            </a:r>
            <a:endParaRPr lang="en-US" sz="1050" dirty="0"/>
          </a:p>
        </p:txBody>
      </p:sp>
      <p:sp>
        <p:nvSpPr>
          <p:cNvPr id="23" name="Shape 21"/>
          <p:cNvSpPr/>
          <p:nvPr/>
        </p:nvSpPr>
        <p:spPr>
          <a:xfrm>
            <a:off x="5381701" y="3840480"/>
            <a:ext cx="248191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381701" y="3840480"/>
            <a:ext cx="248191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Core 31.1.0 refuses</a:t>
            </a:r>
            <a:endParaRPr lang="en-US" sz="10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SINGLE with no matching output signs the number one; Core refuses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Schnorr signatures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 proof of identity to the 64-byte signature of taproot, and what its linearity allows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 then sign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patent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BIP340 in practice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that add up</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proof of identity to a signature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verifier's random challenge is replaced by a hash of the commitment, key and message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Commit, challenge, respond: the verifier checks sG = kG + eX, and a hash can play the verifier.</a:t>
            </a:r>
            <a:endParaRPr lang="en-US" sz="1250" dirty="0"/>
          </a:p>
        </p:txBody>
      </p:sp>
      <p:sp>
        <p:nvSpPr>
          <p:cNvPr id="7" name="Shape 5"/>
          <p:cNvSpPr/>
          <p:nvPr/>
        </p:nvSpPr>
        <p:spPr>
          <a:xfrm>
            <a:off x="457200" y="1572768"/>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kG</a:t>
            </a:r>
            <a:endParaRPr lang="en-US" sz="1150" dirty="0"/>
          </a:p>
        </p:txBody>
      </p:sp>
      <p:sp>
        <p:nvSpPr>
          <p:cNvPr id="9" name="Shape 7"/>
          <p:cNvSpPr/>
          <p:nvPr/>
        </p:nvSpPr>
        <p:spPr>
          <a:xfrm>
            <a:off x="2938272" y="1892808"/>
            <a:ext cx="365760" cy="0"/>
          </a:xfrm>
          <a:prstGeom prst="line">
            <a:avLst/>
          </a:prstGeom>
          <a:noFill/>
          <a:ln w="25400">
            <a:solidFill>
              <a:srgbClr val="D97A14"/>
            </a:solidFill>
            <a:prstDash val="solid"/>
            <a:tailEnd type="triangle"/>
          </a:ln>
        </p:spPr>
      </p:sp>
      <p:sp>
        <p:nvSpPr>
          <p:cNvPr id="10" name="Shape 8"/>
          <p:cNvSpPr/>
          <p:nvPr/>
        </p:nvSpPr>
        <p:spPr>
          <a:xfrm>
            <a:off x="3358896" y="1572768"/>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Challenge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verifier sends e</a:t>
            </a:r>
            <a:endParaRPr lang="en-US" sz="1150" dirty="0"/>
          </a:p>
        </p:txBody>
      </p:sp>
      <p:sp>
        <p:nvSpPr>
          <p:cNvPr id="12" name="Shape 10"/>
          <p:cNvSpPr/>
          <p:nvPr/>
        </p:nvSpPr>
        <p:spPr>
          <a:xfrm>
            <a:off x="5839968" y="1892808"/>
            <a:ext cx="365760" cy="0"/>
          </a:xfrm>
          <a:prstGeom prst="line">
            <a:avLst/>
          </a:prstGeom>
          <a:noFill/>
          <a:ln w="25400">
            <a:solidFill>
              <a:srgbClr val="D97A14"/>
            </a:solidFill>
            <a:prstDash val="solid"/>
            <a:tailEnd type="triangle"/>
          </a:ln>
        </p:spPr>
      </p:sp>
      <p:sp>
        <p:nvSpPr>
          <p:cNvPr id="13" name="Shape 11"/>
          <p:cNvSpPr/>
          <p:nvPr/>
        </p:nvSpPr>
        <p:spPr>
          <a:xfrm>
            <a:off x="6260592" y="1572768"/>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18488"/>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Respond</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prover sends s = k + e x</a:t>
            </a:r>
            <a:endParaRPr lang="en-US" sz="1150" dirty="0"/>
          </a:p>
        </p:txBody>
      </p:sp>
      <p:sp>
        <p:nvSpPr>
          <p:cNvPr id="15" name="Text 13"/>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toy, the curve, a cheat, a signature</a:t>
            </a:r>
            <a:endParaRPr lang="en-US" sz="1150" dirty="0"/>
          </a:p>
        </p:txBody>
      </p:sp>
      <p:sp>
        <p:nvSpPr>
          <p:cNvPr id="16" name="Shape 14"/>
          <p:cNvSpPr/>
          <p:nvPr/>
        </p:nvSpPr>
        <p:spPr>
          <a:xfrm>
            <a:off x="457200" y="2743200"/>
            <a:ext cx="5120640" cy="1591056"/>
          </a:xfrm>
          <a:prstGeom prst="roundRect">
            <a:avLst>
              <a:gd name="adj" fmla="val 5747"/>
            </a:avLst>
          </a:prstGeom>
          <a:solidFill>
            <a:srgbClr val="23272E"/>
          </a:solidFill>
          <a:ln w="12700">
            <a:solidFill>
              <a:srgbClr val="23272E"/>
            </a:solidFill>
            <a:prstDash val="solid"/>
          </a:ln>
        </p:spPr>
      </p:sp>
      <p:sp>
        <p:nvSpPr>
          <p:cNvPr id="17" name="Text 15"/>
          <p:cNvSpPr txBox="1"/>
          <p:nvPr/>
        </p:nvSpPr>
        <p:spPr>
          <a:xfrm>
            <a:off x="640080" y="2862072"/>
            <a:ext cx="4754880" cy="1353312"/>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K.toy()  </a:t>
            </a:r>
            <a:r>
              <a:rPr lang="en-US" sz="1000" i="1" dirty="0">
                <a:solidFill>
                  <a:srgbClr val="8FA98F"/>
                </a:solidFill>
                <a:latin typeface="Courier New" pitchFamily="34" charset="0"/>
                <a:ea typeface="Courier New" pitchFamily="34" charset="-122"/>
                <a:cs typeface="Courier New" pitchFamily="34" charset="-120"/>
              </a:rPr>
              <a:t># a small field 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 35, 40, 200, 165, True, 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K.identity_round_secp256k1(), K.identity_wrong_s()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K.impersonation_without_x()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K.fiat_shamir_signature()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8" name="Text 16"/>
          <p:cNvSpPr txBox="1"/>
          <p:nvPr/>
        </p:nvSpPr>
        <p:spPr>
          <a:xfrm>
            <a:off x="457200" y="4352544"/>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760720" y="2583180"/>
            <a:ext cx="128016" cy="128016"/>
          </a:xfrm>
          <a:prstGeom prst="diamond">
            <a:avLst/>
          </a:prstGeom>
          <a:solidFill>
            <a:srgbClr val="D97A14"/>
          </a:solidFill>
          <a:ln w="12700">
            <a:solidFill>
              <a:srgbClr val="D97A14"/>
            </a:solidFill>
            <a:prstDash val="solid"/>
          </a:ln>
        </p:spPr>
      </p:sp>
      <p:sp>
        <p:nvSpPr>
          <p:cNvPr id="20" name="Text 18"/>
          <p:cNvSpPr txBox="1"/>
          <p:nvPr/>
        </p:nvSpPr>
        <p:spPr>
          <a:xfrm>
            <a:off x="6035040" y="239572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toy numbers, s is 40 and sG equals kG + e xG</a:t>
            </a:r>
            <a:endParaRPr lang="en-US" sz="1050" dirty="0"/>
          </a:p>
        </p:txBody>
      </p:sp>
      <p:sp>
        <p:nvSpPr>
          <p:cNvPr id="21" name="Shape 19"/>
          <p:cNvSpPr/>
          <p:nvPr/>
        </p:nvSpPr>
        <p:spPr>
          <a:xfrm>
            <a:off x="5760720" y="3086100"/>
            <a:ext cx="128016" cy="128016"/>
          </a:xfrm>
          <a:prstGeom prst="diamond">
            <a:avLst/>
          </a:prstGeom>
          <a:solidFill>
            <a:srgbClr val="D97A14"/>
          </a:solidFill>
          <a:ln w="12700">
            <a:solidFill>
              <a:srgbClr val="D97A14"/>
            </a:solidFill>
            <a:prstDash val="solid"/>
          </a:ln>
        </p:spPr>
      </p:sp>
      <p:sp>
        <p:nvSpPr>
          <p:cNvPr id="22" name="Text 20"/>
          <p:cNvSpPr txBox="1"/>
          <p:nvPr/>
        </p:nvSpPr>
        <p:spPr>
          <a:xfrm>
            <a:off x="6035040" y="289864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round verifies; a response one too large fails</a:t>
            </a:r>
            <a:endParaRPr lang="en-US" sz="1050" dirty="0"/>
          </a:p>
        </p:txBody>
      </p:sp>
      <p:sp>
        <p:nvSpPr>
          <p:cNvPr id="23" name="Shape 21"/>
          <p:cNvSpPr/>
          <p:nvPr/>
        </p:nvSpPr>
        <p:spPr>
          <a:xfrm>
            <a:off x="5760720" y="3589020"/>
            <a:ext cx="128016" cy="128016"/>
          </a:xfrm>
          <a:prstGeom prst="diamond">
            <a:avLst/>
          </a:prstGeom>
          <a:solidFill>
            <a:srgbClr val="D97A14"/>
          </a:solidFill>
          <a:ln w="12700">
            <a:solidFill>
              <a:srgbClr val="D97A14"/>
            </a:solidFill>
            <a:prstDash val="solid"/>
          </a:ln>
        </p:spPr>
      </p:sp>
      <p:sp>
        <p:nvSpPr>
          <p:cNvPr id="24" name="Text 22"/>
          <p:cNvSpPr txBox="1"/>
          <p:nvPr/>
        </p:nvSpPr>
        <p:spPr>
          <a:xfrm>
            <a:off x="6035040" y="340156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told the challenge first, a cheat passes without x</a:t>
            </a:r>
            <a:endParaRPr lang="en-US" sz="1050" dirty="0"/>
          </a:p>
        </p:txBody>
      </p:sp>
      <p:sp>
        <p:nvSpPr>
          <p:cNvPr id="25" name="Shape 23"/>
          <p:cNvSpPr/>
          <p:nvPr/>
        </p:nvSpPr>
        <p:spPr>
          <a:xfrm>
            <a:off x="5760720" y="4091940"/>
            <a:ext cx="128016" cy="128016"/>
          </a:xfrm>
          <a:prstGeom prst="diamond">
            <a:avLst/>
          </a:prstGeom>
          <a:solidFill>
            <a:srgbClr val="D97A14"/>
          </a:solidFill>
          <a:ln w="12700">
            <a:solidFill>
              <a:srgbClr val="D97A14"/>
            </a:solidFill>
            <a:prstDash val="solid"/>
          </a:ln>
        </p:spPr>
      </p:sp>
      <p:sp>
        <p:nvSpPr>
          <p:cNvPr id="26" name="Text 24"/>
          <p:cNvSpPr txBox="1"/>
          <p:nvPr/>
        </p:nvSpPr>
        <p:spPr>
          <a:xfrm>
            <a:off x="6035040" y="3904488"/>
            <a:ext cx="2651760" cy="50292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hash for the verifier: the right message verifies, another fails</a:t>
            </a:r>
            <a:endParaRPr lang="en-US" sz="10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schnorr signature is a three-move proof in which a hash plays the verifier</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signature that was patented for two decades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February 1991: who, where, when and what to read next</a:t>
            </a:r>
            <a:endParaRPr lang="en-US" sz="1300" dirty="0"/>
          </a:p>
        </p:txBody>
      </p:sp>
      <p:pic>
        <p:nvPicPr>
          <p:cNvPr id="6" name="Image 0" descr="../../03-materials/ch08/assets/ch08_schnorr.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 19 February 1991 the United States publishes patent 4,995,082 for Claus-Peter Schnorr's scheme, filed in 1990</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Cryptographers wanted a free alternative and built DSA and ECDSA, the only signature Bitcoin knew until 2021</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term was the greater of 17 years from grant and 20 from filing; Wikipedia says it ended in February 2010</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both patent end dates, then the years to taproot</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K.patent_dates()  </a:t>
            </a:r>
            <a:r>
              <a:rPr lang="en-US" sz="900" i="1" dirty="0">
                <a:solidFill>
                  <a:srgbClr val="8FA98F"/>
                </a:solidFill>
                <a:latin typeface="Courier New" pitchFamily="34" charset="0"/>
                <a:ea typeface="Courier New" pitchFamily="34" charset="-122"/>
                <a:cs typeface="Courier New" pitchFamily="34" charset="-120"/>
              </a:rPr>
              <a:t># filed, granted, expired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['2008-02-19', '2010-02-23',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K.schnorr_to_taproot_years()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 32]</a:t>
            </a:r>
            <a:endParaRPr lang="en-US" sz="90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Claus-Peter Schnorr, the cryptographer…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United States patent office for Un…</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1991-02-19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BIP340 in practice: 64 bytes, x-only keys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against the published vectors; the batch speed-up is NOT EXECUTED</a:t>
            </a:r>
            <a:endParaRPr lang="en-US" sz="1300" dirty="0"/>
          </a:p>
        </p:txBody>
      </p:sp>
      <p:sp>
        <p:nvSpPr>
          <p:cNvPr id="6" name="Text 4"/>
          <p:cNvSpPr txBox="1"/>
          <p:nvPr/>
        </p:nvSpPr>
        <p:spPr>
          <a:xfrm>
            <a:off x="457200" y="1325880"/>
            <a:ext cx="4480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the published vectors and the format</a:t>
            </a:r>
            <a:endParaRPr lang="en-US" sz="1150" dirty="0"/>
          </a:p>
        </p:txBody>
      </p:sp>
      <p:sp>
        <p:nvSpPr>
          <p:cNvPr id="7" name="Shape 5"/>
          <p:cNvSpPr/>
          <p:nvPr/>
        </p:nvSpPr>
        <p:spPr>
          <a:xfrm>
            <a:off x="457200" y="1600200"/>
            <a:ext cx="4480560" cy="2240280"/>
          </a:xfrm>
          <a:prstGeom prst="roundRect">
            <a:avLst>
              <a:gd name="adj" fmla="val 4082"/>
            </a:avLst>
          </a:prstGeom>
          <a:solidFill>
            <a:srgbClr val="23272E"/>
          </a:solidFill>
          <a:ln w="12700">
            <a:solidFill>
              <a:srgbClr val="23272E"/>
            </a:solidFill>
            <a:prstDash val="solid"/>
          </a:ln>
        </p:spPr>
      </p:sp>
      <p:sp>
        <p:nvSpPr>
          <p:cNvPr id="8" name="Text 6"/>
          <p:cNvSpPr txBox="1"/>
          <p:nvPr/>
        </p:nvSpPr>
        <p:spPr>
          <a:xfrm>
            <a:off x="640080" y="1719072"/>
            <a:ext cx="4114800" cy="20025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K.bip340_vectors()  </a:t>
            </a:r>
            <a:r>
              <a:rPr lang="en-US" sz="850" i="1" dirty="0">
                <a:solidFill>
                  <a:srgbClr val="8FA98F"/>
                </a:solidFill>
                <a:latin typeface="Courier New" pitchFamily="34" charset="0"/>
                <a:ea typeface="Courier New" pitchFamily="34" charset="-122"/>
                <a:cs typeface="Courier New" pitchFamily="34" charset="-120"/>
              </a:rPr>
              <a:t># published tests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[19, 19, 8, 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K.signature_sizes()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True), (65,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K.xonly_even_y()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K.bip340_default_signing_deterministic()</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K.related_key_attack()</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K.batch_equation()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 True, False]</a:t>
            </a:r>
            <a:endParaRPr lang="en-US" sz="850" dirty="0"/>
          </a:p>
        </p:txBody>
      </p:sp>
      <p:sp>
        <p:nvSpPr>
          <p:cNvPr id="9" name="Text 7"/>
          <p:cNvSpPr txBox="1"/>
          <p:nvPr/>
        </p:nvSpPr>
        <p:spPr>
          <a:xfrm>
            <a:off x="457200" y="3858768"/>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120640" y="147142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394960" y="13258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1: 19 published vectors; 19 verdicts match, and 8 secret keys reproduce key and signature</a:t>
            </a:r>
            <a:endParaRPr lang="en-US" sz="950" dirty="0"/>
          </a:p>
        </p:txBody>
      </p:sp>
      <p:sp>
        <p:nvSpPr>
          <p:cNvPr id="12" name="Shape 10"/>
          <p:cNvSpPr/>
          <p:nvPr/>
        </p:nvSpPr>
        <p:spPr>
          <a:xfrm>
            <a:off x="5120640" y="189052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394960" y="17449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64 bytes, or 65 with an explicit hash type; both verify</a:t>
            </a:r>
            <a:endParaRPr lang="en-US" sz="950" dirty="0"/>
          </a:p>
        </p:txBody>
      </p:sp>
      <p:sp>
        <p:nvSpPr>
          <p:cNvPr id="14" name="Shape 12"/>
          <p:cNvSpPr/>
          <p:nvPr/>
        </p:nvSpPr>
        <p:spPr>
          <a:xfrm>
            <a:off x="5120640" y="23096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394960" y="21640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3: keys are 32 bytes; the signer negates the key when y is odd</a:t>
            </a:r>
            <a:endParaRPr lang="en-US" sz="950" dirty="0"/>
          </a:p>
        </p:txBody>
      </p:sp>
      <p:sp>
        <p:nvSpPr>
          <p:cNvPr id="16" name="Shape 14"/>
          <p:cNvSpPr/>
          <p:nvPr/>
        </p:nvSpPr>
        <p:spPr>
          <a:xfrm>
            <a:off x="5120640" y="272872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394960" y="25831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default signing is deterministic; another aux value still verifies</a:t>
            </a:r>
            <a:endParaRPr lang="en-US" sz="950" dirty="0"/>
          </a:p>
        </p:txBody>
      </p:sp>
      <p:sp>
        <p:nvSpPr>
          <p:cNvPr id="18" name="Shape 16"/>
          <p:cNvSpPr/>
          <p:nvPr/>
        </p:nvSpPr>
        <p:spPr>
          <a:xfrm>
            <a:off x="5120640" y="31478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394960" y="30022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5: without key prefixing a forgery works for P + aG; with it, it fails</a:t>
            </a:r>
            <a:endParaRPr lang="en-US" sz="950" dirty="0"/>
          </a:p>
        </p:txBody>
      </p:sp>
      <p:sp>
        <p:nvSpPr>
          <p:cNvPr id="20" name="Shape 18"/>
          <p:cNvSpPr/>
          <p:nvPr/>
        </p:nvSpPr>
        <p:spPr>
          <a:xfrm>
            <a:off x="5120640" y="356692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5394960" y="3421380"/>
            <a:ext cx="3291840" cy="4191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6: nine valid signatures pass one equation; one swapped fails the batch</a:t>
            </a:r>
            <a:endParaRPr lang="en-US" sz="950" dirty="0"/>
          </a:p>
        </p:txBody>
      </p:sp>
      <p:sp>
        <p:nvSpPr>
          <p:cNvPr id="22" name="Text 20"/>
          <p:cNvSpPr txBox="1"/>
          <p:nvPr/>
        </p:nvSpPr>
        <p:spPr>
          <a:xfrm>
            <a:off x="457200" y="4114800"/>
            <a:ext cx="8229600" cy="411480"/>
          </a:xfrm>
          <a:prstGeom prst="rect">
            <a:avLst/>
          </a:prstGeom>
          <a:noFill/>
          <a:ln/>
        </p:spPr>
        <p:txBody>
          <a:bodyPr wrap="square" lIns="0" tIns="0" rIns="0" bIns="0" rtlCol="0" anchor="t"/>
          <a:lstStyle/>
          <a:p>
            <a:pPr algn="l" indent="0" marL="0">
              <a:buNone/>
            </a:pPr>
            <a:r>
              <a:rPr lang="en-US" sz="1100" b="1" dirty="0">
                <a:solidFill>
                  <a:srgbClr val="D97A14"/>
                </a:solidFill>
                <a:latin typeface="Calibri" pitchFamily="34" charset="0"/>
                <a:ea typeface="Calibri" pitchFamily="34" charset="-122"/>
                <a:cs typeface="Calibri" pitchFamily="34" charset="-120"/>
              </a:rPr>
              <a:t>NOT EXECUTED: the speed-up of batch verification. The equation is run; the library lists no batch interface, so nothing was timed.</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equation checks one signature or a batch; the speed-up was not measured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Keys that add up, and the trap in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Adding keys gives one signature for two people; MuSig2 closes the cancellation hole</a:t>
            </a:r>
            <a:endParaRPr lang="en-US" sz="1300" dirty="0"/>
          </a:p>
        </p:txBody>
      </p:sp>
      <p:sp>
        <p:nvSpPr>
          <p:cNvPr id="6" name="Text 4"/>
          <p:cNvSpPr txBox="1"/>
          <p:nvPr/>
        </p:nvSpPr>
        <p:spPr>
          <a:xfrm>
            <a:off x="457200" y="13258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add keys, cancel a key, MuSig2</a:t>
            </a:r>
            <a:endParaRPr lang="en-US" sz="1150" dirty="0"/>
          </a:p>
        </p:txBody>
      </p:sp>
      <p:sp>
        <p:nvSpPr>
          <p:cNvPr id="7" name="Shape 5"/>
          <p:cNvSpPr/>
          <p:nvPr/>
        </p:nvSpPr>
        <p:spPr>
          <a:xfrm>
            <a:off x="457200" y="1600200"/>
            <a:ext cx="41148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719072"/>
            <a:ext cx="3749040" cy="16824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K.linearity()  </a:t>
            </a:r>
            <a:r>
              <a:rPr lang="en-US" sz="1000" i="1" dirty="0">
                <a:solidFill>
                  <a:srgbClr val="8FA98F"/>
                </a:solidFill>
                <a:latin typeface="Courier New" pitchFamily="34" charset="0"/>
                <a:ea typeface="Courier New" pitchFamily="34" charset="-122"/>
                <a:cs typeface="Courier New" pitchFamily="34" charset="-120"/>
              </a:rPr>
              <a:t># keys add, so do signatures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K.naive_multisig()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K.key_cancellation()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K.musig2_keyagg_vectors()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K.musig2_blocks_cancellation()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9" name="Text 7"/>
          <p:cNvSpPr txBox="1"/>
          <p:nvPr/>
        </p:nvSpPr>
        <p:spPr>
          <a:xfrm>
            <a:off x="457200" y="35387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754880" y="14859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5029200" y="1325880"/>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signing is linear in the key: additive and homogeneous</a:t>
            </a:r>
            <a:endParaRPr lang="en-US" sz="1000" dirty="0"/>
          </a:p>
        </p:txBody>
      </p:sp>
      <p:sp>
        <p:nvSpPr>
          <p:cNvPr id="12" name="Shape 10"/>
          <p:cNvSpPr/>
          <p:nvPr/>
        </p:nvSpPr>
        <p:spPr>
          <a:xfrm>
            <a:off x="4754880" y="19339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029200" y="1773936"/>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keys and two responses added give one valid signature</a:t>
            </a:r>
            <a:endParaRPr lang="en-US" sz="1000" dirty="0"/>
          </a:p>
        </p:txBody>
      </p:sp>
      <p:sp>
        <p:nvSpPr>
          <p:cNvPr id="14" name="Shape 12"/>
          <p:cNvSpPr/>
          <p:nvPr/>
        </p:nvSpPr>
        <p:spPr>
          <a:xfrm>
            <a:off x="4754880" y="238201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029200" y="2221992"/>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publishes zG minus yG; the sum is zG and Bob signs alone</a:t>
            </a:r>
            <a:endParaRPr lang="en-US" sz="1000" dirty="0"/>
          </a:p>
        </p:txBody>
      </p:sp>
      <p:sp>
        <p:nvSpPr>
          <p:cNvPr id="16" name="Shape 14"/>
          <p:cNvSpPr/>
          <p:nvPr/>
        </p:nvSpPr>
        <p:spPr>
          <a:xfrm>
            <a:off x="4754880" y="2830068"/>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029200" y="2670048"/>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BIP327's four published key aggregation vectors reproduce</a:t>
            </a:r>
            <a:endParaRPr lang="en-US" sz="1000" dirty="0"/>
          </a:p>
        </p:txBody>
      </p:sp>
      <p:sp>
        <p:nvSpPr>
          <p:cNvPr id="18" name="Shape 16"/>
          <p:cNvSpPr/>
          <p:nvPr/>
        </p:nvSpPr>
        <p:spPr>
          <a:xfrm>
            <a:off x="4754880" y="327812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029200" y="3118104"/>
            <a:ext cx="3657600" cy="44805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same attack on MuSig2 keys gives Bob no control</a:t>
            </a:r>
            <a:endParaRPr lang="en-US" sz="1000" dirty="0"/>
          </a:p>
        </p:txBody>
      </p:sp>
      <p:sp>
        <p:nvSpPr>
          <p:cNvPr id="20" name="Text 18"/>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150" i="1" dirty="0">
                <a:solidFill>
                  <a:srgbClr val="6E655C"/>
                </a:solidFill>
                <a:latin typeface="Calibri" pitchFamily="34" charset="0"/>
                <a:ea typeface="Calibri" pitchFamily="34" charset="-122"/>
                <a:cs typeface="Calibri" pitchFamily="34" charset="-120"/>
              </a:rPr>
              <a:t>Like mixing paints: anyone can add colours, but a partner who sees yours first can choose a colour that hides it.</a:t>
            </a:r>
            <a:endParaRPr lang="en-US" sz="11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Plain key addition invites cancellation; MuSig2 hashed weights stop it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Threshold signatures: any two of three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Shamir's line through points; no BIP for a threshold scheme has a number yet</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Like a treasure map torn in three: any two pieces show the place, one piece shows nothing.</a:t>
            </a:r>
            <a:endParaRPr lang="en-US" sz="1250" dirty="0"/>
          </a:p>
        </p:txBody>
      </p:sp>
      <p:sp>
        <p:nvSpPr>
          <p:cNvPr id="7" name="Shape 5"/>
          <p:cNvSpPr/>
          <p:nvPr/>
        </p:nvSpPr>
        <p:spPr>
          <a:xfrm>
            <a:off x="457200" y="1600200"/>
            <a:ext cx="2426208" cy="640080"/>
          </a:xfrm>
          <a:prstGeom prst="roundRect">
            <a:avLst>
              <a:gd name="adj" fmla="val 14286"/>
            </a:avLst>
          </a:prstGeom>
          <a:solidFill>
            <a:srgbClr val="2F6D62"/>
          </a:solidFill>
          <a:ln w="12700">
            <a:solidFill>
              <a:srgbClr val="2F6D62"/>
            </a:solidFill>
            <a:prstDash val="solid"/>
          </a:ln>
        </p:spPr>
      </p:sp>
      <p:sp>
        <p:nvSpPr>
          <p:cNvPr id="8" name="Text 6"/>
          <p:cNvSpPr txBox="1"/>
          <p:nvPr/>
        </p:nvSpPr>
        <p:spPr>
          <a:xfrm>
            <a:off x="530352"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Split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secret on a line, shares at x = 1, 2, 3</a:t>
            </a:r>
            <a:endParaRPr lang="en-US" sz="1150" dirty="0"/>
          </a:p>
        </p:txBody>
      </p:sp>
      <p:sp>
        <p:nvSpPr>
          <p:cNvPr id="9" name="Shape 7"/>
          <p:cNvSpPr/>
          <p:nvPr/>
        </p:nvSpPr>
        <p:spPr>
          <a:xfrm>
            <a:off x="2938272" y="1920240"/>
            <a:ext cx="365760" cy="0"/>
          </a:xfrm>
          <a:prstGeom prst="line">
            <a:avLst/>
          </a:prstGeom>
          <a:noFill/>
          <a:ln w="25400">
            <a:solidFill>
              <a:srgbClr val="D97A14"/>
            </a:solidFill>
            <a:prstDash val="solid"/>
            <a:tailEnd type="triangle"/>
          </a:ln>
        </p:spPr>
      </p:sp>
      <p:sp>
        <p:nvSpPr>
          <p:cNvPr id="10" name="Shape 8"/>
          <p:cNvSpPr/>
          <p:nvPr/>
        </p:nvSpPr>
        <p:spPr>
          <a:xfrm>
            <a:off x="3358896" y="1600200"/>
            <a:ext cx="2426208" cy="640080"/>
          </a:xfrm>
          <a:prstGeom prst="roundRect">
            <a:avLst>
              <a:gd name="adj" fmla="val 14286"/>
            </a:avLst>
          </a:prstGeom>
          <a:solidFill>
            <a:srgbClr val="2F6D62"/>
          </a:solidFill>
          <a:ln w="12700">
            <a:solidFill>
              <a:srgbClr val="2F6D62"/>
            </a:solidFill>
            <a:prstDash val="solid"/>
          </a:ln>
        </p:spPr>
      </p:sp>
      <p:sp>
        <p:nvSpPr>
          <p:cNvPr id="11" name="Text 9"/>
          <p:cNvSpPr txBox="1"/>
          <p:nvPr/>
        </p:nvSpPr>
        <p:spPr>
          <a:xfrm>
            <a:off x="3432048"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Combine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any two shares rebuild the secret</a:t>
            </a:r>
            <a:endParaRPr lang="en-US" sz="1150" dirty="0"/>
          </a:p>
        </p:txBody>
      </p:sp>
      <p:sp>
        <p:nvSpPr>
          <p:cNvPr id="12" name="Shape 10"/>
          <p:cNvSpPr/>
          <p:nvPr/>
        </p:nvSpPr>
        <p:spPr>
          <a:xfrm>
            <a:off x="5839968" y="1920240"/>
            <a:ext cx="365760" cy="0"/>
          </a:xfrm>
          <a:prstGeom prst="line">
            <a:avLst/>
          </a:prstGeom>
          <a:noFill/>
          <a:ln w="25400">
            <a:solidFill>
              <a:srgbClr val="D97A14"/>
            </a:solidFill>
            <a:prstDash val="solid"/>
            <a:tailEnd type="triangle"/>
          </a:ln>
        </p:spPr>
      </p:sp>
      <p:sp>
        <p:nvSpPr>
          <p:cNvPr id="13" name="Shape 11"/>
          <p:cNvSpPr/>
          <p:nvPr/>
        </p:nvSpPr>
        <p:spPr>
          <a:xfrm>
            <a:off x="6260592" y="1600200"/>
            <a:ext cx="2426208" cy="640080"/>
          </a:xfrm>
          <a:prstGeom prst="roundRect">
            <a:avLst>
              <a:gd name="adj" fmla="val 14286"/>
            </a:avLst>
          </a:prstGeom>
          <a:solidFill>
            <a:srgbClr val="2F6D62"/>
          </a:solidFill>
          <a:ln w="12700">
            <a:solidFill>
              <a:srgbClr val="2F6D62"/>
            </a:solidFill>
            <a:prstDash val="solid"/>
          </a:ln>
        </p:spPr>
      </p:sp>
      <p:sp>
        <p:nvSpPr>
          <p:cNvPr id="14" name="Text 12"/>
          <p:cNvSpPr txBox="1"/>
          <p:nvPr/>
        </p:nvSpPr>
        <p:spPr>
          <a:xfrm>
            <a:off x="6333744" y="1645920"/>
            <a:ext cx="2279904"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Hide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one share fits every secret</a:t>
            </a:r>
            <a:endParaRPr lang="en-US" sz="1150" dirty="0"/>
          </a:p>
        </p:txBody>
      </p:sp>
      <p:sp>
        <p:nvSpPr>
          <p:cNvPr id="15" name="Text 13"/>
          <p:cNvSpPr txBox="1"/>
          <p:nvPr/>
        </p:nvSpPr>
        <p:spPr>
          <a:xfrm>
            <a:off x="457200" y="2560320"/>
            <a:ext cx="4572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shares, secrecy, a trick, the BIP index</a:t>
            </a:r>
            <a:endParaRPr lang="en-US" sz="1150" dirty="0"/>
          </a:p>
        </p:txBody>
      </p:sp>
      <p:sp>
        <p:nvSpPr>
          <p:cNvPr id="16" name="Shape 14"/>
          <p:cNvSpPr/>
          <p:nvPr/>
        </p:nvSpPr>
        <p:spPr>
          <a:xfrm>
            <a:off x="457200" y="2834640"/>
            <a:ext cx="4572000" cy="1481328"/>
          </a:xfrm>
          <a:prstGeom prst="roundRect">
            <a:avLst>
              <a:gd name="adj" fmla="val 6173"/>
            </a:avLst>
          </a:prstGeom>
          <a:solidFill>
            <a:srgbClr val="23272E"/>
          </a:solidFill>
          <a:ln w="12700">
            <a:solidFill>
              <a:srgbClr val="23272E"/>
            </a:solidFill>
            <a:prstDash val="solid"/>
          </a:ln>
        </p:spPr>
      </p:sp>
      <p:sp>
        <p:nvSpPr>
          <p:cNvPr id="17" name="Text 15"/>
          <p:cNvSpPr txBox="1"/>
          <p:nvPr/>
        </p:nvSpPr>
        <p:spPr>
          <a:xfrm>
            <a:off x="640080" y="2953512"/>
            <a:ext cx="42062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K.shamir_any_two_of_three()  </a:t>
            </a:r>
            <a:r>
              <a:rPr lang="en-US" sz="910" i="1" dirty="0">
                <a:solidFill>
                  <a:srgbClr val="8FA98F"/>
                </a:solidFill>
                <a:latin typeface="Courier New" pitchFamily="34" charset="0"/>
                <a:ea typeface="Courier New" pitchFamily="34" charset="-122"/>
                <a:cs typeface="Courier New" pitchFamily="34" charset="-120"/>
              </a:rPr>
              <a:t># any 2 pieces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[31337, 31337, 31337]</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K.single_share_hides_secret()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K.shamir_manipulation()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K.no_threshold_bip_in_index()</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[False, 1, True, True]</a:t>
            </a:r>
            <a:endParaRPr lang="en-US" sz="910" dirty="0"/>
          </a:p>
        </p:txBody>
      </p:sp>
      <p:sp>
        <p:nvSpPr>
          <p:cNvPr id="18" name="Text 16"/>
          <p:cNvSpPr txBox="1"/>
          <p:nvPr/>
        </p:nvSpPr>
        <p:spPr>
          <a:xfrm>
            <a:off x="457200" y="4334256"/>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5212080" y="26106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5486400" y="242316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all three pairs rebuild 31337</a:t>
            </a:r>
            <a:endParaRPr lang="en-US" sz="1000" dirty="0"/>
          </a:p>
        </p:txBody>
      </p:sp>
      <p:sp>
        <p:nvSpPr>
          <p:cNvPr id="21" name="Shape 19"/>
          <p:cNvSpPr/>
          <p:nvPr/>
        </p:nvSpPr>
        <p:spPr>
          <a:xfrm>
            <a:off x="5212080" y="311353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5486400" y="292608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share is consistent with every secret</a:t>
            </a:r>
            <a:endParaRPr lang="en-US" sz="1000" dirty="0"/>
          </a:p>
        </p:txBody>
      </p:sp>
      <p:sp>
        <p:nvSpPr>
          <p:cNvPr id="23" name="Shape 21"/>
          <p:cNvSpPr/>
          <p:nvPr/>
        </p:nvSpPr>
        <p:spPr>
          <a:xfrm>
            <a:off x="5212080" y="3616452"/>
            <a:ext cx="128016" cy="128016"/>
          </a:xfrm>
          <a:prstGeom prst="diamond">
            <a:avLst/>
          </a:prstGeom>
          <a:solidFill>
            <a:srgbClr val="D97A14"/>
          </a:solidFill>
          <a:ln w="12700">
            <a:solidFill>
              <a:srgbClr val="D97A14"/>
            </a:solidFill>
            <a:prstDash val="solid"/>
          </a:ln>
        </p:spPr>
      </p:sp>
      <p:sp>
        <p:nvSpPr>
          <p:cNvPr id="24" name="Text 22"/>
          <p:cNvSpPr txBox="1"/>
          <p:nvPr/>
        </p:nvSpPr>
        <p:spPr>
          <a:xfrm>
            <a:off x="5486400" y="342900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Bob tells each partner the other is away and collects both partial keys</a:t>
            </a:r>
            <a:endParaRPr lang="en-US" sz="1000" dirty="0"/>
          </a:p>
        </p:txBody>
      </p:sp>
      <p:sp>
        <p:nvSpPr>
          <p:cNvPr id="25" name="Shape 23"/>
          <p:cNvSpPr/>
          <p:nvPr/>
        </p:nvSpPr>
        <p:spPr>
          <a:xfrm>
            <a:off x="5212080" y="41193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5486400" y="3931920"/>
            <a:ext cx="3200400" cy="5029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index has no FROST row, one use of the word threshold; Optech lists a FROST BIP</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rebuild the secret, and one share shows nothing</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ECDSA, DER and the nonce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signature Bitcoin used until 2021: formulas, encoding, a real signature and the number that must never repeat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Formulas and low 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signature in a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Deterministic nonces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Weak randomness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ECDSA: the formulas, and two forms of one signature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 s) and (R, n - s) both verify; the low form is the one the relay policy wants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signs with s = k^-1 (hash + x R) mod n; replacing s by n - s gives a second valid signature.</a:t>
            </a:r>
            <a:endParaRPr lang="en-US" sz="1250" dirty="0"/>
          </a:p>
        </p:txBody>
      </p:sp>
      <p:sp>
        <p:nvSpPr>
          <p:cNvPr id="7" name="Text 5"/>
          <p:cNvSpPr txBox="1"/>
          <p:nvPr/>
        </p:nvSpPr>
        <p:spPr>
          <a:xfrm>
            <a:off x="457200" y="16002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formulas, the second form, 200 signatures</a:t>
            </a:r>
            <a:endParaRPr lang="en-US" sz="1150" dirty="0"/>
          </a:p>
        </p:txBody>
      </p:sp>
      <p:sp>
        <p:nvSpPr>
          <p:cNvPr id="8" name="Shape 6"/>
          <p:cNvSpPr/>
          <p:nvPr/>
        </p:nvSpPr>
        <p:spPr>
          <a:xfrm>
            <a:off x="457200" y="1874520"/>
            <a:ext cx="5029200" cy="1481328"/>
          </a:xfrm>
          <a:prstGeom prst="roundRect">
            <a:avLst>
              <a:gd name="adj" fmla="val 6173"/>
            </a:avLst>
          </a:prstGeom>
          <a:solidFill>
            <a:srgbClr val="23272E"/>
          </a:solidFill>
          <a:ln w="12700">
            <a:solidFill>
              <a:srgbClr val="23272E"/>
            </a:solidFill>
            <a:prstDash val="solid"/>
          </a:ln>
        </p:spPr>
      </p:sp>
      <p:sp>
        <p:nvSpPr>
          <p:cNvPr id="9" name="Text 7"/>
          <p:cNvSpPr txBox="1"/>
          <p:nvPr/>
        </p:nvSpPr>
        <p:spPr>
          <a:xfrm>
            <a:off x="640080" y="1993392"/>
            <a:ext cx="4663440" cy="1243584"/>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K.ecdsa_book_formulas()  </a:t>
            </a:r>
            <a:r>
              <a:rPr lang="en-US" sz="910" i="1" dirty="0">
                <a:solidFill>
                  <a:srgbClr val="8FA98F"/>
                </a:solidFill>
                <a:latin typeface="Courier New" pitchFamily="34" charset="0"/>
                <a:ea typeface="Courier New" pitchFamily="34" charset="-122"/>
                <a:cs typeface="Courier New" pitchFamily="34" charset="-120"/>
              </a:rPr>
              <a:t># the book, run</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K.malleability()</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K.lib_signature_low_s_and_strict()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[70, 71]]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K.own_variants_digests()</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True, True]</a:t>
            </a:r>
            <a:endParaRPr lang="en-US" sz="910" dirty="0"/>
          </a:p>
        </p:txBody>
      </p:sp>
      <p:sp>
        <p:nvSpPr>
          <p:cNvPr id="10" name="Text 8"/>
          <p:cNvSpPr txBox="1"/>
          <p:nvPr/>
        </p:nvSpPr>
        <p:spPr>
          <a:xfrm>
            <a:off x="457200" y="3374136"/>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5669280" y="187147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943600" y="160020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the formulas verify (True), fail for another hash (False), and R is the x of kG (True)</a:t>
            </a:r>
            <a:endParaRPr lang="en-US" sz="1050" dirty="0"/>
          </a:p>
        </p:txBody>
      </p:sp>
      <p:sp>
        <p:nvSpPr>
          <p:cNvPr id="13" name="Shape 11"/>
          <p:cNvSpPr/>
          <p:nvPr/>
        </p:nvSpPr>
        <p:spPr>
          <a:xfrm>
            <a:off x="5669280" y="254203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943600" y="227076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second form verifies too (True), and exactly one form is low (True)</a:t>
            </a:r>
            <a:endParaRPr lang="en-US" sz="1050" dirty="0"/>
          </a:p>
        </p:txBody>
      </p:sp>
      <p:sp>
        <p:nvSpPr>
          <p:cNvPr id="15" name="Shape 13"/>
          <p:cNvSpPr/>
          <p:nvPr/>
        </p:nvSpPr>
        <p:spPr>
          <a:xfrm>
            <a:off x="5669280" y="3212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943600" y="2941320"/>
            <a:ext cx="2743200" cy="6705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200 signatures: all strict DER, all low S; 70 or 71 bytes</a:t>
            </a:r>
            <a:endParaRPr lang="en-US" sz="1050" dirty="0"/>
          </a:p>
        </p:txBody>
      </p:sp>
      <p:sp>
        <p:nvSpPr>
          <p:cNvPr id="17" name="Shape 15"/>
          <p:cNvSpPr/>
          <p:nvPr/>
        </p:nvSpPr>
        <p:spPr>
          <a:xfrm>
            <a:off x="457200" y="3611880"/>
            <a:ext cx="154076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611880"/>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30 sequence</a:t>
            </a:r>
            <a:endParaRPr lang="en-US" sz="1000" dirty="0"/>
          </a:p>
        </p:txBody>
      </p:sp>
      <p:sp>
        <p:nvSpPr>
          <p:cNvPr id="19" name="Shape 17"/>
          <p:cNvSpPr/>
          <p:nvPr/>
        </p:nvSpPr>
        <p:spPr>
          <a:xfrm>
            <a:off x="2199132" y="3611880"/>
            <a:ext cx="1330452"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199132" y="361188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45 length</a:t>
            </a:r>
            <a:endParaRPr lang="en-US" sz="1000" dirty="0"/>
          </a:p>
        </p:txBody>
      </p:sp>
      <p:sp>
        <p:nvSpPr>
          <p:cNvPr id="21" name="Shape 19"/>
          <p:cNvSpPr/>
          <p:nvPr/>
        </p:nvSpPr>
        <p:spPr>
          <a:xfrm>
            <a:off x="3730752" y="3611880"/>
            <a:ext cx="1120140"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30752"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21 R</a:t>
            </a:r>
            <a:endParaRPr lang="en-US" sz="1000" dirty="0"/>
          </a:p>
        </p:txBody>
      </p:sp>
      <p:sp>
        <p:nvSpPr>
          <p:cNvPr id="23" name="Shape 21"/>
          <p:cNvSpPr/>
          <p:nvPr/>
        </p:nvSpPr>
        <p:spPr>
          <a:xfrm>
            <a:off x="5052060" y="3611880"/>
            <a:ext cx="112014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052060" y="3611880"/>
            <a:ext cx="112014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02 20 s</a:t>
            </a:r>
            <a:endParaRPr lang="en-US" sz="1000" dirty="0"/>
          </a:p>
        </p:txBody>
      </p:sp>
      <p:sp>
        <p:nvSpPr>
          <p:cNvPr id="25" name="Shape 23"/>
          <p:cNvSpPr/>
          <p:nvPr/>
        </p:nvSpPr>
        <p:spPr>
          <a:xfrm>
            <a:off x="6373368" y="3611880"/>
            <a:ext cx="1856232"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6373368" y="3611880"/>
            <a:ext cx="185623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01 SIGHASH_ALL</a:t>
            </a:r>
            <a:endParaRPr lang="en-US" sz="1000" dirty="0"/>
          </a:p>
        </p:txBody>
      </p:sp>
      <p:sp>
        <p:nvSpPr>
          <p:cNvPr id="27" name="Text 25"/>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The pieces of DER, from the book's example: the next slide splits the real bytes.</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signature has two valid forms; only the low form passes the relay policy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signature on the page is a real payment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December 2013: who, where, when and what to read next</a:t>
            </a:r>
            <a:endParaRPr lang="en-US" sz="1300" dirty="0"/>
          </a:p>
        </p:txBody>
      </p:sp>
      <p:pic>
        <p:nvPicPr>
          <p:cNvPr id="6" name="Image 0" descr="../../03-materials/ch08/assets/ch08_bitcoinlogo.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27 December 2013, 23:11:54 UTC: block 277,316 holds the transaction whose signature the book prints</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Its 72 bytes split into nine DER elements, and Core's strict-encoding rule accepts them</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legacy hash is recomputed: the signature verifies; with the flag changed to NONE it fails</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transaction record</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K.book_sample_in_mainnet_tx()</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277316, 1388185914]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K.book_der_sample()  </a:t>
            </a:r>
            <a:r>
              <a:rPr lang="en-US" sz="830" i="1" dirty="0">
                <a:solidFill>
                  <a:srgbClr val="8FA98F"/>
                </a:solidFill>
                <a:latin typeface="Courier New" pitchFamily="34" charset="0"/>
                <a:ea typeface="Courier New" pitchFamily="34" charset="-122"/>
                <a:cs typeface="Courier New" pitchFamily="34" charset="-120"/>
              </a:rPr>
              <a:t># the book bytes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[72, 69, '30', '45', '21', '20', '01', 9,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K.book_sample_verifies()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[65, 1, True, False, 72]</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unnamed sender of a transaction mi…</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block 277,316 of the Bitcoin main chai…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2013-12-27</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Bitcoin logo, not the sender or the transaction.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Deterministic nonces and small signatures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RFC 6979 removes the random number; Core also grinds R small</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and Recorded rows from Core 31.1.0</a:t>
            </a:r>
            <a:endParaRPr lang="en-US" sz="1150" dirty="0"/>
          </a:p>
        </p:txBody>
      </p:sp>
      <p:sp>
        <p:nvSpPr>
          <p:cNvPr id="7" name="Shape 5"/>
          <p:cNvSpPr/>
          <p:nvPr/>
        </p:nvSpPr>
        <p:spPr>
          <a:xfrm>
            <a:off x="457200" y="1600200"/>
            <a:ext cx="4389120" cy="2057400"/>
          </a:xfrm>
          <a:prstGeom prst="roundRect">
            <a:avLst>
              <a:gd name="adj" fmla="val 4444"/>
            </a:avLst>
          </a:prstGeom>
          <a:solidFill>
            <a:srgbClr val="23272E"/>
          </a:solidFill>
          <a:ln w="12700">
            <a:solidFill>
              <a:srgbClr val="23272E"/>
            </a:solidFill>
            <a:prstDash val="solid"/>
          </a:ln>
        </p:spPr>
      </p:sp>
      <p:sp>
        <p:nvSpPr>
          <p:cNvPr id="8" name="Text 6"/>
          <p:cNvSpPr txBox="1"/>
          <p:nvPr/>
        </p:nvSpPr>
        <p:spPr>
          <a:xfrm>
            <a:off x="640080" y="1719072"/>
            <a:ext cx="4023360" cy="18196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K.rfc6979_p256_vector()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'0xa6e3c57d']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K.rfc6979_deterministic()</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K.core_ecdsa_deterministic_and_schnorr_aux_zero()</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K.library_signatures_high_r_share()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[400, 197,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dict(K._core()[</a:t>
            </a:r>
            <a:r>
              <a:rPr lang="en-US" sz="900" dirty="0">
                <a:solidFill>
                  <a:srgbClr val="9ECBFF"/>
                </a:solidFill>
                <a:latin typeface="Courier New" pitchFamily="34" charset="0"/>
                <a:ea typeface="Courier New" pitchFamily="34" charset="-122"/>
                <a:cs typeface="Courier New" pitchFamily="34" charset="-120"/>
              </a:rPr>
              <a:t>'lengths'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'sig_lengths'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{'71': 298, '70':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K.core_signatures_low_r()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[300, 300]</a:t>
            </a:r>
            <a:endParaRPr lang="en-US" sz="900" dirty="0"/>
          </a:p>
        </p:txBody>
      </p:sp>
      <p:sp>
        <p:nvSpPr>
          <p:cNvPr id="9" name="Text 7"/>
          <p:cNvSpPr txBox="1"/>
          <p:nvPr/>
        </p:nvSpPr>
        <p:spPr>
          <a:xfrm>
            <a:off x="457200" y="36758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4037076"/>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959352"/>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to 3: the standard's published nonce reproduces; one message signs the same way twice; Core does too</a:t>
            </a:r>
            <a:endParaRPr lang="en-US" sz="1000" dirty="0"/>
          </a:p>
        </p:txBody>
      </p:sp>
      <p:sp>
        <p:nvSpPr>
          <p:cNvPr id="13" name="Shape 10"/>
          <p:cNvSpPr/>
          <p:nvPr/>
        </p:nvSpPr>
        <p:spPr>
          <a:xfrm>
            <a:off x="457200" y="4320540"/>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242816"/>
            <a:ext cx="7955280" cy="2834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unground library signatures are high-R about half the time; all 300 of Core's are low-R</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nonce derived from key and message needs no random generator</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When the phone's random numbers were not random</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August 2013: who, where, when and what to read next</a:t>
            </a:r>
            <a:endParaRPr lang="en-US" sz="1300" dirty="0"/>
          </a:p>
        </p:txBody>
      </p:sp>
      <p:pic>
        <p:nvPicPr>
          <p:cNvPr id="6" name="Image 0" descr="../../03-materials/ch08/assets/ch08_android.png">    </p:cNvPr>
          <p:cNvPicPr>
            <a:picLocks noChangeAspect="1"/>
          </p:cNvPicPr>
          <p:nvPr/>
        </p:nvPicPr>
        <p:blipFill>
          <a:blip r:embed="rId1"/>
          <a:srcRect l="0" r="0" t="0" b="0"/>
          <a:stretch/>
        </p:blipFill>
        <p:spPr>
          <a:xfrm>
            <a:off x="457200" y="1280160"/>
            <a:ext cx="3017520" cy="2240280"/>
          </a:xfrm>
          <a:prstGeom prst="rect">
            <a:avLst/>
          </a:prstGeom>
        </p:spPr>
      </p:pic>
      <p:sp>
        <p:nvSpPr>
          <p:cNvPr id="7" name="Text 4"/>
          <p:cNvSpPr txBox="1"/>
          <p:nvPr/>
        </p:nvSpPr>
        <p:spPr>
          <a:xfrm>
            <a:off x="457200" y="353872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Android robot - Google Inc., designed by Irina Blok, CC BY 3.0, Wikimedia Commons</a:t>
            </a:r>
            <a:endParaRPr lang="en-US" sz="900" dirty="0"/>
          </a:p>
        </p:txBody>
      </p:sp>
      <p:sp>
        <p:nvSpPr>
          <p:cNvPr id="8" name="Shape 5"/>
          <p:cNvSpPr/>
          <p:nvPr/>
        </p:nvSpPr>
        <p:spPr>
          <a:xfrm>
            <a:off x="3749040" y="14371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2013-08-11: Bitcoin.org warns of critical weaknesses in Android's secure random generator; four wallets are named</a:t>
            </a:r>
            <a:endParaRPr lang="en-US" sz="1200" dirty="0"/>
          </a:p>
        </p:txBody>
      </p:sp>
      <p:sp>
        <p:nvSpPr>
          <p:cNvPr id="10" name="Shape 7"/>
          <p:cNvSpPr/>
          <p:nvPr/>
        </p:nvSpPr>
        <p:spPr>
          <a:xfrm>
            <a:off x="3749040" y="18790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72212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14 August: Android engineer Alex Klyubin blames improper initialization of the generator</a:t>
            </a:r>
            <a:endParaRPr lang="en-US" sz="1200" dirty="0"/>
          </a:p>
        </p:txBody>
      </p:sp>
      <p:sp>
        <p:nvSpPr>
          <p:cNvPr id="12" name="Shape 9"/>
          <p:cNvSpPr/>
          <p:nvPr/>
        </p:nvSpPr>
        <p:spPr>
          <a:xfrm>
            <a:off x="3749040" y="23210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164080"/>
            <a:ext cx="4663440" cy="4419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Like a one-time pad used twice: two signatures under one nonce can be subtracted to leave the key</a:t>
            </a:r>
            <a:endParaRPr lang="en-US" sz="1200" dirty="0"/>
          </a:p>
        </p:txBody>
      </p:sp>
      <p:sp>
        <p:nvSpPr>
          <p:cNvPr id="14" name="Text 11"/>
          <p:cNvSpPr txBox="1"/>
          <p:nvPr/>
        </p:nvSpPr>
        <p:spPr>
          <a:xfrm>
            <a:off x="3749040" y="260604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reuse a nonce, use two nonces, check RFC 6979</a:t>
            </a:r>
            <a:endParaRPr lang="en-US" sz="1150" dirty="0"/>
          </a:p>
        </p:txBody>
      </p:sp>
      <p:sp>
        <p:nvSpPr>
          <p:cNvPr id="15" name="Shape 12"/>
          <p:cNvSpPr/>
          <p:nvPr/>
        </p:nvSpPr>
        <p:spPr>
          <a:xfrm>
            <a:off x="3749040" y="2880360"/>
            <a:ext cx="49377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931920" y="2999232"/>
            <a:ext cx="45720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K.nonce_reuse()  </a:t>
            </a:r>
            <a:r>
              <a:rPr lang="en-US" sz="830" i="1" dirty="0">
                <a:solidFill>
                  <a:srgbClr val="8FA98F"/>
                </a:solidFill>
                <a:latin typeface="Courier New" pitchFamily="34" charset="0"/>
                <a:ea typeface="Courier New" pitchFamily="34" charset="-122"/>
                <a:cs typeface="Courier New" pitchFamily="34" charset="-120"/>
              </a:rPr>
              <a:t># same k twice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 True,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K.nonce_not_reused_is_safe()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K.rfc6979_matches_library_nonce()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7" name="Text 14"/>
          <p:cNvSpPr txBox="1"/>
          <p:nvPr/>
        </p:nvSpPr>
        <p:spPr>
          <a:xfrm>
            <a:off x="3749040" y="399592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Alex Klyubin, the Android security eng…</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Android phones worldwide, and the Bitc…</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2013-08-11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26" name="Text 23"/>
          <p:cNvSpPr txBox="1"/>
          <p:nvPr/>
        </p:nvSpPr>
        <p:spPr>
          <a:xfrm>
            <a:off x="457200" y="3895344"/>
            <a:ext cx="3017520" cy="292608"/>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platform, not the incident.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Segwit, taproot and since the book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segwit changed in what is signed, how a node judges a signature, and what moved after print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Hashing and amounts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Policy and consensus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 hash types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Since the book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hashes less and signs amounts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Legacy signing re-hashes the transaction per input; BIP143 and BIP341 commit to amounts</a:t>
            </a:r>
            <a:endParaRPr lang="en-US" sz="1300" dirty="0"/>
          </a:p>
        </p:txBody>
      </p:sp>
      <p:sp>
        <p:nvSpPr>
          <p:cNvPr id="6" name="Text 4"/>
          <p:cNvSpPr txBox="1"/>
          <p:nvPr/>
        </p:nvSpPr>
        <p:spPr>
          <a:xfrm>
            <a:off x="457200" y="1325880"/>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bytes hashed, amounts, a real taproot spend</a:t>
            </a:r>
            <a:endParaRPr lang="en-US" sz="1150" dirty="0"/>
          </a:p>
        </p:txBody>
      </p:sp>
      <p:sp>
        <p:nvSpPr>
          <p:cNvPr id="7" name="Shape 5"/>
          <p:cNvSpPr/>
          <p:nvPr/>
        </p:nvSpPr>
        <p:spPr>
          <a:xfrm>
            <a:off x="457200" y="1600200"/>
            <a:ext cx="4389120" cy="1828800"/>
          </a:xfrm>
          <a:prstGeom prst="roundRect">
            <a:avLst>
              <a:gd name="adj" fmla="val 5000"/>
            </a:avLst>
          </a:prstGeom>
          <a:solidFill>
            <a:srgbClr val="23272E"/>
          </a:solidFill>
          <a:ln w="12700">
            <a:solidFill>
              <a:srgbClr val="23272E"/>
            </a:solidFill>
            <a:prstDash val="solid"/>
          </a:ln>
        </p:spPr>
      </p:sp>
      <p:sp>
        <p:nvSpPr>
          <p:cNvPr id="8" name="Text 6"/>
          <p:cNvSpPr txBox="1"/>
          <p:nvPr/>
        </p:nvSpPr>
        <p:spPr>
          <a:xfrm>
            <a:off x="640080" y="1719072"/>
            <a:ext cx="4023360" cy="1591056"/>
          </a:xfrm>
          <a:prstGeom prst="rect">
            <a:avLst/>
          </a:prstGeom>
          <a:noFill/>
          <a:ln/>
        </p:spPr>
        <p:txBody>
          <a:bodyPr wrap="square" lIns="0" tIns="0" rIns="0" bIns="0" rtlCol="0" anchor="t"/>
          <a:lstStyle/>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K.hashing_bytes()[</a:t>
            </a:r>
            <a:r>
              <a:rPr lang="en-US" sz="940" dirty="0">
                <a:solidFill>
                  <a:srgbClr val="FFD28A"/>
                </a:solidFill>
                <a:latin typeface="Courier New" pitchFamily="34" charset="0"/>
                <a:ea typeface="Courier New" pitchFamily="34" charset="-122"/>
                <a:cs typeface="Courier New" pitchFamily="34" charset="-120"/>
              </a:rPr>
              <a:t>1</a:t>
            </a:r>
            <a:r>
              <a:rPr lang="en-US" sz="940" dirty="0">
                <a:solidFill>
                  <a:srgbClr val="E6EDF3"/>
                </a:solidFill>
                <a:latin typeface="Courier New" pitchFamily="34" charset="0"/>
                <a:ea typeface="Courier New" pitchFamily="34" charset="-122"/>
                <a:cs typeface="Courier New" pitchFamily="34" charset="-120"/>
              </a:rPr>
              <a:t>:</a:t>
            </a:r>
            <a:r>
              <a:rPr lang="en-US" sz="940" dirty="0">
                <a:solidFill>
                  <a:srgbClr val="FFD28A"/>
                </a:solidFill>
                <a:latin typeface="Courier New" pitchFamily="34" charset="0"/>
                <a:ea typeface="Courier New" pitchFamily="34" charset="-122"/>
                <a:cs typeface="Courier New" pitchFamily="34" charset="-120"/>
              </a:rPr>
              <a:t>3</a:t>
            </a:r>
            <a:r>
              <a:rPr lang="en-US" sz="940" dirty="0">
                <a:solidFill>
                  <a:srgbClr val="E6EDF3"/>
                </a:solidFill>
                <a:latin typeface="Courier New" pitchFamily="34" charset="0"/>
                <a:ea typeface="Courier New" pitchFamily="34" charset="-122"/>
                <a:cs typeface="Courier New" pitchFamily="34" charset="-120"/>
              </a:rPr>
              <a: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[[10, 5150, 2670], [100, 420500, 25530]]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K.hashing_growth()</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[97.8, 10.0]</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K.bip143_commits_to_amount()</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K.bip341_commits_to_all_spent_amounts()</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[True, True]</a:t>
            </a:r>
            <a:endParaRPr lang="en-US" sz="940" dirty="0"/>
          </a:p>
          <a:p>
            <a:pPr indent="0" marL="0">
              <a:buNone/>
            </a:pPr>
            <a:r>
              <a:rPr lang="en-US" sz="940" b="1" dirty="0">
                <a:solidFill>
                  <a:srgbClr val="D97A14"/>
                </a:solidFill>
                <a:latin typeface="Courier New" pitchFamily="34" charset="0"/>
                <a:ea typeface="Courier New" pitchFamily="34" charset="-122"/>
                <a:cs typeface="Courier New" pitchFamily="34" charset="-120"/>
              </a:rPr>
              <a:t>&gt;&gt;&gt; </a:t>
            </a:r>
            <a:r>
              <a:rPr lang="en-US" sz="940" dirty="0">
                <a:solidFill>
                  <a:srgbClr val="E6EDF3"/>
                </a:solidFill>
                <a:latin typeface="Courier New" pitchFamily="34" charset="0"/>
                <a:ea typeface="Courier New" pitchFamily="34" charset="-122"/>
                <a:cs typeface="Courier New" pitchFamily="34" charset="-120"/>
              </a:rPr>
              <a:t>K.first_taproot_spend()</a:t>
            </a:r>
            <a:endParaRPr lang="en-US" sz="940" dirty="0"/>
          </a:p>
          <a:p>
            <a:pPr indent="0" marL="0">
              <a:buNone/>
            </a:pPr>
            <a:r>
              <a:rPr lang="en-US" sz="940" dirty="0">
                <a:solidFill>
                  <a:srgbClr val="7EE787"/>
                </a:solidFill>
                <a:latin typeface="Courier New" pitchFamily="34" charset="0"/>
                <a:ea typeface="Courier New" pitchFamily="34" charset="-122"/>
                <a:cs typeface="Courier New" pitchFamily="34" charset="-120"/>
              </a:rPr>
              <a:t>[709635, 1, 64, True]</a:t>
            </a:r>
            <a:endParaRPr lang="en-US" sz="940" dirty="0"/>
          </a:p>
        </p:txBody>
      </p:sp>
      <p:sp>
        <p:nvSpPr>
          <p:cNvPr id="9" name="Text 7"/>
          <p:cNvSpPr txBox="1"/>
          <p:nvPr/>
        </p:nvSpPr>
        <p:spPr>
          <a:xfrm>
            <a:off x="457200" y="3447288"/>
            <a:ext cx="43891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0" name="Chart 0" descr=""/>
          <p:cNvGraphicFramePr/>
          <p:nvPr/>
        </p:nvGraphicFramePr>
        <p:xfrm>
          <a:off x="5029200" y="1280160"/>
          <a:ext cx="3657600" cy="23774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3879342"/>
            <a:ext cx="128016" cy="128016"/>
          </a:xfrm>
          <a:prstGeom prst="diamond">
            <a:avLst/>
          </a:prstGeom>
          <a:solidFill>
            <a:srgbClr val="D97A14"/>
          </a:solidFill>
          <a:ln w="12700">
            <a:solidFill>
              <a:srgbClr val="D97A14"/>
            </a:solidFill>
            <a:prstDash val="solid"/>
          </a:ln>
        </p:spPr>
      </p:sp>
      <p:sp>
        <p:nvSpPr>
          <p:cNvPr id="12" name="Text 9"/>
          <p:cNvSpPr txBox="1"/>
          <p:nvPr/>
        </p:nvSpPr>
        <p:spPr>
          <a:xfrm>
            <a:off x="731520" y="374904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ten times the inputs make legacy signing hash 97.8 times the bytes, BIP143 only 10.0 times</a:t>
            </a:r>
            <a:endParaRPr lang="en-US" sz="1000" dirty="0"/>
          </a:p>
        </p:txBody>
      </p:sp>
      <p:sp>
        <p:nvSpPr>
          <p:cNvPr id="13" name="Shape 10"/>
          <p:cNvSpPr/>
          <p:nvPr/>
        </p:nvSpPr>
        <p:spPr>
          <a:xfrm>
            <a:off x="457200" y="426796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731520" y="4137660"/>
            <a:ext cx="7955280" cy="3886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to 5: a version 0 signature commits to the amount, taproot to all spent amounts unless ANYONECANPAY; block 709,635, saved here, holds the first taproot key-path spend, verified here</a:t>
            </a:r>
            <a:endParaRPr lang="en-US" sz="10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Segwit signing cost grows with the inputs, not their square, and covers amounts</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What a node accepts: policy, consensus, taproot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Core 31.1.0 on regtest. High S is policy; strict DER is consensus</a:t>
            </a:r>
            <a:endParaRPr lang="en-US" sz="1300" dirty="0"/>
          </a:p>
        </p:txBody>
      </p:sp>
      <p:sp>
        <p:nvSpPr>
          <p:cNvPr id="6" name="Text 4"/>
          <p:cNvSpPr txBox="1"/>
          <p:nvPr/>
        </p:nvSpPr>
        <p:spPr>
          <a:xfrm>
            <a:off x="45720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policy, consensus, the two forms</a:t>
            </a:r>
            <a:endParaRPr lang="en-US" sz="1150" dirty="0"/>
          </a:p>
        </p:txBody>
      </p:sp>
      <p:sp>
        <p:nvSpPr>
          <p:cNvPr id="7" name="Shape 5"/>
          <p:cNvSpPr/>
          <p:nvPr/>
        </p:nvSpPr>
        <p:spPr>
          <a:xfrm>
            <a:off x="457200" y="1554480"/>
            <a:ext cx="4023360" cy="1115568"/>
          </a:xfrm>
          <a:prstGeom prst="roundRect">
            <a:avLst>
              <a:gd name="adj" fmla="val 8197"/>
            </a:avLst>
          </a:prstGeom>
          <a:solidFill>
            <a:srgbClr val="23272E"/>
          </a:solidFill>
          <a:ln w="12700">
            <a:solidFill>
              <a:srgbClr val="23272E"/>
            </a:solidFill>
            <a:prstDash val="solid"/>
          </a:ln>
        </p:spPr>
      </p:sp>
      <p:sp>
        <p:nvSpPr>
          <p:cNvPr id="8" name="Text 6"/>
          <p:cNvSpPr txBox="1"/>
          <p:nvPr/>
        </p:nvSpPr>
        <p:spPr>
          <a:xfrm>
            <a:off x="64008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ok(K.core_policy_verdicts())  </a:t>
            </a:r>
            <a:r>
              <a:rPr lang="en-US" sz="850" i="1" dirty="0">
                <a:solidFill>
                  <a:srgbClr val="8FA98F"/>
                </a:solidFill>
                <a:latin typeface="Courier New" pitchFamily="34" charset="0"/>
                <a:ea typeface="Courier New" pitchFamily="34" charset="-122"/>
                <a:cs typeface="Courier New" pitchFamily="34" charset="-120"/>
              </a:rPr>
              <a:t># Recorded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K.core_high_s_consensus()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K.own_variants_digests()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 True]</a:t>
            </a:r>
            <a:endParaRPr lang="en-US" sz="850" dirty="0"/>
          </a:p>
        </p:txBody>
      </p:sp>
      <p:sp>
        <p:nvSpPr>
          <p:cNvPr id="9" name="Text 7"/>
          <p:cNvSpPr txBox="1"/>
          <p:nvPr/>
        </p:nvSpPr>
        <p:spPr>
          <a:xfrm>
            <a:off x="45720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663440" y="1280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hash types and verdicts</a:t>
            </a:r>
            <a:endParaRPr lang="en-US" sz="1150" dirty="0"/>
          </a:p>
        </p:txBody>
      </p:sp>
      <p:sp>
        <p:nvSpPr>
          <p:cNvPr id="11" name="Shape 9"/>
          <p:cNvSpPr/>
          <p:nvPr/>
        </p:nvSpPr>
        <p:spPr>
          <a:xfrm>
            <a:off x="4663440" y="1554480"/>
            <a:ext cx="4023360" cy="1115568"/>
          </a:xfrm>
          <a:prstGeom prst="roundRect">
            <a:avLst>
              <a:gd name="adj" fmla="val 8197"/>
            </a:avLst>
          </a:prstGeom>
          <a:solidFill>
            <a:srgbClr val="23272E"/>
          </a:solidFill>
          <a:ln w="12700">
            <a:solidFill>
              <a:srgbClr val="23272E"/>
            </a:solidFill>
            <a:prstDash val="solid"/>
          </a:ln>
        </p:spPr>
      </p:sp>
      <p:sp>
        <p:nvSpPr>
          <p:cNvPr id="12" name="Text 10"/>
          <p:cNvSpPr txBox="1"/>
          <p:nvPr/>
        </p:nvSpPr>
        <p:spPr>
          <a:xfrm>
            <a:off x="4846320" y="1673352"/>
            <a:ext cx="3657600" cy="877824"/>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K.bip341_valid_hash_types()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['0x0', '0x1', '0x2', '0x3', '0x81', '0x82', '0x83']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ok(K.core_taproot_verdicts())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'YY....'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K.core_node_identity()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[310100, '/Satoshi:31.1.0/', 'regtest']</a:t>
            </a:r>
            <a:endParaRPr lang="en-US" sz="850" dirty="0"/>
          </a:p>
        </p:txBody>
      </p:sp>
      <p:sp>
        <p:nvSpPr>
          <p:cNvPr id="13" name="Text 11"/>
          <p:cNvSpPr txBox="1"/>
          <p:nvPr/>
        </p:nvSpPr>
        <p:spPr>
          <a:xfrm>
            <a:off x="4663440" y="26883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999232"/>
          <a:ext cx="4023360" cy="914400"/>
        </p:xfrm>
        <a:graphic>
          <a:graphicData uri="http://schemas.openxmlformats.org/drawingml/2006/table">
            <a:tbl>
              <a:tblPr/>
              <a:tblGrid>
                <a:gridCol w="1371600"/>
                <a:gridCol w="265176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Signature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policy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valid low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high 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signature: S value is unnecessarily high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 minimal der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Non-canonical DER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signed other message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Signature must be zero for failed CHECK(MULTI)SIG operation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663440" y="2999232"/>
          <a:ext cx="4023360" cy="914400"/>
        </p:xfrm>
        <a:graphic>
          <a:graphicData uri="http://schemas.openxmlformats.org/drawingml/2006/table">
            <a:tbl>
              <a:tblPr/>
              <a:tblGrid>
                <a:gridCol w="1280160"/>
                <a:gridCol w="2743200"/>
              </a:tblGrid>
              <a:tr h="201168">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Taproot variant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Core's answer</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default 64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all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explicit zero 65</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hash type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short 63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 size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flipped bit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01168">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hash type mismatch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Invalid Schnorr signature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6"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decides what is relayed, consensus what is valid</a:t>
            </a:r>
            <a:endParaRPr lang="en-US" sz="1350" dirty="0"/>
          </a:p>
        </p:txBody>
      </p:sp>
      <p:sp>
        <p:nvSpPr>
          <p:cNvPr id="18"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Since the book: what moved after print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Status read from the saved BIP index; Core 30.0 and 31.0; libsecp256k1 0.8.0</a:t>
            </a:r>
            <a:endParaRPr lang="en-US" sz="1300" dirty="0"/>
          </a:p>
        </p:txBody>
      </p:sp>
      <p:graphicFrame>
        <p:nvGraphicFramePr>
          <p:cNvPr id="6" name="Chart 0" descr=""/>
          <p:cNvGraphicFramePr/>
          <p:nvPr/>
        </p:nvGraphicFramePr>
        <p:xfrm>
          <a:off x="411480" y="1234440"/>
          <a:ext cx="3474720" cy="1600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114800" y="1370457"/>
            <a:ext cx="128016" cy="128016"/>
          </a:xfrm>
          <a:prstGeom prst="diamond">
            <a:avLst/>
          </a:prstGeom>
          <a:solidFill>
            <a:srgbClr val="D97A14"/>
          </a:solidFill>
          <a:ln w="12700">
            <a:solidFill>
              <a:srgbClr val="D97A14"/>
            </a:solidFill>
            <a:prstDash val="solid"/>
          </a:ln>
        </p:spPr>
      </p:sp>
      <p:sp>
        <p:nvSpPr>
          <p:cNvPr id="8" name="Text 5"/>
          <p:cNvSpPr txBox="1"/>
          <p:nvPr/>
        </p:nvSpPr>
        <p:spPr>
          <a:xfrm>
            <a:off x="4389120" y="12344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Core 30.0 caps legacy signature operations at 2,500 in policy; BIP54, Complete, would make it a rule</a:t>
            </a:r>
            <a:endParaRPr lang="en-US" sz="950" dirty="0"/>
          </a:p>
        </p:txBody>
      </p:sp>
      <p:sp>
        <p:nvSpPr>
          <p:cNvPr id="9" name="Shape 6"/>
          <p:cNvSpPr/>
          <p:nvPr/>
        </p:nvSpPr>
        <p:spPr>
          <a:xfrm>
            <a:off x="4114800" y="1770507"/>
            <a:ext cx="128016" cy="128016"/>
          </a:xfrm>
          <a:prstGeom prst="diamond">
            <a:avLst/>
          </a:prstGeom>
          <a:solidFill>
            <a:srgbClr val="D97A14"/>
          </a:solidFill>
          <a:ln w="12700">
            <a:solidFill>
              <a:srgbClr val="D97A14"/>
            </a:solidFill>
            <a:prstDash val="solid"/>
          </a:ln>
        </p:spPr>
      </p:sp>
      <p:sp>
        <p:nvSpPr>
          <p:cNvPr id="10" name="Text 7"/>
          <p:cNvSpPr txBox="1"/>
          <p:nvPr/>
        </p:nvSpPr>
        <p:spPr>
          <a:xfrm>
            <a:off x="4389120" y="16344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MuSig2 is Deployed; Core supports the musig() descriptor from 30.0 and signing from 31.0</a:t>
            </a:r>
            <a:endParaRPr lang="en-US" sz="950" dirty="0"/>
          </a:p>
        </p:txBody>
      </p:sp>
      <p:sp>
        <p:nvSpPr>
          <p:cNvPr id="11" name="Shape 8"/>
          <p:cNvSpPr/>
          <p:nvPr/>
        </p:nvSpPr>
        <p:spPr>
          <a:xfrm>
            <a:off x="4114800" y="2170557"/>
            <a:ext cx="128016" cy="128016"/>
          </a:xfrm>
          <a:prstGeom prst="diamond">
            <a:avLst/>
          </a:prstGeom>
          <a:solidFill>
            <a:srgbClr val="D97A14"/>
          </a:solidFill>
          <a:ln w="12700">
            <a:solidFill>
              <a:srgbClr val="D97A14"/>
            </a:solidFill>
            <a:prstDash val="solid"/>
          </a:ln>
        </p:spPr>
      </p:sp>
      <p:sp>
        <p:nvSpPr>
          <p:cNvPr id="12" name="Text 9"/>
          <p:cNvSpPr txBox="1"/>
          <p:nvPr/>
        </p:nvSpPr>
        <p:spPr>
          <a:xfrm>
            <a:off x="4389120" y="203454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BIP118 is still Draft, as are BIP461 and BIP361; libsecp256k1 0.8.0 renamed schnorrsig_sign</a:t>
            </a:r>
            <a:endParaRPr lang="en-US" sz="950" dirty="0"/>
          </a:p>
        </p:txBody>
      </p:sp>
      <p:sp>
        <p:nvSpPr>
          <p:cNvPr id="13" name="Shape 10"/>
          <p:cNvSpPr/>
          <p:nvPr/>
        </p:nvSpPr>
        <p:spPr>
          <a:xfrm>
            <a:off x="4114800" y="2570607"/>
            <a:ext cx="128016" cy="128016"/>
          </a:xfrm>
          <a:prstGeom prst="diamond">
            <a:avLst/>
          </a:prstGeom>
          <a:solidFill>
            <a:srgbClr val="D97A14"/>
          </a:solidFill>
          <a:ln w="12700">
            <a:solidFill>
              <a:srgbClr val="D97A14"/>
            </a:solidFill>
            <a:prstDash val="solid"/>
          </a:ln>
        </p:spPr>
      </p:sp>
      <p:sp>
        <p:nvSpPr>
          <p:cNvPr id="14" name="Text 11"/>
          <p:cNvSpPr txBox="1"/>
          <p:nvPr/>
        </p:nvSpPr>
        <p:spPr>
          <a:xfrm>
            <a:off x="4389120" y="2434590"/>
            <a:ext cx="4297680" cy="40005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NOT EXECUTED: ECDSA's full security proof, quantum attacks, any Core release but 31.1.0</a:t>
            </a:r>
            <a:endParaRPr lang="en-US" sz="950" dirty="0"/>
          </a:p>
        </p:txBody>
      </p:sp>
      <p:sp>
        <p:nvSpPr>
          <p:cNvPr id="15" name="Text 12"/>
          <p:cNvSpPr txBox="1"/>
          <p:nvPr/>
        </p:nvSpPr>
        <p:spPr>
          <a:xfrm>
            <a:off x="457200" y="287121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BIP status, Core support, limits</a:t>
            </a:r>
            <a:endParaRPr lang="en-US" sz="1150" dirty="0"/>
          </a:p>
        </p:txBody>
      </p:sp>
      <p:sp>
        <p:nvSpPr>
          <p:cNvPr id="16" name="Shape 13"/>
          <p:cNvSpPr/>
          <p:nvPr/>
        </p:nvSpPr>
        <p:spPr>
          <a:xfrm>
            <a:off x="457200" y="3145536"/>
            <a:ext cx="8229600" cy="1170432"/>
          </a:xfrm>
          <a:prstGeom prst="roundRect">
            <a:avLst>
              <a:gd name="adj" fmla="val 7813"/>
            </a:avLst>
          </a:prstGeom>
          <a:solidFill>
            <a:srgbClr val="23272E"/>
          </a:solidFill>
          <a:ln w="12700">
            <a:solidFill>
              <a:srgbClr val="23272E"/>
            </a:solidFill>
            <a:prstDash val="solid"/>
          </a:ln>
        </p:spPr>
      </p:sp>
      <p:sp>
        <p:nvSpPr>
          <p:cNvPr id="17" name="Text 14"/>
          <p:cNvSpPr txBox="1"/>
          <p:nvPr/>
        </p:nvSpPr>
        <p:spPr>
          <a:xfrm>
            <a:off x="640080" y="3264408"/>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dict(__import__(</a:t>
            </a:r>
            <a:r>
              <a:rPr lang="en-US" sz="900" dirty="0">
                <a:solidFill>
                  <a:srgbClr val="9ECBFF"/>
                </a:solidFill>
                <a:latin typeface="Courier New" pitchFamily="34" charset="0"/>
                <a:ea typeface="Courier New" pitchFamily="34" charset="-122"/>
                <a:cs typeface="Courier New" pitchFamily="34" charset="-120"/>
              </a:rPr>
              <a:t>'collections'</a:t>
            </a:r>
            <a:r>
              <a:rPr lang="en-US" sz="900" dirty="0">
                <a:solidFill>
                  <a:srgbClr val="E6EDF3"/>
                </a:solidFill>
                <a:latin typeface="Courier New" pitchFamily="34" charset="0"/>
                <a:ea typeface="Courier New" pitchFamily="34" charset="-122"/>
                <a:cs typeface="Courier New" pitchFamily="34" charset="-120"/>
              </a:rPr>
              <a:t>).Counter(K.bips_status().values()))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{'Deployed': 6, 'Draft': 4, 'Closed': 1, 'Complete': 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K.core_musig_support(), K.libsecp_changes()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True, True, True], [True, 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K.sigops_limit_in_core_and_bip54(), [K.bips_status()[n]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461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361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([2500, True], ['Draft', 'Draft', 'Draft'])</a:t>
            </a:r>
            <a:endParaRPr lang="en-US" sz="900" dirty="0"/>
          </a:p>
        </p:txBody>
      </p:sp>
      <p:sp>
        <p:nvSpPr>
          <p:cNvPr id="18" name="Text 15"/>
          <p:cNvSpPr txBox="1"/>
          <p:nvPr/>
        </p:nvSpPr>
        <p:spPr>
          <a:xfrm>
            <a:off x="457200" y="4334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is a snapshot; check the BIP index and Core's notes for changes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checked from a message, a public key and the signature itself, and its scalars live modulo n, not p</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SIGHASH flag chooses what is signed, and SINGLE with no matching output signs the number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Schnorr turns a three-move proof into a 64-byte signature; linearity gives MuSig2 and threshold schemes, and key prefixing blocks related-key forgery</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ECDSA signatures have two forms, travel in DER and are only as safe as their nonce: reuse leaks the key, RFC 6979 removes the risk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Segwit made signing linear and amount-aware; consensus bans bad DER, policy bans high S, and the status of proposals has moved since print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340, schnorr signatures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bips.dev/340/</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Mastering Bitcoin, the book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aantonop.com/books/mastering-bitcoin/</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Wiki, OP_CHECKSIG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en.bitcoin.it/wiki/OP_CHECKSIG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327, MuSig2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bips.dev/327/</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RFC 6979, deterministic nonces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rfc-editor.org/rfc/rfc6979.txt</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Schnorr, 1991, the seminal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link.springer.com/article/10.1007/BF00196725</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MIT OCW 15.S12, Blockchain and Money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ocw.mit.edu/courses/15-s12-blockchain-and-money-fall-2018/</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Schnorr Taproot workshop videos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bitcoinops.org/en/schnorr-taproot-workshop/</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Optech workshop, then read BIP340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needs to be checked, and why scalars are modulo 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each SIGHASH flag commits to, and what SINGLE does with no match</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schnorr, MuSig2 and ECDSA signatures are made, and why the nonce matters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node accepts as policy and as consensus, and what moved since print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8</dc:title>
  <dc:subject>PptxGenJS Presentation</dc:subject>
  <dc:creator>Yusuf Altunel</dc:creator>
  <cp:lastModifiedBy>Yusuf Altunel</cp:lastModifiedBy>
  <cp:revision>1</cp:revision>
  <dcterms:created xsi:type="dcterms:W3CDTF">2026-10-15T03:26:52Z</dcterms:created>
  <dcterms:modified xsi:type="dcterms:W3CDTF">2026-10-15T03:26:52Z</dcterms:modified>
  <cp:version>1.0.0</cp:version>
</cp:coreProperties>
</file>