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ALL</c:v>
                  </c:pt>
                  <c:pt idx="1">
                    <c:v>NONE</c:v>
                  </c:pt>
                  <c:pt idx="2">
                    <c:v>SINGLE</c:v>
                  </c:pt>
                  <c:pt idx="3">
                    <c:v>ACP</c:v>
                  </c:pt>
                  <c:pt idx="4">
                    <c:v>ALL+ACP</c:v>
                  </c:pt>
                  <c:pt idx="5">
                    <c:v>NONE+ACP</c:v>
                  </c:pt>
                  <c:pt idx="6">
                    <c:v>SINGLE+ACP</c:v>
                  </c:pt>
                </c:lvl>
              </c:multiLvlStrCache>
            </c:multiLvlStrRef>
          </c:cat>
          <c:val>
            <c:numRef>
              <c:f>Sheet1!$B$2:$B$8</c:f>
              <c:numCache>
                <c:formatCode>General</c:formatCode>
                <c:ptCount val="7"/>
                <c:pt idx="0">
                  <c:v>1</c:v>
                </c:pt>
                <c:pt idx="1">
                  <c:v>2</c:v>
                </c:pt>
                <c:pt idx="2">
                  <c:v>3</c:v>
                </c:pt>
                <c:pt idx="3">
                  <c:v>128</c:v>
                </c:pt>
                <c:pt idx="4">
                  <c:v>129</c:v>
                </c:pt>
                <c:pt idx="5">
                  <c:v>130</c:v>
                </c:pt>
                <c:pt idx="6">
                  <c:v>131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fields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ALL</c:v>
                  </c:pt>
                  <c:pt idx="1">
                    <c:v>NONE</c:v>
                  </c:pt>
                  <c:pt idx="2">
                    <c:v>SINGLE</c:v>
                  </c:pt>
                  <c:pt idx="3">
                    <c:v>ALL+ACP</c:v>
                  </c:pt>
                  <c:pt idx="4">
                    <c:v>NONE+ACP</c:v>
                  </c:pt>
                  <c:pt idx="5">
                    <c:v>SINGLE+ACP</c:v>
                  </c:pt>
                </c:lvl>
              </c:multiLvlStrCache>
            </c:multiLvlStrRef>
          </c:cat>
          <c:val>
            <c:numRef>
              <c:f>Sheet1!$B$2:$B$7</c:f>
              <c:numCache>
                <c:formatCode>General</c:formatCode>
                <c:ptCount val="6"/>
                <c:pt idx="0">
                  <c:v>5</c:v>
                </c:pt>
                <c:pt idx="1">
                  <c:v>2</c:v>
                </c:pt>
                <c:pt idx="2">
                  <c:v>3</c:v>
                </c:pt>
                <c:pt idx="3">
                  <c:v>3</c:v>
                </c:pt>
                <c:pt idx="4">
                  <c:v>1</c:v>
                </c:pt>
                <c:pt idx="5">
                  <c:v>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Full key</c:v>
                  </c:pt>
                  <c:pt idx="1">
                    <c:v>X-only key</c:v>
                  </c:pt>
                  <c:pt idx="2">
                    <c:v>ECDSA sig</c:v>
                  </c:pt>
                  <c:pt idx="3">
                    <c:v>Schnorr sig</c:v>
                  </c:pt>
                </c:lvl>
              </c:multiLvlStrCache>
            </c:multiLvlStrRef>
          </c:cat>
          <c:val>
            <c:numRef>
              <c:f>Sheet1!$B$2:$B$5</c:f>
              <c:numCache>
                <c:formatCode>General</c:formatCode>
                <c:ptCount val="4"/>
                <c:pt idx="0">
                  <c:v>33</c:v>
                </c:pt>
                <c:pt idx="1">
                  <c:v>32</c:v>
                </c:pt>
                <c:pt idx="2">
                  <c:v>71</c:v>
                </c:pt>
                <c:pt idx="3">
                  <c:v>64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type</c:v>
                  </c:pt>
                  <c:pt idx="1">
                    <c:v>length</c:v>
                  </c:pt>
                  <c:pt idx="2">
                    <c:v>tag</c:v>
                  </c:pt>
                  <c:pt idx="3">
                    <c:v>R len</c:v>
                  </c:pt>
                  <c:pt idx="4">
                    <c:v>R</c:v>
                  </c:pt>
                  <c:pt idx="5">
                    <c:v>tag</c:v>
                  </c:pt>
                  <c:pt idx="6">
                    <c:v>S len</c:v>
                  </c:pt>
                  <c:pt idx="7">
                    <c:v>S</c:v>
                  </c:pt>
                  <c:pt idx="8">
                    <c:v>hash type</c:v>
                  </c:pt>
                </c:lvl>
              </c:multiLvlStrCache>
            </c:multiLvlStrRef>
          </c:cat>
          <c:val>
            <c:numRef>
              <c:f>Sheet1!$B$2:$B$10</c:f>
              <c:numCache>
                <c:formatCode>General</c:formatCode>
                <c:ptCount val="9"/>
                <c:pt idx="0">
                  <c:v>1</c:v>
                </c:pt>
                <c:pt idx="1">
                  <c:v>1</c:v>
                </c:pt>
                <c:pt idx="2">
                  <c:v>1</c:v>
                </c:pt>
                <c:pt idx="3">
                  <c:v>1</c:v>
                </c:pt>
                <c:pt idx="4">
                  <c:v>32</c:v>
                </c:pt>
                <c:pt idx="5">
                  <c:v>1</c:v>
                </c:pt>
                <c:pt idx="6">
                  <c:v>1</c:v>
                </c:pt>
                <c:pt idx="7">
                  <c:v>32</c:v>
                </c:pt>
                <c:pt idx="8">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signatures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70 bytes</c:v>
                  </c:pt>
                  <c:pt idx="1">
                    <c:v>71 bytes</c:v>
                  </c:pt>
                </c:lvl>
              </c:multiLvlStrCache>
            </c:multiLvlStrRef>
          </c:cat>
          <c:val>
            <c:numRef>
              <c:f>Sheet1!$B$2:$B$3</c:f>
              <c:numCache>
                <c:formatCode>General</c:formatCode>
                <c:ptCount val="2"/>
                <c:pt idx="0">
                  <c:v>100</c:v>
                </c:pt>
                <c:pt idx="1">
                  <c:v>100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times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c:v>
                  </c:pt>
                  <c:pt idx="1">
                    <c:v>10</c:v>
                  </c:pt>
                  <c:pt idx="2">
                    <c:v>100</c:v>
                  </c:pt>
                  <c:pt idx="3">
                    <c:v>1000</c:v>
                  </c:pt>
                </c:lvl>
              </c:multiLvlStrCache>
            </c:multiLvlStrRef>
          </c:cat>
          <c:val>
            <c:numRef>
              <c:f>Sheet1!$B$2:$B$5</c:f>
              <c:numCache>
                <c:formatCode>General</c:formatCode>
                <c:ptCount val="4"/>
                <c:pt idx="0">
                  <c:v>0.4</c:v>
                </c:pt>
                <c:pt idx="1">
                  <c:v>1.9</c:v>
                </c:pt>
                <c:pt idx="2">
                  <c:v>16.5</c:v>
                </c:pt>
                <c:pt idx="3">
                  <c:v>161.8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proposals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Deployed</c:v>
                  </c:pt>
                  <c:pt idx="1">
                    <c:v>Complete</c:v>
                  </c:pt>
                  <c:pt idx="2">
                    <c:v>Draft</c:v>
                  </c:pt>
                  <c:pt idx="3">
                    <c:v>Closed</c:v>
                  </c:pt>
                </c:lvl>
              </c:multiLvlStrCache>
            </c:multiLvlStrRef>
          </c:cat>
          <c:val>
            <c:numRef>
              <c:f>Sheet1!$B$2:$B$5</c:f>
              <c:numCache>
                <c:formatCode>General</c:formatCode>
                <c:ptCount val="4"/>
                <c:pt idx="0">
                  <c:v>6</c:v>
                </c:pt>
                <c:pt idx="1">
                  <c:v>2</c:v>
                </c:pt>
                <c:pt idx="2">
                  <c:v>4</c:v>
                </c:pt>
                <c:pt idx="3">
                  <c:v>1</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Bitcoin signature works and what it commits to. Every number on a result picture was computed with the chapter's own Python library. Bitcoin Core 31.1.0 was run once on a test network, and its answers are only read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seven parts that follow the order of the chapter. Three true stories and twenty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seven parts and 45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signature is a proof that the holder of a private key approved a message. This part shows what verification needs, why two moduli appear, and what is really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Digital Signatures, How Digital Signatures Work and Creating a Digital Signature.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takes a message, a public key and a signature, and answers yes or no. We flip one bit of the message, then swap the key, and both attempts fail. Only the true triple passes.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Verifying the Signature and discrete logarithm problem.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equation lives in the group of curve points, whose order is n. Reducing the response modulo n makes the equation hold, reducing it modulo p does not. The two numbers differ by 129 bits.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is made over a hash of selected transaction fields. The same transaction gives the same digest, and raising one output by a satoshi gives a completely different one, so the signature no longer fits.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need not cover the whole transaction. One byte, the SIGHASH flag, chooses what it covers. We measure what each flag commits to and meet the bug of SINGLE.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Signature Hash Types (SIGHASH), signature hash, SIGHASH_ALL and SIGHASH_NONE.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 appended to a signature is a single byte. The three base flags are 1, 2 and 3. The modifier ANYONECANPAY is 128, the top bit, which is why it can be added to any base flag.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SIGHASH_SINGLE, SIGHASH_ANYONECANPAY, BIP118 and SIGHASH_DEFAULT.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change one field of the transaction at a time and ask if the digest moves. ALL covers all five probed fields. The other flags leave some open, which is what lets others complete a transaction.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SIGHASH_SINGLE signs the output with the same number as the input. For inputs one and two there is none, so the legacy algorithm signs the constant one, which holds for any transaction.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Schnorr signatures began as a proof of identity. We turn the proof into a signature, meet the BIP340 format, and see why keys that add up bring both multisignatures and a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Schnorr Signatures, Serialization of Schnorr Signatures, Schnorr-based Scriptless Multisignatures and Schnorr-based Scriptless Threshold Signatures.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teaches the protocol with whole numbers first. The proof works: s times G equals the commitment plus the challenge times the public key. But dividing the public key by G reveals the secret.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challenge, Fiat-Shamir transform, BIP340 and x-only public key.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prover's response passes and a wrong one fails. Letting a hash of the message choose the challenge turns the proof into a signature, and the signature fits only that message.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1991-02-19. Claus-Peter Schnorr published an efficient identification and signature scheme for smart cards in the proceedings of the Crypto '89 conference, and the United States published his patent 4,995,082 on 19 February 1991, filed on 23 February 1990 and claiming priority from 24 February 1989.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linearity, batch verification, key prefixing and scriptless multisignature.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BIP340 public key is the x coordinate only, 32 bytes. The signature is 64 bytes, always. The ECDSA signature of the same key is written in DER, whose length varies by a byte or two.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key cancellation attack, MuSig2, Shamir secret sharing and scriptless threshold signature.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keys are simply added, Bob can wait for Alice's key and publish a key that cancels it. Then Bob alone signs for both. With MuSig2's hashed weights the same attack no longer gives Bob's key.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secret is the height of a line at zero. Each of three shares is a point on that line. Any two points rebuild the line and give the secret, while one share alone fits every possible secret.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ECDSA signed every Bitcoin payment from 2009 and still signs most. We run its formulas, take apart its byte layout and separate what miners enforce from what nodes prefer.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ECDSA Signatures, ECDSA Algorithm, Serialization of ECDSA Signatures (DER) and ECDSA.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sign with an explicit nonce and verify by rebuilding the point K. The second valid value of s is n minus s. Nodes relay only the smaller one, the low form.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 and s, malleability, DER and low-S rule.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writes the signature as nested fields: a type, a length, then R and s, each with its own tag and length, and a final hash-type byte. The byte counts add up to the signature.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2013-12-27. The long hexadecimal string that chapter 8 of Mastering Bitcoin uses to explain the DER layout, beginning 3045022100884d142d, is not an invented example: it is the signature in the input of transaction 0627052b6f28912f2703066a912ea577f2ce4da4caa5a5fbd8a57286c345c2f2, mined in block 277,316 at 23:11:54 UTC on 27 December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of the signature verify, so a block that contains the high-S twin is valid. A node, however, relays only the low form. Policy is stricter than consensus, and can be changed without a fork.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S is policy: miners accept it, nodes do not relay it. Strict DER became consensus in 2015. Keeping the two apart explains why a transaction can be valid and yet never reach a miner through ordinary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needs a number used once. If it repeats, the key leaks; if it is derived from key and message, it never repeats. The part ends with how it changes the signature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Importance of Randomness in Signatures, nonce, RFC 6979 and nonce reuse.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signatures with the same nonce give two equations in two unknowns. Subtracting them reveals the nonce and then the private key. A different nonce for the second message leaves nothing to solve.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2013-08-11. On 11 August 2013 Bitcoin.org published an alert that the Android component that generates secure random numbers contained critical weaknesses, which made every wallet generated on Android vulnerable to theft, and named Bitcoin Wallet, blockchain.info, BitcoinSpinner and Mycelium Wallet; Bitcoin Wallet 3.15 rotated keys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6979 derives the nonce by keyed hashing of the secret key and the message. It never repeats for different messages, and a signature can be repeated and compared exactly in a test.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top bit of R is set, DER adds a zero byte, so the signature has 71 bytes instead of 70. Over 200 signatures about half are longer. Core grinds the nonce to avoid the extra byte.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changed what is hashed when a transaction is signed. We count the bytes of the old and the new method and see why the amount is now part of the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Witness's New Signing Algorithm, BIP143, O(n) hashing and taproot signature. Each pairs a short meaning with something from everyday life, so that the idea can be retold in your own words. The full explanation is on the course page,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algorithm hashes almost the whole transaction again for every input. BIP143 hashes the shared parts once. The ratio of the two grows with the number of inputs.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algorithm the signer never saw the value of the coin it spent. In BIP143 the amount is part of the digest, so a wrong amount gives a different digest and an invalid signature.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went to print in 2023 and the standards have moved. This part collects the dates, the status of the proposals and the evidence trail behind every number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law gave the longer of 17 years from grant or 20 years from filing. For Schnorr's patent that ends on 23 February 2010. Taproot activated 4,698 days after the genesis block.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states what was a draft in 2023. Counting the saved index of proposals shows six deployed, two complete, four drafts and one closed. A draft can still change, so check the index before you rely on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there. The chapter code tab of the course page reruns all twenty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Optech workshop on Schnorr and taproot, then BIP340 read beside the chapter. The course page for chapter 8 carries the full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8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image-ppubs.uspto.gov/dirsearch-public/print/downloadPdf/4995082"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hyperlink" Target="https://mempool.space/tx/0627052b6f28912f2703066a912ea577f2ce4da4caa5a5fbd8a57286c345c2f2"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hyperlink" Target="https://bitcoin.org/en/alert/2013-08-11-android"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bips.dev/340/" TargetMode="External"/><Relationship Id="rId2" Type="http://schemas.openxmlformats.org/officeDocument/2006/relationships/hyperlink" Target="https://raw.githubusercontent.com/bitcoinbook/bitcoinbook/develop/ch08_signatures.adoc" TargetMode="External"/><Relationship Id="rId3" Type="http://schemas.openxmlformats.org/officeDocument/2006/relationships/hyperlink" Target="https://en.bitcoin.it/wiki/OP_CHECKSIG" TargetMode="External"/><Relationship Id="rId4" Type="http://schemas.openxmlformats.org/officeDocument/2006/relationships/hyperlink" Target="https://bips.dev/327/" TargetMode="External"/><Relationship Id="rId5" Type="http://schemas.openxmlformats.org/officeDocument/2006/relationships/hyperlink" Target="https://www.rfc-editor.org/rfc/rfc6979.txt" TargetMode="External"/><Relationship Id="rId6" Type="http://schemas.openxmlformats.org/officeDocument/2006/relationships/hyperlink" Target="https://link.springer.com/article/10.1007/BF00196725" TargetMode="External"/><Relationship Id="rId7" Type="http://schemas.openxmlformats.org/officeDocument/2006/relationships/hyperlink" Target="https://ocw.mit.edu/courses/15-s12-blockchain-and-money-fall-2018/video_galleries/lecture-videos/" TargetMode="External"/><Relationship Id="rId8" Type="http://schemas.openxmlformats.org/officeDocument/2006/relationships/hyperlink" Target="https://bitcoinops.org/en/schnorr-taproot-workshop/"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8: Digital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proves and commits to, how Schnorr and ECDSA work, and what moved since print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8/assets/ch08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31.1.0 results are recorded,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Foundations of digital signatures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5-10)</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Signature hash flags (SIGHASH)</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11-16)</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Schnorr signatures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17-27)</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ECDSA signatures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28-35)</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Randomness and signature size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36-41)</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Segwit signing</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42-45)</a:t>
            </a:r>
            <a:endParaRPr lang="en-US" sz="110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Since the book went to print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46-51)</a:t>
            </a:r>
            <a:endParaRPr lang="en-US" sz="1100" dirty="0"/>
          </a:p>
        </p:txBody>
      </p:sp>
      <p:sp>
        <p:nvSpPr>
          <p:cNvPr id="22" name="Shape 20"/>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51</a:t>
            </a:r>
            <a:endParaRPr lang="en-US" sz="2600" dirty="0"/>
          </a:p>
        </p:txBody>
      </p:sp>
      <p:sp>
        <p:nvSpPr>
          <p:cNvPr id="24" name="Text 22"/>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5" name="Shape 23"/>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6" name="Text 24"/>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8" name="Shape 26"/>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9" name="Text 27"/>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30" name="Text 28"/>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twenty examples, three true stories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must a verifier have before it can answer yes or no?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each SIGHASH flag commit to, and what does SINGLE do with no matching output?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three-move proof become a 64-byte Schnorr signature?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are keys that simply add up unsafe, and what does MuSig2 change?</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can an ECDSA signature take two forms, and what do consensus and policy each accept?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a repeated nonce leak the key, and what does RFC 6979 do about it?</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did segregated witness change in what is signed?</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seven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Foundations of digital signatures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5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Signature hash flags (SIGHASH)</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3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D97A14"/>
          </a:solidFill>
          <a:ln w="12700">
            <a:solidFill>
              <a:srgbClr val="D97A14"/>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Schnorr signatures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16 key concepts, 5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ECDSA signatures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3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Randomness and signature size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Segwit signing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2 examples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Since the book went to print</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 example and the dates</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every slide today lives on this map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 of digital 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signature is a wax seal that only the owner of the ring can press.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a signature does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Three inputs go in and a yes or no comes out.</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clerk who checks cheque, ID and signature card.</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Arithmetic of the curve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moduli: scalars wrap at n, coordinates at p.</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clocks of different sizes on one wall.</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Signing a transaction</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is signed is a digest of the transaction.</a:t>
            </a:r>
            <a:endParaRPr lang="en-US" sz="1150" dirty="0"/>
          </a:p>
        </p:txBody>
      </p:sp>
      <p:sp>
        <p:nvSpPr>
          <p:cNvPr id="17" name="Text 15"/>
          <p:cNvSpPr txBox="1"/>
          <p:nvPr/>
        </p:nvSpPr>
        <p:spPr>
          <a:xfrm>
            <a:off x="614172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signing the fingerprint of a contract, not the paper.</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Foundations of digital signatures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Digital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Proof that the owner of a private key approved a message.</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handwritten signature that nobody else can forge.</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How Digital Signatures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signer holds a secret; everyone checks with the public key.</a:t>
            </a:r>
            <a:endParaRPr lang="en-US" sz="1300" dirty="0"/>
          </a:p>
        </p:txBody>
      </p:sp>
      <p:sp>
        <p:nvSpPr>
          <p:cNvPr id="13" name="Text 11"/>
          <p:cNvSpPr txBox="1"/>
          <p:nvPr/>
        </p:nvSpPr>
        <p:spPr>
          <a:xfrm>
            <a:off x="3432048" y="236372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padlock anyone can close but only you can open.</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Creating a Digital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signer combines the message digest, the secret key and a nonce.</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pressing a personal seal into hot wax.</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Three inputs, one answer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Verifying an ECDSA signature with the chapter's library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sk, msg = K.SK, K.MSG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pk, sig = L.pubkey_create(sk), L.ecdsa_sign(sk, msg)</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bytes([msg[</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msg[</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other = L.pubkey_create(sk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p, m: L.ecdsa_verify(p, m, sig)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checks = [v(pk, msg), v(pk, bad), v(other, msg)]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key signs a message; the public key is what others hold.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altered inputs: a flipped bit in the message, and another key.</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true triple is accepted; every change gives False.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inputs, one verdict each</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True message, true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bit of message flipped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Another public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signature is 70 bytes long. Only the unchanged triple of message, key and signature is accepted.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the message, the key or the signature and the answer turns to False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Foundations of digital signatures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Verifying the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Message, public key and signature go in; yes or no comes out.</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comparing your signature with the card on file.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discrete logarithm problem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Given a point, finding the number that produced it is infeasible.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mixing paint: easy to mix, impossible to unmix.</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Scalars wrap at n, coordinates at 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moduli, two clocks of different sizes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by_n, by_p, differ = C.modulus_check()</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(L.P - L.N).bit_length()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(by_n, by_p, differ)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remainder keeps a number inside a fixed range, like the hours of a clock.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response s is reduced twice, once modulo n and once modulo p, and checked.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group order n and the field prime p are different 256-bit numbers.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sG = kG + eX hold?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Reduce s modulo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Equation 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 the group order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the field prime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Remainder of 5 by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two primes differ by a number of 129 bits, so n and p are different clocks.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says everything is modulo p; the response is reduced modulo 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is signed is a digest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single satoshi changes the whole digest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 t2 = C.make_tx(</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C.make_tx(</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t2.vout[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1001</a:t>
            </a:r>
            <a:r>
              <a:rPr lang="en-US" sz="1000" dirty="0">
                <a:solidFill>
                  <a:srgbClr val="E6EDF3"/>
                </a:solidFill>
                <a:latin typeface="Courier New" pitchFamily="34" charset="0"/>
                <a:ea typeface="Courier New" pitchFamily="34" charset="-122"/>
                <a:cs typeface="Courier New" pitchFamily="34" charset="-120"/>
              </a:rPr>
              <a:t>, t2.vout[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dig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t: L.sighash_legacy(b</a:t>
            </a:r>
            <a:r>
              <a:rPr lang="en-US" sz="1000" dirty="0">
                <a:solidFill>
                  <a:srgbClr val="9ECBFF"/>
                </a:solidFill>
                <a:latin typeface="Courier New" pitchFamily="34" charset="0"/>
                <a:ea typeface="Courier New" pitchFamily="34" charset="-122"/>
                <a:cs typeface="Courier New" pitchFamily="34" charset="-120"/>
              </a:rPr>
              <a:t>'\x51'</a:t>
            </a:r>
            <a:r>
              <a:rPr lang="en-US" sz="1000" dirty="0">
                <a:solidFill>
                  <a:srgbClr val="E6EDF3"/>
                </a:solidFill>
                <a:latin typeface="Courier New" pitchFamily="34" charset="0"/>
                <a:ea typeface="Courier New" pitchFamily="34" charset="-122"/>
                <a:cs typeface="Courier New" pitchFamily="34" charset="-120"/>
              </a:rPr>
              <a:t>, 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digests = [dig(t1)[:</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dig(t1)[:</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dig(t2)[:</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digests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['18bdeda48b41', '18bdeda48b41', 'ff64b81fb946']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identical transactions of two inputs and two outputs.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the second one, a single output amount is raised by one satoshi.</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digest is what gets signed; any change of the covered bytes changes it.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digest that is signed</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Transaction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Digest (12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Original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18bdeda48b41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Original again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18bdeda48b41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output +1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ff64b81fb946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bytes give the same digest. One satoshi more gives a different one, and the old signature no longer fits.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 covers a hash of the transaction, not the bytes themselves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 hash flags (SIGHASH)</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flag chooses how much of the letter the seal covers.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How flags are coded</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flag is one byte appended to the signature.</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 box printed at the bottom of a form.</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Commitments by flag</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Each flag fixes some fields and leaves others open.</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contract with some clauses left blank.</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Known pitfalls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SINGLE with no matching output signs the number one.</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opens when the keyhole is missing.</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Signature hash flags (SIGHASH)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Signature Hash Types (SIGHASH)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byte says which parts of the transaction the signature covers.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 box that says how much of the contract you sign.</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signature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digest of the transaction fields that is actually signed.</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fingerprint of a document.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SIGHASH_ALL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Signs all inputs and all outputs; the default.</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signing a cheque with payee, amount and date all filled in.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SIGHASH_NONE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Signs the inputs but no output.</a:t>
            </a:r>
            <a:endParaRPr lang="en-US" sz="1300" dirty="0"/>
          </a:p>
        </p:txBody>
      </p:sp>
      <p:sp>
        <p:nvSpPr>
          <p:cNvPr id="21" name="Text 19"/>
          <p:cNvSpPr txBox="1"/>
          <p:nvPr/>
        </p:nvSpPr>
        <p:spPr>
          <a:xfrm>
            <a:off x="4828032" y="30952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blank cheque.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flag is one byte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base values and one modifier bit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base = [L.SIGHASH_ALL, L.SIGHASH_NONE, L.SIGHASH_SINGLE]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acp = L.SIGHASH_ANYONECANPAY</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combos = [b | acp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base]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combos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[129, 130, 131]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knows three base flags and one modifier, each a small number.</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modifier is a single high bit, so it combines with any base flag.</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flag values (ACP = ANYONECANPAY)</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ANYONECANPAY is 128, the top bit, so adding it to a base flag gives 129, 130, 131.</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ANYONECANPAY is the top bit, so it combines with every base flag</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Signature hash flags (SIGHASH)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SIGHASH_SINGLE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Signs only the output with the same number as the input.</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initialling a single line of an invoice.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SIGHASH_ANYONECANPAY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Signs only this input; others may add theirs.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collection tin that anyone may add to.</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BIP118</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proposal for signatures that leave out the coin they spend.</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valid for any seat in the row.</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SIGHASH_DEFAULT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Taproot's zero byte, which means the same as ALL and is left out.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standard setting you never have to tick.</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each flag commits to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Change one field and see whether the hash moves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0x81, 0x82, 0x83)</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cm = {f: C.sighash_commitments(f)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f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flags}</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count = {hex(f): sum(cm[f].values())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f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list(count.values())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 2, 3, 3, 1, 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flag values: the three base flags, alone and with the modifier.</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each flag, change one field at a time and see whether the hash moves.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 the fields that each flag covers, out of the five that were probed.</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fields covered, of the 5 probed</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covers 5 of 5 fields, NONE with ANYONECANPAY only 1: the field pattern is ....Y.</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plain ALL covers every probed field, other inputs' sequences included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SINGLE with no matching output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bug the book does not mention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tx = C.make_tx(</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i: L.sighash_legacy(b</a:t>
            </a:r>
            <a:r>
              <a:rPr lang="en-US" sz="1000" dirty="0">
                <a:solidFill>
                  <a:srgbClr val="9ECBFF"/>
                </a:solidFill>
                <a:latin typeface="Courier New" pitchFamily="34" charset="0"/>
                <a:ea typeface="Courier New" pitchFamily="34" charset="-122"/>
                <a:cs typeface="Courier New" pitchFamily="34" charset="-120"/>
              </a:rPr>
              <a:t>'\x51'</a:t>
            </a:r>
            <a:r>
              <a:rPr lang="en-US" sz="1000" dirty="0">
                <a:solidFill>
                  <a:srgbClr val="E6EDF3"/>
                </a:solidFill>
                <a:latin typeface="Courier New" pitchFamily="34" charset="0"/>
                <a:ea typeface="Courier New" pitchFamily="34" charset="-122"/>
                <a:cs typeface="Courier New" pitchFamily="34" charset="-120"/>
              </a:rPr>
              <a:t>, tx, i,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digests = [d(i)[:</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buggy = [x == </a:t>
            </a:r>
            <a:r>
              <a:rPr lang="en-US" sz="1000" dirty="0">
                <a:solidFill>
                  <a:srgbClr val="9ECBFF"/>
                </a:solidFill>
                <a:latin typeface="Courier New" pitchFamily="34" charset="0"/>
                <a:ea typeface="Courier New" pitchFamily="34" charset="-122"/>
                <a:cs typeface="Courier New" pitchFamily="34" charset="-120"/>
              </a:rPr>
              <a:t>'01000000'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digests]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buggy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transaction with three inputs but only one output.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SINGLE signs the output with the same number as the input being signed.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Inputs one and two have no output: the digest is the number one.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signature hash of each input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548640"/>
                <a:gridCol w="128016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Digest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Equals 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11a21de8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Inputs 1 and 2 have no output of their own, so the legacy algorithm signs the constant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digest equal to the number one can be reused on any transaction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Schnorr 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Schnorr is a seal whose imprints can be added together.</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Proof to signature</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three-move proof becomes a signature by hashing.</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quiz whose questions are drawn by a dice you cannot cheat.</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BIP340 format</a:t>
            </a:r>
            <a:endParaRPr lang="en-US" sz="1100" dirty="0"/>
          </a:p>
        </p:txBody>
      </p:sp>
      <p:sp>
        <p:nvSpPr>
          <p:cNvPr id="12" name="Text 10"/>
          <p:cNvSpPr txBox="1"/>
          <p:nvPr/>
        </p:nvSpPr>
        <p:spPr>
          <a:xfrm>
            <a:off x="278892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Fixed sizes, x-only keys and tagged hashes.</a:t>
            </a:r>
            <a:endParaRPr lang="en-US" sz="1100" dirty="0"/>
          </a:p>
        </p:txBody>
      </p:sp>
      <p:sp>
        <p:nvSpPr>
          <p:cNvPr id="13" name="Text 11"/>
          <p:cNvSpPr txBox="1"/>
          <p:nvPr/>
        </p:nvSpPr>
        <p:spPr>
          <a:xfrm>
            <a:off x="278892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standard envelope that fits every letterbox.</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Aggregating keys</a:t>
            </a:r>
            <a:endParaRPr lang="en-US" sz="1100" dirty="0"/>
          </a:p>
        </p:txBody>
      </p:sp>
      <p:sp>
        <p:nvSpPr>
          <p:cNvPr id="16" name="Text 14"/>
          <p:cNvSpPr txBox="1"/>
          <p:nvPr/>
        </p:nvSpPr>
        <p:spPr>
          <a:xfrm>
            <a:off x="480060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Keys and signatures add up, with one trap.</a:t>
            </a:r>
            <a:endParaRPr lang="en-US" sz="1100" dirty="0"/>
          </a:p>
        </p:txBody>
      </p:sp>
      <p:sp>
        <p:nvSpPr>
          <p:cNvPr id="17" name="Text 15"/>
          <p:cNvSpPr txBox="1"/>
          <p:nvPr/>
        </p:nvSpPr>
        <p:spPr>
          <a:xfrm>
            <a:off x="480060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pooling several keys into one master key.</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Threshold sharing</a:t>
            </a:r>
            <a:endParaRPr lang="en-US" sz="1100" dirty="0"/>
          </a:p>
        </p:txBody>
      </p:sp>
      <p:sp>
        <p:nvSpPr>
          <p:cNvPr id="20" name="Text 18"/>
          <p:cNvSpPr txBox="1"/>
          <p:nvPr/>
        </p:nvSpPr>
        <p:spPr>
          <a:xfrm>
            <a:off x="681228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Any two of three key holders can sign.</a:t>
            </a:r>
            <a:endParaRPr lang="en-US" sz="1100" dirty="0"/>
          </a:p>
        </p:txBody>
      </p:sp>
      <p:sp>
        <p:nvSpPr>
          <p:cNvPr id="21" name="Text 19"/>
          <p:cNvSpPr txBox="1"/>
          <p:nvPr/>
        </p:nvSpPr>
        <p:spPr>
          <a:xfrm>
            <a:off x="6812280" y="2892247"/>
            <a:ext cx="1828800" cy="718718"/>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vault that opens when two of three managers turn their keys.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Schnorr signatures: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signature s = k + e x, proven by one equation on points.</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 whose imprints can be added.</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Serialization of Schnorr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BIP340 signature is 64 bytes: R's x coordinate and s.</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two fixed boxes.</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Schnorr-based Scriptless Multisignatures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Several signers produce one ordinary signature.</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group photo that looks like a single portrait.</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Schnorr-based Scriptless Threshold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subset of the key holders produces one ordinary signature.</a:t>
            </a:r>
            <a:endParaRPr lang="en-US" sz="1300" dirty="0"/>
          </a:p>
        </p:txBody>
      </p:sp>
      <p:sp>
        <p:nvSpPr>
          <p:cNvPr id="21" name="Text 19"/>
          <p:cNvSpPr txBox="1"/>
          <p:nvPr/>
        </p:nvSpPr>
        <p:spPr>
          <a:xfrm>
            <a:off x="4828032"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committee vote that leaves one signature on the minutes.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protocol with whole numbers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book first explains Schnorr with integers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C.toy_protocol(x=</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G_=</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k=</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check = t[</a:t>
            </a:r>
            <a:r>
              <a:rPr lang="en-US" sz="1000" dirty="0">
                <a:solidFill>
                  <a:srgbClr val="9ECBFF"/>
                </a:solidFill>
                <a:latin typeface="Courier New" pitchFamily="34" charset="0"/>
                <a:ea typeface="Courier New" pitchFamily="34" charset="-122"/>
                <a:cs typeface="Courier New" pitchFamily="34" charset="-120"/>
              </a:rPr>
              <a:t>'s'</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'holds'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leak = t[</a:t>
            </a:r>
            <a:r>
              <a:rPr lang="en-US" sz="1000" dirty="0">
                <a:solidFill>
                  <a:srgbClr val="9ECBFF"/>
                </a:solidFill>
                <a:latin typeface="Courier New" pitchFamily="34" charset="0"/>
                <a:ea typeface="Courier New" pitchFamily="34" charset="-122"/>
                <a:cs typeface="Courier New" pitchFamily="34" charset="-120"/>
              </a:rPr>
              <a:t>'xG'</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leak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Secret x, nonce k and challenge e; the 'point' of a number is just 5 times it.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response s mixes nonce and secret; the check sG = kG + e xG holds.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plain integers anyone can divide and read the secret: that is why points are used.</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round with whole numbers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Public key xG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Commitment kG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Response s = k + e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sG = kG + e xG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 = 35 + 165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Divide xG by 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proof holds, but dividing xG by G returns the secret 3: with points that division is impossible.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plain integers anyone divides and reads the secret; points forbid that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Schnorr signatures: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challenge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value e that ties the nonce point to the message.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question the exam board sets after you commit to an answer.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Fiat-Shamir transform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Replace the verifier's random challenge by a hash.</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letting a dice-rolling machine play the examiner.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BIP340</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specification of Schnorr signatures for Bitcoin.</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standard plug that makes every device fit.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x-only public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32-byte key: the x coordinate, with an even y assumed.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map reference that always faces north.</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identity proof to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Replace the verifier's challenge by a hash</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e = </a:t>
            </a:r>
            <a:r>
              <a:rPr lang="en-US" sz="1000" dirty="0">
                <a:solidFill>
                  <a:srgbClr val="FFD28A"/>
                </a:solidFill>
                <a:latin typeface="Courier New" pitchFamily="34" charset="0"/>
                <a:ea typeface="Courier New" pitchFamily="34" charset="-122"/>
                <a:cs typeface="Courier New" pitchFamily="34" charset="-120"/>
              </a:rPr>
              <a:t>1234567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7654321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99999</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pm, pa = L.point_mul, L.point_add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R = pm(x), pm(k)</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(k + e * x) % L.N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t: pm(t) == pa(R, pm(e, 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proof = [chk(s), chk(s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9778"/>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322930"/>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C.fs_sign(x, b</a:t>
            </a:r>
            <a:r>
              <a:rPr lang="en-US" sz="1000" dirty="0">
                <a:solidFill>
                  <a:srgbClr val="9ECBFF"/>
                </a:solidFill>
                <a:latin typeface="Courier New" pitchFamily="34" charset="0"/>
                <a:ea typeface="Courier New" pitchFamily="34" charset="-122"/>
                <a:cs typeface="Courier New" pitchFamily="34" charset="-120"/>
              </a:rPr>
              <a:t>'A'</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sigs = [C.fs_verify(X, m, sig)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'B'</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prover with secret x sends R = kG and receives a challenge e.</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response s = k + e x passes; one added to it does not.</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the message to get the challenge, and it is a signature.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proof and signature checks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Honest response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Response s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 on message 'A'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signature on 'B'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signature fits only the message whose hash chose the challenge.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hash of the message plays the examiner, so no examiner has to be online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signature that was patented for two decades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patent decided which signature Bitcoin started with</a:t>
            </a:r>
            <a:endParaRPr lang="en-US" sz="1300" dirty="0"/>
          </a:p>
        </p:txBody>
      </p:sp>
      <p:pic>
        <p:nvPicPr>
          <p:cNvPr id="6" name="Image 0" descr="../../03-materials/ch08/assets/ch08_schnor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Claus-Peter Schnorr's signature scheme was patented in the United States as patent 4,995,082, published on 19 February 1991.</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patent kept the scheme out of open standards, so ECDSA was the only signature Bitcoin knew until 2021.</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term was the longer of 17 years from grant and 20 from filing, so it ended on 23 February 2010.</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BIP340 is Schnorr's scheme fitted to secp256k1; it went live with taproot, 30 years after the paper.</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 the…</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United States pate…</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1991-02-19</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Schnorr's patent US 4,995,082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image-ppubs.uspto.gov</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Schnorr signatures: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linearity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Sums of keys and signatures are keys and signatures of the sum.</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adding two bills and paying the total at once.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batch verification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signatures are checked with one combined equation.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weighing a whole crate instead of every apple.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 prefixing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public key is hashed into the challenge.</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writing your name on your own envelope.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Keys are added so no script is needed to count signers.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master key made from several keys.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fixed size: 64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BIP340 keys are 32 bytes and signatures 64</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sk = 0x3b78ce563f89a0ed9414f5aa28ad0d96d6795f9c63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L.sha256(b</a:t>
            </a:r>
            <a:r>
              <a:rPr lang="en-US" sz="1000" dirty="0">
                <a:solidFill>
                  <a:srgbClr val="9ECBFF"/>
                </a:solidFill>
                <a:latin typeface="Courier New" pitchFamily="34" charset="0"/>
                <a:ea typeface="Courier New" pitchFamily="34" charset="-122"/>
                <a:cs typeface="Courier New" pitchFamily="34" charset="-120"/>
              </a:rPr>
              <a:t>'ch08'</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pub, sig = L.schnorr_pubkey(sk), L.schnorr_sign(sk, msg)</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comp = L.pubkey_create(sk)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ecdsa = L.ecdsa_sign(sk, msg)</a:t>
            </a:r>
            <a:endParaRPr lang="en-US" sz="1000" dirty="0"/>
          </a:p>
        </p:txBody>
      </p:sp>
      <p:sp>
        <p:nvSpPr>
          <p:cNvPr id="10" name="Shape 8"/>
          <p:cNvSpPr/>
          <p:nvPr/>
        </p:nvSpPr>
        <p:spPr>
          <a:xfrm>
            <a:off x="457200" y="324886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32201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L.schnorr_verify(pub, msg, sig)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[len(comp), len(pub), len(ecdsa), len(sig)]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[33, 32, 71, 64]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secret key, one message, and the three objects of BIP340.</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comparison, the compressed key and the ECDSA signature of the same key.</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279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Schnorr signature verifies, and it has a fixed size.</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object</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Schnorr signature verifies (yes) and always takes 64 bytes; the x-only key saves one byte over the compressed key.</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Schnorr is smaller and of fixed size; DER signatures vary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Schnorr signatures: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 cancellation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signer picks a key that cancels the other's key.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partner who copies your key and subtracts it.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MuSig2</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 aggregation with hashed weights that defeats the attack.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master keys cut from a mould that includes every member.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Shamir secret sharing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secret is the height of a line, shared as points on it.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treasure map torn so that any two pieces show the way.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threshold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k of n signers produce one signature without a script.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of three managers opening the vault.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key that cancels another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adding public keys is not enough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 = C.key_cancellation(</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'pay'</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musig = C.musig2_cancellation_attempt()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 musig)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Bob waits for Alice's public key, then publishes his own key minus hers.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Against the naive sum of keys, Bob alone makes a valid signature for both.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MuSig2 weights every key by a hash of all keys, and the same attack fails.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key cancellation attack</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45920"/>
                <a:gridCol w="13258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aggregation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Bob signs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Plain sum of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 valid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MuSig2 weighted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After Alice's key is public, Bob picks a key that hides it. Only the weighted aggregate resists.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MuSig2 weights each key by a hash of all keys, which stops the trick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Any two of three shares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Shamir's line through points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shares = C.shamir_split(</a:t>
            </a:r>
            <a:r>
              <a:rPr lang="en-US" sz="1000" dirty="0">
                <a:solidFill>
                  <a:srgbClr val="FFD28A"/>
                </a:solidFill>
                <a:latin typeface="Courier New" pitchFamily="34" charset="0"/>
                <a:ea typeface="Courier New" pitchFamily="34" charset="-122"/>
                <a:cs typeface="Courier New" pitchFamily="34" charset="-120"/>
              </a:rPr>
              <a:t>31337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77</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itertools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combinations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cb = C.shamir_combine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[cb(c)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combinations(shares,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cb(shares[: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[31337, 31337, 31337]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is the height of a line at zero; three shares are points on the line.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 two points give the line, and with it the secret.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share alone is consistent with every possible secret.</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secret from the shares</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Shares 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Recovered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and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31337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and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31337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and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31337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Share 1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31414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Any two shares give 31337. A single share gives 31414, which is not the secret.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Fewer than the threshold reveal nothing; the threshold reveals everything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ECDSA 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ECDSA is the older seal, with a messier imprint and two valid shapes.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ECDSA equations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formulas, and two valid values of 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coin that has two faces and both count.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DER serialization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signature is written as nested length-prefixed fields.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 with labels on each box inside.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Consensus and policy</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Miners enforce the law; nodes add house rules.</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law of the land and the rules of a shop.</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ECDSA signatures: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ECDSA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signature Bitcoin used from 2009; Schnorr joined it in 2021.</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older seal still on every old document.</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ECDSA Algorithm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 with a nonce and invert it; verify by rebuilding a point.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with one step that must be undone exactly.</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Serialization of ECDSA Signatures (DER)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pair (R, s) written in nested length-prefixed fields.</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nest of labelled boxes inside a parcel.</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ECDSA</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Elliptic Curve Digital Signature Algorithm.</a:t>
            </a:r>
            <a:endParaRPr lang="en-US" sz="1300" dirty="0"/>
          </a:p>
        </p:txBody>
      </p:sp>
      <p:sp>
        <p:nvSpPr>
          <p:cNvPr id="21" name="Text 19"/>
          <p:cNvSpPr txBox="1"/>
          <p:nvPr/>
        </p:nvSpPr>
        <p:spPr>
          <a:xfrm>
            <a:off x="4828032" y="329641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notary's stamp of the pre-2021 era.</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ECDSA with the book's formulas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Sign with a chosen nonce, verify by rebuilding a point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h, k = 0x1234, 0x5678, 0x9abc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s = C.ecdsa_sign_k(x, h, k)</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L.point_mul(x)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t: C.ecdsa_verify_K(X, h, R, 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 = [v(s), v(L.N - 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lowform = s &lt;= L.N - 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Sign with an explicit nonce: R is the x coordinate of kG, and s follows.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Verification rebuilds the point K from s, R and the public key.</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s and n minus s verify; the low form is the one Bitcoin relays.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two values of s</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731520"/>
                <a:gridCol w="137160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Verifies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0xd312ba095ee4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 -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0x2ced45f6a11b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6883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verify. The smaller one is the low-S form: here it is n - 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s verifies, so does n minus s: the signature has two forms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ECDSA signatures: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 and 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numbers that make up an ECDSA signature.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two halves of a torn ticket.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Anyone can alter a valid signature without the key.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receipt that can be reprinted in another font.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Distinguished Encoding Rules, the byte layout of signatures.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postal rules for addressing a parcel.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low-S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Of s and n minus s, only the smaller is relayed.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of two coin faces, always showing heads.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elements in 71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DER signature taken apart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L.ecdsa_sign(K.SK, K.MSG) + b</a:t>
            </a:r>
            <a:r>
              <a:rPr lang="en-US" sz="1000" dirty="0">
                <a:solidFill>
                  <a:srgbClr val="9ECBFF"/>
                </a:solidFill>
                <a:latin typeface="Courier New" pitchFamily="34" charset="0"/>
                <a:ea typeface="Courier New" pitchFamily="34" charset="-122"/>
                <a:cs typeface="Courier New" pitchFamily="34" charset="-120"/>
              </a:rPr>
              <a:t>'\x01'</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C.der_fields(sig)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rows = [(n, len(v)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rows)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real signature plus the one-byte hash type, as it sits in a script.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splits it into the nine elements that the book lists.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elements add up to the length of the whole signature.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element (all 71)</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 and s take 32 bytes each and the other seven elements one byte each. Strict DER accepts it: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of the nine elements are one byte; R and s take 32 each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signature on the page is a real payment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signature printed in the book is a real payment</a:t>
            </a:r>
            <a:endParaRPr lang="en-US" sz="1300" dirty="0"/>
          </a:p>
        </p:txBody>
      </p:sp>
      <p:pic>
        <p:nvPicPr>
          <p:cNvPr id="6" name="Image 0" descr="../../03-materials/ch08/assets/ch08_bitcoin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long hexadecimal signature that the book dissects in its DER section is a real signature from a mined payment.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real example can be checked: the chapter recomputes it, and signature, key and transaction agree.</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payment was mined on 27 December 2013 at 23:11:54 UTC; its R has 33 bytes because its top bit is set.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Its S is already the low form, so a node would still relay it today.</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no picture of the sender exists</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unnamed sender of a …</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277,316 of the B…</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2013-12-27</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signed payment in block 277,316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Valid for miners, refused by nodes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Consensus accepts the high-S twin, policy does not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L.ecdsa_sign(K.SK, K.MSG)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s = L.der_parse_lax(sig)[:</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twin = L.der_encode(r, L.N - s)</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pk = L.pubkey_create(K.SK)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g: L.ecdsa_verify(pk, K.MSG, g)</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low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g: L.is_low_s(g + b</a:t>
            </a:r>
            <a:r>
              <a:rPr lang="en-US" sz="1000" dirty="0">
                <a:solidFill>
                  <a:srgbClr val="9ECBFF"/>
                </a:solidFill>
                <a:latin typeface="Courier New" pitchFamily="34" charset="0"/>
                <a:ea typeface="Courier New" pitchFamily="34" charset="-122"/>
                <a:cs typeface="Courier New" pitchFamily="34" charset="-120"/>
              </a:rPr>
              <a:t>'\x01'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verdict = [(ver(g), low(g))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g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(sig, twin)]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verdict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low-S signature, and the same signature with its high-S twin.</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signature check itself accepts both of the two forms.</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relay rule of low S accepts only one of them.</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consensus against policy</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143000"/>
                <a:gridCol w="86868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Signature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Relayed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Low-S 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High-S twin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6883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Miners accept both forms. Nodes relay only the low-S form.</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is a stricter house rule; consensus is the law</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Policy or consensus?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transaction can be valid and still not be relayed</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Consensus decides what is valid</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agree,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change needs a soft or hard fork.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law of the land.</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Policy decides what is relayed</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Each node may choose its own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change needs only a new release.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house rules of a shop.</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can change with a release; consensus changes only by a fork</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Randomness and signature size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nonce is a one-time pad: use it twice and the secret leaks.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Safety of the nonce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repeated nonce lets anyone solve for the key.</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reusing a one-time pad.</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Deterministic nonces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nonce is derived from key and message.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that always bakes the same cake.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Size and grinding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Signing again until R is small saves a byte.</a:t>
            </a:r>
            <a:endParaRPr lang="en-US" sz="1150" dirty="0"/>
          </a:p>
        </p:txBody>
      </p:sp>
      <p:sp>
        <p:nvSpPr>
          <p:cNvPr id="17" name="Text 15"/>
          <p:cNvSpPr txBox="1"/>
          <p:nvPr/>
        </p:nvSpPr>
        <p:spPr>
          <a:xfrm>
            <a:off x="614172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re-folding a letter until it fits the smaller envelope.</a:t>
            </a:r>
            <a:endParaRPr lang="en-US" sz="11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Randomness and signature size: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Importance of Randomness in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nonce must be unpredictable and used only once.</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combination lock set by a coin toss, never reused.</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one-time secret number k of a signature.</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one-time pad.</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RFC 6979</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Derives the nonce from key and message by HMAC.</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that always bakes the same cake.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nonce reuse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signatures with one nonce reveal the private key.</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reusing a one-time pad, which hands the secret to a snoop.</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nonce, two signatures, no secret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reused nonce leaks the key</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h1, h2 = </a:t>
            </a:r>
            <a:r>
              <a:rPr lang="en-US" sz="1000" dirty="0">
                <a:solidFill>
                  <a:srgbClr val="FFD28A"/>
                </a:solidFill>
                <a:latin typeface="Courier New" pitchFamily="34" charset="0"/>
                <a:ea typeface="Courier New" pitchFamily="34" charset="-122"/>
                <a:cs typeface="Courier New" pitchFamily="34" charset="-120"/>
              </a:rPr>
              <a:t>1234567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7654321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222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s1 = C.ecdsa_sign_k(x, h1,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r2, s2 = C.ecdsa_sign_k(x, h2, k)</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rec = C.recover_key_from_reused_nonce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k2 = rec(r, s1, h1, s2, h2)</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 C.ecdsa_sign_k(x, h2, 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different messages signed with the same nonce k.</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equations, two unknowns: subtract, divide, and the key falls out.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a fresh nonce for the second message, R differs and nothing leaks.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two signatures reveal</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210312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R in both signatures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Private key recovered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Nonce recovered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Fresh nonce: R differs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single reused nonce hands over the private key; a fresh nonce for the second message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Android's weak generator made this attack possible in 2013</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When the phone's random numbers were not random</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Weak randomness at signing time gives away the key</a:t>
            </a:r>
            <a:endParaRPr lang="en-US" sz="1300" dirty="0"/>
          </a:p>
        </p:txBody>
      </p:sp>
      <p:pic>
        <p:nvPicPr>
          <p:cNvPr id="6" name="Image 0" descr="../../03-materials/ch08/assets/ch08_android.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Android robot - Google Inc., designed by Irina Blok, CC BY 3.0,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11 August 2013 Bitcoin.org warned that Android's random number generator was weak and that wallets built on it could be robbed.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weak generator can repeat or leak a nonce, and a repeated nonce hands over the private key, as the previous slides computed.</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Alex Klyubin of Google explained the flaw on 14 August; Bitcoin Wallet and other wallets shipped updates.</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RFC 6979 derives the nonce from key and message, which is why Bitcoin Core no longer needs a good generator for it.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the platform, not the incident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Alex Klyubin, the Androi…</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Android phones worldwi…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2013-08-11</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 alert: Android vulnerability</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nonce derived from the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RFC 6979 removes the random number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L.sha256(b</a:t>
            </a:r>
            <a:r>
              <a:rPr lang="en-US" sz="1000" dirty="0">
                <a:solidFill>
                  <a:srgbClr val="9ECBFF"/>
                </a:solidFill>
                <a:latin typeface="Courier New" pitchFamily="34" charset="0"/>
                <a:ea typeface="Courier New" pitchFamily="34" charset="-122"/>
                <a:cs typeface="Courier New" pitchFamily="34" charset="-120"/>
              </a:rPr>
              <a:t>'sample'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k1 = C.rfc6979_k(L.N, K.SK, h)</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k2 = C.rfc6979_k(L.N, K.SK, L.sha256(b</a:t>
            </a:r>
            <a:r>
              <a:rPr lang="en-US" sz="1000" dirty="0">
                <a:solidFill>
                  <a:srgbClr val="9ECBFF"/>
                </a:solidFill>
                <a:latin typeface="Courier New" pitchFamily="34" charset="0"/>
                <a:ea typeface="Courier New" pitchFamily="34" charset="-122"/>
                <a:cs typeface="Courier New" pitchFamily="34" charset="-120"/>
              </a:rPr>
              <a:t>'other'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again = C.rfc6979_k(L.N, K.SK, h) == k1</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L.ecdsa_sign(K.SK, h) == L.ecdsa_sign(K.SK, 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again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Derive the nonce from the secret key and the hash of the message.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message gives the same nonce; another message gives another.</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So the signature is repeatable too, and no random number is needed.</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derived nonce</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message, same nonce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Other message, other nonce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signature twice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Nonce 1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0x1f8bce02bda8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Nonce 2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0x80fb94370ee8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Nothing random is drawn, so there is nothing to repeat by accident.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key and message always give the same nonce, and so the same signature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About half are one byte longer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Signature length and the high 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 = [L.sha256(b</a:t>
            </a:r>
            <a:r>
              <a:rPr lang="en-US" sz="1000" dirty="0">
                <a:solidFill>
                  <a:srgbClr val="9ECBFF"/>
                </a:solidFill>
                <a:latin typeface="Courier New" pitchFamily="34" charset="0"/>
                <a:ea typeface="Courier New" pitchFamily="34" charset="-122"/>
                <a:cs typeface="Courier New" pitchFamily="34" charset="-120"/>
              </a:rPr>
              <a:t>'m%d'</a:t>
            </a:r>
            <a:r>
              <a:rPr lang="en-US" sz="1000" dirty="0">
                <a:solidFill>
                  <a:srgbClr val="E6EDF3"/>
                </a:solidFill>
                <a:latin typeface="Courier New" pitchFamily="34" charset="0"/>
                <a:ea typeface="Courier New" pitchFamily="34" charset="-122"/>
                <a:cs typeface="Courier New" pitchFamily="34" charset="-120"/>
              </a:rPr>
              <a:t> % i)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200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lens = [len(L.ecdsa_sign(K.SK, m))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ms]</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collections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Counter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 = dict(sorted(Counter(lens).items()))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cnt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{70: 100, 71: 100}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hundred different messages, all signed with the same key.</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33-byte R, needed when its top bit is set, makes the signature longer.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 the lengths: about half of all signatures are one byte longer.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signatures of each length, of 200</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Signatures with a 33-byte R are one byte longer. Bitcoin Core signs again until R is small.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 Core signs again until R is small, to save a byte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Segwit signing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Segwit changed what is signed, as a cheque that also states the amount.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Cost of hashing</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old algorithm re-reads the transaction per input.</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whole book again for every page you sign.</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Commitment to amounts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New signatures cover the value being spent.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states the sum it releases.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Taproot signing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taproot spend carries one 64-byte signature.</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single stamp in place of a pile of papers.</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Segwit signing: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84148"/>
          </a:xfrm>
          <a:prstGeom prst="roundRect">
            <a:avLst>
              <a:gd name="adj" fmla="val 6178"/>
            </a:avLst>
          </a:prstGeom>
          <a:solidFill>
            <a:srgbClr val="F2ECE1"/>
          </a:solidFill>
          <a:ln w="12700">
            <a:solidFill>
              <a:srgbClr val="DFD6C7"/>
            </a:solidFill>
            <a:prstDash val="solid"/>
          </a:ln>
        </p:spPr>
      </p:sp>
      <p:sp>
        <p:nvSpPr>
          <p:cNvPr id="7" name="Shape 5"/>
          <p:cNvSpPr/>
          <p:nvPr/>
        </p:nvSpPr>
        <p:spPr>
          <a:xfrm>
            <a:off x="475488" y="1408176"/>
            <a:ext cx="64008" cy="92811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Witness's New Signing Algorithm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BIP143 hashes less and signs the spent amount.</a:t>
            </a:r>
            <a:endParaRPr lang="en-US" sz="1300" dirty="0"/>
          </a:p>
        </p:txBody>
      </p:sp>
      <p:sp>
        <p:nvSpPr>
          <p:cNvPr id="9" name="Text 7"/>
          <p:cNvSpPr txBox="1"/>
          <p:nvPr/>
        </p:nvSpPr>
        <p:spPr>
          <a:xfrm>
            <a:off x="640080" y="200710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table of contents instead of the whole book.</a:t>
            </a:r>
            <a:endParaRPr lang="en-US" sz="1150" dirty="0"/>
          </a:p>
        </p:txBody>
      </p:sp>
      <p:sp>
        <p:nvSpPr>
          <p:cNvPr id="10" name="Shape 8"/>
          <p:cNvSpPr/>
          <p:nvPr/>
        </p:nvSpPr>
        <p:spPr>
          <a:xfrm>
            <a:off x="4645152" y="1280160"/>
            <a:ext cx="4041648" cy="1184148"/>
          </a:xfrm>
          <a:prstGeom prst="roundRect">
            <a:avLst>
              <a:gd name="adj" fmla="val 6178"/>
            </a:avLst>
          </a:prstGeom>
          <a:solidFill>
            <a:srgbClr val="F2ECE1"/>
          </a:solidFill>
          <a:ln w="12700">
            <a:solidFill>
              <a:srgbClr val="DFD6C7"/>
            </a:solidFill>
            <a:prstDash val="solid"/>
          </a:ln>
        </p:spPr>
      </p:sp>
      <p:sp>
        <p:nvSpPr>
          <p:cNvPr id="11" name="Shape 9"/>
          <p:cNvSpPr/>
          <p:nvPr/>
        </p:nvSpPr>
        <p:spPr>
          <a:xfrm>
            <a:off x="4663440" y="1408176"/>
            <a:ext cx="64008" cy="92811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BIP143</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signature hash of segregated witness version 0.</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form with a box for the sum.</a:t>
            </a:r>
            <a:endParaRPr lang="en-US" sz="1150" dirty="0"/>
          </a:p>
        </p:txBody>
      </p:sp>
      <p:sp>
        <p:nvSpPr>
          <p:cNvPr id="14" name="Shape 12"/>
          <p:cNvSpPr/>
          <p:nvPr/>
        </p:nvSpPr>
        <p:spPr>
          <a:xfrm>
            <a:off x="457200" y="2592324"/>
            <a:ext cx="4041648" cy="1184148"/>
          </a:xfrm>
          <a:prstGeom prst="roundRect">
            <a:avLst>
              <a:gd name="adj" fmla="val 6178"/>
            </a:avLst>
          </a:prstGeom>
          <a:solidFill>
            <a:srgbClr val="F2ECE1"/>
          </a:solidFill>
          <a:ln w="12700">
            <a:solidFill>
              <a:srgbClr val="DFD6C7"/>
            </a:solidFill>
            <a:prstDash val="solid"/>
          </a:ln>
        </p:spPr>
      </p:sp>
      <p:sp>
        <p:nvSpPr>
          <p:cNvPr id="15" name="Shape 13"/>
          <p:cNvSpPr/>
          <p:nvPr/>
        </p:nvSpPr>
        <p:spPr>
          <a:xfrm>
            <a:off x="475488" y="2720340"/>
            <a:ext cx="64008" cy="928116"/>
          </a:xfrm>
          <a:prstGeom prst="rect">
            <a:avLst/>
          </a:prstGeom>
          <a:solidFill>
            <a:srgbClr val="D97A14"/>
          </a:solidFill>
          <a:ln w="12700">
            <a:solidFill>
              <a:srgbClr val="D97A14"/>
            </a:solidFill>
            <a:prstDash val="solid"/>
          </a:ln>
        </p:spPr>
      </p:sp>
      <p:sp>
        <p:nvSpPr>
          <p:cNvPr id="16" name="Text 14"/>
          <p:cNvSpPr txBox="1"/>
          <p:nvPr/>
        </p:nvSpPr>
        <p:spPr>
          <a:xfrm>
            <a:off x="640080" y="265633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O(n) hashing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BIP143 hashes a number of bytes in proportion to the inputs.</a:t>
            </a:r>
            <a:endParaRPr lang="en-US" sz="1300" dirty="0"/>
          </a:p>
        </p:txBody>
      </p:sp>
      <p:sp>
        <p:nvSpPr>
          <p:cNvPr id="17" name="Text 15"/>
          <p:cNvSpPr txBox="1"/>
          <p:nvPr/>
        </p:nvSpPr>
        <p:spPr>
          <a:xfrm>
            <a:off x="640080"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walk down the line instead of a full lap per person.</a:t>
            </a:r>
            <a:endParaRPr lang="en-US" sz="1150" dirty="0"/>
          </a:p>
        </p:txBody>
      </p:sp>
      <p:sp>
        <p:nvSpPr>
          <p:cNvPr id="18" name="Shape 16"/>
          <p:cNvSpPr/>
          <p:nvPr/>
        </p:nvSpPr>
        <p:spPr>
          <a:xfrm>
            <a:off x="4645152" y="2592324"/>
            <a:ext cx="4041648" cy="1184148"/>
          </a:xfrm>
          <a:prstGeom prst="roundRect">
            <a:avLst>
              <a:gd name="adj" fmla="val 6178"/>
            </a:avLst>
          </a:prstGeom>
          <a:solidFill>
            <a:srgbClr val="F2ECE1"/>
          </a:solidFill>
          <a:ln w="12700">
            <a:solidFill>
              <a:srgbClr val="DFD6C7"/>
            </a:solidFill>
            <a:prstDash val="solid"/>
          </a:ln>
        </p:spPr>
      </p:sp>
      <p:sp>
        <p:nvSpPr>
          <p:cNvPr id="19" name="Shape 17"/>
          <p:cNvSpPr/>
          <p:nvPr/>
        </p:nvSpPr>
        <p:spPr>
          <a:xfrm>
            <a:off x="4663440" y="2720340"/>
            <a:ext cx="64008" cy="928116"/>
          </a:xfrm>
          <a:prstGeom prst="rect">
            <a:avLst/>
          </a:prstGeom>
          <a:solidFill>
            <a:srgbClr val="D97A14"/>
          </a:solidFill>
          <a:ln w="12700">
            <a:solidFill>
              <a:srgbClr val="D97A14"/>
            </a:solidFill>
            <a:prstDash val="solid"/>
          </a:ln>
        </p:spPr>
      </p:sp>
      <p:sp>
        <p:nvSpPr>
          <p:cNvPr id="20" name="Text 18"/>
          <p:cNvSpPr txBox="1"/>
          <p:nvPr/>
        </p:nvSpPr>
        <p:spPr>
          <a:xfrm>
            <a:off x="4828032" y="265633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BIP340 signature over the BIP341 message, 64 bytes.</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stamp that stands for the whole bundle.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Quadratic hashing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signing against BIP143</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txs = [C.make_tx(n,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[C.legacy_bytes_hashed(t)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new = [C.bip143_bytes_hashed(t)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txs]</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[round(a / b,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zip(old, new)]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[0.4, 1.9, 16.5, 161.8]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Transactions of 1, 10, 100 and 1000 inputs.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 the bytes that enter SHA-256 with the old algorithm and with BIP143.</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old way hashes more and more per input; BIP143 grows in a straight line.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old bytes hashed divided by BIP143 bytes, by inputs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1,000 inputs the old method hashes 41,107,000 bytes and BIP143 254,130: 161.8 times more.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Doubling the inputs roughly quadruples the bytes the old method hashes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BIP143 signs the amount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can no longer be lied to about the value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tx = C.make_tx(</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 = b</a:t>
            </a:r>
            <a:r>
              <a:rPr lang="en-US" sz="1000" dirty="0">
                <a:solidFill>
                  <a:srgbClr val="9ECBFF"/>
                </a:solidFill>
                <a:latin typeface="Courier New" pitchFamily="34" charset="0"/>
                <a:ea typeface="Courier New" pitchFamily="34" charset="-122"/>
                <a:cs typeface="Courier New" pitchFamily="34" charset="-120"/>
              </a:rPr>
              <a:t>'\x76\xa9\x14'</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'\x22'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'\x88\xac'</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v0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a: L.sighash_v0(sc, tx,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a).hex()[:</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ds = [v0(</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v0(</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v0(</a:t>
            </a:r>
            <a:r>
              <a:rPr lang="en-US" sz="1000" dirty="0">
                <a:solidFill>
                  <a:srgbClr val="FFD28A"/>
                </a:solidFill>
                <a:latin typeface="Courier New" pitchFamily="34" charset="0"/>
                <a:ea typeface="Courier New" pitchFamily="34" charset="-122"/>
                <a:cs typeface="Courier New" pitchFamily="34" charset="-120"/>
              </a:rPr>
              <a:t>5001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legacy = L.sighash_legacy(sc, tx,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['3d02f61132ca', '3d02f61132ca', '89c355aa699d']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input; the script code of a pay-to-key-hash coin.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Digest of the BIP143 algorithm for an amount of 5000 and for 5001 satoshis.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old algorithm has no amount in it, so a wallet could be told any value.</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signed digest</a:t>
            </a:r>
            <a:endParaRPr lang="en-US" sz="11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Digest (12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BIP143, amount 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3d02f61132ca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BIP143, amount 5000 again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3d02f61132ca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BIP143, amount 5001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89c355aa699d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 no 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0d29c866d5f0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BIP143 digest moves with the amount. The legacy digest has no amount that could move.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 digest changes with the amount; the old one cannot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Since the book went to print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Standards move on after print, like a map that needs a new edition.</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Standards status</a:t>
            </a:r>
            <a:endParaRPr lang="en-US" sz="1100" dirty="0"/>
          </a:p>
        </p:txBody>
      </p:sp>
      <p:sp>
        <p:nvSpPr>
          <p:cNvPr id="8" name="Text 6"/>
          <p:cNvSpPr txBox="1"/>
          <p:nvPr/>
        </p:nvSpPr>
        <p:spPr>
          <a:xfrm>
            <a:off x="77724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Proposals move from draft to deployed.</a:t>
            </a:r>
            <a:endParaRPr lang="en-US" sz="1100" dirty="0"/>
          </a:p>
        </p:txBody>
      </p:sp>
      <p:sp>
        <p:nvSpPr>
          <p:cNvPr id="9" name="Text 7"/>
          <p:cNvSpPr txBox="1"/>
          <p:nvPr/>
        </p:nvSpPr>
        <p:spPr>
          <a:xfrm>
            <a:off x="777240" y="2892247"/>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bill becoming law.</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Library support</a:t>
            </a:r>
            <a:endParaRPr lang="en-US" sz="1100" dirty="0"/>
          </a:p>
        </p:txBody>
      </p:sp>
      <p:sp>
        <p:nvSpPr>
          <p:cNvPr id="12" name="Text 10"/>
          <p:cNvSpPr txBox="1"/>
          <p:nvPr/>
        </p:nvSpPr>
        <p:spPr>
          <a:xfrm>
            <a:off x="278892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Core and its library add features after print.</a:t>
            </a:r>
            <a:endParaRPr lang="en-US" sz="1100" dirty="0"/>
          </a:p>
        </p:txBody>
      </p:sp>
      <p:sp>
        <p:nvSpPr>
          <p:cNvPr id="13" name="Text 11"/>
          <p:cNvSpPr txBox="1"/>
          <p:nvPr/>
        </p:nvSpPr>
        <p:spPr>
          <a:xfrm>
            <a:off x="2788920" y="2892247"/>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car model year with new options.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History and dates</a:t>
            </a:r>
            <a:endParaRPr lang="en-US" sz="1100" dirty="0"/>
          </a:p>
        </p:txBody>
      </p:sp>
      <p:sp>
        <p:nvSpPr>
          <p:cNvPr id="16" name="Text 14"/>
          <p:cNvSpPr txBox="1"/>
          <p:nvPr/>
        </p:nvSpPr>
        <p:spPr>
          <a:xfrm>
            <a:off x="480060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patent, the first spend, the activation.</a:t>
            </a:r>
            <a:endParaRPr lang="en-US" sz="1100" dirty="0"/>
          </a:p>
        </p:txBody>
      </p:sp>
      <p:sp>
        <p:nvSpPr>
          <p:cNvPr id="17" name="Text 15"/>
          <p:cNvSpPr txBox="1"/>
          <p:nvPr/>
        </p:nvSpPr>
        <p:spPr>
          <a:xfrm>
            <a:off x="4800600" y="2892247"/>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dates on a family tree.</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evidence trail</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Every claim is tied to a saved source or a run.</a:t>
            </a:r>
            <a:endParaRPr lang="en-US" sz="1100" dirty="0"/>
          </a:p>
        </p:txBody>
      </p:sp>
      <p:sp>
        <p:nvSpPr>
          <p:cNvPr id="21" name="Text 19"/>
          <p:cNvSpPr txBox="1"/>
          <p:nvPr/>
        </p:nvSpPr>
        <p:spPr>
          <a:xfrm>
            <a:off x="681228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receipts kept in a shoebox.</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SIGHASH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Schnorr</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ECDSA</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Nonces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Since print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Dates behind the patent and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term of the Schnorr patent, and 4,698 days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datetime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date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filed, grant = date(</a:t>
            </a:r>
            <a:r>
              <a:rPr lang="en-US" sz="1000" dirty="0">
                <a:solidFill>
                  <a:srgbClr val="FFD28A"/>
                </a:solidFill>
                <a:latin typeface="Courier New" pitchFamily="34" charset="0"/>
                <a:ea typeface="Courier New" pitchFamily="34" charset="-122"/>
                <a:cs typeface="Courier New" pitchFamily="34" charset="-120"/>
              </a:rPr>
              <a:t>1990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 date(</a:t>
            </a:r>
            <a:r>
              <a:rPr lang="en-US" sz="1000" dirty="0">
                <a:solidFill>
                  <a:srgbClr val="FFD28A"/>
                </a:solidFill>
                <a:latin typeface="Courier New" pitchFamily="34" charset="0"/>
                <a:ea typeface="Courier New" pitchFamily="34" charset="-122"/>
                <a:cs typeface="Courier New" pitchFamily="34" charset="-120"/>
              </a:rPr>
              <a:t>1991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t17 = grant.replace(year=grant.year + </a:t>
            </a:r>
            <a:r>
              <a:rPr lang="en-US" sz="1000" dirty="0">
                <a:solidFill>
                  <a:srgbClr val="FFD28A"/>
                </a:solidFill>
                <a:latin typeface="Courier New" pitchFamily="34" charset="0"/>
                <a:ea typeface="Courier New" pitchFamily="34" charset="-122"/>
                <a:cs typeface="Courier New" pitchFamily="34" charset="-120"/>
              </a:rPr>
              <a:t>17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t20 = filed.replace(year=filed.year +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term_end = max(t17, t20)</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(date(</a:t>
            </a:r>
            <a:r>
              <a:rPr lang="en-US" sz="1000" dirty="0">
                <a:solidFill>
                  <a:srgbClr val="FFD28A"/>
                </a:solidFill>
                <a:latin typeface="Courier New" pitchFamily="34" charset="0"/>
                <a:ea typeface="Courier New" pitchFamily="34" charset="-122"/>
                <a:cs typeface="Courier New" pitchFamily="34" charset="-120"/>
              </a:rPr>
              <a:t>2021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14</a:t>
            </a:r>
            <a:r>
              <a:rPr lang="en-US" sz="1000" dirty="0">
                <a:solidFill>
                  <a:srgbClr val="E6EDF3"/>
                </a:solidFill>
                <a:latin typeface="Courier New" pitchFamily="34" charset="0"/>
                <a:ea typeface="Courier New" pitchFamily="34" charset="-122"/>
                <a:cs typeface="Courier New" pitchFamily="34" charset="-120"/>
              </a:rPr>
              <a:t>) - date(</a:t>
            </a:r>
            <a:r>
              <a:rPr lang="en-US" sz="1000" dirty="0">
                <a:solidFill>
                  <a:srgbClr val="FFD28A"/>
                </a:solidFill>
                <a:latin typeface="Courier New" pitchFamily="34" charset="0"/>
                <a:ea typeface="Courier New" pitchFamily="34" charset="-122"/>
                <a:cs typeface="Courier New" pitchFamily="34" charset="-120"/>
              </a:rPr>
              <a:t>2009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)).days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term_end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datetime.date(2010, 2, 23)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Filed on 23 February 1990, granted on 19 February 1991.</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term is the longer of 17 years from grant, 20 from filing.</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 the days from the genesis block to taproot's activation.</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C and K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dates computed from the filing and grant</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Date or span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 years from grant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2008-02-19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 years from filing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2010-02-23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Patent term ended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2010-02-23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Genesis to taproot,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later date ends the term. Taproot activated 4,698 days after the genesis block.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patent ended in 2010; taproot came eleven years later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Status of the BIPs the chapter names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Thirteen proposals; status read from the saved BIP index</a:t>
            </a:r>
            <a:endParaRPr lang="en-US" sz="1300" dirty="0"/>
          </a:p>
        </p:txBody>
      </p:sp>
      <p:graphicFrame>
        <p:nvGraphicFramePr>
          <p:cNvPr id="6" name="Chart 0" descr=""/>
          <p:cNvGraphicFramePr/>
          <p:nvPr/>
        </p:nvGraphicFramePr>
        <p:xfrm>
          <a:off x="457200" y="137160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463040"/>
            <a:ext cx="2834640" cy="155448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Deployed: 66, 143, 327, 340, 341 and 342. Drafts: 118, 361, 390 and 461. Complete: 54 and 373. Closed: 146.</a:t>
            </a:r>
            <a:endParaRPr lang="en-US" sz="1250" dirty="0"/>
          </a:p>
        </p:txBody>
      </p:sp>
      <p:sp>
        <p:nvSpPr>
          <p:cNvPr id="8" name="Text 5"/>
          <p:cNvSpPr txBox="1"/>
          <p:nvPr/>
        </p:nvSpPr>
        <p:spPr>
          <a:xfrm>
            <a:off x="5852160" y="3108960"/>
            <a:ext cx="2834640" cy="1188720"/>
          </a:xfrm>
          <a:prstGeom prst="rect">
            <a:avLst/>
          </a:prstGeom>
          <a:noFill/>
          <a:ln/>
        </p:spPr>
        <p:txBody>
          <a:bodyPr wrap="square" lIns="0" tIns="0" rIns="0" bIns="0" rtlCol="0" anchor="t"/>
          <a:lstStyle/>
          <a:p>
            <a:pPr algn="l" indent="0" marL="0">
              <a:buNone/>
            </a:pPr>
            <a:r>
              <a:rPr lang="en-US" sz="1050" i="1" dirty="0">
                <a:solidFill>
                  <a:srgbClr val="6E655C"/>
                </a:solidFill>
                <a:latin typeface="Calibri" pitchFamily="34" charset="0"/>
                <a:ea typeface="Calibri" pitchFamily="34" charset="-122"/>
                <a:cs typeface="Calibri" pitchFamily="34" charset="-120"/>
              </a:rPr>
              <a:t>Counted from the saved index in deck 1.1.0, run under Python 3.14.6.</a:t>
            </a:r>
            <a:endParaRPr lang="en-US" sz="1050" dirty="0"/>
          </a:p>
        </p:txBody>
      </p:sp>
      <p:sp>
        <p:nvSpPr>
          <p:cNvPr id="9" name="Shape 6"/>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proposal's status can change after print; check the index</a:t>
            </a:r>
            <a:endParaRPr lang="en-US" sz="1350" dirty="0"/>
          </a:p>
        </p:txBody>
      </p:sp>
      <p:sp>
        <p:nvSpPr>
          <p:cNvPr id="11"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checked from message, public key and signature; scalars wrap at n and the digest is what is signed.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SIGHASH flag chooses what is signed, and SINGLE with no matching output signs the number one.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Schnorr turns a three-move proof into 64 bytes; keys add up safely only with MuSig2, and shares give thresholds.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has two forms of s and a nested byte layout; a reused nonce leaks the key and RFC 6979 prevents it.</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Segwit hashes less and signs the amount; policy is stricter than consensus, and standards moved after print.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2026-10-23;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BIP 340: Schnorr Signatures for secp256k1</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specification with reference code and test vectors  bips.dev</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3e, ch. 8: Digital Signatures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chapter's AsciiDoc source on GitHub, plain text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Wiki: OP_CHECKSIG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the opcode checks, step by step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327: MuSig2 for BIP340 Multi-Signatures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Specification of two-round multi-party Schnorr signing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6979: Deterministic DSA and ECDSA</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the signing nonce is derived from key and message</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Schnorr: Efficient signature generation (1991)</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seminal paper, Journal of Cryptology 4 (publisher page)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MIT 15.S12 Blockchain and Money: lectures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2018 course, every lecture video in one list  ocw.mit.edu</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Optech Schnorr and Taproot workshop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Exercises and recorded sessions on Schnorr and Taproot</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Optech workshop, then read BIP340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verifier needs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each SIGHASH flag commits to</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Schnorr, MuSig2 and ECDSA signatures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the nonce matters; policy against consensus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8</dc:title>
  <dc:subject>PptxGenJS Presentation</dc:subject>
  <dc:creator>Yusuf Altunel</dc:creator>
  <cp:lastModifiedBy>Yusuf Altunel</cp:lastModifiedBy>
  <cp:revision>1</cp:revision>
  <dcterms:created xsi:type="dcterms:W3CDTF">2026-10-23T19:23:22Z</dcterms:created>
  <dcterms:modified xsi:type="dcterms:W3CDTF">2026-10-23T19:23:22Z</dcterms:modified>
  <cp:version>2.0.0</cp:version>
</cp:coreProperties>
</file>