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and 2 described the system; this chapter hands it to you. By tonight you can be running the same program that wrote the genesis block's successors. The full explanation is on the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by the end you can fetch, verify, build, run and query the reference implementation - and every claim on the way arrives with its receipt. A question to think about is this: who already runs a node? The full explanation is on the course page, chapter 3,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are the chapter's own: which programs Bitcoin Core consists of, which files decide how a node runs, and how a download is checked before it is trusted. Each one is answered on a later slide, and the chapter closes by returning to them. If you can answer them, chapter 3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a computer that runs Bitcoin software and takes part in the peer-to-peer network, and this first branch of the chapter is about the most complete kind of node, the full verification node. The chapter opens with the reason such a node exists. The full explanation is on the course page, chapter 3, in Node, Build, Operation and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is a computer that runs Bitcoin software and takes part in the peer-to-peer network, and this first branch of the chapter is about the most complete kind of node, the full verification node. The chapter opens with the reason such a node exists. The full explanation is on the course page, chapter 3,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2009-01-08. Five days after the genesis block, Satoshi announced Bitcoin version 0.1 - a Windows program on SourceForge. A year and a half later he wrote the sentence this course keeps returning to: once version 0.1 was released, the core design was set in stone for the rest of its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pruned node is a full node that deletes old block files after it has verified them, so that it needs far less disk space. A question to think about is this: which posture still enforces every consensus rule? The full explanation is on the course page, chapter 3, in Pruned node and Initial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branch is about turning the text of Bitcoin Core into a program that can run. The book calls this part of the chapter the Bitcoin development environment: the tools, libraries and support software a developer needs for writing Bitcoin applications, which the chapter walks through step by step. The full explanation is on the course page, chapter 3, in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is a distributed version control system, and a repository is the database in which it keeps a project and all of its history. The book calls Git the most widely used distributed version control system and an essential part of the toolkit of every software developer (Antonopoulos and Harding, 2023). A question to think about is this: why does the course pin a commit instead of saying 'latest'? The full explanation is on the course page, chapter 3, in Git repository and Release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since 2011; Guix from release 22.0. A downloaded binary asks for trust; Bitcoin Core answers with arithmetic. Every release is built reproducibly - first under Gitian, since release 22.0 under Guix - so that anyone compiling the tagged source gets a byte-identical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CMake is the build system that Bitcoin Core has used since release 29.0. The manual of CMake explains its role: a buildsystem describes how to build a project's executables and libraries from its source code using a build tool to automate the process, and CMake lets a project describe its buildsystem abstractly in files written in the CMake language, from which it generates a preferred buildsystem for each user (Kitware, 2026). The full explanation is on the course page, chapter 3, in Cmake build and Software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is the second large part of the chapter, and it is about what happens after the software has been built or downloaded: how a node is started, how it is configured, how its state is observed, and what kind of wallet comes with it. The full explanation is on the course page, chapter 3, in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start-up log is the stream of messages that the node writes while it starts, and afterwards as it runs. With the option that sends the log to the console it appears in the terminal, and otherwise it goes to a file called debug.log in the data directory, as the documentation of the data directory states (Bitcoin Core, 2026). A question to think about is this: where would you look first when a node misbehaves? The full explanation is on the course page, chapter 3, in Startup log and Daemon.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2011 and 2014. Bitcoin Core is the program Satoshi published in January 2009, still developed in public. In 2011 Satoshi handed the project to Gavin Andresen - the faucet builder of chapter 2 - and withdrew.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JSON-RPC is a protocol for remote procedure calls whose messages are written in JSON. Its specification describes it as a stateless, light-weight remote procedure call protocol that defines a few data structures and the rules for processing them, independent of the transport, so that the same messages may travel within a process, over sockets or over HTTP (JSON-RPC Working Group, 2013). Think about this case: your phone wallet never shows this. The full explanation is on the course page, chapter 3, in Json rpc and Bitcoin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descriptor wallet is a wallet whose content is a set of output descriptions, each stating one family of scripts that the wallet can receive to and spend from. Bitcoin Core's documentation says that its code internally stores and operates on descriptors to reason about the sets of outputs that belong to the wallet (Bitcoin Core, 2026). A question to think about is this: what does the # suffix buy you when you mistype one character? The full explanation is on the course page, chapter 3, in Descriptor wallet and Legacy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decoded transaction is the structure that results from reading the bytes of a serialized transaction and naming each field. The command decoderawtransaction takes the hexadecimal string and returns a JSON object (Antonopoulos and Harding, 2023). A question to think about is this: which of the two identifiers survives a witness change, and why does that matter? The full explanation is on the course page, chapter 3, in Decoded transaction and Transaction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branch is about what a node holds and what the interface shows of it: the transactions that move value, the blocks that gather them into the shared record, and the state of the chain that results. The full explanation is on the course page, chapter 3, 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header is the summary at the head of every block. Think about this case: chapter 2 drew this tree with toy leaves. The full explanation is on the course page, chapter 3, in Block header and Merkle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semantics branch connects the chapter to the course's wider theme, the meaning of data. A node answers every request in the JSON text format, a structure of names and values, which a program can read but whose names carry no meaning of their own; the field called height in a block's answer means what the documentation says it means, and nothing in the text states it. The full explanation is on the course page, chapter 3,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the agenda names the slides that prove each. A question to think about is this: which line would you defend first, and with which slide? The full explanation is on the course page, chapter 3,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The homework writes itself: clone, checkout the newest tag, build, and bring your log's worker-thread line to class. A question to think about is this: who will have a pruned node syncing before Friday? The full explanation is on the course page, chapter 3, in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something you watched run - a log, a request, a recomputed root. Next: the keys and addresses that make ownership work. The full explanation is on the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hyperlink" Target="https://www.metzdowd.com/pipermail/cryptography/2009-January/014994.html"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raw.githubusercontent.com/bitcoin-core/guix.sigs/main/31.1/achow101/all.SHA256SUMS"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en.bitcoin.it/wiki/Wladimir_van_der_Laan"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aw.githubusercontent.com/bitcoinbook/bitcoinbook/develop/ch03_bitcoin-core.adoc" TargetMode="External"/><Relationship Id="rId2" Type="http://schemas.openxmlformats.org/officeDocument/2006/relationships/hyperlink" Target="https://bitcoincore.org/en/releases/" TargetMode="External"/><Relationship Id="rId3" Type="http://schemas.openxmlformats.org/officeDocument/2006/relationships/hyperlink" Target="https://raw.githubusercontent.com/bitcoin/bitcoin/v31.1/src/bitcoind.cpp" TargetMode="External"/><Relationship Id="rId4" Type="http://schemas.openxmlformats.org/officeDocument/2006/relationships/hyperlink" Target="https://en.wikipedia.org/wiki/Bitcoin_Core" TargetMode="External"/><Relationship Id="rId5" Type="http://schemas.openxmlformats.org/officeDocument/2006/relationships/hyperlink" Target="https://git-scm.com/book/en/v2" TargetMode="External"/><Relationship Id="rId6" Type="http://schemas.openxmlformats.org/officeDocument/2006/relationships/hyperlink" Target="https://raw.githubusercontent.com/bitcoin-core/guix.sigs/main/README.md" TargetMode="External"/><Relationship Id="rId7" Type="http://schemas.openxmlformats.org/officeDocument/2006/relationships/hyperlink" Target="https://raw.githubusercontent.com/bitcoin/bitcoin/master/doc/build-unix.md" TargetMode="External"/><Relationship Id="rId8" Type="http://schemas.openxmlformats.org/officeDocument/2006/relationships/hyperlink" Target="https://developer.bitcoin.org/reference/rpc/" TargetMode="External"/><Relationship Id="rId9" Type="http://schemas.openxmlformats.org/officeDocument/2006/relationships/hyperlink" Target="https://bips.dev/1/" TargetMode="External"/><Relationship Id="rId10" Type="http://schemas.openxmlformats.org/officeDocument/2006/relationships/hyperlink" Target="https://bitcoin.org/bitcoin.pdf" TargetMode="External"/><Relationship Id="rId11" Type="http://schemas.openxmlformats.org/officeDocument/2006/relationships/hyperlink" Target="https://bitcoincore.reviews/" TargetMode="External"/><Relationship Id="rId12" Type="http://schemas.openxmlformats.org/officeDocument/2006/relationships/hyperlink" Target="https://delvingbitcoin.org/" TargetMode="External"/><Relationship Id="rId13" Type="http://schemas.openxmlformats.org/officeDocument/2006/relationships/hyperlink" Target="https://groups.google.com/g/bitcoindev" TargetMode="External"/><Relationship Id="rId14" Type="http://schemas.openxmlformats.org/officeDocument/2006/relationships/hyperlink" Target="https://bitcoin.stackexchange.com" TargetMode="External"/><Relationship Id="rId15" Type="http://schemas.openxmlformats.org/officeDocument/2006/relationships/hyperlink" Target="https://www.youtube.com/embed/XuRnL393pSk" TargetMode="External"/><Relationship Id="rId16" Type="http://schemas.openxmlformats.org/officeDocument/2006/relationships/slideLayout" Target="../slideLayouts/slideLayout1.xml"/><Relationship Id="rId1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3: Bitcoin Core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The reference implementation - download it, verify it, run it, question it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3/assets/c3_cointocode.png">    </p:cNvPr>
          <p:cNvPicPr>
            <a:picLocks noChangeAspect="1"/>
          </p:cNvPicPr>
          <p:nvPr/>
        </p:nvPicPr>
        <p:blipFill>
          <a:blip r:embed="rId1"/>
          <a:srcRect l="0" r="0" t="0" b="0"/>
          <a:stretch/>
        </p:blipFill>
        <p:spPr>
          <a:xfrm>
            <a:off x="5577840" y="1051560"/>
            <a:ext cx="3200400" cy="2286000"/>
          </a:xfrm>
          <a:prstGeom prst="rect">
            <a:avLst/>
          </a:prstGeom>
        </p:spPr>
      </p:pic>
      <p:sp>
        <p:nvSpPr>
          <p:cNvPr id="12" name="Text 9"/>
          <p:cNvSpPr txBox="1"/>
          <p:nvPr/>
        </p:nvSpPr>
        <p:spPr>
          <a:xfrm>
            <a:off x="5577840" y="335584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 full, pruned, and the UTXO set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From source to binary - tags, builds, proofs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Running and talking to it - logs, RPC, wallets  (slides 12-17)</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as data, summary, and resources  (slides 18-23)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examples, shown with their results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by tonight, your own node</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programs does Bitcoin Core consist of?</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settings and files decide how a node runs?</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numbers does the node report about a transaction and a block?</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book's printed outputs differ from the real release 31.1 and the current source?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downloaded release and a chosen library be checked before they are trusted?</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3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13 concepts</a:t>
            </a:r>
            <a:endParaRPr lang="en-US" sz="130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Build</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Operation</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19 concepts</a:t>
            </a:r>
            <a:endParaRPr lang="en-US" sz="130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Interface</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Data</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23 concepts</a:t>
            </a:r>
            <a:endParaRPr lang="en-US" sz="130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Ecosystem</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30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Semantics</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30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Computing</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node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reference implementation is, and what it keeps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node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Pruned node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Initial download</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UTXO set</a:t>
            </a:r>
            <a:endParaRPr lang="en-US" sz="1400" dirty="0"/>
          </a:p>
        </p:txBody>
      </p:sp>
      <p:pic>
        <p:nvPicPr>
          <p:cNvPr id="14" name="Image 0" descr="../../03-materials/ch03/assets/mbc3_0301.png">    </p:cNvPr>
          <p:cNvPicPr>
            <a:picLocks noChangeAspect="1"/>
          </p:cNvPicPr>
          <p:nvPr/>
        </p:nvPicPr>
        <p:blipFill>
          <a:blip r:embed="rId1"/>
          <a:srcRect l="0" r="0" t="0" b="0"/>
          <a:stretch/>
        </p:blipFill>
        <p:spPr>
          <a:xfrm>
            <a:off x="5760720" y="1737360"/>
            <a:ext cx="3017520" cy="2377440"/>
          </a:xfrm>
          <a:prstGeom prst="rect">
            <a:avLst/>
          </a:prstGeom>
        </p:spPr>
      </p:pic>
      <p:sp>
        <p:nvSpPr>
          <p:cNvPr id="15" name="Text 12"/>
          <p:cNvSpPr txBox="1"/>
          <p:nvPr/>
        </p:nvSpPr>
        <p:spPr>
          <a:xfrm>
            <a:off x="5760720" y="41330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Core architecture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Version 0.1, set in stone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Announced on the cryptography list, 8 January 2009</a:t>
            </a:r>
            <a:endParaRPr lang="en-US" sz="1300" dirty="0"/>
          </a:p>
        </p:txBody>
      </p:sp>
      <p:pic>
        <p:nvPicPr>
          <p:cNvPr id="6" name="Image 0" descr="../../03-materials/ch03/assets/photo_satoshi_bust_budapest.jpg">    </p:cNvPr>
          <p:cNvPicPr>
            <a:picLocks noChangeAspect="1"/>
          </p:cNvPicPr>
          <p:nvPr/>
        </p:nvPicPr>
        <p:blipFill>
          <a:blip r:embed="rId1"/>
          <a:srcRect l="0" r="0" t="0" b="0"/>
          <a:stretch/>
        </p:blipFill>
        <p:spPr>
          <a:xfrm>
            <a:off x="6995160" y="1325880"/>
            <a:ext cx="1691640" cy="1920240"/>
          </a:xfrm>
          <a:prstGeom prst="rect">
            <a:avLst/>
          </a:prstGeom>
        </p:spPr>
      </p:pic>
      <p:sp>
        <p:nvSpPr>
          <p:cNvPr id="7" name="Text 4"/>
          <p:cNvSpPr txBox="1"/>
          <p:nvPr/>
        </p:nvSpPr>
        <p:spPr>
          <a:xfrm>
            <a:off x="6995160" y="3264408"/>
            <a:ext cx="1691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457200" y="1298448"/>
            <a:ext cx="2377440" cy="224028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457200" y="1408176"/>
            <a:ext cx="2377440" cy="457200"/>
          </a:xfrm>
          <a:prstGeom prst="rect">
            <a:avLst/>
          </a:prstGeom>
          <a:noFill/>
          <a:ln/>
        </p:spPr>
        <p:txBody>
          <a:bodyPr wrap="square" lIns="0" tIns="0" rIns="0" bIns="0" rtlCol="0" anchor="ctr"/>
          <a:lstStyle/>
          <a:p>
            <a:pPr algn="ctr" indent="0" marL="0">
              <a:buNone/>
            </a:pPr>
            <a:r>
              <a:rPr lang="en-US" sz="1300" b="1" dirty="0">
                <a:solidFill>
                  <a:srgbClr val="2B2622"/>
                </a:solidFill>
                <a:latin typeface="Cambria" pitchFamily="34" charset="0"/>
                <a:ea typeface="Cambria" pitchFamily="34" charset="-122"/>
                <a:cs typeface="Cambria" pitchFamily="34" charset="-120"/>
              </a:rPr>
              <a:t>The Cryptography List</a:t>
            </a:r>
            <a:endParaRPr lang="en-US" sz="1300" dirty="0"/>
          </a:p>
        </p:txBody>
      </p:sp>
      <p:sp>
        <p:nvSpPr>
          <p:cNvPr id="10" name="Shape 7"/>
          <p:cNvSpPr/>
          <p:nvPr/>
        </p:nvSpPr>
        <p:spPr>
          <a:xfrm>
            <a:off x="685800" y="1920240"/>
            <a:ext cx="1920240" cy="0"/>
          </a:xfrm>
          <a:prstGeom prst="line">
            <a:avLst/>
          </a:prstGeom>
          <a:noFill/>
          <a:ln w="12700">
            <a:solidFill>
              <a:srgbClr val="2B2622"/>
            </a:solidFill>
            <a:prstDash val="solid"/>
          </a:ln>
        </p:spPr>
      </p:sp>
      <p:sp>
        <p:nvSpPr>
          <p:cNvPr id="11" name="Text 8"/>
          <p:cNvSpPr txBox="1"/>
          <p:nvPr/>
        </p:nvSpPr>
        <p:spPr>
          <a:xfrm>
            <a:off x="457200" y="1956816"/>
            <a:ext cx="2377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Thursday January 8 2009</a:t>
            </a:r>
            <a:endParaRPr lang="en-US" sz="1050" dirty="0"/>
          </a:p>
        </p:txBody>
      </p:sp>
      <p:sp>
        <p:nvSpPr>
          <p:cNvPr id="12" name="Text 9"/>
          <p:cNvSpPr txBox="1"/>
          <p:nvPr/>
        </p:nvSpPr>
        <p:spPr>
          <a:xfrm>
            <a:off x="621792" y="2194560"/>
            <a:ext cx="20482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v0.1 released</a:t>
            </a:r>
            <a:endParaRPr lang="en-US" sz="1150" dirty="0"/>
          </a:p>
        </p:txBody>
      </p:sp>
      <p:sp>
        <p:nvSpPr>
          <p:cNvPr id="13" name="Shape 10"/>
          <p:cNvSpPr/>
          <p:nvPr/>
        </p:nvSpPr>
        <p:spPr>
          <a:xfrm>
            <a:off x="594360" y="313639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594360" y="313639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download on SourceForge</a:t>
            </a:r>
            <a:endParaRPr lang="en-US" sz="1000" dirty="0"/>
          </a:p>
        </p:txBody>
      </p:sp>
      <p:sp>
        <p:nvSpPr>
          <p:cNvPr id="15" name="Shape 12"/>
          <p:cNvSpPr/>
          <p:nvPr/>
        </p:nvSpPr>
        <p:spPr>
          <a:xfrm>
            <a:off x="3108960" y="161239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383280" y="1371600"/>
            <a:ext cx="34290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days after the genesis block: a runnable Windows program</a:t>
            </a:r>
            <a:endParaRPr lang="en-US" sz="1300" dirty="0"/>
          </a:p>
        </p:txBody>
      </p:sp>
      <p:sp>
        <p:nvSpPr>
          <p:cNvPr id="17" name="Shape 14"/>
          <p:cNvSpPr/>
          <p:nvPr/>
        </p:nvSpPr>
        <p:spPr>
          <a:xfrm>
            <a:off x="3108960" y="222199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383280" y="1981200"/>
            <a:ext cx="34290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core design was set in stone' - Satoshi, a year later</a:t>
            </a:r>
            <a:endParaRPr lang="en-US" sz="1300" dirty="0"/>
          </a:p>
        </p:txBody>
      </p:sp>
      <p:sp>
        <p:nvSpPr>
          <p:cNvPr id="19" name="Shape 16"/>
          <p:cNvSpPr/>
          <p:nvPr/>
        </p:nvSpPr>
        <p:spPr>
          <a:xfrm>
            <a:off x="3108960" y="2831592"/>
            <a:ext cx="128016" cy="128016"/>
          </a:xfrm>
          <a:prstGeom prst="diamond">
            <a:avLst/>
          </a:prstGeom>
          <a:solidFill>
            <a:srgbClr val="D97A14"/>
          </a:solidFill>
          <a:ln w="12700">
            <a:solidFill>
              <a:srgbClr val="D97A14"/>
            </a:solidFill>
            <a:prstDash val="solid"/>
          </a:ln>
        </p:spPr>
      </p:sp>
      <p:sp>
        <p:nvSpPr>
          <p:cNvPr id="20" name="Text 17"/>
          <p:cNvSpPr txBox="1"/>
          <p:nvPr/>
        </p:nvSpPr>
        <p:spPr>
          <a:xfrm>
            <a:off x="3383280" y="2590800"/>
            <a:ext cx="34290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Everything this chapter runs descends from that program</a:t>
            </a:r>
            <a:endParaRPr lang="en-US" sz="1300" dirty="0"/>
          </a:p>
        </p:txBody>
      </p:sp>
      <p:pic>
        <p:nvPicPr>
          <p:cNvPr id="21" name="Image 1" descr="../../03-materials/ch03/assets/shot_bitcoinqt_0_5_2.png">    </p:cNvPr>
          <p:cNvPicPr>
            <a:picLocks noChangeAspect="1"/>
          </p:cNvPicPr>
          <p:nvPr/>
        </p:nvPicPr>
        <p:blipFill>
          <a:blip r:embed="rId2"/>
          <a:srcRect l="0" r="0" t="0" b="0"/>
          <a:stretch/>
        </p:blipFill>
        <p:spPr>
          <a:xfrm>
            <a:off x="3108960" y="3218688"/>
            <a:ext cx="2011680" cy="731520"/>
          </a:xfrm>
          <a:prstGeom prst="rect">
            <a:avLst/>
          </a:prstGeom>
        </p:spPr>
      </p:pic>
      <p:sp>
        <p:nvSpPr>
          <p:cNvPr id="22"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3"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announ…</a:t>
            </a:r>
            <a:endParaRPr lang="en-US" sz="750" dirty="0"/>
          </a:p>
        </p:txBody>
      </p:sp>
      <p:sp>
        <p:nvSpPr>
          <p:cNvPr id="24"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5"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Windows build on Sou…</a:t>
            </a:r>
            <a:endParaRPr lang="en-US" sz="750" dirty="0"/>
          </a:p>
        </p:txBody>
      </p:sp>
      <p:sp>
        <p:nvSpPr>
          <p:cNvPr id="26"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7"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2009-01-08</a:t>
            </a:r>
            <a:endParaRPr lang="en-US" sz="750" dirty="0"/>
          </a:p>
        </p:txBody>
      </p:sp>
      <p:sp>
        <p:nvSpPr>
          <p:cNvPr id="28"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9"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Satoshi: Bitcoin v0.1 released (list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metzdowd.com</a:t>
            </a:r>
            <a:endParaRPr lang="en-US" sz="750" dirty="0"/>
          </a:p>
        </p:txBody>
      </p:sp>
      <p:sp>
        <p:nvSpPr>
          <p:cNvPr id="30"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software came first - the program IS the specification</a:t>
            </a:r>
            <a:endParaRPr lang="en-US" sz="1350" dirty="0"/>
          </a:p>
        </p:txBody>
      </p:sp>
      <p:sp>
        <p:nvSpPr>
          <p:cNvPr id="32"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program, many postures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pruned, and the set every posture must keep</a:t>
            </a:r>
            <a:endParaRPr lang="en-US" sz="1300" dirty="0"/>
          </a:p>
        </p:txBody>
      </p:sp>
      <p:sp>
        <p:nvSpPr>
          <p:cNvPr id="6" name="Shape 4"/>
          <p:cNvSpPr/>
          <p:nvPr/>
        </p:nvSpPr>
        <p:spPr>
          <a:xfrm>
            <a:off x="457200" y="146304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archive</a:t>
            </a:r>
            <a:endParaRPr lang="en-US" sz="1500" dirty="0"/>
          </a:p>
        </p:txBody>
      </p:sp>
      <p:sp>
        <p:nvSpPr>
          <p:cNvPr id="8" name="Text 6"/>
          <p:cNvSpPr txBox="1"/>
          <p:nvPr/>
        </p:nvSpPr>
        <p:spPr>
          <a:xfrm>
            <a:off x="64008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Keeps every block since 2009</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Serves history to anyone who asks</a:t>
            </a:r>
            <a:endParaRPr lang="en-US" sz="1200" dirty="0"/>
          </a:p>
        </p:txBody>
      </p:sp>
      <p:sp>
        <p:nvSpPr>
          <p:cNvPr id="9" name="Shape 7"/>
          <p:cNvSpPr/>
          <p:nvPr/>
        </p:nvSpPr>
        <p:spPr>
          <a:xfrm>
            <a:off x="4754880" y="146304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Pruned</a:t>
            </a:r>
            <a:endParaRPr lang="en-US" sz="1500" dirty="0"/>
          </a:p>
        </p:txBody>
      </p:sp>
      <p:sp>
        <p:nvSpPr>
          <p:cNvPr id="11" name="Text 9"/>
          <p:cNvSpPr txBox="1"/>
          <p:nvPr/>
        </p:nvSpPr>
        <p:spPr>
          <a:xfrm>
            <a:off x="493776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Verifies everything, then discards old blocks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550 MB floor - the run checks 5000 &gt;= 550</a:t>
            </a:r>
            <a:endParaRPr lang="en-US" sz="1200" dirty="0"/>
          </a:p>
        </p:txBody>
      </p:sp>
      <p:sp>
        <p:nvSpPr>
          <p:cNvPr id="12" name="Text 10"/>
          <p:cNvSpPr txBox="1"/>
          <p:nvPr/>
        </p:nvSpPr>
        <p:spPr>
          <a:xfrm>
            <a:off x="457200" y="3246120"/>
            <a:ext cx="2194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pruning's floor, checked</a:t>
            </a:r>
            <a:endParaRPr lang="en-US" sz="1150" dirty="0"/>
          </a:p>
        </p:txBody>
      </p:sp>
      <p:sp>
        <p:nvSpPr>
          <p:cNvPr id="13" name="Shape 11"/>
          <p:cNvSpPr/>
          <p:nvPr/>
        </p:nvSpPr>
        <p:spPr>
          <a:xfrm>
            <a:off x="457200" y="3520440"/>
            <a:ext cx="393192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639312"/>
            <a:ext cx="356616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5000</a:t>
            </a:r>
            <a:r>
              <a:rPr lang="en-US" sz="950" dirty="0">
                <a:solidFill>
                  <a:srgbClr val="E6EDF3"/>
                </a:solidFill>
                <a:latin typeface="Courier New" pitchFamily="34" charset="0"/>
                <a:ea typeface="Courier New" pitchFamily="34" charset="-122"/>
                <a:cs typeface="Courier New" pitchFamily="34" charset="-120"/>
              </a:rPr>
              <a:t> &gt;= </a:t>
            </a:r>
            <a:r>
              <a:rPr lang="en-US" sz="950" dirty="0">
                <a:solidFill>
                  <a:srgbClr val="FFD28A"/>
                </a:solidFill>
                <a:latin typeface="Courier New" pitchFamily="34" charset="0"/>
                <a:ea typeface="Courier New" pitchFamily="34" charset="-122"/>
                <a:cs typeface="Courier New" pitchFamily="34" charset="-120"/>
              </a:rPr>
              <a:t>550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5" name="Text 13"/>
          <p:cNvSpPr txBox="1"/>
          <p:nvPr/>
        </p:nvSpPr>
        <p:spPr>
          <a:xfrm>
            <a:off x="2743200" y="32461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663440" y="32461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IBD: 400 GB at 10 MB/s, in hours</a:t>
            </a:r>
            <a:endParaRPr lang="en-US" sz="1150" dirty="0"/>
          </a:p>
        </p:txBody>
      </p:sp>
      <p:sp>
        <p:nvSpPr>
          <p:cNvPr id="17" name="Shape 15"/>
          <p:cNvSpPr/>
          <p:nvPr/>
        </p:nvSpPr>
        <p:spPr>
          <a:xfrm>
            <a:off x="4663440" y="3520440"/>
            <a:ext cx="402336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4846320" y="3639312"/>
            <a:ext cx="365760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FFD28A"/>
                </a:solidFill>
                <a:latin typeface="Courier New" pitchFamily="34" charset="0"/>
                <a:ea typeface="Courier New" pitchFamily="34" charset="-122"/>
                <a:cs typeface="Courier New" pitchFamily="34" charset="-120"/>
              </a:rPr>
              <a:t>400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a:t>
            </a:r>
            <a:endParaRPr lang="en-US" sz="950" dirty="0"/>
          </a:p>
        </p:txBody>
      </p:sp>
      <p:sp>
        <p:nvSpPr>
          <p:cNvPr id="19" name="Text 17"/>
          <p:cNvSpPr txBox="1"/>
          <p:nvPr/>
        </p:nvSpPr>
        <p:spPr>
          <a:xfrm>
            <a:off x="4663440" y="44074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rules, different storage - pruning keeps the checks, drops the history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From source to binary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Trust arithmetic, not downloads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Clone and tags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Reproducible builds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CMake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Clone it, then pick your version by tag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the git commands are shown, not run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chapter corpus itself reads a pinned checkout - commit 05bc2f53 - and the tag list was read live from the public repository on 2026-10-02.</a:t>
            </a:r>
            <a:endParaRPr lang="en-US" sz="1250" dirty="0"/>
          </a:p>
        </p:txBody>
      </p:sp>
      <p:sp>
        <p:nvSpPr>
          <p:cNvPr id="7" name="Shape 5"/>
          <p:cNvSpPr/>
          <p:nvPr/>
        </p:nvSpPr>
        <p:spPr>
          <a:xfrm>
            <a:off x="457200" y="1463040"/>
            <a:ext cx="2426208" cy="1051560"/>
          </a:xfrm>
          <a:prstGeom prst="roundRect">
            <a:avLst>
              <a:gd name="adj" fmla="val 8696"/>
            </a:avLst>
          </a:prstGeom>
          <a:solidFill>
            <a:srgbClr val="2F6D62"/>
          </a:solidFill>
          <a:ln w="12700">
            <a:solidFill>
              <a:srgbClr val="2F6D62"/>
            </a:solidFill>
            <a:prstDash val="solid"/>
          </a:ln>
        </p:spPr>
      </p:sp>
      <p:sp>
        <p:nvSpPr>
          <p:cNvPr id="8" name="Text 6"/>
          <p:cNvSpPr txBox="1"/>
          <p:nvPr/>
        </p:nvSpPr>
        <p:spPr>
          <a:xfrm>
            <a:off x="530352"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clone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whole history</a:t>
            </a:r>
            <a:endParaRPr lang="en-US" sz="1250" dirty="0"/>
          </a:p>
        </p:txBody>
      </p:sp>
      <p:sp>
        <p:nvSpPr>
          <p:cNvPr id="9" name="Shape 7"/>
          <p:cNvSpPr/>
          <p:nvPr/>
        </p:nvSpPr>
        <p:spPr>
          <a:xfrm>
            <a:off x="2938272" y="1988820"/>
            <a:ext cx="365760" cy="0"/>
          </a:xfrm>
          <a:prstGeom prst="line">
            <a:avLst/>
          </a:prstGeom>
          <a:noFill/>
          <a:ln w="25400">
            <a:solidFill>
              <a:srgbClr val="D97A14"/>
            </a:solidFill>
            <a:prstDash val="solid"/>
            <a:tailEnd type="triangle"/>
          </a:ln>
        </p:spPr>
      </p:sp>
      <p:sp>
        <p:nvSpPr>
          <p:cNvPr id="10" name="Shape 8"/>
          <p:cNvSpPr/>
          <p:nvPr/>
        </p:nvSpPr>
        <p:spPr>
          <a:xfrm>
            <a:off x="3358896" y="1463040"/>
            <a:ext cx="2426208" cy="1051560"/>
          </a:xfrm>
          <a:prstGeom prst="roundRect">
            <a:avLst>
              <a:gd name="adj" fmla="val 8696"/>
            </a:avLst>
          </a:prstGeom>
          <a:solidFill>
            <a:srgbClr val="2F6D62"/>
          </a:solidFill>
          <a:ln w="12700">
            <a:solidFill>
              <a:srgbClr val="2F6D62"/>
            </a:solidFill>
            <a:prstDash val="solid"/>
          </a:ln>
        </p:spPr>
      </p:sp>
      <p:sp>
        <p:nvSpPr>
          <p:cNvPr id="11" name="Text 9"/>
          <p:cNvSpPr txBox="1"/>
          <p:nvPr/>
        </p:nvSpPr>
        <p:spPr>
          <a:xfrm>
            <a:off x="3432048"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tag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list the releases</a:t>
            </a:r>
            <a:endParaRPr lang="en-US" sz="1250" dirty="0"/>
          </a:p>
        </p:txBody>
      </p:sp>
      <p:sp>
        <p:nvSpPr>
          <p:cNvPr id="12" name="Shape 10"/>
          <p:cNvSpPr/>
          <p:nvPr/>
        </p:nvSpPr>
        <p:spPr>
          <a:xfrm>
            <a:off x="5839968" y="1988820"/>
            <a:ext cx="365760" cy="0"/>
          </a:xfrm>
          <a:prstGeom prst="line">
            <a:avLst/>
          </a:prstGeom>
          <a:noFill/>
          <a:ln w="25400">
            <a:solidFill>
              <a:srgbClr val="D97A14"/>
            </a:solidFill>
            <a:prstDash val="solid"/>
            <a:tailEnd type="triangle"/>
          </a:ln>
        </p:spPr>
      </p:sp>
      <p:sp>
        <p:nvSpPr>
          <p:cNvPr id="13" name="Shape 11"/>
          <p:cNvSpPr/>
          <p:nvPr/>
        </p:nvSpPr>
        <p:spPr>
          <a:xfrm>
            <a:off x="6260592" y="1463040"/>
            <a:ext cx="2426208" cy="1051560"/>
          </a:xfrm>
          <a:prstGeom prst="roundRect">
            <a:avLst>
              <a:gd name="adj" fmla="val 8696"/>
            </a:avLst>
          </a:prstGeom>
          <a:solidFill>
            <a:srgbClr val="2F6D62"/>
          </a:solidFill>
          <a:ln w="12700">
            <a:solidFill>
              <a:srgbClr val="2F6D62"/>
            </a:solidFill>
            <a:prstDash val="solid"/>
          </a:ln>
        </p:spPr>
      </p:sp>
      <p:sp>
        <p:nvSpPr>
          <p:cNvPr id="14" name="Text 12"/>
          <p:cNvSpPr txBox="1"/>
          <p:nvPr/>
        </p:nvSpPr>
        <p:spPr>
          <a:xfrm>
            <a:off x="6333744"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checkout v...</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one exact snapshot</a:t>
            </a:r>
            <a:endParaRPr lang="en-US" sz="1250" dirty="0"/>
          </a:p>
        </p:txBody>
      </p:sp>
      <p:sp>
        <p:nvSpPr>
          <p:cNvPr id="15" name="Text 13"/>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commit name is 40 hex digits</a:t>
            </a:r>
            <a:endParaRPr lang="en-US" sz="1150" dirty="0"/>
          </a:p>
        </p:txBody>
      </p:sp>
      <p:sp>
        <p:nvSpPr>
          <p:cNvPr id="16" name="Shape 14"/>
          <p:cNvSpPr/>
          <p:nvPr/>
        </p:nvSpPr>
        <p:spPr>
          <a:xfrm>
            <a:off x="457200" y="2743200"/>
            <a:ext cx="393192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640080" y="2862072"/>
            <a:ext cx="3566160" cy="6309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len(</a:t>
            </a:r>
            <a:r>
              <a:rPr lang="en-US" sz="910" dirty="0">
                <a:solidFill>
                  <a:srgbClr val="9ECBFF"/>
                </a:solidFill>
                <a:latin typeface="Courier New" pitchFamily="34" charset="0"/>
                <a:ea typeface="Courier New" pitchFamily="34" charset="-122"/>
                <a:cs typeface="Courier New" pitchFamily="34" charset="-120"/>
              </a:rPr>
              <a:t>'05bc2f53ce0cb239c17dbdd6b261bd2db7d2a940'</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40</a:t>
            </a:r>
            <a:endParaRPr lang="en-US" sz="910" dirty="0"/>
          </a:p>
        </p:txBody>
      </p:sp>
      <p:sp>
        <p:nvSpPr>
          <p:cNvPr id="18" name="Text 16"/>
          <p:cNvSpPr txBox="1"/>
          <p:nvPr/>
        </p:nvSpPr>
        <p:spPr>
          <a:xfrm>
            <a:off x="457200" y="36301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663440" y="24688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tag is just a version, readable</a:t>
            </a:r>
            <a:endParaRPr lang="en-US" sz="1150" dirty="0"/>
          </a:p>
        </p:txBody>
      </p:sp>
      <p:sp>
        <p:nvSpPr>
          <p:cNvPr id="20" name="Shape 18"/>
          <p:cNvSpPr/>
          <p:nvPr/>
        </p:nvSpPr>
        <p:spPr>
          <a:xfrm>
            <a:off x="4663440" y="2743200"/>
            <a:ext cx="402336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846320" y="2862072"/>
            <a:ext cx="36576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9ECBFF"/>
                </a:solidFill>
                <a:latin typeface="Courier New" pitchFamily="34" charset="0"/>
                <a:ea typeface="Courier New" pitchFamily="34" charset="-122"/>
                <a:cs typeface="Courier New" pitchFamily="34" charset="-120"/>
              </a:rPr>
              <a:t>'v24.0.1'</a:t>
            </a:r>
            <a:r>
              <a:rPr lang="en-US" sz="1000" dirty="0">
                <a:solidFill>
                  <a:srgbClr val="E6EDF3"/>
                </a:solidFill>
                <a:latin typeface="Courier New" pitchFamily="34" charset="0"/>
                <a:ea typeface="Courier New" pitchFamily="34" charset="-122"/>
                <a:cs typeface="Courier New" pitchFamily="34" charset="-120"/>
              </a:rPr>
              <a:t>.lstrip(</a:t>
            </a:r>
            <a:r>
              <a:rPr lang="en-US" sz="1000" dirty="0">
                <a:solidFill>
                  <a:srgbClr val="9ECBFF"/>
                </a:solidFill>
                <a:latin typeface="Courier New" pitchFamily="34" charset="0"/>
                <a:ea typeface="Courier New" pitchFamily="34" charset="-122"/>
                <a:cs typeface="Courier New" pitchFamily="34" charset="-120"/>
              </a:rPr>
              <a:t>'v'</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['24', '0', '1']</a:t>
            </a:r>
            <a:endParaRPr lang="en-US" sz="1000" dirty="0"/>
          </a:p>
        </p:txBody>
      </p:sp>
      <p:sp>
        <p:nvSpPr>
          <p:cNvPr id="22" name="Text 20"/>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3840480"/>
            <a:ext cx="2781605" cy="274320"/>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457200" y="3840480"/>
            <a:ext cx="2781605"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stable today: v31.1</a:t>
            </a:r>
            <a:endParaRPr lang="en-US" sz="1200" dirty="0"/>
          </a:p>
        </p:txBody>
      </p:sp>
      <p:sp>
        <p:nvSpPr>
          <p:cNvPr id="25" name="Shape 23"/>
          <p:cNvSpPr/>
          <p:nvPr/>
        </p:nvSpPr>
        <p:spPr>
          <a:xfrm>
            <a:off x="3439973" y="3840480"/>
            <a:ext cx="3412541" cy="274320"/>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3439973" y="3840480"/>
            <a:ext cx="3412541"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next candidate: v32.0rc3</a:t>
            </a:r>
            <a:endParaRPr lang="en-US" sz="1200" dirty="0"/>
          </a:p>
        </p:txBody>
      </p:sp>
      <p:sp>
        <p:nvSpPr>
          <p:cNvPr id="27" name="Shape 25"/>
          <p:cNvSpPr/>
          <p:nvPr/>
        </p:nvSpPr>
        <p:spPr>
          <a:xfrm>
            <a:off x="457200" y="4187952"/>
            <a:ext cx="3286354" cy="274320"/>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457200" y="4187952"/>
            <a:ext cx="3286354"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book's example: v24.0.1</a:t>
            </a:r>
            <a:endParaRPr lang="en-US" sz="12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release is a tag; a tag names one exact snapshot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Dozens of builders, one identical binary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Guix from release 22.0</a:t>
            </a:r>
            <a:endParaRPr lang="en-US" sz="1300" dirty="0"/>
          </a:p>
        </p:txBody>
      </p:sp>
      <p:pic>
        <p:nvPicPr>
          <p:cNvPr id="6" name="Image 0" descr="../../03-materials/ch03/assets/photo_guix_logo.png">    </p:cNvPr>
          <p:cNvPicPr>
            <a:picLocks noChangeAspect="1"/>
          </p:cNvPicPr>
          <p:nvPr/>
        </p:nvPicPr>
        <p:blipFill>
          <a:blip r:embed="rId1"/>
          <a:srcRect l="0" r="0" t="0" b="0"/>
          <a:stretch/>
        </p:blipFill>
        <p:spPr>
          <a:xfrm>
            <a:off x="457200" y="1600200"/>
            <a:ext cx="1691640" cy="548640"/>
          </a:xfrm>
          <a:prstGeom prst="rect">
            <a:avLst/>
          </a:prstGeom>
        </p:spPr>
      </p:pic>
      <p:sp>
        <p:nvSpPr>
          <p:cNvPr id="7" name="Text 4"/>
          <p:cNvSpPr txBox="1"/>
          <p:nvPr/>
        </p:nvSpPr>
        <p:spPr>
          <a:xfrm>
            <a:off x="457200" y="2167128"/>
            <a:ext cx="1691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GNU Guix logo - GNU Guix, public domain</a:t>
            </a:r>
            <a:endParaRPr lang="en-US" sz="900" dirty="0"/>
          </a:p>
        </p:txBody>
      </p:sp>
      <p:sp>
        <p:nvSpPr>
          <p:cNvPr id="8" name="Shape 5"/>
          <p:cNvSpPr/>
          <p:nvPr/>
        </p:nvSpPr>
        <p:spPr>
          <a:xfrm flipV="1">
            <a:off x="2286000" y="1417320"/>
            <a:ext cx="4206240" cy="233172"/>
          </a:xfrm>
          <a:prstGeom prst="trapezoid">
            <a:avLst/>
          </a:prstGeom>
          <a:solidFill>
            <a:srgbClr val="2F6D62"/>
          </a:solidFill>
          <a:ln w="12700">
            <a:solidFill>
              <a:srgbClr val="FFFFFF"/>
            </a:solidFill>
            <a:prstDash val="solid"/>
          </a:ln>
        </p:spPr>
      </p:sp>
      <p:sp>
        <p:nvSpPr>
          <p:cNvPr id="9" name="Text 6"/>
          <p:cNvSpPr txBox="1"/>
          <p:nvPr/>
        </p:nvSpPr>
        <p:spPr>
          <a:xfrm>
            <a:off x="2286000" y="1417320"/>
            <a:ext cx="4206240"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source at the tag</a:t>
            </a:r>
            <a:endParaRPr lang="en-US" sz="1050" dirty="0"/>
          </a:p>
        </p:txBody>
      </p:sp>
      <p:sp>
        <p:nvSpPr>
          <p:cNvPr id="10" name="Shape 7"/>
          <p:cNvSpPr/>
          <p:nvPr/>
        </p:nvSpPr>
        <p:spPr>
          <a:xfrm flipV="1">
            <a:off x="2664562" y="1760220"/>
            <a:ext cx="3449117" cy="233172"/>
          </a:xfrm>
          <a:prstGeom prst="trapezoid">
            <a:avLst/>
          </a:prstGeom>
          <a:solidFill>
            <a:srgbClr val="2F6D62"/>
          </a:solidFill>
          <a:ln w="12700">
            <a:solidFill>
              <a:srgbClr val="FFFFFF"/>
            </a:solidFill>
            <a:prstDash val="solid"/>
          </a:ln>
        </p:spPr>
      </p:sp>
      <p:sp>
        <p:nvSpPr>
          <p:cNvPr id="11" name="Text 8"/>
          <p:cNvSpPr txBox="1"/>
          <p:nvPr/>
        </p:nvSpPr>
        <p:spPr>
          <a:xfrm>
            <a:off x="2664562" y="1760220"/>
            <a:ext cx="3449117"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Guix builds it, bit for bit</a:t>
            </a:r>
            <a:endParaRPr lang="en-US" sz="1050" dirty="0"/>
          </a:p>
        </p:txBody>
      </p:sp>
      <p:sp>
        <p:nvSpPr>
          <p:cNvPr id="12" name="Shape 9"/>
          <p:cNvSpPr/>
          <p:nvPr/>
        </p:nvSpPr>
        <p:spPr>
          <a:xfrm flipV="1">
            <a:off x="3043123" y="2103120"/>
            <a:ext cx="2691994" cy="233172"/>
          </a:xfrm>
          <a:prstGeom prst="trapezoid">
            <a:avLst/>
          </a:prstGeom>
          <a:solidFill>
            <a:srgbClr val="2F6D62"/>
          </a:solidFill>
          <a:ln w="12700">
            <a:solidFill>
              <a:srgbClr val="FFFFFF"/>
            </a:solidFill>
            <a:prstDash val="solid"/>
          </a:ln>
        </p:spPr>
      </p:sp>
      <p:sp>
        <p:nvSpPr>
          <p:cNvPr id="13" name="Text 10"/>
          <p:cNvSpPr txBox="1"/>
          <p:nvPr/>
        </p:nvSpPr>
        <p:spPr>
          <a:xfrm>
            <a:off x="3043123" y="2103120"/>
            <a:ext cx="2691994"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builders compare hashes</a:t>
            </a:r>
            <a:endParaRPr lang="en-US" sz="1050" dirty="0"/>
          </a:p>
        </p:txBody>
      </p:sp>
      <p:sp>
        <p:nvSpPr>
          <p:cNvPr id="14" name="Shape 11"/>
          <p:cNvSpPr/>
          <p:nvPr/>
        </p:nvSpPr>
        <p:spPr>
          <a:xfrm flipV="1">
            <a:off x="3421685" y="2446020"/>
            <a:ext cx="1934870" cy="233172"/>
          </a:xfrm>
          <a:prstGeom prst="trapezoid">
            <a:avLst/>
          </a:prstGeom>
          <a:solidFill>
            <a:srgbClr val="D97A14"/>
          </a:solidFill>
          <a:ln w="12700">
            <a:solidFill>
              <a:srgbClr val="FFFFFF"/>
            </a:solidFill>
            <a:prstDash val="solid"/>
          </a:ln>
        </p:spPr>
      </p:sp>
      <p:sp>
        <p:nvSpPr>
          <p:cNvPr id="15" name="Text 12"/>
          <p:cNvSpPr txBox="1"/>
          <p:nvPr/>
        </p:nvSpPr>
        <p:spPr>
          <a:xfrm>
            <a:off x="3421685" y="2446020"/>
            <a:ext cx="1934870" cy="2331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signed attestations, public</a:t>
            </a:r>
            <a:endParaRPr lang="en-US" sz="1050" dirty="0"/>
          </a:p>
        </p:txBody>
      </p:sp>
      <p:sp>
        <p:nvSpPr>
          <p:cNvPr id="16" name="Text 13"/>
          <p:cNvSpPr txBox="1"/>
          <p:nvPr/>
        </p:nvSpPr>
        <p:spPr>
          <a:xfrm>
            <a:off x="2286000" y="282549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one hash, many signers - a mismatch would betray itself</a:t>
            </a:r>
            <a:endParaRPr lang="en-US" sz="1050" dirty="0"/>
          </a:p>
        </p:txBody>
      </p:sp>
      <p:sp>
        <p:nvSpPr>
          <p:cNvPr id="17" name="Shape 14"/>
          <p:cNvSpPr/>
          <p:nvPr/>
        </p:nvSpPr>
        <p:spPr>
          <a:xfrm>
            <a:off x="6675120" y="1463040"/>
            <a:ext cx="2011680" cy="1554480"/>
          </a:xfrm>
          <a:prstGeom prst="roundRect">
            <a:avLst>
              <a:gd name="adj" fmla="val 4706"/>
            </a:avLst>
          </a:prstGeom>
          <a:solidFill>
            <a:srgbClr val="F2ECE1"/>
          </a:solidFill>
          <a:ln w="12700">
            <a:solidFill>
              <a:srgbClr val="DFD6C7"/>
            </a:solidFill>
            <a:prstDash val="solid"/>
          </a:ln>
        </p:spPr>
      </p:sp>
      <p:sp>
        <p:nvSpPr>
          <p:cNvPr id="18" name="Text 15"/>
          <p:cNvSpPr txBox="1"/>
          <p:nvPr/>
        </p:nvSpPr>
        <p:spPr>
          <a:xfrm>
            <a:off x="6784848" y="1499616"/>
            <a:ext cx="1792224" cy="77175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22.0</a:t>
            </a:r>
            <a:endParaRPr lang="en-US" sz="2600" dirty="0"/>
          </a:p>
        </p:txBody>
      </p:sp>
      <p:sp>
        <p:nvSpPr>
          <p:cNvPr id="19" name="Text 16"/>
          <p:cNvSpPr txBox="1"/>
          <p:nvPr/>
        </p:nvSpPr>
        <p:spPr>
          <a:xfrm>
            <a:off x="6784848" y="2271370"/>
            <a:ext cx="1792224" cy="68397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first Guix-built release line</a:t>
            </a:r>
            <a:endParaRPr lang="en-US" sz="1100" dirty="0"/>
          </a:p>
        </p:txBody>
      </p:sp>
      <p:sp>
        <p:nvSpPr>
          <p:cNvPr id="20" name="Text 17"/>
          <p:cNvSpPr txBox="1"/>
          <p:nvPr/>
        </p:nvSpPr>
        <p:spPr>
          <a:xfrm>
            <a:off x="457200" y="338328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The chapter's research re-verified a real release: checksum equal, signatures good, node run</a:t>
            </a:r>
            <a:endParaRPr lang="en-US" sz="1250" dirty="0"/>
          </a:p>
        </p:txBody>
      </p:sp>
      <p:sp>
        <p:nvSpPr>
          <p:cNvPr id="21"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independent Bitcoin Core…</a:t>
            </a:r>
            <a:endParaRPr lang="en-US" sz="750" dirty="0"/>
          </a:p>
        </p:txBody>
      </p:sp>
      <p:sp>
        <p:nvSpPr>
          <p:cNvPr id="23"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guix.sigs reposito…</a:t>
            </a:r>
            <a:endParaRPr lang="en-US" sz="750" dirty="0"/>
          </a:p>
        </p:txBody>
      </p:sp>
      <p:sp>
        <p:nvSpPr>
          <p:cNvPr id="25"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2021-09-13</a:t>
            </a:r>
            <a:endParaRPr lang="en-US" sz="750" dirty="0"/>
          </a:p>
        </p:txBody>
      </p:sp>
      <p:sp>
        <p:nvSpPr>
          <p:cNvPr id="27"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Builder attestation, Core 31.1 (hash list)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9"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Verify, don't trust - applied to the software itself</a:t>
            </a:r>
            <a:endParaRPr lang="en-US" sz="13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source to bitcoind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the build commands are shown, not run</a:t>
            </a:r>
            <a:endParaRPr lang="en-US" sz="1300" dirty="0"/>
          </a:p>
        </p:txBody>
      </p:sp>
      <p:sp>
        <p:nvSpPr>
          <p:cNvPr id="6" name="Shape 4"/>
          <p:cNvSpPr/>
          <p:nvPr/>
        </p:nvSpPr>
        <p:spPr>
          <a:xfrm>
            <a:off x="457200" y="1417320"/>
            <a:ext cx="1700784" cy="914400"/>
          </a:xfrm>
          <a:prstGeom prst="roundRect">
            <a:avLst>
              <a:gd name="adj" fmla="val 10000"/>
            </a:avLst>
          </a:prstGeom>
          <a:solidFill>
            <a:srgbClr val="2F6D62"/>
          </a:solidFill>
          <a:ln w="12700">
            <a:solidFill>
              <a:srgbClr val="2F6D62"/>
            </a:solidFill>
            <a:prstDash val="solid"/>
          </a:ln>
        </p:spPr>
      </p:sp>
      <p:sp>
        <p:nvSpPr>
          <p:cNvPr id="7" name="Text 5"/>
          <p:cNvSpPr txBox="1"/>
          <p:nvPr/>
        </p:nvSpPr>
        <p:spPr>
          <a:xfrm>
            <a:off x="530352"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cmake -B build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configure</a:t>
            </a:r>
            <a:endParaRPr lang="en-US" sz="1250" dirty="0"/>
          </a:p>
        </p:txBody>
      </p:sp>
      <p:sp>
        <p:nvSpPr>
          <p:cNvPr id="8" name="Shape 6"/>
          <p:cNvSpPr/>
          <p:nvPr/>
        </p:nvSpPr>
        <p:spPr>
          <a:xfrm>
            <a:off x="2212848" y="187452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914400"/>
          </a:xfrm>
          <a:prstGeom prst="roundRect">
            <a:avLst>
              <a:gd name="adj" fmla="val 10000"/>
            </a:avLst>
          </a:prstGeom>
          <a:solidFill>
            <a:srgbClr val="2F6D62"/>
          </a:solidFill>
          <a:ln w="12700">
            <a:solidFill>
              <a:srgbClr val="2F6D62"/>
            </a:solidFill>
            <a:prstDash val="solid"/>
          </a:ln>
        </p:spPr>
      </p:sp>
      <p:sp>
        <p:nvSpPr>
          <p:cNvPr id="10" name="Text 8"/>
          <p:cNvSpPr txBox="1"/>
          <p:nvPr/>
        </p:nvSpPr>
        <p:spPr>
          <a:xfrm>
            <a:off x="2706624"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compile + link</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toolchain</a:t>
            </a:r>
            <a:endParaRPr lang="en-US" sz="1250" dirty="0"/>
          </a:p>
        </p:txBody>
      </p:sp>
      <p:sp>
        <p:nvSpPr>
          <p:cNvPr id="11" name="Shape 9"/>
          <p:cNvSpPr/>
          <p:nvPr/>
        </p:nvSpPr>
        <p:spPr>
          <a:xfrm>
            <a:off x="4389120" y="187452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914400"/>
          </a:xfrm>
          <a:prstGeom prst="roundRect">
            <a:avLst>
              <a:gd name="adj" fmla="val 10000"/>
            </a:avLst>
          </a:prstGeom>
          <a:solidFill>
            <a:srgbClr val="2F6D62"/>
          </a:solidFill>
          <a:ln w="12700">
            <a:solidFill>
              <a:srgbClr val="2F6D62"/>
            </a:solidFill>
            <a:prstDash val="solid"/>
          </a:ln>
        </p:spPr>
      </p:sp>
      <p:sp>
        <p:nvSpPr>
          <p:cNvPr id="13" name="Text 11"/>
          <p:cNvSpPr txBox="1"/>
          <p:nvPr/>
        </p:nvSpPr>
        <p:spPr>
          <a:xfrm>
            <a:off x="4882896"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ctest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suite must pass</a:t>
            </a:r>
            <a:endParaRPr lang="en-US" sz="1250" dirty="0"/>
          </a:p>
        </p:txBody>
      </p:sp>
      <p:sp>
        <p:nvSpPr>
          <p:cNvPr id="14" name="Shape 12"/>
          <p:cNvSpPr/>
          <p:nvPr/>
        </p:nvSpPr>
        <p:spPr>
          <a:xfrm>
            <a:off x="6565392" y="187452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914400"/>
          </a:xfrm>
          <a:prstGeom prst="roundRect">
            <a:avLst>
              <a:gd name="adj" fmla="val 10000"/>
            </a:avLst>
          </a:prstGeom>
          <a:solidFill>
            <a:srgbClr val="2F6D62"/>
          </a:solidFill>
          <a:ln w="12700">
            <a:solidFill>
              <a:srgbClr val="2F6D62"/>
            </a:solidFill>
            <a:prstDash val="solid"/>
          </a:ln>
        </p:spPr>
      </p:sp>
      <p:sp>
        <p:nvSpPr>
          <p:cNvPr id="16" name="Text 14"/>
          <p:cNvSpPr txBox="1"/>
          <p:nvPr/>
        </p:nvSpPr>
        <p:spPr>
          <a:xfrm>
            <a:off x="7059168" y="1463040"/>
            <a:ext cx="1554480" cy="8229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your node</a:t>
            </a:r>
            <a:endParaRPr lang="en-US" sz="1250" dirty="0"/>
          </a:p>
        </p:txBody>
      </p:sp>
      <p:sp>
        <p:nvSpPr>
          <p:cNvPr id="17" name="Text 15"/>
          <p:cNvSpPr txBox="1"/>
          <p:nvPr/>
        </p:nvSpPr>
        <p:spPr>
          <a:xfrm>
            <a:off x="457200" y="237744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old autotools flag, new CMake flag - one mapping</a:t>
            </a:r>
            <a:endParaRPr lang="en-US" sz="1150" dirty="0"/>
          </a:p>
        </p:txBody>
      </p:sp>
      <p:sp>
        <p:nvSpPr>
          <p:cNvPr id="18" name="Shape 16"/>
          <p:cNvSpPr/>
          <p:nvPr/>
        </p:nvSpPr>
        <p:spPr>
          <a:xfrm>
            <a:off x="457200" y="2651760"/>
            <a:ext cx="8229600" cy="566928"/>
          </a:xfrm>
          <a:prstGeom prst="roundRect">
            <a:avLst>
              <a:gd name="adj" fmla="val 16129"/>
            </a:avLst>
          </a:prstGeom>
          <a:solidFill>
            <a:srgbClr val="23272E"/>
          </a:solidFill>
          <a:ln w="12700">
            <a:solidFill>
              <a:srgbClr val="23272E"/>
            </a:solidFill>
            <a:prstDash val="solid"/>
          </a:ln>
        </p:spPr>
      </p:sp>
      <p:sp>
        <p:nvSpPr>
          <p:cNvPr id="19" name="Text 17"/>
          <p:cNvSpPr txBox="1"/>
          <p:nvPr/>
        </p:nvSpPr>
        <p:spPr>
          <a:xfrm>
            <a:off x="640080" y="2770632"/>
            <a:ext cx="7863840" cy="329184"/>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'--disable-wallet'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'-DENABLE_WALLET=OFF'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'--disable-wallet'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'-DENABLE_WALLET=OFF'</a:t>
            </a:r>
            <a:endParaRPr lang="en-US" sz="950" dirty="0"/>
          </a:p>
        </p:txBody>
      </p:sp>
      <p:sp>
        <p:nvSpPr>
          <p:cNvPr id="20" name="Text 18"/>
          <p:cNvSpPr txBox="1"/>
          <p:nvPr/>
        </p:nvSpPr>
        <p:spPr>
          <a:xfrm>
            <a:off x="7040880" y="23774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Text 19"/>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test the chapter runs: chapter 1's subsidy staircase, as a unit test</a:t>
            </a:r>
            <a:endParaRPr lang="en-US" sz="1150" dirty="0"/>
          </a:p>
        </p:txBody>
      </p:sp>
      <p:sp>
        <p:nvSpPr>
          <p:cNvPr id="22" name="Shape 20"/>
          <p:cNvSpPr/>
          <p:nvPr/>
        </p:nvSpPr>
        <p:spPr>
          <a:xfrm>
            <a:off x="457200" y="3474720"/>
            <a:ext cx="8229600" cy="1024128"/>
          </a:xfrm>
          <a:prstGeom prst="roundRect">
            <a:avLst>
              <a:gd name="adj" fmla="val 8929"/>
            </a:avLst>
          </a:prstGeom>
          <a:solidFill>
            <a:srgbClr val="23272E"/>
          </a:solidFill>
          <a:ln w="12700">
            <a:solidFill>
              <a:srgbClr val="23272E"/>
            </a:solidFill>
            <a:prstDash val="solid"/>
          </a:ln>
        </p:spPr>
      </p:sp>
      <p:sp>
        <p:nvSpPr>
          <p:cNvPr id="23" name="Text 21"/>
          <p:cNvSpPr txBox="1"/>
          <p:nvPr/>
        </p:nvSpPr>
        <p:spPr>
          <a:xfrm>
            <a:off x="640080" y="3593592"/>
            <a:ext cx="7863840" cy="585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def</a:t>
            </a:r>
            <a:r>
              <a:rPr lang="en-US" sz="780" dirty="0">
                <a:solidFill>
                  <a:srgbClr val="E6EDF3"/>
                </a:solidFill>
                <a:latin typeface="Courier New" pitchFamily="34" charset="0"/>
                <a:ea typeface="Courier New" pitchFamily="34" charset="-122"/>
                <a:cs typeface="Courier New" pitchFamily="34" charset="-120"/>
              </a:rPr>
              <a:t> subsidy(h):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return</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if</a:t>
            </a:r>
            <a:r>
              <a:rPr lang="en-US" sz="780" dirty="0">
                <a:solidFill>
                  <a:srgbClr val="E6EDF3"/>
                </a:solidFill>
                <a:latin typeface="Courier New" pitchFamily="34" charset="0"/>
                <a:ea typeface="Courier New" pitchFamily="34" charset="-122"/>
                <a:cs typeface="Courier New" pitchFamily="34" charset="-120"/>
              </a:rPr>
              <a:t> h //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 &gt;= </a:t>
            </a:r>
            <a:r>
              <a:rPr lang="en-US" sz="780" dirty="0">
                <a:solidFill>
                  <a:srgbClr val="FFD28A"/>
                </a:solidFill>
                <a:latin typeface="Courier New" pitchFamily="34" charset="0"/>
                <a:ea typeface="Courier New" pitchFamily="34" charset="-122"/>
                <a:cs typeface="Courier New" pitchFamily="34" charset="-120"/>
              </a:rPr>
              <a:t>64</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else</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50</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FFD28A"/>
                </a:solidFill>
                <a:latin typeface="Courier New" pitchFamily="34" charset="0"/>
                <a:ea typeface="Courier New" pitchFamily="34" charset="-122"/>
                <a:cs typeface="Courier New" pitchFamily="34" charset="-120"/>
              </a:rPr>
              <a:t>10</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FFD28A"/>
                </a:solidFill>
                <a:latin typeface="Courier New" pitchFamily="34" charset="0"/>
                <a:ea typeface="Courier New" pitchFamily="34" charset="-122"/>
                <a:cs typeface="Courier New" pitchFamily="34" charset="-120"/>
              </a:rPr>
              <a:t>8</a:t>
            </a:r>
            <a:r>
              <a:rPr lang="en-US" sz="780" dirty="0">
                <a:solidFill>
                  <a:srgbClr val="E6EDF3"/>
                </a:solidFill>
                <a:latin typeface="Courier New" pitchFamily="34" charset="0"/>
                <a:ea typeface="Courier New" pitchFamily="34" charset="-122"/>
                <a:cs typeface="Courier New" pitchFamily="34" charset="-120"/>
              </a:rPr>
              <a:t>) &gt;&gt; (h //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[subsidy(h) </a:t>
            </a:r>
            <a:r>
              <a:rPr lang="en-US" sz="780" b="1" dirty="0">
                <a:solidFill>
                  <a:srgbClr val="F2A860"/>
                </a:solidFill>
                <a:latin typeface="Courier New" pitchFamily="34" charset="0"/>
                <a:ea typeface="Courier New" pitchFamily="34" charset="-122"/>
                <a:cs typeface="Courier New" pitchFamily="34" charset="-120"/>
              </a:rPr>
              <a:t>for</a:t>
            </a:r>
            <a:r>
              <a:rPr lang="en-US" sz="780" dirty="0">
                <a:solidFill>
                  <a:srgbClr val="E6EDF3"/>
                </a:solidFill>
                <a:latin typeface="Courier New" pitchFamily="34" charset="0"/>
                <a:ea typeface="Courier New" pitchFamily="34" charset="-122"/>
                <a:cs typeface="Courier New" pitchFamily="34" charset="-120"/>
              </a:rPr>
              <a:t> h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209999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210000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630000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775072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result </a:t>
            </a:r>
            <a:r>
              <a:rPr lang="en-US" sz="780" dirty="0">
                <a:solidFill>
                  <a:srgbClr val="7EE787"/>
                </a:solidFill>
                <a:latin typeface="Courier New" pitchFamily="34" charset="0"/>
                <a:ea typeface="Courier New" pitchFamily="34" charset="-122"/>
                <a:cs typeface="Courier New" pitchFamily="34" charset="-120"/>
              </a:rPr>
              <a:t>[5000000000, 5000000000, 2500000000, 625000000, 625000000]</a:t>
            </a:r>
            <a:endParaRPr lang="en-US" sz="780" dirty="0"/>
          </a:p>
        </p:txBody>
      </p:sp>
      <p:sp>
        <p:nvSpPr>
          <p:cNvPr id="24" name="Text 22"/>
          <p:cNvSpPr txBox="1"/>
          <p:nvPr/>
        </p:nvSpPr>
        <p:spPr>
          <a:xfrm>
            <a:off x="640080" y="426110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SoftwareTesting, lines 1 to 3 of 3, run under Python 3.14.6</a:t>
            </a:r>
            <a:endParaRPr lang="en-US" sz="8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build system turns audited text into your node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Running and talking to it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daemon, a log that explains itself, and one protocol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run</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daemon</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bitcoin-cli</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JSON-RPC</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log narrates everything the node decides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a real 31.1 startup, captured for this chapter</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First run creates the data directory and a config</a:t>
            </a:r>
            <a:endParaRPr lang="en-US" sz="1050" dirty="0"/>
          </a:p>
        </p:txBody>
      </p:sp>
      <p:sp>
        <p:nvSpPr>
          <p:cNvPr id="9" name="Shape 7"/>
          <p:cNvSpPr/>
          <p:nvPr/>
        </p:nvSpPr>
        <p:spPr>
          <a:xfrm>
            <a:off x="457200" y="20025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02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6596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log names every subsystem as it wakes</a:t>
            </a:r>
            <a:endParaRPr lang="en-US" sz="1050" dirty="0"/>
          </a:p>
        </p:txBody>
      </p:sp>
      <p:sp>
        <p:nvSpPr>
          <p:cNvPr id="12" name="Shape 10"/>
          <p:cNvSpPr/>
          <p:nvPr/>
        </p:nvSpPr>
        <p:spPr>
          <a:xfrm>
            <a:off x="457200" y="25054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05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68880"/>
            <a:ext cx="267919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reads the real log: 16 worker threads</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line of the captured log, parsed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log = </a:t>
            </a:r>
            <a:r>
              <a:rPr lang="en-US" sz="770" dirty="0">
                <a:solidFill>
                  <a:srgbClr val="9ECBFF"/>
                </a:solidFill>
                <a:latin typeface="Courier New" pitchFamily="34" charset="0"/>
                <a:ea typeface="Courier New" pitchFamily="34" charset="-122"/>
                <a:cs typeface="Courier New" pitchFamily="34" charset="-120"/>
              </a:rPr>
              <a:t>'Starting HTTP server with 16 worker threads'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next(l </a:t>
            </a:r>
            <a:r>
              <a:rPr lang="en-US" sz="770" b="1" dirty="0">
                <a:solidFill>
                  <a:srgbClr val="F2A860"/>
                </a:solidFill>
                <a:latin typeface="Courier New" pitchFamily="34" charset="0"/>
                <a:ea typeface="Courier New" pitchFamily="34" charset="-122"/>
                <a:cs typeface="Courier New" pitchFamily="34" charset="-120"/>
              </a:rPr>
              <a:t>for</a:t>
            </a:r>
            <a:r>
              <a:rPr lang="en-US" sz="770" dirty="0">
                <a:solidFill>
                  <a:srgbClr val="E6EDF3"/>
                </a:solidFill>
                <a:latin typeface="Courier New" pitchFamily="34" charset="0"/>
                <a:ea typeface="Courier New" pitchFamily="34" charset="-122"/>
                <a:cs typeface="Courier New" pitchFamily="34" charset="-120"/>
              </a:rPr>
              <a:t> l </a:t>
            </a:r>
            <a:r>
              <a:rPr lang="en-US" sz="770" b="1" dirty="0">
                <a:solidFill>
                  <a:srgbClr val="F2A860"/>
                </a:solidFill>
                <a:latin typeface="Courier New" pitchFamily="34" charset="0"/>
                <a:ea typeface="Courier New" pitchFamily="34" charset="-122"/>
                <a:cs typeface="Courier New" pitchFamily="34" charset="-120"/>
              </a:rPr>
              <a:t>in</a:t>
            </a:r>
            <a:r>
              <a:rPr lang="en-US" sz="770" dirty="0">
                <a:solidFill>
                  <a:srgbClr val="E6EDF3"/>
                </a:solidFill>
                <a:latin typeface="Courier New" pitchFamily="34" charset="0"/>
                <a:ea typeface="Courier New" pitchFamily="34" charset="-122"/>
                <a:cs typeface="Courier New" pitchFamily="34" charset="-120"/>
              </a:rPr>
              <a:t> log.splitlines() </a:t>
            </a:r>
            <a:r>
              <a:rPr lang="en-US" sz="770" b="1" dirty="0">
                <a:solidFill>
                  <a:srgbClr val="F2A860"/>
                </a:solidFill>
                <a:latin typeface="Courier New" pitchFamily="34" charset="0"/>
                <a:ea typeface="Courier New" pitchFamily="34" charset="-122"/>
                <a:cs typeface="Courier New" pitchFamily="34" charset="-120"/>
              </a:rPr>
              <a:t>if</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'worker threads'</a:t>
            </a:r>
            <a:r>
              <a:rPr lang="en-US" sz="770" dirty="0">
                <a:solidFill>
                  <a:srgbClr val="E6EDF3"/>
                </a:solidFill>
                <a:latin typeface="Courier New" pitchFamily="34" charset="0"/>
                <a:ea typeface="Courier New" pitchFamily="34" charset="-122"/>
                <a:cs typeface="Courier New" pitchFamily="34" charset="-120"/>
              </a:rPr>
              <a:t> </a:t>
            </a:r>
            <a:r>
              <a:rPr lang="en-US" sz="770" b="1" dirty="0">
                <a:solidFill>
                  <a:srgbClr val="F2A860"/>
                </a:solidFill>
                <a:latin typeface="Courier New" pitchFamily="34" charset="0"/>
                <a:ea typeface="Courier New" pitchFamily="34" charset="-122"/>
                <a:cs typeface="Courier New" pitchFamily="34" charset="-120"/>
              </a:rPr>
              <a:t>in</a:t>
            </a:r>
            <a:r>
              <a:rPr lang="en-US" sz="770" dirty="0">
                <a:solidFill>
                  <a:srgbClr val="E6EDF3"/>
                </a:solidFill>
                <a:latin typeface="Courier New" pitchFamily="34" charset="0"/>
                <a:ea typeface="Courier New" pitchFamily="34" charset="-122"/>
                <a:cs typeface="Courier New" pitchFamily="34" charset="-120"/>
              </a:rPr>
              <a:t> l).split()[-</a:t>
            </a:r>
            <a:r>
              <a:rPr lang="en-US" sz="770" dirty="0">
                <a:solidFill>
                  <a:srgbClr val="FFD28A"/>
                </a:solidFill>
                <a:latin typeface="Courier New" pitchFamily="34" charset="0"/>
                <a:ea typeface="Courier New" pitchFamily="34" charset="-122"/>
                <a:cs typeface="Courier New" pitchFamily="34" charset="-120"/>
              </a:rPr>
              <a:t>3</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'16'</a:t>
            </a:r>
            <a:endParaRPr lang="en-US" sz="77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systemd unit's own flags, extracted from the pinned source tree</a:t>
            </a:r>
            <a:endParaRPr lang="en-US" sz="1150" dirty="0"/>
          </a:p>
        </p:txBody>
      </p:sp>
      <p:sp>
        <p:nvSpPr>
          <p:cNvPr id="20" name="Shape 18"/>
          <p:cNvSpPr/>
          <p:nvPr/>
        </p:nvSpPr>
        <p:spPr>
          <a:xfrm>
            <a:off x="457200" y="329184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10712"/>
            <a:ext cx="7863840" cy="9052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text = DAEMON_D1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line = text.split(</a:t>
            </a:r>
            <a:r>
              <a:rPr lang="en-US" sz="900" dirty="0">
                <a:solidFill>
                  <a:srgbClr val="9ECBFF"/>
                </a:solidFill>
                <a:latin typeface="Courier New" pitchFamily="34" charset="0"/>
                <a:ea typeface="Courier New" pitchFamily="34" charset="-122"/>
                <a:cs typeface="Courier New" pitchFamily="34" charset="-120"/>
              </a:rPr>
              <a:t>'\nExecStart='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].split(</a:t>
            </a:r>
            <a:r>
              <a:rPr lang="en-US" sz="900" dirty="0">
                <a:solidFill>
                  <a:srgbClr val="9ECBFF"/>
                </a:solidFill>
                <a:latin typeface="Courier New" pitchFamily="34" charset="0"/>
                <a:ea typeface="Courier New" pitchFamily="34" charset="-122"/>
                <a:cs typeface="Courier New" pitchFamily="34" charset="-120"/>
              </a:rPr>
              <a:t>'ExecStartPre'</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[w.split(</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w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line.split()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w.startswith(</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and</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not</a:t>
            </a:r>
            <a:r>
              <a:rPr lang="en-US" sz="900" dirty="0">
                <a:solidFill>
                  <a:srgbClr val="E6EDF3"/>
                </a:solidFill>
                <a:latin typeface="Courier New" pitchFamily="34" charset="0"/>
                <a:ea typeface="Courier New" pitchFamily="34" charset="-122"/>
                <a:cs typeface="Courier New" pitchFamily="34" charset="-120"/>
              </a:rPr>
              <a:t> w.startswith(</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['-pid', '-conf', '-datadir', '-startupnotify', '-shutdownnotify']</a:t>
            </a:r>
            <a:endParaRPr lang="en-US" sz="900" dirty="0"/>
          </a:p>
        </p:txBody>
      </p:sp>
      <p:sp>
        <p:nvSpPr>
          <p:cNvPr id="22" name="Text 20"/>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a node misbehaves, the log already wrote the diagnosis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project that outlives its keyholders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2011 and 2014</a:t>
            </a:r>
            <a:endParaRPr lang="en-US" sz="1300" dirty="0"/>
          </a:p>
        </p:txBody>
      </p:sp>
      <p:pic>
        <p:nvPicPr>
          <p:cNvPr id="6" name="Image 0" descr="../../03-materials/ch03/assets/photo_gavin_andresen.jpg">    </p:cNvPr>
          <p:cNvPicPr>
            <a:picLocks noChangeAspect="1"/>
          </p:cNvPicPr>
          <p:nvPr/>
        </p:nvPicPr>
        <p:blipFill>
          <a:blip r:embed="rId1"/>
          <a:srcRect l="0" r="0" t="0" b="0"/>
          <a:stretch/>
        </p:blipFill>
        <p:spPr>
          <a:xfrm>
            <a:off x="6903720" y="2423160"/>
            <a:ext cx="1783080" cy="1188720"/>
          </a:xfrm>
          <a:prstGeom prst="rect">
            <a:avLst/>
          </a:prstGeom>
        </p:spPr>
      </p:pic>
      <p:sp>
        <p:nvSpPr>
          <p:cNvPr id="7" name="Text 4"/>
          <p:cNvSpPr txBox="1"/>
          <p:nvPr/>
        </p:nvSpPr>
        <p:spPr>
          <a:xfrm>
            <a:off x="6903720" y="3630168"/>
            <a:ext cx="1783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2014 - Stephen McCarthy, CC BY 2.0</a:t>
            </a:r>
            <a:endParaRPr lang="en-US" sz="900" dirty="0"/>
          </a:p>
        </p:txBody>
      </p:sp>
      <p:sp>
        <p:nvSpPr>
          <p:cNvPr id="8" name="Shape 5"/>
          <p:cNvSpPr/>
          <p:nvPr/>
        </p:nvSpPr>
        <p:spPr>
          <a:xfrm>
            <a:off x="457200" y="1371600"/>
            <a:ext cx="1700784" cy="960120"/>
          </a:xfrm>
          <a:prstGeom prst="roundRect">
            <a:avLst>
              <a:gd name="adj" fmla="val 9524"/>
            </a:avLst>
          </a:prstGeom>
          <a:solidFill>
            <a:srgbClr val="2F6D62"/>
          </a:solidFill>
          <a:ln w="12700">
            <a:solidFill>
              <a:srgbClr val="2F6D62"/>
            </a:solidFill>
            <a:prstDash val="solid"/>
          </a:ln>
        </p:spPr>
      </p:sp>
      <p:sp>
        <p:nvSpPr>
          <p:cNvPr id="9" name="Text 6"/>
          <p:cNvSpPr txBox="1"/>
          <p:nvPr/>
        </p:nvSpPr>
        <p:spPr>
          <a:xfrm>
            <a:off x="530352" y="1417320"/>
            <a:ext cx="155448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Satoshi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2009: v0.1</a:t>
            </a:r>
            <a:endParaRPr lang="en-US" sz="1250" dirty="0"/>
          </a:p>
        </p:txBody>
      </p:sp>
      <p:sp>
        <p:nvSpPr>
          <p:cNvPr id="10" name="Shape 7"/>
          <p:cNvSpPr/>
          <p:nvPr/>
        </p:nvSpPr>
        <p:spPr>
          <a:xfrm>
            <a:off x="2212848" y="1851660"/>
            <a:ext cx="365760" cy="0"/>
          </a:xfrm>
          <a:prstGeom prst="line">
            <a:avLst/>
          </a:prstGeom>
          <a:noFill/>
          <a:ln w="25400">
            <a:solidFill>
              <a:srgbClr val="D97A14"/>
            </a:solidFill>
            <a:prstDash val="solid"/>
            <a:tailEnd type="triangle"/>
          </a:ln>
        </p:spPr>
      </p:sp>
      <p:sp>
        <p:nvSpPr>
          <p:cNvPr id="11" name="Shape 8"/>
          <p:cNvSpPr/>
          <p:nvPr/>
        </p:nvSpPr>
        <p:spPr>
          <a:xfrm>
            <a:off x="2633472" y="1371600"/>
            <a:ext cx="1700784" cy="960120"/>
          </a:xfrm>
          <a:prstGeom prst="roundRect">
            <a:avLst>
              <a:gd name="adj" fmla="val 9524"/>
            </a:avLst>
          </a:prstGeom>
          <a:solidFill>
            <a:srgbClr val="2F6D62"/>
          </a:solidFill>
          <a:ln w="12700">
            <a:solidFill>
              <a:srgbClr val="2F6D62"/>
            </a:solidFill>
            <a:prstDash val="solid"/>
          </a:ln>
        </p:spPr>
      </p:sp>
      <p:sp>
        <p:nvSpPr>
          <p:cNvPr id="12" name="Text 9"/>
          <p:cNvSpPr txBox="1"/>
          <p:nvPr/>
        </p:nvSpPr>
        <p:spPr>
          <a:xfrm>
            <a:off x="2706624" y="1417320"/>
            <a:ext cx="155448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Gavin Andresen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2011: the handoff</a:t>
            </a:r>
            <a:endParaRPr lang="en-US" sz="1250" dirty="0"/>
          </a:p>
        </p:txBody>
      </p:sp>
      <p:sp>
        <p:nvSpPr>
          <p:cNvPr id="13" name="Shape 10"/>
          <p:cNvSpPr/>
          <p:nvPr/>
        </p:nvSpPr>
        <p:spPr>
          <a:xfrm>
            <a:off x="4389120" y="1851660"/>
            <a:ext cx="365760" cy="0"/>
          </a:xfrm>
          <a:prstGeom prst="line">
            <a:avLst/>
          </a:prstGeom>
          <a:noFill/>
          <a:ln w="25400">
            <a:solidFill>
              <a:srgbClr val="D97A14"/>
            </a:solidFill>
            <a:prstDash val="solid"/>
            <a:tailEnd type="triangle"/>
          </a:ln>
        </p:spPr>
      </p:sp>
      <p:sp>
        <p:nvSpPr>
          <p:cNvPr id="14" name="Shape 11"/>
          <p:cNvSpPr/>
          <p:nvPr/>
        </p:nvSpPr>
        <p:spPr>
          <a:xfrm>
            <a:off x="4809744" y="1371600"/>
            <a:ext cx="1700784" cy="960120"/>
          </a:xfrm>
          <a:prstGeom prst="roundRect">
            <a:avLst>
              <a:gd name="adj" fmla="val 9524"/>
            </a:avLst>
          </a:prstGeom>
          <a:solidFill>
            <a:srgbClr val="2F6D62"/>
          </a:solidFill>
          <a:ln w="12700">
            <a:solidFill>
              <a:srgbClr val="2F6D62"/>
            </a:solidFill>
            <a:prstDash val="solid"/>
          </a:ln>
        </p:spPr>
      </p:sp>
      <p:sp>
        <p:nvSpPr>
          <p:cNvPr id="15" name="Text 12"/>
          <p:cNvSpPr txBox="1"/>
          <p:nvPr/>
        </p:nvSpPr>
        <p:spPr>
          <a:xfrm>
            <a:off x="4882896" y="1417320"/>
            <a:ext cx="155448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 van der Laan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2014: lead maintainer</a:t>
            </a:r>
            <a:endParaRPr lang="en-US" sz="1250" dirty="0"/>
          </a:p>
        </p:txBody>
      </p:sp>
      <p:sp>
        <p:nvSpPr>
          <p:cNvPr id="16" name="Shape 13"/>
          <p:cNvSpPr/>
          <p:nvPr/>
        </p:nvSpPr>
        <p:spPr>
          <a:xfrm>
            <a:off x="6565392" y="1851660"/>
            <a:ext cx="365760" cy="0"/>
          </a:xfrm>
          <a:prstGeom prst="line">
            <a:avLst/>
          </a:prstGeom>
          <a:noFill/>
          <a:ln w="25400">
            <a:solidFill>
              <a:srgbClr val="D97A14"/>
            </a:solidFill>
            <a:prstDash val="solid"/>
            <a:tailEnd type="triangle"/>
          </a:ln>
        </p:spPr>
      </p:sp>
      <p:sp>
        <p:nvSpPr>
          <p:cNvPr id="17" name="Shape 14"/>
          <p:cNvSpPr/>
          <p:nvPr/>
        </p:nvSpPr>
        <p:spPr>
          <a:xfrm>
            <a:off x="6986016" y="1371600"/>
            <a:ext cx="1700784" cy="960120"/>
          </a:xfrm>
          <a:prstGeom prst="roundRect">
            <a:avLst>
              <a:gd name="adj" fmla="val 9524"/>
            </a:avLst>
          </a:prstGeom>
          <a:solidFill>
            <a:srgbClr val="2F6D62"/>
          </a:solidFill>
          <a:ln w="12700">
            <a:solidFill>
              <a:srgbClr val="2F6D62"/>
            </a:solidFill>
            <a:prstDash val="solid"/>
          </a:ln>
        </p:spPr>
      </p:sp>
      <p:sp>
        <p:nvSpPr>
          <p:cNvPr id="18" name="Text 15"/>
          <p:cNvSpPr txBox="1"/>
          <p:nvPr/>
        </p:nvSpPr>
        <p:spPr>
          <a:xfrm>
            <a:off x="7059168" y="1417320"/>
            <a:ext cx="155448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many maintainers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today</a:t>
            </a:r>
            <a:endParaRPr lang="en-US" sz="1250" dirty="0"/>
          </a:p>
        </p:txBody>
      </p:sp>
      <p:sp>
        <p:nvSpPr>
          <p:cNvPr id="19" name="Shape 16"/>
          <p:cNvSpPr/>
          <p:nvPr/>
        </p:nvSpPr>
        <p:spPr>
          <a:xfrm>
            <a:off x="457200" y="2747772"/>
            <a:ext cx="128016" cy="128016"/>
          </a:xfrm>
          <a:prstGeom prst="diamond">
            <a:avLst/>
          </a:prstGeom>
          <a:solidFill>
            <a:srgbClr val="D97A14"/>
          </a:solidFill>
          <a:ln w="12700">
            <a:solidFill>
              <a:srgbClr val="D97A14"/>
            </a:solidFill>
            <a:prstDash val="solid"/>
          </a:ln>
        </p:spPr>
      </p:sp>
      <p:sp>
        <p:nvSpPr>
          <p:cNvPr id="20" name="Text 17"/>
          <p:cNvSpPr txBox="1"/>
          <p:nvPr/>
        </p:nvSpPr>
        <p:spPr>
          <a:xfrm>
            <a:off x="731520" y="2468880"/>
            <a:ext cx="5943600" cy="6858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faucet builder of chapter 2 is the 2011 keyholder here</a:t>
            </a:r>
            <a:endParaRPr lang="en-US" sz="1300" dirty="0"/>
          </a:p>
        </p:txBody>
      </p:sp>
      <p:sp>
        <p:nvSpPr>
          <p:cNvPr id="21" name="Shape 18"/>
          <p:cNvSpPr/>
          <p:nvPr/>
        </p:nvSpPr>
        <p:spPr>
          <a:xfrm>
            <a:off x="457200" y="3433572"/>
            <a:ext cx="128016" cy="128016"/>
          </a:xfrm>
          <a:prstGeom prst="diamond">
            <a:avLst/>
          </a:prstGeom>
          <a:solidFill>
            <a:srgbClr val="D97A14"/>
          </a:solidFill>
          <a:ln w="12700">
            <a:solidFill>
              <a:srgbClr val="D97A14"/>
            </a:solidFill>
            <a:prstDash val="solid"/>
          </a:ln>
        </p:spPr>
      </p:sp>
      <p:sp>
        <p:nvSpPr>
          <p:cNvPr id="22" name="Text 19"/>
          <p:cNvSpPr txBox="1"/>
          <p:nvPr/>
        </p:nvSpPr>
        <p:spPr>
          <a:xfrm>
            <a:off x="731520" y="3154680"/>
            <a:ext cx="5943600" cy="6858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Hundreds of contributors; no one has been indispensable since</a:t>
            </a:r>
            <a:endParaRPr lang="en-US" sz="1300" dirty="0"/>
          </a:p>
        </p:txBody>
      </p:sp>
      <p:sp>
        <p:nvSpPr>
          <p:cNvPr id="23" name="Shape 20"/>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to Gavi…</a:t>
            </a:r>
            <a:endParaRPr lang="en-US" sz="750" dirty="0"/>
          </a:p>
        </p:txBody>
      </p:sp>
      <p:sp>
        <p:nvSpPr>
          <p:cNvPr id="25" name="Shape 22"/>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public bitcoin/bit…</a:t>
            </a:r>
            <a:endParaRPr lang="en-US" sz="750" dirty="0"/>
          </a:p>
        </p:txBody>
      </p:sp>
      <p:sp>
        <p:nvSpPr>
          <p:cNvPr id="27" name="Shape 24"/>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2014-04-07</a:t>
            </a:r>
            <a:endParaRPr lang="en-US" sz="750" dirty="0"/>
          </a:p>
        </p:txBody>
      </p:sp>
      <p:sp>
        <p:nvSpPr>
          <p:cNvPr id="29" name="Shape 26"/>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7"/>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Wladimir van der Laan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Maintainers change; the repository and its rules remain</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Talking to the node: bitcoin-cli and JSON-RPC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one protocol under every interface, answers captured from a node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bitcoin-cli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or any HTTP client</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request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method + params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cookie-authenticated</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answer</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machine-readable</a:t>
            </a:r>
            <a:endParaRPr lang="en-US" sz="1250" dirty="0"/>
          </a:p>
        </p:txBody>
      </p:sp>
      <p:sp>
        <p:nvSpPr>
          <p:cNvPr id="17" name="Text 15"/>
          <p:cNvSpPr txBox="1"/>
          <p:nvPr/>
        </p:nvSpPr>
        <p:spPr>
          <a:xfrm>
            <a:off x="457200" y="235915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request body, built and read back</a:t>
            </a:r>
            <a:endParaRPr lang="en-US" sz="1150" dirty="0"/>
          </a:p>
        </p:txBody>
      </p:sp>
      <p:sp>
        <p:nvSpPr>
          <p:cNvPr id="18" name="Shape 16"/>
          <p:cNvSpPr/>
          <p:nvPr/>
        </p:nvSpPr>
        <p:spPr>
          <a:xfrm>
            <a:off x="457200" y="2633472"/>
            <a:ext cx="8229600" cy="868680"/>
          </a:xfrm>
          <a:prstGeom prst="roundRect">
            <a:avLst>
              <a:gd name="adj" fmla="val 10526"/>
            </a:avLst>
          </a:prstGeom>
          <a:solidFill>
            <a:srgbClr val="23272E"/>
          </a:solidFill>
          <a:ln w="12700">
            <a:solidFill>
              <a:srgbClr val="23272E"/>
            </a:solidFill>
            <a:prstDash val="solid"/>
          </a:ln>
        </p:spPr>
      </p:sp>
      <p:sp>
        <p:nvSpPr>
          <p:cNvPr id="19" name="Text 17"/>
          <p:cNvSpPr txBox="1"/>
          <p:nvPr/>
        </p:nvSpPr>
        <p:spPr>
          <a:xfrm>
            <a:off x="640080" y="2752344"/>
            <a:ext cx="786384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b="1" dirty="0">
                <a:solidFill>
                  <a:srgbClr val="F2A860"/>
                </a:solidFill>
                <a:latin typeface="Courier New" pitchFamily="34" charset="0"/>
                <a:ea typeface="Courier New" pitchFamily="34" charset="-122"/>
                <a:cs typeface="Courier New" pitchFamily="34" charset="-120"/>
              </a:rPr>
              <a:t>import</a:t>
            </a:r>
            <a:r>
              <a:rPr lang="en-US" sz="950" dirty="0">
                <a:solidFill>
                  <a:srgbClr val="E6EDF3"/>
                </a:solidFill>
                <a:latin typeface="Courier New" pitchFamily="34" charset="0"/>
                <a:ea typeface="Courier New" pitchFamily="34" charset="-122"/>
                <a:cs typeface="Courier New" pitchFamily="34" charset="-120"/>
              </a:rPr>
              <a:t> json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body = json.dumps({</a:t>
            </a:r>
            <a:r>
              <a:rPr lang="en-US" sz="950" dirty="0">
                <a:solidFill>
                  <a:srgbClr val="9ECBFF"/>
                </a:solidFill>
                <a:latin typeface="Courier New" pitchFamily="34" charset="0"/>
                <a:ea typeface="Courier New" pitchFamily="34" charset="-122"/>
                <a:cs typeface="Courier New" pitchFamily="34" charset="-120"/>
              </a:rPr>
              <a:t>'jsonrpc'</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'curltest'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'method'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'getblockchaininfo'</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'params'</a:t>
            </a:r>
            <a:r>
              <a:rPr lang="en-US" sz="950" dirty="0">
                <a:solidFill>
                  <a:srgbClr val="E6EDF3"/>
                </a:solidFill>
                <a:latin typeface="Courier New" pitchFamily="34" charset="0"/>
                <a:ea typeface="Courier New" pitchFamily="34" charset="-122"/>
                <a:cs typeface="Courier New" pitchFamily="34" charset="-120"/>
              </a:rPr>
              <a:t>: []})</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json.loads(body)[</a:t>
            </a:r>
            <a:r>
              <a:rPr lang="en-US" sz="950" dirty="0">
                <a:solidFill>
                  <a:srgbClr val="9ECBFF"/>
                </a:solidFill>
                <a:latin typeface="Courier New" pitchFamily="34" charset="0"/>
                <a:ea typeface="Courier New" pitchFamily="34" charset="-122"/>
                <a:cs typeface="Courier New" pitchFamily="34" charset="-120"/>
              </a:rPr>
              <a:t>'method'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'getblockchaininfo'</a:t>
            </a:r>
            <a:endParaRPr lang="en-US" sz="950" dirty="0"/>
          </a:p>
        </p:txBody>
      </p:sp>
      <p:sp>
        <p:nvSpPr>
          <p:cNvPr id="20" name="Text 18"/>
          <p:cNvSpPr txBox="1"/>
          <p:nvPr/>
        </p:nvSpPr>
        <p:spPr>
          <a:xfrm>
            <a:off x="7040880" y="235915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566160"/>
            <a:ext cx="2590800" cy="1005840"/>
          </a:xfrm>
          <a:prstGeom prst="roundRect">
            <a:avLst>
              <a:gd name="adj" fmla="val 7273"/>
            </a:avLst>
          </a:prstGeom>
          <a:solidFill>
            <a:srgbClr val="F2ECE1"/>
          </a:solidFill>
          <a:ln w="12700">
            <a:solidFill>
              <a:srgbClr val="DFD6C7"/>
            </a:solidFill>
            <a:prstDash val="solid"/>
          </a:ln>
        </p:spPr>
      </p:sp>
      <p:sp>
        <p:nvSpPr>
          <p:cNvPr id="22" name="Text 20"/>
          <p:cNvSpPr txBox="1"/>
          <p:nvPr/>
        </p:nvSpPr>
        <p:spPr>
          <a:xfrm>
            <a:off x="5669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'main'</a:t>
            </a:r>
            <a:endParaRPr lang="en-US" sz="2800" dirty="0"/>
          </a:p>
        </p:txBody>
      </p:sp>
      <p:sp>
        <p:nvSpPr>
          <p:cNvPr id="23" name="Text 21"/>
          <p:cNvSpPr txBox="1"/>
          <p:nvPr/>
        </p:nvSpPr>
        <p:spPr>
          <a:xfrm>
            <a:off x="5669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chain, from the captured getblockchaininfo</a:t>
            </a:r>
            <a:endParaRPr lang="en-US" sz="1150" dirty="0"/>
          </a:p>
        </p:txBody>
      </p:sp>
      <p:sp>
        <p:nvSpPr>
          <p:cNvPr id="24" name="Shape 22"/>
          <p:cNvSpPr/>
          <p:nvPr/>
        </p:nvSpPr>
        <p:spPr>
          <a:xfrm>
            <a:off x="3276600" y="3566160"/>
            <a:ext cx="2590800" cy="1005840"/>
          </a:xfrm>
          <a:prstGeom prst="roundRect">
            <a:avLst>
              <a:gd name="adj" fmla="val 7273"/>
            </a:avLst>
          </a:prstGeom>
          <a:solidFill>
            <a:srgbClr val="F2ECE1"/>
          </a:solidFill>
          <a:ln w="12700">
            <a:solidFill>
              <a:srgbClr val="DFD6C7"/>
            </a:solidFill>
            <a:prstDash val="solid"/>
          </a:ln>
        </p:spPr>
      </p:sp>
      <p:sp>
        <p:nvSpPr>
          <p:cNvPr id="25" name="Text 23"/>
          <p:cNvSpPr txBox="1"/>
          <p:nvPr/>
        </p:nvSpPr>
        <p:spPr>
          <a:xfrm>
            <a:off x="33863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6" name="Text 24"/>
          <p:cNvSpPr txBox="1"/>
          <p:nvPr/>
        </p:nvSpPr>
        <p:spPr>
          <a:xfrm>
            <a:off x="33863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blocks still to verify</a:t>
            </a:r>
            <a:endParaRPr lang="en-US" sz="1150" dirty="0"/>
          </a:p>
        </p:txBody>
      </p:sp>
      <p:sp>
        <p:nvSpPr>
          <p:cNvPr id="27" name="Shape 25"/>
          <p:cNvSpPr/>
          <p:nvPr/>
        </p:nvSpPr>
        <p:spPr>
          <a:xfrm>
            <a:off x="6096000" y="3566160"/>
            <a:ext cx="2590800" cy="1005840"/>
          </a:xfrm>
          <a:prstGeom prst="roundRect">
            <a:avLst>
              <a:gd name="adj" fmla="val 7273"/>
            </a:avLst>
          </a:prstGeom>
          <a:solidFill>
            <a:srgbClr val="F2ECE1"/>
          </a:solidFill>
          <a:ln w="12700">
            <a:solidFill>
              <a:srgbClr val="DFD6C7"/>
            </a:solidFill>
            <a:prstDash val="solid"/>
          </a:ln>
        </p:spPr>
      </p:sp>
      <p:sp>
        <p:nvSpPr>
          <p:cNvPr id="28" name="Text 26"/>
          <p:cNvSpPr txBox="1"/>
          <p:nvPr/>
        </p:nvSpPr>
        <p:spPr>
          <a:xfrm>
            <a:off x="6205728" y="3639312"/>
            <a:ext cx="237134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True</a:t>
            </a:r>
            <a:endParaRPr lang="en-US" sz="2800" dirty="0"/>
          </a:p>
        </p:txBody>
      </p:sp>
      <p:sp>
        <p:nvSpPr>
          <p:cNvPr id="29" name="Text 27"/>
          <p:cNvSpPr txBox="1"/>
          <p:nvPr/>
        </p:nvSpPr>
        <p:spPr>
          <a:xfrm>
            <a:off x="6205728" y="4089197"/>
            <a:ext cx="237134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initial download complete</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GUI and every explorer speaks this same protocol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Wallets are descriptors now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states what the wallet watches</a:t>
            </a:r>
            <a:endParaRPr lang="en-US" sz="1300" dirty="0"/>
          </a:p>
        </p:txBody>
      </p:sp>
      <p:sp>
        <p:nvSpPr>
          <p:cNvPr id="6" name="Shape 4"/>
          <p:cNvSpPr/>
          <p:nvPr/>
        </p:nvSpPr>
        <p:spPr>
          <a:xfrm>
            <a:off x="457200" y="1389888"/>
            <a:ext cx="3931920" cy="1554480"/>
          </a:xfrm>
          <a:prstGeom prst="roundRect">
            <a:avLst>
              <a:gd name="adj" fmla="val 588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Descriptor wallet (today)</a:t>
            </a:r>
            <a:endParaRPr lang="en-US" sz="1500" dirty="0"/>
          </a:p>
        </p:txBody>
      </p:sp>
      <p:sp>
        <p:nvSpPr>
          <p:cNvPr id="8" name="Text 6"/>
          <p:cNvSpPr txBox="1"/>
          <p:nvPr/>
        </p:nvSpPr>
        <p:spPr>
          <a:xfrm>
            <a:off x="64008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readable expression names keys and script type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Ends in a checksum, like an address does</a:t>
            </a:r>
            <a:endParaRPr lang="en-US" sz="1150" dirty="0"/>
          </a:p>
        </p:txBody>
      </p:sp>
      <p:sp>
        <p:nvSpPr>
          <p:cNvPr id="9" name="Shape 7"/>
          <p:cNvSpPr/>
          <p:nvPr/>
        </p:nvSpPr>
        <p:spPr>
          <a:xfrm>
            <a:off x="4754880" y="1389888"/>
            <a:ext cx="3931920" cy="1554480"/>
          </a:xfrm>
          <a:prstGeom prst="roundRect">
            <a:avLst>
              <a:gd name="adj" fmla="val 588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Legacy wallet (retired)</a:t>
            </a:r>
            <a:endParaRPr lang="en-US" sz="1500" dirty="0"/>
          </a:p>
        </p:txBody>
      </p:sp>
      <p:sp>
        <p:nvSpPr>
          <p:cNvPr id="11" name="Text 9"/>
          <p:cNvSpPr txBox="1"/>
          <p:nvPr/>
        </p:nvSpPr>
        <p:spPr>
          <a:xfrm>
            <a:off x="493776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bag of loose keys in a binary file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Removed from current Bitcoin Core</a:t>
            </a:r>
            <a:endParaRPr lang="en-US" sz="1150" dirty="0"/>
          </a:p>
        </p:txBody>
      </p:sp>
      <p:sp>
        <p:nvSpPr>
          <p:cNvPr id="12" name="Text 10"/>
          <p:cNvSpPr txBox="1"/>
          <p:nvPr/>
        </p:nvSpPr>
        <p:spPr>
          <a:xfrm>
            <a:off x="457200" y="2834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tail of the chapter's descriptor program - the checksum the node itself confirms</a:t>
            </a:r>
            <a:endParaRPr lang="en-US" sz="1150" dirty="0"/>
          </a:p>
        </p:txBody>
      </p:sp>
      <p:sp>
        <p:nvSpPr>
          <p:cNvPr id="13" name="Shape 11"/>
          <p:cNvSpPr/>
          <p:nvPr/>
        </p:nvSpPr>
        <p:spPr>
          <a:xfrm>
            <a:off x="457200" y="3108960"/>
            <a:ext cx="8229600" cy="1444752"/>
          </a:xfrm>
          <a:prstGeom prst="roundRect">
            <a:avLst>
              <a:gd name="adj" fmla="val 6329"/>
            </a:avLst>
          </a:prstGeom>
          <a:solidFill>
            <a:srgbClr val="23272E"/>
          </a:solidFill>
          <a:ln w="12700">
            <a:solidFill>
              <a:srgbClr val="23272E"/>
            </a:solidFill>
            <a:prstDash val="solid"/>
          </a:ln>
        </p:spPr>
      </p:sp>
      <p:sp>
        <p:nvSpPr>
          <p:cNvPr id="14" name="Text 12"/>
          <p:cNvSpPr txBox="1"/>
          <p:nvPr/>
        </p:nvSpPr>
        <p:spPr>
          <a:xfrm>
            <a:off x="640080" y="3227832"/>
            <a:ext cx="7863840" cy="1005840"/>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a:t>
            </a:r>
            <a:r>
              <a:rPr lang="en-US" sz="710" dirty="0">
                <a:solidFill>
                  <a:srgbClr val="FFD28A"/>
                </a:solidFill>
                <a:latin typeface="Courier New" pitchFamily="34" charset="0"/>
                <a:ea typeface="Courier New" pitchFamily="34" charset="-122"/>
                <a:cs typeface="Courier New" pitchFamily="34" charset="-120"/>
              </a:rPr>
              <a:t>9</a:t>
            </a:r>
            <a:r>
              <a:rPr lang="en-US" sz="710" dirty="0">
                <a:solidFill>
                  <a:srgbClr val="E6EDF3"/>
                </a:solidFill>
                <a:latin typeface="Courier New" pitchFamily="34" charset="0"/>
                <a:ea typeface="Courier New" pitchFamily="34" charset="-122"/>
                <a:cs typeface="Courier New" pitchFamily="34" charset="-120"/>
              </a:rPr>
              <a:t>]) + [CHECKSUM_CHARSET.find(x) </a:t>
            </a: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x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s[-</a:t>
            </a:r>
            <a:r>
              <a:rPr lang="en-US" sz="710" dirty="0">
                <a:solidFill>
                  <a:srgbClr val="FFD28A"/>
                </a:solidFill>
                <a:latin typeface="Courier New" pitchFamily="34" charset="0"/>
                <a:ea typeface="Courier New" pitchFamily="34" charset="-122"/>
                <a:cs typeface="Courier New" pitchFamily="34" charset="-120"/>
              </a:rPr>
              <a:t>8</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return</a:t>
            </a:r>
            <a:r>
              <a:rPr lang="en-US" sz="710" dirty="0">
                <a:solidFill>
                  <a:srgbClr val="E6EDF3"/>
                </a:solidFill>
                <a:latin typeface="Courier New" pitchFamily="34" charset="0"/>
                <a:ea typeface="Courier New" pitchFamily="34" charset="-122"/>
                <a:cs typeface="Courier New" pitchFamily="34" charset="-120"/>
              </a:rPr>
              <a:t> descsum_polymod(symbols) == </a:t>
            </a: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r>
              <a:rPr lang="en-US" sz="710" dirty="0">
                <a:solidFill>
                  <a:srgbClr val="E6EDF3"/>
                </a:solidFill>
                <a:latin typeface="Courier New" pitchFamily="34" charset="0"/>
                <a:ea typeface="Courier New" pitchFamily="34" charset="-122"/>
                <a:cs typeface="Courier New" pitchFamily="34" charset="-120"/>
              </a:rPr>
              <a:t> descsum_create(s):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 +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checksum = descsum_polymod(symbols) ^ </a:t>
            </a: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r>
              <a:rPr lang="en-US" sz="710" b="1" dirty="0">
                <a:solidFill>
                  <a:srgbClr val="F2A860"/>
                </a:solidFill>
                <a:latin typeface="Courier New" pitchFamily="34" charset="0"/>
                <a:ea typeface="Courier New" pitchFamily="34" charset="-122"/>
                <a:cs typeface="Courier New" pitchFamily="34" charset="-120"/>
              </a:rPr>
              <a:t>return</a:t>
            </a:r>
            <a:r>
              <a:rPr lang="en-US" sz="710" dirty="0">
                <a:solidFill>
                  <a:srgbClr val="E6EDF3"/>
                </a:solidFill>
                <a:latin typeface="Courier New" pitchFamily="34" charset="0"/>
                <a:ea typeface="Courier New" pitchFamily="34" charset="-122"/>
                <a:cs typeface="Courier New" pitchFamily="34" charset="-120"/>
              </a:rPr>
              <a:t> s + '</a:t>
            </a:r>
            <a:r>
              <a:rPr lang="en-US" sz="710" i="1" dirty="0">
                <a:solidFill>
                  <a:srgbClr val="8FA98F"/>
                </a:solidFill>
                <a:latin typeface="Courier New" pitchFamily="34" charset="0"/>
                <a:ea typeface="Courier New" pitchFamily="34" charset="-122"/>
                <a:cs typeface="Courier New" pitchFamily="34" charset="-120"/>
              </a:rPr>
              <a:t>#' + ''.join(CHECKSUM_CHARSET[(checksum &gt;&gt; (5 * (7 - i))) &amp; 31] for i in range(8))</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result = descsum_create(</a:t>
            </a:r>
            <a:r>
              <a:rPr lang="en-US" sz="710" dirty="0">
                <a:solidFill>
                  <a:srgbClr val="9ECBFF"/>
                </a:solidFill>
                <a:latin typeface="Courier New" pitchFamily="34" charset="0"/>
                <a:ea typeface="Courier New" pitchFamily="34" charset="-122"/>
                <a:cs typeface="Courier New" pitchFamily="34" charset="-120"/>
              </a:rPr>
              <a:t>'wpkh(02f9308a019258c31049344f85f89d5229b531c845836f99b08601f113bce036f9)'</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FFD28A"/>
                </a:solidFill>
                <a:latin typeface="Courier New" pitchFamily="34" charset="0"/>
                <a:ea typeface="Courier New" pitchFamily="34" charset="-122"/>
                <a:cs typeface="Courier New" pitchFamily="34" charset="-120"/>
              </a:rPr>
              <a:t>9</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result </a:t>
            </a:r>
            <a:r>
              <a:rPr lang="en-US" sz="710" dirty="0">
                <a:solidFill>
                  <a:srgbClr val="7EE787"/>
                </a:solidFill>
                <a:latin typeface="Courier New" pitchFamily="34" charset="0"/>
                <a:ea typeface="Courier New" pitchFamily="34" charset="-122"/>
                <a:cs typeface="Courier New" pitchFamily="34" charset="-120"/>
              </a:rPr>
              <a:t>'#8zl0zxma'</a:t>
            </a:r>
            <a:endParaRPr lang="en-US" sz="710" dirty="0"/>
          </a:p>
        </p:txBody>
      </p:sp>
      <p:sp>
        <p:nvSpPr>
          <p:cNvPr id="15" name="Text 13"/>
          <p:cNvSpPr txBox="1"/>
          <p:nvPr/>
        </p:nvSpPr>
        <p:spPr>
          <a:xfrm>
            <a:off x="640080" y="4315968"/>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OutputDescriptor, lines 34 to 40 of 40, run under Python 3.14.6</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descriptor states, in one line, what the wallet watches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Decode a real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the node explains Alice's payment back to us</a:t>
            </a:r>
            <a:endParaRPr lang="en-US" sz="1300" dirty="0"/>
          </a:p>
        </p:txBody>
      </p:sp>
      <p:sp>
        <p:nvSpPr>
          <p:cNvPr id="6" name="Shape 4"/>
          <p:cNvSpPr/>
          <p:nvPr/>
        </p:nvSpPr>
        <p:spPr>
          <a:xfrm>
            <a:off x="457200" y="1423416"/>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350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Chapter 2 built Alice's payment; here the real node decodes the real thing</a:t>
            </a:r>
            <a:endParaRPr lang="en-US" sz="950" dirty="0"/>
          </a:p>
        </p:txBody>
      </p:sp>
      <p:sp>
        <p:nvSpPr>
          <p:cNvPr id="8" name="Shape 6"/>
          <p:cNvSpPr/>
          <p:nvPr/>
        </p:nvSpPr>
        <p:spPr>
          <a:xfrm>
            <a:off x="457200" y="1728216"/>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398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Two outputs come back typed: a taproot payment and taproot change</a:t>
            </a:r>
            <a:endParaRPr lang="en-US" sz="950" dirty="0"/>
          </a:p>
        </p:txBody>
      </p:sp>
      <p:sp>
        <p:nvSpPr>
          <p:cNvPr id="10" name="Shape 8"/>
          <p:cNvSpPr/>
          <p:nvPr/>
        </p:nvSpPr>
        <p:spPr>
          <a:xfrm>
            <a:off x="457200" y="2033016"/>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944624"/>
            <a:ext cx="7955280" cy="30480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Full parse (version, marker, flag, ins, outs, locktime) = (1, 0, 1, 1, 2, 0); flip one witness byte and (wtxid equal, txid equal) = (False, True)</a:t>
            </a:r>
            <a:endParaRPr lang="en-US" sz="950" dirty="0"/>
          </a:p>
        </p:txBody>
      </p:sp>
      <p:sp>
        <p:nvSpPr>
          <p:cNvPr id="12" name="Text 10"/>
          <p:cNvSpPr txBox="1"/>
          <p:nvPr/>
        </p:nvSpPr>
        <p:spPr>
          <a:xfrm>
            <a:off x="457200" y="22677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outputs, as the node reports them</a:t>
            </a:r>
            <a:endParaRPr lang="en-US" sz="1150" dirty="0"/>
          </a:p>
        </p:txBody>
      </p:sp>
      <p:sp>
        <p:nvSpPr>
          <p:cNvPr id="13" name="Shape 11"/>
          <p:cNvSpPr/>
          <p:nvPr/>
        </p:nvSpPr>
        <p:spPr>
          <a:xfrm>
            <a:off x="457200" y="2542032"/>
            <a:ext cx="8229600" cy="530352"/>
          </a:xfrm>
          <a:prstGeom prst="roundRect">
            <a:avLst>
              <a:gd name="adj" fmla="val 17241"/>
            </a:avLst>
          </a:prstGeom>
          <a:solidFill>
            <a:srgbClr val="23272E"/>
          </a:solidFill>
          <a:ln w="12700">
            <a:solidFill>
              <a:srgbClr val="23272E"/>
            </a:solidFill>
            <a:prstDash val="solid"/>
          </a:ln>
        </p:spPr>
      </p:sp>
      <p:sp>
        <p:nvSpPr>
          <p:cNvPr id="14" name="Text 12"/>
          <p:cNvSpPr txBox="1"/>
          <p:nvPr/>
        </p:nvSpPr>
        <p:spPr>
          <a:xfrm>
            <a:off x="640080" y="2660904"/>
            <a:ext cx="7863840" cy="29260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'value'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'scriptPubKey'</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'type'</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o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json.load(io.StringIO(DECODEDTRANSACTION_D1))[</a:t>
            </a:r>
            <a:r>
              <a:rPr lang="en-US" sz="850" dirty="0">
                <a:solidFill>
                  <a:srgbClr val="9ECBFF"/>
                </a:solidFill>
                <a:latin typeface="Courier New" pitchFamily="34" charset="0"/>
                <a:ea typeface="Courier New" pitchFamily="34" charset="-122"/>
                <a:cs typeface="Courier New" pitchFamily="34" charset="-120"/>
              </a:rPr>
              <a:t>'vout'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0.0002, 'witness_v1_taproot'), (1, 0.00075, 'witness_v0_keyhash')]</a:t>
            </a:r>
            <a:endParaRPr lang="en-US" sz="850" dirty="0"/>
          </a:p>
        </p:txBody>
      </p:sp>
      <p:sp>
        <p:nvSpPr>
          <p:cNvPr id="15" name="Text 13"/>
          <p:cNvSpPr txBox="1"/>
          <p:nvPr/>
        </p:nvSpPr>
        <p:spPr>
          <a:xfrm>
            <a:off x="7040880" y="22677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27248"/>
            <a:ext cx="3692347"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and wtxid, computed from her raw bytes</a:t>
            </a:r>
            <a:endParaRPr lang="en-US" sz="1150" dirty="0"/>
          </a:p>
        </p:txBody>
      </p:sp>
      <p:sp>
        <p:nvSpPr>
          <p:cNvPr id="17" name="Shape 15"/>
          <p:cNvSpPr/>
          <p:nvPr/>
        </p:nvSpPr>
        <p:spPr>
          <a:xfrm>
            <a:off x="457200" y="3401568"/>
            <a:ext cx="8229600" cy="1170432"/>
          </a:xfrm>
          <a:prstGeom prst="roundRect">
            <a:avLst>
              <a:gd name="adj" fmla="val 7813"/>
            </a:avLst>
          </a:prstGeom>
          <a:solidFill>
            <a:srgbClr val="23272E"/>
          </a:solidFill>
          <a:ln w="12700">
            <a:solidFill>
              <a:srgbClr val="23272E"/>
            </a:solidFill>
            <a:prstDash val="solid"/>
          </a:ln>
        </p:spPr>
      </p:sp>
      <p:sp>
        <p:nvSpPr>
          <p:cNvPr id="18" name="Text 16"/>
          <p:cNvSpPr txBox="1"/>
          <p:nvPr/>
        </p:nvSpPr>
        <p:spPr>
          <a:xfrm>
            <a:off x="640080" y="3520440"/>
            <a:ext cx="7863840" cy="93268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locktime = int.from_bytes(raw[i:i +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'little'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stripped = raw[:</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 raw[</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:out_end] + raw[wit_end:]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txid = d(stripped)[::-</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wtxid = d(raw)[::-</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(txid[:</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wtxid[:</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('466200308696215b', 'f7cdbc7cf8b910d3')</a:t>
            </a:r>
            <a:endParaRPr lang="en-US" sz="700" dirty="0"/>
          </a:p>
        </p:txBody>
      </p:sp>
      <p:sp>
        <p:nvSpPr>
          <p:cNvPr id="19" name="Text 17"/>
          <p:cNvSpPr txBox="1"/>
          <p:nvPr/>
        </p:nvSpPr>
        <p:spPr>
          <a:xfrm>
            <a:off x="4240987" y="3127248"/>
            <a:ext cx="4445813"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TransactionIdentifier, lines 44 to 48 of 48, 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explains any transaction - Alice's included</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chain as data</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Headers, roots, and the same node from your own code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80-byte header</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root, recomputed</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Libraries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Semantics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header is 80 bytes of commitment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block 123,456's root, recomputed from its saved transactions</a:t>
            </a:r>
            <a:endParaRPr lang="en-US" sz="1300" dirty="0"/>
          </a:p>
        </p:txBody>
      </p:sp>
      <p:sp>
        <p:nvSpPr>
          <p:cNvPr id="6" name="Text 4"/>
          <p:cNvSpPr txBox="1"/>
          <p:nvPr/>
        </p:nvSpPr>
        <p:spPr>
          <a:xfrm>
            <a:off x="457200" y="1188720"/>
            <a:ext cx="14630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six fields, summed</a:t>
            </a:r>
            <a:endParaRPr lang="en-US" sz="1150" dirty="0"/>
          </a:p>
        </p:txBody>
      </p:sp>
      <p:sp>
        <p:nvSpPr>
          <p:cNvPr id="7" name="Shape 5"/>
          <p:cNvSpPr/>
          <p:nvPr/>
        </p:nvSpPr>
        <p:spPr>
          <a:xfrm>
            <a:off x="457200" y="1463040"/>
            <a:ext cx="32004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283464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p:txBody>
      </p:sp>
      <p:sp>
        <p:nvSpPr>
          <p:cNvPr id="9" name="Text 7"/>
          <p:cNvSpPr txBox="1"/>
          <p:nvPr/>
        </p:nvSpPr>
        <p:spPr>
          <a:xfrm>
            <a:off x="20116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3840480" y="1417320"/>
            <a:ext cx="2308860" cy="1005840"/>
          </a:xfrm>
          <a:prstGeom prst="roundRect">
            <a:avLst>
              <a:gd name="adj" fmla="val 7273"/>
            </a:avLst>
          </a:prstGeom>
          <a:solidFill>
            <a:srgbClr val="F2ECE1"/>
          </a:solidFill>
          <a:ln w="12700">
            <a:solidFill>
              <a:srgbClr val="DFD6C7"/>
            </a:solidFill>
            <a:prstDash val="solid"/>
          </a:ln>
        </p:spPr>
      </p:sp>
      <p:sp>
        <p:nvSpPr>
          <p:cNvPr id="11" name="Text 9"/>
          <p:cNvSpPr txBox="1"/>
          <p:nvPr/>
        </p:nvSpPr>
        <p:spPr>
          <a:xfrm>
            <a:off x="3950208" y="1490472"/>
            <a:ext cx="2089404" cy="4297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80</a:t>
            </a:r>
            <a:endParaRPr lang="en-US" sz="2800" dirty="0"/>
          </a:p>
        </p:txBody>
      </p:sp>
      <p:sp>
        <p:nvSpPr>
          <p:cNvPr id="12" name="Text 10"/>
          <p:cNvSpPr txBox="1"/>
          <p:nvPr/>
        </p:nvSpPr>
        <p:spPr>
          <a:xfrm>
            <a:off x="395020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bytes that pin the whole block</a:t>
            </a:r>
            <a:endParaRPr lang="en-US" sz="1150" dirty="0"/>
          </a:p>
        </p:txBody>
      </p:sp>
      <p:sp>
        <p:nvSpPr>
          <p:cNvPr id="13" name="Shape 11"/>
          <p:cNvSpPr/>
          <p:nvPr/>
        </p:nvSpPr>
        <p:spPr>
          <a:xfrm>
            <a:off x="6377940" y="1417320"/>
            <a:ext cx="2308860" cy="1005840"/>
          </a:xfrm>
          <a:prstGeom prst="roundRect">
            <a:avLst>
              <a:gd name="adj" fmla="val 7273"/>
            </a:avLst>
          </a:prstGeom>
          <a:solidFill>
            <a:srgbClr val="F2ECE1"/>
          </a:solidFill>
          <a:ln w="12700">
            <a:solidFill>
              <a:srgbClr val="DFD6C7"/>
            </a:solidFill>
            <a:prstDash val="solid"/>
          </a:ln>
        </p:spPr>
      </p:sp>
      <p:sp>
        <p:nvSpPr>
          <p:cNvPr id="14" name="Text 12"/>
          <p:cNvSpPr txBox="1"/>
          <p:nvPr/>
        </p:nvSpPr>
        <p:spPr>
          <a:xfrm>
            <a:off x="6487668" y="1490472"/>
            <a:ext cx="2089404" cy="42976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0e60651a...</a:t>
            </a:r>
            <a:endParaRPr lang="en-US" sz="2200" dirty="0"/>
          </a:p>
        </p:txBody>
      </p:sp>
      <p:sp>
        <p:nvSpPr>
          <p:cNvPr id="15" name="Text 13"/>
          <p:cNvSpPr txBox="1"/>
          <p:nvPr/>
        </p:nvSpPr>
        <p:spPr>
          <a:xfrm>
            <a:off x="648766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123,456's Merkle root, recomputed</a:t>
            </a:r>
            <a:endParaRPr lang="en-US" sz="1150" dirty="0"/>
          </a:p>
        </p:txBody>
      </p:sp>
      <p:sp>
        <p:nvSpPr>
          <p:cNvPr id="16" name="Text 14"/>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pair, hash, repeat - against a real block</a:t>
            </a:r>
            <a:endParaRPr lang="en-US" sz="1150" dirty="0"/>
          </a:p>
        </p:txBody>
      </p:sp>
      <p:sp>
        <p:nvSpPr>
          <p:cNvPr id="17" name="Shape 15"/>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18" name="Text 16"/>
          <p:cNvSpPr txBox="1"/>
          <p:nvPr/>
        </p:nvSpPr>
        <p:spPr>
          <a:xfrm>
            <a:off x="640080" y="2953512"/>
            <a:ext cx="7863840" cy="1252728"/>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r>
              <a:rPr lang="en-US" sz="900" dirty="0">
                <a:solidFill>
                  <a:srgbClr val="E6EDF3"/>
                </a:solidFill>
                <a:latin typeface="Courier New" pitchFamily="34" charset="0"/>
                <a:ea typeface="Courier New" pitchFamily="34" charset="-122"/>
                <a:cs typeface="Courier New" pitchFamily="34" charset="-120"/>
              </a:rPr>
              <a:t> hashlib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 = </a:t>
            </a:r>
            <a:r>
              <a:rPr lang="en-US" sz="900" b="1" dirty="0">
                <a:solidFill>
                  <a:srgbClr val="F2A860"/>
                </a:solidFill>
                <a:latin typeface="Courier New" pitchFamily="34" charset="0"/>
                <a:ea typeface="Courier New" pitchFamily="34" charset="-122"/>
                <a:cs typeface="Courier New" pitchFamily="34" charset="-120"/>
              </a:rPr>
              <a:t>lambda</a:t>
            </a:r>
            <a:r>
              <a:rPr lang="en-US" sz="900" dirty="0">
                <a:solidFill>
                  <a:srgbClr val="E6EDF3"/>
                </a:solidFill>
                <a:latin typeface="Courier New" pitchFamily="34" charset="0"/>
                <a:ea typeface="Courier New" pitchFamily="34" charset="-122"/>
                <a:cs typeface="Courier New" pitchFamily="34" charset="-120"/>
              </a:rPr>
              <a:t> b: hashlib.sha256(hashlib.sha256(b).digest()).digest()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level = [bytes.fromhex(t)[::-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MERKLEROOT_D1.split()]</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while</a:t>
            </a:r>
            <a:r>
              <a:rPr lang="en-US" sz="900" dirty="0">
                <a:solidFill>
                  <a:srgbClr val="E6EDF3"/>
                </a:solidFill>
                <a:latin typeface="Courier New" pitchFamily="34" charset="0"/>
                <a:ea typeface="Courier New" pitchFamily="34" charset="-122"/>
                <a:cs typeface="Courier New" pitchFamily="34" charset="-120"/>
              </a:rPr>
              <a:t> len(level) &gt;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len(level)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level.append(level[-</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level = [d(level[i] + level[i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len(level),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level[</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900" dirty="0"/>
          </a:p>
        </p:txBody>
      </p:sp>
      <p:sp>
        <p:nvSpPr>
          <p:cNvPr id="19" name="Text 17"/>
          <p:cNvSpPr txBox="1"/>
          <p:nvPr/>
        </p:nvSpPr>
        <p:spPr>
          <a:xfrm>
            <a:off x="640080" y="428853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MerkleRoot, lines 1 to 7 of 7, run under Python 3.14.6</a:t>
            </a:r>
            <a:endParaRPr lang="en-US" sz="8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Eighty bytes pin megabytes - that is the whole trick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and in one library call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Your scripts and the course page read the same node</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wrapper library turns the RPC protocol into one function call</a:t>
            </a:r>
            <a:endParaRPr lang="en-US" sz="9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And the course page stores what you just learned as triples with provenance - same discipline</a:t>
            </a:r>
            <a:endParaRPr lang="en-US" sz="950" dirty="0"/>
          </a:p>
        </p:txBody>
      </p:sp>
      <p:sp>
        <p:nvSpPr>
          <p:cNvPr id="12" name="Text 10"/>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the request a library builds for you</a:t>
            </a:r>
            <a:endParaRPr lang="en-US" sz="1150" dirty="0"/>
          </a:p>
        </p:txBody>
      </p:sp>
      <p:sp>
        <p:nvSpPr>
          <p:cNvPr id="13" name="Shape 11"/>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4" name="Text 12"/>
          <p:cNvSpPr txBox="1"/>
          <p:nvPr/>
        </p:nvSpPr>
        <p:spPr>
          <a:xfrm>
            <a:off x="640080" y="2724912"/>
            <a:ext cx="7863840" cy="70408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json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Proxy: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__getattr__(self,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*args: json.dumps({</a:t>
            </a:r>
            <a:r>
              <a:rPr lang="en-US" sz="700" dirty="0">
                <a:solidFill>
                  <a:srgbClr val="9ECBFF"/>
                </a:solidFill>
                <a:latin typeface="Courier New" pitchFamily="34" charset="0"/>
                <a:ea typeface="Courier New" pitchFamily="34" charset="-122"/>
                <a:cs typeface="Courier New" pitchFamily="34" charset="-120"/>
              </a:rPr>
              <a:t>'version'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'method'</a:t>
            </a:r>
            <a:r>
              <a:rPr lang="en-US" sz="700" dirty="0">
                <a:solidFill>
                  <a:srgbClr val="E6EDF3"/>
                </a:solidFill>
                <a:latin typeface="Courier New" pitchFamily="34" charset="0"/>
                <a:ea typeface="Courier New" pitchFamily="34" charset="-122"/>
                <a:cs typeface="Courier New" pitchFamily="34" charset="-120"/>
              </a:rPr>
              <a:t>: name, </a:t>
            </a:r>
            <a:r>
              <a:rPr lang="en-US" sz="700" dirty="0">
                <a:solidFill>
                  <a:srgbClr val="9ECBFF"/>
                </a:solidFill>
                <a:latin typeface="Courier New" pitchFamily="34" charset="0"/>
                <a:ea typeface="Courier New" pitchFamily="34" charset="-122"/>
                <a:cs typeface="Courier New" pitchFamily="34" charset="-120"/>
              </a:rPr>
              <a:t>'params'</a:t>
            </a:r>
            <a:r>
              <a:rPr lang="en-US" sz="700" dirty="0">
                <a:solidFill>
                  <a:srgbClr val="E6EDF3"/>
                </a:solidFill>
                <a:latin typeface="Courier New" pitchFamily="34" charset="0"/>
                <a:ea typeface="Courier New" pitchFamily="34" charset="-122"/>
                <a:cs typeface="Courier New" pitchFamily="34" charset="-120"/>
              </a:rPr>
              <a:t>: list(args), </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Proxy().getblockhash(</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'{"version": "1.1", "method": "getblockhash", "params": [1000], "id": 1}'</a:t>
            </a:r>
            <a:endParaRPr lang="en-US" sz="700" dirty="0"/>
          </a:p>
        </p:txBody>
      </p:sp>
      <p:sp>
        <p:nvSpPr>
          <p:cNvPr id="15" name="Text 13"/>
          <p:cNvSpPr txBox="1"/>
          <p:nvPr/>
        </p:nvSpPr>
        <p:spPr>
          <a:xfrm>
            <a:off x="640080" y="351129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WrapperLibrary, lines 1 to 5 of 5, run under Python 3.14.6</a:t>
            </a:r>
            <a:endParaRPr lang="en-US" sz="800" dirty="0"/>
          </a:p>
        </p:txBody>
      </p:sp>
      <p:sp>
        <p:nvSpPr>
          <p:cNvPr id="16" name="Shape 14"/>
          <p:cNvSpPr/>
          <p:nvPr/>
        </p:nvSpPr>
        <p:spPr>
          <a:xfrm>
            <a:off x="457200" y="3840480"/>
            <a:ext cx="252923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84048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python-bitcoinlib</a:t>
            </a:r>
            <a:endParaRPr lang="en-US" sz="1200" dirty="0"/>
          </a:p>
        </p:txBody>
      </p:sp>
      <p:sp>
        <p:nvSpPr>
          <p:cNvPr id="18" name="Shape 16"/>
          <p:cNvSpPr/>
          <p:nvPr/>
        </p:nvSpPr>
        <p:spPr>
          <a:xfrm>
            <a:off x="3187598" y="3840480"/>
            <a:ext cx="1393546"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187598" y="3840480"/>
            <a:ext cx="139354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JSON-RPC</a:t>
            </a:r>
            <a:endParaRPr lang="en-US" sz="1200" dirty="0"/>
          </a:p>
        </p:txBody>
      </p:sp>
      <p:sp>
        <p:nvSpPr>
          <p:cNvPr id="20" name="Shape 18"/>
          <p:cNvSpPr/>
          <p:nvPr/>
        </p:nvSpPr>
        <p:spPr>
          <a:xfrm>
            <a:off x="4782312" y="3840480"/>
            <a:ext cx="126735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782312" y="3840480"/>
            <a:ext cx="126735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triples</a:t>
            </a:r>
            <a:endParaRPr lang="en-US" sz="1200" dirty="0"/>
          </a:p>
        </p:txBody>
      </p:sp>
      <p:sp>
        <p:nvSpPr>
          <p:cNvPr id="22" name="Shape 20"/>
          <p:cNvSpPr/>
          <p:nvPr/>
        </p:nvSpPr>
        <p:spPr>
          <a:xfrm>
            <a:off x="6250838" y="3840480"/>
            <a:ext cx="164592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0838" y="384048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provenance</a:t>
            </a:r>
            <a:endParaRPr lang="en-US" sz="12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and your scripts read the same node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Bitcoin Core descends from v0.1 of 2009 - the program IS the specification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release is a tag on a public repository; reproducible builds make the binary provable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narrates itself: a data directory, a config, and a log that explains decisions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Everything speaks JSON-RPC underneath - your scripts can too, today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80 header bytes commit to the whole chain - the Merkle root we recomputed is the hinge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2026-10-19; every entry is a live link in this file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3: Bitcoin Core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193852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Core: releases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release with notes, binaries and signatures</a:t>
            </a:r>
            <a:endParaRPr lang="en-US" sz="1000" dirty="0"/>
          </a:p>
        </p:txBody>
      </p:sp>
      <p:sp>
        <p:nvSpPr>
          <p:cNvPr id="11" name="Shape 9"/>
          <p:cNvSpPr/>
          <p:nvPr/>
        </p:nvSpPr>
        <p:spPr>
          <a:xfrm>
            <a:off x="493776" y="224942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bitcoind.cpp at tag v31.1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daemon's entry point; change the tag to read others</a:t>
            </a:r>
            <a:endParaRPr lang="en-US" sz="1000" dirty="0"/>
          </a:p>
        </p:txBody>
      </p:sp>
      <p:sp>
        <p:nvSpPr>
          <p:cNvPr id="13" name="Shape 11"/>
          <p:cNvSpPr/>
          <p:nvPr/>
        </p:nvSpPr>
        <p:spPr>
          <a:xfrm>
            <a:off x="493776" y="2560320"/>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48716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Wikipedia: Bitcoin Core (article)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History of the client from version 0.1 to the present</a:t>
            </a:r>
            <a:endParaRPr lang="en-US" sz="1000" dirty="0"/>
          </a:p>
        </p:txBody>
      </p:sp>
      <p:sp>
        <p:nvSpPr>
          <p:cNvPr id="15" name="Shape 13"/>
          <p:cNvSpPr/>
          <p:nvPr/>
        </p:nvSpPr>
        <p:spPr>
          <a:xfrm>
            <a:off x="493776" y="2871216"/>
            <a:ext cx="82296" cy="82296"/>
          </a:xfrm>
          <a:prstGeom prst="ellipse">
            <a:avLst/>
          </a:prstGeom>
          <a:solidFill>
            <a:srgbClr val="D97A14"/>
          </a:solidFill>
          <a:ln w="12700">
            <a:solidFill>
              <a:srgbClr val="D97A14"/>
            </a:solidFill>
            <a:prstDash val="solid"/>
          </a:ln>
        </p:spPr>
      </p:sp>
      <p:sp>
        <p:nvSpPr>
          <p:cNvPr id="16" name="Text 14"/>
          <p:cNvSpPr txBox="1"/>
          <p:nvPr/>
        </p:nvSpPr>
        <p:spPr>
          <a:xfrm>
            <a:off x="658368" y="279806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Pro Git, 2nd edition (book)</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free book on Git, by Chacon and Straub  git-scm.com</a:t>
            </a:r>
            <a:endParaRPr lang="en-US" sz="1000" dirty="0"/>
          </a:p>
        </p:txBody>
      </p:sp>
      <p:sp>
        <p:nvSpPr>
          <p:cNvPr id="17" name="Text 15"/>
          <p:cNvSpPr txBox="1"/>
          <p:nvPr/>
        </p:nvSpPr>
        <p:spPr>
          <a:xfrm>
            <a:off x="457200" y="3182112"/>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Verify &amp; build</a:t>
            </a:r>
            <a:endParaRPr lang="en-US" sz="1250" dirty="0"/>
          </a:p>
        </p:txBody>
      </p:sp>
      <p:sp>
        <p:nvSpPr>
          <p:cNvPr id="18" name="Shape 16"/>
          <p:cNvSpPr/>
          <p:nvPr/>
        </p:nvSpPr>
        <p:spPr>
          <a:xfrm>
            <a:off x="493776" y="35295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45643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guix.sigs README: how builders attest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process behind the signed build hashes of each release</a:t>
            </a:r>
            <a:endParaRPr lang="en-US" sz="1000" dirty="0"/>
          </a:p>
        </p:txBody>
      </p:sp>
      <p:sp>
        <p:nvSpPr>
          <p:cNvPr id="20" name="Shape 18"/>
          <p:cNvSpPr/>
          <p:nvPr/>
        </p:nvSpPr>
        <p:spPr>
          <a:xfrm>
            <a:off x="493776" y="3840480"/>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76732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Core build guide for Unix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Dependencies and commands to build bitcoind on Linux</a:t>
            </a:r>
            <a:endParaRPr lang="en-US" sz="1000" dirty="0"/>
          </a:p>
        </p:txBody>
      </p:sp>
      <p:sp>
        <p:nvSpPr>
          <p:cNvPr id="22" name="Shape 20"/>
          <p:cNvSpPr/>
          <p:nvPr/>
        </p:nvSpPr>
        <p:spPr>
          <a:xfrm>
            <a:off x="493776" y="4151376"/>
            <a:ext cx="82296" cy="82296"/>
          </a:xfrm>
          <a:prstGeom prst="ellipse">
            <a:avLst/>
          </a:prstGeom>
          <a:solidFill>
            <a:srgbClr val="D97A14"/>
          </a:solidFill>
          <a:ln w="12700">
            <a:solidFill>
              <a:srgbClr val="D97A14"/>
            </a:solidFill>
            <a:prstDash val="solid"/>
          </a:ln>
        </p:spPr>
      </p:sp>
      <p:sp>
        <p:nvSpPr>
          <p:cNvPr id="23" name="Text 21"/>
          <p:cNvSpPr txBox="1"/>
          <p:nvPr/>
        </p:nvSpPr>
        <p:spPr>
          <a:xfrm>
            <a:off x="658368" y="407822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Core RPC reference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RPC method with arguments, results and examples</a:t>
            </a:r>
            <a:endParaRPr lang="en-US" sz="1000" dirty="0"/>
          </a:p>
        </p:txBody>
      </p:sp>
      <p:sp>
        <p:nvSpPr>
          <p:cNvPr id="24" name="Text 22"/>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25" name="Shape 23"/>
          <p:cNvSpPr/>
          <p:nvPr/>
        </p:nvSpPr>
        <p:spPr>
          <a:xfrm>
            <a:off x="4768596" y="1627632"/>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BIP 1: what a BIP is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change to Bitcoin is proposed, reviewed and numbered</a:t>
            </a:r>
            <a:endParaRPr lang="en-US" sz="1000" dirty="0"/>
          </a:p>
        </p:txBody>
      </p:sp>
      <p:sp>
        <p:nvSpPr>
          <p:cNvPr id="27" name="Shape 25"/>
          <p:cNvSpPr/>
          <p:nvPr/>
        </p:nvSpPr>
        <p:spPr>
          <a:xfrm>
            <a:off x="4768596" y="1938528"/>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29" name="Text 27"/>
          <p:cNvSpPr txBox="1"/>
          <p:nvPr/>
        </p:nvSpPr>
        <p:spPr>
          <a:xfrm>
            <a:off x="4732020" y="22494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30" name="Shape 28"/>
          <p:cNvSpPr/>
          <p:nvPr/>
        </p:nvSpPr>
        <p:spPr>
          <a:xfrm>
            <a:off x="4768596" y="259689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52374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 Core PR Review Club (meetings)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sessions that read one Core pull request together</a:t>
            </a:r>
            <a:endParaRPr lang="en-US" sz="1000" dirty="0"/>
          </a:p>
        </p:txBody>
      </p:sp>
      <p:sp>
        <p:nvSpPr>
          <p:cNvPr id="32" name="Shape 30"/>
          <p:cNvSpPr/>
          <p:nvPr/>
        </p:nvSpPr>
        <p:spPr>
          <a:xfrm>
            <a:off x="4768596" y="2907792"/>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283464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Delving Bitcoin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discuss protocol and Core changes in the open</a:t>
            </a:r>
            <a:endParaRPr lang="en-US" sz="1000" dirty="0"/>
          </a:p>
        </p:txBody>
      </p:sp>
      <p:sp>
        <p:nvSpPr>
          <p:cNvPr id="34" name="Shape 32"/>
          <p:cNvSpPr/>
          <p:nvPr/>
        </p:nvSpPr>
        <p:spPr>
          <a:xfrm>
            <a:off x="4768596" y="3218688"/>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development mailing list; read its archive</a:t>
            </a:r>
            <a:endParaRPr lang="en-US" sz="1000" dirty="0"/>
          </a:p>
        </p:txBody>
      </p:sp>
      <p:sp>
        <p:nvSpPr>
          <p:cNvPr id="36" name="Shape 34"/>
          <p:cNvSpPr/>
          <p:nvPr/>
        </p:nvSpPr>
        <p:spPr>
          <a:xfrm>
            <a:off x="4768596" y="3529584"/>
            <a:ext cx="82296" cy="82296"/>
          </a:xfrm>
          <a:prstGeom prst="ellipse">
            <a:avLst/>
          </a:prstGeom>
          <a:solidFill>
            <a:srgbClr val="D97A14"/>
          </a:solidFill>
          <a:ln w="12700">
            <a:solidFill>
              <a:srgbClr val="D97A14"/>
            </a:solidFill>
            <a:prstDash val="solid"/>
          </a:ln>
        </p:spPr>
      </p:sp>
      <p:sp>
        <p:nvSpPr>
          <p:cNvPr id="37" name="Text 35"/>
          <p:cNvSpPr txBox="1"/>
          <p:nvPr/>
        </p:nvSpPr>
        <p:spPr>
          <a:xfrm>
            <a:off x="4933188" y="345643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38" name="Text 36"/>
          <p:cNvSpPr txBox="1"/>
          <p:nvPr/>
        </p:nvSpPr>
        <p:spPr>
          <a:xfrm>
            <a:off x="4732020" y="38404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39" name="Shape 37"/>
          <p:cNvSpPr/>
          <p:nvPr/>
        </p:nvSpPr>
        <p:spPr>
          <a:xfrm>
            <a:off x="4768596" y="4187952"/>
            <a:ext cx="82296" cy="82296"/>
          </a:xfrm>
          <a:prstGeom prst="ellipse">
            <a:avLst/>
          </a:prstGeom>
          <a:solidFill>
            <a:srgbClr val="D97A14"/>
          </a:solidFill>
          <a:ln w="12700">
            <a:solidFill>
              <a:srgbClr val="D97A14"/>
            </a:solidFill>
            <a:prstDash val="solid"/>
          </a:ln>
        </p:spPr>
      </p:sp>
      <p:sp>
        <p:nvSpPr>
          <p:cNvPr id="40" name="Text 38"/>
          <p:cNvSpPr txBox="1"/>
          <p:nvPr/>
        </p:nvSpPr>
        <p:spPr>
          <a:xfrm>
            <a:off x="4933188" y="411480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Tracing Bitcoin Core v23.0 (talk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 developer shows Core's tracepoints watching a running node</a:t>
            </a:r>
            <a:endParaRPr lang="en-US" sz="10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Clone, verify, build, run - the whole chapter is one evening of commands</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the program comes from, and how to pick a version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verified build beats a trusted download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daemon writes, and how to ask it anything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80 bytes commit to everything beneath them</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dc:title>
  <dc:subject>PptxGenJS Presentation</dc:subject>
  <dc:creator>Yusuf Altunel</dc:creator>
  <cp:lastModifiedBy>Yusuf Altunel</cp:lastModifiedBy>
  <cp:revision>1</cp:revision>
  <dcterms:created xsi:type="dcterms:W3CDTF">2026-10-18T23:14:43Z</dcterms:created>
  <dcterms:modified xsi:type="dcterms:W3CDTF">2026-10-18T23:14:43Z</dcterms:modified>
  <cp:version>2.3.0</cp:version>
</cp:coreProperties>
</file>