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free under CC BY-SA 4.0. The book was printed for Bitcoin Core 24.0.1. Every command here was run on Bitcoin Core 31.1 and every computed figure under Python 3.14.4; the record is in 03-materials/ch03/rdodi.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sections Bitcoin Core: The Reference Implementation and From Bitcoin to Bitcoin Core. BIP9 status Deployed: the BIPs repository, read on 2026-09-29. Bitcoin Core lists the BIPs it implements in doc/bips.md.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Running a Bitcoin Core Node (2023 figures). bitcoincore.org/en/download and bitcoin.org/en/full-node read on 2026-09-29. The bitcoin.org page is the one the owner’s course notes link. The arithmetic was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Selecting a Bitcoin Core Release. bitcoincore.org/en/releases read on 2026-09-29: 31.1, 31.0, 30.3, 30.2, 30.1 are the newest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sections Configuring the Bitcoin Core Build and Building the Bitcoin Core Executables. Bitcoin Core 29.0 release notes, Build System: migrated from Autotools to CMake; -DBUILD_GUI=ON is now needed to build bitcoin-qt. doc/build-unix.md at commit 05bc2f5: cmake -B build; cmake --build build; cmake --install build; -DENABLE_WALLET=OFF builds without the wallet and skips the SQLite dependency. This deck did not compile the source; it ran the released binaries.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31.1, downloaded, checked against its published checksums and run as an offline node; the outputs are in 08-tooling/ch03-evidence. The 11 signatures were verified with builder keys from the bitcoin-core/guix.sigs repository; the keys’ own trust was not established out of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31.1, downloaded, checked against its published checksums and run as an offline node; the outputs are in 08-tooling/ch03-evidence. Bitcoin Core 30.0 release notes, Install changes and IPC Mining Interface. doc/multiprocess.md. The Windows installer name is from the release’s SHA256SUMS.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Configuring the Bitcoin Core Node. Values on 31.1 come from its own help output (bitcoind -help, saved in 08-tooling/ch03-evidence) and the 31.0 release notes: the -dbcache default was raised from 450 to 1024 MiB on systems with at least 4096 MiB of RAM; dbcache=450 restores the old behaviour. The refusal was run: bitcoind -regtest -prune=5000 -txindex=1 prints “Error: Prune mode is incompatible with -txindex.” (08-tooling/ch03-evidence/prune_txindex_31_1.txt).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31.1, downloaded, checked against its published checksums and run as an offline node; the outputs are in 08-tooling/ch03-evidence. The book’s log is in section Configuring the Bitcoin Core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31.1, downloaded, checked against its published checksums and run as an offline node; the outputs are in 08-tooling/ch03-evidence. Bitcoin Core 30.0 release notes, Wallet. The owner’s course notes have three slides on the wallet in Bitcoin Core; the 3rd edition treats wallets in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Getting Information on Bitcoin Core’s Status. 31.1 values from the saved outputs in 08-tooling/ch03-evidence. warnings as an array: 28.0 release notes (-deprecatedrpc=warnings restores the old behaviour temporarily). The P2P_V2 service is the v2 transport of BIP324, added experimentally in 26.0.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Using Bitcoin Core’s Programmatic Interface. doc/files.md and doc/init.md: the cookie is created at start, deleted on shutdown, location set by -rpccookiefile. share/rpcauth/README.md. Never paste a cookie or password into slides, chats or repositories.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31.1, downloaded, checked against its published checksums and run as an offline node; the outputs are in 08-tooling/ch03-evidence. python-bitcoinlib 0.12.2 was installed from PyPI into a Python 3.14.4 environment. The node was started with connect=0 in a throw-away home directory, so its chain is only the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Exploring and Decoding Transactions. The value f7cdbc7c… equals the hash field the book prints and the one Bitcoin Core 31.1 returns for decoderawtransaction.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Exploring and Decoding Transactions: the txid is what getrawtransaction takes. The layout of a segregated-witness serialization (version, marker 00, flag 01, inputs, outputs, witness, locktime) is from the book’s later chapters. Executed under Python 3.14.4; the result equals the book’s txid 466200308696…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the decoded transaction. Weight = 4 x stripped size + witness bytes.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31.1, downloaded, checked against its published checksums and run as an offline node; the outputs are in 08-tooling/ch03-evidence. The mainnet node ran offline: decoderawtransaction needs no chain data. On regtest the addresses begin bcrt1, so the book’s mainnet addresses need a mainnet node. The full decode is in 08-tooling/ch03-evidence/alice_decoded_31_1.json.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Exploring Blocks. Executed under Python 3.14.4. The difficulty is the ratio of the easiest target, 0xffff × 256^(0x1d−3), to this block’s target, 0x6a93b3 × 256^(0x1a−3).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Exploring Blocks: the getblock result lists the block’s 13 transaction identifiers and a merkle root (printed with a middle part elided). The root above equals the one an explorer gives for this block, whose first and last characters match the book’s.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Exploring Blocks (the hash printed for block 123456). The header fields are version, previous block hash, merkle root, time, bits and nonce, all from the getblock result; the previous-block hash is elided in the book and was taken from the Blockstream explorer (a secondary source).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Using Bitcoin Core’s Programmatic Interface: rpc_block.py reads block 775072 but the text reports a total with a 25 BTC reward. Bitcoin Core’s GetBlockSubsidy halves 50 bitcoins every 210,000 blocks. The totals are from the Blockstream Esplora data for the block’s 1,966 transactions (a secondary source), saved in 08-tooling/ch03-evidence. Recorded as a finding for the owner; the chapter’s own advice, to compare with a block explorer, would expose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(Antonopoulos and Harding, 2023), section Alternative Clients, Libraries, and Toolkits. Registry data (npm, PyPI, Go module proxy, crates.io, Maven Central) read on 2026-09-29. The bcoin row is the package on npm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JSON-LD 1.1, W3C Recommendation, 16 July 2020. The abstract calls it a JSON-based format to serialize Linked Data whose syntax is designed to integrate into systems that already use JSON. The project idea is a teaching suggestion within the term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prompts written for this deck from its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every confirmed transaction against every rule, so it was checked by you and not merely reported; cmake -B build then cmake --build build, replacing autogen.sh, configure and make; pruning is incompatible with txindex; the txid leaves the witness out and the hash includes it; that the 25 BTC and the block do not belong together, because at height 775072 the subsidy has been halved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03-materials/ch03/rdodi/sen0401_ch03_research_v1_0_0.ttl.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the 3rd edition is Keys and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548640" y="1005840"/>
            <a:ext cx="731520" cy="731520"/>
          </a:xfrm>
          <a:prstGeom prst="roundRect">
            <a:avLst>
              <a:gd name="adj" fmla="val 12500"/>
            </a:avLst>
          </a:prstGeom>
          <a:solidFill>
            <a:srgbClr val="3A4250"/>
          </a:solidFill>
          <a:ln w="19050">
            <a:solidFill>
              <a:srgbClr val="F7931A"/>
            </a:solidFill>
            <a:prstDash val="solid"/>
          </a:ln>
        </p:spPr>
      </p:sp>
      <p:sp>
        <p:nvSpPr>
          <p:cNvPr id="3" name="Shape 1"/>
          <p:cNvSpPr/>
          <p:nvPr/>
        </p:nvSpPr>
        <p:spPr>
          <a:xfrm>
            <a:off x="1280160" y="1371600"/>
            <a:ext cx="228600" cy="0"/>
          </a:xfrm>
          <a:prstGeom prst="line">
            <a:avLst/>
          </a:prstGeom>
          <a:noFill/>
          <a:ln w="19050">
            <a:solidFill>
              <a:srgbClr val="F7931A"/>
            </a:solidFill>
            <a:prstDash val="solid"/>
          </a:ln>
        </p:spPr>
      </p:sp>
      <p:sp>
        <p:nvSpPr>
          <p:cNvPr id="4" name="Shape 2"/>
          <p:cNvSpPr/>
          <p:nvPr/>
        </p:nvSpPr>
        <p:spPr>
          <a:xfrm>
            <a:off x="1508760" y="1005840"/>
            <a:ext cx="731520" cy="731520"/>
          </a:xfrm>
          <a:prstGeom prst="roundRect">
            <a:avLst>
              <a:gd name="adj" fmla="val 12500"/>
            </a:avLst>
          </a:prstGeom>
          <a:solidFill>
            <a:srgbClr val="3A4250"/>
          </a:solidFill>
          <a:ln w="19050">
            <a:solidFill>
              <a:srgbClr val="F7931A"/>
            </a:solidFill>
            <a:prstDash val="solid"/>
          </a:ln>
        </p:spPr>
      </p:sp>
      <p:sp>
        <p:nvSpPr>
          <p:cNvPr id="5" name="Shape 3"/>
          <p:cNvSpPr/>
          <p:nvPr/>
        </p:nvSpPr>
        <p:spPr>
          <a:xfrm>
            <a:off x="2240280" y="1371600"/>
            <a:ext cx="228600" cy="0"/>
          </a:xfrm>
          <a:prstGeom prst="line">
            <a:avLst/>
          </a:prstGeom>
          <a:noFill/>
          <a:ln w="19050">
            <a:solidFill>
              <a:srgbClr val="F7931A"/>
            </a:solidFill>
            <a:prstDash val="solid"/>
          </a:ln>
        </p:spPr>
      </p:sp>
      <p:sp>
        <p:nvSpPr>
          <p:cNvPr id="6" name="Shape 4"/>
          <p:cNvSpPr/>
          <p:nvPr/>
        </p:nvSpPr>
        <p:spPr>
          <a:xfrm>
            <a:off x="2468880" y="1005840"/>
            <a:ext cx="731520" cy="731520"/>
          </a:xfrm>
          <a:prstGeom prst="roundRect">
            <a:avLst>
              <a:gd name="adj" fmla="val 12500"/>
            </a:avLst>
          </a:prstGeom>
          <a:solidFill>
            <a:srgbClr val="F7931A"/>
          </a:solidFill>
          <a:ln w="19050">
            <a:solidFill>
              <a:srgbClr val="F7931A"/>
            </a:solidFill>
            <a:prstDash val="solid"/>
          </a:ln>
        </p:spPr>
      </p:sp>
      <p:sp>
        <p:nvSpPr>
          <p:cNvPr id="7" name="Text 5"/>
          <p:cNvSpPr txBox="1"/>
          <p:nvPr/>
        </p:nvSpPr>
        <p:spPr>
          <a:xfrm>
            <a:off x="2468880" y="100584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574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Chapter 3: Bitcoin Core</a:t>
            </a:r>
            <a:endParaRPr lang="en-US" sz="4000" dirty="0"/>
          </a:p>
        </p:txBody>
      </p:sp>
      <p:sp>
        <p:nvSpPr>
          <p:cNvPr id="9" name="Text 7"/>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7931A"/>
                </a:solidFill>
                <a:latin typeface="Calibri" pitchFamily="34" charset="0"/>
                <a:ea typeface="Calibri" pitchFamily="34" charset="-122"/>
                <a:cs typeface="Calibri" pitchFamily="34" charset="-120"/>
              </a:rPr>
              <a:t>Run the reference implementation — then check the book against it</a:t>
            </a:r>
            <a:endParaRPr lang="en-US" sz="1800" dirty="0"/>
          </a:p>
        </p:txBody>
      </p:sp>
      <p:sp>
        <p:nvSpPr>
          <p:cNvPr id="10" name="Text 8"/>
          <p:cNvSpPr txBox="1"/>
          <p:nvPr/>
        </p:nvSpPr>
        <p:spPr>
          <a:xfrm>
            <a:off x="548640" y="4160520"/>
            <a:ext cx="8046720" cy="411480"/>
          </a:xfrm>
          <a:prstGeom prst="rect">
            <a:avLst/>
          </a:prstGeom>
          <a:noFill/>
          <a:ln/>
        </p:spPr>
        <p:txBody>
          <a:bodyPr wrap="square" lIns="0" tIns="0" rIns="0" bIns="0" rtlCol="0" anchor="ctr"/>
          <a:lstStyle/>
          <a:p>
            <a:pPr indent="0" marL="0">
              <a:buNone/>
            </a:pPr>
            <a:r>
              <a:rPr lang="en-US" sz="1200" dirty="0">
                <a:solidFill>
                  <a:srgbClr val="C9D1DA"/>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Why run your own node</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Software on your own computer can verify Bitcoin itself</a:t>
            </a:r>
            <a:endParaRPr lang="en-US" sz="1300" dirty="0"/>
          </a:p>
        </p:txBody>
      </p:sp>
      <p:sp>
        <p:nvSpPr>
          <p:cNvPr id="6" name="Shape 4"/>
          <p:cNvSpPr/>
          <p:nvPr/>
        </p:nvSpPr>
        <p:spPr>
          <a:xfrm>
            <a:off x="457200" y="1325880"/>
            <a:ext cx="2606040" cy="274320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Full node</a:t>
            </a:r>
            <a:endParaRPr lang="en-US" sz="1700" dirty="0"/>
          </a:p>
        </p:txBody>
      </p:sp>
      <p:sp>
        <p:nvSpPr>
          <p:cNvPr id="8" name="Text 6"/>
          <p:cNvSpPr txBox="1"/>
          <p:nvPr/>
        </p:nvSpPr>
        <p:spPr>
          <a:xfrm>
            <a:off x="64008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Verifies every confirmed transaction against every rule. Its answers are authoritative not because someone powerful says so, but because your node checked them.</a:t>
            </a:r>
            <a:endParaRPr lang="en-US" sz="1300" dirty="0"/>
          </a:p>
        </p:txBody>
      </p:sp>
      <p:sp>
        <p:nvSpPr>
          <p:cNvPr id="9" name="Shape 7"/>
          <p:cNvSpPr/>
          <p:nvPr/>
        </p:nvSpPr>
        <p:spPr>
          <a:xfrm>
            <a:off x="3268980" y="1325880"/>
            <a:ext cx="2606040" cy="274320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The reference</a:t>
            </a:r>
            <a:endParaRPr lang="en-US" sz="1700" dirty="0"/>
          </a:p>
        </p:txBody>
      </p:sp>
      <p:sp>
        <p:nvSpPr>
          <p:cNvPr id="11" name="Text 9"/>
          <p:cNvSpPr txBox="1"/>
          <p:nvPr/>
        </p:nvSpPr>
        <p:spPr>
          <a:xfrm>
            <a:off x="345186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Bitcoin Core grew out of the first Bitcoin software. It is the reference for how each part should work: wallets, validation, block building, the peer-to-peer protocol.</a:t>
            </a:r>
            <a:endParaRPr lang="en-US" sz="1300" dirty="0"/>
          </a:p>
        </p:txBody>
      </p:sp>
      <p:sp>
        <p:nvSpPr>
          <p:cNvPr id="12" name="Shape 10"/>
          <p:cNvSpPr/>
          <p:nvPr/>
        </p:nvSpPr>
        <p:spPr>
          <a:xfrm>
            <a:off x="6080760" y="1325880"/>
            <a:ext cx="2606040" cy="274320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BIPs</a:t>
            </a:r>
            <a:endParaRPr lang="en-US" sz="1700" dirty="0"/>
          </a:p>
        </p:txBody>
      </p:sp>
      <p:sp>
        <p:nvSpPr>
          <p:cNvPr id="14" name="Text 12"/>
          <p:cNvSpPr txBox="1"/>
          <p:nvPr/>
        </p:nvSpPr>
        <p:spPr>
          <a:xfrm>
            <a:off x="626364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Major changes since 2011 are documented as BIPs, cited by number. BIP9, which the book names, is now marked Deployed.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What a node costs</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Figures differ by source and by year</a:t>
            </a:r>
            <a:endParaRPr lang="en-US" sz="1300" dirty="0"/>
          </a:p>
        </p:txBody>
      </p:sp>
      <p:sp>
        <p:nvSpPr>
          <p:cNvPr id="6" name="Shape 4"/>
          <p:cNvSpPr/>
          <p:nvPr/>
        </p:nvSpPr>
        <p:spPr>
          <a:xfrm>
            <a:off x="457200" y="1325880"/>
            <a:ext cx="3200400" cy="1143000"/>
          </a:xfrm>
          <a:prstGeom prst="roundRect">
            <a:avLst>
              <a:gd name="adj" fmla="val 8000"/>
            </a:avLst>
          </a:prstGeom>
          <a:solidFill>
            <a:srgbClr val="15191E"/>
          </a:solidFill>
          <a:ln w="12700">
            <a:solidFill>
              <a:srgbClr val="15191E"/>
            </a:solidFill>
            <a:prstDash val="solid"/>
          </a:ln>
        </p:spPr>
      </p:sp>
      <p:sp>
        <p:nvSpPr>
          <p:cNvPr id="7" name="Text 5"/>
          <p:cNvSpPr txBox="1"/>
          <p:nvPr/>
        </p:nvSpPr>
        <p:spPr>
          <a:xfrm>
            <a:off x="640080" y="1435608"/>
            <a:ext cx="2834640" cy="923544"/>
          </a:xfrm>
          <a:prstGeom prst="rect">
            <a:avLst/>
          </a:prstGeom>
          <a:noFill/>
          <a:ln/>
        </p:spPr>
        <p:txBody>
          <a:bodyPr wrap="square" lIns="0" tIns="0" rIns="0" bIns="0" rtlCol="0" anchor="t"/>
          <a:lstStyle/>
          <a:p>
            <a:pPr indent="0" marL="0">
              <a:spcAft>
                <a:spcPts val="200"/>
              </a:spcAft>
              <a:buNone/>
            </a:pPr>
            <a:r>
              <a:rPr lang="en-US" sz="15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400 * 10 / 1000</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4.0</a:t>
            </a:r>
            <a:endParaRPr lang="en-US" sz="1500" dirty="0"/>
          </a:p>
          <a:p>
            <a:pPr indent="0" marL="0">
              <a:spcAft>
                <a:spcPts val="200"/>
              </a:spcAft>
              <a:buNone/>
            </a:pPr>
            <a:r>
              <a:rPr lang="en-US" sz="15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400 * 30 / 1000</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12.0</a:t>
            </a:r>
            <a:endParaRPr lang="en-US" sz="1500" dirty="0"/>
          </a:p>
        </p:txBody>
      </p:sp>
      <p:sp>
        <p:nvSpPr>
          <p:cNvPr id="8" name="Text 6"/>
          <p:cNvSpPr txBox="1"/>
          <p:nvPr/>
        </p:nvSpPr>
        <p:spPr>
          <a:xfrm>
            <a:off x="457200" y="2505456"/>
            <a:ext cx="32004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Text 7"/>
          <p:cNvSpPr txBox="1"/>
          <p:nvPr/>
        </p:nvSpPr>
        <p:spPr>
          <a:xfrm>
            <a:off x="457200" y="2743200"/>
            <a:ext cx="3200400" cy="640080"/>
          </a:xfrm>
          <a:prstGeom prst="rect">
            <a:avLst/>
          </a:prstGeom>
          <a:noFill/>
          <a:ln/>
        </p:spPr>
        <p:txBody>
          <a:bodyPr wrap="square" lIns="0" tIns="0" rIns="0" bIns="0" rtlCol="0" anchor="ctr"/>
          <a:lstStyle/>
          <a:p>
            <a:pPr indent="0" marL="0">
              <a:buNone/>
            </a:pPr>
            <a:r>
              <a:rPr lang="en-US" sz="1200" i="1" dirty="0">
                <a:solidFill>
                  <a:srgbClr val="5B6B7B"/>
                </a:solidFill>
                <a:latin typeface="Calibri" pitchFamily="34" charset="0"/>
                <a:ea typeface="Calibri" pitchFamily="34" charset="-122"/>
                <a:cs typeface="Calibri" pitchFamily="34" charset="-120"/>
              </a:rPr>
              <a:t>Gigabytes to catch up after ten days off, and gigabytes a month, at the book’s 400 MB a day</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931920" y="1325880"/>
          <a:ext cx="4754880" cy="914400"/>
        </p:xfrm>
        <a:graphic>
          <a:graphicData uri="http://schemas.openxmlformats.org/drawingml/2006/table">
            <a:tbl>
              <a:tblPr/>
              <a:tblGrid>
                <a:gridCol w="2103120"/>
                <a:gridCol w="1280160"/>
                <a:gridCol w="137160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First download</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Then</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84048">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The book (2023)</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over 500 GB</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about 400 MB a day</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bitcoincore.org download page</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about 600 GB</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5–10 GB a month</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bitcoin.org full-node page</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about 740 GB</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about 20 GB a month</a:t>
                      </a:r>
                      <a:endParaRPr lang="en-US" sz="11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11" name="Text 8"/>
          <p:cNvSpPr txBox="1"/>
          <p:nvPr/>
        </p:nvSpPr>
        <p:spPr>
          <a:xfrm>
            <a:off x="457200" y="3429000"/>
            <a:ext cx="8229600" cy="36576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Read the figure where you download the software; pruning cuts disk to as little as 10 GB, not the download.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Selecting a release</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Never build the newest code by accident</a:t>
            </a:r>
            <a:endParaRPr lang="en-US" sz="1300" dirty="0"/>
          </a:p>
        </p:txBody>
      </p:sp>
      <p:sp>
        <p:nvSpPr>
          <p:cNvPr id="6" name="Shape 4"/>
          <p:cNvSpPr/>
          <p:nvPr/>
        </p:nvSpPr>
        <p:spPr>
          <a:xfrm>
            <a:off x="457200" y="1325880"/>
            <a:ext cx="2606040" cy="274320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Tags mark releases</a:t>
            </a:r>
            <a:endParaRPr lang="en-US" sz="1700" dirty="0"/>
          </a:p>
        </p:txBody>
      </p:sp>
      <p:sp>
        <p:nvSpPr>
          <p:cNvPr id="8" name="Text 6"/>
          <p:cNvSpPr txBox="1"/>
          <p:nvPr/>
        </p:nvSpPr>
        <p:spPr>
          <a:xfrm>
            <a:off x="64008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tag names a snapshot of the source by version. Release candidates end in rc; stable releases have no suffix.</a:t>
            </a:r>
            <a:endParaRPr lang="en-US" sz="1300" dirty="0"/>
          </a:p>
        </p:txBody>
      </p:sp>
      <p:sp>
        <p:nvSpPr>
          <p:cNvPr id="9" name="Shape 7"/>
          <p:cNvSpPr/>
          <p:nvPr/>
        </p:nvSpPr>
        <p:spPr>
          <a:xfrm>
            <a:off x="3268980" y="1325880"/>
            <a:ext cx="2606040" cy="274320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Then and now</a:t>
            </a:r>
            <a:endParaRPr lang="en-US" sz="1700" dirty="0"/>
          </a:p>
        </p:txBody>
      </p:sp>
      <p:sp>
        <p:nvSpPr>
          <p:cNvPr id="11" name="Text 9"/>
          <p:cNvSpPr txBox="1"/>
          <p:nvPr/>
        </p:nvSpPr>
        <p:spPr>
          <a:xfrm>
            <a:off x="345186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book checks out v24.0.1, the highest release when it was written. The releases page now lists 31.1 as the newest.</a:t>
            </a:r>
            <a:endParaRPr lang="en-US" sz="1300" dirty="0"/>
          </a:p>
        </p:txBody>
      </p:sp>
      <p:sp>
        <p:nvSpPr>
          <p:cNvPr id="12" name="Shape 10"/>
          <p:cNvSpPr/>
          <p:nvPr/>
        </p:nvSpPr>
        <p:spPr>
          <a:xfrm>
            <a:off x="6080760" y="1325880"/>
            <a:ext cx="2606040" cy="274320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Or skip building</a:t>
            </a:r>
            <a:endParaRPr lang="en-US" sz="1700" dirty="0"/>
          </a:p>
        </p:txBody>
      </p:sp>
      <p:sp>
        <p:nvSpPr>
          <p:cNvPr id="14" name="Text 12"/>
          <p:cNvSpPr txBox="1"/>
          <p:nvPr/>
        </p:nvSpPr>
        <p:spPr>
          <a:xfrm>
            <a:off x="626364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Releases are also published as ready-made binaries with checksums and signatures — the route most students will take.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Building: the book, and now</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Bitcoin Core moved from Autotools to CMake in 29.0</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828800"/>
                <a:gridCol w="3108960"/>
                <a:gridCol w="32918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the book (24.0.1)</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Now (29.0 and later)</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Generate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./autogen.sh</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not needed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Configure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./configure --disable-wallet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cmake -B build -DENABLE_WALLET=OFF</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Graphical client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--with-gui=no to leave it out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-DBUILD_GUI=ON to include it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Compile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make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cmake --build build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Install</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sudo make install</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cmake --install build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Berkeley DB</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--with-incompatible-bdb</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gone: the wallet uses SQLite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Text 4"/>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Not every setting maps one to one: 29.0 also changed some defaults, so read doc/build-unix.md of the version you build.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Before you run it: verify the download</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Integrity against the published record</a:t>
            </a:r>
            <a:endParaRPr lang="en-US" sz="1300" dirty="0"/>
          </a:p>
        </p:txBody>
      </p:sp>
      <p:sp>
        <p:nvSpPr>
          <p:cNvPr id="6" name="Shape 4"/>
          <p:cNvSpPr/>
          <p:nvPr/>
        </p:nvSpPr>
        <p:spPr>
          <a:xfrm>
            <a:off x="457200" y="1325880"/>
            <a:ext cx="8229600" cy="1600200"/>
          </a:xfrm>
          <a:prstGeom prst="roundRect">
            <a:avLst>
              <a:gd name="adj" fmla="val 5714"/>
            </a:avLst>
          </a:prstGeom>
          <a:solidFill>
            <a:srgbClr val="15191E"/>
          </a:solidFill>
          <a:ln w="12700">
            <a:solidFill>
              <a:srgbClr val="15191E"/>
            </a:solidFill>
            <a:prstDash val="solid"/>
          </a:ln>
        </p:spPr>
      </p:sp>
      <p:sp>
        <p:nvSpPr>
          <p:cNvPr id="7" name="Text 5"/>
          <p:cNvSpPr txBox="1"/>
          <p:nvPr/>
        </p:nvSpPr>
        <p:spPr>
          <a:xfrm>
            <a:off x="640080" y="1435608"/>
            <a:ext cx="7863840" cy="1380744"/>
          </a:xfrm>
          <a:prstGeom prst="rect">
            <a:avLst/>
          </a:prstGeom>
          <a:noFill/>
          <a:ln/>
        </p:spPr>
        <p:txBody>
          <a:bodyPr wrap="square" lIns="0" tIns="0" rIns="0" bIns="0" rtlCol="0" anchor="t"/>
          <a:lstStyle/>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expected (from SHA256SUMS):</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b80d9c3e04da78fb6f0569685673418cf686fadba9042d926d13fb87ff503f9e</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computed:</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b80d9c3e04da78fb6f0569685673418cf686fadba9042d926d13fb87ff503f9e</a:t>
            </a:r>
            <a:endParaRPr lang="en-US" sz="1100" dirty="0"/>
          </a:p>
          <a:p>
            <a:pPr indent="0" marL="0">
              <a:spcAft>
                <a:spcPts val="200"/>
              </a:spcAft>
              <a:buNone/>
            </a:pP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good signatures on SHA256SUMS: 11</a:t>
            </a:r>
            <a:endParaRPr lang="en-US" sz="1100" dirty="0"/>
          </a:p>
        </p:txBody>
      </p:sp>
      <p:sp>
        <p:nvSpPr>
          <p:cNvPr id="8" name="Text 6"/>
          <p:cNvSpPr txBox="1"/>
          <p:nvPr/>
        </p:nvSpPr>
        <p:spPr>
          <a:xfrm>
            <a:off x="457200" y="296265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bitcoin-31.1-x86_64-linux-gnu.tar.gz, checked on 2026-09-29</a:t>
            </a:r>
            <a:endParaRPr lang="en-US" sz="900" dirty="0"/>
          </a:p>
        </p:txBody>
      </p:sp>
      <p:sp>
        <p:nvSpPr>
          <p:cNvPr id="9" name="Shape 7"/>
          <p:cNvSpPr/>
          <p:nvPr/>
        </p:nvSpPr>
        <p:spPr>
          <a:xfrm>
            <a:off x="457200" y="3200400"/>
            <a:ext cx="3977640" cy="1188720"/>
          </a:xfrm>
          <a:prstGeom prst="roundRect">
            <a:avLst>
              <a:gd name="adj" fmla="val 7692"/>
            </a:avLst>
          </a:prstGeom>
          <a:solidFill>
            <a:srgbClr val="F4F2EE"/>
          </a:solidFill>
          <a:ln w="12700">
            <a:solidFill>
              <a:srgbClr val="F4F2EE"/>
            </a:solidFill>
            <a:prstDash val="solid"/>
          </a:ln>
        </p:spPr>
      </p:sp>
      <p:sp>
        <p:nvSpPr>
          <p:cNvPr id="10" name="Text 8"/>
          <p:cNvSpPr txBox="1"/>
          <p:nvPr/>
        </p:nvSpPr>
        <p:spPr>
          <a:xfrm>
            <a:off x="640080" y="3337560"/>
            <a:ext cx="36118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What it shows</a:t>
            </a:r>
            <a:endParaRPr lang="en-US" sz="1700" dirty="0"/>
          </a:p>
        </p:txBody>
      </p:sp>
      <p:sp>
        <p:nvSpPr>
          <p:cNvPr id="11" name="Text 9"/>
          <p:cNvSpPr txBox="1"/>
          <p:nvPr/>
        </p:nvSpPr>
        <p:spPr>
          <a:xfrm>
            <a:off x="640080" y="3730752"/>
            <a:ext cx="3611880" cy="5486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file equals the published checksum, and the checksum file carries 11 good builder signatures.</a:t>
            </a:r>
            <a:endParaRPr lang="en-US" sz="1200" dirty="0"/>
          </a:p>
        </p:txBody>
      </p:sp>
      <p:sp>
        <p:nvSpPr>
          <p:cNvPr id="12" name="Shape 10"/>
          <p:cNvSpPr/>
          <p:nvPr/>
        </p:nvSpPr>
        <p:spPr>
          <a:xfrm>
            <a:off x="4709160" y="3200400"/>
            <a:ext cx="3977640" cy="1188720"/>
          </a:xfrm>
          <a:prstGeom prst="roundRect">
            <a:avLst>
              <a:gd name="adj" fmla="val 7692"/>
            </a:avLst>
          </a:prstGeom>
          <a:solidFill>
            <a:srgbClr val="F4F2EE"/>
          </a:solidFill>
          <a:ln w="12700">
            <a:solidFill>
              <a:srgbClr val="F4F2EE"/>
            </a:solidFill>
            <a:prstDash val="solid"/>
          </a:ln>
        </p:spPr>
      </p:sp>
      <p:sp>
        <p:nvSpPr>
          <p:cNvPr id="13" name="Text 11"/>
          <p:cNvSpPr txBox="1"/>
          <p:nvPr/>
        </p:nvSpPr>
        <p:spPr>
          <a:xfrm>
            <a:off x="4892040" y="3337560"/>
            <a:ext cx="36118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What it does not</a:t>
            </a:r>
            <a:endParaRPr lang="en-US" sz="1700" dirty="0"/>
          </a:p>
        </p:txBody>
      </p:sp>
      <p:sp>
        <p:nvSpPr>
          <p:cNvPr id="14" name="Text 12"/>
          <p:cNvSpPr txBox="1"/>
          <p:nvPr/>
        </p:nvSpPr>
        <p:spPr>
          <a:xfrm>
            <a:off x="4892040" y="3730752"/>
            <a:ext cx="3611880" cy="5486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Trust in the signing keys. We took them from the same repository — confirm keys by another route.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What is in the 31.1 release</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new front door, and multiprocess binaries</a:t>
            </a:r>
            <a:endParaRPr lang="en-US" sz="1300" dirty="0"/>
          </a:p>
        </p:txBody>
      </p:sp>
      <p:sp>
        <p:nvSpPr>
          <p:cNvPr id="6" name="Shape 4"/>
          <p:cNvSpPr/>
          <p:nvPr/>
        </p:nvSpPr>
        <p:spPr>
          <a:xfrm>
            <a:off x="457200" y="1325880"/>
            <a:ext cx="4846320" cy="2377440"/>
          </a:xfrm>
          <a:prstGeom prst="roundRect">
            <a:avLst>
              <a:gd name="adj" fmla="val 3846"/>
            </a:avLst>
          </a:prstGeom>
          <a:solidFill>
            <a:srgbClr val="15191E"/>
          </a:solidFill>
          <a:ln w="12700">
            <a:solidFill>
              <a:srgbClr val="15191E"/>
            </a:solidFill>
            <a:prstDash val="solid"/>
          </a:ln>
        </p:spPr>
      </p:sp>
      <p:sp>
        <p:nvSpPr>
          <p:cNvPr id="7" name="Text 5"/>
          <p:cNvSpPr txBox="1"/>
          <p:nvPr/>
        </p:nvSpPr>
        <p:spPr>
          <a:xfrm>
            <a:off x="640080" y="1435608"/>
            <a:ext cx="4480560" cy="2157984"/>
          </a:xfrm>
          <a:prstGeom prst="rect">
            <a:avLst/>
          </a:prstGeom>
          <a:noFill/>
          <a:ln/>
        </p:spPr>
        <p:txBody>
          <a:bodyPr wrap="square" lIns="0" tIns="0" rIns="0" bIns="0" rtlCol="0" anchor="t"/>
          <a:lstStyle/>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bin/      bitcoin  bitcoin-cli  bitcoin-qt</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          bitcoin-tx  bitcoin-util</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          bitcoin-wallet  bitcoind</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libexec/  bitcoin-gui  bitcoin-node</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          test_bitcoin</a:t>
            </a:r>
            <a:endParaRPr lang="en-US" sz="1100" dirty="0"/>
          </a:p>
          <a:p>
            <a:pPr indent="0" marL="0">
              <a:spcAft>
                <a:spcPts val="200"/>
              </a:spcAft>
              <a:buNone/>
            </a:pPr>
            <a:endParaRPr lang="en-US" sz="1100" dirty="0"/>
          </a:p>
          <a:p>
            <a:pPr indent="0" marL="0">
              <a:spcAft>
                <a:spcPts val="200"/>
              </a:spcAft>
              <a:buNone/>
            </a:pPr>
            <a:r>
              <a:rPr lang="en-US" sz="1100" dirty="0">
                <a:solidFill>
                  <a:srgbClr val="F7931A"/>
                </a:solidFill>
                <a:latin typeface="Courier New" pitchFamily="34" charset="0"/>
                <a:ea typeface="Courier New" pitchFamily="34" charset="-122"/>
                <a:cs typeface="Courier New" pitchFamily="34" charset="-120"/>
              </a:rPr>
              <a:t>$ bitcoin node       # like bitcoind</a:t>
            </a:r>
            <a:endParaRPr lang="en-US" sz="1100" dirty="0"/>
          </a:p>
          <a:p>
            <a:pPr indent="0" marL="0">
              <a:spcAft>
                <a:spcPts val="200"/>
              </a:spcAft>
              <a:buNone/>
            </a:pPr>
            <a:r>
              <a:rPr lang="en-US" sz="1100" dirty="0">
                <a:solidFill>
                  <a:srgbClr val="F7931A"/>
                </a:solidFill>
                <a:latin typeface="Courier New" pitchFamily="34" charset="0"/>
                <a:ea typeface="Courier New" pitchFamily="34" charset="-122"/>
                <a:cs typeface="Courier New" pitchFamily="34" charset="-120"/>
              </a:rPr>
              <a:t>$ bitcoin -m node    # bitcoin-node, with IPC</a:t>
            </a:r>
            <a:endParaRPr lang="en-US" sz="1100" dirty="0"/>
          </a:p>
          <a:p>
            <a:pPr indent="0" marL="0">
              <a:spcAft>
                <a:spcPts val="200"/>
              </a:spcAft>
              <a:buNone/>
            </a:pPr>
            <a:r>
              <a:rPr lang="en-US" sz="1100" dirty="0">
                <a:solidFill>
                  <a:srgbClr val="F7931A"/>
                </a:solidFill>
                <a:latin typeface="Courier New" pitchFamily="34" charset="0"/>
                <a:ea typeface="Courier New" pitchFamily="34" charset="-122"/>
                <a:cs typeface="Courier New" pitchFamily="34" charset="-120"/>
              </a:rPr>
              <a:t>$ bitcoin rpc getblockchaininfo</a:t>
            </a:r>
            <a:endParaRPr lang="en-US" sz="1100" dirty="0"/>
          </a:p>
        </p:txBody>
      </p:sp>
      <p:sp>
        <p:nvSpPr>
          <p:cNvPr id="8" name="Text 6"/>
          <p:cNvSpPr txBox="1"/>
          <p:nvPr/>
        </p:nvSpPr>
        <p:spPr>
          <a:xfrm>
            <a:off x="457200" y="3739896"/>
            <a:ext cx="484632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listing of the 31.1 release; commands from its help</a:t>
            </a:r>
            <a:endParaRPr lang="en-US" sz="900" dirty="0"/>
          </a:p>
        </p:txBody>
      </p:sp>
      <p:sp>
        <p:nvSpPr>
          <p:cNvPr id="9" name="Shape 7"/>
          <p:cNvSpPr/>
          <p:nvPr/>
        </p:nvSpPr>
        <p:spPr>
          <a:xfrm>
            <a:off x="5532120" y="1325880"/>
            <a:ext cx="3154680" cy="2377440"/>
          </a:xfrm>
          <a:prstGeom prst="roundRect">
            <a:avLst>
              <a:gd name="adj" fmla="val 3846"/>
            </a:avLst>
          </a:prstGeom>
          <a:solidFill>
            <a:srgbClr val="F4F2EE"/>
          </a:solidFill>
          <a:ln w="12700">
            <a:solidFill>
              <a:srgbClr val="F4F2EE"/>
            </a:solidFill>
            <a:prstDash val="solid"/>
          </a:ln>
        </p:spPr>
      </p:sp>
      <p:sp>
        <p:nvSpPr>
          <p:cNvPr id="10" name="Text 8"/>
          <p:cNvSpPr txBox="1"/>
          <p:nvPr/>
        </p:nvSpPr>
        <p:spPr>
          <a:xfrm>
            <a:off x="5715000" y="1463040"/>
            <a:ext cx="278892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The bitcoin command</a:t>
            </a:r>
            <a:endParaRPr lang="en-US" sz="1700" dirty="0"/>
          </a:p>
        </p:txBody>
      </p:sp>
      <p:sp>
        <p:nvSpPr>
          <p:cNvPr id="11" name="Text 9"/>
          <p:cNvSpPr txBox="1"/>
          <p:nvPr/>
        </p:nvSpPr>
        <p:spPr>
          <a:xfrm>
            <a:off x="5715000" y="1856232"/>
            <a:ext cx="2788920" cy="17373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Since 30.0, one command starts the node, calls RPC and runs tools. With -m it runs the multiprocess binaries instead of the monolithic ones.</a:t>
            </a:r>
            <a:endParaRPr lang="en-US" sz="1200" dirty="0"/>
          </a:p>
        </p:txBody>
      </p:sp>
      <p:sp>
        <p:nvSpPr>
          <p:cNvPr id="12" name="Text 10"/>
          <p:cNvSpPr txBox="1"/>
          <p:nvPr/>
        </p:nvSpPr>
        <p:spPr>
          <a:xfrm>
            <a:off x="457200" y="4023360"/>
            <a:ext cx="8229600" cy="36576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graphical client and a Windows installer are still shipped, as in the owner’s 2021 notes: bitcoin-qt, bitcoin-31.1-win64-setup.exe.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Configuring the node</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bitcoin.conf in the data directory, read at every start</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554480"/>
                <a:gridCol w="2743200"/>
                <a:gridCol w="393192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Option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book says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On 31.1</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dbcache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450 MiB default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1024 MiB default (31.0), with enough memory</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maxmempool</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example sets 150</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default is 300 megabytes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prune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example: 5000</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automatic pruning needs at least 550 MiB</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txindex</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index all transactions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cannot be combined with pruning</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options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more than 100</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139 in the default help</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Text 4"/>
          <p:cNvSpPr txBox="1"/>
          <p:nvPr/>
        </p:nvSpPr>
        <p:spPr>
          <a:xfrm>
            <a:off x="457200" y="3931920"/>
            <a:ext cx="8229600" cy="36576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Add txindex=1 to the book’s prune=5000 example and 31.1 stops: “Prune mode is incompatible with -txindex.”</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First start: read the log</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bitcoind -printtoconsole, on 31.1</a:t>
            </a:r>
            <a:endParaRPr lang="en-US" sz="1300" dirty="0"/>
          </a:p>
        </p:txBody>
      </p:sp>
      <p:sp>
        <p:nvSpPr>
          <p:cNvPr id="6" name="Shape 4"/>
          <p:cNvSpPr/>
          <p:nvPr/>
        </p:nvSpPr>
        <p:spPr>
          <a:xfrm>
            <a:off x="457200" y="1325880"/>
            <a:ext cx="5577840" cy="2743200"/>
          </a:xfrm>
          <a:prstGeom prst="roundRect">
            <a:avLst>
              <a:gd name="adj" fmla="val 3333"/>
            </a:avLst>
          </a:prstGeom>
          <a:solidFill>
            <a:srgbClr val="15191E"/>
          </a:solidFill>
          <a:ln w="12700">
            <a:solidFill>
              <a:srgbClr val="15191E"/>
            </a:solidFill>
            <a:prstDash val="solid"/>
          </a:ln>
        </p:spPr>
      </p:sp>
      <p:sp>
        <p:nvSpPr>
          <p:cNvPr id="7" name="Text 5"/>
          <p:cNvSpPr txBox="1"/>
          <p:nvPr/>
        </p:nvSpPr>
        <p:spPr>
          <a:xfrm>
            <a:off x="640080" y="1435608"/>
            <a:ext cx="5212080" cy="2523744"/>
          </a:xfrm>
          <a:prstGeom prst="rect">
            <a:avLst/>
          </a:prstGeom>
          <a:noFill/>
          <a:ln/>
        </p:spPr>
        <p:txBody>
          <a:bodyPr wrap="square" lIns="0" tIns="0" rIns="0" bIns="0" rtlCol="0" anchor="t"/>
          <a:lstStyle/>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Bitcoin Core version v31.1.0 (release build)</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Default data directory .../.bitcoin</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Using data directory .../.bitcoin</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Config file: .../.bitcoin/bitcoin.conf</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Using random cookie authentication.</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Using wallet directory .../.bitcoin</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Using SQLite Version 3.50.4</a:t>
            </a:r>
            <a:endParaRPr lang="en-US" sz="1100" dirty="0"/>
          </a:p>
        </p:txBody>
      </p:sp>
      <p:sp>
        <p:nvSpPr>
          <p:cNvPr id="8" name="Text 6"/>
          <p:cNvSpPr txBox="1"/>
          <p:nvPr/>
        </p:nvSpPr>
        <p:spPr>
          <a:xfrm>
            <a:off x="457200" y="4105656"/>
            <a:ext cx="55778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abridged; timestamps and paths trimmed</a:t>
            </a:r>
            <a:endParaRPr lang="en-US" sz="900" dirty="0"/>
          </a:p>
        </p:txBody>
      </p:sp>
      <p:sp>
        <p:nvSpPr>
          <p:cNvPr id="9" name="Shape 7"/>
          <p:cNvSpPr/>
          <p:nvPr/>
        </p:nvSpPr>
        <p:spPr>
          <a:xfrm>
            <a:off x="6263640" y="1325880"/>
            <a:ext cx="2423160" cy="2743200"/>
          </a:xfrm>
          <a:prstGeom prst="roundRect">
            <a:avLst>
              <a:gd name="adj" fmla="val 3774"/>
            </a:avLst>
          </a:prstGeom>
          <a:solidFill>
            <a:srgbClr val="F4F2EE"/>
          </a:solidFill>
          <a:ln w="12700">
            <a:solidFill>
              <a:srgbClr val="F4F2EE"/>
            </a:solidFill>
            <a:prstDash val="solid"/>
          </a:ln>
        </p:spPr>
      </p:sp>
      <p:sp>
        <p:nvSpPr>
          <p:cNvPr id="10" name="Text 8"/>
          <p:cNvSpPr txBox="1"/>
          <p:nvPr/>
        </p:nvSpPr>
        <p:spPr>
          <a:xfrm>
            <a:off x="6446520" y="1463040"/>
            <a:ext cx="205740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Versus the book</a:t>
            </a:r>
            <a:endParaRPr lang="en-US" sz="1700" dirty="0"/>
          </a:p>
        </p:txBody>
      </p:sp>
      <p:sp>
        <p:nvSpPr>
          <p:cNvPr id="11" name="Text 9"/>
          <p:cNvSpPr txBox="1"/>
          <p:nvPr/>
        </p:nvSpPr>
        <p:spPr>
          <a:xfrm>
            <a:off x="6446520" y="1856232"/>
            <a:ext cx="2057400" cy="21031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book’s log ends its wallet step with Berkeley DB 4.8.30. On 31.1 it says SQLite.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wallet: BerkeleyDB is gone</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Legacy wallets cannot be created or loaded since 30.0</a:t>
            </a:r>
            <a:endParaRPr lang="en-US" sz="1300" dirty="0"/>
          </a:p>
        </p:txBody>
      </p:sp>
      <p:sp>
        <p:nvSpPr>
          <p:cNvPr id="6" name="Shape 4"/>
          <p:cNvSpPr/>
          <p:nvPr/>
        </p:nvSpPr>
        <p:spPr>
          <a:xfrm>
            <a:off x="457200" y="1325880"/>
            <a:ext cx="5577840" cy="2743200"/>
          </a:xfrm>
          <a:prstGeom prst="roundRect">
            <a:avLst>
              <a:gd name="adj" fmla="val 3333"/>
            </a:avLst>
          </a:prstGeom>
          <a:solidFill>
            <a:srgbClr val="15191E"/>
          </a:solidFill>
          <a:ln w="12700">
            <a:solidFill>
              <a:srgbClr val="15191E"/>
            </a:solidFill>
            <a:prstDash val="solid"/>
          </a:ln>
        </p:spPr>
      </p:sp>
      <p:sp>
        <p:nvSpPr>
          <p:cNvPr id="7" name="Text 5"/>
          <p:cNvSpPr txBox="1"/>
          <p:nvPr/>
        </p:nvSpPr>
        <p:spPr>
          <a:xfrm>
            <a:off x="640080" y="1435608"/>
            <a:ext cx="5212080" cy="2523744"/>
          </a:xfrm>
          <a:prstGeom prst="rect">
            <a:avLst/>
          </a:prstGeom>
          <a:noFill/>
          <a:ln/>
        </p:spPr>
        <p:txBody>
          <a:bodyPr wrap="square" lIns="0" tIns="0" rIns="0" bIns="0" rtlCol="0" anchor="t"/>
          <a:lstStyle/>
          <a:p>
            <a:pPr indent="0" marL="0">
              <a:spcAft>
                <a:spcPts val="200"/>
              </a:spcAft>
              <a:buNone/>
            </a:pPr>
            <a:r>
              <a:rPr lang="en-US" sz="1100" dirty="0">
                <a:solidFill>
                  <a:srgbClr val="F7931A"/>
                </a:solidFill>
                <a:latin typeface="Courier New" pitchFamily="34" charset="0"/>
                <a:ea typeface="Courier New" pitchFamily="34" charset="-122"/>
                <a:cs typeface="Courier New" pitchFamily="34" charset="-120"/>
              </a:rPr>
              <a:t>$ bitcoin-cli createwallet demo</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 "name": "demo" }</a:t>
            </a:r>
            <a:endParaRPr lang="en-US" sz="1100" dirty="0"/>
          </a:p>
          <a:p>
            <a:pPr indent="0" marL="0">
              <a:spcAft>
                <a:spcPts val="200"/>
              </a:spcAft>
              <a:buNone/>
            </a:pPr>
            <a:r>
              <a:rPr lang="en-US" sz="1100" dirty="0">
                <a:solidFill>
                  <a:srgbClr val="F7931A"/>
                </a:solidFill>
                <a:latin typeface="Courier New" pitchFamily="34" charset="0"/>
                <a:ea typeface="Courier New" pitchFamily="34" charset="-122"/>
                <a:cs typeface="Courier New" pitchFamily="34" charset="-120"/>
              </a:rPr>
              <a:t>$ bitcoin-cli getwalletinfo   # format</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"sqlite"</a:t>
            </a:r>
            <a:endParaRPr lang="en-US" sz="1100" dirty="0"/>
          </a:p>
          <a:p>
            <a:pPr indent="0" marL="0">
              <a:spcAft>
                <a:spcPts val="200"/>
              </a:spcAft>
              <a:buNone/>
            </a:pPr>
            <a:r>
              <a:rPr lang="en-US" sz="1100" dirty="0">
                <a:solidFill>
                  <a:srgbClr val="F7931A"/>
                </a:solidFill>
                <a:latin typeface="Courier New" pitchFamily="34" charset="0"/>
                <a:ea typeface="Courier New" pitchFamily="34" charset="-122"/>
                <a:cs typeface="Courier New" pitchFamily="34" charset="-120"/>
              </a:rPr>
              <a:t>$ bitcoin-cli -named createwallet wallet_name=legacy descriptors=false</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error code: -4</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descriptors argument must be set to "true"; it is</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no longer possible to create a legacy wallet.</a:t>
            </a:r>
            <a:endParaRPr lang="en-US" sz="1100" dirty="0"/>
          </a:p>
        </p:txBody>
      </p:sp>
      <p:sp>
        <p:nvSpPr>
          <p:cNvPr id="8" name="Text 6"/>
          <p:cNvSpPr txBox="1"/>
          <p:nvPr/>
        </p:nvSpPr>
        <p:spPr>
          <a:xfrm>
            <a:off x="457200" y="4105656"/>
            <a:ext cx="55778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on 31.1</a:t>
            </a:r>
            <a:endParaRPr lang="en-US" sz="900" dirty="0"/>
          </a:p>
        </p:txBody>
      </p:sp>
      <p:sp>
        <p:nvSpPr>
          <p:cNvPr id="9" name="Shape 7"/>
          <p:cNvSpPr/>
          <p:nvPr/>
        </p:nvSpPr>
        <p:spPr>
          <a:xfrm>
            <a:off x="6263640" y="1325880"/>
            <a:ext cx="2423160" cy="2743200"/>
          </a:xfrm>
          <a:prstGeom prst="roundRect">
            <a:avLst>
              <a:gd name="adj" fmla="val 3774"/>
            </a:avLst>
          </a:prstGeom>
          <a:solidFill>
            <a:srgbClr val="F4F2EE"/>
          </a:solidFill>
          <a:ln w="12700">
            <a:solidFill>
              <a:srgbClr val="F4F2EE"/>
            </a:solidFill>
            <a:prstDash val="solid"/>
          </a:ln>
        </p:spPr>
      </p:sp>
      <p:sp>
        <p:nvSpPr>
          <p:cNvPr id="10" name="Text 8"/>
          <p:cNvSpPr txBox="1"/>
          <p:nvPr/>
        </p:nvSpPr>
        <p:spPr>
          <a:xfrm>
            <a:off x="6446520" y="1463040"/>
            <a:ext cx="205740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Migrating</a:t>
            </a:r>
            <a:endParaRPr lang="en-US" sz="1700" dirty="0"/>
          </a:p>
        </p:txBody>
      </p:sp>
      <p:sp>
        <p:nvSpPr>
          <p:cNvPr id="11" name="Text 9"/>
          <p:cNvSpPr txBox="1"/>
          <p:nvPr/>
        </p:nvSpPr>
        <p:spPr>
          <a:xfrm>
            <a:off x="6446520" y="1856232"/>
            <a:ext cx="2057400" cy="21031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Old BDB wallets can be migrated to descriptor wallets with the migratewallet RPC. Wallets themselves are chapter 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Status: the answers moved too</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getblockchaininfo and getnetworkinfo, book versus 31.1</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194560"/>
                <a:gridCol w="3108960"/>
                <a:gridCol w="292608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Book (24.0.1)</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31.1</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warnings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 string, “”</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an array of strings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getblockchaininfo</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no bits or target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adds bits and target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version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240001</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310100</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subversion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/Satoshi:24.0.1/</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/Satoshi:31.1.0/</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protocolversion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70016</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70016 — unchanged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8404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localservicesnames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NETWORK, WITNESS, NETWORK_LIMITED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adds P2P_V2</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Text 4"/>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Programs that read warnings as a string break on the array; the 28.0 release notes give a deprecated switch to go back.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API: JSON-RPC over HTTP</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request to 127.0.0.1, port 8332</a:t>
            </a:r>
            <a:endParaRPr lang="en-US" sz="1300" dirty="0"/>
          </a:p>
        </p:txBody>
      </p:sp>
      <p:sp>
        <p:nvSpPr>
          <p:cNvPr id="6" name="Shape 4"/>
          <p:cNvSpPr/>
          <p:nvPr/>
        </p:nvSpPr>
        <p:spPr>
          <a:xfrm>
            <a:off x="457200" y="1325880"/>
            <a:ext cx="8229600" cy="1371600"/>
          </a:xfrm>
          <a:prstGeom prst="roundRect">
            <a:avLst>
              <a:gd name="adj" fmla="val 6667"/>
            </a:avLst>
          </a:prstGeom>
          <a:solidFill>
            <a:srgbClr val="15191E"/>
          </a:solidFill>
          <a:ln w="12700">
            <a:solidFill>
              <a:srgbClr val="15191E"/>
            </a:solidFill>
            <a:prstDash val="solid"/>
          </a:ln>
        </p:spPr>
      </p:sp>
      <p:sp>
        <p:nvSpPr>
          <p:cNvPr id="7" name="Text 5"/>
          <p:cNvSpPr txBox="1"/>
          <p:nvPr/>
        </p:nvSpPr>
        <p:spPr>
          <a:xfrm>
            <a:off x="640080" y="1435608"/>
            <a:ext cx="7863840" cy="1152144"/>
          </a:xfrm>
          <a:prstGeom prst="rect">
            <a:avLst/>
          </a:prstGeom>
          <a:noFill/>
          <a:ln/>
        </p:spPr>
        <p:txBody>
          <a:bodyPr wrap="square" lIns="0" tIns="0" rIns="0" bIns="0" rtlCol="0" anchor="t"/>
          <a:lstStyle/>
          <a:p>
            <a:pPr indent="0" marL="0">
              <a:spcAft>
                <a:spcPts val="200"/>
              </a:spcAft>
              <a:buNone/>
            </a:pPr>
            <a:r>
              <a:rPr lang="en-US" sz="1100" dirty="0">
                <a:solidFill>
                  <a:srgbClr val="F7931A"/>
                </a:solidFill>
                <a:latin typeface="Courier New" pitchFamily="34" charset="0"/>
                <a:ea typeface="Courier New" pitchFamily="34" charset="-122"/>
                <a:cs typeface="Courier New" pitchFamily="34" charset="-120"/>
              </a:rPr>
              <a:t>$ curl --user __cookie__:&lt;from .cookie&gt; \</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    --data-binary '{"jsonrpc": "1.0", "id": "curltest",</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    "method": "getblockchaininfo", "params": []}' \</a:t>
            </a:r>
            <a:endParaRPr lang="en-US" sz="1100" dirty="0"/>
          </a:p>
          <a:p>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    -H 'content-type: text/plain;' http://127.0.0.1:8332/</a:t>
            </a:r>
            <a:endParaRPr lang="en-US" sz="1100" dirty="0"/>
          </a:p>
        </p:txBody>
      </p:sp>
      <p:sp>
        <p:nvSpPr>
          <p:cNvPr id="8" name="Text 6"/>
          <p:cNvSpPr txBox="1"/>
          <p:nvPr/>
        </p:nvSpPr>
        <p:spPr>
          <a:xfrm>
            <a:off x="457200" y="273405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book’s example, cookie value left out</a:t>
            </a:r>
            <a:endParaRPr lang="en-US" sz="900" dirty="0"/>
          </a:p>
        </p:txBody>
      </p:sp>
      <p:sp>
        <p:nvSpPr>
          <p:cNvPr id="9" name="Shape 7"/>
          <p:cNvSpPr/>
          <p:nvPr/>
        </p:nvSpPr>
        <p:spPr>
          <a:xfrm>
            <a:off x="457200" y="2971800"/>
            <a:ext cx="3977640" cy="1371600"/>
          </a:xfrm>
          <a:prstGeom prst="roundRect">
            <a:avLst>
              <a:gd name="adj" fmla="val 6667"/>
            </a:avLst>
          </a:prstGeom>
          <a:solidFill>
            <a:srgbClr val="F4F2EE"/>
          </a:solidFill>
          <a:ln w="12700">
            <a:solidFill>
              <a:srgbClr val="F4F2EE"/>
            </a:solidFill>
            <a:prstDash val="solid"/>
          </a:ln>
        </p:spPr>
      </p:sp>
      <p:sp>
        <p:nvSpPr>
          <p:cNvPr id="10" name="Text 8"/>
          <p:cNvSpPr txBox="1"/>
          <p:nvPr/>
        </p:nvSpPr>
        <p:spPr>
          <a:xfrm>
            <a:off x="640080" y="3108960"/>
            <a:ext cx="36118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The cookie</a:t>
            </a:r>
            <a:endParaRPr lang="en-US" sz="1700" dirty="0"/>
          </a:p>
        </p:txBody>
      </p:sp>
      <p:sp>
        <p:nvSpPr>
          <p:cNvPr id="11" name="Text 9"/>
          <p:cNvSpPr txBox="1"/>
          <p:nvPr/>
        </p:nvSpPr>
        <p:spPr>
          <a:xfrm>
            <a:off x="640080" y="3502152"/>
            <a:ext cx="3611880" cy="7315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random credential made at each start, kept in the data directory as .cookie and removed at shutdown.</a:t>
            </a:r>
            <a:endParaRPr lang="en-US" sz="1200" dirty="0"/>
          </a:p>
        </p:txBody>
      </p:sp>
      <p:sp>
        <p:nvSpPr>
          <p:cNvPr id="12" name="Shape 10"/>
          <p:cNvSpPr/>
          <p:nvPr/>
        </p:nvSpPr>
        <p:spPr>
          <a:xfrm>
            <a:off x="4709160" y="2971800"/>
            <a:ext cx="3977640" cy="1371600"/>
          </a:xfrm>
          <a:prstGeom prst="roundRect">
            <a:avLst>
              <a:gd name="adj" fmla="val 6667"/>
            </a:avLst>
          </a:prstGeom>
          <a:solidFill>
            <a:srgbClr val="F4F2EE"/>
          </a:solidFill>
          <a:ln w="12700">
            <a:solidFill>
              <a:srgbClr val="F4F2EE"/>
            </a:solidFill>
            <a:prstDash val="solid"/>
          </a:ln>
        </p:spPr>
      </p:sp>
      <p:sp>
        <p:nvSpPr>
          <p:cNvPr id="13" name="Text 11"/>
          <p:cNvSpPr txBox="1"/>
          <p:nvPr/>
        </p:nvSpPr>
        <p:spPr>
          <a:xfrm>
            <a:off x="4892040" y="3108960"/>
            <a:ext cx="36118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A static one</a:t>
            </a:r>
            <a:endParaRPr lang="en-US" sz="1700" dirty="0"/>
          </a:p>
        </p:txBody>
      </p:sp>
      <p:sp>
        <p:nvSpPr>
          <p:cNvPr id="14" name="Text 12"/>
          <p:cNvSpPr txBox="1"/>
          <p:nvPr/>
        </p:nvSpPr>
        <p:spPr>
          <a:xfrm>
            <a:off x="4892040" y="3502152"/>
            <a:ext cx="3611880" cy="7315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share/rpcauth/rpcauth.py makes an rpcauth line for bitcoin.conf, with a random password if you give none.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Python calls it</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python-bitcoinlib’s RawProxy, unchanged from the book</a:t>
            </a:r>
            <a:endParaRPr lang="en-US" sz="1300" dirty="0"/>
          </a:p>
        </p:txBody>
      </p:sp>
      <p:sp>
        <p:nvSpPr>
          <p:cNvPr id="6" name="Shape 4"/>
          <p:cNvSpPr/>
          <p:nvPr/>
        </p:nvSpPr>
        <p:spPr>
          <a:xfrm>
            <a:off x="457200" y="1325880"/>
            <a:ext cx="4846320" cy="2468880"/>
          </a:xfrm>
          <a:prstGeom prst="roundRect">
            <a:avLst>
              <a:gd name="adj" fmla="val 3704"/>
            </a:avLst>
          </a:prstGeom>
          <a:solidFill>
            <a:srgbClr val="15191E"/>
          </a:solidFill>
          <a:ln w="12700">
            <a:solidFill>
              <a:srgbClr val="15191E"/>
            </a:solidFill>
            <a:prstDash val="solid"/>
          </a:ln>
        </p:spPr>
      </p:sp>
      <p:sp>
        <p:nvSpPr>
          <p:cNvPr id="7" name="Text 5"/>
          <p:cNvSpPr txBox="1"/>
          <p:nvPr/>
        </p:nvSpPr>
        <p:spPr>
          <a:xfrm>
            <a:off x="640080" y="1435608"/>
            <a:ext cx="4480560" cy="2249424"/>
          </a:xfrm>
          <a:prstGeom prst="rect">
            <a:avLst/>
          </a:prstGeom>
          <a:noFill/>
          <a:ln/>
        </p:spPr>
        <p:txBody>
          <a:bodyPr wrap="square" lIns="0" tIns="0" rIns="0" bIns="0" rtlCol="0" anchor="t"/>
          <a:lstStyle/>
          <a:p>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from bitcoin.rpc import RawProxy</a:t>
            </a:r>
            <a:endParaRPr lang="en-US" sz="1200" dirty="0"/>
          </a:p>
          <a:p>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p = RawProxy()</a:t>
            </a:r>
            <a:endParaRPr lang="en-US" sz="1200" dirty="0"/>
          </a:p>
          <a:p>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info = p.getblockchaininfo()</a:t>
            </a:r>
            <a:endParaRPr lang="en-US" sz="1200" dirty="0"/>
          </a:p>
          <a:p>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print(info['blocks'])</a:t>
            </a:r>
            <a:endParaRPr lang="en-US" sz="1200" dirty="0"/>
          </a:p>
          <a:p>
            <a:pPr indent="0" marL="0">
              <a:spcAft>
                <a:spcPts val="200"/>
              </a:spcAft>
              <a:buNone/>
            </a:pPr>
            <a:endParaRPr lang="en-US" sz="1200" dirty="0"/>
          </a:p>
          <a:p>
            <a:pPr indent="0" marL="0">
              <a:spcAft>
                <a:spcPts val="200"/>
              </a:spcAft>
              <a:buNone/>
            </a:pPr>
            <a:r>
              <a:rPr lang="en-US" sz="1200" dirty="0">
                <a:solidFill>
                  <a:srgbClr val="F7931A"/>
                </a:solidFill>
                <a:latin typeface="Courier New" pitchFamily="34" charset="0"/>
                <a:ea typeface="Courier New" pitchFamily="34" charset="-122"/>
                <a:cs typeface="Courier New" pitchFamily="34" charset="-120"/>
              </a:rPr>
              <a:t>$ python rpc_example.py</a:t>
            </a:r>
            <a:endParaRPr lang="en-US" sz="1200" dirty="0"/>
          </a:p>
          <a:p>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0</a:t>
            </a:r>
            <a:endParaRPr lang="en-US" sz="1200" dirty="0"/>
          </a:p>
        </p:txBody>
      </p:sp>
      <p:sp>
        <p:nvSpPr>
          <p:cNvPr id="8" name="Text 6"/>
          <p:cNvSpPr txBox="1"/>
          <p:nvPr/>
        </p:nvSpPr>
        <p:spPr>
          <a:xfrm>
            <a:off x="457200" y="3831336"/>
            <a:ext cx="484632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book’s rpc_example.py on Python 3.14.4, against 31.1</a:t>
            </a:r>
            <a:endParaRPr lang="en-US" sz="900" dirty="0"/>
          </a:p>
        </p:txBody>
      </p:sp>
      <p:sp>
        <p:nvSpPr>
          <p:cNvPr id="9" name="Shape 7"/>
          <p:cNvSpPr/>
          <p:nvPr/>
        </p:nvSpPr>
        <p:spPr>
          <a:xfrm>
            <a:off x="5532120" y="1325880"/>
            <a:ext cx="3154680" cy="2468880"/>
          </a:xfrm>
          <a:prstGeom prst="roundRect">
            <a:avLst>
              <a:gd name="adj" fmla="val 3704"/>
            </a:avLst>
          </a:prstGeom>
          <a:solidFill>
            <a:srgbClr val="F4F2EE"/>
          </a:solidFill>
          <a:ln w="12700">
            <a:solidFill>
              <a:srgbClr val="F4F2EE"/>
            </a:solidFill>
            <a:prstDash val="solid"/>
          </a:ln>
        </p:spPr>
      </p:sp>
      <p:sp>
        <p:nvSpPr>
          <p:cNvPr id="10" name="Text 8"/>
          <p:cNvSpPr txBox="1"/>
          <p:nvPr/>
        </p:nvSpPr>
        <p:spPr>
          <a:xfrm>
            <a:off x="5715000" y="1463040"/>
            <a:ext cx="278892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Still works</a:t>
            </a:r>
            <a:endParaRPr lang="en-US" sz="1700" dirty="0"/>
          </a:p>
        </p:txBody>
      </p:sp>
      <p:sp>
        <p:nvSpPr>
          <p:cNvPr id="11" name="Text 9"/>
          <p:cNvSpPr txBox="1"/>
          <p:nvPr/>
        </p:nvSpPr>
        <p:spPr>
          <a:xfrm>
            <a:off x="5715000" y="1856232"/>
            <a:ext cx="2788920" cy="182880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python-bitcoinlib 0.12.2 (June 2023) says its RPC interface should work with Core 24.0 or later. It does, on 31.1. The 0 is the height of our offline test node.</a:t>
            </a:r>
            <a:endParaRPr lang="en-US" sz="1200" dirty="0"/>
          </a:p>
        </p:txBody>
      </p:sp>
      <p:sp>
        <p:nvSpPr>
          <p:cNvPr id="12" name="Text 10"/>
          <p:cNvSpPr txBox="1"/>
          <p:nvPr/>
        </p:nvSpPr>
        <p:spPr>
          <a:xfrm>
            <a:off x="457200" y="4023360"/>
            <a:ext cx="8229600" cy="36576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library is not part of Bitcoin Core; the book warns to install it separately.</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Alice’s transaction, byte by byte</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hex the book prints, hashed twice</a:t>
            </a:r>
            <a:endParaRPr lang="en-US" sz="1300" dirty="0"/>
          </a:p>
        </p:txBody>
      </p:sp>
      <p:sp>
        <p:nvSpPr>
          <p:cNvPr id="6" name="Shape 4"/>
          <p:cNvSpPr/>
          <p:nvPr/>
        </p:nvSpPr>
        <p:spPr>
          <a:xfrm>
            <a:off x="457200" y="1325880"/>
            <a:ext cx="8229600" cy="1554480"/>
          </a:xfrm>
          <a:prstGeom prst="roundRect">
            <a:avLst>
              <a:gd name="adj" fmla="val 5882"/>
            </a:avLst>
          </a:prstGeom>
          <a:solidFill>
            <a:srgbClr val="15191E"/>
          </a:solidFill>
          <a:ln w="12700">
            <a:solidFill>
              <a:srgbClr val="15191E"/>
            </a:solidFill>
            <a:prstDash val="solid"/>
          </a:ln>
        </p:spPr>
      </p:sp>
      <p:sp>
        <p:nvSpPr>
          <p:cNvPr id="7" name="Text 5"/>
          <p:cNvSpPr txBox="1"/>
          <p:nvPr/>
        </p:nvSpPr>
        <p:spPr>
          <a:xfrm>
            <a:off x="640080" y="1435608"/>
            <a:ext cx="7863840" cy="1335024"/>
          </a:xfrm>
          <a:prstGeom prst="rect">
            <a:avLst/>
          </a:prstGeom>
          <a:noFill/>
          <a:ln/>
        </p:spPr>
        <p:txBody>
          <a:bodyPr wrap="square" lIns="0" tIns="0" rIns="0" bIns="0" rtlCol="0" anchor="t"/>
          <a:lstStyle/>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raw = bytes.fromhex(TX_HEX)</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len(raw)</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194</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dsha(raw)[::-1].hex()</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'f7cdbc7cf8b910d35cc69962e791138624e4eae7901010a6da4c02e7d238cdac'</a:t>
            </a:r>
            <a:endParaRPr lang="en-US" sz="1200" dirty="0"/>
          </a:p>
        </p:txBody>
      </p:sp>
      <p:sp>
        <p:nvSpPr>
          <p:cNvPr id="8" name="Text 6"/>
          <p:cNvSpPr txBox="1"/>
          <p:nvPr/>
        </p:nvSpPr>
        <p:spPr>
          <a:xfrm>
            <a:off x="457200" y="291693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3200400"/>
            <a:ext cx="3977640" cy="1188720"/>
          </a:xfrm>
          <a:prstGeom prst="roundRect">
            <a:avLst>
              <a:gd name="adj" fmla="val 7692"/>
            </a:avLst>
          </a:prstGeom>
          <a:solidFill>
            <a:srgbClr val="F4F2EE"/>
          </a:solidFill>
          <a:ln w="12700">
            <a:solidFill>
              <a:srgbClr val="F4F2EE"/>
            </a:solidFill>
            <a:prstDash val="solid"/>
          </a:ln>
        </p:spPr>
      </p:sp>
      <p:sp>
        <p:nvSpPr>
          <p:cNvPr id="10" name="Text 8"/>
          <p:cNvSpPr txBox="1"/>
          <p:nvPr/>
        </p:nvSpPr>
        <p:spPr>
          <a:xfrm>
            <a:off x="640080" y="3337560"/>
            <a:ext cx="36118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Serialized transaction</a:t>
            </a:r>
            <a:endParaRPr lang="en-US" sz="1700" dirty="0"/>
          </a:p>
        </p:txBody>
      </p:sp>
      <p:sp>
        <p:nvSpPr>
          <p:cNvPr id="11" name="Text 9"/>
          <p:cNvSpPr txBox="1"/>
          <p:nvPr/>
        </p:nvSpPr>
        <p:spPr>
          <a:xfrm>
            <a:off x="640080" y="3730752"/>
            <a:ext cx="3611880" cy="5486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194 bytes: what getrawtransaction returns as hexadecimal.</a:t>
            </a:r>
            <a:endParaRPr lang="en-US" sz="1200" dirty="0"/>
          </a:p>
        </p:txBody>
      </p:sp>
      <p:sp>
        <p:nvSpPr>
          <p:cNvPr id="12" name="Shape 10"/>
          <p:cNvSpPr/>
          <p:nvPr/>
        </p:nvSpPr>
        <p:spPr>
          <a:xfrm>
            <a:off x="4709160" y="3200400"/>
            <a:ext cx="3977640" cy="1188720"/>
          </a:xfrm>
          <a:prstGeom prst="roundRect">
            <a:avLst>
              <a:gd name="adj" fmla="val 7692"/>
            </a:avLst>
          </a:prstGeom>
          <a:solidFill>
            <a:srgbClr val="F4F2EE"/>
          </a:solidFill>
          <a:ln w="12700">
            <a:solidFill>
              <a:srgbClr val="F4F2EE"/>
            </a:solidFill>
            <a:prstDash val="solid"/>
          </a:ln>
        </p:spPr>
      </p:sp>
      <p:sp>
        <p:nvSpPr>
          <p:cNvPr id="13" name="Text 11"/>
          <p:cNvSpPr txBox="1"/>
          <p:nvPr/>
        </p:nvSpPr>
        <p:spPr>
          <a:xfrm>
            <a:off x="4892040" y="3337560"/>
            <a:ext cx="36118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Double SHA-256</a:t>
            </a:r>
            <a:endParaRPr lang="en-US" sz="1700" dirty="0"/>
          </a:p>
        </p:txBody>
      </p:sp>
      <p:sp>
        <p:nvSpPr>
          <p:cNvPr id="14" name="Text 12"/>
          <p:cNvSpPr txBox="1"/>
          <p:nvPr/>
        </p:nvSpPr>
        <p:spPr>
          <a:xfrm>
            <a:off x="4892040" y="3730752"/>
            <a:ext cx="3611880" cy="5486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Reversed, this is the “hash” the decoded result shows — with the witness included.</a:t>
            </a:r>
            <a:endParaRPr lang="en-US" sz="1200" dirty="0"/>
          </a:p>
        </p:txBody>
      </p:sp>
      <p:sp>
        <p:nvSpPr>
          <p:cNvPr id="15" name="Text 13"/>
          <p:cNvSpPr txBox="1"/>
          <p:nvPr/>
        </p:nvSpPr>
        <p:spPr>
          <a:xfrm>
            <a:off x="457200" y="4480560"/>
            <a:ext cx="8229600" cy="36576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TX_HEX stands for the 388 hexadecimal characters the book prints; dsha is SHA-256 applied twice.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txid leaves the witness out</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Strip the marker, the flag and the witness, hash again</a:t>
            </a:r>
            <a:endParaRPr lang="en-US" sz="1300" dirty="0"/>
          </a:p>
        </p:txBody>
      </p:sp>
      <p:sp>
        <p:nvSpPr>
          <p:cNvPr id="6" name="Shape 4"/>
          <p:cNvSpPr/>
          <p:nvPr/>
        </p:nvSpPr>
        <p:spPr>
          <a:xfrm>
            <a:off x="457200" y="1325880"/>
            <a:ext cx="8229600" cy="1645920"/>
          </a:xfrm>
          <a:prstGeom prst="roundRect">
            <a:avLst>
              <a:gd name="adj" fmla="val 5556"/>
            </a:avLst>
          </a:prstGeom>
          <a:solidFill>
            <a:srgbClr val="15191E"/>
          </a:solidFill>
          <a:ln w="12700">
            <a:solidFill>
              <a:srgbClr val="15191E"/>
            </a:solidFill>
            <a:prstDash val="solid"/>
          </a:ln>
        </p:spPr>
      </p:sp>
      <p:sp>
        <p:nvSpPr>
          <p:cNvPr id="7" name="Text 5"/>
          <p:cNvSpPr txBox="1"/>
          <p:nvPr/>
        </p:nvSpPr>
        <p:spPr>
          <a:xfrm>
            <a:off x="640080" y="1435608"/>
            <a:ext cx="7863840" cy="1426464"/>
          </a:xfrm>
          <a:prstGeom prst="rect">
            <a:avLst/>
          </a:prstGeom>
          <a:noFill/>
          <a:ln/>
        </p:spPr>
        <p:txBody>
          <a:bodyPr wrap="square" lIns="0" tIns="0" rIns="0" bIns="0" rtlCol="0" anchor="t"/>
          <a:lstStyle/>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raw = bytes.fromhex(TX_HEX)</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stripped = raw[:4] + raw[6:-71] + raw[-4:]</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len(stripped)</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125</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dsha(stripped)[::-1].hex()</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'466200308696215bbc949d5141a49a4138ecdfdfaa2a8029c1f9bcecd1f96177'</a:t>
            </a:r>
            <a:endParaRPr lang="en-US" sz="1200" dirty="0"/>
          </a:p>
        </p:txBody>
      </p:sp>
      <p:sp>
        <p:nvSpPr>
          <p:cNvPr id="8" name="Text 6"/>
          <p:cNvSpPr txBox="1"/>
          <p:nvPr/>
        </p:nvSpPr>
        <p:spPr>
          <a:xfrm>
            <a:off x="457200" y="300837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3246120"/>
            <a:ext cx="8229600" cy="1143000"/>
          </a:xfrm>
          <a:prstGeom prst="roundRect">
            <a:avLst>
              <a:gd name="adj" fmla="val 8000"/>
            </a:avLst>
          </a:prstGeom>
          <a:solidFill>
            <a:srgbClr val="F4F2EE"/>
          </a:solidFill>
          <a:ln w="12700">
            <a:solidFill>
              <a:srgbClr val="F4F2EE"/>
            </a:solidFill>
            <a:prstDash val="solid"/>
          </a:ln>
        </p:spPr>
      </p:sp>
      <p:sp>
        <p:nvSpPr>
          <p:cNvPr id="10" name="Text 8"/>
          <p:cNvSpPr txBox="1"/>
          <p:nvPr/>
        </p:nvSpPr>
        <p:spPr>
          <a:xfrm>
            <a:off x="640080" y="3383280"/>
            <a:ext cx="786384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Why -71</a:t>
            </a:r>
            <a:endParaRPr lang="en-US" sz="1700" dirty="0"/>
          </a:p>
        </p:txBody>
      </p:sp>
      <p:sp>
        <p:nvSpPr>
          <p:cNvPr id="11" name="Text 9"/>
          <p:cNvSpPr txBox="1"/>
          <p:nvPr/>
        </p:nvSpPr>
        <p:spPr>
          <a:xfrm>
            <a:off x="640080" y="3776472"/>
            <a:ext cx="7863840" cy="5029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Two marker and flag bytes come after the version. At the end: 67 bytes of witness (a count, a length and a 65-byte signature) and 4 of locktime.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Weight and virtual size</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Witness bytes count once, the rest four times</a:t>
            </a:r>
            <a:endParaRPr lang="en-US" sz="1300" dirty="0"/>
          </a:p>
        </p:txBody>
      </p:sp>
      <p:sp>
        <p:nvSpPr>
          <p:cNvPr id="6" name="Shape 4"/>
          <p:cNvSpPr/>
          <p:nvPr/>
        </p:nvSpPr>
        <p:spPr>
          <a:xfrm>
            <a:off x="457200" y="1325880"/>
            <a:ext cx="4389120" cy="1463040"/>
          </a:xfrm>
          <a:prstGeom prst="roundRect">
            <a:avLst>
              <a:gd name="adj" fmla="val 6250"/>
            </a:avLst>
          </a:prstGeom>
          <a:solidFill>
            <a:srgbClr val="15191E"/>
          </a:solidFill>
          <a:ln w="12700">
            <a:solidFill>
              <a:srgbClr val="15191E"/>
            </a:solidFill>
            <a:prstDash val="solid"/>
          </a:ln>
        </p:spPr>
      </p:sp>
      <p:sp>
        <p:nvSpPr>
          <p:cNvPr id="7" name="Text 5"/>
          <p:cNvSpPr txBox="1"/>
          <p:nvPr/>
        </p:nvSpPr>
        <p:spPr>
          <a:xfrm>
            <a:off x="640080" y="1435608"/>
            <a:ext cx="4023360" cy="1243584"/>
          </a:xfrm>
          <a:prstGeom prst="rect">
            <a:avLst/>
          </a:prstGeom>
          <a:noFill/>
          <a:ln/>
        </p:spPr>
        <p:txBody>
          <a:bodyPr wrap="square" lIns="0" tIns="0" rIns="0" bIns="0" rtlCol="0" anchor="t"/>
          <a:lstStyle/>
          <a:p>
            <a:pPr indent="0" marL="0">
              <a:spcAft>
                <a:spcPts val="200"/>
              </a:spcAft>
              <a:buNone/>
            </a:pPr>
            <a:r>
              <a:rPr lang="en-US" sz="15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w = 4 * 125 + (194 - 125)</a:t>
            </a:r>
            <a:endParaRPr lang="en-US" sz="1500" dirty="0"/>
          </a:p>
          <a:p>
            <a:pPr indent="0" marL="0">
              <a:spcAft>
                <a:spcPts val="200"/>
              </a:spcAft>
              <a:buNone/>
            </a:pPr>
            <a:r>
              <a:rPr lang="en-US" sz="15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w</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569</a:t>
            </a:r>
            <a:endParaRPr lang="en-US" sz="1500" dirty="0"/>
          </a:p>
          <a:p>
            <a:pPr indent="0" marL="0">
              <a:spcAft>
                <a:spcPts val="200"/>
              </a:spcAft>
              <a:buNone/>
            </a:pPr>
            <a:r>
              <a:rPr lang="en-US" sz="15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-(-w // 4)</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143</a:t>
            </a:r>
            <a:endParaRPr lang="en-US" sz="1500" dirty="0"/>
          </a:p>
        </p:txBody>
      </p:sp>
      <p:sp>
        <p:nvSpPr>
          <p:cNvPr id="8" name="Text 6"/>
          <p:cNvSpPr txBox="1"/>
          <p:nvPr/>
        </p:nvSpPr>
        <p:spPr>
          <a:xfrm>
            <a:off x="457200" y="2825496"/>
            <a:ext cx="438912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Text 7"/>
          <p:cNvSpPr txBox="1"/>
          <p:nvPr/>
        </p:nvSpPr>
        <p:spPr>
          <a:xfrm>
            <a:off x="457200" y="3063240"/>
            <a:ext cx="4389120" cy="548640"/>
          </a:xfrm>
          <a:prstGeom prst="rect">
            <a:avLst/>
          </a:prstGeom>
          <a:noFill/>
          <a:ln/>
        </p:spPr>
        <p:txBody>
          <a:bodyPr wrap="square" lIns="0" tIns="0" rIns="0" bIns="0" rtlCol="0" anchor="ctr"/>
          <a:lstStyle/>
          <a:p>
            <a:pPr indent="0" marL="0">
              <a:buNone/>
            </a:pPr>
            <a:r>
              <a:rPr lang="en-US" sz="1200" i="1" dirty="0">
                <a:solidFill>
                  <a:srgbClr val="5B6B7B"/>
                </a:solidFill>
                <a:latin typeface="Calibri" pitchFamily="34" charset="0"/>
                <a:ea typeface="Calibri" pitchFamily="34" charset="-122"/>
                <a:cs typeface="Calibri" pitchFamily="34" charset="-120"/>
              </a:rPr>
              <a:t>125 bytes without witness, 194 with: the sizes from the last two slides</a:t>
            </a:r>
            <a:endParaRPr lang="en-US" sz="1200" dirty="0"/>
          </a:p>
        </p:txBody>
      </p:sp>
      <p:sp>
        <p:nvSpPr>
          <p:cNvPr id="10" name="Shape 8"/>
          <p:cNvSpPr/>
          <p:nvPr/>
        </p:nvSpPr>
        <p:spPr>
          <a:xfrm>
            <a:off x="5120640" y="1325880"/>
            <a:ext cx="3566160" cy="2651760"/>
          </a:xfrm>
          <a:prstGeom prst="roundRect">
            <a:avLst>
              <a:gd name="adj" fmla="val 3448"/>
            </a:avLst>
          </a:prstGeom>
          <a:solidFill>
            <a:srgbClr val="F4F2EE"/>
          </a:solidFill>
          <a:ln w="12700">
            <a:solidFill>
              <a:srgbClr val="F4F2EE"/>
            </a:solidFill>
            <a:prstDash val="solid"/>
          </a:ln>
        </p:spPr>
      </p:sp>
      <p:sp>
        <p:nvSpPr>
          <p:cNvPr id="11" name="Text 9"/>
          <p:cNvSpPr txBox="1"/>
          <p:nvPr/>
        </p:nvSpPr>
        <p:spPr>
          <a:xfrm>
            <a:off x="5303520" y="1463040"/>
            <a:ext cx="320040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Why it matters</a:t>
            </a:r>
            <a:endParaRPr lang="en-US" sz="1700" dirty="0"/>
          </a:p>
        </p:txBody>
      </p:sp>
      <p:sp>
        <p:nvSpPr>
          <p:cNvPr id="12" name="Text 10"/>
          <p:cNvSpPr txBox="1"/>
          <p:nvPr/>
        </p:nvSpPr>
        <p:spPr>
          <a:xfrm>
            <a:off x="5303520" y="1856232"/>
            <a:ext cx="320040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Fees are charged by virtual size. The decoded result reports size 194, vsize 143 and weight 569 — and 143 is 569 divided by four, rounded up.</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What Core says</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decoderawtransaction on the same hex</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57200"/>
                <a:gridCol w="1463040"/>
                <a:gridCol w="2194560"/>
                <a:gridCol w="411480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 (BTC)</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address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45720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0.00020000</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witness_v1_taproot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bc1p8dqa4…c0qwp5qv995qn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5720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0.00075000</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witness_v0_keyhash</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bc1qwafvze…zpkpg</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Shape 4"/>
          <p:cNvSpPr/>
          <p:nvPr/>
        </p:nvSpPr>
        <p:spPr>
          <a:xfrm>
            <a:off x="457200" y="3017520"/>
            <a:ext cx="3977640" cy="1325880"/>
          </a:xfrm>
          <a:prstGeom prst="roundRect">
            <a:avLst>
              <a:gd name="adj" fmla="val 6897"/>
            </a:avLst>
          </a:prstGeom>
          <a:solidFill>
            <a:srgbClr val="F4F2EE"/>
          </a:solidFill>
          <a:ln w="12700">
            <a:solidFill>
              <a:srgbClr val="F4F2EE"/>
            </a:solidFill>
            <a:prstDash val="solid"/>
          </a:ln>
        </p:spPr>
      </p:sp>
      <p:sp>
        <p:nvSpPr>
          <p:cNvPr id="8" name="Text 5"/>
          <p:cNvSpPr txBox="1"/>
          <p:nvPr/>
        </p:nvSpPr>
        <p:spPr>
          <a:xfrm>
            <a:off x="640080" y="3154680"/>
            <a:ext cx="36118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Reproduced</a:t>
            </a:r>
            <a:endParaRPr lang="en-US" sz="1700" dirty="0"/>
          </a:p>
        </p:txBody>
      </p:sp>
      <p:sp>
        <p:nvSpPr>
          <p:cNvPr id="9" name="Text 6"/>
          <p:cNvSpPr txBox="1"/>
          <p:nvPr/>
        </p:nvSpPr>
        <p:spPr>
          <a:xfrm>
            <a:off x="640080" y="3547872"/>
            <a:ext cx="3611880" cy="68580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On a mainnet node, Core 31.1 returns the book’s txid, size, vsize, weight, both addresses and both descriptor checksums.</a:t>
            </a:r>
            <a:endParaRPr lang="en-US" sz="1200" dirty="0"/>
          </a:p>
        </p:txBody>
      </p:sp>
      <p:sp>
        <p:nvSpPr>
          <p:cNvPr id="10" name="Shape 7"/>
          <p:cNvSpPr/>
          <p:nvPr/>
        </p:nvSpPr>
        <p:spPr>
          <a:xfrm>
            <a:off x="4709160" y="3017520"/>
            <a:ext cx="3977640" cy="1325880"/>
          </a:xfrm>
          <a:prstGeom prst="roundRect">
            <a:avLst>
              <a:gd name="adj" fmla="val 6897"/>
            </a:avLst>
          </a:prstGeom>
          <a:solidFill>
            <a:srgbClr val="F4F2EE"/>
          </a:solidFill>
          <a:ln w="12700">
            <a:solidFill>
              <a:srgbClr val="F4F2EE"/>
            </a:solidFill>
            <a:prstDash val="solid"/>
          </a:ln>
        </p:spPr>
      </p:sp>
      <p:sp>
        <p:nvSpPr>
          <p:cNvPr id="11" name="Text 8"/>
          <p:cNvSpPr txBox="1"/>
          <p:nvPr/>
        </p:nvSpPr>
        <p:spPr>
          <a:xfrm>
            <a:off x="4892040" y="3154680"/>
            <a:ext cx="36118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Next chapter</a:t>
            </a:r>
            <a:endParaRPr lang="en-US" sz="1700" dirty="0"/>
          </a:p>
        </p:txBody>
      </p:sp>
      <p:sp>
        <p:nvSpPr>
          <p:cNvPr id="12" name="Text 9"/>
          <p:cNvSpPr txBox="1"/>
          <p:nvPr/>
        </p:nvSpPr>
        <p:spPr>
          <a:xfrm>
            <a:off x="4892040" y="3547872"/>
            <a:ext cx="3611880" cy="68580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How the keys and hashes behind these two addresses are turned into text is chapter 4.</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Blocks: height, depth, weight, difficulty</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What getblock 123456 reports</a:t>
            </a:r>
            <a:endParaRPr lang="en-US" sz="1300" dirty="0"/>
          </a:p>
        </p:txBody>
      </p:sp>
      <p:sp>
        <p:nvSpPr>
          <p:cNvPr id="6" name="Shape 4"/>
          <p:cNvSpPr/>
          <p:nvPr/>
        </p:nvSpPr>
        <p:spPr>
          <a:xfrm>
            <a:off x="457200" y="1325880"/>
            <a:ext cx="8229600" cy="1371600"/>
          </a:xfrm>
          <a:prstGeom prst="roundRect">
            <a:avLst>
              <a:gd name="adj" fmla="val 6667"/>
            </a:avLst>
          </a:prstGeom>
          <a:solidFill>
            <a:srgbClr val="15191E"/>
          </a:solidFill>
          <a:ln w="12700">
            <a:solidFill>
              <a:srgbClr val="15191E"/>
            </a:solidFill>
            <a:prstDash val="solid"/>
          </a:ln>
        </p:spPr>
      </p:sp>
      <p:sp>
        <p:nvSpPr>
          <p:cNvPr id="7" name="Text 5"/>
          <p:cNvSpPr txBox="1"/>
          <p:nvPr/>
        </p:nvSpPr>
        <p:spPr>
          <a:xfrm>
            <a:off x="640080" y="1435608"/>
            <a:ext cx="7863840" cy="1152144"/>
          </a:xfrm>
          <a:prstGeom prst="rect">
            <a:avLst/>
          </a:prstGeom>
          <a:noFill/>
          <a:ln/>
        </p:spPr>
        <p:txBody>
          <a:bodyPr wrap="square" lIns="0" tIns="0" rIns="0" bIns="0" rtlCol="0" anchor="t"/>
          <a:lstStyle/>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123456 + 651742 - 1</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775197</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4 * 4179</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16716</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round(0xffff * 256**(0x1d - 3) / (0x6a93b3 * 256**(0x1a - 3)), 10)</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157416.4018436480</a:t>
            </a:r>
            <a:endParaRPr lang="en-US" sz="1200" dirty="0"/>
          </a:p>
        </p:txBody>
      </p:sp>
      <p:sp>
        <p:nvSpPr>
          <p:cNvPr id="8" name="Text 6"/>
          <p:cNvSpPr txBox="1"/>
          <p:nvPr/>
        </p:nvSpPr>
        <p:spPr>
          <a:xfrm>
            <a:off x="457200" y="273405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3017520"/>
          <a:ext cx="8229600" cy="914400"/>
        </p:xfrm>
        <a:graphic>
          <a:graphicData uri="http://schemas.openxmlformats.org/drawingml/2006/table">
            <a:tbl>
              <a:tblPr/>
              <a:tblGrid>
                <a:gridCol w="1463040"/>
                <a:gridCol w="6766560"/>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Means</a:t>
                      </a:r>
                      <a:endParaRPr lang="en-US" sz="11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65760">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775197</a:t>
                      </a:r>
                      <a:endParaRPr lang="en-US" sz="11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the chain’s tip when the book ran: height 123456 plus 651742 confirmations, minus one</a:t>
                      </a:r>
                      <a:endParaRPr lang="en-US" sz="11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65760">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16716</a:t>
                      </a:r>
                      <a:endParaRPr lang="en-US" sz="11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weight of a block with no witness data: four times its size, 4179</a:t>
                      </a:r>
                      <a:endParaRPr lang="en-US" sz="11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65760">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157416.40…</a:t>
                      </a:r>
                      <a:endParaRPr lang="en-US" sz="11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difficulty, from the compact target 1a6a93b3</a:t>
                      </a:r>
                      <a:endParaRPr lang="en-US" sz="11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Merkle root, recomputed</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13 transaction identifiers in, the book’s root out</a:t>
            </a:r>
            <a:endParaRPr lang="en-US" sz="1300" dirty="0"/>
          </a:p>
        </p:txBody>
      </p:sp>
      <p:sp>
        <p:nvSpPr>
          <p:cNvPr id="6" name="Shape 4"/>
          <p:cNvSpPr/>
          <p:nvPr/>
        </p:nvSpPr>
        <p:spPr>
          <a:xfrm>
            <a:off x="457200" y="1325880"/>
            <a:ext cx="8229600" cy="1600200"/>
          </a:xfrm>
          <a:prstGeom prst="roundRect">
            <a:avLst>
              <a:gd name="adj" fmla="val 5714"/>
            </a:avLst>
          </a:prstGeom>
          <a:solidFill>
            <a:srgbClr val="15191E"/>
          </a:solidFill>
          <a:ln w="12700">
            <a:solidFill>
              <a:srgbClr val="15191E"/>
            </a:solidFill>
            <a:prstDash val="solid"/>
          </a:ln>
        </p:spPr>
      </p:sp>
      <p:sp>
        <p:nvSpPr>
          <p:cNvPr id="7" name="Text 5"/>
          <p:cNvSpPr txBox="1"/>
          <p:nvPr/>
        </p:nvSpPr>
        <p:spPr>
          <a:xfrm>
            <a:off x="640080" y="1417320"/>
            <a:ext cx="7863840" cy="1417320"/>
          </a:xfrm>
          <a:prstGeom prst="rect">
            <a:avLst/>
          </a:prstGeom>
          <a:noFill/>
          <a:ln/>
        </p:spPr>
        <p:txBody>
          <a:bodyPr wrap="square" lIns="0" tIns="0" rIns="0" bIns="0" rtlCol="0" anchor="t"/>
          <a:lstStyle/>
          <a:p>
            <a:pPr indent="0" marL="0">
              <a:buNone/>
            </a:pPr>
            <a:r>
              <a:rPr lang="en-US" sz="1150" dirty="0">
                <a:solidFill>
                  <a:srgbClr val="E6EDF3"/>
                </a:solidFill>
                <a:latin typeface="Courier New" pitchFamily="34" charset="0"/>
                <a:ea typeface="Courier New" pitchFamily="34" charset="-122"/>
                <a:cs typeface="Courier New" pitchFamily="34" charset="-120"/>
              </a:rPr>
              <a:t>def merkle_root(txids):</a:t>
            </a:r>
            <a:endParaRPr lang="en-US" sz="1150" dirty="0"/>
          </a:p>
          <a:p>
            <a:pPr indent="0" marL="0">
              <a:buNone/>
            </a:pPr>
            <a:r>
              <a:rPr lang="en-US" sz="1150" dirty="0">
                <a:solidFill>
                  <a:srgbClr val="E6EDF3"/>
                </a:solidFill>
                <a:latin typeface="Courier New" pitchFamily="34" charset="0"/>
                <a:ea typeface="Courier New" pitchFamily="34" charset="-122"/>
                <a:cs typeface="Courier New" pitchFamily="34" charset="-120"/>
              </a:rPr>
              <a:t>    level = [bytes.fromhex(t)[::-1] for t in txids]</a:t>
            </a:r>
            <a:endParaRPr lang="en-US" sz="1150" dirty="0"/>
          </a:p>
          <a:p>
            <a:pPr indent="0" marL="0">
              <a:buNone/>
            </a:pPr>
            <a:r>
              <a:rPr lang="en-US" sz="1150" dirty="0">
                <a:solidFill>
                  <a:srgbClr val="E6EDF3"/>
                </a:solidFill>
                <a:latin typeface="Courier New" pitchFamily="34" charset="0"/>
                <a:ea typeface="Courier New" pitchFamily="34" charset="-122"/>
                <a:cs typeface="Courier New" pitchFamily="34" charset="-120"/>
              </a:rPr>
              <a:t>    while len(level) &gt; 1:</a:t>
            </a:r>
            <a:endParaRPr lang="en-US" sz="1150" dirty="0"/>
          </a:p>
          <a:p>
            <a:pPr indent="0" marL="0">
              <a:buNone/>
            </a:pPr>
            <a:r>
              <a:rPr lang="en-US" sz="1150" dirty="0">
                <a:solidFill>
                  <a:srgbClr val="E6EDF3"/>
                </a:solidFill>
                <a:latin typeface="Courier New" pitchFamily="34" charset="0"/>
                <a:ea typeface="Courier New" pitchFamily="34" charset="-122"/>
                <a:cs typeface="Courier New" pitchFamily="34" charset="-120"/>
              </a:rPr>
              <a:t>        if len(level) % 2: level.append(level[-1])</a:t>
            </a:r>
            <a:endParaRPr lang="en-US" sz="1150" dirty="0"/>
          </a:p>
          <a:p>
            <a:pPr indent="0" marL="0">
              <a:buNone/>
            </a:pPr>
            <a:r>
              <a:rPr lang="en-US" sz="1150" dirty="0">
                <a:solidFill>
                  <a:srgbClr val="E6EDF3"/>
                </a:solidFill>
                <a:latin typeface="Courier New" pitchFamily="34" charset="0"/>
                <a:ea typeface="Courier New" pitchFamily="34" charset="-122"/>
                <a:cs typeface="Courier New" pitchFamily="34" charset="-120"/>
              </a:rPr>
              <a:t>        level = [dsha(level[i] + level[i + 1]) for i in range(0, len(level), 2)]</a:t>
            </a:r>
            <a:endParaRPr lang="en-US" sz="1150" dirty="0"/>
          </a:p>
          <a:p>
            <a:pPr indent="0" marL="0">
              <a:buNone/>
            </a:pPr>
            <a:r>
              <a:rPr lang="en-US" sz="1150" dirty="0">
                <a:solidFill>
                  <a:srgbClr val="E6EDF3"/>
                </a:solidFill>
                <a:latin typeface="Courier New" pitchFamily="34" charset="0"/>
                <a:ea typeface="Courier New" pitchFamily="34" charset="-122"/>
                <a:cs typeface="Courier New" pitchFamily="34" charset="-120"/>
              </a:rPr>
              <a:t>    return level[0][::-1].hex()</a:t>
            </a:r>
            <a:endParaRPr lang="en-US" sz="1150" dirty="0"/>
          </a:p>
        </p:txBody>
      </p:sp>
      <p:sp>
        <p:nvSpPr>
          <p:cNvPr id="8" name="Shape 6"/>
          <p:cNvSpPr/>
          <p:nvPr/>
        </p:nvSpPr>
        <p:spPr>
          <a:xfrm>
            <a:off x="457200" y="3063240"/>
            <a:ext cx="8229600" cy="914400"/>
          </a:xfrm>
          <a:prstGeom prst="roundRect">
            <a:avLst>
              <a:gd name="adj" fmla="val 10000"/>
            </a:avLst>
          </a:prstGeom>
          <a:solidFill>
            <a:srgbClr val="15191E"/>
          </a:solidFill>
          <a:ln w="12700">
            <a:solidFill>
              <a:srgbClr val="15191E"/>
            </a:solidFill>
            <a:prstDash val="solid"/>
          </a:ln>
        </p:spPr>
      </p:sp>
      <p:sp>
        <p:nvSpPr>
          <p:cNvPr id="9" name="Text 7"/>
          <p:cNvSpPr txBox="1"/>
          <p:nvPr/>
        </p:nvSpPr>
        <p:spPr>
          <a:xfrm>
            <a:off x="640080" y="3172968"/>
            <a:ext cx="7863840" cy="694944"/>
          </a:xfrm>
          <a:prstGeom prst="rect">
            <a:avLst/>
          </a:prstGeom>
          <a:noFill/>
          <a:ln/>
        </p:spPr>
        <p:txBody>
          <a:bodyPr wrap="square" lIns="0" tIns="0" rIns="0" bIns="0" rtlCol="0" anchor="t"/>
          <a:lstStyle/>
          <a:p>
            <a:pPr indent="0" marL="0">
              <a:spcAft>
                <a:spcPts val="200"/>
              </a:spcAft>
              <a:buNone/>
            </a:pPr>
            <a:r>
              <a:rPr lang="en-US" sz="11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merkle_root(TXIDS)</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'0e60651a9934e8f0decd1c5fde39309e48fca0cd1c84a21ddfde95033762d86c'</a:t>
            </a:r>
            <a:endParaRPr lang="en-US" sz="1100" dirty="0"/>
          </a:p>
          <a:p>
            <a:pPr indent="0" marL="0">
              <a:spcAft>
                <a:spcPts val="200"/>
              </a:spcAft>
              <a:buNone/>
            </a:pPr>
            <a:r>
              <a:rPr lang="en-US" sz="11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merkle_root(TXIDS) == ROOT</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True</a:t>
            </a:r>
            <a:endParaRPr lang="en-US" sz="1100" dirty="0"/>
          </a:p>
        </p:txBody>
      </p:sp>
      <p:sp>
        <p:nvSpPr>
          <p:cNvPr id="10" name="Text 8"/>
          <p:cNvSpPr txBox="1"/>
          <p:nvPr/>
        </p:nvSpPr>
        <p:spPr>
          <a:xfrm>
            <a:off x="457200" y="401421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Text 9"/>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TXIDS is the list of 13 identifiers the book prints for block 123456. Pair, hash, repeat; an odd one out pairs with itself.</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block hash, recomputed</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80 bytes of header, hashed twice</a:t>
            </a:r>
            <a:endParaRPr lang="en-US" sz="1300" dirty="0"/>
          </a:p>
        </p:txBody>
      </p:sp>
      <p:sp>
        <p:nvSpPr>
          <p:cNvPr id="6" name="Shape 4"/>
          <p:cNvSpPr/>
          <p:nvPr/>
        </p:nvSpPr>
        <p:spPr>
          <a:xfrm>
            <a:off x="457200" y="1325880"/>
            <a:ext cx="8229600" cy="1645920"/>
          </a:xfrm>
          <a:prstGeom prst="roundRect">
            <a:avLst>
              <a:gd name="adj" fmla="val 5556"/>
            </a:avLst>
          </a:prstGeom>
          <a:solidFill>
            <a:srgbClr val="15191E"/>
          </a:solidFill>
          <a:ln w="12700">
            <a:solidFill>
              <a:srgbClr val="15191E"/>
            </a:solidFill>
            <a:prstDash val="solid"/>
          </a:ln>
        </p:spPr>
      </p:sp>
      <p:sp>
        <p:nvSpPr>
          <p:cNvPr id="7" name="Text 5"/>
          <p:cNvSpPr txBox="1"/>
          <p:nvPr/>
        </p:nvSpPr>
        <p:spPr>
          <a:xfrm>
            <a:off x="640080" y="1435608"/>
            <a:ext cx="7863840" cy="1426464"/>
          </a:xfrm>
          <a:prstGeom prst="rect">
            <a:avLst/>
          </a:prstGeom>
          <a:noFill/>
          <a:ln/>
        </p:spPr>
        <p:txBody>
          <a:bodyPr wrap="square" lIns="0" tIns="0" rIns="0" bIns="0" rtlCol="0" anchor="t"/>
          <a:lstStyle/>
          <a:p>
            <a:pPr indent="0" marL="0">
              <a:spcAft>
                <a:spcPts val="200"/>
              </a:spcAft>
              <a:buNone/>
            </a:pPr>
            <a:r>
              <a:rPr lang="en-US" sz="10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000" dirty="0">
                <a:solidFill>
                  <a:srgbClr val="E6EDF3"/>
                </a:solidFill>
                <a:latin typeface="Courier New" pitchFamily="34" charset="0"/>
                <a:ea typeface="Courier New" pitchFamily="34" charset="-122"/>
                <a:cs typeface="Courier New" pitchFamily="34" charset="-120"/>
              </a:rPr>
              <a:t>h = struct.pack('&lt;I', 1) + bytes.fromhex(PREV)[::-1] + bytes.fromhex(ROOT)[::-1] + struct.pack('&lt;III', 1305200806, 0x1a6a93b3, 2436437219)</a:t>
            </a:r>
            <a:endParaRPr lang="en-US" sz="1000" dirty="0"/>
          </a:p>
          <a:p>
            <a:pPr indent="0" marL="0">
              <a:spcAft>
                <a:spcPts val="200"/>
              </a:spcAft>
              <a:buNone/>
            </a:pPr>
            <a:r>
              <a:rPr lang="en-US" sz="10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000" dirty="0">
                <a:solidFill>
                  <a:srgbClr val="E6EDF3"/>
                </a:solidFill>
                <a:latin typeface="Courier New" pitchFamily="34" charset="0"/>
                <a:ea typeface="Courier New" pitchFamily="34" charset="-122"/>
                <a:cs typeface="Courier New" pitchFamily="34" charset="-120"/>
              </a:rPr>
              <a:t>len(h)</a:t>
            </a:r>
            <a:endParaRPr lang="en-US" sz="1000" dirty="0"/>
          </a:p>
          <a:p>
            <a:pPr indent="0" marL="0">
              <a:spcAft>
                <a:spcPts val="200"/>
              </a:spcAft>
              <a:buNone/>
            </a:pPr>
            <a:r>
              <a:rPr lang="en-US" sz="1000" dirty="0">
                <a:solidFill>
                  <a:srgbClr val="7EE787"/>
                </a:solidFill>
                <a:latin typeface="Courier New" pitchFamily="34" charset="0"/>
                <a:ea typeface="Courier New" pitchFamily="34" charset="-122"/>
                <a:cs typeface="Courier New" pitchFamily="34" charset="-120"/>
              </a:rPr>
              <a:t>80</a:t>
            </a:r>
            <a:endParaRPr lang="en-US" sz="1000" dirty="0"/>
          </a:p>
          <a:p>
            <a:pPr indent="0" marL="0">
              <a:spcAft>
                <a:spcPts val="200"/>
              </a:spcAft>
              <a:buNone/>
            </a:pPr>
            <a:r>
              <a:rPr lang="en-US" sz="10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000" dirty="0">
                <a:solidFill>
                  <a:srgbClr val="E6EDF3"/>
                </a:solidFill>
                <a:latin typeface="Courier New" pitchFamily="34" charset="0"/>
                <a:ea typeface="Courier New" pitchFamily="34" charset="-122"/>
                <a:cs typeface="Courier New" pitchFamily="34" charset="-120"/>
              </a:rPr>
              <a:t>dsha(h)[::-1].hex()</a:t>
            </a:r>
            <a:endParaRPr lang="en-US" sz="1000" dirty="0"/>
          </a:p>
          <a:p>
            <a:pPr indent="0" marL="0">
              <a:spcAft>
                <a:spcPts val="200"/>
              </a:spcAft>
              <a:buNone/>
            </a:pPr>
            <a:r>
              <a:rPr lang="en-US" sz="1000" dirty="0">
                <a:solidFill>
                  <a:srgbClr val="7EE787"/>
                </a:solidFill>
                <a:latin typeface="Courier New" pitchFamily="34" charset="0"/>
                <a:ea typeface="Courier New" pitchFamily="34" charset="-122"/>
                <a:cs typeface="Courier New" pitchFamily="34" charset="-120"/>
              </a:rPr>
              <a:t>'0000000000002917ed80650c6174aac8dfc46f5fe36480aaef682ff6cd83c3ca'</a:t>
            </a:r>
            <a:endParaRPr lang="en-US" sz="1000" dirty="0"/>
          </a:p>
        </p:txBody>
      </p:sp>
      <p:sp>
        <p:nvSpPr>
          <p:cNvPr id="8" name="Text 6"/>
          <p:cNvSpPr txBox="1"/>
          <p:nvPr/>
        </p:nvSpPr>
        <p:spPr>
          <a:xfrm>
            <a:off x="457200" y="300837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3291840"/>
            <a:ext cx="8229600" cy="1097280"/>
          </a:xfrm>
          <a:prstGeom prst="roundRect">
            <a:avLst>
              <a:gd name="adj" fmla="val 8333"/>
            </a:avLst>
          </a:prstGeom>
          <a:solidFill>
            <a:srgbClr val="F4F2EE"/>
          </a:solidFill>
          <a:ln w="12700">
            <a:solidFill>
              <a:srgbClr val="F4F2EE"/>
            </a:solidFill>
            <a:prstDash val="solid"/>
          </a:ln>
        </p:spPr>
      </p:sp>
      <p:sp>
        <p:nvSpPr>
          <p:cNvPr id="10" name="Text 8"/>
          <p:cNvSpPr txBox="1"/>
          <p:nvPr/>
        </p:nvSpPr>
        <p:spPr>
          <a:xfrm>
            <a:off x="640080" y="3429000"/>
            <a:ext cx="786384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Verified, not trusted</a:t>
            </a:r>
            <a:endParaRPr lang="en-US" sz="1700" dirty="0"/>
          </a:p>
        </p:txBody>
      </p:sp>
      <p:sp>
        <p:nvSpPr>
          <p:cNvPr id="11" name="Text 9"/>
          <p:cNvSpPr txBox="1"/>
          <p:nvPr/>
        </p:nvSpPr>
        <p:spPr>
          <a:xfrm>
            <a:off x="640080" y="3822192"/>
            <a:ext cx="7863840" cy="45720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hash equals the one the book prints for height 123456. The previous-block hash is the explorer’s; its visible end matches the book’s.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A printed result that does not match</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block total versus block 775072</a:t>
            </a:r>
            <a:endParaRPr lang="en-US" sz="1300" dirty="0"/>
          </a:p>
        </p:txBody>
      </p:sp>
      <p:sp>
        <p:nvSpPr>
          <p:cNvPr id="6" name="Shape 4"/>
          <p:cNvSpPr/>
          <p:nvPr/>
        </p:nvSpPr>
        <p:spPr>
          <a:xfrm>
            <a:off x="457200" y="1325880"/>
            <a:ext cx="5120640" cy="1828800"/>
          </a:xfrm>
          <a:prstGeom prst="roundRect">
            <a:avLst>
              <a:gd name="adj" fmla="val 5000"/>
            </a:avLst>
          </a:prstGeom>
          <a:solidFill>
            <a:srgbClr val="15191E"/>
          </a:solidFill>
          <a:ln w="12700">
            <a:solidFill>
              <a:srgbClr val="15191E"/>
            </a:solidFill>
            <a:prstDash val="solid"/>
          </a:ln>
        </p:spPr>
      </p:sp>
      <p:sp>
        <p:nvSpPr>
          <p:cNvPr id="7" name="Text 5"/>
          <p:cNvSpPr txBox="1"/>
          <p:nvPr/>
        </p:nvSpPr>
        <p:spPr>
          <a:xfrm>
            <a:off x="640080" y="1435608"/>
            <a:ext cx="4754880" cy="1609344"/>
          </a:xfrm>
          <a:prstGeom prst="rect">
            <a:avLst/>
          </a:prstGeom>
          <a:noFill/>
          <a:ln/>
        </p:spPr>
        <p:txBody>
          <a:bodyPr wrap="square" lIns="0" tIns="0" rIns="0" bIns="0" rtlCol="0" anchor="t"/>
          <a:lstStyle/>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subsidy = 50 * 10**8 &gt;&gt; (775072 // 210000)</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subsidy</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625000000</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subsidy + 8_799_108 == 633_799_108</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True</a:t>
            </a:r>
            <a:endParaRPr lang="en-US" sz="1200" dirty="0"/>
          </a:p>
          <a:p>
            <a:pPr indent="0" marL="0">
              <a:spcAft>
                <a:spcPts val="200"/>
              </a:spcAft>
              <a:buNone/>
            </a:pPr>
            <a:r>
              <a:rPr lang="en-US" sz="12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586_300_566_521 / 10**8</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5863.00566521</a:t>
            </a:r>
            <a:endParaRPr lang="en-US" sz="1200" dirty="0"/>
          </a:p>
        </p:txBody>
      </p:sp>
      <p:sp>
        <p:nvSpPr>
          <p:cNvPr id="8" name="Text 6"/>
          <p:cNvSpPr txBox="1"/>
          <p:nvPr/>
        </p:nvSpPr>
        <p:spPr>
          <a:xfrm>
            <a:off x="457200" y="3191256"/>
            <a:ext cx="5120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5806440" y="1325880"/>
            <a:ext cx="2880360" cy="1828800"/>
          </a:xfrm>
          <a:prstGeom prst="roundRect">
            <a:avLst>
              <a:gd name="adj" fmla="val 5000"/>
            </a:avLst>
          </a:prstGeom>
          <a:solidFill>
            <a:srgbClr val="F4F2EE"/>
          </a:solidFill>
          <a:ln w="12700">
            <a:solidFill>
              <a:srgbClr val="F4F2EE"/>
            </a:solidFill>
            <a:prstDash val="solid"/>
          </a:ln>
        </p:spPr>
      </p:sp>
      <p:sp>
        <p:nvSpPr>
          <p:cNvPr id="10" name="Text 8"/>
          <p:cNvSpPr txBox="1"/>
          <p:nvPr/>
        </p:nvSpPr>
        <p:spPr>
          <a:xfrm>
            <a:off x="5989320" y="1463040"/>
            <a:ext cx="251460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The book says</a:t>
            </a:r>
            <a:endParaRPr lang="en-US" sz="1700" dirty="0"/>
          </a:p>
        </p:txBody>
      </p:sp>
      <p:sp>
        <p:nvSpPr>
          <p:cNvPr id="11" name="Text 9"/>
          <p:cNvSpPr txBox="1"/>
          <p:nvPr/>
        </p:nvSpPr>
        <p:spPr>
          <a:xfrm>
            <a:off x="5989320" y="1856232"/>
            <a:ext cx="2514600" cy="1188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10,322.07722534 BTC, including a 25 BTC reward and 0.0909 BTC in fees.</a:t>
            </a:r>
            <a:endParaRPr lang="en-US" sz="1200" dirty="0"/>
          </a:p>
        </p:txBody>
      </p:sp>
      <p:sp>
        <p:nvSpPr>
          <p:cNvPr id="12" name="Shape 10"/>
          <p:cNvSpPr/>
          <p:nvPr/>
        </p:nvSpPr>
        <p:spPr>
          <a:xfrm>
            <a:off x="457200" y="3474720"/>
            <a:ext cx="8229600" cy="1051560"/>
          </a:xfrm>
          <a:prstGeom prst="roundRect">
            <a:avLst>
              <a:gd name="adj" fmla="val 8696"/>
            </a:avLst>
          </a:prstGeom>
          <a:solidFill>
            <a:srgbClr val="F4F2EE"/>
          </a:solidFill>
          <a:ln w="12700">
            <a:solidFill>
              <a:srgbClr val="F4F2EE"/>
            </a:solidFill>
            <a:prstDash val="solid"/>
          </a:ln>
        </p:spPr>
      </p:sp>
      <p:sp>
        <p:nvSpPr>
          <p:cNvPr id="13" name="Text 11"/>
          <p:cNvSpPr txBox="1"/>
          <p:nvPr/>
        </p:nvSpPr>
        <p:spPr>
          <a:xfrm>
            <a:off x="640080" y="3611880"/>
            <a:ext cx="786384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What the data give</a:t>
            </a:r>
            <a:endParaRPr lang="en-US" sz="1700" dirty="0"/>
          </a:p>
        </p:txBody>
      </p:sp>
      <p:sp>
        <p:nvSpPr>
          <p:cNvPr id="14" name="Text 12"/>
          <p:cNvSpPr txBox="1"/>
          <p:nvPr/>
        </p:nvSpPr>
        <p:spPr>
          <a:xfrm>
            <a:off x="640080" y="4005072"/>
            <a:ext cx="7863840" cy="41148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Block 775072’s outputs sum to 5,863.00566521; its coinbase is 6.33799108, which is the 6.25 subsidy plus 0.08799108 in fees. The printed figure belongs to another block.</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Toolkits: what still gets releases</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list, checked against package registries</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657600"/>
                <a:gridCol w="457200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Toolkit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Latest release seen (2026-09-29)</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2918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bitcoinjs-lib (npm)</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7.0.2, September 2026</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2918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btcd (Go)</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v0.26.2, July 2026</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2918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bitcoin crate (Rust)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updated July 2026</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2918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pycoin (PyPI)</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April 2026</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2918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bitcoinj (Maven)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0.17.1, listed April 2026</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2918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python-bitcoinlib (PyPI)</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0.12.2, June 2023</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29184">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bcoin (npm)</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1.0.2, July 2018</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Text 4"/>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library’s last release is a hint, not a verdict: check a toolkit’s activity before you build on it.</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Our theme: verified data, and its meaning</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Your node’s answers are JSON — JSON-LD can make them linked data</a:t>
            </a:r>
            <a:endParaRPr lang="en-US" sz="1300" dirty="0"/>
          </a:p>
        </p:txBody>
      </p:sp>
      <p:sp>
        <p:nvSpPr>
          <p:cNvPr id="6" name="Shape 4"/>
          <p:cNvSpPr/>
          <p:nvPr/>
        </p:nvSpPr>
        <p:spPr>
          <a:xfrm>
            <a:off x="457200" y="1371600"/>
            <a:ext cx="2606040" cy="1097280"/>
          </a:xfrm>
          <a:prstGeom prst="roundRect">
            <a:avLst>
              <a:gd name="adj" fmla="val 8333"/>
            </a:avLst>
          </a:prstGeom>
          <a:solidFill>
            <a:srgbClr val="F4F2EE"/>
          </a:solidFill>
          <a:ln w="12700">
            <a:solidFill>
              <a:srgbClr val="F4F2EE"/>
            </a:solidFill>
            <a:prstDash val="solid"/>
          </a:ln>
        </p:spPr>
      </p:sp>
      <p:sp>
        <p:nvSpPr>
          <p:cNvPr id="7" name="Text 5"/>
          <p:cNvSpPr txBox="1"/>
          <p:nvPr/>
        </p:nvSpPr>
        <p:spPr>
          <a:xfrm>
            <a:off x="457200" y="1371600"/>
            <a:ext cx="2606040" cy="1097280"/>
          </a:xfrm>
          <a:prstGeom prst="rect">
            <a:avLst/>
          </a:prstGeom>
          <a:noFill/>
          <a:ln/>
        </p:spPr>
        <p:txBody>
          <a:bodyPr wrap="square" lIns="0" tIns="0" rIns="0" bIns="0" rtlCol="0" anchor="ctr"/>
          <a:lstStyle/>
          <a:p>
            <a:pPr algn="ctr" indent="0" marL="0">
              <a:buNone/>
            </a:pPr>
            <a:r>
              <a:rPr lang="en-US" sz="1800" b="1" dirty="0">
                <a:solidFill>
                  <a:srgbClr val="1B1F24"/>
                </a:solidFill>
                <a:latin typeface="Cambria" pitchFamily="34" charset="0"/>
                <a:ea typeface="Cambria" pitchFamily="34" charset="-122"/>
                <a:cs typeface="Cambria" pitchFamily="34" charset="-120"/>
              </a:rPr>
              <a:t>Verified</a:t>
            </a:r>
            <a:endParaRPr lang="en-US" sz="1800" dirty="0"/>
          </a:p>
          <a:p>
            <a:pPr algn="ctr" indent="0" marL="0">
              <a:buNone/>
            </a:pPr>
            <a:r>
              <a:rPr lang="en-US" sz="1300" dirty="0">
                <a:solidFill>
                  <a:srgbClr val="1B1F24"/>
                </a:solidFill>
                <a:latin typeface="Cambria" pitchFamily="34" charset="0"/>
                <a:ea typeface="Cambria" pitchFamily="34" charset="-122"/>
                <a:cs typeface="Cambria" pitchFamily="34" charset="-120"/>
              </a:rPr>
              <a:t>why the data is authoritative</a:t>
            </a:r>
            <a:endParaRPr lang="en-US" sz="1800" dirty="0"/>
          </a:p>
        </p:txBody>
      </p:sp>
      <p:sp>
        <p:nvSpPr>
          <p:cNvPr id="8" name="Shape 6"/>
          <p:cNvSpPr/>
          <p:nvPr/>
        </p:nvSpPr>
        <p:spPr>
          <a:xfrm>
            <a:off x="3268980" y="1371600"/>
            <a:ext cx="2606040" cy="1097280"/>
          </a:xfrm>
          <a:prstGeom prst="roundRect">
            <a:avLst>
              <a:gd name="adj" fmla="val 8333"/>
            </a:avLst>
          </a:prstGeom>
          <a:solidFill>
            <a:srgbClr val="F7931A"/>
          </a:solidFill>
          <a:ln w="12700">
            <a:solidFill>
              <a:srgbClr val="F7931A"/>
            </a:solidFill>
            <a:prstDash val="solid"/>
          </a:ln>
        </p:spPr>
      </p:sp>
      <p:sp>
        <p:nvSpPr>
          <p:cNvPr id="9" name="Text 7"/>
          <p:cNvSpPr txBox="1"/>
          <p:nvPr/>
        </p:nvSpPr>
        <p:spPr>
          <a:xfrm>
            <a:off x="3268980" y="1371600"/>
            <a:ext cx="2606040" cy="10972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JSON</a:t>
            </a:r>
            <a:endParaRPr lang="en-US" sz="1800" dirty="0"/>
          </a:p>
          <a:p>
            <a:pPr algn="ctr" indent="0" marL="0">
              <a:buNone/>
            </a:pPr>
            <a:r>
              <a:rPr lang="en-US" sz="1300" dirty="0">
                <a:solidFill>
                  <a:srgbClr val="FFFFFF"/>
                </a:solidFill>
                <a:latin typeface="Cambria" pitchFamily="34" charset="0"/>
                <a:ea typeface="Cambria" pitchFamily="34" charset="-122"/>
                <a:cs typeface="Cambria" pitchFamily="34" charset="-120"/>
              </a:rPr>
              <a:t>what the node returns</a:t>
            </a:r>
            <a:endParaRPr lang="en-US" sz="1800" dirty="0"/>
          </a:p>
        </p:txBody>
      </p:sp>
      <p:sp>
        <p:nvSpPr>
          <p:cNvPr id="10" name="Shape 8"/>
          <p:cNvSpPr/>
          <p:nvPr/>
        </p:nvSpPr>
        <p:spPr>
          <a:xfrm>
            <a:off x="6080760" y="1371600"/>
            <a:ext cx="2606040" cy="1097280"/>
          </a:xfrm>
          <a:prstGeom prst="roundRect">
            <a:avLst>
              <a:gd name="adj" fmla="val 8333"/>
            </a:avLst>
          </a:prstGeom>
          <a:solidFill>
            <a:srgbClr val="F4F2EE"/>
          </a:solidFill>
          <a:ln w="12700">
            <a:solidFill>
              <a:srgbClr val="F4F2EE"/>
            </a:solidFill>
            <a:prstDash val="solid"/>
          </a:ln>
        </p:spPr>
      </p:sp>
      <p:sp>
        <p:nvSpPr>
          <p:cNvPr id="11" name="Text 9"/>
          <p:cNvSpPr txBox="1"/>
          <p:nvPr/>
        </p:nvSpPr>
        <p:spPr>
          <a:xfrm>
            <a:off x="6080760" y="1371600"/>
            <a:ext cx="2606040" cy="1097280"/>
          </a:xfrm>
          <a:prstGeom prst="rect">
            <a:avLst/>
          </a:prstGeom>
          <a:noFill/>
          <a:ln/>
        </p:spPr>
        <p:txBody>
          <a:bodyPr wrap="square" lIns="0" tIns="0" rIns="0" bIns="0" rtlCol="0" anchor="ctr"/>
          <a:lstStyle/>
          <a:p>
            <a:pPr algn="ctr" indent="0" marL="0">
              <a:buNone/>
            </a:pPr>
            <a:r>
              <a:rPr lang="en-US" sz="1800" b="1" dirty="0">
                <a:solidFill>
                  <a:srgbClr val="1B1F24"/>
                </a:solidFill>
                <a:latin typeface="Cambria" pitchFamily="34" charset="0"/>
                <a:ea typeface="Cambria" pitchFamily="34" charset="-122"/>
                <a:cs typeface="Cambria" pitchFamily="34" charset="-120"/>
              </a:rPr>
              <a:t>JSON-LD</a:t>
            </a:r>
            <a:endParaRPr lang="en-US" sz="1800" dirty="0"/>
          </a:p>
          <a:p>
            <a:pPr algn="ctr" indent="0" marL="0">
              <a:buNone/>
            </a:pPr>
            <a:r>
              <a:rPr lang="en-US" sz="1300" dirty="0">
                <a:solidFill>
                  <a:srgbClr val="1B1F24"/>
                </a:solidFill>
                <a:latin typeface="Cambria" pitchFamily="34" charset="0"/>
                <a:ea typeface="Cambria" pitchFamily="34" charset="-122"/>
                <a:cs typeface="Cambria" pitchFamily="34" charset="-120"/>
              </a:rPr>
              <a:t>how JSON gets a meaning</a:t>
            </a:r>
            <a:endParaRPr lang="en-US" sz="1800" dirty="0"/>
          </a:p>
        </p:txBody>
      </p:sp>
      <p:sp>
        <p:nvSpPr>
          <p:cNvPr id="12" name="Text 10"/>
          <p:cNvSpPr txBox="1"/>
          <p:nvPr/>
        </p:nvSpPr>
        <p:spPr>
          <a:xfrm>
            <a:off x="457200" y="2743200"/>
            <a:ext cx="8229600" cy="82296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JSON-LD 1.1 is the W3C’s JSON-based format to serialize Linked Data, designed to fit systems that already use JSON — such as the answers of getblock.</a:t>
            </a:r>
            <a:endParaRPr lang="en-US" sz="1500" dirty="0"/>
          </a:p>
        </p:txBody>
      </p:sp>
      <p:sp>
        <p:nvSpPr>
          <p:cNvPr id="13" name="Text 11"/>
          <p:cNvSpPr txBox="1"/>
          <p:nvPr/>
        </p:nvSpPr>
        <p:spPr>
          <a:xfrm>
            <a:off x="457200" y="3931920"/>
            <a:ext cx="8229600" cy="411480"/>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project idea: give getblock’s answer a context and load it into an RDF store.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Discussion</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Assess what you got so far</a:t>
            </a:r>
            <a:endParaRPr lang="en-US" sz="1300" dirty="0"/>
          </a:p>
        </p:txBody>
      </p:sp>
      <p:sp>
        <p:nvSpPr>
          <p:cNvPr id="6" name="Shape 4"/>
          <p:cNvSpPr/>
          <p:nvPr/>
        </p:nvSpPr>
        <p:spPr>
          <a:xfrm>
            <a:off x="457200" y="1325880"/>
            <a:ext cx="2606040" cy="274320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Trust</a:t>
            </a:r>
            <a:endParaRPr lang="en-US" sz="1700" dirty="0"/>
          </a:p>
        </p:txBody>
      </p:sp>
      <p:sp>
        <p:nvSpPr>
          <p:cNvPr id="8" name="Text 6"/>
          <p:cNvSpPr txBox="1"/>
          <p:nvPr/>
        </p:nvSpPr>
        <p:spPr>
          <a:xfrm>
            <a:off x="64008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Which step here would you skip, and what would you then be trusting instead?</a:t>
            </a:r>
            <a:endParaRPr lang="en-US" sz="1300" dirty="0"/>
          </a:p>
        </p:txBody>
      </p:sp>
      <p:sp>
        <p:nvSpPr>
          <p:cNvPr id="9" name="Shape 7"/>
          <p:cNvSpPr/>
          <p:nvPr/>
        </p:nvSpPr>
        <p:spPr>
          <a:xfrm>
            <a:off x="3268980" y="1325880"/>
            <a:ext cx="2606040" cy="274320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Change</a:t>
            </a:r>
            <a:endParaRPr lang="en-US" sz="1700" dirty="0"/>
          </a:p>
        </p:txBody>
      </p:sp>
      <p:sp>
        <p:nvSpPr>
          <p:cNvPr id="11" name="Text 9"/>
          <p:cNvSpPr txBox="1"/>
          <p:nvPr/>
        </p:nvSpPr>
        <p:spPr>
          <a:xfrm>
            <a:off x="345186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Which printed detail aged fastest, and how would you have noticed?</a:t>
            </a:r>
            <a:endParaRPr lang="en-US" sz="1300" dirty="0"/>
          </a:p>
        </p:txBody>
      </p:sp>
      <p:sp>
        <p:nvSpPr>
          <p:cNvPr id="12" name="Shape 10"/>
          <p:cNvSpPr/>
          <p:nvPr/>
        </p:nvSpPr>
        <p:spPr>
          <a:xfrm>
            <a:off x="6080760" y="1325880"/>
            <a:ext cx="2606040" cy="274320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Your node</a:t>
            </a:r>
            <a:endParaRPr lang="en-US" sz="1700" dirty="0"/>
          </a:p>
        </p:txBody>
      </p:sp>
      <p:sp>
        <p:nvSpPr>
          <p:cNvPr id="14" name="Text 12"/>
          <p:cNvSpPr txBox="1"/>
          <p:nvPr/>
        </p:nvSpPr>
        <p:spPr>
          <a:xfrm>
            <a:off x="626364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Would you run one? On what hardware, with which options?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Check yourself</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Answer before you open the interactive page</a:t>
            </a:r>
            <a:endParaRPr lang="en-US" sz="1300" dirty="0"/>
          </a:p>
        </p:txBody>
      </p:sp>
      <p:sp>
        <p:nvSpPr>
          <p:cNvPr id="6" name="Shape 4"/>
          <p:cNvSpPr/>
          <p:nvPr/>
        </p:nvSpPr>
        <p:spPr>
          <a:xfrm>
            <a:off x="457200" y="1316736"/>
            <a:ext cx="420624" cy="420624"/>
          </a:xfrm>
          <a:prstGeom prst="ellipse">
            <a:avLst/>
          </a:prstGeom>
          <a:solidFill>
            <a:srgbClr val="F7931A"/>
          </a:solidFill>
          <a:ln w="12700">
            <a:solidFill>
              <a:srgbClr val="F7931A"/>
            </a:solidFill>
            <a:prstDash val="solid"/>
          </a:ln>
        </p:spPr>
      </p:sp>
      <p:sp>
        <p:nvSpPr>
          <p:cNvPr id="7" name="Text 5"/>
          <p:cNvSpPr txBox="1"/>
          <p:nvPr/>
        </p:nvSpPr>
        <p:spPr>
          <a:xfrm>
            <a:off x="457200" y="13167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051560" y="1280160"/>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does a full node verify, and why does that make its data authoritative?</a:t>
            </a:r>
            <a:endParaRPr lang="en-US" sz="1500" dirty="0"/>
          </a:p>
        </p:txBody>
      </p:sp>
      <p:sp>
        <p:nvSpPr>
          <p:cNvPr id="9" name="Shape 7"/>
          <p:cNvSpPr/>
          <p:nvPr/>
        </p:nvSpPr>
        <p:spPr>
          <a:xfrm>
            <a:off x="457200" y="1920240"/>
            <a:ext cx="420624" cy="420624"/>
          </a:xfrm>
          <a:prstGeom prst="ellipse">
            <a:avLst/>
          </a:prstGeom>
          <a:solidFill>
            <a:srgbClr val="F7931A"/>
          </a:solidFill>
          <a:ln w="12700">
            <a:solidFill>
              <a:srgbClr val="F7931A"/>
            </a:solidFill>
            <a:prstDash val="solid"/>
          </a:ln>
        </p:spPr>
      </p:sp>
      <p:sp>
        <p:nvSpPr>
          <p:cNvPr id="10" name="Text 8"/>
          <p:cNvSpPr txBox="1"/>
          <p:nvPr/>
        </p:nvSpPr>
        <p:spPr>
          <a:xfrm>
            <a:off x="457200" y="19202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1051560" y="1883664"/>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Which command builds Bitcoin Core now, and what did it replace?</a:t>
            </a:r>
            <a:endParaRPr lang="en-US" sz="1500" dirty="0"/>
          </a:p>
        </p:txBody>
      </p:sp>
      <p:sp>
        <p:nvSpPr>
          <p:cNvPr id="12" name="Shape 10"/>
          <p:cNvSpPr/>
          <p:nvPr/>
        </p:nvSpPr>
        <p:spPr>
          <a:xfrm>
            <a:off x="457200" y="2523744"/>
            <a:ext cx="420624" cy="420624"/>
          </a:xfrm>
          <a:prstGeom prst="ellipse">
            <a:avLst/>
          </a:prstGeom>
          <a:solidFill>
            <a:srgbClr val="F7931A"/>
          </a:solidFill>
          <a:ln w="12700">
            <a:solidFill>
              <a:srgbClr val="F7931A"/>
            </a:solidFill>
            <a:prstDash val="solid"/>
          </a:ln>
        </p:spPr>
      </p:sp>
      <p:sp>
        <p:nvSpPr>
          <p:cNvPr id="13" name="Text 11"/>
          <p:cNvSpPr txBox="1"/>
          <p:nvPr/>
        </p:nvSpPr>
        <p:spPr>
          <a:xfrm>
            <a:off x="457200" y="25237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051560" y="2487168"/>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Why can the book’s constrained-node example not also set txindex=1?</a:t>
            </a:r>
            <a:endParaRPr lang="en-US" sz="1500" dirty="0"/>
          </a:p>
        </p:txBody>
      </p:sp>
      <p:sp>
        <p:nvSpPr>
          <p:cNvPr id="15" name="Shape 13"/>
          <p:cNvSpPr/>
          <p:nvPr/>
        </p:nvSpPr>
        <p:spPr>
          <a:xfrm>
            <a:off x="457200" y="3127248"/>
            <a:ext cx="420624" cy="420624"/>
          </a:xfrm>
          <a:prstGeom prst="ellipse">
            <a:avLst/>
          </a:prstGeom>
          <a:solidFill>
            <a:srgbClr val="F7931A"/>
          </a:solidFill>
          <a:ln w="12700">
            <a:solidFill>
              <a:srgbClr val="F7931A"/>
            </a:solidFill>
            <a:prstDash val="solid"/>
          </a:ln>
        </p:spPr>
      </p:sp>
      <p:sp>
        <p:nvSpPr>
          <p:cNvPr id="16" name="Text 14"/>
          <p:cNvSpPr txBox="1"/>
          <p:nvPr/>
        </p:nvSpPr>
        <p:spPr>
          <a:xfrm>
            <a:off x="457200" y="312724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7" name="Text 15"/>
          <p:cNvSpPr txBox="1"/>
          <p:nvPr/>
        </p:nvSpPr>
        <p:spPr>
          <a:xfrm>
            <a:off x="1051560" y="3090672"/>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is the difference between a txid and a hash, and which includes the witness?</a:t>
            </a:r>
            <a:endParaRPr lang="en-US" sz="1500" dirty="0"/>
          </a:p>
        </p:txBody>
      </p:sp>
      <p:sp>
        <p:nvSpPr>
          <p:cNvPr id="18" name="Shape 16"/>
          <p:cNvSpPr/>
          <p:nvPr/>
        </p:nvSpPr>
        <p:spPr>
          <a:xfrm>
            <a:off x="457200" y="3730752"/>
            <a:ext cx="420624" cy="420624"/>
          </a:xfrm>
          <a:prstGeom prst="ellipse">
            <a:avLst/>
          </a:prstGeom>
          <a:solidFill>
            <a:srgbClr val="F7931A"/>
          </a:solidFill>
          <a:ln w="12700">
            <a:solidFill>
              <a:srgbClr val="F7931A"/>
            </a:solidFill>
            <a:prstDash val="solid"/>
          </a:ln>
        </p:spPr>
      </p:sp>
      <p:sp>
        <p:nvSpPr>
          <p:cNvPr id="19" name="Text 17"/>
          <p:cNvSpPr txBox="1"/>
          <p:nvPr/>
        </p:nvSpPr>
        <p:spPr>
          <a:xfrm>
            <a:off x="457200" y="37307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0" name="Text 18"/>
          <p:cNvSpPr txBox="1"/>
          <p:nvPr/>
        </p:nvSpPr>
        <p:spPr>
          <a:xfrm>
            <a:off x="1051560" y="3694176"/>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Block 775072’s subsidy is 6.25 BTC. What did the book’s 25 BTC tell you?</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Sources</a:t>
            </a:r>
            <a:endParaRPr lang="en-US" sz="28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300" dirty="0"/>
          </a:p>
        </p:txBody>
      </p:sp>
      <p:sp>
        <p:nvSpPr>
          <p:cNvPr id="6" name="Text 4"/>
          <p:cNvSpPr txBox="1"/>
          <p:nvPr/>
        </p:nvSpPr>
        <p:spPr>
          <a:xfrm>
            <a:off x="457200" y="1280160"/>
            <a:ext cx="8229600" cy="30175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Antonopoulos, A. M., Harding, D. A. (2023). Mastering Bitcoin, 3rd ed., ch. 3. O’Reilly. CC BY-SA 4.0. github.com/bitcoinbook/bitcoinbook</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Bitcoin Core (2026). Release 31.1, its checksums and signatures; release notes 28.0 to 31.0; doc/build-unix.md; doc/files.md; GetBlockSubsidy. bitcoincore.org, github.com/bitcoin/bitcoin</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Bitcoin.org (2026). Running a full node. bitcoin.org/en/full-node</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Blockstream (2026). Esplora API, blocks 123456 and 775072. blockstream.info/api</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Todd, P. (2023). python-bitcoinlib 0.12.2. pypi.org/project/python-bitcoinlib</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W3C (2020). JSON-LD 1.1. W3C Recommendation. w3.org/TR/json-ld11</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Altunel, Y. (2021). Course notes, chapter 3, after Mastering Bitcoin 2nd ed. — checked against the 3rd edition and 31.1 before use</a:t>
            </a:r>
            <a:endParaRPr lang="en-US" sz="1200" dirty="0"/>
          </a:p>
        </p:txBody>
      </p:sp>
      <p:sp>
        <p:nvSpPr>
          <p:cNvPr id="7" name="Text 5"/>
          <p:cNvSpPr txBox="1"/>
          <p:nvPr/>
        </p:nvSpPr>
        <p:spPr>
          <a:xfrm>
            <a:off x="457200" y="457200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Mastering Bitcoin, 3rd edition, under CC BY-SA 4.0; this deck is shared under the same licence.</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1F24"/>
        </a:solidFill>
      </p:bgPr>
    </p:bg>
    <p:spTree>
      <p:nvGrpSpPr>
        <p:cNvPr id="1" name=""/>
        <p:cNvGrpSpPr/>
        <p:nvPr/>
      </p:nvGrpSpPr>
      <p:grpSpPr>
        <a:xfrm>
          <a:off x="0" y="0"/>
          <a:ext cx="0" cy="0"/>
          <a:chOff x="0" y="0"/>
          <a:chExt cx="0" cy="0"/>
        </a:xfrm>
      </p:grpSpPr>
      <p:sp>
        <p:nvSpPr>
          <p:cNvPr id="2" name="Text 0"/>
          <p:cNvSpPr txBox="1"/>
          <p:nvPr/>
        </p:nvSpPr>
        <p:spPr>
          <a:xfrm>
            <a:off x="548640" y="155448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4 — Keys and Addresses</a:t>
            </a:r>
            <a:endParaRPr lang="en-US" sz="3000" dirty="0"/>
          </a:p>
        </p:txBody>
      </p:sp>
      <p:sp>
        <p:nvSpPr>
          <p:cNvPr id="3" name="Text 1"/>
          <p:cNvSpPr txBox="1"/>
          <p:nvPr/>
        </p:nvSpPr>
        <p:spPr>
          <a:xfrm>
            <a:off x="548640" y="2423160"/>
            <a:ext cx="8046720" cy="731520"/>
          </a:xfrm>
          <a:prstGeom prst="rect">
            <a:avLst/>
          </a:prstGeom>
          <a:noFill/>
          <a:ln/>
        </p:spPr>
        <p:txBody>
          <a:bodyPr wrap="square" lIns="0" tIns="0" rIns="0" bIns="0" rtlCol="0" anchor="ctr"/>
          <a:lstStyle/>
          <a:p>
            <a:pPr indent="0" marL="0">
              <a:buNone/>
            </a:pPr>
            <a:r>
              <a:rPr lang="en-US" sz="1700" dirty="0">
                <a:solidFill>
                  <a:srgbClr val="F7931A"/>
                </a:solidFill>
                <a:latin typeface="Calibri" pitchFamily="34" charset="0"/>
                <a:ea typeface="Calibri" pitchFamily="34" charset="-122"/>
                <a:cs typeface="Calibri" pitchFamily="34" charset="-120"/>
              </a:rPr>
              <a:t>Before then: work through the chapter 3 page, and decode a transaction of your own on a test node.</a:t>
            </a:r>
            <a:endParaRPr lang="en-US" sz="1700" dirty="0"/>
          </a:p>
        </p:txBody>
      </p:sp>
      <p:sp>
        <p:nvSpPr>
          <p:cNvPr id="4" name="Text 2"/>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1DA"/>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3 - Bitcoin Core</dc:title>
  <dc:subject>PptxGenJS Presentation</dc:subject>
  <dc:creator>Yusuf Altunel</dc:creator>
  <cp:lastModifiedBy>Yusuf Altunel</cp:lastModifiedBy>
  <cp:revision>1</cp:revision>
  <dcterms:created xsi:type="dcterms:W3CDTF">2026-09-28T22:13:36Z</dcterms:created>
  <dcterms:modified xsi:type="dcterms:W3CDTF">2026-09-28T22:13:36Z</dcterms:modified>
  <cp:version>1.0.0</cp:version>
</cp:coreProperties>
</file>