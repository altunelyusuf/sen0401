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Seconds of waiting after the nth wrong PIN</a:t>
            </a:r>
          </a:p>
        </c:rich>
      </c:tx>
      <c:layout/>
      <c:overlay val="0"/>
    </c:title>
    <c:autoTitleDeleted val="0"/>
    <c:plotArea>
      <c:layout/>
      <c:barChart>
        <c:barDir val="col"/>
        <c:grouping val="clustered"/>
        <c:varyColors val="0"/>
        <c:ser>
          <c:idx val="0"/>
          <c:order val="0"/>
          <c:tx>
            <c:strRef>
              <c:f>Sheet1!$B$1</c:f>
              <c:strCache>
                <c:ptCount val="1"/>
                <c:pt idx="0">
                  <c:v>seconds</c:v>
                </c:pt>
              </c:strCache>
            </c:strRef>
          </c:tx>
          <c:spPr>
            <a:solidFill>
              <a:srgbClr val="D97A14"/>
            </a:solidFill>
            <a:effectLst/>
          </c:spPr>
          <c:invertIfNegative val="0"/>
          <c:dLbls>
            <c:numFmt formatCode="#,##0" sourceLinked="0"/>
            <c:txPr>
              <a:bodyPr/>
              <a:lstStyle/>
              <a:p>
                <a:pPr>
                  <a:defRPr b="0" i="0" strike="noStrike" sz="7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dPt>
            <c:idx val="8"/>
            <c:invertIfNegative val="0"/>
            <c:bubble3D val="0"/>
            <c:spPr>
              <a:solidFill>
                <a:srgbClr val="D97A14"/>
              </a:solidFill>
              <a:effectLst/>
            </c:spPr>
          </c:dPt>
          <c:dPt>
            <c:idx val="9"/>
            <c:invertIfNegative val="0"/>
            <c:bubble3D val="0"/>
            <c:spPr>
              <a:solidFill>
                <a:srgbClr val="2F6D62"/>
              </a:solidFill>
              <a:effectLst/>
            </c:spPr>
          </c:dPt>
          <c:dPt>
            <c:idx val="10"/>
            <c:invertIfNegative val="0"/>
            <c:bubble3D val="0"/>
            <c:spPr>
              <a:solidFill>
                <a:srgbClr val="D97A14"/>
              </a:solidFill>
              <a:effectLst/>
            </c:spPr>
          </c:dPt>
          <c:dPt>
            <c:idx val="11"/>
            <c:invertIfNegative val="0"/>
            <c:bubble3D val="0"/>
            <c:spPr>
              <a:solidFill>
                <a:srgbClr val="2F6D62"/>
              </a:solidFill>
              <a:effectLst/>
            </c:spPr>
          </c:dPt>
          <c:dPt>
            <c:idx val="12"/>
            <c:invertIfNegative val="0"/>
            <c:bubble3D val="0"/>
            <c:spPr>
              <a:solidFill>
                <a:srgbClr val="D97A14"/>
              </a:solidFill>
              <a:effectLst/>
            </c:spPr>
          </c:dPt>
          <c:dPt>
            <c:idx val="13"/>
            <c:invertIfNegative val="0"/>
            <c:bubble3D val="0"/>
            <c:spPr>
              <a:solidFill>
                <a:srgbClr val="2F6D62"/>
              </a:solidFill>
              <a:effectLst/>
            </c:spPr>
          </c:dPt>
          <c:dPt>
            <c:idx val="14"/>
            <c:invertIfNegative val="0"/>
            <c:bubble3D val="0"/>
            <c:spPr>
              <a:solidFill>
                <a:srgbClr val="D97A14"/>
              </a:solidFill>
              <a:effectLst/>
            </c:spPr>
          </c:dPt>
          <c:cat>
            <c:multiLvlStrRef>
              <c:f>Sheet1!$A$2:$A$16</c:f>
              <c:multiLvlStrCache>
                <c:ptCount val="15"/>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lvl>
              </c:multiLvlStrCache>
            </c:multiLvlStrRef>
          </c:cat>
          <c:val>
            <c:numRef>
              <c:f>Sheet1!$B$2:$B$16</c:f>
              <c:numCache>
                <c:formatCode>General</c:formatCode>
                <c:ptCount val="15"/>
                <c:pt idx="0">
                  <c:v>1</c:v>
                </c:pt>
                <c:pt idx="1">
                  <c:v>2</c:v>
                </c:pt>
                <c:pt idx="2">
                  <c:v>4</c:v>
                </c:pt>
                <c:pt idx="3">
                  <c:v>8</c:v>
                </c:pt>
                <c:pt idx="4">
                  <c:v>16</c:v>
                </c:pt>
                <c:pt idx="5">
                  <c:v>32</c:v>
                </c:pt>
                <c:pt idx="6">
                  <c:v>64</c:v>
                </c:pt>
                <c:pt idx="7">
                  <c:v>128</c:v>
                </c:pt>
                <c:pt idx="8">
                  <c:v>256</c:v>
                </c:pt>
                <c:pt idx="9">
                  <c:v>512</c:v>
                </c:pt>
                <c:pt idx="10">
                  <c:v>1024</c:v>
                </c:pt>
                <c:pt idx="11">
                  <c:v>2048</c:v>
                </c:pt>
                <c:pt idx="12">
                  <c:v>4096</c:v>
                </c:pt>
                <c:pt idx="13">
                  <c:v>8192</c:v>
                </c:pt>
                <c:pt idx="14">
                  <c:v>16384</c:v>
                </c:pt>
              </c:numCache>
            </c:numRef>
          </c:val>
        </c:ser>
        <c:dLbls>
          <c:numFmt formatCode="#,##0" sourceLinked="0"/>
          <c:txPr>
            <a:bodyPr/>
            <a:lstStyle/>
            <a:p>
              <a:pPr>
                <a:defRPr b="0" i="0" strike="noStrike" sz="7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Virtual bytes of one spend</a:t>
            </a:r>
          </a:p>
        </c:rich>
      </c:tx>
      <c:layout/>
      <c:overlay val="0"/>
    </c:title>
    <c:autoTitleDeleted val="0"/>
    <c:plotArea>
      <c:layout/>
      <c:barChart>
        <c:barDir val="col"/>
        <c:grouping val="clustered"/>
        <c:varyColors val="0"/>
        <c:ser>
          <c:idx val="0"/>
          <c:order val="0"/>
          <c:tx>
            <c:strRef>
              <c:f>Sheet1!$B$1</c:f>
              <c:strCache>
                <c:ptCount val="1"/>
                <c:pt idx="0">
                  <c:v>vbytes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one key</c:v>
                  </c:pt>
                  <c:pt idx="1">
                    <c:v>2-of-3 multisig</c:v>
                  </c:pt>
                </c:lvl>
              </c:multiLvlStrCache>
            </c:multiLvlStrRef>
          </c:cat>
          <c:val>
            <c:numRef>
              <c:f>Sheet1!$B$2:$B$3</c:f>
              <c:numCache>
                <c:formatCode>General</c:formatCode>
                <c:ptCount val="2"/>
                <c:pt idx="0">
                  <c:v>110</c:v>
                </c:pt>
                <c:pt idx="1">
                  <c:v>146</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Stuck</a:t>
            </a:r>
          </a:p>
        </c:rich>
      </c:tx>
      <c:layout/>
      <c:overlay val="0"/>
    </c:title>
    <c:autoTitleDeleted val="0"/>
    <c:plotArea>
      <c:layout/>
      <c:barChart>
        <c:barDir val="col"/>
        <c:grouping val="clustered"/>
        <c:varyColors val="0"/>
        <c:ser>
          <c:idx val="0"/>
          <c:order val="0"/>
          <c:tx>
            <c:strRef>
              <c:f>Sheet1!$B$1</c:f>
              <c:strCache>
                <c:ptCount val="1"/>
                <c:pt idx="0">
                  <c:v>stuck</c:v>
                </c:pt>
              </c:strCache>
            </c:strRef>
          </c:tx>
          <c:spPr>
            <a:solidFill>
              <a:srgbClr val="D97A14"/>
            </a:solidFill>
            <a:effectLst/>
          </c:spPr>
          <c:invertIfNegative val="0"/>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1 key</c:v>
                  </c:pt>
                  <c:pt idx="1">
                    <c:v>2-of-3</c:v>
                  </c:pt>
                  <c:pt idx="2">
                    <c:v>1-of-3</c:v>
                  </c:pt>
                </c:lvl>
              </c:multiLvlStrCache>
            </c:multiLvlStrRef>
          </c:cat>
          <c:val>
            <c:numRef>
              <c:f>Sheet1!$B$2:$B$4</c:f>
              <c:numCache>
                <c:formatCode>General</c:formatCode>
                <c:ptCount val="3"/>
                <c:pt idx="0">
                  <c:v>0.1</c:v>
                </c:pt>
                <c:pt idx="1">
                  <c:v>0.028</c:v>
                </c:pt>
                <c:pt idx="2">
                  <c:v>0.001</c:v>
                </c:pt>
              </c:numCache>
            </c:numRef>
          </c:val>
        </c:ser>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Robbed</a:t>
            </a:r>
          </a:p>
        </c:rich>
      </c:tx>
      <c:layout/>
      <c:overlay val="0"/>
    </c:title>
    <c:autoTitleDeleted val="0"/>
    <c:plotArea>
      <c:layout/>
      <c:barChart>
        <c:barDir val="col"/>
        <c:grouping val="clustered"/>
        <c:varyColors val="0"/>
        <c:ser>
          <c:idx val="0"/>
          <c:order val="0"/>
          <c:tx>
            <c:strRef>
              <c:f>Sheet1!$B$1</c:f>
              <c:strCache>
                <c:ptCount val="1"/>
                <c:pt idx="0">
                  <c:v>robbed</c:v>
                </c:pt>
              </c:strCache>
            </c:strRef>
          </c:tx>
          <c:spPr>
            <a:solidFill>
              <a:srgbClr val="D97A14"/>
            </a:solidFill>
            <a:effectLst/>
          </c:spPr>
          <c:invertIfNegative val="0"/>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1 key</c:v>
                  </c:pt>
                  <c:pt idx="1">
                    <c:v>2-of-3</c:v>
                  </c:pt>
                  <c:pt idx="2">
                    <c:v>1-of-3</c:v>
                  </c:pt>
                </c:lvl>
              </c:multiLvlStrCache>
            </c:multiLvlStrRef>
          </c:cat>
          <c:val>
            <c:numRef>
              <c:f>Sheet1!$B$2:$B$4</c:f>
              <c:numCache>
                <c:formatCode>General</c:formatCode>
                <c:ptCount val="3"/>
                <c:pt idx="0">
                  <c:v>0.05</c:v>
                </c:pt>
                <c:pt idx="1">
                  <c:v>0.00725</c:v>
                </c:pt>
                <c:pt idx="2">
                  <c:v>0.14263</c:v>
                </c:pt>
              </c:numCache>
            </c:numRef>
          </c:val>
        </c:ser>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Bitcoin security: what a signature protects, how traffic and the chain's first block are trusted, how a download is checked, and how keys are kept offline, on a device, behind a passphrase and in a backup. It ends with several keys, a delayed heir and Shamir's shared secrets. Every example runs under Python 3.14.6 on the chapter's own library, and Bitcoin Core 31.1 was run on a test network, so its answers are Recorded and only read back here. The research package for chapter 13 holds the sources and the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three parts after the questions: trusting the network and the software, with the signed payment, encrypted traffic, the first block and the download check; keeping the keys safe, with cold storage, devices, passphrases, backups and seed words; and surviving loss and theft, with several keys, an heir, shared secrets and custody. Each part carries true stories and corrections of the book that a reader can check on the slide. The numbers in the list let a reader jump straight to a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asks two questions that this deck answers by computation: which of its statements can be checked, and what has changed since print. The three numbers are counted from the research package, which holds 77 sources, 25 findings and 50 executed claims. Each slide that follows shows the computation behind one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asks what Bitcoin protects and what it asks you to trust. A signed payment cannot be altered or replayed, node traffic is now encrypted by default, the chain starts from one typed-in block and a shortcut called assumed-valid, and a downloaded program can be checked against a list of hashes, but only so far as the signers' keys are 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Bitcoin payment authorizes a specific value to a specific recipient. On a Bitcoin Core 31.1 test node, a signed payment of 222 bytes held a signature of 71 bytes and the public key of 33 bytes, and neither the private key nor its WIF text. The same payment with a swapped recipient or a changed amount was refused, because the signature covers the outputs, and sending it again paid nothing. No mainnet funds were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 says that no encryption is required for Bitcoin traffic, and chapter 10 says Bitcoin Core talks in the clear. That is out of date: BIP 324 defines an encrypted version 2 transport, release 26.0 added it switched off, and release 27.0 turned it on by default. Two test nodes of Core 31.1 spoke v2 and agreed on one session id, while a peer without v2 was still served over v1. No traffic was captured on the wire.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 says that the genesis block is the root of trust and that the only thing to be explicitly trusted is a fully validated blockchain. The genesis hash is indeed typed into chainparams.cpp and asserted. But Bitcoin Core 31.1 also ships an assumed-valid block, 938,343, and its help says a node may assume that block and its ancestors are valid and skip their script verification. Trust is therefore in the release you installed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tarball of Bitcoin Core 31.1 has 90,293,352 bytes and its SHA-256 equals its line in the list of 28 hashes, so it is the file that the list names. But the list itself is signed with 11 signatures, and with an empty keyring gpg could call none of them good: the hash proves only that the file is the listed one. The project's Guix builds exist so that users need not trust binary downloads blindly.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about keeping keys. A watch-only wallet and a partially signed transaction keep the keys on another machine, a hardware wallet makes the signature and defends itself with waiting, a passphrase locks the wallet file, and a backup must hold the descriptor and be recent. Seed words are checksummed arithmetic. The stories are the Trezor and the Casascius coin.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cold storage the node that is online holds only public keys. On test nodes the hot wallet had private keys disabled and could not sign, and when asked for its private descriptors it answered with error minus four. A second node with no blocks and no connections signed the partially signed transaction of 528 characters, and the hot node finalized and broadcast it. A second node on the same machine is not a true air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hardware wallet holds the keys and makes the signatures, and it defends itself against a thief with a PIN whose waits double after every wrong try. The waits before the sixteenth attempt add up to 32,767 seconds, 9.1 hours, and then the device wipes itself. Bitcoin Core can drive such a device with the option -signer. The Bitcoin Wiki warns that malware could swap the recipient's address, so the person must read it on the device's screen; no device was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Encrypting the wallet locks the private keys and nothing else. A locked wallet on the test node still showed its balance and gave new addresses, but refused to send with error minus 13, and a wrong passphrase gave minus 14. A three-second unlock ended on time. The key is AES-256 with a salt of 8 bytes and 25000 rounds, and encryptwallet also makes a new seed, so a backup made before encryption cannot recover the coins received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 speaks of a wallet as keys that can be backed up like any file. In Bitcoin Core 31.1 a wallet is a set of descriptors, and a backup is only good while it is recent: on a node with a keypool of 3, a stale backup held only 1.0 of 3.0 coins because 2.0 went to the tenth address. For a multisignature wallet the descriptor must be saved as well, since one key alone knew nothing of the address and the same keys in another order found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seed phrase is a number written in words with a checksum. Sixteen bytes of entropy make twelve words from a list of 2048, and the last four bits are a checksum, so a changed last word is caught. The seed is made with 2048 rounds of PBKDF2 over the words and an optional passphrase, and it equals the published Trezor vector. Printing a single key on paper was a method of 2011 to 2016 that the Bitcoin Wiki now calls obsolete, and a brainwallet of four words is found in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Trezor holds the keys and makes the signatures, and it defends itself against a thief with a PIN whose waits double, with a wipe after 16 failed attempts. SatoshiLabs announced the Trezor Safe 5 on 14 June 2024 at BTC Prague, with a colour touchscreen and an EAL 6+ secure element. The Bitcoin Wiki still warns that malware could swap the recipient's address, so the person must read the address on the device's own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Mike Caldwell of Sandy, Utah, made physical bitcoins: a coin with a private key under a tamper-evident hologram, sold in sizes from 1 to 1000 BTC. FinCEN had told him that minting physical bitcoins qualified him as a money transmitter that must register, and he suspended sales on 26 November 2013. The book's physical storage, the seed on paper or metal, is the same idea without the maker.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about the two ways to lose coins, losing the key and having it stolen. Several keys, a path for an heir that opens after a wait, and Shamir's shared secrets each trade one risk for another, and the odds depend on what is feared. The stories are the exchange that held everyone's keys and the paper that began secret sharing.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two-of-three wallet needs two signatures: on the test chain one signature left the payment incomplete and two made it complete, in 146 virtual bytes against 110 for a single key. The loss of one key left the funds spendable, the loss of two did not. With sortedmulti the address is the same for any order of the keys, while with plain multi a different order gave a different address, which is why the descriptor belongs in the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odds depend on what is feared. If each key is lost with chance 0.1 and stolen with chance 0.05, independently, which is an assumption, a two-of-three setup is stuck with chance 0.028 and robbed with chance 0.00725, against 0.1 and 0.05 for one key. A one-of-three setup is almost never stuck, 0.001, but is robbed with chance 0.14263. At a loss chance of 0.5 the two-of-three is no better than a single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wallet can give an heir a path that opens only after a delay: the policy was or(owner, and(heir, older 10)). On the test chain the owner could spend at once and the heir was refused at one and at nine confirmations and accepted at ten. There is a trap: BIP 68 reads only 16 bits of the sequence, and Bitcoin Core 31.1 accepted older(65536), with which the heir could spend after one block. The longest honest wait is 65,535 blocks, about 455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Shamir's scheme splits a secret into n pieces so that any k of them recover it and fewer reveal nothing. In the chapter's library a secret was split into three shares, and any two returned it while one share did not. Over a small field of 257 values, one share fitted all 257 possible secrets, which is what undetermined means. The book does not mention the scheme, but BIP 93, a draft, and SLIP 39 use it for seed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Mt. Gox of Shibuya, Tokyo, launched in 2010, handled over 70 percent of bitcoin transactions by early 2014, halted withdrawals on 7 February 2014 and suspended all trading on 24 February. A leaked document claimed a loss of 744,408 bitcoins in a theft undetected for years, and the Tokyo District Court later found its CEO Mark Karpeles guilty of falsifying data. The figures differ by source and are quoted with theirs. Customers held a claim on the exchange and not the keys.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Adi Shamir's two-page paper How to Share a Secret, in the Communications of the ACM of November 1979, divides data into n pieces so that any k pieces compute it easily and knowledge of any k minus 1 pieces leaves it completely undetermined. The scheme rests on polynomial interpolation: k points determine one polynomial of degree k minus 1, and the secret is its value at zero. In this chapter two of three shares returned the secret 123456789.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Each can be traced to a part of the route on slide 2 and to computations that ran on its slides. A line that feels unproven should send the reader back to that part's consoles.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and every link was opened on 2026-10-15. A good start is the Stand-up Maths video on secret sharing, then the Optech topic on partially signed transactions next to the chapter. The research package for chapter 13 lists all 77 sources with the passages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computations that ran on slides of this deck. A reader who can say them and point to the slide that proves them has the chapter. The research package for chapter 13 holds the sources and the test records behind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hyperlink" Target="https://en.bitcoin.it/wiki/Trezor"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hyperlink" Target="https://en.bitcoin.it/wiki/Casascius_physical_bitcoins" TargetMode="External"/><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chart" Target="../charts/chart4.xml"/><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hyperlink" Target="https://en.wikipedia.org/wiki/Mt._Gox"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hyperlink" Target="https://en.wikipedia.org/wiki/Shamir%27s_secret_sharing" TargetMode="External"/><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bitcoinops.org/en/topics/psbt/" TargetMode="External"/><Relationship Id="rId2" Type="http://schemas.openxmlformats.org/officeDocument/2006/relationships/hyperlink" Target="https://bitcoinops.org/en/topics/output-script-descriptors/" TargetMode="External"/><Relationship Id="rId3" Type="http://schemas.openxmlformats.org/officeDocument/2006/relationships/hyperlink" Target="https://bitcoinops.org/en/topics/timelocks/" TargetMode="External"/><Relationship Id="rId4" Type="http://schemas.openxmlformats.org/officeDocument/2006/relationships/hyperlink" Target="https://bips.dev/324/" TargetMode="External"/><Relationship Id="rId5" Type="http://schemas.openxmlformats.org/officeDocument/2006/relationships/hyperlink" Target="https://bips.dev/39/" TargetMode="External"/><Relationship Id="rId6" Type="http://schemas.openxmlformats.org/officeDocument/2006/relationships/hyperlink" Target="https://web.mit.edu/6.857/OldStuff/Fall03/ref/Shamir-HowToShareASecret.pdf" TargetMode="External"/><Relationship Id="rId7" Type="http://schemas.openxmlformats.org/officeDocument/2006/relationships/hyperlink" Target="https://www.youtube.com/embed/K54ildEW9-Q" TargetMode="External"/><Relationship Id="rId8" Type="http://schemas.openxmlformats.org/officeDocument/2006/relationships/hyperlink" Target="https://www.youtube.com/embed/pOr6dwb7-dw" TargetMode="External"/><Relationship Id="rId9" Type="http://schemas.openxmlformats.org/officeDocument/2006/relationships/hyperlink" Target="https://bitcoinops.org/en/newsletters/" TargetMode="External"/><Relationship Id="rId10" Type="http://schemas.openxmlformats.org/officeDocument/2006/relationships/hyperlink" Target="https://delvingbitcoin.org/" TargetMode="External"/><Relationship Id="rId11" Type="http://schemas.openxmlformats.org/officeDocument/2006/relationships/hyperlink" Target="https://groups.google.com/g/bitcoindev" TargetMode="External"/><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13: Bitcoin Security</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What a signature protects, how keys are kept and backed up, and how several keys survive loss and theft. Bitcoin Core 31.1 results are Recorded.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questions, then three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chapter's questions  (slides 3-3)</a:t>
            </a:r>
            <a:endParaRPr lang="en-US" sz="1200" dirty="0"/>
          </a:p>
        </p:txBody>
      </p:sp>
      <p:sp>
        <p:nvSpPr>
          <p:cNvPr id="9" name="Shape 7"/>
          <p:cNvSpPr/>
          <p:nvPr/>
        </p:nvSpPr>
        <p:spPr>
          <a:xfrm>
            <a:off x="457200" y="206654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665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29968"/>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Trusting the network and the software  (slides 4-8)</a:t>
            </a:r>
            <a:endParaRPr lang="en-US" sz="1200" dirty="0"/>
          </a:p>
        </p:txBody>
      </p:sp>
      <p:sp>
        <p:nvSpPr>
          <p:cNvPr id="12" name="Shape 10"/>
          <p:cNvSpPr/>
          <p:nvPr/>
        </p:nvSpPr>
        <p:spPr>
          <a:xfrm>
            <a:off x="457200" y="272491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249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88336"/>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Keeping the keys safe  (slides 9-16)</a:t>
            </a:r>
            <a:endParaRPr lang="en-US" sz="1200" dirty="0"/>
          </a:p>
        </p:txBody>
      </p:sp>
      <p:sp>
        <p:nvSpPr>
          <p:cNvPr id="15" name="Shape 13"/>
          <p:cNvSpPr/>
          <p:nvPr/>
        </p:nvSpPr>
        <p:spPr>
          <a:xfrm>
            <a:off x="457200" y="3383280"/>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383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346704"/>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Surviving loss and theft  (slides 17-26)</a:t>
            </a:r>
            <a:endParaRPr lang="en-US" sz="1200" dirty="0"/>
          </a:p>
        </p:txBody>
      </p:sp>
      <p:sp>
        <p:nvSpPr>
          <p:cNvPr id="18" name="Shape 16"/>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19" name="Text 17"/>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0" name="Text 18"/>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1" name="Shape 19"/>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3" name="Text 21"/>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4" name="Shape 22"/>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17</a:t>
            </a:r>
            <a:endParaRPr lang="en-US" sz="2600" dirty="0"/>
          </a:p>
        </p:txBody>
      </p:sp>
      <p:sp>
        <p:nvSpPr>
          <p:cNvPr id="26" name="Text 24"/>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parts, four true stories, and a list of what was not run</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and the numbers behind the answers</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claims of the chapter can be checked by computation, and what does the computation give?</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What in the chapter has changed since the book went to print, and on what source?</a:t>
            </a:r>
            <a:endParaRPr lang="en-US" sz="1300" dirty="0"/>
          </a:p>
        </p:txBody>
      </p:sp>
      <p:sp>
        <p:nvSpPr>
          <p:cNvPr id="12" name="Shape 10"/>
          <p:cNvSpPr/>
          <p:nvPr/>
        </p:nvSpPr>
        <p:spPr>
          <a:xfrm>
            <a:off x="457200" y="3017520"/>
            <a:ext cx="2590800" cy="1463040"/>
          </a:xfrm>
          <a:prstGeom prst="roundRect">
            <a:avLst>
              <a:gd name="adj" fmla="val 5000"/>
            </a:avLst>
          </a:prstGeom>
          <a:solidFill>
            <a:srgbClr val="F2ECE1"/>
          </a:solidFill>
          <a:ln w="12700">
            <a:solidFill>
              <a:srgbClr val="DFD6C7"/>
            </a:solidFill>
            <a:prstDash val="solid"/>
          </a:ln>
        </p:spPr>
      </p:sp>
      <p:sp>
        <p:nvSpPr>
          <p:cNvPr id="13" name="Text 11"/>
          <p:cNvSpPr txBox="1"/>
          <p:nvPr/>
        </p:nvSpPr>
        <p:spPr>
          <a:xfrm>
            <a:off x="5669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77</a:t>
            </a:r>
            <a:endParaRPr lang="en-US" sz="2800" dirty="0"/>
          </a:p>
        </p:txBody>
      </p:sp>
      <p:sp>
        <p:nvSpPr>
          <p:cNvPr id="14" name="Text 12"/>
          <p:cNvSpPr txBox="1"/>
          <p:nvPr/>
        </p:nvSpPr>
        <p:spPr>
          <a:xfrm>
            <a:off x="5669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sources, opened and read on 2026-10-15</a:t>
            </a:r>
            <a:endParaRPr lang="en-US" sz="1150" dirty="0"/>
          </a:p>
        </p:txBody>
      </p:sp>
      <p:sp>
        <p:nvSpPr>
          <p:cNvPr id="15" name="Shape 13"/>
          <p:cNvSpPr/>
          <p:nvPr/>
        </p:nvSpPr>
        <p:spPr>
          <a:xfrm>
            <a:off x="3276600" y="3017520"/>
            <a:ext cx="2590800" cy="1463040"/>
          </a:xfrm>
          <a:prstGeom prst="roundRect">
            <a:avLst>
              <a:gd name="adj" fmla="val 5000"/>
            </a:avLst>
          </a:prstGeom>
          <a:solidFill>
            <a:srgbClr val="F2ECE1"/>
          </a:solidFill>
          <a:ln w="12700">
            <a:solidFill>
              <a:srgbClr val="DFD6C7"/>
            </a:solidFill>
            <a:prstDash val="solid"/>
          </a:ln>
        </p:spPr>
      </p:sp>
      <p:sp>
        <p:nvSpPr>
          <p:cNvPr id="16" name="Text 14"/>
          <p:cNvSpPr txBox="1"/>
          <p:nvPr/>
        </p:nvSpPr>
        <p:spPr>
          <a:xfrm>
            <a:off x="33863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50</a:t>
            </a:r>
            <a:endParaRPr lang="en-US" sz="2800" dirty="0"/>
          </a:p>
        </p:txBody>
      </p:sp>
      <p:sp>
        <p:nvSpPr>
          <p:cNvPr id="17" name="Text 15"/>
          <p:cNvSpPr txBox="1"/>
          <p:nvPr/>
        </p:nvSpPr>
        <p:spPr>
          <a:xfrm>
            <a:off x="33863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claims, each recomputed by running code</a:t>
            </a:r>
            <a:endParaRPr lang="en-US" sz="1150" dirty="0"/>
          </a:p>
        </p:txBody>
      </p:sp>
      <p:sp>
        <p:nvSpPr>
          <p:cNvPr id="18" name="Shape 16"/>
          <p:cNvSpPr/>
          <p:nvPr/>
        </p:nvSpPr>
        <p:spPr>
          <a:xfrm>
            <a:off x="6096000" y="3017520"/>
            <a:ext cx="2590800" cy="1463040"/>
          </a:xfrm>
          <a:prstGeom prst="roundRect">
            <a:avLst>
              <a:gd name="adj" fmla="val 5000"/>
            </a:avLst>
          </a:prstGeom>
          <a:solidFill>
            <a:srgbClr val="F2ECE1"/>
          </a:solidFill>
          <a:ln w="12700">
            <a:solidFill>
              <a:srgbClr val="DFD6C7"/>
            </a:solidFill>
            <a:prstDash val="solid"/>
          </a:ln>
        </p:spPr>
      </p:sp>
      <p:sp>
        <p:nvSpPr>
          <p:cNvPr id="19" name="Text 17"/>
          <p:cNvSpPr txBox="1"/>
          <p:nvPr/>
        </p:nvSpPr>
        <p:spPr>
          <a:xfrm>
            <a:off x="62057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25</a:t>
            </a:r>
            <a:endParaRPr lang="en-US" sz="2800" dirty="0"/>
          </a:p>
        </p:txBody>
      </p:sp>
      <p:sp>
        <p:nvSpPr>
          <p:cNvPr id="20" name="Text 18"/>
          <p:cNvSpPr txBox="1"/>
          <p:nvPr/>
        </p:nvSpPr>
        <p:spPr>
          <a:xfrm>
            <a:off x="62057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findings, several of them corrections of the book</a:t>
            </a:r>
            <a:endParaRPr lang="en-US" sz="11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Trusting the network and the software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a signature protects, and what a node or a download is trusted for.</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signed payment</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Encrypted traffic</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first block</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Checking a download</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signature protects value and recipient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cheque with amount and payee inked in: change either and the signature fails</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 t, r = R[</a:t>
            </a:r>
            <a:r>
              <a:rPr lang="en-US" sz="920" dirty="0">
                <a:solidFill>
                  <a:srgbClr val="9ECBFF"/>
                </a:solidFill>
                <a:latin typeface="Courier New" pitchFamily="34" charset="0"/>
                <a:ea typeface="Courier New" pitchFamily="34" charset="-122"/>
                <a:cs typeface="Courier New" pitchFamily="34" charset="-120"/>
              </a:rPr>
              <a:t>'b1_secrecy'</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'b1_tamper'</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'b1_replay'</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a:t>
            </a:r>
            <a:r>
              <a:rPr lang="en-US" sz="920" dirty="0">
                <a:solidFill>
                  <a:srgbClr val="9ECBFF"/>
                </a:solidFill>
                <a:latin typeface="Courier New" pitchFamily="34" charset="0"/>
                <a:ea typeface="Courier New" pitchFamily="34" charset="-122"/>
                <a:cs typeface="Courier New" pitchFamily="34" charset="-120"/>
              </a:rPr>
              <a:t>'tx_bytes'</a:t>
            </a:r>
            <a:r>
              <a:rPr lang="en-US" sz="920" dirty="0">
                <a:solidFill>
                  <a:srgbClr val="E6EDF3"/>
                </a:solidFill>
                <a:latin typeface="Courier New" pitchFamily="34" charset="0"/>
                <a:ea typeface="Courier New" pitchFamily="34" charset="-122"/>
                <a:cs typeface="Courier New" pitchFamily="34" charset="-120"/>
              </a:rPr>
              <a:t>], s[</a:t>
            </a:r>
            <a:r>
              <a:rPr lang="en-US" sz="920" dirty="0">
                <a:solidFill>
                  <a:srgbClr val="9ECBFF"/>
                </a:solidFill>
                <a:latin typeface="Courier New" pitchFamily="34" charset="0"/>
                <a:ea typeface="Courier New" pitchFamily="34" charset="-122"/>
                <a:cs typeface="Courier New" pitchFamily="34" charset="-120"/>
              </a:rPr>
              <a:t>'witness_item_lengths'</a:t>
            </a:r>
            <a:r>
              <a:rPr lang="en-US" sz="920" dirty="0">
                <a:solidFill>
                  <a:srgbClr val="E6EDF3"/>
                </a:solidFill>
                <a:latin typeface="Courier New" pitchFamily="34" charset="0"/>
                <a:ea typeface="Courier New" pitchFamily="34" charset="-122"/>
                <a:cs typeface="Courier New" pitchFamily="34" charset="-120"/>
              </a:rPr>
              <a:t>], s[</a:t>
            </a:r>
            <a:r>
              <a:rPr lang="en-US" sz="920" dirty="0">
                <a:solidFill>
                  <a:srgbClr val="9ECBFF"/>
                </a:solidFill>
                <a:latin typeface="Courier New" pitchFamily="34" charset="0"/>
                <a:ea typeface="Courier New" pitchFamily="34" charset="-122"/>
                <a:cs typeface="Courier New" pitchFamily="34" charset="-120"/>
              </a:rPr>
              <a:t>'private_key_hex_in_tx'</a:t>
            </a:r>
            <a:r>
              <a:rPr lang="en-US" sz="920" dirty="0">
                <a:solidFill>
                  <a:srgbClr val="E6EDF3"/>
                </a:solidFill>
                <a:latin typeface="Courier New" pitchFamily="34" charset="0"/>
                <a:ea typeface="Courier New" pitchFamily="34" charset="-122"/>
                <a:cs typeface="Courier New" pitchFamily="34" charset="-120"/>
              </a:rPr>
              <a:t>], s[</a:t>
            </a:r>
            <a:r>
              <a:rPr lang="en-US" sz="920" dirty="0">
                <a:solidFill>
                  <a:srgbClr val="9ECBFF"/>
                </a:solidFill>
                <a:latin typeface="Courier New" pitchFamily="34" charset="0"/>
                <a:ea typeface="Courier New" pitchFamily="34" charset="-122"/>
                <a:cs typeface="Courier New" pitchFamily="34" charset="-120"/>
              </a:rPr>
              <a:t>'wif_in_tx'</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(222, [71, 33], False, False)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t[</a:t>
            </a:r>
            <a:r>
              <a:rPr lang="en-US" sz="920" dirty="0">
                <a:solidFill>
                  <a:srgbClr val="9ECBFF"/>
                </a:solidFill>
                <a:latin typeface="Courier New" pitchFamily="34" charset="0"/>
                <a:ea typeface="Courier New" pitchFamily="34" charset="-122"/>
                <a:cs typeface="Courier New" pitchFamily="34" charset="-120"/>
              </a:rPr>
              <a:t>'valid'</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 t[</a:t>
            </a:r>
            <a:r>
              <a:rPr lang="en-US" sz="920" dirty="0">
                <a:solidFill>
                  <a:srgbClr val="9ECBFF"/>
                </a:solidFill>
                <a:latin typeface="Courier New" pitchFamily="34" charset="0"/>
                <a:ea typeface="Courier New" pitchFamily="34" charset="-122"/>
                <a:cs typeface="Courier New" pitchFamily="34" charset="-120"/>
              </a:rPr>
              <a:t>'address_replaced'</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 t[</a:t>
            </a:r>
            <a:r>
              <a:rPr lang="en-US" sz="920" dirty="0">
                <a:solidFill>
                  <a:srgbClr val="9ECBFF"/>
                </a:solidFill>
                <a:latin typeface="Courier New" pitchFamily="34" charset="0"/>
                <a:ea typeface="Courier New" pitchFamily="34" charset="-122"/>
                <a:cs typeface="Courier New" pitchFamily="34" charset="-120"/>
              </a:rPr>
              <a:t>'amount_changed'</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False, False)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a:t>
            </a:r>
            <a:r>
              <a:rPr lang="en-US" sz="920" dirty="0">
                <a:solidFill>
                  <a:srgbClr val="9ECBFF"/>
                </a:solidFill>
                <a:latin typeface="Courier New" pitchFamily="34" charset="0"/>
                <a:ea typeface="Courier New" pitchFamily="34" charset="-122"/>
                <a:cs typeface="Courier New" pitchFamily="34" charset="-120"/>
              </a:rPr>
              <a:t>'sighash_byte'</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'testmempoolaccept'</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'reject-reason'</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'balance_r'</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'balance_r_after'</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('01', 'txn-already-known', 1.5, 1.5)</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r[</a:t>
            </a:r>
            <a:r>
              <a:rPr lang="en-US" sz="920" dirty="0">
                <a:solidFill>
                  <a:srgbClr val="9ECBFF"/>
                </a:solidFill>
                <a:latin typeface="Courier New" pitchFamily="34" charset="0"/>
                <a:ea typeface="Courier New" pitchFamily="34" charset="-122"/>
                <a:cs typeface="Courier New" pitchFamily="34" charset="-120"/>
              </a:rPr>
              <a:t>'sendrawtransaction'</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'error'</a:t>
            </a:r>
            <a:r>
              <a:rPr lang="en-US" sz="920" dirty="0">
                <a:solidFill>
                  <a:srgbClr val="E6EDF3"/>
                </a:solidFill>
                <a:latin typeface="Courier New" pitchFamily="34" charset="0"/>
                <a:ea typeface="Courier New" pitchFamily="34" charset="-122"/>
                <a:cs typeface="Courier New" pitchFamily="34" charset="-120"/>
              </a:rPr>
              <a:t>].split(</a:t>
            </a:r>
            <a:r>
              <a:rPr lang="en-US" sz="920" dirty="0">
                <a:solidFill>
                  <a:srgbClr val="9ECBFF"/>
                </a:solidFill>
                <a:latin typeface="Courier New" pitchFamily="34" charset="0"/>
                <a:ea typeface="Courier New" pitchFamily="34" charset="-122"/>
                <a:cs typeface="Courier New" pitchFamily="34" charset="-120"/>
              </a:rPr>
              <a:t>'message: '</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'Transaction outputs already in utxo set'</a:t>
            </a:r>
            <a:endParaRPr lang="en-US" sz="92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50920"/>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222-byte payment holds a 71-byte signature and the 33-byte public key, no private key and no WIF</a:t>
            </a:r>
            <a:endParaRPr lang="en-US" sz="1000" dirty="0"/>
          </a:p>
        </p:txBody>
      </p:sp>
      <p:sp>
        <p:nvSpPr>
          <p:cNvPr id="12" name="Shape 10"/>
          <p:cNvSpPr/>
          <p:nvPr/>
        </p:nvSpPr>
        <p:spPr>
          <a:xfrm>
            <a:off x="457200" y="373989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09416"/>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a valid payment is accepted; a swapped recipient or a changed amount breaks the signature</a:t>
            </a:r>
            <a:endParaRPr lang="en-US" sz="1000" dirty="0"/>
          </a:p>
        </p:txBody>
      </p:sp>
      <p:sp>
        <p:nvSpPr>
          <p:cNvPr id="14" name="Shape 12"/>
          <p:cNvSpPr/>
          <p:nvPr/>
        </p:nvSpPr>
        <p:spPr>
          <a:xfrm>
            <a:off x="457200" y="392887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898392"/>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the sighash byte 01 signs all outputs; a replay pays nothing, the outputs are already known</a:t>
            </a:r>
            <a:endParaRPr lang="en-US" sz="1000" dirty="0"/>
          </a:p>
        </p:txBody>
      </p:sp>
      <p:sp>
        <p:nvSpPr>
          <p:cNvPr id="16"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real money on mainnet; every payment here was made on regtest.</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signature covers value and recipient, and never contains the key</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Encrypted by default since release 27.0</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sealing the envelope: strangers on the road cannot read it, only the two peers can</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book and the release notes are saved</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p, n = R[</a:t>
            </a:r>
            <a:r>
              <a:rPr lang="en-US" sz="920" dirty="0">
                <a:solidFill>
                  <a:srgbClr val="9ECBFF"/>
                </a:solidFill>
                <a:latin typeface="Courier New" pitchFamily="34" charset="0"/>
                <a:ea typeface="Courier New" pitchFamily="34" charset="-122"/>
                <a:cs typeface="Courier New" pitchFamily="34" charset="-120"/>
              </a:rPr>
              <a:t>'b2_peers'</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'b2_netinfo'</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p[</a:t>
            </a:r>
            <a:r>
              <a:rPr lang="en-US" sz="920" dirty="0">
                <a:solidFill>
                  <a:srgbClr val="9ECBFF"/>
                </a:solidFill>
                <a:latin typeface="Courier New" pitchFamily="34" charset="0"/>
                <a:ea typeface="Courier New" pitchFamily="34" charset="-122"/>
                <a:cs typeface="Courier New" pitchFamily="34" charset="-120"/>
              </a:rPr>
              <a:t>'Q'</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0</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'transport'</a:t>
            </a:r>
            <a:r>
              <a:rPr lang="en-US" sz="920" dirty="0">
                <a:solidFill>
                  <a:srgbClr val="E6EDF3"/>
                </a:solidFill>
                <a:latin typeface="Courier New" pitchFamily="34" charset="0"/>
                <a:ea typeface="Courier New" pitchFamily="34" charset="-122"/>
                <a:cs typeface="Courier New" pitchFamily="34" charset="-120"/>
              </a:rPr>
              <a:t>], p[</a:t>
            </a:r>
            <a:r>
              <a:rPr lang="en-US" sz="920" dirty="0">
                <a:solidFill>
                  <a:srgbClr val="9ECBFF"/>
                </a:solidFill>
                <a:latin typeface="Courier New" pitchFamily="34" charset="0"/>
                <a:ea typeface="Courier New" pitchFamily="34" charset="-122"/>
                <a:cs typeface="Courier New" pitchFamily="34" charset="-120"/>
              </a:rPr>
              <a:t>'P'</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0</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'transport'</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'b2_session_ids_match'</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'P2P_V2'</a:t>
            </a:r>
            <a:r>
              <a:rPr lang="en-US" sz="920" dirty="0">
                <a:solidFill>
                  <a:srgbClr val="E6EDF3"/>
                </a:solidFill>
                <a:latin typeface="Courier New" pitchFamily="34" charset="0"/>
                <a:ea typeface="Courier New" pitchFamily="34" charset="-122"/>
                <a:cs typeface="Courier New" pitchFamily="34" charset="-120"/>
              </a:rPr>
              <a:t>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n[</a:t>
            </a:r>
            <a:r>
              <a:rPr lang="en-US" sz="920" dirty="0">
                <a:solidFill>
                  <a:srgbClr val="9ECBFF"/>
                </a:solidFill>
                <a:latin typeface="Courier New" pitchFamily="34" charset="0"/>
                <a:ea typeface="Courier New" pitchFamily="34" charset="-122"/>
                <a:cs typeface="Courier New" pitchFamily="34" charset="-120"/>
              </a:rPr>
              <a:t>'P_localservices'</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('v2', 'v2', True, 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p[</a:t>
            </a:r>
            <a:r>
              <a:rPr lang="en-US" sz="920" dirty="0">
                <a:solidFill>
                  <a:srgbClr val="9ECBFF"/>
                </a:solidFill>
                <a:latin typeface="Courier New" pitchFamily="34" charset="0"/>
                <a:ea typeface="Courier New" pitchFamily="34" charset="-122"/>
                <a:cs typeface="Courier New" pitchFamily="34" charset="-120"/>
              </a:rPr>
              <a:t>'X'</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0</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'transport'</a:t>
            </a:r>
            <a:r>
              <a:rPr lang="en-US" sz="920" dirty="0">
                <a:solidFill>
                  <a:srgbClr val="E6EDF3"/>
                </a:solidFill>
                <a:latin typeface="Courier New" pitchFamily="34" charset="0"/>
                <a:ea typeface="Courier New" pitchFamily="34" charset="-122"/>
                <a:cs typeface="Courier New" pitchFamily="34" charset="-120"/>
              </a:rPr>
              <a:t>], [y[</a:t>
            </a:r>
            <a:r>
              <a:rPr lang="en-US" sz="920" dirty="0">
                <a:solidFill>
                  <a:srgbClr val="9ECBFF"/>
                </a:solidFill>
                <a:latin typeface="Courier New" pitchFamily="34" charset="0"/>
                <a:ea typeface="Courier New" pitchFamily="34" charset="-122"/>
                <a:cs typeface="Courier New" pitchFamily="34" charset="-120"/>
              </a:rPr>
              <a:t>'transport'</a:t>
            </a:r>
            <a:r>
              <a:rPr lang="en-US" sz="920" dirty="0">
                <a:solidFill>
                  <a:srgbClr val="E6EDF3"/>
                </a:solidFill>
                <a:latin typeface="Courier New" pitchFamily="34" charset="0"/>
                <a:ea typeface="Courier New" pitchFamily="34" charset="-122"/>
                <a:cs typeface="Courier New" pitchFamily="34" charset="-120"/>
              </a:rPr>
              <a:t>] </a:t>
            </a:r>
            <a:r>
              <a:rPr lang="en-US" sz="920" b="1" dirty="0">
                <a:solidFill>
                  <a:srgbClr val="F2A860"/>
                </a:solidFill>
                <a:latin typeface="Courier New" pitchFamily="34" charset="0"/>
                <a:ea typeface="Courier New" pitchFamily="34" charset="-122"/>
                <a:cs typeface="Courier New" pitchFamily="34" charset="-120"/>
              </a:rPr>
              <a:t>for</a:t>
            </a:r>
            <a:r>
              <a:rPr lang="en-US" sz="920" dirty="0">
                <a:solidFill>
                  <a:srgbClr val="E6EDF3"/>
                </a:solidFill>
                <a:latin typeface="Courier New" pitchFamily="34" charset="0"/>
                <a:ea typeface="Courier New" pitchFamily="34" charset="-122"/>
                <a:cs typeface="Courier New" pitchFamily="34" charset="-120"/>
              </a:rPr>
              <a:t> y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p[</a:t>
            </a:r>
            <a:r>
              <a:rPr lang="en-US" sz="920" dirty="0">
                <a:solidFill>
                  <a:srgbClr val="9ECBFF"/>
                </a:solidFill>
                <a:latin typeface="Courier New" pitchFamily="34" charset="0"/>
                <a:ea typeface="Courier New" pitchFamily="34" charset="-122"/>
                <a:cs typeface="Courier New" pitchFamily="34" charset="-120"/>
              </a:rPr>
              <a:t>'P'</a:t>
            </a:r>
            <a:r>
              <a:rPr lang="en-US" sz="920" dirty="0">
                <a:solidFill>
                  <a:srgbClr val="E6EDF3"/>
                </a:solidFill>
                <a:latin typeface="Courier New" pitchFamily="34" charset="0"/>
                <a:ea typeface="Courier New" pitchFamily="34" charset="-122"/>
                <a:cs typeface="Courier New" pitchFamily="34" charset="-120"/>
              </a:rPr>
              <a:t>]].count(</a:t>
            </a:r>
            <a:r>
              <a:rPr lang="en-US" sz="920" dirty="0">
                <a:solidFill>
                  <a:srgbClr val="9ECBFF"/>
                </a:solidFill>
                <a:latin typeface="Courier New" pitchFamily="34" charset="0"/>
                <a:ea typeface="Courier New" pitchFamily="34" charset="-122"/>
                <a:cs typeface="Courier New" pitchFamily="34" charset="-120"/>
              </a:rPr>
              <a:t>'v1'</a:t>
            </a:r>
            <a:r>
              <a:rPr lang="en-US" sz="920" dirty="0">
                <a:solidFill>
                  <a:srgbClr val="E6EDF3"/>
                </a:solidFill>
                <a:latin typeface="Courier New" pitchFamily="34" charset="0"/>
                <a:ea typeface="Courier New" pitchFamily="34" charset="-122"/>
                <a:cs typeface="Courier New" pitchFamily="34" charset="-120"/>
              </a:rPr>
              <a:t>), n[</a:t>
            </a:r>
            <a:r>
              <a:rPr lang="en-US" sz="920" dirty="0">
                <a:solidFill>
                  <a:srgbClr val="9ECBFF"/>
                </a:solidFill>
                <a:latin typeface="Courier New" pitchFamily="34" charset="0"/>
                <a:ea typeface="Courier New" pitchFamily="34" charset="-122"/>
                <a:cs typeface="Courier New" pitchFamily="34" charset="-120"/>
              </a:rPr>
              <a:t>'X_localservices'</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('v1', 1, ['NETWORK', 'WITNESS', 'NETWORK_LIMITED'])</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seen(</a:t>
            </a:r>
            <a:r>
              <a:rPr lang="en-US" sz="920" dirty="0">
                <a:solidFill>
                  <a:srgbClr val="9ECBFF"/>
                </a:solidFill>
                <a:latin typeface="Courier New" pitchFamily="34" charset="0"/>
                <a:ea typeface="Courier New" pitchFamily="34" charset="-122"/>
                <a:cs typeface="Courier New" pitchFamily="34" charset="-120"/>
              </a:rPr>
              <a:t>'book_ch13_security.adoc'</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'no encryption is required for Bitcoin traffic'</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seen(</a:t>
            </a:r>
            <a:r>
              <a:rPr lang="en-US" sz="920" dirty="0">
                <a:solidFill>
                  <a:srgbClr val="9ECBFF"/>
                </a:solidFill>
                <a:latin typeface="Courier New" pitchFamily="34" charset="0"/>
                <a:ea typeface="Courier New" pitchFamily="34" charset="-122"/>
                <a:cs typeface="Courier New" pitchFamily="34" charset="-120"/>
              </a:rPr>
              <a:t>'core_relnotes_27.0.md'</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'BIP324 v2 transport is now enabled by default'</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a:t>
            </a:r>
            <a:endParaRPr lang="en-US" sz="92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50920"/>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two Core 31.1 nodes spoke v2 and agreed on one session id; the services list P2P_V2</a:t>
            </a:r>
            <a:endParaRPr lang="en-US" sz="1000" dirty="0"/>
          </a:p>
        </p:txBody>
      </p:sp>
      <p:sp>
        <p:nvSpPr>
          <p:cNvPr id="12" name="Shape 10"/>
          <p:cNvSpPr/>
          <p:nvPr/>
        </p:nvSpPr>
        <p:spPr>
          <a:xfrm>
            <a:off x="457200" y="373989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09416"/>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a peer that offers no v2 is served over v1, with no session id, and is still connected</a:t>
            </a:r>
            <a:endParaRPr lang="en-US" sz="1000" dirty="0"/>
          </a:p>
        </p:txBody>
      </p:sp>
      <p:sp>
        <p:nvSpPr>
          <p:cNvPr id="14" name="Shape 12"/>
          <p:cNvSpPr/>
          <p:nvPr/>
        </p:nvSpPr>
        <p:spPr>
          <a:xfrm>
            <a:off x="457200" y="392887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898392"/>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the book says no encryption is required; release 27.0 turned BIP 324 on by default</a:t>
            </a:r>
            <a:endParaRPr lang="en-US" sz="1000" dirty="0"/>
          </a:p>
        </p:txBody>
      </p:sp>
      <p:sp>
        <p:nvSpPr>
          <p:cNvPr id="16"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BIP 324 on the wire; the session ids matched, but no packets were captured.</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Since release 27.0 peers encrypt their traffic by default</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root of trust: one typed-in block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tracing a family tree to its founder, but trusting a recent page to save time</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blocks saved from mempool.space and on the saved chainparams.cpp</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g, b = J(</a:t>
            </a:r>
            <a:r>
              <a:rPr lang="en-US" sz="920" dirty="0">
                <a:solidFill>
                  <a:srgbClr val="FFD28A"/>
                </a:solidFill>
                <a:latin typeface="Courier New" pitchFamily="34" charset="0"/>
                <a:ea typeface="Courier New" pitchFamily="34" charset="-122"/>
                <a:cs typeface="Courier New" pitchFamily="34" charset="-120"/>
              </a:rPr>
              <a:t>0</a:t>
            </a:r>
            <a:r>
              <a:rPr lang="en-US" sz="920" dirty="0">
                <a:solidFill>
                  <a:srgbClr val="E6EDF3"/>
                </a:solidFill>
                <a:latin typeface="Courier New" pitchFamily="34" charset="0"/>
                <a:ea typeface="Courier New" pitchFamily="34" charset="-122"/>
                <a:cs typeface="Courier New" pitchFamily="34" charset="-120"/>
              </a:rPr>
              <a:t>), J(</a:t>
            </a:r>
            <a:r>
              <a:rPr lang="en-US" sz="920" dirty="0">
                <a:solidFill>
                  <a:srgbClr val="FFD28A"/>
                </a:solidFill>
                <a:latin typeface="Courier New" pitchFamily="34" charset="0"/>
                <a:ea typeface="Courier New" pitchFamily="34" charset="-122"/>
                <a:cs typeface="Courier New" pitchFamily="34" charset="-120"/>
              </a:rPr>
              <a:t>938343</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g[</a:t>
            </a:r>
            <a:r>
              <a:rPr lang="en-US" sz="920" dirty="0">
                <a:solidFill>
                  <a:srgbClr val="9ECBFF"/>
                </a:solidFill>
                <a:latin typeface="Courier New" pitchFamily="34" charset="0"/>
                <a:ea typeface="Courier New" pitchFamily="34" charset="-122"/>
                <a:cs typeface="Courier New" pitchFamily="34" charset="-120"/>
              </a:rPr>
              <a:t>'id'</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20</a:t>
            </a:r>
            <a:r>
              <a:rPr lang="en-US" sz="920" dirty="0">
                <a:solidFill>
                  <a:srgbClr val="E6EDF3"/>
                </a:solidFill>
                <a:latin typeface="Courier New" pitchFamily="34" charset="0"/>
                <a:ea typeface="Courier New" pitchFamily="34" charset="-122"/>
                <a:cs typeface="Courier New" pitchFamily="34" charset="-120"/>
              </a:rPr>
              <a:t>], g[</a:t>
            </a:r>
            <a:r>
              <a:rPr lang="en-US" sz="920" dirty="0">
                <a:solidFill>
                  <a:srgbClr val="9ECBFF"/>
                </a:solidFill>
                <a:latin typeface="Courier New" pitchFamily="34" charset="0"/>
                <a:ea typeface="Courier New" pitchFamily="34" charset="-122"/>
                <a:cs typeface="Courier New" pitchFamily="34" charset="-120"/>
              </a:rPr>
              <a:t>'height'</a:t>
            </a:r>
            <a:r>
              <a:rPr lang="en-US" sz="920" dirty="0">
                <a:solidFill>
                  <a:srgbClr val="E6EDF3"/>
                </a:solidFill>
                <a:latin typeface="Courier New" pitchFamily="34" charset="0"/>
                <a:ea typeface="Courier New" pitchFamily="34" charset="-122"/>
                <a:cs typeface="Courier New" pitchFamily="34" charset="-120"/>
              </a:rPr>
              <a:t>], seen(</a:t>
            </a:r>
            <a:r>
              <a:rPr lang="en-US" sz="920" dirty="0">
                <a:solidFill>
                  <a:srgbClr val="9ECBFF"/>
                </a:solidFill>
                <a:latin typeface="Courier New" pitchFamily="34" charset="0"/>
                <a:ea typeface="Courier New" pitchFamily="34" charset="-122"/>
                <a:cs typeface="Courier New" pitchFamily="34" charset="-120"/>
              </a:rPr>
              <a:t>'core_src_kernel_chainparams.cpp'</a:t>
            </a:r>
            <a:r>
              <a:rPr lang="en-US" sz="920" dirty="0">
                <a:solidFill>
                  <a:srgbClr val="E6EDF3"/>
                </a:solidFill>
                <a:latin typeface="Courier New" pitchFamily="34" charset="0"/>
                <a:ea typeface="Courier New" pitchFamily="34" charset="-122"/>
                <a:cs typeface="Courier New" pitchFamily="34" charset="-120"/>
              </a:rPr>
              <a:t>, g[</a:t>
            </a:r>
            <a:r>
              <a:rPr lang="en-US" sz="920" dirty="0">
                <a:solidFill>
                  <a:srgbClr val="9ECBFF"/>
                </a:solidFill>
                <a:latin typeface="Courier New" pitchFamily="34" charset="0"/>
                <a:ea typeface="Courier New" pitchFamily="34" charset="-122"/>
                <a:cs typeface="Courier New" pitchFamily="34" charset="-120"/>
              </a:rPr>
              <a:t>'id'</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('000000000019d6689c08', 0, 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b[</a:t>
            </a:r>
            <a:r>
              <a:rPr lang="en-US" sz="920" dirty="0">
                <a:solidFill>
                  <a:srgbClr val="9ECBFF"/>
                </a:solidFill>
                <a:latin typeface="Courier New" pitchFamily="34" charset="0"/>
                <a:ea typeface="Courier New" pitchFamily="34" charset="-122"/>
                <a:cs typeface="Courier New" pitchFamily="34" charset="-120"/>
              </a:rPr>
              <a:t>'height'</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'id'</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24</a:t>
            </a:r>
            <a:r>
              <a:rPr lang="en-US" sz="920" dirty="0">
                <a:solidFill>
                  <a:srgbClr val="E6EDF3"/>
                </a:solidFill>
                <a:latin typeface="Courier New" pitchFamily="34" charset="0"/>
                <a:ea typeface="Courier New" pitchFamily="34" charset="-122"/>
                <a:cs typeface="Courier New" pitchFamily="34" charset="-120"/>
              </a:rPr>
              <a:t>], seen(</a:t>
            </a:r>
            <a:r>
              <a:rPr lang="en-US" sz="920" dirty="0">
                <a:solidFill>
                  <a:srgbClr val="9ECBFF"/>
                </a:solidFill>
                <a:latin typeface="Courier New" pitchFamily="34" charset="0"/>
                <a:ea typeface="Courier New" pitchFamily="34" charset="-122"/>
                <a:cs typeface="Courier New" pitchFamily="34" charset="-120"/>
              </a:rPr>
              <a:t>'core_src_kernel_chainparams.cpp'</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'id'</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(938343, '00000000000000000000cceb', 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seen(</a:t>
            </a:r>
            <a:r>
              <a:rPr lang="en-US" sz="920" dirty="0">
                <a:solidFill>
                  <a:srgbClr val="9ECBFF"/>
                </a:solidFill>
                <a:latin typeface="Courier New" pitchFamily="34" charset="0"/>
                <a:ea typeface="Courier New" pitchFamily="34" charset="-122"/>
                <a:cs typeface="Courier New" pitchFamily="34" charset="-120"/>
              </a:rPr>
              <a:t>'bitcoind_help_31.1.txt'</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'potentially skip their script verification'</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int(L.raw(</a:t>
            </a:r>
            <a:r>
              <a:rPr lang="en-US" sz="920" dirty="0">
                <a:solidFill>
                  <a:srgbClr val="9ECBFF"/>
                </a:solidFill>
                <a:latin typeface="Courier New" pitchFamily="34" charset="0"/>
                <a:ea typeface="Courier New" pitchFamily="34" charset="-122"/>
                <a:cs typeface="Courier New" pitchFamily="34" charset="-120"/>
              </a:rPr>
              <a:t>'mempool_tip_height.txt'</a:t>
            </a:r>
            <a:r>
              <a:rPr lang="en-US" sz="920" dirty="0">
                <a:solidFill>
                  <a:srgbClr val="E6EDF3"/>
                </a:solidFill>
                <a:latin typeface="Courier New" pitchFamily="34" charset="0"/>
                <a:ea typeface="Courier New" pitchFamily="34" charset="-122"/>
                <a:cs typeface="Courier New" pitchFamily="34" charset="-120"/>
              </a:rPr>
              <a:t>)) - b[</a:t>
            </a:r>
            <a:r>
              <a:rPr lang="en-US" sz="920" dirty="0">
                <a:solidFill>
                  <a:srgbClr val="9ECBFF"/>
                </a:solidFill>
                <a:latin typeface="Courier New" pitchFamily="34" charset="0"/>
                <a:ea typeface="Courier New" pitchFamily="34" charset="-122"/>
                <a:cs typeface="Courier New" pitchFamily="34" charset="-120"/>
              </a:rPr>
              <a:t>'height'</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33237</a:t>
            </a:r>
            <a:endParaRPr lang="en-US" sz="92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6311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hash of the first block is typed into chainparams.cpp, and the code asserts it (True)</a:t>
            </a:r>
            <a:endParaRPr lang="en-US" sz="1000" dirty="0"/>
          </a:p>
        </p:txBody>
      </p:sp>
      <p:sp>
        <p:nvSpPr>
          <p:cNvPr id="12" name="Shape 10"/>
          <p:cNvSpPr/>
          <p:nvPr/>
        </p:nvSpPr>
        <p:spPr>
          <a:xfrm>
            <a:off x="457200" y="37764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3380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and 4: Core 31.1 also ships an assumed-valid block, 938,343, and may skip script checks for blocks before it</a:t>
            </a:r>
            <a:endParaRPr lang="en-US" sz="1000" dirty="0"/>
          </a:p>
        </p:txBody>
      </p:sp>
      <p:sp>
        <p:nvSpPr>
          <p:cNvPr id="14" name="Shape 12"/>
          <p:cNvSpPr/>
          <p:nvPr/>
        </p:nvSpPr>
        <p:spPr>
          <a:xfrm>
            <a:off x="457200" y="39898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9471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that block is 33,237 blocks behind the tip, so 'trust only a validated chain' has a shortcut</a:t>
            </a:r>
            <a:endParaRPr lang="en-US" sz="10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chain starts from one typed-in block, plus an assumed-valid shortcut</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Does the download match the list?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seal on a medicine box: it shows the box is the listed one, not who sealed it</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list and the Guix text are saved</a:t>
            </a:r>
            <a:endParaRPr lang="en-US" sz="1150" dirty="0"/>
          </a:p>
        </p:txBody>
      </p:sp>
      <p:sp>
        <p:nvSpPr>
          <p:cNvPr id="7" name="Shape 5"/>
          <p:cNvSpPr/>
          <p:nvPr/>
        </p:nvSpPr>
        <p:spPr>
          <a:xfrm>
            <a:off x="457200" y="1554480"/>
            <a:ext cx="8229600" cy="1371600"/>
          </a:xfrm>
          <a:prstGeom prst="roundRect">
            <a:avLst>
              <a:gd name="adj" fmla="val 6667"/>
            </a:avLst>
          </a:prstGeom>
          <a:solidFill>
            <a:srgbClr val="23272E"/>
          </a:solidFill>
          <a:ln w="12700">
            <a:solidFill>
              <a:srgbClr val="23272E"/>
            </a:solidFill>
            <a:prstDash val="solid"/>
          </a:ln>
        </p:spPr>
      </p:sp>
      <p:sp>
        <p:nvSpPr>
          <p:cNvPr id="8" name="Text 6"/>
          <p:cNvSpPr txBox="1"/>
          <p:nvPr/>
        </p:nvSpPr>
        <p:spPr>
          <a:xfrm>
            <a:off x="640080" y="1673352"/>
            <a:ext cx="7863840" cy="113385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 = R[</a:t>
            </a:r>
            <a:r>
              <a:rPr lang="en-US" sz="950" dirty="0">
                <a:solidFill>
                  <a:srgbClr val="9ECBFF"/>
                </a:solidFill>
                <a:latin typeface="Courier New" pitchFamily="34" charset="0"/>
                <a:ea typeface="Courier New" pitchFamily="34" charset="-122"/>
                <a:cs typeface="Courier New" pitchFamily="34" charset="-120"/>
              </a:rPr>
              <a:t>'b8_release'</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a:t>
            </a:r>
            <a:r>
              <a:rPr lang="en-US" sz="950" dirty="0">
                <a:solidFill>
                  <a:srgbClr val="9ECBFF"/>
                </a:solidFill>
                <a:latin typeface="Courier New" pitchFamily="34" charset="0"/>
                <a:ea typeface="Courier New" pitchFamily="34" charset="-122"/>
                <a:cs typeface="Courier New" pitchFamily="34" charset="-120"/>
              </a:rPr>
              <a:t>'match'</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'tarball_sha256'</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FFD28A"/>
                </a:solidFill>
                <a:latin typeface="Courier New" pitchFamily="34" charset="0"/>
                <a:ea typeface="Courier New" pitchFamily="34" charset="-122"/>
                <a:cs typeface="Courier New" pitchFamily="34" charset="-120"/>
              </a:rPr>
              <a:t>16</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'tarball_bytes'</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'n_lines_in_list'</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 'b80d9c3e04da78fb', 90293353, 28)</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a:t>
            </a:r>
            <a:r>
              <a:rPr lang="en-US" sz="950" dirty="0">
                <a:solidFill>
                  <a:srgbClr val="9ECBFF"/>
                </a:solidFill>
                <a:latin typeface="Courier New" pitchFamily="34" charset="0"/>
                <a:ea typeface="Courier New" pitchFamily="34" charset="-122"/>
                <a:cs typeface="Courier New" pitchFamily="34" charset="-120"/>
              </a:rPr>
              <a:t>'gpg_exit'</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'gpg_has_signature_line'</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'n_signatures_made'</a:t>
            </a:r>
            <a:r>
              <a:rPr lang="en-US" sz="950" dirty="0">
                <a:solidFill>
                  <a:srgbClr val="E6EDF3"/>
                </a:solidFill>
                <a:latin typeface="Courier New" pitchFamily="34" charset="0"/>
                <a:ea typeface="Courier New" pitchFamily="34" charset="-122"/>
                <a:cs typeface="Courier New" pitchFamily="34" charset="-120"/>
              </a:rPr>
              <a:t>], r[</a:t>
            </a:r>
            <a:r>
              <a:rPr lang="en-US" sz="950" dirty="0">
                <a:solidFill>
                  <a:srgbClr val="9ECBFF"/>
                </a:solidFill>
                <a:latin typeface="Courier New" pitchFamily="34" charset="0"/>
                <a:ea typeface="Courier New" pitchFamily="34" charset="-122"/>
                <a:cs typeface="Courier New" pitchFamily="34" charset="-120"/>
              </a:rPr>
              <a:t>'n_cannot_check_no_public_key'</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(2, False, 11, 11)</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seen(</a:t>
            </a:r>
            <a:r>
              <a:rPr lang="en-US" sz="950" dirty="0">
                <a:solidFill>
                  <a:srgbClr val="9ECBFF"/>
                </a:solidFill>
                <a:latin typeface="Courier New" pitchFamily="34" charset="0"/>
                <a:ea typeface="Courier New" pitchFamily="34" charset="-122"/>
                <a:cs typeface="Courier New" pitchFamily="34" charset="-120"/>
              </a:rPr>
              <a:t>'core_contrib_guix_README.md'</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'instead of blindly _trusting_ binary downloads'</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True</a:t>
            </a:r>
            <a:endParaRPr lang="en-US" sz="950" dirty="0"/>
          </a:p>
        </p:txBody>
      </p:sp>
      <p:sp>
        <p:nvSpPr>
          <p:cNvPr id="9" name="Text 7"/>
          <p:cNvSpPr txBox="1"/>
          <p:nvPr/>
        </p:nvSpPr>
        <p:spPr>
          <a:xfrm>
            <a:off x="457200" y="29443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33451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29184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SHA-256 of the 90,293,352-byte tarball equals its line among the 28 in SHA256SUMS (True)</a:t>
            </a:r>
            <a:endParaRPr lang="en-US" sz="1000" dirty="0"/>
          </a:p>
        </p:txBody>
      </p:sp>
      <p:sp>
        <p:nvSpPr>
          <p:cNvPr id="12" name="Shape 10"/>
          <p:cNvSpPr/>
          <p:nvPr/>
        </p:nvSpPr>
        <p:spPr>
          <a:xfrm>
            <a:off x="457200" y="35478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50520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gpg checked none of the 11 signatures with an empty keyring: exit 2, no good signature</a:t>
            </a:r>
            <a:endParaRPr lang="en-US" sz="1000" dirty="0"/>
          </a:p>
        </p:txBody>
      </p:sp>
      <p:sp>
        <p:nvSpPr>
          <p:cNvPr id="14" name="Shape 12"/>
          <p:cNvSpPr/>
          <p:nvPr/>
        </p:nvSpPr>
        <p:spPr>
          <a:xfrm>
            <a:off x="457200" y="37612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7185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So the hash shows the file is the listed one, not who listed it; Guix builds avoid blind trust (row 4)</a:t>
            </a:r>
            <a:endParaRPr lang="en-US" sz="1000" dirty="0"/>
          </a:p>
        </p:txBody>
      </p:sp>
      <p:sp>
        <p:nvSpPr>
          <p:cNvPr id="16" name="Text 14"/>
          <p:cNvSpPr txBox="1"/>
          <p:nvPr/>
        </p:nvSpPr>
        <p:spPr>
          <a:xfrm>
            <a:off x="457200" y="4023360"/>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a good gpg verification; it needs the builders' public keys, which were not imported.</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matching hash proves the file is the listed one, not who listed it</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Keeping the keys safe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Cold storage, devices, passphrases, backups and seed words.</a:t>
            </a:r>
            <a:endParaRPr lang="en-US" sz="1500" dirty="0"/>
          </a:p>
        </p:txBody>
      </p:sp>
      <p:sp>
        <p:nvSpPr>
          <p:cNvPr id="6" name="Shape 4"/>
          <p:cNvSpPr/>
          <p:nvPr/>
        </p:nvSpPr>
        <p:spPr>
          <a:xfrm>
            <a:off x="777240" y="2697480"/>
            <a:ext cx="1856232"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Cold storage</a:t>
            </a:r>
            <a:endParaRPr lang="en-US" sz="1400" dirty="0"/>
          </a:p>
        </p:txBody>
      </p:sp>
      <p:sp>
        <p:nvSpPr>
          <p:cNvPr id="8" name="Shape 6"/>
          <p:cNvSpPr/>
          <p:nvPr/>
        </p:nvSpPr>
        <p:spPr>
          <a:xfrm>
            <a:off x="2779776" y="2697480"/>
            <a:ext cx="1856232"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2852928"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Hardware wallets</a:t>
            </a:r>
            <a:endParaRPr lang="en-US" sz="1400" dirty="0"/>
          </a:p>
        </p:txBody>
      </p:sp>
      <p:sp>
        <p:nvSpPr>
          <p:cNvPr id="10" name="Shape 8"/>
          <p:cNvSpPr/>
          <p:nvPr/>
        </p:nvSpPr>
        <p:spPr>
          <a:xfrm>
            <a:off x="4782312" y="2697480"/>
            <a:ext cx="1856232"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4855464"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Passphrase and backup</a:t>
            </a:r>
            <a:endParaRPr lang="en-US" sz="1400" dirty="0"/>
          </a:p>
        </p:txBody>
      </p:sp>
      <p:sp>
        <p:nvSpPr>
          <p:cNvPr id="12" name="Shape 10"/>
          <p:cNvSpPr/>
          <p:nvPr/>
        </p:nvSpPr>
        <p:spPr>
          <a:xfrm>
            <a:off x="6784848" y="2697480"/>
            <a:ext cx="1856232"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6858000"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Seed words</a:t>
            </a:r>
            <a:endParaRPr lang="en-US" sz="1400" dirty="0"/>
          </a:p>
        </p:txBody>
      </p:sp>
      <p:sp>
        <p:nvSpPr>
          <p:cNvPr id="14" name="Shape 12"/>
          <p:cNvSpPr/>
          <p:nvPr/>
        </p:nvSpPr>
        <p:spPr>
          <a:xfrm>
            <a:off x="777240" y="3630168"/>
            <a:ext cx="1856232" cy="804672"/>
          </a:xfrm>
          <a:prstGeom prst="roundRect">
            <a:avLst>
              <a:gd name="adj" fmla="val 9091"/>
            </a:avLst>
          </a:prstGeom>
          <a:solidFill>
            <a:srgbClr val="2F6D62"/>
          </a:solidFill>
          <a:ln w="12700">
            <a:solidFill>
              <a:srgbClr val="2F6D62"/>
            </a:solidFill>
            <a:prstDash val="solid"/>
          </a:ln>
        </p:spPr>
      </p:sp>
      <p:sp>
        <p:nvSpPr>
          <p:cNvPr id="15" name="Text 13"/>
          <p:cNvSpPr txBox="1"/>
          <p:nvPr/>
        </p:nvSpPr>
        <p:spPr>
          <a:xfrm>
            <a:off x="850392" y="3675888"/>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Trezor and Casascius</a:t>
            </a:r>
            <a:endParaRPr lang="en-US" sz="140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Cold storage: watch, sign elsewhere, send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cashier who writes cheques and a manager in another building who only signs them</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three nodes</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h, c, b = R[</a:t>
            </a:r>
            <a:r>
              <a:rPr lang="en-US" sz="920" dirty="0">
                <a:solidFill>
                  <a:srgbClr val="9ECBFF"/>
                </a:solidFill>
                <a:latin typeface="Courier New" pitchFamily="34" charset="0"/>
                <a:ea typeface="Courier New" pitchFamily="34" charset="-122"/>
                <a:cs typeface="Courier New" pitchFamily="34" charset="-120"/>
              </a:rPr>
              <a:t>'b3_hot'</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'b3_cold'</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'b3_broadcast'</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h[</a:t>
            </a:r>
            <a:r>
              <a:rPr lang="en-US" sz="920" dirty="0">
                <a:solidFill>
                  <a:srgbClr val="9ECBFF"/>
                </a:solidFill>
                <a:latin typeface="Courier New" pitchFamily="34" charset="0"/>
                <a:ea typeface="Courier New" pitchFamily="34" charset="-122"/>
                <a:cs typeface="Courier New" pitchFamily="34" charset="-120"/>
              </a:rPr>
              <a:t>'watch_private_keys_enabled'</a:t>
            </a:r>
            <a:r>
              <a:rPr lang="en-US" sz="920" dirty="0">
                <a:solidFill>
                  <a:srgbClr val="E6EDF3"/>
                </a:solidFill>
                <a:latin typeface="Courier New" pitchFamily="34" charset="0"/>
                <a:ea typeface="Courier New" pitchFamily="34" charset="-122"/>
                <a:cs typeface="Courier New" pitchFamily="34" charset="-120"/>
              </a:rPr>
              <a:t>], h[</a:t>
            </a:r>
            <a:r>
              <a:rPr lang="en-US" sz="920" dirty="0">
                <a:solidFill>
                  <a:srgbClr val="9ECBFF"/>
                </a:solidFill>
                <a:latin typeface="Courier New" pitchFamily="34" charset="0"/>
                <a:ea typeface="Courier New" pitchFamily="34" charset="-122"/>
                <a:cs typeface="Courier New" pitchFamily="34" charset="-120"/>
              </a:rPr>
              <a:t>'hot_sign_complete'</a:t>
            </a:r>
            <a:r>
              <a:rPr lang="en-US" sz="920" dirty="0">
                <a:solidFill>
                  <a:srgbClr val="E6EDF3"/>
                </a:solidFill>
                <a:latin typeface="Courier New" pitchFamily="34" charset="0"/>
                <a:ea typeface="Courier New" pitchFamily="34" charset="-122"/>
                <a:cs typeface="Courier New" pitchFamily="34" charset="-120"/>
              </a:rPr>
              <a:t>], h[</a:t>
            </a:r>
            <a:r>
              <a:rPr lang="en-US" sz="920" dirty="0">
                <a:solidFill>
                  <a:srgbClr val="9ECBFF"/>
                </a:solidFill>
                <a:latin typeface="Courier New" pitchFamily="34" charset="0"/>
                <a:ea typeface="Courier New" pitchFamily="34" charset="-122"/>
                <a:cs typeface="Courier New" pitchFamily="34" charset="-120"/>
              </a:rPr>
              <a:t>'partial_sigs_before'</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(False, False, [0])</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h[</a:t>
            </a:r>
            <a:r>
              <a:rPr lang="en-US" sz="920" dirty="0">
                <a:solidFill>
                  <a:srgbClr val="9ECBFF"/>
                </a:solidFill>
                <a:latin typeface="Courier New" pitchFamily="34" charset="0"/>
                <a:ea typeface="Courier New" pitchFamily="34" charset="-122"/>
                <a:cs typeface="Courier New" pitchFamily="34" charset="-120"/>
              </a:rPr>
              <a:t>'hot_listdescriptors_private'</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'error'</a:t>
            </a:r>
            <a:r>
              <a:rPr lang="en-US" sz="920" dirty="0">
                <a:solidFill>
                  <a:srgbClr val="E6EDF3"/>
                </a:solidFill>
                <a:latin typeface="Courier New" pitchFamily="34" charset="0"/>
                <a:ea typeface="Courier New" pitchFamily="34" charset="-122"/>
                <a:cs typeface="Courier New" pitchFamily="34" charset="-120"/>
              </a:rPr>
              <a:t>].split(</a:t>
            </a:r>
            <a:r>
              <a:rPr lang="en-US" sz="920" dirty="0">
                <a:solidFill>
                  <a:srgbClr val="9ECBFF"/>
                </a:solidFill>
                <a:latin typeface="Courier New" pitchFamily="34" charset="0"/>
                <a:ea typeface="Courier New" pitchFamily="34" charset="-122"/>
                <a:cs typeface="Courier New" pitchFamily="34" charset="-120"/>
              </a:rPr>
              <a:t>'message: '</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"Can't get private descriptor string for watch-only wallets"</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c[</a:t>
            </a:r>
            <a:r>
              <a:rPr lang="en-US" sz="920" dirty="0">
                <a:solidFill>
                  <a:srgbClr val="9ECBFF"/>
                </a:solidFill>
                <a:latin typeface="Courier New" pitchFamily="34" charset="0"/>
                <a:ea typeface="Courier New" pitchFamily="34" charset="-122"/>
                <a:cs typeface="Courier New" pitchFamily="34" charset="-120"/>
              </a:rPr>
              <a:t>'blocks'</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'connections'</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'sign_complete'</a:t>
            </a:r>
            <a:r>
              <a:rPr lang="en-US" sz="920" dirty="0">
                <a:solidFill>
                  <a:srgbClr val="E6EDF3"/>
                </a:solidFill>
                <a:latin typeface="Courier New" pitchFamily="34" charset="0"/>
                <a:ea typeface="Courier New" pitchFamily="34" charset="-122"/>
                <a:cs typeface="Courier New" pitchFamily="34" charset="-120"/>
              </a:rPr>
              <a:t>], h[</a:t>
            </a:r>
            <a:r>
              <a:rPr lang="en-US" sz="920" dirty="0">
                <a:solidFill>
                  <a:srgbClr val="9ECBFF"/>
                </a:solidFill>
                <a:latin typeface="Courier New" pitchFamily="34" charset="0"/>
                <a:ea typeface="Courier New" pitchFamily="34" charset="-122"/>
                <a:cs typeface="Courier New" pitchFamily="34" charset="-120"/>
              </a:rPr>
              <a:t>'psbt_chars'</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'psbt_chars_signed'</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(0, 0, True, 528, 596)</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b[</a:t>
            </a:r>
            <a:r>
              <a:rPr lang="en-US" sz="920" dirty="0">
                <a:solidFill>
                  <a:srgbClr val="9ECBFF"/>
                </a:solidFill>
                <a:latin typeface="Courier New" pitchFamily="34" charset="0"/>
                <a:ea typeface="Courier New" pitchFamily="34" charset="-122"/>
                <a:cs typeface="Courier New" pitchFamily="34" charset="-120"/>
              </a:rPr>
              <a:t>'finalize_complete'</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'confirmations'</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'dest_received'</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1, 1.0)</a:t>
            </a:r>
            <a:endParaRPr lang="en-US" sz="92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50920"/>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hot wallet has private keys disabled and cannot sign (complete False, no signatures)</a:t>
            </a:r>
            <a:endParaRPr lang="en-US" sz="1000" dirty="0"/>
          </a:p>
        </p:txBody>
      </p:sp>
      <p:sp>
        <p:nvSpPr>
          <p:cNvPr id="12" name="Shape 10"/>
          <p:cNvSpPr/>
          <p:nvPr/>
        </p:nvSpPr>
        <p:spPr>
          <a:xfrm>
            <a:off x="457200" y="373989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09416"/>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asked for its private descriptors, a watch-only wallet refuses: it holds none</a:t>
            </a:r>
            <a:endParaRPr lang="en-US" sz="1000" dirty="0"/>
          </a:p>
        </p:txBody>
      </p:sp>
      <p:sp>
        <p:nvSpPr>
          <p:cNvPr id="14" name="Shape 12"/>
          <p:cNvSpPr/>
          <p:nvPr/>
        </p:nvSpPr>
        <p:spPr>
          <a:xfrm>
            <a:off x="457200" y="392887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898392"/>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a node with 0 blocks and 0 connections signed the 528-character PSBT; the hot node sent it</a:t>
            </a:r>
            <a:endParaRPr lang="en-US" sz="1000" dirty="0"/>
          </a:p>
        </p:txBody>
      </p:sp>
      <p:sp>
        <p:nvSpPr>
          <p:cNvPr id="16"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a true air gap; the cold node was a second regtest node, not a separate machine.</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online wallet only watches; the signing happens somewhere else</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Hardware wallets wait and wipe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safe that makes you wait longer after each wrong code, and then empties itself</a:t>
            </a:r>
            <a:endParaRPr lang="en-US" sz="1300" dirty="0"/>
          </a:p>
        </p:txBody>
      </p:sp>
      <p:sp>
        <p:nvSpPr>
          <p:cNvPr id="6" name="Shape 4"/>
          <p:cNvSpPr/>
          <p:nvPr/>
        </p:nvSpPr>
        <p:spPr>
          <a:xfrm>
            <a:off x="457200" y="1397889"/>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a Trezor waits 1, 2, 4 ... 16,384 seconds after wrong PINs: 32,767 seconds, 9.1 hours in all</a:t>
            </a:r>
            <a:endParaRPr lang="en-US" sz="1000" dirty="0"/>
          </a:p>
        </p:txBody>
      </p:sp>
      <p:sp>
        <p:nvSpPr>
          <p:cNvPr id="8" name="Shape 6"/>
          <p:cNvSpPr/>
          <p:nvPr/>
        </p:nvSpPr>
        <p:spPr>
          <a:xfrm>
            <a:off x="457200" y="1797939"/>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6619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after 16 failed PIN entries the device wipes itself (True)</a:t>
            </a:r>
            <a:endParaRPr lang="en-US" sz="1000" dirty="0"/>
          </a:p>
        </p:txBody>
      </p:sp>
      <p:sp>
        <p:nvSpPr>
          <p:cNvPr id="10" name="Shape 8"/>
          <p:cNvSpPr/>
          <p:nvPr/>
        </p:nvSpPr>
        <p:spPr>
          <a:xfrm>
            <a:off x="457200" y="2197989"/>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06197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Core 31.1 can use a device with -signer, but malware could still swap the recipient shown</a:t>
            </a:r>
            <a:endParaRPr lang="en-US" sz="1000" dirty="0"/>
          </a:p>
        </p:txBody>
      </p:sp>
      <p:sp>
        <p:nvSpPr>
          <p:cNvPr id="12" name="Shape 10"/>
          <p:cNvSpPr/>
          <p:nvPr/>
        </p:nvSpPr>
        <p:spPr>
          <a:xfrm>
            <a:off x="457200" y="2598039"/>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2462022"/>
            <a:ext cx="3931920" cy="40005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NOT EXECUTED: a hardware signing device</a:t>
            </a:r>
            <a:endParaRPr lang="en-US" sz="1000" dirty="0"/>
          </a:p>
        </p:txBody>
      </p:sp>
      <p:graphicFrame>
        <p:nvGraphicFramePr>
          <p:cNvPr id="14"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Bitcoin Wiki and the Core documentation, saved on 2026-10-15</a:t>
            </a:r>
            <a:endParaRPr lang="en-US" sz="1150" dirty="0"/>
          </a:p>
        </p:txBody>
      </p:sp>
      <p:sp>
        <p:nvSpPr>
          <p:cNvPr id="16" name="Shape 13"/>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7" name="Text 14"/>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w =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 k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k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range(</a:t>
            </a:r>
            <a:r>
              <a:rPr lang="en-US" sz="850" dirty="0">
                <a:solidFill>
                  <a:srgbClr val="FFD28A"/>
                </a:solidFill>
                <a:latin typeface="Courier New" pitchFamily="34" charset="0"/>
                <a:ea typeface="Courier New" pitchFamily="34" charset="-122"/>
                <a:cs typeface="Courier New" pitchFamily="34" charset="-120"/>
              </a:rPr>
              <a:t>15</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w, sum(w), round(sum(w) / </a:t>
            </a:r>
            <a:r>
              <a:rPr lang="en-US" sz="850" dirty="0">
                <a:solidFill>
                  <a:srgbClr val="FFD28A"/>
                </a:solidFill>
                <a:latin typeface="Courier New" pitchFamily="34" charset="0"/>
                <a:ea typeface="Courier New" pitchFamily="34" charset="-122"/>
                <a:cs typeface="Courier New" pitchFamily="34" charset="-120"/>
              </a:rPr>
              <a:t>3600</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 2, 4, 8, 16, 32, 64, 128, 256, 512, 1024, 2048, 4096, 8192, 16384], 32767, 9.1)</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seen(</a:t>
            </a:r>
            <a:r>
              <a:rPr lang="en-US" sz="850" dirty="0">
                <a:solidFill>
                  <a:srgbClr val="9ECBFF"/>
                </a:solidFill>
                <a:latin typeface="Courier New" pitchFamily="34" charset="0"/>
                <a:ea typeface="Courier New" pitchFamily="34" charset="-122"/>
                <a:cs typeface="Courier New" pitchFamily="34" charset="-120"/>
              </a:rPr>
              <a:t>'bitcoinwiki_trezor.txt'</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'wipe itself after 16 failed PIN entry attempts'</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seen(</a:t>
            </a:r>
            <a:r>
              <a:rPr lang="en-US" sz="850" dirty="0">
                <a:solidFill>
                  <a:srgbClr val="9ECBFF"/>
                </a:solidFill>
                <a:latin typeface="Courier New" pitchFamily="34" charset="0"/>
                <a:ea typeface="Courier New" pitchFamily="34" charset="-122"/>
                <a:cs typeface="Courier New" pitchFamily="34" charset="-120"/>
              </a:rPr>
              <a:t>'core_doc_external-signer.md'</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'-signer=&lt;cmd&gt;'</a:t>
            </a:r>
            <a:r>
              <a:rPr lang="en-US" sz="850" dirty="0">
                <a:solidFill>
                  <a:srgbClr val="E6EDF3"/>
                </a:solidFill>
                <a:latin typeface="Courier New" pitchFamily="34" charset="0"/>
                <a:ea typeface="Courier New" pitchFamily="34" charset="-122"/>
                <a:cs typeface="Courier New" pitchFamily="34" charset="-120"/>
              </a:rPr>
              <a:t>), seen(hww, </a:t>
            </a:r>
            <a:r>
              <a:rPr lang="en-US" sz="850" dirty="0">
                <a:solidFill>
                  <a:srgbClr val="9ECBFF"/>
                </a:solidFill>
                <a:latin typeface="Courier New" pitchFamily="34" charset="0"/>
                <a:ea typeface="Courier New" pitchFamily="34" charset="-122"/>
                <a:cs typeface="Courier New" pitchFamily="34" charset="-120"/>
              </a:rPr>
              <a:t>'swap out the recipient'</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 True)</a:t>
            </a:r>
            <a:endParaRPr lang="en-US" sz="850" dirty="0"/>
          </a:p>
        </p:txBody>
      </p:sp>
      <p:sp>
        <p:nvSpPr>
          <p:cNvPr id="18" name="Text 15"/>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device protects the key; you must still read the address on its screen</a:t>
            </a:r>
            <a:endParaRPr lang="en-US" sz="1350" dirty="0"/>
          </a:p>
        </p:txBody>
      </p:sp>
      <p:sp>
        <p:nvSpPr>
          <p:cNvPr id="21"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passphrase locks the keys, not the balance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locked cash drawer in a shop window: customers see the money, only you can open it</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constants are read from the saved crypter.h</a:t>
            </a:r>
            <a:endParaRPr lang="en-US" sz="1150" dirty="0"/>
          </a:p>
        </p:txBody>
      </p:sp>
      <p:sp>
        <p:nvSpPr>
          <p:cNvPr id="7" name="Shape 5"/>
          <p:cNvSpPr/>
          <p:nvPr/>
        </p:nvSpPr>
        <p:spPr>
          <a:xfrm>
            <a:off x="457200" y="1554480"/>
            <a:ext cx="8229600" cy="1920240"/>
          </a:xfrm>
          <a:prstGeom prst="roundRect">
            <a:avLst>
              <a:gd name="adj" fmla="val 4762"/>
            </a:avLst>
          </a:prstGeom>
          <a:solidFill>
            <a:srgbClr val="23272E"/>
          </a:solidFill>
          <a:ln w="12700">
            <a:solidFill>
              <a:srgbClr val="23272E"/>
            </a:solidFill>
            <a:prstDash val="solid"/>
          </a:ln>
        </p:spPr>
      </p:sp>
      <p:sp>
        <p:nvSpPr>
          <p:cNvPr id="8" name="Text 6"/>
          <p:cNvSpPr txBox="1"/>
          <p:nvPr/>
        </p:nvSpPr>
        <p:spPr>
          <a:xfrm>
            <a:off x="640080" y="1673352"/>
            <a:ext cx="7863840" cy="1682496"/>
          </a:xfrm>
          <a:prstGeom prst="rect">
            <a:avLst/>
          </a:prstGeom>
          <a:noFill/>
          <a:ln/>
        </p:spPr>
        <p:txBody>
          <a:bodyPr wrap="square" lIns="0" tIns="0" rIns="0" bIns="0" rtlCol="0" anchor="t"/>
          <a:lstStyle/>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l, w, u, f = R[</a:t>
            </a:r>
            <a:r>
              <a:rPr lang="en-US" sz="910" dirty="0">
                <a:solidFill>
                  <a:srgbClr val="9ECBFF"/>
                </a:solidFill>
                <a:latin typeface="Courier New" pitchFamily="34" charset="0"/>
                <a:ea typeface="Courier New" pitchFamily="34" charset="-122"/>
                <a:cs typeface="Courier New" pitchFamily="34" charset="-120"/>
              </a:rPr>
              <a:t>'b4_locked'</a:t>
            </a:r>
            <a:r>
              <a:rPr lang="en-US" sz="910" dirty="0">
                <a:solidFill>
                  <a:srgbClr val="E6EDF3"/>
                </a:solidFill>
                <a:latin typeface="Courier New" pitchFamily="34" charset="0"/>
                <a:ea typeface="Courier New" pitchFamily="34" charset="-122"/>
                <a:cs typeface="Courier New" pitchFamily="34" charset="-120"/>
              </a:rPr>
              <a:t>], R[</a:t>
            </a:r>
            <a:r>
              <a:rPr lang="en-US" sz="910" dirty="0">
                <a:solidFill>
                  <a:srgbClr val="9ECBFF"/>
                </a:solidFill>
                <a:latin typeface="Courier New" pitchFamily="34" charset="0"/>
                <a:ea typeface="Courier New" pitchFamily="34" charset="-122"/>
                <a:cs typeface="Courier New" pitchFamily="34" charset="-120"/>
              </a:rPr>
              <a:t>'b4_wrong'</a:t>
            </a:r>
            <a:r>
              <a:rPr lang="en-US" sz="910" dirty="0">
                <a:solidFill>
                  <a:srgbClr val="E6EDF3"/>
                </a:solidFill>
                <a:latin typeface="Courier New" pitchFamily="34" charset="0"/>
                <a:ea typeface="Courier New" pitchFamily="34" charset="-122"/>
                <a:cs typeface="Courier New" pitchFamily="34" charset="-120"/>
              </a:rPr>
              <a:t>], R[</a:t>
            </a:r>
            <a:r>
              <a:rPr lang="en-US" sz="910" dirty="0">
                <a:solidFill>
                  <a:srgbClr val="9ECBFF"/>
                </a:solidFill>
                <a:latin typeface="Courier New" pitchFamily="34" charset="0"/>
                <a:ea typeface="Courier New" pitchFamily="34" charset="-122"/>
                <a:cs typeface="Courier New" pitchFamily="34" charset="-120"/>
              </a:rPr>
              <a:t>'b4_unlocked'</a:t>
            </a:r>
            <a:r>
              <a:rPr lang="en-US" sz="910" dirty="0">
                <a:solidFill>
                  <a:srgbClr val="E6EDF3"/>
                </a:solidFill>
                <a:latin typeface="Courier New" pitchFamily="34" charset="0"/>
                <a:ea typeface="Courier New" pitchFamily="34" charset="-122"/>
                <a:cs typeface="Courier New" pitchFamily="34" charset="-120"/>
              </a:rPr>
              <a:t>], R[</a:t>
            </a:r>
            <a:r>
              <a:rPr lang="en-US" sz="910" dirty="0">
                <a:solidFill>
                  <a:srgbClr val="9ECBFF"/>
                </a:solidFill>
                <a:latin typeface="Courier New" pitchFamily="34" charset="0"/>
                <a:ea typeface="Courier New" pitchFamily="34" charset="-122"/>
                <a:cs typeface="Courier New" pitchFamily="34" charset="-120"/>
              </a:rPr>
              <a:t>'b4_file'</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l[</a:t>
            </a:r>
            <a:r>
              <a:rPr lang="en-US" sz="910" dirty="0">
                <a:solidFill>
                  <a:srgbClr val="9ECBFF"/>
                </a:solidFill>
                <a:latin typeface="Courier New" pitchFamily="34" charset="0"/>
                <a:ea typeface="Courier New" pitchFamily="34" charset="-122"/>
                <a:cs typeface="Courier New" pitchFamily="34" charset="-120"/>
              </a:rPr>
              <a:t>'send'</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'error'</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'error code: -13 error message: Error: Please enter the wallet passphrase with walletpassphrase first.'</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w[</a:t>
            </a:r>
            <a:r>
              <a:rPr lang="en-US" sz="910" dirty="0">
                <a:solidFill>
                  <a:srgbClr val="9ECBFF"/>
                </a:solidFill>
                <a:latin typeface="Courier New" pitchFamily="34" charset="0"/>
                <a:ea typeface="Courier New" pitchFamily="34" charset="-122"/>
                <a:cs typeface="Courier New" pitchFamily="34" charset="-120"/>
              </a:rPr>
              <a:t>'error'</a:t>
            </a:r>
            <a:r>
              <a:rPr lang="en-US" sz="910" dirty="0">
                <a:solidFill>
                  <a:srgbClr val="E6EDF3"/>
                </a:solidFill>
                <a:latin typeface="Courier New" pitchFamily="34" charset="0"/>
                <a:ea typeface="Courier New" pitchFamily="34" charset="-122"/>
                <a:cs typeface="Courier New" pitchFamily="34" charset="-120"/>
              </a:rPr>
              <a:t>], l[</a:t>
            </a:r>
            <a:r>
              <a:rPr lang="en-US" sz="910" dirty="0">
                <a:solidFill>
                  <a:srgbClr val="9ECBFF"/>
                </a:solidFill>
                <a:latin typeface="Courier New" pitchFamily="34" charset="0"/>
                <a:ea typeface="Courier New" pitchFamily="34" charset="-122"/>
                <a:cs typeface="Courier New" pitchFamily="34" charset="-120"/>
              </a:rPr>
              <a:t>'balance_visible'</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('error code: -14 error message: Error: The wallet passphrase entered was incorrect.', 1.0)</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u[</a:t>
            </a:r>
            <a:r>
              <a:rPr lang="en-US" sz="910" dirty="0">
                <a:solidFill>
                  <a:srgbClr val="9ECBFF"/>
                </a:solidFill>
                <a:latin typeface="Courier New" pitchFamily="34" charset="0"/>
                <a:ea typeface="Courier New" pitchFamily="34" charset="-122"/>
                <a:cs typeface="Courier New" pitchFamily="34" charset="-120"/>
              </a:rPr>
              <a:t>'unlocked_until'</a:t>
            </a:r>
            <a:r>
              <a:rPr lang="en-US" sz="910" dirty="0">
                <a:solidFill>
                  <a:srgbClr val="E6EDF3"/>
                </a:solidFill>
                <a:latin typeface="Courier New" pitchFamily="34" charset="0"/>
                <a:ea typeface="Courier New" pitchFamily="34" charset="-122"/>
                <a:cs typeface="Courier New" pitchFamily="34" charset="-120"/>
              </a:rPr>
              <a:t>] - u[</a:t>
            </a:r>
            <a:r>
              <a:rPr lang="en-US" sz="910" dirty="0">
                <a:solidFill>
                  <a:srgbClr val="9ECBFF"/>
                </a:solidFill>
                <a:latin typeface="Courier New" pitchFamily="34" charset="0"/>
                <a:ea typeface="Courier New" pitchFamily="34" charset="-122"/>
                <a:cs typeface="Courier New" pitchFamily="34" charset="-120"/>
              </a:rPr>
              <a:t>'now'</a:t>
            </a:r>
            <a:r>
              <a:rPr lang="en-US" sz="910" dirty="0">
                <a:solidFill>
                  <a:srgbClr val="E6EDF3"/>
                </a:solidFill>
                <a:latin typeface="Courier New" pitchFamily="34" charset="0"/>
                <a:ea typeface="Courier New" pitchFamily="34" charset="-122"/>
                <a:cs typeface="Courier New" pitchFamily="34" charset="-120"/>
              </a:rPr>
              <a:t>], u[</a:t>
            </a:r>
            <a:r>
              <a:rPr lang="en-US" sz="910" dirty="0">
                <a:solidFill>
                  <a:srgbClr val="9ECBFF"/>
                </a:solidFill>
                <a:latin typeface="Courier New" pitchFamily="34" charset="0"/>
                <a:ea typeface="Courier New" pitchFamily="34" charset="-122"/>
                <a:cs typeface="Courier New" pitchFamily="34" charset="-120"/>
              </a:rPr>
              <a:t>'send_ok'</a:t>
            </a:r>
            <a:r>
              <a:rPr lang="en-US" sz="910" dirty="0">
                <a:solidFill>
                  <a:srgbClr val="E6EDF3"/>
                </a:solidFill>
                <a:latin typeface="Courier New" pitchFamily="34" charset="0"/>
                <a:ea typeface="Courier New" pitchFamily="34" charset="-122"/>
                <a:cs typeface="Courier New" pitchFamily="34" charset="-120"/>
              </a:rPr>
              <a:t>], R[</a:t>
            </a:r>
            <a:r>
              <a:rPr lang="en-US" sz="910" dirty="0">
                <a:solidFill>
                  <a:srgbClr val="9ECBFF"/>
                </a:solidFill>
                <a:latin typeface="Courier New" pitchFamily="34" charset="0"/>
                <a:ea typeface="Courier New" pitchFamily="34" charset="-122"/>
                <a:cs typeface="Courier New" pitchFamily="34" charset="-120"/>
              </a:rPr>
              <a:t>'b4_after_timeout'</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9ECBFF"/>
                </a:solidFill>
                <a:latin typeface="Courier New" pitchFamily="34" charset="0"/>
                <a:ea typeface="Courier New" pitchFamily="34" charset="-122"/>
                <a:cs typeface="Courier New" pitchFamily="34" charset="-120"/>
              </a:rPr>
              <a:t>'unlocked_until'</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(3, True, 0)</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[cr(</a:t>
            </a:r>
            <a:r>
              <a:rPr lang="en-US" sz="910" dirty="0">
                <a:solidFill>
                  <a:srgbClr val="9ECBFF"/>
                </a:solidFill>
                <a:latin typeface="Courier New" pitchFamily="34" charset="0"/>
                <a:ea typeface="Courier New" pitchFamily="34" charset="-122"/>
                <a:cs typeface="Courier New" pitchFamily="34" charset="-120"/>
              </a:rPr>
              <a:t>'WALLET_CRYPTO_'</a:t>
            </a:r>
            <a:r>
              <a:rPr lang="en-US" sz="910" dirty="0">
                <a:solidFill>
                  <a:srgbClr val="E6EDF3"/>
                </a:solidFill>
                <a:latin typeface="Courier New" pitchFamily="34" charset="0"/>
                <a:ea typeface="Courier New" pitchFamily="34" charset="-122"/>
                <a:cs typeface="Courier New" pitchFamily="34" charset="-120"/>
              </a:rPr>
              <a:t> + k) </a:t>
            </a:r>
            <a:r>
              <a:rPr lang="en-US" sz="910" b="1" dirty="0">
                <a:solidFill>
                  <a:srgbClr val="F2A860"/>
                </a:solidFill>
                <a:latin typeface="Courier New" pitchFamily="34" charset="0"/>
                <a:ea typeface="Courier New" pitchFamily="34" charset="-122"/>
                <a:cs typeface="Courier New" pitchFamily="34" charset="-120"/>
              </a:rPr>
              <a:t>for</a:t>
            </a:r>
            <a:r>
              <a:rPr lang="en-US" sz="910" dirty="0">
                <a:solidFill>
                  <a:srgbClr val="E6EDF3"/>
                </a:solidFill>
                <a:latin typeface="Courier New" pitchFamily="34" charset="0"/>
                <a:ea typeface="Courier New" pitchFamily="34" charset="-122"/>
                <a:cs typeface="Courier New" pitchFamily="34" charset="-120"/>
              </a:rPr>
              <a:t> k </a:t>
            </a:r>
            <a:r>
              <a:rPr lang="en-US" sz="910" b="1" dirty="0">
                <a:solidFill>
                  <a:srgbClr val="F2A860"/>
                </a:solidFill>
                <a:latin typeface="Courier New" pitchFamily="34" charset="0"/>
                <a:ea typeface="Courier New" pitchFamily="34" charset="-122"/>
                <a:cs typeface="Courier New" pitchFamily="34" charset="-120"/>
              </a:rPr>
              <a:t>in</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9ECBFF"/>
                </a:solidFill>
                <a:latin typeface="Courier New" pitchFamily="34" charset="0"/>
                <a:ea typeface="Courier New" pitchFamily="34" charset="-122"/>
                <a:cs typeface="Courier New" pitchFamily="34" charset="-120"/>
              </a:rPr>
              <a:t>'KEY_SIZE'</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9ECBFF"/>
                </a:solidFill>
                <a:latin typeface="Courier New" pitchFamily="34" charset="0"/>
                <a:ea typeface="Courier New" pitchFamily="34" charset="-122"/>
                <a:cs typeface="Courier New" pitchFamily="34" charset="-120"/>
              </a:rPr>
              <a:t>'SALT_SIZE'</a:t>
            </a:r>
            <a:r>
              <a:rPr lang="en-US" sz="910" dirty="0">
                <a:solidFill>
                  <a:srgbClr val="E6EDF3"/>
                </a:solidFill>
                <a:latin typeface="Courier New" pitchFamily="34" charset="0"/>
                <a:ea typeface="Courier New" pitchFamily="34" charset="-122"/>
                <a:cs typeface="Courier New" pitchFamily="34" charset="-120"/>
              </a:rPr>
              <a:t>, </a:t>
            </a:r>
            <a:r>
              <a:rPr lang="en-US" sz="910" dirty="0">
                <a:solidFill>
                  <a:srgbClr val="9ECBFF"/>
                </a:solidFill>
                <a:latin typeface="Courier New" pitchFamily="34" charset="0"/>
                <a:ea typeface="Courier New" pitchFamily="34" charset="-122"/>
                <a:cs typeface="Courier New" pitchFamily="34" charset="-120"/>
              </a:rPr>
              <a:t>'IV_SIZE'</a:t>
            </a:r>
            <a:r>
              <a:rPr lang="en-US" sz="910" dirty="0">
                <a:solidFill>
                  <a:srgbClr val="E6EDF3"/>
                </a:solidFill>
                <a:latin typeface="Courier New" pitchFamily="34" charset="0"/>
                <a:ea typeface="Courier New" pitchFamily="34" charset="-122"/>
                <a:cs typeface="Courier New" pitchFamily="34" charset="-120"/>
              </a:rPr>
              <a:t>)], cr(</a:t>
            </a:r>
            <a:r>
              <a:rPr lang="en-US" sz="910" dirty="0">
                <a:solidFill>
                  <a:srgbClr val="9ECBFF"/>
                </a:solidFill>
                <a:latin typeface="Courier New" pitchFamily="34" charset="0"/>
                <a:ea typeface="Courier New" pitchFamily="34" charset="-122"/>
                <a:cs typeface="Courier New" pitchFamily="34" charset="-120"/>
              </a:rPr>
              <a:t>'DEFAULT_DERIVE_ITERATIONS'</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(['32', '8', '16'], '25000')</a:t>
            </a:r>
            <a:endParaRPr lang="en-US" sz="910" dirty="0"/>
          </a:p>
          <a:p>
            <a:pPr indent="0" marL="0">
              <a:buNone/>
            </a:pPr>
            <a:r>
              <a:rPr lang="en-US" sz="910" b="1" dirty="0">
                <a:solidFill>
                  <a:srgbClr val="D97A14"/>
                </a:solidFill>
                <a:latin typeface="Courier New" pitchFamily="34" charset="0"/>
                <a:ea typeface="Courier New" pitchFamily="34" charset="-122"/>
                <a:cs typeface="Courier New" pitchFamily="34" charset="-120"/>
              </a:rPr>
              <a:t>&gt;&gt;&gt; </a:t>
            </a:r>
            <a:r>
              <a:rPr lang="en-US" sz="910" dirty="0">
                <a:solidFill>
                  <a:srgbClr val="E6EDF3"/>
                </a:solidFill>
                <a:latin typeface="Courier New" pitchFamily="34" charset="0"/>
                <a:ea typeface="Courier New" pitchFamily="34" charset="-122"/>
                <a:cs typeface="Courier New" pitchFamily="34" charset="-120"/>
              </a:rPr>
              <a:t>f[</a:t>
            </a:r>
            <a:r>
              <a:rPr lang="en-US" sz="910" dirty="0">
                <a:solidFill>
                  <a:srgbClr val="9ECBFF"/>
                </a:solidFill>
                <a:latin typeface="Courier New" pitchFamily="34" charset="0"/>
                <a:ea typeface="Courier New" pitchFamily="34" charset="-122"/>
                <a:cs typeface="Courier New" pitchFamily="34" charset="-120"/>
              </a:rPr>
              <a:t>'encryptwallet_message'</a:t>
            </a:r>
            <a:r>
              <a:rPr lang="en-US" sz="910" dirty="0">
                <a:solidFill>
                  <a:srgbClr val="E6EDF3"/>
                </a:solidFill>
                <a:latin typeface="Courier New" pitchFamily="34" charset="0"/>
                <a:ea typeface="Courier New" pitchFamily="34" charset="-122"/>
                <a:cs typeface="Courier New" pitchFamily="34" charset="-120"/>
              </a:rPr>
              <a:t>][:</a:t>
            </a:r>
            <a:r>
              <a:rPr lang="en-US" sz="910" dirty="0">
                <a:solidFill>
                  <a:srgbClr val="FFD28A"/>
                </a:solidFill>
                <a:latin typeface="Courier New" pitchFamily="34" charset="0"/>
                <a:ea typeface="Courier New" pitchFamily="34" charset="-122"/>
                <a:cs typeface="Courier New" pitchFamily="34" charset="-120"/>
              </a:rPr>
              <a:t>60</a:t>
            </a:r>
            <a:r>
              <a:rPr lang="en-US" sz="910" dirty="0">
                <a:solidFill>
                  <a:srgbClr val="E6EDF3"/>
                </a:solidFill>
                <a:latin typeface="Courier New" pitchFamily="34" charset="0"/>
                <a:ea typeface="Courier New" pitchFamily="34" charset="-122"/>
                <a:cs typeface="Courier New" pitchFamily="34" charset="-120"/>
              </a:rPr>
              <a:t>], f[</a:t>
            </a:r>
            <a:r>
              <a:rPr lang="en-US" sz="910" dirty="0">
                <a:solidFill>
                  <a:srgbClr val="9ECBFF"/>
                </a:solidFill>
                <a:latin typeface="Courier New" pitchFamily="34" charset="0"/>
                <a:ea typeface="Courier New" pitchFamily="34" charset="-122"/>
                <a:cs typeface="Courier New" pitchFamily="34" charset="-120"/>
              </a:rPr>
              <a:t>'xprv_text_in_file_before'</a:t>
            </a:r>
            <a:r>
              <a:rPr lang="en-US" sz="910" dirty="0">
                <a:solidFill>
                  <a:srgbClr val="E6EDF3"/>
                </a:solidFill>
                <a:latin typeface="Courier New" pitchFamily="34" charset="0"/>
                <a:ea typeface="Courier New" pitchFamily="34" charset="-122"/>
                <a:cs typeface="Courier New" pitchFamily="34" charset="-120"/>
              </a:rPr>
              <a:t>]</a:t>
            </a:r>
            <a:endParaRPr lang="en-US" sz="910" dirty="0"/>
          </a:p>
          <a:p>
            <a:pPr indent="0" marL="0">
              <a:buNone/>
            </a:pPr>
            <a:r>
              <a:rPr lang="en-US" sz="910" dirty="0">
                <a:solidFill>
                  <a:srgbClr val="7EE787"/>
                </a:solidFill>
                <a:latin typeface="Courier New" pitchFamily="34" charset="0"/>
                <a:ea typeface="Courier New" pitchFamily="34" charset="-122"/>
                <a:cs typeface="Courier New" pitchFamily="34" charset="-120"/>
              </a:rPr>
              <a:t>('wallet encrypted; The keypool has been flushed and a new HD ', False)</a:t>
            </a:r>
            <a:endParaRPr lang="en-US" sz="910" dirty="0"/>
          </a:p>
        </p:txBody>
      </p:sp>
      <p:sp>
        <p:nvSpPr>
          <p:cNvPr id="9" name="Text 7"/>
          <p:cNvSpPr txBox="1"/>
          <p:nvPr/>
        </p:nvSpPr>
        <p:spPr>
          <a:xfrm>
            <a:off x="457200" y="34930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825240"/>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794760"/>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3: a locked wallet shows its balance (1.0) but cannot send (-13); a wrong passphrase gives -14</a:t>
            </a:r>
            <a:endParaRPr lang="en-US" sz="1000" dirty="0"/>
          </a:p>
        </p:txBody>
      </p:sp>
      <p:sp>
        <p:nvSpPr>
          <p:cNvPr id="12" name="Shape 10"/>
          <p:cNvSpPr/>
          <p:nvPr/>
        </p:nvSpPr>
        <p:spPr>
          <a:xfrm>
            <a:off x="457200" y="401421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983736"/>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an unlock for 3 seconds ended exactly then: the key is dropped and sending fails again</a:t>
            </a:r>
            <a:endParaRPr lang="en-US" sz="1000" dirty="0"/>
          </a:p>
        </p:txBody>
      </p:sp>
      <p:sp>
        <p:nvSpPr>
          <p:cNvPr id="14" name="Shape 12"/>
          <p:cNvSpPr/>
          <p:nvPr/>
        </p:nvSpPr>
        <p:spPr>
          <a:xfrm>
            <a:off x="457200" y="420319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4172712"/>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5, 6: 32-byte key, 8-byte salt, 25000 rounds; encrypting also makes a new seed, so old backups miss new coins</a:t>
            </a:r>
            <a:endParaRPr lang="en-US" sz="10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Encryption hides the keys, and it starts a new seed: back up again</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backup is a descriptor and a date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spare key cut before the locksmith adds new locks: it opens only the old ones</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help text is saved</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b, d = R[</a:t>
            </a:r>
            <a:r>
              <a:rPr lang="en-US" sz="920" dirty="0">
                <a:solidFill>
                  <a:srgbClr val="9ECBFF"/>
                </a:solidFill>
                <a:latin typeface="Courier New" pitchFamily="34" charset="0"/>
                <a:ea typeface="Courier New" pitchFamily="34" charset="-122"/>
                <a:cs typeface="Courier New" pitchFamily="34" charset="-120"/>
              </a:rPr>
              <a:t>'b5_backup'</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'b6_backup'</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b[</a:t>
            </a:r>
            <a:r>
              <a:rPr lang="en-US" sz="920" dirty="0">
                <a:solidFill>
                  <a:srgbClr val="9ECBFF"/>
                </a:solidFill>
                <a:latin typeface="Courier New" pitchFamily="34" charset="0"/>
                <a:ea typeface="Courier New" pitchFamily="34" charset="-122"/>
                <a:cs typeface="Courier New" pitchFamily="34" charset="-120"/>
              </a:rPr>
              <a:t>'balance_src'</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'balance_fresh'</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'fresh_next_matches'</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'far_address_ismine_fresh'</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(3.0, 3.0, True, 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b[</a:t>
            </a:r>
            <a:r>
              <a:rPr lang="en-US" sz="920" dirty="0">
                <a:solidFill>
                  <a:srgbClr val="9ECBFF"/>
                </a:solidFill>
                <a:latin typeface="Courier New" pitchFamily="34" charset="0"/>
                <a:ea typeface="Courier New" pitchFamily="34" charset="-122"/>
                <a:cs typeface="Courier New" pitchFamily="34" charset="-120"/>
              </a:rPr>
              <a:t>'keypool_range_end'</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'far_index'</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'balance_stale'</a:t>
            </a:r>
            <a:r>
              <a:rPr lang="en-US" sz="920" dirty="0">
                <a:solidFill>
                  <a:srgbClr val="E6EDF3"/>
                </a:solidFill>
                <a:latin typeface="Courier New" pitchFamily="34" charset="0"/>
                <a:ea typeface="Courier New" pitchFamily="34" charset="-122"/>
                <a:cs typeface="Courier New" pitchFamily="34" charset="-120"/>
              </a:rPr>
              <a:t>], b[</a:t>
            </a:r>
            <a:r>
              <a:rPr lang="en-US" sz="920" dirty="0">
                <a:solidFill>
                  <a:srgbClr val="9ECBFF"/>
                </a:solidFill>
                <a:latin typeface="Courier New" pitchFamily="34" charset="0"/>
                <a:ea typeface="Courier New" pitchFamily="34" charset="-122"/>
                <a:cs typeface="Courier New" pitchFamily="34" charset="-120"/>
              </a:rPr>
              <a:t>'far_address_ismine_stale'</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([0, 2], 9, 1.0, False)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d[</a:t>
            </a:r>
            <a:r>
              <a:rPr lang="en-US" sz="920" dirty="0">
                <a:solidFill>
                  <a:srgbClr val="9ECBFF"/>
                </a:solidFill>
                <a:latin typeface="Courier New" pitchFamily="34" charset="0"/>
                <a:ea typeface="Courier New" pitchFamily="34" charset="-122"/>
                <a:cs typeface="Courier New" pitchFamily="34" charset="-120"/>
              </a:rPr>
              <a:t>'m1_knows_multisig_address'</a:t>
            </a:r>
            <a:r>
              <a:rPr lang="en-US" sz="920" dirty="0">
                <a:solidFill>
                  <a:srgbClr val="E6EDF3"/>
                </a:solidFill>
                <a:latin typeface="Courier New" pitchFamily="34" charset="0"/>
                <a:ea typeface="Courier New" pitchFamily="34" charset="-122"/>
                <a:cs typeface="Courier New" pitchFamily="34" charset="-120"/>
              </a:rPr>
              <a:t>], d[</a:t>
            </a:r>
            <a:r>
              <a:rPr lang="en-US" sz="920" dirty="0">
                <a:solidFill>
                  <a:srgbClr val="9ECBFF"/>
                </a:solidFill>
                <a:latin typeface="Courier New" pitchFamily="34" charset="0"/>
                <a:ea typeface="Courier New" pitchFamily="34" charset="-122"/>
                <a:cs typeface="Courier New" pitchFamily="34" charset="-120"/>
              </a:rPr>
              <a:t>'ms_balance'</a:t>
            </a:r>
            <a:r>
              <a:rPr lang="en-US" sz="920" dirty="0">
                <a:solidFill>
                  <a:srgbClr val="E6EDF3"/>
                </a:solidFill>
                <a:latin typeface="Courier New" pitchFamily="34" charset="0"/>
                <a:ea typeface="Courier New" pitchFamily="34" charset="-122"/>
                <a:cs typeface="Courier New" pitchFamily="34" charset="-120"/>
              </a:rPr>
              <a:t>], d[</a:t>
            </a:r>
            <a:r>
              <a:rPr lang="en-US" sz="920" dirty="0">
                <a:solidFill>
                  <a:srgbClr val="9ECBFF"/>
                </a:solidFill>
                <a:latin typeface="Courier New" pitchFamily="34" charset="0"/>
                <a:ea typeface="Courier New" pitchFamily="34" charset="-122"/>
                <a:cs typeface="Courier New" pitchFamily="34" charset="-120"/>
              </a:rPr>
              <a:t>'rebuilt_balance'</a:t>
            </a:r>
            <a:r>
              <a:rPr lang="en-US" sz="920" dirty="0">
                <a:solidFill>
                  <a:srgbClr val="E6EDF3"/>
                </a:solidFill>
                <a:latin typeface="Courier New" pitchFamily="34" charset="0"/>
                <a:ea typeface="Courier New" pitchFamily="34" charset="-122"/>
                <a:cs typeface="Courier New" pitchFamily="34" charset="-120"/>
              </a:rPr>
              <a:t>], d[</a:t>
            </a:r>
            <a:r>
              <a:rPr lang="en-US" sz="920" dirty="0">
                <a:solidFill>
                  <a:srgbClr val="9ECBFF"/>
                </a:solidFill>
                <a:latin typeface="Courier New" pitchFamily="34" charset="0"/>
                <a:ea typeface="Courier New" pitchFamily="34" charset="-122"/>
                <a:cs typeface="Courier New" pitchFamily="34" charset="-120"/>
              </a:rPr>
              <a:t>'wrongorder_balance'</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(False, 2.0, 2.0, 0.0)</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seen(</a:t>
            </a:r>
            <a:r>
              <a:rPr lang="en-US" sz="920" dirty="0">
                <a:solidFill>
                  <a:srgbClr val="9ECBFF"/>
                </a:solidFill>
                <a:latin typeface="Courier New" pitchFamily="34" charset="0"/>
                <a:ea typeface="Courier New" pitchFamily="34" charset="-122"/>
                <a:cs typeface="Courier New" pitchFamily="34" charset="-120"/>
              </a:rPr>
              <a:t>'bitcoind_help_31.1.txt'</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'Smaller sizes may increase the risk of losing funds'</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a:t>
            </a:r>
            <a:endParaRPr lang="en-US" sz="92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50920"/>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a wallet restored from a fresh backup holds all 3.0 coins and derives the same next addresses</a:t>
            </a:r>
            <a:endParaRPr lang="en-US" sz="1000" dirty="0"/>
          </a:p>
        </p:txBody>
      </p:sp>
      <p:sp>
        <p:nvSpPr>
          <p:cNvPr id="12" name="Shape 10"/>
          <p:cNvSpPr/>
          <p:nvPr/>
        </p:nvSpPr>
        <p:spPr>
          <a:xfrm>
            <a:off x="457200" y="373989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09416"/>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with a keypool of 3 a stale backup held 1.0 of 3.0: coins went to the tenth address, outside 0 to 2</a:t>
            </a:r>
            <a:endParaRPr lang="en-US" sz="1000" dirty="0"/>
          </a:p>
        </p:txBody>
      </p:sp>
      <p:sp>
        <p:nvSpPr>
          <p:cNvPr id="14" name="Shape 12"/>
          <p:cNvSpPr/>
          <p:nvPr/>
        </p:nvSpPr>
        <p:spPr>
          <a:xfrm>
            <a:off x="457200" y="392887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898392"/>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one key does not know the multisig address; the descriptor finds the 2.0 coins, a wrong key order 0.0</a:t>
            </a:r>
            <a:endParaRPr lang="en-US" sz="1000" dirty="0"/>
          </a:p>
        </p:txBody>
      </p:sp>
      <p:sp>
        <p:nvSpPr>
          <p:cNvPr id="16"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paper and metal backups; only file backups of regtest wallets were restored.</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backup needs the descriptor and a recent date</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Seed words and their arithmetic</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recipe card: twelve words are enough to cook the same keys again</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published BIP 39 test vector, saved on 2026-10-15; the Core files are saved</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v = L.jload(</a:t>
            </a:r>
            <a:r>
              <a:rPr lang="en-US" sz="920" dirty="0">
                <a:solidFill>
                  <a:srgbClr val="9ECBFF"/>
                </a:solidFill>
                <a:latin typeface="Courier New" pitchFamily="34" charset="0"/>
                <a:ea typeface="Courier New" pitchFamily="34" charset="-122"/>
                <a:cs typeface="Courier New" pitchFamily="34" charset="-120"/>
              </a:rPr>
              <a:t>'bip39_trezor_vectors.json'</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'english'</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0</a:t>
            </a:r>
            <a:r>
              <a:rPr lang="en-US" sz="920" dirty="0">
                <a:solidFill>
                  <a:srgbClr val="E6EDF3"/>
                </a:solidFill>
                <a:latin typeface="Courier New" pitchFamily="34" charset="0"/>
                <a:ea typeface="Courier New" pitchFamily="34" charset="-122"/>
                <a:cs typeface="Courier New" pitchFamily="34" charset="-120"/>
              </a:rPr>
              <a:t>]; w = v[</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].split()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L.bip39_mnemonic(bytes.fromhex(v[</a:t>
            </a:r>
            <a:r>
              <a:rPr lang="en-US" sz="920" dirty="0">
                <a:solidFill>
                  <a:srgbClr val="FFD28A"/>
                </a:solidFill>
                <a:latin typeface="Courier New" pitchFamily="34" charset="0"/>
                <a:ea typeface="Courier New" pitchFamily="34" charset="-122"/>
                <a:cs typeface="Courier New" pitchFamily="34" charset="-120"/>
              </a:rPr>
              <a:t>0</a:t>
            </a:r>
            <a:r>
              <a:rPr lang="en-US" sz="920" dirty="0">
                <a:solidFill>
                  <a:srgbClr val="E6EDF3"/>
                </a:solidFill>
                <a:latin typeface="Courier New" pitchFamily="34" charset="0"/>
                <a:ea typeface="Courier New" pitchFamily="34" charset="-122"/>
                <a:cs typeface="Courier New" pitchFamily="34" charset="-120"/>
              </a:rPr>
              <a:t>])) == v[</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 len(w), L.bip39_valid(v[</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12, 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L.bip39_valid(</a:t>
            </a:r>
            <a:r>
              <a:rPr lang="en-US" sz="920" dirty="0">
                <a:solidFill>
                  <a:srgbClr val="9ECBFF"/>
                </a:solidFill>
                <a:latin typeface="Courier New" pitchFamily="34" charset="0"/>
                <a:ea typeface="Courier New" pitchFamily="34" charset="-122"/>
                <a:cs typeface="Courier New" pitchFamily="34" charset="-120"/>
              </a:rPr>
              <a:t>' '</a:t>
            </a:r>
            <a:r>
              <a:rPr lang="en-US" sz="920" dirty="0">
                <a:solidFill>
                  <a:srgbClr val="E6EDF3"/>
                </a:solidFill>
                <a:latin typeface="Courier New" pitchFamily="34" charset="0"/>
                <a:ea typeface="Courier New" pitchFamily="34" charset="-122"/>
                <a:cs typeface="Courier New" pitchFamily="34" charset="-120"/>
              </a:rPr>
              <a:t>.join(w[:-</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9ECBFF"/>
                </a:solidFill>
                <a:latin typeface="Courier New" pitchFamily="34" charset="0"/>
                <a:ea typeface="Courier New" pitchFamily="34" charset="-122"/>
                <a:cs typeface="Courier New" pitchFamily="34" charset="-120"/>
              </a:rPr>
              <a:t>'zoo'</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12</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11</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128</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(False, 4)</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L.bip39_seed(v[</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'TREZOR'</a:t>
            </a:r>
            <a:r>
              <a:rPr lang="en-US" sz="920" dirty="0">
                <a:solidFill>
                  <a:srgbClr val="E6EDF3"/>
                </a:solidFill>
                <a:latin typeface="Courier New" pitchFamily="34" charset="0"/>
                <a:ea typeface="Courier New" pitchFamily="34" charset="-122"/>
                <a:cs typeface="Courier New" pitchFamily="34" charset="-120"/>
              </a:rPr>
              <a:t>).hex() == v[</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L.bip39_seed(v[</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]).hex()[:</a:t>
            </a:r>
            <a:r>
              <a:rPr lang="en-US" sz="920" dirty="0">
                <a:solidFill>
                  <a:srgbClr val="FFD28A"/>
                </a:solidFill>
                <a:latin typeface="Courier New" pitchFamily="34" charset="0"/>
                <a:ea typeface="Courier New" pitchFamily="34" charset="-122"/>
                <a:cs typeface="Courier New" pitchFamily="34" charset="-120"/>
              </a:rPr>
              <a:t>16</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'5eb00bbddcf06908')</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sum(seen(f, </a:t>
            </a:r>
            <a:r>
              <a:rPr lang="en-US" sz="920" dirty="0">
                <a:solidFill>
                  <a:srgbClr val="9ECBFF"/>
                </a:solidFill>
                <a:latin typeface="Courier New" pitchFamily="34" charset="0"/>
                <a:ea typeface="Courier New" pitchFamily="34" charset="-122"/>
                <a:cs typeface="Courier New" pitchFamily="34" charset="-120"/>
              </a:rPr>
              <a:t>'mnemonic'</a:t>
            </a:r>
            <a:r>
              <a:rPr lang="en-US" sz="920" dirty="0">
                <a:solidFill>
                  <a:srgbClr val="E6EDF3"/>
                </a:solidFill>
                <a:latin typeface="Courier New" pitchFamily="34" charset="0"/>
                <a:ea typeface="Courier New" pitchFamily="34" charset="-122"/>
                <a:cs typeface="Courier New" pitchFamily="34" charset="-120"/>
              </a:rPr>
              <a:t>) </a:t>
            </a:r>
            <a:r>
              <a:rPr lang="en-US" sz="920" b="1" dirty="0">
                <a:solidFill>
                  <a:srgbClr val="F2A860"/>
                </a:solidFill>
                <a:latin typeface="Courier New" pitchFamily="34" charset="0"/>
                <a:ea typeface="Courier New" pitchFamily="34" charset="-122"/>
                <a:cs typeface="Courier New" pitchFamily="34" charset="-120"/>
              </a:rPr>
              <a:t>for</a:t>
            </a:r>
            <a:r>
              <a:rPr lang="en-US" sz="920" dirty="0">
                <a:solidFill>
                  <a:srgbClr val="E6EDF3"/>
                </a:solidFill>
                <a:latin typeface="Courier New" pitchFamily="34" charset="0"/>
                <a:ea typeface="Courier New" pitchFamily="34" charset="-122"/>
                <a:cs typeface="Courier New" pitchFamily="34" charset="-120"/>
              </a:rPr>
              <a:t> f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'core_doc_descriptors.md'</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'bitcoind_help_31.1.txt'</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0</a:t>
            </a:r>
            <a:endParaRPr lang="en-US" sz="92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50920"/>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3: 16 bytes make 12 words and 4 bits of checksum, so swapping the last word is caught</a:t>
            </a:r>
            <a:endParaRPr lang="en-US" sz="1000" dirty="0"/>
          </a:p>
        </p:txBody>
      </p:sp>
      <p:sp>
        <p:nvSpPr>
          <p:cNvPr id="12" name="Shape 10"/>
          <p:cNvSpPr/>
          <p:nvPr/>
        </p:nvSpPr>
        <p:spPr>
          <a:xfrm>
            <a:off x="457200" y="373989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09416"/>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2048 rounds with the passphrase TREZOR give the published seed (True); with none the seed starts 5eb00bbd</a:t>
            </a:r>
            <a:endParaRPr lang="en-US" sz="1000" dirty="0"/>
          </a:p>
        </p:txBody>
      </p:sp>
      <p:sp>
        <p:nvSpPr>
          <p:cNvPr id="14" name="Shape 12"/>
          <p:cNvSpPr/>
          <p:nvPr/>
        </p:nvSpPr>
        <p:spPr>
          <a:xfrm>
            <a:off x="457200" y="392887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898392"/>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no mention of a mnemonic in Core's descriptors document or help: Core keeps descriptors, not words</a:t>
            </a:r>
            <a:endParaRPr lang="en-US" sz="1000" dirty="0"/>
          </a:p>
        </p:txBody>
      </p:sp>
      <p:sp>
        <p:nvSpPr>
          <p:cNvPr id="16"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recovery of a BIP 39 phrase in Bitcoin Core; Core has no such import.</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Twelve words with a checksum rebuild every key; Core itself keeps descriptors</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little box that learned to wait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14 June 2024: who, where, when and what to read next</a:t>
            </a:r>
            <a:endParaRPr lang="en-US" sz="1300" dirty="0"/>
          </a:p>
        </p:txBody>
      </p:sp>
      <p:pic>
        <p:nvPicPr>
          <p:cNvPr id="6" name="Image 0" descr="../../03-materials/ch13/assets/trezor_model_t.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Trezor Model T - FlippyFlink, CC0 1.0,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14 June 2024 SatoshiLabs announces the Trezor Safe 5 at BTC Prague, with an EAL 6+ secure element (row 3)</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wrong PIN costs more waiting each time: 1, 2, 4 ... seconds, 32,767 in all (row 2)</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After 16 wrong PINs the device wipes itself; the Wiki lists the Trezor first among commercial hardware wallets</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Bitcoin Wiki page on the Trezor, saved on 2026-10-15</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w =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 ** k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k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range(</a:t>
            </a:r>
            <a:r>
              <a:rPr lang="en-US" sz="900" dirty="0">
                <a:solidFill>
                  <a:srgbClr val="FFD28A"/>
                </a:solidFill>
                <a:latin typeface="Courier New" pitchFamily="34" charset="0"/>
                <a:ea typeface="Courier New" pitchFamily="34" charset="-122"/>
                <a:cs typeface="Courier New" pitchFamily="34" charset="-120"/>
              </a:rPr>
              <a:t>15</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sum(w), round(sum(w) / </a:t>
            </a:r>
            <a:r>
              <a:rPr lang="en-US" sz="900" dirty="0">
                <a:solidFill>
                  <a:srgbClr val="FFD28A"/>
                </a:solidFill>
                <a:latin typeface="Courier New" pitchFamily="34" charset="0"/>
                <a:ea typeface="Courier New" pitchFamily="34" charset="-122"/>
                <a:cs typeface="Courier New" pitchFamily="34" charset="-120"/>
              </a:rPr>
              <a:t>3600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(32767, 9.1)</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seen(</a:t>
            </a:r>
            <a:r>
              <a:rPr lang="en-US" sz="900" dirty="0">
                <a:solidFill>
                  <a:srgbClr val="9ECBFF"/>
                </a:solidFill>
                <a:latin typeface="Courier New" pitchFamily="34" charset="0"/>
                <a:ea typeface="Courier New" pitchFamily="34" charset="-122"/>
                <a:cs typeface="Courier New" pitchFamily="34" charset="-120"/>
              </a:rPr>
              <a:t>'bitcoinwiki_trezor.txt'</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'an EAL 6+ secure element'</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SatoshiLabs, the company behind the Tr…</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BTC Prague, and the Bitcoin Wiki page …</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2024-06-14</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en.bitcoin.it</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Trezor Model T, not the Safe 5.</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coin with a private key under a sticker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26 November 2013: who, where, when and what to read next</a:t>
            </a:r>
            <a:endParaRPr lang="en-US" sz="1300" dirty="0"/>
          </a:p>
        </p:txBody>
      </p:sp>
      <p:pic>
        <p:nvPicPr>
          <p:cNvPr id="6" name="Image 0" descr="../../03-materials/ch13/assets/casascius_hologram.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Casascius hologram close-up - BTC Keychain, CC BY 2.0, Flickr</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Mike Caldwell of Sandy, Utah, sold Casascius coins with a private key under a hologram, until 26 November 2013 (row 2)</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They came in 1, 10, 25, 100 and 1000 BTC; the hologram shows if anyone peeled it, not who (row 2)</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FinCEN told him that minting physical bitcoins made him a money transmitter (row 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Bitcoin Wiki page on Casascius, saved on 2026-10-15</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t = </a:t>
            </a:r>
            <a:r>
              <a:rPr lang="en-US" sz="900" dirty="0">
                <a:solidFill>
                  <a:srgbClr val="9ECBFF"/>
                </a:solidFill>
                <a:latin typeface="Courier New" pitchFamily="34" charset="0"/>
                <a:ea typeface="Courier New" pitchFamily="34" charset="-122"/>
                <a:cs typeface="Courier New" pitchFamily="34" charset="-120"/>
              </a:rPr>
              <a:t>'bitcoinwiki_casascius.txt'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seen(t, </a:t>
            </a:r>
            <a:r>
              <a:rPr lang="en-US" sz="900" dirty="0">
                <a:solidFill>
                  <a:srgbClr val="9ECBFF"/>
                </a:solidFill>
                <a:latin typeface="Courier New" pitchFamily="34" charset="0"/>
                <a:ea typeface="Courier New" pitchFamily="34" charset="-122"/>
                <a:cs typeface="Courier New" pitchFamily="34" charset="-120"/>
              </a:rPr>
              <a:t>'sold until Nov 26, 2013'</a:t>
            </a:r>
            <a:r>
              <a:rPr lang="en-US" sz="900" dirty="0">
                <a:solidFill>
                  <a:srgbClr val="E6EDF3"/>
                </a:solidFill>
                <a:latin typeface="Courier New" pitchFamily="34" charset="0"/>
                <a:ea typeface="Courier New" pitchFamily="34" charset="-122"/>
                <a:cs typeface="Courier New" pitchFamily="34" charset="-120"/>
              </a:rPr>
              <a:t>), seen(t, </a:t>
            </a:r>
            <a:r>
              <a:rPr lang="en-US" sz="900" dirty="0">
                <a:solidFill>
                  <a:srgbClr val="9ECBFF"/>
                </a:solidFill>
                <a:latin typeface="Courier New" pitchFamily="34" charset="0"/>
                <a:ea typeface="Courier New" pitchFamily="34" charset="-122"/>
                <a:cs typeface="Courier New" pitchFamily="34" charset="-120"/>
              </a:rPr>
              <a:t>'1000 BTC increments'</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seen(t, </a:t>
            </a:r>
            <a:r>
              <a:rPr lang="en-US" sz="900" dirty="0">
                <a:solidFill>
                  <a:srgbClr val="9ECBFF"/>
                </a:solidFill>
                <a:latin typeface="Courier New" pitchFamily="34" charset="0"/>
                <a:ea typeface="Courier New" pitchFamily="34" charset="-122"/>
                <a:cs typeface="Courier New" pitchFamily="34" charset="-120"/>
              </a:rPr>
              <a:t>'qualifies him as a money transmitter'</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Mike Caldwell, the maker of the Casasc…</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Sandy, Utah, USA, and the Bitcoin comm…</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2013-11-26</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en.bitcoin.it</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hologram close-up, not the coin.</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Surviving loss and theft</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Several keys, a delayed heir and shared secrets, and what custody costs.</a:t>
            </a:r>
            <a:endParaRPr lang="en-US" sz="1500" dirty="0"/>
          </a:p>
        </p:txBody>
      </p:sp>
      <p:sp>
        <p:nvSpPr>
          <p:cNvPr id="6" name="Shape 4"/>
          <p:cNvSpPr/>
          <p:nvPr/>
        </p:nvSpPr>
        <p:spPr>
          <a:xfrm>
            <a:off x="777240" y="2697480"/>
            <a:ext cx="1856232"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Two of three keys</a:t>
            </a:r>
            <a:endParaRPr lang="en-US" sz="1400" dirty="0"/>
          </a:p>
        </p:txBody>
      </p:sp>
      <p:sp>
        <p:nvSpPr>
          <p:cNvPr id="8" name="Shape 6"/>
          <p:cNvSpPr/>
          <p:nvPr/>
        </p:nvSpPr>
        <p:spPr>
          <a:xfrm>
            <a:off x="2779776" y="2697480"/>
            <a:ext cx="1856232"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2852928"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odds</a:t>
            </a:r>
            <a:endParaRPr lang="en-US" sz="1400" dirty="0"/>
          </a:p>
        </p:txBody>
      </p:sp>
      <p:sp>
        <p:nvSpPr>
          <p:cNvPr id="10" name="Shape 8"/>
          <p:cNvSpPr/>
          <p:nvPr/>
        </p:nvSpPr>
        <p:spPr>
          <a:xfrm>
            <a:off x="4782312" y="2697480"/>
            <a:ext cx="1856232"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4855464"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 heir who waits</a:t>
            </a:r>
            <a:endParaRPr lang="en-US" sz="1400" dirty="0"/>
          </a:p>
        </p:txBody>
      </p:sp>
      <p:sp>
        <p:nvSpPr>
          <p:cNvPr id="12" name="Shape 10"/>
          <p:cNvSpPr/>
          <p:nvPr/>
        </p:nvSpPr>
        <p:spPr>
          <a:xfrm>
            <a:off x="6784848" y="2697480"/>
            <a:ext cx="1856232"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6858000" y="2743200"/>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Shared secrets</a:t>
            </a:r>
            <a:endParaRPr lang="en-US" sz="1400" dirty="0"/>
          </a:p>
        </p:txBody>
      </p:sp>
      <p:sp>
        <p:nvSpPr>
          <p:cNvPr id="14" name="Shape 12"/>
          <p:cNvSpPr/>
          <p:nvPr/>
        </p:nvSpPr>
        <p:spPr>
          <a:xfrm>
            <a:off x="777240" y="3630168"/>
            <a:ext cx="1856232" cy="804672"/>
          </a:xfrm>
          <a:prstGeom prst="roundRect">
            <a:avLst>
              <a:gd name="adj" fmla="val 9091"/>
            </a:avLst>
          </a:prstGeom>
          <a:solidFill>
            <a:srgbClr val="2F6D62"/>
          </a:solidFill>
          <a:ln w="12700">
            <a:solidFill>
              <a:srgbClr val="2F6D62"/>
            </a:solidFill>
            <a:prstDash val="solid"/>
          </a:ln>
        </p:spPr>
      </p:sp>
      <p:sp>
        <p:nvSpPr>
          <p:cNvPr id="15" name="Text 13"/>
          <p:cNvSpPr txBox="1"/>
          <p:nvPr/>
        </p:nvSpPr>
        <p:spPr>
          <a:xfrm>
            <a:off x="850392" y="3675888"/>
            <a:ext cx="1709928"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Two true stories</a:t>
            </a:r>
            <a:endParaRPr lang="en-US" sz="140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Two of three keys sign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safe deposit box that needs two of three keyholders: one lost key is no disaster</a:t>
            </a:r>
            <a:endParaRPr lang="en-US" sz="1300" dirty="0"/>
          </a:p>
        </p:txBody>
      </p:sp>
      <p:sp>
        <p:nvSpPr>
          <p:cNvPr id="6" name="Shape 4"/>
          <p:cNvSpPr/>
          <p:nvPr/>
        </p:nvSpPr>
        <p:spPr>
          <a:xfrm>
            <a:off x="457200" y="146456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one signature left the spend incomplete, two made it complete, 146 virtual bytes</a:t>
            </a:r>
            <a:endParaRPr lang="en-US" sz="1000" dirty="0"/>
          </a:p>
        </p:txBody>
      </p:sp>
      <p:sp>
        <p:nvSpPr>
          <p:cNvPr id="8" name="Shape 6"/>
          <p:cNvSpPr/>
          <p:nvPr/>
        </p:nvSpPr>
        <p:spPr>
          <a:xfrm>
            <a:off x="457200" y="199796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952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losing one key leaves the funds spendable (True); losing two does not (False)</a:t>
            </a:r>
            <a:endParaRPr lang="en-US" sz="1000" dirty="0"/>
          </a:p>
        </p:txBody>
      </p:sp>
      <p:sp>
        <p:nvSpPr>
          <p:cNvPr id="10" name="Shape 8"/>
          <p:cNvSpPr/>
          <p:nvPr/>
        </p:nvSpPr>
        <p:spPr>
          <a:xfrm>
            <a:off x="457200" y="25313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3286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one key cost 110 virtual bytes, 2-of-3 costs 146; sortedmulti keeps one address (True), multi does not</a:t>
            </a:r>
            <a:endParaRPr lang="en-US" sz="1000" dirty="0"/>
          </a:p>
        </p:txBody>
      </p:sp>
      <p:graphicFrame>
        <p:nvGraphicFramePr>
          <p:cNvPr id="12"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14" name="Shape 11"/>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5" name="Text 12"/>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 l, o = R[</a:t>
            </a:r>
            <a:r>
              <a:rPr lang="en-US" sz="850" dirty="0">
                <a:solidFill>
                  <a:srgbClr val="9ECBFF"/>
                </a:solidFill>
                <a:latin typeface="Courier New" pitchFamily="34" charset="0"/>
                <a:ea typeface="Courier New" pitchFamily="34" charset="-122"/>
                <a:cs typeface="Courier New" pitchFamily="34" charset="-120"/>
              </a:rPr>
              <a:t>'b6_sign'</a:t>
            </a:r>
            <a:r>
              <a:rPr lang="en-US" sz="850" dirty="0">
                <a:solidFill>
                  <a:srgbClr val="E6EDF3"/>
                </a:solidFill>
                <a:latin typeface="Courier New" pitchFamily="34" charset="0"/>
                <a:ea typeface="Courier New" pitchFamily="34" charset="-122"/>
                <a:cs typeface="Courier New" pitchFamily="34" charset="-120"/>
              </a:rPr>
              <a:t>], R[</a:t>
            </a:r>
            <a:r>
              <a:rPr lang="en-US" sz="850" dirty="0">
                <a:solidFill>
                  <a:srgbClr val="9ECBFF"/>
                </a:solidFill>
                <a:latin typeface="Courier New" pitchFamily="34" charset="0"/>
                <a:ea typeface="Courier New" pitchFamily="34" charset="-122"/>
                <a:cs typeface="Courier New" pitchFamily="34" charset="-120"/>
              </a:rPr>
              <a:t>'b6_loss'</a:t>
            </a:r>
            <a:r>
              <a:rPr lang="en-US" sz="850" dirty="0">
                <a:solidFill>
                  <a:srgbClr val="E6EDF3"/>
                </a:solidFill>
                <a:latin typeface="Courier New" pitchFamily="34" charset="0"/>
                <a:ea typeface="Courier New" pitchFamily="34" charset="-122"/>
                <a:cs typeface="Courier New" pitchFamily="34" charset="-120"/>
              </a:rPr>
              <a:t>], R[</a:t>
            </a:r>
            <a:r>
              <a:rPr lang="en-US" sz="850" dirty="0">
                <a:solidFill>
                  <a:srgbClr val="9ECBFF"/>
                </a:solidFill>
                <a:latin typeface="Courier New" pitchFamily="34" charset="0"/>
                <a:ea typeface="Courier New" pitchFamily="34" charset="-122"/>
                <a:cs typeface="Courier New" pitchFamily="34" charset="-120"/>
              </a:rPr>
              <a:t>'b6_order'</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a:t>
            </a:r>
            <a:r>
              <a:rPr lang="en-US" sz="850" dirty="0">
                <a:solidFill>
                  <a:srgbClr val="9ECBFF"/>
                </a:solidFill>
                <a:latin typeface="Courier New" pitchFamily="34" charset="0"/>
                <a:ea typeface="Courier New" pitchFamily="34" charset="-122"/>
                <a:cs typeface="Courier New" pitchFamily="34" charset="-120"/>
              </a:rPr>
              <a:t>'m1_alone'</a:t>
            </a:r>
            <a:r>
              <a:rPr lang="en-US" sz="850" dirty="0">
                <a:solidFill>
                  <a:srgbClr val="E6EDF3"/>
                </a:solidFill>
                <a:latin typeface="Courier New" pitchFamily="34" charset="0"/>
                <a:ea typeface="Courier New" pitchFamily="34" charset="-122"/>
                <a:cs typeface="Courier New" pitchFamily="34" charset="-120"/>
              </a:rPr>
              <a:t>], s[</a:t>
            </a:r>
            <a:r>
              <a:rPr lang="en-US" sz="850" dirty="0">
                <a:solidFill>
                  <a:srgbClr val="9ECBFF"/>
                </a:solidFill>
                <a:latin typeface="Courier New" pitchFamily="34" charset="0"/>
                <a:ea typeface="Courier New" pitchFamily="34" charset="-122"/>
                <a:cs typeface="Courier New" pitchFamily="34" charset="-120"/>
              </a:rPr>
              <a:t>'m1_m3'</a:t>
            </a:r>
            <a:r>
              <a:rPr lang="en-US" sz="850" dirty="0">
                <a:solidFill>
                  <a:srgbClr val="E6EDF3"/>
                </a:solidFill>
                <a:latin typeface="Courier New" pitchFamily="34" charset="0"/>
                <a:ea typeface="Courier New" pitchFamily="34" charset="-122"/>
                <a:cs typeface="Courier New" pitchFamily="34" charset="-120"/>
              </a:rPr>
              <a:t>], s[</a:t>
            </a:r>
            <a:r>
              <a:rPr lang="en-US" sz="850" dirty="0">
                <a:solidFill>
                  <a:srgbClr val="9ECBFF"/>
                </a:solidFill>
                <a:latin typeface="Courier New" pitchFamily="34" charset="0"/>
                <a:ea typeface="Courier New" pitchFamily="34" charset="-122"/>
                <a:cs typeface="Courier New" pitchFamily="34" charset="-120"/>
              </a:rPr>
              <a:t>'vsize'</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({'complete': False, 'sigs': [1]}, {'complete': True, 'sigs': [0]}, 146)</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l[</a:t>
            </a:r>
            <a:r>
              <a:rPr lang="en-US" sz="850" dirty="0">
                <a:solidFill>
                  <a:srgbClr val="9ECBFF"/>
                </a:solidFill>
                <a:latin typeface="Courier New" pitchFamily="34" charset="0"/>
                <a:ea typeface="Courier New" pitchFamily="34" charset="-122"/>
                <a:cs typeface="Courier New" pitchFamily="34" charset="-120"/>
              </a:rPr>
              <a:t>'lose_m1_sign_with_m2_m3'</a:t>
            </a:r>
            <a:r>
              <a:rPr lang="en-US" sz="850" dirty="0">
                <a:solidFill>
                  <a:srgbClr val="E6EDF3"/>
                </a:solidFill>
                <a:latin typeface="Courier New" pitchFamily="34" charset="0"/>
                <a:ea typeface="Courier New" pitchFamily="34" charset="-122"/>
                <a:cs typeface="Courier New" pitchFamily="34" charset="-120"/>
              </a:rPr>
              <a:t>], l[</a:t>
            </a:r>
            <a:r>
              <a:rPr lang="en-US" sz="850" dirty="0">
                <a:solidFill>
                  <a:srgbClr val="9ECBFF"/>
                </a:solidFill>
                <a:latin typeface="Courier New" pitchFamily="34" charset="0"/>
                <a:ea typeface="Courier New" pitchFamily="34" charset="-122"/>
                <a:cs typeface="Courier New" pitchFamily="34" charset="-120"/>
              </a:rPr>
              <a:t>'lose_m2_m3_sign_with_m1'</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 False)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a:t>
            </a:r>
            <a:r>
              <a:rPr lang="en-US" sz="850" dirty="0">
                <a:solidFill>
                  <a:srgbClr val="9ECBFF"/>
                </a:solidFill>
                <a:latin typeface="Courier New" pitchFamily="34" charset="0"/>
                <a:ea typeface="Courier New" pitchFamily="34" charset="-122"/>
                <a:cs typeface="Courier New" pitchFamily="34" charset="-120"/>
              </a:rPr>
              <a:t>'b6_single_vsize'</a:t>
            </a:r>
            <a:r>
              <a:rPr lang="en-US" sz="850" dirty="0">
                <a:solidFill>
                  <a:srgbClr val="E6EDF3"/>
                </a:solidFill>
                <a:latin typeface="Courier New" pitchFamily="34" charset="0"/>
                <a:ea typeface="Courier New" pitchFamily="34" charset="-122"/>
                <a:cs typeface="Courier New" pitchFamily="34" charset="-120"/>
              </a:rPr>
              <a:t>], s[</a:t>
            </a:r>
            <a:r>
              <a:rPr lang="en-US" sz="850" dirty="0">
                <a:solidFill>
                  <a:srgbClr val="9ECBFF"/>
                </a:solidFill>
                <a:latin typeface="Courier New" pitchFamily="34" charset="0"/>
                <a:ea typeface="Courier New" pitchFamily="34" charset="-122"/>
                <a:cs typeface="Courier New" pitchFamily="34" charset="-120"/>
              </a:rPr>
              <a:t>'vsize'</a:t>
            </a:r>
            <a:r>
              <a:rPr lang="en-US" sz="850" dirty="0">
                <a:solidFill>
                  <a:srgbClr val="E6EDF3"/>
                </a:solidFill>
                <a:latin typeface="Courier New" pitchFamily="34" charset="0"/>
                <a:ea typeface="Courier New" pitchFamily="34" charset="-122"/>
                <a:cs typeface="Courier New" pitchFamily="34" charset="-120"/>
              </a:rPr>
              <a:t>], o[</a:t>
            </a:r>
            <a:r>
              <a:rPr lang="en-US" sz="850" dirty="0">
                <a:solidFill>
                  <a:srgbClr val="9ECBFF"/>
                </a:solidFill>
                <a:latin typeface="Courier New" pitchFamily="34" charset="0"/>
                <a:ea typeface="Courier New" pitchFamily="34" charset="-122"/>
                <a:cs typeface="Courier New" pitchFamily="34" charset="-120"/>
              </a:rPr>
              <a:t>'sortedmulti_same'</a:t>
            </a:r>
            <a:r>
              <a:rPr lang="en-US" sz="850" dirty="0">
                <a:solidFill>
                  <a:srgbClr val="E6EDF3"/>
                </a:solidFill>
                <a:latin typeface="Courier New" pitchFamily="34" charset="0"/>
                <a:ea typeface="Courier New" pitchFamily="34" charset="-122"/>
                <a:cs typeface="Courier New" pitchFamily="34" charset="-120"/>
              </a:rPr>
              <a:t>], o[</a:t>
            </a:r>
            <a:r>
              <a:rPr lang="en-US" sz="850" dirty="0">
                <a:solidFill>
                  <a:srgbClr val="9ECBFF"/>
                </a:solidFill>
                <a:latin typeface="Courier New" pitchFamily="34" charset="0"/>
                <a:ea typeface="Courier New" pitchFamily="34" charset="-122"/>
                <a:cs typeface="Courier New" pitchFamily="34" charset="-120"/>
              </a:rPr>
              <a:t>'multi_same'</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(110, 146, True, False)</a:t>
            </a:r>
            <a:endParaRPr lang="en-US" sz="850" dirty="0"/>
          </a:p>
        </p:txBody>
      </p:sp>
      <p:sp>
        <p:nvSpPr>
          <p:cNvPr id="16" name="Text 13"/>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of three keys survive one loss, and cost 36 more virtual bytes</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Odds of losing or being robbed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extra locks on a door: fewer break-ins, but more ways to lock yourself out</a:t>
            </a:r>
            <a:endParaRPr lang="en-US" sz="1300" dirty="0"/>
          </a:p>
        </p:txBody>
      </p:sp>
      <p:sp>
        <p:nvSpPr>
          <p:cNvPr id="6" name="Shape 4"/>
          <p:cNvSpPr/>
          <p:nvPr/>
        </p:nvSpPr>
        <p:spPr>
          <a:xfrm>
            <a:off x="457200" y="146456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1: with each key lost at 0.1, a 2-of-3 setup is stuck at 0.028 and a 1-of-3 at 0.001, a single key at 0.1</a:t>
            </a:r>
            <a:endParaRPr lang="en-US" sz="1000" dirty="0"/>
          </a:p>
        </p:txBody>
      </p:sp>
      <p:sp>
        <p:nvSpPr>
          <p:cNvPr id="8" name="Shape 6"/>
          <p:cNvSpPr/>
          <p:nvPr/>
        </p:nvSpPr>
        <p:spPr>
          <a:xfrm>
            <a:off x="457200" y="199796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952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with each key stolen at 0.05, 2-of-3 is robbed at 0.00725, but 1-of-3 at 0.14263</a:t>
            </a:r>
            <a:endParaRPr lang="en-US" sz="1000" dirty="0"/>
          </a:p>
        </p:txBody>
      </p:sp>
      <p:sp>
        <p:nvSpPr>
          <p:cNvPr id="10" name="Shape 8"/>
          <p:cNvSpPr/>
          <p:nvPr/>
        </p:nvSpPr>
        <p:spPr>
          <a:xfrm>
            <a:off x="457200" y="25313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3286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at a loss chance of 0.5 the 2-of-3 is no better than one key (0.5); keys are assumed independent</a:t>
            </a:r>
            <a:endParaRPr lang="en-US" sz="1000" dirty="0"/>
          </a:p>
        </p:txBody>
      </p:sp>
      <p:graphicFrame>
        <p:nvGraphicFramePr>
          <p:cNvPr id="12" name="Chart 0" descr=""/>
          <p:cNvGraphicFramePr/>
          <p:nvPr/>
        </p:nvGraphicFramePr>
        <p:xfrm>
          <a:off x="4846320" y="1261872"/>
          <a:ext cx="1920240" cy="1600200"/>
        </p:xfrm>
        <a:graphic xmlns:a="http://schemas.openxmlformats.org/drawingml/2006/main">
          <a:graphicData uri="http://schemas.openxmlformats.org/drawingml/2006/chart">
            <c:chart xmlns:c="http://schemas.openxmlformats.org/drawingml/2006/chart" r:id="rId1"/>
          </a:graphicData>
        </a:graphic>
      </p:graphicFrame>
      <p:graphicFrame>
        <p:nvGraphicFramePr>
          <p:cNvPr id="13" name="Chart 1" descr=""/>
          <p:cNvGraphicFramePr/>
          <p:nvPr/>
        </p:nvGraphicFramePr>
        <p:xfrm>
          <a:off x="6766560" y="1261872"/>
          <a:ext cx="1920240" cy="1600200"/>
        </p:xfrm>
        <a:graphic xmlns:a="http://schemas.openxmlformats.org/drawingml/2006/main">
          <a:graphicData uri="http://schemas.openxmlformats.org/drawingml/2006/chart">
            <c:chart xmlns:c="http://schemas.openxmlformats.org/drawingml/2006/chart" r:id="rId2"/>
          </a:graphicData>
        </a:graphic>
      </p:graphicFrame>
      <p:sp>
        <p:nvSpPr>
          <p:cNvPr id="14" name="Text 10"/>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chapter's own formulas; the chances are assumptions</a:t>
            </a:r>
            <a:endParaRPr lang="en-US" sz="1150" dirty="0"/>
          </a:p>
        </p:txBody>
      </p:sp>
      <p:sp>
        <p:nvSpPr>
          <p:cNvPr id="15" name="Shape 11"/>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6" name="Text 12"/>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[round(L.p_lose(</a:t>
            </a:r>
            <a:r>
              <a:rPr lang="en-US" sz="1000" dirty="0">
                <a:solidFill>
                  <a:srgbClr val="FFD28A"/>
                </a:solidFill>
                <a:latin typeface="Courier New" pitchFamily="34" charset="0"/>
                <a:ea typeface="Courier New" pitchFamily="34" charset="-122"/>
                <a:cs typeface="Courier New" pitchFamily="34" charset="-120"/>
              </a:rPr>
              <a:t>0.1</a:t>
            </a:r>
            <a:r>
              <a:rPr lang="en-US" sz="1000" dirty="0">
                <a:solidFill>
                  <a:srgbClr val="E6EDF3"/>
                </a:solidFill>
                <a:latin typeface="Courier New" pitchFamily="34" charset="0"/>
                <a:ea typeface="Courier New" pitchFamily="34" charset="-122"/>
                <a:cs typeface="Courier New" pitchFamily="34" charset="-120"/>
              </a:rPr>
              <a:t>, m, n),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m,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[0.1, 0.028, 0.001]</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[round(L.p_theft(</a:t>
            </a:r>
            <a:r>
              <a:rPr lang="en-US" sz="1000" dirty="0">
                <a:solidFill>
                  <a:srgbClr val="FFD28A"/>
                </a:solidFill>
                <a:latin typeface="Courier New" pitchFamily="34" charset="0"/>
                <a:ea typeface="Courier New" pitchFamily="34" charset="-122"/>
                <a:cs typeface="Courier New" pitchFamily="34" charset="-120"/>
              </a:rPr>
              <a:t>0.05</a:t>
            </a:r>
            <a:r>
              <a:rPr lang="en-US" sz="1000" dirty="0">
                <a:solidFill>
                  <a:srgbClr val="E6EDF3"/>
                </a:solidFill>
                <a:latin typeface="Courier New" pitchFamily="34" charset="0"/>
                <a:ea typeface="Courier New" pitchFamily="34" charset="-122"/>
                <a:cs typeface="Courier New" pitchFamily="34" charset="-120"/>
              </a:rPr>
              <a:t>, m, n), </a:t>
            </a:r>
            <a:r>
              <a:rPr lang="en-US" sz="1000" dirty="0">
                <a:solidFill>
                  <a:srgbClr val="FFD28A"/>
                </a:solidFill>
                <a:latin typeface="Courier New" pitchFamily="34" charset="0"/>
                <a:ea typeface="Courier New" pitchFamily="34" charset="-122"/>
                <a:cs typeface="Courier New" pitchFamily="34" charset="-120"/>
              </a:rPr>
              <a:t>5</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m,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[0.05, 0.00725, 0.14263]</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round(L.p_lose(</a:t>
            </a:r>
            <a:r>
              <a:rPr lang="en-US" sz="1000" dirty="0">
                <a:solidFill>
                  <a:srgbClr val="FFD28A"/>
                </a:solidFill>
                <a:latin typeface="Courier New" pitchFamily="34" charset="0"/>
                <a:ea typeface="Courier New" pitchFamily="34" charset="-122"/>
                <a:cs typeface="Courier New" pitchFamily="34" charset="-120"/>
              </a:rPr>
              <a:t>0.5</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0.5</a:t>
            </a:r>
            <a:endParaRPr lang="en-US" sz="1000" dirty="0"/>
          </a:p>
        </p:txBody>
      </p:sp>
      <p:sp>
        <p:nvSpPr>
          <p:cNvPr id="17" name="Text 13"/>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More keys trade the risk of loss against the risk of theft</a:t>
            </a:r>
            <a:endParaRPr lang="en-US" sz="1350" dirty="0"/>
          </a:p>
        </p:txBody>
      </p:sp>
      <p:sp>
        <p:nvSpPr>
          <p:cNvPr id="20"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An heir who must wait ten blocks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will with a waiting period: the heir can claim only after the owner stays silent</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7" name="Shape 5"/>
          <p:cNvSpPr/>
          <p:nvPr/>
        </p:nvSpPr>
        <p:spPr>
          <a:xfrm>
            <a:off x="457200" y="1554480"/>
            <a:ext cx="8229600" cy="1645920"/>
          </a:xfrm>
          <a:prstGeom prst="roundRect">
            <a:avLst>
              <a:gd name="adj" fmla="val 5556"/>
            </a:avLst>
          </a:prstGeom>
          <a:solidFill>
            <a:srgbClr val="23272E"/>
          </a:solidFill>
          <a:ln w="12700">
            <a:solidFill>
              <a:srgbClr val="23272E"/>
            </a:solidFill>
            <a:prstDash val="solid"/>
          </a:ln>
        </p:spPr>
      </p:sp>
      <p:sp>
        <p:nvSpPr>
          <p:cNvPr id="8" name="Text 6"/>
          <p:cNvSpPr txBox="1"/>
          <p:nvPr/>
        </p:nvSpPr>
        <p:spPr>
          <a:xfrm>
            <a:off x="640080" y="1673352"/>
            <a:ext cx="7863840" cy="14081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h, lim = R[</a:t>
            </a:r>
            <a:r>
              <a:rPr lang="en-US" sz="920" dirty="0">
                <a:solidFill>
                  <a:srgbClr val="9ECBFF"/>
                </a:solidFill>
                <a:latin typeface="Courier New" pitchFamily="34" charset="0"/>
                <a:ea typeface="Courier New" pitchFamily="34" charset="-122"/>
                <a:cs typeface="Courier New" pitchFamily="34" charset="-120"/>
              </a:rPr>
              <a:t>'b7_heir'</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'b7_limits'</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R[</a:t>
            </a:r>
            <a:r>
              <a:rPr lang="en-US" sz="920" dirty="0">
                <a:solidFill>
                  <a:srgbClr val="9ECBFF"/>
                </a:solidFill>
                <a:latin typeface="Courier New" pitchFamily="34" charset="0"/>
                <a:ea typeface="Courier New" pitchFamily="34" charset="-122"/>
                <a:cs typeface="Courier New" pitchFamily="34" charset="-120"/>
              </a:rPr>
              <a:t>'b7_owner'</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'b7_descriptor'</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'policy'</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'or(owner, and(heir, older 10))')</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[h[k][</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 </a:t>
            </a:r>
            <a:r>
              <a:rPr lang="en-US" sz="920" b="1" dirty="0">
                <a:solidFill>
                  <a:srgbClr val="F2A860"/>
                </a:solidFill>
                <a:latin typeface="Courier New" pitchFamily="34" charset="0"/>
                <a:ea typeface="Courier New" pitchFamily="34" charset="-122"/>
                <a:cs typeface="Courier New" pitchFamily="34" charset="-120"/>
              </a:rPr>
              <a:t>for</a:t>
            </a:r>
            <a:r>
              <a:rPr lang="en-US" sz="920" dirty="0">
                <a:solidFill>
                  <a:srgbClr val="E6EDF3"/>
                </a:solidFill>
                <a:latin typeface="Courier New" pitchFamily="34" charset="0"/>
                <a:ea typeface="Courier New" pitchFamily="34" charset="-122"/>
                <a:cs typeface="Courier New" pitchFamily="34" charset="-120"/>
              </a:rPr>
              <a:t> k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'at_1_conf'</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'at_9_conf'</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'at_10_conf'</a:t>
            </a:r>
            <a:r>
              <a:rPr lang="en-US" sz="920" dirty="0">
                <a:solidFill>
                  <a:srgbClr val="E6EDF3"/>
                </a:solidFill>
                <a:latin typeface="Courier New" pitchFamily="34" charset="0"/>
                <a:ea typeface="Courier New" pitchFamily="34" charset="-122"/>
                <a:cs typeface="Courier New" pitchFamily="34" charset="-120"/>
              </a:rPr>
              <a:t>)], h[</a:t>
            </a:r>
            <a:r>
              <a:rPr lang="en-US" sz="920" dirty="0">
                <a:solidFill>
                  <a:srgbClr val="9ECBFF"/>
                </a:solidFill>
                <a:latin typeface="Courier New" pitchFamily="34" charset="0"/>
                <a:ea typeface="Courier New" pitchFamily="34" charset="-122"/>
                <a:cs typeface="Courier New" pitchFamily="34" charset="-120"/>
              </a:rPr>
              <a:t>'at_9_conf'</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'reject_reason'</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([False, False, True], 'non-BIP68-final')</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lim[</a:t>
            </a:r>
            <a:r>
              <a:rPr lang="en-US" sz="920" dirty="0">
                <a:solidFill>
                  <a:srgbClr val="9ECBFF"/>
                </a:solidFill>
                <a:latin typeface="Courier New" pitchFamily="34" charset="0"/>
                <a:ea typeface="Courier New" pitchFamily="34" charset="-122"/>
                <a:cs typeface="Courier New" pitchFamily="34" charset="-120"/>
              </a:rPr>
              <a:t>'65535'</a:t>
            </a:r>
            <a:r>
              <a:rPr lang="en-US" sz="920" dirty="0">
                <a:solidFill>
                  <a:srgbClr val="E6EDF3"/>
                </a:solidFill>
                <a:latin typeface="Courier New" pitchFamily="34" charset="0"/>
                <a:ea typeface="Courier New" pitchFamily="34" charset="-122"/>
                <a:cs typeface="Courier New" pitchFamily="34" charset="-120"/>
              </a:rPr>
              <a:t>], lim[</a:t>
            </a:r>
            <a:r>
              <a:rPr lang="en-US" sz="920" dirty="0">
                <a:solidFill>
                  <a:srgbClr val="9ECBFF"/>
                </a:solidFill>
                <a:latin typeface="Courier New" pitchFamily="34" charset="0"/>
                <a:ea typeface="Courier New" pitchFamily="34" charset="-122"/>
                <a:cs typeface="Courier New" pitchFamily="34" charset="-120"/>
              </a:rPr>
              <a:t>'65536'</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'b7_older_65536'</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'b7_older_65536'</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'confirmations'</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({'ok': True}, {'ok': True}, True, 1)</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round(</a:t>
            </a:r>
            <a:r>
              <a:rPr lang="en-US" sz="920" dirty="0">
                <a:solidFill>
                  <a:srgbClr val="FFD28A"/>
                </a:solidFill>
                <a:latin typeface="Courier New" pitchFamily="34" charset="0"/>
                <a:ea typeface="Courier New" pitchFamily="34" charset="-122"/>
                <a:cs typeface="Courier New" pitchFamily="34" charset="-120"/>
              </a:rPr>
              <a:t>65535</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10</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1440</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 round(R[</a:t>
            </a:r>
            <a:r>
              <a:rPr lang="en-US" sz="920" dirty="0">
                <a:solidFill>
                  <a:srgbClr val="9ECBFF"/>
                </a:solidFill>
                <a:latin typeface="Courier New" pitchFamily="34" charset="0"/>
                <a:ea typeface="Courier New" pitchFamily="34" charset="-122"/>
                <a:cs typeface="Courier New" pitchFamily="34" charset="-120"/>
              </a:rPr>
              <a:t>'b7_unit_seconds_x65535'</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86400</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(455.1, 388.4)</a:t>
            </a:r>
            <a:endParaRPr lang="en-US" sz="920" dirty="0"/>
          </a:p>
        </p:txBody>
      </p:sp>
      <p:sp>
        <p:nvSpPr>
          <p:cNvPr id="9" name="Text 7"/>
          <p:cNvSpPr txBox="1"/>
          <p:nvPr/>
        </p:nvSpPr>
        <p:spPr>
          <a:xfrm>
            <a:off x="457200" y="32186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50920"/>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520440"/>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3: the owner spends at once; the heir is refused at 1 and 9 confirmations and accepted at 10</a:t>
            </a:r>
            <a:endParaRPr lang="en-US" sz="1000" dirty="0"/>
          </a:p>
        </p:txBody>
      </p:sp>
      <p:sp>
        <p:nvSpPr>
          <p:cNvPr id="12" name="Shape 10"/>
          <p:cNvSpPr/>
          <p:nvPr/>
        </p:nvSpPr>
        <p:spPr>
          <a:xfrm>
            <a:off x="457200" y="373989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709416"/>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older(65536) was accepted by Core 31.1, but BIP 68 reads 16 bits: the heir could spend after 1 block</a:t>
            </a:r>
            <a:endParaRPr lang="en-US" sz="1000" dirty="0"/>
          </a:p>
        </p:txBody>
      </p:sp>
      <p:sp>
        <p:nvSpPr>
          <p:cNvPr id="14" name="Shape 12"/>
          <p:cNvSpPr/>
          <p:nvPr/>
        </p:nvSpPr>
        <p:spPr>
          <a:xfrm>
            <a:off x="457200" y="392887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898392"/>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the longest honest wait is 65,535 blocks, 455.1 days, or 65,535 units of 512 seconds, 388.4 days</a:t>
            </a:r>
            <a:endParaRPr lang="en-US" sz="1000" dirty="0"/>
          </a:p>
        </p:txBody>
      </p:sp>
      <p:sp>
        <p:nvSpPr>
          <p:cNvPr id="16" name="Text 14"/>
          <p:cNvSpPr txBox="1"/>
          <p:nvPr/>
        </p:nvSpPr>
        <p:spPr>
          <a:xfrm>
            <a:off x="457200" y="4187952"/>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estate planning with a lawyer; only the script rule was tested, on regtest.</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heir path waits for confirmations, and a value over 65,535 wraps around</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Shamir: three pieces, any two open it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map torn in three: any two pieces show the spot, one shows nothing</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chapter's own Shamir library over a prime field</a:t>
            </a:r>
            <a:endParaRPr lang="en-US" sz="1150" dirty="0"/>
          </a:p>
        </p:txBody>
      </p:sp>
      <p:sp>
        <p:nvSpPr>
          <p:cNvPr id="7" name="Shape 5"/>
          <p:cNvSpPr/>
          <p:nvPr/>
        </p:nvSpPr>
        <p:spPr>
          <a:xfrm>
            <a:off x="457200" y="1554480"/>
            <a:ext cx="8229600" cy="1371600"/>
          </a:xfrm>
          <a:prstGeom prst="roundRect">
            <a:avLst>
              <a:gd name="adj" fmla="val 6667"/>
            </a:avLst>
          </a:prstGeom>
          <a:solidFill>
            <a:srgbClr val="23272E"/>
          </a:solidFill>
          <a:ln w="12700">
            <a:solidFill>
              <a:srgbClr val="23272E"/>
            </a:solidFill>
            <a:prstDash val="solid"/>
          </a:ln>
        </p:spPr>
      </p:sp>
      <p:sp>
        <p:nvSpPr>
          <p:cNvPr id="8" name="Text 6"/>
          <p:cNvSpPr txBox="1"/>
          <p:nvPr/>
        </p:nvSpPr>
        <p:spPr>
          <a:xfrm>
            <a:off x="640080" y="1673352"/>
            <a:ext cx="7863840" cy="113385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sh, c = L.shamir_split(</a:t>
            </a:r>
            <a:r>
              <a:rPr lang="en-US" sz="950" dirty="0">
                <a:solidFill>
                  <a:srgbClr val="FFD28A"/>
                </a:solidFill>
                <a:latin typeface="Courier New" pitchFamily="34" charset="0"/>
                <a:ea typeface="Courier New" pitchFamily="34" charset="-122"/>
                <a:cs typeface="Courier New" pitchFamily="34" charset="-120"/>
              </a:rPr>
              <a:t>123456789</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3</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987654321</a:t>
            </a:r>
            <a:r>
              <a:rPr lang="en-US" sz="950" dirty="0">
                <a:solidFill>
                  <a:srgbClr val="E6EDF3"/>
                </a:solidFill>
                <a:latin typeface="Courier New" pitchFamily="34" charset="0"/>
                <a:ea typeface="Courier New" pitchFamily="34" charset="-122"/>
                <a:cs typeface="Courier New" pitchFamily="34" charset="-120"/>
              </a:rPr>
              <a:t>]), L.shamir_candidates((</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100</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sh</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[(1, 1111111110), (2, 2098765431), (3, 3086419752)]</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[L.shamir_recover(x)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x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(sh[:</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sh[</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L.shamir_recover(sh[:</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 </a:t>
            </a:r>
            <a:r>
              <a:rPr lang="en-US" sz="950" dirty="0">
                <a:solidFill>
                  <a:srgbClr val="FFD28A"/>
                </a:solidFill>
                <a:latin typeface="Courier New" pitchFamily="34" charset="0"/>
                <a:ea typeface="Courier New" pitchFamily="34" charset="-122"/>
                <a:cs typeface="Courier New" pitchFamily="34" charset="-120"/>
              </a:rPr>
              <a:t>123456789</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([123456789, 123456789], False)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len(c), len({s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s, _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c}), len({sl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_, sl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c})</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(257, 257, 257)</a:t>
            </a:r>
            <a:endParaRPr lang="en-US" sz="950" dirty="0"/>
          </a:p>
        </p:txBody>
      </p:sp>
      <p:sp>
        <p:nvSpPr>
          <p:cNvPr id="9" name="Text 7"/>
          <p:cNvSpPr txBox="1"/>
          <p:nvPr/>
        </p:nvSpPr>
        <p:spPr>
          <a:xfrm>
            <a:off x="457200" y="29443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33451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29184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3: a secret is split in three shares; any two recover it, one share alone does not (False)</a:t>
            </a:r>
            <a:endParaRPr lang="en-US" sz="1000" dirty="0"/>
          </a:p>
        </p:txBody>
      </p:sp>
      <p:sp>
        <p:nvSpPr>
          <p:cNvPr id="12" name="Shape 10"/>
          <p:cNvSpPr/>
          <p:nvPr/>
        </p:nvSpPr>
        <p:spPr>
          <a:xfrm>
            <a:off x="457200" y="35478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50520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over the field 257, one share fits all 257 possible secrets: it leaves the secret undetermined</a:t>
            </a:r>
            <a:endParaRPr lang="en-US" sz="1000" dirty="0"/>
          </a:p>
        </p:txBody>
      </p:sp>
      <p:sp>
        <p:nvSpPr>
          <p:cNvPr id="14" name="Shape 12"/>
          <p:cNvSpPr/>
          <p:nvPr/>
        </p:nvSpPr>
        <p:spPr>
          <a:xfrm>
            <a:off x="457200" y="37612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3718560"/>
            <a:ext cx="7955280" cy="21336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The chapter does not mention Shamir; BIP 93 (codex32, a draft) and SLIP 39 use the idea for seed words</a:t>
            </a:r>
            <a:endParaRPr lang="en-US" sz="1000" dirty="0"/>
          </a:p>
        </p:txBody>
      </p:sp>
      <p:sp>
        <p:nvSpPr>
          <p:cNvPr id="16" name="Text 14"/>
          <p:cNvSpPr txBox="1"/>
          <p:nvPr/>
        </p:nvSpPr>
        <p:spPr>
          <a:xfrm>
            <a:off x="457200" y="4023360"/>
            <a:ext cx="8229600" cy="256032"/>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Shamir sharing inside a wallet; the shares were made by the chapter's own library.</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Any two of three shares recover the secret, and one share reveals nothing</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exchange that held the keys of everyone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24 February 2014: who, where, when and what to read next</a:t>
            </a:r>
            <a:endParaRPr lang="en-US" sz="1300" dirty="0"/>
          </a:p>
        </p:txBody>
      </p:sp>
      <p:pic>
        <p:nvPicPr>
          <p:cNvPr id="6" name="Image 0" descr="../../03-materials/ch13/assets/mtgox_letter.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Letter regarding Mt.Gox - NetSPI, CC BY 2.0, Flickr</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24 February 2014 Mt. Gox of Shibuya, Tokyo, suspended all trading, after halting withdrawals on 7 February</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leaked document claimed 744,408 bitcoins stolen unseen for years; it had over 70% of all trades (row 2)</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Counts differ: 850,000 less the 199,999.99 found gives 650,000.01 (row 3). NOT EXECUTED: an exchange breach</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Wikipedia page on Mt. Gox, saved on 2026-10-15</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t = </a:t>
            </a:r>
            <a:r>
              <a:rPr lang="en-US" sz="900" dirty="0">
                <a:solidFill>
                  <a:srgbClr val="9ECBFF"/>
                </a:solidFill>
                <a:latin typeface="Courier New" pitchFamily="34" charset="0"/>
                <a:ea typeface="Courier New" pitchFamily="34" charset="-122"/>
                <a:cs typeface="Courier New" pitchFamily="34" charset="-120"/>
              </a:rPr>
              <a:t>'wikipedia_mt_gox.txt'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seen(t, </a:t>
            </a:r>
            <a:r>
              <a:rPr lang="en-US" sz="900" dirty="0">
                <a:solidFill>
                  <a:srgbClr val="9ECBFF"/>
                </a:solidFill>
                <a:latin typeface="Courier New" pitchFamily="34" charset="0"/>
                <a:ea typeface="Courier New" pitchFamily="34" charset="-122"/>
                <a:cs typeface="Courier New" pitchFamily="34" charset="-120"/>
              </a:rPr>
              <a:t>'744,408 bitcoins'</a:t>
            </a:r>
            <a:r>
              <a:rPr lang="en-US" sz="900" dirty="0">
                <a:solidFill>
                  <a:srgbClr val="E6EDF3"/>
                </a:solidFill>
                <a:latin typeface="Courier New" pitchFamily="34" charset="0"/>
                <a:ea typeface="Courier New" pitchFamily="34" charset="-122"/>
                <a:cs typeface="Courier New" pitchFamily="34" charset="-120"/>
              </a:rPr>
              <a:t>), seen(t, </a:t>
            </a:r>
            <a:r>
              <a:rPr lang="en-US" sz="900" dirty="0">
                <a:solidFill>
                  <a:srgbClr val="9ECBFF"/>
                </a:solidFill>
                <a:latin typeface="Courier New" pitchFamily="34" charset="0"/>
                <a:ea typeface="Courier New" pitchFamily="34" charset="-122"/>
                <a:cs typeface="Courier New" pitchFamily="34" charset="-120"/>
              </a:rPr>
              <a:t>'over 70% of all bitcoin'</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round(</a:t>
            </a:r>
            <a:r>
              <a:rPr lang="en-US" sz="900" dirty="0">
                <a:solidFill>
                  <a:srgbClr val="FFD28A"/>
                </a:solidFill>
                <a:latin typeface="Courier New" pitchFamily="34" charset="0"/>
                <a:ea typeface="Courier New" pitchFamily="34" charset="-122"/>
                <a:cs typeface="Courier New" pitchFamily="34" charset="-120"/>
              </a:rPr>
              <a:t>850000</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199999.99</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 seen(t, </a:t>
            </a:r>
            <a:r>
              <a:rPr lang="en-US" sz="900" dirty="0">
                <a:solidFill>
                  <a:srgbClr val="9ECBFF"/>
                </a:solidFill>
                <a:latin typeface="Courier New" pitchFamily="34" charset="0"/>
                <a:ea typeface="Courier New" pitchFamily="34" charset="-122"/>
                <a:cs typeface="Courier New" pitchFamily="34" charset="-120"/>
              </a:rPr>
              <a:t>'199,999.99'</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(650000.01, True)</a:t>
            </a:r>
            <a:endParaRPr lang="en-US" sz="9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Mark Karpeles, who bought the site in …</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exchange Mt. Gox in Shibuya, Tokyo…</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2014-02-24</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letter about the bankruptcy, not the theft.</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Three pieces of a key, any two will do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1 November 1979: who, where, when and what to read next</a:t>
            </a:r>
            <a:endParaRPr lang="en-US" sz="1300" dirty="0"/>
          </a:p>
        </p:txBody>
      </p:sp>
      <p:pic>
        <p:nvPicPr>
          <p:cNvPr id="6" name="Image 0" descr="../../03-materials/ch13/assets/adi_shamir.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Adi Shamir Royal Society - Duncan Hull, CC BY-SA 4.0,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In November 1979 Adi Shamir, then at MIT, publishes How to Share a Secret in the Communications of the ACM</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Any k pieces recover the secret; k minus 1 pieces leave it completely undetermined (row 3)</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Here two of three shares gave back 123456789 (row 2); codex32 and SLIP 39 use the same idea</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saved 1979 paper and the chapter's Shamir library</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sh = L.shamir_split(</a:t>
            </a:r>
            <a:r>
              <a:rPr lang="en-US" sz="860" dirty="0">
                <a:solidFill>
                  <a:srgbClr val="FFD28A"/>
                </a:solidFill>
                <a:latin typeface="Courier New" pitchFamily="34" charset="0"/>
                <a:ea typeface="Courier New" pitchFamily="34" charset="-122"/>
                <a:cs typeface="Courier New" pitchFamily="34" charset="-120"/>
              </a:rPr>
              <a:t>123456789</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FFD28A"/>
                </a:solidFill>
                <a:latin typeface="Courier New" pitchFamily="34" charset="0"/>
                <a:ea typeface="Courier New" pitchFamily="34" charset="-122"/>
                <a:cs typeface="Courier New" pitchFamily="34" charset="-120"/>
              </a:rPr>
              <a:t>2</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FFD28A"/>
                </a:solidFill>
                <a:latin typeface="Courier New" pitchFamily="34" charset="0"/>
                <a:ea typeface="Courier New" pitchFamily="34" charset="-122"/>
                <a:cs typeface="Courier New" pitchFamily="34" charset="-120"/>
              </a:rPr>
              <a:t>3</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FFD28A"/>
                </a:solidFill>
                <a:latin typeface="Courier New" pitchFamily="34" charset="0"/>
                <a:ea typeface="Courier New" pitchFamily="34" charset="-122"/>
                <a:cs typeface="Courier New" pitchFamily="34" charset="-120"/>
              </a:rPr>
              <a:t>987654321</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L.shamir_recover(sh[:</a:t>
            </a:r>
            <a:r>
              <a:rPr lang="en-US" sz="860" dirty="0">
                <a:solidFill>
                  <a:srgbClr val="FFD28A"/>
                </a:solidFill>
                <a:latin typeface="Courier New" pitchFamily="34" charset="0"/>
                <a:ea typeface="Courier New" pitchFamily="34" charset="-122"/>
                <a:cs typeface="Courier New" pitchFamily="34" charset="-120"/>
              </a:rPr>
              <a:t>2</a:t>
            </a:r>
            <a:r>
              <a:rPr lang="en-US" sz="860" dirty="0">
                <a:solidFill>
                  <a:srgbClr val="E6EDF3"/>
                </a:solidFill>
                <a:latin typeface="Courier New" pitchFamily="34" charset="0"/>
                <a:ea typeface="Courier New" pitchFamily="34" charset="-122"/>
                <a:cs typeface="Courier New" pitchFamily="34" charset="-120"/>
              </a:rPr>
              <a:t>]), L.shamir_recover(sh[</a:t>
            </a:r>
            <a:r>
              <a:rPr lang="en-US" sz="860" dirty="0">
                <a:solidFill>
                  <a:srgbClr val="FFD28A"/>
                </a:solidFill>
                <a:latin typeface="Courier New" pitchFamily="34" charset="0"/>
                <a:ea typeface="Courier New" pitchFamily="34" charset="-122"/>
                <a:cs typeface="Courier New" pitchFamily="34" charset="-120"/>
              </a:rPr>
              <a:t>1</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(123456789, 123456789)</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seen(sm, </a:t>
            </a:r>
            <a:r>
              <a:rPr lang="en-US" sz="860" dirty="0">
                <a:solidFill>
                  <a:srgbClr val="9ECBFF"/>
                </a:solidFill>
                <a:latin typeface="Courier New" pitchFamily="34" charset="0"/>
                <a:ea typeface="Courier New" pitchFamily="34" charset="-122"/>
                <a:cs typeface="Courier New" pitchFamily="34" charset="-120"/>
              </a:rPr>
              <a:t>'(k, n) threshold scheme'</a:t>
            </a:r>
            <a:r>
              <a:rPr lang="en-US" sz="860" dirty="0">
                <a:solidFill>
                  <a:srgbClr val="E6EDF3"/>
                </a:solidFill>
                <a:latin typeface="Courier New" pitchFamily="34" charset="0"/>
                <a:ea typeface="Courier New" pitchFamily="34" charset="-122"/>
                <a:cs typeface="Courier New" pitchFamily="34" charset="-120"/>
              </a:rPr>
              <a:t>), seen(sm, </a:t>
            </a:r>
            <a:r>
              <a:rPr lang="en-US" sz="860" dirty="0">
                <a:solidFill>
                  <a:srgbClr val="9ECBFF"/>
                </a:solidFill>
                <a:latin typeface="Courier New" pitchFamily="34" charset="0"/>
                <a:ea typeface="Courier New" pitchFamily="34" charset="-122"/>
                <a:cs typeface="Courier New" pitchFamily="34" charset="-120"/>
              </a:rPr>
              <a:t>'completely undetermined'</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(True, True)</a:t>
            </a:r>
            <a:endParaRPr lang="en-US" sz="86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Adi Shamir, then at the Massachusetts …</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Communications of the ACM, volume …</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1979-11-01</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idea, each one provable from its slides</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signature covers value and recipient, and traffic between nodes is encrypted by default</a:t>
            </a:r>
            <a:endParaRPr lang="en-US" sz="1250" dirty="0"/>
          </a:p>
        </p:txBody>
      </p:sp>
      <p:sp>
        <p:nvSpPr>
          <p:cNvPr id="9" name="Shape 7"/>
          <p:cNvSpPr/>
          <p:nvPr/>
        </p:nvSpPr>
        <p:spPr>
          <a:xfrm>
            <a:off x="457200" y="198424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842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47672"/>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chain starts from one typed-in block, and a matching hash proves only that a file is the listed one</a:t>
            </a:r>
            <a:endParaRPr lang="en-US" sz="1250" dirty="0"/>
          </a:p>
        </p:txBody>
      </p:sp>
      <p:sp>
        <p:nvSpPr>
          <p:cNvPr id="12" name="Shape 10"/>
          <p:cNvSpPr/>
          <p:nvPr/>
        </p:nvSpPr>
        <p:spPr>
          <a:xfrm>
            <a:off x="457200" y="260604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060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69464"/>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Keys are safer offline or on a device, behind a passphrase, and backed up with their descriptor</a:t>
            </a:r>
            <a:endParaRPr lang="en-US" sz="1250" dirty="0"/>
          </a:p>
        </p:txBody>
      </p:sp>
      <p:sp>
        <p:nvSpPr>
          <p:cNvPr id="15" name="Shape 13"/>
          <p:cNvSpPr/>
          <p:nvPr/>
        </p:nvSpPr>
        <p:spPr>
          <a:xfrm>
            <a:off x="457200" y="322783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278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91256"/>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Seed words are checksummed arithmetic; paper wallets and brainwallets are weak</a:t>
            </a:r>
            <a:endParaRPr lang="en-US" sz="1250" dirty="0"/>
          </a:p>
        </p:txBody>
      </p:sp>
      <p:sp>
        <p:nvSpPr>
          <p:cNvPr id="18" name="Shape 16"/>
          <p:cNvSpPr/>
          <p:nvPr/>
        </p:nvSpPr>
        <p:spPr>
          <a:xfrm>
            <a:off x="457200" y="384962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496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13048"/>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Several keys, a delayed heir or shared secrets trade the risk of loss against the risk of theft</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consoles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2026-10-15;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Optech topic, partially signed transactions  </a:t>
            </a: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bitcoinops.org/en/topics/psbt/</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Optech topic, output script descriptors  </a:t>
            </a: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bitcoinops.org/en/topics/output-script-descriptors/</a:t>
            </a:r>
            <a:endParaRPr lang="en-US" sz="1000" dirty="0"/>
          </a:p>
        </p:txBody>
      </p:sp>
      <p:sp>
        <p:nvSpPr>
          <p:cNvPr id="11" name="Shape 9"/>
          <p:cNvSpPr/>
          <p:nvPr/>
        </p:nvSpPr>
        <p:spPr>
          <a:xfrm>
            <a:off x="493776" y="237744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0428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Optech topic, timelocks  </a:t>
            </a: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bitcoinops.org/en/topics/timelocks/</a:t>
            </a:r>
            <a:endParaRPr lang="en-US" sz="1000" dirty="0"/>
          </a:p>
        </p:txBody>
      </p:sp>
      <p:sp>
        <p:nvSpPr>
          <p:cNvPr id="13" name="Text 11"/>
          <p:cNvSpPr txBox="1"/>
          <p:nvPr/>
        </p:nvSpPr>
        <p:spPr>
          <a:xfrm>
            <a:off x="457200" y="270662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324, encrypted transport  </a:t>
            </a: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bips.dev/324/</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39, mnemonic code  </a:t>
            </a: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bips.dev/39/</a:t>
            </a:r>
            <a:endParaRPr lang="en-US" sz="1000" dirty="0"/>
          </a:p>
        </p:txBody>
      </p:sp>
      <p:sp>
        <p:nvSpPr>
          <p:cNvPr id="18" name="Shape 16"/>
          <p:cNvSpPr/>
          <p:nvPr/>
        </p:nvSpPr>
        <p:spPr>
          <a:xfrm>
            <a:off x="493776" y="371246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39312"/>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Shamir, How to Share a Secret (1979)  </a:t>
            </a: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web.mit.edu/6.857/OldStuff/Fall03/ref/Shamir-HowToShareASecret.pdf</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Stand-up Maths: how to keep an open secret (video)  </a:t>
            </a: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youtube.com/embed/K54ildEW9-Q</a:t>
            </a:r>
            <a:endParaRPr lang="en-US" sz="1000" dirty="0"/>
          </a:p>
        </p:txBody>
      </p:sp>
      <p:sp>
        <p:nvSpPr>
          <p:cNvPr id="23" name="Shape 21"/>
          <p:cNvSpPr/>
          <p:nvPr/>
        </p:nvSpPr>
        <p:spPr>
          <a:xfrm>
            <a:off x="4768596" y="2048256"/>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Unchained: what is bitcoin multisig (video)  </a:t>
            </a: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youtube.com/embed/pOr6dwb7-dw</a:t>
            </a:r>
            <a:endParaRPr lang="en-US" sz="1000" dirty="0"/>
          </a:p>
        </p:txBody>
      </p:sp>
      <p:sp>
        <p:nvSpPr>
          <p:cNvPr id="25" name="Text 23"/>
          <p:cNvSpPr txBox="1"/>
          <p:nvPr/>
        </p:nvSpPr>
        <p:spPr>
          <a:xfrm>
            <a:off x="473202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724912"/>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Optech newsletters  </a:t>
            </a:r>
            <a:r>
              <a:rPr lang="en-US" sz="10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bitcoinops.org/en/newsletters/</a:t>
            </a:r>
            <a:endParaRPr lang="en-US" sz="1000" dirty="0"/>
          </a:p>
        </p:txBody>
      </p:sp>
      <p:sp>
        <p:nvSpPr>
          <p:cNvPr id="28" name="Shape 26"/>
          <p:cNvSpPr/>
          <p:nvPr/>
        </p:nvSpPr>
        <p:spPr>
          <a:xfrm>
            <a:off x="4768596" y="3054096"/>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Delving Bitcoin, research forum  </a:t>
            </a:r>
            <a:r>
              <a:rPr lang="en-US" sz="100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delvingbitcoin.org/</a:t>
            </a:r>
            <a:endParaRPr lang="en-US" sz="1000" dirty="0"/>
          </a:p>
        </p:txBody>
      </p:sp>
      <p:sp>
        <p:nvSpPr>
          <p:cNvPr id="30" name="Shape 28"/>
          <p:cNvSpPr/>
          <p:nvPr/>
        </p:nvSpPr>
        <p:spPr>
          <a:xfrm>
            <a:off x="4768596" y="3383280"/>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bitcoin-dev group  </a:t>
            </a:r>
            <a:r>
              <a:rPr lang="en-US" sz="100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groups.google.com/g/bitcoindev</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the secret-sharing video, then read the Optech topic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txBody>
          <a:bodyPr/>
          <a:p/>
        </p:txBody>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signature protects, and what a node or a download is trusted for</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keys are kept offline, on a device, behind a passphrase and in a backup</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seed words, several keys and shared secrets are made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custody is trust, and what each safeguard costs</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13</dc:title>
  <dc:subject>PptxGenJS Presentation</dc:subject>
  <dc:creator>Yusuf Altunel</dc:creator>
  <cp:lastModifiedBy>Yusuf Altunel</cp:lastModifiedBy>
  <cp:revision>1</cp:revision>
  <dcterms:created xsi:type="dcterms:W3CDTF">2026-10-15T20:24:43Z</dcterms:created>
  <dcterms:modified xsi:type="dcterms:W3CDTF">2026-10-15T20:24:43Z</dcterms:modified>
  <cp:version>1.0.0</cp:version>
</cp:coreProperties>
</file>