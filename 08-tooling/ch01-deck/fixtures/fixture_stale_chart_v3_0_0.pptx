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1.jpg" ContentType="image/jpg"/>
  <Override PartName="/ppt/media/image-14-1.jpg" ContentType="image/jpg"/>
  <Override PartName="/ppt/media/image-15-1.jpg" ContentType="image/jpg"/>
  <Override PartName="/ppt/media/image-18-1.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2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2009</c:v>
                  </c:pt>
                  <c:pt idx="1">
                    <c:v>2012</c:v>
                  </c:pt>
                  <c:pt idx="2">
                    <c:v>2016</c:v>
                  </c:pt>
                  <c:pt idx="3">
                    <c:v>2020</c:v>
                  </c:pt>
                  <c:pt idx="4">
                    <c:v>2024</c:v>
                  </c:pt>
                </c:lvl>
              </c:multiLvlStrCache>
            </c:multiLvlStrRef>
          </c:cat>
          <c:val>
            <c:numRef>
              <c:f>Sheet1!$B$2:$B$6</c:f>
              <c:numCache>
                <c:formatCode>General</c:formatCode>
                <c:ptCount val="5"/>
                <c:pt idx="0">
                  <c:v>51</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issued</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10.5</c:v>
                </c:pt>
                <c:pt idx="1">
                  <c:v>15.75</c:v>
                </c:pt>
                <c:pt idx="2">
                  <c:v>18.375</c:v>
                </c:pt>
                <c:pt idx="3">
                  <c:v>19.6875</c:v>
                </c:pt>
                <c:pt idx="4">
                  <c:v>20.34375</c:v>
                </c:pt>
                <c:pt idx="5">
                  <c:v>20.671875</c:v>
                </c:pt>
                <c:pt idx="6">
                  <c:v>20.835937</c:v>
                </c:pt>
                <c:pt idx="7">
                  <c:v>20.917968</c:v>
                </c:pt>
              </c:numCache>
            </c:numRef>
          </c:val>
          <c:smooth val="0"/>
        </c:ser>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10,000 BTC in dollars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Guesses needed (log axis)</a:t>
            </a:r>
          </a:p>
        </c:rich>
      </c:tx>
      <c:layout/>
      <c:overlay val="0"/>
    </c:title>
    <c:autoTitleDeleted val="0"/>
    <c:plotArea>
      <c:layout/>
      <c:barChart>
        <c:barDir val="col"/>
        <c:grouping val="clustered"/>
        <c:varyColors val="0"/>
        <c:ser>
          <c:idx val="0"/>
          <c:order val="0"/>
          <c:tx>
            <c:strRef>
              <c:f>Sheet1!$B$1</c:f>
              <c:strCache>
                <c:ptCount val="1"/>
                <c:pt idx="0">
                  <c:v>guesses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9</c:v>
                </c:pt>
                <c:pt idx="1">
                  <c:v>223</c:v>
                </c:pt>
                <c:pt idx="2">
                  <c:v>1208</c:v>
                </c:pt>
                <c:pt idx="3">
                  <c:v>57247</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Coin in</c:v>
                  </c:pt>
                  <c:pt idx="1">
                    <c:v>To Bob</c:v>
                  </c:pt>
                  <c:pt idx="2">
                    <c:v>Change</c:v>
                  </c:pt>
                  <c:pt idx="3">
                    <c:v>Fee</c:v>
                  </c:pt>
                </c:lvl>
              </c:multiLvlStrCache>
            </c:multiLvlStrRef>
          </c:cat>
          <c:val>
            <c:numRef>
              <c:f>Sheet1!$B$2:$B$5</c:f>
              <c:numCache>
                <c:formatCode>General</c:formatCode>
                <c:ptCount val="4"/>
                <c:pt idx="0">
                  <c:v>100000</c:v>
                </c:pt>
                <c:pt idx="1">
                  <c:v>20000</c:v>
                </c:pt>
                <c:pt idx="2">
                  <c:v>75000</c:v>
                </c:pt>
                <c:pt idx="3">
                  <c:v>5000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introduces Bitcoin through true stories, the chapter's key concepts with everyday comparisons, and fifteen short programs. Every number on a result picture was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Nine true stories and fifteen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are the chapter's own, rewritten so that each has an answer on a slide. We return to them in the summary. A reader who can answer all six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says that Bitcoin is a collection of concepts and technologies that form the basis of a digital money ecosystem. The six branches are money, network, wallet, usage, foundations and nature. This deck regroups them into 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did not appear from nothing. This part reads the first block, follows the first payment and meets the cryptographers whose parts Nakamoto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Introduction and History of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 January 2009. Satoshi Nakamoto, the pseudonymous creator of Bitcoin, mined block 0 and wrote the headline of that morning's Times into it. The block is a timestamp and a manifesto.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block keeps a short script. Eight bytes of pushes come first, then 69 bytes of text. Decode them and you read The Times of 3 January 2009 inside the chain itself.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12 January 2009. Hal Finney, who had worked on PGP, was the first person besides Satoshi to run Bitcoin and the first to be paid. One peer paid another,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31 October 2008. Chaum's company DigiCash went bankrupt; Back's Hashcash priced email with work; b-money and bit gold were never built. Nakamoto added the missing piece and combined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Chaum's ecash of 1982, Back's Hashcash of 1997, and the b-money and bit gold of 1998 each solved a piece. Nakamoto's paper of 2008 combined them with proof of work as the vote. The genesis block ran in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ledger. We see old forms of money, count in satoshis, run the supply schedule and watch a price being discovered by trades, never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floating exchange rate, Finding the Current Price of Bitcoin, currency exchange and Bitcoin ATM.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documented in 1903. On the island of Yap the stones stayed where they lay and the community remembered who owned them. Money is a ledger, and Bitcoin makes the shared memory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15 August 1971. Money kept changing form, from Mesopotamian grain entries to Lydian coins to bank balances. Cryptocurrency is the next step: a ledger that no single institution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one kind of money, and across a row to see which property changes. Who keeps the ledger is the row that matters most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8 July 2002. The web could sell before it could pay. PayPal solved it by adding a middleman, and the pure digital currencies of the boom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26 February 2022. Mykhailo Fedorov, Ukraine's minister of digital transformation, published donation addresses. The next slide lists four more documented cases from 2007 to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2007, Cyprus 2013, Greece 2015, Venezuela 2018 and Ukraine 2022. In each case banks, cards or cash stopped serving people. Each line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divides into 100 million satoshis. We multiply 0.001 by that number and get exactly 100,000. Amounts in the protocol are whole satoshis, never fractions.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starts at fifty bitcoin. The code shifts it right once per era. Five heights give the staircase from 2009 to 2024, each step exactly half of the one before.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issues its subsidy over 210,000 blocks. Adding 33 eras gives 20,999,999.9769 bitcoin. The chart shows the running total approaching 21 million without reaching it.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trade has its own price, found by dividing dollars by bitcoin. A volume-weighted average gives one fair figure for the day. The three trades are illustrative, not market data.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22 May 2010. Laszlo Hanyecz offered 10,000 bitcoin for two pizzas on a forum and Jeremy Sturdivant ordered them. Price is discovered the first time someone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pizzas cost 41 dollars of bitcoin in May 2010. The same coins at five later milestones draw the chart; the last point is the price fetched on 6 October 2026. Each gridline is ten times more.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bank stands in the middle. Every node checks the same rules, proof of work makes history costly to forge, and fees and confirmations settle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ledger-keeper sees everything and everyone depends on it. On the right every node checks every rule. Remove one node and the network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proof of work, consensus and double-spend.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tries numbers until the hash starts with zeros. Each extra zero makes it about sixteen times longer on average. Anyone checks the winner with a single hash.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wait, miners spend energy on proof of work, a block is found about every ten minutes, and the finder earns subsidy plus fees. Cheating costs more than it could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coin is only a file, and files copy perfectly. Both copies could be spent. For decades only a trusted central ledger could stop that, so digital money meant bank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payment is broadcast and the nodes agree on one order. The first spend of a coin enters the block, and every node refuses the second. The next code slide runs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remembers which coins are spent. Alice pays Bob with coin c1 and it is accepted. When she offers the same coin to Carol, the rule refuses it. No bank decides.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block's hash covers its own text and the hash of the block before. Changing one word in block two makes the check stop there, so nothing after it can be trusted.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confirmation and transaction fee.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of 100,000 satoshis pays 20,000 to Bob and returns 75,000 as change. The 5,000 left over goes to the miner who includes the payment. Fees are implied, never written.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holds keys, not coins. This part sorts wallets by platform, by how much of the network they check, and by who holds the keys and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classified by its platform, by how much of the network it checks, by who holds the keys, and by how it is backed up. Every leaf has a card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Getting Started, Choosing a Bitcoin Wallet, Types of Bitcoin wallets and desktop wallet.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mobile wallet, web wallet, hardware signing device and third-party API client.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full node, lightweight client, Full node versus Lightweight and Who controls the keys.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bitcoin is controlled by private keys, like very long PINs. With a house, the key opens the door and a registry proves the owner. In Bitcoin the key is both, so it must prove without being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control you keep the keys, sign yourself and carry the backup. With third-party control a service keeps the keys, which is convenient, and you trust its honesty and uptime. Every wallet type can be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28 February 2014. Mt. Gox was once the largest bitcoin exchange. Whoever holds the keys holds the coins, exchanges included. This is the cost of a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noncustodial wallet and Recovery Codes.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phrase of twelve words is stretched by repeating a keyed hash. With 1, 10 or 2048 rounds the seeds look unrelated. A thief guessing phrases pays all 2048 rounds per guess.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first payment from an empty wallet. First how to get bitcoin, then what an address and an invoice are, and finally how a wallet sends with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Quick Start, Bitcoin Addresses, Bitcoin address and invoice.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installs a wallet, which makes her keys and a recovery code. She shares an address, acquires her first bitcoin, and waits for confirmations. The next slides build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0 pays to a 20-byte key hash behind a version byte. The checksum is the first four bytes of a double hash. Together they make 25 bytes, written in Base58 as a 34-character address.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packs an address, an amount, a label and a message into one text. The wallet splits it into named fields and turns the amount into whole satoshis.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Receiving Bitcoin, Getting Your First Bitcoin and Sending and Receiving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owes 60,000 satoshis plus a 1,500 fee. It picks the smallest coin that covers both, 80,000, and sends 18,500 back to itself as change.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 ideas, proof of work and agreement without trust, meet in Bitcoin. Payment channels keep many payments off the chain, and four adjectives name its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of 1997 makes sending cost computation. The Byzantine Generals' problem of 1982 asks how parties that cannot trust each other agree. Proof of work with the longest valid chain is Bitcoin's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make addresses, addresses receive transactions, transactions are gathered into blocks, and blocks are added by mining. Each stage trusts only what it can verify. Later chapters open each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offchain technology.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every payment is a transaction. A channel needs one to open and one to close, whatever happens between. One payment alone costs more; a thousand save 998 transactions.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gives two answers. Bitcoin is virtual, borderless, decentralized and robust, and it is built from a peer-to-peer protocol, a public journal and a consensus rule set. Each adjective is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line still feels like a claim rather than a fact, go back to the slide that carries its receipt. The course page for chapter 1 has the full text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white paper, nine pages, and then the 3Blue1Brown video. The block explorers let you look up the first block and the pizza payment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program that ran on a slide of this deck. The course page for chapter 1 has every word behind them, the stories with their sources,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www.money.org/money-museum/virtual-exhibits/ho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nbclosangeles.com/news/business/money-report/ukraine-has-raised-more-than-54-million-as-bitcoin-donations-pour-in-to-support-the-war-against-russia/2840244"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hyperlink" Target="https://en.wikipedia.org/wiki/M-Pesa" TargetMode="External"/><Relationship Id="rId7" Type="http://schemas.openxmlformats.org/officeDocument/2006/relationships/hyperlink" Target="https://en.wikipedia.org/wiki/2012%E2%80%932013_Cypriot_financial_crisis" TargetMode="External"/><Relationship Id="rId8" Type="http://schemas.openxmlformats.org/officeDocument/2006/relationships/hyperlink" Target="https://en.wikipedia.org/wiki/Greek_government-debt_crisis" TargetMode="External"/><Relationship Id="rId9" Type="http://schemas.openxmlformats.org/officeDocument/2006/relationships/hyperlink" Target="https://en.wikipedia.org/wiki/Hyperinflation_in_Venezuela" TargetMode="External"/><Relationship Id="rId10" Type="http://schemas.openxmlformats.org/officeDocument/2006/relationships/hyperlink" Target="https://nbclosangeles.com/news/business/money-report/ukraine-has-raised-more-than-54-million-as-bitcoin-donations-pour-in-to-support-the-war-against-russia/2840244" TargetMode="External"/><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669280" y="274320"/>
            <a:ext cx="3108960" cy="17830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gold coin on circuit traces, from the owner's 2025 Chapter 1 deck. Python 3.14.6; every result on a slide was computed, not typed.</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Origins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Money and price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12-25)</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26-36)</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Wallets and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A first payment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Foundations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54-59)</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fifteen examples, nine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did Bitcoin come from, and what did it combine?</a:t>
            </a:r>
            <a:endParaRPr lang="en-US" sz="120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the unit of its money, and who decides how much exists?</a:t>
            </a:r>
            <a:endParaRPr lang="en-US" sz="120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sets the price, and how does a double-spend get refused?</a:t>
            </a:r>
            <a:endParaRPr lang="en-US" sz="120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kinds of wallet differ in, and who controls the keys?</a:t>
            </a:r>
            <a:endParaRPr lang="en-US" sz="120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are an address and an invoice, and how does a wallet send with change?</a:t>
            </a:r>
            <a:endParaRPr lang="en-US" sz="120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can payment channels do that the chain alone cannot?</a:t>
            </a:r>
            <a:endParaRPr lang="en-US" sz="12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609344"/>
            <a:ext cx="502920" cy="1316736"/>
          </a:xfrm>
          <a:prstGeom prst="line">
            <a:avLst/>
          </a:prstGeom>
          <a:noFill/>
          <a:ln w="13970">
            <a:solidFill>
              <a:srgbClr val="C9BFAE"/>
            </a:solidFill>
            <a:prstDash val="solid"/>
          </a:ln>
        </p:spPr>
      </p:sp>
      <p:sp>
        <p:nvSpPr>
          <p:cNvPr id="9" name="Shape 7"/>
          <p:cNvSpPr/>
          <p:nvPr/>
        </p:nvSpPr>
        <p:spPr>
          <a:xfrm>
            <a:off x="2331720" y="137160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37160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609344"/>
            <a:ext cx="274320" cy="0"/>
          </a:xfrm>
          <a:prstGeom prst="line">
            <a:avLst/>
          </a:prstGeom>
          <a:noFill/>
          <a:ln w="13970">
            <a:solidFill>
              <a:srgbClr val="C9BFAE"/>
            </a:solidFill>
            <a:prstDash val="solid"/>
          </a:ln>
        </p:spPr>
      </p:sp>
      <p:sp>
        <p:nvSpPr>
          <p:cNvPr id="12" name="Shape 10"/>
          <p:cNvSpPr/>
          <p:nvPr/>
        </p:nvSpPr>
        <p:spPr>
          <a:xfrm>
            <a:off x="4297680" y="138988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38988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136038"/>
            <a:ext cx="502920" cy="790042"/>
          </a:xfrm>
          <a:prstGeom prst="line">
            <a:avLst/>
          </a:prstGeom>
          <a:noFill/>
          <a:ln w="13970">
            <a:solidFill>
              <a:srgbClr val="C9BFAE"/>
            </a:solidFill>
            <a:prstDash val="solid"/>
          </a:ln>
        </p:spPr>
      </p:sp>
      <p:sp>
        <p:nvSpPr>
          <p:cNvPr id="15" name="Shape 13"/>
          <p:cNvSpPr/>
          <p:nvPr/>
        </p:nvSpPr>
        <p:spPr>
          <a:xfrm>
            <a:off x="2331720" y="189829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9829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136038"/>
            <a:ext cx="274320" cy="0"/>
          </a:xfrm>
          <a:prstGeom prst="line">
            <a:avLst/>
          </a:prstGeom>
          <a:noFill/>
          <a:ln w="13970">
            <a:solidFill>
              <a:srgbClr val="C9BFAE"/>
            </a:solidFill>
            <a:prstDash val="solid"/>
          </a:ln>
        </p:spPr>
      </p:sp>
      <p:sp>
        <p:nvSpPr>
          <p:cNvPr id="18" name="Shape 16"/>
          <p:cNvSpPr/>
          <p:nvPr/>
        </p:nvSpPr>
        <p:spPr>
          <a:xfrm>
            <a:off x="4297680" y="191658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91658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62733"/>
            <a:ext cx="502920" cy="263347"/>
          </a:xfrm>
          <a:prstGeom prst="line">
            <a:avLst/>
          </a:prstGeom>
          <a:noFill/>
          <a:ln w="13970">
            <a:solidFill>
              <a:srgbClr val="C9BFAE"/>
            </a:solidFill>
            <a:prstDash val="solid"/>
          </a:ln>
        </p:spPr>
      </p:sp>
      <p:sp>
        <p:nvSpPr>
          <p:cNvPr id="21" name="Shape 19"/>
          <p:cNvSpPr/>
          <p:nvPr/>
        </p:nvSpPr>
        <p:spPr>
          <a:xfrm>
            <a:off x="2331720" y="2424989"/>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24989"/>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62733"/>
            <a:ext cx="274320" cy="0"/>
          </a:xfrm>
          <a:prstGeom prst="line">
            <a:avLst/>
          </a:prstGeom>
          <a:noFill/>
          <a:ln w="13970">
            <a:solidFill>
              <a:srgbClr val="C9BFAE"/>
            </a:solidFill>
            <a:prstDash val="solid"/>
          </a:ln>
        </p:spPr>
      </p:sp>
      <p:sp>
        <p:nvSpPr>
          <p:cNvPr id="24" name="Shape 22"/>
          <p:cNvSpPr/>
          <p:nvPr/>
        </p:nvSpPr>
        <p:spPr>
          <a:xfrm>
            <a:off x="4297680" y="2443277"/>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43277"/>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26080"/>
            <a:ext cx="502920" cy="263347"/>
          </a:xfrm>
          <a:prstGeom prst="line">
            <a:avLst/>
          </a:prstGeom>
          <a:noFill/>
          <a:ln w="13970">
            <a:solidFill>
              <a:srgbClr val="C9BFAE"/>
            </a:solidFill>
            <a:prstDash val="solid"/>
          </a:ln>
        </p:spPr>
      </p:sp>
      <p:sp>
        <p:nvSpPr>
          <p:cNvPr id="27" name="Shape 25"/>
          <p:cNvSpPr/>
          <p:nvPr/>
        </p:nvSpPr>
        <p:spPr>
          <a:xfrm>
            <a:off x="2331720" y="2951683"/>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2951683"/>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189427"/>
            <a:ext cx="274320" cy="0"/>
          </a:xfrm>
          <a:prstGeom prst="line">
            <a:avLst/>
          </a:prstGeom>
          <a:noFill/>
          <a:ln w="13970">
            <a:solidFill>
              <a:srgbClr val="C9BFAE"/>
            </a:solidFill>
            <a:prstDash val="solid"/>
          </a:ln>
        </p:spPr>
      </p:sp>
      <p:sp>
        <p:nvSpPr>
          <p:cNvPr id="30" name="Shape 28"/>
          <p:cNvSpPr/>
          <p:nvPr/>
        </p:nvSpPr>
        <p:spPr>
          <a:xfrm>
            <a:off x="4297680" y="2969971"/>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2969971"/>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26080"/>
            <a:ext cx="502920" cy="790042"/>
          </a:xfrm>
          <a:prstGeom prst="line">
            <a:avLst/>
          </a:prstGeom>
          <a:noFill/>
          <a:ln w="13970">
            <a:solidFill>
              <a:srgbClr val="C9BFAE"/>
            </a:solidFill>
            <a:prstDash val="solid"/>
          </a:ln>
        </p:spPr>
      </p:sp>
      <p:sp>
        <p:nvSpPr>
          <p:cNvPr id="33" name="Shape 31"/>
          <p:cNvSpPr/>
          <p:nvPr/>
        </p:nvSpPr>
        <p:spPr>
          <a:xfrm>
            <a:off x="2331720" y="3478378"/>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47837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716122"/>
            <a:ext cx="274320" cy="0"/>
          </a:xfrm>
          <a:prstGeom prst="line">
            <a:avLst/>
          </a:prstGeom>
          <a:noFill/>
          <a:ln w="13970">
            <a:solidFill>
              <a:srgbClr val="C9BFAE"/>
            </a:solidFill>
            <a:prstDash val="solid"/>
          </a:ln>
        </p:spPr>
      </p:sp>
      <p:sp>
        <p:nvSpPr>
          <p:cNvPr id="36" name="Shape 34"/>
          <p:cNvSpPr/>
          <p:nvPr/>
        </p:nvSpPr>
        <p:spPr>
          <a:xfrm>
            <a:off x="4297680" y="3496666"/>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49666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26080"/>
            <a:ext cx="502920" cy="1316736"/>
          </a:xfrm>
          <a:prstGeom prst="line">
            <a:avLst/>
          </a:prstGeom>
          <a:noFill/>
          <a:ln w="13970">
            <a:solidFill>
              <a:srgbClr val="C9BFAE"/>
            </a:solidFill>
            <a:prstDash val="solid"/>
          </a:ln>
        </p:spPr>
      </p:sp>
      <p:sp>
        <p:nvSpPr>
          <p:cNvPr id="39" name="Shape 37"/>
          <p:cNvSpPr/>
          <p:nvPr/>
        </p:nvSpPr>
        <p:spPr>
          <a:xfrm>
            <a:off x="2331720" y="400507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00507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242816"/>
            <a:ext cx="274320" cy="0"/>
          </a:xfrm>
          <a:prstGeom prst="line">
            <a:avLst/>
          </a:prstGeom>
          <a:noFill/>
          <a:ln w="13970">
            <a:solidFill>
              <a:srgbClr val="C9BFAE"/>
            </a:solidFill>
            <a:prstDash val="solid"/>
          </a:ln>
        </p:spPr>
      </p:sp>
      <p:sp>
        <p:nvSpPr>
          <p:cNvPr id="42" name="Shape 40"/>
          <p:cNvSpPr/>
          <p:nvPr/>
        </p:nvSpPr>
        <p:spPr>
          <a:xfrm>
            <a:off x="4297680" y="402336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02336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Bitcoin combines old parts, like a recipe of familiar ingredients.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block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0 carries a newspaper headline dated 3 January 2009.</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 capsule sealed with that day's paper.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payment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 sent ten bitcoin to Hal Finney nine days later.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coin dropped into a new machine.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Forty years before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Chaum, Back, Dai and Szabo each built a part first.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wheel, chain and frame before the bicycle.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Origins: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Introduction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 that says what Bitcoin is and why it matters.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welcome page of a guidebook, before the maps.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History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path from earlier digital money to the first block in January 2009.</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family tree that shows who the new member descends from.</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first Bitcoin block carries a newspaper headline: The Times, 3 January 2009, Chancellor on brink of second bailout for banks.</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headline proves the block was not made earlier, and it records the banking crisis that Bitcoin answers.</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Satoshi typed the text into the coinbase script of block 0, the 69 bytes the next code slide reads.</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headline inside block zero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the first block's script as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bytes.fromhex(COINBASE_HEX)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text =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[len(head), len(text)]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 keeps a short script, and the headline sits at its end.</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Eight bytes of pushes come first; the rest is the newspaper headline.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77 bytes of block 0's script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057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 of the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Pushes (hex 04ffff00)...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headline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It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carries its own date: a newspaper headline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Nine days after block 0, Satoshi Nakamoto sent 10 bitcoin to Hal Finney in block 170, the first payment between two people.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answered the white paper with curiosity and had built the first reusable proof-of-work system years before.</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Finney ran the software and wrote 'Running bitcoin'; the coins reached him directly, with no bank in between.</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to Hal Finney</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David Chaum, Adam Back, Wei Dai and Nick Szabo each built a part of digital money between 1982 and 1998.</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systems failed or stayed unbuilt, because none could agree on one history without a trusted leader.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Nakamoto's white paper of 31 October 2008 cites them and adds proof of work as the voting weight of an open network.</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papers, mailing lists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near misses, one combination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part existed before Bitcoin joined them</a:t>
            </a:r>
            <a:endParaRPr lang="en-US" sz="1300" dirty="0"/>
          </a:p>
        </p:txBody>
      </p:sp>
      <p:sp>
        <p:nvSpPr>
          <p:cNvPr id="6" name="Shape 4"/>
          <p:cNvSpPr/>
          <p:nvPr/>
        </p:nvSpPr>
        <p:spPr>
          <a:xfrm>
            <a:off x="457200" y="2307946"/>
            <a:ext cx="649224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0" name="Shape 8"/>
          <p:cNvSpPr/>
          <p:nvPr/>
        </p:nvSpPr>
        <p:spPr>
          <a:xfrm>
            <a:off x="208940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3" name="Shape 11"/>
          <p:cNvSpPr/>
          <p:nvPr/>
        </p:nvSpPr>
        <p:spPr>
          <a:xfrm>
            <a:off x="362102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6" name="Shape 14"/>
          <p:cNvSpPr/>
          <p:nvPr/>
        </p:nvSpPr>
        <p:spPr>
          <a:xfrm>
            <a:off x="515264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668426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300" dirty="0"/>
          </a:p>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Agreement without a leader was the missing piece.</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price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Money is a ledger of who owns what; Bitcoin keeps that ledger in public.</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money was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Stones, coins, notes and bank balances are all ledgers.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scoreboard that everyone agrees to trust.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Units and supply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coin divides into 100 million satoshis; the cap is 21 million.</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cake cut into a hundred million crumbs.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and exchange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Markets set the price; exchanges and ATMs convert it.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market stall whose prices change by the hour.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price: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floating exchange rate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of bitcoin is set by markets and moves with supply and demand.</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of tomatoes at a stall, which moves with the harvest and the crowd.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Finding the Current Price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Exchanges quote prices; a volume-weighted average gives one fair daily figure.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board of a stock exchange instead of asking one trader.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currency exchange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market where buyers and sellers swap bitcoin and local money, with identity checks.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money-changer's booth at an airport.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ATM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machine that takes cash and sends bitcoin to your phone wallet.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sells coins instead of snacks.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Yap, wealth was held in limestone discs called rai, up to four metres wide, that never moved when they changed owner.</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What changed was the shared memory of who owned each stone, so the stone worked as a public ledger.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Anthropologist William Henry Furness III described it after visiting in 1903; a stone that sank at sea was still traded.</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 H. Furness III</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From grain ledgers to pure fiat money, 3000 BCE to 1971</a:t>
            </a:r>
            <a:endParaRPr lang="en-US" sz="1300" dirty="0"/>
          </a:p>
        </p:txBody>
      </p:sp>
      <p:pic>
        <p:nvPicPr>
          <p:cNvPr id="6" name="Image 0" descr="../../03-materials/ch01/assets/photo_cma_stater.jpg">    </p:cNvPr>
          <p:cNvPicPr>
            <a:picLocks noChangeAspect="1"/>
          </p:cNvPicPr>
          <p:nvPr/>
        </p:nvPicPr>
        <p:blipFill>
          <a:blip r:embed="rId1"/>
          <a:srcRect l="0" r="0" t="0" b="0"/>
          <a:stretch/>
        </p:blipFill>
        <p:spPr>
          <a:xfrm>
            <a:off x="457200" y="1280160"/>
            <a:ext cx="3566160" cy="2103120"/>
          </a:xfrm>
          <a:prstGeom prst="rect">
            <a:avLst/>
          </a:prstGeom>
        </p:spPr>
      </p:pic>
      <p:sp>
        <p:nvSpPr>
          <p:cNvPr id="7" name="Text 4"/>
          <p:cNvSpPr txBox="1"/>
          <p:nvPr/>
        </p:nvSpPr>
        <p:spPr>
          <a:xfrm>
            <a:off x="45720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8" name="Shape 5"/>
          <p:cNvSpPr/>
          <p:nvPr/>
        </p:nvSpPr>
        <p:spPr>
          <a:xfrm>
            <a:off x="429768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572000" y="128016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15 August 1971 President Richard Nixon cut the dollar's last tie to gold, leaving pure fiat money.</a:t>
            </a:r>
            <a:endParaRPr lang="en-US" sz="1150" dirty="0"/>
          </a:p>
        </p:txBody>
      </p:sp>
      <p:sp>
        <p:nvSpPr>
          <p:cNvPr id="10" name="Shape 7"/>
          <p:cNvSpPr/>
          <p:nvPr/>
        </p:nvSpPr>
        <p:spPr>
          <a:xfrm>
            <a:off x="429768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572000" y="210312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Grain ledgers, Lydian coins, paper notes and bank balances are all ledgers; they differ in who keeps them.</a:t>
            </a:r>
            <a:endParaRPr lang="en-US" sz="1150" dirty="0"/>
          </a:p>
        </p:txBody>
      </p:sp>
      <p:sp>
        <p:nvSpPr>
          <p:cNvPr id="12" name="Shape 9"/>
          <p:cNvSpPr/>
          <p:nvPr/>
        </p:nvSpPr>
        <p:spPr>
          <a:xfrm>
            <a:off x="429768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572000" y="292608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Cards and online banking made money digital as entries in private ledgers; Bitcoin makes the ledger public.</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Nixon and ledger-keepers</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to the U.S.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 table: same uses, different ledgers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1554480"/>
                <a:gridCol w="2194560"/>
                <a:gridCol w="2331720"/>
                <a:gridCol w="2331720"/>
              </a:tblGrid>
              <a:tr h="5029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pic>
        <p:nvPicPr>
          <p:cNvPr id="6" name="Image 0" descr="../../03-materials/ch01/assets/photo_paypal_logo.png">    </p:cNvPr>
          <p:cNvPicPr>
            <a:picLocks noChangeAspect="1"/>
          </p:cNvPicPr>
          <p:nvPr/>
        </p:nvPicPr>
        <p:blipFill>
          <a:blip r:embed="rId1"/>
          <a:srcRect l="0" r="0" t="0" b="0"/>
          <a:stretch/>
        </p:blipFill>
        <p:spPr>
          <a:xfrm>
            <a:off x="457200" y="1280160"/>
            <a:ext cx="2743200" cy="2331720"/>
          </a:xfrm>
          <a:prstGeom prst="rect">
            <a:avLst/>
          </a:prstGeom>
        </p:spPr>
      </p:pic>
      <p:sp>
        <p:nvSpPr>
          <p:cNvPr id="7" name="Text 4"/>
          <p:cNvSpPr txBox="1"/>
          <p:nvPr/>
        </p:nvSpPr>
        <p:spPr>
          <a:xfrm>
            <a:off x="457200" y="363016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July 2002 eBay agreed to buy PayPal for 1.5 billion dollars, ending the dot-com race to pay online.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Online payment was solved only as accounts on one company's private ledger; the internet still had no cash.</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Confinity (Levchin, Thiel, 1998) and X.com (Musk, 1999) merged in 2000; Beenz and Flooz died in the 2001 crash.</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Levchin, Thiel and Musk</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and San Jose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Ukraine, February 2022: a state turns to an open payment network</a:t>
            </a:r>
            <a:endParaRPr lang="en-US" sz="1300" dirty="0"/>
          </a:p>
        </p:txBody>
      </p:sp>
      <p:pic>
        <p:nvPicPr>
          <p:cNvPr id="6" name="Image 0" descr="../../03-materials/ch01/assets/photo_fedorov_portrait.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26 February 2022 Ukraine's government posted crypto donation addresses and, with an aid group, raised 54.7 million dollars in about a week.</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With war at the capital, ordinary rails were too slow; open digital money kept working where banks, cards or cash stopped.</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Fedorov's ministry of digital transformation published the addresses, and CNBC reported the total on 3 March 2022.</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Mykhailo Fedorov</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Kyiv, Ukraine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no hypotheticals</a:t>
            </a:r>
            <a:endParaRPr lang="en-US" sz="1300" dirty="0"/>
          </a:p>
        </p:txBody>
      </p:sp>
      <p:pic>
        <p:nvPicPr>
          <p:cNvPr id="6" name="Image 0" descr="../../03-materials/ch01/assets/photo_mpesa_agent.jpg">    </p:cNvPr>
          <p:cNvPicPr>
            <a:picLocks noChangeAspect="1"/>
          </p:cNvPicPr>
          <p:nvPr/>
        </p:nvPicPr>
        <p:blipFill>
          <a:blip r:embed="rId1"/>
          <a:srcRect l="0" r="0" t="0" b="0"/>
          <a:stretch/>
        </p:blipFill>
        <p:spPr>
          <a:xfrm>
            <a:off x="457200" y="1280160"/>
            <a:ext cx="1554480" cy="960120"/>
          </a:xfrm>
          <a:prstGeom prst="rect">
            <a:avLst/>
          </a:prstGeom>
        </p:spPr>
      </p:pic>
      <p:sp>
        <p:nvSpPr>
          <p:cNvPr id="7" name="Text 4"/>
          <p:cNvSpPr txBox="1"/>
          <p:nvPr/>
        </p:nvSpPr>
        <p:spPr>
          <a:xfrm>
            <a:off x="45720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Kenya: Fiona Graham / WorldRemit, CC BY-SA 2.0</a:t>
            </a:r>
            <a:endParaRPr lang="en-US" sz="900" dirty="0"/>
          </a:p>
        </p:txBody>
      </p:sp>
      <p:pic>
        <p:nvPicPr>
          <p:cNvPr id="8" name="Image 1" descr="../../03-materials/ch01/assets/photo_laiki_bank.jpg">    </p:cNvPr>
          <p:cNvPicPr>
            <a:picLocks noChangeAspect="1"/>
          </p:cNvPicPr>
          <p:nvPr/>
        </p:nvPicPr>
        <p:blipFill>
          <a:blip r:embed="rId2"/>
          <a:srcRect l="0" r="0" t="0" b="0"/>
          <a:stretch/>
        </p:blipFill>
        <p:spPr>
          <a:xfrm>
            <a:off x="2125980" y="1280160"/>
            <a:ext cx="1554480" cy="960120"/>
          </a:xfrm>
          <a:prstGeom prst="rect">
            <a:avLst/>
          </a:prstGeom>
        </p:spPr>
      </p:pic>
      <p:sp>
        <p:nvSpPr>
          <p:cNvPr id="9" name="Text 5"/>
          <p:cNvSpPr txBox="1"/>
          <p:nvPr/>
        </p:nvSpPr>
        <p:spPr>
          <a:xfrm>
            <a:off x="212598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Cyprus: Martin Addison, CC BY-SA 2.0</a:t>
            </a:r>
            <a:endParaRPr lang="en-US" sz="900" dirty="0"/>
          </a:p>
        </p:txBody>
      </p:sp>
      <p:pic>
        <p:nvPicPr>
          <p:cNvPr id="10" name="Image 2" descr="../../03-materials/ch01/assets/photo_greece_atm.jpg">    </p:cNvPr>
          <p:cNvPicPr>
            <a:picLocks noChangeAspect="1"/>
          </p:cNvPicPr>
          <p:nvPr/>
        </p:nvPicPr>
        <p:blipFill>
          <a:blip r:embed="rId3"/>
          <a:srcRect l="0" r="0" t="0" b="0"/>
          <a:stretch/>
        </p:blipFill>
        <p:spPr>
          <a:xfrm>
            <a:off x="3794760" y="1280160"/>
            <a:ext cx="1554480" cy="960120"/>
          </a:xfrm>
          <a:prstGeom prst="rect">
            <a:avLst/>
          </a:prstGeom>
        </p:spPr>
      </p:pic>
      <p:sp>
        <p:nvSpPr>
          <p:cNvPr id="11" name="Text 6"/>
          <p:cNvSpPr txBox="1"/>
          <p:nvPr/>
        </p:nvSpPr>
        <p:spPr>
          <a:xfrm>
            <a:off x="379476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Greece: Norbert Nagel, CC BY-SA 3.0</a:t>
            </a:r>
            <a:endParaRPr lang="en-US" sz="900" dirty="0"/>
          </a:p>
        </p:txBody>
      </p:sp>
      <p:pic>
        <p:nvPicPr>
          <p:cNvPr id="12" name="Image 3" descr="../../03-materials/ch01/assets/photo_bolivar_note.jpg">    </p:cNvPr>
          <p:cNvPicPr>
            <a:picLocks noChangeAspect="1"/>
          </p:cNvPicPr>
          <p:nvPr/>
        </p:nvPicPr>
        <p:blipFill>
          <a:blip r:embed="rId4"/>
          <a:srcRect l="0" r="0" t="0" b="0"/>
          <a:stretch/>
        </p:blipFill>
        <p:spPr>
          <a:xfrm>
            <a:off x="5463540" y="1280160"/>
            <a:ext cx="1554480" cy="960120"/>
          </a:xfrm>
          <a:prstGeom prst="rect">
            <a:avLst/>
          </a:prstGeom>
        </p:spPr>
      </p:pic>
      <p:sp>
        <p:nvSpPr>
          <p:cNvPr id="13" name="Text 7"/>
          <p:cNvSpPr txBox="1"/>
          <p:nvPr/>
        </p:nvSpPr>
        <p:spPr>
          <a:xfrm>
            <a:off x="546354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Venezuela: Rjcastillo, CC BY-SA 4.0</a:t>
            </a:r>
            <a:endParaRPr lang="en-US" sz="900" dirty="0"/>
          </a:p>
        </p:txBody>
      </p:sp>
      <p:pic>
        <p:nvPicPr>
          <p:cNvPr id="14" name="Image 4" descr="../../03-materials/ch01/assets/photo_fedorov.jpg">    </p:cNvPr>
          <p:cNvPicPr>
            <a:picLocks noChangeAspect="1"/>
          </p:cNvPicPr>
          <p:nvPr/>
        </p:nvPicPr>
        <p:blipFill>
          <a:blip r:embed="rId5"/>
          <a:srcRect l="0" r="0" t="0" b="0"/>
          <a:stretch/>
        </p:blipFill>
        <p:spPr>
          <a:xfrm>
            <a:off x="7132320" y="1280160"/>
            <a:ext cx="1554480" cy="960120"/>
          </a:xfrm>
          <a:prstGeom prst="rect">
            <a:avLst/>
          </a:prstGeom>
        </p:spPr>
      </p:pic>
      <p:sp>
        <p:nvSpPr>
          <p:cNvPr id="15" name="Text 8"/>
          <p:cNvSpPr txBox="1"/>
          <p:nvPr/>
        </p:nvSpPr>
        <p:spPr>
          <a:xfrm>
            <a:off x="713232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Ukraine: U.S. Embassy Kyiv, public domain</a:t>
            </a:r>
            <a:endParaRPr lang="en-US" sz="900" dirty="0"/>
          </a:p>
        </p:txBody>
      </p:sp>
      <p:sp>
        <p:nvSpPr>
          <p:cNvPr id="16" name="Text 9"/>
          <p:cNvSpPr txBox="1"/>
          <p:nvPr/>
        </p:nvSpPr>
        <p:spPr>
          <a:xfrm>
            <a:off x="45720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Banks, cards or cash stopped serving people</a:t>
            </a:r>
            <a:endParaRPr lang="en-US" sz="1250" dirty="0"/>
          </a:p>
        </p:txBody>
      </p:sp>
      <p:sp>
        <p:nvSpPr>
          <p:cNvPr id="17" name="Shape 10"/>
          <p:cNvSpPr/>
          <p:nvPr/>
        </p:nvSpPr>
        <p:spPr>
          <a:xfrm>
            <a:off x="493776" y="3090672"/>
            <a:ext cx="82296" cy="82296"/>
          </a:xfrm>
          <a:prstGeom prst="ellipse">
            <a:avLst/>
          </a:prstGeom>
          <a:solidFill>
            <a:srgbClr val="D97A14"/>
          </a:solidFill>
          <a:ln w="12700">
            <a:solidFill>
              <a:srgbClr val="D97A14"/>
            </a:solidFill>
            <a:prstDash val="solid"/>
          </a:ln>
        </p:spPr>
      </p:sp>
      <p:sp>
        <p:nvSpPr>
          <p:cNvPr id="18" name="Text 11"/>
          <p:cNvSpPr txBox="1"/>
          <p:nvPr/>
        </p:nvSpPr>
        <p:spPr>
          <a:xfrm>
            <a:off x="65836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Kenya 2007</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p:txBody>
      </p:sp>
      <p:sp>
        <p:nvSpPr>
          <p:cNvPr id="19" name="Shape 12"/>
          <p:cNvSpPr/>
          <p:nvPr/>
        </p:nvSpPr>
        <p:spPr>
          <a:xfrm>
            <a:off x="493776" y="3493008"/>
            <a:ext cx="82296" cy="82296"/>
          </a:xfrm>
          <a:prstGeom prst="ellipse">
            <a:avLst/>
          </a:prstGeom>
          <a:solidFill>
            <a:srgbClr val="D97A14"/>
          </a:solidFill>
          <a:ln w="12700">
            <a:solidFill>
              <a:srgbClr val="D97A14"/>
            </a:solidFill>
            <a:prstDash val="solid"/>
          </a:ln>
        </p:spPr>
      </p:sp>
      <p:sp>
        <p:nvSpPr>
          <p:cNvPr id="20" name="Text 13"/>
          <p:cNvSpPr txBox="1"/>
          <p:nvPr/>
        </p:nvSpPr>
        <p:spPr>
          <a:xfrm>
            <a:off x="65836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Cyprus 2013</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p:txBody>
      </p:sp>
      <p:sp>
        <p:nvSpPr>
          <p:cNvPr id="21" name="Shape 14"/>
          <p:cNvSpPr/>
          <p:nvPr/>
        </p:nvSpPr>
        <p:spPr>
          <a:xfrm>
            <a:off x="493776" y="3895344"/>
            <a:ext cx="82296" cy="82296"/>
          </a:xfrm>
          <a:prstGeom prst="ellipse">
            <a:avLst/>
          </a:prstGeom>
          <a:solidFill>
            <a:srgbClr val="D97A14"/>
          </a:solidFill>
          <a:ln w="12700">
            <a:solidFill>
              <a:srgbClr val="D97A14"/>
            </a:solidFill>
            <a:prstDash val="solid"/>
          </a:ln>
        </p:spPr>
      </p:sp>
      <p:sp>
        <p:nvSpPr>
          <p:cNvPr id="22" name="Text 15"/>
          <p:cNvSpPr txBox="1"/>
          <p:nvPr/>
        </p:nvSpPr>
        <p:spPr>
          <a:xfrm>
            <a:off x="658368" y="38221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Greece 2015</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p:txBody>
      </p:sp>
      <p:sp>
        <p:nvSpPr>
          <p:cNvPr id="23" name="Text 16"/>
          <p:cNvSpPr txBox="1"/>
          <p:nvPr/>
        </p:nvSpPr>
        <p:spPr>
          <a:xfrm>
            <a:off x="473202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A currency or a state failed</a:t>
            </a:r>
            <a:endParaRPr lang="en-US" sz="1250" dirty="0"/>
          </a:p>
        </p:txBody>
      </p:sp>
      <p:sp>
        <p:nvSpPr>
          <p:cNvPr id="24" name="Shape 17"/>
          <p:cNvSpPr/>
          <p:nvPr/>
        </p:nvSpPr>
        <p:spPr>
          <a:xfrm>
            <a:off x="4768596" y="3090672"/>
            <a:ext cx="82296" cy="82296"/>
          </a:xfrm>
          <a:prstGeom prst="ellipse">
            <a:avLst/>
          </a:prstGeom>
          <a:solidFill>
            <a:srgbClr val="D97A14"/>
          </a:solidFill>
          <a:ln w="12700">
            <a:solidFill>
              <a:srgbClr val="D97A14"/>
            </a:solidFill>
            <a:prstDash val="solid"/>
          </a:ln>
        </p:spPr>
      </p:sp>
      <p:sp>
        <p:nvSpPr>
          <p:cNvPr id="25" name="Text 18"/>
          <p:cNvSpPr txBox="1"/>
          <p:nvPr/>
        </p:nvSpPr>
        <p:spPr>
          <a:xfrm>
            <a:off x="493318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Venezuela 2018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p:txBody>
      </p:sp>
      <p:sp>
        <p:nvSpPr>
          <p:cNvPr id="26" name="Shape 19"/>
          <p:cNvSpPr/>
          <p:nvPr/>
        </p:nvSpPr>
        <p:spPr>
          <a:xfrm>
            <a:off x="4768596" y="3493008"/>
            <a:ext cx="82296" cy="82296"/>
          </a:xfrm>
          <a:prstGeom prst="ellipse">
            <a:avLst/>
          </a:prstGeom>
          <a:solidFill>
            <a:srgbClr val="D97A14"/>
          </a:solidFill>
          <a:ln w="12700">
            <a:solidFill>
              <a:srgbClr val="D97A14"/>
            </a:solidFill>
            <a:prstDash val="solid"/>
          </a:ln>
        </p:spPr>
      </p:sp>
      <p:sp>
        <p:nvSpPr>
          <p:cNvPr id="27" name="Text 20"/>
          <p:cNvSpPr txBox="1"/>
          <p:nvPr/>
        </p:nvSpPr>
        <p:spPr>
          <a:xfrm>
            <a:off x="493318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Ukraine 2022</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State and NGO raised $54.7M in crypto in a week</a:t>
            </a:r>
            <a:endParaRPr lang="en-US" sz="1000" dirty="0"/>
          </a:p>
        </p:txBody>
      </p:sp>
      <p:sp>
        <p:nvSpPr>
          <p:cNvPr id="28"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the need is documented</a:t>
            </a:r>
            <a:endParaRPr lang="en-US" sz="1350" dirty="0"/>
          </a:p>
        </p:txBody>
      </p:sp>
      <p:sp>
        <p:nvSpPr>
          <p:cNvPr id="30"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bitcoin counted in satoshis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smallest piece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decimal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Decimal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a:t>
            </a:r>
            <a:r>
              <a:rPr lang="en-US" sz="1000" dirty="0">
                <a:solidFill>
                  <a:srgbClr val="9ECBFF"/>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 = [COIN, COIN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[100000000, 100000,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bitcoin is counted in whole satoshis, one hundred million to the coin.</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common amounts, each written as a count of satoshis.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value in three units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millibitcoin (0.001)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0.001 bitcoin is exactly 100,000 satoshis, so every amount is a whole number.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subsidy at five block heights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per block, halved every 210,000 blocks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[subsidy(h)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heights]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ratios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zip(subs, subs[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starts at fifty bitcoin and halves every 210,000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pays exactly half of the era before it.</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year</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era pays half of the one before: 50, 25, 12.5, 6.25, and since April 2024 3.125.</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halving cuts new issuance in half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cap is a 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by era, added up by the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eras =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 COIN &gt;&gt; k) * HALVING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sum(eras)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issues its subsidy for 210,000 blocks, then the subsidy halves.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every era gives the cap, just under 21 million bitcoin.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bitcoin issued after each era, in millions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total creeps toward 21 million; the cap is 20999999.9769 bitcoin.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arithmetic that every node can re-run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one sets the price: trades do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price is a ratio; a day's figure is a weighted average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trades =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prices = [round(u / b,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 = round(vwap([(b, u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62764.71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illustrative trades: bitcoin bought, and the dollars paid for it.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day's single figure weights each price by its volume.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dollars paid per bitcoin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Dollars per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1 (0.5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2 (0.2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3 (1.0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 average, by volume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62,764.71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trade sets its own price; the volume-weighted day average is 62,764.71 dollars.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Everyone who trades sets the price a little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 the day a price began to exist</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 for two Papa John's pizzas, the first known commercial purchase in bitcoin.</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Until then nobody knew what a bitcoin was worth; this purchase is the day a floating price began to exist.</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He offered the coins on the bitcointalk forum, and student Jeremy Sturdivant ordered the pizzas for delivery to Jacksonville.</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Pizza Day coins, repriced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bitcoin at six documented moments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 = {d: int(coins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PIZZA.items()}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list(val.values())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[41, 10000, 10000000, 196000000, 690000000, 854090000]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thousand bitcoin, priced at six documented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dollar value of the same coins at each moment, from 2010 to 2026.</a:t>
            </a:r>
            <a:endParaRPr lang="en-US" sz="1050" dirty="0"/>
          </a:p>
        </p:txBody>
      </p:sp>
      <p:sp>
        <p:nvSpPr>
          <p:cNvPr id="16" name="Text 14"/>
          <p:cNvSpPr txBox="1"/>
          <p:nvPr/>
        </p:nvSpPr>
        <p:spPr>
          <a:xfrm>
            <a:off x="457200" y="288218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value of the 10,000 BTC, in dollars (log axis)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coins grew by a factor of 20,831,463, from $41 to $854M.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price discovery never stopped</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sits in the middle: shared rules and shared work do its job.</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Peers, not a bank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checks the same rules, so none is in charge.</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a copy of the land register.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Work and agreement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Proof of work makes honest history cheap to check.</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took a day to make and a second to inspect.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Fees and depth</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Fees pay miners; each new block makes a payment safer.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courier's tip and cement poured over a footprint.</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bank in the middle against peers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any one node and the network still agrees</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proof of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Adding a block costs real computation, and anyone can check it cheaply.</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jigsaw puzzle: hard to solve, a glance to see it is done.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applies the same rules, so all agree on one history without a leader.</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the same record of who owns which field.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double-spend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Spending one unit of digital money twice; the network refuses the second try.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banknote and paying with both.</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to find, easy to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toy proof of work with hexadecimal zeros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data = b</a:t>
            </a:r>
            <a:r>
              <a:rPr lang="en-US" sz="1000" dirty="0">
                <a:solidFill>
                  <a:srgbClr val="9ECBFF"/>
                </a:solidFill>
                <a:latin typeface="Courier New" pitchFamily="34" charset="0"/>
                <a:ea typeface="Courier New" pitchFamily="34" charset="-122"/>
                <a:cs typeface="Courier New" pitchFamily="34" charset="-120"/>
              </a:rPr>
              <a:t>'alice pays bob 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[mine(data, z)[</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d = mine(data,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hashlib.sha256(data + b</a:t>
            </a:r>
            <a:r>
              <a:rPr lang="en-US" sz="1000" dirty="0">
                <a:solidFill>
                  <a:srgbClr val="9ECBFF"/>
                </a:solidFill>
                <a:latin typeface="Courier New" pitchFamily="34" charset="0"/>
                <a:ea typeface="Courier New" pitchFamily="34" charset="-122"/>
                <a:cs typeface="Courier New" pitchFamily="34" charset="-120"/>
              </a:rPr>
              <a:t>'%d'</a:t>
            </a:r>
            <a:r>
              <a:rPr lang="en-US" sz="1000" dirty="0">
                <a:solidFill>
                  <a:srgbClr val="E6EDF3"/>
                </a:solidFill>
                <a:latin typeface="Courier New" pitchFamily="34" charset="0"/>
                <a:ea typeface="Courier New" pitchFamily="34" charset="-122"/>
                <a:cs typeface="Courier New" pitchFamily="34" charset="-120"/>
              </a:rPr>
              <a:t> % n).hexdigest()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223, 1208, 57247]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Search for a number that gives a hash starting with zeros.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Anyone checks the winner with one hash instead of a long search.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line shows how many guesses each difficulty took.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guesses needed (log axis)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extra zero makes the search about sixteen times longer on average; checking stays one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Finding takes thousands of guesses; checking takes one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78892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subsidy follows the halving chart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Cheating costs more than it could win</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Chapter 12 opens the mechanism</a:t>
            </a:r>
            <a:endParaRPr lang="en-US" sz="1400" dirty="0"/>
          </a:p>
        </p:txBody>
      </p:sp>
      <p:pic>
        <p:nvPicPr>
          <p:cNvPr id="18" name="Image 0" descr="../../03-materials/ch01/assets/c8s32_miningnodes.png">    </p:cNvPr>
          <p:cNvPicPr>
            <a:picLocks noChangeAspect="1"/>
          </p:cNvPicPr>
          <p:nvPr/>
        </p:nvPicPr>
        <p:blipFill>
          <a:blip r:embed="rId1"/>
          <a:srcRect l="0" r="0" t="0" b="0"/>
          <a:stretch/>
        </p:blipFill>
        <p:spPr>
          <a:xfrm>
            <a:off x="5760720" y="2743200"/>
            <a:ext cx="2926080" cy="132588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so coins would too</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Only a trusted central ledger could stop it</a:t>
            </a:r>
            <a:endParaRPr lang="en-US" sz="1150" dirty="0"/>
          </a:p>
        </p:txBody>
      </p:sp>
      <p:sp>
        <p:nvSpPr>
          <p:cNvPr id="18" name="Shape 16"/>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427939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2" name="Shape 20"/>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3" name="Shape 21"/>
          <p:cNvSpPr/>
          <p:nvPr/>
        </p:nvSpPr>
        <p:spPr>
          <a:xfrm>
            <a:off x="7114032" y="1956816"/>
            <a:ext cx="310896" cy="310896"/>
          </a:xfrm>
          <a:prstGeom prst="ellipse">
            <a:avLst/>
          </a:prstGeom>
          <a:solidFill>
            <a:srgbClr val="D97A14"/>
          </a:solidFill>
          <a:ln w="15875">
            <a:solidFill>
              <a:srgbClr val="D97A14"/>
            </a:solidFill>
            <a:prstDash val="solid"/>
          </a:ln>
        </p:spPr>
      </p:sp>
      <p:sp>
        <p:nvSpPr>
          <p:cNvPr id="24" name="Text 22"/>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6" name="Shape 24"/>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7" name="Shape 25"/>
          <p:cNvSpPr/>
          <p:nvPr/>
        </p:nvSpPr>
        <p:spPr>
          <a:xfrm>
            <a:off x="7114032" y="3465576"/>
            <a:ext cx="310896" cy="310896"/>
          </a:xfrm>
          <a:prstGeom prst="ellipse">
            <a:avLst/>
          </a:prstGeom>
          <a:solidFill>
            <a:srgbClr val="D97A14"/>
          </a:solidFill>
          <a:ln w="15875">
            <a:solidFill>
              <a:srgbClr val="D97A14"/>
            </a:solidFill>
            <a:prstDash val="solid"/>
          </a:ln>
        </p:spPr>
      </p:sp>
      <p:sp>
        <p:nvSpPr>
          <p:cNvPr id="28" name="Text 26"/>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0" name="Shape 28"/>
          <p:cNvSpPr/>
          <p:nvPr/>
        </p:nvSpPr>
        <p:spPr>
          <a:xfrm flipV="1">
            <a:off x="5303520" y="2112264"/>
            <a:ext cx="1417320" cy="768096"/>
          </a:xfrm>
          <a:prstGeom prst="line">
            <a:avLst/>
          </a:prstGeom>
          <a:noFill/>
          <a:ln w="25400">
            <a:solidFill>
              <a:srgbClr val="D97A14"/>
            </a:solidFill>
            <a:prstDash val="solid"/>
            <a:tailEnd type="triangle"/>
          </a:ln>
        </p:spPr>
      </p:sp>
      <p:sp>
        <p:nvSpPr>
          <p:cNvPr id="31" name="Shape 29"/>
          <p:cNvSpPr/>
          <p:nvPr/>
        </p:nvSpPr>
        <p:spPr>
          <a:xfrm>
            <a:off x="5303520" y="2880360"/>
            <a:ext cx="1417320" cy="740664"/>
          </a:xfrm>
          <a:prstGeom prst="line">
            <a:avLst/>
          </a:prstGeom>
          <a:noFill/>
          <a:ln w="25400">
            <a:solidFill>
              <a:srgbClr val="D97A14"/>
            </a:solidFill>
            <a:prstDash val="solid"/>
            <a:tailEnd type="triangle"/>
          </a:ln>
        </p:spPr>
      </p:sp>
      <p:sp>
        <p:nvSpPr>
          <p:cNvPr id="32" name="Text 30"/>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3" name="Text 31"/>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file can be copied; a coin must not be</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no referee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a:t>
            </a:r>
            <a:endParaRPr lang="en-US" sz="1150" dirty="0"/>
          </a:p>
        </p:txBody>
      </p:sp>
      <p:sp>
        <p:nvSpPr>
          <p:cNvPr id="18" name="Shape 16"/>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363931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2" name="Shape 20"/>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3" name="Text 21"/>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4" name="Shape 22"/>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5" name="Text 23"/>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6" name="Shape 24"/>
          <p:cNvSpPr/>
          <p:nvPr/>
        </p:nvSpPr>
        <p:spPr>
          <a:xfrm flipV="1">
            <a:off x="4663440" y="2057400"/>
            <a:ext cx="537667" cy="822960"/>
          </a:xfrm>
          <a:prstGeom prst="line">
            <a:avLst/>
          </a:prstGeom>
          <a:noFill/>
          <a:ln w="22225">
            <a:solidFill>
              <a:srgbClr val="6E655C"/>
            </a:solidFill>
            <a:prstDash val="solid"/>
            <a:tailEnd type="triangle"/>
          </a:ln>
        </p:spPr>
      </p:sp>
      <p:sp>
        <p:nvSpPr>
          <p:cNvPr id="27" name="Shape 25"/>
          <p:cNvSpPr/>
          <p:nvPr/>
        </p:nvSpPr>
        <p:spPr>
          <a:xfrm>
            <a:off x="4663440" y="2880360"/>
            <a:ext cx="537667" cy="822960"/>
          </a:xfrm>
          <a:prstGeom prst="line">
            <a:avLst/>
          </a:prstGeom>
          <a:noFill/>
          <a:ln w="22225">
            <a:solidFill>
              <a:srgbClr val="6E655C"/>
            </a:solidFill>
            <a:prstDash val="solid"/>
            <a:tailEnd type="triangle"/>
          </a:ln>
        </p:spPr>
      </p:sp>
      <p:sp>
        <p:nvSpPr>
          <p:cNvPr id="28" name="Shape 26"/>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29" name="Text 27"/>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1" name="Text 29"/>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6446520" y="2057400"/>
            <a:ext cx="384048" cy="0"/>
          </a:xfrm>
          <a:prstGeom prst="line">
            <a:avLst/>
          </a:prstGeom>
          <a:noFill/>
          <a:ln w="25400">
            <a:solidFill>
              <a:srgbClr val="2F6D62"/>
            </a:solidFill>
            <a:prstDash val="solid"/>
            <a:tailEnd type="triangle"/>
          </a:ln>
        </p:spPr>
      </p:sp>
      <p:sp>
        <p:nvSpPr>
          <p:cNvPr id="33" name="Shape 31"/>
          <p:cNvSpPr/>
          <p:nvPr/>
        </p:nvSpPr>
        <p:spPr>
          <a:xfrm>
            <a:off x="6446520" y="3703320"/>
            <a:ext cx="384048" cy="0"/>
          </a:xfrm>
          <a:prstGeom prst="line">
            <a:avLst/>
          </a:prstGeom>
          <a:noFill/>
          <a:ln w="25400">
            <a:solidFill>
              <a:srgbClr val="D97A14"/>
            </a:solidFill>
            <a:prstDash val="solid"/>
            <a:tailEnd type="triangle"/>
          </a:ln>
        </p:spPr>
      </p:sp>
      <p:sp>
        <p:nvSpPr>
          <p:cNvPr id="34" name="Text 32"/>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Agreement on order is what removes the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is refused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rule, no referee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Ledger({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'alice'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second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'carol'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book.owner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{'c1': 'bob'}</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shared ledger remembers which coins are spent.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offers the same coin again; the rule says no, with no referee.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payments of the same coin</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Ledger 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Alice pays 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Alice pays Carol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of coin c1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spend is recorded; the same coin offered again is refused by the rule alone.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second spend of a coin is refused everywhere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hashes its text with the block before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chain([</a:t>
            </a:r>
            <a:r>
              <a:rPr lang="en-US" sz="1000" dirty="0">
                <a:solidFill>
                  <a:srgbClr val="9ECBFF"/>
                </a:solidFill>
                <a:latin typeface="Courier New" pitchFamily="34" charset="0"/>
                <a:ea typeface="Courier New" pitchFamily="34" charset="-122"/>
                <a:cs typeface="Courier New" pitchFamily="34" charset="-120"/>
              </a:rPr>
              <a:t>'pay 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verify(blocks)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'text'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'pay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 = verify(blocks)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blocks, each hashing its own text together with the block before.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one word in block two; the check stops there.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each block's link still hold?</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91440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After the change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broken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not trusted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Changing block two breaks its link, so block two and everything after it are no longer trusted.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one old block and every later link fails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confirmation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added after a payment makes the payment harder to reverse.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another layer of cement poured over a footprint.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amount a sender adds for the miner who puts the payment in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tip for the courier who picks your parcel for the next van.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outputs leave over is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has no fee field; the difference is the fee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 = [</a:t>
            </a:r>
            <a:r>
              <a:rPr lang="en-US" sz="1000" dirty="0">
                <a:solidFill>
                  <a:srgbClr val="FFD28A"/>
                </a:solidFill>
                <a:latin typeface="Courier New" pitchFamily="34" charset="0"/>
                <a:ea typeface="Courier New" pitchFamily="34" charset="-122"/>
                <a:cs typeface="Courier New" pitchFamily="34" charset="-120"/>
              </a:rPr>
              <a:t>100000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outputs = [</a:t>
            </a:r>
            <a:r>
              <a:rPr lang="en-US" sz="1000" dirty="0">
                <a:solidFill>
                  <a:srgbClr val="FFD28A"/>
                </a:solidFill>
                <a:latin typeface="Courier New" pitchFamily="34" charset="0"/>
                <a:ea typeface="Courier New" pitchFamily="34" charset="-122"/>
                <a:cs typeface="Courier New" pitchFamily="34" charset="-120"/>
              </a:rPr>
              <a:t>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75000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sum(inputs) - sum(outputs)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fee / sum(inputs),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coin of 100,000 satoshis pays Bob and sends the change back.</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Whatever the outputs do not take goes to the miner as the fee.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where the 100,000 satoshis go</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is 5,000 satoshis, 5.0 percent of the coin; no output carries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is the part of the coin nobody was given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wallet holds keys, not coins, like a ring of keys to many safes.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Kinds of wallet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Desktop, mobile, web and hardware wallets differ in risk.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a safe and a cloakroom ticket.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clients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full node checks everything; a light client trusts others.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beside a tourist with a map.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Keys and backup</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Whoever holds the keys controls the coins; a recovery code restores them.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kept in a bank locker.</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questions about any wallet: platform, node, keys, backup</a:t>
            </a:r>
            <a:endParaRPr lang="en-US" sz="1300" dirty="0"/>
          </a:p>
        </p:txBody>
      </p:sp>
      <p:sp>
        <p:nvSpPr>
          <p:cNvPr id="6" name="Shape 4"/>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719072"/>
            <a:ext cx="502920" cy="1271016"/>
          </a:xfrm>
          <a:prstGeom prst="line">
            <a:avLst/>
          </a:prstGeom>
          <a:noFill/>
          <a:ln w="13970">
            <a:solidFill>
              <a:srgbClr val="C9BFAE"/>
            </a:solidFill>
            <a:prstDash val="solid"/>
          </a:ln>
        </p:spPr>
      </p:sp>
      <p:sp>
        <p:nvSpPr>
          <p:cNvPr id="9" name="Shape 7"/>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719072"/>
            <a:ext cx="274320" cy="0"/>
          </a:xfrm>
          <a:prstGeom prst="line">
            <a:avLst/>
          </a:prstGeom>
          <a:noFill/>
          <a:ln w="13970">
            <a:solidFill>
              <a:srgbClr val="C9BFAE"/>
            </a:solidFill>
            <a:prstDash val="solid"/>
          </a:ln>
        </p:spPr>
      </p:sp>
      <p:sp>
        <p:nvSpPr>
          <p:cNvPr id="12" name="Shape 10"/>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566416"/>
            <a:ext cx="502920" cy="423672"/>
          </a:xfrm>
          <a:prstGeom prst="line">
            <a:avLst/>
          </a:prstGeom>
          <a:noFill/>
          <a:ln w="13970">
            <a:solidFill>
              <a:srgbClr val="C9BFAE"/>
            </a:solidFill>
            <a:prstDash val="solid"/>
          </a:ln>
        </p:spPr>
      </p:sp>
      <p:sp>
        <p:nvSpPr>
          <p:cNvPr id="15" name="Shape 13"/>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566416"/>
            <a:ext cx="274320" cy="0"/>
          </a:xfrm>
          <a:prstGeom prst="line">
            <a:avLst/>
          </a:prstGeom>
          <a:noFill/>
          <a:ln w="13970">
            <a:solidFill>
              <a:srgbClr val="C9BFAE"/>
            </a:solidFill>
            <a:prstDash val="solid"/>
          </a:ln>
        </p:spPr>
      </p:sp>
      <p:sp>
        <p:nvSpPr>
          <p:cNvPr id="18" name="Shape 16"/>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90088"/>
            <a:ext cx="502920" cy="423672"/>
          </a:xfrm>
          <a:prstGeom prst="line">
            <a:avLst/>
          </a:prstGeom>
          <a:noFill/>
          <a:ln w="13970">
            <a:solidFill>
              <a:srgbClr val="C9BFAE"/>
            </a:solidFill>
            <a:prstDash val="solid"/>
          </a:ln>
        </p:spPr>
      </p:sp>
      <p:sp>
        <p:nvSpPr>
          <p:cNvPr id="21" name="Shape 19"/>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13760"/>
            <a:ext cx="274320" cy="0"/>
          </a:xfrm>
          <a:prstGeom prst="line">
            <a:avLst/>
          </a:prstGeom>
          <a:noFill/>
          <a:ln w="13970">
            <a:solidFill>
              <a:srgbClr val="C9BFAE"/>
            </a:solidFill>
            <a:prstDash val="solid"/>
          </a:ln>
        </p:spPr>
      </p:sp>
      <p:sp>
        <p:nvSpPr>
          <p:cNvPr id="24" name="Shape 22"/>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90088"/>
            <a:ext cx="502920" cy="1271016"/>
          </a:xfrm>
          <a:prstGeom prst="line">
            <a:avLst/>
          </a:prstGeom>
          <a:noFill/>
          <a:ln w="13970">
            <a:solidFill>
              <a:srgbClr val="C9BFAE"/>
            </a:solidFill>
            <a:prstDash val="solid"/>
          </a:ln>
        </p:spPr>
      </p:sp>
      <p:sp>
        <p:nvSpPr>
          <p:cNvPr id="27" name="Shape 25"/>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261104"/>
            <a:ext cx="274320" cy="0"/>
          </a:xfrm>
          <a:prstGeom prst="line">
            <a:avLst/>
          </a:prstGeom>
          <a:noFill/>
          <a:ln w="13970">
            <a:solidFill>
              <a:srgbClr val="C9BFAE"/>
            </a:solidFill>
            <a:prstDash val="solid"/>
          </a:ln>
        </p:spPr>
      </p:sp>
      <p:sp>
        <p:nvSpPr>
          <p:cNvPr id="30" name="Shape 28"/>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questions place any wallet on this map</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Started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decisions: what a wallet is and which one to choose.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a bag before you go shopping.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Choosing a Bitcoin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Pick a wallet by who holds the keys, which device it runs on, and how far you trust it.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between a pocket, a home safe and a bank locker.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Types of Bitcoin wallets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Desktop, mobile, web and hardware signing devices, each with its own trade-offs.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bicycle, a car and a bus: all travel, with different limits.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desktop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kind of wallet, run on Windows, macOS or Linux.</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register on the shop counter.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mobile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most common kind of wallet, run on a smartphone.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purse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web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Used through a browser; its data usually sits on someone else's server.</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coat at a cloakroom.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device that keeps keys inside and signs payments.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kept in a locked drawer: paper goes in, stamped paper comes out.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API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program that asks a remote service for data instead of the Bitcoin network.</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a travel agent instead of reading the timetable yourself.</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Software that checks the whole history of transactions by itself.</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rereads every page of the ledger.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Keeps your keys but relies on other nodes for most of the data.</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tourist who asks locals for directions instead of studying the whole map.</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 versus Lightweight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Independence and storage on one side, convenience and trust on the other.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cooking from raw ingredients against buying a ready meal.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controls the keys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Whoever holds the private keys controls the coins.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whoever holds the house keys controls the house.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Your key is your deed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a house the key opens and the registry proves; in Bitcoin the key does both</a:t>
            </a:r>
            <a:endParaRPr lang="en-US" sz="1300" dirty="0"/>
          </a:p>
        </p:txBody>
      </p:sp>
      <p:sp>
        <p:nvSpPr>
          <p:cNvPr id="6" name="Shape 4"/>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7" name="Shape 5"/>
          <p:cNvSpPr/>
          <p:nvPr/>
        </p:nvSpPr>
        <p:spPr>
          <a:xfrm>
            <a:off x="777240" y="2194560"/>
            <a:ext cx="640080" cy="457200"/>
          </a:xfrm>
          <a:prstGeom prst="rect">
            <a:avLst/>
          </a:prstGeom>
          <a:solidFill>
            <a:srgbClr val="2F6D62"/>
          </a:solidFill>
          <a:ln w="12700">
            <a:solidFill>
              <a:srgbClr val="2F6D62"/>
            </a:solidFill>
            <a:prstDash val="solid"/>
          </a:ln>
        </p:spPr>
      </p:sp>
      <p:sp>
        <p:nvSpPr>
          <p:cNvPr id="8" name="Shape 6"/>
          <p:cNvSpPr/>
          <p:nvPr/>
        </p:nvSpPr>
        <p:spPr>
          <a:xfrm>
            <a:off x="704088" y="1920240"/>
            <a:ext cx="786384" cy="310896"/>
          </a:xfrm>
          <a:prstGeom prst="triangle">
            <a:avLst/>
          </a:prstGeom>
          <a:solidFill>
            <a:srgbClr val="2F6D62"/>
          </a:solidFill>
          <a:ln w="12700">
            <a:solidFill>
              <a:srgbClr val="2F6D62"/>
            </a:solidFill>
            <a:prstDash val="solid"/>
          </a:ln>
        </p:spPr>
      </p:sp>
      <p:sp>
        <p:nvSpPr>
          <p:cNvPr id="9" name="Shape 7"/>
          <p:cNvSpPr/>
          <p:nvPr/>
        </p:nvSpPr>
        <p:spPr>
          <a:xfrm>
            <a:off x="1783080" y="2121408"/>
            <a:ext cx="237744" cy="237744"/>
          </a:xfrm>
          <a:prstGeom prst="ellipse">
            <a:avLst/>
          </a:prstGeom>
          <a:solidFill>
            <a:srgbClr val="D97A14"/>
          </a:solidFill>
          <a:ln w="19050">
            <a:solidFill>
              <a:srgbClr val="D97A14"/>
            </a:solidFill>
            <a:prstDash val="solid"/>
          </a:ln>
        </p:spPr>
      </p:sp>
      <p:sp>
        <p:nvSpPr>
          <p:cNvPr id="10" name="Shape 8"/>
          <p:cNvSpPr/>
          <p:nvPr/>
        </p:nvSpPr>
        <p:spPr>
          <a:xfrm>
            <a:off x="2002536" y="2203704"/>
            <a:ext cx="457200" cy="73152"/>
          </a:xfrm>
          <a:prstGeom prst="rect">
            <a:avLst/>
          </a:prstGeom>
          <a:solidFill>
            <a:srgbClr val="D97A14"/>
          </a:solidFill>
          <a:ln w="9525">
            <a:solidFill>
              <a:srgbClr val="D97A14"/>
            </a:solidFill>
            <a:prstDash val="solid"/>
          </a:ln>
        </p:spPr>
      </p:sp>
      <p:sp>
        <p:nvSpPr>
          <p:cNvPr id="11" name="Shape 9"/>
          <p:cNvSpPr/>
          <p:nvPr/>
        </p:nvSpPr>
        <p:spPr>
          <a:xfrm>
            <a:off x="2313432" y="2258568"/>
            <a:ext cx="64008" cy="109728"/>
          </a:xfrm>
          <a:prstGeom prst="rect">
            <a:avLst/>
          </a:prstGeom>
          <a:solidFill>
            <a:srgbClr val="D97A14"/>
          </a:solidFill>
          <a:ln w="9525">
            <a:solidFill>
              <a:srgbClr val="D97A14"/>
            </a:solidFill>
            <a:prstDash val="solid"/>
          </a:ln>
        </p:spPr>
      </p:sp>
      <p:sp>
        <p:nvSpPr>
          <p:cNvPr id="12" name="Text 10"/>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3" name="Text 11"/>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4" name="Shape 12"/>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5" name="Shape 13"/>
          <p:cNvSpPr/>
          <p:nvPr/>
        </p:nvSpPr>
        <p:spPr>
          <a:xfrm>
            <a:off x="5120640" y="2194560"/>
            <a:ext cx="640080" cy="457200"/>
          </a:xfrm>
          <a:prstGeom prst="rect">
            <a:avLst/>
          </a:prstGeom>
          <a:solidFill>
            <a:srgbClr val="D97A14"/>
          </a:solidFill>
          <a:ln w="12700">
            <a:solidFill>
              <a:srgbClr val="D97A14"/>
            </a:solidFill>
            <a:prstDash val="solid"/>
          </a:ln>
        </p:spPr>
      </p:sp>
      <p:sp>
        <p:nvSpPr>
          <p:cNvPr id="16" name="Shape 14"/>
          <p:cNvSpPr/>
          <p:nvPr/>
        </p:nvSpPr>
        <p:spPr>
          <a:xfrm>
            <a:off x="5047488" y="1920240"/>
            <a:ext cx="786384" cy="310896"/>
          </a:xfrm>
          <a:prstGeom prst="triangle">
            <a:avLst/>
          </a:prstGeom>
          <a:solidFill>
            <a:srgbClr val="D97A14"/>
          </a:solidFill>
          <a:ln w="12700">
            <a:solidFill>
              <a:srgbClr val="D97A14"/>
            </a:solidFill>
            <a:prstDash val="solid"/>
          </a:ln>
        </p:spPr>
      </p:sp>
      <p:sp>
        <p:nvSpPr>
          <p:cNvPr id="17" name="Shape 15"/>
          <p:cNvSpPr/>
          <p:nvPr/>
        </p:nvSpPr>
        <p:spPr>
          <a:xfrm>
            <a:off x="6126480" y="2121408"/>
            <a:ext cx="237744" cy="237744"/>
          </a:xfrm>
          <a:prstGeom prst="ellipse">
            <a:avLst/>
          </a:prstGeom>
          <a:solidFill>
            <a:srgbClr val="D97A14"/>
          </a:solidFill>
          <a:ln w="19050">
            <a:solidFill>
              <a:srgbClr val="D97A14"/>
            </a:solidFill>
            <a:prstDash val="solid"/>
          </a:ln>
        </p:spPr>
      </p:sp>
      <p:sp>
        <p:nvSpPr>
          <p:cNvPr id="18" name="Shape 16"/>
          <p:cNvSpPr/>
          <p:nvPr/>
        </p:nvSpPr>
        <p:spPr>
          <a:xfrm>
            <a:off x="6345936" y="2203704"/>
            <a:ext cx="457200" cy="73152"/>
          </a:xfrm>
          <a:prstGeom prst="rect">
            <a:avLst/>
          </a:prstGeom>
          <a:solidFill>
            <a:srgbClr val="D97A14"/>
          </a:solidFill>
          <a:ln w="9525">
            <a:solidFill>
              <a:srgbClr val="D97A14"/>
            </a:solidFill>
            <a:prstDash val="solid"/>
          </a:ln>
        </p:spPr>
      </p:sp>
      <p:sp>
        <p:nvSpPr>
          <p:cNvPr id="19" name="Shape 17"/>
          <p:cNvSpPr/>
          <p:nvPr/>
        </p:nvSpPr>
        <p:spPr>
          <a:xfrm>
            <a:off x="6656832" y="2258568"/>
            <a:ext cx="64008" cy="109728"/>
          </a:xfrm>
          <a:prstGeom prst="rect">
            <a:avLst/>
          </a:prstGeom>
          <a:solidFill>
            <a:srgbClr val="D97A14"/>
          </a:solidFill>
          <a:ln w="9525">
            <a:solidFill>
              <a:srgbClr val="D97A14"/>
            </a:solidFill>
            <a:prstDash val="solid"/>
          </a:ln>
        </p:spPr>
      </p:sp>
      <p:sp>
        <p:nvSpPr>
          <p:cNvPr id="20" name="Text 18"/>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1" name="Text 19"/>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2" name="Text 20"/>
          <p:cNvSpPr txBox="1"/>
          <p:nvPr/>
        </p:nvSpPr>
        <p:spPr>
          <a:xfrm>
            <a:off x="457200" y="393192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a signature proves you hold the key while the key stays secret</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Whoever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balances on a website, keys elsewhere</a:t>
            </a:r>
            <a:endParaRPr lang="en-US" sz="1300" dirty="0"/>
          </a:p>
        </p:txBody>
      </p:sp>
      <p:pic>
        <p:nvPicPr>
          <p:cNvPr id="6" name="Image 0" descr="../../03-materials/ch01/assets/photo_mtgox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February 2014 Mt. Gox of Tokyo filed for bankruptcy and admitted that about 850,000 bitcoin were gone.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Customers had balances on a website, but the keys, and so the coins, were in someone else's hands all along.</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exchange of chief executive Mark Karpeles filed at the Tokyo District Court; creditors were still being repaid a decade later.</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Mt. Gox</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District Court</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noncustodial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where only you hold the keys, so only you can spend or lose the coins.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in your own home with the only key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Twelve or more words from which all of a wallet's keys can be rebuilt.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master key in a bank locker that can cut every lost key again.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recovery phrase becomes a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repeats a hash, 2048 times in BIP 39</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TEST_PHRASE.split()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 = [stretch(TEST_PHRASE, n)[:</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rounds]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['64d8279a', '297e090a', '5eb00bbd']</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phrase of BIP 39: eleven times abandon, then about.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repeats the hash; the wallet uses 2048 rounds.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twelve words, three round counts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Seed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64d8279a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297e090a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More rounds give an unrelated seed; wallets use 2048, so every guess costs 2048 rounds.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 on purpose: every guess costs the full 2048 rounds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first payment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an empty wallet to a first payment, like a first driving lesson.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Getting bitcoin</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Buy it, earn it, or use an exchange or an ATM.</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swapping money at an airport booth.</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Addresses and invoices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address says where; an invoice adds the amount.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mailbox number and a bill with the sum.</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Receiving and sending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Quick Start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chapter's first payment: install a wallet, share an address, receive bitcoin.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first driving lesson in an empty car park.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addresses: make a fresh one for each payer to protect your privacy.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locker number for every delivery.</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destination of a payment, derived from your private key and registered nowhere.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postbox anyone may drop money into but only you can empty.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invoice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payment request, often a QR code, that carries an address and an amount.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with the account number and the sum printed on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7432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wallet writes down a recovery code first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An address is shared; no account is opened anywhere</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confirmation makes the payment harder to reverse</a:t>
            </a:r>
            <a:endParaRPr lang="en-US" sz="14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steps from an empty phone to a first payment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address is a hash with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address of the first block is built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bytes([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payload = version + bytes.fromhex(GENESIS_HASH160)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dsha(payload)[:</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 = base58(payload + check)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'1A1zP1eP5QGefi2DMPTfTL5SLmv7DivfNa'</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0 pays to a 20-byte hash of a public key, behind a version byte.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checksum is the first four bytes of a double hash of the payload.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address of block 0, in parts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54864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Key 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62e907b1...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c29b7d93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Together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base58: 1A1zP1...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25 bytes are written in Base58 as the 34-character address 1A1zP1eP5QGefi2DMPTfTL5SLmv7DivfNa.</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mistyped address is caught by its checksum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is a link with an amount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request in the form of BIP 21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req = parse_uri(BIP21_URI)</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int(Decimal(req[</a:t>
            </a:r>
            <a:r>
              <a:rPr lang="en-US" sz="1000" dirty="0">
                <a:solidFill>
                  <a:srgbClr val="9ECBFF"/>
                </a:solidFill>
                <a:latin typeface="Courier New" pitchFamily="34" charset="0"/>
                <a:ea typeface="Courier New" pitchFamily="34" charset="-122"/>
                <a:cs typeface="Courier New" pitchFamily="34" charset="-120"/>
              </a:rPr>
              <a:t>'amount'</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request packs address, amount and label into one line of text.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fields come back by name, and the amount converts to satoshis.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fields of one payment link</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175tWpb8...245W</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label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Bob's Cafe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coffee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0.00015 bitcoin is 15,000 satoshis, the amount the wallet shows the payer.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QR code is only this text, drawn as dots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Show an address or an invoice; the payment appears once it is broadcast.</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handing a customer the payment slip of your shop.</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Your First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Buy from a friend, earn it, or use an exchange or an ATM.</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first foreign money: you can swap for it, earn it or be given it.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Sending and 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 to someone else's.</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coins in, payment and change 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spends whole coins and sends the rest back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50000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fee = </a:t>
            </a:r>
            <a:r>
              <a:rPr lang="en-US" sz="1000" dirty="0">
                <a:solidFill>
                  <a:srgbClr val="FFD28A"/>
                </a:solidFill>
                <a:latin typeface="Courier New" pitchFamily="34" charset="0"/>
                <a:ea typeface="Courier New" pitchFamily="34" charset="-122"/>
                <a:cs typeface="Courier New" pitchFamily="34" charset="-120"/>
              </a:rPr>
              <a:t>60000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1500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pick = min(c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coins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c &gt;=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 = pick -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18500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holds three unspent coins; it owes sixty thousand and a fee.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picks the smallest coin that covers both, and the rest comes back.</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coin in, three amounts out</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 picked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back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 is spent whole, like a banknote, and the change returns as a new output.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never cut a coin: you spend it and get change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old solved problems, joined into one system, like two rivers.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Two old problems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Hashcash made messages cost work; the generals agreed without trust.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rivers that meet in one channel.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Payments off-chain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Payment channels keep most payments off the public ledger.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settled once at closing time.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kind of thing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borderless, decentralized and robust, by design.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library no single person owns.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Neither idea was new; their combination was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Foundations: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offchain technology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Payments that move value without recording each one on the public chain.</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that is settled once at closing time.</a:t>
            </a:r>
            <a:endParaRPr lang="en-US" sz="1150" dirty="0"/>
          </a:p>
        </p:txBody>
      </p:sp>
      <p:sp>
        <p:nvSpPr>
          <p:cNvPr id="10" name="Shape 8"/>
          <p:cNvSpPr/>
          <p:nvPr/>
        </p:nvSpPr>
        <p:spPr>
          <a:xfrm>
            <a:off x="978408" y="3145536"/>
            <a:ext cx="2090928" cy="0"/>
          </a:xfrm>
          <a:prstGeom prst="line">
            <a:avLst/>
          </a:prstGeom>
          <a:noFill/>
          <a:ln w="28575">
            <a:solidFill>
              <a:srgbClr val="D97A14"/>
            </a:solidFill>
            <a:prstDash val="solid"/>
            <a:tailEnd type="triangle"/>
          </a:ln>
        </p:spPr>
      </p:sp>
      <p:sp>
        <p:nvSpPr>
          <p:cNvPr id="11" name="Shape 9"/>
          <p:cNvSpPr/>
          <p:nvPr/>
        </p:nvSpPr>
        <p:spPr>
          <a:xfrm>
            <a:off x="557784" y="2926080"/>
            <a:ext cx="438912" cy="438912"/>
          </a:xfrm>
          <a:prstGeom prst="ellipse">
            <a:avLst/>
          </a:prstGeom>
          <a:solidFill>
            <a:srgbClr val="D97A14"/>
          </a:solidFill>
          <a:ln w="19050">
            <a:solidFill>
              <a:srgbClr val="FFFFFF"/>
            </a:solidFill>
            <a:prstDash val="solid"/>
          </a:ln>
        </p:spPr>
      </p:sp>
      <p:sp>
        <p:nvSpPr>
          <p:cNvPr id="12" name="Text 10"/>
          <p:cNvSpPr txBox="1"/>
          <p:nvPr/>
        </p:nvSpPr>
        <p:spPr>
          <a:xfrm>
            <a:off x="22860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3" name="Shape 11"/>
          <p:cNvSpPr/>
          <p:nvPr/>
        </p:nvSpPr>
        <p:spPr>
          <a:xfrm>
            <a:off x="3508248" y="3145536"/>
            <a:ext cx="2090928" cy="0"/>
          </a:xfrm>
          <a:prstGeom prst="line">
            <a:avLst/>
          </a:prstGeom>
          <a:noFill/>
          <a:ln w="28575">
            <a:solidFill>
              <a:srgbClr val="D97A14"/>
            </a:solidFill>
            <a:prstDash val="solid"/>
            <a:tailEnd type="triangle"/>
          </a:ln>
        </p:spPr>
      </p:sp>
      <p:sp>
        <p:nvSpPr>
          <p:cNvPr id="14" name="Shape 12"/>
          <p:cNvSpPr/>
          <p:nvPr/>
        </p:nvSpPr>
        <p:spPr>
          <a:xfrm>
            <a:off x="3087624" y="292608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75844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6" name="Shape 14"/>
          <p:cNvSpPr/>
          <p:nvPr/>
        </p:nvSpPr>
        <p:spPr>
          <a:xfrm>
            <a:off x="6038088" y="3145536"/>
            <a:ext cx="2090928" cy="0"/>
          </a:xfrm>
          <a:prstGeom prst="line">
            <a:avLst/>
          </a:prstGeom>
          <a:noFill/>
          <a:ln w="28575">
            <a:solidFill>
              <a:srgbClr val="D97A14"/>
            </a:solidFill>
            <a:prstDash val="solid"/>
            <a:tailEnd type="triangle"/>
          </a:ln>
        </p:spPr>
      </p:sp>
      <p:sp>
        <p:nvSpPr>
          <p:cNvPr id="17" name="Shape 15"/>
          <p:cNvSpPr/>
          <p:nvPr/>
        </p:nvSpPr>
        <p:spPr>
          <a:xfrm>
            <a:off x="5617464" y="2926080"/>
            <a:ext cx="438912" cy="438912"/>
          </a:xfrm>
          <a:prstGeom prst="ellipse">
            <a:avLst/>
          </a:prstGeom>
          <a:solidFill>
            <a:srgbClr val="2F6D62"/>
          </a:solidFill>
          <a:ln w="19050">
            <a:solidFill>
              <a:srgbClr val="FFFFFF"/>
            </a:solidFill>
            <a:prstDash val="solid"/>
          </a:ln>
        </p:spPr>
      </p:sp>
      <p:sp>
        <p:nvSpPr>
          <p:cNvPr id="18" name="Text 16"/>
          <p:cNvSpPr txBox="1"/>
          <p:nvPr/>
        </p:nvSpPr>
        <p:spPr>
          <a:xfrm>
            <a:off x="528828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9" name="Shape 17"/>
          <p:cNvSpPr/>
          <p:nvPr/>
        </p:nvSpPr>
        <p:spPr>
          <a:xfrm>
            <a:off x="8147304" y="2926080"/>
            <a:ext cx="438912" cy="438912"/>
          </a:xfrm>
          <a:prstGeom prst="ellipse">
            <a:avLst/>
          </a:prstGeom>
          <a:solidFill>
            <a:srgbClr val="D97A14"/>
          </a:solidFill>
          <a:ln w="19050">
            <a:solidFill>
              <a:srgbClr val="FFFFFF"/>
            </a:solidFill>
            <a:prstDash val="solid"/>
          </a:ln>
        </p:spPr>
      </p:sp>
      <p:sp>
        <p:nvSpPr>
          <p:cNvPr id="20" name="Text 18"/>
          <p:cNvSpPr txBox="1"/>
          <p:nvPr/>
        </p:nvSpPr>
        <p:spPr>
          <a:xfrm>
            <a:off x="781812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1" name="Text 19"/>
          <p:cNvSpPr txBox="1"/>
          <p:nvPr/>
        </p:nvSpPr>
        <p:spPr>
          <a:xfrm>
            <a:off x="457200" y="3803904"/>
            <a:ext cx="82296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Alice pays Dave through three channels; the chain is untouched</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transactions, any number of payments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channel opens and closes on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payments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onchain = payments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 =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payments]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8, 98, 998]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Paid on the chain, every payment is one transaction.</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records two transactions, one to open and one to close.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transactions on the chain, per payment count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31520"/>
                <a:gridCol w="731520"/>
                <a:gridCol w="77724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On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Opening and closing cost two transactions however many payments follow; a single payment alone does not pay off.</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pays off from the third payment on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headline sits in block 0, and the first payment went from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the cap of 21 million is arithmetic, and the price is discovered by trades.</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has no bank: every node checks every rule, and proof of work makes history costly.</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holds keys, not coins; whoever holds the keys holds the coins, and the code restores them.</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first payment needs an address or invoice, whole coins, change, and a fee for the miner.</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two old ideas joined, and payment channels that keep many payments off the chain.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code slide carries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white paper, then look up block 0 yourself</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Bitcoin came from</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supply is capped and price discovered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double spend is refused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controls the keys; how a payment works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2026-10-25T10:13:36Z</dcterms:created>
  <dcterms:modified xsi:type="dcterms:W3CDTF">2026-10-25T10:13:36Z</dcterms:modified>
  <cp:version>3.0.0</cp:version>
</cp:coreProperties>
</file>