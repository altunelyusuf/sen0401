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0-1.jpg" ContentType="image/jpg"/>
  <Override PartName="/ppt/media/image-14-1.jpg" ContentType="image/jpg"/>
  <Override PartName="/ppt/media/image-15-1.jpg" ContentType="image/jpg"/>
  <Override PartName="/ppt/media/image-18-1.jpg" ContentType="image/jpg"/>
  <Override PartName="/ppt/media/image-19-1.jpg" ContentType="image/jpg"/>
  <Override PartName="/ppt/media/image-19-2.jpg" ContentType="image/jpg"/>
  <Override PartName="/ppt/media/image-19-3.jpg" ContentType="image/jpg"/>
  <Override PartName="/ppt/media/image-19-4.jpg" ContentType="image/jpg"/>
  <Override PartName="/ppt/media/image-19-5.jpg" ContentType="image/jpg"/>
  <Override PartName="/ppt/media/image-24-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2009</c:v>
                  </c:pt>
                  <c:pt idx="1">
                    <c:v>2012</c:v>
                  </c:pt>
                  <c:pt idx="2">
                    <c:v>2016</c:v>
                  </c:pt>
                  <c:pt idx="3">
                    <c:v>2020</c:v>
                  </c:pt>
                  <c:pt idx="4">
                    <c:v>2024</c:v>
                  </c:pt>
                </c:lvl>
              </c:multiLvlStrCache>
            </c:multiLvlStrRef>
          </c:cat>
          <c:val>
            <c:numRef>
              <c:f>Sheet1!$B$2:$B$6</c:f>
              <c:numCache>
                <c:formatCode>General</c:formatCode>
                <c:ptCount val="5"/>
                <c:pt idx="0">
                  <c:v>50</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issued</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10.5</c:v>
                </c:pt>
                <c:pt idx="1">
                  <c:v>15.75</c:v>
                </c:pt>
                <c:pt idx="2">
                  <c:v>18.375</c:v>
                </c:pt>
                <c:pt idx="3">
                  <c:v>19.6875</c:v>
                </c:pt>
                <c:pt idx="4">
                  <c:v>20.34375</c:v>
                </c:pt>
                <c:pt idx="5">
                  <c:v>20.671875</c:v>
                </c:pt>
                <c:pt idx="6">
                  <c:v>20.835937</c:v>
                </c:pt>
                <c:pt idx="7">
                  <c:v>20.917968</c:v>
                </c:pt>
              </c:numCache>
            </c:numRef>
          </c:val>
          <c:smooth val="0"/>
        </c:ser>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10,000 BTC in dollars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Guesses needed (log axis)</a:t>
            </a:r>
          </a:p>
        </c:rich>
      </c:tx>
      <c:layout/>
      <c:overlay val="0"/>
    </c:title>
    <c:autoTitleDeleted val="0"/>
    <c:plotArea>
      <c:layout/>
      <c:barChart>
        <c:barDir val="col"/>
        <c:grouping val="clustered"/>
        <c:varyColors val="0"/>
        <c:ser>
          <c:idx val="0"/>
          <c:order val="0"/>
          <c:tx>
            <c:strRef>
              <c:f>Sheet1!$B$1</c:f>
              <c:strCache>
                <c:ptCount val="1"/>
                <c:pt idx="0">
                  <c:v>guesses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9</c:v>
                </c:pt>
                <c:pt idx="1">
                  <c:v>223</c:v>
                </c:pt>
                <c:pt idx="2">
                  <c:v>1208</c:v>
                </c:pt>
                <c:pt idx="3">
                  <c:v>57247</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
          <c:min val="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Coin in</c:v>
                  </c:pt>
                  <c:pt idx="1">
                    <c:v>To Bob</c:v>
                  </c:pt>
                  <c:pt idx="2">
                    <c:v>Change</c:v>
                  </c:pt>
                  <c:pt idx="3">
                    <c:v>Fee</c:v>
                  </c:pt>
                </c:lvl>
              </c:multiLvlStrCache>
            </c:multiLvlStrRef>
          </c:cat>
          <c:val>
            <c:numRef>
              <c:f>Sheet1!$B$2:$B$5</c:f>
              <c:numCache>
                <c:formatCode>General</c:formatCode>
                <c:ptCount val="4"/>
                <c:pt idx="0">
                  <c:v>100000</c:v>
                </c:pt>
                <c:pt idx="1">
                  <c:v>20000</c:v>
                </c:pt>
                <c:pt idx="2">
                  <c:v>75000</c:v>
                </c:pt>
                <c:pt idx="3">
                  <c:v>5000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introduces Bitcoin through true stories, the chapter's key concepts with everyday comparisons, and fifteen short programs. Every number on a result picture was computed with the chapter's own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Nine true stories and fifteen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are the chapter's own, rewritten so that each has an answer on a slide. We return to them in the summary. A reader who can answer all six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says that Bitcoin is a collection of concepts and technologies that form the basis of a digital money ecosystem. The six branches are money, network, wallet, usage, foundations and nature. This deck regroups them into six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did not appear from nothing. This part reads the first block, follows the first payment and meets the cryptographers whose parts Nakamoto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Introduction and History of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 January 2009. Satoshi Nakamoto, the pseudonymous creator of Bitcoin, mined block 0 and wrote the headline of that morning's Times into it. The block is a timestamp and a manifesto.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block keeps a short script. Eight bytes of pushes come first, then 69 bytes of text. Decode them and you read The Times of 3 January 2009 inside the chain itself.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12 January 2009. Hal Finney, who had worked on PGP, was the first person besides Satoshi to run Bitcoin and the first to be paid. One peer paid another,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31 October 2008. Chaum's company DigiCash went bankrupt; Back's Hashcash priced email with work; b-money and bit gold were never built. Nakamoto added the missing piece and combined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Chaum's ecash of 1982, Back's Hashcash of 1997, and the b-money and bit gold of 1998 each solved a piece. Nakamoto's paper of 2008 combined them with proof of work as the vote. The genesis block ran in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is a ledger. We see old forms of money, count in satoshis, run the supply schedule and watch a price being discovered by trades, never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floating exchange rate, Finding the Current Price of Bitcoin, currency exchange and Bitcoin ATM.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documented in 1903. On the island of Yap the stones stayed where they lay and the community remembered who owned them. Money is a ledger, and Bitcoin makes the shared memory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15 August 1971. Money kept changing form, from Mesopotamian grain entries to Lydian coins to bank balances. Cryptocurrency is the next step: a ledger that no single institution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a column to see one kind of money, and across a row to see which property changes. Who keeps the ledger is the row that matters most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8 July 2002. The web could sell before it could pay. PayPal solved it by adding a middleman, and the pure digital currencies of the boom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26 February 2022. Mykhailo Fedorov, Ukraine's minister of digital transformation, published donation addresses. The next slide lists four more documented cases from 2007 to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Kenya 2007, Cyprus 2013, Greece 2015, Venezuela 2018 and Ukraine 2022. In each case banks, cards or cash stopped serving people. Each line links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divides into 100 million satoshis. We multiply 0.001 by that number and get exactly 100,000. Amounts in the protocol are whole satoshis, never fractions.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starts at fifty bitcoin. The code shifts it right once per era. Five heights give the staircase from 2009 to 2024, each step exactly half of the one before.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era issues its subsidy over 210,000 blocks. Adding 33 eras gives 20,999,999.9769 bitcoin. The chart shows the running total approaching 21 million without reaching it.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trade has its own price, found by dividing dollars by bitcoin. A volume-weighted average gives one fair figure for the day. The three trades are illustrative, not market data.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22 May 2010. Laszlo Hanyecz offered 10,000 bitcoin for two pizzas on a forum and Jeremy Sturdivant ordered them. Price is discovered the first time someone actually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pizzas cost 41 dollars of bitcoin in May 2010. The same coins at five later milestones draw the chart; the last point is the price fetched on 6 October 2026. Each gridline is ten times more.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bank stands in the middle. Every node checks the same rules, proof of work makes history costly to forge, and fees and confirmations settle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one ledger-keeper sees everything and everyone depends on it. On the right every node checks every rule. Remove one node and the network goes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proof of work, consensus and double-spend.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tries numbers until the hash starts with zeros. Each extra zero makes it about sixteen times longer on average. Anyone checks the winner with a single hash.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wait, miners spend energy on proof of work, a block is found about every ten minutes, and the finder earns subsidy plus fees. Cheating costs more than it could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coin is only a file, and files copy perfectly. Both copies could be spent. For decades only a trusted central ledger could stop that, so digital money meant bank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payment is broadcast and the nodes agree on one order. The first spend of a coin enters the block, and every node refuses the second. The next code slide runs that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ledger remembers which coins are spent. Alice pays Bob with coin c1 and it is accepted. When she offers the same coin to Carol, the rule refuses it. No bank decides.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block's hash covers its own text and the hash of the block before. Changing one word in block two makes the check stop there, so nothing after it can be trusted.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confirmation and transaction fee.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 of 100,000 satoshis pays 20,000 to Bob and returns 75,000 as change. The 5,000 left over goes to the miner who includes the payment. Fees are implied, never written.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holds keys, not coins. This part sorts wallets by platform, by how much of the network they check, and by who holds the keys and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classified by its platform, by how much of the network it checks, by who holds the keys, and by how it is backed up. Every leaf has a card in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Getting Started, Choosing a Bitcoin Wallet, Types of Bitcoin wallets and desktop wallet.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mobile wallet, web wallet, hardware signing device and third-party API client.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full node, lightweight client, Full node versus Lightweight and Who controls the keys.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to bitcoin is controlled by private keys, like very long PINs. With a house, the key opens the door and a registry proves the owner. In Bitcoin the key is both, so it must prove without being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full control you keep the keys, sign yourself and carry the backup. With third-party control a service keeps the keys, which is convenient, and you trust its honesty and uptime. Every wallet type can be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28 February 2014. Mt. Gox was once the largest bitcoin exchange. Whoever holds the keys holds the coins, exchanges included. This is the cost of a custodial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noncustodial wallet and Recovery Codes.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recovery phrase of twelve words is stretched by repeating a keyed hash. With 1, 10 or 2048 rounds the seeds look unrelated. A thief guessing phrases pays all 2048 rounds per guess.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a first payment from an empty wallet. First how to get bitcoin, then what an address and an invoice are, and finally how a wallet sends with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Quick Start, Bitcoin Addresses, Bitcoin address and invoice.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installs a wallet, which makes her keys and a recovery code. She shares an address, acquires her first bitcoin, and waits for confirmations. The next slides build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0 pays to a 20-byte key hash behind a version byte. The checksum is the first four bytes of a double hash. Together they make 25 bytes, written in Base58 as a 34-character address.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request packs an address, an amount, a label and a message into one text. The wallet splits it into named fields and turns the amount into whole satoshis.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Receiving Bitcoin, Getting Your First Bitcoin and Sending and Receiving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owes 60,000 satoshis plus a 1,500 fee. It picks the smallest coin that covers both, 80,000, and sends 18,500 back to itself as change.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old ideas, proof of work and agreement without trust, meet in Bitcoin. Payment channels keep many payments off the chain, and four adjectives name its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Hashcash of 1997 makes sending cost computation. The Byzantine Generals' problem of 1982 asks how parties that cannot trust each other agree. Proof of work with the longest valid chain is Bitcoin's practical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make addresses, addresses receive transactions, transactions are gathered into blocks, and blocks are added by mining. Each stage trusts only what it can verify. Later chapters open each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offchain technology.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chain every payment is a transaction. A channel needs one to open and one to close, whatever happens between. One payment alone costs more; a thousand save 998 transactions.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gives two answers. Bitcoin is virtual, borderless, decentralized and robust, and it is built from a peer-to-peer protocol, a public journal and a consensus rule set. Each adjective is 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line still feels like a claim rather than a fact, go back to the slide that carries its receipt. The course page for chapter 1 has the full text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white paper, nine pages, and then the 3Blue1Brown video. The block explorers let you look up the first block and the pizza payment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program that ran on a slide of this deck. The course page for chapter 1 has every word behind them, the stories with their sources,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bitcoin.org/bitcoin.pdf"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www.money.org/money-museum/virtual-exhibits/hom"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en.wikipedia.org/wiki/PayPa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hyperlink" Target="https://nbclosangeles.com/news/business/money-report/ukraine-has-raised-more-than-54-million-as-bitcoin-donations-pour-in-to-support-the-war-against-russia/2840244"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hyperlink" Target="https://en.wikipedia.org/wiki/M-Pesa" TargetMode="External"/><Relationship Id="rId7" Type="http://schemas.openxmlformats.org/officeDocument/2006/relationships/hyperlink" Target="https://en.wikipedia.org/wiki/2012%E2%80%932013_Cypriot_financial_crisis" TargetMode="External"/><Relationship Id="rId8" Type="http://schemas.openxmlformats.org/officeDocument/2006/relationships/hyperlink" Target="https://en.wikipedia.org/wiki/Greek_government-debt_crisis" TargetMode="External"/><Relationship Id="rId9" Type="http://schemas.openxmlformats.org/officeDocument/2006/relationships/hyperlink" Target="https://en.wikipedia.org/wiki/Hyperinflation_in_Venezuela" TargetMode="External"/><Relationship Id="rId10" Type="http://schemas.openxmlformats.org/officeDocument/2006/relationships/hyperlink" Target="https://nbclosangeles.com/news/business/money-report/ukraine-has-raised-more-than-54-million-as-bitcoin-donations-pour-in-to-support-the-war-against-russia/2840244" TargetMode="External"/><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hyperlink" Target="https://techcrunch.com/2014/03/03/mt-gox-posts-new-statement-on-alleged-theft-bankruptcy-filing/" TargetMode="External"/><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api.coingecko.com/api/v3/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cdn.nakamotoinstitute.org/docs/hashcash.pdf" TargetMode="External"/><Relationship Id="rId11" Type="http://schemas.openxmlformats.org/officeDocument/2006/relationships/hyperlink" Target="https://cdn.nakamotoinstitute.org/docs/b-money.txt" TargetMode="External"/><Relationship Id="rId12" Type="http://schemas.openxmlformats.org/officeDocument/2006/relationships/hyperlink" Target="https://www.youtube.com/embed/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669280" y="274320"/>
            <a:ext cx="3108960" cy="178308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gold coin on circuit traces, from the owner's 2025 Chapter 1 deck. Python 3.14.6; every result on a slide was computed, not typed.</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Origins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Money and price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12-25)</a:t>
            </a:r>
            <a:endParaRPr lang="en-US" sz="110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The network</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26-36)</a:t>
            </a:r>
            <a:endParaRPr lang="en-US" sz="110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Wallets and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37-46)</a:t>
            </a:r>
            <a:endParaRPr lang="en-US" sz="110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A first payment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47-53)</a:t>
            </a:r>
            <a:endParaRPr lang="en-US" sz="110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Foundations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54-59)</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62</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fifteen examples, nine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did Bitcoin come from, and what did it combine?</a:t>
            </a:r>
            <a:endParaRPr lang="en-US" sz="120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is the unit of its money, and who decides how much exists?</a:t>
            </a:r>
            <a:endParaRPr lang="en-US" sz="120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sets the price, and how does a double-spend get refused?</a:t>
            </a:r>
            <a:endParaRPr lang="en-US" sz="120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kinds of wallet differ in, and who controls the keys?</a:t>
            </a:r>
            <a:endParaRPr lang="en-US" sz="120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are an address and an invoice, and how does a wallet send with change?</a:t>
            </a:r>
            <a:endParaRPr lang="en-US" sz="120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can payment channels do that the chain alone cannot?</a:t>
            </a:r>
            <a:endParaRPr lang="en-US" sz="120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365760" y="265176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5176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8" name="Shape 6"/>
          <p:cNvSpPr/>
          <p:nvPr/>
        </p:nvSpPr>
        <p:spPr>
          <a:xfrm flipV="1">
            <a:off x="1783080" y="1609344"/>
            <a:ext cx="502920" cy="1316736"/>
          </a:xfrm>
          <a:prstGeom prst="line">
            <a:avLst/>
          </a:prstGeom>
          <a:noFill/>
          <a:ln w="13970">
            <a:solidFill>
              <a:srgbClr val="C9BFAE"/>
            </a:solidFill>
            <a:prstDash val="solid"/>
          </a:ln>
        </p:spPr>
      </p:sp>
      <p:sp>
        <p:nvSpPr>
          <p:cNvPr id="9" name="Shape 7"/>
          <p:cNvSpPr/>
          <p:nvPr/>
        </p:nvSpPr>
        <p:spPr>
          <a:xfrm>
            <a:off x="2331720" y="137160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37160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1" name="Shape 9"/>
          <p:cNvSpPr/>
          <p:nvPr/>
        </p:nvSpPr>
        <p:spPr>
          <a:xfrm>
            <a:off x="4023360" y="1609344"/>
            <a:ext cx="274320" cy="0"/>
          </a:xfrm>
          <a:prstGeom prst="line">
            <a:avLst/>
          </a:prstGeom>
          <a:noFill/>
          <a:ln w="13970">
            <a:solidFill>
              <a:srgbClr val="C9BFAE"/>
            </a:solidFill>
            <a:prstDash val="solid"/>
          </a:ln>
        </p:spPr>
      </p:sp>
      <p:sp>
        <p:nvSpPr>
          <p:cNvPr id="12" name="Shape 10"/>
          <p:cNvSpPr/>
          <p:nvPr/>
        </p:nvSpPr>
        <p:spPr>
          <a:xfrm>
            <a:off x="4297680" y="138988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38988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4" name="Shape 12"/>
          <p:cNvSpPr/>
          <p:nvPr/>
        </p:nvSpPr>
        <p:spPr>
          <a:xfrm flipV="1">
            <a:off x="1783080" y="2136038"/>
            <a:ext cx="502920" cy="790042"/>
          </a:xfrm>
          <a:prstGeom prst="line">
            <a:avLst/>
          </a:prstGeom>
          <a:noFill/>
          <a:ln w="13970">
            <a:solidFill>
              <a:srgbClr val="C9BFAE"/>
            </a:solidFill>
            <a:prstDash val="solid"/>
          </a:ln>
        </p:spPr>
      </p:sp>
      <p:sp>
        <p:nvSpPr>
          <p:cNvPr id="15" name="Shape 13"/>
          <p:cNvSpPr/>
          <p:nvPr/>
        </p:nvSpPr>
        <p:spPr>
          <a:xfrm>
            <a:off x="2331720" y="189829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189829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7" name="Shape 15"/>
          <p:cNvSpPr/>
          <p:nvPr/>
        </p:nvSpPr>
        <p:spPr>
          <a:xfrm>
            <a:off x="4023360" y="2136038"/>
            <a:ext cx="274320" cy="0"/>
          </a:xfrm>
          <a:prstGeom prst="line">
            <a:avLst/>
          </a:prstGeom>
          <a:noFill/>
          <a:ln w="13970">
            <a:solidFill>
              <a:srgbClr val="C9BFAE"/>
            </a:solidFill>
            <a:prstDash val="solid"/>
          </a:ln>
        </p:spPr>
      </p:sp>
      <p:sp>
        <p:nvSpPr>
          <p:cNvPr id="18" name="Shape 16"/>
          <p:cNvSpPr/>
          <p:nvPr/>
        </p:nvSpPr>
        <p:spPr>
          <a:xfrm>
            <a:off x="4297680" y="191658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191658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0" name="Shape 18"/>
          <p:cNvSpPr/>
          <p:nvPr/>
        </p:nvSpPr>
        <p:spPr>
          <a:xfrm flipV="1">
            <a:off x="1783080" y="2662733"/>
            <a:ext cx="502920" cy="263347"/>
          </a:xfrm>
          <a:prstGeom prst="line">
            <a:avLst/>
          </a:prstGeom>
          <a:noFill/>
          <a:ln w="13970">
            <a:solidFill>
              <a:srgbClr val="C9BFAE"/>
            </a:solidFill>
            <a:prstDash val="solid"/>
          </a:ln>
        </p:spPr>
      </p:sp>
      <p:sp>
        <p:nvSpPr>
          <p:cNvPr id="21" name="Shape 19"/>
          <p:cNvSpPr/>
          <p:nvPr/>
        </p:nvSpPr>
        <p:spPr>
          <a:xfrm>
            <a:off x="2331720" y="2424989"/>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2424989"/>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3" name="Shape 21"/>
          <p:cNvSpPr/>
          <p:nvPr/>
        </p:nvSpPr>
        <p:spPr>
          <a:xfrm>
            <a:off x="4023360" y="2662733"/>
            <a:ext cx="274320" cy="0"/>
          </a:xfrm>
          <a:prstGeom prst="line">
            <a:avLst/>
          </a:prstGeom>
          <a:noFill/>
          <a:ln w="13970">
            <a:solidFill>
              <a:srgbClr val="C9BFAE"/>
            </a:solidFill>
            <a:prstDash val="solid"/>
          </a:ln>
        </p:spPr>
      </p:sp>
      <p:sp>
        <p:nvSpPr>
          <p:cNvPr id="24" name="Shape 22"/>
          <p:cNvSpPr/>
          <p:nvPr/>
        </p:nvSpPr>
        <p:spPr>
          <a:xfrm>
            <a:off x="4297680" y="2443277"/>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2443277"/>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6" name="Shape 24"/>
          <p:cNvSpPr/>
          <p:nvPr/>
        </p:nvSpPr>
        <p:spPr>
          <a:xfrm>
            <a:off x="1783080" y="2926080"/>
            <a:ext cx="502920" cy="263347"/>
          </a:xfrm>
          <a:prstGeom prst="line">
            <a:avLst/>
          </a:prstGeom>
          <a:noFill/>
          <a:ln w="13970">
            <a:solidFill>
              <a:srgbClr val="C9BFAE"/>
            </a:solidFill>
            <a:prstDash val="solid"/>
          </a:ln>
        </p:spPr>
      </p:sp>
      <p:sp>
        <p:nvSpPr>
          <p:cNvPr id="27" name="Shape 25"/>
          <p:cNvSpPr/>
          <p:nvPr/>
        </p:nvSpPr>
        <p:spPr>
          <a:xfrm>
            <a:off x="2331720" y="2951683"/>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2951683"/>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29" name="Shape 27"/>
          <p:cNvSpPr/>
          <p:nvPr/>
        </p:nvSpPr>
        <p:spPr>
          <a:xfrm>
            <a:off x="4023360" y="3189427"/>
            <a:ext cx="274320" cy="0"/>
          </a:xfrm>
          <a:prstGeom prst="line">
            <a:avLst/>
          </a:prstGeom>
          <a:noFill/>
          <a:ln w="13970">
            <a:solidFill>
              <a:srgbClr val="C9BFAE"/>
            </a:solidFill>
            <a:prstDash val="solid"/>
          </a:ln>
        </p:spPr>
      </p:sp>
      <p:sp>
        <p:nvSpPr>
          <p:cNvPr id="30" name="Shape 28"/>
          <p:cNvSpPr/>
          <p:nvPr/>
        </p:nvSpPr>
        <p:spPr>
          <a:xfrm>
            <a:off x="4297680" y="2969971"/>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2969971"/>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2" name="Shape 30"/>
          <p:cNvSpPr/>
          <p:nvPr/>
        </p:nvSpPr>
        <p:spPr>
          <a:xfrm>
            <a:off x="1783080" y="2926080"/>
            <a:ext cx="502920" cy="790042"/>
          </a:xfrm>
          <a:prstGeom prst="line">
            <a:avLst/>
          </a:prstGeom>
          <a:noFill/>
          <a:ln w="13970">
            <a:solidFill>
              <a:srgbClr val="C9BFAE"/>
            </a:solidFill>
            <a:prstDash val="solid"/>
          </a:ln>
        </p:spPr>
      </p:sp>
      <p:sp>
        <p:nvSpPr>
          <p:cNvPr id="33" name="Shape 31"/>
          <p:cNvSpPr/>
          <p:nvPr/>
        </p:nvSpPr>
        <p:spPr>
          <a:xfrm>
            <a:off x="2331720" y="3478378"/>
            <a:ext cx="1691640" cy="475488"/>
          </a:xfrm>
          <a:prstGeom prst="roundRect">
            <a:avLst>
              <a:gd name="adj" fmla="val 15385"/>
            </a:avLst>
          </a:prstGeom>
          <a:solidFill>
            <a:srgbClr val="2F6D62"/>
          </a:solidFill>
          <a:ln w="9525">
            <a:solidFill>
              <a:srgbClr val="2F6D62"/>
            </a:solidFill>
            <a:prstDash val="solid"/>
          </a:ln>
        </p:spPr>
      </p:sp>
      <p:sp>
        <p:nvSpPr>
          <p:cNvPr id="34" name="Text 32"/>
          <p:cNvSpPr txBox="1"/>
          <p:nvPr/>
        </p:nvSpPr>
        <p:spPr>
          <a:xfrm>
            <a:off x="2386584" y="347837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5" name="Shape 33"/>
          <p:cNvSpPr/>
          <p:nvPr/>
        </p:nvSpPr>
        <p:spPr>
          <a:xfrm>
            <a:off x="4023360" y="3716122"/>
            <a:ext cx="274320" cy="0"/>
          </a:xfrm>
          <a:prstGeom prst="line">
            <a:avLst/>
          </a:prstGeom>
          <a:noFill/>
          <a:ln w="13970">
            <a:solidFill>
              <a:srgbClr val="C9BFAE"/>
            </a:solidFill>
            <a:prstDash val="solid"/>
          </a:ln>
        </p:spPr>
      </p:sp>
      <p:sp>
        <p:nvSpPr>
          <p:cNvPr id="36" name="Shape 34"/>
          <p:cNvSpPr/>
          <p:nvPr/>
        </p:nvSpPr>
        <p:spPr>
          <a:xfrm>
            <a:off x="4297680" y="3496666"/>
            <a:ext cx="4480560" cy="438912"/>
          </a:xfrm>
          <a:prstGeom prst="roundRect">
            <a:avLst>
              <a:gd name="adj" fmla="val 12500"/>
            </a:avLst>
          </a:prstGeom>
          <a:solidFill>
            <a:srgbClr val="F2ECE1"/>
          </a:solidFill>
          <a:ln w="6350">
            <a:solidFill>
              <a:srgbClr val="DFD6C7"/>
            </a:solidFill>
            <a:prstDash val="solid"/>
          </a:ln>
        </p:spPr>
      </p:sp>
      <p:sp>
        <p:nvSpPr>
          <p:cNvPr id="37" name="Text 35"/>
          <p:cNvSpPr txBox="1"/>
          <p:nvPr/>
        </p:nvSpPr>
        <p:spPr>
          <a:xfrm>
            <a:off x="4407408" y="349666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8" name="Shape 36"/>
          <p:cNvSpPr/>
          <p:nvPr/>
        </p:nvSpPr>
        <p:spPr>
          <a:xfrm>
            <a:off x="1783080" y="2926080"/>
            <a:ext cx="502920" cy="1316736"/>
          </a:xfrm>
          <a:prstGeom prst="line">
            <a:avLst/>
          </a:prstGeom>
          <a:noFill/>
          <a:ln w="13970">
            <a:solidFill>
              <a:srgbClr val="C9BFAE"/>
            </a:solidFill>
            <a:prstDash val="solid"/>
          </a:ln>
        </p:spPr>
      </p:sp>
      <p:sp>
        <p:nvSpPr>
          <p:cNvPr id="39" name="Shape 37"/>
          <p:cNvSpPr/>
          <p:nvPr/>
        </p:nvSpPr>
        <p:spPr>
          <a:xfrm>
            <a:off x="2331720" y="4005072"/>
            <a:ext cx="1691640" cy="475488"/>
          </a:xfrm>
          <a:prstGeom prst="roundRect">
            <a:avLst>
              <a:gd name="adj" fmla="val 15385"/>
            </a:avLst>
          </a:prstGeom>
          <a:solidFill>
            <a:srgbClr val="2F6D62"/>
          </a:solidFill>
          <a:ln w="9525">
            <a:solidFill>
              <a:srgbClr val="2F6D62"/>
            </a:solidFill>
            <a:prstDash val="solid"/>
          </a:ln>
        </p:spPr>
      </p:sp>
      <p:sp>
        <p:nvSpPr>
          <p:cNvPr id="40" name="Text 38"/>
          <p:cNvSpPr txBox="1"/>
          <p:nvPr/>
        </p:nvSpPr>
        <p:spPr>
          <a:xfrm>
            <a:off x="2386584" y="400507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1" name="Shape 39"/>
          <p:cNvSpPr/>
          <p:nvPr/>
        </p:nvSpPr>
        <p:spPr>
          <a:xfrm>
            <a:off x="4023360" y="4242816"/>
            <a:ext cx="274320" cy="0"/>
          </a:xfrm>
          <a:prstGeom prst="line">
            <a:avLst/>
          </a:prstGeom>
          <a:noFill/>
          <a:ln w="13970">
            <a:solidFill>
              <a:srgbClr val="C9BFAE"/>
            </a:solidFill>
            <a:prstDash val="solid"/>
          </a:ln>
        </p:spPr>
      </p:sp>
      <p:sp>
        <p:nvSpPr>
          <p:cNvPr id="42" name="Shape 40"/>
          <p:cNvSpPr/>
          <p:nvPr/>
        </p:nvSpPr>
        <p:spPr>
          <a:xfrm>
            <a:off x="4297680" y="4023360"/>
            <a:ext cx="4480560" cy="438912"/>
          </a:xfrm>
          <a:prstGeom prst="roundRect">
            <a:avLst>
              <a:gd name="adj" fmla="val 12500"/>
            </a:avLst>
          </a:prstGeom>
          <a:solidFill>
            <a:srgbClr val="F2ECE1"/>
          </a:solidFill>
          <a:ln w="6350">
            <a:solidFill>
              <a:srgbClr val="DFD6C7"/>
            </a:solidFill>
            <a:prstDash val="solid"/>
          </a:ln>
        </p:spPr>
      </p:sp>
      <p:sp>
        <p:nvSpPr>
          <p:cNvPr id="43" name="Text 41"/>
          <p:cNvSpPr txBox="1"/>
          <p:nvPr/>
        </p:nvSpPr>
        <p:spPr>
          <a:xfrm>
            <a:off x="4407408" y="402336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every slide today lives on this map</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Bitcoin combines old parts, like a recipe of familiar ingredients.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block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0 carries a newspaper headline dated 3 January 2009.</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time capsule sealed with that day's paper.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payment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 sent ten bitcoin to Hal Finney nine days later.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coin dropped into a new machine.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Forty years before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Chaum, Back, Dai and Szabo each built a part first.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wheel, chain and frame before the bicycle.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Origins: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Introduction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 that says what Bitcoin is and why it matters.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welcome page of a guidebook, before the maps.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History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path from earlier digital money to the first block in January 2009.</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family tree that shows who the new member descends from.</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 hex dump - Yusuf Altunel, CC BY 4.0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The first Bitcoin block carries a newspaper headline: The Times, 3 January 2009, Chancellor on brink of second bailout for banks.</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headline proves the block was not made earlier, and it records the banking crisis that Bitcoin answers.</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Satoshi typed the text into the coinbase script of block 0, the 69 bytes the next code slide reads.</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headline inside block zero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Reading the first block's script as bytes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raw = bytes.fromhex(COINBASE_HEX)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 text =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:].decode()</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[len(head), len(text)]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70]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block keeps a short script, and the headline sits at its end.</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Eight bytes of pushes come first; the rest is the newspaper headline.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77 bytes of block 0's script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057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 of the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Pushes (hex 04ffff00)...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The headline text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Whole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It reads: The Times 03/Jan/2009 Chancellor on brink of second bailout for banks.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carries its own date: a newspaper headline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photo_hal_finney_1972.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Nine days after block 0, Satoshi Nakamoto sent 10 bitcoin to Hal Finney in block 170, the first payment between two people.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answered the white paper with curiosity and had built the first reusable proof-of-work system years before.</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Finney ran the software and wrote 'Running bitcoin'; the coins reached him directly, with no bank in between.</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to Hal Finney</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pic>
        <p:nvPicPr>
          <p:cNvPr id="6" name="Image 0" descr="../../03-materials/ch01/assets/photo_david_chaum_2018.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David Chaum, 2018 - Harry Murphy, CC BY 2.0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David Chaum, Adam Back, Wei Dai and Nick Szabo each built a part of digital money between 1982 and 1998.</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Their systems failed or stayed unbuilt, because none could agree on one history without a trusted leader.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Nakamoto's white paper of 31 October 2008 cites them and adds proof of work as the voting weight of an open network.</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papers, mailing lists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2008-10-31</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near misses, one combination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part existed before Bitcoin joined them</a:t>
            </a:r>
            <a:endParaRPr lang="en-US" sz="1300" dirty="0"/>
          </a:p>
        </p:txBody>
      </p:sp>
      <p:sp>
        <p:nvSpPr>
          <p:cNvPr id="6" name="Shape 4"/>
          <p:cNvSpPr/>
          <p:nvPr/>
        </p:nvSpPr>
        <p:spPr>
          <a:xfrm>
            <a:off x="457200" y="2307946"/>
            <a:ext cx="649224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ecash</a:t>
            </a:r>
            <a:endParaRPr lang="en-US" sz="1000" dirty="0"/>
          </a:p>
        </p:txBody>
      </p:sp>
      <p:sp>
        <p:nvSpPr>
          <p:cNvPr id="10" name="Shape 8"/>
          <p:cNvSpPr/>
          <p:nvPr/>
        </p:nvSpPr>
        <p:spPr>
          <a:xfrm>
            <a:off x="208940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16230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3944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a:t>
            </a:r>
            <a:endParaRPr lang="en-US" sz="1000" dirty="0"/>
          </a:p>
        </p:txBody>
      </p:sp>
      <p:sp>
        <p:nvSpPr>
          <p:cNvPr id="13" name="Shape 11"/>
          <p:cNvSpPr/>
          <p:nvPr/>
        </p:nvSpPr>
        <p:spPr>
          <a:xfrm>
            <a:off x="362102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315468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292608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Szabo: b-money, bit gold</a:t>
            </a:r>
            <a:endParaRPr lang="en-US" sz="1000" dirty="0"/>
          </a:p>
        </p:txBody>
      </p:sp>
      <p:sp>
        <p:nvSpPr>
          <p:cNvPr id="16" name="Shape 14"/>
          <p:cNvSpPr/>
          <p:nvPr/>
        </p:nvSpPr>
        <p:spPr>
          <a:xfrm>
            <a:off x="515264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468630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44577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668426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621792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598932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300" dirty="0"/>
          </a:p>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Agreement without a leader was the missing piece.</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price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Money is a ledger of who owns what; Bitcoin keeps that ledger in public.</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money was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Stones, coins, notes and bank balances are all ledgers.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scoreboard that everyone agrees to trust.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Units and supply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coin divides into 100 million satoshis; the cap is 21 million.</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cake cut into a hundred million crumbs.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Price and exchange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Markets set the price; exchanges and ATMs convert it.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market stall whose prices change by the hour.</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price: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floating exchange rate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price of bitcoin is set by markets and moves with supply and demand.</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price of tomatoes at a stall, which moves with the harvest and the crowd.</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Finding the Current Price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Exchanges quote prices; a volume-weighted average gives one fair daily figure.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board of a stock exchange instead of asking one trader.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currency exchange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market where buyers and sellers swap bitcoin and local money, with identity checks.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money-changer's booth at an airport.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ATM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machine that takes cash and sends bitcoin to your phone wallet.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vending machine that sells coins instead of snacks.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in 1903; the free ebook edition came in 2024</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Yap stone money - Eric Guinther, CC BY-SA 3.0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Yap, wealth was held in limestone discs called rai, up to four metres wide, that never moved when they changed owner.</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What changed was the shared memory of who owned each stone, so the stone worked as a public ledger.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Anthropologist William Henry Furness III described it after visiting in 1903; a stone that sank at sea was still traded.</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W. H. Furness III</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gutenberg.org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From grain ledgers to pure fiat money, 3000 BCE to 1971</a:t>
            </a:r>
            <a:endParaRPr lang="en-US" sz="1300" dirty="0"/>
          </a:p>
        </p:txBody>
      </p:sp>
      <p:pic>
        <p:nvPicPr>
          <p:cNvPr id="6" name="Image 0" descr="../../03-materials/ch01/assets/photo_cma_stater.jpg">    </p:cNvPr>
          <p:cNvPicPr>
            <a:picLocks noChangeAspect="1"/>
          </p:cNvPicPr>
          <p:nvPr/>
        </p:nvPicPr>
        <p:blipFill>
          <a:blip r:embed="rId1"/>
          <a:srcRect l="0" r="0" t="0" b="0"/>
          <a:stretch/>
        </p:blipFill>
        <p:spPr>
          <a:xfrm>
            <a:off x="457200" y="1280160"/>
            <a:ext cx="3566160" cy="2103120"/>
          </a:xfrm>
          <a:prstGeom prst="rect">
            <a:avLst/>
          </a:prstGeom>
        </p:spPr>
      </p:pic>
      <p:sp>
        <p:nvSpPr>
          <p:cNvPr id="7" name="Text 4"/>
          <p:cNvSpPr txBox="1"/>
          <p:nvPr/>
        </p:nvSpPr>
        <p:spPr>
          <a:xfrm>
            <a:off x="45720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Cleveland Museum of Art, CC0</a:t>
            </a:r>
            <a:endParaRPr lang="en-US" sz="900" dirty="0"/>
          </a:p>
        </p:txBody>
      </p:sp>
      <p:sp>
        <p:nvSpPr>
          <p:cNvPr id="8" name="Shape 5"/>
          <p:cNvSpPr/>
          <p:nvPr/>
        </p:nvSpPr>
        <p:spPr>
          <a:xfrm>
            <a:off x="429768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572000" y="128016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15 August 1971 President Richard Nixon cut the dollar's last tie to gold, leaving pure fiat money.</a:t>
            </a:r>
            <a:endParaRPr lang="en-US" sz="1150" dirty="0"/>
          </a:p>
        </p:txBody>
      </p:sp>
      <p:sp>
        <p:nvSpPr>
          <p:cNvPr id="10" name="Shape 7"/>
          <p:cNvSpPr/>
          <p:nvPr/>
        </p:nvSpPr>
        <p:spPr>
          <a:xfrm>
            <a:off x="429768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572000" y="210312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Grain ledgers, Lydian coins, paper notes and bank balances are all ledgers; they differ in who keeps them.</a:t>
            </a:r>
            <a:endParaRPr lang="en-US" sz="1150" dirty="0"/>
          </a:p>
        </p:txBody>
      </p:sp>
      <p:sp>
        <p:nvSpPr>
          <p:cNvPr id="12" name="Shape 9"/>
          <p:cNvSpPr/>
          <p:nvPr/>
        </p:nvSpPr>
        <p:spPr>
          <a:xfrm>
            <a:off x="429768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572000" y="292608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Cards and online banking made money digital as entries in private ledgers; Bitcoin makes the ledger public.</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Nixon and ledger-keepers</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to the U.S.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1971-08-15</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 table: same uses, different ledgers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1554480"/>
                <a:gridCol w="2194560"/>
                <a:gridCol w="2331720"/>
                <a:gridCol w="2331720"/>
              </a:tblGrid>
              <a:tr h="50292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pic>
        <p:nvPicPr>
          <p:cNvPr id="6" name="Image 0" descr="../../03-materials/ch01/assets/photo_paypal_logo.png">    </p:cNvPr>
          <p:cNvPicPr>
            <a:picLocks noChangeAspect="1"/>
          </p:cNvPicPr>
          <p:nvPr/>
        </p:nvPicPr>
        <p:blipFill>
          <a:blip r:embed="rId1"/>
          <a:srcRect l="0" r="0" t="0" b="0"/>
          <a:stretch/>
        </p:blipFill>
        <p:spPr>
          <a:xfrm>
            <a:off x="457200" y="1280160"/>
            <a:ext cx="2743200" cy="2331720"/>
          </a:xfrm>
          <a:prstGeom prst="rect">
            <a:avLst/>
          </a:prstGeom>
        </p:spPr>
      </p:pic>
      <p:sp>
        <p:nvSpPr>
          <p:cNvPr id="7" name="Text 4"/>
          <p:cNvSpPr txBox="1"/>
          <p:nvPr/>
        </p:nvSpPr>
        <p:spPr>
          <a:xfrm>
            <a:off x="457200" y="3630168"/>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PayPal logo - PayPal,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8 July 2002 eBay agreed to buy PayPal for 1.5 billion dollars, ending the dot-com race to pay online.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Online payment was solved only as accounts on one company's private ledger; the internet still had no cash.</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Confinity (Levchin, Thiel, 1998) and X.com (Musk, 1999) merged in 2000; Beenz and Flooz died in the 2001 crash.</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Levchin, Thiel and Musk</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and San Jose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2002-07-08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(encyclopedia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Ukraine, February 2022: a state turns to an open payment network</a:t>
            </a:r>
            <a:endParaRPr lang="en-US" sz="1300" dirty="0"/>
          </a:p>
        </p:txBody>
      </p:sp>
      <p:pic>
        <p:nvPicPr>
          <p:cNvPr id="6" name="Image 0" descr="../../03-materials/ch01/assets/photo_fedorov_portrait.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Fedorov - U.S. Embassy Kyiv, PD</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26 February 2022 Ukraine's government posted crypto donation addresses and, with an aid group, raised 54.7 million dollars in about a week.</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With war at the capital, ordinary rails were too slow; open digital money kept working where banks, cards or cash stopped.</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Fedorov's ministry of digital transformation published the addresses, and CNBC reported the total on 3 March 2022.</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Mykhailo Fedorov</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Kyiv, Ukraine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2022-02-26</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CNBC: Ukraine's crypto donations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nbclosangeles.com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no hypotheticals</a:t>
            </a:r>
            <a:endParaRPr lang="en-US" sz="1300" dirty="0"/>
          </a:p>
        </p:txBody>
      </p:sp>
      <p:pic>
        <p:nvPicPr>
          <p:cNvPr id="6" name="Image 0" descr="../../03-materials/ch01/assets/photo_mpesa_agent.jpg">    </p:cNvPr>
          <p:cNvPicPr>
            <a:picLocks noChangeAspect="1"/>
          </p:cNvPicPr>
          <p:nvPr/>
        </p:nvPicPr>
        <p:blipFill>
          <a:blip r:embed="rId1"/>
          <a:srcRect l="0" r="0" t="0" b="0"/>
          <a:stretch/>
        </p:blipFill>
        <p:spPr>
          <a:xfrm>
            <a:off x="457200" y="1280160"/>
            <a:ext cx="1554480" cy="960120"/>
          </a:xfrm>
          <a:prstGeom prst="rect">
            <a:avLst/>
          </a:prstGeom>
        </p:spPr>
      </p:pic>
      <p:sp>
        <p:nvSpPr>
          <p:cNvPr id="7" name="Text 4"/>
          <p:cNvSpPr txBox="1"/>
          <p:nvPr/>
        </p:nvSpPr>
        <p:spPr>
          <a:xfrm>
            <a:off x="45720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Kenya: Fiona Graham / WorldRemit, CC BY-SA 2.0</a:t>
            </a:r>
            <a:endParaRPr lang="en-US" sz="900" dirty="0"/>
          </a:p>
        </p:txBody>
      </p:sp>
      <p:pic>
        <p:nvPicPr>
          <p:cNvPr id="8" name="Image 1" descr="../../03-materials/ch01/assets/photo_laiki_bank.jpg">    </p:cNvPr>
          <p:cNvPicPr>
            <a:picLocks noChangeAspect="1"/>
          </p:cNvPicPr>
          <p:nvPr/>
        </p:nvPicPr>
        <p:blipFill>
          <a:blip r:embed="rId2"/>
          <a:srcRect l="0" r="0" t="0" b="0"/>
          <a:stretch/>
        </p:blipFill>
        <p:spPr>
          <a:xfrm>
            <a:off x="2125980" y="1280160"/>
            <a:ext cx="1554480" cy="960120"/>
          </a:xfrm>
          <a:prstGeom prst="rect">
            <a:avLst/>
          </a:prstGeom>
        </p:spPr>
      </p:pic>
      <p:sp>
        <p:nvSpPr>
          <p:cNvPr id="9" name="Text 5"/>
          <p:cNvSpPr txBox="1"/>
          <p:nvPr/>
        </p:nvSpPr>
        <p:spPr>
          <a:xfrm>
            <a:off x="212598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Cyprus: Martin Addison, CC BY-SA 2.0</a:t>
            </a:r>
            <a:endParaRPr lang="en-US" sz="900" dirty="0"/>
          </a:p>
        </p:txBody>
      </p:sp>
      <p:pic>
        <p:nvPicPr>
          <p:cNvPr id="10" name="Image 2" descr="../../03-materials/ch01/assets/photo_greece_atm.jpg">    </p:cNvPr>
          <p:cNvPicPr>
            <a:picLocks noChangeAspect="1"/>
          </p:cNvPicPr>
          <p:nvPr/>
        </p:nvPicPr>
        <p:blipFill>
          <a:blip r:embed="rId3"/>
          <a:srcRect l="0" r="0" t="0" b="0"/>
          <a:stretch/>
        </p:blipFill>
        <p:spPr>
          <a:xfrm>
            <a:off x="3794760" y="1280160"/>
            <a:ext cx="1554480" cy="960120"/>
          </a:xfrm>
          <a:prstGeom prst="rect">
            <a:avLst/>
          </a:prstGeom>
        </p:spPr>
      </p:pic>
      <p:sp>
        <p:nvSpPr>
          <p:cNvPr id="11" name="Text 6"/>
          <p:cNvSpPr txBox="1"/>
          <p:nvPr/>
        </p:nvSpPr>
        <p:spPr>
          <a:xfrm>
            <a:off x="379476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Greece: Norbert Nagel, CC BY-SA 3.0</a:t>
            </a:r>
            <a:endParaRPr lang="en-US" sz="900" dirty="0"/>
          </a:p>
        </p:txBody>
      </p:sp>
      <p:pic>
        <p:nvPicPr>
          <p:cNvPr id="12" name="Image 3" descr="../../03-materials/ch01/assets/photo_bolivar_note.jpg">    </p:cNvPr>
          <p:cNvPicPr>
            <a:picLocks noChangeAspect="1"/>
          </p:cNvPicPr>
          <p:nvPr/>
        </p:nvPicPr>
        <p:blipFill>
          <a:blip r:embed="rId4"/>
          <a:srcRect l="0" r="0" t="0" b="0"/>
          <a:stretch/>
        </p:blipFill>
        <p:spPr>
          <a:xfrm>
            <a:off x="5463540" y="1280160"/>
            <a:ext cx="1554480" cy="960120"/>
          </a:xfrm>
          <a:prstGeom prst="rect">
            <a:avLst/>
          </a:prstGeom>
        </p:spPr>
      </p:pic>
      <p:sp>
        <p:nvSpPr>
          <p:cNvPr id="13" name="Text 7"/>
          <p:cNvSpPr txBox="1"/>
          <p:nvPr/>
        </p:nvSpPr>
        <p:spPr>
          <a:xfrm>
            <a:off x="546354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Venezuela: Rjcastillo, CC BY-SA 4.0</a:t>
            </a:r>
            <a:endParaRPr lang="en-US" sz="900" dirty="0"/>
          </a:p>
        </p:txBody>
      </p:sp>
      <p:pic>
        <p:nvPicPr>
          <p:cNvPr id="14" name="Image 4" descr="../../03-materials/ch01/assets/photo_fedorov.jpg">    </p:cNvPr>
          <p:cNvPicPr>
            <a:picLocks noChangeAspect="1"/>
          </p:cNvPicPr>
          <p:nvPr/>
        </p:nvPicPr>
        <p:blipFill>
          <a:blip r:embed="rId5"/>
          <a:srcRect l="0" r="0" t="0" b="0"/>
          <a:stretch/>
        </p:blipFill>
        <p:spPr>
          <a:xfrm>
            <a:off x="7132320" y="1280160"/>
            <a:ext cx="1554480" cy="960120"/>
          </a:xfrm>
          <a:prstGeom prst="rect">
            <a:avLst/>
          </a:prstGeom>
        </p:spPr>
      </p:pic>
      <p:sp>
        <p:nvSpPr>
          <p:cNvPr id="15" name="Text 8"/>
          <p:cNvSpPr txBox="1"/>
          <p:nvPr/>
        </p:nvSpPr>
        <p:spPr>
          <a:xfrm>
            <a:off x="713232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Ukraine: U.S. Embassy Kyiv, public domain</a:t>
            </a:r>
            <a:endParaRPr lang="en-US" sz="900" dirty="0"/>
          </a:p>
        </p:txBody>
      </p:sp>
      <p:sp>
        <p:nvSpPr>
          <p:cNvPr id="16" name="Text 9"/>
          <p:cNvSpPr txBox="1"/>
          <p:nvPr/>
        </p:nvSpPr>
        <p:spPr>
          <a:xfrm>
            <a:off x="457200" y="27432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Banks, cards or cash stopped serving people</a:t>
            </a:r>
            <a:endParaRPr lang="en-US" sz="1250" dirty="0"/>
          </a:p>
        </p:txBody>
      </p:sp>
      <p:sp>
        <p:nvSpPr>
          <p:cNvPr id="17" name="Shape 10"/>
          <p:cNvSpPr/>
          <p:nvPr/>
        </p:nvSpPr>
        <p:spPr>
          <a:xfrm>
            <a:off x="493776" y="3090672"/>
            <a:ext cx="82296" cy="82296"/>
          </a:xfrm>
          <a:prstGeom prst="ellipse">
            <a:avLst/>
          </a:prstGeom>
          <a:solidFill>
            <a:srgbClr val="D97A14"/>
          </a:solidFill>
          <a:ln w="12700">
            <a:solidFill>
              <a:srgbClr val="D97A14"/>
            </a:solidFill>
            <a:prstDash val="solid"/>
          </a:ln>
        </p:spPr>
      </p:sp>
      <p:sp>
        <p:nvSpPr>
          <p:cNvPr id="18" name="Text 11"/>
          <p:cNvSpPr txBox="1"/>
          <p:nvPr/>
        </p:nvSpPr>
        <p:spPr>
          <a:xfrm>
            <a:off x="658368" y="30175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Kenya 2007</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1000" dirty="0"/>
          </a:p>
        </p:txBody>
      </p:sp>
      <p:sp>
        <p:nvSpPr>
          <p:cNvPr id="19" name="Shape 12"/>
          <p:cNvSpPr/>
          <p:nvPr/>
        </p:nvSpPr>
        <p:spPr>
          <a:xfrm>
            <a:off x="493776" y="3493008"/>
            <a:ext cx="82296" cy="82296"/>
          </a:xfrm>
          <a:prstGeom prst="ellipse">
            <a:avLst/>
          </a:prstGeom>
          <a:solidFill>
            <a:srgbClr val="D97A14"/>
          </a:solidFill>
          <a:ln w="12700">
            <a:solidFill>
              <a:srgbClr val="D97A14"/>
            </a:solidFill>
            <a:prstDash val="solid"/>
          </a:ln>
        </p:spPr>
      </p:sp>
      <p:sp>
        <p:nvSpPr>
          <p:cNvPr id="20" name="Text 13"/>
          <p:cNvSpPr txBox="1"/>
          <p:nvPr/>
        </p:nvSpPr>
        <p:spPr>
          <a:xfrm>
            <a:off x="658368" y="34198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Cyprus 2013</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1000" dirty="0"/>
          </a:p>
        </p:txBody>
      </p:sp>
      <p:sp>
        <p:nvSpPr>
          <p:cNvPr id="21" name="Shape 14"/>
          <p:cNvSpPr/>
          <p:nvPr/>
        </p:nvSpPr>
        <p:spPr>
          <a:xfrm>
            <a:off x="493776" y="3895344"/>
            <a:ext cx="82296" cy="82296"/>
          </a:xfrm>
          <a:prstGeom prst="ellipse">
            <a:avLst/>
          </a:prstGeom>
          <a:solidFill>
            <a:srgbClr val="D97A14"/>
          </a:solidFill>
          <a:ln w="12700">
            <a:solidFill>
              <a:srgbClr val="D97A14"/>
            </a:solidFill>
            <a:prstDash val="solid"/>
          </a:ln>
        </p:spPr>
      </p:sp>
      <p:sp>
        <p:nvSpPr>
          <p:cNvPr id="22" name="Text 15"/>
          <p:cNvSpPr txBox="1"/>
          <p:nvPr/>
        </p:nvSpPr>
        <p:spPr>
          <a:xfrm>
            <a:off x="658368" y="38221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Greece 2015</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Capital controls: ATM withdrawals capped at 60 euros a day</a:t>
            </a:r>
            <a:endParaRPr lang="en-US" sz="1000" dirty="0"/>
          </a:p>
        </p:txBody>
      </p:sp>
      <p:sp>
        <p:nvSpPr>
          <p:cNvPr id="23" name="Text 16"/>
          <p:cNvSpPr txBox="1"/>
          <p:nvPr/>
        </p:nvSpPr>
        <p:spPr>
          <a:xfrm>
            <a:off x="4732020" y="27432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A currency or a state failed</a:t>
            </a:r>
            <a:endParaRPr lang="en-US" sz="1250" dirty="0"/>
          </a:p>
        </p:txBody>
      </p:sp>
      <p:sp>
        <p:nvSpPr>
          <p:cNvPr id="24" name="Shape 17"/>
          <p:cNvSpPr/>
          <p:nvPr/>
        </p:nvSpPr>
        <p:spPr>
          <a:xfrm>
            <a:off x="4768596" y="3090672"/>
            <a:ext cx="82296" cy="82296"/>
          </a:xfrm>
          <a:prstGeom prst="ellipse">
            <a:avLst/>
          </a:prstGeom>
          <a:solidFill>
            <a:srgbClr val="D97A14"/>
          </a:solidFill>
          <a:ln w="12700">
            <a:solidFill>
              <a:srgbClr val="D97A14"/>
            </a:solidFill>
            <a:prstDash val="solid"/>
          </a:ln>
        </p:spPr>
      </p:sp>
      <p:sp>
        <p:nvSpPr>
          <p:cNvPr id="25" name="Text 18"/>
          <p:cNvSpPr txBox="1"/>
          <p:nvPr/>
        </p:nvSpPr>
        <p:spPr>
          <a:xfrm>
            <a:off x="4933188" y="30175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Venezuela 2018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Hyperinflation beyond 1,000,000% - wages melted in hours</a:t>
            </a:r>
            <a:endParaRPr lang="en-US" sz="1000" dirty="0"/>
          </a:p>
        </p:txBody>
      </p:sp>
      <p:sp>
        <p:nvSpPr>
          <p:cNvPr id="26" name="Shape 19"/>
          <p:cNvSpPr/>
          <p:nvPr/>
        </p:nvSpPr>
        <p:spPr>
          <a:xfrm>
            <a:off x="4768596" y="3493008"/>
            <a:ext cx="82296" cy="82296"/>
          </a:xfrm>
          <a:prstGeom prst="ellipse">
            <a:avLst/>
          </a:prstGeom>
          <a:solidFill>
            <a:srgbClr val="D97A14"/>
          </a:solidFill>
          <a:ln w="12700">
            <a:solidFill>
              <a:srgbClr val="D97A14"/>
            </a:solidFill>
            <a:prstDash val="solid"/>
          </a:ln>
        </p:spPr>
      </p:sp>
      <p:sp>
        <p:nvSpPr>
          <p:cNvPr id="27" name="Text 20"/>
          <p:cNvSpPr txBox="1"/>
          <p:nvPr/>
        </p:nvSpPr>
        <p:spPr>
          <a:xfrm>
            <a:off x="4933188" y="34198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Ukraine 2022</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State and NGO raised $54.7M in crypto in a week</a:t>
            </a:r>
            <a:endParaRPr lang="en-US" sz="1000" dirty="0"/>
          </a:p>
        </p:txBody>
      </p:sp>
      <p:sp>
        <p:nvSpPr>
          <p:cNvPr id="28"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the need is documented</a:t>
            </a:r>
            <a:endParaRPr lang="en-US" sz="1350" dirty="0"/>
          </a:p>
        </p:txBody>
      </p:sp>
      <p:sp>
        <p:nvSpPr>
          <p:cNvPr id="30"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bitcoin counted in satoshis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smallest piece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decimal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Decimal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a:t>
            </a:r>
            <a:r>
              <a:rPr lang="en-US" sz="1000" dirty="0">
                <a:solidFill>
                  <a:srgbClr val="9ECBFF"/>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 = [COIN, COIN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[100000000, 100000, 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bitcoin is counted in whole satoshis, one hundred million to the coin.</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common amounts, each written as a count of satoshis.</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value in three units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Unit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millibitcoin (0.001)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satoshi</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0.001 bitcoin is exactly 100,000 satoshis, so every amount is a whole number.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subsidy at five block heights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per block, halved every 210,000 blocks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heights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 = [subsidy(h)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heights]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ratios = [a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zip(subs, subs[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subsidy starts at fifty bitcoin and halves every 210,000 blocks.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pays exactly half of the era before it.</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year</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era pays half of the one before: 50, 25, 12.5, 6.25, and since April 2024 3.125.</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halving cuts new issuance in half</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cap is a sum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by era, added up by the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eras = [(</a:t>
            </a:r>
            <a:r>
              <a:rPr lang="en-US" sz="1000" dirty="0">
                <a:solidFill>
                  <a:srgbClr val="FFD28A"/>
                </a:solidFill>
                <a:latin typeface="Courier New" pitchFamily="34" charset="0"/>
                <a:ea typeface="Courier New" pitchFamily="34" charset="-122"/>
                <a:cs typeface="Courier New" pitchFamily="34" charset="-120"/>
              </a:rPr>
              <a:t>50</a:t>
            </a:r>
            <a:r>
              <a:rPr lang="en-US" sz="1000" dirty="0">
                <a:solidFill>
                  <a:srgbClr val="E6EDF3"/>
                </a:solidFill>
                <a:latin typeface="Courier New" pitchFamily="34" charset="0"/>
                <a:ea typeface="Courier New" pitchFamily="34" charset="-122"/>
                <a:cs typeface="Courier New" pitchFamily="34" charset="-120"/>
              </a:rPr>
              <a:t> * COIN &gt;&gt; k) * HALVING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 = sum(eras)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issues its subsidy for 210,000 blocks, then the subsidy halves.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every era gives the cap, just under 21 million bitcoin.</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bitcoin issued after each era, in millions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total creeps toward 21 million; the cap is 20999999.9769 bitcoin.</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arithmetic that every node can re-run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 one sets the price: trades do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price is a ratio; a day's figure is a weighted average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trades =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63100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prices = [round(u / b,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 = round(vwap([(b, u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62764.71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illustrative trades: bitcoin bought, and the dollars paid for it.</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day's single figure weights each price by its volume.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dollars paid per bitcoin</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Dollars per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1 (0.5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2 (0.2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3 (1.0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 average, by volume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62,764.71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trade sets its own price; the volume-weighted day average is 62,764.71 dollars.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Everyone who trades sets the price a little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 the day a price began to exist</a:t>
            </a:r>
            <a:endParaRPr lang="en-US" sz="1300" dirty="0"/>
          </a:p>
        </p:txBody>
      </p:sp>
      <p:pic>
        <p:nvPicPr>
          <p:cNvPr id="6" name="Image 0" descr="../../03-materials/ch01/assets/photo_papa_johns_jacksonville.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22 May 2010 Laszlo Hanyecz paid 10,000 bitcoin for two Papa John's pizzas, the first known commercial purchase in bitcoin.</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Until then nobody knew what a bitcoin was worth; this purchase is the day a floating price began to exist.</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He offered the coins on the bitcointalk forum, and student Jeremy Sturdivant ordered the pizzas for delivery to Jacksonville.</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Jacksonville, Florida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 first Bitcoin purchase (record)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guinnessworldrecords.com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Pizza Day coins, repriced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bitcoin at six documented moments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10000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val = {d: int(coins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d,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PIZZA.items()}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list(val.values())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[41, 10000, 10000000, 196000000, 690000000, 854090000]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Ten thousand bitcoin, priced at six documented moments.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dollar value of the same coins at each moment, from 2010 to 2026.</a:t>
            </a:r>
            <a:endParaRPr lang="en-US" sz="1050" dirty="0"/>
          </a:p>
        </p:txBody>
      </p:sp>
      <p:sp>
        <p:nvSpPr>
          <p:cNvPr id="16" name="Text 14"/>
          <p:cNvSpPr txBox="1"/>
          <p:nvPr/>
        </p:nvSpPr>
        <p:spPr>
          <a:xfrm>
            <a:off x="457200" y="288218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value of the 10,000 BTC, in dollars (log axis)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coins grew by a factor of 20,831,463, from $41 to $854M.</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price discovery never stopped</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sits in the middle: shared rules and shared work do its job.</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Peers, not a bank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checks the same rules, so none is in charge.</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a copy of the land register.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Work and agreement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Proof of work makes honest history cheap to check.</a:t>
            </a:r>
            <a:endParaRPr lang="en-US" sz="1150" dirty="0"/>
          </a:p>
        </p:txBody>
      </p:sp>
      <p:sp>
        <p:nvSpPr>
          <p:cNvPr id="13" name="Text 11"/>
          <p:cNvSpPr txBox="1"/>
          <p:nvPr/>
        </p:nvSpPr>
        <p:spPr>
          <a:xfrm>
            <a:off x="345948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that took a day to make and a second to inspect.</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Fees and depth</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Fees pay miners; each new block makes a payment safer.</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courier's tip and cement poured over a footprint.</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bank in the middle against peers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any one node and the network still agrees</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proof of work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Adding a block costs real computation, and anyone can check it cheaply.</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jigsaw puzzle: hard to solve, a glance to see it is done.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applies the same rules, so all agree on one history without a leader.</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the same record of who owns which field.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double-spend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Spending one unit of digital money twice; the network refuses the second try.</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banknote and paying with both.</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to find, easy to check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toy proof of work with hexadecimal zeros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data = b</a:t>
            </a:r>
            <a:r>
              <a:rPr lang="en-US" sz="1000" dirty="0">
                <a:solidFill>
                  <a:srgbClr val="9ECBFF"/>
                </a:solidFill>
                <a:latin typeface="Courier New" pitchFamily="34" charset="0"/>
                <a:ea typeface="Courier New" pitchFamily="34" charset="-122"/>
                <a:cs typeface="Courier New" pitchFamily="34" charset="-120"/>
              </a:rPr>
              <a:t>'alice pays bob 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[mine(data, z)[</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d = mine(data,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hashlib.sha256(data + b</a:t>
            </a:r>
            <a:r>
              <a:rPr lang="en-US" sz="1000" dirty="0">
                <a:solidFill>
                  <a:srgbClr val="9ECBFF"/>
                </a:solidFill>
                <a:latin typeface="Courier New" pitchFamily="34" charset="0"/>
                <a:ea typeface="Courier New" pitchFamily="34" charset="-122"/>
                <a:cs typeface="Courier New" pitchFamily="34" charset="-120"/>
              </a:rPr>
              <a:t>'%d'</a:t>
            </a:r>
            <a:r>
              <a:rPr lang="en-US" sz="1000" dirty="0">
                <a:solidFill>
                  <a:srgbClr val="E6EDF3"/>
                </a:solidFill>
                <a:latin typeface="Courier New" pitchFamily="34" charset="0"/>
                <a:ea typeface="Courier New" pitchFamily="34" charset="-122"/>
                <a:cs typeface="Courier New" pitchFamily="34" charset="-120"/>
              </a:rPr>
              <a:t> % n).hexdigest()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[9, 223, 1208, 57247]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Search for a number that gives a hash starting with zeros.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Anyone checks the winner with one hash instead of a long search.</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last line shows how many guesses each difficulty took.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guesses needed (log axis)</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extra zero makes the search about sixteen times longer on average; checking stays one hash.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Finding takes thousands of guesses; checking takes one hash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78892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subsidy follows the halving chart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Cheating costs more than it could win</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Chapter 12 opens the mechanism</a:t>
            </a:r>
            <a:endParaRPr lang="en-US" sz="1400" dirty="0"/>
          </a:p>
        </p:txBody>
      </p:sp>
      <p:pic>
        <p:nvPicPr>
          <p:cNvPr id="18" name="Image 0" descr="../../03-materials/ch01/assets/c8s32_miningnodes.png">    </p:cNvPr>
          <p:cNvPicPr>
            <a:picLocks noChangeAspect="1"/>
          </p:cNvPicPr>
          <p:nvPr/>
        </p:nvPicPr>
        <p:blipFill>
          <a:blip r:embed="rId1"/>
          <a:srcRect l="0" r="0" t="0" b="0"/>
          <a:stretch/>
        </p:blipFill>
        <p:spPr>
          <a:xfrm>
            <a:off x="5760720" y="2743200"/>
            <a:ext cx="2926080" cy="132588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so coins would too</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Only a trusted central ledger could stop it</a:t>
            </a:r>
            <a:endParaRPr lang="en-US" sz="1150" dirty="0"/>
          </a:p>
        </p:txBody>
      </p:sp>
      <p:sp>
        <p:nvSpPr>
          <p:cNvPr id="18" name="Shape 16"/>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427939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2" name="Shape 20"/>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3" name="Shape 21"/>
          <p:cNvSpPr/>
          <p:nvPr/>
        </p:nvSpPr>
        <p:spPr>
          <a:xfrm>
            <a:off x="7114032" y="1956816"/>
            <a:ext cx="310896" cy="310896"/>
          </a:xfrm>
          <a:prstGeom prst="ellipse">
            <a:avLst/>
          </a:prstGeom>
          <a:solidFill>
            <a:srgbClr val="D97A14"/>
          </a:solidFill>
          <a:ln w="15875">
            <a:solidFill>
              <a:srgbClr val="D97A14"/>
            </a:solidFill>
            <a:prstDash val="solid"/>
          </a:ln>
        </p:spPr>
      </p:sp>
      <p:sp>
        <p:nvSpPr>
          <p:cNvPr id="24" name="Text 22"/>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6" name="Shape 24"/>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7" name="Shape 25"/>
          <p:cNvSpPr/>
          <p:nvPr/>
        </p:nvSpPr>
        <p:spPr>
          <a:xfrm>
            <a:off x="7114032" y="3465576"/>
            <a:ext cx="310896" cy="310896"/>
          </a:xfrm>
          <a:prstGeom prst="ellipse">
            <a:avLst/>
          </a:prstGeom>
          <a:solidFill>
            <a:srgbClr val="D97A14"/>
          </a:solidFill>
          <a:ln w="15875">
            <a:solidFill>
              <a:srgbClr val="D97A14"/>
            </a:solidFill>
            <a:prstDash val="solid"/>
          </a:ln>
        </p:spPr>
      </p:sp>
      <p:sp>
        <p:nvSpPr>
          <p:cNvPr id="28" name="Text 26"/>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0" name="Shape 28"/>
          <p:cNvSpPr/>
          <p:nvPr/>
        </p:nvSpPr>
        <p:spPr>
          <a:xfrm flipV="1">
            <a:off x="5303520" y="2112264"/>
            <a:ext cx="1417320" cy="768096"/>
          </a:xfrm>
          <a:prstGeom prst="line">
            <a:avLst/>
          </a:prstGeom>
          <a:noFill/>
          <a:ln w="25400">
            <a:solidFill>
              <a:srgbClr val="D97A14"/>
            </a:solidFill>
            <a:prstDash val="solid"/>
            <a:tailEnd type="triangle"/>
          </a:ln>
        </p:spPr>
      </p:sp>
      <p:sp>
        <p:nvSpPr>
          <p:cNvPr id="31" name="Shape 29"/>
          <p:cNvSpPr/>
          <p:nvPr/>
        </p:nvSpPr>
        <p:spPr>
          <a:xfrm>
            <a:off x="5303520" y="2880360"/>
            <a:ext cx="1417320" cy="740664"/>
          </a:xfrm>
          <a:prstGeom prst="line">
            <a:avLst/>
          </a:prstGeom>
          <a:noFill/>
          <a:ln w="25400">
            <a:solidFill>
              <a:srgbClr val="D97A14"/>
            </a:solidFill>
            <a:prstDash val="solid"/>
            <a:tailEnd type="triangle"/>
          </a:ln>
        </p:spPr>
      </p:sp>
      <p:sp>
        <p:nvSpPr>
          <p:cNvPr id="32" name="Text 30"/>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3" name="Text 31"/>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file can be copied; a coin must not be</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no referee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a:t>
            </a:r>
            <a:endParaRPr lang="en-US" sz="1150" dirty="0"/>
          </a:p>
        </p:txBody>
      </p:sp>
      <p:sp>
        <p:nvSpPr>
          <p:cNvPr id="18" name="Shape 16"/>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363931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2" name="Shape 20"/>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3" name="Text 21"/>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4" name="Shape 22"/>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5" name="Text 23"/>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6" name="Shape 24"/>
          <p:cNvSpPr/>
          <p:nvPr/>
        </p:nvSpPr>
        <p:spPr>
          <a:xfrm flipV="1">
            <a:off x="4663440" y="2057400"/>
            <a:ext cx="537667" cy="822960"/>
          </a:xfrm>
          <a:prstGeom prst="line">
            <a:avLst/>
          </a:prstGeom>
          <a:noFill/>
          <a:ln w="22225">
            <a:solidFill>
              <a:srgbClr val="6E655C"/>
            </a:solidFill>
            <a:prstDash val="solid"/>
            <a:tailEnd type="triangle"/>
          </a:ln>
        </p:spPr>
      </p:sp>
      <p:sp>
        <p:nvSpPr>
          <p:cNvPr id="27" name="Shape 25"/>
          <p:cNvSpPr/>
          <p:nvPr/>
        </p:nvSpPr>
        <p:spPr>
          <a:xfrm>
            <a:off x="4663440" y="2880360"/>
            <a:ext cx="537667" cy="822960"/>
          </a:xfrm>
          <a:prstGeom prst="line">
            <a:avLst/>
          </a:prstGeom>
          <a:noFill/>
          <a:ln w="22225">
            <a:solidFill>
              <a:srgbClr val="6E655C"/>
            </a:solidFill>
            <a:prstDash val="solid"/>
            <a:tailEnd type="triangle"/>
          </a:ln>
        </p:spPr>
      </p:sp>
      <p:sp>
        <p:nvSpPr>
          <p:cNvPr id="28" name="Shape 26"/>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29" name="Text 27"/>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1" name="Text 29"/>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2" name="Shape 30"/>
          <p:cNvSpPr/>
          <p:nvPr/>
        </p:nvSpPr>
        <p:spPr>
          <a:xfrm>
            <a:off x="6446520" y="2057400"/>
            <a:ext cx="384048" cy="0"/>
          </a:xfrm>
          <a:prstGeom prst="line">
            <a:avLst/>
          </a:prstGeom>
          <a:noFill/>
          <a:ln w="25400">
            <a:solidFill>
              <a:srgbClr val="2F6D62"/>
            </a:solidFill>
            <a:prstDash val="solid"/>
            <a:tailEnd type="triangle"/>
          </a:ln>
        </p:spPr>
      </p:sp>
      <p:sp>
        <p:nvSpPr>
          <p:cNvPr id="33" name="Shape 31"/>
          <p:cNvSpPr/>
          <p:nvPr/>
        </p:nvSpPr>
        <p:spPr>
          <a:xfrm>
            <a:off x="6446520" y="3703320"/>
            <a:ext cx="384048" cy="0"/>
          </a:xfrm>
          <a:prstGeom prst="line">
            <a:avLst/>
          </a:prstGeom>
          <a:noFill/>
          <a:ln w="25400">
            <a:solidFill>
              <a:srgbClr val="D97A14"/>
            </a:solidFill>
            <a:prstDash val="solid"/>
            <a:tailEnd type="triangle"/>
          </a:ln>
        </p:spPr>
      </p:sp>
      <p:sp>
        <p:nvSpPr>
          <p:cNvPr id="34" name="Text 32"/>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Agreement on order is what removes the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double spend is refused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rule, no referee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 = Ledger({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'alice'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'bob'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second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'carol'</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book.owner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{'c1': 'bob'}</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shared ledger remembers which coins are spent.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 offers the same coin again; the rule says no, with no referee.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payments of the same coin</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Ledger 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Alice pays 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Alice pays Carol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of coin c1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spend is recorded; the same coin offered again is refused by the rule alone.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second spend of a coin is refused everywhere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hashes its text with the block before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chain([</a:t>
            </a:r>
            <a:r>
              <a:rPr lang="en-US" sz="1000" dirty="0">
                <a:solidFill>
                  <a:srgbClr val="9ECBFF"/>
                </a:solidFill>
                <a:latin typeface="Courier New" pitchFamily="34" charset="0"/>
                <a:ea typeface="Courier New" pitchFamily="34" charset="-122"/>
                <a:cs typeface="Courier New" pitchFamily="34" charset="-120"/>
              </a:rPr>
              <a:t>'pay A'</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before = verify(blocks)</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'text'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'pay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 = verify(blocks)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blocks, each hashing its own text together with the block before.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Change one word in block two; the check stops there.</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does each block's link still hold?</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91440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After the change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broken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not trusted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Changing block two breaks its link, so block two and everything after it are no longer trusted.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one old block and every later link fails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confirmation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added after a payment makes the payment harder to reverse.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another layer of cement poured over a footprint.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amount a sender adds for the miner who puts the payment in a block.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tip for the courier who picks your parcel for the next van.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outputs leave over is the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transaction has no fee field; the difference is the fee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 = [</a:t>
            </a:r>
            <a:r>
              <a:rPr lang="en-US" sz="1000" dirty="0">
                <a:solidFill>
                  <a:srgbClr val="FFD28A"/>
                </a:solidFill>
                <a:latin typeface="Courier New" pitchFamily="34" charset="0"/>
                <a:ea typeface="Courier New" pitchFamily="34" charset="-122"/>
                <a:cs typeface="Courier New" pitchFamily="34" charset="-120"/>
              </a:rPr>
              <a:t>100000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outputs = [</a:t>
            </a:r>
            <a:r>
              <a:rPr lang="en-US" sz="1000" dirty="0">
                <a:solidFill>
                  <a:srgbClr val="FFD28A"/>
                </a:solidFill>
                <a:latin typeface="Courier New" pitchFamily="34" charset="0"/>
                <a:ea typeface="Courier New" pitchFamily="34" charset="-122"/>
                <a:cs typeface="Courier New" pitchFamily="34" charset="-120"/>
              </a:rPr>
              <a:t>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75000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sum(inputs) - sum(outputs)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fee / sum(inputs),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coin of 100,000 satoshis pays Bob and sends the change back.</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Whatever the outputs do not take goes to the miner as the fee.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where the 100,000 satoshis go</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is 5,000 satoshis, 5.0 percent of the coin; no output carries it.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is the part of the coin nobody was given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wallet holds keys, not coins, like a ring of keys to many safes.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Kinds of wallet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Desktop, mobile, web and hardware wallets differ in risk.</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pocket, a safe and a cloakroom ticket.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Nodes and clients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full node checks everything; a light client trusts others.</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beside a tourist with a map.</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Keys and backup</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Whoever holds the keys controls the coins; a recovery code restores them.</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kept in a bank locker.</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questions about any wallet: platform, node, keys, backup</a:t>
            </a:r>
            <a:endParaRPr lang="en-US" sz="1300" dirty="0"/>
          </a:p>
        </p:txBody>
      </p:sp>
      <p:sp>
        <p:nvSpPr>
          <p:cNvPr id="6" name="Shape 4"/>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8" name="Shape 6"/>
          <p:cNvSpPr/>
          <p:nvPr/>
        </p:nvSpPr>
        <p:spPr>
          <a:xfrm flipV="1">
            <a:off x="1783080" y="1719072"/>
            <a:ext cx="502920" cy="1271016"/>
          </a:xfrm>
          <a:prstGeom prst="line">
            <a:avLst/>
          </a:prstGeom>
          <a:noFill/>
          <a:ln w="13970">
            <a:solidFill>
              <a:srgbClr val="C9BFAE"/>
            </a:solidFill>
            <a:prstDash val="solid"/>
          </a:ln>
        </p:spPr>
      </p:sp>
      <p:sp>
        <p:nvSpPr>
          <p:cNvPr id="9" name="Shape 7"/>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1" name="Shape 9"/>
          <p:cNvSpPr/>
          <p:nvPr/>
        </p:nvSpPr>
        <p:spPr>
          <a:xfrm>
            <a:off x="4023360" y="1719072"/>
            <a:ext cx="274320" cy="0"/>
          </a:xfrm>
          <a:prstGeom prst="line">
            <a:avLst/>
          </a:prstGeom>
          <a:noFill/>
          <a:ln w="13970">
            <a:solidFill>
              <a:srgbClr val="C9BFAE"/>
            </a:solidFill>
            <a:prstDash val="solid"/>
          </a:ln>
        </p:spPr>
      </p:sp>
      <p:sp>
        <p:nvSpPr>
          <p:cNvPr id="12" name="Shape 10"/>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4" name="Shape 12"/>
          <p:cNvSpPr/>
          <p:nvPr/>
        </p:nvSpPr>
        <p:spPr>
          <a:xfrm flipV="1">
            <a:off x="1783080" y="2566416"/>
            <a:ext cx="502920" cy="423672"/>
          </a:xfrm>
          <a:prstGeom prst="line">
            <a:avLst/>
          </a:prstGeom>
          <a:noFill/>
          <a:ln w="13970">
            <a:solidFill>
              <a:srgbClr val="C9BFAE"/>
            </a:solidFill>
            <a:prstDash val="solid"/>
          </a:ln>
        </p:spPr>
      </p:sp>
      <p:sp>
        <p:nvSpPr>
          <p:cNvPr id="15" name="Shape 13"/>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7" name="Shape 15"/>
          <p:cNvSpPr/>
          <p:nvPr/>
        </p:nvSpPr>
        <p:spPr>
          <a:xfrm>
            <a:off x="4023360" y="2566416"/>
            <a:ext cx="274320" cy="0"/>
          </a:xfrm>
          <a:prstGeom prst="line">
            <a:avLst/>
          </a:prstGeom>
          <a:noFill/>
          <a:ln w="13970">
            <a:solidFill>
              <a:srgbClr val="C9BFAE"/>
            </a:solidFill>
            <a:prstDash val="solid"/>
          </a:ln>
        </p:spPr>
      </p:sp>
      <p:sp>
        <p:nvSpPr>
          <p:cNvPr id="18" name="Shape 16"/>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0" name="Shape 18"/>
          <p:cNvSpPr/>
          <p:nvPr/>
        </p:nvSpPr>
        <p:spPr>
          <a:xfrm>
            <a:off x="1783080" y="2990088"/>
            <a:ext cx="502920" cy="423672"/>
          </a:xfrm>
          <a:prstGeom prst="line">
            <a:avLst/>
          </a:prstGeom>
          <a:noFill/>
          <a:ln w="13970">
            <a:solidFill>
              <a:srgbClr val="C9BFAE"/>
            </a:solidFill>
            <a:prstDash val="solid"/>
          </a:ln>
        </p:spPr>
      </p:sp>
      <p:sp>
        <p:nvSpPr>
          <p:cNvPr id="21" name="Shape 19"/>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3" name="Shape 21"/>
          <p:cNvSpPr/>
          <p:nvPr/>
        </p:nvSpPr>
        <p:spPr>
          <a:xfrm>
            <a:off x="4023360" y="3413760"/>
            <a:ext cx="274320" cy="0"/>
          </a:xfrm>
          <a:prstGeom prst="line">
            <a:avLst/>
          </a:prstGeom>
          <a:noFill/>
          <a:ln w="13970">
            <a:solidFill>
              <a:srgbClr val="C9BFAE"/>
            </a:solidFill>
            <a:prstDash val="solid"/>
          </a:ln>
        </p:spPr>
      </p:sp>
      <p:sp>
        <p:nvSpPr>
          <p:cNvPr id="24" name="Shape 22"/>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6" name="Shape 24"/>
          <p:cNvSpPr/>
          <p:nvPr/>
        </p:nvSpPr>
        <p:spPr>
          <a:xfrm>
            <a:off x="1783080" y="2990088"/>
            <a:ext cx="502920" cy="1271016"/>
          </a:xfrm>
          <a:prstGeom prst="line">
            <a:avLst/>
          </a:prstGeom>
          <a:noFill/>
          <a:ln w="13970">
            <a:solidFill>
              <a:srgbClr val="C9BFAE"/>
            </a:solidFill>
            <a:prstDash val="solid"/>
          </a:ln>
        </p:spPr>
      </p:sp>
      <p:sp>
        <p:nvSpPr>
          <p:cNvPr id="27" name="Shape 25"/>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29" name="Shape 27"/>
          <p:cNvSpPr/>
          <p:nvPr/>
        </p:nvSpPr>
        <p:spPr>
          <a:xfrm>
            <a:off x="4023360" y="4261104"/>
            <a:ext cx="274320" cy="0"/>
          </a:xfrm>
          <a:prstGeom prst="line">
            <a:avLst/>
          </a:prstGeom>
          <a:noFill/>
          <a:ln w="13970">
            <a:solidFill>
              <a:srgbClr val="C9BFAE"/>
            </a:solidFill>
            <a:prstDash val="solid"/>
          </a:ln>
        </p:spPr>
      </p:sp>
      <p:sp>
        <p:nvSpPr>
          <p:cNvPr id="30" name="Shape 28"/>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questions place any wallet on this map</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Started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decisions: what a wallet is and which one to choose.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a bag before you go shopping.</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Choosing a Bitcoin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Pick a wallet by who holds the keys, which device it runs on, and how far you trust it.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between a pocket, a home safe and a bank locker.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Types of Bitcoin wallets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Desktop, mobile, web and hardware signing devices, each with its own trade-offs.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bicycle, a car and a bus: all travel, with different limits.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desktop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kind of wallet, run on Windows, macOS or Linux.</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register on the shop counter.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mobile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most common kind of wallet, run on a smartphone.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purse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web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Used through a browser; its data usually sits on someone else's server.</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coat at a cloakroom.</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small device that keeps keys inside and signs payments.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stamp kept in a locked drawer: paper goes in, stamped paper comes out.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third-party API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program that asks a remote service for data instead of the Bitcoin network.</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asking a travel agent instead of reading the timetable yourself.</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Software that checks the whole history of transactions by itself.</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who rereads every page of the ledger.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lightweight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Keeps your keys but relies on other nodes for most of the data.</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tourist who asks locals for directions instead of studying the whole map.</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 versus Lightweight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Independence and storage on one side, convenience and trust on the other.</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cooking from raw ingredients against buying a ready meal.</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Who controls the keys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Whoever holds the private keys controls the coins.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whoever holds the house keys controls the house.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Your key is your deed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With a house the key opens and the registry proves; in Bitcoin the key does both</a:t>
            </a:r>
            <a:endParaRPr lang="en-US" sz="1300" dirty="0"/>
          </a:p>
        </p:txBody>
      </p:sp>
      <p:sp>
        <p:nvSpPr>
          <p:cNvPr id="6" name="Shape 4"/>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7" name="Shape 5"/>
          <p:cNvSpPr/>
          <p:nvPr/>
        </p:nvSpPr>
        <p:spPr>
          <a:xfrm>
            <a:off x="777240" y="2194560"/>
            <a:ext cx="640080" cy="457200"/>
          </a:xfrm>
          <a:prstGeom prst="rect">
            <a:avLst/>
          </a:prstGeom>
          <a:solidFill>
            <a:srgbClr val="2F6D62"/>
          </a:solidFill>
          <a:ln w="12700">
            <a:solidFill>
              <a:srgbClr val="2F6D62"/>
            </a:solidFill>
            <a:prstDash val="solid"/>
          </a:ln>
        </p:spPr>
      </p:sp>
      <p:sp>
        <p:nvSpPr>
          <p:cNvPr id="8" name="Shape 6"/>
          <p:cNvSpPr/>
          <p:nvPr/>
        </p:nvSpPr>
        <p:spPr>
          <a:xfrm>
            <a:off x="704088" y="1920240"/>
            <a:ext cx="786384" cy="310896"/>
          </a:xfrm>
          <a:prstGeom prst="triangle">
            <a:avLst/>
          </a:prstGeom>
          <a:solidFill>
            <a:srgbClr val="2F6D62"/>
          </a:solidFill>
          <a:ln w="12700">
            <a:solidFill>
              <a:srgbClr val="2F6D62"/>
            </a:solidFill>
            <a:prstDash val="solid"/>
          </a:ln>
        </p:spPr>
      </p:sp>
      <p:sp>
        <p:nvSpPr>
          <p:cNvPr id="9" name="Shape 7"/>
          <p:cNvSpPr/>
          <p:nvPr/>
        </p:nvSpPr>
        <p:spPr>
          <a:xfrm>
            <a:off x="1783080" y="2121408"/>
            <a:ext cx="237744" cy="237744"/>
          </a:xfrm>
          <a:prstGeom prst="ellipse">
            <a:avLst/>
          </a:prstGeom>
          <a:solidFill>
            <a:srgbClr val="D97A14"/>
          </a:solidFill>
          <a:ln w="19050">
            <a:solidFill>
              <a:srgbClr val="D97A14"/>
            </a:solidFill>
            <a:prstDash val="solid"/>
          </a:ln>
        </p:spPr>
      </p:sp>
      <p:sp>
        <p:nvSpPr>
          <p:cNvPr id="10" name="Shape 8"/>
          <p:cNvSpPr/>
          <p:nvPr/>
        </p:nvSpPr>
        <p:spPr>
          <a:xfrm>
            <a:off x="2002536" y="2203704"/>
            <a:ext cx="457200" cy="73152"/>
          </a:xfrm>
          <a:prstGeom prst="rect">
            <a:avLst/>
          </a:prstGeom>
          <a:solidFill>
            <a:srgbClr val="D97A14"/>
          </a:solidFill>
          <a:ln w="9525">
            <a:solidFill>
              <a:srgbClr val="D97A14"/>
            </a:solidFill>
            <a:prstDash val="solid"/>
          </a:ln>
        </p:spPr>
      </p:sp>
      <p:sp>
        <p:nvSpPr>
          <p:cNvPr id="11" name="Shape 9"/>
          <p:cNvSpPr/>
          <p:nvPr/>
        </p:nvSpPr>
        <p:spPr>
          <a:xfrm>
            <a:off x="2313432" y="2258568"/>
            <a:ext cx="64008" cy="109728"/>
          </a:xfrm>
          <a:prstGeom prst="rect">
            <a:avLst/>
          </a:prstGeom>
          <a:solidFill>
            <a:srgbClr val="D97A14"/>
          </a:solidFill>
          <a:ln w="9525">
            <a:solidFill>
              <a:srgbClr val="D97A14"/>
            </a:solidFill>
            <a:prstDash val="solid"/>
          </a:ln>
        </p:spPr>
      </p:sp>
      <p:sp>
        <p:nvSpPr>
          <p:cNvPr id="12" name="Text 10"/>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3" name="Text 11"/>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4" name="Shape 12"/>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5" name="Shape 13"/>
          <p:cNvSpPr/>
          <p:nvPr/>
        </p:nvSpPr>
        <p:spPr>
          <a:xfrm>
            <a:off x="5120640" y="2194560"/>
            <a:ext cx="640080" cy="457200"/>
          </a:xfrm>
          <a:prstGeom prst="rect">
            <a:avLst/>
          </a:prstGeom>
          <a:solidFill>
            <a:srgbClr val="D97A14"/>
          </a:solidFill>
          <a:ln w="12700">
            <a:solidFill>
              <a:srgbClr val="D97A14"/>
            </a:solidFill>
            <a:prstDash val="solid"/>
          </a:ln>
        </p:spPr>
      </p:sp>
      <p:sp>
        <p:nvSpPr>
          <p:cNvPr id="16" name="Shape 14"/>
          <p:cNvSpPr/>
          <p:nvPr/>
        </p:nvSpPr>
        <p:spPr>
          <a:xfrm>
            <a:off x="5047488" y="1920240"/>
            <a:ext cx="786384" cy="310896"/>
          </a:xfrm>
          <a:prstGeom prst="triangle">
            <a:avLst/>
          </a:prstGeom>
          <a:solidFill>
            <a:srgbClr val="D97A14"/>
          </a:solidFill>
          <a:ln w="12700">
            <a:solidFill>
              <a:srgbClr val="D97A14"/>
            </a:solidFill>
            <a:prstDash val="solid"/>
          </a:ln>
        </p:spPr>
      </p:sp>
      <p:sp>
        <p:nvSpPr>
          <p:cNvPr id="17" name="Shape 15"/>
          <p:cNvSpPr/>
          <p:nvPr/>
        </p:nvSpPr>
        <p:spPr>
          <a:xfrm>
            <a:off x="6126480" y="2121408"/>
            <a:ext cx="237744" cy="237744"/>
          </a:xfrm>
          <a:prstGeom prst="ellipse">
            <a:avLst/>
          </a:prstGeom>
          <a:solidFill>
            <a:srgbClr val="D97A14"/>
          </a:solidFill>
          <a:ln w="19050">
            <a:solidFill>
              <a:srgbClr val="D97A14"/>
            </a:solidFill>
            <a:prstDash val="solid"/>
          </a:ln>
        </p:spPr>
      </p:sp>
      <p:sp>
        <p:nvSpPr>
          <p:cNvPr id="18" name="Shape 16"/>
          <p:cNvSpPr/>
          <p:nvPr/>
        </p:nvSpPr>
        <p:spPr>
          <a:xfrm>
            <a:off x="6345936" y="2203704"/>
            <a:ext cx="457200" cy="73152"/>
          </a:xfrm>
          <a:prstGeom prst="rect">
            <a:avLst/>
          </a:prstGeom>
          <a:solidFill>
            <a:srgbClr val="D97A14"/>
          </a:solidFill>
          <a:ln w="9525">
            <a:solidFill>
              <a:srgbClr val="D97A14"/>
            </a:solidFill>
            <a:prstDash val="solid"/>
          </a:ln>
        </p:spPr>
      </p:sp>
      <p:sp>
        <p:nvSpPr>
          <p:cNvPr id="19" name="Shape 17"/>
          <p:cNvSpPr/>
          <p:nvPr/>
        </p:nvSpPr>
        <p:spPr>
          <a:xfrm>
            <a:off x="6656832" y="2258568"/>
            <a:ext cx="64008" cy="109728"/>
          </a:xfrm>
          <a:prstGeom prst="rect">
            <a:avLst/>
          </a:prstGeom>
          <a:solidFill>
            <a:srgbClr val="D97A14"/>
          </a:solidFill>
          <a:ln w="9525">
            <a:solidFill>
              <a:srgbClr val="D97A14"/>
            </a:solidFill>
            <a:prstDash val="solid"/>
          </a:ln>
        </p:spPr>
      </p:sp>
      <p:sp>
        <p:nvSpPr>
          <p:cNvPr id="20" name="Text 18"/>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1" name="Text 19"/>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2" name="Text 20"/>
          <p:cNvSpPr txBox="1"/>
          <p:nvPr/>
        </p:nvSpPr>
        <p:spPr>
          <a:xfrm>
            <a:off x="457200" y="393192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a signature proves you hold the key while the key stays secret</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Whoever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balances on a website, keys elsewhere</a:t>
            </a:r>
            <a:endParaRPr lang="en-US" sz="1300" dirty="0"/>
          </a:p>
        </p:txBody>
      </p:sp>
      <p:pic>
        <p:nvPicPr>
          <p:cNvPr id="6" name="Image 0" descr="../../03-materials/ch01/assets/photo_mtgox_logo.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28 February 2014 Mt. Gox of Tokyo filed for bankruptcy and admitted that about 850,000 bitcoin were gone.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Customers had balances on a website, but the keys, and so the coins, were in someone else's hands all along.</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exchange of chief executive Mark Karpeles filed at the Tokyo District Court; creditors were still being repaid a decade later.</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Mt. Gox</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District Court</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62</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noncustodial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where only you hold the keys, so only you can spend or lose the coins.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in your own home with the only key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Twelve or more words from which all of a wallet's keys can be rebuilt.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master key in a bank locker that can cut every lost key again.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recovery phrase becomes a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repeats a hash, 2048 times in BIP 39</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TEST_PHRASE.split()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 = [stretch(TEST_PHRASE, n)[:</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rounds]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['64d8279a', '297e090a', '5eb00bbd']</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phrase of BIP 39: eleven times abandon, then about.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repeats the hash; the wallet uses 2048 rounds.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twelve words, three round counts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Rounds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Seed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64d8279a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297e090a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More rounds give an unrelated seed; wallets use 2048, so every guess costs 2048 rounds.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 on purpose: every guess costs the full 2048 rounds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first payment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an empty wallet to a first payment, like a first driving lesson.</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Getting bitcoin</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Buy it, earn it, or use an exchange or an ATM.</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swapping money at an airport booth.</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Addresses and invoices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An address says where; an invoice adds the amount.</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mailbox number and a bill with the sum.</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Receiving and sending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Quick Start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chapter's first payment: install a wallet, share an address, receive bitcoin.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first driving lesson in an empty car park.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addresses: make a fresh one for each payer to protect your privacy.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locker number for every delivery.</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destination of a payment, derived from your private key and registered nowhere.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postbox anyone may drop money into but only you can empty.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invoice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payment request, often a QR code, that carries an address and an amount.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bill with the account number and the sum printed on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457200" y="27432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wallet writes down a recovery code first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An address is shared; no account is opened anywhere</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Each confirmation makes the payment harder to reverse</a:t>
            </a:r>
            <a:endParaRPr lang="en-US" sz="14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steps from an empty phone to a first payment</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address is a hash with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address of the first block is built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version = bytes([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payload = version + bytes.fromhex(GENESIS_HASH160)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dsha(payload)[:</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 = base58(payload + check)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'1A1zP1eP5QGefi2DMPTfTL5SLmv7DivfNa'</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0 pays to a 20-byte hash of a public key, behind a version byte.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checksum is the first four bytes of a double hash of the payload.</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address of block 0, in parts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54864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Key hash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62e907b1...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c29b7d93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Together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base58: 1A1zP1...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25 bytes are written in Base58 as the 34-character address 1A1zP1eP5QGefi2DMPTfTL5SLmv7DivfNa.</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mistyped address is caught by its checksum</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62</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invoice is a link with an amount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request in the form of BIP 21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req = parse_uri(BIP21_URI)</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int(Decimal(req[</a:t>
            </a:r>
            <a:r>
              <a:rPr lang="en-US" sz="1000" dirty="0">
                <a:solidFill>
                  <a:srgbClr val="9ECBFF"/>
                </a:solidFill>
                <a:latin typeface="Courier New" pitchFamily="34" charset="0"/>
                <a:ea typeface="Courier New" pitchFamily="34" charset="-122"/>
                <a:cs typeface="Courier New" pitchFamily="34" charset="-120"/>
              </a:rPr>
              <a:t>'amount'</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payment request packs address, amount and label into one line of text.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fields come back by name, and the amount converts to satoshis.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fields of one payment link</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2103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175tWpb8...245W</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label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Bob's Cafe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coffee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0.00015 bitcoin is 15,000 satoshis, the amount the wallet shows the payer.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QR code is only this text, drawn as dots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62</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Show an address or an invoice; the payment appears once it is broadcast.</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handing a customer the payment slip of your shop.</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Your First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Buy from a friend, earn it, or use an exchange or an ATM.</a:t>
            </a:r>
            <a:endParaRPr lang="en-US" sz="1300" dirty="0"/>
          </a:p>
        </p:txBody>
      </p:sp>
      <p:sp>
        <p:nvSpPr>
          <p:cNvPr id="13" name="Text 11"/>
          <p:cNvSpPr txBox="1"/>
          <p:nvPr/>
        </p:nvSpPr>
        <p:spPr>
          <a:xfrm>
            <a:off x="3432048"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your first foreign money: you can swap for it, earn it or be given it.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Sending and 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 to someone else's.</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coins in, payment and change out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wallet spends whole coins and sends the rest back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50000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 fee = </a:t>
            </a:r>
            <a:r>
              <a:rPr lang="en-US" sz="1000" dirty="0">
                <a:solidFill>
                  <a:srgbClr val="FFD28A"/>
                </a:solidFill>
                <a:latin typeface="Courier New" pitchFamily="34" charset="0"/>
                <a:ea typeface="Courier New" pitchFamily="34" charset="-122"/>
                <a:cs typeface="Courier New" pitchFamily="34" charset="-120"/>
              </a:rPr>
              <a:t>60000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1500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pick = min(c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coins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c &gt;=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 = pick -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18500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wallet holds three unspent coins; it owes sixty thousand and a fee.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picks the smallest coin that covers both, and the rest comes back.</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coin in, three amounts out</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 picked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back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18,500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coin is spent whole, like a banknote, and the change returns as a new output.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never cut a coin: you spend it and get change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Two old solved problems, joined into one system, like two rivers.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Two old problems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Hashcash made messages cost work; the generals agreed without trust.</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rivers that meet in one channel.</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Payments off-chain</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Payment channels keep most payments off the public ledger.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settled once at closing time.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kind of thing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borderless, decentralized and robust, by design.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public library no single person owns.</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62</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Neither idea was new; their combination was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62</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Foundations: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offchain technology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Payments that move value without recording each one on the public chain.</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that is settled once at closing time.</a:t>
            </a:r>
            <a:endParaRPr lang="en-US" sz="1150" dirty="0"/>
          </a:p>
        </p:txBody>
      </p:sp>
      <p:sp>
        <p:nvSpPr>
          <p:cNvPr id="10" name="Shape 8"/>
          <p:cNvSpPr/>
          <p:nvPr/>
        </p:nvSpPr>
        <p:spPr>
          <a:xfrm>
            <a:off x="978408" y="3145536"/>
            <a:ext cx="2090928" cy="0"/>
          </a:xfrm>
          <a:prstGeom prst="line">
            <a:avLst/>
          </a:prstGeom>
          <a:noFill/>
          <a:ln w="28575">
            <a:solidFill>
              <a:srgbClr val="D97A14"/>
            </a:solidFill>
            <a:prstDash val="solid"/>
            <a:tailEnd type="triangle"/>
          </a:ln>
        </p:spPr>
      </p:sp>
      <p:sp>
        <p:nvSpPr>
          <p:cNvPr id="11" name="Shape 9"/>
          <p:cNvSpPr/>
          <p:nvPr/>
        </p:nvSpPr>
        <p:spPr>
          <a:xfrm>
            <a:off x="557784" y="2926080"/>
            <a:ext cx="438912" cy="438912"/>
          </a:xfrm>
          <a:prstGeom prst="ellipse">
            <a:avLst/>
          </a:prstGeom>
          <a:solidFill>
            <a:srgbClr val="D97A14"/>
          </a:solidFill>
          <a:ln w="19050">
            <a:solidFill>
              <a:srgbClr val="FFFFFF"/>
            </a:solidFill>
            <a:prstDash val="solid"/>
          </a:ln>
        </p:spPr>
      </p:sp>
      <p:sp>
        <p:nvSpPr>
          <p:cNvPr id="12" name="Text 10"/>
          <p:cNvSpPr txBox="1"/>
          <p:nvPr/>
        </p:nvSpPr>
        <p:spPr>
          <a:xfrm>
            <a:off x="22860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3" name="Shape 11"/>
          <p:cNvSpPr/>
          <p:nvPr/>
        </p:nvSpPr>
        <p:spPr>
          <a:xfrm>
            <a:off x="3508248" y="3145536"/>
            <a:ext cx="2090928" cy="0"/>
          </a:xfrm>
          <a:prstGeom prst="line">
            <a:avLst/>
          </a:prstGeom>
          <a:noFill/>
          <a:ln w="28575">
            <a:solidFill>
              <a:srgbClr val="D97A14"/>
            </a:solidFill>
            <a:prstDash val="solid"/>
            <a:tailEnd type="triangle"/>
          </a:ln>
        </p:spPr>
      </p:sp>
      <p:sp>
        <p:nvSpPr>
          <p:cNvPr id="14" name="Shape 12"/>
          <p:cNvSpPr/>
          <p:nvPr/>
        </p:nvSpPr>
        <p:spPr>
          <a:xfrm>
            <a:off x="3087624" y="2926080"/>
            <a:ext cx="438912" cy="438912"/>
          </a:xfrm>
          <a:prstGeom prst="ellipse">
            <a:avLst/>
          </a:prstGeom>
          <a:solidFill>
            <a:srgbClr val="2F6D62"/>
          </a:solidFill>
          <a:ln w="19050">
            <a:solidFill>
              <a:srgbClr val="FFFFFF"/>
            </a:solidFill>
            <a:prstDash val="solid"/>
          </a:ln>
        </p:spPr>
      </p:sp>
      <p:sp>
        <p:nvSpPr>
          <p:cNvPr id="15" name="Text 13"/>
          <p:cNvSpPr txBox="1"/>
          <p:nvPr/>
        </p:nvSpPr>
        <p:spPr>
          <a:xfrm>
            <a:off x="275844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6" name="Shape 14"/>
          <p:cNvSpPr/>
          <p:nvPr/>
        </p:nvSpPr>
        <p:spPr>
          <a:xfrm>
            <a:off x="6038088" y="3145536"/>
            <a:ext cx="2090928" cy="0"/>
          </a:xfrm>
          <a:prstGeom prst="line">
            <a:avLst/>
          </a:prstGeom>
          <a:noFill/>
          <a:ln w="28575">
            <a:solidFill>
              <a:srgbClr val="D97A14"/>
            </a:solidFill>
            <a:prstDash val="solid"/>
            <a:tailEnd type="triangle"/>
          </a:ln>
        </p:spPr>
      </p:sp>
      <p:sp>
        <p:nvSpPr>
          <p:cNvPr id="17" name="Shape 15"/>
          <p:cNvSpPr/>
          <p:nvPr/>
        </p:nvSpPr>
        <p:spPr>
          <a:xfrm>
            <a:off x="5617464" y="2926080"/>
            <a:ext cx="438912" cy="438912"/>
          </a:xfrm>
          <a:prstGeom prst="ellipse">
            <a:avLst/>
          </a:prstGeom>
          <a:solidFill>
            <a:srgbClr val="2F6D62"/>
          </a:solidFill>
          <a:ln w="19050">
            <a:solidFill>
              <a:srgbClr val="FFFFFF"/>
            </a:solidFill>
            <a:prstDash val="solid"/>
          </a:ln>
        </p:spPr>
      </p:sp>
      <p:sp>
        <p:nvSpPr>
          <p:cNvPr id="18" name="Text 16"/>
          <p:cNvSpPr txBox="1"/>
          <p:nvPr/>
        </p:nvSpPr>
        <p:spPr>
          <a:xfrm>
            <a:off x="528828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19" name="Shape 17"/>
          <p:cNvSpPr/>
          <p:nvPr/>
        </p:nvSpPr>
        <p:spPr>
          <a:xfrm>
            <a:off x="8147304" y="2926080"/>
            <a:ext cx="438912" cy="438912"/>
          </a:xfrm>
          <a:prstGeom prst="ellipse">
            <a:avLst/>
          </a:prstGeom>
          <a:solidFill>
            <a:srgbClr val="D97A14"/>
          </a:solidFill>
          <a:ln w="19050">
            <a:solidFill>
              <a:srgbClr val="FFFFFF"/>
            </a:solidFill>
            <a:prstDash val="solid"/>
          </a:ln>
        </p:spPr>
      </p:sp>
      <p:sp>
        <p:nvSpPr>
          <p:cNvPr id="20" name="Text 18"/>
          <p:cNvSpPr txBox="1"/>
          <p:nvPr/>
        </p:nvSpPr>
        <p:spPr>
          <a:xfrm>
            <a:off x="781812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1" name="Text 19"/>
          <p:cNvSpPr txBox="1"/>
          <p:nvPr/>
        </p:nvSpPr>
        <p:spPr>
          <a:xfrm>
            <a:off x="457200" y="3803904"/>
            <a:ext cx="822960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Alice pays Dave through three channels; the chain is untouched</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transactions, any number of payments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channel opens and closes on the chain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payments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onchain = payments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 =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payments]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8, 98, 998]</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Paid on the chain, every payment is one transaction.</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records two transactions, one to open and one to close.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transactions on the chain, per payment count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31520"/>
                <a:gridCol w="731520"/>
                <a:gridCol w="777240"/>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On 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Channel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Opening and closing cost two transactions however many payments follow; a single payment alone does not pay off.</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 pays off from the third payment on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7" name="Shape 5"/>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9" name="Shape 7"/>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1" name="Shape 9"/>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3" name="Shape 11"/>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5" name="Text 13"/>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6" name="Shape 14"/>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8" name="Shape 16"/>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0" name="Shape 18"/>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headline sits in block 0, and the first payment went from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the cap of 21 million is arithmetic, and the price is discovered by trades.</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has no bank: every node checks every rule, and proof of work makes history costly.</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holds keys, not coins; whoever holds the keys holds the coins, and the code restores them.</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first payment needs an address or invoice, whole coins, change, and a fee for the miner.</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two old ideas joined, and payment channels that keep many payments off the chain.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code slide carries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62</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data (API)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of bitcoin, as CoinGecko's own data feed</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Nakamoto Institute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Nakamoto Institute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white paper, then look up block 0 yourself</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62</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Bitcoin came from</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supply is capped and price discovered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double spend is refused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controls the keys; how a payment works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62 / 62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2026-10-25T10:13:36Z</dcterms:created>
  <dcterms:modified xsi:type="dcterms:W3CDTF">2026-10-25T10:13:36Z</dcterms:modified>
  <cp:version>3.0.0</cp:version>
</cp:coreProperties>
</file>