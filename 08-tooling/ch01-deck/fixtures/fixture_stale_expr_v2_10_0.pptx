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1.jpg" ContentType="image/jpg"/>
  <Override PartName="/ppt/media/image-11-1.jpg" ContentType="image/jpg"/>
  <Override PartName="/ppt/media/image-12-1.jpg" ContentType="image/jpg"/>
  <Override PartName="/ppt/media/image-12-2.jpg" ContentType="image/jpg"/>
  <Override PartName="/ppt/media/image-16-1.jpg" ContentType="image/jpg"/>
  <Override PartName="/ppt/media/image-16-2.jpg" ContentType="image/jpg"/>
  <Override PartName="/ppt/media/image-16-3.jpg" ContentType="image/jpg"/>
  <Override PartName="/ppt/media/image-16-4.jpg" ContentType="image/jpg"/>
  <Override PartName="/ppt/media/image-16-5.jpg" ContentType="image/jpg"/>
  <Override PartName="/ppt/media/image-19-1.jpg" ContentType="image/jpg"/>
  <Override PartName="/ppt/media/image-23-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chapter's own concept taxonomy: ninety concepts in six branches, of which forty-two carry a worked example. The worked examples are re-run by the build under the interpreter named in each console caption, and the deck is refused if one stops agreeing. Figures that come from outside that run say Recorded or NOT EXECUTED on their own slide. The text is Mastering Bitcoin, third edition, chapter 1 (Antonopoulos and Harding, 2023), free under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stories carry the why, the programs carry the proof, and every slide number on this list is printed bottom-right as we pass it. A question to think about is this: which part do you expect to be hardest?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 Network, Wallet, Usage, Foundations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explain why Bitcoin looks the way it does: a newspaper headline carved into the first block, the first purchase made with bitcoin, and forty years of failed attempts at digital money. Each story is dated and sourced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The source is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The source is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was not the first attempt at digital money. David Chaum's blind-signature ecash of the 1980s ended with the bankruptcy of his company DigiCash, and Adam Back's Hashcash of 1997 priced email spam with proof of work. Wei Dai's b-money and Nick Szabo's bit gold, both of 1998, were never built because neither could agree on a history without a leader. The sources are Nakamoto's 2008 paper and the original text of each 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island of Yap, wealth was held in rai, limestone discs up to four metres wide and far too heavy to move. When a stone changed owners it stayed where it lay, and only the community's shared memory of who owned it changed. That is a ledger without a bank, the idea Bitcoin rebuilds. The sources are Furness, The Island of Stone Money (1910), and Milton Friedman's Hoover working paper of 1991 with the same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has changed form many times: grain-ledger entries in Mesopotamia, the first struck coins in Lydia around 600 BCE, paper notes in Song-dynasty China, and goldsmiths' receipts that became bank money. In 1971 the dollar's last tie to gold was cut, leaving pure fiat money. Bitcoin is the next step in that sequence, money that exists only as digital records. The sources are standard monetary histories and chapter 1 of Mastering Bitcoin, third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traditional cash, digital money held at banks and cryptocurrency on who issues it, where it exists and who keeps the ledger. The remaining rows ask what sets the supply and how a payment settles. Read down a column to see one kind of money, and across a row to see which property changes. The difference in who keeps the ledger is the subject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 question to think about is this: which of these failures did cards fix?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source is en.wikipedia.org/wiki/PayPal (Confinity 1998, X.com 1999, merger 2000, eBay acquisition 2002); en.wikipedia.org/wiki/Flooz.com and /wiki/Beenz.com (both closed 2001 in the dot-com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2007 - 2022. Money fails people in documented ways. Kenya, 2007: most adults had no bank, so Safaricom's M-Pesa turned phone credit into the country's money rail. The source is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why does the same problem not exist for paper cash? The full explanation is on the course page, chapter 1, in Double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what stops the network agreeing on the WRONG order? The full explanation is on the course page, chapter 1, in Double spend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 question to think about is this: how many satoshis buy a coffee at today's price? The full explanation is on the course page, chapter 1, in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 question to think about is this: why does the sum stop just short of 21 million?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section addresses a question that every newcomer asks, namely who sets the price of bitcoin. The chapter's short answer is that the price is set by markets (Antonopoulos and Harding, 2023). The full explanation is on the course page, chapter 1, in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22 May 2010. For Bitcoin's first year and a half, nobody knew what a bitcoin was worth, because nobody had ever bought anything with one. Then Laszlo Hanyecz, a Florida programmer, offered 10,000 BTC on a forum to anyone who would bring him two pizzas - and someone did. The source is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is a documented milestone - dollar parity in 2011, the first thousand in 2013, the 2017 and 2021 peaks - and the last one was fetched live from mempool.space and CoinGecko while this deck was built, agreeing within 0.1 percent. A question to think about is this: why does this chart need a log scale? The full explanation is on the course page, chapter 1, in Price; story companion and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The full explanation is on the course page, chapter 1,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 question to think about is this: what breaks first in each picture if one machine lies? The full explanation is on the course page, chapter 1, in Network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peer starts out knowing two neighbours, and in each round it asks the peers it has just found for their neighbours. The program counts the rounds of gossip until all seven peers are known, and it reports four. No server or registry is involved, which is why the network needs no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 and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Think about this case: your house has a registry if the key is lost. The full explanation is on the course page, chapter 1, in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A question to think about is this: which side was the exchange that lost its customers' coins on? The full explanation is on the course page, chapter 1, in Key control, Wallet platform and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Mt Gox of Tokyo, led by Mark Karpeles, was once the largest bitcoin exchange in the world. In February 2014 it halted withdrawals, filed for bankruptcy and admitted that about 850,000 bitcoins were gone. Customers had balances on a website, but the keys, and therefore the coins, had been in someone else's hands all along. The figure comes from the Tokyo District Court filing of 28 February 2014 and is reported here, not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The full explanation is on the course page, chapter 1, in Backup and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Acquisition section lists the ways in which a newcomer obtains a first bitcoin, which is the practical problem a reader faces as soon as the wallet is installed. The full explanation is on the course page, chapter 1, in Acquisition, Address and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The full explanation is on the course page, chapter 1, in Computing and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branch answers a question that precedes all the others: what kind of thing is Bitcoin? Chapter 1 gives two complementary answers. The full explanation is on the course page, chapter 1, in Nature, Characteristic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The full explanation is on the course page, chapter 1, in Transfer and Semantic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of them still feels like a claim rather than a fact, the agenda slide names the slides that prove it - and the course page carries the full text. A question to think about is this: which line would you defend to a sceptic first, and with which slide?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free. The whitepaper is nine pages - read it this week; the textbook is the one this course follows, free under CC BY-SA in the same repository our materials pin. A question to think about is this: who can find today's newest block on mempool.space before the break ends? The full explanation is on the course page, chapter 1, in Standards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claims you should now be able to make: what a bitcoin is and how far it divides, why twenty-one million is arithmetic and not a promise, and what replaces the bank in the middle. Each claim is proved in a later chapter, and the last box on the slide names the chapter that opens each branch we drew. If you cannot yet say one of them in your own words, return to its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hyperlink" Target="https://www.money.org/money-museum/virtual-exhibits/hom"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www.sec.gov/Archives/edgar/data/1103415/000091205701533855/a2059025zs-1.ht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M-Pesa" TargetMode="External"/><Relationship Id="rId3" Type="http://schemas.openxmlformats.org/officeDocument/2006/relationships/image" Target="../media/image-16-2.jpg"/><Relationship Id="rId4" Type="http://schemas.openxmlformats.org/officeDocument/2006/relationships/hyperlink" Target="https://en.wikipedia.org/wiki/2012%E2%80%932013_Cypriot_financial_crisis" TargetMode="External"/><Relationship Id="rId5" Type="http://schemas.openxmlformats.org/officeDocument/2006/relationships/image" Target="../media/image-16-3.jpg"/><Relationship Id="rId6" Type="http://schemas.openxmlformats.org/officeDocument/2006/relationships/hyperlink" Target="https://en.wikipedia.org/wiki/Greek_government-debt_crisis" TargetMode="External"/><Relationship Id="rId7" Type="http://schemas.openxmlformats.org/officeDocument/2006/relationships/image" Target="../media/image-16-4.jpg"/><Relationship Id="rId8" Type="http://schemas.openxmlformats.org/officeDocument/2006/relationships/hyperlink" Target="https://en.wikipedia.org/wiki/Hyperinflation_in_Venezuela" TargetMode="External"/><Relationship Id="rId9" Type="http://schemas.openxmlformats.org/officeDocument/2006/relationships/image" Target="../media/image-16-5.jpg"/><Relationship Id="rId10" Type="http://schemas.openxmlformats.org/officeDocument/2006/relationships/hyperlink" Target="https://www.cnbc.com/2022/03/02/ukraine-dogecoin-other-cryptocurrencies-accepted-for-donations.html" TargetMode="External"/><Relationship Id="rId11" Type="http://schemas.openxmlformats.org/officeDocument/2006/relationships/hyperlink" Target="https://www.cnbc.com/2022/03/02/ukraine-dogecoin-other-cryptocurrencies-accepted-for-donations.html" TargetMode="External"/><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techcrunch.com/2014/03/03/mt-gox-posts-new-statement-on-alleged-theft-bankruptcy-filing/"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en/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web.archive.org/web/2023/http://www.hashcash.org/papers/hashcash.pdf" TargetMode="External"/><Relationship Id="rId11" Type="http://schemas.openxmlformats.org/officeDocument/2006/relationships/hyperlink" Target="https://web.archive.org/web/2023/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331720"/>
          </a:xfrm>
          <a:prstGeom prst="rect">
            <a:avLst/>
          </a:prstGeom>
        </p:spPr>
      </p:pic>
      <p:sp>
        <p:nvSpPr>
          <p:cNvPr id="7" name="Text 4"/>
          <p:cNvSpPr txBox="1"/>
          <p:nvPr/>
        </p:nvSpPr>
        <p:spPr>
          <a:xfrm>
            <a:off x="457200" y="364845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Recorded: block 0's real 285 bytes, fetched from the live chain for this deck; its hash re-verified in the build</a:t>
            </a:r>
            <a:endParaRPr lang="en-US" sz="900" dirty="0"/>
          </a:p>
        </p:txBody>
      </p:sp>
      <p:sp>
        <p:nvSpPr>
          <p:cNvPr id="8" name="Shape 5"/>
          <p:cNvSpPr/>
          <p:nvPr/>
        </p:nvSpPr>
        <p:spPr>
          <a:xfrm>
            <a:off x="6080760" y="1234440"/>
            <a:ext cx="2606040" cy="219456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344168"/>
            <a:ext cx="2606040" cy="457200"/>
          </a:xfrm>
          <a:prstGeom prst="rect">
            <a:avLst/>
          </a:prstGeom>
          <a:noFill/>
          <a:ln/>
        </p:spPr>
        <p:txBody>
          <a:bodyPr wrap="square" lIns="0" tIns="0" rIns="0" bIns="0" rtlCol="0" anchor="ctr"/>
          <a:lstStyle/>
          <a:p>
            <a:pPr algn="ctr" indent="0" marL="0">
              <a:buNone/>
            </a:pPr>
            <a:r>
              <a:rPr lang="en-US" sz="1400" b="1" dirty="0">
                <a:solidFill>
                  <a:srgbClr val="2B2622"/>
                </a:solidFill>
                <a:latin typeface="Cambria" pitchFamily="34" charset="0"/>
                <a:ea typeface="Cambria" pitchFamily="34" charset="-122"/>
                <a:cs typeface="Cambria" pitchFamily="34" charset="-120"/>
              </a:rPr>
              <a:t>The Times</a:t>
            </a:r>
            <a:endParaRPr lang="en-US" sz="1400" dirty="0"/>
          </a:p>
        </p:txBody>
      </p:sp>
      <p:sp>
        <p:nvSpPr>
          <p:cNvPr id="10" name="Shape 7"/>
          <p:cNvSpPr/>
          <p:nvPr/>
        </p:nvSpPr>
        <p:spPr>
          <a:xfrm>
            <a:off x="6309360" y="1856232"/>
            <a:ext cx="2148840" cy="0"/>
          </a:xfrm>
          <a:prstGeom prst="line">
            <a:avLst/>
          </a:prstGeom>
          <a:noFill/>
          <a:ln w="12700">
            <a:solidFill>
              <a:srgbClr val="2B2622"/>
            </a:solidFill>
            <a:prstDash val="solid"/>
          </a:ln>
        </p:spPr>
      </p:sp>
      <p:sp>
        <p:nvSpPr>
          <p:cNvPr id="11" name="Text 8"/>
          <p:cNvSpPr txBox="1"/>
          <p:nvPr/>
        </p:nvSpPr>
        <p:spPr>
          <a:xfrm>
            <a:off x="6080760" y="1892808"/>
            <a:ext cx="26060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Saturday January 3 2009</a:t>
            </a:r>
            <a:endParaRPr lang="en-US" sz="1050" dirty="0"/>
          </a:p>
        </p:txBody>
      </p:sp>
      <p:sp>
        <p:nvSpPr>
          <p:cNvPr id="12" name="Text 9"/>
          <p:cNvSpPr txBox="1"/>
          <p:nvPr/>
        </p:nvSpPr>
        <p:spPr>
          <a:xfrm>
            <a:off x="6245352" y="2130552"/>
            <a:ext cx="22768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Chancellor on brink of second bailout for banks</a:t>
            </a:r>
            <a:endParaRPr lang="en-US" sz="1150" dirty="0"/>
          </a:p>
        </p:txBody>
      </p:sp>
      <p:sp>
        <p:nvSpPr>
          <p:cNvPr id="13" name="Shape 10"/>
          <p:cNvSpPr/>
          <p:nvPr/>
        </p:nvSpPr>
        <p:spPr>
          <a:xfrm>
            <a:off x="6332220" y="3026664"/>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3026664"/>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66744"/>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456432"/>
            <a:ext cx="2331720" cy="54864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 i…</a:t>
            </a:r>
            <a:endParaRPr lang="en-US" sz="750" dirty="0"/>
          </a:p>
        </p:txBody>
      </p:sp>
      <p:sp>
        <p:nvSpPr>
          <p:cNvPr id="21" name="Shape 18"/>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with the headline (tx)</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2651760"/>
          </a:xfrm>
          <a:prstGeom prst="rect">
            <a:avLst/>
          </a:prstGeom>
        </p:spPr>
      </p:pic>
      <p:sp>
        <p:nvSpPr>
          <p:cNvPr id="7" name="Text 4"/>
          <p:cNvSpPr txBox="1"/>
          <p:nvPr/>
        </p:nvSpPr>
        <p:spPr>
          <a:xfrm>
            <a:off x="457200" y="39959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994867"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84856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t>
            </a:r>
            <a:endParaRPr lang="en-US" sz="750" dirty="0"/>
          </a:p>
        </p:txBody>
      </p:sp>
      <p:sp>
        <p:nvSpPr>
          <p:cNvPr id="16" name="Shape 13"/>
          <p:cNvSpPr/>
          <p:nvPr/>
        </p:nvSpPr>
        <p:spPr>
          <a:xfrm>
            <a:off x="4487875" y="3703320"/>
            <a:ext cx="94512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4579315" y="3703320"/>
            <a:ext cx="79882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5542727"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34167"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6498092" y="3703320"/>
            <a:ext cx="2188708"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6589532" y="3703320"/>
            <a:ext cx="204240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95528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72668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 …</a:t>
            </a:r>
            <a:endParaRPr lang="en-US" sz="750" dirty="0"/>
          </a:p>
        </p:txBody>
      </p:sp>
      <p:sp>
        <p:nvSpPr>
          <p:cNvPr id="25" name="Shape 23"/>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academic papers and ma…</a:t>
            </a:r>
            <a:endParaRPr lang="en-US" sz="750" dirty="0"/>
          </a:p>
        </p:txBody>
      </p:sp>
      <p:sp>
        <p:nvSpPr>
          <p:cNvPr id="27" name="Shape 25"/>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2588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200" dirty="0"/>
          </a:p>
        </p:txBody>
      </p:sp>
      <p:sp>
        <p:nvSpPr>
          <p:cNvPr id="10" name="Shape 7"/>
          <p:cNvSpPr/>
          <p:nvPr/>
        </p:nvSpPr>
        <p:spPr>
          <a:xfrm>
            <a:off x="36118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69164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200" dirty="0"/>
          </a:p>
        </p:txBody>
      </p:sp>
      <p:sp>
        <p:nvSpPr>
          <p:cNvPr id="12" name="Shape 9"/>
          <p:cNvSpPr/>
          <p:nvPr/>
        </p:nvSpPr>
        <p:spPr>
          <a:xfrm>
            <a:off x="36118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05740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stone sank at sea - and kept changing owners anyway</a:t>
            </a:r>
            <a:endParaRPr lang="en-US" sz="1200" dirty="0"/>
          </a:p>
        </p:txBody>
      </p:sp>
      <p:sp>
        <p:nvSpPr>
          <p:cNvPr id="14" name="Shape 11"/>
          <p:cNvSpPr/>
          <p:nvPr/>
        </p:nvSpPr>
        <p:spPr>
          <a:xfrm>
            <a:off x="4005072" y="2514600"/>
            <a:ext cx="950976" cy="950976"/>
          </a:xfrm>
          <a:prstGeom prst="ellipse">
            <a:avLst/>
          </a:prstGeom>
          <a:solidFill>
            <a:srgbClr val="DFD6C7"/>
          </a:solidFill>
          <a:ln w="25400">
            <a:solidFill>
              <a:srgbClr val="6E655C"/>
            </a:solidFill>
            <a:prstDash val="solid"/>
          </a:ln>
        </p:spPr>
      </p:sp>
      <p:sp>
        <p:nvSpPr>
          <p:cNvPr id="15" name="Shape 12"/>
          <p:cNvSpPr/>
          <p:nvPr/>
        </p:nvSpPr>
        <p:spPr>
          <a:xfrm>
            <a:off x="4352544" y="2880360"/>
            <a:ext cx="256032" cy="256032"/>
          </a:xfrm>
          <a:prstGeom prst="ellipse">
            <a:avLst/>
          </a:prstGeom>
          <a:solidFill>
            <a:srgbClr val="FAF6EF"/>
          </a:solidFill>
          <a:ln w="19050">
            <a:solidFill>
              <a:srgbClr val="6E655C"/>
            </a:solidFill>
            <a:prstDash val="solid"/>
          </a:ln>
        </p:spPr>
      </p:sp>
      <p:sp>
        <p:nvSpPr>
          <p:cNvPr id="16" name="Text 13"/>
          <p:cNvSpPr txBox="1"/>
          <p:nvPr/>
        </p:nvSpPr>
        <p:spPr>
          <a:xfrm>
            <a:off x="370332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2990088"/>
            <a:ext cx="548640" cy="0"/>
          </a:xfrm>
          <a:prstGeom prst="line">
            <a:avLst/>
          </a:prstGeom>
          <a:noFill/>
          <a:ln w="25400">
            <a:solidFill>
              <a:srgbClr val="D97A14"/>
            </a:solidFill>
            <a:prstDash val="solid"/>
            <a:tailEnd type="triangle"/>
          </a:ln>
        </p:spPr>
      </p:sp>
      <p:sp>
        <p:nvSpPr>
          <p:cNvPr id="18" name="Shape 15"/>
          <p:cNvSpPr/>
          <p:nvPr/>
        </p:nvSpPr>
        <p:spPr>
          <a:xfrm>
            <a:off x="5650992" y="2514600"/>
            <a:ext cx="950976" cy="950976"/>
          </a:xfrm>
          <a:prstGeom prst="ellipse">
            <a:avLst/>
          </a:prstGeom>
          <a:solidFill>
            <a:srgbClr val="DFD6C7"/>
          </a:solidFill>
          <a:ln w="25400">
            <a:solidFill>
              <a:srgbClr val="6E655C"/>
            </a:solidFill>
            <a:prstDash val="solid"/>
          </a:ln>
        </p:spPr>
      </p:sp>
      <p:sp>
        <p:nvSpPr>
          <p:cNvPr id="19" name="Shape 16"/>
          <p:cNvSpPr/>
          <p:nvPr/>
        </p:nvSpPr>
        <p:spPr>
          <a:xfrm>
            <a:off x="5998464" y="2880360"/>
            <a:ext cx="256032" cy="256032"/>
          </a:xfrm>
          <a:prstGeom prst="ellipse">
            <a:avLst/>
          </a:prstGeom>
          <a:solidFill>
            <a:srgbClr val="FAF6EF"/>
          </a:solidFill>
          <a:ln w="19050">
            <a:solidFill>
              <a:srgbClr val="6E655C"/>
            </a:solidFill>
            <a:prstDash val="solid"/>
          </a:ln>
        </p:spPr>
      </p:sp>
      <p:sp>
        <p:nvSpPr>
          <p:cNvPr id="20" name="Text 17"/>
          <p:cNvSpPr txBox="1"/>
          <p:nvPr/>
        </p:nvSpPr>
        <p:spPr>
          <a:xfrm>
            <a:off x="534924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2990088"/>
            <a:ext cx="548640" cy="0"/>
          </a:xfrm>
          <a:prstGeom prst="line">
            <a:avLst/>
          </a:prstGeom>
          <a:noFill/>
          <a:ln w="25400">
            <a:solidFill>
              <a:srgbClr val="D97A14"/>
            </a:solidFill>
            <a:prstDash val="solid"/>
            <a:tailEnd type="triangle"/>
          </a:ln>
        </p:spPr>
      </p:sp>
      <p:sp>
        <p:nvSpPr>
          <p:cNvPr id="22" name="Shape 19"/>
          <p:cNvSpPr/>
          <p:nvPr/>
        </p:nvSpPr>
        <p:spPr>
          <a:xfrm>
            <a:off x="7296912" y="2514600"/>
            <a:ext cx="950976" cy="950976"/>
          </a:xfrm>
          <a:prstGeom prst="ellipse">
            <a:avLst/>
          </a:prstGeom>
          <a:solidFill>
            <a:srgbClr val="DFD6C7"/>
          </a:solidFill>
          <a:ln w="25400">
            <a:solidFill>
              <a:srgbClr val="6E655C"/>
            </a:solidFill>
            <a:prstDash val="solid"/>
          </a:ln>
        </p:spPr>
      </p:sp>
      <p:sp>
        <p:nvSpPr>
          <p:cNvPr id="23" name="Shape 20"/>
          <p:cNvSpPr/>
          <p:nvPr/>
        </p:nvSpPr>
        <p:spPr>
          <a:xfrm>
            <a:off x="7644384" y="2880360"/>
            <a:ext cx="256032" cy="256032"/>
          </a:xfrm>
          <a:prstGeom prst="ellipse">
            <a:avLst/>
          </a:prstGeom>
          <a:solidFill>
            <a:srgbClr val="FAF6EF"/>
          </a:solidFill>
          <a:ln w="19050">
            <a:solidFill>
              <a:srgbClr val="6E655C"/>
            </a:solidFill>
            <a:prstDash val="solid"/>
          </a:ln>
        </p:spPr>
      </p:sp>
      <p:sp>
        <p:nvSpPr>
          <p:cNvPr id="24" name="Text 21"/>
          <p:cNvSpPr txBox="1"/>
          <p:nvPr/>
        </p:nvSpPr>
        <p:spPr>
          <a:xfrm>
            <a:off x="699516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385876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60520"/>
            <a:ext cx="949147"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6052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Yape…</a:t>
            </a:r>
            <a:endParaRPr lang="en-US" sz="750" dirty="0"/>
          </a:p>
        </p:txBody>
      </p:sp>
      <p:sp>
        <p:nvSpPr>
          <p:cNvPr id="28" name="Shape 25"/>
          <p:cNvSpPr/>
          <p:nvPr/>
        </p:nvSpPr>
        <p:spPr>
          <a:xfrm>
            <a:off x="4670755" y="4160520"/>
            <a:ext cx="901690"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4762195" y="416052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a:t>
            </a:r>
            <a:endParaRPr lang="en-US" sz="750" dirty="0"/>
          </a:p>
        </p:txBody>
      </p:sp>
      <p:sp>
        <p:nvSpPr>
          <p:cNvPr id="30" name="Shape 27"/>
          <p:cNvSpPr/>
          <p:nvPr/>
        </p:nvSpPr>
        <p:spPr>
          <a:xfrm>
            <a:off x="5682173" y="416052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5773613" y="416052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6598676" y="4160520"/>
            <a:ext cx="2088124"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6690116" y="416052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371600"/>
            <a:ext cx="1600200" cy="1005840"/>
          </a:xfrm>
          <a:prstGeom prst="rect">
            <a:avLst/>
          </a:prstGeom>
        </p:spPr>
      </p:pic>
      <p:sp>
        <p:nvSpPr>
          <p:cNvPr id="8" name="Text 5"/>
          <p:cNvSpPr txBox="1"/>
          <p:nvPr/>
        </p:nvSpPr>
        <p:spPr>
          <a:xfrm>
            <a:off x="68580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371600"/>
            <a:ext cx="1600200" cy="1005840"/>
          </a:xfrm>
          <a:prstGeom prst="rect">
            <a:avLst/>
          </a:prstGeom>
        </p:spPr>
      </p:pic>
      <p:sp>
        <p:nvSpPr>
          <p:cNvPr id="10" name="Text 6"/>
          <p:cNvSpPr txBox="1"/>
          <p:nvPr/>
        </p:nvSpPr>
        <p:spPr>
          <a:xfrm>
            <a:off x="690372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249778"/>
            <a:ext cx="8229600" cy="0"/>
          </a:xfrm>
          <a:prstGeom prst="line">
            <a:avLst/>
          </a:prstGeom>
          <a:noFill/>
          <a:ln w="25400">
            <a:solidFill>
              <a:srgbClr val="C9BFAE"/>
            </a:solidFill>
            <a:prstDash val="solid"/>
          </a:ln>
        </p:spPr>
      </p:sp>
      <p:sp>
        <p:nvSpPr>
          <p:cNvPr id="13" name="Shape 9"/>
          <p:cNvSpPr/>
          <p:nvPr/>
        </p:nvSpPr>
        <p:spPr>
          <a:xfrm>
            <a:off x="557784" y="3167482"/>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2774290"/>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167482"/>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167482"/>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167482"/>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167482"/>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167482"/>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955280" y="2774290"/>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72668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ledger-keepers, from tem…</a:t>
            </a:r>
            <a:endParaRPr lang="en-US" sz="750" dirty="0"/>
          </a:p>
        </p:txBody>
      </p:sp>
      <p:sp>
        <p:nvSpPr>
          <p:cNvPr id="33" name="Shape 29"/>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Lydia, Ch…</a:t>
            </a:r>
            <a:endParaRPr lang="en-US" sz="750" dirty="0"/>
          </a:p>
        </p:txBody>
      </p:sp>
      <p:sp>
        <p:nvSpPr>
          <p:cNvPr id="35" name="Shape 31"/>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95528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72668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8122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7589520" y="3200400"/>
            <a:ext cx="1097280" cy="731520"/>
          </a:xfrm>
          <a:prstGeom prst="rect">
            <a:avLst/>
          </a:prstGeom>
        </p:spPr>
      </p:pic>
      <p:sp>
        <p:nvSpPr>
          <p:cNvPr id="25" name="Shape 2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Max Levchin and Peter Th…</a:t>
            </a:r>
            <a:endParaRPr lang="en-US" sz="750" dirty="0"/>
          </a:p>
        </p:txBody>
      </p:sp>
      <p:sp>
        <p:nvSpPr>
          <p:cNvPr id="27" name="Shape 2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in the dot-…</a:t>
            </a:r>
            <a:endParaRPr lang="en-US" sz="750" dirty="0"/>
          </a:p>
        </p:txBody>
      </p:sp>
      <p:sp>
        <p:nvSpPr>
          <p:cNvPr id="29" name="Shape 2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1" name="Shape 2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Form S-1, 2001 (SEC filing)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sec.gov</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554480"/>
            <a:ext cx="1521562" cy="2359152"/>
          </a:xfrm>
          <a:prstGeom prst="roundRect">
            <a:avLst>
              <a:gd name="adj" fmla="val 6010"/>
            </a:avLst>
          </a:prstGeom>
          <a:solidFill>
            <a:srgbClr val="F2ECE1"/>
          </a:solidFill>
          <a:ln w="12700">
            <a:solidFill>
              <a:srgbClr val="DFD6C7"/>
            </a:solidFill>
            <a:prstDash val="solid"/>
          </a:ln>
        </p:spPr>
      </p:sp>
      <p:pic>
        <p:nvPicPr>
          <p:cNvPr id="8" name="Image 0" descr="../../03-materials/ch01/assets/photo_mpesa_agent.jpg">    </p:cNvPr>
          <p:cNvPicPr>
            <a:picLocks noChangeAspect="1"/>
          </p:cNvPicPr>
          <p:nvPr/>
        </p:nvPicPr>
        <p:blipFill>
          <a:blip r:embed="rId1"/>
          <a:srcRect l="0" r="0" t="0" b="0"/>
          <a:stretch/>
        </p:blipFill>
        <p:spPr>
          <a:xfrm>
            <a:off x="457200" y="1645920"/>
            <a:ext cx="1338682" cy="658368"/>
          </a:xfrm>
          <a:prstGeom prst="rect">
            <a:avLst/>
          </a:prstGeom>
        </p:spPr>
      </p:pic>
      <p:sp>
        <p:nvSpPr>
          <p:cNvPr id="9" name="Shape 6"/>
          <p:cNvSpPr/>
          <p:nvPr/>
        </p:nvSpPr>
        <p:spPr>
          <a:xfrm>
            <a:off x="475488" y="2359152"/>
            <a:ext cx="1302106" cy="329184"/>
          </a:xfrm>
          <a:prstGeom prst="roundRect">
            <a:avLst>
              <a:gd name="adj" fmla="val 50000"/>
            </a:avLst>
          </a:prstGeom>
          <a:solidFill>
            <a:srgbClr val="2F6D62"/>
          </a:solidFill>
          <a:ln w="12700">
            <a:solidFill>
              <a:srgbClr val="2F6D62"/>
            </a:solidFill>
            <a:prstDash val="solid"/>
          </a:ln>
        </p:spPr>
      </p:sp>
      <p:sp>
        <p:nvSpPr>
          <p:cNvPr id="10" name="Text 7"/>
          <p:cNvSpPr txBox="1"/>
          <p:nvPr/>
        </p:nvSpPr>
        <p:spPr>
          <a:xfrm>
            <a:off x="47548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1" name="Text 8"/>
          <p:cNvSpPr txBox="1"/>
          <p:nvPr/>
        </p:nvSpPr>
        <p:spPr>
          <a:xfrm>
            <a:off x="49377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2" name="Text 9"/>
          <p:cNvSpPr txBox="1"/>
          <p:nvPr/>
        </p:nvSpPr>
        <p:spPr>
          <a:xfrm>
            <a:off x="49377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3" name="Shape 10"/>
          <p:cNvSpPr/>
          <p:nvPr/>
        </p:nvSpPr>
        <p:spPr>
          <a:xfrm>
            <a:off x="2088490" y="1554480"/>
            <a:ext cx="1521562" cy="2359152"/>
          </a:xfrm>
          <a:prstGeom prst="roundRect">
            <a:avLst>
              <a:gd name="adj" fmla="val 6010"/>
            </a:avLst>
          </a:prstGeom>
          <a:solidFill>
            <a:srgbClr val="F2ECE1"/>
          </a:solidFill>
          <a:ln w="12700">
            <a:solidFill>
              <a:srgbClr val="DFD6C7"/>
            </a:solidFill>
            <a:prstDash val="solid"/>
          </a:ln>
        </p:spPr>
      </p:sp>
      <p:pic>
        <p:nvPicPr>
          <p:cNvPr id="14" name="Image 1" descr="../../03-materials/ch01/assets/photo_laiki_bank.jpg">    </p:cNvPr>
          <p:cNvPicPr>
            <a:picLocks noChangeAspect="1"/>
          </p:cNvPicPr>
          <p:nvPr/>
        </p:nvPicPr>
        <p:blipFill>
          <a:blip r:embed="rId3"/>
          <a:srcRect l="0" r="0" t="0" b="0"/>
          <a:stretch/>
        </p:blipFill>
        <p:spPr>
          <a:xfrm>
            <a:off x="2179930" y="1645920"/>
            <a:ext cx="1338682" cy="658368"/>
          </a:xfrm>
          <a:prstGeom prst="rect">
            <a:avLst/>
          </a:prstGeom>
        </p:spPr>
      </p:pic>
      <p:sp>
        <p:nvSpPr>
          <p:cNvPr id="15" name="Shape 11"/>
          <p:cNvSpPr/>
          <p:nvPr/>
        </p:nvSpPr>
        <p:spPr>
          <a:xfrm>
            <a:off x="2198218" y="2359152"/>
            <a:ext cx="1302106" cy="329184"/>
          </a:xfrm>
          <a:prstGeom prst="roundRect">
            <a:avLst>
              <a:gd name="adj" fmla="val 50000"/>
            </a:avLst>
          </a:prstGeom>
          <a:solidFill>
            <a:srgbClr val="2F6D62"/>
          </a:solidFill>
          <a:ln w="12700">
            <a:solidFill>
              <a:srgbClr val="2F6D62"/>
            </a:solidFill>
            <a:prstDash val="solid"/>
          </a:ln>
        </p:spPr>
      </p:sp>
      <p:sp>
        <p:nvSpPr>
          <p:cNvPr id="16" name="Text 12"/>
          <p:cNvSpPr txBox="1"/>
          <p:nvPr/>
        </p:nvSpPr>
        <p:spPr>
          <a:xfrm>
            <a:off x="219821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7" name="Text 13"/>
          <p:cNvSpPr txBox="1"/>
          <p:nvPr/>
        </p:nvSpPr>
        <p:spPr>
          <a:xfrm>
            <a:off x="221650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18" name="Text 14"/>
          <p:cNvSpPr txBox="1"/>
          <p:nvPr/>
        </p:nvSpPr>
        <p:spPr>
          <a:xfrm>
            <a:off x="221650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9" name="Shape 15"/>
          <p:cNvSpPr/>
          <p:nvPr/>
        </p:nvSpPr>
        <p:spPr>
          <a:xfrm>
            <a:off x="3811219" y="1554480"/>
            <a:ext cx="1521562" cy="2359152"/>
          </a:xfrm>
          <a:prstGeom prst="roundRect">
            <a:avLst>
              <a:gd name="adj" fmla="val 6010"/>
            </a:avLst>
          </a:prstGeom>
          <a:solidFill>
            <a:srgbClr val="F2ECE1"/>
          </a:solidFill>
          <a:ln w="12700">
            <a:solidFill>
              <a:srgbClr val="DFD6C7"/>
            </a:solidFill>
            <a:prstDash val="solid"/>
          </a:ln>
        </p:spPr>
      </p:sp>
      <p:pic>
        <p:nvPicPr>
          <p:cNvPr id="20" name="Image 2" descr="../../03-materials/ch01/assets/photo_greece_atm.jpg">    </p:cNvPr>
          <p:cNvPicPr>
            <a:picLocks noChangeAspect="1"/>
          </p:cNvPicPr>
          <p:nvPr/>
        </p:nvPicPr>
        <p:blipFill>
          <a:blip r:embed="rId5"/>
          <a:srcRect l="0" r="0" t="0" b="0"/>
          <a:stretch/>
        </p:blipFill>
        <p:spPr>
          <a:xfrm>
            <a:off x="3902659" y="1645920"/>
            <a:ext cx="1338682" cy="658368"/>
          </a:xfrm>
          <a:prstGeom prst="rect">
            <a:avLst/>
          </a:prstGeom>
        </p:spPr>
      </p:pic>
      <p:sp>
        <p:nvSpPr>
          <p:cNvPr id="21" name="Shape 16"/>
          <p:cNvSpPr/>
          <p:nvPr/>
        </p:nvSpPr>
        <p:spPr>
          <a:xfrm>
            <a:off x="3920947" y="2359152"/>
            <a:ext cx="1302106" cy="329184"/>
          </a:xfrm>
          <a:prstGeom prst="roundRect">
            <a:avLst>
              <a:gd name="adj" fmla="val 50000"/>
            </a:avLst>
          </a:prstGeom>
          <a:solidFill>
            <a:srgbClr val="2F6D62"/>
          </a:solidFill>
          <a:ln w="12700">
            <a:solidFill>
              <a:srgbClr val="2F6D62"/>
            </a:solidFill>
            <a:prstDash val="solid"/>
          </a:ln>
        </p:spPr>
      </p:sp>
      <p:sp>
        <p:nvSpPr>
          <p:cNvPr id="22" name="Text 17"/>
          <p:cNvSpPr txBox="1"/>
          <p:nvPr/>
        </p:nvSpPr>
        <p:spPr>
          <a:xfrm>
            <a:off x="392094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3" name="Text 18"/>
          <p:cNvSpPr txBox="1"/>
          <p:nvPr/>
        </p:nvSpPr>
        <p:spPr>
          <a:xfrm>
            <a:off x="393923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4" name="Text 19"/>
          <p:cNvSpPr txBox="1"/>
          <p:nvPr/>
        </p:nvSpPr>
        <p:spPr>
          <a:xfrm>
            <a:off x="393923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5" name="Shape 20"/>
          <p:cNvSpPr/>
          <p:nvPr/>
        </p:nvSpPr>
        <p:spPr>
          <a:xfrm>
            <a:off x="5533949" y="1554480"/>
            <a:ext cx="1521562" cy="2359152"/>
          </a:xfrm>
          <a:prstGeom prst="roundRect">
            <a:avLst>
              <a:gd name="adj" fmla="val 6010"/>
            </a:avLst>
          </a:prstGeom>
          <a:solidFill>
            <a:srgbClr val="F2ECE1"/>
          </a:solidFill>
          <a:ln w="12700">
            <a:solidFill>
              <a:srgbClr val="DFD6C7"/>
            </a:solidFill>
            <a:prstDash val="solid"/>
          </a:ln>
        </p:spPr>
      </p:sp>
      <p:pic>
        <p:nvPicPr>
          <p:cNvPr id="26" name="Image 3" descr="../../03-materials/ch01/assets/photo_bolivar_note.jpg">    </p:cNvPr>
          <p:cNvPicPr>
            <a:picLocks noChangeAspect="1"/>
          </p:cNvPicPr>
          <p:nvPr/>
        </p:nvPicPr>
        <p:blipFill>
          <a:blip r:embed="rId7"/>
          <a:srcRect l="0" r="0" t="0" b="0"/>
          <a:stretch/>
        </p:blipFill>
        <p:spPr>
          <a:xfrm>
            <a:off x="5625389" y="1645920"/>
            <a:ext cx="1338682" cy="658368"/>
          </a:xfrm>
          <a:prstGeom prst="rect">
            <a:avLst/>
          </a:prstGeom>
        </p:spPr>
      </p:pic>
      <p:sp>
        <p:nvSpPr>
          <p:cNvPr id="27" name="Shape 21"/>
          <p:cNvSpPr/>
          <p:nvPr/>
        </p:nvSpPr>
        <p:spPr>
          <a:xfrm>
            <a:off x="5643677" y="2359152"/>
            <a:ext cx="1302106" cy="329184"/>
          </a:xfrm>
          <a:prstGeom prst="roundRect">
            <a:avLst>
              <a:gd name="adj" fmla="val 50000"/>
            </a:avLst>
          </a:prstGeom>
          <a:solidFill>
            <a:srgbClr val="2F6D62"/>
          </a:solidFill>
          <a:ln w="12700">
            <a:solidFill>
              <a:srgbClr val="2F6D62"/>
            </a:solidFill>
            <a:prstDash val="solid"/>
          </a:ln>
        </p:spPr>
      </p:sp>
      <p:sp>
        <p:nvSpPr>
          <p:cNvPr id="28" name="Text 22"/>
          <p:cNvSpPr txBox="1"/>
          <p:nvPr/>
        </p:nvSpPr>
        <p:spPr>
          <a:xfrm>
            <a:off x="564367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29" name="Text 23"/>
          <p:cNvSpPr txBox="1"/>
          <p:nvPr/>
        </p:nvSpPr>
        <p:spPr>
          <a:xfrm>
            <a:off x="566196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0" name="Text 24"/>
          <p:cNvSpPr txBox="1"/>
          <p:nvPr/>
        </p:nvSpPr>
        <p:spPr>
          <a:xfrm>
            <a:off x="566196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1" name="Shape 25"/>
          <p:cNvSpPr/>
          <p:nvPr/>
        </p:nvSpPr>
        <p:spPr>
          <a:xfrm>
            <a:off x="7256678" y="1554480"/>
            <a:ext cx="1521562" cy="2359152"/>
          </a:xfrm>
          <a:prstGeom prst="roundRect">
            <a:avLst>
              <a:gd name="adj" fmla="val 6010"/>
            </a:avLst>
          </a:prstGeom>
          <a:solidFill>
            <a:srgbClr val="F2ECE1"/>
          </a:solidFill>
          <a:ln w="12700">
            <a:solidFill>
              <a:srgbClr val="DFD6C7"/>
            </a:solidFill>
            <a:prstDash val="solid"/>
          </a:ln>
        </p:spPr>
      </p:sp>
      <p:pic>
        <p:nvPicPr>
          <p:cNvPr id="32" name="Image 4" descr="../../03-materials/ch01/assets/photo_fedorov.jpg">    </p:cNvPr>
          <p:cNvPicPr>
            <a:picLocks noChangeAspect="1"/>
          </p:cNvPicPr>
          <p:nvPr/>
        </p:nvPicPr>
        <p:blipFill>
          <a:blip r:embed="rId9"/>
          <a:srcRect l="0" r="0" t="0" b="0"/>
          <a:stretch/>
        </p:blipFill>
        <p:spPr>
          <a:xfrm>
            <a:off x="7348118" y="1645920"/>
            <a:ext cx="1338682" cy="658368"/>
          </a:xfrm>
          <a:prstGeom prst="rect">
            <a:avLst/>
          </a:prstGeom>
        </p:spPr>
      </p:pic>
      <p:sp>
        <p:nvSpPr>
          <p:cNvPr id="33" name="Shape 26"/>
          <p:cNvSpPr/>
          <p:nvPr/>
        </p:nvSpPr>
        <p:spPr>
          <a:xfrm>
            <a:off x="7366406" y="2359152"/>
            <a:ext cx="1302106" cy="329184"/>
          </a:xfrm>
          <a:prstGeom prst="roundRect">
            <a:avLst>
              <a:gd name="adj" fmla="val 50000"/>
            </a:avLst>
          </a:prstGeom>
          <a:solidFill>
            <a:srgbClr val="2F6D62"/>
          </a:solidFill>
          <a:ln w="12700">
            <a:solidFill>
              <a:srgbClr val="2F6D62"/>
            </a:solidFill>
            <a:prstDash val="solid"/>
          </a:ln>
        </p:spPr>
      </p:sp>
      <p:sp>
        <p:nvSpPr>
          <p:cNvPr id="34" name="Text 27"/>
          <p:cNvSpPr txBox="1"/>
          <p:nvPr/>
        </p:nvSpPr>
        <p:spPr>
          <a:xfrm>
            <a:off x="7366406"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5" name="Text 28"/>
          <p:cNvSpPr txBox="1"/>
          <p:nvPr/>
        </p:nvSpPr>
        <p:spPr>
          <a:xfrm>
            <a:off x="7384694"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950" dirty="0"/>
          </a:p>
        </p:txBody>
      </p:sp>
      <p:sp>
        <p:nvSpPr>
          <p:cNvPr id="36" name="Text 29"/>
          <p:cNvSpPr txBox="1"/>
          <p:nvPr/>
        </p:nvSpPr>
        <p:spPr>
          <a:xfrm>
            <a:off x="7384694"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7" name="Text 30"/>
          <p:cNvSpPr txBox="1"/>
          <p:nvPr/>
        </p:nvSpPr>
        <p:spPr>
          <a:xfrm>
            <a:off x="365760" y="3941064"/>
            <a:ext cx="8412480" cy="22860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38" name="Shape 31"/>
          <p:cNvSpPr/>
          <p:nvPr/>
        </p:nvSpPr>
        <p:spPr>
          <a:xfrm>
            <a:off x="457200" y="4206240"/>
            <a:ext cx="1738092" cy="365760"/>
          </a:xfrm>
          <a:prstGeom prst="roundRect">
            <a:avLst>
              <a:gd name="adj" fmla="val 50000"/>
            </a:avLst>
          </a:prstGeom>
          <a:solidFill>
            <a:srgbClr val="EFE9DC"/>
          </a:solidFill>
          <a:ln w="9525">
            <a:solidFill>
              <a:srgbClr val="DFD6C7"/>
            </a:solidFill>
            <a:prstDash val="solid"/>
          </a:ln>
        </p:spPr>
      </p:sp>
      <p:sp>
        <p:nvSpPr>
          <p:cNvPr id="39" name="Text 32"/>
          <p:cNvSpPr txBox="1"/>
          <p:nvPr/>
        </p:nvSpPr>
        <p:spPr>
          <a:xfrm>
            <a:off x="548640" y="420624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savers, the unbanked, an…</a:t>
            </a:r>
            <a:endParaRPr lang="en-US" sz="750" dirty="0"/>
          </a:p>
        </p:txBody>
      </p:sp>
      <p:sp>
        <p:nvSpPr>
          <p:cNvPr id="40" name="Shape 33"/>
          <p:cNvSpPr/>
          <p:nvPr/>
        </p:nvSpPr>
        <p:spPr>
          <a:xfrm>
            <a:off x="2305020" y="4206240"/>
            <a:ext cx="1659087" cy="365760"/>
          </a:xfrm>
          <a:prstGeom prst="roundRect">
            <a:avLst>
              <a:gd name="adj" fmla="val 50000"/>
            </a:avLst>
          </a:prstGeom>
          <a:solidFill>
            <a:srgbClr val="EFE9DC"/>
          </a:solidFill>
          <a:ln w="9525">
            <a:solidFill>
              <a:srgbClr val="DFD6C7"/>
            </a:solidFill>
            <a:prstDash val="solid"/>
          </a:ln>
        </p:spPr>
      </p:sp>
      <p:sp>
        <p:nvSpPr>
          <p:cNvPr id="41" name="Text 34"/>
          <p:cNvSpPr txBox="1"/>
          <p:nvPr/>
        </p:nvSpPr>
        <p:spPr>
          <a:xfrm>
            <a:off x="2396460" y="420624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Kenya, Cyprus, Greece,…</a:t>
            </a:r>
            <a:endParaRPr lang="en-US" sz="750" dirty="0"/>
          </a:p>
        </p:txBody>
      </p:sp>
      <p:sp>
        <p:nvSpPr>
          <p:cNvPr id="42" name="Shape 35"/>
          <p:cNvSpPr/>
          <p:nvPr/>
        </p:nvSpPr>
        <p:spPr>
          <a:xfrm>
            <a:off x="4073835" y="4206240"/>
            <a:ext cx="1343071" cy="365760"/>
          </a:xfrm>
          <a:prstGeom prst="roundRect">
            <a:avLst>
              <a:gd name="adj" fmla="val 50000"/>
            </a:avLst>
          </a:prstGeom>
          <a:solidFill>
            <a:srgbClr val="EFE9DC"/>
          </a:solidFill>
          <a:ln w="9525">
            <a:solidFill>
              <a:srgbClr val="DFD6C7"/>
            </a:solidFill>
            <a:prstDash val="solid"/>
          </a:ln>
        </p:spPr>
      </p:sp>
      <p:sp>
        <p:nvSpPr>
          <p:cNvPr id="43" name="Text 36"/>
          <p:cNvSpPr txBox="1"/>
          <p:nvPr/>
        </p:nvSpPr>
        <p:spPr>
          <a:xfrm>
            <a:off x="4165275" y="420624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44" name="Shape 37"/>
          <p:cNvSpPr/>
          <p:nvPr/>
        </p:nvSpPr>
        <p:spPr>
          <a:xfrm>
            <a:off x="5526634" y="4206240"/>
            <a:ext cx="3160166" cy="365760"/>
          </a:xfrm>
          <a:prstGeom prst="roundRect">
            <a:avLst>
              <a:gd name="adj" fmla="val 50000"/>
            </a:avLst>
          </a:prstGeom>
          <a:solidFill>
            <a:srgbClr val="2F6D62"/>
          </a:solidFill>
          <a:ln w="9525">
            <a:solidFill>
              <a:srgbClr val="2F6D62"/>
            </a:solidFill>
            <a:prstDash val="solid"/>
          </a:ln>
        </p:spPr>
      </p:sp>
      <p:sp>
        <p:nvSpPr>
          <p:cNvPr id="45" name="Text 38"/>
          <p:cNvSpPr txBox="1"/>
          <p:nvPr/>
        </p:nvSpPr>
        <p:spPr>
          <a:xfrm>
            <a:off x="5618074" y="420624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CNBC: Ukraine accepts crypto donations (news)</a:t>
            </a:r>
            <a:endParaRPr lang="en-US" sz="750" dirty="0"/>
          </a:p>
        </p:txBody>
      </p:sp>
      <p:sp>
        <p:nvSpPr>
          <p:cNvPr id="46"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8"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4" name="Shape 22"/>
          <p:cNvSpPr/>
          <p:nvPr/>
        </p:nvSpPr>
        <p:spPr>
          <a:xfrm>
            <a:off x="7114032" y="1956816"/>
            <a:ext cx="310896" cy="310896"/>
          </a:xfrm>
          <a:prstGeom prst="ellipse">
            <a:avLst/>
          </a:prstGeom>
          <a:solidFill>
            <a:srgbClr val="D97A14"/>
          </a:solidFill>
          <a:ln w="15875">
            <a:solidFill>
              <a:srgbClr val="D97A14"/>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8" name="Shape 26"/>
          <p:cNvSpPr/>
          <p:nvPr/>
        </p:nvSpPr>
        <p:spPr>
          <a:xfrm>
            <a:off x="7114032" y="3465576"/>
            <a:ext cx="310896" cy="310896"/>
          </a:xfrm>
          <a:prstGeom prst="ellipse">
            <a:avLst/>
          </a:prstGeom>
          <a:solidFill>
            <a:srgbClr val="D97A14"/>
          </a:solidFill>
          <a:ln w="15875">
            <a:solidFill>
              <a:srgbClr val="D97A14"/>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D97A14"/>
            </a:solidFill>
            <a:prstDash val="solid"/>
            <a:tailEnd type="triangle"/>
          </a:ln>
        </p:spPr>
      </p:sp>
      <p:sp>
        <p:nvSpPr>
          <p:cNvPr id="32" name="Shape 30"/>
          <p:cNvSpPr/>
          <p:nvPr/>
        </p:nvSpPr>
        <p:spPr>
          <a:xfrm>
            <a:off x="5303520" y="2880360"/>
            <a:ext cx="1417320" cy="740664"/>
          </a:xfrm>
          <a:prstGeom prst="line">
            <a:avLst/>
          </a:prstGeom>
          <a:noFill/>
          <a:ln w="25400">
            <a:solidFill>
              <a:srgbClr val="D97A14"/>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363931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4" name="Text 22"/>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6" name="Text 24"/>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4663440" y="2057400"/>
            <a:ext cx="537667" cy="822960"/>
          </a:xfrm>
          <a:prstGeom prst="line">
            <a:avLst/>
          </a:prstGeom>
          <a:noFill/>
          <a:ln w="22225">
            <a:solidFill>
              <a:srgbClr val="6E655C"/>
            </a:solidFill>
            <a:prstDash val="solid"/>
            <a:tailEnd type="triangle"/>
          </a:ln>
        </p:spPr>
      </p:sp>
      <p:sp>
        <p:nvSpPr>
          <p:cNvPr id="28" name="Shape 26"/>
          <p:cNvSpPr/>
          <p:nvPr/>
        </p:nvSpPr>
        <p:spPr>
          <a:xfrm>
            <a:off x="4663440" y="2880360"/>
            <a:ext cx="537667" cy="822960"/>
          </a:xfrm>
          <a:prstGeom prst="line">
            <a:avLst/>
          </a:prstGeom>
          <a:noFill/>
          <a:ln w="22225">
            <a:solidFill>
              <a:srgbClr val="6E655C"/>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a:off x="6446520" y="2057400"/>
            <a:ext cx="384048" cy="0"/>
          </a:xfrm>
          <a:prstGeom prst="line">
            <a:avLst/>
          </a:prstGeom>
          <a:noFill/>
          <a:ln w="25400">
            <a:solidFill>
              <a:srgbClr val="2F6D62"/>
            </a:solidFill>
            <a:prstDash val="solid"/>
            <a:tailEnd type="triangle"/>
          </a:ln>
        </p:spPr>
      </p:sp>
      <p:sp>
        <p:nvSpPr>
          <p:cNvPr id="34" name="Shape 32"/>
          <p:cNvSpPr/>
          <p:nvPr/>
        </p:nvSpPr>
        <p:spPr>
          <a:xfrm>
            <a:off x="6446520" y="3703320"/>
            <a:ext cx="384048" cy="0"/>
          </a:xfrm>
          <a:prstGeom prst="line">
            <a:avLst/>
          </a:prstGeom>
          <a:noFill/>
          <a:ln w="25400">
            <a:solidFill>
              <a:srgbClr val="D97A14"/>
            </a:solidFill>
            <a:prstDash val="solid"/>
            <a:tailEnd type="triangle"/>
          </a:ln>
        </p:spPr>
      </p:sp>
      <p:sp>
        <p:nvSpPr>
          <p:cNvPr id="35" name="Text 33"/>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int(decimal.Decimal(</a:t>
            </a:r>
            <a:r>
              <a:rPr lang="en-US" sz="1100" dirty="0">
                <a:solidFill>
                  <a:srgbClr val="9ECBFF"/>
                </a:solidFill>
                <a:latin typeface="Courier New" pitchFamily="34" charset="0"/>
                <a:ea typeface="Courier New" pitchFamily="34" charset="-122"/>
                <a:cs typeface="Courier New" pitchFamily="34" charset="-120"/>
              </a:rPr>
              <a:t>'0.001'</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100001</a:t>
            </a:r>
            <a:endParaRPr lang="en-US" sz="1100" dirty="0"/>
          </a:p>
        </p:txBody>
      </p:sp>
      <p:sp>
        <p:nvSpPr>
          <p:cNvPr id="17" name="Text 15"/>
          <p:cNvSpPr txBox="1"/>
          <p:nvPr/>
        </p:nvSpPr>
        <p:spPr>
          <a:xfrm>
            <a:off x="393192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481706"/>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33502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8" name="Shape 6"/>
          <p:cNvSpPr/>
          <p:nvPr/>
        </p:nvSpPr>
        <p:spPr>
          <a:xfrm>
            <a:off x="457200" y="160934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3619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0" name="Shape 8"/>
          <p:cNvSpPr/>
          <p:nvPr/>
        </p:nvSpPr>
        <p:spPr>
          <a:xfrm>
            <a:off x="457200" y="18836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81051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2" name="Text 10"/>
          <p:cNvSpPr txBox="1"/>
          <p:nvPr/>
        </p:nvSpPr>
        <p:spPr>
          <a:xfrm>
            <a:off x="457200" y="21214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3" name="Shape 11"/>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4" name="Text 12"/>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sum((</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era)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era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range(</a:t>
            </a:r>
            <a:r>
              <a:rPr lang="en-US" sz="1100" dirty="0">
                <a:solidFill>
                  <a:srgbClr val="FFD28A"/>
                </a:solidFill>
                <a:latin typeface="Courier New" pitchFamily="34" charset="0"/>
                <a:ea typeface="Courier New" pitchFamily="34" charset="-122"/>
                <a:cs typeface="Courier New" pitchFamily="34" charset="-120"/>
              </a:rPr>
              <a:t>33</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5" name="Text 13"/>
          <p:cNvSpPr txBox="1"/>
          <p:nvPr/>
        </p:nvSpPr>
        <p:spPr>
          <a:xfrm>
            <a:off x="7040880" y="21214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29260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17" name="Shape 15"/>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18" name="Text 16"/>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a:t>
            </a:r>
            <a:r>
              <a:rPr lang="en-US" sz="1100" dirty="0">
                <a:solidFill>
                  <a:srgbClr val="FFD28A"/>
                </a:solidFill>
                <a:latin typeface="Courier New" pitchFamily="34" charset="0"/>
                <a:ea typeface="Courier New" pitchFamily="34" charset="-122"/>
                <a:cs typeface="Courier New" pitchFamily="34" charset="-120"/>
              </a:rPr>
              <a:t>840000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9" name="Text 17"/>
          <p:cNvSpPr txBox="1"/>
          <p:nvPr/>
        </p:nvSpPr>
        <p:spPr>
          <a:xfrm>
            <a:off x="7040880" y="29260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Text 18"/>
          <p:cNvSpPr txBox="1"/>
          <p:nvPr/>
        </p:nvSpPr>
        <p:spPr>
          <a:xfrm>
            <a:off x="457200" y="3694176"/>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1" name="Shape 19"/>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2" name="Text 20"/>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50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&gt;&gt; h //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h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630000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3" name="Text 21"/>
          <p:cNvSpPr txBox="1"/>
          <p:nvPr/>
        </p:nvSpPr>
        <p:spPr>
          <a:xfrm>
            <a:off x="7040880" y="369417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r>
              <a:rPr lang="en-US" sz="1150" dirty="0">
                <a:solidFill>
                  <a:srgbClr val="E6EDF3"/>
                </a:solidFill>
                <a:latin typeface="Courier New" pitchFamily="34" charset="0"/>
                <a:ea typeface="Courier New" pitchFamily="34" charset="-122"/>
                <a:cs typeface="Courier New" pitchFamily="34" charset="-120"/>
              </a:rPr>
              <a:t>round(</a:t>
            </a:r>
            <a:r>
              <a:rPr lang="en-US" sz="1150" dirty="0">
                <a:solidFill>
                  <a:srgbClr val="FFD28A"/>
                </a:solidFill>
                <a:latin typeface="Courier New" pitchFamily="34" charset="0"/>
                <a:ea typeface="Courier New" pitchFamily="34" charset="-122"/>
                <a:cs typeface="Courier New" pitchFamily="34" charset="-120"/>
              </a:rPr>
              <a:t>0.001</a:t>
            </a:r>
            <a:r>
              <a:rPr lang="en-US" sz="1150" dirty="0">
                <a:solidFill>
                  <a:srgbClr val="E6EDF3"/>
                </a:solidFill>
                <a:latin typeface="Courier New" pitchFamily="34" charset="0"/>
                <a:ea typeface="Courier New" pitchFamily="34" charset="-122"/>
                <a:cs typeface="Courier New" pitchFamily="34" charset="-120"/>
              </a:rPr>
              <a:t> * </a:t>
            </a:r>
            <a:r>
              <a:rPr lang="en-US" sz="1150" dirty="0">
                <a:solidFill>
                  <a:srgbClr val="FFD28A"/>
                </a:solidFill>
                <a:latin typeface="Courier New" pitchFamily="34" charset="0"/>
                <a:ea typeface="Courier New" pitchFamily="34" charset="-122"/>
                <a:cs typeface="Courier New" pitchFamily="34" charset="-120"/>
              </a:rPr>
              <a:t>60000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FD28A"/>
                </a:solidFill>
                <a:latin typeface="Courier New" pitchFamily="34" charset="0"/>
                <a:ea typeface="Courier New" pitchFamily="34" charset="-122"/>
                <a:cs typeface="Courier New" pitchFamily="34" charset="-120"/>
              </a:rPr>
              <a:t>2</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7040880" y="221284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821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sum(p * 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 / sum(v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7040880" y="31821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90472"/>
            <a:ext cx="2523744" cy="56692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083003"/>
            <a:ext cx="25237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2788920"/>
            <a:ext cx="2697480" cy="1325880"/>
          </a:xfrm>
          <a:prstGeom prst="rect">
            <a:avLst/>
          </a:prstGeom>
        </p:spPr>
      </p:pic>
      <p:sp>
        <p:nvSpPr>
          <p:cNvPr id="10" name="Text 7"/>
          <p:cNvSpPr txBox="1"/>
          <p:nvPr/>
        </p:nvSpPr>
        <p:spPr>
          <a:xfrm>
            <a:off x="502920" y="413308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94914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t>
            </a:r>
            <a:endParaRPr lang="en-US" sz="750" dirty="0"/>
          </a:p>
        </p:txBody>
      </p:sp>
      <p:sp>
        <p:nvSpPr>
          <p:cNvPr id="21" name="Shape 18"/>
          <p:cNvSpPr/>
          <p:nvPr/>
        </p:nvSpPr>
        <p:spPr>
          <a:xfrm>
            <a:off x="4670755" y="3977640"/>
            <a:ext cx="901690"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762195" y="397764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a:t>
            </a:r>
            <a:endParaRPr lang="en-US" sz="750" dirty="0"/>
          </a:p>
        </p:txBody>
      </p:sp>
      <p:sp>
        <p:nvSpPr>
          <p:cNvPr id="23" name="Shape 20"/>
          <p:cNvSpPr/>
          <p:nvPr/>
        </p:nvSpPr>
        <p:spPr>
          <a:xfrm>
            <a:off x="5682173"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773613"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6598676" y="3977640"/>
            <a:ext cx="2088124"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6690116" y="397764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First commercial Bitcoin transaction (record)</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documented milestones; the last point fetched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peer starts, knowing two neighbours</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round it asks the peers just found for THEIR neighbours</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Rounds are counted until all seven peers are known: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188720"/>
          </a:xfrm>
          <a:prstGeom prst="rect">
            <a:avLst/>
          </a:prstGeom>
        </p:spPr>
      </p:pic>
      <p:sp>
        <p:nvSpPr>
          <p:cNvPr id="16" name="Text 13"/>
          <p:cNvSpPr txBox="1"/>
          <p:nvPr/>
        </p:nvSpPr>
        <p:spPr>
          <a:xfrm>
            <a:off x="3931920" y="265176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280160"/>
          </a:xfrm>
          <a:prstGeom prst="roundRect">
            <a:avLst>
              <a:gd name="adj" fmla="val 5714"/>
            </a:avLst>
          </a:prstGeom>
          <a:solidFill>
            <a:srgbClr val="F2ECE1"/>
          </a:solidFill>
          <a:ln w="12700">
            <a:solidFill>
              <a:srgbClr val="DFD6C7"/>
            </a:solidFill>
            <a:prstDash val="solid"/>
          </a:ln>
        </p:spPr>
      </p:sp>
      <p:sp>
        <p:nvSpPr>
          <p:cNvPr id="18" name="Text 15"/>
          <p:cNvSpPr txBox="1"/>
          <p:nvPr/>
        </p:nvSpPr>
        <p:spPr>
          <a:xfrm>
            <a:off x="6510528" y="1517904"/>
            <a:ext cx="2066544" cy="5669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110435"/>
            <a:ext cx="20665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rounds of gossip until every peer is known - no server, no registry</a:t>
            </a:r>
            <a:endParaRPr lang="en-US" sz="1150" dirty="0"/>
          </a:p>
        </p:txBody>
      </p:sp>
      <p:sp>
        <p:nvSpPr>
          <p:cNvPr id="20" name="Text 17"/>
          <p:cNvSpPr txBox="1"/>
          <p:nvPr/>
        </p:nvSpPr>
        <p:spPr>
          <a:xfrm>
            <a:off x="457200" y="3035808"/>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252728"/>
          </a:xfrm>
          <a:prstGeom prst="roundRect">
            <a:avLst>
              <a:gd name="adj" fmla="val 7299"/>
            </a:avLst>
          </a:prstGeom>
          <a:solidFill>
            <a:srgbClr val="23272E"/>
          </a:solidFill>
          <a:ln w="12700">
            <a:solidFill>
              <a:srgbClr val="23272E"/>
            </a:solidFill>
            <a:prstDash val="solid"/>
          </a:ln>
        </p:spPr>
      </p:sp>
      <p:sp>
        <p:nvSpPr>
          <p:cNvPr id="22" name="Text 19"/>
          <p:cNvSpPr txBox="1"/>
          <p:nvPr/>
        </p:nvSpPr>
        <p:spPr>
          <a:xfrm>
            <a:off x="640080" y="3429000"/>
            <a:ext cx="7863840" cy="101498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frontier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result </a:t>
            </a:r>
            <a:r>
              <a:rPr lang="en-US" sz="800" dirty="0">
                <a:solidFill>
                  <a:srgbClr val="7EE787"/>
                </a:solidFill>
                <a:latin typeface="Courier New" pitchFamily="34" charset="0"/>
                <a:ea typeface="Courier New" pitchFamily="34" charset="-122"/>
                <a:cs typeface="Courier New" pitchFamily="34" charset="-120"/>
              </a:rPr>
              <a:t>4</a:t>
            </a:r>
            <a:endParaRPr lang="en-US" sz="800" dirty="0"/>
          </a:p>
        </p:txBody>
      </p:sp>
      <p:sp>
        <p:nvSpPr>
          <p:cNvPr id="23" name="Text 20"/>
          <p:cNvSpPr txBox="1"/>
          <p:nvPr/>
        </p:nvSpPr>
        <p:spPr>
          <a:xfrm>
            <a:off x="4581144" y="3035808"/>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3.14.6</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2F6D62"/>
            </a:solidFill>
            <a:prstDash val="solid"/>
          </a:ln>
        </p:spPr>
      </p:sp>
      <p:sp>
        <p:nvSpPr>
          <p:cNvPr id="16" name="Shape 14"/>
          <p:cNvSpPr/>
          <p:nvPr/>
        </p:nvSpPr>
        <p:spPr>
          <a:xfrm>
            <a:off x="3931920" y="1514856"/>
            <a:ext cx="292608" cy="292608"/>
          </a:xfrm>
          <a:prstGeom prst="ellipse">
            <a:avLst/>
          </a:prstGeom>
          <a:solidFill>
            <a:srgbClr val="2F6D62"/>
          </a:solidFill>
          <a:ln w="12700">
            <a:solidFill>
              <a:srgbClr val="2F6D62"/>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D97A14"/>
            </a:solidFill>
            <a:prstDash val="solid"/>
          </a:ln>
        </p:spPr>
      </p:sp>
      <p:sp>
        <p:nvSpPr>
          <p:cNvPr id="20" name="Shape 18"/>
          <p:cNvSpPr/>
          <p:nvPr/>
        </p:nvSpPr>
        <p:spPr>
          <a:xfrm>
            <a:off x="3931920" y="2057400"/>
            <a:ext cx="292608" cy="292608"/>
          </a:xfrm>
          <a:prstGeom prst="ellipse">
            <a:avLst/>
          </a:prstGeom>
          <a:solidFill>
            <a:srgbClr val="D97A14"/>
          </a:solidFill>
          <a:ln w="12700">
            <a:solidFill>
              <a:srgbClr val="D97A14"/>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2F6D62"/>
            </a:solidFill>
            <a:prstDash val="solid"/>
          </a:ln>
        </p:spPr>
      </p:sp>
      <p:sp>
        <p:nvSpPr>
          <p:cNvPr id="24" name="Shape 22"/>
          <p:cNvSpPr/>
          <p:nvPr/>
        </p:nvSpPr>
        <p:spPr>
          <a:xfrm>
            <a:off x="3931920" y="2599944"/>
            <a:ext cx="292608" cy="292608"/>
          </a:xfrm>
          <a:prstGeom prst="ellipse">
            <a:avLst/>
          </a:prstGeom>
          <a:solidFill>
            <a:srgbClr val="2F6D62"/>
          </a:solidFill>
          <a:ln w="12700">
            <a:solidFill>
              <a:srgbClr val="2F6D62"/>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414589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115568"/>
          </a:xfrm>
          <a:prstGeom prst="roundRect">
            <a:avLst>
              <a:gd name="adj" fmla="val 8197"/>
            </a:avLst>
          </a:prstGeom>
          <a:solidFill>
            <a:srgbClr val="23272E"/>
          </a:solidFill>
          <a:ln w="12700">
            <a:solidFill>
              <a:srgbClr val="23272E"/>
            </a:solidFill>
            <a:prstDash val="solid"/>
          </a:ln>
        </p:spPr>
      </p:sp>
      <p:sp>
        <p:nvSpPr>
          <p:cNvPr id="29" name="Text 27"/>
          <p:cNvSpPr txBox="1"/>
          <p:nvPr/>
        </p:nvSpPr>
        <p:spPr>
          <a:xfrm>
            <a:off x="640080" y="3520440"/>
            <a:ext cx="7863840" cy="877824"/>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r>
              <a:rPr lang="en-US" sz="900" dirty="0">
                <a:solidFill>
                  <a:srgbClr val="FFD28A"/>
                </a:solidFill>
                <a:latin typeface="Courier New" pitchFamily="34" charset="0"/>
                <a:ea typeface="Courier New" pitchFamily="34" charset="-122"/>
                <a:cs typeface="Courier New" pitchFamily="34" charset="-120"/>
              </a:rPr>
              <a:t>50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&gt;&gt; (height // </a:t>
            </a:r>
            <a:r>
              <a:rPr lang="en-US" sz="900" dirty="0">
                <a:solidFill>
                  <a:srgbClr val="FFD28A"/>
                </a:solidFill>
                <a:latin typeface="Courier New" pitchFamily="34" charset="0"/>
                <a:ea typeface="Courier New" pitchFamily="34" charset="-122"/>
                <a:cs typeface="Courier New" pitchFamily="34" charset="-120"/>
              </a:rPr>
              <a:t>210000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return</a:t>
            </a: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r>
              <a:rPr lang="en-US" sz="900" dirty="0">
                <a:solidFill>
                  <a:srgbClr val="FFD28A"/>
                </a:solidFill>
                <a:latin typeface="Courier New" pitchFamily="34" charset="0"/>
                <a:ea typeface="Courier New" pitchFamily="34" charset="-122"/>
                <a:cs typeface="Courier New" pitchFamily="34" charset="-120"/>
              </a:rPr>
              <a:t>312_500_000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312_500_001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325_000_000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12_500_000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[True, False, True]</a:t>
            </a:r>
            <a:endParaRPr lang="en-US" sz="900" dirty="0"/>
          </a:p>
        </p:txBody>
      </p:sp>
      <p:sp>
        <p:nvSpPr>
          <p:cNvPr id="30" name="Text 28"/>
          <p:cNvSpPr txBox="1"/>
          <p:nvPr/>
        </p:nvSpPr>
        <p:spPr>
          <a:xfrm>
            <a:off x="4694530" y="3127248"/>
            <a:ext cx="399227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3.14.6</a:t>
            </a:r>
            <a:endParaRPr lang="en-US" sz="9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28016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D97A14"/>
          </a:solidFill>
          <a:ln w="19050">
            <a:solidFill>
              <a:srgbClr val="D97A14"/>
            </a:solidFill>
            <a:prstDash val="solid"/>
          </a:ln>
        </p:spPr>
      </p:sp>
      <p:sp>
        <p:nvSpPr>
          <p:cNvPr id="11" name="Shape 9"/>
          <p:cNvSpPr/>
          <p:nvPr/>
        </p:nvSpPr>
        <p:spPr>
          <a:xfrm>
            <a:off x="2002536" y="2203704"/>
            <a:ext cx="457200" cy="73152"/>
          </a:xfrm>
          <a:prstGeom prst="rect">
            <a:avLst/>
          </a:prstGeom>
          <a:solidFill>
            <a:srgbClr val="D97A14"/>
          </a:solidFill>
          <a:ln w="9525">
            <a:solidFill>
              <a:srgbClr val="D97A14"/>
            </a:solidFill>
            <a:prstDash val="solid"/>
          </a:ln>
        </p:spPr>
      </p:sp>
      <p:sp>
        <p:nvSpPr>
          <p:cNvPr id="12" name="Shape 10"/>
          <p:cNvSpPr/>
          <p:nvPr/>
        </p:nvSpPr>
        <p:spPr>
          <a:xfrm>
            <a:off x="2313432" y="2258568"/>
            <a:ext cx="64008" cy="109728"/>
          </a:xfrm>
          <a:prstGeom prst="rect">
            <a:avLst/>
          </a:prstGeom>
          <a:solidFill>
            <a:srgbClr val="D97A14"/>
          </a:solidFill>
          <a:ln w="9525">
            <a:solidFill>
              <a:srgbClr val="D97A14"/>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D97A14"/>
          </a:solidFill>
          <a:ln w="19050">
            <a:solidFill>
              <a:srgbClr val="D97A14"/>
            </a:solidFill>
            <a:prstDash val="solid"/>
          </a:ln>
        </p:spPr>
      </p:sp>
      <p:sp>
        <p:nvSpPr>
          <p:cNvPr id="19" name="Shape 17"/>
          <p:cNvSpPr/>
          <p:nvPr/>
        </p:nvSpPr>
        <p:spPr>
          <a:xfrm>
            <a:off x="6345936" y="2203704"/>
            <a:ext cx="457200" cy="73152"/>
          </a:xfrm>
          <a:prstGeom prst="rect">
            <a:avLst/>
          </a:prstGeom>
          <a:solidFill>
            <a:srgbClr val="D97A14"/>
          </a:solidFill>
          <a:ln w="9525">
            <a:solidFill>
              <a:srgbClr val="D97A14"/>
            </a:solidFill>
            <a:prstDash val="solid"/>
          </a:ln>
        </p:spPr>
      </p:sp>
      <p:sp>
        <p:nvSpPr>
          <p:cNvPr id="20" name="Shape 18"/>
          <p:cNvSpPr/>
          <p:nvPr/>
        </p:nvSpPr>
        <p:spPr>
          <a:xfrm>
            <a:off x="6656832" y="2258568"/>
            <a:ext cx="64008" cy="109728"/>
          </a:xfrm>
          <a:prstGeom prst="rect">
            <a:avLst/>
          </a:prstGeom>
          <a:solidFill>
            <a:srgbClr val="D97A14"/>
          </a:solidFill>
          <a:ln w="9525">
            <a:solidFill>
              <a:srgbClr val="D97A14"/>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Tokyo, February 2014 - figures from the court filing, not recomputed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led by CEO Mark…</a:t>
            </a:r>
            <a:endParaRPr lang="en-US" sz="750" dirty="0"/>
          </a:p>
        </p:txBody>
      </p:sp>
      <p:sp>
        <p:nvSpPr>
          <p:cNvPr id="22"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bankruptcy file…</a:t>
            </a:r>
            <a:endParaRPr lang="en-US" sz="750" dirty="0"/>
          </a:p>
        </p:txBody>
      </p:sp>
      <p:sp>
        <p:nvSpPr>
          <p:cNvPr id="24"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484757"/>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8" name="Shape 6"/>
          <p:cNvSpPr/>
          <p:nvPr/>
        </p:nvSpPr>
        <p:spPr>
          <a:xfrm>
            <a:off x="457200" y="1839087"/>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2593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0" name="Shape 8"/>
          <p:cNvSpPr/>
          <p:nvPr/>
        </p:nvSpPr>
        <p:spPr>
          <a:xfrm>
            <a:off x="457200" y="2193417"/>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8026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2" name="Shape 10"/>
          <p:cNvSpPr/>
          <p:nvPr/>
        </p:nvSpPr>
        <p:spPr>
          <a:xfrm>
            <a:off x="457200" y="2547747"/>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3459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4" name="Shape 12"/>
          <p:cNvSpPr/>
          <p:nvPr/>
        </p:nvSpPr>
        <p:spPr>
          <a:xfrm flipV="1">
            <a:off x="4206240" y="1371600"/>
            <a:ext cx="4206240" cy="164592"/>
          </a:xfrm>
          <a:prstGeom prst="trapezoid">
            <a:avLst/>
          </a:prstGeom>
          <a:solidFill>
            <a:srgbClr val="2F6D62"/>
          </a:solidFill>
          <a:ln w="12700">
            <a:solidFill>
              <a:srgbClr val="FFFFFF"/>
            </a:solidFill>
            <a:prstDash val="solid"/>
          </a:ln>
        </p:spPr>
      </p:sp>
      <p:sp>
        <p:nvSpPr>
          <p:cNvPr id="15" name="Text 13"/>
          <p:cNvSpPr txBox="1"/>
          <p:nvPr/>
        </p:nvSpPr>
        <p:spPr>
          <a:xfrm>
            <a:off x="4206240" y="1371600"/>
            <a:ext cx="4206240"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16" name="Shape 14"/>
          <p:cNvSpPr/>
          <p:nvPr/>
        </p:nvSpPr>
        <p:spPr>
          <a:xfrm flipV="1">
            <a:off x="4584802" y="1645920"/>
            <a:ext cx="3449117" cy="164592"/>
          </a:xfrm>
          <a:prstGeom prst="trapezoid">
            <a:avLst/>
          </a:prstGeom>
          <a:solidFill>
            <a:srgbClr val="2F6D62"/>
          </a:solidFill>
          <a:ln w="12700">
            <a:solidFill>
              <a:srgbClr val="FFFFFF"/>
            </a:solidFill>
            <a:prstDash val="solid"/>
          </a:ln>
        </p:spPr>
      </p:sp>
      <p:sp>
        <p:nvSpPr>
          <p:cNvPr id="17" name="Text 15"/>
          <p:cNvSpPr txBox="1"/>
          <p:nvPr/>
        </p:nvSpPr>
        <p:spPr>
          <a:xfrm>
            <a:off x="4584802" y="1645920"/>
            <a:ext cx="3449117"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8" name="Shape 16"/>
          <p:cNvSpPr/>
          <p:nvPr/>
        </p:nvSpPr>
        <p:spPr>
          <a:xfrm flipV="1">
            <a:off x="4963363" y="1920240"/>
            <a:ext cx="2691994" cy="164592"/>
          </a:xfrm>
          <a:prstGeom prst="trapezoid">
            <a:avLst/>
          </a:prstGeom>
          <a:solidFill>
            <a:srgbClr val="2F6D62"/>
          </a:solidFill>
          <a:ln w="12700">
            <a:solidFill>
              <a:srgbClr val="FFFFFF"/>
            </a:solidFill>
            <a:prstDash val="solid"/>
          </a:ln>
        </p:spPr>
      </p:sp>
      <p:sp>
        <p:nvSpPr>
          <p:cNvPr id="19" name="Text 17"/>
          <p:cNvSpPr txBox="1"/>
          <p:nvPr/>
        </p:nvSpPr>
        <p:spPr>
          <a:xfrm>
            <a:off x="4963363" y="1920240"/>
            <a:ext cx="2691994"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0" name="Shape 18"/>
          <p:cNvSpPr/>
          <p:nvPr/>
        </p:nvSpPr>
        <p:spPr>
          <a:xfrm flipV="1">
            <a:off x="5341925" y="2194560"/>
            <a:ext cx="1934870" cy="164592"/>
          </a:xfrm>
          <a:prstGeom prst="trapezoid">
            <a:avLst/>
          </a:prstGeom>
          <a:solidFill>
            <a:srgbClr val="D97A14"/>
          </a:solidFill>
          <a:ln w="12700">
            <a:solidFill>
              <a:srgbClr val="FFFFFF"/>
            </a:solidFill>
            <a:prstDash val="solid"/>
          </a:ln>
        </p:spPr>
      </p:sp>
      <p:sp>
        <p:nvSpPr>
          <p:cNvPr id="21" name="Text 19"/>
          <p:cNvSpPr txBox="1"/>
          <p:nvPr/>
        </p:nvSpPr>
        <p:spPr>
          <a:xfrm>
            <a:off x="5341925" y="2194560"/>
            <a:ext cx="193487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2" name="Text 20"/>
          <p:cNvSpPr txBox="1"/>
          <p:nvPr/>
        </p:nvSpPr>
        <p:spPr>
          <a:xfrm>
            <a:off x="4206240" y="250545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3" name="Text 21"/>
          <p:cNvSpPr txBox="1"/>
          <p:nvPr/>
        </p:nvSpPr>
        <p:spPr>
          <a:xfrm>
            <a:off x="457200" y="2834640"/>
            <a:ext cx="4315968"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4" name="Shape 22"/>
          <p:cNvSpPr/>
          <p:nvPr/>
        </p:nvSpPr>
        <p:spPr>
          <a:xfrm>
            <a:off x="457200" y="3108960"/>
            <a:ext cx="8229600" cy="1435608"/>
          </a:xfrm>
          <a:prstGeom prst="roundRect">
            <a:avLst>
              <a:gd name="adj" fmla="val 6369"/>
            </a:avLst>
          </a:prstGeom>
          <a:solidFill>
            <a:srgbClr val="23272E"/>
          </a:solidFill>
          <a:ln w="12700">
            <a:solidFill>
              <a:srgbClr val="23272E"/>
            </a:solidFill>
            <a:prstDash val="solid"/>
          </a:ln>
        </p:spPr>
      </p:sp>
      <p:sp>
        <p:nvSpPr>
          <p:cNvPr id="25" name="Text 23"/>
          <p:cNvSpPr txBox="1"/>
          <p:nvPr/>
        </p:nvSpPr>
        <p:spPr>
          <a:xfrm>
            <a:off x="640080" y="3227832"/>
            <a:ext cx="7863840" cy="1197864"/>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import</a:t>
            </a:r>
            <a:r>
              <a:rPr lang="en-US" sz="740" dirty="0">
                <a:solidFill>
                  <a:srgbClr val="E6EDF3"/>
                </a:solidFill>
                <a:latin typeface="Courier New" pitchFamily="34" charset="0"/>
                <a:ea typeface="Courier New" pitchFamily="34" charset="-122"/>
                <a:cs typeface="Courier New" pitchFamily="34" charset="-120"/>
              </a:rPr>
              <a:t> hmac</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password, salt, iters = b</a:t>
            </a:r>
            <a:r>
              <a:rPr lang="en-US" sz="740" dirty="0">
                <a:solidFill>
                  <a:srgbClr val="9ECBFF"/>
                </a:solidFill>
                <a:latin typeface="Courier New" pitchFamily="34" charset="0"/>
                <a:ea typeface="Courier New" pitchFamily="34" charset="-122"/>
                <a:cs typeface="Courier New" pitchFamily="34" charset="-120"/>
              </a:rPr>
              <a:t>'abandon'</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u = hmac.new(password, salt + bytes([</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seed = u</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range(iters -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u = hmac.new(password, u,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seed = bytes(a ^ b </a:t>
            </a: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a, b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zip(seed, u))</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(len(seed), seed.hex()[:</a:t>
            </a:r>
            <a:r>
              <a:rPr lang="en-US" sz="740" dirty="0">
                <a:solidFill>
                  <a:srgbClr val="FFD28A"/>
                </a:solidFill>
                <a:latin typeface="Courier New" pitchFamily="34" charset="0"/>
                <a:ea typeface="Courier New" pitchFamily="34" charset="-122"/>
                <a:cs typeface="Courier New" pitchFamily="34" charset="-120"/>
              </a:rPr>
              <a:t>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(64, 'd96147bf')</a:t>
            </a:r>
            <a:endParaRPr lang="en-US" sz="740" dirty="0"/>
          </a:p>
        </p:txBody>
      </p:sp>
      <p:sp>
        <p:nvSpPr>
          <p:cNvPr id="26" name="Text 24"/>
          <p:cNvSpPr txBox="1"/>
          <p:nvPr/>
        </p:nvSpPr>
        <p:spPr>
          <a:xfrm>
            <a:off x="4864608" y="2834640"/>
            <a:ext cx="3822192"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3.14.6</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280160"/>
            <a:ext cx="1700784" cy="731520"/>
          </a:xfrm>
          <a:prstGeom prst="roundRect">
            <a:avLst>
              <a:gd name="adj" fmla="val 12500"/>
            </a:avLst>
          </a:prstGeom>
          <a:solidFill>
            <a:srgbClr val="2F6D62"/>
          </a:solidFill>
          <a:ln w="12700">
            <a:solidFill>
              <a:srgbClr val="2F6D62"/>
            </a:solidFill>
            <a:prstDash val="solid"/>
          </a:ln>
        </p:spPr>
      </p:sp>
      <p:sp>
        <p:nvSpPr>
          <p:cNvPr id="7" name="Text 5"/>
          <p:cNvSpPr txBox="1"/>
          <p:nvPr/>
        </p:nvSpPr>
        <p:spPr>
          <a:xfrm>
            <a:off x="530352"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645920"/>
            <a:ext cx="365760" cy="0"/>
          </a:xfrm>
          <a:prstGeom prst="line">
            <a:avLst/>
          </a:prstGeom>
          <a:noFill/>
          <a:ln w="25400">
            <a:solidFill>
              <a:srgbClr val="D97A14"/>
            </a:solidFill>
            <a:prstDash val="solid"/>
            <a:tailEnd type="triangle"/>
          </a:ln>
        </p:spPr>
      </p:sp>
      <p:sp>
        <p:nvSpPr>
          <p:cNvPr id="9" name="Shape 7"/>
          <p:cNvSpPr/>
          <p:nvPr/>
        </p:nvSpPr>
        <p:spPr>
          <a:xfrm>
            <a:off x="2633472" y="1280160"/>
            <a:ext cx="1700784" cy="731520"/>
          </a:xfrm>
          <a:prstGeom prst="roundRect">
            <a:avLst>
              <a:gd name="adj" fmla="val 12500"/>
            </a:avLst>
          </a:prstGeom>
          <a:solidFill>
            <a:srgbClr val="2F6D62"/>
          </a:solidFill>
          <a:ln w="12700">
            <a:solidFill>
              <a:srgbClr val="2F6D62"/>
            </a:solidFill>
            <a:prstDash val="solid"/>
          </a:ln>
        </p:spPr>
      </p:sp>
      <p:sp>
        <p:nvSpPr>
          <p:cNvPr id="10" name="Text 8"/>
          <p:cNvSpPr txBox="1"/>
          <p:nvPr/>
        </p:nvSpPr>
        <p:spPr>
          <a:xfrm>
            <a:off x="2706624"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645920"/>
            <a:ext cx="365760" cy="0"/>
          </a:xfrm>
          <a:prstGeom prst="line">
            <a:avLst/>
          </a:prstGeom>
          <a:noFill/>
          <a:ln w="25400">
            <a:solidFill>
              <a:srgbClr val="D97A14"/>
            </a:solidFill>
            <a:prstDash val="solid"/>
            <a:tailEnd type="triangle"/>
          </a:ln>
        </p:spPr>
      </p:sp>
      <p:sp>
        <p:nvSpPr>
          <p:cNvPr id="12" name="Shape 10"/>
          <p:cNvSpPr/>
          <p:nvPr/>
        </p:nvSpPr>
        <p:spPr>
          <a:xfrm>
            <a:off x="4809744" y="1280160"/>
            <a:ext cx="1700784" cy="731520"/>
          </a:xfrm>
          <a:prstGeom prst="roundRect">
            <a:avLst>
              <a:gd name="adj" fmla="val 12500"/>
            </a:avLst>
          </a:prstGeom>
          <a:solidFill>
            <a:srgbClr val="2F6D62"/>
          </a:solidFill>
          <a:ln w="12700">
            <a:solidFill>
              <a:srgbClr val="2F6D62"/>
            </a:solidFill>
            <a:prstDash val="solid"/>
          </a:ln>
        </p:spPr>
      </p:sp>
      <p:sp>
        <p:nvSpPr>
          <p:cNvPr id="13" name="Text 11"/>
          <p:cNvSpPr txBox="1"/>
          <p:nvPr/>
        </p:nvSpPr>
        <p:spPr>
          <a:xfrm>
            <a:off x="4882896"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645920"/>
            <a:ext cx="365760" cy="0"/>
          </a:xfrm>
          <a:prstGeom prst="line">
            <a:avLst/>
          </a:prstGeom>
          <a:noFill/>
          <a:ln w="25400">
            <a:solidFill>
              <a:srgbClr val="D97A14"/>
            </a:solidFill>
            <a:prstDash val="solid"/>
            <a:tailEnd type="triangle"/>
          </a:ln>
        </p:spPr>
      </p:sp>
      <p:sp>
        <p:nvSpPr>
          <p:cNvPr id="15" name="Shape 13"/>
          <p:cNvSpPr/>
          <p:nvPr/>
        </p:nvSpPr>
        <p:spPr>
          <a:xfrm>
            <a:off x="6986016" y="1280160"/>
            <a:ext cx="1700784" cy="731520"/>
          </a:xfrm>
          <a:prstGeom prst="roundRect">
            <a:avLst>
              <a:gd name="adj" fmla="val 12500"/>
            </a:avLst>
          </a:prstGeom>
          <a:solidFill>
            <a:srgbClr val="2F6D62"/>
          </a:solidFill>
          <a:ln w="12700">
            <a:solidFill>
              <a:srgbClr val="2F6D62"/>
            </a:solidFill>
            <a:prstDash val="solid"/>
          </a:ln>
        </p:spPr>
      </p:sp>
      <p:sp>
        <p:nvSpPr>
          <p:cNvPr id="16" name="Text 14"/>
          <p:cNvSpPr txBox="1"/>
          <p:nvPr/>
        </p:nvSpPr>
        <p:spPr>
          <a:xfrm>
            <a:off x="7059168"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2372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10312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19" name="Shape 17"/>
          <p:cNvSpPr/>
          <p:nvPr/>
        </p:nvSpPr>
        <p:spPr>
          <a:xfrm>
            <a:off x="457200" y="26334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249936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1" name="Shape 19"/>
          <p:cNvSpPr/>
          <p:nvPr/>
        </p:nvSpPr>
        <p:spPr>
          <a:xfrm>
            <a:off x="457200" y="302971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289560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3" name="Text 21"/>
          <p:cNvSpPr txBox="1"/>
          <p:nvPr/>
        </p:nvSpPr>
        <p:spPr>
          <a:xfrm>
            <a:off x="3931920" y="21031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4" name="Shape 22"/>
          <p:cNvSpPr/>
          <p:nvPr/>
        </p:nvSpPr>
        <p:spPr>
          <a:xfrm>
            <a:off x="5212080" y="2130552"/>
            <a:ext cx="2240280" cy="310896"/>
          </a:xfrm>
          <a:prstGeom prst="roundRect">
            <a:avLst>
              <a:gd name="adj" fmla="val 14706"/>
            </a:avLst>
          </a:prstGeom>
          <a:solidFill>
            <a:srgbClr val="D97A14"/>
          </a:solidFill>
          <a:ln w="12700">
            <a:solidFill>
              <a:srgbClr val="D97A14"/>
            </a:solidFill>
            <a:prstDash val="solid"/>
          </a:ln>
        </p:spPr>
      </p:sp>
      <p:sp>
        <p:nvSpPr>
          <p:cNvPr id="25" name="Text 23"/>
          <p:cNvSpPr txBox="1"/>
          <p:nvPr/>
        </p:nvSpPr>
        <p:spPr>
          <a:xfrm>
            <a:off x="7507224" y="21305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6" name="Text 24"/>
          <p:cNvSpPr txBox="1"/>
          <p:nvPr/>
        </p:nvSpPr>
        <p:spPr>
          <a:xfrm>
            <a:off x="3931920" y="250545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7" name="Shape 25"/>
          <p:cNvSpPr/>
          <p:nvPr/>
        </p:nvSpPr>
        <p:spPr>
          <a:xfrm>
            <a:off x="5212080" y="2532888"/>
            <a:ext cx="1556805" cy="310896"/>
          </a:xfrm>
          <a:prstGeom prst="roundRect">
            <a:avLst>
              <a:gd name="adj" fmla="val 14706"/>
            </a:avLst>
          </a:prstGeom>
          <a:solidFill>
            <a:srgbClr val="2F6D62"/>
          </a:solidFill>
          <a:ln w="12700">
            <a:solidFill>
              <a:srgbClr val="2F6D62"/>
            </a:solidFill>
            <a:prstDash val="solid"/>
          </a:ln>
        </p:spPr>
      </p:sp>
      <p:sp>
        <p:nvSpPr>
          <p:cNvPr id="28" name="Text 26"/>
          <p:cNvSpPr txBox="1"/>
          <p:nvPr/>
        </p:nvSpPr>
        <p:spPr>
          <a:xfrm>
            <a:off x="6823749" y="253288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9" name="Text 27"/>
          <p:cNvSpPr txBox="1"/>
          <p:nvPr/>
        </p:nvSpPr>
        <p:spPr>
          <a:xfrm>
            <a:off x="3931920" y="290779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0" name="Shape 28"/>
          <p:cNvSpPr/>
          <p:nvPr/>
        </p:nvSpPr>
        <p:spPr>
          <a:xfrm>
            <a:off x="5212080" y="2935224"/>
            <a:ext cx="109728" cy="310896"/>
          </a:xfrm>
          <a:prstGeom prst="roundRect">
            <a:avLst>
              <a:gd name="adj" fmla="val 41667"/>
            </a:avLst>
          </a:prstGeom>
          <a:solidFill>
            <a:srgbClr val="D97A14"/>
          </a:solidFill>
          <a:ln w="12700">
            <a:solidFill>
              <a:srgbClr val="D97A14"/>
            </a:solidFill>
            <a:prstDash val="solid"/>
          </a:ln>
        </p:spPr>
      </p:sp>
      <p:sp>
        <p:nvSpPr>
          <p:cNvPr id="31" name="Text 29"/>
          <p:cNvSpPr txBox="1"/>
          <p:nvPr/>
        </p:nvSpPr>
        <p:spPr>
          <a:xfrm>
            <a:off x="5376672" y="293522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2" name="Text 30"/>
          <p:cNvSpPr txBox="1"/>
          <p:nvPr/>
        </p:nvSpPr>
        <p:spPr>
          <a:xfrm>
            <a:off x="457200" y="3337560"/>
            <a:ext cx="4259275"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3" name="Shape 31"/>
          <p:cNvSpPr/>
          <p:nvPr/>
        </p:nvSpPr>
        <p:spPr>
          <a:xfrm>
            <a:off x="457200" y="3611880"/>
            <a:ext cx="8229600" cy="914400"/>
          </a:xfrm>
          <a:prstGeom prst="roundRect">
            <a:avLst>
              <a:gd name="adj" fmla="val 10000"/>
            </a:avLst>
          </a:prstGeom>
          <a:solidFill>
            <a:srgbClr val="23272E"/>
          </a:solidFill>
          <a:ln w="12700">
            <a:solidFill>
              <a:srgbClr val="23272E"/>
            </a:solidFill>
            <a:prstDash val="solid"/>
          </a:ln>
        </p:spPr>
      </p:sp>
      <p:sp>
        <p:nvSpPr>
          <p:cNvPr id="34" name="Text 32"/>
          <p:cNvSpPr txBox="1"/>
          <p:nvPr/>
        </p:nvSpPr>
        <p:spPr>
          <a:xfrm>
            <a:off x="640080" y="3730752"/>
            <a:ext cx="7863840" cy="676656"/>
          </a:xfrm>
          <a:prstGeom prst="rect">
            <a:avLst/>
          </a:prstGeom>
          <a:noFill/>
          <a:ln/>
        </p:spPr>
        <p:txBody>
          <a:bodyPr wrap="square" lIns="0" tIns="0" rIns="0" bIns="0" rtlCol="0" anchor="t"/>
          <a:lstStyle/>
          <a:p>
            <a:pPr indent="0" marL="0">
              <a:buNone/>
            </a:pPr>
            <a:r>
              <a:rPr lang="en-US" sz="740" dirty="0">
                <a:solidFill>
                  <a:srgbClr val="E6EDF3"/>
                </a:solidFill>
                <a:latin typeface="Courier New" pitchFamily="34" charset="0"/>
                <a:ea typeface="Courier New" pitchFamily="34" charset="-122"/>
                <a:cs typeface="Courier New" pitchFamily="34" charset="-120"/>
              </a:rPr>
              <a:t>onchain, a, b = </a:t>
            </a:r>
            <a:r>
              <a:rPr lang="en-US" sz="740" dirty="0">
                <a:solidFill>
                  <a:srgbClr val="FFD28A"/>
                </a:solidFill>
                <a:latin typeface="Courier New" pitchFamily="34" charset="0"/>
                <a:ea typeface="Courier New" pitchFamily="34" charset="-122"/>
                <a:cs typeface="Courier New" pitchFamily="34" charset="-120"/>
              </a:rPr>
              <a:t>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60_000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40_000</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a:t>
            </a:r>
            <a:r>
              <a:rPr lang="en-US" sz="740" dirty="0">
                <a:solidFill>
                  <a:srgbClr val="FFD28A"/>
                </a:solidFill>
                <a:latin typeface="Courier New" pitchFamily="34" charset="0"/>
                <a:ea typeface="Courier New" pitchFamily="34" charset="-122"/>
                <a:cs typeface="Courier New" pitchFamily="34" charset="-120"/>
              </a:rPr>
              <a:t>100</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 b = a - </a:t>
            </a:r>
            <a:r>
              <a:rPr lang="en-US" sz="740" dirty="0">
                <a:solidFill>
                  <a:srgbClr val="FFD28A"/>
                </a:solidFill>
                <a:latin typeface="Courier New" pitchFamily="34" charset="0"/>
                <a:ea typeface="Courier New" pitchFamily="34" charset="-122"/>
                <a:cs typeface="Courier New" pitchFamily="34" charset="-120"/>
              </a:rPr>
              <a:t>10</a:t>
            </a:r>
            <a:r>
              <a:rPr lang="en-US" sz="740" dirty="0">
                <a:solidFill>
                  <a:srgbClr val="E6EDF3"/>
                </a:solidFill>
                <a:latin typeface="Courier New" pitchFamily="34" charset="0"/>
                <a:ea typeface="Courier New" pitchFamily="34" charset="-122"/>
                <a:cs typeface="Courier New" pitchFamily="34" charset="-120"/>
              </a:rPr>
              <a:t>, b + </a:t>
            </a:r>
            <a:r>
              <a:rPr lang="en-US" sz="740" dirty="0">
                <a:solidFill>
                  <a:srgbClr val="FFD28A"/>
                </a:solidFill>
                <a:latin typeface="Courier New" pitchFamily="34" charset="0"/>
                <a:ea typeface="Courier New" pitchFamily="34" charset="-122"/>
                <a:cs typeface="Courier New" pitchFamily="34" charset="-120"/>
              </a:rPr>
              <a:t>10</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(a, b, a + b, onchain)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(59000, 41000, 100000, 2)</a:t>
            </a:r>
            <a:endParaRPr lang="en-US" sz="740" dirty="0"/>
          </a:p>
        </p:txBody>
      </p:sp>
      <p:sp>
        <p:nvSpPr>
          <p:cNvPr id="35" name="Text 33"/>
          <p:cNvSpPr txBox="1"/>
          <p:nvPr/>
        </p:nvSpPr>
        <p:spPr>
          <a:xfrm>
            <a:off x="4807915" y="3337560"/>
            <a:ext cx="3878885"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3.14.6</a:t>
            </a:r>
            <a:endParaRPr lang="en-US" sz="9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2" name="Shape 10"/>
          <p:cNvSpPr/>
          <p:nvPr/>
        </p:nvSpPr>
        <p:spPr>
          <a:xfrm>
            <a:off x="3840480" y="1280160"/>
            <a:ext cx="1371600" cy="777240"/>
          </a:xfrm>
          <a:prstGeom prst="roundRect">
            <a:avLst>
              <a:gd name="adj" fmla="val 9412"/>
            </a:avLst>
          </a:prstGeom>
          <a:solidFill>
            <a:srgbClr val="F2ECE1"/>
          </a:solidFill>
          <a:ln w="22225">
            <a:solidFill>
              <a:srgbClr val="2F6D62"/>
            </a:solidFill>
            <a:prstDash val="solid"/>
          </a:ln>
        </p:spPr>
      </p:sp>
      <p:sp>
        <p:nvSpPr>
          <p:cNvPr id="13" name="Text 11"/>
          <p:cNvSpPr txBox="1"/>
          <p:nvPr/>
        </p:nvSpPr>
        <p:spPr>
          <a:xfrm>
            <a:off x="3840480" y="1335024"/>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14" name="Text 12"/>
          <p:cNvSpPr txBox="1"/>
          <p:nvPr/>
        </p:nvSpPr>
        <p:spPr>
          <a:xfrm>
            <a:off x="3886200" y="1645920"/>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5" name="Shape 13"/>
          <p:cNvSpPr/>
          <p:nvPr/>
        </p:nvSpPr>
        <p:spPr>
          <a:xfrm>
            <a:off x="5212080" y="1668780"/>
            <a:ext cx="365760" cy="0"/>
          </a:xfrm>
          <a:prstGeom prst="line">
            <a:avLst/>
          </a:prstGeom>
          <a:noFill/>
          <a:ln w="25400">
            <a:solidFill>
              <a:srgbClr val="D97A14"/>
            </a:solidFill>
            <a:prstDash val="solid"/>
            <a:tailEnd type="triangle"/>
          </a:ln>
        </p:spPr>
      </p:sp>
      <p:sp>
        <p:nvSpPr>
          <p:cNvPr id="16" name="Shape 14"/>
          <p:cNvSpPr/>
          <p:nvPr/>
        </p:nvSpPr>
        <p:spPr>
          <a:xfrm>
            <a:off x="5577840" y="1280160"/>
            <a:ext cx="1371600" cy="777240"/>
          </a:xfrm>
          <a:prstGeom prst="roundRect">
            <a:avLst>
              <a:gd name="adj" fmla="val 9412"/>
            </a:avLst>
          </a:prstGeom>
          <a:solidFill>
            <a:srgbClr val="EFE6D6"/>
          </a:solidFill>
          <a:ln w="22225">
            <a:solidFill>
              <a:srgbClr val="D97A14"/>
            </a:solidFill>
            <a:prstDash val="solid"/>
          </a:ln>
        </p:spPr>
      </p:sp>
      <p:sp>
        <p:nvSpPr>
          <p:cNvPr id="17" name="Text 15"/>
          <p:cNvSpPr txBox="1"/>
          <p:nvPr/>
        </p:nvSpPr>
        <p:spPr>
          <a:xfrm>
            <a:off x="557784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1</a:t>
            </a:r>
            <a:endParaRPr lang="en-US" sz="1100" dirty="0"/>
          </a:p>
        </p:txBody>
      </p:sp>
      <p:sp>
        <p:nvSpPr>
          <p:cNvPr id="18" name="Text 16"/>
          <p:cNvSpPr txBox="1"/>
          <p:nvPr/>
        </p:nvSpPr>
        <p:spPr>
          <a:xfrm>
            <a:off x="562356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data changed!</a:t>
            </a:r>
            <a:endParaRPr lang="en-US" sz="850" dirty="0"/>
          </a:p>
        </p:txBody>
      </p:sp>
      <p:sp>
        <p:nvSpPr>
          <p:cNvPr id="19" name="Shape 17"/>
          <p:cNvSpPr/>
          <p:nvPr/>
        </p:nvSpPr>
        <p:spPr>
          <a:xfrm>
            <a:off x="6949440" y="1668780"/>
            <a:ext cx="365760" cy="0"/>
          </a:xfrm>
          <a:prstGeom prst="line">
            <a:avLst/>
          </a:prstGeom>
          <a:noFill/>
          <a:ln w="25400">
            <a:solidFill>
              <a:srgbClr val="D97A14"/>
            </a:solidFill>
            <a:prstDash val="solid"/>
            <a:tailEnd type="triangle"/>
          </a:ln>
        </p:spPr>
      </p:sp>
      <p:sp>
        <p:nvSpPr>
          <p:cNvPr id="20" name="Shape 18"/>
          <p:cNvSpPr/>
          <p:nvPr/>
        </p:nvSpPr>
        <p:spPr>
          <a:xfrm>
            <a:off x="7315200" y="1280160"/>
            <a:ext cx="1371600" cy="777240"/>
          </a:xfrm>
          <a:prstGeom prst="roundRect">
            <a:avLst>
              <a:gd name="adj" fmla="val 9412"/>
            </a:avLst>
          </a:prstGeom>
          <a:solidFill>
            <a:srgbClr val="EFE6D6"/>
          </a:solidFill>
          <a:ln w="22225">
            <a:solidFill>
              <a:srgbClr val="D97A14"/>
            </a:solidFill>
            <a:prstDash val="solid"/>
          </a:ln>
        </p:spPr>
      </p:sp>
      <p:sp>
        <p:nvSpPr>
          <p:cNvPr id="21" name="Text 19"/>
          <p:cNvSpPr txBox="1"/>
          <p:nvPr/>
        </p:nvSpPr>
        <p:spPr>
          <a:xfrm>
            <a:off x="731520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2</a:t>
            </a:r>
            <a:endParaRPr lang="en-US" sz="1100" dirty="0"/>
          </a:p>
        </p:txBody>
      </p:sp>
      <p:sp>
        <p:nvSpPr>
          <p:cNvPr id="22" name="Text 20"/>
          <p:cNvSpPr txBox="1"/>
          <p:nvPr/>
        </p:nvSpPr>
        <p:spPr>
          <a:xfrm>
            <a:off x="736092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digest of block 1</a:t>
            </a:r>
            <a:endParaRPr lang="en-US" sz="850" dirty="0"/>
          </a:p>
        </p:txBody>
      </p:sp>
      <p:sp>
        <p:nvSpPr>
          <p:cNvPr id="23" name="Text 21"/>
          <p:cNvSpPr txBox="1"/>
          <p:nvPr/>
        </p:nvSpPr>
        <p:spPr>
          <a:xfrm>
            <a:off x="3840480" y="2130552"/>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4" name="Text 22"/>
          <p:cNvSpPr txBox="1"/>
          <p:nvPr/>
        </p:nvSpPr>
        <p:spPr>
          <a:xfrm>
            <a:off x="457200" y="2514600"/>
            <a:ext cx="4372661"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hashlib</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link(prev, data):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hashlib.sha256((prev + data).encode()).hexdigest()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a:t>
            </a:r>
            <a:r>
              <a:rPr lang="en-US" sz="700" dirty="0">
                <a:solidFill>
                  <a:srgbClr val="9ECBFF"/>
                </a:solidFill>
                <a:latin typeface="Courier New" pitchFamily="34" charset="0"/>
                <a:ea typeface="Courier New" pitchFamily="34" charset="-122"/>
                <a:cs typeface="Courier New" pitchFamily="34" charset="-120"/>
              </a:rPr>
              <a:t>'Joe pays Alice 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 pays Eve 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'Eve pays Joe 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build(items):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hs, prev = [], </a:t>
            </a:r>
            <a:r>
              <a:rPr lang="en-US" sz="700" dirty="0">
                <a:solidFill>
                  <a:srgbClr val="9ECBFF"/>
                </a:solidFill>
                <a:latin typeface="Courier New" pitchFamily="34" charset="0"/>
                <a:ea typeface="Courier New" pitchFamily="34" charset="-122"/>
                <a:cs typeface="Courier New" pitchFamily="34" charset="-120"/>
              </a:rPr>
              <a:t>'genesis'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prev = link(prev, d); hs.append(prev)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stored = build(data)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tampered = [</a:t>
            </a:r>
            <a:r>
              <a:rPr lang="en-US" sz="700" dirty="0">
                <a:solidFill>
                  <a:srgbClr val="9ECBFF"/>
                </a:solidFill>
                <a:latin typeface="Courier New" pitchFamily="34" charset="0"/>
                <a:ea typeface="Courier New" pitchFamily="34" charset="-122"/>
                <a:cs typeface="Courier New" pitchFamily="34" charset="-120"/>
              </a:rPr>
              <a:t>'Joe pays Alice 100'</a:t>
            </a:r>
            <a:r>
              <a:rPr lang="en-US" sz="700" dirty="0">
                <a:solidFill>
                  <a:srgbClr val="E6EDF3"/>
                </a:solidFill>
                <a:latin typeface="Courier New" pitchFamily="34" charset="0"/>
                <a:ea typeface="Courier New" pitchFamily="34" charset="-122"/>
                <a:cs typeface="Courier New" pitchFamily="34" charset="-120"/>
              </a:rPr>
              <a:t>] + data[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(True, False)</a:t>
            </a:r>
            <a:endParaRPr lang="en-US" sz="700" dirty="0"/>
          </a:p>
        </p:txBody>
      </p:sp>
      <p:sp>
        <p:nvSpPr>
          <p:cNvPr id="27" name="Text 25"/>
          <p:cNvSpPr txBox="1"/>
          <p:nvPr/>
        </p:nvSpPr>
        <p:spPr>
          <a:xfrm>
            <a:off x="4921301" y="2514600"/>
            <a:ext cx="3765499"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2" name="Shape 10"/>
          <p:cNvSpPr/>
          <p:nvPr/>
        </p:nvSpPr>
        <p:spPr>
          <a:xfrm>
            <a:off x="4453128" y="1545336"/>
            <a:ext cx="902208" cy="0"/>
          </a:xfrm>
          <a:prstGeom prst="line">
            <a:avLst/>
          </a:prstGeom>
          <a:noFill/>
          <a:ln w="28575">
            <a:solidFill>
              <a:srgbClr val="D97A14"/>
            </a:solidFill>
            <a:prstDash val="solid"/>
            <a:tailEnd type="triangle"/>
          </a:ln>
        </p:spPr>
      </p:sp>
      <p:sp>
        <p:nvSpPr>
          <p:cNvPr id="13" name="Shape 11"/>
          <p:cNvSpPr/>
          <p:nvPr/>
        </p:nvSpPr>
        <p:spPr>
          <a:xfrm>
            <a:off x="4032504" y="1325880"/>
            <a:ext cx="438912" cy="438912"/>
          </a:xfrm>
          <a:prstGeom prst="ellipse">
            <a:avLst/>
          </a:prstGeom>
          <a:solidFill>
            <a:srgbClr val="D97A14"/>
          </a:solidFill>
          <a:ln w="19050">
            <a:solidFill>
              <a:srgbClr val="FFFFFF"/>
            </a:solidFill>
            <a:prstDash val="solid"/>
          </a:ln>
        </p:spPr>
      </p:sp>
      <p:sp>
        <p:nvSpPr>
          <p:cNvPr id="14" name="Text 12"/>
          <p:cNvSpPr txBox="1"/>
          <p:nvPr/>
        </p:nvSpPr>
        <p:spPr>
          <a:xfrm>
            <a:off x="370332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5" name="Shape 13"/>
          <p:cNvSpPr/>
          <p:nvPr/>
        </p:nvSpPr>
        <p:spPr>
          <a:xfrm>
            <a:off x="5794248" y="1545336"/>
            <a:ext cx="902208" cy="0"/>
          </a:xfrm>
          <a:prstGeom prst="line">
            <a:avLst/>
          </a:prstGeom>
          <a:noFill/>
          <a:ln w="28575">
            <a:solidFill>
              <a:srgbClr val="D97A14"/>
            </a:solidFill>
            <a:prstDash val="solid"/>
            <a:tailEnd type="triangle"/>
          </a:ln>
        </p:spPr>
      </p:sp>
      <p:sp>
        <p:nvSpPr>
          <p:cNvPr id="16" name="Shape 14"/>
          <p:cNvSpPr/>
          <p:nvPr/>
        </p:nvSpPr>
        <p:spPr>
          <a:xfrm>
            <a:off x="5373624" y="1325880"/>
            <a:ext cx="438912" cy="438912"/>
          </a:xfrm>
          <a:prstGeom prst="ellipse">
            <a:avLst/>
          </a:prstGeom>
          <a:solidFill>
            <a:srgbClr val="2F6D62"/>
          </a:solidFill>
          <a:ln w="19050">
            <a:solidFill>
              <a:srgbClr val="FFFFFF"/>
            </a:solidFill>
            <a:prstDash val="solid"/>
          </a:ln>
        </p:spPr>
      </p:sp>
      <p:sp>
        <p:nvSpPr>
          <p:cNvPr id="17" name="Text 15"/>
          <p:cNvSpPr txBox="1"/>
          <p:nvPr/>
        </p:nvSpPr>
        <p:spPr>
          <a:xfrm>
            <a:off x="504444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8" name="Shape 16"/>
          <p:cNvSpPr/>
          <p:nvPr/>
        </p:nvSpPr>
        <p:spPr>
          <a:xfrm>
            <a:off x="7135368" y="1545336"/>
            <a:ext cx="902208" cy="0"/>
          </a:xfrm>
          <a:prstGeom prst="line">
            <a:avLst/>
          </a:prstGeom>
          <a:noFill/>
          <a:ln w="28575">
            <a:solidFill>
              <a:srgbClr val="D97A14"/>
            </a:solidFill>
            <a:prstDash val="solid"/>
            <a:tailEnd type="triangle"/>
          </a:ln>
        </p:spPr>
      </p:sp>
      <p:sp>
        <p:nvSpPr>
          <p:cNvPr id="19" name="Shape 17"/>
          <p:cNvSpPr/>
          <p:nvPr/>
        </p:nvSpPr>
        <p:spPr>
          <a:xfrm>
            <a:off x="6714744" y="1325880"/>
            <a:ext cx="438912" cy="438912"/>
          </a:xfrm>
          <a:prstGeom prst="ellipse">
            <a:avLst/>
          </a:prstGeom>
          <a:solidFill>
            <a:srgbClr val="2F6D62"/>
          </a:solidFill>
          <a:ln w="19050">
            <a:solidFill>
              <a:srgbClr val="FFFFFF"/>
            </a:solidFill>
            <a:prstDash val="solid"/>
          </a:ln>
        </p:spPr>
      </p:sp>
      <p:sp>
        <p:nvSpPr>
          <p:cNvPr id="20" name="Text 18"/>
          <p:cNvSpPr txBox="1"/>
          <p:nvPr/>
        </p:nvSpPr>
        <p:spPr>
          <a:xfrm>
            <a:off x="638556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1" name="Shape 19"/>
          <p:cNvSpPr/>
          <p:nvPr/>
        </p:nvSpPr>
        <p:spPr>
          <a:xfrm>
            <a:off x="8055864" y="1325880"/>
            <a:ext cx="438912" cy="438912"/>
          </a:xfrm>
          <a:prstGeom prst="ellipse">
            <a:avLst/>
          </a:prstGeom>
          <a:solidFill>
            <a:srgbClr val="D97A14"/>
          </a:solidFill>
          <a:ln w="19050">
            <a:solidFill>
              <a:srgbClr val="FFFFFF"/>
            </a:solidFill>
            <a:prstDash val="solid"/>
          </a:ln>
        </p:spPr>
      </p:sp>
      <p:sp>
        <p:nvSpPr>
          <p:cNvPr id="22" name="Text 20"/>
          <p:cNvSpPr txBox="1"/>
          <p:nvPr/>
        </p:nvSpPr>
        <p:spPr>
          <a:xfrm>
            <a:off x="772668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3" name="Text 21"/>
          <p:cNvSpPr txBox="1"/>
          <p:nvPr/>
        </p:nvSpPr>
        <p:spPr>
          <a:xfrm>
            <a:off x="3931920" y="2203704"/>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4" name="Text 22"/>
          <p:cNvSpPr txBox="1"/>
          <p:nvPr/>
        </p:nvSpPr>
        <p:spPr>
          <a:xfrm>
            <a:off x="457200" y="2514600"/>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channels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nbr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 frontier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nxt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frontier: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nbr[x]: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 path[y] = path[x] + [y]; nxt.append(y)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frontier = nxt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len(path[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(['Alice', 'Bob', 'Carol', 'Dave'], 3, False)</a:t>
            </a:r>
            <a:endParaRPr lang="en-US" sz="700" dirty="0"/>
          </a:p>
        </p:txBody>
      </p:sp>
      <p:sp>
        <p:nvSpPr>
          <p:cNvPr id="27" name="Text 25"/>
          <p:cNvSpPr txBox="1"/>
          <p:nvPr/>
        </p:nvSpPr>
        <p:spPr>
          <a:xfrm>
            <a:off x="4581144" y="2514600"/>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history of bitcoin  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Internet Archive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Internet Archive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2026-10-18T22:25:31Z</dcterms:created>
  <dcterms:modified xsi:type="dcterms:W3CDTF">2026-10-18T22:25:31Z</dcterms:modified>
  <cp:version>2.10.0</cp:version>
</cp:coreProperties>
</file>