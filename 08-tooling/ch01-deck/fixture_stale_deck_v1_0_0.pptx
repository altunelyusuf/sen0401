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Block subsidy by era</a:t>
            </a:r>
          </a:p>
        </c:rich>
      </c:tx>
      <c:layout/>
      <c:overlay val="0"/>
    </c:title>
    <c:autoTitleDeleted val="0"/>
    <c:plotArea>
      <c:layout/>
      <c:barChart>
        <c:barDir val="col"/>
        <c:grouping val="clustered"/>
        <c:varyColors val="0"/>
        <c:ser>
          <c:idx val="0"/>
          <c:order val="0"/>
          <c:tx>
            <c:strRef>
              <c:f>Sheet1!$B$1</c:f>
              <c:strCache>
                <c:ptCount val="1"/>
                <c:pt idx="0">
                  <c:v>Block subsidy (bitcoin)</c:v>
                </c:pt>
              </c:strCache>
            </c:strRef>
          </c:tx>
          <c:spPr>
            <a:solidFill>
              <a:srgbClr val="F7931A"/>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Era 0</c:v>
                  </c:pt>
                  <c:pt idx="1">
                    <c:v>Era 1</c:v>
                  </c:pt>
                  <c:pt idx="2">
                    <c:v>Era 2</c:v>
                  </c:pt>
                  <c:pt idx="3">
                    <c:v>Era 3</c:v>
                  </c:pt>
                  <c:pt idx="4">
                    <c:v>Era 4</c:v>
                  </c:pt>
                  <c:pt idx="5">
                    <c:v>Era 5</c:v>
                  </c:pt>
                </c:lvl>
              </c:multiLvlStrCache>
            </c:multiLvlStrRef>
          </c:cat>
          <c:val>
            <c:numRef>
              <c:f>Sheet1!$B$2:$B$7</c:f>
              <c:numCache>
                <c:formatCode>General</c:formatCode>
                <c:ptCount val="6"/>
                <c:pt idx="0">
                  <c:v>50</c:v>
                </c:pt>
                <c:pt idx="1">
                  <c:v>25</c:v>
                </c:pt>
                <c:pt idx="2">
                  <c:v>12.5</c:v>
                </c:pt>
                <c:pt idx="3">
                  <c:v>6.25</c:v>
                </c:pt>
                <c:pt idx="4">
                  <c:v>3.125</c:v>
                </c:pt>
                <c:pt idx="5">
                  <c:v>1.5625</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free under CC BY-SA 4.0 from github.com/bitcoinbook/bitcoinbook (tag third_edition_print1). Every computed figure was executed under Python 3.14.4; every claim beyond the book is in the chapter 1 research record, 03-materials/ch01/rdodi.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the unit is bitcoin with a small b, the system Bitcoin with a capital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2008 and 2009 and April 2011: Mastering Bitcoin, 3rd edition, chapter 1 (Antonopoulos and Harding, 2023). Halving at block 840000 on 2024-04-20 to 3.125: Bitcoin Wiki, Controlled supply. Bitcoin Core 31.1: bitcoincore.org/en/releases, read 2026-09-25.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Hashcash: Back, A. (2002), Hashcash - A Denial of Service Counter-Measure.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search and its result were executed under Python 3.14.4. The interactive page has a playground where students change the data and the number of zeros.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values and both results computed under Python 3.14.4. Each era is 210000 blocks; era 4 began at block 840000 on 2024-04-20 (Bitcoin Wiki, Controlled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Types of Bitcoin wallets.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Full node versus Lightweight.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Who controls the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Recovery Codes, sample table. BIP 39 (Palatinus, Rusnak, Voisine and Bowe, 2013): allowed initial entropy 128-256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Bitcoin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sections Receiving Bitcoin, Finding the Current Price of Bitcoin, Sending and Receiving Bitcoin.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W3C Decentralized Identifiers (DIDs) v1.0, Recommendation 9 July 2022; Verifiable Credentials Data Model v2.0, Recommendation 5 May 2025. The project idea is a suggestion within the term theme, not a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double-spend; the subsidy halves every 210000 blocks so the sum converges at 20999999.9769; 3.125 bitcoin; only the user; to keep payers from seeing each other’s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03-materials/ch01/rdodi/sen0401_ch01_research_v1_0_0.ttl.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the 3rd edition is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548640" y="1005840"/>
            <a:ext cx="731520" cy="731520"/>
          </a:xfrm>
          <a:prstGeom prst="roundRect">
            <a:avLst>
              <a:gd name="adj" fmla="val 12500"/>
            </a:avLst>
          </a:prstGeom>
          <a:solidFill>
            <a:srgbClr val="3A4250"/>
          </a:solidFill>
          <a:ln w="19050">
            <a:solidFill>
              <a:srgbClr val="F7931A"/>
            </a:solidFill>
            <a:prstDash val="solid"/>
          </a:ln>
        </p:spPr>
      </p:sp>
      <p:sp>
        <p:nvSpPr>
          <p:cNvPr id="3" name="Shape 1"/>
          <p:cNvSpPr/>
          <p:nvPr/>
        </p:nvSpPr>
        <p:spPr>
          <a:xfrm>
            <a:off x="1280160" y="1371600"/>
            <a:ext cx="228600" cy="0"/>
          </a:xfrm>
          <a:prstGeom prst="line">
            <a:avLst/>
          </a:prstGeom>
          <a:noFill/>
          <a:ln w="25400">
            <a:solidFill>
              <a:srgbClr val="F7931A"/>
            </a:solidFill>
            <a:prstDash val="solid"/>
          </a:ln>
        </p:spPr>
      </p:sp>
      <p:sp>
        <p:nvSpPr>
          <p:cNvPr id="4" name="Shape 2"/>
          <p:cNvSpPr/>
          <p:nvPr/>
        </p:nvSpPr>
        <p:spPr>
          <a:xfrm>
            <a:off x="1508760" y="1005840"/>
            <a:ext cx="731520" cy="731520"/>
          </a:xfrm>
          <a:prstGeom prst="roundRect">
            <a:avLst>
              <a:gd name="adj" fmla="val 12500"/>
            </a:avLst>
          </a:prstGeom>
          <a:solidFill>
            <a:srgbClr val="3A4250"/>
          </a:solidFill>
          <a:ln w="19050">
            <a:solidFill>
              <a:srgbClr val="F7931A"/>
            </a:solidFill>
            <a:prstDash val="solid"/>
          </a:ln>
        </p:spPr>
      </p:sp>
      <p:sp>
        <p:nvSpPr>
          <p:cNvPr id="5" name="Shape 3"/>
          <p:cNvSpPr/>
          <p:nvPr/>
        </p:nvSpPr>
        <p:spPr>
          <a:xfrm>
            <a:off x="2240280" y="1371600"/>
            <a:ext cx="228600" cy="0"/>
          </a:xfrm>
          <a:prstGeom prst="line">
            <a:avLst/>
          </a:prstGeom>
          <a:noFill/>
          <a:ln w="25400">
            <a:solidFill>
              <a:srgbClr val="F7931A"/>
            </a:solidFill>
            <a:prstDash val="solid"/>
          </a:ln>
        </p:spPr>
      </p:sp>
      <p:sp>
        <p:nvSpPr>
          <p:cNvPr id="6" name="Shape 4"/>
          <p:cNvSpPr/>
          <p:nvPr/>
        </p:nvSpPr>
        <p:spPr>
          <a:xfrm>
            <a:off x="2468880" y="1005840"/>
            <a:ext cx="731520" cy="731520"/>
          </a:xfrm>
          <a:prstGeom prst="roundRect">
            <a:avLst>
              <a:gd name="adj" fmla="val 12500"/>
            </a:avLst>
          </a:prstGeom>
          <a:solidFill>
            <a:srgbClr val="F7931A"/>
          </a:solidFill>
          <a:ln w="19050">
            <a:solidFill>
              <a:srgbClr val="F7931A"/>
            </a:solidFill>
            <a:prstDash val="solid"/>
          </a:ln>
        </p:spPr>
      </p:sp>
      <p:sp>
        <p:nvSpPr>
          <p:cNvPr id="7" name="Text 5"/>
          <p:cNvSpPr txBox="1"/>
          <p:nvPr/>
        </p:nvSpPr>
        <p:spPr>
          <a:xfrm>
            <a:off x="2468880" y="100584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574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Chapter 1: Introduction</a:t>
            </a:r>
            <a:endParaRPr lang="en-US" sz="4000" dirty="0"/>
          </a:p>
        </p:txBody>
      </p:sp>
      <p:sp>
        <p:nvSpPr>
          <p:cNvPr id="9" name="Text 7"/>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7931A"/>
                </a:solidFill>
                <a:latin typeface="Calibri" pitchFamily="34" charset="0"/>
                <a:ea typeface="Calibri" pitchFamily="34" charset="-122"/>
                <a:cs typeface="Calibri" pitchFamily="34" charset="-120"/>
              </a:rPr>
              <a:t>Bitcoin as money, network and software — and how to start using it</a:t>
            </a:r>
            <a:endParaRPr lang="en-US" sz="1800" dirty="0"/>
          </a:p>
        </p:txBody>
      </p:sp>
      <p:sp>
        <p:nvSpPr>
          <p:cNvPr id="10" name="Text 8"/>
          <p:cNvSpPr txBox="1"/>
          <p:nvPr/>
        </p:nvSpPr>
        <p:spPr>
          <a:xfrm>
            <a:off x="548640" y="4160520"/>
            <a:ext cx="8046720" cy="411480"/>
          </a:xfrm>
          <a:prstGeom prst="rect">
            <a:avLst/>
          </a:prstGeom>
          <a:noFill/>
          <a:ln/>
        </p:spPr>
        <p:txBody>
          <a:bodyPr wrap="square" lIns="0" tIns="0" rIns="0" bIns="0" rtlCol="0" anchor="ctr"/>
          <a:lstStyle/>
          <a:p>
            <a:pPr indent="0" marL="0">
              <a:buNone/>
            </a:pPr>
            <a:r>
              <a:rPr lang="en-US" sz="1200" dirty="0">
                <a:solidFill>
                  <a:srgbClr val="C9D1DA"/>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bitcoin or Bitcoin?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capital letter matters</a:t>
            </a:r>
            <a:endParaRPr lang="en-US" sz="1300" dirty="0"/>
          </a:p>
        </p:txBody>
      </p:sp>
      <p:sp>
        <p:nvSpPr>
          <p:cNvPr id="6" name="Shape 4"/>
          <p:cNvSpPr/>
          <p:nvPr/>
        </p:nvSpPr>
        <p:spPr>
          <a:xfrm>
            <a:off x="457200" y="1325880"/>
            <a:ext cx="3977640" cy="2194560"/>
          </a:xfrm>
          <a:prstGeom prst="roundRect">
            <a:avLst>
              <a:gd name="adj" fmla="val 4167"/>
            </a:avLst>
          </a:prstGeom>
          <a:solidFill>
            <a:srgbClr val="F4F2EE"/>
          </a:solidFill>
          <a:ln w="12700">
            <a:solidFill>
              <a:srgbClr val="F4F2EE"/>
            </a:solidFill>
            <a:prstDash val="solid"/>
          </a:ln>
        </p:spPr>
      </p:sp>
      <p:sp>
        <p:nvSpPr>
          <p:cNvPr id="7" name="Text 5"/>
          <p:cNvSpPr txBox="1"/>
          <p:nvPr/>
        </p:nvSpPr>
        <p:spPr>
          <a:xfrm>
            <a:off x="640080" y="1463040"/>
            <a:ext cx="36118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bitcoin — the unit</a:t>
            </a:r>
            <a:endParaRPr lang="en-US" sz="1700" dirty="0"/>
          </a:p>
        </p:txBody>
      </p:sp>
      <p:sp>
        <p:nvSpPr>
          <p:cNvPr id="8" name="Text 6"/>
          <p:cNvSpPr txBox="1"/>
          <p:nvPr/>
        </p:nvSpPr>
        <p:spPr>
          <a:xfrm>
            <a:off x="640080" y="1856232"/>
            <a:ext cx="3611880" cy="15544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Units of currency that store and transmit value among participants. There are no physical coins, not even individual digital coins: the coins are implied in transactions.</a:t>
            </a:r>
            <a:endParaRPr lang="en-US" sz="1300" dirty="0"/>
          </a:p>
        </p:txBody>
      </p:sp>
      <p:sp>
        <p:nvSpPr>
          <p:cNvPr id="9" name="Shape 7"/>
          <p:cNvSpPr/>
          <p:nvPr/>
        </p:nvSpPr>
        <p:spPr>
          <a:xfrm>
            <a:off x="4709160" y="1325880"/>
            <a:ext cx="3977640" cy="2194560"/>
          </a:xfrm>
          <a:prstGeom prst="roundRect">
            <a:avLst>
              <a:gd name="adj" fmla="val 4167"/>
            </a:avLst>
          </a:prstGeom>
          <a:solidFill>
            <a:srgbClr val="F4F2EE"/>
          </a:solidFill>
          <a:ln w="12700">
            <a:solidFill>
              <a:srgbClr val="F4F2EE"/>
            </a:solidFill>
            <a:prstDash val="solid"/>
          </a:ln>
        </p:spPr>
      </p:sp>
      <p:sp>
        <p:nvSpPr>
          <p:cNvPr id="10" name="Text 8"/>
          <p:cNvSpPr txBox="1"/>
          <p:nvPr/>
        </p:nvSpPr>
        <p:spPr>
          <a:xfrm>
            <a:off x="4892040" y="1463040"/>
            <a:ext cx="36118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Bitcoin — the system</a:t>
            </a:r>
            <a:endParaRPr lang="en-US" sz="1700" dirty="0"/>
          </a:p>
        </p:txBody>
      </p:sp>
      <p:sp>
        <p:nvSpPr>
          <p:cNvPr id="11" name="Text 9"/>
          <p:cNvSpPr txBox="1"/>
          <p:nvPr/>
        </p:nvSpPr>
        <p:spPr>
          <a:xfrm>
            <a:off x="4892040" y="1856232"/>
            <a:ext cx="3611880" cy="15544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collection of concepts and technologies: a network, a protocol and open source software that runs on laptops and smartphones.</a:t>
            </a:r>
            <a:endParaRPr lang="en-US" sz="1300" dirty="0"/>
          </a:p>
        </p:txBody>
      </p:sp>
      <p:sp>
        <p:nvSpPr>
          <p:cNvPr id="12" name="Text 10"/>
          <p:cNvSpPr txBox="1"/>
          <p:nvPr/>
        </p:nvSpPr>
        <p:spPr>
          <a:xfrm>
            <a:off x="457200" y="3840480"/>
            <a:ext cx="8229600" cy="54864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Users control keys that prove ownership; with them they sign transactions that spend bitcoin to a new owner.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From a paper to a running network</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History, and what has changed since the book</a:t>
            </a:r>
            <a:endParaRPr lang="en-US" sz="1300" dirty="0"/>
          </a:p>
        </p:txBody>
      </p:sp>
      <p:sp>
        <p:nvSpPr>
          <p:cNvPr id="6" name="Shape 4"/>
          <p:cNvSpPr/>
          <p:nvPr/>
        </p:nvSpPr>
        <p:spPr>
          <a:xfrm>
            <a:off x="640080" y="2331720"/>
            <a:ext cx="7863840" cy="0"/>
          </a:xfrm>
          <a:prstGeom prst="line">
            <a:avLst/>
          </a:prstGeom>
          <a:noFill/>
          <a:ln w="38100">
            <a:solidFill>
              <a:srgbClr val="F7931A"/>
            </a:solidFill>
            <a:prstDash val="solid"/>
          </a:ln>
        </p:spPr>
      </p:sp>
      <p:sp>
        <p:nvSpPr>
          <p:cNvPr id="7" name="Shape 5"/>
          <p:cNvSpPr/>
          <p:nvPr/>
        </p:nvSpPr>
        <p:spPr>
          <a:xfrm>
            <a:off x="914400" y="2194560"/>
            <a:ext cx="274320" cy="274320"/>
          </a:xfrm>
          <a:prstGeom prst="ellipse">
            <a:avLst/>
          </a:prstGeom>
          <a:solidFill>
            <a:srgbClr val="3A4250"/>
          </a:solidFill>
          <a:ln w="25400">
            <a:solidFill>
              <a:srgbClr val="FFFFFF"/>
            </a:solidFill>
            <a:prstDash val="solid"/>
          </a:ln>
        </p:spPr>
      </p:sp>
      <p:sp>
        <p:nvSpPr>
          <p:cNvPr id="8" name="Text 6"/>
          <p:cNvSpPr txBox="1"/>
          <p:nvPr/>
        </p:nvSpPr>
        <p:spPr>
          <a:xfrm>
            <a:off x="502920" y="1600200"/>
            <a:ext cx="1280160" cy="457200"/>
          </a:xfrm>
          <a:prstGeom prst="rect">
            <a:avLst/>
          </a:prstGeom>
          <a:noFill/>
          <a:ln/>
        </p:spPr>
        <p:txBody>
          <a:bodyPr wrap="square" lIns="0" tIns="0" rIns="0" bIns="0" rtlCol="0" anchor="ctr"/>
          <a:lstStyle/>
          <a:p>
            <a:pPr algn="ctr" indent="0" marL="0">
              <a:buNone/>
            </a:pPr>
            <a:r>
              <a:rPr lang="en-US" sz="1500" b="1" dirty="0">
                <a:solidFill>
                  <a:srgbClr val="1B1F24"/>
                </a:solidFill>
                <a:latin typeface="Cambria" pitchFamily="34" charset="0"/>
                <a:ea typeface="Cambria" pitchFamily="34" charset="-122"/>
                <a:cs typeface="Cambria" pitchFamily="34" charset="-120"/>
              </a:rPr>
              <a:t>2008</a:t>
            </a:r>
            <a:endParaRPr lang="en-US" sz="1500" dirty="0"/>
          </a:p>
        </p:txBody>
      </p:sp>
      <p:sp>
        <p:nvSpPr>
          <p:cNvPr id="9" name="Text 7"/>
          <p:cNvSpPr txBox="1"/>
          <p:nvPr/>
        </p:nvSpPr>
        <p:spPr>
          <a:xfrm>
            <a:off x="502920" y="2651760"/>
            <a:ext cx="1280160" cy="11887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Nakamoto’s paper: A Peer-to-Peer Electronic Cash System</a:t>
            </a:r>
            <a:endParaRPr lang="en-US" sz="1150" dirty="0"/>
          </a:p>
        </p:txBody>
      </p:sp>
      <p:sp>
        <p:nvSpPr>
          <p:cNvPr id="10" name="Shape 8"/>
          <p:cNvSpPr/>
          <p:nvPr/>
        </p:nvSpPr>
        <p:spPr>
          <a:xfrm>
            <a:off x="2286000" y="2194560"/>
            <a:ext cx="274320" cy="274320"/>
          </a:xfrm>
          <a:prstGeom prst="ellipse">
            <a:avLst/>
          </a:prstGeom>
          <a:solidFill>
            <a:srgbClr val="3A4250"/>
          </a:solidFill>
          <a:ln w="25400">
            <a:solidFill>
              <a:srgbClr val="FFFFFF"/>
            </a:solidFill>
            <a:prstDash val="solid"/>
          </a:ln>
        </p:spPr>
      </p:sp>
      <p:sp>
        <p:nvSpPr>
          <p:cNvPr id="11" name="Text 9"/>
          <p:cNvSpPr txBox="1"/>
          <p:nvPr/>
        </p:nvSpPr>
        <p:spPr>
          <a:xfrm>
            <a:off x="1874520" y="1600200"/>
            <a:ext cx="1280160" cy="457200"/>
          </a:xfrm>
          <a:prstGeom prst="rect">
            <a:avLst/>
          </a:prstGeom>
          <a:noFill/>
          <a:ln/>
        </p:spPr>
        <p:txBody>
          <a:bodyPr wrap="square" lIns="0" tIns="0" rIns="0" bIns="0" rtlCol="0" anchor="ctr"/>
          <a:lstStyle/>
          <a:p>
            <a:pPr algn="ctr" indent="0" marL="0">
              <a:buNone/>
            </a:pPr>
            <a:r>
              <a:rPr lang="en-US" sz="1500" b="1" dirty="0">
                <a:solidFill>
                  <a:srgbClr val="1B1F24"/>
                </a:solidFill>
                <a:latin typeface="Cambria" pitchFamily="34" charset="0"/>
                <a:ea typeface="Cambria" pitchFamily="34" charset="-122"/>
                <a:cs typeface="Cambria" pitchFamily="34" charset="-120"/>
              </a:rPr>
              <a:t>2009</a:t>
            </a:r>
            <a:endParaRPr lang="en-US" sz="1500" dirty="0"/>
          </a:p>
        </p:txBody>
      </p:sp>
      <p:sp>
        <p:nvSpPr>
          <p:cNvPr id="12" name="Text 10"/>
          <p:cNvSpPr txBox="1"/>
          <p:nvPr/>
        </p:nvSpPr>
        <p:spPr>
          <a:xfrm>
            <a:off x="1874520" y="2651760"/>
            <a:ext cx="1280160" cy="11887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The network starts from a reference implementation</a:t>
            </a:r>
            <a:endParaRPr lang="en-US" sz="1150" dirty="0"/>
          </a:p>
        </p:txBody>
      </p:sp>
      <p:sp>
        <p:nvSpPr>
          <p:cNvPr id="13" name="Shape 11"/>
          <p:cNvSpPr/>
          <p:nvPr/>
        </p:nvSpPr>
        <p:spPr>
          <a:xfrm>
            <a:off x="3657600" y="2194560"/>
            <a:ext cx="274320" cy="274320"/>
          </a:xfrm>
          <a:prstGeom prst="ellipse">
            <a:avLst/>
          </a:prstGeom>
          <a:solidFill>
            <a:srgbClr val="3A4250"/>
          </a:solidFill>
          <a:ln w="25400">
            <a:solidFill>
              <a:srgbClr val="FFFFFF"/>
            </a:solidFill>
            <a:prstDash val="solid"/>
          </a:ln>
        </p:spPr>
      </p:sp>
      <p:sp>
        <p:nvSpPr>
          <p:cNvPr id="14" name="Text 12"/>
          <p:cNvSpPr txBox="1"/>
          <p:nvPr/>
        </p:nvSpPr>
        <p:spPr>
          <a:xfrm>
            <a:off x="3246120" y="1600200"/>
            <a:ext cx="1280160" cy="457200"/>
          </a:xfrm>
          <a:prstGeom prst="rect">
            <a:avLst/>
          </a:prstGeom>
          <a:noFill/>
          <a:ln/>
        </p:spPr>
        <p:txBody>
          <a:bodyPr wrap="square" lIns="0" tIns="0" rIns="0" bIns="0" rtlCol="0" anchor="ctr"/>
          <a:lstStyle/>
          <a:p>
            <a:pPr algn="ctr" indent="0" marL="0">
              <a:buNone/>
            </a:pPr>
            <a:r>
              <a:rPr lang="en-US" sz="1500" b="1" dirty="0">
                <a:solidFill>
                  <a:srgbClr val="1B1F24"/>
                </a:solidFill>
                <a:latin typeface="Cambria" pitchFamily="34" charset="0"/>
                <a:ea typeface="Cambria" pitchFamily="34" charset="-122"/>
                <a:cs typeface="Cambria" pitchFamily="34" charset="-120"/>
              </a:rPr>
              <a:t>Apr 2011</a:t>
            </a:r>
            <a:endParaRPr lang="en-US" sz="1500" dirty="0"/>
          </a:p>
        </p:txBody>
      </p:sp>
      <p:sp>
        <p:nvSpPr>
          <p:cNvPr id="15" name="Text 13"/>
          <p:cNvSpPr txBox="1"/>
          <p:nvPr/>
        </p:nvSpPr>
        <p:spPr>
          <a:xfrm>
            <a:off x="3246120" y="2651760"/>
            <a:ext cx="1280160" cy="11887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Nakamoto withdraws from public view</a:t>
            </a:r>
            <a:endParaRPr lang="en-US" sz="1150" dirty="0"/>
          </a:p>
        </p:txBody>
      </p:sp>
      <p:sp>
        <p:nvSpPr>
          <p:cNvPr id="16" name="Shape 14"/>
          <p:cNvSpPr/>
          <p:nvPr/>
        </p:nvSpPr>
        <p:spPr>
          <a:xfrm>
            <a:off x="5029200" y="2194560"/>
            <a:ext cx="274320" cy="274320"/>
          </a:xfrm>
          <a:prstGeom prst="ellipse">
            <a:avLst/>
          </a:prstGeom>
          <a:solidFill>
            <a:srgbClr val="F7931A"/>
          </a:solidFill>
          <a:ln w="25400">
            <a:solidFill>
              <a:srgbClr val="FFFFFF"/>
            </a:solidFill>
            <a:prstDash val="solid"/>
          </a:ln>
        </p:spPr>
      </p:sp>
      <p:sp>
        <p:nvSpPr>
          <p:cNvPr id="17" name="Text 15"/>
          <p:cNvSpPr txBox="1"/>
          <p:nvPr/>
        </p:nvSpPr>
        <p:spPr>
          <a:xfrm>
            <a:off x="4617720" y="1600200"/>
            <a:ext cx="1280160" cy="457200"/>
          </a:xfrm>
          <a:prstGeom prst="rect">
            <a:avLst/>
          </a:prstGeom>
          <a:noFill/>
          <a:ln/>
        </p:spPr>
        <p:txBody>
          <a:bodyPr wrap="square" lIns="0" tIns="0" rIns="0" bIns="0" rtlCol="0" anchor="ctr"/>
          <a:lstStyle/>
          <a:p>
            <a:pPr algn="ctr" indent="0" marL="0">
              <a:buNone/>
            </a:pPr>
            <a:r>
              <a:rPr lang="en-US" sz="1500" b="1" dirty="0">
                <a:solidFill>
                  <a:srgbClr val="1B1F24"/>
                </a:solidFill>
                <a:latin typeface="Cambria" pitchFamily="34" charset="0"/>
                <a:ea typeface="Cambria" pitchFamily="34" charset="-122"/>
                <a:cs typeface="Cambria" pitchFamily="34" charset="-120"/>
              </a:rPr>
              <a:t>Dec 2023</a:t>
            </a:r>
            <a:endParaRPr lang="en-US" sz="1500" dirty="0"/>
          </a:p>
        </p:txBody>
      </p:sp>
      <p:sp>
        <p:nvSpPr>
          <p:cNvPr id="18" name="Text 16"/>
          <p:cNvSpPr txBox="1"/>
          <p:nvPr/>
        </p:nvSpPr>
        <p:spPr>
          <a:xfrm>
            <a:off x="4617720" y="2651760"/>
            <a:ext cx="1280160" cy="11887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3rd edition of the book published</a:t>
            </a:r>
            <a:endParaRPr lang="en-US" sz="1150" dirty="0"/>
          </a:p>
        </p:txBody>
      </p:sp>
      <p:sp>
        <p:nvSpPr>
          <p:cNvPr id="19" name="Shape 17"/>
          <p:cNvSpPr/>
          <p:nvPr/>
        </p:nvSpPr>
        <p:spPr>
          <a:xfrm>
            <a:off x="6400800" y="2194560"/>
            <a:ext cx="274320" cy="274320"/>
          </a:xfrm>
          <a:prstGeom prst="ellipse">
            <a:avLst/>
          </a:prstGeom>
          <a:solidFill>
            <a:srgbClr val="F7931A"/>
          </a:solidFill>
          <a:ln w="25400">
            <a:solidFill>
              <a:srgbClr val="FFFFFF"/>
            </a:solidFill>
            <a:prstDash val="solid"/>
          </a:ln>
        </p:spPr>
      </p:sp>
      <p:sp>
        <p:nvSpPr>
          <p:cNvPr id="20" name="Text 18"/>
          <p:cNvSpPr txBox="1"/>
          <p:nvPr/>
        </p:nvSpPr>
        <p:spPr>
          <a:xfrm>
            <a:off x="5989320" y="1600200"/>
            <a:ext cx="1280160" cy="457200"/>
          </a:xfrm>
          <a:prstGeom prst="rect">
            <a:avLst/>
          </a:prstGeom>
          <a:noFill/>
          <a:ln/>
        </p:spPr>
        <p:txBody>
          <a:bodyPr wrap="square" lIns="0" tIns="0" rIns="0" bIns="0" rtlCol="0" anchor="ctr"/>
          <a:lstStyle/>
          <a:p>
            <a:pPr algn="ctr" indent="0" marL="0">
              <a:buNone/>
            </a:pPr>
            <a:r>
              <a:rPr lang="en-US" sz="1500" b="1" dirty="0">
                <a:solidFill>
                  <a:srgbClr val="1B1F24"/>
                </a:solidFill>
                <a:latin typeface="Cambria" pitchFamily="34" charset="0"/>
                <a:ea typeface="Cambria" pitchFamily="34" charset="-122"/>
                <a:cs typeface="Cambria" pitchFamily="34" charset="-120"/>
              </a:rPr>
              <a:t>20 Apr 2024</a:t>
            </a:r>
            <a:endParaRPr lang="en-US" sz="1500" dirty="0"/>
          </a:p>
        </p:txBody>
      </p:sp>
      <p:sp>
        <p:nvSpPr>
          <p:cNvPr id="21" name="Text 19"/>
          <p:cNvSpPr txBox="1"/>
          <p:nvPr/>
        </p:nvSpPr>
        <p:spPr>
          <a:xfrm>
            <a:off x="5989320" y="2651760"/>
            <a:ext cx="1280160" cy="11887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Halving at block 840000: subsidy 3.125</a:t>
            </a:r>
            <a:endParaRPr lang="en-US" sz="1150" dirty="0"/>
          </a:p>
        </p:txBody>
      </p:sp>
      <p:sp>
        <p:nvSpPr>
          <p:cNvPr id="22" name="Shape 20"/>
          <p:cNvSpPr/>
          <p:nvPr/>
        </p:nvSpPr>
        <p:spPr>
          <a:xfrm>
            <a:off x="7772400" y="2194560"/>
            <a:ext cx="274320" cy="274320"/>
          </a:xfrm>
          <a:prstGeom prst="ellipse">
            <a:avLst/>
          </a:prstGeom>
          <a:solidFill>
            <a:srgbClr val="F7931A"/>
          </a:solidFill>
          <a:ln w="25400">
            <a:solidFill>
              <a:srgbClr val="FFFFFF"/>
            </a:solidFill>
            <a:prstDash val="solid"/>
          </a:ln>
        </p:spPr>
      </p:sp>
      <p:sp>
        <p:nvSpPr>
          <p:cNvPr id="23" name="Text 21"/>
          <p:cNvSpPr txBox="1"/>
          <p:nvPr/>
        </p:nvSpPr>
        <p:spPr>
          <a:xfrm>
            <a:off x="7360920" y="1600200"/>
            <a:ext cx="1280160" cy="457200"/>
          </a:xfrm>
          <a:prstGeom prst="rect">
            <a:avLst/>
          </a:prstGeom>
          <a:noFill/>
          <a:ln/>
        </p:spPr>
        <p:txBody>
          <a:bodyPr wrap="square" lIns="0" tIns="0" rIns="0" bIns="0" rtlCol="0" anchor="ctr"/>
          <a:lstStyle/>
          <a:p>
            <a:pPr algn="ctr" indent="0" marL="0">
              <a:buNone/>
            </a:pPr>
            <a:r>
              <a:rPr lang="en-US" sz="1500" b="1" dirty="0">
                <a:solidFill>
                  <a:srgbClr val="1B1F24"/>
                </a:solidFill>
                <a:latin typeface="Cambria" pitchFamily="34" charset="0"/>
                <a:ea typeface="Cambria" pitchFamily="34" charset="-122"/>
                <a:cs typeface="Cambria" pitchFamily="34" charset="-120"/>
              </a:rPr>
              <a:t>Today</a:t>
            </a:r>
            <a:endParaRPr lang="en-US" sz="1500" dirty="0"/>
          </a:p>
        </p:txBody>
      </p:sp>
      <p:sp>
        <p:nvSpPr>
          <p:cNvPr id="24" name="Text 22"/>
          <p:cNvSpPr txBox="1"/>
          <p:nvPr/>
        </p:nvSpPr>
        <p:spPr>
          <a:xfrm>
            <a:off x="7360920" y="2651760"/>
            <a:ext cx="1280160" cy="1188720"/>
          </a:xfrm>
          <a:prstGeom prst="rect">
            <a:avLst/>
          </a:prstGeom>
          <a:noFill/>
          <a:ln/>
        </p:spPr>
        <p:txBody>
          <a:bodyPr wrap="square" lIns="0" tIns="0" rIns="0" bIns="0" rtlCol="0" anchor="t"/>
          <a:lstStyle/>
          <a:p>
            <a:pPr algn="ctr" indent="0" marL="0">
              <a:buNone/>
            </a:pPr>
            <a:r>
              <a:rPr lang="en-US" sz="1150" dirty="0">
                <a:solidFill>
                  <a:srgbClr val="1F2933"/>
                </a:solidFill>
                <a:latin typeface="Calibri" pitchFamily="34" charset="0"/>
                <a:ea typeface="Calibri" pitchFamily="34" charset="-122"/>
                <a:cs typeface="Calibri" pitchFamily="34" charset="-120"/>
              </a:rPr>
              <a:t>Bitcoin Core 31.1 is the newest release</a:t>
            </a:r>
            <a:endParaRPr lang="en-US" sz="1150" dirty="0"/>
          </a:p>
        </p:txBody>
      </p:sp>
      <p:sp>
        <p:nvSpPr>
          <p:cNvPr id="25" name="Text 23"/>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100" i="1" dirty="0">
                <a:solidFill>
                  <a:srgbClr val="5B6B7B"/>
                </a:solidFill>
                <a:latin typeface="Calibri" pitchFamily="34" charset="0"/>
                <a:ea typeface="Calibri" pitchFamily="34" charset="-122"/>
                <a:cs typeface="Calibri" pitchFamily="34" charset="-120"/>
              </a:rPr>
              <a:t>Grey: in the book. Orange: after it, or its publication.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Proof of work and consensus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Agreeing without an authority: the key innovation</a:t>
            </a:r>
            <a:endParaRPr lang="en-US" sz="1300" dirty="0"/>
          </a:p>
        </p:txBody>
      </p:sp>
      <p:sp>
        <p:nvSpPr>
          <p:cNvPr id="6" name="Shape 4"/>
          <p:cNvSpPr/>
          <p:nvPr/>
        </p:nvSpPr>
        <p:spPr>
          <a:xfrm>
            <a:off x="457200" y="1325880"/>
            <a:ext cx="2606040" cy="265176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Consensus</a:t>
            </a:r>
            <a:endParaRPr lang="en-US" sz="1700" dirty="0"/>
          </a:p>
        </p:txBody>
      </p:sp>
      <p:sp>
        <p:nvSpPr>
          <p:cNvPr id="8" name="Text 6"/>
          <p:cNvSpPr txBox="1"/>
          <p:nvPr/>
        </p:nvSpPr>
        <p:spPr>
          <a:xfrm>
            <a:off x="64008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decentralized network must agree on which transactions happened — with no trusted party to ask.</a:t>
            </a:r>
            <a:endParaRPr lang="en-US" sz="1300" dirty="0"/>
          </a:p>
        </p:txBody>
      </p:sp>
      <p:sp>
        <p:nvSpPr>
          <p:cNvPr id="9" name="Shape 7"/>
          <p:cNvSpPr/>
          <p:nvPr/>
        </p:nvSpPr>
        <p:spPr>
          <a:xfrm>
            <a:off x="3268980" y="1325880"/>
            <a:ext cx="2606040" cy="265176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Proof of work</a:t>
            </a:r>
            <a:endParaRPr lang="en-US" sz="1700" dirty="0"/>
          </a:p>
        </p:txBody>
      </p:sp>
      <p:sp>
        <p:nvSpPr>
          <p:cNvPr id="11" name="Text 9"/>
          <p:cNvSpPr txBox="1"/>
          <p:nvPr/>
        </p:nvSpPr>
        <p:spPr>
          <a:xfrm>
            <a:off x="345186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global lottery every 10 minutes on average. Winning is costly; checking the win is cheap.</a:t>
            </a:r>
            <a:endParaRPr lang="en-US" sz="1300" dirty="0"/>
          </a:p>
        </p:txBody>
      </p:sp>
      <p:sp>
        <p:nvSpPr>
          <p:cNvPr id="12" name="Shape 10"/>
          <p:cNvSpPr/>
          <p:nvPr/>
        </p:nvSpPr>
        <p:spPr>
          <a:xfrm>
            <a:off x="6080760" y="1325880"/>
            <a:ext cx="2606040" cy="265176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Double-spend solved</a:t>
            </a:r>
            <a:endParaRPr lang="en-US" sz="1700" dirty="0"/>
          </a:p>
        </p:txBody>
      </p:sp>
      <p:sp>
        <p:nvSpPr>
          <p:cNvPr id="14" name="Text 12"/>
          <p:cNvSpPr txBox="1"/>
          <p:nvPr/>
        </p:nvSpPr>
        <p:spPr>
          <a:xfrm>
            <a:off x="626364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Spending one unit twice was digital money’s weakness, handled before only by a central clearinghouse.</a:t>
            </a:r>
            <a:endParaRPr lang="en-US" sz="1300" dirty="0"/>
          </a:p>
        </p:txBody>
      </p:sp>
      <p:sp>
        <p:nvSpPr>
          <p:cNvPr id="15" name="Text 13"/>
          <p:cNvSpPr txBox="1"/>
          <p:nvPr/>
        </p:nvSpPr>
        <p:spPr>
          <a:xfrm>
            <a:off x="457200" y="4160520"/>
            <a:ext cx="8229600" cy="411480"/>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Its ancestor: Hashcash (Back, 2002), proposed to throttle abuse by making each request cost computation.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Try it: a toy proof of work</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Find a number whose SHA-256 hash starts with four zeros</a:t>
            </a:r>
            <a:endParaRPr lang="en-US" sz="1300" dirty="0"/>
          </a:p>
        </p:txBody>
      </p:sp>
      <p:sp>
        <p:nvSpPr>
          <p:cNvPr id="6" name="Shape 4"/>
          <p:cNvSpPr/>
          <p:nvPr/>
        </p:nvSpPr>
        <p:spPr>
          <a:xfrm>
            <a:off x="457200" y="1325880"/>
            <a:ext cx="8229600" cy="1691640"/>
          </a:xfrm>
          <a:prstGeom prst="roundRect">
            <a:avLst>
              <a:gd name="adj" fmla="val 5405"/>
            </a:avLst>
          </a:prstGeom>
          <a:solidFill>
            <a:srgbClr val="15191E"/>
          </a:solidFill>
          <a:ln w="12700">
            <a:solidFill>
              <a:srgbClr val="15191E"/>
            </a:solidFill>
            <a:prstDash val="solid"/>
          </a:ln>
        </p:spPr>
      </p:sp>
      <p:sp>
        <p:nvSpPr>
          <p:cNvPr id="7" name="Text 5"/>
          <p:cNvSpPr txBox="1"/>
          <p:nvPr/>
        </p:nvSpPr>
        <p:spPr>
          <a:xfrm>
            <a:off x="640080" y="1435608"/>
            <a:ext cx="7863840" cy="1472184"/>
          </a:xfrm>
          <a:prstGeom prst="rect">
            <a:avLst/>
          </a:prstGeom>
          <a:noFill/>
          <a:ln/>
        </p:spPr>
        <p:txBody>
          <a:bodyPr wrap="square" lIns="0" tIns="0" rIns="0" bIns="0" rtlCol="0" anchor="t"/>
          <a:lstStyle/>
          <a:p>
            <a:pPr indent="0" marL="0">
              <a:spcAft>
                <a:spcPts val="200"/>
              </a:spcAft>
              <a:buNone/>
            </a:pPr>
            <a:r>
              <a:rPr lang="en-US" sz="13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import hashlib</a:t>
            </a:r>
            <a:endParaRPr lang="en-US" sz="1300" dirty="0"/>
          </a:p>
          <a:p>
            <a:pPr indent="0" marL="0">
              <a:spcAft>
                <a:spcPts val="200"/>
              </a:spcAft>
              <a:buNone/>
            </a:pPr>
            <a:r>
              <a:rPr lang="en-US" sz="13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nonce = next(n for n in range(10**6) if hashlib.sha256(f'SEN0401-{n}'.encode()).hexdigest().startswith('0000'))</a:t>
            </a:r>
            <a:endParaRPr lang="en-US" sz="1300" dirty="0"/>
          </a:p>
          <a:p>
            <a:pPr indent="0" marL="0">
              <a:spcAft>
                <a:spcPts val="200"/>
              </a:spcAft>
              <a:buNone/>
            </a:pPr>
            <a:r>
              <a:rPr lang="en-US" sz="13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nonce</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15083</a:t>
            </a:r>
            <a:endParaRPr lang="en-US" sz="1300" dirty="0"/>
          </a:p>
          <a:p>
            <a:pPr indent="0" marL="0">
              <a:spcAft>
                <a:spcPts val="200"/>
              </a:spcAft>
              <a:buNone/>
            </a:pPr>
            <a:r>
              <a:rPr lang="en-US" sz="13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hashlib.sha256(f'SEN0401-{nonce}'.encode()).hexdigest()[:24]</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'0000a1fac56b5f332308450c'</a:t>
            </a:r>
            <a:endParaRPr lang="en-US" sz="1300" dirty="0"/>
          </a:p>
        </p:txBody>
      </p:sp>
      <p:sp>
        <p:nvSpPr>
          <p:cNvPr id="8" name="Text 6"/>
          <p:cNvSpPr txBox="1"/>
          <p:nvPr/>
        </p:nvSpPr>
        <p:spPr>
          <a:xfrm>
            <a:off x="457200" y="30540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3337560"/>
            <a:ext cx="8229600" cy="1097280"/>
          </a:xfrm>
          <a:prstGeom prst="roundRect">
            <a:avLst>
              <a:gd name="adj" fmla="val 8333"/>
            </a:avLst>
          </a:prstGeom>
          <a:solidFill>
            <a:srgbClr val="F4F2EE"/>
          </a:solidFill>
          <a:ln w="12700">
            <a:solidFill>
              <a:srgbClr val="F4F2EE"/>
            </a:solidFill>
            <a:prstDash val="solid"/>
          </a:ln>
        </p:spPr>
      </p:sp>
      <p:sp>
        <p:nvSpPr>
          <p:cNvPr id="10" name="Text 8"/>
          <p:cNvSpPr txBox="1"/>
          <p:nvPr/>
        </p:nvSpPr>
        <p:spPr>
          <a:xfrm>
            <a:off x="640080" y="3474720"/>
            <a:ext cx="786384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A toy, not the real thing</a:t>
            </a:r>
            <a:endParaRPr lang="en-US" sz="1700" dirty="0"/>
          </a:p>
        </p:txBody>
      </p:sp>
      <p:sp>
        <p:nvSpPr>
          <p:cNvPr id="11" name="Text 9"/>
          <p:cNvSpPr txBox="1"/>
          <p:nvPr/>
        </p:nvSpPr>
        <p:spPr>
          <a:xfrm>
            <a:off x="640080" y="3867912"/>
            <a:ext cx="7863840" cy="4572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Bitcoin’s difficulty is astronomically higher and adjusts so a block is found every 10 minutes on average. The principle is the same: hard to find, instant to verify.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Just below 21 million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supply is a schedule, not a decision</a:t>
            </a:r>
            <a:endParaRPr lang="en-US" sz="1300" dirty="0"/>
          </a:p>
        </p:txBody>
      </p:sp>
      <p:graphicFrame>
        <p:nvGraphicFramePr>
          <p:cNvPr id="6" name="Chart 0" descr=""/>
          <p:cNvGraphicFramePr/>
          <p:nvPr/>
        </p:nvGraphicFramePr>
        <p:xfrm>
          <a:off x="457200" y="1234440"/>
          <a:ext cx="475488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0" y="1325880"/>
            <a:ext cx="3200400" cy="2103120"/>
          </a:xfrm>
          <a:prstGeom prst="roundRect">
            <a:avLst>
              <a:gd name="adj" fmla="val 4348"/>
            </a:avLst>
          </a:prstGeom>
          <a:solidFill>
            <a:srgbClr val="15191E"/>
          </a:solidFill>
          <a:ln w="12700">
            <a:solidFill>
              <a:srgbClr val="15191E"/>
            </a:solidFill>
            <a:prstDash val="solid"/>
          </a:ln>
        </p:spPr>
      </p:sp>
      <p:sp>
        <p:nvSpPr>
          <p:cNvPr id="8" name="Text 5"/>
          <p:cNvSpPr txBox="1"/>
          <p:nvPr/>
        </p:nvSpPr>
        <p:spPr>
          <a:xfrm>
            <a:off x="5669280" y="1435608"/>
            <a:ext cx="2834640" cy="1883664"/>
          </a:xfrm>
          <a:prstGeom prst="rect">
            <a:avLst/>
          </a:prstGeom>
          <a:noFill/>
          <a:ln/>
        </p:spPr>
        <p:txBody>
          <a:bodyPr wrap="square" lIns="0" tIns="0" rIns="0" bIns="0" rtlCol="0" anchor="t"/>
          <a:lstStyle/>
          <a:p>
            <a:pPr indent="0" marL="0">
              <a:spcAft>
                <a:spcPts val="200"/>
              </a:spcAft>
              <a:buNone/>
            </a:pPr>
            <a:r>
              <a:rPr lang="en-US" sz="11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sum((50 * 10**8 &gt;&gt; era) * 210000 for era in range(33)) / 10**8</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21000000.0</a:t>
            </a:r>
            <a:endParaRPr lang="en-US" sz="1100" dirty="0"/>
          </a:p>
          <a:p>
            <a:pPr indent="0" marL="0">
              <a:spcAft>
                <a:spcPts val="200"/>
              </a:spcAft>
              <a:buNone/>
            </a:pPr>
            <a:r>
              <a:rPr lang="en-US" sz="1100" b="1" dirty="0">
                <a:solidFill>
                  <a:srgbClr val="F7931A"/>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(50 * 10**8 &gt;&gt; 4) / 10**8</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9" name="Text 6"/>
          <p:cNvSpPr txBox="1"/>
          <p:nvPr/>
        </p:nvSpPr>
        <p:spPr>
          <a:xfrm>
            <a:off x="5486400" y="3465576"/>
            <a:ext cx="32004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0" name="Text 7"/>
          <p:cNvSpPr txBox="1"/>
          <p:nvPr/>
        </p:nvSpPr>
        <p:spPr>
          <a:xfrm>
            <a:off x="5486400" y="3749040"/>
            <a:ext cx="3200400" cy="82296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Every 210000 blocks the subsidy halves; the sum converges just below 21 million, as the book says.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Choosing a wallet: by platform</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 names types, not brands — wallets change too fast</a:t>
            </a:r>
            <a:endParaRPr lang="en-US" sz="1300" dirty="0"/>
          </a:p>
        </p:txBody>
      </p:sp>
      <p:sp>
        <p:nvSpPr>
          <p:cNvPr id="6" name="Shape 4"/>
          <p:cNvSpPr/>
          <p:nvPr/>
        </p:nvSpPr>
        <p:spPr>
          <a:xfrm>
            <a:off x="457200" y="1325880"/>
            <a:ext cx="2606040" cy="274320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Desktop</a:t>
            </a:r>
            <a:endParaRPr lang="en-US" sz="1700" dirty="0"/>
          </a:p>
        </p:txBody>
      </p:sp>
      <p:sp>
        <p:nvSpPr>
          <p:cNvPr id="8" name="Text 6"/>
          <p:cNvSpPr txBox="1"/>
          <p:nvPr/>
        </p:nvSpPr>
        <p:spPr>
          <a:xfrm>
            <a:off x="64008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first type of Bitcoin wallet, created as a reference implementation. Autonomy and control, on operating systems that are often poorly secured.</a:t>
            </a:r>
            <a:endParaRPr lang="en-US" sz="1300" dirty="0"/>
          </a:p>
        </p:txBody>
      </p:sp>
      <p:sp>
        <p:nvSpPr>
          <p:cNvPr id="9" name="Shape 7"/>
          <p:cNvSpPr/>
          <p:nvPr/>
        </p:nvSpPr>
        <p:spPr>
          <a:xfrm>
            <a:off x="3268980" y="1325880"/>
            <a:ext cx="2606040" cy="274320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Mobile</a:t>
            </a:r>
            <a:endParaRPr lang="en-US" sz="1700" dirty="0"/>
          </a:p>
        </p:txBody>
      </p:sp>
      <p:sp>
        <p:nvSpPr>
          <p:cNvPr id="11" name="Text 9"/>
          <p:cNvSpPr txBox="1"/>
          <p:nvPr/>
        </p:nvSpPr>
        <p:spPr>
          <a:xfrm>
            <a:off x="345186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most common type of Bitcoin wallet, on iOS and Android: always with you.</a:t>
            </a:r>
            <a:endParaRPr lang="en-US" sz="1300" dirty="0"/>
          </a:p>
        </p:txBody>
      </p:sp>
      <p:sp>
        <p:nvSpPr>
          <p:cNvPr id="12" name="Shape 10"/>
          <p:cNvSpPr/>
          <p:nvPr/>
        </p:nvSpPr>
        <p:spPr>
          <a:xfrm>
            <a:off x="6080760" y="1325880"/>
            <a:ext cx="2606040" cy="274320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Web</a:t>
            </a:r>
            <a:endParaRPr lang="en-US" sz="1700" dirty="0"/>
          </a:p>
        </p:txBody>
      </p:sp>
      <p:sp>
        <p:nvSpPr>
          <p:cNvPr id="14" name="Text 12"/>
          <p:cNvSpPr txBox="1"/>
          <p:nvPr/>
        </p:nvSpPr>
        <p:spPr>
          <a:xfrm>
            <a:off x="6263640" y="1856232"/>
            <a:ext cx="2240280" cy="21031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Used through a browser: convenient, and it places trust in whoever runs the service.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Choosing a wallet: by how much it checks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Full node versus lightweight</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194560"/>
                <a:gridCol w="3291840"/>
                <a:gridCol w="2743200"/>
              </a:tblGrid>
              <a:tr h="502920">
                <a:tc>
                  <a:txBody>
                    <a:bodyPr/>
                    <a:lstStyle/>
                    <a:p>
                      <a:pPr indent="0" marL="0">
                        <a:buNone/>
                      </a:pP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Validates history itself?</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Trusts</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502920">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Full node</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Yes — the entire history of transactions</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Nobody else for the ledger</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502920">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Lightweight client</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Other nodes for validation</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502920">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Third-party API client</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A third party’s servers</a:t>
                      </a:r>
                      <a:endParaRPr lang="en-US" sz="1500" dirty="0">
                        <a:latin typeface="Calibri" charset="0"/>
                        <a:ea typeface="Calibri" charset="0"/>
                        <a:cs typeface="Calibri" charset="0"/>
                      </a:endParaRPr>
                    </a:p>
                  </a:txBody>
                  <a:tcPr marL="91440" marR="91440" marT="45720" marB="45720">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Who controls the keys?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question that decides who really owns the bitcoin</a:t>
            </a:r>
            <a:endParaRPr lang="en-US" sz="1300" dirty="0"/>
          </a:p>
        </p:txBody>
      </p:sp>
      <p:sp>
        <p:nvSpPr>
          <p:cNvPr id="6" name="Shape 4"/>
          <p:cNvSpPr/>
          <p:nvPr/>
        </p:nvSpPr>
        <p:spPr>
          <a:xfrm>
            <a:off x="457200" y="1325880"/>
            <a:ext cx="3977640" cy="2651760"/>
          </a:xfrm>
          <a:prstGeom prst="roundRect">
            <a:avLst>
              <a:gd name="adj" fmla="val 3448"/>
            </a:avLst>
          </a:prstGeom>
          <a:solidFill>
            <a:srgbClr val="F4F2EE"/>
          </a:solidFill>
          <a:ln w="12700">
            <a:solidFill>
              <a:srgbClr val="F4F2EE"/>
            </a:solidFill>
            <a:prstDash val="solid"/>
          </a:ln>
        </p:spPr>
      </p:sp>
      <p:sp>
        <p:nvSpPr>
          <p:cNvPr id="7" name="Text 5"/>
          <p:cNvSpPr txBox="1"/>
          <p:nvPr/>
        </p:nvSpPr>
        <p:spPr>
          <a:xfrm>
            <a:off x="640080" y="1463040"/>
            <a:ext cx="36118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Noncustodial</a:t>
            </a:r>
            <a:endParaRPr lang="en-US" sz="1700" dirty="0"/>
          </a:p>
        </p:txBody>
      </p:sp>
      <p:sp>
        <p:nvSpPr>
          <p:cNvPr id="8" name="Text 6"/>
          <p:cNvSpPr txBox="1"/>
          <p:nvPr/>
        </p:nvSpPr>
        <p:spPr>
          <a:xfrm>
            <a:off x="640080" y="1856232"/>
            <a:ext cx="36118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Only you hold the keys. Only you can spend — and only you can lose access. The book’s example, Alice, chooses this.</a:t>
            </a:r>
            <a:endParaRPr lang="en-US" sz="1300" dirty="0"/>
          </a:p>
        </p:txBody>
      </p:sp>
      <p:sp>
        <p:nvSpPr>
          <p:cNvPr id="9" name="Shape 7"/>
          <p:cNvSpPr/>
          <p:nvPr/>
        </p:nvSpPr>
        <p:spPr>
          <a:xfrm>
            <a:off x="4709160" y="1325880"/>
            <a:ext cx="3977640" cy="2651760"/>
          </a:xfrm>
          <a:prstGeom prst="roundRect">
            <a:avLst>
              <a:gd name="adj" fmla="val 3448"/>
            </a:avLst>
          </a:prstGeom>
          <a:solidFill>
            <a:srgbClr val="F4F2EE"/>
          </a:solidFill>
          <a:ln w="12700">
            <a:solidFill>
              <a:srgbClr val="F4F2EE"/>
            </a:solidFill>
            <a:prstDash val="solid"/>
          </a:ln>
        </p:spPr>
      </p:sp>
      <p:sp>
        <p:nvSpPr>
          <p:cNvPr id="10" name="Text 8"/>
          <p:cNvSpPr txBox="1"/>
          <p:nvPr/>
        </p:nvSpPr>
        <p:spPr>
          <a:xfrm>
            <a:off x="4892040" y="1463040"/>
            <a:ext cx="36118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Custodial</a:t>
            </a:r>
            <a:endParaRPr lang="en-US" sz="1700" dirty="0"/>
          </a:p>
        </p:txBody>
      </p:sp>
      <p:sp>
        <p:nvSpPr>
          <p:cNvPr id="11" name="Text 9"/>
          <p:cNvSpPr txBox="1"/>
          <p:nvPr/>
        </p:nvSpPr>
        <p:spPr>
          <a:xfrm>
            <a:off x="4892040" y="1856232"/>
            <a:ext cx="36118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Someone else holds the keys for you. Convenient, but the bitcoin is theirs to move.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Recovery codes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list of words that can rebuild the whole wallet</a:t>
            </a:r>
            <a:endParaRPr lang="en-US" sz="1300" dirty="0"/>
          </a:p>
        </p:txBody>
      </p:sp>
      <p:sp>
        <p:nvSpPr>
          <p:cNvPr id="6" name="Shape 4"/>
          <p:cNvSpPr/>
          <p:nvPr/>
        </p:nvSpPr>
        <p:spPr>
          <a:xfrm>
            <a:off x="457200" y="1325880"/>
            <a:ext cx="4206240" cy="2651760"/>
          </a:xfrm>
          <a:prstGeom prst="roundRect">
            <a:avLst>
              <a:gd name="adj" fmla="val 3448"/>
            </a:avLst>
          </a:prstGeom>
          <a:solidFill>
            <a:srgbClr val="15191E"/>
          </a:solidFill>
          <a:ln w="12700">
            <a:solidFill>
              <a:srgbClr val="15191E"/>
            </a:solidFill>
            <a:prstDash val="solid"/>
          </a:ln>
        </p:spPr>
      </p:sp>
      <p:sp>
        <p:nvSpPr>
          <p:cNvPr id="7" name="Text 5"/>
          <p:cNvSpPr txBox="1"/>
          <p:nvPr/>
        </p:nvSpPr>
        <p:spPr>
          <a:xfrm>
            <a:off x="640080" y="1463040"/>
            <a:ext cx="3840480" cy="1920240"/>
          </a:xfrm>
          <a:prstGeom prst="rect">
            <a:avLst/>
          </a:prstGeom>
          <a:noFill/>
          <a:ln/>
        </p:spPr>
        <p:txBody>
          <a:bodyPr wrap="square" lIns="0" tIns="0" rIns="0" bIns="0" rtlCol="0" anchor="ctr"/>
          <a:lstStyle/>
          <a:p>
            <a:pPr indent="0" marL="0">
              <a:buNone/>
            </a:pPr>
            <a:r>
              <a:rPr lang="en-US" sz="1700" dirty="0">
                <a:solidFill>
                  <a:srgbClr val="E6EDF3"/>
                </a:solidFill>
                <a:latin typeface="Courier New" pitchFamily="34" charset="0"/>
                <a:ea typeface="Courier New" pitchFamily="34" charset="-122"/>
                <a:cs typeface="Courier New" pitchFamily="34" charset="-120"/>
              </a:rPr>
              <a:t>media  suspect  effort  dish</a:t>
            </a:r>
            <a:endParaRPr lang="en-US" sz="1700" dirty="0"/>
          </a:p>
          <a:p>
            <a:pPr indent="0" marL="0">
              <a:buNone/>
            </a:pPr>
            <a:r>
              <a:rPr lang="en-US" sz="1700" dirty="0">
                <a:solidFill>
                  <a:srgbClr val="E6EDF3"/>
                </a:solidFill>
                <a:latin typeface="Courier New" pitchFamily="34" charset="0"/>
                <a:ea typeface="Courier New" pitchFamily="34" charset="-122"/>
                <a:cs typeface="Courier New" pitchFamily="34" charset="-120"/>
              </a:rPr>
              <a:t>album  shaft  price  junk</a:t>
            </a:r>
            <a:endParaRPr lang="en-US" sz="1700" dirty="0"/>
          </a:p>
          <a:p>
            <a:pPr indent="0" marL="0">
              <a:buNone/>
            </a:pPr>
            <a:r>
              <a:rPr lang="en-US" sz="1700" dirty="0">
                <a:solidFill>
                  <a:srgbClr val="E6EDF3"/>
                </a:solidFill>
                <a:latin typeface="Courier New" pitchFamily="34" charset="0"/>
                <a:ea typeface="Courier New" pitchFamily="34" charset="-122"/>
                <a:cs typeface="Courier New" pitchFamily="34" charset="-120"/>
              </a:rPr>
              <a:t>pizza  situate  oyster  rib</a:t>
            </a:r>
            <a:endParaRPr lang="en-US" sz="1700" dirty="0"/>
          </a:p>
        </p:txBody>
      </p:sp>
      <p:sp>
        <p:nvSpPr>
          <p:cNvPr id="8" name="Text 6"/>
          <p:cNvSpPr txBox="1"/>
          <p:nvPr/>
        </p:nvSpPr>
        <p:spPr>
          <a:xfrm>
            <a:off x="640080" y="3474720"/>
            <a:ext cx="3840480" cy="365760"/>
          </a:xfrm>
          <a:prstGeom prst="rect">
            <a:avLst/>
          </a:prstGeom>
          <a:noFill/>
          <a:ln/>
        </p:spPr>
        <p:txBody>
          <a:bodyPr wrap="square" lIns="0" tIns="0" rIns="0" bIns="0" rtlCol="0" anchor="ctr"/>
          <a:lstStyle/>
          <a:p>
            <a:pPr indent="0" marL="0">
              <a:buNone/>
            </a:pPr>
            <a:r>
              <a:rPr lang="en-US" sz="1100" i="1" dirty="0">
                <a:solidFill>
                  <a:srgbClr val="F7931A"/>
                </a:solidFill>
                <a:latin typeface="Calibri" pitchFamily="34" charset="0"/>
                <a:ea typeface="Calibri" pitchFamily="34" charset="-122"/>
                <a:cs typeface="Calibri" pitchFamily="34" charset="-120"/>
              </a:rPr>
              <a:t>Sample from the book — never use a published code</a:t>
            </a:r>
            <a:endParaRPr lang="en-US" sz="1100" dirty="0"/>
          </a:p>
        </p:txBody>
      </p:sp>
      <p:sp>
        <p:nvSpPr>
          <p:cNvPr id="9" name="Shape 7"/>
          <p:cNvSpPr/>
          <p:nvPr/>
        </p:nvSpPr>
        <p:spPr>
          <a:xfrm>
            <a:off x="4937760" y="1325880"/>
            <a:ext cx="3749040" cy="2651760"/>
          </a:xfrm>
          <a:prstGeom prst="roundRect">
            <a:avLst>
              <a:gd name="adj" fmla="val 3448"/>
            </a:avLst>
          </a:prstGeom>
          <a:solidFill>
            <a:srgbClr val="F4F2EE"/>
          </a:solidFill>
          <a:ln w="12700">
            <a:solidFill>
              <a:srgbClr val="F4F2EE"/>
            </a:solidFill>
            <a:prstDash val="solid"/>
          </a:ln>
        </p:spPr>
      </p:sp>
      <p:sp>
        <p:nvSpPr>
          <p:cNvPr id="10" name="Text 8"/>
          <p:cNvSpPr txBox="1"/>
          <p:nvPr/>
        </p:nvSpPr>
        <p:spPr>
          <a:xfrm>
            <a:off x="5120640" y="1463040"/>
            <a:ext cx="3383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What it is</a:t>
            </a:r>
            <a:endParaRPr lang="en-US" sz="1700" dirty="0"/>
          </a:p>
        </p:txBody>
      </p:sp>
      <p:sp>
        <p:nvSpPr>
          <p:cNvPr id="11" name="Text 9"/>
          <p:cNvSpPr txBox="1"/>
          <p:nvPr/>
        </p:nvSpPr>
        <p:spPr>
          <a:xfrm>
            <a:off x="5120640" y="1856232"/>
            <a:ext cx="3383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Words chosen randomly by the wallet and used as the basis for its keys. Wallets commonly follow BIP 39, whose initial entropy is 128 to 256 bits. Whoever has the words has the bitcoin.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Bitcoin addresses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Numbers derived from your key — registered nowhere</a:t>
            </a:r>
            <a:endParaRPr lang="en-US" sz="1300" dirty="0"/>
          </a:p>
        </p:txBody>
      </p:sp>
      <p:sp>
        <p:nvSpPr>
          <p:cNvPr id="6" name="Shape 4"/>
          <p:cNvSpPr/>
          <p:nvPr/>
        </p:nvSpPr>
        <p:spPr>
          <a:xfrm>
            <a:off x="457200" y="1325880"/>
            <a:ext cx="2606040" cy="265176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Derived</a:t>
            </a:r>
            <a:endParaRPr lang="en-US" sz="1700" dirty="0"/>
          </a:p>
        </p:txBody>
      </p:sp>
      <p:sp>
        <p:nvSpPr>
          <p:cNvPr id="8" name="Text 6"/>
          <p:cNvSpPr txBox="1"/>
          <p:nvPr/>
        </p:nvSpPr>
        <p:spPr>
          <a:xfrm>
            <a:off x="64008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Generated by the wallet from its private key, without any service or registration.</a:t>
            </a:r>
            <a:endParaRPr lang="en-US" sz="1300" dirty="0"/>
          </a:p>
        </p:txBody>
      </p:sp>
      <p:sp>
        <p:nvSpPr>
          <p:cNvPr id="9" name="Shape 7"/>
          <p:cNvSpPr/>
          <p:nvPr/>
        </p:nvSpPr>
        <p:spPr>
          <a:xfrm>
            <a:off x="3268980" y="1325880"/>
            <a:ext cx="2606040" cy="265176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Safe to share</a:t>
            </a:r>
            <a:endParaRPr lang="en-US" sz="1700" dirty="0"/>
          </a:p>
        </p:txBody>
      </p:sp>
      <p:sp>
        <p:nvSpPr>
          <p:cNvPr id="11" name="Text 9"/>
          <p:cNvSpPr txBox="1"/>
          <p:nvPr/>
        </p:nvSpPr>
        <p:spPr>
          <a:xfrm>
            <a:off x="345186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Anyone with your address can pay you; nobody can withdraw with it. You initiate every spend.</a:t>
            </a:r>
            <a:endParaRPr lang="en-US" sz="1300" dirty="0"/>
          </a:p>
        </p:txBody>
      </p:sp>
      <p:sp>
        <p:nvSpPr>
          <p:cNvPr id="12" name="Shape 10"/>
          <p:cNvSpPr/>
          <p:nvPr/>
        </p:nvSpPr>
        <p:spPr>
          <a:xfrm>
            <a:off x="6080760" y="1325880"/>
            <a:ext cx="2606040" cy="265176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New each time</a:t>
            </a:r>
            <a:endParaRPr lang="en-US" sz="1700" dirty="0"/>
          </a:p>
        </p:txBody>
      </p:sp>
      <p:sp>
        <p:nvSpPr>
          <p:cNvPr id="14" name="Text 12"/>
          <p:cNvSpPr txBox="1"/>
          <p:nvPr/>
        </p:nvSpPr>
        <p:spPr>
          <a:xfrm>
            <a:off x="6263640" y="1856232"/>
            <a:ext cx="22402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Reusing an address lets payers see each other’s payments. A new invoice and address per payment protects privacy.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Receiving, pricing, sending</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Alice’s first bitcoin</a:t>
            </a:r>
            <a:endParaRPr lang="en-US" sz="1300" dirty="0"/>
          </a:p>
        </p:txBody>
      </p:sp>
      <p:sp>
        <p:nvSpPr>
          <p:cNvPr id="6" name="Shape 4"/>
          <p:cNvSpPr/>
          <p:nvPr/>
        </p:nvSpPr>
        <p:spPr>
          <a:xfrm>
            <a:off x="457200" y="1371600"/>
            <a:ext cx="548640" cy="548640"/>
          </a:xfrm>
          <a:prstGeom prst="ellipse">
            <a:avLst/>
          </a:prstGeom>
          <a:solidFill>
            <a:srgbClr val="F7931A"/>
          </a:solidFill>
          <a:ln w="12700">
            <a:solidFill>
              <a:srgbClr val="F7931A"/>
            </a:solidFill>
            <a:prstDash val="solid"/>
          </a:ln>
        </p:spPr>
      </p:sp>
      <p:sp>
        <p:nvSpPr>
          <p:cNvPr id="7" name="Text 5"/>
          <p:cNvSpPr txBox="1"/>
          <p:nvPr/>
        </p:nvSpPr>
        <p:spPr>
          <a:xfrm>
            <a:off x="457200" y="13716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txBox="1"/>
          <p:nvPr/>
        </p:nvSpPr>
        <p:spPr>
          <a:xfrm>
            <a:off x="1143000" y="1389888"/>
            <a:ext cx="1920240" cy="502920"/>
          </a:xfrm>
          <a:prstGeom prst="rect">
            <a:avLst/>
          </a:prstGeom>
          <a:noFill/>
          <a:ln/>
        </p:spPr>
        <p:txBody>
          <a:bodyPr wrap="square" lIns="0" tIns="0" rIns="0" bIns="0" rtlCol="0" anchor="ctr"/>
          <a:lstStyle/>
          <a:p>
            <a:pPr indent="0" marL="0">
              <a:buNone/>
            </a:pPr>
            <a:r>
              <a:rPr lang="en-US" sz="1800" b="1" dirty="0">
                <a:solidFill>
                  <a:srgbClr val="1B1F24"/>
                </a:solidFill>
                <a:latin typeface="Cambria" pitchFamily="34" charset="0"/>
                <a:ea typeface="Cambria" pitchFamily="34" charset="-122"/>
                <a:cs typeface="Cambria" pitchFamily="34" charset="-120"/>
              </a:rPr>
              <a:t>Receive</a:t>
            </a:r>
            <a:endParaRPr lang="en-US" sz="1800" dirty="0"/>
          </a:p>
        </p:txBody>
      </p:sp>
      <p:sp>
        <p:nvSpPr>
          <p:cNvPr id="9" name="Text 7"/>
          <p:cNvSpPr txBox="1"/>
          <p:nvPr/>
        </p:nvSpPr>
        <p:spPr>
          <a:xfrm>
            <a:off x="457200" y="2103120"/>
            <a:ext cx="2560320"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wallet shows an address or invoice, often as a QR code.</a:t>
            </a:r>
            <a:endParaRPr lang="en-US" sz="1400" dirty="0"/>
          </a:p>
        </p:txBody>
      </p:sp>
      <p:sp>
        <p:nvSpPr>
          <p:cNvPr id="10" name="Shape 8"/>
          <p:cNvSpPr/>
          <p:nvPr/>
        </p:nvSpPr>
        <p:spPr>
          <a:xfrm>
            <a:off x="3063240" y="1645920"/>
            <a:ext cx="182880" cy="0"/>
          </a:xfrm>
          <a:prstGeom prst="line">
            <a:avLst/>
          </a:prstGeom>
          <a:noFill/>
          <a:ln w="25400">
            <a:solidFill>
              <a:srgbClr val="F7931A"/>
            </a:solidFill>
            <a:prstDash val="solid"/>
          </a:ln>
        </p:spPr>
      </p:sp>
      <p:sp>
        <p:nvSpPr>
          <p:cNvPr id="11" name="Shape 9"/>
          <p:cNvSpPr/>
          <p:nvPr/>
        </p:nvSpPr>
        <p:spPr>
          <a:xfrm>
            <a:off x="3246120" y="1371600"/>
            <a:ext cx="548640" cy="548640"/>
          </a:xfrm>
          <a:prstGeom prst="ellipse">
            <a:avLst/>
          </a:prstGeom>
          <a:solidFill>
            <a:srgbClr val="F7931A"/>
          </a:solidFill>
          <a:ln w="12700">
            <a:solidFill>
              <a:srgbClr val="F7931A"/>
            </a:solidFill>
            <a:prstDash val="solid"/>
          </a:ln>
        </p:spPr>
      </p:sp>
      <p:sp>
        <p:nvSpPr>
          <p:cNvPr id="12" name="Text 10"/>
          <p:cNvSpPr txBox="1"/>
          <p:nvPr/>
        </p:nvSpPr>
        <p:spPr>
          <a:xfrm>
            <a:off x="3246120" y="13716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txBox="1"/>
          <p:nvPr/>
        </p:nvSpPr>
        <p:spPr>
          <a:xfrm>
            <a:off x="3931920" y="1389888"/>
            <a:ext cx="1920240" cy="502920"/>
          </a:xfrm>
          <a:prstGeom prst="rect">
            <a:avLst/>
          </a:prstGeom>
          <a:noFill/>
          <a:ln/>
        </p:spPr>
        <p:txBody>
          <a:bodyPr wrap="square" lIns="0" tIns="0" rIns="0" bIns="0" rtlCol="0" anchor="ctr"/>
          <a:lstStyle/>
          <a:p>
            <a:pPr indent="0" marL="0">
              <a:buNone/>
            </a:pPr>
            <a:r>
              <a:rPr lang="en-US" sz="1800" b="1" dirty="0">
                <a:solidFill>
                  <a:srgbClr val="1B1F24"/>
                </a:solidFill>
                <a:latin typeface="Cambria" pitchFamily="34" charset="0"/>
                <a:ea typeface="Cambria" pitchFamily="34" charset="-122"/>
                <a:cs typeface="Cambria" pitchFamily="34" charset="-120"/>
              </a:rPr>
              <a:t>Agree a price</a:t>
            </a:r>
            <a:endParaRPr lang="en-US" sz="1800" dirty="0"/>
          </a:p>
        </p:txBody>
      </p:sp>
      <p:sp>
        <p:nvSpPr>
          <p:cNvPr id="14" name="Text 12"/>
          <p:cNvSpPr txBox="1"/>
          <p:nvPr/>
        </p:nvSpPr>
        <p:spPr>
          <a:xfrm>
            <a:off x="3246120" y="2103120"/>
            <a:ext cx="2560320"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 floating exchange rate set by markets; pricing services average them.</a:t>
            </a:r>
            <a:endParaRPr lang="en-US" sz="1400" dirty="0"/>
          </a:p>
        </p:txBody>
      </p:sp>
      <p:sp>
        <p:nvSpPr>
          <p:cNvPr id="15" name="Shape 13"/>
          <p:cNvSpPr/>
          <p:nvPr/>
        </p:nvSpPr>
        <p:spPr>
          <a:xfrm>
            <a:off x="5852160" y="1645920"/>
            <a:ext cx="182880" cy="0"/>
          </a:xfrm>
          <a:prstGeom prst="line">
            <a:avLst/>
          </a:prstGeom>
          <a:noFill/>
          <a:ln w="25400">
            <a:solidFill>
              <a:srgbClr val="F7931A"/>
            </a:solidFill>
            <a:prstDash val="solid"/>
          </a:ln>
        </p:spPr>
      </p:sp>
      <p:sp>
        <p:nvSpPr>
          <p:cNvPr id="16" name="Shape 14"/>
          <p:cNvSpPr/>
          <p:nvPr/>
        </p:nvSpPr>
        <p:spPr>
          <a:xfrm>
            <a:off x="6035040" y="1371600"/>
            <a:ext cx="548640" cy="548640"/>
          </a:xfrm>
          <a:prstGeom prst="ellipse">
            <a:avLst/>
          </a:prstGeom>
          <a:solidFill>
            <a:srgbClr val="F7931A"/>
          </a:solidFill>
          <a:ln w="12700">
            <a:solidFill>
              <a:srgbClr val="F7931A"/>
            </a:solidFill>
            <a:prstDash val="solid"/>
          </a:ln>
        </p:spPr>
      </p:sp>
      <p:sp>
        <p:nvSpPr>
          <p:cNvPr id="17" name="Text 15"/>
          <p:cNvSpPr txBox="1"/>
          <p:nvPr/>
        </p:nvSpPr>
        <p:spPr>
          <a:xfrm>
            <a:off x="6035040" y="13716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6"/>
          <p:cNvSpPr txBox="1"/>
          <p:nvPr/>
        </p:nvSpPr>
        <p:spPr>
          <a:xfrm>
            <a:off x="6720840" y="1389888"/>
            <a:ext cx="1920240" cy="502920"/>
          </a:xfrm>
          <a:prstGeom prst="rect">
            <a:avLst/>
          </a:prstGeom>
          <a:noFill/>
          <a:ln/>
        </p:spPr>
        <p:txBody>
          <a:bodyPr wrap="square" lIns="0" tIns="0" rIns="0" bIns="0" rtlCol="0" anchor="ctr"/>
          <a:lstStyle/>
          <a:p>
            <a:pPr indent="0" marL="0">
              <a:buNone/>
            </a:pPr>
            <a:r>
              <a:rPr lang="en-US" sz="1800" b="1" dirty="0">
                <a:solidFill>
                  <a:srgbClr val="1B1F24"/>
                </a:solidFill>
                <a:latin typeface="Cambria" pitchFamily="34" charset="0"/>
                <a:ea typeface="Cambria" pitchFamily="34" charset="-122"/>
                <a:cs typeface="Cambria" pitchFamily="34" charset="-120"/>
              </a:rPr>
              <a:t>Send</a:t>
            </a:r>
            <a:endParaRPr lang="en-US" sz="1800" dirty="0"/>
          </a:p>
        </p:txBody>
      </p:sp>
      <p:sp>
        <p:nvSpPr>
          <p:cNvPr id="19" name="Text 17"/>
          <p:cNvSpPr txBox="1"/>
          <p:nvPr/>
        </p:nvSpPr>
        <p:spPr>
          <a:xfrm>
            <a:off x="6035040" y="2103120"/>
            <a:ext cx="2560320"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wallet signs a transaction that spends to the recipient’s address.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Our theme: semantic technologies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chapter’s key idea, applied to identity</a:t>
            </a:r>
            <a:endParaRPr lang="en-US" sz="1300" dirty="0"/>
          </a:p>
        </p:txBody>
      </p:sp>
      <p:sp>
        <p:nvSpPr>
          <p:cNvPr id="6" name="Shape 4"/>
          <p:cNvSpPr/>
          <p:nvPr/>
        </p:nvSpPr>
        <p:spPr>
          <a:xfrm>
            <a:off x="457200" y="1325880"/>
            <a:ext cx="3977640" cy="2651760"/>
          </a:xfrm>
          <a:prstGeom prst="roundRect">
            <a:avLst>
              <a:gd name="adj" fmla="val 3448"/>
            </a:avLst>
          </a:prstGeom>
          <a:solidFill>
            <a:srgbClr val="F4F2EE"/>
          </a:solidFill>
          <a:ln w="12700">
            <a:solidFill>
              <a:srgbClr val="F4F2EE"/>
            </a:solidFill>
            <a:prstDash val="solid"/>
          </a:ln>
        </p:spPr>
      </p:sp>
      <p:sp>
        <p:nvSpPr>
          <p:cNvPr id="7" name="Text 5"/>
          <p:cNvSpPr txBox="1"/>
          <p:nvPr/>
        </p:nvSpPr>
        <p:spPr>
          <a:xfrm>
            <a:off x="640080" y="1463040"/>
            <a:ext cx="3611880" cy="365760"/>
          </a:xfrm>
          <a:prstGeom prst="rect">
            <a:avLst/>
          </a:prstGeom>
          <a:noFill/>
          <a:ln/>
        </p:spPr>
        <p:txBody>
          <a:bodyPr wrap="square" lIns="0" tIns="0" rIns="0" bIns="0" rtlCol="0" anchor="ctr"/>
          <a:lstStyle/>
          <a:p>
            <a:pPr indent="0" marL="0">
              <a:buNone/>
            </a:pPr>
            <a:r>
              <a:rPr lang="en-US" sz="1700" b="1" dirty="0">
                <a:solidFill>
                  <a:srgbClr val="3A4250"/>
                </a:solidFill>
                <a:latin typeface="Cambria" pitchFamily="34" charset="0"/>
                <a:ea typeface="Cambria" pitchFamily="34" charset="-122"/>
                <a:cs typeface="Cambria" pitchFamily="34" charset="-120"/>
              </a:rPr>
              <a:t>From the book</a:t>
            </a:r>
            <a:endParaRPr lang="en-US" sz="1700" dirty="0"/>
          </a:p>
        </p:txBody>
      </p:sp>
      <p:sp>
        <p:nvSpPr>
          <p:cNvPr id="8" name="Text 6"/>
          <p:cNvSpPr txBox="1"/>
          <p:nvPr/>
        </p:nvSpPr>
        <p:spPr>
          <a:xfrm>
            <a:off x="640080" y="1856232"/>
            <a:ext cx="36118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Control belongs to whoever holds the keys. No central registry issues addresses or approves spends.</a:t>
            </a:r>
            <a:endParaRPr lang="en-US" sz="1300" dirty="0"/>
          </a:p>
        </p:txBody>
      </p:sp>
      <p:sp>
        <p:nvSpPr>
          <p:cNvPr id="9" name="Shape 7"/>
          <p:cNvSpPr/>
          <p:nvPr/>
        </p:nvSpPr>
        <p:spPr>
          <a:xfrm>
            <a:off x="4709160" y="1325880"/>
            <a:ext cx="3977640" cy="2651760"/>
          </a:xfrm>
          <a:prstGeom prst="roundRect">
            <a:avLst>
              <a:gd name="adj" fmla="val 3448"/>
            </a:avLst>
          </a:prstGeom>
          <a:solidFill>
            <a:srgbClr val="F4F2EE"/>
          </a:solidFill>
          <a:ln w="12700">
            <a:solidFill>
              <a:srgbClr val="F4F2EE"/>
            </a:solidFill>
            <a:prstDash val="solid"/>
          </a:ln>
        </p:spPr>
      </p:sp>
      <p:sp>
        <p:nvSpPr>
          <p:cNvPr id="10" name="Text 8"/>
          <p:cNvSpPr txBox="1"/>
          <p:nvPr/>
        </p:nvSpPr>
        <p:spPr>
          <a:xfrm>
            <a:off x="4892040" y="1463040"/>
            <a:ext cx="3611880" cy="365760"/>
          </a:xfrm>
          <a:prstGeom prst="rect">
            <a:avLst/>
          </a:prstGeom>
          <a:noFill/>
          <a:ln/>
        </p:spPr>
        <p:txBody>
          <a:bodyPr wrap="square" lIns="0" tIns="0" rIns="0" bIns="0" rtlCol="0" anchor="ctr"/>
          <a:lstStyle/>
          <a:p>
            <a:pPr indent="0" marL="0">
              <a:buNone/>
            </a:pPr>
            <a:r>
              <a:rPr lang="en-US" sz="1700" b="1" dirty="0">
                <a:solidFill>
                  <a:srgbClr val="F7931A"/>
                </a:solidFill>
                <a:latin typeface="Cambria" pitchFamily="34" charset="0"/>
                <a:ea typeface="Cambria" pitchFamily="34" charset="-122"/>
                <a:cs typeface="Cambria" pitchFamily="34" charset="-120"/>
              </a:rPr>
              <a:t>W3C standards</a:t>
            </a:r>
            <a:endParaRPr lang="en-US" sz="1700" dirty="0"/>
          </a:p>
        </p:txBody>
      </p:sp>
      <p:sp>
        <p:nvSpPr>
          <p:cNvPr id="11" name="Text 9"/>
          <p:cNvSpPr txBox="1"/>
          <p:nvPr/>
        </p:nvSpPr>
        <p:spPr>
          <a:xfrm>
            <a:off x="4892040" y="1856232"/>
            <a:ext cx="3611880" cy="2011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Decentralized Identifiers (Recommendation, 2022) apply the same principle to identity; Verifiable Credentials 2.0 (Recommendation, 2025) build signed claims on it.</a:t>
            </a:r>
            <a:endParaRPr lang="en-US" sz="1300" dirty="0"/>
          </a:p>
        </p:txBody>
      </p:sp>
      <p:sp>
        <p:nvSpPr>
          <p:cNvPr id="12" name="Text 10"/>
          <p:cNvSpPr txBox="1"/>
          <p:nvPr/>
        </p:nvSpPr>
        <p:spPr>
          <a:xfrm>
            <a:off x="457200" y="4160520"/>
            <a:ext cx="8229600" cy="411480"/>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project idea for this term: model keys, identities and credentials as an ontology, and reason over them.</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Check yourself</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Answer before you look at the interactive page</a:t>
            </a:r>
            <a:endParaRPr lang="en-US" sz="1300" dirty="0"/>
          </a:p>
        </p:txBody>
      </p:sp>
      <p:sp>
        <p:nvSpPr>
          <p:cNvPr id="6" name="Shape 4"/>
          <p:cNvSpPr/>
          <p:nvPr/>
        </p:nvSpPr>
        <p:spPr>
          <a:xfrm>
            <a:off x="457200" y="1316736"/>
            <a:ext cx="420624" cy="420624"/>
          </a:xfrm>
          <a:prstGeom prst="ellipse">
            <a:avLst/>
          </a:prstGeom>
          <a:solidFill>
            <a:srgbClr val="F7931A"/>
          </a:solidFill>
          <a:ln w="12700">
            <a:solidFill>
              <a:srgbClr val="F7931A"/>
            </a:solidFill>
            <a:prstDash val="solid"/>
          </a:ln>
        </p:spPr>
      </p:sp>
      <p:sp>
        <p:nvSpPr>
          <p:cNvPr id="7" name="Text 5"/>
          <p:cNvSpPr txBox="1"/>
          <p:nvPr/>
        </p:nvSpPr>
        <p:spPr>
          <a:xfrm>
            <a:off x="457200" y="13167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051560" y="1280160"/>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problem does proof of work solve without a central clearinghouse?</a:t>
            </a:r>
            <a:endParaRPr lang="en-US" sz="1500" dirty="0"/>
          </a:p>
        </p:txBody>
      </p:sp>
      <p:sp>
        <p:nvSpPr>
          <p:cNvPr id="9" name="Shape 7"/>
          <p:cNvSpPr/>
          <p:nvPr/>
        </p:nvSpPr>
        <p:spPr>
          <a:xfrm>
            <a:off x="457200" y="1920240"/>
            <a:ext cx="420624" cy="420624"/>
          </a:xfrm>
          <a:prstGeom prst="ellipse">
            <a:avLst/>
          </a:prstGeom>
          <a:solidFill>
            <a:srgbClr val="F7931A"/>
          </a:solidFill>
          <a:ln w="12700">
            <a:solidFill>
              <a:srgbClr val="F7931A"/>
            </a:solidFill>
            <a:prstDash val="solid"/>
          </a:ln>
        </p:spPr>
      </p:sp>
      <p:sp>
        <p:nvSpPr>
          <p:cNvPr id="10" name="Text 8"/>
          <p:cNvSpPr txBox="1"/>
          <p:nvPr/>
        </p:nvSpPr>
        <p:spPr>
          <a:xfrm>
            <a:off x="457200" y="19202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1051560" y="1883664"/>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Why does the total supply stay just below 21 million?</a:t>
            </a:r>
            <a:endParaRPr lang="en-US" sz="1500" dirty="0"/>
          </a:p>
        </p:txBody>
      </p:sp>
      <p:sp>
        <p:nvSpPr>
          <p:cNvPr id="12" name="Shape 10"/>
          <p:cNvSpPr/>
          <p:nvPr/>
        </p:nvSpPr>
        <p:spPr>
          <a:xfrm>
            <a:off x="457200" y="2523744"/>
            <a:ext cx="420624" cy="420624"/>
          </a:xfrm>
          <a:prstGeom prst="ellipse">
            <a:avLst/>
          </a:prstGeom>
          <a:solidFill>
            <a:srgbClr val="F7931A"/>
          </a:solidFill>
          <a:ln w="12700">
            <a:solidFill>
              <a:srgbClr val="F7931A"/>
            </a:solidFill>
            <a:prstDash val="solid"/>
          </a:ln>
        </p:spPr>
      </p:sp>
      <p:sp>
        <p:nvSpPr>
          <p:cNvPr id="13" name="Text 11"/>
          <p:cNvSpPr txBox="1"/>
          <p:nvPr/>
        </p:nvSpPr>
        <p:spPr>
          <a:xfrm>
            <a:off x="457200" y="25237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051560" y="2487168"/>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was the block subsidy after the halving in April 2024?</a:t>
            </a:r>
            <a:endParaRPr lang="en-US" sz="1500" dirty="0"/>
          </a:p>
        </p:txBody>
      </p:sp>
      <p:sp>
        <p:nvSpPr>
          <p:cNvPr id="15" name="Shape 13"/>
          <p:cNvSpPr/>
          <p:nvPr/>
        </p:nvSpPr>
        <p:spPr>
          <a:xfrm>
            <a:off x="457200" y="3127248"/>
            <a:ext cx="420624" cy="420624"/>
          </a:xfrm>
          <a:prstGeom prst="ellipse">
            <a:avLst/>
          </a:prstGeom>
          <a:solidFill>
            <a:srgbClr val="F7931A"/>
          </a:solidFill>
          <a:ln w="12700">
            <a:solidFill>
              <a:srgbClr val="F7931A"/>
            </a:solidFill>
            <a:prstDash val="solid"/>
          </a:ln>
        </p:spPr>
      </p:sp>
      <p:sp>
        <p:nvSpPr>
          <p:cNvPr id="16" name="Text 14"/>
          <p:cNvSpPr txBox="1"/>
          <p:nvPr/>
        </p:nvSpPr>
        <p:spPr>
          <a:xfrm>
            <a:off x="457200" y="312724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7" name="Text 15"/>
          <p:cNvSpPr txBox="1"/>
          <p:nvPr/>
        </p:nvSpPr>
        <p:spPr>
          <a:xfrm>
            <a:off x="1051560" y="3090672"/>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In a noncustodial wallet, who can spend the bitcoin?</a:t>
            </a:r>
            <a:endParaRPr lang="en-US" sz="1500" dirty="0"/>
          </a:p>
        </p:txBody>
      </p:sp>
      <p:sp>
        <p:nvSpPr>
          <p:cNvPr id="18" name="Shape 16"/>
          <p:cNvSpPr/>
          <p:nvPr/>
        </p:nvSpPr>
        <p:spPr>
          <a:xfrm>
            <a:off x="457200" y="3730752"/>
            <a:ext cx="420624" cy="420624"/>
          </a:xfrm>
          <a:prstGeom prst="ellipse">
            <a:avLst/>
          </a:prstGeom>
          <a:solidFill>
            <a:srgbClr val="F7931A"/>
          </a:solidFill>
          <a:ln w="12700">
            <a:solidFill>
              <a:srgbClr val="F7931A"/>
            </a:solidFill>
            <a:prstDash val="solid"/>
          </a:ln>
        </p:spPr>
      </p:sp>
      <p:sp>
        <p:nvSpPr>
          <p:cNvPr id="19" name="Text 17"/>
          <p:cNvSpPr txBox="1"/>
          <p:nvPr/>
        </p:nvSpPr>
        <p:spPr>
          <a:xfrm>
            <a:off x="457200" y="37307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0" name="Text 18"/>
          <p:cNvSpPr txBox="1"/>
          <p:nvPr/>
        </p:nvSpPr>
        <p:spPr>
          <a:xfrm>
            <a:off x="1051560" y="3694176"/>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Why should you use a new address for each payment?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B1F24"/>
                </a:solidFill>
                <a:latin typeface="Cambria" pitchFamily="34" charset="0"/>
                <a:ea typeface="Cambria" pitchFamily="34" charset="-122"/>
                <a:cs typeface="Cambria" pitchFamily="34" charset="-120"/>
              </a:rPr>
              <a:t>Sources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300" dirty="0"/>
          </a:p>
        </p:txBody>
      </p:sp>
      <p:sp>
        <p:nvSpPr>
          <p:cNvPr id="6" name="Text 4"/>
          <p:cNvSpPr txBox="1"/>
          <p:nvPr/>
        </p:nvSpPr>
        <p:spPr>
          <a:xfrm>
            <a:off x="457200" y="1280160"/>
            <a:ext cx="8229600" cy="32004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Antonopoulos, A. M., Harding, D. A. (2023). Mastering Bitcoin, 3rd ed., ch. 1. O’Reilly. CC BY-SA 4.0. github.com/bitcoinbook/bitcoinbook</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Nakamoto, S. (2008). Bitcoin: A Peer-to-Peer Electronic Cash System. bitcoin.org/bitcoin.pdf</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Back, A. (2002). Hashcash - A Denial of Service Counter-Measure. hashcash.org</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Bitcoin Wiki (2026). Controlled supply. en.bitcoin.it/wiki/Controlled_supply</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Bitcoin Core (2026). Releases. bitcoincore.org/en/releases</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Palatinus, M. et al. (2013). BIP 39 – Mnemonic code for generating deterministic keys</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W3C (2022). Decentralized Identifiers v1.0; W3C (2025). Verifiable Credentials Data Model v2.0</a:t>
            </a:r>
            <a:endParaRPr lang="en-US" sz="1200" dirty="0"/>
          </a:p>
        </p:txBody>
      </p:sp>
      <p:sp>
        <p:nvSpPr>
          <p:cNvPr id="7" name="Text 5"/>
          <p:cNvSpPr txBox="1"/>
          <p:nvPr/>
        </p:nvSpPr>
        <p:spPr>
          <a:xfrm>
            <a:off x="457200" y="457200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Mastering Bitcoin, 3rd edition, under CC BY-SA 4.0; this deck is shared under the same licence.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F24"/>
        </a:solidFill>
      </p:bgPr>
    </p:bg>
    <p:spTree>
      <p:nvGrpSpPr>
        <p:cNvPr id="1" name=""/>
        <p:cNvGrpSpPr/>
        <p:nvPr/>
      </p:nvGrpSpPr>
      <p:grpSpPr>
        <a:xfrm>
          <a:off x="0" y="0"/>
          <a:ext cx="0" cy="0"/>
          <a:chOff x="0" y="0"/>
          <a:chExt cx="0" cy="0"/>
        </a:xfrm>
      </p:grpSpPr>
      <p:sp>
        <p:nvSpPr>
          <p:cNvPr id="2" name="Text 0"/>
          <p:cNvSpPr txBox="1"/>
          <p:nvPr/>
        </p:nvSpPr>
        <p:spPr>
          <a:xfrm>
            <a:off x="548640" y="155448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2 — Overview</a:t>
            </a:r>
            <a:endParaRPr lang="en-US" sz="3000" dirty="0"/>
          </a:p>
        </p:txBody>
      </p:sp>
      <p:sp>
        <p:nvSpPr>
          <p:cNvPr id="3" name="Text 1"/>
          <p:cNvSpPr txBox="1"/>
          <p:nvPr/>
        </p:nvSpPr>
        <p:spPr>
          <a:xfrm>
            <a:off x="548640" y="2423160"/>
            <a:ext cx="8046720" cy="731520"/>
          </a:xfrm>
          <a:prstGeom prst="rect">
            <a:avLst/>
          </a:prstGeom>
          <a:noFill/>
          <a:ln/>
        </p:spPr>
        <p:txBody>
          <a:bodyPr wrap="square" lIns="0" tIns="0" rIns="0" bIns="0" rtlCol="0" anchor="ctr"/>
          <a:lstStyle/>
          <a:p>
            <a:pPr indent="0" marL="0">
              <a:buNone/>
            </a:pPr>
            <a:r>
              <a:rPr lang="en-US" sz="1700" dirty="0">
                <a:solidFill>
                  <a:srgbClr val="F7931A"/>
                </a:solidFill>
                <a:latin typeface="Calibri" pitchFamily="34" charset="0"/>
                <a:ea typeface="Calibri" pitchFamily="34" charset="-122"/>
                <a:cs typeface="Calibri" pitchFamily="34" charset="-120"/>
              </a:rPr>
              <a:t>Before then: work through the chapter 1 interactive page, and mine a block in its playground.</a:t>
            </a:r>
            <a:endParaRPr lang="en-US" sz="1700" dirty="0"/>
          </a:p>
        </p:txBody>
      </p:sp>
      <p:sp>
        <p:nvSpPr>
          <p:cNvPr id="4" name="Text 2"/>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1DA"/>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1 - Introduction to Bitcoin</dc:title>
  <dc:subject>PptxGenJS Presentation</dc:subject>
  <dc:creator>Yusuf Altunel</dc:creator>
  <cp:lastModifiedBy>Yusuf Altunel</cp:lastModifiedBy>
  <cp:revision>1</cp:revision>
  <dcterms:created xsi:type="dcterms:W3CDTF">2026-09-24T22:34:10Z</dcterms:created>
  <dcterms:modified xsi:type="dcterms:W3CDTF">2026-09-24T22:34:10Z</dcterms:modified>
</cp:coreProperties>
</file>