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0-1.jpg" ContentType="image/jpg"/>
  <Override PartName="/ppt/media/image-11-1.jpg" ContentType="image/jpg"/>
  <Override PartName="/ppt/media/image-12-1.jpg" ContentType="image/jpg"/>
  <Override PartName="/ppt/media/image-12-2.jpg" ContentType="image/jpg"/>
  <Override PartName="/ppt/media/image-16-1.jpg" ContentType="image/jpg"/>
  <Override PartName="/ppt/media/image-16-2.jpg" ContentType="image/jpg"/>
  <Override PartName="/ppt/media/image-16-3.jpg" ContentType="image/jpg"/>
  <Override PartName="/ppt/media/image-16-4.jpg" ContentType="image/jpg"/>
  <Override PartName="/ppt/media/image-16-5.jpg" ContentType="image/jpg"/>
  <Override PartName="/ppt/media/image-19-1.jpg" ContentType="image/jpg"/>
  <Override PartName="/ppt/media/image-23-1.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(BTC), by real halving date</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2009</c:v>
                  </c:pt>
                  <c:pt idx="1">
                    <c:v>2012</c:v>
                  </c:pt>
                  <c:pt idx="2">
                    <c:v>2016</c:v>
                  </c:pt>
                  <c:pt idx="3">
                    <c:v>2020</c:v>
                  </c:pt>
                  <c:pt idx="4">
                    <c:v>2024</c:v>
                  </c:pt>
                  <c:pt idx="5">
                    <c:v>~2028</c:v>
                  </c:pt>
                  <c:pt idx="6">
                    <c:v>~2032</c:v>
                  </c:pt>
                  <c:pt idx="7">
                    <c:v>~2036</c:v>
                  </c:pt>
                  <c:pt idx="8">
                    <c:v>~2040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the chapter's own concept taxonomy: ninety concepts in six branches, of which forty-two carry a worked example. The worked examples are re-run by the build under the interpreter named in each console caption, and the deck is refused if one stops agreeing. Figures that come from outside that run say Recorded or NOT EXECUTED on their own slide. The text is Mastering Bitcoin, third edition, chapter 1 (Antonopoulos and Harding, 2023), free under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stories carry the why, the programs carry the proof, and every slide number on this list is printed bottom-right as we pass it. A question to think about is this: which part do you expect to be hardest? The full explanation is on the course page, chapter 1,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full explanation is on the course page, chapter 1, in Money, Network, Wallet, Usage, Foundations and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stories explain why Bitcoin looks the way it does: a newspaper headline carved into the first block, the first purchase made with bitcoin, and forty years of failed attempts at digital money. Each story is dated and sourced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The source is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The source is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was not the first attempt at digital money. David Chaum's blind-signature ecash of the 1980s ended with the bankruptcy of his company DigiCash, and Adam Back's Hashcash of 1997 priced email spam with proof of work. Wei Dai's b-money and Nick Szabo's bit gold, both of 1998, were never built because neither could agree on a history without a leader. The sources are Nakamoto's 2008 paper and the original text of each author.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full explanation is on the course page, chapter 1,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island of Yap, wealth was held in rai, limestone discs up to four metres wide and far too heavy to move. When a stone changed owners it stayed where it lay, and only the community's shared memory of who owned it changed. That is a ledger without a bank, the idea Bitcoin rebuilds. The sources are Furness, The Island of Stone Money (1910), and Milton Friedman's Hoover working paper of 1991 with the same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has changed form many times: grain-ledger entries in Mesopotamia, the first struck coins in Lydia around 600 BCE, paper notes in Song-dynasty China, and goldsmiths' receipts that became bank money. In 1971 the dollar's last tie to gold was cut, leaving pure fiat money. Bitcoin is the next step in that sequence, money that exists only as digital records. The sources are standard monetary histories and chapter 1 of Mastering Bitcoin, third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compares traditional cash, digital money held at banks and cryptocurrency on who issues it, where it exists and who keeps the ledger. The remaining rows ask what sets the supply and how a payment settles. Read down a column to see one kind of money, and across a row to see which property changes. The difference in who keeps the ledger is the subject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 question to think about is this: which of these failures did cards fix? The full explanation is on the course page, chapter 1,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1998 - 2002. The web could sell before it could pay: cards were unsafe to type and banks had no internet rails. Confinity, founded 1998 by Max Levchin and Peter Thiel, and X.com, founded 1999 by Elon Musk, raced to fix it, merged in 2000, and became PayPal - sold to eBay for 1.5 billion dollars in 2002. The source is en.wikipedia.org/wiki/PayPal (Confinity 1998, X.com 1999, merger 2000, eBay acquisition 2002); en.wikipedia.org/wiki/Flooz.com and /wiki/Beenz.com (both closed 2001 in the dot-com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2007 - 2022. Money fails people in documented ways. Kenya, 2007: most adults had no bank, so Safaricom's M-Pesa turned phone credit into the country's money rail. The source is en.wikipedia.org/wiki/M-Pesa (Safaricom, 2007); en.wikipedia.org/wiki/2012-2013_Cypriot_financial_crisis (deposit levy, March 2013); en.wikipedia.org/wiki/Greek_government-debt_crisis (2015 capital controls, 60-euro limit); en.wikipedia.org/wiki/Hyperinflation_in_Venezuela (over 1,000,000% in 2018); CNBC 2022-03-02 and Fortune 2022-03-26 on Ukraine's official crypto donations (Alex Bornyakov, 35 million dollars within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double-spend is the act of spending the same unit of digital money more than once. The chapter lists it as the second of three basic questions for anyone accepting digital money: can I trust that the digital money can only be spent once (Antonopoulos and Harding, 2023). A question to think about is this: why does the same problem not exist for paper cash? The full explanation is on the course page, chapter 1, in Double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double-spend is the act of spending the same unit of digital money more than once. The chapter lists it as the second of three basic questions for anyone accepting digital money: can I trust that the digital money can only be spent once (Antonopoulos and Harding, 2023). A question to think about is this: what stops the network agreeing on the WRONG order? The full explanation is on the course page, chapter 1, in Double spend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 question to think about is this: how many satoshis buy a coffee at today's price? The full explanation is on the course page, chapter 1, in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 question to think about is this: why does the sum stop just short of 21 million? The full explanation is on the course page, chapter 1, in Supply and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The full explanation is on the course page, chapter 1, in Supply and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section addresses a question that every newcomer asks, namely who sets the price of bitcoin. The chapter's short answer is that the price is set by markets (Antonopoulos and Harding, 2023). The full explanation is on the course page, chapter 1, in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22 May 2010. For Bitcoin's first year and a half, nobody knew what a bitcoin was worth, because nobody had ever bought anything with one. Then Laszlo Hanyecz, a Florida programmer, offered 10,000 BTC on a forum to anyone who would bring him two pizzas - and someone did. The source is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point is a documented milestone - dollar parity in 2011, the first thousand in 2013, the 2017 and 2021 peaks - and the last one was fetched live from mempool.space and CoinGecko while this deck was built, agreeing within 0.1 percent. A question to think about is this: why does this chart need a log scale? The full explanation is on the course page, chapter 1, in Price; story companion and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The full explanation is on the course page, chapter 1, in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 question to think about is this: what breaks first in each picture if one machine lies? The full explanation is on the course page, chapter 1, in Network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peer starts out knowing two neighbours, and in each round it asks the peers it has just found for their neighbours. The program counts the rounds of gossip until all seven peers are known, and it reports four. No server or registry is involved, which is why the network needs no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state in which the participants of the network agree on the same record of transactions. The full explanation is on the course page, chapter 1, in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state in which the participants of the network agree on the same record of transactions. The full explanation is on the course page, chapter 1, in Consensus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The full explanation is on the course page, chapter 1, in Wallet and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The full explanation is on the course page, chapter 1, in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is the question of who holds the private keys that unlock a wallet's funds. The chapter calls this a very important additional consideration and says that access to bitcoins is controlled by private keys, which are like very long PINs. Think about this case: your house has a registry if the key is lost. The full explanation is on the course page, chapter 1, in Key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is the question of who holds the private keys that unlock a wallet's funds. The chapter calls this a very important additional consideration and says that access to bitcoins is controlled by private keys, which are like very long PINs. A question to think about is this: which side was the exchange that lost its customers' coins on? The full explanation is on the course page, chapter 1, in Key control, Wallet platform and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Mt Gox of Tokyo, led by Mark Karpeles, was once the largest bitcoin exchange in the world. In February 2014 it halted withdrawals, filed for bankruptcy and admitted that about 850,000 bitcoins were gone. Customers had balances on a website, but the keys, and therefore the coins, had been in someone else's hands all along. The figure comes from the Tokyo District Court filing of 28 February 2014 and is reported here, not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The full explanation is on the course page, chapter 1, in Backup and Key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Acquisition section lists the ways in which a newcomer obtains a first bitcoin, which is the practical problem a reader faces as soon as the wallet is installed. The full explanation is on the course page, chapter 1, in Acquisition, Address and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The full explanation is on the course page, chapter 1, in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The full explanation is on the course page, chapter 1, in Foundations and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full explanation is on the course page, chapter 1, in Chain and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full explanation is on the course page, chapter 1, in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The full explanation is on the course page, chapter 1, in Computing and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branch answers a question that precedes all the others: what kind of thing is Bitcoin? Chapter 1 gives two complementary answers. The full explanation is on the course page, chapter 1, in Nature, Characteristic and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The full explanation is on the course page, chapter 1, in Transfer and Semantic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of them still feels like a claim rather than a fact, the agenda slide names the slides that prove it - and the course page carries the full text. A question to think about is this: which line would you defend to a sceptic first, and with which slide? The full explanation is on the course page, chapter 1,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free. The whitepaper is nine pages - read it this week; the textbook is the one this course follows, free under CC BY-SA in the same repository our materials pin. A question to think about is this: who can find today's newest block on mempool.space before the break ends? The full explanation is on the course page, chapter 1, in Standards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claims you should now be able to make: what a bitcoin is and how far it divides, why twenty-one million is arithmetic and not a promise, and what replaces the bank in the middle. Each claim is proved in a later chapter, and the last box on the slide names the chapter that opens each branch we drew. If you cannot yet say one of them in your own words, return to its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hyperlink" Target="https://www.money.org/money-museum/virtual-exhibits/hom" TargetMode="Externa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www.sec.gov/Archives/edgar/data/1103415/000091205701533855/a2059025zs-1.htm"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hyperlink" Target="https://en.wikipedia.org/wiki/M-Pesa" TargetMode="External"/><Relationship Id="rId3" Type="http://schemas.openxmlformats.org/officeDocument/2006/relationships/image" Target="../media/image-16-2.jpg"/><Relationship Id="rId4" Type="http://schemas.openxmlformats.org/officeDocument/2006/relationships/hyperlink" Target="https://en.wikipedia.org/wiki/2012%E2%80%932013_Cypriot_financial_crisis" TargetMode="External"/><Relationship Id="rId5" Type="http://schemas.openxmlformats.org/officeDocument/2006/relationships/image" Target="../media/image-16-3.jpg"/><Relationship Id="rId6" Type="http://schemas.openxmlformats.org/officeDocument/2006/relationships/hyperlink" Target="https://en.wikipedia.org/wiki/Greek_government-debt_crisis" TargetMode="External"/><Relationship Id="rId7" Type="http://schemas.openxmlformats.org/officeDocument/2006/relationships/image" Target="../media/image-16-4.jpg"/><Relationship Id="rId8" Type="http://schemas.openxmlformats.org/officeDocument/2006/relationships/hyperlink" Target="https://en.wikipedia.org/wiki/Hyperinflation_in_Venezuela" TargetMode="External"/><Relationship Id="rId9" Type="http://schemas.openxmlformats.org/officeDocument/2006/relationships/image" Target="../media/image-16-5.jpg"/><Relationship Id="rId10" Type="http://schemas.openxmlformats.org/officeDocument/2006/relationships/hyperlink" Target="https://www.cnbc.com/2022/03/02/ukraine-dogecoin-other-cryptocurrencies-accepted-for-donations.html" TargetMode="External"/><Relationship Id="rId11" Type="http://schemas.openxmlformats.org/officeDocument/2006/relationships/hyperlink" Target="https://www.cnbc.com/2022/03/02/ukraine-dogecoin-other-cryptocurrencies-accepted-for-donations.html" TargetMode="External"/><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techcrunch.com/2014/03/03/mt-gox-posts-new-statement-on-alleged-theft-bankruptcy-filing/" TargetMode="Externa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en/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web.archive.org/web/2023/http://www.hashcash.org/papers/hashcash.pdf" TargetMode="External"/><Relationship Id="rId11" Type="http://schemas.openxmlformats.org/officeDocument/2006/relationships/hyperlink" Target="https://web.archive.org/web/2023/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Outcomes, questions, and the chapter map  (slides 3-5)</a:t>
            </a:r>
            <a:endParaRPr lang="en-US" sz="12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 three true stories  (slides 6-9)</a:t>
            </a:r>
            <a:endParaRPr lang="en-US" sz="12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 history, units, supply, price  (slides 10-24)</a:t>
            </a:r>
            <a:endParaRPr lang="en-US" sz="12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 peers, consensus, mining  (slides 25-29)</a:t>
            </a:r>
            <a:endParaRPr lang="en-US" sz="12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and first use - keys, custody, Alice  (slides 30-36)</a:t>
            </a:r>
            <a:endParaRPr lang="en-US" sz="12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nature, summary, and resources  (slides 37-46)</a:t>
            </a:r>
            <a:endParaRPr lang="en-US" sz="12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12</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one route - and every claim arrives with its receipt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331720"/>
          </a:xfrm>
          <a:prstGeom prst="rect">
            <a:avLst/>
          </a:prstGeom>
        </p:spPr>
      </p:pic>
      <p:sp>
        <p:nvSpPr>
          <p:cNvPr id="7" name="Text 4"/>
          <p:cNvSpPr txBox="1"/>
          <p:nvPr/>
        </p:nvSpPr>
        <p:spPr>
          <a:xfrm>
            <a:off x="457200" y="364845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Recorded: block 0's real 285 bytes, fetched from the live chain for this deck; its hash re-verified in the build</a:t>
            </a:r>
            <a:endParaRPr lang="en-US" sz="900" dirty="0"/>
          </a:p>
        </p:txBody>
      </p:sp>
      <p:sp>
        <p:nvSpPr>
          <p:cNvPr id="8" name="Shape 5"/>
          <p:cNvSpPr/>
          <p:nvPr/>
        </p:nvSpPr>
        <p:spPr>
          <a:xfrm>
            <a:off x="6080760" y="1234440"/>
            <a:ext cx="2606040" cy="219456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344168"/>
            <a:ext cx="2606040" cy="457200"/>
          </a:xfrm>
          <a:prstGeom prst="rect">
            <a:avLst/>
          </a:prstGeom>
          <a:noFill/>
          <a:ln/>
        </p:spPr>
        <p:txBody>
          <a:bodyPr wrap="square" lIns="0" tIns="0" rIns="0" bIns="0" rtlCol="0" anchor="ctr"/>
          <a:lstStyle/>
          <a:p>
            <a:pPr algn="ctr" indent="0" marL="0">
              <a:buNone/>
            </a:pPr>
            <a:r>
              <a:rPr lang="en-US" sz="1400" b="1" dirty="0">
                <a:solidFill>
                  <a:srgbClr val="2B2622"/>
                </a:solidFill>
                <a:latin typeface="Cambria" pitchFamily="34" charset="0"/>
                <a:ea typeface="Cambria" pitchFamily="34" charset="-122"/>
                <a:cs typeface="Cambria" pitchFamily="34" charset="-120"/>
              </a:rPr>
              <a:t>The Times</a:t>
            </a:r>
            <a:endParaRPr lang="en-US" sz="1400" dirty="0"/>
          </a:p>
        </p:txBody>
      </p:sp>
      <p:sp>
        <p:nvSpPr>
          <p:cNvPr id="10" name="Shape 7"/>
          <p:cNvSpPr/>
          <p:nvPr/>
        </p:nvSpPr>
        <p:spPr>
          <a:xfrm>
            <a:off x="6309360" y="1856232"/>
            <a:ext cx="2148840" cy="0"/>
          </a:xfrm>
          <a:prstGeom prst="line">
            <a:avLst/>
          </a:prstGeom>
          <a:noFill/>
          <a:ln w="12700">
            <a:solidFill>
              <a:srgbClr val="2B2622"/>
            </a:solidFill>
            <a:prstDash val="solid"/>
          </a:ln>
        </p:spPr>
      </p:sp>
      <p:sp>
        <p:nvSpPr>
          <p:cNvPr id="11" name="Text 8"/>
          <p:cNvSpPr txBox="1"/>
          <p:nvPr/>
        </p:nvSpPr>
        <p:spPr>
          <a:xfrm>
            <a:off x="6080760" y="1892808"/>
            <a:ext cx="26060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Saturday January 3 2009</a:t>
            </a:r>
            <a:endParaRPr lang="en-US" sz="1050" dirty="0"/>
          </a:p>
        </p:txBody>
      </p:sp>
      <p:sp>
        <p:nvSpPr>
          <p:cNvPr id="12" name="Text 9"/>
          <p:cNvSpPr txBox="1"/>
          <p:nvPr/>
        </p:nvSpPr>
        <p:spPr>
          <a:xfrm>
            <a:off x="6245352" y="2130552"/>
            <a:ext cx="22768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Chancellor on brink of second bailout for banks</a:t>
            </a:r>
            <a:endParaRPr lang="en-US" sz="1150" dirty="0"/>
          </a:p>
        </p:txBody>
      </p:sp>
      <p:sp>
        <p:nvSpPr>
          <p:cNvPr id="13" name="Shape 10"/>
          <p:cNvSpPr/>
          <p:nvPr/>
        </p:nvSpPr>
        <p:spPr>
          <a:xfrm>
            <a:off x="6332220" y="3026664"/>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3026664"/>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666744"/>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456432"/>
            <a:ext cx="2331720" cy="54864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orange bytes ARE the headline</a:t>
            </a:r>
            <a:endParaRPr lang="en-US" sz="1100" dirty="0"/>
          </a:p>
        </p:txBody>
      </p:sp>
      <p:sp>
        <p:nvSpPr>
          <p:cNvPr id="17" name="Shape 14"/>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9" name="Shape 16"/>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 i…</a:t>
            </a:r>
            <a:endParaRPr lang="en-US" sz="750" dirty="0"/>
          </a:p>
        </p:txBody>
      </p:sp>
      <p:sp>
        <p:nvSpPr>
          <p:cNvPr id="21" name="Shape 18"/>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3 January 2009</a:t>
            </a:r>
            <a:endParaRPr lang="en-US" sz="750" dirty="0"/>
          </a:p>
        </p:txBody>
      </p:sp>
      <p:sp>
        <p:nvSpPr>
          <p:cNvPr id="23" name="Shape 20"/>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with the headline (tx)</a:t>
            </a:r>
            <a:endParaRPr lang="en-US" sz="7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2651760"/>
          </a:xfrm>
          <a:prstGeom prst="rect">
            <a:avLst/>
          </a:prstGeom>
        </p:spPr>
      </p:pic>
      <p:sp>
        <p:nvSpPr>
          <p:cNvPr id="7" name="Text 4"/>
          <p:cNvSpPr txBox="1"/>
          <p:nvPr/>
        </p:nvSpPr>
        <p:spPr>
          <a:xfrm>
            <a:off x="457200" y="39959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994867"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3474720" y="3703320"/>
            <a:ext cx="84856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t>
            </a:r>
            <a:endParaRPr lang="en-US" sz="750" dirty="0"/>
          </a:p>
        </p:txBody>
      </p:sp>
      <p:sp>
        <p:nvSpPr>
          <p:cNvPr id="16" name="Shape 13"/>
          <p:cNvSpPr/>
          <p:nvPr/>
        </p:nvSpPr>
        <p:spPr>
          <a:xfrm>
            <a:off x="4487875" y="3703320"/>
            <a:ext cx="945124"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4579315" y="3703320"/>
            <a:ext cx="79882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18" name="Shape 15"/>
          <p:cNvSpPr/>
          <p:nvPr/>
        </p:nvSpPr>
        <p:spPr>
          <a:xfrm>
            <a:off x="5542727" y="3703320"/>
            <a:ext cx="84563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634167" y="3703320"/>
            <a:ext cx="6993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Januar…</a:t>
            </a:r>
            <a:endParaRPr lang="en-US" sz="750" dirty="0"/>
          </a:p>
        </p:txBody>
      </p:sp>
      <p:sp>
        <p:nvSpPr>
          <p:cNvPr id="20" name="Shape 17"/>
          <p:cNvSpPr/>
          <p:nvPr/>
        </p:nvSpPr>
        <p:spPr>
          <a:xfrm>
            <a:off x="6498092" y="3703320"/>
            <a:ext cx="2188708"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6589532" y="3703320"/>
            <a:ext cx="2042404"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95528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72668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 - agreement without a leader was missing</a:t>
            </a:r>
            <a:endParaRPr lang="en-US" sz="1300" dirty="0"/>
          </a:p>
        </p:txBody>
      </p:sp>
      <p:sp>
        <p:nvSpPr>
          <p:cNvPr id="23" name="Shape 21"/>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 …</a:t>
            </a:r>
            <a:endParaRPr lang="en-US" sz="750" dirty="0"/>
          </a:p>
        </p:txBody>
      </p:sp>
      <p:sp>
        <p:nvSpPr>
          <p:cNvPr id="25" name="Shape 23"/>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academic papers and ma…</a:t>
            </a:r>
            <a:endParaRPr lang="en-US" sz="750" dirty="0"/>
          </a:p>
        </p:txBody>
      </p:sp>
      <p:sp>
        <p:nvSpPr>
          <p:cNvPr id="27" name="Shape 25"/>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1982 - 2008</a:t>
            </a:r>
            <a:endParaRPr lang="en-US" sz="750" dirty="0"/>
          </a:p>
        </p:txBody>
      </p:sp>
      <p:sp>
        <p:nvSpPr>
          <p:cNvPr id="29" name="Shape 27"/>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0" name="Text 28"/>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2588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200" dirty="0"/>
          </a:p>
        </p:txBody>
      </p:sp>
      <p:sp>
        <p:nvSpPr>
          <p:cNvPr id="10" name="Shape 7"/>
          <p:cNvSpPr/>
          <p:nvPr/>
        </p:nvSpPr>
        <p:spPr>
          <a:xfrm>
            <a:off x="361188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69164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200" dirty="0"/>
          </a:p>
        </p:txBody>
      </p:sp>
      <p:sp>
        <p:nvSpPr>
          <p:cNvPr id="12" name="Shape 9"/>
          <p:cNvSpPr/>
          <p:nvPr/>
        </p:nvSpPr>
        <p:spPr>
          <a:xfrm>
            <a:off x="361188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05740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One stone sank at sea - and kept changing owners anyway</a:t>
            </a:r>
            <a:endParaRPr lang="en-US" sz="1200" dirty="0"/>
          </a:p>
        </p:txBody>
      </p:sp>
      <p:sp>
        <p:nvSpPr>
          <p:cNvPr id="14" name="Shape 11"/>
          <p:cNvSpPr/>
          <p:nvPr/>
        </p:nvSpPr>
        <p:spPr>
          <a:xfrm>
            <a:off x="4005072" y="2514600"/>
            <a:ext cx="950976" cy="950976"/>
          </a:xfrm>
          <a:prstGeom prst="ellipse">
            <a:avLst/>
          </a:prstGeom>
          <a:solidFill>
            <a:srgbClr val="DFD6C7"/>
          </a:solidFill>
          <a:ln w="25400">
            <a:solidFill>
              <a:srgbClr val="6E655C"/>
            </a:solidFill>
            <a:prstDash val="solid"/>
          </a:ln>
        </p:spPr>
      </p:sp>
      <p:sp>
        <p:nvSpPr>
          <p:cNvPr id="15" name="Shape 12"/>
          <p:cNvSpPr/>
          <p:nvPr/>
        </p:nvSpPr>
        <p:spPr>
          <a:xfrm>
            <a:off x="4352544" y="2880360"/>
            <a:ext cx="256032" cy="256032"/>
          </a:xfrm>
          <a:prstGeom prst="ellipse">
            <a:avLst/>
          </a:prstGeom>
          <a:solidFill>
            <a:srgbClr val="FAF6EF"/>
          </a:solidFill>
          <a:ln w="19050">
            <a:solidFill>
              <a:srgbClr val="6E655C"/>
            </a:solidFill>
            <a:prstDash val="solid"/>
          </a:ln>
        </p:spPr>
      </p:sp>
      <p:sp>
        <p:nvSpPr>
          <p:cNvPr id="16" name="Text 13"/>
          <p:cNvSpPr txBox="1"/>
          <p:nvPr/>
        </p:nvSpPr>
        <p:spPr>
          <a:xfrm>
            <a:off x="370332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2990088"/>
            <a:ext cx="548640" cy="0"/>
          </a:xfrm>
          <a:prstGeom prst="line">
            <a:avLst/>
          </a:prstGeom>
          <a:noFill/>
          <a:ln w="25400">
            <a:solidFill>
              <a:srgbClr val="D97A14"/>
            </a:solidFill>
            <a:prstDash val="solid"/>
            <a:tailEnd type="triangle"/>
          </a:ln>
        </p:spPr>
      </p:sp>
      <p:sp>
        <p:nvSpPr>
          <p:cNvPr id="18" name="Shape 15"/>
          <p:cNvSpPr/>
          <p:nvPr/>
        </p:nvSpPr>
        <p:spPr>
          <a:xfrm>
            <a:off x="5650992" y="2514600"/>
            <a:ext cx="950976" cy="950976"/>
          </a:xfrm>
          <a:prstGeom prst="ellipse">
            <a:avLst/>
          </a:prstGeom>
          <a:solidFill>
            <a:srgbClr val="DFD6C7"/>
          </a:solidFill>
          <a:ln w="25400">
            <a:solidFill>
              <a:srgbClr val="6E655C"/>
            </a:solidFill>
            <a:prstDash val="solid"/>
          </a:ln>
        </p:spPr>
      </p:sp>
      <p:sp>
        <p:nvSpPr>
          <p:cNvPr id="19" name="Shape 16"/>
          <p:cNvSpPr/>
          <p:nvPr/>
        </p:nvSpPr>
        <p:spPr>
          <a:xfrm>
            <a:off x="5998464" y="2880360"/>
            <a:ext cx="256032" cy="256032"/>
          </a:xfrm>
          <a:prstGeom prst="ellipse">
            <a:avLst/>
          </a:prstGeom>
          <a:solidFill>
            <a:srgbClr val="FAF6EF"/>
          </a:solidFill>
          <a:ln w="19050">
            <a:solidFill>
              <a:srgbClr val="6E655C"/>
            </a:solidFill>
            <a:prstDash val="solid"/>
          </a:ln>
        </p:spPr>
      </p:sp>
      <p:sp>
        <p:nvSpPr>
          <p:cNvPr id="20" name="Text 17"/>
          <p:cNvSpPr txBox="1"/>
          <p:nvPr/>
        </p:nvSpPr>
        <p:spPr>
          <a:xfrm>
            <a:off x="534924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2990088"/>
            <a:ext cx="548640" cy="0"/>
          </a:xfrm>
          <a:prstGeom prst="line">
            <a:avLst/>
          </a:prstGeom>
          <a:noFill/>
          <a:ln w="25400">
            <a:solidFill>
              <a:srgbClr val="D97A14"/>
            </a:solidFill>
            <a:prstDash val="solid"/>
            <a:tailEnd type="triangle"/>
          </a:ln>
        </p:spPr>
      </p:sp>
      <p:sp>
        <p:nvSpPr>
          <p:cNvPr id="22" name="Shape 19"/>
          <p:cNvSpPr/>
          <p:nvPr/>
        </p:nvSpPr>
        <p:spPr>
          <a:xfrm>
            <a:off x="7296912" y="2514600"/>
            <a:ext cx="950976" cy="950976"/>
          </a:xfrm>
          <a:prstGeom prst="ellipse">
            <a:avLst/>
          </a:prstGeom>
          <a:solidFill>
            <a:srgbClr val="DFD6C7"/>
          </a:solidFill>
          <a:ln w="25400">
            <a:solidFill>
              <a:srgbClr val="6E655C"/>
            </a:solidFill>
            <a:prstDash val="solid"/>
          </a:ln>
        </p:spPr>
      </p:sp>
      <p:sp>
        <p:nvSpPr>
          <p:cNvPr id="23" name="Shape 20"/>
          <p:cNvSpPr/>
          <p:nvPr/>
        </p:nvSpPr>
        <p:spPr>
          <a:xfrm>
            <a:off x="7644384" y="2880360"/>
            <a:ext cx="256032" cy="256032"/>
          </a:xfrm>
          <a:prstGeom prst="ellipse">
            <a:avLst/>
          </a:prstGeom>
          <a:solidFill>
            <a:srgbClr val="FAF6EF"/>
          </a:solidFill>
          <a:ln w="19050">
            <a:solidFill>
              <a:srgbClr val="6E655C"/>
            </a:solidFill>
            <a:prstDash val="solid"/>
          </a:ln>
        </p:spPr>
      </p:sp>
      <p:sp>
        <p:nvSpPr>
          <p:cNvPr id="24" name="Text 21"/>
          <p:cNvSpPr txBox="1"/>
          <p:nvPr/>
        </p:nvSpPr>
        <p:spPr>
          <a:xfrm>
            <a:off x="699516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3858768"/>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3611880" y="4160520"/>
            <a:ext cx="949147"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3703320" y="4160520"/>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Yape…</a:t>
            </a:r>
            <a:endParaRPr lang="en-US" sz="750" dirty="0"/>
          </a:p>
        </p:txBody>
      </p:sp>
      <p:sp>
        <p:nvSpPr>
          <p:cNvPr id="28" name="Shape 25"/>
          <p:cNvSpPr/>
          <p:nvPr/>
        </p:nvSpPr>
        <p:spPr>
          <a:xfrm>
            <a:off x="4670755" y="4160520"/>
            <a:ext cx="901690"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4762195" y="4160520"/>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a:t>
            </a:r>
            <a:endParaRPr lang="en-US" sz="750" dirty="0"/>
          </a:p>
        </p:txBody>
      </p:sp>
      <p:sp>
        <p:nvSpPr>
          <p:cNvPr id="30" name="Shape 27"/>
          <p:cNvSpPr/>
          <p:nvPr/>
        </p:nvSpPr>
        <p:spPr>
          <a:xfrm>
            <a:off x="5682173" y="4160520"/>
            <a:ext cx="806775"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5773613" y="416052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Yap, …</a:t>
            </a:r>
            <a:endParaRPr lang="en-US" sz="750" dirty="0"/>
          </a:p>
        </p:txBody>
      </p:sp>
      <p:sp>
        <p:nvSpPr>
          <p:cNvPr id="32" name="Shape 29"/>
          <p:cNvSpPr/>
          <p:nvPr/>
        </p:nvSpPr>
        <p:spPr>
          <a:xfrm>
            <a:off x="6598676" y="4160520"/>
            <a:ext cx="2088124"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6690116" y="4160520"/>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371600"/>
            <a:ext cx="1600200" cy="1005840"/>
          </a:xfrm>
          <a:prstGeom prst="rect">
            <a:avLst/>
          </a:prstGeom>
        </p:spPr>
      </p:pic>
      <p:sp>
        <p:nvSpPr>
          <p:cNvPr id="8" name="Text 5"/>
          <p:cNvSpPr txBox="1"/>
          <p:nvPr/>
        </p:nvSpPr>
        <p:spPr>
          <a:xfrm>
            <a:off x="685800" y="239572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903720" y="1371600"/>
            <a:ext cx="1600200" cy="1005840"/>
          </a:xfrm>
          <a:prstGeom prst="rect">
            <a:avLst/>
          </a:prstGeom>
        </p:spPr>
      </p:pic>
      <p:sp>
        <p:nvSpPr>
          <p:cNvPr id="10" name="Text 6"/>
          <p:cNvSpPr txBox="1"/>
          <p:nvPr/>
        </p:nvSpPr>
        <p:spPr>
          <a:xfrm>
            <a:off x="6903720" y="239572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CMA, CC0</a:t>
            </a:r>
            <a:endParaRPr lang="en-US" sz="900" dirty="0"/>
          </a:p>
        </p:txBody>
      </p:sp>
      <p:sp>
        <p:nvSpPr>
          <p:cNvPr id="11" name="Text 7"/>
          <p:cNvSpPr txBox="1"/>
          <p:nvPr/>
        </p:nvSpPr>
        <p:spPr>
          <a:xfrm>
            <a:off x="2514600" y="1737360"/>
            <a:ext cx="420624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249778"/>
            <a:ext cx="8229600" cy="0"/>
          </a:xfrm>
          <a:prstGeom prst="line">
            <a:avLst/>
          </a:prstGeom>
          <a:noFill/>
          <a:ln w="25400">
            <a:solidFill>
              <a:srgbClr val="C9BFAE"/>
            </a:solidFill>
            <a:prstDash val="solid"/>
          </a:ln>
        </p:spPr>
      </p:sp>
      <p:sp>
        <p:nvSpPr>
          <p:cNvPr id="13" name="Shape 9"/>
          <p:cNvSpPr/>
          <p:nvPr/>
        </p:nvSpPr>
        <p:spPr>
          <a:xfrm>
            <a:off x="557784" y="3167482"/>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2774290"/>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377794"/>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167482"/>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167482"/>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167482"/>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167482"/>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167482"/>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955280" y="2774290"/>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726680" y="3377794"/>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32" name="Text 28"/>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ledger-keepers, from tem…</a:t>
            </a:r>
            <a:endParaRPr lang="en-US" sz="750" dirty="0"/>
          </a:p>
        </p:txBody>
      </p:sp>
      <p:sp>
        <p:nvSpPr>
          <p:cNvPr id="33" name="Shape 29"/>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34" name="Text 30"/>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Lydia, Ch…</a:t>
            </a:r>
            <a:endParaRPr lang="en-US" sz="750" dirty="0"/>
          </a:p>
        </p:txBody>
      </p:sp>
      <p:sp>
        <p:nvSpPr>
          <p:cNvPr id="35" name="Shape 31"/>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36" name="Text 32"/>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c. 3000 BCE - 20…</a:t>
            </a:r>
            <a:endParaRPr lang="en-US" sz="750" dirty="0"/>
          </a:p>
        </p:txBody>
      </p:sp>
      <p:sp>
        <p:nvSpPr>
          <p:cNvPr id="37" name="Shape 33"/>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38" name="Text 34"/>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39"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41"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asking why Bitcoin exists, remember the dot-com race: the web needed money, companies built it as accounts - and the failures took their users' balances down with them.</a:t>
            </a:r>
            <a:endParaRPr lang="en-US" sz="1250" dirty="0"/>
          </a:p>
        </p:txBody>
      </p:sp>
      <p:sp>
        <p:nvSpPr>
          <p:cNvPr id="7" name="Shape 5"/>
          <p:cNvSpPr/>
          <p:nvPr/>
        </p:nvSpPr>
        <p:spPr>
          <a:xfrm>
            <a:off x="457200" y="2329891"/>
            <a:ext cx="8229600" cy="0"/>
          </a:xfrm>
          <a:prstGeom prst="line">
            <a:avLst/>
          </a:prstGeom>
          <a:noFill/>
          <a:ln w="25400">
            <a:solidFill>
              <a:srgbClr val="C9BFAE"/>
            </a:solidFill>
            <a:prstDash val="solid"/>
          </a:ln>
        </p:spPr>
      </p:sp>
      <p:sp>
        <p:nvSpPr>
          <p:cNvPr id="8" name="Shape 6"/>
          <p:cNvSpPr/>
          <p:nvPr/>
        </p:nvSpPr>
        <p:spPr>
          <a:xfrm>
            <a:off x="557784" y="2247595"/>
            <a:ext cx="164592" cy="164592"/>
          </a:xfrm>
          <a:prstGeom prst="ellipse">
            <a:avLst/>
          </a:prstGeom>
          <a:solidFill>
            <a:srgbClr val="2F6D62"/>
          </a:solidFill>
          <a:ln w="12700">
            <a:solidFill>
              <a:srgbClr val="FFFFFF"/>
            </a:solidFill>
            <a:prstDash val="solid"/>
          </a:ln>
        </p:spPr>
      </p:sp>
      <p:sp>
        <p:nvSpPr>
          <p:cNvPr id="9" name="Text 7"/>
          <p:cNvSpPr txBox="1"/>
          <p:nvPr/>
        </p:nvSpPr>
        <p:spPr>
          <a:xfrm>
            <a:off x="365760" y="1854403"/>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0" name="Text 8"/>
          <p:cNvSpPr txBox="1"/>
          <p:nvPr/>
        </p:nvSpPr>
        <p:spPr>
          <a:xfrm>
            <a:off x="365760" y="2457907"/>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Confinity - Levchin and Thiel</a:t>
            </a:r>
            <a:endParaRPr lang="en-US" sz="1000" dirty="0"/>
          </a:p>
        </p:txBody>
      </p:sp>
      <p:sp>
        <p:nvSpPr>
          <p:cNvPr id="11" name="Shape 9"/>
          <p:cNvSpPr/>
          <p:nvPr/>
        </p:nvSpPr>
        <p:spPr>
          <a:xfrm>
            <a:off x="2523744" y="2247595"/>
            <a:ext cx="164592" cy="164592"/>
          </a:xfrm>
          <a:prstGeom prst="ellipse">
            <a:avLst/>
          </a:prstGeom>
          <a:solidFill>
            <a:srgbClr val="2F6D62"/>
          </a:solidFill>
          <a:ln w="12700">
            <a:solidFill>
              <a:srgbClr val="FFFFFF"/>
            </a:solidFill>
            <a:prstDash val="solid"/>
          </a:ln>
        </p:spPr>
      </p:sp>
      <p:sp>
        <p:nvSpPr>
          <p:cNvPr id="12" name="Text 10"/>
          <p:cNvSpPr txBox="1"/>
          <p:nvPr/>
        </p:nvSpPr>
        <p:spPr>
          <a:xfrm>
            <a:off x="205740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1999</a:t>
            </a:r>
            <a:endParaRPr lang="en-US" sz="1200" dirty="0"/>
          </a:p>
        </p:txBody>
      </p:sp>
      <p:sp>
        <p:nvSpPr>
          <p:cNvPr id="13" name="Text 11"/>
          <p:cNvSpPr txBox="1"/>
          <p:nvPr/>
        </p:nvSpPr>
        <p:spPr>
          <a:xfrm>
            <a:off x="182880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X.com - Elon Musk</a:t>
            </a:r>
            <a:endParaRPr lang="en-US" sz="1000" dirty="0"/>
          </a:p>
        </p:txBody>
      </p:sp>
      <p:sp>
        <p:nvSpPr>
          <p:cNvPr id="14" name="Shape 12"/>
          <p:cNvSpPr/>
          <p:nvPr/>
        </p:nvSpPr>
        <p:spPr>
          <a:xfrm>
            <a:off x="4489704" y="2247595"/>
            <a:ext cx="164592" cy="164592"/>
          </a:xfrm>
          <a:prstGeom prst="ellipse">
            <a:avLst/>
          </a:prstGeom>
          <a:solidFill>
            <a:srgbClr val="2F6D62"/>
          </a:solidFill>
          <a:ln w="12700">
            <a:solidFill>
              <a:srgbClr val="FFFFFF"/>
            </a:solidFill>
            <a:prstDash val="solid"/>
          </a:ln>
        </p:spPr>
      </p:sp>
      <p:sp>
        <p:nvSpPr>
          <p:cNvPr id="15" name="Text 13"/>
          <p:cNvSpPr txBox="1"/>
          <p:nvPr/>
        </p:nvSpPr>
        <p:spPr>
          <a:xfrm>
            <a:off x="40233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2000</a:t>
            </a:r>
            <a:endParaRPr lang="en-US" sz="1200" dirty="0"/>
          </a:p>
        </p:txBody>
      </p:sp>
      <p:sp>
        <p:nvSpPr>
          <p:cNvPr id="16" name="Text 14"/>
          <p:cNvSpPr txBox="1"/>
          <p:nvPr/>
        </p:nvSpPr>
        <p:spPr>
          <a:xfrm>
            <a:off x="3794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they merge; dot-com crash begins</a:t>
            </a:r>
            <a:endParaRPr lang="en-US" sz="1000" dirty="0"/>
          </a:p>
        </p:txBody>
      </p:sp>
      <p:sp>
        <p:nvSpPr>
          <p:cNvPr id="17" name="Shape 15"/>
          <p:cNvSpPr/>
          <p:nvPr/>
        </p:nvSpPr>
        <p:spPr>
          <a:xfrm>
            <a:off x="6455664" y="2247595"/>
            <a:ext cx="164592" cy="164592"/>
          </a:xfrm>
          <a:prstGeom prst="ellipse">
            <a:avLst/>
          </a:prstGeom>
          <a:solidFill>
            <a:srgbClr val="D97A14"/>
          </a:solidFill>
          <a:ln w="12700">
            <a:solidFill>
              <a:srgbClr val="FFFFFF"/>
            </a:solidFill>
            <a:prstDash val="solid"/>
          </a:ln>
        </p:spPr>
      </p:sp>
      <p:sp>
        <p:nvSpPr>
          <p:cNvPr id="18" name="Text 16"/>
          <p:cNvSpPr txBox="1"/>
          <p:nvPr/>
        </p:nvSpPr>
        <p:spPr>
          <a:xfrm>
            <a:off x="5989320" y="1854403"/>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2001</a:t>
            </a:r>
            <a:endParaRPr lang="en-US" sz="1200" dirty="0"/>
          </a:p>
        </p:txBody>
      </p:sp>
      <p:sp>
        <p:nvSpPr>
          <p:cNvPr id="19" name="Text 17"/>
          <p:cNvSpPr txBox="1"/>
          <p:nvPr/>
        </p:nvSpPr>
        <p:spPr>
          <a:xfrm>
            <a:off x="576072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Beenz and Flooz die with the crash</a:t>
            </a:r>
            <a:endParaRPr lang="en-US" sz="1000" dirty="0"/>
          </a:p>
        </p:txBody>
      </p:sp>
      <p:sp>
        <p:nvSpPr>
          <p:cNvPr id="20" name="Shape 18"/>
          <p:cNvSpPr/>
          <p:nvPr/>
        </p:nvSpPr>
        <p:spPr>
          <a:xfrm>
            <a:off x="8421624" y="2247595"/>
            <a:ext cx="164592" cy="164592"/>
          </a:xfrm>
          <a:prstGeom prst="ellipse">
            <a:avLst/>
          </a:prstGeom>
          <a:solidFill>
            <a:srgbClr val="2F6D62"/>
          </a:solidFill>
          <a:ln w="12700">
            <a:solidFill>
              <a:srgbClr val="FFFFFF"/>
            </a:solidFill>
            <a:prstDash val="solid"/>
          </a:ln>
        </p:spPr>
      </p:sp>
      <p:sp>
        <p:nvSpPr>
          <p:cNvPr id="21" name="Text 19"/>
          <p:cNvSpPr txBox="1"/>
          <p:nvPr/>
        </p:nvSpPr>
        <p:spPr>
          <a:xfrm>
            <a:off x="7955280" y="1854403"/>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2002</a:t>
            </a:r>
            <a:endParaRPr lang="en-US" sz="1200" dirty="0"/>
          </a:p>
        </p:txBody>
      </p:sp>
      <p:sp>
        <p:nvSpPr>
          <p:cNvPr id="22" name="Text 20"/>
          <p:cNvSpPr txBox="1"/>
          <p:nvPr/>
        </p:nvSpPr>
        <p:spPr>
          <a:xfrm>
            <a:off x="7726680" y="2457907"/>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PayPal sold to eBay, $1.5B</a:t>
            </a:r>
            <a:endParaRPr lang="en-US" sz="1000" dirty="0"/>
          </a:p>
        </p:txBody>
      </p:sp>
      <p:sp>
        <p:nvSpPr>
          <p:cNvPr id="23" name="Text 21"/>
          <p:cNvSpPr txBox="1"/>
          <p:nvPr/>
        </p:nvSpPr>
        <p:spPr>
          <a:xfrm>
            <a:off x="457200" y="3383280"/>
            <a:ext cx="6812280" cy="548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What survived was account money on one company's ledger - convenient, reversible, and censorable</a:t>
            </a:r>
            <a:endParaRPr lang="en-US" sz="1250" dirty="0"/>
          </a:p>
        </p:txBody>
      </p:sp>
      <p:pic>
        <p:nvPicPr>
          <p:cNvPr id="24" name="Image 0" descr="../../03-materials/ch01/assets/photo_paypal_logo.png">    </p:cNvPr>
          <p:cNvPicPr>
            <a:picLocks noChangeAspect="1"/>
          </p:cNvPicPr>
          <p:nvPr/>
        </p:nvPicPr>
        <p:blipFill>
          <a:blip r:embed="rId1"/>
          <a:srcRect l="0" r="0" t="0" b="0"/>
          <a:stretch/>
        </p:blipFill>
        <p:spPr>
          <a:xfrm>
            <a:off x="7589520" y="3200400"/>
            <a:ext cx="1097280" cy="731520"/>
          </a:xfrm>
          <a:prstGeom prst="rect">
            <a:avLst/>
          </a:prstGeom>
        </p:spPr>
      </p:pic>
      <p:sp>
        <p:nvSpPr>
          <p:cNvPr id="25" name="Shape 22"/>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Max Levchin and Peter Th…</a:t>
            </a:r>
            <a:endParaRPr lang="en-US" sz="750" dirty="0"/>
          </a:p>
        </p:txBody>
      </p:sp>
      <p:sp>
        <p:nvSpPr>
          <p:cNvPr id="27" name="Shape 24"/>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in the dot-…</a:t>
            </a:r>
            <a:endParaRPr lang="en-US" sz="750" dirty="0"/>
          </a:p>
        </p:txBody>
      </p:sp>
      <p:sp>
        <p:nvSpPr>
          <p:cNvPr id="29" name="Shape 26"/>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0" name="Text 27"/>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1998 - 2002</a:t>
            </a:r>
            <a:endParaRPr lang="en-US" sz="750" dirty="0"/>
          </a:p>
        </p:txBody>
      </p:sp>
      <p:sp>
        <p:nvSpPr>
          <p:cNvPr id="31" name="Shape 28"/>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2" name="Text 29"/>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Form S-1, 2001 (SEC filing)</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sec.gov</a:t>
            </a:r>
            <a:endParaRPr lang="en-US" sz="750" dirty="0"/>
          </a:p>
        </p:txBody>
      </p:sp>
      <p:sp>
        <p:nvSpPr>
          <p:cNvPr id="33"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Payments went online in 1998-2002; cash never did</a:t>
            </a:r>
            <a:endParaRPr lang="en-US" sz="1350" dirty="0"/>
          </a:p>
        </p:txBody>
      </p:sp>
      <p:sp>
        <p:nvSpPr>
          <p:cNvPr id="35"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 no hypotheticals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E-commerce without cards, aid without banks, savings under levies, wages under hyperinflation, a state under invasion: each card below is a real, dated case with its source.</a:t>
            </a:r>
            <a:endParaRPr lang="en-US" sz="1250" dirty="0"/>
          </a:p>
        </p:txBody>
      </p:sp>
      <p:sp>
        <p:nvSpPr>
          <p:cNvPr id="7" name="Shape 5"/>
          <p:cNvSpPr/>
          <p:nvPr/>
        </p:nvSpPr>
        <p:spPr>
          <a:xfrm>
            <a:off x="365760" y="1554480"/>
            <a:ext cx="1521562" cy="2359152"/>
          </a:xfrm>
          <a:prstGeom prst="roundRect">
            <a:avLst>
              <a:gd name="adj" fmla="val 6010"/>
            </a:avLst>
          </a:prstGeom>
          <a:solidFill>
            <a:srgbClr val="F2ECE1"/>
          </a:solidFill>
          <a:ln w="12700">
            <a:solidFill>
              <a:srgbClr val="DFD6C7"/>
            </a:solidFill>
            <a:prstDash val="solid"/>
          </a:ln>
        </p:spPr>
      </p:sp>
      <p:pic>
        <p:nvPicPr>
          <p:cNvPr id="8" name="Image 0" descr="../../03-materials/ch01/assets/photo_mpesa_agent.jpg">    </p:cNvPr>
          <p:cNvPicPr>
            <a:picLocks noChangeAspect="1"/>
          </p:cNvPicPr>
          <p:nvPr/>
        </p:nvPicPr>
        <p:blipFill>
          <a:blip r:embed="rId1"/>
          <a:srcRect l="0" r="0" t="0" b="0"/>
          <a:stretch/>
        </p:blipFill>
        <p:spPr>
          <a:xfrm>
            <a:off x="457200" y="1645920"/>
            <a:ext cx="1338682" cy="658368"/>
          </a:xfrm>
          <a:prstGeom prst="rect">
            <a:avLst/>
          </a:prstGeom>
        </p:spPr>
      </p:pic>
      <p:sp>
        <p:nvSpPr>
          <p:cNvPr id="9" name="Shape 6"/>
          <p:cNvSpPr/>
          <p:nvPr/>
        </p:nvSpPr>
        <p:spPr>
          <a:xfrm>
            <a:off x="475488" y="2359152"/>
            <a:ext cx="1302106" cy="329184"/>
          </a:xfrm>
          <a:prstGeom prst="roundRect">
            <a:avLst>
              <a:gd name="adj" fmla="val 50000"/>
            </a:avLst>
          </a:prstGeom>
          <a:solidFill>
            <a:srgbClr val="2F6D62"/>
          </a:solidFill>
          <a:ln w="12700">
            <a:solidFill>
              <a:srgbClr val="2F6D62"/>
            </a:solidFill>
            <a:prstDash val="solid"/>
          </a:ln>
        </p:spPr>
      </p:sp>
      <p:sp>
        <p:nvSpPr>
          <p:cNvPr id="10" name="Text 7"/>
          <p:cNvSpPr txBox="1"/>
          <p:nvPr/>
        </p:nvSpPr>
        <p:spPr>
          <a:xfrm>
            <a:off x="47548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Kenya  </a:t>
            </a:r>
            <a:r>
              <a:rPr lang="en-US" sz="1000" dirty="0">
                <a:solidFill>
                  <a:srgbClr val="D7E4E0"/>
                </a:solidFill>
                <a:latin typeface="Calibri" pitchFamily="34" charset="0"/>
                <a:ea typeface="Calibri" pitchFamily="34" charset="-122"/>
                <a:cs typeface="Calibri" pitchFamily="34" charset="-120"/>
              </a:rPr>
              <a:t>2007</a:t>
            </a:r>
            <a:endParaRPr lang="en-US" sz="1100" dirty="0"/>
          </a:p>
        </p:txBody>
      </p:sp>
      <p:sp>
        <p:nvSpPr>
          <p:cNvPr id="11" name="Text 8"/>
          <p:cNvSpPr txBox="1"/>
          <p:nvPr/>
        </p:nvSpPr>
        <p:spPr>
          <a:xfrm>
            <a:off x="49377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950" dirty="0"/>
          </a:p>
        </p:txBody>
      </p:sp>
      <p:sp>
        <p:nvSpPr>
          <p:cNvPr id="12" name="Text 9"/>
          <p:cNvSpPr txBox="1"/>
          <p:nvPr/>
        </p:nvSpPr>
        <p:spPr>
          <a:xfrm>
            <a:off x="49377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3" name="Shape 10"/>
          <p:cNvSpPr/>
          <p:nvPr/>
        </p:nvSpPr>
        <p:spPr>
          <a:xfrm>
            <a:off x="2088490" y="1554480"/>
            <a:ext cx="1521562" cy="2359152"/>
          </a:xfrm>
          <a:prstGeom prst="roundRect">
            <a:avLst>
              <a:gd name="adj" fmla="val 6010"/>
            </a:avLst>
          </a:prstGeom>
          <a:solidFill>
            <a:srgbClr val="F2ECE1"/>
          </a:solidFill>
          <a:ln w="12700">
            <a:solidFill>
              <a:srgbClr val="DFD6C7"/>
            </a:solidFill>
            <a:prstDash val="solid"/>
          </a:ln>
        </p:spPr>
      </p:sp>
      <p:pic>
        <p:nvPicPr>
          <p:cNvPr id="14" name="Image 1" descr="../../03-materials/ch01/assets/photo_laiki_bank.jpg">    </p:cNvPr>
          <p:cNvPicPr>
            <a:picLocks noChangeAspect="1"/>
          </p:cNvPicPr>
          <p:nvPr/>
        </p:nvPicPr>
        <p:blipFill>
          <a:blip r:embed="rId3"/>
          <a:srcRect l="0" r="0" t="0" b="0"/>
          <a:stretch/>
        </p:blipFill>
        <p:spPr>
          <a:xfrm>
            <a:off x="2179930" y="1645920"/>
            <a:ext cx="1338682" cy="658368"/>
          </a:xfrm>
          <a:prstGeom prst="rect">
            <a:avLst/>
          </a:prstGeom>
        </p:spPr>
      </p:pic>
      <p:sp>
        <p:nvSpPr>
          <p:cNvPr id="15" name="Shape 11"/>
          <p:cNvSpPr/>
          <p:nvPr/>
        </p:nvSpPr>
        <p:spPr>
          <a:xfrm>
            <a:off x="2198218" y="2359152"/>
            <a:ext cx="1302106" cy="329184"/>
          </a:xfrm>
          <a:prstGeom prst="roundRect">
            <a:avLst>
              <a:gd name="adj" fmla="val 50000"/>
            </a:avLst>
          </a:prstGeom>
          <a:solidFill>
            <a:srgbClr val="2F6D62"/>
          </a:solidFill>
          <a:ln w="12700">
            <a:solidFill>
              <a:srgbClr val="2F6D62"/>
            </a:solidFill>
            <a:prstDash val="solid"/>
          </a:ln>
        </p:spPr>
      </p:sp>
      <p:sp>
        <p:nvSpPr>
          <p:cNvPr id="16" name="Text 12"/>
          <p:cNvSpPr txBox="1"/>
          <p:nvPr/>
        </p:nvSpPr>
        <p:spPr>
          <a:xfrm>
            <a:off x="219821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Cyprus  </a:t>
            </a:r>
            <a:r>
              <a:rPr lang="en-US" sz="1000" dirty="0">
                <a:solidFill>
                  <a:srgbClr val="D7E4E0"/>
                </a:solidFill>
                <a:latin typeface="Calibri" pitchFamily="34" charset="0"/>
                <a:ea typeface="Calibri" pitchFamily="34" charset="-122"/>
                <a:cs typeface="Calibri" pitchFamily="34" charset="-120"/>
              </a:rPr>
              <a:t>2013</a:t>
            </a:r>
            <a:endParaRPr lang="en-US" sz="1100" dirty="0"/>
          </a:p>
        </p:txBody>
      </p:sp>
      <p:sp>
        <p:nvSpPr>
          <p:cNvPr id="17" name="Text 13"/>
          <p:cNvSpPr txBox="1"/>
          <p:nvPr/>
        </p:nvSpPr>
        <p:spPr>
          <a:xfrm>
            <a:off x="221650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950" dirty="0"/>
          </a:p>
        </p:txBody>
      </p:sp>
      <p:sp>
        <p:nvSpPr>
          <p:cNvPr id="18" name="Text 14"/>
          <p:cNvSpPr txBox="1"/>
          <p:nvPr/>
        </p:nvSpPr>
        <p:spPr>
          <a:xfrm>
            <a:off x="221650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9" name="Shape 15"/>
          <p:cNvSpPr/>
          <p:nvPr/>
        </p:nvSpPr>
        <p:spPr>
          <a:xfrm>
            <a:off x="3811219" y="1554480"/>
            <a:ext cx="1521562" cy="2359152"/>
          </a:xfrm>
          <a:prstGeom prst="roundRect">
            <a:avLst>
              <a:gd name="adj" fmla="val 6010"/>
            </a:avLst>
          </a:prstGeom>
          <a:solidFill>
            <a:srgbClr val="F2ECE1"/>
          </a:solidFill>
          <a:ln w="12700">
            <a:solidFill>
              <a:srgbClr val="DFD6C7"/>
            </a:solidFill>
            <a:prstDash val="solid"/>
          </a:ln>
        </p:spPr>
      </p:sp>
      <p:pic>
        <p:nvPicPr>
          <p:cNvPr id="20" name="Image 2" descr="../../03-materials/ch01/assets/photo_greece_atm.jpg">    </p:cNvPr>
          <p:cNvPicPr>
            <a:picLocks noChangeAspect="1"/>
          </p:cNvPicPr>
          <p:nvPr/>
        </p:nvPicPr>
        <p:blipFill>
          <a:blip r:embed="rId5"/>
          <a:srcRect l="0" r="0" t="0" b="0"/>
          <a:stretch/>
        </p:blipFill>
        <p:spPr>
          <a:xfrm>
            <a:off x="3902659" y="1645920"/>
            <a:ext cx="1338682" cy="658368"/>
          </a:xfrm>
          <a:prstGeom prst="rect">
            <a:avLst/>
          </a:prstGeom>
        </p:spPr>
      </p:pic>
      <p:sp>
        <p:nvSpPr>
          <p:cNvPr id="21" name="Shape 16"/>
          <p:cNvSpPr/>
          <p:nvPr/>
        </p:nvSpPr>
        <p:spPr>
          <a:xfrm>
            <a:off x="3920947" y="2359152"/>
            <a:ext cx="1302106" cy="329184"/>
          </a:xfrm>
          <a:prstGeom prst="roundRect">
            <a:avLst>
              <a:gd name="adj" fmla="val 50000"/>
            </a:avLst>
          </a:prstGeom>
          <a:solidFill>
            <a:srgbClr val="2F6D62"/>
          </a:solidFill>
          <a:ln w="12700">
            <a:solidFill>
              <a:srgbClr val="2F6D62"/>
            </a:solidFill>
            <a:prstDash val="solid"/>
          </a:ln>
        </p:spPr>
      </p:sp>
      <p:sp>
        <p:nvSpPr>
          <p:cNvPr id="22" name="Text 17"/>
          <p:cNvSpPr txBox="1"/>
          <p:nvPr/>
        </p:nvSpPr>
        <p:spPr>
          <a:xfrm>
            <a:off x="392094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Greece  </a:t>
            </a:r>
            <a:r>
              <a:rPr lang="en-US" sz="1000" dirty="0">
                <a:solidFill>
                  <a:srgbClr val="D7E4E0"/>
                </a:solidFill>
                <a:latin typeface="Calibri" pitchFamily="34" charset="0"/>
                <a:ea typeface="Calibri" pitchFamily="34" charset="-122"/>
                <a:cs typeface="Calibri" pitchFamily="34" charset="-120"/>
              </a:rPr>
              <a:t>2015</a:t>
            </a:r>
            <a:endParaRPr lang="en-US" sz="1100" dirty="0"/>
          </a:p>
        </p:txBody>
      </p:sp>
      <p:sp>
        <p:nvSpPr>
          <p:cNvPr id="23" name="Text 18"/>
          <p:cNvSpPr txBox="1"/>
          <p:nvPr/>
        </p:nvSpPr>
        <p:spPr>
          <a:xfrm>
            <a:off x="393923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Capital controls: ATM withdrawals capped at 60 euros a day</a:t>
            </a:r>
            <a:endParaRPr lang="en-US" sz="950" dirty="0"/>
          </a:p>
        </p:txBody>
      </p:sp>
      <p:sp>
        <p:nvSpPr>
          <p:cNvPr id="24" name="Text 19"/>
          <p:cNvSpPr txBox="1"/>
          <p:nvPr/>
        </p:nvSpPr>
        <p:spPr>
          <a:xfrm>
            <a:off x="393923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5" name="Shape 20"/>
          <p:cNvSpPr/>
          <p:nvPr/>
        </p:nvSpPr>
        <p:spPr>
          <a:xfrm>
            <a:off x="5533949" y="1554480"/>
            <a:ext cx="1521562" cy="2359152"/>
          </a:xfrm>
          <a:prstGeom prst="roundRect">
            <a:avLst>
              <a:gd name="adj" fmla="val 6010"/>
            </a:avLst>
          </a:prstGeom>
          <a:solidFill>
            <a:srgbClr val="F2ECE1"/>
          </a:solidFill>
          <a:ln w="12700">
            <a:solidFill>
              <a:srgbClr val="DFD6C7"/>
            </a:solidFill>
            <a:prstDash val="solid"/>
          </a:ln>
        </p:spPr>
      </p:sp>
      <p:pic>
        <p:nvPicPr>
          <p:cNvPr id="26" name="Image 3" descr="../../03-materials/ch01/assets/photo_bolivar_note.jpg">    </p:cNvPr>
          <p:cNvPicPr>
            <a:picLocks noChangeAspect="1"/>
          </p:cNvPicPr>
          <p:nvPr/>
        </p:nvPicPr>
        <p:blipFill>
          <a:blip r:embed="rId7"/>
          <a:srcRect l="0" r="0" t="0" b="0"/>
          <a:stretch/>
        </p:blipFill>
        <p:spPr>
          <a:xfrm>
            <a:off x="5625389" y="1645920"/>
            <a:ext cx="1338682" cy="658368"/>
          </a:xfrm>
          <a:prstGeom prst="rect">
            <a:avLst/>
          </a:prstGeom>
        </p:spPr>
      </p:pic>
      <p:sp>
        <p:nvSpPr>
          <p:cNvPr id="27" name="Shape 21"/>
          <p:cNvSpPr/>
          <p:nvPr/>
        </p:nvSpPr>
        <p:spPr>
          <a:xfrm>
            <a:off x="5643677" y="2359152"/>
            <a:ext cx="1302106" cy="329184"/>
          </a:xfrm>
          <a:prstGeom prst="roundRect">
            <a:avLst>
              <a:gd name="adj" fmla="val 50000"/>
            </a:avLst>
          </a:prstGeom>
          <a:solidFill>
            <a:srgbClr val="2F6D62"/>
          </a:solidFill>
          <a:ln w="12700">
            <a:solidFill>
              <a:srgbClr val="2F6D62"/>
            </a:solidFill>
            <a:prstDash val="solid"/>
          </a:ln>
        </p:spPr>
      </p:sp>
      <p:sp>
        <p:nvSpPr>
          <p:cNvPr id="28" name="Text 22"/>
          <p:cNvSpPr txBox="1"/>
          <p:nvPr/>
        </p:nvSpPr>
        <p:spPr>
          <a:xfrm>
            <a:off x="564367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Venezuela  </a:t>
            </a:r>
            <a:r>
              <a:rPr lang="en-US" sz="1000" dirty="0">
                <a:solidFill>
                  <a:srgbClr val="D7E4E0"/>
                </a:solidFill>
                <a:latin typeface="Calibri" pitchFamily="34" charset="0"/>
                <a:ea typeface="Calibri" pitchFamily="34" charset="-122"/>
                <a:cs typeface="Calibri" pitchFamily="34" charset="-120"/>
              </a:rPr>
              <a:t>2018</a:t>
            </a:r>
            <a:endParaRPr lang="en-US" sz="1100" dirty="0"/>
          </a:p>
        </p:txBody>
      </p:sp>
      <p:sp>
        <p:nvSpPr>
          <p:cNvPr id="29" name="Text 23"/>
          <p:cNvSpPr txBox="1"/>
          <p:nvPr/>
        </p:nvSpPr>
        <p:spPr>
          <a:xfrm>
            <a:off x="566196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Hyperinflation beyond 1,000,000% - wages melted in hours</a:t>
            </a:r>
            <a:endParaRPr lang="en-US" sz="950" dirty="0"/>
          </a:p>
        </p:txBody>
      </p:sp>
      <p:sp>
        <p:nvSpPr>
          <p:cNvPr id="30" name="Text 24"/>
          <p:cNvSpPr txBox="1"/>
          <p:nvPr/>
        </p:nvSpPr>
        <p:spPr>
          <a:xfrm>
            <a:off x="566196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1" name="Shape 25"/>
          <p:cNvSpPr/>
          <p:nvPr/>
        </p:nvSpPr>
        <p:spPr>
          <a:xfrm>
            <a:off x="7256678" y="1554480"/>
            <a:ext cx="1521562" cy="2359152"/>
          </a:xfrm>
          <a:prstGeom prst="roundRect">
            <a:avLst>
              <a:gd name="adj" fmla="val 6010"/>
            </a:avLst>
          </a:prstGeom>
          <a:solidFill>
            <a:srgbClr val="F2ECE1"/>
          </a:solidFill>
          <a:ln w="12700">
            <a:solidFill>
              <a:srgbClr val="DFD6C7"/>
            </a:solidFill>
            <a:prstDash val="solid"/>
          </a:ln>
        </p:spPr>
      </p:sp>
      <p:pic>
        <p:nvPicPr>
          <p:cNvPr id="32" name="Image 4" descr="../../03-materials/ch01/assets/photo_fedorov.jpg">    </p:cNvPr>
          <p:cNvPicPr>
            <a:picLocks noChangeAspect="1"/>
          </p:cNvPicPr>
          <p:nvPr/>
        </p:nvPicPr>
        <p:blipFill>
          <a:blip r:embed="rId9"/>
          <a:srcRect l="0" r="0" t="0" b="0"/>
          <a:stretch/>
        </p:blipFill>
        <p:spPr>
          <a:xfrm>
            <a:off x="7348118" y="1645920"/>
            <a:ext cx="1338682" cy="658368"/>
          </a:xfrm>
          <a:prstGeom prst="rect">
            <a:avLst/>
          </a:prstGeom>
        </p:spPr>
      </p:pic>
      <p:sp>
        <p:nvSpPr>
          <p:cNvPr id="33" name="Shape 26"/>
          <p:cNvSpPr/>
          <p:nvPr/>
        </p:nvSpPr>
        <p:spPr>
          <a:xfrm>
            <a:off x="7366406" y="2359152"/>
            <a:ext cx="1302106" cy="329184"/>
          </a:xfrm>
          <a:prstGeom prst="roundRect">
            <a:avLst>
              <a:gd name="adj" fmla="val 50000"/>
            </a:avLst>
          </a:prstGeom>
          <a:solidFill>
            <a:srgbClr val="2F6D62"/>
          </a:solidFill>
          <a:ln w="12700">
            <a:solidFill>
              <a:srgbClr val="2F6D62"/>
            </a:solidFill>
            <a:prstDash val="solid"/>
          </a:ln>
        </p:spPr>
      </p:sp>
      <p:sp>
        <p:nvSpPr>
          <p:cNvPr id="34" name="Text 27"/>
          <p:cNvSpPr txBox="1"/>
          <p:nvPr/>
        </p:nvSpPr>
        <p:spPr>
          <a:xfrm>
            <a:off x="7366406"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Ukraine  </a:t>
            </a:r>
            <a:r>
              <a:rPr lang="en-US" sz="1000" dirty="0">
                <a:solidFill>
                  <a:srgbClr val="D7E4E0"/>
                </a:solidFill>
                <a:latin typeface="Calibri" pitchFamily="34" charset="0"/>
                <a:ea typeface="Calibri" pitchFamily="34" charset="-122"/>
                <a:cs typeface="Calibri" pitchFamily="34" charset="-120"/>
              </a:rPr>
              <a:t>2022</a:t>
            </a:r>
            <a:endParaRPr lang="en-US" sz="1100" dirty="0"/>
          </a:p>
        </p:txBody>
      </p:sp>
      <p:sp>
        <p:nvSpPr>
          <p:cNvPr id="35" name="Text 28"/>
          <p:cNvSpPr txBox="1"/>
          <p:nvPr/>
        </p:nvSpPr>
        <p:spPr>
          <a:xfrm>
            <a:off x="7384694"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Under invasion, the state itself raised ~$35M in crypto in a week</a:t>
            </a:r>
            <a:endParaRPr lang="en-US" sz="950" dirty="0"/>
          </a:p>
        </p:txBody>
      </p:sp>
      <p:sp>
        <p:nvSpPr>
          <p:cNvPr id="36" name="Text 29"/>
          <p:cNvSpPr txBox="1"/>
          <p:nvPr/>
        </p:nvSpPr>
        <p:spPr>
          <a:xfrm>
            <a:off x="7384694"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7" name="Text 30"/>
          <p:cNvSpPr txBox="1"/>
          <p:nvPr/>
        </p:nvSpPr>
        <p:spPr>
          <a:xfrm>
            <a:off x="365760" y="3941064"/>
            <a:ext cx="8412480" cy="228600"/>
          </a:xfrm>
          <a:prstGeom prst="rect">
            <a:avLst/>
          </a:prstGeom>
          <a:noFill/>
          <a:ln/>
        </p:spPr>
        <p:txBody>
          <a:bodyPr wrap="square" lIns="0" tIns="0" rIns="0" bIns="0" rtlCol="0" anchor="t"/>
          <a:lstStyle/>
          <a:p>
            <a:pPr algn="l" indent="0" marL="0">
              <a:buNone/>
            </a:pPr>
            <a:r>
              <a:rPr lang="en-US" sz="750" i="1" dirty="0">
                <a:solidFill>
                  <a:srgbClr val="6E655C"/>
                </a:solidFill>
                <a:latin typeface="Calibri" pitchFamily="34" charset="0"/>
                <a:ea typeface="Calibri" pitchFamily="34" charset="-122"/>
                <a:cs typeface="Calibri" pitchFamily="34" charset="-120"/>
              </a:rPr>
              <a:t>photos via Wikimedia Commons: Fiona Graham/WorldRemit CC BY-SA 2.0 · Martin Addison CC BY-SA 2.0 · Norbert Nagel CC BY-SA 3.0 · Rjcastillo CC BY-SA 4.0 · U.S. Embassy Kyiv (PD)</a:t>
            </a:r>
            <a:endParaRPr lang="en-US" sz="750" dirty="0"/>
          </a:p>
        </p:txBody>
      </p:sp>
      <p:sp>
        <p:nvSpPr>
          <p:cNvPr id="38" name="Shape 31"/>
          <p:cNvSpPr/>
          <p:nvPr/>
        </p:nvSpPr>
        <p:spPr>
          <a:xfrm>
            <a:off x="457200" y="4206240"/>
            <a:ext cx="1738092" cy="365760"/>
          </a:xfrm>
          <a:prstGeom prst="roundRect">
            <a:avLst>
              <a:gd name="adj" fmla="val 50000"/>
            </a:avLst>
          </a:prstGeom>
          <a:solidFill>
            <a:srgbClr val="EFE9DC"/>
          </a:solidFill>
          <a:ln w="9525">
            <a:solidFill>
              <a:srgbClr val="DFD6C7"/>
            </a:solidFill>
            <a:prstDash val="solid"/>
          </a:ln>
        </p:spPr>
      </p:sp>
      <p:sp>
        <p:nvSpPr>
          <p:cNvPr id="39" name="Text 32"/>
          <p:cNvSpPr txBox="1"/>
          <p:nvPr/>
        </p:nvSpPr>
        <p:spPr>
          <a:xfrm>
            <a:off x="548640" y="420624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savers, the unbanked, an…</a:t>
            </a:r>
            <a:endParaRPr lang="en-US" sz="750" dirty="0"/>
          </a:p>
        </p:txBody>
      </p:sp>
      <p:sp>
        <p:nvSpPr>
          <p:cNvPr id="40" name="Shape 33"/>
          <p:cNvSpPr/>
          <p:nvPr/>
        </p:nvSpPr>
        <p:spPr>
          <a:xfrm>
            <a:off x="2305020" y="4206240"/>
            <a:ext cx="1659087" cy="365760"/>
          </a:xfrm>
          <a:prstGeom prst="roundRect">
            <a:avLst>
              <a:gd name="adj" fmla="val 50000"/>
            </a:avLst>
          </a:prstGeom>
          <a:solidFill>
            <a:srgbClr val="EFE9DC"/>
          </a:solidFill>
          <a:ln w="9525">
            <a:solidFill>
              <a:srgbClr val="DFD6C7"/>
            </a:solidFill>
            <a:prstDash val="solid"/>
          </a:ln>
        </p:spPr>
      </p:sp>
      <p:sp>
        <p:nvSpPr>
          <p:cNvPr id="41" name="Text 34"/>
          <p:cNvSpPr txBox="1"/>
          <p:nvPr/>
        </p:nvSpPr>
        <p:spPr>
          <a:xfrm>
            <a:off x="2396460" y="420624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Kenya, Cyprus, Greece,…</a:t>
            </a:r>
            <a:endParaRPr lang="en-US" sz="750" dirty="0"/>
          </a:p>
        </p:txBody>
      </p:sp>
      <p:sp>
        <p:nvSpPr>
          <p:cNvPr id="42" name="Shape 35"/>
          <p:cNvSpPr/>
          <p:nvPr/>
        </p:nvSpPr>
        <p:spPr>
          <a:xfrm>
            <a:off x="4073835" y="4206240"/>
            <a:ext cx="1343071" cy="365760"/>
          </a:xfrm>
          <a:prstGeom prst="roundRect">
            <a:avLst>
              <a:gd name="adj" fmla="val 50000"/>
            </a:avLst>
          </a:prstGeom>
          <a:solidFill>
            <a:srgbClr val="EFE9DC"/>
          </a:solidFill>
          <a:ln w="9525">
            <a:solidFill>
              <a:srgbClr val="DFD6C7"/>
            </a:solidFill>
            <a:prstDash val="solid"/>
          </a:ln>
        </p:spPr>
      </p:sp>
      <p:sp>
        <p:nvSpPr>
          <p:cNvPr id="43" name="Text 36"/>
          <p:cNvSpPr txBox="1"/>
          <p:nvPr/>
        </p:nvSpPr>
        <p:spPr>
          <a:xfrm>
            <a:off x="4165275" y="420624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2007 - 2022</a:t>
            </a:r>
            <a:endParaRPr lang="en-US" sz="750" dirty="0"/>
          </a:p>
        </p:txBody>
      </p:sp>
      <p:sp>
        <p:nvSpPr>
          <p:cNvPr id="44" name="Shape 37"/>
          <p:cNvSpPr/>
          <p:nvPr/>
        </p:nvSpPr>
        <p:spPr>
          <a:xfrm>
            <a:off x="5526634" y="4206240"/>
            <a:ext cx="3160166" cy="365760"/>
          </a:xfrm>
          <a:prstGeom prst="roundRect">
            <a:avLst>
              <a:gd name="adj" fmla="val 50000"/>
            </a:avLst>
          </a:prstGeom>
          <a:solidFill>
            <a:srgbClr val="2F6D62"/>
          </a:solidFill>
          <a:ln w="9525">
            <a:solidFill>
              <a:srgbClr val="2F6D62"/>
            </a:solidFill>
            <a:prstDash val="solid"/>
          </a:ln>
        </p:spPr>
      </p:sp>
      <p:sp>
        <p:nvSpPr>
          <p:cNvPr id="45" name="Text 38"/>
          <p:cNvSpPr txBox="1"/>
          <p:nvPr/>
        </p:nvSpPr>
        <p:spPr>
          <a:xfrm>
            <a:off x="5618074" y="420624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CNBC: Ukraine accepts crypto donations (news)</a:t>
            </a:r>
            <a:endParaRPr lang="en-US" sz="750" dirty="0"/>
          </a:p>
        </p:txBody>
      </p:sp>
      <p:sp>
        <p:nvSpPr>
          <p:cNvPr id="46"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7"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 the need is documented, not theoretical</a:t>
            </a:r>
            <a:endParaRPr lang="en-US" sz="1350" dirty="0"/>
          </a:p>
        </p:txBody>
      </p:sp>
      <p:sp>
        <p:nvSpPr>
          <p:cNvPr id="48"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D97A14"/>
          </a:solidFill>
          <a:ln w="15875">
            <a:solidFill>
              <a:srgbClr val="D97A14"/>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4" name="Shape 22"/>
          <p:cNvSpPr/>
          <p:nvPr/>
        </p:nvSpPr>
        <p:spPr>
          <a:xfrm>
            <a:off x="7114032" y="1956816"/>
            <a:ext cx="310896" cy="310896"/>
          </a:xfrm>
          <a:prstGeom prst="ellipse">
            <a:avLst/>
          </a:prstGeom>
          <a:solidFill>
            <a:srgbClr val="D97A14"/>
          </a:solidFill>
          <a:ln w="15875">
            <a:solidFill>
              <a:srgbClr val="D97A14"/>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8" name="Shape 26"/>
          <p:cNvSpPr/>
          <p:nvPr/>
        </p:nvSpPr>
        <p:spPr>
          <a:xfrm>
            <a:off x="7114032" y="3465576"/>
            <a:ext cx="310896" cy="310896"/>
          </a:xfrm>
          <a:prstGeom prst="ellipse">
            <a:avLst/>
          </a:prstGeom>
          <a:solidFill>
            <a:srgbClr val="D97A14"/>
          </a:solidFill>
          <a:ln w="15875">
            <a:solidFill>
              <a:srgbClr val="D97A14"/>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D97A14"/>
            </a:solidFill>
            <a:prstDash val="solid"/>
            <a:tailEnd type="triangle"/>
          </a:ln>
        </p:spPr>
      </p:sp>
      <p:sp>
        <p:nvSpPr>
          <p:cNvPr id="32" name="Shape 30"/>
          <p:cNvSpPr/>
          <p:nvPr/>
        </p:nvSpPr>
        <p:spPr>
          <a:xfrm>
            <a:off x="5303520" y="2880360"/>
            <a:ext cx="1417320" cy="740664"/>
          </a:xfrm>
          <a:prstGeom prst="line">
            <a:avLst/>
          </a:prstGeom>
          <a:noFill/>
          <a:ln w="25400">
            <a:solidFill>
              <a:srgbClr val="D97A14"/>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3639312" y="2724912"/>
            <a:ext cx="310896" cy="310896"/>
          </a:xfrm>
          <a:prstGeom prst="ellipse">
            <a:avLst/>
          </a:prstGeom>
          <a:solidFill>
            <a:srgbClr val="D97A14"/>
          </a:solidFill>
          <a:ln w="15875">
            <a:solidFill>
              <a:srgbClr val="D97A14"/>
            </a:solidFill>
            <a:prstDash val="solid"/>
          </a:ln>
        </p:spPr>
      </p:sp>
      <p:sp>
        <p:nvSpPr>
          <p:cNvPr id="21" name="Text 19"/>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4" name="Text 22"/>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6" name="Text 24"/>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4663440" y="2057400"/>
            <a:ext cx="537667" cy="822960"/>
          </a:xfrm>
          <a:prstGeom prst="line">
            <a:avLst/>
          </a:prstGeom>
          <a:noFill/>
          <a:ln w="22225">
            <a:solidFill>
              <a:srgbClr val="6E655C"/>
            </a:solidFill>
            <a:prstDash val="solid"/>
            <a:tailEnd type="triangle"/>
          </a:ln>
        </p:spPr>
      </p:sp>
      <p:sp>
        <p:nvSpPr>
          <p:cNvPr id="28" name="Shape 26"/>
          <p:cNvSpPr/>
          <p:nvPr/>
        </p:nvSpPr>
        <p:spPr>
          <a:xfrm>
            <a:off x="4663440" y="2880360"/>
            <a:ext cx="537667" cy="822960"/>
          </a:xfrm>
          <a:prstGeom prst="line">
            <a:avLst/>
          </a:prstGeom>
          <a:noFill/>
          <a:ln w="22225">
            <a:solidFill>
              <a:srgbClr val="6E655C"/>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a:off x="6446520" y="2057400"/>
            <a:ext cx="384048" cy="0"/>
          </a:xfrm>
          <a:prstGeom prst="line">
            <a:avLst/>
          </a:prstGeom>
          <a:noFill/>
          <a:ln w="25400">
            <a:solidFill>
              <a:srgbClr val="2F6D62"/>
            </a:solidFill>
            <a:prstDash val="solid"/>
            <a:tailEnd type="triangle"/>
          </a:ln>
        </p:spPr>
      </p:sp>
      <p:sp>
        <p:nvSpPr>
          <p:cNvPr id="34" name="Shape 32"/>
          <p:cNvSpPr/>
          <p:nvPr/>
        </p:nvSpPr>
        <p:spPr>
          <a:xfrm>
            <a:off x="6446520" y="3703320"/>
            <a:ext cx="384048" cy="0"/>
          </a:xfrm>
          <a:prstGeom prst="line">
            <a:avLst/>
          </a:prstGeom>
          <a:noFill/>
          <a:ln w="25400">
            <a:solidFill>
              <a:srgbClr val="D97A14"/>
            </a:solidFill>
            <a:prstDash val="solid"/>
            <a:tailEnd type="triangle"/>
          </a:ln>
        </p:spPr>
      </p:sp>
      <p:sp>
        <p:nvSpPr>
          <p:cNvPr id="35" name="Text 33"/>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int(decimal.Decimal(</a:t>
            </a:r>
            <a:r>
              <a:rPr lang="en-US" sz="1100" dirty="0">
                <a:solidFill>
                  <a:srgbClr val="9ECBFF"/>
                </a:solidFill>
                <a:latin typeface="Courier New" pitchFamily="34" charset="0"/>
                <a:ea typeface="Courier New" pitchFamily="34" charset="-122"/>
                <a:cs typeface="Courier New" pitchFamily="34" charset="-120"/>
              </a:rPr>
              <a:t>'0.001'</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3931920" y="24688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090672"/>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443984"/>
            <a:ext cx="5303520" cy="146304"/>
          </a:xfrm>
          <a:prstGeom prst="rect">
            <a:avLst/>
          </a:prstGeom>
          <a:noFill/>
          <a:ln/>
        </p:spPr>
        <p:txBody>
          <a:bodyPr wrap="square" lIns="0" tIns="0" rIns="0" bIns="0" rtlCol="0" anchor="t"/>
          <a:lstStyle/>
          <a:p>
            <a:pPr algn="l" indent="0" marL="0">
              <a:buNone/>
            </a:pPr>
            <a:r>
              <a:rPr lang="en-US" sz="800" i="1" dirty="0">
                <a:solidFill>
                  <a:srgbClr val="6E655C"/>
                </a:solidFill>
                <a:latin typeface="Calibri" pitchFamily="34" charset="0"/>
                <a:ea typeface="Calibri" pitchFamily="34" charset="-122"/>
                <a:cs typeface="Calibri" pitchFamily="34" charset="-120"/>
              </a:rPr>
              <a:t>dates = the chain's block timestamps; '~' = projected at the 10-minute target</a:t>
            </a:r>
            <a:endParaRPr lang="en-US" sz="800" dirty="0"/>
          </a:p>
        </p:txBody>
      </p:sp>
      <p:sp>
        <p:nvSpPr>
          <p:cNvPr id="8" name="Shape 5"/>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9" name="Text 6"/>
          <p:cNvSpPr txBox="1"/>
          <p:nvPr/>
        </p:nvSpPr>
        <p:spPr>
          <a:xfrm>
            <a:off x="5870448" y="1362456"/>
            <a:ext cx="2706624" cy="48170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10" name="Text 7"/>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1" name="Shape 8"/>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2" name="Text 9"/>
          <p:cNvSpPr txBox="1"/>
          <p:nvPr/>
        </p:nvSpPr>
        <p:spPr>
          <a:xfrm>
            <a:off x="5870448" y="2487168"/>
            <a:ext cx="2706624" cy="481706"/>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3" name="Text 10"/>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4" name="Shape 11"/>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5" name="Text 12"/>
          <p:cNvSpPr txBox="1"/>
          <p:nvPr/>
        </p:nvSpPr>
        <p:spPr>
          <a:xfrm>
            <a:off x="5870448" y="3611880"/>
            <a:ext cx="2706624" cy="48170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6" name="Text 13"/>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33502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Shift 50 BTC right once per era, times 210,000 blocks, summed over 33 eras: the 20,999,999.9769 cap</a:t>
            </a:r>
            <a:endParaRPr lang="en-US" sz="950" dirty="0"/>
          </a:p>
        </p:txBody>
      </p:sp>
      <p:sp>
        <p:nvSpPr>
          <p:cNvPr id="8" name="Shape 6"/>
          <p:cNvSpPr/>
          <p:nvPr/>
        </p:nvSpPr>
        <p:spPr>
          <a:xfrm>
            <a:off x="457200" y="160934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53619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One shift for height 840,000 halves the subsidy to 3.125</a:t>
            </a:r>
            <a:endParaRPr lang="en-US" sz="950" dirty="0"/>
          </a:p>
        </p:txBody>
      </p:sp>
      <p:sp>
        <p:nvSpPr>
          <p:cNvPr id="10" name="Shape 8"/>
          <p:cNvSpPr/>
          <p:nvPr/>
        </p:nvSpPr>
        <p:spPr>
          <a:xfrm>
            <a:off x="457200" y="18836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81051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Five heights at once show the whole staircase</a:t>
            </a:r>
            <a:endParaRPr lang="en-US" sz="950" dirty="0"/>
          </a:p>
        </p:txBody>
      </p:sp>
      <p:sp>
        <p:nvSpPr>
          <p:cNvPr id="12" name="Text 10"/>
          <p:cNvSpPr txBox="1"/>
          <p:nvPr/>
        </p:nvSpPr>
        <p:spPr>
          <a:xfrm>
            <a:off x="457200" y="21214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cap, summed over 33 eras</a:t>
            </a:r>
            <a:endParaRPr lang="en-US" sz="1150" dirty="0"/>
          </a:p>
        </p:txBody>
      </p:sp>
      <p:sp>
        <p:nvSpPr>
          <p:cNvPr id="13" name="Shape 11"/>
          <p:cNvSpPr/>
          <p:nvPr/>
        </p:nvSpPr>
        <p:spPr>
          <a:xfrm>
            <a:off x="457200" y="2395728"/>
            <a:ext cx="8229600" cy="640080"/>
          </a:xfrm>
          <a:prstGeom prst="roundRect">
            <a:avLst>
              <a:gd name="adj" fmla="val 14286"/>
            </a:avLst>
          </a:prstGeom>
          <a:solidFill>
            <a:srgbClr val="23272E"/>
          </a:solidFill>
          <a:ln w="12700">
            <a:solidFill>
              <a:srgbClr val="23272E"/>
            </a:solidFill>
            <a:prstDash val="solid"/>
          </a:ln>
        </p:spPr>
      </p:sp>
      <p:sp>
        <p:nvSpPr>
          <p:cNvPr id="14" name="Text 12"/>
          <p:cNvSpPr txBox="1"/>
          <p:nvPr/>
        </p:nvSpPr>
        <p:spPr>
          <a:xfrm>
            <a:off x="640080" y="2514600"/>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sum((</a:t>
            </a:r>
            <a:r>
              <a:rPr lang="en-US" sz="1100" dirty="0">
                <a:solidFill>
                  <a:srgbClr val="FFD28A"/>
                </a:solidFill>
                <a:latin typeface="Courier New" pitchFamily="34" charset="0"/>
                <a:ea typeface="Courier New" pitchFamily="34" charset="-122"/>
                <a:cs typeface="Courier New" pitchFamily="34" charset="-120"/>
              </a:rPr>
              <a:t>50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 &gt;&gt; era)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era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range(</a:t>
            </a:r>
            <a:r>
              <a:rPr lang="en-US" sz="1100" dirty="0">
                <a:solidFill>
                  <a:srgbClr val="FFD28A"/>
                </a:solidFill>
                <a:latin typeface="Courier New" pitchFamily="34" charset="0"/>
                <a:ea typeface="Courier New" pitchFamily="34" charset="-122"/>
                <a:cs typeface="Courier New" pitchFamily="34" charset="-120"/>
              </a:rPr>
              <a:t>33</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5" name="Text 13"/>
          <p:cNvSpPr txBox="1"/>
          <p:nvPr/>
        </p:nvSpPr>
        <p:spPr>
          <a:xfrm>
            <a:off x="7040880" y="21214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29260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One halving = divide by two</a:t>
            </a:r>
            <a:endParaRPr lang="en-US" sz="1150" dirty="0"/>
          </a:p>
        </p:txBody>
      </p:sp>
      <p:sp>
        <p:nvSpPr>
          <p:cNvPr id="17" name="Shape 15"/>
          <p:cNvSpPr/>
          <p:nvPr/>
        </p:nvSpPr>
        <p:spPr>
          <a:xfrm>
            <a:off x="457200" y="3200400"/>
            <a:ext cx="8229600" cy="640080"/>
          </a:xfrm>
          <a:prstGeom prst="roundRect">
            <a:avLst>
              <a:gd name="adj" fmla="val 14286"/>
            </a:avLst>
          </a:prstGeom>
          <a:solidFill>
            <a:srgbClr val="23272E"/>
          </a:solidFill>
          <a:ln w="12700">
            <a:solidFill>
              <a:srgbClr val="23272E"/>
            </a:solidFill>
            <a:prstDash val="solid"/>
          </a:ln>
        </p:spPr>
      </p:sp>
      <p:sp>
        <p:nvSpPr>
          <p:cNvPr id="18" name="Text 16"/>
          <p:cNvSpPr txBox="1"/>
          <p:nvPr/>
        </p:nvSpPr>
        <p:spPr>
          <a:xfrm>
            <a:off x="640080" y="3319272"/>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50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 &gt;&gt; </a:t>
            </a:r>
            <a:r>
              <a:rPr lang="en-US" sz="1100" dirty="0">
                <a:solidFill>
                  <a:srgbClr val="FFD28A"/>
                </a:solidFill>
                <a:latin typeface="Courier New" pitchFamily="34" charset="0"/>
                <a:ea typeface="Courier New" pitchFamily="34" charset="-122"/>
                <a:cs typeface="Courier New" pitchFamily="34" charset="-120"/>
              </a:rPr>
              <a:t>840000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9" name="Text 17"/>
          <p:cNvSpPr txBox="1"/>
          <p:nvPr/>
        </p:nvSpPr>
        <p:spPr>
          <a:xfrm>
            <a:off x="7040880" y="29260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Text 18"/>
          <p:cNvSpPr txBox="1"/>
          <p:nvPr/>
        </p:nvSpPr>
        <p:spPr>
          <a:xfrm>
            <a:off x="457200" y="3694176"/>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The subsidy at any block height</a:t>
            </a:r>
            <a:endParaRPr lang="en-US" sz="1150" dirty="0"/>
          </a:p>
        </p:txBody>
      </p:sp>
      <p:sp>
        <p:nvSpPr>
          <p:cNvPr id="21" name="Shape 19"/>
          <p:cNvSpPr/>
          <p:nvPr/>
        </p:nvSpPr>
        <p:spPr>
          <a:xfrm>
            <a:off x="457200" y="3968496"/>
            <a:ext cx="8229600" cy="557784"/>
          </a:xfrm>
          <a:prstGeom prst="roundRect">
            <a:avLst>
              <a:gd name="adj" fmla="val 16393"/>
            </a:avLst>
          </a:prstGeom>
          <a:solidFill>
            <a:srgbClr val="23272E"/>
          </a:solidFill>
          <a:ln w="12700">
            <a:solidFill>
              <a:srgbClr val="23272E"/>
            </a:solidFill>
            <a:prstDash val="solid"/>
          </a:ln>
        </p:spPr>
      </p:sp>
      <p:sp>
        <p:nvSpPr>
          <p:cNvPr id="22" name="Text 20"/>
          <p:cNvSpPr txBox="1"/>
          <p:nvPr/>
        </p:nvSpPr>
        <p:spPr>
          <a:xfrm>
            <a:off x="640080" y="4087368"/>
            <a:ext cx="7863840" cy="32004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50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&gt;&gt; h // </a:t>
            </a:r>
            <a:r>
              <a:rPr lang="en-US" sz="950" dirty="0">
                <a:solidFill>
                  <a:srgbClr val="FFD28A"/>
                </a:solidFill>
                <a:latin typeface="Courier New" pitchFamily="34" charset="0"/>
                <a:ea typeface="Courier New" pitchFamily="34" charset="-122"/>
                <a:cs typeface="Courier New" pitchFamily="34" charset="-120"/>
              </a:rPr>
              <a:t>210000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h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210000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420000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630000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[50.0, 25.0, 12.5, 6.25, 3.125]</a:t>
            </a:r>
            <a:endParaRPr lang="en-US" sz="950" dirty="0"/>
          </a:p>
        </p:txBody>
      </p:sp>
      <p:sp>
        <p:nvSpPr>
          <p:cNvPr id="23" name="Text 21"/>
          <p:cNvSpPr txBox="1"/>
          <p:nvPr/>
        </p:nvSpPr>
        <p:spPr>
          <a:xfrm>
            <a:off x="7040880" y="3694176"/>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33502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350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9844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 authority quotes a rate: the first program just divides one trade's two amounts</a:t>
            </a:r>
            <a:endParaRPr lang="en-US" sz="950" dirty="0"/>
          </a:p>
        </p:txBody>
      </p:sp>
      <p:sp>
        <p:nvSpPr>
          <p:cNvPr id="9" name="Shape 7"/>
          <p:cNvSpPr/>
          <p:nvPr/>
        </p:nvSpPr>
        <p:spPr>
          <a:xfrm>
            <a:off x="457200" y="17693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693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278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second weights every trade by its volume - one fair daily figure, as exchanges publish</a:t>
            </a:r>
            <a:endParaRPr lang="en-US" sz="950" dirty="0"/>
          </a:p>
        </p:txBody>
      </p:sp>
      <p:sp>
        <p:nvSpPr>
          <p:cNvPr id="12" name="Text 10"/>
          <p:cNvSpPr txBox="1"/>
          <p:nvPr/>
        </p:nvSpPr>
        <p:spPr>
          <a:xfrm>
            <a:off x="457200" y="221284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A price is a ratio of two quotes</a:t>
            </a:r>
            <a:endParaRPr lang="en-US" sz="1150" dirty="0"/>
          </a:p>
        </p:txBody>
      </p:sp>
      <p:sp>
        <p:nvSpPr>
          <p:cNvPr id="13" name="Shape 11"/>
          <p:cNvSpPr/>
          <p:nvPr/>
        </p:nvSpPr>
        <p:spPr>
          <a:xfrm>
            <a:off x="457200" y="2487168"/>
            <a:ext cx="8229600" cy="621792"/>
          </a:xfrm>
          <a:prstGeom prst="roundRect">
            <a:avLst>
              <a:gd name="adj" fmla="val 14706"/>
            </a:avLst>
          </a:prstGeom>
          <a:solidFill>
            <a:srgbClr val="23272E"/>
          </a:solidFill>
          <a:ln w="12700">
            <a:solidFill>
              <a:srgbClr val="23272E"/>
            </a:solidFill>
            <a:prstDash val="solid"/>
          </a:ln>
        </p:spPr>
      </p:sp>
      <p:sp>
        <p:nvSpPr>
          <p:cNvPr id="14" name="Text 12"/>
          <p:cNvSpPr txBox="1"/>
          <p:nvPr/>
        </p:nvSpPr>
        <p:spPr>
          <a:xfrm>
            <a:off x="640080" y="2606040"/>
            <a:ext cx="7863840" cy="384048"/>
          </a:xfrm>
          <a:prstGeom prst="rect">
            <a:avLst/>
          </a:prstGeom>
          <a:noFill/>
          <a:ln/>
        </p:spPr>
        <p:txBody>
          <a:bodyPr wrap="square" lIns="0" tIns="0" rIns="0" bIns="0" rtlCol="0" anchor="t"/>
          <a:lstStyle/>
          <a:p>
            <a:pPr indent="0" marL="0">
              <a:buNone/>
            </a:pPr>
            <a:r>
              <a:rPr lang="en-US" sz="1150" b="1" dirty="0">
                <a:solidFill>
                  <a:srgbClr val="D97A14"/>
                </a:solidFill>
                <a:latin typeface="Courier New" pitchFamily="34" charset="0"/>
                <a:ea typeface="Courier New" pitchFamily="34" charset="-122"/>
                <a:cs typeface="Courier New" pitchFamily="34" charset="-120"/>
              </a:rPr>
              <a:t>&gt;&gt;&gt; </a:t>
            </a:r>
            <a:r>
              <a:rPr lang="en-US" sz="1150" dirty="0">
                <a:solidFill>
                  <a:srgbClr val="E6EDF3"/>
                </a:solidFill>
                <a:latin typeface="Courier New" pitchFamily="34" charset="0"/>
                <a:ea typeface="Courier New" pitchFamily="34" charset="-122"/>
                <a:cs typeface="Courier New" pitchFamily="34" charset="-120"/>
              </a:rPr>
              <a:t>round(</a:t>
            </a:r>
            <a:r>
              <a:rPr lang="en-US" sz="1150" dirty="0">
                <a:solidFill>
                  <a:srgbClr val="FFD28A"/>
                </a:solidFill>
                <a:latin typeface="Courier New" pitchFamily="34" charset="0"/>
                <a:ea typeface="Courier New" pitchFamily="34" charset="-122"/>
                <a:cs typeface="Courier New" pitchFamily="34" charset="-120"/>
              </a:rPr>
              <a:t>0.001</a:t>
            </a:r>
            <a:r>
              <a:rPr lang="en-US" sz="1150" dirty="0">
                <a:solidFill>
                  <a:srgbClr val="E6EDF3"/>
                </a:solidFill>
                <a:latin typeface="Courier New" pitchFamily="34" charset="0"/>
                <a:ea typeface="Courier New" pitchFamily="34" charset="-122"/>
                <a:cs typeface="Courier New" pitchFamily="34" charset="-120"/>
              </a:rPr>
              <a:t> * </a:t>
            </a:r>
            <a:r>
              <a:rPr lang="en-US" sz="1150" dirty="0">
                <a:solidFill>
                  <a:srgbClr val="FFD28A"/>
                </a:solidFill>
                <a:latin typeface="Courier New" pitchFamily="34" charset="0"/>
                <a:ea typeface="Courier New" pitchFamily="34" charset="-122"/>
                <a:cs typeface="Courier New" pitchFamily="34" charset="-120"/>
              </a:rPr>
              <a:t>60000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FD28A"/>
                </a:solidFill>
                <a:latin typeface="Courier New" pitchFamily="34" charset="0"/>
                <a:ea typeface="Courier New" pitchFamily="34" charset="-122"/>
                <a:cs typeface="Courier New" pitchFamily="34" charset="-120"/>
              </a:rPr>
              <a:t>2</a:t>
            </a: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60.0</a:t>
            </a:r>
            <a:endParaRPr lang="en-US" sz="1150" dirty="0"/>
          </a:p>
        </p:txBody>
      </p:sp>
      <p:sp>
        <p:nvSpPr>
          <p:cNvPr id="15" name="Text 13"/>
          <p:cNvSpPr txBox="1"/>
          <p:nvPr/>
        </p:nvSpPr>
        <p:spPr>
          <a:xfrm>
            <a:off x="7040880" y="221284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1821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day summarised fairly, by volume</a:t>
            </a:r>
            <a:endParaRPr lang="en-US" sz="1150" dirty="0"/>
          </a:p>
        </p:txBody>
      </p:sp>
      <p:sp>
        <p:nvSpPr>
          <p:cNvPr id="17" name="Shape 15"/>
          <p:cNvSpPr/>
          <p:nvPr/>
        </p:nvSpPr>
        <p:spPr>
          <a:xfrm>
            <a:off x="457200" y="3456432"/>
            <a:ext cx="822960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640080" y="3575304"/>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sum(p * v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p, v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r>
              <a:rPr lang="en-US" sz="1050" dirty="0">
                <a:solidFill>
                  <a:srgbClr val="E6EDF3"/>
                </a:solidFill>
                <a:latin typeface="Courier New" pitchFamily="34" charset="0"/>
                <a:ea typeface="Courier New" pitchFamily="34" charset="-122"/>
                <a:cs typeface="Courier New" pitchFamily="34" charset="-120"/>
              </a:rPr>
              <a:t>)]) / sum(v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p, v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101.0</a:t>
            </a:r>
            <a:endParaRPr lang="en-US" sz="1050" dirty="0"/>
          </a:p>
        </p:txBody>
      </p:sp>
      <p:sp>
        <p:nvSpPr>
          <p:cNvPr id="19" name="Text 17"/>
          <p:cNvSpPr txBox="1"/>
          <p:nvPr/>
        </p:nvSpPr>
        <p:spPr>
          <a:xfrm>
            <a:off x="7040880" y="31821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280160"/>
          </a:xfrm>
          <a:prstGeom prst="roundRect">
            <a:avLst>
              <a:gd name="adj" fmla="val 5714"/>
            </a:avLst>
          </a:prstGeom>
          <a:solidFill>
            <a:srgbClr val="F2ECE1"/>
          </a:solidFill>
          <a:ln w="12700">
            <a:solidFill>
              <a:srgbClr val="DFD6C7"/>
            </a:solidFill>
            <a:prstDash val="solid"/>
          </a:ln>
        </p:spPr>
      </p:sp>
      <p:sp>
        <p:nvSpPr>
          <p:cNvPr id="7" name="Text 5"/>
          <p:cNvSpPr txBox="1"/>
          <p:nvPr/>
        </p:nvSpPr>
        <p:spPr>
          <a:xfrm>
            <a:off x="566928" y="1490472"/>
            <a:ext cx="2523744" cy="56692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083003"/>
            <a:ext cx="25237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2788920"/>
            <a:ext cx="2697480" cy="1325880"/>
          </a:xfrm>
          <a:prstGeom prst="rect">
            <a:avLst/>
          </a:prstGeom>
        </p:spPr>
      </p:pic>
      <p:sp>
        <p:nvSpPr>
          <p:cNvPr id="10" name="Text 7"/>
          <p:cNvSpPr txBox="1"/>
          <p:nvPr/>
        </p:nvSpPr>
        <p:spPr>
          <a:xfrm>
            <a:off x="502920" y="413308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94914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703320" y="3977640"/>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t>
            </a:r>
            <a:endParaRPr lang="en-US" sz="750" dirty="0"/>
          </a:p>
        </p:txBody>
      </p:sp>
      <p:sp>
        <p:nvSpPr>
          <p:cNvPr id="21" name="Shape 18"/>
          <p:cNvSpPr/>
          <p:nvPr/>
        </p:nvSpPr>
        <p:spPr>
          <a:xfrm>
            <a:off x="4670755" y="3977640"/>
            <a:ext cx="901690"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762195" y="3977640"/>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a:t>
            </a:r>
            <a:endParaRPr lang="en-US" sz="750" dirty="0"/>
          </a:p>
        </p:txBody>
      </p:sp>
      <p:sp>
        <p:nvSpPr>
          <p:cNvPr id="23" name="Shape 20"/>
          <p:cNvSpPr/>
          <p:nvPr/>
        </p:nvSpPr>
        <p:spPr>
          <a:xfrm>
            <a:off x="5682173" y="3977640"/>
            <a:ext cx="806775"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5773613" y="397764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22 Ma…</a:t>
            </a:r>
            <a:endParaRPr lang="en-US" sz="750" dirty="0"/>
          </a:p>
        </p:txBody>
      </p:sp>
      <p:sp>
        <p:nvSpPr>
          <p:cNvPr id="25" name="Shape 22"/>
          <p:cNvSpPr/>
          <p:nvPr/>
        </p:nvSpPr>
        <p:spPr>
          <a:xfrm>
            <a:off x="6598676" y="3977640"/>
            <a:ext cx="2088124"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6690116" y="3977640"/>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First commercial Bitcoin transaction (record)</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documented milestones; the last point fetched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peer starts, knowing two neighbours</a:t>
            </a:r>
            <a:endParaRPr lang="en-US" sz="10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round it asks the peers just found for THEIR neighbours</a:t>
            </a:r>
            <a:endParaRPr lang="en-US" sz="1050" dirty="0"/>
          </a:p>
        </p:txBody>
      </p:sp>
      <p:sp>
        <p:nvSpPr>
          <p:cNvPr id="12" name="Shape 10"/>
          <p:cNvSpPr/>
          <p:nvPr/>
        </p:nvSpPr>
        <p:spPr>
          <a:xfrm>
            <a:off x="457200" y="24688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68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323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Rounds are counted until all seven peers are known: 4</a:t>
            </a:r>
            <a:endParaRPr lang="en-US" sz="1050" dirty="0"/>
          </a:p>
        </p:txBody>
      </p:sp>
      <p:pic>
        <p:nvPicPr>
          <p:cNvPr id="15" name="Image 0" descr="../../03-materials/ch01/assets/c8s06_mesh.png">    </p:cNvPr>
          <p:cNvPicPr>
            <a:picLocks noChangeAspect="1"/>
          </p:cNvPicPr>
          <p:nvPr/>
        </p:nvPicPr>
        <p:blipFill>
          <a:blip r:embed="rId1"/>
          <a:srcRect l="0" r="0" t="0" b="0"/>
          <a:stretch/>
        </p:blipFill>
        <p:spPr>
          <a:xfrm>
            <a:off x="3931920" y="1444752"/>
            <a:ext cx="2194560" cy="1188720"/>
          </a:xfrm>
          <a:prstGeom prst="rect">
            <a:avLst/>
          </a:prstGeom>
        </p:spPr>
      </p:pic>
      <p:sp>
        <p:nvSpPr>
          <p:cNvPr id="16" name="Text 13"/>
          <p:cNvSpPr txBox="1"/>
          <p:nvPr/>
        </p:nvSpPr>
        <p:spPr>
          <a:xfrm>
            <a:off x="3931920" y="2651760"/>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17" name="Shape 14"/>
          <p:cNvSpPr/>
          <p:nvPr/>
        </p:nvSpPr>
        <p:spPr>
          <a:xfrm>
            <a:off x="6400800" y="1444752"/>
            <a:ext cx="2286000" cy="1280160"/>
          </a:xfrm>
          <a:prstGeom prst="roundRect">
            <a:avLst>
              <a:gd name="adj" fmla="val 5714"/>
            </a:avLst>
          </a:prstGeom>
          <a:solidFill>
            <a:srgbClr val="F2ECE1"/>
          </a:solidFill>
          <a:ln w="12700">
            <a:solidFill>
              <a:srgbClr val="DFD6C7"/>
            </a:solidFill>
            <a:prstDash val="solid"/>
          </a:ln>
        </p:spPr>
      </p:sp>
      <p:sp>
        <p:nvSpPr>
          <p:cNvPr id="18" name="Text 15"/>
          <p:cNvSpPr txBox="1"/>
          <p:nvPr/>
        </p:nvSpPr>
        <p:spPr>
          <a:xfrm>
            <a:off x="6510528" y="1517904"/>
            <a:ext cx="2066544" cy="5669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6510528" y="2110435"/>
            <a:ext cx="20665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rounds of gossip until every peer is known - no server, no registry</a:t>
            </a:r>
            <a:endParaRPr lang="en-US" sz="1150" dirty="0"/>
          </a:p>
        </p:txBody>
      </p:sp>
      <p:sp>
        <p:nvSpPr>
          <p:cNvPr id="20" name="Text 17"/>
          <p:cNvSpPr txBox="1"/>
          <p:nvPr/>
        </p:nvSpPr>
        <p:spPr>
          <a:xfrm>
            <a:off x="457200" y="3035808"/>
            <a:ext cx="4032504"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1" name="Shape 18"/>
          <p:cNvSpPr/>
          <p:nvPr/>
        </p:nvSpPr>
        <p:spPr>
          <a:xfrm>
            <a:off x="457200" y="3310128"/>
            <a:ext cx="8229600" cy="1252728"/>
          </a:xfrm>
          <a:prstGeom prst="roundRect">
            <a:avLst>
              <a:gd name="adj" fmla="val 7299"/>
            </a:avLst>
          </a:prstGeom>
          <a:solidFill>
            <a:srgbClr val="23272E"/>
          </a:solidFill>
          <a:ln w="12700">
            <a:solidFill>
              <a:srgbClr val="23272E"/>
            </a:solidFill>
            <a:prstDash val="solid"/>
          </a:ln>
        </p:spPr>
      </p:sp>
      <p:sp>
        <p:nvSpPr>
          <p:cNvPr id="22" name="Text 19"/>
          <p:cNvSpPr txBox="1"/>
          <p:nvPr/>
        </p:nvSpPr>
        <p:spPr>
          <a:xfrm>
            <a:off x="640080" y="3429000"/>
            <a:ext cx="7863840" cy="1014984"/>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'G'</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'G'</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while</a:t>
            </a:r>
            <a:r>
              <a:rPr lang="en-US" sz="800" dirty="0">
                <a:solidFill>
                  <a:srgbClr val="E6EDF3"/>
                </a:solidFill>
                <a:latin typeface="Courier New" pitchFamily="34" charset="0"/>
                <a:ea typeface="Courier New" pitchFamily="34" charset="-122"/>
                <a:cs typeface="Courier New" pitchFamily="34" charset="-120"/>
              </a:rPr>
              <a:t>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f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frontier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n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a:t>
            </a:r>
            <a:r>
              <a:rPr lang="en-US" sz="800" dirty="0">
                <a:solidFill>
                  <a:srgbClr val="FFD28A"/>
                </a:solidFill>
                <a:latin typeface="Courier New" pitchFamily="34" charset="0"/>
                <a:ea typeface="Courier New" pitchFamily="34" charset="-122"/>
                <a:cs typeface="Courier New" pitchFamily="34" charset="-120"/>
              </a:rPr>
              <a:t>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result </a:t>
            </a:r>
            <a:r>
              <a:rPr lang="en-US" sz="800" dirty="0">
                <a:solidFill>
                  <a:srgbClr val="7EE787"/>
                </a:solidFill>
                <a:latin typeface="Courier New" pitchFamily="34" charset="0"/>
                <a:ea typeface="Courier New" pitchFamily="34" charset="-122"/>
                <a:cs typeface="Courier New" pitchFamily="34" charset="-120"/>
              </a:rPr>
              <a:t>4</a:t>
            </a:r>
            <a:endParaRPr lang="en-US" sz="800" dirty="0"/>
          </a:p>
        </p:txBody>
      </p:sp>
      <p:sp>
        <p:nvSpPr>
          <p:cNvPr id="23" name="Text 20"/>
          <p:cNvSpPr txBox="1"/>
          <p:nvPr/>
        </p:nvSpPr>
        <p:spPr>
          <a:xfrm>
            <a:off x="4581144" y="3035808"/>
            <a:ext cx="4105656"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3.14.6</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00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Three blocks claim rewards at height 840,000</a:t>
            </a:r>
            <a:endParaRPr lang="en-US" sz="100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Verdicts: allowed, refused, allowed - right</a:t>
            </a:r>
            <a:endParaRPr lang="en-US" sz="1000" dirty="0"/>
          </a:p>
        </p:txBody>
      </p:sp>
      <p:sp>
        <p:nvSpPr>
          <p:cNvPr id="15" name="Shape 13"/>
          <p:cNvSpPr/>
          <p:nvPr/>
        </p:nvSpPr>
        <p:spPr>
          <a:xfrm>
            <a:off x="3840480" y="1444752"/>
            <a:ext cx="4846320" cy="432816"/>
          </a:xfrm>
          <a:prstGeom prst="roundRect">
            <a:avLst>
              <a:gd name="adj" fmla="val 16901"/>
            </a:avLst>
          </a:prstGeom>
          <a:solidFill>
            <a:srgbClr val="F2ECE1"/>
          </a:solidFill>
          <a:ln w="19050">
            <a:solidFill>
              <a:srgbClr val="2F6D62"/>
            </a:solidFill>
            <a:prstDash val="solid"/>
          </a:ln>
        </p:spPr>
      </p:sp>
      <p:sp>
        <p:nvSpPr>
          <p:cNvPr id="16" name="Shape 14"/>
          <p:cNvSpPr/>
          <p:nvPr/>
        </p:nvSpPr>
        <p:spPr>
          <a:xfrm>
            <a:off x="3931920" y="1514856"/>
            <a:ext cx="292608" cy="292608"/>
          </a:xfrm>
          <a:prstGeom prst="ellipse">
            <a:avLst/>
          </a:prstGeom>
          <a:solidFill>
            <a:srgbClr val="2F6D62"/>
          </a:solidFill>
          <a:ln w="12700">
            <a:solidFill>
              <a:srgbClr val="2F6D62"/>
            </a:solidFill>
            <a:prstDash val="solid"/>
          </a:ln>
        </p:spPr>
      </p:sp>
      <p:sp>
        <p:nvSpPr>
          <p:cNvPr id="17" name="Text 15"/>
          <p:cNvSpPr txBox="1"/>
          <p:nvPr/>
        </p:nvSpPr>
        <p:spPr>
          <a:xfrm>
            <a:off x="3931920" y="1514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315968" y="1444752"/>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9" name="Shape 17"/>
          <p:cNvSpPr/>
          <p:nvPr/>
        </p:nvSpPr>
        <p:spPr>
          <a:xfrm>
            <a:off x="3840480" y="1987296"/>
            <a:ext cx="4846320" cy="432816"/>
          </a:xfrm>
          <a:prstGeom prst="roundRect">
            <a:avLst>
              <a:gd name="adj" fmla="val 16901"/>
            </a:avLst>
          </a:prstGeom>
          <a:solidFill>
            <a:srgbClr val="F2ECE1"/>
          </a:solidFill>
          <a:ln w="19050">
            <a:solidFill>
              <a:srgbClr val="D97A14"/>
            </a:solidFill>
            <a:prstDash val="solid"/>
          </a:ln>
        </p:spPr>
      </p:sp>
      <p:sp>
        <p:nvSpPr>
          <p:cNvPr id="20" name="Shape 18"/>
          <p:cNvSpPr/>
          <p:nvPr/>
        </p:nvSpPr>
        <p:spPr>
          <a:xfrm>
            <a:off x="3931920" y="2057400"/>
            <a:ext cx="292608" cy="292608"/>
          </a:xfrm>
          <a:prstGeom prst="ellipse">
            <a:avLst/>
          </a:prstGeom>
          <a:solidFill>
            <a:srgbClr val="D97A14"/>
          </a:solidFill>
          <a:ln w="12700">
            <a:solidFill>
              <a:srgbClr val="D97A14"/>
            </a:solidFill>
            <a:prstDash val="solid"/>
          </a:ln>
        </p:spPr>
      </p:sp>
      <p:sp>
        <p:nvSpPr>
          <p:cNvPr id="21" name="Text 19"/>
          <p:cNvSpPr txBox="1"/>
          <p:nvPr/>
        </p:nvSpPr>
        <p:spPr>
          <a:xfrm>
            <a:off x="3931920" y="20574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4315968" y="1987296"/>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3" name="Shape 21"/>
          <p:cNvSpPr/>
          <p:nvPr/>
        </p:nvSpPr>
        <p:spPr>
          <a:xfrm>
            <a:off x="3840480" y="2529840"/>
            <a:ext cx="4846320" cy="432816"/>
          </a:xfrm>
          <a:prstGeom prst="roundRect">
            <a:avLst>
              <a:gd name="adj" fmla="val 16901"/>
            </a:avLst>
          </a:prstGeom>
          <a:solidFill>
            <a:srgbClr val="F2ECE1"/>
          </a:solidFill>
          <a:ln w="19050">
            <a:solidFill>
              <a:srgbClr val="2F6D62"/>
            </a:solidFill>
            <a:prstDash val="solid"/>
          </a:ln>
        </p:spPr>
      </p:sp>
      <p:sp>
        <p:nvSpPr>
          <p:cNvPr id="24" name="Shape 22"/>
          <p:cNvSpPr/>
          <p:nvPr/>
        </p:nvSpPr>
        <p:spPr>
          <a:xfrm>
            <a:off x="3931920" y="2599944"/>
            <a:ext cx="292608" cy="292608"/>
          </a:xfrm>
          <a:prstGeom prst="ellipse">
            <a:avLst/>
          </a:prstGeom>
          <a:solidFill>
            <a:srgbClr val="2F6D62"/>
          </a:solidFill>
          <a:ln w="12700">
            <a:solidFill>
              <a:srgbClr val="2F6D62"/>
            </a:solidFill>
            <a:prstDash val="solid"/>
          </a:ln>
        </p:spPr>
      </p:sp>
      <p:sp>
        <p:nvSpPr>
          <p:cNvPr id="25" name="Text 23"/>
          <p:cNvSpPr txBox="1"/>
          <p:nvPr/>
        </p:nvSpPr>
        <p:spPr>
          <a:xfrm>
            <a:off x="3931920" y="259994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4315968" y="2529840"/>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27" name="Text 25"/>
          <p:cNvSpPr txBox="1"/>
          <p:nvPr/>
        </p:nvSpPr>
        <p:spPr>
          <a:xfrm>
            <a:off x="457200" y="3127248"/>
            <a:ext cx="414589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457200" y="3401568"/>
            <a:ext cx="8229600" cy="1115568"/>
          </a:xfrm>
          <a:prstGeom prst="roundRect">
            <a:avLst>
              <a:gd name="adj" fmla="val 8197"/>
            </a:avLst>
          </a:prstGeom>
          <a:solidFill>
            <a:srgbClr val="23272E"/>
          </a:solidFill>
          <a:ln w="12700">
            <a:solidFill>
              <a:srgbClr val="23272E"/>
            </a:solidFill>
            <a:prstDash val="solid"/>
          </a:ln>
        </p:spPr>
      </p:sp>
      <p:sp>
        <p:nvSpPr>
          <p:cNvPr id="29" name="Text 27"/>
          <p:cNvSpPr txBox="1"/>
          <p:nvPr/>
        </p:nvSpPr>
        <p:spPr>
          <a:xfrm>
            <a:off x="640080" y="3520440"/>
            <a:ext cx="7863840" cy="877824"/>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r>
              <a:rPr lang="en-US" sz="900" dirty="0">
                <a:solidFill>
                  <a:srgbClr val="E6EDF3"/>
                </a:solidFill>
                <a:latin typeface="Courier New" pitchFamily="34" charset="0"/>
                <a:ea typeface="Courier New" pitchFamily="34" charset="-122"/>
                <a:cs typeface="Courier New" pitchFamily="34" charset="-120"/>
              </a:rPr>
              <a:t>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a:t>
            </a:r>
            <a:r>
              <a:rPr lang="en-US" sz="900" dirty="0">
                <a:solidFill>
                  <a:srgbClr val="FFD28A"/>
                </a:solidFill>
                <a:latin typeface="Courier New" pitchFamily="34" charset="0"/>
                <a:ea typeface="Courier New" pitchFamily="34" charset="-122"/>
                <a:cs typeface="Courier New" pitchFamily="34" charset="-120"/>
              </a:rPr>
              <a:t>50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&gt;&gt; (height // </a:t>
            </a:r>
            <a:r>
              <a:rPr lang="en-US" sz="900" dirty="0">
                <a:solidFill>
                  <a:srgbClr val="FFD28A"/>
                </a:solidFill>
                <a:latin typeface="Courier New" pitchFamily="34" charset="0"/>
                <a:ea typeface="Courier New" pitchFamily="34" charset="-122"/>
                <a:cs typeface="Courier New" pitchFamily="34" charset="-120"/>
              </a:rPr>
              <a:t>210000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return</a:t>
            </a:r>
            <a:r>
              <a:rPr lang="en-US" sz="900" dirty="0">
                <a:solidFill>
                  <a:srgbClr val="E6EDF3"/>
                </a:solidFill>
                <a:latin typeface="Courier New" pitchFamily="34" charset="0"/>
                <a:ea typeface="Courier New" pitchFamily="34" charset="-122"/>
                <a:cs typeface="Courier New" pitchFamily="34" charset="-120"/>
              </a:rPr>
              <a:t>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a:t>
            </a:r>
            <a:r>
              <a:rPr lang="en-US" sz="900" dirty="0">
                <a:solidFill>
                  <a:srgbClr val="FFD28A"/>
                </a:solidFill>
                <a:latin typeface="Courier New" pitchFamily="34" charset="0"/>
                <a:ea typeface="Courier New" pitchFamily="34" charset="-122"/>
                <a:cs typeface="Courier New" pitchFamily="34" charset="-120"/>
              </a:rPr>
              <a:t>312_500_000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accept(</a:t>
            </a:r>
            <a:r>
              <a:rPr lang="en-US" sz="900" dirty="0">
                <a:solidFill>
                  <a:srgbClr val="FFD28A"/>
                </a:solidFill>
                <a:latin typeface="Courier New" pitchFamily="34" charset="0"/>
                <a:ea typeface="Courier New" pitchFamily="34" charset="-122"/>
                <a:cs typeface="Courier New" pitchFamily="34" charset="-120"/>
              </a:rPr>
              <a:t>312_500_001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accept(</a:t>
            </a:r>
            <a:r>
              <a:rPr lang="en-US" sz="900" dirty="0">
                <a:solidFill>
                  <a:srgbClr val="FFD28A"/>
                </a:solidFill>
                <a:latin typeface="Courier New" pitchFamily="34" charset="0"/>
                <a:ea typeface="Courier New" pitchFamily="34" charset="-122"/>
                <a:cs typeface="Courier New" pitchFamily="34" charset="-120"/>
              </a:rPr>
              <a:t>325_000_000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12_500_000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r>
              <a:rPr lang="en-US" sz="900" dirty="0">
                <a:solidFill>
                  <a:srgbClr val="7EE787"/>
                </a:solidFill>
                <a:latin typeface="Courier New" pitchFamily="34" charset="0"/>
                <a:ea typeface="Courier New" pitchFamily="34" charset="-122"/>
                <a:cs typeface="Courier New" pitchFamily="34" charset="-120"/>
              </a:rPr>
              <a:t>[True, False, True]</a:t>
            </a:r>
            <a:endParaRPr lang="en-US" sz="900" dirty="0"/>
          </a:p>
        </p:txBody>
      </p:sp>
      <p:sp>
        <p:nvSpPr>
          <p:cNvPr id="30" name="Text 28"/>
          <p:cNvSpPr txBox="1"/>
          <p:nvPr/>
        </p:nvSpPr>
        <p:spPr>
          <a:xfrm>
            <a:off x="4694530" y="3127248"/>
            <a:ext cx="399227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3.14.6</a:t>
            </a:r>
            <a:endParaRPr lang="en-US" sz="9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28016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Your key is your deed - and you may never show it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house-key analogy, and where it breaks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With a car or a house, the key grants access but a registry proves ownership; in Bitcoin the key is both - so it must prove without being shown.</a:t>
            </a:r>
            <a:endParaRPr lang="en-US" sz="1250" dirty="0"/>
          </a:p>
        </p:txBody>
      </p:sp>
      <p:sp>
        <p:nvSpPr>
          <p:cNvPr id="7" name="Shape 5"/>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8" name="Shape 6"/>
          <p:cNvSpPr/>
          <p:nvPr/>
        </p:nvSpPr>
        <p:spPr>
          <a:xfrm>
            <a:off x="777240" y="2194560"/>
            <a:ext cx="640080" cy="457200"/>
          </a:xfrm>
          <a:prstGeom prst="rect">
            <a:avLst/>
          </a:prstGeom>
          <a:solidFill>
            <a:srgbClr val="2F6D62"/>
          </a:solidFill>
          <a:ln w="12700">
            <a:solidFill>
              <a:srgbClr val="2F6D62"/>
            </a:solidFill>
            <a:prstDash val="solid"/>
          </a:ln>
        </p:spPr>
      </p:sp>
      <p:sp>
        <p:nvSpPr>
          <p:cNvPr id="9" name="Shape 7"/>
          <p:cNvSpPr/>
          <p:nvPr/>
        </p:nvSpPr>
        <p:spPr>
          <a:xfrm>
            <a:off x="704088" y="1920240"/>
            <a:ext cx="786384" cy="310896"/>
          </a:xfrm>
          <a:prstGeom prst="triangle">
            <a:avLst/>
          </a:prstGeom>
          <a:solidFill>
            <a:srgbClr val="2F6D62"/>
          </a:solidFill>
          <a:ln w="12700">
            <a:solidFill>
              <a:srgbClr val="2F6D62"/>
            </a:solidFill>
            <a:prstDash val="solid"/>
          </a:ln>
        </p:spPr>
      </p:sp>
      <p:sp>
        <p:nvSpPr>
          <p:cNvPr id="10" name="Shape 8"/>
          <p:cNvSpPr/>
          <p:nvPr/>
        </p:nvSpPr>
        <p:spPr>
          <a:xfrm>
            <a:off x="1783080" y="2121408"/>
            <a:ext cx="237744" cy="237744"/>
          </a:xfrm>
          <a:prstGeom prst="ellipse">
            <a:avLst/>
          </a:prstGeom>
          <a:solidFill>
            <a:srgbClr val="D97A14"/>
          </a:solidFill>
          <a:ln w="19050">
            <a:solidFill>
              <a:srgbClr val="D97A14"/>
            </a:solidFill>
            <a:prstDash val="solid"/>
          </a:ln>
        </p:spPr>
      </p:sp>
      <p:sp>
        <p:nvSpPr>
          <p:cNvPr id="11" name="Shape 9"/>
          <p:cNvSpPr/>
          <p:nvPr/>
        </p:nvSpPr>
        <p:spPr>
          <a:xfrm>
            <a:off x="2002536" y="2203704"/>
            <a:ext cx="457200" cy="73152"/>
          </a:xfrm>
          <a:prstGeom prst="rect">
            <a:avLst/>
          </a:prstGeom>
          <a:solidFill>
            <a:srgbClr val="D97A14"/>
          </a:solidFill>
          <a:ln w="9525">
            <a:solidFill>
              <a:srgbClr val="D97A14"/>
            </a:solidFill>
            <a:prstDash val="solid"/>
          </a:ln>
        </p:spPr>
      </p:sp>
      <p:sp>
        <p:nvSpPr>
          <p:cNvPr id="12" name="Shape 10"/>
          <p:cNvSpPr/>
          <p:nvPr/>
        </p:nvSpPr>
        <p:spPr>
          <a:xfrm>
            <a:off x="2313432" y="2258568"/>
            <a:ext cx="64008" cy="109728"/>
          </a:xfrm>
          <a:prstGeom prst="rect">
            <a:avLst/>
          </a:prstGeom>
          <a:solidFill>
            <a:srgbClr val="D97A14"/>
          </a:solidFill>
          <a:ln w="9525">
            <a:solidFill>
              <a:srgbClr val="D97A14"/>
            </a:solidFill>
            <a:prstDash val="solid"/>
          </a:ln>
        </p:spPr>
      </p:sp>
      <p:sp>
        <p:nvSpPr>
          <p:cNvPr id="13" name="Text 11"/>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4" name="Text 12"/>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5" name="Shape 13"/>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6" name="Shape 14"/>
          <p:cNvSpPr/>
          <p:nvPr/>
        </p:nvSpPr>
        <p:spPr>
          <a:xfrm>
            <a:off x="5120640" y="2194560"/>
            <a:ext cx="640080" cy="457200"/>
          </a:xfrm>
          <a:prstGeom prst="rect">
            <a:avLst/>
          </a:prstGeom>
          <a:solidFill>
            <a:srgbClr val="D97A14"/>
          </a:solidFill>
          <a:ln w="12700">
            <a:solidFill>
              <a:srgbClr val="D97A14"/>
            </a:solidFill>
            <a:prstDash val="solid"/>
          </a:ln>
        </p:spPr>
      </p:sp>
      <p:sp>
        <p:nvSpPr>
          <p:cNvPr id="17" name="Shape 15"/>
          <p:cNvSpPr/>
          <p:nvPr/>
        </p:nvSpPr>
        <p:spPr>
          <a:xfrm>
            <a:off x="5047488" y="1920240"/>
            <a:ext cx="786384" cy="310896"/>
          </a:xfrm>
          <a:prstGeom prst="triangle">
            <a:avLst/>
          </a:prstGeom>
          <a:solidFill>
            <a:srgbClr val="D97A14"/>
          </a:solidFill>
          <a:ln w="12700">
            <a:solidFill>
              <a:srgbClr val="D97A14"/>
            </a:solidFill>
            <a:prstDash val="solid"/>
          </a:ln>
        </p:spPr>
      </p:sp>
      <p:sp>
        <p:nvSpPr>
          <p:cNvPr id="18" name="Shape 16"/>
          <p:cNvSpPr/>
          <p:nvPr/>
        </p:nvSpPr>
        <p:spPr>
          <a:xfrm>
            <a:off x="6126480" y="2121408"/>
            <a:ext cx="237744" cy="237744"/>
          </a:xfrm>
          <a:prstGeom prst="ellipse">
            <a:avLst/>
          </a:prstGeom>
          <a:solidFill>
            <a:srgbClr val="D97A14"/>
          </a:solidFill>
          <a:ln w="19050">
            <a:solidFill>
              <a:srgbClr val="D97A14"/>
            </a:solidFill>
            <a:prstDash val="solid"/>
          </a:ln>
        </p:spPr>
      </p:sp>
      <p:sp>
        <p:nvSpPr>
          <p:cNvPr id="19" name="Shape 17"/>
          <p:cNvSpPr/>
          <p:nvPr/>
        </p:nvSpPr>
        <p:spPr>
          <a:xfrm>
            <a:off x="6345936" y="2203704"/>
            <a:ext cx="457200" cy="73152"/>
          </a:xfrm>
          <a:prstGeom prst="rect">
            <a:avLst/>
          </a:prstGeom>
          <a:solidFill>
            <a:srgbClr val="D97A14"/>
          </a:solidFill>
          <a:ln w="9525">
            <a:solidFill>
              <a:srgbClr val="D97A14"/>
            </a:solidFill>
            <a:prstDash val="solid"/>
          </a:ln>
        </p:spPr>
      </p:sp>
      <p:sp>
        <p:nvSpPr>
          <p:cNvPr id="20" name="Shape 18"/>
          <p:cNvSpPr/>
          <p:nvPr/>
        </p:nvSpPr>
        <p:spPr>
          <a:xfrm>
            <a:off x="6656832" y="2258568"/>
            <a:ext cx="64008" cy="109728"/>
          </a:xfrm>
          <a:prstGeom prst="rect">
            <a:avLst/>
          </a:prstGeom>
          <a:solidFill>
            <a:srgbClr val="D97A14"/>
          </a:solidFill>
          <a:ln w="9525">
            <a:solidFill>
              <a:srgbClr val="D97A14"/>
            </a:solidFill>
            <a:prstDash val="solid"/>
          </a:ln>
        </p:spPr>
      </p:sp>
      <p:sp>
        <p:nvSpPr>
          <p:cNvPr id="21" name="Text 19"/>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2" name="Text 20"/>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3" name="Text 21"/>
          <p:cNvSpPr txBox="1"/>
          <p:nvPr/>
        </p:nvSpPr>
        <p:spPr>
          <a:xfrm>
            <a:off x="457200" y="39776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(ch. 4 and 8): a signature proves you hold the key while the key itself stays secret</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46</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Mt. Gox: the exchange that lost everyone's coins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Tokyo, February 2014 - figures from the court filing, not recomputed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Not a parable: a named company, a named CEO, a dated court filing - and the course's first security lesson.</a:t>
            </a:r>
            <a:endParaRPr lang="en-US" sz="1250" dirty="0"/>
          </a:p>
        </p:txBody>
      </p:sp>
      <p:sp>
        <p:nvSpPr>
          <p:cNvPr id="7" name="Shape 5"/>
          <p:cNvSpPr/>
          <p:nvPr/>
        </p:nvSpPr>
        <p:spPr>
          <a:xfrm>
            <a:off x="457200" y="1481328"/>
            <a:ext cx="2590800" cy="1143000"/>
          </a:xfrm>
          <a:prstGeom prst="roundRect">
            <a:avLst>
              <a:gd name="adj" fmla="val 6400"/>
            </a:avLst>
          </a:prstGeom>
          <a:solidFill>
            <a:srgbClr val="F2ECE1"/>
          </a:solidFill>
          <a:ln w="12700">
            <a:solidFill>
              <a:srgbClr val="DFD6C7"/>
            </a:solidFill>
            <a:prstDash val="solid"/>
          </a:ln>
        </p:spPr>
      </p:sp>
      <p:sp>
        <p:nvSpPr>
          <p:cNvPr id="8" name="Text 6"/>
          <p:cNvSpPr txBox="1"/>
          <p:nvPr/>
        </p:nvSpPr>
        <p:spPr>
          <a:xfrm>
            <a:off x="5669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9" name="Text 7"/>
          <p:cNvSpPr txBox="1"/>
          <p:nvPr/>
        </p:nvSpPr>
        <p:spPr>
          <a:xfrm>
            <a:off x="5669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missing per the Tokyo court filing, Feb 2014</a:t>
            </a:r>
            <a:endParaRPr lang="en-US" sz="1150" dirty="0"/>
          </a:p>
        </p:txBody>
      </p:sp>
      <p:sp>
        <p:nvSpPr>
          <p:cNvPr id="10" name="Shape 8"/>
          <p:cNvSpPr/>
          <p:nvPr/>
        </p:nvSpPr>
        <p:spPr>
          <a:xfrm>
            <a:off x="3276600" y="1481328"/>
            <a:ext cx="2590800" cy="1143000"/>
          </a:xfrm>
          <a:prstGeom prst="roundRect">
            <a:avLst>
              <a:gd name="adj" fmla="val 6400"/>
            </a:avLst>
          </a:prstGeom>
          <a:solidFill>
            <a:srgbClr val="F2ECE1"/>
          </a:solidFill>
          <a:ln w="12700">
            <a:solidFill>
              <a:srgbClr val="DFD6C7"/>
            </a:solidFill>
            <a:prstDash val="solid"/>
          </a:ln>
        </p:spPr>
      </p:sp>
      <p:sp>
        <p:nvSpPr>
          <p:cNvPr id="11" name="Text 9"/>
          <p:cNvSpPr txBox="1"/>
          <p:nvPr/>
        </p:nvSpPr>
        <p:spPr>
          <a:xfrm>
            <a:off x="33863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2" name="Text 10"/>
          <p:cNvSpPr txBox="1"/>
          <p:nvPr/>
        </p:nvSpPr>
        <p:spPr>
          <a:xfrm>
            <a:off x="33863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bitcoin exchange in the world</a:t>
            </a:r>
            <a:endParaRPr lang="en-US" sz="1150" dirty="0"/>
          </a:p>
        </p:txBody>
      </p:sp>
      <p:sp>
        <p:nvSpPr>
          <p:cNvPr id="13" name="Shape 11"/>
          <p:cNvSpPr/>
          <p:nvPr/>
        </p:nvSpPr>
        <p:spPr>
          <a:xfrm>
            <a:off x="6096000" y="1481328"/>
            <a:ext cx="2590800" cy="1143000"/>
          </a:xfrm>
          <a:prstGeom prst="roundRect">
            <a:avLst>
              <a:gd name="adj" fmla="val 6400"/>
            </a:avLst>
          </a:prstGeom>
          <a:solidFill>
            <a:srgbClr val="F2ECE1"/>
          </a:solidFill>
          <a:ln w="12700">
            <a:solidFill>
              <a:srgbClr val="DFD6C7"/>
            </a:solidFill>
            <a:prstDash val="solid"/>
          </a:ln>
        </p:spPr>
      </p:sp>
      <p:sp>
        <p:nvSpPr>
          <p:cNvPr id="14" name="Text 12"/>
          <p:cNvSpPr txBox="1"/>
          <p:nvPr/>
        </p:nvSpPr>
        <p:spPr>
          <a:xfrm>
            <a:off x="62057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5" name="Text 13"/>
          <p:cNvSpPr txBox="1"/>
          <p:nvPr/>
        </p:nvSpPr>
        <p:spPr>
          <a:xfrm>
            <a:off x="62057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6" name="Shape 14"/>
          <p:cNvSpPr/>
          <p:nvPr/>
        </p:nvSpPr>
        <p:spPr>
          <a:xfrm>
            <a:off x="457200" y="301066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27889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Customers saw balances on a website; the keys - so the coins - sat in one company's safe</a:t>
            </a:r>
            <a:endParaRPr lang="en-US" sz="1300" dirty="0"/>
          </a:p>
        </p:txBody>
      </p:sp>
      <p:sp>
        <p:nvSpPr>
          <p:cNvPr id="18" name="Shape 16"/>
          <p:cNvSpPr/>
          <p:nvPr/>
        </p:nvSpPr>
        <p:spPr>
          <a:xfrm>
            <a:off x="457200" y="358216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3604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When the keys vanished, every balance on the screen meant nothing</a:t>
            </a:r>
            <a:endParaRPr lang="en-US" sz="1300" dirty="0"/>
          </a:p>
        </p:txBody>
      </p:sp>
      <p:sp>
        <p:nvSpPr>
          <p:cNvPr id="20"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led by CEO Mark…</a:t>
            </a:r>
            <a:endParaRPr lang="en-US" sz="750" dirty="0"/>
          </a:p>
        </p:txBody>
      </p:sp>
      <p:sp>
        <p:nvSpPr>
          <p:cNvPr id="22"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bankruptcy file…</a:t>
            </a:r>
            <a:endParaRPr lang="en-US" sz="750" dirty="0"/>
          </a:p>
        </p:txBody>
      </p:sp>
      <p:sp>
        <p:nvSpPr>
          <p:cNvPr id="24"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February 2014</a:t>
            </a:r>
            <a:endParaRPr lang="en-US" sz="750" dirty="0"/>
          </a:p>
        </p:txBody>
      </p:sp>
      <p:sp>
        <p:nvSpPr>
          <p:cNvPr id="26"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 - exchanges included</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484757"/>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7160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8" name="Shape 6"/>
          <p:cNvSpPr/>
          <p:nvPr/>
        </p:nvSpPr>
        <p:spPr>
          <a:xfrm>
            <a:off x="457200" y="1839087"/>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2593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0" name="Shape 8"/>
          <p:cNvSpPr/>
          <p:nvPr/>
        </p:nvSpPr>
        <p:spPr>
          <a:xfrm>
            <a:off x="457200" y="2193417"/>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8026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2" name="Shape 10"/>
          <p:cNvSpPr/>
          <p:nvPr/>
        </p:nvSpPr>
        <p:spPr>
          <a:xfrm>
            <a:off x="457200" y="2547747"/>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3459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4" name="Shape 12"/>
          <p:cNvSpPr/>
          <p:nvPr/>
        </p:nvSpPr>
        <p:spPr>
          <a:xfrm flipV="1">
            <a:off x="4206240" y="1371600"/>
            <a:ext cx="4206240" cy="164592"/>
          </a:xfrm>
          <a:prstGeom prst="trapezoid">
            <a:avLst/>
          </a:prstGeom>
          <a:solidFill>
            <a:srgbClr val="2F6D62"/>
          </a:solidFill>
          <a:ln w="12700">
            <a:solidFill>
              <a:srgbClr val="FFFFFF"/>
            </a:solidFill>
            <a:prstDash val="solid"/>
          </a:ln>
        </p:spPr>
      </p:sp>
      <p:sp>
        <p:nvSpPr>
          <p:cNvPr id="15" name="Text 13"/>
          <p:cNvSpPr txBox="1"/>
          <p:nvPr/>
        </p:nvSpPr>
        <p:spPr>
          <a:xfrm>
            <a:off x="4206240" y="1371600"/>
            <a:ext cx="4206240"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16" name="Shape 14"/>
          <p:cNvSpPr/>
          <p:nvPr/>
        </p:nvSpPr>
        <p:spPr>
          <a:xfrm flipV="1">
            <a:off x="4584802" y="1645920"/>
            <a:ext cx="3449117" cy="164592"/>
          </a:xfrm>
          <a:prstGeom prst="trapezoid">
            <a:avLst/>
          </a:prstGeom>
          <a:solidFill>
            <a:srgbClr val="2F6D62"/>
          </a:solidFill>
          <a:ln w="12700">
            <a:solidFill>
              <a:srgbClr val="FFFFFF"/>
            </a:solidFill>
            <a:prstDash val="solid"/>
          </a:ln>
        </p:spPr>
      </p:sp>
      <p:sp>
        <p:nvSpPr>
          <p:cNvPr id="17" name="Text 15"/>
          <p:cNvSpPr txBox="1"/>
          <p:nvPr/>
        </p:nvSpPr>
        <p:spPr>
          <a:xfrm>
            <a:off x="4584802" y="1645920"/>
            <a:ext cx="3449117"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18" name="Shape 16"/>
          <p:cNvSpPr/>
          <p:nvPr/>
        </p:nvSpPr>
        <p:spPr>
          <a:xfrm flipV="1">
            <a:off x="4963363" y="1920240"/>
            <a:ext cx="2691994" cy="164592"/>
          </a:xfrm>
          <a:prstGeom prst="trapezoid">
            <a:avLst/>
          </a:prstGeom>
          <a:solidFill>
            <a:srgbClr val="2F6D62"/>
          </a:solidFill>
          <a:ln w="12700">
            <a:solidFill>
              <a:srgbClr val="FFFFFF"/>
            </a:solidFill>
            <a:prstDash val="solid"/>
          </a:ln>
        </p:spPr>
      </p:sp>
      <p:sp>
        <p:nvSpPr>
          <p:cNvPr id="19" name="Text 17"/>
          <p:cNvSpPr txBox="1"/>
          <p:nvPr/>
        </p:nvSpPr>
        <p:spPr>
          <a:xfrm>
            <a:off x="4963363" y="1920240"/>
            <a:ext cx="2691994"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0" name="Shape 18"/>
          <p:cNvSpPr/>
          <p:nvPr/>
        </p:nvSpPr>
        <p:spPr>
          <a:xfrm flipV="1">
            <a:off x="5341925" y="2194560"/>
            <a:ext cx="1934870" cy="164592"/>
          </a:xfrm>
          <a:prstGeom prst="trapezoid">
            <a:avLst/>
          </a:prstGeom>
          <a:solidFill>
            <a:srgbClr val="D97A14"/>
          </a:solidFill>
          <a:ln w="12700">
            <a:solidFill>
              <a:srgbClr val="FFFFFF"/>
            </a:solidFill>
            <a:prstDash val="solid"/>
          </a:ln>
        </p:spPr>
      </p:sp>
      <p:sp>
        <p:nvSpPr>
          <p:cNvPr id="21" name="Text 19"/>
          <p:cNvSpPr txBox="1"/>
          <p:nvPr/>
        </p:nvSpPr>
        <p:spPr>
          <a:xfrm>
            <a:off x="5341925" y="2194560"/>
            <a:ext cx="1934870"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2" name="Text 20"/>
          <p:cNvSpPr txBox="1"/>
          <p:nvPr/>
        </p:nvSpPr>
        <p:spPr>
          <a:xfrm>
            <a:off x="4206240" y="250545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3" name="Text 21"/>
          <p:cNvSpPr txBox="1"/>
          <p:nvPr/>
        </p:nvSpPr>
        <p:spPr>
          <a:xfrm>
            <a:off x="457200" y="2834640"/>
            <a:ext cx="4315968"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4" name="Shape 22"/>
          <p:cNvSpPr/>
          <p:nvPr/>
        </p:nvSpPr>
        <p:spPr>
          <a:xfrm>
            <a:off x="457200" y="3108960"/>
            <a:ext cx="8229600" cy="1435608"/>
          </a:xfrm>
          <a:prstGeom prst="roundRect">
            <a:avLst>
              <a:gd name="adj" fmla="val 6369"/>
            </a:avLst>
          </a:prstGeom>
          <a:solidFill>
            <a:srgbClr val="23272E"/>
          </a:solidFill>
          <a:ln w="12700">
            <a:solidFill>
              <a:srgbClr val="23272E"/>
            </a:solidFill>
            <a:prstDash val="solid"/>
          </a:ln>
        </p:spPr>
      </p:sp>
      <p:sp>
        <p:nvSpPr>
          <p:cNvPr id="25" name="Text 23"/>
          <p:cNvSpPr txBox="1"/>
          <p:nvPr/>
        </p:nvSpPr>
        <p:spPr>
          <a:xfrm>
            <a:off x="640080" y="3227832"/>
            <a:ext cx="7863840" cy="1197864"/>
          </a:xfrm>
          <a:prstGeom prst="rect">
            <a:avLst/>
          </a:prstGeom>
          <a:noFill/>
          <a:ln/>
        </p:spPr>
        <p:txBody>
          <a:bodyPr wrap="square" lIns="0" tIns="0" rIns="0" bIns="0" rtlCol="0" anchor="t"/>
          <a:lstStyle/>
          <a:p>
            <a:pPr indent="0" marL="0">
              <a:buNone/>
            </a:pPr>
            <a:r>
              <a:rPr lang="en-US" sz="740" b="1" dirty="0">
                <a:solidFill>
                  <a:srgbClr val="F2A860"/>
                </a:solidFill>
                <a:latin typeface="Courier New" pitchFamily="34" charset="0"/>
                <a:ea typeface="Courier New" pitchFamily="34" charset="-122"/>
                <a:cs typeface="Courier New" pitchFamily="34" charset="-120"/>
              </a:rPr>
              <a:t>import</a:t>
            </a:r>
            <a:r>
              <a:rPr lang="en-US" sz="740" dirty="0">
                <a:solidFill>
                  <a:srgbClr val="E6EDF3"/>
                </a:solidFill>
                <a:latin typeface="Courier New" pitchFamily="34" charset="0"/>
                <a:ea typeface="Courier New" pitchFamily="34" charset="-122"/>
                <a:cs typeface="Courier New" pitchFamily="34" charset="-120"/>
              </a:rPr>
              <a:t> hmac</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password, salt, iters = b</a:t>
            </a:r>
            <a:r>
              <a:rPr lang="en-US" sz="740" dirty="0">
                <a:solidFill>
                  <a:srgbClr val="9ECBFF"/>
                </a:solidFill>
                <a:latin typeface="Courier New" pitchFamily="34" charset="0"/>
                <a:ea typeface="Courier New" pitchFamily="34" charset="-122"/>
                <a:cs typeface="Courier New" pitchFamily="34" charset="-120"/>
              </a:rPr>
              <a:t>'abandon'</a:t>
            </a:r>
            <a:r>
              <a:rPr lang="en-US" sz="740" dirty="0">
                <a:solidFill>
                  <a:srgbClr val="E6EDF3"/>
                </a:solidFill>
                <a:latin typeface="Courier New" pitchFamily="34" charset="0"/>
                <a:ea typeface="Courier New" pitchFamily="34" charset="-122"/>
                <a:cs typeface="Courier New" pitchFamily="34" charset="-120"/>
              </a:rPr>
              <a:t>, b</a:t>
            </a:r>
            <a:r>
              <a:rPr lang="en-US" sz="740" dirty="0">
                <a:solidFill>
                  <a:srgbClr val="9ECBFF"/>
                </a:solidFill>
                <a:latin typeface="Courier New" pitchFamily="34" charset="0"/>
                <a:ea typeface="Courier New" pitchFamily="34" charset="-122"/>
                <a:cs typeface="Courier New" pitchFamily="34" charset="-120"/>
              </a:rPr>
              <a:t>'mnemonic'</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2048</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u = hmac.new(password, salt + bytes([</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).digest()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seed = u</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_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range(iters - </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u = hmac.new(password, u, </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).digest()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seed = bytes(a ^ b </a:t>
            </a: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a, b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zip(seed, u))</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result = (len(seed), seed.hex()[:</a:t>
            </a:r>
            <a:r>
              <a:rPr lang="en-US" sz="740" dirty="0">
                <a:solidFill>
                  <a:srgbClr val="FFD28A"/>
                </a:solidFill>
                <a:latin typeface="Courier New" pitchFamily="34" charset="0"/>
                <a:ea typeface="Courier New" pitchFamily="34" charset="-122"/>
                <a:cs typeface="Courier New" pitchFamily="34" charset="-120"/>
              </a:rPr>
              <a:t>8</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result </a:t>
            </a:r>
            <a:r>
              <a:rPr lang="en-US" sz="740" dirty="0">
                <a:solidFill>
                  <a:srgbClr val="7EE787"/>
                </a:solidFill>
                <a:latin typeface="Courier New" pitchFamily="34" charset="0"/>
                <a:ea typeface="Courier New" pitchFamily="34" charset="-122"/>
                <a:cs typeface="Courier New" pitchFamily="34" charset="-120"/>
              </a:rPr>
              <a:t>(64, 'd96147bf')</a:t>
            </a:r>
            <a:endParaRPr lang="en-US" sz="740" dirty="0"/>
          </a:p>
        </p:txBody>
      </p:sp>
      <p:sp>
        <p:nvSpPr>
          <p:cNvPr id="26" name="Text 24"/>
          <p:cNvSpPr txBox="1"/>
          <p:nvPr/>
        </p:nvSpPr>
        <p:spPr>
          <a:xfrm>
            <a:off x="4864608" y="2834640"/>
            <a:ext cx="3822192"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3.14.6</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46</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280160"/>
            <a:ext cx="1700784" cy="731520"/>
          </a:xfrm>
          <a:prstGeom prst="roundRect">
            <a:avLst>
              <a:gd name="adj" fmla="val 12500"/>
            </a:avLst>
          </a:prstGeom>
          <a:solidFill>
            <a:srgbClr val="2F6D62"/>
          </a:solidFill>
          <a:ln w="12700">
            <a:solidFill>
              <a:srgbClr val="2F6D62"/>
            </a:solidFill>
            <a:prstDash val="solid"/>
          </a:ln>
        </p:spPr>
      </p:sp>
      <p:sp>
        <p:nvSpPr>
          <p:cNvPr id="7" name="Text 5"/>
          <p:cNvSpPr txBox="1"/>
          <p:nvPr/>
        </p:nvSpPr>
        <p:spPr>
          <a:xfrm>
            <a:off x="530352"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645920"/>
            <a:ext cx="365760" cy="0"/>
          </a:xfrm>
          <a:prstGeom prst="line">
            <a:avLst/>
          </a:prstGeom>
          <a:noFill/>
          <a:ln w="25400">
            <a:solidFill>
              <a:srgbClr val="D97A14"/>
            </a:solidFill>
            <a:prstDash val="solid"/>
            <a:tailEnd type="triangle"/>
          </a:ln>
        </p:spPr>
      </p:sp>
      <p:sp>
        <p:nvSpPr>
          <p:cNvPr id="9" name="Shape 7"/>
          <p:cNvSpPr/>
          <p:nvPr/>
        </p:nvSpPr>
        <p:spPr>
          <a:xfrm>
            <a:off x="2633472" y="1280160"/>
            <a:ext cx="1700784" cy="731520"/>
          </a:xfrm>
          <a:prstGeom prst="roundRect">
            <a:avLst>
              <a:gd name="adj" fmla="val 12500"/>
            </a:avLst>
          </a:prstGeom>
          <a:solidFill>
            <a:srgbClr val="2F6D62"/>
          </a:solidFill>
          <a:ln w="12700">
            <a:solidFill>
              <a:srgbClr val="2F6D62"/>
            </a:solidFill>
            <a:prstDash val="solid"/>
          </a:ln>
        </p:spPr>
      </p:sp>
      <p:sp>
        <p:nvSpPr>
          <p:cNvPr id="10" name="Text 8"/>
          <p:cNvSpPr txBox="1"/>
          <p:nvPr/>
        </p:nvSpPr>
        <p:spPr>
          <a:xfrm>
            <a:off x="2706624"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645920"/>
            <a:ext cx="365760" cy="0"/>
          </a:xfrm>
          <a:prstGeom prst="line">
            <a:avLst/>
          </a:prstGeom>
          <a:noFill/>
          <a:ln w="25400">
            <a:solidFill>
              <a:srgbClr val="D97A14"/>
            </a:solidFill>
            <a:prstDash val="solid"/>
            <a:tailEnd type="triangle"/>
          </a:ln>
        </p:spPr>
      </p:sp>
      <p:sp>
        <p:nvSpPr>
          <p:cNvPr id="12" name="Shape 10"/>
          <p:cNvSpPr/>
          <p:nvPr/>
        </p:nvSpPr>
        <p:spPr>
          <a:xfrm>
            <a:off x="4809744" y="1280160"/>
            <a:ext cx="1700784" cy="731520"/>
          </a:xfrm>
          <a:prstGeom prst="roundRect">
            <a:avLst>
              <a:gd name="adj" fmla="val 12500"/>
            </a:avLst>
          </a:prstGeom>
          <a:solidFill>
            <a:srgbClr val="2F6D62"/>
          </a:solidFill>
          <a:ln w="12700">
            <a:solidFill>
              <a:srgbClr val="2F6D62"/>
            </a:solidFill>
            <a:prstDash val="solid"/>
          </a:ln>
        </p:spPr>
      </p:sp>
      <p:sp>
        <p:nvSpPr>
          <p:cNvPr id="13" name="Text 11"/>
          <p:cNvSpPr txBox="1"/>
          <p:nvPr/>
        </p:nvSpPr>
        <p:spPr>
          <a:xfrm>
            <a:off x="4882896"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645920"/>
            <a:ext cx="365760" cy="0"/>
          </a:xfrm>
          <a:prstGeom prst="line">
            <a:avLst/>
          </a:prstGeom>
          <a:noFill/>
          <a:ln w="25400">
            <a:solidFill>
              <a:srgbClr val="D97A14"/>
            </a:solidFill>
            <a:prstDash val="solid"/>
            <a:tailEnd type="triangle"/>
          </a:ln>
        </p:spPr>
      </p:sp>
      <p:sp>
        <p:nvSpPr>
          <p:cNvPr id="15" name="Shape 13"/>
          <p:cNvSpPr/>
          <p:nvPr/>
        </p:nvSpPr>
        <p:spPr>
          <a:xfrm>
            <a:off x="6986016" y="1280160"/>
            <a:ext cx="1700784" cy="731520"/>
          </a:xfrm>
          <a:prstGeom prst="roundRect">
            <a:avLst>
              <a:gd name="adj" fmla="val 12500"/>
            </a:avLst>
          </a:prstGeom>
          <a:solidFill>
            <a:srgbClr val="2F6D62"/>
          </a:solidFill>
          <a:ln w="12700">
            <a:solidFill>
              <a:srgbClr val="2F6D62"/>
            </a:solidFill>
            <a:prstDash val="solid"/>
          </a:ln>
        </p:spPr>
      </p:sp>
      <p:sp>
        <p:nvSpPr>
          <p:cNvPr id="16" name="Text 14"/>
          <p:cNvSpPr txBox="1"/>
          <p:nvPr/>
        </p:nvSpPr>
        <p:spPr>
          <a:xfrm>
            <a:off x="7059168"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2372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210312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19" name="Shape 17"/>
          <p:cNvSpPr/>
          <p:nvPr/>
        </p:nvSpPr>
        <p:spPr>
          <a:xfrm>
            <a:off x="457200" y="263347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249936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1" name="Shape 19"/>
          <p:cNvSpPr/>
          <p:nvPr/>
        </p:nvSpPr>
        <p:spPr>
          <a:xfrm>
            <a:off x="457200" y="302971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289560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3" name="Text 21"/>
          <p:cNvSpPr txBox="1"/>
          <p:nvPr/>
        </p:nvSpPr>
        <p:spPr>
          <a:xfrm>
            <a:off x="3931920" y="21031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4" name="Shape 22"/>
          <p:cNvSpPr/>
          <p:nvPr/>
        </p:nvSpPr>
        <p:spPr>
          <a:xfrm>
            <a:off x="5212080" y="2130552"/>
            <a:ext cx="2240280" cy="310896"/>
          </a:xfrm>
          <a:prstGeom prst="roundRect">
            <a:avLst>
              <a:gd name="adj" fmla="val 14706"/>
            </a:avLst>
          </a:prstGeom>
          <a:solidFill>
            <a:srgbClr val="D97A14"/>
          </a:solidFill>
          <a:ln w="12700">
            <a:solidFill>
              <a:srgbClr val="D97A14"/>
            </a:solidFill>
            <a:prstDash val="solid"/>
          </a:ln>
        </p:spPr>
      </p:sp>
      <p:sp>
        <p:nvSpPr>
          <p:cNvPr id="25" name="Text 23"/>
          <p:cNvSpPr txBox="1"/>
          <p:nvPr/>
        </p:nvSpPr>
        <p:spPr>
          <a:xfrm>
            <a:off x="7507224" y="21305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6" name="Text 24"/>
          <p:cNvSpPr txBox="1"/>
          <p:nvPr/>
        </p:nvSpPr>
        <p:spPr>
          <a:xfrm>
            <a:off x="3931920" y="2505456"/>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27" name="Shape 25"/>
          <p:cNvSpPr/>
          <p:nvPr/>
        </p:nvSpPr>
        <p:spPr>
          <a:xfrm>
            <a:off x="5212080" y="2532888"/>
            <a:ext cx="1556805" cy="310896"/>
          </a:xfrm>
          <a:prstGeom prst="roundRect">
            <a:avLst>
              <a:gd name="adj" fmla="val 14706"/>
            </a:avLst>
          </a:prstGeom>
          <a:solidFill>
            <a:srgbClr val="2F6D62"/>
          </a:solidFill>
          <a:ln w="12700">
            <a:solidFill>
              <a:srgbClr val="2F6D62"/>
            </a:solidFill>
            <a:prstDash val="solid"/>
          </a:ln>
        </p:spPr>
      </p:sp>
      <p:sp>
        <p:nvSpPr>
          <p:cNvPr id="28" name="Text 26"/>
          <p:cNvSpPr txBox="1"/>
          <p:nvPr/>
        </p:nvSpPr>
        <p:spPr>
          <a:xfrm>
            <a:off x="6823749" y="2532888"/>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29" name="Text 27"/>
          <p:cNvSpPr txBox="1"/>
          <p:nvPr/>
        </p:nvSpPr>
        <p:spPr>
          <a:xfrm>
            <a:off x="3931920" y="290779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0" name="Shape 28"/>
          <p:cNvSpPr/>
          <p:nvPr/>
        </p:nvSpPr>
        <p:spPr>
          <a:xfrm>
            <a:off x="5212080" y="2935224"/>
            <a:ext cx="109728" cy="310896"/>
          </a:xfrm>
          <a:prstGeom prst="roundRect">
            <a:avLst>
              <a:gd name="adj" fmla="val 41667"/>
            </a:avLst>
          </a:prstGeom>
          <a:solidFill>
            <a:srgbClr val="D97A14"/>
          </a:solidFill>
          <a:ln w="12700">
            <a:solidFill>
              <a:srgbClr val="D97A14"/>
            </a:solidFill>
            <a:prstDash val="solid"/>
          </a:ln>
        </p:spPr>
      </p:sp>
      <p:sp>
        <p:nvSpPr>
          <p:cNvPr id="31" name="Text 29"/>
          <p:cNvSpPr txBox="1"/>
          <p:nvPr/>
        </p:nvSpPr>
        <p:spPr>
          <a:xfrm>
            <a:off x="5376672" y="293522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2" name="Text 30"/>
          <p:cNvSpPr txBox="1"/>
          <p:nvPr/>
        </p:nvSpPr>
        <p:spPr>
          <a:xfrm>
            <a:off x="457200" y="3337560"/>
            <a:ext cx="4259275"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3" name="Shape 31"/>
          <p:cNvSpPr/>
          <p:nvPr/>
        </p:nvSpPr>
        <p:spPr>
          <a:xfrm>
            <a:off x="457200" y="3611880"/>
            <a:ext cx="8229600" cy="914400"/>
          </a:xfrm>
          <a:prstGeom prst="roundRect">
            <a:avLst>
              <a:gd name="adj" fmla="val 10000"/>
            </a:avLst>
          </a:prstGeom>
          <a:solidFill>
            <a:srgbClr val="23272E"/>
          </a:solidFill>
          <a:ln w="12700">
            <a:solidFill>
              <a:srgbClr val="23272E"/>
            </a:solidFill>
            <a:prstDash val="solid"/>
          </a:ln>
        </p:spPr>
      </p:sp>
      <p:sp>
        <p:nvSpPr>
          <p:cNvPr id="34" name="Text 32"/>
          <p:cNvSpPr txBox="1"/>
          <p:nvPr/>
        </p:nvSpPr>
        <p:spPr>
          <a:xfrm>
            <a:off x="640080" y="3730752"/>
            <a:ext cx="7863840" cy="676656"/>
          </a:xfrm>
          <a:prstGeom prst="rect">
            <a:avLst/>
          </a:prstGeom>
          <a:noFill/>
          <a:ln/>
        </p:spPr>
        <p:txBody>
          <a:bodyPr wrap="square" lIns="0" tIns="0" rIns="0" bIns="0" rtlCol="0" anchor="t"/>
          <a:lstStyle/>
          <a:p>
            <a:pPr indent="0" marL="0">
              <a:buNone/>
            </a:pPr>
            <a:r>
              <a:rPr lang="en-US" sz="740" dirty="0">
                <a:solidFill>
                  <a:srgbClr val="E6EDF3"/>
                </a:solidFill>
                <a:latin typeface="Courier New" pitchFamily="34" charset="0"/>
                <a:ea typeface="Courier New" pitchFamily="34" charset="-122"/>
                <a:cs typeface="Courier New" pitchFamily="34" charset="-120"/>
              </a:rPr>
              <a:t>onchain, a, b = </a:t>
            </a:r>
            <a:r>
              <a:rPr lang="en-US" sz="740" dirty="0">
                <a:solidFill>
                  <a:srgbClr val="FFD28A"/>
                </a:solidFill>
                <a:latin typeface="Courier New" pitchFamily="34" charset="0"/>
                <a:ea typeface="Courier New" pitchFamily="34" charset="-122"/>
                <a:cs typeface="Courier New" pitchFamily="34" charset="-120"/>
              </a:rPr>
              <a:t>2</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60_000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40_000</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_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range(</a:t>
            </a:r>
            <a:r>
              <a:rPr lang="en-US" sz="740" dirty="0">
                <a:solidFill>
                  <a:srgbClr val="FFD28A"/>
                </a:solidFill>
                <a:latin typeface="Courier New" pitchFamily="34" charset="0"/>
                <a:ea typeface="Courier New" pitchFamily="34" charset="-122"/>
                <a:cs typeface="Courier New" pitchFamily="34" charset="-120"/>
              </a:rPr>
              <a:t>100</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 b = a - </a:t>
            </a:r>
            <a:r>
              <a:rPr lang="en-US" sz="740" dirty="0">
                <a:solidFill>
                  <a:srgbClr val="FFD28A"/>
                </a:solidFill>
                <a:latin typeface="Courier New" pitchFamily="34" charset="0"/>
                <a:ea typeface="Courier New" pitchFamily="34" charset="-122"/>
                <a:cs typeface="Courier New" pitchFamily="34" charset="-120"/>
              </a:rPr>
              <a:t>10</a:t>
            </a:r>
            <a:r>
              <a:rPr lang="en-US" sz="740" dirty="0">
                <a:solidFill>
                  <a:srgbClr val="E6EDF3"/>
                </a:solidFill>
                <a:latin typeface="Courier New" pitchFamily="34" charset="0"/>
                <a:ea typeface="Courier New" pitchFamily="34" charset="-122"/>
                <a:cs typeface="Courier New" pitchFamily="34" charset="-120"/>
              </a:rPr>
              <a:t>, b + </a:t>
            </a:r>
            <a:r>
              <a:rPr lang="en-US" sz="740" dirty="0">
                <a:solidFill>
                  <a:srgbClr val="FFD28A"/>
                </a:solidFill>
                <a:latin typeface="Courier New" pitchFamily="34" charset="0"/>
                <a:ea typeface="Courier New" pitchFamily="34" charset="-122"/>
                <a:cs typeface="Courier New" pitchFamily="34" charset="-120"/>
              </a:rPr>
              <a:t>10</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result = (a, b, a + b, onchain)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result </a:t>
            </a:r>
            <a:r>
              <a:rPr lang="en-US" sz="740" dirty="0">
                <a:solidFill>
                  <a:srgbClr val="7EE787"/>
                </a:solidFill>
                <a:latin typeface="Courier New" pitchFamily="34" charset="0"/>
                <a:ea typeface="Courier New" pitchFamily="34" charset="-122"/>
                <a:cs typeface="Courier New" pitchFamily="34" charset="-120"/>
              </a:rPr>
              <a:t>(59000, 41000, 100000, 2)</a:t>
            </a:r>
            <a:endParaRPr lang="en-US" sz="740" dirty="0"/>
          </a:p>
        </p:txBody>
      </p:sp>
      <p:sp>
        <p:nvSpPr>
          <p:cNvPr id="35" name="Text 33"/>
          <p:cNvSpPr txBox="1"/>
          <p:nvPr/>
        </p:nvSpPr>
        <p:spPr>
          <a:xfrm>
            <a:off x="4807915" y="3337560"/>
            <a:ext cx="3878885"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3.14.6</a:t>
            </a:r>
            <a:endParaRPr lang="en-US" sz="9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46</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Each block stores the digest of the one before</a:t>
            </a:r>
            <a:endParaRPr lang="en-US" sz="100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Verify = recompute every digest: True</a:t>
            </a:r>
            <a:endParaRPr lang="en-US" sz="1000" dirty="0"/>
          </a:p>
        </p:txBody>
      </p:sp>
      <p:sp>
        <p:nvSpPr>
          <p:cNvPr id="10" name="Shape 8"/>
          <p:cNvSpPr/>
          <p:nvPr/>
        </p:nvSpPr>
        <p:spPr>
          <a:xfrm>
            <a:off x="457200" y="21762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5740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Change one byte - the next block refuses: False</a:t>
            </a:r>
            <a:endParaRPr lang="en-US" sz="1000" dirty="0"/>
          </a:p>
        </p:txBody>
      </p:sp>
      <p:sp>
        <p:nvSpPr>
          <p:cNvPr id="12" name="Shape 10"/>
          <p:cNvSpPr/>
          <p:nvPr/>
        </p:nvSpPr>
        <p:spPr>
          <a:xfrm>
            <a:off x="3840480" y="1280160"/>
            <a:ext cx="1371600" cy="777240"/>
          </a:xfrm>
          <a:prstGeom prst="roundRect">
            <a:avLst>
              <a:gd name="adj" fmla="val 9412"/>
            </a:avLst>
          </a:prstGeom>
          <a:solidFill>
            <a:srgbClr val="F2ECE1"/>
          </a:solidFill>
          <a:ln w="22225">
            <a:solidFill>
              <a:srgbClr val="2F6D62"/>
            </a:solidFill>
            <a:prstDash val="solid"/>
          </a:ln>
        </p:spPr>
      </p:sp>
      <p:sp>
        <p:nvSpPr>
          <p:cNvPr id="13" name="Text 11"/>
          <p:cNvSpPr txBox="1"/>
          <p:nvPr/>
        </p:nvSpPr>
        <p:spPr>
          <a:xfrm>
            <a:off x="3840480" y="1335024"/>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0</a:t>
            </a:r>
            <a:endParaRPr lang="en-US" sz="1100" dirty="0"/>
          </a:p>
        </p:txBody>
      </p:sp>
      <p:sp>
        <p:nvSpPr>
          <p:cNvPr id="14" name="Text 12"/>
          <p:cNvSpPr txBox="1"/>
          <p:nvPr/>
        </p:nvSpPr>
        <p:spPr>
          <a:xfrm>
            <a:off x="3886200" y="1645920"/>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5" name="Shape 13"/>
          <p:cNvSpPr/>
          <p:nvPr/>
        </p:nvSpPr>
        <p:spPr>
          <a:xfrm>
            <a:off x="5212080" y="1668780"/>
            <a:ext cx="365760" cy="0"/>
          </a:xfrm>
          <a:prstGeom prst="line">
            <a:avLst/>
          </a:prstGeom>
          <a:noFill/>
          <a:ln w="25400">
            <a:solidFill>
              <a:srgbClr val="D97A14"/>
            </a:solidFill>
            <a:prstDash val="solid"/>
            <a:tailEnd type="triangle"/>
          </a:ln>
        </p:spPr>
      </p:sp>
      <p:sp>
        <p:nvSpPr>
          <p:cNvPr id="16" name="Shape 14"/>
          <p:cNvSpPr/>
          <p:nvPr/>
        </p:nvSpPr>
        <p:spPr>
          <a:xfrm>
            <a:off x="5577840" y="1280160"/>
            <a:ext cx="1371600" cy="777240"/>
          </a:xfrm>
          <a:prstGeom prst="roundRect">
            <a:avLst>
              <a:gd name="adj" fmla="val 9412"/>
            </a:avLst>
          </a:prstGeom>
          <a:solidFill>
            <a:srgbClr val="EFE6D6"/>
          </a:solidFill>
          <a:ln w="22225">
            <a:solidFill>
              <a:srgbClr val="D97A14"/>
            </a:solidFill>
            <a:prstDash val="solid"/>
          </a:ln>
        </p:spPr>
      </p:sp>
      <p:sp>
        <p:nvSpPr>
          <p:cNvPr id="17" name="Text 15"/>
          <p:cNvSpPr txBox="1"/>
          <p:nvPr/>
        </p:nvSpPr>
        <p:spPr>
          <a:xfrm>
            <a:off x="5577840" y="1335024"/>
            <a:ext cx="1371600" cy="274320"/>
          </a:xfrm>
          <a:prstGeom prst="rect">
            <a:avLst/>
          </a:prstGeom>
          <a:noFill/>
          <a:ln/>
        </p:spPr>
        <p:txBody>
          <a:bodyPr wrap="square" lIns="0" tIns="0" rIns="0" bIns="0" rtlCol="0" anchor="ctr"/>
          <a:lstStyle/>
          <a:p>
            <a:pPr algn="ctr" indent="0" marL="0">
              <a:buNone/>
            </a:pPr>
            <a:r>
              <a:rPr lang="en-US" sz="1100" b="1" dirty="0">
                <a:solidFill>
                  <a:srgbClr val="D97A14"/>
                </a:solidFill>
                <a:latin typeface="Calibri" pitchFamily="34" charset="0"/>
                <a:ea typeface="Calibri" pitchFamily="34" charset="-122"/>
                <a:cs typeface="Calibri" pitchFamily="34" charset="-120"/>
              </a:rPr>
              <a:t>block 1</a:t>
            </a:r>
            <a:endParaRPr lang="en-US" sz="1100" dirty="0"/>
          </a:p>
        </p:txBody>
      </p:sp>
      <p:sp>
        <p:nvSpPr>
          <p:cNvPr id="18" name="Text 16"/>
          <p:cNvSpPr txBox="1"/>
          <p:nvPr/>
        </p:nvSpPr>
        <p:spPr>
          <a:xfrm>
            <a:off x="5623560" y="1645920"/>
            <a:ext cx="1280160" cy="457200"/>
          </a:xfrm>
          <a:prstGeom prst="rect">
            <a:avLst/>
          </a:prstGeom>
          <a:noFill/>
          <a:ln/>
        </p:spPr>
        <p:txBody>
          <a:bodyPr wrap="square" lIns="0" tIns="0" rIns="0" bIns="0" rtlCol="0" anchor="t"/>
          <a:lstStyle/>
          <a:p>
            <a:pPr algn="ctr" indent="0" marL="0">
              <a:buNone/>
            </a:pPr>
            <a:r>
              <a:rPr lang="en-US" sz="850" dirty="0">
                <a:solidFill>
                  <a:srgbClr val="D97A14"/>
                </a:solidFill>
                <a:latin typeface="Courier New" pitchFamily="34" charset="0"/>
                <a:ea typeface="Courier New" pitchFamily="34" charset="-122"/>
                <a:cs typeface="Courier New" pitchFamily="34" charset="-120"/>
              </a:rPr>
              <a:t>data changed!</a:t>
            </a:r>
            <a:endParaRPr lang="en-US" sz="850" dirty="0"/>
          </a:p>
        </p:txBody>
      </p:sp>
      <p:sp>
        <p:nvSpPr>
          <p:cNvPr id="19" name="Shape 17"/>
          <p:cNvSpPr/>
          <p:nvPr/>
        </p:nvSpPr>
        <p:spPr>
          <a:xfrm>
            <a:off x="6949440" y="1668780"/>
            <a:ext cx="365760" cy="0"/>
          </a:xfrm>
          <a:prstGeom prst="line">
            <a:avLst/>
          </a:prstGeom>
          <a:noFill/>
          <a:ln w="25400">
            <a:solidFill>
              <a:srgbClr val="D97A14"/>
            </a:solidFill>
            <a:prstDash val="solid"/>
            <a:tailEnd type="triangle"/>
          </a:ln>
        </p:spPr>
      </p:sp>
      <p:sp>
        <p:nvSpPr>
          <p:cNvPr id="20" name="Shape 18"/>
          <p:cNvSpPr/>
          <p:nvPr/>
        </p:nvSpPr>
        <p:spPr>
          <a:xfrm>
            <a:off x="7315200" y="1280160"/>
            <a:ext cx="1371600" cy="777240"/>
          </a:xfrm>
          <a:prstGeom prst="roundRect">
            <a:avLst>
              <a:gd name="adj" fmla="val 9412"/>
            </a:avLst>
          </a:prstGeom>
          <a:solidFill>
            <a:srgbClr val="EFE6D6"/>
          </a:solidFill>
          <a:ln w="22225">
            <a:solidFill>
              <a:srgbClr val="D97A14"/>
            </a:solidFill>
            <a:prstDash val="solid"/>
          </a:ln>
        </p:spPr>
      </p:sp>
      <p:sp>
        <p:nvSpPr>
          <p:cNvPr id="21" name="Text 19"/>
          <p:cNvSpPr txBox="1"/>
          <p:nvPr/>
        </p:nvSpPr>
        <p:spPr>
          <a:xfrm>
            <a:off x="7315200" y="1335024"/>
            <a:ext cx="1371600" cy="274320"/>
          </a:xfrm>
          <a:prstGeom prst="rect">
            <a:avLst/>
          </a:prstGeom>
          <a:noFill/>
          <a:ln/>
        </p:spPr>
        <p:txBody>
          <a:bodyPr wrap="square" lIns="0" tIns="0" rIns="0" bIns="0" rtlCol="0" anchor="ctr"/>
          <a:lstStyle/>
          <a:p>
            <a:pPr algn="ctr" indent="0" marL="0">
              <a:buNone/>
            </a:pPr>
            <a:r>
              <a:rPr lang="en-US" sz="1100" b="1" dirty="0">
                <a:solidFill>
                  <a:srgbClr val="D97A14"/>
                </a:solidFill>
                <a:latin typeface="Calibri" pitchFamily="34" charset="0"/>
                <a:ea typeface="Calibri" pitchFamily="34" charset="-122"/>
                <a:cs typeface="Calibri" pitchFamily="34" charset="-120"/>
              </a:rPr>
              <a:t>block 2</a:t>
            </a:r>
            <a:endParaRPr lang="en-US" sz="1100" dirty="0"/>
          </a:p>
        </p:txBody>
      </p:sp>
      <p:sp>
        <p:nvSpPr>
          <p:cNvPr id="22" name="Text 20"/>
          <p:cNvSpPr txBox="1"/>
          <p:nvPr/>
        </p:nvSpPr>
        <p:spPr>
          <a:xfrm>
            <a:off x="7360920" y="1645920"/>
            <a:ext cx="1280160" cy="457200"/>
          </a:xfrm>
          <a:prstGeom prst="rect">
            <a:avLst/>
          </a:prstGeom>
          <a:noFill/>
          <a:ln/>
        </p:spPr>
        <p:txBody>
          <a:bodyPr wrap="square" lIns="0" tIns="0" rIns="0" bIns="0" rtlCol="0" anchor="t"/>
          <a:lstStyle/>
          <a:p>
            <a:pPr algn="ctr" indent="0" marL="0">
              <a:buNone/>
            </a:pPr>
            <a:r>
              <a:rPr lang="en-US" sz="850" dirty="0">
                <a:solidFill>
                  <a:srgbClr val="D97A14"/>
                </a:solidFill>
                <a:latin typeface="Courier New" pitchFamily="34" charset="0"/>
                <a:ea typeface="Courier New" pitchFamily="34" charset="-122"/>
                <a:cs typeface="Courier New" pitchFamily="34" charset="-120"/>
              </a:rPr>
              <a:t>digest of block 1</a:t>
            </a:r>
            <a:endParaRPr lang="en-US" sz="850" dirty="0"/>
          </a:p>
        </p:txBody>
      </p:sp>
      <p:sp>
        <p:nvSpPr>
          <p:cNvPr id="23" name="Text 21"/>
          <p:cNvSpPr txBox="1"/>
          <p:nvPr/>
        </p:nvSpPr>
        <p:spPr>
          <a:xfrm>
            <a:off x="3840480" y="2130552"/>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4" name="Text 22"/>
          <p:cNvSpPr txBox="1"/>
          <p:nvPr/>
        </p:nvSpPr>
        <p:spPr>
          <a:xfrm>
            <a:off x="457200" y="2514600"/>
            <a:ext cx="4372661"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5" name="Shape 23"/>
          <p:cNvSpPr/>
          <p:nvPr/>
        </p:nvSpPr>
        <p:spPr>
          <a:xfrm>
            <a:off x="457200" y="2788920"/>
            <a:ext cx="8229600" cy="1737360"/>
          </a:xfrm>
          <a:prstGeom prst="roundRect">
            <a:avLst>
              <a:gd name="adj" fmla="val 5263"/>
            </a:avLst>
          </a:prstGeom>
          <a:solidFill>
            <a:srgbClr val="23272E"/>
          </a:solidFill>
          <a:ln w="12700">
            <a:solidFill>
              <a:srgbClr val="23272E"/>
            </a:solidFill>
            <a:prstDash val="solid"/>
          </a:ln>
        </p:spPr>
      </p:sp>
      <p:sp>
        <p:nvSpPr>
          <p:cNvPr id="26" name="Text 24"/>
          <p:cNvSpPr txBox="1"/>
          <p:nvPr/>
        </p:nvSpPr>
        <p:spPr>
          <a:xfrm>
            <a:off x="640080" y="2907792"/>
            <a:ext cx="7863840" cy="149961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hashlib</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link(prev, data):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hashlib.sha256((prev + data).encode()).hexdigest()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data = [</a:t>
            </a:r>
            <a:r>
              <a:rPr lang="en-US" sz="700" dirty="0">
                <a:solidFill>
                  <a:srgbClr val="9ECBFF"/>
                </a:solidFill>
                <a:latin typeface="Courier New" pitchFamily="34" charset="0"/>
                <a:ea typeface="Courier New" pitchFamily="34" charset="-122"/>
                <a:cs typeface="Courier New" pitchFamily="34" charset="-120"/>
              </a:rPr>
              <a:t>'Joe pays Alice 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 pays Eve 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'Eve pays Joe 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build(items):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hs, prev = [], </a:t>
            </a:r>
            <a:r>
              <a:rPr lang="en-US" sz="700" dirty="0">
                <a:solidFill>
                  <a:srgbClr val="9ECBFF"/>
                </a:solidFill>
                <a:latin typeface="Courier New" pitchFamily="34" charset="0"/>
                <a:ea typeface="Courier New" pitchFamily="34" charset="-122"/>
                <a:cs typeface="Courier New" pitchFamily="34" charset="-120"/>
              </a:rPr>
              <a:t>'genesis'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prev = link(prev, d); hs.append(prev)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hs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stored = build(data)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tampered = [</a:t>
            </a:r>
            <a:r>
              <a:rPr lang="en-US" sz="700" dirty="0">
                <a:solidFill>
                  <a:srgbClr val="9ECBFF"/>
                </a:solidFill>
                <a:latin typeface="Courier New" pitchFamily="34" charset="0"/>
                <a:ea typeface="Courier New" pitchFamily="34" charset="-122"/>
                <a:cs typeface="Courier New" pitchFamily="34" charset="-120"/>
              </a:rPr>
              <a:t>'Joe pays Alice 100'</a:t>
            </a:r>
            <a:r>
              <a:rPr lang="en-US" sz="700" dirty="0">
                <a:solidFill>
                  <a:srgbClr val="E6EDF3"/>
                </a:solidFill>
                <a:latin typeface="Courier New" pitchFamily="34" charset="0"/>
                <a:ea typeface="Courier New" pitchFamily="34" charset="-122"/>
                <a:cs typeface="Courier New" pitchFamily="34" charset="-120"/>
              </a:rPr>
              <a:t>] + data[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(True, False)</a:t>
            </a:r>
            <a:endParaRPr lang="en-US" sz="700" dirty="0"/>
          </a:p>
        </p:txBody>
      </p:sp>
      <p:sp>
        <p:nvSpPr>
          <p:cNvPr id="27" name="Text 25"/>
          <p:cNvSpPr txBox="1"/>
          <p:nvPr/>
        </p:nvSpPr>
        <p:spPr>
          <a:xfrm>
            <a:off x="4921301" y="2514600"/>
            <a:ext cx="3765499"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46</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Channels: Alice-Bob, Bob-Carol, Carol-Dave</a:t>
            </a:r>
            <a:endParaRPr lang="en-US" sz="100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Alice pays Dave with no direct channel</a:t>
            </a:r>
            <a:endParaRPr lang="en-US" sz="1000" dirty="0"/>
          </a:p>
        </p:txBody>
      </p:sp>
      <p:sp>
        <p:nvSpPr>
          <p:cNvPr id="10" name="Shape 8"/>
          <p:cNvSpPr/>
          <p:nvPr/>
        </p:nvSpPr>
        <p:spPr>
          <a:xfrm>
            <a:off x="457200" y="21762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5740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path is found: 3 hops, chain untouched</a:t>
            </a:r>
            <a:endParaRPr lang="en-US" sz="1000" dirty="0"/>
          </a:p>
        </p:txBody>
      </p:sp>
      <p:sp>
        <p:nvSpPr>
          <p:cNvPr id="12" name="Shape 10"/>
          <p:cNvSpPr/>
          <p:nvPr/>
        </p:nvSpPr>
        <p:spPr>
          <a:xfrm>
            <a:off x="4453128" y="1545336"/>
            <a:ext cx="902208" cy="0"/>
          </a:xfrm>
          <a:prstGeom prst="line">
            <a:avLst/>
          </a:prstGeom>
          <a:noFill/>
          <a:ln w="28575">
            <a:solidFill>
              <a:srgbClr val="D97A14"/>
            </a:solidFill>
            <a:prstDash val="solid"/>
            <a:tailEnd type="triangle"/>
          </a:ln>
        </p:spPr>
      </p:sp>
      <p:sp>
        <p:nvSpPr>
          <p:cNvPr id="13" name="Shape 11"/>
          <p:cNvSpPr/>
          <p:nvPr/>
        </p:nvSpPr>
        <p:spPr>
          <a:xfrm>
            <a:off x="4032504" y="1325880"/>
            <a:ext cx="438912" cy="438912"/>
          </a:xfrm>
          <a:prstGeom prst="ellipse">
            <a:avLst/>
          </a:prstGeom>
          <a:solidFill>
            <a:srgbClr val="D97A14"/>
          </a:solidFill>
          <a:ln w="19050">
            <a:solidFill>
              <a:srgbClr val="FFFFFF"/>
            </a:solidFill>
            <a:prstDash val="solid"/>
          </a:ln>
        </p:spPr>
      </p:sp>
      <p:sp>
        <p:nvSpPr>
          <p:cNvPr id="14" name="Text 12"/>
          <p:cNvSpPr txBox="1"/>
          <p:nvPr/>
        </p:nvSpPr>
        <p:spPr>
          <a:xfrm>
            <a:off x="370332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5" name="Shape 13"/>
          <p:cNvSpPr/>
          <p:nvPr/>
        </p:nvSpPr>
        <p:spPr>
          <a:xfrm>
            <a:off x="5794248" y="1545336"/>
            <a:ext cx="902208" cy="0"/>
          </a:xfrm>
          <a:prstGeom prst="line">
            <a:avLst/>
          </a:prstGeom>
          <a:noFill/>
          <a:ln w="28575">
            <a:solidFill>
              <a:srgbClr val="D97A14"/>
            </a:solidFill>
            <a:prstDash val="solid"/>
            <a:tailEnd type="triangle"/>
          </a:ln>
        </p:spPr>
      </p:sp>
      <p:sp>
        <p:nvSpPr>
          <p:cNvPr id="16" name="Shape 14"/>
          <p:cNvSpPr/>
          <p:nvPr/>
        </p:nvSpPr>
        <p:spPr>
          <a:xfrm>
            <a:off x="5373624" y="1325880"/>
            <a:ext cx="438912" cy="438912"/>
          </a:xfrm>
          <a:prstGeom prst="ellipse">
            <a:avLst/>
          </a:prstGeom>
          <a:solidFill>
            <a:srgbClr val="2F6D62"/>
          </a:solidFill>
          <a:ln w="19050">
            <a:solidFill>
              <a:srgbClr val="FFFFFF"/>
            </a:solidFill>
            <a:prstDash val="solid"/>
          </a:ln>
        </p:spPr>
      </p:sp>
      <p:sp>
        <p:nvSpPr>
          <p:cNvPr id="17" name="Text 15"/>
          <p:cNvSpPr txBox="1"/>
          <p:nvPr/>
        </p:nvSpPr>
        <p:spPr>
          <a:xfrm>
            <a:off x="504444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8" name="Shape 16"/>
          <p:cNvSpPr/>
          <p:nvPr/>
        </p:nvSpPr>
        <p:spPr>
          <a:xfrm>
            <a:off x="7135368" y="1545336"/>
            <a:ext cx="902208" cy="0"/>
          </a:xfrm>
          <a:prstGeom prst="line">
            <a:avLst/>
          </a:prstGeom>
          <a:noFill/>
          <a:ln w="28575">
            <a:solidFill>
              <a:srgbClr val="D97A14"/>
            </a:solidFill>
            <a:prstDash val="solid"/>
            <a:tailEnd type="triangle"/>
          </a:ln>
        </p:spPr>
      </p:sp>
      <p:sp>
        <p:nvSpPr>
          <p:cNvPr id="19" name="Shape 17"/>
          <p:cNvSpPr/>
          <p:nvPr/>
        </p:nvSpPr>
        <p:spPr>
          <a:xfrm>
            <a:off x="6714744" y="1325880"/>
            <a:ext cx="438912" cy="438912"/>
          </a:xfrm>
          <a:prstGeom prst="ellipse">
            <a:avLst/>
          </a:prstGeom>
          <a:solidFill>
            <a:srgbClr val="2F6D62"/>
          </a:solidFill>
          <a:ln w="19050">
            <a:solidFill>
              <a:srgbClr val="FFFFFF"/>
            </a:solidFill>
            <a:prstDash val="solid"/>
          </a:ln>
        </p:spPr>
      </p:sp>
      <p:sp>
        <p:nvSpPr>
          <p:cNvPr id="20" name="Text 18"/>
          <p:cNvSpPr txBox="1"/>
          <p:nvPr/>
        </p:nvSpPr>
        <p:spPr>
          <a:xfrm>
            <a:off x="638556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1" name="Shape 19"/>
          <p:cNvSpPr/>
          <p:nvPr/>
        </p:nvSpPr>
        <p:spPr>
          <a:xfrm>
            <a:off x="8055864" y="1325880"/>
            <a:ext cx="438912" cy="438912"/>
          </a:xfrm>
          <a:prstGeom prst="ellipse">
            <a:avLst/>
          </a:prstGeom>
          <a:solidFill>
            <a:srgbClr val="D97A14"/>
          </a:solidFill>
          <a:ln w="19050">
            <a:solidFill>
              <a:srgbClr val="FFFFFF"/>
            </a:solidFill>
            <a:prstDash val="solid"/>
          </a:ln>
        </p:spPr>
      </p:sp>
      <p:sp>
        <p:nvSpPr>
          <p:cNvPr id="22" name="Text 20"/>
          <p:cNvSpPr txBox="1"/>
          <p:nvPr/>
        </p:nvSpPr>
        <p:spPr>
          <a:xfrm>
            <a:off x="772668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3" name="Text 21"/>
          <p:cNvSpPr txBox="1"/>
          <p:nvPr/>
        </p:nvSpPr>
        <p:spPr>
          <a:xfrm>
            <a:off x="3931920" y="2203704"/>
            <a:ext cx="466344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4" name="Text 22"/>
          <p:cNvSpPr txBox="1"/>
          <p:nvPr/>
        </p:nvSpPr>
        <p:spPr>
          <a:xfrm>
            <a:off x="457200" y="2514600"/>
            <a:ext cx="4032504"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5" name="Shape 23"/>
          <p:cNvSpPr/>
          <p:nvPr/>
        </p:nvSpPr>
        <p:spPr>
          <a:xfrm>
            <a:off x="457200" y="2788920"/>
            <a:ext cx="8229600" cy="1737360"/>
          </a:xfrm>
          <a:prstGeom prst="roundRect">
            <a:avLst>
              <a:gd name="adj" fmla="val 5263"/>
            </a:avLst>
          </a:prstGeom>
          <a:solidFill>
            <a:srgbClr val="23272E"/>
          </a:solidFill>
          <a:ln w="12700">
            <a:solidFill>
              <a:srgbClr val="23272E"/>
            </a:solidFill>
            <a:prstDash val="solid"/>
          </a:ln>
        </p:spPr>
      </p:sp>
      <p:sp>
        <p:nvSpPr>
          <p:cNvPr id="26" name="Text 24"/>
          <p:cNvSpPr txBox="1"/>
          <p:nvPr/>
        </p:nvSpPr>
        <p:spPr>
          <a:xfrm>
            <a:off x="640080" y="2907792"/>
            <a:ext cx="7863840" cy="149961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channels =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nbr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channels: nbr.setdefault(x, []).append(y); nbr.setdefault(y, []).append(x)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path, frontier =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nxt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frontier: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nbr[x]: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path: path[y] = path[x] + [y]; nxt.append(y)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frontier = nxt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(path[</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len(path[</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channels)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(['Alice', 'Bob', 'Carol', 'Dave'], 3, False)</a:t>
            </a:r>
            <a:endParaRPr lang="en-US" sz="700" dirty="0"/>
          </a:p>
        </p:txBody>
      </p:sp>
      <p:sp>
        <p:nvSpPr>
          <p:cNvPr id="27" name="Text 25"/>
          <p:cNvSpPr txBox="1"/>
          <p:nvPr/>
        </p:nvSpPr>
        <p:spPr>
          <a:xfrm>
            <a:off x="4581144" y="2514600"/>
            <a:ext cx="4105656"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46</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newspaper headline sits in block 0, and the first payment went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five thousand years of forms, three kinds today - what differs is who keeps it</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Supply: 21 million by arithmetic - halvings on real, chain-stamped dates; a sum anyone can re-run</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Price: discovered by trades, never declared - from two pizzas to $854M on one log chart</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no bank in the middle - every node checks every rule, and mining pays for honesty</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whoever holds the keys holds the coins - Mt. Gox is the named, dated proof</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46</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history of bitcoin  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Internet Archive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Internet Archive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46</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2026-10-18T22:25:31Z</dcterms:created>
  <dcterms:modified xsi:type="dcterms:W3CDTF">2026-10-18T22:25:31Z</dcterms:modified>
  <cp:version>2.10.0</cp:version>
</cp:coreProperties>
</file>