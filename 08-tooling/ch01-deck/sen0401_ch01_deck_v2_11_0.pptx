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10-1.jpg" ContentType="image/jpg"/>
  <Override PartName="/ppt/media/image-11-1.jpg" ContentType="image/jpg"/>
  <Override PartName="/ppt/media/image-12-1.jpg" ContentType="image/jpg"/>
  <Override PartName="/ppt/media/image-12-2.jpg" ContentType="image/jpg"/>
  <Override PartName="/ppt/media/image-16-1.jpg" ContentType="image/jpg"/>
  <Override PartName="/ppt/media/image-16-2.jpg" ContentType="image/jpg"/>
  <Override PartName="/ppt/media/image-16-3.jpg" ContentType="image/jpg"/>
  <Override PartName="/ppt/media/image-16-4.jpg" ContentType="image/jpg"/>
  <Override PartName="/ppt/media/image-16-5.jpg" ContentType="image/jpg"/>
  <Override PartName="/ppt/media/image-16-6.jpg" ContentType="image/jpg"/>
  <Override PartName="/ppt/media/image-19-1.jpg" ContentType="image/jpg"/>
  <Override PartName="/ppt/media/image-23-1.jpg" ContentType="image/jpg"/>
  <Override PartName="/ppt/media/image-8-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Block subsidy (BTC), by real halving date</a:t>
            </a:r>
          </a:p>
        </c:rich>
      </c:tx>
      <c:layout/>
      <c:overlay val="0"/>
    </c:title>
    <c:autoTitleDeleted val="0"/>
    <c:plotArea>
      <c:layout/>
      <c:lineChart>
        <c:varyColors val="0"/>
        <c:ser>
          <c:idx val="0"/>
          <c:order val="0"/>
          <c:tx>
            <c:strRef>
              <c:f>Sheet1!$B$1</c:f>
              <c:strCache>
                <c:ptCount val="1"/>
                <c:pt idx="0">
                  <c:v>subsidy</c:v>
                </c:pt>
              </c:strCache>
            </c:strRef>
          </c:tx>
          <c:spPr>
            <a:solidFill>
              <a:srgbClr val="D97A14"/>
            </a:solidFill>
            <a:ln w="31750" cap="flat">
              <a:solidFill>
                <a:srgbClr val="D97A14"/>
              </a:solidFill>
              <a:prstDash val="solid"/>
              <a:round/>
            </a:ln>
            <a:effectLst/>
          </c:spPr>
          <c:invertIfNegative val="0"/>
          <c:dLbls>
            <c:numFmt formatCode="General"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Sheet1!$A$2:$A$10</c:f>
              <c:multiLvlStrCache>
                <c:ptCount val="9"/>
                <c:lvl>
                  <c:pt idx="0">
                    <c:v>2009</c:v>
                  </c:pt>
                  <c:pt idx="1">
                    <c:v>2012</c:v>
                  </c:pt>
                  <c:pt idx="2">
                    <c:v>2016</c:v>
                  </c:pt>
                  <c:pt idx="3">
                    <c:v>2020</c:v>
                  </c:pt>
                  <c:pt idx="4">
                    <c:v>2024</c:v>
                  </c:pt>
                  <c:pt idx="5">
                    <c:v>~2028</c:v>
                  </c:pt>
                  <c:pt idx="6">
                    <c:v>~2032</c:v>
                  </c:pt>
                  <c:pt idx="7">
                    <c:v>~2036</c:v>
                  </c:pt>
                  <c:pt idx="8">
                    <c:v>~2040</c:v>
                  </c:pt>
                </c:lvl>
              </c:multiLvlStrCache>
            </c:multiLvlStrRef>
          </c:cat>
          <c:val>
            <c:numRef>
              <c:f>Sheet1!$B$2:$B$10</c:f>
              <c:numCache>
                <c:formatCode>General</c:formatCode>
                <c:ptCount val="9"/>
                <c:pt idx="0">
                  <c:v>50</c:v>
                </c:pt>
                <c:pt idx="1">
                  <c:v>25</c:v>
                </c:pt>
                <c:pt idx="2">
                  <c:v>12.5</c:v>
                </c:pt>
                <c:pt idx="3">
                  <c:v>6.25</c:v>
                </c:pt>
                <c:pt idx="4">
                  <c:v>3.125</c:v>
                </c:pt>
                <c:pt idx="5">
                  <c:v>1.5625</c:v>
                </c:pt>
                <c:pt idx="6">
                  <c:v>0.78125</c:v>
                </c:pt>
                <c:pt idx="7">
                  <c:v>0.390625</c:v>
                </c:pt>
                <c:pt idx="8">
                  <c:v>0.1953125</c:v>
                </c:pt>
              </c:numCache>
            </c:numRef>
          </c:val>
          <c:smooth val="0"/>
        </c:ser>
        <c:dLbls>
          <c:numFmt formatCode="General"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Value of the Pizza Day 10,000 BTC (log axis)</a:t>
            </a:r>
          </a:p>
        </c:rich>
      </c:tx>
      <c:layout/>
      <c:overlay val="0"/>
    </c:title>
    <c:autoTitleDeleted val="0"/>
    <c:plotArea>
      <c:layout/>
      <c:lineChart>
        <c:varyColors val="0"/>
        <c:ser>
          <c:idx val="0"/>
          <c:order val="0"/>
          <c:tx>
            <c:strRef>
              <c:f>Sheet1!$B$1</c:f>
              <c:strCache>
                <c:ptCount val="1"/>
                <c:pt idx="0">
                  <c:v>USD value</c:v>
                </c:pt>
              </c:strCache>
            </c:strRef>
          </c:tx>
          <c:spPr>
            <a:solidFill>
              <a:srgbClr val="D97A14"/>
            </a:solidFill>
            <a:ln w="31750" cap="flat">
              <a:solidFill>
                <a:srgbClr val="D97A14"/>
              </a:solidFill>
              <a:prstDash val="solid"/>
              <a:round/>
            </a:ln>
            <a:effectLst/>
          </c:spPr>
          <c:invertIfNegative val="0"/>
          <c:dLbls>
            <c:numFmt formatCode="[&gt;=1000000]$#,##0,,&quot;M&quot;;[&gt;=1000]$#,##0,&quot;K&quot;;$#,##0" sourceLinked="0"/>
            <c:txPr>
              <a:bodyPr/>
              <a:lstStyle/>
              <a:p>
                <a:pPr>
                  <a:defRPr b="0" i="0" strike="noStrike" sz="8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Sheet1!$A$2:$A$7</c:f>
              <c:multiLvlStrCache>
                <c:ptCount val="6"/>
                <c:lvl>
                  <c:pt idx="0">
                    <c:v>2010-05</c:v>
                  </c:pt>
                  <c:pt idx="1">
                    <c:v>2011-02</c:v>
                  </c:pt>
                  <c:pt idx="2">
                    <c:v>2013-11</c:v>
                  </c:pt>
                  <c:pt idx="3">
                    <c:v>2017-12</c:v>
                  </c:pt>
                  <c:pt idx="4">
                    <c:v>2021-11</c:v>
                  </c:pt>
                  <c:pt idx="5">
                    <c:v>2026-10</c:v>
                  </c:pt>
                </c:lvl>
              </c:multiLvlStrCache>
            </c:multiLvlStrRef>
          </c:cat>
          <c:val>
            <c:numRef>
              <c:f>Sheet1!$B$2:$B$7</c:f>
              <c:numCache>
                <c:formatCode>General</c:formatCode>
                <c:ptCount val="6"/>
                <c:pt idx="0">
                  <c:v>41</c:v>
                </c:pt>
                <c:pt idx="1">
                  <c:v>10000</c:v>
                </c:pt>
                <c:pt idx="2">
                  <c:v>10000000</c:v>
                </c:pt>
                <c:pt idx="3">
                  <c:v>196000000</c:v>
                </c:pt>
                <c:pt idx="4">
                  <c:v>690000000</c:v>
                </c:pt>
                <c:pt idx="5">
                  <c:v>854090000</c:v>
                </c:pt>
              </c:numCache>
            </c:numRef>
          </c:val>
          <c:smooth val="0"/>
        </c:ser>
        <c:dLbls>
          <c:numFmt formatCode="[&gt;=1000000]$#,##0,,&quot;M&quot;;[&gt;=1000]$#,##0,&quot;K&quot;;$#,##0" sourceLinked="0"/>
          <c:txPr>
            <a:bodyPr/>
            <a:lstStyle/>
            <a:p>
              <a:pPr>
                <a:defRPr b="0" i="0" strike="noStrike" sz="85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max val="10000000000"/>
          <c:min val="10"/>
        </c:scaling>
        <c:delete val="0"/>
        <c:axPos val="l"/>
        <c:majorGridlines>
          <c:spPr>
            <a:ln w="6350" cap="flat">
              <a:solidFill>
                <a:srgbClr val="E3DA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follows the chapter's own concept taxonomy: ninety concepts in six branches, of which forty-two carry a worked example. The worked examples are re-run by the build under the interpreter named in each console caption, and the deck is refused if one stops agreeing. Figures that come from outside that run say Recorded or NOT EXECUTED on their own slide. The text is Mastering Bitcoin, third edition, chapter 1 (Antonopoulos and Harding, 2023), free under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The stories carry the why, the programs carry the proof, and every slide number on this list is printed bottom-right as we pass it. A question to think about is this: which part do you expect to be hardest? The full explanation is on the course page, chapter 1,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branches are the chapter's own: Money, Network, Wallet, Usage, Foundations, Nature. Say at the start that the order of the lecture is the order of the taxonomy, so that a student who opens the interactive page afterwards finds the same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course outcome aloud and say which part of it this chapter reaches. The chapter's objectives are the page's own and are what the question bank and the mock exam are written against. Course outcome LO-1 is recorded as a draft that the course owner has not yet approved, so present it as the direction of the course rather than as a settled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The full explanation is on the course page, chapter 1, in Money, Network, Wallet, Usage, Foundations and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stories explain why Bitcoin looks the way it does: a newspaper headline carved into the first block, the first purchase made with bitcoin, and forty years of failed attempts at digital money. Each story is dated and sourced on its own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3 January 2009. The first Bitcoin block ever mined carries a piece of that morning's newspaper: 'The Times 03/Jan/2009 Chancellor on brink of second bailout for banks'. It proves the block could not have been made earlier than that headline, and at the same time records why the system was built - in the middle of a banking crisis, by someone who wanted money that needs no bailout and no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January 2009. Nine days after the genesis block, Satoshi Nakamoto sent 10 bitcoin to Hal Finney, a veteran cryptographer who had answered the whitepaper with curiosity instead of dismissal and famously tweeted 'Running bitcoin'. Finney had worked on PGP and had built the first reusable proof-of-work system years before Bitcoin existed - the first payment went to someone who had spent a career preparing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was not the first attempt at digital money. David Chaum's blind-signature ecash of the 1980s ended with the bankruptcy of his company DigiCash, and Adam Back's Hashcash of 1997 priced email spam with proof of work. Wei Dai's b-money and Nick Szabo's bit gold, both of 1998, were never built because neither could agree on a history without a leader. The sources are Nakamoto's 2008 paper and the original text of each author.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The full explanation is on the course page, chapter 1, in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island of Yap, wealth was held in rai, limestone discs up to four metres wide and far too heavy to move. When a stone changed owners it stayed where it lay, and only the community's shared memory of who owned it changed. That is a ledger without a bank, the idea Bitcoin rebuilds. The sources are Furness, The Island of Stone Money (1910), and Milton Friedman's Hoover working paper of 1991 with the same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has changed form many times: grain-ledger entries in Mesopotamia, the first struck coins in Lydia around 600 BCE, paper notes in Song-dynasty China, and goldsmiths' receipts that became bank money. In 1971 the dollar's last tie to gold was cut, leaving pure fiat money. Bitcoin is the next step in that sequence, money that exists only as digital records. The sources are standard monetary histories and chapter 1 of Mastering Bitcoin, third edition.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compares traditional cash, digital money held at banks and cryptocurrency on who issues it, where it exists and who keeps the ledger. The remaining rows ask what sets the supply and how a payment settles. Read down a column to see one kind of money, and across a row to see which property changes. The difference in who keeps the ledger is the subject of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A question to think about is this: which of these failures did cards fix? The full explanation is on the course page, chapter 1, in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1998 - 2002. The web could sell before it could pay: cards were unsafe to type and banks had no internet rails. Confinity, founded 1998 by Max Levchin and Peter Thiel, and X.com, founded 1999 by Elon Musk, raced to fix it, merged in 2000, and became PayPal - sold to eBay for 1.5 billion dollars in 2002.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2007 - 2022. Money fails people in documented ways. Kenya, 2007: most adults had no bank, so Safaricom's M-Pesa turned phone credit into the country's money 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double-spend is the act of spending the same unit of digital money more than once. The chapter lists it as the second of three basic questions for anyone accepting digital money: can I trust that the digital money can only be spent once (Antonopoulos and Harding, 2023). A question to think about is this: why does the same problem not exist for paper cash? The full explanation is on the course page, chapter 1, in Double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double-spend is the act of spending the same unit of digital money more than once. The chapter lists it as the second of three basic questions for anyone accepting digital money: can I trust that the digital money can only be spent once (Antonopoulos and Harding, 2023). A question to think about is this: what stops the network agreeing on the WRONG order? The full explanation is on the course page, chapter 1, in Double spend and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Unit section answers the first question that any money raises, namely what the money is called and in what pieces it is counted. It contains the name of the currency, with its distinction between the unit and the system, and the smallest subdivision that can be recorded, the satoshi. A question to think about is this: how many satoshis buy a coffee at today's price? The full explanation is on the course page, chapter 1, in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A question to think about is this: why does the sum stop just short of 21 million? The full explanation is on the course page, chapter 1, in Supply and Issuance.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The full explanation is on the course page, chapter 1, in Supply and Issuance.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Price section addresses a question that every newcomer asks, namely who sets the price of bitcoin. The chapter's short answer is that the price is set by markets (Antonopoulos and Harding, 2023). The full explanation is on the course page, chapter 1, in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22 May 2010. For Bitcoin's first year and a half, nobody knew what a bitcoin was worth, because nobody had ever bought anything with one. Then Laszlo Hanyecz, a Florida programmer, offered 10,000 BTC on a forum to anyone who would bring him two pizzas - and someone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point is a documented milestone - dollar parity in 2011, the first thousand in 2013, the 2017 and 2021 peaks - and the last one was fetched live from mempool.space and CoinGecko while this deck was built, agreeing within 0.1 percent. A question to think about is this: why does this chart need a log scale? The full explanation is on the course page, chapter 1, in Price; story companion and PIZZA_VALUE.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The full explanation is on the course page, chapter 1, in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A question to think about is this: what breaks first in each picture if one machine lies? The full explanation is on the course page, chapter 1, in Network and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peer starts out knowing two neighbours, and in each round it asks the peers it has just found for their neighbours. The program counts the rounds of gossip until all seven peers are known, and it reports four. No server or registry is involved, which is why the network needs no directory.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Consensus is the state in which the participants of the network agree on the same record of transactions. The full explanation is on the course page, chapter 1, in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Consensus is the state in which the participants of the network agree on the same record of transactions. The full explanation is on the course page, chapter 1, in Consensus and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The full explanation is on the course page, chapter 1, in Wallet and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The full explanation is on the course page, chapter 1, in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control is the question of who holds the private keys that unlock a wallet's funds. The chapter calls this a very important additional consideration and says that access to bitcoins is controlled by private keys, which are like very long PINs. Think about this case: your house has a registry if the key is lost. The full explanation is on the course page, chapter 1, in Key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control is the question of who holds the private keys that unlock a wallet's funds. The chapter calls this a very important additional consideration and says that access to bitcoins is controlled by private keys, which are like very long PINs. A question to think about is this: which side was the exchange that lost its customers' coins on? The full explanation is on the course page, chapter 1, in Key control, Wallet platform and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exchange Mt Gox of Tokyo, led by Mark Karpeles, was once the largest bitcoin exchange in the world. In February 2014 it halted withdrawals, filed for bankruptcy and admitted that about 850,000 bitcoins were gone. Customers had balances on a website, but the keys, and therefore the coins, had been in someone else's hands all along. The figure comes from the Tokyo District Court filing of 28 February 2014 and is reported here, not recomputed.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Backup section is about getting a wallet back after something goes wrong. It begins with the chapter's account of Alice's first start-up, when her noncustodial wallet produces a recovery code that can be used to restore it, and it goes on to the additional data that a recovery code does not contain, and to the payments that some technologies keep outside the public blockchain (Antonopoulos and Harding, 2023). The full explanation is on the course page, chapter 1, in Backup and Key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Acquisition section lists the ways in which a newcomer obtains a first bitcoin, which is the practical problem a reader faces as soon as the wallet is installed. The full explanation is on the course page, chapter 1, in Acquisition, Address and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The full explanation is on the course page, chapter 1, in Foundations.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The full explanation is on the course page, chapter 1, in Foundations and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The full explanation is on the course page, chapter 1, in Chain and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The full explanation is on the course page, chapter 1, in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Computing section explains the ordinary technology on which Bitcoin software runs and by which people reach it. It covers the internet and the rules that computers follow on it, the way programs talk to each other through interfaces, the way data is named and stored, the operating systems and browsers in which wallets live, and the units in which computers count. The full explanation is on the course page, chapter 1, in Computing and Threats.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Nature branch answers a question that precedes all the others: what kind of thing is Bitcoin? Chapter 1 gives two complementary answers. The full explanation is on the course page, chapter 1, in Nature, Characteristic and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Transfer section explains what happens when Joe sends bitcoin to Alice. It follows the payment from the moment he presses Send to the moment it is confirmed in a block, and it introduces the objects and ideas involved: the transaction, its inputs and outputs, the fee, the confirmation, the irreversibility, and the newer payments that never reach the public chain (Antonopoulos and Harding, 2023). The full explanation is on the course page, chapter 1, in Transfer and Semantic 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lines, one per part. If any of them still feels like a claim rather than a fact, the agenda slide names the slides that prove it - and the course page carries the full text. A question to think about is this: which line would you defend to a sceptic first, and with which slide? The full explanation is on the course page, chapter 1,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is free. The whitepaper is nine pages - read it this week; the textbook is the one this course follows, free under CC BY-SA in the same repository our materials pin. A question to think about is this: who can find today's newest block on mempool.space before the break ends? The full explanation is on the course page, chapter 1, in Standards and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claims you should now be able to make: what a bitcoin is and how far it divides, why twenty-one million is arithmetic and not a promise, and what replaces the bank in the middle. Each claim is proved in a later chapter, and the last box on the slide names the chapter that opens each branch we drew. If you cannot yet say one of them in your own words, return to its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hyperlink" Target="https://mempool.space/tx/4a5e1e4baab89f3a32518a88c31bc87f618f76673e2cc77ab2127b7afdeda33b"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hyperlink" Target="https://mempool.space/tx/f4184fc596403b9d638783cf57adfe4c75c605f6356fbc91338530e9831e9e16"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hyperlink" Target="https://bitcoin.org/bitcoin.pdf" TargetMode="Externa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hyperlink" Target="https://www.gutenberg.org/ebooks/72830"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hyperlink" Target="https://www.money.org/money-museum/virtual-exhibits/hom" TargetMode="External"/><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hyperlink" Target="https://en.wikipedia.org/wiki/PayPal"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hyperlink" Target="https://en.wikipedia.org/wiki/M-Pesa" TargetMode="External"/><Relationship Id="rId4" Type="http://schemas.openxmlformats.org/officeDocument/2006/relationships/image" Target="../media/image-16-3.jpg"/><Relationship Id="rId5" Type="http://schemas.openxmlformats.org/officeDocument/2006/relationships/hyperlink" Target="https://en.wikipedia.org/wiki/2012%E2%80%932013_Cypriot_financial_crisis" TargetMode="External"/><Relationship Id="rId6" Type="http://schemas.openxmlformats.org/officeDocument/2006/relationships/image" Target="../media/image-16-4.jpg"/><Relationship Id="rId7" Type="http://schemas.openxmlformats.org/officeDocument/2006/relationships/hyperlink" Target="https://en.wikipedia.org/wiki/Greek_government-debt_crisis" TargetMode="External"/><Relationship Id="rId8" Type="http://schemas.openxmlformats.org/officeDocument/2006/relationships/image" Target="../media/image-16-5.jpg"/><Relationship Id="rId9" Type="http://schemas.openxmlformats.org/officeDocument/2006/relationships/hyperlink" Target="https://en.wikipedia.org/wiki/Hyperinflation_in_Venezuela" TargetMode="External"/><Relationship Id="rId10" Type="http://schemas.openxmlformats.org/officeDocument/2006/relationships/image" Target="../media/image-16-6.jpg"/><Relationship Id="rId11" Type="http://schemas.openxmlformats.org/officeDocument/2006/relationships/hyperlink" Target="https://nbclosangeles.com/news/business/money-report/ukraine-has-raised-more-than-54-million-as-bitcoin-donations-pour-in-to-support-the-war-against-russia/2840244" TargetMode="External"/><Relationship Id="rId12" Type="http://schemas.openxmlformats.org/officeDocument/2006/relationships/hyperlink" Target="https://nbclosangeles.com/news/business/money-report/ukraine-has-raised-more-than-54-million-as-bitcoin-donations-pour-in-to-support-the-war-against-russia/2840244" TargetMode="External"/><Relationship Id="rId13" Type="http://schemas.openxmlformats.org/officeDocument/2006/relationships/slideLayout" Target="../slideLayouts/slideLayout1.xml"/><Relationship Id="rId1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hyperlink" Target="https://www.guinnessworldrecords.com/world-records/696240-first-commercial-bitcoin-transaction"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hyperlink" Target="https://techcrunch.com/2014/03/03/mt-gox-posts-new-statement-on-alleged-theft-bankruptcy-filing/" TargetMode="External"/><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raw.githubusercontent.com/bitcoinbook/bitcoinbook/develop/ch01_intro.adoc" TargetMode="External"/><Relationship Id="rId3" Type="http://schemas.openxmlformats.org/officeDocument/2006/relationships/hyperlink" Target="https://developer.bitcoin.org/devguide/index.html" TargetMode="External"/><Relationship Id="rId4" Type="http://schemas.openxmlformats.org/officeDocument/2006/relationships/hyperlink" Target="https://bitcoincore.org/en/download/" TargetMode="External"/><Relationship Id="rId5" Type="http://schemas.openxmlformats.org/officeDocument/2006/relationships/hyperlink" Target="https://mempool.space" TargetMode="External"/><Relationship Id="rId6" Type="http://schemas.openxmlformats.org/officeDocument/2006/relationships/hyperlink" Target="https://blockstream.info" TargetMode="External"/><Relationship Id="rId7" Type="http://schemas.openxmlformats.org/officeDocument/2006/relationships/hyperlink" Target="https://api.coingecko.com/api/v3/coins/bitcoin" TargetMode="External"/><Relationship Id="rId8" Type="http://schemas.openxmlformats.org/officeDocument/2006/relationships/hyperlink" Target="https://bitcoin.stackexchange.com" TargetMode="External"/><Relationship Id="rId9" Type="http://schemas.openxmlformats.org/officeDocument/2006/relationships/hyperlink" Target="https://bitcointalk.org/index.php?topic=137.0" TargetMode="External"/><Relationship Id="rId10" Type="http://schemas.openxmlformats.org/officeDocument/2006/relationships/hyperlink" Target="https://cdn.nakamotoinstitute.org/docs/hashcash.pdf" TargetMode="External"/><Relationship Id="rId11" Type="http://schemas.openxmlformats.org/officeDocument/2006/relationships/hyperlink" Target="https://cdn.nakamotoinstitute.org/docs/b-money.txt" TargetMode="External"/><Relationship Id="rId12" Type="http://schemas.openxmlformats.org/officeDocument/2006/relationships/hyperlink" Target="https://www.youtube.com/embed/bBC-nXj3Ng4" TargetMode="External"/><Relationship Id="rId13" Type="http://schemas.openxmlformats.org/officeDocument/2006/relationships/slideLayout" Target="../slideLayouts/slideLayout1.xml"/><Relationship Id="rId1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 Introduction</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Bitcoin is, what it is made of, and why every part of it exists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1/assets/c1s24_protocol.png">    </p:cNvPr>
          <p:cNvPicPr>
            <a:picLocks noChangeAspect="1"/>
          </p:cNvPicPr>
          <p:nvPr/>
        </p:nvPicPr>
        <p:blipFill>
          <a:blip r:embed="rId1"/>
          <a:srcRect l="0" r="0" t="0" b="0"/>
          <a:stretch/>
        </p:blipFill>
        <p:spPr>
          <a:xfrm>
            <a:off x="5760720" y="1051560"/>
            <a:ext cx="3017520" cy="2377440"/>
          </a:xfrm>
          <a:prstGeom prst="rect">
            <a:avLst/>
          </a:prstGeom>
        </p:spPr>
      </p:pic>
      <p:sp>
        <p:nvSpPr>
          <p:cNvPr id="12" name="Text 9"/>
          <p:cNvSpPr txBox="1"/>
          <p:nvPr/>
        </p:nvSpPr>
        <p:spPr>
          <a:xfrm>
            <a:off x="5760720" y="344728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Outcomes, questions, and the chapter map  (slides 3-5)</a:t>
            </a:r>
            <a:endParaRPr lang="en-US" sz="1250" dirty="0"/>
          </a:p>
        </p:txBody>
      </p:sp>
      <p:sp>
        <p:nvSpPr>
          <p:cNvPr id="9" name="Shape 7"/>
          <p:cNvSpPr/>
          <p:nvPr/>
        </p:nvSpPr>
        <p:spPr>
          <a:xfrm>
            <a:off x="457200" y="19263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26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8976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Origins - three true stories  (slides 6-9)</a:t>
            </a:r>
            <a:endParaRPr lang="en-US" sz="1250" dirty="0"/>
          </a:p>
        </p:txBody>
      </p:sp>
      <p:sp>
        <p:nvSpPr>
          <p:cNvPr id="12" name="Shape 10"/>
          <p:cNvSpPr/>
          <p:nvPr/>
        </p:nvSpPr>
        <p:spPr>
          <a:xfrm>
            <a:off x="457200" y="244449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444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0792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Money - history, units, supply, price  (slides 10-24)</a:t>
            </a:r>
            <a:endParaRPr lang="en-US" sz="1250" dirty="0"/>
          </a:p>
        </p:txBody>
      </p:sp>
      <p:sp>
        <p:nvSpPr>
          <p:cNvPr id="15" name="Shape 13"/>
          <p:cNvSpPr/>
          <p:nvPr/>
        </p:nvSpPr>
        <p:spPr>
          <a:xfrm>
            <a:off x="457200" y="296265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626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2608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Network - peers, consensus, mining  (slides 25-29)</a:t>
            </a:r>
            <a:endParaRPr lang="en-US" sz="1250" dirty="0"/>
          </a:p>
        </p:txBody>
      </p:sp>
      <p:sp>
        <p:nvSpPr>
          <p:cNvPr id="18" name="Shape 16"/>
          <p:cNvSpPr/>
          <p:nvPr/>
        </p:nvSpPr>
        <p:spPr>
          <a:xfrm>
            <a:off x="457200" y="348081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80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4424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Wallets and first use - keys, custody, Alice  (slides 30-36)</a:t>
            </a:r>
            <a:endParaRPr lang="en-US" sz="1250" dirty="0"/>
          </a:p>
        </p:txBody>
      </p:sp>
      <p:sp>
        <p:nvSpPr>
          <p:cNvPr id="21" name="Shape 19"/>
          <p:cNvSpPr/>
          <p:nvPr/>
        </p:nvSpPr>
        <p:spPr>
          <a:xfrm>
            <a:off x="457200" y="399897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89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6240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Foundations, nature, summary, and resources  (slides 37-46)</a:t>
            </a:r>
            <a:endParaRPr lang="en-US" sz="1250" dirty="0"/>
          </a:p>
        </p:txBody>
      </p:sp>
      <p:sp>
        <p:nvSpPr>
          <p:cNvPr id="24" name="Shape 22"/>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1408176"/>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46</a:t>
            </a:r>
            <a:endParaRPr lang="en-US" sz="2600" dirty="0"/>
          </a:p>
        </p:txBody>
      </p:sp>
      <p:sp>
        <p:nvSpPr>
          <p:cNvPr id="26" name="Text 24"/>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2487168"/>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9</a:t>
            </a:r>
            <a:endParaRPr lang="en-US" sz="2600" dirty="0"/>
          </a:p>
        </p:txBody>
      </p:sp>
      <p:sp>
        <p:nvSpPr>
          <p:cNvPr id="29" name="Text 27"/>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30" name="Shape 28"/>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3566160"/>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12</a:t>
            </a:r>
            <a:endParaRPr lang="en-US" sz="2600" dirty="0"/>
          </a:p>
        </p:txBody>
      </p:sp>
      <p:sp>
        <p:nvSpPr>
          <p:cNvPr id="32" name="Text 30"/>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run live - each shown with its result</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one route - and every claim arrives with its receipt</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46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outcomes this session serves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course outcome, in the chapter's own parts</a:t>
            </a:r>
            <a:endParaRPr lang="en-US" sz="1300" dirty="0"/>
          </a:p>
        </p:txBody>
      </p:sp>
      <p:sp>
        <p:nvSpPr>
          <p:cNvPr id="6" name="Shape 4"/>
          <p:cNvSpPr/>
          <p:nvPr/>
        </p:nvSpPr>
        <p:spPr>
          <a:xfrm>
            <a:off x="457200" y="1371600"/>
            <a:ext cx="2590800" cy="1371600"/>
          </a:xfrm>
          <a:prstGeom prst="roundRect">
            <a:avLst>
              <a:gd name="adj" fmla="val 5333"/>
            </a:avLst>
          </a:prstGeom>
          <a:solidFill>
            <a:srgbClr val="F2ECE1"/>
          </a:solidFill>
          <a:ln w="12700">
            <a:solidFill>
              <a:srgbClr val="DFD6C7"/>
            </a:solidFill>
            <a:prstDash val="solid"/>
          </a:ln>
        </p:spPr>
      </p:sp>
      <p:sp>
        <p:nvSpPr>
          <p:cNvPr id="7" name="Text 5"/>
          <p:cNvSpPr txBox="1"/>
          <p:nvPr/>
        </p:nvSpPr>
        <p:spPr>
          <a:xfrm>
            <a:off x="566928" y="1444752"/>
            <a:ext cx="2371344" cy="61264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LO-1</a:t>
            </a:r>
            <a:endParaRPr lang="en-US" sz="2800" dirty="0"/>
          </a:p>
        </p:txBody>
      </p:sp>
      <p:sp>
        <p:nvSpPr>
          <p:cNvPr id="8" name="Text 6"/>
          <p:cNvSpPr txBox="1"/>
          <p:nvPr/>
        </p:nvSpPr>
        <p:spPr>
          <a:xfrm>
            <a:off x="5669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explain Bitcoin as money and as a system</a:t>
            </a:r>
            <a:endParaRPr lang="en-US" sz="1150" dirty="0"/>
          </a:p>
        </p:txBody>
      </p:sp>
      <p:sp>
        <p:nvSpPr>
          <p:cNvPr id="9" name="Shape 7"/>
          <p:cNvSpPr/>
          <p:nvPr/>
        </p:nvSpPr>
        <p:spPr>
          <a:xfrm>
            <a:off x="3276600" y="1371600"/>
            <a:ext cx="2590800" cy="1371600"/>
          </a:xfrm>
          <a:prstGeom prst="roundRect">
            <a:avLst>
              <a:gd name="adj" fmla="val 5333"/>
            </a:avLst>
          </a:prstGeom>
          <a:solidFill>
            <a:srgbClr val="F2ECE1"/>
          </a:solidFill>
          <a:ln w="12700">
            <a:solidFill>
              <a:srgbClr val="DFD6C7"/>
            </a:solidFill>
            <a:prstDash val="solid"/>
          </a:ln>
        </p:spPr>
      </p:sp>
      <p:sp>
        <p:nvSpPr>
          <p:cNvPr id="10" name="Text 8"/>
          <p:cNvSpPr txBox="1"/>
          <p:nvPr/>
        </p:nvSpPr>
        <p:spPr>
          <a:xfrm>
            <a:off x="3386328" y="1444752"/>
            <a:ext cx="2371344" cy="61264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6</a:t>
            </a:r>
            <a:endParaRPr lang="en-US" sz="2800" dirty="0"/>
          </a:p>
        </p:txBody>
      </p:sp>
      <p:sp>
        <p:nvSpPr>
          <p:cNvPr id="11" name="Text 9"/>
          <p:cNvSpPr txBox="1"/>
          <p:nvPr/>
        </p:nvSpPr>
        <p:spPr>
          <a:xfrm>
            <a:off x="33863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subject branches in this chapter</a:t>
            </a:r>
            <a:endParaRPr lang="en-US" sz="1150" dirty="0"/>
          </a:p>
        </p:txBody>
      </p:sp>
      <p:sp>
        <p:nvSpPr>
          <p:cNvPr id="12" name="Shape 10"/>
          <p:cNvSpPr/>
          <p:nvPr/>
        </p:nvSpPr>
        <p:spPr>
          <a:xfrm>
            <a:off x="6096000" y="1371600"/>
            <a:ext cx="2590800" cy="1371600"/>
          </a:xfrm>
          <a:prstGeom prst="roundRect">
            <a:avLst>
              <a:gd name="adj" fmla="val 5333"/>
            </a:avLst>
          </a:prstGeom>
          <a:solidFill>
            <a:srgbClr val="F2ECE1"/>
          </a:solidFill>
          <a:ln w="12700">
            <a:solidFill>
              <a:srgbClr val="DFD6C7"/>
            </a:solidFill>
            <a:prstDash val="solid"/>
          </a:ln>
        </p:spPr>
      </p:sp>
      <p:sp>
        <p:nvSpPr>
          <p:cNvPr id="13" name="Text 11"/>
          <p:cNvSpPr txBox="1"/>
          <p:nvPr/>
        </p:nvSpPr>
        <p:spPr>
          <a:xfrm>
            <a:off x="6205728" y="1444752"/>
            <a:ext cx="2371344" cy="61264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117</a:t>
            </a:r>
            <a:endParaRPr lang="en-US" sz="2800" dirty="0"/>
          </a:p>
        </p:txBody>
      </p:sp>
      <p:sp>
        <p:nvSpPr>
          <p:cNvPr id="14" name="Text 12"/>
          <p:cNvSpPr txBox="1"/>
          <p:nvPr/>
        </p:nvSpPr>
        <p:spPr>
          <a:xfrm>
            <a:off x="62057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concepts, every one on the course page</a:t>
            </a:r>
            <a:endParaRPr lang="en-US" sz="1150" dirty="0"/>
          </a:p>
        </p:txBody>
      </p:sp>
      <p:sp>
        <p:nvSpPr>
          <p:cNvPr id="15" name="Text 13"/>
          <p:cNvSpPr txBox="1"/>
          <p:nvPr/>
        </p:nvSpPr>
        <p:spPr>
          <a:xfrm>
            <a:off x="457200" y="2971800"/>
            <a:ext cx="8229600" cy="15544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History, units and the supply schedule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parts: keys, addresses, transactions, blocks, nodes, mining</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problems each part was designed to solve</a:t>
            </a:r>
            <a:endParaRPr lang="en-US" sz="15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outcome, one chapter, every concept on the page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46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2710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71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34440"/>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is the unit of Bitcoin's currency?</a:t>
            </a:r>
            <a:endParaRPr lang="en-US" sz="1250" dirty="0"/>
          </a:p>
        </p:txBody>
      </p:sp>
      <p:sp>
        <p:nvSpPr>
          <p:cNvPr id="9" name="Shape 7"/>
          <p:cNvSpPr/>
          <p:nvPr/>
        </p:nvSpPr>
        <p:spPr>
          <a:xfrm>
            <a:off x="457200" y="1754342"/>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5434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17766"/>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Who creates new bitcoin?</a:t>
            </a:r>
            <a:endParaRPr lang="en-US" sz="1250" dirty="0"/>
          </a:p>
        </p:txBody>
      </p:sp>
      <p:sp>
        <p:nvSpPr>
          <p:cNvPr id="12" name="Shape 10"/>
          <p:cNvSpPr/>
          <p:nvPr/>
        </p:nvSpPr>
        <p:spPr>
          <a:xfrm>
            <a:off x="457200" y="2237667"/>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766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01091"/>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problem of earlier digital money does Bitcoin solve?</a:t>
            </a:r>
            <a:endParaRPr lang="en-US" sz="1250" dirty="0"/>
          </a:p>
        </p:txBody>
      </p:sp>
      <p:sp>
        <p:nvSpPr>
          <p:cNvPr id="15" name="Shape 13"/>
          <p:cNvSpPr/>
          <p:nvPr/>
        </p:nvSpPr>
        <p:spPr>
          <a:xfrm>
            <a:off x="457200" y="2720993"/>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72099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84417"/>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can a wallet be classified by platform?</a:t>
            </a:r>
            <a:endParaRPr lang="en-US" sz="1250" dirty="0"/>
          </a:p>
        </p:txBody>
      </p:sp>
      <p:sp>
        <p:nvSpPr>
          <p:cNvPr id="18" name="Shape 16"/>
          <p:cNvSpPr/>
          <p:nvPr/>
        </p:nvSpPr>
        <p:spPr>
          <a:xfrm>
            <a:off x="457200" y="3204319"/>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2043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67743"/>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happens?</a:t>
            </a:r>
            <a:endParaRPr lang="en-US" sz="1250" dirty="0"/>
          </a:p>
        </p:txBody>
      </p:sp>
      <p:sp>
        <p:nvSpPr>
          <p:cNvPr id="21" name="Shape 19"/>
          <p:cNvSpPr/>
          <p:nvPr/>
        </p:nvSpPr>
        <p:spPr>
          <a:xfrm>
            <a:off x="457200" y="3687645"/>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8764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651069"/>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technical terms does the chapter use without defining them?</a:t>
            </a:r>
            <a:endParaRPr lang="en-US" sz="1250" dirty="0"/>
          </a:p>
        </p:txBody>
      </p:sp>
      <p:sp>
        <p:nvSpPr>
          <p:cNvPr id="24" name="Shape 22"/>
          <p:cNvSpPr/>
          <p:nvPr/>
        </p:nvSpPr>
        <p:spPr>
          <a:xfrm>
            <a:off x="457200" y="4170970"/>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17097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134394"/>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figures of the chapter are rules of the protocol and which are values at a date?</a:t>
            </a:r>
            <a:endParaRPr lang="en-US" sz="125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1 is yours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46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Each branch is a question the chapter answers; the grey lists are the concepts that answer it, every one explained on the course page.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1</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Money</a:t>
            </a:r>
            <a:endParaRPr lang="en-US" sz="13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Unit  ·  Supply  ·  Price  ·  Issuance</a:t>
            </a:r>
            <a:endParaRPr lang="en-US" sz="1200" dirty="0"/>
          </a:p>
        </p:txBody>
      </p:sp>
      <p:sp>
        <p:nvSpPr>
          <p:cNvPr id="15" name="Shape 13"/>
          <p:cNvSpPr/>
          <p:nvPr/>
        </p:nvSpPr>
        <p:spPr>
          <a:xfrm flipV="1">
            <a:off x="1783080" y="2227478"/>
            <a:ext cx="502920" cy="762610"/>
          </a:xfrm>
          <a:prstGeom prst="line">
            <a:avLst/>
          </a:prstGeom>
          <a:noFill/>
          <a:ln w="13970">
            <a:solidFill>
              <a:srgbClr val="C9BFAE"/>
            </a:solidFill>
            <a:prstDash val="solid"/>
          </a:ln>
        </p:spPr>
      </p:sp>
      <p:sp>
        <p:nvSpPr>
          <p:cNvPr id="16" name="Shape 14"/>
          <p:cNvSpPr/>
          <p:nvPr/>
        </p:nvSpPr>
        <p:spPr>
          <a:xfrm>
            <a:off x="2331720" y="1989734"/>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198973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8" name="Shape 16"/>
          <p:cNvSpPr/>
          <p:nvPr/>
        </p:nvSpPr>
        <p:spPr>
          <a:xfrm>
            <a:off x="4023360" y="2227478"/>
            <a:ext cx="274320" cy="0"/>
          </a:xfrm>
          <a:prstGeom prst="line">
            <a:avLst/>
          </a:prstGeom>
          <a:noFill/>
          <a:ln w="13970">
            <a:solidFill>
              <a:srgbClr val="C9BFAE"/>
            </a:solidFill>
            <a:prstDash val="solid"/>
          </a:ln>
        </p:spPr>
      </p:sp>
      <p:sp>
        <p:nvSpPr>
          <p:cNvPr id="19" name="Shape 17"/>
          <p:cNvSpPr/>
          <p:nvPr/>
        </p:nvSpPr>
        <p:spPr>
          <a:xfrm>
            <a:off x="4297680" y="2008022"/>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00802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Consensus  ·  History  ·  Standards</a:t>
            </a:r>
            <a:endParaRPr lang="en-US" sz="1200" dirty="0"/>
          </a:p>
        </p:txBody>
      </p:sp>
      <p:sp>
        <p:nvSpPr>
          <p:cNvPr id="21" name="Shape 19"/>
          <p:cNvSpPr/>
          <p:nvPr/>
        </p:nvSpPr>
        <p:spPr>
          <a:xfrm flipV="1">
            <a:off x="1783080" y="2735885"/>
            <a:ext cx="502920" cy="254203"/>
          </a:xfrm>
          <a:prstGeom prst="line">
            <a:avLst/>
          </a:prstGeom>
          <a:noFill/>
          <a:ln w="13970">
            <a:solidFill>
              <a:srgbClr val="C9BFAE"/>
            </a:solidFill>
            <a:prstDash val="solid"/>
          </a:ln>
        </p:spPr>
      </p:sp>
      <p:sp>
        <p:nvSpPr>
          <p:cNvPr id="22" name="Shape 20"/>
          <p:cNvSpPr/>
          <p:nvPr/>
        </p:nvSpPr>
        <p:spPr>
          <a:xfrm>
            <a:off x="2331720" y="2498141"/>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2498141"/>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Wallet</a:t>
            </a:r>
            <a:endParaRPr lang="en-US" sz="1300" dirty="0"/>
          </a:p>
        </p:txBody>
      </p:sp>
      <p:sp>
        <p:nvSpPr>
          <p:cNvPr id="24" name="Shape 22"/>
          <p:cNvSpPr/>
          <p:nvPr/>
        </p:nvSpPr>
        <p:spPr>
          <a:xfrm>
            <a:off x="4023360" y="2735885"/>
            <a:ext cx="274320" cy="0"/>
          </a:xfrm>
          <a:prstGeom prst="line">
            <a:avLst/>
          </a:prstGeom>
          <a:noFill/>
          <a:ln w="13970">
            <a:solidFill>
              <a:srgbClr val="C9BFAE"/>
            </a:solidFill>
            <a:prstDash val="solid"/>
          </a:ln>
        </p:spPr>
      </p:sp>
      <p:sp>
        <p:nvSpPr>
          <p:cNvPr id="25" name="Shape 23"/>
          <p:cNvSpPr/>
          <p:nvPr/>
        </p:nvSpPr>
        <p:spPr>
          <a:xfrm>
            <a:off x="4297680" y="2516429"/>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2516429"/>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Wallet Platform  ·  Node Type  ·  Key Control  ·  Backup</a:t>
            </a:r>
            <a:endParaRPr lang="en-US" sz="1200" dirty="0"/>
          </a:p>
        </p:txBody>
      </p:sp>
      <p:sp>
        <p:nvSpPr>
          <p:cNvPr id="27" name="Shape 25"/>
          <p:cNvSpPr/>
          <p:nvPr/>
        </p:nvSpPr>
        <p:spPr>
          <a:xfrm>
            <a:off x="1783080" y="2990088"/>
            <a:ext cx="502920" cy="254203"/>
          </a:xfrm>
          <a:prstGeom prst="line">
            <a:avLst/>
          </a:prstGeom>
          <a:noFill/>
          <a:ln w="13970">
            <a:solidFill>
              <a:srgbClr val="C9BFAE"/>
            </a:solidFill>
            <a:prstDash val="solid"/>
          </a:ln>
        </p:spPr>
      </p:sp>
      <p:sp>
        <p:nvSpPr>
          <p:cNvPr id="28" name="Shape 26"/>
          <p:cNvSpPr/>
          <p:nvPr/>
        </p:nvSpPr>
        <p:spPr>
          <a:xfrm>
            <a:off x="2331720" y="3006547"/>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3006547"/>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Usage</a:t>
            </a:r>
            <a:endParaRPr lang="en-US" sz="1300" dirty="0"/>
          </a:p>
        </p:txBody>
      </p:sp>
      <p:sp>
        <p:nvSpPr>
          <p:cNvPr id="30" name="Shape 28"/>
          <p:cNvSpPr/>
          <p:nvPr/>
        </p:nvSpPr>
        <p:spPr>
          <a:xfrm>
            <a:off x="4023360" y="3244291"/>
            <a:ext cx="274320" cy="0"/>
          </a:xfrm>
          <a:prstGeom prst="line">
            <a:avLst/>
          </a:prstGeom>
          <a:noFill/>
          <a:ln w="13970">
            <a:solidFill>
              <a:srgbClr val="C9BFAE"/>
            </a:solidFill>
            <a:prstDash val="solid"/>
          </a:ln>
        </p:spPr>
      </p:sp>
      <p:sp>
        <p:nvSpPr>
          <p:cNvPr id="31" name="Shape 29"/>
          <p:cNvSpPr/>
          <p:nvPr/>
        </p:nvSpPr>
        <p:spPr>
          <a:xfrm>
            <a:off x="4297680" y="3024835"/>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3024835"/>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Address  ·  Transfer  ·  Semantic Bridge  ·  Acquisition</a:t>
            </a:r>
            <a:endParaRPr lang="en-US" sz="1200" dirty="0"/>
          </a:p>
        </p:txBody>
      </p:sp>
      <p:sp>
        <p:nvSpPr>
          <p:cNvPr id="33" name="Shape 31"/>
          <p:cNvSpPr/>
          <p:nvPr/>
        </p:nvSpPr>
        <p:spPr>
          <a:xfrm>
            <a:off x="1783080" y="2990088"/>
            <a:ext cx="502920" cy="762610"/>
          </a:xfrm>
          <a:prstGeom prst="line">
            <a:avLst/>
          </a:prstGeom>
          <a:noFill/>
          <a:ln w="13970">
            <a:solidFill>
              <a:srgbClr val="C9BFAE"/>
            </a:solidFill>
            <a:prstDash val="solid"/>
          </a:ln>
        </p:spPr>
      </p:sp>
      <p:sp>
        <p:nvSpPr>
          <p:cNvPr id="34" name="Shape 32"/>
          <p:cNvSpPr/>
          <p:nvPr/>
        </p:nvSpPr>
        <p:spPr>
          <a:xfrm>
            <a:off x="2331720" y="3514954"/>
            <a:ext cx="1691640" cy="475488"/>
          </a:xfrm>
          <a:prstGeom prst="roundRect">
            <a:avLst>
              <a:gd name="adj" fmla="val 15385"/>
            </a:avLst>
          </a:prstGeom>
          <a:solidFill>
            <a:srgbClr val="2F6D62"/>
          </a:solidFill>
          <a:ln w="9525">
            <a:solidFill>
              <a:srgbClr val="2F6D62"/>
            </a:solidFill>
            <a:prstDash val="solid"/>
          </a:ln>
        </p:spPr>
      </p:sp>
      <p:sp>
        <p:nvSpPr>
          <p:cNvPr id="35" name="Text 33"/>
          <p:cNvSpPr txBox="1"/>
          <p:nvPr/>
        </p:nvSpPr>
        <p:spPr>
          <a:xfrm>
            <a:off x="2386584" y="351495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Foundations</a:t>
            </a:r>
            <a:endParaRPr lang="en-US" sz="1300" dirty="0"/>
          </a:p>
        </p:txBody>
      </p:sp>
      <p:sp>
        <p:nvSpPr>
          <p:cNvPr id="36" name="Shape 34"/>
          <p:cNvSpPr/>
          <p:nvPr/>
        </p:nvSpPr>
        <p:spPr>
          <a:xfrm>
            <a:off x="4023360" y="3752698"/>
            <a:ext cx="274320" cy="0"/>
          </a:xfrm>
          <a:prstGeom prst="line">
            <a:avLst/>
          </a:prstGeom>
          <a:noFill/>
          <a:ln w="13970">
            <a:solidFill>
              <a:srgbClr val="C9BFAE"/>
            </a:solidFill>
            <a:prstDash val="solid"/>
          </a:ln>
        </p:spPr>
      </p:sp>
      <p:sp>
        <p:nvSpPr>
          <p:cNvPr id="37" name="Shape 35"/>
          <p:cNvSpPr/>
          <p:nvPr/>
        </p:nvSpPr>
        <p:spPr>
          <a:xfrm>
            <a:off x="4297680" y="3533242"/>
            <a:ext cx="4480560" cy="438912"/>
          </a:xfrm>
          <a:prstGeom prst="roundRect">
            <a:avLst>
              <a:gd name="adj" fmla="val 12500"/>
            </a:avLst>
          </a:prstGeom>
          <a:solidFill>
            <a:srgbClr val="F2ECE1"/>
          </a:solidFill>
          <a:ln w="6350">
            <a:solidFill>
              <a:srgbClr val="DFD6C7"/>
            </a:solidFill>
            <a:prstDash val="solid"/>
          </a:ln>
        </p:spPr>
      </p:sp>
      <p:sp>
        <p:nvSpPr>
          <p:cNvPr id="38" name="Text 36"/>
          <p:cNvSpPr txBox="1"/>
          <p:nvPr/>
        </p:nvSpPr>
        <p:spPr>
          <a:xfrm>
            <a:off x="4407408" y="353324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Cryptography  ·  Chain  ·  Computing  ·  Threats</a:t>
            </a:r>
            <a:endParaRPr lang="en-US" sz="1200" dirty="0"/>
          </a:p>
        </p:txBody>
      </p:sp>
      <p:sp>
        <p:nvSpPr>
          <p:cNvPr id="39" name="Shape 37"/>
          <p:cNvSpPr/>
          <p:nvPr/>
        </p:nvSpPr>
        <p:spPr>
          <a:xfrm>
            <a:off x="1783080" y="2990088"/>
            <a:ext cx="502920" cy="1271016"/>
          </a:xfrm>
          <a:prstGeom prst="line">
            <a:avLst/>
          </a:prstGeom>
          <a:noFill/>
          <a:ln w="13970">
            <a:solidFill>
              <a:srgbClr val="C9BFAE"/>
            </a:solidFill>
            <a:prstDash val="solid"/>
          </a:ln>
        </p:spPr>
      </p:sp>
      <p:sp>
        <p:nvSpPr>
          <p:cNvPr id="40" name="Shape 38"/>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41" name="Text 39"/>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Nature</a:t>
            </a:r>
            <a:endParaRPr lang="en-US" sz="1300" dirty="0"/>
          </a:p>
        </p:txBody>
      </p:sp>
      <p:sp>
        <p:nvSpPr>
          <p:cNvPr id="42" name="Shape 40"/>
          <p:cNvSpPr/>
          <p:nvPr/>
        </p:nvSpPr>
        <p:spPr>
          <a:xfrm>
            <a:off x="4023360" y="4261104"/>
            <a:ext cx="274320" cy="0"/>
          </a:xfrm>
          <a:prstGeom prst="line">
            <a:avLst/>
          </a:prstGeom>
          <a:noFill/>
          <a:ln w="13970">
            <a:solidFill>
              <a:srgbClr val="C9BFAE"/>
            </a:solidFill>
            <a:prstDash val="solid"/>
          </a:ln>
        </p:spPr>
      </p:sp>
      <p:sp>
        <p:nvSpPr>
          <p:cNvPr id="43" name="Shape 41"/>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44" name="Text 42"/>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Characteristic  ·  Architecture</a:t>
            </a:r>
            <a:endParaRPr lang="en-US" sz="1200" dirty="0"/>
          </a:p>
        </p:txBody>
      </p:sp>
      <p:sp>
        <p:nvSpPr>
          <p:cNvPr id="45" name="Shape 43"/>
          <p:cNvSpPr/>
          <p:nvPr/>
        </p:nvSpPr>
        <p:spPr>
          <a:xfrm>
            <a:off x="457200" y="4636008"/>
            <a:ext cx="91440" cy="310896"/>
          </a:xfrm>
          <a:prstGeom prst="rect">
            <a:avLst/>
          </a:prstGeom>
          <a:solidFill>
            <a:srgbClr val="D97A14"/>
          </a:solidFill>
          <a:ln w="12700">
            <a:solidFill>
              <a:srgbClr val="D97A14"/>
            </a:solidFill>
            <a:prstDash val="solid"/>
          </a:ln>
        </p:spPr>
      </p:sp>
      <p:sp>
        <p:nvSpPr>
          <p:cNvPr id="46" name="Text 4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branches - every slide today lives on this map</a:t>
            </a:r>
            <a:endParaRPr lang="en-US" sz="1350" dirty="0"/>
          </a:p>
        </p:txBody>
      </p:sp>
      <p:sp>
        <p:nvSpPr>
          <p:cNvPr id="47" name="Text 4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46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Origins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Three stories that explain why Bitcoin looks the way it does</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headline in block 0</a:t>
            </a: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first payment</a:t>
            </a: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Forty years of attempts</a:t>
            </a: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46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newspaper headline carved into block zero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3 January 2009</a:t>
            </a:r>
            <a:endParaRPr lang="en-US" sz="1300" dirty="0"/>
          </a:p>
        </p:txBody>
      </p:sp>
      <p:pic>
        <p:nvPicPr>
          <p:cNvPr id="6" name="Image 0" descr="../../03-materials/ch01/assets/genesis_hexdump.png">    </p:cNvPr>
          <p:cNvPicPr>
            <a:picLocks noChangeAspect="1"/>
          </p:cNvPicPr>
          <p:nvPr/>
        </p:nvPicPr>
        <p:blipFill>
          <a:blip r:embed="rId1"/>
          <a:srcRect l="0" r="0" t="0" b="0"/>
          <a:stretch/>
        </p:blipFill>
        <p:spPr>
          <a:xfrm>
            <a:off x="457200" y="1298448"/>
            <a:ext cx="5394960" cy="2331720"/>
          </a:xfrm>
          <a:prstGeom prst="rect">
            <a:avLst/>
          </a:prstGeom>
        </p:spPr>
      </p:pic>
      <p:sp>
        <p:nvSpPr>
          <p:cNvPr id="7" name="Text 4"/>
          <p:cNvSpPr txBox="1"/>
          <p:nvPr/>
        </p:nvSpPr>
        <p:spPr>
          <a:xfrm>
            <a:off x="457200" y="3648456"/>
            <a:ext cx="5394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Block 0 hex dump - Yusuf Altunel, CC BY 4.0</a:t>
            </a:r>
            <a:endParaRPr lang="en-US" sz="900" dirty="0"/>
          </a:p>
        </p:txBody>
      </p:sp>
      <p:sp>
        <p:nvSpPr>
          <p:cNvPr id="8" name="Shape 5"/>
          <p:cNvSpPr/>
          <p:nvPr/>
        </p:nvSpPr>
        <p:spPr>
          <a:xfrm>
            <a:off x="6080760" y="1234440"/>
            <a:ext cx="2606040" cy="2194560"/>
          </a:xfrm>
          <a:prstGeom prst="rect">
            <a:avLst/>
          </a:prstGeom>
          <a:solidFill>
            <a:srgbClr val="FBF8F2"/>
          </a:solidFill>
          <a:ln w="15875">
            <a:solidFill>
              <a:srgbClr val="C9BFAE"/>
            </a:solidFill>
            <a:prstDash val="solid"/>
          </a:ln>
          <a:effectLst>
            <a:outerShdw sx="100000" sy="100000" kx="0" ky="0" algn="bl" rotWithShape="0" blurRad="76200" dist="25400" dir="2700000">
              <a:srgbClr val="000000">
                <a:alpha val="25000"/>
              </a:srgbClr>
            </a:outerShdw>
          </a:effectLst>
        </p:spPr>
      </p:sp>
      <p:sp>
        <p:nvSpPr>
          <p:cNvPr id="9" name="Text 6"/>
          <p:cNvSpPr txBox="1"/>
          <p:nvPr/>
        </p:nvSpPr>
        <p:spPr>
          <a:xfrm>
            <a:off x="6080760" y="1344168"/>
            <a:ext cx="2606040" cy="457200"/>
          </a:xfrm>
          <a:prstGeom prst="rect">
            <a:avLst/>
          </a:prstGeom>
          <a:noFill/>
          <a:ln/>
        </p:spPr>
        <p:txBody>
          <a:bodyPr wrap="square" lIns="0" tIns="0" rIns="0" bIns="0" rtlCol="0" anchor="ctr"/>
          <a:lstStyle/>
          <a:p>
            <a:pPr algn="ctr" indent="0" marL="0">
              <a:buNone/>
            </a:pPr>
            <a:r>
              <a:rPr lang="en-US" sz="1400" b="1" dirty="0">
                <a:solidFill>
                  <a:srgbClr val="2B2622"/>
                </a:solidFill>
                <a:latin typeface="Cambria" pitchFamily="34" charset="0"/>
                <a:ea typeface="Cambria" pitchFamily="34" charset="-122"/>
                <a:cs typeface="Cambria" pitchFamily="34" charset="-120"/>
              </a:rPr>
              <a:t>The Times</a:t>
            </a:r>
            <a:endParaRPr lang="en-US" sz="1400" dirty="0"/>
          </a:p>
        </p:txBody>
      </p:sp>
      <p:sp>
        <p:nvSpPr>
          <p:cNvPr id="10" name="Shape 7"/>
          <p:cNvSpPr/>
          <p:nvPr/>
        </p:nvSpPr>
        <p:spPr>
          <a:xfrm>
            <a:off x="6309360" y="1856232"/>
            <a:ext cx="2148840" cy="0"/>
          </a:xfrm>
          <a:prstGeom prst="line">
            <a:avLst/>
          </a:prstGeom>
          <a:noFill/>
          <a:ln w="12700">
            <a:solidFill>
              <a:srgbClr val="2B2622"/>
            </a:solidFill>
            <a:prstDash val="solid"/>
          </a:ln>
        </p:spPr>
      </p:sp>
      <p:sp>
        <p:nvSpPr>
          <p:cNvPr id="11" name="Text 8"/>
          <p:cNvSpPr txBox="1"/>
          <p:nvPr/>
        </p:nvSpPr>
        <p:spPr>
          <a:xfrm>
            <a:off x="6080760" y="1892808"/>
            <a:ext cx="26060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mbria" pitchFamily="34" charset="0"/>
                <a:ea typeface="Cambria" pitchFamily="34" charset="-122"/>
                <a:cs typeface="Cambria" pitchFamily="34" charset="-120"/>
              </a:rPr>
              <a:t>Saturday January 3 2009</a:t>
            </a:r>
            <a:endParaRPr lang="en-US" sz="1050" dirty="0"/>
          </a:p>
        </p:txBody>
      </p:sp>
      <p:sp>
        <p:nvSpPr>
          <p:cNvPr id="12" name="Text 9"/>
          <p:cNvSpPr txBox="1"/>
          <p:nvPr/>
        </p:nvSpPr>
        <p:spPr>
          <a:xfrm>
            <a:off x="6245352" y="2130552"/>
            <a:ext cx="2276856" cy="868680"/>
          </a:xfrm>
          <a:prstGeom prst="rect">
            <a:avLst/>
          </a:prstGeom>
          <a:noFill/>
          <a:ln/>
        </p:spPr>
        <p:txBody>
          <a:bodyPr wrap="square" lIns="0" tIns="0" rIns="0" bIns="0" rtlCol="0" anchor="ctr"/>
          <a:lstStyle/>
          <a:p>
            <a:pPr algn="ctr" indent="0" marL="0">
              <a:buNone/>
            </a:pPr>
            <a:r>
              <a:rPr lang="en-US" sz="1150" b="1" dirty="0">
                <a:solidFill>
                  <a:srgbClr val="2B2622"/>
                </a:solidFill>
                <a:latin typeface="Cambria" pitchFamily="34" charset="0"/>
                <a:ea typeface="Cambria" pitchFamily="34" charset="-122"/>
                <a:cs typeface="Cambria" pitchFamily="34" charset="-120"/>
              </a:rPr>
              <a:t>Chancellor on brink of second bailout for banks</a:t>
            </a:r>
            <a:endParaRPr lang="en-US" sz="1150" dirty="0"/>
          </a:p>
        </p:txBody>
      </p:sp>
      <p:sp>
        <p:nvSpPr>
          <p:cNvPr id="13" name="Shape 10"/>
          <p:cNvSpPr/>
          <p:nvPr/>
        </p:nvSpPr>
        <p:spPr>
          <a:xfrm>
            <a:off x="6332220" y="3026664"/>
            <a:ext cx="2103120" cy="310896"/>
          </a:xfrm>
          <a:prstGeom prst="roundRect">
            <a:avLst>
              <a:gd name="adj" fmla="val 52941"/>
            </a:avLst>
          </a:prstGeom>
          <a:solidFill>
            <a:srgbClr val="D97A14"/>
          </a:solidFill>
          <a:ln w="12700">
            <a:solidFill>
              <a:srgbClr val="D97A14"/>
            </a:solidFill>
            <a:prstDash val="solid"/>
          </a:ln>
        </p:spPr>
      </p:sp>
      <p:sp>
        <p:nvSpPr>
          <p:cNvPr id="14" name="Text 11"/>
          <p:cNvSpPr txBox="1"/>
          <p:nvPr/>
        </p:nvSpPr>
        <p:spPr>
          <a:xfrm>
            <a:off x="6332220" y="3026664"/>
            <a:ext cx="2103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embedded in block 0</a:t>
            </a:r>
            <a:endParaRPr lang="en-US" sz="1000" dirty="0"/>
          </a:p>
        </p:txBody>
      </p:sp>
      <p:sp>
        <p:nvSpPr>
          <p:cNvPr id="15" name="Shape 12"/>
          <p:cNvSpPr/>
          <p:nvPr/>
        </p:nvSpPr>
        <p:spPr>
          <a:xfrm>
            <a:off x="6080760" y="3666744"/>
            <a:ext cx="128016" cy="128016"/>
          </a:xfrm>
          <a:prstGeom prst="diamond">
            <a:avLst/>
          </a:prstGeom>
          <a:solidFill>
            <a:srgbClr val="D97A14"/>
          </a:solidFill>
          <a:ln w="12700">
            <a:solidFill>
              <a:srgbClr val="D97A14"/>
            </a:solidFill>
            <a:prstDash val="solid"/>
          </a:ln>
        </p:spPr>
      </p:sp>
      <p:sp>
        <p:nvSpPr>
          <p:cNvPr id="16" name="Text 13"/>
          <p:cNvSpPr txBox="1"/>
          <p:nvPr/>
        </p:nvSpPr>
        <p:spPr>
          <a:xfrm>
            <a:off x="6355080" y="3456432"/>
            <a:ext cx="2331720" cy="54864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The orange bytes ARE the headline</a:t>
            </a:r>
            <a:endParaRPr lang="en-US" sz="1100" dirty="0"/>
          </a:p>
        </p:txBody>
      </p:sp>
      <p:sp>
        <p:nvSpPr>
          <p:cNvPr id="17" name="Shape 14"/>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a:t>
            </a:r>
            <a:endParaRPr lang="en-US" sz="750" dirty="0"/>
          </a:p>
        </p:txBody>
      </p:sp>
      <p:sp>
        <p:nvSpPr>
          <p:cNvPr id="19" name="Shape 16"/>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0 of the chain i…</a:t>
            </a:r>
            <a:endParaRPr lang="en-US" sz="750" dirty="0"/>
          </a:p>
        </p:txBody>
      </p:sp>
      <p:sp>
        <p:nvSpPr>
          <p:cNvPr id="21" name="Shape 18"/>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2009-01-03</a:t>
            </a:r>
            <a:endParaRPr lang="en-US" sz="750" dirty="0"/>
          </a:p>
        </p:txBody>
      </p:sp>
      <p:sp>
        <p:nvSpPr>
          <p:cNvPr id="23" name="Shape 20"/>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Genesis block coinbase, the headline (tx)</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is written into the chain itself</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46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first person ever paid in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Satoshi Nakamoto, and the cryptographer who ran the code</a:t>
            </a:r>
            <a:endParaRPr lang="en-US" sz="1300" dirty="0"/>
          </a:p>
        </p:txBody>
      </p:sp>
      <p:pic>
        <p:nvPicPr>
          <p:cNvPr id="6" name="Image 0" descr="../../03-materials/ch01/assets/photo_hal_finney_1972.jpg">    </p:cNvPr>
          <p:cNvPicPr>
            <a:picLocks noChangeAspect="1"/>
          </p:cNvPicPr>
          <p:nvPr/>
        </p:nvPicPr>
        <p:blipFill>
          <a:blip r:embed="rId1"/>
          <a:srcRect l="0" r="0" t="0" b="0"/>
          <a:stretch/>
        </p:blipFill>
        <p:spPr>
          <a:xfrm>
            <a:off x="457200" y="1325880"/>
            <a:ext cx="2651760" cy="2286000"/>
          </a:xfrm>
          <a:prstGeom prst="rect">
            <a:avLst/>
          </a:prstGeom>
        </p:spPr>
      </p:pic>
      <p:sp>
        <p:nvSpPr>
          <p:cNvPr id="7" name="Text 4"/>
          <p:cNvSpPr txBox="1"/>
          <p:nvPr/>
        </p:nvSpPr>
        <p:spPr>
          <a:xfrm>
            <a:off x="457200" y="363016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Hal Finney, 1972 - Daily News-Post, public domain</a:t>
            </a:r>
            <a:endParaRPr lang="en-US" sz="900" dirty="0"/>
          </a:p>
        </p:txBody>
      </p:sp>
      <p:sp>
        <p:nvSpPr>
          <p:cNvPr id="8" name="Shape 5"/>
          <p:cNvSpPr/>
          <p:nvPr/>
        </p:nvSpPr>
        <p:spPr>
          <a:xfrm>
            <a:off x="3383280" y="17038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657600" y="141732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Satoshi Nakamoto: still unidentified, by design</a:t>
            </a:r>
            <a:endParaRPr lang="en-US" sz="1350" dirty="0"/>
          </a:p>
        </p:txBody>
      </p:sp>
      <p:sp>
        <p:nvSpPr>
          <p:cNvPr id="10" name="Shape 7"/>
          <p:cNvSpPr/>
          <p:nvPr/>
        </p:nvSpPr>
        <p:spPr>
          <a:xfrm>
            <a:off x="3383280" y="240487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657600" y="211836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Hal Finney answered the whitepaper - and 'Running bitcoin'</a:t>
            </a:r>
            <a:endParaRPr lang="en-US" sz="1350" dirty="0"/>
          </a:p>
        </p:txBody>
      </p:sp>
      <p:sp>
        <p:nvSpPr>
          <p:cNvPr id="12" name="Shape 9"/>
          <p:cNvSpPr/>
          <p:nvPr/>
        </p:nvSpPr>
        <p:spPr>
          <a:xfrm>
            <a:off x="3383280" y="310591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657600" y="281940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Block 170, January 2009: Satoshi pays Finney 10 BTC</a:t>
            </a:r>
            <a:endParaRPr lang="en-US" sz="1350" dirty="0"/>
          </a:p>
        </p:txBody>
      </p:sp>
      <p:sp>
        <p:nvSpPr>
          <p:cNvPr id="14" name="Shape 11"/>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 to Hal …</a:t>
            </a:r>
            <a:endParaRPr lang="en-US" sz="750" dirty="0"/>
          </a:p>
        </p:txBody>
      </p:sp>
      <p:sp>
        <p:nvSpPr>
          <p:cNvPr id="16" name="Shape 13"/>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170</a:t>
            </a:r>
            <a:endParaRPr lang="en-US" sz="750" dirty="0"/>
          </a:p>
        </p:txBody>
      </p:sp>
      <p:sp>
        <p:nvSpPr>
          <p:cNvPr id="18" name="Shape 15"/>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2009-01-12</a:t>
            </a:r>
            <a:endParaRPr lang="en-US" sz="750" dirty="0"/>
          </a:p>
        </p:txBody>
      </p:sp>
      <p:sp>
        <p:nvSpPr>
          <p:cNvPr id="20" name="Shape 17"/>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Satoshi to Finney, block 170 (tx)</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2"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Peer to peer meant person to person from day one</a:t>
            </a:r>
            <a:endParaRPr lang="en-US" sz="13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46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Forty years of failed digital money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part existed before Bitcoin combined them</a:t>
            </a:r>
            <a:endParaRPr lang="en-US" sz="1300" dirty="0"/>
          </a:p>
        </p:txBody>
      </p:sp>
      <p:pic>
        <p:nvPicPr>
          <p:cNvPr id="6" name="Image 0" descr="../../03-materials/ch01/assets/photo_david_chaum_2018.jpg">    </p:cNvPr>
          <p:cNvPicPr>
            <a:picLocks noChangeAspect="1"/>
          </p:cNvPicPr>
          <p:nvPr/>
        </p:nvPicPr>
        <p:blipFill>
          <a:blip r:embed="rId1"/>
          <a:srcRect l="0" r="0" t="0" b="0"/>
          <a:stretch/>
        </p:blipFill>
        <p:spPr>
          <a:xfrm>
            <a:off x="7269480" y="1417320"/>
            <a:ext cx="1417320" cy="1874520"/>
          </a:xfrm>
          <a:prstGeom prst="rect">
            <a:avLst/>
          </a:prstGeom>
        </p:spPr>
      </p:pic>
      <p:sp>
        <p:nvSpPr>
          <p:cNvPr id="7" name="Text 4"/>
          <p:cNvSpPr txBox="1"/>
          <p:nvPr/>
        </p:nvSpPr>
        <p:spPr>
          <a:xfrm>
            <a:off x="7269480" y="3310128"/>
            <a:ext cx="14173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David Chaum, 2018 - Harry Murphy, CC BY 2.0</a:t>
            </a:r>
            <a:endParaRPr lang="en-US" sz="900" dirty="0"/>
          </a:p>
        </p:txBody>
      </p:sp>
      <p:sp>
        <p:nvSpPr>
          <p:cNvPr id="8" name="Shape 5"/>
          <p:cNvSpPr/>
          <p:nvPr/>
        </p:nvSpPr>
        <p:spPr>
          <a:xfrm>
            <a:off x="457200" y="2307946"/>
            <a:ext cx="6492240" cy="0"/>
          </a:xfrm>
          <a:prstGeom prst="line">
            <a:avLst/>
          </a:prstGeom>
          <a:noFill/>
          <a:ln w="25400">
            <a:solidFill>
              <a:srgbClr val="C9BFAE"/>
            </a:solidFill>
            <a:prstDash val="solid"/>
          </a:ln>
        </p:spPr>
      </p:sp>
      <p:sp>
        <p:nvSpPr>
          <p:cNvPr id="9" name="Shape 6"/>
          <p:cNvSpPr/>
          <p:nvPr/>
        </p:nvSpPr>
        <p:spPr>
          <a:xfrm>
            <a:off x="557784" y="2225650"/>
            <a:ext cx="164592" cy="164592"/>
          </a:xfrm>
          <a:prstGeom prst="ellipse">
            <a:avLst/>
          </a:prstGeom>
          <a:solidFill>
            <a:srgbClr val="2F6D62"/>
          </a:solidFill>
          <a:ln w="12700">
            <a:solidFill>
              <a:srgbClr val="FFFFFF"/>
            </a:solidFill>
            <a:prstDash val="solid"/>
          </a:ln>
        </p:spPr>
      </p:sp>
      <p:sp>
        <p:nvSpPr>
          <p:cNvPr id="10" name="Text 7"/>
          <p:cNvSpPr txBox="1"/>
          <p:nvPr/>
        </p:nvSpPr>
        <p:spPr>
          <a:xfrm>
            <a:off x="365760" y="1832458"/>
            <a:ext cx="82296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1982</a:t>
            </a:r>
            <a:endParaRPr lang="en-US" sz="1200" dirty="0"/>
          </a:p>
        </p:txBody>
      </p:sp>
      <p:sp>
        <p:nvSpPr>
          <p:cNvPr id="11" name="Text 8"/>
          <p:cNvSpPr txBox="1"/>
          <p:nvPr/>
        </p:nvSpPr>
        <p:spPr>
          <a:xfrm>
            <a:off x="365760" y="2435962"/>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Chaum: ecash</a:t>
            </a:r>
            <a:endParaRPr lang="en-US" sz="1000" dirty="0"/>
          </a:p>
        </p:txBody>
      </p:sp>
      <p:sp>
        <p:nvSpPr>
          <p:cNvPr id="12" name="Shape 9"/>
          <p:cNvSpPr/>
          <p:nvPr/>
        </p:nvSpPr>
        <p:spPr>
          <a:xfrm>
            <a:off x="2089404" y="2225650"/>
            <a:ext cx="164592" cy="164592"/>
          </a:xfrm>
          <a:prstGeom prst="ellipse">
            <a:avLst/>
          </a:prstGeom>
          <a:solidFill>
            <a:srgbClr val="2F6D62"/>
          </a:solidFill>
          <a:ln w="12700">
            <a:solidFill>
              <a:srgbClr val="FFFFFF"/>
            </a:solidFill>
            <a:prstDash val="solid"/>
          </a:ln>
        </p:spPr>
      </p:sp>
      <p:sp>
        <p:nvSpPr>
          <p:cNvPr id="13" name="Text 10"/>
          <p:cNvSpPr txBox="1"/>
          <p:nvPr/>
        </p:nvSpPr>
        <p:spPr>
          <a:xfrm>
            <a:off x="162306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1997</a:t>
            </a:r>
            <a:endParaRPr lang="en-US" sz="1200" dirty="0"/>
          </a:p>
        </p:txBody>
      </p:sp>
      <p:sp>
        <p:nvSpPr>
          <p:cNvPr id="14" name="Text 11"/>
          <p:cNvSpPr txBox="1"/>
          <p:nvPr/>
        </p:nvSpPr>
        <p:spPr>
          <a:xfrm>
            <a:off x="13944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Back: Hashcash</a:t>
            </a:r>
            <a:endParaRPr lang="en-US" sz="1000" dirty="0"/>
          </a:p>
        </p:txBody>
      </p:sp>
      <p:sp>
        <p:nvSpPr>
          <p:cNvPr id="15" name="Shape 12"/>
          <p:cNvSpPr/>
          <p:nvPr/>
        </p:nvSpPr>
        <p:spPr>
          <a:xfrm>
            <a:off x="3621024" y="2225650"/>
            <a:ext cx="164592" cy="164592"/>
          </a:xfrm>
          <a:prstGeom prst="ellipse">
            <a:avLst/>
          </a:prstGeom>
          <a:solidFill>
            <a:srgbClr val="2F6D62"/>
          </a:solidFill>
          <a:ln w="12700">
            <a:solidFill>
              <a:srgbClr val="FFFFFF"/>
            </a:solidFill>
            <a:prstDash val="solid"/>
          </a:ln>
        </p:spPr>
      </p:sp>
      <p:sp>
        <p:nvSpPr>
          <p:cNvPr id="16" name="Text 13"/>
          <p:cNvSpPr txBox="1"/>
          <p:nvPr/>
        </p:nvSpPr>
        <p:spPr>
          <a:xfrm>
            <a:off x="315468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1998</a:t>
            </a:r>
            <a:endParaRPr lang="en-US" sz="1200" dirty="0"/>
          </a:p>
        </p:txBody>
      </p:sp>
      <p:sp>
        <p:nvSpPr>
          <p:cNvPr id="17" name="Text 14"/>
          <p:cNvSpPr txBox="1"/>
          <p:nvPr/>
        </p:nvSpPr>
        <p:spPr>
          <a:xfrm>
            <a:off x="292608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Dai, Szabo: b-money, bit gold</a:t>
            </a:r>
            <a:endParaRPr lang="en-US" sz="1000" dirty="0"/>
          </a:p>
        </p:txBody>
      </p:sp>
      <p:sp>
        <p:nvSpPr>
          <p:cNvPr id="18" name="Shape 15"/>
          <p:cNvSpPr/>
          <p:nvPr/>
        </p:nvSpPr>
        <p:spPr>
          <a:xfrm>
            <a:off x="5152644" y="2225650"/>
            <a:ext cx="164592" cy="164592"/>
          </a:xfrm>
          <a:prstGeom prst="ellipse">
            <a:avLst/>
          </a:prstGeom>
          <a:solidFill>
            <a:srgbClr val="D97A14"/>
          </a:solidFill>
          <a:ln w="12700">
            <a:solidFill>
              <a:srgbClr val="FFFFFF"/>
            </a:solidFill>
            <a:prstDash val="solid"/>
          </a:ln>
        </p:spPr>
      </p:sp>
      <p:sp>
        <p:nvSpPr>
          <p:cNvPr id="19" name="Text 16"/>
          <p:cNvSpPr txBox="1"/>
          <p:nvPr/>
        </p:nvSpPr>
        <p:spPr>
          <a:xfrm>
            <a:off x="4686300" y="1832458"/>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2008</a:t>
            </a:r>
            <a:endParaRPr lang="en-US" sz="1200" dirty="0"/>
          </a:p>
        </p:txBody>
      </p:sp>
      <p:sp>
        <p:nvSpPr>
          <p:cNvPr id="20" name="Text 17"/>
          <p:cNvSpPr txBox="1"/>
          <p:nvPr/>
        </p:nvSpPr>
        <p:spPr>
          <a:xfrm>
            <a:off x="445770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Nakamoto: the whitepaper</a:t>
            </a:r>
            <a:endParaRPr lang="en-US" sz="1000" dirty="0"/>
          </a:p>
        </p:txBody>
      </p:sp>
      <p:sp>
        <p:nvSpPr>
          <p:cNvPr id="21" name="Shape 18"/>
          <p:cNvSpPr/>
          <p:nvPr/>
        </p:nvSpPr>
        <p:spPr>
          <a:xfrm>
            <a:off x="6684264" y="2225650"/>
            <a:ext cx="164592" cy="164592"/>
          </a:xfrm>
          <a:prstGeom prst="ellipse">
            <a:avLst/>
          </a:prstGeom>
          <a:solidFill>
            <a:srgbClr val="D97A14"/>
          </a:solidFill>
          <a:ln w="12700">
            <a:solidFill>
              <a:srgbClr val="FFFFFF"/>
            </a:solidFill>
            <a:prstDash val="solid"/>
          </a:ln>
        </p:spPr>
      </p:sp>
      <p:sp>
        <p:nvSpPr>
          <p:cNvPr id="22" name="Text 19"/>
          <p:cNvSpPr txBox="1"/>
          <p:nvPr/>
        </p:nvSpPr>
        <p:spPr>
          <a:xfrm>
            <a:off x="6217920" y="1832458"/>
            <a:ext cx="82296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23" name="Text 20"/>
          <p:cNvSpPr txBox="1"/>
          <p:nvPr/>
        </p:nvSpPr>
        <p:spPr>
          <a:xfrm>
            <a:off x="5989320" y="2435962"/>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The genesis block runs</a:t>
            </a:r>
            <a:endParaRPr lang="en-US" sz="1000" dirty="0"/>
          </a:p>
        </p:txBody>
      </p:sp>
      <p:sp>
        <p:nvSpPr>
          <p:cNvPr id="24" name="Text 21"/>
          <p:cNvSpPr txBox="1"/>
          <p:nvPr/>
        </p:nvSpPr>
        <p:spPr>
          <a:xfrm>
            <a:off x="457200" y="3520440"/>
            <a:ext cx="6675120" cy="5029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2B2622"/>
                </a:solidFill>
                <a:latin typeface="Calibri" pitchFamily="34" charset="0"/>
                <a:ea typeface="Calibri" pitchFamily="34" charset="-122"/>
                <a:cs typeface="Calibri" pitchFamily="34" charset="-120"/>
              </a:rPr>
              <a:t>DigiCash went bankrupt; b-money and bit gold were never built - agreement without a leader was missing</a:t>
            </a:r>
            <a:endParaRPr lang="en-US" sz="1200" dirty="0"/>
          </a:p>
        </p:txBody>
      </p:sp>
      <p:sp>
        <p:nvSpPr>
          <p:cNvPr id="25" name="Shape 22"/>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6" name="Text 23"/>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Chaum, Back, Dai, Szabo …</a:t>
            </a:r>
            <a:endParaRPr lang="en-US" sz="750" dirty="0"/>
          </a:p>
        </p:txBody>
      </p:sp>
      <p:sp>
        <p:nvSpPr>
          <p:cNvPr id="27" name="Shape 24"/>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8" name="Text 25"/>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academic papers and ma…</a:t>
            </a:r>
            <a:endParaRPr lang="en-US" sz="750" dirty="0"/>
          </a:p>
        </p:txBody>
      </p:sp>
      <p:sp>
        <p:nvSpPr>
          <p:cNvPr id="29" name="Shape 26"/>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30" name="Text 27"/>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2008-10-31</a:t>
            </a:r>
            <a:endParaRPr lang="en-US" sz="750" dirty="0"/>
          </a:p>
        </p:txBody>
      </p:sp>
      <p:sp>
        <p:nvSpPr>
          <p:cNvPr id="31" name="Shape 28"/>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32" name="Text 29"/>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bitcoin.org</a:t>
            </a:r>
            <a:endParaRPr lang="en-US" sz="750" dirty="0"/>
          </a:p>
        </p:txBody>
      </p:sp>
      <p:sp>
        <p:nvSpPr>
          <p:cNvPr id="33"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pieces were old; the combination was new</a:t>
            </a:r>
            <a:endParaRPr lang="en-US" sz="1350" dirty="0"/>
          </a:p>
        </p:txBody>
      </p:sp>
      <p:sp>
        <p:nvSpPr>
          <p:cNvPr id="35"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46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Money</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the currency is, who issues it, and on what schedule</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Unit</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Supply</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Issuance</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Price</a:t>
            </a:r>
            <a:endParaRPr lang="en-US" sz="1400" dirty="0"/>
          </a:p>
        </p:txBody>
      </p:sp>
      <p:pic>
        <p:nvPicPr>
          <p:cNvPr id="14" name="Image 0" descr="../../03-materials/ch01/assets/photo_lydian_coins.jpg">    </p:cNvPr>
          <p:cNvPicPr>
            <a:picLocks noChangeAspect="1"/>
          </p:cNvPicPr>
          <p:nvPr/>
        </p:nvPicPr>
        <p:blipFill>
          <a:blip r:embed="rId1"/>
          <a:srcRect l="0" r="0" t="0" b="0"/>
          <a:stretch/>
        </p:blipFill>
        <p:spPr>
          <a:xfrm>
            <a:off x="5943600" y="1554480"/>
            <a:ext cx="2834640" cy="2651760"/>
          </a:xfrm>
          <a:prstGeom prst="rect">
            <a:avLst/>
          </a:prstGeom>
        </p:spPr>
      </p:pic>
      <p:sp>
        <p:nvSpPr>
          <p:cNvPr id="15" name="Text 12"/>
          <p:cNvSpPr txBox="1"/>
          <p:nvPr/>
        </p:nvSpPr>
        <p:spPr>
          <a:xfrm>
            <a:off x="5943600" y="422452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Lydian electrum, the first coins - photo: brewbooks, CC BY-SA 2.0</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46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island where money never moved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Documented in 1903; the book's free ebook edition came in 2024</a:t>
            </a:r>
            <a:endParaRPr lang="en-US" sz="1300" dirty="0"/>
          </a:p>
        </p:txBody>
      </p:sp>
      <p:pic>
        <p:nvPicPr>
          <p:cNvPr id="6" name="Image 0" descr="../../03-materials/ch01/assets/photo_rai_stone.jpg">    </p:cNvPr>
          <p:cNvPicPr>
            <a:picLocks noChangeAspect="1"/>
          </p:cNvPicPr>
          <p:nvPr/>
        </p:nvPicPr>
        <p:blipFill>
          <a:blip r:embed="rId1"/>
          <a:srcRect l="0" r="0" t="0" b="0"/>
          <a:stretch/>
        </p:blipFill>
        <p:spPr>
          <a:xfrm>
            <a:off x="457200" y="1325880"/>
            <a:ext cx="2834640" cy="2331720"/>
          </a:xfrm>
          <a:prstGeom prst="rect">
            <a:avLst/>
          </a:prstGeom>
        </p:spPr>
      </p:pic>
      <p:sp>
        <p:nvSpPr>
          <p:cNvPr id="7" name="Text 4"/>
          <p:cNvSpPr txBox="1"/>
          <p:nvPr/>
        </p:nvSpPr>
        <p:spPr>
          <a:xfrm>
            <a:off x="457200" y="367588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Yap stone money - Eric Guinther, CC BY-SA 3.0</a:t>
            </a:r>
            <a:endParaRPr lang="en-US" sz="900" dirty="0"/>
          </a:p>
        </p:txBody>
      </p:sp>
      <p:sp>
        <p:nvSpPr>
          <p:cNvPr id="8" name="Shape 5"/>
          <p:cNvSpPr/>
          <p:nvPr/>
        </p:nvSpPr>
        <p:spPr>
          <a:xfrm>
            <a:off x="3611880" y="1376172"/>
            <a:ext cx="128016" cy="128016"/>
          </a:xfrm>
          <a:prstGeom prst="diamond">
            <a:avLst/>
          </a:prstGeom>
          <a:solidFill>
            <a:srgbClr val="D97A14"/>
          </a:solidFill>
          <a:ln w="12700">
            <a:solidFill>
              <a:srgbClr val="D97A14"/>
            </a:solidFill>
            <a:prstDash val="solid"/>
          </a:ln>
        </p:spPr>
      </p:sp>
      <p:sp>
        <p:nvSpPr>
          <p:cNvPr id="9" name="Text 6"/>
          <p:cNvSpPr txBox="1"/>
          <p:nvPr/>
        </p:nvSpPr>
        <p:spPr>
          <a:xfrm>
            <a:off x="3886200" y="1280160"/>
            <a:ext cx="4800600" cy="3200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Rai stones were money too heavy to move, so they never moved</a:t>
            </a:r>
            <a:endParaRPr lang="en-US" sz="1200" dirty="0"/>
          </a:p>
        </p:txBody>
      </p:sp>
      <p:sp>
        <p:nvSpPr>
          <p:cNvPr id="10" name="Shape 7"/>
          <p:cNvSpPr/>
          <p:nvPr/>
        </p:nvSpPr>
        <p:spPr>
          <a:xfrm>
            <a:off x="3611880" y="169621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886200" y="1600200"/>
            <a:ext cx="4800600" cy="3200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payment was the village agreeing the owner had changed</a:t>
            </a:r>
            <a:endParaRPr lang="en-US" sz="1200" dirty="0"/>
          </a:p>
        </p:txBody>
      </p:sp>
      <p:sp>
        <p:nvSpPr>
          <p:cNvPr id="12" name="Shape 9"/>
          <p:cNvSpPr/>
          <p:nvPr/>
        </p:nvSpPr>
        <p:spPr>
          <a:xfrm>
            <a:off x="3611880" y="20162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886200" y="1920240"/>
            <a:ext cx="4800600" cy="3200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One stone sank at sea - and kept changing owners anyway</a:t>
            </a:r>
            <a:endParaRPr lang="en-US" sz="1200" dirty="0"/>
          </a:p>
        </p:txBody>
      </p:sp>
      <p:sp>
        <p:nvSpPr>
          <p:cNvPr id="14" name="Shape 11"/>
          <p:cNvSpPr/>
          <p:nvPr/>
        </p:nvSpPr>
        <p:spPr>
          <a:xfrm>
            <a:off x="4005072" y="2377440"/>
            <a:ext cx="950976" cy="950976"/>
          </a:xfrm>
          <a:prstGeom prst="ellipse">
            <a:avLst/>
          </a:prstGeom>
          <a:solidFill>
            <a:srgbClr val="DFD6C7"/>
          </a:solidFill>
          <a:ln w="25400">
            <a:solidFill>
              <a:srgbClr val="6E655C"/>
            </a:solidFill>
            <a:prstDash val="solid"/>
          </a:ln>
        </p:spPr>
      </p:sp>
      <p:sp>
        <p:nvSpPr>
          <p:cNvPr id="15" name="Shape 12"/>
          <p:cNvSpPr/>
          <p:nvPr/>
        </p:nvSpPr>
        <p:spPr>
          <a:xfrm>
            <a:off x="4352544" y="2743200"/>
            <a:ext cx="256032" cy="256032"/>
          </a:xfrm>
          <a:prstGeom prst="ellipse">
            <a:avLst/>
          </a:prstGeom>
          <a:solidFill>
            <a:srgbClr val="FAF6EF"/>
          </a:solidFill>
          <a:ln w="19050">
            <a:solidFill>
              <a:srgbClr val="6E655C"/>
            </a:solidFill>
            <a:prstDash val="solid"/>
          </a:ln>
        </p:spPr>
      </p:sp>
      <p:sp>
        <p:nvSpPr>
          <p:cNvPr id="16" name="Text 13"/>
          <p:cNvSpPr txBox="1"/>
          <p:nvPr/>
        </p:nvSpPr>
        <p:spPr>
          <a:xfrm>
            <a:off x="3703320" y="3410712"/>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Fatu</a:t>
            </a:r>
            <a:endParaRPr lang="en-US" sz="1100" dirty="0"/>
          </a:p>
        </p:txBody>
      </p:sp>
      <p:sp>
        <p:nvSpPr>
          <p:cNvPr id="17" name="Shape 14"/>
          <p:cNvSpPr/>
          <p:nvPr/>
        </p:nvSpPr>
        <p:spPr>
          <a:xfrm>
            <a:off x="5029200" y="2852928"/>
            <a:ext cx="548640" cy="0"/>
          </a:xfrm>
          <a:prstGeom prst="line">
            <a:avLst/>
          </a:prstGeom>
          <a:noFill/>
          <a:ln w="25400">
            <a:solidFill>
              <a:srgbClr val="D97A14"/>
            </a:solidFill>
            <a:prstDash val="solid"/>
            <a:tailEnd type="triangle"/>
          </a:ln>
        </p:spPr>
      </p:sp>
      <p:sp>
        <p:nvSpPr>
          <p:cNvPr id="18" name="Shape 15"/>
          <p:cNvSpPr/>
          <p:nvPr/>
        </p:nvSpPr>
        <p:spPr>
          <a:xfrm>
            <a:off x="5650992" y="2377440"/>
            <a:ext cx="950976" cy="950976"/>
          </a:xfrm>
          <a:prstGeom prst="ellipse">
            <a:avLst/>
          </a:prstGeom>
          <a:solidFill>
            <a:srgbClr val="DFD6C7"/>
          </a:solidFill>
          <a:ln w="25400">
            <a:solidFill>
              <a:srgbClr val="6E655C"/>
            </a:solidFill>
            <a:prstDash val="solid"/>
          </a:ln>
        </p:spPr>
      </p:sp>
      <p:sp>
        <p:nvSpPr>
          <p:cNvPr id="19" name="Shape 16"/>
          <p:cNvSpPr/>
          <p:nvPr/>
        </p:nvSpPr>
        <p:spPr>
          <a:xfrm>
            <a:off x="5998464" y="2743200"/>
            <a:ext cx="256032" cy="256032"/>
          </a:xfrm>
          <a:prstGeom prst="ellipse">
            <a:avLst/>
          </a:prstGeom>
          <a:solidFill>
            <a:srgbClr val="FAF6EF"/>
          </a:solidFill>
          <a:ln w="19050">
            <a:solidFill>
              <a:srgbClr val="6E655C"/>
            </a:solidFill>
            <a:prstDash val="solid"/>
          </a:ln>
        </p:spPr>
      </p:sp>
      <p:sp>
        <p:nvSpPr>
          <p:cNvPr id="20" name="Text 17"/>
          <p:cNvSpPr txBox="1"/>
          <p:nvPr/>
        </p:nvSpPr>
        <p:spPr>
          <a:xfrm>
            <a:off x="5349240" y="3410712"/>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Ngirmang</a:t>
            </a:r>
            <a:endParaRPr lang="en-US" sz="1100" dirty="0"/>
          </a:p>
        </p:txBody>
      </p:sp>
      <p:sp>
        <p:nvSpPr>
          <p:cNvPr id="21" name="Shape 18"/>
          <p:cNvSpPr/>
          <p:nvPr/>
        </p:nvSpPr>
        <p:spPr>
          <a:xfrm>
            <a:off x="6675120" y="2852928"/>
            <a:ext cx="548640" cy="0"/>
          </a:xfrm>
          <a:prstGeom prst="line">
            <a:avLst/>
          </a:prstGeom>
          <a:noFill/>
          <a:ln w="25400">
            <a:solidFill>
              <a:srgbClr val="D97A14"/>
            </a:solidFill>
            <a:prstDash val="solid"/>
            <a:tailEnd type="triangle"/>
          </a:ln>
        </p:spPr>
      </p:sp>
      <p:sp>
        <p:nvSpPr>
          <p:cNvPr id="22" name="Shape 19"/>
          <p:cNvSpPr/>
          <p:nvPr/>
        </p:nvSpPr>
        <p:spPr>
          <a:xfrm>
            <a:off x="7296912" y="2377440"/>
            <a:ext cx="950976" cy="950976"/>
          </a:xfrm>
          <a:prstGeom prst="ellipse">
            <a:avLst/>
          </a:prstGeom>
          <a:solidFill>
            <a:srgbClr val="DFD6C7"/>
          </a:solidFill>
          <a:ln w="25400">
            <a:solidFill>
              <a:srgbClr val="6E655C"/>
            </a:solidFill>
            <a:prstDash val="solid"/>
          </a:ln>
        </p:spPr>
      </p:sp>
      <p:sp>
        <p:nvSpPr>
          <p:cNvPr id="23" name="Shape 20"/>
          <p:cNvSpPr/>
          <p:nvPr/>
        </p:nvSpPr>
        <p:spPr>
          <a:xfrm>
            <a:off x="7644384" y="2743200"/>
            <a:ext cx="256032" cy="256032"/>
          </a:xfrm>
          <a:prstGeom prst="ellipse">
            <a:avLst/>
          </a:prstGeom>
          <a:solidFill>
            <a:srgbClr val="FAF6EF"/>
          </a:solidFill>
          <a:ln w="19050">
            <a:solidFill>
              <a:srgbClr val="6E655C"/>
            </a:solidFill>
            <a:prstDash val="solid"/>
          </a:ln>
        </p:spPr>
      </p:sp>
      <p:sp>
        <p:nvSpPr>
          <p:cNvPr id="24" name="Text 21"/>
          <p:cNvSpPr txBox="1"/>
          <p:nvPr/>
        </p:nvSpPr>
        <p:spPr>
          <a:xfrm>
            <a:off x="6995160" y="3410712"/>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Teru</a:t>
            </a:r>
            <a:endParaRPr lang="en-US" sz="1100" dirty="0"/>
          </a:p>
        </p:txBody>
      </p:sp>
      <p:sp>
        <p:nvSpPr>
          <p:cNvPr id="25" name="Text 22"/>
          <p:cNvSpPr txBox="1"/>
          <p:nvPr/>
        </p:nvSpPr>
        <p:spPr>
          <a:xfrm>
            <a:off x="3657600" y="3721608"/>
            <a:ext cx="4937760" cy="292608"/>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the stone stays; only the shared record moves</a:t>
            </a:r>
            <a:endParaRPr lang="en-US" sz="1100" dirty="0"/>
          </a:p>
        </p:txBody>
      </p:sp>
      <p:sp>
        <p:nvSpPr>
          <p:cNvPr id="26" name="Shape 23"/>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7" name="Text 24"/>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the Yapese; documented b…</a:t>
            </a:r>
            <a:endParaRPr lang="en-US" sz="750" dirty="0"/>
          </a:p>
        </p:txBody>
      </p:sp>
      <p:sp>
        <p:nvSpPr>
          <p:cNvPr id="28" name="Shape 25"/>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9" name="Text 26"/>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Yap, Micronesia</a:t>
            </a:r>
            <a:endParaRPr lang="en-US" sz="750" dirty="0"/>
          </a:p>
        </p:txBody>
      </p:sp>
      <p:sp>
        <p:nvSpPr>
          <p:cNvPr id="30" name="Shape 27"/>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31" name="Text 28"/>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2024-01-30</a:t>
            </a:r>
            <a:endParaRPr lang="en-US" sz="750" dirty="0"/>
          </a:p>
        </p:txBody>
      </p:sp>
      <p:sp>
        <p:nvSpPr>
          <p:cNvPr id="32" name="Shape 29"/>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33" name="Text 30"/>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Furness: The Island of Stone Money (book)</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gutenberg.org</a:t>
            </a:r>
            <a:endParaRPr lang="en-US" sz="750" dirty="0"/>
          </a:p>
        </p:txBody>
      </p:sp>
      <p:sp>
        <p:nvSpPr>
          <p:cNvPr id="34"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is a ledger; Bitcoin makes it digital</a:t>
            </a:r>
            <a:endParaRPr lang="en-US" sz="1350" dirty="0"/>
          </a:p>
        </p:txBody>
      </p:sp>
      <p:sp>
        <p:nvSpPr>
          <p:cNvPr id="36"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46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thousand years to digital cash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 3000 BCE - 2009</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Those Lydian coins were money once; so is your app balance - the difference is always the ledger.</a:t>
            </a:r>
            <a:endParaRPr lang="en-US" sz="1250" dirty="0"/>
          </a:p>
        </p:txBody>
      </p:sp>
      <p:pic>
        <p:nvPicPr>
          <p:cNvPr id="7" name="Image 0" descr="../../03-materials/ch01/assets/photo_met_tablet.jpg">    </p:cNvPr>
          <p:cNvPicPr>
            <a:picLocks noChangeAspect="1"/>
          </p:cNvPicPr>
          <p:nvPr/>
        </p:nvPicPr>
        <p:blipFill>
          <a:blip r:embed="rId1"/>
          <a:srcRect l="0" r="0" t="0" b="0"/>
          <a:stretch/>
        </p:blipFill>
        <p:spPr>
          <a:xfrm>
            <a:off x="685800" y="1371600"/>
            <a:ext cx="1600200" cy="1005840"/>
          </a:xfrm>
          <a:prstGeom prst="rect">
            <a:avLst/>
          </a:prstGeom>
        </p:spPr>
      </p:pic>
      <p:sp>
        <p:nvSpPr>
          <p:cNvPr id="8" name="Text 5"/>
          <p:cNvSpPr txBox="1"/>
          <p:nvPr/>
        </p:nvSpPr>
        <p:spPr>
          <a:xfrm>
            <a:off x="685800" y="2395728"/>
            <a:ext cx="1600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barley account, Sumer - Met, CC0</a:t>
            </a:r>
            <a:endParaRPr lang="en-US" sz="900" dirty="0"/>
          </a:p>
        </p:txBody>
      </p:sp>
      <p:pic>
        <p:nvPicPr>
          <p:cNvPr id="9" name="Image 1" descr="../../03-materials/ch01/assets/photo_cma_stater.jpg">    </p:cNvPr>
          <p:cNvPicPr>
            <a:picLocks noChangeAspect="1"/>
          </p:cNvPicPr>
          <p:nvPr/>
        </p:nvPicPr>
        <p:blipFill>
          <a:blip r:embed="rId2"/>
          <a:srcRect l="0" r="0" t="0" b="0"/>
          <a:stretch/>
        </p:blipFill>
        <p:spPr>
          <a:xfrm>
            <a:off x="6309360" y="1371600"/>
            <a:ext cx="2377440" cy="1005840"/>
          </a:xfrm>
          <a:prstGeom prst="rect">
            <a:avLst/>
          </a:prstGeom>
        </p:spPr>
      </p:pic>
      <p:sp>
        <p:nvSpPr>
          <p:cNvPr id="10" name="Text 6"/>
          <p:cNvSpPr txBox="1"/>
          <p:nvPr/>
        </p:nvSpPr>
        <p:spPr>
          <a:xfrm>
            <a:off x="6309360" y="239572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Electrum stater, 600-550 BCE - Cleveland Museum of Art, CC0</a:t>
            </a:r>
            <a:endParaRPr lang="en-US" sz="900" dirty="0"/>
          </a:p>
        </p:txBody>
      </p:sp>
      <p:sp>
        <p:nvSpPr>
          <p:cNvPr id="11" name="Text 7"/>
          <p:cNvSpPr txBox="1"/>
          <p:nvPr/>
        </p:nvSpPr>
        <p:spPr>
          <a:xfrm>
            <a:off x="2514600" y="1737360"/>
            <a:ext cx="3657600" cy="822960"/>
          </a:xfrm>
          <a:prstGeom prst="rect">
            <a:avLst/>
          </a:prstGeom>
          <a:noFill/>
          <a:ln/>
        </p:spPr>
        <p:txBody>
          <a:bodyPr wrap="square" lIns="0" tIns="0" rIns="0" bIns="0" rtlCol="0" anchor="t"/>
          <a:lstStyle/>
          <a:p>
            <a:pPr algn="l" indent="0" marL="0">
              <a:buNone/>
            </a:pPr>
            <a:r>
              <a:rPr lang="en-US" sz="1250" i="1" dirty="0">
                <a:solidFill>
                  <a:srgbClr val="6E655C"/>
                </a:solidFill>
                <a:latin typeface="Calibri" pitchFamily="34" charset="0"/>
                <a:ea typeface="Calibri" pitchFamily="34" charset="-122"/>
                <a:cs typeface="Calibri" pitchFamily="34" charset="-120"/>
              </a:rPr>
              <a:t>The oldest money we can hold is already a ledger entry (left) and a standard token (right).</a:t>
            </a:r>
            <a:endParaRPr lang="en-US" sz="1250" dirty="0"/>
          </a:p>
        </p:txBody>
      </p:sp>
      <p:sp>
        <p:nvSpPr>
          <p:cNvPr id="12" name="Shape 8"/>
          <p:cNvSpPr/>
          <p:nvPr/>
        </p:nvSpPr>
        <p:spPr>
          <a:xfrm>
            <a:off x="457200" y="3249778"/>
            <a:ext cx="8229600" cy="0"/>
          </a:xfrm>
          <a:prstGeom prst="line">
            <a:avLst/>
          </a:prstGeom>
          <a:noFill/>
          <a:ln w="25400">
            <a:solidFill>
              <a:srgbClr val="C9BFAE"/>
            </a:solidFill>
            <a:prstDash val="solid"/>
          </a:ln>
        </p:spPr>
      </p:sp>
      <p:sp>
        <p:nvSpPr>
          <p:cNvPr id="13" name="Shape 9"/>
          <p:cNvSpPr/>
          <p:nvPr/>
        </p:nvSpPr>
        <p:spPr>
          <a:xfrm>
            <a:off x="557784" y="3167482"/>
            <a:ext cx="164592" cy="164592"/>
          </a:xfrm>
          <a:prstGeom prst="ellipse">
            <a:avLst/>
          </a:prstGeom>
          <a:solidFill>
            <a:srgbClr val="2F6D62"/>
          </a:solidFill>
          <a:ln w="12700">
            <a:solidFill>
              <a:srgbClr val="FFFFFF"/>
            </a:solidFill>
            <a:prstDash val="solid"/>
          </a:ln>
        </p:spPr>
      </p:sp>
      <p:sp>
        <p:nvSpPr>
          <p:cNvPr id="14" name="Text 10"/>
          <p:cNvSpPr txBox="1"/>
          <p:nvPr/>
        </p:nvSpPr>
        <p:spPr>
          <a:xfrm>
            <a:off x="365760" y="2774290"/>
            <a:ext cx="82296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~3000 BCE</a:t>
            </a:r>
            <a:endParaRPr lang="en-US" sz="1200" dirty="0"/>
          </a:p>
        </p:txBody>
      </p:sp>
      <p:sp>
        <p:nvSpPr>
          <p:cNvPr id="15" name="Text 11"/>
          <p:cNvSpPr txBox="1"/>
          <p:nvPr/>
        </p:nvSpPr>
        <p:spPr>
          <a:xfrm>
            <a:off x="365760" y="3377794"/>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grain ledgers, Mesopotamia</a:t>
            </a:r>
            <a:endParaRPr lang="en-US" sz="1000" dirty="0"/>
          </a:p>
        </p:txBody>
      </p:sp>
      <p:sp>
        <p:nvSpPr>
          <p:cNvPr id="16" name="Shape 12"/>
          <p:cNvSpPr/>
          <p:nvPr/>
        </p:nvSpPr>
        <p:spPr>
          <a:xfrm>
            <a:off x="2130552" y="3167482"/>
            <a:ext cx="164592" cy="164592"/>
          </a:xfrm>
          <a:prstGeom prst="ellipse">
            <a:avLst/>
          </a:prstGeom>
          <a:solidFill>
            <a:srgbClr val="2F6D62"/>
          </a:solidFill>
          <a:ln w="12700">
            <a:solidFill>
              <a:srgbClr val="FFFFFF"/>
            </a:solidFill>
            <a:prstDash val="solid"/>
          </a:ln>
        </p:spPr>
      </p:sp>
      <p:sp>
        <p:nvSpPr>
          <p:cNvPr id="17" name="Text 13"/>
          <p:cNvSpPr txBox="1"/>
          <p:nvPr/>
        </p:nvSpPr>
        <p:spPr>
          <a:xfrm>
            <a:off x="1664208" y="2774290"/>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~600 BCE</a:t>
            </a:r>
            <a:endParaRPr lang="en-US" sz="1200" dirty="0"/>
          </a:p>
        </p:txBody>
      </p:sp>
      <p:sp>
        <p:nvSpPr>
          <p:cNvPr id="18" name="Text 14"/>
          <p:cNvSpPr txBox="1"/>
          <p:nvPr/>
        </p:nvSpPr>
        <p:spPr>
          <a:xfrm>
            <a:off x="1435608" y="3377794"/>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first coins, Lydia</a:t>
            </a:r>
            <a:endParaRPr lang="en-US" sz="1000" dirty="0"/>
          </a:p>
        </p:txBody>
      </p:sp>
      <p:sp>
        <p:nvSpPr>
          <p:cNvPr id="19" name="Shape 15"/>
          <p:cNvSpPr/>
          <p:nvPr/>
        </p:nvSpPr>
        <p:spPr>
          <a:xfrm>
            <a:off x="3703320" y="3167482"/>
            <a:ext cx="164592" cy="164592"/>
          </a:xfrm>
          <a:prstGeom prst="ellipse">
            <a:avLst/>
          </a:prstGeom>
          <a:solidFill>
            <a:srgbClr val="2F6D62"/>
          </a:solidFill>
          <a:ln w="12700">
            <a:solidFill>
              <a:srgbClr val="FFFFFF"/>
            </a:solidFill>
            <a:prstDash val="solid"/>
          </a:ln>
        </p:spPr>
      </p:sp>
      <p:sp>
        <p:nvSpPr>
          <p:cNvPr id="20" name="Text 16"/>
          <p:cNvSpPr txBox="1"/>
          <p:nvPr/>
        </p:nvSpPr>
        <p:spPr>
          <a:xfrm>
            <a:off x="3236976" y="2774290"/>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~1000</a:t>
            </a:r>
            <a:endParaRPr lang="en-US" sz="1200" dirty="0"/>
          </a:p>
        </p:txBody>
      </p:sp>
      <p:sp>
        <p:nvSpPr>
          <p:cNvPr id="21" name="Text 17"/>
          <p:cNvSpPr txBox="1"/>
          <p:nvPr/>
        </p:nvSpPr>
        <p:spPr>
          <a:xfrm>
            <a:off x="3008376" y="3377794"/>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paper money, Song China</a:t>
            </a:r>
            <a:endParaRPr lang="en-US" sz="1000" dirty="0"/>
          </a:p>
        </p:txBody>
      </p:sp>
      <p:sp>
        <p:nvSpPr>
          <p:cNvPr id="22" name="Shape 18"/>
          <p:cNvSpPr/>
          <p:nvPr/>
        </p:nvSpPr>
        <p:spPr>
          <a:xfrm>
            <a:off x="5276088" y="3167482"/>
            <a:ext cx="164592" cy="164592"/>
          </a:xfrm>
          <a:prstGeom prst="ellipse">
            <a:avLst/>
          </a:prstGeom>
          <a:solidFill>
            <a:srgbClr val="2F6D62"/>
          </a:solidFill>
          <a:ln w="12700">
            <a:solidFill>
              <a:srgbClr val="FFFFFF"/>
            </a:solidFill>
            <a:prstDash val="solid"/>
          </a:ln>
        </p:spPr>
      </p:sp>
      <p:sp>
        <p:nvSpPr>
          <p:cNvPr id="23" name="Text 19"/>
          <p:cNvSpPr txBox="1"/>
          <p:nvPr/>
        </p:nvSpPr>
        <p:spPr>
          <a:xfrm>
            <a:off x="4809744" y="2774290"/>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1600s</a:t>
            </a:r>
            <a:endParaRPr lang="en-US" sz="1200" dirty="0"/>
          </a:p>
        </p:txBody>
      </p:sp>
      <p:sp>
        <p:nvSpPr>
          <p:cNvPr id="24" name="Text 20"/>
          <p:cNvSpPr txBox="1"/>
          <p:nvPr/>
        </p:nvSpPr>
        <p:spPr>
          <a:xfrm>
            <a:off x="4581144" y="3377794"/>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goldsmiths' receipts, bank money</a:t>
            </a:r>
            <a:endParaRPr lang="en-US" sz="1000" dirty="0"/>
          </a:p>
        </p:txBody>
      </p:sp>
      <p:sp>
        <p:nvSpPr>
          <p:cNvPr id="25" name="Shape 21"/>
          <p:cNvSpPr/>
          <p:nvPr/>
        </p:nvSpPr>
        <p:spPr>
          <a:xfrm>
            <a:off x="6848856" y="3167482"/>
            <a:ext cx="164592" cy="164592"/>
          </a:xfrm>
          <a:prstGeom prst="ellipse">
            <a:avLst/>
          </a:prstGeom>
          <a:solidFill>
            <a:srgbClr val="2F6D62"/>
          </a:solidFill>
          <a:ln w="12700">
            <a:solidFill>
              <a:srgbClr val="FFFFFF"/>
            </a:solidFill>
            <a:prstDash val="solid"/>
          </a:ln>
        </p:spPr>
      </p:sp>
      <p:sp>
        <p:nvSpPr>
          <p:cNvPr id="26" name="Text 22"/>
          <p:cNvSpPr txBox="1"/>
          <p:nvPr/>
        </p:nvSpPr>
        <p:spPr>
          <a:xfrm>
            <a:off x="6382512" y="2774290"/>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1971</a:t>
            </a:r>
            <a:endParaRPr lang="en-US" sz="1200" dirty="0"/>
          </a:p>
        </p:txBody>
      </p:sp>
      <p:sp>
        <p:nvSpPr>
          <p:cNvPr id="27" name="Text 23"/>
          <p:cNvSpPr txBox="1"/>
          <p:nvPr/>
        </p:nvSpPr>
        <p:spPr>
          <a:xfrm>
            <a:off x="6153912" y="3377794"/>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gold tie cut - pure fiat</a:t>
            </a:r>
            <a:endParaRPr lang="en-US" sz="1000" dirty="0"/>
          </a:p>
        </p:txBody>
      </p:sp>
      <p:sp>
        <p:nvSpPr>
          <p:cNvPr id="28" name="Shape 24"/>
          <p:cNvSpPr/>
          <p:nvPr/>
        </p:nvSpPr>
        <p:spPr>
          <a:xfrm>
            <a:off x="8421624" y="3167482"/>
            <a:ext cx="164592" cy="164592"/>
          </a:xfrm>
          <a:prstGeom prst="ellipse">
            <a:avLst/>
          </a:prstGeom>
          <a:solidFill>
            <a:srgbClr val="D97A14"/>
          </a:solidFill>
          <a:ln w="12700">
            <a:solidFill>
              <a:srgbClr val="FFFFFF"/>
            </a:solidFill>
            <a:prstDash val="solid"/>
          </a:ln>
        </p:spPr>
      </p:sp>
      <p:sp>
        <p:nvSpPr>
          <p:cNvPr id="29" name="Text 25"/>
          <p:cNvSpPr txBox="1"/>
          <p:nvPr/>
        </p:nvSpPr>
        <p:spPr>
          <a:xfrm>
            <a:off x="7955280" y="2774290"/>
            <a:ext cx="82296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30" name="Text 26"/>
          <p:cNvSpPr txBox="1"/>
          <p:nvPr/>
        </p:nvSpPr>
        <p:spPr>
          <a:xfrm>
            <a:off x="7726680" y="3377794"/>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cryptocurrency</a:t>
            </a:r>
            <a:endParaRPr lang="en-US" sz="1000" dirty="0"/>
          </a:p>
        </p:txBody>
      </p:sp>
      <p:sp>
        <p:nvSpPr>
          <p:cNvPr id="31" name="Shape 27"/>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32" name="Text 28"/>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ledger-keepers, from tem…</a:t>
            </a:r>
            <a:endParaRPr lang="en-US" sz="750" dirty="0"/>
          </a:p>
        </p:txBody>
      </p:sp>
      <p:sp>
        <p:nvSpPr>
          <p:cNvPr id="33" name="Shape 29"/>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34" name="Text 30"/>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Mesopotamia, Lydia, Ch…</a:t>
            </a:r>
            <a:endParaRPr lang="en-US" sz="750" dirty="0"/>
          </a:p>
        </p:txBody>
      </p:sp>
      <p:sp>
        <p:nvSpPr>
          <p:cNvPr id="35" name="Shape 31"/>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36" name="Text 32"/>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1971-08-15</a:t>
            </a:r>
            <a:endParaRPr lang="en-US" sz="750" dirty="0"/>
          </a:p>
        </p:txBody>
      </p:sp>
      <p:sp>
        <p:nvSpPr>
          <p:cNvPr id="37" name="Shape 33"/>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38" name="Text 34"/>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 History of Money (museum exhibit)</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money.org</a:t>
            </a:r>
            <a:endParaRPr lang="en-US" sz="750" dirty="0"/>
          </a:p>
        </p:txBody>
      </p:sp>
      <p:sp>
        <p:nvSpPr>
          <p:cNvPr id="39" name="Shape 35"/>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era changed the ledger-keeper; Bitcoin removed the position</a:t>
            </a:r>
            <a:endParaRPr lang="en-US" sz="1350" dirty="0"/>
          </a:p>
        </p:txBody>
      </p:sp>
      <p:sp>
        <p:nvSpPr>
          <p:cNvPr id="41" name="Text 3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46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Traditional, digital, crypto - side by side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one-table comparison</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1463040"/>
          <a:ext cx="8412480" cy="914400"/>
        </p:xfrm>
        <a:graphic>
          <a:graphicData uri="http://schemas.openxmlformats.org/drawingml/2006/table">
            <a:tbl>
              <a:tblPr/>
              <a:tblGrid>
                <a:gridCol w="1554480"/>
                <a:gridCol w="2194560"/>
                <a:gridCol w="2331720"/>
                <a:gridCol w="2331720"/>
              </a:tblGrid>
              <a:tr h="566928">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Traditional (cash)</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Digital money (bank, card, e-money)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Cryptocurrency (bitcoin)</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Issued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A central bank</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Commercial banks on a central bank base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one - issuance is in the protocol</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Exists as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Paper and coin in hand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banks' private ledgers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one public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Who keeps the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ledger - possession is the record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Banks and processors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Every node, together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Supply is set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 and credit</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Fixed rules anyone can verify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Settles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Hand to hand, instantly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Through intermediaries, in days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Peer to peer, in about an hour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57200" y="4636008"/>
            <a:ext cx="91440" cy="310896"/>
          </a:xfrm>
          <a:prstGeom prst="rect">
            <a:avLst/>
          </a:prstGeom>
          <a:solidFill>
            <a:srgbClr val="D97A14"/>
          </a:solidFill>
          <a:ln w="12700">
            <a:solidFill>
              <a:srgbClr val="D97A14"/>
            </a:solidFill>
            <a:prstDash val="solid"/>
          </a:ln>
        </p:spPr>
      </p:sp>
      <p:sp>
        <p:nvSpPr>
          <p:cNvPr id="8" name="Text 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Same uses, different ledgers - and that difference is this course</a:t>
            </a:r>
            <a:endParaRPr lang="en-US" sz="1350" dirty="0"/>
          </a:p>
        </p:txBody>
      </p:sp>
      <p:sp>
        <p:nvSpPr>
          <p:cNvPr id="9" name="Text 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46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Physical cash: superb in person, stuck there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the oldest form still works - and where it stops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Before praising Bitcoin, be fair to cash: it settles instantly, anonymously, with no middleman - but it cannot reach the internet.</a:t>
            </a:r>
            <a:endParaRPr lang="en-US" sz="1250" dirty="0"/>
          </a:p>
        </p:txBody>
      </p:sp>
      <p:sp>
        <p:nvSpPr>
          <p:cNvPr id="7" name="Shape 5"/>
          <p:cNvSpPr/>
          <p:nvPr/>
        </p:nvSpPr>
        <p:spPr>
          <a:xfrm>
            <a:off x="457200" y="1554480"/>
            <a:ext cx="3931920" cy="2834640"/>
          </a:xfrm>
          <a:prstGeom prst="roundRect">
            <a:avLst>
              <a:gd name="adj" fmla="val 3226"/>
            </a:avLst>
          </a:prstGeom>
          <a:solidFill>
            <a:srgbClr val="F2ECE1"/>
          </a:solidFill>
          <a:ln w="15875">
            <a:solidFill>
              <a:srgbClr val="D97A14"/>
            </a:solidFill>
            <a:prstDash val="solid"/>
          </a:ln>
        </p:spPr>
      </p:sp>
      <p:sp>
        <p:nvSpPr>
          <p:cNvPr id="8" name="Text 6"/>
          <p:cNvSpPr txBox="1"/>
          <p:nvPr/>
        </p:nvSpPr>
        <p:spPr>
          <a:xfrm>
            <a:off x="640080" y="16642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What cash does well</a:t>
            </a:r>
            <a:endParaRPr lang="en-US" sz="1500" dirty="0"/>
          </a:p>
        </p:txBody>
      </p:sp>
      <p:sp>
        <p:nvSpPr>
          <p:cNvPr id="9" name="Text 7"/>
          <p:cNvSpPr txBox="1"/>
          <p:nvPr/>
        </p:nvSpPr>
        <p:spPr>
          <a:xfrm>
            <a:off x="640080" y="2084832"/>
            <a:ext cx="3566160" cy="217627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Settles hand to hand, instantly and finally</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Needs no account, bank, identity, or permission</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Cannot be frozen or censored remotely</a:t>
            </a:r>
            <a:endParaRPr lang="en-US" sz="1250" dirty="0"/>
          </a:p>
        </p:txBody>
      </p:sp>
      <p:sp>
        <p:nvSpPr>
          <p:cNvPr id="10" name="Shape 8"/>
          <p:cNvSpPr/>
          <p:nvPr/>
        </p:nvSpPr>
        <p:spPr>
          <a:xfrm>
            <a:off x="4754880" y="1554480"/>
            <a:ext cx="3931920" cy="2834640"/>
          </a:xfrm>
          <a:prstGeom prst="roundRect">
            <a:avLst>
              <a:gd name="adj" fmla="val 3226"/>
            </a:avLst>
          </a:prstGeom>
          <a:solidFill>
            <a:srgbClr val="F2ECE1"/>
          </a:solidFill>
          <a:ln w="15875">
            <a:solidFill>
              <a:srgbClr val="2F6D62"/>
            </a:solidFill>
            <a:prstDash val="solid"/>
          </a:ln>
        </p:spPr>
      </p:sp>
      <p:sp>
        <p:nvSpPr>
          <p:cNvPr id="11" name="Text 9"/>
          <p:cNvSpPr txBox="1"/>
          <p:nvPr/>
        </p:nvSpPr>
        <p:spPr>
          <a:xfrm>
            <a:off x="4937760" y="16642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Where it fails</a:t>
            </a:r>
            <a:endParaRPr lang="en-US" sz="1500" dirty="0"/>
          </a:p>
        </p:txBody>
      </p:sp>
      <p:sp>
        <p:nvSpPr>
          <p:cNvPr id="12" name="Text 10"/>
          <p:cNvSpPr txBox="1"/>
          <p:nvPr/>
        </p:nvSpPr>
        <p:spPr>
          <a:xfrm>
            <a:off x="4937760" y="2084832"/>
            <a:ext cx="3566160" cy="217627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Cannot travel a wire - no remote commerce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Theft and loss are final; carrying value is risky</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Counterfeiting must be policed forever</a:t>
            </a:r>
            <a:endParaRPr lang="en-US" sz="12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Cash is a bearer instrument: perfect in person, useless on a network</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46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The internet got payments - and new gatekeepers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dot-com boom digitised paying, not cash</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Before asking why Bitcoin exists, remember the dot-com race: the web needed money, companies built it as accounts - and the failures took their users' balances down with them.</a:t>
            </a:r>
            <a:endParaRPr lang="en-US" sz="1250" dirty="0"/>
          </a:p>
        </p:txBody>
      </p:sp>
      <p:sp>
        <p:nvSpPr>
          <p:cNvPr id="7" name="Shape 5"/>
          <p:cNvSpPr/>
          <p:nvPr/>
        </p:nvSpPr>
        <p:spPr>
          <a:xfrm>
            <a:off x="457200" y="2176272"/>
            <a:ext cx="8229600" cy="0"/>
          </a:xfrm>
          <a:prstGeom prst="line">
            <a:avLst/>
          </a:prstGeom>
          <a:noFill/>
          <a:ln w="25400">
            <a:solidFill>
              <a:srgbClr val="C9BFAE"/>
            </a:solidFill>
            <a:prstDash val="solid"/>
          </a:ln>
        </p:spPr>
      </p:sp>
      <p:sp>
        <p:nvSpPr>
          <p:cNvPr id="8" name="Shape 6"/>
          <p:cNvSpPr/>
          <p:nvPr/>
        </p:nvSpPr>
        <p:spPr>
          <a:xfrm>
            <a:off x="557784" y="2093976"/>
            <a:ext cx="164592" cy="164592"/>
          </a:xfrm>
          <a:prstGeom prst="ellipse">
            <a:avLst/>
          </a:prstGeom>
          <a:solidFill>
            <a:srgbClr val="2F6D62"/>
          </a:solidFill>
          <a:ln w="12700">
            <a:solidFill>
              <a:srgbClr val="FFFFFF"/>
            </a:solidFill>
            <a:prstDash val="solid"/>
          </a:ln>
        </p:spPr>
      </p:sp>
      <p:sp>
        <p:nvSpPr>
          <p:cNvPr id="9" name="Text 7"/>
          <p:cNvSpPr txBox="1"/>
          <p:nvPr/>
        </p:nvSpPr>
        <p:spPr>
          <a:xfrm>
            <a:off x="365760" y="1700784"/>
            <a:ext cx="82296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1998</a:t>
            </a:r>
            <a:endParaRPr lang="en-US" sz="1200" dirty="0"/>
          </a:p>
        </p:txBody>
      </p:sp>
      <p:sp>
        <p:nvSpPr>
          <p:cNvPr id="10" name="Text 8"/>
          <p:cNvSpPr txBox="1"/>
          <p:nvPr/>
        </p:nvSpPr>
        <p:spPr>
          <a:xfrm>
            <a:off x="365760" y="2304288"/>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Confinity - Levchin and Thiel</a:t>
            </a:r>
            <a:endParaRPr lang="en-US" sz="1000" dirty="0"/>
          </a:p>
        </p:txBody>
      </p:sp>
      <p:sp>
        <p:nvSpPr>
          <p:cNvPr id="11" name="Shape 9"/>
          <p:cNvSpPr/>
          <p:nvPr/>
        </p:nvSpPr>
        <p:spPr>
          <a:xfrm>
            <a:off x="2523744" y="2093976"/>
            <a:ext cx="164592" cy="164592"/>
          </a:xfrm>
          <a:prstGeom prst="ellipse">
            <a:avLst/>
          </a:prstGeom>
          <a:solidFill>
            <a:srgbClr val="2F6D62"/>
          </a:solidFill>
          <a:ln w="12700">
            <a:solidFill>
              <a:srgbClr val="FFFFFF"/>
            </a:solidFill>
            <a:prstDash val="solid"/>
          </a:ln>
        </p:spPr>
      </p:sp>
      <p:sp>
        <p:nvSpPr>
          <p:cNvPr id="12" name="Text 10"/>
          <p:cNvSpPr txBox="1"/>
          <p:nvPr/>
        </p:nvSpPr>
        <p:spPr>
          <a:xfrm>
            <a:off x="2057400" y="1700784"/>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1999</a:t>
            </a:r>
            <a:endParaRPr lang="en-US" sz="1200" dirty="0"/>
          </a:p>
        </p:txBody>
      </p:sp>
      <p:sp>
        <p:nvSpPr>
          <p:cNvPr id="13" name="Text 11"/>
          <p:cNvSpPr txBox="1"/>
          <p:nvPr/>
        </p:nvSpPr>
        <p:spPr>
          <a:xfrm>
            <a:off x="1828800" y="2304288"/>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X.com - Elon Musk</a:t>
            </a:r>
            <a:endParaRPr lang="en-US" sz="1000" dirty="0"/>
          </a:p>
        </p:txBody>
      </p:sp>
      <p:sp>
        <p:nvSpPr>
          <p:cNvPr id="14" name="Shape 12"/>
          <p:cNvSpPr/>
          <p:nvPr/>
        </p:nvSpPr>
        <p:spPr>
          <a:xfrm>
            <a:off x="4489704" y="2093976"/>
            <a:ext cx="164592" cy="164592"/>
          </a:xfrm>
          <a:prstGeom prst="ellipse">
            <a:avLst/>
          </a:prstGeom>
          <a:solidFill>
            <a:srgbClr val="2F6D62"/>
          </a:solidFill>
          <a:ln w="12700">
            <a:solidFill>
              <a:srgbClr val="FFFFFF"/>
            </a:solidFill>
            <a:prstDash val="solid"/>
          </a:ln>
        </p:spPr>
      </p:sp>
      <p:sp>
        <p:nvSpPr>
          <p:cNvPr id="15" name="Text 13"/>
          <p:cNvSpPr txBox="1"/>
          <p:nvPr/>
        </p:nvSpPr>
        <p:spPr>
          <a:xfrm>
            <a:off x="4023360" y="1700784"/>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2000</a:t>
            </a:r>
            <a:endParaRPr lang="en-US" sz="1200" dirty="0"/>
          </a:p>
        </p:txBody>
      </p:sp>
      <p:sp>
        <p:nvSpPr>
          <p:cNvPr id="16" name="Text 14"/>
          <p:cNvSpPr txBox="1"/>
          <p:nvPr/>
        </p:nvSpPr>
        <p:spPr>
          <a:xfrm>
            <a:off x="3794760" y="2304288"/>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they merge; dot-com crash begins</a:t>
            </a:r>
            <a:endParaRPr lang="en-US" sz="1000" dirty="0"/>
          </a:p>
        </p:txBody>
      </p:sp>
      <p:sp>
        <p:nvSpPr>
          <p:cNvPr id="17" name="Shape 15"/>
          <p:cNvSpPr/>
          <p:nvPr/>
        </p:nvSpPr>
        <p:spPr>
          <a:xfrm>
            <a:off x="6455664" y="2093976"/>
            <a:ext cx="164592" cy="164592"/>
          </a:xfrm>
          <a:prstGeom prst="ellipse">
            <a:avLst/>
          </a:prstGeom>
          <a:solidFill>
            <a:srgbClr val="D97A14"/>
          </a:solidFill>
          <a:ln w="12700">
            <a:solidFill>
              <a:srgbClr val="FFFFFF"/>
            </a:solidFill>
            <a:prstDash val="solid"/>
          </a:ln>
        </p:spPr>
      </p:sp>
      <p:sp>
        <p:nvSpPr>
          <p:cNvPr id="18" name="Text 16"/>
          <p:cNvSpPr txBox="1"/>
          <p:nvPr/>
        </p:nvSpPr>
        <p:spPr>
          <a:xfrm>
            <a:off x="5989320" y="1700784"/>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2001</a:t>
            </a:r>
            <a:endParaRPr lang="en-US" sz="1200" dirty="0"/>
          </a:p>
        </p:txBody>
      </p:sp>
      <p:sp>
        <p:nvSpPr>
          <p:cNvPr id="19" name="Text 17"/>
          <p:cNvSpPr txBox="1"/>
          <p:nvPr/>
        </p:nvSpPr>
        <p:spPr>
          <a:xfrm>
            <a:off x="5760720" y="2304288"/>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Beenz and Flooz die with the crash</a:t>
            </a:r>
            <a:endParaRPr lang="en-US" sz="1000" dirty="0"/>
          </a:p>
        </p:txBody>
      </p:sp>
      <p:sp>
        <p:nvSpPr>
          <p:cNvPr id="20" name="Shape 18"/>
          <p:cNvSpPr/>
          <p:nvPr/>
        </p:nvSpPr>
        <p:spPr>
          <a:xfrm>
            <a:off x="8421624" y="2093976"/>
            <a:ext cx="164592" cy="164592"/>
          </a:xfrm>
          <a:prstGeom prst="ellipse">
            <a:avLst/>
          </a:prstGeom>
          <a:solidFill>
            <a:srgbClr val="2F6D62"/>
          </a:solidFill>
          <a:ln w="12700">
            <a:solidFill>
              <a:srgbClr val="FFFFFF"/>
            </a:solidFill>
            <a:prstDash val="solid"/>
          </a:ln>
        </p:spPr>
      </p:sp>
      <p:sp>
        <p:nvSpPr>
          <p:cNvPr id="21" name="Text 19"/>
          <p:cNvSpPr txBox="1"/>
          <p:nvPr/>
        </p:nvSpPr>
        <p:spPr>
          <a:xfrm>
            <a:off x="7955280" y="1700784"/>
            <a:ext cx="82296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2002</a:t>
            </a:r>
            <a:endParaRPr lang="en-US" sz="1200" dirty="0"/>
          </a:p>
        </p:txBody>
      </p:sp>
      <p:sp>
        <p:nvSpPr>
          <p:cNvPr id="22" name="Text 20"/>
          <p:cNvSpPr txBox="1"/>
          <p:nvPr/>
        </p:nvSpPr>
        <p:spPr>
          <a:xfrm>
            <a:off x="7726680" y="2304288"/>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PayPal sold to eBay, $1.5B</a:t>
            </a:r>
            <a:endParaRPr lang="en-US" sz="1000" dirty="0"/>
          </a:p>
        </p:txBody>
      </p:sp>
      <p:sp>
        <p:nvSpPr>
          <p:cNvPr id="23" name="Text 21"/>
          <p:cNvSpPr txBox="1"/>
          <p:nvPr/>
        </p:nvSpPr>
        <p:spPr>
          <a:xfrm>
            <a:off x="457200" y="3383280"/>
            <a:ext cx="6126480" cy="5486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B2622"/>
                </a:solidFill>
                <a:latin typeface="Calibri" pitchFamily="34" charset="0"/>
                <a:ea typeface="Calibri" pitchFamily="34" charset="-122"/>
                <a:cs typeface="Calibri" pitchFamily="34" charset="-120"/>
              </a:rPr>
              <a:t>What survived was account money on one company's ledger - convenient, reversible, and censorable</a:t>
            </a:r>
            <a:endParaRPr lang="en-US" sz="1250" dirty="0"/>
          </a:p>
        </p:txBody>
      </p:sp>
      <p:pic>
        <p:nvPicPr>
          <p:cNvPr id="24" name="Image 0" descr="../../03-materials/ch01/assets/photo_paypal_logo.png">    </p:cNvPr>
          <p:cNvPicPr>
            <a:picLocks noChangeAspect="1"/>
          </p:cNvPicPr>
          <p:nvPr/>
        </p:nvPicPr>
        <p:blipFill>
          <a:blip r:embed="rId1"/>
          <a:srcRect l="0" r="0" t="0" b="0"/>
          <a:stretch/>
        </p:blipFill>
        <p:spPr>
          <a:xfrm>
            <a:off x="6766560" y="3017520"/>
            <a:ext cx="1920240" cy="640080"/>
          </a:xfrm>
          <a:prstGeom prst="rect">
            <a:avLst/>
          </a:prstGeom>
        </p:spPr>
      </p:pic>
      <p:sp>
        <p:nvSpPr>
          <p:cNvPr id="25" name="Text 22"/>
          <p:cNvSpPr txBox="1"/>
          <p:nvPr/>
        </p:nvSpPr>
        <p:spPr>
          <a:xfrm>
            <a:off x="6766560" y="3675888"/>
            <a:ext cx="19202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PayPal logo - PayPal, public domain</a:t>
            </a:r>
            <a:endParaRPr lang="en-US" sz="900" dirty="0"/>
          </a:p>
        </p:txBody>
      </p:sp>
      <p:sp>
        <p:nvSpPr>
          <p:cNvPr id="26" name="Shape 23"/>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7" name="Text 24"/>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Max Levchin and Peter Th…</a:t>
            </a:r>
            <a:endParaRPr lang="en-US" sz="750" dirty="0"/>
          </a:p>
        </p:txBody>
      </p:sp>
      <p:sp>
        <p:nvSpPr>
          <p:cNvPr id="28" name="Shape 25"/>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9" name="Text 26"/>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Palo Alto, in the dot-…</a:t>
            </a:r>
            <a:endParaRPr lang="en-US" sz="750" dirty="0"/>
          </a:p>
        </p:txBody>
      </p:sp>
      <p:sp>
        <p:nvSpPr>
          <p:cNvPr id="30" name="Shape 27"/>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31" name="Text 28"/>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2002-07-08</a:t>
            </a:r>
            <a:endParaRPr lang="en-US" sz="750" dirty="0"/>
          </a:p>
        </p:txBody>
      </p:sp>
      <p:sp>
        <p:nvSpPr>
          <p:cNvPr id="32" name="Shape 29"/>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33" name="Text 30"/>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PayPal (encyclopedia article)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en.wikipedia.org</a:t>
            </a:r>
            <a:endParaRPr lang="en-US" sz="750" dirty="0"/>
          </a:p>
        </p:txBody>
      </p:sp>
      <p:sp>
        <p:nvSpPr>
          <p:cNvPr id="34"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Payments went online in 1998-2002; cash never did</a:t>
            </a:r>
            <a:endParaRPr lang="en-US" sz="1350" dirty="0"/>
          </a:p>
        </p:txBody>
      </p:sp>
      <p:sp>
        <p:nvSpPr>
          <p:cNvPr id="36"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46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When the money in your hand stops working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documented cases, five links - no hypotheticals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E-commerce without cards, aid without banks, savings under levies, wages under hyperinflation, a state under invasion: each card below is a real, dated case with its source.</a:t>
            </a:r>
            <a:endParaRPr lang="en-US" sz="1250" dirty="0"/>
          </a:p>
        </p:txBody>
      </p:sp>
      <p:pic>
        <p:nvPicPr>
          <p:cNvPr id="7" name="Image 0" descr="../../03-materials/ch01/assets/photo_fedorov_portrait.jpg">    </p:cNvPr>
          <p:cNvPicPr>
            <a:picLocks noChangeAspect="1"/>
          </p:cNvPicPr>
          <p:nvPr/>
        </p:nvPicPr>
        <p:blipFill>
          <a:blip r:embed="rId1"/>
          <a:srcRect l="0" r="0" t="0" b="0"/>
          <a:stretch/>
        </p:blipFill>
        <p:spPr>
          <a:xfrm>
            <a:off x="7772400" y="1554480"/>
            <a:ext cx="1051560" cy="1417320"/>
          </a:xfrm>
          <a:prstGeom prst="rect">
            <a:avLst/>
          </a:prstGeom>
        </p:spPr>
      </p:pic>
      <p:sp>
        <p:nvSpPr>
          <p:cNvPr id="8" name="Text 5"/>
          <p:cNvSpPr txBox="1"/>
          <p:nvPr/>
        </p:nvSpPr>
        <p:spPr>
          <a:xfrm>
            <a:off x="7772400" y="2990088"/>
            <a:ext cx="10515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Fedorov - U.S. Embassy Kyiv, PD</a:t>
            </a:r>
            <a:endParaRPr lang="en-US" sz="900" dirty="0"/>
          </a:p>
        </p:txBody>
      </p:sp>
      <p:sp>
        <p:nvSpPr>
          <p:cNvPr id="9" name="Shape 6"/>
          <p:cNvSpPr/>
          <p:nvPr/>
        </p:nvSpPr>
        <p:spPr>
          <a:xfrm>
            <a:off x="274320" y="1554480"/>
            <a:ext cx="1311250" cy="2359152"/>
          </a:xfrm>
          <a:prstGeom prst="roundRect">
            <a:avLst>
              <a:gd name="adj" fmla="val 6973"/>
            </a:avLst>
          </a:prstGeom>
          <a:solidFill>
            <a:srgbClr val="F2ECE1"/>
          </a:solidFill>
          <a:ln w="12700">
            <a:solidFill>
              <a:srgbClr val="DFD6C7"/>
            </a:solidFill>
            <a:prstDash val="solid"/>
          </a:ln>
        </p:spPr>
      </p:sp>
      <p:pic>
        <p:nvPicPr>
          <p:cNvPr id="10" name="Image 1" descr="../../03-materials/ch01/assets/photo_mpesa_agent.jpg">    </p:cNvPr>
          <p:cNvPicPr>
            <a:picLocks noChangeAspect="1"/>
          </p:cNvPicPr>
          <p:nvPr/>
        </p:nvPicPr>
        <p:blipFill>
          <a:blip r:embed="rId2"/>
          <a:srcRect l="0" r="0" t="0" b="0"/>
          <a:stretch/>
        </p:blipFill>
        <p:spPr>
          <a:xfrm>
            <a:off x="365760" y="1645920"/>
            <a:ext cx="1128370" cy="658368"/>
          </a:xfrm>
          <a:prstGeom prst="rect">
            <a:avLst/>
          </a:prstGeom>
        </p:spPr>
      </p:pic>
      <p:sp>
        <p:nvSpPr>
          <p:cNvPr id="11" name="Shape 7"/>
          <p:cNvSpPr/>
          <p:nvPr/>
        </p:nvSpPr>
        <p:spPr>
          <a:xfrm>
            <a:off x="384048" y="2359152"/>
            <a:ext cx="1091794" cy="329184"/>
          </a:xfrm>
          <a:prstGeom prst="roundRect">
            <a:avLst>
              <a:gd name="adj" fmla="val 50000"/>
            </a:avLst>
          </a:prstGeom>
          <a:solidFill>
            <a:srgbClr val="2F6D62"/>
          </a:solidFill>
          <a:ln w="12700">
            <a:solidFill>
              <a:srgbClr val="2F6D62"/>
            </a:solidFill>
            <a:prstDash val="solid"/>
          </a:ln>
        </p:spPr>
      </p:sp>
      <p:sp>
        <p:nvSpPr>
          <p:cNvPr id="12" name="Text 8"/>
          <p:cNvSpPr txBox="1"/>
          <p:nvPr/>
        </p:nvSpPr>
        <p:spPr>
          <a:xfrm>
            <a:off x="384048" y="2359152"/>
            <a:ext cx="109179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Kenya  </a:t>
            </a:r>
            <a:r>
              <a:rPr lang="en-US" sz="1000" dirty="0">
                <a:solidFill>
                  <a:srgbClr val="D7E4E0"/>
                </a:solidFill>
                <a:latin typeface="Calibri" pitchFamily="34" charset="0"/>
                <a:ea typeface="Calibri" pitchFamily="34" charset="-122"/>
                <a:cs typeface="Calibri" pitchFamily="34" charset="-120"/>
              </a:rPr>
              <a:t>2007</a:t>
            </a:r>
            <a:endParaRPr lang="en-US" sz="1100" dirty="0"/>
          </a:p>
        </p:txBody>
      </p:sp>
      <p:sp>
        <p:nvSpPr>
          <p:cNvPr id="13" name="Text 9"/>
          <p:cNvSpPr txBox="1"/>
          <p:nvPr/>
        </p:nvSpPr>
        <p:spPr>
          <a:xfrm>
            <a:off x="402336" y="2743200"/>
            <a:ext cx="1055218"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No banks for most adults - M-Pesa made phones the payment rail</a:t>
            </a:r>
            <a:endParaRPr lang="en-US" sz="950" dirty="0"/>
          </a:p>
        </p:txBody>
      </p:sp>
      <p:sp>
        <p:nvSpPr>
          <p:cNvPr id="14" name="Text 10"/>
          <p:cNvSpPr txBox="1"/>
          <p:nvPr/>
        </p:nvSpPr>
        <p:spPr>
          <a:xfrm>
            <a:off x="402336" y="3566160"/>
            <a:ext cx="1055218"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15" name="Shape 11"/>
          <p:cNvSpPr/>
          <p:nvPr/>
        </p:nvSpPr>
        <p:spPr>
          <a:xfrm>
            <a:off x="1786738" y="1554480"/>
            <a:ext cx="1311250" cy="2359152"/>
          </a:xfrm>
          <a:prstGeom prst="roundRect">
            <a:avLst>
              <a:gd name="adj" fmla="val 6973"/>
            </a:avLst>
          </a:prstGeom>
          <a:solidFill>
            <a:srgbClr val="F2ECE1"/>
          </a:solidFill>
          <a:ln w="12700">
            <a:solidFill>
              <a:srgbClr val="DFD6C7"/>
            </a:solidFill>
            <a:prstDash val="solid"/>
          </a:ln>
        </p:spPr>
      </p:sp>
      <p:pic>
        <p:nvPicPr>
          <p:cNvPr id="16" name="Image 2" descr="../../03-materials/ch01/assets/photo_laiki_bank.jpg">    </p:cNvPr>
          <p:cNvPicPr>
            <a:picLocks noChangeAspect="1"/>
          </p:cNvPicPr>
          <p:nvPr/>
        </p:nvPicPr>
        <p:blipFill>
          <a:blip r:embed="rId4"/>
          <a:srcRect l="0" r="0" t="0" b="0"/>
          <a:stretch/>
        </p:blipFill>
        <p:spPr>
          <a:xfrm>
            <a:off x="1878178" y="1645920"/>
            <a:ext cx="1128370" cy="658368"/>
          </a:xfrm>
          <a:prstGeom prst="rect">
            <a:avLst/>
          </a:prstGeom>
        </p:spPr>
      </p:pic>
      <p:sp>
        <p:nvSpPr>
          <p:cNvPr id="17" name="Shape 12"/>
          <p:cNvSpPr/>
          <p:nvPr/>
        </p:nvSpPr>
        <p:spPr>
          <a:xfrm>
            <a:off x="1896466" y="2359152"/>
            <a:ext cx="1091794" cy="329184"/>
          </a:xfrm>
          <a:prstGeom prst="roundRect">
            <a:avLst>
              <a:gd name="adj" fmla="val 50000"/>
            </a:avLst>
          </a:prstGeom>
          <a:solidFill>
            <a:srgbClr val="2F6D62"/>
          </a:solidFill>
          <a:ln w="12700">
            <a:solidFill>
              <a:srgbClr val="2F6D62"/>
            </a:solidFill>
            <a:prstDash val="solid"/>
          </a:ln>
        </p:spPr>
      </p:sp>
      <p:sp>
        <p:nvSpPr>
          <p:cNvPr id="18" name="Text 13"/>
          <p:cNvSpPr txBox="1"/>
          <p:nvPr/>
        </p:nvSpPr>
        <p:spPr>
          <a:xfrm>
            <a:off x="1896466" y="2359152"/>
            <a:ext cx="109179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Cyprus  </a:t>
            </a:r>
            <a:r>
              <a:rPr lang="en-US" sz="1000" dirty="0">
                <a:solidFill>
                  <a:srgbClr val="D7E4E0"/>
                </a:solidFill>
                <a:latin typeface="Calibri" pitchFamily="34" charset="0"/>
                <a:ea typeface="Calibri" pitchFamily="34" charset="-122"/>
                <a:cs typeface="Calibri" pitchFamily="34" charset="-120"/>
              </a:rPr>
              <a:t>2013</a:t>
            </a:r>
            <a:endParaRPr lang="en-US" sz="1100" dirty="0"/>
          </a:p>
        </p:txBody>
      </p:sp>
      <p:sp>
        <p:nvSpPr>
          <p:cNvPr id="19" name="Text 14"/>
          <p:cNvSpPr txBox="1"/>
          <p:nvPr/>
        </p:nvSpPr>
        <p:spPr>
          <a:xfrm>
            <a:off x="1914754" y="2743200"/>
            <a:ext cx="1055218"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Banks shut for days; a levy took part of deposits overnight</a:t>
            </a:r>
            <a:endParaRPr lang="en-US" sz="950" dirty="0"/>
          </a:p>
        </p:txBody>
      </p:sp>
      <p:sp>
        <p:nvSpPr>
          <p:cNvPr id="20" name="Text 15"/>
          <p:cNvSpPr txBox="1"/>
          <p:nvPr/>
        </p:nvSpPr>
        <p:spPr>
          <a:xfrm>
            <a:off x="1914754" y="3566160"/>
            <a:ext cx="1055218"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21" name="Shape 16"/>
          <p:cNvSpPr/>
          <p:nvPr/>
        </p:nvSpPr>
        <p:spPr>
          <a:xfrm>
            <a:off x="3299155" y="1554480"/>
            <a:ext cx="1311250" cy="2359152"/>
          </a:xfrm>
          <a:prstGeom prst="roundRect">
            <a:avLst>
              <a:gd name="adj" fmla="val 6973"/>
            </a:avLst>
          </a:prstGeom>
          <a:solidFill>
            <a:srgbClr val="F2ECE1"/>
          </a:solidFill>
          <a:ln w="12700">
            <a:solidFill>
              <a:srgbClr val="DFD6C7"/>
            </a:solidFill>
            <a:prstDash val="solid"/>
          </a:ln>
        </p:spPr>
      </p:sp>
      <p:pic>
        <p:nvPicPr>
          <p:cNvPr id="22" name="Image 3" descr="../../03-materials/ch01/assets/photo_greece_atm.jpg">    </p:cNvPr>
          <p:cNvPicPr>
            <a:picLocks noChangeAspect="1"/>
          </p:cNvPicPr>
          <p:nvPr/>
        </p:nvPicPr>
        <p:blipFill>
          <a:blip r:embed="rId6"/>
          <a:srcRect l="0" r="0" t="0" b="0"/>
          <a:stretch/>
        </p:blipFill>
        <p:spPr>
          <a:xfrm>
            <a:off x="3390595" y="1645920"/>
            <a:ext cx="1128370" cy="658368"/>
          </a:xfrm>
          <a:prstGeom prst="rect">
            <a:avLst/>
          </a:prstGeom>
        </p:spPr>
      </p:pic>
      <p:sp>
        <p:nvSpPr>
          <p:cNvPr id="23" name="Shape 17"/>
          <p:cNvSpPr/>
          <p:nvPr/>
        </p:nvSpPr>
        <p:spPr>
          <a:xfrm>
            <a:off x="3408883" y="2359152"/>
            <a:ext cx="1091794" cy="329184"/>
          </a:xfrm>
          <a:prstGeom prst="roundRect">
            <a:avLst>
              <a:gd name="adj" fmla="val 50000"/>
            </a:avLst>
          </a:prstGeom>
          <a:solidFill>
            <a:srgbClr val="2F6D62"/>
          </a:solidFill>
          <a:ln w="12700">
            <a:solidFill>
              <a:srgbClr val="2F6D62"/>
            </a:solidFill>
            <a:prstDash val="solid"/>
          </a:ln>
        </p:spPr>
      </p:sp>
      <p:sp>
        <p:nvSpPr>
          <p:cNvPr id="24" name="Text 18"/>
          <p:cNvSpPr txBox="1"/>
          <p:nvPr/>
        </p:nvSpPr>
        <p:spPr>
          <a:xfrm>
            <a:off x="3408883" y="2359152"/>
            <a:ext cx="109179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Greece  </a:t>
            </a:r>
            <a:r>
              <a:rPr lang="en-US" sz="1000" dirty="0">
                <a:solidFill>
                  <a:srgbClr val="D7E4E0"/>
                </a:solidFill>
                <a:latin typeface="Calibri" pitchFamily="34" charset="0"/>
                <a:ea typeface="Calibri" pitchFamily="34" charset="-122"/>
                <a:cs typeface="Calibri" pitchFamily="34" charset="-120"/>
              </a:rPr>
              <a:t>2015</a:t>
            </a:r>
            <a:endParaRPr lang="en-US" sz="1100" dirty="0"/>
          </a:p>
        </p:txBody>
      </p:sp>
      <p:sp>
        <p:nvSpPr>
          <p:cNvPr id="25" name="Text 19"/>
          <p:cNvSpPr txBox="1"/>
          <p:nvPr/>
        </p:nvSpPr>
        <p:spPr>
          <a:xfrm>
            <a:off x="3427171" y="2743200"/>
            <a:ext cx="1055218"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Capital controls: ATM withdrawals capped at 60 euros a day</a:t>
            </a:r>
            <a:endParaRPr lang="en-US" sz="950" dirty="0"/>
          </a:p>
        </p:txBody>
      </p:sp>
      <p:sp>
        <p:nvSpPr>
          <p:cNvPr id="26" name="Text 20"/>
          <p:cNvSpPr txBox="1"/>
          <p:nvPr/>
        </p:nvSpPr>
        <p:spPr>
          <a:xfrm>
            <a:off x="3427171" y="3566160"/>
            <a:ext cx="1055218"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27" name="Shape 21"/>
          <p:cNvSpPr/>
          <p:nvPr/>
        </p:nvSpPr>
        <p:spPr>
          <a:xfrm>
            <a:off x="4811573" y="1554480"/>
            <a:ext cx="1311250" cy="2359152"/>
          </a:xfrm>
          <a:prstGeom prst="roundRect">
            <a:avLst>
              <a:gd name="adj" fmla="val 6973"/>
            </a:avLst>
          </a:prstGeom>
          <a:solidFill>
            <a:srgbClr val="F2ECE1"/>
          </a:solidFill>
          <a:ln w="12700">
            <a:solidFill>
              <a:srgbClr val="DFD6C7"/>
            </a:solidFill>
            <a:prstDash val="solid"/>
          </a:ln>
        </p:spPr>
      </p:sp>
      <p:pic>
        <p:nvPicPr>
          <p:cNvPr id="28" name="Image 4" descr="../../03-materials/ch01/assets/photo_bolivar_note.jpg">    </p:cNvPr>
          <p:cNvPicPr>
            <a:picLocks noChangeAspect="1"/>
          </p:cNvPicPr>
          <p:nvPr/>
        </p:nvPicPr>
        <p:blipFill>
          <a:blip r:embed="rId8"/>
          <a:srcRect l="0" r="0" t="0" b="0"/>
          <a:stretch/>
        </p:blipFill>
        <p:spPr>
          <a:xfrm>
            <a:off x="4903013" y="1645920"/>
            <a:ext cx="1128370" cy="658368"/>
          </a:xfrm>
          <a:prstGeom prst="rect">
            <a:avLst/>
          </a:prstGeom>
        </p:spPr>
      </p:pic>
      <p:sp>
        <p:nvSpPr>
          <p:cNvPr id="29" name="Shape 22"/>
          <p:cNvSpPr/>
          <p:nvPr/>
        </p:nvSpPr>
        <p:spPr>
          <a:xfrm>
            <a:off x="4921301" y="2359152"/>
            <a:ext cx="1091794" cy="329184"/>
          </a:xfrm>
          <a:prstGeom prst="roundRect">
            <a:avLst>
              <a:gd name="adj" fmla="val 50000"/>
            </a:avLst>
          </a:prstGeom>
          <a:solidFill>
            <a:srgbClr val="2F6D62"/>
          </a:solidFill>
          <a:ln w="12700">
            <a:solidFill>
              <a:srgbClr val="2F6D62"/>
            </a:solidFill>
            <a:prstDash val="solid"/>
          </a:ln>
        </p:spPr>
      </p:sp>
      <p:sp>
        <p:nvSpPr>
          <p:cNvPr id="30" name="Text 23"/>
          <p:cNvSpPr txBox="1"/>
          <p:nvPr/>
        </p:nvSpPr>
        <p:spPr>
          <a:xfrm>
            <a:off x="4921301" y="2359152"/>
            <a:ext cx="109179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Venezuela  </a:t>
            </a:r>
            <a:r>
              <a:rPr lang="en-US" sz="1000" dirty="0">
                <a:solidFill>
                  <a:srgbClr val="D7E4E0"/>
                </a:solidFill>
                <a:latin typeface="Calibri" pitchFamily="34" charset="0"/>
                <a:ea typeface="Calibri" pitchFamily="34" charset="-122"/>
                <a:cs typeface="Calibri" pitchFamily="34" charset="-120"/>
              </a:rPr>
              <a:t>2018</a:t>
            </a:r>
            <a:endParaRPr lang="en-US" sz="1100" dirty="0"/>
          </a:p>
        </p:txBody>
      </p:sp>
      <p:sp>
        <p:nvSpPr>
          <p:cNvPr id="31" name="Text 24"/>
          <p:cNvSpPr txBox="1"/>
          <p:nvPr/>
        </p:nvSpPr>
        <p:spPr>
          <a:xfrm>
            <a:off x="4939589" y="2743200"/>
            <a:ext cx="1055218"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Hyperinflation beyond 1,000,000% - wages melted in hours</a:t>
            </a:r>
            <a:endParaRPr lang="en-US" sz="950" dirty="0"/>
          </a:p>
        </p:txBody>
      </p:sp>
      <p:sp>
        <p:nvSpPr>
          <p:cNvPr id="32" name="Text 25"/>
          <p:cNvSpPr txBox="1"/>
          <p:nvPr/>
        </p:nvSpPr>
        <p:spPr>
          <a:xfrm>
            <a:off x="4939589" y="3566160"/>
            <a:ext cx="1055218"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33" name="Shape 26"/>
          <p:cNvSpPr/>
          <p:nvPr/>
        </p:nvSpPr>
        <p:spPr>
          <a:xfrm>
            <a:off x="6323990" y="1554480"/>
            <a:ext cx="1311250" cy="2359152"/>
          </a:xfrm>
          <a:prstGeom prst="roundRect">
            <a:avLst>
              <a:gd name="adj" fmla="val 6973"/>
            </a:avLst>
          </a:prstGeom>
          <a:solidFill>
            <a:srgbClr val="F2ECE1"/>
          </a:solidFill>
          <a:ln w="12700">
            <a:solidFill>
              <a:srgbClr val="DFD6C7"/>
            </a:solidFill>
            <a:prstDash val="solid"/>
          </a:ln>
        </p:spPr>
      </p:sp>
      <p:pic>
        <p:nvPicPr>
          <p:cNvPr id="34" name="Image 5" descr="../../03-materials/ch01/assets/photo_fedorov.jpg">    </p:cNvPr>
          <p:cNvPicPr>
            <a:picLocks noChangeAspect="1"/>
          </p:cNvPicPr>
          <p:nvPr/>
        </p:nvPicPr>
        <p:blipFill>
          <a:blip r:embed="rId10"/>
          <a:srcRect l="0" r="0" t="0" b="0"/>
          <a:stretch/>
        </p:blipFill>
        <p:spPr>
          <a:xfrm>
            <a:off x="6415430" y="1645920"/>
            <a:ext cx="1128370" cy="658368"/>
          </a:xfrm>
          <a:prstGeom prst="rect">
            <a:avLst/>
          </a:prstGeom>
        </p:spPr>
      </p:pic>
      <p:sp>
        <p:nvSpPr>
          <p:cNvPr id="35" name="Shape 27"/>
          <p:cNvSpPr/>
          <p:nvPr/>
        </p:nvSpPr>
        <p:spPr>
          <a:xfrm>
            <a:off x="6433718" y="2359152"/>
            <a:ext cx="1091794" cy="329184"/>
          </a:xfrm>
          <a:prstGeom prst="roundRect">
            <a:avLst>
              <a:gd name="adj" fmla="val 50000"/>
            </a:avLst>
          </a:prstGeom>
          <a:solidFill>
            <a:srgbClr val="2F6D62"/>
          </a:solidFill>
          <a:ln w="12700">
            <a:solidFill>
              <a:srgbClr val="2F6D62"/>
            </a:solidFill>
            <a:prstDash val="solid"/>
          </a:ln>
        </p:spPr>
      </p:sp>
      <p:sp>
        <p:nvSpPr>
          <p:cNvPr id="36" name="Text 28"/>
          <p:cNvSpPr txBox="1"/>
          <p:nvPr/>
        </p:nvSpPr>
        <p:spPr>
          <a:xfrm>
            <a:off x="6433718" y="2359152"/>
            <a:ext cx="109179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Ukraine  </a:t>
            </a:r>
            <a:r>
              <a:rPr lang="en-US" sz="1000" dirty="0">
                <a:solidFill>
                  <a:srgbClr val="D7E4E0"/>
                </a:solidFill>
                <a:latin typeface="Calibri" pitchFamily="34" charset="0"/>
                <a:ea typeface="Calibri" pitchFamily="34" charset="-122"/>
                <a:cs typeface="Calibri" pitchFamily="34" charset="-120"/>
              </a:rPr>
              <a:t>2022</a:t>
            </a:r>
            <a:endParaRPr lang="en-US" sz="1100" dirty="0"/>
          </a:p>
        </p:txBody>
      </p:sp>
      <p:sp>
        <p:nvSpPr>
          <p:cNvPr id="37" name="Text 29"/>
          <p:cNvSpPr txBox="1"/>
          <p:nvPr/>
        </p:nvSpPr>
        <p:spPr>
          <a:xfrm>
            <a:off x="6452006" y="2743200"/>
            <a:ext cx="1055218"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State and NGO raised $54.7M in crypto in a week</a:t>
            </a:r>
            <a:endParaRPr lang="en-US" sz="950" dirty="0"/>
          </a:p>
        </p:txBody>
      </p:sp>
      <p:sp>
        <p:nvSpPr>
          <p:cNvPr id="38" name="Text 30"/>
          <p:cNvSpPr txBox="1"/>
          <p:nvPr/>
        </p:nvSpPr>
        <p:spPr>
          <a:xfrm>
            <a:off x="6452006" y="3566160"/>
            <a:ext cx="1055218"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39" name="Text 31"/>
          <p:cNvSpPr txBox="1"/>
          <p:nvPr/>
        </p:nvSpPr>
        <p:spPr>
          <a:xfrm>
            <a:off x="365760" y="3941064"/>
            <a:ext cx="8412480" cy="228600"/>
          </a:xfrm>
          <a:prstGeom prst="rect">
            <a:avLst/>
          </a:prstGeom>
          <a:noFill/>
          <a:ln/>
        </p:spPr>
        <p:txBody>
          <a:bodyPr wrap="square" lIns="0" tIns="0" rIns="0" bIns="0" rtlCol="0" anchor="t"/>
          <a:lstStyle/>
          <a:p>
            <a:pPr algn="l" indent="0" marL="0">
              <a:buNone/>
            </a:pPr>
            <a:r>
              <a:rPr lang="en-US" sz="750" i="1" dirty="0">
                <a:solidFill>
                  <a:srgbClr val="6E655C"/>
                </a:solidFill>
                <a:latin typeface="Calibri" pitchFamily="34" charset="0"/>
                <a:ea typeface="Calibri" pitchFamily="34" charset="-122"/>
                <a:cs typeface="Calibri" pitchFamily="34" charset="-120"/>
              </a:rPr>
              <a:t>photos via Wikimedia Commons: Fiona Graham/WorldRemit CC BY-SA 2.0 · Martin Addison CC BY-SA 2.0 · Norbert Nagel CC BY-SA 3.0 · Rjcastillo CC BY-SA 4.0 · U.S. Embassy Kyiv (PD)</a:t>
            </a:r>
            <a:endParaRPr lang="en-US" sz="750" dirty="0"/>
          </a:p>
        </p:txBody>
      </p:sp>
      <p:sp>
        <p:nvSpPr>
          <p:cNvPr id="40" name="Shape 32"/>
          <p:cNvSpPr/>
          <p:nvPr/>
        </p:nvSpPr>
        <p:spPr>
          <a:xfrm>
            <a:off x="457200" y="4206240"/>
            <a:ext cx="1738092" cy="365760"/>
          </a:xfrm>
          <a:prstGeom prst="roundRect">
            <a:avLst>
              <a:gd name="adj" fmla="val 50000"/>
            </a:avLst>
          </a:prstGeom>
          <a:solidFill>
            <a:srgbClr val="EFE9DC"/>
          </a:solidFill>
          <a:ln w="9525">
            <a:solidFill>
              <a:srgbClr val="DFD6C7"/>
            </a:solidFill>
            <a:prstDash val="solid"/>
          </a:ln>
        </p:spPr>
      </p:sp>
      <p:sp>
        <p:nvSpPr>
          <p:cNvPr id="41" name="Text 33"/>
          <p:cNvSpPr txBox="1"/>
          <p:nvPr/>
        </p:nvSpPr>
        <p:spPr>
          <a:xfrm>
            <a:off x="548640" y="420624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savers, the unbanked, an…</a:t>
            </a:r>
            <a:endParaRPr lang="en-US" sz="750" dirty="0"/>
          </a:p>
        </p:txBody>
      </p:sp>
      <p:sp>
        <p:nvSpPr>
          <p:cNvPr id="42" name="Shape 34"/>
          <p:cNvSpPr/>
          <p:nvPr/>
        </p:nvSpPr>
        <p:spPr>
          <a:xfrm>
            <a:off x="2305020" y="4206240"/>
            <a:ext cx="1659087" cy="365760"/>
          </a:xfrm>
          <a:prstGeom prst="roundRect">
            <a:avLst>
              <a:gd name="adj" fmla="val 50000"/>
            </a:avLst>
          </a:prstGeom>
          <a:solidFill>
            <a:srgbClr val="EFE9DC"/>
          </a:solidFill>
          <a:ln w="9525">
            <a:solidFill>
              <a:srgbClr val="DFD6C7"/>
            </a:solidFill>
            <a:prstDash val="solid"/>
          </a:ln>
        </p:spPr>
      </p:sp>
      <p:sp>
        <p:nvSpPr>
          <p:cNvPr id="43" name="Text 35"/>
          <p:cNvSpPr txBox="1"/>
          <p:nvPr/>
        </p:nvSpPr>
        <p:spPr>
          <a:xfrm>
            <a:off x="2396460" y="420624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Kenya, Cyprus, Greece,…</a:t>
            </a:r>
            <a:endParaRPr lang="en-US" sz="750" dirty="0"/>
          </a:p>
        </p:txBody>
      </p:sp>
      <p:sp>
        <p:nvSpPr>
          <p:cNvPr id="44" name="Shape 36"/>
          <p:cNvSpPr/>
          <p:nvPr/>
        </p:nvSpPr>
        <p:spPr>
          <a:xfrm>
            <a:off x="4073835" y="4206240"/>
            <a:ext cx="1343071" cy="365760"/>
          </a:xfrm>
          <a:prstGeom prst="roundRect">
            <a:avLst>
              <a:gd name="adj" fmla="val 50000"/>
            </a:avLst>
          </a:prstGeom>
          <a:solidFill>
            <a:srgbClr val="EFE9DC"/>
          </a:solidFill>
          <a:ln w="9525">
            <a:solidFill>
              <a:srgbClr val="DFD6C7"/>
            </a:solidFill>
            <a:prstDash val="solid"/>
          </a:ln>
        </p:spPr>
      </p:sp>
      <p:sp>
        <p:nvSpPr>
          <p:cNvPr id="45" name="Text 37"/>
          <p:cNvSpPr txBox="1"/>
          <p:nvPr/>
        </p:nvSpPr>
        <p:spPr>
          <a:xfrm>
            <a:off x="4165275" y="420624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2022-02-26</a:t>
            </a:r>
            <a:endParaRPr lang="en-US" sz="750" dirty="0"/>
          </a:p>
        </p:txBody>
      </p:sp>
      <p:sp>
        <p:nvSpPr>
          <p:cNvPr id="46" name="Shape 38"/>
          <p:cNvSpPr/>
          <p:nvPr/>
        </p:nvSpPr>
        <p:spPr>
          <a:xfrm>
            <a:off x="5526634" y="4206240"/>
            <a:ext cx="3160166" cy="365760"/>
          </a:xfrm>
          <a:prstGeom prst="roundRect">
            <a:avLst>
              <a:gd name="adj" fmla="val 50000"/>
            </a:avLst>
          </a:prstGeom>
          <a:solidFill>
            <a:srgbClr val="2F6D62"/>
          </a:solidFill>
          <a:ln w="9525">
            <a:solidFill>
              <a:srgbClr val="2F6D62"/>
            </a:solidFill>
            <a:prstDash val="solid"/>
          </a:ln>
        </p:spPr>
      </p:sp>
      <p:sp>
        <p:nvSpPr>
          <p:cNvPr id="47" name="Text 39"/>
          <p:cNvSpPr txBox="1"/>
          <p:nvPr/>
        </p:nvSpPr>
        <p:spPr>
          <a:xfrm>
            <a:off x="5618074" y="420624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CNBC: Ukraine's crypto donations (news)</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nbclosangeles.com</a:t>
            </a:r>
            <a:endParaRPr lang="en-US" sz="750" dirty="0"/>
          </a:p>
        </p:txBody>
      </p:sp>
      <p:sp>
        <p:nvSpPr>
          <p:cNvPr id="48" name="Shape 40"/>
          <p:cNvSpPr/>
          <p:nvPr/>
        </p:nvSpPr>
        <p:spPr>
          <a:xfrm>
            <a:off x="457200" y="4636008"/>
            <a:ext cx="91440" cy="310896"/>
          </a:xfrm>
          <a:prstGeom prst="rect">
            <a:avLst/>
          </a:prstGeom>
          <a:solidFill>
            <a:srgbClr val="D97A14"/>
          </a:solidFill>
          <a:ln w="12700">
            <a:solidFill>
              <a:srgbClr val="D97A14"/>
            </a:solidFill>
            <a:prstDash val="solid"/>
          </a:ln>
        </p:spPr>
      </p:sp>
      <p:sp>
        <p:nvSpPr>
          <p:cNvPr id="49" name="Text 4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Crisis or war, banked or not - the need is documented, not theoretical</a:t>
            </a:r>
            <a:endParaRPr lang="en-US" sz="1350" dirty="0"/>
          </a:p>
        </p:txBody>
      </p:sp>
      <p:sp>
        <p:nvSpPr>
          <p:cNvPr id="50" name="Text 4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46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Why digital money had to wait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copy problem: a digital coin is a file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Digital money is older than you think - what was missing for forty years was a way to stop one coin being spent twice without a bank in the middle.</a:t>
            </a:r>
            <a:endParaRPr lang="en-US" sz="1250" dirty="0"/>
          </a:p>
        </p:txBody>
      </p:sp>
      <p:sp>
        <p:nvSpPr>
          <p:cNvPr id="7" name="Shape 5"/>
          <p:cNvSpPr/>
          <p:nvPr/>
        </p:nvSpPr>
        <p:spPr>
          <a:xfrm>
            <a:off x="457200" y="1636776"/>
            <a:ext cx="402336" cy="402336"/>
          </a:xfrm>
          <a:prstGeom prst="ellipse">
            <a:avLst/>
          </a:prstGeom>
          <a:solidFill>
            <a:srgbClr val="D97A14"/>
          </a:solidFill>
          <a:ln w="12700">
            <a:solidFill>
              <a:srgbClr val="D97A14"/>
            </a:solidFill>
            <a:prstDash val="solid"/>
          </a:ln>
        </p:spPr>
      </p:sp>
      <p:sp>
        <p:nvSpPr>
          <p:cNvPr id="8" name="Text 6"/>
          <p:cNvSpPr txBox="1"/>
          <p:nvPr/>
        </p:nvSpPr>
        <p:spPr>
          <a:xfrm>
            <a:off x="457200" y="1636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1024128" y="1600200"/>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Make money digital and it becomes a file</a:t>
            </a:r>
            <a:endParaRPr lang="en-US" sz="1150" dirty="0"/>
          </a:p>
        </p:txBody>
      </p:sp>
      <p:sp>
        <p:nvSpPr>
          <p:cNvPr id="10" name="Shape 8"/>
          <p:cNvSpPr/>
          <p:nvPr/>
        </p:nvSpPr>
        <p:spPr>
          <a:xfrm>
            <a:off x="457200" y="2295144"/>
            <a:ext cx="402336" cy="402336"/>
          </a:xfrm>
          <a:prstGeom prst="ellipse">
            <a:avLst/>
          </a:prstGeom>
          <a:solidFill>
            <a:srgbClr val="D97A14"/>
          </a:solidFill>
          <a:ln w="12700">
            <a:solidFill>
              <a:srgbClr val="D97A14"/>
            </a:solidFill>
            <a:prstDash val="solid"/>
          </a:ln>
        </p:spPr>
      </p:sp>
      <p:sp>
        <p:nvSpPr>
          <p:cNvPr id="11" name="Text 9"/>
          <p:cNvSpPr txBox="1"/>
          <p:nvPr/>
        </p:nvSpPr>
        <p:spPr>
          <a:xfrm>
            <a:off x="457200" y="22951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1024128" y="2258568"/>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Files copy perfectly - so coins would too</a:t>
            </a:r>
            <a:endParaRPr lang="en-US" sz="1150" dirty="0"/>
          </a:p>
        </p:txBody>
      </p:sp>
      <p:sp>
        <p:nvSpPr>
          <p:cNvPr id="13" name="Shape 11"/>
          <p:cNvSpPr/>
          <p:nvPr/>
        </p:nvSpPr>
        <p:spPr>
          <a:xfrm>
            <a:off x="457200" y="2953512"/>
            <a:ext cx="402336" cy="402336"/>
          </a:xfrm>
          <a:prstGeom prst="ellipse">
            <a:avLst/>
          </a:prstGeom>
          <a:solidFill>
            <a:srgbClr val="D97A14"/>
          </a:solidFill>
          <a:ln w="12700">
            <a:solidFill>
              <a:srgbClr val="D97A14"/>
            </a:solidFill>
            <a:prstDash val="solid"/>
          </a:ln>
        </p:spPr>
      </p:sp>
      <p:sp>
        <p:nvSpPr>
          <p:cNvPr id="14" name="Text 12"/>
          <p:cNvSpPr txBox="1"/>
          <p:nvPr/>
        </p:nvSpPr>
        <p:spPr>
          <a:xfrm>
            <a:off x="457200" y="2953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024128" y="2916936"/>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Both copies get spent: the double-spend</a:t>
            </a:r>
            <a:endParaRPr lang="en-US" sz="1150" dirty="0"/>
          </a:p>
        </p:txBody>
      </p:sp>
      <p:sp>
        <p:nvSpPr>
          <p:cNvPr id="16" name="Shape 14"/>
          <p:cNvSpPr/>
          <p:nvPr/>
        </p:nvSpPr>
        <p:spPr>
          <a:xfrm>
            <a:off x="457200" y="3611880"/>
            <a:ext cx="402336" cy="402336"/>
          </a:xfrm>
          <a:prstGeom prst="ellipse">
            <a:avLst/>
          </a:prstGeom>
          <a:solidFill>
            <a:srgbClr val="D97A14"/>
          </a:solidFill>
          <a:ln w="12700">
            <a:solidFill>
              <a:srgbClr val="D97A14"/>
            </a:solidFill>
            <a:prstDash val="solid"/>
          </a:ln>
        </p:spPr>
      </p:sp>
      <p:sp>
        <p:nvSpPr>
          <p:cNvPr id="17" name="Text 15"/>
          <p:cNvSpPr txBox="1"/>
          <p:nvPr/>
        </p:nvSpPr>
        <p:spPr>
          <a:xfrm>
            <a:off x="457200" y="3611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txBox="1"/>
          <p:nvPr/>
        </p:nvSpPr>
        <p:spPr>
          <a:xfrm>
            <a:off x="1024128" y="3575304"/>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For decades only a trusted central ledger could stop it - so digital money meant bank money</a:t>
            </a:r>
            <a:endParaRPr lang="en-US" sz="1150" dirty="0"/>
          </a:p>
        </p:txBody>
      </p:sp>
      <p:sp>
        <p:nvSpPr>
          <p:cNvPr id="19" name="Shape 17"/>
          <p:cNvSpPr/>
          <p:nvPr/>
        </p:nvSpPr>
        <p:spPr>
          <a:xfrm>
            <a:off x="4206240" y="2596896"/>
            <a:ext cx="1051560" cy="566928"/>
          </a:xfrm>
          <a:prstGeom prst="roundRect">
            <a:avLst>
              <a:gd name="adj" fmla="val 12903"/>
            </a:avLst>
          </a:prstGeom>
          <a:solidFill>
            <a:srgbClr val="F2ECE1"/>
          </a:solidFill>
          <a:ln w="19050">
            <a:solidFill>
              <a:srgbClr val="2F6D62"/>
            </a:solidFill>
            <a:prstDash val="solid"/>
          </a:ln>
        </p:spPr>
      </p:sp>
      <p:sp>
        <p:nvSpPr>
          <p:cNvPr id="20" name="Shape 18"/>
          <p:cNvSpPr/>
          <p:nvPr/>
        </p:nvSpPr>
        <p:spPr>
          <a:xfrm>
            <a:off x="4279392" y="2724912"/>
            <a:ext cx="310896" cy="310896"/>
          </a:xfrm>
          <a:prstGeom prst="ellipse">
            <a:avLst/>
          </a:prstGeom>
          <a:solidFill>
            <a:srgbClr val="D97A14"/>
          </a:solidFill>
          <a:ln w="15875">
            <a:solidFill>
              <a:srgbClr val="D97A14"/>
            </a:solidFill>
            <a:prstDash val="solid"/>
          </a:ln>
        </p:spPr>
      </p:sp>
      <p:sp>
        <p:nvSpPr>
          <p:cNvPr id="21" name="Text 19"/>
          <p:cNvSpPr txBox="1"/>
          <p:nvPr/>
        </p:nvSpPr>
        <p:spPr>
          <a:xfrm>
            <a:off x="4279392" y="2724912"/>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460857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 coin,</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as a file</a:t>
            </a:r>
            <a:endParaRPr lang="en-US" sz="950" dirty="0"/>
          </a:p>
        </p:txBody>
      </p:sp>
      <p:sp>
        <p:nvSpPr>
          <p:cNvPr id="23" name="Shape 21"/>
          <p:cNvSpPr/>
          <p:nvPr/>
        </p:nvSpPr>
        <p:spPr>
          <a:xfrm>
            <a:off x="7040880" y="1828800"/>
            <a:ext cx="1051560" cy="566928"/>
          </a:xfrm>
          <a:prstGeom prst="roundRect">
            <a:avLst>
              <a:gd name="adj" fmla="val 12903"/>
            </a:avLst>
          </a:prstGeom>
          <a:solidFill>
            <a:srgbClr val="F2ECE1"/>
          </a:solidFill>
          <a:ln w="19050">
            <a:solidFill>
              <a:srgbClr val="D97A14"/>
            </a:solidFill>
            <a:prstDash val="solid"/>
          </a:ln>
        </p:spPr>
      </p:sp>
      <p:sp>
        <p:nvSpPr>
          <p:cNvPr id="24" name="Shape 22"/>
          <p:cNvSpPr/>
          <p:nvPr/>
        </p:nvSpPr>
        <p:spPr>
          <a:xfrm>
            <a:off x="7114032" y="1956816"/>
            <a:ext cx="310896" cy="310896"/>
          </a:xfrm>
          <a:prstGeom prst="ellipse">
            <a:avLst/>
          </a:prstGeom>
          <a:solidFill>
            <a:srgbClr val="D97A14"/>
          </a:solidFill>
          <a:ln w="15875">
            <a:solidFill>
              <a:srgbClr val="D97A14"/>
            </a:solidFill>
            <a:prstDash val="solid"/>
          </a:ln>
        </p:spPr>
      </p:sp>
      <p:sp>
        <p:nvSpPr>
          <p:cNvPr id="25" name="Text 23"/>
          <p:cNvSpPr txBox="1"/>
          <p:nvPr/>
        </p:nvSpPr>
        <p:spPr>
          <a:xfrm>
            <a:off x="7114032" y="1956816"/>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6" name="Text 24"/>
          <p:cNvSpPr txBox="1"/>
          <p:nvPr/>
        </p:nvSpPr>
        <p:spPr>
          <a:xfrm>
            <a:off x="7443216" y="182880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1</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A</a:t>
            </a:r>
            <a:endParaRPr lang="en-US" sz="950" dirty="0"/>
          </a:p>
        </p:txBody>
      </p:sp>
      <p:sp>
        <p:nvSpPr>
          <p:cNvPr id="27" name="Shape 25"/>
          <p:cNvSpPr/>
          <p:nvPr/>
        </p:nvSpPr>
        <p:spPr>
          <a:xfrm>
            <a:off x="7040880" y="3337560"/>
            <a:ext cx="1051560" cy="566928"/>
          </a:xfrm>
          <a:prstGeom prst="roundRect">
            <a:avLst>
              <a:gd name="adj" fmla="val 12903"/>
            </a:avLst>
          </a:prstGeom>
          <a:solidFill>
            <a:srgbClr val="F2ECE1"/>
          </a:solidFill>
          <a:ln w="19050">
            <a:solidFill>
              <a:srgbClr val="D97A14"/>
            </a:solidFill>
            <a:prstDash val="solid"/>
          </a:ln>
        </p:spPr>
      </p:sp>
      <p:sp>
        <p:nvSpPr>
          <p:cNvPr id="28" name="Shape 26"/>
          <p:cNvSpPr/>
          <p:nvPr/>
        </p:nvSpPr>
        <p:spPr>
          <a:xfrm>
            <a:off x="7114032" y="3465576"/>
            <a:ext cx="310896" cy="310896"/>
          </a:xfrm>
          <a:prstGeom prst="ellipse">
            <a:avLst/>
          </a:prstGeom>
          <a:solidFill>
            <a:srgbClr val="D97A14"/>
          </a:solidFill>
          <a:ln w="15875">
            <a:solidFill>
              <a:srgbClr val="D97A14"/>
            </a:solidFill>
            <a:prstDash val="solid"/>
          </a:ln>
        </p:spPr>
      </p:sp>
      <p:sp>
        <p:nvSpPr>
          <p:cNvPr id="29" name="Text 27"/>
          <p:cNvSpPr txBox="1"/>
          <p:nvPr/>
        </p:nvSpPr>
        <p:spPr>
          <a:xfrm>
            <a:off x="7114032" y="3465576"/>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30" name="Text 28"/>
          <p:cNvSpPr txBox="1"/>
          <p:nvPr/>
        </p:nvSpPr>
        <p:spPr>
          <a:xfrm>
            <a:off x="7443216" y="333756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2</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B</a:t>
            </a:r>
            <a:endParaRPr lang="en-US" sz="950" dirty="0"/>
          </a:p>
        </p:txBody>
      </p:sp>
      <p:sp>
        <p:nvSpPr>
          <p:cNvPr id="31" name="Shape 29"/>
          <p:cNvSpPr/>
          <p:nvPr/>
        </p:nvSpPr>
        <p:spPr>
          <a:xfrm flipV="1">
            <a:off x="5303520" y="2112264"/>
            <a:ext cx="1417320" cy="768096"/>
          </a:xfrm>
          <a:prstGeom prst="line">
            <a:avLst/>
          </a:prstGeom>
          <a:noFill/>
          <a:ln w="25400">
            <a:solidFill>
              <a:srgbClr val="D97A14"/>
            </a:solidFill>
            <a:prstDash val="solid"/>
            <a:tailEnd type="triangle"/>
          </a:ln>
        </p:spPr>
      </p:sp>
      <p:sp>
        <p:nvSpPr>
          <p:cNvPr id="32" name="Shape 30"/>
          <p:cNvSpPr/>
          <p:nvPr/>
        </p:nvSpPr>
        <p:spPr>
          <a:xfrm>
            <a:off x="5303520" y="2880360"/>
            <a:ext cx="1417320" cy="740664"/>
          </a:xfrm>
          <a:prstGeom prst="line">
            <a:avLst/>
          </a:prstGeom>
          <a:noFill/>
          <a:ln w="25400">
            <a:solidFill>
              <a:srgbClr val="D97A14"/>
            </a:solidFill>
            <a:prstDash val="solid"/>
            <a:tailEnd type="triangle"/>
          </a:ln>
        </p:spPr>
      </p:sp>
      <p:sp>
        <p:nvSpPr>
          <p:cNvPr id="33" name="Text 31"/>
          <p:cNvSpPr txBox="1"/>
          <p:nvPr/>
        </p:nvSpPr>
        <p:spPr>
          <a:xfrm>
            <a:off x="5074920" y="1755648"/>
            <a:ext cx="1645920" cy="274320"/>
          </a:xfrm>
          <a:prstGeom prst="rect">
            <a:avLst/>
          </a:prstGeom>
          <a:noFill/>
          <a:ln/>
        </p:spPr>
        <p:txBody>
          <a:bodyPr wrap="square" lIns="0" tIns="0" rIns="0" bIns="0" rtlCol="0" anchor="ctr"/>
          <a:lstStyle/>
          <a:p>
            <a:pPr indent="0" marL="0">
              <a:buNone/>
            </a:pPr>
            <a:r>
              <a:rPr lang="en-US" sz="1000" i="1" dirty="0">
                <a:solidFill>
                  <a:srgbClr val="D97A14"/>
                </a:solidFill>
                <a:latin typeface="Calibri" pitchFamily="34" charset="0"/>
                <a:ea typeface="Calibri" pitchFamily="34" charset="-122"/>
                <a:cs typeface="Calibri" pitchFamily="34" charset="-120"/>
              </a:rPr>
              <a:t>perfect copy</a:t>
            </a:r>
            <a:endParaRPr lang="en-US" sz="1000" dirty="0"/>
          </a:p>
        </p:txBody>
      </p:sp>
      <p:sp>
        <p:nvSpPr>
          <p:cNvPr id="34" name="Text 32"/>
          <p:cNvSpPr txBox="1"/>
          <p:nvPr/>
        </p:nvSpPr>
        <p:spPr>
          <a:xfrm>
            <a:off x="3977640" y="4041648"/>
            <a:ext cx="4663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both shops see valid money - the same money</a:t>
            </a:r>
            <a:endParaRPr lang="en-US" sz="105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Perfect copies made digital cash impossible without a referee</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46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double-spend, solved in public</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shared ledger, one agreed order - no referee needed</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Satoshi's whitepaper names the problem in its second sentence; the answer is not better files but a public ledger every node keeps and orders together.</a:t>
            </a:r>
            <a:endParaRPr lang="en-US" sz="1250" dirty="0"/>
          </a:p>
        </p:txBody>
      </p:sp>
      <p:sp>
        <p:nvSpPr>
          <p:cNvPr id="7" name="Shape 5"/>
          <p:cNvSpPr/>
          <p:nvPr/>
        </p:nvSpPr>
        <p:spPr>
          <a:xfrm>
            <a:off x="457200" y="1636776"/>
            <a:ext cx="402336" cy="402336"/>
          </a:xfrm>
          <a:prstGeom prst="ellipse">
            <a:avLst/>
          </a:prstGeom>
          <a:solidFill>
            <a:srgbClr val="D97A14"/>
          </a:solidFill>
          <a:ln w="12700">
            <a:solidFill>
              <a:srgbClr val="D97A14"/>
            </a:solidFill>
            <a:prstDash val="solid"/>
          </a:ln>
        </p:spPr>
      </p:sp>
      <p:sp>
        <p:nvSpPr>
          <p:cNvPr id="8" name="Text 6"/>
          <p:cNvSpPr txBox="1"/>
          <p:nvPr/>
        </p:nvSpPr>
        <p:spPr>
          <a:xfrm>
            <a:off x="457200" y="1636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1024128" y="1600200"/>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Every payment is broadcast to every node</a:t>
            </a:r>
            <a:endParaRPr lang="en-US" sz="1150" dirty="0"/>
          </a:p>
        </p:txBody>
      </p:sp>
      <p:sp>
        <p:nvSpPr>
          <p:cNvPr id="10" name="Shape 8"/>
          <p:cNvSpPr/>
          <p:nvPr/>
        </p:nvSpPr>
        <p:spPr>
          <a:xfrm>
            <a:off x="457200" y="2295144"/>
            <a:ext cx="402336" cy="402336"/>
          </a:xfrm>
          <a:prstGeom prst="ellipse">
            <a:avLst/>
          </a:prstGeom>
          <a:solidFill>
            <a:srgbClr val="D97A14"/>
          </a:solidFill>
          <a:ln w="12700">
            <a:solidFill>
              <a:srgbClr val="D97A14"/>
            </a:solidFill>
            <a:prstDash val="solid"/>
          </a:ln>
        </p:spPr>
      </p:sp>
      <p:sp>
        <p:nvSpPr>
          <p:cNvPr id="11" name="Text 9"/>
          <p:cNvSpPr txBox="1"/>
          <p:nvPr/>
        </p:nvSpPr>
        <p:spPr>
          <a:xfrm>
            <a:off x="457200" y="22951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1024128" y="2258568"/>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Nodes agree on one order for all payments</a:t>
            </a:r>
            <a:endParaRPr lang="en-US" sz="1150" dirty="0"/>
          </a:p>
        </p:txBody>
      </p:sp>
      <p:sp>
        <p:nvSpPr>
          <p:cNvPr id="13" name="Shape 11"/>
          <p:cNvSpPr/>
          <p:nvPr/>
        </p:nvSpPr>
        <p:spPr>
          <a:xfrm>
            <a:off x="457200" y="2953512"/>
            <a:ext cx="402336" cy="402336"/>
          </a:xfrm>
          <a:prstGeom prst="ellipse">
            <a:avLst/>
          </a:prstGeom>
          <a:solidFill>
            <a:srgbClr val="D97A14"/>
          </a:solidFill>
          <a:ln w="12700">
            <a:solidFill>
              <a:srgbClr val="D97A14"/>
            </a:solidFill>
            <a:prstDash val="solid"/>
          </a:ln>
        </p:spPr>
      </p:sp>
      <p:sp>
        <p:nvSpPr>
          <p:cNvPr id="14" name="Text 12"/>
          <p:cNvSpPr txBox="1"/>
          <p:nvPr/>
        </p:nvSpPr>
        <p:spPr>
          <a:xfrm>
            <a:off x="457200" y="2953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024128" y="2916936"/>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first spend of a coin enters the block</a:t>
            </a:r>
            <a:endParaRPr lang="en-US" sz="1150" dirty="0"/>
          </a:p>
        </p:txBody>
      </p:sp>
      <p:sp>
        <p:nvSpPr>
          <p:cNvPr id="16" name="Shape 14"/>
          <p:cNvSpPr/>
          <p:nvPr/>
        </p:nvSpPr>
        <p:spPr>
          <a:xfrm>
            <a:off x="457200" y="3611880"/>
            <a:ext cx="402336" cy="402336"/>
          </a:xfrm>
          <a:prstGeom prst="ellipse">
            <a:avLst/>
          </a:prstGeom>
          <a:solidFill>
            <a:srgbClr val="D97A14"/>
          </a:solidFill>
          <a:ln w="12700">
            <a:solidFill>
              <a:srgbClr val="D97A14"/>
            </a:solidFill>
            <a:prstDash val="solid"/>
          </a:ln>
        </p:spPr>
      </p:sp>
      <p:sp>
        <p:nvSpPr>
          <p:cNvPr id="17" name="Text 15"/>
          <p:cNvSpPr txBox="1"/>
          <p:nvPr/>
        </p:nvSpPr>
        <p:spPr>
          <a:xfrm>
            <a:off x="457200" y="3611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txBox="1"/>
          <p:nvPr/>
        </p:nvSpPr>
        <p:spPr>
          <a:xfrm>
            <a:off x="1024128" y="3575304"/>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second is refused by every node, everywhere</a:t>
            </a:r>
            <a:endParaRPr lang="en-US" sz="1150" dirty="0"/>
          </a:p>
        </p:txBody>
      </p:sp>
      <p:sp>
        <p:nvSpPr>
          <p:cNvPr id="19" name="Shape 17"/>
          <p:cNvSpPr/>
          <p:nvPr/>
        </p:nvSpPr>
        <p:spPr>
          <a:xfrm>
            <a:off x="3566160" y="2596896"/>
            <a:ext cx="1051560" cy="566928"/>
          </a:xfrm>
          <a:prstGeom prst="roundRect">
            <a:avLst>
              <a:gd name="adj" fmla="val 12903"/>
            </a:avLst>
          </a:prstGeom>
          <a:solidFill>
            <a:srgbClr val="F2ECE1"/>
          </a:solidFill>
          <a:ln w="19050">
            <a:solidFill>
              <a:srgbClr val="2F6D62"/>
            </a:solidFill>
            <a:prstDash val="solid"/>
          </a:ln>
        </p:spPr>
      </p:sp>
      <p:sp>
        <p:nvSpPr>
          <p:cNvPr id="20" name="Shape 18"/>
          <p:cNvSpPr/>
          <p:nvPr/>
        </p:nvSpPr>
        <p:spPr>
          <a:xfrm>
            <a:off x="3639312" y="2724912"/>
            <a:ext cx="310896" cy="310896"/>
          </a:xfrm>
          <a:prstGeom prst="ellipse">
            <a:avLst/>
          </a:prstGeom>
          <a:solidFill>
            <a:srgbClr val="D97A14"/>
          </a:solidFill>
          <a:ln w="15875">
            <a:solidFill>
              <a:srgbClr val="D97A14"/>
            </a:solidFill>
            <a:prstDash val="solid"/>
          </a:ln>
        </p:spPr>
      </p:sp>
      <p:sp>
        <p:nvSpPr>
          <p:cNvPr id="21" name="Text 19"/>
          <p:cNvSpPr txBox="1"/>
          <p:nvPr/>
        </p:nvSpPr>
        <p:spPr>
          <a:xfrm>
            <a:off x="3639312" y="2724912"/>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396849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Alice's</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coin</a:t>
            </a:r>
            <a:endParaRPr lang="en-US" sz="950" dirty="0"/>
          </a:p>
        </p:txBody>
      </p:sp>
      <p:sp>
        <p:nvSpPr>
          <p:cNvPr id="23" name="Shape 21"/>
          <p:cNvSpPr/>
          <p:nvPr/>
        </p:nvSpPr>
        <p:spPr>
          <a:xfrm>
            <a:off x="5292547" y="1783080"/>
            <a:ext cx="1153973" cy="548640"/>
          </a:xfrm>
          <a:prstGeom prst="roundRect">
            <a:avLst>
              <a:gd name="adj" fmla="val 13333"/>
            </a:avLst>
          </a:prstGeom>
          <a:solidFill>
            <a:srgbClr val="F2ECE1"/>
          </a:solidFill>
          <a:ln w="19050">
            <a:solidFill>
              <a:srgbClr val="2F6D62"/>
            </a:solidFill>
            <a:prstDash val="solid"/>
          </a:ln>
        </p:spPr>
      </p:sp>
      <p:sp>
        <p:nvSpPr>
          <p:cNvPr id="24" name="Text 22"/>
          <p:cNvSpPr txBox="1"/>
          <p:nvPr/>
        </p:nvSpPr>
        <p:spPr>
          <a:xfrm>
            <a:off x="5365699" y="1783080"/>
            <a:ext cx="1007669"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Bob - seen first</a:t>
            </a:r>
            <a:endParaRPr lang="en-US" sz="1000" dirty="0"/>
          </a:p>
        </p:txBody>
      </p:sp>
      <p:sp>
        <p:nvSpPr>
          <p:cNvPr id="25" name="Shape 23"/>
          <p:cNvSpPr/>
          <p:nvPr/>
        </p:nvSpPr>
        <p:spPr>
          <a:xfrm>
            <a:off x="5292547" y="3429000"/>
            <a:ext cx="1153973" cy="548640"/>
          </a:xfrm>
          <a:prstGeom prst="roundRect">
            <a:avLst>
              <a:gd name="adj" fmla="val 13333"/>
            </a:avLst>
          </a:prstGeom>
          <a:solidFill>
            <a:srgbClr val="F2ECE1"/>
          </a:solidFill>
          <a:ln w="19050">
            <a:solidFill>
              <a:srgbClr val="D97A14"/>
            </a:solidFill>
            <a:prstDash val="solid"/>
          </a:ln>
        </p:spPr>
      </p:sp>
      <p:sp>
        <p:nvSpPr>
          <p:cNvPr id="26" name="Text 24"/>
          <p:cNvSpPr txBox="1"/>
          <p:nvPr/>
        </p:nvSpPr>
        <p:spPr>
          <a:xfrm>
            <a:off x="5365699" y="3429000"/>
            <a:ext cx="1007669"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Carol - same coin</a:t>
            </a:r>
            <a:endParaRPr lang="en-US" sz="1000" dirty="0"/>
          </a:p>
        </p:txBody>
      </p:sp>
      <p:sp>
        <p:nvSpPr>
          <p:cNvPr id="27" name="Shape 25"/>
          <p:cNvSpPr/>
          <p:nvPr/>
        </p:nvSpPr>
        <p:spPr>
          <a:xfrm flipV="1">
            <a:off x="4663440" y="2057400"/>
            <a:ext cx="537667" cy="822960"/>
          </a:xfrm>
          <a:prstGeom prst="line">
            <a:avLst/>
          </a:prstGeom>
          <a:noFill/>
          <a:ln w="22225">
            <a:solidFill>
              <a:srgbClr val="6E655C"/>
            </a:solidFill>
            <a:prstDash val="solid"/>
            <a:tailEnd type="triangle"/>
          </a:ln>
        </p:spPr>
      </p:sp>
      <p:sp>
        <p:nvSpPr>
          <p:cNvPr id="28" name="Shape 26"/>
          <p:cNvSpPr/>
          <p:nvPr/>
        </p:nvSpPr>
        <p:spPr>
          <a:xfrm>
            <a:off x="4663440" y="2880360"/>
            <a:ext cx="537667" cy="822960"/>
          </a:xfrm>
          <a:prstGeom prst="line">
            <a:avLst/>
          </a:prstGeom>
          <a:noFill/>
          <a:ln w="22225">
            <a:solidFill>
              <a:srgbClr val="6E655C"/>
            </a:solidFill>
            <a:prstDash val="solid"/>
            <a:tailEnd type="triangle"/>
          </a:ln>
        </p:spPr>
      </p:sp>
      <p:sp>
        <p:nvSpPr>
          <p:cNvPr id="29" name="Shape 27"/>
          <p:cNvSpPr/>
          <p:nvPr/>
        </p:nvSpPr>
        <p:spPr>
          <a:xfrm>
            <a:off x="6903720" y="1755648"/>
            <a:ext cx="1600200" cy="603504"/>
          </a:xfrm>
          <a:prstGeom prst="roundRect">
            <a:avLst>
              <a:gd name="adj" fmla="val 12121"/>
            </a:avLst>
          </a:prstGeom>
          <a:solidFill>
            <a:srgbClr val="2F6D62"/>
          </a:solidFill>
          <a:ln w="12700">
            <a:solidFill>
              <a:srgbClr val="2F6D62"/>
            </a:solidFill>
            <a:prstDash val="solid"/>
          </a:ln>
        </p:spPr>
      </p:sp>
      <p:sp>
        <p:nvSpPr>
          <p:cNvPr id="30" name="Text 28"/>
          <p:cNvSpPr txBox="1"/>
          <p:nvPr/>
        </p:nvSpPr>
        <p:spPr>
          <a:xfrm>
            <a:off x="6903720" y="1755648"/>
            <a:ext cx="1600200" cy="60350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into the block </a:t>
            </a:r>
            <a:r>
              <a:rPr lang="en-US" sz="1200" b="1" dirty="0">
                <a:solidFill>
                  <a:srgbClr val="FFFFFF"/>
                </a:solidFill>
                <a:latin typeface="Calibri" pitchFamily="34" charset="0"/>
                <a:ea typeface="Calibri" pitchFamily="34" charset="-122"/>
                <a:cs typeface="Calibri" pitchFamily="34" charset="-120"/>
              </a:rPr>
              <a:t>✓</a:t>
            </a:r>
            <a:endParaRPr lang="en-US" sz="1000" dirty="0"/>
          </a:p>
        </p:txBody>
      </p:sp>
      <p:sp>
        <p:nvSpPr>
          <p:cNvPr id="31" name="Shape 29"/>
          <p:cNvSpPr/>
          <p:nvPr/>
        </p:nvSpPr>
        <p:spPr>
          <a:xfrm>
            <a:off x="6903720" y="3401568"/>
            <a:ext cx="1600200" cy="603504"/>
          </a:xfrm>
          <a:prstGeom prst="roundRect">
            <a:avLst>
              <a:gd name="adj" fmla="val 12121"/>
            </a:avLst>
          </a:prstGeom>
          <a:solidFill>
            <a:srgbClr val="EFE6D6"/>
          </a:solidFill>
          <a:ln w="15875">
            <a:solidFill>
              <a:srgbClr val="D97A14"/>
            </a:solidFill>
            <a:prstDash val="solid"/>
          </a:ln>
        </p:spPr>
      </p:sp>
      <p:sp>
        <p:nvSpPr>
          <p:cNvPr id="32" name="Text 30"/>
          <p:cNvSpPr txBox="1"/>
          <p:nvPr/>
        </p:nvSpPr>
        <p:spPr>
          <a:xfrm>
            <a:off x="6949440" y="3401568"/>
            <a:ext cx="1508760" cy="603504"/>
          </a:xfrm>
          <a:prstGeom prst="rect">
            <a:avLst/>
          </a:prstGeom>
          <a:noFill/>
          <a:ln/>
        </p:spPr>
        <p:txBody>
          <a:bodyPr wrap="square" lIns="0" tIns="0" rIns="0" bIns="0" rtlCol="0" anchor="ctr"/>
          <a:lstStyle/>
          <a:p>
            <a:pPr algn="ctr" indent="0" marL="0">
              <a:buNone/>
            </a:pPr>
            <a:r>
              <a:rPr lang="en-US" sz="950" dirty="0">
                <a:solidFill>
                  <a:srgbClr val="D97A14"/>
                </a:solidFill>
                <a:latin typeface="Calibri" pitchFamily="34" charset="0"/>
                <a:ea typeface="Calibri" pitchFamily="34" charset="-122"/>
                <a:cs typeface="Calibri" pitchFamily="34" charset="-120"/>
              </a:rPr>
              <a:t>refused by every node </a:t>
            </a:r>
            <a:r>
              <a:rPr lang="en-US" sz="1200" b="1" dirty="0">
                <a:solidFill>
                  <a:srgbClr val="D97A14"/>
                </a:solidFill>
                <a:latin typeface="Calibri" pitchFamily="34" charset="0"/>
                <a:ea typeface="Calibri" pitchFamily="34" charset="-122"/>
                <a:cs typeface="Calibri" pitchFamily="34" charset="-120"/>
              </a:rPr>
              <a:t>✗</a:t>
            </a:r>
            <a:endParaRPr lang="en-US" sz="950" dirty="0"/>
          </a:p>
        </p:txBody>
      </p:sp>
      <p:sp>
        <p:nvSpPr>
          <p:cNvPr id="33" name="Shape 31"/>
          <p:cNvSpPr/>
          <p:nvPr/>
        </p:nvSpPr>
        <p:spPr>
          <a:xfrm>
            <a:off x="6446520" y="2057400"/>
            <a:ext cx="384048" cy="0"/>
          </a:xfrm>
          <a:prstGeom prst="line">
            <a:avLst/>
          </a:prstGeom>
          <a:noFill/>
          <a:ln w="25400">
            <a:solidFill>
              <a:srgbClr val="2F6D62"/>
            </a:solidFill>
            <a:prstDash val="solid"/>
            <a:tailEnd type="triangle"/>
          </a:ln>
        </p:spPr>
      </p:sp>
      <p:sp>
        <p:nvSpPr>
          <p:cNvPr id="34" name="Shape 32"/>
          <p:cNvSpPr/>
          <p:nvPr/>
        </p:nvSpPr>
        <p:spPr>
          <a:xfrm>
            <a:off x="6446520" y="3703320"/>
            <a:ext cx="384048" cy="0"/>
          </a:xfrm>
          <a:prstGeom prst="line">
            <a:avLst/>
          </a:prstGeom>
          <a:noFill/>
          <a:ln w="25400">
            <a:solidFill>
              <a:srgbClr val="D97A14"/>
            </a:solidFill>
            <a:prstDash val="solid"/>
            <a:tailEnd type="triangle"/>
          </a:ln>
        </p:spPr>
      </p:sp>
      <p:sp>
        <p:nvSpPr>
          <p:cNvPr id="35" name="Text 33"/>
          <p:cNvSpPr txBox="1"/>
          <p:nvPr/>
        </p:nvSpPr>
        <p:spPr>
          <a:xfrm>
            <a:off x="3383280" y="4041648"/>
            <a:ext cx="530352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every node hears both; the shared ledger keeps only one order</a:t>
            </a:r>
            <a:endParaRPr lang="en-US" sz="1050" dirty="0"/>
          </a:p>
        </p:txBody>
      </p:sp>
      <p:sp>
        <p:nvSpPr>
          <p:cNvPr id="36" name="Shape 34"/>
          <p:cNvSpPr/>
          <p:nvPr/>
        </p:nvSpPr>
        <p:spPr>
          <a:xfrm>
            <a:off x="457200" y="4636008"/>
            <a:ext cx="91440" cy="310896"/>
          </a:xfrm>
          <a:prstGeom prst="rect">
            <a:avLst/>
          </a:prstGeom>
          <a:solidFill>
            <a:srgbClr val="D97A14"/>
          </a:solidFill>
          <a:ln w="12700">
            <a:solidFill>
              <a:srgbClr val="D97A14"/>
            </a:solidFill>
            <a:prstDash val="solid"/>
          </a:ln>
        </p:spPr>
      </p:sp>
      <p:sp>
        <p:nvSpPr>
          <p:cNvPr id="37" name="Text 3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referee is everyone, and the whistle is arithmetic</a:t>
            </a:r>
            <a:endParaRPr lang="en-US" sz="1350" dirty="0"/>
          </a:p>
        </p:txBody>
      </p:sp>
      <p:sp>
        <p:nvSpPr>
          <p:cNvPr id="38" name="Text 3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46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One bitcoin divides into 100 million satoshis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unit and its divisions - run, not quoted</a:t>
            </a:r>
            <a:endParaRPr lang="en-US" sz="1300" dirty="0"/>
          </a:p>
        </p:txBody>
      </p:sp>
      <p:sp>
        <p:nvSpPr>
          <p:cNvPr id="6" name="Shape 4"/>
          <p:cNvSpPr/>
          <p:nvPr/>
        </p:nvSpPr>
        <p:spPr>
          <a:xfrm>
            <a:off x="457200" y="1371600"/>
            <a:ext cx="2426208"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 BTC</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the currency unit</a:t>
            </a:r>
            <a:endParaRPr lang="en-US" sz="1300" dirty="0"/>
          </a:p>
        </p:txBody>
      </p:sp>
      <p:sp>
        <p:nvSpPr>
          <p:cNvPr id="8" name="Shape 6"/>
          <p:cNvSpPr/>
          <p:nvPr/>
        </p:nvSpPr>
        <p:spPr>
          <a:xfrm>
            <a:off x="2938272" y="1897380"/>
            <a:ext cx="365760" cy="0"/>
          </a:xfrm>
          <a:prstGeom prst="line">
            <a:avLst/>
          </a:prstGeom>
          <a:noFill/>
          <a:ln w="25400">
            <a:solidFill>
              <a:srgbClr val="D97A14"/>
            </a:solidFill>
            <a:prstDash val="solid"/>
            <a:tailEnd type="triangle"/>
          </a:ln>
        </p:spPr>
      </p:sp>
      <p:sp>
        <p:nvSpPr>
          <p:cNvPr id="9" name="Shape 7"/>
          <p:cNvSpPr/>
          <p:nvPr/>
        </p:nvSpPr>
        <p:spPr>
          <a:xfrm>
            <a:off x="3358896" y="1371600"/>
            <a:ext cx="2426208"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3432048"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 mBTC</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millibitcoin</a:t>
            </a:r>
            <a:endParaRPr lang="en-US" sz="1300" dirty="0"/>
          </a:p>
        </p:txBody>
      </p:sp>
      <p:sp>
        <p:nvSpPr>
          <p:cNvPr id="11" name="Shape 9"/>
          <p:cNvSpPr/>
          <p:nvPr/>
        </p:nvSpPr>
        <p:spPr>
          <a:xfrm>
            <a:off x="5839968" y="1897380"/>
            <a:ext cx="365760" cy="0"/>
          </a:xfrm>
          <a:prstGeom prst="line">
            <a:avLst/>
          </a:prstGeom>
          <a:noFill/>
          <a:ln w="25400">
            <a:solidFill>
              <a:srgbClr val="D97A14"/>
            </a:solidFill>
            <a:prstDash val="solid"/>
            <a:tailEnd type="triangle"/>
          </a:ln>
        </p:spPr>
      </p:sp>
      <p:sp>
        <p:nvSpPr>
          <p:cNvPr id="12" name="Shape 10"/>
          <p:cNvSpPr/>
          <p:nvPr/>
        </p:nvSpPr>
        <p:spPr>
          <a:xfrm>
            <a:off x="6260592" y="1371600"/>
            <a:ext cx="2426208"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6333744"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100,000,000 sat</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the smallest unit</a:t>
            </a:r>
            <a:endParaRPr lang="en-US" sz="1300" dirty="0"/>
          </a:p>
        </p:txBody>
      </p:sp>
      <p:sp>
        <p:nvSpPr>
          <p:cNvPr id="14" name="Text 12"/>
          <p:cNvSpPr txBox="1"/>
          <p:nvPr/>
        </p:nvSpPr>
        <p:spPr>
          <a:xfrm>
            <a:off x="457200" y="2468880"/>
            <a:ext cx="33832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0.001 BTC, counted in satoshis</a:t>
            </a:r>
            <a:endParaRPr lang="en-US" sz="1150" dirty="0"/>
          </a:p>
        </p:txBody>
      </p:sp>
      <p:sp>
        <p:nvSpPr>
          <p:cNvPr id="15" name="Shape 13"/>
          <p:cNvSpPr/>
          <p:nvPr/>
        </p:nvSpPr>
        <p:spPr>
          <a:xfrm>
            <a:off x="457200" y="2743200"/>
            <a:ext cx="5120640" cy="1005840"/>
          </a:xfrm>
          <a:prstGeom prst="roundRect">
            <a:avLst>
              <a:gd name="adj" fmla="val 9091"/>
            </a:avLst>
          </a:prstGeom>
          <a:solidFill>
            <a:srgbClr val="23272E"/>
          </a:solidFill>
          <a:ln w="12700">
            <a:solidFill>
              <a:srgbClr val="23272E"/>
            </a:solidFill>
            <a:prstDash val="solid"/>
          </a:ln>
        </p:spPr>
      </p:sp>
      <p:sp>
        <p:nvSpPr>
          <p:cNvPr id="16" name="Text 14"/>
          <p:cNvSpPr txBox="1"/>
          <p:nvPr/>
        </p:nvSpPr>
        <p:spPr>
          <a:xfrm>
            <a:off x="640080" y="2862072"/>
            <a:ext cx="4754880" cy="76809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int(decimal.Decimal(</a:t>
            </a:r>
            <a:r>
              <a:rPr lang="en-US" sz="1100" dirty="0">
                <a:solidFill>
                  <a:srgbClr val="9ECBFF"/>
                </a:solidFill>
                <a:latin typeface="Courier New" pitchFamily="34" charset="0"/>
                <a:ea typeface="Courier New" pitchFamily="34" charset="-122"/>
                <a:cs typeface="Courier New" pitchFamily="34" charset="-120"/>
              </a:rPr>
              <a:t>'0.001'</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10</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8</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100000</a:t>
            </a:r>
            <a:endParaRPr lang="en-US" sz="1100" dirty="0"/>
          </a:p>
        </p:txBody>
      </p:sp>
      <p:sp>
        <p:nvSpPr>
          <p:cNvPr id="17" name="Text 15"/>
          <p:cNvSpPr txBox="1"/>
          <p:nvPr/>
        </p:nvSpPr>
        <p:spPr>
          <a:xfrm>
            <a:off x="3931920" y="24688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18" name="Image 0" descr="../../03-materials/ch01/assets/c2s07_fractions.jpg">    </p:cNvPr>
          <p:cNvPicPr>
            <a:picLocks noChangeAspect="1"/>
          </p:cNvPicPr>
          <p:nvPr/>
        </p:nvPicPr>
        <p:blipFill>
          <a:blip r:embed="rId1"/>
          <a:srcRect l="0" r="0" t="0" b="0"/>
          <a:stretch/>
        </p:blipFill>
        <p:spPr>
          <a:xfrm>
            <a:off x="5806440" y="2697480"/>
            <a:ext cx="2880360" cy="1600200"/>
          </a:xfrm>
          <a:prstGeom prst="rect">
            <a:avLst/>
          </a:prstGeom>
        </p:spPr>
      </p:pic>
      <p:sp>
        <p:nvSpPr>
          <p:cNvPr id="19" name="Text 16"/>
          <p:cNvSpPr txBox="1"/>
          <p:nvPr/>
        </p:nvSpPr>
        <p:spPr>
          <a:xfrm>
            <a:off x="5806440" y="4315968"/>
            <a:ext cx="28803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fraction table, 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here is counting, and the units are exact</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46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21 million, by rule - not by promise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Issuance halves every 210,000 blocks; the cap is the sum</a:t>
            </a:r>
            <a:endParaRPr lang="en-US" sz="1300" dirty="0"/>
          </a:p>
        </p:txBody>
      </p:sp>
      <p:graphicFrame>
        <p:nvGraphicFramePr>
          <p:cNvPr id="6" name="Chart 0" descr=""/>
          <p:cNvGraphicFramePr/>
          <p:nvPr/>
        </p:nvGraphicFramePr>
        <p:xfrm>
          <a:off x="457200" y="1325880"/>
          <a:ext cx="5120640" cy="3090672"/>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457200" y="4443984"/>
            <a:ext cx="5303520" cy="146304"/>
          </a:xfrm>
          <a:prstGeom prst="rect">
            <a:avLst/>
          </a:prstGeom>
          <a:noFill/>
          <a:ln/>
        </p:spPr>
        <p:txBody>
          <a:bodyPr wrap="square" lIns="0" tIns="0" rIns="0" bIns="0" rtlCol="0" anchor="t"/>
          <a:lstStyle/>
          <a:p>
            <a:pPr algn="l" indent="0" marL="0">
              <a:buNone/>
            </a:pPr>
            <a:r>
              <a:rPr lang="en-US" sz="800" i="1" dirty="0">
                <a:solidFill>
                  <a:srgbClr val="6E655C"/>
                </a:solidFill>
                <a:latin typeface="Calibri" pitchFamily="34" charset="0"/>
                <a:ea typeface="Calibri" pitchFamily="34" charset="-122"/>
                <a:cs typeface="Calibri" pitchFamily="34" charset="-120"/>
              </a:rPr>
              <a:t>dates = the chain's block timestamps; '~' = projected at the 10-minute target</a:t>
            </a:r>
            <a:endParaRPr lang="en-US" sz="800" dirty="0"/>
          </a:p>
        </p:txBody>
      </p:sp>
      <p:sp>
        <p:nvSpPr>
          <p:cNvPr id="8" name="Shape 5"/>
          <p:cNvSpPr/>
          <p:nvPr/>
        </p:nvSpPr>
        <p:spPr>
          <a:xfrm>
            <a:off x="5760720" y="1325880"/>
            <a:ext cx="2926080" cy="996696"/>
          </a:xfrm>
          <a:prstGeom prst="roundRect">
            <a:avLst>
              <a:gd name="adj" fmla="val 7339"/>
            </a:avLst>
          </a:prstGeom>
          <a:solidFill>
            <a:srgbClr val="F2ECE1"/>
          </a:solidFill>
          <a:ln w="12700">
            <a:solidFill>
              <a:srgbClr val="DFD6C7"/>
            </a:solidFill>
            <a:prstDash val="solid"/>
          </a:ln>
        </p:spPr>
      </p:sp>
      <p:sp>
        <p:nvSpPr>
          <p:cNvPr id="9" name="Text 6"/>
          <p:cNvSpPr txBox="1"/>
          <p:nvPr/>
        </p:nvSpPr>
        <p:spPr>
          <a:xfrm>
            <a:off x="5870448" y="1362456"/>
            <a:ext cx="2706624" cy="481706"/>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210,000</a:t>
            </a:r>
            <a:endParaRPr lang="en-US" sz="2600" dirty="0"/>
          </a:p>
        </p:txBody>
      </p:sp>
      <p:sp>
        <p:nvSpPr>
          <p:cNvPr id="10" name="Text 7"/>
          <p:cNvSpPr txBox="1"/>
          <p:nvPr/>
        </p:nvSpPr>
        <p:spPr>
          <a:xfrm>
            <a:off x="5870448" y="1844162"/>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blocks between halvings</a:t>
            </a:r>
            <a:endParaRPr lang="en-US" sz="1100" dirty="0"/>
          </a:p>
        </p:txBody>
      </p:sp>
      <p:sp>
        <p:nvSpPr>
          <p:cNvPr id="11" name="Shape 8"/>
          <p:cNvSpPr/>
          <p:nvPr/>
        </p:nvSpPr>
        <p:spPr>
          <a:xfrm>
            <a:off x="5760720" y="2450592"/>
            <a:ext cx="2926080" cy="996696"/>
          </a:xfrm>
          <a:prstGeom prst="roundRect">
            <a:avLst>
              <a:gd name="adj" fmla="val 7339"/>
            </a:avLst>
          </a:prstGeom>
          <a:solidFill>
            <a:srgbClr val="F2ECE1"/>
          </a:solidFill>
          <a:ln w="12700">
            <a:solidFill>
              <a:srgbClr val="DFD6C7"/>
            </a:solidFill>
            <a:prstDash val="solid"/>
          </a:ln>
        </p:spPr>
      </p:sp>
      <p:sp>
        <p:nvSpPr>
          <p:cNvPr id="12" name="Text 9"/>
          <p:cNvSpPr txBox="1"/>
          <p:nvPr/>
        </p:nvSpPr>
        <p:spPr>
          <a:xfrm>
            <a:off x="5870448" y="2487168"/>
            <a:ext cx="2706624" cy="481706"/>
          </a:xfrm>
          <a:prstGeom prst="rect">
            <a:avLst/>
          </a:prstGeom>
          <a:noFill/>
          <a:ln/>
        </p:spPr>
        <p:txBody>
          <a:bodyPr wrap="square" lIns="0" tIns="0" rIns="0" bIns="0" rtlCol="0" anchor="ctr"/>
          <a:lstStyle/>
          <a:p>
            <a:pPr indent="0" marL="0">
              <a:buNone/>
            </a:pPr>
            <a:r>
              <a:rPr lang="en-US" sz="2000" b="1" dirty="0">
                <a:solidFill>
                  <a:srgbClr val="D97A14"/>
                </a:solidFill>
                <a:latin typeface="Cambria" pitchFamily="34" charset="0"/>
                <a:ea typeface="Cambria" pitchFamily="34" charset="-122"/>
                <a:cs typeface="Cambria" pitchFamily="34" charset="-120"/>
              </a:rPr>
              <a:t>20999999.9769</a:t>
            </a:r>
            <a:endParaRPr lang="en-US" sz="2000" dirty="0"/>
          </a:p>
        </p:txBody>
      </p:sp>
      <p:sp>
        <p:nvSpPr>
          <p:cNvPr id="13" name="Text 10"/>
          <p:cNvSpPr txBox="1"/>
          <p:nvPr/>
        </p:nvSpPr>
        <p:spPr>
          <a:xfrm>
            <a:off x="5870448" y="2968874"/>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sum of every era's issuance</a:t>
            </a:r>
            <a:endParaRPr lang="en-US" sz="1100" dirty="0"/>
          </a:p>
        </p:txBody>
      </p:sp>
      <p:sp>
        <p:nvSpPr>
          <p:cNvPr id="14" name="Shape 11"/>
          <p:cNvSpPr/>
          <p:nvPr/>
        </p:nvSpPr>
        <p:spPr>
          <a:xfrm>
            <a:off x="5760720" y="3575304"/>
            <a:ext cx="2926080" cy="996696"/>
          </a:xfrm>
          <a:prstGeom prst="roundRect">
            <a:avLst>
              <a:gd name="adj" fmla="val 7339"/>
            </a:avLst>
          </a:prstGeom>
          <a:solidFill>
            <a:srgbClr val="F2ECE1"/>
          </a:solidFill>
          <a:ln w="12700">
            <a:solidFill>
              <a:srgbClr val="DFD6C7"/>
            </a:solidFill>
            <a:prstDash val="solid"/>
          </a:ln>
        </p:spPr>
      </p:sp>
      <p:sp>
        <p:nvSpPr>
          <p:cNvPr id="15" name="Text 12"/>
          <p:cNvSpPr txBox="1"/>
          <p:nvPr/>
        </p:nvSpPr>
        <p:spPr>
          <a:xfrm>
            <a:off x="5870448" y="3611880"/>
            <a:ext cx="2706624" cy="481706"/>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~2140</a:t>
            </a:r>
            <a:endParaRPr lang="en-US" sz="2600" dirty="0"/>
          </a:p>
        </p:txBody>
      </p:sp>
      <p:sp>
        <p:nvSpPr>
          <p:cNvPr id="16" name="Text 13"/>
          <p:cNvSpPr txBox="1"/>
          <p:nvPr/>
        </p:nvSpPr>
        <p:spPr>
          <a:xfrm>
            <a:off x="5870448" y="4093586"/>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year issuance ends</a:t>
            </a:r>
            <a:endParaRPr lang="en-US" sz="11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Scarcity is enforced by arithmetic every node checks</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46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schedule, executed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cap is an arithmetic fact - the slide computes it</a:t>
            </a:r>
            <a:endParaRPr lang="en-US" sz="1300" dirty="0"/>
          </a:p>
        </p:txBody>
      </p:sp>
      <p:sp>
        <p:nvSpPr>
          <p:cNvPr id="6" name="Shape 4"/>
          <p:cNvSpPr/>
          <p:nvPr/>
        </p:nvSpPr>
        <p:spPr>
          <a:xfrm>
            <a:off x="457200" y="133502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7955280" cy="27432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Shift 50 BTC right once per era, times 210,000 blocks, summed over 33 eras: the 20,999,999.9769 cap</a:t>
            </a:r>
            <a:endParaRPr lang="en-US" sz="950" dirty="0"/>
          </a:p>
        </p:txBody>
      </p:sp>
      <p:sp>
        <p:nvSpPr>
          <p:cNvPr id="8" name="Shape 6"/>
          <p:cNvSpPr/>
          <p:nvPr/>
        </p:nvSpPr>
        <p:spPr>
          <a:xfrm>
            <a:off x="457200" y="160934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536192"/>
            <a:ext cx="7955280" cy="27432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One shift for height 840,000 halves the subsidy to 3.125</a:t>
            </a:r>
            <a:endParaRPr lang="en-US" sz="950" dirty="0"/>
          </a:p>
        </p:txBody>
      </p:sp>
      <p:sp>
        <p:nvSpPr>
          <p:cNvPr id="10" name="Shape 8"/>
          <p:cNvSpPr/>
          <p:nvPr/>
        </p:nvSpPr>
        <p:spPr>
          <a:xfrm>
            <a:off x="457200" y="18836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1810512"/>
            <a:ext cx="7955280" cy="27432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Five heights at once show the whole staircase</a:t>
            </a:r>
            <a:endParaRPr lang="en-US" sz="950" dirty="0"/>
          </a:p>
        </p:txBody>
      </p:sp>
      <p:sp>
        <p:nvSpPr>
          <p:cNvPr id="12" name="Text 10"/>
          <p:cNvSpPr txBox="1"/>
          <p:nvPr/>
        </p:nvSpPr>
        <p:spPr>
          <a:xfrm>
            <a:off x="457200" y="2121408"/>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The cap, summed over 33 eras</a:t>
            </a:r>
            <a:endParaRPr lang="en-US" sz="1150" dirty="0"/>
          </a:p>
        </p:txBody>
      </p:sp>
      <p:sp>
        <p:nvSpPr>
          <p:cNvPr id="13" name="Shape 11"/>
          <p:cNvSpPr/>
          <p:nvPr/>
        </p:nvSpPr>
        <p:spPr>
          <a:xfrm>
            <a:off x="457200" y="2395728"/>
            <a:ext cx="8229600" cy="640080"/>
          </a:xfrm>
          <a:prstGeom prst="roundRect">
            <a:avLst>
              <a:gd name="adj" fmla="val 14286"/>
            </a:avLst>
          </a:prstGeom>
          <a:solidFill>
            <a:srgbClr val="23272E"/>
          </a:solidFill>
          <a:ln w="12700">
            <a:solidFill>
              <a:srgbClr val="23272E"/>
            </a:solidFill>
            <a:prstDash val="solid"/>
          </a:ln>
        </p:spPr>
      </p:sp>
      <p:sp>
        <p:nvSpPr>
          <p:cNvPr id="14" name="Text 12"/>
          <p:cNvSpPr txBox="1"/>
          <p:nvPr/>
        </p:nvSpPr>
        <p:spPr>
          <a:xfrm>
            <a:off x="640080" y="2514600"/>
            <a:ext cx="7863840" cy="40233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sum((</a:t>
            </a:r>
            <a:r>
              <a:rPr lang="en-US" sz="1100" dirty="0">
                <a:solidFill>
                  <a:srgbClr val="FFD28A"/>
                </a:solidFill>
                <a:latin typeface="Courier New" pitchFamily="34" charset="0"/>
                <a:ea typeface="Courier New" pitchFamily="34" charset="-122"/>
                <a:cs typeface="Courier New" pitchFamily="34" charset="-120"/>
              </a:rPr>
              <a:t>50</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10</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8</a:t>
            </a:r>
            <a:r>
              <a:rPr lang="en-US" sz="1100" dirty="0">
                <a:solidFill>
                  <a:srgbClr val="E6EDF3"/>
                </a:solidFill>
                <a:latin typeface="Courier New" pitchFamily="34" charset="0"/>
                <a:ea typeface="Courier New" pitchFamily="34" charset="-122"/>
                <a:cs typeface="Courier New" pitchFamily="34" charset="-120"/>
              </a:rPr>
              <a:t> &gt;&gt; era) * </a:t>
            </a:r>
            <a:r>
              <a:rPr lang="en-US" sz="1100" dirty="0">
                <a:solidFill>
                  <a:srgbClr val="FFD28A"/>
                </a:solidFill>
                <a:latin typeface="Courier New" pitchFamily="34" charset="0"/>
                <a:ea typeface="Courier New" pitchFamily="34" charset="-122"/>
                <a:cs typeface="Courier New" pitchFamily="34" charset="-120"/>
              </a:rPr>
              <a:t>210000</a:t>
            </a:r>
            <a:r>
              <a:rPr lang="en-US" sz="1100" dirty="0">
                <a:solidFill>
                  <a:srgbClr val="E6EDF3"/>
                </a:solidFill>
                <a:latin typeface="Courier New" pitchFamily="34" charset="0"/>
                <a:ea typeface="Courier New" pitchFamily="34" charset="-122"/>
                <a:cs typeface="Courier New" pitchFamily="34" charset="-120"/>
              </a:rPr>
              <a:t> </a:t>
            </a:r>
            <a:r>
              <a:rPr lang="en-US" sz="1100" b="1" dirty="0">
                <a:solidFill>
                  <a:srgbClr val="F2A860"/>
                </a:solidFill>
                <a:latin typeface="Courier New" pitchFamily="34" charset="0"/>
                <a:ea typeface="Courier New" pitchFamily="34" charset="-122"/>
                <a:cs typeface="Courier New" pitchFamily="34" charset="-120"/>
              </a:rPr>
              <a:t>for</a:t>
            </a:r>
            <a:r>
              <a:rPr lang="en-US" sz="1100" dirty="0">
                <a:solidFill>
                  <a:srgbClr val="E6EDF3"/>
                </a:solidFill>
                <a:latin typeface="Courier New" pitchFamily="34" charset="0"/>
                <a:ea typeface="Courier New" pitchFamily="34" charset="-122"/>
                <a:cs typeface="Courier New" pitchFamily="34" charset="-120"/>
              </a:rPr>
              <a:t> era </a:t>
            </a:r>
            <a:r>
              <a:rPr lang="en-US" sz="1100" b="1" dirty="0">
                <a:solidFill>
                  <a:srgbClr val="F2A860"/>
                </a:solidFill>
                <a:latin typeface="Courier New" pitchFamily="34" charset="0"/>
                <a:ea typeface="Courier New" pitchFamily="34" charset="-122"/>
                <a:cs typeface="Courier New" pitchFamily="34" charset="-120"/>
              </a:rPr>
              <a:t>in</a:t>
            </a:r>
            <a:r>
              <a:rPr lang="en-US" sz="1100" dirty="0">
                <a:solidFill>
                  <a:srgbClr val="E6EDF3"/>
                </a:solidFill>
                <a:latin typeface="Courier New" pitchFamily="34" charset="0"/>
                <a:ea typeface="Courier New" pitchFamily="34" charset="-122"/>
                <a:cs typeface="Courier New" pitchFamily="34" charset="-120"/>
              </a:rPr>
              <a:t> range(</a:t>
            </a:r>
            <a:r>
              <a:rPr lang="en-US" sz="1100" dirty="0">
                <a:solidFill>
                  <a:srgbClr val="FFD28A"/>
                </a:solidFill>
                <a:latin typeface="Courier New" pitchFamily="34" charset="0"/>
                <a:ea typeface="Courier New" pitchFamily="34" charset="-122"/>
                <a:cs typeface="Courier New" pitchFamily="34" charset="-120"/>
              </a:rPr>
              <a:t>33</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10</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20999999.9769</a:t>
            </a:r>
            <a:endParaRPr lang="en-US" sz="1100" dirty="0"/>
          </a:p>
        </p:txBody>
      </p:sp>
      <p:sp>
        <p:nvSpPr>
          <p:cNvPr id="15" name="Text 13"/>
          <p:cNvSpPr txBox="1"/>
          <p:nvPr/>
        </p:nvSpPr>
        <p:spPr>
          <a:xfrm>
            <a:off x="7040880" y="212140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Text 14"/>
          <p:cNvSpPr txBox="1"/>
          <p:nvPr/>
        </p:nvSpPr>
        <p:spPr>
          <a:xfrm>
            <a:off x="457200" y="292608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One halving = divide by two</a:t>
            </a:r>
            <a:endParaRPr lang="en-US" sz="1150" dirty="0"/>
          </a:p>
        </p:txBody>
      </p:sp>
      <p:sp>
        <p:nvSpPr>
          <p:cNvPr id="17" name="Shape 15"/>
          <p:cNvSpPr/>
          <p:nvPr/>
        </p:nvSpPr>
        <p:spPr>
          <a:xfrm>
            <a:off x="457200" y="3200400"/>
            <a:ext cx="8229600" cy="640080"/>
          </a:xfrm>
          <a:prstGeom prst="roundRect">
            <a:avLst>
              <a:gd name="adj" fmla="val 14286"/>
            </a:avLst>
          </a:prstGeom>
          <a:solidFill>
            <a:srgbClr val="23272E"/>
          </a:solidFill>
          <a:ln w="12700">
            <a:solidFill>
              <a:srgbClr val="23272E"/>
            </a:solidFill>
            <a:prstDash val="solid"/>
          </a:ln>
        </p:spPr>
      </p:sp>
      <p:sp>
        <p:nvSpPr>
          <p:cNvPr id="18" name="Text 16"/>
          <p:cNvSpPr txBox="1"/>
          <p:nvPr/>
        </p:nvSpPr>
        <p:spPr>
          <a:xfrm>
            <a:off x="640080" y="3319272"/>
            <a:ext cx="7863840" cy="40233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50</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10</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8</a:t>
            </a:r>
            <a:r>
              <a:rPr lang="en-US" sz="1100" dirty="0">
                <a:solidFill>
                  <a:srgbClr val="E6EDF3"/>
                </a:solidFill>
                <a:latin typeface="Courier New" pitchFamily="34" charset="0"/>
                <a:ea typeface="Courier New" pitchFamily="34" charset="-122"/>
                <a:cs typeface="Courier New" pitchFamily="34" charset="-120"/>
              </a:rPr>
              <a:t> &gt;&gt; </a:t>
            </a:r>
            <a:r>
              <a:rPr lang="en-US" sz="1100" dirty="0">
                <a:solidFill>
                  <a:srgbClr val="FFD28A"/>
                </a:solidFill>
                <a:latin typeface="Courier New" pitchFamily="34" charset="0"/>
                <a:ea typeface="Courier New" pitchFamily="34" charset="-122"/>
                <a:cs typeface="Courier New" pitchFamily="34" charset="-120"/>
              </a:rPr>
              <a:t>840000</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210000</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10</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3.125</a:t>
            </a:r>
            <a:endParaRPr lang="en-US" sz="1100" dirty="0"/>
          </a:p>
        </p:txBody>
      </p:sp>
      <p:sp>
        <p:nvSpPr>
          <p:cNvPr id="19" name="Text 17"/>
          <p:cNvSpPr txBox="1"/>
          <p:nvPr/>
        </p:nvSpPr>
        <p:spPr>
          <a:xfrm>
            <a:off x="7040880" y="29260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0" name="Text 18"/>
          <p:cNvSpPr txBox="1"/>
          <p:nvPr/>
        </p:nvSpPr>
        <p:spPr>
          <a:xfrm>
            <a:off x="457200" y="3694176"/>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3 - The subsidy at any block height</a:t>
            </a:r>
            <a:endParaRPr lang="en-US" sz="1150" dirty="0"/>
          </a:p>
        </p:txBody>
      </p:sp>
      <p:sp>
        <p:nvSpPr>
          <p:cNvPr id="21" name="Shape 19"/>
          <p:cNvSpPr/>
          <p:nvPr/>
        </p:nvSpPr>
        <p:spPr>
          <a:xfrm>
            <a:off x="457200" y="3968496"/>
            <a:ext cx="8229600" cy="557784"/>
          </a:xfrm>
          <a:prstGeom prst="roundRect">
            <a:avLst>
              <a:gd name="adj" fmla="val 16393"/>
            </a:avLst>
          </a:prstGeom>
          <a:solidFill>
            <a:srgbClr val="23272E"/>
          </a:solidFill>
          <a:ln w="12700">
            <a:solidFill>
              <a:srgbClr val="23272E"/>
            </a:solidFill>
            <a:prstDash val="solid"/>
          </a:ln>
        </p:spPr>
      </p:sp>
      <p:sp>
        <p:nvSpPr>
          <p:cNvPr id="22" name="Text 20"/>
          <p:cNvSpPr txBox="1"/>
          <p:nvPr/>
        </p:nvSpPr>
        <p:spPr>
          <a:xfrm>
            <a:off x="640080" y="4087368"/>
            <a:ext cx="7863840" cy="320040"/>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50</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10</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8</a:t>
            </a:r>
            <a:r>
              <a:rPr lang="en-US" sz="950" dirty="0">
                <a:solidFill>
                  <a:srgbClr val="E6EDF3"/>
                </a:solidFill>
                <a:latin typeface="Courier New" pitchFamily="34" charset="0"/>
                <a:ea typeface="Courier New" pitchFamily="34" charset="-122"/>
                <a:cs typeface="Courier New" pitchFamily="34" charset="-120"/>
              </a:rPr>
              <a:t> &gt;&gt; h // </a:t>
            </a:r>
            <a:r>
              <a:rPr lang="en-US" sz="950" dirty="0">
                <a:solidFill>
                  <a:srgbClr val="FFD28A"/>
                </a:solidFill>
                <a:latin typeface="Courier New" pitchFamily="34" charset="0"/>
                <a:ea typeface="Courier New" pitchFamily="34" charset="-122"/>
                <a:cs typeface="Courier New" pitchFamily="34" charset="-120"/>
              </a:rPr>
              <a:t>210000</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10</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8</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h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210000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420000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630000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840000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[50.0, 25.0, 12.5, 6.25, 3.125]</a:t>
            </a:r>
            <a:endParaRPr lang="en-US" sz="950" dirty="0"/>
          </a:p>
        </p:txBody>
      </p:sp>
      <p:sp>
        <p:nvSpPr>
          <p:cNvPr id="23" name="Text 21"/>
          <p:cNvSpPr txBox="1"/>
          <p:nvPr/>
        </p:nvSpPr>
        <p:spPr>
          <a:xfrm>
            <a:off x="7040880" y="3694176"/>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one-liners reproduce the whole monetary policy</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46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Price is discovered, not declared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 authority sets an exchange rate</a:t>
            </a:r>
            <a:endParaRPr lang="en-US" sz="1300" dirty="0"/>
          </a:p>
        </p:txBody>
      </p:sp>
      <p:sp>
        <p:nvSpPr>
          <p:cNvPr id="6" name="Shape 4"/>
          <p:cNvSpPr/>
          <p:nvPr/>
        </p:nvSpPr>
        <p:spPr>
          <a:xfrm>
            <a:off x="457200" y="1335024"/>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350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98448"/>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No authority quotes a rate: the first program just divides one trade's two amounts</a:t>
            </a:r>
            <a:endParaRPr lang="en-US" sz="950" dirty="0"/>
          </a:p>
        </p:txBody>
      </p:sp>
      <p:sp>
        <p:nvSpPr>
          <p:cNvPr id="9" name="Shape 7"/>
          <p:cNvSpPr/>
          <p:nvPr/>
        </p:nvSpPr>
        <p:spPr>
          <a:xfrm>
            <a:off x="457200" y="176936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693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2788"/>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The second weights every trade by its volume - one fair daily figure, as exchanges publish</a:t>
            </a:r>
            <a:endParaRPr lang="en-US" sz="950" dirty="0"/>
          </a:p>
        </p:txBody>
      </p:sp>
      <p:sp>
        <p:nvSpPr>
          <p:cNvPr id="12" name="Text 10"/>
          <p:cNvSpPr txBox="1"/>
          <p:nvPr/>
        </p:nvSpPr>
        <p:spPr>
          <a:xfrm>
            <a:off x="457200" y="2212848"/>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A price is a ratio of two quotes</a:t>
            </a:r>
            <a:endParaRPr lang="en-US" sz="1150" dirty="0"/>
          </a:p>
        </p:txBody>
      </p:sp>
      <p:sp>
        <p:nvSpPr>
          <p:cNvPr id="13" name="Shape 11"/>
          <p:cNvSpPr/>
          <p:nvPr/>
        </p:nvSpPr>
        <p:spPr>
          <a:xfrm>
            <a:off x="457200" y="2487168"/>
            <a:ext cx="8229600" cy="621792"/>
          </a:xfrm>
          <a:prstGeom prst="roundRect">
            <a:avLst>
              <a:gd name="adj" fmla="val 14706"/>
            </a:avLst>
          </a:prstGeom>
          <a:solidFill>
            <a:srgbClr val="23272E"/>
          </a:solidFill>
          <a:ln w="12700">
            <a:solidFill>
              <a:srgbClr val="23272E"/>
            </a:solidFill>
            <a:prstDash val="solid"/>
          </a:ln>
        </p:spPr>
      </p:sp>
      <p:sp>
        <p:nvSpPr>
          <p:cNvPr id="14" name="Text 12"/>
          <p:cNvSpPr txBox="1"/>
          <p:nvPr/>
        </p:nvSpPr>
        <p:spPr>
          <a:xfrm>
            <a:off x="640080" y="2606040"/>
            <a:ext cx="7863840" cy="384048"/>
          </a:xfrm>
          <a:prstGeom prst="rect">
            <a:avLst/>
          </a:prstGeom>
          <a:noFill/>
          <a:ln/>
        </p:spPr>
        <p:txBody>
          <a:bodyPr wrap="square" lIns="0" tIns="0" rIns="0" bIns="0" rtlCol="0" anchor="t"/>
          <a:lstStyle/>
          <a:p>
            <a:pPr indent="0" marL="0">
              <a:buNone/>
            </a:pPr>
            <a:r>
              <a:rPr lang="en-US" sz="1150" b="1" dirty="0">
                <a:solidFill>
                  <a:srgbClr val="D97A14"/>
                </a:solidFill>
                <a:latin typeface="Courier New" pitchFamily="34" charset="0"/>
                <a:ea typeface="Courier New" pitchFamily="34" charset="-122"/>
                <a:cs typeface="Courier New" pitchFamily="34" charset="-120"/>
              </a:rPr>
              <a:t>&gt;&gt;&gt; </a:t>
            </a:r>
            <a:r>
              <a:rPr lang="en-US" sz="1150" dirty="0">
                <a:solidFill>
                  <a:srgbClr val="E6EDF3"/>
                </a:solidFill>
                <a:latin typeface="Courier New" pitchFamily="34" charset="0"/>
                <a:ea typeface="Courier New" pitchFamily="34" charset="-122"/>
                <a:cs typeface="Courier New" pitchFamily="34" charset="-120"/>
              </a:rPr>
              <a:t>round(</a:t>
            </a:r>
            <a:r>
              <a:rPr lang="en-US" sz="1150" dirty="0">
                <a:solidFill>
                  <a:srgbClr val="FFD28A"/>
                </a:solidFill>
                <a:latin typeface="Courier New" pitchFamily="34" charset="0"/>
                <a:ea typeface="Courier New" pitchFamily="34" charset="-122"/>
                <a:cs typeface="Courier New" pitchFamily="34" charset="-120"/>
              </a:rPr>
              <a:t>0.001</a:t>
            </a:r>
            <a:r>
              <a:rPr lang="en-US" sz="1150" dirty="0">
                <a:solidFill>
                  <a:srgbClr val="E6EDF3"/>
                </a:solidFill>
                <a:latin typeface="Courier New" pitchFamily="34" charset="0"/>
                <a:ea typeface="Courier New" pitchFamily="34" charset="-122"/>
                <a:cs typeface="Courier New" pitchFamily="34" charset="-120"/>
              </a:rPr>
              <a:t> * </a:t>
            </a:r>
            <a:r>
              <a:rPr lang="en-US" sz="1150" dirty="0">
                <a:solidFill>
                  <a:srgbClr val="FFD28A"/>
                </a:solidFill>
                <a:latin typeface="Courier New" pitchFamily="34" charset="0"/>
                <a:ea typeface="Courier New" pitchFamily="34" charset="-122"/>
                <a:cs typeface="Courier New" pitchFamily="34" charset="-120"/>
              </a:rPr>
              <a:t>60000</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FD28A"/>
                </a:solidFill>
                <a:latin typeface="Courier New" pitchFamily="34" charset="0"/>
                <a:ea typeface="Courier New" pitchFamily="34" charset="-122"/>
                <a:cs typeface="Courier New" pitchFamily="34" charset="-120"/>
              </a:rPr>
              <a:t>2</a:t>
            </a: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60.0</a:t>
            </a:r>
            <a:endParaRPr lang="en-US" sz="1150" dirty="0"/>
          </a:p>
        </p:txBody>
      </p:sp>
      <p:sp>
        <p:nvSpPr>
          <p:cNvPr id="15" name="Text 13"/>
          <p:cNvSpPr txBox="1"/>
          <p:nvPr/>
        </p:nvSpPr>
        <p:spPr>
          <a:xfrm>
            <a:off x="7040880" y="221284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Text 14"/>
          <p:cNvSpPr txBox="1"/>
          <p:nvPr/>
        </p:nvSpPr>
        <p:spPr>
          <a:xfrm>
            <a:off x="457200" y="3182112"/>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A day summarised fairly, by volume</a:t>
            </a:r>
            <a:endParaRPr lang="en-US" sz="1150" dirty="0"/>
          </a:p>
        </p:txBody>
      </p:sp>
      <p:sp>
        <p:nvSpPr>
          <p:cNvPr id="17" name="Shape 15"/>
          <p:cNvSpPr/>
          <p:nvPr/>
        </p:nvSpPr>
        <p:spPr>
          <a:xfrm>
            <a:off x="457200" y="3456432"/>
            <a:ext cx="8229600" cy="868680"/>
          </a:xfrm>
          <a:prstGeom prst="roundRect">
            <a:avLst>
              <a:gd name="adj" fmla="val 10526"/>
            </a:avLst>
          </a:prstGeom>
          <a:solidFill>
            <a:srgbClr val="23272E"/>
          </a:solidFill>
          <a:ln w="12700">
            <a:solidFill>
              <a:srgbClr val="23272E"/>
            </a:solidFill>
            <a:prstDash val="solid"/>
          </a:ln>
        </p:spPr>
      </p:sp>
      <p:sp>
        <p:nvSpPr>
          <p:cNvPr id="18" name="Text 16"/>
          <p:cNvSpPr txBox="1"/>
          <p:nvPr/>
        </p:nvSpPr>
        <p:spPr>
          <a:xfrm>
            <a:off x="640080" y="3575304"/>
            <a:ext cx="7863840" cy="63093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sum(p * v </a:t>
            </a:r>
            <a:r>
              <a:rPr lang="en-US" sz="1050" b="1" dirty="0">
                <a:solidFill>
                  <a:srgbClr val="F2A860"/>
                </a:solidFill>
                <a:latin typeface="Courier New" pitchFamily="34" charset="0"/>
                <a:ea typeface="Courier New" pitchFamily="34" charset="-122"/>
                <a:cs typeface="Courier New" pitchFamily="34" charset="-120"/>
              </a:rPr>
              <a:t>for</a:t>
            </a:r>
            <a:r>
              <a:rPr lang="en-US" sz="1050" dirty="0">
                <a:solidFill>
                  <a:srgbClr val="E6EDF3"/>
                </a:solidFill>
                <a:latin typeface="Courier New" pitchFamily="34" charset="0"/>
                <a:ea typeface="Courier New" pitchFamily="34" charset="-122"/>
                <a:cs typeface="Courier New" pitchFamily="34" charset="-120"/>
              </a:rPr>
              <a:t> p, v </a:t>
            </a:r>
            <a:r>
              <a:rPr lang="en-US" sz="1050" b="1" dirty="0">
                <a:solidFill>
                  <a:srgbClr val="F2A860"/>
                </a:solidFill>
                <a:latin typeface="Courier New" pitchFamily="34" charset="0"/>
                <a:ea typeface="Courier New" pitchFamily="34" charset="-122"/>
                <a:cs typeface="Courier New" pitchFamily="34" charset="-120"/>
              </a:rPr>
              <a:t>in</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100</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3</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104</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a:t>
            </a:r>
            <a:r>
              <a:rPr lang="en-US" sz="1050" dirty="0">
                <a:solidFill>
                  <a:srgbClr val="E6EDF3"/>
                </a:solidFill>
                <a:latin typeface="Courier New" pitchFamily="34" charset="0"/>
                <a:ea typeface="Courier New" pitchFamily="34" charset="-122"/>
                <a:cs typeface="Courier New" pitchFamily="34" charset="-120"/>
              </a:rPr>
              <a:t>)]) / sum(v </a:t>
            </a:r>
            <a:r>
              <a:rPr lang="en-US" sz="1050" b="1" dirty="0">
                <a:solidFill>
                  <a:srgbClr val="F2A860"/>
                </a:solidFill>
                <a:latin typeface="Courier New" pitchFamily="34" charset="0"/>
                <a:ea typeface="Courier New" pitchFamily="34" charset="-122"/>
                <a:cs typeface="Courier New" pitchFamily="34" charset="-120"/>
              </a:rPr>
              <a:t>for</a:t>
            </a:r>
            <a:r>
              <a:rPr lang="en-US" sz="1050" dirty="0">
                <a:solidFill>
                  <a:srgbClr val="E6EDF3"/>
                </a:solidFill>
                <a:latin typeface="Courier New" pitchFamily="34" charset="0"/>
                <a:ea typeface="Courier New" pitchFamily="34" charset="-122"/>
                <a:cs typeface="Courier New" pitchFamily="34" charset="-120"/>
              </a:rPr>
              <a:t> p, v </a:t>
            </a:r>
            <a:r>
              <a:rPr lang="en-US" sz="1050" b="1" dirty="0">
                <a:solidFill>
                  <a:srgbClr val="F2A860"/>
                </a:solidFill>
                <a:latin typeface="Courier New" pitchFamily="34" charset="0"/>
                <a:ea typeface="Courier New" pitchFamily="34" charset="-122"/>
                <a:cs typeface="Courier New" pitchFamily="34" charset="-120"/>
              </a:rPr>
              <a:t>in</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100</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3</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104</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a:t>
            </a: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101.0</a:t>
            </a:r>
            <a:endParaRPr lang="en-US" sz="1050" dirty="0"/>
          </a:p>
        </p:txBody>
      </p:sp>
      <p:sp>
        <p:nvSpPr>
          <p:cNvPr id="19" name="Text 17"/>
          <p:cNvSpPr txBox="1"/>
          <p:nvPr/>
        </p:nvSpPr>
        <p:spPr>
          <a:xfrm>
            <a:off x="7040880" y="3182112"/>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 one sets the price; everyone does</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46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pizzas for ten thousand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22 May 2010</a:t>
            </a:r>
            <a:endParaRPr lang="en-US" sz="1300" dirty="0"/>
          </a:p>
        </p:txBody>
      </p:sp>
      <p:pic>
        <p:nvPicPr>
          <p:cNvPr id="6" name="Image 0" descr="../../03-materials/ch01/assets/photo_papa_johns_jacksonville.jpg">    </p:cNvPr>
          <p:cNvPicPr>
            <a:picLocks noChangeAspect="1"/>
          </p:cNvPicPr>
          <p:nvPr/>
        </p:nvPicPr>
        <p:blipFill>
          <a:blip r:embed="rId1"/>
          <a:srcRect l="0" r="0" t="0" b="0"/>
          <a:stretch/>
        </p:blipFill>
        <p:spPr>
          <a:xfrm>
            <a:off x="502920" y="2514600"/>
            <a:ext cx="2697480" cy="1143000"/>
          </a:xfrm>
          <a:prstGeom prst="rect">
            <a:avLst/>
          </a:prstGeom>
        </p:spPr>
      </p:pic>
      <p:sp>
        <p:nvSpPr>
          <p:cNvPr id="7" name="Text 4"/>
          <p:cNvSpPr txBox="1"/>
          <p:nvPr/>
        </p:nvSpPr>
        <p:spPr>
          <a:xfrm>
            <a:off x="502920" y="3675888"/>
            <a:ext cx="2697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Papa John's plaque - Sanjev Rajaram, CC0</a:t>
            </a:r>
            <a:endParaRPr lang="en-US" sz="900" dirty="0"/>
          </a:p>
        </p:txBody>
      </p:sp>
      <p:sp>
        <p:nvSpPr>
          <p:cNvPr id="8" name="Shape 5"/>
          <p:cNvSpPr/>
          <p:nvPr/>
        </p:nvSpPr>
        <p:spPr>
          <a:xfrm>
            <a:off x="457200" y="1371600"/>
            <a:ext cx="2743200" cy="1097280"/>
          </a:xfrm>
          <a:prstGeom prst="roundRect">
            <a:avLst>
              <a:gd name="adj" fmla="val 6667"/>
            </a:avLst>
          </a:prstGeom>
          <a:solidFill>
            <a:srgbClr val="F2ECE1"/>
          </a:solidFill>
          <a:ln w="12700">
            <a:solidFill>
              <a:srgbClr val="DFD6C7"/>
            </a:solidFill>
            <a:prstDash val="solid"/>
          </a:ln>
        </p:spPr>
      </p:sp>
      <p:sp>
        <p:nvSpPr>
          <p:cNvPr id="9" name="Text 6"/>
          <p:cNvSpPr txBox="1"/>
          <p:nvPr/>
        </p:nvSpPr>
        <p:spPr>
          <a:xfrm>
            <a:off x="566928" y="1444752"/>
            <a:ext cx="2523744" cy="475488"/>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10,000 BTC</a:t>
            </a:r>
            <a:endParaRPr lang="en-US" sz="2200" dirty="0"/>
          </a:p>
        </p:txBody>
      </p:sp>
      <p:sp>
        <p:nvSpPr>
          <p:cNvPr id="10" name="Text 7"/>
          <p:cNvSpPr txBox="1"/>
          <p:nvPr/>
        </p:nvSpPr>
        <p:spPr>
          <a:xfrm>
            <a:off x="566928" y="1942186"/>
            <a:ext cx="25237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offered on the bitcointalk forum by Laszlo Hanyecz</a:t>
            </a:r>
            <a:endParaRPr lang="en-US" sz="1150" dirty="0"/>
          </a:p>
        </p:txBody>
      </p:sp>
      <p:sp>
        <p:nvSpPr>
          <p:cNvPr id="11" name="Shape 8"/>
          <p:cNvSpPr/>
          <p:nvPr/>
        </p:nvSpPr>
        <p:spPr>
          <a:xfrm>
            <a:off x="3611880" y="1650492"/>
            <a:ext cx="128016" cy="128016"/>
          </a:xfrm>
          <a:prstGeom prst="diamond">
            <a:avLst/>
          </a:prstGeom>
          <a:solidFill>
            <a:srgbClr val="D97A14"/>
          </a:solidFill>
          <a:ln w="12700">
            <a:solidFill>
              <a:srgbClr val="D97A14"/>
            </a:solidFill>
            <a:prstDash val="solid"/>
          </a:ln>
        </p:spPr>
      </p:sp>
      <p:sp>
        <p:nvSpPr>
          <p:cNvPr id="12" name="Text 9"/>
          <p:cNvSpPr txBox="1"/>
          <p:nvPr/>
        </p:nvSpPr>
        <p:spPr>
          <a:xfrm>
            <a:off x="3886200" y="141732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For 18 months bitcoin ran with no known price at all</a:t>
            </a:r>
            <a:endParaRPr lang="en-US" sz="1300" dirty="0"/>
          </a:p>
        </p:txBody>
      </p:sp>
      <p:sp>
        <p:nvSpPr>
          <p:cNvPr id="13" name="Shape 10"/>
          <p:cNvSpPr/>
          <p:nvPr/>
        </p:nvSpPr>
        <p:spPr>
          <a:xfrm>
            <a:off x="3611880" y="2244852"/>
            <a:ext cx="128016" cy="128016"/>
          </a:xfrm>
          <a:prstGeom prst="diamond">
            <a:avLst/>
          </a:prstGeom>
          <a:solidFill>
            <a:srgbClr val="D97A14"/>
          </a:solidFill>
          <a:ln w="12700">
            <a:solidFill>
              <a:srgbClr val="D97A14"/>
            </a:solidFill>
            <a:prstDash val="solid"/>
          </a:ln>
        </p:spPr>
      </p:sp>
      <p:sp>
        <p:nvSpPr>
          <p:cNvPr id="14" name="Text 11"/>
          <p:cNvSpPr txBox="1"/>
          <p:nvPr/>
        </p:nvSpPr>
        <p:spPr>
          <a:xfrm>
            <a:off x="3886200" y="201168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Someone took the offer and ordered him two pizzas</a:t>
            </a:r>
            <a:endParaRPr lang="en-US" sz="1300" dirty="0"/>
          </a:p>
        </p:txBody>
      </p:sp>
      <p:sp>
        <p:nvSpPr>
          <p:cNvPr id="15" name="Shape 12"/>
          <p:cNvSpPr/>
          <p:nvPr/>
        </p:nvSpPr>
        <p:spPr>
          <a:xfrm>
            <a:off x="3611880" y="2839212"/>
            <a:ext cx="128016" cy="128016"/>
          </a:xfrm>
          <a:prstGeom prst="diamond">
            <a:avLst/>
          </a:prstGeom>
          <a:solidFill>
            <a:srgbClr val="D97A14"/>
          </a:solidFill>
          <a:ln w="12700">
            <a:solidFill>
              <a:srgbClr val="D97A14"/>
            </a:solidFill>
            <a:prstDash val="solid"/>
          </a:ln>
        </p:spPr>
      </p:sp>
      <p:sp>
        <p:nvSpPr>
          <p:cNvPr id="16" name="Text 13"/>
          <p:cNvSpPr txBox="1"/>
          <p:nvPr/>
        </p:nvSpPr>
        <p:spPr>
          <a:xfrm>
            <a:off x="3886200" y="260604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first commercial purchase gave bitcoin its first real price</a:t>
            </a:r>
            <a:endParaRPr lang="en-US" sz="1300" dirty="0"/>
          </a:p>
        </p:txBody>
      </p:sp>
      <p:sp>
        <p:nvSpPr>
          <p:cNvPr id="17" name="Shape 14"/>
          <p:cNvSpPr/>
          <p:nvPr/>
        </p:nvSpPr>
        <p:spPr>
          <a:xfrm>
            <a:off x="3611880" y="3433572"/>
            <a:ext cx="128016" cy="128016"/>
          </a:xfrm>
          <a:prstGeom prst="diamond">
            <a:avLst/>
          </a:prstGeom>
          <a:solidFill>
            <a:srgbClr val="D97A14"/>
          </a:solidFill>
          <a:ln w="12700">
            <a:solidFill>
              <a:srgbClr val="D97A14"/>
            </a:solidFill>
            <a:prstDash val="solid"/>
          </a:ln>
        </p:spPr>
      </p:sp>
      <p:sp>
        <p:nvSpPr>
          <p:cNvPr id="18" name="Text 15"/>
          <p:cNvSpPr txBox="1"/>
          <p:nvPr/>
        </p:nvSpPr>
        <p:spPr>
          <a:xfrm>
            <a:off x="3886200" y="320040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22 May is still celebrated as Bitcoin Pizza Day</a:t>
            </a:r>
            <a:endParaRPr lang="en-US" sz="1300" dirty="0"/>
          </a:p>
        </p:txBody>
      </p:sp>
      <p:sp>
        <p:nvSpPr>
          <p:cNvPr id="19" name="Shape 16"/>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Laszlo Hanyecz</a:t>
            </a:r>
            <a:endParaRPr lang="en-US" sz="750" dirty="0"/>
          </a:p>
        </p:txBody>
      </p:sp>
      <p:sp>
        <p:nvSpPr>
          <p:cNvPr id="21" name="Shape 18"/>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bitcointalk forum …</a:t>
            </a:r>
            <a:endParaRPr lang="en-US" sz="750" dirty="0"/>
          </a:p>
        </p:txBody>
      </p:sp>
      <p:sp>
        <p:nvSpPr>
          <p:cNvPr id="23" name="Shape 20"/>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4" name="Text 21"/>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2010-05-22</a:t>
            </a:r>
            <a:endParaRPr lang="en-US" sz="750" dirty="0"/>
          </a:p>
        </p:txBody>
      </p:sp>
      <p:sp>
        <p:nvSpPr>
          <p:cNvPr id="25" name="Shape 22"/>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6" name="Text 23"/>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Guinness: first Bitcoin purchase (record)</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guinnessworldrecords.com</a:t>
            </a:r>
            <a:endParaRPr lang="en-US" sz="750" dirty="0"/>
          </a:p>
        </p:txBody>
      </p:sp>
      <p:sp>
        <p:nvSpPr>
          <p:cNvPr id="27"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Price is discovered the first time someone pays</a:t>
            </a:r>
            <a:endParaRPr lang="en-US" sz="1350" dirty="0"/>
          </a:p>
        </p:txBody>
      </p:sp>
      <p:sp>
        <p:nvSpPr>
          <p:cNvPr id="29"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46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pizza, repriced every few years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documented milestones; the last point fetched for this deck</a:t>
            </a:r>
            <a:endParaRPr lang="en-US" sz="1300" dirty="0"/>
          </a:p>
        </p:txBody>
      </p:sp>
      <p:graphicFrame>
        <p:nvGraphicFramePr>
          <p:cNvPr id="6" name="Chart 0" descr=""/>
          <p:cNvGraphicFramePr/>
          <p:nvPr/>
        </p:nvGraphicFramePr>
        <p:xfrm>
          <a:off x="411480" y="1371600"/>
          <a:ext cx="594360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537960" y="1417320"/>
            <a:ext cx="2148840" cy="1078992"/>
          </a:xfrm>
          <a:prstGeom prst="roundRect">
            <a:avLst>
              <a:gd name="adj" fmla="val 6780"/>
            </a:avLst>
          </a:prstGeom>
          <a:solidFill>
            <a:srgbClr val="F2ECE1"/>
          </a:solidFill>
          <a:ln w="12700">
            <a:solidFill>
              <a:srgbClr val="DFD6C7"/>
            </a:solidFill>
            <a:prstDash val="solid"/>
          </a:ln>
        </p:spPr>
      </p:sp>
      <p:sp>
        <p:nvSpPr>
          <p:cNvPr id="8" name="Text 5"/>
          <p:cNvSpPr txBox="1"/>
          <p:nvPr/>
        </p:nvSpPr>
        <p:spPr>
          <a:xfrm>
            <a:off x="6647688" y="1453896"/>
            <a:ext cx="1929384" cy="524500"/>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$41</a:t>
            </a:r>
            <a:endParaRPr lang="en-US" sz="2600" dirty="0"/>
          </a:p>
        </p:txBody>
      </p:sp>
      <p:sp>
        <p:nvSpPr>
          <p:cNvPr id="9" name="Text 6"/>
          <p:cNvSpPr txBox="1"/>
          <p:nvPr/>
        </p:nvSpPr>
        <p:spPr>
          <a:xfrm>
            <a:off x="6647688" y="1978396"/>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pizzas' value in May 2010</a:t>
            </a:r>
            <a:endParaRPr lang="en-US" sz="1100" dirty="0"/>
          </a:p>
        </p:txBody>
      </p:sp>
      <p:sp>
        <p:nvSpPr>
          <p:cNvPr id="10" name="Shape 7"/>
          <p:cNvSpPr/>
          <p:nvPr/>
        </p:nvSpPr>
        <p:spPr>
          <a:xfrm>
            <a:off x="6537960" y="2624328"/>
            <a:ext cx="2148840" cy="1078992"/>
          </a:xfrm>
          <a:prstGeom prst="roundRect">
            <a:avLst>
              <a:gd name="adj" fmla="val 6780"/>
            </a:avLst>
          </a:prstGeom>
          <a:solidFill>
            <a:srgbClr val="F2ECE1"/>
          </a:solidFill>
          <a:ln w="12700">
            <a:solidFill>
              <a:srgbClr val="DFD6C7"/>
            </a:solidFill>
            <a:prstDash val="solid"/>
          </a:ln>
        </p:spPr>
      </p:sp>
      <p:sp>
        <p:nvSpPr>
          <p:cNvPr id="11" name="Text 8"/>
          <p:cNvSpPr txBox="1"/>
          <p:nvPr/>
        </p:nvSpPr>
        <p:spPr>
          <a:xfrm>
            <a:off x="6647688" y="2660904"/>
            <a:ext cx="1929384" cy="524500"/>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$854M</a:t>
            </a:r>
            <a:endParaRPr lang="en-US" sz="2600" dirty="0"/>
          </a:p>
        </p:txBody>
      </p:sp>
      <p:sp>
        <p:nvSpPr>
          <p:cNvPr id="12" name="Text 9"/>
          <p:cNvSpPr txBox="1"/>
          <p:nvPr/>
        </p:nvSpPr>
        <p:spPr>
          <a:xfrm>
            <a:off x="6647688" y="3185404"/>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same 10,000 BTC on 2026-10-06, two APIs agreeing</a:t>
            </a:r>
            <a:endParaRPr lang="en-US" sz="1100" dirty="0"/>
          </a:p>
        </p:txBody>
      </p:sp>
      <p:sp>
        <p:nvSpPr>
          <p:cNvPr id="13" name="Shape 10"/>
          <p:cNvSpPr/>
          <p:nvPr/>
        </p:nvSpPr>
        <p:spPr>
          <a:xfrm>
            <a:off x="6537960" y="3931920"/>
            <a:ext cx="2103120" cy="402336"/>
          </a:xfrm>
          <a:prstGeom prst="roundRect">
            <a:avLst>
              <a:gd name="adj" fmla="val 50000"/>
            </a:avLst>
          </a:prstGeom>
          <a:solidFill>
            <a:srgbClr val="2F6D62"/>
          </a:solidFill>
          <a:ln w="12700">
            <a:solidFill>
              <a:srgbClr val="2F6D62"/>
            </a:solidFill>
            <a:prstDash val="solid"/>
          </a:ln>
        </p:spPr>
      </p:sp>
      <p:sp>
        <p:nvSpPr>
          <p:cNvPr id="14" name="Text 11"/>
          <p:cNvSpPr txBox="1"/>
          <p:nvPr/>
        </p:nvSpPr>
        <p:spPr>
          <a:xfrm>
            <a:off x="6537960" y="3931920"/>
            <a:ext cx="2103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each step x10</a:t>
            </a:r>
            <a:endParaRPr lang="en-US" sz="130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From 41 dollars to 854 million - price discovery never stopped</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46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Network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bank in the middle - and what replaces it</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Peer-to-peer</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Consensus</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Mining</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History</a:t>
            </a:r>
            <a:endParaRPr lang="en-US" sz="1400" dirty="0"/>
          </a:p>
        </p:txBody>
      </p:sp>
      <p:pic>
        <p:nvPicPr>
          <p:cNvPr id="14" name="Image 0" descr="../../03-materials/ch01/assets/c1s18_circulation.png">    </p:cNvPr>
          <p:cNvPicPr>
            <a:picLocks noChangeAspect="1"/>
          </p:cNvPicPr>
          <p:nvPr/>
        </p:nvPicPr>
        <p:blipFill>
          <a:blip r:embed="rId1"/>
          <a:srcRect l="0" r="0" t="0" b="0"/>
          <a:stretch/>
        </p:blipFill>
        <p:spPr>
          <a:xfrm>
            <a:off x="5943600" y="1828800"/>
            <a:ext cx="2834640" cy="2560320"/>
          </a:xfrm>
          <a:prstGeom prst="rect">
            <a:avLst/>
          </a:prstGeom>
        </p:spPr>
      </p:pic>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46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bank in the middle vs. peers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Decentralisation is an architecture, not a slogan</a:t>
            </a:r>
            <a:endParaRPr lang="en-US" sz="1300" dirty="0"/>
          </a:p>
        </p:txBody>
      </p:sp>
      <p:sp>
        <p:nvSpPr>
          <p:cNvPr id="6" name="Shape 4"/>
          <p:cNvSpPr/>
          <p:nvPr/>
        </p:nvSpPr>
        <p:spPr>
          <a:xfrm>
            <a:off x="457200" y="1325880"/>
            <a:ext cx="3931920" cy="3017520"/>
          </a:xfrm>
          <a:prstGeom prst="roundRect">
            <a:avLst>
              <a:gd name="adj" fmla="val 3030"/>
            </a:avLst>
          </a:prstGeom>
          <a:solidFill>
            <a:srgbClr val="F2ECE1"/>
          </a:solidFill>
          <a:ln w="12700">
            <a:solidFill>
              <a:srgbClr val="DFD6C7"/>
            </a:solidFill>
            <a:prstDash val="solid"/>
          </a:ln>
        </p:spPr>
      </p:sp>
      <p:sp>
        <p:nvSpPr>
          <p:cNvPr id="7" name="Text 5"/>
          <p:cNvSpPr txBox="1"/>
          <p:nvPr/>
        </p:nvSpPr>
        <p:spPr>
          <a:xfrm>
            <a:off x="594360" y="1399032"/>
            <a:ext cx="3657600" cy="365760"/>
          </a:xfrm>
          <a:prstGeom prst="rect">
            <a:avLst/>
          </a:prstGeom>
          <a:noFill/>
          <a:ln/>
        </p:spPr>
        <p:txBody>
          <a:bodyPr wrap="square" lIns="0" tIns="0" rIns="0" bIns="0" rtlCol="0" anchor="ctr"/>
          <a:lstStyle/>
          <a:p>
            <a:pPr indent="0" marL="0">
              <a:buNone/>
            </a:pPr>
            <a:r>
              <a:rPr lang="en-US" sz="1350" b="1" dirty="0">
                <a:solidFill>
                  <a:srgbClr val="6E655C"/>
                </a:solidFill>
                <a:latin typeface="Cambria" pitchFamily="34" charset="0"/>
                <a:ea typeface="Cambria" pitchFamily="34" charset="-122"/>
                <a:cs typeface="Cambria" pitchFamily="34" charset="-120"/>
              </a:rPr>
              <a:t>Centralised: one ledger-keeper</a:t>
            </a:r>
            <a:endParaRPr lang="en-US" sz="1350" dirty="0"/>
          </a:p>
        </p:txBody>
      </p:sp>
      <p:sp>
        <p:nvSpPr>
          <p:cNvPr id="8" name="Shape 6"/>
          <p:cNvSpPr/>
          <p:nvPr/>
        </p:nvSpPr>
        <p:spPr>
          <a:xfrm>
            <a:off x="2423160" y="2098548"/>
            <a:ext cx="0" cy="896112"/>
          </a:xfrm>
          <a:prstGeom prst="line">
            <a:avLst/>
          </a:prstGeom>
          <a:noFill/>
          <a:ln w="13970">
            <a:solidFill>
              <a:srgbClr val="DFD6C7"/>
            </a:solidFill>
            <a:prstDash val="solid"/>
          </a:ln>
        </p:spPr>
      </p:sp>
      <p:sp>
        <p:nvSpPr>
          <p:cNvPr id="9" name="Shape 7"/>
          <p:cNvSpPr/>
          <p:nvPr/>
        </p:nvSpPr>
        <p:spPr>
          <a:xfrm>
            <a:off x="2231136" y="1906524"/>
            <a:ext cx="384048" cy="384048"/>
          </a:xfrm>
          <a:prstGeom prst="ellipse">
            <a:avLst/>
          </a:prstGeom>
          <a:solidFill>
            <a:srgbClr val="6E655C"/>
          </a:solidFill>
          <a:ln w="9525">
            <a:solidFill>
              <a:srgbClr val="6E655C"/>
            </a:solidFill>
            <a:prstDash val="solid"/>
          </a:ln>
        </p:spPr>
      </p:sp>
      <p:sp>
        <p:nvSpPr>
          <p:cNvPr id="10" name="Shape 8"/>
          <p:cNvSpPr/>
          <p:nvPr/>
        </p:nvSpPr>
        <p:spPr>
          <a:xfrm flipV="1">
            <a:off x="2423160" y="2546604"/>
            <a:ext cx="776056" cy="448056"/>
          </a:xfrm>
          <a:prstGeom prst="line">
            <a:avLst/>
          </a:prstGeom>
          <a:noFill/>
          <a:ln w="13970">
            <a:solidFill>
              <a:srgbClr val="DFD6C7"/>
            </a:solidFill>
            <a:prstDash val="solid"/>
          </a:ln>
        </p:spPr>
      </p:sp>
      <p:sp>
        <p:nvSpPr>
          <p:cNvPr id="11" name="Shape 9"/>
          <p:cNvSpPr/>
          <p:nvPr/>
        </p:nvSpPr>
        <p:spPr>
          <a:xfrm>
            <a:off x="3007192" y="2354580"/>
            <a:ext cx="384048" cy="384048"/>
          </a:xfrm>
          <a:prstGeom prst="ellipse">
            <a:avLst/>
          </a:prstGeom>
          <a:solidFill>
            <a:srgbClr val="6E655C"/>
          </a:solidFill>
          <a:ln w="9525">
            <a:solidFill>
              <a:srgbClr val="6E655C"/>
            </a:solidFill>
            <a:prstDash val="solid"/>
          </a:ln>
        </p:spPr>
      </p:sp>
      <p:sp>
        <p:nvSpPr>
          <p:cNvPr id="12" name="Shape 10"/>
          <p:cNvSpPr/>
          <p:nvPr/>
        </p:nvSpPr>
        <p:spPr>
          <a:xfrm>
            <a:off x="2423160" y="2994660"/>
            <a:ext cx="776056" cy="448056"/>
          </a:xfrm>
          <a:prstGeom prst="line">
            <a:avLst/>
          </a:prstGeom>
          <a:noFill/>
          <a:ln w="13970">
            <a:solidFill>
              <a:srgbClr val="DFD6C7"/>
            </a:solidFill>
            <a:prstDash val="solid"/>
          </a:ln>
        </p:spPr>
      </p:sp>
      <p:sp>
        <p:nvSpPr>
          <p:cNvPr id="13" name="Shape 11"/>
          <p:cNvSpPr/>
          <p:nvPr/>
        </p:nvSpPr>
        <p:spPr>
          <a:xfrm>
            <a:off x="3007192" y="3250692"/>
            <a:ext cx="384048" cy="384048"/>
          </a:xfrm>
          <a:prstGeom prst="ellipse">
            <a:avLst/>
          </a:prstGeom>
          <a:solidFill>
            <a:srgbClr val="6E655C"/>
          </a:solidFill>
          <a:ln w="9525">
            <a:solidFill>
              <a:srgbClr val="6E655C"/>
            </a:solidFill>
            <a:prstDash val="solid"/>
          </a:ln>
        </p:spPr>
      </p:sp>
      <p:sp>
        <p:nvSpPr>
          <p:cNvPr id="14" name="Shape 12"/>
          <p:cNvSpPr/>
          <p:nvPr/>
        </p:nvSpPr>
        <p:spPr>
          <a:xfrm flipV="1">
            <a:off x="2423160" y="2994660"/>
            <a:ext cx="0" cy="896112"/>
          </a:xfrm>
          <a:prstGeom prst="line">
            <a:avLst/>
          </a:prstGeom>
          <a:noFill/>
          <a:ln w="13970">
            <a:solidFill>
              <a:srgbClr val="DFD6C7"/>
            </a:solidFill>
            <a:prstDash val="solid"/>
          </a:ln>
        </p:spPr>
      </p:sp>
      <p:sp>
        <p:nvSpPr>
          <p:cNvPr id="15" name="Shape 13"/>
          <p:cNvSpPr/>
          <p:nvPr/>
        </p:nvSpPr>
        <p:spPr>
          <a:xfrm>
            <a:off x="2231136" y="3698748"/>
            <a:ext cx="384048" cy="384048"/>
          </a:xfrm>
          <a:prstGeom prst="ellipse">
            <a:avLst/>
          </a:prstGeom>
          <a:solidFill>
            <a:srgbClr val="6E655C"/>
          </a:solidFill>
          <a:ln w="9525">
            <a:solidFill>
              <a:srgbClr val="6E655C"/>
            </a:solidFill>
            <a:prstDash val="solid"/>
          </a:ln>
        </p:spPr>
      </p:sp>
      <p:sp>
        <p:nvSpPr>
          <p:cNvPr id="16" name="Shape 14"/>
          <p:cNvSpPr/>
          <p:nvPr/>
        </p:nvSpPr>
        <p:spPr>
          <a:xfrm flipH="1">
            <a:off x="1647104" y="2994660"/>
            <a:ext cx="776056" cy="448056"/>
          </a:xfrm>
          <a:prstGeom prst="line">
            <a:avLst/>
          </a:prstGeom>
          <a:noFill/>
          <a:ln w="13970">
            <a:solidFill>
              <a:srgbClr val="DFD6C7"/>
            </a:solidFill>
            <a:prstDash val="solid"/>
          </a:ln>
        </p:spPr>
      </p:sp>
      <p:sp>
        <p:nvSpPr>
          <p:cNvPr id="17" name="Shape 15"/>
          <p:cNvSpPr/>
          <p:nvPr/>
        </p:nvSpPr>
        <p:spPr>
          <a:xfrm>
            <a:off x="1455080" y="3250692"/>
            <a:ext cx="384048" cy="384048"/>
          </a:xfrm>
          <a:prstGeom prst="ellipse">
            <a:avLst/>
          </a:prstGeom>
          <a:solidFill>
            <a:srgbClr val="6E655C"/>
          </a:solidFill>
          <a:ln w="9525">
            <a:solidFill>
              <a:srgbClr val="6E655C"/>
            </a:solidFill>
            <a:prstDash val="solid"/>
          </a:ln>
        </p:spPr>
      </p:sp>
      <p:sp>
        <p:nvSpPr>
          <p:cNvPr id="18" name="Shape 16"/>
          <p:cNvSpPr/>
          <p:nvPr/>
        </p:nvSpPr>
        <p:spPr>
          <a:xfrm flipH="1" flipV="1">
            <a:off x="1647104" y="2546604"/>
            <a:ext cx="776056" cy="448056"/>
          </a:xfrm>
          <a:prstGeom prst="line">
            <a:avLst/>
          </a:prstGeom>
          <a:noFill/>
          <a:ln w="13970">
            <a:solidFill>
              <a:srgbClr val="DFD6C7"/>
            </a:solidFill>
            <a:prstDash val="solid"/>
          </a:ln>
        </p:spPr>
      </p:sp>
      <p:sp>
        <p:nvSpPr>
          <p:cNvPr id="19" name="Shape 17"/>
          <p:cNvSpPr/>
          <p:nvPr/>
        </p:nvSpPr>
        <p:spPr>
          <a:xfrm>
            <a:off x="1455080" y="2354580"/>
            <a:ext cx="384048" cy="384048"/>
          </a:xfrm>
          <a:prstGeom prst="ellipse">
            <a:avLst/>
          </a:prstGeom>
          <a:solidFill>
            <a:srgbClr val="6E655C"/>
          </a:solidFill>
          <a:ln w="9525">
            <a:solidFill>
              <a:srgbClr val="6E655C"/>
            </a:solidFill>
            <a:prstDash val="solid"/>
          </a:ln>
        </p:spPr>
      </p:sp>
      <p:sp>
        <p:nvSpPr>
          <p:cNvPr id="20" name="Shape 18"/>
          <p:cNvSpPr/>
          <p:nvPr/>
        </p:nvSpPr>
        <p:spPr>
          <a:xfrm>
            <a:off x="2121408" y="2692908"/>
            <a:ext cx="603504" cy="603504"/>
          </a:xfrm>
          <a:prstGeom prst="ellipse">
            <a:avLst/>
          </a:prstGeom>
          <a:solidFill>
            <a:srgbClr val="2B2622"/>
          </a:solidFill>
          <a:ln w="19050">
            <a:solidFill>
              <a:srgbClr val="D97A14"/>
            </a:solidFill>
            <a:prstDash val="solid"/>
          </a:ln>
        </p:spPr>
      </p:sp>
      <p:sp>
        <p:nvSpPr>
          <p:cNvPr id="21" name="Text 19"/>
          <p:cNvSpPr txBox="1"/>
          <p:nvPr/>
        </p:nvSpPr>
        <p:spPr>
          <a:xfrm>
            <a:off x="1965960" y="2692908"/>
            <a:ext cx="914400" cy="6035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Bank</a:t>
            </a:r>
            <a:endParaRPr lang="en-US" sz="1100" dirty="0"/>
          </a:p>
        </p:txBody>
      </p:sp>
      <p:sp>
        <p:nvSpPr>
          <p:cNvPr id="22" name="Shape 20"/>
          <p:cNvSpPr/>
          <p:nvPr/>
        </p:nvSpPr>
        <p:spPr>
          <a:xfrm>
            <a:off x="4754880" y="1325880"/>
            <a:ext cx="3931920" cy="3017520"/>
          </a:xfrm>
          <a:prstGeom prst="roundRect">
            <a:avLst>
              <a:gd name="adj" fmla="val 3030"/>
            </a:avLst>
          </a:prstGeom>
          <a:solidFill>
            <a:srgbClr val="F2ECE1"/>
          </a:solidFill>
          <a:ln w="12700">
            <a:solidFill>
              <a:srgbClr val="DFD6C7"/>
            </a:solidFill>
            <a:prstDash val="solid"/>
          </a:ln>
        </p:spPr>
      </p:sp>
      <p:sp>
        <p:nvSpPr>
          <p:cNvPr id="23" name="Text 21"/>
          <p:cNvSpPr txBox="1"/>
          <p:nvPr/>
        </p:nvSpPr>
        <p:spPr>
          <a:xfrm>
            <a:off x="4892040" y="1399032"/>
            <a:ext cx="3657600" cy="365760"/>
          </a:xfrm>
          <a:prstGeom prst="rect">
            <a:avLst/>
          </a:prstGeom>
          <a:noFill/>
          <a:ln/>
        </p:spPr>
        <p:txBody>
          <a:bodyPr wrap="square" lIns="0" tIns="0" rIns="0" bIns="0" rtlCol="0" anchor="ctr"/>
          <a:lstStyle/>
          <a:p>
            <a:pPr indent="0" marL="0">
              <a:buNone/>
            </a:pPr>
            <a:r>
              <a:rPr lang="en-US" sz="1350" b="1" dirty="0">
                <a:solidFill>
                  <a:srgbClr val="D97A14"/>
                </a:solidFill>
                <a:latin typeface="Cambria" pitchFamily="34" charset="0"/>
                <a:ea typeface="Cambria" pitchFamily="34" charset="-122"/>
                <a:cs typeface="Cambria" pitchFamily="34" charset="-120"/>
              </a:rPr>
              <a:t>Bitcoin: every node checks every rule</a:t>
            </a:r>
            <a:endParaRPr lang="en-US" sz="1350" dirty="0"/>
          </a:p>
        </p:txBody>
      </p:sp>
      <p:sp>
        <p:nvSpPr>
          <p:cNvPr id="24" name="Shape 22"/>
          <p:cNvSpPr/>
          <p:nvPr/>
        </p:nvSpPr>
        <p:spPr>
          <a:xfrm>
            <a:off x="6720840" y="2098548"/>
            <a:ext cx="633647" cy="262465"/>
          </a:xfrm>
          <a:prstGeom prst="line">
            <a:avLst/>
          </a:prstGeom>
          <a:noFill/>
          <a:ln w="12700">
            <a:solidFill>
              <a:srgbClr val="DFD6C7"/>
            </a:solidFill>
            <a:prstDash val="solid"/>
          </a:ln>
        </p:spPr>
      </p:sp>
      <p:sp>
        <p:nvSpPr>
          <p:cNvPr id="25" name="Shape 23"/>
          <p:cNvSpPr/>
          <p:nvPr/>
        </p:nvSpPr>
        <p:spPr>
          <a:xfrm>
            <a:off x="6720840" y="2098548"/>
            <a:ext cx="896112" cy="896112"/>
          </a:xfrm>
          <a:prstGeom prst="line">
            <a:avLst/>
          </a:prstGeom>
          <a:noFill/>
          <a:ln w="10160">
            <a:solidFill>
              <a:srgbClr val="DFD6C7"/>
            </a:solidFill>
            <a:prstDash val="solid"/>
          </a:ln>
        </p:spPr>
      </p:sp>
      <p:sp>
        <p:nvSpPr>
          <p:cNvPr id="26" name="Shape 24"/>
          <p:cNvSpPr/>
          <p:nvPr/>
        </p:nvSpPr>
        <p:spPr>
          <a:xfrm>
            <a:off x="6720840" y="2098548"/>
            <a:ext cx="633647" cy="1529759"/>
          </a:xfrm>
          <a:prstGeom prst="line">
            <a:avLst/>
          </a:prstGeom>
          <a:noFill/>
          <a:ln w="6985">
            <a:solidFill>
              <a:srgbClr val="DFD6C7"/>
            </a:solidFill>
            <a:prstDash val="solid"/>
          </a:ln>
        </p:spPr>
      </p:sp>
      <p:sp>
        <p:nvSpPr>
          <p:cNvPr id="27" name="Shape 25"/>
          <p:cNvSpPr/>
          <p:nvPr/>
        </p:nvSpPr>
        <p:spPr>
          <a:xfrm>
            <a:off x="7354487" y="2361013"/>
            <a:ext cx="262465" cy="633647"/>
          </a:xfrm>
          <a:prstGeom prst="line">
            <a:avLst/>
          </a:prstGeom>
          <a:noFill/>
          <a:ln w="12700">
            <a:solidFill>
              <a:srgbClr val="DFD6C7"/>
            </a:solidFill>
            <a:prstDash val="solid"/>
          </a:ln>
        </p:spPr>
      </p:sp>
      <p:sp>
        <p:nvSpPr>
          <p:cNvPr id="28" name="Shape 26"/>
          <p:cNvSpPr/>
          <p:nvPr/>
        </p:nvSpPr>
        <p:spPr>
          <a:xfrm flipV="1">
            <a:off x="7354487" y="2361013"/>
            <a:ext cx="0" cy="1267294"/>
          </a:xfrm>
          <a:prstGeom prst="line">
            <a:avLst/>
          </a:prstGeom>
          <a:noFill/>
          <a:ln w="10160">
            <a:solidFill>
              <a:srgbClr val="DFD6C7"/>
            </a:solidFill>
            <a:prstDash val="solid"/>
          </a:ln>
        </p:spPr>
      </p:sp>
      <p:sp>
        <p:nvSpPr>
          <p:cNvPr id="29" name="Shape 27"/>
          <p:cNvSpPr/>
          <p:nvPr/>
        </p:nvSpPr>
        <p:spPr>
          <a:xfrm flipH="1">
            <a:off x="6720840" y="2361013"/>
            <a:ext cx="633647" cy="1529759"/>
          </a:xfrm>
          <a:prstGeom prst="line">
            <a:avLst/>
          </a:prstGeom>
          <a:noFill/>
          <a:ln w="6985">
            <a:solidFill>
              <a:srgbClr val="DFD6C7"/>
            </a:solidFill>
            <a:prstDash val="solid"/>
          </a:ln>
        </p:spPr>
      </p:sp>
      <p:sp>
        <p:nvSpPr>
          <p:cNvPr id="30" name="Shape 28"/>
          <p:cNvSpPr/>
          <p:nvPr/>
        </p:nvSpPr>
        <p:spPr>
          <a:xfrm flipH="1">
            <a:off x="7354487" y="2994660"/>
            <a:ext cx="262465" cy="633647"/>
          </a:xfrm>
          <a:prstGeom prst="line">
            <a:avLst/>
          </a:prstGeom>
          <a:noFill/>
          <a:ln w="12700">
            <a:solidFill>
              <a:srgbClr val="DFD6C7"/>
            </a:solidFill>
            <a:prstDash val="solid"/>
          </a:ln>
        </p:spPr>
      </p:sp>
      <p:sp>
        <p:nvSpPr>
          <p:cNvPr id="31" name="Shape 29"/>
          <p:cNvSpPr/>
          <p:nvPr/>
        </p:nvSpPr>
        <p:spPr>
          <a:xfrm flipH="1">
            <a:off x="6720840" y="2994660"/>
            <a:ext cx="896112" cy="896112"/>
          </a:xfrm>
          <a:prstGeom prst="line">
            <a:avLst/>
          </a:prstGeom>
          <a:noFill/>
          <a:ln w="10160">
            <a:solidFill>
              <a:srgbClr val="DFD6C7"/>
            </a:solidFill>
            <a:prstDash val="solid"/>
          </a:ln>
        </p:spPr>
      </p:sp>
      <p:sp>
        <p:nvSpPr>
          <p:cNvPr id="32" name="Shape 30"/>
          <p:cNvSpPr/>
          <p:nvPr/>
        </p:nvSpPr>
        <p:spPr>
          <a:xfrm flipH="1">
            <a:off x="6087193" y="2994660"/>
            <a:ext cx="1529759" cy="633647"/>
          </a:xfrm>
          <a:prstGeom prst="line">
            <a:avLst/>
          </a:prstGeom>
          <a:noFill/>
          <a:ln w="6985">
            <a:solidFill>
              <a:srgbClr val="DFD6C7"/>
            </a:solidFill>
            <a:prstDash val="solid"/>
          </a:ln>
        </p:spPr>
      </p:sp>
      <p:sp>
        <p:nvSpPr>
          <p:cNvPr id="33" name="Shape 31"/>
          <p:cNvSpPr/>
          <p:nvPr/>
        </p:nvSpPr>
        <p:spPr>
          <a:xfrm flipH="1">
            <a:off x="6720840" y="3628307"/>
            <a:ext cx="633647" cy="262465"/>
          </a:xfrm>
          <a:prstGeom prst="line">
            <a:avLst/>
          </a:prstGeom>
          <a:noFill/>
          <a:ln w="12700">
            <a:solidFill>
              <a:srgbClr val="DFD6C7"/>
            </a:solidFill>
            <a:prstDash val="solid"/>
          </a:ln>
        </p:spPr>
      </p:sp>
      <p:sp>
        <p:nvSpPr>
          <p:cNvPr id="34" name="Shape 32"/>
          <p:cNvSpPr/>
          <p:nvPr/>
        </p:nvSpPr>
        <p:spPr>
          <a:xfrm flipH="1">
            <a:off x="6087193" y="3628307"/>
            <a:ext cx="1267294" cy="0"/>
          </a:xfrm>
          <a:prstGeom prst="line">
            <a:avLst/>
          </a:prstGeom>
          <a:noFill/>
          <a:ln w="10160">
            <a:solidFill>
              <a:srgbClr val="DFD6C7"/>
            </a:solidFill>
            <a:prstDash val="solid"/>
          </a:ln>
        </p:spPr>
      </p:sp>
      <p:sp>
        <p:nvSpPr>
          <p:cNvPr id="35" name="Shape 33"/>
          <p:cNvSpPr/>
          <p:nvPr/>
        </p:nvSpPr>
        <p:spPr>
          <a:xfrm flipH="1" flipV="1">
            <a:off x="5824728" y="2994660"/>
            <a:ext cx="1529759" cy="633647"/>
          </a:xfrm>
          <a:prstGeom prst="line">
            <a:avLst/>
          </a:prstGeom>
          <a:noFill/>
          <a:ln w="6985">
            <a:solidFill>
              <a:srgbClr val="DFD6C7"/>
            </a:solidFill>
            <a:prstDash val="solid"/>
          </a:ln>
        </p:spPr>
      </p:sp>
      <p:sp>
        <p:nvSpPr>
          <p:cNvPr id="36" name="Shape 34"/>
          <p:cNvSpPr/>
          <p:nvPr/>
        </p:nvSpPr>
        <p:spPr>
          <a:xfrm flipH="1" flipV="1">
            <a:off x="6087193" y="3628307"/>
            <a:ext cx="633647" cy="262465"/>
          </a:xfrm>
          <a:prstGeom prst="line">
            <a:avLst/>
          </a:prstGeom>
          <a:noFill/>
          <a:ln w="12700">
            <a:solidFill>
              <a:srgbClr val="DFD6C7"/>
            </a:solidFill>
            <a:prstDash val="solid"/>
          </a:ln>
        </p:spPr>
      </p:sp>
      <p:sp>
        <p:nvSpPr>
          <p:cNvPr id="37" name="Shape 35"/>
          <p:cNvSpPr/>
          <p:nvPr/>
        </p:nvSpPr>
        <p:spPr>
          <a:xfrm flipH="1" flipV="1">
            <a:off x="5824728" y="2994660"/>
            <a:ext cx="896112" cy="896112"/>
          </a:xfrm>
          <a:prstGeom prst="line">
            <a:avLst/>
          </a:prstGeom>
          <a:noFill/>
          <a:ln w="10160">
            <a:solidFill>
              <a:srgbClr val="DFD6C7"/>
            </a:solidFill>
            <a:prstDash val="solid"/>
          </a:ln>
        </p:spPr>
      </p:sp>
      <p:sp>
        <p:nvSpPr>
          <p:cNvPr id="38" name="Shape 36"/>
          <p:cNvSpPr/>
          <p:nvPr/>
        </p:nvSpPr>
        <p:spPr>
          <a:xfrm flipH="1" flipV="1">
            <a:off x="6087193" y="2361013"/>
            <a:ext cx="633647" cy="1529759"/>
          </a:xfrm>
          <a:prstGeom prst="line">
            <a:avLst/>
          </a:prstGeom>
          <a:noFill/>
          <a:ln w="6985">
            <a:solidFill>
              <a:srgbClr val="DFD6C7"/>
            </a:solidFill>
            <a:prstDash val="solid"/>
          </a:ln>
        </p:spPr>
      </p:sp>
      <p:sp>
        <p:nvSpPr>
          <p:cNvPr id="39" name="Shape 37"/>
          <p:cNvSpPr/>
          <p:nvPr/>
        </p:nvSpPr>
        <p:spPr>
          <a:xfrm flipH="1" flipV="1">
            <a:off x="5824728" y="2994660"/>
            <a:ext cx="262465" cy="633647"/>
          </a:xfrm>
          <a:prstGeom prst="line">
            <a:avLst/>
          </a:prstGeom>
          <a:noFill/>
          <a:ln w="12700">
            <a:solidFill>
              <a:srgbClr val="DFD6C7"/>
            </a:solidFill>
            <a:prstDash val="solid"/>
          </a:ln>
        </p:spPr>
      </p:sp>
      <p:sp>
        <p:nvSpPr>
          <p:cNvPr id="40" name="Shape 38"/>
          <p:cNvSpPr/>
          <p:nvPr/>
        </p:nvSpPr>
        <p:spPr>
          <a:xfrm>
            <a:off x="6087193" y="2361013"/>
            <a:ext cx="0" cy="1267294"/>
          </a:xfrm>
          <a:prstGeom prst="line">
            <a:avLst/>
          </a:prstGeom>
          <a:noFill/>
          <a:ln w="10160">
            <a:solidFill>
              <a:srgbClr val="DFD6C7"/>
            </a:solidFill>
            <a:prstDash val="solid"/>
          </a:ln>
        </p:spPr>
      </p:sp>
      <p:sp>
        <p:nvSpPr>
          <p:cNvPr id="41" name="Shape 39"/>
          <p:cNvSpPr/>
          <p:nvPr/>
        </p:nvSpPr>
        <p:spPr>
          <a:xfrm flipV="1">
            <a:off x="5824728" y="2361013"/>
            <a:ext cx="262465" cy="633647"/>
          </a:xfrm>
          <a:prstGeom prst="line">
            <a:avLst/>
          </a:prstGeom>
          <a:noFill/>
          <a:ln w="12700">
            <a:solidFill>
              <a:srgbClr val="DFD6C7"/>
            </a:solidFill>
            <a:prstDash val="solid"/>
          </a:ln>
        </p:spPr>
      </p:sp>
      <p:sp>
        <p:nvSpPr>
          <p:cNvPr id="42" name="Shape 40"/>
          <p:cNvSpPr/>
          <p:nvPr/>
        </p:nvSpPr>
        <p:spPr>
          <a:xfrm>
            <a:off x="6528816" y="1906524"/>
            <a:ext cx="384048" cy="384048"/>
          </a:xfrm>
          <a:prstGeom prst="ellipse">
            <a:avLst/>
          </a:prstGeom>
          <a:solidFill>
            <a:srgbClr val="D97A14"/>
          </a:solidFill>
          <a:ln w="9525">
            <a:solidFill>
              <a:srgbClr val="FFFFFF"/>
            </a:solidFill>
            <a:prstDash val="solid"/>
          </a:ln>
        </p:spPr>
      </p:sp>
      <p:sp>
        <p:nvSpPr>
          <p:cNvPr id="43" name="Shape 41"/>
          <p:cNvSpPr/>
          <p:nvPr/>
        </p:nvSpPr>
        <p:spPr>
          <a:xfrm>
            <a:off x="7162463" y="2168989"/>
            <a:ext cx="384048" cy="384048"/>
          </a:xfrm>
          <a:prstGeom prst="ellipse">
            <a:avLst/>
          </a:prstGeom>
          <a:solidFill>
            <a:srgbClr val="D97A14"/>
          </a:solidFill>
          <a:ln w="9525">
            <a:solidFill>
              <a:srgbClr val="FFFFFF"/>
            </a:solidFill>
            <a:prstDash val="solid"/>
          </a:ln>
        </p:spPr>
      </p:sp>
      <p:sp>
        <p:nvSpPr>
          <p:cNvPr id="44" name="Shape 42"/>
          <p:cNvSpPr/>
          <p:nvPr/>
        </p:nvSpPr>
        <p:spPr>
          <a:xfrm>
            <a:off x="7424928" y="2802636"/>
            <a:ext cx="384048" cy="384048"/>
          </a:xfrm>
          <a:prstGeom prst="ellipse">
            <a:avLst/>
          </a:prstGeom>
          <a:solidFill>
            <a:srgbClr val="D97A14"/>
          </a:solidFill>
          <a:ln w="9525">
            <a:solidFill>
              <a:srgbClr val="FFFFFF"/>
            </a:solidFill>
            <a:prstDash val="solid"/>
          </a:ln>
        </p:spPr>
      </p:sp>
      <p:sp>
        <p:nvSpPr>
          <p:cNvPr id="45" name="Shape 43"/>
          <p:cNvSpPr/>
          <p:nvPr/>
        </p:nvSpPr>
        <p:spPr>
          <a:xfrm>
            <a:off x="7162463" y="3436283"/>
            <a:ext cx="384048" cy="384048"/>
          </a:xfrm>
          <a:prstGeom prst="ellipse">
            <a:avLst/>
          </a:prstGeom>
          <a:solidFill>
            <a:srgbClr val="D97A14"/>
          </a:solidFill>
          <a:ln w="9525">
            <a:solidFill>
              <a:srgbClr val="FFFFFF"/>
            </a:solidFill>
            <a:prstDash val="solid"/>
          </a:ln>
        </p:spPr>
      </p:sp>
      <p:sp>
        <p:nvSpPr>
          <p:cNvPr id="46" name="Shape 44"/>
          <p:cNvSpPr/>
          <p:nvPr/>
        </p:nvSpPr>
        <p:spPr>
          <a:xfrm>
            <a:off x="6528816" y="3698748"/>
            <a:ext cx="384048" cy="384048"/>
          </a:xfrm>
          <a:prstGeom prst="ellipse">
            <a:avLst/>
          </a:prstGeom>
          <a:solidFill>
            <a:srgbClr val="D97A14"/>
          </a:solidFill>
          <a:ln w="9525">
            <a:solidFill>
              <a:srgbClr val="FFFFFF"/>
            </a:solidFill>
            <a:prstDash val="solid"/>
          </a:ln>
        </p:spPr>
      </p:sp>
      <p:sp>
        <p:nvSpPr>
          <p:cNvPr id="47" name="Shape 45"/>
          <p:cNvSpPr/>
          <p:nvPr/>
        </p:nvSpPr>
        <p:spPr>
          <a:xfrm>
            <a:off x="5895169" y="3436283"/>
            <a:ext cx="384048" cy="384048"/>
          </a:xfrm>
          <a:prstGeom prst="ellipse">
            <a:avLst/>
          </a:prstGeom>
          <a:solidFill>
            <a:srgbClr val="D97A14"/>
          </a:solidFill>
          <a:ln w="9525">
            <a:solidFill>
              <a:srgbClr val="FFFFFF"/>
            </a:solidFill>
            <a:prstDash val="solid"/>
          </a:ln>
        </p:spPr>
      </p:sp>
      <p:sp>
        <p:nvSpPr>
          <p:cNvPr id="48" name="Shape 46"/>
          <p:cNvSpPr/>
          <p:nvPr/>
        </p:nvSpPr>
        <p:spPr>
          <a:xfrm>
            <a:off x="5632704" y="2802636"/>
            <a:ext cx="384048" cy="384048"/>
          </a:xfrm>
          <a:prstGeom prst="ellipse">
            <a:avLst/>
          </a:prstGeom>
          <a:solidFill>
            <a:srgbClr val="D97A14"/>
          </a:solidFill>
          <a:ln w="9525">
            <a:solidFill>
              <a:srgbClr val="FFFFFF"/>
            </a:solidFill>
            <a:prstDash val="solid"/>
          </a:ln>
        </p:spPr>
      </p:sp>
      <p:sp>
        <p:nvSpPr>
          <p:cNvPr id="49" name="Shape 47"/>
          <p:cNvSpPr/>
          <p:nvPr/>
        </p:nvSpPr>
        <p:spPr>
          <a:xfrm>
            <a:off x="5895169" y="2168989"/>
            <a:ext cx="384048" cy="384048"/>
          </a:xfrm>
          <a:prstGeom prst="ellipse">
            <a:avLst/>
          </a:prstGeom>
          <a:solidFill>
            <a:srgbClr val="D97A14"/>
          </a:solidFill>
          <a:ln w="9525">
            <a:solidFill>
              <a:srgbClr val="FFFFFF"/>
            </a:solidFill>
            <a:prstDash val="solid"/>
          </a:ln>
        </p:spPr>
      </p:sp>
      <p:sp>
        <p:nvSpPr>
          <p:cNvPr id="50" name="Shape 48"/>
          <p:cNvSpPr/>
          <p:nvPr/>
        </p:nvSpPr>
        <p:spPr>
          <a:xfrm>
            <a:off x="457200" y="4636008"/>
            <a:ext cx="91440" cy="310896"/>
          </a:xfrm>
          <a:prstGeom prst="rect">
            <a:avLst/>
          </a:prstGeom>
          <a:solidFill>
            <a:srgbClr val="D97A14"/>
          </a:solidFill>
          <a:ln w="12700">
            <a:solidFill>
              <a:srgbClr val="D97A14"/>
            </a:solidFill>
            <a:prstDash val="solid"/>
          </a:ln>
        </p:spPr>
      </p:sp>
      <p:sp>
        <p:nvSpPr>
          <p:cNvPr id="51" name="Text 4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Remove the hub and the rules must move to every node</a:t>
            </a:r>
            <a:endParaRPr lang="en-US" sz="1350" dirty="0"/>
          </a:p>
        </p:txBody>
      </p:sp>
      <p:sp>
        <p:nvSpPr>
          <p:cNvPr id="52" name="Text 5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46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Peers find each other without a directory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protocol sketch - run, not quoted</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One peer starts, knowing two neighbours</a:t>
            </a:r>
            <a:endParaRPr lang="en-US" sz="10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267919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Each round it asks the peers just found for THEIR neighbours</a:t>
            </a:r>
            <a:endParaRPr lang="en-US" sz="1050" dirty="0"/>
          </a:p>
        </p:txBody>
      </p:sp>
      <p:sp>
        <p:nvSpPr>
          <p:cNvPr id="12" name="Shape 10"/>
          <p:cNvSpPr/>
          <p:nvPr/>
        </p:nvSpPr>
        <p:spPr>
          <a:xfrm>
            <a:off x="457200" y="246888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68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32304"/>
            <a:ext cx="267919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Rounds are counted until all seven peers are known: 4</a:t>
            </a:r>
            <a:endParaRPr lang="en-US" sz="1050" dirty="0"/>
          </a:p>
        </p:txBody>
      </p:sp>
      <p:pic>
        <p:nvPicPr>
          <p:cNvPr id="15" name="Image 0" descr="../../03-materials/ch01/assets/c8s06_mesh.png">    </p:cNvPr>
          <p:cNvPicPr>
            <a:picLocks noChangeAspect="1"/>
          </p:cNvPicPr>
          <p:nvPr/>
        </p:nvPicPr>
        <p:blipFill>
          <a:blip r:embed="rId1"/>
          <a:srcRect l="0" r="0" t="0" b="0"/>
          <a:stretch/>
        </p:blipFill>
        <p:spPr>
          <a:xfrm>
            <a:off x="3931920" y="1444752"/>
            <a:ext cx="2194560" cy="1188720"/>
          </a:xfrm>
          <a:prstGeom prst="rect">
            <a:avLst/>
          </a:prstGeom>
        </p:spPr>
      </p:pic>
      <p:sp>
        <p:nvSpPr>
          <p:cNvPr id="16" name="Text 13"/>
          <p:cNvSpPr txBox="1"/>
          <p:nvPr/>
        </p:nvSpPr>
        <p:spPr>
          <a:xfrm>
            <a:off x="3931920" y="2651760"/>
            <a:ext cx="21945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what it builds: a flat mesh</a:t>
            </a:r>
            <a:endParaRPr lang="en-US" sz="900" dirty="0"/>
          </a:p>
        </p:txBody>
      </p:sp>
      <p:sp>
        <p:nvSpPr>
          <p:cNvPr id="17" name="Shape 14"/>
          <p:cNvSpPr/>
          <p:nvPr/>
        </p:nvSpPr>
        <p:spPr>
          <a:xfrm>
            <a:off x="6400800" y="1444752"/>
            <a:ext cx="2286000" cy="1280160"/>
          </a:xfrm>
          <a:prstGeom prst="roundRect">
            <a:avLst>
              <a:gd name="adj" fmla="val 5714"/>
            </a:avLst>
          </a:prstGeom>
          <a:solidFill>
            <a:srgbClr val="F2ECE1"/>
          </a:solidFill>
          <a:ln w="12700">
            <a:solidFill>
              <a:srgbClr val="DFD6C7"/>
            </a:solidFill>
            <a:prstDash val="solid"/>
          </a:ln>
        </p:spPr>
      </p:sp>
      <p:sp>
        <p:nvSpPr>
          <p:cNvPr id="18" name="Text 15"/>
          <p:cNvSpPr txBox="1"/>
          <p:nvPr/>
        </p:nvSpPr>
        <p:spPr>
          <a:xfrm>
            <a:off x="6510528" y="1517904"/>
            <a:ext cx="2066544" cy="56692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4</a:t>
            </a:r>
            <a:endParaRPr lang="en-US" sz="2800" dirty="0"/>
          </a:p>
        </p:txBody>
      </p:sp>
      <p:sp>
        <p:nvSpPr>
          <p:cNvPr id="19" name="Text 16"/>
          <p:cNvSpPr txBox="1"/>
          <p:nvPr/>
        </p:nvSpPr>
        <p:spPr>
          <a:xfrm>
            <a:off x="6510528" y="2110435"/>
            <a:ext cx="2066544" cy="5632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rounds of gossip until every peer is known - no server, no registry</a:t>
            </a:r>
            <a:endParaRPr lang="en-US" sz="1150" dirty="0"/>
          </a:p>
        </p:txBody>
      </p:sp>
      <p:sp>
        <p:nvSpPr>
          <p:cNvPr id="20" name="Text 17"/>
          <p:cNvSpPr txBox="1"/>
          <p:nvPr/>
        </p:nvSpPr>
        <p:spPr>
          <a:xfrm>
            <a:off x="457200" y="3035808"/>
            <a:ext cx="4032504"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21" name="Shape 18"/>
          <p:cNvSpPr/>
          <p:nvPr/>
        </p:nvSpPr>
        <p:spPr>
          <a:xfrm>
            <a:off x="457200" y="3310128"/>
            <a:ext cx="8229600" cy="1252728"/>
          </a:xfrm>
          <a:prstGeom prst="roundRect">
            <a:avLst>
              <a:gd name="adj" fmla="val 7299"/>
            </a:avLst>
          </a:prstGeom>
          <a:solidFill>
            <a:srgbClr val="23272E"/>
          </a:solidFill>
          <a:ln w="12700">
            <a:solidFill>
              <a:srgbClr val="23272E"/>
            </a:solidFill>
            <a:prstDash val="solid"/>
          </a:ln>
        </p:spPr>
      </p:sp>
      <p:sp>
        <p:nvSpPr>
          <p:cNvPr id="22" name="Text 19"/>
          <p:cNvSpPr txBox="1"/>
          <p:nvPr/>
        </p:nvSpPr>
        <p:spPr>
          <a:xfrm>
            <a:off x="640080" y="3429000"/>
            <a:ext cx="7863840" cy="1014984"/>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links = {</a:t>
            </a:r>
            <a:r>
              <a:rPr lang="en-US" sz="800" dirty="0">
                <a:solidFill>
                  <a:srgbClr val="9ECBFF"/>
                </a:solidFill>
                <a:latin typeface="Courier New" pitchFamily="34" charset="0"/>
                <a:ea typeface="Courier New" pitchFamily="34" charset="-122"/>
                <a:cs typeface="Courier New" pitchFamily="34" charset="-120"/>
              </a:rPr>
              <a:t>'A'</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'B'</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'C'</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'B'</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'D'</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'C'</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'D'</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'B'</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'F'</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'C'</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'F'</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'F'</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'D'</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'G'</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'G'</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'F'</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seen, frontier, rounds = {</a:t>
            </a:r>
            <a:r>
              <a:rPr lang="en-US" sz="800" dirty="0">
                <a:solidFill>
                  <a:srgbClr val="9ECBFF"/>
                </a:solidFill>
                <a:latin typeface="Courier New" pitchFamily="34" charset="0"/>
                <a:ea typeface="Courier New" pitchFamily="34" charset="-122"/>
                <a:cs typeface="Courier New" pitchFamily="34" charset="-120"/>
              </a:rPr>
              <a:t>'A'</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0</a:t>
            </a:r>
            <a:endParaRPr lang="en-US" sz="800" dirty="0"/>
          </a:p>
          <a:p>
            <a:pPr indent="0" marL="0">
              <a:buNone/>
            </a:pPr>
            <a:r>
              <a:rPr lang="en-US" sz="800" b="1" dirty="0">
                <a:solidFill>
                  <a:srgbClr val="F2A860"/>
                </a:solidFill>
                <a:latin typeface="Courier New" pitchFamily="34" charset="0"/>
                <a:ea typeface="Courier New" pitchFamily="34" charset="-122"/>
                <a:cs typeface="Courier New" pitchFamily="34" charset="-120"/>
              </a:rPr>
              <a:t>while</a:t>
            </a:r>
            <a:r>
              <a:rPr lang="en-US" sz="800" dirty="0">
                <a:solidFill>
                  <a:srgbClr val="E6EDF3"/>
                </a:solidFill>
                <a:latin typeface="Courier New" pitchFamily="34" charset="0"/>
                <a:ea typeface="Courier New" pitchFamily="34" charset="-122"/>
                <a:cs typeface="Courier New" pitchFamily="34" charset="-120"/>
              </a:rPr>
              <a:t> len(seen) &lt; len(links):</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frontier = {n </a:t>
            </a:r>
            <a:r>
              <a:rPr lang="en-US" sz="800" b="1" dirty="0">
                <a:solidFill>
                  <a:srgbClr val="F2A860"/>
                </a:solidFill>
                <a:latin typeface="Courier New" pitchFamily="34" charset="0"/>
                <a:ea typeface="Courier New" pitchFamily="34" charset="-122"/>
                <a:cs typeface="Courier New" pitchFamily="34" charset="-120"/>
              </a:rPr>
              <a:t>for</a:t>
            </a:r>
            <a:r>
              <a:rPr lang="en-US" sz="800" dirty="0">
                <a:solidFill>
                  <a:srgbClr val="E6EDF3"/>
                </a:solidFill>
                <a:latin typeface="Courier New" pitchFamily="34" charset="0"/>
                <a:ea typeface="Courier New" pitchFamily="34" charset="-122"/>
                <a:cs typeface="Courier New" pitchFamily="34" charset="-120"/>
              </a:rPr>
              <a:t> f </a:t>
            </a:r>
            <a:r>
              <a:rPr lang="en-US" sz="800" b="1" dirty="0">
                <a:solidFill>
                  <a:srgbClr val="F2A860"/>
                </a:solidFill>
                <a:latin typeface="Courier New" pitchFamily="34" charset="0"/>
                <a:ea typeface="Courier New" pitchFamily="34" charset="-122"/>
                <a:cs typeface="Courier New" pitchFamily="34" charset="-120"/>
              </a:rPr>
              <a:t>in</a:t>
            </a:r>
            <a:r>
              <a:rPr lang="en-US" sz="800" dirty="0">
                <a:solidFill>
                  <a:srgbClr val="E6EDF3"/>
                </a:solidFill>
                <a:latin typeface="Courier New" pitchFamily="34" charset="0"/>
                <a:ea typeface="Courier New" pitchFamily="34" charset="-122"/>
                <a:cs typeface="Courier New" pitchFamily="34" charset="-120"/>
              </a:rPr>
              <a:t> frontier </a:t>
            </a:r>
            <a:r>
              <a:rPr lang="en-US" sz="800" b="1" dirty="0">
                <a:solidFill>
                  <a:srgbClr val="F2A860"/>
                </a:solidFill>
                <a:latin typeface="Courier New" pitchFamily="34" charset="0"/>
                <a:ea typeface="Courier New" pitchFamily="34" charset="-122"/>
                <a:cs typeface="Courier New" pitchFamily="34" charset="-120"/>
              </a:rPr>
              <a:t>for</a:t>
            </a:r>
            <a:r>
              <a:rPr lang="en-US" sz="800" dirty="0">
                <a:solidFill>
                  <a:srgbClr val="E6EDF3"/>
                </a:solidFill>
                <a:latin typeface="Courier New" pitchFamily="34" charset="0"/>
                <a:ea typeface="Courier New" pitchFamily="34" charset="-122"/>
                <a:cs typeface="Courier New" pitchFamily="34" charset="-120"/>
              </a:rPr>
              <a:t> n </a:t>
            </a:r>
            <a:r>
              <a:rPr lang="en-US" sz="800" b="1" dirty="0">
                <a:solidFill>
                  <a:srgbClr val="F2A860"/>
                </a:solidFill>
                <a:latin typeface="Courier New" pitchFamily="34" charset="0"/>
                <a:ea typeface="Courier New" pitchFamily="34" charset="-122"/>
                <a:cs typeface="Courier New" pitchFamily="34" charset="-120"/>
              </a:rPr>
              <a:t>in</a:t>
            </a:r>
            <a:r>
              <a:rPr lang="en-US" sz="800" dirty="0">
                <a:solidFill>
                  <a:srgbClr val="E6EDF3"/>
                </a:solidFill>
                <a:latin typeface="Courier New" pitchFamily="34" charset="0"/>
                <a:ea typeface="Courier New" pitchFamily="34" charset="-122"/>
                <a:cs typeface="Courier New" pitchFamily="34" charset="-120"/>
              </a:rPr>
              <a:t> links[f]} - seen</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seen |= frontier; rounds += </a:t>
            </a:r>
            <a:r>
              <a:rPr lang="en-US" sz="800" dirty="0">
                <a:solidFill>
                  <a:srgbClr val="FFD28A"/>
                </a:solidFill>
                <a:latin typeface="Courier New" pitchFamily="34" charset="0"/>
                <a:ea typeface="Courier New" pitchFamily="34" charset="-122"/>
                <a:cs typeface="Courier New" pitchFamily="34" charset="-120"/>
              </a:rPr>
              <a:t>1</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result = rounds</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result </a:t>
            </a:r>
            <a:r>
              <a:rPr lang="en-US" sz="800" dirty="0">
                <a:solidFill>
                  <a:srgbClr val="7EE787"/>
                </a:solidFill>
                <a:latin typeface="Courier New" pitchFamily="34" charset="0"/>
                <a:ea typeface="Courier New" pitchFamily="34" charset="-122"/>
                <a:cs typeface="Courier New" pitchFamily="34" charset="-120"/>
              </a:rPr>
              <a:t>4</a:t>
            </a:r>
            <a:endParaRPr lang="en-US" sz="800" dirty="0"/>
          </a:p>
        </p:txBody>
      </p:sp>
      <p:sp>
        <p:nvSpPr>
          <p:cNvPr id="23" name="Text 20"/>
          <p:cNvSpPr txBox="1"/>
          <p:nvPr/>
        </p:nvSpPr>
        <p:spPr>
          <a:xfrm>
            <a:off x="4581144" y="3035808"/>
            <a:ext cx="4105656"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PeerToPeerProtocol, lines 1 to 6 of 6, run under Python 3.14.6</a:t>
            </a:r>
            <a:endParaRPr lang="en-US" sz="90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network is just nodes agreeing to speak alike</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46</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Rules, not rulers, decide validity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node applies the same consensus rules</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49682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The rule: at height h, a block may create subsidy plus fees, nothing more</a:t>
            </a:r>
            <a:endParaRPr lang="en-US" sz="1000" dirty="0"/>
          </a:p>
        </p:txBody>
      </p:sp>
      <p:sp>
        <p:nvSpPr>
          <p:cNvPr id="9" name="Shape 7"/>
          <p:cNvSpPr/>
          <p:nvPr/>
        </p:nvSpPr>
        <p:spPr>
          <a:xfrm>
            <a:off x="457200" y="20878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87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51304"/>
            <a:ext cx="2679192" cy="49682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Three blocks claim rewards at height 840,000</a:t>
            </a:r>
            <a:endParaRPr lang="en-US" sz="1000" dirty="0"/>
          </a:p>
        </p:txBody>
      </p:sp>
      <p:sp>
        <p:nvSpPr>
          <p:cNvPr id="12" name="Shape 10"/>
          <p:cNvSpPr/>
          <p:nvPr/>
        </p:nvSpPr>
        <p:spPr>
          <a:xfrm>
            <a:off x="457200" y="262128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21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84704"/>
            <a:ext cx="2679192" cy="49682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Verdicts: allowed, refused, allowed - right</a:t>
            </a:r>
            <a:endParaRPr lang="en-US" sz="1000" dirty="0"/>
          </a:p>
        </p:txBody>
      </p:sp>
      <p:sp>
        <p:nvSpPr>
          <p:cNvPr id="15" name="Shape 13"/>
          <p:cNvSpPr/>
          <p:nvPr/>
        </p:nvSpPr>
        <p:spPr>
          <a:xfrm>
            <a:off x="3840480" y="1444752"/>
            <a:ext cx="4846320" cy="432816"/>
          </a:xfrm>
          <a:prstGeom prst="roundRect">
            <a:avLst>
              <a:gd name="adj" fmla="val 16901"/>
            </a:avLst>
          </a:prstGeom>
          <a:solidFill>
            <a:srgbClr val="F2ECE1"/>
          </a:solidFill>
          <a:ln w="19050">
            <a:solidFill>
              <a:srgbClr val="2F6D62"/>
            </a:solidFill>
            <a:prstDash val="solid"/>
          </a:ln>
        </p:spPr>
      </p:sp>
      <p:sp>
        <p:nvSpPr>
          <p:cNvPr id="16" name="Shape 14"/>
          <p:cNvSpPr/>
          <p:nvPr/>
        </p:nvSpPr>
        <p:spPr>
          <a:xfrm>
            <a:off x="3931920" y="1514856"/>
            <a:ext cx="292608" cy="292608"/>
          </a:xfrm>
          <a:prstGeom prst="ellipse">
            <a:avLst/>
          </a:prstGeom>
          <a:solidFill>
            <a:srgbClr val="2F6D62"/>
          </a:solidFill>
          <a:ln w="12700">
            <a:solidFill>
              <a:srgbClr val="2F6D62"/>
            </a:solidFill>
            <a:prstDash val="solid"/>
          </a:ln>
        </p:spPr>
      </p:sp>
      <p:sp>
        <p:nvSpPr>
          <p:cNvPr id="17" name="Text 15"/>
          <p:cNvSpPr txBox="1"/>
          <p:nvPr/>
        </p:nvSpPr>
        <p:spPr>
          <a:xfrm>
            <a:off x="3931920" y="1514856"/>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4315968" y="1444752"/>
            <a:ext cx="4297680" cy="43281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312,500,000 sat at height 840,000</a:t>
            </a:r>
            <a:endParaRPr lang="en-US" sz="1050" dirty="0"/>
          </a:p>
        </p:txBody>
      </p:sp>
      <p:sp>
        <p:nvSpPr>
          <p:cNvPr id="19" name="Shape 17"/>
          <p:cNvSpPr/>
          <p:nvPr/>
        </p:nvSpPr>
        <p:spPr>
          <a:xfrm>
            <a:off x="3840480" y="1987296"/>
            <a:ext cx="4846320" cy="432816"/>
          </a:xfrm>
          <a:prstGeom prst="roundRect">
            <a:avLst>
              <a:gd name="adj" fmla="val 16901"/>
            </a:avLst>
          </a:prstGeom>
          <a:solidFill>
            <a:srgbClr val="F2ECE1"/>
          </a:solidFill>
          <a:ln w="19050">
            <a:solidFill>
              <a:srgbClr val="D97A14"/>
            </a:solidFill>
            <a:prstDash val="solid"/>
          </a:ln>
        </p:spPr>
      </p:sp>
      <p:sp>
        <p:nvSpPr>
          <p:cNvPr id="20" name="Shape 18"/>
          <p:cNvSpPr/>
          <p:nvPr/>
        </p:nvSpPr>
        <p:spPr>
          <a:xfrm>
            <a:off x="3931920" y="2057400"/>
            <a:ext cx="292608" cy="292608"/>
          </a:xfrm>
          <a:prstGeom prst="ellipse">
            <a:avLst/>
          </a:prstGeom>
          <a:solidFill>
            <a:srgbClr val="D97A14"/>
          </a:solidFill>
          <a:ln w="12700">
            <a:solidFill>
              <a:srgbClr val="D97A14"/>
            </a:solidFill>
            <a:prstDash val="solid"/>
          </a:ln>
        </p:spPr>
      </p:sp>
      <p:sp>
        <p:nvSpPr>
          <p:cNvPr id="21" name="Text 19"/>
          <p:cNvSpPr txBox="1"/>
          <p:nvPr/>
        </p:nvSpPr>
        <p:spPr>
          <a:xfrm>
            <a:off x="3931920" y="205740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txBox="1"/>
          <p:nvPr/>
        </p:nvSpPr>
        <p:spPr>
          <a:xfrm>
            <a:off x="4315968" y="1987296"/>
            <a:ext cx="4297680" cy="43281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312,500,001 sat - one too many</a:t>
            </a:r>
            <a:endParaRPr lang="en-US" sz="1050" dirty="0"/>
          </a:p>
        </p:txBody>
      </p:sp>
      <p:sp>
        <p:nvSpPr>
          <p:cNvPr id="23" name="Shape 21"/>
          <p:cNvSpPr/>
          <p:nvPr/>
        </p:nvSpPr>
        <p:spPr>
          <a:xfrm>
            <a:off x="3840480" y="2529840"/>
            <a:ext cx="4846320" cy="432816"/>
          </a:xfrm>
          <a:prstGeom prst="roundRect">
            <a:avLst>
              <a:gd name="adj" fmla="val 16901"/>
            </a:avLst>
          </a:prstGeom>
          <a:solidFill>
            <a:srgbClr val="F2ECE1"/>
          </a:solidFill>
          <a:ln w="19050">
            <a:solidFill>
              <a:srgbClr val="2F6D62"/>
            </a:solidFill>
            <a:prstDash val="solid"/>
          </a:ln>
        </p:spPr>
      </p:sp>
      <p:sp>
        <p:nvSpPr>
          <p:cNvPr id="24" name="Shape 22"/>
          <p:cNvSpPr/>
          <p:nvPr/>
        </p:nvSpPr>
        <p:spPr>
          <a:xfrm>
            <a:off x="3931920" y="2599944"/>
            <a:ext cx="292608" cy="292608"/>
          </a:xfrm>
          <a:prstGeom prst="ellipse">
            <a:avLst/>
          </a:prstGeom>
          <a:solidFill>
            <a:srgbClr val="2F6D62"/>
          </a:solidFill>
          <a:ln w="12700">
            <a:solidFill>
              <a:srgbClr val="2F6D62"/>
            </a:solidFill>
            <a:prstDash val="solid"/>
          </a:ln>
        </p:spPr>
      </p:sp>
      <p:sp>
        <p:nvSpPr>
          <p:cNvPr id="25" name="Text 23"/>
          <p:cNvSpPr txBox="1"/>
          <p:nvPr/>
        </p:nvSpPr>
        <p:spPr>
          <a:xfrm>
            <a:off x="3931920" y="2599944"/>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6" name="Text 24"/>
          <p:cNvSpPr txBox="1"/>
          <p:nvPr/>
        </p:nvSpPr>
        <p:spPr>
          <a:xfrm>
            <a:off x="4315968" y="2529840"/>
            <a:ext cx="4297680" cy="43281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325,000,000 sat incl. 12,500,000 fees</a:t>
            </a:r>
            <a:endParaRPr lang="en-US" sz="1050" dirty="0"/>
          </a:p>
        </p:txBody>
      </p:sp>
      <p:sp>
        <p:nvSpPr>
          <p:cNvPr id="27" name="Text 25"/>
          <p:cNvSpPr txBox="1"/>
          <p:nvPr/>
        </p:nvSpPr>
        <p:spPr>
          <a:xfrm>
            <a:off x="457200" y="3127248"/>
            <a:ext cx="414589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28" name="Shape 26"/>
          <p:cNvSpPr/>
          <p:nvPr/>
        </p:nvSpPr>
        <p:spPr>
          <a:xfrm>
            <a:off x="457200" y="3401568"/>
            <a:ext cx="8229600" cy="1115568"/>
          </a:xfrm>
          <a:prstGeom prst="roundRect">
            <a:avLst>
              <a:gd name="adj" fmla="val 8197"/>
            </a:avLst>
          </a:prstGeom>
          <a:solidFill>
            <a:srgbClr val="23272E"/>
          </a:solidFill>
          <a:ln w="12700">
            <a:solidFill>
              <a:srgbClr val="23272E"/>
            </a:solidFill>
            <a:prstDash val="solid"/>
          </a:ln>
        </p:spPr>
      </p:sp>
      <p:sp>
        <p:nvSpPr>
          <p:cNvPr id="29" name="Text 27"/>
          <p:cNvSpPr txBox="1"/>
          <p:nvPr/>
        </p:nvSpPr>
        <p:spPr>
          <a:xfrm>
            <a:off x="640080" y="3520440"/>
            <a:ext cx="7863840" cy="877824"/>
          </a:xfrm>
          <a:prstGeom prst="rect">
            <a:avLst/>
          </a:prstGeom>
          <a:noFill/>
          <a:ln/>
        </p:spPr>
        <p:txBody>
          <a:bodyPr wrap="square" lIns="0" tIns="0" rIns="0" bIns="0" rtlCol="0" anchor="t"/>
          <a:lstStyle/>
          <a:p>
            <a:pPr indent="0" marL="0">
              <a:buNone/>
            </a:pPr>
            <a:r>
              <a:rPr lang="en-US" sz="900" b="1" dirty="0">
                <a:solidFill>
                  <a:srgbClr val="F2A860"/>
                </a:solidFill>
                <a:latin typeface="Courier New" pitchFamily="34" charset="0"/>
                <a:ea typeface="Courier New" pitchFamily="34" charset="-122"/>
                <a:cs typeface="Courier New" pitchFamily="34" charset="-120"/>
              </a:rPr>
              <a:t>def</a:t>
            </a:r>
            <a:r>
              <a:rPr lang="en-US" sz="900" dirty="0">
                <a:solidFill>
                  <a:srgbClr val="E6EDF3"/>
                </a:solidFill>
                <a:latin typeface="Courier New" pitchFamily="34" charset="0"/>
                <a:ea typeface="Courier New" pitchFamily="34" charset="-122"/>
                <a:cs typeface="Courier New" pitchFamily="34" charset="-120"/>
              </a:rPr>
              <a:t> accept(claim, height, fees):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subsidy = (</a:t>
            </a:r>
            <a:r>
              <a:rPr lang="en-US" sz="900" dirty="0">
                <a:solidFill>
                  <a:srgbClr val="FFD28A"/>
                </a:solidFill>
                <a:latin typeface="Courier New" pitchFamily="34" charset="0"/>
                <a:ea typeface="Courier New" pitchFamily="34" charset="-122"/>
                <a:cs typeface="Courier New" pitchFamily="34" charset="-120"/>
              </a:rPr>
              <a:t>50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10</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8</a:t>
            </a:r>
            <a:r>
              <a:rPr lang="en-US" sz="900" dirty="0">
                <a:solidFill>
                  <a:srgbClr val="E6EDF3"/>
                </a:solidFill>
                <a:latin typeface="Courier New" pitchFamily="34" charset="0"/>
                <a:ea typeface="Courier New" pitchFamily="34" charset="-122"/>
                <a:cs typeface="Courier New" pitchFamily="34" charset="-120"/>
              </a:rPr>
              <a:t>) &gt;&gt; (height // </a:t>
            </a:r>
            <a:r>
              <a:rPr lang="en-US" sz="900" dirty="0">
                <a:solidFill>
                  <a:srgbClr val="FFD28A"/>
                </a:solidFill>
                <a:latin typeface="Courier New" pitchFamily="34" charset="0"/>
                <a:ea typeface="Courier New" pitchFamily="34" charset="-122"/>
                <a:cs typeface="Courier New" pitchFamily="34" charset="-120"/>
              </a:rPr>
              <a:t>210000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return</a:t>
            </a:r>
            <a:r>
              <a:rPr lang="en-US" sz="900" dirty="0">
                <a:solidFill>
                  <a:srgbClr val="E6EDF3"/>
                </a:solidFill>
                <a:latin typeface="Courier New" pitchFamily="34" charset="0"/>
                <a:ea typeface="Courier New" pitchFamily="34" charset="-122"/>
                <a:cs typeface="Courier New" pitchFamily="34" charset="-120"/>
              </a:rPr>
              <a:t> claim &lt;= subsidy + fees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result = [accept(</a:t>
            </a:r>
            <a:r>
              <a:rPr lang="en-US" sz="900" dirty="0">
                <a:solidFill>
                  <a:srgbClr val="FFD28A"/>
                </a:solidFill>
                <a:latin typeface="Courier New" pitchFamily="34" charset="0"/>
                <a:ea typeface="Courier New" pitchFamily="34" charset="-122"/>
                <a:cs typeface="Courier New" pitchFamily="34" charset="-120"/>
              </a:rPr>
              <a:t>312_500_000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840000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accept(</a:t>
            </a:r>
            <a:r>
              <a:rPr lang="en-US" sz="900" dirty="0">
                <a:solidFill>
                  <a:srgbClr val="FFD28A"/>
                </a:solidFill>
                <a:latin typeface="Courier New" pitchFamily="34" charset="0"/>
                <a:ea typeface="Courier New" pitchFamily="34" charset="-122"/>
                <a:cs typeface="Courier New" pitchFamily="34" charset="-120"/>
              </a:rPr>
              <a:t>312_500_001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840000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accept(</a:t>
            </a:r>
            <a:r>
              <a:rPr lang="en-US" sz="900" dirty="0">
                <a:solidFill>
                  <a:srgbClr val="FFD28A"/>
                </a:solidFill>
                <a:latin typeface="Courier New" pitchFamily="34" charset="0"/>
                <a:ea typeface="Courier New" pitchFamily="34" charset="-122"/>
                <a:cs typeface="Courier New" pitchFamily="34" charset="-120"/>
              </a:rPr>
              <a:t>325_000_000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840000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12_500_000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result </a:t>
            </a:r>
            <a:r>
              <a:rPr lang="en-US" sz="900" dirty="0">
                <a:solidFill>
                  <a:srgbClr val="7EE787"/>
                </a:solidFill>
                <a:latin typeface="Courier New" pitchFamily="34" charset="0"/>
                <a:ea typeface="Courier New" pitchFamily="34" charset="-122"/>
                <a:cs typeface="Courier New" pitchFamily="34" charset="-120"/>
              </a:rPr>
              <a:t>[True, False, True]</a:t>
            </a:r>
            <a:endParaRPr lang="en-US" sz="900" dirty="0"/>
          </a:p>
        </p:txBody>
      </p:sp>
      <p:sp>
        <p:nvSpPr>
          <p:cNvPr id="30" name="Text 28"/>
          <p:cNvSpPr txBox="1"/>
          <p:nvPr/>
        </p:nvSpPr>
        <p:spPr>
          <a:xfrm>
            <a:off x="4694530" y="3127248"/>
            <a:ext cx="399227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ConsensusRuleSet, lines 1 to 4 of 4, run under Python 3.14.6</a:t>
            </a:r>
            <a:endParaRPr lang="en-US" sz="90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Validity is computed, never decreed</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46</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Mining pays for honesty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coin and fees reward the work that secures the chain</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wait in the mempool</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Miners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spend energy on proof-of-work</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 found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~every 10 minutes</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Reward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subsidy + fees</a:t>
            </a:r>
            <a:endParaRPr lang="en-US" sz="1250" dirty="0"/>
          </a:p>
        </p:txBody>
      </p:sp>
      <p:sp>
        <p:nvSpPr>
          <p:cNvPr id="17" name="Text 15"/>
          <p:cNvSpPr txBox="1"/>
          <p:nvPr/>
        </p:nvSpPr>
        <p:spPr>
          <a:xfrm>
            <a:off x="457200" y="2926080"/>
            <a:ext cx="5120640" cy="155448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The subsidy follows the halving chart</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Cheating costs more than it could win</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Chapter 12 opens the mechanism</a:t>
            </a:r>
            <a:endParaRPr lang="en-US" sz="1450" dirty="0"/>
          </a:p>
        </p:txBody>
      </p:sp>
      <p:pic>
        <p:nvPicPr>
          <p:cNvPr id="18" name="Image 0" descr="../../03-materials/ch01/assets/c8s32_miningnodes.png">    </p:cNvPr>
          <p:cNvPicPr>
            <a:picLocks noChangeAspect="1"/>
          </p:cNvPicPr>
          <p:nvPr/>
        </p:nvPicPr>
        <p:blipFill>
          <a:blip r:embed="rId1"/>
          <a:srcRect l="0" r="0" t="0" b="0"/>
          <a:stretch/>
        </p:blipFill>
        <p:spPr>
          <a:xfrm>
            <a:off x="5760720" y="2788920"/>
            <a:ext cx="2926080" cy="1280160"/>
          </a:xfrm>
          <a:prstGeom prst="rect">
            <a:avLst/>
          </a:prstGeom>
        </p:spPr>
      </p:pic>
      <p:sp>
        <p:nvSpPr>
          <p:cNvPr id="19" name="Text 16"/>
          <p:cNvSpPr txBox="1"/>
          <p:nvPr/>
        </p:nvSpPr>
        <p:spPr>
          <a:xfrm>
            <a:off x="5760720" y="4087368"/>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Security is bought with energy and paid in bitcoin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46</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Wallets and first use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Choosing software, holding keys, and the first payment</a:t>
            </a:r>
            <a:endParaRPr lang="en-US" sz="1500" dirty="0"/>
          </a:p>
        </p:txBody>
      </p:sp>
      <p:sp>
        <p:nvSpPr>
          <p:cNvPr id="6" name="Shape 4"/>
          <p:cNvSpPr/>
          <p:nvPr/>
        </p:nvSpPr>
        <p:spPr>
          <a:xfrm>
            <a:off x="777240" y="2697480"/>
            <a:ext cx="221284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Wallet platforms</a:t>
            </a:r>
            <a:endParaRPr lang="en-US" sz="1400" dirty="0"/>
          </a:p>
        </p:txBody>
      </p:sp>
      <p:sp>
        <p:nvSpPr>
          <p:cNvPr id="8" name="Shape 6"/>
          <p:cNvSpPr/>
          <p:nvPr/>
        </p:nvSpPr>
        <p:spPr>
          <a:xfrm>
            <a:off x="3136392" y="2697480"/>
            <a:ext cx="221284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209544" y="2743200"/>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 control</a:t>
            </a:r>
            <a:endParaRPr lang="en-US" sz="1400" dirty="0"/>
          </a:p>
        </p:txBody>
      </p:sp>
      <p:sp>
        <p:nvSpPr>
          <p:cNvPr id="10" name="Shape 8"/>
          <p:cNvSpPr/>
          <p:nvPr/>
        </p:nvSpPr>
        <p:spPr>
          <a:xfrm>
            <a:off x="777240" y="3630168"/>
            <a:ext cx="221284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Backup</a:t>
            </a:r>
            <a:endParaRPr lang="en-US" sz="1400" dirty="0"/>
          </a:p>
        </p:txBody>
      </p:sp>
      <p:sp>
        <p:nvSpPr>
          <p:cNvPr id="12" name="Shape 10"/>
          <p:cNvSpPr/>
          <p:nvPr/>
        </p:nvSpPr>
        <p:spPr>
          <a:xfrm>
            <a:off x="3136392" y="3630168"/>
            <a:ext cx="221284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209544" y="3675888"/>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First payment</a:t>
            </a:r>
            <a:endParaRPr lang="en-US" sz="1400" dirty="0"/>
          </a:p>
        </p:txBody>
      </p:sp>
      <p:pic>
        <p:nvPicPr>
          <p:cNvPr id="14" name="Image 0" descr="../../03-materials/ch01/assets/mbc3_0101.png">    </p:cNvPr>
          <p:cNvPicPr>
            <a:picLocks noChangeAspect="1"/>
          </p:cNvPicPr>
          <p:nvPr/>
        </p:nvPicPr>
        <p:blipFill>
          <a:blip r:embed="rId1"/>
          <a:srcRect l="0" r="0" t="0" b="0"/>
          <a:stretch/>
        </p:blipFill>
        <p:spPr>
          <a:xfrm>
            <a:off x="5715000" y="1234440"/>
            <a:ext cx="1463040" cy="2606040"/>
          </a:xfrm>
          <a:prstGeom prst="rect">
            <a:avLst/>
          </a:prstGeom>
        </p:spPr>
      </p:pic>
      <p:pic>
        <p:nvPicPr>
          <p:cNvPr id="15" name="Image 1" descr="../../03-materials/ch01/assets/mbc3_0102.png">    </p:cNvPr>
          <p:cNvPicPr>
            <a:picLocks noChangeAspect="1"/>
          </p:cNvPicPr>
          <p:nvPr/>
        </p:nvPicPr>
        <p:blipFill>
          <a:blip r:embed="rId2"/>
          <a:srcRect l="0" r="0" t="0" b="0"/>
          <a:stretch/>
        </p:blipFill>
        <p:spPr>
          <a:xfrm>
            <a:off x="7315200" y="1234440"/>
            <a:ext cx="1463040" cy="2606040"/>
          </a:xfrm>
          <a:prstGeom prst="rect">
            <a:avLst/>
          </a:prstGeom>
        </p:spPr>
      </p:pic>
      <p:sp>
        <p:nvSpPr>
          <p:cNvPr id="16" name="Text 12"/>
          <p:cNvSpPr txBox="1"/>
          <p:nvPr/>
        </p:nvSpPr>
        <p:spPr>
          <a:xfrm>
            <a:off x="7315200" y="3858768"/>
            <a:ext cx="14630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Mastering Bitcoin 3e, CC BY-SA</a:t>
            </a:r>
            <a:endParaRPr lang="en-US" sz="900" dirty="0"/>
          </a:p>
        </p:txBody>
      </p:sp>
      <p:sp>
        <p:nvSpPr>
          <p:cNvPr id="17"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46</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wallet branch, mapped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leaf is explained on the course page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wallet is the software that keeps keys and signs payments; these eight decisions - platform, node, custody, backup - define every wallet you will meet.</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Wallet</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Wallet Platform</a:t>
            </a:r>
            <a:endParaRPr lang="en-US" sz="125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Desktop Wallet  ·  Mobile Wallet  ·  Web Wallet  ·  Hardware Signing Device</a:t>
            </a:r>
            <a:endParaRPr lang="en-US" sz="1150" dirty="0"/>
          </a:p>
        </p:txBody>
      </p:sp>
      <p:sp>
        <p:nvSpPr>
          <p:cNvPr id="15" name="Shape 13"/>
          <p:cNvSpPr/>
          <p:nvPr/>
        </p:nvSpPr>
        <p:spPr>
          <a:xfrm flipV="1">
            <a:off x="1783080" y="2566416"/>
            <a:ext cx="502920" cy="423672"/>
          </a:xfrm>
          <a:prstGeom prst="line">
            <a:avLst/>
          </a:prstGeom>
          <a:noFill/>
          <a:ln w="13970">
            <a:solidFill>
              <a:srgbClr val="C9BFAE"/>
            </a:solidFill>
            <a:prstDash val="solid"/>
          </a:ln>
        </p:spPr>
      </p:sp>
      <p:sp>
        <p:nvSpPr>
          <p:cNvPr id="16" name="Shape 14"/>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Node Type</a:t>
            </a:r>
            <a:endParaRPr lang="en-US" sz="1250" dirty="0"/>
          </a:p>
        </p:txBody>
      </p:sp>
      <p:sp>
        <p:nvSpPr>
          <p:cNvPr id="18" name="Shape 16"/>
          <p:cNvSpPr/>
          <p:nvPr/>
        </p:nvSpPr>
        <p:spPr>
          <a:xfrm>
            <a:off x="4023360" y="2566416"/>
            <a:ext cx="274320" cy="0"/>
          </a:xfrm>
          <a:prstGeom prst="line">
            <a:avLst/>
          </a:prstGeom>
          <a:noFill/>
          <a:ln w="13970">
            <a:solidFill>
              <a:srgbClr val="C9BFAE"/>
            </a:solidFill>
            <a:prstDash val="solid"/>
          </a:ln>
        </p:spPr>
      </p:sp>
      <p:sp>
        <p:nvSpPr>
          <p:cNvPr id="19" name="Shape 17"/>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Full Node  ·  Lightweight Client  ·  Third Party API Client  ·  Peer And Client</a:t>
            </a:r>
            <a:endParaRPr lang="en-US" sz="1150" dirty="0"/>
          </a:p>
        </p:txBody>
      </p:sp>
      <p:sp>
        <p:nvSpPr>
          <p:cNvPr id="21" name="Shape 19"/>
          <p:cNvSpPr/>
          <p:nvPr/>
        </p:nvSpPr>
        <p:spPr>
          <a:xfrm>
            <a:off x="1783080" y="2990088"/>
            <a:ext cx="502920" cy="423672"/>
          </a:xfrm>
          <a:prstGeom prst="line">
            <a:avLst/>
          </a:prstGeom>
          <a:noFill/>
          <a:ln w="13970">
            <a:solidFill>
              <a:srgbClr val="C9BFAE"/>
            </a:solidFill>
            <a:prstDash val="solid"/>
          </a:ln>
        </p:spPr>
      </p:sp>
      <p:sp>
        <p:nvSpPr>
          <p:cNvPr id="22" name="Shape 20"/>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 Control</a:t>
            </a:r>
            <a:endParaRPr lang="en-US" sz="1250" dirty="0"/>
          </a:p>
        </p:txBody>
      </p:sp>
      <p:sp>
        <p:nvSpPr>
          <p:cNvPr id="24" name="Shape 22"/>
          <p:cNvSpPr/>
          <p:nvPr/>
        </p:nvSpPr>
        <p:spPr>
          <a:xfrm>
            <a:off x="4023360" y="3413760"/>
            <a:ext cx="274320" cy="0"/>
          </a:xfrm>
          <a:prstGeom prst="line">
            <a:avLst/>
          </a:prstGeom>
          <a:noFill/>
          <a:ln w="13970">
            <a:solidFill>
              <a:srgbClr val="C9BFAE"/>
            </a:solidFill>
            <a:prstDash val="solid"/>
          </a:ln>
        </p:spPr>
      </p:sp>
      <p:sp>
        <p:nvSpPr>
          <p:cNvPr id="25" name="Shape 23"/>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Noncustodial Wallet  ·  Custodial Wallet</a:t>
            </a:r>
            <a:endParaRPr lang="en-US" sz="1150" dirty="0"/>
          </a:p>
        </p:txBody>
      </p:sp>
      <p:sp>
        <p:nvSpPr>
          <p:cNvPr id="27" name="Shape 25"/>
          <p:cNvSpPr/>
          <p:nvPr/>
        </p:nvSpPr>
        <p:spPr>
          <a:xfrm>
            <a:off x="1783080" y="2990088"/>
            <a:ext cx="502920" cy="1271016"/>
          </a:xfrm>
          <a:prstGeom prst="line">
            <a:avLst/>
          </a:prstGeom>
          <a:noFill/>
          <a:ln w="13970">
            <a:solidFill>
              <a:srgbClr val="C9BFAE"/>
            </a:solidFill>
            <a:prstDash val="solid"/>
          </a:ln>
        </p:spPr>
      </p:sp>
      <p:sp>
        <p:nvSpPr>
          <p:cNvPr id="28" name="Shape 26"/>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Backup</a:t>
            </a:r>
            <a:endParaRPr lang="en-US" sz="1250" dirty="0"/>
          </a:p>
        </p:txBody>
      </p:sp>
      <p:sp>
        <p:nvSpPr>
          <p:cNvPr id="30" name="Shape 28"/>
          <p:cNvSpPr/>
          <p:nvPr/>
        </p:nvSpPr>
        <p:spPr>
          <a:xfrm>
            <a:off x="4023360" y="4261104"/>
            <a:ext cx="274320" cy="0"/>
          </a:xfrm>
          <a:prstGeom prst="line">
            <a:avLst/>
          </a:prstGeom>
          <a:noFill/>
          <a:ln w="13970">
            <a:solidFill>
              <a:srgbClr val="C9BFAE"/>
            </a:solidFill>
            <a:prstDash val="solid"/>
          </a:ln>
        </p:spPr>
      </p:sp>
      <p:sp>
        <p:nvSpPr>
          <p:cNvPr id="31" name="Shape 29"/>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Recovery Code  ·  Wallet Metadata</a:t>
            </a:r>
            <a:endParaRPr lang="en-US" sz="11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wallet is software for keys, not a bag of coins</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46</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Your key is your deed - and you may never show it</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house-key analogy, and where it breaks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With a car or a house, the key grants access but a registry proves ownership; in Bitcoin the key is both - so it must prove without being shown.</a:t>
            </a:r>
            <a:endParaRPr lang="en-US" sz="1250" dirty="0"/>
          </a:p>
        </p:txBody>
      </p:sp>
      <p:sp>
        <p:nvSpPr>
          <p:cNvPr id="7" name="Shape 5"/>
          <p:cNvSpPr/>
          <p:nvPr/>
        </p:nvSpPr>
        <p:spPr>
          <a:xfrm>
            <a:off x="457200" y="1554480"/>
            <a:ext cx="3886200" cy="2286000"/>
          </a:xfrm>
          <a:prstGeom prst="roundRect">
            <a:avLst>
              <a:gd name="adj" fmla="val 4000"/>
            </a:avLst>
          </a:prstGeom>
          <a:solidFill>
            <a:srgbClr val="F2ECE1"/>
          </a:solidFill>
          <a:ln w="19050">
            <a:solidFill>
              <a:srgbClr val="2F6D62"/>
            </a:solidFill>
            <a:prstDash val="solid"/>
          </a:ln>
        </p:spPr>
      </p:sp>
      <p:sp>
        <p:nvSpPr>
          <p:cNvPr id="8" name="Shape 6"/>
          <p:cNvSpPr/>
          <p:nvPr/>
        </p:nvSpPr>
        <p:spPr>
          <a:xfrm>
            <a:off x="777240" y="2194560"/>
            <a:ext cx="640080" cy="457200"/>
          </a:xfrm>
          <a:prstGeom prst="rect">
            <a:avLst/>
          </a:prstGeom>
          <a:solidFill>
            <a:srgbClr val="2F6D62"/>
          </a:solidFill>
          <a:ln w="12700">
            <a:solidFill>
              <a:srgbClr val="2F6D62"/>
            </a:solidFill>
            <a:prstDash val="solid"/>
          </a:ln>
        </p:spPr>
      </p:sp>
      <p:sp>
        <p:nvSpPr>
          <p:cNvPr id="9" name="Shape 7"/>
          <p:cNvSpPr/>
          <p:nvPr/>
        </p:nvSpPr>
        <p:spPr>
          <a:xfrm>
            <a:off x="704088" y="1920240"/>
            <a:ext cx="786384" cy="310896"/>
          </a:xfrm>
          <a:prstGeom prst="triangle">
            <a:avLst/>
          </a:prstGeom>
          <a:solidFill>
            <a:srgbClr val="2F6D62"/>
          </a:solidFill>
          <a:ln w="12700">
            <a:solidFill>
              <a:srgbClr val="2F6D62"/>
            </a:solidFill>
            <a:prstDash val="solid"/>
          </a:ln>
        </p:spPr>
      </p:sp>
      <p:sp>
        <p:nvSpPr>
          <p:cNvPr id="10" name="Shape 8"/>
          <p:cNvSpPr/>
          <p:nvPr/>
        </p:nvSpPr>
        <p:spPr>
          <a:xfrm>
            <a:off x="1783080" y="2121408"/>
            <a:ext cx="237744" cy="237744"/>
          </a:xfrm>
          <a:prstGeom prst="ellipse">
            <a:avLst/>
          </a:prstGeom>
          <a:solidFill>
            <a:srgbClr val="D97A14"/>
          </a:solidFill>
          <a:ln w="19050">
            <a:solidFill>
              <a:srgbClr val="D97A14"/>
            </a:solidFill>
            <a:prstDash val="solid"/>
          </a:ln>
        </p:spPr>
      </p:sp>
      <p:sp>
        <p:nvSpPr>
          <p:cNvPr id="11" name="Shape 9"/>
          <p:cNvSpPr/>
          <p:nvPr/>
        </p:nvSpPr>
        <p:spPr>
          <a:xfrm>
            <a:off x="2002536" y="2203704"/>
            <a:ext cx="457200" cy="73152"/>
          </a:xfrm>
          <a:prstGeom prst="rect">
            <a:avLst/>
          </a:prstGeom>
          <a:solidFill>
            <a:srgbClr val="D97A14"/>
          </a:solidFill>
          <a:ln w="9525">
            <a:solidFill>
              <a:srgbClr val="D97A14"/>
            </a:solidFill>
            <a:prstDash val="solid"/>
          </a:ln>
        </p:spPr>
      </p:sp>
      <p:sp>
        <p:nvSpPr>
          <p:cNvPr id="12" name="Shape 10"/>
          <p:cNvSpPr/>
          <p:nvPr/>
        </p:nvSpPr>
        <p:spPr>
          <a:xfrm>
            <a:off x="2313432" y="2258568"/>
            <a:ext cx="64008" cy="109728"/>
          </a:xfrm>
          <a:prstGeom prst="rect">
            <a:avLst/>
          </a:prstGeom>
          <a:solidFill>
            <a:srgbClr val="D97A14"/>
          </a:solidFill>
          <a:ln w="9525">
            <a:solidFill>
              <a:srgbClr val="D97A14"/>
            </a:solidFill>
            <a:prstDash val="solid"/>
          </a:ln>
        </p:spPr>
      </p:sp>
      <p:sp>
        <p:nvSpPr>
          <p:cNvPr id="13" name="Text 11"/>
          <p:cNvSpPr txBox="1"/>
          <p:nvPr/>
        </p:nvSpPr>
        <p:spPr>
          <a:xfrm>
            <a:off x="640080" y="2542032"/>
            <a:ext cx="3520440" cy="310896"/>
          </a:xfrm>
          <a:prstGeom prst="rect">
            <a:avLst/>
          </a:prstGeom>
          <a:noFill/>
          <a:ln/>
        </p:spPr>
        <p:txBody>
          <a:bodyPr wrap="square" lIns="0" tIns="0" rIns="0" bIns="0" rtlCol="0" anchor="ctr"/>
          <a:lstStyle/>
          <a:p>
            <a:pPr indent="0" marL="0">
              <a:buNone/>
            </a:pPr>
            <a:r>
              <a:rPr lang="en-US" sz="1400" b="1" dirty="0">
                <a:solidFill>
                  <a:srgbClr val="2F6D62"/>
                </a:solidFill>
                <a:latin typeface="Cambria" pitchFamily="34" charset="0"/>
                <a:ea typeface="Cambria" pitchFamily="34" charset="-122"/>
                <a:cs typeface="Cambria" pitchFamily="34" charset="-120"/>
              </a:rPr>
              <a:t>your house, your car</a:t>
            </a:r>
            <a:endParaRPr lang="en-US" sz="1400" dirty="0"/>
          </a:p>
        </p:txBody>
      </p:sp>
      <p:sp>
        <p:nvSpPr>
          <p:cNvPr id="14" name="Text 12"/>
          <p:cNvSpPr txBox="1"/>
          <p:nvPr/>
        </p:nvSpPr>
        <p:spPr>
          <a:xfrm>
            <a:off x="640080" y="2871216"/>
            <a:ext cx="3520440" cy="82296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One key opens it. Lose the key, lose access. But the deed, the registry, still names you.</a:t>
            </a:r>
            <a:endParaRPr lang="en-US" sz="1200" dirty="0"/>
          </a:p>
        </p:txBody>
      </p:sp>
      <p:sp>
        <p:nvSpPr>
          <p:cNvPr id="15" name="Shape 13"/>
          <p:cNvSpPr/>
          <p:nvPr/>
        </p:nvSpPr>
        <p:spPr>
          <a:xfrm>
            <a:off x="4800600" y="1554480"/>
            <a:ext cx="3886200" cy="2286000"/>
          </a:xfrm>
          <a:prstGeom prst="roundRect">
            <a:avLst>
              <a:gd name="adj" fmla="val 4000"/>
            </a:avLst>
          </a:prstGeom>
          <a:solidFill>
            <a:srgbClr val="F2ECE1"/>
          </a:solidFill>
          <a:ln w="19050">
            <a:solidFill>
              <a:srgbClr val="D97A14"/>
            </a:solidFill>
            <a:prstDash val="solid"/>
          </a:ln>
        </p:spPr>
      </p:sp>
      <p:sp>
        <p:nvSpPr>
          <p:cNvPr id="16" name="Shape 14"/>
          <p:cNvSpPr/>
          <p:nvPr/>
        </p:nvSpPr>
        <p:spPr>
          <a:xfrm>
            <a:off x="5120640" y="2194560"/>
            <a:ext cx="640080" cy="457200"/>
          </a:xfrm>
          <a:prstGeom prst="rect">
            <a:avLst/>
          </a:prstGeom>
          <a:solidFill>
            <a:srgbClr val="D97A14"/>
          </a:solidFill>
          <a:ln w="12700">
            <a:solidFill>
              <a:srgbClr val="D97A14"/>
            </a:solidFill>
            <a:prstDash val="solid"/>
          </a:ln>
        </p:spPr>
      </p:sp>
      <p:sp>
        <p:nvSpPr>
          <p:cNvPr id="17" name="Shape 15"/>
          <p:cNvSpPr/>
          <p:nvPr/>
        </p:nvSpPr>
        <p:spPr>
          <a:xfrm>
            <a:off x="5047488" y="1920240"/>
            <a:ext cx="786384" cy="310896"/>
          </a:xfrm>
          <a:prstGeom prst="triangle">
            <a:avLst/>
          </a:prstGeom>
          <a:solidFill>
            <a:srgbClr val="D97A14"/>
          </a:solidFill>
          <a:ln w="12700">
            <a:solidFill>
              <a:srgbClr val="D97A14"/>
            </a:solidFill>
            <a:prstDash val="solid"/>
          </a:ln>
        </p:spPr>
      </p:sp>
      <p:sp>
        <p:nvSpPr>
          <p:cNvPr id="18" name="Shape 16"/>
          <p:cNvSpPr/>
          <p:nvPr/>
        </p:nvSpPr>
        <p:spPr>
          <a:xfrm>
            <a:off x="6126480" y="2121408"/>
            <a:ext cx="237744" cy="237744"/>
          </a:xfrm>
          <a:prstGeom prst="ellipse">
            <a:avLst/>
          </a:prstGeom>
          <a:solidFill>
            <a:srgbClr val="D97A14"/>
          </a:solidFill>
          <a:ln w="19050">
            <a:solidFill>
              <a:srgbClr val="D97A14"/>
            </a:solidFill>
            <a:prstDash val="solid"/>
          </a:ln>
        </p:spPr>
      </p:sp>
      <p:sp>
        <p:nvSpPr>
          <p:cNvPr id="19" name="Shape 17"/>
          <p:cNvSpPr/>
          <p:nvPr/>
        </p:nvSpPr>
        <p:spPr>
          <a:xfrm>
            <a:off x="6345936" y="2203704"/>
            <a:ext cx="457200" cy="73152"/>
          </a:xfrm>
          <a:prstGeom prst="rect">
            <a:avLst/>
          </a:prstGeom>
          <a:solidFill>
            <a:srgbClr val="D97A14"/>
          </a:solidFill>
          <a:ln w="9525">
            <a:solidFill>
              <a:srgbClr val="D97A14"/>
            </a:solidFill>
            <a:prstDash val="solid"/>
          </a:ln>
        </p:spPr>
      </p:sp>
      <p:sp>
        <p:nvSpPr>
          <p:cNvPr id="20" name="Shape 18"/>
          <p:cNvSpPr/>
          <p:nvPr/>
        </p:nvSpPr>
        <p:spPr>
          <a:xfrm>
            <a:off x="6656832" y="2258568"/>
            <a:ext cx="64008" cy="109728"/>
          </a:xfrm>
          <a:prstGeom prst="rect">
            <a:avLst/>
          </a:prstGeom>
          <a:solidFill>
            <a:srgbClr val="D97A14"/>
          </a:solidFill>
          <a:ln w="9525">
            <a:solidFill>
              <a:srgbClr val="D97A14"/>
            </a:solidFill>
            <a:prstDash val="solid"/>
          </a:ln>
        </p:spPr>
      </p:sp>
      <p:sp>
        <p:nvSpPr>
          <p:cNvPr id="21" name="Text 19"/>
          <p:cNvSpPr txBox="1"/>
          <p:nvPr/>
        </p:nvSpPr>
        <p:spPr>
          <a:xfrm>
            <a:off x="4983480" y="2542032"/>
            <a:ext cx="3520440" cy="310896"/>
          </a:xfrm>
          <a:prstGeom prst="rect">
            <a:avLst/>
          </a:prstGeom>
          <a:noFill/>
          <a:ln/>
        </p:spPr>
        <p:txBody>
          <a:bodyPr wrap="square" lIns="0" tIns="0" rIns="0" bIns="0" rtlCol="0" anchor="ctr"/>
          <a:lstStyle/>
          <a:p>
            <a:pPr indent="0" marL="0">
              <a:buNone/>
            </a:pPr>
            <a:r>
              <a:rPr lang="en-US" sz="1400" b="1" dirty="0">
                <a:solidFill>
                  <a:srgbClr val="D97A14"/>
                </a:solidFill>
                <a:latin typeface="Cambria" pitchFamily="34" charset="0"/>
                <a:ea typeface="Cambria" pitchFamily="34" charset="-122"/>
                <a:cs typeface="Cambria" pitchFamily="34" charset="-120"/>
              </a:rPr>
              <a:t>your bitcoin</a:t>
            </a:r>
            <a:endParaRPr lang="en-US" sz="1400" dirty="0"/>
          </a:p>
        </p:txBody>
      </p:sp>
      <p:sp>
        <p:nvSpPr>
          <p:cNvPr id="22" name="Text 20"/>
          <p:cNvSpPr txBox="1"/>
          <p:nvPr/>
        </p:nvSpPr>
        <p:spPr>
          <a:xfrm>
            <a:off x="4983480" y="2871216"/>
            <a:ext cx="3520440" cy="82296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The key IS the deed. Signing with it is the only proof of ownership there is.</a:t>
            </a:r>
            <a:endParaRPr lang="en-US" sz="1200" dirty="0"/>
          </a:p>
        </p:txBody>
      </p:sp>
      <p:sp>
        <p:nvSpPr>
          <p:cNvPr id="23" name="Text 21"/>
          <p:cNvSpPr txBox="1"/>
          <p:nvPr/>
        </p:nvSpPr>
        <p:spPr>
          <a:xfrm>
            <a:off x="457200" y="3977640"/>
            <a:ext cx="8229600" cy="5029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B2622"/>
                </a:solidFill>
                <a:latin typeface="Calibri" pitchFamily="34" charset="0"/>
                <a:ea typeface="Calibri" pitchFamily="34" charset="-122"/>
                <a:cs typeface="Calibri" pitchFamily="34" charset="-120"/>
              </a:rPr>
              <a:t>Bitcoin's trick (ch. 4 and 8): a signature proves you hold the key while the key itself stays secret</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Prove you hold the key; never reveal it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46</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 holds the keys, holds the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one wallet decision that matters most</a:t>
            </a:r>
            <a:endParaRPr lang="en-US" sz="1300" dirty="0"/>
          </a:p>
        </p:txBody>
      </p:sp>
      <p:sp>
        <p:nvSpPr>
          <p:cNvPr id="6" name="Shape 4"/>
          <p:cNvSpPr/>
          <p:nvPr/>
        </p:nvSpPr>
        <p:spPr>
          <a:xfrm>
            <a:off x="457200" y="1371600"/>
            <a:ext cx="3931920" cy="1920240"/>
          </a:xfrm>
          <a:prstGeom prst="roundRect">
            <a:avLst>
              <a:gd name="adj" fmla="val 4762"/>
            </a:avLst>
          </a:prstGeom>
          <a:solidFill>
            <a:srgbClr val="F2ECE1"/>
          </a:solidFill>
          <a:ln w="15875">
            <a:solidFill>
              <a:srgbClr val="D97A14"/>
            </a:solidFill>
            <a:prstDash val="solid"/>
          </a:ln>
        </p:spPr>
      </p:sp>
      <p:sp>
        <p:nvSpPr>
          <p:cNvPr id="7" name="Text 5"/>
          <p:cNvSpPr txBox="1"/>
          <p:nvPr/>
        </p:nvSpPr>
        <p:spPr>
          <a:xfrm>
            <a:off x="640080" y="148132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control</a:t>
            </a:r>
            <a:endParaRPr lang="en-US" sz="1500" dirty="0"/>
          </a:p>
        </p:txBody>
      </p:sp>
      <p:sp>
        <p:nvSpPr>
          <p:cNvPr id="8" name="Text 6"/>
          <p:cNvSpPr txBox="1"/>
          <p:nvPr/>
        </p:nvSpPr>
        <p:spPr>
          <a:xfrm>
            <a:off x="64008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keep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sign; nobody can freeze</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Backup is your job</a:t>
            </a:r>
            <a:endParaRPr lang="en-US" sz="1300" dirty="0"/>
          </a:p>
        </p:txBody>
      </p:sp>
      <p:sp>
        <p:nvSpPr>
          <p:cNvPr id="9" name="Shape 7"/>
          <p:cNvSpPr/>
          <p:nvPr/>
        </p:nvSpPr>
        <p:spPr>
          <a:xfrm>
            <a:off x="4754880" y="1371600"/>
            <a:ext cx="3931920" cy="1920240"/>
          </a:xfrm>
          <a:prstGeom prst="roundRect">
            <a:avLst>
              <a:gd name="adj" fmla="val 4762"/>
            </a:avLst>
          </a:prstGeom>
          <a:solidFill>
            <a:srgbClr val="F2ECE1"/>
          </a:solidFill>
          <a:ln w="15875">
            <a:solidFill>
              <a:srgbClr val="2F6D62"/>
            </a:solidFill>
            <a:prstDash val="solid"/>
          </a:ln>
        </p:spPr>
      </p:sp>
      <p:sp>
        <p:nvSpPr>
          <p:cNvPr id="10" name="Text 8"/>
          <p:cNvSpPr txBox="1"/>
          <p:nvPr/>
        </p:nvSpPr>
        <p:spPr>
          <a:xfrm>
            <a:off x="4937760" y="148132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Third-party control</a:t>
            </a:r>
            <a:endParaRPr lang="en-US" sz="1500" dirty="0"/>
          </a:p>
        </p:txBody>
      </p:sp>
      <p:sp>
        <p:nvSpPr>
          <p:cNvPr id="11" name="Text 9"/>
          <p:cNvSpPr txBox="1"/>
          <p:nvPr/>
        </p:nvSpPr>
        <p:spPr>
          <a:xfrm>
            <a:off x="493776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A service keeps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Convenient, custodial</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trust their honesty and uptime</a:t>
            </a:r>
            <a:endParaRPr lang="en-US" sz="1300" dirty="0"/>
          </a:p>
        </p:txBody>
      </p:sp>
      <p:sp>
        <p:nvSpPr>
          <p:cNvPr id="12" name="Shape 10"/>
          <p:cNvSpPr/>
          <p:nvPr/>
        </p:nvSpPr>
        <p:spPr>
          <a:xfrm>
            <a:off x="457200" y="3520440"/>
            <a:ext cx="134096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520440"/>
            <a:ext cx="1340968"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desktop</a:t>
            </a:r>
            <a:endParaRPr lang="en-US" sz="1300" dirty="0"/>
          </a:p>
        </p:txBody>
      </p:sp>
      <p:sp>
        <p:nvSpPr>
          <p:cNvPr id="14" name="Shape 12"/>
          <p:cNvSpPr/>
          <p:nvPr/>
        </p:nvSpPr>
        <p:spPr>
          <a:xfrm>
            <a:off x="1999336" y="3520440"/>
            <a:ext cx="1204265"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1999336" y="3520440"/>
            <a:ext cx="1204265"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mobile</a:t>
            </a:r>
            <a:endParaRPr lang="en-US" sz="1300" dirty="0"/>
          </a:p>
        </p:txBody>
      </p:sp>
      <p:sp>
        <p:nvSpPr>
          <p:cNvPr id="16" name="Shape 14"/>
          <p:cNvSpPr/>
          <p:nvPr/>
        </p:nvSpPr>
        <p:spPr>
          <a:xfrm>
            <a:off x="3404768" y="3520440"/>
            <a:ext cx="794156"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404768" y="3520440"/>
            <a:ext cx="794156"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web</a:t>
            </a:r>
            <a:endParaRPr lang="en-US" sz="1300" dirty="0"/>
          </a:p>
        </p:txBody>
      </p:sp>
      <p:sp>
        <p:nvSpPr>
          <p:cNvPr id="18" name="Shape 16"/>
          <p:cNvSpPr/>
          <p:nvPr/>
        </p:nvSpPr>
        <p:spPr>
          <a:xfrm>
            <a:off x="4400093" y="3520440"/>
            <a:ext cx="147767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400093" y="3520440"/>
            <a:ext cx="1477670"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hardware</a:t>
            </a:r>
            <a:endParaRPr lang="en-US" sz="1300" dirty="0"/>
          </a:p>
        </p:txBody>
      </p:sp>
      <p:sp>
        <p:nvSpPr>
          <p:cNvPr id="20" name="Shape 18"/>
          <p:cNvSpPr/>
          <p:nvPr/>
        </p:nvSpPr>
        <p:spPr>
          <a:xfrm>
            <a:off x="6078931" y="3520440"/>
            <a:ext cx="1067562"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6078931" y="3520440"/>
            <a:ext cx="1067562"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paper</a:t>
            </a:r>
            <a:endParaRPr lang="en-US" sz="13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Custody is the first security decision you make</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46</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Mt. Gox: the exchange that lost everyone's coins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NOT EXECUTED: Tokyo, February 2014 - figures from the court filing, not recomputed</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Not a parable: a named company, a named CEO, a dated court filing - and the course's first security lesson.</a:t>
            </a:r>
            <a:endParaRPr lang="en-US" sz="1250" dirty="0"/>
          </a:p>
        </p:txBody>
      </p:sp>
      <p:pic>
        <p:nvPicPr>
          <p:cNvPr id="7" name="Image 0" descr="../../03-materials/ch01/assets/photo_mtgox_logo.png">    </p:cNvPr>
          <p:cNvPicPr>
            <a:picLocks noChangeAspect="1"/>
          </p:cNvPicPr>
          <p:nvPr/>
        </p:nvPicPr>
        <p:blipFill>
          <a:blip r:embed="rId1"/>
          <a:srcRect l="0" r="0" t="0" b="0"/>
          <a:stretch/>
        </p:blipFill>
        <p:spPr>
          <a:xfrm>
            <a:off x="6355080" y="2743200"/>
            <a:ext cx="2331720" cy="914400"/>
          </a:xfrm>
          <a:prstGeom prst="rect">
            <a:avLst/>
          </a:prstGeom>
        </p:spPr>
      </p:pic>
      <p:sp>
        <p:nvSpPr>
          <p:cNvPr id="8" name="Text 5"/>
          <p:cNvSpPr txBox="1"/>
          <p:nvPr/>
        </p:nvSpPr>
        <p:spPr>
          <a:xfrm>
            <a:off x="6355080" y="3675888"/>
            <a:ext cx="23317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Mt. Gox logo - author unknown, public domain</a:t>
            </a:r>
            <a:endParaRPr lang="en-US" sz="900" dirty="0"/>
          </a:p>
        </p:txBody>
      </p:sp>
      <p:sp>
        <p:nvSpPr>
          <p:cNvPr id="9" name="Shape 6"/>
          <p:cNvSpPr/>
          <p:nvPr/>
        </p:nvSpPr>
        <p:spPr>
          <a:xfrm>
            <a:off x="457200" y="1481328"/>
            <a:ext cx="2590800" cy="1143000"/>
          </a:xfrm>
          <a:prstGeom prst="roundRect">
            <a:avLst>
              <a:gd name="adj" fmla="val 6400"/>
            </a:avLst>
          </a:prstGeom>
          <a:solidFill>
            <a:srgbClr val="F2ECE1"/>
          </a:solidFill>
          <a:ln w="12700">
            <a:solidFill>
              <a:srgbClr val="DFD6C7"/>
            </a:solidFill>
            <a:prstDash val="solid"/>
          </a:ln>
        </p:spPr>
      </p:sp>
      <p:sp>
        <p:nvSpPr>
          <p:cNvPr id="10" name="Text 7"/>
          <p:cNvSpPr txBox="1"/>
          <p:nvPr/>
        </p:nvSpPr>
        <p:spPr>
          <a:xfrm>
            <a:off x="566928" y="1554480"/>
            <a:ext cx="2371344" cy="49834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850,000</a:t>
            </a:r>
            <a:endParaRPr lang="en-US" sz="2800" dirty="0"/>
          </a:p>
        </p:txBody>
      </p:sp>
      <p:sp>
        <p:nvSpPr>
          <p:cNvPr id="11" name="Text 8"/>
          <p:cNvSpPr txBox="1"/>
          <p:nvPr/>
        </p:nvSpPr>
        <p:spPr>
          <a:xfrm>
            <a:off x="566928" y="2075688"/>
            <a:ext cx="2371344" cy="50292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bitcoins missing per the Tokyo court filing, Feb 2014</a:t>
            </a:r>
            <a:endParaRPr lang="en-US" sz="1150" dirty="0"/>
          </a:p>
        </p:txBody>
      </p:sp>
      <p:sp>
        <p:nvSpPr>
          <p:cNvPr id="12" name="Shape 9"/>
          <p:cNvSpPr/>
          <p:nvPr/>
        </p:nvSpPr>
        <p:spPr>
          <a:xfrm>
            <a:off x="3276600" y="1481328"/>
            <a:ext cx="2590800" cy="1143000"/>
          </a:xfrm>
          <a:prstGeom prst="roundRect">
            <a:avLst>
              <a:gd name="adj" fmla="val 6400"/>
            </a:avLst>
          </a:prstGeom>
          <a:solidFill>
            <a:srgbClr val="F2ECE1"/>
          </a:solidFill>
          <a:ln w="12700">
            <a:solidFill>
              <a:srgbClr val="DFD6C7"/>
            </a:solidFill>
            <a:prstDash val="solid"/>
          </a:ln>
        </p:spPr>
      </p:sp>
      <p:sp>
        <p:nvSpPr>
          <p:cNvPr id="13" name="Text 10"/>
          <p:cNvSpPr txBox="1"/>
          <p:nvPr/>
        </p:nvSpPr>
        <p:spPr>
          <a:xfrm>
            <a:off x="3386328" y="1554480"/>
            <a:ext cx="2371344" cy="49834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a:t>
            </a:r>
            <a:endParaRPr lang="en-US" sz="2800" dirty="0"/>
          </a:p>
        </p:txBody>
      </p:sp>
      <p:sp>
        <p:nvSpPr>
          <p:cNvPr id="14" name="Text 11"/>
          <p:cNvSpPr txBox="1"/>
          <p:nvPr/>
        </p:nvSpPr>
        <p:spPr>
          <a:xfrm>
            <a:off x="3386328" y="2075688"/>
            <a:ext cx="2371344" cy="50292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Mt. Gox had been the largest bitcoin exchange in the world</a:t>
            </a:r>
            <a:endParaRPr lang="en-US" sz="1150" dirty="0"/>
          </a:p>
        </p:txBody>
      </p:sp>
      <p:sp>
        <p:nvSpPr>
          <p:cNvPr id="15" name="Shape 12"/>
          <p:cNvSpPr/>
          <p:nvPr/>
        </p:nvSpPr>
        <p:spPr>
          <a:xfrm>
            <a:off x="6096000" y="1481328"/>
            <a:ext cx="2590800" cy="1143000"/>
          </a:xfrm>
          <a:prstGeom prst="roundRect">
            <a:avLst>
              <a:gd name="adj" fmla="val 6400"/>
            </a:avLst>
          </a:prstGeom>
          <a:solidFill>
            <a:srgbClr val="F2ECE1"/>
          </a:solidFill>
          <a:ln w="12700">
            <a:solidFill>
              <a:srgbClr val="DFD6C7"/>
            </a:solidFill>
            <a:prstDash val="solid"/>
          </a:ln>
        </p:spPr>
      </p:sp>
      <p:sp>
        <p:nvSpPr>
          <p:cNvPr id="16" name="Text 13"/>
          <p:cNvSpPr txBox="1"/>
          <p:nvPr/>
        </p:nvSpPr>
        <p:spPr>
          <a:xfrm>
            <a:off x="6205728" y="1554480"/>
            <a:ext cx="2371344" cy="49834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10+ yrs</a:t>
            </a:r>
            <a:endParaRPr lang="en-US" sz="2800" dirty="0"/>
          </a:p>
        </p:txBody>
      </p:sp>
      <p:sp>
        <p:nvSpPr>
          <p:cNvPr id="17" name="Text 14"/>
          <p:cNvSpPr txBox="1"/>
          <p:nvPr/>
        </p:nvSpPr>
        <p:spPr>
          <a:xfrm>
            <a:off x="6205728" y="2075688"/>
            <a:ext cx="2371344" cy="50292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creditors still being repaid a decade later</a:t>
            </a:r>
            <a:endParaRPr lang="en-US" sz="1150" dirty="0"/>
          </a:p>
        </p:txBody>
      </p:sp>
      <p:sp>
        <p:nvSpPr>
          <p:cNvPr id="18" name="Shape 15"/>
          <p:cNvSpPr/>
          <p:nvPr/>
        </p:nvSpPr>
        <p:spPr>
          <a:xfrm>
            <a:off x="457200" y="3010662"/>
            <a:ext cx="128016" cy="128016"/>
          </a:xfrm>
          <a:prstGeom prst="diamond">
            <a:avLst/>
          </a:prstGeom>
          <a:solidFill>
            <a:srgbClr val="D97A14"/>
          </a:solidFill>
          <a:ln w="12700">
            <a:solidFill>
              <a:srgbClr val="D97A14"/>
            </a:solidFill>
            <a:prstDash val="solid"/>
          </a:ln>
        </p:spPr>
      </p:sp>
      <p:sp>
        <p:nvSpPr>
          <p:cNvPr id="19" name="Text 16"/>
          <p:cNvSpPr txBox="1"/>
          <p:nvPr/>
        </p:nvSpPr>
        <p:spPr>
          <a:xfrm>
            <a:off x="731520" y="2788920"/>
            <a:ext cx="5394960" cy="5715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Customers saw balances on a website; the keys - so the coins - sat in one company's safe</a:t>
            </a:r>
            <a:endParaRPr lang="en-US" sz="1300" dirty="0"/>
          </a:p>
        </p:txBody>
      </p:sp>
      <p:sp>
        <p:nvSpPr>
          <p:cNvPr id="20" name="Shape 17"/>
          <p:cNvSpPr/>
          <p:nvPr/>
        </p:nvSpPr>
        <p:spPr>
          <a:xfrm>
            <a:off x="457200" y="3582162"/>
            <a:ext cx="128016" cy="128016"/>
          </a:xfrm>
          <a:prstGeom prst="diamond">
            <a:avLst/>
          </a:prstGeom>
          <a:solidFill>
            <a:srgbClr val="D97A14"/>
          </a:solidFill>
          <a:ln w="12700">
            <a:solidFill>
              <a:srgbClr val="D97A14"/>
            </a:solidFill>
            <a:prstDash val="solid"/>
          </a:ln>
        </p:spPr>
      </p:sp>
      <p:sp>
        <p:nvSpPr>
          <p:cNvPr id="21" name="Text 18"/>
          <p:cNvSpPr txBox="1"/>
          <p:nvPr/>
        </p:nvSpPr>
        <p:spPr>
          <a:xfrm>
            <a:off x="731520" y="3360420"/>
            <a:ext cx="5394960" cy="5715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When the keys vanished, every balance on the screen meant nothing</a:t>
            </a:r>
            <a:endParaRPr lang="en-US" sz="1300" dirty="0"/>
          </a:p>
        </p:txBody>
      </p:sp>
      <p:sp>
        <p:nvSpPr>
          <p:cNvPr id="22" name="Shape 19"/>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Mt. Gox, led by CEO Mark…</a:t>
            </a:r>
            <a:endParaRPr lang="en-US" sz="750" dirty="0"/>
          </a:p>
        </p:txBody>
      </p:sp>
      <p:sp>
        <p:nvSpPr>
          <p:cNvPr id="24" name="Shape 21"/>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5" name="Text 22"/>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Tokyo; bankruptcy file…</a:t>
            </a:r>
            <a:endParaRPr lang="en-US" sz="750" dirty="0"/>
          </a:p>
        </p:txBody>
      </p:sp>
      <p:sp>
        <p:nvSpPr>
          <p:cNvPr id="26" name="Shape 23"/>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7" name="Text 24"/>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2014-02-28</a:t>
            </a:r>
            <a:endParaRPr lang="en-US" sz="750" dirty="0"/>
          </a:p>
        </p:txBody>
      </p:sp>
      <p:sp>
        <p:nvSpPr>
          <p:cNvPr id="28" name="Shape 25"/>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9" name="Text 26"/>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Mt.Gox filing statement, TechCrunch (news)</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techcrunch.com</a:t>
            </a:r>
            <a:endParaRPr lang="en-US" sz="750" dirty="0"/>
          </a:p>
        </p:txBody>
      </p:sp>
      <p:sp>
        <p:nvSpPr>
          <p:cNvPr id="30"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Whoever holds the keys holds the coins - exchanges included</a:t>
            </a:r>
            <a:endParaRPr lang="en-US" sz="1350" dirty="0"/>
          </a:p>
        </p:txBody>
      </p:sp>
      <p:sp>
        <p:nvSpPr>
          <p:cNvPr id="32"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46</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phrase to a key, slowly on purpose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Key stretching makes guessing expensive</a:t>
            </a:r>
            <a:endParaRPr lang="en-US" sz="1300" dirty="0"/>
          </a:p>
        </p:txBody>
      </p:sp>
      <p:sp>
        <p:nvSpPr>
          <p:cNvPr id="6" name="Shape 4"/>
          <p:cNvSpPr/>
          <p:nvPr/>
        </p:nvSpPr>
        <p:spPr>
          <a:xfrm>
            <a:off x="457200" y="1484757"/>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371600"/>
            <a:ext cx="2971800" cy="35433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Start from a human backup phrase and a salt</a:t>
            </a:r>
            <a:endParaRPr lang="en-US" sz="1100" dirty="0"/>
          </a:p>
        </p:txBody>
      </p:sp>
      <p:sp>
        <p:nvSpPr>
          <p:cNvPr id="8" name="Shape 6"/>
          <p:cNvSpPr/>
          <p:nvPr/>
        </p:nvSpPr>
        <p:spPr>
          <a:xfrm>
            <a:off x="457200" y="1839087"/>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25930"/>
            <a:ext cx="2971800" cy="35433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Hash them with HMAC-SHA512 - that is one round</a:t>
            </a:r>
            <a:endParaRPr lang="en-US" sz="1100" dirty="0"/>
          </a:p>
        </p:txBody>
      </p:sp>
      <p:sp>
        <p:nvSpPr>
          <p:cNvPr id="10" name="Shape 8"/>
          <p:cNvSpPr/>
          <p:nvPr/>
        </p:nvSpPr>
        <p:spPr>
          <a:xfrm>
            <a:off x="457200" y="2193417"/>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80260"/>
            <a:ext cx="2971800" cy="35433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Feed each round into the next, 2,048 times</a:t>
            </a:r>
            <a:endParaRPr lang="en-US" sz="1100" dirty="0"/>
          </a:p>
        </p:txBody>
      </p:sp>
      <p:sp>
        <p:nvSpPr>
          <p:cNvPr id="12" name="Shape 10"/>
          <p:cNvSpPr/>
          <p:nvPr/>
        </p:nvSpPr>
        <p:spPr>
          <a:xfrm>
            <a:off x="457200" y="2547747"/>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434590"/>
            <a:ext cx="2971800" cy="35433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Result: a 64-byte seed; a guesser pays the 2,048 rounds for every guess</a:t>
            </a:r>
            <a:endParaRPr lang="en-US" sz="1100" dirty="0"/>
          </a:p>
        </p:txBody>
      </p:sp>
      <p:sp>
        <p:nvSpPr>
          <p:cNvPr id="14" name="Shape 12"/>
          <p:cNvSpPr/>
          <p:nvPr/>
        </p:nvSpPr>
        <p:spPr>
          <a:xfrm flipV="1">
            <a:off x="4206240" y="1371600"/>
            <a:ext cx="4206240" cy="164592"/>
          </a:xfrm>
          <a:prstGeom prst="trapezoid">
            <a:avLst/>
          </a:prstGeom>
          <a:solidFill>
            <a:srgbClr val="2F6D62"/>
          </a:solidFill>
          <a:ln w="12700">
            <a:solidFill>
              <a:srgbClr val="FFFFFF"/>
            </a:solidFill>
            <a:prstDash val="solid"/>
          </a:ln>
        </p:spPr>
      </p:sp>
      <p:sp>
        <p:nvSpPr>
          <p:cNvPr id="15" name="Text 13"/>
          <p:cNvSpPr txBox="1"/>
          <p:nvPr/>
        </p:nvSpPr>
        <p:spPr>
          <a:xfrm>
            <a:off x="4206240" y="1371600"/>
            <a:ext cx="4206240" cy="16459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phrase 'abandon' + salt</a:t>
            </a:r>
            <a:endParaRPr lang="en-US" sz="1050" dirty="0"/>
          </a:p>
        </p:txBody>
      </p:sp>
      <p:sp>
        <p:nvSpPr>
          <p:cNvPr id="16" name="Shape 14"/>
          <p:cNvSpPr/>
          <p:nvPr/>
        </p:nvSpPr>
        <p:spPr>
          <a:xfrm flipV="1">
            <a:off x="4584802" y="1645920"/>
            <a:ext cx="3449117" cy="164592"/>
          </a:xfrm>
          <a:prstGeom prst="trapezoid">
            <a:avLst/>
          </a:prstGeom>
          <a:solidFill>
            <a:srgbClr val="2F6D62"/>
          </a:solidFill>
          <a:ln w="12700">
            <a:solidFill>
              <a:srgbClr val="FFFFFF"/>
            </a:solidFill>
            <a:prstDash val="solid"/>
          </a:ln>
        </p:spPr>
      </p:sp>
      <p:sp>
        <p:nvSpPr>
          <p:cNvPr id="17" name="Text 15"/>
          <p:cNvSpPr txBox="1"/>
          <p:nvPr/>
        </p:nvSpPr>
        <p:spPr>
          <a:xfrm>
            <a:off x="4584802" y="1645920"/>
            <a:ext cx="3449117" cy="16459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HMAC-SHA512, round 1</a:t>
            </a:r>
            <a:endParaRPr lang="en-US" sz="1050" dirty="0"/>
          </a:p>
        </p:txBody>
      </p:sp>
      <p:sp>
        <p:nvSpPr>
          <p:cNvPr id="18" name="Shape 16"/>
          <p:cNvSpPr/>
          <p:nvPr/>
        </p:nvSpPr>
        <p:spPr>
          <a:xfrm flipV="1">
            <a:off x="4963363" y="1920240"/>
            <a:ext cx="2691994" cy="164592"/>
          </a:xfrm>
          <a:prstGeom prst="trapezoid">
            <a:avLst/>
          </a:prstGeom>
          <a:solidFill>
            <a:srgbClr val="2F6D62"/>
          </a:solidFill>
          <a:ln w="12700">
            <a:solidFill>
              <a:srgbClr val="FFFFFF"/>
            </a:solidFill>
            <a:prstDash val="solid"/>
          </a:ln>
        </p:spPr>
      </p:sp>
      <p:sp>
        <p:nvSpPr>
          <p:cNvPr id="19" name="Text 17"/>
          <p:cNvSpPr txBox="1"/>
          <p:nvPr/>
        </p:nvSpPr>
        <p:spPr>
          <a:xfrm>
            <a:off x="4963363" y="1920240"/>
            <a:ext cx="2691994" cy="16459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 2,048 rounds ...</a:t>
            </a:r>
            <a:endParaRPr lang="en-US" sz="1050" dirty="0"/>
          </a:p>
        </p:txBody>
      </p:sp>
      <p:sp>
        <p:nvSpPr>
          <p:cNvPr id="20" name="Shape 18"/>
          <p:cNvSpPr/>
          <p:nvPr/>
        </p:nvSpPr>
        <p:spPr>
          <a:xfrm flipV="1">
            <a:off x="5341925" y="2194560"/>
            <a:ext cx="1934870" cy="164592"/>
          </a:xfrm>
          <a:prstGeom prst="trapezoid">
            <a:avLst/>
          </a:prstGeom>
          <a:solidFill>
            <a:srgbClr val="D97A14"/>
          </a:solidFill>
          <a:ln w="12700">
            <a:solidFill>
              <a:srgbClr val="FFFFFF"/>
            </a:solidFill>
            <a:prstDash val="solid"/>
          </a:ln>
        </p:spPr>
      </p:sp>
      <p:sp>
        <p:nvSpPr>
          <p:cNvPr id="21" name="Text 19"/>
          <p:cNvSpPr txBox="1"/>
          <p:nvPr/>
        </p:nvSpPr>
        <p:spPr>
          <a:xfrm>
            <a:off x="5341925" y="2194560"/>
            <a:ext cx="1934870" cy="16459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the wallet seed: 64 bytes</a:t>
            </a:r>
            <a:endParaRPr lang="en-US" sz="1050" dirty="0"/>
          </a:p>
        </p:txBody>
      </p:sp>
      <p:sp>
        <p:nvSpPr>
          <p:cNvPr id="22" name="Text 20"/>
          <p:cNvSpPr txBox="1"/>
          <p:nvPr/>
        </p:nvSpPr>
        <p:spPr>
          <a:xfrm>
            <a:off x="4206240" y="2505456"/>
            <a:ext cx="42062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result: a 64-byte seed, digest d96147bf</a:t>
            </a:r>
            <a:endParaRPr lang="en-US" sz="1050" dirty="0"/>
          </a:p>
        </p:txBody>
      </p:sp>
      <p:sp>
        <p:nvSpPr>
          <p:cNvPr id="23" name="Text 21"/>
          <p:cNvSpPr txBox="1"/>
          <p:nvPr/>
        </p:nvSpPr>
        <p:spPr>
          <a:xfrm>
            <a:off x="457200" y="2834640"/>
            <a:ext cx="4315968"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24" name="Shape 22"/>
          <p:cNvSpPr/>
          <p:nvPr/>
        </p:nvSpPr>
        <p:spPr>
          <a:xfrm>
            <a:off x="457200" y="3108960"/>
            <a:ext cx="8229600" cy="1435608"/>
          </a:xfrm>
          <a:prstGeom prst="roundRect">
            <a:avLst>
              <a:gd name="adj" fmla="val 6369"/>
            </a:avLst>
          </a:prstGeom>
          <a:solidFill>
            <a:srgbClr val="23272E"/>
          </a:solidFill>
          <a:ln w="12700">
            <a:solidFill>
              <a:srgbClr val="23272E"/>
            </a:solidFill>
            <a:prstDash val="solid"/>
          </a:ln>
        </p:spPr>
      </p:sp>
      <p:sp>
        <p:nvSpPr>
          <p:cNvPr id="25" name="Text 23"/>
          <p:cNvSpPr txBox="1"/>
          <p:nvPr/>
        </p:nvSpPr>
        <p:spPr>
          <a:xfrm>
            <a:off x="640080" y="3227832"/>
            <a:ext cx="7863840" cy="1197864"/>
          </a:xfrm>
          <a:prstGeom prst="rect">
            <a:avLst/>
          </a:prstGeom>
          <a:noFill/>
          <a:ln/>
        </p:spPr>
        <p:txBody>
          <a:bodyPr wrap="square" lIns="0" tIns="0" rIns="0" bIns="0" rtlCol="0" anchor="t"/>
          <a:lstStyle/>
          <a:p>
            <a:pPr indent="0" marL="0">
              <a:buNone/>
            </a:pPr>
            <a:r>
              <a:rPr lang="en-US" sz="740" b="1" dirty="0">
                <a:solidFill>
                  <a:srgbClr val="F2A860"/>
                </a:solidFill>
                <a:latin typeface="Courier New" pitchFamily="34" charset="0"/>
                <a:ea typeface="Courier New" pitchFamily="34" charset="-122"/>
                <a:cs typeface="Courier New" pitchFamily="34" charset="-120"/>
              </a:rPr>
              <a:t>import</a:t>
            </a:r>
            <a:r>
              <a:rPr lang="en-US" sz="740" dirty="0">
                <a:solidFill>
                  <a:srgbClr val="E6EDF3"/>
                </a:solidFill>
                <a:latin typeface="Courier New" pitchFamily="34" charset="0"/>
                <a:ea typeface="Courier New" pitchFamily="34" charset="-122"/>
                <a:cs typeface="Courier New" pitchFamily="34" charset="-120"/>
              </a:rPr>
              <a:t> hmac</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password, salt, iters = b</a:t>
            </a:r>
            <a:r>
              <a:rPr lang="en-US" sz="740" dirty="0">
                <a:solidFill>
                  <a:srgbClr val="9ECBFF"/>
                </a:solidFill>
                <a:latin typeface="Courier New" pitchFamily="34" charset="0"/>
                <a:ea typeface="Courier New" pitchFamily="34" charset="-122"/>
                <a:cs typeface="Courier New" pitchFamily="34" charset="-120"/>
              </a:rPr>
              <a:t>'abandon'</a:t>
            </a:r>
            <a:r>
              <a:rPr lang="en-US" sz="740" dirty="0">
                <a:solidFill>
                  <a:srgbClr val="E6EDF3"/>
                </a:solidFill>
                <a:latin typeface="Courier New" pitchFamily="34" charset="0"/>
                <a:ea typeface="Courier New" pitchFamily="34" charset="-122"/>
                <a:cs typeface="Courier New" pitchFamily="34" charset="-120"/>
              </a:rPr>
              <a:t>, b</a:t>
            </a:r>
            <a:r>
              <a:rPr lang="en-US" sz="740" dirty="0">
                <a:solidFill>
                  <a:srgbClr val="9ECBFF"/>
                </a:solidFill>
                <a:latin typeface="Courier New" pitchFamily="34" charset="0"/>
                <a:ea typeface="Courier New" pitchFamily="34" charset="-122"/>
                <a:cs typeface="Courier New" pitchFamily="34" charset="-120"/>
              </a:rPr>
              <a:t>'mnemonic'</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2048</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u = hmac.new(password, salt + bytes([</a:t>
            </a:r>
            <a:r>
              <a:rPr lang="en-US" sz="740" dirty="0">
                <a:solidFill>
                  <a:srgbClr val="FFD28A"/>
                </a:solidFill>
                <a:latin typeface="Courier New" pitchFamily="34" charset="0"/>
                <a:ea typeface="Courier New" pitchFamily="34" charset="-122"/>
                <a:cs typeface="Courier New" pitchFamily="34" charset="-120"/>
              </a:rPr>
              <a:t>0</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0</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0</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1</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'sha512'</a:t>
            </a:r>
            <a:r>
              <a:rPr lang="en-US" sz="740" dirty="0">
                <a:solidFill>
                  <a:srgbClr val="E6EDF3"/>
                </a:solidFill>
                <a:latin typeface="Courier New" pitchFamily="34" charset="0"/>
                <a:ea typeface="Courier New" pitchFamily="34" charset="-122"/>
                <a:cs typeface="Courier New" pitchFamily="34" charset="-120"/>
              </a:rPr>
              <a:t>).digest()</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seed = u</a:t>
            </a:r>
            <a:endParaRPr lang="en-US" sz="740" dirty="0"/>
          </a:p>
          <a:p>
            <a:pPr indent="0" marL="0">
              <a:buNone/>
            </a:pPr>
            <a:r>
              <a:rPr lang="en-US" sz="740" b="1" dirty="0">
                <a:solidFill>
                  <a:srgbClr val="F2A860"/>
                </a:solidFill>
                <a:latin typeface="Courier New" pitchFamily="34" charset="0"/>
                <a:ea typeface="Courier New" pitchFamily="34" charset="-122"/>
                <a:cs typeface="Courier New" pitchFamily="34" charset="-120"/>
              </a:rPr>
              <a:t>for</a:t>
            </a:r>
            <a:r>
              <a:rPr lang="en-US" sz="740" dirty="0">
                <a:solidFill>
                  <a:srgbClr val="E6EDF3"/>
                </a:solidFill>
                <a:latin typeface="Courier New" pitchFamily="34" charset="0"/>
                <a:ea typeface="Courier New" pitchFamily="34" charset="-122"/>
                <a:cs typeface="Courier New" pitchFamily="34" charset="-120"/>
              </a:rPr>
              <a:t> _ </a:t>
            </a:r>
            <a:r>
              <a:rPr lang="en-US" sz="740" b="1" dirty="0">
                <a:solidFill>
                  <a:srgbClr val="F2A860"/>
                </a:solidFill>
                <a:latin typeface="Courier New" pitchFamily="34" charset="0"/>
                <a:ea typeface="Courier New" pitchFamily="34" charset="-122"/>
                <a:cs typeface="Courier New" pitchFamily="34" charset="-120"/>
              </a:rPr>
              <a:t>in</a:t>
            </a:r>
            <a:r>
              <a:rPr lang="en-US" sz="740" dirty="0">
                <a:solidFill>
                  <a:srgbClr val="E6EDF3"/>
                </a:solidFill>
                <a:latin typeface="Courier New" pitchFamily="34" charset="0"/>
                <a:ea typeface="Courier New" pitchFamily="34" charset="-122"/>
                <a:cs typeface="Courier New" pitchFamily="34" charset="-120"/>
              </a:rPr>
              <a:t> range(iters - </a:t>
            </a:r>
            <a:r>
              <a:rPr lang="en-US" sz="740" dirty="0">
                <a:solidFill>
                  <a:srgbClr val="FFD28A"/>
                </a:solidFill>
                <a:latin typeface="Courier New" pitchFamily="34" charset="0"/>
                <a:ea typeface="Courier New" pitchFamily="34" charset="-122"/>
                <a:cs typeface="Courier New" pitchFamily="34" charset="-120"/>
              </a:rPr>
              <a:t>1</a:t>
            </a:r>
            <a:r>
              <a:rPr lang="en-US" sz="740" dirty="0">
                <a:solidFill>
                  <a:srgbClr val="E6EDF3"/>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u = hmac.new(password, u, </a:t>
            </a:r>
            <a:r>
              <a:rPr lang="en-US" sz="740" dirty="0">
                <a:solidFill>
                  <a:srgbClr val="9ECBFF"/>
                </a:solidFill>
                <a:latin typeface="Courier New" pitchFamily="34" charset="0"/>
                <a:ea typeface="Courier New" pitchFamily="34" charset="-122"/>
                <a:cs typeface="Courier New" pitchFamily="34" charset="-120"/>
              </a:rPr>
              <a:t>'sha512'</a:t>
            </a:r>
            <a:r>
              <a:rPr lang="en-US" sz="740" dirty="0">
                <a:solidFill>
                  <a:srgbClr val="E6EDF3"/>
                </a:solidFill>
                <a:latin typeface="Courier New" pitchFamily="34" charset="0"/>
                <a:ea typeface="Courier New" pitchFamily="34" charset="-122"/>
                <a:cs typeface="Courier New" pitchFamily="34" charset="-120"/>
              </a:rPr>
              <a:t>).digest()</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seed = bytes(a ^ b </a:t>
            </a:r>
            <a:r>
              <a:rPr lang="en-US" sz="740" b="1" dirty="0">
                <a:solidFill>
                  <a:srgbClr val="F2A860"/>
                </a:solidFill>
                <a:latin typeface="Courier New" pitchFamily="34" charset="0"/>
                <a:ea typeface="Courier New" pitchFamily="34" charset="-122"/>
                <a:cs typeface="Courier New" pitchFamily="34" charset="-120"/>
              </a:rPr>
              <a:t>for</a:t>
            </a:r>
            <a:r>
              <a:rPr lang="en-US" sz="740" dirty="0">
                <a:solidFill>
                  <a:srgbClr val="E6EDF3"/>
                </a:solidFill>
                <a:latin typeface="Courier New" pitchFamily="34" charset="0"/>
                <a:ea typeface="Courier New" pitchFamily="34" charset="-122"/>
                <a:cs typeface="Courier New" pitchFamily="34" charset="-120"/>
              </a:rPr>
              <a:t> a, b </a:t>
            </a:r>
            <a:r>
              <a:rPr lang="en-US" sz="740" b="1" dirty="0">
                <a:solidFill>
                  <a:srgbClr val="F2A860"/>
                </a:solidFill>
                <a:latin typeface="Courier New" pitchFamily="34" charset="0"/>
                <a:ea typeface="Courier New" pitchFamily="34" charset="-122"/>
                <a:cs typeface="Courier New" pitchFamily="34" charset="-120"/>
              </a:rPr>
              <a:t>in</a:t>
            </a:r>
            <a:r>
              <a:rPr lang="en-US" sz="740" dirty="0">
                <a:solidFill>
                  <a:srgbClr val="E6EDF3"/>
                </a:solidFill>
                <a:latin typeface="Courier New" pitchFamily="34" charset="0"/>
                <a:ea typeface="Courier New" pitchFamily="34" charset="-122"/>
                <a:cs typeface="Courier New" pitchFamily="34" charset="-120"/>
              </a:rPr>
              <a:t> zip(seed, u))</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result = (len(seed), seed.hex()[:</a:t>
            </a:r>
            <a:r>
              <a:rPr lang="en-US" sz="740" dirty="0">
                <a:solidFill>
                  <a:srgbClr val="FFD28A"/>
                </a:solidFill>
                <a:latin typeface="Courier New" pitchFamily="34" charset="0"/>
                <a:ea typeface="Courier New" pitchFamily="34" charset="-122"/>
                <a:cs typeface="Courier New" pitchFamily="34" charset="-120"/>
              </a:rPr>
              <a:t>8</a:t>
            </a:r>
            <a:r>
              <a:rPr lang="en-US" sz="740" dirty="0">
                <a:solidFill>
                  <a:srgbClr val="E6EDF3"/>
                </a:solidFill>
                <a:latin typeface="Courier New" pitchFamily="34" charset="0"/>
                <a:ea typeface="Courier New" pitchFamily="34" charset="-122"/>
                <a:cs typeface="Courier New" pitchFamily="34" charset="-120"/>
              </a:rPr>
              <a:t>])</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result </a:t>
            </a:r>
            <a:r>
              <a:rPr lang="en-US" sz="740" dirty="0">
                <a:solidFill>
                  <a:srgbClr val="7EE787"/>
                </a:solidFill>
                <a:latin typeface="Courier New" pitchFamily="34" charset="0"/>
                <a:ea typeface="Courier New" pitchFamily="34" charset="-122"/>
                <a:cs typeface="Courier New" pitchFamily="34" charset="-120"/>
              </a:rPr>
              <a:t>(64, 'd96147bf')</a:t>
            </a:r>
            <a:endParaRPr lang="en-US" sz="740" dirty="0"/>
          </a:p>
        </p:txBody>
      </p:sp>
      <p:sp>
        <p:nvSpPr>
          <p:cNvPr id="26" name="Text 24"/>
          <p:cNvSpPr txBox="1"/>
          <p:nvPr/>
        </p:nvSpPr>
        <p:spPr>
          <a:xfrm>
            <a:off x="4864608" y="2834640"/>
            <a:ext cx="3822192"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KeyStretching, lines 1 to 8 of 8, run under Python 3.14.6</a:t>
            </a:r>
            <a:endParaRPr lang="en-US" sz="9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Slowness here is a feature priced against attackers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46</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Alice's first bitcoin, step by step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running story begins</a:t>
            </a:r>
            <a:endParaRPr lang="en-US" sz="1300" dirty="0"/>
          </a:p>
        </p:txBody>
      </p:sp>
      <p:sp>
        <p:nvSpPr>
          <p:cNvPr id="6" name="Shape 4"/>
          <p:cNvSpPr/>
          <p:nvPr/>
        </p:nvSpPr>
        <p:spPr>
          <a:xfrm>
            <a:off x="457200" y="1280160"/>
            <a:ext cx="1700784" cy="731520"/>
          </a:xfrm>
          <a:prstGeom prst="roundRect">
            <a:avLst>
              <a:gd name="adj" fmla="val 12500"/>
            </a:avLst>
          </a:prstGeom>
          <a:solidFill>
            <a:srgbClr val="2F6D62"/>
          </a:solidFill>
          <a:ln w="12700">
            <a:solidFill>
              <a:srgbClr val="2F6D62"/>
            </a:solidFill>
            <a:prstDash val="solid"/>
          </a:ln>
        </p:spPr>
      </p:sp>
      <p:sp>
        <p:nvSpPr>
          <p:cNvPr id="7" name="Text 5"/>
          <p:cNvSpPr txBox="1"/>
          <p:nvPr/>
        </p:nvSpPr>
        <p:spPr>
          <a:xfrm>
            <a:off x="530352" y="1325880"/>
            <a:ext cx="155448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Install a wallet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keys made on her phone</a:t>
            </a:r>
            <a:endParaRPr lang="en-US" sz="1250" dirty="0"/>
          </a:p>
        </p:txBody>
      </p:sp>
      <p:sp>
        <p:nvSpPr>
          <p:cNvPr id="8" name="Shape 6"/>
          <p:cNvSpPr/>
          <p:nvPr/>
        </p:nvSpPr>
        <p:spPr>
          <a:xfrm>
            <a:off x="2212848" y="1645920"/>
            <a:ext cx="365760" cy="0"/>
          </a:xfrm>
          <a:prstGeom prst="line">
            <a:avLst/>
          </a:prstGeom>
          <a:noFill/>
          <a:ln w="25400">
            <a:solidFill>
              <a:srgbClr val="D97A14"/>
            </a:solidFill>
            <a:prstDash val="solid"/>
            <a:tailEnd type="triangle"/>
          </a:ln>
        </p:spPr>
      </p:sp>
      <p:sp>
        <p:nvSpPr>
          <p:cNvPr id="9" name="Shape 7"/>
          <p:cNvSpPr/>
          <p:nvPr/>
        </p:nvSpPr>
        <p:spPr>
          <a:xfrm>
            <a:off x="2633472" y="1280160"/>
            <a:ext cx="1700784" cy="731520"/>
          </a:xfrm>
          <a:prstGeom prst="roundRect">
            <a:avLst>
              <a:gd name="adj" fmla="val 12500"/>
            </a:avLst>
          </a:prstGeom>
          <a:solidFill>
            <a:srgbClr val="2F6D62"/>
          </a:solidFill>
          <a:ln w="12700">
            <a:solidFill>
              <a:srgbClr val="2F6D62"/>
            </a:solidFill>
            <a:prstDash val="solid"/>
          </a:ln>
        </p:spPr>
      </p:sp>
      <p:sp>
        <p:nvSpPr>
          <p:cNvPr id="10" name="Text 8"/>
          <p:cNvSpPr txBox="1"/>
          <p:nvPr/>
        </p:nvSpPr>
        <p:spPr>
          <a:xfrm>
            <a:off x="2706624" y="1325880"/>
            <a:ext cx="155448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First address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shared as text or QR</a:t>
            </a:r>
            <a:endParaRPr lang="en-US" sz="1250" dirty="0"/>
          </a:p>
        </p:txBody>
      </p:sp>
      <p:sp>
        <p:nvSpPr>
          <p:cNvPr id="11" name="Shape 9"/>
          <p:cNvSpPr/>
          <p:nvPr/>
        </p:nvSpPr>
        <p:spPr>
          <a:xfrm>
            <a:off x="4389120" y="1645920"/>
            <a:ext cx="365760" cy="0"/>
          </a:xfrm>
          <a:prstGeom prst="line">
            <a:avLst/>
          </a:prstGeom>
          <a:noFill/>
          <a:ln w="25400">
            <a:solidFill>
              <a:srgbClr val="D97A14"/>
            </a:solidFill>
            <a:prstDash val="solid"/>
            <a:tailEnd type="triangle"/>
          </a:ln>
        </p:spPr>
      </p:sp>
      <p:sp>
        <p:nvSpPr>
          <p:cNvPr id="12" name="Shape 10"/>
          <p:cNvSpPr/>
          <p:nvPr/>
        </p:nvSpPr>
        <p:spPr>
          <a:xfrm>
            <a:off x="4809744" y="1280160"/>
            <a:ext cx="1700784" cy="731520"/>
          </a:xfrm>
          <a:prstGeom prst="roundRect">
            <a:avLst>
              <a:gd name="adj" fmla="val 12500"/>
            </a:avLst>
          </a:prstGeom>
          <a:solidFill>
            <a:srgbClr val="2F6D62"/>
          </a:solidFill>
          <a:ln w="12700">
            <a:solidFill>
              <a:srgbClr val="2F6D62"/>
            </a:solidFill>
            <a:prstDash val="solid"/>
          </a:ln>
        </p:spPr>
      </p:sp>
      <p:sp>
        <p:nvSpPr>
          <p:cNvPr id="13" name="Text 11"/>
          <p:cNvSpPr txBox="1"/>
          <p:nvPr/>
        </p:nvSpPr>
        <p:spPr>
          <a:xfrm>
            <a:off x="4882896" y="1325880"/>
            <a:ext cx="155448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Acquire bitcoin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buy, earn, or exchange</a:t>
            </a:r>
            <a:endParaRPr lang="en-US" sz="1250" dirty="0"/>
          </a:p>
        </p:txBody>
      </p:sp>
      <p:sp>
        <p:nvSpPr>
          <p:cNvPr id="14" name="Shape 12"/>
          <p:cNvSpPr/>
          <p:nvPr/>
        </p:nvSpPr>
        <p:spPr>
          <a:xfrm>
            <a:off x="6565392" y="1645920"/>
            <a:ext cx="365760" cy="0"/>
          </a:xfrm>
          <a:prstGeom prst="line">
            <a:avLst/>
          </a:prstGeom>
          <a:noFill/>
          <a:ln w="25400">
            <a:solidFill>
              <a:srgbClr val="D97A14"/>
            </a:solidFill>
            <a:prstDash val="solid"/>
            <a:tailEnd type="triangle"/>
          </a:ln>
        </p:spPr>
      </p:sp>
      <p:sp>
        <p:nvSpPr>
          <p:cNvPr id="15" name="Shape 13"/>
          <p:cNvSpPr/>
          <p:nvPr/>
        </p:nvSpPr>
        <p:spPr>
          <a:xfrm>
            <a:off x="6986016" y="1280160"/>
            <a:ext cx="1700784" cy="731520"/>
          </a:xfrm>
          <a:prstGeom prst="roundRect">
            <a:avLst>
              <a:gd name="adj" fmla="val 12500"/>
            </a:avLst>
          </a:prstGeom>
          <a:solidFill>
            <a:srgbClr val="2F6D62"/>
          </a:solidFill>
          <a:ln w="12700">
            <a:solidFill>
              <a:srgbClr val="2F6D62"/>
            </a:solidFill>
            <a:prstDash val="solid"/>
          </a:ln>
        </p:spPr>
      </p:sp>
      <p:sp>
        <p:nvSpPr>
          <p:cNvPr id="16" name="Text 14"/>
          <p:cNvSpPr txBox="1"/>
          <p:nvPr/>
        </p:nvSpPr>
        <p:spPr>
          <a:xfrm>
            <a:off x="7059168" y="1325880"/>
            <a:ext cx="155448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Confirmations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network accepts it</a:t>
            </a:r>
            <a:endParaRPr lang="en-US" sz="1250" dirty="0"/>
          </a:p>
        </p:txBody>
      </p:sp>
      <p:sp>
        <p:nvSpPr>
          <p:cNvPr id="17" name="Shape 15"/>
          <p:cNvSpPr/>
          <p:nvPr/>
        </p:nvSpPr>
        <p:spPr>
          <a:xfrm>
            <a:off x="457200" y="223723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731520" y="2103120"/>
            <a:ext cx="3017520" cy="3962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channel opens on-chain: Alice 60,000, Bob 40,000</a:t>
            </a:r>
            <a:endParaRPr lang="en-US" sz="1050" dirty="0"/>
          </a:p>
        </p:txBody>
      </p:sp>
      <p:sp>
        <p:nvSpPr>
          <p:cNvPr id="19" name="Shape 17"/>
          <p:cNvSpPr/>
          <p:nvPr/>
        </p:nvSpPr>
        <p:spPr>
          <a:xfrm>
            <a:off x="457200" y="2633472"/>
            <a:ext cx="128016" cy="128016"/>
          </a:xfrm>
          <a:prstGeom prst="diamond">
            <a:avLst/>
          </a:prstGeom>
          <a:solidFill>
            <a:srgbClr val="D97A14"/>
          </a:solidFill>
          <a:ln w="12700">
            <a:solidFill>
              <a:srgbClr val="D97A14"/>
            </a:solidFill>
            <a:prstDash val="solid"/>
          </a:ln>
        </p:spPr>
      </p:sp>
      <p:sp>
        <p:nvSpPr>
          <p:cNvPr id="20" name="Text 18"/>
          <p:cNvSpPr txBox="1"/>
          <p:nvPr/>
        </p:nvSpPr>
        <p:spPr>
          <a:xfrm>
            <a:off x="731520" y="2499360"/>
            <a:ext cx="3017520" cy="3962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100 payments of 10 sat hop inside the channel</a:t>
            </a:r>
            <a:endParaRPr lang="en-US" sz="1050" dirty="0"/>
          </a:p>
        </p:txBody>
      </p:sp>
      <p:sp>
        <p:nvSpPr>
          <p:cNvPr id="21" name="Shape 19"/>
          <p:cNvSpPr/>
          <p:nvPr/>
        </p:nvSpPr>
        <p:spPr>
          <a:xfrm>
            <a:off x="457200" y="3029712"/>
            <a:ext cx="128016" cy="128016"/>
          </a:xfrm>
          <a:prstGeom prst="diamond">
            <a:avLst/>
          </a:prstGeom>
          <a:solidFill>
            <a:srgbClr val="D97A14"/>
          </a:solidFill>
          <a:ln w="12700">
            <a:solidFill>
              <a:srgbClr val="D97A14"/>
            </a:solidFill>
            <a:prstDash val="solid"/>
          </a:ln>
        </p:spPr>
      </p:sp>
      <p:sp>
        <p:nvSpPr>
          <p:cNvPr id="22" name="Text 20"/>
          <p:cNvSpPr txBox="1"/>
          <p:nvPr/>
        </p:nvSpPr>
        <p:spPr>
          <a:xfrm>
            <a:off x="731520" y="2895600"/>
            <a:ext cx="3017520" cy="3962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Only the final balances settle on-chain: 2 transactions total</a:t>
            </a:r>
            <a:endParaRPr lang="en-US" sz="1050" dirty="0"/>
          </a:p>
        </p:txBody>
      </p:sp>
      <p:sp>
        <p:nvSpPr>
          <p:cNvPr id="23" name="Text 21"/>
          <p:cNvSpPr txBox="1"/>
          <p:nvPr/>
        </p:nvSpPr>
        <p:spPr>
          <a:xfrm>
            <a:off x="3931920" y="2103120"/>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Alice, after</a:t>
            </a:r>
            <a:endParaRPr lang="en-US" sz="1050" dirty="0"/>
          </a:p>
        </p:txBody>
      </p:sp>
      <p:sp>
        <p:nvSpPr>
          <p:cNvPr id="24" name="Shape 22"/>
          <p:cNvSpPr/>
          <p:nvPr/>
        </p:nvSpPr>
        <p:spPr>
          <a:xfrm>
            <a:off x="5212080" y="2130552"/>
            <a:ext cx="2240280" cy="310896"/>
          </a:xfrm>
          <a:prstGeom prst="roundRect">
            <a:avLst>
              <a:gd name="adj" fmla="val 14706"/>
            </a:avLst>
          </a:prstGeom>
          <a:solidFill>
            <a:srgbClr val="D97A14"/>
          </a:solidFill>
          <a:ln w="12700">
            <a:solidFill>
              <a:srgbClr val="D97A14"/>
            </a:solidFill>
            <a:prstDash val="solid"/>
          </a:ln>
        </p:spPr>
      </p:sp>
      <p:sp>
        <p:nvSpPr>
          <p:cNvPr id="25" name="Text 23"/>
          <p:cNvSpPr txBox="1"/>
          <p:nvPr/>
        </p:nvSpPr>
        <p:spPr>
          <a:xfrm>
            <a:off x="7507224" y="2130552"/>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59,000</a:t>
            </a:r>
            <a:endParaRPr lang="en-US" sz="1000" dirty="0"/>
          </a:p>
        </p:txBody>
      </p:sp>
      <p:sp>
        <p:nvSpPr>
          <p:cNvPr id="26" name="Text 24"/>
          <p:cNvSpPr txBox="1"/>
          <p:nvPr/>
        </p:nvSpPr>
        <p:spPr>
          <a:xfrm>
            <a:off x="3931920" y="2505456"/>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Bob, after</a:t>
            </a:r>
            <a:endParaRPr lang="en-US" sz="1050" dirty="0"/>
          </a:p>
        </p:txBody>
      </p:sp>
      <p:sp>
        <p:nvSpPr>
          <p:cNvPr id="27" name="Shape 25"/>
          <p:cNvSpPr/>
          <p:nvPr/>
        </p:nvSpPr>
        <p:spPr>
          <a:xfrm>
            <a:off x="5212080" y="2532888"/>
            <a:ext cx="1556805" cy="310896"/>
          </a:xfrm>
          <a:prstGeom prst="roundRect">
            <a:avLst>
              <a:gd name="adj" fmla="val 14706"/>
            </a:avLst>
          </a:prstGeom>
          <a:solidFill>
            <a:srgbClr val="2F6D62"/>
          </a:solidFill>
          <a:ln w="12700">
            <a:solidFill>
              <a:srgbClr val="2F6D62"/>
            </a:solidFill>
            <a:prstDash val="solid"/>
          </a:ln>
        </p:spPr>
      </p:sp>
      <p:sp>
        <p:nvSpPr>
          <p:cNvPr id="28" name="Text 26"/>
          <p:cNvSpPr txBox="1"/>
          <p:nvPr/>
        </p:nvSpPr>
        <p:spPr>
          <a:xfrm>
            <a:off x="6823749" y="2532888"/>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41,000</a:t>
            </a:r>
            <a:endParaRPr lang="en-US" sz="1000" dirty="0"/>
          </a:p>
        </p:txBody>
      </p:sp>
      <p:sp>
        <p:nvSpPr>
          <p:cNvPr id="29" name="Text 27"/>
          <p:cNvSpPr txBox="1"/>
          <p:nvPr/>
        </p:nvSpPr>
        <p:spPr>
          <a:xfrm>
            <a:off x="3931920" y="2907792"/>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on-chain txs</a:t>
            </a:r>
            <a:endParaRPr lang="en-US" sz="1050" dirty="0"/>
          </a:p>
        </p:txBody>
      </p:sp>
      <p:sp>
        <p:nvSpPr>
          <p:cNvPr id="30" name="Shape 28"/>
          <p:cNvSpPr/>
          <p:nvPr/>
        </p:nvSpPr>
        <p:spPr>
          <a:xfrm>
            <a:off x="5212080" y="2935224"/>
            <a:ext cx="109728" cy="310896"/>
          </a:xfrm>
          <a:prstGeom prst="roundRect">
            <a:avLst>
              <a:gd name="adj" fmla="val 41667"/>
            </a:avLst>
          </a:prstGeom>
          <a:solidFill>
            <a:srgbClr val="D97A14"/>
          </a:solidFill>
          <a:ln w="12700">
            <a:solidFill>
              <a:srgbClr val="D97A14"/>
            </a:solidFill>
            <a:prstDash val="solid"/>
          </a:ln>
        </p:spPr>
      </p:sp>
      <p:sp>
        <p:nvSpPr>
          <p:cNvPr id="31" name="Text 29"/>
          <p:cNvSpPr txBox="1"/>
          <p:nvPr/>
        </p:nvSpPr>
        <p:spPr>
          <a:xfrm>
            <a:off x="5376672" y="2935224"/>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2</a:t>
            </a:r>
            <a:endParaRPr lang="en-US" sz="1000" dirty="0"/>
          </a:p>
        </p:txBody>
      </p:sp>
      <p:sp>
        <p:nvSpPr>
          <p:cNvPr id="32" name="Text 30"/>
          <p:cNvSpPr txBox="1"/>
          <p:nvPr/>
        </p:nvSpPr>
        <p:spPr>
          <a:xfrm>
            <a:off x="457200" y="3337560"/>
            <a:ext cx="4259275"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program</a:t>
            </a:r>
            <a:endParaRPr lang="en-US" sz="1150" dirty="0"/>
          </a:p>
        </p:txBody>
      </p:sp>
      <p:sp>
        <p:nvSpPr>
          <p:cNvPr id="33" name="Shape 31"/>
          <p:cNvSpPr/>
          <p:nvPr/>
        </p:nvSpPr>
        <p:spPr>
          <a:xfrm>
            <a:off x="457200" y="3611880"/>
            <a:ext cx="8229600" cy="914400"/>
          </a:xfrm>
          <a:prstGeom prst="roundRect">
            <a:avLst>
              <a:gd name="adj" fmla="val 10000"/>
            </a:avLst>
          </a:prstGeom>
          <a:solidFill>
            <a:srgbClr val="23272E"/>
          </a:solidFill>
          <a:ln w="12700">
            <a:solidFill>
              <a:srgbClr val="23272E"/>
            </a:solidFill>
            <a:prstDash val="solid"/>
          </a:ln>
        </p:spPr>
      </p:sp>
      <p:sp>
        <p:nvSpPr>
          <p:cNvPr id="34" name="Text 32"/>
          <p:cNvSpPr txBox="1"/>
          <p:nvPr/>
        </p:nvSpPr>
        <p:spPr>
          <a:xfrm>
            <a:off x="640080" y="3730752"/>
            <a:ext cx="7863840" cy="676656"/>
          </a:xfrm>
          <a:prstGeom prst="rect">
            <a:avLst/>
          </a:prstGeom>
          <a:noFill/>
          <a:ln/>
        </p:spPr>
        <p:txBody>
          <a:bodyPr wrap="square" lIns="0" tIns="0" rIns="0" bIns="0" rtlCol="0" anchor="t"/>
          <a:lstStyle/>
          <a:p>
            <a:pPr indent="0" marL="0">
              <a:buNone/>
            </a:pPr>
            <a:r>
              <a:rPr lang="en-US" sz="740" dirty="0">
                <a:solidFill>
                  <a:srgbClr val="E6EDF3"/>
                </a:solidFill>
                <a:latin typeface="Courier New" pitchFamily="34" charset="0"/>
                <a:ea typeface="Courier New" pitchFamily="34" charset="-122"/>
                <a:cs typeface="Courier New" pitchFamily="34" charset="-120"/>
              </a:rPr>
              <a:t>onchain, a, b = </a:t>
            </a:r>
            <a:r>
              <a:rPr lang="en-US" sz="740" dirty="0">
                <a:solidFill>
                  <a:srgbClr val="FFD28A"/>
                </a:solidFill>
                <a:latin typeface="Courier New" pitchFamily="34" charset="0"/>
                <a:ea typeface="Courier New" pitchFamily="34" charset="-122"/>
                <a:cs typeface="Courier New" pitchFamily="34" charset="-120"/>
              </a:rPr>
              <a:t>2</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60_000</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40_000</a:t>
            </a:r>
            <a:endParaRPr lang="en-US" sz="740" dirty="0"/>
          </a:p>
          <a:p>
            <a:pPr indent="0" marL="0">
              <a:buNone/>
            </a:pPr>
            <a:r>
              <a:rPr lang="en-US" sz="740" b="1" dirty="0">
                <a:solidFill>
                  <a:srgbClr val="F2A860"/>
                </a:solidFill>
                <a:latin typeface="Courier New" pitchFamily="34" charset="0"/>
                <a:ea typeface="Courier New" pitchFamily="34" charset="-122"/>
                <a:cs typeface="Courier New" pitchFamily="34" charset="-120"/>
              </a:rPr>
              <a:t>for</a:t>
            </a:r>
            <a:r>
              <a:rPr lang="en-US" sz="740" dirty="0">
                <a:solidFill>
                  <a:srgbClr val="E6EDF3"/>
                </a:solidFill>
                <a:latin typeface="Courier New" pitchFamily="34" charset="0"/>
                <a:ea typeface="Courier New" pitchFamily="34" charset="-122"/>
                <a:cs typeface="Courier New" pitchFamily="34" charset="-120"/>
              </a:rPr>
              <a:t> _ </a:t>
            </a:r>
            <a:r>
              <a:rPr lang="en-US" sz="740" b="1" dirty="0">
                <a:solidFill>
                  <a:srgbClr val="F2A860"/>
                </a:solidFill>
                <a:latin typeface="Courier New" pitchFamily="34" charset="0"/>
                <a:ea typeface="Courier New" pitchFamily="34" charset="-122"/>
                <a:cs typeface="Courier New" pitchFamily="34" charset="-120"/>
              </a:rPr>
              <a:t>in</a:t>
            </a:r>
            <a:r>
              <a:rPr lang="en-US" sz="740" dirty="0">
                <a:solidFill>
                  <a:srgbClr val="E6EDF3"/>
                </a:solidFill>
                <a:latin typeface="Courier New" pitchFamily="34" charset="0"/>
                <a:ea typeface="Courier New" pitchFamily="34" charset="-122"/>
                <a:cs typeface="Courier New" pitchFamily="34" charset="-120"/>
              </a:rPr>
              <a:t> range(</a:t>
            </a:r>
            <a:r>
              <a:rPr lang="en-US" sz="740" dirty="0">
                <a:solidFill>
                  <a:srgbClr val="FFD28A"/>
                </a:solidFill>
                <a:latin typeface="Courier New" pitchFamily="34" charset="0"/>
                <a:ea typeface="Courier New" pitchFamily="34" charset="-122"/>
                <a:cs typeface="Courier New" pitchFamily="34" charset="-120"/>
              </a:rPr>
              <a:t>100</a:t>
            </a:r>
            <a:r>
              <a:rPr lang="en-US" sz="740" dirty="0">
                <a:solidFill>
                  <a:srgbClr val="E6EDF3"/>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a, b = a - </a:t>
            </a:r>
            <a:r>
              <a:rPr lang="en-US" sz="740" dirty="0">
                <a:solidFill>
                  <a:srgbClr val="FFD28A"/>
                </a:solidFill>
                <a:latin typeface="Courier New" pitchFamily="34" charset="0"/>
                <a:ea typeface="Courier New" pitchFamily="34" charset="-122"/>
                <a:cs typeface="Courier New" pitchFamily="34" charset="-120"/>
              </a:rPr>
              <a:t>10</a:t>
            </a:r>
            <a:r>
              <a:rPr lang="en-US" sz="740" dirty="0">
                <a:solidFill>
                  <a:srgbClr val="E6EDF3"/>
                </a:solidFill>
                <a:latin typeface="Courier New" pitchFamily="34" charset="0"/>
                <a:ea typeface="Courier New" pitchFamily="34" charset="-122"/>
                <a:cs typeface="Courier New" pitchFamily="34" charset="-120"/>
              </a:rPr>
              <a:t>, b + </a:t>
            </a:r>
            <a:r>
              <a:rPr lang="en-US" sz="740" dirty="0">
                <a:solidFill>
                  <a:srgbClr val="FFD28A"/>
                </a:solidFill>
                <a:latin typeface="Courier New" pitchFamily="34" charset="0"/>
                <a:ea typeface="Courier New" pitchFamily="34" charset="-122"/>
                <a:cs typeface="Courier New" pitchFamily="34" charset="-120"/>
              </a:rPr>
              <a:t>10</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result = (a, b, a + b, onchain)</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result </a:t>
            </a:r>
            <a:r>
              <a:rPr lang="en-US" sz="740" dirty="0">
                <a:solidFill>
                  <a:srgbClr val="7EE787"/>
                </a:solidFill>
                <a:latin typeface="Courier New" pitchFamily="34" charset="0"/>
                <a:ea typeface="Courier New" pitchFamily="34" charset="-122"/>
                <a:cs typeface="Courier New" pitchFamily="34" charset="-120"/>
              </a:rPr>
              <a:t>(59000, 41000, 100000, 2)</a:t>
            </a:r>
            <a:endParaRPr lang="en-US" sz="740" dirty="0"/>
          </a:p>
        </p:txBody>
      </p:sp>
      <p:sp>
        <p:nvSpPr>
          <p:cNvPr id="35" name="Text 33"/>
          <p:cNvSpPr txBox="1"/>
          <p:nvPr/>
        </p:nvSpPr>
        <p:spPr>
          <a:xfrm>
            <a:off x="4807915" y="3337560"/>
            <a:ext cx="3878885"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PaymentChannel, lines 1 to 4 of 4, run under Python 3.14.6</a:t>
            </a:r>
            <a:endParaRPr lang="en-US" sz="900" dirty="0"/>
          </a:p>
        </p:txBody>
      </p:sp>
      <p:sp>
        <p:nvSpPr>
          <p:cNvPr id="36" name="Shape 34"/>
          <p:cNvSpPr/>
          <p:nvPr/>
        </p:nvSpPr>
        <p:spPr>
          <a:xfrm>
            <a:off x="457200" y="4636008"/>
            <a:ext cx="91440" cy="310896"/>
          </a:xfrm>
          <a:prstGeom prst="rect">
            <a:avLst/>
          </a:prstGeom>
          <a:solidFill>
            <a:srgbClr val="D97A14"/>
          </a:solidFill>
          <a:ln w="12700">
            <a:solidFill>
              <a:srgbClr val="D97A14"/>
            </a:solidFill>
            <a:prstDash val="solid"/>
          </a:ln>
        </p:spPr>
      </p:sp>
      <p:sp>
        <p:nvSpPr>
          <p:cNvPr id="37" name="Text 3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minutes of app taps hide all of this machinery</a:t>
            </a:r>
            <a:endParaRPr lang="en-US" sz="1350" dirty="0"/>
          </a:p>
        </p:txBody>
      </p:sp>
      <p:sp>
        <p:nvSpPr>
          <p:cNvPr id="38" name="Text 3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46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Foundations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two old problems Bitcoin finally joined up</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Hashcash</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Byzantine Generals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Keys and signatures</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chain</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46</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solved problems, one new system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1997 and 1982 meet in 2008</a:t>
            </a:r>
            <a:endParaRPr lang="en-US" sz="1300" dirty="0"/>
          </a:p>
        </p:txBody>
      </p:sp>
      <p:sp>
        <p:nvSpPr>
          <p:cNvPr id="6" name="Shape 4"/>
          <p:cNvSpPr/>
          <p:nvPr/>
        </p:nvSpPr>
        <p:spPr>
          <a:xfrm>
            <a:off x="457200" y="1371600"/>
            <a:ext cx="4023360" cy="2651760"/>
          </a:xfrm>
          <a:prstGeom prst="roundRect">
            <a:avLst>
              <a:gd name="adj" fmla="val 3448"/>
            </a:avLst>
          </a:prstGeom>
          <a:solidFill>
            <a:srgbClr val="F2ECE1"/>
          </a:solidFill>
          <a:ln w="12700">
            <a:solidFill>
              <a:srgbClr val="F2ECE1"/>
            </a:solidFill>
            <a:prstDash val="solid"/>
          </a:ln>
        </p:spPr>
      </p:sp>
      <p:sp>
        <p:nvSpPr>
          <p:cNvPr id="7" name="Text 5"/>
          <p:cNvSpPr txBox="1"/>
          <p:nvPr/>
        </p:nvSpPr>
        <p:spPr>
          <a:xfrm>
            <a:off x="640080" y="149047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Hashcash (1997)</a:t>
            </a:r>
            <a:endParaRPr lang="en-US" sz="1600" dirty="0"/>
          </a:p>
        </p:txBody>
      </p:sp>
      <p:sp>
        <p:nvSpPr>
          <p:cNvPr id="8" name="Text 6"/>
          <p:cNvSpPr txBox="1"/>
          <p:nvPr/>
        </p:nvSpPr>
        <p:spPr>
          <a:xfrm>
            <a:off x="64008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Proof-of-work: make sending cost a computation, so flooding costs real resources. Bitcoin turns the same cost into the price of writing history.</a:t>
            </a:r>
            <a:endParaRPr lang="en-US" sz="1300" dirty="0"/>
          </a:p>
        </p:txBody>
      </p:sp>
      <p:sp>
        <p:nvSpPr>
          <p:cNvPr id="9" name="Shape 7"/>
          <p:cNvSpPr/>
          <p:nvPr/>
        </p:nvSpPr>
        <p:spPr>
          <a:xfrm>
            <a:off x="4663440" y="1371600"/>
            <a:ext cx="4023360" cy="2651760"/>
          </a:xfrm>
          <a:prstGeom prst="roundRect">
            <a:avLst>
              <a:gd name="adj" fmla="val 3448"/>
            </a:avLst>
          </a:prstGeom>
          <a:solidFill>
            <a:srgbClr val="F2ECE1"/>
          </a:solidFill>
          <a:ln w="12700">
            <a:solidFill>
              <a:srgbClr val="F2ECE1"/>
            </a:solidFill>
            <a:prstDash val="solid"/>
          </a:ln>
        </p:spPr>
      </p:sp>
      <p:sp>
        <p:nvSpPr>
          <p:cNvPr id="10" name="Text 8"/>
          <p:cNvSpPr txBox="1"/>
          <p:nvPr/>
        </p:nvSpPr>
        <p:spPr>
          <a:xfrm>
            <a:off x="4846320" y="1490472"/>
            <a:ext cx="36576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Byzantine Generals (1982)</a:t>
            </a:r>
            <a:endParaRPr lang="en-US" sz="1600" dirty="0"/>
          </a:p>
        </p:txBody>
      </p:sp>
      <p:sp>
        <p:nvSpPr>
          <p:cNvPr id="11" name="Text 9"/>
          <p:cNvSpPr txBox="1"/>
          <p:nvPr/>
        </p:nvSpPr>
        <p:spPr>
          <a:xfrm>
            <a:off x="484632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How do parties that cannot trust each other agree on one message? Proof-of-work plus the longest valid chain is Bitcoin's practical answer.</a:t>
            </a:r>
            <a:endParaRPr lang="en-US" sz="13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Bitcoin's novelty is the combination, not the parts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46</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keys to the chain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pipeline the rest of the course walks</a:t>
            </a:r>
            <a:endParaRPr lang="en-US" sz="1300" dirty="0"/>
          </a:p>
        </p:txBody>
      </p:sp>
      <p:sp>
        <p:nvSpPr>
          <p:cNvPr id="6" name="Shape 4"/>
          <p:cNvSpPr/>
          <p:nvPr/>
        </p:nvSpPr>
        <p:spPr>
          <a:xfrm>
            <a:off x="457200" y="1554480"/>
            <a:ext cx="1265530" cy="1234440"/>
          </a:xfrm>
          <a:prstGeom prst="roundRect">
            <a:avLst>
              <a:gd name="adj" fmla="val 7407"/>
            </a:avLst>
          </a:prstGeom>
          <a:solidFill>
            <a:srgbClr val="2F6D62"/>
          </a:solidFill>
          <a:ln w="12700">
            <a:solidFill>
              <a:srgbClr val="2F6D62"/>
            </a:solidFill>
            <a:prstDash val="solid"/>
          </a:ln>
        </p:spPr>
      </p:sp>
      <p:sp>
        <p:nvSpPr>
          <p:cNvPr id="7" name="Text 5"/>
          <p:cNvSpPr txBox="1"/>
          <p:nvPr/>
        </p:nvSpPr>
        <p:spPr>
          <a:xfrm>
            <a:off x="53035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8" name="Shape 6"/>
          <p:cNvSpPr/>
          <p:nvPr/>
        </p:nvSpPr>
        <p:spPr>
          <a:xfrm>
            <a:off x="1777594" y="2171700"/>
            <a:ext cx="365760" cy="0"/>
          </a:xfrm>
          <a:prstGeom prst="line">
            <a:avLst/>
          </a:prstGeom>
          <a:noFill/>
          <a:ln w="25400">
            <a:solidFill>
              <a:srgbClr val="D97A14"/>
            </a:solidFill>
            <a:prstDash val="solid"/>
            <a:tailEnd type="triangle"/>
          </a:ln>
        </p:spPr>
      </p:sp>
      <p:sp>
        <p:nvSpPr>
          <p:cNvPr id="9" name="Shape 7"/>
          <p:cNvSpPr/>
          <p:nvPr/>
        </p:nvSpPr>
        <p:spPr>
          <a:xfrm>
            <a:off x="2198218" y="1554480"/>
            <a:ext cx="1265530" cy="1234440"/>
          </a:xfrm>
          <a:prstGeom prst="roundRect">
            <a:avLst>
              <a:gd name="adj" fmla="val 7407"/>
            </a:avLst>
          </a:prstGeom>
          <a:solidFill>
            <a:srgbClr val="2F6D62"/>
          </a:solidFill>
          <a:ln w="12700">
            <a:solidFill>
              <a:srgbClr val="2F6D62"/>
            </a:solidFill>
            <a:prstDash val="solid"/>
          </a:ln>
        </p:spPr>
      </p:sp>
      <p:sp>
        <p:nvSpPr>
          <p:cNvPr id="10" name="Text 8"/>
          <p:cNvSpPr txBox="1"/>
          <p:nvPr/>
        </p:nvSpPr>
        <p:spPr>
          <a:xfrm>
            <a:off x="2271370"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Addresses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11" name="Shape 9"/>
          <p:cNvSpPr/>
          <p:nvPr/>
        </p:nvSpPr>
        <p:spPr>
          <a:xfrm>
            <a:off x="3518611" y="2171700"/>
            <a:ext cx="365760" cy="0"/>
          </a:xfrm>
          <a:prstGeom prst="line">
            <a:avLst/>
          </a:prstGeom>
          <a:noFill/>
          <a:ln w="25400">
            <a:solidFill>
              <a:srgbClr val="D97A14"/>
            </a:solidFill>
            <a:prstDash val="solid"/>
            <a:tailEnd type="triangle"/>
          </a:ln>
        </p:spPr>
      </p:sp>
      <p:sp>
        <p:nvSpPr>
          <p:cNvPr id="12" name="Shape 10"/>
          <p:cNvSpPr/>
          <p:nvPr/>
        </p:nvSpPr>
        <p:spPr>
          <a:xfrm>
            <a:off x="3939235" y="1554480"/>
            <a:ext cx="1265530" cy="1234440"/>
          </a:xfrm>
          <a:prstGeom prst="roundRect">
            <a:avLst>
              <a:gd name="adj" fmla="val 7407"/>
            </a:avLst>
          </a:prstGeom>
          <a:solidFill>
            <a:srgbClr val="2F6D62"/>
          </a:solidFill>
          <a:ln w="12700">
            <a:solidFill>
              <a:srgbClr val="2F6D62"/>
            </a:solidFill>
            <a:prstDash val="solid"/>
          </a:ln>
        </p:spPr>
      </p:sp>
      <p:sp>
        <p:nvSpPr>
          <p:cNvPr id="13" name="Text 11"/>
          <p:cNvSpPr txBox="1"/>
          <p:nvPr/>
        </p:nvSpPr>
        <p:spPr>
          <a:xfrm>
            <a:off x="4012387"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6</a:t>
            </a:r>
            <a:endParaRPr lang="en-US" sz="1250" dirty="0"/>
          </a:p>
        </p:txBody>
      </p:sp>
      <p:sp>
        <p:nvSpPr>
          <p:cNvPr id="14" name="Shape 12"/>
          <p:cNvSpPr/>
          <p:nvPr/>
        </p:nvSpPr>
        <p:spPr>
          <a:xfrm>
            <a:off x="5259629" y="2171700"/>
            <a:ext cx="365760" cy="0"/>
          </a:xfrm>
          <a:prstGeom prst="line">
            <a:avLst/>
          </a:prstGeom>
          <a:noFill/>
          <a:ln w="25400">
            <a:solidFill>
              <a:srgbClr val="D97A14"/>
            </a:solidFill>
            <a:prstDash val="solid"/>
            <a:tailEnd type="triangle"/>
          </a:ln>
        </p:spPr>
      </p:sp>
      <p:sp>
        <p:nvSpPr>
          <p:cNvPr id="15" name="Shape 13"/>
          <p:cNvSpPr/>
          <p:nvPr/>
        </p:nvSpPr>
        <p:spPr>
          <a:xfrm>
            <a:off x="5680253" y="1554480"/>
            <a:ext cx="1265530" cy="1234440"/>
          </a:xfrm>
          <a:prstGeom prst="roundRect">
            <a:avLst>
              <a:gd name="adj" fmla="val 7407"/>
            </a:avLst>
          </a:prstGeom>
          <a:solidFill>
            <a:srgbClr val="2F6D62"/>
          </a:solidFill>
          <a:ln w="12700">
            <a:solidFill>
              <a:srgbClr val="2F6D62"/>
            </a:solidFill>
            <a:prstDash val="solid"/>
          </a:ln>
        </p:spPr>
      </p:sp>
      <p:sp>
        <p:nvSpPr>
          <p:cNvPr id="16" name="Text 14"/>
          <p:cNvSpPr txBox="1"/>
          <p:nvPr/>
        </p:nvSpPr>
        <p:spPr>
          <a:xfrm>
            <a:off x="5753405"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11</a:t>
            </a:r>
            <a:endParaRPr lang="en-US" sz="1250" dirty="0"/>
          </a:p>
        </p:txBody>
      </p:sp>
      <p:sp>
        <p:nvSpPr>
          <p:cNvPr id="17" name="Shape 15"/>
          <p:cNvSpPr/>
          <p:nvPr/>
        </p:nvSpPr>
        <p:spPr>
          <a:xfrm>
            <a:off x="7000646" y="2171700"/>
            <a:ext cx="365760" cy="0"/>
          </a:xfrm>
          <a:prstGeom prst="line">
            <a:avLst/>
          </a:prstGeom>
          <a:noFill/>
          <a:ln w="25400">
            <a:solidFill>
              <a:srgbClr val="D97A14"/>
            </a:solidFill>
            <a:prstDash val="solid"/>
            <a:tailEnd type="triangle"/>
          </a:ln>
        </p:spPr>
      </p:sp>
      <p:sp>
        <p:nvSpPr>
          <p:cNvPr id="18" name="Shape 16"/>
          <p:cNvSpPr/>
          <p:nvPr/>
        </p:nvSpPr>
        <p:spPr>
          <a:xfrm>
            <a:off x="7421270" y="1554480"/>
            <a:ext cx="1265530" cy="1234440"/>
          </a:xfrm>
          <a:prstGeom prst="roundRect">
            <a:avLst>
              <a:gd name="adj" fmla="val 7407"/>
            </a:avLst>
          </a:prstGeom>
          <a:solidFill>
            <a:srgbClr val="2F6D62"/>
          </a:solidFill>
          <a:ln w="12700">
            <a:solidFill>
              <a:srgbClr val="2F6D62"/>
            </a:solidFill>
            <a:prstDash val="solid"/>
          </a:ln>
        </p:spPr>
      </p:sp>
      <p:sp>
        <p:nvSpPr>
          <p:cNvPr id="19" name="Text 17"/>
          <p:cNvSpPr txBox="1"/>
          <p:nvPr/>
        </p:nvSpPr>
        <p:spPr>
          <a:xfrm>
            <a:off x="749442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Mining</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12</a:t>
            </a:r>
            <a:endParaRPr lang="en-US" sz="1250" dirty="0"/>
          </a:p>
        </p:txBody>
      </p:sp>
      <p:sp>
        <p:nvSpPr>
          <p:cNvPr id="20" name="Text 18"/>
          <p:cNvSpPr txBox="1"/>
          <p:nvPr/>
        </p:nvSpPr>
        <p:spPr>
          <a:xfrm>
            <a:off x="457200" y="3108960"/>
            <a:ext cx="8229600" cy="13716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Each stage only trusts what it can verify</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Every later chapter opens one of these boxes</a:t>
            </a:r>
            <a:endParaRPr lang="en-US" sz="15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This pipeline is the course syllabus in one row</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46</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chain that notices tampering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block carries the digest of the one before</a:t>
            </a:r>
            <a:endParaRPr lang="en-US" sz="1300" dirty="0"/>
          </a:p>
        </p:txBody>
      </p:sp>
      <p:sp>
        <p:nvSpPr>
          <p:cNvPr id="6" name="Shape 4"/>
          <p:cNvSpPr/>
          <p:nvPr/>
        </p:nvSpPr>
        <p:spPr>
          <a:xfrm>
            <a:off x="457200" y="1444752"/>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325880"/>
            <a:ext cx="2971800" cy="3657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Each block stores the digest of the one before</a:t>
            </a:r>
            <a:endParaRPr lang="en-US" sz="1000" dirty="0"/>
          </a:p>
        </p:txBody>
      </p:sp>
      <p:sp>
        <p:nvSpPr>
          <p:cNvPr id="8" name="Shape 6"/>
          <p:cNvSpPr/>
          <p:nvPr/>
        </p:nvSpPr>
        <p:spPr>
          <a:xfrm>
            <a:off x="457200" y="1810512"/>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91640"/>
            <a:ext cx="2971800" cy="3657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Verify = recompute every digest: True</a:t>
            </a:r>
            <a:endParaRPr lang="en-US" sz="1000" dirty="0"/>
          </a:p>
        </p:txBody>
      </p:sp>
      <p:sp>
        <p:nvSpPr>
          <p:cNvPr id="10" name="Shape 8"/>
          <p:cNvSpPr/>
          <p:nvPr/>
        </p:nvSpPr>
        <p:spPr>
          <a:xfrm>
            <a:off x="457200" y="217627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57400"/>
            <a:ext cx="2971800" cy="3657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Change one byte - the next block refuses: False</a:t>
            </a:r>
            <a:endParaRPr lang="en-US" sz="1000" dirty="0"/>
          </a:p>
        </p:txBody>
      </p:sp>
      <p:sp>
        <p:nvSpPr>
          <p:cNvPr id="12" name="Shape 10"/>
          <p:cNvSpPr/>
          <p:nvPr/>
        </p:nvSpPr>
        <p:spPr>
          <a:xfrm>
            <a:off x="3840480" y="1280160"/>
            <a:ext cx="1371600" cy="777240"/>
          </a:xfrm>
          <a:prstGeom prst="roundRect">
            <a:avLst>
              <a:gd name="adj" fmla="val 9412"/>
            </a:avLst>
          </a:prstGeom>
          <a:solidFill>
            <a:srgbClr val="F2ECE1"/>
          </a:solidFill>
          <a:ln w="22225">
            <a:solidFill>
              <a:srgbClr val="2F6D62"/>
            </a:solidFill>
            <a:prstDash val="solid"/>
          </a:ln>
        </p:spPr>
      </p:sp>
      <p:sp>
        <p:nvSpPr>
          <p:cNvPr id="13" name="Text 11"/>
          <p:cNvSpPr txBox="1"/>
          <p:nvPr/>
        </p:nvSpPr>
        <p:spPr>
          <a:xfrm>
            <a:off x="3840480" y="1335024"/>
            <a:ext cx="1371600" cy="274320"/>
          </a:xfrm>
          <a:prstGeom prst="rect">
            <a:avLst/>
          </a:prstGeom>
          <a:noFill/>
          <a:ln/>
        </p:spPr>
        <p:txBody>
          <a:bodyPr wrap="square" lIns="0" tIns="0" rIns="0" bIns="0" rtlCol="0" anchor="ctr"/>
          <a:lstStyle/>
          <a:p>
            <a:pPr algn="ctr" indent="0" marL="0">
              <a:buNone/>
            </a:pPr>
            <a:r>
              <a:rPr lang="en-US" sz="1100" b="1" dirty="0">
                <a:solidFill>
                  <a:srgbClr val="2F6D62"/>
                </a:solidFill>
                <a:latin typeface="Calibri" pitchFamily="34" charset="0"/>
                <a:ea typeface="Calibri" pitchFamily="34" charset="-122"/>
                <a:cs typeface="Calibri" pitchFamily="34" charset="-120"/>
              </a:rPr>
              <a:t>block 0</a:t>
            </a:r>
            <a:endParaRPr lang="en-US" sz="1100" dirty="0"/>
          </a:p>
        </p:txBody>
      </p:sp>
      <p:sp>
        <p:nvSpPr>
          <p:cNvPr id="14" name="Text 12"/>
          <p:cNvSpPr txBox="1"/>
          <p:nvPr/>
        </p:nvSpPr>
        <p:spPr>
          <a:xfrm>
            <a:off x="3886200" y="1645920"/>
            <a:ext cx="12801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the genesis record</a:t>
            </a:r>
            <a:endParaRPr lang="en-US" sz="850" dirty="0"/>
          </a:p>
        </p:txBody>
      </p:sp>
      <p:sp>
        <p:nvSpPr>
          <p:cNvPr id="15" name="Shape 13"/>
          <p:cNvSpPr/>
          <p:nvPr/>
        </p:nvSpPr>
        <p:spPr>
          <a:xfrm>
            <a:off x="5212080" y="1668780"/>
            <a:ext cx="365760" cy="0"/>
          </a:xfrm>
          <a:prstGeom prst="line">
            <a:avLst/>
          </a:prstGeom>
          <a:noFill/>
          <a:ln w="25400">
            <a:solidFill>
              <a:srgbClr val="D97A14"/>
            </a:solidFill>
            <a:prstDash val="solid"/>
            <a:tailEnd type="triangle"/>
          </a:ln>
        </p:spPr>
      </p:sp>
      <p:sp>
        <p:nvSpPr>
          <p:cNvPr id="16" name="Shape 14"/>
          <p:cNvSpPr/>
          <p:nvPr/>
        </p:nvSpPr>
        <p:spPr>
          <a:xfrm>
            <a:off x="5577840" y="1280160"/>
            <a:ext cx="1371600" cy="777240"/>
          </a:xfrm>
          <a:prstGeom prst="roundRect">
            <a:avLst>
              <a:gd name="adj" fmla="val 9412"/>
            </a:avLst>
          </a:prstGeom>
          <a:solidFill>
            <a:srgbClr val="EFE6D6"/>
          </a:solidFill>
          <a:ln w="22225">
            <a:solidFill>
              <a:srgbClr val="D97A14"/>
            </a:solidFill>
            <a:prstDash val="solid"/>
          </a:ln>
        </p:spPr>
      </p:sp>
      <p:sp>
        <p:nvSpPr>
          <p:cNvPr id="17" name="Text 15"/>
          <p:cNvSpPr txBox="1"/>
          <p:nvPr/>
        </p:nvSpPr>
        <p:spPr>
          <a:xfrm>
            <a:off x="5577840" y="1335024"/>
            <a:ext cx="1371600" cy="274320"/>
          </a:xfrm>
          <a:prstGeom prst="rect">
            <a:avLst/>
          </a:prstGeom>
          <a:noFill/>
          <a:ln/>
        </p:spPr>
        <p:txBody>
          <a:bodyPr wrap="square" lIns="0" tIns="0" rIns="0" bIns="0" rtlCol="0" anchor="ctr"/>
          <a:lstStyle/>
          <a:p>
            <a:pPr algn="ctr" indent="0" marL="0">
              <a:buNone/>
            </a:pPr>
            <a:r>
              <a:rPr lang="en-US" sz="1100" b="1" dirty="0">
                <a:solidFill>
                  <a:srgbClr val="D97A14"/>
                </a:solidFill>
                <a:latin typeface="Calibri" pitchFamily="34" charset="0"/>
                <a:ea typeface="Calibri" pitchFamily="34" charset="-122"/>
                <a:cs typeface="Calibri" pitchFamily="34" charset="-120"/>
              </a:rPr>
              <a:t>block 1</a:t>
            </a:r>
            <a:endParaRPr lang="en-US" sz="1100" dirty="0"/>
          </a:p>
        </p:txBody>
      </p:sp>
      <p:sp>
        <p:nvSpPr>
          <p:cNvPr id="18" name="Text 16"/>
          <p:cNvSpPr txBox="1"/>
          <p:nvPr/>
        </p:nvSpPr>
        <p:spPr>
          <a:xfrm>
            <a:off x="5623560" y="1645920"/>
            <a:ext cx="1280160" cy="457200"/>
          </a:xfrm>
          <a:prstGeom prst="rect">
            <a:avLst/>
          </a:prstGeom>
          <a:noFill/>
          <a:ln/>
        </p:spPr>
        <p:txBody>
          <a:bodyPr wrap="square" lIns="0" tIns="0" rIns="0" bIns="0" rtlCol="0" anchor="t"/>
          <a:lstStyle/>
          <a:p>
            <a:pPr algn="ctr" indent="0" marL="0">
              <a:buNone/>
            </a:pPr>
            <a:r>
              <a:rPr lang="en-US" sz="850" dirty="0">
                <a:solidFill>
                  <a:srgbClr val="D97A14"/>
                </a:solidFill>
                <a:latin typeface="Courier New" pitchFamily="34" charset="0"/>
                <a:ea typeface="Courier New" pitchFamily="34" charset="-122"/>
                <a:cs typeface="Courier New" pitchFamily="34" charset="-120"/>
              </a:rPr>
              <a:t>data changed!</a:t>
            </a:r>
            <a:endParaRPr lang="en-US" sz="850" dirty="0"/>
          </a:p>
        </p:txBody>
      </p:sp>
      <p:sp>
        <p:nvSpPr>
          <p:cNvPr id="19" name="Shape 17"/>
          <p:cNvSpPr/>
          <p:nvPr/>
        </p:nvSpPr>
        <p:spPr>
          <a:xfrm>
            <a:off x="6949440" y="1668780"/>
            <a:ext cx="365760" cy="0"/>
          </a:xfrm>
          <a:prstGeom prst="line">
            <a:avLst/>
          </a:prstGeom>
          <a:noFill/>
          <a:ln w="25400">
            <a:solidFill>
              <a:srgbClr val="D97A14"/>
            </a:solidFill>
            <a:prstDash val="solid"/>
            <a:tailEnd type="triangle"/>
          </a:ln>
        </p:spPr>
      </p:sp>
      <p:sp>
        <p:nvSpPr>
          <p:cNvPr id="20" name="Shape 18"/>
          <p:cNvSpPr/>
          <p:nvPr/>
        </p:nvSpPr>
        <p:spPr>
          <a:xfrm>
            <a:off x="7315200" y="1280160"/>
            <a:ext cx="1371600" cy="777240"/>
          </a:xfrm>
          <a:prstGeom prst="roundRect">
            <a:avLst>
              <a:gd name="adj" fmla="val 9412"/>
            </a:avLst>
          </a:prstGeom>
          <a:solidFill>
            <a:srgbClr val="EFE6D6"/>
          </a:solidFill>
          <a:ln w="22225">
            <a:solidFill>
              <a:srgbClr val="D97A14"/>
            </a:solidFill>
            <a:prstDash val="solid"/>
          </a:ln>
        </p:spPr>
      </p:sp>
      <p:sp>
        <p:nvSpPr>
          <p:cNvPr id="21" name="Text 19"/>
          <p:cNvSpPr txBox="1"/>
          <p:nvPr/>
        </p:nvSpPr>
        <p:spPr>
          <a:xfrm>
            <a:off x="7315200" y="1335024"/>
            <a:ext cx="1371600" cy="274320"/>
          </a:xfrm>
          <a:prstGeom prst="rect">
            <a:avLst/>
          </a:prstGeom>
          <a:noFill/>
          <a:ln/>
        </p:spPr>
        <p:txBody>
          <a:bodyPr wrap="square" lIns="0" tIns="0" rIns="0" bIns="0" rtlCol="0" anchor="ctr"/>
          <a:lstStyle/>
          <a:p>
            <a:pPr algn="ctr" indent="0" marL="0">
              <a:buNone/>
            </a:pPr>
            <a:r>
              <a:rPr lang="en-US" sz="1100" b="1" dirty="0">
                <a:solidFill>
                  <a:srgbClr val="D97A14"/>
                </a:solidFill>
                <a:latin typeface="Calibri" pitchFamily="34" charset="0"/>
                <a:ea typeface="Calibri" pitchFamily="34" charset="-122"/>
                <a:cs typeface="Calibri" pitchFamily="34" charset="-120"/>
              </a:rPr>
              <a:t>block 2</a:t>
            </a:r>
            <a:endParaRPr lang="en-US" sz="1100" dirty="0"/>
          </a:p>
        </p:txBody>
      </p:sp>
      <p:sp>
        <p:nvSpPr>
          <p:cNvPr id="22" name="Text 20"/>
          <p:cNvSpPr txBox="1"/>
          <p:nvPr/>
        </p:nvSpPr>
        <p:spPr>
          <a:xfrm>
            <a:off x="7360920" y="1645920"/>
            <a:ext cx="1280160" cy="457200"/>
          </a:xfrm>
          <a:prstGeom prst="rect">
            <a:avLst/>
          </a:prstGeom>
          <a:noFill/>
          <a:ln/>
        </p:spPr>
        <p:txBody>
          <a:bodyPr wrap="square" lIns="0" tIns="0" rIns="0" bIns="0" rtlCol="0" anchor="t"/>
          <a:lstStyle/>
          <a:p>
            <a:pPr algn="ctr" indent="0" marL="0">
              <a:buNone/>
            </a:pPr>
            <a:r>
              <a:rPr lang="en-US" sz="850" dirty="0">
                <a:solidFill>
                  <a:srgbClr val="D97A14"/>
                </a:solidFill>
                <a:latin typeface="Courier New" pitchFamily="34" charset="0"/>
                <a:ea typeface="Courier New" pitchFamily="34" charset="-122"/>
                <a:cs typeface="Courier New" pitchFamily="34" charset="-120"/>
              </a:rPr>
              <a:t>digest of block 1</a:t>
            </a:r>
            <a:endParaRPr lang="en-US" sz="850" dirty="0"/>
          </a:p>
        </p:txBody>
      </p:sp>
      <p:sp>
        <p:nvSpPr>
          <p:cNvPr id="23" name="Text 21"/>
          <p:cNvSpPr txBox="1"/>
          <p:nvPr/>
        </p:nvSpPr>
        <p:spPr>
          <a:xfrm>
            <a:off x="3840480" y="2130552"/>
            <a:ext cx="4846320" cy="310896"/>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verify: True, then False</a:t>
            </a:r>
            <a:endParaRPr lang="en-US" sz="1050" dirty="0"/>
          </a:p>
        </p:txBody>
      </p:sp>
      <p:sp>
        <p:nvSpPr>
          <p:cNvPr id="24" name="Text 22"/>
          <p:cNvSpPr txBox="1"/>
          <p:nvPr/>
        </p:nvSpPr>
        <p:spPr>
          <a:xfrm>
            <a:off x="457200" y="2514600"/>
            <a:ext cx="4372661"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line by line</a:t>
            </a:r>
            <a:endParaRPr lang="en-US" sz="1150" dirty="0"/>
          </a:p>
        </p:txBody>
      </p:sp>
      <p:sp>
        <p:nvSpPr>
          <p:cNvPr id="25" name="Shape 23"/>
          <p:cNvSpPr/>
          <p:nvPr/>
        </p:nvSpPr>
        <p:spPr>
          <a:xfrm>
            <a:off x="457200" y="2788920"/>
            <a:ext cx="8229600" cy="1737360"/>
          </a:xfrm>
          <a:prstGeom prst="roundRect">
            <a:avLst>
              <a:gd name="adj" fmla="val 5263"/>
            </a:avLst>
          </a:prstGeom>
          <a:solidFill>
            <a:srgbClr val="23272E"/>
          </a:solidFill>
          <a:ln w="12700">
            <a:solidFill>
              <a:srgbClr val="23272E"/>
            </a:solidFill>
            <a:prstDash val="solid"/>
          </a:ln>
        </p:spPr>
      </p:sp>
      <p:sp>
        <p:nvSpPr>
          <p:cNvPr id="26" name="Text 24"/>
          <p:cNvSpPr txBox="1"/>
          <p:nvPr/>
        </p:nvSpPr>
        <p:spPr>
          <a:xfrm>
            <a:off x="640080" y="2907792"/>
            <a:ext cx="7863840" cy="1499616"/>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hashlib</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link(prev, data):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hashlib.sha256((prev + data).encode()).hexdigest()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data = [</a:t>
            </a:r>
            <a:r>
              <a:rPr lang="en-US" sz="700" dirty="0">
                <a:solidFill>
                  <a:srgbClr val="9ECBFF"/>
                </a:solidFill>
                <a:latin typeface="Courier New" pitchFamily="34" charset="0"/>
                <a:ea typeface="Courier New" pitchFamily="34" charset="-122"/>
                <a:cs typeface="Courier New" pitchFamily="34" charset="-120"/>
              </a:rPr>
              <a:t>'Joe pays Alice 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'Alice pays Eve 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'Eve pays Joe 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build(items):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hs, prev = [], </a:t>
            </a:r>
            <a:r>
              <a:rPr lang="en-US" sz="700" dirty="0">
                <a:solidFill>
                  <a:srgbClr val="9ECBFF"/>
                </a:solidFill>
                <a:latin typeface="Courier New" pitchFamily="34" charset="0"/>
                <a:ea typeface="Courier New" pitchFamily="34" charset="-122"/>
                <a:cs typeface="Courier New" pitchFamily="34" charset="-120"/>
              </a:rPr>
              <a:t>'genesis'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d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items: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prev = link(prev, d); hs.append(prev)</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hs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stored = build(data)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tampered = [</a:t>
            </a:r>
            <a:r>
              <a:rPr lang="en-US" sz="700" dirty="0">
                <a:solidFill>
                  <a:srgbClr val="9ECBFF"/>
                </a:solidFill>
                <a:latin typeface="Courier New" pitchFamily="34" charset="0"/>
                <a:ea typeface="Courier New" pitchFamily="34" charset="-122"/>
                <a:cs typeface="Courier New" pitchFamily="34" charset="-120"/>
              </a:rPr>
              <a:t>'Joe pays Alice 100'</a:t>
            </a:r>
            <a:r>
              <a:rPr lang="en-US" sz="700" dirty="0">
                <a:solidFill>
                  <a:srgbClr val="E6EDF3"/>
                </a:solidFill>
                <a:latin typeface="Courier New" pitchFamily="34" charset="0"/>
                <a:ea typeface="Courier New" pitchFamily="34" charset="-122"/>
                <a:cs typeface="Courier New" pitchFamily="34" charset="-120"/>
              </a:rPr>
              <a:t>] + data[</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result = (build(data) == stored, build(tampered) == stored)</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result </a:t>
            </a:r>
            <a:r>
              <a:rPr lang="en-US" sz="700" dirty="0">
                <a:solidFill>
                  <a:srgbClr val="7EE787"/>
                </a:solidFill>
                <a:latin typeface="Courier New" pitchFamily="34" charset="0"/>
                <a:ea typeface="Courier New" pitchFamily="34" charset="-122"/>
                <a:cs typeface="Courier New" pitchFamily="34" charset="-120"/>
              </a:rPr>
              <a:t>(True, False)</a:t>
            </a:r>
            <a:endParaRPr lang="en-US" sz="700" dirty="0"/>
          </a:p>
        </p:txBody>
      </p:sp>
      <p:sp>
        <p:nvSpPr>
          <p:cNvPr id="27" name="Text 25"/>
          <p:cNvSpPr txBox="1"/>
          <p:nvPr/>
        </p:nvSpPr>
        <p:spPr>
          <a:xfrm>
            <a:off x="4921301" y="2514600"/>
            <a:ext cx="3765499"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Blockchain, lines 1 to 11 of 11, run under Python 3.14.6</a:t>
            </a:r>
            <a:endParaRPr lang="en-US" sz="9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becomes expensive to rewrite, cheap to verify</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46</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toolbox under the hood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vocabularies the whole book leans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Four vocabularies feed the chapters ahead: the cryptography that signs, the chain that remembers, the computing it all runs on, and the threats it must survive.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Foundations</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Cryptography</a:t>
            </a:r>
            <a:endParaRPr lang="en-US" sz="12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Hash Function  ·  Digital Signature  ·  Public Key Cryptography  ·  Private Key  ·  Entropy  ·  Checksum  ·  + 2 more</a:t>
            </a:r>
            <a:endParaRPr lang="en-US" sz="1100" dirty="0"/>
          </a:p>
        </p:txBody>
      </p:sp>
      <p:sp>
        <p:nvSpPr>
          <p:cNvPr id="15" name="Shape 13"/>
          <p:cNvSpPr/>
          <p:nvPr/>
        </p:nvSpPr>
        <p:spPr>
          <a:xfrm flipV="1">
            <a:off x="1783080" y="2566416"/>
            <a:ext cx="502920" cy="423672"/>
          </a:xfrm>
          <a:prstGeom prst="line">
            <a:avLst/>
          </a:prstGeom>
          <a:noFill/>
          <a:ln w="13970">
            <a:solidFill>
              <a:srgbClr val="C9BFAE"/>
            </a:solidFill>
            <a:prstDash val="solid"/>
          </a:ln>
        </p:spPr>
      </p:sp>
      <p:sp>
        <p:nvSpPr>
          <p:cNvPr id="16" name="Shape 14"/>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Chain</a:t>
            </a:r>
            <a:endParaRPr lang="en-US" sz="1200" dirty="0"/>
          </a:p>
        </p:txBody>
      </p:sp>
      <p:sp>
        <p:nvSpPr>
          <p:cNvPr id="18" name="Shape 16"/>
          <p:cNvSpPr/>
          <p:nvPr/>
        </p:nvSpPr>
        <p:spPr>
          <a:xfrm>
            <a:off x="4023360" y="2566416"/>
            <a:ext cx="274320" cy="0"/>
          </a:xfrm>
          <a:prstGeom prst="line">
            <a:avLst/>
          </a:prstGeom>
          <a:noFill/>
          <a:ln w="13970">
            <a:solidFill>
              <a:srgbClr val="C9BFAE"/>
            </a:solidFill>
            <a:prstDash val="solid"/>
          </a:ln>
        </p:spPr>
      </p:sp>
      <p:sp>
        <p:nvSpPr>
          <p:cNvPr id="19" name="Shape 17"/>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Block  ·  Blockchain  ·  Timestamp  ·  Node</a:t>
            </a:r>
            <a:endParaRPr lang="en-US" sz="1100" dirty="0"/>
          </a:p>
        </p:txBody>
      </p:sp>
      <p:sp>
        <p:nvSpPr>
          <p:cNvPr id="21" name="Shape 19"/>
          <p:cNvSpPr/>
          <p:nvPr/>
        </p:nvSpPr>
        <p:spPr>
          <a:xfrm>
            <a:off x="1783080" y="2990088"/>
            <a:ext cx="502920" cy="423672"/>
          </a:xfrm>
          <a:prstGeom prst="line">
            <a:avLst/>
          </a:prstGeom>
          <a:noFill/>
          <a:ln w="13970">
            <a:solidFill>
              <a:srgbClr val="C9BFAE"/>
            </a:solidFill>
            <a:prstDash val="solid"/>
          </a:ln>
        </p:spPr>
      </p:sp>
      <p:sp>
        <p:nvSpPr>
          <p:cNvPr id="22" name="Shape 20"/>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Computing</a:t>
            </a:r>
            <a:endParaRPr lang="en-US" sz="1200" dirty="0"/>
          </a:p>
        </p:txBody>
      </p:sp>
      <p:sp>
        <p:nvSpPr>
          <p:cNvPr id="24" name="Shape 22"/>
          <p:cNvSpPr/>
          <p:nvPr/>
        </p:nvSpPr>
        <p:spPr>
          <a:xfrm>
            <a:off x="4023360" y="3413760"/>
            <a:ext cx="274320" cy="0"/>
          </a:xfrm>
          <a:prstGeom prst="line">
            <a:avLst/>
          </a:prstGeom>
          <a:noFill/>
          <a:ln w="13970">
            <a:solidFill>
              <a:srgbClr val="C9BFAE"/>
            </a:solidFill>
            <a:prstDash val="solid"/>
          </a:ln>
        </p:spPr>
      </p:sp>
      <p:sp>
        <p:nvSpPr>
          <p:cNvPr id="25" name="Shape 23"/>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Internet  ·  Protocol  ·  HTTP  ·  Web Browser  ·  Server  ·  API  ·  + 6 more</a:t>
            </a:r>
            <a:endParaRPr lang="en-US" sz="1100" dirty="0"/>
          </a:p>
        </p:txBody>
      </p:sp>
      <p:sp>
        <p:nvSpPr>
          <p:cNvPr id="27" name="Shape 25"/>
          <p:cNvSpPr/>
          <p:nvPr/>
        </p:nvSpPr>
        <p:spPr>
          <a:xfrm>
            <a:off x="1783080" y="2990088"/>
            <a:ext cx="502920" cy="1271016"/>
          </a:xfrm>
          <a:prstGeom prst="line">
            <a:avLst/>
          </a:prstGeom>
          <a:noFill/>
          <a:ln w="13970">
            <a:solidFill>
              <a:srgbClr val="C9BFAE"/>
            </a:solidFill>
            <a:prstDash val="solid"/>
          </a:ln>
        </p:spPr>
      </p:sp>
      <p:sp>
        <p:nvSpPr>
          <p:cNvPr id="28" name="Shape 26"/>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Threats</a:t>
            </a:r>
            <a:endParaRPr lang="en-US" sz="1200" dirty="0"/>
          </a:p>
        </p:txBody>
      </p:sp>
      <p:sp>
        <p:nvSpPr>
          <p:cNvPr id="30" name="Shape 28"/>
          <p:cNvSpPr/>
          <p:nvPr/>
        </p:nvSpPr>
        <p:spPr>
          <a:xfrm>
            <a:off x="4023360" y="4261104"/>
            <a:ext cx="274320" cy="0"/>
          </a:xfrm>
          <a:prstGeom prst="line">
            <a:avLst/>
          </a:prstGeom>
          <a:noFill/>
          <a:ln w="13970">
            <a:solidFill>
              <a:srgbClr val="C9BFAE"/>
            </a:solidFill>
            <a:prstDash val="solid"/>
          </a:ln>
        </p:spPr>
      </p:sp>
      <p:sp>
        <p:nvSpPr>
          <p:cNvPr id="31" name="Shape 29"/>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Malware  ·  Phishing</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term here gets its own page section</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46</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kind of thing is Bitcoin?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stated characteristics, and the architecture behind them</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first row makes promises to users; the second names the machinery that keeps them.</a:t>
            </a:r>
            <a:endParaRPr lang="en-US" sz="1250" dirty="0"/>
          </a:p>
        </p:txBody>
      </p:sp>
      <p:sp>
        <p:nvSpPr>
          <p:cNvPr id="7" name="Text 5"/>
          <p:cNvSpPr txBox="1"/>
          <p:nvPr/>
        </p:nvSpPr>
        <p:spPr>
          <a:xfrm>
            <a:off x="457200" y="1481328"/>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Characteristics - each one a design choice</a:t>
            </a:r>
            <a:endParaRPr lang="en-US" sz="1500" dirty="0"/>
          </a:p>
        </p:txBody>
      </p:sp>
      <p:sp>
        <p:nvSpPr>
          <p:cNvPr id="8" name="Shape 6"/>
          <p:cNvSpPr/>
          <p:nvPr/>
        </p:nvSpPr>
        <p:spPr>
          <a:xfrm>
            <a:off x="457200" y="1920240"/>
            <a:ext cx="1414577" cy="530352"/>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457200" y="1920240"/>
            <a:ext cx="141457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Virtual</a:t>
            </a:r>
            <a:endParaRPr lang="en-US" sz="1400" dirty="0"/>
          </a:p>
        </p:txBody>
      </p:sp>
      <p:sp>
        <p:nvSpPr>
          <p:cNvPr id="10" name="Shape 8"/>
          <p:cNvSpPr/>
          <p:nvPr/>
        </p:nvSpPr>
        <p:spPr>
          <a:xfrm>
            <a:off x="2072945" y="1920240"/>
            <a:ext cx="1856232" cy="530352"/>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2072945" y="1920240"/>
            <a:ext cx="1856232"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Borderless</a:t>
            </a:r>
            <a:endParaRPr lang="en-US" sz="1400" dirty="0"/>
          </a:p>
        </p:txBody>
      </p:sp>
      <p:sp>
        <p:nvSpPr>
          <p:cNvPr id="12" name="Shape 10"/>
          <p:cNvSpPr/>
          <p:nvPr/>
        </p:nvSpPr>
        <p:spPr>
          <a:xfrm>
            <a:off x="4130345" y="1920240"/>
            <a:ext cx="2297887" cy="530352"/>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130345" y="1920240"/>
            <a:ext cx="229788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Decentralized</a:t>
            </a:r>
            <a:endParaRPr lang="en-US" sz="1400" dirty="0"/>
          </a:p>
        </p:txBody>
      </p:sp>
      <p:sp>
        <p:nvSpPr>
          <p:cNvPr id="14" name="Shape 12"/>
          <p:cNvSpPr/>
          <p:nvPr/>
        </p:nvSpPr>
        <p:spPr>
          <a:xfrm>
            <a:off x="6629400" y="1920240"/>
            <a:ext cx="1267358" cy="530352"/>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6629400" y="1920240"/>
            <a:ext cx="1267358"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Robust</a:t>
            </a:r>
            <a:endParaRPr lang="en-US" sz="1400" dirty="0"/>
          </a:p>
        </p:txBody>
      </p:sp>
      <p:sp>
        <p:nvSpPr>
          <p:cNvPr id="16" name="Text 14"/>
          <p:cNvSpPr txBox="1"/>
          <p:nvPr/>
        </p:nvSpPr>
        <p:spPr>
          <a:xfrm>
            <a:off x="457200" y="2788920"/>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The architecture that delivers them</a:t>
            </a:r>
            <a:endParaRPr lang="en-US" sz="1500" dirty="0"/>
          </a:p>
        </p:txBody>
      </p:sp>
      <p:sp>
        <p:nvSpPr>
          <p:cNvPr id="17" name="Shape 15"/>
          <p:cNvSpPr/>
          <p:nvPr/>
        </p:nvSpPr>
        <p:spPr>
          <a:xfrm>
            <a:off x="457200" y="3200400"/>
            <a:ext cx="3475634" cy="283464"/>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457200" y="3200400"/>
            <a:ext cx="3475634"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Peer To Peer Protocol</a:t>
            </a:r>
            <a:endParaRPr lang="en-US" sz="1400" dirty="0"/>
          </a:p>
        </p:txBody>
      </p:sp>
      <p:sp>
        <p:nvSpPr>
          <p:cNvPr id="19" name="Shape 17"/>
          <p:cNvSpPr/>
          <p:nvPr/>
        </p:nvSpPr>
        <p:spPr>
          <a:xfrm>
            <a:off x="4134002" y="3200400"/>
            <a:ext cx="2445106" cy="28346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4134002" y="3200400"/>
            <a:ext cx="2445106"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Public Journal</a:t>
            </a:r>
            <a:endParaRPr lang="en-US" sz="1400" dirty="0"/>
          </a:p>
        </p:txBody>
      </p:sp>
      <p:sp>
        <p:nvSpPr>
          <p:cNvPr id="21" name="Shape 19"/>
          <p:cNvSpPr/>
          <p:nvPr/>
        </p:nvSpPr>
        <p:spPr>
          <a:xfrm>
            <a:off x="457200" y="3557016"/>
            <a:ext cx="3033979" cy="28346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457200" y="3557016"/>
            <a:ext cx="3033979"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Consensus Rule Set</a:t>
            </a:r>
            <a:endParaRPr lang="en-US" sz="14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adjective is engineered, not advertised</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46</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Beyond the base layer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Payment channels route through a network - chapter 14's subject</a:t>
            </a:r>
            <a:endParaRPr lang="en-US" sz="1300" dirty="0"/>
          </a:p>
        </p:txBody>
      </p:sp>
      <p:sp>
        <p:nvSpPr>
          <p:cNvPr id="6" name="Shape 4"/>
          <p:cNvSpPr/>
          <p:nvPr/>
        </p:nvSpPr>
        <p:spPr>
          <a:xfrm>
            <a:off x="457200" y="1444752"/>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325880"/>
            <a:ext cx="2971800" cy="3657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Channels: Alice-Bob, Bob-Carol, Carol-Dave</a:t>
            </a:r>
            <a:endParaRPr lang="en-US" sz="1000" dirty="0"/>
          </a:p>
        </p:txBody>
      </p:sp>
      <p:sp>
        <p:nvSpPr>
          <p:cNvPr id="8" name="Shape 6"/>
          <p:cNvSpPr/>
          <p:nvPr/>
        </p:nvSpPr>
        <p:spPr>
          <a:xfrm>
            <a:off x="457200" y="1810512"/>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91640"/>
            <a:ext cx="2971800" cy="3657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Alice pays Dave with no direct channel</a:t>
            </a:r>
            <a:endParaRPr lang="en-US" sz="1000" dirty="0"/>
          </a:p>
        </p:txBody>
      </p:sp>
      <p:sp>
        <p:nvSpPr>
          <p:cNvPr id="10" name="Shape 8"/>
          <p:cNvSpPr/>
          <p:nvPr/>
        </p:nvSpPr>
        <p:spPr>
          <a:xfrm>
            <a:off x="457200" y="217627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57400"/>
            <a:ext cx="2971800" cy="3657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 path is found: 3 hops, chain untouched</a:t>
            </a:r>
            <a:endParaRPr lang="en-US" sz="1000" dirty="0"/>
          </a:p>
        </p:txBody>
      </p:sp>
      <p:sp>
        <p:nvSpPr>
          <p:cNvPr id="12" name="Shape 10"/>
          <p:cNvSpPr/>
          <p:nvPr/>
        </p:nvSpPr>
        <p:spPr>
          <a:xfrm>
            <a:off x="4453128" y="1545336"/>
            <a:ext cx="902208" cy="0"/>
          </a:xfrm>
          <a:prstGeom prst="line">
            <a:avLst/>
          </a:prstGeom>
          <a:noFill/>
          <a:ln w="28575">
            <a:solidFill>
              <a:srgbClr val="D97A14"/>
            </a:solidFill>
            <a:prstDash val="solid"/>
            <a:tailEnd type="triangle"/>
          </a:ln>
        </p:spPr>
      </p:sp>
      <p:sp>
        <p:nvSpPr>
          <p:cNvPr id="13" name="Shape 11"/>
          <p:cNvSpPr/>
          <p:nvPr/>
        </p:nvSpPr>
        <p:spPr>
          <a:xfrm>
            <a:off x="4032504" y="1325880"/>
            <a:ext cx="438912" cy="438912"/>
          </a:xfrm>
          <a:prstGeom prst="ellipse">
            <a:avLst/>
          </a:prstGeom>
          <a:solidFill>
            <a:srgbClr val="D97A14"/>
          </a:solidFill>
          <a:ln w="19050">
            <a:solidFill>
              <a:srgbClr val="FFFFFF"/>
            </a:solidFill>
            <a:prstDash val="solid"/>
          </a:ln>
        </p:spPr>
      </p:sp>
      <p:sp>
        <p:nvSpPr>
          <p:cNvPr id="14" name="Text 12"/>
          <p:cNvSpPr txBox="1"/>
          <p:nvPr/>
        </p:nvSpPr>
        <p:spPr>
          <a:xfrm>
            <a:off x="3703320" y="18196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Alice</a:t>
            </a:r>
            <a:endParaRPr lang="en-US" sz="1050" dirty="0"/>
          </a:p>
        </p:txBody>
      </p:sp>
      <p:sp>
        <p:nvSpPr>
          <p:cNvPr id="15" name="Shape 13"/>
          <p:cNvSpPr/>
          <p:nvPr/>
        </p:nvSpPr>
        <p:spPr>
          <a:xfrm>
            <a:off x="5794248" y="1545336"/>
            <a:ext cx="902208" cy="0"/>
          </a:xfrm>
          <a:prstGeom prst="line">
            <a:avLst/>
          </a:prstGeom>
          <a:noFill/>
          <a:ln w="28575">
            <a:solidFill>
              <a:srgbClr val="D97A14"/>
            </a:solidFill>
            <a:prstDash val="solid"/>
            <a:tailEnd type="triangle"/>
          </a:ln>
        </p:spPr>
      </p:sp>
      <p:sp>
        <p:nvSpPr>
          <p:cNvPr id="16" name="Shape 14"/>
          <p:cNvSpPr/>
          <p:nvPr/>
        </p:nvSpPr>
        <p:spPr>
          <a:xfrm>
            <a:off x="5373624" y="1325880"/>
            <a:ext cx="438912" cy="438912"/>
          </a:xfrm>
          <a:prstGeom prst="ellipse">
            <a:avLst/>
          </a:prstGeom>
          <a:solidFill>
            <a:srgbClr val="2F6D62"/>
          </a:solidFill>
          <a:ln w="19050">
            <a:solidFill>
              <a:srgbClr val="FFFFFF"/>
            </a:solidFill>
            <a:prstDash val="solid"/>
          </a:ln>
        </p:spPr>
      </p:sp>
      <p:sp>
        <p:nvSpPr>
          <p:cNvPr id="17" name="Text 15"/>
          <p:cNvSpPr txBox="1"/>
          <p:nvPr/>
        </p:nvSpPr>
        <p:spPr>
          <a:xfrm>
            <a:off x="5044440" y="18196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Bob</a:t>
            </a:r>
            <a:endParaRPr lang="en-US" sz="1050" dirty="0"/>
          </a:p>
        </p:txBody>
      </p:sp>
      <p:sp>
        <p:nvSpPr>
          <p:cNvPr id="18" name="Shape 16"/>
          <p:cNvSpPr/>
          <p:nvPr/>
        </p:nvSpPr>
        <p:spPr>
          <a:xfrm>
            <a:off x="7135368" y="1545336"/>
            <a:ext cx="902208" cy="0"/>
          </a:xfrm>
          <a:prstGeom prst="line">
            <a:avLst/>
          </a:prstGeom>
          <a:noFill/>
          <a:ln w="28575">
            <a:solidFill>
              <a:srgbClr val="D97A14"/>
            </a:solidFill>
            <a:prstDash val="solid"/>
            <a:tailEnd type="triangle"/>
          </a:ln>
        </p:spPr>
      </p:sp>
      <p:sp>
        <p:nvSpPr>
          <p:cNvPr id="19" name="Shape 17"/>
          <p:cNvSpPr/>
          <p:nvPr/>
        </p:nvSpPr>
        <p:spPr>
          <a:xfrm>
            <a:off x="6714744" y="1325880"/>
            <a:ext cx="438912" cy="438912"/>
          </a:xfrm>
          <a:prstGeom prst="ellipse">
            <a:avLst/>
          </a:prstGeom>
          <a:solidFill>
            <a:srgbClr val="2F6D62"/>
          </a:solidFill>
          <a:ln w="19050">
            <a:solidFill>
              <a:srgbClr val="FFFFFF"/>
            </a:solidFill>
            <a:prstDash val="solid"/>
          </a:ln>
        </p:spPr>
      </p:sp>
      <p:sp>
        <p:nvSpPr>
          <p:cNvPr id="20" name="Text 18"/>
          <p:cNvSpPr txBox="1"/>
          <p:nvPr/>
        </p:nvSpPr>
        <p:spPr>
          <a:xfrm>
            <a:off x="6385560" y="18196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Carol</a:t>
            </a:r>
            <a:endParaRPr lang="en-US" sz="1050" dirty="0"/>
          </a:p>
        </p:txBody>
      </p:sp>
      <p:sp>
        <p:nvSpPr>
          <p:cNvPr id="21" name="Shape 19"/>
          <p:cNvSpPr/>
          <p:nvPr/>
        </p:nvSpPr>
        <p:spPr>
          <a:xfrm>
            <a:off x="8055864" y="1325880"/>
            <a:ext cx="438912" cy="438912"/>
          </a:xfrm>
          <a:prstGeom prst="ellipse">
            <a:avLst/>
          </a:prstGeom>
          <a:solidFill>
            <a:srgbClr val="D97A14"/>
          </a:solidFill>
          <a:ln w="19050">
            <a:solidFill>
              <a:srgbClr val="FFFFFF"/>
            </a:solidFill>
            <a:prstDash val="solid"/>
          </a:ln>
        </p:spPr>
      </p:sp>
      <p:sp>
        <p:nvSpPr>
          <p:cNvPr id="22" name="Text 20"/>
          <p:cNvSpPr txBox="1"/>
          <p:nvPr/>
        </p:nvSpPr>
        <p:spPr>
          <a:xfrm>
            <a:off x="7726680" y="18196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Dave</a:t>
            </a:r>
            <a:endParaRPr lang="en-US" sz="1050" dirty="0"/>
          </a:p>
        </p:txBody>
      </p:sp>
      <p:sp>
        <p:nvSpPr>
          <p:cNvPr id="23" name="Text 21"/>
          <p:cNvSpPr txBox="1"/>
          <p:nvPr/>
        </p:nvSpPr>
        <p:spPr>
          <a:xfrm>
            <a:off x="3931920" y="2203704"/>
            <a:ext cx="4663440" cy="310896"/>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3 hops; no direct channel</a:t>
            </a:r>
            <a:endParaRPr lang="en-US" sz="1100" dirty="0"/>
          </a:p>
        </p:txBody>
      </p:sp>
      <p:sp>
        <p:nvSpPr>
          <p:cNvPr id="24" name="Text 22"/>
          <p:cNvSpPr txBox="1"/>
          <p:nvPr/>
        </p:nvSpPr>
        <p:spPr>
          <a:xfrm>
            <a:off x="457200" y="2514600"/>
            <a:ext cx="4032504"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line by line</a:t>
            </a:r>
            <a:endParaRPr lang="en-US" sz="1150" dirty="0"/>
          </a:p>
        </p:txBody>
      </p:sp>
      <p:sp>
        <p:nvSpPr>
          <p:cNvPr id="25" name="Shape 23"/>
          <p:cNvSpPr/>
          <p:nvPr/>
        </p:nvSpPr>
        <p:spPr>
          <a:xfrm>
            <a:off x="457200" y="2788920"/>
            <a:ext cx="8229600" cy="1737360"/>
          </a:xfrm>
          <a:prstGeom prst="roundRect">
            <a:avLst>
              <a:gd name="adj" fmla="val 5263"/>
            </a:avLst>
          </a:prstGeom>
          <a:solidFill>
            <a:srgbClr val="23272E"/>
          </a:solidFill>
          <a:ln w="12700">
            <a:solidFill>
              <a:srgbClr val="23272E"/>
            </a:solidFill>
            <a:prstDash val="solid"/>
          </a:ln>
        </p:spPr>
      </p:sp>
      <p:sp>
        <p:nvSpPr>
          <p:cNvPr id="26" name="Text 24"/>
          <p:cNvSpPr txBox="1"/>
          <p:nvPr/>
        </p:nvSpPr>
        <p:spPr>
          <a:xfrm>
            <a:off x="640080" y="2907792"/>
            <a:ext cx="7863840" cy="1499616"/>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channels = {(</a:t>
            </a:r>
            <a:r>
              <a:rPr lang="en-US" sz="700" dirty="0">
                <a:solidFill>
                  <a:srgbClr val="9ECBFF"/>
                </a:solidFill>
                <a:latin typeface="Courier New" pitchFamily="34" charset="0"/>
                <a:ea typeface="Courier New" pitchFamily="34" charset="-122"/>
                <a:cs typeface="Courier New" pitchFamily="34" charset="-120"/>
              </a:rPr>
              <a:t>'Alice'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'Bob'</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'Bob'</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'Carol'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'Carol'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'Dave'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nbr = {}</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 y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channels: nbr.setdefault(x, []).append(y); nbr.setdefault(y, []).append(x)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path, frontier = {</a:t>
            </a:r>
            <a:r>
              <a:rPr lang="en-US" sz="700" dirty="0">
                <a:solidFill>
                  <a:srgbClr val="9ECBFF"/>
                </a:solidFill>
                <a:latin typeface="Courier New" pitchFamily="34" charset="0"/>
                <a:ea typeface="Courier New" pitchFamily="34" charset="-122"/>
                <a:cs typeface="Courier New" pitchFamily="34" charset="-120"/>
              </a:rPr>
              <a:t>'Alice'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'Alice'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'Alice'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while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'Dave'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not</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path:</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nxt =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frontier: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y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nbr[x]: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y </a:t>
            </a:r>
            <a:r>
              <a:rPr lang="en-US" sz="700" b="1" dirty="0">
                <a:solidFill>
                  <a:srgbClr val="F2A860"/>
                </a:solidFill>
                <a:latin typeface="Courier New" pitchFamily="34" charset="0"/>
                <a:ea typeface="Courier New" pitchFamily="34" charset="-122"/>
                <a:cs typeface="Courier New" pitchFamily="34" charset="-120"/>
              </a:rPr>
              <a:t>not</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path: path[y] = path[x] + [y]; nxt.append(y)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frontier = nxt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result = (path[</a:t>
            </a:r>
            <a:r>
              <a:rPr lang="en-US" sz="700" dirty="0">
                <a:solidFill>
                  <a:srgbClr val="9ECBFF"/>
                </a:solidFill>
                <a:latin typeface="Courier New" pitchFamily="34" charset="0"/>
                <a:ea typeface="Courier New" pitchFamily="34" charset="-122"/>
                <a:cs typeface="Courier New" pitchFamily="34" charset="-120"/>
              </a:rPr>
              <a:t>'Dave'</a:t>
            </a:r>
            <a:r>
              <a:rPr lang="en-US" sz="700" dirty="0">
                <a:solidFill>
                  <a:srgbClr val="E6EDF3"/>
                </a:solidFill>
                <a:latin typeface="Courier New" pitchFamily="34" charset="0"/>
                <a:ea typeface="Courier New" pitchFamily="34" charset="-122"/>
                <a:cs typeface="Courier New" pitchFamily="34" charset="-120"/>
              </a:rPr>
              <a:t>], len(path[</a:t>
            </a:r>
            <a:r>
              <a:rPr lang="en-US" sz="700" dirty="0">
                <a:solidFill>
                  <a:srgbClr val="9ECBFF"/>
                </a:solidFill>
                <a:latin typeface="Courier New" pitchFamily="34" charset="0"/>
                <a:ea typeface="Courier New" pitchFamily="34" charset="-122"/>
                <a:cs typeface="Courier New" pitchFamily="34" charset="-120"/>
              </a:rPr>
              <a:t>'Dave'</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'Alice'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'Dave'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channels)</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result </a:t>
            </a:r>
            <a:r>
              <a:rPr lang="en-US" sz="700" dirty="0">
                <a:solidFill>
                  <a:srgbClr val="7EE787"/>
                </a:solidFill>
                <a:latin typeface="Courier New" pitchFamily="34" charset="0"/>
                <a:ea typeface="Courier New" pitchFamily="34" charset="-122"/>
                <a:cs typeface="Courier New" pitchFamily="34" charset="-120"/>
              </a:rPr>
              <a:t>(['Alice', 'Bob', 'Carol', 'Dave'], 3, False)</a:t>
            </a:r>
            <a:endParaRPr lang="en-US" sz="700" dirty="0"/>
          </a:p>
        </p:txBody>
      </p:sp>
      <p:sp>
        <p:nvSpPr>
          <p:cNvPr id="27" name="Text 25"/>
          <p:cNvSpPr txBox="1"/>
          <p:nvPr/>
        </p:nvSpPr>
        <p:spPr>
          <a:xfrm>
            <a:off x="4581144" y="2514600"/>
            <a:ext cx="4105656"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LightningNetwork, lines 1 to 11 of 11, run under Python 3.14.6</a:t>
            </a:r>
            <a:endParaRPr lang="en-US" sz="9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chain settles; the edges scale</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46</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six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Origins: a dated newspaper headline sits in block 0, and the first payment went person to person</a:t>
            </a:r>
            <a:endParaRPr lang="en-US" sz="1250" dirty="0"/>
          </a:p>
        </p:txBody>
      </p:sp>
      <p:sp>
        <p:nvSpPr>
          <p:cNvPr id="9" name="Shape 7"/>
          <p:cNvSpPr/>
          <p:nvPr/>
        </p:nvSpPr>
        <p:spPr>
          <a:xfrm>
            <a:off x="457200" y="18882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882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5166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Money is a ledger: five thousand years of forms, three kinds today - what differs is who keeps it</a:t>
            </a:r>
            <a:endParaRPr lang="en-US" sz="1250" dirty="0"/>
          </a:p>
        </p:txBody>
      </p:sp>
      <p:sp>
        <p:nvSpPr>
          <p:cNvPr id="12" name="Shape 10"/>
          <p:cNvSpPr/>
          <p:nvPr/>
        </p:nvSpPr>
        <p:spPr>
          <a:xfrm>
            <a:off x="457200" y="241401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14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7744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Supply: 21 million by arithmetic - halvings on real, chain-stamped dates; a sum anyone can re-run</a:t>
            </a:r>
            <a:endParaRPr lang="en-US" sz="1250" dirty="0"/>
          </a:p>
        </p:txBody>
      </p:sp>
      <p:sp>
        <p:nvSpPr>
          <p:cNvPr id="15" name="Shape 13"/>
          <p:cNvSpPr/>
          <p:nvPr/>
        </p:nvSpPr>
        <p:spPr>
          <a:xfrm>
            <a:off x="457200" y="293979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397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0322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Price: discovered by trades, never declared - from two pizzas to $854M on one log chart</a:t>
            </a:r>
            <a:endParaRPr lang="en-US" sz="1250" dirty="0"/>
          </a:p>
        </p:txBody>
      </p:sp>
      <p:sp>
        <p:nvSpPr>
          <p:cNvPr id="18" name="Shape 16"/>
          <p:cNvSpPr/>
          <p:nvPr/>
        </p:nvSpPr>
        <p:spPr>
          <a:xfrm>
            <a:off x="457200" y="346557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655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2900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Network: no bank in the middle - every node checks every rule, and mining pays for honesty</a:t>
            </a:r>
            <a:endParaRPr lang="en-US" sz="1250" dirty="0"/>
          </a:p>
        </p:txBody>
      </p:sp>
      <p:sp>
        <p:nvSpPr>
          <p:cNvPr id="21" name="Shape 19"/>
          <p:cNvSpPr/>
          <p:nvPr/>
        </p:nvSpPr>
        <p:spPr>
          <a:xfrm>
            <a:off x="457200" y="399135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13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5478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Wallets: whoever holds the keys holds the coins - Mt. Gox is the named, dated proof</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46</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Nakamoto's nine pages of 31 October 2008  bitcoin.org</a:t>
            </a:r>
            <a:endParaRPr lang="en-US" sz="1000" dirty="0"/>
          </a:p>
        </p:txBody>
      </p:sp>
      <p:sp>
        <p:nvSpPr>
          <p:cNvPr id="9" name="Shape 7"/>
          <p:cNvSpPr/>
          <p:nvPr/>
        </p:nvSpPr>
        <p:spPr>
          <a:xfrm>
            <a:off x="493776" y="2057400"/>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842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Mastering Bitcoin, ch. 1: Introduction</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11" name="Shape 9"/>
          <p:cNvSpPr/>
          <p:nvPr/>
        </p:nvSpPr>
        <p:spPr>
          <a:xfrm>
            <a:off x="493776" y="2395728"/>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225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Bitcoin Developer Guides (docs)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Guides to blocks, transactions, wallets and the network</a:t>
            </a:r>
            <a:endParaRPr lang="en-US" sz="1000" dirty="0"/>
          </a:p>
        </p:txBody>
      </p:sp>
      <p:sp>
        <p:nvSpPr>
          <p:cNvPr id="13" name="Text 11"/>
          <p:cNvSpPr txBox="1"/>
          <p:nvPr/>
        </p:nvSpPr>
        <p:spPr>
          <a:xfrm>
            <a:off x="457200" y="2734056"/>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Explore &amp; markets</a:t>
            </a:r>
            <a:endParaRPr lang="en-US" sz="1250" dirty="0"/>
          </a:p>
        </p:txBody>
      </p:sp>
      <p:sp>
        <p:nvSpPr>
          <p:cNvPr id="14" name="Shape 12"/>
          <p:cNvSpPr/>
          <p:nvPr/>
        </p:nvSpPr>
        <p:spPr>
          <a:xfrm>
            <a:off x="493776" y="3081528"/>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0083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Bitcoin Core: download page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Signed releases of the reference client, with checksums</a:t>
            </a:r>
            <a:endParaRPr lang="en-US" sz="1000" dirty="0"/>
          </a:p>
        </p:txBody>
      </p:sp>
      <p:sp>
        <p:nvSpPr>
          <p:cNvPr id="16" name="Shape 14"/>
          <p:cNvSpPr/>
          <p:nvPr/>
        </p:nvSpPr>
        <p:spPr>
          <a:xfrm>
            <a:off x="493776" y="3419856"/>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46704"/>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mempool.space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Live blocks, transactions and fee rates; look up any txid</a:t>
            </a:r>
            <a:endParaRPr lang="en-US" sz="1000" dirty="0"/>
          </a:p>
        </p:txBody>
      </p:sp>
      <p:sp>
        <p:nvSpPr>
          <p:cNvPr id="18" name="Shape 16"/>
          <p:cNvSpPr/>
          <p:nvPr/>
        </p:nvSpPr>
        <p:spPr>
          <a:xfrm>
            <a:off x="493776" y="375818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85032"/>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blockstream.info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Look up any block, transaction or address  blockstream.info</a:t>
            </a:r>
            <a:endParaRPr lang="en-US" sz="1000" dirty="0"/>
          </a:p>
        </p:txBody>
      </p:sp>
      <p:sp>
        <p:nvSpPr>
          <p:cNvPr id="20" name="Shape 18"/>
          <p:cNvSpPr/>
          <p:nvPr/>
        </p:nvSpPr>
        <p:spPr>
          <a:xfrm>
            <a:off x="493776" y="4096512"/>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402336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CoinGecko: Bitcoin price data (API)</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Price, market cap and volume of bitcoin, as CoinGecko's own data feed</a:t>
            </a:r>
            <a:endParaRPr lang="en-US" sz="1000" dirty="0"/>
          </a:p>
        </p:txBody>
      </p:sp>
      <p:sp>
        <p:nvSpPr>
          <p:cNvPr id="22" name="Text 20"/>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3" name="Shape 21"/>
          <p:cNvSpPr/>
          <p:nvPr/>
        </p:nvSpPr>
        <p:spPr>
          <a:xfrm>
            <a:off x="4768596" y="1719072"/>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64592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25" name="Shape 23"/>
          <p:cNvSpPr/>
          <p:nvPr/>
        </p:nvSpPr>
        <p:spPr>
          <a:xfrm>
            <a:off x="4768596" y="2057400"/>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9842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Pizza for bitcoins?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Laszlo Hanyecz's offer of 10,000 bitcoins, May 2010</a:t>
            </a:r>
            <a:endParaRPr lang="en-US" sz="1000" dirty="0"/>
          </a:p>
        </p:txBody>
      </p:sp>
      <p:sp>
        <p:nvSpPr>
          <p:cNvPr id="27" name="Text 25"/>
          <p:cNvSpPr txBox="1"/>
          <p:nvPr/>
        </p:nvSpPr>
        <p:spPr>
          <a:xfrm>
            <a:off x="4732020" y="2395728"/>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Seminal &amp; watch</a:t>
            </a:r>
            <a:endParaRPr lang="en-US" sz="1250" dirty="0"/>
          </a:p>
        </p:txBody>
      </p:sp>
      <p:sp>
        <p:nvSpPr>
          <p:cNvPr id="28" name="Shape 26"/>
          <p:cNvSpPr/>
          <p:nvPr/>
        </p:nvSpPr>
        <p:spPr>
          <a:xfrm>
            <a:off x="4768596" y="2743200"/>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6700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Back: Hashcash, a DoS counter-measure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Adam Back's proof-of-work paper; Nakamoto Institute copy</a:t>
            </a:r>
            <a:endParaRPr lang="en-US" sz="1000" dirty="0"/>
          </a:p>
        </p:txBody>
      </p:sp>
      <p:sp>
        <p:nvSpPr>
          <p:cNvPr id="30" name="Shape 28"/>
          <p:cNvSpPr/>
          <p:nvPr/>
        </p:nvSpPr>
        <p:spPr>
          <a:xfrm>
            <a:off x="4768596" y="308152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0083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Wei Dai: b-money (text, 1998)</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1998 proposal Bitcoin cites; Nakamoto Institute copy</a:t>
            </a:r>
            <a:endParaRPr lang="en-US" sz="1000" dirty="0"/>
          </a:p>
        </p:txBody>
      </p:sp>
      <p:sp>
        <p:nvSpPr>
          <p:cNvPr id="32" name="Shape 30"/>
          <p:cNvSpPr/>
          <p:nvPr/>
        </p:nvSpPr>
        <p:spPr>
          <a:xfrm>
            <a:off x="4768596" y="3419856"/>
            <a:ext cx="82296" cy="82296"/>
          </a:xfrm>
          <a:prstGeom prst="ellipse">
            <a:avLst/>
          </a:prstGeom>
          <a:solidFill>
            <a:srgbClr val="D97A14"/>
          </a:solidFill>
          <a:ln w="12700">
            <a:solidFill>
              <a:srgbClr val="D97A14"/>
            </a:solidFill>
            <a:prstDash val="solid"/>
          </a:ln>
        </p:spPr>
      </p:sp>
      <p:sp>
        <p:nvSpPr>
          <p:cNvPr id="33" name="Text 31"/>
          <p:cNvSpPr txBox="1"/>
          <p:nvPr/>
        </p:nvSpPr>
        <p:spPr>
          <a:xfrm>
            <a:off x="4933188" y="3346704"/>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But how does bitcoin actually work?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3Blue1Brown draws the ledger, signatures and proof of work</a:t>
            </a:r>
            <a:endParaRPr lang="en-US" sz="100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Nine free pages started all of this - read them this week</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46</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bitcoin is, and how far it divides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21 million is arithmetic, not promise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replaces the bank in the middle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chapter opens each box we drew</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46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dc:title>
  <dc:subject>PptxGenJS Presentation</dc:subject>
  <dc:creator>Yusuf Altunel</dc:creator>
  <cp:lastModifiedBy>Yusuf Altunel</cp:lastModifiedBy>
  <cp:revision>1</cp:revision>
  <dcterms:created xsi:type="dcterms:W3CDTF">2026-10-18T23:07:31Z</dcterms:created>
  <dcterms:modified xsi:type="dcterms:W3CDTF">2026-10-18T23:07:31Z</dcterms:modified>
  <cp:version>2.11.0</cp:version>
</cp:coreProperties>
</file>