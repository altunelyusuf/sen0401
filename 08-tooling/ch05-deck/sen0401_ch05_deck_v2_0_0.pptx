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Entropy carried by a recovery code (bits)</a:t>
            </a:r>
          </a:p>
        </c:rich>
      </c:tx>
      <c:layout/>
      <c:overlay val="0"/>
    </c:title>
    <c:autoTitleDeleted val="0"/>
    <c:plotArea>
      <c:layout/>
      <c:barChart>
        <c:barDir val="col"/>
        <c:grouping val="clustered"/>
        <c:varyColors val="0"/>
        <c:ser>
          <c:idx val="0"/>
          <c:order val="0"/>
          <c:tx>
            <c:strRef>
              <c:f>Sheet1!$B$1</c:f>
              <c:strCache>
                <c:ptCount val="1"/>
                <c:pt idx="0">
                  <c:v>entropy bits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12 words</c:v>
                  </c:pt>
                  <c:pt idx="1">
                    <c:v>15 words</c:v>
                  </c:pt>
                  <c:pt idx="2">
                    <c:v>18 words</c:v>
                  </c:pt>
                  <c:pt idx="3">
                    <c:v>21 words</c:v>
                  </c:pt>
                  <c:pt idx="4">
                    <c:v>24 words</c:v>
                  </c:pt>
                </c:lvl>
              </c:multiLvlStrCache>
            </c:multiLvlStrRef>
          </c:cat>
          <c:val>
            <c:numRef>
              <c:f>Sheet1!$B$2:$B$6</c:f>
              <c:numCache>
                <c:formatCode>General</c:formatCode>
                <c:ptCount val="5"/>
                <c:pt idx="0">
                  <c:v>128</c:v>
                </c:pt>
                <c:pt idx="1">
                  <c:v>160</c:v>
                </c:pt>
                <c:pt idx="2">
                  <c:v>192</c:v>
                </c:pt>
                <c:pt idx="3">
                  <c:v>224</c:v>
                </c:pt>
                <c:pt idx="4">
                  <c:v>256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4 made one key; chapter 5 makes ALL of them recoverable from twelve words you can write on paper - and shows what happens to people who skip the writing.
FULL TEXT: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ending at a tested backup. One story costs 7,002 BTC, one finds 200,000, and one explains the twelve words in your pocket.
ASK: Which part do you expect to be hardest - mark it now, check at the summary.
FULL TEXT: course page, chapter 5 -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branch of the chapter asks what a Bitcoin wallet really contains and where its keys come from. The chapter begins by correcting a common belief.
FULL TEXT: course page, chapter 5 - WalletKeys.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branch of the chapter asks what a Bitcoin wallet really contains and where its keys come from. The chapter begins by correcting a common belief.
FULL TEXT: course page, chapter 5 - WalletKeys, RecoveryCodes.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branch of the chapter asks what a Bitcoin wallet really contains and where its keys come from. The chapter begins by correcting a common belief.
FULL TEXT: course page, chapter 5 - WalletKeys.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(2021-01-12): In 2011 Stefan Thomas was paid 7,002 BTC for making an animated explainer about bitcoin. He put the keys on an encrypted IronKey drive, wrote the password on a paper he later lost, and the drive allows ten guesses before locking forever. By January 2021, when the New York Times told the story, he had used eight. The chapter you are in - recovery codes, written backups, backup TESTING - is the discipline that makes this story impossible to repeat.
SOURCE: The New York Times, 2021-01-12, 'Lost Passwords Lock Millionaires Out of Their Bitcoin Fortunes': 7,002 BTC, ten guesses, eight used. Photo: Lift Conference 2015, CC BY 2.0 (the file page names Stefan Thomas).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Independent key generation is the method in which a wallet application creates each of the keys that it plans to use independently of the others. Each is a fresh random number with no connection to the rest, and the wallet database is simply the collection of them.
ASK: What breaks if a deterministic wallet's RNG is biased? (chapter 4 answered)
FULL TEXT: course page, chapter 5 - IndependentKeyGeneration, DeterministicKeyGeneration.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recovery code is the short, written form of a wallet's seed: a sequence of words, or in one case a string of letters and digits, from which every key of a deterministic wallet can be computed again.
FULL TEXT: course page, chapter 5 - RecoveryCodes.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(2013-09-10): The team building the first hardware signing device faced a human problem: nobody transcribes 128 raw bits correctly. Their 2013 proposal, BIP 39, encodes entropy as ordinary words from a curated list of 2,048 - eleven bits a word, a checksum folded in, a key-stretching function from words to seed. The slides around this one do not describe that pipeline; they run it, word by word, against the standard's own test vectors.
SOURCE: BIP 39, 'Mnemonic code for generating deterministic keys', authors Palatinus, Rusnak, Voisine, Bowe, dated 2013-09-10, in bitcoin/bips. Photo: two Trezor One devices by Gage Skidmore,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length of a recovery code is not a free choice: it is determined by the amount of entropy. The chapter prints the relation as a table with four columns, entropy in bits, checksum in bits, entropy plus checksum, and recovery code words, whose five rows run from 128 bits and 12 words to 256 bits and 24 words (Antonopoulos and Harding, 2023).
ASK: Why eleven bits a word - what is 2 to the 11?
FULL TEXT: course page, chapter 5 - CodeLength, WordList.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PBKDF2 is the second password-based key derivation function of the PKCS #5 standard, and it is the particular key-stretching function BIP39 names. Its specification defines it as applying a pseudorandom function to derive keys, with four inputs: a password, a salt, an iteration count and the intended length of the derived key in octets, and says it is recommended for new applications (Moriarty et al., 2017).
ASK: Where must the passphrase NOT be stored - and why is 'nowhere' a defensible answer?
FULL TEXT: course page, chapter 5 - Pbkdf2, RecoveryPassphrase.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hierarchical deterministic wallet, which the chapter and the standards abbreviate to HD wallet, is a wallet whose keys form a tree, every node of which is computed from the seed. The book's glossary calls the hierarchical deterministic protocol the key creation and transfer protocol of BIP32, which allows creating child keys from parent keys in a hierarchy, and an HD wallet a wallet using that protocol (Antonopoulos and Harding, 2023).
FULL TEXT: course page, chapter 5 - HdWallet.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Hierarchical deterministic key generation, usually shortened to HD, is the standard way to derive keys from a seed. It is defined in BIP32, a Bitcoin Improvement Proposal by Pieter Wuille that has the status Deployed (Wuille, 2012).
ASK: Why carry a chain code at all - what would leak without it?
FULL TEXT: course page, chapter 5 - HdKeyGeneration, ChildKeyDerivation.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Hardened derivation is the alternative derivation function that breaks the relationship between the parent public key and the child chain code.
ASK: Read m/84h/0h/0h/0/2: which hops could a watch-only server have taken itself?
FULL TEXT: course page, chapter 5 - HardenedDerivation, PrivateChildDerivation.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BIP44 is the layout that gives a tree its familiar shape. The chapter says that, extending BIP43, BIP44 proposes a multi-account structure as purpose number 44 with a prime, that all wallets following the structure are identified by using only the branch m/44', and that the structure consists of five predefined tree levels: purpose, coin type, account, change and address index (Antonopoulos and Harding, 2023).
ASK: Your phone wallet says 'account 0' - write its path from memory.
FULL TEXT: course page, chapter 5 - Bip44Structure, StandardPath84.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is about everything in a wallet that a seed cannot reproduce.
FULL TEXT: course page, chapter 5 - NonkeyBackup.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Deploying an extended public key means installing the public half of a branch on a machine that needs to receive but not to spend.
ASK: A donation page went viral and used 400 addresses - what must recovery change?
FULL TEXT: course page, chapter 5 - XpubDeployment, GapLimit.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(2014-03-21): Chapter 1 told how Mt. Gox collapsed owing 850,000 BTC. Three weeks after the bankruptcy filing came a twist: the company reported finding about 200,000 BTC in an old-format wallet file that had sat unused since 2011. A file made by software two generations older still held spendable keys - backups do not expire. Those coins became the pool from which creditors, a decade later, began to be repaid.
SOURCE: Mt. Gox announcement of 2014-03-20/21 reporting approximately 200,000 BTC found in an old-format wallet; summarized with the bankruptcy chronology at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Secret sharing is a way of splitting one secret into several parts with a threshold. SLIP39's description is the clearest: the scheme splits a secret into a number of unique parts, of which any threshold-many are required to reconstruct it, and knowledge of fewer than the required number does not leak information about the secret (Rusnak et al., 2017).
ASK: Where do five shares live so no burglary, flood, or sibling feud collects three?
FULL TEXT: course page, chapter 5 - SecretSharing, Slip39Code.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Testing a backup means performing the recovery while it is still optional. It is the action the chapter's last sentence asks for: it is up to the reader to actually use the systems available to make good backups and regularly test them (Antonopoulos and Harding, 2023).
ASK: When did you last restore a backup of anything - and how do you know it works?
FULL TEXT: course page, chapter 5 - BackupTesting, DataLoss.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5 -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Homework: generate a THROWAWAY twelve-word code, restore it in a second wallet, and bring the one surprise you hit to class. Never type a real code into any website.
ASK: Which of the four closing chips does your current phone wallet fail?
FULL TEXT: course page, chapter 5 - WalletDeployment.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computation you watched run against the standards' own vectors. First five chapters complete - the course page carries every word.
FULL TEXT: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nytimes.com/2021/01/12/technology/bitcoin-passwords-wallets-fortunes.html"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bitcoin/bips/blob/master/bip-0039.mediawiki" TargetMode="External"/><Relationship Id="rId1" Type="http://schemas.openxmlformats.org/officeDocument/2006/relationships/image" Target="../media/image-9-1.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en.wikipedia.org/wiki/Mt._Gox"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bitcoinbook/bitcoinbook/blob/develop/ch05_wallets.adoc" TargetMode="External"/><Relationship Id="rId2" Type="http://schemas.openxmlformats.org/officeDocument/2006/relationships/hyperlink" Target="https://www.nytimes.com/2021/01/12/technology/bitcoin-passwords-wallets-fortunes.html" TargetMode="External"/><Relationship Id="rId3" Type="http://schemas.openxmlformats.org/officeDocument/2006/relationships/hyperlink" Target="https://github.com/bitcoin/bips/blob/master/bip-0039.mediawiki" TargetMode="External"/><Relationship Id="rId4" Type="http://schemas.openxmlformats.org/officeDocument/2006/relationships/hyperlink" Target="https://github.com/bitcoin/bips/blob/master/bip-0032.mediawiki" TargetMode="External"/><Relationship Id="rId5" Type="http://schemas.openxmlformats.org/officeDocument/2006/relationships/hyperlink" Target="https://github.com/bitcoin/bips/blob/master/bip-0084.mediawiki" TargetMode="External"/><Relationship Id="rId6" Type="http://schemas.openxmlformats.org/officeDocument/2006/relationships/hyperlink" Target="https://iancoleman.io/bip39/" TargetMode="External"/><Relationship Id="rId7" Type="http://schemas.openxmlformats.org/officeDocument/2006/relationships/hyperlink" Target="https://learnmeabitcoin.com"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5: Wallet Recovery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seed, twelve words, and every key you will ever need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5/assets/mbc3_0503.png">    </p:cNvPr>
          <p:cNvPicPr>
            <a:picLocks noChangeAspect="1"/>
          </p:cNvPicPr>
          <p:nvPr/>
        </p:nvPicPr>
        <p:blipFill>
          <a:blip r:embed="rId1"/>
          <a:srcRect l="0" r="0" t="0" b="0"/>
          <a:stretch/>
        </p:blipFill>
        <p:spPr>
          <a:xfrm>
            <a:off x="5394960" y="1097280"/>
            <a:ext cx="3383280" cy="2286000"/>
          </a:xfrm>
          <a:prstGeom prst="rect">
            <a:avLst/>
          </a:prstGeom>
        </p:spPr>
      </p:pic>
      <p:sp>
        <p:nvSpPr>
          <p:cNvPr id="12" name="Text 9"/>
          <p:cNvSpPr txBox="1"/>
          <p:nvPr/>
        </p:nvSpPr>
        <p:spPr>
          <a:xfrm>
            <a:off x="5394960" y="340156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HD tree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in wallets - loose, deterministic, hierarchical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Recovery codes - BIP-39, measured and stretched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tree and its paths - to Core's own address  (slides 12-15)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backup you have actually tested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a Bitcoin wallet actually contain?</a:t>
            </a:r>
            <a:endParaRPr lang="en-US" sz="12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BIP39 recovery code generated from entropy and turned into a seed?</a:t>
            </a:r>
            <a:endParaRPr lang="en-US" sz="125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BIP32 make a tree of keys from one seed?</a:t>
            </a:r>
            <a:endParaRPr lang="en-US" sz="125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recovery code schemes are in use?</a:t>
            </a:r>
            <a:endParaRPr lang="en-US" sz="125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derivation paths does a wallet use?</a:t>
            </a:r>
            <a:endParaRPr lang="en-US" sz="125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chapter's statements differ from the standards and from Bitcoin Core 31.1?</a:t>
            </a:r>
            <a:endParaRPr lang="en-US" sz="125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5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Keys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Recovery Codes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BIP39 Stack</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14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HD Wallet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25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Path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Nonkey Backup</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9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Wallet Deployment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 in wallets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bag of keys to one recoverable seed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databases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Loose keys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Hierarchical</a:t>
            </a:r>
            <a:pPr algn="ctr" indent="0" marL="0">
              <a:buNone/>
            </a:pPr>
            <a:endParaRPr lang="en-US" sz="1400" dirty="0"/>
          </a:p>
        </p:txBody>
      </p:sp>
      <p:pic>
        <p:nvPicPr>
          <p:cNvPr id="14" name="Image 0" descr="../../03-materials/ch05/assets/mbc3_0502.png">    </p:cNvPr>
          <p:cNvPicPr>
            <a:picLocks noChangeAspect="1"/>
          </p:cNvPicPr>
          <p:nvPr/>
        </p:nvPicPr>
        <p:blipFill>
          <a:blip r:embed="rId1"/>
          <a:srcRect l="0" r="0" t="0" b="0"/>
          <a:stretch/>
        </p:blipFill>
        <p:spPr>
          <a:xfrm>
            <a:off x="5760720" y="1828800"/>
            <a:ext cx="3017520" cy="2194560"/>
          </a:xfrm>
          <a:prstGeom prst="rect">
            <a:avLst/>
          </a:prstGeom>
        </p:spPr>
      </p:pic>
      <p:sp>
        <p:nvSpPr>
          <p:cNvPr id="15" name="Text 12"/>
          <p:cNvSpPr txBox="1"/>
          <p:nvPr/>
        </p:nvSpPr>
        <p:spPr>
          <a:xfrm>
            <a:off x="5760720" y="404164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one seed, many keys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guesses from 7,002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2021-01-12</a:t>
            </a:r>
            <a:endParaRPr lang="en-US" sz="1300" dirty="0"/>
          </a:p>
        </p:txBody>
      </p:sp>
      <p:pic>
        <p:nvPicPr>
          <p:cNvPr id="6" name="Image 0" descr="../../03-materials/ch05/assets/photo_stefan_thomas.jpg">    </p:cNvPr>
          <p:cNvPicPr>
            <a:picLocks noChangeAspect="1"/>
          </p:cNvPicPr>
          <p:nvPr/>
        </p:nvPicPr>
        <p:blipFill>
          <a:blip r:embed="rId1"/>
          <a:srcRect l="0" r="0" t="0" b="0"/>
          <a:stretch/>
        </p:blipFill>
        <p:spPr>
          <a:xfrm>
            <a:off x="457200" y="1325880"/>
            <a:ext cx="2194560" cy="2834640"/>
          </a:xfrm>
          <a:prstGeom prst="rect">
            <a:avLst/>
          </a:prstGeom>
        </p:spPr>
      </p:pic>
      <p:sp>
        <p:nvSpPr>
          <p:cNvPr id="7" name="Text 4"/>
          <p:cNvSpPr txBox="1"/>
          <p:nvPr/>
        </p:nvSpPr>
        <p:spPr>
          <a:xfrm>
            <a:off x="457200" y="417880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Stefan Thomas - Lift 2015, CC BY 2.0</a:t>
            </a:r>
            <a:endParaRPr lang="en-US" sz="900" dirty="0"/>
          </a:p>
        </p:txBody>
      </p:sp>
      <p:sp>
        <p:nvSpPr>
          <p:cNvPr id="8" name="Shape 5"/>
          <p:cNvSpPr/>
          <p:nvPr/>
        </p:nvSpPr>
        <p:spPr>
          <a:xfrm>
            <a:off x="301752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91840" y="137160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2011: paid 7,002 BTC for an animated bitcoin explainer</a:t>
            </a:r>
            <a:endParaRPr lang="en-US" sz="1300" dirty="0"/>
          </a:p>
        </p:txBody>
      </p:sp>
      <p:sp>
        <p:nvSpPr>
          <p:cNvPr id="10" name="Shape 7"/>
          <p:cNvSpPr/>
          <p:nvPr/>
        </p:nvSpPr>
        <p:spPr>
          <a:xfrm>
            <a:off x="301752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91840" y="189738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Keys on an encrypted drive; password on a paper, lost</a:t>
            </a:r>
            <a:endParaRPr lang="en-US" sz="1300" dirty="0"/>
          </a:p>
        </p:txBody>
      </p:sp>
      <p:sp>
        <p:nvSpPr>
          <p:cNvPr id="12" name="Shape 9"/>
          <p:cNvSpPr/>
          <p:nvPr/>
        </p:nvSpPr>
        <p:spPr>
          <a:xfrm>
            <a:off x="301752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91840" y="242316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drive allows ten guesses - by 2021, eight were gone</a:t>
            </a:r>
            <a:endParaRPr lang="en-US" sz="1300" dirty="0"/>
          </a:p>
        </p:txBody>
      </p:sp>
      <p:sp>
        <p:nvSpPr>
          <p:cNvPr id="14" name="Shape 11"/>
          <p:cNvSpPr/>
          <p:nvPr/>
        </p:nvSpPr>
        <p:spPr>
          <a:xfrm>
            <a:off x="301752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291840" y="2948940"/>
            <a:ext cx="539496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Front page of the New York Times, and of this chapter</a:t>
            </a:r>
            <a:endParaRPr lang="en-US" sz="1300" dirty="0"/>
          </a:p>
        </p:txBody>
      </p:sp>
      <p:sp>
        <p:nvSpPr>
          <p:cNvPr id="16" name="Shape 13"/>
          <p:cNvSpPr/>
          <p:nvPr/>
        </p:nvSpPr>
        <p:spPr>
          <a:xfrm>
            <a:off x="3017520" y="3703320"/>
            <a:ext cx="1655430"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8960" y="3703320"/>
            <a:ext cx="150912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Stefan Thomas, program…</a:t>
            </a:r>
            <a:endParaRPr lang="en-US" sz="750" dirty="0"/>
          </a:p>
        </p:txBody>
      </p:sp>
      <p:sp>
        <p:nvSpPr>
          <p:cNvPr id="18" name="Shape 15"/>
          <p:cNvSpPr/>
          <p:nvPr/>
        </p:nvSpPr>
        <p:spPr>
          <a:xfrm>
            <a:off x="4782678" y="3703320"/>
            <a:ext cx="165543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874118" y="3703320"/>
            <a:ext cx="150912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an IronKey USB drive i…</a:t>
            </a:r>
            <a:endParaRPr lang="en-US" sz="750" dirty="0"/>
          </a:p>
        </p:txBody>
      </p:sp>
      <p:sp>
        <p:nvSpPr>
          <p:cNvPr id="20" name="Shape 17"/>
          <p:cNvSpPr/>
          <p:nvPr/>
        </p:nvSpPr>
        <p:spPr>
          <a:xfrm>
            <a:off x="6547836" y="3703320"/>
            <a:ext cx="90781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6639276" y="3703320"/>
            <a:ext cx="76151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2021-01…</a:t>
            </a:r>
            <a:endParaRPr lang="en-US" sz="750" dirty="0"/>
          </a:p>
        </p:txBody>
      </p:sp>
      <p:sp>
        <p:nvSpPr>
          <p:cNvPr id="22" name="Shape 19"/>
          <p:cNvSpPr/>
          <p:nvPr/>
        </p:nvSpPr>
        <p:spPr>
          <a:xfrm>
            <a:off x="7565380" y="3703320"/>
            <a:ext cx="1121420"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656820" y="3703320"/>
            <a:ext cx="975116"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nytimes.com</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Memory is not a backup - this chapter is the alternative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loose keys to one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generations of wallet, one slide</a:t>
            </a:r>
            <a:endParaRPr lang="en-US" sz="1300" dirty="0"/>
          </a:p>
        </p:txBody>
      </p:sp>
      <p:sp>
        <p:nvSpPr>
          <p:cNvPr id="6" name="Shape 4"/>
          <p:cNvSpPr/>
          <p:nvPr/>
        </p:nvSpPr>
        <p:spPr>
          <a:xfrm>
            <a:off x="457200" y="141732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Loose keys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back up every key, forever</a:t>
            </a:r>
            <a:endParaRPr lang="en-US" sz="1200" dirty="0"/>
          </a:p>
        </p:txBody>
      </p:sp>
      <p:sp>
        <p:nvSpPr>
          <p:cNvPr id="8" name="Shape 6"/>
          <p:cNvSpPr/>
          <p:nvPr/>
        </p:nvSpPr>
        <p:spPr>
          <a:xfrm>
            <a:off x="2938272" y="1943100"/>
            <a:ext cx="365760" cy="0"/>
          </a:xfrm>
          <a:prstGeom prst="line">
            <a:avLst/>
          </a:prstGeom>
          <a:noFill/>
          <a:ln w="25400">
            <a:solidFill>
              <a:srgbClr val="D97A14"/>
            </a:solidFill>
            <a:prstDash val="solid"/>
            <a:tailEnd type="triangle"/>
          </a:ln>
        </p:spPr>
      </p:sp>
      <p:sp>
        <p:nvSpPr>
          <p:cNvPr id="9" name="Shape 7"/>
          <p:cNvSpPr/>
          <p:nvPr/>
        </p:nvSpPr>
        <p:spPr>
          <a:xfrm>
            <a:off x="3358896" y="141732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Deterministic</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one seed makes them all</a:t>
            </a:r>
            <a:endParaRPr lang="en-US" sz="1200" dirty="0"/>
          </a:p>
        </p:txBody>
      </p:sp>
      <p:sp>
        <p:nvSpPr>
          <p:cNvPr id="11" name="Shape 9"/>
          <p:cNvSpPr/>
          <p:nvPr/>
        </p:nvSpPr>
        <p:spPr>
          <a:xfrm>
            <a:off x="5839968" y="1943100"/>
            <a:ext cx="365760" cy="0"/>
          </a:xfrm>
          <a:prstGeom prst="line">
            <a:avLst/>
          </a:prstGeom>
          <a:noFill/>
          <a:ln w="25400">
            <a:solidFill>
              <a:srgbClr val="D97A14"/>
            </a:solidFill>
            <a:prstDash val="solid"/>
            <a:tailEnd type="triangle"/>
          </a:ln>
        </p:spPr>
      </p:sp>
      <p:sp>
        <p:nvSpPr>
          <p:cNvPr id="12" name="Shape 10"/>
          <p:cNvSpPr/>
          <p:nvPr/>
        </p:nvSpPr>
        <p:spPr>
          <a:xfrm>
            <a:off x="6260592" y="141732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63040"/>
            <a:ext cx="2279904"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Hierarchical</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a tree with branches</a:t>
            </a:r>
            <a:endParaRPr lang="en-US" sz="1200" dirty="0"/>
          </a:p>
        </p:txBody>
      </p:sp>
      <p:sp>
        <p:nvSpPr>
          <p:cNvPr id="14" name="Text 12"/>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loose keys: unrelated by design</a:t>
            </a:r>
            <a:endParaRPr lang="en-US" sz="1150" dirty="0"/>
          </a:p>
        </p:txBody>
      </p:sp>
      <p:sp>
        <p:nvSpPr>
          <p:cNvPr id="15" name="Shape 13"/>
          <p:cNvSpPr/>
          <p:nvPr/>
        </p:nvSpPr>
        <p:spPr>
          <a:xfrm>
            <a:off x="457200" y="2743200"/>
            <a:ext cx="3931920" cy="777240"/>
          </a:xfrm>
          <a:prstGeom prst="roundRect">
            <a:avLst>
              <a:gd name="adj" fmla="val 11765"/>
            </a:avLst>
          </a:prstGeom>
          <a:solidFill>
            <a:srgbClr val="23272E"/>
          </a:solidFill>
          <a:ln w="12700">
            <a:solidFill>
              <a:srgbClr val="23272E"/>
            </a:solidFill>
            <a:prstDash val="solid"/>
          </a:ln>
        </p:spPr>
      </p:sp>
      <p:sp>
        <p:nvSpPr>
          <p:cNvPr id="16" name="Text 14"/>
          <p:cNvSpPr txBox="1"/>
          <p:nvPr/>
        </p:nvSpPr>
        <p:spPr>
          <a:xfrm>
            <a:off x="640080" y="2862072"/>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32 * 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32000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32 * 1001 - 32 * 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32</a:t>
            </a:r>
            <a:endParaRPr lang="en-US" sz="760" dirty="0"/>
          </a:p>
        </p:txBody>
      </p:sp>
      <p:sp>
        <p:nvSpPr>
          <p:cNvPr id="17" name="Text 15"/>
          <p:cNvSpPr txBox="1"/>
          <p:nvPr/>
        </p:nvSpPr>
        <p:spPr>
          <a:xfrm>
            <a:off x="45720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663440" y="2432304"/>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seed in, same keys out - always</a:t>
            </a:r>
            <a:endParaRPr lang="en-US" sz="1150" dirty="0"/>
          </a:p>
        </p:txBody>
      </p:sp>
      <p:sp>
        <p:nvSpPr>
          <p:cNvPr id="19" name="Shape 17"/>
          <p:cNvSpPr/>
          <p:nvPr/>
        </p:nvSpPr>
        <p:spPr>
          <a:xfrm>
            <a:off x="4663440" y="2706624"/>
            <a:ext cx="4023360" cy="932688"/>
          </a:xfrm>
          <a:prstGeom prst="roundRect">
            <a:avLst>
              <a:gd name="adj" fmla="val 9804"/>
            </a:avLst>
          </a:prstGeom>
          <a:solidFill>
            <a:srgbClr val="23272E"/>
          </a:solidFill>
          <a:ln w="12700">
            <a:solidFill>
              <a:srgbClr val="23272E"/>
            </a:solidFill>
            <a:prstDash val="solid"/>
          </a:ln>
        </p:spPr>
      </p:sp>
      <p:sp>
        <p:nvSpPr>
          <p:cNvPr id="20" name="Text 18"/>
          <p:cNvSpPr txBox="1"/>
          <p:nvPr/>
        </p:nvSpPr>
        <p:spPr>
          <a:xfrm>
            <a:off x="4846320" y="2825496"/>
            <a:ext cx="3657600" cy="694944"/>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line = lambda i: (BOOK_SEED + ' + %d\n' % i).encode()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[hashlib.sha256(line(i)).hexdigest()[:8] for i in range(3)]</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 'a965dbcd', '19580c97']</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hashlib.sha256((BOOK_SEED + ' + 0\n').encode()).hexdigest()[:8]</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'50b18e0b'</a:t>
            </a:r>
            <a:endParaRPr lang="en-US" sz="710" dirty="0"/>
          </a:p>
        </p:txBody>
      </p:sp>
      <p:sp>
        <p:nvSpPr>
          <p:cNvPr id="21" name="Text 19"/>
          <p:cNvSpPr txBox="1"/>
          <p:nvPr/>
        </p:nvSpPr>
        <p:spPr>
          <a:xfrm>
            <a:off x="4663440" y="365760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2" name="Shape 20"/>
          <p:cNvSpPr/>
          <p:nvPr/>
        </p:nvSpPr>
        <p:spPr>
          <a:xfrm>
            <a:off x="2560320" y="3931920"/>
            <a:ext cx="4023360" cy="402336"/>
          </a:xfrm>
          <a:prstGeom prst="roundRect">
            <a:avLst>
              <a:gd name="adj" fmla="val 50000"/>
            </a:avLst>
          </a:prstGeom>
          <a:solidFill>
            <a:srgbClr val="2F6D62"/>
          </a:solidFill>
          <a:ln w="12700">
            <a:solidFill>
              <a:srgbClr val="2F6D62"/>
            </a:solidFill>
            <a:prstDash val="solid"/>
          </a:ln>
        </p:spPr>
      </p:sp>
      <p:sp>
        <p:nvSpPr>
          <p:cNvPr id="23" name="Text 21"/>
          <p:cNvSpPr txBox="1"/>
          <p:nvPr/>
        </p:nvSpPr>
        <p:spPr>
          <a:xfrm>
            <a:off x="2560320" y="393192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 up ONE secret, ONCE</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 up one secret once, instead of every key forever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Recovery codes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Entropy, dressed for handwriting</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BIP-39 words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rivals</a:t>
            </a:r>
            <a:pPr algn="ctr" indent="0" marL="0">
              <a:buNone/>
            </a:pPr>
            <a:endParaRPr lang="en-US" sz="1400" dirty="0"/>
          </a:p>
        </p:txBody>
      </p:sp>
      <p:pic>
        <p:nvPicPr>
          <p:cNvPr id="14" name="Image 0" descr="../../03-materials/ch05/assets/mbc3_0504.png">    </p:cNvPr>
          <p:cNvPicPr>
            <a:picLocks noChangeAspect="1"/>
          </p:cNvPicPr>
          <p:nvPr/>
        </p:nvPicPr>
        <p:blipFill>
          <a:blip r:embed="rId1"/>
          <a:srcRect l="0" r="0" t="0" b="0"/>
          <a:stretch/>
        </p:blipFill>
        <p:spPr>
          <a:xfrm>
            <a:off x="5852160" y="1645920"/>
            <a:ext cx="2834640" cy="2651760"/>
          </a:xfrm>
          <a:prstGeom prst="rect">
            <a:avLst/>
          </a:prstGeom>
        </p:spPr>
      </p:pic>
      <p:sp>
        <p:nvSpPr>
          <p:cNvPr id="15" name="Text 12"/>
          <p:cNvSpPr txBox="1"/>
          <p:nvPr/>
        </p:nvSpPr>
        <p:spPr>
          <a:xfrm>
            <a:off x="5852160" y="43159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entropy to code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between you and 128 bits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2013-09-10</a:t>
            </a:r>
            <a:endParaRPr lang="en-US" sz="1300" dirty="0"/>
          </a:p>
        </p:txBody>
      </p:sp>
      <p:pic>
        <p:nvPicPr>
          <p:cNvPr id="6" name="Image 0" descr="../../03-materials/ch05/assets/photo_trezor_pair.jpg">    </p:cNvPr>
          <p:cNvPicPr>
            <a:picLocks noChangeAspect="1"/>
          </p:cNvPicPr>
          <p:nvPr/>
        </p:nvPicPr>
        <p:blipFill>
          <a:blip r:embed="rId1"/>
          <a:srcRect l="0" r="0" t="0" b="0"/>
          <a:stretch/>
        </p:blipFill>
        <p:spPr>
          <a:xfrm>
            <a:off x="457200" y="1371600"/>
            <a:ext cx="3017520" cy="1920240"/>
          </a:xfrm>
          <a:prstGeom prst="rect">
            <a:avLst/>
          </a:prstGeom>
        </p:spPr>
      </p:pic>
      <p:sp>
        <p:nvSpPr>
          <p:cNvPr id="7" name="Text 4"/>
          <p:cNvSpPr txBox="1"/>
          <p:nvPr/>
        </p:nvSpPr>
        <p:spPr>
          <a:xfrm>
            <a:off x="457200" y="33101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One devices - photo: Gage Skidmore, CC BY-SA 3.0</a:t>
            </a:r>
            <a:endParaRPr lang="en-US" sz="900" dirty="0"/>
          </a:p>
        </p:txBody>
      </p:sp>
      <p:sp>
        <p:nvSpPr>
          <p:cNvPr id="8" name="Shape 5"/>
          <p:cNvSpPr/>
          <p:nvPr/>
        </p:nvSpPr>
        <p:spPr>
          <a:xfrm>
            <a:off x="384048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114800" y="137160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2013: the first hardware-wallet team hits a human problem</a:t>
            </a:r>
            <a:endParaRPr lang="en-US" sz="1300" dirty="0"/>
          </a:p>
        </p:txBody>
      </p:sp>
      <p:sp>
        <p:nvSpPr>
          <p:cNvPr id="10" name="Shape 7"/>
          <p:cNvSpPr/>
          <p:nvPr/>
        </p:nvSpPr>
        <p:spPr>
          <a:xfrm>
            <a:off x="384048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114800" y="189738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Nobody transcribes 128 raw bits correctly</a:t>
            </a:r>
            <a:endParaRPr lang="en-US" sz="1300" dirty="0"/>
          </a:p>
        </p:txBody>
      </p:sp>
      <p:sp>
        <p:nvSpPr>
          <p:cNvPr id="12" name="Shape 9"/>
          <p:cNvSpPr/>
          <p:nvPr/>
        </p:nvSpPr>
        <p:spPr>
          <a:xfrm>
            <a:off x="384048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114800" y="242316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BIP 39: 2,048 words, 11 bits each, checksum folded in</a:t>
            </a:r>
            <a:endParaRPr lang="en-US" sz="1300" dirty="0"/>
          </a:p>
        </p:txBody>
      </p:sp>
      <p:sp>
        <p:nvSpPr>
          <p:cNvPr id="14" name="Shape 11"/>
          <p:cNvSpPr/>
          <p:nvPr/>
        </p:nvSpPr>
        <p:spPr>
          <a:xfrm>
            <a:off x="384048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114800" y="2948940"/>
            <a:ext cx="45720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These slides run that standard against its own vectors</a:t>
            </a:r>
            <a:endParaRPr lang="en-US" sz="13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Marek Palatinus and Pavol Rusnak (Sato…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BIP 39, in the public bips repository</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2013-09-10</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recovery code is an interface between humans and entropy</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Words to bits,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whole size table, computed - then checked word by word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computed, never quoted: CodeLength derived every pair, and the checker re-runs it off this file.</a:t>
            </a:r>
            <a:endParaRPr lang="en-US" sz="1250" dirty="0"/>
          </a:p>
        </p:txBody>
      </p:sp>
      <p:graphicFrame>
        <p:nvGraphicFramePr>
          <p:cNvPr id="7" name="Chart 0" descr=""/>
          <p:cNvGraphicFramePr/>
          <p:nvPr/>
        </p:nvGraphicFramePr>
        <p:xfrm>
          <a:off x="411480" y="137160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0" y="114300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list: 2,048 words, sorted</a:t>
            </a:r>
            <a:endParaRPr lang="en-US" sz="1150" dirty="0"/>
          </a:p>
        </p:txBody>
      </p:sp>
      <p:sp>
        <p:nvSpPr>
          <p:cNvPr id="9" name="Shape 6"/>
          <p:cNvSpPr/>
          <p:nvPr/>
        </p:nvSpPr>
        <p:spPr>
          <a:xfrm>
            <a:off x="5486400" y="1417320"/>
            <a:ext cx="3200400" cy="1371600"/>
          </a:xfrm>
          <a:prstGeom prst="roundRect">
            <a:avLst>
              <a:gd name="adj" fmla="val 6667"/>
            </a:avLst>
          </a:prstGeom>
          <a:solidFill>
            <a:srgbClr val="23272E"/>
          </a:solidFill>
          <a:ln w="12700">
            <a:solidFill>
              <a:srgbClr val="23272E"/>
            </a:solidFill>
            <a:prstDash val="solid"/>
          </a:ln>
        </p:spPr>
      </p:sp>
      <p:sp>
        <p:nvSpPr>
          <p:cNvPr id="10" name="Text 7"/>
          <p:cNvSpPr txBox="1"/>
          <p:nvPr/>
        </p:nvSpPr>
        <p:spPr>
          <a:xfrm>
            <a:off x="5669280" y="1536192"/>
            <a:ext cx="2834640" cy="113385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pPr indent="0" marL="0">
              <a:buNone/>
            </a:pPr>
            <a:r>
              <a:rPr lang="en-US" sz="840" dirty="0">
                <a:solidFill>
                  <a:srgbClr val="E6EDF3"/>
                </a:solidFill>
                <a:latin typeface="Courier New" pitchFamily="34" charset="0"/>
                <a:ea typeface="Courier New" pitchFamily="34" charset="-122"/>
                <a:cs typeface="Courier New" pitchFamily="34" charset="-120"/>
              </a:rPr>
              <a:t>2 ** 11, len(wordlist())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(2048, 2048)</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pPr indent="0" marL="0">
              <a:buNone/>
            </a:pPr>
            <a:r>
              <a:rPr lang="en-US" sz="840" dirty="0">
                <a:solidFill>
                  <a:srgbClr val="E6EDF3"/>
                </a:solidFill>
                <a:latin typeface="Courier New" pitchFamily="34" charset="0"/>
                <a:ea typeface="Courier New" pitchFamily="34" charset="-122"/>
                <a:cs typeface="Courier New" pitchFamily="34" charset="-120"/>
              </a:rPr>
              <a:t>[wordlist()[i] for i in (96, 1929, 459)]</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['army', 'van', 'defense']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pPr indent="0" marL="0">
              <a:buNone/>
            </a:pPr>
            <a:r>
              <a:rPr lang="en-US" sz="840" dirty="0">
                <a:solidFill>
                  <a:srgbClr val="E6EDF3"/>
                </a:solidFill>
                <a:latin typeface="Courier New" pitchFamily="34" charset="0"/>
                <a:ea typeface="Courier New" pitchFamily="34" charset="-122"/>
                <a:cs typeface="Courier New" pitchFamily="34" charset="-120"/>
              </a:rPr>
              <a:t>sorted(wordlist()) == wordlist()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11" name="Text 8"/>
          <p:cNvSpPr txBox="1"/>
          <p:nvPr/>
        </p:nvSpPr>
        <p:spPr>
          <a:xfrm>
            <a:off x="5486400" y="2807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2" name="Text 9"/>
          <p:cNvSpPr txBox="1"/>
          <p:nvPr/>
        </p:nvSpPr>
        <p:spPr>
          <a:xfrm>
            <a:off x="5486400" y="2834640"/>
            <a:ext cx="3200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vector decodes and verifies</a:t>
            </a:r>
            <a:endParaRPr lang="en-US" sz="1150" dirty="0"/>
          </a:p>
        </p:txBody>
      </p:sp>
      <p:sp>
        <p:nvSpPr>
          <p:cNvPr id="13" name="Shape 10"/>
          <p:cNvSpPr/>
          <p:nvPr/>
        </p:nvSpPr>
        <p:spPr>
          <a:xfrm>
            <a:off x="5486400" y="3108960"/>
            <a:ext cx="3200400" cy="1280160"/>
          </a:xfrm>
          <a:prstGeom prst="roundRect">
            <a:avLst>
              <a:gd name="adj" fmla="val 7143"/>
            </a:avLst>
          </a:prstGeom>
          <a:solidFill>
            <a:srgbClr val="23272E"/>
          </a:solidFill>
          <a:ln w="12700">
            <a:solidFill>
              <a:srgbClr val="23272E"/>
            </a:solidFill>
            <a:prstDash val="solid"/>
          </a:ln>
        </p:spPr>
      </p:sp>
      <p:sp>
        <p:nvSpPr>
          <p:cNvPr id="14" name="Text 11"/>
          <p:cNvSpPr txBox="1"/>
          <p:nvPr/>
        </p:nvSpPr>
        <p:spPr>
          <a:xfrm>
            <a:off x="5669280" y="3227832"/>
            <a:ext cx="2834640" cy="104241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mnemonic_to_entropy(WORDS)[0].hex()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'0c1e24e5917779d297e14d45f14e1a1a'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mnemonic_to_entropy(WORDS)[1]</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15" name="Text 12"/>
          <p:cNvSpPr txBox="1"/>
          <p:nvPr/>
        </p:nvSpPr>
        <p:spPr>
          <a:xfrm>
            <a:off x="5486400" y="44074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bits a word; the checksum rides along</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words to seed,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PBKDF2, salt, and the passphrase that changes everything</a:t>
            </a:r>
            <a:endParaRPr lang="en-US" sz="1300" dirty="0"/>
          </a:p>
        </p:txBody>
      </p:sp>
      <p:sp>
        <p:nvSpPr>
          <p:cNvPr id="6" name="Shape 4"/>
          <p:cNvSpPr/>
          <p:nvPr/>
        </p:nvSpPr>
        <p:spPr>
          <a:xfrm>
            <a:off x="457200" y="137160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code you wrote</a:t>
            </a:r>
            <a:endParaRPr lang="en-US" sz="1200" dirty="0"/>
          </a:p>
        </p:txBody>
      </p:sp>
      <p:sp>
        <p:nvSpPr>
          <p:cNvPr id="8" name="Shape 6"/>
          <p:cNvSpPr/>
          <p:nvPr/>
        </p:nvSpPr>
        <p:spPr>
          <a:xfrm>
            <a:off x="2212848" y="182880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'mnemonic' + passphrase</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salt</a:t>
            </a:r>
            <a:endParaRPr lang="en-US" sz="1200" dirty="0"/>
          </a:p>
        </p:txBody>
      </p:sp>
      <p:sp>
        <p:nvSpPr>
          <p:cNvPr id="11" name="Shape 9"/>
          <p:cNvSpPr/>
          <p:nvPr/>
        </p:nvSpPr>
        <p:spPr>
          <a:xfrm>
            <a:off x="4389120" y="182880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PBKDF2, 2048 rounds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HMAC-SHA512</a:t>
            </a:r>
            <a:endParaRPr lang="en-US" sz="1200" dirty="0"/>
          </a:p>
        </p:txBody>
      </p:sp>
      <p:sp>
        <p:nvSpPr>
          <p:cNvPr id="14" name="Shape 12"/>
          <p:cNvSpPr/>
          <p:nvPr/>
        </p:nvSpPr>
        <p:spPr>
          <a:xfrm>
            <a:off x="6565392" y="182880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17320"/>
            <a:ext cx="15544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512-bit seed</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 tree's root</a:t>
            </a:r>
            <a:endParaRPr lang="en-US" sz="1200" dirty="0"/>
          </a:p>
        </p:txBody>
      </p:sp>
      <p:sp>
        <p:nvSpPr>
          <p:cNvPr id="17" name="Text 15"/>
          <p:cNvSpPr txBox="1"/>
          <p:nvPr/>
        </p:nvSpPr>
        <p:spPr>
          <a:xfrm>
            <a:off x="457200" y="2176272"/>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seed is 512 bits, counted</a:t>
            </a:r>
            <a:endParaRPr lang="en-US" sz="1150" dirty="0"/>
          </a:p>
        </p:txBody>
      </p:sp>
      <p:sp>
        <p:nvSpPr>
          <p:cNvPr id="18" name="Shape 16"/>
          <p:cNvSpPr/>
          <p:nvPr/>
        </p:nvSpPr>
        <p:spPr>
          <a:xfrm>
            <a:off x="457200" y="2450592"/>
            <a:ext cx="3931920" cy="777240"/>
          </a:xfrm>
          <a:prstGeom prst="roundRect">
            <a:avLst>
              <a:gd name="adj" fmla="val 11765"/>
            </a:avLst>
          </a:prstGeom>
          <a:solidFill>
            <a:srgbClr val="23272E"/>
          </a:solidFill>
          <a:ln w="12700">
            <a:solidFill>
              <a:srgbClr val="23272E"/>
            </a:solidFill>
            <a:prstDash val="solid"/>
          </a:ln>
        </p:spPr>
      </p:sp>
      <p:sp>
        <p:nvSpPr>
          <p:cNvPr id="19" name="Text 17"/>
          <p:cNvSpPr txBox="1"/>
          <p:nvPr/>
        </p:nvSpPr>
        <p:spPr>
          <a:xfrm>
            <a:off x="640080" y="2569464"/>
            <a:ext cx="356616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len(bytes.fromhex(BOOK_SEED)) * 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256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len(mnemonic_to_seed(WORDS)) * 8</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512</a:t>
            </a:r>
            <a:endParaRPr lang="en-US" sz="760" dirty="0"/>
          </a:p>
        </p:txBody>
      </p:sp>
      <p:sp>
        <p:nvSpPr>
          <p:cNvPr id="20" name="Text 18"/>
          <p:cNvSpPr txBox="1"/>
          <p:nvPr/>
        </p:nvSpPr>
        <p:spPr>
          <a:xfrm>
            <a:off x="457200" y="3246120"/>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663440" y="217627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words, new passphrase - different wallet</a:t>
            </a:r>
            <a:endParaRPr lang="en-US" sz="1150" dirty="0"/>
          </a:p>
        </p:txBody>
      </p:sp>
      <p:sp>
        <p:nvSpPr>
          <p:cNvPr id="22" name="Shape 20"/>
          <p:cNvSpPr/>
          <p:nvPr/>
        </p:nvSpPr>
        <p:spPr>
          <a:xfrm>
            <a:off x="4663440" y="2450592"/>
            <a:ext cx="4023360" cy="777240"/>
          </a:xfrm>
          <a:prstGeom prst="roundRect">
            <a:avLst>
              <a:gd name="adj" fmla="val 11765"/>
            </a:avLst>
          </a:prstGeom>
          <a:solidFill>
            <a:srgbClr val="23272E"/>
          </a:solidFill>
          <a:ln w="12700">
            <a:solidFill>
              <a:srgbClr val="23272E"/>
            </a:solidFill>
            <a:prstDash val="solid"/>
          </a:ln>
        </p:spPr>
      </p:sp>
      <p:sp>
        <p:nvSpPr>
          <p:cNvPr id="23" name="Text 21"/>
          <p:cNvSpPr txBox="1"/>
          <p:nvPr/>
        </p:nvSpPr>
        <p:spPr>
          <a:xfrm>
            <a:off x="4846320" y="2569464"/>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mnemonic_to_seed(WORDS).hex()[:16]</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'5b56c417303faa3f'</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mnemonic_to_seed(WORDS, PASSPHRASE).hex()[:16]</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'3b5df16df2157104'</a:t>
            </a:r>
            <a:endParaRPr lang="en-US" sz="760" dirty="0"/>
          </a:p>
        </p:txBody>
      </p:sp>
      <p:sp>
        <p:nvSpPr>
          <p:cNvPr id="24" name="Text 22"/>
          <p:cNvSpPr txBox="1"/>
          <p:nvPr/>
        </p:nvSpPr>
        <p:spPr>
          <a:xfrm>
            <a:off x="4663440" y="3246120"/>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5" name="Text 23"/>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stretcher itself - and it refuses sloppy input</a:t>
            </a:r>
            <a:endParaRPr lang="en-US" sz="1150" dirty="0"/>
          </a:p>
        </p:txBody>
      </p:sp>
      <p:sp>
        <p:nvSpPr>
          <p:cNvPr id="26" name="Shape 24"/>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7" name="Text 25"/>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mnemonic_to_seed(WORDS).hex()[:16]</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'5b56c417303faa3f'</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len(mnemonic_to_seed(WORDS))</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64</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hashlib.pbkdf2_hmac('sha512', 'words', b'mnemonic', 2048)</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740" dirty="0"/>
          </a:p>
        </p:txBody>
      </p:sp>
      <p:sp>
        <p:nvSpPr>
          <p:cNvPr id="28" name="Text 26"/>
          <p:cNvSpPr txBox="1"/>
          <p:nvPr/>
        </p:nvSpPr>
        <p:spPr>
          <a:xfrm>
            <a:off x="457200" y="44256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passphrase changes everything - by design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tree and its paths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seed, a numbered key for every purpose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Master key</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derivation</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Hardened</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Standard paths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seed, a tree of keys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HMAC-SHA512 splits every node in two</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seed makes a master key and a chain code</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child: HMAC of parent and an index</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 bytes of key, 32 of chain code - every node</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master pair, derived and range-checked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k, c = master(TV)</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'%064x' % k</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'e8f32e723decf4051aefac8e2c93c9c5b214313817cdb01a1494b917c8436b35'</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0 &lt; k &lt; N</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8" name="Text 16"/>
          <p:cNvSpPr txBox="1"/>
          <p:nvPr/>
        </p:nvSpPr>
        <p:spPr>
          <a:xfrm>
            <a:off x="3931920" y="26700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931920" y="26974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child zero, with its own chain code</a:t>
            </a:r>
            <a:endParaRPr lang="en-US" sz="1150" dirty="0"/>
          </a:p>
        </p:txBody>
      </p:sp>
      <p:sp>
        <p:nvSpPr>
          <p:cNvPr id="20" name="Shape 18"/>
          <p:cNvSpPr/>
          <p:nvPr/>
        </p:nvSpPr>
        <p:spPr>
          <a:xfrm>
            <a:off x="3931920" y="2971800"/>
            <a:ext cx="475488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4114800" y="3090672"/>
            <a:ext cx="438912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(512 // 2, 512 // 2 // 8)</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(256, 32)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 c = master(TV)</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k1, c1 = ckd_priv(k, c,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(len(c1), k1 &lt; N)</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 True)</a:t>
            </a:r>
            <a:endParaRPr lang="en-US" sz="920" dirty="0"/>
          </a:p>
        </p:txBody>
      </p:sp>
      <p:sp>
        <p:nvSpPr>
          <p:cNvPr id="22" name="Text 20"/>
          <p:cNvSpPr txBox="1"/>
          <p:nvPr/>
        </p:nvSpPr>
        <p:spPr>
          <a:xfrm>
            <a:off x="3931920" y="4178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3611880"/>
            <a:ext cx="32461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457200" y="361188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tree never runs dry</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32-byte halves at every node keep the tree alive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Hardened or not: one question, two columns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Can a thief with the xpub climb down?</a:t>
            </a:r>
            <a:endParaRPr lang="en-US" sz="1300" dirty="0"/>
          </a:p>
        </p:txBody>
      </p:sp>
      <p:sp>
        <p:nvSpPr>
          <p:cNvPr id="6" name="Shape 4"/>
          <p:cNvSpPr/>
          <p:nvPr/>
        </p:nvSpPr>
        <p:spPr>
          <a:xfrm>
            <a:off x="457200" y="1417320"/>
            <a:ext cx="3931920" cy="178308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52704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Normal derivation (index &lt; 2^31)</a:t>
            </a:r>
            <a:endParaRPr lang="en-US" sz="1500" dirty="0"/>
          </a:p>
        </p:txBody>
      </p:sp>
      <p:sp>
        <p:nvSpPr>
          <p:cNvPr id="8" name="Text 6"/>
          <p:cNvSpPr txBox="1"/>
          <p:nvPr/>
        </p:nvSpPr>
        <p:spPr>
          <a:xfrm>
            <a:off x="64008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Public keys derivable WITHOUT private keys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Perfect for watch-only shops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But: child private + xpub leaks the parent</a:t>
            </a:r>
            <a:endParaRPr lang="en-US" sz="1200" dirty="0"/>
          </a:p>
        </p:txBody>
      </p:sp>
      <p:sp>
        <p:nvSpPr>
          <p:cNvPr id="9" name="Shape 7"/>
          <p:cNvSpPr/>
          <p:nvPr/>
        </p:nvSpPr>
        <p:spPr>
          <a:xfrm>
            <a:off x="4754880" y="1417320"/>
            <a:ext cx="3931920" cy="178308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4937760" y="152704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Hardened (index &gt;= 2^31, the h)</a:t>
            </a:r>
            <a:endParaRPr lang="en-US" sz="1500" dirty="0"/>
          </a:p>
        </p:txBody>
      </p:sp>
      <p:sp>
        <p:nvSpPr>
          <p:cNvPr id="11" name="Text 9"/>
          <p:cNvSpPr txBox="1"/>
          <p:nvPr/>
        </p:nvSpPr>
        <p:spPr>
          <a:xfrm>
            <a:off x="4937760" y="1947672"/>
            <a:ext cx="3566160" cy="112471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Needs the private parent - no public shortcut</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Standard for account levels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proves the two differ</a:t>
            </a:r>
            <a:endParaRPr lang="en-US" sz="1200" dirty="0"/>
          </a:p>
        </p:txBody>
      </p:sp>
      <p:sp>
        <p:nvSpPr>
          <p:cNvPr id="12" name="Text 10"/>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same index, hardened and not - different keys, provably</a:t>
            </a:r>
            <a:endParaRPr lang="en-US" sz="1150" dirty="0"/>
          </a:p>
        </p:txBody>
      </p:sp>
      <p:sp>
        <p:nvSpPr>
          <p:cNvPr id="13" name="Shape 11"/>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14" name="Text 12"/>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 c = master(TV)</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kh, ch = ckd_priv(k, c, 2 ** 31)</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'%064x'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ckd_priv(k, c, 0)[0] == kh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p:txBody>
      </p:sp>
      <p:sp>
        <p:nvSpPr>
          <p:cNvPr id="15" name="Text 13"/>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h in a path is a security decision, not decoration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paths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levels, and Core derives the same address we do</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purpose / coin / account / change / index - hardened where it matters</a:t>
            </a:r>
            <a:endParaRPr lang="en-US" sz="1150" dirty="0"/>
          </a:p>
        </p:txBody>
      </p:sp>
      <p:sp>
        <p:nvSpPr>
          <p:cNvPr id="7" name="Shape 5"/>
          <p:cNvSpPr/>
          <p:nvPr/>
        </p:nvSpPr>
        <p:spPr>
          <a:xfrm>
            <a:off x="457200" y="141732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36192"/>
            <a:ext cx="78638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LEVELS = 'purpose / coin_type / account / change / address_index'.split(' / ')</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len(LEVELS)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5</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[i &gt;= 2 ** 31 for i in path_indices('m/44h/0h/0h/0/2')]</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[True, True, True, False, False]</a:t>
            </a:r>
            <a:endParaRPr lang="en-US" sz="720" dirty="0"/>
          </a:p>
        </p:txBody>
      </p:sp>
      <p:sp>
        <p:nvSpPr>
          <p:cNvPr id="9" name="Text 7"/>
          <p:cNvSpPr txBox="1"/>
          <p:nvPr/>
        </p:nvSpPr>
        <p:spPr>
          <a:xfrm>
            <a:off x="457200" y="2304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BIP-84's own test vector: our math, then Core's answer - equal</a:t>
            </a:r>
            <a:endParaRPr lang="en-US" sz="1150" dirty="0"/>
          </a:p>
        </p:txBody>
      </p:sp>
      <p:sp>
        <p:nvSpPr>
          <p:cNvPr id="11" name="Shape 9"/>
          <p:cNvSpPr/>
          <p:nvPr/>
        </p:nvSpPr>
        <p:spPr>
          <a:xfrm>
            <a:off x="457200" y="251460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2633472"/>
            <a:ext cx="78638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k0, c0 = keys_at(B84, 'm/84h/0h/0h/0/0')</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p2wpkh_address(ser_p(ec_mul(k0)))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CORE_BIP84['addresses'][0]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'bc1qcr8te4kr609gcawutmrza0j4xv80jy8z306fyu'</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p2wpkh_address(ser_p(ec_mul(k0))) == CORE_BIP84['addresses'][0]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3" name="Text 11"/>
          <p:cNvSpPr txBox="1"/>
          <p:nvPr/>
        </p:nvSpPr>
        <p:spPr>
          <a:xfrm>
            <a:off x="457200" y="3721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93192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44h legacy</a:t>
            </a:r>
            <a:endParaRPr lang="en-US" sz="1200" dirty="0"/>
          </a:p>
        </p:txBody>
      </p:sp>
      <p:sp>
        <p:nvSpPr>
          <p:cNvPr id="16" name="Shape 14"/>
          <p:cNvSpPr/>
          <p:nvPr/>
        </p:nvSpPr>
        <p:spPr>
          <a:xfrm>
            <a:off x="2304288" y="3931920"/>
            <a:ext cx="164592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49h nested</a:t>
            </a:r>
            <a:endParaRPr lang="en-US" sz="1200" dirty="0"/>
          </a:p>
        </p:txBody>
      </p:sp>
      <p:sp>
        <p:nvSpPr>
          <p:cNvPr id="18" name="Shape 16"/>
          <p:cNvSpPr/>
          <p:nvPr/>
        </p:nvSpPr>
        <p:spPr>
          <a:xfrm>
            <a:off x="4151376" y="3931920"/>
            <a:ext cx="164592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51376" y="393192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84h segwit</a:t>
            </a:r>
            <a:endParaRPr lang="en-US" sz="1200" dirty="0"/>
          </a:p>
        </p:txBody>
      </p:sp>
      <p:sp>
        <p:nvSpPr>
          <p:cNvPr id="20" name="Shape 18"/>
          <p:cNvSpPr/>
          <p:nvPr/>
        </p:nvSpPr>
        <p:spPr>
          <a:xfrm>
            <a:off x="5998464" y="3931920"/>
            <a:ext cx="1772107"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998464" y="3931920"/>
            <a:ext cx="1772107"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86h taproot</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m/84h/0h/0h/0/0 - and Core derives the same address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Beyond 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else must survive, and how wallets ship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Watch-only xpubs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Labels and channels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Split secrets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 the backup</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Watch-only: the shop holds no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xpub derives addresses; it cannot spend</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Deploy the xpub to the web shop, keep keys cold - it mints a fresh address per customer</a:t>
            </a:r>
            <a:endParaRPr lang="en-US" sz="95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37490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gap limit decides how far a recovery scan looks for used addresses</a:t>
            </a:r>
            <a:endParaRPr lang="en-US" sz="950" dirty="0"/>
          </a:p>
        </p:txBody>
      </p:sp>
      <p:sp>
        <p:nvSpPr>
          <p:cNvPr id="12" name="Text 10"/>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addresses from the public key alone - cold keys, warm addresses</a:t>
            </a:r>
            <a:endParaRPr lang="en-US" sz="1150" dirty="0"/>
          </a:p>
        </p:txBody>
      </p:sp>
      <p:sp>
        <p:nvSpPr>
          <p:cNvPr id="13" name="Shape 11"/>
          <p:cNvSpPr/>
          <p:nvPr/>
        </p:nvSpPr>
        <p:spPr>
          <a:xfrm>
            <a:off x="457200" y="2331720"/>
            <a:ext cx="8229600" cy="1188720"/>
          </a:xfrm>
          <a:prstGeom prst="roundRect">
            <a:avLst>
              <a:gd name="adj" fmla="val 7692"/>
            </a:avLst>
          </a:prstGeom>
          <a:solidFill>
            <a:srgbClr val="23272E"/>
          </a:solidFill>
          <a:ln w="12700">
            <a:solidFill>
              <a:srgbClr val="23272E"/>
            </a:solidFill>
            <a:prstDash val="solid"/>
          </a:ln>
        </p:spPr>
      </p:sp>
      <p:sp>
        <p:nvSpPr>
          <p:cNvPr id="14" name="Text 12"/>
          <p:cNvSpPr txBox="1"/>
          <p:nvPr/>
        </p:nvSpPr>
        <p:spPr>
          <a:xfrm>
            <a:off x="640080" y="2450592"/>
            <a:ext cx="786384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['M/84h/0h/0h/0/%d' % i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['M/84h/0h/0h/0/0', 'M/84h/0h/0h/0/1', 'M/84h/0h/0h/0/2']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acct = parse_extended(BOOK_XPUB)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K, ch = decompress(acct['key']), acct['chain']</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[p2wpkh_address(ser_p(pub_at(K, ch, '0/%d' % i)[0])) for i in range(2)]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850" dirty="0"/>
          </a:p>
        </p:txBody>
      </p:sp>
      <p:sp>
        <p:nvSpPr>
          <p:cNvPr id="15" name="Text 13"/>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scan 20: index 25 is missed; scan 30 finds it</a:t>
            </a:r>
            <a:endParaRPr lang="en-US" sz="1150" dirty="0"/>
          </a:p>
        </p:txBody>
      </p:sp>
      <p:sp>
        <p:nvSpPr>
          <p:cNvPr id="17" name="Shape 15"/>
          <p:cNvSpPr/>
          <p:nvPr/>
        </p:nvSpPr>
        <p:spPr>
          <a:xfrm>
            <a:off x="457200" y="3749040"/>
            <a:ext cx="8229600" cy="749808"/>
          </a:xfrm>
          <a:prstGeom prst="roundRect">
            <a:avLst>
              <a:gd name="adj" fmla="val 12195"/>
            </a:avLst>
          </a:prstGeom>
          <a:solidFill>
            <a:srgbClr val="23272E"/>
          </a:solidFill>
          <a:ln w="12700">
            <a:solidFill>
              <a:srgbClr val="23272E"/>
            </a:solidFill>
            <a:prstDash val="solid"/>
          </a:ln>
        </p:spPr>
      </p:sp>
      <p:sp>
        <p:nvSpPr>
          <p:cNvPr id="18" name="Text 16"/>
          <p:cNvSpPr txBox="1"/>
          <p:nvPr/>
        </p:nvSpPr>
        <p:spPr>
          <a:xfrm>
            <a:off x="640080" y="3867912"/>
            <a:ext cx="7863840" cy="512064"/>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scan_with_gap({0, 3, 25}, 20)</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scan_with_gap({0, 3, 25}, 30)</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3, 25]</a:t>
            </a:r>
            <a:endParaRPr lang="en-US" sz="720" dirty="0"/>
          </a:p>
        </p:txBody>
      </p:sp>
      <p:sp>
        <p:nvSpPr>
          <p:cNvPr id="19" name="Text 17"/>
          <p:cNvSpPr txBox="1"/>
          <p:nvPr/>
        </p:nvSpPr>
        <p:spPr>
          <a:xfrm>
            <a:off x="457200" y="45171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Publish the xpub; the keys never feel the internet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200,000 BTC in a forgotten wallet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2014-03-21</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200,000 BTC</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reported found, three weeks into bankruptcy</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2011</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the old-format wallet file was last used</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later, those coins began repaying creditors</a:t>
            </a:r>
            <a:endParaRPr lang="en-US" sz="1150" dirty="0"/>
          </a:p>
        </p:txBody>
      </p:sp>
      <p:sp>
        <p:nvSpPr>
          <p:cNvPr id="15" name="Shape 13"/>
          <p:cNvSpPr/>
          <p:nvPr/>
        </p:nvSpPr>
        <p:spPr>
          <a:xfrm>
            <a:off x="45720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file written by software two generations older still held spendable keys</a:t>
            </a:r>
            <a:endParaRPr lang="en-US" sz="1250" dirty="0"/>
          </a:p>
        </p:txBody>
      </p:sp>
      <p:sp>
        <p:nvSpPr>
          <p:cNvPr id="17" name="Shape 15"/>
          <p:cNvSpPr/>
          <p:nvPr/>
        </p:nvSpPr>
        <p:spPr>
          <a:xfrm>
            <a:off x="45720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14700"/>
            <a:ext cx="795528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Backups do not expire - label them, test them, never discard them blindly</a:t>
            </a:r>
            <a:endParaRPr lang="en-US" sz="1250" dirty="0"/>
          </a:p>
        </p:txBody>
      </p:sp>
      <p:sp>
        <p:nvSpPr>
          <p:cNvPr id="19" name="Shape 17"/>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weeks into its bankruptcy pro…</a:t>
            </a:r>
            <a:endParaRPr lang="en-US" sz="750" dirty="0"/>
          </a:p>
        </p:txBody>
      </p:sp>
      <p:sp>
        <p:nvSpPr>
          <p:cNvPr id="21" name="Shape 19"/>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an old-format wallet file, unused sinc…</a:t>
            </a:r>
            <a:endParaRPr lang="en-US" sz="750" dirty="0"/>
          </a:p>
        </p:txBody>
      </p:sp>
      <p:sp>
        <p:nvSpPr>
          <p:cNvPr id="23" name="Shape 21"/>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2014-03-21</a:t>
            </a:r>
            <a:endParaRPr lang="en-US" sz="750" dirty="0"/>
          </a:p>
        </p:txBody>
      </p:sp>
      <p:sp>
        <p:nvSpPr>
          <p:cNvPr id="25" name="Shape 23"/>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6" name="Text 24"/>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Backups do not expire - treat old wallet files as live keys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Split the secret, not the risk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 three of five recovers; two learn nothing</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Split the seed into five shares, threshold three</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three reconstruct it exactly</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two: provably nothing - the run shows both</a:t>
            </a:r>
            <a:endParaRPr lang="en-US" sz="105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split, recover, and fail honestly</a:t>
            </a:r>
            <a:endParaRPr lang="en-US" sz="1150" dirty="0"/>
          </a:p>
        </p:txBody>
      </p:sp>
      <p:sp>
        <p:nvSpPr>
          <p:cNvPr id="16" name="Shape 14"/>
          <p:cNvSpPr/>
          <p:nvPr/>
        </p:nvSpPr>
        <p:spPr>
          <a:xfrm>
            <a:off x="3931920" y="141732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3619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SHARES = shamir_split(0x1337c0de, 3, 5, [11, 22])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len(SHARES)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shamir_combine([SHARES[0], SHARES[2], SHARES[4]])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shamir_combine([SHARES[0], SHARES[2]]) == 0x1337c0de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8" name="Text 16"/>
          <p:cNvSpPr txBox="1"/>
          <p:nvPr/>
        </p:nvSpPr>
        <p:spPr>
          <a:xfrm>
            <a:off x="3931920" y="3035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632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SLIP-39 does this in words; Codex32 by hand on paper</a:t>
            </a:r>
            <a:endParaRPr lang="en-US" sz="1150" dirty="0"/>
          </a:p>
        </p:txBody>
      </p:sp>
      <p:sp>
        <p:nvSpPr>
          <p:cNvPr id="20" name="Shape 18"/>
          <p:cNvSpPr/>
          <p:nvPr/>
        </p:nvSpPr>
        <p:spPr>
          <a:xfrm>
            <a:off x="457200" y="333756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56432"/>
            <a:ext cx="7863840" cy="90525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SHARES = shamir_split(0x1337c0de, 3, 5, [11, 22])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[x for x, y in SHARES]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 2, 3, 4, 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shamir_combine(SHARES[:3])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shamir_combine(SHARES[:2]) == 0x1337c0de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p:txBody>
      </p:sp>
      <p:sp>
        <p:nvSpPr>
          <p:cNvPr id="22" name="Text 20"/>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of five recovers; two of five learns nothing</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 the backup, not your luck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closing discipline, executable</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restore-drill: right words verify; one wrong word is caught</a:t>
            </a:r>
            <a:endParaRPr lang="en-US" sz="1150" dirty="0"/>
          </a:p>
        </p:txBody>
      </p:sp>
      <p:sp>
        <p:nvSpPr>
          <p:cNvPr id="7" name="Shape 5"/>
          <p:cNvSpPr/>
          <p:nvPr/>
        </p:nvSpPr>
        <p:spPr>
          <a:xfrm>
            <a:off x="457200" y="1417320"/>
            <a:ext cx="8229600" cy="1143000"/>
          </a:xfrm>
          <a:prstGeom prst="roundRect">
            <a:avLst>
              <a:gd name="adj" fmla="val 8000"/>
            </a:avLst>
          </a:prstGeom>
          <a:solidFill>
            <a:srgbClr val="23272E"/>
          </a:solidFill>
          <a:ln w="12700">
            <a:solidFill>
              <a:srgbClr val="23272E"/>
            </a:solidFill>
            <a:prstDash val="solid"/>
          </a:ln>
        </p:spPr>
      </p:sp>
      <p:sp>
        <p:nvSpPr>
          <p:cNvPr id="8" name="Text 6"/>
          <p:cNvSpPr txBox="1"/>
          <p:nvPr/>
        </p:nvSpPr>
        <p:spPr>
          <a:xfrm>
            <a:off x="640080" y="1536192"/>
            <a:ext cx="7863840" cy="9052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pPr indent="0" marL="0">
              <a:buNone/>
            </a:pPr>
            <a:r>
              <a:rPr lang="en-US" sz="880" dirty="0">
                <a:solidFill>
                  <a:srgbClr val="E6EDF3"/>
                </a:solidFill>
                <a:latin typeface="Courier New" pitchFamily="34" charset="0"/>
                <a:ea typeface="Courier New" pitchFamily="34" charset="-122"/>
                <a:cs typeface="Courier New" pitchFamily="34" charset="-120"/>
              </a:rPr>
              <a:t>mnemonic_to_seed(WORDS) == mnemonic_to_seed(WORDS)</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pPr indent="0" marL="0">
              <a:buNone/>
            </a:pPr>
            <a:r>
              <a:rPr lang="en-US" sz="880" dirty="0">
                <a:solidFill>
                  <a:srgbClr val="E6EDF3"/>
                </a:solidFill>
                <a:latin typeface="Courier New" pitchFamily="34" charset="0"/>
                <a:ea typeface="Courier New" pitchFamily="34" charset="-122"/>
                <a:cs typeface="Courier New" pitchFamily="34" charset="-120"/>
              </a:rPr>
              <a:t>mnemonic_to_entropy(WORDS)[1]</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pPr indent="0" marL="0">
              <a:buNone/>
            </a:pPr>
            <a:r>
              <a:rPr lang="en-US" sz="880" dirty="0">
                <a:solidFill>
                  <a:srgbClr val="E6EDF3"/>
                </a:solidFill>
                <a:latin typeface="Courier New" pitchFamily="34" charset="0"/>
                <a:ea typeface="Courier New" pitchFamily="34" charset="-122"/>
                <a:cs typeface="Courier New" pitchFamily="34" charset="-120"/>
              </a:rPr>
              <a:t>mnemonic_to_entropy(WORDS.replace('crunch', 'cruise'))[1]</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False</a:t>
            </a:r>
            <a:endParaRPr lang="en-US" sz="88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Core's own tooling: backupwallet, and the keypool that guards gaps</a:t>
            </a:r>
            <a:endParaRPr lang="en-US" sz="1150" dirty="0"/>
          </a:p>
        </p:txBody>
      </p:sp>
      <p:sp>
        <p:nvSpPr>
          <p:cNvPr id="11" name="Shape 9"/>
          <p:cNvSpPr/>
          <p:nvPr/>
        </p:nvSpPr>
        <p:spPr>
          <a:xfrm>
            <a:off x="457200" y="2834640"/>
            <a:ext cx="8229600" cy="822960"/>
          </a:xfrm>
          <a:prstGeom prst="roundRect">
            <a:avLst>
              <a:gd name="adj" fmla="val 11111"/>
            </a:avLst>
          </a:prstGeom>
          <a:solidFill>
            <a:srgbClr val="23272E"/>
          </a:solidFill>
          <a:ln w="12700">
            <a:solidFill>
              <a:srgbClr val="23272E"/>
            </a:solidFill>
            <a:prstDash val="solid"/>
          </a:ln>
        </p:spPr>
      </p:sp>
      <p:sp>
        <p:nvSpPr>
          <p:cNvPr id="12" name="Text 10"/>
          <p:cNvSpPr txBox="1"/>
          <p:nvPr/>
        </p:nvSpPr>
        <p:spPr>
          <a:xfrm>
            <a:off x="640080" y="2953512"/>
            <a:ext cx="7863840" cy="5852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'Safely copies the current wallet file' in flat(CORE_BACKUP)</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'(default: 1000)' in flat(CORE_KEYPOOL)</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3" name="Text 11"/>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88620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143560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write it</a:t>
            </a:r>
            <a:endParaRPr lang="en-US" sz="1250" dirty="0"/>
          </a:p>
        </p:txBody>
      </p:sp>
      <p:sp>
        <p:nvSpPr>
          <p:cNvPr id="16" name="Shape 14"/>
          <p:cNvSpPr/>
          <p:nvPr/>
        </p:nvSpPr>
        <p:spPr>
          <a:xfrm>
            <a:off x="2093976" y="3886200"/>
            <a:ext cx="261861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093976" y="3886200"/>
            <a:ext cx="261861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split it if large</a:t>
            </a:r>
            <a:endParaRPr lang="en-US" sz="1250" dirty="0"/>
          </a:p>
        </p:txBody>
      </p:sp>
      <p:sp>
        <p:nvSpPr>
          <p:cNvPr id="18" name="Shape 16"/>
          <p:cNvSpPr/>
          <p:nvPr/>
        </p:nvSpPr>
        <p:spPr>
          <a:xfrm>
            <a:off x="4913757" y="3886200"/>
            <a:ext cx="222427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913757" y="3886200"/>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store it apart</a:t>
            </a:r>
            <a:endParaRPr lang="en-US" sz="1250" dirty="0"/>
          </a:p>
        </p:txBody>
      </p:sp>
      <p:sp>
        <p:nvSpPr>
          <p:cNvPr id="20" name="Shape 18"/>
          <p:cNvSpPr/>
          <p:nvPr/>
        </p:nvSpPr>
        <p:spPr>
          <a:xfrm>
            <a:off x="457200" y="4471416"/>
            <a:ext cx="248716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471416"/>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TEST the restore</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counts only after a successful restore drill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stopped storing keys and started deriving them - one seed, backed up once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recovery code is entropy in human clothing: 11 bits a word, checksum included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Words become a 512-bit seed through deliberate slowness - and a passphrase forks the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HD tree hands every purpose a numbered key; hardened hops keep the xpub harmless</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Beyond keys: labels, channels, split secrets - and a backup only counts once restored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github.com/bitcoinbook/bitcoinbook/blob/develop/ch05_wallets.adoc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IronKey story, as reported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nytimes.com/2021/01/12/technology/bitcoin-passwords-wallets-fortunes.html</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39 - the recovery code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github.com/bitcoin/bips/blob/master/bip-0039.mediawiki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32 - the HD tree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github.com/bitcoin/bips/blob/master/bip-0032.mediawiki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84 - the path these slides derived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github.com/bitcoin/bips/blob/master/bip-0084.mediawiki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Ian Coleman's BIP-39 tool (offline use!)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iancoleman.io/bip39/</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HD wallets, drawn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on paper beat every password you have ever memorized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one seed replaced bags of keys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twelve words carry, and how they become a tree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path your wallet walks, and who else can walk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tested backup is - and what Stefan Thomas teaches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dc:title>
  <dc:subject>PptxGenJS Presentation</dc:subject>
  <dc:creator>Yusuf Altunel</dc:creator>
  <cp:lastModifiedBy>Yusuf Altunel</cp:lastModifiedBy>
  <cp:revision>1</cp:revision>
  <dcterms:created xsi:type="dcterms:W3CDTF">2026-10-06T10:39:07Z</dcterms:created>
  <dcterms:modified xsi:type="dcterms:W3CDTF">2026-10-06T10:39:07Z</dcterms:modified>
</cp:coreProperties>
</file>