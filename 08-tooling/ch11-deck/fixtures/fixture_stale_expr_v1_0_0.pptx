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catch up from 6 blocks behind</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10 percent of the power</c:v>
                  </c:pt>
                  <c:pt idx="1">
                    <c:v>30 percent</c:v>
                  </c:pt>
                </c:lvl>
              </c:multiLvlStrCache>
            </c:multiLvlStrRef>
          </c:cat>
          <c:val>
            <c:numRef>
              <c:f>Sheet1!$B$2:$B$3</c:f>
              <c:numCache>
                <c:formatCode>General</c:formatCode>
                <c:ptCount val="2"/>
                <c:pt idx="0">
                  <c:v>0.0002428</c:v>
                </c:pt>
                <c:pt idx="1">
                  <c:v>0.1321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Bytes of proof path by transactions in a block</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1,024 transactions</c:v>
                  </c:pt>
                  <c:pt idx="1">
                    <c:v>4,096</c:v>
                  </c:pt>
                  <c:pt idx="2">
                    <c:v>16,000</c:v>
                  </c:pt>
                </c:lvl>
              </c:multiLvlStrCache>
            </c:multiLvlStrRef>
          </c:cat>
          <c:val>
            <c:numRef>
              <c:f>Sheet1!$B$2:$B$4</c:f>
              <c:numCache>
                <c:formatCode>General</c:formatCode>
                <c:ptCount val="3"/>
                <c:pt idx="0">
                  <c:v>320</c:v>
                </c:pt>
                <c:pt idx="1">
                  <c:v>384</c:v>
                </c:pt>
                <c:pt idx="2">
                  <c:v>448</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Assumed chain size in GB (chainparams.cpp)</a:t>
            </a:r>
          </a:p>
        </c:rich>
      </c:tx>
      <c:layout/>
      <c:overlay val="0"/>
    </c:title>
    <c:autoTitleDeleted val="0"/>
    <c:plotArea>
      <c:layout/>
      <c:barChart>
        <c:barDir val="col"/>
        <c:grouping val="clustered"/>
        <c:varyColors val="0"/>
        <c:ser>
          <c:idx val="0"/>
          <c:order val="0"/>
          <c:tx>
            <c:strRef>
              <c:f>Sheet1!$B$1</c:f>
              <c:strCache>
                <c:ptCount val="1"/>
                <c:pt idx="0">
                  <c:v>GB</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mainnet</c:v>
                  </c:pt>
                  <c:pt idx="1">
                    <c:v>testnet3</c:v>
                  </c:pt>
                  <c:pt idx="2">
                    <c:v>testnet4</c:v>
                  </c:pt>
                  <c:pt idx="3">
                    <c:v>signet</c:v>
                  </c:pt>
                </c:lvl>
              </c:multiLvlStrCache>
            </c:multiLvlStrRef>
          </c:cat>
          <c:val>
            <c:numRef>
              <c:f>Sheet1!$B$2:$B$5</c:f>
              <c:numCache>
                <c:formatCode>General</c:formatCode>
                <c:ptCount val="4"/>
                <c:pt idx="0">
                  <c:v>856</c:v>
                </c:pt>
                <c:pt idx="1">
                  <c:v>245</c:v>
                </c:pt>
                <c:pt idx="2">
                  <c:v>31</c:v>
                </c:pt>
                <c:pt idx="3">
                  <c:v>24</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blockchain: the block and its 80-byte header, how a block is named and numbered, how blocks hold one another, how a merkle tree vouches for the transactions, and the test chains that practise all of it. Every example runs under Python 3.14.6 on the chapter's own library, and Bitcoin Core 31.1 was run on a test network, so its answers are Recorded and only read back here. The research package for chapter 11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the block and the chain, with its header, name, links and forks; the merkle tree that vouches for the transactions; and the test blockchains on which developers practise.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73 sources, 25 findings and 73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a block and looks at every field of its header. It then asks how a block is named, how it is numbered, and what links it to its parent, and it ends with the case of two children of one parent. The first block, with its newspaper headline, is the story of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an 80-byte header, a count of transactions, and the transactions. The first block of the test chain measured 285 bytes: 80 for the header, 1 for the count and 204 for its one transaction. The size field shown in the book's table is not part of the block but a prefix that Bitcoin Core writes in front of each block in its block files, which since release 28.0 are scrambled with a random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holds six fields in 80 bytes: version, previous block hash, merkle root, time, bits and nonce, with numbers stored least significant byte first and hashes shown reversed. A block may be 4,000,000 bytes, so it can be 50,000 times its header. The version is no longer a counter: BIP 9 sets the top three bits to 001 for blocks that signal, and the remaining bits are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 of a block must be greater than the median of the previous 11 block times and at most two hours ahead of the node's clock. The target is stored compactly in bits: 1d00ffff means a target of 0xffff followed by zeros, which is difficulty 1. Block 277,315 had a difficulty of 1,180,923,195, so its proof of work needed far more than the 4,294,967,296 values of the 32-bit nonce, which is why miners also change an extra nonce.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 January 2009 Satoshi Nakamoto mined the first block and wrote into its coinbase a headline of The Times, 69 characters long, which shows that the block cannot be older than that day. The Chancellor of the Exchequer then was Alistair Darling. The chapter rebuilt the block from the constants in chainparams.cpp and hashed it to 000000000019d668, and a test node refused to give out its coinbase, because the first 50 coins can never be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identifier of a block is the double SHA-256 of its 80-byte header, shown byte-reversed. The hash is not stored in the block itself: the 285 bytes of the first block contain it neither way round, and it is the next block's header that carries it. The leading zeros grow with the difficulty, from 10 hex digits in block 0 to 19 in block 840,000.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 counts the blocks since the first, which has height 0, and it is not a unique name, because two blocks can share a height during a fork. Since BIP 34 the height is written at the start of the coinbase script. A reward can be spent only 100 blocks later, and the test node refused a spend at depth 99 with premature-spend-of-coinbase.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header carries the hash of its parent, so the chain is a list in which every link depends on everything before it. On the test chain, ten consecutive headers linked correctly, and changing the fourth changed its hash, broke the link in the fifth, and meant that seven blocks would have to be mined again. The work of the chain is the sum of the work of its blocks, so the chain with the most work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miners can find a block at about the same time, and then one parent has two children at the same height. The test node held both and called the one with more work active and the other a valid fork, and a block on top of one child settled it. The chance that an attacker catches up falls quickly with the number of blocks: with 10 percent of the power it is 0.2045873 from one block behind and 0.0002428 from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hash tree that sits between a block's transactions and its header. It shows how the root is built, how a short path proves that one transaction belongs, and where the tree is weak: a duplicated hash and a 64-byte transaction. The story is that of its inventor, Ralph Merkle.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 ids of a block are hashed in pairs, level by level, until one hash is left, and that merkle root goes into the header. For four transactions the levels have 4, 2 and 1 hashes, and the test node's root matched our own. When a level has an odd count, its last hash is paired with itself, which is why a copy of the last transaction gives the same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can check that a transaction is in a block with only the hashes along its path to the root, one for each level. For transaction 10 of 16 that is 4 hashes, 128 bytes, and following them reproduced the root of the header. The path grows with the logarithm of the block, 448 bytes for 16,000 transactions, so with the header a proof is 528 bytes; the book's claim of almost 10,000 times smaller is really 7,576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an odd hash is paired with itself, a list with the last transactions repeated has the same root as the original, so two different blocks can share one header. Bitcoin Core refuses the mutated block with bad-txns-duplicate, and on the test chain it kept the original. The second weakness is that an inner node is the hash of 64 bytes, so a transaction of exactly 64 bytes could be mistaken for one, which BIP 54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Ralph Merkle patented the hash tree in 1979, and the United States patent 4309569 was published on 5 January 1982 with Stanford University as assignee. In 1980 he wrote about tree authentication, and Satoshi Nakamoto's paper hashes the transactions of a block in such a tree and keeps only the root in the header. The 40 transactions of block 277,315 hashed in pairs up six levels to the root in its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chains on which developers practise. They run the same code as the main chain but with different rules, prefixes and ports, and each solved a problem of the one before it. The stories are the flooding of testnet3 and the signature that a signet block must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runs five chains, chosen by an option, each with its own data directory, port and address prefixes. The book's tip says that test addresses begin with m, n or tb1, but the test chains also use the prefix 2 for script addresses, and regtest uses bcrt1. Regtest halves its reward every 150 blocks, so 500 blocks earned 12,462.5 coins, as the book shows. No connection to a real network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Testnet coins are worth nothing, so nothing stops a miner from flooding the chain. Testnet3 lets a block use minimum difficulty after twenty idle minutes, and its height is 6.3 times what one block in ten minutes would give; the book's size of 30 GB is far out of date too. Testnet4, specified in BIP 94, has its own genesis block and rules against the flooding. The heights are public figures; no test network was synchronised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4 May 2024 Jameson Lopp published how the minimum-difficulty rule of testnet3 lets miners create hundreds of blocks in a day. Testnet4 had its genesis block on 3 May 2024, and BIP 94, written by Fabian Jahr, bounds the time of the first block of a period; Bitcoin Core 28.0 added the network. BIP 94 notes that three years of blocks were mined on testnet3 in a few weeks, and testnet3 is now 33 times as long as testnet4.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signet a block is valid only if it carries a signature that satisfies a challenge script, so the operators decide who may make blocks and the chain stays calm. The default signet's challenge is a one-of-two multisig, which is why the book says two contributors run it; a signet with the challenge 51 can be signed by anyone and ran on the test node. The network magic is derived from the challenge, so every signet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 325, Signet, was assigned on 20 March 2019 to Karl-Johan Alm and Anthony Towns: a block is valid only if it carries a solution to a challenge script, so the creators of a signet decide who may make blocks. Bitcoin Core 0.21.0 added the support, and personal signets are possible with the option -signetchallenge. The network magic is the start of the hash of the challenge, so every signet has its own, and the public one is 2.27 times as long as the book's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visual blockchain demo by Anders Brownworth, then the Optech topic on merkle tree vulnerabilities next to the chapter. The research package for chapter 11 lists all 73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11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hyperlink" Target="https://mempool.space/block/000000000019d6689c085ae165831e934ff763ae46a2a6c172b3f1b60a8ce26f"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Merkle_tree"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hyperlink" Target="https://bips.dev/94/"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ips.dev/325/"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merkle-tree-vulnerabilities/" TargetMode="External"/><Relationship Id="rId2" Type="http://schemas.openxmlformats.org/officeDocument/2006/relationships/hyperlink" Target="https://bitcoinops.org/en/topics/signet/" TargetMode="External"/><Relationship Id="rId3" Type="http://schemas.openxmlformats.org/officeDocument/2006/relationships/hyperlink" Target="https://mempool.space/" TargetMode="External"/><Relationship Id="rId4" Type="http://schemas.openxmlformats.org/officeDocument/2006/relationships/hyperlink" Target="https://bips.dev/94/" TargetMode="External"/><Relationship Id="rId5" Type="http://schemas.openxmlformats.org/officeDocument/2006/relationships/hyperlink" Target="https://bips.dev/325/"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_160oMzblY8" TargetMode="External"/><Relationship Id="rId8" Type="http://schemas.openxmlformats.org/officeDocument/2006/relationships/hyperlink" Target="https://www.youtube.com/embed/na_omeubyYo"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11: The Blockchain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block holds, how blocks are named and linked, how a merkle tree vouches for them, and the test chains.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block and the chain  (slides 4-12)</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Merkle trees  (slides 13-17)</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Test blockchains  (slides 18-26)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73</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73</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25</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block and the chain</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block holds, how it is named and numbered, and how blocks hold one another.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 and header</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genesis block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Name, height, links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Forks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is a header and its transactions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parcel: a label on top, a count of the items, then the items themselves</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Size field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4 bytes, file only</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Header</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80 bytes</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Counter</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1 to 9 bytes</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Transactions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204 bytes in block 0</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genesis constants are saved from chainparams.cpp</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s = L.chainparams_genesis(</a:t>
            </a:r>
            <a:r>
              <a:rPr lang="en-US" sz="920" dirty="0">
                <a:solidFill>
                  <a:srgbClr val="9ECBFF"/>
                </a:solidFill>
                <a:latin typeface="Courier New" pitchFamily="34" charset="0"/>
                <a:ea typeface="Courier New" pitchFamily="34" charset="-122"/>
                <a:cs typeface="Courier New" pitchFamily="34" charset="-120"/>
              </a:rPr>
              <a:t>'main'</a:t>
            </a:r>
            <a:r>
              <a:rPr lang="en-US" sz="920" dirty="0">
                <a:solidFill>
                  <a:srgbClr val="E6EDF3"/>
                </a:solidFill>
                <a:latin typeface="Courier New" pitchFamily="34" charset="0"/>
                <a:ea typeface="Courier New" pitchFamily="34" charset="-122"/>
                <a:cs typeface="Courier New" pitchFamily="34" charset="-120"/>
              </a:rPr>
              <a:t>), {n: R[</a:t>
            </a:r>
            <a:r>
              <a:rPr lang="en-US" sz="920" dirty="0">
                <a:solidFill>
                  <a:srgbClr val="9ECBFF"/>
                </a:solidFill>
                <a:latin typeface="Courier New" pitchFamily="34" charset="0"/>
                <a:ea typeface="Courier New" pitchFamily="34" charset="-122"/>
                <a:cs typeface="Courier New" pitchFamily="34" charset="-120"/>
              </a:rPr>
              <a:t>'b4_blocks'</a:t>
            </a:r>
            <a:r>
              <a:rPr lang="en-US" sz="920" dirty="0">
                <a:solidFill>
                  <a:srgbClr val="E6EDF3"/>
                </a:solidFill>
                <a:latin typeface="Courier New" pitchFamily="34" charset="0"/>
                <a:ea typeface="Courier New" pitchFamily="34" charset="-122"/>
                <a:cs typeface="Courier New" pitchFamily="34" charset="-120"/>
              </a:rPr>
              <a:t>][str(n)][</a:t>
            </a:r>
            <a:r>
              <a:rPr lang="en-US" sz="920" dirty="0">
                <a:solidFill>
                  <a:srgbClr val="9ECBFF"/>
                </a:solidFill>
                <a:latin typeface="Courier New" pitchFamily="34" charset="0"/>
                <a:ea typeface="Courier New" pitchFamily="34" charset="-122"/>
                <a:cs typeface="Courier New" pitchFamily="34" charset="-120"/>
              </a:rPr>
              <a:t>'size'</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3</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FFD28A"/>
                </a:solidFill>
                <a:latin typeface="Courier New" pitchFamily="34" charset="0"/>
                <a:ea typeface="Courier New" pitchFamily="34" charset="-122"/>
                <a:cs typeface="Courier New" pitchFamily="34" charset="-120"/>
              </a:rPr>
              <a:t>80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g[</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'b1_genesis'</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'block'</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'size'</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(285, 285, 204, {1: 250, 2: 472, 3: 694, 4: 916})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'b3_blk_size_field'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'b3_blk_first_bytes'</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'b3_blk_first_bytes_raw'</a:t>
            </a:r>
            <a:r>
              <a:rPr lang="en-US" sz="920" dirty="0">
                <a:solidFill>
                  <a:srgbClr val="E6EDF3"/>
                </a:solidFill>
                <a:latin typeface="Courier New" pitchFamily="34" charset="0"/>
                <a:ea typeface="Courier New" pitchFamily="34" charset="-122"/>
                <a:cs typeface="Courier New" pitchFamily="34" charset="-120"/>
              </a:rPr>
              <a:t>] != R[</a:t>
            </a:r>
            <a:r>
              <a:rPr lang="en-US" sz="920" dirty="0">
                <a:solidFill>
                  <a:srgbClr val="9ECBFF"/>
                </a:solidFill>
                <a:latin typeface="Courier New" pitchFamily="34" charset="0"/>
                <a:ea typeface="Courier New" pitchFamily="34" charset="-122"/>
                <a:cs typeface="Courier New" pitchFamily="34" charset="-120"/>
              </a:rPr>
              <a:t>'b3_blk_first_bytes'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(285, 'fabfb5da',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'b3_xor_key'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'b3_blk_size_field'</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R[</a:t>
            </a:r>
            <a:r>
              <a:rPr lang="en-US" sz="920" dirty="0">
                <a:solidFill>
                  <a:srgbClr val="9ECBFF"/>
                </a:solidFill>
                <a:latin typeface="Courier New" pitchFamily="34" charset="0"/>
                <a:ea typeface="Courier New" pitchFamily="34" charset="-122"/>
                <a:cs typeface="Courier New" pitchFamily="34" charset="-120"/>
              </a:rPr>
              <a:t>'b1_info0'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'size_on_disk'</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'b3_blk_genesis_equals'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('d462ed9f917fe79d',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[len(L.compact_size(n))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252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253</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4000000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 3, 3, 5], 16666)</a:t>
            </a:r>
            <a:endParaRPr lang="en-US" sz="92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first block is 80 + 1 + 204 = 285 bytes; blocks 1 to 4 then hold 250, 472, 694 and 915 bytes</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the book's size field is a prefix Bitcoin Core writes in its block file, which it scrambles with a key</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counter takes 1, 3 or 5 bytes; at 60 bytes at least per transaction a block holds 16,666 at most</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is a header, a count and transactions; the size field is file storage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80-byte header and its six fields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Fields are stored little-endian, and the version is now a set of flags</a:t>
            </a:r>
            <a:endParaRPr lang="en-US" sz="1300" dirty="0"/>
          </a:p>
        </p:txBody>
      </p:sp>
      <p:sp>
        <p:nvSpPr>
          <p:cNvPr id="6" name="Shape 4"/>
          <p:cNvSpPr/>
          <p:nvPr/>
        </p:nvSpPr>
        <p:spPr>
          <a:xfrm>
            <a:off x="457200" y="1161288"/>
            <a:ext cx="1183234"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18323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80 bytes</a:t>
            </a:r>
            <a:endParaRPr lang="en-US" sz="950" dirty="0"/>
          </a:p>
        </p:txBody>
      </p:sp>
      <p:sp>
        <p:nvSpPr>
          <p:cNvPr id="8" name="Shape 6"/>
          <p:cNvSpPr/>
          <p:nvPr/>
        </p:nvSpPr>
        <p:spPr>
          <a:xfrm>
            <a:off x="1841602" y="1161288"/>
            <a:ext cx="288150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1841602"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50,000 headers in a block</a:t>
            </a:r>
            <a:endParaRPr lang="en-US" sz="950" dirty="0"/>
          </a:p>
        </p:txBody>
      </p:sp>
      <p:sp>
        <p:nvSpPr>
          <p:cNvPr id="10" name="Shape 8"/>
          <p:cNvSpPr/>
          <p:nvPr/>
        </p:nvSpPr>
        <p:spPr>
          <a:xfrm>
            <a:off x="4924273" y="1161288"/>
            <a:ext cx="188252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88252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version = flags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blocks 277,315 and 840,000 are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t = L.raw(</a:t>
            </a:r>
            <a:r>
              <a:rPr lang="en-US" sz="720" dirty="0">
                <a:solidFill>
                  <a:srgbClr val="9ECBFF"/>
                </a:solidFill>
                <a:latin typeface="Courier New" pitchFamily="34" charset="0"/>
                <a:ea typeface="Courier New" pitchFamily="34" charset="-122"/>
                <a:cs typeface="Courier New" pitchFamily="34" charset="-120"/>
              </a:rPr>
              <a:t>'mempool_header_277315.txt'</a:t>
            </a:r>
            <a:r>
              <a:rPr lang="en-US" sz="720" dirty="0">
                <a:solidFill>
                  <a:srgbClr val="E6EDF3"/>
                </a:solidFill>
                <a:latin typeface="Courier New" pitchFamily="34" charset="0"/>
                <a:ea typeface="Courier New" pitchFamily="34" charset="-122"/>
                <a:cs typeface="Courier New" pitchFamily="34" charset="-120"/>
              </a:rPr>
              <a:t>); h = L.header(t); v = L.jload(</a:t>
            </a:r>
            <a:r>
              <a:rPr lang="en-US" sz="720" dirty="0">
                <a:solidFill>
                  <a:srgbClr val="9ECBFF"/>
                </a:solidFill>
                <a:latin typeface="Courier New" pitchFamily="34" charset="0"/>
                <a:ea typeface="Courier New" pitchFamily="34" charset="-122"/>
                <a:cs typeface="Courier New" pitchFamily="34" charset="-120"/>
              </a:rPr>
              <a:t>'mempool_block_840000.json'</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len(bytes.fromhex(t)), </a:t>
            </a:r>
            <a:r>
              <a:rPr lang="en-US" sz="720" dirty="0">
                <a:solidFill>
                  <a:srgbClr val="FFD28A"/>
                </a:solidFill>
                <a:latin typeface="Courier New" pitchFamily="34" charset="0"/>
                <a:ea typeface="Courier New" pitchFamily="34" charset="-122"/>
                <a:cs typeface="Courier New" pitchFamily="34" charset="-120"/>
              </a:rPr>
              <a:t>4000000</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80</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'time'</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'nonce'</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'bits'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(80, 50000, 2, 1388185038, 4215469401, '1903a30c')</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].to_bytes(</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'little'</a:t>
            </a:r>
            <a:r>
              <a:rPr lang="en-US" sz="720" dirty="0">
                <a:solidFill>
                  <a:srgbClr val="E6EDF3"/>
                </a:solidFill>
                <a:latin typeface="Courier New" pitchFamily="34" charset="0"/>
                <a:ea typeface="Courier New" pitchFamily="34" charset="-122"/>
                <a:cs typeface="Courier New" pitchFamily="34" charset="-120"/>
              </a:rPr>
              <a:t>).hex(), h[</a:t>
            </a:r>
            <a:r>
              <a:rPr lang="en-US" sz="720" dirty="0">
                <a:solidFill>
                  <a:srgbClr val="9ECBFF"/>
                </a:solidFill>
                <a:latin typeface="Courier New" pitchFamily="34" charset="0"/>
                <a:ea typeface="Courier New" pitchFamily="34" charset="-122"/>
                <a:cs typeface="Courier New" pitchFamily="34" charset="-120"/>
              </a:rPr>
              <a:t>'prev'</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8</a:t>
            </a:r>
            <a:r>
              <a:rPr lang="en-US" sz="720" dirty="0">
                <a:solidFill>
                  <a:srgbClr val="E6EDF3"/>
                </a:solidFill>
                <a:latin typeface="Courier New" pitchFamily="34" charset="0"/>
                <a:ea typeface="Courier New" pitchFamily="34" charset="-122"/>
                <a:cs typeface="Courier New" pitchFamily="34" charset="-120"/>
              </a:rPr>
              <a:t>:], bytes.fromhex(h[</a:t>
            </a:r>
            <a:r>
              <a:rPr lang="en-US" sz="720" dirty="0">
                <a:solidFill>
                  <a:srgbClr val="9ECBFF"/>
                </a:solidFill>
                <a:latin typeface="Courier New" pitchFamily="34" charset="0"/>
                <a:ea typeface="Courier New" pitchFamily="34" charset="-122"/>
                <a:cs typeface="Courier New" pitchFamily="34" charset="-120"/>
              </a:rPr>
              <a:t>'prev'</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].hex()</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('02000000', 'a1632249', '492263a1')</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hex(v), v &gt;&gt; </a:t>
            </a:r>
            <a:r>
              <a:rPr lang="en-US" sz="720" dirty="0">
                <a:solidFill>
                  <a:srgbClr val="FFD28A"/>
                </a:solidFill>
                <a:latin typeface="Courier New" pitchFamily="34" charset="0"/>
                <a:ea typeface="Courier New" pitchFamily="34" charset="-122"/>
                <a:cs typeface="Courier New" pitchFamily="34" charset="-120"/>
              </a:rPr>
              <a:t>29</a:t>
            </a:r>
            <a:r>
              <a:rPr lang="en-US" sz="720" dirty="0">
                <a:solidFill>
                  <a:srgbClr val="E6EDF3"/>
                </a:solidFill>
                <a:latin typeface="Courier New" pitchFamily="34" charset="0"/>
                <a:ea typeface="Courier New" pitchFamily="34" charset="-122"/>
                <a:cs typeface="Courier New" pitchFamily="34" charset="-120"/>
              </a:rPr>
              <a:t>, hex(v &amp; 0x1fffe000), R[</a:t>
            </a:r>
            <a:r>
              <a:rPr lang="en-US" sz="720" dirty="0">
                <a:solidFill>
                  <a:srgbClr val="9ECBFF"/>
                </a:solidFill>
                <a:latin typeface="Courier New" pitchFamily="34" charset="0"/>
                <a:ea typeface="Courier New" pitchFamily="34" charset="-122"/>
                <a:cs typeface="Courier New" pitchFamily="34" charset="-120"/>
              </a:rPr>
              <a:t>'b3_block'</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'json'</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'versionHex'</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('0x2a5fe000', 1, '0xa5fe000', '20000000')</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L.header(L.raw(</a:t>
            </a:r>
            <a:r>
              <a:rPr lang="en-US" sz="720" dirty="0">
                <a:solidFill>
                  <a:srgbClr val="9ECBFF"/>
                </a:solidFill>
                <a:latin typeface="Courier New" pitchFamily="34" charset="0"/>
                <a:ea typeface="Courier New" pitchFamily="34" charset="-122"/>
                <a:cs typeface="Courier New" pitchFamily="34" charset="-120"/>
              </a:rPr>
              <a:t>'mempool_header_0.txt'</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seen(</a:t>
            </a:r>
            <a:r>
              <a:rPr lang="en-US" sz="720" dirty="0">
                <a:solidFill>
                  <a:srgbClr val="9ECBFF"/>
                </a:solidFill>
                <a:latin typeface="Courier New" pitchFamily="34" charset="0"/>
                <a:ea typeface="Courier New" pitchFamily="34" charset="-122"/>
                <a:cs typeface="Courier New" pitchFamily="34" charset="-120"/>
              </a:rPr>
              <a:t>'bip-0009.mediawiki'</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'The top 3 bits of such blocks must be 001'</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(1, 2, True)</a:t>
            </a:r>
            <a:endParaRPr lang="en-US" sz="72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block 277,315 has an 80-byte header; its version 2 is stored as 02000000 and its previous hash reversed</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block 840,000 has version 0x2a5fe000: the top three bits are 001 (BIP 9), the other bits are flags</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first block had version 1 and this one 2, so the book's name version number no longer fits</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fields fill 80 bytes, and the version is now a set of flags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Time, target and nonce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asking eleven clocks and trusting the middle one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277,315 is saved from mempool.space</a:t>
            </a:r>
            <a:endParaRPr lang="en-US" sz="1150" dirty="0"/>
          </a:p>
        </p:txBody>
      </p:sp>
      <p:sp>
        <p:nvSpPr>
          <p:cNvPr id="7" name="Shape 5"/>
          <p:cNvSpPr/>
          <p:nvPr/>
        </p:nvSpPr>
        <p:spPr>
          <a:xfrm>
            <a:off x="457200" y="1554480"/>
            <a:ext cx="8229600"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673352"/>
            <a:ext cx="7863840" cy="154533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d, t = L.jload(</a:t>
            </a:r>
            <a:r>
              <a:rPr lang="en-US" sz="860" dirty="0">
                <a:solidFill>
                  <a:srgbClr val="9ECBFF"/>
                </a:solidFill>
                <a:latin typeface="Courier New" pitchFamily="34" charset="0"/>
                <a:ea typeface="Courier New" pitchFamily="34" charset="-122"/>
                <a:cs typeface="Courier New" pitchFamily="34" charset="-120"/>
              </a:rPr>
              <a:t>'mempool_block_277315.json'</a:t>
            </a:r>
            <a:r>
              <a:rPr lang="en-US" sz="860" dirty="0">
                <a:solidFill>
                  <a:srgbClr val="E6EDF3"/>
                </a:solidFill>
                <a:latin typeface="Courier New" pitchFamily="34" charset="0"/>
                <a:ea typeface="Courier New" pitchFamily="34" charset="-122"/>
                <a:cs typeface="Courier New" pitchFamily="34" charset="-120"/>
              </a:rPr>
              <a:t>), R[</a:t>
            </a:r>
            <a:r>
              <a:rPr lang="en-US" sz="860" dirty="0">
                <a:solidFill>
                  <a:srgbClr val="9ECBFF"/>
                </a:solidFill>
                <a:latin typeface="Courier New" pitchFamily="34" charset="0"/>
                <a:ea typeface="Courier New" pitchFamily="34" charset="-122"/>
                <a:cs typeface="Courier New" pitchFamily="34" charset="-120"/>
              </a:rPr>
              <a:t>'b3_timestamps_110_121'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L.iso(</a:t>
            </a:r>
            <a:r>
              <a:rPr lang="en-US" sz="860" dirty="0">
                <a:solidFill>
                  <a:srgbClr val="FFD28A"/>
                </a:solidFill>
                <a:latin typeface="Courier New" pitchFamily="34" charset="0"/>
                <a:ea typeface="Courier New" pitchFamily="34" charset="-122"/>
                <a:cs typeface="Courier New" pitchFamily="34" charset="-120"/>
              </a:rPr>
              <a:t>1231006505</a:t>
            </a:r>
            <a:r>
              <a:rPr lang="en-US" sz="860" dirty="0">
                <a:solidFill>
                  <a:srgbClr val="E6EDF3"/>
                </a:solidFill>
                <a:latin typeface="Courier New" pitchFamily="34" charset="0"/>
                <a:ea typeface="Courier New" pitchFamily="34" charset="-122"/>
                <a:cs typeface="Courier New" pitchFamily="34" charset="-120"/>
              </a:rPr>
              <a:t>), L.iso(</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60</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60</a:t>
            </a:r>
            <a:r>
              <a:rPr lang="en-US" sz="860" dirty="0">
                <a:solidFill>
                  <a:srgbClr val="E6EDF3"/>
                </a:solidFill>
                <a:latin typeface="Courier New" pitchFamily="34" charset="0"/>
                <a:ea typeface="Courier New" pitchFamily="34" charset="-122"/>
                <a:cs typeface="Courier New" pitchFamily="34" charset="-120"/>
              </a:rPr>
              <a:t>, seen(</a:t>
            </a:r>
            <a:r>
              <a:rPr lang="en-US" sz="860" dirty="0">
                <a:solidFill>
                  <a:srgbClr val="9ECBFF"/>
                </a:solidFill>
                <a:latin typeface="Courier New" pitchFamily="34" charset="0"/>
                <a:ea typeface="Courier New" pitchFamily="34" charset="-122"/>
                <a:cs typeface="Courier New" pitchFamily="34" charset="-120"/>
              </a:rPr>
              <a:t>'core_src_chain.h'</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'MAX_FUTURE_BLOCK_TIME = 2 * 60 * 60'</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('2009-01-03 18:15:05', '2106-02-07 06:28:15', 7200, 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L.median_time_past(t), R[</a:t>
            </a:r>
            <a:r>
              <a:rPr lang="en-US" sz="860" dirty="0">
                <a:solidFill>
                  <a:srgbClr val="9ECBFF"/>
                </a:solidFill>
                <a:latin typeface="Courier New" pitchFamily="34" charset="0"/>
                <a:ea typeface="Courier New" pitchFamily="34" charset="-122"/>
                <a:cs typeface="Courier New" pitchFamily="34" charset="-120"/>
              </a:rPr>
              <a:t>'b3_mediantime_121'</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'mediantime'</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'timestamp'</a:t>
            </a:r>
            <a:r>
              <a:rPr lang="en-US" sz="860" dirty="0">
                <a:solidFill>
                  <a:srgbClr val="E6EDF3"/>
                </a:solidFill>
                <a:latin typeface="Courier New" pitchFamily="34" charset="0"/>
                <a:ea typeface="Courier New" pitchFamily="34" charset="-122"/>
                <a:cs typeface="Courier New" pitchFamily="34" charset="-120"/>
              </a:rPr>
              <a:t>] - d[</a:t>
            </a:r>
            <a:r>
              <a:rPr lang="en-US" sz="860" dirty="0">
                <a:solidFill>
                  <a:srgbClr val="9ECBFF"/>
                </a:solidFill>
                <a:latin typeface="Courier New" pitchFamily="34" charset="0"/>
                <a:ea typeface="Courier New" pitchFamily="34" charset="-122"/>
                <a:cs typeface="Courier New" pitchFamily="34" charset="-120"/>
              </a:rPr>
              <a:t>'mediantime'</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(1792052132, 1792052132, 1388183387, 1651)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hex(L.bits_to_target(</a:t>
            </a:r>
            <a:r>
              <a:rPr lang="en-US" sz="860" dirty="0">
                <a:solidFill>
                  <a:srgbClr val="9ECBFF"/>
                </a:solidFill>
                <a:latin typeface="Courier New" pitchFamily="34" charset="0"/>
                <a:ea typeface="Courier New" pitchFamily="34" charset="-122"/>
                <a:cs typeface="Courier New" pitchFamily="34" charset="-120"/>
              </a:rPr>
              <a:t>'1d00ffff'</a:t>
            </a:r>
            <a:r>
              <a:rPr lang="en-US" sz="860" dirty="0">
                <a:solidFill>
                  <a:srgbClr val="E6EDF3"/>
                </a:solidFill>
                <a:latin typeface="Courier New" pitchFamily="34" charset="0"/>
                <a:ea typeface="Courier New" pitchFamily="34" charset="-122"/>
                <a:cs typeface="Courier New" pitchFamily="34" charset="-120"/>
              </a:rPr>
              <a:t>)), L.difficulty(</a:t>
            </a:r>
            <a:r>
              <a:rPr lang="en-US" sz="860" dirty="0">
                <a:solidFill>
                  <a:srgbClr val="9ECBFF"/>
                </a:solidFill>
                <a:latin typeface="Courier New" pitchFamily="34" charset="0"/>
                <a:ea typeface="Courier New" pitchFamily="34" charset="-122"/>
                <a:cs typeface="Courier New" pitchFamily="34" charset="-120"/>
              </a:rPr>
              <a:t>'1903a30c'</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'difficulty'</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('0xffff0000000000000000000000000000000000000000000000000000', 1180923195.2580261, 1180923195.2580261)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hex(L.work(</a:t>
            </a:r>
            <a:r>
              <a:rPr lang="en-US" sz="860" dirty="0">
                <a:solidFill>
                  <a:srgbClr val="9ECBFF"/>
                </a:solidFill>
                <a:latin typeface="Courier New" pitchFamily="34" charset="0"/>
                <a:ea typeface="Courier New" pitchFamily="34" charset="-122"/>
                <a:cs typeface="Courier New" pitchFamily="34" charset="-120"/>
              </a:rPr>
              <a:t>'1d00ffff'</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'nonce'</a:t>
            </a:r>
            <a:r>
              <a:rPr lang="en-US" sz="860" dirty="0">
                <a:solidFill>
                  <a:srgbClr val="E6EDF3"/>
                </a:solidFill>
                <a:latin typeface="Courier New" pitchFamily="34" charset="0"/>
                <a:ea typeface="Courier New" pitchFamily="34" charset="-122"/>
                <a:cs typeface="Courier New" pitchFamily="34" charset="-120"/>
              </a:rPr>
              <a:t>], round(L.work(</a:t>
            </a:r>
            <a:r>
              <a:rPr lang="en-US" sz="860" dirty="0">
                <a:solidFill>
                  <a:srgbClr val="9ECBFF"/>
                </a:solidFill>
                <a:latin typeface="Courier New" pitchFamily="34" charset="0"/>
                <a:ea typeface="Courier New" pitchFamily="34" charset="-122"/>
                <a:cs typeface="Courier New" pitchFamily="34" charset="-120"/>
              </a:rPr>
              <a:t>'1903a30c'</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('0x100010001', 4294967296, 4215469401, 1180941215)</a:t>
            </a:r>
            <a:endParaRPr lang="en-US" sz="86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621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118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time counts seconds from 1970 and runs out in 2106; a block may be at most 7,200 seconds ahead of the clock</a:t>
            </a:r>
            <a:endParaRPr lang="en-US" sz="1000" dirty="0"/>
          </a:p>
        </p:txBody>
      </p:sp>
      <p:sp>
        <p:nvSpPr>
          <p:cNvPr id="12" name="Shape 10"/>
          <p:cNvSpPr/>
          <p:nvPr/>
        </p:nvSpPr>
        <p:spPr>
          <a:xfrm>
            <a:off x="457200" y="38907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median of the last 11 times, 1792052132 by our code and the node, is the floor; block 277,315 is 1,651 s above</a:t>
            </a:r>
            <a:endParaRPr lang="en-US" sz="1000" dirty="0"/>
          </a:p>
        </p:txBody>
      </p:sp>
      <p:sp>
        <p:nvSpPr>
          <p:cNvPr id="14" name="Shape 12"/>
          <p:cNvSpPr/>
          <p:nvPr/>
        </p:nvSpPr>
        <p:spPr>
          <a:xfrm>
            <a:off x="457200" y="41193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690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bits 1d00ffff is difficulty 1; block 277,315 needed 1,180,941,215 full nonce ranges, hence the extra nonce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median of 11 times is the floor; the nonce alone is too small</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headline nailed into the first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3 January 2009: who, where, when and what to read next</a:t>
            </a:r>
            <a:endParaRPr lang="en-US" sz="1300" dirty="0"/>
          </a:p>
        </p:txBody>
      </p:sp>
      <p:pic>
        <p:nvPicPr>
          <p:cNvPr id="6" name="Image 0" descr="../../03-materials/ch11/assets/photo_satoshi_bust_budapes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3 January 2009 Satoshi Nakamoto mines the first block and quotes The Times in its coinbase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Chancellor of the day was Alistair Darling; the block hashes to 000000000019d668 from its constants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50 coins can never be spent: the node refuses the coinbase with error -5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constants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'hash'</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16</a:t>
            </a:r>
            <a:r>
              <a:rPr lang="en-US" sz="770" dirty="0">
                <a:solidFill>
                  <a:srgbClr val="E6EDF3"/>
                </a:solidFill>
                <a:latin typeface="Courier New" pitchFamily="34" charset="0"/>
                <a:ea typeface="Courier New" pitchFamily="34" charset="-122"/>
                <a:cs typeface="Courier New" pitchFamily="34" charset="-120"/>
              </a:rPr>
              <a:t>], 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'time'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('000000000019d668', 1231006505)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'message'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'The Times 03/Jan/2009 Chancellor on brink of second bailout for banks'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'b1_genesis'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'coinbase_getrawtransaction'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'error'</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44</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'error code: -5 error message: The genesis bl'</a:t>
            </a:r>
            <a:endParaRPr lang="en-US" sz="77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 Nakamoto, the pseudonymous cre…</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first block of the Bitcoin chain,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sculpture, not Satoshi's face.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block's name is the hash of its header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fingerprint: taken from the block, never printed inside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header of block 0 is saved from mempool.space</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b, g, hs = bytes.fromhex(L.raw(</a:t>
            </a:r>
            <a:r>
              <a:rPr lang="en-US" sz="870" dirty="0">
                <a:solidFill>
                  <a:srgbClr val="9ECBFF"/>
                </a:solidFill>
                <a:latin typeface="Courier New" pitchFamily="34" charset="0"/>
                <a:ea typeface="Courier New" pitchFamily="34" charset="-122"/>
                <a:cs typeface="Courier New" pitchFamily="34" charset="-120"/>
              </a:rPr>
              <a:t>'mempool_header_0.txt'</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'b1_genesis'</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'b3_headers_480_489'</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hashlib.sha256(hashlib.sha256(b).digest()).digest()[::-</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].hex()[:</a:t>
            </a:r>
            <a:r>
              <a:rPr lang="en-US" sz="870" dirty="0">
                <a:solidFill>
                  <a:srgbClr val="FFD28A"/>
                </a:solidFill>
                <a:latin typeface="Courier New" pitchFamily="34" charset="0"/>
                <a:ea typeface="Courier New" pitchFamily="34" charset="-122"/>
                <a:cs typeface="Courier New" pitchFamily="34" charset="-120"/>
              </a:rPr>
              <a:t>16</a:t>
            </a:r>
            <a:r>
              <a:rPr lang="en-US" sz="870" dirty="0">
                <a:solidFill>
                  <a:srgbClr val="E6EDF3"/>
                </a:solidFill>
                <a:latin typeface="Courier New" pitchFamily="34" charset="0"/>
                <a:ea typeface="Courier New" pitchFamily="34" charset="-122"/>
                <a:cs typeface="Courier New" pitchFamily="34" charset="-120"/>
              </a:rPr>
              <a:t>], hashlib.sha256(b).digest()[::-</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].hex()[:</a:t>
            </a:r>
            <a:r>
              <a:rPr lang="en-US" sz="870" dirty="0">
                <a:solidFill>
                  <a:srgbClr val="FFD28A"/>
                </a:solidFill>
                <a:latin typeface="Courier New" pitchFamily="34" charset="0"/>
                <a:ea typeface="Courier New" pitchFamily="34" charset="-122"/>
                <a:cs typeface="Courier New" pitchFamily="34" charset="-120"/>
              </a:rPr>
              <a:t>16</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('000000000019d668', '6dd6c5716cc8e243')</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g[</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L.rev(g[</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len(g[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2</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(False, False, 285)</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L.rev(L.header(hs[</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hs[</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L.header(hs[</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'prev'</a:t>
            </a:r>
            <a:r>
              <a:rPr lang="en-US" sz="870" dirty="0">
                <a:solidFill>
                  <a:srgbClr val="E6EDF3"/>
                </a:solidFill>
                <a:latin typeface="Courier New" pitchFamily="34" charset="0"/>
                <a:ea typeface="Courier New" pitchFamily="34" charset="-122"/>
                <a:cs typeface="Courier New" pitchFamily="34" charset="-120"/>
              </a:rPr>
              <a:t>] == L.header(hs[</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(True,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zero = </a:t>
            </a:r>
            <a:r>
              <a:rPr lang="en-US" sz="870" b="1" dirty="0">
                <a:solidFill>
                  <a:srgbClr val="F2A860"/>
                </a:solidFill>
                <a:latin typeface="Courier New" pitchFamily="34" charset="0"/>
                <a:ea typeface="Courier New" pitchFamily="34" charset="-122"/>
                <a:cs typeface="Courier New" pitchFamily="34" charset="-120"/>
              </a:rPr>
              <a:t>lambda</a:t>
            </a:r>
            <a:r>
              <a:rPr lang="en-US" sz="870" dirty="0">
                <a:solidFill>
                  <a:srgbClr val="E6EDF3"/>
                </a:solidFill>
                <a:latin typeface="Courier New" pitchFamily="34" charset="0"/>
                <a:ea typeface="Courier New" pitchFamily="34" charset="-122"/>
                <a:cs typeface="Courier New" pitchFamily="34" charset="-120"/>
              </a:rPr>
              <a:t> n: L.leading_zero_hex(L.header(L.raw(</a:t>
            </a:r>
            <a:r>
              <a:rPr lang="en-US" sz="870" dirty="0">
                <a:solidFill>
                  <a:srgbClr val="9ECBFF"/>
                </a:solidFill>
                <a:latin typeface="Courier New" pitchFamily="34" charset="0"/>
                <a:ea typeface="Courier New" pitchFamily="34" charset="-122"/>
                <a:cs typeface="Courier New" pitchFamily="34" charset="-120"/>
              </a:rPr>
              <a:t>'mempool_header_%s.txt'</a:t>
            </a:r>
            <a:r>
              <a:rPr lang="en-US" sz="870" dirty="0">
                <a:solidFill>
                  <a:srgbClr val="E6EDF3"/>
                </a:solidFill>
                <a:latin typeface="Courier New" pitchFamily="34" charset="0"/>
                <a:ea typeface="Courier New" pitchFamily="34" charset="-122"/>
                <a:cs typeface="Courier New" pitchFamily="34" charset="-120"/>
              </a:rPr>
              <a:t> % n))[</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[zero(n) </a:t>
            </a:r>
            <a:r>
              <a:rPr lang="en-US" sz="870" b="1" dirty="0">
                <a:solidFill>
                  <a:srgbClr val="F2A860"/>
                </a:solidFill>
                <a:latin typeface="Courier New" pitchFamily="34" charset="0"/>
                <a:ea typeface="Courier New" pitchFamily="34" charset="-122"/>
                <a:cs typeface="Courier New" pitchFamily="34" charset="-120"/>
              </a:rPr>
              <a:t>for</a:t>
            </a:r>
            <a:r>
              <a:rPr lang="en-US" sz="870" dirty="0">
                <a:solidFill>
                  <a:srgbClr val="E6EDF3"/>
                </a:solidFill>
                <a:latin typeface="Courier New" pitchFamily="34" charset="0"/>
                <a:ea typeface="Courier New" pitchFamily="34" charset="-122"/>
                <a:cs typeface="Courier New" pitchFamily="34" charset="-120"/>
              </a:rPr>
              <a:t> n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'277315'</a:t>
            </a:r>
            <a:r>
              <a:rPr lang="en-US" sz="870" dirty="0">
                <a:solidFill>
                  <a:srgbClr val="E6EDF3"/>
                </a:solidFill>
                <a:latin typeface="Courier New" pitchFamily="34" charset="0"/>
                <a:ea typeface="Courier New" pitchFamily="34" charset="-122"/>
                <a:cs typeface="Courier New" pitchFamily="34" charset="-120"/>
              </a:rPr>
              <a:t>)], L.leading_zero_hex(L.jload(</a:t>
            </a:r>
            <a:r>
              <a:rPr lang="en-US" sz="870" dirty="0">
                <a:solidFill>
                  <a:srgbClr val="9ECBFF"/>
                </a:solidFill>
                <a:latin typeface="Courier New" pitchFamily="34" charset="0"/>
                <a:ea typeface="Courier New" pitchFamily="34" charset="-122"/>
                <a:cs typeface="Courier New" pitchFamily="34" charset="-120"/>
              </a:rPr>
              <a:t>'mempool_block_840000.json'</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'id'</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([10, 15], 19)</a:t>
            </a:r>
            <a:endParaRPr lang="en-US" sz="87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73380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0332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SHA-256 run twice over the 80 header bytes gives 000000000019d668...; run once it gives 6dd6c571...</a:t>
            </a:r>
            <a:endParaRPr lang="en-US" sz="1000" dirty="0"/>
          </a:p>
        </p:txBody>
      </p:sp>
      <p:sp>
        <p:nvSpPr>
          <p:cNvPr id="12" name="Shape 10"/>
          <p:cNvSpPr/>
          <p:nvPr/>
        </p:nvSpPr>
        <p:spPr>
          <a:xfrm>
            <a:off x="457200" y="392277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9229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the 285 bytes of the first block hold its hash neither way round; the next header holds it</a:t>
            </a:r>
            <a:endParaRPr lang="en-US" sz="1000" dirty="0"/>
          </a:p>
        </p:txBody>
      </p:sp>
      <p:sp>
        <p:nvSpPr>
          <p:cNvPr id="14" name="Shape 12"/>
          <p:cNvSpPr/>
          <p:nvPr/>
        </p:nvSpPr>
        <p:spPr>
          <a:xfrm>
            <a:off x="457200" y="41117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8127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blocks 0, 277,315 and 840,000 have 10, 15 and 19 leading zeros in hex: the proof of work</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name is computed from the header and carried by the next block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Height, depth and coinbase maturity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you may not cash until the bank has held it for a hundred days</a:t>
            </a:r>
            <a:endParaRPr lang="en-US" sz="1300" dirty="0"/>
          </a:p>
        </p:txBody>
      </p:sp>
      <p:sp>
        <p:nvSpPr>
          <p:cNvPr id="6" name="Shape 4"/>
          <p:cNvSpPr/>
          <p:nvPr/>
        </p:nvSpPr>
        <p:spPr>
          <a:xfrm>
            <a:off x="457200" y="1161288"/>
            <a:ext cx="2382012"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height 971,537 today</a:t>
            </a:r>
            <a:endParaRPr lang="en-US" sz="950" dirty="0"/>
          </a:p>
        </p:txBody>
      </p:sp>
      <p:sp>
        <p:nvSpPr>
          <p:cNvPr id="8" name="Shape 6"/>
          <p:cNvSpPr/>
          <p:nvPr/>
        </p:nvSpPr>
        <p:spPr>
          <a:xfrm>
            <a:off x="3040380" y="1161288"/>
            <a:ext cx="338099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040380" y="1161288"/>
            <a:ext cx="338099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BIP 34: height in the coinbase</a:t>
            </a:r>
            <a:endParaRPr lang="en-US" sz="950" dirty="0"/>
          </a:p>
        </p:txBody>
      </p:sp>
      <p:sp>
        <p:nvSpPr>
          <p:cNvPr id="10" name="Shape 8"/>
          <p:cNvSpPr/>
          <p:nvPr/>
        </p:nvSpPr>
        <p:spPr>
          <a:xfrm>
            <a:off x="6622542" y="1161288"/>
            <a:ext cx="1582826"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6622542" y="1161288"/>
            <a:ext cx="158282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maturity 100</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height 971,537 is a public figure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 m, k = R[</a:t>
            </a:r>
            <a:r>
              <a:rPr lang="en-US" sz="920" dirty="0">
                <a:solidFill>
                  <a:srgbClr val="9ECBFF"/>
                </a:solidFill>
                <a:latin typeface="Courier New" pitchFamily="34" charset="0"/>
                <a:ea typeface="Courier New" pitchFamily="34" charset="-122"/>
                <a:cs typeface="Courier New" pitchFamily="34" charset="-120"/>
              </a:rPr>
              <a:t>'b3_bip34'</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'b7_maturity'</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'core_src_consensus_consensus.h'</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tip(</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 round(tip(</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365.25</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'b1_info0'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(971537, 18.5, 0)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L.bip34_height(v)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v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c.items()} == {h: int(h)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 c[</a:t>
            </a:r>
            <a:r>
              <a:rPr lang="en-US" sz="920" dirty="0">
                <a:solidFill>
                  <a:srgbClr val="9ECBFF"/>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'17'</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'128'</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'256'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'5100', '011100', '02800000', '02000100')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src(k, </a:t>
            </a:r>
            <a:r>
              <a:rPr lang="en-US" sz="920" dirty="0">
                <a:solidFill>
                  <a:srgbClr val="9ECBFF"/>
                </a:solidFill>
                <a:latin typeface="Courier New" pitchFamily="34" charset="0"/>
                <a:ea typeface="Courier New" pitchFamily="34" charset="-122"/>
                <a:cs typeface="Courier New" pitchFamily="34" charset="-120"/>
              </a:rPr>
              <a:t>'COINBASE_MATURITY'</a:t>
            </a:r>
            <a:r>
              <a:rPr lang="en-US" sz="920" dirty="0">
                <a:solidFill>
                  <a:srgbClr val="E6EDF3"/>
                </a:solidFill>
                <a:latin typeface="Courier New" pitchFamily="34" charset="0"/>
                <a:ea typeface="Courier New" pitchFamily="34" charset="-122"/>
                <a:cs typeface="Courier New" pitchFamily="34" charset="-120"/>
              </a:rPr>
              <a:t>), m[</a:t>
            </a:r>
            <a:r>
              <a:rPr lang="en-US" sz="920" dirty="0">
                <a:solidFill>
                  <a:srgbClr val="9ECBFF"/>
                </a:solidFill>
                <a:latin typeface="Courier New" pitchFamily="34" charset="0"/>
                <a:ea typeface="Courier New" pitchFamily="34" charset="-122"/>
                <a:cs typeface="Courier New" pitchFamily="34" charset="-120"/>
              </a:rPr>
              <a:t>'confirmations_99'</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m[</a:t>
            </a:r>
            <a:r>
              <a:rPr lang="en-US" sz="920" dirty="0">
                <a:solidFill>
                  <a:srgbClr val="9ECBFF"/>
                </a:solidFill>
                <a:latin typeface="Courier New" pitchFamily="34" charset="0"/>
                <a:ea typeface="Courier New" pitchFamily="34" charset="-122"/>
                <a:cs typeface="Courier New" pitchFamily="34" charset="-120"/>
              </a:rPr>
              <a:t>'confirmations_100'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('100', False,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m[</a:t>
            </a:r>
            <a:r>
              <a:rPr lang="en-US" sz="920" dirty="0">
                <a:solidFill>
                  <a:srgbClr val="9ECBFF"/>
                </a:solidFill>
                <a:latin typeface="Courier New" pitchFamily="34" charset="0"/>
                <a:ea typeface="Courier New" pitchFamily="34" charset="-122"/>
                <a:cs typeface="Courier New" pitchFamily="34" charset="-120"/>
              </a:rPr>
              <a:t>'confirmations_99'</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'reject-details'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'bad-txns-premature-spend-of-coinbase, tried to spend coinbase at depth 99'</a:t>
            </a:r>
            <a:endParaRPr lang="en-US" sz="92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chain stood at height 971,537 on the day of the census, 18.5 years of blocks; a new regtest has 0</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since BIP 34 every coinbase starts with its own height as a script number; all heights decoded back</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coinbase can be spent after 100 blocks; at depth 99 the node refuses it</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Height is a count, not a name; a reward matures after 100 blocks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Back-links make the history hard to change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layers in a glacier: disturb an old layer and every later one is disturbed</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3 changed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its hash changes</a:t>
            </a:r>
            <a:endParaRPr lang="en-US" sz="105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4</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its link breaks</a:t>
            </a:r>
            <a:endParaRPr lang="en-US" sz="105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Blocks 5 to 9</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all must be re-mined</a:t>
            </a:r>
            <a:endParaRPr lang="en-US" sz="105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hs = R[</a:t>
            </a:r>
            <a:r>
              <a:rPr lang="en-US" sz="880" dirty="0">
                <a:solidFill>
                  <a:srgbClr val="9ECBFF"/>
                </a:solidFill>
                <a:latin typeface="Courier New" pitchFamily="34" charset="0"/>
                <a:ea typeface="Courier New" pitchFamily="34" charset="-122"/>
                <a:cs typeface="Courier New" pitchFamily="34" charset="-120"/>
              </a:rPr>
              <a:t>'b3_headers_480_489'</a:t>
            </a:r>
            <a:r>
              <a:rPr lang="en-US" sz="880" dirty="0">
                <a:solidFill>
                  <a:srgbClr val="E6EDF3"/>
                </a:solidFill>
                <a:latin typeface="Courier New" pitchFamily="34" charset="0"/>
                <a:ea typeface="Courier New" pitchFamily="34" charset="-122"/>
                <a:cs typeface="Courier New" pitchFamily="34" charset="-120"/>
              </a:rPr>
              <a:t>]; p = [L.header(h)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h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hs]; w = R[</a:t>
            </a:r>
            <a:r>
              <a:rPr lang="en-US" sz="880" dirty="0">
                <a:solidFill>
                  <a:srgbClr val="9ECBFF"/>
                </a:solidFill>
                <a:latin typeface="Courier New" pitchFamily="34" charset="0"/>
                <a:ea typeface="Courier New" pitchFamily="34" charset="-122"/>
                <a:cs typeface="Courier New" pitchFamily="34" charset="-120"/>
              </a:rPr>
              <a:t>'b3_chainwork'</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[p[i][</a:t>
            </a:r>
            <a:r>
              <a:rPr lang="en-US" sz="880" dirty="0">
                <a:solidFill>
                  <a:srgbClr val="9ECBFF"/>
                </a:solidFill>
                <a:latin typeface="Courier New" pitchFamily="34" charset="0"/>
                <a:ea typeface="Courier New" pitchFamily="34" charset="-122"/>
                <a:cs typeface="Courier New" pitchFamily="34" charset="-120"/>
              </a:rPr>
              <a:t>'prev'</a:t>
            </a:r>
            <a:r>
              <a:rPr lang="en-US" sz="880" dirty="0">
                <a:solidFill>
                  <a:srgbClr val="E6EDF3"/>
                </a:solidFill>
                <a:latin typeface="Courier New" pitchFamily="34" charset="0"/>
                <a:ea typeface="Courier New" pitchFamily="34" charset="-122"/>
                <a:cs typeface="Courier New" pitchFamily="34" charset="-120"/>
              </a:rPr>
              <a:t>] == p[i - </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i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range(</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10</a:t>
            </a:r>
            <a:r>
              <a:rPr lang="en-US" sz="880" dirty="0">
                <a:solidFill>
                  <a:srgbClr val="E6EDF3"/>
                </a:solidFill>
                <a:latin typeface="Courier New" pitchFamily="34" charset="0"/>
                <a:ea typeface="Courier New" pitchFamily="34" charset="-122"/>
                <a:cs typeface="Courier New" pitchFamily="34" charset="-120"/>
              </a:rPr>
              <a:t>)].count(</a:t>
            </a:r>
            <a:r>
              <a:rPr lang="en-US" sz="880" b="1" dirty="0">
                <a:solidFill>
                  <a:srgbClr val="F2A860"/>
                </a:solidFill>
                <a:latin typeface="Courier New" pitchFamily="34" charset="0"/>
                <a:ea typeface="Courier New" pitchFamily="34" charset="-122"/>
                <a:cs typeface="Courier New" pitchFamily="34" charset="-120"/>
              </a:rPr>
              <a:t>True</a:t>
            </a:r>
            <a:r>
              <a:rPr lang="en-US" sz="880" dirty="0">
                <a:solidFill>
                  <a:srgbClr val="E6EDF3"/>
                </a:solidFill>
                <a:latin typeface="Courier New" pitchFamily="34" charset="0"/>
                <a:ea typeface="Courier New" pitchFamily="34" charset="-122"/>
                <a:cs typeface="Courier New" pitchFamily="34" charset="-120"/>
              </a:rPr>
              <a:t>), len(p), p[</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'prev'</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 p[</a:t>
            </a:r>
            <a:r>
              <a:rPr lang="en-US" sz="880" dirty="0">
                <a:solidFill>
                  <a:srgbClr val="FFD28A"/>
                </a:solidFill>
                <a:latin typeface="Courier New" pitchFamily="34" charset="0"/>
                <a:ea typeface="Courier New" pitchFamily="34" charset="-122"/>
                <a:cs typeface="Courier New" pitchFamily="34" charset="-120"/>
              </a:rPr>
              <a:t>9</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(9, 10, '45097546', '2576afa6')</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L.tamper_chain(hs, </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 p[</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({'broken_links': [4], 'must_remine': 7, 'own_hash_changed': True}, '373ba4ce')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[int(w[str(i)], </a:t>
            </a:r>
            <a:r>
              <a:rPr lang="en-US" sz="880" dirty="0">
                <a:solidFill>
                  <a:srgbClr val="FFD28A"/>
                </a:solidFill>
                <a:latin typeface="Courier New" pitchFamily="34" charset="0"/>
                <a:ea typeface="Courier New" pitchFamily="34" charset="-122"/>
                <a:cs typeface="Courier New" pitchFamily="34" charset="-120"/>
              </a:rPr>
              <a:t>16</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i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range(</a:t>
            </a:r>
            <a:r>
              <a:rPr lang="en-US" sz="880" dirty="0">
                <a:solidFill>
                  <a:srgbClr val="FFD28A"/>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L.work(</a:t>
            </a:r>
            <a:r>
              <a:rPr lang="en-US" sz="880" dirty="0">
                <a:solidFill>
                  <a:srgbClr val="9ECBFF"/>
                </a:solidFill>
                <a:latin typeface="Courier New" pitchFamily="34" charset="0"/>
                <a:ea typeface="Courier New" pitchFamily="34" charset="-122"/>
                <a:cs typeface="Courier New" pitchFamily="34" charset="-120"/>
              </a:rPr>
              <a:t>'207fffff'</a:t>
            </a:r>
            <a:r>
              <a:rPr lang="en-US" sz="880" dirty="0">
                <a:solidFill>
                  <a:srgbClr val="E6EDF3"/>
                </a:solidFill>
                <a:latin typeface="Courier New" pitchFamily="34" charset="0"/>
                <a:ea typeface="Courier New" pitchFamily="34" charset="-122"/>
                <a:cs typeface="Courier New" pitchFamily="34" charset="-120"/>
              </a:rPr>
              <a:t>), int(R[</a:t>
            </a:r>
            <a:r>
              <a:rPr lang="en-US" sz="880" dirty="0">
                <a:solidFill>
                  <a:srgbClr val="9ECBFF"/>
                </a:solidFill>
                <a:latin typeface="Courier New" pitchFamily="34" charset="0"/>
                <a:ea typeface="Courier New" pitchFamily="34" charset="-122"/>
                <a:cs typeface="Courier New" pitchFamily="34" charset="-120"/>
              </a:rPr>
              <a:t>'b2_info'</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'chainwork'</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16</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 </a:t>
            </a:r>
            <a:r>
              <a:rPr lang="en-US" sz="880" dirty="0">
                <a:solidFill>
                  <a:srgbClr val="FFD28A"/>
                </a:solidFill>
                <a:latin typeface="Courier New" pitchFamily="34" charset="0"/>
                <a:ea typeface="Courier New" pitchFamily="34" charset="-122"/>
                <a:cs typeface="Courier New" pitchFamily="34" charset="-120"/>
              </a:rPr>
              <a:t>501</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([2, 4, 6, 8], 2, 1002, 1002)</a:t>
            </a:r>
            <a:endParaRPr lang="en-US" sz="88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in ten consecutive blocks, 9 of 9 previous-hash fields point to the hash of the block before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changing block 3 changes its own hash, breaks the link in block 4, and 7 blocks would have to be re-mined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 regtest each block adds work 2, so 501 blocks hold 1002; on the main chain it is far larger</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Changing one old block means mining it and all later blocks again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Forks: two children, one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branches on one trunk: the tree grows on along the stronger one</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two blocks were mined at height 511 on one parent: the same height, different children</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block built on one child makes it the active chain at 512; the other stays a valid fork</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from 6 blocks behind, an attacker with 10 percent catches up with chance 0.0002428, one with 30 percent 0.1321</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the formula of the paper</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 = R[</a:t>
            </a:r>
            <a:r>
              <a:rPr lang="en-US" sz="850" dirty="0">
                <a:solidFill>
                  <a:srgbClr val="9ECBFF"/>
                </a:solidFill>
                <a:latin typeface="Courier New" pitchFamily="34" charset="0"/>
                <a:ea typeface="Courier New" pitchFamily="34" charset="-122"/>
                <a:cs typeface="Courier New" pitchFamily="34" charset="-120"/>
              </a:rPr>
              <a:t>'b6_fork'</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a:t>
            </a:r>
            <a:r>
              <a:rPr lang="en-US" sz="850" dirty="0">
                <a:solidFill>
                  <a:srgbClr val="9ECBFF"/>
                </a:solidFill>
                <a:latin typeface="Courier New" pitchFamily="34" charset="0"/>
                <a:ea typeface="Courier New" pitchFamily="34" charset="-122"/>
                <a:cs typeface="Courier New" pitchFamily="34" charset="-120"/>
              </a:rPr>
              <a:t>'height1'</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'height2'</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'child1'</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'child2'</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'prev1'</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'prev2'</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'parent'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(511, 511, True,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a:t>
            </a:r>
            <a:r>
              <a:rPr lang="en-US" sz="850" dirty="0">
                <a:solidFill>
                  <a:srgbClr val="9ECBFF"/>
                </a:solidFill>
                <a:latin typeface="Courier New" pitchFamily="34" charset="0"/>
                <a:ea typeface="Courier New" pitchFamily="34" charset="-122"/>
                <a:cs typeface="Courier New" pitchFamily="34" charset="-120"/>
              </a:rPr>
              <a:t>'height'</a:t>
            </a:r>
            <a:r>
              <a:rPr lang="en-US" sz="850" dirty="0">
                <a:solidFill>
                  <a:srgbClr val="E6EDF3"/>
                </a:solidFill>
                <a:latin typeface="Courier New" pitchFamily="34" charset="0"/>
                <a:ea typeface="Courier New" pitchFamily="34" charset="-122"/>
                <a:cs typeface="Courier New" pitchFamily="34" charset="-120"/>
              </a:rPr>
              <a:t>], t[</a:t>
            </a:r>
            <a:r>
              <a:rPr lang="en-US" sz="850" dirty="0">
                <a:solidFill>
                  <a:srgbClr val="9ECBFF"/>
                </a:solidFill>
                <a:latin typeface="Courier New" pitchFamily="34" charset="0"/>
                <a:ea typeface="Courier New" pitchFamily="34" charset="-122"/>
                <a:cs typeface="Courier New" pitchFamily="34" charset="-120"/>
              </a:rPr>
              <a:t>'branchlen'</a:t>
            </a:r>
            <a:r>
              <a:rPr lang="en-US" sz="850" dirty="0">
                <a:solidFill>
                  <a:srgbClr val="E6EDF3"/>
                </a:solidFill>
                <a:latin typeface="Courier New" pitchFamily="34" charset="0"/>
                <a:ea typeface="Courier New" pitchFamily="34" charset="-122"/>
                <a:cs typeface="Courier New" pitchFamily="34" charset="-120"/>
              </a:rPr>
              <a:t>], t[</a:t>
            </a:r>
            <a:r>
              <a:rPr lang="en-US" sz="850" dirty="0">
                <a:solidFill>
                  <a:srgbClr val="9ECBFF"/>
                </a:solidFill>
                <a:latin typeface="Courier New" pitchFamily="34" charset="0"/>
                <a:ea typeface="Courier New" pitchFamily="34" charset="-122"/>
                <a:cs typeface="Courier New" pitchFamily="34" charset="-120"/>
              </a:rPr>
              <a:t>'status'</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'tips_after'</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'active_is'</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'extension'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([(512, 0, 'active'), (511, 1, 'valid-fork')],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[round(L.catchup(</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z), </a:t>
            </a:r>
            <a:r>
              <a:rPr lang="en-US" sz="850" dirty="0">
                <a:solidFill>
                  <a:srgbClr val="FFD28A"/>
                </a:solidFill>
                <a:latin typeface="Courier New" pitchFamily="34" charset="0"/>
                <a:ea typeface="Courier New" pitchFamily="34" charset="-122"/>
                <a:cs typeface="Courier New" pitchFamily="34" charset="-120"/>
              </a:rPr>
              <a:t>7</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round(L.catchup(</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 0.2045873, 0.0509779, 0.0002428], 0.1321)</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fork is settled by more work, and an old block is soon safe</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Merkle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one 32-byte root vouches for every transaction in a block, and where the tree is weak.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Building the tree</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a short path</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weaknesses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Ralph Merkle</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merkle tree: many transactions, one 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knockout draw: pairs are matched until one name is left at the top</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transactions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4 hashes</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pairs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 hashes</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root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32 bytes, in the header</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b = R[</a:t>
            </a:r>
            <a:r>
              <a:rPr lang="en-US" sz="880" dirty="0">
                <a:solidFill>
                  <a:srgbClr val="9ECBFF"/>
                </a:solidFill>
                <a:latin typeface="Courier New" pitchFamily="34" charset="0"/>
                <a:ea typeface="Courier New" pitchFamily="34" charset="-122"/>
                <a:cs typeface="Courier New" pitchFamily="34" charset="-120"/>
              </a:rPr>
              <a:t>'b4_blocks'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i = [bytes.fromhex(t)[::-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t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b[</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h = L.sha256d</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[len(l)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l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L.merkle_levels(b[</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h(h(i[</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 i[</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 h(i[</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 i[</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].hex() == b[</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([4, 2, 1], 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o = R[</a:t>
            </a:r>
            <a:r>
              <a:rPr lang="en-US" sz="880" dirty="0">
                <a:solidFill>
                  <a:srgbClr val="9ECBFF"/>
                </a:solidFill>
                <a:latin typeface="Courier New" pitchFamily="34" charset="0"/>
                <a:ea typeface="Courier New" pitchFamily="34" charset="-122"/>
                <a:cs typeface="Courier New" pitchFamily="34" charset="-120"/>
              </a:rPr>
              <a:t>'b4_blocks'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[len(l)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l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L.merkle_levels(o[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L.merkle_root(o[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([3, 2, 1], 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L.merkle_root(o[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four transactions give levels of 4, 2 and 1 hashes, and hashing the two pairs gives the header's root</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three transactions give levels 3, 2 and 1: the last hash is paired with itself; the root is the header's</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adding a copy of the last transaction gives the same root, so the odd one is simply duplicated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Pairs are hashed upward; an odd hash is paired with itself</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merkle proof is a short path of hashes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checking a ledger page against a signed total using only the subtotals beside it</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to prove transaction 10 of 16 only 4 hashes are needed, 128 bytes, and they lead back to the root</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path grows with the logarithm: 320, 384 and 448 bytes for 1,024, 4,096 and 16,000 transactions</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with the 80-byte header a proof is 528 bytes, so a full block is 7,576 times larger, not 10,000</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sizes follow from the depth</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 = R[</a:t>
            </a:r>
            <a:r>
              <a:rPr lang="en-US" sz="850" dirty="0">
                <a:solidFill>
                  <a:srgbClr val="9ECBFF"/>
                </a:solidFill>
                <a:latin typeface="Courier New" pitchFamily="34" charset="0"/>
                <a:ea typeface="Courier New" pitchFamily="34" charset="-122"/>
                <a:cs typeface="Courier New" pitchFamily="34" charset="-120"/>
              </a:rPr>
              <a:t>'b4_blocks'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 ids = b[</a:t>
            </a:r>
            <a:r>
              <a:rPr lang="en-US" sz="850" dirty="0">
                <a:solidFill>
                  <a:srgbClr val="9ECBFF"/>
                </a:solidFill>
                <a:latin typeface="Courier New" pitchFamily="34" charset="0"/>
                <a:ea typeface="Courier New" pitchFamily="34" charset="-122"/>
                <a:cs typeface="Courier New" pitchFamily="34" charset="-120"/>
              </a:rPr>
              <a:t>'txids'</a:t>
            </a:r>
            <a:r>
              <a:rPr lang="en-US" sz="850" dirty="0">
                <a:solidFill>
                  <a:srgbClr val="E6EDF3"/>
                </a:solidFill>
                <a:latin typeface="Courier New" pitchFamily="34" charset="0"/>
                <a:ea typeface="Courier New" pitchFamily="34" charset="-122"/>
                <a:cs typeface="Courier New" pitchFamily="34" charset="-120"/>
              </a:rPr>
              <a:t>]; p = L.merkle_path(ids,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len(p), </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 len(p), [r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s, r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 L.follow_path(ids[</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p) == b[</a:t>
            </a:r>
            <a:r>
              <a:rPr lang="en-US" sz="850" dirty="0">
                <a:solidFill>
                  <a:srgbClr val="9ECBFF"/>
                </a:solidFill>
                <a:latin typeface="Courier New" pitchFamily="34" charset="0"/>
                <a:ea typeface="Courier New" pitchFamily="34" charset="-122"/>
                <a:cs typeface="Courier New" pitchFamily="34" charset="-120"/>
              </a:rPr>
              <a:t>'merkleroot'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 128, [True, False, True,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L.depth(n), </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 L.depth(n))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1024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4096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16000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[(1024, 10, 320), (4096, 12, 384), (16000, 14, 448)]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448</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250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448</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(7576, 5141, 400)</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proof is a few hashes, and the book's ratio of 10,000 is 7,576</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weaknesses of the merkle tree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different shopping lists that give the same receipt total</a:t>
            </a:r>
            <a:endParaRPr lang="en-US" sz="1300" dirty="0"/>
          </a:p>
        </p:txBody>
      </p:sp>
      <p:sp>
        <p:nvSpPr>
          <p:cNvPr id="6" name="Shape 4"/>
          <p:cNvSpPr/>
          <p:nvPr/>
        </p:nvSpPr>
        <p:spPr>
          <a:xfrm>
            <a:off x="457200" y="1161288"/>
            <a:ext cx="168272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CVE-2012-2459</a:t>
            </a:r>
            <a:endParaRPr lang="en-US" sz="950" dirty="0"/>
          </a:p>
        </p:txBody>
      </p:sp>
      <p:sp>
        <p:nvSpPr>
          <p:cNvPr id="8" name="Shape 6"/>
          <p:cNvSpPr/>
          <p:nvPr/>
        </p:nvSpPr>
        <p:spPr>
          <a:xfrm>
            <a:off x="2341093" y="1161288"/>
            <a:ext cx="288150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341093"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the last hash is repeated</a:t>
            </a:r>
            <a:endParaRPr lang="en-US" sz="950" dirty="0"/>
          </a:p>
        </p:txBody>
      </p:sp>
      <p:sp>
        <p:nvSpPr>
          <p:cNvPr id="10" name="Shape 8"/>
          <p:cNvSpPr/>
          <p:nvPr/>
        </p:nvSpPr>
        <p:spPr>
          <a:xfrm>
            <a:off x="5423764" y="1161288"/>
            <a:ext cx="238201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64-byte transactions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54 passage is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ids = [L.sha256d(bytes([i])).hex() </a:t>
            </a:r>
            <a:r>
              <a:rPr lang="en-US" sz="870" b="1" dirty="0">
                <a:solidFill>
                  <a:srgbClr val="F2A860"/>
                </a:solidFill>
                <a:latin typeface="Courier New" pitchFamily="34" charset="0"/>
                <a:ea typeface="Courier New" pitchFamily="34" charset="-122"/>
                <a:cs typeface="Courier New" pitchFamily="34" charset="-120"/>
              </a:rPr>
              <a:t>for</a:t>
            </a:r>
            <a:r>
              <a:rPr lang="en-US" sz="870" dirty="0">
                <a:solidFill>
                  <a:srgbClr val="E6EDF3"/>
                </a:solidFill>
                <a:latin typeface="Courier New" pitchFamily="34" charset="0"/>
                <a:ea typeface="Courier New" pitchFamily="34" charset="-122"/>
                <a:cs typeface="Courier New" pitchFamily="34" charset="-120"/>
              </a:rPr>
              <a:t> i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range(</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7</a:t>
            </a:r>
            <a:r>
              <a:rPr lang="en-US" sz="870" dirty="0">
                <a:solidFill>
                  <a:srgbClr val="E6EDF3"/>
                </a:solidFill>
                <a:latin typeface="Courier New" pitchFamily="34" charset="0"/>
                <a:ea typeface="Courier New" pitchFamily="34" charset="-122"/>
                <a:cs typeface="Courier New" pitchFamily="34" charset="-120"/>
              </a:rPr>
              <a:t>)]; b = ids + [ids[</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ids[</a:t>
            </a:r>
            <a:r>
              <a:rPr lang="en-US" sz="870" dirty="0">
                <a:solidFill>
                  <a:srgbClr val="FFD28A"/>
                </a:solidFill>
                <a:latin typeface="Courier New" pitchFamily="34" charset="0"/>
                <a:ea typeface="Courier New" pitchFamily="34" charset="-122"/>
                <a:cs typeface="Courier New" pitchFamily="34" charset="-120"/>
              </a:rPr>
              <a:t>5</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L.merkle_root(ids) == L.merkle_root(b), len(ids), len(b)</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(True, 6, 8)</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 k = R[</a:t>
            </a:r>
            <a:r>
              <a:rPr lang="en-US" sz="870" dirty="0">
                <a:solidFill>
                  <a:srgbClr val="9ECBFF"/>
                </a:solidFill>
                <a:latin typeface="Courier New" pitchFamily="34" charset="0"/>
                <a:ea typeface="Courier New" pitchFamily="34" charset="-122"/>
                <a:cs typeface="Courier New" pitchFamily="34" charset="-120"/>
              </a:rPr>
              <a:t>'b5_mutation'</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'b4_blocks'</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'txids'</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a:t>
            </a:r>
            <a:r>
              <a:rPr lang="en-US" sz="870" dirty="0">
                <a:solidFill>
                  <a:srgbClr val="9ECBFF"/>
                </a:solidFill>
                <a:latin typeface="Courier New" pitchFamily="34" charset="0"/>
                <a:ea typeface="Courier New" pitchFamily="34" charset="-122"/>
                <a:cs typeface="Courier New" pitchFamily="34" charset="-120"/>
              </a:rPr>
              <a:t>'n_original'</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'n_mutated'</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'same_header'</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'submit_mutated'</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'submit_original'</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'tip_is_original'</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 4, True, {'ok': 'bad-txns-duplicate'}, {'ok': ''},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len(bytes.fromhex(k[</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 + bytes.fromhex(k[</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240</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seen(</a:t>
            </a:r>
            <a:r>
              <a:rPr lang="en-US" sz="870" dirty="0">
                <a:solidFill>
                  <a:srgbClr val="9ECBFF"/>
                </a:solidFill>
                <a:latin typeface="Courier New" pitchFamily="34" charset="0"/>
                <a:ea typeface="Courier New" pitchFamily="34" charset="-122"/>
                <a:cs typeface="Courier New" pitchFamily="34" charset="-120"/>
              </a:rPr>
              <a:t>'bip-0054.md'</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'exactly 64 bytes are invalid'</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(64, 60, True)</a:t>
            </a:r>
            <a:endParaRPr lang="en-US" sz="87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six transactions and the same six with the last two repeated give one root: two blocks, one header</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given the 4-transaction version of a 3-transaction block, the node refused it and kept the original</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an inner node is the hash of 64 bytes; BIP 54 makes a 64-byte transaction invalid so none can pose as one</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tree has two known weaknesses, and the node defends against both</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small hash that vouches for a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5 January 1982: who, where, when and what to read next</a:t>
            </a:r>
            <a:endParaRPr lang="en-US" sz="1300" dirty="0"/>
          </a:p>
        </p:txBody>
      </p:sp>
      <p:pic>
        <p:nvPicPr>
          <p:cNvPr id="6" name="Image 0" descr="../../03-materials/ch11/assets/photo_ralph_merk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Ralph Merkle - david.orban (Flickr),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5 January 1982 United States patent 4309569 is published: Ralph Merkle's hash tree, assigned to Stanford University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 had described tree authentication in 1980; Nakamoto's paper keeps only the root of such a tree in each header</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40 transactions of block 277,315 hash up to the root in its header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a real block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seen(</a:t>
            </a:r>
            <a:r>
              <a:rPr lang="en-US" sz="730" dirty="0">
                <a:solidFill>
                  <a:srgbClr val="9ECBFF"/>
                </a:solidFill>
                <a:latin typeface="Courier New" pitchFamily="34" charset="0"/>
                <a:ea typeface="Courier New" pitchFamily="34" charset="-122"/>
                <a:cs typeface="Courier New" pitchFamily="34" charset="-120"/>
              </a:rPr>
              <a:t>'wikipedia_merkle_tree.html'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'patent 4309569'</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ids = L.jload(</a:t>
            </a:r>
            <a:r>
              <a:rPr lang="en-US" sz="730" dirty="0">
                <a:solidFill>
                  <a:srgbClr val="9ECBFF"/>
                </a:solidFill>
                <a:latin typeface="Courier New" pitchFamily="34" charset="0"/>
                <a:ea typeface="Courier New" pitchFamily="34" charset="-122"/>
                <a:cs typeface="Courier New" pitchFamily="34" charset="-120"/>
              </a:rPr>
              <a:t>'mempool_txids_277315.json'</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L.merkle_root(ids) == L.header(L.raw(</a:t>
            </a:r>
            <a:r>
              <a:rPr lang="en-US" sz="730" dirty="0">
                <a:solidFill>
                  <a:srgbClr val="9ECBFF"/>
                </a:solidFill>
                <a:latin typeface="Courier New" pitchFamily="34" charset="0"/>
                <a:ea typeface="Courier New" pitchFamily="34" charset="-122"/>
                <a:cs typeface="Courier New" pitchFamily="34" charset="-120"/>
              </a:rPr>
              <a:t>'mempool_header_277315.txt'</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'merkle'</a:t>
            </a:r>
            <a:r>
              <a:rPr lang="en-US" sz="730" dirty="0">
                <a:solidFill>
                  <a:srgbClr val="E6EDF3"/>
                </a:solidFill>
                <a:latin typeface="Courier New" pitchFamily="34" charset="0"/>
                <a:ea typeface="Courier New" pitchFamily="34" charset="-122"/>
                <a:cs typeface="Courier New" pitchFamily="34" charset="-120"/>
              </a:rPr>
              <a:t>], len(ids)</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 40)</a:t>
            </a:r>
            <a:endParaRPr lang="en-US" sz="73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Ralph Merkle, the cryptographer who pa…</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Stanford University in California; Uni…</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1982-01-05</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Test blockchains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Practice chains where coins cost nothing: testnet, signet and regtest, and their rules.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Several chains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Testnet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Signet</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Several chains, one code base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flight simulator, a training pitch and the match: same rules, different stakes</a:t>
            </a:r>
            <a:endParaRPr lang="en-US" sz="1300" dirty="0"/>
          </a:p>
        </p:txBody>
      </p:sp>
      <p:sp>
        <p:nvSpPr>
          <p:cNvPr id="6" name="Shape 4"/>
          <p:cNvSpPr/>
          <p:nvPr/>
        </p:nvSpPr>
        <p:spPr>
          <a:xfrm>
            <a:off x="457200" y="1161288"/>
            <a:ext cx="1183234"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18323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 chains</a:t>
            </a:r>
            <a:endParaRPr lang="en-US" sz="950" dirty="0"/>
          </a:p>
        </p:txBody>
      </p:sp>
      <p:sp>
        <p:nvSpPr>
          <p:cNvPr id="8" name="Shape 6"/>
          <p:cNvSpPr/>
          <p:nvPr/>
        </p:nvSpPr>
        <p:spPr>
          <a:xfrm>
            <a:off x="1841602" y="1161288"/>
            <a:ext cx="228211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1841602" y="1161288"/>
            <a:ext cx="228211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ports 8333 to 48333</a:t>
            </a:r>
            <a:endParaRPr lang="en-US" sz="950" dirty="0"/>
          </a:p>
        </p:txBody>
      </p:sp>
      <p:sp>
        <p:nvSpPr>
          <p:cNvPr id="10" name="Shape 8"/>
          <p:cNvSpPr/>
          <p:nvPr/>
        </p:nvSpPr>
        <p:spPr>
          <a:xfrm>
            <a:off x="4324883" y="1161288"/>
            <a:ext cx="348089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324883" y="1161288"/>
            <a:ext cx="348089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regtest halves every 150 blocks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chain parameters are saved from chainparams.cpp</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n = R[</a:t>
            </a:r>
            <a:r>
              <a:rPr lang="en-US" sz="1000" dirty="0">
                <a:solidFill>
                  <a:srgbClr val="9ECBFF"/>
                </a:solidFill>
                <a:latin typeface="Courier New" pitchFamily="34" charset="0"/>
                <a:ea typeface="Courier New" pitchFamily="34" charset="-122"/>
                <a:cs typeface="Courier New" pitchFamily="34" charset="-120"/>
              </a:rPr>
              <a:t>'b9_chains'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[L.chain_facts(k)[</a:t>
            </a:r>
            <a:r>
              <a:rPr lang="en-US" sz="1000" dirty="0">
                <a:solidFill>
                  <a:srgbClr val="9ECBFF"/>
                </a:solidFill>
                <a:latin typeface="Courier New" pitchFamily="34" charset="0"/>
                <a:ea typeface="Courier New" pitchFamily="34" charset="-122"/>
                <a:cs typeface="Courier New" pitchFamily="34" charset="-120"/>
              </a:rPr>
              <a:t>'port'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 [L.chain_facts(k)[</a:t>
            </a:r>
            <a:r>
              <a:rPr lang="en-US" sz="1000" dirty="0">
                <a:solidFill>
                  <a:srgbClr val="9ECBFF"/>
                </a:solidFill>
                <a:latin typeface="Courier New" pitchFamily="34" charset="0"/>
                <a:ea typeface="Courier New" pitchFamily="34" charset="-122"/>
                <a:cs typeface="Courier New" pitchFamily="34" charset="-120"/>
              </a:rPr>
              <a:t>'assumed_gb'</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([8333, 18333, 48333, 38333, 18444], [856, 245, 31, 24, 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a: (a[</a:t>
            </a:r>
            <a:r>
              <a:rPr lang="en-US" sz="1000" dirty="0">
                <a:solidFill>
                  <a:srgbClr val="9ECBFF"/>
                </a:solidFill>
                <a:latin typeface="Courier New" pitchFamily="34" charset="0"/>
                <a:ea typeface="Courier New" pitchFamily="34" charset="-122"/>
                <a:cs typeface="Courier New" pitchFamily="34" charset="-120"/>
              </a:rPr>
              <a:t>'legacy'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'p2sh-segwit'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][:a[</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].index(</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a:t>
            </a:r>
            <a:r>
              <a:rPr lang="en-US" sz="1000" dirty="0">
                <a:solidFill>
                  <a:srgbClr val="9ECBFF"/>
                </a:solidFill>
                <a:latin typeface="Courier New" pitchFamily="34" charset="0"/>
                <a:ea typeface="Courier New" pitchFamily="34" charset="-122"/>
                <a:cs typeface="Courier New" pitchFamily="34" charset="-120"/>
              </a:rPr>
              <a:t>'b8_regtest_addresses'</a:t>
            </a:r>
            <a:r>
              <a:rPr lang="en-US" sz="1000" dirty="0">
                <a:solidFill>
                  <a:srgbClr val="E6EDF3"/>
                </a:solidFill>
                <a:latin typeface="Courier New" pitchFamily="34" charset="0"/>
                <a:ea typeface="Courier New" pitchFamily="34" charset="-122"/>
                <a:cs typeface="Courier New" pitchFamily="34" charset="-120"/>
              </a:rPr>
              <a:t>]), f(c[</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'addresses'</a:t>
            </a:r>
            <a:r>
              <a:rPr lang="en-US" sz="1000" dirty="0">
                <a:solidFill>
                  <a:srgbClr val="E6EDF3"/>
                </a:solidFill>
                <a:latin typeface="Courier New" pitchFamily="34" charset="0"/>
                <a:ea typeface="Courier New" pitchFamily="34" charset="-122"/>
                <a:cs typeface="Courier New" pitchFamily="34" charset="-120"/>
              </a:rPr>
              <a:t>]), f(c[</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'addresses'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 '2', 'bcrt1q'), ('m', '2', 'tb1q'), ('m', '2', 'tb1q'))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L.chain_facts(k)[</a:t>
            </a:r>
            <a:r>
              <a:rPr lang="en-US" sz="1000" dirty="0">
                <a:solidFill>
                  <a:srgbClr val="9ECBFF"/>
                </a:solidFill>
                <a:latin typeface="Courier New" pitchFamily="34" charset="0"/>
                <a:ea typeface="Courier New" pitchFamily="34" charset="-122"/>
                <a:cs typeface="Courier New" pitchFamily="34" charset="-120"/>
              </a:rPr>
              <a:t>'halving'</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'b2_balance'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'b1_datadir'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([('main', 210000), ('regtest', 150)], 12462.5, ['regtest'])</a:t>
            </a:r>
            <a:endParaRPr lang="en-US" sz="100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078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574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the five chains use ports 8333, 18333, 48333, 38333 and 18444, and assume 856, 245, 31, 24 and 0 GB</a:t>
            </a:r>
            <a:endParaRPr lang="en-US" sz="950" dirty="0"/>
          </a:p>
        </p:txBody>
      </p:sp>
      <p:sp>
        <p:nvSpPr>
          <p:cNvPr id="18" name="Shape 16"/>
          <p:cNvSpPr/>
          <p:nvPr/>
        </p:nvSpPr>
        <p:spPr>
          <a:xfrm>
            <a:off x="457200" y="41765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7660"/>
            <a:ext cx="7955280" cy="20574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all test chains use the prefix 2 for script addresses, and tb1 or bcrt1 for bech32, not only m, n and tb1 as the book says</a:t>
            </a:r>
            <a:endParaRPr lang="en-US" sz="950" dirty="0"/>
          </a:p>
        </p:txBody>
      </p:sp>
      <p:sp>
        <p:nvSpPr>
          <p:cNvPr id="20" name="Text 18"/>
          <p:cNvSpPr txBox="1"/>
          <p:nvPr/>
        </p:nvSpPr>
        <p:spPr>
          <a:xfrm>
            <a:off x="457200" y="4370832"/>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raw TCP to mainnet, testnet and signet peers, and the mainnet download.</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program runs five chains; the prefixes are more than the book lists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Testnet: flooded, then replaced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Testnet3 is far past one block in ten minutes, and testnet4 follows BIP 94</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testnet3 is at height 5,189,394, 6.3 times the 825,696 of one block in ten minutes; Core assumes 245 GB for it, the book says 30</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testnet3, testnet4 and regtest allow minimum-difficulty blocks after 20 idle minutes; Core 31.1 warns that testnet3 will go</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syncing testnet3 or testnet4; the heights are public figures saved from mempool.space</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chain parameters and heights saved from mempool.space</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d = tip(</a:t>
            </a:r>
            <a:r>
              <a:rPr lang="en-US" sz="850" dirty="0">
                <a:solidFill>
                  <a:srgbClr val="9ECBFF"/>
                </a:solidFill>
                <a:latin typeface="Courier New" pitchFamily="34" charset="0"/>
                <a:ea typeface="Courier New" pitchFamily="34" charset="-122"/>
                <a:cs typeface="Courier New" pitchFamily="34" charset="-120"/>
              </a:rPr>
              <a:t>'testnet3'</a:t>
            </a:r>
            <a:r>
              <a:rPr lang="en-US" sz="850" dirty="0">
                <a:solidFill>
                  <a:srgbClr val="E6EDF3"/>
                </a:solidFill>
                <a:latin typeface="Courier New" pitchFamily="34" charset="0"/>
                <a:ea typeface="Courier New" pitchFamily="34" charset="-122"/>
                <a:cs typeface="Courier New" pitchFamily="34" charset="-120"/>
              </a:rPr>
              <a:t>), age(</a:t>
            </a:r>
            <a:r>
              <a:rPr lang="en-US" sz="850" dirty="0">
                <a:solidFill>
                  <a:srgbClr val="FFD28A"/>
                </a:solidFill>
                <a:latin typeface="Courier New" pitchFamily="34" charset="0"/>
                <a:ea typeface="Courier New" pitchFamily="34" charset="-122"/>
                <a:cs typeface="Courier New" pitchFamily="34" charset="-120"/>
              </a:rPr>
              <a:t>2011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d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round(n / (d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tip(</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(5189394, 825696, 6.3, 156618)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 L.chain_facts(k)[</a:t>
            </a:r>
            <a:r>
              <a:rPr lang="en-US" sz="850" dirty="0">
                <a:solidFill>
                  <a:srgbClr val="9ECBFF"/>
                </a:solidFill>
                <a:latin typeface="Courier New" pitchFamily="34" charset="0"/>
                <a:ea typeface="Courier New" pitchFamily="34" charset="-122"/>
                <a:cs typeface="Courier New" pitchFamily="34" charset="-120"/>
              </a:rPr>
              <a:t>'min_diff'</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'main'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'test'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'signet'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'regtest'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{'main': False, 'test': True, 'testnet4': True, 'signet': False, 'regtest':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'bitcoind_help_31.1.txt'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'Support for testnet3 is deprecated'</a:t>
            </a:r>
            <a:r>
              <a:rPr lang="en-US" sz="850" dirty="0">
                <a:solidFill>
                  <a:srgbClr val="E6EDF3"/>
                </a:solidFill>
                <a:latin typeface="Courier New" pitchFamily="34" charset="0"/>
                <a:ea typeface="Courier New" pitchFamily="34" charset="-122"/>
                <a:cs typeface="Courier New" pitchFamily="34" charset="-120"/>
              </a:rPr>
              <a:t>), L.chainparams_genesis(</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'00000000da84f2ba')</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Testnet3 was flooded; testnet4 has rules against it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sandbox was flooded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4 May 2024: who, where, when and what to read next</a:t>
            </a:r>
            <a:endParaRPr lang="en-US" sz="1300" dirty="0"/>
          </a:p>
        </p:txBody>
      </p:sp>
      <p:pic>
        <p:nvPicPr>
          <p:cNvPr id="6" name="Image 0" descr="../../03-materials/ch11/assets/photo_children_sandpi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Children in a sandpit - Shixart1985,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4 May 2024 Jameson Lopp describes how the minimum-difficulty rule lets miners make hundreds of testnet3 blocks a day</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BIP 94, by Fabian Jahr, bounds the time of a period's first block; Core 28.0 adds testnet4 (row 4)</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BIP 94 says three years of blocks were mined in weeks (row 1); NOT EXECUTED: syncing testnet3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heights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'bip-0094.mediawiki'</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'worth of blocks were mined in a few weeks'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t3, t4 = tip(</a:t>
            </a:r>
            <a:r>
              <a:rPr lang="en-US" sz="850" dirty="0">
                <a:solidFill>
                  <a:srgbClr val="9ECBFF"/>
                </a:solidFill>
                <a:latin typeface="Courier New" pitchFamily="34" charset="0"/>
                <a:ea typeface="Courier New" pitchFamily="34" charset="-122"/>
                <a:cs typeface="Courier New" pitchFamily="34" charset="-120"/>
              </a:rPr>
              <a:t>'testnet3'</a:t>
            </a:r>
            <a:r>
              <a:rPr lang="en-US" sz="850" dirty="0">
                <a:solidFill>
                  <a:srgbClr val="E6EDF3"/>
                </a:solidFill>
                <a:latin typeface="Courier New" pitchFamily="34" charset="0"/>
                <a:ea typeface="Courier New" pitchFamily="34" charset="-122"/>
                <a:cs typeface="Courier New" pitchFamily="34" charset="-120"/>
              </a:rPr>
              <a:t>), tip(</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t3, t4, round(t3 / t4)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(5189394, 156618, 33)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'core_relnotes_28.0.md'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'Support for Testnet4 as specified 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Jameson Lopp, who wrote the blog post,…</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blog of Jameson Lopp, the bitcoin/…</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2024-05-04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sandpit, not the testnet.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Signet: blocks need a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club with a doorman: only someone he knows may open the door</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challenge: 1 of 2 keys</a:t>
            </a:r>
            <a:endParaRPr lang="en-US" sz="950" dirty="0"/>
          </a:p>
        </p:txBody>
      </p:sp>
      <p:sp>
        <p:nvSpPr>
          <p:cNvPr id="8" name="Shape 6"/>
          <p:cNvSpPr/>
          <p:nvPr/>
        </p:nvSpPr>
        <p:spPr>
          <a:xfrm>
            <a:off x="3240176" y="1161288"/>
            <a:ext cx="178262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magic 0a03cf40</a:t>
            </a:r>
            <a:endParaRPr lang="en-US" sz="950" dirty="0"/>
          </a:p>
        </p:txBody>
      </p:sp>
      <p:sp>
        <p:nvSpPr>
          <p:cNvPr id="10" name="Shape 8"/>
          <p:cNvSpPr/>
          <p:nvPr/>
        </p:nvSpPr>
        <p:spPr>
          <a:xfrm>
            <a:off x="5223967" y="1161288"/>
            <a:ext cx="298140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223967" y="1161288"/>
            <a:ext cx="298140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challenge 51: anyone signs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signet height is a public figure saved from mempool.space</a:t>
            </a:r>
            <a:endParaRPr lang="en-US" sz="1150" dirty="0"/>
          </a:p>
        </p:txBody>
      </p:sp>
      <p:sp>
        <p:nvSpPr>
          <p:cNvPr id="13" name="Shape 11"/>
          <p:cNvSpPr/>
          <p:nvPr/>
        </p:nvSpPr>
        <p:spPr>
          <a:xfrm>
            <a:off x="457200" y="1938528"/>
            <a:ext cx="8229600" cy="1600200"/>
          </a:xfrm>
          <a:prstGeom prst="roundRect">
            <a:avLst>
              <a:gd name="adj" fmla="val 5714"/>
            </a:avLst>
          </a:prstGeom>
          <a:solidFill>
            <a:srgbClr val="23272E"/>
          </a:solidFill>
          <a:ln w="12700">
            <a:solidFill>
              <a:srgbClr val="23272E"/>
            </a:solidFill>
            <a:prstDash val="solid"/>
          </a:ln>
        </p:spPr>
      </p:sp>
      <p:sp>
        <p:nvSpPr>
          <p:cNvPr id="14" name="Text 12"/>
          <p:cNvSpPr txBox="1"/>
          <p:nvPr/>
        </p:nvSpPr>
        <p:spPr>
          <a:xfrm>
            <a:off x="640080" y="2057400"/>
            <a:ext cx="7863840" cy="136245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 = R[</a:t>
            </a:r>
            <a:r>
              <a:rPr lang="en-US" sz="770" dirty="0">
                <a:solidFill>
                  <a:srgbClr val="9ECBFF"/>
                </a:solidFill>
                <a:latin typeface="Courier New" pitchFamily="34" charset="0"/>
                <a:ea typeface="Courier New" pitchFamily="34" charset="-122"/>
                <a:cs typeface="Courier New" pitchFamily="34" charset="-120"/>
              </a:rPr>
              <a:t>'b9_chains'</a:t>
            </a:r>
            <a:r>
              <a:rPr lang="en-US" sz="770" dirty="0">
                <a:solidFill>
                  <a:srgbClr val="E6EDF3"/>
                </a:solidFill>
                <a:latin typeface="Courier New" pitchFamily="34" charset="0"/>
                <a:ea typeface="Courier New" pitchFamily="34" charset="-122"/>
                <a:cs typeface="Courier New" pitchFamily="34" charset="-120"/>
              </a:rPr>
              <a:t>]; ch =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'signet_challenge'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L.script_ops(ch), len(ch) // </a:t>
            </a:r>
            <a:r>
              <a:rPr lang="en-US" sz="770" dirty="0">
                <a:solidFill>
                  <a:srgbClr val="FFD28A"/>
                </a:solidFill>
                <a:latin typeface="Courier New" pitchFamily="34" charset="0"/>
                <a:ea typeface="Courier New" pitchFamily="34" charset="-122"/>
                <a:cs typeface="Courier New" pitchFamily="34" charset="-120"/>
              </a:rPr>
              <a:t>2</a:t>
            </a:r>
            <a:r>
              <a:rPr lang="en-US" sz="770" dirty="0">
                <a:solidFill>
                  <a:srgbClr val="E6EDF3"/>
                </a:solidFill>
                <a:latin typeface="Courier New" pitchFamily="34" charset="0"/>
                <a:ea typeface="Courier New" pitchFamily="34" charset="-122"/>
                <a:cs typeface="Courier New" pitchFamily="34" charset="-120"/>
              </a:rPr>
              <a:t>, L.script_ops(c[</a:t>
            </a:r>
            <a:r>
              <a:rPr lang="en-US" sz="770" dirty="0">
                <a:solidFill>
                  <a:srgbClr val="9ECBFF"/>
                </a:solidFill>
                <a:latin typeface="Courier New" pitchFamily="34" charset="0"/>
                <a:ea typeface="Courier New" pitchFamily="34" charset="-122"/>
                <a:cs typeface="Courier New" pitchFamily="34" charset="-120"/>
              </a:rPr>
              <a:t>'custom_signet'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'signet_challenge'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(['OP_1', 'PUSH33', 'PUSH33', 'OP_2', 'OP_CHECKMULTISIG'], 71, ['OP_1'])</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L.signet_magic(ch), L.signet_magic(</a:t>
            </a:r>
            <a:r>
              <a:rPr lang="en-US" sz="770" dirty="0">
                <a:solidFill>
                  <a:srgbClr val="9ECBFF"/>
                </a:solidFill>
                <a:latin typeface="Courier New" pitchFamily="34" charset="0"/>
                <a:ea typeface="Courier New" pitchFamily="34" charset="-122"/>
                <a:cs typeface="Courier New" pitchFamily="34" charset="-120"/>
              </a:rPr>
              <a:t>'51'</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('0a03cf40', '54d26fbd')</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 == c[</a:t>
            </a:r>
            <a:r>
              <a:rPr lang="en-US" sz="770" dirty="0">
                <a:solidFill>
                  <a:srgbClr val="9ECBFF"/>
                </a:solidFill>
                <a:latin typeface="Courier New" pitchFamily="34" charset="0"/>
                <a:ea typeface="Courier New" pitchFamily="34" charset="-122"/>
                <a:cs typeface="Courier New" pitchFamily="34" charset="-120"/>
              </a:rPr>
              <a:t>'custom_signet'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12</a:t>
            </a:r>
            <a:r>
              <a:rPr lang="en-US" sz="770" dirty="0">
                <a:solidFill>
                  <a:srgbClr val="E6EDF3"/>
                </a:solidFill>
                <a:latin typeface="Courier New" pitchFamily="34" charset="0"/>
                <a:ea typeface="Courier New" pitchFamily="34" charset="-122"/>
                <a:cs typeface="Courier New" pitchFamily="34" charset="-120"/>
              </a:rPr>
              <a:t>],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'bits'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 '000000088198', '1e0377ae')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tip(</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 round(tip(</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 / </a:t>
            </a:r>
            <a:r>
              <a:rPr lang="en-US" sz="770" dirty="0">
                <a:solidFill>
                  <a:srgbClr val="FFD28A"/>
                </a:solidFill>
                <a:latin typeface="Courier New" pitchFamily="34" charset="0"/>
                <a:ea typeface="Courier New" pitchFamily="34" charset="-122"/>
                <a:cs typeface="Courier New" pitchFamily="34" charset="-120"/>
              </a:rPr>
              <a:t>143619</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FFD28A"/>
                </a:solidFill>
                <a:latin typeface="Courier New" pitchFamily="34" charset="0"/>
                <a:ea typeface="Courier New" pitchFamily="34" charset="-122"/>
                <a:cs typeface="Courier New" pitchFamily="34" charset="-120"/>
              </a:rPr>
              <a:t>2</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(326440, 2.27)</a:t>
            </a:r>
            <a:endParaRPr lang="en-US" sz="770" dirty="0"/>
          </a:p>
        </p:txBody>
      </p:sp>
      <p:sp>
        <p:nvSpPr>
          <p:cNvPr id="15" name="Text 13"/>
          <p:cNvSpPr txBox="1"/>
          <p:nvPr/>
        </p:nvSpPr>
        <p:spPr>
          <a:xfrm>
            <a:off x="457200" y="355701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779520"/>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7490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default signet's challenge is 71 bytes, 1 of 2 keys must sign: either of the two operators can sign a block</a:t>
            </a:r>
            <a:endParaRPr lang="en-US" sz="1000" dirty="0"/>
          </a:p>
        </p:txBody>
      </p:sp>
      <p:sp>
        <p:nvSpPr>
          <p:cNvPr id="18" name="Shape 16"/>
          <p:cNvSpPr/>
          <p:nvPr/>
        </p:nvSpPr>
        <p:spPr>
          <a:xfrm>
            <a:off x="457200" y="3968496"/>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80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four magic bytes are the start of the hash of the challenge: 0a03cf40; the challenge 51 gives 54d26fbd</a:t>
            </a:r>
            <a:endParaRPr lang="en-US" sz="1000" dirty="0"/>
          </a:p>
        </p:txBody>
      </p:sp>
      <p:sp>
        <p:nvSpPr>
          <p:cNvPr id="20" name="Shape 18"/>
          <p:cNvSpPr/>
          <p:nvPr/>
        </p:nvSpPr>
        <p:spPr>
          <a:xfrm>
            <a:off x="457200" y="41574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269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both signets share one genesis; the default is at height 326,440, 2.27 times the book's 143,619</a:t>
            </a:r>
            <a:endParaRPr lang="en-US" sz="1000" dirty="0"/>
          </a:p>
        </p:txBody>
      </p:sp>
      <p:sp>
        <p:nvSpPr>
          <p:cNvPr id="22" name="Text 20"/>
          <p:cNvSpPr txBox="1"/>
          <p:nvPr/>
        </p:nvSpPr>
        <p:spPr>
          <a:xfrm>
            <a:off x="457200" y="4352544"/>
            <a:ext cx="8229600" cy="237744"/>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mining a block on the public signet.</a:t>
            </a:r>
            <a:endParaRPr lang="en-US" sz="10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signet block needs a signature, so the chain stays calm</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test network with a doorman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March 2019: who, where, when and what to read next</a:t>
            </a:r>
            <a:endParaRPr lang="en-US" sz="1300" dirty="0"/>
          </a:p>
        </p:txBody>
      </p:sp>
      <p:pic>
        <p:nvPicPr>
          <p:cNvPr id="6" name="Image 0" descr="../../03-materials/ch11/assets/photo_signet_ring.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Signet ring of Ramesses II - akhenatenator, CC0 1.0,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March 2019 BIP 325 is assigned to Karl-Johan Alm and Anthony Towns: a block needs a signature on a challenge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Bitcoin Core 0.21.0 adds signet; the magic is the hash of the challenge (row 2), so every custom signet has its own</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public signet is at 2.27 times the book's 143,619 blocks (row 3); NOT EXECUTED: mining on it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'bip-0325.mediawiki'</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'challenge'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L.signet_magic(R[</a:t>
            </a:r>
            <a:r>
              <a:rPr lang="en-US" sz="900" dirty="0">
                <a:solidFill>
                  <a:srgbClr val="9ECBFF"/>
                </a:solidFill>
                <a:latin typeface="Courier New" pitchFamily="34" charset="0"/>
                <a:ea typeface="Courier New" pitchFamily="34" charset="-122"/>
                <a:cs typeface="Courier New" pitchFamily="34" charset="-120"/>
              </a:rPr>
              <a:t>'b9_chains'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'signet'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'info'</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'signet_challenge'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'0a03cf40'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round(tip(</a:t>
            </a:r>
            <a:r>
              <a:rPr lang="en-US" sz="900" dirty="0">
                <a:solidFill>
                  <a:srgbClr val="9ECBFF"/>
                </a:solidFill>
                <a:latin typeface="Courier New" pitchFamily="34" charset="0"/>
                <a:ea typeface="Courier New" pitchFamily="34" charset="-122"/>
                <a:cs typeface="Courier New" pitchFamily="34" charset="-120"/>
              </a:rPr>
              <a:t>'signet'</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143619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2.27</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Karl-Johan Alm and Anthony Towns, the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and Bitco…</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signet ring, not the BIP.</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 is an 80-byte header, a count and transactions; the version field is now a set of flags</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block's name is the double hash of its header, carried by the next block; a reward matures after 100 blocks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Back-links make history costly to change, and the chain with the most work settles a fork</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merkle root vouches for every transaction, a proof is a short path, and the tree has two known weaknesses</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Testnet3 was flooded and testnet4 followed; signet needs a signature; regtest is the practice bench</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merkle tree vulnerabilities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bitcoinops.org/en/topics/merkle-tree-vulnerabilities/</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signet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bitcoinops.org/en/topics/signet/</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block explorer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94, testnet4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bips.dev/94/</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325, signet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bips.dev/325/</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Nakamoto, the Bitcoin paper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Brownworth: Blockchain 101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youtube.com/embed/_160oMzblY8</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Chainlink: what are Merkle trees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youtube.com/embed/na_omeubyYo</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visual demo,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block and its header hold, and how a block is named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are linked, and how a fork is settled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merkle root and a short path vouch for a transaction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test chain serves which purpose, and why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11</dc:title>
  <dc:subject>PptxGenJS Presentation</dc:subject>
  <dc:creator>Yusuf Altunel</dc:creator>
  <cp:lastModifiedBy>Yusuf Altunel</cp:lastModifiedBy>
  <cp:revision>1</cp:revision>
  <dcterms:created xsi:type="dcterms:W3CDTF">2026-10-15T13:06:06Z</dcterms:created>
  <dcterms:modified xsi:type="dcterms:W3CDTF">2026-10-15T13:06:06Z</dcterms:modified>
  <cp:version>1.0.0</cp:version>
</cp:coreProperties>
</file>