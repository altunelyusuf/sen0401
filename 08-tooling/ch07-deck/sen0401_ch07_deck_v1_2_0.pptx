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media/image-10-1.jpg" ContentType="image/jpg"/>
  <Override PartName="/ppt/media/image-22-1.jpg" ContentType="image/jpg"/>
  <Override PartName="/ppt/media/image-7-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Inputs of block 775,072 by the script they spend</a:t>
            </a:r>
          </a:p>
        </c:rich>
      </c:tx>
      <c:layout/>
      <c:overlay val="0"/>
    </c:title>
    <c:autoTitleDeleted val="0"/>
    <c:plotArea>
      <c:layout/>
      <c:barChart>
        <c:barDir val="col"/>
        <c:grouping val="clustered"/>
        <c:varyColors val="0"/>
        <c:ser>
          <c:idx val="0"/>
          <c:order val="0"/>
          <c:tx>
            <c:strRef>
              <c:f>Sheet1!$B$1</c:f>
              <c:strCache>
                <c:ptCount val="1"/>
                <c:pt idx="0">
                  <c:v>inputs</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dPt>
            <c:idx val="6"/>
            <c:invertIfNegative val="0"/>
            <c:bubble3D val="0"/>
            <c:spPr>
              <a:solidFill>
                <a:srgbClr val="D97A14"/>
              </a:solidFill>
              <a:effectLst/>
            </c:spPr>
          </c:dPt>
          <c:cat>
            <c:multiLvlStrRef>
              <c:f>Sheet1!$A$2:$A$8</c:f>
              <c:multiLvlStrCache>
                <c:ptCount val="7"/>
                <c:lvl>
                  <c:pt idx="0">
                    <c:v>P2WPKH</c:v>
                  </c:pt>
                  <c:pt idx="1">
                    <c:v>P2PKH</c:v>
                  </c:pt>
                  <c:pt idx="2">
                    <c:v>P2SH-P2WPKH</c:v>
                  </c:pt>
                  <c:pt idx="3">
                    <c:v>P2WSH</c:v>
                  </c:pt>
                  <c:pt idx="4">
                    <c:v>P2SH-P2WSH</c:v>
                  </c:pt>
                  <c:pt idx="5">
                    <c:v>P2SH multisig</c:v>
                  </c:pt>
                  <c:pt idx="6">
                    <c:v>taproot</c:v>
                  </c:pt>
                </c:lvl>
              </c:multiLvlStrCache>
            </c:multiLvlStrRef>
          </c:cat>
          <c:val>
            <c:numRef>
              <c:f>Sheet1!$B$2:$B$8</c:f>
              <c:numCache>
                <c:formatCode>General</c:formatCode>
                <c:ptCount val="7"/>
                <c:pt idx="0">
                  <c:v>626</c:v>
                </c:pt>
                <c:pt idx="1">
                  <c:v>194</c:v>
                </c:pt>
                <c:pt idx="2">
                  <c:v>95</c:v>
                </c:pt>
                <c:pt idx="3">
                  <c:v>57</c:v>
                </c:pt>
                <c:pt idx="4">
                  <c:v>34</c:v>
                </c:pt>
                <c:pt idx="5">
                  <c:v>10</c:v>
                </c:pt>
                <c:pt idx="6">
                  <c:v>6</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Sibling hashes needed to prove one script</a:t>
            </a:r>
          </a:p>
        </c:rich>
      </c:tx>
      <c:layout/>
      <c:overlay val="0"/>
    </c:title>
    <c:autoTitleDeleted val="0"/>
    <c:plotArea>
      <c:layout/>
      <c:barChart>
        <c:barDir val="col"/>
        <c:grouping val="clustered"/>
        <c:varyColors val="0"/>
        <c:ser>
          <c:idx val="0"/>
          <c:order val="0"/>
          <c:tx>
            <c:strRef>
              <c:f>Sheet1!$B$1</c:f>
              <c:strCache>
                <c:ptCount val="1"/>
                <c:pt idx="0">
                  <c:v>hashes</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3 scripts</c:v>
                  </c:pt>
                  <c:pt idx="1">
                    <c:v>8 scripts</c:v>
                  </c:pt>
                  <c:pt idx="2">
                    <c:v>1,024 scripts</c:v>
                  </c:pt>
                  <c:pt idx="3">
                    <c:v>1,048,576 scripts</c:v>
                  </c:pt>
                </c:lvl>
              </c:multiLvlStrCache>
            </c:multiLvlStrRef>
          </c:cat>
          <c:val>
            <c:numRef>
              <c:f>Sheet1!$B$2:$B$5</c:f>
              <c:numCache>
                <c:formatCode>General</c:formatCode>
                <c:ptCount val="4"/>
                <c:pt idx="0">
                  <c:v>2</c:v>
                </c:pt>
                <c:pt idx="1">
                  <c:v>3</c:v>
                </c:pt>
                <c:pt idx="2">
                  <c:v>10</c:v>
                </c:pt>
                <c:pt idx="3">
                  <c:v>20</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Weight of the three paths of one contract (weight units)</a:t>
            </a:r>
          </a:p>
        </c:rich>
      </c:tx>
      <c:layout/>
      <c:overlay val="0"/>
    </c:title>
    <c:autoTitleDeleted val="0"/>
    <c:plotArea>
      <c:layout/>
      <c:barChart>
        <c:barDir val="col"/>
        <c:grouping val="clustered"/>
        <c:varyColors val="0"/>
        <c:ser>
          <c:idx val="0"/>
          <c:order val="0"/>
          <c:tx>
            <c:strRef>
              <c:f>Sheet1!$B$1</c:f>
              <c:strCache>
                <c:ptCount val="1"/>
                <c:pt idx="0">
                  <c:v>tapscript leaf</c:v>
                </c:pt>
              </c:strCache>
            </c:strRef>
          </c:tx>
          <c:spPr>
            <a:solidFill>
              <a:srgbClr val="D97A14"/>
            </a:solidFill>
            <a:effectLst/>
          </c:spPr>
          <c:invertIfNegative val="0"/>
          <c:dLbls>
            <c:numFmt formatCode="0"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cat>
            <c:multiLvlStrRef>
              <c:f>Sheet1!$A$2:$A$4</c:f>
              <c:multiLvlStrCache>
                <c:ptCount val="3"/>
                <c:lvl>
                  <c:pt idx="0">
                    <c:v>2 of 3 partners</c:v>
                  </c:pt>
                  <c:pt idx="1">
                    <c:v>lawyer and partner</c:v>
                  </c:pt>
                  <c:pt idx="2">
                    <c:v>lawyer alone</c:v>
                  </c:pt>
                </c:lvl>
              </c:multiLvlStrCache>
            </c:multiLvlStrRef>
          </c:cat>
          <c:val>
            <c:numRef>
              <c:f>Sheet1!$B$2:$B$4</c:f>
              <c:numCache>
                <c:formatCode>General</c:formatCode>
                <c:ptCount val="3"/>
                <c:pt idx="0">
                  <c:v>577</c:v>
                </c:pt>
                <c:pt idx="1">
                  <c:v>617</c:v>
                </c:pt>
                <c:pt idx="2">
                  <c:v>414</c:v>
                </c:pt>
              </c:numCache>
            </c:numRef>
          </c:val>
        </c:ser>
        <c:ser>
          <c:idx val="1"/>
          <c:order val="1"/>
          <c:tx>
            <c:strRef>
              <c:f>Sheet1!$C$1</c:f>
              <c:strCache>
                <c:ptCount val="1"/>
                <c:pt idx="0">
                  <c:v>P2WSH script</c:v>
                </c:pt>
              </c:strCache>
            </c:strRef>
          </c:tx>
          <c:spPr>
            <a:solidFill>
              <a:srgbClr val="2F6D62"/>
            </a:solidFill>
            <a:effectLst/>
          </c:spPr>
          <c:invertIfNegative val="0"/>
          <c:dLbls>
            <c:numFmt formatCode="0"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cat>
            <c:multiLvlStrRef>
              <c:f>Sheet1!$A$2:$A$4</c:f>
              <c:multiLvlStrCache>
                <c:ptCount val="3"/>
                <c:lvl>
                  <c:pt idx="0">
                    <c:v>2 of 3 partners</c:v>
                  </c:pt>
                  <c:pt idx="1">
                    <c:v>lawyer and partner</c:v>
                  </c:pt>
                  <c:pt idx="2">
                    <c:v>lawyer alone</c:v>
                  </c:pt>
                </c:lvl>
              </c:multiLvlStrCache>
            </c:multiLvlStrRef>
          </c:cat>
          <c:val>
            <c:numRef>
              <c:f>Sheet1!$C$2:$C$4</c:f>
              <c:numCache>
                <c:formatCode>General</c:formatCode>
                <c:ptCount val="3"/>
                <c:pt idx="0">
                  <c:v>585</c:v>
                </c:pt>
                <c:pt idx="1">
                  <c:v>584</c:v>
                </c:pt>
                <c:pt idx="2">
                  <c:v>509</c:v>
                </c:pt>
              </c:numCache>
            </c:numRef>
          </c:val>
        </c:ser>
        <c:dLbls>
          <c:numFmt formatCode="0"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how Bitcoin decides who may spend an output: the output carries a locking script, the spender supplies an unlocking script, and a node runs the two and accepts the spend only if the result is true. The full text of every slide is on the course page for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five parts and ends with a taproot spend the reader has examined alone. One story is the bug of 2010 in which an input script of one number and OP_RETURN could spend any output, one is the fork of July 2015 that followed a rule about the encoding of signatures, and one is the path of a signature scheme from a patent to the soft fork of November 2021. The part a reader expects to be hardest is worth marking now and checking at the summary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is the programming language that the original Bitcoin software introduced for transaction validation. The book describes it as a Forth-like stack-based language, says that both the script placed in an output and the legacy input script used in a spending transaction are written in it, and says that it is a very simple language that requires minimal processing and cannot easily do many of the fancy things modern programming languages can (Antonopoulos and Harding, 2023). The full explanation is on the course page, chapter 7, under The language and its limits, in the concept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is the programming language that the original Bitcoin software introduced for transaction validation. The full explanation is on the course page, chapter 7, under From a public key to its hash and The language and its limits, in the concepts Script, Pay to public key hash.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is the programming language that the original Bitcoin software introduced for transaction validation. The book describes it as a Forth-like stack-based language, says that both the script placed in an output and the legacy input script used in a spending transaction are written in it, and says that it is a very simple language that requires minimal processing and cannot easily do many of the fancy things modern programming languages can (Antonopoulos and Harding, 2023). The full explanation is on the course page, chapter 7, under The language and its limits, in the concepts Script, The script execution 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stack is a very simple data structure that the book compares to a stack of cards. It has two base operations: push adds an item on top of the stack and pop removes the top item. The full explanation is on the course page, chapter 7, under From a public key to its hash and The language and its limits, in the concepts The script execution stack, Pay to public key hash.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2010-07-28. On 28 July 2010 two bugs were discovered and demonstrated on the test network. One of them, recorded as CVE-2010-5141, let an attacker spend coins that they did not own: the first software joined the input script and the output script into one program and treated OP_RETURN as a jump to the end, so an input script of 1 followed by OP_RETURN ended the run with a true value and the output script never ran. The lesson is this: Run the two scripts separately, and fail closed on anything unknown.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ECDSA signature is two numbers, r and s, and the way they are written as bytes is a rule of the protocol. The book says that for ECDSA the encoding uses an international standard called the Distinguished Encoding Rules, DER, while for schnorr signatures a simpler serialization is used (Antonopoulos and Harding, 2023). The full explanation is on the course page, chapter 7, under Checking a signature and The t-of-k script and its limits, in the concepts Signature encoding (DER), Scripted multisignature.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ECDSA signature is two numbers, r and s, and the way they are written as bytes is a rule of the protocol. The book says that for ECDSA the encoding uses an international standard called the Distinguished Encoding Rules, DER, while for schnorr signatures a simpler serialization is used (Antonopoulos and Harding, 2023). The full explanation is on the course page, chapter 7, under Checking a signature, in the concepts Signature encoding (DER), The signature hash and its hash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2015-07-04. BIP66 made strict DER the only valid encoding of a signature, and it took effect once 950 of the last 1,000 blocks were version 3, which happened early on 4 July 2015, at block 363,725. A small miner that had not upgraded then produced an invalid block, as was expected, but roughly half of the network's hash rate was mining without fully validating blocks and built on top of it, so a fork of 6 blocks lasted from 02:10 to 03:50 UTC and a second of 3 blocks followed on 5 July.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scripted multisignature is an output script that sets a condition where k public keys are recorded in the script and at least t of them must provide signatures to spend the funds. The book calls this t-of-k and notes that earlier editions, and much other documentation, write m-of-n, which is hard to say aloud because m and n sound alike (Antonopoulos and Harding, 2023). The full explanation is on the course page, chapter 7, under The t-of-k script and its limits, in the concepts Scripted multisignature, Multisignature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redeem script is the script that a pay to script hash output stands for. The book says it is called that because it is presented to the system at redemption time rather than as an output script. The console hashes the 105-byte script into a 23-byte output and a 34-character address starting with 3, spends it with two real signatures, and then shows that presenting a script that hashes to a different value fails. The full explanation is on the course page, chapter 7, under Hashing the script, in the concepts Redeem script, Pay to script hash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OP_CHECKLOCKTIMEVERIFY, written CLTV in short, is an opcode that makes an output spendable only after a given block height or time. The full explanation is on the course page, chapter 7, under Absolute timelocks and Relative timelocks, in the concepts OP_CHECKLOCKTIMEVERIFY, OP_CHECKSEQUENCEVERIFY.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OP_CHECKLOCKTIMEVERIFY, written CLTV in short, is an opcode that makes an output spendable only after a given block height or time. The full explanation is on the course page, chapter 7, under Absolute timelocks and Relative timelocks, in the concepts OP_CHECKLOCKTIMEVERIFY, OP_CHECKSEQUENCEVERIFY.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capital-account script is the book's combined example. The full explanation is on the course page, chapter 7, under Conditionals and guards and Script with timelocks and signers, in the concepts Capital account script, Scripts with several paths.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witness program is what BIP141 calls an output script that consists of a one-byte push opcode, one of OP_0 and OP_1 to OP_16, followed by a direct data push between 2 and 40 bytes. The value of the first push is the version byte, and the following byte vector is the witness program. The full explanation is on the course page, chapter 7, under Trees of alternative scripts and Witness programs and addresses, in the concepts Witness program, Merklized alternative script tree.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witness program is what BIP141 calls an output script that consists of a one-byte push opcode, one of OP_0 and OP_1 to OP_16, followed by a direct data push between 2 and 40 bytes. The value of the first push is the version byte, and the following byte vector is the witness program. The full explanation is on the course page, chapter 7, under Witness programs and addresses, in the concepts Witness program, Pay to witness public key hash.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Merklized alternative script tree, MAST for short, is the way to use a merkle tree to authorize many different spending conditions. The full explanation is on the course page, chapter 7, under Trees of alternative scripts, in the concepts Merklized alternative script tree, Two meanings of MAST.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Taproot is the name of the output type and of the soft fork that added it. The book builds it from the earlier ideas: pay to contract tweaks a key to commit to an agreement, and taproot commits instead to the program code of a contract by tweaking with the root of a MAST. The figure is the book's picture of a taproot output in which the public key commits to the Merkle root of a script tree. The full explanation is on the course page, chapter 7, under Taproot outputs, in the concepts Taproot output, Key path spending.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Taproot is the name of the output type and of the soft fork that added it. The book builds it from the earlier ideas: pay to contract tweaks a key to commit to an agreement, and taproot commits instead to the program code of a contract by tweaking with the root of a MAST. The full explanation is on the course page, chapter 7, under Taproot outputs, in the concepts Taproot output, Key path spending.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path spending is the spending of a taproot output by one of its scripts. The book lists what the witness holds: a version number; the underlying key, the taproot internal key; the script to execute, called the leaf script; one 32-byte hash for each junction in the Merkle tree along the path that connects the leaf to the root; and any data needed to satisfy the script, such as signatures or preimages (Antonopoulos and Harding, 2023). The full explanation is on the course page, chapter 7, under Taproot outputs, in the concepts Script path spending, Control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2021-11-14. Claus Schnorr patented the signature algorithm he discovered and kept it out of open standards and open-source software for almost two decades, so cryptographers of the early 1990s built the DSA family that led to the ECDSA signatures Bitcoin used from its first release. BIP340 was assigned in January 2020 to standardise Schnorr signatures on Bitcoin's curve, BIP341 and BIP342 added the taproot output and tapscript, and the rules took effect at block 709,632 on 14 November 2021, a block of 2,043 transactions.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OP_CHECKSIGADD is the opcode that replaces OP_CHECKMULTISIG. The book says that it increments a counter by one when it successfully verifies a signature, which makes it possible to count how many signatures passed and compare the count with the number wanted. The full explanation is on the course page, chapter 7, under Tapscript, in the concepts OP_CHECKSIGADD, OP_SUCCESS opcodes.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lines are the deck in miniature, one per part, and each of them is carried by a slide range that the agenda names. A line that feels unproven should send the reader back to its consoles, because every figure in it was computed on a slide with the chapter's own interpreter. The full text behind all five lines is on the course page for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to read, and every link was fetched on the date in the subtitle. A good exercise is to read the source of the first script engine next to today's rules and find the line where OP_RETURN changed meaning, then run the same script in the chapter's library on the course page. The course page for chapter 7 carries the full resource list, including the chapter itself and Bitcoin Core's interpreter, with a sentence on why each entry is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computations that ran on slides of this deck with the chapter's own interpreter, which is checked against Bitcoin Core's published script tests and against every input of a real block. The course page for chapter 7 carries every word behind them, the stories with their sources, and the question bank to test the four claims on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hyperlink" Target="https://en.bitcoin.it/wiki/Common_Vulnerabilities_and_Exposures#CVE-2010-5141" TargetMode="Externa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hyperlink" Target="https://bitcoin.org/en/alert/2015-07-04-spv-mining" TargetMode="Externa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chart" Target="../charts/chart2.xml"/><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hyperlink" Target="https://mempool.space/block/0000000000000000000687bca986194dc2c1f949318629b44bb54ec0a94d8244" TargetMode="External"/><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bitcoin.org/bitcoin.pdf" TargetMode="External"/><Relationship Id="rId2" Type="http://schemas.openxmlformats.org/officeDocument/2006/relationships/hyperlink" Target="https://en.bitcoin.it/wiki/Script" TargetMode="External"/><Relationship Id="rId3" Type="http://schemas.openxmlformats.org/officeDocument/2006/relationships/hyperlink" Target="https://bips.dev/66/" TargetMode="External"/><Relationship Id="rId4" Type="http://schemas.openxmlformats.org/officeDocument/2006/relationships/hyperlink" Target="https://bips.dev/141/" TargetMode="External"/><Relationship Id="rId5" Type="http://schemas.openxmlformats.org/officeDocument/2006/relationships/hyperlink" Target="https://bips.dev/341/" TargetMode="External"/><Relationship Id="rId6" Type="http://schemas.openxmlformats.org/officeDocument/2006/relationships/hyperlink" Target="https://bips.dev/342/" TargetMode="External"/><Relationship Id="rId7" Type="http://schemas.openxmlformats.org/officeDocument/2006/relationships/hyperlink" Target="https://raw.githubusercontent.com/bitcoin/bitcoin/v0.3.0/script.cpp" TargetMode="External"/><Relationship Id="rId8" Type="http://schemas.openxmlformats.org/officeDocument/2006/relationships/hyperlink" Target="https://en.bitcoin.it/wiki/Common_Vulnerabilities_and_Exposures#CVE-2010-5141" TargetMode="External"/><Relationship Id="rId9" Type="http://schemas.openxmlformats.org/officeDocument/2006/relationships/hyperlink" Target="https://bitcoin.org/en/alert/2015-07-04-spv-mining" TargetMode="External"/><Relationship Id="rId10" Type="http://schemas.openxmlformats.org/officeDocument/2006/relationships/hyperlink" Target="https://bitcoinops.org/en/topics/taproot/" TargetMode="External"/><Relationship Id="rId11" Type="http://schemas.openxmlformats.org/officeDocument/2006/relationships/hyperlink" Target="https://en.bitcoin.it/wiki/Taproot" TargetMode="External"/><Relationship Id="rId12" Type="http://schemas.openxmlformats.org/officeDocument/2006/relationships/slideLayout" Target="../slideLayouts/slideLayout1.xml"/><Relationship Id="rId1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7: Scripts and Signatures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Authorization and Authentication: scripts that lock coins, signatures that unlock them, every spend run in a real interpreter</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pic>
        <p:nvPicPr>
          <p:cNvPr id="11" name="Image 0" descr="../../03-materials/ch07/assets/mbc3_0701.png">    </p:cNvPr>
          <p:cNvPicPr>
            <a:picLocks noChangeAspect="1"/>
          </p:cNvPicPr>
          <p:nvPr/>
        </p:nvPicPr>
        <p:blipFill>
          <a:blip r:embed="rId1"/>
          <a:srcRect l="0" r="0" t="0" b="0"/>
          <a:stretch/>
        </p:blipFill>
        <p:spPr>
          <a:xfrm>
            <a:off x="3749040" y="731520"/>
            <a:ext cx="4846320" cy="1005840"/>
          </a:xfrm>
          <a:prstGeom prst="rect">
            <a:avLst/>
          </a:prstGeom>
        </p:spPr>
      </p:pic>
      <p:sp>
        <p:nvSpPr>
          <p:cNvPr id="12" name="Text 9"/>
          <p:cNvSpPr txBox="1"/>
          <p:nvPr/>
        </p:nvSpPr>
        <p:spPr>
          <a:xfrm>
            <a:off x="3749040" y="1755648"/>
            <a:ext cx="484632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locking and unlocking scripts - Mastering Bitcoin 3e, CC BY-SA</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questions, then five parts; every number is a slide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48158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Questions and the chapter map  (slides 3-4)</a:t>
            </a:r>
            <a:endParaRPr lang="en-US" sz="1200" dirty="0"/>
          </a:p>
        </p:txBody>
      </p:sp>
      <p:sp>
        <p:nvSpPr>
          <p:cNvPr id="9" name="Shape 7"/>
          <p:cNvSpPr/>
          <p:nvPr/>
        </p:nvSpPr>
        <p:spPr>
          <a:xfrm>
            <a:off x="457200" y="19263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26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89760"/>
            <a:ext cx="5193792" cy="48158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Scripts and the stack - the OP_RETURN bug of 2010  (slides 5-7)</a:t>
            </a:r>
            <a:endParaRPr lang="en-US" sz="1200" dirty="0"/>
          </a:p>
        </p:txBody>
      </p:sp>
      <p:sp>
        <p:nvSpPr>
          <p:cNvPr id="12" name="Shape 10"/>
          <p:cNvSpPr/>
          <p:nvPr/>
        </p:nvSpPr>
        <p:spPr>
          <a:xfrm>
            <a:off x="457200" y="244449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4444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407920"/>
            <a:ext cx="5193792" cy="48158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Signatures, multisig and script hash - the 2015 DER fork  (slides 8-12)</a:t>
            </a:r>
            <a:endParaRPr lang="en-US" sz="1200" dirty="0"/>
          </a:p>
        </p:txBody>
      </p:sp>
      <p:sp>
        <p:nvSpPr>
          <p:cNvPr id="15" name="Shape 13"/>
          <p:cNvSpPr/>
          <p:nvPr/>
        </p:nvSpPr>
        <p:spPr>
          <a:xfrm>
            <a:off x="457200" y="296265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9626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926080"/>
            <a:ext cx="5193792" cy="48158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Time and flow control - timelocks and the three paths  (slides 13-15)</a:t>
            </a:r>
            <a:endParaRPr lang="en-US" sz="1200" dirty="0"/>
          </a:p>
        </p:txBody>
      </p:sp>
      <p:sp>
        <p:nvSpPr>
          <p:cNvPr id="18" name="Shape 16"/>
          <p:cNvSpPr/>
          <p:nvPr/>
        </p:nvSpPr>
        <p:spPr>
          <a:xfrm>
            <a:off x="457200" y="348081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4808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444240"/>
            <a:ext cx="5193792" cy="48158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Witness programs and script trees  (slides 16-18)</a:t>
            </a:r>
            <a:endParaRPr lang="en-US" sz="1200" dirty="0"/>
          </a:p>
        </p:txBody>
      </p:sp>
      <p:sp>
        <p:nvSpPr>
          <p:cNvPr id="21" name="Shape 19"/>
          <p:cNvSpPr/>
          <p:nvPr/>
        </p:nvSpPr>
        <p:spPr>
          <a:xfrm>
            <a:off x="457200" y="399897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9989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962400"/>
            <a:ext cx="5193792" cy="48158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Taproot and tapscript - the 2021 soft fork, summary and resources  (slides 19-26)</a:t>
            </a:r>
            <a:endParaRPr lang="en-US" sz="1200" dirty="0"/>
          </a:p>
        </p:txBody>
      </p:sp>
      <p:sp>
        <p:nvSpPr>
          <p:cNvPr id="24" name="Shape 22"/>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1408176"/>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26</a:t>
            </a:r>
            <a:endParaRPr lang="en-US" sz="2600" dirty="0"/>
          </a:p>
        </p:txBody>
      </p:sp>
      <p:sp>
        <p:nvSpPr>
          <p:cNvPr id="26" name="Text 24"/>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7" name="Shape 25"/>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556248" y="2487168"/>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3</a:t>
            </a:r>
            <a:endParaRPr lang="en-US" sz="2600" dirty="0"/>
          </a:p>
        </p:txBody>
      </p:sp>
      <p:sp>
        <p:nvSpPr>
          <p:cNvPr id="29" name="Text 27"/>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 WHERE / WHEN / READ</a:t>
            </a:r>
            <a:endParaRPr lang="en-US" sz="1100" dirty="0"/>
          </a:p>
        </p:txBody>
      </p:sp>
      <p:sp>
        <p:nvSpPr>
          <p:cNvPr id="30" name="Shape 28"/>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31" name="Text 29"/>
          <p:cNvSpPr txBox="1"/>
          <p:nvPr/>
        </p:nvSpPr>
        <p:spPr>
          <a:xfrm>
            <a:off x="6556248" y="3566160"/>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17</a:t>
            </a:r>
            <a:endParaRPr lang="en-US" sz="2600" dirty="0"/>
          </a:p>
        </p:txBody>
      </p:sp>
      <p:sp>
        <p:nvSpPr>
          <p:cNvPr id="32" name="Text 30"/>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live-run consoles, each shown with its result</a:t>
            </a:r>
            <a:endParaRPr lang="en-US" sz="1100" dirty="0"/>
          </a:p>
        </p:txBody>
      </p:sp>
      <p:sp>
        <p:nvSpPr>
          <p:cNvPr id="33"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Five parts - and at the end, a taproot spend you have read yourself</a:t>
            </a:r>
            <a:endParaRPr lang="en-US" sz="1350" dirty="0"/>
          </a:p>
        </p:txBody>
      </p:sp>
      <p:sp>
        <p:nvSpPr>
          <p:cNvPr id="35"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26</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 we return to each</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433687"/>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What does a Bitcoin output ask of its spender, and how do the input script and the output script together decide whether a spend is authorized?</a:t>
            </a:r>
            <a:endParaRPr lang="en-US" sz="1050" dirty="0"/>
          </a:p>
        </p:txBody>
      </p:sp>
      <p:sp>
        <p:nvSpPr>
          <p:cNvPr id="9" name="Shape 7"/>
          <p:cNvSpPr/>
          <p:nvPr/>
        </p:nvSpPr>
        <p:spPr>
          <a:xfrm>
            <a:off x="457200" y="1786999"/>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786999"/>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50423"/>
            <a:ext cx="7662672" cy="433687"/>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How does a script run on a stack, why is the language deliberately not Turing complete, and why can every node verify a spend without knowing anything but the transaction and the outputs it spends?</a:t>
            </a:r>
            <a:endParaRPr lang="en-US" sz="1050" dirty="0"/>
          </a:p>
        </p:txBody>
      </p:sp>
      <p:sp>
        <p:nvSpPr>
          <p:cNvPr id="12" name="Shape 10"/>
          <p:cNvSpPr/>
          <p:nvPr/>
        </p:nvSpPr>
        <p:spPr>
          <a:xfrm>
            <a:off x="457200" y="2257262"/>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25726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220686"/>
            <a:ext cx="7662672" cy="433687"/>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How do pay to public key hash, scripted multisignatures and pay to script hash move the cost of a complicated condition from the payer to the spender, and what does the signature check count?</a:t>
            </a:r>
            <a:endParaRPr lang="en-US" sz="1050" dirty="0"/>
          </a:p>
        </p:txBody>
      </p:sp>
      <p:sp>
        <p:nvSpPr>
          <p:cNvPr id="15" name="Shape 13"/>
          <p:cNvSpPr/>
          <p:nvPr/>
        </p:nvSpPr>
        <p:spPr>
          <a:xfrm>
            <a:off x="457200" y="2727525"/>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727525"/>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690949"/>
            <a:ext cx="7662672" cy="433687"/>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How do lock time, OP_CHECKLOCKTIMEVERIFY, the sequence field and OP_CHECKSEQUENCEVERIFY make a spend wait, and where do the book and Bitcoin Core's rules differ by one block?</a:t>
            </a:r>
            <a:endParaRPr lang="en-US" sz="1050" dirty="0"/>
          </a:p>
        </p:txBody>
      </p:sp>
      <p:sp>
        <p:nvSpPr>
          <p:cNvPr id="18" name="Shape 16"/>
          <p:cNvSpPr/>
          <p:nvPr/>
        </p:nvSpPr>
        <p:spPr>
          <a:xfrm>
            <a:off x="457200" y="3197787"/>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197787"/>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161211"/>
            <a:ext cx="7662672" cy="433687"/>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How does segregated witness fix signature malleability and add a version byte for later upgrades, and what do P2WPKH, P2WSH and the nested forms look like on the chain?</a:t>
            </a:r>
            <a:endParaRPr lang="en-US" sz="1050" dirty="0"/>
          </a:p>
        </p:txBody>
      </p:sp>
      <p:sp>
        <p:nvSpPr>
          <p:cNvPr id="21" name="Shape 19"/>
          <p:cNvSpPr/>
          <p:nvPr/>
        </p:nvSpPr>
        <p:spPr>
          <a:xfrm>
            <a:off x="457200" y="3668050"/>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66805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631474"/>
            <a:ext cx="7662672" cy="433687"/>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How do a script tree, a tweaked key and a scriptless multisignature combine into taproot, and what does a key path spend or a script path spend reveal?</a:t>
            </a:r>
            <a:endParaRPr lang="en-US" sz="1050" dirty="0"/>
          </a:p>
        </p:txBody>
      </p:sp>
      <p:sp>
        <p:nvSpPr>
          <p:cNvPr id="24" name="Shape 22"/>
          <p:cNvSpPr/>
          <p:nvPr/>
        </p:nvSpPr>
        <p:spPr>
          <a:xfrm>
            <a:off x="457200" y="4138313"/>
            <a:ext cx="402336" cy="402336"/>
          </a:xfrm>
          <a:prstGeom prst="ellipse">
            <a:avLst/>
          </a:prstGeom>
          <a:solidFill>
            <a:srgbClr val="D97A14"/>
          </a:solidFill>
          <a:ln w="12700">
            <a:solidFill>
              <a:srgbClr val="D97A14"/>
            </a:solidFill>
            <a:prstDash val="solid"/>
          </a:ln>
        </p:spPr>
      </p:sp>
      <p:sp>
        <p:nvSpPr>
          <p:cNvPr id="25" name="Text 23"/>
          <p:cNvSpPr txBox="1"/>
          <p:nvPr/>
        </p:nvSpPr>
        <p:spPr>
          <a:xfrm>
            <a:off x="457200" y="4138313"/>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26" name="Text 24"/>
          <p:cNvSpPr txBox="1"/>
          <p:nvPr/>
        </p:nvSpPr>
        <p:spPr>
          <a:xfrm>
            <a:off x="1024128" y="4101737"/>
            <a:ext cx="7662672" cy="433687"/>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What does tapscript change in the language, and which statements of the book differ from the BIPs and from Bitcoin Core's sources?</a:t>
            </a:r>
            <a:endParaRPr lang="en-US" sz="105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26</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nine branches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chapter hangs on</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Nine branches, one per family of spending conditions; the deck walks them in the order Bitcoin gained them.</a:t>
            </a:r>
            <a:endParaRPr lang="en-US" sz="1250" dirty="0"/>
          </a:p>
        </p:txBody>
      </p:sp>
      <p:sp>
        <p:nvSpPr>
          <p:cNvPr id="7" name="Shape 5"/>
          <p:cNvSpPr/>
          <p:nvPr/>
        </p:nvSpPr>
        <p:spPr>
          <a:xfrm>
            <a:off x="457200" y="1554480"/>
            <a:ext cx="1528877" cy="1261872"/>
          </a:xfrm>
          <a:prstGeom prst="roundRect">
            <a:avLst>
              <a:gd name="adj" fmla="val 5797"/>
            </a:avLst>
          </a:prstGeom>
          <a:solidFill>
            <a:srgbClr val="F2ECE1"/>
          </a:solidFill>
          <a:ln w="12700">
            <a:solidFill>
              <a:srgbClr val="DFD6C7"/>
            </a:solidFill>
            <a:prstDash val="solid"/>
          </a:ln>
        </p:spPr>
      </p:sp>
      <p:sp>
        <p:nvSpPr>
          <p:cNvPr id="8" name="Text 6"/>
          <p:cNvSpPr txBox="1"/>
          <p:nvPr/>
        </p:nvSpPr>
        <p:spPr>
          <a:xfrm>
            <a:off x="548640" y="1609344"/>
            <a:ext cx="1345997" cy="1152144"/>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Transaction scripts and the Script language</a:t>
            </a:r>
            <a:endParaRPr lang="en-US" sz="1150" dirty="0"/>
          </a:p>
          <a:p>
            <a:pPr algn="ctr" indent="0" marL="0">
              <a:buNone/>
            </a:pPr>
            <a:r>
              <a:rPr lang="en-US" sz="1000" dirty="0">
                <a:solidFill>
                  <a:srgbClr val="6E655C"/>
                </a:solidFill>
                <a:latin typeface="Calibri" pitchFamily="34" charset="0"/>
                <a:ea typeface="Calibri" pitchFamily="34" charset="-122"/>
                <a:cs typeface="Calibri" pitchFamily="34" charset="-120"/>
              </a:rPr>
              <a:t>10 concepts</a:t>
            </a:r>
            <a:endParaRPr lang="en-US" sz="1150" dirty="0"/>
          </a:p>
        </p:txBody>
      </p:sp>
      <p:sp>
        <p:nvSpPr>
          <p:cNvPr id="9" name="Shape 7"/>
          <p:cNvSpPr/>
          <p:nvPr/>
        </p:nvSpPr>
        <p:spPr>
          <a:xfrm>
            <a:off x="2132381" y="1554480"/>
            <a:ext cx="1528877" cy="1261872"/>
          </a:xfrm>
          <a:prstGeom prst="roundRect">
            <a:avLst>
              <a:gd name="adj" fmla="val 5797"/>
            </a:avLst>
          </a:prstGeom>
          <a:solidFill>
            <a:srgbClr val="F2ECE1"/>
          </a:solidFill>
          <a:ln w="12700">
            <a:solidFill>
              <a:srgbClr val="DFD6C7"/>
            </a:solidFill>
            <a:prstDash val="solid"/>
          </a:ln>
        </p:spPr>
      </p:sp>
      <p:sp>
        <p:nvSpPr>
          <p:cNvPr id="10" name="Text 8"/>
          <p:cNvSpPr txBox="1"/>
          <p:nvPr/>
        </p:nvSpPr>
        <p:spPr>
          <a:xfrm>
            <a:off x="2223821" y="1609344"/>
            <a:ext cx="1345997" cy="1152144"/>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Locking to a key</a:t>
            </a:r>
            <a:endParaRPr lang="en-US" sz="1150" dirty="0"/>
          </a:p>
          <a:p>
            <a:pPr algn="ctr" indent="0" marL="0">
              <a:buNone/>
            </a:pPr>
            <a:r>
              <a:rPr lang="en-US" sz="1000" dirty="0">
                <a:solidFill>
                  <a:srgbClr val="6E655C"/>
                </a:solidFill>
                <a:latin typeface="Calibri" pitchFamily="34" charset="0"/>
                <a:ea typeface="Calibri" pitchFamily="34" charset="-122"/>
                <a:cs typeface="Calibri" pitchFamily="34" charset="-120"/>
              </a:rPr>
              <a:t>6 concepts</a:t>
            </a:r>
            <a:endParaRPr lang="en-US" sz="1150" dirty="0"/>
          </a:p>
        </p:txBody>
      </p:sp>
      <p:sp>
        <p:nvSpPr>
          <p:cNvPr id="11" name="Shape 9"/>
          <p:cNvSpPr/>
          <p:nvPr/>
        </p:nvSpPr>
        <p:spPr>
          <a:xfrm>
            <a:off x="3807562" y="1554480"/>
            <a:ext cx="1528877" cy="1261872"/>
          </a:xfrm>
          <a:prstGeom prst="roundRect">
            <a:avLst>
              <a:gd name="adj" fmla="val 5797"/>
            </a:avLst>
          </a:prstGeom>
          <a:solidFill>
            <a:srgbClr val="F2ECE1"/>
          </a:solidFill>
          <a:ln w="12700">
            <a:solidFill>
              <a:srgbClr val="DFD6C7"/>
            </a:solidFill>
            <a:prstDash val="solid"/>
          </a:ln>
        </p:spPr>
      </p:sp>
      <p:sp>
        <p:nvSpPr>
          <p:cNvPr id="12" name="Text 10"/>
          <p:cNvSpPr txBox="1"/>
          <p:nvPr/>
        </p:nvSpPr>
        <p:spPr>
          <a:xfrm>
            <a:off x="3899002" y="1609344"/>
            <a:ext cx="1345997" cy="1152144"/>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Scripted multisignatures</a:t>
            </a:r>
            <a:endParaRPr lang="en-US" sz="1150" dirty="0"/>
          </a:p>
          <a:p>
            <a:pPr algn="ctr" indent="0" marL="0">
              <a:buNone/>
            </a:pPr>
            <a:r>
              <a:rPr lang="en-US" sz="1000" dirty="0">
                <a:solidFill>
                  <a:srgbClr val="6E655C"/>
                </a:solidFill>
                <a:latin typeface="Calibri" pitchFamily="34" charset="0"/>
                <a:ea typeface="Calibri" pitchFamily="34" charset="-122"/>
                <a:cs typeface="Calibri" pitchFamily="34" charset="-120"/>
              </a:rPr>
              <a:t>4 concepts</a:t>
            </a:r>
            <a:endParaRPr lang="en-US" sz="1150" dirty="0"/>
          </a:p>
        </p:txBody>
      </p:sp>
      <p:sp>
        <p:nvSpPr>
          <p:cNvPr id="13" name="Shape 11"/>
          <p:cNvSpPr/>
          <p:nvPr/>
        </p:nvSpPr>
        <p:spPr>
          <a:xfrm>
            <a:off x="5482742" y="1554480"/>
            <a:ext cx="1528877" cy="1261872"/>
          </a:xfrm>
          <a:prstGeom prst="roundRect">
            <a:avLst>
              <a:gd name="adj" fmla="val 5797"/>
            </a:avLst>
          </a:prstGeom>
          <a:solidFill>
            <a:srgbClr val="F2ECE1"/>
          </a:solidFill>
          <a:ln w="12700">
            <a:solidFill>
              <a:srgbClr val="DFD6C7"/>
            </a:solidFill>
            <a:prstDash val="solid"/>
          </a:ln>
        </p:spPr>
      </p:sp>
      <p:sp>
        <p:nvSpPr>
          <p:cNvPr id="14" name="Text 12"/>
          <p:cNvSpPr txBox="1"/>
          <p:nvPr/>
        </p:nvSpPr>
        <p:spPr>
          <a:xfrm>
            <a:off x="5574182" y="1609344"/>
            <a:ext cx="1345997" cy="1152144"/>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Pay to script hash</a:t>
            </a:r>
            <a:endParaRPr lang="en-US" sz="1150" dirty="0"/>
          </a:p>
          <a:p>
            <a:pPr algn="ctr" indent="0" marL="0">
              <a:buNone/>
            </a:pPr>
            <a:r>
              <a:rPr lang="en-US" sz="1000" dirty="0">
                <a:solidFill>
                  <a:srgbClr val="6E655C"/>
                </a:solidFill>
                <a:latin typeface="Calibri" pitchFamily="34" charset="0"/>
                <a:ea typeface="Calibri" pitchFamily="34" charset="-122"/>
                <a:cs typeface="Calibri" pitchFamily="34" charset="-120"/>
              </a:rPr>
              <a:t>5 concepts</a:t>
            </a:r>
            <a:endParaRPr lang="en-US" sz="1150" dirty="0"/>
          </a:p>
        </p:txBody>
      </p:sp>
      <p:sp>
        <p:nvSpPr>
          <p:cNvPr id="15" name="Shape 13"/>
          <p:cNvSpPr/>
          <p:nvPr/>
        </p:nvSpPr>
        <p:spPr>
          <a:xfrm>
            <a:off x="7157923" y="1554480"/>
            <a:ext cx="1528877" cy="1261872"/>
          </a:xfrm>
          <a:prstGeom prst="roundRect">
            <a:avLst>
              <a:gd name="adj" fmla="val 5797"/>
            </a:avLst>
          </a:prstGeom>
          <a:solidFill>
            <a:srgbClr val="F2ECE1"/>
          </a:solidFill>
          <a:ln w="12700">
            <a:solidFill>
              <a:srgbClr val="DFD6C7"/>
            </a:solidFill>
            <a:prstDash val="solid"/>
          </a:ln>
        </p:spPr>
      </p:sp>
      <p:sp>
        <p:nvSpPr>
          <p:cNvPr id="16" name="Text 14"/>
          <p:cNvSpPr txBox="1"/>
          <p:nvPr/>
        </p:nvSpPr>
        <p:spPr>
          <a:xfrm>
            <a:off x="7249363" y="1609344"/>
            <a:ext cx="1345997" cy="1152144"/>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Data output and timelocks</a:t>
            </a:r>
            <a:endParaRPr lang="en-US" sz="1150" dirty="0"/>
          </a:p>
          <a:p>
            <a:pPr algn="ctr" indent="0" marL="0">
              <a:buNone/>
            </a:pPr>
            <a:r>
              <a:rPr lang="en-US" sz="1000" dirty="0">
                <a:solidFill>
                  <a:srgbClr val="6E655C"/>
                </a:solidFill>
                <a:latin typeface="Calibri" pitchFamily="34" charset="0"/>
                <a:ea typeface="Calibri" pitchFamily="34" charset="-122"/>
                <a:cs typeface="Calibri" pitchFamily="34" charset="-120"/>
              </a:rPr>
              <a:t>6 concepts</a:t>
            </a:r>
            <a:endParaRPr lang="en-US" sz="1150" dirty="0"/>
          </a:p>
        </p:txBody>
      </p:sp>
      <p:sp>
        <p:nvSpPr>
          <p:cNvPr id="17" name="Shape 15"/>
          <p:cNvSpPr/>
          <p:nvPr/>
        </p:nvSpPr>
        <p:spPr>
          <a:xfrm>
            <a:off x="457200" y="2944368"/>
            <a:ext cx="1528877" cy="1261872"/>
          </a:xfrm>
          <a:prstGeom prst="roundRect">
            <a:avLst>
              <a:gd name="adj" fmla="val 5797"/>
            </a:avLst>
          </a:prstGeom>
          <a:solidFill>
            <a:srgbClr val="F2ECE1"/>
          </a:solidFill>
          <a:ln w="12700">
            <a:solidFill>
              <a:srgbClr val="DFD6C7"/>
            </a:solidFill>
            <a:prstDash val="solid"/>
          </a:ln>
        </p:spPr>
      </p:sp>
      <p:sp>
        <p:nvSpPr>
          <p:cNvPr id="18" name="Text 16"/>
          <p:cNvSpPr txBox="1"/>
          <p:nvPr/>
        </p:nvSpPr>
        <p:spPr>
          <a:xfrm>
            <a:off x="548640" y="2999232"/>
            <a:ext cx="1345997" cy="1152144"/>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Flow control and complex scripts</a:t>
            </a:r>
            <a:endParaRPr lang="en-US" sz="1150" dirty="0"/>
          </a:p>
          <a:p>
            <a:pPr algn="ctr" indent="0" marL="0">
              <a:buNone/>
            </a:pPr>
            <a:r>
              <a:rPr lang="en-US" sz="1000" dirty="0">
                <a:solidFill>
                  <a:srgbClr val="6E655C"/>
                </a:solidFill>
                <a:latin typeface="Calibri" pitchFamily="34" charset="0"/>
                <a:ea typeface="Calibri" pitchFamily="34" charset="-122"/>
                <a:cs typeface="Calibri" pitchFamily="34" charset="-120"/>
              </a:rPr>
              <a:t>5 concepts</a:t>
            </a:r>
            <a:endParaRPr lang="en-US" sz="1150" dirty="0"/>
          </a:p>
        </p:txBody>
      </p:sp>
      <p:sp>
        <p:nvSpPr>
          <p:cNvPr id="19" name="Shape 17"/>
          <p:cNvSpPr/>
          <p:nvPr/>
        </p:nvSpPr>
        <p:spPr>
          <a:xfrm>
            <a:off x="2132381" y="2944368"/>
            <a:ext cx="1528877" cy="1261872"/>
          </a:xfrm>
          <a:prstGeom prst="roundRect">
            <a:avLst>
              <a:gd name="adj" fmla="val 5797"/>
            </a:avLst>
          </a:prstGeom>
          <a:solidFill>
            <a:srgbClr val="F2ECE1"/>
          </a:solidFill>
          <a:ln w="12700">
            <a:solidFill>
              <a:srgbClr val="DFD6C7"/>
            </a:solidFill>
            <a:prstDash val="solid"/>
          </a:ln>
        </p:spPr>
      </p:sp>
      <p:sp>
        <p:nvSpPr>
          <p:cNvPr id="20" name="Text 18"/>
          <p:cNvSpPr txBox="1"/>
          <p:nvPr/>
        </p:nvSpPr>
        <p:spPr>
          <a:xfrm>
            <a:off x="2223821" y="2999232"/>
            <a:ext cx="1345997" cy="1152144"/>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Segregated witness scripts</a:t>
            </a:r>
            <a:endParaRPr lang="en-US" sz="1150" dirty="0"/>
          </a:p>
          <a:p>
            <a:pPr algn="ctr" indent="0" marL="0">
              <a:buNone/>
            </a:pPr>
            <a:r>
              <a:rPr lang="en-US" sz="1000" dirty="0">
                <a:solidFill>
                  <a:srgbClr val="6E655C"/>
                </a:solidFill>
                <a:latin typeface="Calibri" pitchFamily="34" charset="0"/>
                <a:ea typeface="Calibri" pitchFamily="34" charset="-122"/>
                <a:cs typeface="Calibri" pitchFamily="34" charset="-120"/>
              </a:rPr>
              <a:t>7 concepts</a:t>
            </a:r>
            <a:endParaRPr lang="en-US" sz="1150" dirty="0"/>
          </a:p>
        </p:txBody>
      </p:sp>
      <p:sp>
        <p:nvSpPr>
          <p:cNvPr id="21" name="Shape 19"/>
          <p:cNvSpPr/>
          <p:nvPr/>
        </p:nvSpPr>
        <p:spPr>
          <a:xfrm>
            <a:off x="3807562" y="2944368"/>
            <a:ext cx="1528877" cy="1261872"/>
          </a:xfrm>
          <a:prstGeom prst="roundRect">
            <a:avLst>
              <a:gd name="adj" fmla="val 5797"/>
            </a:avLst>
          </a:prstGeom>
          <a:solidFill>
            <a:srgbClr val="F2ECE1"/>
          </a:solidFill>
          <a:ln w="12700">
            <a:solidFill>
              <a:srgbClr val="DFD6C7"/>
            </a:solidFill>
            <a:prstDash val="solid"/>
          </a:ln>
        </p:spPr>
      </p:sp>
      <p:sp>
        <p:nvSpPr>
          <p:cNvPr id="22" name="Text 20"/>
          <p:cNvSpPr txBox="1"/>
          <p:nvPr/>
        </p:nvSpPr>
        <p:spPr>
          <a:xfrm>
            <a:off x="3899002" y="2999232"/>
            <a:ext cx="1345997" cy="1152144"/>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Script trees and key tweaks</a:t>
            </a:r>
            <a:endParaRPr lang="en-US" sz="1150" dirty="0"/>
          </a:p>
          <a:p>
            <a:pPr algn="ctr" indent="0" marL="0">
              <a:buNone/>
            </a:pPr>
            <a:r>
              <a:rPr lang="en-US" sz="1000" dirty="0">
                <a:solidFill>
                  <a:srgbClr val="6E655C"/>
                </a:solidFill>
                <a:latin typeface="Calibri" pitchFamily="34" charset="0"/>
                <a:ea typeface="Calibri" pitchFamily="34" charset="-122"/>
                <a:cs typeface="Calibri" pitchFamily="34" charset="-120"/>
              </a:rPr>
              <a:t>5 concepts</a:t>
            </a:r>
            <a:endParaRPr lang="en-US" sz="1150" dirty="0"/>
          </a:p>
        </p:txBody>
      </p:sp>
      <p:sp>
        <p:nvSpPr>
          <p:cNvPr id="23" name="Shape 21"/>
          <p:cNvSpPr/>
          <p:nvPr/>
        </p:nvSpPr>
        <p:spPr>
          <a:xfrm>
            <a:off x="5482742" y="2944368"/>
            <a:ext cx="1528877" cy="1261872"/>
          </a:xfrm>
          <a:prstGeom prst="roundRect">
            <a:avLst>
              <a:gd name="adj" fmla="val 5797"/>
            </a:avLst>
          </a:prstGeom>
          <a:solidFill>
            <a:srgbClr val="D97A14"/>
          </a:solidFill>
          <a:ln w="12700">
            <a:solidFill>
              <a:srgbClr val="D97A14"/>
            </a:solidFill>
            <a:prstDash val="solid"/>
          </a:ln>
        </p:spPr>
      </p:sp>
      <p:sp>
        <p:nvSpPr>
          <p:cNvPr id="24" name="Text 22"/>
          <p:cNvSpPr txBox="1"/>
          <p:nvPr/>
        </p:nvSpPr>
        <p:spPr>
          <a:xfrm>
            <a:off x="5574182" y="2999232"/>
            <a:ext cx="1345997" cy="115214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Taproot and tapscript</a:t>
            </a:r>
            <a:endParaRPr lang="en-US" sz="1150" dirty="0"/>
          </a:p>
          <a:p>
            <a:pPr algn="ctr" indent="0" marL="0">
              <a:buNone/>
            </a:pPr>
            <a:r>
              <a:rPr lang="en-US" sz="1000" dirty="0">
                <a:solidFill>
                  <a:srgbClr val="FFFFFF"/>
                </a:solidFill>
                <a:latin typeface="Calibri" pitchFamily="34" charset="0"/>
                <a:ea typeface="Calibri" pitchFamily="34" charset="-122"/>
                <a:cs typeface="Calibri" pitchFamily="34" charset="-120"/>
              </a:rPr>
              <a:t>7 concepts</a:t>
            </a:r>
            <a:endParaRPr lang="en-US" sz="1150" dirty="0"/>
          </a:p>
        </p:txBody>
      </p:sp>
      <p:sp>
        <p:nvSpPr>
          <p:cNvPr id="25" name="Shape 23"/>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Nine branches - every slide today lives on this map</a:t>
            </a:r>
            <a:endParaRPr lang="en-US" sz="135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26</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Scripts and the stack</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The language, its two scripts and a bug of 2010</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 stack machine</a:t>
            </a: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Lock and unlock</a:t>
            </a: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 key hash</a:t>
            </a: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OP_RETURN, 2010</a:t>
            </a:r>
            <a:endParaRPr lang="en-US" sz="1400" dirty="0"/>
          </a:p>
        </p:txBody>
      </p:sp>
      <p:pic>
        <p:nvPicPr>
          <p:cNvPr id="14" name="Image 0" descr="../../03-materials/ch07/assets/mbc3_0702.png">    </p:cNvPr>
          <p:cNvPicPr>
            <a:picLocks noChangeAspect="1"/>
          </p:cNvPicPr>
          <p:nvPr/>
        </p:nvPicPr>
        <p:blipFill>
          <a:blip r:embed="rId1"/>
          <a:srcRect l="0" r="0" t="0" b="0"/>
          <a:stretch/>
        </p:blipFill>
        <p:spPr>
          <a:xfrm>
            <a:off x="6172200" y="1691640"/>
            <a:ext cx="1828800" cy="2441448"/>
          </a:xfrm>
          <a:prstGeom prst="rect">
            <a:avLst/>
          </a:prstGeom>
        </p:spPr>
      </p:pic>
      <p:sp>
        <p:nvSpPr>
          <p:cNvPr id="15" name="Text 12"/>
          <p:cNvSpPr txBox="1"/>
          <p:nvPr/>
        </p:nvSpPr>
        <p:spPr>
          <a:xfrm>
            <a:off x="6172200" y="4151376"/>
            <a:ext cx="18288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 simple stack calculation - Mastering Bitcoin 3e, CC BY-SA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script is a short program for a stack</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Push data, or pop inputs and push a result; the top of the stack is the verdict</a:t>
            </a:r>
            <a:endParaRPr lang="en-US" sz="1300" dirty="0"/>
          </a:p>
        </p:txBody>
      </p:sp>
      <p:sp>
        <p:nvSpPr>
          <p:cNvPr id="6" name="Shape 4"/>
          <p:cNvSpPr/>
          <p:nvPr/>
        </p:nvSpPr>
        <p:spPr>
          <a:xfrm>
            <a:off x="457200" y="1325880"/>
            <a:ext cx="2426208" cy="777240"/>
          </a:xfrm>
          <a:prstGeom prst="roundRect">
            <a:avLst>
              <a:gd name="adj" fmla="val 11765"/>
            </a:avLst>
          </a:prstGeom>
          <a:solidFill>
            <a:srgbClr val="2F6D62"/>
          </a:solidFill>
          <a:ln w="12700">
            <a:solidFill>
              <a:srgbClr val="2F6D62"/>
            </a:solidFill>
            <a:prstDash val="solid"/>
          </a:ln>
        </p:spPr>
      </p:sp>
      <p:sp>
        <p:nvSpPr>
          <p:cNvPr id="7" name="Text 5"/>
          <p:cNvSpPr txBox="1"/>
          <p:nvPr/>
        </p:nvSpPr>
        <p:spPr>
          <a:xfrm>
            <a:off x="530352" y="1371600"/>
            <a:ext cx="2279904"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Unlocking script</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pushes the proof, usually a signature and a key</a:t>
            </a:r>
            <a:endParaRPr lang="en-US" sz="1150" dirty="0"/>
          </a:p>
        </p:txBody>
      </p:sp>
      <p:sp>
        <p:nvSpPr>
          <p:cNvPr id="8" name="Shape 6"/>
          <p:cNvSpPr/>
          <p:nvPr/>
        </p:nvSpPr>
        <p:spPr>
          <a:xfrm>
            <a:off x="2938272" y="1714500"/>
            <a:ext cx="365760" cy="0"/>
          </a:xfrm>
          <a:prstGeom prst="line">
            <a:avLst/>
          </a:prstGeom>
          <a:noFill/>
          <a:ln w="25400">
            <a:solidFill>
              <a:srgbClr val="D97A14"/>
            </a:solidFill>
            <a:prstDash val="solid"/>
            <a:tailEnd type="triangle"/>
          </a:ln>
        </p:spPr>
      </p:sp>
      <p:sp>
        <p:nvSpPr>
          <p:cNvPr id="9" name="Shape 7"/>
          <p:cNvSpPr/>
          <p:nvPr/>
        </p:nvSpPr>
        <p:spPr>
          <a:xfrm>
            <a:off x="3358896" y="1325880"/>
            <a:ext cx="2426208" cy="777240"/>
          </a:xfrm>
          <a:prstGeom prst="roundRect">
            <a:avLst>
              <a:gd name="adj" fmla="val 11765"/>
            </a:avLst>
          </a:prstGeom>
          <a:solidFill>
            <a:srgbClr val="2F6D62"/>
          </a:solidFill>
          <a:ln w="12700">
            <a:solidFill>
              <a:srgbClr val="2F6D62"/>
            </a:solidFill>
            <a:prstDash val="solid"/>
          </a:ln>
        </p:spPr>
      </p:sp>
      <p:sp>
        <p:nvSpPr>
          <p:cNvPr id="10" name="Text 8"/>
          <p:cNvSpPr txBox="1"/>
          <p:nvPr/>
        </p:nvSpPr>
        <p:spPr>
          <a:xfrm>
            <a:off x="3432048" y="1371600"/>
            <a:ext cx="2279904"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Locking script</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runs on the same stack and checks the proof</a:t>
            </a:r>
            <a:endParaRPr lang="en-US" sz="1150" dirty="0"/>
          </a:p>
        </p:txBody>
      </p:sp>
      <p:sp>
        <p:nvSpPr>
          <p:cNvPr id="11" name="Shape 9"/>
          <p:cNvSpPr/>
          <p:nvPr/>
        </p:nvSpPr>
        <p:spPr>
          <a:xfrm>
            <a:off x="5839968" y="1714500"/>
            <a:ext cx="365760" cy="0"/>
          </a:xfrm>
          <a:prstGeom prst="line">
            <a:avLst/>
          </a:prstGeom>
          <a:noFill/>
          <a:ln w="25400">
            <a:solidFill>
              <a:srgbClr val="D97A14"/>
            </a:solidFill>
            <a:prstDash val="solid"/>
            <a:tailEnd type="triangle"/>
          </a:ln>
        </p:spPr>
      </p:sp>
      <p:sp>
        <p:nvSpPr>
          <p:cNvPr id="12" name="Shape 10"/>
          <p:cNvSpPr/>
          <p:nvPr/>
        </p:nvSpPr>
        <p:spPr>
          <a:xfrm>
            <a:off x="6260592" y="1325880"/>
            <a:ext cx="2426208" cy="777240"/>
          </a:xfrm>
          <a:prstGeom prst="roundRect">
            <a:avLst>
              <a:gd name="adj" fmla="val 11765"/>
            </a:avLst>
          </a:prstGeom>
          <a:solidFill>
            <a:srgbClr val="2F6D62"/>
          </a:solidFill>
          <a:ln w="12700">
            <a:solidFill>
              <a:srgbClr val="2F6D62"/>
            </a:solidFill>
            <a:prstDash val="solid"/>
          </a:ln>
        </p:spPr>
      </p:sp>
      <p:sp>
        <p:nvSpPr>
          <p:cNvPr id="13" name="Text 11"/>
          <p:cNvSpPr txBox="1"/>
          <p:nvPr/>
        </p:nvSpPr>
        <p:spPr>
          <a:xfrm>
            <a:off x="6333744" y="1371600"/>
            <a:ext cx="2279904"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Top of the stack</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non-zero: the spend is valid</a:t>
            </a:r>
            <a:endParaRPr lang="en-US" sz="1150" dirty="0"/>
          </a:p>
        </p:txBody>
      </p:sp>
      <p:sp>
        <p:nvSpPr>
          <p:cNvPr id="14" name="Text 12"/>
          <p:cNvSpPr txBox="1"/>
          <p:nvPr/>
        </p:nvSpPr>
        <p:spPr>
          <a:xfrm>
            <a:off x="457200" y="219456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2 3 ADD 5 EQUAL, run; then its bytes</a:t>
            </a:r>
            <a:endParaRPr lang="en-US" sz="1150" dirty="0"/>
          </a:p>
        </p:txBody>
      </p:sp>
      <p:sp>
        <p:nvSpPr>
          <p:cNvPr id="15" name="Shape 13"/>
          <p:cNvSpPr/>
          <p:nvPr/>
        </p:nvSpPr>
        <p:spPr>
          <a:xfrm>
            <a:off x="457200" y="2468880"/>
            <a:ext cx="4023360" cy="1371600"/>
          </a:xfrm>
          <a:prstGeom prst="roundRect">
            <a:avLst>
              <a:gd name="adj" fmla="val 6667"/>
            </a:avLst>
          </a:prstGeom>
          <a:solidFill>
            <a:srgbClr val="23272E"/>
          </a:solidFill>
          <a:ln w="12700">
            <a:solidFill>
              <a:srgbClr val="23272E"/>
            </a:solidFill>
            <a:prstDash val="solid"/>
          </a:ln>
        </p:spPr>
      </p:sp>
      <p:sp>
        <p:nvSpPr>
          <p:cNvPr id="16" name="Text 14"/>
          <p:cNvSpPr txBox="1"/>
          <p:nvPr/>
        </p:nvSpPr>
        <p:spPr>
          <a:xfrm>
            <a:off x="640080" y="2587752"/>
            <a:ext cx="3657600" cy="113385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L.run(</a:t>
            </a:r>
            <a:r>
              <a:rPr lang="en-US" sz="900" dirty="0">
                <a:solidFill>
                  <a:srgbClr val="9ECBFF"/>
                </a:solidFill>
                <a:latin typeface="Courier New" pitchFamily="34" charset="0"/>
                <a:ea typeface="Courier New" pitchFamily="34" charset="-122"/>
                <a:cs typeface="Courier New" pitchFamily="34" charset="-120"/>
              </a:rPr>
              <a:t>'2 3'</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'OP_ADD 5 OP_EQUAL'</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'OK'</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L.run(</a:t>
            </a:r>
            <a:r>
              <a:rPr lang="en-US" sz="900" dirty="0">
                <a:solidFill>
                  <a:srgbClr val="9ECBFF"/>
                </a:solidFill>
                <a:latin typeface="Courier New" pitchFamily="34" charset="0"/>
                <a:ea typeface="Courier New" pitchFamily="34" charset="-122"/>
                <a:cs typeface="Courier New" pitchFamily="34" charset="-120"/>
              </a:rPr>
              <a:t>'2 3'</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'OP_ADD 6 OP_EQUAL'</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'EVAL_FALSE'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L.assemble(</a:t>
            </a:r>
            <a:r>
              <a:rPr lang="en-US" sz="900" dirty="0">
                <a:solidFill>
                  <a:srgbClr val="9ECBFF"/>
                </a:solidFill>
                <a:latin typeface="Courier New" pitchFamily="34" charset="0"/>
                <a:ea typeface="Courier New" pitchFamily="34" charset="-122"/>
                <a:cs typeface="Courier New" pitchFamily="34" charset="-120"/>
              </a:rPr>
              <a:t>'2 3 OP_ADD 5 OP_EQUAL'</a:t>
            </a:r>
            <a:r>
              <a:rPr lang="en-US" sz="900" dirty="0">
                <a:solidFill>
                  <a:srgbClr val="E6EDF3"/>
                </a:solidFill>
                <a:latin typeface="Courier New" pitchFamily="34" charset="0"/>
                <a:ea typeface="Courier New" pitchFamily="34" charset="-122"/>
                <a:cs typeface="Courier New" pitchFamily="34" charset="-120"/>
              </a:rPr>
              <a:t>).hex()</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'5253935587'</a:t>
            </a:r>
            <a:endParaRPr lang="en-US" sz="900" dirty="0"/>
          </a:p>
        </p:txBody>
      </p:sp>
      <p:sp>
        <p:nvSpPr>
          <p:cNvPr id="17" name="Text 15"/>
          <p:cNvSpPr txBox="1"/>
          <p:nvPr/>
        </p:nvSpPr>
        <p:spPr>
          <a:xfrm>
            <a:off x="457200" y="3858768"/>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Text 16"/>
          <p:cNvSpPr txBox="1"/>
          <p:nvPr/>
        </p:nvSpPr>
        <p:spPr>
          <a:xfrm>
            <a:off x="4663440" y="219456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real key-hash spend, then two broken ones</a:t>
            </a:r>
            <a:endParaRPr lang="en-US" sz="1150" dirty="0"/>
          </a:p>
        </p:txBody>
      </p:sp>
      <p:sp>
        <p:nvSpPr>
          <p:cNvPr id="19" name="Shape 17"/>
          <p:cNvSpPr/>
          <p:nvPr/>
        </p:nvSpPr>
        <p:spPr>
          <a:xfrm>
            <a:off x="4663440" y="2468880"/>
            <a:ext cx="4023360" cy="1371600"/>
          </a:xfrm>
          <a:prstGeom prst="roundRect">
            <a:avLst>
              <a:gd name="adj" fmla="val 6667"/>
            </a:avLst>
          </a:prstGeom>
          <a:solidFill>
            <a:srgbClr val="23272E"/>
          </a:solidFill>
          <a:ln w="12700">
            <a:solidFill>
              <a:srgbClr val="23272E"/>
            </a:solidFill>
            <a:prstDash val="solid"/>
          </a:ln>
        </p:spPr>
      </p:sp>
      <p:sp>
        <p:nvSpPr>
          <p:cNvPr id="20" name="Text 18"/>
          <p:cNvSpPr txBox="1"/>
          <p:nvPr/>
        </p:nvSpPr>
        <p:spPr>
          <a:xfrm>
            <a:off x="4846320" y="2587752"/>
            <a:ext cx="3657600" cy="1133856"/>
          </a:xfrm>
          <a:prstGeom prst="rect">
            <a:avLst/>
          </a:prstGeom>
          <a:noFill/>
          <a:ln/>
        </p:spPr>
        <p:txBody>
          <a:bodyPr wrap="square" lIns="0" tIns="0" rIns="0" bIns="0" rtlCol="0" anchor="t"/>
          <a:lstStyle/>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spk = L.p2pkh_script(L.hash160(K.pub(</a:t>
            </a:r>
            <a:r>
              <a:rPr lang="en-US" sz="860" dirty="0">
                <a:solidFill>
                  <a:srgbClr val="FFD28A"/>
                </a:solidFill>
                <a:latin typeface="Courier New" pitchFamily="34" charset="0"/>
                <a:ea typeface="Courier New" pitchFamily="34" charset="-122"/>
                <a:cs typeface="Courier New" pitchFamily="34" charset="-120"/>
              </a:rPr>
              <a:t>1</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len(spk), L.classify(spk)[</a:t>
            </a:r>
            <a:r>
              <a:rPr lang="en-US" sz="860" dirty="0">
                <a:solidFill>
                  <a:srgbClr val="FFD28A"/>
                </a:solidFill>
                <a:latin typeface="Courier New" pitchFamily="34" charset="0"/>
                <a:ea typeface="Courier New" pitchFamily="34" charset="-122"/>
                <a:cs typeface="Courier New" pitchFamily="34" charset="-120"/>
              </a:rPr>
              <a:t>0</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(25, 'pubkeyhash')</a:t>
            </a:r>
            <a:endParaRPr lang="en-US" sz="860" dirty="0"/>
          </a:p>
          <a:p>
            <a:pPr indent="0" marL="0">
              <a:buNone/>
            </a:pPr>
            <a:r>
              <a:rPr lang="en-US" sz="860" b="1" dirty="0">
                <a:solidFill>
                  <a:srgbClr val="D97A14"/>
                </a:solidFill>
                <a:latin typeface="Courier New" pitchFamily="34" charset="0"/>
                <a:ea typeface="Courier New" pitchFamily="34" charset="-122"/>
                <a:cs typeface="Courier New" pitchFamily="34" charset="-120"/>
              </a:rPr>
              <a:t>&gt;&gt;&gt; </a:t>
            </a:r>
            <a:r>
              <a:rPr lang="en-US" sz="860" dirty="0">
                <a:solidFill>
                  <a:srgbClr val="E6EDF3"/>
                </a:solidFill>
                <a:latin typeface="Courier New" pitchFamily="34" charset="0"/>
                <a:ea typeface="Courier New" pitchFamily="34" charset="-122"/>
                <a:cs typeface="Courier New" pitchFamily="34" charset="-120"/>
              </a:rPr>
              <a:t>p2pkh(), p2pkh(signer=</a:t>
            </a:r>
            <a:r>
              <a:rPr lang="en-US" sz="860" dirty="0">
                <a:solidFill>
                  <a:srgbClr val="FFD28A"/>
                </a:solidFill>
                <a:latin typeface="Courier New" pitchFamily="34" charset="0"/>
                <a:ea typeface="Courier New" pitchFamily="34" charset="-122"/>
                <a:cs typeface="Courier New" pitchFamily="34" charset="-120"/>
              </a:rPr>
              <a:t>2</a:t>
            </a:r>
            <a:r>
              <a:rPr lang="en-US" sz="860" dirty="0">
                <a:solidFill>
                  <a:srgbClr val="E6EDF3"/>
                </a:solidFill>
                <a:latin typeface="Courier New" pitchFamily="34" charset="0"/>
                <a:ea typeface="Courier New" pitchFamily="34" charset="-122"/>
                <a:cs typeface="Courier New" pitchFamily="34" charset="-120"/>
              </a:rPr>
              <a:t>), p2pkh(amount_after=</a:t>
            </a:r>
            <a:r>
              <a:rPr lang="en-US" sz="860" dirty="0">
                <a:solidFill>
                  <a:srgbClr val="FFD28A"/>
                </a:solidFill>
                <a:latin typeface="Courier New" pitchFamily="34" charset="0"/>
                <a:ea typeface="Courier New" pitchFamily="34" charset="-122"/>
                <a:cs typeface="Courier New" pitchFamily="34" charset="-120"/>
              </a:rPr>
              <a:t>99999</a:t>
            </a:r>
            <a:r>
              <a:rPr lang="en-US" sz="860" dirty="0">
                <a:solidFill>
                  <a:srgbClr val="E6EDF3"/>
                </a:solidFill>
                <a:latin typeface="Courier New" pitchFamily="34" charset="0"/>
                <a:ea typeface="Courier New" pitchFamily="34" charset="-122"/>
                <a:cs typeface="Courier New" pitchFamily="34" charset="-120"/>
              </a:rPr>
              <a:t>)</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('OK', 'EVAL_FALSE', 'EVAL_FALSE')</a:t>
            </a:r>
            <a:endParaRPr lang="en-US" sz="860" dirty="0"/>
          </a:p>
        </p:txBody>
      </p:sp>
      <p:sp>
        <p:nvSpPr>
          <p:cNvPr id="21" name="Text 19"/>
          <p:cNvSpPr txBox="1"/>
          <p:nvPr/>
        </p:nvSpPr>
        <p:spPr>
          <a:xfrm>
            <a:off x="4663440" y="3858768"/>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2" name="Shape 20"/>
          <p:cNvSpPr/>
          <p:nvPr/>
        </p:nvSpPr>
        <p:spPr>
          <a:xfrm>
            <a:off x="457200" y="4160520"/>
            <a:ext cx="1309421" cy="420624"/>
          </a:xfrm>
          <a:prstGeom prst="roundRect">
            <a:avLst>
              <a:gd name="adj" fmla="val 50000"/>
            </a:avLst>
          </a:prstGeom>
          <a:solidFill>
            <a:srgbClr val="F2ECE1"/>
          </a:solidFill>
          <a:ln w="12700">
            <a:solidFill>
              <a:srgbClr val="D97A14"/>
            </a:solidFill>
            <a:prstDash val="solid"/>
          </a:ln>
        </p:spPr>
      </p:sp>
      <p:sp>
        <p:nvSpPr>
          <p:cNvPr id="23" name="Text 21"/>
          <p:cNvSpPr txBox="1"/>
          <p:nvPr/>
        </p:nvSpPr>
        <p:spPr>
          <a:xfrm>
            <a:off x="457200" y="4160520"/>
            <a:ext cx="1309421"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no loops</a:t>
            </a:r>
            <a:endParaRPr lang="en-US" sz="1100" dirty="0"/>
          </a:p>
        </p:txBody>
      </p:sp>
      <p:sp>
        <p:nvSpPr>
          <p:cNvPr id="24" name="Shape 22"/>
          <p:cNvSpPr/>
          <p:nvPr/>
        </p:nvSpPr>
        <p:spPr>
          <a:xfrm>
            <a:off x="1967789" y="4160520"/>
            <a:ext cx="1309421" cy="420624"/>
          </a:xfrm>
          <a:prstGeom prst="roundRect">
            <a:avLst>
              <a:gd name="adj" fmla="val 50000"/>
            </a:avLst>
          </a:prstGeom>
          <a:solidFill>
            <a:srgbClr val="F2ECE1"/>
          </a:solidFill>
          <a:ln w="12700">
            <a:solidFill>
              <a:srgbClr val="D97A14"/>
            </a:solidFill>
            <a:prstDash val="solid"/>
          </a:ln>
        </p:spPr>
      </p:sp>
      <p:sp>
        <p:nvSpPr>
          <p:cNvPr id="25" name="Text 23"/>
          <p:cNvSpPr txBox="1"/>
          <p:nvPr/>
        </p:nvSpPr>
        <p:spPr>
          <a:xfrm>
            <a:off x="1967789" y="4160520"/>
            <a:ext cx="1309421"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no state</a:t>
            </a:r>
            <a:endParaRPr lang="en-US" sz="1100" dirty="0"/>
          </a:p>
        </p:txBody>
      </p:sp>
      <p:sp>
        <p:nvSpPr>
          <p:cNvPr id="26" name="Shape 24"/>
          <p:cNvSpPr/>
          <p:nvPr/>
        </p:nvSpPr>
        <p:spPr>
          <a:xfrm>
            <a:off x="3478378" y="4160520"/>
            <a:ext cx="3854196" cy="420624"/>
          </a:xfrm>
          <a:prstGeom prst="roundRect">
            <a:avLst>
              <a:gd name="adj" fmla="val 50000"/>
            </a:avLst>
          </a:prstGeom>
          <a:solidFill>
            <a:srgbClr val="F2ECE1"/>
          </a:solidFill>
          <a:ln w="12700">
            <a:solidFill>
              <a:srgbClr val="D97A14"/>
            </a:solidFill>
            <a:prstDash val="solid"/>
          </a:ln>
        </p:spPr>
      </p:sp>
      <p:sp>
        <p:nvSpPr>
          <p:cNvPr id="27" name="Text 25"/>
          <p:cNvSpPr txBox="1"/>
          <p:nvPr/>
        </p:nvSpPr>
        <p:spPr>
          <a:xfrm>
            <a:off x="3478378" y="4160520"/>
            <a:ext cx="3854196"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a Python port of Core's engine</a:t>
            </a:r>
            <a:endParaRPr lang="en-US" sz="1100" dirty="0"/>
          </a:p>
        </p:txBody>
      </p:sp>
      <p:sp>
        <p:nvSpPr>
          <p:cNvPr id="28" name="Shape 26"/>
          <p:cNvSpPr/>
          <p:nvPr/>
        </p:nvSpPr>
        <p:spPr>
          <a:xfrm>
            <a:off x="457200" y="4636008"/>
            <a:ext cx="91440" cy="310896"/>
          </a:xfrm>
          <a:prstGeom prst="rect">
            <a:avLst/>
          </a:prstGeom>
          <a:solidFill>
            <a:srgbClr val="D97A14"/>
          </a:solidFill>
          <a:ln w="12700">
            <a:solidFill>
              <a:srgbClr val="D97A14"/>
            </a:solidFill>
            <a:prstDash val="solid"/>
          </a:ln>
        </p:spPr>
      </p:sp>
      <p:sp>
        <p:nvSpPr>
          <p:cNvPr id="29" name="Text 2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spend is a proof run against a condition, and the verdict is one value</a:t>
            </a:r>
            <a:endParaRPr lang="en-US" sz="1350" dirty="0"/>
          </a:p>
        </p:txBody>
      </p:sp>
      <p:sp>
        <p:nvSpPr>
          <p:cNvPr id="30" name="Text 2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script that ended with a true result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2010-07-28</a:t>
            </a:r>
            <a:endParaRPr lang="en-US" sz="1300" dirty="0"/>
          </a:p>
        </p:txBody>
      </p:sp>
      <p:pic>
        <p:nvPicPr>
          <p:cNvPr id="6" name="Image 0" descr="../../03-materials/ch07/assets/photo_satoshi_bust_budapest.jpg">    </p:cNvPr>
          <p:cNvPicPr>
            <a:picLocks noChangeAspect="1"/>
          </p:cNvPicPr>
          <p:nvPr/>
        </p:nvPicPr>
        <p:blipFill>
          <a:blip r:embed="rId1"/>
          <a:srcRect l="0" r="0" t="0" b="0"/>
          <a:stretch/>
        </p:blipFill>
        <p:spPr>
          <a:xfrm>
            <a:off x="457200" y="1325880"/>
            <a:ext cx="2103120" cy="2743200"/>
          </a:xfrm>
          <a:prstGeom prst="rect">
            <a:avLst/>
          </a:prstGeom>
        </p:spPr>
      </p:pic>
      <p:sp>
        <p:nvSpPr>
          <p:cNvPr id="7" name="Text 4"/>
          <p:cNvSpPr txBox="1"/>
          <p:nvPr/>
        </p:nvSpPr>
        <p:spPr>
          <a:xfrm>
            <a:off x="457200" y="4087368"/>
            <a:ext cx="210312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Bust of Satoshi Nakamoto, Budapest - Fekist, CC BY-SA 4.0</a:t>
            </a:r>
            <a:endParaRPr lang="en-US" sz="900" dirty="0"/>
          </a:p>
        </p:txBody>
      </p:sp>
      <p:sp>
        <p:nvSpPr>
          <p:cNvPr id="8" name="Shape 5"/>
          <p:cNvSpPr/>
          <p:nvPr/>
        </p:nvSpPr>
        <p:spPr>
          <a:xfrm>
            <a:off x="2834640" y="1490472"/>
            <a:ext cx="128016" cy="128016"/>
          </a:xfrm>
          <a:prstGeom prst="diamond">
            <a:avLst/>
          </a:prstGeom>
          <a:solidFill>
            <a:srgbClr val="D97A14"/>
          </a:solidFill>
          <a:ln w="12700">
            <a:solidFill>
              <a:srgbClr val="D97A14"/>
            </a:solidFill>
            <a:prstDash val="solid"/>
          </a:ln>
        </p:spPr>
      </p:sp>
      <p:sp>
        <p:nvSpPr>
          <p:cNvPr id="9" name="Text 6"/>
          <p:cNvSpPr txBox="1"/>
          <p:nvPr/>
        </p:nvSpPr>
        <p:spPr>
          <a:xfrm>
            <a:off x="3108960" y="1325880"/>
            <a:ext cx="5577840" cy="45720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28 July 2010: two bugs are found and shown on the test network</a:t>
            </a:r>
            <a:endParaRPr lang="en-US" sz="1200" dirty="0"/>
          </a:p>
        </p:txBody>
      </p:sp>
      <p:sp>
        <p:nvSpPr>
          <p:cNvPr id="10" name="Shape 7"/>
          <p:cNvSpPr/>
          <p:nvPr/>
        </p:nvSpPr>
        <p:spPr>
          <a:xfrm>
            <a:off x="2834640" y="194767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108960" y="1783080"/>
            <a:ext cx="5577840" cy="45720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Version 0.3.0 joined the two scripts, and OP_RETURN jumped to the end</a:t>
            </a:r>
            <a:endParaRPr lang="en-US" sz="1200" dirty="0"/>
          </a:p>
        </p:txBody>
      </p:sp>
      <p:sp>
        <p:nvSpPr>
          <p:cNvPr id="12" name="Shape 9"/>
          <p:cNvSpPr/>
          <p:nvPr/>
        </p:nvSpPr>
        <p:spPr>
          <a:xfrm>
            <a:off x="2834640" y="240487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108960" y="2240280"/>
            <a:ext cx="5577840" cy="45720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So 1 OP_RETURN ended the run true; fixed in 0.3.5</a:t>
            </a:r>
            <a:endParaRPr lang="en-US" sz="1200" dirty="0"/>
          </a:p>
        </p:txBody>
      </p:sp>
      <p:sp>
        <p:nvSpPr>
          <p:cNvPr id="14" name="Text 11"/>
          <p:cNvSpPr txBox="1"/>
          <p:nvPr/>
        </p:nvSpPr>
        <p:spPr>
          <a:xfrm>
            <a:off x="2834640" y="2606040"/>
            <a:ext cx="58521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2010 model accepts 1 OP_RETURN; today's engine refuses; the owner still spends</a:t>
            </a:r>
            <a:endParaRPr lang="en-US" sz="1150" dirty="0"/>
          </a:p>
        </p:txBody>
      </p:sp>
      <p:sp>
        <p:nvSpPr>
          <p:cNvPr id="15" name="Shape 12"/>
          <p:cNvSpPr/>
          <p:nvPr/>
        </p:nvSpPr>
        <p:spPr>
          <a:xfrm>
            <a:off x="2834640" y="2880360"/>
            <a:ext cx="5852160" cy="1097280"/>
          </a:xfrm>
          <a:prstGeom prst="roundRect">
            <a:avLst>
              <a:gd name="adj" fmla="val 8333"/>
            </a:avLst>
          </a:prstGeom>
          <a:solidFill>
            <a:srgbClr val="23272E"/>
          </a:solidFill>
          <a:ln w="12700">
            <a:solidFill>
              <a:srgbClr val="23272E"/>
            </a:solidFill>
            <a:prstDash val="solid"/>
          </a:ln>
        </p:spPr>
      </p:sp>
      <p:sp>
        <p:nvSpPr>
          <p:cNvPr id="16" name="Text 13"/>
          <p:cNvSpPr txBox="1"/>
          <p:nvPr/>
        </p:nvSpPr>
        <p:spPr>
          <a:xfrm>
            <a:off x="3017520" y="2999232"/>
            <a:ext cx="5486400" cy="859536"/>
          </a:xfrm>
          <a:prstGeom prst="rect">
            <a:avLst/>
          </a:prstGeom>
          <a:noFill/>
          <a:ln/>
        </p:spPr>
        <p:txBody>
          <a:bodyPr wrap="square" lIns="0" tIns="0" rIns="0" bIns="0" rtlCol="0" anchor="t"/>
          <a:lstStyle/>
          <a:p>
            <a:pPr indent="0" marL="0">
              <a:buNone/>
            </a:pPr>
            <a:r>
              <a:rPr lang="en-US" sz="830" b="1" dirty="0">
                <a:solidFill>
                  <a:srgbClr val="D97A14"/>
                </a:solidFill>
                <a:latin typeface="Courier New" pitchFamily="34" charset="0"/>
                <a:ea typeface="Courier New" pitchFamily="34" charset="-122"/>
                <a:cs typeface="Courier New" pitchFamily="34" charset="-120"/>
              </a:rPr>
              <a:t>&gt;&gt;&gt; </a:t>
            </a:r>
            <a:r>
              <a:rPr lang="en-US" sz="830" dirty="0">
                <a:solidFill>
                  <a:srgbClr val="E6EDF3"/>
                </a:solidFill>
                <a:latin typeface="Courier New" pitchFamily="34" charset="0"/>
                <a:ea typeface="Courier New" pitchFamily="34" charset="-122"/>
                <a:cs typeface="Courier New" pitchFamily="34" charset="-120"/>
              </a:rPr>
              <a:t>old_joined(</a:t>
            </a:r>
            <a:r>
              <a:rPr lang="en-US" sz="830" dirty="0">
                <a:solidFill>
                  <a:srgbClr val="9ECBFF"/>
                </a:solidFill>
                <a:latin typeface="Courier New" pitchFamily="34" charset="0"/>
                <a:ea typeface="Courier New" pitchFamily="34" charset="-122"/>
                <a:cs typeface="Courier New" pitchFamily="34" charset="-120"/>
              </a:rPr>
              <a:t>'OP_1 OP_RETURN'</a:t>
            </a:r>
            <a:r>
              <a:rPr lang="en-US" sz="830" dirty="0">
                <a:solidFill>
                  <a:srgbClr val="E6EDF3"/>
                </a:solidFill>
                <a:latin typeface="Courier New" pitchFamily="34" charset="0"/>
                <a:ea typeface="Courier New" pitchFamily="34" charset="-122"/>
                <a:cs typeface="Courier New" pitchFamily="34" charset="-120"/>
              </a:rPr>
              <a:t>, LOCK)</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'OK'</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r>
              <a:rPr lang="en-US" sz="830" dirty="0">
                <a:solidFill>
                  <a:srgbClr val="E6EDF3"/>
                </a:solidFill>
                <a:latin typeface="Courier New" pitchFamily="34" charset="0"/>
                <a:ea typeface="Courier New" pitchFamily="34" charset="-122"/>
                <a:cs typeface="Courier New" pitchFamily="34" charset="-120"/>
              </a:rPr>
              <a:t>L.run(</a:t>
            </a:r>
            <a:r>
              <a:rPr lang="en-US" sz="830" dirty="0">
                <a:solidFill>
                  <a:srgbClr val="9ECBFF"/>
                </a:solidFill>
                <a:latin typeface="Courier New" pitchFamily="34" charset="0"/>
                <a:ea typeface="Courier New" pitchFamily="34" charset="-122"/>
                <a:cs typeface="Courier New" pitchFamily="34" charset="-120"/>
              </a:rPr>
              <a:t>'OP_1 OP_RETURN'</a:t>
            </a:r>
            <a:r>
              <a:rPr lang="en-US" sz="830" dirty="0">
                <a:solidFill>
                  <a:srgbClr val="E6EDF3"/>
                </a:solidFill>
                <a:latin typeface="Courier New" pitchFamily="34" charset="0"/>
                <a:ea typeface="Courier New" pitchFamily="34" charset="-122"/>
                <a:cs typeface="Courier New" pitchFamily="34" charset="-120"/>
              </a:rPr>
              <a:t>, LOCK, flags=())</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'OP_RETURN'</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r>
              <a:rPr lang="en-US" sz="830" dirty="0">
                <a:solidFill>
                  <a:srgbClr val="E6EDF3"/>
                </a:solidFill>
                <a:latin typeface="Courier New" pitchFamily="34" charset="0"/>
                <a:ea typeface="Courier New" pitchFamily="34" charset="-122"/>
                <a:cs typeface="Courier New" pitchFamily="34" charset="-120"/>
              </a:rPr>
              <a:t>L.run(</a:t>
            </a:r>
            <a:r>
              <a:rPr lang="en-US" sz="830" dirty="0">
                <a:solidFill>
                  <a:srgbClr val="9ECBFF"/>
                </a:solidFill>
                <a:latin typeface="Courier New" pitchFamily="34" charset="0"/>
                <a:ea typeface="Courier New" pitchFamily="34" charset="-122"/>
                <a:cs typeface="Courier New" pitchFamily="34" charset="-120"/>
              </a:rPr>
              <a:t>'0x06'</a:t>
            </a:r>
            <a:r>
              <a:rPr lang="en-US" sz="830" dirty="0">
                <a:solidFill>
                  <a:srgbClr val="E6EDF3"/>
                </a:solidFill>
                <a:latin typeface="Courier New" pitchFamily="34" charset="0"/>
                <a:ea typeface="Courier New" pitchFamily="34" charset="-122"/>
                <a:cs typeface="Courier New" pitchFamily="34" charset="-120"/>
              </a:rPr>
              <a:t> + b</a:t>
            </a:r>
            <a:r>
              <a:rPr lang="en-US" sz="830" dirty="0">
                <a:solidFill>
                  <a:srgbClr val="9ECBFF"/>
                </a:solidFill>
                <a:latin typeface="Courier New" pitchFamily="34" charset="0"/>
                <a:ea typeface="Courier New" pitchFamily="34" charset="-122"/>
                <a:cs typeface="Courier New" pitchFamily="34" charset="-120"/>
              </a:rPr>
              <a:t>'secret'</a:t>
            </a:r>
            <a:r>
              <a:rPr lang="en-US" sz="830" dirty="0">
                <a:solidFill>
                  <a:srgbClr val="E6EDF3"/>
                </a:solidFill>
                <a:latin typeface="Courier New" pitchFamily="34" charset="0"/>
                <a:ea typeface="Courier New" pitchFamily="34" charset="-122"/>
                <a:cs typeface="Courier New" pitchFamily="34" charset="-120"/>
              </a:rPr>
              <a:t>.hex(), LOCK, flags=())</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'OK'</a:t>
            </a:r>
            <a:endParaRPr lang="en-US" sz="830" dirty="0"/>
          </a:p>
        </p:txBody>
      </p:sp>
      <p:sp>
        <p:nvSpPr>
          <p:cNvPr id="17" name="Text 14"/>
          <p:cNvSpPr txBox="1"/>
          <p:nvPr/>
        </p:nvSpPr>
        <p:spPr>
          <a:xfrm>
            <a:off x="2834640" y="3995928"/>
            <a:ext cx="58521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2834640" y="4224528"/>
            <a:ext cx="1104595"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2926080" y="4224528"/>
            <a:ext cx="958291"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Satoshi Nak…</a:t>
            </a:r>
            <a:endParaRPr lang="en-US" sz="750" dirty="0"/>
          </a:p>
        </p:txBody>
      </p:sp>
      <p:sp>
        <p:nvSpPr>
          <p:cNvPr id="20" name="Shape 17"/>
          <p:cNvSpPr/>
          <p:nvPr/>
        </p:nvSpPr>
        <p:spPr>
          <a:xfrm>
            <a:off x="4048963" y="4224528"/>
            <a:ext cx="1049365"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4140403" y="4224528"/>
            <a:ext cx="903061"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Bitcoi…</a:t>
            </a:r>
            <a:endParaRPr lang="en-US" sz="750" dirty="0"/>
          </a:p>
        </p:txBody>
      </p:sp>
      <p:sp>
        <p:nvSpPr>
          <p:cNvPr id="22" name="Shape 19"/>
          <p:cNvSpPr/>
          <p:nvPr/>
        </p:nvSpPr>
        <p:spPr>
          <a:xfrm>
            <a:off x="5208057" y="4224528"/>
            <a:ext cx="938906"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5299497" y="4224528"/>
            <a:ext cx="792602"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2010-07-…</a:t>
            </a:r>
            <a:endParaRPr lang="en-US" sz="750" dirty="0"/>
          </a:p>
        </p:txBody>
      </p:sp>
      <p:sp>
        <p:nvSpPr>
          <p:cNvPr id="24" name="Shape 21"/>
          <p:cNvSpPr/>
          <p:nvPr/>
        </p:nvSpPr>
        <p:spPr>
          <a:xfrm>
            <a:off x="6256691" y="4224528"/>
            <a:ext cx="2430109"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6348131" y="4224528"/>
            <a:ext cx="2283805"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8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CVE-2010-5141 entry (Bitcoin Wiki)</a:t>
            </a:r>
            <a:endParaRPr lang="en-US" sz="7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Signatures, multisig and script hash</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Signatures, t of k keys and script hashes</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DER and the hash type</a:t>
            </a: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Strict DER, 2015</a:t>
            </a: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2-of-3 multisig</a:t>
            </a: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Pay to script hash</a:t>
            </a:r>
            <a:endParaRPr lang="en-US" sz="1400" dirty="0"/>
          </a:p>
        </p:txBody>
      </p:sp>
      <p:pic>
        <p:nvPicPr>
          <p:cNvPr id="14" name="Image 0" descr="../../03-materials/ch07/assets/mbc3_0703.png">    </p:cNvPr>
          <p:cNvPicPr>
            <a:picLocks noChangeAspect="1"/>
          </p:cNvPicPr>
          <p:nvPr/>
        </p:nvPicPr>
        <p:blipFill>
          <a:blip r:embed="rId1"/>
          <a:srcRect l="0" r="0" t="0" b="0"/>
          <a:stretch/>
        </p:blipFill>
        <p:spPr>
          <a:xfrm>
            <a:off x="5943600" y="1691640"/>
            <a:ext cx="2651760" cy="2212848"/>
          </a:xfrm>
          <a:prstGeom prst="rect">
            <a:avLst/>
          </a:prstGeom>
        </p:spPr>
      </p:pic>
      <p:sp>
        <p:nvSpPr>
          <p:cNvPr id="15" name="Text 12"/>
          <p:cNvSpPr txBox="1"/>
          <p:nvPr/>
        </p:nvSpPr>
        <p:spPr>
          <a:xfrm>
            <a:off x="5943600" y="3922776"/>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validating a P2PKH script - Mastering Bitcoin 3e, CC BY-SA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26</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A signature is two numbers, written in strict DER</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Strict encoding is a consensus rule since BIP66; the low form of s is only a relay policy</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same signature, padded with a zero byte, passes without the DERSIG rule and fails with it.</a:t>
            </a:r>
            <a:endParaRPr lang="en-US" sz="1250" dirty="0"/>
          </a:p>
        </p:txBody>
      </p:sp>
      <p:sp>
        <p:nvSpPr>
          <p:cNvPr id="7" name="Text 5"/>
          <p:cNvSpPr txBox="1"/>
          <p:nvPr/>
        </p:nvSpPr>
        <p:spPr>
          <a:xfrm>
            <a:off x="457200" y="15544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signature of 72 bytes, strictly encoded and low-s; a padded copy is refused only when DERSIG applies</a:t>
            </a:r>
            <a:endParaRPr lang="en-US" sz="1150" dirty="0"/>
          </a:p>
        </p:txBody>
      </p:sp>
      <p:sp>
        <p:nvSpPr>
          <p:cNvPr id="8" name="Shape 6"/>
          <p:cNvSpPr/>
          <p:nvPr/>
        </p:nvSpPr>
        <p:spPr>
          <a:xfrm>
            <a:off x="457200" y="1828800"/>
            <a:ext cx="8229600" cy="1280160"/>
          </a:xfrm>
          <a:prstGeom prst="roundRect">
            <a:avLst>
              <a:gd name="adj" fmla="val 7143"/>
            </a:avLst>
          </a:prstGeom>
          <a:solidFill>
            <a:srgbClr val="23272E"/>
          </a:solidFill>
          <a:ln w="12700">
            <a:solidFill>
              <a:srgbClr val="23272E"/>
            </a:solidFill>
            <a:prstDash val="solid"/>
          </a:ln>
        </p:spPr>
      </p:sp>
      <p:sp>
        <p:nvSpPr>
          <p:cNvPr id="9" name="Text 7"/>
          <p:cNvSpPr txBox="1"/>
          <p:nvPr/>
        </p:nvSpPr>
        <p:spPr>
          <a:xfrm>
            <a:off x="640080" y="1947672"/>
            <a:ext cx="7863840" cy="104241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sig = L.ecdsa_sign(K.secret(</a:t>
            </a:r>
            <a:r>
              <a:rPr lang="en-US" sz="950" dirty="0">
                <a:solidFill>
                  <a:srgbClr val="FFD28A"/>
                </a:solidFill>
                <a:latin typeface="Courier New" pitchFamily="34" charset="0"/>
                <a:ea typeface="Courier New" pitchFamily="34" charset="-122"/>
                <a:cs typeface="Courier New" pitchFamily="34" charset="-120"/>
              </a:rPr>
              <a:t>1</a:t>
            </a:r>
            <a:r>
              <a:rPr lang="en-US" sz="950" dirty="0">
                <a:solidFill>
                  <a:srgbClr val="E6EDF3"/>
                </a:solidFill>
                <a:latin typeface="Courier New" pitchFamily="34" charset="0"/>
                <a:ea typeface="Courier New" pitchFamily="34" charset="-122"/>
                <a:cs typeface="Courier New" pitchFamily="34" charset="-120"/>
              </a:rPr>
              <a:t>), L.sha256(b</a:t>
            </a:r>
            <a:r>
              <a:rPr lang="en-US" sz="950" dirty="0">
                <a:solidFill>
                  <a:srgbClr val="9ECBFF"/>
                </a:solidFill>
                <a:latin typeface="Courier New" pitchFamily="34" charset="0"/>
                <a:ea typeface="Courier New" pitchFamily="34" charset="-122"/>
                <a:cs typeface="Courier New" pitchFamily="34" charset="-120"/>
              </a:rPr>
              <a:t>'pay Bob'</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len(sig) + </a:t>
            </a:r>
            <a:r>
              <a:rPr lang="en-US" sz="950" dirty="0">
                <a:solidFill>
                  <a:srgbClr val="FFD28A"/>
                </a:solidFill>
                <a:latin typeface="Courier New" pitchFamily="34" charset="0"/>
                <a:ea typeface="Courier New" pitchFamily="34" charset="-122"/>
                <a:cs typeface="Courier New" pitchFamily="34" charset="-120"/>
              </a:rPr>
              <a:t>1</a:t>
            </a:r>
            <a:r>
              <a:rPr lang="en-US" sz="950" dirty="0">
                <a:solidFill>
                  <a:srgbClr val="E6EDF3"/>
                </a:solidFill>
                <a:latin typeface="Courier New" pitchFamily="34" charset="0"/>
                <a:ea typeface="Courier New" pitchFamily="34" charset="-122"/>
                <a:cs typeface="Courier New" pitchFamily="34" charset="-120"/>
              </a:rPr>
              <a:t>, sig[</a:t>
            </a:r>
            <a:r>
              <a:rPr lang="en-US" sz="950" dirty="0">
                <a:solidFill>
                  <a:srgbClr val="FFD28A"/>
                </a:solidFill>
                <a:latin typeface="Courier New" pitchFamily="34" charset="0"/>
                <a:ea typeface="Courier New" pitchFamily="34" charset="-122"/>
                <a:cs typeface="Courier New" pitchFamily="34" charset="-120"/>
              </a:rPr>
              <a:t>0</a:t>
            </a:r>
            <a:r>
              <a:rPr lang="en-US" sz="950" dirty="0">
                <a:solidFill>
                  <a:srgbClr val="E6EDF3"/>
                </a:solidFill>
                <a:latin typeface="Courier New" pitchFamily="34" charset="0"/>
                <a:ea typeface="Courier New" pitchFamily="34" charset="-122"/>
                <a:cs typeface="Courier New" pitchFamily="34" charset="-120"/>
              </a:rPr>
              <a:t>], L.is_valid_der(sig + b</a:t>
            </a:r>
            <a:r>
              <a:rPr lang="en-US" sz="950" dirty="0">
                <a:solidFill>
                  <a:srgbClr val="9ECBFF"/>
                </a:solidFill>
                <a:latin typeface="Courier New" pitchFamily="34" charset="0"/>
                <a:ea typeface="Courier New" pitchFamily="34" charset="-122"/>
                <a:cs typeface="Courier New" pitchFamily="34" charset="-120"/>
              </a:rPr>
              <a:t>'\x01'</a:t>
            </a:r>
            <a:r>
              <a:rPr lang="en-US" sz="950" dirty="0">
                <a:solidFill>
                  <a:srgbClr val="E6EDF3"/>
                </a:solidFill>
                <a:latin typeface="Courier New" pitchFamily="34" charset="0"/>
                <a:ea typeface="Courier New" pitchFamily="34" charset="-122"/>
                <a:cs typeface="Courier New" pitchFamily="34" charset="-120"/>
              </a:rPr>
              <a:t>), L.is_low_s(sig + b</a:t>
            </a:r>
            <a:r>
              <a:rPr lang="en-US" sz="950" dirty="0">
                <a:solidFill>
                  <a:srgbClr val="9ECBFF"/>
                </a:solidFill>
                <a:latin typeface="Courier New" pitchFamily="34" charset="0"/>
                <a:ea typeface="Courier New" pitchFamily="34" charset="-122"/>
                <a:cs typeface="Courier New" pitchFamily="34" charset="-120"/>
              </a:rPr>
              <a:t>'\x01'</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(72, 48, True, True)</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p2pkh(loose=</a:t>
            </a:r>
            <a:r>
              <a:rPr lang="en-US" sz="950" b="1" dirty="0">
                <a:solidFill>
                  <a:srgbClr val="F2A860"/>
                </a:solidFill>
                <a:latin typeface="Courier New" pitchFamily="34" charset="0"/>
                <a:ea typeface="Courier New" pitchFamily="34" charset="-122"/>
                <a:cs typeface="Courier New" pitchFamily="34" charset="-120"/>
              </a:rPr>
              <a:t>True</a:t>
            </a:r>
            <a:r>
              <a:rPr lang="en-US" sz="950" dirty="0">
                <a:solidFill>
                  <a:srgbClr val="E6EDF3"/>
                </a:solidFill>
                <a:latin typeface="Courier New" pitchFamily="34" charset="0"/>
                <a:ea typeface="Courier New" pitchFamily="34" charset="-122"/>
                <a:cs typeface="Courier New" pitchFamily="34" charset="-120"/>
              </a:rPr>
              <a:t>, flags=L.MAINNET_FLAGS - {</a:t>
            </a:r>
            <a:r>
              <a:rPr lang="en-US" sz="950" dirty="0">
                <a:solidFill>
                  <a:srgbClr val="9ECBFF"/>
                </a:solidFill>
                <a:latin typeface="Courier New" pitchFamily="34" charset="0"/>
                <a:ea typeface="Courier New" pitchFamily="34" charset="-122"/>
                <a:cs typeface="Courier New" pitchFamily="34" charset="-120"/>
              </a:rPr>
              <a:t>'DERSIG'</a:t>
            </a:r>
            <a:r>
              <a:rPr lang="en-US" sz="950" dirty="0">
                <a:solidFill>
                  <a:srgbClr val="E6EDF3"/>
                </a:solidFill>
                <a:latin typeface="Courier New" pitchFamily="34" charset="0"/>
                <a:ea typeface="Courier New" pitchFamily="34" charset="-122"/>
                <a:cs typeface="Courier New" pitchFamily="34" charset="-120"/>
              </a:rPr>
              <a:t>}), p2pkh(loose=</a:t>
            </a:r>
            <a:r>
              <a:rPr lang="en-US" sz="950" b="1" dirty="0">
                <a:solidFill>
                  <a:srgbClr val="F2A860"/>
                </a:solidFill>
                <a:latin typeface="Courier New" pitchFamily="34" charset="0"/>
                <a:ea typeface="Courier New" pitchFamily="34" charset="-122"/>
                <a:cs typeface="Courier New" pitchFamily="34" charset="-120"/>
              </a:rPr>
              <a:t>True</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('OK', 'SIG_DER')</a:t>
            </a:r>
            <a:endParaRPr lang="en-US" sz="950" dirty="0"/>
          </a:p>
        </p:txBody>
      </p:sp>
      <p:sp>
        <p:nvSpPr>
          <p:cNvPr id="10" name="Text 8"/>
          <p:cNvSpPr txBox="1"/>
          <p:nvPr/>
        </p:nvSpPr>
        <p:spPr>
          <a:xfrm>
            <a:off x="457200" y="312724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1" name="Shape 9"/>
          <p:cNvSpPr/>
          <p:nvPr/>
        </p:nvSpPr>
        <p:spPr>
          <a:xfrm>
            <a:off x="457200" y="3479292"/>
            <a:ext cx="128016" cy="128016"/>
          </a:xfrm>
          <a:prstGeom prst="diamond">
            <a:avLst/>
          </a:prstGeom>
          <a:solidFill>
            <a:srgbClr val="D97A14"/>
          </a:solidFill>
          <a:ln w="12700">
            <a:solidFill>
              <a:srgbClr val="D97A14"/>
            </a:solidFill>
            <a:prstDash val="solid"/>
          </a:ln>
        </p:spPr>
      </p:sp>
      <p:sp>
        <p:nvSpPr>
          <p:cNvPr id="12" name="Text 10"/>
          <p:cNvSpPr txBox="1"/>
          <p:nvPr/>
        </p:nvSpPr>
        <p:spPr>
          <a:xfrm>
            <a:off x="731520" y="3337560"/>
            <a:ext cx="7955280" cy="4114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A signature is the pair r and s in DER, followed by one hash-type byte</a:t>
            </a:r>
            <a:endParaRPr lang="en-US" sz="1200" dirty="0"/>
          </a:p>
        </p:txBody>
      </p:sp>
      <p:sp>
        <p:nvSpPr>
          <p:cNvPr id="13" name="Shape 11"/>
          <p:cNvSpPr/>
          <p:nvPr/>
        </p:nvSpPr>
        <p:spPr>
          <a:xfrm>
            <a:off x="457200" y="389077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731520" y="3749040"/>
            <a:ext cx="7955280" cy="4114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The hash type says which parts of the transaction the signature commits to</a:t>
            </a:r>
            <a:endParaRPr lang="en-US" sz="1200" dirty="0"/>
          </a:p>
        </p:txBody>
      </p:sp>
      <p:sp>
        <p:nvSpPr>
          <p:cNvPr id="15" name="Shape 13"/>
          <p:cNvSpPr/>
          <p:nvPr/>
        </p:nvSpPr>
        <p:spPr>
          <a:xfrm>
            <a:off x="457200" y="4206240"/>
            <a:ext cx="731063" cy="420624"/>
          </a:xfrm>
          <a:prstGeom prst="roundRect">
            <a:avLst>
              <a:gd name="adj" fmla="val 50000"/>
            </a:avLst>
          </a:prstGeom>
          <a:solidFill>
            <a:srgbClr val="F2ECE1"/>
          </a:solidFill>
          <a:ln w="12700">
            <a:solidFill>
              <a:srgbClr val="D97A14"/>
            </a:solidFill>
            <a:prstDash val="solid"/>
          </a:ln>
        </p:spPr>
      </p:sp>
      <p:sp>
        <p:nvSpPr>
          <p:cNvPr id="16" name="Text 14"/>
          <p:cNvSpPr txBox="1"/>
          <p:nvPr/>
        </p:nvSpPr>
        <p:spPr>
          <a:xfrm>
            <a:off x="457200" y="4206240"/>
            <a:ext cx="731063"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ALL</a:t>
            </a:r>
            <a:endParaRPr lang="en-US" sz="1100" dirty="0"/>
          </a:p>
        </p:txBody>
      </p:sp>
      <p:sp>
        <p:nvSpPr>
          <p:cNvPr id="17" name="Shape 15"/>
          <p:cNvSpPr/>
          <p:nvPr/>
        </p:nvSpPr>
        <p:spPr>
          <a:xfrm>
            <a:off x="1389431" y="4206240"/>
            <a:ext cx="846734" cy="420624"/>
          </a:xfrm>
          <a:prstGeom prst="roundRect">
            <a:avLst>
              <a:gd name="adj" fmla="val 50000"/>
            </a:avLst>
          </a:prstGeom>
          <a:solidFill>
            <a:srgbClr val="F2ECE1"/>
          </a:solidFill>
          <a:ln w="12700">
            <a:solidFill>
              <a:srgbClr val="D97A14"/>
            </a:solidFill>
            <a:prstDash val="solid"/>
          </a:ln>
        </p:spPr>
      </p:sp>
      <p:sp>
        <p:nvSpPr>
          <p:cNvPr id="18" name="Text 16"/>
          <p:cNvSpPr txBox="1"/>
          <p:nvPr/>
        </p:nvSpPr>
        <p:spPr>
          <a:xfrm>
            <a:off x="1389431" y="4206240"/>
            <a:ext cx="846734"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NONE</a:t>
            </a:r>
            <a:endParaRPr lang="en-US" sz="1100" dirty="0"/>
          </a:p>
        </p:txBody>
      </p:sp>
      <p:sp>
        <p:nvSpPr>
          <p:cNvPr id="19" name="Shape 17"/>
          <p:cNvSpPr/>
          <p:nvPr/>
        </p:nvSpPr>
        <p:spPr>
          <a:xfrm>
            <a:off x="2437333" y="4206240"/>
            <a:ext cx="1078078" cy="420624"/>
          </a:xfrm>
          <a:prstGeom prst="roundRect">
            <a:avLst>
              <a:gd name="adj" fmla="val 50000"/>
            </a:avLst>
          </a:prstGeom>
          <a:solidFill>
            <a:srgbClr val="F2ECE1"/>
          </a:solidFill>
          <a:ln w="12700">
            <a:solidFill>
              <a:srgbClr val="D97A14"/>
            </a:solidFill>
            <a:prstDash val="solid"/>
          </a:ln>
        </p:spPr>
      </p:sp>
      <p:sp>
        <p:nvSpPr>
          <p:cNvPr id="20" name="Text 18"/>
          <p:cNvSpPr txBox="1"/>
          <p:nvPr/>
        </p:nvSpPr>
        <p:spPr>
          <a:xfrm>
            <a:off x="2437333" y="4206240"/>
            <a:ext cx="1078078"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SINGLE</a:t>
            </a:r>
            <a:endParaRPr lang="en-US" sz="1100" dirty="0"/>
          </a:p>
        </p:txBody>
      </p:sp>
      <p:sp>
        <p:nvSpPr>
          <p:cNvPr id="21" name="Shape 19"/>
          <p:cNvSpPr/>
          <p:nvPr/>
        </p:nvSpPr>
        <p:spPr>
          <a:xfrm>
            <a:off x="3716579" y="4206240"/>
            <a:ext cx="2350465" cy="420624"/>
          </a:xfrm>
          <a:prstGeom prst="roundRect">
            <a:avLst>
              <a:gd name="adj" fmla="val 50000"/>
            </a:avLst>
          </a:prstGeom>
          <a:solidFill>
            <a:srgbClr val="F2ECE1"/>
          </a:solidFill>
          <a:ln w="12700">
            <a:solidFill>
              <a:srgbClr val="D97A14"/>
            </a:solidFill>
            <a:prstDash val="solid"/>
          </a:ln>
        </p:spPr>
      </p:sp>
      <p:sp>
        <p:nvSpPr>
          <p:cNvPr id="22" name="Text 20"/>
          <p:cNvSpPr txBox="1"/>
          <p:nvPr/>
        </p:nvSpPr>
        <p:spPr>
          <a:xfrm>
            <a:off x="3716579" y="4206240"/>
            <a:ext cx="2350465"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plus ANYONECANPAY</a:t>
            </a:r>
            <a:endParaRPr lang="en-US" sz="110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Two valid-looking encodings of one signature must not both be valid</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Half the miners did not check the block</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2015-07-04</a:t>
            </a:r>
            <a:endParaRPr lang="en-US" sz="1300" dirty="0"/>
          </a:p>
        </p:txBody>
      </p:sp>
      <p:pic>
        <p:nvPicPr>
          <p:cNvPr id="6" name="Image 0" descr="../../03-materials/ch07/assets/photo_bitcoin_mining_farm.jpg">    </p:cNvPr>
          <p:cNvPicPr>
            <a:picLocks noChangeAspect="1"/>
          </p:cNvPicPr>
          <p:nvPr/>
        </p:nvPicPr>
        <p:blipFill>
          <a:blip r:embed="rId1"/>
          <a:srcRect l="0" r="0" t="0" b="0"/>
          <a:stretch/>
        </p:blipFill>
        <p:spPr>
          <a:xfrm>
            <a:off x="457200" y="1325880"/>
            <a:ext cx="2743200" cy="1545336"/>
          </a:xfrm>
          <a:prstGeom prst="rect">
            <a:avLst/>
          </a:prstGeom>
        </p:spPr>
      </p:pic>
      <p:sp>
        <p:nvSpPr>
          <p:cNvPr id="7" name="Text 4"/>
          <p:cNvSpPr txBox="1"/>
          <p:nvPr/>
        </p:nvSpPr>
        <p:spPr>
          <a:xfrm>
            <a:off x="457200" y="2889504"/>
            <a:ext cx="27432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 bitcoin mining farm, 2014 - Marko Ahtisaari, CC BY 2.0</a:t>
            </a:r>
            <a:endParaRPr lang="en-US" sz="900" dirty="0"/>
          </a:p>
        </p:txBody>
      </p:sp>
      <p:sp>
        <p:nvSpPr>
          <p:cNvPr id="8" name="Shape 5"/>
          <p:cNvSpPr/>
          <p:nvPr/>
        </p:nvSpPr>
        <p:spPr>
          <a:xfrm>
            <a:off x="3429000" y="1520952"/>
            <a:ext cx="128016" cy="128016"/>
          </a:xfrm>
          <a:prstGeom prst="diamond">
            <a:avLst/>
          </a:prstGeom>
          <a:solidFill>
            <a:srgbClr val="D97A14"/>
          </a:solidFill>
          <a:ln w="12700">
            <a:solidFill>
              <a:srgbClr val="D97A14"/>
            </a:solidFill>
            <a:prstDash val="solid"/>
          </a:ln>
        </p:spPr>
      </p:sp>
      <p:sp>
        <p:nvSpPr>
          <p:cNvPr id="9" name="Text 6"/>
          <p:cNvSpPr txBox="1"/>
          <p:nvPr/>
        </p:nvSpPr>
        <p:spPr>
          <a:xfrm>
            <a:off x="3703320" y="1325880"/>
            <a:ext cx="4983480" cy="5181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BIP66 made strict DER the only valid signature encoding, from block 363,725 on 4 July 2015</a:t>
            </a:r>
            <a:endParaRPr lang="en-US" sz="1200" dirty="0"/>
          </a:p>
        </p:txBody>
      </p:sp>
      <p:sp>
        <p:nvSpPr>
          <p:cNvPr id="10" name="Shape 7"/>
          <p:cNvSpPr/>
          <p:nvPr/>
        </p:nvSpPr>
        <p:spPr>
          <a:xfrm>
            <a:off x="3429000" y="203911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703320" y="1844040"/>
            <a:ext cx="4983480" cy="5181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About half of the hash rate mined without fully validating and built on an invalid block</a:t>
            </a:r>
            <a:endParaRPr lang="en-US" sz="1200" dirty="0"/>
          </a:p>
        </p:txBody>
      </p:sp>
      <p:sp>
        <p:nvSpPr>
          <p:cNvPr id="12" name="Shape 9"/>
          <p:cNvSpPr/>
          <p:nvPr/>
        </p:nvSpPr>
        <p:spPr>
          <a:xfrm>
            <a:off x="3429000" y="255727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703320" y="2362200"/>
            <a:ext cx="4983480" cy="5181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A fork of 6 blocks lasted from 02:10 to 03:50 UTC; a second, of 3 blocks, followed on 5 July</a:t>
            </a:r>
            <a:endParaRPr lang="en-US" sz="1200" dirty="0"/>
          </a:p>
        </p:txBody>
      </p:sp>
      <p:sp>
        <p:nvSpPr>
          <p:cNvPr id="14" name="Text 11"/>
          <p:cNvSpPr txBox="1"/>
          <p:nvPr/>
        </p:nvSpPr>
        <p:spPr>
          <a:xfrm>
            <a:off x="3429000" y="2788920"/>
            <a:ext cx="52578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same padded signature: accepted before the rule, SIG_DER under it</a:t>
            </a:r>
            <a:endParaRPr lang="en-US" sz="1150" dirty="0"/>
          </a:p>
        </p:txBody>
      </p:sp>
      <p:sp>
        <p:nvSpPr>
          <p:cNvPr id="15" name="Shape 12"/>
          <p:cNvSpPr/>
          <p:nvPr/>
        </p:nvSpPr>
        <p:spPr>
          <a:xfrm>
            <a:off x="3429000" y="3063240"/>
            <a:ext cx="5257800" cy="868680"/>
          </a:xfrm>
          <a:prstGeom prst="roundRect">
            <a:avLst>
              <a:gd name="adj" fmla="val 10526"/>
            </a:avLst>
          </a:prstGeom>
          <a:solidFill>
            <a:srgbClr val="23272E"/>
          </a:solidFill>
          <a:ln w="12700">
            <a:solidFill>
              <a:srgbClr val="23272E"/>
            </a:solidFill>
            <a:prstDash val="solid"/>
          </a:ln>
        </p:spPr>
      </p:sp>
      <p:sp>
        <p:nvSpPr>
          <p:cNvPr id="16" name="Text 13"/>
          <p:cNvSpPr txBox="1"/>
          <p:nvPr/>
        </p:nvSpPr>
        <p:spPr>
          <a:xfrm>
            <a:off x="3611880" y="3182112"/>
            <a:ext cx="4892040" cy="630936"/>
          </a:xfrm>
          <a:prstGeom prst="rect">
            <a:avLst/>
          </a:prstGeom>
          <a:noFill/>
          <a:ln/>
        </p:spPr>
        <p:txBody>
          <a:bodyPr wrap="square" lIns="0" tIns="0" rIns="0" bIns="0" rtlCol="0" anchor="t"/>
          <a:lstStyle/>
          <a:p>
            <a:pPr indent="0" marL="0">
              <a:buNone/>
            </a:pPr>
            <a:r>
              <a:rPr lang="en-US" sz="720" b="1" dirty="0">
                <a:solidFill>
                  <a:srgbClr val="D97A14"/>
                </a:solidFill>
                <a:latin typeface="Courier New" pitchFamily="34" charset="0"/>
                <a:ea typeface="Courier New" pitchFamily="34" charset="-122"/>
                <a:cs typeface="Courier New" pitchFamily="34" charset="-120"/>
              </a:rPr>
              <a:t>&gt;&gt;&gt; </a:t>
            </a:r>
            <a:r>
              <a:rPr lang="en-US" sz="720" dirty="0">
                <a:solidFill>
                  <a:srgbClr val="E6EDF3"/>
                </a:solidFill>
                <a:latin typeface="Courier New" pitchFamily="34" charset="0"/>
                <a:ea typeface="Courier New" pitchFamily="34" charset="-122"/>
                <a:cs typeface="Courier New" pitchFamily="34" charset="-120"/>
              </a:rPr>
              <a:t>sig = L.ecdsa_sign(K.secret(</a:t>
            </a:r>
            <a:r>
              <a:rPr lang="en-US" sz="720" dirty="0">
                <a:solidFill>
                  <a:srgbClr val="FFD28A"/>
                </a:solidFill>
                <a:latin typeface="Courier New" pitchFamily="34" charset="0"/>
                <a:ea typeface="Courier New" pitchFamily="34" charset="-122"/>
                <a:cs typeface="Courier New" pitchFamily="34" charset="-120"/>
              </a:rPr>
              <a:t>1</a:t>
            </a:r>
            <a:r>
              <a:rPr lang="en-US" sz="720" dirty="0">
                <a:solidFill>
                  <a:srgbClr val="E6EDF3"/>
                </a:solidFill>
                <a:latin typeface="Courier New" pitchFamily="34" charset="0"/>
                <a:ea typeface="Courier New" pitchFamily="34" charset="-122"/>
                <a:cs typeface="Courier New" pitchFamily="34" charset="-120"/>
              </a:rPr>
              <a:t>), L.sha256(b</a:t>
            </a:r>
            <a:r>
              <a:rPr lang="en-US" sz="720" dirty="0">
                <a:solidFill>
                  <a:srgbClr val="9ECBFF"/>
                </a:solidFill>
                <a:latin typeface="Courier New" pitchFamily="34" charset="0"/>
                <a:ea typeface="Courier New" pitchFamily="34" charset="-122"/>
                <a:cs typeface="Courier New" pitchFamily="34" charset="-120"/>
              </a:rPr>
              <a:t>'pay Bob'</a:t>
            </a:r>
            <a:r>
              <a:rPr lang="en-US" sz="720" dirty="0">
                <a:solidFill>
                  <a:srgbClr val="E6EDF3"/>
                </a:solidFill>
                <a:latin typeface="Courier New" pitchFamily="34" charset="0"/>
                <a:ea typeface="Courier New" pitchFamily="34" charset="-122"/>
                <a:cs typeface="Courier New" pitchFamily="34" charset="-120"/>
              </a:rPr>
              <a:t>))</a:t>
            </a:r>
            <a:endParaRPr lang="en-US" sz="720" dirty="0"/>
          </a:p>
          <a:p>
            <a:pPr indent="0" marL="0">
              <a:buNone/>
            </a:pPr>
            <a:r>
              <a:rPr lang="en-US" sz="720" b="1" dirty="0">
                <a:solidFill>
                  <a:srgbClr val="D97A14"/>
                </a:solidFill>
                <a:latin typeface="Courier New" pitchFamily="34" charset="0"/>
                <a:ea typeface="Courier New" pitchFamily="34" charset="-122"/>
                <a:cs typeface="Courier New" pitchFamily="34" charset="-120"/>
              </a:rPr>
              <a:t>&gt;&gt;&gt; </a:t>
            </a:r>
            <a:r>
              <a:rPr lang="en-US" sz="720" dirty="0">
                <a:solidFill>
                  <a:srgbClr val="E6EDF3"/>
                </a:solidFill>
                <a:latin typeface="Courier New" pitchFamily="34" charset="0"/>
                <a:ea typeface="Courier New" pitchFamily="34" charset="-122"/>
                <a:cs typeface="Courier New" pitchFamily="34" charset="-120"/>
              </a:rPr>
              <a:t>len(sig) + </a:t>
            </a:r>
            <a:r>
              <a:rPr lang="en-US" sz="720" dirty="0">
                <a:solidFill>
                  <a:srgbClr val="FFD28A"/>
                </a:solidFill>
                <a:latin typeface="Courier New" pitchFamily="34" charset="0"/>
                <a:ea typeface="Courier New" pitchFamily="34" charset="-122"/>
                <a:cs typeface="Courier New" pitchFamily="34" charset="-120"/>
              </a:rPr>
              <a:t>1</a:t>
            </a:r>
            <a:r>
              <a:rPr lang="en-US" sz="720" dirty="0">
                <a:solidFill>
                  <a:srgbClr val="E6EDF3"/>
                </a:solidFill>
                <a:latin typeface="Courier New" pitchFamily="34" charset="0"/>
                <a:ea typeface="Courier New" pitchFamily="34" charset="-122"/>
                <a:cs typeface="Courier New" pitchFamily="34" charset="-120"/>
              </a:rPr>
              <a:t>, sig[</a:t>
            </a:r>
            <a:r>
              <a:rPr lang="en-US" sz="720" dirty="0">
                <a:solidFill>
                  <a:srgbClr val="FFD28A"/>
                </a:solidFill>
                <a:latin typeface="Courier New" pitchFamily="34" charset="0"/>
                <a:ea typeface="Courier New" pitchFamily="34" charset="-122"/>
                <a:cs typeface="Courier New" pitchFamily="34" charset="-120"/>
              </a:rPr>
              <a:t>0</a:t>
            </a:r>
            <a:r>
              <a:rPr lang="en-US" sz="720" dirty="0">
                <a:solidFill>
                  <a:srgbClr val="E6EDF3"/>
                </a:solidFill>
                <a:latin typeface="Courier New" pitchFamily="34" charset="0"/>
                <a:ea typeface="Courier New" pitchFamily="34" charset="-122"/>
                <a:cs typeface="Courier New" pitchFamily="34" charset="-120"/>
              </a:rPr>
              <a:t>], L.is_valid_der(sig + b</a:t>
            </a:r>
            <a:r>
              <a:rPr lang="en-US" sz="720" dirty="0">
                <a:solidFill>
                  <a:srgbClr val="9ECBFF"/>
                </a:solidFill>
                <a:latin typeface="Courier New" pitchFamily="34" charset="0"/>
                <a:ea typeface="Courier New" pitchFamily="34" charset="-122"/>
                <a:cs typeface="Courier New" pitchFamily="34" charset="-120"/>
              </a:rPr>
              <a:t>'\x01'</a:t>
            </a:r>
            <a:r>
              <a:rPr lang="en-US" sz="720" dirty="0">
                <a:solidFill>
                  <a:srgbClr val="E6EDF3"/>
                </a:solidFill>
                <a:latin typeface="Courier New" pitchFamily="34" charset="0"/>
                <a:ea typeface="Courier New" pitchFamily="34" charset="-122"/>
                <a:cs typeface="Courier New" pitchFamily="34" charset="-120"/>
              </a:rPr>
              <a:t>), L.is_low_s(sig + b</a:t>
            </a:r>
            <a:r>
              <a:rPr lang="en-US" sz="720" dirty="0">
                <a:solidFill>
                  <a:srgbClr val="9ECBFF"/>
                </a:solidFill>
                <a:latin typeface="Courier New" pitchFamily="34" charset="0"/>
                <a:ea typeface="Courier New" pitchFamily="34" charset="-122"/>
                <a:cs typeface="Courier New" pitchFamily="34" charset="-120"/>
              </a:rPr>
              <a:t>'\x01'</a:t>
            </a:r>
            <a:r>
              <a:rPr lang="en-US" sz="720" dirty="0">
                <a:solidFill>
                  <a:srgbClr val="E6EDF3"/>
                </a:solidFill>
                <a:latin typeface="Courier New" pitchFamily="34" charset="0"/>
                <a:ea typeface="Courier New" pitchFamily="34" charset="-122"/>
                <a:cs typeface="Courier New" pitchFamily="34" charset="-120"/>
              </a:rPr>
              <a:t>)</a:t>
            </a:r>
            <a:endParaRPr lang="en-US" sz="720" dirty="0"/>
          </a:p>
          <a:p>
            <a:pPr indent="0" marL="0">
              <a:buNone/>
            </a:pPr>
            <a:r>
              <a:rPr lang="en-US" sz="720" dirty="0">
                <a:solidFill>
                  <a:srgbClr val="7EE787"/>
                </a:solidFill>
                <a:latin typeface="Courier New" pitchFamily="34" charset="0"/>
                <a:ea typeface="Courier New" pitchFamily="34" charset="-122"/>
                <a:cs typeface="Courier New" pitchFamily="34" charset="-120"/>
              </a:rPr>
              <a:t>(72, 48, True, True)</a:t>
            </a:r>
            <a:endParaRPr lang="en-US" sz="720" dirty="0"/>
          </a:p>
          <a:p>
            <a:pPr indent="0" marL="0">
              <a:buNone/>
            </a:pPr>
            <a:r>
              <a:rPr lang="en-US" sz="720" b="1" dirty="0">
                <a:solidFill>
                  <a:srgbClr val="D97A14"/>
                </a:solidFill>
                <a:latin typeface="Courier New" pitchFamily="34" charset="0"/>
                <a:ea typeface="Courier New" pitchFamily="34" charset="-122"/>
                <a:cs typeface="Courier New" pitchFamily="34" charset="-120"/>
              </a:rPr>
              <a:t>&gt;&gt;&gt; </a:t>
            </a:r>
            <a:r>
              <a:rPr lang="en-US" sz="720" dirty="0">
                <a:solidFill>
                  <a:srgbClr val="E6EDF3"/>
                </a:solidFill>
                <a:latin typeface="Courier New" pitchFamily="34" charset="0"/>
                <a:ea typeface="Courier New" pitchFamily="34" charset="-122"/>
                <a:cs typeface="Courier New" pitchFamily="34" charset="-120"/>
              </a:rPr>
              <a:t>p2pkh(loose=</a:t>
            </a:r>
            <a:r>
              <a:rPr lang="en-US" sz="720" b="1" dirty="0">
                <a:solidFill>
                  <a:srgbClr val="F2A860"/>
                </a:solidFill>
                <a:latin typeface="Courier New" pitchFamily="34" charset="0"/>
                <a:ea typeface="Courier New" pitchFamily="34" charset="-122"/>
                <a:cs typeface="Courier New" pitchFamily="34" charset="-120"/>
              </a:rPr>
              <a:t>True</a:t>
            </a:r>
            <a:r>
              <a:rPr lang="en-US" sz="720" dirty="0">
                <a:solidFill>
                  <a:srgbClr val="E6EDF3"/>
                </a:solidFill>
                <a:latin typeface="Courier New" pitchFamily="34" charset="0"/>
                <a:ea typeface="Courier New" pitchFamily="34" charset="-122"/>
                <a:cs typeface="Courier New" pitchFamily="34" charset="-120"/>
              </a:rPr>
              <a:t>, flags=L.MAINNET_FLAGS - {</a:t>
            </a:r>
            <a:r>
              <a:rPr lang="en-US" sz="720" dirty="0">
                <a:solidFill>
                  <a:srgbClr val="9ECBFF"/>
                </a:solidFill>
                <a:latin typeface="Courier New" pitchFamily="34" charset="0"/>
                <a:ea typeface="Courier New" pitchFamily="34" charset="-122"/>
                <a:cs typeface="Courier New" pitchFamily="34" charset="-120"/>
              </a:rPr>
              <a:t>'DERSIG'</a:t>
            </a:r>
            <a:r>
              <a:rPr lang="en-US" sz="720" dirty="0">
                <a:solidFill>
                  <a:srgbClr val="E6EDF3"/>
                </a:solidFill>
                <a:latin typeface="Courier New" pitchFamily="34" charset="0"/>
                <a:ea typeface="Courier New" pitchFamily="34" charset="-122"/>
                <a:cs typeface="Courier New" pitchFamily="34" charset="-120"/>
              </a:rPr>
              <a:t>}), p2pkh(loose=</a:t>
            </a:r>
            <a:r>
              <a:rPr lang="en-US" sz="720" b="1" dirty="0">
                <a:solidFill>
                  <a:srgbClr val="F2A860"/>
                </a:solidFill>
                <a:latin typeface="Courier New" pitchFamily="34" charset="0"/>
                <a:ea typeface="Courier New" pitchFamily="34" charset="-122"/>
                <a:cs typeface="Courier New" pitchFamily="34" charset="-120"/>
              </a:rPr>
              <a:t>True</a:t>
            </a:r>
            <a:r>
              <a:rPr lang="en-US" sz="720" dirty="0">
                <a:solidFill>
                  <a:srgbClr val="E6EDF3"/>
                </a:solidFill>
                <a:latin typeface="Courier New" pitchFamily="34" charset="0"/>
                <a:ea typeface="Courier New" pitchFamily="34" charset="-122"/>
                <a:cs typeface="Courier New" pitchFamily="34" charset="-120"/>
              </a:rPr>
              <a:t>)</a:t>
            </a:r>
            <a:endParaRPr lang="en-US" sz="720" dirty="0"/>
          </a:p>
          <a:p>
            <a:pPr indent="0" marL="0">
              <a:buNone/>
            </a:pPr>
            <a:r>
              <a:rPr lang="en-US" sz="720" dirty="0">
                <a:solidFill>
                  <a:srgbClr val="7EE787"/>
                </a:solidFill>
                <a:latin typeface="Courier New" pitchFamily="34" charset="0"/>
                <a:ea typeface="Courier New" pitchFamily="34" charset="-122"/>
                <a:cs typeface="Courier New" pitchFamily="34" charset="-120"/>
              </a:rPr>
              <a:t>('OK', 'SIG_DER')</a:t>
            </a:r>
            <a:endParaRPr lang="en-US" sz="720" dirty="0"/>
          </a:p>
        </p:txBody>
      </p:sp>
      <p:sp>
        <p:nvSpPr>
          <p:cNvPr id="17" name="Text 14"/>
          <p:cNvSpPr txBox="1"/>
          <p:nvPr/>
        </p:nvSpPr>
        <p:spPr>
          <a:xfrm>
            <a:off x="3429000" y="3950208"/>
            <a:ext cx="52578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3429000" y="4224528"/>
            <a:ext cx="985723"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3520440" y="4224528"/>
            <a:ext cx="839419"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the miner…</a:t>
            </a:r>
            <a:endParaRPr lang="en-US" sz="750" dirty="0"/>
          </a:p>
        </p:txBody>
      </p:sp>
      <p:sp>
        <p:nvSpPr>
          <p:cNvPr id="20" name="Shape 17"/>
          <p:cNvSpPr/>
          <p:nvPr/>
        </p:nvSpPr>
        <p:spPr>
          <a:xfrm>
            <a:off x="4524451" y="4224528"/>
            <a:ext cx="936437"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4615891" y="4224528"/>
            <a:ext cx="79013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the Bitc…</a:t>
            </a:r>
            <a:endParaRPr lang="en-US" sz="750" dirty="0"/>
          </a:p>
        </p:txBody>
      </p:sp>
      <p:sp>
        <p:nvSpPr>
          <p:cNvPr id="22" name="Shape 19"/>
          <p:cNvSpPr/>
          <p:nvPr/>
        </p:nvSpPr>
        <p:spPr>
          <a:xfrm>
            <a:off x="5570616" y="4224528"/>
            <a:ext cx="837865"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5662056" y="4224528"/>
            <a:ext cx="691561"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2015-0…</a:t>
            </a:r>
            <a:endParaRPr lang="en-US" sz="750" dirty="0"/>
          </a:p>
        </p:txBody>
      </p:sp>
      <p:sp>
        <p:nvSpPr>
          <p:cNvPr id="24" name="Shape 21"/>
          <p:cNvSpPr/>
          <p:nvPr/>
        </p:nvSpPr>
        <p:spPr>
          <a:xfrm>
            <a:off x="6518209" y="4224528"/>
            <a:ext cx="2168591"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6609649" y="4224528"/>
            <a:ext cx="2022287"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8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Alert: Some Miners Generating Invalid Blocks</a:t>
            </a:r>
            <a:endParaRPr lang="en-US" sz="7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Multisignature: t of k keys, in order</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105-byte script for 2 of 3; the signatures must follow the order of the keys</a:t>
            </a:r>
            <a:endParaRPr lang="en-US" sz="1300" dirty="0"/>
          </a:p>
        </p:txBody>
      </p:sp>
      <p:sp>
        <p:nvSpPr>
          <p:cNvPr id="6" name="Text 4"/>
          <p:cNvSpPr txBox="1"/>
          <p:nvPr/>
        </p:nvSpPr>
        <p:spPr>
          <a:xfrm>
            <a:off x="457200" y="141732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2 of 3 with real signatures: the right order, the wrong order, one signature short, and the extra element</a:t>
            </a:r>
            <a:endParaRPr lang="en-US" sz="1150" dirty="0"/>
          </a:p>
        </p:txBody>
      </p:sp>
      <p:sp>
        <p:nvSpPr>
          <p:cNvPr id="7" name="Shape 5"/>
          <p:cNvSpPr/>
          <p:nvPr/>
        </p:nvSpPr>
        <p:spPr>
          <a:xfrm>
            <a:off x="457200" y="1691640"/>
            <a:ext cx="8229600" cy="1463040"/>
          </a:xfrm>
          <a:prstGeom prst="roundRect">
            <a:avLst>
              <a:gd name="adj" fmla="val 6250"/>
            </a:avLst>
          </a:prstGeom>
          <a:solidFill>
            <a:srgbClr val="23272E"/>
          </a:solidFill>
          <a:ln w="12700">
            <a:solidFill>
              <a:srgbClr val="23272E"/>
            </a:solidFill>
            <a:prstDash val="solid"/>
          </a:ln>
        </p:spPr>
      </p:sp>
      <p:sp>
        <p:nvSpPr>
          <p:cNvPr id="8" name="Text 6"/>
          <p:cNvSpPr txBox="1"/>
          <p:nvPr/>
        </p:nvSpPr>
        <p:spPr>
          <a:xfrm>
            <a:off x="640080" y="1810512"/>
            <a:ext cx="7863840" cy="1225296"/>
          </a:xfrm>
          <a:prstGeom prst="rect">
            <a:avLst/>
          </a:prstGeom>
          <a:noFill/>
          <a:ln/>
        </p:spPr>
        <p:txBody>
          <a:bodyPr wrap="square" lIns="0" tIns="0" rIns="0" bIns="0" rtlCol="0" anchor="t"/>
          <a:lstStyle/>
          <a:p>
            <a:pPr indent="0" marL="0">
              <a:buNone/>
            </a:pPr>
            <a:r>
              <a:rPr lang="en-US" sz="830" b="1" dirty="0">
                <a:solidFill>
                  <a:srgbClr val="D97A14"/>
                </a:solidFill>
                <a:latin typeface="Courier New" pitchFamily="34" charset="0"/>
                <a:ea typeface="Courier New" pitchFamily="34" charset="-122"/>
                <a:cs typeface="Courier New" pitchFamily="34" charset="-120"/>
              </a:rPr>
              <a:t>&gt;&gt;&gt; </a:t>
            </a:r>
            <a:r>
              <a:rPr lang="en-US" sz="830" dirty="0">
                <a:solidFill>
                  <a:srgbClr val="E6EDF3"/>
                </a:solidFill>
                <a:latin typeface="Courier New" pitchFamily="34" charset="0"/>
                <a:ea typeface="Courier New" pitchFamily="34" charset="-122"/>
                <a:cs typeface="Courier New" pitchFamily="34" charset="-120"/>
              </a:rPr>
              <a:t>len(RED), L.classify(RED)[</a:t>
            </a:r>
            <a:r>
              <a:rPr lang="en-US" sz="830" dirty="0">
                <a:solidFill>
                  <a:srgbClr val="FFD28A"/>
                </a:solidFill>
                <a:latin typeface="Courier New" pitchFamily="34" charset="0"/>
                <a:ea typeface="Courier New" pitchFamily="34" charset="-122"/>
                <a:cs typeface="Courier New" pitchFamily="34" charset="-120"/>
              </a:rPr>
              <a:t>0</a:t>
            </a:r>
            <a:r>
              <a:rPr lang="en-US" sz="830" dirty="0">
                <a:solidFill>
                  <a:srgbClr val="E6EDF3"/>
                </a:solidFill>
                <a:latin typeface="Courier New" pitchFamily="34" charset="0"/>
                <a:ea typeface="Courier New" pitchFamily="34" charset="-122"/>
                <a:cs typeface="Courier New" pitchFamily="34" charset="-120"/>
              </a:rPr>
              <a:t>]</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(105, 'multisig')</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r>
              <a:rPr lang="en-US" sz="830" dirty="0">
                <a:solidFill>
                  <a:srgbClr val="E6EDF3"/>
                </a:solidFill>
                <a:latin typeface="Courier New" pitchFamily="34" charset="0"/>
                <a:ea typeface="Courier New" pitchFamily="34" charset="-122"/>
                <a:cs typeface="Courier New" pitchFamily="34" charset="-120"/>
              </a:rPr>
              <a:t>K.ms_spend(</a:t>
            </a:r>
            <a:r>
              <a:rPr lang="en-US" sz="830" dirty="0">
                <a:solidFill>
                  <a:srgbClr val="FFD28A"/>
                </a:solidFill>
                <a:latin typeface="Courier New" pitchFamily="34" charset="0"/>
                <a:ea typeface="Courier New" pitchFamily="34" charset="-122"/>
                <a:cs typeface="Courier New" pitchFamily="34" charset="-120"/>
              </a:rPr>
              <a:t>2</a:t>
            </a:r>
            <a:r>
              <a:rPr lang="en-US" sz="830" dirty="0">
                <a:solidFill>
                  <a:srgbClr val="E6EDF3"/>
                </a:solidFill>
                <a:latin typeface="Courier New" pitchFamily="34" charset="0"/>
                <a:ea typeface="Courier New" pitchFamily="34" charset="-122"/>
                <a:cs typeface="Courier New" pitchFamily="34" charset="-120"/>
              </a:rPr>
              <a:t>, </a:t>
            </a:r>
            <a:r>
              <a:rPr lang="en-US" sz="830" dirty="0">
                <a:solidFill>
                  <a:srgbClr val="FFD28A"/>
                </a:solidFill>
                <a:latin typeface="Courier New" pitchFamily="34" charset="0"/>
                <a:ea typeface="Courier New" pitchFamily="34" charset="-122"/>
                <a:cs typeface="Courier New" pitchFamily="34" charset="-120"/>
              </a:rPr>
              <a:t>3</a:t>
            </a:r>
            <a:r>
              <a:rPr lang="en-US" sz="830" dirty="0">
                <a:solidFill>
                  <a:srgbClr val="E6EDF3"/>
                </a:solidFill>
                <a:latin typeface="Courier New" pitchFamily="34" charset="0"/>
                <a:ea typeface="Courier New" pitchFamily="34" charset="-122"/>
                <a:cs typeface="Courier New" pitchFamily="34" charset="-120"/>
              </a:rPr>
              <a:t>, [</a:t>
            </a:r>
            <a:r>
              <a:rPr lang="en-US" sz="830" dirty="0">
                <a:solidFill>
                  <a:srgbClr val="FFD28A"/>
                </a:solidFill>
                <a:latin typeface="Courier New" pitchFamily="34" charset="0"/>
                <a:ea typeface="Courier New" pitchFamily="34" charset="-122"/>
                <a:cs typeface="Courier New" pitchFamily="34" charset="-120"/>
              </a:rPr>
              <a:t>0</a:t>
            </a:r>
            <a:r>
              <a:rPr lang="en-US" sz="830" dirty="0">
                <a:solidFill>
                  <a:srgbClr val="E6EDF3"/>
                </a:solidFill>
                <a:latin typeface="Courier New" pitchFamily="34" charset="0"/>
                <a:ea typeface="Courier New" pitchFamily="34" charset="-122"/>
                <a:cs typeface="Courier New" pitchFamily="34" charset="-120"/>
              </a:rPr>
              <a:t>, </a:t>
            </a:r>
            <a:r>
              <a:rPr lang="en-US" sz="830" dirty="0">
                <a:solidFill>
                  <a:srgbClr val="FFD28A"/>
                </a:solidFill>
                <a:latin typeface="Courier New" pitchFamily="34" charset="0"/>
                <a:ea typeface="Courier New" pitchFamily="34" charset="-122"/>
                <a:cs typeface="Courier New" pitchFamily="34" charset="-120"/>
              </a:rPr>
              <a:t>2</a:t>
            </a:r>
            <a:r>
              <a:rPr lang="en-US" sz="830" dirty="0">
                <a:solidFill>
                  <a:srgbClr val="E6EDF3"/>
                </a:solidFill>
                <a:latin typeface="Courier New" pitchFamily="34" charset="0"/>
                <a:ea typeface="Courier New" pitchFamily="34" charset="-122"/>
                <a:cs typeface="Courier New" pitchFamily="34" charset="-120"/>
              </a:rPr>
              <a:t>]), K.ms_spend(</a:t>
            </a:r>
            <a:r>
              <a:rPr lang="en-US" sz="830" dirty="0">
                <a:solidFill>
                  <a:srgbClr val="FFD28A"/>
                </a:solidFill>
                <a:latin typeface="Courier New" pitchFamily="34" charset="0"/>
                <a:ea typeface="Courier New" pitchFamily="34" charset="-122"/>
                <a:cs typeface="Courier New" pitchFamily="34" charset="-120"/>
              </a:rPr>
              <a:t>2</a:t>
            </a:r>
            <a:r>
              <a:rPr lang="en-US" sz="830" dirty="0">
                <a:solidFill>
                  <a:srgbClr val="E6EDF3"/>
                </a:solidFill>
                <a:latin typeface="Courier New" pitchFamily="34" charset="0"/>
                <a:ea typeface="Courier New" pitchFamily="34" charset="-122"/>
                <a:cs typeface="Courier New" pitchFamily="34" charset="-120"/>
              </a:rPr>
              <a:t>, </a:t>
            </a:r>
            <a:r>
              <a:rPr lang="en-US" sz="830" dirty="0">
                <a:solidFill>
                  <a:srgbClr val="FFD28A"/>
                </a:solidFill>
                <a:latin typeface="Courier New" pitchFamily="34" charset="0"/>
                <a:ea typeface="Courier New" pitchFamily="34" charset="-122"/>
                <a:cs typeface="Courier New" pitchFamily="34" charset="-120"/>
              </a:rPr>
              <a:t>3</a:t>
            </a:r>
            <a:r>
              <a:rPr lang="en-US" sz="830" dirty="0">
                <a:solidFill>
                  <a:srgbClr val="E6EDF3"/>
                </a:solidFill>
                <a:latin typeface="Courier New" pitchFamily="34" charset="0"/>
                <a:ea typeface="Courier New" pitchFamily="34" charset="-122"/>
                <a:cs typeface="Courier New" pitchFamily="34" charset="-120"/>
              </a:rPr>
              <a:t>, [</a:t>
            </a:r>
            <a:r>
              <a:rPr lang="en-US" sz="830" dirty="0">
                <a:solidFill>
                  <a:srgbClr val="FFD28A"/>
                </a:solidFill>
                <a:latin typeface="Courier New" pitchFamily="34" charset="0"/>
                <a:ea typeface="Courier New" pitchFamily="34" charset="-122"/>
                <a:cs typeface="Courier New" pitchFamily="34" charset="-120"/>
              </a:rPr>
              <a:t>2</a:t>
            </a:r>
            <a:r>
              <a:rPr lang="en-US" sz="830" dirty="0">
                <a:solidFill>
                  <a:srgbClr val="E6EDF3"/>
                </a:solidFill>
                <a:latin typeface="Courier New" pitchFamily="34" charset="0"/>
                <a:ea typeface="Courier New" pitchFamily="34" charset="-122"/>
                <a:cs typeface="Courier New" pitchFamily="34" charset="-120"/>
              </a:rPr>
              <a:t>, </a:t>
            </a:r>
            <a:r>
              <a:rPr lang="en-US" sz="830" dirty="0">
                <a:solidFill>
                  <a:srgbClr val="FFD28A"/>
                </a:solidFill>
                <a:latin typeface="Courier New" pitchFamily="34" charset="0"/>
                <a:ea typeface="Courier New" pitchFamily="34" charset="-122"/>
                <a:cs typeface="Courier New" pitchFamily="34" charset="-120"/>
              </a:rPr>
              <a:t>0</a:t>
            </a:r>
            <a:r>
              <a:rPr lang="en-US" sz="830" dirty="0">
                <a:solidFill>
                  <a:srgbClr val="E6EDF3"/>
                </a:solidFill>
                <a:latin typeface="Courier New" pitchFamily="34" charset="0"/>
                <a:ea typeface="Courier New" pitchFamily="34" charset="-122"/>
                <a:cs typeface="Courier New" pitchFamily="34" charset="-120"/>
              </a:rPr>
              <a:t>]), K.ms_spend(</a:t>
            </a:r>
            <a:r>
              <a:rPr lang="en-US" sz="830" dirty="0">
                <a:solidFill>
                  <a:srgbClr val="FFD28A"/>
                </a:solidFill>
                <a:latin typeface="Courier New" pitchFamily="34" charset="0"/>
                <a:ea typeface="Courier New" pitchFamily="34" charset="-122"/>
                <a:cs typeface="Courier New" pitchFamily="34" charset="-120"/>
              </a:rPr>
              <a:t>2</a:t>
            </a:r>
            <a:r>
              <a:rPr lang="en-US" sz="830" dirty="0">
                <a:solidFill>
                  <a:srgbClr val="E6EDF3"/>
                </a:solidFill>
                <a:latin typeface="Courier New" pitchFamily="34" charset="0"/>
                <a:ea typeface="Courier New" pitchFamily="34" charset="-122"/>
                <a:cs typeface="Courier New" pitchFamily="34" charset="-120"/>
              </a:rPr>
              <a:t>, </a:t>
            </a:r>
            <a:r>
              <a:rPr lang="en-US" sz="830" dirty="0">
                <a:solidFill>
                  <a:srgbClr val="FFD28A"/>
                </a:solidFill>
                <a:latin typeface="Courier New" pitchFamily="34" charset="0"/>
                <a:ea typeface="Courier New" pitchFamily="34" charset="-122"/>
                <a:cs typeface="Courier New" pitchFamily="34" charset="-120"/>
              </a:rPr>
              <a:t>3</a:t>
            </a:r>
            <a:r>
              <a:rPr lang="en-US" sz="830" dirty="0">
                <a:solidFill>
                  <a:srgbClr val="E6EDF3"/>
                </a:solidFill>
                <a:latin typeface="Courier New" pitchFamily="34" charset="0"/>
                <a:ea typeface="Courier New" pitchFamily="34" charset="-122"/>
                <a:cs typeface="Courier New" pitchFamily="34" charset="-120"/>
              </a:rPr>
              <a:t>, [</a:t>
            </a:r>
            <a:r>
              <a:rPr lang="en-US" sz="830" dirty="0">
                <a:solidFill>
                  <a:srgbClr val="FFD28A"/>
                </a:solidFill>
                <a:latin typeface="Courier New" pitchFamily="34" charset="0"/>
                <a:ea typeface="Courier New" pitchFamily="34" charset="-122"/>
                <a:cs typeface="Courier New" pitchFamily="34" charset="-120"/>
              </a:rPr>
              <a:t>1</a:t>
            </a:r>
            <a:r>
              <a:rPr lang="en-US" sz="830" dirty="0">
                <a:solidFill>
                  <a:srgbClr val="E6EDF3"/>
                </a:solidFill>
                <a:latin typeface="Courier New" pitchFamily="34" charset="0"/>
                <a:ea typeface="Courier New" pitchFamily="34" charset="-122"/>
                <a:cs typeface="Courier New" pitchFamily="34" charset="-120"/>
              </a:rPr>
              <a:t>])</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('OK', 'EVAL_FALSE', 'INVALID_STACK_OPERATION')</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r>
              <a:rPr lang="en-US" sz="830" dirty="0">
                <a:solidFill>
                  <a:srgbClr val="E6EDF3"/>
                </a:solidFill>
                <a:latin typeface="Courier New" pitchFamily="34" charset="0"/>
                <a:ea typeface="Courier New" pitchFamily="34" charset="-122"/>
                <a:cs typeface="Courier New" pitchFamily="34" charset="-120"/>
              </a:rPr>
              <a:t>K.ms_spend(</a:t>
            </a:r>
            <a:r>
              <a:rPr lang="en-US" sz="830" dirty="0">
                <a:solidFill>
                  <a:srgbClr val="FFD28A"/>
                </a:solidFill>
                <a:latin typeface="Courier New" pitchFamily="34" charset="0"/>
                <a:ea typeface="Courier New" pitchFamily="34" charset="-122"/>
                <a:cs typeface="Courier New" pitchFamily="34" charset="-120"/>
              </a:rPr>
              <a:t>2</a:t>
            </a:r>
            <a:r>
              <a:rPr lang="en-US" sz="830" dirty="0">
                <a:solidFill>
                  <a:srgbClr val="E6EDF3"/>
                </a:solidFill>
                <a:latin typeface="Courier New" pitchFamily="34" charset="0"/>
                <a:ea typeface="Courier New" pitchFamily="34" charset="-122"/>
                <a:cs typeface="Courier New" pitchFamily="34" charset="-120"/>
              </a:rPr>
              <a:t>, </a:t>
            </a:r>
            <a:r>
              <a:rPr lang="en-US" sz="830" dirty="0">
                <a:solidFill>
                  <a:srgbClr val="FFD28A"/>
                </a:solidFill>
                <a:latin typeface="Courier New" pitchFamily="34" charset="0"/>
                <a:ea typeface="Courier New" pitchFamily="34" charset="-122"/>
                <a:cs typeface="Courier New" pitchFamily="34" charset="-120"/>
              </a:rPr>
              <a:t>3</a:t>
            </a:r>
            <a:r>
              <a:rPr lang="en-US" sz="830" dirty="0">
                <a:solidFill>
                  <a:srgbClr val="E6EDF3"/>
                </a:solidFill>
                <a:latin typeface="Courier New" pitchFamily="34" charset="0"/>
                <a:ea typeface="Courier New" pitchFamily="34" charset="-122"/>
                <a:cs typeface="Courier New" pitchFamily="34" charset="-120"/>
              </a:rPr>
              <a:t>, [</a:t>
            </a:r>
            <a:r>
              <a:rPr lang="en-US" sz="830" dirty="0">
                <a:solidFill>
                  <a:srgbClr val="FFD28A"/>
                </a:solidFill>
                <a:latin typeface="Courier New" pitchFamily="34" charset="0"/>
                <a:ea typeface="Courier New" pitchFamily="34" charset="-122"/>
                <a:cs typeface="Courier New" pitchFamily="34" charset="-120"/>
              </a:rPr>
              <a:t>0</a:t>
            </a:r>
            <a:r>
              <a:rPr lang="en-US" sz="830" dirty="0">
                <a:solidFill>
                  <a:srgbClr val="E6EDF3"/>
                </a:solidFill>
                <a:latin typeface="Courier New" pitchFamily="34" charset="0"/>
                <a:ea typeface="Courier New" pitchFamily="34" charset="-122"/>
                <a:cs typeface="Courier New" pitchFamily="34" charset="-120"/>
              </a:rPr>
              <a:t>, </a:t>
            </a:r>
            <a:r>
              <a:rPr lang="en-US" sz="830" dirty="0">
                <a:solidFill>
                  <a:srgbClr val="FFD28A"/>
                </a:solidFill>
                <a:latin typeface="Courier New" pitchFamily="34" charset="0"/>
                <a:ea typeface="Courier New" pitchFamily="34" charset="-122"/>
                <a:cs typeface="Courier New" pitchFamily="34" charset="-120"/>
              </a:rPr>
              <a:t>1</a:t>
            </a:r>
            <a:r>
              <a:rPr lang="en-US" sz="830" dirty="0">
                <a:solidFill>
                  <a:srgbClr val="E6EDF3"/>
                </a:solidFill>
                <a:latin typeface="Courier New" pitchFamily="34" charset="0"/>
                <a:ea typeface="Courier New" pitchFamily="34" charset="-122"/>
                <a:cs typeface="Courier New" pitchFamily="34" charset="-120"/>
              </a:rPr>
              <a:t>], dummy=b</a:t>
            </a:r>
            <a:r>
              <a:rPr lang="en-US" sz="830" dirty="0">
                <a:solidFill>
                  <a:srgbClr val="9ECBFF"/>
                </a:solidFill>
                <a:latin typeface="Courier New" pitchFamily="34" charset="0"/>
                <a:ea typeface="Courier New" pitchFamily="34" charset="-122"/>
                <a:cs typeface="Courier New" pitchFamily="34" charset="-120"/>
              </a:rPr>
              <a:t>'\x01'</a:t>
            </a:r>
            <a:r>
              <a:rPr lang="en-US" sz="830" dirty="0">
                <a:solidFill>
                  <a:srgbClr val="E6EDF3"/>
                </a:solidFill>
                <a:latin typeface="Courier New" pitchFamily="34" charset="0"/>
                <a:ea typeface="Courier New" pitchFamily="34" charset="-122"/>
                <a:cs typeface="Courier New" pitchFamily="34" charset="-120"/>
              </a:rPr>
              <a:t>), K.ms_spend(</a:t>
            </a:r>
            <a:r>
              <a:rPr lang="en-US" sz="830" dirty="0">
                <a:solidFill>
                  <a:srgbClr val="FFD28A"/>
                </a:solidFill>
                <a:latin typeface="Courier New" pitchFamily="34" charset="0"/>
                <a:ea typeface="Courier New" pitchFamily="34" charset="-122"/>
                <a:cs typeface="Courier New" pitchFamily="34" charset="-120"/>
              </a:rPr>
              <a:t>2</a:t>
            </a:r>
            <a:r>
              <a:rPr lang="en-US" sz="830" dirty="0">
                <a:solidFill>
                  <a:srgbClr val="E6EDF3"/>
                </a:solidFill>
                <a:latin typeface="Courier New" pitchFamily="34" charset="0"/>
                <a:ea typeface="Courier New" pitchFamily="34" charset="-122"/>
                <a:cs typeface="Courier New" pitchFamily="34" charset="-120"/>
              </a:rPr>
              <a:t>, </a:t>
            </a:r>
            <a:r>
              <a:rPr lang="en-US" sz="830" dirty="0">
                <a:solidFill>
                  <a:srgbClr val="FFD28A"/>
                </a:solidFill>
                <a:latin typeface="Courier New" pitchFamily="34" charset="0"/>
                <a:ea typeface="Courier New" pitchFamily="34" charset="-122"/>
                <a:cs typeface="Courier New" pitchFamily="34" charset="-120"/>
              </a:rPr>
              <a:t>3</a:t>
            </a:r>
            <a:r>
              <a:rPr lang="en-US" sz="830" dirty="0">
                <a:solidFill>
                  <a:srgbClr val="E6EDF3"/>
                </a:solidFill>
                <a:latin typeface="Courier New" pitchFamily="34" charset="0"/>
                <a:ea typeface="Courier New" pitchFamily="34" charset="-122"/>
                <a:cs typeface="Courier New" pitchFamily="34" charset="-120"/>
              </a:rPr>
              <a:t>, [</a:t>
            </a:r>
            <a:r>
              <a:rPr lang="en-US" sz="830" dirty="0">
                <a:solidFill>
                  <a:srgbClr val="FFD28A"/>
                </a:solidFill>
                <a:latin typeface="Courier New" pitchFamily="34" charset="0"/>
                <a:ea typeface="Courier New" pitchFamily="34" charset="-122"/>
                <a:cs typeface="Courier New" pitchFamily="34" charset="-120"/>
              </a:rPr>
              <a:t>0</a:t>
            </a:r>
            <a:r>
              <a:rPr lang="en-US" sz="830" dirty="0">
                <a:solidFill>
                  <a:srgbClr val="E6EDF3"/>
                </a:solidFill>
                <a:latin typeface="Courier New" pitchFamily="34" charset="0"/>
                <a:ea typeface="Courier New" pitchFamily="34" charset="-122"/>
                <a:cs typeface="Courier New" pitchFamily="34" charset="-120"/>
              </a:rPr>
              <a:t>, </a:t>
            </a:r>
            <a:r>
              <a:rPr lang="en-US" sz="830" dirty="0">
                <a:solidFill>
                  <a:srgbClr val="FFD28A"/>
                </a:solidFill>
                <a:latin typeface="Courier New" pitchFamily="34" charset="0"/>
                <a:ea typeface="Courier New" pitchFamily="34" charset="-122"/>
                <a:cs typeface="Courier New" pitchFamily="34" charset="-120"/>
              </a:rPr>
              <a:t>1</a:t>
            </a:r>
            <a:r>
              <a:rPr lang="en-US" sz="830" dirty="0">
                <a:solidFill>
                  <a:srgbClr val="E6EDF3"/>
                </a:solidFill>
                <a:latin typeface="Courier New" pitchFamily="34" charset="0"/>
                <a:ea typeface="Courier New" pitchFamily="34" charset="-122"/>
                <a:cs typeface="Courier New" pitchFamily="34" charset="-120"/>
              </a:rPr>
              <a:t>], dummy=b</a:t>
            </a:r>
            <a:r>
              <a:rPr lang="en-US" sz="830" dirty="0">
                <a:solidFill>
                  <a:srgbClr val="9ECBFF"/>
                </a:solidFill>
                <a:latin typeface="Courier New" pitchFamily="34" charset="0"/>
                <a:ea typeface="Courier New" pitchFamily="34" charset="-122"/>
                <a:cs typeface="Courier New" pitchFamily="34" charset="-120"/>
              </a:rPr>
              <a:t>'\x01'</a:t>
            </a:r>
            <a:r>
              <a:rPr lang="en-US" sz="830" dirty="0">
                <a:solidFill>
                  <a:srgbClr val="E6EDF3"/>
                </a:solidFill>
                <a:latin typeface="Courier New" pitchFamily="34" charset="0"/>
                <a:ea typeface="Courier New" pitchFamily="34" charset="-122"/>
                <a:cs typeface="Courier New" pitchFamily="34" charset="-120"/>
              </a:rPr>
              <a:t>, flags=L.MAINNET_FLAGS - {</a:t>
            </a:r>
            <a:r>
              <a:rPr lang="en-US" sz="830" dirty="0">
                <a:solidFill>
                  <a:srgbClr val="9ECBFF"/>
                </a:solidFill>
                <a:latin typeface="Courier New" pitchFamily="34" charset="0"/>
                <a:ea typeface="Courier New" pitchFamily="34" charset="-122"/>
                <a:cs typeface="Courier New" pitchFamily="34" charset="-120"/>
              </a:rPr>
              <a:t>'NULLDUMMY'</a:t>
            </a:r>
            <a:r>
              <a:rPr lang="en-US" sz="830" dirty="0">
                <a:solidFill>
                  <a:srgbClr val="E6EDF3"/>
                </a:solidFill>
                <a:latin typeface="Courier New" pitchFamily="34" charset="0"/>
                <a:ea typeface="Courier New" pitchFamily="34" charset="-122"/>
                <a:cs typeface="Courier New" pitchFamily="34" charset="-120"/>
              </a:rPr>
              <a:t>})</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('SIG_NULLDUMMY', 'OK')</a:t>
            </a:r>
            <a:endParaRPr lang="en-US" sz="830" dirty="0"/>
          </a:p>
        </p:txBody>
      </p:sp>
      <p:sp>
        <p:nvSpPr>
          <p:cNvPr id="9" name="Text 7"/>
          <p:cNvSpPr txBox="1"/>
          <p:nvPr/>
        </p:nvSpPr>
        <p:spPr>
          <a:xfrm>
            <a:off x="457200" y="31729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429000"/>
            <a:ext cx="3044495" cy="420624"/>
          </a:xfrm>
          <a:prstGeom prst="roundRect">
            <a:avLst>
              <a:gd name="adj" fmla="val 50000"/>
            </a:avLst>
          </a:prstGeom>
          <a:solidFill>
            <a:srgbClr val="F2ECE1"/>
          </a:solidFill>
          <a:ln w="12700">
            <a:solidFill>
              <a:srgbClr val="D97A14"/>
            </a:solidFill>
            <a:prstDash val="solid"/>
          </a:ln>
        </p:spPr>
      </p:sp>
      <p:sp>
        <p:nvSpPr>
          <p:cNvPr id="11" name="Text 9"/>
          <p:cNvSpPr txBox="1"/>
          <p:nvPr/>
        </p:nvSpPr>
        <p:spPr>
          <a:xfrm>
            <a:off x="457200" y="3429000"/>
            <a:ext cx="3044495"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bare: 3 keys by policy</a:t>
            </a:r>
            <a:endParaRPr lang="en-US" sz="1150" dirty="0"/>
          </a:p>
        </p:txBody>
      </p:sp>
      <p:sp>
        <p:nvSpPr>
          <p:cNvPr id="12" name="Shape 10"/>
          <p:cNvSpPr/>
          <p:nvPr/>
        </p:nvSpPr>
        <p:spPr>
          <a:xfrm>
            <a:off x="3702863" y="3429000"/>
            <a:ext cx="2802636" cy="420624"/>
          </a:xfrm>
          <a:prstGeom prst="roundRect">
            <a:avLst>
              <a:gd name="adj" fmla="val 50000"/>
            </a:avLst>
          </a:prstGeom>
          <a:solidFill>
            <a:srgbClr val="F2ECE1"/>
          </a:solidFill>
          <a:ln w="12700">
            <a:solidFill>
              <a:srgbClr val="D97A14"/>
            </a:solidFill>
            <a:prstDash val="solid"/>
          </a:ln>
        </p:spPr>
      </p:sp>
      <p:sp>
        <p:nvSpPr>
          <p:cNvPr id="13" name="Text 11"/>
          <p:cNvSpPr txBox="1"/>
          <p:nvPr/>
        </p:nvSpPr>
        <p:spPr>
          <a:xfrm>
            <a:off x="3702863" y="3429000"/>
            <a:ext cx="2802636"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script hash: 15 keys</a:t>
            </a:r>
            <a:endParaRPr lang="en-US" sz="1150" dirty="0"/>
          </a:p>
        </p:txBody>
      </p:sp>
      <p:sp>
        <p:nvSpPr>
          <p:cNvPr id="14" name="Shape 12"/>
          <p:cNvSpPr/>
          <p:nvPr/>
        </p:nvSpPr>
        <p:spPr>
          <a:xfrm>
            <a:off x="457200" y="4014216"/>
            <a:ext cx="2560777" cy="4206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457200" y="4014216"/>
            <a:ext cx="2560777"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consensus: 20 keys</a:t>
            </a:r>
            <a:endParaRPr lang="en-US" sz="1150" dirty="0"/>
          </a:p>
        </p:txBody>
      </p:sp>
      <p:sp>
        <p:nvSpPr>
          <p:cNvPr id="16" name="Shape 14"/>
          <p:cNvSpPr/>
          <p:nvPr/>
        </p:nvSpPr>
        <p:spPr>
          <a:xfrm>
            <a:off x="457200" y="4142232"/>
            <a:ext cx="128016" cy="128016"/>
          </a:xfrm>
          <a:prstGeom prst="diamond">
            <a:avLst/>
          </a:prstGeom>
          <a:solidFill>
            <a:srgbClr val="D97A14"/>
          </a:solidFill>
          <a:ln w="12700">
            <a:solidFill>
              <a:srgbClr val="D97A14"/>
            </a:solidFill>
            <a:prstDash val="solid"/>
          </a:ln>
        </p:spPr>
      </p:sp>
      <p:sp>
        <p:nvSpPr>
          <p:cNvPr id="17" name="Text 15"/>
          <p:cNvSpPr txBox="1"/>
          <p:nvPr/>
        </p:nvSpPr>
        <p:spPr>
          <a:xfrm>
            <a:off x="731520" y="3886200"/>
            <a:ext cx="7955280" cy="64008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The opcode pops one extra stack element, which must be empty since BIP147</a:t>
            </a:r>
            <a:endParaRPr lang="en-US" sz="11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Signatures follow the order of the keys, and the odd extra element must be empty</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26</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Pay to script hash: the payer sees only a hash</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23-byte output, a 3-address, and a redeem script that the spender reveals</a:t>
            </a:r>
            <a:endParaRPr lang="en-US" sz="1300" dirty="0"/>
          </a:p>
        </p:txBody>
      </p:sp>
      <p:sp>
        <p:nvSpPr>
          <p:cNvPr id="6" name="Shape 4"/>
          <p:cNvSpPr/>
          <p:nvPr/>
        </p:nvSpPr>
        <p:spPr>
          <a:xfrm>
            <a:off x="457200" y="1325880"/>
            <a:ext cx="2426208" cy="777240"/>
          </a:xfrm>
          <a:prstGeom prst="roundRect">
            <a:avLst>
              <a:gd name="adj" fmla="val 11765"/>
            </a:avLst>
          </a:prstGeom>
          <a:solidFill>
            <a:srgbClr val="2F6D62"/>
          </a:solidFill>
          <a:ln w="12700">
            <a:solidFill>
              <a:srgbClr val="2F6D62"/>
            </a:solidFill>
            <a:prstDash val="solid"/>
          </a:ln>
        </p:spPr>
      </p:sp>
      <p:sp>
        <p:nvSpPr>
          <p:cNvPr id="7" name="Text 5"/>
          <p:cNvSpPr txBox="1"/>
          <p:nvPr/>
        </p:nvSpPr>
        <p:spPr>
          <a:xfrm>
            <a:off x="530352" y="1371600"/>
            <a:ext cx="2279904"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Payer</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pays to a 23-byte hash: any script looks alike</a:t>
            </a:r>
            <a:endParaRPr lang="en-US" sz="1150" dirty="0"/>
          </a:p>
        </p:txBody>
      </p:sp>
      <p:sp>
        <p:nvSpPr>
          <p:cNvPr id="8" name="Shape 6"/>
          <p:cNvSpPr/>
          <p:nvPr/>
        </p:nvSpPr>
        <p:spPr>
          <a:xfrm>
            <a:off x="2938272" y="1714500"/>
            <a:ext cx="365760" cy="0"/>
          </a:xfrm>
          <a:prstGeom prst="line">
            <a:avLst/>
          </a:prstGeom>
          <a:noFill/>
          <a:ln w="25400">
            <a:solidFill>
              <a:srgbClr val="D97A14"/>
            </a:solidFill>
            <a:prstDash val="solid"/>
            <a:tailEnd type="triangle"/>
          </a:ln>
        </p:spPr>
      </p:sp>
      <p:sp>
        <p:nvSpPr>
          <p:cNvPr id="9" name="Shape 7"/>
          <p:cNvSpPr/>
          <p:nvPr/>
        </p:nvSpPr>
        <p:spPr>
          <a:xfrm>
            <a:off x="3358896" y="1325880"/>
            <a:ext cx="2426208" cy="777240"/>
          </a:xfrm>
          <a:prstGeom prst="roundRect">
            <a:avLst>
              <a:gd name="adj" fmla="val 11765"/>
            </a:avLst>
          </a:prstGeom>
          <a:solidFill>
            <a:srgbClr val="2F6D62"/>
          </a:solidFill>
          <a:ln w="12700">
            <a:solidFill>
              <a:srgbClr val="2F6D62"/>
            </a:solidFill>
            <a:prstDash val="solid"/>
          </a:ln>
        </p:spPr>
      </p:sp>
      <p:sp>
        <p:nvSpPr>
          <p:cNvPr id="10" name="Text 8"/>
          <p:cNvSpPr txBox="1"/>
          <p:nvPr/>
        </p:nvSpPr>
        <p:spPr>
          <a:xfrm>
            <a:off x="3432048" y="1371600"/>
            <a:ext cx="2279904"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Spender</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reveals the redeem script as the last item</a:t>
            </a:r>
            <a:endParaRPr lang="en-US" sz="1150" dirty="0"/>
          </a:p>
        </p:txBody>
      </p:sp>
      <p:sp>
        <p:nvSpPr>
          <p:cNvPr id="11" name="Shape 9"/>
          <p:cNvSpPr/>
          <p:nvPr/>
        </p:nvSpPr>
        <p:spPr>
          <a:xfrm>
            <a:off x="5839968" y="1714500"/>
            <a:ext cx="365760" cy="0"/>
          </a:xfrm>
          <a:prstGeom prst="line">
            <a:avLst/>
          </a:prstGeom>
          <a:noFill/>
          <a:ln w="25400">
            <a:solidFill>
              <a:srgbClr val="D97A14"/>
            </a:solidFill>
            <a:prstDash val="solid"/>
            <a:tailEnd type="triangle"/>
          </a:ln>
        </p:spPr>
      </p:sp>
      <p:sp>
        <p:nvSpPr>
          <p:cNvPr id="12" name="Shape 10"/>
          <p:cNvSpPr/>
          <p:nvPr/>
        </p:nvSpPr>
        <p:spPr>
          <a:xfrm>
            <a:off x="6260592" y="1325880"/>
            <a:ext cx="2426208" cy="777240"/>
          </a:xfrm>
          <a:prstGeom prst="roundRect">
            <a:avLst>
              <a:gd name="adj" fmla="val 11765"/>
            </a:avLst>
          </a:prstGeom>
          <a:solidFill>
            <a:srgbClr val="2F6D62"/>
          </a:solidFill>
          <a:ln w="12700">
            <a:solidFill>
              <a:srgbClr val="2F6D62"/>
            </a:solidFill>
            <a:prstDash val="solid"/>
          </a:ln>
        </p:spPr>
      </p:sp>
      <p:sp>
        <p:nvSpPr>
          <p:cNvPr id="13" name="Text 11"/>
          <p:cNvSpPr txBox="1"/>
          <p:nvPr/>
        </p:nvSpPr>
        <p:spPr>
          <a:xfrm>
            <a:off x="6333744" y="1371600"/>
            <a:ext cx="2279904"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Node</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hashes it, compares, then runs it</a:t>
            </a:r>
            <a:endParaRPr lang="en-US" sz="1150" dirty="0"/>
          </a:p>
        </p:txBody>
      </p:sp>
      <p:sp>
        <p:nvSpPr>
          <p:cNvPr id="14" name="Text 12"/>
          <p:cNvSpPr txBox="1"/>
          <p:nvPr/>
        </p:nvSpPr>
        <p:spPr>
          <a:xfrm>
            <a:off x="457200" y="233172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2-of-3 script as an output: its address, a real spend, and a spend whose script hashes to something else</a:t>
            </a:r>
            <a:endParaRPr lang="en-US" sz="1150" dirty="0"/>
          </a:p>
        </p:txBody>
      </p:sp>
      <p:sp>
        <p:nvSpPr>
          <p:cNvPr id="15" name="Shape 13"/>
          <p:cNvSpPr/>
          <p:nvPr/>
        </p:nvSpPr>
        <p:spPr>
          <a:xfrm>
            <a:off x="457200" y="2606040"/>
            <a:ext cx="8229600" cy="1325880"/>
          </a:xfrm>
          <a:prstGeom prst="roundRect">
            <a:avLst>
              <a:gd name="adj" fmla="val 6897"/>
            </a:avLst>
          </a:prstGeom>
          <a:solidFill>
            <a:srgbClr val="23272E"/>
          </a:solidFill>
          <a:ln w="12700">
            <a:solidFill>
              <a:srgbClr val="23272E"/>
            </a:solidFill>
            <a:prstDash val="solid"/>
          </a:ln>
        </p:spPr>
      </p:sp>
      <p:sp>
        <p:nvSpPr>
          <p:cNvPr id="16" name="Text 14"/>
          <p:cNvSpPr txBox="1"/>
          <p:nvPr/>
        </p:nvSpPr>
        <p:spPr>
          <a:xfrm>
            <a:off x="640080" y="2724912"/>
            <a:ext cx="7863840" cy="108813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spk = L.p2sh_script(L.hash160(RED))</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L.script_to_address(spk)[:</a:t>
            </a:r>
            <a:r>
              <a:rPr lang="en-US" sz="950" dirty="0">
                <a:solidFill>
                  <a:srgbClr val="FFD28A"/>
                </a:solidFill>
                <a:latin typeface="Courier New" pitchFamily="34" charset="0"/>
                <a:ea typeface="Courier New" pitchFamily="34" charset="-122"/>
                <a:cs typeface="Courier New" pitchFamily="34" charset="-120"/>
              </a:rPr>
              <a:t>6</a:t>
            </a:r>
            <a:r>
              <a:rPr lang="en-US" sz="950" dirty="0">
                <a:solidFill>
                  <a:srgbClr val="E6EDF3"/>
                </a:solidFill>
                <a:latin typeface="Courier New" pitchFamily="34" charset="0"/>
                <a:ea typeface="Courier New" pitchFamily="34" charset="-122"/>
                <a:cs typeface="Courier New" pitchFamily="34" charset="-120"/>
              </a:rPr>
              <a:t>], len(spk)</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('3BuKam', 23)</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K.ms_spend(</a:t>
            </a:r>
            <a:r>
              <a:rPr lang="en-US" sz="950" dirty="0">
                <a:solidFill>
                  <a:srgbClr val="FFD28A"/>
                </a:solidFill>
                <a:latin typeface="Courier New" pitchFamily="34" charset="0"/>
                <a:ea typeface="Courier New" pitchFamily="34" charset="-122"/>
                <a:cs typeface="Courier New" pitchFamily="34" charset="-120"/>
              </a:rPr>
              <a:t>2</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3</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0</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1</a:t>
            </a:r>
            <a:r>
              <a:rPr lang="en-US" sz="950" dirty="0">
                <a:solidFill>
                  <a:srgbClr val="E6EDF3"/>
                </a:solidFill>
                <a:latin typeface="Courier New" pitchFamily="34" charset="0"/>
                <a:ea typeface="Courier New" pitchFamily="34" charset="-122"/>
                <a:cs typeface="Courier New" pitchFamily="34" charset="-120"/>
              </a:rPr>
              <a:t>], wrap=</a:t>
            </a:r>
            <a:r>
              <a:rPr lang="en-US" sz="950" dirty="0">
                <a:solidFill>
                  <a:srgbClr val="9ECBFF"/>
                </a:solidFill>
                <a:latin typeface="Courier New" pitchFamily="34" charset="0"/>
                <a:ea typeface="Courier New" pitchFamily="34" charset="-122"/>
                <a:cs typeface="Courier New" pitchFamily="34" charset="-120"/>
              </a:rPr>
              <a:t>'p2sh'</a:t>
            </a:r>
            <a:r>
              <a:rPr lang="en-US" sz="950" dirty="0">
                <a:solidFill>
                  <a:srgbClr val="E6EDF3"/>
                </a:solidFill>
                <a:latin typeface="Courier New" pitchFamily="34" charset="0"/>
                <a:ea typeface="Courier New" pitchFamily="34" charset="-122"/>
                <a:cs typeface="Courier New" pitchFamily="34" charset="-120"/>
              </a:rPr>
              <a:t>), K.p2sh_spend(RED, hashed=RED + b</a:t>
            </a:r>
            <a:r>
              <a:rPr lang="en-US" sz="950" dirty="0">
                <a:solidFill>
                  <a:srgbClr val="9ECBFF"/>
                </a:solidFill>
                <a:latin typeface="Courier New" pitchFamily="34" charset="0"/>
                <a:ea typeface="Courier New" pitchFamily="34" charset="-122"/>
                <a:cs typeface="Courier New" pitchFamily="34" charset="-120"/>
              </a:rPr>
              <a:t>'\x00'</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('OK', 'EVAL_FALSE')</a:t>
            </a:r>
            <a:endParaRPr lang="en-US" sz="950" dirty="0"/>
          </a:p>
        </p:txBody>
      </p:sp>
      <p:sp>
        <p:nvSpPr>
          <p:cNvPr id="17" name="Text 15"/>
          <p:cNvSpPr txBox="1"/>
          <p:nvPr/>
        </p:nvSpPr>
        <p:spPr>
          <a:xfrm>
            <a:off x="457200" y="39502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6"/>
          <p:cNvSpPr/>
          <p:nvPr/>
        </p:nvSpPr>
        <p:spPr>
          <a:xfrm>
            <a:off x="457200" y="4160520"/>
            <a:ext cx="2581808"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457200" y="4160520"/>
            <a:ext cx="2581808"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payer: short output</a:t>
            </a:r>
            <a:endParaRPr lang="en-US" sz="1100" dirty="0"/>
          </a:p>
        </p:txBody>
      </p:sp>
      <p:sp>
        <p:nvSpPr>
          <p:cNvPr id="20" name="Shape 18"/>
          <p:cNvSpPr/>
          <p:nvPr/>
        </p:nvSpPr>
        <p:spPr>
          <a:xfrm>
            <a:off x="3240176" y="4160520"/>
            <a:ext cx="3507181"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3240176" y="4160520"/>
            <a:ext cx="3507181"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spender: the script and fee</a:t>
            </a:r>
            <a:endParaRPr lang="en-US" sz="11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Pay to script hash moves the size and the fee of the script to its spender</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26</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Time and flow control</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Making a spend wait, and letting one output have several ways out</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Absolute lock</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Relative lock</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IF and VERIFY</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Three paths</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26</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Two timelocks, both enforced by the script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Absolute: the lock time field. Relative: the age in the sequence field</a:t>
            </a:r>
            <a:endParaRPr lang="en-US" sz="1300" dirty="0"/>
          </a:p>
        </p:txBody>
      </p:sp>
      <p:sp>
        <p:nvSpPr>
          <p:cNvPr id="6" name="Text 4"/>
          <p:cNvSpPr txBox="1"/>
          <p:nvPr/>
        </p:nvSpPr>
        <p:spPr>
          <a:xfrm>
            <a:off x="457200" y="137160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wait until height 800,000: the lock time must be at least that, and the input must not be final</a:t>
            </a:r>
            <a:endParaRPr lang="en-US" sz="1150" dirty="0"/>
          </a:p>
        </p:txBody>
      </p:sp>
      <p:sp>
        <p:nvSpPr>
          <p:cNvPr id="7" name="Shape 5"/>
          <p:cNvSpPr/>
          <p:nvPr/>
        </p:nvSpPr>
        <p:spPr>
          <a:xfrm>
            <a:off x="457200" y="1645920"/>
            <a:ext cx="8229600" cy="1280160"/>
          </a:xfrm>
          <a:prstGeom prst="roundRect">
            <a:avLst>
              <a:gd name="adj" fmla="val 7143"/>
            </a:avLst>
          </a:prstGeom>
          <a:solidFill>
            <a:srgbClr val="23272E"/>
          </a:solidFill>
          <a:ln w="12700">
            <a:solidFill>
              <a:srgbClr val="23272E"/>
            </a:solidFill>
            <a:prstDash val="solid"/>
          </a:ln>
        </p:spPr>
      </p:sp>
      <p:sp>
        <p:nvSpPr>
          <p:cNvPr id="8" name="Text 6"/>
          <p:cNvSpPr txBox="1"/>
          <p:nvPr/>
        </p:nvSpPr>
        <p:spPr>
          <a:xfrm>
            <a:off x="640080" y="1764792"/>
            <a:ext cx="7863840" cy="104241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K.key_spend(CLTV, locktime=</a:t>
            </a:r>
            <a:r>
              <a:rPr lang="en-US" sz="950" dirty="0">
                <a:solidFill>
                  <a:srgbClr val="FFD28A"/>
                </a:solidFill>
                <a:latin typeface="Courier New" pitchFamily="34" charset="0"/>
                <a:ea typeface="Courier New" pitchFamily="34" charset="-122"/>
                <a:cs typeface="Courier New" pitchFamily="34" charset="-120"/>
              </a:rPr>
              <a:t>800000</a:t>
            </a:r>
            <a:r>
              <a:rPr lang="en-US" sz="950" dirty="0">
                <a:solidFill>
                  <a:srgbClr val="E6EDF3"/>
                </a:solidFill>
                <a:latin typeface="Courier New" pitchFamily="34" charset="0"/>
                <a:ea typeface="Courier New" pitchFamily="34" charset="-122"/>
                <a:cs typeface="Courier New" pitchFamily="34" charset="-120"/>
              </a:rPr>
              <a:t>, sequence=0xfffffffe)</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'OK'</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K.key_spend(CLTV, locktime=</a:t>
            </a:r>
            <a:r>
              <a:rPr lang="en-US" sz="950" dirty="0">
                <a:solidFill>
                  <a:srgbClr val="FFD28A"/>
                </a:solidFill>
                <a:latin typeface="Courier New" pitchFamily="34" charset="0"/>
                <a:ea typeface="Courier New" pitchFamily="34" charset="-122"/>
                <a:cs typeface="Courier New" pitchFamily="34" charset="-120"/>
              </a:rPr>
              <a:t>799999</a:t>
            </a:r>
            <a:r>
              <a:rPr lang="en-US" sz="950" dirty="0">
                <a:solidFill>
                  <a:srgbClr val="E6EDF3"/>
                </a:solidFill>
                <a:latin typeface="Courier New" pitchFamily="34" charset="0"/>
                <a:ea typeface="Courier New" pitchFamily="34" charset="-122"/>
                <a:cs typeface="Courier New" pitchFamily="34" charset="-120"/>
              </a:rPr>
              <a:t>, sequence=0xfffffffe), K.key_spend(CLTV, locktime=</a:t>
            </a:r>
            <a:r>
              <a:rPr lang="en-US" sz="950" dirty="0">
                <a:solidFill>
                  <a:srgbClr val="FFD28A"/>
                </a:solidFill>
                <a:latin typeface="Courier New" pitchFamily="34" charset="0"/>
                <a:ea typeface="Courier New" pitchFamily="34" charset="-122"/>
                <a:cs typeface="Courier New" pitchFamily="34" charset="-120"/>
              </a:rPr>
              <a:t>800000</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('UNSATISFIED_LOCKTIME', 'UNSATISFIED_LOCKTIME')</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K.is_final(</a:t>
            </a:r>
            <a:r>
              <a:rPr lang="en-US" sz="950" dirty="0">
                <a:solidFill>
                  <a:srgbClr val="FFD28A"/>
                </a:solidFill>
                <a:latin typeface="Courier New" pitchFamily="34" charset="0"/>
                <a:ea typeface="Courier New" pitchFamily="34" charset="-122"/>
                <a:cs typeface="Courier New" pitchFamily="34" charset="-120"/>
              </a:rPr>
              <a:t>800000</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800000</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0</a:t>
            </a:r>
            <a:r>
              <a:rPr lang="en-US" sz="950" dirty="0">
                <a:solidFill>
                  <a:srgbClr val="E6EDF3"/>
                </a:solidFill>
                <a:latin typeface="Courier New" pitchFamily="34" charset="0"/>
                <a:ea typeface="Courier New" pitchFamily="34" charset="-122"/>
                <a:cs typeface="Courier New" pitchFamily="34" charset="-120"/>
              </a:rPr>
              <a:t>, [0xfffffffe]), K.is_final(</a:t>
            </a:r>
            <a:r>
              <a:rPr lang="en-US" sz="950" dirty="0">
                <a:solidFill>
                  <a:srgbClr val="FFD28A"/>
                </a:solidFill>
                <a:latin typeface="Courier New" pitchFamily="34" charset="0"/>
                <a:ea typeface="Courier New" pitchFamily="34" charset="-122"/>
                <a:cs typeface="Courier New" pitchFamily="34" charset="-120"/>
              </a:rPr>
              <a:t>800000</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800001</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0</a:t>
            </a:r>
            <a:r>
              <a:rPr lang="en-US" sz="950" dirty="0">
                <a:solidFill>
                  <a:srgbClr val="E6EDF3"/>
                </a:solidFill>
                <a:latin typeface="Courier New" pitchFamily="34" charset="0"/>
                <a:ea typeface="Courier New" pitchFamily="34" charset="-122"/>
                <a:cs typeface="Courier New" pitchFamily="34" charset="-120"/>
              </a:rPr>
              <a:t>, [0xfffffffe])</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(False, True)</a:t>
            </a:r>
            <a:endParaRPr lang="en-US" sz="950" dirty="0"/>
          </a:p>
        </p:txBody>
      </p:sp>
      <p:sp>
        <p:nvSpPr>
          <p:cNvPr id="9" name="Text 7"/>
          <p:cNvSpPr txBox="1"/>
          <p:nvPr/>
        </p:nvSpPr>
        <p:spPr>
          <a:xfrm>
            <a:off x="457200" y="29443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Text 8"/>
          <p:cNvSpPr txBox="1"/>
          <p:nvPr/>
        </p:nvSpPr>
        <p:spPr>
          <a:xfrm>
            <a:off x="457200" y="297180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wait 4,320 blocks (30 days): version 2, the same kind, an age at least as large</a:t>
            </a:r>
            <a:endParaRPr lang="en-US" sz="1150" dirty="0"/>
          </a:p>
        </p:txBody>
      </p:sp>
      <p:sp>
        <p:nvSpPr>
          <p:cNvPr id="11" name="Shape 9"/>
          <p:cNvSpPr/>
          <p:nvPr/>
        </p:nvSpPr>
        <p:spPr>
          <a:xfrm>
            <a:off x="457200" y="3246120"/>
            <a:ext cx="8229600" cy="1188720"/>
          </a:xfrm>
          <a:prstGeom prst="roundRect">
            <a:avLst>
              <a:gd name="adj" fmla="val 7692"/>
            </a:avLst>
          </a:prstGeom>
          <a:solidFill>
            <a:srgbClr val="23272E"/>
          </a:solidFill>
          <a:ln w="12700">
            <a:solidFill>
              <a:srgbClr val="23272E"/>
            </a:solidFill>
            <a:prstDash val="solid"/>
          </a:ln>
        </p:spPr>
      </p:sp>
      <p:sp>
        <p:nvSpPr>
          <p:cNvPr id="12" name="Text 10"/>
          <p:cNvSpPr txBox="1"/>
          <p:nvPr/>
        </p:nvSpPr>
        <p:spPr>
          <a:xfrm>
            <a:off x="640080" y="3364992"/>
            <a:ext cx="7863840" cy="950976"/>
          </a:xfrm>
          <a:prstGeom prst="rect">
            <a:avLst/>
          </a:prstGeom>
          <a:noFill/>
          <a:ln/>
        </p:spPr>
        <p:txBody>
          <a:bodyPr wrap="square" lIns="0" tIns="0" rIns="0" bIns="0" rtlCol="0" anchor="t"/>
          <a:lstStyle/>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K.key_spend(CSV, version=</a:t>
            </a:r>
            <a:r>
              <a:rPr lang="en-US" sz="920" dirty="0">
                <a:solidFill>
                  <a:srgbClr val="FFD28A"/>
                </a:solidFill>
                <a:latin typeface="Courier New" pitchFamily="34" charset="0"/>
                <a:ea typeface="Courier New" pitchFamily="34" charset="-122"/>
                <a:cs typeface="Courier New" pitchFamily="34" charset="-120"/>
              </a:rPr>
              <a:t>2</a:t>
            </a:r>
            <a:r>
              <a:rPr lang="en-US" sz="920" dirty="0">
                <a:solidFill>
                  <a:srgbClr val="E6EDF3"/>
                </a:solidFill>
                <a:latin typeface="Courier New" pitchFamily="34" charset="0"/>
                <a:ea typeface="Courier New" pitchFamily="34" charset="-122"/>
                <a:cs typeface="Courier New" pitchFamily="34" charset="-120"/>
              </a:rPr>
              <a:t>, sequence=</a:t>
            </a:r>
            <a:r>
              <a:rPr lang="en-US" sz="920" dirty="0">
                <a:solidFill>
                  <a:srgbClr val="FFD28A"/>
                </a:solidFill>
                <a:latin typeface="Courier New" pitchFamily="34" charset="0"/>
                <a:ea typeface="Courier New" pitchFamily="34" charset="-122"/>
                <a:cs typeface="Courier New" pitchFamily="34" charset="-120"/>
              </a:rPr>
              <a:t>4320</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'OK'</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K.key_spend(CSV, version=</a:t>
            </a:r>
            <a:r>
              <a:rPr lang="en-US" sz="920" dirty="0">
                <a:solidFill>
                  <a:srgbClr val="FFD28A"/>
                </a:solidFill>
                <a:latin typeface="Courier New" pitchFamily="34" charset="0"/>
                <a:ea typeface="Courier New" pitchFamily="34" charset="-122"/>
                <a:cs typeface="Courier New" pitchFamily="34" charset="-120"/>
              </a:rPr>
              <a:t>2</a:t>
            </a:r>
            <a:r>
              <a:rPr lang="en-US" sz="920" dirty="0">
                <a:solidFill>
                  <a:srgbClr val="E6EDF3"/>
                </a:solidFill>
                <a:latin typeface="Courier New" pitchFamily="34" charset="0"/>
                <a:ea typeface="Courier New" pitchFamily="34" charset="-122"/>
                <a:cs typeface="Courier New" pitchFamily="34" charset="-120"/>
              </a:rPr>
              <a:t>, sequence=</a:t>
            </a:r>
            <a:r>
              <a:rPr lang="en-US" sz="920" dirty="0">
                <a:solidFill>
                  <a:srgbClr val="FFD28A"/>
                </a:solidFill>
                <a:latin typeface="Courier New" pitchFamily="34" charset="0"/>
                <a:ea typeface="Courier New" pitchFamily="34" charset="-122"/>
                <a:cs typeface="Courier New" pitchFamily="34" charset="-120"/>
              </a:rPr>
              <a:t>4319</a:t>
            </a:r>
            <a:r>
              <a:rPr lang="en-US" sz="920" dirty="0">
                <a:solidFill>
                  <a:srgbClr val="E6EDF3"/>
                </a:solidFill>
                <a:latin typeface="Courier New" pitchFamily="34" charset="0"/>
                <a:ea typeface="Courier New" pitchFamily="34" charset="-122"/>
                <a:cs typeface="Courier New" pitchFamily="34" charset="-120"/>
              </a:rPr>
              <a:t>), K.key_spend(CSV, version=</a:t>
            </a:r>
            <a:r>
              <a:rPr lang="en-US" sz="920" dirty="0">
                <a:solidFill>
                  <a:srgbClr val="FFD28A"/>
                </a:solidFill>
                <a:latin typeface="Courier New" pitchFamily="34" charset="0"/>
                <a:ea typeface="Courier New" pitchFamily="34" charset="-122"/>
                <a:cs typeface="Courier New" pitchFamily="34" charset="-120"/>
              </a:rPr>
              <a:t>1</a:t>
            </a:r>
            <a:r>
              <a:rPr lang="en-US" sz="920" dirty="0">
                <a:solidFill>
                  <a:srgbClr val="E6EDF3"/>
                </a:solidFill>
                <a:latin typeface="Courier New" pitchFamily="34" charset="0"/>
                <a:ea typeface="Courier New" pitchFamily="34" charset="-122"/>
                <a:cs typeface="Courier New" pitchFamily="34" charset="-120"/>
              </a:rPr>
              <a:t>, sequence=</a:t>
            </a:r>
            <a:r>
              <a:rPr lang="en-US" sz="920" dirty="0">
                <a:solidFill>
                  <a:srgbClr val="FFD28A"/>
                </a:solidFill>
                <a:latin typeface="Courier New" pitchFamily="34" charset="0"/>
                <a:ea typeface="Courier New" pitchFamily="34" charset="-122"/>
                <a:cs typeface="Courier New" pitchFamily="34" charset="-120"/>
              </a:rPr>
              <a:t>4320</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('UNSATISFIED_LOCKTIME', 'UNSATISFIED_LOCKTIME')</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r>
              <a:rPr lang="en-US" sz="920" dirty="0">
                <a:solidFill>
                  <a:srgbClr val="E6EDF3"/>
                </a:solidFill>
                <a:latin typeface="Courier New" pitchFamily="34" charset="0"/>
                <a:ea typeface="Courier New" pitchFamily="34" charset="-122"/>
                <a:cs typeface="Courier New" pitchFamily="34" charset="-120"/>
              </a:rPr>
              <a:t>K.key_spend(CSV, version=</a:t>
            </a:r>
            <a:r>
              <a:rPr lang="en-US" sz="920" dirty="0">
                <a:solidFill>
                  <a:srgbClr val="FFD28A"/>
                </a:solidFill>
                <a:latin typeface="Courier New" pitchFamily="34" charset="0"/>
                <a:ea typeface="Courier New" pitchFamily="34" charset="-122"/>
                <a:cs typeface="Courier New" pitchFamily="34" charset="-120"/>
              </a:rPr>
              <a:t>2</a:t>
            </a:r>
            <a:r>
              <a:rPr lang="en-US" sz="920" dirty="0">
                <a:solidFill>
                  <a:srgbClr val="E6EDF3"/>
                </a:solidFill>
                <a:latin typeface="Courier New" pitchFamily="34" charset="0"/>
                <a:ea typeface="Courier New" pitchFamily="34" charset="-122"/>
                <a:cs typeface="Courier New" pitchFamily="34" charset="-120"/>
              </a:rPr>
              <a:t>, sequence=0x80000000 | </a:t>
            </a:r>
            <a:r>
              <a:rPr lang="en-US" sz="920" dirty="0">
                <a:solidFill>
                  <a:srgbClr val="FFD28A"/>
                </a:solidFill>
                <a:latin typeface="Courier New" pitchFamily="34" charset="0"/>
                <a:ea typeface="Courier New" pitchFamily="34" charset="-122"/>
                <a:cs typeface="Courier New" pitchFamily="34" charset="-120"/>
              </a:rPr>
              <a:t>4320</a:t>
            </a:r>
            <a:r>
              <a:rPr lang="en-US" sz="920" dirty="0">
                <a:solidFill>
                  <a:srgbClr val="E6EDF3"/>
                </a:solidFill>
                <a:latin typeface="Courier New" pitchFamily="34" charset="0"/>
                <a:ea typeface="Courier New" pitchFamily="34" charset="-122"/>
                <a:cs typeface="Courier New" pitchFamily="34" charset="-120"/>
              </a:rPr>
              <a:t>)</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'UNSATISFIED_LOCKTIME'</a:t>
            </a:r>
            <a:endParaRPr lang="en-US" sz="920" dirty="0"/>
          </a:p>
        </p:txBody>
      </p:sp>
      <p:sp>
        <p:nvSpPr>
          <p:cNvPr id="13" name="Text 11"/>
          <p:cNvSpPr txBox="1"/>
          <p:nvPr/>
        </p:nvSpPr>
        <p:spPr>
          <a:xfrm>
            <a:off x="457200" y="445312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Scripts check the transaction's own fields, so consensus enforces the wait</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output, three ways out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Partners at any time, the lawyer with one after 30 days, alone after 90</a:t>
            </a:r>
            <a:endParaRPr lang="en-US" sz="1300" dirty="0"/>
          </a:p>
        </p:txBody>
      </p:sp>
      <p:sp>
        <p:nvSpPr>
          <p:cNvPr id="6" name="Shape 4"/>
          <p:cNvSpPr/>
          <p:nvPr/>
        </p:nvSpPr>
        <p:spPr>
          <a:xfrm>
            <a:off x="457200" y="1325880"/>
            <a:ext cx="2426208" cy="777240"/>
          </a:xfrm>
          <a:prstGeom prst="roundRect">
            <a:avLst>
              <a:gd name="adj" fmla="val 11765"/>
            </a:avLst>
          </a:prstGeom>
          <a:solidFill>
            <a:srgbClr val="2F6D62"/>
          </a:solidFill>
          <a:ln w="12700">
            <a:solidFill>
              <a:srgbClr val="2F6D62"/>
            </a:solidFill>
            <a:prstDash val="solid"/>
          </a:ln>
        </p:spPr>
      </p:sp>
      <p:sp>
        <p:nvSpPr>
          <p:cNvPr id="7" name="Text 5"/>
          <p:cNvSpPr txBox="1"/>
          <p:nvPr/>
        </p:nvSpPr>
        <p:spPr>
          <a:xfrm>
            <a:off x="530352" y="1371600"/>
            <a:ext cx="2279904"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Path 1</a:t>
            </a:r>
            <a:endParaRPr lang="en-US" sz="1100" dirty="0"/>
          </a:p>
          <a:p>
            <a:pPr algn="ctr" indent="0" marL="0">
              <a:buNone/>
            </a:pPr>
            <a:r>
              <a:rPr lang="en-US" sz="850" dirty="0">
                <a:solidFill>
                  <a:srgbClr val="D7E4E0"/>
                </a:solidFill>
                <a:latin typeface="Calibri" pitchFamily="34" charset="0"/>
                <a:ea typeface="Calibri" pitchFamily="34" charset="-122"/>
                <a:cs typeface="Calibri" pitchFamily="34" charset="-120"/>
              </a:rPr>
              <a:t>two of three partners, any time</a:t>
            </a:r>
            <a:endParaRPr lang="en-US" sz="1100" dirty="0"/>
          </a:p>
        </p:txBody>
      </p:sp>
      <p:sp>
        <p:nvSpPr>
          <p:cNvPr id="8" name="Shape 6"/>
          <p:cNvSpPr/>
          <p:nvPr/>
        </p:nvSpPr>
        <p:spPr>
          <a:xfrm>
            <a:off x="2938272" y="1714500"/>
            <a:ext cx="365760" cy="0"/>
          </a:xfrm>
          <a:prstGeom prst="line">
            <a:avLst/>
          </a:prstGeom>
          <a:noFill/>
          <a:ln w="25400">
            <a:solidFill>
              <a:srgbClr val="D97A14"/>
            </a:solidFill>
            <a:prstDash val="solid"/>
            <a:tailEnd type="triangle"/>
          </a:ln>
        </p:spPr>
      </p:sp>
      <p:sp>
        <p:nvSpPr>
          <p:cNvPr id="9" name="Shape 7"/>
          <p:cNvSpPr/>
          <p:nvPr/>
        </p:nvSpPr>
        <p:spPr>
          <a:xfrm>
            <a:off x="3358896" y="1325880"/>
            <a:ext cx="2426208" cy="777240"/>
          </a:xfrm>
          <a:prstGeom prst="roundRect">
            <a:avLst>
              <a:gd name="adj" fmla="val 11765"/>
            </a:avLst>
          </a:prstGeom>
          <a:solidFill>
            <a:srgbClr val="2F6D62"/>
          </a:solidFill>
          <a:ln w="12700">
            <a:solidFill>
              <a:srgbClr val="2F6D62"/>
            </a:solidFill>
            <a:prstDash val="solid"/>
          </a:ln>
        </p:spPr>
      </p:sp>
      <p:sp>
        <p:nvSpPr>
          <p:cNvPr id="10" name="Text 8"/>
          <p:cNvSpPr txBox="1"/>
          <p:nvPr/>
        </p:nvSpPr>
        <p:spPr>
          <a:xfrm>
            <a:off x="3432048" y="1371600"/>
            <a:ext cx="2279904"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Path 2</a:t>
            </a:r>
            <a:endParaRPr lang="en-US" sz="1100" dirty="0"/>
          </a:p>
          <a:p>
            <a:pPr algn="ctr" indent="0" marL="0">
              <a:buNone/>
            </a:pPr>
            <a:r>
              <a:rPr lang="en-US" sz="850" dirty="0">
                <a:solidFill>
                  <a:srgbClr val="D7E4E0"/>
                </a:solidFill>
                <a:latin typeface="Calibri" pitchFamily="34" charset="0"/>
                <a:ea typeface="Calibri" pitchFamily="34" charset="-122"/>
                <a:cs typeface="Calibri" pitchFamily="34" charset="-120"/>
              </a:rPr>
              <a:t>the lawyer and one partner, after 30 days</a:t>
            </a:r>
            <a:endParaRPr lang="en-US" sz="1100" dirty="0"/>
          </a:p>
        </p:txBody>
      </p:sp>
      <p:sp>
        <p:nvSpPr>
          <p:cNvPr id="11" name="Shape 9"/>
          <p:cNvSpPr/>
          <p:nvPr/>
        </p:nvSpPr>
        <p:spPr>
          <a:xfrm>
            <a:off x="5839968" y="1714500"/>
            <a:ext cx="365760" cy="0"/>
          </a:xfrm>
          <a:prstGeom prst="line">
            <a:avLst/>
          </a:prstGeom>
          <a:noFill/>
          <a:ln w="25400">
            <a:solidFill>
              <a:srgbClr val="D97A14"/>
            </a:solidFill>
            <a:prstDash val="solid"/>
            <a:tailEnd type="triangle"/>
          </a:ln>
        </p:spPr>
      </p:sp>
      <p:sp>
        <p:nvSpPr>
          <p:cNvPr id="12" name="Shape 10"/>
          <p:cNvSpPr/>
          <p:nvPr/>
        </p:nvSpPr>
        <p:spPr>
          <a:xfrm>
            <a:off x="6260592" y="1325880"/>
            <a:ext cx="2426208" cy="777240"/>
          </a:xfrm>
          <a:prstGeom prst="roundRect">
            <a:avLst>
              <a:gd name="adj" fmla="val 11765"/>
            </a:avLst>
          </a:prstGeom>
          <a:solidFill>
            <a:srgbClr val="2F6D62"/>
          </a:solidFill>
          <a:ln w="12700">
            <a:solidFill>
              <a:srgbClr val="2F6D62"/>
            </a:solidFill>
            <a:prstDash val="solid"/>
          </a:ln>
        </p:spPr>
      </p:sp>
      <p:sp>
        <p:nvSpPr>
          <p:cNvPr id="13" name="Text 11"/>
          <p:cNvSpPr txBox="1"/>
          <p:nvPr/>
        </p:nvSpPr>
        <p:spPr>
          <a:xfrm>
            <a:off x="6333744" y="1371600"/>
            <a:ext cx="2279904"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Path 3</a:t>
            </a:r>
            <a:endParaRPr lang="en-US" sz="1100" dirty="0"/>
          </a:p>
          <a:p>
            <a:pPr algn="ctr" indent="0" marL="0">
              <a:buNone/>
            </a:pPr>
            <a:r>
              <a:rPr lang="en-US" sz="850" dirty="0">
                <a:solidFill>
                  <a:srgbClr val="D7E4E0"/>
                </a:solidFill>
                <a:latin typeface="Calibri" pitchFamily="34" charset="0"/>
                <a:ea typeface="Calibri" pitchFamily="34" charset="-122"/>
                <a:cs typeface="Calibri" pitchFamily="34" charset="-120"/>
              </a:rPr>
              <a:t>the lawyer alone, after 90 days</a:t>
            </a:r>
            <a:endParaRPr lang="en-US" sz="1100" dirty="0"/>
          </a:p>
        </p:txBody>
      </p:sp>
      <p:sp>
        <p:nvSpPr>
          <p:cNvPr id="14" name="Text 12"/>
          <p:cNvSpPr txBox="1"/>
          <p:nvPr/>
        </p:nvSpPr>
        <p:spPr>
          <a:xfrm>
            <a:off x="457200" y="2240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192-byte script spent through each path with real signatures; too young an age fails</a:t>
            </a:r>
            <a:endParaRPr lang="en-US" sz="1150" dirty="0"/>
          </a:p>
        </p:txBody>
      </p:sp>
      <p:sp>
        <p:nvSpPr>
          <p:cNvPr id="15" name="Shape 13"/>
          <p:cNvSpPr/>
          <p:nvPr/>
        </p:nvSpPr>
        <p:spPr>
          <a:xfrm>
            <a:off x="457200" y="2514600"/>
            <a:ext cx="8229600" cy="1371600"/>
          </a:xfrm>
          <a:prstGeom prst="roundRect">
            <a:avLst>
              <a:gd name="adj" fmla="val 6667"/>
            </a:avLst>
          </a:prstGeom>
          <a:solidFill>
            <a:srgbClr val="23272E"/>
          </a:solidFill>
          <a:ln w="12700">
            <a:solidFill>
              <a:srgbClr val="23272E"/>
            </a:solidFill>
            <a:prstDash val="solid"/>
          </a:ln>
        </p:spPr>
      </p:sp>
      <p:sp>
        <p:nvSpPr>
          <p:cNvPr id="16" name="Text 14"/>
          <p:cNvSpPr txBox="1"/>
          <p:nvPr/>
        </p:nvSpPr>
        <p:spPr>
          <a:xfrm>
            <a:off x="640080" y="2633472"/>
            <a:ext cx="7863840" cy="113385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len(K.moh_script()), K.moh_spend(</a:t>
            </a:r>
            <a:r>
              <a:rPr lang="en-US" sz="950" dirty="0">
                <a:solidFill>
                  <a:srgbClr val="FFD28A"/>
                </a:solidFill>
                <a:latin typeface="Courier New" pitchFamily="34" charset="0"/>
                <a:ea typeface="Courier New" pitchFamily="34" charset="-122"/>
                <a:cs typeface="Courier New" pitchFamily="34" charset="-120"/>
              </a:rPr>
              <a:t>1</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(192, 'OK')</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K.moh_spend(</a:t>
            </a:r>
            <a:r>
              <a:rPr lang="en-US" sz="950" dirty="0">
                <a:solidFill>
                  <a:srgbClr val="FFD28A"/>
                </a:solidFill>
                <a:latin typeface="Courier New" pitchFamily="34" charset="0"/>
                <a:ea typeface="Courier New" pitchFamily="34" charset="-122"/>
                <a:cs typeface="Courier New" pitchFamily="34" charset="-120"/>
              </a:rPr>
              <a:t>2</a:t>
            </a:r>
            <a:r>
              <a:rPr lang="en-US" sz="950" dirty="0">
                <a:solidFill>
                  <a:srgbClr val="E6EDF3"/>
                </a:solidFill>
                <a:latin typeface="Courier New" pitchFamily="34" charset="0"/>
                <a:ea typeface="Courier New" pitchFamily="34" charset="-122"/>
                <a:cs typeface="Courier New" pitchFamily="34" charset="-120"/>
              </a:rPr>
              <a:t>, sequence=</a:t>
            </a:r>
            <a:r>
              <a:rPr lang="en-US" sz="950" dirty="0">
                <a:solidFill>
                  <a:srgbClr val="FFD28A"/>
                </a:solidFill>
                <a:latin typeface="Courier New" pitchFamily="34" charset="0"/>
                <a:ea typeface="Courier New" pitchFamily="34" charset="-122"/>
                <a:cs typeface="Courier New" pitchFamily="34" charset="-120"/>
              </a:rPr>
              <a:t>4320</a:t>
            </a:r>
            <a:r>
              <a:rPr lang="en-US" sz="950" dirty="0">
                <a:solidFill>
                  <a:srgbClr val="E6EDF3"/>
                </a:solidFill>
                <a:latin typeface="Courier New" pitchFamily="34" charset="0"/>
                <a:ea typeface="Courier New" pitchFamily="34" charset="-122"/>
                <a:cs typeface="Courier New" pitchFamily="34" charset="-120"/>
              </a:rPr>
              <a:t>), K.moh_spend(</a:t>
            </a:r>
            <a:r>
              <a:rPr lang="en-US" sz="950" dirty="0">
                <a:solidFill>
                  <a:srgbClr val="FFD28A"/>
                </a:solidFill>
                <a:latin typeface="Courier New" pitchFamily="34" charset="0"/>
                <a:ea typeface="Courier New" pitchFamily="34" charset="-122"/>
                <a:cs typeface="Courier New" pitchFamily="34" charset="-120"/>
              </a:rPr>
              <a:t>2</a:t>
            </a:r>
            <a:r>
              <a:rPr lang="en-US" sz="950" dirty="0">
                <a:solidFill>
                  <a:srgbClr val="E6EDF3"/>
                </a:solidFill>
                <a:latin typeface="Courier New" pitchFamily="34" charset="0"/>
                <a:ea typeface="Courier New" pitchFamily="34" charset="-122"/>
                <a:cs typeface="Courier New" pitchFamily="34" charset="-120"/>
              </a:rPr>
              <a:t>, sequence=</a:t>
            </a:r>
            <a:r>
              <a:rPr lang="en-US" sz="950" dirty="0">
                <a:solidFill>
                  <a:srgbClr val="FFD28A"/>
                </a:solidFill>
                <a:latin typeface="Courier New" pitchFamily="34" charset="0"/>
                <a:ea typeface="Courier New" pitchFamily="34" charset="-122"/>
                <a:cs typeface="Courier New" pitchFamily="34" charset="-120"/>
              </a:rPr>
              <a:t>4319</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('OK', 'UNSATISFIED_LOCKTIME')</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K.moh_spend(</a:t>
            </a:r>
            <a:r>
              <a:rPr lang="en-US" sz="950" dirty="0">
                <a:solidFill>
                  <a:srgbClr val="FFD28A"/>
                </a:solidFill>
                <a:latin typeface="Courier New" pitchFamily="34" charset="0"/>
                <a:ea typeface="Courier New" pitchFamily="34" charset="-122"/>
                <a:cs typeface="Courier New" pitchFamily="34" charset="-120"/>
              </a:rPr>
              <a:t>3</a:t>
            </a:r>
            <a:r>
              <a:rPr lang="en-US" sz="950" dirty="0">
                <a:solidFill>
                  <a:srgbClr val="E6EDF3"/>
                </a:solidFill>
                <a:latin typeface="Courier New" pitchFamily="34" charset="0"/>
                <a:ea typeface="Courier New" pitchFamily="34" charset="-122"/>
                <a:cs typeface="Courier New" pitchFamily="34" charset="-120"/>
              </a:rPr>
              <a:t>, sequence=</a:t>
            </a:r>
            <a:r>
              <a:rPr lang="en-US" sz="950" dirty="0">
                <a:solidFill>
                  <a:srgbClr val="FFD28A"/>
                </a:solidFill>
                <a:latin typeface="Courier New" pitchFamily="34" charset="0"/>
                <a:ea typeface="Courier New" pitchFamily="34" charset="-122"/>
                <a:cs typeface="Courier New" pitchFamily="34" charset="-120"/>
              </a:rPr>
              <a:t>12960</a:t>
            </a:r>
            <a:r>
              <a:rPr lang="en-US" sz="950" dirty="0">
                <a:solidFill>
                  <a:srgbClr val="E6EDF3"/>
                </a:solidFill>
                <a:latin typeface="Courier New" pitchFamily="34" charset="0"/>
                <a:ea typeface="Courier New" pitchFamily="34" charset="-122"/>
                <a:cs typeface="Courier New" pitchFamily="34" charset="-120"/>
              </a:rPr>
              <a:t>), K.moh_spend(</a:t>
            </a:r>
            <a:r>
              <a:rPr lang="en-US" sz="950" dirty="0">
                <a:solidFill>
                  <a:srgbClr val="FFD28A"/>
                </a:solidFill>
                <a:latin typeface="Courier New" pitchFamily="34" charset="0"/>
                <a:ea typeface="Courier New" pitchFamily="34" charset="-122"/>
                <a:cs typeface="Courier New" pitchFamily="34" charset="-120"/>
              </a:rPr>
              <a:t>3</a:t>
            </a:r>
            <a:r>
              <a:rPr lang="en-US" sz="950" dirty="0">
                <a:solidFill>
                  <a:srgbClr val="E6EDF3"/>
                </a:solidFill>
                <a:latin typeface="Courier New" pitchFamily="34" charset="0"/>
                <a:ea typeface="Courier New" pitchFamily="34" charset="-122"/>
                <a:cs typeface="Courier New" pitchFamily="34" charset="-120"/>
              </a:rPr>
              <a:t>, sequence=</a:t>
            </a:r>
            <a:r>
              <a:rPr lang="en-US" sz="950" dirty="0">
                <a:solidFill>
                  <a:srgbClr val="FFD28A"/>
                </a:solidFill>
                <a:latin typeface="Courier New" pitchFamily="34" charset="0"/>
                <a:ea typeface="Courier New" pitchFamily="34" charset="-122"/>
                <a:cs typeface="Courier New" pitchFamily="34" charset="-120"/>
              </a:rPr>
              <a:t>4320</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('OK', 'UNSATISFIED_LOCKTIME')</a:t>
            </a:r>
            <a:endParaRPr lang="en-US" sz="950" dirty="0"/>
          </a:p>
        </p:txBody>
      </p:sp>
      <p:sp>
        <p:nvSpPr>
          <p:cNvPr id="17" name="Text 15"/>
          <p:cNvSpPr txBox="1"/>
          <p:nvPr/>
        </p:nvSpPr>
        <p:spPr>
          <a:xfrm>
            <a:off x="457200" y="39044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6"/>
          <p:cNvSpPr/>
          <p:nvPr/>
        </p:nvSpPr>
        <p:spPr>
          <a:xfrm>
            <a:off x="457200" y="4160520"/>
            <a:ext cx="2928823"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457200" y="4160520"/>
            <a:ext cx="2928823"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30 days = 4,320 blocks</a:t>
            </a:r>
            <a:endParaRPr lang="en-US" sz="1100" dirty="0"/>
          </a:p>
        </p:txBody>
      </p:sp>
      <p:sp>
        <p:nvSpPr>
          <p:cNvPr id="20" name="Shape 18"/>
          <p:cNvSpPr/>
          <p:nvPr/>
        </p:nvSpPr>
        <p:spPr>
          <a:xfrm>
            <a:off x="3587191" y="4160520"/>
            <a:ext cx="3044495"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3587191" y="4160520"/>
            <a:ext cx="3044495"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90 days = 12,960 blocks</a:t>
            </a:r>
            <a:endParaRPr lang="en-US" sz="11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output, several redemption paths, each with its own terms</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26</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Witness programs and script trees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Where the proof moved to, what a real block spends, and how alternatives hide in a hash</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Witness programs</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Segwit addresses</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 real block</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Merkle tree of scripts</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Witness programs, and what 1,022 real inputs spend</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first 599 transactions of block 775,072, classified by the chapter's own library</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bars come from executed code over a saved block; the checker re-runs the console off this file.</a:t>
            </a:r>
            <a:endParaRPr lang="en-US" sz="1250" dirty="0"/>
          </a:p>
        </p:txBody>
      </p:sp>
      <p:graphicFrame>
        <p:nvGraphicFramePr>
          <p:cNvPr id="7" name="Chart 0" descr=""/>
          <p:cNvGraphicFramePr/>
          <p:nvPr/>
        </p:nvGraphicFramePr>
        <p:xfrm>
          <a:off x="411480" y="1783080"/>
          <a:ext cx="4206240" cy="274320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4754880" y="1554480"/>
            <a:ext cx="39319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native and nested spends; a wrong amount fails</a:t>
            </a:r>
            <a:endParaRPr lang="en-US" sz="1150" dirty="0"/>
          </a:p>
        </p:txBody>
      </p:sp>
      <p:sp>
        <p:nvSpPr>
          <p:cNvPr id="9" name="Shape 6"/>
          <p:cNvSpPr/>
          <p:nvPr/>
        </p:nvSpPr>
        <p:spPr>
          <a:xfrm>
            <a:off x="4754880" y="1828800"/>
            <a:ext cx="3931920" cy="1463040"/>
          </a:xfrm>
          <a:prstGeom prst="roundRect">
            <a:avLst>
              <a:gd name="adj" fmla="val 6250"/>
            </a:avLst>
          </a:prstGeom>
          <a:solidFill>
            <a:srgbClr val="23272E"/>
          </a:solidFill>
          <a:ln w="12700">
            <a:solidFill>
              <a:srgbClr val="23272E"/>
            </a:solidFill>
            <a:prstDash val="solid"/>
          </a:ln>
        </p:spPr>
      </p:sp>
      <p:sp>
        <p:nvSpPr>
          <p:cNvPr id="10" name="Text 7"/>
          <p:cNvSpPr txBox="1"/>
          <p:nvPr/>
        </p:nvSpPr>
        <p:spPr>
          <a:xfrm>
            <a:off x="4937760" y="1947672"/>
            <a:ext cx="3566160" cy="1225296"/>
          </a:xfrm>
          <a:prstGeom prst="rect">
            <a:avLst/>
          </a:prstGeom>
          <a:noFill/>
          <a:ln/>
        </p:spPr>
        <p:txBody>
          <a:bodyPr wrap="square" lIns="0" tIns="0" rIns="0" bIns="0" rtlCol="0" anchor="t"/>
          <a:lstStyle/>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K.wpkh_spend(), K.wpkh_spend(nested=</a:t>
            </a:r>
            <a:r>
              <a:rPr lang="en-US" sz="760" b="1" dirty="0">
                <a:solidFill>
                  <a:srgbClr val="F2A860"/>
                </a:solidFill>
                <a:latin typeface="Courier New" pitchFamily="34" charset="0"/>
                <a:ea typeface="Courier New" pitchFamily="34" charset="-122"/>
                <a:cs typeface="Courier New" pitchFamily="34" charset="-120"/>
              </a:rPr>
              <a:t>True</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('OK', 'OK')</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K.wpkh_spend(signed_amount=</a:t>
            </a:r>
            <a:r>
              <a:rPr lang="en-US" sz="760" dirty="0">
                <a:solidFill>
                  <a:srgbClr val="FFD28A"/>
                </a:solidFill>
                <a:latin typeface="Courier New" pitchFamily="34" charset="0"/>
                <a:ea typeface="Courier New" pitchFamily="34" charset="-122"/>
                <a:cs typeface="Courier New" pitchFamily="34" charset="-120"/>
              </a:rPr>
              <a:t>99999</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'EVAL_FALSE'</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L.script_to_address(L.p2wpkh_script(L.hash160(K.pub(</a:t>
            </a:r>
            <a:r>
              <a:rPr lang="en-US" sz="760" dirty="0">
                <a:solidFill>
                  <a:srgbClr val="FFD28A"/>
                </a:solidFill>
                <a:latin typeface="Courier New" pitchFamily="34" charset="0"/>
                <a:ea typeface="Courier New" pitchFamily="34" charset="-122"/>
                <a:cs typeface="Courier New" pitchFamily="34" charset="-120"/>
              </a:rPr>
              <a:t>1</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'bc1qm5gqhe7e46jhyy2ca00x66slmrlljwa33n9fts'</a:t>
            </a:r>
            <a:endParaRPr lang="en-US" sz="760" dirty="0"/>
          </a:p>
        </p:txBody>
      </p:sp>
      <p:sp>
        <p:nvSpPr>
          <p:cNvPr id="11" name="Text 8"/>
          <p:cNvSpPr txBox="1"/>
          <p:nvPr/>
        </p:nvSpPr>
        <p:spPr>
          <a:xfrm>
            <a:off x="4754880" y="3310128"/>
            <a:ext cx="39319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2" name="Shape 9"/>
          <p:cNvSpPr/>
          <p:nvPr/>
        </p:nvSpPr>
        <p:spPr>
          <a:xfrm>
            <a:off x="4754880" y="3465576"/>
            <a:ext cx="402336" cy="402336"/>
          </a:xfrm>
          <a:prstGeom prst="ellipse">
            <a:avLst/>
          </a:prstGeom>
          <a:solidFill>
            <a:srgbClr val="D97A14"/>
          </a:solidFill>
          <a:ln w="12700">
            <a:solidFill>
              <a:srgbClr val="D97A14"/>
            </a:solidFill>
            <a:prstDash val="solid"/>
          </a:ln>
        </p:spPr>
      </p:sp>
      <p:sp>
        <p:nvSpPr>
          <p:cNvPr id="13" name="Text 10"/>
          <p:cNvSpPr txBox="1"/>
          <p:nvPr/>
        </p:nvSpPr>
        <p:spPr>
          <a:xfrm>
            <a:off x="4754880" y="34655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4" name="Text 11"/>
          <p:cNvSpPr txBox="1"/>
          <p:nvPr/>
        </p:nvSpPr>
        <p:spPr>
          <a:xfrm>
            <a:off x="5321808" y="3429000"/>
            <a:ext cx="3364992" cy="5120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A witness program is a version byte and a push of 2 to 40 bytes</a:t>
            </a:r>
            <a:endParaRPr lang="en-US" sz="1000" dirty="0"/>
          </a:p>
        </p:txBody>
      </p:sp>
      <p:sp>
        <p:nvSpPr>
          <p:cNvPr id="15" name="Shape 12"/>
          <p:cNvSpPr/>
          <p:nvPr/>
        </p:nvSpPr>
        <p:spPr>
          <a:xfrm>
            <a:off x="4754880" y="4014216"/>
            <a:ext cx="402336" cy="402336"/>
          </a:xfrm>
          <a:prstGeom prst="ellipse">
            <a:avLst/>
          </a:prstGeom>
          <a:solidFill>
            <a:srgbClr val="D97A14"/>
          </a:solidFill>
          <a:ln w="12700">
            <a:solidFill>
              <a:srgbClr val="D97A14"/>
            </a:solidFill>
            <a:prstDash val="solid"/>
          </a:ln>
        </p:spPr>
      </p:sp>
      <p:sp>
        <p:nvSpPr>
          <p:cNvPr id="16" name="Text 13"/>
          <p:cNvSpPr txBox="1"/>
          <p:nvPr/>
        </p:nvSpPr>
        <p:spPr>
          <a:xfrm>
            <a:off x="4754880" y="40142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7" name="Text 14"/>
          <p:cNvSpPr txBox="1"/>
          <p:nvPr/>
        </p:nvSpPr>
        <p:spPr>
          <a:xfrm>
            <a:off x="5321808" y="3977640"/>
            <a:ext cx="3364992" cy="5120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Version 0 is P2WPKH and P2WSH, version 1 is taproot</a:t>
            </a:r>
            <a:endParaRPr lang="en-US" sz="1000" dirty="0"/>
          </a:p>
        </p:txBody>
      </p:sp>
      <p:sp>
        <p:nvSpPr>
          <p:cNvPr id="18"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Most inputs spend witness programs, and the signature commits to the amount</a:t>
            </a:r>
            <a:endParaRPr lang="en-US" sz="1350" dirty="0"/>
          </a:p>
        </p:txBody>
      </p:sp>
      <p:sp>
        <p:nvSpPr>
          <p:cNvPr id="20"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A tree of scripts hides every script you do not use</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Merkle tree commits to all scripts; the spender shows one and its proof</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Only the depth of the tree matters: 20 hashes of 32 bytes prove one script out of a million.</a:t>
            </a:r>
            <a:endParaRPr lang="en-US" sz="1250" dirty="0"/>
          </a:p>
        </p:txBody>
      </p:sp>
      <p:pic>
        <p:nvPicPr>
          <p:cNvPr id="7" name="Image 0" descr="../../03-materials/ch07/assets/mbc3_0705.png">    </p:cNvPr>
          <p:cNvPicPr>
            <a:picLocks noChangeAspect="1"/>
          </p:cNvPicPr>
          <p:nvPr/>
        </p:nvPicPr>
        <p:blipFill>
          <a:blip r:embed="rId1"/>
          <a:srcRect l="0" r="0" t="0" b="0"/>
          <a:stretch/>
        </p:blipFill>
        <p:spPr>
          <a:xfrm>
            <a:off x="411480" y="1600200"/>
            <a:ext cx="4023360" cy="1463040"/>
          </a:xfrm>
          <a:prstGeom prst="rect">
            <a:avLst/>
          </a:prstGeom>
        </p:spPr>
      </p:pic>
      <p:sp>
        <p:nvSpPr>
          <p:cNvPr id="8" name="Text 5"/>
          <p:cNvSpPr txBox="1"/>
          <p:nvPr/>
        </p:nvSpPr>
        <p:spPr>
          <a:xfrm>
            <a:off x="411480" y="3081528"/>
            <a:ext cx="40233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 MAST with three sub-scripts - Mastering Bitcoin 3e, CC BY-SA</a:t>
            </a:r>
            <a:endParaRPr lang="en-US" sz="900" dirty="0"/>
          </a:p>
        </p:txBody>
      </p:sp>
      <p:sp>
        <p:nvSpPr>
          <p:cNvPr id="9" name="Text 6"/>
          <p:cNvSpPr txBox="1"/>
          <p:nvPr/>
        </p:nvSpPr>
        <p:spPr>
          <a:xfrm>
            <a:off x="411480" y="347472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contract as a tree: proofs, then larger trees</a:t>
            </a:r>
            <a:endParaRPr lang="en-US" sz="1150" dirty="0"/>
          </a:p>
        </p:txBody>
      </p:sp>
      <p:sp>
        <p:nvSpPr>
          <p:cNvPr id="10" name="Shape 7"/>
          <p:cNvSpPr/>
          <p:nvPr/>
        </p:nvSpPr>
        <p:spPr>
          <a:xfrm>
            <a:off x="411480" y="3749040"/>
            <a:ext cx="4023360" cy="777240"/>
          </a:xfrm>
          <a:prstGeom prst="roundRect">
            <a:avLst>
              <a:gd name="adj" fmla="val 11765"/>
            </a:avLst>
          </a:prstGeom>
          <a:solidFill>
            <a:srgbClr val="23272E"/>
          </a:solidFill>
          <a:ln w="12700">
            <a:solidFill>
              <a:srgbClr val="23272E"/>
            </a:solidFill>
            <a:prstDash val="solid"/>
          </a:ln>
        </p:spPr>
      </p:sp>
      <p:sp>
        <p:nvSpPr>
          <p:cNvPr id="11" name="Text 8"/>
          <p:cNvSpPr txBox="1"/>
          <p:nvPr/>
        </p:nvSpPr>
        <p:spPr>
          <a:xfrm>
            <a:off x="594360" y="3867912"/>
            <a:ext cx="3657600" cy="539496"/>
          </a:xfrm>
          <a:prstGeom prst="rect">
            <a:avLst/>
          </a:prstGeom>
          <a:noFill/>
          <a:ln/>
        </p:spPr>
        <p:txBody>
          <a:bodyPr wrap="square" lIns="0" tIns="0" rIns="0" bIns="0" rtlCol="0" anchor="t"/>
          <a:lstStyle/>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[len(p) </a:t>
            </a:r>
            <a:r>
              <a:rPr lang="en-US" sz="760" b="1" dirty="0">
                <a:solidFill>
                  <a:srgbClr val="F2A860"/>
                </a:solidFill>
                <a:latin typeface="Courier New" pitchFamily="34" charset="0"/>
                <a:ea typeface="Courier New" pitchFamily="34" charset="-122"/>
                <a:cs typeface="Courier New" pitchFamily="34" charset="-120"/>
              </a:rPr>
              <a:t>for</a:t>
            </a:r>
            <a:r>
              <a:rPr lang="en-US" sz="760" dirty="0">
                <a:solidFill>
                  <a:srgbClr val="E6EDF3"/>
                </a:solidFill>
                <a:latin typeface="Courier New" pitchFamily="34" charset="0"/>
                <a:ea typeface="Courier New" pitchFamily="34" charset="-122"/>
                <a:cs typeface="Courier New" pitchFamily="34" charset="-120"/>
              </a:rPr>
              <a:t> p </a:t>
            </a:r>
            <a:r>
              <a:rPr lang="en-US" sz="760" b="1" dirty="0">
                <a:solidFill>
                  <a:srgbClr val="F2A860"/>
                </a:solidFill>
                <a:latin typeface="Courier New" pitchFamily="34" charset="0"/>
                <a:ea typeface="Courier New" pitchFamily="34" charset="-122"/>
                <a:cs typeface="Courier New" pitchFamily="34" charset="-120"/>
              </a:rPr>
              <a:t>in</a:t>
            </a:r>
            <a:r>
              <a:rPr lang="en-US" sz="760" dirty="0">
                <a:solidFill>
                  <a:srgbClr val="E6EDF3"/>
                </a:solidFill>
                <a:latin typeface="Courier New" pitchFamily="34" charset="0"/>
                <a:ea typeface="Courier New" pitchFamily="34" charset="-122"/>
                <a:cs typeface="Courier New" pitchFamily="34" charset="-120"/>
              </a:rPr>
              <a:t> K.tap_tree(MOH_LEAVES)[</a:t>
            </a:r>
            <a:r>
              <a:rPr lang="en-US" sz="760" dirty="0">
                <a:solidFill>
                  <a:srgbClr val="FFD28A"/>
                </a:solidFill>
                <a:latin typeface="Courier New" pitchFamily="34" charset="0"/>
                <a:ea typeface="Courier New" pitchFamily="34" charset="-122"/>
                <a:cs typeface="Courier New" pitchFamily="34" charset="-120"/>
              </a:rPr>
              <a:t>1</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[2, 2, 1]</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[(n, (n - </a:t>
            </a:r>
            <a:r>
              <a:rPr lang="en-US" sz="760" dirty="0">
                <a:solidFill>
                  <a:srgbClr val="FFD28A"/>
                </a:solidFill>
                <a:latin typeface="Courier New" pitchFamily="34" charset="0"/>
                <a:ea typeface="Courier New" pitchFamily="34" charset="-122"/>
                <a:cs typeface="Courier New" pitchFamily="34" charset="-120"/>
              </a:rPr>
              <a:t>1</a:t>
            </a:r>
            <a:r>
              <a:rPr lang="en-US" sz="760" dirty="0">
                <a:solidFill>
                  <a:srgbClr val="E6EDF3"/>
                </a:solidFill>
                <a:latin typeface="Courier New" pitchFamily="34" charset="0"/>
                <a:ea typeface="Courier New" pitchFamily="34" charset="-122"/>
                <a:cs typeface="Courier New" pitchFamily="34" charset="-120"/>
              </a:rPr>
              <a:t>).bit_length()) </a:t>
            </a:r>
            <a:r>
              <a:rPr lang="en-US" sz="760" b="1" dirty="0">
                <a:solidFill>
                  <a:srgbClr val="F2A860"/>
                </a:solidFill>
                <a:latin typeface="Courier New" pitchFamily="34" charset="0"/>
                <a:ea typeface="Courier New" pitchFamily="34" charset="-122"/>
                <a:cs typeface="Courier New" pitchFamily="34" charset="-120"/>
              </a:rPr>
              <a:t>for</a:t>
            </a:r>
            <a:r>
              <a:rPr lang="en-US" sz="760" dirty="0">
                <a:solidFill>
                  <a:srgbClr val="E6EDF3"/>
                </a:solidFill>
                <a:latin typeface="Courier New" pitchFamily="34" charset="0"/>
                <a:ea typeface="Courier New" pitchFamily="34" charset="-122"/>
                <a:cs typeface="Courier New" pitchFamily="34" charset="-120"/>
              </a:rPr>
              <a:t> n </a:t>
            </a:r>
            <a:r>
              <a:rPr lang="en-US" sz="760" b="1" dirty="0">
                <a:solidFill>
                  <a:srgbClr val="F2A860"/>
                </a:solidFill>
                <a:latin typeface="Courier New" pitchFamily="34" charset="0"/>
                <a:ea typeface="Courier New" pitchFamily="34" charset="-122"/>
                <a:cs typeface="Courier New" pitchFamily="34" charset="-120"/>
              </a:rPr>
              <a:t>in</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FFD28A"/>
                </a:solidFill>
                <a:latin typeface="Courier New" pitchFamily="34" charset="0"/>
                <a:ea typeface="Courier New" pitchFamily="34" charset="-122"/>
                <a:cs typeface="Courier New" pitchFamily="34" charset="-120"/>
              </a:rPr>
              <a:t>3</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FFD28A"/>
                </a:solidFill>
                <a:latin typeface="Courier New" pitchFamily="34" charset="0"/>
                <a:ea typeface="Courier New" pitchFamily="34" charset="-122"/>
                <a:cs typeface="Courier New" pitchFamily="34" charset="-120"/>
              </a:rPr>
              <a:t>8</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FFD28A"/>
                </a:solidFill>
                <a:latin typeface="Courier New" pitchFamily="34" charset="0"/>
                <a:ea typeface="Courier New" pitchFamily="34" charset="-122"/>
                <a:cs typeface="Courier New" pitchFamily="34" charset="-120"/>
              </a:rPr>
              <a:t>1024</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FFD28A"/>
                </a:solidFill>
                <a:latin typeface="Courier New" pitchFamily="34" charset="0"/>
                <a:ea typeface="Courier New" pitchFamily="34" charset="-122"/>
                <a:cs typeface="Courier New" pitchFamily="34" charset="-120"/>
              </a:rPr>
              <a:t>2</a:t>
            </a:r>
            <a:r>
              <a:rPr lang="en-US" sz="760" dirty="0">
                <a:solidFill>
                  <a:srgbClr val="E6EDF3"/>
                </a:solidFill>
                <a:latin typeface="Courier New" pitchFamily="34" charset="0"/>
                <a:ea typeface="Courier New" pitchFamily="34" charset="-122"/>
                <a:cs typeface="Courier New" pitchFamily="34" charset="-120"/>
              </a:rPr>
              <a:t>**</a:t>
            </a:r>
            <a:r>
              <a:rPr lang="en-US" sz="760" dirty="0">
                <a:solidFill>
                  <a:srgbClr val="FFD28A"/>
                </a:solidFill>
                <a:latin typeface="Courier New" pitchFamily="34" charset="0"/>
                <a:ea typeface="Courier New" pitchFamily="34" charset="-122"/>
                <a:cs typeface="Courier New" pitchFamily="34" charset="-120"/>
              </a:rPr>
              <a:t>20</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[(3, 2), (8, 3), (1024, 10), (1048576, 20)]</a:t>
            </a:r>
            <a:endParaRPr lang="en-US" sz="760" dirty="0"/>
          </a:p>
        </p:txBody>
      </p:sp>
      <p:sp>
        <p:nvSpPr>
          <p:cNvPr id="12" name="Text 9"/>
          <p:cNvSpPr txBox="1"/>
          <p:nvPr/>
        </p:nvSpPr>
        <p:spPr>
          <a:xfrm>
            <a:off x="411480" y="4544568"/>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graphicFrame>
        <p:nvGraphicFramePr>
          <p:cNvPr id="13" name="Chart 0" descr=""/>
          <p:cNvGraphicFramePr/>
          <p:nvPr/>
        </p:nvGraphicFramePr>
        <p:xfrm>
          <a:off x="4572000" y="1600200"/>
          <a:ext cx="4160520" cy="2926080"/>
        </p:xfrm>
        <a:graphic xmlns:a="http://schemas.openxmlformats.org/drawingml/2006/main">
          <a:graphicData uri="http://schemas.openxmlformats.org/drawingml/2006/chart">
            <c:chart xmlns:c="http://schemas.openxmlformats.org/drawingml/2006/chart" r:id="rId2"/>
          </a:graphicData>
        </a:graphic>
      </p:graphicFrame>
      <p:sp>
        <p:nvSpPr>
          <p:cNvPr id="14"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cost grows with the depth of the tree, not with the number of scripts</a:t>
            </a:r>
            <a:endParaRPr lang="en-US" sz="1350" dirty="0"/>
          </a:p>
        </p:txBody>
      </p:sp>
      <p:sp>
        <p:nvSpPr>
          <p:cNvPr id="16"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26</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Taproot and tapscript</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One key for agreement, one script for the rest</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Output key</a:t>
            </a: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Key path</a:t>
            </a: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Script path</a:t>
            </a: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Tapscript</a:t>
            </a:r>
            <a:endParaRPr lang="en-US" sz="1400" dirty="0"/>
          </a:p>
        </p:txBody>
      </p:sp>
      <p:pic>
        <p:nvPicPr>
          <p:cNvPr id="14" name="Image 0" descr="../../03-materials/ch07/assets/mbc3_0710.png">    </p:cNvPr>
          <p:cNvPicPr>
            <a:picLocks noChangeAspect="1"/>
          </p:cNvPicPr>
          <p:nvPr/>
        </p:nvPicPr>
        <p:blipFill>
          <a:blip r:embed="rId1"/>
          <a:srcRect l="0" r="0" t="0" b="0"/>
          <a:stretch/>
        </p:blipFill>
        <p:spPr>
          <a:xfrm>
            <a:off x="5989320" y="1691640"/>
            <a:ext cx="2651760" cy="2340864"/>
          </a:xfrm>
          <a:prstGeom prst="rect">
            <a:avLst/>
          </a:prstGeom>
        </p:spPr>
      </p:pic>
      <p:sp>
        <p:nvSpPr>
          <p:cNvPr id="15" name="Text 12"/>
          <p:cNvSpPr txBox="1"/>
          <p:nvPr/>
        </p:nvSpPr>
        <p:spPr>
          <a:xfrm>
            <a:off x="5989320" y="4050792"/>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 taproot output - Mastering Bitcoin 3e, CC BY-SA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Taproot: one 32-byte key that commits to a tree</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Output key = internal key + tweak; the key path shows one 64-byte signature</a:t>
            </a:r>
            <a:endParaRPr lang="en-US" sz="1300" dirty="0"/>
          </a:p>
        </p:txBody>
      </p:sp>
      <p:sp>
        <p:nvSpPr>
          <p:cNvPr id="6" name="Shape 4"/>
          <p:cNvSpPr/>
          <p:nvPr/>
        </p:nvSpPr>
        <p:spPr>
          <a:xfrm>
            <a:off x="457200" y="1325880"/>
            <a:ext cx="2426208" cy="777240"/>
          </a:xfrm>
          <a:prstGeom prst="roundRect">
            <a:avLst>
              <a:gd name="adj" fmla="val 11765"/>
            </a:avLst>
          </a:prstGeom>
          <a:solidFill>
            <a:srgbClr val="2F6D62"/>
          </a:solidFill>
          <a:ln w="12700">
            <a:solidFill>
              <a:srgbClr val="2F6D62"/>
            </a:solidFill>
            <a:prstDash val="solid"/>
          </a:ln>
        </p:spPr>
      </p:sp>
      <p:sp>
        <p:nvSpPr>
          <p:cNvPr id="7" name="Text 5"/>
          <p:cNvSpPr txBox="1"/>
          <p:nvPr/>
        </p:nvSpPr>
        <p:spPr>
          <a:xfrm>
            <a:off x="530352" y="1371600"/>
            <a:ext cx="2279904"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Internal key P</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possibly the sum of many keys</a:t>
            </a:r>
            <a:endParaRPr lang="en-US" sz="1150" dirty="0"/>
          </a:p>
        </p:txBody>
      </p:sp>
      <p:sp>
        <p:nvSpPr>
          <p:cNvPr id="8" name="Shape 6"/>
          <p:cNvSpPr/>
          <p:nvPr/>
        </p:nvSpPr>
        <p:spPr>
          <a:xfrm>
            <a:off x="2938272" y="1714500"/>
            <a:ext cx="365760" cy="0"/>
          </a:xfrm>
          <a:prstGeom prst="line">
            <a:avLst/>
          </a:prstGeom>
          <a:noFill/>
          <a:ln w="25400">
            <a:solidFill>
              <a:srgbClr val="D97A14"/>
            </a:solidFill>
            <a:prstDash val="solid"/>
            <a:tailEnd type="triangle"/>
          </a:ln>
        </p:spPr>
      </p:sp>
      <p:sp>
        <p:nvSpPr>
          <p:cNvPr id="9" name="Shape 7"/>
          <p:cNvSpPr/>
          <p:nvPr/>
        </p:nvSpPr>
        <p:spPr>
          <a:xfrm>
            <a:off x="3358896" y="1325880"/>
            <a:ext cx="2426208" cy="777240"/>
          </a:xfrm>
          <a:prstGeom prst="roundRect">
            <a:avLst>
              <a:gd name="adj" fmla="val 11765"/>
            </a:avLst>
          </a:prstGeom>
          <a:solidFill>
            <a:srgbClr val="2F6D62"/>
          </a:solidFill>
          <a:ln w="12700">
            <a:solidFill>
              <a:srgbClr val="2F6D62"/>
            </a:solidFill>
            <a:prstDash val="solid"/>
          </a:ln>
        </p:spPr>
      </p:sp>
      <p:sp>
        <p:nvSpPr>
          <p:cNvPr id="10" name="Text 8"/>
          <p:cNvSpPr txBox="1"/>
          <p:nvPr/>
        </p:nvSpPr>
        <p:spPr>
          <a:xfrm>
            <a:off x="3432048" y="1371600"/>
            <a:ext cx="2279904"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Tweak by the tree root</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Q = P + hash(P, root) x G</a:t>
            </a:r>
            <a:endParaRPr lang="en-US" sz="1150" dirty="0"/>
          </a:p>
        </p:txBody>
      </p:sp>
      <p:sp>
        <p:nvSpPr>
          <p:cNvPr id="11" name="Shape 9"/>
          <p:cNvSpPr/>
          <p:nvPr/>
        </p:nvSpPr>
        <p:spPr>
          <a:xfrm>
            <a:off x="5839968" y="1714500"/>
            <a:ext cx="365760" cy="0"/>
          </a:xfrm>
          <a:prstGeom prst="line">
            <a:avLst/>
          </a:prstGeom>
          <a:noFill/>
          <a:ln w="25400">
            <a:solidFill>
              <a:srgbClr val="D97A14"/>
            </a:solidFill>
            <a:prstDash val="solid"/>
            <a:tailEnd type="triangle"/>
          </a:ln>
        </p:spPr>
      </p:sp>
      <p:sp>
        <p:nvSpPr>
          <p:cNvPr id="12" name="Shape 10"/>
          <p:cNvSpPr/>
          <p:nvPr/>
        </p:nvSpPr>
        <p:spPr>
          <a:xfrm>
            <a:off x="6260592" y="1325880"/>
            <a:ext cx="2426208" cy="777240"/>
          </a:xfrm>
          <a:prstGeom prst="roundRect">
            <a:avLst>
              <a:gd name="adj" fmla="val 11765"/>
            </a:avLst>
          </a:prstGeom>
          <a:solidFill>
            <a:srgbClr val="2F6D62"/>
          </a:solidFill>
          <a:ln w="12700">
            <a:solidFill>
              <a:srgbClr val="2F6D62"/>
            </a:solidFill>
            <a:prstDash val="solid"/>
          </a:ln>
        </p:spPr>
      </p:sp>
      <p:sp>
        <p:nvSpPr>
          <p:cNvPr id="13" name="Text 11"/>
          <p:cNvSpPr txBox="1"/>
          <p:nvPr/>
        </p:nvSpPr>
        <p:spPr>
          <a:xfrm>
            <a:off x="6333744" y="1371600"/>
            <a:ext cx="2279904"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Output key Q</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32 bytes, in a bc1p address</a:t>
            </a:r>
            <a:endParaRPr lang="en-US" sz="1150" dirty="0"/>
          </a:p>
        </p:txBody>
      </p:sp>
      <p:sp>
        <p:nvSpPr>
          <p:cNvPr id="14" name="Text 12"/>
          <p:cNvSpPr txBox="1"/>
          <p:nvPr/>
        </p:nvSpPr>
        <p:spPr>
          <a:xfrm>
            <a:off x="457200" y="21945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output key and address; a 64-byte key path spend of 308 units; an untweaked key fails</a:t>
            </a:r>
            <a:endParaRPr lang="en-US" sz="1150" dirty="0"/>
          </a:p>
        </p:txBody>
      </p:sp>
      <p:sp>
        <p:nvSpPr>
          <p:cNvPr id="15" name="Shape 13"/>
          <p:cNvSpPr/>
          <p:nvPr/>
        </p:nvSpPr>
        <p:spPr>
          <a:xfrm>
            <a:off x="457200" y="2468880"/>
            <a:ext cx="8229600" cy="1508760"/>
          </a:xfrm>
          <a:prstGeom prst="roundRect">
            <a:avLst>
              <a:gd name="adj" fmla="val 6061"/>
            </a:avLst>
          </a:prstGeom>
          <a:solidFill>
            <a:srgbClr val="23272E"/>
          </a:solidFill>
          <a:ln w="12700">
            <a:solidFill>
              <a:srgbClr val="23272E"/>
            </a:solidFill>
            <a:prstDash val="solid"/>
          </a:ln>
        </p:spPr>
      </p:sp>
      <p:sp>
        <p:nvSpPr>
          <p:cNvPr id="16" name="Text 14"/>
          <p:cNvSpPr txBox="1"/>
          <p:nvPr/>
        </p:nvSpPr>
        <p:spPr>
          <a:xfrm>
            <a:off x="640080" y="2587752"/>
            <a:ext cx="7863840" cy="1271016"/>
          </a:xfrm>
          <a:prstGeom prst="rect">
            <a:avLst/>
          </a:prstGeom>
          <a:noFill/>
          <a:ln/>
        </p:spPr>
        <p:txBody>
          <a:bodyPr wrap="square" lIns="0" tIns="0" rIns="0" bIns="0" rtlCol="0" anchor="t"/>
          <a:lstStyle/>
          <a:p>
            <a:pPr indent="0" marL="0">
              <a:buNone/>
            </a:pPr>
            <a:r>
              <a:rPr lang="en-US" sz="930" b="1" dirty="0">
                <a:solidFill>
                  <a:srgbClr val="D97A14"/>
                </a:solidFill>
                <a:latin typeface="Courier New" pitchFamily="34" charset="0"/>
                <a:ea typeface="Courier New" pitchFamily="34" charset="-122"/>
                <a:cs typeface="Courier New" pitchFamily="34" charset="-120"/>
              </a:rPr>
              <a:t>&gt;&gt;&gt; </a:t>
            </a:r>
            <a:r>
              <a:rPr lang="en-US" sz="930" dirty="0">
                <a:solidFill>
                  <a:srgbClr val="E6EDF3"/>
                </a:solidFill>
                <a:latin typeface="Courier New" pitchFamily="34" charset="0"/>
                <a:ea typeface="Courier New" pitchFamily="34" charset="-122"/>
                <a:cs typeface="Courier New" pitchFamily="34" charset="-120"/>
              </a:rPr>
              <a:t>par, q = L.taproot_tweak_pubkey(K.xpub(</a:t>
            </a:r>
            <a:r>
              <a:rPr lang="en-US" sz="930" dirty="0">
                <a:solidFill>
                  <a:srgbClr val="FFD28A"/>
                </a:solidFill>
                <a:latin typeface="Courier New" pitchFamily="34" charset="0"/>
                <a:ea typeface="Courier New" pitchFamily="34" charset="-122"/>
                <a:cs typeface="Courier New" pitchFamily="34" charset="-120"/>
              </a:rPr>
              <a:t>1</a:t>
            </a:r>
            <a:r>
              <a:rPr lang="en-US" sz="930" dirty="0">
                <a:solidFill>
                  <a:srgbClr val="E6EDF3"/>
                </a:solidFill>
                <a:latin typeface="Courier New" pitchFamily="34" charset="0"/>
                <a:ea typeface="Courier New" pitchFamily="34" charset="-122"/>
                <a:cs typeface="Courier New" pitchFamily="34" charset="-120"/>
              </a:rPr>
              <a:t>), b</a:t>
            </a:r>
            <a:r>
              <a:rPr lang="en-US" sz="930" dirty="0">
                <a:solidFill>
                  <a:srgbClr val="9ECBFF"/>
                </a:solidFill>
                <a:latin typeface="Courier New" pitchFamily="34" charset="0"/>
                <a:ea typeface="Courier New" pitchFamily="34" charset="-122"/>
                <a:cs typeface="Courier New" pitchFamily="34" charset="-120"/>
              </a:rPr>
              <a:t>''</a:t>
            </a:r>
            <a:r>
              <a:rPr lang="en-US" sz="930" dirty="0">
                <a:solidFill>
                  <a:srgbClr val="E6EDF3"/>
                </a:solidFill>
                <a:latin typeface="Courier New" pitchFamily="34" charset="0"/>
                <a:ea typeface="Courier New" pitchFamily="34" charset="-122"/>
                <a:cs typeface="Courier New" pitchFamily="34" charset="-120"/>
              </a:rPr>
              <a:t>)</a:t>
            </a:r>
            <a:endParaRPr lang="en-US" sz="930" dirty="0"/>
          </a:p>
          <a:p>
            <a:pPr indent="0" marL="0">
              <a:buNone/>
            </a:pPr>
            <a:r>
              <a:rPr lang="en-US" sz="930" b="1" dirty="0">
                <a:solidFill>
                  <a:srgbClr val="D97A14"/>
                </a:solidFill>
                <a:latin typeface="Courier New" pitchFamily="34" charset="0"/>
                <a:ea typeface="Courier New" pitchFamily="34" charset="-122"/>
                <a:cs typeface="Courier New" pitchFamily="34" charset="-120"/>
              </a:rPr>
              <a:t>&gt;&gt;&gt; </a:t>
            </a:r>
            <a:r>
              <a:rPr lang="en-US" sz="930" dirty="0">
                <a:solidFill>
                  <a:srgbClr val="E6EDF3"/>
                </a:solidFill>
                <a:latin typeface="Courier New" pitchFamily="34" charset="0"/>
                <a:ea typeface="Courier New" pitchFamily="34" charset="-122"/>
                <a:cs typeface="Courier New" pitchFamily="34" charset="-120"/>
              </a:rPr>
              <a:t>L.script_to_address(L.p2tr_script(q))[:</a:t>
            </a:r>
            <a:r>
              <a:rPr lang="en-US" sz="930" dirty="0">
                <a:solidFill>
                  <a:srgbClr val="FFD28A"/>
                </a:solidFill>
                <a:latin typeface="Courier New" pitchFamily="34" charset="0"/>
                <a:ea typeface="Courier New" pitchFamily="34" charset="-122"/>
                <a:cs typeface="Courier New" pitchFamily="34" charset="-120"/>
              </a:rPr>
              <a:t>6</a:t>
            </a:r>
            <a:r>
              <a:rPr lang="en-US" sz="930" dirty="0">
                <a:solidFill>
                  <a:srgbClr val="E6EDF3"/>
                </a:solidFill>
                <a:latin typeface="Courier New" pitchFamily="34" charset="0"/>
                <a:ea typeface="Courier New" pitchFamily="34" charset="-122"/>
                <a:cs typeface="Courier New" pitchFamily="34" charset="-120"/>
              </a:rPr>
              <a:t>], len(q)</a:t>
            </a:r>
            <a:endParaRPr lang="en-US" sz="930" dirty="0"/>
          </a:p>
          <a:p>
            <a:pPr indent="0" marL="0">
              <a:buNone/>
            </a:pPr>
            <a:r>
              <a:rPr lang="en-US" sz="930" dirty="0">
                <a:solidFill>
                  <a:srgbClr val="7EE787"/>
                </a:solidFill>
                <a:latin typeface="Courier New" pitchFamily="34" charset="0"/>
                <a:ea typeface="Courier New" pitchFamily="34" charset="-122"/>
                <a:cs typeface="Courier New" pitchFamily="34" charset="-120"/>
              </a:rPr>
              <a:t>('bc1pwd', 32)</a:t>
            </a:r>
            <a:endParaRPr lang="en-US" sz="930" dirty="0"/>
          </a:p>
          <a:p>
            <a:pPr indent="0" marL="0">
              <a:buNone/>
            </a:pPr>
            <a:r>
              <a:rPr lang="en-US" sz="930" b="1" dirty="0">
                <a:solidFill>
                  <a:srgbClr val="D97A14"/>
                </a:solidFill>
                <a:latin typeface="Courier New" pitchFamily="34" charset="0"/>
                <a:ea typeface="Courier New" pitchFamily="34" charset="-122"/>
                <a:cs typeface="Courier New" pitchFamily="34" charset="-120"/>
              </a:rPr>
              <a:t>&gt;&gt;&gt; </a:t>
            </a:r>
            <a:r>
              <a:rPr lang="en-US" sz="930" dirty="0">
                <a:solidFill>
                  <a:srgbClr val="E6EDF3"/>
                </a:solidFill>
                <a:latin typeface="Courier New" pitchFamily="34" charset="0"/>
                <a:ea typeface="Courier New" pitchFamily="34" charset="-122"/>
                <a:cs typeface="Courier New" pitchFamily="34" charset="-120"/>
              </a:rPr>
              <a:t>r, wit, wt = K.tr_keypath(</a:t>
            </a:r>
            <a:r>
              <a:rPr lang="en-US" sz="930" dirty="0">
                <a:solidFill>
                  <a:srgbClr val="FFD28A"/>
                </a:solidFill>
                <a:latin typeface="Courier New" pitchFamily="34" charset="0"/>
                <a:ea typeface="Courier New" pitchFamily="34" charset="-122"/>
                <a:cs typeface="Courier New" pitchFamily="34" charset="-120"/>
              </a:rPr>
              <a:t>1</a:t>
            </a:r>
            <a:r>
              <a:rPr lang="en-US" sz="930" dirty="0">
                <a:solidFill>
                  <a:srgbClr val="E6EDF3"/>
                </a:solidFill>
                <a:latin typeface="Courier New" pitchFamily="34" charset="0"/>
                <a:ea typeface="Courier New" pitchFamily="34" charset="-122"/>
                <a:cs typeface="Courier New" pitchFamily="34" charset="-120"/>
              </a:rPr>
              <a:t>)</a:t>
            </a:r>
            <a:endParaRPr lang="en-US" sz="930" dirty="0"/>
          </a:p>
          <a:p>
            <a:pPr indent="0" marL="0">
              <a:buNone/>
            </a:pPr>
            <a:r>
              <a:rPr lang="en-US" sz="930" b="1" dirty="0">
                <a:solidFill>
                  <a:srgbClr val="D97A14"/>
                </a:solidFill>
                <a:latin typeface="Courier New" pitchFamily="34" charset="0"/>
                <a:ea typeface="Courier New" pitchFamily="34" charset="-122"/>
                <a:cs typeface="Courier New" pitchFamily="34" charset="-120"/>
              </a:rPr>
              <a:t>&gt;&gt;&gt; </a:t>
            </a:r>
            <a:r>
              <a:rPr lang="en-US" sz="930" dirty="0">
                <a:solidFill>
                  <a:srgbClr val="E6EDF3"/>
                </a:solidFill>
                <a:latin typeface="Courier New" pitchFamily="34" charset="0"/>
                <a:ea typeface="Courier New" pitchFamily="34" charset="-122"/>
                <a:cs typeface="Courier New" pitchFamily="34" charset="-120"/>
              </a:rPr>
              <a:t>r, len(wit[</a:t>
            </a:r>
            <a:r>
              <a:rPr lang="en-US" sz="930" dirty="0">
                <a:solidFill>
                  <a:srgbClr val="FFD28A"/>
                </a:solidFill>
                <a:latin typeface="Courier New" pitchFamily="34" charset="0"/>
                <a:ea typeface="Courier New" pitchFamily="34" charset="-122"/>
                <a:cs typeface="Courier New" pitchFamily="34" charset="-120"/>
              </a:rPr>
              <a:t>0</a:t>
            </a:r>
            <a:r>
              <a:rPr lang="en-US" sz="930" dirty="0">
                <a:solidFill>
                  <a:srgbClr val="E6EDF3"/>
                </a:solidFill>
                <a:latin typeface="Courier New" pitchFamily="34" charset="0"/>
                <a:ea typeface="Courier New" pitchFamily="34" charset="-122"/>
                <a:cs typeface="Courier New" pitchFamily="34" charset="-120"/>
              </a:rPr>
              <a:t>]), wt</a:t>
            </a:r>
            <a:endParaRPr lang="en-US" sz="930" dirty="0"/>
          </a:p>
          <a:p>
            <a:pPr indent="0" marL="0">
              <a:buNone/>
            </a:pPr>
            <a:r>
              <a:rPr lang="en-US" sz="930" dirty="0">
                <a:solidFill>
                  <a:srgbClr val="7EE787"/>
                </a:solidFill>
                <a:latin typeface="Courier New" pitchFamily="34" charset="0"/>
                <a:ea typeface="Courier New" pitchFamily="34" charset="-122"/>
                <a:cs typeface="Courier New" pitchFamily="34" charset="-120"/>
              </a:rPr>
              <a:t>('OK', 64, 308)</a:t>
            </a:r>
            <a:endParaRPr lang="en-US" sz="930" dirty="0"/>
          </a:p>
          <a:p>
            <a:pPr indent="0" marL="0">
              <a:buNone/>
            </a:pPr>
            <a:r>
              <a:rPr lang="en-US" sz="930" b="1" dirty="0">
                <a:solidFill>
                  <a:srgbClr val="D97A14"/>
                </a:solidFill>
                <a:latin typeface="Courier New" pitchFamily="34" charset="0"/>
                <a:ea typeface="Courier New" pitchFamily="34" charset="-122"/>
                <a:cs typeface="Courier New" pitchFamily="34" charset="-120"/>
              </a:rPr>
              <a:t>&gt;&gt;&gt; </a:t>
            </a:r>
            <a:r>
              <a:rPr lang="en-US" sz="930" dirty="0">
                <a:solidFill>
                  <a:srgbClr val="E6EDF3"/>
                </a:solidFill>
                <a:latin typeface="Courier New" pitchFamily="34" charset="0"/>
                <a:ea typeface="Courier New" pitchFamily="34" charset="-122"/>
                <a:cs typeface="Courier New" pitchFamily="34" charset="-120"/>
              </a:rPr>
              <a:t>K.tr_keypath(</a:t>
            </a:r>
            <a:r>
              <a:rPr lang="en-US" sz="930" dirty="0">
                <a:solidFill>
                  <a:srgbClr val="FFD28A"/>
                </a:solidFill>
                <a:latin typeface="Courier New" pitchFamily="34" charset="0"/>
                <a:ea typeface="Courier New" pitchFamily="34" charset="-122"/>
                <a:cs typeface="Courier New" pitchFamily="34" charset="-120"/>
              </a:rPr>
              <a:t>1</a:t>
            </a:r>
            <a:r>
              <a:rPr lang="en-US" sz="930" dirty="0">
                <a:solidFill>
                  <a:srgbClr val="E6EDF3"/>
                </a:solidFill>
                <a:latin typeface="Courier New" pitchFamily="34" charset="0"/>
                <a:ea typeface="Courier New" pitchFamily="34" charset="-122"/>
                <a:cs typeface="Courier New" pitchFamily="34" charset="-120"/>
              </a:rPr>
              <a:t>, MOH_LEAVES)[</a:t>
            </a:r>
            <a:r>
              <a:rPr lang="en-US" sz="930" dirty="0">
                <a:solidFill>
                  <a:srgbClr val="FFD28A"/>
                </a:solidFill>
                <a:latin typeface="Courier New" pitchFamily="34" charset="0"/>
                <a:ea typeface="Courier New" pitchFamily="34" charset="-122"/>
                <a:cs typeface="Courier New" pitchFamily="34" charset="-120"/>
              </a:rPr>
              <a:t>0</a:t>
            </a:r>
            <a:r>
              <a:rPr lang="en-US" sz="930" dirty="0">
                <a:solidFill>
                  <a:srgbClr val="E6EDF3"/>
                </a:solidFill>
                <a:latin typeface="Courier New" pitchFamily="34" charset="0"/>
                <a:ea typeface="Courier New" pitchFamily="34" charset="-122"/>
                <a:cs typeface="Courier New" pitchFamily="34" charset="-120"/>
              </a:rPr>
              <a:t>], K.tr_keypath(</a:t>
            </a:r>
            <a:r>
              <a:rPr lang="en-US" sz="930" dirty="0">
                <a:solidFill>
                  <a:srgbClr val="FFD28A"/>
                </a:solidFill>
                <a:latin typeface="Courier New" pitchFamily="34" charset="0"/>
                <a:ea typeface="Courier New" pitchFamily="34" charset="-122"/>
                <a:cs typeface="Courier New" pitchFamily="34" charset="-120"/>
              </a:rPr>
              <a:t>1</a:t>
            </a:r>
            <a:r>
              <a:rPr lang="en-US" sz="930" dirty="0">
                <a:solidFill>
                  <a:srgbClr val="E6EDF3"/>
                </a:solidFill>
                <a:latin typeface="Courier New" pitchFamily="34" charset="0"/>
                <a:ea typeface="Courier New" pitchFamily="34" charset="-122"/>
                <a:cs typeface="Courier New" pitchFamily="34" charset="-120"/>
              </a:rPr>
              <a:t>, MOH_LEAVES, tamper=</a:t>
            </a:r>
            <a:r>
              <a:rPr lang="en-US" sz="930" dirty="0">
                <a:solidFill>
                  <a:srgbClr val="9ECBFF"/>
                </a:solidFill>
                <a:latin typeface="Courier New" pitchFamily="34" charset="0"/>
                <a:ea typeface="Courier New" pitchFamily="34" charset="-122"/>
                <a:cs typeface="Courier New" pitchFamily="34" charset="-120"/>
              </a:rPr>
              <a:t>'untweaked'</a:t>
            </a:r>
            <a:r>
              <a:rPr lang="en-US" sz="930" dirty="0">
                <a:solidFill>
                  <a:srgbClr val="E6EDF3"/>
                </a:solidFill>
                <a:latin typeface="Courier New" pitchFamily="34" charset="0"/>
                <a:ea typeface="Courier New" pitchFamily="34" charset="-122"/>
                <a:cs typeface="Courier New" pitchFamily="34" charset="-120"/>
              </a:rPr>
              <a:t>)[</a:t>
            </a:r>
            <a:r>
              <a:rPr lang="en-US" sz="930" dirty="0">
                <a:solidFill>
                  <a:srgbClr val="FFD28A"/>
                </a:solidFill>
                <a:latin typeface="Courier New" pitchFamily="34" charset="0"/>
                <a:ea typeface="Courier New" pitchFamily="34" charset="-122"/>
                <a:cs typeface="Courier New" pitchFamily="34" charset="-120"/>
              </a:rPr>
              <a:t>0</a:t>
            </a:r>
            <a:r>
              <a:rPr lang="en-US" sz="930" dirty="0">
                <a:solidFill>
                  <a:srgbClr val="E6EDF3"/>
                </a:solidFill>
                <a:latin typeface="Courier New" pitchFamily="34" charset="0"/>
                <a:ea typeface="Courier New" pitchFamily="34" charset="-122"/>
                <a:cs typeface="Courier New" pitchFamily="34" charset="-120"/>
              </a:rPr>
              <a:t>]</a:t>
            </a:r>
            <a:endParaRPr lang="en-US" sz="930" dirty="0"/>
          </a:p>
          <a:p>
            <a:pPr indent="0" marL="0">
              <a:buNone/>
            </a:pPr>
            <a:r>
              <a:rPr lang="en-US" sz="930" dirty="0">
                <a:solidFill>
                  <a:srgbClr val="7EE787"/>
                </a:solidFill>
                <a:latin typeface="Courier New" pitchFamily="34" charset="0"/>
                <a:ea typeface="Courier New" pitchFamily="34" charset="-122"/>
                <a:cs typeface="Courier New" pitchFamily="34" charset="-120"/>
              </a:rPr>
              <a:t>('OK', 'SCHNORR_SIG')</a:t>
            </a:r>
            <a:endParaRPr lang="en-US" sz="930" dirty="0"/>
          </a:p>
        </p:txBody>
      </p:sp>
      <p:sp>
        <p:nvSpPr>
          <p:cNvPr id="17" name="Text 15"/>
          <p:cNvSpPr txBox="1"/>
          <p:nvPr/>
        </p:nvSpPr>
        <p:spPr>
          <a:xfrm>
            <a:off x="457200" y="399592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6"/>
          <p:cNvSpPr/>
          <p:nvPr/>
        </p:nvSpPr>
        <p:spPr>
          <a:xfrm>
            <a:off x="457200" y="4206240"/>
            <a:ext cx="3044495"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457200" y="4206240"/>
            <a:ext cx="3044495"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key path: one signature</a:t>
            </a:r>
            <a:endParaRPr lang="en-US" sz="1100" dirty="0"/>
          </a:p>
        </p:txBody>
      </p:sp>
      <p:sp>
        <p:nvSpPr>
          <p:cNvPr id="20" name="Shape 18"/>
          <p:cNvSpPr/>
          <p:nvPr/>
        </p:nvSpPr>
        <p:spPr>
          <a:xfrm>
            <a:off x="3702863" y="4206240"/>
            <a:ext cx="2350465"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3702863" y="4206240"/>
            <a:ext cx="2350465"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witness version 1</a:t>
            </a:r>
            <a:endParaRPr lang="en-US" sz="1100" dirty="0"/>
          </a:p>
        </p:txBody>
      </p:sp>
      <p:sp>
        <p:nvSpPr>
          <p:cNvPr id="22" name="Shape 20"/>
          <p:cNvSpPr/>
          <p:nvPr/>
        </p:nvSpPr>
        <p:spPr>
          <a:xfrm>
            <a:off x="6254496" y="4206240"/>
            <a:ext cx="2003450" cy="420624"/>
          </a:xfrm>
          <a:prstGeom prst="roundRect">
            <a:avLst>
              <a:gd name="adj" fmla="val 50000"/>
            </a:avLst>
          </a:prstGeom>
          <a:solidFill>
            <a:srgbClr val="F2ECE1"/>
          </a:solidFill>
          <a:ln w="12700">
            <a:solidFill>
              <a:srgbClr val="D97A14"/>
            </a:solidFill>
            <a:prstDash val="solid"/>
          </a:ln>
        </p:spPr>
      </p:sp>
      <p:sp>
        <p:nvSpPr>
          <p:cNvPr id="23" name="Text 21"/>
          <p:cNvSpPr txBox="1"/>
          <p:nvPr/>
        </p:nvSpPr>
        <p:spPr>
          <a:xfrm>
            <a:off x="6254496" y="4206240"/>
            <a:ext cx="2003450"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BIP340, BIP341</a:t>
            </a:r>
            <a:endParaRPr lang="en-US" sz="110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When everyone agrees, the chain shows one signature and no script</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26</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The script path: reveal one script, hide the rest</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Witness = inputs, script, and a control block linking it to the output key</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Revealing a script costs about what P2WSH costs; the cooperative key path costs half.</a:t>
            </a:r>
            <a:endParaRPr lang="en-US" sz="1250" dirty="0"/>
          </a:p>
        </p:txBody>
      </p:sp>
      <p:graphicFrame>
        <p:nvGraphicFramePr>
          <p:cNvPr id="7" name="Chart 0" descr=""/>
          <p:cNvGraphicFramePr/>
          <p:nvPr/>
        </p:nvGraphicFramePr>
        <p:xfrm>
          <a:off x="411480" y="1572768"/>
          <a:ext cx="4206240" cy="292608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4754880" y="1554480"/>
            <a:ext cx="39319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per-leaf results, weights and control blocks</a:t>
            </a:r>
            <a:endParaRPr lang="en-US" sz="1150" dirty="0"/>
          </a:p>
        </p:txBody>
      </p:sp>
      <p:sp>
        <p:nvSpPr>
          <p:cNvPr id="9" name="Shape 6"/>
          <p:cNvSpPr/>
          <p:nvPr/>
        </p:nvSpPr>
        <p:spPr>
          <a:xfrm>
            <a:off x="4754880" y="1828800"/>
            <a:ext cx="3931920" cy="1691640"/>
          </a:xfrm>
          <a:prstGeom prst="roundRect">
            <a:avLst>
              <a:gd name="adj" fmla="val 5405"/>
            </a:avLst>
          </a:prstGeom>
          <a:solidFill>
            <a:srgbClr val="23272E"/>
          </a:solidFill>
          <a:ln w="12700">
            <a:solidFill>
              <a:srgbClr val="23272E"/>
            </a:solidFill>
            <a:prstDash val="solid"/>
          </a:ln>
        </p:spPr>
      </p:sp>
      <p:sp>
        <p:nvSpPr>
          <p:cNvPr id="10" name="Text 7"/>
          <p:cNvSpPr txBox="1"/>
          <p:nvPr/>
        </p:nvSpPr>
        <p:spPr>
          <a:xfrm>
            <a:off x="4937760" y="1947672"/>
            <a:ext cx="3566160" cy="145389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[moh_tap(i)[</a:t>
            </a:r>
            <a:r>
              <a:rPr lang="en-US" sz="850" dirty="0">
                <a:solidFill>
                  <a:srgbClr val="FFD28A"/>
                </a:solidFill>
                <a:latin typeface="Courier New" pitchFamily="34" charset="0"/>
                <a:ea typeface="Courier New" pitchFamily="34" charset="-122"/>
                <a:cs typeface="Courier New" pitchFamily="34" charset="-120"/>
              </a:rPr>
              <a:t>0</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i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range(</a:t>
            </a:r>
            <a:r>
              <a:rPr lang="en-US" sz="850" dirty="0">
                <a:solidFill>
                  <a:srgbClr val="FFD28A"/>
                </a:solidFill>
                <a:latin typeface="Courier New" pitchFamily="34" charset="0"/>
                <a:ea typeface="Courier New" pitchFamily="34" charset="-122"/>
                <a:cs typeface="Courier New" pitchFamily="34" charset="-120"/>
              </a:rPr>
              <a:t>3</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['OK', 'OK', 'OK']</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[moh_tap(i)[</a:t>
            </a:r>
            <a:r>
              <a:rPr lang="en-US" sz="850" dirty="0">
                <a:solidFill>
                  <a:srgbClr val="FFD28A"/>
                </a:solidFill>
                <a:latin typeface="Courier New" pitchFamily="34" charset="0"/>
                <a:ea typeface="Courier New" pitchFamily="34" charset="-122"/>
                <a:cs typeface="Courier New" pitchFamily="34" charset="-120"/>
              </a:rPr>
              <a:t>2</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i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range(</a:t>
            </a:r>
            <a:r>
              <a:rPr lang="en-US" sz="850" dirty="0">
                <a:solidFill>
                  <a:srgbClr val="FFD28A"/>
                </a:solidFill>
                <a:latin typeface="Courier New" pitchFamily="34" charset="0"/>
                <a:ea typeface="Courier New" pitchFamily="34" charset="-122"/>
                <a:cs typeface="Courier New" pitchFamily="34" charset="-120"/>
              </a:rPr>
              <a:t>3</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[577, 617, 414]</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[moh_wsh(p)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p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1</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2</a:t>
            </a:r>
            <a:r>
              <a:rPr lang="en-US" sz="850" dirty="0">
                <a:solidFill>
                  <a:srgbClr val="E6EDF3"/>
                </a:solidFill>
                <a:latin typeface="Courier New" pitchFamily="34" charset="0"/>
                <a:ea typeface="Courier New" pitchFamily="34" charset="-122"/>
                <a:cs typeface="Courier New" pitchFamily="34" charset="-120"/>
              </a:rPr>
              <a:t>, </a:t>
            </a:r>
            <a:r>
              <a:rPr lang="en-US" sz="850" dirty="0">
                <a:solidFill>
                  <a:srgbClr val="FFD28A"/>
                </a:solidFill>
                <a:latin typeface="Courier New" pitchFamily="34" charset="0"/>
                <a:ea typeface="Courier New" pitchFamily="34" charset="-122"/>
                <a:cs typeface="Courier New" pitchFamily="34" charset="-120"/>
              </a:rPr>
              <a:t>3</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[585, 584, 509]</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r>
              <a:rPr lang="en-US" sz="850" dirty="0">
                <a:solidFill>
                  <a:srgbClr val="E6EDF3"/>
                </a:solidFill>
                <a:latin typeface="Courier New" pitchFamily="34" charset="0"/>
                <a:ea typeface="Courier New" pitchFamily="34" charset="-122"/>
                <a:cs typeface="Courier New" pitchFamily="34" charset="-120"/>
              </a:rPr>
              <a:t>[len(moh_tap(i)[</a:t>
            </a:r>
            <a:r>
              <a:rPr lang="en-US" sz="850" dirty="0">
                <a:solidFill>
                  <a:srgbClr val="FFD28A"/>
                </a:solidFill>
                <a:latin typeface="Courier New" pitchFamily="34" charset="0"/>
                <a:ea typeface="Courier New" pitchFamily="34" charset="-122"/>
                <a:cs typeface="Courier New" pitchFamily="34" charset="-120"/>
              </a:rPr>
              <a:t>1</a:t>
            </a:r>
            <a:r>
              <a:rPr lang="en-US" sz="850" dirty="0">
                <a:solidFill>
                  <a:srgbClr val="E6EDF3"/>
                </a:solidFill>
                <a:latin typeface="Courier New" pitchFamily="34" charset="0"/>
                <a:ea typeface="Courier New" pitchFamily="34" charset="-122"/>
                <a:cs typeface="Courier New" pitchFamily="34" charset="-120"/>
              </a:rPr>
              <a:t>][-</a:t>
            </a:r>
            <a:r>
              <a:rPr lang="en-US" sz="850" dirty="0">
                <a:solidFill>
                  <a:srgbClr val="FFD28A"/>
                </a:solidFill>
                <a:latin typeface="Courier New" pitchFamily="34" charset="0"/>
                <a:ea typeface="Courier New" pitchFamily="34" charset="-122"/>
                <a:cs typeface="Courier New" pitchFamily="34" charset="-120"/>
              </a:rPr>
              <a:t>1</a:t>
            </a:r>
            <a:r>
              <a:rPr lang="en-US" sz="850" dirty="0">
                <a:solidFill>
                  <a:srgbClr val="E6EDF3"/>
                </a:solidFill>
                <a:latin typeface="Courier New" pitchFamily="34" charset="0"/>
                <a:ea typeface="Courier New" pitchFamily="34" charset="-122"/>
                <a:cs typeface="Courier New" pitchFamily="34" charset="-120"/>
              </a:rPr>
              <a:t>]) </a:t>
            </a:r>
            <a:r>
              <a:rPr lang="en-US" sz="850" b="1" dirty="0">
                <a:solidFill>
                  <a:srgbClr val="F2A860"/>
                </a:solidFill>
                <a:latin typeface="Courier New" pitchFamily="34" charset="0"/>
                <a:ea typeface="Courier New" pitchFamily="34" charset="-122"/>
                <a:cs typeface="Courier New" pitchFamily="34" charset="-120"/>
              </a:rPr>
              <a:t>for</a:t>
            </a:r>
            <a:r>
              <a:rPr lang="en-US" sz="850" dirty="0">
                <a:solidFill>
                  <a:srgbClr val="E6EDF3"/>
                </a:solidFill>
                <a:latin typeface="Courier New" pitchFamily="34" charset="0"/>
                <a:ea typeface="Courier New" pitchFamily="34" charset="-122"/>
                <a:cs typeface="Courier New" pitchFamily="34" charset="-120"/>
              </a:rPr>
              <a:t> i </a:t>
            </a:r>
            <a:r>
              <a:rPr lang="en-US" sz="850" b="1" dirty="0">
                <a:solidFill>
                  <a:srgbClr val="F2A860"/>
                </a:solidFill>
                <a:latin typeface="Courier New" pitchFamily="34" charset="0"/>
                <a:ea typeface="Courier New" pitchFamily="34" charset="-122"/>
                <a:cs typeface="Courier New" pitchFamily="34" charset="-120"/>
              </a:rPr>
              <a:t>in</a:t>
            </a:r>
            <a:r>
              <a:rPr lang="en-US" sz="850" dirty="0">
                <a:solidFill>
                  <a:srgbClr val="E6EDF3"/>
                </a:solidFill>
                <a:latin typeface="Courier New" pitchFamily="34" charset="0"/>
                <a:ea typeface="Courier New" pitchFamily="34" charset="-122"/>
                <a:cs typeface="Courier New" pitchFamily="34" charset="-120"/>
              </a:rPr>
              <a:t> range(</a:t>
            </a:r>
            <a:r>
              <a:rPr lang="en-US" sz="850" dirty="0">
                <a:solidFill>
                  <a:srgbClr val="FFD28A"/>
                </a:solidFill>
                <a:latin typeface="Courier New" pitchFamily="34" charset="0"/>
                <a:ea typeface="Courier New" pitchFamily="34" charset="-122"/>
                <a:cs typeface="Courier New" pitchFamily="34" charset="-120"/>
              </a:rPr>
              <a:t>3</a:t>
            </a:r>
            <a:r>
              <a:rPr lang="en-US" sz="850" dirty="0">
                <a:solidFill>
                  <a:srgbClr val="E6EDF3"/>
                </a:solidFill>
                <a:latin typeface="Courier New" pitchFamily="34" charset="0"/>
                <a:ea typeface="Courier New" pitchFamily="34" charset="-122"/>
                <a:cs typeface="Courier New" pitchFamily="34" charset="-120"/>
              </a:rPr>
              <a: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[97, 97, 65]</a:t>
            </a:r>
            <a:endParaRPr lang="en-US" sz="850" dirty="0"/>
          </a:p>
        </p:txBody>
      </p:sp>
      <p:sp>
        <p:nvSpPr>
          <p:cNvPr id="11" name="Text 8"/>
          <p:cNvSpPr txBox="1"/>
          <p:nvPr/>
        </p:nvSpPr>
        <p:spPr>
          <a:xfrm>
            <a:off x="4754880" y="3538728"/>
            <a:ext cx="39319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2" name="Shape 9"/>
          <p:cNvSpPr/>
          <p:nvPr/>
        </p:nvSpPr>
        <p:spPr>
          <a:xfrm>
            <a:off x="4754880" y="394792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5029200" y="3840480"/>
            <a:ext cx="3657600" cy="3429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key path of the same output weighs 308 units</a:t>
            </a:r>
            <a:endParaRPr lang="en-US" sz="1050" dirty="0"/>
          </a:p>
        </p:txBody>
      </p:sp>
      <p:sp>
        <p:nvSpPr>
          <p:cNvPr id="14" name="Shape 11"/>
          <p:cNvSpPr/>
          <p:nvPr/>
        </p:nvSpPr>
        <p:spPr>
          <a:xfrm>
            <a:off x="4754880" y="42908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5029200" y="4183380"/>
            <a:ext cx="3657600" cy="3429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control block is 33 + 32 x depth bytes</a:t>
            </a:r>
            <a:endParaRPr lang="en-US" sz="1050" dirty="0"/>
          </a:p>
        </p:txBody>
      </p:sp>
      <p:sp>
        <p:nvSpPr>
          <p:cNvPr id="16"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script path spend shows one script and nothing about the others</a:t>
            </a:r>
            <a:endParaRPr lang="en-US" sz="1350" dirty="0"/>
          </a:p>
        </p:txBody>
      </p:sp>
      <p:sp>
        <p:nvSpPr>
          <p:cNvPr id="18"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26</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From a patented signature to taproot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2021-11-14</a:t>
            </a:r>
            <a:endParaRPr lang="en-US" sz="1300" dirty="0"/>
          </a:p>
        </p:txBody>
      </p:sp>
      <p:pic>
        <p:nvPicPr>
          <p:cNvPr id="6" name="Image 0" descr="../../03-materials/ch07/assets/photo_claus_schnorr_1986.jpg">    </p:cNvPr>
          <p:cNvPicPr>
            <a:picLocks noChangeAspect="1"/>
          </p:cNvPicPr>
          <p:nvPr/>
        </p:nvPicPr>
        <p:blipFill>
          <a:blip r:embed="rId1"/>
          <a:srcRect l="0" r="0" t="0" b="0"/>
          <a:stretch/>
        </p:blipFill>
        <p:spPr>
          <a:xfrm>
            <a:off x="457200" y="1325880"/>
            <a:ext cx="2194560" cy="2011680"/>
          </a:xfrm>
          <a:prstGeom prst="rect">
            <a:avLst/>
          </a:prstGeom>
        </p:spPr>
      </p:pic>
      <p:sp>
        <p:nvSpPr>
          <p:cNvPr id="7" name="Text 4"/>
          <p:cNvSpPr txBox="1"/>
          <p:nvPr/>
        </p:nvSpPr>
        <p:spPr>
          <a:xfrm>
            <a:off x="457200" y="3355848"/>
            <a:ext cx="21945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Claus-Peter Schnorr, Oberwolfach, 1986 - Konrad Jacobs, MFO, CC BY-SA 2.0 de</a:t>
            </a:r>
            <a:endParaRPr lang="en-US" sz="900" dirty="0"/>
          </a:p>
        </p:txBody>
      </p:sp>
      <p:sp>
        <p:nvSpPr>
          <p:cNvPr id="8" name="Shape 5"/>
          <p:cNvSpPr/>
          <p:nvPr/>
        </p:nvSpPr>
        <p:spPr>
          <a:xfrm>
            <a:off x="2926080" y="15133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200400" y="1325880"/>
            <a:ext cx="5486400" cy="5029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Claus Schnorr patented his signature scheme and kept it out of open standards for almost two decades</a:t>
            </a:r>
            <a:endParaRPr lang="en-US" sz="1200" dirty="0"/>
          </a:p>
        </p:txBody>
      </p:sp>
      <p:sp>
        <p:nvSpPr>
          <p:cNvPr id="10" name="Shape 7"/>
          <p:cNvSpPr/>
          <p:nvPr/>
        </p:nvSpPr>
        <p:spPr>
          <a:xfrm>
            <a:off x="2926080" y="201625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200400" y="1828800"/>
            <a:ext cx="5486400" cy="5029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BIP340, BIP341 and BIP342 specified Schnorr signatures, taproot and tapscript</a:t>
            </a:r>
            <a:endParaRPr lang="en-US" sz="1200" dirty="0"/>
          </a:p>
        </p:txBody>
      </p:sp>
      <p:sp>
        <p:nvSpPr>
          <p:cNvPr id="12" name="Shape 9"/>
          <p:cNvSpPr/>
          <p:nvPr/>
        </p:nvSpPr>
        <p:spPr>
          <a:xfrm>
            <a:off x="2926080" y="251917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200400" y="2331720"/>
            <a:ext cx="5486400" cy="5029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The rules took effect at block 709,632 on 14 November 2021</a:t>
            </a:r>
            <a:endParaRPr lang="en-US" sz="1200" dirty="0"/>
          </a:p>
        </p:txBody>
      </p:sp>
      <p:sp>
        <p:nvSpPr>
          <p:cNvPr id="14" name="Text 11"/>
          <p:cNvSpPr txBox="1"/>
          <p:nvPr/>
        </p:nvSpPr>
        <p:spPr>
          <a:xfrm>
            <a:off x="2926080" y="2788920"/>
            <a:ext cx="57607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taproot key path spend: one 64-byte Schnorr signature, 308 weight units</a:t>
            </a:r>
            <a:endParaRPr lang="en-US" sz="1150" dirty="0"/>
          </a:p>
        </p:txBody>
      </p:sp>
      <p:sp>
        <p:nvSpPr>
          <p:cNvPr id="15" name="Shape 12"/>
          <p:cNvSpPr/>
          <p:nvPr/>
        </p:nvSpPr>
        <p:spPr>
          <a:xfrm>
            <a:off x="2926080" y="3063240"/>
            <a:ext cx="5760720" cy="777240"/>
          </a:xfrm>
          <a:prstGeom prst="roundRect">
            <a:avLst>
              <a:gd name="adj" fmla="val 11765"/>
            </a:avLst>
          </a:prstGeom>
          <a:solidFill>
            <a:srgbClr val="23272E"/>
          </a:solidFill>
          <a:ln w="12700">
            <a:solidFill>
              <a:srgbClr val="23272E"/>
            </a:solidFill>
            <a:prstDash val="solid"/>
          </a:ln>
        </p:spPr>
      </p:sp>
      <p:sp>
        <p:nvSpPr>
          <p:cNvPr id="16" name="Text 13"/>
          <p:cNvSpPr txBox="1"/>
          <p:nvPr/>
        </p:nvSpPr>
        <p:spPr>
          <a:xfrm>
            <a:off x="3108960" y="3182112"/>
            <a:ext cx="5394960" cy="53949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r, wit, wt = K.tr_keypath(</a:t>
            </a:r>
            <a:r>
              <a:rPr lang="en-US" sz="900" dirty="0">
                <a:solidFill>
                  <a:srgbClr val="FFD28A"/>
                </a:solidFill>
                <a:latin typeface="Courier New" pitchFamily="34" charset="0"/>
                <a:ea typeface="Courier New" pitchFamily="34" charset="-122"/>
                <a:cs typeface="Courier New" pitchFamily="34" charset="-120"/>
              </a:rPr>
              <a:t>1</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r, len(wit[</a:t>
            </a:r>
            <a:r>
              <a:rPr lang="en-US" sz="900" dirty="0">
                <a:solidFill>
                  <a:srgbClr val="FFD28A"/>
                </a:solidFill>
                <a:latin typeface="Courier New" pitchFamily="34" charset="0"/>
                <a:ea typeface="Courier New" pitchFamily="34" charset="-122"/>
                <a:cs typeface="Courier New" pitchFamily="34" charset="-120"/>
              </a:rPr>
              <a:t>0</a:t>
            </a:r>
            <a:r>
              <a:rPr lang="en-US" sz="900" dirty="0">
                <a:solidFill>
                  <a:srgbClr val="E6EDF3"/>
                </a:solidFill>
                <a:latin typeface="Courier New" pitchFamily="34" charset="0"/>
                <a:ea typeface="Courier New" pitchFamily="34" charset="-122"/>
                <a:cs typeface="Courier New" pitchFamily="34" charset="-120"/>
              </a:rPr>
              <a:t>]), wt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('OK', 64, 308)</a:t>
            </a:r>
            <a:endParaRPr lang="en-US" sz="900" dirty="0"/>
          </a:p>
        </p:txBody>
      </p:sp>
      <p:sp>
        <p:nvSpPr>
          <p:cNvPr id="17" name="Text 14"/>
          <p:cNvSpPr txBox="1"/>
          <p:nvPr/>
        </p:nvSpPr>
        <p:spPr>
          <a:xfrm>
            <a:off x="2926080" y="3858768"/>
            <a:ext cx="57607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2926080" y="4224528"/>
            <a:ext cx="1086307"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3017520" y="4224528"/>
            <a:ext cx="94000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Claus-Peter…</a:t>
            </a:r>
            <a:endParaRPr lang="en-US" sz="750" dirty="0"/>
          </a:p>
        </p:txBody>
      </p:sp>
      <p:sp>
        <p:nvSpPr>
          <p:cNvPr id="20" name="Shape 17"/>
          <p:cNvSpPr/>
          <p:nvPr/>
        </p:nvSpPr>
        <p:spPr>
          <a:xfrm>
            <a:off x="4122115" y="4224528"/>
            <a:ext cx="1031992"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4213555" y="4224528"/>
            <a:ext cx="8856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block 709,…</a:t>
            </a:r>
            <a:endParaRPr lang="en-US" sz="750" dirty="0"/>
          </a:p>
        </p:txBody>
      </p:sp>
      <p:sp>
        <p:nvSpPr>
          <p:cNvPr id="22" name="Shape 19"/>
          <p:cNvSpPr/>
          <p:nvPr/>
        </p:nvSpPr>
        <p:spPr>
          <a:xfrm>
            <a:off x="5263835" y="4224528"/>
            <a:ext cx="92336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5355275" y="4224528"/>
            <a:ext cx="77705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2021-11-…</a:t>
            </a:r>
            <a:endParaRPr lang="en-US" sz="750" dirty="0"/>
          </a:p>
        </p:txBody>
      </p:sp>
      <p:sp>
        <p:nvSpPr>
          <p:cNvPr id="24" name="Shape 21"/>
          <p:cNvSpPr/>
          <p:nvPr/>
        </p:nvSpPr>
        <p:spPr>
          <a:xfrm>
            <a:off x="6296924" y="4224528"/>
            <a:ext cx="2389876"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6388364" y="4224528"/>
            <a:ext cx="224357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8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Block 709,632, taproot activation (block)</a:t>
            </a:r>
            <a:endParaRPr lang="en-US" sz="7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26</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Tapscript: three small changes to the language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OP_CHECKSIGADD counts signatures; unknown opcodes succeed for upgrades</a:t>
            </a:r>
            <a:endParaRPr lang="en-US" sz="1300" dirty="0"/>
          </a:p>
        </p:txBody>
      </p:sp>
      <p:sp>
        <p:nvSpPr>
          <p:cNvPr id="6" name="Text 4"/>
          <p:cNvSpPr txBox="1"/>
          <p:nvPr/>
        </p:nvSpPr>
        <p:spPr>
          <a:xfrm>
            <a:off x="457200" y="141732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2 of 3 with OP_CHECKSIGADD: 104 bytes, spent with one empty signature; with only one signature it fails</a:t>
            </a:r>
            <a:endParaRPr lang="en-US" sz="1150" dirty="0"/>
          </a:p>
        </p:txBody>
      </p:sp>
      <p:sp>
        <p:nvSpPr>
          <p:cNvPr id="7" name="Shape 5"/>
          <p:cNvSpPr/>
          <p:nvPr/>
        </p:nvSpPr>
        <p:spPr>
          <a:xfrm>
            <a:off x="457200" y="1691640"/>
            <a:ext cx="8229600" cy="1325880"/>
          </a:xfrm>
          <a:prstGeom prst="roundRect">
            <a:avLst>
              <a:gd name="adj" fmla="val 6897"/>
            </a:avLst>
          </a:prstGeom>
          <a:solidFill>
            <a:srgbClr val="23272E"/>
          </a:solidFill>
          <a:ln w="12700">
            <a:solidFill>
              <a:srgbClr val="23272E"/>
            </a:solidFill>
            <a:prstDash val="solid"/>
          </a:ln>
        </p:spPr>
      </p:sp>
      <p:sp>
        <p:nvSpPr>
          <p:cNvPr id="8" name="Text 6"/>
          <p:cNvSpPr txBox="1"/>
          <p:nvPr/>
        </p:nvSpPr>
        <p:spPr>
          <a:xfrm>
            <a:off x="640080" y="1810512"/>
            <a:ext cx="7863840" cy="108813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len(K.csa_script([</a:t>
            </a:r>
            <a:r>
              <a:rPr lang="en-US" sz="950" dirty="0">
                <a:solidFill>
                  <a:srgbClr val="FFD28A"/>
                </a:solidFill>
                <a:latin typeface="Courier New" pitchFamily="34" charset="0"/>
                <a:ea typeface="Courier New" pitchFamily="34" charset="-122"/>
                <a:cs typeface="Courier New" pitchFamily="34" charset="-120"/>
              </a:rPr>
              <a:t>0</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1</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2</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2</a:t>
            </a:r>
            <a:r>
              <a:rPr lang="en-US" sz="950" dirty="0">
                <a:solidFill>
                  <a:srgbClr val="E6EDF3"/>
                </a:solidFill>
                <a:latin typeface="Courier New" pitchFamily="34" charset="0"/>
                <a:ea typeface="Courier New" pitchFamily="34" charset="-122"/>
                <a:cs typeface="Courier New" pitchFamily="34" charset="-120"/>
              </a:rPr>
              <a:t>)), len(RED)</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(104, 105)</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K.tr_spend([K.csa_script([</a:t>
            </a:r>
            <a:r>
              <a:rPr lang="en-US" sz="950" dirty="0">
                <a:solidFill>
                  <a:srgbClr val="FFD28A"/>
                </a:solidFill>
                <a:latin typeface="Courier New" pitchFamily="34" charset="0"/>
                <a:ea typeface="Courier New" pitchFamily="34" charset="-122"/>
                <a:cs typeface="Courier New" pitchFamily="34" charset="-120"/>
              </a:rPr>
              <a:t>0</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1</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2</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2</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0</a:t>
            </a:r>
            <a:r>
              <a:rPr lang="en-US" sz="950" dirty="0">
                <a:solidFill>
                  <a:srgbClr val="E6EDF3"/>
                </a:solidFill>
                <a:latin typeface="Courier New" pitchFamily="34" charset="0"/>
                <a:ea typeface="Courier New" pitchFamily="34" charset="-122"/>
                <a:cs typeface="Courier New" pitchFamily="34" charset="-120"/>
              </a:rPr>
              <a:t>, [b</a:t>
            </a:r>
            <a:r>
              <a:rPr lang="en-US" sz="950" dirty="0">
                <a:solidFill>
                  <a:srgbClr val="9ECBFF"/>
                </a:solidFill>
                <a:latin typeface="Courier New" pitchFamily="34" charset="0"/>
                <a:ea typeface="Courier New" pitchFamily="34" charset="-122"/>
                <a:cs typeface="Courier New" pitchFamily="34" charset="-120"/>
              </a:rPr>
              <a:t>''</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'sig'</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1</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'sig'</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0</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FFD28A"/>
                </a:solidFill>
                <a:latin typeface="Courier New" pitchFamily="34" charset="0"/>
                <a:ea typeface="Courier New" pitchFamily="34" charset="-122"/>
                <a:cs typeface="Courier New" pitchFamily="34" charset="-120"/>
              </a:rPr>
              <a:t>0</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'OK'</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K.tr_spend([K.csa_script([</a:t>
            </a:r>
            <a:r>
              <a:rPr lang="en-US" sz="950" dirty="0">
                <a:solidFill>
                  <a:srgbClr val="FFD28A"/>
                </a:solidFill>
                <a:latin typeface="Courier New" pitchFamily="34" charset="0"/>
                <a:ea typeface="Courier New" pitchFamily="34" charset="-122"/>
                <a:cs typeface="Courier New" pitchFamily="34" charset="-120"/>
              </a:rPr>
              <a:t>0</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1</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2</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2</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0</a:t>
            </a:r>
            <a:r>
              <a:rPr lang="en-US" sz="950" dirty="0">
                <a:solidFill>
                  <a:srgbClr val="E6EDF3"/>
                </a:solidFill>
                <a:latin typeface="Courier New" pitchFamily="34" charset="0"/>
                <a:ea typeface="Courier New" pitchFamily="34" charset="-122"/>
                <a:cs typeface="Courier New" pitchFamily="34" charset="-120"/>
              </a:rPr>
              <a:t>, [b</a:t>
            </a:r>
            <a:r>
              <a:rPr lang="en-US" sz="950" dirty="0">
                <a:solidFill>
                  <a:srgbClr val="9ECBFF"/>
                </a:solidFill>
                <a:latin typeface="Courier New" pitchFamily="34" charset="0"/>
                <a:ea typeface="Courier New" pitchFamily="34" charset="-122"/>
                <a:cs typeface="Courier New" pitchFamily="34" charset="-120"/>
              </a:rPr>
              <a:t>''</a:t>
            </a:r>
            <a:r>
              <a:rPr lang="en-US" sz="950" dirty="0">
                <a:solidFill>
                  <a:srgbClr val="E6EDF3"/>
                </a:solidFill>
                <a:latin typeface="Courier New" pitchFamily="34" charset="0"/>
                <a:ea typeface="Courier New" pitchFamily="34" charset="-122"/>
                <a:cs typeface="Courier New" pitchFamily="34" charset="-120"/>
              </a:rPr>
              <a:t>, b</a:t>
            </a:r>
            <a:r>
              <a:rPr lang="en-US" sz="950" dirty="0">
                <a:solidFill>
                  <a:srgbClr val="9ECBFF"/>
                </a:solidFill>
                <a:latin typeface="Courier New" pitchFamily="34" charset="0"/>
                <a:ea typeface="Courier New" pitchFamily="34" charset="-122"/>
                <a:cs typeface="Courier New" pitchFamily="34" charset="-120"/>
              </a:rPr>
              <a:t>''</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'sig'</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0</a:t>
            </a:r>
            <a:r>
              <a:rPr lang="en-US" sz="950" dirty="0">
                <a:solidFill>
                  <a:srgbClr val="E6EDF3"/>
                </a:solidFill>
                <a:latin typeface="Courier New" pitchFamily="34" charset="0"/>
                <a:ea typeface="Courier New" pitchFamily="34" charset="-122"/>
                <a:cs typeface="Courier New" pitchFamily="34" charset="-120"/>
              </a:rPr>
              <a:t>)])[</a:t>
            </a:r>
            <a:r>
              <a:rPr lang="en-US" sz="950" dirty="0">
                <a:solidFill>
                  <a:srgbClr val="FFD28A"/>
                </a:solidFill>
                <a:latin typeface="Courier New" pitchFamily="34" charset="0"/>
                <a:ea typeface="Courier New" pitchFamily="34" charset="-122"/>
                <a:cs typeface="Courier New" pitchFamily="34" charset="-120"/>
              </a:rPr>
              <a:t>0</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'EVAL_FALSE'</a:t>
            </a:r>
            <a:endParaRPr lang="en-US" sz="950" dirty="0"/>
          </a:p>
        </p:txBody>
      </p:sp>
      <p:sp>
        <p:nvSpPr>
          <p:cNvPr id="9" name="Text 7"/>
          <p:cNvSpPr txBox="1"/>
          <p:nvPr/>
        </p:nvSpPr>
        <p:spPr>
          <a:xfrm>
            <a:off x="457200" y="30358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Text 8"/>
          <p:cNvSpPr txBox="1"/>
          <p:nvPr/>
        </p:nvSpPr>
        <p:spPr>
          <a:xfrm>
            <a:off x="457200" y="297180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87 opcode values are OP_SUCCESS; a script that contains OP_LSHIFT succeeds, and the legacy engine refuses it</a:t>
            </a:r>
            <a:endParaRPr lang="en-US" sz="1150" dirty="0"/>
          </a:p>
        </p:txBody>
      </p:sp>
      <p:sp>
        <p:nvSpPr>
          <p:cNvPr id="11" name="Shape 9"/>
          <p:cNvSpPr/>
          <p:nvPr/>
        </p:nvSpPr>
        <p:spPr>
          <a:xfrm>
            <a:off x="457200" y="3246120"/>
            <a:ext cx="8229600" cy="1280160"/>
          </a:xfrm>
          <a:prstGeom prst="roundRect">
            <a:avLst>
              <a:gd name="adj" fmla="val 7143"/>
            </a:avLst>
          </a:prstGeom>
          <a:solidFill>
            <a:srgbClr val="23272E"/>
          </a:solidFill>
          <a:ln w="12700">
            <a:solidFill>
              <a:srgbClr val="23272E"/>
            </a:solidFill>
            <a:prstDash val="solid"/>
          </a:ln>
        </p:spPr>
      </p:sp>
      <p:sp>
        <p:nvSpPr>
          <p:cNvPr id="12" name="Text 10"/>
          <p:cNvSpPr txBox="1"/>
          <p:nvPr/>
        </p:nvSpPr>
        <p:spPr>
          <a:xfrm>
            <a:off x="640080" y="3364992"/>
            <a:ext cx="7863840" cy="104241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sum(</a:t>
            </a:r>
            <a:r>
              <a:rPr lang="en-US" sz="950" dirty="0">
                <a:solidFill>
                  <a:srgbClr val="FFD28A"/>
                </a:solidFill>
                <a:latin typeface="Courier New" pitchFamily="34" charset="0"/>
                <a:ea typeface="Courier New" pitchFamily="34" charset="-122"/>
                <a:cs typeface="Courier New" pitchFamily="34" charset="-120"/>
              </a:rPr>
              <a:t>1</a:t>
            </a:r>
            <a:r>
              <a:rPr lang="en-US" sz="950" dirty="0">
                <a:solidFill>
                  <a:srgbClr val="E6EDF3"/>
                </a:solidFill>
                <a:latin typeface="Courier New" pitchFamily="34" charset="0"/>
                <a:ea typeface="Courier New" pitchFamily="34" charset="-122"/>
                <a:cs typeface="Courier New" pitchFamily="34" charset="-120"/>
              </a:rPr>
              <a:t> </a:t>
            </a:r>
            <a:r>
              <a:rPr lang="en-US" sz="950" b="1" dirty="0">
                <a:solidFill>
                  <a:srgbClr val="F2A860"/>
                </a:solidFill>
                <a:latin typeface="Courier New" pitchFamily="34" charset="0"/>
                <a:ea typeface="Courier New" pitchFamily="34" charset="-122"/>
                <a:cs typeface="Courier New" pitchFamily="34" charset="-120"/>
              </a:rPr>
              <a:t>for</a:t>
            </a:r>
            <a:r>
              <a:rPr lang="en-US" sz="950" dirty="0">
                <a:solidFill>
                  <a:srgbClr val="E6EDF3"/>
                </a:solidFill>
                <a:latin typeface="Courier New" pitchFamily="34" charset="0"/>
                <a:ea typeface="Courier New" pitchFamily="34" charset="-122"/>
                <a:cs typeface="Courier New" pitchFamily="34" charset="-120"/>
              </a:rPr>
              <a:t> o </a:t>
            </a:r>
            <a:r>
              <a:rPr lang="en-US" sz="950" b="1" dirty="0">
                <a:solidFill>
                  <a:srgbClr val="F2A860"/>
                </a:solidFill>
                <a:latin typeface="Courier New" pitchFamily="34" charset="0"/>
                <a:ea typeface="Courier New" pitchFamily="34" charset="-122"/>
                <a:cs typeface="Courier New" pitchFamily="34" charset="-120"/>
              </a:rPr>
              <a:t>in</a:t>
            </a:r>
            <a:r>
              <a:rPr lang="en-US" sz="950" dirty="0">
                <a:solidFill>
                  <a:srgbClr val="E6EDF3"/>
                </a:solidFill>
                <a:latin typeface="Courier New" pitchFamily="34" charset="0"/>
                <a:ea typeface="Courier New" pitchFamily="34" charset="-122"/>
                <a:cs typeface="Courier New" pitchFamily="34" charset="-120"/>
              </a:rPr>
              <a:t> range(</a:t>
            </a:r>
            <a:r>
              <a:rPr lang="en-US" sz="950" dirty="0">
                <a:solidFill>
                  <a:srgbClr val="FFD28A"/>
                </a:solidFill>
                <a:latin typeface="Courier New" pitchFamily="34" charset="0"/>
                <a:ea typeface="Courier New" pitchFamily="34" charset="-122"/>
                <a:cs typeface="Courier New" pitchFamily="34" charset="-120"/>
              </a:rPr>
              <a:t>256</a:t>
            </a:r>
            <a:r>
              <a:rPr lang="en-US" sz="950" dirty="0">
                <a:solidFill>
                  <a:srgbClr val="E6EDF3"/>
                </a:solidFill>
                <a:latin typeface="Courier New" pitchFamily="34" charset="0"/>
                <a:ea typeface="Courier New" pitchFamily="34" charset="-122"/>
                <a:cs typeface="Courier New" pitchFamily="34" charset="-120"/>
              </a:rPr>
              <a:t>) </a:t>
            </a:r>
            <a:r>
              <a:rPr lang="en-US" sz="950" b="1" dirty="0">
                <a:solidFill>
                  <a:srgbClr val="F2A860"/>
                </a:solidFill>
                <a:latin typeface="Courier New" pitchFamily="34" charset="0"/>
                <a:ea typeface="Courier New" pitchFamily="34" charset="-122"/>
                <a:cs typeface="Courier New" pitchFamily="34" charset="-120"/>
              </a:rPr>
              <a:t>if</a:t>
            </a:r>
            <a:r>
              <a:rPr lang="en-US" sz="950" dirty="0">
                <a:solidFill>
                  <a:srgbClr val="E6EDF3"/>
                </a:solidFill>
                <a:latin typeface="Courier New" pitchFamily="34" charset="0"/>
                <a:ea typeface="Courier New" pitchFamily="34" charset="-122"/>
                <a:cs typeface="Courier New" pitchFamily="34" charset="-120"/>
              </a:rPr>
              <a:t> L.is_op_success(o))</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87</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K.tr_spend([bytes([0x51, </a:t>
            </a:r>
            <a:r>
              <a:rPr lang="en-US" sz="950" dirty="0">
                <a:solidFill>
                  <a:srgbClr val="FFD28A"/>
                </a:solidFill>
                <a:latin typeface="Courier New" pitchFamily="34" charset="0"/>
                <a:ea typeface="Courier New" pitchFamily="34" charset="-122"/>
                <a:cs typeface="Courier New" pitchFamily="34" charset="-120"/>
              </a:rPr>
              <a:t>152</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0</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FFD28A"/>
                </a:solidFill>
                <a:latin typeface="Courier New" pitchFamily="34" charset="0"/>
                <a:ea typeface="Courier New" pitchFamily="34" charset="-122"/>
                <a:cs typeface="Courier New" pitchFamily="34" charset="-120"/>
              </a:rPr>
              <a:t>0</a:t>
            </a:r>
            <a:r>
              <a:rPr lang="en-US" sz="950" dirty="0">
                <a:solidFill>
                  <a:srgbClr val="E6EDF3"/>
                </a:solidFill>
                <a:latin typeface="Courier New" pitchFamily="34" charset="0"/>
                <a:ea typeface="Courier New" pitchFamily="34" charset="-122"/>
                <a:cs typeface="Courier New" pitchFamily="34" charset="-120"/>
              </a:rPr>
              <a:t>]</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'OK'</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r>
              <a:rPr lang="en-US" sz="950" dirty="0">
                <a:solidFill>
                  <a:srgbClr val="E6EDF3"/>
                </a:solidFill>
                <a:latin typeface="Courier New" pitchFamily="34" charset="0"/>
                <a:ea typeface="Courier New" pitchFamily="34" charset="-122"/>
                <a:cs typeface="Courier New" pitchFamily="34" charset="-120"/>
              </a:rPr>
              <a:t>L.run(</a:t>
            </a:r>
            <a:r>
              <a:rPr lang="en-US" sz="950" dirty="0">
                <a:solidFill>
                  <a:srgbClr val="9ECBFF"/>
                </a:solidFill>
                <a:latin typeface="Courier New" pitchFamily="34" charset="0"/>
                <a:ea typeface="Courier New" pitchFamily="34" charset="-122"/>
                <a:cs typeface="Courier New" pitchFamily="34" charset="-120"/>
              </a:rPr>
              <a:t>'OP_1 OP_LSHIFT'</a:t>
            </a:r>
            <a:r>
              <a:rPr lang="en-US" sz="950" dirty="0">
                <a:solidFill>
                  <a:srgbClr val="E6EDF3"/>
                </a:solidFill>
                <a:latin typeface="Courier New" pitchFamily="34" charset="0"/>
                <a:ea typeface="Courier New" pitchFamily="34" charset="-122"/>
                <a:cs typeface="Courier New" pitchFamily="34" charset="-120"/>
              </a:rPr>
              <a:t>, </a:t>
            </a:r>
            <a:r>
              <a:rPr lang="en-US" sz="950" dirty="0">
                <a:solidFill>
                  <a:srgbClr val="9ECBFF"/>
                </a:solidFill>
                <a:latin typeface="Courier New" pitchFamily="34" charset="0"/>
                <a:ea typeface="Courier New" pitchFamily="34" charset="-122"/>
                <a:cs typeface="Courier New" pitchFamily="34" charset="-120"/>
              </a:rPr>
              <a:t>'OP_1'</a:t>
            </a:r>
            <a:r>
              <a:rPr lang="en-US" sz="950" dirty="0">
                <a:solidFill>
                  <a:srgbClr val="E6EDF3"/>
                </a:solidFill>
                <a:latin typeface="Courier New" pitchFamily="34" charset="0"/>
                <a:ea typeface="Courier New" pitchFamily="34" charset="-122"/>
                <a:cs typeface="Courier New" pitchFamily="34" charset="-120"/>
              </a:rPr>
              <a:t>, flags=())</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'DISABLED_OPCODE'</a:t>
            </a:r>
            <a:endParaRPr lang="en-US" sz="950" dirty="0"/>
          </a:p>
        </p:txBody>
      </p:sp>
      <p:sp>
        <p:nvSpPr>
          <p:cNvPr id="13" name="Text 11"/>
          <p:cNvSpPr txBox="1"/>
          <p:nvPr/>
        </p:nvSpPr>
        <p:spPr>
          <a:xfrm>
            <a:off x="457200" y="45445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Tapscript counts signatures one at a time and leaves room for upgrades</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26</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part - each one provable from its slides</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script is a stack program with no loops and no state: the unlocking script proves, the locking script checks, and the top value is the verdict</a:t>
            </a:r>
            <a:endParaRPr lang="en-US" sz="1250" dirty="0"/>
          </a:p>
        </p:txBody>
      </p:sp>
      <p:sp>
        <p:nvSpPr>
          <p:cNvPr id="9" name="Shape 7"/>
          <p:cNvSpPr/>
          <p:nvPr/>
        </p:nvSpPr>
        <p:spPr>
          <a:xfrm>
            <a:off x="457200" y="20116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11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75104"/>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signature is two numbers in strict DER; multisignatures count them in key order, and pay to script hash moves a long script to its spender</a:t>
            </a:r>
            <a:endParaRPr lang="en-US" sz="1250" dirty="0"/>
          </a:p>
        </p:txBody>
      </p:sp>
      <p:sp>
        <p:nvSpPr>
          <p:cNvPr id="12" name="Shape 10"/>
          <p:cNvSpPr/>
          <p:nvPr/>
        </p:nvSpPr>
        <p:spPr>
          <a:xfrm>
            <a:off x="457200" y="2615184"/>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151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78608"/>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Lock time and sequence let a spend wait, and conditionals give one output several ways out</a:t>
            </a:r>
            <a:endParaRPr lang="en-US" sz="1250" dirty="0"/>
          </a:p>
        </p:txBody>
      </p:sp>
      <p:sp>
        <p:nvSpPr>
          <p:cNvPr id="15" name="Shape 13"/>
          <p:cNvSpPr/>
          <p:nvPr/>
        </p:nvSpPr>
        <p:spPr>
          <a:xfrm>
            <a:off x="457200" y="3218688"/>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186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82112"/>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Segregated witness moved the proof into a witness program with a version, and a tree of scripts hides every alternative that is not used</a:t>
            </a:r>
            <a:endParaRPr lang="en-US" sz="1250" dirty="0"/>
          </a:p>
        </p:txBody>
      </p:sp>
      <p:sp>
        <p:nvSpPr>
          <p:cNvPr id="18" name="Shape 16"/>
          <p:cNvSpPr/>
          <p:nvPr/>
        </p:nvSpPr>
        <p:spPr>
          <a:xfrm>
            <a:off x="457200" y="3822192"/>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221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785616"/>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Taproot commits a key to a tree: the key path shows one signature, the script path one script, and tapscript counts signatures one by one</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part's slides carry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26</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Checked 2026-10-08;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Bitcoin white paper (PDF)</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Nakamoto's nine pages of 31 October 2008  bitcoin.org</a:t>
            </a:r>
            <a:endParaRPr lang="en-US" sz="1000" dirty="0"/>
          </a:p>
        </p:txBody>
      </p:sp>
      <p:sp>
        <p:nvSpPr>
          <p:cNvPr id="9" name="Shape 7"/>
          <p:cNvSpPr/>
          <p:nvPr/>
        </p:nvSpPr>
        <p:spPr>
          <a:xfrm>
            <a:off x="493776" y="2121408"/>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Script (Bitcoin Wiki)</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Every opcode with its effect and status  en.bitcoin.it</a:t>
            </a:r>
            <a:endParaRPr lang="en-US" sz="1000" dirty="0"/>
          </a:p>
        </p:txBody>
      </p:sp>
      <p:sp>
        <p:nvSpPr>
          <p:cNvPr id="11" name="Text 9"/>
          <p:cNvSpPr txBox="1"/>
          <p:nvPr/>
        </p:nvSpPr>
        <p:spPr>
          <a:xfrm>
            <a:off x="457200" y="252374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Standards</a:t>
            </a:r>
            <a:endParaRPr lang="en-US" sz="1250" dirty="0"/>
          </a:p>
        </p:txBody>
      </p:sp>
      <p:sp>
        <p:nvSpPr>
          <p:cNvPr id="12" name="Shape 10"/>
          <p:cNvSpPr/>
          <p:nvPr/>
        </p:nvSpPr>
        <p:spPr>
          <a:xfrm>
            <a:off x="493776" y="2871216"/>
            <a:ext cx="82296" cy="82296"/>
          </a:xfrm>
          <a:prstGeom prst="ellipse">
            <a:avLst/>
          </a:prstGeom>
          <a:solidFill>
            <a:srgbClr val="D97A14"/>
          </a:solidFill>
          <a:ln w="12700">
            <a:solidFill>
              <a:srgbClr val="D97A14"/>
            </a:solidFill>
            <a:prstDash val="solid"/>
          </a:ln>
        </p:spPr>
      </p:sp>
      <p:sp>
        <p:nvSpPr>
          <p:cNvPr id="13" name="Text 11"/>
          <p:cNvSpPr txBox="1"/>
          <p:nvPr/>
        </p:nvSpPr>
        <p:spPr>
          <a:xfrm>
            <a:off x="658368" y="2798064"/>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BIP 66: Strict DER signatures (spec)</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rule behind the July 2015 fork  bips.dev</a:t>
            </a:r>
            <a:endParaRPr lang="en-US" sz="1000" dirty="0"/>
          </a:p>
        </p:txBody>
      </p:sp>
      <p:sp>
        <p:nvSpPr>
          <p:cNvPr id="14" name="Shape 12"/>
          <p:cNvSpPr/>
          <p:nvPr/>
        </p:nvSpPr>
        <p:spPr>
          <a:xfrm>
            <a:off x="493776" y="3273552"/>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BIP 141: Segregated Witness (spec)</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Witness programs and how they are validated  bips.dev</a:t>
            </a:r>
            <a:endParaRPr lang="en-US" sz="1000" dirty="0"/>
          </a:p>
        </p:txBody>
      </p:sp>
      <p:sp>
        <p:nvSpPr>
          <p:cNvPr id="16" name="Shape 14"/>
          <p:cNvSpPr/>
          <p:nvPr/>
        </p:nvSpPr>
        <p:spPr>
          <a:xfrm>
            <a:off x="493776" y="3675888"/>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60273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BIP 341: Taproot spending rules (spec)</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Key path, script path and the commitment  bips.dev</a:t>
            </a:r>
            <a:endParaRPr lang="en-US" sz="1000" dirty="0"/>
          </a:p>
        </p:txBody>
      </p:sp>
      <p:sp>
        <p:nvSpPr>
          <p:cNvPr id="18" name="Shape 16"/>
          <p:cNvSpPr/>
          <p:nvPr/>
        </p:nvSpPr>
        <p:spPr>
          <a:xfrm>
            <a:off x="493776" y="407822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4005072"/>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BIP 342: Tapscript validation (spec)</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script rules inside a taproot spend  bips.dev</a:t>
            </a:r>
            <a:endParaRPr lang="en-US" sz="1000" dirty="0"/>
          </a:p>
        </p:txBody>
      </p:sp>
      <p:sp>
        <p:nvSpPr>
          <p:cNvPr id="20" name="Text 18"/>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The stories</a:t>
            </a:r>
            <a:endParaRPr lang="en-US" sz="1250" dirty="0"/>
          </a:p>
        </p:txBody>
      </p:sp>
      <p:sp>
        <p:nvSpPr>
          <p:cNvPr id="21" name="Shape 19"/>
          <p:cNvSpPr/>
          <p:nvPr/>
        </p:nvSpPr>
        <p:spPr>
          <a:xfrm>
            <a:off x="4768596" y="1719072"/>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script.cpp of Bitcoin 0.3.0 (source)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early script engine, as it was released</a:t>
            </a:r>
            <a:endParaRPr lang="en-US" sz="1000" dirty="0"/>
          </a:p>
        </p:txBody>
      </p:sp>
      <p:sp>
        <p:nvSpPr>
          <p:cNvPr id="23" name="Shape 21"/>
          <p:cNvSpPr/>
          <p:nvPr/>
        </p:nvSpPr>
        <p:spPr>
          <a:xfrm>
            <a:off x="4768596" y="2121408"/>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CVE-2010-5141 entry (Bitcoin Wiki)</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early script bug, in the list of known vulnerabilities</a:t>
            </a:r>
            <a:endParaRPr lang="en-US" sz="1000" dirty="0"/>
          </a:p>
        </p:txBody>
      </p:sp>
      <p:sp>
        <p:nvSpPr>
          <p:cNvPr id="25" name="Shape 23"/>
          <p:cNvSpPr/>
          <p:nvPr/>
        </p:nvSpPr>
        <p:spPr>
          <a:xfrm>
            <a:off x="4768596" y="2523744"/>
            <a:ext cx="82296" cy="82296"/>
          </a:xfrm>
          <a:prstGeom prst="ellipse">
            <a:avLst/>
          </a:prstGeom>
          <a:solidFill>
            <a:srgbClr val="D97A14"/>
          </a:solidFill>
          <a:ln w="12700">
            <a:solidFill>
              <a:srgbClr val="D97A14"/>
            </a:solidFill>
            <a:prstDash val="solid"/>
          </a:ln>
        </p:spPr>
      </p:sp>
      <p:sp>
        <p:nvSpPr>
          <p:cNvPr id="26" name="Text 24"/>
          <p:cNvSpPr txBox="1"/>
          <p:nvPr/>
        </p:nvSpPr>
        <p:spPr>
          <a:xfrm>
            <a:off x="4933188" y="2450592"/>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Alert: Some Miners Generating Invalid Blocks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notice of 4 July 2015 about unvalidated blocks  bitcoin.org</a:t>
            </a:r>
            <a:endParaRPr lang="en-US" sz="1000" dirty="0"/>
          </a:p>
        </p:txBody>
      </p:sp>
      <p:sp>
        <p:nvSpPr>
          <p:cNvPr id="27" name="Text 25"/>
          <p:cNvSpPr txBox="1"/>
          <p:nvPr/>
        </p:nvSpPr>
        <p:spPr>
          <a:xfrm>
            <a:off x="4732020" y="292608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Tools</a:t>
            </a:r>
            <a:endParaRPr lang="en-US" sz="1250" dirty="0"/>
          </a:p>
        </p:txBody>
      </p:sp>
      <p:sp>
        <p:nvSpPr>
          <p:cNvPr id="28" name="Shape 26"/>
          <p:cNvSpPr/>
          <p:nvPr/>
        </p:nvSpPr>
        <p:spPr>
          <a:xfrm>
            <a:off x="4768596" y="3273552"/>
            <a:ext cx="82296" cy="82296"/>
          </a:xfrm>
          <a:prstGeom prst="ellipse">
            <a:avLst/>
          </a:prstGeom>
          <a:solidFill>
            <a:srgbClr val="D97A14"/>
          </a:solidFill>
          <a:ln w="12700">
            <a:solidFill>
              <a:srgbClr val="D97A14"/>
            </a:solidFill>
            <a:prstDash val="solid"/>
          </a:ln>
        </p:spPr>
      </p:sp>
      <p:sp>
        <p:nvSpPr>
          <p:cNvPr id="29" name="Text 27"/>
          <p:cNvSpPr txBox="1"/>
          <p:nvPr/>
        </p:nvSpPr>
        <p:spPr>
          <a:xfrm>
            <a:off x="493318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Optech topic: Taproot</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Summary of taproot with links to newsletters and code</a:t>
            </a:r>
            <a:endParaRPr lang="en-US" sz="1000" dirty="0"/>
          </a:p>
        </p:txBody>
      </p:sp>
      <p:sp>
        <p:nvSpPr>
          <p:cNvPr id="30" name="Shape 28"/>
          <p:cNvSpPr/>
          <p:nvPr/>
        </p:nvSpPr>
        <p:spPr>
          <a:xfrm>
            <a:off x="4768596" y="3675888"/>
            <a:ext cx="82296" cy="82296"/>
          </a:xfrm>
          <a:prstGeom prst="ellipse">
            <a:avLst/>
          </a:prstGeom>
          <a:solidFill>
            <a:srgbClr val="D97A14"/>
          </a:solidFill>
          <a:ln w="12700">
            <a:solidFill>
              <a:srgbClr val="D97A14"/>
            </a:solidFill>
            <a:prstDash val="solid"/>
          </a:ln>
        </p:spPr>
      </p:sp>
      <p:sp>
        <p:nvSpPr>
          <p:cNvPr id="31" name="Text 29"/>
          <p:cNvSpPr txBox="1"/>
          <p:nvPr/>
        </p:nvSpPr>
        <p:spPr>
          <a:xfrm>
            <a:off x="4933188" y="360273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Taproot (Bitcoin Wiki)</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Plain description of the taproot soft fork  en.bitcoin.it</a:t>
            </a:r>
            <a:endParaRPr lang="en-US" sz="100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Read the first engine beside today's rules and find where OP_RETURN changed</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26</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a locking and an unlocking script decide a spend</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a signature, a multisignature and a script hash are checked</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timelocks and conditionals shape who can spend, and when</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segwit and taproot change, and what a key path or script path reveals</a:t>
            </a:r>
            <a:endParaRPr lang="en-US" sz="1600" dirty="0"/>
          </a:p>
        </p:txBody>
      </p:sp>
      <p:sp>
        <p:nvSpPr>
          <p:cNvPr id="6" name="Text 4"/>
          <p:cNvSpPr txBox="1"/>
          <p:nvPr/>
        </p:nvSpPr>
        <p:spPr>
          <a:xfrm>
            <a:off x="548640" y="4407408"/>
            <a:ext cx="80467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7</dc:title>
  <dc:subject>PptxGenJS Presentation</dc:subject>
  <dc:creator>Yusuf Altunel</dc:creator>
  <cp:lastModifiedBy>Yusuf Altunel</cp:lastModifiedBy>
  <cp:revision>1</cp:revision>
  <dcterms:created xsi:type="dcterms:W3CDTF">2026-10-16T07:09:59Z</dcterms:created>
  <dcterms:modified xsi:type="dcterms:W3CDTF">2026-10-16T07:09:59Z</dcterms:modified>
  <cp:version>1.2.0</cp:version>
</cp:coreProperties>
</file>