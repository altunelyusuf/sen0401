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media/image-10-1.jpg" ContentType="image/jpg"/>
  <Override PartName="/ppt/media/image-18-1.jpg" ContentType="image/jpg"/>
  <Override PartName="/ppt/media/image-53-1.jpg" ContentType="image/jp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Lst>
  <p:notesMasterIdLst>
    <p:notesMasterId r:id="rId6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notesMaster" Target="notesMasters/notesMaster1.xml"/><Relationship Id="rId64" Type="http://schemas.openxmlformats.org/officeDocument/2006/relationships/presProps" Target="presProps.xml"/><Relationship Id="rId65" Type="http://schemas.openxmlformats.org/officeDocument/2006/relationships/viewProps" Target="viewProps.xml"/><Relationship Id="rId66" Type="http://schemas.openxmlformats.org/officeDocument/2006/relationships/theme" Target="theme/theme1.xml"/><Relationship Id="rId67"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inputs</c:v>
                </c:pt>
              </c:strCache>
            </c:strRef>
          </c:tx>
          <c:spPr>
            <a:solidFill>
              <a:srgbClr val="D97A14"/>
            </a:solidFill>
            <a:effectLst/>
          </c:spPr>
          <c:invertIfNegative val="0"/>
          <c:dLbls>
            <c:numFmt formatCode="General" sourceLinked="0"/>
            <c:txPr>
              <a:bodyPr/>
              <a:lstStyle/>
              <a:p>
                <a:pPr>
                  <a:defRPr b="0" i="0" strike="noStrike" sz="900" u="none">
                    <a:solidFill>
                      <a:srgbClr val="2B2622"/>
                    </a:solidFill>
                    <a:latin typeface="Calibri"/>
                  </a:defRPr>
                </a:pPr>
              </a:p>
            </c:txPr>
            <c:showLegendKey val="0"/>
            <c:showVal val="1"/>
            <c:showCatName val="0"/>
            <c:showSerName val="0"/>
            <c:showPercent val="0"/>
            <c:showBubbleSize val="0"/>
            <c:showLeaderLines val="0"/>
          </c:dLbls>
          <c:dPt>
            <c:idx val="0"/>
            <c:invertIfNegative val="0"/>
            <c:bubble3D val="0"/>
            <c:spPr>
              <a:solidFill>
                <a:srgbClr val="D97A14"/>
              </a:solidFill>
              <a:effectLst/>
            </c:spPr>
          </c:dPt>
          <c:dPt>
            <c:idx val="1"/>
            <c:invertIfNegative val="0"/>
            <c:bubble3D val="0"/>
            <c:spPr>
              <a:solidFill>
                <a:srgbClr val="2F6D62"/>
              </a:solidFill>
              <a:effectLst/>
            </c:spPr>
          </c:dPt>
          <c:dPt>
            <c:idx val="2"/>
            <c:invertIfNegative val="0"/>
            <c:bubble3D val="0"/>
            <c:spPr>
              <a:solidFill>
                <a:srgbClr val="D97A14"/>
              </a:solidFill>
              <a:effectLst/>
            </c:spPr>
          </c:dPt>
          <c:dPt>
            <c:idx val="3"/>
            <c:invertIfNegative val="0"/>
            <c:bubble3D val="0"/>
            <c:spPr>
              <a:solidFill>
                <a:srgbClr val="2F6D62"/>
              </a:solidFill>
              <a:effectLst/>
            </c:spPr>
          </c:dPt>
          <c:dPt>
            <c:idx val="4"/>
            <c:invertIfNegative val="0"/>
            <c:bubble3D val="0"/>
            <c:spPr>
              <a:solidFill>
                <a:srgbClr val="D97A14"/>
              </a:solidFill>
              <a:effectLst/>
            </c:spPr>
          </c:dPt>
          <c:dPt>
            <c:idx val="5"/>
            <c:invertIfNegative val="0"/>
            <c:bubble3D val="0"/>
            <c:spPr>
              <a:solidFill>
                <a:srgbClr val="2F6D62"/>
              </a:solidFill>
              <a:effectLst/>
            </c:spPr>
          </c:dPt>
          <c:dPt>
            <c:idx val="6"/>
            <c:invertIfNegative val="0"/>
            <c:bubble3D val="0"/>
            <c:spPr>
              <a:solidFill>
                <a:srgbClr val="D97A14"/>
              </a:solidFill>
              <a:effectLst/>
            </c:spPr>
          </c:dPt>
          <c:cat>
            <c:multiLvlStrRef>
              <c:f>Sheet1!$A$2:$A$8</c:f>
              <c:multiLvlStrCache>
                <c:ptCount val="7"/>
                <c:lvl>
                  <c:pt idx="0">
                    <c:v>P2WPKH</c:v>
                  </c:pt>
                  <c:pt idx="1">
                    <c:v>P2PKH</c:v>
                  </c:pt>
                  <c:pt idx="2">
                    <c:v>P2SH-P2WPKH</c:v>
                  </c:pt>
                  <c:pt idx="3">
                    <c:v>P2WSH</c:v>
                  </c:pt>
                  <c:pt idx="4">
                    <c:v>P2SH-P2WSH</c:v>
                  </c:pt>
                  <c:pt idx="5">
                    <c:v>P2SH multisig</c:v>
                  </c:pt>
                  <c:pt idx="6">
                    <c:v>taproot</c:v>
                  </c:pt>
                </c:lvl>
              </c:multiLvlStrCache>
            </c:multiLvlStrRef>
          </c:cat>
          <c:val>
            <c:numRef>
              <c:f>Sheet1!$B$2:$B$8</c:f>
              <c:numCache>
                <c:formatCode>General</c:formatCode>
                <c:ptCount val="7"/>
                <c:pt idx="0">
                  <c:v>626</c:v>
                </c:pt>
                <c:pt idx="1">
                  <c:v>194</c:v>
                </c:pt>
                <c:pt idx="2">
                  <c:v>95</c:v>
                </c:pt>
                <c:pt idx="3">
                  <c:v>57</c:v>
                </c:pt>
                <c:pt idx="4">
                  <c:v>34</c:v>
                </c:pt>
                <c:pt idx="5">
                  <c:v>10</c:v>
                </c:pt>
                <c:pt idx="6">
                  <c:v>6</c:v>
                </c:pt>
              </c:numCache>
            </c:numRef>
          </c:val>
        </c:ser>
        <c:dLbls>
          <c:numFmt formatCode="General" sourceLinked="0"/>
          <c:txPr>
            <a:bodyPr/>
            <a:lstStyle/>
            <a:p>
              <a:pPr>
                <a:defRPr b="0" i="0" strike="noStrike" sz="900" u="none">
                  <a:solidFill>
                    <a:srgbClr val="2B2622"/>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6E655C"/>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3DACB"/>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E655C"/>
                </a:solidFill>
                <a:latin typeface="Arial"/>
              </a:defRPr>
            </a:pPr>
            <a:endParaRPr lang="en-US"/>
          </a:p>
        </c:txPr>
        <c:crossAx val="2094734554"/>
        <c:crosses val="autoZero"/>
        <c:crossBetween val="between"/>
      </c:valAx>
      <c:spPr>
        <a:solidFill>
          <a:srgbClr val="FAF6EF"/>
        </a:solidFill>
        <a:ln>
          <a:noFill/>
        </a:ln>
        <a:effectLst/>
      </c:spPr>
    </c:plotArea>
    <c:plotVisOnly val="1"/>
    <c:dispBlanksAs val="span"/>
  </c:chart>
  <c:spPr>
    <a:solidFill>
      <a:srgbClr val="FAF6E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hashes in the proof</c:v>
                </c:pt>
              </c:strCache>
            </c:strRef>
          </c:tx>
          <c:spPr>
            <a:solidFill>
              <a:srgbClr val="D97A14"/>
            </a:solidFill>
            <a:effectLst/>
          </c:spPr>
          <c:invertIfNegative val="0"/>
          <c:dLbls>
            <c:numFmt formatCode="General" sourceLinked="0"/>
            <c:txPr>
              <a:bodyPr/>
              <a:lstStyle/>
              <a:p>
                <a:pPr>
                  <a:defRPr b="0" i="0" strike="noStrike" sz="900" u="none">
                    <a:solidFill>
                      <a:srgbClr val="2B2622"/>
                    </a:solidFill>
                    <a:latin typeface="Calibri"/>
                  </a:defRPr>
                </a:pPr>
              </a:p>
            </c:txPr>
            <c:showLegendKey val="0"/>
            <c:showVal val="1"/>
            <c:showCatName val="0"/>
            <c:showSerName val="0"/>
            <c:showPercent val="0"/>
            <c:showBubbleSize val="0"/>
            <c:showLeaderLines val="0"/>
          </c:dLbls>
          <c:dPt>
            <c:idx val="0"/>
            <c:invertIfNegative val="0"/>
            <c:bubble3D val="0"/>
            <c:spPr>
              <a:solidFill>
                <a:srgbClr val="D97A14"/>
              </a:solidFill>
              <a:effectLst/>
            </c:spPr>
          </c:dPt>
          <c:dPt>
            <c:idx val="1"/>
            <c:invertIfNegative val="0"/>
            <c:bubble3D val="0"/>
            <c:spPr>
              <a:solidFill>
                <a:srgbClr val="2F6D62"/>
              </a:solidFill>
              <a:effectLst/>
            </c:spPr>
          </c:dPt>
          <c:dPt>
            <c:idx val="2"/>
            <c:invertIfNegative val="0"/>
            <c:bubble3D val="0"/>
            <c:spPr>
              <a:solidFill>
                <a:srgbClr val="D97A14"/>
              </a:solidFill>
              <a:effectLst/>
            </c:spPr>
          </c:dPt>
          <c:dPt>
            <c:idx val="3"/>
            <c:invertIfNegative val="0"/>
            <c:bubble3D val="0"/>
            <c:spPr>
              <a:solidFill>
                <a:srgbClr val="2F6D62"/>
              </a:solidFill>
              <a:effectLst/>
            </c:spPr>
          </c:dPt>
          <c:cat>
            <c:multiLvlStrRef>
              <c:f>Sheet1!$A$2:$A$5</c:f>
              <c:multiLvlStrCache>
                <c:ptCount val="4"/>
                <c:lvl>
                  <c:pt idx="0">
                    <c:v>3</c:v>
                  </c:pt>
                  <c:pt idx="1">
                    <c:v>8</c:v>
                  </c:pt>
                  <c:pt idx="2">
                    <c:v>1,024</c:v>
                  </c:pt>
                  <c:pt idx="3">
                    <c:v>1,048,576</c:v>
                  </c:pt>
                </c:lvl>
              </c:multiLvlStrCache>
            </c:multiLvlStrRef>
          </c:cat>
          <c:val>
            <c:numRef>
              <c:f>Sheet1!$B$2:$B$5</c:f>
              <c:numCache>
                <c:formatCode>General</c:formatCode>
                <c:ptCount val="4"/>
                <c:pt idx="0">
                  <c:v>2</c:v>
                </c:pt>
                <c:pt idx="1">
                  <c:v>3</c:v>
                </c:pt>
                <c:pt idx="2">
                  <c:v>10</c:v>
                </c:pt>
                <c:pt idx="3">
                  <c:v>20</c:v>
                </c:pt>
              </c:numCache>
            </c:numRef>
          </c:val>
        </c:ser>
        <c:dLbls>
          <c:numFmt formatCode="General" sourceLinked="0"/>
          <c:txPr>
            <a:bodyPr/>
            <a:lstStyle/>
            <a:p>
              <a:pPr>
                <a:defRPr b="0" i="0" strike="noStrike" sz="900" u="none">
                  <a:solidFill>
                    <a:srgbClr val="2B2622"/>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6E655C"/>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3DACB"/>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E655C"/>
                </a:solidFill>
                <a:latin typeface="Arial"/>
              </a:defRPr>
            </a:pPr>
            <a:endParaRPr lang="en-US"/>
          </a:p>
        </c:txPr>
        <c:crossAx val="2094734554"/>
        <c:crosses val="autoZero"/>
        <c:crossBetween val="between"/>
      </c:valAx>
      <c:spPr>
        <a:solidFill>
          <a:srgbClr val="FAF6EF"/>
        </a:solidFill>
        <a:ln>
          <a:noFill/>
        </a:ln>
        <a:effectLst/>
      </c:spPr>
    </c:plotArea>
    <c:plotVisOnly val="1"/>
    <c:dispBlanksAs val="span"/>
  </c:chart>
  <c:spPr>
    <a:solidFill>
      <a:srgbClr val="FAF6EF"/>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taproot script path</c:v>
                </c:pt>
              </c:strCache>
            </c:strRef>
          </c:tx>
          <c:spPr>
            <a:solidFill>
              <a:srgbClr val="D97A14"/>
            </a:solidFill>
            <a:effectLst/>
          </c:spPr>
          <c:invertIfNegative val="0"/>
          <c:dLbls>
            <c:numFmt formatCode="General" sourceLinked="0"/>
            <c:txPr>
              <a:bodyPr/>
              <a:lstStyle/>
              <a:p>
                <a:pPr>
                  <a:defRPr b="0" i="0" strike="noStrike" sz="900" u="none">
                    <a:solidFill>
                      <a:srgbClr val="2B2622"/>
                    </a:solidFill>
                    <a:latin typeface="Calibri"/>
                  </a:defRPr>
                </a:pPr>
              </a:p>
            </c:txPr>
            <c:showLegendKey val="0"/>
            <c:showVal val="1"/>
            <c:showCatName val="0"/>
            <c:showSerName val="0"/>
            <c:showPercent val="0"/>
            <c:showBubbleSize val="0"/>
            <c:showLeaderLines val="0"/>
          </c:dLbls>
          <c:cat>
            <c:multiLvlStrRef>
              <c:f>Sheet1!$A$2:$A$4</c:f>
              <c:multiLvlStrCache>
                <c:ptCount val="3"/>
                <c:lvl>
                  <c:pt idx="0">
                    <c:v>path 1</c:v>
                  </c:pt>
                  <c:pt idx="1">
                    <c:v>path 2</c:v>
                  </c:pt>
                  <c:pt idx="2">
                    <c:v>path 3</c:v>
                  </c:pt>
                </c:lvl>
              </c:multiLvlStrCache>
            </c:multiLvlStrRef>
          </c:cat>
          <c:val>
            <c:numRef>
              <c:f>Sheet1!$B$2:$B$4</c:f>
              <c:numCache>
                <c:formatCode>General</c:formatCode>
                <c:ptCount val="3"/>
                <c:pt idx="0">
                  <c:v>577</c:v>
                </c:pt>
                <c:pt idx="1">
                  <c:v>617</c:v>
                </c:pt>
                <c:pt idx="2">
                  <c:v>414</c:v>
                </c:pt>
              </c:numCache>
            </c:numRef>
          </c:val>
        </c:ser>
        <c:ser>
          <c:idx val="1"/>
          <c:order val="1"/>
          <c:tx>
            <c:strRef>
              <c:f>Sheet1!$C$1</c:f>
              <c:strCache>
                <c:ptCount val="1"/>
                <c:pt idx="0">
                  <c:v>witness script hash</c:v>
                </c:pt>
              </c:strCache>
            </c:strRef>
          </c:tx>
          <c:spPr>
            <a:solidFill>
              <a:srgbClr val="2F6D62"/>
            </a:solidFill>
            <a:effectLst/>
          </c:spPr>
          <c:invertIfNegative val="0"/>
          <c:dLbls>
            <c:numFmt formatCode="General" sourceLinked="0"/>
            <c:txPr>
              <a:bodyPr/>
              <a:lstStyle/>
              <a:p>
                <a:pPr>
                  <a:defRPr b="0" i="0" strike="noStrike" sz="900" u="none">
                    <a:solidFill>
                      <a:srgbClr val="2B2622"/>
                    </a:solidFill>
                    <a:latin typeface="Calibri"/>
                  </a:defRPr>
                </a:pPr>
              </a:p>
            </c:txPr>
            <c:showLegendKey val="0"/>
            <c:showVal val="1"/>
            <c:showCatName val="0"/>
            <c:showSerName val="0"/>
            <c:showPercent val="0"/>
            <c:showBubbleSize val="0"/>
            <c:showLeaderLines val="0"/>
          </c:dLbls>
          <c:cat>
            <c:multiLvlStrRef>
              <c:f>Sheet1!$A$2:$A$4</c:f>
              <c:multiLvlStrCache>
                <c:ptCount val="3"/>
                <c:lvl>
                  <c:pt idx="0">
                    <c:v>path 1</c:v>
                  </c:pt>
                  <c:pt idx="1">
                    <c:v>path 2</c:v>
                  </c:pt>
                  <c:pt idx="2">
                    <c:v>path 3</c:v>
                  </c:pt>
                </c:lvl>
              </c:multiLvlStrCache>
            </c:multiLvlStrRef>
          </c:cat>
          <c:val>
            <c:numRef>
              <c:f>Sheet1!$C$2:$C$4</c:f>
              <c:numCache>
                <c:formatCode>General</c:formatCode>
                <c:ptCount val="3"/>
                <c:pt idx="0">
                  <c:v>585</c:v>
                </c:pt>
                <c:pt idx="1">
                  <c:v>584</c:v>
                </c:pt>
                <c:pt idx="2">
                  <c:v>509</c:v>
                </c:pt>
              </c:numCache>
            </c:numRef>
          </c:val>
        </c:ser>
        <c:dLbls>
          <c:numFmt formatCode="General" sourceLinked="0"/>
          <c:txPr>
            <a:bodyPr/>
            <a:lstStyle/>
            <a:p>
              <a:pPr>
                <a:defRPr b="0" i="0" strike="noStrike" sz="900" u="none">
                  <a:solidFill>
                    <a:srgbClr val="2B2622"/>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6E655C"/>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3DACB"/>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E655C"/>
                </a:solidFill>
                <a:latin typeface="Arial"/>
              </a:defRPr>
            </a:pPr>
            <a:endParaRPr lang="en-US"/>
          </a:p>
        </c:txPr>
        <c:crossAx val="2094734554"/>
        <c:crosses val="autoZero"/>
        <c:crossBetween val="between"/>
      </c:valAx>
      <c:spPr>
        <a:solidFill>
          <a:srgbClr val="FAF6EF"/>
        </a:solidFill>
        <a:ln>
          <a:noFill/>
        </a:ln>
        <a:effectLst/>
      </c:spPr>
    </c:plotArea>
    <c:plotVisOnly val="1"/>
    <c:dispBlanksAs val="span"/>
  </c:chart>
  <c:spPr>
    <a:solidFill>
      <a:srgbClr val="FAF6EF"/>
    </a:solid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deck explains how Bitcoin decides who may spend an output. The output carries a lock, the spender supplies the key, and every node runs both and accepts only a true result. Every spend shown ran in the chapter's own interpreter; no Bitcoin Core node was available where it was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route has nine parts that follow the order in which Bitcoin gained its spending conditions. Three true stories and fifteen code examples are spread across them. The examples are listed in the same order in the chapter code tab of the course page, so every slide can be rerun.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seven questions are the chapter's own, shortened so that each has an answer on a slide. We return to them in the summary. A reader who can answer all seven has understood the chapter.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chapter has nine parts and 87 concepts. Each part gets a divider, concept cards with everyday comparisons and code that runs, and some parts a true story. The deck follows the order in which Bitcoin gained its spending conditions.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coin is locked by a small program. This part shows the language, its stack and the two scripts that run one after the other. A bug of 2010 shows why they must run apart.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cards cover Transaction Scripts and Script Language, Turing Incompleteness, Stateless Verification and Script Construction. Each pairs a short meaning with something from everyday life, so that the idea can be retold in your own words. The full explanation is on the course page, chapter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reads its words from left to right. Numbers are pushed on the stack, and OP_ADD replaces the top two by their sum. OP_EQUAL compares the sum with five, so the spend is true with five and false with six. It is example 1 in the chapter code tab of the course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cards cover The script execution stack, A simple script, Separate execution of output and input scripts and script. Each pairs a short meaning with something from everyday life, so that the idea can be retold in your own words. The full explanation is on the course page, chapter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2010 the software joined the input script and the output script into one program. An input script of 1 then OP_RETURN ended the run with a true value before the lock ran. Today the scripts run apart. It is example 2 in the chapter code tab of the course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true story, dated 2010-07-28. On 28 July 2010 two bugs were discovered and demonstrated on the test network. The lesson: run the two scripts separately, and fail closed on anything unknown.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cards cover stack, Turing complete, output script and input script. Each pairs a short meaning with something from everyday life, so that the idea can be retold in your own words. The full explanation is on the course page, chapter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cards cover scriptSig and scriptPubKey. Each pairs a short meaning with something from everyday life, so that the idea can be retold in your own words. The full explanation is on the course page, chapter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common lock asks for a signature from one key. We lock a coin to the hash of a public key, check a signature, and see why the strict signature format caused a fork in 2015.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cards cover Pay to Public Key Hash, public key hash and OP_CHECKSIG. Each pairs a short meaning with something from everyday life, so that the idea can be retold in your own words. The full explanation is on the course page, chapter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lock holds the hash of a public key. The spender shows the key and a signature over the transaction. A wrong key fails, and so does a changed amount, because the signature covers the amount. It is example 3 in the chapter code tab of the course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cards cover signature hash, hash type and DER. Each pairs a short meaning with something from everyday life, so that the idea can be retold in your own words. The full explanation is on the course page, chapter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signature is two numbers, r and s, written in DER with a hash type at the end. A padded form was once accepted. Since BIP66 only the strict form is valid, which is the rule behind the fork of 2015. It is example 4 in the chapter code tab of the course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true story, dated 2015-07-04. BIP66 made strict DER the only valid encoding of a signature, and it took effect once 950 of the last 1,000 blocks were version 3, which happened early on 4 July 2015, at block 363,725. The lesson: a rule that you do not check for yourself protects nobody.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lock can ask for t signatures out of k keys. We run a real two-of-three spend, see why the signatures must follow the order of the keys, and meet the extra element that the opcode pops.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cards cover Scripted Multisignatures, An Oddity in CHECKMULTISIG Execution and multisignature. Each pairs a short meaning with something from everyday life, so that the idea can be retold in your own words. The full explanation is on the course page, chapter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two-of-three lock lists three keys and wants two signatures in the same order. A single signature fails. The opcode also pops one item too many, so a dummy sits in front and must be empty. It is example 5 in the chapter code tab of the course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cards cover OP_CHECKMULTISIG and dummy element. Each pairs a short meaning with something from everyday life, so that the idea can be retold in your own words. The full explanation is on the course page, chapter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long lock is costly for the payer. Pay to script hash puts only a hash in the output and lets the spender reveal the script. We build one and watch a wrong script fail.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cards cover Pay to Script Hash, P2SH Addresses and Benefits of P2SH. Each pairs a short meaning with something from everyday life, so that the idea can be retold in your own words. The full explanation is on the course page, chapter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output holds only the 20-byte hash of the script, so the payer pays for a short lock. The spender reveals the script, nodes hash it, compare, and then run it. A script that hashes differently fails. It is example 6 in the chapter code tab of the course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cards cover Redeem Script and Validation, redeem script and P2SH address. Each pairs a short meaning with something from everyday life, so that the idea can be retold in your own words. The full explanation is on the course page, chapter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special locks. One records a few bytes of data and can never be spent. The others make a coin wait, until a time or block, or for an age counted from the day it was mined.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cards cover Data Recording Output (OP_RETURN), Transaction Lock Time Limitations, Check Lock Time Verify (OP_CLTV) and Relative Timelocks. Each pairs a short meaning with something from everyday life, so that the idea can be retold in your own words. The full explanation is on the course page, chapter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script holds a block number. The spending transaction must carry a lock time of at least that number, and its sequence must not be final. One block too early fails, and so does a final sequence. It is example 7 in the chapter code tab of the course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cards cover Relative Timelocks with OP_CSV, OP_RETURN, data carrier output and lock time. Each pairs a short meaning with something from everyday life, so that the idea can be retold in your own words. The full explanation is on the course page, chapter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relative lock counts from the block that confirmed the coin. The input's sequence must reach 4,320 blocks, about thirty days, and the transaction must be version 2. Setting bit 31 turns the lock off. It is example 8 in the chapter code tab of the course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cards cover OP_CHECKLOCKTIMEVERIFY, sequence and OP_CHECKSEQUENCEVERIFY. Each pairs a short meaning with something from everyday life, so that the idea can be retold in your own words. The full explanation is on the course page, chapter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script can choose between paths, and a check can stop it early. We combine both in a capital account that partners open at once, a lawyer opens after thirty days, and the lawyer alone after ninety.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cards cover Scripts with Flow Control (Conditional Clauses), Conditional Clauses with VERIFY Opcodes, Using Flow Control in Scripts and Complex Script Example. Each pairs a short meaning with something from everyday life, so that the idea can be retold in your own words. The full explanation is on the course page, chapter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Mohammed's capital account uses OP_IF to pick a path. Two of three partners may spend at once. The lawyer with one partner must wait 4,320 blocks, and the lawyer alone 12,960. Each path runs for real. It is example 9 in the chapter code tab of the course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cards cover OP_IF, conditional clause, OP_VERIFY and Miniscript. Each pairs a short meaning with something from everyday life, so that the idea can be retold in your own words. The full explanation is on the course page, chapter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Segregated witness moves the proof out of the transaction identifier. We spend a witness key hash, look at what real inputs of one block spend, and see why this upgrade was a soft fork.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cards cover Segregated Witness Output and Transaction Examples, Pay to witness public key hash (P2WPKH), Wallet construction of P2WPKH and Pay to witness script hash (P2WSH). Each pairs a short meaning with something from everyday life, so that the idea can be retold in your own words. The full explanation is on the course page, chapter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witness key-hash output is 22 bytes. The signature and the key travel in the witness, not in the input script. They work directly and nested in a script hash, and the signature covers the amount. It is example 10 in the chapter code tab of the course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599 transactions of block 775,072 hold 1,022 inputs. Our interpreter verified each of them and sorted them by spending type. Segwit key hashes dominate, legacy key hashes follow, and taproot is still a handful.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cards cover Differentiating between P2WPKH and P2WSH, Upgrading to Segregated Witness, Embedding segregated witness inside P2SH and Nested pay to witness public key hash. Each pairs a short meaning with something from everyday life, so that the idea can be retold in your own words. The full explanation is on the course page, chapter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cards cover Nested pay to witness script hash, segregated witness, witness program and P2WPKH. Each pairs a short meaning with something from everyday life, so that the idea can be retold in your own words. The full explanation is on the course page, chapter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cards cover P2WSH, bech32, nested segregated witness and soft fork. Each pairs a short meaning with something from everyday life, so that the idea can be retold in your own words. The full explanation is on the course page, chapter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Segregated witness was a soft fork. Old nodes saw the new outputs as anyone-can-spend scripts and accepted the blocks, while upgraded nodes enforced the witness rules. That is why it could be activated without a split.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ideas that taproot combines. A tree of scripts is committed to by one hash, and a key can be tweaked to commit to hidden data, so many signers look like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cards cover Merklized Alternative Script Trees (MAST), Pay to Contract (P2C), Scriptless Multisignatures and Threshold Signatures and MAST. Each pairs a short meaning with something from everyday life, so that the idea can be retold in your own words. The full explanation is on the course page, chapter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spender reveals one script and the sibling hashes up to the root. Our three scripts need two, two and one. Every doubling of the tree adds one hash, so a tree of a million scripts needs twenty. It is example 11 in the chapter code tab of the course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cards cover merkle root, membership proof, key tweak and scriptless multisignature. Each pairs a short meaning with something from everyday life, so that the idea can be retold in your own words. The full explanation is on the course page, chapter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cards cover threshold signature and partial public key. Each pairs a short meaning with something from everyday life, so that the idea can be retold in your own words. The full explanation is on the course page, chapter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Taproot gives an output one key that hides a tree. We spend it by key and by script, count signatures with a new opcode, and end with a story of a patented signature.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cards cover Taproot, Tapscript, keypath spending and scriptpath spending. Each pairs a short meaning with something from everyday life, so that the idea can be retold in your own words. The full explanation is on the course page, chapter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taproot output holds one 32-byte key. Spending by key path needs a single 64-byte Schnorr signature, and nothing about the hidden scripts is revealed. A key that was not tweaked correctly is refused. It is example 12 in the chapter code tab of the course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true story, dated 2021-11-14. Claus Schnorr patented the signature algorithm he discovered and kept it out of open standards and open-source software for almost two decades, so cryptographers of the early 1990s built the DSA family that led to the ECDSA signatures Bitcoin used from its first release.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cards cover taproot internal key, taproot output key, leaf script and OP_CHECKSIGADD. Each pairs a short meaning with something from everyday life, so that the idea can be retold in your own words. The full explanation is on the course page, chapter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Spending by script path reveals one leaf script, its data and a control block with the proof. All three paths of the account script verify. Their weights are close to those of the same paths in a witness script hash. It is example 13 in the chapter code tab of the course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cards cover schnorr signature, OP_SUCCESS and mutual satisfaction. Each pairs a short meaning with something from everyday life, so that the idea can be retold in your own words. The full explanation is on the course page, chapter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Tapscript drops the old multisignature opcode. A script checks each key in turn and adds one to a counter per valid signature, then compares the counter with t. The script is a byte shorter than before. It is example 14 in the chapter code tab of the course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tapscript 87 opcode values are OP_SUCCESS: a script that contains one succeeds on sight. This leaves room for future soft forks. The disabled shift of the old language still fails in an old script. It is example 15 in the chapter code tab of the course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five lines are the deck in miniature. A line that feels unproven should send you back to its code slide, because every result in it was computed there. The chapter code tab of the course page lets you rerun all fifteen examples.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here is free to read or watch. A good exercise is to take any spend from the explorer and run it through the chapter's interpreter. The course page for chapter 7 carries the full resource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claims, each carried by runs of the chapter's own interpreter on slides of this deck. The course page for chapter 7 has every word behind them, the stories with their sources, and the question bank to test yourself.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hyperlink" Target="https://en.bitcoin.it/wiki/Common_Vulnerabilities_and_Exposures#CVE-2010-5141" TargetMode="External"/><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hyperlink" Target="https://bitcoin.org/en/alert/2015-07-04-spv-mining" TargetMode="External"/><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chart" Target="../charts/chart2.xml"/><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jpg"/><Relationship Id="rId2" Type="http://schemas.openxmlformats.org/officeDocument/2006/relationships/hyperlink" Target="https://mempool.space/block/0000000000000000000687bca986194dc2c1f949318629b44bb54ec0a94d8244" TargetMode="External"/><Relationship Id="rId3" Type="http://schemas.openxmlformats.org/officeDocument/2006/relationships/slideLayout" Target="../slideLayouts/slideLayout1.xml"/><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chart" Target="../charts/chart3.xml"/><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hyperlink" Target="https://bitcoin.org/bitcoin.pdf" TargetMode="External"/><Relationship Id="rId2" Type="http://schemas.openxmlformats.org/officeDocument/2006/relationships/hyperlink" Target="https://en.bitcoin.it/wiki/Script" TargetMode="External"/><Relationship Id="rId3" Type="http://schemas.openxmlformats.org/officeDocument/2006/relationships/hyperlink" Target="https://bitcoinops.org/en/topics/taproot/" TargetMode="External"/><Relationship Id="rId4" Type="http://schemas.openxmlformats.org/officeDocument/2006/relationships/hyperlink" Target="https://en.bitcoin.it/wiki/Taproot" TargetMode="External"/><Relationship Id="rId5" Type="http://schemas.openxmlformats.org/officeDocument/2006/relationships/hyperlink" Target="https://bips.dev/66/" TargetMode="External"/><Relationship Id="rId6" Type="http://schemas.openxmlformats.org/officeDocument/2006/relationships/hyperlink" Target="https://bips.dev/141/" TargetMode="External"/><Relationship Id="rId7" Type="http://schemas.openxmlformats.org/officeDocument/2006/relationships/hyperlink" Target="https://bips.dev/341/" TargetMode="External"/><Relationship Id="rId8" Type="http://schemas.openxmlformats.org/officeDocument/2006/relationships/hyperlink" Target="https://bips.dev/342/" TargetMode="External"/><Relationship Id="rId9" Type="http://schemas.openxmlformats.org/officeDocument/2006/relationships/hyperlink" Target="https://raw.githubusercontent.com/bitcoin/bitcoin/v0.3.0/script.cpp" TargetMode="External"/><Relationship Id="rId10" Type="http://schemas.openxmlformats.org/officeDocument/2006/relationships/hyperlink" Target="https://en.bitcoin.it/wiki/Common_Vulnerabilities_and_Exposures#CVE-2010-5141" TargetMode="External"/><Relationship Id="rId11" Type="http://schemas.openxmlformats.org/officeDocument/2006/relationships/hyperlink" Target="https://bitcoin.org/en/alert/2015-07-04-spv-mining" TargetMode="External"/><Relationship Id="rId12" Type="http://schemas.openxmlformats.org/officeDocument/2006/relationships/hyperlink" Target="https://bitcoin.stackexchange.com" TargetMode="External"/><Relationship Id="rId13" Type="http://schemas.openxmlformats.org/officeDocument/2006/relationships/hyperlink" Target="https://delvingbitcoin.org/" TargetMode="External"/><Relationship Id="rId14" Type="http://schemas.openxmlformats.org/officeDocument/2006/relationships/hyperlink" Target="https://www.youtube.com/embed/wybiVFdknhg" TargetMode="External"/><Relationship Id="rId15" Type="http://schemas.openxmlformats.org/officeDocument/2006/relationships/hyperlink" Target="https://www.youtube.com/embed/nXGe9_M5pjk" TargetMode="External"/><Relationship Id="rId16" Type="http://schemas.openxmlformats.org/officeDocument/2006/relationships/slideLayout" Target="../slideLayouts/slideLayout1.xml"/><Relationship Id="rId17"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6EF"/>
        </a:solidFill>
      </p:bgPr>
    </p:bg>
    <p:spTree>
      <p:nvGrpSpPr>
        <p:cNvPr id="1" name=""/>
        <p:cNvGrpSpPr/>
        <p:nvPr/>
      </p:nvGrpSpPr>
      <p:grpSpPr>
        <a:xfrm>
          <a:off x="0" y="0"/>
          <a:ext cx="0" cy="0"/>
          <a:chOff x="0" y="0"/>
          <a:chExt cx="0" cy="0"/>
        </a:xfrm>
      </p:grpSpPr>
      <p:sp>
        <p:nvSpPr>
          <p:cNvPr id="2" name="Shape 0"/>
          <p:cNvSpPr/>
          <p:nvPr/>
        </p:nvSpPr>
        <p:spPr>
          <a:xfrm>
            <a:off x="548640" y="960120"/>
            <a:ext cx="731520" cy="731520"/>
          </a:xfrm>
          <a:prstGeom prst="roundRect">
            <a:avLst>
              <a:gd name="adj" fmla="val 12500"/>
            </a:avLst>
          </a:prstGeom>
          <a:solidFill>
            <a:srgbClr val="2F6D62"/>
          </a:solidFill>
          <a:ln w="19050">
            <a:solidFill>
              <a:srgbClr val="D97A14"/>
            </a:solidFill>
            <a:prstDash val="solid"/>
          </a:ln>
        </p:spPr>
      </p:sp>
      <p:sp>
        <p:nvSpPr>
          <p:cNvPr id="3" name="Shape 1"/>
          <p:cNvSpPr/>
          <p:nvPr/>
        </p:nvSpPr>
        <p:spPr>
          <a:xfrm>
            <a:off x="1280160" y="1325880"/>
            <a:ext cx="228600" cy="0"/>
          </a:xfrm>
          <a:prstGeom prst="line">
            <a:avLst/>
          </a:prstGeom>
          <a:noFill/>
          <a:ln w="19050">
            <a:solidFill>
              <a:srgbClr val="D97A14"/>
            </a:solidFill>
            <a:prstDash val="solid"/>
          </a:ln>
        </p:spPr>
      </p:sp>
      <p:sp>
        <p:nvSpPr>
          <p:cNvPr id="4" name="Shape 2"/>
          <p:cNvSpPr/>
          <p:nvPr/>
        </p:nvSpPr>
        <p:spPr>
          <a:xfrm>
            <a:off x="1508760" y="960120"/>
            <a:ext cx="731520" cy="731520"/>
          </a:xfrm>
          <a:prstGeom prst="roundRect">
            <a:avLst>
              <a:gd name="adj" fmla="val 12500"/>
            </a:avLst>
          </a:prstGeom>
          <a:solidFill>
            <a:srgbClr val="2F6D62"/>
          </a:solidFill>
          <a:ln w="19050">
            <a:solidFill>
              <a:srgbClr val="D97A14"/>
            </a:solidFill>
            <a:prstDash val="solid"/>
          </a:ln>
        </p:spPr>
      </p:sp>
      <p:sp>
        <p:nvSpPr>
          <p:cNvPr id="5" name="Shape 3"/>
          <p:cNvSpPr/>
          <p:nvPr/>
        </p:nvSpPr>
        <p:spPr>
          <a:xfrm>
            <a:off x="2240280" y="1325880"/>
            <a:ext cx="228600" cy="0"/>
          </a:xfrm>
          <a:prstGeom prst="line">
            <a:avLst/>
          </a:prstGeom>
          <a:noFill/>
          <a:ln w="19050">
            <a:solidFill>
              <a:srgbClr val="D97A14"/>
            </a:solidFill>
            <a:prstDash val="solid"/>
          </a:ln>
        </p:spPr>
      </p:sp>
      <p:sp>
        <p:nvSpPr>
          <p:cNvPr id="6" name="Shape 4"/>
          <p:cNvSpPr/>
          <p:nvPr/>
        </p:nvSpPr>
        <p:spPr>
          <a:xfrm>
            <a:off x="2468880" y="960120"/>
            <a:ext cx="731520" cy="731520"/>
          </a:xfrm>
          <a:prstGeom prst="roundRect">
            <a:avLst>
              <a:gd name="adj" fmla="val 12500"/>
            </a:avLst>
          </a:prstGeom>
          <a:solidFill>
            <a:srgbClr val="D97A14"/>
          </a:solidFill>
          <a:ln w="19050">
            <a:solidFill>
              <a:srgbClr val="D97A14"/>
            </a:solidFill>
            <a:prstDash val="solid"/>
          </a:ln>
        </p:spPr>
      </p:sp>
      <p:sp>
        <p:nvSpPr>
          <p:cNvPr id="7" name="Text 5"/>
          <p:cNvSpPr txBox="1"/>
          <p:nvPr/>
        </p:nvSpPr>
        <p:spPr>
          <a:xfrm>
            <a:off x="2468880" y="960120"/>
            <a:ext cx="731520" cy="731520"/>
          </a:xfrm>
          <a:prstGeom prst="rect">
            <a:avLst/>
          </a:prstGeom>
          <a:noFill/>
          <a:ln/>
        </p:spPr>
        <p:txBody>
          <a:bodyPr wrap="square" lIns="0" tIns="0" rIns="0" bIns="0" rtlCol="0" anchor="ctr"/>
          <a:lstStyle/>
          <a:p>
            <a:pPr algn="ctr" indent="0" marL="0">
              <a:buNone/>
            </a:pPr>
            <a:r>
              <a:rPr lang="en-US" sz="3000" b="1" dirty="0">
                <a:solidFill>
                  <a:srgbClr val="FFFFFF"/>
                </a:solidFill>
                <a:latin typeface="Calibri" pitchFamily="34" charset="0"/>
                <a:ea typeface="Calibri" pitchFamily="34" charset="-122"/>
                <a:cs typeface="Calibri" pitchFamily="34" charset="-120"/>
              </a:rPr>
              <a:t>₿</a:t>
            </a:r>
            <a:endParaRPr lang="en-US" sz="3000" dirty="0"/>
          </a:p>
        </p:txBody>
      </p:sp>
      <p:sp>
        <p:nvSpPr>
          <p:cNvPr id="8" name="Text 6"/>
          <p:cNvSpPr txBox="1"/>
          <p:nvPr/>
        </p:nvSpPr>
        <p:spPr>
          <a:xfrm>
            <a:off x="548640" y="2011680"/>
            <a:ext cx="8046720" cy="731520"/>
          </a:xfrm>
          <a:prstGeom prst="rect">
            <a:avLst/>
          </a:prstGeom>
          <a:noFill/>
          <a:ln/>
        </p:spPr>
        <p:txBody>
          <a:bodyPr wrap="square" lIns="0" tIns="0" rIns="0" bIns="0" rtlCol="0" anchor="ctr"/>
          <a:lstStyle/>
          <a:p>
            <a:pPr indent="0" marL="0">
              <a:buNone/>
            </a:pPr>
            <a:r>
              <a:rPr lang="en-US" sz="3600" b="1" dirty="0">
                <a:solidFill>
                  <a:srgbClr val="2B2622"/>
                </a:solidFill>
                <a:latin typeface="Cambria" pitchFamily="34" charset="0"/>
                <a:ea typeface="Cambria" pitchFamily="34" charset="-122"/>
                <a:cs typeface="Cambria" pitchFamily="34" charset="-120"/>
              </a:rPr>
              <a:t>Chapter 7: Scripts and Signatures</a:t>
            </a:r>
            <a:endParaRPr lang="en-US" sz="3600" dirty="0"/>
          </a:p>
        </p:txBody>
      </p:sp>
      <p:sp>
        <p:nvSpPr>
          <p:cNvPr id="9" name="Text 7"/>
          <p:cNvSpPr txBox="1"/>
          <p:nvPr/>
        </p:nvSpPr>
        <p:spPr>
          <a:xfrm>
            <a:off x="548640" y="2743200"/>
            <a:ext cx="8046720" cy="640080"/>
          </a:xfrm>
          <a:prstGeom prst="rect">
            <a:avLst/>
          </a:prstGeom>
          <a:noFill/>
          <a:ln/>
        </p:spPr>
        <p:txBody>
          <a:bodyPr wrap="square" lIns="0" tIns="0" rIns="0" bIns="0" rtlCol="0" anchor="t"/>
          <a:lstStyle/>
          <a:p>
            <a:pPr indent="0" marL="0">
              <a:buNone/>
            </a:pPr>
            <a:r>
              <a:rPr lang="en-US" sz="1600" i="1" dirty="0">
                <a:solidFill>
                  <a:srgbClr val="2F6D62"/>
                </a:solidFill>
                <a:latin typeface="Calibri" pitchFamily="34" charset="0"/>
                <a:ea typeface="Calibri" pitchFamily="34" charset="-122"/>
                <a:cs typeface="Calibri" pitchFamily="34" charset="-120"/>
              </a:rPr>
              <a:t>Authorization and authentication: scripts that lock coins, signatures that unlock them</a:t>
            </a:r>
            <a:endParaRPr lang="en-US" sz="1600" dirty="0"/>
          </a:p>
        </p:txBody>
      </p:sp>
      <p:sp>
        <p:nvSpPr>
          <p:cNvPr id="10" name="Text 8"/>
          <p:cNvSpPr txBox="1"/>
          <p:nvPr/>
        </p:nvSpPr>
        <p:spPr>
          <a:xfrm>
            <a:off x="548640" y="4224528"/>
            <a:ext cx="8046720" cy="411480"/>
          </a:xfrm>
          <a:prstGeom prst="rect">
            <a:avLst/>
          </a:prstGeom>
          <a:noFill/>
          <a:ln/>
        </p:spPr>
        <p:txBody>
          <a:bodyPr wrap="square" lIns="0" tIns="0" rIns="0" bIns="0" rtlCol="0" anchor="ctr"/>
          <a:lstStyle/>
          <a:p>
            <a:pPr indent="0" marL="0">
              <a:buNone/>
            </a:pPr>
            <a:r>
              <a:rPr lang="en-US" sz="1200" dirty="0">
                <a:solidFill>
                  <a:srgbClr val="6E655C"/>
                </a:solidFill>
                <a:latin typeface="Calibri" pitchFamily="34" charset="0"/>
                <a:ea typeface="Calibri" pitchFamily="34" charset="-122"/>
                <a:cs typeface="Calibri" pitchFamily="34" charset="-120"/>
              </a:rPr>
              <a:t>SEN0401 Special Topics in Software Engineering: Block Chain · Fall 2026 · Yusuf Altunel, PhD · İstanbul Kültür University</a:t>
            </a:r>
            <a:endParaRPr lang="en-US" sz="1200" dirty="0"/>
          </a:p>
        </p:txBody>
      </p:sp>
      <p:pic>
        <p:nvPicPr>
          <p:cNvPr id="11" name="Image 0" descr="../../03-materials/ch07/assets/mbc3_0701.png">    </p:cNvPr>
          <p:cNvPicPr>
            <a:picLocks noChangeAspect="1"/>
          </p:cNvPicPr>
          <p:nvPr/>
        </p:nvPicPr>
        <p:blipFill>
          <a:blip r:embed="rId1"/>
          <a:srcRect l="0" r="0" t="0" b="0"/>
          <a:stretch/>
        </p:blipFill>
        <p:spPr>
          <a:xfrm>
            <a:off x="3749040" y="411480"/>
            <a:ext cx="4937760" cy="1097280"/>
          </a:xfrm>
          <a:prstGeom prst="rect">
            <a:avLst/>
          </a:prstGeom>
        </p:spPr>
      </p:pic>
      <p:sp>
        <p:nvSpPr>
          <p:cNvPr id="12" name="Text 9"/>
          <p:cNvSpPr txBox="1"/>
          <p:nvPr/>
        </p:nvSpPr>
        <p:spPr>
          <a:xfrm>
            <a:off x="548640" y="3749040"/>
            <a:ext cx="8046720" cy="365760"/>
          </a:xfrm>
          <a:prstGeom prst="rect">
            <a:avLst/>
          </a:prstGeom>
          <a:noFill/>
          <a:ln/>
        </p:spPr>
        <p:txBody>
          <a:bodyPr wrap="square" lIns="0" tIns="0" rIns="0" bIns="0" rtlCol="0" anchor="t"/>
          <a:lstStyle/>
          <a:p>
            <a:pPr indent="0" marL="0">
              <a:buNone/>
            </a:pPr>
            <a:r>
              <a:rPr lang="en-US" sz="1000" i="1" dirty="0">
                <a:solidFill>
                  <a:srgbClr val="6E655C"/>
                </a:solidFill>
                <a:latin typeface="Calibri" pitchFamily="34" charset="0"/>
                <a:ea typeface="Calibri" pitchFamily="34" charset="-122"/>
                <a:cs typeface="Calibri" pitchFamily="34" charset="-120"/>
              </a:rPr>
              <a:t>Figure: locking and unlocking scripts, Antonopoulos and Harding, Mastering Bitcoin 3e, CC BY-SA 4.0. Python 3.14.6, no Bitcoin Core node.</a:t>
            </a:r>
            <a:endParaRPr lang="en-US" sz="1000" dirty="0"/>
          </a:p>
        </p:txBody>
      </p:sp>
      <p:sp>
        <p:nvSpPr>
          <p:cNvPr id="13" name="Text 10"/>
          <p:cNvSpPr txBox="1"/>
          <p:nvPr/>
        </p:nvSpPr>
        <p:spPr>
          <a:xfrm>
            <a:off x="7863840" y="4645152"/>
            <a:ext cx="868680" cy="310896"/>
          </a:xfrm>
          <a:prstGeom prst="rect">
            <a:avLst/>
          </a:prstGeom>
          <a:noFill/>
          <a:ln/>
        </p:spPr>
        <p:txBody>
          <a:bodyPr wrap="square" lIns="0" tIns="0" rIns="0" bIns="0" rtlCol="0" anchor="ctr"/>
          <a:lstStyle/>
          <a:p>
            <a:pPr algn="r" indent="0" marL="0">
              <a:buNone/>
            </a:pPr>
            <a:r>
              <a:rPr lang="en-US" sz="1100" dirty="0">
                <a:solidFill>
                  <a:srgbClr val="6E655C"/>
                </a:solidFill>
                <a:latin typeface="Calibri" pitchFamily="34" charset="0"/>
                <a:ea typeface="Calibri" pitchFamily="34" charset="-122"/>
                <a:cs typeface="Calibri" pitchFamily="34" charset="-120"/>
              </a:rPr>
              <a:t>1 / 61</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6EF"/>
        </a:solidFill>
      </p:bgPr>
    </p:bg>
    <p:spTree>
      <p:nvGrpSpPr>
        <p:cNvPr id="1" name=""/>
        <p:cNvGrpSpPr/>
        <p:nvPr/>
      </p:nvGrpSpPr>
      <p:grpSpPr>
        <a:xfrm>
          <a:off x="0" y="0"/>
          <a:ext cx="0" cy="0"/>
          <a:chOff x="0" y="0"/>
          <a:chExt cx="0" cy="0"/>
        </a:xfrm>
      </p:grpSpPr>
      <p:sp>
        <p:nvSpPr>
          <p:cNvPr id="2" name="Shape 0"/>
          <p:cNvSpPr/>
          <p:nvPr/>
        </p:nvSpPr>
        <p:spPr>
          <a:xfrm>
            <a:off x="457200" y="347472"/>
            <a:ext cx="566928" cy="384048"/>
          </a:xfrm>
          <a:prstGeom prst="roundRect">
            <a:avLst>
              <a:gd name="adj" fmla="val 19048"/>
            </a:avLst>
          </a:prstGeom>
          <a:solidFill>
            <a:srgbClr val="D97A14"/>
          </a:solidFill>
          <a:ln w="12700">
            <a:solidFill>
              <a:srgbClr val="D97A14"/>
            </a:solidFill>
            <a:prstDash val="solid"/>
          </a:ln>
        </p:spPr>
      </p:sp>
      <p:sp>
        <p:nvSpPr>
          <p:cNvPr id="3" name="Text 1"/>
          <p:cNvSpPr txBox="1"/>
          <p:nvPr/>
        </p:nvSpPr>
        <p:spPr>
          <a:xfrm>
            <a:off x="457200" y="347472"/>
            <a:ext cx="56692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4" name="Text 2"/>
          <p:cNvSpPr txBox="1"/>
          <p:nvPr/>
        </p:nvSpPr>
        <p:spPr>
          <a:xfrm>
            <a:off x="1143000" y="237744"/>
            <a:ext cx="7543800" cy="566928"/>
          </a:xfrm>
          <a:prstGeom prst="rect">
            <a:avLst/>
          </a:prstGeom>
          <a:noFill/>
          <a:ln/>
        </p:spPr>
        <p:txBody>
          <a:bodyPr wrap="square" lIns="0" tIns="0" rIns="0" bIns="0" rtlCol="0" anchor="ctr"/>
          <a:lstStyle/>
          <a:p>
            <a:pPr indent="0" marL="0">
              <a:buNone/>
            </a:pPr>
            <a:r>
              <a:rPr lang="en-US" sz="2800" b="1" dirty="0">
                <a:solidFill>
                  <a:srgbClr val="2B2622"/>
                </a:solidFill>
                <a:latin typeface="Cambria" pitchFamily="34" charset="0"/>
                <a:ea typeface="Cambria" pitchFamily="34" charset="-122"/>
                <a:cs typeface="Cambria" pitchFamily="34" charset="-120"/>
              </a:rPr>
              <a:t>Today's route</a:t>
            </a:r>
            <a:endParaRPr lang="en-US" sz="2800" dirty="0"/>
          </a:p>
        </p:txBody>
      </p:sp>
      <p:sp>
        <p:nvSpPr>
          <p:cNvPr id="5" name="Text 3"/>
          <p:cNvSpPr txBox="1"/>
          <p:nvPr/>
        </p:nvSpPr>
        <p:spPr>
          <a:xfrm>
            <a:off x="1143000" y="786384"/>
            <a:ext cx="7543800" cy="310896"/>
          </a:xfrm>
          <a:prstGeom prst="rect">
            <a:avLst/>
          </a:prstGeom>
          <a:noFill/>
          <a:ln/>
        </p:spPr>
        <p:txBody>
          <a:bodyPr wrap="square" lIns="0" tIns="0" rIns="0" bIns="0" rtlCol="0" anchor="ctr"/>
          <a:lstStyle/>
          <a:p>
            <a:pPr indent="0" marL="0">
              <a:buNone/>
            </a:pPr>
            <a:r>
              <a:rPr lang="en-US" sz="1300" i="1" dirty="0">
                <a:solidFill>
                  <a:srgbClr val="6E655C"/>
                </a:solidFill>
                <a:latin typeface="Calibri" pitchFamily="34" charset="0"/>
                <a:ea typeface="Calibri" pitchFamily="34" charset="-122"/>
                <a:cs typeface="Calibri" pitchFamily="34" charset="-120"/>
              </a:rPr>
              <a:t>Nine parts; every number is a slide you can jump to</a:t>
            </a:r>
            <a:endParaRPr lang="en-US" sz="1300" dirty="0"/>
          </a:p>
        </p:txBody>
      </p:sp>
      <p:sp>
        <p:nvSpPr>
          <p:cNvPr id="6" name="Shape 4"/>
          <p:cNvSpPr/>
          <p:nvPr/>
        </p:nvSpPr>
        <p:spPr>
          <a:xfrm>
            <a:off x="457200" y="1280160"/>
            <a:ext cx="1822704" cy="704088"/>
          </a:xfrm>
          <a:prstGeom prst="roundRect">
            <a:avLst>
              <a:gd name="adj" fmla="val 10390"/>
            </a:avLst>
          </a:prstGeom>
          <a:solidFill>
            <a:srgbClr val="F2ECE1"/>
          </a:solidFill>
          <a:ln w="12700">
            <a:solidFill>
              <a:srgbClr val="DFD6C7"/>
            </a:solidFill>
            <a:prstDash val="solid"/>
          </a:ln>
        </p:spPr>
      </p:sp>
      <p:sp>
        <p:nvSpPr>
          <p:cNvPr id="7" name="Text 5"/>
          <p:cNvSpPr txBox="1"/>
          <p:nvPr/>
        </p:nvSpPr>
        <p:spPr>
          <a:xfrm>
            <a:off x="548640" y="1335024"/>
            <a:ext cx="1639824" cy="594360"/>
          </a:xfrm>
          <a:prstGeom prst="rect">
            <a:avLst/>
          </a:prstGeom>
          <a:noFill/>
          <a:ln/>
        </p:spPr>
        <p:txBody>
          <a:bodyPr wrap="square" lIns="0" tIns="0" rIns="0" bIns="0" rtlCol="0" anchor="ctr"/>
          <a:lstStyle/>
          <a:p>
            <a:pPr algn="ctr" indent="0" marL="0">
              <a:buNone/>
            </a:pPr>
            <a:r>
              <a:rPr lang="en-US" sz="1100" b="1" dirty="0">
                <a:solidFill>
                  <a:srgbClr val="2B2622"/>
                </a:solidFill>
                <a:latin typeface="Calibri" pitchFamily="34" charset="0"/>
                <a:ea typeface="Calibri" pitchFamily="34" charset="-122"/>
                <a:cs typeface="Calibri" pitchFamily="34" charset="-120"/>
              </a:rPr>
              <a:t>1. Questions and the chapter map</a:t>
            </a:r>
            <a:endParaRPr lang="en-US" sz="1100" dirty="0"/>
          </a:p>
          <a:p>
            <a:pPr algn="ctr" indent="0" marL="0">
              <a:buNone/>
            </a:pPr>
            <a:r>
              <a:rPr lang="en-US" sz="1000" dirty="0">
                <a:solidFill>
                  <a:srgbClr val="6E655C"/>
                </a:solidFill>
                <a:latin typeface="Calibri" pitchFamily="34" charset="0"/>
                <a:ea typeface="Calibri" pitchFamily="34" charset="-122"/>
                <a:cs typeface="Calibri" pitchFamily="34" charset="-120"/>
              </a:rPr>
              <a:t>(slides 3-4)</a:t>
            </a:r>
            <a:endParaRPr lang="en-US" sz="1100" dirty="0"/>
          </a:p>
        </p:txBody>
      </p:sp>
      <p:sp>
        <p:nvSpPr>
          <p:cNvPr id="8" name="Shape 6"/>
          <p:cNvSpPr/>
          <p:nvPr/>
        </p:nvSpPr>
        <p:spPr>
          <a:xfrm>
            <a:off x="2426208" y="1280160"/>
            <a:ext cx="1822704" cy="704088"/>
          </a:xfrm>
          <a:prstGeom prst="roundRect">
            <a:avLst>
              <a:gd name="adj" fmla="val 10390"/>
            </a:avLst>
          </a:prstGeom>
          <a:solidFill>
            <a:srgbClr val="F2ECE1"/>
          </a:solidFill>
          <a:ln w="12700">
            <a:solidFill>
              <a:srgbClr val="DFD6C7"/>
            </a:solidFill>
            <a:prstDash val="solid"/>
          </a:ln>
        </p:spPr>
      </p:sp>
      <p:sp>
        <p:nvSpPr>
          <p:cNvPr id="9" name="Text 7"/>
          <p:cNvSpPr txBox="1"/>
          <p:nvPr/>
        </p:nvSpPr>
        <p:spPr>
          <a:xfrm>
            <a:off x="2517648" y="1335024"/>
            <a:ext cx="1639824" cy="594360"/>
          </a:xfrm>
          <a:prstGeom prst="rect">
            <a:avLst/>
          </a:prstGeom>
          <a:noFill/>
          <a:ln/>
        </p:spPr>
        <p:txBody>
          <a:bodyPr wrap="square" lIns="0" tIns="0" rIns="0" bIns="0" rtlCol="0" anchor="ctr"/>
          <a:lstStyle/>
          <a:p>
            <a:pPr algn="ctr" indent="0" marL="0">
              <a:buNone/>
            </a:pPr>
            <a:r>
              <a:rPr lang="en-US" sz="1100" b="1" dirty="0">
                <a:solidFill>
                  <a:srgbClr val="2B2622"/>
                </a:solidFill>
                <a:latin typeface="Calibri" pitchFamily="34" charset="0"/>
                <a:ea typeface="Calibri" pitchFamily="34" charset="-122"/>
                <a:cs typeface="Calibri" pitchFamily="34" charset="-120"/>
              </a:rPr>
              <a:t>2. Scripts and the Script language</a:t>
            </a:r>
            <a:endParaRPr lang="en-US" sz="1100" dirty="0"/>
          </a:p>
          <a:p>
            <a:pPr algn="ctr" indent="0" marL="0">
              <a:buNone/>
            </a:pPr>
            <a:r>
              <a:rPr lang="en-US" sz="1000" dirty="0">
                <a:solidFill>
                  <a:srgbClr val="6E655C"/>
                </a:solidFill>
                <a:latin typeface="Calibri" pitchFamily="34" charset="0"/>
                <a:ea typeface="Calibri" pitchFamily="34" charset="-122"/>
                <a:cs typeface="Calibri" pitchFamily="34" charset="-120"/>
              </a:rPr>
              <a:t>(slides 5-12)</a:t>
            </a:r>
            <a:endParaRPr lang="en-US" sz="1100" dirty="0"/>
          </a:p>
        </p:txBody>
      </p:sp>
      <p:sp>
        <p:nvSpPr>
          <p:cNvPr id="10" name="Shape 8"/>
          <p:cNvSpPr/>
          <p:nvPr/>
        </p:nvSpPr>
        <p:spPr>
          <a:xfrm>
            <a:off x="4395216" y="1280160"/>
            <a:ext cx="1822704" cy="704088"/>
          </a:xfrm>
          <a:prstGeom prst="roundRect">
            <a:avLst>
              <a:gd name="adj" fmla="val 10390"/>
            </a:avLst>
          </a:prstGeom>
          <a:solidFill>
            <a:srgbClr val="F2ECE1"/>
          </a:solidFill>
          <a:ln w="12700">
            <a:solidFill>
              <a:srgbClr val="DFD6C7"/>
            </a:solidFill>
            <a:prstDash val="solid"/>
          </a:ln>
        </p:spPr>
      </p:sp>
      <p:sp>
        <p:nvSpPr>
          <p:cNvPr id="11" name="Text 9"/>
          <p:cNvSpPr txBox="1"/>
          <p:nvPr/>
        </p:nvSpPr>
        <p:spPr>
          <a:xfrm>
            <a:off x="4486656" y="1335024"/>
            <a:ext cx="1639824" cy="594360"/>
          </a:xfrm>
          <a:prstGeom prst="rect">
            <a:avLst/>
          </a:prstGeom>
          <a:noFill/>
          <a:ln/>
        </p:spPr>
        <p:txBody>
          <a:bodyPr wrap="square" lIns="0" tIns="0" rIns="0" bIns="0" rtlCol="0" anchor="ctr"/>
          <a:lstStyle/>
          <a:p>
            <a:pPr algn="ctr" indent="0" marL="0">
              <a:buNone/>
            </a:pPr>
            <a:r>
              <a:rPr lang="en-US" sz="1100" b="1" dirty="0">
                <a:solidFill>
                  <a:srgbClr val="2B2622"/>
                </a:solidFill>
                <a:latin typeface="Calibri" pitchFamily="34" charset="0"/>
                <a:ea typeface="Calibri" pitchFamily="34" charset="-122"/>
                <a:cs typeface="Calibri" pitchFamily="34" charset="-120"/>
              </a:rPr>
              <a:t>3. Locking a coin to a key</a:t>
            </a:r>
            <a:endParaRPr lang="en-US" sz="1100" dirty="0"/>
          </a:p>
          <a:p>
            <a:pPr algn="ctr" indent="0" marL="0">
              <a:buNone/>
            </a:pPr>
            <a:r>
              <a:rPr lang="en-US" sz="1000" dirty="0">
                <a:solidFill>
                  <a:srgbClr val="6E655C"/>
                </a:solidFill>
                <a:latin typeface="Calibri" pitchFamily="34" charset="0"/>
                <a:ea typeface="Calibri" pitchFamily="34" charset="-122"/>
                <a:cs typeface="Calibri" pitchFamily="34" charset="-120"/>
              </a:rPr>
              <a:t>(slides 13-18)</a:t>
            </a:r>
            <a:endParaRPr lang="en-US" sz="1100" dirty="0"/>
          </a:p>
        </p:txBody>
      </p:sp>
      <p:sp>
        <p:nvSpPr>
          <p:cNvPr id="12" name="Shape 10"/>
          <p:cNvSpPr/>
          <p:nvPr/>
        </p:nvSpPr>
        <p:spPr>
          <a:xfrm>
            <a:off x="457200" y="2112264"/>
            <a:ext cx="1822704" cy="704088"/>
          </a:xfrm>
          <a:prstGeom prst="roundRect">
            <a:avLst>
              <a:gd name="adj" fmla="val 10390"/>
            </a:avLst>
          </a:prstGeom>
          <a:solidFill>
            <a:srgbClr val="F2ECE1"/>
          </a:solidFill>
          <a:ln w="12700">
            <a:solidFill>
              <a:srgbClr val="DFD6C7"/>
            </a:solidFill>
            <a:prstDash val="solid"/>
          </a:ln>
        </p:spPr>
      </p:sp>
      <p:sp>
        <p:nvSpPr>
          <p:cNvPr id="13" name="Text 11"/>
          <p:cNvSpPr txBox="1"/>
          <p:nvPr/>
        </p:nvSpPr>
        <p:spPr>
          <a:xfrm>
            <a:off x="548640" y="2167128"/>
            <a:ext cx="1639824" cy="594360"/>
          </a:xfrm>
          <a:prstGeom prst="rect">
            <a:avLst/>
          </a:prstGeom>
          <a:noFill/>
          <a:ln/>
        </p:spPr>
        <p:txBody>
          <a:bodyPr wrap="square" lIns="0" tIns="0" rIns="0" bIns="0" rtlCol="0" anchor="ctr"/>
          <a:lstStyle/>
          <a:p>
            <a:pPr algn="ctr" indent="0" marL="0">
              <a:buNone/>
            </a:pPr>
            <a:r>
              <a:rPr lang="en-US" sz="1100" b="1" dirty="0">
                <a:solidFill>
                  <a:srgbClr val="2B2622"/>
                </a:solidFill>
                <a:latin typeface="Calibri" pitchFamily="34" charset="0"/>
                <a:ea typeface="Calibri" pitchFamily="34" charset="-122"/>
                <a:cs typeface="Calibri" pitchFamily="34" charset="-120"/>
              </a:rPr>
              <a:t>4. Scripted multisignatures</a:t>
            </a:r>
            <a:endParaRPr lang="en-US" sz="1100" dirty="0"/>
          </a:p>
          <a:p>
            <a:pPr algn="ctr" indent="0" marL="0">
              <a:buNone/>
            </a:pPr>
            <a:r>
              <a:rPr lang="en-US" sz="1000" dirty="0">
                <a:solidFill>
                  <a:srgbClr val="6E655C"/>
                </a:solidFill>
                <a:latin typeface="Calibri" pitchFamily="34" charset="0"/>
                <a:ea typeface="Calibri" pitchFamily="34" charset="-122"/>
                <a:cs typeface="Calibri" pitchFamily="34" charset="-120"/>
              </a:rPr>
              <a:t>(slides 19-22)</a:t>
            </a:r>
            <a:endParaRPr lang="en-US" sz="1100" dirty="0"/>
          </a:p>
        </p:txBody>
      </p:sp>
      <p:sp>
        <p:nvSpPr>
          <p:cNvPr id="14" name="Shape 12"/>
          <p:cNvSpPr/>
          <p:nvPr/>
        </p:nvSpPr>
        <p:spPr>
          <a:xfrm>
            <a:off x="2426208" y="2112264"/>
            <a:ext cx="1822704" cy="704088"/>
          </a:xfrm>
          <a:prstGeom prst="roundRect">
            <a:avLst>
              <a:gd name="adj" fmla="val 10390"/>
            </a:avLst>
          </a:prstGeom>
          <a:solidFill>
            <a:srgbClr val="F2ECE1"/>
          </a:solidFill>
          <a:ln w="12700">
            <a:solidFill>
              <a:srgbClr val="DFD6C7"/>
            </a:solidFill>
            <a:prstDash val="solid"/>
          </a:ln>
        </p:spPr>
      </p:sp>
      <p:sp>
        <p:nvSpPr>
          <p:cNvPr id="15" name="Text 13"/>
          <p:cNvSpPr txBox="1"/>
          <p:nvPr/>
        </p:nvSpPr>
        <p:spPr>
          <a:xfrm>
            <a:off x="2517648" y="2167128"/>
            <a:ext cx="1639824" cy="594360"/>
          </a:xfrm>
          <a:prstGeom prst="rect">
            <a:avLst/>
          </a:prstGeom>
          <a:noFill/>
          <a:ln/>
        </p:spPr>
        <p:txBody>
          <a:bodyPr wrap="square" lIns="0" tIns="0" rIns="0" bIns="0" rtlCol="0" anchor="ctr"/>
          <a:lstStyle/>
          <a:p>
            <a:pPr algn="ctr" indent="0" marL="0">
              <a:buNone/>
            </a:pPr>
            <a:r>
              <a:rPr lang="en-US" sz="1100" b="1" dirty="0">
                <a:solidFill>
                  <a:srgbClr val="2B2622"/>
                </a:solidFill>
                <a:latin typeface="Calibri" pitchFamily="34" charset="0"/>
                <a:ea typeface="Calibri" pitchFamily="34" charset="-122"/>
                <a:cs typeface="Calibri" pitchFamily="34" charset="-120"/>
              </a:rPr>
              <a:t>5. Pay to script hash</a:t>
            </a:r>
            <a:endParaRPr lang="en-US" sz="1100" dirty="0"/>
          </a:p>
          <a:p>
            <a:pPr algn="ctr" indent="0" marL="0">
              <a:buNone/>
            </a:pPr>
            <a:r>
              <a:rPr lang="en-US" sz="1000" dirty="0">
                <a:solidFill>
                  <a:srgbClr val="6E655C"/>
                </a:solidFill>
                <a:latin typeface="Calibri" pitchFamily="34" charset="0"/>
                <a:ea typeface="Calibri" pitchFamily="34" charset="-122"/>
                <a:cs typeface="Calibri" pitchFamily="34" charset="-120"/>
              </a:rPr>
              <a:t>(slides 23-26)</a:t>
            </a:r>
            <a:endParaRPr lang="en-US" sz="1100" dirty="0"/>
          </a:p>
        </p:txBody>
      </p:sp>
      <p:sp>
        <p:nvSpPr>
          <p:cNvPr id="16" name="Shape 14"/>
          <p:cNvSpPr/>
          <p:nvPr/>
        </p:nvSpPr>
        <p:spPr>
          <a:xfrm>
            <a:off x="4395216" y="2112264"/>
            <a:ext cx="1822704" cy="704088"/>
          </a:xfrm>
          <a:prstGeom prst="roundRect">
            <a:avLst>
              <a:gd name="adj" fmla="val 10390"/>
            </a:avLst>
          </a:prstGeom>
          <a:solidFill>
            <a:srgbClr val="F2ECE1"/>
          </a:solidFill>
          <a:ln w="12700">
            <a:solidFill>
              <a:srgbClr val="DFD6C7"/>
            </a:solidFill>
            <a:prstDash val="solid"/>
          </a:ln>
        </p:spPr>
      </p:sp>
      <p:sp>
        <p:nvSpPr>
          <p:cNvPr id="17" name="Text 15"/>
          <p:cNvSpPr txBox="1"/>
          <p:nvPr/>
        </p:nvSpPr>
        <p:spPr>
          <a:xfrm>
            <a:off x="4486656" y="2167128"/>
            <a:ext cx="1639824" cy="594360"/>
          </a:xfrm>
          <a:prstGeom prst="rect">
            <a:avLst/>
          </a:prstGeom>
          <a:noFill/>
          <a:ln/>
        </p:spPr>
        <p:txBody>
          <a:bodyPr wrap="square" lIns="0" tIns="0" rIns="0" bIns="0" rtlCol="0" anchor="ctr"/>
          <a:lstStyle/>
          <a:p>
            <a:pPr algn="ctr" indent="0" marL="0">
              <a:buNone/>
            </a:pPr>
            <a:r>
              <a:rPr lang="en-US" sz="1100" b="1" dirty="0">
                <a:solidFill>
                  <a:srgbClr val="2B2622"/>
                </a:solidFill>
                <a:latin typeface="Calibri" pitchFamily="34" charset="0"/>
                <a:ea typeface="Calibri" pitchFamily="34" charset="-122"/>
                <a:cs typeface="Calibri" pitchFamily="34" charset="-120"/>
              </a:rPr>
              <a:t>6. Data and timelocks</a:t>
            </a:r>
            <a:endParaRPr lang="en-US" sz="1100" dirty="0"/>
          </a:p>
          <a:p>
            <a:pPr algn="ctr" indent="0" marL="0">
              <a:buNone/>
            </a:pPr>
            <a:r>
              <a:rPr lang="en-US" sz="1000" dirty="0">
                <a:solidFill>
                  <a:srgbClr val="6E655C"/>
                </a:solidFill>
                <a:latin typeface="Calibri" pitchFamily="34" charset="0"/>
                <a:ea typeface="Calibri" pitchFamily="34" charset="-122"/>
                <a:cs typeface="Calibri" pitchFamily="34" charset="-120"/>
              </a:rPr>
              <a:t>(slides 27-32)</a:t>
            </a:r>
            <a:endParaRPr lang="en-US" sz="1100" dirty="0"/>
          </a:p>
        </p:txBody>
      </p:sp>
      <p:sp>
        <p:nvSpPr>
          <p:cNvPr id="18" name="Shape 16"/>
          <p:cNvSpPr/>
          <p:nvPr/>
        </p:nvSpPr>
        <p:spPr>
          <a:xfrm>
            <a:off x="457200" y="2944368"/>
            <a:ext cx="1822704" cy="704088"/>
          </a:xfrm>
          <a:prstGeom prst="roundRect">
            <a:avLst>
              <a:gd name="adj" fmla="val 10390"/>
            </a:avLst>
          </a:prstGeom>
          <a:solidFill>
            <a:srgbClr val="F2ECE1"/>
          </a:solidFill>
          <a:ln w="12700">
            <a:solidFill>
              <a:srgbClr val="DFD6C7"/>
            </a:solidFill>
            <a:prstDash val="solid"/>
          </a:ln>
        </p:spPr>
      </p:sp>
      <p:sp>
        <p:nvSpPr>
          <p:cNvPr id="19" name="Text 17"/>
          <p:cNvSpPr txBox="1"/>
          <p:nvPr/>
        </p:nvSpPr>
        <p:spPr>
          <a:xfrm>
            <a:off x="548640" y="2999232"/>
            <a:ext cx="1639824" cy="594360"/>
          </a:xfrm>
          <a:prstGeom prst="rect">
            <a:avLst/>
          </a:prstGeom>
          <a:noFill/>
          <a:ln/>
        </p:spPr>
        <p:txBody>
          <a:bodyPr wrap="square" lIns="0" tIns="0" rIns="0" bIns="0" rtlCol="0" anchor="ctr"/>
          <a:lstStyle/>
          <a:p>
            <a:pPr algn="ctr" indent="0" marL="0">
              <a:buNone/>
            </a:pPr>
            <a:r>
              <a:rPr lang="en-US" sz="1100" b="1" dirty="0">
                <a:solidFill>
                  <a:srgbClr val="2B2622"/>
                </a:solidFill>
                <a:latin typeface="Calibri" pitchFamily="34" charset="0"/>
                <a:ea typeface="Calibri" pitchFamily="34" charset="-122"/>
                <a:cs typeface="Calibri" pitchFamily="34" charset="-120"/>
              </a:rPr>
              <a:t>7. Flow control and complex scripts</a:t>
            </a:r>
            <a:endParaRPr lang="en-US" sz="1100" dirty="0"/>
          </a:p>
          <a:p>
            <a:pPr algn="ctr" indent="0" marL="0">
              <a:buNone/>
            </a:pPr>
            <a:r>
              <a:rPr lang="en-US" sz="1000" dirty="0">
                <a:solidFill>
                  <a:srgbClr val="6E655C"/>
                </a:solidFill>
                <a:latin typeface="Calibri" pitchFamily="34" charset="0"/>
                <a:ea typeface="Calibri" pitchFamily="34" charset="-122"/>
                <a:cs typeface="Calibri" pitchFamily="34" charset="-120"/>
              </a:rPr>
              <a:t>(slides 33-36)</a:t>
            </a:r>
            <a:endParaRPr lang="en-US" sz="1100" dirty="0"/>
          </a:p>
        </p:txBody>
      </p:sp>
      <p:sp>
        <p:nvSpPr>
          <p:cNvPr id="20" name="Shape 18"/>
          <p:cNvSpPr/>
          <p:nvPr/>
        </p:nvSpPr>
        <p:spPr>
          <a:xfrm>
            <a:off x="2426208" y="2944368"/>
            <a:ext cx="1822704" cy="704088"/>
          </a:xfrm>
          <a:prstGeom prst="roundRect">
            <a:avLst>
              <a:gd name="adj" fmla="val 10390"/>
            </a:avLst>
          </a:prstGeom>
          <a:solidFill>
            <a:srgbClr val="F2ECE1"/>
          </a:solidFill>
          <a:ln w="12700">
            <a:solidFill>
              <a:srgbClr val="DFD6C7"/>
            </a:solidFill>
            <a:prstDash val="solid"/>
          </a:ln>
        </p:spPr>
      </p:sp>
      <p:sp>
        <p:nvSpPr>
          <p:cNvPr id="21" name="Text 19"/>
          <p:cNvSpPr txBox="1"/>
          <p:nvPr/>
        </p:nvSpPr>
        <p:spPr>
          <a:xfrm>
            <a:off x="2517648" y="2999232"/>
            <a:ext cx="1639824" cy="594360"/>
          </a:xfrm>
          <a:prstGeom prst="rect">
            <a:avLst/>
          </a:prstGeom>
          <a:noFill/>
          <a:ln/>
        </p:spPr>
        <p:txBody>
          <a:bodyPr wrap="square" lIns="0" tIns="0" rIns="0" bIns="0" rtlCol="0" anchor="ctr"/>
          <a:lstStyle/>
          <a:p>
            <a:pPr algn="ctr" indent="0" marL="0">
              <a:buNone/>
            </a:pPr>
            <a:r>
              <a:rPr lang="en-US" sz="1100" b="1" dirty="0">
                <a:solidFill>
                  <a:srgbClr val="2B2622"/>
                </a:solidFill>
                <a:latin typeface="Calibri" pitchFamily="34" charset="0"/>
                <a:ea typeface="Calibri" pitchFamily="34" charset="-122"/>
                <a:cs typeface="Calibri" pitchFamily="34" charset="-120"/>
              </a:rPr>
              <a:t>8. Segregated witness scripts</a:t>
            </a:r>
            <a:endParaRPr lang="en-US" sz="1100" dirty="0"/>
          </a:p>
          <a:p>
            <a:pPr algn="ctr" indent="0" marL="0">
              <a:buNone/>
            </a:pPr>
            <a:r>
              <a:rPr lang="en-US" sz="1000" dirty="0">
                <a:solidFill>
                  <a:srgbClr val="6E655C"/>
                </a:solidFill>
                <a:latin typeface="Calibri" pitchFamily="34" charset="0"/>
                <a:ea typeface="Calibri" pitchFamily="34" charset="-122"/>
                <a:cs typeface="Calibri" pitchFamily="34" charset="-120"/>
              </a:rPr>
              <a:t>(slides 37-44)</a:t>
            </a:r>
            <a:endParaRPr lang="en-US" sz="1100" dirty="0"/>
          </a:p>
        </p:txBody>
      </p:sp>
      <p:sp>
        <p:nvSpPr>
          <p:cNvPr id="22" name="Shape 20"/>
          <p:cNvSpPr/>
          <p:nvPr/>
        </p:nvSpPr>
        <p:spPr>
          <a:xfrm>
            <a:off x="4395216" y="2944368"/>
            <a:ext cx="1822704" cy="704088"/>
          </a:xfrm>
          <a:prstGeom prst="roundRect">
            <a:avLst>
              <a:gd name="adj" fmla="val 10390"/>
            </a:avLst>
          </a:prstGeom>
          <a:solidFill>
            <a:srgbClr val="F2ECE1"/>
          </a:solidFill>
          <a:ln w="12700">
            <a:solidFill>
              <a:srgbClr val="DFD6C7"/>
            </a:solidFill>
            <a:prstDash val="solid"/>
          </a:ln>
        </p:spPr>
      </p:sp>
      <p:sp>
        <p:nvSpPr>
          <p:cNvPr id="23" name="Text 21"/>
          <p:cNvSpPr txBox="1"/>
          <p:nvPr/>
        </p:nvSpPr>
        <p:spPr>
          <a:xfrm>
            <a:off x="4486656" y="2999232"/>
            <a:ext cx="1639824" cy="594360"/>
          </a:xfrm>
          <a:prstGeom prst="rect">
            <a:avLst/>
          </a:prstGeom>
          <a:noFill/>
          <a:ln/>
        </p:spPr>
        <p:txBody>
          <a:bodyPr wrap="square" lIns="0" tIns="0" rIns="0" bIns="0" rtlCol="0" anchor="ctr"/>
          <a:lstStyle/>
          <a:p>
            <a:pPr algn="ctr" indent="0" marL="0">
              <a:buNone/>
            </a:pPr>
            <a:r>
              <a:rPr lang="en-US" sz="1100" b="1" dirty="0">
                <a:solidFill>
                  <a:srgbClr val="2B2622"/>
                </a:solidFill>
                <a:latin typeface="Calibri" pitchFamily="34" charset="0"/>
                <a:ea typeface="Calibri" pitchFamily="34" charset="-122"/>
                <a:cs typeface="Calibri" pitchFamily="34" charset="-120"/>
              </a:rPr>
              <a:t>9. Script trees and key tweaks</a:t>
            </a:r>
            <a:endParaRPr lang="en-US" sz="1100" dirty="0"/>
          </a:p>
          <a:p>
            <a:pPr algn="ctr" indent="0" marL="0">
              <a:buNone/>
            </a:pPr>
            <a:r>
              <a:rPr lang="en-US" sz="1000" dirty="0">
                <a:solidFill>
                  <a:srgbClr val="6E655C"/>
                </a:solidFill>
                <a:latin typeface="Calibri" pitchFamily="34" charset="0"/>
                <a:ea typeface="Calibri" pitchFamily="34" charset="-122"/>
                <a:cs typeface="Calibri" pitchFamily="34" charset="-120"/>
              </a:rPr>
              <a:t>(slides 45-49)</a:t>
            </a:r>
            <a:endParaRPr lang="en-US" sz="1100" dirty="0"/>
          </a:p>
        </p:txBody>
      </p:sp>
      <p:sp>
        <p:nvSpPr>
          <p:cNvPr id="24" name="Shape 22"/>
          <p:cNvSpPr/>
          <p:nvPr/>
        </p:nvSpPr>
        <p:spPr>
          <a:xfrm>
            <a:off x="457200" y="3776472"/>
            <a:ext cx="1822704" cy="704088"/>
          </a:xfrm>
          <a:prstGeom prst="roundRect">
            <a:avLst>
              <a:gd name="adj" fmla="val 10390"/>
            </a:avLst>
          </a:prstGeom>
          <a:solidFill>
            <a:srgbClr val="F2ECE1"/>
          </a:solidFill>
          <a:ln w="12700">
            <a:solidFill>
              <a:srgbClr val="DFD6C7"/>
            </a:solidFill>
            <a:prstDash val="solid"/>
          </a:ln>
        </p:spPr>
      </p:sp>
      <p:sp>
        <p:nvSpPr>
          <p:cNvPr id="25" name="Text 23"/>
          <p:cNvSpPr txBox="1"/>
          <p:nvPr/>
        </p:nvSpPr>
        <p:spPr>
          <a:xfrm>
            <a:off x="548640" y="3831336"/>
            <a:ext cx="1639824" cy="594360"/>
          </a:xfrm>
          <a:prstGeom prst="rect">
            <a:avLst/>
          </a:prstGeom>
          <a:noFill/>
          <a:ln/>
        </p:spPr>
        <p:txBody>
          <a:bodyPr wrap="square" lIns="0" tIns="0" rIns="0" bIns="0" rtlCol="0" anchor="ctr"/>
          <a:lstStyle/>
          <a:p>
            <a:pPr algn="ctr" indent="0" marL="0">
              <a:buNone/>
            </a:pPr>
            <a:r>
              <a:rPr lang="en-US" sz="1100" b="1" dirty="0">
                <a:solidFill>
                  <a:srgbClr val="2B2622"/>
                </a:solidFill>
                <a:latin typeface="Calibri" pitchFamily="34" charset="0"/>
                <a:ea typeface="Calibri" pitchFamily="34" charset="-122"/>
                <a:cs typeface="Calibri" pitchFamily="34" charset="-120"/>
              </a:rPr>
              <a:t>10. Taproot and tapscript</a:t>
            </a:r>
            <a:endParaRPr lang="en-US" sz="1100" dirty="0"/>
          </a:p>
          <a:p>
            <a:pPr algn="ctr" indent="0" marL="0">
              <a:buNone/>
            </a:pPr>
            <a:r>
              <a:rPr lang="en-US" sz="1000" dirty="0">
                <a:solidFill>
                  <a:srgbClr val="6E655C"/>
                </a:solidFill>
                <a:latin typeface="Calibri" pitchFamily="34" charset="0"/>
                <a:ea typeface="Calibri" pitchFamily="34" charset="-122"/>
                <a:cs typeface="Calibri" pitchFamily="34" charset="-120"/>
              </a:rPr>
              <a:t>(slides 50-61)</a:t>
            </a:r>
            <a:endParaRPr lang="en-US" sz="1100" dirty="0"/>
          </a:p>
        </p:txBody>
      </p:sp>
      <p:sp>
        <p:nvSpPr>
          <p:cNvPr id="26" name="Shape 24"/>
          <p:cNvSpPr/>
          <p:nvPr/>
        </p:nvSpPr>
        <p:spPr>
          <a:xfrm>
            <a:off x="6446520" y="1280160"/>
            <a:ext cx="2240280" cy="981456"/>
          </a:xfrm>
          <a:prstGeom prst="roundRect">
            <a:avLst>
              <a:gd name="adj" fmla="val 7453"/>
            </a:avLst>
          </a:prstGeom>
          <a:solidFill>
            <a:srgbClr val="F2ECE1"/>
          </a:solidFill>
          <a:ln w="12700">
            <a:solidFill>
              <a:srgbClr val="DFD6C7"/>
            </a:solidFill>
            <a:prstDash val="solid"/>
          </a:ln>
        </p:spPr>
      </p:sp>
      <p:sp>
        <p:nvSpPr>
          <p:cNvPr id="27" name="Text 25"/>
          <p:cNvSpPr txBox="1"/>
          <p:nvPr/>
        </p:nvSpPr>
        <p:spPr>
          <a:xfrm>
            <a:off x="6556248" y="1316736"/>
            <a:ext cx="2020824" cy="473781"/>
          </a:xfrm>
          <a:prstGeom prst="rect">
            <a:avLst/>
          </a:prstGeom>
          <a:noFill/>
          <a:ln/>
        </p:spPr>
        <p:txBody>
          <a:bodyPr wrap="square" lIns="0" tIns="0" rIns="0" bIns="0" rtlCol="0" anchor="ctr"/>
          <a:lstStyle/>
          <a:p>
            <a:pPr indent="0" marL="0">
              <a:buNone/>
            </a:pPr>
            <a:r>
              <a:rPr lang="en-US" sz="2600" b="1" dirty="0">
                <a:solidFill>
                  <a:srgbClr val="D97A14"/>
                </a:solidFill>
                <a:latin typeface="Cambria" pitchFamily="34" charset="0"/>
                <a:ea typeface="Cambria" pitchFamily="34" charset="-122"/>
                <a:cs typeface="Cambria" pitchFamily="34" charset="-120"/>
              </a:rPr>
              <a:t>61</a:t>
            </a:r>
            <a:endParaRPr lang="en-US" sz="2600" dirty="0"/>
          </a:p>
        </p:txBody>
      </p:sp>
      <p:sp>
        <p:nvSpPr>
          <p:cNvPr id="28" name="Text 26"/>
          <p:cNvSpPr txBox="1"/>
          <p:nvPr/>
        </p:nvSpPr>
        <p:spPr>
          <a:xfrm>
            <a:off x="6556248" y="1790517"/>
            <a:ext cx="2020824" cy="431841"/>
          </a:xfrm>
          <a:prstGeom prst="rect">
            <a:avLst/>
          </a:prstGeom>
          <a:noFill/>
          <a:ln/>
        </p:spPr>
        <p:txBody>
          <a:bodyPr wrap="square" lIns="0" tIns="0" rIns="0" bIns="0" rtlCol="0" anchor="t"/>
          <a:lstStyle/>
          <a:p>
            <a:pPr indent="0" marL="0">
              <a:buNone/>
            </a:pPr>
            <a:r>
              <a:rPr lang="en-US" sz="1100" dirty="0">
                <a:solidFill>
                  <a:srgbClr val="6E655C"/>
                </a:solidFill>
                <a:latin typeface="Calibri" pitchFamily="34" charset="0"/>
                <a:ea typeface="Calibri" pitchFamily="34" charset="-122"/>
                <a:cs typeface="Calibri" pitchFamily="34" charset="-120"/>
              </a:rPr>
              <a:t>slides, numbered bottom-right</a:t>
            </a:r>
            <a:endParaRPr lang="en-US" sz="1100" dirty="0"/>
          </a:p>
        </p:txBody>
      </p:sp>
      <p:sp>
        <p:nvSpPr>
          <p:cNvPr id="29" name="Shape 27"/>
          <p:cNvSpPr/>
          <p:nvPr/>
        </p:nvSpPr>
        <p:spPr>
          <a:xfrm>
            <a:off x="6446520" y="2389632"/>
            <a:ext cx="2240280" cy="981456"/>
          </a:xfrm>
          <a:prstGeom prst="roundRect">
            <a:avLst>
              <a:gd name="adj" fmla="val 7453"/>
            </a:avLst>
          </a:prstGeom>
          <a:solidFill>
            <a:srgbClr val="F2ECE1"/>
          </a:solidFill>
          <a:ln w="12700">
            <a:solidFill>
              <a:srgbClr val="DFD6C7"/>
            </a:solidFill>
            <a:prstDash val="solid"/>
          </a:ln>
        </p:spPr>
      </p:sp>
      <p:sp>
        <p:nvSpPr>
          <p:cNvPr id="30" name="Text 28"/>
          <p:cNvSpPr txBox="1"/>
          <p:nvPr/>
        </p:nvSpPr>
        <p:spPr>
          <a:xfrm>
            <a:off x="6556248" y="2426208"/>
            <a:ext cx="2020824" cy="473781"/>
          </a:xfrm>
          <a:prstGeom prst="rect">
            <a:avLst/>
          </a:prstGeom>
          <a:noFill/>
          <a:ln/>
        </p:spPr>
        <p:txBody>
          <a:bodyPr wrap="square" lIns="0" tIns="0" rIns="0" bIns="0" rtlCol="0" anchor="ctr"/>
          <a:lstStyle/>
          <a:p>
            <a:pPr indent="0" marL="0">
              <a:buNone/>
            </a:pPr>
            <a:r>
              <a:rPr lang="en-US" sz="2600" b="1" dirty="0">
                <a:solidFill>
                  <a:srgbClr val="D97A14"/>
                </a:solidFill>
                <a:latin typeface="Cambria" pitchFamily="34" charset="0"/>
                <a:ea typeface="Cambria" pitchFamily="34" charset="-122"/>
                <a:cs typeface="Cambria" pitchFamily="34" charset="-120"/>
              </a:rPr>
              <a:t>3</a:t>
            </a:r>
            <a:endParaRPr lang="en-US" sz="2600" dirty="0"/>
          </a:p>
        </p:txBody>
      </p:sp>
      <p:sp>
        <p:nvSpPr>
          <p:cNvPr id="31" name="Text 29"/>
          <p:cNvSpPr txBox="1"/>
          <p:nvPr/>
        </p:nvSpPr>
        <p:spPr>
          <a:xfrm>
            <a:off x="6556248" y="2899989"/>
            <a:ext cx="2020824" cy="431841"/>
          </a:xfrm>
          <a:prstGeom prst="rect">
            <a:avLst/>
          </a:prstGeom>
          <a:noFill/>
          <a:ln/>
        </p:spPr>
        <p:txBody>
          <a:bodyPr wrap="square" lIns="0" tIns="0" rIns="0" bIns="0" rtlCol="0" anchor="t"/>
          <a:lstStyle/>
          <a:p>
            <a:pPr indent="0" marL="0">
              <a:buNone/>
            </a:pPr>
            <a:r>
              <a:rPr lang="en-US" sz="1100" dirty="0">
                <a:solidFill>
                  <a:srgbClr val="6E655C"/>
                </a:solidFill>
                <a:latin typeface="Calibri" pitchFamily="34" charset="0"/>
                <a:ea typeface="Calibri" pitchFamily="34" charset="-122"/>
                <a:cs typeface="Calibri" pitchFamily="34" charset="-120"/>
              </a:rPr>
              <a:t>true stories, each told by 5N1K</a:t>
            </a:r>
            <a:endParaRPr lang="en-US" sz="1100" dirty="0"/>
          </a:p>
        </p:txBody>
      </p:sp>
      <p:sp>
        <p:nvSpPr>
          <p:cNvPr id="32" name="Shape 30"/>
          <p:cNvSpPr/>
          <p:nvPr/>
        </p:nvSpPr>
        <p:spPr>
          <a:xfrm>
            <a:off x="6446520" y="3499104"/>
            <a:ext cx="2240280" cy="981456"/>
          </a:xfrm>
          <a:prstGeom prst="roundRect">
            <a:avLst>
              <a:gd name="adj" fmla="val 7453"/>
            </a:avLst>
          </a:prstGeom>
          <a:solidFill>
            <a:srgbClr val="F2ECE1"/>
          </a:solidFill>
          <a:ln w="12700">
            <a:solidFill>
              <a:srgbClr val="DFD6C7"/>
            </a:solidFill>
            <a:prstDash val="solid"/>
          </a:ln>
        </p:spPr>
      </p:sp>
      <p:sp>
        <p:nvSpPr>
          <p:cNvPr id="33" name="Text 31"/>
          <p:cNvSpPr txBox="1"/>
          <p:nvPr/>
        </p:nvSpPr>
        <p:spPr>
          <a:xfrm>
            <a:off x="6556248" y="3535680"/>
            <a:ext cx="2020824" cy="473781"/>
          </a:xfrm>
          <a:prstGeom prst="rect">
            <a:avLst/>
          </a:prstGeom>
          <a:noFill/>
          <a:ln/>
        </p:spPr>
        <p:txBody>
          <a:bodyPr wrap="square" lIns="0" tIns="0" rIns="0" bIns="0" rtlCol="0" anchor="ctr"/>
          <a:lstStyle/>
          <a:p>
            <a:pPr indent="0" marL="0">
              <a:buNone/>
            </a:pPr>
            <a:r>
              <a:rPr lang="en-US" sz="2600" b="1" dirty="0">
                <a:solidFill>
                  <a:srgbClr val="D97A14"/>
                </a:solidFill>
                <a:latin typeface="Cambria" pitchFamily="34" charset="0"/>
                <a:ea typeface="Cambria" pitchFamily="34" charset="-122"/>
                <a:cs typeface="Cambria" pitchFamily="34" charset="-120"/>
              </a:rPr>
              <a:t>15</a:t>
            </a:r>
            <a:endParaRPr lang="en-US" sz="2600" dirty="0"/>
          </a:p>
        </p:txBody>
      </p:sp>
      <p:sp>
        <p:nvSpPr>
          <p:cNvPr id="34" name="Text 32"/>
          <p:cNvSpPr txBox="1"/>
          <p:nvPr/>
        </p:nvSpPr>
        <p:spPr>
          <a:xfrm>
            <a:off x="6556248" y="4009461"/>
            <a:ext cx="2020824" cy="431841"/>
          </a:xfrm>
          <a:prstGeom prst="rect">
            <a:avLst/>
          </a:prstGeom>
          <a:noFill/>
          <a:ln/>
        </p:spPr>
        <p:txBody>
          <a:bodyPr wrap="square" lIns="0" tIns="0" rIns="0" bIns="0" rtlCol="0" anchor="t"/>
          <a:lstStyle/>
          <a:p>
            <a:pPr indent="0" marL="0">
              <a:buNone/>
            </a:pPr>
            <a:r>
              <a:rPr lang="en-US" sz="1100" dirty="0">
                <a:solidFill>
                  <a:srgbClr val="6E655C"/>
                </a:solidFill>
                <a:latin typeface="Calibri" pitchFamily="34" charset="0"/>
                <a:ea typeface="Calibri" pitchFamily="34" charset="-122"/>
                <a:cs typeface="Calibri" pitchFamily="34" charset="-120"/>
              </a:rPr>
              <a:t>code examples with a picture of each result</a:t>
            </a:r>
            <a:endParaRPr lang="en-US" sz="1100" dirty="0"/>
          </a:p>
        </p:txBody>
      </p:sp>
      <p:sp>
        <p:nvSpPr>
          <p:cNvPr id="35" name="Shape 33"/>
          <p:cNvSpPr/>
          <p:nvPr/>
        </p:nvSpPr>
        <p:spPr>
          <a:xfrm>
            <a:off x="457200" y="4636008"/>
            <a:ext cx="91440" cy="310896"/>
          </a:xfrm>
          <a:prstGeom prst="rect">
            <a:avLst/>
          </a:prstGeom>
          <a:solidFill>
            <a:srgbClr val="D97A14"/>
          </a:solidFill>
          <a:ln w="12700">
            <a:solidFill>
              <a:srgbClr val="D97A14"/>
            </a:solidFill>
            <a:prstDash val="solid"/>
          </a:ln>
        </p:spPr>
      </p:sp>
      <p:sp>
        <p:nvSpPr>
          <p:cNvPr id="36" name="Text 34"/>
          <p:cNvSpPr txBox="1"/>
          <p:nvPr/>
        </p:nvSpPr>
        <p:spPr>
          <a:xfrm>
            <a:off x="658368" y="4599432"/>
            <a:ext cx="6949440" cy="384048"/>
          </a:xfrm>
          <a:prstGeom prst="rect">
            <a:avLst/>
          </a:prstGeom>
          <a:noFill/>
          <a:ln/>
        </p:spPr>
        <p:txBody>
          <a:bodyPr wrap="square" lIns="0" tIns="0" rIns="0" bIns="0" rtlCol="0" anchor="ctr"/>
          <a:lstStyle/>
          <a:p>
            <a:pPr indent="0" marL="0">
              <a:buNone/>
            </a:pPr>
            <a:r>
              <a:rPr lang="en-US" sz="1350" b="1" i="1" dirty="0">
                <a:solidFill>
                  <a:srgbClr val="2B2622"/>
                </a:solidFill>
                <a:latin typeface="Cambria" pitchFamily="34" charset="0"/>
                <a:ea typeface="Cambria" pitchFamily="34" charset="-122"/>
                <a:cs typeface="Cambria" pitchFamily="34" charset="-120"/>
              </a:rPr>
              <a:t>Nine parts, fifteen runs and three true stories</a:t>
            </a:r>
            <a:endParaRPr lang="en-US" sz="1350" dirty="0"/>
          </a:p>
        </p:txBody>
      </p:sp>
      <p:sp>
        <p:nvSpPr>
          <p:cNvPr id="37" name="Text 35"/>
          <p:cNvSpPr txBox="1"/>
          <p:nvPr/>
        </p:nvSpPr>
        <p:spPr>
          <a:xfrm>
            <a:off x="7863840" y="4645152"/>
            <a:ext cx="868680" cy="310896"/>
          </a:xfrm>
          <a:prstGeom prst="rect">
            <a:avLst/>
          </a:prstGeom>
          <a:noFill/>
          <a:ln/>
        </p:spPr>
        <p:txBody>
          <a:bodyPr wrap="square" lIns="0" tIns="0" rIns="0" bIns="0" rtlCol="0" anchor="ctr"/>
          <a:lstStyle/>
          <a:p>
            <a:pPr algn="r" indent="0" marL="0">
              <a:buNone/>
            </a:pPr>
            <a:r>
              <a:rPr lang="en-US" sz="1100" dirty="0">
                <a:solidFill>
                  <a:srgbClr val="6E655C"/>
                </a:solidFill>
                <a:latin typeface="Calibri" pitchFamily="34" charset="0"/>
                <a:ea typeface="Calibri" pitchFamily="34" charset="-122"/>
                <a:cs typeface="Calibri" pitchFamily="34" charset="-120"/>
              </a:rPr>
              <a:t>2 / 61</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6EF"/>
        </a:solidFill>
      </p:bgPr>
    </p:bg>
    <p:spTree>
      <p:nvGrpSpPr>
        <p:cNvPr id="1" name=""/>
        <p:cNvGrpSpPr/>
        <p:nvPr/>
      </p:nvGrpSpPr>
      <p:grpSpPr>
        <a:xfrm>
          <a:off x="0" y="0"/>
          <a:ext cx="0" cy="0"/>
          <a:chOff x="0" y="0"/>
          <a:chExt cx="0" cy="0"/>
        </a:xfrm>
      </p:grpSpPr>
      <p:sp>
        <p:nvSpPr>
          <p:cNvPr id="2" name="Shape 0"/>
          <p:cNvSpPr/>
          <p:nvPr/>
        </p:nvSpPr>
        <p:spPr>
          <a:xfrm>
            <a:off x="457200" y="347472"/>
            <a:ext cx="566928" cy="384048"/>
          </a:xfrm>
          <a:prstGeom prst="roundRect">
            <a:avLst>
              <a:gd name="adj" fmla="val 19048"/>
            </a:avLst>
          </a:prstGeom>
          <a:solidFill>
            <a:srgbClr val="D97A14"/>
          </a:solidFill>
          <a:ln w="12700">
            <a:solidFill>
              <a:srgbClr val="D97A14"/>
            </a:solidFill>
            <a:prstDash val="solid"/>
          </a:ln>
        </p:spPr>
      </p:sp>
      <p:sp>
        <p:nvSpPr>
          <p:cNvPr id="3" name="Text 1"/>
          <p:cNvSpPr txBox="1"/>
          <p:nvPr/>
        </p:nvSpPr>
        <p:spPr>
          <a:xfrm>
            <a:off x="457200" y="347472"/>
            <a:ext cx="56692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4" name="Text 2"/>
          <p:cNvSpPr txBox="1"/>
          <p:nvPr/>
        </p:nvSpPr>
        <p:spPr>
          <a:xfrm>
            <a:off x="1143000" y="237744"/>
            <a:ext cx="7543800" cy="566928"/>
          </a:xfrm>
          <a:prstGeom prst="rect">
            <a:avLst/>
          </a:prstGeom>
          <a:noFill/>
          <a:ln/>
        </p:spPr>
        <p:txBody>
          <a:bodyPr wrap="square" lIns="0" tIns="0" rIns="0" bIns="0" rtlCol="0" anchor="ctr"/>
          <a:lstStyle/>
          <a:p>
            <a:pPr indent="0" marL="0">
              <a:buNone/>
            </a:pPr>
            <a:r>
              <a:rPr lang="en-US" sz="2500" b="1" dirty="0">
                <a:solidFill>
                  <a:srgbClr val="2B2622"/>
                </a:solidFill>
                <a:latin typeface="Cambria" pitchFamily="34" charset="0"/>
                <a:ea typeface="Cambria" pitchFamily="34" charset="-122"/>
                <a:cs typeface="Cambria" pitchFamily="34" charset="-120"/>
              </a:rPr>
              <a:t>The questions this chapter answers</a:t>
            </a:r>
            <a:endParaRPr lang="en-US" sz="2500" dirty="0"/>
          </a:p>
        </p:txBody>
      </p:sp>
      <p:sp>
        <p:nvSpPr>
          <p:cNvPr id="5" name="Text 3"/>
          <p:cNvSpPr txBox="1"/>
          <p:nvPr/>
        </p:nvSpPr>
        <p:spPr>
          <a:xfrm>
            <a:off x="1143000" y="786384"/>
            <a:ext cx="7543800" cy="310896"/>
          </a:xfrm>
          <a:prstGeom prst="rect">
            <a:avLst/>
          </a:prstGeom>
          <a:noFill/>
          <a:ln/>
        </p:spPr>
        <p:txBody>
          <a:bodyPr wrap="square" lIns="0" tIns="0" rIns="0" bIns="0" rtlCol="0" anchor="ctr"/>
          <a:lstStyle/>
          <a:p>
            <a:pPr indent="0" marL="0">
              <a:buNone/>
            </a:pPr>
            <a:r>
              <a:rPr lang="en-US" sz="1300" i="1" dirty="0">
                <a:solidFill>
                  <a:srgbClr val="6E655C"/>
                </a:solidFill>
                <a:latin typeface="Calibri" pitchFamily="34" charset="0"/>
                <a:ea typeface="Calibri" pitchFamily="34" charset="-122"/>
                <a:cs typeface="Calibri" pitchFamily="34" charset="-120"/>
              </a:rPr>
              <a:t>Its own competency questions; we return to each</a:t>
            </a:r>
            <a:endParaRPr lang="en-US" sz="1300" dirty="0"/>
          </a:p>
        </p:txBody>
      </p:sp>
      <p:sp>
        <p:nvSpPr>
          <p:cNvPr id="6" name="Shape 4"/>
          <p:cNvSpPr/>
          <p:nvPr/>
        </p:nvSpPr>
        <p:spPr>
          <a:xfrm>
            <a:off x="457200" y="1316736"/>
            <a:ext cx="402336" cy="402336"/>
          </a:xfrm>
          <a:prstGeom prst="ellipse">
            <a:avLst/>
          </a:prstGeom>
          <a:solidFill>
            <a:srgbClr val="D97A14"/>
          </a:solidFill>
          <a:ln w="12700">
            <a:solidFill>
              <a:srgbClr val="D97A14"/>
            </a:solidFill>
            <a:prstDash val="solid"/>
          </a:ln>
        </p:spPr>
      </p:sp>
      <p:sp>
        <p:nvSpPr>
          <p:cNvPr id="7" name="Text 5"/>
          <p:cNvSpPr txBox="1"/>
          <p:nvPr/>
        </p:nvSpPr>
        <p:spPr>
          <a:xfrm>
            <a:off x="457200" y="1316736"/>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8" name="Text 6"/>
          <p:cNvSpPr txBox="1"/>
          <p:nvPr/>
        </p:nvSpPr>
        <p:spPr>
          <a:xfrm>
            <a:off x="1024128" y="1280160"/>
            <a:ext cx="7662672" cy="420624"/>
          </a:xfrm>
          <a:prstGeom prst="rect">
            <a:avLst/>
          </a:prstGeom>
          <a:noFill/>
          <a:ln/>
        </p:spPr>
        <p:txBody>
          <a:bodyPr wrap="square" lIns="0" tIns="0" rIns="0" bIns="0" rtlCol="0" anchor="ctr"/>
          <a:lstStyle/>
          <a:p>
            <a:pPr indent="0" marL="0">
              <a:buNone/>
            </a:pPr>
            <a:r>
              <a:rPr lang="en-US" sz="1200" dirty="0">
                <a:solidFill>
                  <a:srgbClr val="2B2622"/>
                </a:solidFill>
                <a:latin typeface="Calibri" pitchFamily="34" charset="0"/>
                <a:ea typeface="Calibri" pitchFamily="34" charset="-122"/>
                <a:cs typeface="Calibri" pitchFamily="34" charset="-120"/>
              </a:rPr>
              <a:t>How do an output script and an input script together decide a spend?</a:t>
            </a:r>
            <a:endParaRPr lang="en-US" sz="1200" dirty="0"/>
          </a:p>
        </p:txBody>
      </p:sp>
      <p:sp>
        <p:nvSpPr>
          <p:cNvPr id="9" name="Shape 7"/>
          <p:cNvSpPr/>
          <p:nvPr/>
        </p:nvSpPr>
        <p:spPr>
          <a:xfrm>
            <a:off x="457200" y="1773936"/>
            <a:ext cx="402336" cy="402336"/>
          </a:xfrm>
          <a:prstGeom prst="ellipse">
            <a:avLst/>
          </a:prstGeom>
          <a:solidFill>
            <a:srgbClr val="D97A14"/>
          </a:solidFill>
          <a:ln w="12700">
            <a:solidFill>
              <a:srgbClr val="D97A14"/>
            </a:solidFill>
            <a:prstDash val="solid"/>
          </a:ln>
        </p:spPr>
      </p:sp>
      <p:sp>
        <p:nvSpPr>
          <p:cNvPr id="10" name="Text 8"/>
          <p:cNvSpPr txBox="1"/>
          <p:nvPr/>
        </p:nvSpPr>
        <p:spPr>
          <a:xfrm>
            <a:off x="457200" y="1773936"/>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11" name="Text 9"/>
          <p:cNvSpPr txBox="1"/>
          <p:nvPr/>
        </p:nvSpPr>
        <p:spPr>
          <a:xfrm>
            <a:off x="1024128" y="1737360"/>
            <a:ext cx="7662672" cy="420624"/>
          </a:xfrm>
          <a:prstGeom prst="rect">
            <a:avLst/>
          </a:prstGeom>
          <a:noFill/>
          <a:ln/>
        </p:spPr>
        <p:txBody>
          <a:bodyPr wrap="square" lIns="0" tIns="0" rIns="0" bIns="0" rtlCol="0" anchor="ctr"/>
          <a:lstStyle/>
          <a:p>
            <a:pPr indent="0" marL="0">
              <a:buNone/>
            </a:pPr>
            <a:r>
              <a:rPr lang="en-US" sz="1200" dirty="0">
                <a:solidFill>
                  <a:srgbClr val="2B2622"/>
                </a:solidFill>
                <a:latin typeface="Calibri" pitchFamily="34" charset="0"/>
                <a:ea typeface="Calibri" pitchFamily="34" charset="-122"/>
                <a:cs typeface="Calibri" pitchFamily="34" charset="-120"/>
              </a:rPr>
              <a:t>Why is Script not Turing complete, and why can every node verify it?</a:t>
            </a:r>
            <a:endParaRPr lang="en-US" sz="1200" dirty="0"/>
          </a:p>
        </p:txBody>
      </p:sp>
      <p:sp>
        <p:nvSpPr>
          <p:cNvPr id="12" name="Shape 10"/>
          <p:cNvSpPr/>
          <p:nvPr/>
        </p:nvSpPr>
        <p:spPr>
          <a:xfrm>
            <a:off x="457200" y="2231136"/>
            <a:ext cx="402336" cy="402336"/>
          </a:xfrm>
          <a:prstGeom prst="ellipse">
            <a:avLst/>
          </a:prstGeom>
          <a:solidFill>
            <a:srgbClr val="D97A14"/>
          </a:solidFill>
          <a:ln w="12700">
            <a:solidFill>
              <a:srgbClr val="D97A14"/>
            </a:solidFill>
            <a:prstDash val="solid"/>
          </a:ln>
        </p:spPr>
      </p:sp>
      <p:sp>
        <p:nvSpPr>
          <p:cNvPr id="13" name="Text 11"/>
          <p:cNvSpPr txBox="1"/>
          <p:nvPr/>
        </p:nvSpPr>
        <p:spPr>
          <a:xfrm>
            <a:off x="457200" y="2231136"/>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4" name="Text 12"/>
          <p:cNvSpPr txBox="1"/>
          <p:nvPr/>
        </p:nvSpPr>
        <p:spPr>
          <a:xfrm>
            <a:off x="1024128" y="2194560"/>
            <a:ext cx="7662672" cy="420624"/>
          </a:xfrm>
          <a:prstGeom prst="rect">
            <a:avLst/>
          </a:prstGeom>
          <a:noFill/>
          <a:ln/>
        </p:spPr>
        <p:txBody>
          <a:bodyPr wrap="square" lIns="0" tIns="0" rIns="0" bIns="0" rtlCol="0" anchor="ctr"/>
          <a:lstStyle/>
          <a:p>
            <a:pPr indent="0" marL="0">
              <a:buNone/>
            </a:pPr>
            <a:r>
              <a:rPr lang="en-US" sz="1200" dirty="0">
                <a:solidFill>
                  <a:srgbClr val="2B2622"/>
                </a:solidFill>
                <a:latin typeface="Calibri" pitchFamily="34" charset="0"/>
                <a:ea typeface="Calibri" pitchFamily="34" charset="-122"/>
                <a:cs typeface="Calibri" pitchFamily="34" charset="-120"/>
              </a:rPr>
              <a:t>How do key hashes, multisignatures and script hashes move cost to the spender?</a:t>
            </a:r>
            <a:endParaRPr lang="en-US" sz="1200" dirty="0"/>
          </a:p>
        </p:txBody>
      </p:sp>
      <p:sp>
        <p:nvSpPr>
          <p:cNvPr id="15" name="Shape 13"/>
          <p:cNvSpPr/>
          <p:nvPr/>
        </p:nvSpPr>
        <p:spPr>
          <a:xfrm>
            <a:off x="457200" y="2688336"/>
            <a:ext cx="402336" cy="402336"/>
          </a:xfrm>
          <a:prstGeom prst="ellipse">
            <a:avLst/>
          </a:prstGeom>
          <a:solidFill>
            <a:srgbClr val="D97A14"/>
          </a:solidFill>
          <a:ln w="12700">
            <a:solidFill>
              <a:srgbClr val="D97A14"/>
            </a:solidFill>
            <a:prstDash val="solid"/>
          </a:ln>
        </p:spPr>
      </p:sp>
      <p:sp>
        <p:nvSpPr>
          <p:cNvPr id="16" name="Text 14"/>
          <p:cNvSpPr txBox="1"/>
          <p:nvPr/>
        </p:nvSpPr>
        <p:spPr>
          <a:xfrm>
            <a:off x="457200" y="2688336"/>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4</a:t>
            </a:r>
            <a:endParaRPr lang="en-US" sz="1400" dirty="0"/>
          </a:p>
        </p:txBody>
      </p:sp>
      <p:sp>
        <p:nvSpPr>
          <p:cNvPr id="17" name="Text 15"/>
          <p:cNvSpPr txBox="1"/>
          <p:nvPr/>
        </p:nvSpPr>
        <p:spPr>
          <a:xfrm>
            <a:off x="1024128" y="2651760"/>
            <a:ext cx="7662672" cy="420624"/>
          </a:xfrm>
          <a:prstGeom prst="rect">
            <a:avLst/>
          </a:prstGeom>
          <a:noFill/>
          <a:ln/>
        </p:spPr>
        <p:txBody>
          <a:bodyPr wrap="square" lIns="0" tIns="0" rIns="0" bIns="0" rtlCol="0" anchor="ctr"/>
          <a:lstStyle/>
          <a:p>
            <a:pPr indent="0" marL="0">
              <a:buNone/>
            </a:pPr>
            <a:r>
              <a:rPr lang="en-US" sz="1200" dirty="0">
                <a:solidFill>
                  <a:srgbClr val="2B2622"/>
                </a:solidFill>
                <a:latin typeface="Calibri" pitchFamily="34" charset="0"/>
                <a:ea typeface="Calibri" pitchFamily="34" charset="-122"/>
                <a:cs typeface="Calibri" pitchFamily="34" charset="-120"/>
              </a:rPr>
              <a:t>How do lock time and sequence make a spend wait?</a:t>
            </a:r>
            <a:endParaRPr lang="en-US" sz="1200" dirty="0"/>
          </a:p>
        </p:txBody>
      </p:sp>
      <p:sp>
        <p:nvSpPr>
          <p:cNvPr id="18" name="Shape 16"/>
          <p:cNvSpPr/>
          <p:nvPr/>
        </p:nvSpPr>
        <p:spPr>
          <a:xfrm>
            <a:off x="457200" y="3145536"/>
            <a:ext cx="402336" cy="402336"/>
          </a:xfrm>
          <a:prstGeom prst="ellipse">
            <a:avLst/>
          </a:prstGeom>
          <a:solidFill>
            <a:srgbClr val="D97A14"/>
          </a:solidFill>
          <a:ln w="12700">
            <a:solidFill>
              <a:srgbClr val="D97A14"/>
            </a:solidFill>
            <a:prstDash val="solid"/>
          </a:ln>
        </p:spPr>
      </p:sp>
      <p:sp>
        <p:nvSpPr>
          <p:cNvPr id="19" name="Text 17"/>
          <p:cNvSpPr txBox="1"/>
          <p:nvPr/>
        </p:nvSpPr>
        <p:spPr>
          <a:xfrm>
            <a:off x="457200" y="3145536"/>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5</a:t>
            </a:r>
            <a:endParaRPr lang="en-US" sz="1400" dirty="0"/>
          </a:p>
        </p:txBody>
      </p:sp>
      <p:sp>
        <p:nvSpPr>
          <p:cNvPr id="20" name="Text 18"/>
          <p:cNvSpPr txBox="1"/>
          <p:nvPr/>
        </p:nvSpPr>
        <p:spPr>
          <a:xfrm>
            <a:off x="1024128" y="3108960"/>
            <a:ext cx="7662672" cy="420624"/>
          </a:xfrm>
          <a:prstGeom prst="rect">
            <a:avLst/>
          </a:prstGeom>
          <a:noFill/>
          <a:ln/>
        </p:spPr>
        <p:txBody>
          <a:bodyPr wrap="square" lIns="0" tIns="0" rIns="0" bIns="0" rtlCol="0" anchor="ctr"/>
          <a:lstStyle/>
          <a:p>
            <a:pPr indent="0" marL="0">
              <a:buNone/>
            </a:pPr>
            <a:r>
              <a:rPr lang="en-US" sz="1200" dirty="0">
                <a:solidFill>
                  <a:srgbClr val="2B2622"/>
                </a:solidFill>
                <a:latin typeface="Calibri" pitchFamily="34" charset="0"/>
                <a:ea typeface="Calibri" pitchFamily="34" charset="-122"/>
                <a:cs typeface="Calibri" pitchFamily="34" charset="-120"/>
              </a:rPr>
              <a:t>How does segregated witness fix malleability without splitting the network?</a:t>
            </a:r>
            <a:endParaRPr lang="en-US" sz="1200" dirty="0"/>
          </a:p>
        </p:txBody>
      </p:sp>
      <p:sp>
        <p:nvSpPr>
          <p:cNvPr id="21" name="Shape 19"/>
          <p:cNvSpPr/>
          <p:nvPr/>
        </p:nvSpPr>
        <p:spPr>
          <a:xfrm>
            <a:off x="457200" y="3602736"/>
            <a:ext cx="402336" cy="402336"/>
          </a:xfrm>
          <a:prstGeom prst="ellipse">
            <a:avLst/>
          </a:prstGeom>
          <a:solidFill>
            <a:srgbClr val="D97A14"/>
          </a:solidFill>
          <a:ln w="12700">
            <a:solidFill>
              <a:srgbClr val="D97A14"/>
            </a:solidFill>
            <a:prstDash val="solid"/>
          </a:ln>
        </p:spPr>
      </p:sp>
      <p:sp>
        <p:nvSpPr>
          <p:cNvPr id="22" name="Text 20"/>
          <p:cNvSpPr txBox="1"/>
          <p:nvPr/>
        </p:nvSpPr>
        <p:spPr>
          <a:xfrm>
            <a:off x="457200" y="3602736"/>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6</a:t>
            </a:r>
            <a:endParaRPr lang="en-US" sz="1400" dirty="0"/>
          </a:p>
        </p:txBody>
      </p:sp>
      <p:sp>
        <p:nvSpPr>
          <p:cNvPr id="23" name="Text 21"/>
          <p:cNvSpPr txBox="1"/>
          <p:nvPr/>
        </p:nvSpPr>
        <p:spPr>
          <a:xfrm>
            <a:off x="1024128" y="3566160"/>
            <a:ext cx="7662672" cy="420624"/>
          </a:xfrm>
          <a:prstGeom prst="rect">
            <a:avLst/>
          </a:prstGeom>
          <a:noFill/>
          <a:ln/>
        </p:spPr>
        <p:txBody>
          <a:bodyPr wrap="square" lIns="0" tIns="0" rIns="0" bIns="0" rtlCol="0" anchor="ctr"/>
          <a:lstStyle/>
          <a:p>
            <a:pPr indent="0" marL="0">
              <a:buNone/>
            </a:pPr>
            <a:r>
              <a:rPr lang="en-US" sz="1200" dirty="0">
                <a:solidFill>
                  <a:srgbClr val="2B2622"/>
                </a:solidFill>
                <a:latin typeface="Calibri" pitchFamily="34" charset="0"/>
                <a:ea typeface="Calibri" pitchFamily="34" charset="-122"/>
                <a:cs typeface="Calibri" pitchFamily="34" charset="-120"/>
              </a:rPr>
              <a:t>What does taproot hide, and what does a key path or script path reveal?</a:t>
            </a:r>
            <a:endParaRPr lang="en-US" sz="1200" dirty="0"/>
          </a:p>
        </p:txBody>
      </p:sp>
      <p:sp>
        <p:nvSpPr>
          <p:cNvPr id="24" name="Shape 22"/>
          <p:cNvSpPr/>
          <p:nvPr/>
        </p:nvSpPr>
        <p:spPr>
          <a:xfrm>
            <a:off x="457200" y="4059936"/>
            <a:ext cx="402336" cy="402336"/>
          </a:xfrm>
          <a:prstGeom prst="ellipse">
            <a:avLst/>
          </a:prstGeom>
          <a:solidFill>
            <a:srgbClr val="D97A14"/>
          </a:solidFill>
          <a:ln w="12700">
            <a:solidFill>
              <a:srgbClr val="D97A14"/>
            </a:solidFill>
            <a:prstDash val="solid"/>
          </a:ln>
        </p:spPr>
      </p:sp>
      <p:sp>
        <p:nvSpPr>
          <p:cNvPr id="25" name="Text 23"/>
          <p:cNvSpPr txBox="1"/>
          <p:nvPr/>
        </p:nvSpPr>
        <p:spPr>
          <a:xfrm>
            <a:off x="457200" y="4059936"/>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7</a:t>
            </a:r>
            <a:endParaRPr lang="en-US" sz="1400" dirty="0"/>
          </a:p>
        </p:txBody>
      </p:sp>
      <p:sp>
        <p:nvSpPr>
          <p:cNvPr id="26" name="Text 24"/>
          <p:cNvSpPr txBox="1"/>
          <p:nvPr/>
        </p:nvSpPr>
        <p:spPr>
          <a:xfrm>
            <a:off x="1024128" y="4023360"/>
            <a:ext cx="7662672" cy="420624"/>
          </a:xfrm>
          <a:prstGeom prst="rect">
            <a:avLst/>
          </a:prstGeom>
          <a:noFill/>
          <a:ln/>
        </p:spPr>
        <p:txBody>
          <a:bodyPr wrap="square" lIns="0" tIns="0" rIns="0" bIns="0" rtlCol="0" anchor="ctr"/>
          <a:lstStyle/>
          <a:p>
            <a:pPr indent="0" marL="0">
              <a:buNone/>
            </a:pPr>
            <a:r>
              <a:rPr lang="en-US" sz="1200" dirty="0">
                <a:solidFill>
                  <a:srgbClr val="2B2622"/>
                </a:solidFill>
                <a:latin typeface="Calibri" pitchFamily="34" charset="0"/>
                <a:ea typeface="Calibri" pitchFamily="34" charset="-122"/>
                <a:cs typeface="Calibri" pitchFamily="34" charset="-120"/>
              </a:rPr>
              <a:t>What does tapscript change in the language?</a:t>
            </a:r>
            <a:endParaRPr lang="en-US" sz="1200" dirty="0"/>
          </a:p>
        </p:txBody>
      </p:sp>
      <p:sp>
        <p:nvSpPr>
          <p:cNvPr id="27" name="Text 25"/>
          <p:cNvSpPr txBox="1"/>
          <p:nvPr/>
        </p:nvSpPr>
        <p:spPr>
          <a:xfrm>
            <a:off x="7863840" y="4645152"/>
            <a:ext cx="868680" cy="310896"/>
          </a:xfrm>
          <a:prstGeom prst="rect">
            <a:avLst/>
          </a:prstGeom>
          <a:noFill/>
          <a:ln/>
        </p:spPr>
        <p:txBody>
          <a:bodyPr wrap="square" lIns="0" tIns="0" rIns="0" bIns="0" rtlCol="0" anchor="ctr"/>
          <a:lstStyle/>
          <a:p>
            <a:pPr algn="r" indent="0" marL="0">
              <a:buNone/>
            </a:pPr>
            <a:r>
              <a:rPr lang="en-US" sz="1100" dirty="0">
                <a:solidFill>
                  <a:srgbClr val="6E655C"/>
                </a:solidFill>
                <a:latin typeface="Calibri" pitchFamily="34" charset="0"/>
                <a:ea typeface="Calibri" pitchFamily="34" charset="-122"/>
                <a:cs typeface="Calibri" pitchFamily="34" charset="-120"/>
              </a:rPr>
              <a:t>3 / 61</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6EF"/>
        </a:solidFill>
      </p:bgPr>
    </p:bg>
    <p:spTree>
      <p:nvGrpSpPr>
        <p:cNvPr id="1" name=""/>
        <p:cNvGrpSpPr/>
        <p:nvPr/>
      </p:nvGrpSpPr>
      <p:grpSpPr>
        <a:xfrm>
          <a:off x="0" y="0"/>
          <a:ext cx="0" cy="0"/>
          <a:chOff x="0" y="0"/>
          <a:chExt cx="0" cy="0"/>
        </a:xfrm>
      </p:grpSpPr>
      <p:sp>
        <p:nvSpPr>
          <p:cNvPr id="2" name="Shape 0"/>
          <p:cNvSpPr/>
          <p:nvPr/>
        </p:nvSpPr>
        <p:spPr>
          <a:xfrm>
            <a:off x="457200" y="347472"/>
            <a:ext cx="566928" cy="384048"/>
          </a:xfrm>
          <a:prstGeom prst="roundRect">
            <a:avLst>
              <a:gd name="adj" fmla="val 19048"/>
            </a:avLst>
          </a:prstGeom>
          <a:solidFill>
            <a:srgbClr val="D97A14"/>
          </a:solidFill>
          <a:ln w="12700">
            <a:solidFill>
              <a:srgbClr val="D97A14"/>
            </a:solidFill>
            <a:prstDash val="solid"/>
          </a:ln>
        </p:spPr>
      </p:sp>
      <p:sp>
        <p:nvSpPr>
          <p:cNvPr id="3" name="Text 1"/>
          <p:cNvSpPr txBox="1"/>
          <p:nvPr/>
        </p:nvSpPr>
        <p:spPr>
          <a:xfrm>
            <a:off x="457200" y="347472"/>
            <a:ext cx="56692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4" name="Text 2"/>
          <p:cNvSpPr txBox="1"/>
          <p:nvPr/>
        </p:nvSpPr>
        <p:spPr>
          <a:xfrm>
            <a:off x="1143000" y="237744"/>
            <a:ext cx="7543800" cy="566928"/>
          </a:xfrm>
          <a:prstGeom prst="rect">
            <a:avLst/>
          </a:prstGeom>
          <a:noFill/>
          <a:ln/>
        </p:spPr>
        <p:txBody>
          <a:bodyPr wrap="square" lIns="0" tIns="0" rIns="0" bIns="0" rtlCol="0" anchor="ctr"/>
          <a:lstStyle/>
          <a:p>
            <a:pPr indent="0" marL="0">
              <a:buNone/>
            </a:pPr>
            <a:r>
              <a:rPr lang="en-US" sz="2800" b="1" dirty="0">
                <a:solidFill>
                  <a:srgbClr val="2B2622"/>
                </a:solidFill>
                <a:latin typeface="Cambria" pitchFamily="34" charset="0"/>
                <a:ea typeface="Cambria" pitchFamily="34" charset="-122"/>
                <a:cs typeface="Cambria" pitchFamily="34" charset="-120"/>
              </a:rPr>
              <a:t>One chapter, nine parts</a:t>
            </a:r>
            <a:endParaRPr lang="en-US" sz="2800" dirty="0"/>
          </a:p>
        </p:txBody>
      </p:sp>
      <p:sp>
        <p:nvSpPr>
          <p:cNvPr id="5" name="Text 3"/>
          <p:cNvSpPr txBox="1"/>
          <p:nvPr/>
        </p:nvSpPr>
        <p:spPr>
          <a:xfrm>
            <a:off x="1143000" y="786384"/>
            <a:ext cx="7543800" cy="310896"/>
          </a:xfrm>
          <a:prstGeom prst="rect">
            <a:avLst/>
          </a:prstGeom>
          <a:noFill/>
          <a:ln/>
        </p:spPr>
        <p:txBody>
          <a:bodyPr wrap="square" lIns="0" tIns="0" rIns="0" bIns="0" rtlCol="0" anchor="ctr"/>
          <a:lstStyle/>
          <a:p>
            <a:pPr indent="0" marL="0">
              <a:buNone/>
            </a:pPr>
            <a:r>
              <a:rPr lang="en-US" sz="1300" i="1" dirty="0">
                <a:solidFill>
                  <a:srgbClr val="6E655C"/>
                </a:solidFill>
                <a:latin typeface="Calibri" pitchFamily="34" charset="0"/>
                <a:ea typeface="Calibri" pitchFamily="34" charset="-122"/>
                <a:cs typeface="Calibri" pitchFamily="34" charset="-120"/>
              </a:rPr>
              <a:t>The concept map the whole deck hangs on</a:t>
            </a:r>
            <a:endParaRPr lang="en-US" sz="1300" dirty="0"/>
          </a:p>
        </p:txBody>
      </p:sp>
      <p:sp>
        <p:nvSpPr>
          <p:cNvPr id="6" name="Shape 4"/>
          <p:cNvSpPr/>
          <p:nvPr/>
        </p:nvSpPr>
        <p:spPr>
          <a:xfrm>
            <a:off x="457200" y="1280160"/>
            <a:ext cx="2645664" cy="950976"/>
          </a:xfrm>
          <a:prstGeom prst="roundRect">
            <a:avLst>
              <a:gd name="adj" fmla="val 7692"/>
            </a:avLst>
          </a:prstGeom>
          <a:solidFill>
            <a:srgbClr val="F2ECE1"/>
          </a:solidFill>
          <a:ln w="12700">
            <a:solidFill>
              <a:srgbClr val="DFD6C7"/>
            </a:solidFill>
            <a:prstDash val="solid"/>
          </a:ln>
        </p:spPr>
      </p:sp>
      <p:sp>
        <p:nvSpPr>
          <p:cNvPr id="7" name="Text 5"/>
          <p:cNvSpPr txBox="1"/>
          <p:nvPr/>
        </p:nvSpPr>
        <p:spPr>
          <a:xfrm>
            <a:off x="548640" y="1335024"/>
            <a:ext cx="2462784" cy="841248"/>
          </a:xfrm>
          <a:prstGeom prst="rect">
            <a:avLst/>
          </a:prstGeom>
          <a:noFill/>
          <a:ln/>
        </p:spPr>
        <p:txBody>
          <a:bodyPr wrap="square" lIns="0" tIns="0" rIns="0" bIns="0" rtlCol="0" anchor="ctr"/>
          <a:lstStyle/>
          <a:p>
            <a:pPr algn="ctr" indent="0" marL="0">
              <a:buNone/>
            </a:pPr>
            <a:r>
              <a:rPr lang="en-US" sz="1250" b="1" dirty="0">
                <a:solidFill>
                  <a:srgbClr val="2B2622"/>
                </a:solidFill>
                <a:latin typeface="Calibri" pitchFamily="34" charset="0"/>
                <a:ea typeface="Calibri" pitchFamily="34" charset="-122"/>
                <a:cs typeface="Calibri" pitchFamily="34" charset="-120"/>
              </a:rPr>
              <a:t>Scripts and the Script language</a:t>
            </a:r>
            <a:endParaRPr lang="en-US" sz="1250" dirty="0"/>
          </a:p>
          <a:p>
            <a:pPr algn="ctr" indent="0" marL="0">
              <a:buNone/>
            </a:pPr>
            <a:r>
              <a:rPr lang="en-US" sz="1050" dirty="0">
                <a:solidFill>
                  <a:srgbClr val="6E655C"/>
                </a:solidFill>
                <a:latin typeface="Calibri" pitchFamily="34" charset="0"/>
                <a:ea typeface="Calibri" pitchFamily="34" charset="-122"/>
                <a:cs typeface="Calibri" pitchFamily="34" charset="-120"/>
              </a:rPr>
              <a:t>14 concepts</a:t>
            </a:r>
            <a:endParaRPr lang="en-US" sz="1250" dirty="0"/>
          </a:p>
        </p:txBody>
      </p:sp>
      <p:sp>
        <p:nvSpPr>
          <p:cNvPr id="8" name="Shape 6"/>
          <p:cNvSpPr/>
          <p:nvPr/>
        </p:nvSpPr>
        <p:spPr>
          <a:xfrm>
            <a:off x="3249168" y="1280160"/>
            <a:ext cx="2645664" cy="950976"/>
          </a:xfrm>
          <a:prstGeom prst="roundRect">
            <a:avLst>
              <a:gd name="adj" fmla="val 7692"/>
            </a:avLst>
          </a:prstGeom>
          <a:solidFill>
            <a:srgbClr val="F2ECE1"/>
          </a:solidFill>
          <a:ln w="12700">
            <a:solidFill>
              <a:srgbClr val="DFD6C7"/>
            </a:solidFill>
            <a:prstDash val="solid"/>
          </a:ln>
        </p:spPr>
      </p:sp>
      <p:sp>
        <p:nvSpPr>
          <p:cNvPr id="9" name="Text 7"/>
          <p:cNvSpPr txBox="1"/>
          <p:nvPr/>
        </p:nvSpPr>
        <p:spPr>
          <a:xfrm>
            <a:off x="3340608" y="1335024"/>
            <a:ext cx="2462784" cy="841248"/>
          </a:xfrm>
          <a:prstGeom prst="rect">
            <a:avLst/>
          </a:prstGeom>
          <a:noFill/>
          <a:ln/>
        </p:spPr>
        <p:txBody>
          <a:bodyPr wrap="square" lIns="0" tIns="0" rIns="0" bIns="0" rtlCol="0" anchor="ctr"/>
          <a:lstStyle/>
          <a:p>
            <a:pPr algn="ctr" indent="0" marL="0">
              <a:buNone/>
            </a:pPr>
            <a:r>
              <a:rPr lang="en-US" sz="1250" b="1" dirty="0">
                <a:solidFill>
                  <a:srgbClr val="2B2622"/>
                </a:solidFill>
                <a:latin typeface="Calibri" pitchFamily="34" charset="0"/>
                <a:ea typeface="Calibri" pitchFamily="34" charset="-122"/>
                <a:cs typeface="Calibri" pitchFamily="34" charset="-120"/>
              </a:rPr>
              <a:t>Locking a coin to a key</a:t>
            </a:r>
            <a:endParaRPr lang="en-US" sz="1250" dirty="0"/>
          </a:p>
          <a:p>
            <a:pPr algn="ctr" indent="0" marL="0">
              <a:buNone/>
            </a:pPr>
            <a:r>
              <a:rPr lang="en-US" sz="1050" dirty="0">
                <a:solidFill>
                  <a:srgbClr val="6E655C"/>
                </a:solidFill>
                <a:latin typeface="Calibri" pitchFamily="34" charset="0"/>
                <a:ea typeface="Calibri" pitchFamily="34" charset="-122"/>
                <a:cs typeface="Calibri" pitchFamily="34" charset="-120"/>
              </a:rPr>
              <a:t>6 concepts</a:t>
            </a:r>
            <a:endParaRPr lang="en-US" sz="1250" dirty="0"/>
          </a:p>
        </p:txBody>
      </p:sp>
      <p:sp>
        <p:nvSpPr>
          <p:cNvPr id="10" name="Shape 8"/>
          <p:cNvSpPr/>
          <p:nvPr/>
        </p:nvSpPr>
        <p:spPr>
          <a:xfrm>
            <a:off x="6041136" y="1280160"/>
            <a:ext cx="2645664" cy="950976"/>
          </a:xfrm>
          <a:prstGeom prst="roundRect">
            <a:avLst>
              <a:gd name="adj" fmla="val 7692"/>
            </a:avLst>
          </a:prstGeom>
          <a:solidFill>
            <a:srgbClr val="F2ECE1"/>
          </a:solidFill>
          <a:ln w="12700">
            <a:solidFill>
              <a:srgbClr val="DFD6C7"/>
            </a:solidFill>
            <a:prstDash val="solid"/>
          </a:ln>
        </p:spPr>
      </p:sp>
      <p:sp>
        <p:nvSpPr>
          <p:cNvPr id="11" name="Text 9"/>
          <p:cNvSpPr txBox="1"/>
          <p:nvPr/>
        </p:nvSpPr>
        <p:spPr>
          <a:xfrm>
            <a:off x="6132576" y="1335024"/>
            <a:ext cx="2462784" cy="841248"/>
          </a:xfrm>
          <a:prstGeom prst="rect">
            <a:avLst/>
          </a:prstGeom>
          <a:noFill/>
          <a:ln/>
        </p:spPr>
        <p:txBody>
          <a:bodyPr wrap="square" lIns="0" tIns="0" rIns="0" bIns="0" rtlCol="0" anchor="ctr"/>
          <a:lstStyle/>
          <a:p>
            <a:pPr algn="ctr" indent="0" marL="0">
              <a:buNone/>
            </a:pPr>
            <a:r>
              <a:rPr lang="en-US" sz="1250" b="1" dirty="0">
                <a:solidFill>
                  <a:srgbClr val="2B2622"/>
                </a:solidFill>
                <a:latin typeface="Calibri" pitchFamily="34" charset="0"/>
                <a:ea typeface="Calibri" pitchFamily="34" charset="-122"/>
                <a:cs typeface="Calibri" pitchFamily="34" charset="-120"/>
              </a:rPr>
              <a:t>Scripted multisignatures</a:t>
            </a:r>
            <a:endParaRPr lang="en-US" sz="1250" dirty="0"/>
          </a:p>
          <a:p>
            <a:pPr algn="ctr" indent="0" marL="0">
              <a:buNone/>
            </a:pPr>
            <a:r>
              <a:rPr lang="en-US" sz="1050" dirty="0">
                <a:solidFill>
                  <a:srgbClr val="6E655C"/>
                </a:solidFill>
                <a:latin typeface="Calibri" pitchFamily="34" charset="0"/>
                <a:ea typeface="Calibri" pitchFamily="34" charset="-122"/>
                <a:cs typeface="Calibri" pitchFamily="34" charset="-120"/>
              </a:rPr>
              <a:t>5 concepts</a:t>
            </a:r>
            <a:endParaRPr lang="en-US" sz="1250" dirty="0"/>
          </a:p>
        </p:txBody>
      </p:sp>
      <p:sp>
        <p:nvSpPr>
          <p:cNvPr id="12" name="Shape 10"/>
          <p:cNvSpPr/>
          <p:nvPr/>
        </p:nvSpPr>
        <p:spPr>
          <a:xfrm>
            <a:off x="457200" y="2359152"/>
            <a:ext cx="2645664" cy="950976"/>
          </a:xfrm>
          <a:prstGeom prst="roundRect">
            <a:avLst>
              <a:gd name="adj" fmla="val 7692"/>
            </a:avLst>
          </a:prstGeom>
          <a:solidFill>
            <a:srgbClr val="F2ECE1"/>
          </a:solidFill>
          <a:ln w="12700">
            <a:solidFill>
              <a:srgbClr val="DFD6C7"/>
            </a:solidFill>
            <a:prstDash val="solid"/>
          </a:ln>
        </p:spPr>
      </p:sp>
      <p:sp>
        <p:nvSpPr>
          <p:cNvPr id="13" name="Text 11"/>
          <p:cNvSpPr txBox="1"/>
          <p:nvPr/>
        </p:nvSpPr>
        <p:spPr>
          <a:xfrm>
            <a:off x="548640" y="2414016"/>
            <a:ext cx="2462784" cy="841248"/>
          </a:xfrm>
          <a:prstGeom prst="rect">
            <a:avLst/>
          </a:prstGeom>
          <a:noFill/>
          <a:ln/>
        </p:spPr>
        <p:txBody>
          <a:bodyPr wrap="square" lIns="0" tIns="0" rIns="0" bIns="0" rtlCol="0" anchor="ctr"/>
          <a:lstStyle/>
          <a:p>
            <a:pPr algn="ctr" indent="0" marL="0">
              <a:buNone/>
            </a:pPr>
            <a:r>
              <a:rPr lang="en-US" sz="1250" b="1" dirty="0">
                <a:solidFill>
                  <a:srgbClr val="2B2622"/>
                </a:solidFill>
                <a:latin typeface="Calibri" pitchFamily="34" charset="0"/>
                <a:ea typeface="Calibri" pitchFamily="34" charset="-122"/>
                <a:cs typeface="Calibri" pitchFamily="34" charset="-120"/>
              </a:rPr>
              <a:t>Pay to script hash</a:t>
            </a:r>
            <a:endParaRPr lang="en-US" sz="1250" dirty="0"/>
          </a:p>
          <a:p>
            <a:pPr algn="ctr" indent="0" marL="0">
              <a:buNone/>
            </a:pPr>
            <a:r>
              <a:rPr lang="en-US" sz="1050" dirty="0">
                <a:solidFill>
                  <a:srgbClr val="6E655C"/>
                </a:solidFill>
                <a:latin typeface="Calibri" pitchFamily="34" charset="0"/>
                <a:ea typeface="Calibri" pitchFamily="34" charset="-122"/>
                <a:cs typeface="Calibri" pitchFamily="34" charset="-120"/>
              </a:rPr>
              <a:t>6 concepts</a:t>
            </a:r>
            <a:endParaRPr lang="en-US" sz="1250" dirty="0"/>
          </a:p>
        </p:txBody>
      </p:sp>
      <p:sp>
        <p:nvSpPr>
          <p:cNvPr id="14" name="Shape 12"/>
          <p:cNvSpPr/>
          <p:nvPr/>
        </p:nvSpPr>
        <p:spPr>
          <a:xfrm>
            <a:off x="3249168" y="2359152"/>
            <a:ext cx="2645664" cy="950976"/>
          </a:xfrm>
          <a:prstGeom prst="roundRect">
            <a:avLst>
              <a:gd name="adj" fmla="val 7692"/>
            </a:avLst>
          </a:prstGeom>
          <a:solidFill>
            <a:srgbClr val="F2ECE1"/>
          </a:solidFill>
          <a:ln w="12700">
            <a:solidFill>
              <a:srgbClr val="DFD6C7"/>
            </a:solidFill>
            <a:prstDash val="solid"/>
          </a:ln>
        </p:spPr>
      </p:sp>
      <p:sp>
        <p:nvSpPr>
          <p:cNvPr id="15" name="Text 13"/>
          <p:cNvSpPr txBox="1"/>
          <p:nvPr/>
        </p:nvSpPr>
        <p:spPr>
          <a:xfrm>
            <a:off x="3340608" y="2414016"/>
            <a:ext cx="2462784" cy="841248"/>
          </a:xfrm>
          <a:prstGeom prst="rect">
            <a:avLst/>
          </a:prstGeom>
          <a:noFill/>
          <a:ln/>
        </p:spPr>
        <p:txBody>
          <a:bodyPr wrap="square" lIns="0" tIns="0" rIns="0" bIns="0" rtlCol="0" anchor="ctr"/>
          <a:lstStyle/>
          <a:p>
            <a:pPr algn="ctr" indent="0" marL="0">
              <a:buNone/>
            </a:pPr>
            <a:r>
              <a:rPr lang="en-US" sz="1250" b="1" dirty="0">
                <a:solidFill>
                  <a:srgbClr val="2B2622"/>
                </a:solidFill>
                <a:latin typeface="Calibri" pitchFamily="34" charset="0"/>
                <a:ea typeface="Calibri" pitchFamily="34" charset="-122"/>
                <a:cs typeface="Calibri" pitchFamily="34" charset="-120"/>
              </a:rPr>
              <a:t>Data and timelocks</a:t>
            </a:r>
            <a:endParaRPr lang="en-US" sz="1250" dirty="0"/>
          </a:p>
          <a:p>
            <a:pPr algn="ctr" indent="0" marL="0">
              <a:buNone/>
            </a:pPr>
            <a:r>
              <a:rPr lang="en-US" sz="1050" dirty="0">
                <a:solidFill>
                  <a:srgbClr val="6E655C"/>
                </a:solidFill>
                <a:latin typeface="Calibri" pitchFamily="34" charset="0"/>
                <a:ea typeface="Calibri" pitchFamily="34" charset="-122"/>
                <a:cs typeface="Calibri" pitchFamily="34" charset="-120"/>
              </a:rPr>
              <a:t>11 concepts</a:t>
            </a:r>
            <a:endParaRPr lang="en-US" sz="1250" dirty="0"/>
          </a:p>
        </p:txBody>
      </p:sp>
      <p:sp>
        <p:nvSpPr>
          <p:cNvPr id="16" name="Shape 14"/>
          <p:cNvSpPr/>
          <p:nvPr/>
        </p:nvSpPr>
        <p:spPr>
          <a:xfrm>
            <a:off x="6041136" y="2359152"/>
            <a:ext cx="2645664" cy="950976"/>
          </a:xfrm>
          <a:prstGeom prst="roundRect">
            <a:avLst>
              <a:gd name="adj" fmla="val 7692"/>
            </a:avLst>
          </a:prstGeom>
          <a:solidFill>
            <a:srgbClr val="F2ECE1"/>
          </a:solidFill>
          <a:ln w="12700">
            <a:solidFill>
              <a:srgbClr val="DFD6C7"/>
            </a:solidFill>
            <a:prstDash val="solid"/>
          </a:ln>
        </p:spPr>
      </p:sp>
      <p:sp>
        <p:nvSpPr>
          <p:cNvPr id="17" name="Text 15"/>
          <p:cNvSpPr txBox="1"/>
          <p:nvPr/>
        </p:nvSpPr>
        <p:spPr>
          <a:xfrm>
            <a:off x="6132576" y="2414016"/>
            <a:ext cx="2462784" cy="841248"/>
          </a:xfrm>
          <a:prstGeom prst="rect">
            <a:avLst/>
          </a:prstGeom>
          <a:noFill/>
          <a:ln/>
        </p:spPr>
        <p:txBody>
          <a:bodyPr wrap="square" lIns="0" tIns="0" rIns="0" bIns="0" rtlCol="0" anchor="ctr"/>
          <a:lstStyle/>
          <a:p>
            <a:pPr algn="ctr" indent="0" marL="0">
              <a:buNone/>
            </a:pPr>
            <a:r>
              <a:rPr lang="en-US" sz="1250" b="1" dirty="0">
                <a:solidFill>
                  <a:srgbClr val="2B2622"/>
                </a:solidFill>
                <a:latin typeface="Calibri" pitchFamily="34" charset="0"/>
                <a:ea typeface="Calibri" pitchFamily="34" charset="-122"/>
                <a:cs typeface="Calibri" pitchFamily="34" charset="-120"/>
              </a:rPr>
              <a:t>Flow control and complex scripts</a:t>
            </a:r>
            <a:endParaRPr lang="en-US" sz="1250" dirty="0"/>
          </a:p>
          <a:p>
            <a:pPr algn="ctr" indent="0" marL="0">
              <a:buNone/>
            </a:pPr>
            <a:r>
              <a:rPr lang="en-US" sz="1050" dirty="0">
                <a:solidFill>
                  <a:srgbClr val="6E655C"/>
                </a:solidFill>
                <a:latin typeface="Calibri" pitchFamily="34" charset="0"/>
                <a:ea typeface="Calibri" pitchFamily="34" charset="-122"/>
                <a:cs typeface="Calibri" pitchFamily="34" charset="-120"/>
              </a:rPr>
              <a:t>8 concepts</a:t>
            </a:r>
            <a:endParaRPr lang="en-US" sz="1250" dirty="0"/>
          </a:p>
        </p:txBody>
      </p:sp>
      <p:sp>
        <p:nvSpPr>
          <p:cNvPr id="18" name="Shape 16"/>
          <p:cNvSpPr/>
          <p:nvPr/>
        </p:nvSpPr>
        <p:spPr>
          <a:xfrm>
            <a:off x="457200" y="3438144"/>
            <a:ext cx="2645664" cy="950976"/>
          </a:xfrm>
          <a:prstGeom prst="roundRect">
            <a:avLst>
              <a:gd name="adj" fmla="val 7692"/>
            </a:avLst>
          </a:prstGeom>
          <a:solidFill>
            <a:srgbClr val="F2ECE1"/>
          </a:solidFill>
          <a:ln w="12700">
            <a:solidFill>
              <a:srgbClr val="DFD6C7"/>
            </a:solidFill>
            <a:prstDash val="solid"/>
          </a:ln>
        </p:spPr>
      </p:sp>
      <p:sp>
        <p:nvSpPr>
          <p:cNvPr id="19" name="Text 17"/>
          <p:cNvSpPr txBox="1"/>
          <p:nvPr/>
        </p:nvSpPr>
        <p:spPr>
          <a:xfrm>
            <a:off x="548640" y="3493008"/>
            <a:ext cx="2462784" cy="841248"/>
          </a:xfrm>
          <a:prstGeom prst="rect">
            <a:avLst/>
          </a:prstGeom>
          <a:noFill/>
          <a:ln/>
        </p:spPr>
        <p:txBody>
          <a:bodyPr wrap="square" lIns="0" tIns="0" rIns="0" bIns="0" rtlCol="0" anchor="ctr"/>
          <a:lstStyle/>
          <a:p>
            <a:pPr algn="ctr" indent="0" marL="0">
              <a:buNone/>
            </a:pPr>
            <a:r>
              <a:rPr lang="en-US" sz="1250" b="1" dirty="0">
                <a:solidFill>
                  <a:srgbClr val="2B2622"/>
                </a:solidFill>
                <a:latin typeface="Calibri" pitchFamily="34" charset="0"/>
                <a:ea typeface="Calibri" pitchFamily="34" charset="-122"/>
                <a:cs typeface="Calibri" pitchFamily="34" charset="-120"/>
              </a:rPr>
              <a:t>Segregated witness scripts</a:t>
            </a:r>
            <a:endParaRPr lang="en-US" sz="1250" dirty="0"/>
          </a:p>
          <a:p>
            <a:pPr algn="ctr" indent="0" marL="0">
              <a:buNone/>
            </a:pPr>
            <a:r>
              <a:rPr lang="en-US" sz="1050" dirty="0">
                <a:solidFill>
                  <a:srgbClr val="6E655C"/>
                </a:solidFill>
                <a:latin typeface="Calibri" pitchFamily="34" charset="0"/>
                <a:ea typeface="Calibri" pitchFamily="34" charset="-122"/>
                <a:cs typeface="Calibri" pitchFamily="34" charset="-120"/>
              </a:rPr>
              <a:t>16 concepts</a:t>
            </a:r>
            <a:endParaRPr lang="en-US" sz="1250" dirty="0"/>
          </a:p>
        </p:txBody>
      </p:sp>
      <p:sp>
        <p:nvSpPr>
          <p:cNvPr id="20" name="Shape 18"/>
          <p:cNvSpPr/>
          <p:nvPr/>
        </p:nvSpPr>
        <p:spPr>
          <a:xfrm>
            <a:off x="3249168" y="3438144"/>
            <a:ext cx="2645664" cy="950976"/>
          </a:xfrm>
          <a:prstGeom prst="roundRect">
            <a:avLst>
              <a:gd name="adj" fmla="val 7692"/>
            </a:avLst>
          </a:prstGeom>
          <a:solidFill>
            <a:srgbClr val="F2ECE1"/>
          </a:solidFill>
          <a:ln w="12700">
            <a:solidFill>
              <a:srgbClr val="DFD6C7"/>
            </a:solidFill>
            <a:prstDash val="solid"/>
          </a:ln>
        </p:spPr>
      </p:sp>
      <p:sp>
        <p:nvSpPr>
          <p:cNvPr id="21" name="Text 19"/>
          <p:cNvSpPr txBox="1"/>
          <p:nvPr/>
        </p:nvSpPr>
        <p:spPr>
          <a:xfrm>
            <a:off x="3340608" y="3493008"/>
            <a:ext cx="2462784" cy="841248"/>
          </a:xfrm>
          <a:prstGeom prst="rect">
            <a:avLst/>
          </a:prstGeom>
          <a:noFill/>
          <a:ln/>
        </p:spPr>
        <p:txBody>
          <a:bodyPr wrap="square" lIns="0" tIns="0" rIns="0" bIns="0" rtlCol="0" anchor="ctr"/>
          <a:lstStyle/>
          <a:p>
            <a:pPr algn="ctr" indent="0" marL="0">
              <a:buNone/>
            </a:pPr>
            <a:r>
              <a:rPr lang="en-US" sz="1250" b="1" dirty="0">
                <a:solidFill>
                  <a:srgbClr val="2B2622"/>
                </a:solidFill>
                <a:latin typeface="Calibri" pitchFamily="34" charset="0"/>
                <a:ea typeface="Calibri" pitchFamily="34" charset="-122"/>
                <a:cs typeface="Calibri" pitchFamily="34" charset="-120"/>
              </a:rPr>
              <a:t>Script trees and key tweaks</a:t>
            </a:r>
            <a:endParaRPr lang="en-US" sz="1250" dirty="0"/>
          </a:p>
          <a:p>
            <a:pPr algn="ctr" indent="0" marL="0">
              <a:buNone/>
            </a:pPr>
            <a:r>
              <a:rPr lang="en-US" sz="1050" dirty="0">
                <a:solidFill>
                  <a:srgbClr val="6E655C"/>
                </a:solidFill>
                <a:latin typeface="Calibri" pitchFamily="34" charset="0"/>
                <a:ea typeface="Calibri" pitchFamily="34" charset="-122"/>
                <a:cs typeface="Calibri" pitchFamily="34" charset="-120"/>
              </a:rPr>
              <a:t>10 concepts</a:t>
            </a:r>
            <a:endParaRPr lang="en-US" sz="1250" dirty="0"/>
          </a:p>
        </p:txBody>
      </p:sp>
      <p:sp>
        <p:nvSpPr>
          <p:cNvPr id="22" name="Shape 20"/>
          <p:cNvSpPr/>
          <p:nvPr/>
        </p:nvSpPr>
        <p:spPr>
          <a:xfrm>
            <a:off x="6041136" y="3438144"/>
            <a:ext cx="2645664" cy="950976"/>
          </a:xfrm>
          <a:prstGeom prst="roundRect">
            <a:avLst>
              <a:gd name="adj" fmla="val 7692"/>
            </a:avLst>
          </a:prstGeom>
          <a:solidFill>
            <a:srgbClr val="D97A14"/>
          </a:solidFill>
          <a:ln w="12700">
            <a:solidFill>
              <a:srgbClr val="D97A14"/>
            </a:solidFill>
            <a:prstDash val="solid"/>
          </a:ln>
        </p:spPr>
      </p:sp>
      <p:sp>
        <p:nvSpPr>
          <p:cNvPr id="23" name="Text 21"/>
          <p:cNvSpPr txBox="1"/>
          <p:nvPr/>
        </p:nvSpPr>
        <p:spPr>
          <a:xfrm>
            <a:off x="6132576" y="3493008"/>
            <a:ext cx="2462784" cy="841248"/>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Taproot and tapscript</a:t>
            </a:r>
            <a:endParaRPr lang="en-US" sz="1250" dirty="0"/>
          </a:p>
          <a:p>
            <a:pPr algn="ctr" indent="0" marL="0">
              <a:buNone/>
            </a:pPr>
            <a:r>
              <a:rPr lang="en-US" sz="1050" dirty="0">
                <a:solidFill>
                  <a:srgbClr val="FFFFFF"/>
                </a:solidFill>
                <a:latin typeface="Calibri" pitchFamily="34" charset="0"/>
                <a:ea typeface="Calibri" pitchFamily="34" charset="-122"/>
                <a:cs typeface="Calibri" pitchFamily="34" charset="-120"/>
              </a:rPr>
              <a:t>11 concepts</a:t>
            </a:r>
            <a:endParaRPr lang="en-US" sz="1250" dirty="0"/>
          </a:p>
        </p:txBody>
      </p:sp>
      <p:sp>
        <p:nvSpPr>
          <p:cNvPr id="24" name="Shape 22"/>
          <p:cNvSpPr/>
          <p:nvPr/>
        </p:nvSpPr>
        <p:spPr>
          <a:xfrm>
            <a:off x="457200" y="4636008"/>
            <a:ext cx="91440" cy="310896"/>
          </a:xfrm>
          <a:prstGeom prst="rect">
            <a:avLst/>
          </a:prstGeom>
          <a:solidFill>
            <a:srgbClr val="D97A14"/>
          </a:solidFill>
          <a:ln w="12700">
            <a:solidFill>
              <a:srgbClr val="D97A14"/>
            </a:solidFill>
            <a:prstDash val="solid"/>
          </a:ln>
        </p:spPr>
      </p:sp>
      <p:sp>
        <p:nvSpPr>
          <p:cNvPr id="25" name="Text 23"/>
          <p:cNvSpPr txBox="1"/>
          <p:nvPr/>
        </p:nvSpPr>
        <p:spPr>
          <a:xfrm>
            <a:off x="658368" y="4599432"/>
            <a:ext cx="6949440" cy="384048"/>
          </a:xfrm>
          <a:prstGeom prst="rect">
            <a:avLst/>
          </a:prstGeom>
          <a:noFill/>
          <a:ln/>
        </p:spPr>
        <p:txBody>
          <a:bodyPr wrap="square" lIns="0" tIns="0" rIns="0" bIns="0" rtlCol="0" anchor="ctr"/>
          <a:lstStyle/>
          <a:p>
            <a:pPr indent="0" marL="0">
              <a:buNone/>
            </a:pPr>
            <a:r>
              <a:rPr lang="en-US" sz="1350" b="1" i="1" dirty="0">
                <a:solidFill>
                  <a:srgbClr val="2B2622"/>
                </a:solidFill>
                <a:latin typeface="Cambria" pitchFamily="34" charset="0"/>
                <a:ea typeface="Cambria" pitchFamily="34" charset="-122"/>
                <a:cs typeface="Cambria" pitchFamily="34" charset="-120"/>
              </a:rPr>
              <a:t>Nine parts; every slide today lives on this map</a:t>
            </a:r>
            <a:endParaRPr lang="en-US" sz="1350" dirty="0"/>
          </a:p>
        </p:txBody>
      </p:sp>
      <p:sp>
        <p:nvSpPr>
          <p:cNvPr id="26" name="Text 24"/>
          <p:cNvSpPr txBox="1"/>
          <p:nvPr/>
        </p:nvSpPr>
        <p:spPr>
          <a:xfrm>
            <a:off x="7863840" y="4645152"/>
            <a:ext cx="868680" cy="310896"/>
          </a:xfrm>
          <a:prstGeom prst="rect">
            <a:avLst/>
          </a:prstGeom>
          <a:noFill/>
          <a:ln/>
        </p:spPr>
        <p:txBody>
          <a:bodyPr wrap="square" lIns="0" tIns="0" rIns="0" bIns="0" rtlCol="0" anchor="ctr"/>
          <a:lstStyle/>
          <a:p>
            <a:pPr algn="r" indent="0" marL="0">
              <a:buNone/>
            </a:pPr>
            <a:r>
              <a:rPr lang="en-US" sz="1100" dirty="0">
                <a:solidFill>
                  <a:srgbClr val="6E655C"/>
                </a:solidFill>
                <a:latin typeface="Calibri" pitchFamily="34" charset="0"/>
                <a:ea typeface="Calibri" pitchFamily="34" charset="-122"/>
                <a:cs typeface="Calibri" pitchFamily="34" charset="-120"/>
              </a:rPr>
              <a:t>4 / 61</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6EF"/>
        </a:solidFill>
      </p:bgPr>
    </p:bg>
    <p:spTree>
      <p:nvGrpSpPr>
        <p:cNvPr id="1" name=""/>
        <p:cNvGrpSpPr/>
        <p:nvPr/>
      </p:nvGrpSpPr>
      <p:grpSpPr>
        <a:xfrm>
          <a:off x="0" y="0"/>
          <a:ext cx="0" cy="0"/>
          <a:chOff x="0" y="0"/>
          <a:chExt cx="0" cy="0"/>
        </a:xfrm>
      </p:grpSpPr>
      <p:sp>
        <p:nvSpPr>
          <p:cNvPr id="2" name="Shape 0"/>
          <p:cNvSpPr/>
          <p:nvPr/>
        </p:nvSpPr>
        <p:spPr>
          <a:xfrm>
            <a:off x="0" y="0"/>
            <a:ext cx="9144000" cy="219456"/>
          </a:xfrm>
          <a:prstGeom prst="rect">
            <a:avLst/>
          </a:prstGeom>
          <a:solidFill>
            <a:srgbClr val="D97A14"/>
          </a:solidFill>
          <a:ln w="12700">
            <a:solidFill>
              <a:srgbClr val="D97A14"/>
            </a:solidFill>
            <a:prstDash val="solid"/>
          </a:ln>
        </p:spPr>
      </p:sp>
      <p:sp>
        <p:nvSpPr>
          <p:cNvPr id="3" name="Shape 1"/>
          <p:cNvSpPr/>
          <p:nvPr/>
        </p:nvSpPr>
        <p:spPr>
          <a:xfrm>
            <a:off x="457200" y="960120"/>
            <a:ext cx="128016" cy="1417320"/>
          </a:xfrm>
          <a:prstGeom prst="rect">
            <a:avLst/>
          </a:prstGeom>
          <a:solidFill>
            <a:srgbClr val="D97A14"/>
          </a:solidFill>
          <a:ln w="12700">
            <a:solidFill>
              <a:srgbClr val="D97A14"/>
            </a:solidFill>
            <a:prstDash val="solid"/>
          </a:ln>
        </p:spPr>
      </p:sp>
      <p:sp>
        <p:nvSpPr>
          <p:cNvPr id="4" name="Text 2"/>
          <p:cNvSpPr txBox="1"/>
          <p:nvPr/>
        </p:nvSpPr>
        <p:spPr>
          <a:xfrm>
            <a:off x="777240" y="932688"/>
            <a:ext cx="7863840" cy="658368"/>
          </a:xfrm>
          <a:prstGeom prst="rect">
            <a:avLst/>
          </a:prstGeom>
          <a:noFill/>
          <a:ln/>
        </p:spPr>
        <p:txBody>
          <a:bodyPr wrap="square" lIns="0" tIns="0" rIns="0" bIns="0" rtlCol="0" anchor="ctr"/>
          <a:lstStyle/>
          <a:p>
            <a:pPr indent="0" marL="0">
              <a:buNone/>
            </a:pPr>
            <a:r>
              <a:rPr lang="en-US" sz="3200" b="1" dirty="0">
                <a:solidFill>
                  <a:srgbClr val="2B2622"/>
                </a:solidFill>
                <a:latin typeface="Cambria" pitchFamily="34" charset="0"/>
                <a:ea typeface="Cambria" pitchFamily="34" charset="-122"/>
                <a:cs typeface="Cambria" pitchFamily="34" charset="-120"/>
              </a:rPr>
              <a:t>Scripts and the Script language</a:t>
            </a:r>
            <a:endParaRPr lang="en-US" sz="3200" dirty="0"/>
          </a:p>
        </p:txBody>
      </p:sp>
      <p:sp>
        <p:nvSpPr>
          <p:cNvPr id="5" name="Text 3"/>
          <p:cNvSpPr txBox="1"/>
          <p:nvPr/>
        </p:nvSpPr>
        <p:spPr>
          <a:xfrm>
            <a:off x="777240" y="1645920"/>
            <a:ext cx="7863840" cy="384048"/>
          </a:xfrm>
          <a:prstGeom prst="rect">
            <a:avLst/>
          </a:prstGeom>
          <a:noFill/>
          <a:ln/>
        </p:spPr>
        <p:txBody>
          <a:bodyPr wrap="square" lIns="0" tIns="0" rIns="0" bIns="0" rtlCol="0" anchor="t"/>
          <a:lstStyle/>
          <a:p>
            <a:pPr indent="0" marL="0">
              <a:buNone/>
            </a:pPr>
            <a:r>
              <a:rPr lang="en-US" sz="1500" i="1" dirty="0">
                <a:solidFill>
                  <a:srgbClr val="2F6D62"/>
                </a:solidFill>
                <a:latin typeface="Calibri" pitchFamily="34" charset="0"/>
                <a:ea typeface="Calibri" pitchFamily="34" charset="-122"/>
                <a:cs typeface="Calibri" pitchFamily="34" charset="-120"/>
              </a:rPr>
              <a:t>A script is a lock and key recipe that every node checks the same way.</a:t>
            </a:r>
            <a:endParaRPr lang="en-US" sz="1500" dirty="0"/>
          </a:p>
        </p:txBody>
      </p:sp>
      <p:sp>
        <p:nvSpPr>
          <p:cNvPr id="6" name="Shape 4"/>
          <p:cNvSpPr/>
          <p:nvPr/>
        </p:nvSpPr>
        <p:spPr>
          <a:xfrm>
            <a:off x="777240" y="2103120"/>
            <a:ext cx="3840480" cy="310896"/>
          </a:xfrm>
          <a:prstGeom prst="roundRect">
            <a:avLst>
              <a:gd name="adj" fmla="val 50000"/>
            </a:avLst>
          </a:prstGeom>
          <a:solidFill>
            <a:srgbClr val="D97A14"/>
          </a:solidFill>
          <a:ln w="12700">
            <a:solidFill>
              <a:srgbClr val="D97A14"/>
            </a:solidFill>
            <a:prstDash val="solid"/>
          </a:ln>
        </p:spPr>
      </p:sp>
      <p:sp>
        <p:nvSpPr>
          <p:cNvPr id="7" name="Text 5"/>
          <p:cNvSpPr txBox="1"/>
          <p:nvPr/>
        </p:nvSpPr>
        <p:spPr>
          <a:xfrm>
            <a:off x="850392" y="2103120"/>
            <a:ext cx="369417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Language and limits</a:t>
            </a:r>
            <a:endParaRPr lang="en-US" sz="1200" dirty="0"/>
          </a:p>
        </p:txBody>
      </p:sp>
      <p:sp>
        <p:nvSpPr>
          <p:cNvPr id="8" name="Text 6"/>
          <p:cNvSpPr txBox="1"/>
          <p:nvPr/>
        </p:nvSpPr>
        <p:spPr>
          <a:xfrm>
            <a:off x="777240" y="2487168"/>
            <a:ext cx="3840480" cy="393192"/>
          </a:xfrm>
          <a:prstGeom prst="rect">
            <a:avLst/>
          </a:prstGeom>
          <a:noFill/>
          <a:ln/>
        </p:spPr>
        <p:txBody>
          <a:bodyPr wrap="square" lIns="0" tIns="0" rIns="0" bIns="0" rtlCol="0" anchor="t"/>
          <a:lstStyle/>
          <a:p>
            <a:pPr indent="0" marL="0">
              <a:buNone/>
            </a:pPr>
            <a:r>
              <a:rPr lang="en-US" sz="1150" dirty="0">
                <a:solidFill>
                  <a:srgbClr val="2B2622"/>
                </a:solidFill>
                <a:latin typeface="Calibri" pitchFamily="34" charset="0"/>
                <a:ea typeface="Calibri" pitchFamily="34" charset="-122"/>
                <a:cs typeface="Calibri" pitchFamily="34" charset="-120"/>
              </a:rPr>
              <a:t>What Script is, and why it is kept small and free of loops.</a:t>
            </a:r>
            <a:endParaRPr lang="en-US" sz="1150" dirty="0"/>
          </a:p>
        </p:txBody>
      </p:sp>
      <p:sp>
        <p:nvSpPr>
          <p:cNvPr id="9" name="Text 7"/>
          <p:cNvSpPr txBox="1"/>
          <p:nvPr/>
        </p:nvSpPr>
        <p:spPr>
          <a:xfrm>
            <a:off x="777240" y="2907792"/>
            <a:ext cx="3840480" cy="393192"/>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a pocket calculator rather than a full computer.</a:t>
            </a:r>
            <a:endParaRPr lang="en-US" sz="1150" dirty="0"/>
          </a:p>
        </p:txBody>
      </p:sp>
      <p:sp>
        <p:nvSpPr>
          <p:cNvPr id="10" name="Shape 8"/>
          <p:cNvSpPr/>
          <p:nvPr/>
        </p:nvSpPr>
        <p:spPr>
          <a:xfrm>
            <a:off x="4800600" y="2103120"/>
            <a:ext cx="3840480" cy="310896"/>
          </a:xfrm>
          <a:prstGeom prst="roundRect">
            <a:avLst>
              <a:gd name="adj" fmla="val 50000"/>
            </a:avLst>
          </a:prstGeom>
          <a:solidFill>
            <a:srgbClr val="D97A14"/>
          </a:solidFill>
          <a:ln w="12700">
            <a:solidFill>
              <a:srgbClr val="D97A14"/>
            </a:solidFill>
            <a:prstDash val="solid"/>
          </a:ln>
        </p:spPr>
      </p:sp>
      <p:sp>
        <p:nvSpPr>
          <p:cNvPr id="11" name="Text 9"/>
          <p:cNvSpPr txBox="1"/>
          <p:nvPr/>
        </p:nvSpPr>
        <p:spPr>
          <a:xfrm>
            <a:off x="4873752" y="2103120"/>
            <a:ext cx="369417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Locking and running</a:t>
            </a:r>
            <a:endParaRPr lang="en-US" sz="1200" dirty="0"/>
          </a:p>
        </p:txBody>
      </p:sp>
      <p:sp>
        <p:nvSpPr>
          <p:cNvPr id="12" name="Text 10"/>
          <p:cNvSpPr txBox="1"/>
          <p:nvPr/>
        </p:nvSpPr>
        <p:spPr>
          <a:xfrm>
            <a:off x="4800600" y="2487168"/>
            <a:ext cx="3840480" cy="393192"/>
          </a:xfrm>
          <a:prstGeom prst="rect">
            <a:avLst/>
          </a:prstGeom>
          <a:noFill/>
          <a:ln/>
        </p:spPr>
        <p:txBody>
          <a:bodyPr wrap="square" lIns="0" tIns="0" rIns="0" bIns="0" rtlCol="0" anchor="t"/>
          <a:lstStyle/>
          <a:p>
            <a:pPr indent="0" marL="0">
              <a:buNone/>
            </a:pPr>
            <a:r>
              <a:rPr lang="en-US" sz="1150" dirty="0">
                <a:solidFill>
                  <a:srgbClr val="2B2622"/>
                </a:solidFill>
                <a:latin typeface="Calibri" pitchFamily="34" charset="0"/>
                <a:ea typeface="Calibri" pitchFamily="34" charset="-122"/>
                <a:cs typeface="Calibri" pitchFamily="34" charset="-120"/>
              </a:rPr>
              <a:t>How an output script and an input script run one after the other.</a:t>
            </a:r>
            <a:endParaRPr lang="en-US" sz="1150" dirty="0"/>
          </a:p>
        </p:txBody>
      </p:sp>
      <p:sp>
        <p:nvSpPr>
          <p:cNvPr id="13" name="Text 11"/>
          <p:cNvSpPr txBox="1"/>
          <p:nvPr/>
        </p:nvSpPr>
        <p:spPr>
          <a:xfrm>
            <a:off x="4800600" y="2907792"/>
            <a:ext cx="3840480" cy="393192"/>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a padlock and the key that must be shown to it.</a:t>
            </a:r>
            <a:endParaRPr lang="en-US" sz="11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777240" y="3950208"/>
          <a:ext cx="7863840" cy="914400"/>
        </p:xfrm>
        <a:graphic>
          <a:graphicData uri="http://schemas.openxmlformats.org/drawingml/2006/table">
            <a:tbl>
              <a:tblPr/>
              <a:tblGrid>
                <a:gridCol w="874166"/>
                <a:gridCol w="874166"/>
                <a:gridCol w="874166"/>
                <a:gridCol w="874166"/>
                <a:gridCol w="874166"/>
                <a:gridCol w="874166"/>
                <a:gridCol w="874166"/>
                <a:gridCol w="874166"/>
                <a:gridCol w="874166"/>
              </a:tblGrid>
              <a:tr h="365760">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Language</a:t>
                      </a:r>
                      <a:endParaRPr lang="en-US" sz="10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97A14"/>
                    </a:solidFill>
                  </a:tcPr>
                </a:tc>
                <a:tc>
                  <a:txBody>
                    <a:bodyPr/>
                    <a:lstStyle/>
                    <a:p>
                      <a:pPr algn="ctr" indent="0" marL="0">
                        <a:buNone/>
                      </a:pPr>
                      <a:r>
                        <a:rPr lang="en-US" sz="1000" dirty="0">
                          <a:solidFill>
                            <a:srgbClr val="2B2622"/>
                          </a:solidFill>
                          <a:latin typeface="Calibri" pitchFamily="34" charset="0"/>
                          <a:ea typeface="Calibri" pitchFamily="34" charset="-122"/>
                          <a:cs typeface="Calibri" pitchFamily="34" charset="-120"/>
                        </a:rPr>
                        <a:t>Keys</a:t>
                      </a:r>
                      <a:endParaRPr lang="en-US" sz="10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ECE1"/>
                    </a:solidFill>
                  </a:tcPr>
                </a:tc>
                <a:tc>
                  <a:txBody>
                    <a:bodyPr/>
                    <a:lstStyle/>
                    <a:p>
                      <a:pPr algn="ctr" indent="0" marL="0">
                        <a:buNone/>
                      </a:pPr>
                      <a:r>
                        <a:rPr lang="en-US" sz="1000" dirty="0">
                          <a:solidFill>
                            <a:srgbClr val="2B2622"/>
                          </a:solidFill>
                          <a:latin typeface="Calibri" pitchFamily="34" charset="0"/>
                          <a:ea typeface="Calibri" pitchFamily="34" charset="-122"/>
                          <a:cs typeface="Calibri" pitchFamily="34" charset="-120"/>
                        </a:rPr>
                        <a:t>Multisig</a:t>
                      </a:r>
                      <a:endParaRPr lang="en-US" sz="10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ECE1"/>
                    </a:solidFill>
                  </a:tcPr>
                </a:tc>
                <a:tc>
                  <a:txBody>
                    <a:bodyPr/>
                    <a:lstStyle/>
                    <a:p>
                      <a:pPr algn="ctr" indent="0" marL="0">
                        <a:buNone/>
                      </a:pPr>
                      <a:r>
                        <a:rPr lang="en-US" sz="1000" dirty="0">
                          <a:solidFill>
                            <a:srgbClr val="2B2622"/>
                          </a:solidFill>
                          <a:latin typeface="Calibri" pitchFamily="34" charset="0"/>
                          <a:ea typeface="Calibri" pitchFamily="34" charset="-122"/>
                          <a:cs typeface="Calibri" pitchFamily="34" charset="-120"/>
                        </a:rPr>
                        <a:t>P2SH</a:t>
                      </a:r>
                      <a:endParaRPr lang="en-US" sz="10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ECE1"/>
                    </a:solidFill>
                  </a:tcPr>
                </a:tc>
                <a:tc>
                  <a:txBody>
                    <a:bodyPr/>
                    <a:lstStyle/>
                    <a:p>
                      <a:pPr algn="ctr" indent="0" marL="0">
                        <a:buNone/>
                      </a:pPr>
                      <a:r>
                        <a:rPr lang="en-US" sz="1000" dirty="0">
                          <a:solidFill>
                            <a:srgbClr val="2B2622"/>
                          </a:solidFill>
                          <a:latin typeface="Calibri" pitchFamily="34" charset="0"/>
                          <a:ea typeface="Calibri" pitchFamily="34" charset="-122"/>
                          <a:cs typeface="Calibri" pitchFamily="34" charset="-120"/>
                        </a:rPr>
                        <a:t>Time</a:t>
                      </a:r>
                      <a:endParaRPr lang="en-US" sz="10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ECE1"/>
                    </a:solidFill>
                  </a:tcPr>
                </a:tc>
                <a:tc>
                  <a:txBody>
                    <a:bodyPr/>
                    <a:lstStyle/>
                    <a:p>
                      <a:pPr algn="ctr" indent="0" marL="0">
                        <a:buNone/>
                      </a:pPr>
                      <a:r>
                        <a:rPr lang="en-US" sz="1000" dirty="0">
                          <a:solidFill>
                            <a:srgbClr val="2B2622"/>
                          </a:solidFill>
                          <a:latin typeface="Calibri" pitchFamily="34" charset="0"/>
                          <a:ea typeface="Calibri" pitchFamily="34" charset="-122"/>
                          <a:cs typeface="Calibri" pitchFamily="34" charset="-120"/>
                        </a:rPr>
                        <a:t>Flow</a:t>
                      </a:r>
                      <a:endParaRPr lang="en-US" sz="10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ECE1"/>
                    </a:solidFill>
                  </a:tcPr>
                </a:tc>
                <a:tc>
                  <a:txBody>
                    <a:bodyPr/>
                    <a:lstStyle/>
                    <a:p>
                      <a:pPr algn="ctr" indent="0" marL="0">
                        <a:buNone/>
                      </a:pPr>
                      <a:r>
                        <a:rPr lang="en-US" sz="1000" dirty="0">
                          <a:solidFill>
                            <a:srgbClr val="2B2622"/>
                          </a:solidFill>
                          <a:latin typeface="Calibri" pitchFamily="34" charset="0"/>
                          <a:ea typeface="Calibri" pitchFamily="34" charset="-122"/>
                          <a:cs typeface="Calibri" pitchFamily="34" charset="-120"/>
                        </a:rPr>
                        <a:t>Segwit</a:t>
                      </a:r>
                      <a:endParaRPr lang="en-US" sz="10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ECE1"/>
                    </a:solidFill>
                  </a:tcPr>
                </a:tc>
                <a:tc>
                  <a:txBody>
                    <a:bodyPr/>
                    <a:lstStyle/>
                    <a:p>
                      <a:pPr algn="ctr" indent="0" marL="0">
                        <a:buNone/>
                      </a:pPr>
                      <a:r>
                        <a:rPr lang="en-US" sz="1000" dirty="0">
                          <a:solidFill>
                            <a:srgbClr val="2B2622"/>
                          </a:solidFill>
                          <a:latin typeface="Calibri" pitchFamily="34" charset="0"/>
                          <a:ea typeface="Calibri" pitchFamily="34" charset="-122"/>
                          <a:cs typeface="Calibri" pitchFamily="34" charset="-120"/>
                        </a:rPr>
                        <a:t>Trees</a:t>
                      </a:r>
                      <a:endParaRPr lang="en-US" sz="10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ECE1"/>
                    </a:solidFill>
                  </a:tcPr>
                </a:tc>
                <a:tc>
                  <a:txBody>
                    <a:bodyPr/>
                    <a:lstStyle/>
                    <a:p>
                      <a:pPr algn="ctr" indent="0" marL="0">
                        <a:buNone/>
                      </a:pPr>
                      <a:r>
                        <a:rPr lang="en-US" sz="1000" dirty="0">
                          <a:solidFill>
                            <a:srgbClr val="2B2622"/>
                          </a:solidFill>
                          <a:latin typeface="Calibri" pitchFamily="34" charset="0"/>
                          <a:ea typeface="Calibri" pitchFamily="34" charset="-122"/>
                          <a:cs typeface="Calibri" pitchFamily="34" charset="-120"/>
                        </a:rPr>
                        <a:t>Taproot</a:t>
                      </a:r>
                      <a:endParaRPr lang="en-US" sz="10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ECE1"/>
                    </a:solidFill>
                  </a:tcPr>
                </a:tc>
              </a:tr>
            </a:tbl>
          </a:graphicData>
        </a:graphic>
      </p:graphicFrame>
      <p:sp>
        <p:nvSpPr>
          <p:cNvPr id="15" name="Text 12"/>
          <p:cNvSpPr txBox="1"/>
          <p:nvPr/>
        </p:nvSpPr>
        <p:spPr>
          <a:xfrm>
            <a:off x="7863840" y="4645152"/>
            <a:ext cx="868680" cy="310896"/>
          </a:xfrm>
          <a:prstGeom prst="rect">
            <a:avLst/>
          </a:prstGeom>
          <a:noFill/>
          <a:ln/>
        </p:spPr>
        <p:txBody>
          <a:bodyPr wrap="square" lIns="0" tIns="0" rIns="0" bIns="0" rtlCol="0" anchor="ctr"/>
          <a:lstStyle/>
          <a:p>
            <a:pPr algn="r" indent="0" marL="0">
              <a:buNone/>
            </a:pPr>
            <a:r>
              <a:rPr lang="en-US" sz="1100" dirty="0">
                <a:solidFill>
                  <a:srgbClr val="6E655C"/>
                </a:solidFill>
                <a:latin typeface="Calibri" pitchFamily="34" charset="0"/>
                <a:ea typeface="Calibri" pitchFamily="34" charset="-122"/>
                <a:cs typeface="Calibri" pitchFamily="34" charset="-120"/>
              </a:rPr>
              <a:t>5 / 61</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6EF"/>
        </a:solidFill>
      </p:bgPr>
    </p:bg>
    <p:spTree>
      <p:nvGrpSpPr>
        <p:cNvPr id="1" name=""/>
        <p:cNvGrpSpPr/>
        <p:nvPr/>
      </p:nvGrpSpPr>
      <p:grpSpPr>
        <a:xfrm>
          <a:off x="0" y="0"/>
          <a:ext cx="0" cy="0"/>
          <a:chOff x="0" y="0"/>
          <a:chExt cx="0" cy="0"/>
        </a:xfrm>
      </p:grpSpPr>
      <p:sp>
        <p:nvSpPr>
          <p:cNvPr id="2" name="Shape 0"/>
          <p:cNvSpPr/>
          <p:nvPr/>
        </p:nvSpPr>
        <p:spPr>
          <a:xfrm>
            <a:off x="457200" y="347472"/>
            <a:ext cx="566928" cy="384048"/>
          </a:xfrm>
          <a:prstGeom prst="roundRect">
            <a:avLst>
              <a:gd name="adj" fmla="val 19048"/>
            </a:avLst>
          </a:prstGeom>
          <a:solidFill>
            <a:srgbClr val="D97A14"/>
          </a:solidFill>
          <a:ln w="12700">
            <a:solidFill>
              <a:srgbClr val="D97A14"/>
            </a:solidFill>
            <a:prstDash val="solid"/>
          </a:ln>
        </p:spPr>
      </p:sp>
      <p:sp>
        <p:nvSpPr>
          <p:cNvPr id="3" name="Text 1"/>
          <p:cNvSpPr txBox="1"/>
          <p:nvPr/>
        </p:nvSpPr>
        <p:spPr>
          <a:xfrm>
            <a:off x="457200" y="347472"/>
            <a:ext cx="56692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4" name="Text 2"/>
          <p:cNvSpPr txBox="1"/>
          <p:nvPr/>
        </p:nvSpPr>
        <p:spPr>
          <a:xfrm>
            <a:off x="1143000" y="237744"/>
            <a:ext cx="7543800" cy="566928"/>
          </a:xfrm>
          <a:prstGeom prst="rect">
            <a:avLst/>
          </a:prstGeom>
          <a:noFill/>
          <a:ln/>
        </p:spPr>
        <p:txBody>
          <a:bodyPr wrap="square" lIns="0" tIns="0" rIns="0" bIns="0" rtlCol="0" anchor="ctr"/>
          <a:lstStyle/>
          <a:p>
            <a:pPr indent="0" marL="0">
              <a:buNone/>
            </a:pPr>
            <a:r>
              <a:rPr lang="en-US" sz="2500" b="1" dirty="0">
                <a:solidFill>
                  <a:srgbClr val="2B2622"/>
                </a:solidFill>
                <a:latin typeface="Cambria" pitchFamily="34" charset="0"/>
                <a:ea typeface="Cambria" pitchFamily="34" charset="-122"/>
                <a:cs typeface="Cambria" pitchFamily="34" charset="-120"/>
              </a:rPr>
              <a:t>Scripts and the Script language (1 of 4)</a:t>
            </a:r>
            <a:endParaRPr lang="en-US" sz="2500" dirty="0"/>
          </a:p>
        </p:txBody>
      </p:sp>
      <p:sp>
        <p:nvSpPr>
          <p:cNvPr id="5" name="Text 3"/>
          <p:cNvSpPr txBox="1"/>
          <p:nvPr/>
        </p:nvSpPr>
        <p:spPr>
          <a:xfrm>
            <a:off x="1143000" y="786384"/>
            <a:ext cx="7543800" cy="310896"/>
          </a:xfrm>
          <a:prstGeom prst="rect">
            <a:avLst/>
          </a:prstGeom>
          <a:noFill/>
          <a:ln/>
        </p:spPr>
        <p:txBody>
          <a:bodyPr wrap="square" lIns="0" tIns="0" rIns="0" bIns="0" rtlCol="0" anchor="ctr"/>
          <a:lstStyle/>
          <a:p>
            <a:pPr indent="0" marL="0">
              <a:buNone/>
            </a:pPr>
            <a:r>
              <a:rPr lang="en-US" sz="1300" i="1" dirty="0">
                <a:solidFill>
                  <a:srgbClr val="6E655C"/>
                </a:solidFill>
                <a:latin typeface="Calibri" pitchFamily="34" charset="0"/>
                <a:ea typeface="Calibri" pitchFamily="34" charset="-122"/>
                <a:cs typeface="Calibri" pitchFamily="34" charset="-120"/>
              </a:rPr>
              <a:t>Each card: the meaning in a few words, then something you already know</a:t>
            </a:r>
            <a:endParaRPr lang="en-US" sz="1300" dirty="0"/>
          </a:p>
        </p:txBody>
      </p:sp>
      <p:sp>
        <p:nvSpPr>
          <p:cNvPr id="6" name="Shape 4"/>
          <p:cNvSpPr/>
          <p:nvPr/>
        </p:nvSpPr>
        <p:spPr>
          <a:xfrm>
            <a:off x="457200" y="1280160"/>
            <a:ext cx="4041648" cy="1362456"/>
          </a:xfrm>
          <a:prstGeom prst="roundRect">
            <a:avLst>
              <a:gd name="adj" fmla="val 5369"/>
            </a:avLst>
          </a:prstGeom>
          <a:solidFill>
            <a:srgbClr val="F2ECE1"/>
          </a:solidFill>
          <a:ln w="12700">
            <a:solidFill>
              <a:srgbClr val="DFD6C7"/>
            </a:solidFill>
            <a:prstDash val="solid"/>
          </a:ln>
        </p:spPr>
      </p:sp>
      <p:sp>
        <p:nvSpPr>
          <p:cNvPr id="7" name="Shape 5"/>
          <p:cNvSpPr/>
          <p:nvPr/>
        </p:nvSpPr>
        <p:spPr>
          <a:xfrm>
            <a:off x="475488" y="1408176"/>
            <a:ext cx="64008" cy="1106424"/>
          </a:xfrm>
          <a:prstGeom prst="rect">
            <a:avLst/>
          </a:prstGeom>
          <a:solidFill>
            <a:srgbClr val="D97A14"/>
          </a:solidFill>
          <a:ln w="12700">
            <a:solidFill>
              <a:srgbClr val="D97A14"/>
            </a:solidFill>
            <a:prstDash val="solid"/>
          </a:ln>
        </p:spPr>
      </p:sp>
      <p:sp>
        <p:nvSpPr>
          <p:cNvPr id="8" name="Text 6"/>
          <p:cNvSpPr txBox="1"/>
          <p:nvPr/>
        </p:nvSpPr>
        <p:spPr>
          <a:xfrm>
            <a:off x="640080" y="1344168"/>
            <a:ext cx="3767328" cy="813816"/>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Transaction Scripts and Script Language</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The small language in which every coin's spending rule is written.</a:t>
            </a:r>
            <a:endParaRPr lang="en-US" sz="1300" dirty="0"/>
          </a:p>
        </p:txBody>
      </p:sp>
      <p:sp>
        <p:nvSpPr>
          <p:cNvPr id="9" name="Text 7"/>
          <p:cNvSpPr txBox="1"/>
          <p:nvPr/>
        </p:nvSpPr>
        <p:spPr>
          <a:xfrm>
            <a:off x="640080" y="2185416"/>
            <a:ext cx="3767328" cy="393192"/>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a rulebook that every cashier in the world reads the same way.</a:t>
            </a:r>
            <a:endParaRPr lang="en-US" sz="1150" dirty="0"/>
          </a:p>
        </p:txBody>
      </p:sp>
      <p:sp>
        <p:nvSpPr>
          <p:cNvPr id="10" name="Shape 8"/>
          <p:cNvSpPr/>
          <p:nvPr/>
        </p:nvSpPr>
        <p:spPr>
          <a:xfrm>
            <a:off x="4645152" y="1280160"/>
            <a:ext cx="4041648" cy="1362456"/>
          </a:xfrm>
          <a:prstGeom prst="roundRect">
            <a:avLst>
              <a:gd name="adj" fmla="val 5369"/>
            </a:avLst>
          </a:prstGeom>
          <a:solidFill>
            <a:srgbClr val="F2ECE1"/>
          </a:solidFill>
          <a:ln w="12700">
            <a:solidFill>
              <a:srgbClr val="DFD6C7"/>
            </a:solidFill>
            <a:prstDash val="solid"/>
          </a:ln>
        </p:spPr>
      </p:sp>
      <p:sp>
        <p:nvSpPr>
          <p:cNvPr id="11" name="Shape 9"/>
          <p:cNvSpPr/>
          <p:nvPr/>
        </p:nvSpPr>
        <p:spPr>
          <a:xfrm>
            <a:off x="4663440" y="1408176"/>
            <a:ext cx="64008" cy="1106424"/>
          </a:xfrm>
          <a:prstGeom prst="rect">
            <a:avLst/>
          </a:prstGeom>
          <a:solidFill>
            <a:srgbClr val="D97A14"/>
          </a:solidFill>
          <a:ln w="12700">
            <a:solidFill>
              <a:srgbClr val="D97A14"/>
            </a:solidFill>
            <a:prstDash val="solid"/>
          </a:ln>
        </p:spPr>
      </p:sp>
      <p:sp>
        <p:nvSpPr>
          <p:cNvPr id="12" name="Text 10"/>
          <p:cNvSpPr txBox="1"/>
          <p:nvPr/>
        </p:nvSpPr>
        <p:spPr>
          <a:xfrm>
            <a:off x="4828032" y="1344168"/>
            <a:ext cx="3767328" cy="434340"/>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Turing Incompleteness</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Script has no loops, so every program ends.</a:t>
            </a:r>
            <a:endParaRPr lang="en-US" sz="1300" dirty="0"/>
          </a:p>
        </p:txBody>
      </p:sp>
      <p:sp>
        <p:nvSpPr>
          <p:cNvPr id="13" name="Text 11"/>
          <p:cNvSpPr txBox="1"/>
          <p:nvPr/>
        </p:nvSpPr>
        <p:spPr>
          <a:xfrm>
            <a:off x="4828032" y="1805940"/>
            <a:ext cx="3767328" cy="393192"/>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a recipe without a repeat-forever step.</a:t>
            </a:r>
            <a:endParaRPr lang="en-US" sz="1150" dirty="0"/>
          </a:p>
        </p:txBody>
      </p:sp>
      <p:sp>
        <p:nvSpPr>
          <p:cNvPr id="14" name="Shape 12"/>
          <p:cNvSpPr/>
          <p:nvPr/>
        </p:nvSpPr>
        <p:spPr>
          <a:xfrm>
            <a:off x="457200" y="2770632"/>
            <a:ext cx="4041648" cy="1362456"/>
          </a:xfrm>
          <a:prstGeom prst="roundRect">
            <a:avLst>
              <a:gd name="adj" fmla="val 5369"/>
            </a:avLst>
          </a:prstGeom>
          <a:solidFill>
            <a:srgbClr val="F2ECE1"/>
          </a:solidFill>
          <a:ln w="12700">
            <a:solidFill>
              <a:srgbClr val="DFD6C7"/>
            </a:solidFill>
            <a:prstDash val="solid"/>
          </a:ln>
        </p:spPr>
      </p:sp>
      <p:sp>
        <p:nvSpPr>
          <p:cNvPr id="15" name="Shape 13"/>
          <p:cNvSpPr/>
          <p:nvPr/>
        </p:nvSpPr>
        <p:spPr>
          <a:xfrm>
            <a:off x="475488" y="2898648"/>
            <a:ext cx="64008" cy="1106424"/>
          </a:xfrm>
          <a:prstGeom prst="rect">
            <a:avLst/>
          </a:prstGeom>
          <a:solidFill>
            <a:srgbClr val="D97A14"/>
          </a:solidFill>
          <a:ln w="12700">
            <a:solidFill>
              <a:srgbClr val="D97A14"/>
            </a:solidFill>
            <a:prstDash val="solid"/>
          </a:ln>
        </p:spPr>
      </p:sp>
      <p:sp>
        <p:nvSpPr>
          <p:cNvPr id="16" name="Text 14"/>
          <p:cNvSpPr txBox="1"/>
          <p:nvPr/>
        </p:nvSpPr>
        <p:spPr>
          <a:xfrm>
            <a:off x="640080" y="2834640"/>
            <a:ext cx="3767328" cy="612648"/>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Stateless Verification</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A script's result depends only on the script and its inputs.</a:t>
            </a:r>
            <a:endParaRPr lang="en-US" sz="1300" dirty="0"/>
          </a:p>
        </p:txBody>
      </p:sp>
      <p:sp>
        <p:nvSpPr>
          <p:cNvPr id="17" name="Text 15"/>
          <p:cNvSpPr txBox="1"/>
          <p:nvPr/>
        </p:nvSpPr>
        <p:spPr>
          <a:xfrm>
            <a:off x="640080" y="3474720"/>
            <a:ext cx="3767328" cy="393192"/>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a sum whose answer never depends on the day or the machine.</a:t>
            </a:r>
            <a:endParaRPr lang="en-US" sz="1150" dirty="0"/>
          </a:p>
        </p:txBody>
      </p:sp>
      <p:sp>
        <p:nvSpPr>
          <p:cNvPr id="18" name="Shape 16"/>
          <p:cNvSpPr/>
          <p:nvPr/>
        </p:nvSpPr>
        <p:spPr>
          <a:xfrm>
            <a:off x="4645152" y="2770632"/>
            <a:ext cx="4041648" cy="1362456"/>
          </a:xfrm>
          <a:prstGeom prst="roundRect">
            <a:avLst>
              <a:gd name="adj" fmla="val 5369"/>
            </a:avLst>
          </a:prstGeom>
          <a:solidFill>
            <a:srgbClr val="F2ECE1"/>
          </a:solidFill>
          <a:ln w="12700">
            <a:solidFill>
              <a:srgbClr val="DFD6C7"/>
            </a:solidFill>
            <a:prstDash val="solid"/>
          </a:ln>
        </p:spPr>
      </p:sp>
      <p:sp>
        <p:nvSpPr>
          <p:cNvPr id="19" name="Shape 17"/>
          <p:cNvSpPr/>
          <p:nvPr/>
        </p:nvSpPr>
        <p:spPr>
          <a:xfrm>
            <a:off x="4663440" y="2898648"/>
            <a:ext cx="64008" cy="1106424"/>
          </a:xfrm>
          <a:prstGeom prst="rect">
            <a:avLst/>
          </a:prstGeom>
          <a:solidFill>
            <a:srgbClr val="D97A14"/>
          </a:solidFill>
          <a:ln w="12700">
            <a:solidFill>
              <a:srgbClr val="D97A14"/>
            </a:solidFill>
            <a:prstDash val="solid"/>
          </a:ln>
        </p:spPr>
      </p:sp>
      <p:sp>
        <p:nvSpPr>
          <p:cNvPr id="20" name="Text 18"/>
          <p:cNvSpPr txBox="1"/>
          <p:nvPr/>
        </p:nvSpPr>
        <p:spPr>
          <a:xfrm>
            <a:off x="4828032" y="2834640"/>
            <a:ext cx="3767328" cy="612648"/>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Script Construction</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The lock and the unlocking data are built separately and checked together.</a:t>
            </a:r>
            <a:endParaRPr lang="en-US" sz="1300" dirty="0"/>
          </a:p>
        </p:txBody>
      </p:sp>
      <p:sp>
        <p:nvSpPr>
          <p:cNvPr id="21" name="Text 19"/>
          <p:cNvSpPr txBox="1"/>
          <p:nvPr/>
        </p:nvSpPr>
        <p:spPr>
          <a:xfrm>
            <a:off x="4828032" y="3474720"/>
            <a:ext cx="3767328" cy="393192"/>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a lock made by one person and a key cut by another.</a:t>
            </a:r>
            <a:endParaRPr lang="en-US" sz="1150" dirty="0"/>
          </a:p>
        </p:txBody>
      </p:sp>
      <p:sp>
        <p:nvSpPr>
          <p:cNvPr id="22" name="Shape 20"/>
          <p:cNvSpPr/>
          <p:nvPr/>
        </p:nvSpPr>
        <p:spPr>
          <a:xfrm>
            <a:off x="457200" y="4636008"/>
            <a:ext cx="91440" cy="310896"/>
          </a:xfrm>
          <a:prstGeom prst="rect">
            <a:avLst/>
          </a:prstGeom>
          <a:solidFill>
            <a:srgbClr val="D97A14"/>
          </a:solidFill>
          <a:ln w="12700">
            <a:solidFill>
              <a:srgbClr val="D97A14"/>
            </a:solidFill>
            <a:prstDash val="solid"/>
          </a:ln>
        </p:spPr>
      </p:sp>
      <p:sp>
        <p:nvSpPr>
          <p:cNvPr id="23" name="Text 21"/>
          <p:cNvSpPr txBox="1"/>
          <p:nvPr/>
        </p:nvSpPr>
        <p:spPr>
          <a:xfrm>
            <a:off x="658368" y="4599432"/>
            <a:ext cx="6949440" cy="384048"/>
          </a:xfrm>
          <a:prstGeom prst="rect">
            <a:avLst/>
          </a:prstGeom>
          <a:noFill/>
          <a:ln/>
        </p:spPr>
        <p:txBody>
          <a:bodyPr wrap="square" lIns="0" tIns="0" rIns="0" bIns="0" rtlCol="0" anchor="ctr"/>
          <a:lstStyle/>
          <a:p>
            <a:pPr indent="0" marL="0">
              <a:buNone/>
            </a:pPr>
            <a:r>
              <a:rPr lang="en-US" sz="1350" b="1" i="1" dirty="0">
                <a:solidFill>
                  <a:srgbClr val="2B2622"/>
                </a:solidFill>
                <a:latin typeface="Cambria" pitchFamily="34" charset="0"/>
                <a:ea typeface="Cambria" pitchFamily="34" charset="-122"/>
                <a:cs typeface="Cambria" pitchFamily="34" charset="-120"/>
              </a:rPr>
              <a:t>Say each idea twice: once as the meaning, once as the everyday comparison</a:t>
            </a:r>
            <a:endParaRPr lang="en-US" sz="1350" dirty="0"/>
          </a:p>
        </p:txBody>
      </p:sp>
      <p:sp>
        <p:nvSpPr>
          <p:cNvPr id="24" name="Text 22"/>
          <p:cNvSpPr txBox="1"/>
          <p:nvPr/>
        </p:nvSpPr>
        <p:spPr>
          <a:xfrm>
            <a:off x="7863840" y="4645152"/>
            <a:ext cx="868680" cy="310896"/>
          </a:xfrm>
          <a:prstGeom prst="rect">
            <a:avLst/>
          </a:prstGeom>
          <a:noFill/>
          <a:ln/>
        </p:spPr>
        <p:txBody>
          <a:bodyPr wrap="square" lIns="0" tIns="0" rIns="0" bIns="0" rtlCol="0" anchor="ctr"/>
          <a:lstStyle/>
          <a:p>
            <a:pPr algn="r" indent="0" marL="0">
              <a:buNone/>
            </a:pPr>
            <a:r>
              <a:rPr lang="en-US" sz="1100" dirty="0">
                <a:solidFill>
                  <a:srgbClr val="6E655C"/>
                </a:solidFill>
                <a:latin typeface="Calibri" pitchFamily="34" charset="0"/>
                <a:ea typeface="Calibri" pitchFamily="34" charset="-122"/>
                <a:cs typeface="Calibri" pitchFamily="34" charset="-120"/>
              </a:rPr>
              <a:t>6 / 61</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6EF"/>
        </a:solidFill>
      </p:bgPr>
    </p:bg>
    <p:spTree>
      <p:nvGrpSpPr>
        <p:cNvPr id="1" name=""/>
        <p:cNvGrpSpPr/>
        <p:nvPr/>
      </p:nvGrpSpPr>
      <p:grpSpPr>
        <a:xfrm>
          <a:off x="0" y="0"/>
          <a:ext cx="0" cy="0"/>
          <a:chOff x="0" y="0"/>
          <a:chExt cx="0" cy="0"/>
        </a:xfrm>
      </p:grpSpPr>
      <p:sp>
        <p:nvSpPr>
          <p:cNvPr id="2" name="Shape 0"/>
          <p:cNvSpPr/>
          <p:nvPr/>
        </p:nvSpPr>
        <p:spPr>
          <a:xfrm>
            <a:off x="457200" y="347472"/>
            <a:ext cx="566928" cy="384048"/>
          </a:xfrm>
          <a:prstGeom prst="roundRect">
            <a:avLst>
              <a:gd name="adj" fmla="val 19048"/>
            </a:avLst>
          </a:prstGeom>
          <a:solidFill>
            <a:srgbClr val="D97A14"/>
          </a:solidFill>
          <a:ln w="12700">
            <a:solidFill>
              <a:srgbClr val="D97A14"/>
            </a:solidFill>
            <a:prstDash val="solid"/>
          </a:ln>
        </p:spPr>
      </p:sp>
      <p:sp>
        <p:nvSpPr>
          <p:cNvPr id="3" name="Text 1"/>
          <p:cNvSpPr txBox="1"/>
          <p:nvPr/>
        </p:nvSpPr>
        <p:spPr>
          <a:xfrm>
            <a:off x="457200" y="347472"/>
            <a:ext cx="56692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4" name="Text 2"/>
          <p:cNvSpPr txBox="1"/>
          <p:nvPr/>
        </p:nvSpPr>
        <p:spPr>
          <a:xfrm>
            <a:off x="1143000" y="237744"/>
            <a:ext cx="7543800" cy="566928"/>
          </a:xfrm>
          <a:prstGeom prst="rect">
            <a:avLst/>
          </a:prstGeom>
          <a:noFill/>
          <a:ln/>
        </p:spPr>
        <p:txBody>
          <a:bodyPr wrap="square" lIns="0" tIns="0" rIns="0" bIns="0" rtlCol="0" anchor="ctr"/>
          <a:lstStyle/>
          <a:p>
            <a:pPr indent="0" marL="0">
              <a:buNone/>
            </a:pPr>
            <a:r>
              <a:rPr lang="en-US" sz="2800" b="1" dirty="0">
                <a:solidFill>
                  <a:srgbClr val="2B2622"/>
                </a:solidFill>
                <a:latin typeface="Cambria" pitchFamily="34" charset="0"/>
                <a:ea typeface="Cambria" pitchFamily="34" charset="-122"/>
                <a:cs typeface="Cambria" pitchFamily="34" charset="-120"/>
              </a:rPr>
              <a:t>Script is arithmetic on a stack</a:t>
            </a:r>
            <a:endParaRPr lang="en-US" sz="2800" dirty="0"/>
          </a:p>
        </p:txBody>
      </p:sp>
      <p:sp>
        <p:nvSpPr>
          <p:cNvPr id="5" name="Text 3"/>
          <p:cNvSpPr txBox="1"/>
          <p:nvPr/>
        </p:nvSpPr>
        <p:spPr>
          <a:xfrm>
            <a:off x="1143000" y="786384"/>
            <a:ext cx="7543800" cy="310896"/>
          </a:xfrm>
          <a:prstGeom prst="rect">
            <a:avLst/>
          </a:prstGeom>
          <a:noFill/>
          <a:ln/>
        </p:spPr>
        <p:txBody>
          <a:bodyPr wrap="square" lIns="0" tIns="0" rIns="0" bIns="0" rtlCol="0" anchor="ctr"/>
          <a:lstStyle/>
          <a:p>
            <a:pPr indent="0" marL="0">
              <a:buNone/>
            </a:pPr>
            <a:r>
              <a:rPr lang="en-US" sz="1300" i="1" dirty="0">
                <a:solidFill>
                  <a:srgbClr val="6E655C"/>
                </a:solidFill>
                <a:latin typeface="Calibri" pitchFamily="34" charset="0"/>
                <a:ea typeface="Calibri" pitchFamily="34" charset="-122"/>
                <a:cs typeface="Calibri" pitchFamily="34" charset="-120"/>
              </a:rPr>
              <a:t>The smallest script of the chapter, run in the chapter's interpreter</a:t>
            </a:r>
            <a:endParaRPr lang="en-US" sz="1300" dirty="0"/>
          </a:p>
        </p:txBody>
      </p:sp>
      <p:sp>
        <p:nvSpPr>
          <p:cNvPr id="6" name="Shape 4"/>
          <p:cNvSpPr/>
          <p:nvPr/>
        </p:nvSpPr>
        <p:spPr>
          <a:xfrm>
            <a:off x="457200" y="1325880"/>
            <a:ext cx="5074920" cy="311810"/>
          </a:xfrm>
          <a:prstGeom prst="roundRect">
            <a:avLst>
              <a:gd name="adj" fmla="val 23460"/>
            </a:avLst>
          </a:prstGeom>
          <a:solidFill>
            <a:srgbClr val="23272E"/>
          </a:solidFill>
          <a:ln w="12700">
            <a:solidFill>
              <a:srgbClr val="23272E"/>
            </a:solidFill>
            <a:prstDash val="solid"/>
          </a:ln>
        </p:spPr>
      </p:sp>
      <p:sp>
        <p:nvSpPr>
          <p:cNvPr id="7" name="Text 5"/>
          <p:cNvSpPr txBox="1"/>
          <p:nvPr/>
        </p:nvSpPr>
        <p:spPr>
          <a:xfrm>
            <a:off x="603504" y="1399032"/>
            <a:ext cx="4800600" cy="183794"/>
          </a:xfrm>
          <a:prstGeom prst="rect">
            <a:avLst/>
          </a:prstGeom>
          <a:noFill/>
          <a:ln/>
        </p:spPr>
        <p:txBody>
          <a:bodyPr wrap="square" lIns="0" tIns="0" rIns="0" bIns="0" rtlCol="0" anchor="t"/>
          <a:lstStyle/>
          <a:p>
            <a:pPr indent="0" marL="0">
              <a:buNone/>
            </a:pPr>
            <a:r>
              <a:rPr lang="en-US" sz="1000" b="1" dirty="0">
                <a:solidFill>
                  <a:srgbClr val="D97A14"/>
                </a:solidFill>
                <a:latin typeface="Courier New" pitchFamily="34" charset="0"/>
                <a:ea typeface="Courier New" pitchFamily="34" charset="-122"/>
                <a:cs typeface="Courier New" pitchFamily="34" charset="-120"/>
              </a:rPr>
              <a:t>&gt;&gt;&gt; </a:t>
            </a:r>
            <a:r>
              <a:rPr lang="en-US" sz="1000" dirty="0">
                <a:solidFill>
                  <a:srgbClr val="E6EDF3"/>
                </a:solidFill>
                <a:latin typeface="Courier New" pitchFamily="34" charset="0"/>
                <a:ea typeface="Courier New" pitchFamily="34" charset="-122"/>
                <a:cs typeface="Courier New" pitchFamily="34" charset="-120"/>
              </a:rPr>
              <a:t>ok = L.run(</a:t>
            </a:r>
            <a:r>
              <a:rPr lang="en-US" sz="1000" dirty="0">
                <a:solidFill>
                  <a:srgbClr val="9ECBFF"/>
                </a:solidFill>
                <a:latin typeface="Courier New" pitchFamily="34" charset="0"/>
                <a:ea typeface="Courier New" pitchFamily="34" charset="-122"/>
                <a:cs typeface="Courier New" pitchFamily="34" charset="-120"/>
              </a:rPr>
              <a:t>'2 3'</a:t>
            </a:r>
            <a:r>
              <a:rPr lang="en-US" sz="1000" dirty="0">
                <a:solidFill>
                  <a:srgbClr val="E6EDF3"/>
                </a:solidFill>
                <a:latin typeface="Courier New" pitchFamily="34" charset="0"/>
                <a:ea typeface="Courier New" pitchFamily="34" charset="-122"/>
                <a:cs typeface="Courier New" pitchFamily="34" charset="-120"/>
              </a:rPr>
              <a:t>, </a:t>
            </a:r>
            <a:r>
              <a:rPr lang="en-US" sz="1000" dirty="0">
                <a:solidFill>
                  <a:srgbClr val="9ECBFF"/>
                </a:solidFill>
                <a:latin typeface="Courier New" pitchFamily="34" charset="0"/>
                <a:ea typeface="Courier New" pitchFamily="34" charset="-122"/>
                <a:cs typeface="Courier New" pitchFamily="34" charset="-120"/>
              </a:rPr>
              <a:t>'OP_ADD 5 OP_EQUAL'</a:t>
            </a:r>
            <a:r>
              <a:rPr lang="en-US" sz="1000" dirty="0">
                <a:solidFill>
                  <a:srgbClr val="E6EDF3"/>
                </a:solidFill>
                <a:latin typeface="Courier New" pitchFamily="34" charset="0"/>
                <a:ea typeface="Courier New" pitchFamily="34" charset="-122"/>
                <a:cs typeface="Courier New" pitchFamily="34" charset="-120"/>
              </a:rPr>
              <a:t>)</a:t>
            </a:r>
            <a:endParaRPr lang="en-US" sz="1000" dirty="0"/>
          </a:p>
        </p:txBody>
      </p:sp>
      <p:sp>
        <p:nvSpPr>
          <p:cNvPr id="8" name="Shape 6"/>
          <p:cNvSpPr/>
          <p:nvPr/>
        </p:nvSpPr>
        <p:spPr>
          <a:xfrm>
            <a:off x="457200" y="2122322"/>
            <a:ext cx="5074920" cy="311810"/>
          </a:xfrm>
          <a:prstGeom prst="roundRect">
            <a:avLst>
              <a:gd name="adj" fmla="val 23460"/>
            </a:avLst>
          </a:prstGeom>
          <a:solidFill>
            <a:srgbClr val="23272E"/>
          </a:solidFill>
          <a:ln w="12700">
            <a:solidFill>
              <a:srgbClr val="23272E"/>
            </a:solidFill>
            <a:prstDash val="solid"/>
          </a:ln>
        </p:spPr>
      </p:sp>
      <p:sp>
        <p:nvSpPr>
          <p:cNvPr id="9" name="Text 7"/>
          <p:cNvSpPr txBox="1"/>
          <p:nvPr/>
        </p:nvSpPr>
        <p:spPr>
          <a:xfrm>
            <a:off x="603504" y="2195474"/>
            <a:ext cx="4800600" cy="183794"/>
          </a:xfrm>
          <a:prstGeom prst="rect">
            <a:avLst/>
          </a:prstGeom>
          <a:noFill/>
          <a:ln/>
        </p:spPr>
        <p:txBody>
          <a:bodyPr wrap="square" lIns="0" tIns="0" rIns="0" bIns="0" rtlCol="0" anchor="t"/>
          <a:lstStyle/>
          <a:p>
            <a:pPr indent="0" marL="0">
              <a:buNone/>
            </a:pPr>
            <a:r>
              <a:rPr lang="en-US" sz="1000" b="1" dirty="0">
                <a:solidFill>
                  <a:srgbClr val="D97A14"/>
                </a:solidFill>
                <a:latin typeface="Courier New" pitchFamily="34" charset="0"/>
                <a:ea typeface="Courier New" pitchFamily="34" charset="-122"/>
                <a:cs typeface="Courier New" pitchFamily="34" charset="-120"/>
              </a:rPr>
              <a:t>&gt;&gt;&gt; </a:t>
            </a:r>
            <a:r>
              <a:rPr lang="en-US" sz="1000" dirty="0">
                <a:solidFill>
                  <a:srgbClr val="E6EDF3"/>
                </a:solidFill>
                <a:latin typeface="Courier New" pitchFamily="34" charset="0"/>
                <a:ea typeface="Courier New" pitchFamily="34" charset="-122"/>
                <a:cs typeface="Courier New" pitchFamily="34" charset="-120"/>
              </a:rPr>
              <a:t>bad = L.run(</a:t>
            </a:r>
            <a:r>
              <a:rPr lang="en-US" sz="1000" dirty="0">
                <a:solidFill>
                  <a:srgbClr val="9ECBFF"/>
                </a:solidFill>
                <a:latin typeface="Courier New" pitchFamily="34" charset="0"/>
                <a:ea typeface="Courier New" pitchFamily="34" charset="-122"/>
                <a:cs typeface="Courier New" pitchFamily="34" charset="-120"/>
              </a:rPr>
              <a:t>'2 3'</a:t>
            </a:r>
            <a:r>
              <a:rPr lang="en-US" sz="1000" dirty="0">
                <a:solidFill>
                  <a:srgbClr val="E6EDF3"/>
                </a:solidFill>
                <a:latin typeface="Courier New" pitchFamily="34" charset="0"/>
                <a:ea typeface="Courier New" pitchFamily="34" charset="-122"/>
                <a:cs typeface="Courier New" pitchFamily="34" charset="-120"/>
              </a:rPr>
              <a:t>, </a:t>
            </a:r>
            <a:r>
              <a:rPr lang="en-US" sz="1000" dirty="0">
                <a:solidFill>
                  <a:srgbClr val="9ECBFF"/>
                </a:solidFill>
                <a:latin typeface="Courier New" pitchFamily="34" charset="0"/>
                <a:ea typeface="Courier New" pitchFamily="34" charset="-122"/>
                <a:cs typeface="Courier New" pitchFamily="34" charset="-120"/>
              </a:rPr>
              <a:t>'OP_ADD 6 OP_EQUAL'</a:t>
            </a:r>
            <a:r>
              <a:rPr lang="en-US" sz="1000" dirty="0">
                <a:solidFill>
                  <a:srgbClr val="E6EDF3"/>
                </a:solidFill>
                <a:latin typeface="Courier New" pitchFamily="34" charset="0"/>
                <a:ea typeface="Courier New" pitchFamily="34" charset="-122"/>
                <a:cs typeface="Courier New" pitchFamily="34" charset="-120"/>
              </a:rPr>
              <a:t>)</a:t>
            </a:r>
            <a:endParaRPr lang="en-US" sz="1000" dirty="0"/>
          </a:p>
        </p:txBody>
      </p:sp>
      <p:sp>
        <p:nvSpPr>
          <p:cNvPr id="10" name="Shape 8"/>
          <p:cNvSpPr/>
          <p:nvPr/>
        </p:nvSpPr>
        <p:spPr>
          <a:xfrm>
            <a:off x="457200" y="2754173"/>
            <a:ext cx="5074920" cy="806501"/>
          </a:xfrm>
          <a:prstGeom prst="roundRect">
            <a:avLst>
              <a:gd name="adj" fmla="val 9070"/>
            </a:avLst>
          </a:prstGeom>
          <a:solidFill>
            <a:srgbClr val="23272E"/>
          </a:solidFill>
          <a:ln w="12700">
            <a:solidFill>
              <a:srgbClr val="23272E"/>
            </a:solidFill>
            <a:prstDash val="solid"/>
          </a:ln>
        </p:spPr>
      </p:sp>
      <p:sp>
        <p:nvSpPr>
          <p:cNvPr id="11" name="Text 9"/>
          <p:cNvSpPr txBox="1"/>
          <p:nvPr/>
        </p:nvSpPr>
        <p:spPr>
          <a:xfrm>
            <a:off x="603504" y="2827325"/>
            <a:ext cx="4800600" cy="678485"/>
          </a:xfrm>
          <a:prstGeom prst="rect">
            <a:avLst/>
          </a:prstGeom>
          <a:noFill/>
          <a:ln/>
        </p:spPr>
        <p:txBody>
          <a:bodyPr wrap="square" lIns="0" tIns="0" rIns="0" bIns="0" rtlCol="0" anchor="t"/>
          <a:lstStyle/>
          <a:p>
            <a:pPr indent="0" marL="0">
              <a:buNone/>
            </a:pPr>
            <a:r>
              <a:rPr lang="en-US" sz="1000" b="1" dirty="0">
                <a:solidFill>
                  <a:srgbClr val="D97A14"/>
                </a:solidFill>
                <a:latin typeface="Courier New" pitchFamily="34" charset="0"/>
                <a:ea typeface="Courier New" pitchFamily="34" charset="-122"/>
                <a:cs typeface="Courier New" pitchFamily="34" charset="-120"/>
              </a:rPr>
              <a:t>&gt;&gt;&gt; </a:t>
            </a:r>
            <a:r>
              <a:rPr lang="en-US" sz="1000" dirty="0">
                <a:solidFill>
                  <a:srgbClr val="E6EDF3"/>
                </a:solidFill>
                <a:latin typeface="Courier New" pitchFamily="34" charset="0"/>
                <a:ea typeface="Courier New" pitchFamily="34" charset="-122"/>
                <a:cs typeface="Courier New" pitchFamily="34" charset="-120"/>
              </a:rPr>
              <a:t>code = L.assemble(</a:t>
            </a:r>
            <a:r>
              <a:rPr lang="en-US" sz="1000" dirty="0">
                <a:solidFill>
                  <a:srgbClr val="9ECBFF"/>
                </a:solidFill>
                <a:latin typeface="Courier New" pitchFamily="34" charset="0"/>
                <a:ea typeface="Courier New" pitchFamily="34" charset="-122"/>
                <a:cs typeface="Courier New" pitchFamily="34" charset="-120"/>
              </a:rPr>
              <a:t>'2 3 OP_ADD 5 OP_EQUAL'</a:t>
            </a:r>
            <a:r>
              <a:rPr lang="en-US" sz="1000" dirty="0">
                <a:solidFill>
                  <a:srgbClr val="E6EDF3"/>
                </a:solidFill>
                <a:latin typeface="Courier New" pitchFamily="34" charset="0"/>
                <a:ea typeface="Courier New" pitchFamily="34" charset="-122"/>
                <a:cs typeface="Courier New" pitchFamily="34" charset="-120"/>
              </a:rPr>
              <a:t>).hex()</a:t>
            </a:r>
            <a:endParaRPr lang="en-US" sz="1000" dirty="0"/>
          </a:p>
          <a:p>
            <a:pPr indent="0" marL="0">
              <a:buNone/>
            </a:pPr>
            <a:r>
              <a:rPr lang="en-US" sz="1000" b="1" dirty="0">
                <a:solidFill>
                  <a:srgbClr val="D97A14"/>
                </a:solidFill>
                <a:latin typeface="Courier New" pitchFamily="34" charset="0"/>
                <a:ea typeface="Courier New" pitchFamily="34" charset="-122"/>
                <a:cs typeface="Courier New" pitchFamily="34" charset="-120"/>
              </a:rPr>
              <a:t>&gt;&gt;&gt; </a:t>
            </a:r>
            <a:r>
              <a:rPr lang="en-US" sz="1000" dirty="0">
                <a:solidFill>
                  <a:srgbClr val="E6EDF3"/>
                </a:solidFill>
                <a:latin typeface="Courier New" pitchFamily="34" charset="0"/>
                <a:ea typeface="Courier New" pitchFamily="34" charset="-122"/>
                <a:cs typeface="Courier New" pitchFamily="34" charset="-120"/>
              </a:rPr>
              <a:t>res = [ok, bad, code]</a:t>
            </a:r>
            <a:endParaRPr lang="en-US" sz="1000" dirty="0"/>
          </a:p>
          <a:p>
            <a:pPr indent="0" marL="0">
              <a:buNone/>
            </a:pPr>
            <a:r>
              <a:rPr lang="en-US" sz="1000" b="1" dirty="0">
                <a:solidFill>
                  <a:srgbClr val="D97A14"/>
                </a:solidFill>
                <a:latin typeface="Courier New" pitchFamily="34" charset="0"/>
                <a:ea typeface="Courier New" pitchFamily="34" charset="-122"/>
                <a:cs typeface="Courier New" pitchFamily="34" charset="-120"/>
              </a:rPr>
              <a:t>&gt;&gt;&gt; </a:t>
            </a:r>
            <a:r>
              <a:rPr lang="en-US" sz="1000" dirty="0">
                <a:solidFill>
                  <a:srgbClr val="E6EDF3"/>
                </a:solidFill>
                <a:latin typeface="Courier New" pitchFamily="34" charset="0"/>
                <a:ea typeface="Courier New" pitchFamily="34" charset="-122"/>
                <a:cs typeface="Courier New" pitchFamily="34" charset="-120"/>
              </a:rPr>
              <a:t>res</a:t>
            </a:r>
            <a:endParaRPr lang="en-US" sz="1000" dirty="0"/>
          </a:p>
          <a:p>
            <a:pPr indent="0" marL="0">
              <a:buNone/>
            </a:pPr>
            <a:r>
              <a:rPr lang="en-US" sz="1000" dirty="0">
                <a:solidFill>
                  <a:srgbClr val="7EE787"/>
                </a:solidFill>
                <a:latin typeface="Courier New" pitchFamily="34" charset="0"/>
                <a:ea typeface="Courier New" pitchFamily="34" charset="-122"/>
                <a:cs typeface="Courier New" pitchFamily="34" charset="-120"/>
              </a:rPr>
              <a:t>['OK', 'EVAL_FALSE', '5253935587']</a:t>
            </a:r>
            <a:endParaRPr lang="en-US" sz="1000" dirty="0"/>
          </a:p>
        </p:txBody>
      </p:sp>
      <p:sp>
        <p:nvSpPr>
          <p:cNvPr id="12" name="Shape 10"/>
          <p:cNvSpPr/>
          <p:nvPr/>
        </p:nvSpPr>
        <p:spPr>
          <a:xfrm>
            <a:off x="365760" y="1252728"/>
            <a:ext cx="237744" cy="237744"/>
          </a:xfrm>
          <a:prstGeom prst="ellipse">
            <a:avLst/>
          </a:prstGeom>
          <a:solidFill>
            <a:srgbClr val="D97A14"/>
          </a:solidFill>
          <a:ln w="12700">
            <a:solidFill>
              <a:srgbClr val="D97A14"/>
            </a:solidFill>
            <a:prstDash val="solid"/>
          </a:ln>
        </p:spPr>
      </p:sp>
      <p:sp>
        <p:nvSpPr>
          <p:cNvPr id="13" name="Text 11"/>
          <p:cNvSpPr txBox="1"/>
          <p:nvPr/>
        </p:nvSpPr>
        <p:spPr>
          <a:xfrm>
            <a:off x="365760" y="1252728"/>
            <a:ext cx="237744" cy="237744"/>
          </a:xfrm>
          <a:prstGeom prst="rect">
            <a:avLst/>
          </a:prstGeom>
          <a:noFill/>
          <a:ln/>
        </p:spPr>
        <p:txBody>
          <a:bodyPr wrap="square" lIns="0" tIns="0" rIns="0" bIns="0" rtlCol="0" anchor="ctr"/>
          <a:lstStyle/>
          <a:p>
            <a:pPr algn="ctr" indent="0" marL="0">
              <a:buNone/>
            </a:pPr>
            <a:r>
              <a:rPr lang="en-US" sz="1100" b="1" dirty="0">
                <a:solidFill>
                  <a:srgbClr val="FFFFFF"/>
                </a:solidFill>
                <a:latin typeface="Cambria" pitchFamily="34" charset="0"/>
                <a:ea typeface="Cambria" pitchFamily="34" charset="-122"/>
                <a:cs typeface="Cambria" pitchFamily="34" charset="-120"/>
              </a:rPr>
              <a:t>1</a:t>
            </a:r>
            <a:endParaRPr lang="en-US" sz="1100" dirty="0"/>
          </a:p>
        </p:txBody>
      </p:sp>
      <p:sp>
        <p:nvSpPr>
          <p:cNvPr id="14" name="Text 12"/>
          <p:cNvSpPr txBox="1"/>
          <p:nvPr/>
        </p:nvSpPr>
        <p:spPr>
          <a:xfrm>
            <a:off x="731520" y="1665122"/>
            <a:ext cx="4800600" cy="374904"/>
          </a:xfrm>
          <a:prstGeom prst="rect">
            <a:avLst/>
          </a:prstGeom>
          <a:noFill/>
          <a:ln/>
        </p:spPr>
        <p:txBody>
          <a:bodyPr wrap="square" lIns="0" tIns="0" rIns="0" bIns="0" rtlCol="0" anchor="t"/>
          <a:lstStyle/>
          <a:p>
            <a:pPr indent="0" marL="0">
              <a:buNone/>
            </a:pPr>
            <a:r>
              <a:rPr lang="en-US" sz="1050" dirty="0">
                <a:solidFill>
                  <a:srgbClr val="2B2622"/>
                </a:solidFill>
                <a:latin typeface="Calibri" pitchFamily="34" charset="0"/>
                <a:ea typeface="Calibri" pitchFamily="34" charset="-122"/>
                <a:cs typeface="Calibri" pitchFamily="34" charset="-120"/>
              </a:rPr>
              <a:t>A script is read left to right; numbers are pushed and operations use the top items.</a:t>
            </a:r>
            <a:endParaRPr lang="en-US" sz="1050" dirty="0"/>
          </a:p>
        </p:txBody>
      </p:sp>
      <p:sp>
        <p:nvSpPr>
          <p:cNvPr id="15" name="Shape 13"/>
          <p:cNvSpPr/>
          <p:nvPr/>
        </p:nvSpPr>
        <p:spPr>
          <a:xfrm>
            <a:off x="365760" y="2049170"/>
            <a:ext cx="237744" cy="237744"/>
          </a:xfrm>
          <a:prstGeom prst="ellipse">
            <a:avLst/>
          </a:prstGeom>
          <a:solidFill>
            <a:srgbClr val="D97A14"/>
          </a:solidFill>
          <a:ln w="12700">
            <a:solidFill>
              <a:srgbClr val="D97A14"/>
            </a:solidFill>
            <a:prstDash val="solid"/>
          </a:ln>
        </p:spPr>
      </p:sp>
      <p:sp>
        <p:nvSpPr>
          <p:cNvPr id="16" name="Text 14"/>
          <p:cNvSpPr txBox="1"/>
          <p:nvPr/>
        </p:nvSpPr>
        <p:spPr>
          <a:xfrm>
            <a:off x="365760" y="2049170"/>
            <a:ext cx="237744" cy="237744"/>
          </a:xfrm>
          <a:prstGeom prst="rect">
            <a:avLst/>
          </a:prstGeom>
          <a:noFill/>
          <a:ln/>
        </p:spPr>
        <p:txBody>
          <a:bodyPr wrap="square" lIns="0" tIns="0" rIns="0" bIns="0" rtlCol="0" anchor="ctr"/>
          <a:lstStyle/>
          <a:p>
            <a:pPr algn="ctr" indent="0" marL="0">
              <a:buNone/>
            </a:pPr>
            <a:r>
              <a:rPr lang="en-US" sz="1100" b="1" dirty="0">
                <a:solidFill>
                  <a:srgbClr val="FFFFFF"/>
                </a:solidFill>
                <a:latin typeface="Cambria" pitchFamily="34" charset="0"/>
                <a:ea typeface="Cambria" pitchFamily="34" charset="-122"/>
                <a:cs typeface="Cambria" pitchFamily="34" charset="-120"/>
              </a:rPr>
              <a:t>2</a:t>
            </a:r>
            <a:endParaRPr lang="en-US" sz="1100" dirty="0"/>
          </a:p>
        </p:txBody>
      </p:sp>
      <p:sp>
        <p:nvSpPr>
          <p:cNvPr id="17" name="Text 15"/>
          <p:cNvSpPr txBox="1"/>
          <p:nvPr/>
        </p:nvSpPr>
        <p:spPr>
          <a:xfrm>
            <a:off x="731520" y="2461565"/>
            <a:ext cx="4800600" cy="210312"/>
          </a:xfrm>
          <a:prstGeom prst="rect">
            <a:avLst/>
          </a:prstGeom>
          <a:noFill/>
          <a:ln/>
        </p:spPr>
        <p:txBody>
          <a:bodyPr wrap="square" lIns="0" tIns="0" rIns="0" bIns="0" rtlCol="0" anchor="t"/>
          <a:lstStyle/>
          <a:p>
            <a:pPr indent="0" marL="0">
              <a:buNone/>
            </a:pPr>
            <a:r>
              <a:rPr lang="en-US" sz="1050" dirty="0">
                <a:solidFill>
                  <a:srgbClr val="2B2622"/>
                </a:solidFill>
                <a:latin typeface="Calibri" pitchFamily="34" charset="0"/>
                <a:ea typeface="Calibri" pitchFamily="34" charset="-122"/>
                <a:cs typeface="Calibri" pitchFamily="34" charset="-120"/>
              </a:rPr>
              <a:t>Change the five to a six and the same script fails.</a:t>
            </a:r>
            <a:endParaRPr lang="en-US" sz="1050" dirty="0"/>
          </a:p>
        </p:txBody>
      </p:sp>
      <p:sp>
        <p:nvSpPr>
          <p:cNvPr id="18" name="Shape 16"/>
          <p:cNvSpPr/>
          <p:nvPr/>
        </p:nvSpPr>
        <p:spPr>
          <a:xfrm>
            <a:off x="365760" y="2681021"/>
            <a:ext cx="237744" cy="237744"/>
          </a:xfrm>
          <a:prstGeom prst="ellipse">
            <a:avLst/>
          </a:prstGeom>
          <a:solidFill>
            <a:srgbClr val="D97A14"/>
          </a:solidFill>
          <a:ln w="12700">
            <a:solidFill>
              <a:srgbClr val="D97A14"/>
            </a:solidFill>
            <a:prstDash val="solid"/>
          </a:ln>
        </p:spPr>
      </p:sp>
      <p:sp>
        <p:nvSpPr>
          <p:cNvPr id="19" name="Text 17"/>
          <p:cNvSpPr txBox="1"/>
          <p:nvPr/>
        </p:nvSpPr>
        <p:spPr>
          <a:xfrm>
            <a:off x="365760" y="2681021"/>
            <a:ext cx="237744" cy="237744"/>
          </a:xfrm>
          <a:prstGeom prst="rect">
            <a:avLst/>
          </a:prstGeom>
          <a:noFill/>
          <a:ln/>
        </p:spPr>
        <p:txBody>
          <a:bodyPr wrap="square" lIns="0" tIns="0" rIns="0" bIns="0" rtlCol="0" anchor="ctr"/>
          <a:lstStyle/>
          <a:p>
            <a:pPr algn="ctr" indent="0" marL="0">
              <a:buNone/>
            </a:pPr>
            <a:r>
              <a:rPr lang="en-US" sz="1100" b="1" dirty="0">
                <a:solidFill>
                  <a:srgbClr val="FFFFFF"/>
                </a:solidFill>
                <a:latin typeface="Cambria" pitchFamily="34" charset="0"/>
                <a:ea typeface="Cambria" pitchFamily="34" charset="-122"/>
                <a:cs typeface="Cambria" pitchFamily="34" charset="-120"/>
              </a:rPr>
              <a:t>3</a:t>
            </a:r>
            <a:endParaRPr lang="en-US" sz="1100" dirty="0"/>
          </a:p>
        </p:txBody>
      </p:sp>
      <p:sp>
        <p:nvSpPr>
          <p:cNvPr id="20" name="Text 18"/>
          <p:cNvSpPr txBox="1"/>
          <p:nvPr/>
        </p:nvSpPr>
        <p:spPr>
          <a:xfrm>
            <a:off x="731520" y="3588106"/>
            <a:ext cx="4800600" cy="210312"/>
          </a:xfrm>
          <a:prstGeom prst="rect">
            <a:avLst/>
          </a:prstGeom>
          <a:noFill/>
          <a:ln/>
        </p:spPr>
        <p:txBody>
          <a:bodyPr wrap="square" lIns="0" tIns="0" rIns="0" bIns="0" rtlCol="0" anchor="t"/>
          <a:lstStyle/>
          <a:p>
            <a:pPr indent="0" marL="0">
              <a:buNone/>
            </a:pPr>
            <a:r>
              <a:rPr lang="en-US" sz="1050" dirty="0">
                <a:solidFill>
                  <a:srgbClr val="2B2622"/>
                </a:solidFill>
                <a:latin typeface="Calibri" pitchFamily="34" charset="0"/>
                <a:ea typeface="Calibri" pitchFamily="34" charset="-122"/>
                <a:cs typeface="Calibri" pitchFamily="34" charset="-120"/>
              </a:rPr>
              <a:t>The assembler turns the five words into five bytes.</a:t>
            </a:r>
            <a:endParaRPr lang="en-US" sz="1050" dirty="0"/>
          </a:p>
        </p:txBody>
      </p:sp>
      <p:sp>
        <p:nvSpPr>
          <p:cNvPr id="21" name="Text 19"/>
          <p:cNvSpPr txBox="1"/>
          <p:nvPr/>
        </p:nvSpPr>
        <p:spPr>
          <a:xfrm>
            <a:off x="457200" y="3844138"/>
            <a:ext cx="5074920" cy="182880"/>
          </a:xfrm>
          <a:prstGeom prst="rect">
            <a:avLst/>
          </a:prstGeom>
          <a:noFill/>
          <a:ln/>
        </p:spPr>
        <p:txBody>
          <a:bodyPr wrap="square" lIns="0" tIns="0" rIns="0" bIns="0" rtlCol="0" anchor="ctr"/>
          <a:lstStyle/>
          <a:p>
            <a:pPr algn="l" indent="0" marL="0">
              <a:buNone/>
            </a:pPr>
            <a:r>
              <a:rPr lang="en-US" sz="900" i="1" dirty="0">
                <a:solidFill>
                  <a:srgbClr val="6E655C"/>
                </a:solidFill>
                <a:latin typeface="Calibri" pitchFamily="34" charset="0"/>
                <a:ea typeface="Calibri" pitchFamily="34" charset="-122"/>
                <a:cs typeface="Calibri" pitchFamily="34" charset="-120"/>
              </a:rPr>
              <a:t>run under Python 3.14.6 - L, K, LOCK, RED, CLTV, CSV and MOH_LEAVES come from the chapter setup</a:t>
            </a:r>
            <a:endParaRPr lang="en-US" sz="900" dirty="0"/>
          </a:p>
        </p:txBody>
      </p:sp>
      <p:sp>
        <p:nvSpPr>
          <p:cNvPr id="22" name="Text 20"/>
          <p:cNvSpPr txBox="1"/>
          <p:nvPr/>
        </p:nvSpPr>
        <p:spPr>
          <a:xfrm>
            <a:off x="5715000" y="1325880"/>
            <a:ext cx="2971800" cy="402336"/>
          </a:xfrm>
          <a:prstGeom prst="rect">
            <a:avLst/>
          </a:prstGeom>
          <a:noFill/>
          <a:ln/>
        </p:spPr>
        <p:txBody>
          <a:bodyPr wrap="square" lIns="0" tIns="0" rIns="0" bIns="0" rtlCol="0" anchor="t"/>
          <a:lstStyle/>
          <a:p>
            <a:pPr algn="l" indent="0" marL="0">
              <a:buNone/>
            </a:pPr>
            <a:r>
              <a:rPr lang="en-US" sz="1100" b="1" dirty="0">
                <a:solidFill>
                  <a:srgbClr val="6E655C"/>
                </a:solidFill>
                <a:latin typeface="Calibri" pitchFamily="34" charset="0"/>
                <a:ea typeface="Calibri" pitchFamily="34" charset="-122"/>
                <a:cs typeface="Calibri" pitchFamily="34" charset="-120"/>
              </a:rPr>
              <a:t>Result: the same script with a five and a six</a:t>
            </a:r>
            <a:endParaRPr lang="en-US" sz="11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715000" y="1773936"/>
          <a:ext cx="2971800" cy="914400"/>
        </p:xfrm>
        <a:graphic>
          <a:graphicData uri="http://schemas.openxmlformats.org/drawingml/2006/table">
            <a:tbl>
              <a:tblPr/>
              <a:tblGrid>
                <a:gridCol w="1600200"/>
                <a:gridCol w="1371600"/>
              </a:tblGrid>
              <a:tr h="274320">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Program</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solidFill>
                      <a:srgbClr val="2B2622"/>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Result</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solidFill>
                      <a:srgbClr val="2B2622"/>
                    </a:solidFill>
                  </a:tcPr>
                </a:tc>
              </a:tr>
              <a:tr h="274320">
                <a:tc>
                  <a:txBody>
                    <a:bodyPr/>
                    <a:lstStyle/>
                    <a:p>
                      <a:pPr indent="0" marL="0">
                        <a:buNone/>
                      </a:pPr>
                      <a:r>
                        <a:rPr lang="en-US" sz="950" dirty="0">
                          <a:solidFill>
                            <a:srgbClr val="2B2622"/>
                          </a:solidFill>
                          <a:latin typeface="Calibri" pitchFamily="34" charset="0"/>
                          <a:ea typeface="Calibri" pitchFamily="34" charset="-122"/>
                          <a:cs typeface="Calibri" pitchFamily="34" charset="-120"/>
                        </a:rPr>
                        <a:t>2 3 OP_ADD 5 OP_EQUAL</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c>
                  <a:txBody>
                    <a:bodyPr/>
                    <a:lstStyle/>
                    <a:p>
                      <a:pPr indent="0" marL="0">
                        <a:buNone/>
                      </a:pPr>
                      <a:r>
                        <a:rPr lang="en-US" sz="950" dirty="0">
                          <a:solidFill>
                            <a:srgbClr val="2B2622"/>
                          </a:solidFill>
                          <a:latin typeface="Calibri" pitchFamily="34" charset="0"/>
                          <a:ea typeface="Calibri" pitchFamily="34" charset="-122"/>
                          <a:cs typeface="Calibri" pitchFamily="34" charset="-120"/>
                        </a:rPr>
                        <a:t>OK</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r>
              <a:tr h="274320">
                <a:tc>
                  <a:txBody>
                    <a:bodyPr/>
                    <a:lstStyle/>
                    <a:p>
                      <a:pPr indent="0" marL="0">
                        <a:buNone/>
                      </a:pPr>
                      <a:r>
                        <a:rPr lang="en-US" sz="950" dirty="0">
                          <a:solidFill>
                            <a:srgbClr val="2B2622"/>
                          </a:solidFill>
                          <a:latin typeface="Calibri" pitchFamily="34" charset="0"/>
                          <a:ea typeface="Calibri" pitchFamily="34" charset="-122"/>
                          <a:cs typeface="Calibri" pitchFamily="34" charset="-120"/>
                        </a:rPr>
                        <a:t>2 3 OP_ADD 6 OP_EQUAL</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c>
                  <a:txBody>
                    <a:bodyPr/>
                    <a:lstStyle/>
                    <a:p>
                      <a:pPr indent="0" marL="0">
                        <a:buNone/>
                      </a:pPr>
                      <a:r>
                        <a:rPr lang="en-US" sz="950" dirty="0">
                          <a:solidFill>
                            <a:srgbClr val="2B2622"/>
                          </a:solidFill>
                          <a:latin typeface="Calibri" pitchFamily="34" charset="0"/>
                          <a:ea typeface="Calibri" pitchFamily="34" charset="-122"/>
                          <a:cs typeface="Calibri" pitchFamily="34" charset="-120"/>
                        </a:rPr>
                        <a:t>EVAL_FALSE</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r>
              <a:tr h="274320">
                <a:tc>
                  <a:txBody>
                    <a:bodyPr/>
                    <a:lstStyle/>
                    <a:p>
                      <a:pPr indent="0" marL="0">
                        <a:buNone/>
                      </a:pPr>
                      <a:r>
                        <a:rPr lang="en-US" sz="950" dirty="0">
                          <a:solidFill>
                            <a:srgbClr val="2B2622"/>
                          </a:solidFill>
                          <a:latin typeface="Calibri" pitchFamily="34" charset="0"/>
                          <a:ea typeface="Calibri" pitchFamily="34" charset="-122"/>
                          <a:cs typeface="Calibri" pitchFamily="34" charset="-120"/>
                        </a:rPr>
                        <a:t>Assembled bytes</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c>
                  <a:txBody>
                    <a:bodyPr/>
                    <a:lstStyle/>
                    <a:p>
                      <a:pPr indent="0" marL="0">
                        <a:buNone/>
                      </a:pPr>
                      <a:r>
                        <a:rPr lang="en-US" sz="950" dirty="0">
                          <a:solidFill>
                            <a:srgbClr val="2B2622"/>
                          </a:solidFill>
                          <a:latin typeface="Calibri" pitchFamily="34" charset="0"/>
                          <a:ea typeface="Calibri" pitchFamily="34" charset="-122"/>
                          <a:cs typeface="Calibri" pitchFamily="34" charset="-120"/>
                        </a:rPr>
                        <a:t>5253935587</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r>
            </a:tbl>
          </a:graphicData>
        </a:graphic>
      </p:graphicFrame>
      <p:sp>
        <p:nvSpPr>
          <p:cNvPr id="24" name="Text 21"/>
          <p:cNvSpPr txBox="1"/>
          <p:nvPr/>
        </p:nvSpPr>
        <p:spPr>
          <a:xfrm>
            <a:off x="5715000" y="3145536"/>
            <a:ext cx="2971800" cy="786384"/>
          </a:xfrm>
          <a:prstGeom prst="rect">
            <a:avLst/>
          </a:prstGeom>
          <a:noFill/>
          <a:ln/>
        </p:spPr>
        <p:txBody>
          <a:bodyPr wrap="square" lIns="0" tIns="0" rIns="0" bIns="0" rtlCol="0" anchor="t"/>
          <a:lstStyle/>
          <a:p>
            <a:pPr algn="l" indent="0" marL="0">
              <a:buNone/>
            </a:pPr>
            <a:r>
              <a:rPr lang="en-US" sz="1150" i="1" dirty="0">
                <a:solidFill>
                  <a:srgbClr val="2B2622"/>
                </a:solidFill>
                <a:latin typeface="Calibri" pitchFamily="34" charset="0"/>
                <a:ea typeface="Calibri" pitchFamily="34" charset="-122"/>
                <a:cs typeface="Calibri" pitchFamily="34" charset="-120"/>
              </a:rPr>
              <a:t>The sum is five, so the first script ends true and the second false. The five words assemble to five bytes.</a:t>
            </a:r>
            <a:endParaRPr lang="en-US" sz="1150" dirty="0"/>
          </a:p>
        </p:txBody>
      </p:sp>
      <p:sp>
        <p:nvSpPr>
          <p:cNvPr id="25" name="Shape 22"/>
          <p:cNvSpPr/>
          <p:nvPr/>
        </p:nvSpPr>
        <p:spPr>
          <a:xfrm>
            <a:off x="457200" y="4636008"/>
            <a:ext cx="91440" cy="310896"/>
          </a:xfrm>
          <a:prstGeom prst="rect">
            <a:avLst/>
          </a:prstGeom>
          <a:solidFill>
            <a:srgbClr val="D97A14"/>
          </a:solidFill>
          <a:ln w="12700">
            <a:solidFill>
              <a:srgbClr val="D97A14"/>
            </a:solidFill>
            <a:prstDash val="solid"/>
          </a:ln>
        </p:spPr>
      </p:sp>
      <p:sp>
        <p:nvSpPr>
          <p:cNvPr id="26" name="Text 23"/>
          <p:cNvSpPr txBox="1"/>
          <p:nvPr/>
        </p:nvSpPr>
        <p:spPr>
          <a:xfrm>
            <a:off x="658368" y="4599432"/>
            <a:ext cx="6949440" cy="384048"/>
          </a:xfrm>
          <a:prstGeom prst="rect">
            <a:avLst/>
          </a:prstGeom>
          <a:noFill/>
          <a:ln/>
        </p:spPr>
        <p:txBody>
          <a:bodyPr wrap="square" lIns="0" tIns="0" rIns="0" bIns="0" rtlCol="0" anchor="ctr"/>
          <a:lstStyle/>
          <a:p>
            <a:pPr indent="0" marL="0">
              <a:buNone/>
            </a:pPr>
            <a:r>
              <a:rPr lang="en-US" sz="1350" b="1" i="1" dirty="0">
                <a:solidFill>
                  <a:srgbClr val="2B2622"/>
                </a:solidFill>
                <a:latin typeface="Cambria" pitchFamily="34" charset="0"/>
                <a:ea typeface="Cambria" pitchFamily="34" charset="-122"/>
                <a:cs typeface="Cambria" pitchFamily="34" charset="-120"/>
              </a:rPr>
              <a:t>Numbers are pushed; an operation takes its inputs from the top</a:t>
            </a:r>
            <a:endParaRPr lang="en-US" sz="1350" dirty="0"/>
          </a:p>
        </p:txBody>
      </p:sp>
      <p:sp>
        <p:nvSpPr>
          <p:cNvPr id="27" name="Text 24"/>
          <p:cNvSpPr txBox="1"/>
          <p:nvPr/>
        </p:nvSpPr>
        <p:spPr>
          <a:xfrm>
            <a:off x="7863840" y="4645152"/>
            <a:ext cx="868680" cy="310896"/>
          </a:xfrm>
          <a:prstGeom prst="rect">
            <a:avLst/>
          </a:prstGeom>
          <a:noFill/>
          <a:ln/>
        </p:spPr>
        <p:txBody>
          <a:bodyPr wrap="square" lIns="0" tIns="0" rIns="0" bIns="0" rtlCol="0" anchor="ctr"/>
          <a:lstStyle/>
          <a:p>
            <a:pPr algn="r" indent="0" marL="0">
              <a:buNone/>
            </a:pPr>
            <a:r>
              <a:rPr lang="en-US" sz="1100" dirty="0">
                <a:solidFill>
                  <a:srgbClr val="6E655C"/>
                </a:solidFill>
                <a:latin typeface="Calibri" pitchFamily="34" charset="0"/>
                <a:ea typeface="Calibri" pitchFamily="34" charset="-122"/>
                <a:cs typeface="Calibri" pitchFamily="34" charset="-120"/>
              </a:rPr>
              <a:t>7 / 61</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6EF"/>
        </a:solidFill>
      </p:bgPr>
    </p:bg>
    <p:spTree>
      <p:nvGrpSpPr>
        <p:cNvPr id="1" name=""/>
        <p:cNvGrpSpPr/>
        <p:nvPr/>
      </p:nvGrpSpPr>
      <p:grpSpPr>
        <a:xfrm>
          <a:off x="0" y="0"/>
          <a:ext cx="0" cy="0"/>
          <a:chOff x="0" y="0"/>
          <a:chExt cx="0" cy="0"/>
        </a:xfrm>
      </p:grpSpPr>
      <p:sp>
        <p:nvSpPr>
          <p:cNvPr id="2" name="Shape 0"/>
          <p:cNvSpPr/>
          <p:nvPr/>
        </p:nvSpPr>
        <p:spPr>
          <a:xfrm>
            <a:off x="457200" y="347472"/>
            <a:ext cx="566928" cy="384048"/>
          </a:xfrm>
          <a:prstGeom prst="roundRect">
            <a:avLst>
              <a:gd name="adj" fmla="val 19048"/>
            </a:avLst>
          </a:prstGeom>
          <a:solidFill>
            <a:srgbClr val="D97A14"/>
          </a:solidFill>
          <a:ln w="12700">
            <a:solidFill>
              <a:srgbClr val="D97A14"/>
            </a:solidFill>
            <a:prstDash val="solid"/>
          </a:ln>
        </p:spPr>
      </p:sp>
      <p:sp>
        <p:nvSpPr>
          <p:cNvPr id="3" name="Text 1"/>
          <p:cNvSpPr txBox="1"/>
          <p:nvPr/>
        </p:nvSpPr>
        <p:spPr>
          <a:xfrm>
            <a:off x="457200" y="347472"/>
            <a:ext cx="56692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4" name="Text 2"/>
          <p:cNvSpPr txBox="1"/>
          <p:nvPr/>
        </p:nvSpPr>
        <p:spPr>
          <a:xfrm>
            <a:off x="1143000" y="237744"/>
            <a:ext cx="7543800" cy="566928"/>
          </a:xfrm>
          <a:prstGeom prst="rect">
            <a:avLst/>
          </a:prstGeom>
          <a:noFill/>
          <a:ln/>
        </p:spPr>
        <p:txBody>
          <a:bodyPr wrap="square" lIns="0" tIns="0" rIns="0" bIns="0" rtlCol="0" anchor="ctr"/>
          <a:lstStyle/>
          <a:p>
            <a:pPr indent="0" marL="0">
              <a:buNone/>
            </a:pPr>
            <a:r>
              <a:rPr lang="en-US" sz="2500" b="1" dirty="0">
                <a:solidFill>
                  <a:srgbClr val="2B2622"/>
                </a:solidFill>
                <a:latin typeface="Cambria" pitchFamily="34" charset="0"/>
                <a:ea typeface="Cambria" pitchFamily="34" charset="-122"/>
                <a:cs typeface="Cambria" pitchFamily="34" charset="-120"/>
              </a:rPr>
              <a:t>Scripts and the Script language (2 of 4)</a:t>
            </a:r>
            <a:endParaRPr lang="en-US" sz="2500" dirty="0"/>
          </a:p>
        </p:txBody>
      </p:sp>
      <p:sp>
        <p:nvSpPr>
          <p:cNvPr id="5" name="Text 3"/>
          <p:cNvSpPr txBox="1"/>
          <p:nvPr/>
        </p:nvSpPr>
        <p:spPr>
          <a:xfrm>
            <a:off x="1143000" y="786384"/>
            <a:ext cx="7543800" cy="310896"/>
          </a:xfrm>
          <a:prstGeom prst="rect">
            <a:avLst/>
          </a:prstGeom>
          <a:noFill/>
          <a:ln/>
        </p:spPr>
        <p:txBody>
          <a:bodyPr wrap="square" lIns="0" tIns="0" rIns="0" bIns="0" rtlCol="0" anchor="ctr"/>
          <a:lstStyle/>
          <a:p>
            <a:pPr indent="0" marL="0">
              <a:buNone/>
            </a:pPr>
            <a:r>
              <a:rPr lang="en-US" sz="1300" i="1" dirty="0">
                <a:solidFill>
                  <a:srgbClr val="6E655C"/>
                </a:solidFill>
                <a:latin typeface="Calibri" pitchFamily="34" charset="0"/>
                <a:ea typeface="Calibri" pitchFamily="34" charset="-122"/>
                <a:cs typeface="Calibri" pitchFamily="34" charset="-120"/>
              </a:rPr>
              <a:t>Each card: the meaning in a few words, then something you already know</a:t>
            </a:r>
            <a:endParaRPr lang="en-US" sz="1300" dirty="0"/>
          </a:p>
        </p:txBody>
      </p:sp>
      <p:sp>
        <p:nvSpPr>
          <p:cNvPr id="6" name="Shape 4"/>
          <p:cNvSpPr/>
          <p:nvPr/>
        </p:nvSpPr>
        <p:spPr>
          <a:xfrm>
            <a:off x="457200" y="1280160"/>
            <a:ext cx="4041648" cy="1362456"/>
          </a:xfrm>
          <a:prstGeom prst="roundRect">
            <a:avLst>
              <a:gd name="adj" fmla="val 5369"/>
            </a:avLst>
          </a:prstGeom>
          <a:solidFill>
            <a:srgbClr val="F2ECE1"/>
          </a:solidFill>
          <a:ln w="12700">
            <a:solidFill>
              <a:srgbClr val="DFD6C7"/>
            </a:solidFill>
            <a:prstDash val="solid"/>
          </a:ln>
        </p:spPr>
      </p:sp>
      <p:sp>
        <p:nvSpPr>
          <p:cNvPr id="7" name="Shape 5"/>
          <p:cNvSpPr/>
          <p:nvPr/>
        </p:nvSpPr>
        <p:spPr>
          <a:xfrm>
            <a:off x="475488" y="1408176"/>
            <a:ext cx="64008" cy="1106424"/>
          </a:xfrm>
          <a:prstGeom prst="rect">
            <a:avLst/>
          </a:prstGeom>
          <a:solidFill>
            <a:srgbClr val="D97A14"/>
          </a:solidFill>
          <a:ln w="12700">
            <a:solidFill>
              <a:srgbClr val="D97A14"/>
            </a:solidFill>
            <a:prstDash val="solid"/>
          </a:ln>
        </p:spPr>
      </p:sp>
      <p:sp>
        <p:nvSpPr>
          <p:cNvPr id="8" name="Text 6"/>
          <p:cNvSpPr txBox="1"/>
          <p:nvPr/>
        </p:nvSpPr>
        <p:spPr>
          <a:xfrm>
            <a:off x="640080" y="1344168"/>
            <a:ext cx="3767328" cy="612648"/>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The script execution stack</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Items are pushed and popped in last-in, first-out order.</a:t>
            </a:r>
            <a:endParaRPr lang="en-US" sz="1300" dirty="0"/>
          </a:p>
        </p:txBody>
      </p:sp>
      <p:sp>
        <p:nvSpPr>
          <p:cNvPr id="9" name="Text 7"/>
          <p:cNvSpPr txBox="1"/>
          <p:nvPr/>
        </p:nvSpPr>
        <p:spPr>
          <a:xfrm>
            <a:off x="640080" y="1984248"/>
            <a:ext cx="3767328" cy="393192"/>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a pile of plates where you touch only the top one.</a:t>
            </a:r>
            <a:endParaRPr lang="en-US" sz="1150" dirty="0"/>
          </a:p>
        </p:txBody>
      </p:sp>
      <p:sp>
        <p:nvSpPr>
          <p:cNvPr id="10" name="Shape 8"/>
          <p:cNvSpPr/>
          <p:nvPr/>
        </p:nvSpPr>
        <p:spPr>
          <a:xfrm>
            <a:off x="4645152" y="1280160"/>
            <a:ext cx="4041648" cy="1362456"/>
          </a:xfrm>
          <a:prstGeom prst="roundRect">
            <a:avLst>
              <a:gd name="adj" fmla="val 5369"/>
            </a:avLst>
          </a:prstGeom>
          <a:solidFill>
            <a:srgbClr val="F2ECE1"/>
          </a:solidFill>
          <a:ln w="12700">
            <a:solidFill>
              <a:srgbClr val="DFD6C7"/>
            </a:solidFill>
            <a:prstDash val="solid"/>
          </a:ln>
        </p:spPr>
      </p:sp>
      <p:sp>
        <p:nvSpPr>
          <p:cNvPr id="11" name="Shape 9"/>
          <p:cNvSpPr/>
          <p:nvPr/>
        </p:nvSpPr>
        <p:spPr>
          <a:xfrm>
            <a:off x="4663440" y="1408176"/>
            <a:ext cx="64008" cy="1106424"/>
          </a:xfrm>
          <a:prstGeom prst="rect">
            <a:avLst/>
          </a:prstGeom>
          <a:solidFill>
            <a:srgbClr val="D97A14"/>
          </a:solidFill>
          <a:ln w="12700">
            <a:solidFill>
              <a:srgbClr val="D97A14"/>
            </a:solidFill>
            <a:prstDash val="solid"/>
          </a:ln>
        </p:spPr>
      </p:sp>
      <p:sp>
        <p:nvSpPr>
          <p:cNvPr id="12" name="Text 10"/>
          <p:cNvSpPr txBox="1"/>
          <p:nvPr/>
        </p:nvSpPr>
        <p:spPr>
          <a:xfrm>
            <a:off x="4828032" y="1344168"/>
            <a:ext cx="3767328" cy="612648"/>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A simple script</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2 3 OP_ADD 5 OP_EQUAL adds two numbers and compares the sum.</a:t>
            </a:r>
            <a:endParaRPr lang="en-US" sz="1300" dirty="0"/>
          </a:p>
        </p:txBody>
      </p:sp>
      <p:sp>
        <p:nvSpPr>
          <p:cNvPr id="13" name="Text 11"/>
          <p:cNvSpPr txBox="1"/>
          <p:nvPr/>
        </p:nvSpPr>
        <p:spPr>
          <a:xfrm>
            <a:off x="4828032" y="1984248"/>
            <a:ext cx="3767328" cy="393192"/>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a till that adds two prices and checks the total.</a:t>
            </a:r>
            <a:endParaRPr lang="en-US" sz="1150" dirty="0"/>
          </a:p>
        </p:txBody>
      </p:sp>
      <p:sp>
        <p:nvSpPr>
          <p:cNvPr id="14" name="Shape 12"/>
          <p:cNvSpPr/>
          <p:nvPr/>
        </p:nvSpPr>
        <p:spPr>
          <a:xfrm>
            <a:off x="457200" y="2770632"/>
            <a:ext cx="4041648" cy="1362456"/>
          </a:xfrm>
          <a:prstGeom prst="roundRect">
            <a:avLst>
              <a:gd name="adj" fmla="val 5369"/>
            </a:avLst>
          </a:prstGeom>
          <a:solidFill>
            <a:srgbClr val="F2ECE1"/>
          </a:solidFill>
          <a:ln w="12700">
            <a:solidFill>
              <a:srgbClr val="DFD6C7"/>
            </a:solidFill>
            <a:prstDash val="solid"/>
          </a:ln>
        </p:spPr>
      </p:sp>
      <p:sp>
        <p:nvSpPr>
          <p:cNvPr id="15" name="Shape 13"/>
          <p:cNvSpPr/>
          <p:nvPr/>
        </p:nvSpPr>
        <p:spPr>
          <a:xfrm>
            <a:off x="475488" y="2898648"/>
            <a:ext cx="64008" cy="1106424"/>
          </a:xfrm>
          <a:prstGeom prst="rect">
            <a:avLst/>
          </a:prstGeom>
          <a:solidFill>
            <a:srgbClr val="D97A14"/>
          </a:solidFill>
          <a:ln w="12700">
            <a:solidFill>
              <a:srgbClr val="D97A14"/>
            </a:solidFill>
            <a:prstDash val="solid"/>
          </a:ln>
        </p:spPr>
      </p:sp>
      <p:sp>
        <p:nvSpPr>
          <p:cNvPr id="16" name="Text 14"/>
          <p:cNvSpPr txBox="1"/>
          <p:nvPr/>
        </p:nvSpPr>
        <p:spPr>
          <a:xfrm>
            <a:off x="640080" y="2834640"/>
            <a:ext cx="3767328" cy="813816"/>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Separate execution of output and input scripts</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The two scripts run apart; only the stack passes between them.</a:t>
            </a:r>
            <a:endParaRPr lang="en-US" sz="1300" dirty="0"/>
          </a:p>
        </p:txBody>
      </p:sp>
      <p:sp>
        <p:nvSpPr>
          <p:cNvPr id="17" name="Text 15"/>
          <p:cNvSpPr txBox="1"/>
          <p:nvPr/>
        </p:nvSpPr>
        <p:spPr>
          <a:xfrm>
            <a:off x="640080" y="3675888"/>
            <a:ext cx="3767328" cy="393192"/>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two people in two rooms passing one tray through a hatch.</a:t>
            </a:r>
            <a:endParaRPr lang="en-US" sz="1150" dirty="0"/>
          </a:p>
        </p:txBody>
      </p:sp>
      <p:sp>
        <p:nvSpPr>
          <p:cNvPr id="18" name="Shape 16"/>
          <p:cNvSpPr/>
          <p:nvPr/>
        </p:nvSpPr>
        <p:spPr>
          <a:xfrm>
            <a:off x="4645152" y="2770632"/>
            <a:ext cx="4041648" cy="1362456"/>
          </a:xfrm>
          <a:prstGeom prst="roundRect">
            <a:avLst>
              <a:gd name="adj" fmla="val 5369"/>
            </a:avLst>
          </a:prstGeom>
          <a:solidFill>
            <a:srgbClr val="F2ECE1"/>
          </a:solidFill>
          <a:ln w="12700">
            <a:solidFill>
              <a:srgbClr val="DFD6C7"/>
            </a:solidFill>
            <a:prstDash val="solid"/>
          </a:ln>
        </p:spPr>
      </p:sp>
      <p:sp>
        <p:nvSpPr>
          <p:cNvPr id="19" name="Shape 17"/>
          <p:cNvSpPr/>
          <p:nvPr/>
        </p:nvSpPr>
        <p:spPr>
          <a:xfrm>
            <a:off x="4663440" y="2898648"/>
            <a:ext cx="64008" cy="1106424"/>
          </a:xfrm>
          <a:prstGeom prst="rect">
            <a:avLst/>
          </a:prstGeom>
          <a:solidFill>
            <a:srgbClr val="D97A14"/>
          </a:solidFill>
          <a:ln w="12700">
            <a:solidFill>
              <a:srgbClr val="D97A14"/>
            </a:solidFill>
            <a:prstDash val="solid"/>
          </a:ln>
        </p:spPr>
      </p:sp>
      <p:sp>
        <p:nvSpPr>
          <p:cNvPr id="20" name="Text 18"/>
          <p:cNvSpPr txBox="1"/>
          <p:nvPr/>
        </p:nvSpPr>
        <p:spPr>
          <a:xfrm>
            <a:off x="4828032" y="2834640"/>
            <a:ext cx="3767328" cy="434340"/>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script</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A list of data items and operation words.</a:t>
            </a:r>
            <a:endParaRPr lang="en-US" sz="1300" dirty="0"/>
          </a:p>
        </p:txBody>
      </p:sp>
      <p:sp>
        <p:nvSpPr>
          <p:cNvPr id="21" name="Text 19"/>
          <p:cNvSpPr txBox="1"/>
          <p:nvPr/>
        </p:nvSpPr>
        <p:spPr>
          <a:xfrm>
            <a:off x="4828032" y="3296412"/>
            <a:ext cx="3767328" cy="393192"/>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a shopping list that also says what to do with each item.</a:t>
            </a:r>
            <a:endParaRPr lang="en-US" sz="1150" dirty="0"/>
          </a:p>
        </p:txBody>
      </p:sp>
      <p:sp>
        <p:nvSpPr>
          <p:cNvPr id="22" name="Shape 20"/>
          <p:cNvSpPr/>
          <p:nvPr/>
        </p:nvSpPr>
        <p:spPr>
          <a:xfrm>
            <a:off x="457200" y="4636008"/>
            <a:ext cx="91440" cy="310896"/>
          </a:xfrm>
          <a:prstGeom prst="rect">
            <a:avLst/>
          </a:prstGeom>
          <a:solidFill>
            <a:srgbClr val="D97A14"/>
          </a:solidFill>
          <a:ln w="12700">
            <a:solidFill>
              <a:srgbClr val="D97A14"/>
            </a:solidFill>
            <a:prstDash val="solid"/>
          </a:ln>
        </p:spPr>
      </p:sp>
      <p:sp>
        <p:nvSpPr>
          <p:cNvPr id="23" name="Text 21"/>
          <p:cNvSpPr txBox="1"/>
          <p:nvPr/>
        </p:nvSpPr>
        <p:spPr>
          <a:xfrm>
            <a:off x="658368" y="4599432"/>
            <a:ext cx="6949440" cy="384048"/>
          </a:xfrm>
          <a:prstGeom prst="rect">
            <a:avLst/>
          </a:prstGeom>
          <a:noFill/>
          <a:ln/>
        </p:spPr>
        <p:txBody>
          <a:bodyPr wrap="square" lIns="0" tIns="0" rIns="0" bIns="0" rtlCol="0" anchor="ctr"/>
          <a:lstStyle/>
          <a:p>
            <a:pPr indent="0" marL="0">
              <a:buNone/>
            </a:pPr>
            <a:r>
              <a:rPr lang="en-US" sz="1350" b="1" i="1" dirty="0">
                <a:solidFill>
                  <a:srgbClr val="2B2622"/>
                </a:solidFill>
                <a:latin typeface="Cambria" pitchFamily="34" charset="0"/>
                <a:ea typeface="Cambria" pitchFamily="34" charset="-122"/>
                <a:cs typeface="Cambria" pitchFamily="34" charset="-120"/>
              </a:rPr>
              <a:t>Say each idea twice: once as the meaning, once as the everyday comparison</a:t>
            </a:r>
            <a:endParaRPr lang="en-US" sz="1350" dirty="0"/>
          </a:p>
        </p:txBody>
      </p:sp>
      <p:sp>
        <p:nvSpPr>
          <p:cNvPr id="24" name="Text 22"/>
          <p:cNvSpPr txBox="1"/>
          <p:nvPr/>
        </p:nvSpPr>
        <p:spPr>
          <a:xfrm>
            <a:off x="7863840" y="4645152"/>
            <a:ext cx="868680" cy="310896"/>
          </a:xfrm>
          <a:prstGeom prst="rect">
            <a:avLst/>
          </a:prstGeom>
          <a:noFill/>
          <a:ln/>
        </p:spPr>
        <p:txBody>
          <a:bodyPr wrap="square" lIns="0" tIns="0" rIns="0" bIns="0" rtlCol="0" anchor="ctr"/>
          <a:lstStyle/>
          <a:p>
            <a:pPr algn="r" indent="0" marL="0">
              <a:buNone/>
            </a:pPr>
            <a:r>
              <a:rPr lang="en-US" sz="1100" dirty="0">
                <a:solidFill>
                  <a:srgbClr val="6E655C"/>
                </a:solidFill>
                <a:latin typeface="Calibri" pitchFamily="34" charset="0"/>
                <a:ea typeface="Calibri" pitchFamily="34" charset="-122"/>
                <a:cs typeface="Calibri" pitchFamily="34" charset="-120"/>
              </a:rPr>
              <a:t>8 / 61</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6EF"/>
        </a:solidFill>
      </p:bgPr>
    </p:bg>
    <p:spTree>
      <p:nvGrpSpPr>
        <p:cNvPr id="1" name=""/>
        <p:cNvGrpSpPr/>
        <p:nvPr/>
      </p:nvGrpSpPr>
      <p:grpSpPr>
        <a:xfrm>
          <a:off x="0" y="0"/>
          <a:ext cx="0" cy="0"/>
          <a:chOff x="0" y="0"/>
          <a:chExt cx="0" cy="0"/>
        </a:xfrm>
      </p:grpSpPr>
      <p:sp>
        <p:nvSpPr>
          <p:cNvPr id="2" name="Shape 0"/>
          <p:cNvSpPr/>
          <p:nvPr/>
        </p:nvSpPr>
        <p:spPr>
          <a:xfrm>
            <a:off x="457200" y="347472"/>
            <a:ext cx="566928" cy="384048"/>
          </a:xfrm>
          <a:prstGeom prst="roundRect">
            <a:avLst>
              <a:gd name="adj" fmla="val 19048"/>
            </a:avLst>
          </a:prstGeom>
          <a:solidFill>
            <a:srgbClr val="D97A14"/>
          </a:solidFill>
          <a:ln w="12700">
            <a:solidFill>
              <a:srgbClr val="D97A14"/>
            </a:solidFill>
            <a:prstDash val="solid"/>
          </a:ln>
        </p:spPr>
      </p:sp>
      <p:sp>
        <p:nvSpPr>
          <p:cNvPr id="3" name="Text 1"/>
          <p:cNvSpPr txBox="1"/>
          <p:nvPr/>
        </p:nvSpPr>
        <p:spPr>
          <a:xfrm>
            <a:off x="457200" y="347472"/>
            <a:ext cx="56692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4" name="Text 2"/>
          <p:cNvSpPr txBox="1"/>
          <p:nvPr/>
        </p:nvSpPr>
        <p:spPr>
          <a:xfrm>
            <a:off x="1143000" y="237744"/>
            <a:ext cx="7543800" cy="566928"/>
          </a:xfrm>
          <a:prstGeom prst="rect">
            <a:avLst/>
          </a:prstGeom>
          <a:noFill/>
          <a:ln/>
        </p:spPr>
        <p:txBody>
          <a:bodyPr wrap="square" lIns="0" tIns="0" rIns="0" bIns="0" rtlCol="0" anchor="ctr"/>
          <a:lstStyle/>
          <a:p>
            <a:pPr indent="0" marL="0">
              <a:buNone/>
            </a:pPr>
            <a:r>
              <a:rPr lang="en-US" sz="2800" b="1" dirty="0">
                <a:solidFill>
                  <a:srgbClr val="2B2622"/>
                </a:solidFill>
                <a:latin typeface="Cambria" pitchFamily="34" charset="0"/>
                <a:ea typeface="Cambria" pitchFamily="34" charset="-122"/>
                <a:cs typeface="Cambria" pitchFamily="34" charset="-120"/>
              </a:rPr>
              <a:t>The OP_RETURN bug of 2010</a:t>
            </a:r>
            <a:endParaRPr lang="en-US" sz="2800" dirty="0"/>
          </a:p>
        </p:txBody>
      </p:sp>
      <p:sp>
        <p:nvSpPr>
          <p:cNvPr id="5" name="Text 3"/>
          <p:cNvSpPr txBox="1"/>
          <p:nvPr/>
        </p:nvSpPr>
        <p:spPr>
          <a:xfrm>
            <a:off x="1143000" y="786384"/>
            <a:ext cx="7543800" cy="310896"/>
          </a:xfrm>
          <a:prstGeom prst="rect">
            <a:avLst/>
          </a:prstGeom>
          <a:noFill/>
          <a:ln/>
        </p:spPr>
        <p:txBody>
          <a:bodyPr wrap="square" lIns="0" tIns="0" rIns="0" bIns="0" rtlCol="0" anchor="ctr"/>
          <a:lstStyle/>
          <a:p>
            <a:pPr indent="0" marL="0">
              <a:buNone/>
            </a:pPr>
            <a:r>
              <a:rPr lang="en-US" sz="1300" i="1" dirty="0">
                <a:solidFill>
                  <a:srgbClr val="6E655C"/>
                </a:solidFill>
                <a:latin typeface="Calibri" pitchFamily="34" charset="0"/>
                <a:ea typeface="Calibri" pitchFamily="34" charset="-122"/>
                <a:cs typeface="Calibri" pitchFamily="34" charset="-120"/>
              </a:rPr>
              <a:t>Joined scripts against separate scripts</a:t>
            </a:r>
            <a:endParaRPr lang="en-US" sz="1300" dirty="0"/>
          </a:p>
        </p:txBody>
      </p:sp>
      <p:sp>
        <p:nvSpPr>
          <p:cNvPr id="6" name="Shape 4"/>
          <p:cNvSpPr/>
          <p:nvPr/>
        </p:nvSpPr>
        <p:spPr>
          <a:xfrm>
            <a:off x="457200" y="1325880"/>
            <a:ext cx="5074920" cy="311810"/>
          </a:xfrm>
          <a:prstGeom prst="roundRect">
            <a:avLst>
              <a:gd name="adj" fmla="val 23460"/>
            </a:avLst>
          </a:prstGeom>
          <a:solidFill>
            <a:srgbClr val="23272E"/>
          </a:solidFill>
          <a:ln w="12700">
            <a:solidFill>
              <a:srgbClr val="23272E"/>
            </a:solidFill>
            <a:prstDash val="solid"/>
          </a:ln>
        </p:spPr>
      </p:sp>
      <p:sp>
        <p:nvSpPr>
          <p:cNvPr id="7" name="Text 5"/>
          <p:cNvSpPr txBox="1"/>
          <p:nvPr/>
        </p:nvSpPr>
        <p:spPr>
          <a:xfrm>
            <a:off x="603504" y="1399032"/>
            <a:ext cx="4800600" cy="183794"/>
          </a:xfrm>
          <a:prstGeom prst="rect">
            <a:avLst/>
          </a:prstGeom>
          <a:noFill/>
          <a:ln/>
        </p:spPr>
        <p:txBody>
          <a:bodyPr wrap="square" lIns="0" tIns="0" rIns="0" bIns="0" rtlCol="0" anchor="t"/>
          <a:lstStyle/>
          <a:p>
            <a:pPr indent="0" marL="0">
              <a:buNone/>
            </a:pPr>
            <a:r>
              <a:rPr lang="en-US" sz="1000" b="1" dirty="0">
                <a:solidFill>
                  <a:srgbClr val="D97A14"/>
                </a:solidFill>
                <a:latin typeface="Courier New" pitchFamily="34" charset="0"/>
                <a:ea typeface="Courier New" pitchFamily="34" charset="-122"/>
                <a:cs typeface="Courier New" pitchFamily="34" charset="-120"/>
              </a:rPr>
              <a:t>&gt;&gt;&gt; </a:t>
            </a:r>
            <a:r>
              <a:rPr lang="en-US" sz="1000" dirty="0">
                <a:solidFill>
                  <a:srgbClr val="E6EDF3"/>
                </a:solidFill>
                <a:latin typeface="Courier New" pitchFamily="34" charset="0"/>
                <a:ea typeface="Courier New" pitchFamily="34" charset="-122"/>
                <a:cs typeface="Courier New" pitchFamily="34" charset="-120"/>
              </a:rPr>
              <a:t>joined = old_joined(</a:t>
            </a:r>
            <a:r>
              <a:rPr lang="en-US" sz="1000" dirty="0">
                <a:solidFill>
                  <a:srgbClr val="9ECBFF"/>
                </a:solidFill>
                <a:latin typeface="Courier New" pitchFamily="34" charset="0"/>
                <a:ea typeface="Courier New" pitchFamily="34" charset="-122"/>
                <a:cs typeface="Courier New" pitchFamily="34" charset="-120"/>
              </a:rPr>
              <a:t>'OP_1 OP_RETURN'</a:t>
            </a:r>
            <a:r>
              <a:rPr lang="en-US" sz="1000" dirty="0">
                <a:solidFill>
                  <a:srgbClr val="E6EDF3"/>
                </a:solidFill>
                <a:latin typeface="Courier New" pitchFamily="34" charset="0"/>
                <a:ea typeface="Courier New" pitchFamily="34" charset="-122"/>
                <a:cs typeface="Courier New" pitchFamily="34" charset="-120"/>
              </a:rPr>
              <a:t>, LOCK)</a:t>
            </a:r>
            <a:endParaRPr lang="en-US" sz="1000" dirty="0"/>
          </a:p>
        </p:txBody>
      </p:sp>
      <p:sp>
        <p:nvSpPr>
          <p:cNvPr id="8" name="Shape 6"/>
          <p:cNvSpPr/>
          <p:nvPr/>
        </p:nvSpPr>
        <p:spPr>
          <a:xfrm>
            <a:off x="457200" y="2122322"/>
            <a:ext cx="5074920" cy="311810"/>
          </a:xfrm>
          <a:prstGeom prst="roundRect">
            <a:avLst>
              <a:gd name="adj" fmla="val 23460"/>
            </a:avLst>
          </a:prstGeom>
          <a:solidFill>
            <a:srgbClr val="23272E"/>
          </a:solidFill>
          <a:ln w="12700">
            <a:solidFill>
              <a:srgbClr val="23272E"/>
            </a:solidFill>
            <a:prstDash val="solid"/>
          </a:ln>
        </p:spPr>
      </p:sp>
      <p:sp>
        <p:nvSpPr>
          <p:cNvPr id="9" name="Text 7"/>
          <p:cNvSpPr txBox="1"/>
          <p:nvPr/>
        </p:nvSpPr>
        <p:spPr>
          <a:xfrm>
            <a:off x="603504" y="2195474"/>
            <a:ext cx="4800600" cy="183794"/>
          </a:xfrm>
          <a:prstGeom prst="rect">
            <a:avLst/>
          </a:prstGeom>
          <a:noFill/>
          <a:ln/>
        </p:spPr>
        <p:txBody>
          <a:bodyPr wrap="square" lIns="0" tIns="0" rIns="0" bIns="0" rtlCol="0" anchor="t"/>
          <a:lstStyle/>
          <a:p>
            <a:pPr indent="0" marL="0">
              <a:buNone/>
            </a:pPr>
            <a:r>
              <a:rPr lang="en-US" sz="1000" b="1" dirty="0">
                <a:solidFill>
                  <a:srgbClr val="D97A14"/>
                </a:solidFill>
                <a:latin typeface="Courier New" pitchFamily="34" charset="0"/>
                <a:ea typeface="Courier New" pitchFamily="34" charset="-122"/>
                <a:cs typeface="Courier New" pitchFamily="34" charset="-120"/>
              </a:rPr>
              <a:t>&gt;&gt;&gt; </a:t>
            </a:r>
            <a:r>
              <a:rPr lang="en-US" sz="1000" dirty="0">
                <a:solidFill>
                  <a:srgbClr val="E6EDF3"/>
                </a:solidFill>
                <a:latin typeface="Courier New" pitchFamily="34" charset="0"/>
                <a:ea typeface="Courier New" pitchFamily="34" charset="-122"/>
                <a:cs typeface="Courier New" pitchFamily="34" charset="-120"/>
              </a:rPr>
              <a:t>now = L.run(</a:t>
            </a:r>
            <a:r>
              <a:rPr lang="en-US" sz="1000" dirty="0">
                <a:solidFill>
                  <a:srgbClr val="9ECBFF"/>
                </a:solidFill>
                <a:latin typeface="Courier New" pitchFamily="34" charset="0"/>
                <a:ea typeface="Courier New" pitchFamily="34" charset="-122"/>
                <a:cs typeface="Courier New" pitchFamily="34" charset="-120"/>
              </a:rPr>
              <a:t>'OP_1 OP_RETURN'</a:t>
            </a:r>
            <a:r>
              <a:rPr lang="en-US" sz="1000" dirty="0">
                <a:solidFill>
                  <a:srgbClr val="E6EDF3"/>
                </a:solidFill>
                <a:latin typeface="Courier New" pitchFamily="34" charset="0"/>
                <a:ea typeface="Courier New" pitchFamily="34" charset="-122"/>
                <a:cs typeface="Courier New" pitchFamily="34" charset="-120"/>
              </a:rPr>
              <a:t>, LOCK, flags=())</a:t>
            </a:r>
            <a:endParaRPr lang="en-US" sz="1000" dirty="0"/>
          </a:p>
        </p:txBody>
      </p:sp>
      <p:sp>
        <p:nvSpPr>
          <p:cNvPr id="10" name="Shape 8"/>
          <p:cNvSpPr/>
          <p:nvPr/>
        </p:nvSpPr>
        <p:spPr>
          <a:xfrm>
            <a:off x="457200" y="2754173"/>
            <a:ext cx="5074920" cy="972007"/>
          </a:xfrm>
          <a:prstGeom prst="roundRect">
            <a:avLst>
              <a:gd name="adj" fmla="val 7526"/>
            </a:avLst>
          </a:prstGeom>
          <a:solidFill>
            <a:srgbClr val="23272E"/>
          </a:solidFill>
          <a:ln w="12700">
            <a:solidFill>
              <a:srgbClr val="23272E"/>
            </a:solidFill>
            <a:prstDash val="solid"/>
          </a:ln>
        </p:spPr>
      </p:sp>
      <p:sp>
        <p:nvSpPr>
          <p:cNvPr id="11" name="Text 9"/>
          <p:cNvSpPr txBox="1"/>
          <p:nvPr/>
        </p:nvSpPr>
        <p:spPr>
          <a:xfrm>
            <a:off x="603504" y="2827325"/>
            <a:ext cx="4800600" cy="843991"/>
          </a:xfrm>
          <a:prstGeom prst="rect">
            <a:avLst/>
          </a:prstGeom>
          <a:noFill/>
          <a:ln/>
        </p:spPr>
        <p:txBody>
          <a:bodyPr wrap="square" lIns="0" tIns="0" rIns="0" bIns="0" rtlCol="0" anchor="t"/>
          <a:lstStyle/>
          <a:p>
            <a:pPr indent="0" marL="0">
              <a:buNone/>
            </a:pPr>
            <a:r>
              <a:rPr lang="en-US" sz="1000" b="1" dirty="0">
                <a:solidFill>
                  <a:srgbClr val="D97A14"/>
                </a:solidFill>
                <a:latin typeface="Courier New" pitchFamily="34" charset="0"/>
                <a:ea typeface="Courier New" pitchFamily="34" charset="-122"/>
                <a:cs typeface="Courier New" pitchFamily="34" charset="-120"/>
              </a:rPr>
              <a:t>&gt;&gt;&gt; </a:t>
            </a:r>
            <a:r>
              <a:rPr lang="en-US" sz="1000" dirty="0">
                <a:solidFill>
                  <a:srgbClr val="E6EDF3"/>
                </a:solidFill>
                <a:latin typeface="Courier New" pitchFamily="34" charset="0"/>
                <a:ea typeface="Courier New" pitchFamily="34" charset="-122"/>
                <a:cs typeface="Courier New" pitchFamily="34" charset="-120"/>
              </a:rPr>
              <a:t>key = </a:t>
            </a:r>
            <a:r>
              <a:rPr lang="en-US" sz="1000" dirty="0">
                <a:solidFill>
                  <a:srgbClr val="9ECBFF"/>
                </a:solidFill>
                <a:latin typeface="Courier New" pitchFamily="34" charset="0"/>
                <a:ea typeface="Courier New" pitchFamily="34" charset="-122"/>
                <a:cs typeface="Courier New" pitchFamily="34" charset="-120"/>
              </a:rPr>
              <a:t>'0x06'</a:t>
            </a:r>
            <a:r>
              <a:rPr lang="en-US" sz="1000" dirty="0">
                <a:solidFill>
                  <a:srgbClr val="E6EDF3"/>
                </a:solidFill>
                <a:latin typeface="Courier New" pitchFamily="34" charset="0"/>
                <a:ea typeface="Courier New" pitchFamily="34" charset="-122"/>
                <a:cs typeface="Courier New" pitchFamily="34" charset="-120"/>
              </a:rPr>
              <a:t> + b</a:t>
            </a:r>
            <a:r>
              <a:rPr lang="en-US" sz="1000" dirty="0">
                <a:solidFill>
                  <a:srgbClr val="9ECBFF"/>
                </a:solidFill>
                <a:latin typeface="Courier New" pitchFamily="34" charset="0"/>
                <a:ea typeface="Courier New" pitchFamily="34" charset="-122"/>
                <a:cs typeface="Courier New" pitchFamily="34" charset="-120"/>
              </a:rPr>
              <a:t>'secret'</a:t>
            </a:r>
            <a:r>
              <a:rPr lang="en-US" sz="1000" dirty="0">
                <a:solidFill>
                  <a:srgbClr val="E6EDF3"/>
                </a:solidFill>
                <a:latin typeface="Courier New" pitchFamily="34" charset="0"/>
                <a:ea typeface="Courier New" pitchFamily="34" charset="-122"/>
                <a:cs typeface="Courier New" pitchFamily="34" charset="-120"/>
              </a:rPr>
              <a:t>.hex()</a:t>
            </a:r>
            <a:endParaRPr lang="en-US" sz="1000" dirty="0"/>
          </a:p>
          <a:p>
            <a:pPr indent="0" marL="0">
              <a:buNone/>
            </a:pPr>
            <a:r>
              <a:rPr lang="en-US" sz="1000" b="1" dirty="0">
                <a:solidFill>
                  <a:srgbClr val="D97A14"/>
                </a:solidFill>
                <a:latin typeface="Courier New" pitchFamily="34" charset="0"/>
                <a:ea typeface="Courier New" pitchFamily="34" charset="-122"/>
                <a:cs typeface="Courier New" pitchFamily="34" charset="-120"/>
              </a:rPr>
              <a:t>&gt;&gt;&gt; </a:t>
            </a:r>
            <a:r>
              <a:rPr lang="en-US" sz="1000" dirty="0">
                <a:solidFill>
                  <a:srgbClr val="E6EDF3"/>
                </a:solidFill>
                <a:latin typeface="Courier New" pitchFamily="34" charset="0"/>
                <a:ea typeface="Courier New" pitchFamily="34" charset="-122"/>
                <a:cs typeface="Courier New" pitchFamily="34" charset="-120"/>
              </a:rPr>
              <a:t>real = L.run(key, LOCK, flags=())</a:t>
            </a:r>
            <a:endParaRPr lang="en-US" sz="1000" dirty="0"/>
          </a:p>
          <a:p>
            <a:pPr indent="0" marL="0">
              <a:buNone/>
            </a:pPr>
            <a:r>
              <a:rPr lang="en-US" sz="1000" b="1" dirty="0">
                <a:solidFill>
                  <a:srgbClr val="D97A14"/>
                </a:solidFill>
                <a:latin typeface="Courier New" pitchFamily="34" charset="0"/>
                <a:ea typeface="Courier New" pitchFamily="34" charset="-122"/>
                <a:cs typeface="Courier New" pitchFamily="34" charset="-120"/>
              </a:rPr>
              <a:t>&gt;&gt;&gt; </a:t>
            </a:r>
            <a:r>
              <a:rPr lang="en-US" sz="1000" dirty="0">
                <a:solidFill>
                  <a:srgbClr val="E6EDF3"/>
                </a:solidFill>
                <a:latin typeface="Courier New" pitchFamily="34" charset="0"/>
                <a:ea typeface="Courier New" pitchFamily="34" charset="-122"/>
                <a:cs typeface="Courier New" pitchFamily="34" charset="-120"/>
              </a:rPr>
              <a:t>res = [joined, now, real]</a:t>
            </a:r>
            <a:endParaRPr lang="en-US" sz="1000" dirty="0"/>
          </a:p>
          <a:p>
            <a:pPr indent="0" marL="0">
              <a:buNone/>
            </a:pPr>
            <a:r>
              <a:rPr lang="en-US" sz="1000" b="1" dirty="0">
                <a:solidFill>
                  <a:srgbClr val="D97A14"/>
                </a:solidFill>
                <a:latin typeface="Courier New" pitchFamily="34" charset="0"/>
                <a:ea typeface="Courier New" pitchFamily="34" charset="-122"/>
                <a:cs typeface="Courier New" pitchFamily="34" charset="-120"/>
              </a:rPr>
              <a:t>&gt;&gt;&gt; </a:t>
            </a:r>
            <a:r>
              <a:rPr lang="en-US" sz="1000" dirty="0">
                <a:solidFill>
                  <a:srgbClr val="E6EDF3"/>
                </a:solidFill>
                <a:latin typeface="Courier New" pitchFamily="34" charset="0"/>
                <a:ea typeface="Courier New" pitchFamily="34" charset="-122"/>
                <a:cs typeface="Courier New" pitchFamily="34" charset="-120"/>
              </a:rPr>
              <a:t>res</a:t>
            </a:r>
            <a:endParaRPr lang="en-US" sz="1000" dirty="0"/>
          </a:p>
          <a:p>
            <a:pPr indent="0" marL="0">
              <a:buNone/>
            </a:pPr>
            <a:r>
              <a:rPr lang="en-US" sz="1000" dirty="0">
                <a:solidFill>
                  <a:srgbClr val="7EE787"/>
                </a:solidFill>
                <a:latin typeface="Courier New" pitchFamily="34" charset="0"/>
                <a:ea typeface="Courier New" pitchFamily="34" charset="-122"/>
                <a:cs typeface="Courier New" pitchFamily="34" charset="-120"/>
              </a:rPr>
              <a:t>['OK', 'OP_RETURN', 'OK']</a:t>
            </a:r>
            <a:endParaRPr lang="en-US" sz="1000" dirty="0"/>
          </a:p>
        </p:txBody>
      </p:sp>
      <p:sp>
        <p:nvSpPr>
          <p:cNvPr id="12" name="Shape 10"/>
          <p:cNvSpPr/>
          <p:nvPr/>
        </p:nvSpPr>
        <p:spPr>
          <a:xfrm>
            <a:off x="365760" y="1252728"/>
            <a:ext cx="237744" cy="237744"/>
          </a:xfrm>
          <a:prstGeom prst="ellipse">
            <a:avLst/>
          </a:prstGeom>
          <a:solidFill>
            <a:srgbClr val="D97A14"/>
          </a:solidFill>
          <a:ln w="12700">
            <a:solidFill>
              <a:srgbClr val="D97A14"/>
            </a:solidFill>
            <a:prstDash val="solid"/>
          </a:ln>
        </p:spPr>
      </p:sp>
      <p:sp>
        <p:nvSpPr>
          <p:cNvPr id="13" name="Text 11"/>
          <p:cNvSpPr txBox="1"/>
          <p:nvPr/>
        </p:nvSpPr>
        <p:spPr>
          <a:xfrm>
            <a:off x="365760" y="1252728"/>
            <a:ext cx="237744" cy="237744"/>
          </a:xfrm>
          <a:prstGeom prst="rect">
            <a:avLst/>
          </a:prstGeom>
          <a:noFill/>
          <a:ln/>
        </p:spPr>
        <p:txBody>
          <a:bodyPr wrap="square" lIns="0" tIns="0" rIns="0" bIns="0" rtlCol="0" anchor="ctr"/>
          <a:lstStyle/>
          <a:p>
            <a:pPr algn="ctr" indent="0" marL="0">
              <a:buNone/>
            </a:pPr>
            <a:r>
              <a:rPr lang="en-US" sz="1100" b="1" dirty="0">
                <a:solidFill>
                  <a:srgbClr val="FFFFFF"/>
                </a:solidFill>
                <a:latin typeface="Cambria" pitchFamily="34" charset="0"/>
                <a:ea typeface="Cambria" pitchFamily="34" charset="-122"/>
                <a:cs typeface="Cambria" pitchFamily="34" charset="-120"/>
              </a:rPr>
              <a:t>1</a:t>
            </a:r>
            <a:endParaRPr lang="en-US" sz="1100" dirty="0"/>
          </a:p>
        </p:txBody>
      </p:sp>
      <p:sp>
        <p:nvSpPr>
          <p:cNvPr id="14" name="Text 12"/>
          <p:cNvSpPr txBox="1"/>
          <p:nvPr/>
        </p:nvSpPr>
        <p:spPr>
          <a:xfrm>
            <a:off x="731520" y="1665122"/>
            <a:ext cx="4800600" cy="374904"/>
          </a:xfrm>
          <a:prstGeom prst="rect">
            <a:avLst/>
          </a:prstGeom>
          <a:noFill/>
          <a:ln/>
        </p:spPr>
        <p:txBody>
          <a:bodyPr wrap="square" lIns="0" tIns="0" rIns="0" bIns="0" rtlCol="0" anchor="t"/>
          <a:lstStyle/>
          <a:p>
            <a:pPr indent="0" marL="0">
              <a:buNone/>
            </a:pPr>
            <a:r>
              <a:rPr lang="en-US" sz="1050" dirty="0">
                <a:solidFill>
                  <a:srgbClr val="2B2622"/>
                </a:solidFill>
                <a:latin typeface="Calibri" pitchFamily="34" charset="0"/>
                <a:ea typeface="Calibri" pitchFamily="34" charset="-122"/>
                <a:cs typeface="Calibri" pitchFamily="34" charset="-120"/>
              </a:rPr>
              <a:t>The first software joined both scripts into one program that stopped at OP_RETURN.</a:t>
            </a:r>
            <a:endParaRPr lang="en-US" sz="1050" dirty="0"/>
          </a:p>
        </p:txBody>
      </p:sp>
      <p:sp>
        <p:nvSpPr>
          <p:cNvPr id="15" name="Shape 13"/>
          <p:cNvSpPr/>
          <p:nvPr/>
        </p:nvSpPr>
        <p:spPr>
          <a:xfrm>
            <a:off x="365760" y="2049170"/>
            <a:ext cx="237744" cy="237744"/>
          </a:xfrm>
          <a:prstGeom prst="ellipse">
            <a:avLst/>
          </a:prstGeom>
          <a:solidFill>
            <a:srgbClr val="D97A14"/>
          </a:solidFill>
          <a:ln w="12700">
            <a:solidFill>
              <a:srgbClr val="D97A14"/>
            </a:solidFill>
            <a:prstDash val="solid"/>
          </a:ln>
        </p:spPr>
      </p:sp>
      <p:sp>
        <p:nvSpPr>
          <p:cNvPr id="16" name="Text 14"/>
          <p:cNvSpPr txBox="1"/>
          <p:nvPr/>
        </p:nvSpPr>
        <p:spPr>
          <a:xfrm>
            <a:off x="365760" y="2049170"/>
            <a:ext cx="237744" cy="237744"/>
          </a:xfrm>
          <a:prstGeom prst="rect">
            <a:avLst/>
          </a:prstGeom>
          <a:noFill/>
          <a:ln/>
        </p:spPr>
        <p:txBody>
          <a:bodyPr wrap="square" lIns="0" tIns="0" rIns="0" bIns="0" rtlCol="0" anchor="ctr"/>
          <a:lstStyle/>
          <a:p>
            <a:pPr algn="ctr" indent="0" marL="0">
              <a:buNone/>
            </a:pPr>
            <a:r>
              <a:rPr lang="en-US" sz="1100" b="1" dirty="0">
                <a:solidFill>
                  <a:srgbClr val="FFFFFF"/>
                </a:solidFill>
                <a:latin typeface="Cambria" pitchFamily="34" charset="0"/>
                <a:ea typeface="Cambria" pitchFamily="34" charset="-122"/>
                <a:cs typeface="Cambria" pitchFamily="34" charset="-120"/>
              </a:rPr>
              <a:t>2</a:t>
            </a:r>
            <a:endParaRPr lang="en-US" sz="1100" dirty="0"/>
          </a:p>
        </p:txBody>
      </p:sp>
      <p:sp>
        <p:nvSpPr>
          <p:cNvPr id="17" name="Text 15"/>
          <p:cNvSpPr txBox="1"/>
          <p:nvPr/>
        </p:nvSpPr>
        <p:spPr>
          <a:xfrm>
            <a:off x="731520" y="2461565"/>
            <a:ext cx="4800600" cy="210312"/>
          </a:xfrm>
          <a:prstGeom prst="rect">
            <a:avLst/>
          </a:prstGeom>
          <a:noFill/>
          <a:ln/>
        </p:spPr>
        <p:txBody>
          <a:bodyPr wrap="square" lIns="0" tIns="0" rIns="0" bIns="0" rtlCol="0" anchor="t"/>
          <a:lstStyle/>
          <a:p>
            <a:pPr indent="0" marL="0">
              <a:buNone/>
            </a:pPr>
            <a:r>
              <a:rPr lang="en-US" sz="1050" dirty="0">
                <a:solidFill>
                  <a:srgbClr val="2B2622"/>
                </a:solidFill>
                <a:latin typeface="Calibri" pitchFamily="34" charset="0"/>
                <a:ea typeface="Calibri" pitchFamily="34" charset="-122"/>
                <a:cs typeface="Calibri" pitchFamily="34" charset="-120"/>
              </a:rPr>
              <a:t>Today the scripts run apart, and OP_RETURN makes the spend fail.</a:t>
            </a:r>
            <a:endParaRPr lang="en-US" sz="1050" dirty="0"/>
          </a:p>
        </p:txBody>
      </p:sp>
      <p:sp>
        <p:nvSpPr>
          <p:cNvPr id="18" name="Shape 16"/>
          <p:cNvSpPr/>
          <p:nvPr/>
        </p:nvSpPr>
        <p:spPr>
          <a:xfrm>
            <a:off x="365760" y="2681021"/>
            <a:ext cx="237744" cy="237744"/>
          </a:xfrm>
          <a:prstGeom prst="ellipse">
            <a:avLst/>
          </a:prstGeom>
          <a:solidFill>
            <a:srgbClr val="D97A14"/>
          </a:solidFill>
          <a:ln w="12700">
            <a:solidFill>
              <a:srgbClr val="D97A14"/>
            </a:solidFill>
            <a:prstDash val="solid"/>
          </a:ln>
        </p:spPr>
      </p:sp>
      <p:sp>
        <p:nvSpPr>
          <p:cNvPr id="19" name="Text 17"/>
          <p:cNvSpPr txBox="1"/>
          <p:nvPr/>
        </p:nvSpPr>
        <p:spPr>
          <a:xfrm>
            <a:off x="365760" y="2681021"/>
            <a:ext cx="237744" cy="237744"/>
          </a:xfrm>
          <a:prstGeom prst="rect">
            <a:avLst/>
          </a:prstGeom>
          <a:noFill/>
          <a:ln/>
        </p:spPr>
        <p:txBody>
          <a:bodyPr wrap="square" lIns="0" tIns="0" rIns="0" bIns="0" rtlCol="0" anchor="ctr"/>
          <a:lstStyle/>
          <a:p>
            <a:pPr algn="ctr" indent="0" marL="0">
              <a:buNone/>
            </a:pPr>
            <a:r>
              <a:rPr lang="en-US" sz="1100" b="1" dirty="0">
                <a:solidFill>
                  <a:srgbClr val="FFFFFF"/>
                </a:solidFill>
                <a:latin typeface="Cambria" pitchFamily="34" charset="0"/>
                <a:ea typeface="Cambria" pitchFamily="34" charset="-122"/>
                <a:cs typeface="Cambria" pitchFamily="34" charset="-120"/>
              </a:rPr>
              <a:t>3</a:t>
            </a:r>
            <a:endParaRPr lang="en-US" sz="1100" dirty="0"/>
          </a:p>
        </p:txBody>
      </p:sp>
      <p:sp>
        <p:nvSpPr>
          <p:cNvPr id="20" name="Text 18"/>
          <p:cNvSpPr txBox="1"/>
          <p:nvPr/>
        </p:nvSpPr>
        <p:spPr>
          <a:xfrm>
            <a:off x="731520" y="3753612"/>
            <a:ext cx="4800600" cy="210312"/>
          </a:xfrm>
          <a:prstGeom prst="rect">
            <a:avLst/>
          </a:prstGeom>
          <a:noFill/>
          <a:ln/>
        </p:spPr>
        <p:txBody>
          <a:bodyPr wrap="square" lIns="0" tIns="0" rIns="0" bIns="0" rtlCol="0" anchor="t"/>
          <a:lstStyle/>
          <a:p>
            <a:pPr indent="0" marL="0">
              <a:buNone/>
            </a:pPr>
            <a:r>
              <a:rPr lang="en-US" sz="1050" dirty="0">
                <a:solidFill>
                  <a:srgbClr val="2B2622"/>
                </a:solidFill>
                <a:latin typeface="Calibri" pitchFamily="34" charset="0"/>
                <a:ea typeface="Calibri" pitchFamily="34" charset="-122"/>
                <a:cs typeface="Calibri" pitchFamily="34" charset="-120"/>
              </a:rPr>
              <a:t>Only the real secret opens the lock, in both engines.</a:t>
            </a:r>
            <a:endParaRPr lang="en-US" sz="1050" dirty="0"/>
          </a:p>
        </p:txBody>
      </p:sp>
      <p:sp>
        <p:nvSpPr>
          <p:cNvPr id="21" name="Text 19"/>
          <p:cNvSpPr txBox="1"/>
          <p:nvPr/>
        </p:nvSpPr>
        <p:spPr>
          <a:xfrm>
            <a:off x="457200" y="4009644"/>
            <a:ext cx="5074920" cy="182880"/>
          </a:xfrm>
          <a:prstGeom prst="rect">
            <a:avLst/>
          </a:prstGeom>
          <a:noFill/>
          <a:ln/>
        </p:spPr>
        <p:txBody>
          <a:bodyPr wrap="square" lIns="0" tIns="0" rIns="0" bIns="0" rtlCol="0" anchor="ctr"/>
          <a:lstStyle/>
          <a:p>
            <a:pPr algn="l" indent="0" marL="0">
              <a:buNone/>
            </a:pPr>
            <a:r>
              <a:rPr lang="en-US" sz="900" i="1" dirty="0">
                <a:solidFill>
                  <a:srgbClr val="6E655C"/>
                </a:solidFill>
                <a:latin typeface="Calibri" pitchFamily="34" charset="0"/>
                <a:ea typeface="Calibri" pitchFamily="34" charset="-122"/>
                <a:cs typeface="Calibri" pitchFamily="34" charset="-120"/>
              </a:rPr>
              <a:t>run under Python 3.14.6 - L, K and the chapter setup as on slide 7</a:t>
            </a:r>
            <a:endParaRPr lang="en-US" sz="900" dirty="0"/>
          </a:p>
        </p:txBody>
      </p:sp>
      <p:sp>
        <p:nvSpPr>
          <p:cNvPr id="22" name="Text 20"/>
          <p:cNvSpPr txBox="1"/>
          <p:nvPr/>
        </p:nvSpPr>
        <p:spPr>
          <a:xfrm>
            <a:off x="5715000" y="1325880"/>
            <a:ext cx="2971800" cy="402336"/>
          </a:xfrm>
          <a:prstGeom prst="rect">
            <a:avLst/>
          </a:prstGeom>
          <a:noFill/>
          <a:ln/>
        </p:spPr>
        <p:txBody>
          <a:bodyPr wrap="square" lIns="0" tIns="0" rIns="0" bIns="0" rtlCol="0" anchor="t"/>
          <a:lstStyle/>
          <a:p>
            <a:pPr algn="l" indent="0" marL="0">
              <a:buNone/>
            </a:pPr>
            <a:r>
              <a:rPr lang="en-US" sz="1100" b="1" dirty="0">
                <a:solidFill>
                  <a:srgbClr val="6E655C"/>
                </a:solidFill>
                <a:latin typeface="Calibri" pitchFamily="34" charset="0"/>
                <a:ea typeface="Calibri" pitchFamily="34" charset="-122"/>
                <a:cs typeface="Calibri" pitchFamily="34" charset="-120"/>
              </a:rPr>
              <a:t>Result: a spend that has no secret, and one that has</a:t>
            </a:r>
            <a:endParaRPr lang="en-US" sz="11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715000" y="1773936"/>
          <a:ext cx="2971800" cy="914400"/>
        </p:xfrm>
        <a:graphic>
          <a:graphicData uri="http://schemas.openxmlformats.org/drawingml/2006/table">
            <a:tbl>
              <a:tblPr/>
              <a:tblGrid>
                <a:gridCol w="1600200"/>
                <a:gridCol w="1371600"/>
              </a:tblGrid>
              <a:tr h="274320">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Engine</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solidFill>
                      <a:srgbClr val="2B2622"/>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Result</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solidFill>
                      <a:srgbClr val="2B2622"/>
                    </a:solidFill>
                  </a:tcPr>
                </a:tc>
              </a:tr>
              <a:tr h="274320">
                <a:tc>
                  <a:txBody>
                    <a:bodyPr/>
                    <a:lstStyle/>
                    <a:p>
                      <a:pPr indent="0" marL="0">
                        <a:buNone/>
                      </a:pPr>
                      <a:r>
                        <a:rPr lang="en-US" sz="950" dirty="0">
                          <a:solidFill>
                            <a:srgbClr val="2B2622"/>
                          </a:solidFill>
                          <a:latin typeface="Calibri" pitchFamily="34" charset="0"/>
                          <a:ea typeface="Calibri" pitchFamily="34" charset="-122"/>
                          <a:cs typeface="Calibri" pitchFamily="34" charset="-120"/>
                        </a:rPr>
                        <a:t>2010: joined scripts</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c>
                  <a:txBody>
                    <a:bodyPr/>
                    <a:lstStyle/>
                    <a:p>
                      <a:pPr indent="0" marL="0">
                        <a:buNone/>
                      </a:pPr>
                      <a:r>
                        <a:rPr lang="en-US" sz="950" dirty="0">
                          <a:solidFill>
                            <a:srgbClr val="2B2622"/>
                          </a:solidFill>
                          <a:latin typeface="Calibri" pitchFamily="34" charset="0"/>
                          <a:ea typeface="Calibri" pitchFamily="34" charset="-122"/>
                          <a:cs typeface="Calibri" pitchFamily="34" charset="-120"/>
                        </a:rPr>
                        <a:t>OK</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r>
              <a:tr h="274320">
                <a:tc>
                  <a:txBody>
                    <a:bodyPr/>
                    <a:lstStyle/>
                    <a:p>
                      <a:pPr indent="0" marL="0">
                        <a:buNone/>
                      </a:pPr>
                      <a:r>
                        <a:rPr lang="en-US" sz="950" dirty="0">
                          <a:solidFill>
                            <a:srgbClr val="2B2622"/>
                          </a:solidFill>
                          <a:latin typeface="Calibri" pitchFamily="34" charset="0"/>
                          <a:ea typeface="Calibri" pitchFamily="34" charset="-122"/>
                          <a:cs typeface="Calibri" pitchFamily="34" charset="-120"/>
                        </a:rPr>
                        <a:t>Today: scripts apart</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c>
                  <a:txBody>
                    <a:bodyPr/>
                    <a:lstStyle/>
                    <a:p>
                      <a:pPr indent="0" marL="0">
                        <a:buNone/>
                      </a:pPr>
                      <a:r>
                        <a:rPr lang="en-US" sz="950" dirty="0">
                          <a:solidFill>
                            <a:srgbClr val="2B2622"/>
                          </a:solidFill>
                          <a:latin typeface="Calibri" pitchFamily="34" charset="0"/>
                          <a:ea typeface="Calibri" pitchFamily="34" charset="-122"/>
                          <a:cs typeface="Calibri" pitchFamily="34" charset="-120"/>
                        </a:rPr>
                        <a:t>OP_RETURN</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r>
              <a:tr h="274320">
                <a:tc>
                  <a:txBody>
                    <a:bodyPr/>
                    <a:lstStyle/>
                    <a:p>
                      <a:pPr indent="0" marL="0">
                        <a:buNone/>
                      </a:pPr>
                      <a:r>
                        <a:rPr lang="en-US" sz="950" dirty="0">
                          <a:solidFill>
                            <a:srgbClr val="2B2622"/>
                          </a:solidFill>
                          <a:latin typeface="Calibri" pitchFamily="34" charset="0"/>
                          <a:ea typeface="Calibri" pitchFamily="34" charset="-122"/>
                          <a:cs typeface="Calibri" pitchFamily="34" charset="-120"/>
                        </a:rPr>
                        <a:t>Real secret, today</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c>
                  <a:txBody>
                    <a:bodyPr/>
                    <a:lstStyle/>
                    <a:p>
                      <a:pPr indent="0" marL="0">
                        <a:buNone/>
                      </a:pPr>
                      <a:r>
                        <a:rPr lang="en-US" sz="950" dirty="0">
                          <a:solidFill>
                            <a:srgbClr val="2B2622"/>
                          </a:solidFill>
                          <a:latin typeface="Calibri" pitchFamily="34" charset="0"/>
                          <a:ea typeface="Calibri" pitchFamily="34" charset="-122"/>
                          <a:cs typeface="Calibri" pitchFamily="34" charset="-120"/>
                        </a:rPr>
                        <a:t>OK</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r>
            </a:tbl>
          </a:graphicData>
        </a:graphic>
      </p:graphicFrame>
      <p:sp>
        <p:nvSpPr>
          <p:cNvPr id="24" name="Text 21"/>
          <p:cNvSpPr txBox="1"/>
          <p:nvPr/>
        </p:nvSpPr>
        <p:spPr>
          <a:xfrm>
            <a:off x="5715000" y="3145536"/>
            <a:ext cx="2971800" cy="603504"/>
          </a:xfrm>
          <a:prstGeom prst="rect">
            <a:avLst/>
          </a:prstGeom>
          <a:noFill/>
          <a:ln/>
        </p:spPr>
        <p:txBody>
          <a:bodyPr wrap="square" lIns="0" tIns="0" rIns="0" bIns="0" rtlCol="0" anchor="t"/>
          <a:lstStyle/>
          <a:p>
            <a:pPr algn="l" indent="0" marL="0">
              <a:buNone/>
            </a:pPr>
            <a:r>
              <a:rPr lang="en-US" sz="1150" i="1" dirty="0">
                <a:solidFill>
                  <a:srgbClr val="2B2622"/>
                </a:solidFill>
                <a:latin typeface="Calibri" pitchFamily="34" charset="0"/>
                <a:ea typeface="Calibri" pitchFamily="34" charset="-122"/>
                <a:cs typeface="Calibri" pitchFamily="34" charset="-120"/>
              </a:rPr>
              <a:t>In the old engine OK means that anyone could spend the coin. Today the same input fails with OP_RETURN.</a:t>
            </a:r>
            <a:endParaRPr lang="en-US" sz="1150" dirty="0"/>
          </a:p>
        </p:txBody>
      </p:sp>
      <p:sp>
        <p:nvSpPr>
          <p:cNvPr id="25" name="Shape 22"/>
          <p:cNvSpPr/>
          <p:nvPr/>
        </p:nvSpPr>
        <p:spPr>
          <a:xfrm>
            <a:off x="457200" y="4636008"/>
            <a:ext cx="91440" cy="310896"/>
          </a:xfrm>
          <a:prstGeom prst="rect">
            <a:avLst/>
          </a:prstGeom>
          <a:solidFill>
            <a:srgbClr val="D97A14"/>
          </a:solidFill>
          <a:ln w="12700">
            <a:solidFill>
              <a:srgbClr val="D97A14"/>
            </a:solidFill>
            <a:prstDash val="solid"/>
          </a:ln>
        </p:spPr>
      </p:sp>
      <p:sp>
        <p:nvSpPr>
          <p:cNvPr id="26" name="Text 23"/>
          <p:cNvSpPr txBox="1"/>
          <p:nvPr/>
        </p:nvSpPr>
        <p:spPr>
          <a:xfrm>
            <a:off x="658368" y="4599432"/>
            <a:ext cx="6949440" cy="384048"/>
          </a:xfrm>
          <a:prstGeom prst="rect">
            <a:avLst/>
          </a:prstGeom>
          <a:noFill/>
          <a:ln/>
        </p:spPr>
        <p:txBody>
          <a:bodyPr wrap="square" lIns="0" tIns="0" rIns="0" bIns="0" rtlCol="0" anchor="ctr"/>
          <a:lstStyle/>
          <a:p>
            <a:pPr indent="0" marL="0">
              <a:buNone/>
            </a:pPr>
            <a:r>
              <a:rPr lang="en-US" sz="1350" b="1" i="1" dirty="0">
                <a:solidFill>
                  <a:srgbClr val="2B2622"/>
                </a:solidFill>
                <a:latin typeface="Cambria" pitchFamily="34" charset="0"/>
                <a:ea typeface="Cambria" pitchFamily="34" charset="-122"/>
                <a:cs typeface="Cambria" pitchFamily="34" charset="-120"/>
              </a:rPr>
              <a:t>Run the two scripts apart, and fail closed on anything unknown</a:t>
            </a:r>
            <a:endParaRPr lang="en-US" sz="1350" dirty="0"/>
          </a:p>
        </p:txBody>
      </p:sp>
      <p:sp>
        <p:nvSpPr>
          <p:cNvPr id="27" name="Text 24"/>
          <p:cNvSpPr txBox="1"/>
          <p:nvPr/>
        </p:nvSpPr>
        <p:spPr>
          <a:xfrm>
            <a:off x="7863840" y="4645152"/>
            <a:ext cx="868680" cy="310896"/>
          </a:xfrm>
          <a:prstGeom prst="rect">
            <a:avLst/>
          </a:prstGeom>
          <a:noFill/>
          <a:ln/>
        </p:spPr>
        <p:txBody>
          <a:bodyPr wrap="square" lIns="0" tIns="0" rIns="0" bIns="0" rtlCol="0" anchor="ctr"/>
          <a:lstStyle/>
          <a:p>
            <a:pPr algn="r" indent="0" marL="0">
              <a:buNone/>
            </a:pPr>
            <a:r>
              <a:rPr lang="en-US" sz="1100" dirty="0">
                <a:solidFill>
                  <a:srgbClr val="6E655C"/>
                </a:solidFill>
                <a:latin typeface="Calibri" pitchFamily="34" charset="0"/>
                <a:ea typeface="Calibri" pitchFamily="34" charset="-122"/>
                <a:cs typeface="Calibri" pitchFamily="34" charset="-120"/>
              </a:rPr>
              <a:t>9 / 61</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6EF"/>
        </a:solidFill>
      </p:bgPr>
    </p:bg>
    <p:spTree>
      <p:nvGrpSpPr>
        <p:cNvPr id="1" name=""/>
        <p:cNvGrpSpPr/>
        <p:nvPr/>
      </p:nvGrpSpPr>
      <p:grpSpPr>
        <a:xfrm>
          <a:off x="0" y="0"/>
          <a:ext cx="0" cy="0"/>
          <a:chOff x="0" y="0"/>
          <a:chExt cx="0" cy="0"/>
        </a:xfrm>
      </p:grpSpPr>
      <p:sp>
        <p:nvSpPr>
          <p:cNvPr id="2" name="Shape 0"/>
          <p:cNvSpPr/>
          <p:nvPr/>
        </p:nvSpPr>
        <p:spPr>
          <a:xfrm>
            <a:off x="457200" y="347472"/>
            <a:ext cx="566928" cy="384048"/>
          </a:xfrm>
          <a:prstGeom prst="roundRect">
            <a:avLst>
              <a:gd name="adj" fmla="val 19048"/>
            </a:avLst>
          </a:prstGeom>
          <a:solidFill>
            <a:srgbClr val="D97A14"/>
          </a:solidFill>
          <a:ln w="12700">
            <a:solidFill>
              <a:srgbClr val="D97A14"/>
            </a:solidFill>
            <a:prstDash val="solid"/>
          </a:ln>
        </p:spPr>
      </p:sp>
      <p:sp>
        <p:nvSpPr>
          <p:cNvPr id="3" name="Text 1"/>
          <p:cNvSpPr txBox="1"/>
          <p:nvPr/>
        </p:nvSpPr>
        <p:spPr>
          <a:xfrm>
            <a:off x="457200" y="347472"/>
            <a:ext cx="56692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4" name="Text 2"/>
          <p:cNvSpPr txBox="1"/>
          <p:nvPr/>
        </p:nvSpPr>
        <p:spPr>
          <a:xfrm>
            <a:off x="1143000" y="237744"/>
            <a:ext cx="7543800" cy="566928"/>
          </a:xfrm>
          <a:prstGeom prst="rect">
            <a:avLst/>
          </a:prstGeom>
          <a:noFill/>
          <a:ln/>
        </p:spPr>
        <p:txBody>
          <a:bodyPr wrap="square" lIns="0" tIns="0" rIns="0" bIns="0" rtlCol="0" anchor="ctr"/>
          <a:lstStyle/>
          <a:p>
            <a:pPr indent="0" marL="0">
              <a:buNone/>
            </a:pPr>
            <a:r>
              <a:rPr lang="en-US" sz="2500" b="1" dirty="0">
                <a:solidFill>
                  <a:srgbClr val="2B2622"/>
                </a:solidFill>
                <a:latin typeface="Cambria" pitchFamily="34" charset="0"/>
                <a:ea typeface="Cambria" pitchFamily="34" charset="-122"/>
                <a:cs typeface="Cambria" pitchFamily="34" charset="-120"/>
              </a:rPr>
              <a:t>The script that ended with a true result</a:t>
            </a:r>
            <a:endParaRPr lang="en-US" sz="2500" dirty="0"/>
          </a:p>
        </p:txBody>
      </p:sp>
      <p:sp>
        <p:nvSpPr>
          <p:cNvPr id="5" name="Text 3"/>
          <p:cNvSpPr txBox="1"/>
          <p:nvPr/>
        </p:nvSpPr>
        <p:spPr>
          <a:xfrm>
            <a:off x="1143000" y="786384"/>
            <a:ext cx="7543800" cy="310896"/>
          </a:xfrm>
          <a:prstGeom prst="rect">
            <a:avLst/>
          </a:prstGeom>
          <a:noFill/>
          <a:ln/>
        </p:spPr>
        <p:txBody>
          <a:bodyPr wrap="square" lIns="0" tIns="0" rIns="0" bIns="0" rtlCol="0" anchor="ctr"/>
          <a:lstStyle/>
          <a:p>
            <a:pPr indent="0" marL="0">
              <a:buNone/>
            </a:pPr>
            <a:r>
              <a:rPr lang="en-US" sz="1300" i="1" dirty="0">
                <a:solidFill>
                  <a:srgbClr val="6E655C"/>
                </a:solidFill>
                <a:latin typeface="Calibri" pitchFamily="34" charset="0"/>
                <a:ea typeface="Calibri" pitchFamily="34" charset="-122"/>
                <a:cs typeface="Calibri" pitchFamily="34" charset="-120"/>
              </a:rPr>
              <a:t>A bug of 2010 that let anyone spend any output</a:t>
            </a:r>
            <a:endParaRPr lang="en-US" sz="1300" dirty="0"/>
          </a:p>
        </p:txBody>
      </p:sp>
      <p:pic>
        <p:nvPicPr>
          <p:cNvPr id="6" name="Image 0" descr="../../03-materials/ch07/assets/photo_satoshi_bust_budapest.jpg">    </p:cNvPr>
          <p:cNvPicPr>
            <a:picLocks noChangeAspect="1"/>
          </p:cNvPicPr>
          <p:nvPr/>
        </p:nvPicPr>
        <p:blipFill>
          <a:blip r:embed="rId1"/>
          <a:srcRect l="0" r="0" t="0" b="0"/>
          <a:stretch/>
        </p:blipFill>
        <p:spPr>
          <a:xfrm>
            <a:off x="457200" y="1280160"/>
            <a:ext cx="2377440" cy="2331720"/>
          </a:xfrm>
          <a:prstGeom prst="rect">
            <a:avLst/>
          </a:prstGeom>
        </p:spPr>
      </p:pic>
      <p:sp>
        <p:nvSpPr>
          <p:cNvPr id="7" name="Text 4"/>
          <p:cNvSpPr txBox="1"/>
          <p:nvPr/>
        </p:nvSpPr>
        <p:spPr>
          <a:xfrm>
            <a:off x="457200" y="3630168"/>
            <a:ext cx="2377440" cy="329184"/>
          </a:xfrm>
          <a:prstGeom prst="rect">
            <a:avLst/>
          </a:prstGeom>
          <a:noFill/>
          <a:ln/>
        </p:spPr>
        <p:txBody>
          <a:bodyPr wrap="square" lIns="0" tIns="0" rIns="0" bIns="0" rtlCol="0" anchor="ctr"/>
          <a:lstStyle/>
          <a:p>
            <a:pPr algn="ctr" indent="0" marL="0">
              <a:buNone/>
            </a:pPr>
            <a:r>
              <a:rPr lang="en-US" sz="900" i="1" dirty="0">
                <a:solidFill>
                  <a:srgbClr val="6E655C"/>
                </a:solidFill>
                <a:latin typeface="Calibri" pitchFamily="34" charset="0"/>
                <a:ea typeface="Calibri" pitchFamily="34" charset="-122"/>
                <a:cs typeface="Calibri" pitchFamily="34" charset="-120"/>
              </a:rPr>
              <a:t>Bust of Satoshi Nakamoto, Budapest - Fekist, CC BY-SA 4.0</a:t>
            </a:r>
            <a:endParaRPr lang="en-US" sz="900" dirty="0"/>
          </a:p>
        </p:txBody>
      </p:sp>
      <p:sp>
        <p:nvSpPr>
          <p:cNvPr id="8" name="Shape 5"/>
          <p:cNvSpPr/>
          <p:nvPr/>
        </p:nvSpPr>
        <p:spPr>
          <a:xfrm>
            <a:off x="3108960" y="1524762"/>
            <a:ext cx="128016" cy="128016"/>
          </a:xfrm>
          <a:prstGeom prst="diamond">
            <a:avLst/>
          </a:prstGeom>
          <a:solidFill>
            <a:srgbClr val="D97A14"/>
          </a:solidFill>
          <a:ln w="12700">
            <a:solidFill>
              <a:srgbClr val="D97A14"/>
            </a:solidFill>
            <a:prstDash val="solid"/>
          </a:ln>
        </p:spPr>
      </p:sp>
      <p:sp>
        <p:nvSpPr>
          <p:cNvPr id="9" name="Text 6"/>
          <p:cNvSpPr txBox="1"/>
          <p:nvPr/>
        </p:nvSpPr>
        <p:spPr>
          <a:xfrm>
            <a:off x="3383280" y="1280160"/>
            <a:ext cx="5303520" cy="617220"/>
          </a:xfrm>
          <a:prstGeom prst="rect">
            <a:avLst/>
          </a:prstGeom>
          <a:noFill/>
          <a:ln/>
        </p:spPr>
        <p:txBody>
          <a:bodyPr wrap="square" lIns="0" tIns="0" rIns="0" bIns="0" rtlCol="0" anchor="ctr"/>
          <a:lstStyle/>
          <a:p>
            <a:pPr indent="0" marL="0">
              <a:buNone/>
            </a:pPr>
            <a:r>
              <a:rPr lang="en-US" sz="1150" dirty="0">
                <a:solidFill>
                  <a:srgbClr val="2B2622"/>
                </a:solidFill>
                <a:latin typeface="Calibri" pitchFamily="34" charset="0"/>
                <a:ea typeface="Calibri" pitchFamily="34" charset="-122"/>
                <a:cs typeface="Calibri" pitchFamily="34" charset="-120"/>
              </a:rPr>
              <a:t>WHAT: On 28 July 2010 two bugs were shown on the test network; one let a stranger spend coins that were not theirs.</a:t>
            </a:r>
            <a:endParaRPr lang="en-US" sz="1150" dirty="0"/>
          </a:p>
        </p:txBody>
      </p:sp>
      <p:sp>
        <p:nvSpPr>
          <p:cNvPr id="10" name="Shape 7"/>
          <p:cNvSpPr/>
          <p:nvPr/>
        </p:nvSpPr>
        <p:spPr>
          <a:xfrm>
            <a:off x="3108960" y="2141982"/>
            <a:ext cx="128016" cy="128016"/>
          </a:xfrm>
          <a:prstGeom prst="diamond">
            <a:avLst/>
          </a:prstGeom>
          <a:solidFill>
            <a:srgbClr val="D97A14"/>
          </a:solidFill>
          <a:ln w="12700">
            <a:solidFill>
              <a:srgbClr val="D97A14"/>
            </a:solidFill>
            <a:prstDash val="solid"/>
          </a:ln>
        </p:spPr>
      </p:sp>
      <p:sp>
        <p:nvSpPr>
          <p:cNvPr id="11" name="Text 8"/>
          <p:cNvSpPr txBox="1"/>
          <p:nvPr/>
        </p:nvSpPr>
        <p:spPr>
          <a:xfrm>
            <a:off x="3383280" y="1897380"/>
            <a:ext cx="5303520" cy="617220"/>
          </a:xfrm>
          <a:prstGeom prst="rect">
            <a:avLst/>
          </a:prstGeom>
          <a:noFill/>
          <a:ln/>
        </p:spPr>
        <p:txBody>
          <a:bodyPr wrap="square" lIns="0" tIns="0" rIns="0" bIns="0" rtlCol="0" anchor="ctr"/>
          <a:lstStyle/>
          <a:p>
            <a:pPr indent="0" marL="0">
              <a:buNone/>
            </a:pPr>
            <a:r>
              <a:rPr lang="en-US" sz="1150" dirty="0">
                <a:solidFill>
                  <a:srgbClr val="2B2622"/>
                </a:solidFill>
                <a:latin typeface="Calibri" pitchFamily="34" charset="0"/>
                <a:ea typeface="Calibri" pitchFamily="34" charset="-122"/>
                <a:cs typeface="Calibri" pitchFamily="34" charset="-120"/>
              </a:rPr>
              <a:t>WHY: The first software joined input and output script into one program, and OP_RETURN jumped to its end with a true result.</a:t>
            </a:r>
            <a:endParaRPr lang="en-US" sz="1150" dirty="0"/>
          </a:p>
        </p:txBody>
      </p:sp>
      <p:sp>
        <p:nvSpPr>
          <p:cNvPr id="12" name="Shape 9"/>
          <p:cNvSpPr/>
          <p:nvPr/>
        </p:nvSpPr>
        <p:spPr>
          <a:xfrm>
            <a:off x="3108960" y="2759202"/>
            <a:ext cx="128016" cy="128016"/>
          </a:xfrm>
          <a:prstGeom prst="diamond">
            <a:avLst/>
          </a:prstGeom>
          <a:solidFill>
            <a:srgbClr val="D97A14"/>
          </a:solidFill>
          <a:ln w="12700">
            <a:solidFill>
              <a:srgbClr val="D97A14"/>
            </a:solidFill>
            <a:prstDash val="solid"/>
          </a:ln>
        </p:spPr>
      </p:sp>
      <p:sp>
        <p:nvSpPr>
          <p:cNvPr id="13" name="Text 10"/>
          <p:cNvSpPr txBox="1"/>
          <p:nvPr/>
        </p:nvSpPr>
        <p:spPr>
          <a:xfrm>
            <a:off x="3383280" y="2514600"/>
            <a:ext cx="5303520" cy="617220"/>
          </a:xfrm>
          <a:prstGeom prst="rect">
            <a:avLst/>
          </a:prstGeom>
          <a:noFill/>
          <a:ln/>
        </p:spPr>
        <p:txBody>
          <a:bodyPr wrap="square" lIns="0" tIns="0" rIns="0" bIns="0" rtlCol="0" anchor="ctr"/>
          <a:lstStyle/>
          <a:p>
            <a:pPr indent="0" marL="0">
              <a:buNone/>
            </a:pPr>
            <a:r>
              <a:rPr lang="en-US" sz="1150" dirty="0">
                <a:solidFill>
                  <a:srgbClr val="2B2622"/>
                </a:solidFill>
                <a:latin typeface="Calibri" pitchFamily="34" charset="0"/>
                <a:ea typeface="Calibri" pitchFamily="34" charset="-122"/>
                <a:cs typeface="Calibri" pitchFamily="34" charset="-120"/>
              </a:rPr>
              <a:t>HOW: An input script of 1 then OP_RETURN ended the run true; version 0.3.5 fixed it, and later versions run the scripts apart.</a:t>
            </a:r>
            <a:endParaRPr lang="en-US" sz="1150" dirty="0"/>
          </a:p>
        </p:txBody>
      </p:sp>
      <p:sp>
        <p:nvSpPr>
          <p:cNvPr id="14" name="Shape 11"/>
          <p:cNvSpPr/>
          <p:nvPr/>
        </p:nvSpPr>
        <p:spPr>
          <a:xfrm>
            <a:off x="3108960" y="3376422"/>
            <a:ext cx="128016" cy="128016"/>
          </a:xfrm>
          <a:prstGeom prst="diamond">
            <a:avLst/>
          </a:prstGeom>
          <a:solidFill>
            <a:srgbClr val="D97A14"/>
          </a:solidFill>
          <a:ln w="12700">
            <a:solidFill>
              <a:srgbClr val="D97A14"/>
            </a:solidFill>
            <a:prstDash val="solid"/>
          </a:ln>
        </p:spPr>
      </p:sp>
      <p:sp>
        <p:nvSpPr>
          <p:cNvPr id="15" name="Text 12"/>
          <p:cNvSpPr txBox="1"/>
          <p:nvPr/>
        </p:nvSpPr>
        <p:spPr>
          <a:xfrm>
            <a:off x="3383280" y="3131820"/>
            <a:ext cx="5303520" cy="617220"/>
          </a:xfrm>
          <a:prstGeom prst="rect">
            <a:avLst/>
          </a:prstGeom>
          <a:noFill/>
          <a:ln/>
        </p:spPr>
        <p:txBody>
          <a:bodyPr wrap="square" lIns="0" tIns="0" rIns="0" bIns="0" rtlCol="0" anchor="ctr"/>
          <a:lstStyle/>
          <a:p>
            <a:pPr indent="0" marL="0">
              <a:buNone/>
            </a:pPr>
            <a:r>
              <a:rPr lang="en-US" sz="1150" dirty="0">
                <a:solidFill>
                  <a:srgbClr val="2B2622"/>
                </a:solidFill>
                <a:latin typeface="Calibri" pitchFamily="34" charset="0"/>
                <a:ea typeface="Calibri" pitchFamily="34" charset="-122"/>
                <a:cs typeface="Calibri" pitchFamily="34" charset="-120"/>
              </a:rPr>
              <a:t>SO WHAT: Many unused opcodes were disabled; in tapscript such values, like OP_LSHIFT (152), are now OP_SUCCESS.</a:t>
            </a:r>
            <a:endParaRPr lang="en-US" sz="1150" dirty="0"/>
          </a:p>
        </p:txBody>
      </p:sp>
      <p:sp>
        <p:nvSpPr>
          <p:cNvPr id="16" name="Shape 13"/>
          <p:cNvSpPr/>
          <p:nvPr/>
        </p:nvSpPr>
        <p:spPr>
          <a:xfrm>
            <a:off x="457200" y="4114800"/>
            <a:ext cx="1738092" cy="365760"/>
          </a:xfrm>
          <a:prstGeom prst="roundRect">
            <a:avLst>
              <a:gd name="adj" fmla="val 50000"/>
            </a:avLst>
          </a:prstGeom>
          <a:solidFill>
            <a:srgbClr val="EFE9DC"/>
          </a:solidFill>
          <a:ln w="9525">
            <a:solidFill>
              <a:srgbClr val="DFD6C7"/>
            </a:solidFill>
            <a:prstDash val="solid"/>
          </a:ln>
        </p:spPr>
      </p:sp>
      <p:sp>
        <p:nvSpPr>
          <p:cNvPr id="17" name="Text 14"/>
          <p:cNvSpPr txBox="1"/>
          <p:nvPr/>
        </p:nvSpPr>
        <p:spPr>
          <a:xfrm>
            <a:off x="548640" y="4114800"/>
            <a:ext cx="1591788" cy="365760"/>
          </a:xfrm>
          <a:prstGeom prst="rect">
            <a:avLst/>
          </a:prstGeom>
          <a:noFill/>
          <a:ln/>
        </p:spPr>
        <p:txBody>
          <a:bodyPr wrap="square" lIns="0" tIns="0" rIns="0" bIns="0" rtlCol="0" anchor="ctr"/>
          <a:lstStyle/>
          <a:p>
            <a:pPr indent="0" marL="0">
              <a:buNone/>
            </a:pPr>
            <a:r>
              <a:rPr lang="en-US" sz="750" b="1" dirty="0">
                <a:solidFill>
                  <a:srgbClr val="2F6D62"/>
                </a:solidFill>
                <a:latin typeface="Calibri" pitchFamily="34" charset="0"/>
                <a:ea typeface="Calibri" pitchFamily="34" charset="-122"/>
                <a:cs typeface="Calibri" pitchFamily="34" charset="-120"/>
              </a:rPr>
              <a:t>WHO  </a:t>
            </a:r>
            <a:r>
              <a:rPr lang="en-US" sz="900" dirty="0">
                <a:solidFill>
                  <a:srgbClr val="2B2622"/>
                </a:solidFill>
                <a:latin typeface="Calibri" pitchFamily="34" charset="0"/>
                <a:ea typeface="Calibri" pitchFamily="34" charset="-122"/>
                <a:cs typeface="Calibri" pitchFamily="34" charset="-120"/>
              </a:rPr>
              <a:t>Satoshi Nakamoto</a:t>
            </a:r>
            <a:endParaRPr lang="en-US" sz="750" dirty="0"/>
          </a:p>
        </p:txBody>
      </p:sp>
      <p:sp>
        <p:nvSpPr>
          <p:cNvPr id="18" name="Shape 15"/>
          <p:cNvSpPr/>
          <p:nvPr/>
        </p:nvSpPr>
        <p:spPr>
          <a:xfrm>
            <a:off x="2305020" y="4114800"/>
            <a:ext cx="1659087" cy="365760"/>
          </a:xfrm>
          <a:prstGeom prst="roundRect">
            <a:avLst>
              <a:gd name="adj" fmla="val 50000"/>
            </a:avLst>
          </a:prstGeom>
          <a:solidFill>
            <a:srgbClr val="EFE9DC"/>
          </a:solidFill>
          <a:ln w="9525">
            <a:solidFill>
              <a:srgbClr val="DFD6C7"/>
            </a:solidFill>
            <a:prstDash val="solid"/>
          </a:ln>
        </p:spPr>
      </p:sp>
      <p:sp>
        <p:nvSpPr>
          <p:cNvPr id="19" name="Text 16"/>
          <p:cNvSpPr txBox="1"/>
          <p:nvPr/>
        </p:nvSpPr>
        <p:spPr>
          <a:xfrm>
            <a:off x="2396460" y="4114800"/>
            <a:ext cx="1512783" cy="365760"/>
          </a:xfrm>
          <a:prstGeom prst="rect">
            <a:avLst/>
          </a:prstGeom>
          <a:noFill/>
          <a:ln/>
        </p:spPr>
        <p:txBody>
          <a:bodyPr wrap="square" lIns="0" tIns="0" rIns="0" bIns="0" rtlCol="0" anchor="ctr"/>
          <a:lstStyle/>
          <a:p>
            <a:pPr indent="0" marL="0">
              <a:buNone/>
            </a:pPr>
            <a:r>
              <a:rPr lang="en-US" sz="750" b="1" dirty="0">
                <a:solidFill>
                  <a:srgbClr val="2F6D62"/>
                </a:solidFill>
                <a:latin typeface="Calibri" pitchFamily="34" charset="0"/>
                <a:ea typeface="Calibri" pitchFamily="34" charset="-122"/>
                <a:cs typeface="Calibri" pitchFamily="34" charset="-120"/>
              </a:rPr>
              <a:t>WHERE  </a:t>
            </a:r>
            <a:r>
              <a:rPr lang="en-US" sz="900" dirty="0">
                <a:solidFill>
                  <a:srgbClr val="2B2622"/>
                </a:solidFill>
                <a:latin typeface="Calibri" pitchFamily="34" charset="0"/>
                <a:ea typeface="Calibri" pitchFamily="34" charset="-122"/>
                <a:cs typeface="Calibri" pitchFamily="34" charset="-120"/>
              </a:rPr>
              <a:t>Bitcoin test network</a:t>
            </a:r>
            <a:endParaRPr lang="en-US" sz="750" dirty="0"/>
          </a:p>
        </p:txBody>
      </p:sp>
      <p:sp>
        <p:nvSpPr>
          <p:cNvPr id="20" name="Shape 17"/>
          <p:cNvSpPr/>
          <p:nvPr/>
        </p:nvSpPr>
        <p:spPr>
          <a:xfrm>
            <a:off x="4073835" y="4114800"/>
            <a:ext cx="1343071" cy="365760"/>
          </a:xfrm>
          <a:prstGeom prst="roundRect">
            <a:avLst>
              <a:gd name="adj" fmla="val 50000"/>
            </a:avLst>
          </a:prstGeom>
          <a:solidFill>
            <a:srgbClr val="EFE9DC"/>
          </a:solidFill>
          <a:ln w="9525">
            <a:solidFill>
              <a:srgbClr val="DFD6C7"/>
            </a:solidFill>
            <a:prstDash val="solid"/>
          </a:ln>
        </p:spPr>
      </p:sp>
      <p:sp>
        <p:nvSpPr>
          <p:cNvPr id="21" name="Text 18"/>
          <p:cNvSpPr txBox="1"/>
          <p:nvPr/>
        </p:nvSpPr>
        <p:spPr>
          <a:xfrm>
            <a:off x="4165275" y="4114800"/>
            <a:ext cx="1196767" cy="365760"/>
          </a:xfrm>
          <a:prstGeom prst="rect">
            <a:avLst/>
          </a:prstGeom>
          <a:noFill/>
          <a:ln/>
        </p:spPr>
        <p:txBody>
          <a:bodyPr wrap="square" lIns="0" tIns="0" rIns="0" bIns="0" rtlCol="0" anchor="ctr"/>
          <a:lstStyle/>
          <a:p>
            <a:pPr indent="0" marL="0">
              <a:buNone/>
            </a:pPr>
            <a:r>
              <a:rPr lang="en-US" sz="750" b="1" dirty="0">
                <a:solidFill>
                  <a:srgbClr val="2F6D62"/>
                </a:solidFill>
                <a:latin typeface="Calibri" pitchFamily="34" charset="0"/>
                <a:ea typeface="Calibri" pitchFamily="34" charset="-122"/>
                <a:cs typeface="Calibri" pitchFamily="34" charset="-120"/>
              </a:rPr>
              <a:t>WHEN  </a:t>
            </a:r>
            <a:r>
              <a:rPr lang="en-US" sz="900" dirty="0">
                <a:solidFill>
                  <a:srgbClr val="2B2622"/>
                </a:solidFill>
                <a:latin typeface="Calibri" pitchFamily="34" charset="0"/>
                <a:ea typeface="Calibri" pitchFamily="34" charset="-122"/>
                <a:cs typeface="Calibri" pitchFamily="34" charset="-120"/>
              </a:rPr>
              <a:t>2010-07-28</a:t>
            </a:r>
            <a:endParaRPr lang="en-US" sz="750" dirty="0"/>
          </a:p>
        </p:txBody>
      </p:sp>
      <p:sp>
        <p:nvSpPr>
          <p:cNvPr id="22" name="Shape 19"/>
          <p:cNvSpPr/>
          <p:nvPr/>
        </p:nvSpPr>
        <p:spPr>
          <a:xfrm>
            <a:off x="5526634" y="4114800"/>
            <a:ext cx="3160166" cy="365760"/>
          </a:xfrm>
          <a:prstGeom prst="roundRect">
            <a:avLst>
              <a:gd name="adj" fmla="val 50000"/>
            </a:avLst>
          </a:prstGeom>
          <a:solidFill>
            <a:srgbClr val="2F6D62"/>
          </a:solidFill>
          <a:ln w="9525">
            <a:solidFill>
              <a:srgbClr val="2F6D62"/>
            </a:solidFill>
            <a:prstDash val="solid"/>
          </a:ln>
        </p:spPr>
      </p:sp>
      <p:sp>
        <p:nvSpPr>
          <p:cNvPr id="23" name="Text 20"/>
          <p:cNvSpPr txBox="1"/>
          <p:nvPr/>
        </p:nvSpPr>
        <p:spPr>
          <a:xfrm>
            <a:off x="5618074" y="4114800"/>
            <a:ext cx="3013862" cy="365760"/>
          </a:xfrm>
          <a:prstGeom prst="rect">
            <a:avLst/>
          </a:prstGeom>
          <a:noFill/>
          <a:ln/>
        </p:spPr>
        <p:txBody>
          <a:bodyPr wrap="square" lIns="0" tIns="0" rIns="0" bIns="0" rtlCol="0" anchor="ctr"/>
          <a:lstStyle/>
          <a:p>
            <a:pPr indent="0" marL="0">
              <a:buNone/>
            </a:pPr>
            <a:r>
              <a:rPr lang="en-US" sz="750" b="1" dirty="0">
                <a:solidFill>
                  <a:srgbClr val="D7E4E0"/>
                </a:solidFill>
                <a:latin typeface="Calibri" pitchFamily="34" charset="0"/>
                <a:ea typeface="Calibri" pitchFamily="34" charset="-122"/>
                <a:cs typeface="Calibri" pitchFamily="34" charset="-120"/>
              </a:rPr>
              <a:t>READ  </a:t>
            </a:r>
            <a:r>
              <a:rPr lang="en-US" sz="900" u="sng" dirty="0">
                <a:solidFill>
                  <a:srgbClr val="FFFFFF"/>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en.bitcoin.it</a:t>
            </a:r>
            <a:endParaRPr lang="en-US" sz="750" dirty="0"/>
          </a:p>
          <a:p>
            <a:pPr indent="0" marL="0">
              <a:buNone/>
            </a:pPr>
            <a:r>
              <a:rPr lang="en-US" sz="700" dirty="0">
                <a:solidFill>
                  <a:srgbClr val="D7E4E0"/>
                </a:solidFill>
                <a:latin typeface="Calibri" pitchFamily="34" charset="0"/>
                <a:ea typeface="Calibri" pitchFamily="34" charset="-122"/>
                <a:cs typeface="Calibri" pitchFamily="34" charset="-120"/>
              </a:rPr>
              <a:t>en.bitcoin.it</a:t>
            </a:r>
            <a:endParaRPr lang="en-US" sz="750" dirty="0"/>
          </a:p>
        </p:txBody>
      </p:sp>
      <p:sp>
        <p:nvSpPr>
          <p:cNvPr id="24" name="Text 21"/>
          <p:cNvSpPr txBox="1"/>
          <p:nvPr/>
        </p:nvSpPr>
        <p:spPr>
          <a:xfrm>
            <a:off x="7863840" y="4645152"/>
            <a:ext cx="868680" cy="310896"/>
          </a:xfrm>
          <a:prstGeom prst="rect">
            <a:avLst/>
          </a:prstGeom>
          <a:noFill/>
          <a:ln/>
        </p:spPr>
        <p:txBody>
          <a:bodyPr wrap="square" lIns="0" tIns="0" rIns="0" bIns="0" rtlCol="0" anchor="ctr"/>
          <a:lstStyle/>
          <a:p>
            <a:pPr algn="r" indent="0" marL="0">
              <a:buNone/>
            </a:pPr>
            <a:r>
              <a:rPr lang="en-US" sz="1100" dirty="0">
                <a:solidFill>
                  <a:srgbClr val="6E655C"/>
                </a:solidFill>
                <a:latin typeface="Calibri" pitchFamily="34" charset="0"/>
                <a:ea typeface="Calibri" pitchFamily="34" charset="-122"/>
                <a:cs typeface="Calibri" pitchFamily="34" charset="-120"/>
              </a:rPr>
              <a:t>10 / 61</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6EF"/>
        </a:solidFill>
      </p:bgPr>
    </p:bg>
    <p:spTree>
      <p:nvGrpSpPr>
        <p:cNvPr id="1" name=""/>
        <p:cNvGrpSpPr/>
        <p:nvPr/>
      </p:nvGrpSpPr>
      <p:grpSpPr>
        <a:xfrm>
          <a:off x="0" y="0"/>
          <a:ext cx="0" cy="0"/>
          <a:chOff x="0" y="0"/>
          <a:chExt cx="0" cy="0"/>
        </a:xfrm>
      </p:grpSpPr>
      <p:sp>
        <p:nvSpPr>
          <p:cNvPr id="2" name="Shape 0"/>
          <p:cNvSpPr/>
          <p:nvPr/>
        </p:nvSpPr>
        <p:spPr>
          <a:xfrm>
            <a:off x="457200" y="347472"/>
            <a:ext cx="566928" cy="384048"/>
          </a:xfrm>
          <a:prstGeom prst="roundRect">
            <a:avLst>
              <a:gd name="adj" fmla="val 19048"/>
            </a:avLst>
          </a:prstGeom>
          <a:solidFill>
            <a:srgbClr val="D97A14"/>
          </a:solidFill>
          <a:ln w="12700">
            <a:solidFill>
              <a:srgbClr val="D97A14"/>
            </a:solidFill>
            <a:prstDash val="solid"/>
          </a:ln>
        </p:spPr>
      </p:sp>
      <p:sp>
        <p:nvSpPr>
          <p:cNvPr id="3" name="Text 1"/>
          <p:cNvSpPr txBox="1"/>
          <p:nvPr/>
        </p:nvSpPr>
        <p:spPr>
          <a:xfrm>
            <a:off x="457200" y="347472"/>
            <a:ext cx="56692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4" name="Text 2"/>
          <p:cNvSpPr txBox="1"/>
          <p:nvPr/>
        </p:nvSpPr>
        <p:spPr>
          <a:xfrm>
            <a:off x="1143000" y="237744"/>
            <a:ext cx="7543800" cy="566928"/>
          </a:xfrm>
          <a:prstGeom prst="rect">
            <a:avLst/>
          </a:prstGeom>
          <a:noFill/>
          <a:ln/>
        </p:spPr>
        <p:txBody>
          <a:bodyPr wrap="square" lIns="0" tIns="0" rIns="0" bIns="0" rtlCol="0" anchor="ctr"/>
          <a:lstStyle/>
          <a:p>
            <a:pPr indent="0" marL="0">
              <a:buNone/>
            </a:pPr>
            <a:r>
              <a:rPr lang="en-US" sz="2500" b="1" dirty="0">
                <a:solidFill>
                  <a:srgbClr val="2B2622"/>
                </a:solidFill>
                <a:latin typeface="Cambria" pitchFamily="34" charset="0"/>
                <a:ea typeface="Cambria" pitchFamily="34" charset="-122"/>
                <a:cs typeface="Cambria" pitchFamily="34" charset="-120"/>
              </a:rPr>
              <a:t>Scripts and the Script language (3 of 4)</a:t>
            </a:r>
            <a:endParaRPr lang="en-US" sz="2500" dirty="0"/>
          </a:p>
        </p:txBody>
      </p:sp>
      <p:sp>
        <p:nvSpPr>
          <p:cNvPr id="5" name="Text 3"/>
          <p:cNvSpPr txBox="1"/>
          <p:nvPr/>
        </p:nvSpPr>
        <p:spPr>
          <a:xfrm>
            <a:off x="1143000" y="786384"/>
            <a:ext cx="7543800" cy="310896"/>
          </a:xfrm>
          <a:prstGeom prst="rect">
            <a:avLst/>
          </a:prstGeom>
          <a:noFill/>
          <a:ln/>
        </p:spPr>
        <p:txBody>
          <a:bodyPr wrap="square" lIns="0" tIns="0" rIns="0" bIns="0" rtlCol="0" anchor="ctr"/>
          <a:lstStyle/>
          <a:p>
            <a:pPr indent="0" marL="0">
              <a:buNone/>
            </a:pPr>
            <a:r>
              <a:rPr lang="en-US" sz="1300" i="1" dirty="0">
                <a:solidFill>
                  <a:srgbClr val="6E655C"/>
                </a:solidFill>
                <a:latin typeface="Calibri" pitchFamily="34" charset="0"/>
                <a:ea typeface="Calibri" pitchFamily="34" charset="-122"/>
                <a:cs typeface="Calibri" pitchFamily="34" charset="-120"/>
              </a:rPr>
              <a:t>Each card: the meaning in a few words, then something you already know</a:t>
            </a:r>
            <a:endParaRPr lang="en-US" sz="1300" dirty="0"/>
          </a:p>
        </p:txBody>
      </p:sp>
      <p:sp>
        <p:nvSpPr>
          <p:cNvPr id="6" name="Shape 4"/>
          <p:cNvSpPr/>
          <p:nvPr/>
        </p:nvSpPr>
        <p:spPr>
          <a:xfrm>
            <a:off x="457200" y="1280160"/>
            <a:ext cx="4041648" cy="1161288"/>
          </a:xfrm>
          <a:prstGeom prst="roundRect">
            <a:avLst>
              <a:gd name="adj" fmla="val 6299"/>
            </a:avLst>
          </a:prstGeom>
          <a:solidFill>
            <a:srgbClr val="F2ECE1"/>
          </a:solidFill>
          <a:ln w="12700">
            <a:solidFill>
              <a:srgbClr val="DFD6C7"/>
            </a:solidFill>
            <a:prstDash val="solid"/>
          </a:ln>
        </p:spPr>
      </p:sp>
      <p:sp>
        <p:nvSpPr>
          <p:cNvPr id="7" name="Shape 5"/>
          <p:cNvSpPr/>
          <p:nvPr/>
        </p:nvSpPr>
        <p:spPr>
          <a:xfrm>
            <a:off x="475488" y="1408176"/>
            <a:ext cx="64008" cy="905256"/>
          </a:xfrm>
          <a:prstGeom prst="rect">
            <a:avLst/>
          </a:prstGeom>
          <a:solidFill>
            <a:srgbClr val="D97A14"/>
          </a:solidFill>
          <a:ln w="12700">
            <a:solidFill>
              <a:srgbClr val="D97A14"/>
            </a:solidFill>
            <a:prstDash val="solid"/>
          </a:ln>
        </p:spPr>
      </p:sp>
      <p:sp>
        <p:nvSpPr>
          <p:cNvPr id="8" name="Text 6"/>
          <p:cNvSpPr txBox="1"/>
          <p:nvPr/>
        </p:nvSpPr>
        <p:spPr>
          <a:xfrm>
            <a:off x="640080" y="1344168"/>
            <a:ext cx="3767328" cy="434340"/>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stack</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The pile of items on which a script works.</a:t>
            </a:r>
            <a:endParaRPr lang="en-US" sz="1300" dirty="0"/>
          </a:p>
        </p:txBody>
      </p:sp>
      <p:sp>
        <p:nvSpPr>
          <p:cNvPr id="9" name="Text 7"/>
          <p:cNvSpPr txBox="1"/>
          <p:nvPr/>
        </p:nvSpPr>
        <p:spPr>
          <a:xfrm>
            <a:off x="640080" y="1805940"/>
            <a:ext cx="3767328" cy="393192"/>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a spike on a desk where notes are pushed on top.</a:t>
            </a:r>
            <a:endParaRPr lang="en-US" sz="1150" dirty="0"/>
          </a:p>
        </p:txBody>
      </p:sp>
      <p:sp>
        <p:nvSpPr>
          <p:cNvPr id="10" name="Shape 8"/>
          <p:cNvSpPr/>
          <p:nvPr/>
        </p:nvSpPr>
        <p:spPr>
          <a:xfrm>
            <a:off x="4645152" y="1280160"/>
            <a:ext cx="4041648" cy="1161288"/>
          </a:xfrm>
          <a:prstGeom prst="roundRect">
            <a:avLst>
              <a:gd name="adj" fmla="val 6299"/>
            </a:avLst>
          </a:prstGeom>
          <a:solidFill>
            <a:srgbClr val="F2ECE1"/>
          </a:solidFill>
          <a:ln w="12700">
            <a:solidFill>
              <a:srgbClr val="DFD6C7"/>
            </a:solidFill>
            <a:prstDash val="solid"/>
          </a:ln>
        </p:spPr>
      </p:sp>
      <p:sp>
        <p:nvSpPr>
          <p:cNvPr id="11" name="Shape 9"/>
          <p:cNvSpPr/>
          <p:nvPr/>
        </p:nvSpPr>
        <p:spPr>
          <a:xfrm>
            <a:off x="4663440" y="1408176"/>
            <a:ext cx="64008" cy="905256"/>
          </a:xfrm>
          <a:prstGeom prst="rect">
            <a:avLst/>
          </a:prstGeom>
          <a:solidFill>
            <a:srgbClr val="D97A14"/>
          </a:solidFill>
          <a:ln w="12700">
            <a:solidFill>
              <a:srgbClr val="D97A14"/>
            </a:solidFill>
            <a:prstDash val="solid"/>
          </a:ln>
        </p:spPr>
      </p:sp>
      <p:sp>
        <p:nvSpPr>
          <p:cNvPr id="12" name="Text 10"/>
          <p:cNvSpPr txBox="1"/>
          <p:nvPr/>
        </p:nvSpPr>
        <p:spPr>
          <a:xfrm>
            <a:off x="4828032" y="1344168"/>
            <a:ext cx="3767328" cy="612648"/>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Turing complete</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A language that can compute anything given time; Script cannot.</a:t>
            </a:r>
            <a:endParaRPr lang="en-US" sz="1300" dirty="0"/>
          </a:p>
        </p:txBody>
      </p:sp>
      <p:sp>
        <p:nvSpPr>
          <p:cNvPr id="13" name="Text 11"/>
          <p:cNvSpPr txBox="1"/>
          <p:nvPr/>
        </p:nvSpPr>
        <p:spPr>
          <a:xfrm>
            <a:off x="4828032" y="1984248"/>
            <a:ext cx="3767328" cy="393192"/>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a full workshop, where Script offers one screwdriver.</a:t>
            </a:r>
            <a:endParaRPr lang="en-US" sz="1150" dirty="0"/>
          </a:p>
        </p:txBody>
      </p:sp>
      <p:sp>
        <p:nvSpPr>
          <p:cNvPr id="14" name="Shape 12"/>
          <p:cNvSpPr/>
          <p:nvPr/>
        </p:nvSpPr>
        <p:spPr>
          <a:xfrm>
            <a:off x="457200" y="2569464"/>
            <a:ext cx="4041648" cy="1161288"/>
          </a:xfrm>
          <a:prstGeom prst="roundRect">
            <a:avLst>
              <a:gd name="adj" fmla="val 6299"/>
            </a:avLst>
          </a:prstGeom>
          <a:solidFill>
            <a:srgbClr val="F2ECE1"/>
          </a:solidFill>
          <a:ln w="12700">
            <a:solidFill>
              <a:srgbClr val="DFD6C7"/>
            </a:solidFill>
            <a:prstDash val="solid"/>
          </a:ln>
        </p:spPr>
      </p:sp>
      <p:sp>
        <p:nvSpPr>
          <p:cNvPr id="15" name="Shape 13"/>
          <p:cNvSpPr/>
          <p:nvPr/>
        </p:nvSpPr>
        <p:spPr>
          <a:xfrm>
            <a:off x="475488" y="2697480"/>
            <a:ext cx="64008" cy="905256"/>
          </a:xfrm>
          <a:prstGeom prst="rect">
            <a:avLst/>
          </a:prstGeom>
          <a:solidFill>
            <a:srgbClr val="D97A14"/>
          </a:solidFill>
          <a:ln w="12700">
            <a:solidFill>
              <a:srgbClr val="D97A14"/>
            </a:solidFill>
            <a:prstDash val="solid"/>
          </a:ln>
        </p:spPr>
      </p:sp>
      <p:sp>
        <p:nvSpPr>
          <p:cNvPr id="16" name="Text 14"/>
          <p:cNvSpPr txBox="1"/>
          <p:nvPr/>
        </p:nvSpPr>
        <p:spPr>
          <a:xfrm>
            <a:off x="640080" y="2633472"/>
            <a:ext cx="3767328" cy="434340"/>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output script</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The lock that the payer places on a coin.</a:t>
            </a:r>
            <a:endParaRPr lang="en-US" sz="1300" dirty="0"/>
          </a:p>
        </p:txBody>
      </p:sp>
      <p:sp>
        <p:nvSpPr>
          <p:cNvPr id="17" name="Text 15"/>
          <p:cNvSpPr txBox="1"/>
          <p:nvPr/>
        </p:nvSpPr>
        <p:spPr>
          <a:xfrm>
            <a:off x="640080" y="3095244"/>
            <a:ext cx="3767328" cy="393192"/>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the padlock a payer fastens onto a box.</a:t>
            </a:r>
            <a:endParaRPr lang="en-US" sz="1150" dirty="0"/>
          </a:p>
        </p:txBody>
      </p:sp>
      <p:sp>
        <p:nvSpPr>
          <p:cNvPr id="18" name="Shape 16"/>
          <p:cNvSpPr/>
          <p:nvPr/>
        </p:nvSpPr>
        <p:spPr>
          <a:xfrm>
            <a:off x="4645152" y="2569464"/>
            <a:ext cx="4041648" cy="1161288"/>
          </a:xfrm>
          <a:prstGeom prst="roundRect">
            <a:avLst>
              <a:gd name="adj" fmla="val 6299"/>
            </a:avLst>
          </a:prstGeom>
          <a:solidFill>
            <a:srgbClr val="F2ECE1"/>
          </a:solidFill>
          <a:ln w="12700">
            <a:solidFill>
              <a:srgbClr val="DFD6C7"/>
            </a:solidFill>
            <a:prstDash val="solid"/>
          </a:ln>
        </p:spPr>
      </p:sp>
      <p:sp>
        <p:nvSpPr>
          <p:cNvPr id="19" name="Shape 17"/>
          <p:cNvSpPr/>
          <p:nvPr/>
        </p:nvSpPr>
        <p:spPr>
          <a:xfrm>
            <a:off x="4663440" y="2697480"/>
            <a:ext cx="64008" cy="905256"/>
          </a:xfrm>
          <a:prstGeom prst="rect">
            <a:avLst/>
          </a:prstGeom>
          <a:solidFill>
            <a:srgbClr val="D97A14"/>
          </a:solidFill>
          <a:ln w="12700">
            <a:solidFill>
              <a:srgbClr val="D97A14"/>
            </a:solidFill>
            <a:prstDash val="solid"/>
          </a:ln>
        </p:spPr>
      </p:sp>
      <p:sp>
        <p:nvSpPr>
          <p:cNvPr id="20" name="Text 18"/>
          <p:cNvSpPr txBox="1"/>
          <p:nvPr/>
        </p:nvSpPr>
        <p:spPr>
          <a:xfrm>
            <a:off x="4828032" y="2633472"/>
            <a:ext cx="3767328" cy="434340"/>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input script</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The data a spender shows to open the lock.</a:t>
            </a:r>
            <a:endParaRPr lang="en-US" sz="1300" dirty="0"/>
          </a:p>
        </p:txBody>
      </p:sp>
      <p:sp>
        <p:nvSpPr>
          <p:cNvPr id="21" name="Text 19"/>
          <p:cNvSpPr txBox="1"/>
          <p:nvPr/>
        </p:nvSpPr>
        <p:spPr>
          <a:xfrm>
            <a:off x="4828032" y="3095244"/>
            <a:ext cx="3767328" cy="393192"/>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the key that is held up to the padlock.</a:t>
            </a:r>
            <a:endParaRPr lang="en-US" sz="1150" dirty="0"/>
          </a:p>
        </p:txBody>
      </p:sp>
      <p:sp>
        <p:nvSpPr>
          <p:cNvPr id="22" name="Shape 20"/>
          <p:cNvSpPr/>
          <p:nvPr/>
        </p:nvSpPr>
        <p:spPr>
          <a:xfrm>
            <a:off x="457200" y="4636008"/>
            <a:ext cx="91440" cy="310896"/>
          </a:xfrm>
          <a:prstGeom prst="rect">
            <a:avLst/>
          </a:prstGeom>
          <a:solidFill>
            <a:srgbClr val="D97A14"/>
          </a:solidFill>
          <a:ln w="12700">
            <a:solidFill>
              <a:srgbClr val="D97A14"/>
            </a:solidFill>
            <a:prstDash val="solid"/>
          </a:ln>
        </p:spPr>
      </p:sp>
      <p:sp>
        <p:nvSpPr>
          <p:cNvPr id="23" name="Text 21"/>
          <p:cNvSpPr txBox="1"/>
          <p:nvPr/>
        </p:nvSpPr>
        <p:spPr>
          <a:xfrm>
            <a:off x="658368" y="4599432"/>
            <a:ext cx="6949440" cy="384048"/>
          </a:xfrm>
          <a:prstGeom prst="rect">
            <a:avLst/>
          </a:prstGeom>
          <a:noFill/>
          <a:ln/>
        </p:spPr>
        <p:txBody>
          <a:bodyPr wrap="square" lIns="0" tIns="0" rIns="0" bIns="0" rtlCol="0" anchor="ctr"/>
          <a:lstStyle/>
          <a:p>
            <a:pPr indent="0" marL="0">
              <a:buNone/>
            </a:pPr>
            <a:r>
              <a:rPr lang="en-US" sz="1350" b="1" i="1" dirty="0">
                <a:solidFill>
                  <a:srgbClr val="2B2622"/>
                </a:solidFill>
                <a:latin typeface="Cambria" pitchFamily="34" charset="0"/>
                <a:ea typeface="Cambria" pitchFamily="34" charset="-122"/>
                <a:cs typeface="Cambria" pitchFamily="34" charset="-120"/>
              </a:rPr>
              <a:t>Say each idea twice: once as the meaning, once as the everyday comparison</a:t>
            </a:r>
            <a:endParaRPr lang="en-US" sz="1350" dirty="0"/>
          </a:p>
        </p:txBody>
      </p:sp>
      <p:sp>
        <p:nvSpPr>
          <p:cNvPr id="24" name="Text 22"/>
          <p:cNvSpPr txBox="1"/>
          <p:nvPr/>
        </p:nvSpPr>
        <p:spPr>
          <a:xfrm>
            <a:off x="7863840" y="4645152"/>
            <a:ext cx="868680" cy="310896"/>
          </a:xfrm>
          <a:prstGeom prst="rect">
            <a:avLst/>
          </a:prstGeom>
          <a:noFill/>
          <a:ln/>
        </p:spPr>
        <p:txBody>
          <a:bodyPr wrap="square" lIns="0" tIns="0" rIns="0" bIns="0" rtlCol="0" anchor="ctr"/>
          <a:lstStyle/>
          <a:p>
            <a:pPr algn="r" indent="0" marL="0">
              <a:buNone/>
            </a:pPr>
            <a:r>
              <a:rPr lang="en-US" sz="1100" dirty="0">
                <a:solidFill>
                  <a:srgbClr val="6E655C"/>
                </a:solidFill>
                <a:latin typeface="Calibri" pitchFamily="34" charset="0"/>
                <a:ea typeface="Calibri" pitchFamily="34" charset="-122"/>
                <a:cs typeface="Calibri" pitchFamily="34" charset="-120"/>
              </a:rPr>
              <a:t>11 / 61</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6EF"/>
        </a:solidFill>
      </p:bgPr>
    </p:bg>
    <p:spTree>
      <p:nvGrpSpPr>
        <p:cNvPr id="1" name=""/>
        <p:cNvGrpSpPr/>
        <p:nvPr/>
      </p:nvGrpSpPr>
      <p:grpSpPr>
        <a:xfrm>
          <a:off x="0" y="0"/>
          <a:ext cx="0" cy="0"/>
          <a:chOff x="0" y="0"/>
          <a:chExt cx="0" cy="0"/>
        </a:xfrm>
      </p:grpSpPr>
      <p:sp>
        <p:nvSpPr>
          <p:cNvPr id="2" name="Shape 0"/>
          <p:cNvSpPr/>
          <p:nvPr/>
        </p:nvSpPr>
        <p:spPr>
          <a:xfrm>
            <a:off x="457200" y="347472"/>
            <a:ext cx="566928" cy="384048"/>
          </a:xfrm>
          <a:prstGeom prst="roundRect">
            <a:avLst>
              <a:gd name="adj" fmla="val 19048"/>
            </a:avLst>
          </a:prstGeom>
          <a:solidFill>
            <a:srgbClr val="D97A14"/>
          </a:solidFill>
          <a:ln w="12700">
            <a:solidFill>
              <a:srgbClr val="D97A14"/>
            </a:solidFill>
            <a:prstDash val="solid"/>
          </a:ln>
        </p:spPr>
      </p:sp>
      <p:sp>
        <p:nvSpPr>
          <p:cNvPr id="3" name="Text 1"/>
          <p:cNvSpPr txBox="1"/>
          <p:nvPr/>
        </p:nvSpPr>
        <p:spPr>
          <a:xfrm>
            <a:off x="457200" y="347472"/>
            <a:ext cx="56692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4" name="Text 2"/>
          <p:cNvSpPr txBox="1"/>
          <p:nvPr/>
        </p:nvSpPr>
        <p:spPr>
          <a:xfrm>
            <a:off x="1143000" y="237744"/>
            <a:ext cx="7543800" cy="566928"/>
          </a:xfrm>
          <a:prstGeom prst="rect">
            <a:avLst/>
          </a:prstGeom>
          <a:noFill/>
          <a:ln/>
        </p:spPr>
        <p:txBody>
          <a:bodyPr wrap="square" lIns="0" tIns="0" rIns="0" bIns="0" rtlCol="0" anchor="ctr"/>
          <a:lstStyle/>
          <a:p>
            <a:pPr indent="0" marL="0">
              <a:buNone/>
            </a:pPr>
            <a:r>
              <a:rPr lang="en-US" sz="2500" b="1" dirty="0">
                <a:solidFill>
                  <a:srgbClr val="2B2622"/>
                </a:solidFill>
                <a:latin typeface="Cambria" pitchFamily="34" charset="0"/>
                <a:ea typeface="Cambria" pitchFamily="34" charset="-122"/>
                <a:cs typeface="Cambria" pitchFamily="34" charset="-120"/>
              </a:rPr>
              <a:t>Scripts and the Script language (4 of 4)</a:t>
            </a:r>
            <a:endParaRPr lang="en-US" sz="2500" dirty="0"/>
          </a:p>
        </p:txBody>
      </p:sp>
      <p:sp>
        <p:nvSpPr>
          <p:cNvPr id="5" name="Text 3"/>
          <p:cNvSpPr txBox="1"/>
          <p:nvPr/>
        </p:nvSpPr>
        <p:spPr>
          <a:xfrm>
            <a:off x="1143000" y="786384"/>
            <a:ext cx="7543800" cy="310896"/>
          </a:xfrm>
          <a:prstGeom prst="rect">
            <a:avLst/>
          </a:prstGeom>
          <a:noFill/>
          <a:ln/>
        </p:spPr>
        <p:txBody>
          <a:bodyPr wrap="square" lIns="0" tIns="0" rIns="0" bIns="0" rtlCol="0" anchor="ctr"/>
          <a:lstStyle/>
          <a:p>
            <a:pPr indent="0" marL="0">
              <a:buNone/>
            </a:pPr>
            <a:r>
              <a:rPr lang="en-US" sz="1300" i="1" dirty="0">
                <a:solidFill>
                  <a:srgbClr val="6E655C"/>
                </a:solidFill>
                <a:latin typeface="Calibri" pitchFamily="34" charset="0"/>
                <a:ea typeface="Calibri" pitchFamily="34" charset="-122"/>
                <a:cs typeface="Calibri" pitchFamily="34" charset="-120"/>
              </a:rPr>
              <a:t>Each card: the meaning in a few words, then something you already know</a:t>
            </a:r>
            <a:endParaRPr lang="en-US" sz="1300" dirty="0"/>
          </a:p>
        </p:txBody>
      </p:sp>
      <p:sp>
        <p:nvSpPr>
          <p:cNvPr id="6" name="Shape 4"/>
          <p:cNvSpPr/>
          <p:nvPr/>
        </p:nvSpPr>
        <p:spPr>
          <a:xfrm>
            <a:off x="457200" y="1280160"/>
            <a:ext cx="4041648" cy="1097280"/>
          </a:xfrm>
          <a:prstGeom prst="roundRect">
            <a:avLst>
              <a:gd name="adj" fmla="val 6667"/>
            </a:avLst>
          </a:prstGeom>
          <a:solidFill>
            <a:srgbClr val="F2ECE1"/>
          </a:solidFill>
          <a:ln w="12700">
            <a:solidFill>
              <a:srgbClr val="DFD6C7"/>
            </a:solidFill>
            <a:prstDash val="solid"/>
          </a:ln>
        </p:spPr>
      </p:sp>
      <p:sp>
        <p:nvSpPr>
          <p:cNvPr id="7" name="Shape 5"/>
          <p:cNvSpPr/>
          <p:nvPr/>
        </p:nvSpPr>
        <p:spPr>
          <a:xfrm>
            <a:off x="475488" y="1408176"/>
            <a:ext cx="64008" cy="841248"/>
          </a:xfrm>
          <a:prstGeom prst="rect">
            <a:avLst/>
          </a:prstGeom>
          <a:solidFill>
            <a:srgbClr val="D97A14"/>
          </a:solidFill>
          <a:ln w="12700">
            <a:solidFill>
              <a:srgbClr val="D97A14"/>
            </a:solidFill>
            <a:prstDash val="solid"/>
          </a:ln>
        </p:spPr>
      </p:sp>
      <p:sp>
        <p:nvSpPr>
          <p:cNvPr id="8" name="Text 6"/>
          <p:cNvSpPr txBox="1"/>
          <p:nvPr/>
        </p:nvSpPr>
        <p:spPr>
          <a:xfrm>
            <a:off x="640080" y="1344168"/>
            <a:ext cx="3767328" cy="434340"/>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scriptSig</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The older name of the input script.</a:t>
            </a:r>
            <a:endParaRPr lang="en-US" sz="1300" dirty="0"/>
          </a:p>
        </p:txBody>
      </p:sp>
      <p:sp>
        <p:nvSpPr>
          <p:cNvPr id="9" name="Text 7"/>
          <p:cNvSpPr txBox="1"/>
          <p:nvPr/>
        </p:nvSpPr>
        <p:spPr>
          <a:xfrm>
            <a:off x="640080" y="1805940"/>
            <a:ext cx="3767328" cy="393192"/>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the signature card that is presented at the counter.</a:t>
            </a:r>
            <a:endParaRPr lang="en-US" sz="1150" dirty="0"/>
          </a:p>
        </p:txBody>
      </p:sp>
      <p:sp>
        <p:nvSpPr>
          <p:cNvPr id="10" name="Shape 8"/>
          <p:cNvSpPr/>
          <p:nvPr/>
        </p:nvSpPr>
        <p:spPr>
          <a:xfrm>
            <a:off x="4645152" y="1280160"/>
            <a:ext cx="4041648" cy="1097280"/>
          </a:xfrm>
          <a:prstGeom prst="roundRect">
            <a:avLst>
              <a:gd name="adj" fmla="val 6667"/>
            </a:avLst>
          </a:prstGeom>
          <a:solidFill>
            <a:srgbClr val="F2ECE1"/>
          </a:solidFill>
          <a:ln w="12700">
            <a:solidFill>
              <a:srgbClr val="DFD6C7"/>
            </a:solidFill>
            <a:prstDash val="solid"/>
          </a:ln>
        </p:spPr>
      </p:sp>
      <p:sp>
        <p:nvSpPr>
          <p:cNvPr id="11" name="Shape 9"/>
          <p:cNvSpPr/>
          <p:nvPr/>
        </p:nvSpPr>
        <p:spPr>
          <a:xfrm>
            <a:off x="4663440" y="1408176"/>
            <a:ext cx="64008" cy="841248"/>
          </a:xfrm>
          <a:prstGeom prst="rect">
            <a:avLst/>
          </a:prstGeom>
          <a:solidFill>
            <a:srgbClr val="D97A14"/>
          </a:solidFill>
          <a:ln w="12700">
            <a:solidFill>
              <a:srgbClr val="D97A14"/>
            </a:solidFill>
            <a:prstDash val="solid"/>
          </a:ln>
        </p:spPr>
      </p:sp>
      <p:sp>
        <p:nvSpPr>
          <p:cNvPr id="12" name="Text 10"/>
          <p:cNvSpPr txBox="1"/>
          <p:nvPr/>
        </p:nvSpPr>
        <p:spPr>
          <a:xfrm>
            <a:off x="4828032" y="1344168"/>
            <a:ext cx="3767328" cy="434340"/>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scriptPubKey</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The older name of the output script.</a:t>
            </a:r>
            <a:endParaRPr lang="en-US" sz="1300" dirty="0"/>
          </a:p>
        </p:txBody>
      </p:sp>
      <p:sp>
        <p:nvSpPr>
          <p:cNvPr id="13" name="Text 11"/>
          <p:cNvSpPr txBox="1"/>
          <p:nvPr/>
        </p:nvSpPr>
        <p:spPr>
          <a:xfrm>
            <a:off x="4828032" y="1805940"/>
            <a:ext cx="3767328" cy="393192"/>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the plate on a mailbox that says who may open it.</a:t>
            </a:r>
            <a:endParaRPr lang="en-US" sz="1150" dirty="0"/>
          </a:p>
        </p:txBody>
      </p:sp>
      <p:sp>
        <p:nvSpPr>
          <p:cNvPr id="14" name="Shape 12"/>
          <p:cNvSpPr/>
          <p:nvPr/>
        </p:nvSpPr>
        <p:spPr>
          <a:xfrm>
            <a:off x="457200" y="4636008"/>
            <a:ext cx="91440" cy="310896"/>
          </a:xfrm>
          <a:prstGeom prst="rect">
            <a:avLst/>
          </a:prstGeom>
          <a:solidFill>
            <a:srgbClr val="D97A14"/>
          </a:solidFill>
          <a:ln w="12700">
            <a:solidFill>
              <a:srgbClr val="D97A14"/>
            </a:solidFill>
            <a:prstDash val="solid"/>
          </a:ln>
        </p:spPr>
      </p:sp>
      <p:sp>
        <p:nvSpPr>
          <p:cNvPr id="15" name="Text 13"/>
          <p:cNvSpPr txBox="1"/>
          <p:nvPr/>
        </p:nvSpPr>
        <p:spPr>
          <a:xfrm>
            <a:off x="658368" y="4599432"/>
            <a:ext cx="6949440" cy="384048"/>
          </a:xfrm>
          <a:prstGeom prst="rect">
            <a:avLst/>
          </a:prstGeom>
          <a:noFill/>
          <a:ln/>
        </p:spPr>
        <p:txBody>
          <a:bodyPr wrap="square" lIns="0" tIns="0" rIns="0" bIns="0" rtlCol="0" anchor="ctr"/>
          <a:lstStyle/>
          <a:p>
            <a:pPr indent="0" marL="0">
              <a:buNone/>
            </a:pPr>
            <a:r>
              <a:rPr lang="en-US" sz="1350" b="1" i="1" dirty="0">
                <a:solidFill>
                  <a:srgbClr val="2B2622"/>
                </a:solidFill>
                <a:latin typeface="Cambria" pitchFamily="34" charset="0"/>
                <a:ea typeface="Cambria" pitchFamily="34" charset="-122"/>
                <a:cs typeface="Cambria" pitchFamily="34" charset="-120"/>
              </a:rPr>
              <a:t>Say each idea twice: once as the meaning, once as the everyday comparison</a:t>
            </a:r>
            <a:endParaRPr lang="en-US" sz="1350" dirty="0"/>
          </a:p>
        </p:txBody>
      </p:sp>
      <p:sp>
        <p:nvSpPr>
          <p:cNvPr id="16" name="Text 14"/>
          <p:cNvSpPr txBox="1"/>
          <p:nvPr/>
        </p:nvSpPr>
        <p:spPr>
          <a:xfrm>
            <a:off x="7863840" y="4645152"/>
            <a:ext cx="868680" cy="310896"/>
          </a:xfrm>
          <a:prstGeom prst="rect">
            <a:avLst/>
          </a:prstGeom>
          <a:noFill/>
          <a:ln/>
        </p:spPr>
        <p:txBody>
          <a:bodyPr wrap="square" lIns="0" tIns="0" rIns="0" bIns="0" rtlCol="0" anchor="ctr"/>
          <a:lstStyle/>
          <a:p>
            <a:pPr algn="r" indent="0" marL="0">
              <a:buNone/>
            </a:pPr>
            <a:r>
              <a:rPr lang="en-US" sz="1100" dirty="0">
                <a:solidFill>
                  <a:srgbClr val="6E655C"/>
                </a:solidFill>
                <a:latin typeface="Calibri" pitchFamily="34" charset="0"/>
                <a:ea typeface="Calibri" pitchFamily="34" charset="-122"/>
                <a:cs typeface="Calibri" pitchFamily="34" charset="-120"/>
              </a:rPr>
              <a:t>12 / 61</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6EF"/>
        </a:solidFill>
      </p:bgPr>
    </p:bg>
    <p:spTree>
      <p:nvGrpSpPr>
        <p:cNvPr id="1" name=""/>
        <p:cNvGrpSpPr/>
        <p:nvPr/>
      </p:nvGrpSpPr>
      <p:grpSpPr>
        <a:xfrm>
          <a:off x="0" y="0"/>
          <a:ext cx="0" cy="0"/>
          <a:chOff x="0" y="0"/>
          <a:chExt cx="0" cy="0"/>
        </a:xfrm>
      </p:grpSpPr>
      <p:sp>
        <p:nvSpPr>
          <p:cNvPr id="2" name="Shape 0"/>
          <p:cNvSpPr/>
          <p:nvPr/>
        </p:nvSpPr>
        <p:spPr>
          <a:xfrm>
            <a:off x="0" y="0"/>
            <a:ext cx="9144000" cy="219456"/>
          </a:xfrm>
          <a:prstGeom prst="rect">
            <a:avLst/>
          </a:prstGeom>
          <a:solidFill>
            <a:srgbClr val="D97A14"/>
          </a:solidFill>
          <a:ln w="12700">
            <a:solidFill>
              <a:srgbClr val="D97A14"/>
            </a:solidFill>
            <a:prstDash val="solid"/>
          </a:ln>
        </p:spPr>
      </p:sp>
      <p:sp>
        <p:nvSpPr>
          <p:cNvPr id="3" name="Shape 1"/>
          <p:cNvSpPr/>
          <p:nvPr/>
        </p:nvSpPr>
        <p:spPr>
          <a:xfrm>
            <a:off x="457200" y="960120"/>
            <a:ext cx="128016" cy="1417320"/>
          </a:xfrm>
          <a:prstGeom prst="rect">
            <a:avLst/>
          </a:prstGeom>
          <a:solidFill>
            <a:srgbClr val="D97A14"/>
          </a:solidFill>
          <a:ln w="12700">
            <a:solidFill>
              <a:srgbClr val="D97A14"/>
            </a:solidFill>
            <a:prstDash val="solid"/>
          </a:ln>
        </p:spPr>
      </p:sp>
      <p:sp>
        <p:nvSpPr>
          <p:cNvPr id="4" name="Text 2"/>
          <p:cNvSpPr txBox="1"/>
          <p:nvPr/>
        </p:nvSpPr>
        <p:spPr>
          <a:xfrm>
            <a:off x="777240" y="932688"/>
            <a:ext cx="7863840" cy="658368"/>
          </a:xfrm>
          <a:prstGeom prst="rect">
            <a:avLst/>
          </a:prstGeom>
          <a:noFill/>
          <a:ln/>
        </p:spPr>
        <p:txBody>
          <a:bodyPr wrap="square" lIns="0" tIns="0" rIns="0" bIns="0" rtlCol="0" anchor="ctr"/>
          <a:lstStyle/>
          <a:p>
            <a:pPr indent="0" marL="0">
              <a:buNone/>
            </a:pPr>
            <a:r>
              <a:rPr lang="en-US" sz="3200" b="1" dirty="0">
                <a:solidFill>
                  <a:srgbClr val="2B2622"/>
                </a:solidFill>
                <a:latin typeface="Cambria" pitchFamily="34" charset="0"/>
                <a:ea typeface="Cambria" pitchFamily="34" charset="-122"/>
                <a:cs typeface="Cambria" pitchFamily="34" charset="-120"/>
              </a:rPr>
              <a:t>Locking a coin to a key</a:t>
            </a:r>
            <a:endParaRPr lang="en-US" sz="3200" dirty="0"/>
          </a:p>
        </p:txBody>
      </p:sp>
      <p:sp>
        <p:nvSpPr>
          <p:cNvPr id="5" name="Text 3"/>
          <p:cNvSpPr txBox="1"/>
          <p:nvPr/>
        </p:nvSpPr>
        <p:spPr>
          <a:xfrm>
            <a:off x="777240" y="1645920"/>
            <a:ext cx="7863840" cy="384048"/>
          </a:xfrm>
          <a:prstGeom prst="rect">
            <a:avLst/>
          </a:prstGeom>
          <a:noFill/>
          <a:ln/>
        </p:spPr>
        <p:txBody>
          <a:bodyPr wrap="square" lIns="0" tIns="0" rIns="0" bIns="0" rtlCol="0" anchor="t"/>
          <a:lstStyle/>
          <a:p>
            <a:pPr indent="0" marL="0">
              <a:buNone/>
            </a:pPr>
            <a:r>
              <a:rPr lang="en-US" sz="1500" i="1" dirty="0">
                <a:solidFill>
                  <a:srgbClr val="2F6D62"/>
                </a:solidFill>
                <a:latin typeface="Calibri" pitchFamily="34" charset="0"/>
                <a:ea typeface="Calibri" pitchFamily="34" charset="-122"/>
                <a:cs typeface="Calibri" pitchFamily="34" charset="-120"/>
              </a:rPr>
              <a:t>A key lock is a safe-deposit box labelled with a fingerprint.</a:t>
            </a:r>
            <a:endParaRPr lang="en-US" sz="1500" dirty="0"/>
          </a:p>
        </p:txBody>
      </p:sp>
      <p:sp>
        <p:nvSpPr>
          <p:cNvPr id="6" name="Shape 4"/>
          <p:cNvSpPr/>
          <p:nvPr/>
        </p:nvSpPr>
        <p:spPr>
          <a:xfrm>
            <a:off x="777240" y="2103120"/>
            <a:ext cx="3840480" cy="310896"/>
          </a:xfrm>
          <a:prstGeom prst="roundRect">
            <a:avLst>
              <a:gd name="adj" fmla="val 50000"/>
            </a:avLst>
          </a:prstGeom>
          <a:solidFill>
            <a:srgbClr val="D97A14"/>
          </a:solidFill>
          <a:ln w="12700">
            <a:solidFill>
              <a:srgbClr val="D97A14"/>
            </a:solidFill>
            <a:prstDash val="solid"/>
          </a:ln>
        </p:spPr>
      </p:sp>
      <p:sp>
        <p:nvSpPr>
          <p:cNvPr id="7" name="Text 5"/>
          <p:cNvSpPr txBox="1"/>
          <p:nvPr/>
        </p:nvSpPr>
        <p:spPr>
          <a:xfrm>
            <a:off x="850392" y="2103120"/>
            <a:ext cx="369417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Key and key hash</a:t>
            </a:r>
            <a:endParaRPr lang="en-US" sz="1200" dirty="0"/>
          </a:p>
        </p:txBody>
      </p:sp>
      <p:sp>
        <p:nvSpPr>
          <p:cNvPr id="8" name="Text 6"/>
          <p:cNvSpPr txBox="1"/>
          <p:nvPr/>
        </p:nvSpPr>
        <p:spPr>
          <a:xfrm>
            <a:off x="777240" y="2487168"/>
            <a:ext cx="3840480" cy="393192"/>
          </a:xfrm>
          <a:prstGeom prst="rect">
            <a:avLst/>
          </a:prstGeom>
          <a:noFill/>
          <a:ln/>
        </p:spPr>
        <p:txBody>
          <a:bodyPr wrap="square" lIns="0" tIns="0" rIns="0" bIns="0" rtlCol="0" anchor="t"/>
          <a:lstStyle/>
          <a:p>
            <a:pPr indent="0" marL="0">
              <a:buNone/>
            </a:pPr>
            <a:r>
              <a:rPr lang="en-US" sz="1150" dirty="0">
                <a:solidFill>
                  <a:srgbClr val="2B2622"/>
                </a:solidFill>
                <a:latin typeface="Calibri" pitchFamily="34" charset="0"/>
                <a:ea typeface="Calibri" pitchFamily="34" charset="-122"/>
                <a:cs typeface="Calibri" pitchFamily="34" charset="-120"/>
              </a:rPr>
              <a:t>How a coin is locked to a key, or to the hash of a key.</a:t>
            </a:r>
            <a:endParaRPr lang="en-US" sz="1150" dirty="0"/>
          </a:p>
        </p:txBody>
      </p:sp>
      <p:sp>
        <p:nvSpPr>
          <p:cNvPr id="9" name="Text 7"/>
          <p:cNvSpPr txBox="1"/>
          <p:nvPr/>
        </p:nvSpPr>
        <p:spPr>
          <a:xfrm>
            <a:off x="777240" y="2907792"/>
            <a:ext cx="3840480" cy="393192"/>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locking a door with the fingerprint of the key.</a:t>
            </a:r>
            <a:endParaRPr lang="en-US" sz="1150" dirty="0"/>
          </a:p>
        </p:txBody>
      </p:sp>
      <p:sp>
        <p:nvSpPr>
          <p:cNvPr id="10" name="Shape 8"/>
          <p:cNvSpPr/>
          <p:nvPr/>
        </p:nvSpPr>
        <p:spPr>
          <a:xfrm>
            <a:off x="4800600" y="2103120"/>
            <a:ext cx="3840480" cy="310896"/>
          </a:xfrm>
          <a:prstGeom prst="roundRect">
            <a:avLst>
              <a:gd name="adj" fmla="val 50000"/>
            </a:avLst>
          </a:prstGeom>
          <a:solidFill>
            <a:srgbClr val="D97A14"/>
          </a:solidFill>
          <a:ln w="12700">
            <a:solidFill>
              <a:srgbClr val="D97A14"/>
            </a:solidFill>
            <a:prstDash val="solid"/>
          </a:ln>
        </p:spPr>
      </p:sp>
      <p:sp>
        <p:nvSpPr>
          <p:cNvPr id="11" name="Text 9"/>
          <p:cNvSpPr txBox="1"/>
          <p:nvPr/>
        </p:nvSpPr>
        <p:spPr>
          <a:xfrm>
            <a:off x="4873752" y="2103120"/>
            <a:ext cx="369417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Checking signatures</a:t>
            </a:r>
            <a:endParaRPr lang="en-US" sz="1200" dirty="0"/>
          </a:p>
        </p:txBody>
      </p:sp>
      <p:sp>
        <p:nvSpPr>
          <p:cNvPr id="12" name="Text 10"/>
          <p:cNvSpPr txBox="1"/>
          <p:nvPr/>
        </p:nvSpPr>
        <p:spPr>
          <a:xfrm>
            <a:off x="4800600" y="2487168"/>
            <a:ext cx="3840480" cy="393192"/>
          </a:xfrm>
          <a:prstGeom prst="rect">
            <a:avLst/>
          </a:prstGeom>
          <a:noFill/>
          <a:ln/>
        </p:spPr>
        <p:txBody>
          <a:bodyPr wrap="square" lIns="0" tIns="0" rIns="0" bIns="0" rtlCol="0" anchor="t"/>
          <a:lstStyle/>
          <a:p>
            <a:pPr indent="0" marL="0">
              <a:buNone/>
            </a:pPr>
            <a:r>
              <a:rPr lang="en-US" sz="1150" dirty="0">
                <a:solidFill>
                  <a:srgbClr val="2B2622"/>
                </a:solidFill>
                <a:latin typeface="Calibri" pitchFamily="34" charset="0"/>
                <a:ea typeface="Calibri" pitchFamily="34" charset="-122"/>
                <a:cs typeface="Calibri" pitchFamily="34" charset="-120"/>
              </a:rPr>
              <a:t>How a signature is tied to the transaction and written down.</a:t>
            </a:r>
            <a:endParaRPr lang="en-US" sz="1150" dirty="0"/>
          </a:p>
        </p:txBody>
      </p:sp>
      <p:sp>
        <p:nvSpPr>
          <p:cNvPr id="13" name="Text 11"/>
          <p:cNvSpPr txBox="1"/>
          <p:nvPr/>
        </p:nvSpPr>
        <p:spPr>
          <a:xfrm>
            <a:off x="4800600" y="2907792"/>
            <a:ext cx="3840480" cy="393192"/>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a cashier comparing your signature with your card.</a:t>
            </a:r>
            <a:endParaRPr lang="en-US" sz="11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777240" y="3950208"/>
          <a:ext cx="7863840" cy="914400"/>
        </p:xfrm>
        <a:graphic>
          <a:graphicData uri="http://schemas.openxmlformats.org/drawingml/2006/table">
            <a:tbl>
              <a:tblPr/>
              <a:tblGrid>
                <a:gridCol w="874166"/>
                <a:gridCol w="874166"/>
                <a:gridCol w="874166"/>
                <a:gridCol w="874166"/>
                <a:gridCol w="874166"/>
                <a:gridCol w="874166"/>
                <a:gridCol w="874166"/>
                <a:gridCol w="874166"/>
                <a:gridCol w="874166"/>
              </a:tblGrid>
              <a:tr h="365760">
                <a:tc>
                  <a:txBody>
                    <a:bodyPr/>
                    <a:lstStyle/>
                    <a:p>
                      <a:pPr algn="ctr" indent="0" marL="0">
                        <a:buNone/>
                      </a:pPr>
                      <a:r>
                        <a:rPr lang="en-US" sz="1000" dirty="0">
                          <a:solidFill>
                            <a:srgbClr val="2B2622"/>
                          </a:solidFill>
                          <a:latin typeface="Calibri" pitchFamily="34" charset="0"/>
                          <a:ea typeface="Calibri" pitchFamily="34" charset="-122"/>
                          <a:cs typeface="Calibri" pitchFamily="34" charset="-120"/>
                        </a:rPr>
                        <a:t>Language</a:t>
                      </a:r>
                      <a:endParaRPr lang="en-US" sz="10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ECE1"/>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Keys</a:t>
                      </a:r>
                      <a:endParaRPr lang="en-US" sz="10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97A14"/>
                    </a:solidFill>
                  </a:tcPr>
                </a:tc>
                <a:tc>
                  <a:txBody>
                    <a:bodyPr/>
                    <a:lstStyle/>
                    <a:p>
                      <a:pPr algn="ctr" indent="0" marL="0">
                        <a:buNone/>
                      </a:pPr>
                      <a:r>
                        <a:rPr lang="en-US" sz="1000" dirty="0">
                          <a:solidFill>
                            <a:srgbClr val="2B2622"/>
                          </a:solidFill>
                          <a:latin typeface="Calibri" pitchFamily="34" charset="0"/>
                          <a:ea typeface="Calibri" pitchFamily="34" charset="-122"/>
                          <a:cs typeface="Calibri" pitchFamily="34" charset="-120"/>
                        </a:rPr>
                        <a:t>Multisig</a:t>
                      </a:r>
                      <a:endParaRPr lang="en-US" sz="10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ECE1"/>
                    </a:solidFill>
                  </a:tcPr>
                </a:tc>
                <a:tc>
                  <a:txBody>
                    <a:bodyPr/>
                    <a:lstStyle/>
                    <a:p>
                      <a:pPr algn="ctr" indent="0" marL="0">
                        <a:buNone/>
                      </a:pPr>
                      <a:r>
                        <a:rPr lang="en-US" sz="1000" dirty="0">
                          <a:solidFill>
                            <a:srgbClr val="2B2622"/>
                          </a:solidFill>
                          <a:latin typeface="Calibri" pitchFamily="34" charset="0"/>
                          <a:ea typeface="Calibri" pitchFamily="34" charset="-122"/>
                          <a:cs typeface="Calibri" pitchFamily="34" charset="-120"/>
                        </a:rPr>
                        <a:t>P2SH</a:t>
                      </a:r>
                      <a:endParaRPr lang="en-US" sz="10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ECE1"/>
                    </a:solidFill>
                  </a:tcPr>
                </a:tc>
                <a:tc>
                  <a:txBody>
                    <a:bodyPr/>
                    <a:lstStyle/>
                    <a:p>
                      <a:pPr algn="ctr" indent="0" marL="0">
                        <a:buNone/>
                      </a:pPr>
                      <a:r>
                        <a:rPr lang="en-US" sz="1000" dirty="0">
                          <a:solidFill>
                            <a:srgbClr val="2B2622"/>
                          </a:solidFill>
                          <a:latin typeface="Calibri" pitchFamily="34" charset="0"/>
                          <a:ea typeface="Calibri" pitchFamily="34" charset="-122"/>
                          <a:cs typeface="Calibri" pitchFamily="34" charset="-120"/>
                        </a:rPr>
                        <a:t>Time</a:t>
                      </a:r>
                      <a:endParaRPr lang="en-US" sz="10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ECE1"/>
                    </a:solidFill>
                  </a:tcPr>
                </a:tc>
                <a:tc>
                  <a:txBody>
                    <a:bodyPr/>
                    <a:lstStyle/>
                    <a:p>
                      <a:pPr algn="ctr" indent="0" marL="0">
                        <a:buNone/>
                      </a:pPr>
                      <a:r>
                        <a:rPr lang="en-US" sz="1000" dirty="0">
                          <a:solidFill>
                            <a:srgbClr val="2B2622"/>
                          </a:solidFill>
                          <a:latin typeface="Calibri" pitchFamily="34" charset="0"/>
                          <a:ea typeface="Calibri" pitchFamily="34" charset="-122"/>
                          <a:cs typeface="Calibri" pitchFamily="34" charset="-120"/>
                        </a:rPr>
                        <a:t>Flow</a:t>
                      </a:r>
                      <a:endParaRPr lang="en-US" sz="10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ECE1"/>
                    </a:solidFill>
                  </a:tcPr>
                </a:tc>
                <a:tc>
                  <a:txBody>
                    <a:bodyPr/>
                    <a:lstStyle/>
                    <a:p>
                      <a:pPr algn="ctr" indent="0" marL="0">
                        <a:buNone/>
                      </a:pPr>
                      <a:r>
                        <a:rPr lang="en-US" sz="1000" dirty="0">
                          <a:solidFill>
                            <a:srgbClr val="2B2622"/>
                          </a:solidFill>
                          <a:latin typeface="Calibri" pitchFamily="34" charset="0"/>
                          <a:ea typeface="Calibri" pitchFamily="34" charset="-122"/>
                          <a:cs typeface="Calibri" pitchFamily="34" charset="-120"/>
                        </a:rPr>
                        <a:t>Segwit</a:t>
                      </a:r>
                      <a:endParaRPr lang="en-US" sz="10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ECE1"/>
                    </a:solidFill>
                  </a:tcPr>
                </a:tc>
                <a:tc>
                  <a:txBody>
                    <a:bodyPr/>
                    <a:lstStyle/>
                    <a:p>
                      <a:pPr algn="ctr" indent="0" marL="0">
                        <a:buNone/>
                      </a:pPr>
                      <a:r>
                        <a:rPr lang="en-US" sz="1000" dirty="0">
                          <a:solidFill>
                            <a:srgbClr val="2B2622"/>
                          </a:solidFill>
                          <a:latin typeface="Calibri" pitchFamily="34" charset="0"/>
                          <a:ea typeface="Calibri" pitchFamily="34" charset="-122"/>
                          <a:cs typeface="Calibri" pitchFamily="34" charset="-120"/>
                        </a:rPr>
                        <a:t>Trees</a:t>
                      </a:r>
                      <a:endParaRPr lang="en-US" sz="10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ECE1"/>
                    </a:solidFill>
                  </a:tcPr>
                </a:tc>
                <a:tc>
                  <a:txBody>
                    <a:bodyPr/>
                    <a:lstStyle/>
                    <a:p>
                      <a:pPr algn="ctr" indent="0" marL="0">
                        <a:buNone/>
                      </a:pPr>
                      <a:r>
                        <a:rPr lang="en-US" sz="1000" dirty="0">
                          <a:solidFill>
                            <a:srgbClr val="2B2622"/>
                          </a:solidFill>
                          <a:latin typeface="Calibri" pitchFamily="34" charset="0"/>
                          <a:ea typeface="Calibri" pitchFamily="34" charset="-122"/>
                          <a:cs typeface="Calibri" pitchFamily="34" charset="-120"/>
                        </a:rPr>
                        <a:t>Taproot</a:t>
                      </a:r>
                      <a:endParaRPr lang="en-US" sz="10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ECE1"/>
                    </a:solidFill>
                  </a:tcPr>
                </a:tc>
              </a:tr>
            </a:tbl>
          </a:graphicData>
        </a:graphic>
      </p:graphicFrame>
      <p:sp>
        <p:nvSpPr>
          <p:cNvPr id="15" name="Text 12"/>
          <p:cNvSpPr txBox="1"/>
          <p:nvPr/>
        </p:nvSpPr>
        <p:spPr>
          <a:xfrm>
            <a:off x="7863840" y="4645152"/>
            <a:ext cx="868680" cy="310896"/>
          </a:xfrm>
          <a:prstGeom prst="rect">
            <a:avLst/>
          </a:prstGeom>
          <a:noFill/>
          <a:ln/>
        </p:spPr>
        <p:txBody>
          <a:bodyPr wrap="square" lIns="0" tIns="0" rIns="0" bIns="0" rtlCol="0" anchor="ctr"/>
          <a:lstStyle/>
          <a:p>
            <a:pPr algn="r" indent="0" marL="0">
              <a:buNone/>
            </a:pPr>
            <a:r>
              <a:rPr lang="en-US" sz="1100" dirty="0">
                <a:solidFill>
                  <a:srgbClr val="6E655C"/>
                </a:solidFill>
                <a:latin typeface="Calibri" pitchFamily="34" charset="0"/>
                <a:ea typeface="Calibri" pitchFamily="34" charset="-122"/>
                <a:cs typeface="Calibri" pitchFamily="34" charset="-120"/>
              </a:rPr>
              <a:t>13 / 61</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6EF"/>
        </a:solidFill>
      </p:bgPr>
    </p:bg>
    <p:spTree>
      <p:nvGrpSpPr>
        <p:cNvPr id="1" name=""/>
        <p:cNvGrpSpPr/>
        <p:nvPr/>
      </p:nvGrpSpPr>
      <p:grpSpPr>
        <a:xfrm>
          <a:off x="0" y="0"/>
          <a:ext cx="0" cy="0"/>
          <a:chOff x="0" y="0"/>
          <a:chExt cx="0" cy="0"/>
        </a:xfrm>
      </p:grpSpPr>
      <p:sp>
        <p:nvSpPr>
          <p:cNvPr id="2" name="Shape 0"/>
          <p:cNvSpPr/>
          <p:nvPr/>
        </p:nvSpPr>
        <p:spPr>
          <a:xfrm>
            <a:off x="457200" y="347472"/>
            <a:ext cx="566928" cy="384048"/>
          </a:xfrm>
          <a:prstGeom prst="roundRect">
            <a:avLst>
              <a:gd name="adj" fmla="val 19048"/>
            </a:avLst>
          </a:prstGeom>
          <a:solidFill>
            <a:srgbClr val="D97A14"/>
          </a:solidFill>
          <a:ln w="12700">
            <a:solidFill>
              <a:srgbClr val="D97A14"/>
            </a:solidFill>
            <a:prstDash val="solid"/>
          </a:ln>
        </p:spPr>
      </p:sp>
      <p:sp>
        <p:nvSpPr>
          <p:cNvPr id="3" name="Text 1"/>
          <p:cNvSpPr txBox="1"/>
          <p:nvPr/>
        </p:nvSpPr>
        <p:spPr>
          <a:xfrm>
            <a:off x="457200" y="347472"/>
            <a:ext cx="56692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4" name="Text 2"/>
          <p:cNvSpPr txBox="1"/>
          <p:nvPr/>
        </p:nvSpPr>
        <p:spPr>
          <a:xfrm>
            <a:off x="1143000" y="237744"/>
            <a:ext cx="7543800" cy="566928"/>
          </a:xfrm>
          <a:prstGeom prst="rect">
            <a:avLst/>
          </a:prstGeom>
          <a:noFill/>
          <a:ln/>
        </p:spPr>
        <p:txBody>
          <a:bodyPr wrap="square" lIns="0" tIns="0" rIns="0" bIns="0" rtlCol="0" anchor="ctr"/>
          <a:lstStyle/>
          <a:p>
            <a:pPr indent="0" marL="0">
              <a:buNone/>
            </a:pPr>
            <a:r>
              <a:rPr lang="en-US" sz="2800" b="1" dirty="0">
                <a:solidFill>
                  <a:srgbClr val="2B2622"/>
                </a:solidFill>
                <a:latin typeface="Cambria" pitchFamily="34" charset="0"/>
                <a:ea typeface="Cambria" pitchFamily="34" charset="-122"/>
                <a:cs typeface="Cambria" pitchFamily="34" charset="-120"/>
              </a:rPr>
              <a:t>Locking a coin to a key (1 of 2)</a:t>
            </a:r>
            <a:endParaRPr lang="en-US" sz="2800" dirty="0"/>
          </a:p>
        </p:txBody>
      </p:sp>
      <p:sp>
        <p:nvSpPr>
          <p:cNvPr id="5" name="Text 3"/>
          <p:cNvSpPr txBox="1"/>
          <p:nvPr/>
        </p:nvSpPr>
        <p:spPr>
          <a:xfrm>
            <a:off x="1143000" y="786384"/>
            <a:ext cx="7543800" cy="310896"/>
          </a:xfrm>
          <a:prstGeom prst="rect">
            <a:avLst/>
          </a:prstGeom>
          <a:noFill/>
          <a:ln/>
        </p:spPr>
        <p:txBody>
          <a:bodyPr wrap="square" lIns="0" tIns="0" rIns="0" bIns="0" rtlCol="0" anchor="ctr"/>
          <a:lstStyle/>
          <a:p>
            <a:pPr indent="0" marL="0">
              <a:buNone/>
            </a:pPr>
            <a:r>
              <a:rPr lang="en-US" sz="1300" i="1" dirty="0">
                <a:solidFill>
                  <a:srgbClr val="6E655C"/>
                </a:solidFill>
                <a:latin typeface="Calibri" pitchFamily="34" charset="0"/>
                <a:ea typeface="Calibri" pitchFamily="34" charset="-122"/>
                <a:cs typeface="Calibri" pitchFamily="34" charset="-120"/>
              </a:rPr>
              <a:t>Each card: the meaning in a few words, then something you already know</a:t>
            </a:r>
            <a:endParaRPr lang="en-US" sz="1300" dirty="0"/>
          </a:p>
        </p:txBody>
      </p:sp>
      <p:sp>
        <p:nvSpPr>
          <p:cNvPr id="6" name="Shape 4"/>
          <p:cNvSpPr/>
          <p:nvPr/>
        </p:nvSpPr>
        <p:spPr>
          <a:xfrm>
            <a:off x="457200" y="1280160"/>
            <a:ext cx="2645664" cy="1339596"/>
          </a:xfrm>
          <a:prstGeom prst="roundRect">
            <a:avLst>
              <a:gd name="adj" fmla="val 5461"/>
            </a:avLst>
          </a:prstGeom>
          <a:solidFill>
            <a:srgbClr val="F2ECE1"/>
          </a:solidFill>
          <a:ln w="12700">
            <a:solidFill>
              <a:srgbClr val="DFD6C7"/>
            </a:solidFill>
            <a:prstDash val="solid"/>
          </a:ln>
        </p:spPr>
      </p:sp>
      <p:sp>
        <p:nvSpPr>
          <p:cNvPr id="7" name="Shape 5"/>
          <p:cNvSpPr/>
          <p:nvPr/>
        </p:nvSpPr>
        <p:spPr>
          <a:xfrm>
            <a:off x="475488" y="1408176"/>
            <a:ext cx="64008" cy="1083564"/>
          </a:xfrm>
          <a:prstGeom prst="rect">
            <a:avLst/>
          </a:prstGeom>
          <a:solidFill>
            <a:srgbClr val="D97A14"/>
          </a:solidFill>
          <a:ln w="12700">
            <a:solidFill>
              <a:srgbClr val="D97A14"/>
            </a:solidFill>
            <a:prstDash val="solid"/>
          </a:ln>
        </p:spPr>
      </p:sp>
      <p:sp>
        <p:nvSpPr>
          <p:cNvPr id="8" name="Text 6"/>
          <p:cNvSpPr txBox="1"/>
          <p:nvPr/>
        </p:nvSpPr>
        <p:spPr>
          <a:xfrm>
            <a:off x="640080" y="1344168"/>
            <a:ext cx="2371344" cy="612648"/>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Pay to Public Key Hash</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A coin locked to the hash of a public key.</a:t>
            </a:r>
            <a:endParaRPr lang="en-US" sz="1300" dirty="0"/>
          </a:p>
        </p:txBody>
      </p:sp>
      <p:sp>
        <p:nvSpPr>
          <p:cNvPr id="9" name="Text 7"/>
          <p:cNvSpPr txBox="1"/>
          <p:nvPr/>
        </p:nvSpPr>
        <p:spPr>
          <a:xfrm>
            <a:off x="640080" y="1984248"/>
            <a:ext cx="2371344" cy="571500"/>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a deposit box labelled with a fingerprint instead of a face.</a:t>
            </a:r>
            <a:endParaRPr lang="en-US" sz="1150" dirty="0"/>
          </a:p>
        </p:txBody>
      </p:sp>
      <p:sp>
        <p:nvSpPr>
          <p:cNvPr id="10" name="Shape 8"/>
          <p:cNvSpPr/>
          <p:nvPr/>
        </p:nvSpPr>
        <p:spPr>
          <a:xfrm>
            <a:off x="3249168" y="1280160"/>
            <a:ext cx="2645664" cy="1339596"/>
          </a:xfrm>
          <a:prstGeom prst="roundRect">
            <a:avLst>
              <a:gd name="adj" fmla="val 5461"/>
            </a:avLst>
          </a:prstGeom>
          <a:solidFill>
            <a:srgbClr val="F2ECE1"/>
          </a:solidFill>
          <a:ln w="12700">
            <a:solidFill>
              <a:srgbClr val="DFD6C7"/>
            </a:solidFill>
            <a:prstDash val="solid"/>
          </a:ln>
        </p:spPr>
      </p:sp>
      <p:sp>
        <p:nvSpPr>
          <p:cNvPr id="11" name="Shape 9"/>
          <p:cNvSpPr/>
          <p:nvPr/>
        </p:nvSpPr>
        <p:spPr>
          <a:xfrm>
            <a:off x="3267456" y="1408176"/>
            <a:ext cx="64008" cy="1083564"/>
          </a:xfrm>
          <a:prstGeom prst="rect">
            <a:avLst/>
          </a:prstGeom>
          <a:solidFill>
            <a:srgbClr val="D97A14"/>
          </a:solidFill>
          <a:ln w="12700">
            <a:solidFill>
              <a:srgbClr val="D97A14"/>
            </a:solidFill>
            <a:prstDash val="solid"/>
          </a:ln>
        </p:spPr>
      </p:sp>
      <p:sp>
        <p:nvSpPr>
          <p:cNvPr id="12" name="Text 10"/>
          <p:cNvSpPr txBox="1"/>
          <p:nvPr/>
        </p:nvSpPr>
        <p:spPr>
          <a:xfrm>
            <a:off x="3432048" y="1344168"/>
            <a:ext cx="2371344" cy="612648"/>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public key hash</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A 20-byte fingerprint of a public key.</a:t>
            </a:r>
            <a:endParaRPr lang="en-US" sz="1300" dirty="0"/>
          </a:p>
        </p:txBody>
      </p:sp>
      <p:sp>
        <p:nvSpPr>
          <p:cNvPr id="13" name="Text 11"/>
          <p:cNvSpPr txBox="1"/>
          <p:nvPr/>
        </p:nvSpPr>
        <p:spPr>
          <a:xfrm>
            <a:off x="3432048" y="1984248"/>
            <a:ext cx="2371344" cy="571500"/>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a library card number instead of the reader's full name.</a:t>
            </a:r>
            <a:endParaRPr lang="en-US" sz="1150" dirty="0"/>
          </a:p>
        </p:txBody>
      </p:sp>
      <p:sp>
        <p:nvSpPr>
          <p:cNvPr id="14" name="Shape 12"/>
          <p:cNvSpPr/>
          <p:nvPr/>
        </p:nvSpPr>
        <p:spPr>
          <a:xfrm>
            <a:off x="6041136" y="1280160"/>
            <a:ext cx="2645664" cy="1339596"/>
          </a:xfrm>
          <a:prstGeom prst="roundRect">
            <a:avLst>
              <a:gd name="adj" fmla="val 5461"/>
            </a:avLst>
          </a:prstGeom>
          <a:solidFill>
            <a:srgbClr val="F2ECE1"/>
          </a:solidFill>
          <a:ln w="12700">
            <a:solidFill>
              <a:srgbClr val="DFD6C7"/>
            </a:solidFill>
            <a:prstDash val="solid"/>
          </a:ln>
        </p:spPr>
      </p:sp>
      <p:sp>
        <p:nvSpPr>
          <p:cNvPr id="15" name="Shape 13"/>
          <p:cNvSpPr/>
          <p:nvPr/>
        </p:nvSpPr>
        <p:spPr>
          <a:xfrm>
            <a:off x="6059424" y="1408176"/>
            <a:ext cx="64008" cy="1083564"/>
          </a:xfrm>
          <a:prstGeom prst="rect">
            <a:avLst/>
          </a:prstGeom>
          <a:solidFill>
            <a:srgbClr val="D97A14"/>
          </a:solidFill>
          <a:ln w="12700">
            <a:solidFill>
              <a:srgbClr val="D97A14"/>
            </a:solidFill>
            <a:prstDash val="solid"/>
          </a:ln>
        </p:spPr>
      </p:sp>
      <p:sp>
        <p:nvSpPr>
          <p:cNvPr id="16" name="Text 14"/>
          <p:cNvSpPr txBox="1"/>
          <p:nvPr/>
        </p:nvSpPr>
        <p:spPr>
          <a:xfrm>
            <a:off x="6224016" y="1344168"/>
            <a:ext cx="2371344" cy="612648"/>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OP_CHECKSIG</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Checks one signature against one public key.</a:t>
            </a:r>
            <a:endParaRPr lang="en-US" sz="1300" dirty="0"/>
          </a:p>
        </p:txBody>
      </p:sp>
      <p:sp>
        <p:nvSpPr>
          <p:cNvPr id="17" name="Text 15"/>
          <p:cNvSpPr txBox="1"/>
          <p:nvPr/>
        </p:nvSpPr>
        <p:spPr>
          <a:xfrm>
            <a:off x="6224016" y="1984248"/>
            <a:ext cx="2371344" cy="571500"/>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a guard comparing the signature on a form with the one on file.</a:t>
            </a:r>
            <a:endParaRPr lang="en-US" sz="1150" dirty="0"/>
          </a:p>
        </p:txBody>
      </p:sp>
      <p:sp>
        <p:nvSpPr>
          <p:cNvPr id="18" name="Shape 16"/>
          <p:cNvSpPr/>
          <p:nvPr/>
        </p:nvSpPr>
        <p:spPr>
          <a:xfrm>
            <a:off x="457200" y="4636008"/>
            <a:ext cx="91440" cy="310896"/>
          </a:xfrm>
          <a:prstGeom prst="rect">
            <a:avLst/>
          </a:prstGeom>
          <a:solidFill>
            <a:srgbClr val="D97A14"/>
          </a:solidFill>
          <a:ln w="12700">
            <a:solidFill>
              <a:srgbClr val="D97A14"/>
            </a:solidFill>
            <a:prstDash val="solid"/>
          </a:ln>
        </p:spPr>
      </p:sp>
      <p:sp>
        <p:nvSpPr>
          <p:cNvPr id="19" name="Text 17"/>
          <p:cNvSpPr txBox="1"/>
          <p:nvPr/>
        </p:nvSpPr>
        <p:spPr>
          <a:xfrm>
            <a:off x="658368" y="4599432"/>
            <a:ext cx="6949440" cy="384048"/>
          </a:xfrm>
          <a:prstGeom prst="rect">
            <a:avLst/>
          </a:prstGeom>
          <a:noFill/>
          <a:ln/>
        </p:spPr>
        <p:txBody>
          <a:bodyPr wrap="square" lIns="0" tIns="0" rIns="0" bIns="0" rtlCol="0" anchor="ctr"/>
          <a:lstStyle/>
          <a:p>
            <a:pPr indent="0" marL="0">
              <a:buNone/>
            </a:pPr>
            <a:r>
              <a:rPr lang="en-US" sz="1350" b="1" i="1" dirty="0">
                <a:solidFill>
                  <a:srgbClr val="2B2622"/>
                </a:solidFill>
                <a:latin typeface="Cambria" pitchFamily="34" charset="0"/>
                <a:ea typeface="Cambria" pitchFamily="34" charset="-122"/>
                <a:cs typeface="Cambria" pitchFamily="34" charset="-120"/>
              </a:rPr>
              <a:t>Say each idea twice: once as the meaning, once as the everyday comparison</a:t>
            </a:r>
            <a:endParaRPr lang="en-US" sz="1350" dirty="0"/>
          </a:p>
        </p:txBody>
      </p:sp>
      <p:sp>
        <p:nvSpPr>
          <p:cNvPr id="20" name="Text 18"/>
          <p:cNvSpPr txBox="1"/>
          <p:nvPr/>
        </p:nvSpPr>
        <p:spPr>
          <a:xfrm>
            <a:off x="7863840" y="4645152"/>
            <a:ext cx="868680" cy="310896"/>
          </a:xfrm>
          <a:prstGeom prst="rect">
            <a:avLst/>
          </a:prstGeom>
          <a:noFill/>
          <a:ln/>
        </p:spPr>
        <p:txBody>
          <a:bodyPr wrap="square" lIns="0" tIns="0" rIns="0" bIns="0" rtlCol="0" anchor="ctr"/>
          <a:lstStyle/>
          <a:p>
            <a:pPr algn="r" indent="0" marL="0">
              <a:buNone/>
            </a:pPr>
            <a:r>
              <a:rPr lang="en-US" sz="1100" dirty="0">
                <a:solidFill>
                  <a:srgbClr val="6E655C"/>
                </a:solidFill>
                <a:latin typeface="Calibri" pitchFamily="34" charset="0"/>
                <a:ea typeface="Calibri" pitchFamily="34" charset="-122"/>
                <a:cs typeface="Calibri" pitchFamily="34" charset="-120"/>
              </a:rPr>
              <a:t>14 / 61</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F6EF"/>
        </a:solidFill>
      </p:bgPr>
    </p:bg>
    <p:spTree>
      <p:nvGrpSpPr>
        <p:cNvPr id="1" name=""/>
        <p:cNvGrpSpPr/>
        <p:nvPr/>
      </p:nvGrpSpPr>
      <p:grpSpPr>
        <a:xfrm>
          <a:off x="0" y="0"/>
          <a:ext cx="0" cy="0"/>
          <a:chOff x="0" y="0"/>
          <a:chExt cx="0" cy="0"/>
        </a:xfrm>
      </p:grpSpPr>
      <p:sp>
        <p:nvSpPr>
          <p:cNvPr id="2" name="Shape 0"/>
          <p:cNvSpPr/>
          <p:nvPr/>
        </p:nvSpPr>
        <p:spPr>
          <a:xfrm>
            <a:off x="457200" y="347472"/>
            <a:ext cx="566928" cy="384048"/>
          </a:xfrm>
          <a:prstGeom prst="roundRect">
            <a:avLst>
              <a:gd name="adj" fmla="val 19048"/>
            </a:avLst>
          </a:prstGeom>
          <a:solidFill>
            <a:srgbClr val="D97A14"/>
          </a:solidFill>
          <a:ln w="12700">
            <a:solidFill>
              <a:srgbClr val="D97A14"/>
            </a:solidFill>
            <a:prstDash val="solid"/>
          </a:ln>
        </p:spPr>
      </p:sp>
      <p:sp>
        <p:nvSpPr>
          <p:cNvPr id="3" name="Text 1"/>
          <p:cNvSpPr txBox="1"/>
          <p:nvPr/>
        </p:nvSpPr>
        <p:spPr>
          <a:xfrm>
            <a:off x="457200" y="347472"/>
            <a:ext cx="56692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4" name="Text 2"/>
          <p:cNvSpPr txBox="1"/>
          <p:nvPr/>
        </p:nvSpPr>
        <p:spPr>
          <a:xfrm>
            <a:off x="1143000" y="237744"/>
            <a:ext cx="7543800" cy="566928"/>
          </a:xfrm>
          <a:prstGeom prst="rect">
            <a:avLst/>
          </a:prstGeom>
          <a:noFill/>
          <a:ln/>
        </p:spPr>
        <p:txBody>
          <a:bodyPr wrap="square" lIns="0" tIns="0" rIns="0" bIns="0" rtlCol="0" anchor="ctr"/>
          <a:lstStyle/>
          <a:p>
            <a:pPr indent="0" marL="0">
              <a:buNone/>
            </a:pPr>
            <a:r>
              <a:rPr lang="en-US" sz="2500" b="1" dirty="0">
                <a:solidFill>
                  <a:srgbClr val="2B2622"/>
                </a:solidFill>
                <a:latin typeface="Cambria" pitchFamily="34" charset="0"/>
                <a:ea typeface="Cambria" pitchFamily="34" charset="-122"/>
                <a:cs typeface="Cambria" pitchFamily="34" charset="-120"/>
              </a:rPr>
              <a:t>A key-hash lock, tried three ways</a:t>
            </a:r>
            <a:endParaRPr lang="en-US" sz="2500" dirty="0"/>
          </a:p>
        </p:txBody>
      </p:sp>
      <p:sp>
        <p:nvSpPr>
          <p:cNvPr id="5" name="Text 3"/>
          <p:cNvSpPr txBox="1"/>
          <p:nvPr/>
        </p:nvSpPr>
        <p:spPr>
          <a:xfrm>
            <a:off x="1143000" y="786384"/>
            <a:ext cx="7543800" cy="310896"/>
          </a:xfrm>
          <a:prstGeom prst="rect">
            <a:avLst/>
          </a:prstGeom>
          <a:noFill/>
          <a:ln/>
        </p:spPr>
        <p:txBody>
          <a:bodyPr wrap="square" lIns="0" tIns="0" rIns="0" bIns="0" rtlCol="0" anchor="ctr"/>
          <a:lstStyle/>
          <a:p>
            <a:pPr indent="0" marL="0">
              <a:buNone/>
            </a:pPr>
            <a:r>
              <a:rPr lang="en-US" sz="1300" i="1" dirty="0">
                <a:solidFill>
                  <a:srgbClr val="6E655C"/>
                </a:solidFill>
                <a:latin typeface="Calibri" pitchFamily="34" charset="0"/>
                <a:ea typeface="Calibri" pitchFamily="34" charset="-122"/>
                <a:cs typeface="Calibri" pitchFamily="34" charset="-120"/>
              </a:rPr>
              <a:t>Pay to public key hash with a real signature</a:t>
            </a:r>
            <a:endParaRPr lang="en-US" sz="1300" dirty="0"/>
          </a:p>
        </p:txBody>
      </p:sp>
      <p:sp>
        <p:nvSpPr>
          <p:cNvPr id="6" name="Shape 4"/>
          <p:cNvSpPr/>
          <p:nvPr/>
        </p:nvSpPr>
        <p:spPr>
          <a:xfrm>
            <a:off x="457200" y="1325880"/>
            <a:ext cx="5074920" cy="476402"/>
          </a:xfrm>
          <a:prstGeom prst="roundRect">
            <a:avLst>
              <a:gd name="adj" fmla="val 15355"/>
            </a:avLst>
          </a:prstGeom>
          <a:solidFill>
            <a:srgbClr val="23272E"/>
          </a:solidFill>
          <a:ln w="12700">
            <a:solidFill>
              <a:srgbClr val="23272E"/>
            </a:solidFill>
            <a:prstDash val="solid"/>
          </a:ln>
        </p:spPr>
      </p:sp>
      <p:sp>
        <p:nvSpPr>
          <p:cNvPr id="7" name="Text 5"/>
          <p:cNvSpPr txBox="1"/>
          <p:nvPr/>
        </p:nvSpPr>
        <p:spPr>
          <a:xfrm>
            <a:off x="603504" y="1399032"/>
            <a:ext cx="4800600" cy="348386"/>
          </a:xfrm>
          <a:prstGeom prst="rect">
            <a:avLst/>
          </a:prstGeom>
          <a:noFill/>
          <a:ln/>
        </p:spPr>
        <p:txBody>
          <a:bodyPr wrap="square" lIns="0" tIns="0" rIns="0" bIns="0" rtlCol="0" anchor="t"/>
          <a:lstStyle/>
          <a:p>
            <a:pPr indent="0" marL="0">
              <a:buNone/>
            </a:pPr>
            <a:r>
              <a:rPr lang="en-US" sz="1000" b="1" dirty="0">
                <a:solidFill>
                  <a:srgbClr val="D97A14"/>
                </a:solidFill>
                <a:latin typeface="Courier New" pitchFamily="34" charset="0"/>
                <a:ea typeface="Courier New" pitchFamily="34" charset="-122"/>
                <a:cs typeface="Courier New" pitchFamily="34" charset="-120"/>
              </a:rPr>
              <a:t>&gt;&gt;&gt; </a:t>
            </a:r>
            <a:r>
              <a:rPr lang="en-US" sz="1000" dirty="0">
                <a:solidFill>
                  <a:srgbClr val="E6EDF3"/>
                </a:solidFill>
                <a:latin typeface="Courier New" pitchFamily="34" charset="0"/>
                <a:ea typeface="Courier New" pitchFamily="34" charset="-122"/>
                <a:cs typeface="Courier New" pitchFamily="34" charset="-120"/>
              </a:rPr>
              <a:t>spk = L.p2pkh_script(L.hash160(K.pub(</a:t>
            </a:r>
            <a:r>
              <a:rPr lang="en-US" sz="1000" dirty="0">
                <a:solidFill>
                  <a:srgbClr val="FFD28A"/>
                </a:solidFill>
                <a:latin typeface="Courier New" pitchFamily="34" charset="0"/>
                <a:ea typeface="Courier New" pitchFamily="34" charset="-122"/>
                <a:cs typeface="Courier New" pitchFamily="34" charset="-120"/>
              </a:rPr>
              <a:t>1</a:t>
            </a:r>
            <a:r>
              <a:rPr lang="en-US" sz="1000" dirty="0">
                <a:solidFill>
                  <a:srgbClr val="E6EDF3"/>
                </a:solidFill>
                <a:latin typeface="Courier New" pitchFamily="34" charset="0"/>
                <a:ea typeface="Courier New" pitchFamily="34" charset="-122"/>
                <a:cs typeface="Courier New" pitchFamily="34" charset="-120"/>
              </a:rPr>
              <a:t>)))</a:t>
            </a:r>
            <a:endParaRPr lang="en-US" sz="1000" dirty="0"/>
          </a:p>
          <a:p>
            <a:pPr indent="0" marL="0">
              <a:buNone/>
            </a:pPr>
            <a:r>
              <a:rPr lang="en-US" sz="1000" b="1" dirty="0">
                <a:solidFill>
                  <a:srgbClr val="D97A14"/>
                </a:solidFill>
                <a:latin typeface="Courier New" pitchFamily="34" charset="0"/>
                <a:ea typeface="Courier New" pitchFamily="34" charset="-122"/>
                <a:cs typeface="Courier New" pitchFamily="34" charset="-120"/>
              </a:rPr>
              <a:t>&gt;&gt;&gt; </a:t>
            </a:r>
            <a:r>
              <a:rPr lang="en-US" sz="1000" dirty="0">
                <a:solidFill>
                  <a:srgbClr val="E6EDF3"/>
                </a:solidFill>
                <a:latin typeface="Courier New" pitchFamily="34" charset="0"/>
                <a:ea typeface="Courier New" pitchFamily="34" charset="-122"/>
                <a:cs typeface="Courier New" pitchFamily="34" charset="-120"/>
              </a:rPr>
              <a:t>kind = (len(spk), L.classify(spk)[</a:t>
            </a:r>
            <a:r>
              <a:rPr lang="en-US" sz="1000" dirty="0">
                <a:solidFill>
                  <a:srgbClr val="FFD28A"/>
                </a:solidFill>
                <a:latin typeface="Courier New" pitchFamily="34" charset="0"/>
                <a:ea typeface="Courier New" pitchFamily="34" charset="-122"/>
                <a:cs typeface="Courier New" pitchFamily="34" charset="-120"/>
              </a:rPr>
              <a:t>0</a:t>
            </a:r>
            <a:r>
              <a:rPr lang="en-US" sz="1000" dirty="0">
                <a:solidFill>
                  <a:srgbClr val="E6EDF3"/>
                </a:solidFill>
                <a:latin typeface="Courier New" pitchFamily="34" charset="0"/>
                <a:ea typeface="Courier New" pitchFamily="34" charset="-122"/>
                <a:cs typeface="Courier New" pitchFamily="34" charset="-120"/>
              </a:rPr>
              <a:t>])</a:t>
            </a:r>
            <a:endParaRPr lang="en-US" sz="1000" dirty="0"/>
          </a:p>
        </p:txBody>
      </p:sp>
      <p:sp>
        <p:nvSpPr>
          <p:cNvPr id="8" name="Shape 6"/>
          <p:cNvSpPr/>
          <p:nvPr/>
        </p:nvSpPr>
        <p:spPr>
          <a:xfrm>
            <a:off x="457200" y="2122322"/>
            <a:ext cx="5074920" cy="1136599"/>
          </a:xfrm>
          <a:prstGeom prst="roundRect">
            <a:avLst>
              <a:gd name="adj" fmla="val 6436"/>
            </a:avLst>
          </a:prstGeom>
          <a:solidFill>
            <a:srgbClr val="23272E"/>
          </a:solidFill>
          <a:ln w="12700">
            <a:solidFill>
              <a:srgbClr val="23272E"/>
            </a:solidFill>
            <a:prstDash val="solid"/>
          </a:ln>
        </p:spPr>
      </p:sp>
      <p:sp>
        <p:nvSpPr>
          <p:cNvPr id="9" name="Text 7"/>
          <p:cNvSpPr txBox="1"/>
          <p:nvPr/>
        </p:nvSpPr>
        <p:spPr>
          <a:xfrm>
            <a:off x="603504" y="2195474"/>
            <a:ext cx="4800600" cy="1008583"/>
          </a:xfrm>
          <a:prstGeom prst="rect">
            <a:avLst/>
          </a:prstGeom>
          <a:noFill/>
          <a:ln/>
        </p:spPr>
        <p:txBody>
          <a:bodyPr wrap="square" lIns="0" tIns="0" rIns="0" bIns="0" rtlCol="0" anchor="t"/>
          <a:lstStyle/>
          <a:p>
            <a:pPr indent="0" marL="0">
              <a:buNone/>
            </a:pPr>
            <a:r>
              <a:rPr lang="en-US" sz="1000" b="1" dirty="0">
                <a:solidFill>
                  <a:srgbClr val="D97A14"/>
                </a:solidFill>
                <a:latin typeface="Courier New" pitchFamily="34" charset="0"/>
                <a:ea typeface="Courier New" pitchFamily="34" charset="-122"/>
                <a:cs typeface="Courier New" pitchFamily="34" charset="-120"/>
              </a:rPr>
              <a:t>&gt;&gt;&gt; </a:t>
            </a:r>
            <a:r>
              <a:rPr lang="en-US" sz="1000" dirty="0">
                <a:solidFill>
                  <a:srgbClr val="E6EDF3"/>
                </a:solidFill>
                <a:latin typeface="Courier New" pitchFamily="34" charset="0"/>
                <a:ea typeface="Courier New" pitchFamily="34" charset="-122"/>
                <a:cs typeface="Courier New" pitchFamily="34" charset="-120"/>
              </a:rPr>
              <a:t>a = p2pkh()</a:t>
            </a:r>
            <a:endParaRPr lang="en-US" sz="1000" dirty="0"/>
          </a:p>
          <a:p>
            <a:pPr indent="0" marL="0">
              <a:buNone/>
            </a:pPr>
            <a:r>
              <a:rPr lang="en-US" sz="1000" b="1" dirty="0">
                <a:solidFill>
                  <a:srgbClr val="D97A14"/>
                </a:solidFill>
                <a:latin typeface="Courier New" pitchFamily="34" charset="0"/>
                <a:ea typeface="Courier New" pitchFamily="34" charset="-122"/>
                <a:cs typeface="Courier New" pitchFamily="34" charset="-120"/>
              </a:rPr>
              <a:t>&gt;&gt;&gt; </a:t>
            </a:r>
            <a:r>
              <a:rPr lang="en-US" sz="1000" dirty="0">
                <a:solidFill>
                  <a:srgbClr val="E6EDF3"/>
                </a:solidFill>
                <a:latin typeface="Courier New" pitchFamily="34" charset="0"/>
                <a:ea typeface="Courier New" pitchFamily="34" charset="-122"/>
                <a:cs typeface="Courier New" pitchFamily="34" charset="-120"/>
              </a:rPr>
              <a:t>b = p2pkh(signer=</a:t>
            </a:r>
            <a:r>
              <a:rPr lang="en-US" sz="1000" dirty="0">
                <a:solidFill>
                  <a:srgbClr val="FFD28A"/>
                </a:solidFill>
                <a:latin typeface="Courier New" pitchFamily="34" charset="0"/>
                <a:ea typeface="Courier New" pitchFamily="34" charset="-122"/>
                <a:cs typeface="Courier New" pitchFamily="34" charset="-120"/>
              </a:rPr>
              <a:t>2</a:t>
            </a:r>
            <a:r>
              <a:rPr lang="en-US" sz="1000" dirty="0">
                <a:solidFill>
                  <a:srgbClr val="E6EDF3"/>
                </a:solidFill>
                <a:latin typeface="Courier New" pitchFamily="34" charset="0"/>
                <a:ea typeface="Courier New" pitchFamily="34" charset="-122"/>
                <a:cs typeface="Courier New" pitchFamily="34" charset="-120"/>
              </a:rPr>
              <a:t>)</a:t>
            </a:r>
            <a:endParaRPr lang="en-US" sz="1000" dirty="0"/>
          </a:p>
          <a:p>
            <a:pPr indent="0" marL="0">
              <a:buNone/>
            </a:pPr>
            <a:r>
              <a:rPr lang="en-US" sz="1000" b="1" dirty="0">
                <a:solidFill>
                  <a:srgbClr val="D97A14"/>
                </a:solidFill>
                <a:latin typeface="Courier New" pitchFamily="34" charset="0"/>
                <a:ea typeface="Courier New" pitchFamily="34" charset="-122"/>
                <a:cs typeface="Courier New" pitchFamily="34" charset="-120"/>
              </a:rPr>
              <a:t>&gt;&gt;&gt; </a:t>
            </a:r>
            <a:r>
              <a:rPr lang="en-US" sz="1000" dirty="0">
                <a:solidFill>
                  <a:srgbClr val="E6EDF3"/>
                </a:solidFill>
                <a:latin typeface="Courier New" pitchFamily="34" charset="0"/>
                <a:ea typeface="Courier New" pitchFamily="34" charset="-122"/>
                <a:cs typeface="Courier New" pitchFamily="34" charset="-120"/>
              </a:rPr>
              <a:t>c = p2pkh(amount_after=</a:t>
            </a:r>
            <a:r>
              <a:rPr lang="en-US" sz="1000" dirty="0">
                <a:solidFill>
                  <a:srgbClr val="FFD28A"/>
                </a:solidFill>
                <a:latin typeface="Courier New" pitchFamily="34" charset="0"/>
                <a:ea typeface="Courier New" pitchFamily="34" charset="-122"/>
                <a:cs typeface="Courier New" pitchFamily="34" charset="-120"/>
              </a:rPr>
              <a:t>99999</a:t>
            </a:r>
            <a:r>
              <a:rPr lang="en-US" sz="1000" dirty="0">
                <a:solidFill>
                  <a:srgbClr val="E6EDF3"/>
                </a:solidFill>
                <a:latin typeface="Courier New" pitchFamily="34" charset="0"/>
                <a:ea typeface="Courier New" pitchFamily="34" charset="-122"/>
                <a:cs typeface="Courier New" pitchFamily="34" charset="-120"/>
              </a:rPr>
              <a:t>)</a:t>
            </a:r>
            <a:endParaRPr lang="en-US" sz="1000" dirty="0"/>
          </a:p>
          <a:p>
            <a:pPr indent="0" marL="0">
              <a:buNone/>
            </a:pPr>
            <a:r>
              <a:rPr lang="en-US" sz="1000" b="1" dirty="0">
                <a:solidFill>
                  <a:srgbClr val="D97A14"/>
                </a:solidFill>
                <a:latin typeface="Courier New" pitchFamily="34" charset="0"/>
                <a:ea typeface="Courier New" pitchFamily="34" charset="-122"/>
                <a:cs typeface="Courier New" pitchFamily="34" charset="-120"/>
              </a:rPr>
              <a:t>&gt;&gt;&gt; </a:t>
            </a:r>
            <a:r>
              <a:rPr lang="en-US" sz="1000" dirty="0">
                <a:solidFill>
                  <a:srgbClr val="E6EDF3"/>
                </a:solidFill>
                <a:latin typeface="Courier New" pitchFamily="34" charset="0"/>
                <a:ea typeface="Courier New" pitchFamily="34" charset="-122"/>
                <a:cs typeface="Courier New" pitchFamily="34" charset="-120"/>
              </a:rPr>
              <a:t>res = (a, b, c)</a:t>
            </a:r>
            <a:endParaRPr lang="en-US" sz="1000" dirty="0"/>
          </a:p>
          <a:p>
            <a:pPr indent="0" marL="0">
              <a:buNone/>
            </a:pPr>
            <a:r>
              <a:rPr lang="en-US" sz="1000" b="1" dirty="0">
                <a:solidFill>
                  <a:srgbClr val="D97A14"/>
                </a:solidFill>
                <a:latin typeface="Courier New" pitchFamily="34" charset="0"/>
                <a:ea typeface="Courier New" pitchFamily="34" charset="-122"/>
                <a:cs typeface="Courier New" pitchFamily="34" charset="-120"/>
              </a:rPr>
              <a:t>&gt;&gt;&gt; </a:t>
            </a:r>
            <a:r>
              <a:rPr lang="en-US" sz="1000" dirty="0">
                <a:solidFill>
                  <a:srgbClr val="E6EDF3"/>
                </a:solidFill>
                <a:latin typeface="Courier New" pitchFamily="34" charset="0"/>
                <a:ea typeface="Courier New" pitchFamily="34" charset="-122"/>
                <a:cs typeface="Courier New" pitchFamily="34" charset="-120"/>
              </a:rPr>
              <a:t>res</a:t>
            </a:r>
            <a:endParaRPr lang="en-US" sz="1000" dirty="0"/>
          </a:p>
          <a:p>
            <a:pPr indent="0" marL="0">
              <a:buNone/>
            </a:pPr>
            <a:r>
              <a:rPr lang="en-US" sz="1000" dirty="0">
                <a:solidFill>
                  <a:srgbClr val="7EE787"/>
                </a:solidFill>
                <a:latin typeface="Courier New" pitchFamily="34" charset="0"/>
                <a:ea typeface="Courier New" pitchFamily="34" charset="-122"/>
                <a:cs typeface="Courier New" pitchFamily="34" charset="-120"/>
              </a:rPr>
              <a:t>('OK', 'EVAL_FALSE', 'EVAL_FALSE')</a:t>
            </a:r>
            <a:endParaRPr lang="en-US" sz="1000" dirty="0"/>
          </a:p>
        </p:txBody>
      </p:sp>
      <p:sp>
        <p:nvSpPr>
          <p:cNvPr id="10" name="Shape 8"/>
          <p:cNvSpPr/>
          <p:nvPr/>
        </p:nvSpPr>
        <p:spPr>
          <a:xfrm>
            <a:off x="365760" y="1252728"/>
            <a:ext cx="237744" cy="237744"/>
          </a:xfrm>
          <a:prstGeom prst="ellipse">
            <a:avLst/>
          </a:prstGeom>
          <a:solidFill>
            <a:srgbClr val="D97A14"/>
          </a:solidFill>
          <a:ln w="12700">
            <a:solidFill>
              <a:srgbClr val="D97A14"/>
            </a:solidFill>
            <a:prstDash val="solid"/>
          </a:ln>
        </p:spPr>
      </p:sp>
      <p:sp>
        <p:nvSpPr>
          <p:cNvPr id="11" name="Text 9"/>
          <p:cNvSpPr txBox="1"/>
          <p:nvPr/>
        </p:nvSpPr>
        <p:spPr>
          <a:xfrm>
            <a:off x="365760" y="1252728"/>
            <a:ext cx="237744" cy="237744"/>
          </a:xfrm>
          <a:prstGeom prst="rect">
            <a:avLst/>
          </a:prstGeom>
          <a:noFill/>
          <a:ln/>
        </p:spPr>
        <p:txBody>
          <a:bodyPr wrap="square" lIns="0" tIns="0" rIns="0" bIns="0" rtlCol="0" anchor="ctr"/>
          <a:lstStyle/>
          <a:p>
            <a:pPr algn="ctr" indent="0" marL="0">
              <a:buNone/>
            </a:pPr>
            <a:r>
              <a:rPr lang="en-US" sz="1100" b="1" dirty="0">
                <a:solidFill>
                  <a:srgbClr val="FFFFFF"/>
                </a:solidFill>
                <a:latin typeface="Cambria" pitchFamily="34" charset="0"/>
                <a:ea typeface="Cambria" pitchFamily="34" charset="-122"/>
                <a:cs typeface="Cambria" pitchFamily="34" charset="-120"/>
              </a:rPr>
              <a:t>1</a:t>
            </a:r>
            <a:endParaRPr lang="en-US" sz="1100" dirty="0"/>
          </a:p>
        </p:txBody>
      </p:sp>
      <p:sp>
        <p:nvSpPr>
          <p:cNvPr id="12" name="Text 10"/>
          <p:cNvSpPr txBox="1"/>
          <p:nvPr/>
        </p:nvSpPr>
        <p:spPr>
          <a:xfrm>
            <a:off x="731520" y="1829714"/>
            <a:ext cx="4800600" cy="210312"/>
          </a:xfrm>
          <a:prstGeom prst="rect">
            <a:avLst/>
          </a:prstGeom>
          <a:noFill/>
          <a:ln/>
        </p:spPr>
        <p:txBody>
          <a:bodyPr wrap="square" lIns="0" tIns="0" rIns="0" bIns="0" rtlCol="0" anchor="t"/>
          <a:lstStyle/>
          <a:p>
            <a:pPr indent="0" marL="0">
              <a:buNone/>
            </a:pPr>
            <a:r>
              <a:rPr lang="en-US" sz="1050" dirty="0">
                <a:solidFill>
                  <a:srgbClr val="2B2622"/>
                </a:solidFill>
                <a:latin typeface="Calibri" pitchFamily="34" charset="0"/>
                <a:ea typeface="Calibri" pitchFamily="34" charset="-122"/>
                <a:cs typeface="Calibri" pitchFamily="34" charset="-120"/>
              </a:rPr>
              <a:t>The lock holds a 20-byte hash of the public key and fills 25 bytes.</a:t>
            </a:r>
            <a:endParaRPr lang="en-US" sz="1050" dirty="0"/>
          </a:p>
        </p:txBody>
      </p:sp>
      <p:sp>
        <p:nvSpPr>
          <p:cNvPr id="13" name="Shape 11"/>
          <p:cNvSpPr/>
          <p:nvPr/>
        </p:nvSpPr>
        <p:spPr>
          <a:xfrm>
            <a:off x="365760" y="2049170"/>
            <a:ext cx="237744" cy="237744"/>
          </a:xfrm>
          <a:prstGeom prst="ellipse">
            <a:avLst/>
          </a:prstGeom>
          <a:solidFill>
            <a:srgbClr val="D97A14"/>
          </a:solidFill>
          <a:ln w="12700">
            <a:solidFill>
              <a:srgbClr val="D97A14"/>
            </a:solidFill>
            <a:prstDash val="solid"/>
          </a:ln>
        </p:spPr>
      </p:sp>
      <p:sp>
        <p:nvSpPr>
          <p:cNvPr id="14" name="Text 12"/>
          <p:cNvSpPr txBox="1"/>
          <p:nvPr/>
        </p:nvSpPr>
        <p:spPr>
          <a:xfrm>
            <a:off x="365760" y="2049170"/>
            <a:ext cx="237744" cy="237744"/>
          </a:xfrm>
          <a:prstGeom prst="rect">
            <a:avLst/>
          </a:prstGeom>
          <a:noFill/>
          <a:ln/>
        </p:spPr>
        <p:txBody>
          <a:bodyPr wrap="square" lIns="0" tIns="0" rIns="0" bIns="0" rtlCol="0" anchor="ctr"/>
          <a:lstStyle/>
          <a:p>
            <a:pPr algn="ctr" indent="0" marL="0">
              <a:buNone/>
            </a:pPr>
            <a:r>
              <a:rPr lang="en-US" sz="1100" b="1" dirty="0">
                <a:solidFill>
                  <a:srgbClr val="FFFFFF"/>
                </a:solidFill>
                <a:latin typeface="Cambria" pitchFamily="34" charset="0"/>
                <a:ea typeface="Cambria" pitchFamily="34" charset="-122"/>
                <a:cs typeface="Cambria" pitchFamily="34" charset="-120"/>
              </a:rPr>
              <a:t>2</a:t>
            </a:r>
            <a:endParaRPr lang="en-US" sz="1100" dirty="0"/>
          </a:p>
        </p:txBody>
      </p:sp>
      <p:sp>
        <p:nvSpPr>
          <p:cNvPr id="15" name="Text 13"/>
          <p:cNvSpPr txBox="1"/>
          <p:nvPr/>
        </p:nvSpPr>
        <p:spPr>
          <a:xfrm>
            <a:off x="731520" y="3286354"/>
            <a:ext cx="4800600" cy="210312"/>
          </a:xfrm>
          <a:prstGeom prst="rect">
            <a:avLst/>
          </a:prstGeom>
          <a:noFill/>
          <a:ln/>
        </p:spPr>
        <p:txBody>
          <a:bodyPr wrap="square" lIns="0" tIns="0" rIns="0" bIns="0" rtlCol="0" anchor="t"/>
          <a:lstStyle/>
          <a:p>
            <a:pPr indent="0" marL="0">
              <a:buNone/>
            </a:pPr>
            <a:r>
              <a:rPr lang="en-US" sz="1050" dirty="0">
                <a:solidFill>
                  <a:srgbClr val="2B2622"/>
                </a:solidFill>
                <a:latin typeface="Calibri" pitchFamily="34" charset="0"/>
                <a:ea typeface="Calibri" pitchFamily="34" charset="-122"/>
                <a:cs typeface="Calibri" pitchFamily="34" charset="-120"/>
              </a:rPr>
              <a:t>Three spends are tried: the right key, a wrong key, a changed amount.</a:t>
            </a:r>
            <a:endParaRPr lang="en-US" sz="1050" dirty="0"/>
          </a:p>
        </p:txBody>
      </p:sp>
      <p:sp>
        <p:nvSpPr>
          <p:cNvPr id="16" name="Text 14"/>
          <p:cNvSpPr txBox="1"/>
          <p:nvPr/>
        </p:nvSpPr>
        <p:spPr>
          <a:xfrm>
            <a:off x="457200" y="3542386"/>
            <a:ext cx="5074920" cy="182880"/>
          </a:xfrm>
          <a:prstGeom prst="rect">
            <a:avLst/>
          </a:prstGeom>
          <a:noFill/>
          <a:ln/>
        </p:spPr>
        <p:txBody>
          <a:bodyPr wrap="square" lIns="0" tIns="0" rIns="0" bIns="0" rtlCol="0" anchor="ctr"/>
          <a:lstStyle/>
          <a:p>
            <a:pPr algn="l" indent="0" marL="0">
              <a:buNone/>
            </a:pPr>
            <a:r>
              <a:rPr lang="en-US" sz="900" i="1" dirty="0">
                <a:solidFill>
                  <a:srgbClr val="6E655C"/>
                </a:solidFill>
                <a:latin typeface="Calibri" pitchFamily="34" charset="0"/>
                <a:ea typeface="Calibri" pitchFamily="34" charset="-122"/>
                <a:cs typeface="Calibri" pitchFamily="34" charset="-120"/>
              </a:rPr>
              <a:t>run under Python 3.14.6 - L, K and the chapter setup as on slide 7</a:t>
            </a:r>
            <a:endParaRPr lang="en-US" sz="900" dirty="0"/>
          </a:p>
        </p:txBody>
      </p:sp>
      <p:sp>
        <p:nvSpPr>
          <p:cNvPr id="17" name="Text 15"/>
          <p:cNvSpPr txBox="1"/>
          <p:nvPr/>
        </p:nvSpPr>
        <p:spPr>
          <a:xfrm>
            <a:off x="5715000" y="1325880"/>
            <a:ext cx="2971800" cy="219456"/>
          </a:xfrm>
          <a:prstGeom prst="rect">
            <a:avLst/>
          </a:prstGeom>
          <a:noFill/>
          <a:ln/>
        </p:spPr>
        <p:txBody>
          <a:bodyPr wrap="square" lIns="0" tIns="0" rIns="0" bIns="0" rtlCol="0" anchor="t"/>
          <a:lstStyle/>
          <a:p>
            <a:pPr algn="l" indent="0" marL="0">
              <a:buNone/>
            </a:pPr>
            <a:r>
              <a:rPr lang="en-US" sz="1100" b="1" dirty="0">
                <a:solidFill>
                  <a:srgbClr val="6E655C"/>
                </a:solidFill>
                <a:latin typeface="Calibri" pitchFamily="34" charset="0"/>
                <a:ea typeface="Calibri" pitchFamily="34" charset="-122"/>
                <a:cs typeface="Calibri" pitchFamily="34" charset="-120"/>
              </a:rPr>
              <a:t>Result: four trials of one lock</a:t>
            </a:r>
            <a:endParaRPr lang="en-US" sz="11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715000" y="1591056"/>
          <a:ext cx="2971800" cy="914400"/>
        </p:xfrm>
        <a:graphic>
          <a:graphicData uri="http://schemas.openxmlformats.org/drawingml/2006/table">
            <a:tbl>
              <a:tblPr/>
              <a:tblGrid>
                <a:gridCol w="1325880"/>
                <a:gridCol w="1645920"/>
              </a:tblGrid>
              <a:tr h="274320">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Spend</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solidFill>
                      <a:srgbClr val="2B2622"/>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Result</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solidFill>
                      <a:srgbClr val="2B2622"/>
                    </a:solidFill>
                  </a:tcPr>
                </a:tc>
              </a:tr>
              <a:tr h="274320">
                <a:tc>
                  <a:txBody>
                    <a:bodyPr/>
                    <a:lstStyle/>
                    <a:p>
                      <a:pPr indent="0" marL="0">
                        <a:buNone/>
                      </a:pPr>
                      <a:r>
                        <a:rPr lang="en-US" sz="950" dirty="0">
                          <a:solidFill>
                            <a:srgbClr val="2B2622"/>
                          </a:solidFill>
                          <a:latin typeface="Calibri" pitchFamily="34" charset="0"/>
                          <a:ea typeface="Calibri" pitchFamily="34" charset="-122"/>
                          <a:cs typeface="Calibri" pitchFamily="34" charset="-120"/>
                        </a:rPr>
                        <a:t>Lock: bytes, kind</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c>
                  <a:txBody>
                    <a:bodyPr/>
                    <a:lstStyle/>
                    <a:p>
                      <a:pPr indent="0" marL="0">
                        <a:buNone/>
                      </a:pPr>
                      <a:r>
                        <a:rPr lang="en-US" sz="950" dirty="0">
                          <a:solidFill>
                            <a:srgbClr val="2B2622"/>
                          </a:solidFill>
                          <a:latin typeface="Calibri" pitchFamily="34" charset="0"/>
                          <a:ea typeface="Calibri" pitchFamily="34" charset="-122"/>
                          <a:cs typeface="Calibri" pitchFamily="34" charset="-120"/>
                        </a:rPr>
                        <a:t>25, pubkeyhash</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r>
              <a:tr h="274320">
                <a:tc>
                  <a:txBody>
                    <a:bodyPr/>
                    <a:lstStyle/>
                    <a:p>
                      <a:pPr indent="0" marL="0">
                        <a:buNone/>
                      </a:pPr>
                      <a:r>
                        <a:rPr lang="en-US" sz="950" dirty="0">
                          <a:solidFill>
                            <a:srgbClr val="2B2622"/>
                          </a:solidFill>
                          <a:latin typeface="Calibri" pitchFamily="34" charset="0"/>
                          <a:ea typeface="Calibri" pitchFamily="34" charset="-122"/>
                          <a:cs typeface="Calibri" pitchFamily="34" charset="-120"/>
                        </a:rPr>
                        <a:t>Right key</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c>
                  <a:txBody>
                    <a:bodyPr/>
                    <a:lstStyle/>
                    <a:p>
                      <a:pPr indent="0" marL="0">
                        <a:buNone/>
                      </a:pPr>
                      <a:r>
                        <a:rPr lang="en-US" sz="950" dirty="0">
                          <a:solidFill>
                            <a:srgbClr val="2B2622"/>
                          </a:solidFill>
                          <a:latin typeface="Calibri" pitchFamily="34" charset="0"/>
                          <a:ea typeface="Calibri" pitchFamily="34" charset="-122"/>
                          <a:cs typeface="Calibri" pitchFamily="34" charset="-120"/>
                        </a:rPr>
                        <a:t>OK</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r>
              <a:tr h="274320">
                <a:tc>
                  <a:txBody>
                    <a:bodyPr/>
                    <a:lstStyle/>
                    <a:p>
                      <a:pPr indent="0" marL="0">
                        <a:buNone/>
                      </a:pPr>
                      <a:r>
                        <a:rPr lang="en-US" sz="950" dirty="0">
                          <a:solidFill>
                            <a:srgbClr val="2B2622"/>
                          </a:solidFill>
                          <a:latin typeface="Calibri" pitchFamily="34" charset="0"/>
                          <a:ea typeface="Calibri" pitchFamily="34" charset="-122"/>
                          <a:cs typeface="Calibri" pitchFamily="34" charset="-120"/>
                        </a:rPr>
                        <a:t>Wrong key</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c>
                  <a:txBody>
                    <a:bodyPr/>
                    <a:lstStyle/>
                    <a:p>
                      <a:pPr indent="0" marL="0">
                        <a:buNone/>
                      </a:pPr>
                      <a:r>
                        <a:rPr lang="en-US" sz="950" dirty="0">
                          <a:solidFill>
                            <a:srgbClr val="2B2622"/>
                          </a:solidFill>
                          <a:latin typeface="Calibri" pitchFamily="34" charset="0"/>
                          <a:ea typeface="Calibri" pitchFamily="34" charset="-122"/>
                          <a:cs typeface="Calibri" pitchFamily="34" charset="-120"/>
                        </a:rPr>
                        <a:t>EVAL_FALSE</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r>
              <a:tr h="274320">
                <a:tc>
                  <a:txBody>
                    <a:bodyPr/>
                    <a:lstStyle/>
                    <a:p>
                      <a:pPr indent="0" marL="0">
                        <a:buNone/>
                      </a:pPr>
                      <a:r>
                        <a:rPr lang="en-US" sz="950" dirty="0">
                          <a:solidFill>
                            <a:srgbClr val="2B2622"/>
                          </a:solidFill>
                          <a:latin typeface="Calibri" pitchFamily="34" charset="0"/>
                          <a:ea typeface="Calibri" pitchFamily="34" charset="-122"/>
                          <a:cs typeface="Calibri" pitchFamily="34" charset="-120"/>
                        </a:rPr>
                        <a:t>Amount changed</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c>
                  <a:txBody>
                    <a:bodyPr/>
                    <a:lstStyle/>
                    <a:p>
                      <a:pPr indent="0" marL="0">
                        <a:buNone/>
                      </a:pPr>
                      <a:r>
                        <a:rPr lang="en-US" sz="950" dirty="0">
                          <a:solidFill>
                            <a:srgbClr val="2B2622"/>
                          </a:solidFill>
                          <a:latin typeface="Calibri" pitchFamily="34" charset="0"/>
                          <a:ea typeface="Calibri" pitchFamily="34" charset="-122"/>
                          <a:cs typeface="Calibri" pitchFamily="34" charset="-120"/>
                        </a:rPr>
                        <a:t>EVAL_FALSE</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r>
            </a:tbl>
          </a:graphicData>
        </a:graphic>
      </p:graphicFrame>
      <p:sp>
        <p:nvSpPr>
          <p:cNvPr id="19" name="Text 16"/>
          <p:cNvSpPr txBox="1"/>
          <p:nvPr/>
        </p:nvSpPr>
        <p:spPr>
          <a:xfrm>
            <a:off x="5715000" y="3236976"/>
            <a:ext cx="2971800" cy="603504"/>
          </a:xfrm>
          <a:prstGeom prst="rect">
            <a:avLst/>
          </a:prstGeom>
          <a:noFill/>
          <a:ln/>
        </p:spPr>
        <p:txBody>
          <a:bodyPr wrap="square" lIns="0" tIns="0" rIns="0" bIns="0" rtlCol="0" anchor="t"/>
          <a:lstStyle/>
          <a:p>
            <a:pPr algn="l" indent="0" marL="0">
              <a:buNone/>
            </a:pPr>
            <a:r>
              <a:rPr lang="en-US" sz="1150" i="1" dirty="0">
                <a:solidFill>
                  <a:srgbClr val="2B2622"/>
                </a:solidFill>
                <a:latin typeface="Calibri" pitchFamily="34" charset="0"/>
                <a:ea typeface="Calibri" pitchFamily="34" charset="-122"/>
                <a:cs typeface="Calibri" pitchFamily="34" charset="-120"/>
              </a:rPr>
              <a:t>Only the right key signing the real amount opens it; the other two fail with EVAL_FALSE.</a:t>
            </a:r>
            <a:endParaRPr lang="en-US" sz="1150" dirty="0"/>
          </a:p>
        </p:txBody>
      </p:sp>
      <p:sp>
        <p:nvSpPr>
          <p:cNvPr id="20" name="Shape 17"/>
          <p:cNvSpPr/>
          <p:nvPr/>
        </p:nvSpPr>
        <p:spPr>
          <a:xfrm>
            <a:off x="457200" y="4636008"/>
            <a:ext cx="91440" cy="310896"/>
          </a:xfrm>
          <a:prstGeom prst="rect">
            <a:avLst/>
          </a:prstGeom>
          <a:solidFill>
            <a:srgbClr val="D97A14"/>
          </a:solidFill>
          <a:ln w="12700">
            <a:solidFill>
              <a:srgbClr val="D97A14"/>
            </a:solidFill>
            <a:prstDash val="solid"/>
          </a:ln>
        </p:spPr>
      </p:sp>
      <p:sp>
        <p:nvSpPr>
          <p:cNvPr id="21" name="Text 18"/>
          <p:cNvSpPr txBox="1"/>
          <p:nvPr/>
        </p:nvSpPr>
        <p:spPr>
          <a:xfrm>
            <a:off x="658368" y="4599432"/>
            <a:ext cx="6949440" cy="384048"/>
          </a:xfrm>
          <a:prstGeom prst="rect">
            <a:avLst/>
          </a:prstGeom>
          <a:noFill/>
          <a:ln/>
        </p:spPr>
        <p:txBody>
          <a:bodyPr wrap="square" lIns="0" tIns="0" rIns="0" bIns="0" rtlCol="0" anchor="ctr"/>
          <a:lstStyle/>
          <a:p>
            <a:pPr indent="0" marL="0">
              <a:buNone/>
            </a:pPr>
            <a:r>
              <a:rPr lang="en-US" sz="1350" b="1" i="1" dirty="0">
                <a:solidFill>
                  <a:srgbClr val="2B2622"/>
                </a:solidFill>
                <a:latin typeface="Cambria" pitchFamily="34" charset="0"/>
                <a:ea typeface="Cambria" pitchFamily="34" charset="-122"/>
                <a:cs typeface="Cambria" pitchFamily="34" charset="-120"/>
              </a:rPr>
              <a:t>Only the owner of the key, signing this exact transaction, opens the lock</a:t>
            </a:r>
            <a:endParaRPr lang="en-US" sz="1350" dirty="0"/>
          </a:p>
        </p:txBody>
      </p:sp>
      <p:sp>
        <p:nvSpPr>
          <p:cNvPr id="22" name="Text 19"/>
          <p:cNvSpPr txBox="1"/>
          <p:nvPr/>
        </p:nvSpPr>
        <p:spPr>
          <a:xfrm>
            <a:off x="7863840" y="4645152"/>
            <a:ext cx="868680" cy="310896"/>
          </a:xfrm>
          <a:prstGeom prst="rect">
            <a:avLst/>
          </a:prstGeom>
          <a:noFill/>
          <a:ln/>
        </p:spPr>
        <p:txBody>
          <a:bodyPr wrap="square" lIns="0" tIns="0" rIns="0" bIns="0" rtlCol="0" anchor="ctr"/>
          <a:lstStyle/>
          <a:p>
            <a:pPr algn="r" indent="0" marL="0">
              <a:buNone/>
            </a:pPr>
            <a:r>
              <a:rPr lang="en-US" sz="1100" dirty="0">
                <a:solidFill>
                  <a:srgbClr val="6E655C"/>
                </a:solidFill>
                <a:latin typeface="Calibri" pitchFamily="34" charset="0"/>
                <a:ea typeface="Calibri" pitchFamily="34" charset="-122"/>
                <a:cs typeface="Calibri" pitchFamily="34" charset="-120"/>
              </a:rPr>
              <a:t>15 / 61</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F6EF"/>
        </a:solidFill>
      </p:bgPr>
    </p:bg>
    <p:spTree>
      <p:nvGrpSpPr>
        <p:cNvPr id="1" name=""/>
        <p:cNvGrpSpPr/>
        <p:nvPr/>
      </p:nvGrpSpPr>
      <p:grpSpPr>
        <a:xfrm>
          <a:off x="0" y="0"/>
          <a:ext cx="0" cy="0"/>
          <a:chOff x="0" y="0"/>
          <a:chExt cx="0" cy="0"/>
        </a:xfrm>
      </p:grpSpPr>
      <p:sp>
        <p:nvSpPr>
          <p:cNvPr id="2" name="Shape 0"/>
          <p:cNvSpPr/>
          <p:nvPr/>
        </p:nvSpPr>
        <p:spPr>
          <a:xfrm>
            <a:off x="457200" y="347472"/>
            <a:ext cx="566928" cy="384048"/>
          </a:xfrm>
          <a:prstGeom prst="roundRect">
            <a:avLst>
              <a:gd name="adj" fmla="val 19048"/>
            </a:avLst>
          </a:prstGeom>
          <a:solidFill>
            <a:srgbClr val="D97A14"/>
          </a:solidFill>
          <a:ln w="12700">
            <a:solidFill>
              <a:srgbClr val="D97A14"/>
            </a:solidFill>
            <a:prstDash val="solid"/>
          </a:ln>
        </p:spPr>
      </p:sp>
      <p:sp>
        <p:nvSpPr>
          <p:cNvPr id="3" name="Text 1"/>
          <p:cNvSpPr txBox="1"/>
          <p:nvPr/>
        </p:nvSpPr>
        <p:spPr>
          <a:xfrm>
            <a:off x="457200" y="347472"/>
            <a:ext cx="56692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4" name="Text 2"/>
          <p:cNvSpPr txBox="1"/>
          <p:nvPr/>
        </p:nvSpPr>
        <p:spPr>
          <a:xfrm>
            <a:off x="1143000" y="237744"/>
            <a:ext cx="7543800" cy="566928"/>
          </a:xfrm>
          <a:prstGeom prst="rect">
            <a:avLst/>
          </a:prstGeom>
          <a:noFill/>
          <a:ln/>
        </p:spPr>
        <p:txBody>
          <a:bodyPr wrap="square" lIns="0" tIns="0" rIns="0" bIns="0" rtlCol="0" anchor="ctr"/>
          <a:lstStyle/>
          <a:p>
            <a:pPr indent="0" marL="0">
              <a:buNone/>
            </a:pPr>
            <a:r>
              <a:rPr lang="en-US" sz="2800" b="1" dirty="0">
                <a:solidFill>
                  <a:srgbClr val="2B2622"/>
                </a:solidFill>
                <a:latin typeface="Cambria" pitchFamily="34" charset="0"/>
                <a:ea typeface="Cambria" pitchFamily="34" charset="-122"/>
                <a:cs typeface="Cambria" pitchFamily="34" charset="-120"/>
              </a:rPr>
              <a:t>Locking a coin to a key (2 of 2)</a:t>
            </a:r>
            <a:endParaRPr lang="en-US" sz="2800" dirty="0"/>
          </a:p>
        </p:txBody>
      </p:sp>
      <p:sp>
        <p:nvSpPr>
          <p:cNvPr id="5" name="Text 3"/>
          <p:cNvSpPr txBox="1"/>
          <p:nvPr/>
        </p:nvSpPr>
        <p:spPr>
          <a:xfrm>
            <a:off x="1143000" y="786384"/>
            <a:ext cx="7543800" cy="310896"/>
          </a:xfrm>
          <a:prstGeom prst="rect">
            <a:avLst/>
          </a:prstGeom>
          <a:noFill/>
          <a:ln/>
        </p:spPr>
        <p:txBody>
          <a:bodyPr wrap="square" lIns="0" tIns="0" rIns="0" bIns="0" rtlCol="0" anchor="ctr"/>
          <a:lstStyle/>
          <a:p>
            <a:pPr indent="0" marL="0">
              <a:buNone/>
            </a:pPr>
            <a:r>
              <a:rPr lang="en-US" sz="1300" i="1" dirty="0">
                <a:solidFill>
                  <a:srgbClr val="6E655C"/>
                </a:solidFill>
                <a:latin typeface="Calibri" pitchFamily="34" charset="0"/>
                <a:ea typeface="Calibri" pitchFamily="34" charset="-122"/>
                <a:cs typeface="Calibri" pitchFamily="34" charset="-120"/>
              </a:rPr>
              <a:t>Each card: the meaning in a few words, then something you already know</a:t>
            </a:r>
            <a:endParaRPr lang="en-US" sz="1300" dirty="0"/>
          </a:p>
        </p:txBody>
      </p:sp>
      <p:sp>
        <p:nvSpPr>
          <p:cNvPr id="6" name="Shape 4"/>
          <p:cNvSpPr/>
          <p:nvPr/>
        </p:nvSpPr>
        <p:spPr>
          <a:xfrm>
            <a:off x="457200" y="1280160"/>
            <a:ext cx="2645664" cy="1516990"/>
          </a:xfrm>
          <a:prstGeom prst="roundRect">
            <a:avLst>
              <a:gd name="adj" fmla="val 4822"/>
            </a:avLst>
          </a:prstGeom>
          <a:solidFill>
            <a:srgbClr val="F2ECE1"/>
          </a:solidFill>
          <a:ln w="12700">
            <a:solidFill>
              <a:srgbClr val="DFD6C7"/>
            </a:solidFill>
            <a:prstDash val="solid"/>
          </a:ln>
        </p:spPr>
      </p:sp>
      <p:sp>
        <p:nvSpPr>
          <p:cNvPr id="7" name="Shape 5"/>
          <p:cNvSpPr/>
          <p:nvPr/>
        </p:nvSpPr>
        <p:spPr>
          <a:xfrm>
            <a:off x="475488" y="1408176"/>
            <a:ext cx="64008" cy="1260958"/>
          </a:xfrm>
          <a:prstGeom prst="rect">
            <a:avLst/>
          </a:prstGeom>
          <a:solidFill>
            <a:srgbClr val="D97A14"/>
          </a:solidFill>
          <a:ln w="12700">
            <a:solidFill>
              <a:srgbClr val="D97A14"/>
            </a:solidFill>
            <a:prstDash val="solid"/>
          </a:ln>
        </p:spPr>
      </p:sp>
      <p:sp>
        <p:nvSpPr>
          <p:cNvPr id="8" name="Text 6"/>
          <p:cNvSpPr txBox="1"/>
          <p:nvPr/>
        </p:nvSpPr>
        <p:spPr>
          <a:xfrm>
            <a:off x="640080" y="1344168"/>
            <a:ext cx="2371344" cy="790956"/>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signature hash</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The digest of the transaction that a signature really signs.</a:t>
            </a:r>
            <a:endParaRPr lang="en-US" sz="1300" dirty="0"/>
          </a:p>
        </p:txBody>
      </p:sp>
      <p:sp>
        <p:nvSpPr>
          <p:cNvPr id="9" name="Text 7"/>
          <p:cNvSpPr txBox="1"/>
          <p:nvPr/>
        </p:nvSpPr>
        <p:spPr>
          <a:xfrm>
            <a:off x="640080" y="2162556"/>
            <a:ext cx="2371344" cy="571500"/>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the summary page that is initialled instead of the whole contract.</a:t>
            </a:r>
            <a:endParaRPr lang="en-US" sz="1150" dirty="0"/>
          </a:p>
        </p:txBody>
      </p:sp>
      <p:sp>
        <p:nvSpPr>
          <p:cNvPr id="10" name="Shape 8"/>
          <p:cNvSpPr/>
          <p:nvPr/>
        </p:nvSpPr>
        <p:spPr>
          <a:xfrm>
            <a:off x="3249168" y="1280160"/>
            <a:ext cx="2645664" cy="1516990"/>
          </a:xfrm>
          <a:prstGeom prst="roundRect">
            <a:avLst>
              <a:gd name="adj" fmla="val 4822"/>
            </a:avLst>
          </a:prstGeom>
          <a:solidFill>
            <a:srgbClr val="F2ECE1"/>
          </a:solidFill>
          <a:ln w="12700">
            <a:solidFill>
              <a:srgbClr val="DFD6C7"/>
            </a:solidFill>
            <a:prstDash val="solid"/>
          </a:ln>
        </p:spPr>
      </p:sp>
      <p:sp>
        <p:nvSpPr>
          <p:cNvPr id="11" name="Shape 9"/>
          <p:cNvSpPr/>
          <p:nvPr/>
        </p:nvSpPr>
        <p:spPr>
          <a:xfrm>
            <a:off x="3267456" y="1408176"/>
            <a:ext cx="64008" cy="1260958"/>
          </a:xfrm>
          <a:prstGeom prst="rect">
            <a:avLst/>
          </a:prstGeom>
          <a:solidFill>
            <a:srgbClr val="D97A14"/>
          </a:solidFill>
          <a:ln w="12700">
            <a:solidFill>
              <a:srgbClr val="D97A14"/>
            </a:solidFill>
            <a:prstDash val="solid"/>
          </a:ln>
        </p:spPr>
      </p:sp>
      <p:sp>
        <p:nvSpPr>
          <p:cNvPr id="12" name="Text 10"/>
          <p:cNvSpPr txBox="1"/>
          <p:nvPr/>
        </p:nvSpPr>
        <p:spPr>
          <a:xfrm>
            <a:off x="3432048" y="1344168"/>
            <a:ext cx="2371344" cy="790956"/>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hash type</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A flag that says which parts of the transaction are signed.</a:t>
            </a:r>
            <a:endParaRPr lang="en-US" sz="1300" dirty="0"/>
          </a:p>
        </p:txBody>
      </p:sp>
      <p:sp>
        <p:nvSpPr>
          <p:cNvPr id="13" name="Text 11"/>
          <p:cNvSpPr txBox="1"/>
          <p:nvPr/>
        </p:nvSpPr>
        <p:spPr>
          <a:xfrm>
            <a:off x="3432048" y="2162556"/>
            <a:ext cx="2371344" cy="571500"/>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a stamp saying which pages of the contract the signature covers.</a:t>
            </a:r>
            <a:endParaRPr lang="en-US" sz="1150" dirty="0"/>
          </a:p>
        </p:txBody>
      </p:sp>
      <p:sp>
        <p:nvSpPr>
          <p:cNvPr id="14" name="Shape 12"/>
          <p:cNvSpPr/>
          <p:nvPr/>
        </p:nvSpPr>
        <p:spPr>
          <a:xfrm>
            <a:off x="6041136" y="1280160"/>
            <a:ext cx="2645664" cy="1516990"/>
          </a:xfrm>
          <a:prstGeom prst="roundRect">
            <a:avLst>
              <a:gd name="adj" fmla="val 4822"/>
            </a:avLst>
          </a:prstGeom>
          <a:solidFill>
            <a:srgbClr val="F2ECE1"/>
          </a:solidFill>
          <a:ln w="12700">
            <a:solidFill>
              <a:srgbClr val="DFD6C7"/>
            </a:solidFill>
            <a:prstDash val="solid"/>
          </a:ln>
        </p:spPr>
      </p:sp>
      <p:sp>
        <p:nvSpPr>
          <p:cNvPr id="15" name="Shape 13"/>
          <p:cNvSpPr/>
          <p:nvPr/>
        </p:nvSpPr>
        <p:spPr>
          <a:xfrm>
            <a:off x="6059424" y="1408176"/>
            <a:ext cx="64008" cy="1260958"/>
          </a:xfrm>
          <a:prstGeom prst="rect">
            <a:avLst/>
          </a:prstGeom>
          <a:solidFill>
            <a:srgbClr val="D97A14"/>
          </a:solidFill>
          <a:ln w="12700">
            <a:solidFill>
              <a:srgbClr val="D97A14"/>
            </a:solidFill>
            <a:prstDash val="solid"/>
          </a:ln>
        </p:spPr>
      </p:sp>
      <p:sp>
        <p:nvSpPr>
          <p:cNvPr id="16" name="Text 14"/>
          <p:cNvSpPr txBox="1"/>
          <p:nvPr/>
        </p:nvSpPr>
        <p:spPr>
          <a:xfrm>
            <a:off x="6224016" y="1344168"/>
            <a:ext cx="2371344" cy="612648"/>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DER</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The strict byte format in which a signature is written.</a:t>
            </a:r>
            <a:endParaRPr lang="en-US" sz="1300" dirty="0"/>
          </a:p>
        </p:txBody>
      </p:sp>
      <p:sp>
        <p:nvSpPr>
          <p:cNvPr id="17" name="Text 15"/>
          <p:cNvSpPr txBox="1"/>
          <p:nvPr/>
        </p:nvSpPr>
        <p:spPr>
          <a:xfrm>
            <a:off x="6224016" y="1984248"/>
            <a:ext cx="2371344" cy="571500"/>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a form with fixed boxes where each number must go.</a:t>
            </a:r>
            <a:endParaRPr lang="en-US" sz="1150" dirty="0"/>
          </a:p>
        </p:txBody>
      </p:sp>
      <p:sp>
        <p:nvSpPr>
          <p:cNvPr id="18" name="Shape 16"/>
          <p:cNvSpPr/>
          <p:nvPr/>
        </p:nvSpPr>
        <p:spPr>
          <a:xfrm>
            <a:off x="457200" y="4636008"/>
            <a:ext cx="91440" cy="310896"/>
          </a:xfrm>
          <a:prstGeom prst="rect">
            <a:avLst/>
          </a:prstGeom>
          <a:solidFill>
            <a:srgbClr val="D97A14"/>
          </a:solidFill>
          <a:ln w="12700">
            <a:solidFill>
              <a:srgbClr val="D97A14"/>
            </a:solidFill>
            <a:prstDash val="solid"/>
          </a:ln>
        </p:spPr>
      </p:sp>
      <p:sp>
        <p:nvSpPr>
          <p:cNvPr id="19" name="Text 17"/>
          <p:cNvSpPr txBox="1"/>
          <p:nvPr/>
        </p:nvSpPr>
        <p:spPr>
          <a:xfrm>
            <a:off x="658368" y="4599432"/>
            <a:ext cx="6949440" cy="384048"/>
          </a:xfrm>
          <a:prstGeom prst="rect">
            <a:avLst/>
          </a:prstGeom>
          <a:noFill/>
          <a:ln/>
        </p:spPr>
        <p:txBody>
          <a:bodyPr wrap="square" lIns="0" tIns="0" rIns="0" bIns="0" rtlCol="0" anchor="ctr"/>
          <a:lstStyle/>
          <a:p>
            <a:pPr indent="0" marL="0">
              <a:buNone/>
            </a:pPr>
            <a:r>
              <a:rPr lang="en-US" sz="1350" b="1" i="1" dirty="0">
                <a:solidFill>
                  <a:srgbClr val="2B2622"/>
                </a:solidFill>
                <a:latin typeface="Cambria" pitchFamily="34" charset="0"/>
                <a:ea typeface="Cambria" pitchFamily="34" charset="-122"/>
                <a:cs typeface="Cambria" pitchFamily="34" charset="-120"/>
              </a:rPr>
              <a:t>Say each idea twice: once as the meaning, once as the everyday comparison</a:t>
            </a:r>
            <a:endParaRPr lang="en-US" sz="1350" dirty="0"/>
          </a:p>
        </p:txBody>
      </p:sp>
      <p:sp>
        <p:nvSpPr>
          <p:cNvPr id="20" name="Text 18"/>
          <p:cNvSpPr txBox="1"/>
          <p:nvPr/>
        </p:nvSpPr>
        <p:spPr>
          <a:xfrm>
            <a:off x="7863840" y="4645152"/>
            <a:ext cx="868680" cy="310896"/>
          </a:xfrm>
          <a:prstGeom prst="rect">
            <a:avLst/>
          </a:prstGeom>
          <a:noFill/>
          <a:ln/>
        </p:spPr>
        <p:txBody>
          <a:bodyPr wrap="square" lIns="0" tIns="0" rIns="0" bIns="0" rtlCol="0" anchor="ctr"/>
          <a:lstStyle/>
          <a:p>
            <a:pPr algn="r" indent="0" marL="0">
              <a:buNone/>
            </a:pPr>
            <a:r>
              <a:rPr lang="en-US" sz="1100" dirty="0">
                <a:solidFill>
                  <a:srgbClr val="6E655C"/>
                </a:solidFill>
                <a:latin typeface="Calibri" pitchFamily="34" charset="0"/>
                <a:ea typeface="Calibri" pitchFamily="34" charset="-122"/>
                <a:cs typeface="Calibri" pitchFamily="34" charset="-120"/>
              </a:rPr>
              <a:t>16 / 61</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AF6EF"/>
        </a:solidFill>
      </p:bgPr>
    </p:bg>
    <p:spTree>
      <p:nvGrpSpPr>
        <p:cNvPr id="1" name=""/>
        <p:cNvGrpSpPr/>
        <p:nvPr/>
      </p:nvGrpSpPr>
      <p:grpSpPr>
        <a:xfrm>
          <a:off x="0" y="0"/>
          <a:ext cx="0" cy="0"/>
          <a:chOff x="0" y="0"/>
          <a:chExt cx="0" cy="0"/>
        </a:xfrm>
      </p:grpSpPr>
      <p:sp>
        <p:nvSpPr>
          <p:cNvPr id="2" name="Shape 0"/>
          <p:cNvSpPr/>
          <p:nvPr/>
        </p:nvSpPr>
        <p:spPr>
          <a:xfrm>
            <a:off x="457200" y="347472"/>
            <a:ext cx="566928" cy="384048"/>
          </a:xfrm>
          <a:prstGeom prst="roundRect">
            <a:avLst>
              <a:gd name="adj" fmla="val 19048"/>
            </a:avLst>
          </a:prstGeom>
          <a:solidFill>
            <a:srgbClr val="D97A14"/>
          </a:solidFill>
          <a:ln w="12700">
            <a:solidFill>
              <a:srgbClr val="D97A14"/>
            </a:solidFill>
            <a:prstDash val="solid"/>
          </a:ln>
        </p:spPr>
      </p:sp>
      <p:sp>
        <p:nvSpPr>
          <p:cNvPr id="3" name="Text 1"/>
          <p:cNvSpPr txBox="1"/>
          <p:nvPr/>
        </p:nvSpPr>
        <p:spPr>
          <a:xfrm>
            <a:off x="457200" y="347472"/>
            <a:ext cx="56692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4" name="Text 2"/>
          <p:cNvSpPr txBox="1"/>
          <p:nvPr/>
        </p:nvSpPr>
        <p:spPr>
          <a:xfrm>
            <a:off x="1143000" y="237744"/>
            <a:ext cx="7543800" cy="566928"/>
          </a:xfrm>
          <a:prstGeom prst="rect">
            <a:avLst/>
          </a:prstGeom>
          <a:noFill/>
          <a:ln/>
        </p:spPr>
        <p:txBody>
          <a:bodyPr wrap="square" lIns="0" tIns="0" rIns="0" bIns="0" rtlCol="0" anchor="ctr"/>
          <a:lstStyle/>
          <a:p>
            <a:pPr indent="0" marL="0">
              <a:buNone/>
            </a:pPr>
            <a:r>
              <a:rPr lang="en-US" sz="2500" b="1" dirty="0">
                <a:solidFill>
                  <a:srgbClr val="2B2622"/>
                </a:solidFill>
                <a:latin typeface="Cambria" pitchFamily="34" charset="0"/>
                <a:ea typeface="Cambria" pitchFamily="34" charset="-122"/>
                <a:cs typeface="Cambria" pitchFamily="34" charset="-120"/>
              </a:rPr>
              <a:t>A DER signature, strict and loose</a:t>
            </a:r>
            <a:endParaRPr lang="en-US" sz="2500" dirty="0"/>
          </a:p>
        </p:txBody>
      </p:sp>
      <p:sp>
        <p:nvSpPr>
          <p:cNvPr id="5" name="Text 3"/>
          <p:cNvSpPr txBox="1"/>
          <p:nvPr/>
        </p:nvSpPr>
        <p:spPr>
          <a:xfrm>
            <a:off x="1143000" y="786384"/>
            <a:ext cx="7543800" cy="310896"/>
          </a:xfrm>
          <a:prstGeom prst="rect">
            <a:avLst/>
          </a:prstGeom>
          <a:noFill/>
          <a:ln/>
        </p:spPr>
        <p:txBody>
          <a:bodyPr wrap="square" lIns="0" tIns="0" rIns="0" bIns="0" rtlCol="0" anchor="ctr"/>
          <a:lstStyle/>
          <a:p>
            <a:pPr indent="0" marL="0">
              <a:buNone/>
            </a:pPr>
            <a:r>
              <a:rPr lang="en-US" sz="1300" i="1" dirty="0">
                <a:solidFill>
                  <a:srgbClr val="6E655C"/>
                </a:solidFill>
                <a:latin typeface="Calibri" pitchFamily="34" charset="0"/>
                <a:ea typeface="Calibri" pitchFamily="34" charset="-122"/>
                <a:cs typeface="Calibri" pitchFamily="34" charset="-120"/>
              </a:rPr>
              <a:t>Why the encoding of a signature is a consensus rule</a:t>
            </a:r>
            <a:endParaRPr lang="en-US" sz="1300" dirty="0"/>
          </a:p>
        </p:txBody>
      </p:sp>
      <p:sp>
        <p:nvSpPr>
          <p:cNvPr id="6" name="Shape 4"/>
          <p:cNvSpPr/>
          <p:nvPr/>
        </p:nvSpPr>
        <p:spPr>
          <a:xfrm>
            <a:off x="457200" y="1325880"/>
            <a:ext cx="5074920" cy="311810"/>
          </a:xfrm>
          <a:prstGeom prst="roundRect">
            <a:avLst>
              <a:gd name="adj" fmla="val 23460"/>
            </a:avLst>
          </a:prstGeom>
          <a:solidFill>
            <a:srgbClr val="23272E"/>
          </a:solidFill>
          <a:ln w="12700">
            <a:solidFill>
              <a:srgbClr val="23272E"/>
            </a:solidFill>
            <a:prstDash val="solid"/>
          </a:ln>
        </p:spPr>
      </p:sp>
      <p:sp>
        <p:nvSpPr>
          <p:cNvPr id="7" name="Text 5"/>
          <p:cNvSpPr txBox="1"/>
          <p:nvPr/>
        </p:nvSpPr>
        <p:spPr>
          <a:xfrm>
            <a:off x="603504" y="1399032"/>
            <a:ext cx="4800600" cy="183794"/>
          </a:xfrm>
          <a:prstGeom prst="rect">
            <a:avLst/>
          </a:prstGeom>
          <a:noFill/>
          <a:ln/>
        </p:spPr>
        <p:txBody>
          <a:bodyPr wrap="square" lIns="0" tIns="0" rIns="0" bIns="0" rtlCol="0" anchor="t"/>
          <a:lstStyle/>
          <a:p>
            <a:pPr indent="0" marL="0">
              <a:buNone/>
            </a:pPr>
            <a:r>
              <a:rPr lang="en-US" sz="1000" b="1" dirty="0">
                <a:solidFill>
                  <a:srgbClr val="D97A14"/>
                </a:solidFill>
                <a:latin typeface="Courier New" pitchFamily="34" charset="0"/>
                <a:ea typeface="Courier New" pitchFamily="34" charset="-122"/>
                <a:cs typeface="Courier New" pitchFamily="34" charset="-120"/>
              </a:rPr>
              <a:t>&gt;&gt;&gt; </a:t>
            </a:r>
            <a:r>
              <a:rPr lang="en-US" sz="1000" dirty="0">
                <a:solidFill>
                  <a:srgbClr val="E6EDF3"/>
                </a:solidFill>
                <a:latin typeface="Courier New" pitchFamily="34" charset="0"/>
                <a:ea typeface="Courier New" pitchFamily="34" charset="-122"/>
                <a:cs typeface="Courier New" pitchFamily="34" charset="-120"/>
              </a:rPr>
              <a:t>sig = L.ecdsa_sign(K.secret(</a:t>
            </a:r>
            <a:r>
              <a:rPr lang="en-US" sz="1000" dirty="0">
                <a:solidFill>
                  <a:srgbClr val="FFD28A"/>
                </a:solidFill>
                <a:latin typeface="Courier New" pitchFamily="34" charset="0"/>
                <a:ea typeface="Courier New" pitchFamily="34" charset="-122"/>
                <a:cs typeface="Courier New" pitchFamily="34" charset="-120"/>
              </a:rPr>
              <a:t>1</a:t>
            </a:r>
            <a:r>
              <a:rPr lang="en-US" sz="1000" dirty="0">
                <a:solidFill>
                  <a:srgbClr val="E6EDF3"/>
                </a:solidFill>
                <a:latin typeface="Courier New" pitchFamily="34" charset="0"/>
                <a:ea typeface="Courier New" pitchFamily="34" charset="-122"/>
                <a:cs typeface="Courier New" pitchFamily="34" charset="-120"/>
              </a:rPr>
              <a:t>), L.sha256(b</a:t>
            </a:r>
            <a:r>
              <a:rPr lang="en-US" sz="1000" dirty="0">
                <a:solidFill>
                  <a:srgbClr val="9ECBFF"/>
                </a:solidFill>
                <a:latin typeface="Courier New" pitchFamily="34" charset="0"/>
                <a:ea typeface="Courier New" pitchFamily="34" charset="-122"/>
                <a:cs typeface="Courier New" pitchFamily="34" charset="-120"/>
              </a:rPr>
              <a:t>'pay Bob'</a:t>
            </a:r>
            <a:r>
              <a:rPr lang="en-US" sz="1000" dirty="0">
                <a:solidFill>
                  <a:srgbClr val="E6EDF3"/>
                </a:solidFill>
                <a:latin typeface="Courier New" pitchFamily="34" charset="0"/>
                <a:ea typeface="Courier New" pitchFamily="34" charset="-122"/>
                <a:cs typeface="Courier New" pitchFamily="34" charset="-120"/>
              </a:rPr>
              <a:t>))</a:t>
            </a:r>
            <a:endParaRPr lang="en-US" sz="1000" dirty="0"/>
          </a:p>
        </p:txBody>
      </p:sp>
      <p:sp>
        <p:nvSpPr>
          <p:cNvPr id="8" name="Shape 6"/>
          <p:cNvSpPr/>
          <p:nvPr/>
        </p:nvSpPr>
        <p:spPr>
          <a:xfrm>
            <a:off x="457200" y="1957730"/>
            <a:ext cx="5074920" cy="476402"/>
          </a:xfrm>
          <a:prstGeom prst="roundRect">
            <a:avLst>
              <a:gd name="adj" fmla="val 15355"/>
            </a:avLst>
          </a:prstGeom>
          <a:solidFill>
            <a:srgbClr val="23272E"/>
          </a:solidFill>
          <a:ln w="12700">
            <a:solidFill>
              <a:srgbClr val="23272E"/>
            </a:solidFill>
            <a:prstDash val="solid"/>
          </a:ln>
        </p:spPr>
      </p:sp>
      <p:sp>
        <p:nvSpPr>
          <p:cNvPr id="9" name="Text 7"/>
          <p:cNvSpPr txBox="1"/>
          <p:nvPr/>
        </p:nvSpPr>
        <p:spPr>
          <a:xfrm>
            <a:off x="603504" y="2030882"/>
            <a:ext cx="4800600" cy="348386"/>
          </a:xfrm>
          <a:prstGeom prst="rect">
            <a:avLst/>
          </a:prstGeom>
          <a:noFill/>
          <a:ln/>
        </p:spPr>
        <p:txBody>
          <a:bodyPr wrap="square" lIns="0" tIns="0" rIns="0" bIns="0" rtlCol="0" anchor="t"/>
          <a:lstStyle/>
          <a:p>
            <a:pPr indent="0" marL="0">
              <a:buNone/>
            </a:pPr>
            <a:r>
              <a:rPr lang="en-US" sz="1000" b="1" dirty="0">
                <a:solidFill>
                  <a:srgbClr val="D97A14"/>
                </a:solidFill>
                <a:latin typeface="Courier New" pitchFamily="34" charset="0"/>
                <a:ea typeface="Courier New" pitchFamily="34" charset="-122"/>
                <a:cs typeface="Courier New" pitchFamily="34" charset="-120"/>
              </a:rPr>
              <a:t>&gt;&gt;&gt; </a:t>
            </a:r>
            <a:r>
              <a:rPr lang="en-US" sz="1000" dirty="0">
                <a:solidFill>
                  <a:srgbClr val="E6EDF3"/>
                </a:solidFill>
                <a:latin typeface="Courier New" pitchFamily="34" charset="0"/>
                <a:ea typeface="Courier New" pitchFamily="34" charset="-122"/>
                <a:cs typeface="Courier New" pitchFamily="34" charset="-120"/>
              </a:rPr>
              <a:t>full = sig + b</a:t>
            </a:r>
            <a:r>
              <a:rPr lang="en-US" sz="1000" dirty="0">
                <a:solidFill>
                  <a:srgbClr val="9ECBFF"/>
                </a:solidFill>
                <a:latin typeface="Courier New" pitchFamily="34" charset="0"/>
                <a:ea typeface="Courier New" pitchFamily="34" charset="-122"/>
                <a:cs typeface="Courier New" pitchFamily="34" charset="-120"/>
              </a:rPr>
              <a:t>'\x01'</a:t>
            </a:r>
            <a:endParaRPr lang="en-US" sz="1000" dirty="0"/>
          </a:p>
          <a:p>
            <a:pPr indent="0" marL="0">
              <a:buNone/>
            </a:pPr>
            <a:r>
              <a:rPr lang="en-US" sz="1000" b="1" dirty="0">
                <a:solidFill>
                  <a:srgbClr val="D97A14"/>
                </a:solidFill>
                <a:latin typeface="Courier New" pitchFamily="34" charset="0"/>
                <a:ea typeface="Courier New" pitchFamily="34" charset="-122"/>
                <a:cs typeface="Courier New" pitchFamily="34" charset="-120"/>
              </a:rPr>
              <a:t>&gt;&gt;&gt; </a:t>
            </a:r>
            <a:r>
              <a:rPr lang="en-US" sz="1000" dirty="0">
                <a:solidFill>
                  <a:srgbClr val="E6EDF3"/>
                </a:solidFill>
                <a:latin typeface="Courier New" pitchFamily="34" charset="0"/>
                <a:ea typeface="Courier New" pitchFamily="34" charset="-122"/>
                <a:cs typeface="Courier New" pitchFamily="34" charset="-120"/>
              </a:rPr>
              <a:t>facts = [len(full), full[</a:t>
            </a:r>
            <a:r>
              <a:rPr lang="en-US" sz="1000" dirty="0">
                <a:solidFill>
                  <a:srgbClr val="FFD28A"/>
                </a:solidFill>
                <a:latin typeface="Courier New" pitchFamily="34" charset="0"/>
                <a:ea typeface="Courier New" pitchFamily="34" charset="-122"/>
                <a:cs typeface="Courier New" pitchFamily="34" charset="-120"/>
              </a:rPr>
              <a:t>0</a:t>
            </a:r>
            <a:r>
              <a:rPr lang="en-US" sz="1000" dirty="0">
                <a:solidFill>
                  <a:srgbClr val="E6EDF3"/>
                </a:solidFill>
                <a:latin typeface="Courier New" pitchFamily="34" charset="0"/>
                <a:ea typeface="Courier New" pitchFamily="34" charset="-122"/>
                <a:cs typeface="Courier New" pitchFamily="34" charset="-120"/>
              </a:rPr>
              <a:t>], L.is_low_s(full)]</a:t>
            </a:r>
            <a:endParaRPr lang="en-US" sz="1000" dirty="0"/>
          </a:p>
        </p:txBody>
      </p:sp>
      <p:sp>
        <p:nvSpPr>
          <p:cNvPr id="10" name="Shape 8"/>
          <p:cNvSpPr/>
          <p:nvPr/>
        </p:nvSpPr>
        <p:spPr>
          <a:xfrm>
            <a:off x="457200" y="2754173"/>
            <a:ext cx="5074920" cy="972007"/>
          </a:xfrm>
          <a:prstGeom prst="roundRect">
            <a:avLst>
              <a:gd name="adj" fmla="val 7526"/>
            </a:avLst>
          </a:prstGeom>
          <a:solidFill>
            <a:srgbClr val="23272E"/>
          </a:solidFill>
          <a:ln w="12700">
            <a:solidFill>
              <a:srgbClr val="23272E"/>
            </a:solidFill>
            <a:prstDash val="solid"/>
          </a:ln>
        </p:spPr>
      </p:sp>
      <p:sp>
        <p:nvSpPr>
          <p:cNvPr id="11" name="Text 9"/>
          <p:cNvSpPr txBox="1"/>
          <p:nvPr/>
        </p:nvSpPr>
        <p:spPr>
          <a:xfrm>
            <a:off x="603504" y="2827325"/>
            <a:ext cx="4800600" cy="843991"/>
          </a:xfrm>
          <a:prstGeom prst="rect">
            <a:avLst/>
          </a:prstGeom>
          <a:noFill/>
          <a:ln/>
        </p:spPr>
        <p:txBody>
          <a:bodyPr wrap="square" lIns="0" tIns="0" rIns="0" bIns="0" rtlCol="0" anchor="t"/>
          <a:lstStyle/>
          <a:p>
            <a:pPr indent="0" marL="0">
              <a:buNone/>
            </a:pPr>
            <a:r>
              <a:rPr lang="en-US" sz="1000" b="1" dirty="0">
                <a:solidFill>
                  <a:srgbClr val="D97A14"/>
                </a:solidFill>
                <a:latin typeface="Courier New" pitchFamily="34" charset="0"/>
                <a:ea typeface="Courier New" pitchFamily="34" charset="-122"/>
                <a:cs typeface="Courier New" pitchFamily="34" charset="-120"/>
              </a:rPr>
              <a:t>&gt;&gt;&gt; </a:t>
            </a:r>
            <a:r>
              <a:rPr lang="en-US" sz="1000" dirty="0">
                <a:solidFill>
                  <a:srgbClr val="E6EDF3"/>
                </a:solidFill>
                <a:latin typeface="Courier New" pitchFamily="34" charset="0"/>
                <a:ea typeface="Courier New" pitchFamily="34" charset="-122"/>
                <a:cs typeface="Courier New" pitchFamily="34" charset="-120"/>
              </a:rPr>
              <a:t>nod = L.MAINNET_FLAGS - {</a:t>
            </a:r>
            <a:r>
              <a:rPr lang="en-US" sz="1000" dirty="0">
                <a:solidFill>
                  <a:srgbClr val="9ECBFF"/>
                </a:solidFill>
                <a:latin typeface="Courier New" pitchFamily="34" charset="0"/>
                <a:ea typeface="Courier New" pitchFamily="34" charset="-122"/>
                <a:cs typeface="Courier New" pitchFamily="34" charset="-120"/>
              </a:rPr>
              <a:t>'DERSIG'</a:t>
            </a:r>
            <a:r>
              <a:rPr lang="en-US" sz="1000" dirty="0">
                <a:solidFill>
                  <a:srgbClr val="E6EDF3"/>
                </a:solidFill>
                <a:latin typeface="Courier New" pitchFamily="34" charset="0"/>
                <a:ea typeface="Courier New" pitchFamily="34" charset="-122"/>
                <a:cs typeface="Courier New" pitchFamily="34" charset="-120"/>
              </a:rPr>
              <a:t>}</a:t>
            </a:r>
            <a:endParaRPr lang="en-US" sz="1000" dirty="0"/>
          </a:p>
          <a:p>
            <a:pPr indent="0" marL="0">
              <a:buNone/>
            </a:pPr>
            <a:r>
              <a:rPr lang="en-US" sz="1000" b="1" dirty="0">
                <a:solidFill>
                  <a:srgbClr val="D97A14"/>
                </a:solidFill>
                <a:latin typeface="Courier New" pitchFamily="34" charset="0"/>
                <a:ea typeface="Courier New" pitchFamily="34" charset="-122"/>
                <a:cs typeface="Courier New" pitchFamily="34" charset="-120"/>
              </a:rPr>
              <a:t>&gt;&gt;&gt; </a:t>
            </a:r>
            <a:r>
              <a:rPr lang="en-US" sz="1000" dirty="0">
                <a:solidFill>
                  <a:srgbClr val="E6EDF3"/>
                </a:solidFill>
                <a:latin typeface="Courier New" pitchFamily="34" charset="0"/>
                <a:ea typeface="Courier New" pitchFamily="34" charset="-122"/>
                <a:cs typeface="Courier New" pitchFamily="34" charset="-120"/>
              </a:rPr>
              <a:t>old = p2pkh(loose=</a:t>
            </a:r>
            <a:r>
              <a:rPr lang="en-US" sz="1000" b="1" dirty="0">
                <a:solidFill>
                  <a:srgbClr val="F2A860"/>
                </a:solidFill>
                <a:latin typeface="Courier New" pitchFamily="34" charset="0"/>
                <a:ea typeface="Courier New" pitchFamily="34" charset="-122"/>
                <a:cs typeface="Courier New" pitchFamily="34" charset="-120"/>
              </a:rPr>
              <a:t>True</a:t>
            </a:r>
            <a:r>
              <a:rPr lang="en-US" sz="1000" dirty="0">
                <a:solidFill>
                  <a:srgbClr val="E6EDF3"/>
                </a:solidFill>
                <a:latin typeface="Courier New" pitchFamily="34" charset="0"/>
                <a:ea typeface="Courier New" pitchFamily="34" charset="-122"/>
                <a:cs typeface="Courier New" pitchFamily="34" charset="-120"/>
              </a:rPr>
              <a:t>, flags=nod)</a:t>
            </a:r>
            <a:endParaRPr lang="en-US" sz="1000" dirty="0"/>
          </a:p>
          <a:p>
            <a:pPr indent="0" marL="0">
              <a:buNone/>
            </a:pPr>
            <a:r>
              <a:rPr lang="en-US" sz="1000" b="1" dirty="0">
                <a:solidFill>
                  <a:srgbClr val="D97A14"/>
                </a:solidFill>
                <a:latin typeface="Courier New" pitchFamily="34" charset="0"/>
                <a:ea typeface="Courier New" pitchFamily="34" charset="-122"/>
                <a:cs typeface="Courier New" pitchFamily="34" charset="-120"/>
              </a:rPr>
              <a:t>&gt;&gt;&gt; </a:t>
            </a:r>
            <a:r>
              <a:rPr lang="en-US" sz="1000" dirty="0">
                <a:solidFill>
                  <a:srgbClr val="E6EDF3"/>
                </a:solidFill>
                <a:latin typeface="Courier New" pitchFamily="34" charset="0"/>
                <a:ea typeface="Courier New" pitchFamily="34" charset="-122"/>
                <a:cs typeface="Courier New" pitchFamily="34" charset="-120"/>
              </a:rPr>
              <a:t>res = [old, p2pkh(loose=</a:t>
            </a:r>
            <a:r>
              <a:rPr lang="en-US" sz="1000" b="1" dirty="0">
                <a:solidFill>
                  <a:srgbClr val="F2A860"/>
                </a:solidFill>
                <a:latin typeface="Courier New" pitchFamily="34" charset="0"/>
                <a:ea typeface="Courier New" pitchFamily="34" charset="-122"/>
                <a:cs typeface="Courier New" pitchFamily="34" charset="-120"/>
              </a:rPr>
              <a:t>True</a:t>
            </a:r>
            <a:r>
              <a:rPr lang="en-US" sz="1000" dirty="0">
                <a:solidFill>
                  <a:srgbClr val="E6EDF3"/>
                </a:solidFill>
                <a:latin typeface="Courier New" pitchFamily="34" charset="0"/>
                <a:ea typeface="Courier New" pitchFamily="34" charset="-122"/>
                <a:cs typeface="Courier New" pitchFamily="34" charset="-120"/>
              </a:rPr>
              <a:t>)]</a:t>
            </a:r>
            <a:endParaRPr lang="en-US" sz="1000" dirty="0"/>
          </a:p>
          <a:p>
            <a:pPr indent="0" marL="0">
              <a:buNone/>
            </a:pPr>
            <a:r>
              <a:rPr lang="en-US" sz="1000" b="1" dirty="0">
                <a:solidFill>
                  <a:srgbClr val="D97A14"/>
                </a:solidFill>
                <a:latin typeface="Courier New" pitchFamily="34" charset="0"/>
                <a:ea typeface="Courier New" pitchFamily="34" charset="-122"/>
                <a:cs typeface="Courier New" pitchFamily="34" charset="-120"/>
              </a:rPr>
              <a:t>&gt;&gt;&gt; </a:t>
            </a:r>
            <a:r>
              <a:rPr lang="en-US" sz="1000" dirty="0">
                <a:solidFill>
                  <a:srgbClr val="E6EDF3"/>
                </a:solidFill>
                <a:latin typeface="Courier New" pitchFamily="34" charset="0"/>
                <a:ea typeface="Courier New" pitchFamily="34" charset="-122"/>
                <a:cs typeface="Courier New" pitchFamily="34" charset="-120"/>
              </a:rPr>
              <a:t>res</a:t>
            </a:r>
            <a:endParaRPr lang="en-US" sz="1000" dirty="0"/>
          </a:p>
          <a:p>
            <a:pPr indent="0" marL="0">
              <a:buNone/>
            </a:pPr>
            <a:r>
              <a:rPr lang="en-US" sz="1000" dirty="0">
                <a:solidFill>
                  <a:srgbClr val="7EE787"/>
                </a:solidFill>
                <a:latin typeface="Courier New" pitchFamily="34" charset="0"/>
                <a:ea typeface="Courier New" pitchFamily="34" charset="-122"/>
                <a:cs typeface="Courier New" pitchFamily="34" charset="-120"/>
              </a:rPr>
              <a:t>['OK', 'SIG_DER']</a:t>
            </a:r>
            <a:endParaRPr lang="en-US" sz="1000" dirty="0"/>
          </a:p>
        </p:txBody>
      </p:sp>
      <p:sp>
        <p:nvSpPr>
          <p:cNvPr id="12" name="Shape 10"/>
          <p:cNvSpPr/>
          <p:nvPr/>
        </p:nvSpPr>
        <p:spPr>
          <a:xfrm>
            <a:off x="365760" y="1252728"/>
            <a:ext cx="237744" cy="237744"/>
          </a:xfrm>
          <a:prstGeom prst="ellipse">
            <a:avLst/>
          </a:prstGeom>
          <a:solidFill>
            <a:srgbClr val="D97A14"/>
          </a:solidFill>
          <a:ln w="12700">
            <a:solidFill>
              <a:srgbClr val="D97A14"/>
            </a:solidFill>
            <a:prstDash val="solid"/>
          </a:ln>
        </p:spPr>
      </p:sp>
      <p:sp>
        <p:nvSpPr>
          <p:cNvPr id="13" name="Text 11"/>
          <p:cNvSpPr txBox="1"/>
          <p:nvPr/>
        </p:nvSpPr>
        <p:spPr>
          <a:xfrm>
            <a:off x="365760" y="1252728"/>
            <a:ext cx="237744" cy="237744"/>
          </a:xfrm>
          <a:prstGeom prst="rect">
            <a:avLst/>
          </a:prstGeom>
          <a:noFill/>
          <a:ln/>
        </p:spPr>
        <p:txBody>
          <a:bodyPr wrap="square" lIns="0" tIns="0" rIns="0" bIns="0" rtlCol="0" anchor="ctr"/>
          <a:lstStyle/>
          <a:p>
            <a:pPr algn="ctr" indent="0" marL="0">
              <a:buNone/>
            </a:pPr>
            <a:r>
              <a:rPr lang="en-US" sz="1100" b="1" dirty="0">
                <a:solidFill>
                  <a:srgbClr val="FFFFFF"/>
                </a:solidFill>
                <a:latin typeface="Cambria" pitchFamily="34" charset="0"/>
                <a:ea typeface="Cambria" pitchFamily="34" charset="-122"/>
                <a:cs typeface="Cambria" pitchFamily="34" charset="-120"/>
              </a:rPr>
              <a:t>1</a:t>
            </a:r>
            <a:endParaRPr lang="en-US" sz="1100" dirty="0"/>
          </a:p>
        </p:txBody>
      </p:sp>
      <p:sp>
        <p:nvSpPr>
          <p:cNvPr id="14" name="Text 12"/>
          <p:cNvSpPr txBox="1"/>
          <p:nvPr/>
        </p:nvSpPr>
        <p:spPr>
          <a:xfrm>
            <a:off x="731520" y="1665122"/>
            <a:ext cx="4800600" cy="210312"/>
          </a:xfrm>
          <a:prstGeom prst="rect">
            <a:avLst/>
          </a:prstGeom>
          <a:noFill/>
          <a:ln/>
        </p:spPr>
        <p:txBody>
          <a:bodyPr wrap="square" lIns="0" tIns="0" rIns="0" bIns="0" rtlCol="0" anchor="t"/>
          <a:lstStyle/>
          <a:p>
            <a:pPr indent="0" marL="0">
              <a:buNone/>
            </a:pPr>
            <a:r>
              <a:rPr lang="en-US" sz="1050" dirty="0">
                <a:solidFill>
                  <a:srgbClr val="2B2622"/>
                </a:solidFill>
                <a:latin typeface="Calibri" pitchFamily="34" charset="0"/>
                <a:ea typeface="Calibri" pitchFamily="34" charset="-122"/>
                <a:cs typeface="Calibri" pitchFamily="34" charset="-120"/>
              </a:rPr>
              <a:t>A signature is made over the hash of a message.</a:t>
            </a:r>
            <a:endParaRPr lang="en-US" sz="1050" dirty="0"/>
          </a:p>
        </p:txBody>
      </p:sp>
      <p:sp>
        <p:nvSpPr>
          <p:cNvPr id="15" name="Shape 13"/>
          <p:cNvSpPr/>
          <p:nvPr/>
        </p:nvSpPr>
        <p:spPr>
          <a:xfrm>
            <a:off x="365760" y="1884578"/>
            <a:ext cx="237744" cy="237744"/>
          </a:xfrm>
          <a:prstGeom prst="ellipse">
            <a:avLst/>
          </a:prstGeom>
          <a:solidFill>
            <a:srgbClr val="D97A14"/>
          </a:solidFill>
          <a:ln w="12700">
            <a:solidFill>
              <a:srgbClr val="D97A14"/>
            </a:solidFill>
            <a:prstDash val="solid"/>
          </a:ln>
        </p:spPr>
      </p:sp>
      <p:sp>
        <p:nvSpPr>
          <p:cNvPr id="16" name="Text 14"/>
          <p:cNvSpPr txBox="1"/>
          <p:nvPr/>
        </p:nvSpPr>
        <p:spPr>
          <a:xfrm>
            <a:off x="365760" y="1884578"/>
            <a:ext cx="237744" cy="237744"/>
          </a:xfrm>
          <a:prstGeom prst="rect">
            <a:avLst/>
          </a:prstGeom>
          <a:noFill/>
          <a:ln/>
        </p:spPr>
        <p:txBody>
          <a:bodyPr wrap="square" lIns="0" tIns="0" rIns="0" bIns="0" rtlCol="0" anchor="ctr"/>
          <a:lstStyle/>
          <a:p>
            <a:pPr algn="ctr" indent="0" marL="0">
              <a:buNone/>
            </a:pPr>
            <a:r>
              <a:rPr lang="en-US" sz="1100" b="1" dirty="0">
                <a:solidFill>
                  <a:srgbClr val="FFFFFF"/>
                </a:solidFill>
                <a:latin typeface="Cambria" pitchFamily="34" charset="0"/>
                <a:ea typeface="Cambria" pitchFamily="34" charset="-122"/>
                <a:cs typeface="Cambria" pitchFamily="34" charset="-120"/>
              </a:rPr>
              <a:t>2</a:t>
            </a:r>
            <a:endParaRPr lang="en-US" sz="1100" dirty="0"/>
          </a:p>
        </p:txBody>
      </p:sp>
      <p:sp>
        <p:nvSpPr>
          <p:cNvPr id="17" name="Text 15"/>
          <p:cNvSpPr txBox="1"/>
          <p:nvPr/>
        </p:nvSpPr>
        <p:spPr>
          <a:xfrm>
            <a:off x="731520" y="2461565"/>
            <a:ext cx="4800600" cy="210312"/>
          </a:xfrm>
          <a:prstGeom prst="rect">
            <a:avLst/>
          </a:prstGeom>
          <a:noFill/>
          <a:ln/>
        </p:spPr>
        <p:txBody>
          <a:bodyPr wrap="square" lIns="0" tIns="0" rIns="0" bIns="0" rtlCol="0" anchor="t"/>
          <a:lstStyle/>
          <a:p>
            <a:pPr indent="0" marL="0">
              <a:buNone/>
            </a:pPr>
            <a:r>
              <a:rPr lang="en-US" sz="1050" dirty="0">
                <a:solidFill>
                  <a:srgbClr val="2B2622"/>
                </a:solidFill>
                <a:latin typeface="Calibri" pitchFamily="34" charset="0"/>
                <a:ea typeface="Calibri" pitchFamily="34" charset="-122"/>
                <a:cs typeface="Calibri" pitchFamily="34" charset="-120"/>
              </a:rPr>
              <a:t>With its hash type it is 72 bytes, starts with 0x30 and has a low s.</a:t>
            </a:r>
            <a:endParaRPr lang="en-US" sz="1050" dirty="0"/>
          </a:p>
        </p:txBody>
      </p:sp>
      <p:sp>
        <p:nvSpPr>
          <p:cNvPr id="18" name="Shape 16"/>
          <p:cNvSpPr/>
          <p:nvPr/>
        </p:nvSpPr>
        <p:spPr>
          <a:xfrm>
            <a:off x="365760" y="2681021"/>
            <a:ext cx="237744" cy="237744"/>
          </a:xfrm>
          <a:prstGeom prst="ellipse">
            <a:avLst/>
          </a:prstGeom>
          <a:solidFill>
            <a:srgbClr val="D97A14"/>
          </a:solidFill>
          <a:ln w="12700">
            <a:solidFill>
              <a:srgbClr val="D97A14"/>
            </a:solidFill>
            <a:prstDash val="solid"/>
          </a:ln>
        </p:spPr>
      </p:sp>
      <p:sp>
        <p:nvSpPr>
          <p:cNvPr id="19" name="Text 17"/>
          <p:cNvSpPr txBox="1"/>
          <p:nvPr/>
        </p:nvSpPr>
        <p:spPr>
          <a:xfrm>
            <a:off x="365760" y="2681021"/>
            <a:ext cx="237744" cy="237744"/>
          </a:xfrm>
          <a:prstGeom prst="rect">
            <a:avLst/>
          </a:prstGeom>
          <a:noFill/>
          <a:ln/>
        </p:spPr>
        <p:txBody>
          <a:bodyPr wrap="square" lIns="0" tIns="0" rIns="0" bIns="0" rtlCol="0" anchor="ctr"/>
          <a:lstStyle/>
          <a:p>
            <a:pPr algn="ctr" indent="0" marL="0">
              <a:buNone/>
            </a:pPr>
            <a:r>
              <a:rPr lang="en-US" sz="1100" b="1" dirty="0">
                <a:solidFill>
                  <a:srgbClr val="FFFFFF"/>
                </a:solidFill>
                <a:latin typeface="Cambria" pitchFamily="34" charset="0"/>
                <a:ea typeface="Cambria" pitchFamily="34" charset="-122"/>
                <a:cs typeface="Cambria" pitchFamily="34" charset="-120"/>
              </a:rPr>
              <a:t>3</a:t>
            </a:r>
            <a:endParaRPr lang="en-US" sz="1100" dirty="0"/>
          </a:p>
        </p:txBody>
      </p:sp>
      <p:sp>
        <p:nvSpPr>
          <p:cNvPr id="20" name="Text 18"/>
          <p:cNvSpPr txBox="1"/>
          <p:nvPr/>
        </p:nvSpPr>
        <p:spPr>
          <a:xfrm>
            <a:off x="731520" y="3753612"/>
            <a:ext cx="4800600" cy="210312"/>
          </a:xfrm>
          <a:prstGeom prst="rect">
            <a:avLst/>
          </a:prstGeom>
          <a:noFill/>
          <a:ln/>
        </p:spPr>
        <p:txBody>
          <a:bodyPr wrap="square" lIns="0" tIns="0" rIns="0" bIns="0" rtlCol="0" anchor="t"/>
          <a:lstStyle/>
          <a:p>
            <a:pPr indent="0" marL="0">
              <a:buNone/>
            </a:pPr>
            <a:r>
              <a:rPr lang="en-US" sz="1050" dirty="0">
                <a:solidFill>
                  <a:srgbClr val="2B2622"/>
                </a:solidFill>
                <a:latin typeface="Calibri" pitchFamily="34" charset="0"/>
                <a:ea typeface="Calibri" pitchFamily="34" charset="-122"/>
                <a:cs typeface="Calibri" pitchFamily="34" charset="-120"/>
              </a:rPr>
              <a:t>A padded signature passes old rules but fails the strict DER rule.</a:t>
            </a:r>
            <a:endParaRPr lang="en-US" sz="1050" dirty="0"/>
          </a:p>
        </p:txBody>
      </p:sp>
      <p:sp>
        <p:nvSpPr>
          <p:cNvPr id="21" name="Text 19"/>
          <p:cNvSpPr txBox="1"/>
          <p:nvPr/>
        </p:nvSpPr>
        <p:spPr>
          <a:xfrm>
            <a:off x="457200" y="4009644"/>
            <a:ext cx="5074920" cy="182880"/>
          </a:xfrm>
          <a:prstGeom prst="rect">
            <a:avLst/>
          </a:prstGeom>
          <a:noFill/>
          <a:ln/>
        </p:spPr>
        <p:txBody>
          <a:bodyPr wrap="square" lIns="0" tIns="0" rIns="0" bIns="0" rtlCol="0" anchor="ctr"/>
          <a:lstStyle/>
          <a:p>
            <a:pPr algn="l" indent="0" marL="0">
              <a:buNone/>
            </a:pPr>
            <a:r>
              <a:rPr lang="en-US" sz="900" i="1" dirty="0">
                <a:solidFill>
                  <a:srgbClr val="6E655C"/>
                </a:solidFill>
                <a:latin typeface="Calibri" pitchFamily="34" charset="0"/>
                <a:ea typeface="Calibri" pitchFamily="34" charset="-122"/>
                <a:cs typeface="Calibri" pitchFamily="34" charset="-120"/>
              </a:rPr>
              <a:t>run under Python 3.14.6 - L, K and the chapter setup as on slide 7</a:t>
            </a:r>
            <a:endParaRPr lang="en-US" sz="900" dirty="0"/>
          </a:p>
        </p:txBody>
      </p:sp>
      <p:sp>
        <p:nvSpPr>
          <p:cNvPr id="22" name="Text 20"/>
          <p:cNvSpPr txBox="1"/>
          <p:nvPr/>
        </p:nvSpPr>
        <p:spPr>
          <a:xfrm>
            <a:off x="5715000" y="1325880"/>
            <a:ext cx="2971800" cy="402336"/>
          </a:xfrm>
          <a:prstGeom prst="rect">
            <a:avLst/>
          </a:prstGeom>
          <a:noFill/>
          <a:ln/>
        </p:spPr>
        <p:txBody>
          <a:bodyPr wrap="square" lIns="0" tIns="0" rIns="0" bIns="0" rtlCol="0" anchor="t"/>
          <a:lstStyle/>
          <a:p>
            <a:pPr algn="l" indent="0" marL="0">
              <a:buNone/>
            </a:pPr>
            <a:r>
              <a:rPr lang="en-US" sz="1100" b="1" dirty="0">
                <a:solidFill>
                  <a:srgbClr val="6E655C"/>
                </a:solidFill>
                <a:latin typeface="Calibri" pitchFamily="34" charset="0"/>
                <a:ea typeface="Calibri" pitchFamily="34" charset="-122"/>
                <a:cs typeface="Calibri" pitchFamily="34" charset="-120"/>
              </a:rPr>
              <a:t>Result: one signature, two rule sets</a:t>
            </a:r>
            <a:endParaRPr lang="en-US" sz="11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715000" y="1773936"/>
          <a:ext cx="2971800" cy="914400"/>
        </p:xfrm>
        <a:graphic>
          <a:graphicData uri="http://schemas.openxmlformats.org/drawingml/2006/table">
            <a:tbl>
              <a:tblPr/>
              <a:tblGrid>
                <a:gridCol w="1691640"/>
                <a:gridCol w="1280160"/>
              </a:tblGrid>
              <a:tr h="274320">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Check</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solidFill>
                      <a:srgbClr val="2B2622"/>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Result</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solidFill>
                      <a:srgbClr val="2B2622"/>
                    </a:solidFill>
                  </a:tcPr>
                </a:tc>
              </a:tr>
              <a:tr h="274320">
                <a:tc>
                  <a:txBody>
                    <a:bodyPr/>
                    <a:lstStyle/>
                    <a:p>
                      <a:pPr indent="0" marL="0">
                        <a:buNone/>
                      </a:pPr>
                      <a:r>
                        <a:rPr lang="en-US" sz="950" dirty="0">
                          <a:solidFill>
                            <a:srgbClr val="2B2622"/>
                          </a:solidFill>
                          <a:latin typeface="Calibri" pitchFamily="34" charset="0"/>
                          <a:ea typeface="Calibri" pitchFamily="34" charset="-122"/>
                          <a:cs typeface="Calibri" pitchFamily="34" charset="-120"/>
                        </a:rPr>
                        <a:t>Length with hash type</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c>
                  <a:txBody>
                    <a:bodyPr/>
                    <a:lstStyle/>
                    <a:p>
                      <a:pPr indent="0" marL="0">
                        <a:buNone/>
                      </a:pPr>
                      <a:r>
                        <a:rPr lang="en-US" sz="950" dirty="0">
                          <a:solidFill>
                            <a:srgbClr val="2B2622"/>
                          </a:solidFill>
                          <a:latin typeface="Calibri" pitchFamily="34" charset="0"/>
                          <a:ea typeface="Calibri" pitchFamily="34" charset="-122"/>
                          <a:cs typeface="Calibri" pitchFamily="34" charset="-120"/>
                        </a:rPr>
                        <a:t>72</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r>
              <a:tr h="274320">
                <a:tc>
                  <a:txBody>
                    <a:bodyPr/>
                    <a:lstStyle/>
                    <a:p>
                      <a:pPr indent="0" marL="0">
                        <a:buNone/>
                      </a:pPr>
                      <a:r>
                        <a:rPr lang="en-US" sz="950" dirty="0">
                          <a:solidFill>
                            <a:srgbClr val="2B2622"/>
                          </a:solidFill>
                          <a:latin typeface="Calibri" pitchFamily="34" charset="0"/>
                          <a:ea typeface="Calibri" pitchFamily="34" charset="-122"/>
                          <a:cs typeface="Calibri" pitchFamily="34" charset="-120"/>
                        </a:rPr>
                        <a:t>First byte (0x30 = 48)</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c>
                  <a:txBody>
                    <a:bodyPr/>
                    <a:lstStyle/>
                    <a:p>
                      <a:pPr indent="0" marL="0">
                        <a:buNone/>
                      </a:pPr>
                      <a:r>
                        <a:rPr lang="en-US" sz="950" dirty="0">
                          <a:solidFill>
                            <a:srgbClr val="2B2622"/>
                          </a:solidFill>
                          <a:latin typeface="Calibri" pitchFamily="34" charset="0"/>
                          <a:ea typeface="Calibri" pitchFamily="34" charset="-122"/>
                          <a:cs typeface="Calibri" pitchFamily="34" charset="-120"/>
                        </a:rPr>
                        <a:t>48</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r>
              <a:tr h="274320">
                <a:tc>
                  <a:txBody>
                    <a:bodyPr/>
                    <a:lstStyle/>
                    <a:p>
                      <a:pPr indent="0" marL="0">
                        <a:buNone/>
                      </a:pPr>
                      <a:r>
                        <a:rPr lang="en-US" sz="950" dirty="0">
                          <a:solidFill>
                            <a:srgbClr val="2B2622"/>
                          </a:solidFill>
                          <a:latin typeface="Calibri" pitchFamily="34" charset="0"/>
                          <a:ea typeface="Calibri" pitchFamily="34" charset="-122"/>
                          <a:cs typeface="Calibri" pitchFamily="34" charset="-120"/>
                        </a:rPr>
                        <a:t>Low s</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c>
                  <a:txBody>
                    <a:bodyPr/>
                    <a:lstStyle/>
                    <a:p>
                      <a:pPr indent="0" marL="0">
                        <a:buNone/>
                      </a:pPr>
                      <a:r>
                        <a:rPr lang="en-US" sz="950" dirty="0">
                          <a:solidFill>
                            <a:srgbClr val="2B2622"/>
                          </a:solidFill>
                          <a:latin typeface="Calibri" pitchFamily="34" charset="0"/>
                          <a:ea typeface="Calibri" pitchFamily="34" charset="-122"/>
                          <a:cs typeface="Calibri" pitchFamily="34" charset="-120"/>
                        </a:rPr>
                        <a:t>yes</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r>
              <a:tr h="274320">
                <a:tc>
                  <a:txBody>
                    <a:bodyPr/>
                    <a:lstStyle/>
                    <a:p>
                      <a:pPr indent="0" marL="0">
                        <a:buNone/>
                      </a:pPr>
                      <a:r>
                        <a:rPr lang="en-US" sz="950" dirty="0">
                          <a:solidFill>
                            <a:srgbClr val="2B2622"/>
                          </a:solidFill>
                          <a:latin typeface="Calibri" pitchFamily="34" charset="0"/>
                          <a:ea typeface="Calibri" pitchFamily="34" charset="-122"/>
                          <a:cs typeface="Calibri" pitchFamily="34" charset="-120"/>
                        </a:rPr>
                        <a:t>Padded, old rules</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c>
                  <a:txBody>
                    <a:bodyPr/>
                    <a:lstStyle/>
                    <a:p>
                      <a:pPr indent="0" marL="0">
                        <a:buNone/>
                      </a:pPr>
                      <a:r>
                        <a:rPr lang="en-US" sz="950" dirty="0">
                          <a:solidFill>
                            <a:srgbClr val="2B2622"/>
                          </a:solidFill>
                          <a:latin typeface="Calibri" pitchFamily="34" charset="0"/>
                          <a:ea typeface="Calibri" pitchFamily="34" charset="-122"/>
                          <a:cs typeface="Calibri" pitchFamily="34" charset="-120"/>
                        </a:rPr>
                        <a:t>OK</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r>
              <a:tr h="274320">
                <a:tc>
                  <a:txBody>
                    <a:bodyPr/>
                    <a:lstStyle/>
                    <a:p>
                      <a:pPr indent="0" marL="0">
                        <a:buNone/>
                      </a:pPr>
                      <a:r>
                        <a:rPr lang="en-US" sz="950" dirty="0">
                          <a:solidFill>
                            <a:srgbClr val="2B2622"/>
                          </a:solidFill>
                          <a:latin typeface="Calibri" pitchFamily="34" charset="0"/>
                          <a:ea typeface="Calibri" pitchFamily="34" charset="-122"/>
                          <a:cs typeface="Calibri" pitchFamily="34" charset="-120"/>
                        </a:rPr>
                        <a:t>Padded, DER rule</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c>
                  <a:txBody>
                    <a:bodyPr/>
                    <a:lstStyle/>
                    <a:p>
                      <a:pPr indent="0" marL="0">
                        <a:buNone/>
                      </a:pPr>
                      <a:r>
                        <a:rPr lang="en-US" sz="950" dirty="0">
                          <a:solidFill>
                            <a:srgbClr val="2B2622"/>
                          </a:solidFill>
                          <a:latin typeface="Calibri" pitchFamily="34" charset="0"/>
                          <a:ea typeface="Calibri" pitchFamily="34" charset="-122"/>
                          <a:cs typeface="Calibri" pitchFamily="34" charset="-120"/>
                        </a:rPr>
                        <a:t>SIG_DER</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r>
            </a:tbl>
          </a:graphicData>
        </a:graphic>
      </p:graphicFrame>
      <p:sp>
        <p:nvSpPr>
          <p:cNvPr id="24" name="Text 21"/>
          <p:cNvSpPr txBox="1"/>
          <p:nvPr/>
        </p:nvSpPr>
        <p:spPr>
          <a:xfrm>
            <a:off x="5715000" y="3694176"/>
            <a:ext cx="2971800" cy="603504"/>
          </a:xfrm>
          <a:prstGeom prst="rect">
            <a:avLst/>
          </a:prstGeom>
          <a:noFill/>
          <a:ln/>
        </p:spPr>
        <p:txBody>
          <a:bodyPr wrap="square" lIns="0" tIns="0" rIns="0" bIns="0" rtlCol="0" anchor="t"/>
          <a:lstStyle/>
          <a:p>
            <a:pPr algn="l" indent="0" marL="0">
              <a:buNone/>
            </a:pPr>
            <a:r>
              <a:rPr lang="en-US" sz="1150" i="1" dirty="0">
                <a:solidFill>
                  <a:srgbClr val="2B2622"/>
                </a:solidFill>
                <a:latin typeface="Calibri" pitchFamily="34" charset="0"/>
                <a:ea typeface="Calibri" pitchFamily="34" charset="-122"/>
                <a:cs typeface="Calibri" pitchFamily="34" charset="-120"/>
              </a:rPr>
              <a:t>The same padded signature passes without the DER rule and fails with it, with the error SIG_DER.</a:t>
            </a:r>
            <a:endParaRPr lang="en-US" sz="1150" dirty="0"/>
          </a:p>
        </p:txBody>
      </p:sp>
      <p:sp>
        <p:nvSpPr>
          <p:cNvPr id="25" name="Shape 22"/>
          <p:cNvSpPr/>
          <p:nvPr/>
        </p:nvSpPr>
        <p:spPr>
          <a:xfrm>
            <a:off x="457200" y="4636008"/>
            <a:ext cx="91440" cy="310896"/>
          </a:xfrm>
          <a:prstGeom prst="rect">
            <a:avLst/>
          </a:prstGeom>
          <a:solidFill>
            <a:srgbClr val="D97A14"/>
          </a:solidFill>
          <a:ln w="12700">
            <a:solidFill>
              <a:srgbClr val="D97A14"/>
            </a:solidFill>
            <a:prstDash val="solid"/>
          </a:ln>
        </p:spPr>
      </p:sp>
      <p:sp>
        <p:nvSpPr>
          <p:cNvPr id="26" name="Text 23"/>
          <p:cNvSpPr txBox="1"/>
          <p:nvPr/>
        </p:nvSpPr>
        <p:spPr>
          <a:xfrm>
            <a:off x="658368" y="4599432"/>
            <a:ext cx="6949440" cy="384048"/>
          </a:xfrm>
          <a:prstGeom prst="rect">
            <a:avLst/>
          </a:prstGeom>
          <a:noFill/>
          <a:ln/>
        </p:spPr>
        <p:txBody>
          <a:bodyPr wrap="square" lIns="0" tIns="0" rIns="0" bIns="0" rtlCol="0" anchor="ctr"/>
          <a:lstStyle/>
          <a:p>
            <a:pPr indent="0" marL="0">
              <a:buNone/>
            </a:pPr>
            <a:r>
              <a:rPr lang="en-US" sz="1350" b="1" i="1" dirty="0">
                <a:solidFill>
                  <a:srgbClr val="2B2622"/>
                </a:solidFill>
                <a:latin typeface="Cambria" pitchFamily="34" charset="0"/>
                <a:ea typeface="Cambria" pitchFamily="34" charset="-122"/>
                <a:cs typeface="Cambria" pitchFamily="34" charset="-120"/>
              </a:rPr>
              <a:t>A rule that nodes check for themselves cannot be skipped</a:t>
            </a:r>
            <a:endParaRPr lang="en-US" sz="1350" dirty="0"/>
          </a:p>
        </p:txBody>
      </p:sp>
      <p:sp>
        <p:nvSpPr>
          <p:cNvPr id="27" name="Text 24"/>
          <p:cNvSpPr txBox="1"/>
          <p:nvPr/>
        </p:nvSpPr>
        <p:spPr>
          <a:xfrm>
            <a:off x="7863840" y="4645152"/>
            <a:ext cx="868680" cy="310896"/>
          </a:xfrm>
          <a:prstGeom prst="rect">
            <a:avLst/>
          </a:prstGeom>
          <a:noFill/>
          <a:ln/>
        </p:spPr>
        <p:txBody>
          <a:bodyPr wrap="square" lIns="0" tIns="0" rIns="0" bIns="0" rtlCol="0" anchor="ctr"/>
          <a:lstStyle/>
          <a:p>
            <a:pPr algn="r" indent="0" marL="0">
              <a:buNone/>
            </a:pPr>
            <a:r>
              <a:rPr lang="en-US" sz="1100" dirty="0">
                <a:solidFill>
                  <a:srgbClr val="6E655C"/>
                </a:solidFill>
                <a:latin typeface="Calibri" pitchFamily="34" charset="0"/>
                <a:ea typeface="Calibri" pitchFamily="34" charset="-122"/>
                <a:cs typeface="Calibri" pitchFamily="34" charset="-120"/>
              </a:rPr>
              <a:t>17 / 61</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AF6EF"/>
        </a:solidFill>
      </p:bgPr>
    </p:bg>
    <p:spTree>
      <p:nvGrpSpPr>
        <p:cNvPr id="1" name=""/>
        <p:cNvGrpSpPr/>
        <p:nvPr/>
      </p:nvGrpSpPr>
      <p:grpSpPr>
        <a:xfrm>
          <a:off x="0" y="0"/>
          <a:ext cx="0" cy="0"/>
          <a:chOff x="0" y="0"/>
          <a:chExt cx="0" cy="0"/>
        </a:xfrm>
      </p:grpSpPr>
      <p:sp>
        <p:nvSpPr>
          <p:cNvPr id="2" name="Shape 0"/>
          <p:cNvSpPr/>
          <p:nvPr/>
        </p:nvSpPr>
        <p:spPr>
          <a:xfrm>
            <a:off x="457200" y="347472"/>
            <a:ext cx="566928" cy="384048"/>
          </a:xfrm>
          <a:prstGeom prst="roundRect">
            <a:avLst>
              <a:gd name="adj" fmla="val 19048"/>
            </a:avLst>
          </a:prstGeom>
          <a:solidFill>
            <a:srgbClr val="D97A14"/>
          </a:solidFill>
          <a:ln w="12700">
            <a:solidFill>
              <a:srgbClr val="D97A14"/>
            </a:solidFill>
            <a:prstDash val="solid"/>
          </a:ln>
        </p:spPr>
      </p:sp>
      <p:sp>
        <p:nvSpPr>
          <p:cNvPr id="3" name="Text 1"/>
          <p:cNvSpPr txBox="1"/>
          <p:nvPr/>
        </p:nvSpPr>
        <p:spPr>
          <a:xfrm>
            <a:off x="457200" y="347472"/>
            <a:ext cx="56692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4" name="Text 2"/>
          <p:cNvSpPr txBox="1"/>
          <p:nvPr/>
        </p:nvSpPr>
        <p:spPr>
          <a:xfrm>
            <a:off x="1143000" y="237744"/>
            <a:ext cx="7543800" cy="566928"/>
          </a:xfrm>
          <a:prstGeom prst="rect">
            <a:avLst/>
          </a:prstGeom>
          <a:noFill/>
          <a:ln/>
        </p:spPr>
        <p:txBody>
          <a:bodyPr wrap="square" lIns="0" tIns="0" rIns="0" bIns="0" rtlCol="0" anchor="ctr"/>
          <a:lstStyle/>
          <a:p>
            <a:pPr indent="0" marL="0">
              <a:buNone/>
            </a:pPr>
            <a:r>
              <a:rPr lang="en-US" sz="2500" b="1" dirty="0">
                <a:solidFill>
                  <a:srgbClr val="2B2622"/>
                </a:solidFill>
                <a:latin typeface="Cambria" pitchFamily="34" charset="0"/>
                <a:ea typeface="Cambria" pitchFamily="34" charset="-122"/>
                <a:cs typeface="Cambria" pitchFamily="34" charset="-120"/>
              </a:rPr>
              <a:t>Half the miners did not check the block</a:t>
            </a:r>
            <a:endParaRPr lang="en-US" sz="2500" dirty="0"/>
          </a:p>
        </p:txBody>
      </p:sp>
      <p:sp>
        <p:nvSpPr>
          <p:cNvPr id="5" name="Text 3"/>
          <p:cNvSpPr txBox="1"/>
          <p:nvPr/>
        </p:nvSpPr>
        <p:spPr>
          <a:xfrm>
            <a:off x="1143000" y="786384"/>
            <a:ext cx="7543800" cy="310896"/>
          </a:xfrm>
          <a:prstGeom prst="rect">
            <a:avLst/>
          </a:prstGeom>
          <a:noFill/>
          <a:ln/>
        </p:spPr>
        <p:txBody>
          <a:bodyPr wrap="square" lIns="0" tIns="0" rIns="0" bIns="0" rtlCol="0" anchor="ctr"/>
          <a:lstStyle/>
          <a:p>
            <a:pPr indent="0" marL="0">
              <a:buNone/>
            </a:pPr>
            <a:r>
              <a:rPr lang="en-US" sz="1300" i="1" dirty="0">
                <a:solidFill>
                  <a:srgbClr val="6E655C"/>
                </a:solidFill>
                <a:latin typeface="Calibri" pitchFamily="34" charset="0"/>
                <a:ea typeface="Calibri" pitchFamily="34" charset="-122"/>
                <a:cs typeface="Calibri" pitchFamily="34" charset="-120"/>
              </a:rPr>
              <a:t>Strict DER signatures, and the fork of 4 July 2015</a:t>
            </a:r>
            <a:endParaRPr lang="en-US" sz="1300" dirty="0"/>
          </a:p>
        </p:txBody>
      </p:sp>
      <p:pic>
        <p:nvPicPr>
          <p:cNvPr id="6" name="Image 0" descr="../../03-materials/ch07/assets/photo_bitcoin_mining_farm.jpg">    </p:cNvPr>
          <p:cNvPicPr>
            <a:picLocks noChangeAspect="1"/>
          </p:cNvPicPr>
          <p:nvPr/>
        </p:nvPicPr>
        <p:blipFill>
          <a:blip r:embed="rId1"/>
          <a:srcRect l="0" r="0" t="0" b="0"/>
          <a:stretch/>
        </p:blipFill>
        <p:spPr>
          <a:xfrm>
            <a:off x="457200" y="1280160"/>
            <a:ext cx="3200400" cy="2331720"/>
          </a:xfrm>
          <a:prstGeom prst="rect">
            <a:avLst/>
          </a:prstGeom>
        </p:spPr>
      </p:pic>
      <p:sp>
        <p:nvSpPr>
          <p:cNvPr id="7" name="Text 4"/>
          <p:cNvSpPr txBox="1"/>
          <p:nvPr/>
        </p:nvSpPr>
        <p:spPr>
          <a:xfrm>
            <a:off x="457200" y="3630168"/>
            <a:ext cx="3200400" cy="329184"/>
          </a:xfrm>
          <a:prstGeom prst="rect">
            <a:avLst/>
          </a:prstGeom>
          <a:noFill/>
          <a:ln/>
        </p:spPr>
        <p:txBody>
          <a:bodyPr wrap="square" lIns="0" tIns="0" rIns="0" bIns="0" rtlCol="0" anchor="ctr"/>
          <a:lstStyle/>
          <a:p>
            <a:pPr algn="ctr" indent="0" marL="0">
              <a:buNone/>
            </a:pPr>
            <a:r>
              <a:rPr lang="en-US" sz="900" i="1" dirty="0">
                <a:solidFill>
                  <a:srgbClr val="6E655C"/>
                </a:solidFill>
                <a:latin typeface="Calibri" pitchFamily="34" charset="0"/>
                <a:ea typeface="Calibri" pitchFamily="34" charset="-122"/>
                <a:cs typeface="Calibri" pitchFamily="34" charset="-120"/>
              </a:rPr>
              <a:t>A bitcoin mining farm, 2014 - Marko Ahtisaari, CC BY 2.0</a:t>
            </a:r>
            <a:endParaRPr lang="en-US" sz="900" dirty="0"/>
          </a:p>
        </p:txBody>
      </p:sp>
      <p:sp>
        <p:nvSpPr>
          <p:cNvPr id="8" name="Shape 5"/>
          <p:cNvSpPr/>
          <p:nvPr/>
        </p:nvSpPr>
        <p:spPr>
          <a:xfrm>
            <a:off x="3931920" y="1524762"/>
            <a:ext cx="128016" cy="128016"/>
          </a:xfrm>
          <a:prstGeom prst="diamond">
            <a:avLst/>
          </a:prstGeom>
          <a:solidFill>
            <a:srgbClr val="D97A14"/>
          </a:solidFill>
          <a:ln w="12700">
            <a:solidFill>
              <a:srgbClr val="D97A14"/>
            </a:solidFill>
            <a:prstDash val="solid"/>
          </a:ln>
        </p:spPr>
      </p:sp>
      <p:sp>
        <p:nvSpPr>
          <p:cNvPr id="9" name="Text 6"/>
          <p:cNvSpPr txBox="1"/>
          <p:nvPr/>
        </p:nvSpPr>
        <p:spPr>
          <a:xfrm>
            <a:off x="4206240" y="1280160"/>
            <a:ext cx="4480560" cy="617220"/>
          </a:xfrm>
          <a:prstGeom prst="rect">
            <a:avLst/>
          </a:prstGeom>
          <a:noFill/>
          <a:ln/>
        </p:spPr>
        <p:txBody>
          <a:bodyPr wrap="square" lIns="0" tIns="0" rIns="0" bIns="0" rtlCol="0" anchor="ctr"/>
          <a:lstStyle/>
          <a:p>
            <a:pPr indent="0" marL="0">
              <a:buNone/>
            </a:pPr>
            <a:r>
              <a:rPr lang="en-US" sz="1150" dirty="0">
                <a:solidFill>
                  <a:srgbClr val="2B2622"/>
                </a:solidFill>
                <a:latin typeface="Calibri" pitchFamily="34" charset="0"/>
                <a:ea typeface="Calibri" pitchFamily="34" charset="-122"/>
                <a:cs typeface="Calibri" pitchFamily="34" charset="-120"/>
              </a:rPr>
              <a:t>WHAT: On 4 July 2015, at block 363,725, strict DER signatures (BIP66) took effect, and a fork of six blocks followed.</a:t>
            </a:r>
            <a:endParaRPr lang="en-US" sz="1150" dirty="0"/>
          </a:p>
        </p:txBody>
      </p:sp>
      <p:sp>
        <p:nvSpPr>
          <p:cNvPr id="10" name="Shape 7"/>
          <p:cNvSpPr/>
          <p:nvPr/>
        </p:nvSpPr>
        <p:spPr>
          <a:xfrm>
            <a:off x="3931920" y="2141982"/>
            <a:ext cx="128016" cy="128016"/>
          </a:xfrm>
          <a:prstGeom prst="diamond">
            <a:avLst/>
          </a:prstGeom>
          <a:solidFill>
            <a:srgbClr val="D97A14"/>
          </a:solidFill>
          <a:ln w="12700">
            <a:solidFill>
              <a:srgbClr val="D97A14"/>
            </a:solidFill>
            <a:prstDash val="solid"/>
          </a:ln>
        </p:spPr>
      </p:sp>
      <p:sp>
        <p:nvSpPr>
          <p:cNvPr id="11" name="Text 8"/>
          <p:cNvSpPr txBox="1"/>
          <p:nvPr/>
        </p:nvSpPr>
        <p:spPr>
          <a:xfrm>
            <a:off x="4206240" y="1897380"/>
            <a:ext cx="4480560" cy="617220"/>
          </a:xfrm>
          <a:prstGeom prst="rect">
            <a:avLst/>
          </a:prstGeom>
          <a:noFill/>
          <a:ln/>
        </p:spPr>
        <p:txBody>
          <a:bodyPr wrap="square" lIns="0" tIns="0" rIns="0" bIns="0" rtlCol="0" anchor="ctr"/>
          <a:lstStyle/>
          <a:p>
            <a:pPr indent="0" marL="0">
              <a:buNone/>
            </a:pPr>
            <a:r>
              <a:rPr lang="en-US" sz="1150" dirty="0">
                <a:solidFill>
                  <a:srgbClr val="2B2622"/>
                </a:solidFill>
                <a:latin typeface="Calibri" pitchFamily="34" charset="0"/>
                <a:ea typeface="Calibri" pitchFamily="34" charset="-122"/>
                <a:cs typeface="Calibri" pitchFamily="34" charset="-120"/>
              </a:rPr>
              <a:t>WHY: About half of the hash rate mined without fully validating, so it built on an invalid block of a miner that had not upgraded.</a:t>
            </a:r>
            <a:endParaRPr lang="en-US" sz="1150" dirty="0"/>
          </a:p>
        </p:txBody>
      </p:sp>
      <p:sp>
        <p:nvSpPr>
          <p:cNvPr id="12" name="Shape 9"/>
          <p:cNvSpPr/>
          <p:nvPr/>
        </p:nvSpPr>
        <p:spPr>
          <a:xfrm>
            <a:off x="3931920" y="2759202"/>
            <a:ext cx="128016" cy="128016"/>
          </a:xfrm>
          <a:prstGeom prst="diamond">
            <a:avLst/>
          </a:prstGeom>
          <a:solidFill>
            <a:srgbClr val="D97A14"/>
          </a:solidFill>
          <a:ln w="12700">
            <a:solidFill>
              <a:srgbClr val="D97A14"/>
            </a:solidFill>
            <a:prstDash val="solid"/>
          </a:ln>
        </p:spPr>
      </p:sp>
      <p:sp>
        <p:nvSpPr>
          <p:cNvPr id="13" name="Text 10"/>
          <p:cNvSpPr txBox="1"/>
          <p:nvPr/>
        </p:nvSpPr>
        <p:spPr>
          <a:xfrm>
            <a:off x="4206240" y="2514600"/>
            <a:ext cx="4480560" cy="617220"/>
          </a:xfrm>
          <a:prstGeom prst="rect">
            <a:avLst/>
          </a:prstGeom>
          <a:noFill/>
          <a:ln/>
        </p:spPr>
        <p:txBody>
          <a:bodyPr wrap="square" lIns="0" tIns="0" rIns="0" bIns="0" rtlCol="0" anchor="ctr"/>
          <a:lstStyle/>
          <a:p>
            <a:pPr indent="0" marL="0">
              <a:buNone/>
            </a:pPr>
            <a:r>
              <a:rPr lang="en-US" sz="1150" dirty="0">
                <a:solidFill>
                  <a:srgbClr val="2B2622"/>
                </a:solidFill>
                <a:latin typeface="Calibri" pitchFamily="34" charset="0"/>
                <a:ea typeface="Calibri" pitchFamily="34" charset="-122"/>
                <a:cs typeface="Calibri" pitchFamily="34" charset="-120"/>
              </a:rPr>
              <a:t>HOW: The fork lasted from 02:10 to 03:50 UTC, a second of three blocks followed on 5 July, and the first showed no double spend.</a:t>
            </a:r>
            <a:endParaRPr lang="en-US" sz="1150" dirty="0"/>
          </a:p>
        </p:txBody>
      </p:sp>
      <p:sp>
        <p:nvSpPr>
          <p:cNvPr id="14" name="Shape 11"/>
          <p:cNvSpPr/>
          <p:nvPr/>
        </p:nvSpPr>
        <p:spPr>
          <a:xfrm>
            <a:off x="3931920" y="3376422"/>
            <a:ext cx="128016" cy="128016"/>
          </a:xfrm>
          <a:prstGeom prst="diamond">
            <a:avLst/>
          </a:prstGeom>
          <a:solidFill>
            <a:srgbClr val="D97A14"/>
          </a:solidFill>
          <a:ln w="12700">
            <a:solidFill>
              <a:srgbClr val="D97A14"/>
            </a:solidFill>
            <a:prstDash val="solid"/>
          </a:ln>
        </p:spPr>
      </p:sp>
      <p:sp>
        <p:nvSpPr>
          <p:cNvPr id="15" name="Text 12"/>
          <p:cNvSpPr txBox="1"/>
          <p:nvPr/>
        </p:nvSpPr>
        <p:spPr>
          <a:xfrm>
            <a:off x="4206240" y="3131820"/>
            <a:ext cx="4480560" cy="617220"/>
          </a:xfrm>
          <a:prstGeom prst="rect">
            <a:avLst/>
          </a:prstGeom>
          <a:noFill/>
          <a:ln/>
        </p:spPr>
        <p:txBody>
          <a:bodyPr wrap="square" lIns="0" tIns="0" rIns="0" bIns="0" rtlCol="0" anchor="ctr"/>
          <a:lstStyle/>
          <a:p>
            <a:pPr indent="0" marL="0">
              <a:buNone/>
            </a:pPr>
            <a:r>
              <a:rPr lang="en-US" sz="1150" dirty="0">
                <a:solidFill>
                  <a:srgbClr val="2B2622"/>
                </a:solidFill>
                <a:latin typeface="Calibri" pitchFamily="34" charset="0"/>
                <a:ea typeface="Calibri" pitchFamily="34" charset="-122"/>
                <a:cs typeface="Calibri" pitchFamily="34" charset="-120"/>
              </a:rPr>
              <a:t>SO WHAT: Bitcoin Core 0.9.5 and later checked the rule and were unaffected: a rule you do not check protects nobody.</a:t>
            </a:r>
            <a:endParaRPr lang="en-US" sz="1150" dirty="0"/>
          </a:p>
        </p:txBody>
      </p:sp>
      <p:sp>
        <p:nvSpPr>
          <p:cNvPr id="16" name="Shape 13"/>
          <p:cNvSpPr/>
          <p:nvPr/>
        </p:nvSpPr>
        <p:spPr>
          <a:xfrm>
            <a:off x="457200" y="4114800"/>
            <a:ext cx="1738092" cy="365760"/>
          </a:xfrm>
          <a:prstGeom prst="roundRect">
            <a:avLst>
              <a:gd name="adj" fmla="val 50000"/>
            </a:avLst>
          </a:prstGeom>
          <a:solidFill>
            <a:srgbClr val="EFE9DC"/>
          </a:solidFill>
          <a:ln w="9525">
            <a:solidFill>
              <a:srgbClr val="DFD6C7"/>
            </a:solidFill>
            <a:prstDash val="solid"/>
          </a:ln>
        </p:spPr>
      </p:sp>
      <p:sp>
        <p:nvSpPr>
          <p:cNvPr id="17" name="Text 14"/>
          <p:cNvSpPr txBox="1"/>
          <p:nvPr/>
        </p:nvSpPr>
        <p:spPr>
          <a:xfrm>
            <a:off x="548640" y="4114800"/>
            <a:ext cx="1591788" cy="365760"/>
          </a:xfrm>
          <a:prstGeom prst="rect">
            <a:avLst/>
          </a:prstGeom>
          <a:noFill/>
          <a:ln/>
        </p:spPr>
        <p:txBody>
          <a:bodyPr wrap="square" lIns="0" tIns="0" rIns="0" bIns="0" rtlCol="0" anchor="ctr"/>
          <a:lstStyle/>
          <a:p>
            <a:pPr indent="0" marL="0">
              <a:buNone/>
            </a:pPr>
            <a:r>
              <a:rPr lang="en-US" sz="750" b="1" dirty="0">
                <a:solidFill>
                  <a:srgbClr val="2F6D62"/>
                </a:solidFill>
                <a:latin typeface="Calibri" pitchFamily="34" charset="0"/>
                <a:ea typeface="Calibri" pitchFamily="34" charset="-122"/>
                <a:cs typeface="Calibri" pitchFamily="34" charset="-120"/>
              </a:rPr>
              <a:t>WHO  </a:t>
            </a:r>
            <a:r>
              <a:rPr lang="en-US" sz="900" dirty="0">
                <a:solidFill>
                  <a:srgbClr val="2B2622"/>
                </a:solidFill>
                <a:latin typeface="Calibri" pitchFamily="34" charset="0"/>
                <a:ea typeface="Calibri" pitchFamily="34" charset="-122"/>
                <a:cs typeface="Calibri" pitchFamily="34" charset="-120"/>
              </a:rPr>
              <a:t>Pieter Wuille, miners</a:t>
            </a:r>
            <a:endParaRPr lang="en-US" sz="750" dirty="0"/>
          </a:p>
        </p:txBody>
      </p:sp>
      <p:sp>
        <p:nvSpPr>
          <p:cNvPr id="18" name="Shape 15"/>
          <p:cNvSpPr/>
          <p:nvPr/>
        </p:nvSpPr>
        <p:spPr>
          <a:xfrm>
            <a:off x="2305020" y="4114800"/>
            <a:ext cx="1659087" cy="365760"/>
          </a:xfrm>
          <a:prstGeom prst="roundRect">
            <a:avLst>
              <a:gd name="adj" fmla="val 50000"/>
            </a:avLst>
          </a:prstGeom>
          <a:solidFill>
            <a:srgbClr val="EFE9DC"/>
          </a:solidFill>
          <a:ln w="9525">
            <a:solidFill>
              <a:srgbClr val="DFD6C7"/>
            </a:solidFill>
            <a:prstDash val="solid"/>
          </a:ln>
        </p:spPr>
      </p:sp>
      <p:sp>
        <p:nvSpPr>
          <p:cNvPr id="19" name="Text 16"/>
          <p:cNvSpPr txBox="1"/>
          <p:nvPr/>
        </p:nvSpPr>
        <p:spPr>
          <a:xfrm>
            <a:off x="2396460" y="4114800"/>
            <a:ext cx="1512783" cy="365760"/>
          </a:xfrm>
          <a:prstGeom prst="rect">
            <a:avLst/>
          </a:prstGeom>
          <a:noFill/>
          <a:ln/>
        </p:spPr>
        <p:txBody>
          <a:bodyPr wrap="square" lIns="0" tIns="0" rIns="0" bIns="0" rtlCol="0" anchor="ctr"/>
          <a:lstStyle/>
          <a:p>
            <a:pPr indent="0" marL="0">
              <a:buNone/>
            </a:pPr>
            <a:r>
              <a:rPr lang="en-US" sz="750" b="1" dirty="0">
                <a:solidFill>
                  <a:srgbClr val="2F6D62"/>
                </a:solidFill>
                <a:latin typeface="Calibri" pitchFamily="34" charset="0"/>
                <a:ea typeface="Calibri" pitchFamily="34" charset="-122"/>
                <a:cs typeface="Calibri" pitchFamily="34" charset="-120"/>
              </a:rPr>
              <a:t>WHERE  </a:t>
            </a:r>
            <a:r>
              <a:rPr lang="en-US" sz="900" dirty="0">
                <a:solidFill>
                  <a:srgbClr val="2B2622"/>
                </a:solidFill>
                <a:latin typeface="Calibri" pitchFamily="34" charset="0"/>
                <a:ea typeface="Calibri" pitchFamily="34" charset="-122"/>
                <a:cs typeface="Calibri" pitchFamily="34" charset="-120"/>
              </a:rPr>
              <a:t>Block 363,725</a:t>
            </a:r>
            <a:endParaRPr lang="en-US" sz="750" dirty="0"/>
          </a:p>
        </p:txBody>
      </p:sp>
      <p:sp>
        <p:nvSpPr>
          <p:cNvPr id="20" name="Shape 17"/>
          <p:cNvSpPr/>
          <p:nvPr/>
        </p:nvSpPr>
        <p:spPr>
          <a:xfrm>
            <a:off x="4073835" y="4114800"/>
            <a:ext cx="1343071" cy="365760"/>
          </a:xfrm>
          <a:prstGeom prst="roundRect">
            <a:avLst>
              <a:gd name="adj" fmla="val 50000"/>
            </a:avLst>
          </a:prstGeom>
          <a:solidFill>
            <a:srgbClr val="EFE9DC"/>
          </a:solidFill>
          <a:ln w="9525">
            <a:solidFill>
              <a:srgbClr val="DFD6C7"/>
            </a:solidFill>
            <a:prstDash val="solid"/>
          </a:ln>
        </p:spPr>
      </p:sp>
      <p:sp>
        <p:nvSpPr>
          <p:cNvPr id="21" name="Text 18"/>
          <p:cNvSpPr txBox="1"/>
          <p:nvPr/>
        </p:nvSpPr>
        <p:spPr>
          <a:xfrm>
            <a:off x="4165275" y="4114800"/>
            <a:ext cx="1196767" cy="365760"/>
          </a:xfrm>
          <a:prstGeom prst="rect">
            <a:avLst/>
          </a:prstGeom>
          <a:noFill/>
          <a:ln/>
        </p:spPr>
        <p:txBody>
          <a:bodyPr wrap="square" lIns="0" tIns="0" rIns="0" bIns="0" rtlCol="0" anchor="ctr"/>
          <a:lstStyle/>
          <a:p>
            <a:pPr indent="0" marL="0">
              <a:buNone/>
            </a:pPr>
            <a:r>
              <a:rPr lang="en-US" sz="750" b="1" dirty="0">
                <a:solidFill>
                  <a:srgbClr val="2F6D62"/>
                </a:solidFill>
                <a:latin typeface="Calibri" pitchFamily="34" charset="0"/>
                <a:ea typeface="Calibri" pitchFamily="34" charset="-122"/>
                <a:cs typeface="Calibri" pitchFamily="34" charset="-120"/>
              </a:rPr>
              <a:t>WHEN  </a:t>
            </a:r>
            <a:r>
              <a:rPr lang="en-US" sz="900" dirty="0">
                <a:solidFill>
                  <a:srgbClr val="2B2622"/>
                </a:solidFill>
                <a:latin typeface="Calibri" pitchFamily="34" charset="0"/>
                <a:ea typeface="Calibri" pitchFamily="34" charset="-122"/>
                <a:cs typeface="Calibri" pitchFamily="34" charset="-120"/>
              </a:rPr>
              <a:t>2015-07-04</a:t>
            </a:r>
            <a:endParaRPr lang="en-US" sz="750" dirty="0"/>
          </a:p>
        </p:txBody>
      </p:sp>
      <p:sp>
        <p:nvSpPr>
          <p:cNvPr id="22" name="Shape 19"/>
          <p:cNvSpPr/>
          <p:nvPr/>
        </p:nvSpPr>
        <p:spPr>
          <a:xfrm>
            <a:off x="5526634" y="4114800"/>
            <a:ext cx="3160166" cy="365760"/>
          </a:xfrm>
          <a:prstGeom prst="roundRect">
            <a:avLst>
              <a:gd name="adj" fmla="val 50000"/>
            </a:avLst>
          </a:prstGeom>
          <a:solidFill>
            <a:srgbClr val="2F6D62"/>
          </a:solidFill>
          <a:ln w="9525">
            <a:solidFill>
              <a:srgbClr val="2F6D62"/>
            </a:solidFill>
            <a:prstDash val="solid"/>
          </a:ln>
        </p:spPr>
      </p:sp>
      <p:sp>
        <p:nvSpPr>
          <p:cNvPr id="23" name="Text 20"/>
          <p:cNvSpPr txBox="1"/>
          <p:nvPr/>
        </p:nvSpPr>
        <p:spPr>
          <a:xfrm>
            <a:off x="5618074" y="4114800"/>
            <a:ext cx="3013862" cy="365760"/>
          </a:xfrm>
          <a:prstGeom prst="rect">
            <a:avLst/>
          </a:prstGeom>
          <a:noFill/>
          <a:ln/>
        </p:spPr>
        <p:txBody>
          <a:bodyPr wrap="square" lIns="0" tIns="0" rIns="0" bIns="0" rtlCol="0" anchor="ctr"/>
          <a:lstStyle/>
          <a:p>
            <a:pPr indent="0" marL="0">
              <a:buNone/>
            </a:pPr>
            <a:r>
              <a:rPr lang="en-US" sz="750" b="1" dirty="0">
                <a:solidFill>
                  <a:srgbClr val="D7E4E0"/>
                </a:solidFill>
                <a:latin typeface="Calibri" pitchFamily="34" charset="0"/>
                <a:ea typeface="Calibri" pitchFamily="34" charset="-122"/>
                <a:cs typeface="Calibri" pitchFamily="34" charset="-120"/>
              </a:rPr>
              <a:t>READ  </a:t>
            </a:r>
            <a:r>
              <a:rPr lang="en-US" sz="900" u="sng" dirty="0">
                <a:solidFill>
                  <a:srgbClr val="FFFFFF"/>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bitcoin.org</a:t>
            </a:r>
            <a:endParaRPr lang="en-US" sz="750" dirty="0"/>
          </a:p>
          <a:p>
            <a:pPr indent="0" marL="0">
              <a:buNone/>
            </a:pPr>
            <a:r>
              <a:rPr lang="en-US" sz="700" dirty="0">
                <a:solidFill>
                  <a:srgbClr val="D7E4E0"/>
                </a:solidFill>
                <a:latin typeface="Calibri" pitchFamily="34" charset="0"/>
                <a:ea typeface="Calibri" pitchFamily="34" charset="-122"/>
                <a:cs typeface="Calibri" pitchFamily="34" charset="-120"/>
              </a:rPr>
              <a:t>bitcoin.org</a:t>
            </a:r>
            <a:endParaRPr lang="en-US" sz="750" dirty="0"/>
          </a:p>
        </p:txBody>
      </p:sp>
      <p:sp>
        <p:nvSpPr>
          <p:cNvPr id="24" name="Text 21"/>
          <p:cNvSpPr txBox="1"/>
          <p:nvPr/>
        </p:nvSpPr>
        <p:spPr>
          <a:xfrm>
            <a:off x="7863840" y="4645152"/>
            <a:ext cx="868680" cy="310896"/>
          </a:xfrm>
          <a:prstGeom prst="rect">
            <a:avLst/>
          </a:prstGeom>
          <a:noFill/>
          <a:ln/>
        </p:spPr>
        <p:txBody>
          <a:bodyPr wrap="square" lIns="0" tIns="0" rIns="0" bIns="0" rtlCol="0" anchor="ctr"/>
          <a:lstStyle/>
          <a:p>
            <a:pPr algn="r" indent="0" marL="0">
              <a:buNone/>
            </a:pPr>
            <a:r>
              <a:rPr lang="en-US" sz="1100" dirty="0">
                <a:solidFill>
                  <a:srgbClr val="6E655C"/>
                </a:solidFill>
                <a:latin typeface="Calibri" pitchFamily="34" charset="0"/>
                <a:ea typeface="Calibri" pitchFamily="34" charset="-122"/>
                <a:cs typeface="Calibri" pitchFamily="34" charset="-120"/>
              </a:rPr>
              <a:t>18 / 61</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AF6EF"/>
        </a:solidFill>
      </p:bgPr>
    </p:bg>
    <p:spTree>
      <p:nvGrpSpPr>
        <p:cNvPr id="1" name=""/>
        <p:cNvGrpSpPr/>
        <p:nvPr/>
      </p:nvGrpSpPr>
      <p:grpSpPr>
        <a:xfrm>
          <a:off x="0" y="0"/>
          <a:ext cx="0" cy="0"/>
          <a:chOff x="0" y="0"/>
          <a:chExt cx="0" cy="0"/>
        </a:xfrm>
      </p:grpSpPr>
      <p:sp>
        <p:nvSpPr>
          <p:cNvPr id="2" name="Shape 0"/>
          <p:cNvSpPr/>
          <p:nvPr/>
        </p:nvSpPr>
        <p:spPr>
          <a:xfrm>
            <a:off x="0" y="0"/>
            <a:ext cx="9144000" cy="219456"/>
          </a:xfrm>
          <a:prstGeom prst="rect">
            <a:avLst/>
          </a:prstGeom>
          <a:solidFill>
            <a:srgbClr val="D97A14"/>
          </a:solidFill>
          <a:ln w="12700">
            <a:solidFill>
              <a:srgbClr val="D97A14"/>
            </a:solidFill>
            <a:prstDash val="solid"/>
          </a:ln>
        </p:spPr>
      </p:sp>
      <p:sp>
        <p:nvSpPr>
          <p:cNvPr id="3" name="Shape 1"/>
          <p:cNvSpPr/>
          <p:nvPr/>
        </p:nvSpPr>
        <p:spPr>
          <a:xfrm>
            <a:off x="457200" y="960120"/>
            <a:ext cx="128016" cy="1417320"/>
          </a:xfrm>
          <a:prstGeom prst="rect">
            <a:avLst/>
          </a:prstGeom>
          <a:solidFill>
            <a:srgbClr val="D97A14"/>
          </a:solidFill>
          <a:ln w="12700">
            <a:solidFill>
              <a:srgbClr val="D97A14"/>
            </a:solidFill>
            <a:prstDash val="solid"/>
          </a:ln>
        </p:spPr>
      </p:sp>
      <p:sp>
        <p:nvSpPr>
          <p:cNvPr id="4" name="Text 2"/>
          <p:cNvSpPr txBox="1"/>
          <p:nvPr/>
        </p:nvSpPr>
        <p:spPr>
          <a:xfrm>
            <a:off x="777240" y="932688"/>
            <a:ext cx="7863840" cy="658368"/>
          </a:xfrm>
          <a:prstGeom prst="rect">
            <a:avLst/>
          </a:prstGeom>
          <a:noFill/>
          <a:ln/>
        </p:spPr>
        <p:txBody>
          <a:bodyPr wrap="square" lIns="0" tIns="0" rIns="0" bIns="0" rtlCol="0" anchor="ctr"/>
          <a:lstStyle/>
          <a:p>
            <a:pPr indent="0" marL="0">
              <a:buNone/>
            </a:pPr>
            <a:r>
              <a:rPr lang="en-US" sz="3200" b="1" dirty="0">
                <a:solidFill>
                  <a:srgbClr val="2B2622"/>
                </a:solidFill>
                <a:latin typeface="Cambria" pitchFamily="34" charset="0"/>
                <a:ea typeface="Cambria" pitchFamily="34" charset="-122"/>
                <a:cs typeface="Cambria" pitchFamily="34" charset="-120"/>
              </a:rPr>
              <a:t>Scripted multisignatures</a:t>
            </a:r>
            <a:endParaRPr lang="en-US" sz="3200" dirty="0"/>
          </a:p>
        </p:txBody>
      </p:sp>
      <p:sp>
        <p:nvSpPr>
          <p:cNvPr id="5" name="Text 3"/>
          <p:cNvSpPr txBox="1"/>
          <p:nvPr/>
        </p:nvSpPr>
        <p:spPr>
          <a:xfrm>
            <a:off x="777240" y="1645920"/>
            <a:ext cx="7863840" cy="384048"/>
          </a:xfrm>
          <a:prstGeom prst="rect">
            <a:avLst/>
          </a:prstGeom>
          <a:noFill/>
          <a:ln/>
        </p:spPr>
        <p:txBody>
          <a:bodyPr wrap="square" lIns="0" tIns="0" rIns="0" bIns="0" rtlCol="0" anchor="t"/>
          <a:lstStyle/>
          <a:p>
            <a:pPr indent="0" marL="0">
              <a:buNone/>
            </a:pPr>
            <a:r>
              <a:rPr lang="en-US" sz="1500" i="1" dirty="0">
                <a:solidFill>
                  <a:srgbClr val="2F6D62"/>
                </a:solidFill>
                <a:latin typeface="Calibri" pitchFamily="34" charset="0"/>
                <a:ea typeface="Calibri" pitchFamily="34" charset="-122"/>
                <a:cs typeface="Calibri" pitchFamily="34" charset="-120"/>
              </a:rPr>
              <a:t>A multisignature is a vault that opens when enough directors turn their keys.</a:t>
            </a:r>
            <a:endParaRPr lang="en-US" sz="1500" dirty="0"/>
          </a:p>
        </p:txBody>
      </p:sp>
      <p:sp>
        <p:nvSpPr>
          <p:cNvPr id="6" name="Shape 4"/>
          <p:cNvSpPr/>
          <p:nvPr/>
        </p:nvSpPr>
        <p:spPr>
          <a:xfrm>
            <a:off x="777240" y="2103120"/>
            <a:ext cx="3840480" cy="310896"/>
          </a:xfrm>
          <a:prstGeom prst="roundRect">
            <a:avLst>
              <a:gd name="adj" fmla="val 50000"/>
            </a:avLst>
          </a:prstGeom>
          <a:solidFill>
            <a:srgbClr val="D97A14"/>
          </a:solidFill>
          <a:ln w="12700">
            <a:solidFill>
              <a:srgbClr val="D97A14"/>
            </a:solidFill>
            <a:prstDash val="solid"/>
          </a:ln>
        </p:spPr>
      </p:sp>
      <p:sp>
        <p:nvSpPr>
          <p:cNvPr id="7" name="Text 5"/>
          <p:cNvSpPr txBox="1"/>
          <p:nvPr/>
        </p:nvSpPr>
        <p:spPr>
          <a:xfrm>
            <a:off x="850392" y="2103120"/>
            <a:ext cx="369417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The t-of-k script</a:t>
            </a:r>
            <a:endParaRPr lang="en-US" sz="1200" dirty="0"/>
          </a:p>
        </p:txBody>
      </p:sp>
      <p:sp>
        <p:nvSpPr>
          <p:cNvPr id="8" name="Text 6"/>
          <p:cNvSpPr txBox="1"/>
          <p:nvPr/>
        </p:nvSpPr>
        <p:spPr>
          <a:xfrm>
            <a:off x="777240" y="2487168"/>
            <a:ext cx="3840480" cy="393192"/>
          </a:xfrm>
          <a:prstGeom prst="rect">
            <a:avLst/>
          </a:prstGeom>
          <a:noFill/>
          <a:ln/>
        </p:spPr>
        <p:txBody>
          <a:bodyPr wrap="square" lIns="0" tIns="0" rIns="0" bIns="0" rtlCol="0" anchor="t"/>
          <a:lstStyle/>
          <a:p>
            <a:pPr indent="0" marL="0">
              <a:buNone/>
            </a:pPr>
            <a:r>
              <a:rPr lang="en-US" sz="1150" dirty="0">
                <a:solidFill>
                  <a:srgbClr val="2B2622"/>
                </a:solidFill>
                <a:latin typeface="Calibri" pitchFamily="34" charset="0"/>
                <a:ea typeface="Calibri" pitchFamily="34" charset="-122"/>
                <a:cs typeface="Calibri" pitchFamily="34" charset="-120"/>
              </a:rPr>
              <a:t>The shape of a lock that needs t of k keys, and how large it may grow.</a:t>
            </a:r>
            <a:endParaRPr lang="en-US" sz="1150" dirty="0"/>
          </a:p>
        </p:txBody>
      </p:sp>
      <p:sp>
        <p:nvSpPr>
          <p:cNvPr id="9" name="Text 7"/>
          <p:cNvSpPr txBox="1"/>
          <p:nvPr/>
        </p:nvSpPr>
        <p:spPr>
          <a:xfrm>
            <a:off x="777240" y="2907792"/>
            <a:ext cx="3840480" cy="214884"/>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a safe with several keyholes.</a:t>
            </a:r>
            <a:endParaRPr lang="en-US" sz="1150" dirty="0"/>
          </a:p>
        </p:txBody>
      </p:sp>
      <p:sp>
        <p:nvSpPr>
          <p:cNvPr id="10" name="Shape 8"/>
          <p:cNvSpPr/>
          <p:nvPr/>
        </p:nvSpPr>
        <p:spPr>
          <a:xfrm>
            <a:off x="4800600" y="2103120"/>
            <a:ext cx="3840480" cy="310896"/>
          </a:xfrm>
          <a:prstGeom prst="roundRect">
            <a:avLst>
              <a:gd name="adj" fmla="val 50000"/>
            </a:avLst>
          </a:prstGeom>
          <a:solidFill>
            <a:srgbClr val="D97A14"/>
          </a:solidFill>
          <a:ln w="12700">
            <a:solidFill>
              <a:srgbClr val="D97A14"/>
            </a:solidFill>
            <a:prstDash val="solid"/>
          </a:ln>
        </p:spPr>
      </p:sp>
      <p:sp>
        <p:nvSpPr>
          <p:cNvPr id="11" name="Text 9"/>
          <p:cNvSpPr txBox="1"/>
          <p:nvPr/>
        </p:nvSpPr>
        <p:spPr>
          <a:xfrm>
            <a:off x="4873752" y="2103120"/>
            <a:ext cx="369417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The extra element</a:t>
            </a:r>
            <a:endParaRPr lang="en-US" sz="1200" dirty="0"/>
          </a:p>
        </p:txBody>
      </p:sp>
      <p:sp>
        <p:nvSpPr>
          <p:cNvPr id="12" name="Text 10"/>
          <p:cNvSpPr txBox="1"/>
          <p:nvPr/>
        </p:nvSpPr>
        <p:spPr>
          <a:xfrm>
            <a:off x="4800600" y="2487168"/>
            <a:ext cx="3840480" cy="393192"/>
          </a:xfrm>
          <a:prstGeom prst="rect">
            <a:avLst/>
          </a:prstGeom>
          <a:noFill/>
          <a:ln/>
        </p:spPr>
        <p:txBody>
          <a:bodyPr wrap="square" lIns="0" tIns="0" rIns="0" bIns="0" rtlCol="0" anchor="t"/>
          <a:lstStyle/>
          <a:p>
            <a:pPr indent="0" marL="0">
              <a:buNone/>
            </a:pPr>
            <a:r>
              <a:rPr lang="en-US" sz="1150" dirty="0">
                <a:solidFill>
                  <a:srgbClr val="2B2622"/>
                </a:solidFill>
                <a:latin typeface="Calibri" pitchFamily="34" charset="0"/>
                <a:ea typeface="Calibri" pitchFamily="34" charset="-122"/>
                <a:cs typeface="Calibri" pitchFamily="34" charset="-120"/>
              </a:rPr>
              <a:t>Why one useless item must sit in front of the signatures.</a:t>
            </a:r>
            <a:endParaRPr lang="en-US" sz="1150" dirty="0"/>
          </a:p>
        </p:txBody>
      </p:sp>
      <p:sp>
        <p:nvSpPr>
          <p:cNvPr id="13" name="Text 11"/>
          <p:cNvSpPr txBox="1"/>
          <p:nvPr/>
        </p:nvSpPr>
        <p:spPr>
          <a:xfrm>
            <a:off x="4800600" y="2907792"/>
            <a:ext cx="3840480" cy="393192"/>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a turnstile that swallows one token too many.</a:t>
            </a:r>
            <a:endParaRPr lang="en-US" sz="11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777240" y="3950208"/>
          <a:ext cx="7863840" cy="914400"/>
        </p:xfrm>
        <a:graphic>
          <a:graphicData uri="http://schemas.openxmlformats.org/drawingml/2006/table">
            <a:tbl>
              <a:tblPr/>
              <a:tblGrid>
                <a:gridCol w="874166"/>
                <a:gridCol w="874166"/>
                <a:gridCol w="874166"/>
                <a:gridCol w="874166"/>
                <a:gridCol w="874166"/>
                <a:gridCol w="874166"/>
                <a:gridCol w="874166"/>
                <a:gridCol w="874166"/>
                <a:gridCol w="874166"/>
              </a:tblGrid>
              <a:tr h="365760">
                <a:tc>
                  <a:txBody>
                    <a:bodyPr/>
                    <a:lstStyle/>
                    <a:p>
                      <a:pPr algn="ctr" indent="0" marL="0">
                        <a:buNone/>
                      </a:pPr>
                      <a:r>
                        <a:rPr lang="en-US" sz="1000" dirty="0">
                          <a:solidFill>
                            <a:srgbClr val="2B2622"/>
                          </a:solidFill>
                          <a:latin typeface="Calibri" pitchFamily="34" charset="0"/>
                          <a:ea typeface="Calibri" pitchFamily="34" charset="-122"/>
                          <a:cs typeface="Calibri" pitchFamily="34" charset="-120"/>
                        </a:rPr>
                        <a:t>Language</a:t>
                      </a:r>
                      <a:endParaRPr lang="en-US" sz="10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ECE1"/>
                    </a:solidFill>
                  </a:tcPr>
                </a:tc>
                <a:tc>
                  <a:txBody>
                    <a:bodyPr/>
                    <a:lstStyle/>
                    <a:p>
                      <a:pPr algn="ctr" indent="0" marL="0">
                        <a:buNone/>
                      </a:pPr>
                      <a:r>
                        <a:rPr lang="en-US" sz="1000" dirty="0">
                          <a:solidFill>
                            <a:srgbClr val="2B2622"/>
                          </a:solidFill>
                          <a:latin typeface="Calibri" pitchFamily="34" charset="0"/>
                          <a:ea typeface="Calibri" pitchFamily="34" charset="-122"/>
                          <a:cs typeface="Calibri" pitchFamily="34" charset="-120"/>
                        </a:rPr>
                        <a:t>Keys</a:t>
                      </a:r>
                      <a:endParaRPr lang="en-US" sz="10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ECE1"/>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Multisig</a:t>
                      </a:r>
                      <a:endParaRPr lang="en-US" sz="10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97A14"/>
                    </a:solidFill>
                  </a:tcPr>
                </a:tc>
                <a:tc>
                  <a:txBody>
                    <a:bodyPr/>
                    <a:lstStyle/>
                    <a:p>
                      <a:pPr algn="ctr" indent="0" marL="0">
                        <a:buNone/>
                      </a:pPr>
                      <a:r>
                        <a:rPr lang="en-US" sz="1000" dirty="0">
                          <a:solidFill>
                            <a:srgbClr val="2B2622"/>
                          </a:solidFill>
                          <a:latin typeface="Calibri" pitchFamily="34" charset="0"/>
                          <a:ea typeface="Calibri" pitchFamily="34" charset="-122"/>
                          <a:cs typeface="Calibri" pitchFamily="34" charset="-120"/>
                        </a:rPr>
                        <a:t>P2SH</a:t>
                      </a:r>
                      <a:endParaRPr lang="en-US" sz="10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ECE1"/>
                    </a:solidFill>
                  </a:tcPr>
                </a:tc>
                <a:tc>
                  <a:txBody>
                    <a:bodyPr/>
                    <a:lstStyle/>
                    <a:p>
                      <a:pPr algn="ctr" indent="0" marL="0">
                        <a:buNone/>
                      </a:pPr>
                      <a:r>
                        <a:rPr lang="en-US" sz="1000" dirty="0">
                          <a:solidFill>
                            <a:srgbClr val="2B2622"/>
                          </a:solidFill>
                          <a:latin typeface="Calibri" pitchFamily="34" charset="0"/>
                          <a:ea typeface="Calibri" pitchFamily="34" charset="-122"/>
                          <a:cs typeface="Calibri" pitchFamily="34" charset="-120"/>
                        </a:rPr>
                        <a:t>Time</a:t>
                      </a:r>
                      <a:endParaRPr lang="en-US" sz="10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ECE1"/>
                    </a:solidFill>
                  </a:tcPr>
                </a:tc>
                <a:tc>
                  <a:txBody>
                    <a:bodyPr/>
                    <a:lstStyle/>
                    <a:p>
                      <a:pPr algn="ctr" indent="0" marL="0">
                        <a:buNone/>
                      </a:pPr>
                      <a:r>
                        <a:rPr lang="en-US" sz="1000" dirty="0">
                          <a:solidFill>
                            <a:srgbClr val="2B2622"/>
                          </a:solidFill>
                          <a:latin typeface="Calibri" pitchFamily="34" charset="0"/>
                          <a:ea typeface="Calibri" pitchFamily="34" charset="-122"/>
                          <a:cs typeface="Calibri" pitchFamily="34" charset="-120"/>
                        </a:rPr>
                        <a:t>Flow</a:t>
                      </a:r>
                      <a:endParaRPr lang="en-US" sz="10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ECE1"/>
                    </a:solidFill>
                  </a:tcPr>
                </a:tc>
                <a:tc>
                  <a:txBody>
                    <a:bodyPr/>
                    <a:lstStyle/>
                    <a:p>
                      <a:pPr algn="ctr" indent="0" marL="0">
                        <a:buNone/>
                      </a:pPr>
                      <a:r>
                        <a:rPr lang="en-US" sz="1000" dirty="0">
                          <a:solidFill>
                            <a:srgbClr val="2B2622"/>
                          </a:solidFill>
                          <a:latin typeface="Calibri" pitchFamily="34" charset="0"/>
                          <a:ea typeface="Calibri" pitchFamily="34" charset="-122"/>
                          <a:cs typeface="Calibri" pitchFamily="34" charset="-120"/>
                        </a:rPr>
                        <a:t>Segwit</a:t>
                      </a:r>
                      <a:endParaRPr lang="en-US" sz="10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ECE1"/>
                    </a:solidFill>
                  </a:tcPr>
                </a:tc>
                <a:tc>
                  <a:txBody>
                    <a:bodyPr/>
                    <a:lstStyle/>
                    <a:p>
                      <a:pPr algn="ctr" indent="0" marL="0">
                        <a:buNone/>
                      </a:pPr>
                      <a:r>
                        <a:rPr lang="en-US" sz="1000" dirty="0">
                          <a:solidFill>
                            <a:srgbClr val="2B2622"/>
                          </a:solidFill>
                          <a:latin typeface="Calibri" pitchFamily="34" charset="0"/>
                          <a:ea typeface="Calibri" pitchFamily="34" charset="-122"/>
                          <a:cs typeface="Calibri" pitchFamily="34" charset="-120"/>
                        </a:rPr>
                        <a:t>Trees</a:t>
                      </a:r>
                      <a:endParaRPr lang="en-US" sz="10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ECE1"/>
                    </a:solidFill>
                  </a:tcPr>
                </a:tc>
                <a:tc>
                  <a:txBody>
                    <a:bodyPr/>
                    <a:lstStyle/>
                    <a:p>
                      <a:pPr algn="ctr" indent="0" marL="0">
                        <a:buNone/>
                      </a:pPr>
                      <a:r>
                        <a:rPr lang="en-US" sz="1000" dirty="0">
                          <a:solidFill>
                            <a:srgbClr val="2B2622"/>
                          </a:solidFill>
                          <a:latin typeface="Calibri" pitchFamily="34" charset="0"/>
                          <a:ea typeface="Calibri" pitchFamily="34" charset="-122"/>
                          <a:cs typeface="Calibri" pitchFamily="34" charset="-120"/>
                        </a:rPr>
                        <a:t>Taproot</a:t>
                      </a:r>
                      <a:endParaRPr lang="en-US" sz="10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ECE1"/>
                    </a:solidFill>
                  </a:tcPr>
                </a:tc>
              </a:tr>
            </a:tbl>
          </a:graphicData>
        </a:graphic>
      </p:graphicFrame>
      <p:sp>
        <p:nvSpPr>
          <p:cNvPr id="15" name="Text 12"/>
          <p:cNvSpPr txBox="1"/>
          <p:nvPr/>
        </p:nvSpPr>
        <p:spPr>
          <a:xfrm>
            <a:off x="7863840" y="4645152"/>
            <a:ext cx="868680" cy="310896"/>
          </a:xfrm>
          <a:prstGeom prst="rect">
            <a:avLst/>
          </a:prstGeom>
          <a:noFill/>
          <a:ln/>
        </p:spPr>
        <p:txBody>
          <a:bodyPr wrap="square" lIns="0" tIns="0" rIns="0" bIns="0" rtlCol="0" anchor="ctr"/>
          <a:lstStyle/>
          <a:p>
            <a:pPr algn="r" indent="0" marL="0">
              <a:buNone/>
            </a:pPr>
            <a:r>
              <a:rPr lang="en-US" sz="1100" dirty="0">
                <a:solidFill>
                  <a:srgbClr val="6E655C"/>
                </a:solidFill>
                <a:latin typeface="Calibri" pitchFamily="34" charset="0"/>
                <a:ea typeface="Calibri" pitchFamily="34" charset="-122"/>
                <a:cs typeface="Calibri" pitchFamily="34" charset="-120"/>
              </a:rPr>
              <a:t>19 / 61</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AF6EF"/>
        </a:solidFill>
      </p:bgPr>
    </p:bg>
    <p:spTree>
      <p:nvGrpSpPr>
        <p:cNvPr id="1" name=""/>
        <p:cNvGrpSpPr/>
        <p:nvPr/>
      </p:nvGrpSpPr>
      <p:grpSpPr>
        <a:xfrm>
          <a:off x="0" y="0"/>
          <a:ext cx="0" cy="0"/>
          <a:chOff x="0" y="0"/>
          <a:chExt cx="0" cy="0"/>
        </a:xfrm>
      </p:grpSpPr>
      <p:sp>
        <p:nvSpPr>
          <p:cNvPr id="2" name="Shape 0"/>
          <p:cNvSpPr/>
          <p:nvPr/>
        </p:nvSpPr>
        <p:spPr>
          <a:xfrm>
            <a:off x="457200" y="347472"/>
            <a:ext cx="566928" cy="384048"/>
          </a:xfrm>
          <a:prstGeom prst="roundRect">
            <a:avLst>
              <a:gd name="adj" fmla="val 19048"/>
            </a:avLst>
          </a:prstGeom>
          <a:solidFill>
            <a:srgbClr val="D97A14"/>
          </a:solidFill>
          <a:ln w="12700">
            <a:solidFill>
              <a:srgbClr val="D97A14"/>
            </a:solidFill>
            <a:prstDash val="solid"/>
          </a:ln>
        </p:spPr>
      </p:sp>
      <p:sp>
        <p:nvSpPr>
          <p:cNvPr id="3" name="Text 1"/>
          <p:cNvSpPr txBox="1"/>
          <p:nvPr/>
        </p:nvSpPr>
        <p:spPr>
          <a:xfrm>
            <a:off x="457200" y="347472"/>
            <a:ext cx="56692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4" name="Text 2"/>
          <p:cNvSpPr txBox="1"/>
          <p:nvPr/>
        </p:nvSpPr>
        <p:spPr>
          <a:xfrm>
            <a:off x="1143000" y="237744"/>
            <a:ext cx="7543800" cy="566928"/>
          </a:xfrm>
          <a:prstGeom prst="rect">
            <a:avLst/>
          </a:prstGeom>
          <a:noFill/>
          <a:ln/>
        </p:spPr>
        <p:txBody>
          <a:bodyPr wrap="square" lIns="0" tIns="0" rIns="0" bIns="0" rtlCol="0" anchor="ctr"/>
          <a:lstStyle/>
          <a:p>
            <a:pPr indent="0" marL="0">
              <a:buNone/>
            </a:pPr>
            <a:r>
              <a:rPr lang="en-US" sz="2500" b="1" dirty="0">
                <a:solidFill>
                  <a:srgbClr val="2B2622"/>
                </a:solidFill>
                <a:latin typeface="Cambria" pitchFamily="34" charset="0"/>
                <a:ea typeface="Cambria" pitchFamily="34" charset="-122"/>
                <a:cs typeface="Cambria" pitchFamily="34" charset="-120"/>
              </a:rPr>
              <a:t>Scripted multisignatures (1 of 2)</a:t>
            </a:r>
            <a:endParaRPr lang="en-US" sz="2500" dirty="0"/>
          </a:p>
        </p:txBody>
      </p:sp>
      <p:sp>
        <p:nvSpPr>
          <p:cNvPr id="5" name="Text 3"/>
          <p:cNvSpPr txBox="1"/>
          <p:nvPr/>
        </p:nvSpPr>
        <p:spPr>
          <a:xfrm>
            <a:off x="1143000" y="786384"/>
            <a:ext cx="7543800" cy="310896"/>
          </a:xfrm>
          <a:prstGeom prst="rect">
            <a:avLst/>
          </a:prstGeom>
          <a:noFill/>
          <a:ln/>
        </p:spPr>
        <p:txBody>
          <a:bodyPr wrap="square" lIns="0" tIns="0" rIns="0" bIns="0" rtlCol="0" anchor="ctr"/>
          <a:lstStyle/>
          <a:p>
            <a:pPr indent="0" marL="0">
              <a:buNone/>
            </a:pPr>
            <a:r>
              <a:rPr lang="en-US" sz="1300" i="1" dirty="0">
                <a:solidFill>
                  <a:srgbClr val="6E655C"/>
                </a:solidFill>
                <a:latin typeface="Calibri" pitchFamily="34" charset="0"/>
                <a:ea typeface="Calibri" pitchFamily="34" charset="-122"/>
                <a:cs typeface="Calibri" pitchFamily="34" charset="-120"/>
              </a:rPr>
              <a:t>Each card: the meaning in a few words, then something you already know</a:t>
            </a:r>
            <a:endParaRPr lang="en-US" sz="1300" dirty="0"/>
          </a:p>
        </p:txBody>
      </p:sp>
      <p:sp>
        <p:nvSpPr>
          <p:cNvPr id="6" name="Shape 4"/>
          <p:cNvSpPr/>
          <p:nvPr/>
        </p:nvSpPr>
        <p:spPr>
          <a:xfrm>
            <a:off x="457200" y="1280160"/>
            <a:ext cx="2645664" cy="1540764"/>
          </a:xfrm>
          <a:prstGeom prst="roundRect">
            <a:avLst>
              <a:gd name="adj" fmla="val 4748"/>
            </a:avLst>
          </a:prstGeom>
          <a:solidFill>
            <a:srgbClr val="F2ECE1"/>
          </a:solidFill>
          <a:ln w="12700">
            <a:solidFill>
              <a:srgbClr val="DFD6C7"/>
            </a:solidFill>
            <a:prstDash val="solid"/>
          </a:ln>
        </p:spPr>
      </p:sp>
      <p:sp>
        <p:nvSpPr>
          <p:cNvPr id="7" name="Shape 5"/>
          <p:cNvSpPr/>
          <p:nvPr/>
        </p:nvSpPr>
        <p:spPr>
          <a:xfrm>
            <a:off x="475488" y="1408176"/>
            <a:ext cx="64008" cy="1284732"/>
          </a:xfrm>
          <a:prstGeom prst="rect">
            <a:avLst/>
          </a:prstGeom>
          <a:solidFill>
            <a:srgbClr val="D97A14"/>
          </a:solidFill>
          <a:ln w="12700">
            <a:solidFill>
              <a:srgbClr val="D97A14"/>
            </a:solidFill>
            <a:prstDash val="solid"/>
          </a:ln>
        </p:spPr>
      </p:sp>
      <p:sp>
        <p:nvSpPr>
          <p:cNvPr id="8" name="Text 6"/>
          <p:cNvSpPr txBox="1"/>
          <p:nvPr/>
        </p:nvSpPr>
        <p:spPr>
          <a:xfrm>
            <a:off x="640080" y="1344168"/>
            <a:ext cx="2371344" cy="813816"/>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Scripted Multisignatures</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A script that wants t signatures out of k keys.</a:t>
            </a:r>
            <a:endParaRPr lang="en-US" sz="1300" dirty="0"/>
          </a:p>
        </p:txBody>
      </p:sp>
      <p:sp>
        <p:nvSpPr>
          <p:cNvPr id="9" name="Text 7"/>
          <p:cNvSpPr txBox="1"/>
          <p:nvPr/>
        </p:nvSpPr>
        <p:spPr>
          <a:xfrm>
            <a:off x="640080" y="2185416"/>
            <a:ext cx="2371344" cy="571500"/>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a vault that opens when two of three directors turn their keys.</a:t>
            </a:r>
            <a:endParaRPr lang="en-US" sz="1150" dirty="0"/>
          </a:p>
        </p:txBody>
      </p:sp>
      <p:sp>
        <p:nvSpPr>
          <p:cNvPr id="10" name="Shape 8"/>
          <p:cNvSpPr/>
          <p:nvPr/>
        </p:nvSpPr>
        <p:spPr>
          <a:xfrm>
            <a:off x="3249168" y="1280160"/>
            <a:ext cx="2645664" cy="1540764"/>
          </a:xfrm>
          <a:prstGeom prst="roundRect">
            <a:avLst>
              <a:gd name="adj" fmla="val 4748"/>
            </a:avLst>
          </a:prstGeom>
          <a:solidFill>
            <a:srgbClr val="F2ECE1"/>
          </a:solidFill>
          <a:ln w="12700">
            <a:solidFill>
              <a:srgbClr val="DFD6C7"/>
            </a:solidFill>
            <a:prstDash val="solid"/>
          </a:ln>
        </p:spPr>
      </p:sp>
      <p:sp>
        <p:nvSpPr>
          <p:cNvPr id="11" name="Shape 9"/>
          <p:cNvSpPr/>
          <p:nvPr/>
        </p:nvSpPr>
        <p:spPr>
          <a:xfrm>
            <a:off x="3267456" y="1408176"/>
            <a:ext cx="64008" cy="1284732"/>
          </a:xfrm>
          <a:prstGeom prst="rect">
            <a:avLst/>
          </a:prstGeom>
          <a:solidFill>
            <a:srgbClr val="D97A14"/>
          </a:solidFill>
          <a:ln w="12700">
            <a:solidFill>
              <a:srgbClr val="D97A14"/>
            </a:solidFill>
            <a:prstDash val="solid"/>
          </a:ln>
        </p:spPr>
      </p:sp>
      <p:sp>
        <p:nvSpPr>
          <p:cNvPr id="12" name="Text 10"/>
          <p:cNvSpPr txBox="1"/>
          <p:nvPr/>
        </p:nvSpPr>
        <p:spPr>
          <a:xfrm>
            <a:off x="3432048" y="1344168"/>
            <a:ext cx="2371344" cy="813816"/>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An Oddity in CHECKMULTISIG Execution</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The opcode pops one item too many, so a dummy is needed.</a:t>
            </a:r>
            <a:endParaRPr lang="en-US" sz="1300" dirty="0"/>
          </a:p>
        </p:txBody>
      </p:sp>
      <p:sp>
        <p:nvSpPr>
          <p:cNvPr id="13" name="Text 11"/>
          <p:cNvSpPr txBox="1"/>
          <p:nvPr/>
        </p:nvSpPr>
        <p:spPr>
          <a:xfrm>
            <a:off x="3432048" y="2185416"/>
            <a:ext cx="2371344" cy="571500"/>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a vending machine that always takes one coin more than the price.</a:t>
            </a:r>
            <a:endParaRPr lang="en-US" sz="1150" dirty="0"/>
          </a:p>
        </p:txBody>
      </p:sp>
      <p:sp>
        <p:nvSpPr>
          <p:cNvPr id="14" name="Shape 12"/>
          <p:cNvSpPr/>
          <p:nvPr/>
        </p:nvSpPr>
        <p:spPr>
          <a:xfrm>
            <a:off x="6041136" y="1280160"/>
            <a:ext cx="2645664" cy="1540764"/>
          </a:xfrm>
          <a:prstGeom prst="roundRect">
            <a:avLst>
              <a:gd name="adj" fmla="val 4748"/>
            </a:avLst>
          </a:prstGeom>
          <a:solidFill>
            <a:srgbClr val="F2ECE1"/>
          </a:solidFill>
          <a:ln w="12700">
            <a:solidFill>
              <a:srgbClr val="DFD6C7"/>
            </a:solidFill>
            <a:prstDash val="solid"/>
          </a:ln>
        </p:spPr>
      </p:sp>
      <p:sp>
        <p:nvSpPr>
          <p:cNvPr id="15" name="Shape 13"/>
          <p:cNvSpPr/>
          <p:nvPr/>
        </p:nvSpPr>
        <p:spPr>
          <a:xfrm>
            <a:off x="6059424" y="1408176"/>
            <a:ext cx="64008" cy="1284732"/>
          </a:xfrm>
          <a:prstGeom prst="rect">
            <a:avLst/>
          </a:prstGeom>
          <a:solidFill>
            <a:srgbClr val="D97A14"/>
          </a:solidFill>
          <a:ln w="12700">
            <a:solidFill>
              <a:srgbClr val="D97A14"/>
            </a:solidFill>
            <a:prstDash val="solid"/>
          </a:ln>
        </p:spPr>
      </p:sp>
      <p:sp>
        <p:nvSpPr>
          <p:cNvPr id="16" name="Text 14"/>
          <p:cNvSpPr txBox="1"/>
          <p:nvPr/>
        </p:nvSpPr>
        <p:spPr>
          <a:xfrm>
            <a:off x="6224016" y="1344168"/>
            <a:ext cx="2371344" cy="612648"/>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multisignature</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More than one key must approve a spend.</a:t>
            </a:r>
            <a:endParaRPr lang="en-US" sz="1300" dirty="0"/>
          </a:p>
        </p:txBody>
      </p:sp>
      <p:sp>
        <p:nvSpPr>
          <p:cNvPr id="17" name="Text 15"/>
          <p:cNvSpPr txBox="1"/>
          <p:nvPr/>
        </p:nvSpPr>
        <p:spPr>
          <a:xfrm>
            <a:off x="6224016" y="1984248"/>
            <a:ext cx="2371344" cy="393192"/>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a cheque that needs two signatures.</a:t>
            </a:r>
            <a:endParaRPr lang="en-US" sz="1150" dirty="0"/>
          </a:p>
        </p:txBody>
      </p:sp>
      <p:sp>
        <p:nvSpPr>
          <p:cNvPr id="18" name="Shape 16"/>
          <p:cNvSpPr/>
          <p:nvPr/>
        </p:nvSpPr>
        <p:spPr>
          <a:xfrm>
            <a:off x="457200" y="4636008"/>
            <a:ext cx="91440" cy="310896"/>
          </a:xfrm>
          <a:prstGeom prst="rect">
            <a:avLst/>
          </a:prstGeom>
          <a:solidFill>
            <a:srgbClr val="D97A14"/>
          </a:solidFill>
          <a:ln w="12700">
            <a:solidFill>
              <a:srgbClr val="D97A14"/>
            </a:solidFill>
            <a:prstDash val="solid"/>
          </a:ln>
        </p:spPr>
      </p:sp>
      <p:sp>
        <p:nvSpPr>
          <p:cNvPr id="19" name="Text 17"/>
          <p:cNvSpPr txBox="1"/>
          <p:nvPr/>
        </p:nvSpPr>
        <p:spPr>
          <a:xfrm>
            <a:off x="658368" y="4599432"/>
            <a:ext cx="6949440" cy="384048"/>
          </a:xfrm>
          <a:prstGeom prst="rect">
            <a:avLst/>
          </a:prstGeom>
          <a:noFill/>
          <a:ln/>
        </p:spPr>
        <p:txBody>
          <a:bodyPr wrap="square" lIns="0" tIns="0" rIns="0" bIns="0" rtlCol="0" anchor="ctr"/>
          <a:lstStyle/>
          <a:p>
            <a:pPr indent="0" marL="0">
              <a:buNone/>
            </a:pPr>
            <a:r>
              <a:rPr lang="en-US" sz="1350" b="1" i="1" dirty="0">
                <a:solidFill>
                  <a:srgbClr val="2B2622"/>
                </a:solidFill>
                <a:latin typeface="Cambria" pitchFamily="34" charset="0"/>
                <a:ea typeface="Cambria" pitchFamily="34" charset="-122"/>
                <a:cs typeface="Cambria" pitchFamily="34" charset="-120"/>
              </a:rPr>
              <a:t>Say each idea twice: once as the meaning, once as the everyday comparison</a:t>
            </a:r>
            <a:endParaRPr lang="en-US" sz="1350" dirty="0"/>
          </a:p>
        </p:txBody>
      </p:sp>
      <p:sp>
        <p:nvSpPr>
          <p:cNvPr id="20" name="Text 18"/>
          <p:cNvSpPr txBox="1"/>
          <p:nvPr/>
        </p:nvSpPr>
        <p:spPr>
          <a:xfrm>
            <a:off x="7863840" y="4645152"/>
            <a:ext cx="868680" cy="310896"/>
          </a:xfrm>
          <a:prstGeom prst="rect">
            <a:avLst/>
          </a:prstGeom>
          <a:noFill/>
          <a:ln/>
        </p:spPr>
        <p:txBody>
          <a:bodyPr wrap="square" lIns="0" tIns="0" rIns="0" bIns="0" rtlCol="0" anchor="ctr"/>
          <a:lstStyle/>
          <a:p>
            <a:pPr algn="r" indent="0" marL="0">
              <a:buNone/>
            </a:pPr>
            <a:r>
              <a:rPr lang="en-US" sz="1100" dirty="0">
                <a:solidFill>
                  <a:srgbClr val="6E655C"/>
                </a:solidFill>
                <a:latin typeface="Calibri" pitchFamily="34" charset="0"/>
                <a:ea typeface="Calibri" pitchFamily="34" charset="-122"/>
                <a:cs typeface="Calibri" pitchFamily="34" charset="-120"/>
              </a:rPr>
              <a:t>20 / 61</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AF6EF"/>
        </a:solidFill>
      </p:bgPr>
    </p:bg>
    <p:spTree>
      <p:nvGrpSpPr>
        <p:cNvPr id="1" name=""/>
        <p:cNvGrpSpPr/>
        <p:nvPr/>
      </p:nvGrpSpPr>
      <p:grpSpPr>
        <a:xfrm>
          <a:off x="0" y="0"/>
          <a:ext cx="0" cy="0"/>
          <a:chOff x="0" y="0"/>
          <a:chExt cx="0" cy="0"/>
        </a:xfrm>
      </p:grpSpPr>
      <p:sp>
        <p:nvSpPr>
          <p:cNvPr id="2" name="Shape 0"/>
          <p:cNvSpPr/>
          <p:nvPr/>
        </p:nvSpPr>
        <p:spPr>
          <a:xfrm>
            <a:off x="457200" y="347472"/>
            <a:ext cx="566928" cy="384048"/>
          </a:xfrm>
          <a:prstGeom prst="roundRect">
            <a:avLst>
              <a:gd name="adj" fmla="val 19048"/>
            </a:avLst>
          </a:prstGeom>
          <a:solidFill>
            <a:srgbClr val="D97A14"/>
          </a:solidFill>
          <a:ln w="12700">
            <a:solidFill>
              <a:srgbClr val="D97A14"/>
            </a:solidFill>
            <a:prstDash val="solid"/>
          </a:ln>
        </p:spPr>
      </p:sp>
      <p:sp>
        <p:nvSpPr>
          <p:cNvPr id="3" name="Text 1"/>
          <p:cNvSpPr txBox="1"/>
          <p:nvPr/>
        </p:nvSpPr>
        <p:spPr>
          <a:xfrm>
            <a:off x="457200" y="347472"/>
            <a:ext cx="56692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4" name="Text 2"/>
          <p:cNvSpPr txBox="1"/>
          <p:nvPr/>
        </p:nvSpPr>
        <p:spPr>
          <a:xfrm>
            <a:off x="1143000" y="237744"/>
            <a:ext cx="7543800" cy="566928"/>
          </a:xfrm>
          <a:prstGeom prst="rect">
            <a:avLst/>
          </a:prstGeom>
          <a:noFill/>
          <a:ln/>
        </p:spPr>
        <p:txBody>
          <a:bodyPr wrap="square" lIns="0" tIns="0" rIns="0" bIns="0" rtlCol="0" anchor="ctr"/>
          <a:lstStyle/>
          <a:p>
            <a:pPr indent="0" marL="0">
              <a:buNone/>
            </a:pPr>
            <a:r>
              <a:rPr lang="en-US" sz="2800" b="1" dirty="0">
                <a:solidFill>
                  <a:srgbClr val="2B2622"/>
                </a:solidFill>
                <a:latin typeface="Cambria" pitchFamily="34" charset="0"/>
                <a:ea typeface="Cambria" pitchFamily="34" charset="-122"/>
                <a:cs typeface="Cambria" pitchFamily="34" charset="-120"/>
              </a:rPr>
              <a:t>A 2-of-3 multisignature</a:t>
            </a:r>
            <a:endParaRPr lang="en-US" sz="2800" dirty="0"/>
          </a:p>
        </p:txBody>
      </p:sp>
      <p:sp>
        <p:nvSpPr>
          <p:cNvPr id="5" name="Text 3"/>
          <p:cNvSpPr txBox="1"/>
          <p:nvPr/>
        </p:nvSpPr>
        <p:spPr>
          <a:xfrm>
            <a:off x="1143000" y="786384"/>
            <a:ext cx="7543800" cy="310896"/>
          </a:xfrm>
          <a:prstGeom prst="rect">
            <a:avLst/>
          </a:prstGeom>
          <a:noFill/>
          <a:ln/>
        </p:spPr>
        <p:txBody>
          <a:bodyPr wrap="square" lIns="0" tIns="0" rIns="0" bIns="0" rtlCol="0" anchor="ctr"/>
          <a:lstStyle/>
          <a:p>
            <a:pPr indent="0" marL="0">
              <a:buNone/>
            </a:pPr>
            <a:r>
              <a:rPr lang="en-US" sz="1300" i="1" dirty="0">
                <a:solidFill>
                  <a:srgbClr val="6E655C"/>
                </a:solidFill>
                <a:latin typeface="Calibri" pitchFamily="34" charset="0"/>
                <a:ea typeface="Calibri" pitchFamily="34" charset="-122"/>
                <a:cs typeface="Calibri" pitchFamily="34" charset="-120"/>
              </a:rPr>
              <a:t>Signatures in key order, and the extra element</a:t>
            </a:r>
            <a:endParaRPr lang="en-US" sz="1300" dirty="0"/>
          </a:p>
        </p:txBody>
      </p:sp>
      <p:sp>
        <p:nvSpPr>
          <p:cNvPr id="6" name="Shape 4"/>
          <p:cNvSpPr/>
          <p:nvPr/>
        </p:nvSpPr>
        <p:spPr>
          <a:xfrm>
            <a:off x="457200" y="1325880"/>
            <a:ext cx="5074920" cy="641909"/>
          </a:xfrm>
          <a:prstGeom prst="roundRect">
            <a:avLst>
              <a:gd name="adj" fmla="val 11396"/>
            </a:avLst>
          </a:prstGeom>
          <a:solidFill>
            <a:srgbClr val="23272E"/>
          </a:solidFill>
          <a:ln w="12700">
            <a:solidFill>
              <a:srgbClr val="23272E"/>
            </a:solidFill>
            <a:prstDash val="solid"/>
          </a:ln>
        </p:spPr>
      </p:sp>
      <p:sp>
        <p:nvSpPr>
          <p:cNvPr id="7" name="Text 5"/>
          <p:cNvSpPr txBox="1"/>
          <p:nvPr/>
        </p:nvSpPr>
        <p:spPr>
          <a:xfrm>
            <a:off x="603504" y="1399032"/>
            <a:ext cx="4800600" cy="513893"/>
          </a:xfrm>
          <a:prstGeom prst="rect">
            <a:avLst/>
          </a:prstGeom>
          <a:noFill/>
          <a:ln/>
        </p:spPr>
        <p:txBody>
          <a:bodyPr wrap="square" lIns="0" tIns="0" rIns="0" bIns="0" rtlCol="0" anchor="t"/>
          <a:lstStyle/>
          <a:p>
            <a:pPr indent="0" marL="0">
              <a:buNone/>
            </a:pPr>
            <a:r>
              <a:rPr lang="en-US" sz="1000" b="1" dirty="0">
                <a:solidFill>
                  <a:srgbClr val="D97A14"/>
                </a:solidFill>
                <a:latin typeface="Courier New" pitchFamily="34" charset="0"/>
                <a:ea typeface="Courier New" pitchFamily="34" charset="-122"/>
                <a:cs typeface="Courier New" pitchFamily="34" charset="-120"/>
              </a:rPr>
              <a:t>&gt;&gt;&gt; </a:t>
            </a:r>
            <a:r>
              <a:rPr lang="en-US" sz="1000" dirty="0">
                <a:solidFill>
                  <a:srgbClr val="E6EDF3"/>
                </a:solidFill>
                <a:latin typeface="Courier New" pitchFamily="34" charset="0"/>
                <a:ea typeface="Courier New" pitchFamily="34" charset="-122"/>
                <a:cs typeface="Courier New" pitchFamily="34" charset="-120"/>
              </a:rPr>
              <a:t>ok = K.ms_spend(</a:t>
            </a:r>
            <a:r>
              <a:rPr lang="en-US" sz="1000" dirty="0">
                <a:solidFill>
                  <a:srgbClr val="FFD28A"/>
                </a:solidFill>
                <a:latin typeface="Courier New" pitchFamily="34" charset="0"/>
                <a:ea typeface="Courier New" pitchFamily="34" charset="-122"/>
                <a:cs typeface="Courier New" pitchFamily="34" charset="-120"/>
              </a:rPr>
              <a:t>2</a:t>
            </a:r>
            <a:r>
              <a:rPr lang="en-US" sz="1000" dirty="0">
                <a:solidFill>
                  <a:srgbClr val="E6EDF3"/>
                </a:solidFill>
                <a:latin typeface="Courier New" pitchFamily="34" charset="0"/>
                <a:ea typeface="Courier New" pitchFamily="34" charset="-122"/>
                <a:cs typeface="Courier New" pitchFamily="34" charset="-120"/>
              </a:rPr>
              <a:t>, </a:t>
            </a:r>
            <a:r>
              <a:rPr lang="en-US" sz="1000" dirty="0">
                <a:solidFill>
                  <a:srgbClr val="FFD28A"/>
                </a:solidFill>
                <a:latin typeface="Courier New" pitchFamily="34" charset="0"/>
                <a:ea typeface="Courier New" pitchFamily="34" charset="-122"/>
                <a:cs typeface="Courier New" pitchFamily="34" charset="-120"/>
              </a:rPr>
              <a:t>3</a:t>
            </a:r>
            <a:r>
              <a:rPr lang="en-US" sz="1000" dirty="0">
                <a:solidFill>
                  <a:srgbClr val="E6EDF3"/>
                </a:solidFill>
                <a:latin typeface="Courier New" pitchFamily="34" charset="0"/>
                <a:ea typeface="Courier New" pitchFamily="34" charset="-122"/>
                <a:cs typeface="Courier New" pitchFamily="34" charset="-120"/>
              </a:rPr>
              <a:t>, [</a:t>
            </a:r>
            <a:r>
              <a:rPr lang="en-US" sz="1000" dirty="0">
                <a:solidFill>
                  <a:srgbClr val="FFD28A"/>
                </a:solidFill>
                <a:latin typeface="Courier New" pitchFamily="34" charset="0"/>
                <a:ea typeface="Courier New" pitchFamily="34" charset="-122"/>
                <a:cs typeface="Courier New" pitchFamily="34" charset="-120"/>
              </a:rPr>
              <a:t>0</a:t>
            </a:r>
            <a:r>
              <a:rPr lang="en-US" sz="1000" dirty="0">
                <a:solidFill>
                  <a:srgbClr val="E6EDF3"/>
                </a:solidFill>
                <a:latin typeface="Courier New" pitchFamily="34" charset="0"/>
                <a:ea typeface="Courier New" pitchFamily="34" charset="-122"/>
                <a:cs typeface="Courier New" pitchFamily="34" charset="-120"/>
              </a:rPr>
              <a:t>, </a:t>
            </a:r>
            <a:r>
              <a:rPr lang="en-US" sz="1000" dirty="0">
                <a:solidFill>
                  <a:srgbClr val="FFD28A"/>
                </a:solidFill>
                <a:latin typeface="Courier New" pitchFamily="34" charset="0"/>
                <a:ea typeface="Courier New" pitchFamily="34" charset="-122"/>
                <a:cs typeface="Courier New" pitchFamily="34" charset="-120"/>
              </a:rPr>
              <a:t>2</a:t>
            </a:r>
            <a:r>
              <a:rPr lang="en-US" sz="1000" dirty="0">
                <a:solidFill>
                  <a:srgbClr val="E6EDF3"/>
                </a:solidFill>
                <a:latin typeface="Courier New" pitchFamily="34" charset="0"/>
                <a:ea typeface="Courier New" pitchFamily="34" charset="-122"/>
                <a:cs typeface="Courier New" pitchFamily="34" charset="-120"/>
              </a:rPr>
              <a:t>])</a:t>
            </a:r>
            <a:endParaRPr lang="en-US" sz="1000" dirty="0"/>
          </a:p>
          <a:p>
            <a:pPr indent="0" marL="0">
              <a:buNone/>
            </a:pPr>
            <a:r>
              <a:rPr lang="en-US" sz="1000" b="1" dirty="0">
                <a:solidFill>
                  <a:srgbClr val="D97A14"/>
                </a:solidFill>
                <a:latin typeface="Courier New" pitchFamily="34" charset="0"/>
                <a:ea typeface="Courier New" pitchFamily="34" charset="-122"/>
                <a:cs typeface="Courier New" pitchFamily="34" charset="-120"/>
              </a:rPr>
              <a:t>&gt;&gt;&gt; </a:t>
            </a:r>
            <a:r>
              <a:rPr lang="en-US" sz="1000" dirty="0">
                <a:solidFill>
                  <a:srgbClr val="E6EDF3"/>
                </a:solidFill>
                <a:latin typeface="Courier New" pitchFamily="34" charset="0"/>
                <a:ea typeface="Courier New" pitchFamily="34" charset="-122"/>
                <a:cs typeface="Courier New" pitchFamily="34" charset="-120"/>
              </a:rPr>
              <a:t>swap = K.ms_spend(</a:t>
            </a:r>
            <a:r>
              <a:rPr lang="en-US" sz="1000" dirty="0">
                <a:solidFill>
                  <a:srgbClr val="FFD28A"/>
                </a:solidFill>
                <a:latin typeface="Courier New" pitchFamily="34" charset="0"/>
                <a:ea typeface="Courier New" pitchFamily="34" charset="-122"/>
                <a:cs typeface="Courier New" pitchFamily="34" charset="-120"/>
              </a:rPr>
              <a:t>2</a:t>
            </a:r>
            <a:r>
              <a:rPr lang="en-US" sz="1000" dirty="0">
                <a:solidFill>
                  <a:srgbClr val="E6EDF3"/>
                </a:solidFill>
                <a:latin typeface="Courier New" pitchFamily="34" charset="0"/>
                <a:ea typeface="Courier New" pitchFamily="34" charset="-122"/>
                <a:cs typeface="Courier New" pitchFamily="34" charset="-120"/>
              </a:rPr>
              <a:t>, </a:t>
            </a:r>
            <a:r>
              <a:rPr lang="en-US" sz="1000" dirty="0">
                <a:solidFill>
                  <a:srgbClr val="FFD28A"/>
                </a:solidFill>
                <a:latin typeface="Courier New" pitchFamily="34" charset="0"/>
                <a:ea typeface="Courier New" pitchFamily="34" charset="-122"/>
                <a:cs typeface="Courier New" pitchFamily="34" charset="-120"/>
              </a:rPr>
              <a:t>3</a:t>
            </a:r>
            <a:r>
              <a:rPr lang="en-US" sz="1000" dirty="0">
                <a:solidFill>
                  <a:srgbClr val="E6EDF3"/>
                </a:solidFill>
                <a:latin typeface="Courier New" pitchFamily="34" charset="0"/>
                <a:ea typeface="Courier New" pitchFamily="34" charset="-122"/>
                <a:cs typeface="Courier New" pitchFamily="34" charset="-120"/>
              </a:rPr>
              <a:t>, [</a:t>
            </a:r>
            <a:r>
              <a:rPr lang="en-US" sz="1000" dirty="0">
                <a:solidFill>
                  <a:srgbClr val="FFD28A"/>
                </a:solidFill>
                <a:latin typeface="Courier New" pitchFamily="34" charset="0"/>
                <a:ea typeface="Courier New" pitchFamily="34" charset="-122"/>
                <a:cs typeface="Courier New" pitchFamily="34" charset="-120"/>
              </a:rPr>
              <a:t>2</a:t>
            </a:r>
            <a:r>
              <a:rPr lang="en-US" sz="1000" dirty="0">
                <a:solidFill>
                  <a:srgbClr val="E6EDF3"/>
                </a:solidFill>
                <a:latin typeface="Courier New" pitchFamily="34" charset="0"/>
                <a:ea typeface="Courier New" pitchFamily="34" charset="-122"/>
                <a:cs typeface="Courier New" pitchFamily="34" charset="-120"/>
              </a:rPr>
              <a:t>, </a:t>
            </a:r>
            <a:r>
              <a:rPr lang="en-US" sz="1000" dirty="0">
                <a:solidFill>
                  <a:srgbClr val="FFD28A"/>
                </a:solidFill>
                <a:latin typeface="Courier New" pitchFamily="34" charset="0"/>
                <a:ea typeface="Courier New" pitchFamily="34" charset="-122"/>
                <a:cs typeface="Courier New" pitchFamily="34" charset="-120"/>
              </a:rPr>
              <a:t>0</a:t>
            </a:r>
            <a:r>
              <a:rPr lang="en-US" sz="1000" dirty="0">
                <a:solidFill>
                  <a:srgbClr val="E6EDF3"/>
                </a:solidFill>
                <a:latin typeface="Courier New" pitchFamily="34" charset="0"/>
                <a:ea typeface="Courier New" pitchFamily="34" charset="-122"/>
                <a:cs typeface="Courier New" pitchFamily="34" charset="-120"/>
              </a:rPr>
              <a:t>])</a:t>
            </a:r>
            <a:endParaRPr lang="en-US" sz="1000" dirty="0"/>
          </a:p>
          <a:p>
            <a:pPr indent="0" marL="0">
              <a:buNone/>
            </a:pPr>
            <a:r>
              <a:rPr lang="en-US" sz="1000" b="1" dirty="0">
                <a:solidFill>
                  <a:srgbClr val="D97A14"/>
                </a:solidFill>
                <a:latin typeface="Courier New" pitchFamily="34" charset="0"/>
                <a:ea typeface="Courier New" pitchFamily="34" charset="-122"/>
                <a:cs typeface="Courier New" pitchFamily="34" charset="-120"/>
              </a:rPr>
              <a:t>&gt;&gt;&gt; </a:t>
            </a:r>
            <a:r>
              <a:rPr lang="en-US" sz="1000" dirty="0">
                <a:solidFill>
                  <a:srgbClr val="E6EDF3"/>
                </a:solidFill>
                <a:latin typeface="Courier New" pitchFamily="34" charset="0"/>
                <a:ea typeface="Courier New" pitchFamily="34" charset="-122"/>
                <a:cs typeface="Courier New" pitchFamily="34" charset="-120"/>
              </a:rPr>
              <a:t>few = K.ms_spend(</a:t>
            </a:r>
            <a:r>
              <a:rPr lang="en-US" sz="1000" dirty="0">
                <a:solidFill>
                  <a:srgbClr val="FFD28A"/>
                </a:solidFill>
                <a:latin typeface="Courier New" pitchFamily="34" charset="0"/>
                <a:ea typeface="Courier New" pitchFamily="34" charset="-122"/>
                <a:cs typeface="Courier New" pitchFamily="34" charset="-120"/>
              </a:rPr>
              <a:t>2</a:t>
            </a:r>
            <a:r>
              <a:rPr lang="en-US" sz="1000" dirty="0">
                <a:solidFill>
                  <a:srgbClr val="E6EDF3"/>
                </a:solidFill>
                <a:latin typeface="Courier New" pitchFamily="34" charset="0"/>
                <a:ea typeface="Courier New" pitchFamily="34" charset="-122"/>
                <a:cs typeface="Courier New" pitchFamily="34" charset="-120"/>
              </a:rPr>
              <a:t>, </a:t>
            </a:r>
            <a:r>
              <a:rPr lang="en-US" sz="1000" dirty="0">
                <a:solidFill>
                  <a:srgbClr val="FFD28A"/>
                </a:solidFill>
                <a:latin typeface="Courier New" pitchFamily="34" charset="0"/>
                <a:ea typeface="Courier New" pitchFamily="34" charset="-122"/>
                <a:cs typeface="Courier New" pitchFamily="34" charset="-120"/>
              </a:rPr>
              <a:t>3</a:t>
            </a:r>
            <a:r>
              <a:rPr lang="en-US" sz="1000" dirty="0">
                <a:solidFill>
                  <a:srgbClr val="E6EDF3"/>
                </a:solidFill>
                <a:latin typeface="Courier New" pitchFamily="34" charset="0"/>
                <a:ea typeface="Courier New" pitchFamily="34" charset="-122"/>
                <a:cs typeface="Courier New" pitchFamily="34" charset="-120"/>
              </a:rPr>
              <a:t>, [</a:t>
            </a:r>
            <a:r>
              <a:rPr lang="en-US" sz="1000" dirty="0">
                <a:solidFill>
                  <a:srgbClr val="FFD28A"/>
                </a:solidFill>
                <a:latin typeface="Courier New" pitchFamily="34" charset="0"/>
                <a:ea typeface="Courier New" pitchFamily="34" charset="-122"/>
                <a:cs typeface="Courier New" pitchFamily="34" charset="-120"/>
              </a:rPr>
              <a:t>1</a:t>
            </a:r>
            <a:r>
              <a:rPr lang="en-US" sz="1000" dirty="0">
                <a:solidFill>
                  <a:srgbClr val="E6EDF3"/>
                </a:solidFill>
                <a:latin typeface="Courier New" pitchFamily="34" charset="0"/>
                <a:ea typeface="Courier New" pitchFamily="34" charset="-122"/>
                <a:cs typeface="Courier New" pitchFamily="34" charset="-120"/>
              </a:rPr>
              <a:t>])</a:t>
            </a:r>
            <a:endParaRPr lang="en-US" sz="1000" dirty="0"/>
          </a:p>
        </p:txBody>
      </p:sp>
      <p:sp>
        <p:nvSpPr>
          <p:cNvPr id="8" name="Shape 6"/>
          <p:cNvSpPr/>
          <p:nvPr/>
        </p:nvSpPr>
        <p:spPr>
          <a:xfrm>
            <a:off x="457200" y="2452421"/>
            <a:ext cx="5074920" cy="311810"/>
          </a:xfrm>
          <a:prstGeom prst="roundRect">
            <a:avLst>
              <a:gd name="adj" fmla="val 23460"/>
            </a:avLst>
          </a:prstGeom>
          <a:solidFill>
            <a:srgbClr val="23272E"/>
          </a:solidFill>
          <a:ln w="12700">
            <a:solidFill>
              <a:srgbClr val="23272E"/>
            </a:solidFill>
            <a:prstDash val="solid"/>
          </a:ln>
        </p:spPr>
      </p:sp>
      <p:sp>
        <p:nvSpPr>
          <p:cNvPr id="9" name="Text 7"/>
          <p:cNvSpPr txBox="1"/>
          <p:nvPr/>
        </p:nvSpPr>
        <p:spPr>
          <a:xfrm>
            <a:off x="603504" y="2525573"/>
            <a:ext cx="4800600" cy="183794"/>
          </a:xfrm>
          <a:prstGeom prst="rect">
            <a:avLst/>
          </a:prstGeom>
          <a:noFill/>
          <a:ln/>
        </p:spPr>
        <p:txBody>
          <a:bodyPr wrap="square" lIns="0" tIns="0" rIns="0" bIns="0" rtlCol="0" anchor="t"/>
          <a:lstStyle/>
          <a:p>
            <a:pPr indent="0" marL="0">
              <a:buNone/>
            </a:pPr>
            <a:r>
              <a:rPr lang="en-US" sz="1000" b="1" dirty="0">
                <a:solidFill>
                  <a:srgbClr val="D97A14"/>
                </a:solidFill>
                <a:latin typeface="Courier New" pitchFamily="34" charset="0"/>
                <a:ea typeface="Courier New" pitchFamily="34" charset="-122"/>
                <a:cs typeface="Courier New" pitchFamily="34" charset="-120"/>
              </a:rPr>
              <a:t>&gt;&gt;&gt; </a:t>
            </a:r>
            <a:r>
              <a:rPr lang="en-US" sz="1000" dirty="0">
                <a:solidFill>
                  <a:srgbClr val="E6EDF3"/>
                </a:solidFill>
                <a:latin typeface="Courier New" pitchFamily="34" charset="0"/>
                <a:ea typeface="Courier New" pitchFamily="34" charset="-122"/>
                <a:cs typeface="Courier New" pitchFamily="34" charset="-120"/>
              </a:rPr>
              <a:t>dummy = K.ms_spend(</a:t>
            </a:r>
            <a:r>
              <a:rPr lang="en-US" sz="1000" dirty="0">
                <a:solidFill>
                  <a:srgbClr val="FFD28A"/>
                </a:solidFill>
                <a:latin typeface="Courier New" pitchFamily="34" charset="0"/>
                <a:ea typeface="Courier New" pitchFamily="34" charset="-122"/>
                <a:cs typeface="Courier New" pitchFamily="34" charset="-120"/>
              </a:rPr>
              <a:t>2</a:t>
            </a:r>
            <a:r>
              <a:rPr lang="en-US" sz="1000" dirty="0">
                <a:solidFill>
                  <a:srgbClr val="E6EDF3"/>
                </a:solidFill>
                <a:latin typeface="Courier New" pitchFamily="34" charset="0"/>
                <a:ea typeface="Courier New" pitchFamily="34" charset="-122"/>
                <a:cs typeface="Courier New" pitchFamily="34" charset="-120"/>
              </a:rPr>
              <a:t>, </a:t>
            </a:r>
            <a:r>
              <a:rPr lang="en-US" sz="1000" dirty="0">
                <a:solidFill>
                  <a:srgbClr val="FFD28A"/>
                </a:solidFill>
                <a:latin typeface="Courier New" pitchFamily="34" charset="0"/>
                <a:ea typeface="Courier New" pitchFamily="34" charset="-122"/>
                <a:cs typeface="Courier New" pitchFamily="34" charset="-120"/>
              </a:rPr>
              <a:t>3</a:t>
            </a:r>
            <a:r>
              <a:rPr lang="en-US" sz="1000" dirty="0">
                <a:solidFill>
                  <a:srgbClr val="E6EDF3"/>
                </a:solidFill>
                <a:latin typeface="Courier New" pitchFamily="34" charset="0"/>
                <a:ea typeface="Courier New" pitchFamily="34" charset="-122"/>
                <a:cs typeface="Courier New" pitchFamily="34" charset="-120"/>
              </a:rPr>
              <a:t>, [</a:t>
            </a:r>
            <a:r>
              <a:rPr lang="en-US" sz="1000" dirty="0">
                <a:solidFill>
                  <a:srgbClr val="FFD28A"/>
                </a:solidFill>
                <a:latin typeface="Courier New" pitchFamily="34" charset="0"/>
                <a:ea typeface="Courier New" pitchFamily="34" charset="-122"/>
                <a:cs typeface="Courier New" pitchFamily="34" charset="-120"/>
              </a:rPr>
              <a:t>0</a:t>
            </a:r>
            <a:r>
              <a:rPr lang="en-US" sz="1000" dirty="0">
                <a:solidFill>
                  <a:srgbClr val="E6EDF3"/>
                </a:solidFill>
                <a:latin typeface="Courier New" pitchFamily="34" charset="0"/>
                <a:ea typeface="Courier New" pitchFamily="34" charset="-122"/>
                <a:cs typeface="Courier New" pitchFamily="34" charset="-120"/>
              </a:rPr>
              <a:t>, </a:t>
            </a:r>
            <a:r>
              <a:rPr lang="en-US" sz="1000" dirty="0">
                <a:solidFill>
                  <a:srgbClr val="FFD28A"/>
                </a:solidFill>
                <a:latin typeface="Courier New" pitchFamily="34" charset="0"/>
                <a:ea typeface="Courier New" pitchFamily="34" charset="-122"/>
                <a:cs typeface="Courier New" pitchFamily="34" charset="-120"/>
              </a:rPr>
              <a:t>1</a:t>
            </a:r>
            <a:r>
              <a:rPr lang="en-US" sz="1000" dirty="0">
                <a:solidFill>
                  <a:srgbClr val="E6EDF3"/>
                </a:solidFill>
                <a:latin typeface="Courier New" pitchFamily="34" charset="0"/>
                <a:ea typeface="Courier New" pitchFamily="34" charset="-122"/>
                <a:cs typeface="Courier New" pitchFamily="34" charset="-120"/>
              </a:rPr>
              <a:t>], dummy=b</a:t>
            </a:r>
            <a:r>
              <a:rPr lang="en-US" sz="1000" dirty="0">
                <a:solidFill>
                  <a:srgbClr val="9ECBFF"/>
                </a:solidFill>
                <a:latin typeface="Courier New" pitchFamily="34" charset="0"/>
                <a:ea typeface="Courier New" pitchFamily="34" charset="-122"/>
                <a:cs typeface="Courier New" pitchFamily="34" charset="-120"/>
              </a:rPr>
              <a:t>'\x01'</a:t>
            </a:r>
            <a:r>
              <a:rPr lang="en-US" sz="1000" dirty="0">
                <a:solidFill>
                  <a:srgbClr val="E6EDF3"/>
                </a:solidFill>
                <a:latin typeface="Courier New" pitchFamily="34" charset="0"/>
                <a:ea typeface="Courier New" pitchFamily="34" charset="-122"/>
                <a:cs typeface="Courier New" pitchFamily="34" charset="-120"/>
              </a:rPr>
              <a:t>)</a:t>
            </a:r>
            <a:endParaRPr lang="en-US" sz="1000" dirty="0"/>
          </a:p>
        </p:txBody>
      </p:sp>
      <p:sp>
        <p:nvSpPr>
          <p:cNvPr id="10" name="Shape 8"/>
          <p:cNvSpPr/>
          <p:nvPr/>
        </p:nvSpPr>
        <p:spPr>
          <a:xfrm>
            <a:off x="457200" y="3084271"/>
            <a:ext cx="5074920" cy="641909"/>
          </a:xfrm>
          <a:prstGeom prst="roundRect">
            <a:avLst>
              <a:gd name="adj" fmla="val 11396"/>
            </a:avLst>
          </a:prstGeom>
          <a:solidFill>
            <a:srgbClr val="23272E"/>
          </a:solidFill>
          <a:ln w="12700">
            <a:solidFill>
              <a:srgbClr val="23272E"/>
            </a:solidFill>
            <a:prstDash val="solid"/>
          </a:ln>
        </p:spPr>
      </p:sp>
      <p:sp>
        <p:nvSpPr>
          <p:cNvPr id="11" name="Text 9"/>
          <p:cNvSpPr txBox="1"/>
          <p:nvPr/>
        </p:nvSpPr>
        <p:spPr>
          <a:xfrm>
            <a:off x="603504" y="3157423"/>
            <a:ext cx="4800600" cy="513893"/>
          </a:xfrm>
          <a:prstGeom prst="rect">
            <a:avLst/>
          </a:prstGeom>
          <a:noFill/>
          <a:ln/>
        </p:spPr>
        <p:txBody>
          <a:bodyPr wrap="square" lIns="0" tIns="0" rIns="0" bIns="0" rtlCol="0" anchor="t"/>
          <a:lstStyle/>
          <a:p>
            <a:pPr indent="0" marL="0">
              <a:buNone/>
            </a:pPr>
            <a:r>
              <a:rPr lang="en-US" sz="1000" b="1" dirty="0">
                <a:solidFill>
                  <a:srgbClr val="D97A14"/>
                </a:solidFill>
                <a:latin typeface="Courier New" pitchFamily="34" charset="0"/>
                <a:ea typeface="Courier New" pitchFamily="34" charset="-122"/>
                <a:cs typeface="Courier New" pitchFamily="34" charset="-120"/>
              </a:rPr>
              <a:t>&gt;&gt;&gt; </a:t>
            </a:r>
            <a:r>
              <a:rPr lang="en-US" sz="1000" dirty="0">
                <a:solidFill>
                  <a:srgbClr val="E6EDF3"/>
                </a:solidFill>
                <a:latin typeface="Courier New" pitchFamily="34" charset="0"/>
                <a:ea typeface="Courier New" pitchFamily="34" charset="-122"/>
                <a:cs typeface="Courier New" pitchFamily="34" charset="-120"/>
              </a:rPr>
              <a:t>res = [ok, swap, few]</a:t>
            </a:r>
            <a:endParaRPr lang="en-US" sz="1000" dirty="0"/>
          </a:p>
          <a:p>
            <a:pPr indent="0" marL="0">
              <a:buNone/>
            </a:pPr>
            <a:r>
              <a:rPr lang="en-US" sz="1000" b="1" dirty="0">
                <a:solidFill>
                  <a:srgbClr val="D97A14"/>
                </a:solidFill>
                <a:latin typeface="Courier New" pitchFamily="34" charset="0"/>
                <a:ea typeface="Courier New" pitchFamily="34" charset="-122"/>
                <a:cs typeface="Courier New" pitchFamily="34" charset="-120"/>
              </a:rPr>
              <a:t>&gt;&gt;&gt; </a:t>
            </a:r>
            <a:r>
              <a:rPr lang="en-US" sz="1000" dirty="0">
                <a:solidFill>
                  <a:srgbClr val="E6EDF3"/>
                </a:solidFill>
                <a:latin typeface="Courier New" pitchFamily="34" charset="0"/>
                <a:ea typeface="Courier New" pitchFamily="34" charset="-122"/>
                <a:cs typeface="Courier New" pitchFamily="34" charset="-120"/>
              </a:rPr>
              <a:t>res</a:t>
            </a:r>
            <a:endParaRPr lang="en-US" sz="1000" dirty="0"/>
          </a:p>
          <a:p>
            <a:pPr indent="0" marL="0">
              <a:buNone/>
            </a:pPr>
            <a:r>
              <a:rPr lang="en-US" sz="1000" dirty="0">
                <a:solidFill>
                  <a:srgbClr val="7EE787"/>
                </a:solidFill>
                <a:latin typeface="Courier New" pitchFamily="34" charset="0"/>
                <a:ea typeface="Courier New" pitchFamily="34" charset="-122"/>
                <a:cs typeface="Courier New" pitchFamily="34" charset="-120"/>
              </a:rPr>
              <a:t>['OK', 'EVAL_FALSE', 'INVALID_STACK_OPERATION']</a:t>
            </a:r>
            <a:endParaRPr lang="en-US" sz="1000" dirty="0"/>
          </a:p>
        </p:txBody>
      </p:sp>
      <p:sp>
        <p:nvSpPr>
          <p:cNvPr id="12" name="Shape 10"/>
          <p:cNvSpPr/>
          <p:nvPr/>
        </p:nvSpPr>
        <p:spPr>
          <a:xfrm>
            <a:off x="365760" y="1252728"/>
            <a:ext cx="237744" cy="237744"/>
          </a:xfrm>
          <a:prstGeom prst="ellipse">
            <a:avLst/>
          </a:prstGeom>
          <a:solidFill>
            <a:srgbClr val="D97A14"/>
          </a:solidFill>
          <a:ln w="12700">
            <a:solidFill>
              <a:srgbClr val="D97A14"/>
            </a:solidFill>
            <a:prstDash val="solid"/>
          </a:ln>
        </p:spPr>
      </p:sp>
      <p:sp>
        <p:nvSpPr>
          <p:cNvPr id="13" name="Text 11"/>
          <p:cNvSpPr txBox="1"/>
          <p:nvPr/>
        </p:nvSpPr>
        <p:spPr>
          <a:xfrm>
            <a:off x="365760" y="1252728"/>
            <a:ext cx="237744" cy="237744"/>
          </a:xfrm>
          <a:prstGeom prst="rect">
            <a:avLst/>
          </a:prstGeom>
          <a:noFill/>
          <a:ln/>
        </p:spPr>
        <p:txBody>
          <a:bodyPr wrap="square" lIns="0" tIns="0" rIns="0" bIns="0" rtlCol="0" anchor="ctr"/>
          <a:lstStyle/>
          <a:p>
            <a:pPr algn="ctr" indent="0" marL="0">
              <a:buNone/>
            </a:pPr>
            <a:r>
              <a:rPr lang="en-US" sz="1100" b="1" dirty="0">
                <a:solidFill>
                  <a:srgbClr val="FFFFFF"/>
                </a:solidFill>
                <a:latin typeface="Cambria" pitchFamily="34" charset="0"/>
                <a:ea typeface="Cambria" pitchFamily="34" charset="-122"/>
                <a:cs typeface="Cambria" pitchFamily="34" charset="-120"/>
              </a:rPr>
              <a:t>1</a:t>
            </a:r>
            <a:endParaRPr lang="en-US" sz="1100" dirty="0"/>
          </a:p>
        </p:txBody>
      </p:sp>
      <p:sp>
        <p:nvSpPr>
          <p:cNvPr id="14" name="Text 12"/>
          <p:cNvSpPr txBox="1"/>
          <p:nvPr/>
        </p:nvSpPr>
        <p:spPr>
          <a:xfrm>
            <a:off x="731520" y="1995221"/>
            <a:ext cx="4800600" cy="374904"/>
          </a:xfrm>
          <a:prstGeom prst="rect">
            <a:avLst/>
          </a:prstGeom>
          <a:noFill/>
          <a:ln/>
        </p:spPr>
        <p:txBody>
          <a:bodyPr wrap="square" lIns="0" tIns="0" rIns="0" bIns="0" rtlCol="0" anchor="t"/>
          <a:lstStyle/>
          <a:p>
            <a:pPr indent="0" marL="0">
              <a:buNone/>
            </a:pPr>
            <a:r>
              <a:rPr lang="en-US" sz="1050" dirty="0">
                <a:solidFill>
                  <a:srgbClr val="2B2622"/>
                </a:solidFill>
                <a:latin typeface="Calibri" pitchFamily="34" charset="0"/>
                <a:ea typeface="Calibri" pitchFamily="34" charset="-122"/>
                <a:cs typeface="Calibri" pitchFamily="34" charset="-120"/>
              </a:rPr>
              <a:t>Signatures must follow the order of the keys; one signature is too few.</a:t>
            </a:r>
            <a:endParaRPr lang="en-US" sz="1050" dirty="0"/>
          </a:p>
        </p:txBody>
      </p:sp>
      <p:sp>
        <p:nvSpPr>
          <p:cNvPr id="15" name="Shape 13"/>
          <p:cNvSpPr/>
          <p:nvPr/>
        </p:nvSpPr>
        <p:spPr>
          <a:xfrm>
            <a:off x="365760" y="2379269"/>
            <a:ext cx="237744" cy="237744"/>
          </a:xfrm>
          <a:prstGeom prst="ellipse">
            <a:avLst/>
          </a:prstGeom>
          <a:solidFill>
            <a:srgbClr val="D97A14"/>
          </a:solidFill>
          <a:ln w="12700">
            <a:solidFill>
              <a:srgbClr val="D97A14"/>
            </a:solidFill>
            <a:prstDash val="solid"/>
          </a:ln>
        </p:spPr>
      </p:sp>
      <p:sp>
        <p:nvSpPr>
          <p:cNvPr id="16" name="Text 14"/>
          <p:cNvSpPr txBox="1"/>
          <p:nvPr/>
        </p:nvSpPr>
        <p:spPr>
          <a:xfrm>
            <a:off x="365760" y="2379269"/>
            <a:ext cx="237744" cy="237744"/>
          </a:xfrm>
          <a:prstGeom prst="rect">
            <a:avLst/>
          </a:prstGeom>
          <a:noFill/>
          <a:ln/>
        </p:spPr>
        <p:txBody>
          <a:bodyPr wrap="square" lIns="0" tIns="0" rIns="0" bIns="0" rtlCol="0" anchor="ctr"/>
          <a:lstStyle/>
          <a:p>
            <a:pPr algn="ctr" indent="0" marL="0">
              <a:buNone/>
            </a:pPr>
            <a:r>
              <a:rPr lang="en-US" sz="1100" b="1" dirty="0">
                <a:solidFill>
                  <a:srgbClr val="FFFFFF"/>
                </a:solidFill>
                <a:latin typeface="Cambria" pitchFamily="34" charset="0"/>
                <a:ea typeface="Cambria" pitchFamily="34" charset="-122"/>
                <a:cs typeface="Cambria" pitchFamily="34" charset="-120"/>
              </a:rPr>
              <a:t>2</a:t>
            </a:r>
            <a:endParaRPr lang="en-US" sz="1100" dirty="0"/>
          </a:p>
        </p:txBody>
      </p:sp>
      <p:sp>
        <p:nvSpPr>
          <p:cNvPr id="17" name="Text 15"/>
          <p:cNvSpPr txBox="1"/>
          <p:nvPr/>
        </p:nvSpPr>
        <p:spPr>
          <a:xfrm>
            <a:off x="731520" y="2791663"/>
            <a:ext cx="4800600" cy="210312"/>
          </a:xfrm>
          <a:prstGeom prst="rect">
            <a:avLst/>
          </a:prstGeom>
          <a:noFill/>
          <a:ln/>
        </p:spPr>
        <p:txBody>
          <a:bodyPr wrap="square" lIns="0" tIns="0" rIns="0" bIns="0" rtlCol="0" anchor="t"/>
          <a:lstStyle/>
          <a:p>
            <a:pPr indent="0" marL="0">
              <a:buNone/>
            </a:pPr>
            <a:r>
              <a:rPr lang="en-US" sz="1050" dirty="0">
                <a:solidFill>
                  <a:srgbClr val="2B2622"/>
                </a:solidFill>
                <a:latin typeface="Calibri" pitchFamily="34" charset="0"/>
                <a:ea typeface="Calibri" pitchFamily="34" charset="-122"/>
                <a:cs typeface="Calibri" pitchFamily="34" charset="-120"/>
              </a:rPr>
              <a:t>CHECKMULTISIG pops one item too many; a non-empty dummy is refused.</a:t>
            </a:r>
            <a:endParaRPr lang="en-US" sz="1050" dirty="0"/>
          </a:p>
        </p:txBody>
      </p:sp>
      <p:sp>
        <p:nvSpPr>
          <p:cNvPr id="18" name="Shape 16"/>
          <p:cNvSpPr/>
          <p:nvPr/>
        </p:nvSpPr>
        <p:spPr>
          <a:xfrm>
            <a:off x="365760" y="3011119"/>
            <a:ext cx="237744" cy="237744"/>
          </a:xfrm>
          <a:prstGeom prst="ellipse">
            <a:avLst/>
          </a:prstGeom>
          <a:solidFill>
            <a:srgbClr val="D97A14"/>
          </a:solidFill>
          <a:ln w="12700">
            <a:solidFill>
              <a:srgbClr val="D97A14"/>
            </a:solidFill>
            <a:prstDash val="solid"/>
          </a:ln>
        </p:spPr>
      </p:sp>
      <p:sp>
        <p:nvSpPr>
          <p:cNvPr id="19" name="Text 17"/>
          <p:cNvSpPr txBox="1"/>
          <p:nvPr/>
        </p:nvSpPr>
        <p:spPr>
          <a:xfrm>
            <a:off x="365760" y="3011119"/>
            <a:ext cx="237744" cy="237744"/>
          </a:xfrm>
          <a:prstGeom prst="rect">
            <a:avLst/>
          </a:prstGeom>
          <a:noFill/>
          <a:ln/>
        </p:spPr>
        <p:txBody>
          <a:bodyPr wrap="square" lIns="0" tIns="0" rIns="0" bIns="0" rtlCol="0" anchor="ctr"/>
          <a:lstStyle/>
          <a:p>
            <a:pPr algn="ctr" indent="0" marL="0">
              <a:buNone/>
            </a:pPr>
            <a:r>
              <a:rPr lang="en-US" sz="1100" b="1" dirty="0">
                <a:solidFill>
                  <a:srgbClr val="FFFFFF"/>
                </a:solidFill>
                <a:latin typeface="Cambria" pitchFamily="34" charset="0"/>
                <a:ea typeface="Cambria" pitchFamily="34" charset="-122"/>
                <a:cs typeface="Cambria" pitchFamily="34" charset="-120"/>
              </a:rPr>
              <a:t>3</a:t>
            </a:r>
            <a:endParaRPr lang="en-US" sz="1100" dirty="0"/>
          </a:p>
        </p:txBody>
      </p:sp>
      <p:sp>
        <p:nvSpPr>
          <p:cNvPr id="20" name="Text 18"/>
          <p:cNvSpPr txBox="1"/>
          <p:nvPr/>
        </p:nvSpPr>
        <p:spPr>
          <a:xfrm>
            <a:off x="731520" y="3753612"/>
            <a:ext cx="4800600" cy="210312"/>
          </a:xfrm>
          <a:prstGeom prst="rect">
            <a:avLst/>
          </a:prstGeom>
          <a:noFill/>
          <a:ln/>
        </p:spPr>
        <p:txBody>
          <a:bodyPr wrap="square" lIns="0" tIns="0" rIns="0" bIns="0" rtlCol="0" anchor="t"/>
          <a:lstStyle/>
          <a:p>
            <a:pPr indent="0" marL="0">
              <a:buNone/>
            </a:pPr>
            <a:r>
              <a:rPr lang="en-US" sz="1050" dirty="0">
                <a:solidFill>
                  <a:srgbClr val="2B2622"/>
                </a:solidFill>
                <a:latin typeface="Calibri" pitchFamily="34" charset="0"/>
                <a:ea typeface="Calibri" pitchFamily="34" charset="-122"/>
                <a:cs typeface="Calibri" pitchFamily="34" charset="-120"/>
              </a:rPr>
              <a:t>The script itself is 105 bytes, mostly three public keys.</a:t>
            </a:r>
            <a:endParaRPr lang="en-US" sz="1050" dirty="0"/>
          </a:p>
        </p:txBody>
      </p:sp>
      <p:sp>
        <p:nvSpPr>
          <p:cNvPr id="21" name="Text 19"/>
          <p:cNvSpPr txBox="1"/>
          <p:nvPr/>
        </p:nvSpPr>
        <p:spPr>
          <a:xfrm>
            <a:off x="457200" y="4009644"/>
            <a:ext cx="5074920" cy="182880"/>
          </a:xfrm>
          <a:prstGeom prst="rect">
            <a:avLst/>
          </a:prstGeom>
          <a:noFill/>
          <a:ln/>
        </p:spPr>
        <p:txBody>
          <a:bodyPr wrap="square" lIns="0" tIns="0" rIns="0" bIns="0" rtlCol="0" anchor="ctr"/>
          <a:lstStyle/>
          <a:p>
            <a:pPr algn="l" indent="0" marL="0">
              <a:buNone/>
            </a:pPr>
            <a:r>
              <a:rPr lang="en-US" sz="900" i="1" dirty="0">
                <a:solidFill>
                  <a:srgbClr val="6E655C"/>
                </a:solidFill>
                <a:latin typeface="Calibri" pitchFamily="34" charset="0"/>
                <a:ea typeface="Calibri" pitchFamily="34" charset="-122"/>
                <a:cs typeface="Calibri" pitchFamily="34" charset="-120"/>
              </a:rPr>
              <a:t>run under Python 3.14.6 - L, K and the chapter setup as on slide 7</a:t>
            </a:r>
            <a:endParaRPr lang="en-US" sz="900" dirty="0"/>
          </a:p>
        </p:txBody>
      </p:sp>
      <p:sp>
        <p:nvSpPr>
          <p:cNvPr id="22" name="Text 20"/>
          <p:cNvSpPr txBox="1"/>
          <p:nvPr/>
        </p:nvSpPr>
        <p:spPr>
          <a:xfrm>
            <a:off x="5715000" y="1325880"/>
            <a:ext cx="2971800" cy="402336"/>
          </a:xfrm>
          <a:prstGeom prst="rect">
            <a:avLst/>
          </a:prstGeom>
          <a:noFill/>
          <a:ln/>
        </p:spPr>
        <p:txBody>
          <a:bodyPr wrap="square" lIns="0" tIns="0" rIns="0" bIns="0" rtlCol="0" anchor="t"/>
          <a:lstStyle/>
          <a:p>
            <a:pPr algn="l" indent="0" marL="0">
              <a:buNone/>
            </a:pPr>
            <a:r>
              <a:rPr lang="en-US" sz="1100" b="1" dirty="0">
                <a:solidFill>
                  <a:srgbClr val="6E655C"/>
                </a:solidFill>
                <a:latin typeface="Calibri" pitchFamily="34" charset="0"/>
                <a:ea typeface="Calibri" pitchFamily="34" charset="-122"/>
                <a:cs typeface="Calibri" pitchFamily="34" charset="-120"/>
              </a:rPr>
              <a:t>Result: five trials of a 2-of-3 lock</a:t>
            </a:r>
            <a:endParaRPr lang="en-US" sz="11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715000" y="1773936"/>
          <a:ext cx="2971800" cy="914400"/>
        </p:xfrm>
        <a:graphic>
          <a:graphicData uri="http://schemas.openxmlformats.org/drawingml/2006/table">
            <a:tbl>
              <a:tblPr/>
              <a:tblGrid>
                <a:gridCol w="1280160"/>
                <a:gridCol w="1691640"/>
              </a:tblGrid>
              <a:tr h="274320">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Spend</a:t>
                      </a:r>
                      <a:endParaRPr lang="en-US" sz="90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solidFill>
                      <a:srgbClr val="2B2622"/>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Result</a:t>
                      </a:r>
                      <a:endParaRPr lang="en-US" sz="90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solidFill>
                      <a:srgbClr val="2B2622"/>
                    </a:solidFill>
                  </a:tcPr>
                </a:tc>
              </a:tr>
              <a:tr h="274320">
                <a:tc>
                  <a:txBody>
                    <a:bodyPr/>
                    <a:lstStyle/>
                    <a:p>
                      <a:pPr indent="0" marL="0">
                        <a:buNone/>
                      </a:pPr>
                      <a:r>
                        <a:rPr lang="en-US" sz="900" dirty="0">
                          <a:solidFill>
                            <a:srgbClr val="2B2622"/>
                          </a:solidFill>
                          <a:latin typeface="Calibri" pitchFamily="34" charset="0"/>
                          <a:ea typeface="Calibri" pitchFamily="34" charset="-122"/>
                          <a:cs typeface="Calibri" pitchFamily="34" charset="-120"/>
                        </a:rPr>
                        <a:t>Keys 0 and 2, in order</a:t>
                      </a:r>
                      <a:endParaRPr lang="en-US" sz="90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c>
                  <a:txBody>
                    <a:bodyPr/>
                    <a:lstStyle/>
                    <a:p>
                      <a:pPr indent="0" marL="0">
                        <a:buNone/>
                      </a:pPr>
                      <a:r>
                        <a:rPr lang="en-US" sz="900" dirty="0">
                          <a:solidFill>
                            <a:srgbClr val="2B2622"/>
                          </a:solidFill>
                          <a:latin typeface="Calibri" pitchFamily="34" charset="0"/>
                          <a:ea typeface="Calibri" pitchFamily="34" charset="-122"/>
                          <a:cs typeface="Calibri" pitchFamily="34" charset="-120"/>
                        </a:rPr>
                        <a:t>OK</a:t>
                      </a:r>
                      <a:endParaRPr lang="en-US" sz="90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r>
              <a:tr h="274320">
                <a:tc>
                  <a:txBody>
                    <a:bodyPr/>
                    <a:lstStyle/>
                    <a:p>
                      <a:pPr indent="0" marL="0">
                        <a:buNone/>
                      </a:pPr>
                      <a:r>
                        <a:rPr lang="en-US" sz="900" dirty="0">
                          <a:solidFill>
                            <a:srgbClr val="2B2622"/>
                          </a:solidFill>
                          <a:latin typeface="Calibri" pitchFamily="34" charset="0"/>
                          <a:ea typeface="Calibri" pitchFamily="34" charset="-122"/>
                          <a:cs typeface="Calibri" pitchFamily="34" charset="-120"/>
                        </a:rPr>
                        <a:t>Keys 2 and 0</a:t>
                      </a:r>
                      <a:endParaRPr lang="en-US" sz="90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c>
                  <a:txBody>
                    <a:bodyPr/>
                    <a:lstStyle/>
                    <a:p>
                      <a:pPr indent="0" marL="0">
                        <a:buNone/>
                      </a:pPr>
                      <a:r>
                        <a:rPr lang="en-US" sz="900" dirty="0">
                          <a:solidFill>
                            <a:srgbClr val="2B2622"/>
                          </a:solidFill>
                          <a:latin typeface="Calibri" pitchFamily="34" charset="0"/>
                          <a:ea typeface="Calibri" pitchFamily="34" charset="-122"/>
                          <a:cs typeface="Calibri" pitchFamily="34" charset="-120"/>
                        </a:rPr>
                        <a:t>EVAL_FALSE</a:t>
                      </a:r>
                      <a:endParaRPr lang="en-US" sz="90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r>
              <a:tr h="274320">
                <a:tc>
                  <a:txBody>
                    <a:bodyPr/>
                    <a:lstStyle/>
                    <a:p>
                      <a:pPr indent="0" marL="0">
                        <a:buNone/>
                      </a:pPr>
                      <a:r>
                        <a:rPr lang="en-US" sz="900" dirty="0">
                          <a:solidFill>
                            <a:srgbClr val="2B2622"/>
                          </a:solidFill>
                          <a:latin typeface="Calibri" pitchFamily="34" charset="0"/>
                          <a:ea typeface="Calibri" pitchFamily="34" charset="-122"/>
                          <a:cs typeface="Calibri" pitchFamily="34" charset="-120"/>
                        </a:rPr>
                        <a:t>Only key 1</a:t>
                      </a:r>
                      <a:endParaRPr lang="en-US" sz="90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c>
                  <a:txBody>
                    <a:bodyPr/>
                    <a:lstStyle/>
                    <a:p>
                      <a:pPr indent="0" marL="0">
                        <a:buNone/>
                      </a:pPr>
                      <a:r>
                        <a:rPr lang="en-US" sz="900" dirty="0">
                          <a:solidFill>
                            <a:srgbClr val="2B2622"/>
                          </a:solidFill>
                          <a:latin typeface="Calibri" pitchFamily="34" charset="0"/>
                          <a:ea typeface="Calibri" pitchFamily="34" charset="-122"/>
                          <a:cs typeface="Calibri" pitchFamily="34" charset="-120"/>
                        </a:rPr>
                        <a:t>INVALID_STACK_OPERATION</a:t>
                      </a:r>
                      <a:endParaRPr lang="en-US" sz="90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r>
              <a:tr h="274320">
                <a:tc>
                  <a:txBody>
                    <a:bodyPr/>
                    <a:lstStyle/>
                    <a:p>
                      <a:pPr indent="0" marL="0">
                        <a:buNone/>
                      </a:pPr>
                      <a:r>
                        <a:rPr lang="en-US" sz="900" dirty="0">
                          <a:solidFill>
                            <a:srgbClr val="2B2622"/>
                          </a:solidFill>
                          <a:latin typeface="Calibri" pitchFamily="34" charset="0"/>
                          <a:ea typeface="Calibri" pitchFamily="34" charset="-122"/>
                          <a:cs typeface="Calibri" pitchFamily="34" charset="-120"/>
                        </a:rPr>
                        <a:t>Dummy not empty</a:t>
                      </a:r>
                      <a:endParaRPr lang="en-US" sz="90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c>
                  <a:txBody>
                    <a:bodyPr/>
                    <a:lstStyle/>
                    <a:p>
                      <a:pPr indent="0" marL="0">
                        <a:buNone/>
                      </a:pPr>
                      <a:r>
                        <a:rPr lang="en-US" sz="900" dirty="0">
                          <a:solidFill>
                            <a:srgbClr val="2B2622"/>
                          </a:solidFill>
                          <a:latin typeface="Calibri" pitchFamily="34" charset="0"/>
                          <a:ea typeface="Calibri" pitchFamily="34" charset="-122"/>
                          <a:cs typeface="Calibri" pitchFamily="34" charset="-120"/>
                        </a:rPr>
                        <a:t>SIG_NULLDUMMY</a:t>
                      </a:r>
                      <a:endParaRPr lang="en-US" sz="90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r>
            </a:tbl>
          </a:graphicData>
        </a:graphic>
      </p:graphicFrame>
      <p:sp>
        <p:nvSpPr>
          <p:cNvPr id="24" name="Text 21"/>
          <p:cNvSpPr txBox="1"/>
          <p:nvPr/>
        </p:nvSpPr>
        <p:spPr>
          <a:xfrm>
            <a:off x="5715000" y="3419856"/>
            <a:ext cx="2971800" cy="603504"/>
          </a:xfrm>
          <a:prstGeom prst="rect">
            <a:avLst/>
          </a:prstGeom>
          <a:noFill/>
          <a:ln/>
        </p:spPr>
        <p:txBody>
          <a:bodyPr wrap="square" lIns="0" tIns="0" rIns="0" bIns="0" rtlCol="0" anchor="t"/>
          <a:lstStyle/>
          <a:p>
            <a:pPr algn="l" indent="0" marL="0">
              <a:buNone/>
            </a:pPr>
            <a:r>
              <a:rPr lang="en-US" sz="1150" i="1" dirty="0">
                <a:solidFill>
                  <a:srgbClr val="2B2622"/>
                </a:solidFill>
                <a:latin typeface="Calibri" pitchFamily="34" charset="0"/>
                <a:ea typeface="Calibri" pitchFamily="34" charset="-122"/>
                <a:cs typeface="Calibri" pitchFamily="34" charset="-120"/>
              </a:rPr>
              <a:t>The script is 105 bytes long. Only signatures in the order of the keys, behind an empty dummy, pass.</a:t>
            </a:r>
            <a:endParaRPr lang="en-US" sz="1150" dirty="0"/>
          </a:p>
        </p:txBody>
      </p:sp>
      <p:sp>
        <p:nvSpPr>
          <p:cNvPr id="25" name="Shape 22"/>
          <p:cNvSpPr/>
          <p:nvPr/>
        </p:nvSpPr>
        <p:spPr>
          <a:xfrm>
            <a:off x="457200" y="4636008"/>
            <a:ext cx="91440" cy="310896"/>
          </a:xfrm>
          <a:prstGeom prst="rect">
            <a:avLst/>
          </a:prstGeom>
          <a:solidFill>
            <a:srgbClr val="D97A14"/>
          </a:solidFill>
          <a:ln w="12700">
            <a:solidFill>
              <a:srgbClr val="D97A14"/>
            </a:solidFill>
            <a:prstDash val="solid"/>
          </a:ln>
        </p:spPr>
      </p:sp>
      <p:sp>
        <p:nvSpPr>
          <p:cNvPr id="26" name="Text 23"/>
          <p:cNvSpPr txBox="1"/>
          <p:nvPr/>
        </p:nvSpPr>
        <p:spPr>
          <a:xfrm>
            <a:off x="658368" y="4599432"/>
            <a:ext cx="6949440" cy="384048"/>
          </a:xfrm>
          <a:prstGeom prst="rect">
            <a:avLst/>
          </a:prstGeom>
          <a:noFill/>
          <a:ln/>
        </p:spPr>
        <p:txBody>
          <a:bodyPr wrap="square" lIns="0" tIns="0" rIns="0" bIns="0" rtlCol="0" anchor="ctr"/>
          <a:lstStyle/>
          <a:p>
            <a:pPr indent="0" marL="0">
              <a:buNone/>
            </a:pPr>
            <a:r>
              <a:rPr lang="en-US" sz="1350" b="1" i="1" dirty="0">
                <a:solidFill>
                  <a:srgbClr val="2B2622"/>
                </a:solidFill>
                <a:latin typeface="Cambria" pitchFamily="34" charset="0"/>
                <a:ea typeface="Cambria" pitchFamily="34" charset="-122"/>
                <a:cs typeface="Cambria" pitchFamily="34" charset="-120"/>
              </a:rPr>
              <a:t>The signatures must follow the order of the keys, after one empty dummy</a:t>
            </a:r>
            <a:endParaRPr lang="en-US" sz="1350" dirty="0"/>
          </a:p>
        </p:txBody>
      </p:sp>
      <p:sp>
        <p:nvSpPr>
          <p:cNvPr id="27" name="Text 24"/>
          <p:cNvSpPr txBox="1"/>
          <p:nvPr/>
        </p:nvSpPr>
        <p:spPr>
          <a:xfrm>
            <a:off x="7863840" y="4645152"/>
            <a:ext cx="868680" cy="310896"/>
          </a:xfrm>
          <a:prstGeom prst="rect">
            <a:avLst/>
          </a:prstGeom>
          <a:noFill/>
          <a:ln/>
        </p:spPr>
        <p:txBody>
          <a:bodyPr wrap="square" lIns="0" tIns="0" rIns="0" bIns="0" rtlCol="0" anchor="ctr"/>
          <a:lstStyle/>
          <a:p>
            <a:pPr algn="r" indent="0" marL="0">
              <a:buNone/>
            </a:pPr>
            <a:r>
              <a:rPr lang="en-US" sz="1100" dirty="0">
                <a:solidFill>
                  <a:srgbClr val="6E655C"/>
                </a:solidFill>
                <a:latin typeface="Calibri" pitchFamily="34" charset="0"/>
                <a:ea typeface="Calibri" pitchFamily="34" charset="-122"/>
                <a:cs typeface="Calibri" pitchFamily="34" charset="-120"/>
              </a:rPr>
              <a:t>21 / 61</a:t>
            </a:r>
            <a:endParaRPr lang="en-US" sz="1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AF6EF"/>
        </a:solidFill>
      </p:bgPr>
    </p:bg>
    <p:spTree>
      <p:nvGrpSpPr>
        <p:cNvPr id="1" name=""/>
        <p:cNvGrpSpPr/>
        <p:nvPr/>
      </p:nvGrpSpPr>
      <p:grpSpPr>
        <a:xfrm>
          <a:off x="0" y="0"/>
          <a:ext cx="0" cy="0"/>
          <a:chOff x="0" y="0"/>
          <a:chExt cx="0" cy="0"/>
        </a:xfrm>
      </p:grpSpPr>
      <p:sp>
        <p:nvSpPr>
          <p:cNvPr id="2" name="Shape 0"/>
          <p:cNvSpPr/>
          <p:nvPr/>
        </p:nvSpPr>
        <p:spPr>
          <a:xfrm>
            <a:off x="457200" y="347472"/>
            <a:ext cx="566928" cy="384048"/>
          </a:xfrm>
          <a:prstGeom prst="roundRect">
            <a:avLst>
              <a:gd name="adj" fmla="val 19048"/>
            </a:avLst>
          </a:prstGeom>
          <a:solidFill>
            <a:srgbClr val="D97A14"/>
          </a:solidFill>
          <a:ln w="12700">
            <a:solidFill>
              <a:srgbClr val="D97A14"/>
            </a:solidFill>
            <a:prstDash val="solid"/>
          </a:ln>
        </p:spPr>
      </p:sp>
      <p:sp>
        <p:nvSpPr>
          <p:cNvPr id="3" name="Text 1"/>
          <p:cNvSpPr txBox="1"/>
          <p:nvPr/>
        </p:nvSpPr>
        <p:spPr>
          <a:xfrm>
            <a:off x="457200" y="347472"/>
            <a:ext cx="56692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4" name="Text 2"/>
          <p:cNvSpPr txBox="1"/>
          <p:nvPr/>
        </p:nvSpPr>
        <p:spPr>
          <a:xfrm>
            <a:off x="1143000" y="237744"/>
            <a:ext cx="7543800" cy="566928"/>
          </a:xfrm>
          <a:prstGeom prst="rect">
            <a:avLst/>
          </a:prstGeom>
          <a:noFill/>
          <a:ln/>
        </p:spPr>
        <p:txBody>
          <a:bodyPr wrap="square" lIns="0" tIns="0" rIns="0" bIns="0" rtlCol="0" anchor="ctr"/>
          <a:lstStyle/>
          <a:p>
            <a:pPr indent="0" marL="0">
              <a:buNone/>
            </a:pPr>
            <a:r>
              <a:rPr lang="en-US" sz="2500" b="1" dirty="0">
                <a:solidFill>
                  <a:srgbClr val="2B2622"/>
                </a:solidFill>
                <a:latin typeface="Cambria" pitchFamily="34" charset="0"/>
                <a:ea typeface="Cambria" pitchFamily="34" charset="-122"/>
                <a:cs typeface="Cambria" pitchFamily="34" charset="-120"/>
              </a:rPr>
              <a:t>Scripted multisignatures (2 of 2)</a:t>
            </a:r>
            <a:endParaRPr lang="en-US" sz="2500" dirty="0"/>
          </a:p>
        </p:txBody>
      </p:sp>
      <p:sp>
        <p:nvSpPr>
          <p:cNvPr id="5" name="Text 3"/>
          <p:cNvSpPr txBox="1"/>
          <p:nvPr/>
        </p:nvSpPr>
        <p:spPr>
          <a:xfrm>
            <a:off x="1143000" y="786384"/>
            <a:ext cx="7543800" cy="310896"/>
          </a:xfrm>
          <a:prstGeom prst="rect">
            <a:avLst/>
          </a:prstGeom>
          <a:noFill/>
          <a:ln/>
        </p:spPr>
        <p:txBody>
          <a:bodyPr wrap="square" lIns="0" tIns="0" rIns="0" bIns="0" rtlCol="0" anchor="ctr"/>
          <a:lstStyle/>
          <a:p>
            <a:pPr indent="0" marL="0">
              <a:buNone/>
            </a:pPr>
            <a:r>
              <a:rPr lang="en-US" sz="1300" i="1" dirty="0">
                <a:solidFill>
                  <a:srgbClr val="6E655C"/>
                </a:solidFill>
                <a:latin typeface="Calibri" pitchFamily="34" charset="0"/>
                <a:ea typeface="Calibri" pitchFamily="34" charset="-122"/>
                <a:cs typeface="Calibri" pitchFamily="34" charset="-120"/>
              </a:rPr>
              <a:t>Each card: the meaning in a few words, then something you already know</a:t>
            </a:r>
            <a:endParaRPr lang="en-US" sz="1300" dirty="0"/>
          </a:p>
        </p:txBody>
      </p:sp>
      <p:sp>
        <p:nvSpPr>
          <p:cNvPr id="6" name="Shape 4"/>
          <p:cNvSpPr/>
          <p:nvPr/>
        </p:nvSpPr>
        <p:spPr>
          <a:xfrm>
            <a:off x="457200" y="1280160"/>
            <a:ext cx="4041648" cy="1097280"/>
          </a:xfrm>
          <a:prstGeom prst="roundRect">
            <a:avLst>
              <a:gd name="adj" fmla="val 6667"/>
            </a:avLst>
          </a:prstGeom>
          <a:solidFill>
            <a:srgbClr val="F2ECE1"/>
          </a:solidFill>
          <a:ln w="12700">
            <a:solidFill>
              <a:srgbClr val="DFD6C7"/>
            </a:solidFill>
            <a:prstDash val="solid"/>
          </a:ln>
        </p:spPr>
      </p:sp>
      <p:sp>
        <p:nvSpPr>
          <p:cNvPr id="7" name="Shape 5"/>
          <p:cNvSpPr/>
          <p:nvPr/>
        </p:nvSpPr>
        <p:spPr>
          <a:xfrm>
            <a:off x="475488" y="1408176"/>
            <a:ext cx="64008" cy="841248"/>
          </a:xfrm>
          <a:prstGeom prst="rect">
            <a:avLst/>
          </a:prstGeom>
          <a:solidFill>
            <a:srgbClr val="D97A14"/>
          </a:solidFill>
          <a:ln w="12700">
            <a:solidFill>
              <a:srgbClr val="D97A14"/>
            </a:solidFill>
            <a:prstDash val="solid"/>
          </a:ln>
        </p:spPr>
      </p:sp>
      <p:sp>
        <p:nvSpPr>
          <p:cNvPr id="8" name="Text 6"/>
          <p:cNvSpPr txBox="1"/>
          <p:nvPr/>
        </p:nvSpPr>
        <p:spPr>
          <a:xfrm>
            <a:off x="640080" y="1344168"/>
            <a:ext cx="3767328" cy="434340"/>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OP_CHECKMULTISIG</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Checks t signatures against k keys, in order.</a:t>
            </a:r>
            <a:endParaRPr lang="en-US" sz="1300" dirty="0"/>
          </a:p>
        </p:txBody>
      </p:sp>
      <p:sp>
        <p:nvSpPr>
          <p:cNvPr id="9" name="Text 7"/>
          <p:cNvSpPr txBox="1"/>
          <p:nvPr/>
        </p:nvSpPr>
        <p:spPr>
          <a:xfrm>
            <a:off x="640080" y="1805940"/>
            <a:ext cx="3767328" cy="393192"/>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a panel that checks signatures in the order of the names.</a:t>
            </a:r>
            <a:endParaRPr lang="en-US" sz="1150" dirty="0"/>
          </a:p>
        </p:txBody>
      </p:sp>
      <p:sp>
        <p:nvSpPr>
          <p:cNvPr id="10" name="Shape 8"/>
          <p:cNvSpPr/>
          <p:nvPr/>
        </p:nvSpPr>
        <p:spPr>
          <a:xfrm>
            <a:off x="4645152" y="1280160"/>
            <a:ext cx="4041648" cy="1097280"/>
          </a:xfrm>
          <a:prstGeom prst="roundRect">
            <a:avLst>
              <a:gd name="adj" fmla="val 6667"/>
            </a:avLst>
          </a:prstGeom>
          <a:solidFill>
            <a:srgbClr val="F2ECE1"/>
          </a:solidFill>
          <a:ln w="12700">
            <a:solidFill>
              <a:srgbClr val="DFD6C7"/>
            </a:solidFill>
            <a:prstDash val="solid"/>
          </a:ln>
        </p:spPr>
      </p:sp>
      <p:sp>
        <p:nvSpPr>
          <p:cNvPr id="11" name="Shape 9"/>
          <p:cNvSpPr/>
          <p:nvPr/>
        </p:nvSpPr>
        <p:spPr>
          <a:xfrm>
            <a:off x="4663440" y="1408176"/>
            <a:ext cx="64008" cy="841248"/>
          </a:xfrm>
          <a:prstGeom prst="rect">
            <a:avLst/>
          </a:prstGeom>
          <a:solidFill>
            <a:srgbClr val="D97A14"/>
          </a:solidFill>
          <a:ln w="12700">
            <a:solidFill>
              <a:srgbClr val="D97A14"/>
            </a:solidFill>
            <a:prstDash val="solid"/>
          </a:ln>
        </p:spPr>
      </p:sp>
      <p:sp>
        <p:nvSpPr>
          <p:cNvPr id="12" name="Text 10"/>
          <p:cNvSpPr txBox="1"/>
          <p:nvPr/>
        </p:nvSpPr>
        <p:spPr>
          <a:xfrm>
            <a:off x="4828032" y="1344168"/>
            <a:ext cx="3767328" cy="434340"/>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dummy element</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The unused item that the extra pop consumes.</a:t>
            </a:r>
            <a:endParaRPr lang="en-US" sz="1300" dirty="0"/>
          </a:p>
        </p:txBody>
      </p:sp>
      <p:sp>
        <p:nvSpPr>
          <p:cNvPr id="13" name="Text 11"/>
          <p:cNvSpPr txBox="1"/>
          <p:nvPr/>
        </p:nvSpPr>
        <p:spPr>
          <a:xfrm>
            <a:off x="4828032" y="1805940"/>
            <a:ext cx="3767328" cy="393192"/>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a blank page that the form insists on.</a:t>
            </a:r>
            <a:endParaRPr lang="en-US" sz="1150" dirty="0"/>
          </a:p>
        </p:txBody>
      </p:sp>
      <p:sp>
        <p:nvSpPr>
          <p:cNvPr id="14" name="Shape 12"/>
          <p:cNvSpPr/>
          <p:nvPr/>
        </p:nvSpPr>
        <p:spPr>
          <a:xfrm>
            <a:off x="457200" y="4636008"/>
            <a:ext cx="91440" cy="310896"/>
          </a:xfrm>
          <a:prstGeom prst="rect">
            <a:avLst/>
          </a:prstGeom>
          <a:solidFill>
            <a:srgbClr val="D97A14"/>
          </a:solidFill>
          <a:ln w="12700">
            <a:solidFill>
              <a:srgbClr val="D97A14"/>
            </a:solidFill>
            <a:prstDash val="solid"/>
          </a:ln>
        </p:spPr>
      </p:sp>
      <p:sp>
        <p:nvSpPr>
          <p:cNvPr id="15" name="Text 13"/>
          <p:cNvSpPr txBox="1"/>
          <p:nvPr/>
        </p:nvSpPr>
        <p:spPr>
          <a:xfrm>
            <a:off x="658368" y="4599432"/>
            <a:ext cx="6949440" cy="384048"/>
          </a:xfrm>
          <a:prstGeom prst="rect">
            <a:avLst/>
          </a:prstGeom>
          <a:noFill/>
          <a:ln/>
        </p:spPr>
        <p:txBody>
          <a:bodyPr wrap="square" lIns="0" tIns="0" rIns="0" bIns="0" rtlCol="0" anchor="ctr"/>
          <a:lstStyle/>
          <a:p>
            <a:pPr indent="0" marL="0">
              <a:buNone/>
            </a:pPr>
            <a:r>
              <a:rPr lang="en-US" sz="1350" b="1" i="1" dirty="0">
                <a:solidFill>
                  <a:srgbClr val="2B2622"/>
                </a:solidFill>
                <a:latin typeface="Cambria" pitchFamily="34" charset="0"/>
                <a:ea typeface="Cambria" pitchFamily="34" charset="-122"/>
                <a:cs typeface="Cambria" pitchFamily="34" charset="-120"/>
              </a:rPr>
              <a:t>Say each idea twice: once as the meaning, once as the everyday comparison</a:t>
            </a:r>
            <a:endParaRPr lang="en-US" sz="1350" dirty="0"/>
          </a:p>
        </p:txBody>
      </p:sp>
      <p:sp>
        <p:nvSpPr>
          <p:cNvPr id="16" name="Text 14"/>
          <p:cNvSpPr txBox="1"/>
          <p:nvPr/>
        </p:nvSpPr>
        <p:spPr>
          <a:xfrm>
            <a:off x="7863840" y="4645152"/>
            <a:ext cx="868680" cy="310896"/>
          </a:xfrm>
          <a:prstGeom prst="rect">
            <a:avLst/>
          </a:prstGeom>
          <a:noFill/>
          <a:ln/>
        </p:spPr>
        <p:txBody>
          <a:bodyPr wrap="square" lIns="0" tIns="0" rIns="0" bIns="0" rtlCol="0" anchor="ctr"/>
          <a:lstStyle/>
          <a:p>
            <a:pPr algn="r" indent="0" marL="0">
              <a:buNone/>
            </a:pPr>
            <a:r>
              <a:rPr lang="en-US" sz="1100" dirty="0">
                <a:solidFill>
                  <a:srgbClr val="6E655C"/>
                </a:solidFill>
                <a:latin typeface="Calibri" pitchFamily="34" charset="0"/>
                <a:ea typeface="Calibri" pitchFamily="34" charset="-122"/>
                <a:cs typeface="Calibri" pitchFamily="34" charset="-120"/>
              </a:rPr>
              <a:t>22 / 61</a:t>
            </a:r>
            <a:endParaRPr lang="en-US" sz="11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AF6EF"/>
        </a:solidFill>
      </p:bgPr>
    </p:bg>
    <p:spTree>
      <p:nvGrpSpPr>
        <p:cNvPr id="1" name=""/>
        <p:cNvGrpSpPr/>
        <p:nvPr/>
      </p:nvGrpSpPr>
      <p:grpSpPr>
        <a:xfrm>
          <a:off x="0" y="0"/>
          <a:ext cx="0" cy="0"/>
          <a:chOff x="0" y="0"/>
          <a:chExt cx="0" cy="0"/>
        </a:xfrm>
      </p:grpSpPr>
      <p:sp>
        <p:nvSpPr>
          <p:cNvPr id="2" name="Shape 0"/>
          <p:cNvSpPr/>
          <p:nvPr/>
        </p:nvSpPr>
        <p:spPr>
          <a:xfrm>
            <a:off x="0" y="0"/>
            <a:ext cx="9144000" cy="219456"/>
          </a:xfrm>
          <a:prstGeom prst="rect">
            <a:avLst/>
          </a:prstGeom>
          <a:solidFill>
            <a:srgbClr val="D97A14"/>
          </a:solidFill>
          <a:ln w="12700">
            <a:solidFill>
              <a:srgbClr val="D97A14"/>
            </a:solidFill>
            <a:prstDash val="solid"/>
          </a:ln>
        </p:spPr>
      </p:sp>
      <p:sp>
        <p:nvSpPr>
          <p:cNvPr id="3" name="Shape 1"/>
          <p:cNvSpPr/>
          <p:nvPr/>
        </p:nvSpPr>
        <p:spPr>
          <a:xfrm>
            <a:off x="457200" y="960120"/>
            <a:ext cx="128016" cy="1417320"/>
          </a:xfrm>
          <a:prstGeom prst="rect">
            <a:avLst/>
          </a:prstGeom>
          <a:solidFill>
            <a:srgbClr val="D97A14"/>
          </a:solidFill>
          <a:ln w="12700">
            <a:solidFill>
              <a:srgbClr val="D97A14"/>
            </a:solidFill>
            <a:prstDash val="solid"/>
          </a:ln>
        </p:spPr>
      </p:sp>
      <p:sp>
        <p:nvSpPr>
          <p:cNvPr id="4" name="Text 2"/>
          <p:cNvSpPr txBox="1"/>
          <p:nvPr/>
        </p:nvSpPr>
        <p:spPr>
          <a:xfrm>
            <a:off x="777240" y="932688"/>
            <a:ext cx="7863840" cy="658368"/>
          </a:xfrm>
          <a:prstGeom prst="rect">
            <a:avLst/>
          </a:prstGeom>
          <a:noFill/>
          <a:ln/>
        </p:spPr>
        <p:txBody>
          <a:bodyPr wrap="square" lIns="0" tIns="0" rIns="0" bIns="0" rtlCol="0" anchor="ctr"/>
          <a:lstStyle/>
          <a:p>
            <a:pPr indent="0" marL="0">
              <a:buNone/>
            </a:pPr>
            <a:r>
              <a:rPr lang="en-US" sz="3200" b="1" dirty="0">
                <a:solidFill>
                  <a:srgbClr val="2B2622"/>
                </a:solidFill>
                <a:latin typeface="Cambria" pitchFamily="34" charset="0"/>
                <a:ea typeface="Cambria" pitchFamily="34" charset="-122"/>
                <a:cs typeface="Cambria" pitchFamily="34" charset="-120"/>
              </a:rPr>
              <a:t>Pay to script hash</a:t>
            </a:r>
            <a:endParaRPr lang="en-US" sz="3200" dirty="0"/>
          </a:p>
        </p:txBody>
      </p:sp>
      <p:sp>
        <p:nvSpPr>
          <p:cNvPr id="5" name="Text 3"/>
          <p:cNvSpPr txBox="1"/>
          <p:nvPr/>
        </p:nvSpPr>
        <p:spPr>
          <a:xfrm>
            <a:off x="777240" y="1645920"/>
            <a:ext cx="7863840" cy="384048"/>
          </a:xfrm>
          <a:prstGeom prst="rect">
            <a:avLst/>
          </a:prstGeom>
          <a:noFill/>
          <a:ln/>
        </p:spPr>
        <p:txBody>
          <a:bodyPr wrap="square" lIns="0" tIns="0" rIns="0" bIns="0" rtlCol="0" anchor="t"/>
          <a:lstStyle/>
          <a:p>
            <a:pPr indent="0" marL="0">
              <a:buNone/>
            </a:pPr>
            <a:r>
              <a:rPr lang="en-US" sz="1500" i="1" dirty="0">
                <a:solidFill>
                  <a:srgbClr val="2F6D62"/>
                </a:solidFill>
                <a:latin typeface="Calibri" pitchFamily="34" charset="0"/>
                <a:ea typeface="Calibri" pitchFamily="34" charset="-122"/>
                <a:cs typeface="Calibri" pitchFamily="34" charset="-120"/>
              </a:rPr>
              <a:t>A script hash is a sealed envelope that shows only a code number.</a:t>
            </a:r>
            <a:endParaRPr lang="en-US" sz="1500" dirty="0"/>
          </a:p>
        </p:txBody>
      </p:sp>
      <p:sp>
        <p:nvSpPr>
          <p:cNvPr id="6" name="Shape 4"/>
          <p:cNvSpPr/>
          <p:nvPr/>
        </p:nvSpPr>
        <p:spPr>
          <a:xfrm>
            <a:off x="777240" y="2103120"/>
            <a:ext cx="3840480" cy="310896"/>
          </a:xfrm>
          <a:prstGeom prst="roundRect">
            <a:avLst>
              <a:gd name="adj" fmla="val 50000"/>
            </a:avLst>
          </a:prstGeom>
          <a:solidFill>
            <a:srgbClr val="D97A14"/>
          </a:solidFill>
          <a:ln w="12700">
            <a:solidFill>
              <a:srgbClr val="D97A14"/>
            </a:solidFill>
            <a:prstDash val="solid"/>
          </a:ln>
        </p:spPr>
      </p:sp>
      <p:sp>
        <p:nvSpPr>
          <p:cNvPr id="7" name="Text 5"/>
          <p:cNvSpPr txBox="1"/>
          <p:nvPr/>
        </p:nvSpPr>
        <p:spPr>
          <a:xfrm>
            <a:off x="850392" y="2103120"/>
            <a:ext cx="369417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Hashing the script</a:t>
            </a:r>
            <a:endParaRPr lang="en-US" sz="1200" dirty="0"/>
          </a:p>
        </p:txBody>
      </p:sp>
      <p:sp>
        <p:nvSpPr>
          <p:cNvPr id="8" name="Text 6"/>
          <p:cNvSpPr txBox="1"/>
          <p:nvPr/>
        </p:nvSpPr>
        <p:spPr>
          <a:xfrm>
            <a:off x="777240" y="2487168"/>
            <a:ext cx="3840480" cy="393192"/>
          </a:xfrm>
          <a:prstGeom prst="rect">
            <a:avLst/>
          </a:prstGeom>
          <a:noFill/>
          <a:ln/>
        </p:spPr>
        <p:txBody>
          <a:bodyPr wrap="square" lIns="0" tIns="0" rIns="0" bIns="0" rtlCol="0" anchor="t"/>
          <a:lstStyle/>
          <a:p>
            <a:pPr indent="0" marL="0">
              <a:buNone/>
            </a:pPr>
            <a:r>
              <a:rPr lang="en-US" sz="1150" dirty="0">
                <a:solidFill>
                  <a:srgbClr val="2B2622"/>
                </a:solidFill>
                <a:latin typeface="Calibri" pitchFamily="34" charset="0"/>
                <a:ea typeface="Calibri" pitchFamily="34" charset="-122"/>
                <a:cs typeface="Calibri" pitchFamily="34" charset="-120"/>
              </a:rPr>
              <a:t>The lock holds only the hash; the script is revealed at spending.</a:t>
            </a:r>
            <a:endParaRPr lang="en-US" sz="1150" dirty="0"/>
          </a:p>
        </p:txBody>
      </p:sp>
      <p:sp>
        <p:nvSpPr>
          <p:cNvPr id="9" name="Text 7"/>
          <p:cNvSpPr txBox="1"/>
          <p:nvPr/>
        </p:nvSpPr>
        <p:spPr>
          <a:xfrm>
            <a:off x="777240" y="2907792"/>
            <a:ext cx="3840480" cy="214884"/>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sealing a contract in an envelope.</a:t>
            </a:r>
            <a:endParaRPr lang="en-US" sz="1150" dirty="0"/>
          </a:p>
        </p:txBody>
      </p:sp>
      <p:sp>
        <p:nvSpPr>
          <p:cNvPr id="10" name="Shape 8"/>
          <p:cNvSpPr/>
          <p:nvPr/>
        </p:nvSpPr>
        <p:spPr>
          <a:xfrm>
            <a:off x="4800600" y="2103120"/>
            <a:ext cx="3840480" cy="310896"/>
          </a:xfrm>
          <a:prstGeom prst="roundRect">
            <a:avLst>
              <a:gd name="adj" fmla="val 50000"/>
            </a:avLst>
          </a:prstGeom>
          <a:solidFill>
            <a:srgbClr val="D97A14"/>
          </a:solidFill>
          <a:ln w="12700">
            <a:solidFill>
              <a:srgbClr val="D97A14"/>
            </a:solidFill>
            <a:prstDash val="solid"/>
          </a:ln>
        </p:spPr>
      </p:sp>
      <p:sp>
        <p:nvSpPr>
          <p:cNvPr id="11" name="Text 9"/>
          <p:cNvSpPr txBox="1"/>
          <p:nvPr/>
        </p:nvSpPr>
        <p:spPr>
          <a:xfrm>
            <a:off x="4873752" y="2103120"/>
            <a:ext cx="369417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What the hash changes</a:t>
            </a:r>
            <a:endParaRPr lang="en-US" sz="1200" dirty="0"/>
          </a:p>
        </p:txBody>
      </p:sp>
      <p:sp>
        <p:nvSpPr>
          <p:cNvPr id="12" name="Text 10"/>
          <p:cNvSpPr txBox="1"/>
          <p:nvPr/>
        </p:nvSpPr>
        <p:spPr>
          <a:xfrm>
            <a:off x="4800600" y="2487168"/>
            <a:ext cx="3840480" cy="393192"/>
          </a:xfrm>
          <a:prstGeom prst="rect">
            <a:avLst/>
          </a:prstGeom>
          <a:noFill/>
          <a:ln/>
        </p:spPr>
        <p:txBody>
          <a:bodyPr wrap="square" lIns="0" tIns="0" rIns="0" bIns="0" rtlCol="0" anchor="t"/>
          <a:lstStyle/>
          <a:p>
            <a:pPr indent="0" marL="0">
              <a:buNone/>
            </a:pPr>
            <a:r>
              <a:rPr lang="en-US" sz="1150" dirty="0">
                <a:solidFill>
                  <a:srgbClr val="2B2622"/>
                </a:solidFill>
                <a:latin typeface="Calibri" pitchFamily="34" charset="0"/>
                <a:ea typeface="Calibri" pitchFamily="34" charset="-122"/>
                <a:cs typeface="Calibri" pitchFamily="34" charset="-120"/>
              </a:rPr>
              <a:t>Who pays for the size of the script, and which rules apply.</a:t>
            </a:r>
            <a:endParaRPr lang="en-US" sz="1150" dirty="0"/>
          </a:p>
        </p:txBody>
      </p:sp>
      <p:sp>
        <p:nvSpPr>
          <p:cNvPr id="13" name="Text 11"/>
          <p:cNvSpPr txBox="1"/>
          <p:nvPr/>
        </p:nvSpPr>
        <p:spPr>
          <a:xfrm>
            <a:off x="4800600" y="2907792"/>
            <a:ext cx="3840480" cy="393192"/>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a post office that charges by the envelope.</a:t>
            </a:r>
            <a:endParaRPr lang="en-US" sz="115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777240" y="3950208"/>
          <a:ext cx="7863840" cy="914400"/>
        </p:xfrm>
        <a:graphic>
          <a:graphicData uri="http://schemas.openxmlformats.org/drawingml/2006/table">
            <a:tbl>
              <a:tblPr/>
              <a:tblGrid>
                <a:gridCol w="874166"/>
                <a:gridCol w="874166"/>
                <a:gridCol w="874166"/>
                <a:gridCol w="874166"/>
                <a:gridCol w="874166"/>
                <a:gridCol w="874166"/>
                <a:gridCol w="874166"/>
                <a:gridCol w="874166"/>
                <a:gridCol w="874166"/>
              </a:tblGrid>
              <a:tr h="365760">
                <a:tc>
                  <a:txBody>
                    <a:bodyPr/>
                    <a:lstStyle/>
                    <a:p>
                      <a:pPr algn="ctr" indent="0" marL="0">
                        <a:buNone/>
                      </a:pPr>
                      <a:r>
                        <a:rPr lang="en-US" sz="1000" dirty="0">
                          <a:solidFill>
                            <a:srgbClr val="2B2622"/>
                          </a:solidFill>
                          <a:latin typeface="Calibri" pitchFamily="34" charset="0"/>
                          <a:ea typeface="Calibri" pitchFamily="34" charset="-122"/>
                          <a:cs typeface="Calibri" pitchFamily="34" charset="-120"/>
                        </a:rPr>
                        <a:t>Language</a:t>
                      </a:r>
                      <a:endParaRPr lang="en-US" sz="10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ECE1"/>
                    </a:solidFill>
                  </a:tcPr>
                </a:tc>
                <a:tc>
                  <a:txBody>
                    <a:bodyPr/>
                    <a:lstStyle/>
                    <a:p>
                      <a:pPr algn="ctr" indent="0" marL="0">
                        <a:buNone/>
                      </a:pPr>
                      <a:r>
                        <a:rPr lang="en-US" sz="1000" dirty="0">
                          <a:solidFill>
                            <a:srgbClr val="2B2622"/>
                          </a:solidFill>
                          <a:latin typeface="Calibri" pitchFamily="34" charset="0"/>
                          <a:ea typeface="Calibri" pitchFamily="34" charset="-122"/>
                          <a:cs typeface="Calibri" pitchFamily="34" charset="-120"/>
                        </a:rPr>
                        <a:t>Keys</a:t>
                      </a:r>
                      <a:endParaRPr lang="en-US" sz="10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ECE1"/>
                    </a:solidFill>
                  </a:tcPr>
                </a:tc>
                <a:tc>
                  <a:txBody>
                    <a:bodyPr/>
                    <a:lstStyle/>
                    <a:p>
                      <a:pPr algn="ctr" indent="0" marL="0">
                        <a:buNone/>
                      </a:pPr>
                      <a:r>
                        <a:rPr lang="en-US" sz="1000" dirty="0">
                          <a:solidFill>
                            <a:srgbClr val="2B2622"/>
                          </a:solidFill>
                          <a:latin typeface="Calibri" pitchFamily="34" charset="0"/>
                          <a:ea typeface="Calibri" pitchFamily="34" charset="-122"/>
                          <a:cs typeface="Calibri" pitchFamily="34" charset="-120"/>
                        </a:rPr>
                        <a:t>Multisig</a:t>
                      </a:r>
                      <a:endParaRPr lang="en-US" sz="10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ECE1"/>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P2SH</a:t>
                      </a:r>
                      <a:endParaRPr lang="en-US" sz="10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97A14"/>
                    </a:solidFill>
                  </a:tcPr>
                </a:tc>
                <a:tc>
                  <a:txBody>
                    <a:bodyPr/>
                    <a:lstStyle/>
                    <a:p>
                      <a:pPr algn="ctr" indent="0" marL="0">
                        <a:buNone/>
                      </a:pPr>
                      <a:r>
                        <a:rPr lang="en-US" sz="1000" dirty="0">
                          <a:solidFill>
                            <a:srgbClr val="2B2622"/>
                          </a:solidFill>
                          <a:latin typeface="Calibri" pitchFamily="34" charset="0"/>
                          <a:ea typeface="Calibri" pitchFamily="34" charset="-122"/>
                          <a:cs typeface="Calibri" pitchFamily="34" charset="-120"/>
                        </a:rPr>
                        <a:t>Time</a:t>
                      </a:r>
                      <a:endParaRPr lang="en-US" sz="10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ECE1"/>
                    </a:solidFill>
                  </a:tcPr>
                </a:tc>
                <a:tc>
                  <a:txBody>
                    <a:bodyPr/>
                    <a:lstStyle/>
                    <a:p>
                      <a:pPr algn="ctr" indent="0" marL="0">
                        <a:buNone/>
                      </a:pPr>
                      <a:r>
                        <a:rPr lang="en-US" sz="1000" dirty="0">
                          <a:solidFill>
                            <a:srgbClr val="2B2622"/>
                          </a:solidFill>
                          <a:latin typeface="Calibri" pitchFamily="34" charset="0"/>
                          <a:ea typeface="Calibri" pitchFamily="34" charset="-122"/>
                          <a:cs typeface="Calibri" pitchFamily="34" charset="-120"/>
                        </a:rPr>
                        <a:t>Flow</a:t>
                      </a:r>
                      <a:endParaRPr lang="en-US" sz="10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ECE1"/>
                    </a:solidFill>
                  </a:tcPr>
                </a:tc>
                <a:tc>
                  <a:txBody>
                    <a:bodyPr/>
                    <a:lstStyle/>
                    <a:p>
                      <a:pPr algn="ctr" indent="0" marL="0">
                        <a:buNone/>
                      </a:pPr>
                      <a:r>
                        <a:rPr lang="en-US" sz="1000" dirty="0">
                          <a:solidFill>
                            <a:srgbClr val="2B2622"/>
                          </a:solidFill>
                          <a:latin typeface="Calibri" pitchFamily="34" charset="0"/>
                          <a:ea typeface="Calibri" pitchFamily="34" charset="-122"/>
                          <a:cs typeface="Calibri" pitchFamily="34" charset="-120"/>
                        </a:rPr>
                        <a:t>Segwit</a:t>
                      </a:r>
                      <a:endParaRPr lang="en-US" sz="10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ECE1"/>
                    </a:solidFill>
                  </a:tcPr>
                </a:tc>
                <a:tc>
                  <a:txBody>
                    <a:bodyPr/>
                    <a:lstStyle/>
                    <a:p>
                      <a:pPr algn="ctr" indent="0" marL="0">
                        <a:buNone/>
                      </a:pPr>
                      <a:r>
                        <a:rPr lang="en-US" sz="1000" dirty="0">
                          <a:solidFill>
                            <a:srgbClr val="2B2622"/>
                          </a:solidFill>
                          <a:latin typeface="Calibri" pitchFamily="34" charset="0"/>
                          <a:ea typeface="Calibri" pitchFamily="34" charset="-122"/>
                          <a:cs typeface="Calibri" pitchFamily="34" charset="-120"/>
                        </a:rPr>
                        <a:t>Trees</a:t>
                      </a:r>
                      <a:endParaRPr lang="en-US" sz="10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ECE1"/>
                    </a:solidFill>
                  </a:tcPr>
                </a:tc>
                <a:tc>
                  <a:txBody>
                    <a:bodyPr/>
                    <a:lstStyle/>
                    <a:p>
                      <a:pPr algn="ctr" indent="0" marL="0">
                        <a:buNone/>
                      </a:pPr>
                      <a:r>
                        <a:rPr lang="en-US" sz="1000" dirty="0">
                          <a:solidFill>
                            <a:srgbClr val="2B2622"/>
                          </a:solidFill>
                          <a:latin typeface="Calibri" pitchFamily="34" charset="0"/>
                          <a:ea typeface="Calibri" pitchFamily="34" charset="-122"/>
                          <a:cs typeface="Calibri" pitchFamily="34" charset="-120"/>
                        </a:rPr>
                        <a:t>Taproot</a:t>
                      </a:r>
                      <a:endParaRPr lang="en-US" sz="10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ECE1"/>
                    </a:solidFill>
                  </a:tcPr>
                </a:tc>
              </a:tr>
            </a:tbl>
          </a:graphicData>
        </a:graphic>
      </p:graphicFrame>
      <p:sp>
        <p:nvSpPr>
          <p:cNvPr id="15" name="Text 12"/>
          <p:cNvSpPr txBox="1"/>
          <p:nvPr/>
        </p:nvSpPr>
        <p:spPr>
          <a:xfrm>
            <a:off x="7863840" y="4645152"/>
            <a:ext cx="868680" cy="310896"/>
          </a:xfrm>
          <a:prstGeom prst="rect">
            <a:avLst/>
          </a:prstGeom>
          <a:noFill/>
          <a:ln/>
        </p:spPr>
        <p:txBody>
          <a:bodyPr wrap="square" lIns="0" tIns="0" rIns="0" bIns="0" rtlCol="0" anchor="ctr"/>
          <a:lstStyle/>
          <a:p>
            <a:pPr algn="r" indent="0" marL="0">
              <a:buNone/>
            </a:pPr>
            <a:r>
              <a:rPr lang="en-US" sz="1100" dirty="0">
                <a:solidFill>
                  <a:srgbClr val="6E655C"/>
                </a:solidFill>
                <a:latin typeface="Calibri" pitchFamily="34" charset="0"/>
                <a:ea typeface="Calibri" pitchFamily="34" charset="-122"/>
                <a:cs typeface="Calibri" pitchFamily="34" charset="-120"/>
              </a:rPr>
              <a:t>23 / 61</a:t>
            </a:r>
            <a:endParaRPr lang="en-US" sz="11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AF6EF"/>
        </a:solidFill>
      </p:bgPr>
    </p:bg>
    <p:spTree>
      <p:nvGrpSpPr>
        <p:cNvPr id="1" name=""/>
        <p:cNvGrpSpPr/>
        <p:nvPr/>
      </p:nvGrpSpPr>
      <p:grpSpPr>
        <a:xfrm>
          <a:off x="0" y="0"/>
          <a:ext cx="0" cy="0"/>
          <a:chOff x="0" y="0"/>
          <a:chExt cx="0" cy="0"/>
        </a:xfrm>
      </p:grpSpPr>
      <p:sp>
        <p:nvSpPr>
          <p:cNvPr id="2" name="Shape 0"/>
          <p:cNvSpPr/>
          <p:nvPr/>
        </p:nvSpPr>
        <p:spPr>
          <a:xfrm>
            <a:off x="457200" y="347472"/>
            <a:ext cx="566928" cy="384048"/>
          </a:xfrm>
          <a:prstGeom prst="roundRect">
            <a:avLst>
              <a:gd name="adj" fmla="val 19048"/>
            </a:avLst>
          </a:prstGeom>
          <a:solidFill>
            <a:srgbClr val="D97A14"/>
          </a:solidFill>
          <a:ln w="12700">
            <a:solidFill>
              <a:srgbClr val="D97A14"/>
            </a:solidFill>
            <a:prstDash val="solid"/>
          </a:ln>
        </p:spPr>
      </p:sp>
      <p:sp>
        <p:nvSpPr>
          <p:cNvPr id="3" name="Text 1"/>
          <p:cNvSpPr txBox="1"/>
          <p:nvPr/>
        </p:nvSpPr>
        <p:spPr>
          <a:xfrm>
            <a:off x="457200" y="347472"/>
            <a:ext cx="56692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4" name="Text 2"/>
          <p:cNvSpPr txBox="1"/>
          <p:nvPr/>
        </p:nvSpPr>
        <p:spPr>
          <a:xfrm>
            <a:off x="1143000" y="237744"/>
            <a:ext cx="7543800" cy="566928"/>
          </a:xfrm>
          <a:prstGeom prst="rect">
            <a:avLst/>
          </a:prstGeom>
          <a:noFill/>
          <a:ln/>
        </p:spPr>
        <p:txBody>
          <a:bodyPr wrap="square" lIns="0" tIns="0" rIns="0" bIns="0" rtlCol="0" anchor="ctr"/>
          <a:lstStyle/>
          <a:p>
            <a:pPr indent="0" marL="0">
              <a:buNone/>
            </a:pPr>
            <a:r>
              <a:rPr lang="en-US" sz="2500" b="1" dirty="0">
                <a:solidFill>
                  <a:srgbClr val="2B2622"/>
                </a:solidFill>
                <a:latin typeface="Cambria" pitchFamily="34" charset="0"/>
                <a:ea typeface="Cambria" pitchFamily="34" charset="-122"/>
                <a:cs typeface="Cambria" pitchFamily="34" charset="-120"/>
              </a:rPr>
              <a:t>Pay to script hash: concepts (1 of 2)</a:t>
            </a:r>
            <a:endParaRPr lang="en-US" sz="2500" dirty="0"/>
          </a:p>
        </p:txBody>
      </p:sp>
      <p:sp>
        <p:nvSpPr>
          <p:cNvPr id="5" name="Text 3"/>
          <p:cNvSpPr txBox="1"/>
          <p:nvPr/>
        </p:nvSpPr>
        <p:spPr>
          <a:xfrm>
            <a:off x="1143000" y="786384"/>
            <a:ext cx="7543800" cy="310896"/>
          </a:xfrm>
          <a:prstGeom prst="rect">
            <a:avLst/>
          </a:prstGeom>
          <a:noFill/>
          <a:ln/>
        </p:spPr>
        <p:txBody>
          <a:bodyPr wrap="square" lIns="0" tIns="0" rIns="0" bIns="0" rtlCol="0" anchor="ctr"/>
          <a:lstStyle/>
          <a:p>
            <a:pPr indent="0" marL="0">
              <a:buNone/>
            </a:pPr>
            <a:r>
              <a:rPr lang="en-US" sz="1300" i="1" dirty="0">
                <a:solidFill>
                  <a:srgbClr val="6E655C"/>
                </a:solidFill>
                <a:latin typeface="Calibri" pitchFamily="34" charset="0"/>
                <a:ea typeface="Calibri" pitchFamily="34" charset="-122"/>
                <a:cs typeface="Calibri" pitchFamily="34" charset="-120"/>
              </a:rPr>
              <a:t>Each card: the meaning in a few words, then something you already know</a:t>
            </a:r>
            <a:endParaRPr lang="en-US" sz="1300" dirty="0"/>
          </a:p>
        </p:txBody>
      </p:sp>
      <p:sp>
        <p:nvSpPr>
          <p:cNvPr id="6" name="Shape 4"/>
          <p:cNvSpPr/>
          <p:nvPr/>
        </p:nvSpPr>
        <p:spPr>
          <a:xfrm>
            <a:off x="457200" y="1280160"/>
            <a:ext cx="2645664" cy="1516990"/>
          </a:xfrm>
          <a:prstGeom prst="roundRect">
            <a:avLst>
              <a:gd name="adj" fmla="val 4822"/>
            </a:avLst>
          </a:prstGeom>
          <a:solidFill>
            <a:srgbClr val="F2ECE1"/>
          </a:solidFill>
          <a:ln w="12700">
            <a:solidFill>
              <a:srgbClr val="DFD6C7"/>
            </a:solidFill>
            <a:prstDash val="solid"/>
          </a:ln>
        </p:spPr>
      </p:sp>
      <p:sp>
        <p:nvSpPr>
          <p:cNvPr id="7" name="Shape 5"/>
          <p:cNvSpPr/>
          <p:nvPr/>
        </p:nvSpPr>
        <p:spPr>
          <a:xfrm>
            <a:off x="475488" y="1408176"/>
            <a:ext cx="64008" cy="1260958"/>
          </a:xfrm>
          <a:prstGeom prst="rect">
            <a:avLst/>
          </a:prstGeom>
          <a:solidFill>
            <a:srgbClr val="D97A14"/>
          </a:solidFill>
          <a:ln w="12700">
            <a:solidFill>
              <a:srgbClr val="D97A14"/>
            </a:solidFill>
            <a:prstDash val="solid"/>
          </a:ln>
        </p:spPr>
      </p:sp>
      <p:sp>
        <p:nvSpPr>
          <p:cNvPr id="8" name="Text 6"/>
          <p:cNvSpPr txBox="1"/>
          <p:nvPr/>
        </p:nvSpPr>
        <p:spPr>
          <a:xfrm>
            <a:off x="640080" y="1344168"/>
            <a:ext cx="2371344" cy="612648"/>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Pay to Script Hash</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A coin locked to the hash of a whole script.</a:t>
            </a:r>
            <a:endParaRPr lang="en-US" sz="1300" dirty="0"/>
          </a:p>
        </p:txBody>
      </p:sp>
      <p:sp>
        <p:nvSpPr>
          <p:cNvPr id="9" name="Text 7"/>
          <p:cNvSpPr txBox="1"/>
          <p:nvPr/>
        </p:nvSpPr>
        <p:spPr>
          <a:xfrm>
            <a:off x="640080" y="1984248"/>
            <a:ext cx="2371344" cy="571500"/>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a sealed envelope whose outside shows only a code number.</a:t>
            </a:r>
            <a:endParaRPr lang="en-US" sz="1150" dirty="0"/>
          </a:p>
        </p:txBody>
      </p:sp>
      <p:sp>
        <p:nvSpPr>
          <p:cNvPr id="10" name="Shape 8"/>
          <p:cNvSpPr/>
          <p:nvPr/>
        </p:nvSpPr>
        <p:spPr>
          <a:xfrm>
            <a:off x="3249168" y="1280160"/>
            <a:ext cx="2645664" cy="1516990"/>
          </a:xfrm>
          <a:prstGeom prst="roundRect">
            <a:avLst>
              <a:gd name="adj" fmla="val 4822"/>
            </a:avLst>
          </a:prstGeom>
          <a:solidFill>
            <a:srgbClr val="F2ECE1"/>
          </a:solidFill>
          <a:ln w="12700">
            <a:solidFill>
              <a:srgbClr val="DFD6C7"/>
            </a:solidFill>
            <a:prstDash val="solid"/>
          </a:ln>
        </p:spPr>
      </p:sp>
      <p:sp>
        <p:nvSpPr>
          <p:cNvPr id="11" name="Shape 9"/>
          <p:cNvSpPr/>
          <p:nvPr/>
        </p:nvSpPr>
        <p:spPr>
          <a:xfrm>
            <a:off x="3267456" y="1408176"/>
            <a:ext cx="64008" cy="1260958"/>
          </a:xfrm>
          <a:prstGeom prst="rect">
            <a:avLst/>
          </a:prstGeom>
          <a:solidFill>
            <a:srgbClr val="D97A14"/>
          </a:solidFill>
          <a:ln w="12700">
            <a:solidFill>
              <a:srgbClr val="D97A14"/>
            </a:solidFill>
            <a:prstDash val="solid"/>
          </a:ln>
        </p:spPr>
      </p:sp>
      <p:sp>
        <p:nvSpPr>
          <p:cNvPr id="12" name="Text 10"/>
          <p:cNvSpPr txBox="1"/>
          <p:nvPr/>
        </p:nvSpPr>
        <p:spPr>
          <a:xfrm>
            <a:off x="3432048" y="1344168"/>
            <a:ext cx="2371344" cy="790956"/>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P2SH Addresses</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Addresses that start with a 3 and stand for a script hash.</a:t>
            </a:r>
            <a:endParaRPr lang="en-US" sz="1300" dirty="0"/>
          </a:p>
        </p:txBody>
      </p:sp>
      <p:sp>
        <p:nvSpPr>
          <p:cNvPr id="13" name="Text 11"/>
          <p:cNvSpPr txBox="1"/>
          <p:nvPr/>
        </p:nvSpPr>
        <p:spPr>
          <a:xfrm>
            <a:off x="3432048" y="2162556"/>
            <a:ext cx="2371344" cy="571500"/>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a box number at the post office that stands for a whole office.</a:t>
            </a:r>
            <a:endParaRPr lang="en-US" sz="1150" dirty="0"/>
          </a:p>
        </p:txBody>
      </p:sp>
      <p:sp>
        <p:nvSpPr>
          <p:cNvPr id="14" name="Shape 12"/>
          <p:cNvSpPr/>
          <p:nvPr/>
        </p:nvSpPr>
        <p:spPr>
          <a:xfrm>
            <a:off x="6041136" y="1280160"/>
            <a:ext cx="2645664" cy="1516990"/>
          </a:xfrm>
          <a:prstGeom prst="roundRect">
            <a:avLst>
              <a:gd name="adj" fmla="val 4822"/>
            </a:avLst>
          </a:prstGeom>
          <a:solidFill>
            <a:srgbClr val="F2ECE1"/>
          </a:solidFill>
          <a:ln w="12700">
            <a:solidFill>
              <a:srgbClr val="DFD6C7"/>
            </a:solidFill>
            <a:prstDash val="solid"/>
          </a:ln>
        </p:spPr>
      </p:sp>
      <p:sp>
        <p:nvSpPr>
          <p:cNvPr id="15" name="Shape 13"/>
          <p:cNvSpPr/>
          <p:nvPr/>
        </p:nvSpPr>
        <p:spPr>
          <a:xfrm>
            <a:off x="6059424" y="1408176"/>
            <a:ext cx="64008" cy="1260958"/>
          </a:xfrm>
          <a:prstGeom prst="rect">
            <a:avLst/>
          </a:prstGeom>
          <a:solidFill>
            <a:srgbClr val="D97A14"/>
          </a:solidFill>
          <a:ln w="12700">
            <a:solidFill>
              <a:srgbClr val="D97A14"/>
            </a:solidFill>
            <a:prstDash val="solid"/>
          </a:ln>
        </p:spPr>
      </p:sp>
      <p:sp>
        <p:nvSpPr>
          <p:cNvPr id="16" name="Text 14"/>
          <p:cNvSpPr txBox="1"/>
          <p:nvPr/>
        </p:nvSpPr>
        <p:spPr>
          <a:xfrm>
            <a:off x="6224016" y="1344168"/>
            <a:ext cx="2371344" cy="790956"/>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Benefits of P2SH</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The payer writes a short lock; the spender carries the long script.</a:t>
            </a:r>
            <a:endParaRPr lang="en-US" sz="1300" dirty="0"/>
          </a:p>
        </p:txBody>
      </p:sp>
      <p:sp>
        <p:nvSpPr>
          <p:cNvPr id="17" name="Text 15"/>
          <p:cNvSpPr txBox="1"/>
          <p:nvPr/>
        </p:nvSpPr>
        <p:spPr>
          <a:xfrm>
            <a:off x="6224016" y="2162556"/>
            <a:ext cx="2371344" cy="571500"/>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the sender writes a short address and the receiver carries the key ring.</a:t>
            </a:r>
            <a:endParaRPr lang="en-US" sz="1150" dirty="0"/>
          </a:p>
        </p:txBody>
      </p:sp>
      <p:sp>
        <p:nvSpPr>
          <p:cNvPr id="18" name="Shape 16"/>
          <p:cNvSpPr/>
          <p:nvPr/>
        </p:nvSpPr>
        <p:spPr>
          <a:xfrm>
            <a:off x="457200" y="4636008"/>
            <a:ext cx="91440" cy="310896"/>
          </a:xfrm>
          <a:prstGeom prst="rect">
            <a:avLst/>
          </a:prstGeom>
          <a:solidFill>
            <a:srgbClr val="D97A14"/>
          </a:solidFill>
          <a:ln w="12700">
            <a:solidFill>
              <a:srgbClr val="D97A14"/>
            </a:solidFill>
            <a:prstDash val="solid"/>
          </a:ln>
        </p:spPr>
      </p:sp>
      <p:sp>
        <p:nvSpPr>
          <p:cNvPr id="19" name="Text 17"/>
          <p:cNvSpPr txBox="1"/>
          <p:nvPr/>
        </p:nvSpPr>
        <p:spPr>
          <a:xfrm>
            <a:off x="658368" y="4599432"/>
            <a:ext cx="6949440" cy="384048"/>
          </a:xfrm>
          <a:prstGeom prst="rect">
            <a:avLst/>
          </a:prstGeom>
          <a:noFill/>
          <a:ln/>
        </p:spPr>
        <p:txBody>
          <a:bodyPr wrap="square" lIns="0" tIns="0" rIns="0" bIns="0" rtlCol="0" anchor="ctr"/>
          <a:lstStyle/>
          <a:p>
            <a:pPr indent="0" marL="0">
              <a:buNone/>
            </a:pPr>
            <a:r>
              <a:rPr lang="en-US" sz="1350" b="1" i="1" dirty="0">
                <a:solidFill>
                  <a:srgbClr val="2B2622"/>
                </a:solidFill>
                <a:latin typeface="Cambria" pitchFamily="34" charset="0"/>
                <a:ea typeface="Cambria" pitchFamily="34" charset="-122"/>
                <a:cs typeface="Cambria" pitchFamily="34" charset="-120"/>
              </a:rPr>
              <a:t>Say each idea twice: once as the meaning, once as the everyday comparison</a:t>
            </a:r>
            <a:endParaRPr lang="en-US" sz="1350" dirty="0"/>
          </a:p>
        </p:txBody>
      </p:sp>
      <p:sp>
        <p:nvSpPr>
          <p:cNvPr id="20" name="Text 18"/>
          <p:cNvSpPr txBox="1"/>
          <p:nvPr/>
        </p:nvSpPr>
        <p:spPr>
          <a:xfrm>
            <a:off x="7863840" y="4645152"/>
            <a:ext cx="868680" cy="310896"/>
          </a:xfrm>
          <a:prstGeom prst="rect">
            <a:avLst/>
          </a:prstGeom>
          <a:noFill/>
          <a:ln/>
        </p:spPr>
        <p:txBody>
          <a:bodyPr wrap="square" lIns="0" tIns="0" rIns="0" bIns="0" rtlCol="0" anchor="ctr"/>
          <a:lstStyle/>
          <a:p>
            <a:pPr algn="r" indent="0" marL="0">
              <a:buNone/>
            </a:pPr>
            <a:r>
              <a:rPr lang="en-US" sz="1100" dirty="0">
                <a:solidFill>
                  <a:srgbClr val="6E655C"/>
                </a:solidFill>
                <a:latin typeface="Calibri" pitchFamily="34" charset="0"/>
                <a:ea typeface="Calibri" pitchFamily="34" charset="-122"/>
                <a:cs typeface="Calibri" pitchFamily="34" charset="-120"/>
              </a:rPr>
              <a:t>24 / 61</a:t>
            </a:r>
            <a:endParaRPr lang="en-US" sz="11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AF6EF"/>
        </a:solidFill>
      </p:bgPr>
    </p:bg>
    <p:spTree>
      <p:nvGrpSpPr>
        <p:cNvPr id="1" name=""/>
        <p:cNvGrpSpPr/>
        <p:nvPr/>
      </p:nvGrpSpPr>
      <p:grpSpPr>
        <a:xfrm>
          <a:off x="0" y="0"/>
          <a:ext cx="0" cy="0"/>
          <a:chOff x="0" y="0"/>
          <a:chExt cx="0" cy="0"/>
        </a:xfrm>
      </p:grpSpPr>
      <p:sp>
        <p:nvSpPr>
          <p:cNvPr id="2" name="Shape 0"/>
          <p:cNvSpPr/>
          <p:nvPr/>
        </p:nvSpPr>
        <p:spPr>
          <a:xfrm>
            <a:off x="457200" y="347472"/>
            <a:ext cx="566928" cy="384048"/>
          </a:xfrm>
          <a:prstGeom prst="roundRect">
            <a:avLst>
              <a:gd name="adj" fmla="val 19048"/>
            </a:avLst>
          </a:prstGeom>
          <a:solidFill>
            <a:srgbClr val="D97A14"/>
          </a:solidFill>
          <a:ln w="12700">
            <a:solidFill>
              <a:srgbClr val="D97A14"/>
            </a:solidFill>
            <a:prstDash val="solid"/>
          </a:ln>
        </p:spPr>
      </p:sp>
      <p:sp>
        <p:nvSpPr>
          <p:cNvPr id="3" name="Text 1"/>
          <p:cNvSpPr txBox="1"/>
          <p:nvPr/>
        </p:nvSpPr>
        <p:spPr>
          <a:xfrm>
            <a:off x="457200" y="347472"/>
            <a:ext cx="56692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4" name="Text 2"/>
          <p:cNvSpPr txBox="1"/>
          <p:nvPr/>
        </p:nvSpPr>
        <p:spPr>
          <a:xfrm>
            <a:off x="1143000" y="237744"/>
            <a:ext cx="7543800" cy="566928"/>
          </a:xfrm>
          <a:prstGeom prst="rect">
            <a:avLst/>
          </a:prstGeom>
          <a:noFill/>
          <a:ln/>
        </p:spPr>
        <p:txBody>
          <a:bodyPr wrap="square" lIns="0" tIns="0" rIns="0" bIns="0" rtlCol="0" anchor="ctr"/>
          <a:lstStyle/>
          <a:p>
            <a:pPr indent="0" marL="0">
              <a:buNone/>
            </a:pPr>
            <a:r>
              <a:rPr lang="en-US" sz="2800" b="1" dirty="0">
                <a:solidFill>
                  <a:srgbClr val="2B2622"/>
                </a:solidFill>
                <a:latin typeface="Cambria" pitchFamily="34" charset="0"/>
                <a:ea typeface="Cambria" pitchFamily="34" charset="-122"/>
                <a:cs typeface="Cambria" pitchFamily="34" charset="-120"/>
              </a:rPr>
              <a:t>Pay to script hash</a:t>
            </a:r>
            <a:endParaRPr lang="en-US" sz="2800" dirty="0"/>
          </a:p>
        </p:txBody>
      </p:sp>
      <p:sp>
        <p:nvSpPr>
          <p:cNvPr id="5" name="Text 3"/>
          <p:cNvSpPr txBox="1"/>
          <p:nvPr/>
        </p:nvSpPr>
        <p:spPr>
          <a:xfrm>
            <a:off x="1143000" y="786384"/>
            <a:ext cx="7543800" cy="310896"/>
          </a:xfrm>
          <a:prstGeom prst="rect">
            <a:avLst/>
          </a:prstGeom>
          <a:noFill/>
          <a:ln/>
        </p:spPr>
        <p:txBody>
          <a:bodyPr wrap="square" lIns="0" tIns="0" rIns="0" bIns="0" rtlCol="0" anchor="ctr"/>
          <a:lstStyle/>
          <a:p>
            <a:pPr indent="0" marL="0">
              <a:buNone/>
            </a:pPr>
            <a:r>
              <a:rPr lang="en-US" sz="1300" i="1" dirty="0">
                <a:solidFill>
                  <a:srgbClr val="6E655C"/>
                </a:solidFill>
                <a:latin typeface="Calibri" pitchFamily="34" charset="0"/>
                <a:ea typeface="Calibri" pitchFamily="34" charset="-122"/>
                <a:cs typeface="Calibri" pitchFamily="34" charset="-120"/>
              </a:rPr>
              <a:t>The payer sees a hash, the spender shows the script</a:t>
            </a:r>
            <a:endParaRPr lang="en-US" sz="1300" dirty="0"/>
          </a:p>
        </p:txBody>
      </p:sp>
      <p:sp>
        <p:nvSpPr>
          <p:cNvPr id="6" name="Shape 4"/>
          <p:cNvSpPr/>
          <p:nvPr/>
        </p:nvSpPr>
        <p:spPr>
          <a:xfrm>
            <a:off x="457200" y="1325880"/>
            <a:ext cx="5074920" cy="476402"/>
          </a:xfrm>
          <a:prstGeom prst="roundRect">
            <a:avLst>
              <a:gd name="adj" fmla="val 15355"/>
            </a:avLst>
          </a:prstGeom>
          <a:solidFill>
            <a:srgbClr val="23272E"/>
          </a:solidFill>
          <a:ln w="12700">
            <a:solidFill>
              <a:srgbClr val="23272E"/>
            </a:solidFill>
            <a:prstDash val="solid"/>
          </a:ln>
        </p:spPr>
      </p:sp>
      <p:sp>
        <p:nvSpPr>
          <p:cNvPr id="7" name="Text 5"/>
          <p:cNvSpPr txBox="1"/>
          <p:nvPr/>
        </p:nvSpPr>
        <p:spPr>
          <a:xfrm>
            <a:off x="603504" y="1399032"/>
            <a:ext cx="4800600" cy="348386"/>
          </a:xfrm>
          <a:prstGeom prst="rect">
            <a:avLst/>
          </a:prstGeom>
          <a:noFill/>
          <a:ln/>
        </p:spPr>
        <p:txBody>
          <a:bodyPr wrap="square" lIns="0" tIns="0" rIns="0" bIns="0" rtlCol="0" anchor="t"/>
          <a:lstStyle/>
          <a:p>
            <a:pPr indent="0" marL="0">
              <a:buNone/>
            </a:pPr>
            <a:r>
              <a:rPr lang="en-US" sz="1000" b="1" dirty="0">
                <a:solidFill>
                  <a:srgbClr val="D97A14"/>
                </a:solidFill>
                <a:latin typeface="Courier New" pitchFamily="34" charset="0"/>
                <a:ea typeface="Courier New" pitchFamily="34" charset="-122"/>
                <a:cs typeface="Courier New" pitchFamily="34" charset="-120"/>
              </a:rPr>
              <a:t>&gt;&gt;&gt; </a:t>
            </a:r>
            <a:r>
              <a:rPr lang="en-US" sz="1000" dirty="0">
                <a:solidFill>
                  <a:srgbClr val="E6EDF3"/>
                </a:solidFill>
                <a:latin typeface="Courier New" pitchFamily="34" charset="0"/>
                <a:ea typeface="Courier New" pitchFamily="34" charset="-122"/>
                <a:cs typeface="Courier New" pitchFamily="34" charset="-120"/>
              </a:rPr>
              <a:t>spk = L.p2sh_script(L.hash160(RED))</a:t>
            </a:r>
            <a:endParaRPr lang="en-US" sz="1000" dirty="0"/>
          </a:p>
          <a:p>
            <a:pPr indent="0" marL="0">
              <a:buNone/>
            </a:pPr>
            <a:r>
              <a:rPr lang="en-US" sz="1000" b="1" dirty="0">
                <a:solidFill>
                  <a:srgbClr val="D97A14"/>
                </a:solidFill>
                <a:latin typeface="Courier New" pitchFamily="34" charset="0"/>
                <a:ea typeface="Courier New" pitchFamily="34" charset="-122"/>
                <a:cs typeface="Courier New" pitchFamily="34" charset="-120"/>
              </a:rPr>
              <a:t>&gt;&gt;&gt; </a:t>
            </a:r>
            <a:r>
              <a:rPr lang="en-US" sz="1000" dirty="0">
                <a:solidFill>
                  <a:srgbClr val="E6EDF3"/>
                </a:solidFill>
                <a:latin typeface="Courier New" pitchFamily="34" charset="0"/>
                <a:ea typeface="Courier New" pitchFamily="34" charset="-122"/>
                <a:cs typeface="Courier New" pitchFamily="34" charset="-120"/>
              </a:rPr>
              <a:t>addr = L.script_to_address(spk)</a:t>
            </a:r>
            <a:endParaRPr lang="en-US" sz="1000" dirty="0"/>
          </a:p>
        </p:txBody>
      </p:sp>
      <p:sp>
        <p:nvSpPr>
          <p:cNvPr id="8" name="Shape 6"/>
          <p:cNvSpPr/>
          <p:nvPr/>
        </p:nvSpPr>
        <p:spPr>
          <a:xfrm>
            <a:off x="457200" y="2122322"/>
            <a:ext cx="5074920" cy="476402"/>
          </a:xfrm>
          <a:prstGeom prst="roundRect">
            <a:avLst>
              <a:gd name="adj" fmla="val 15355"/>
            </a:avLst>
          </a:prstGeom>
          <a:solidFill>
            <a:srgbClr val="23272E"/>
          </a:solidFill>
          <a:ln w="12700">
            <a:solidFill>
              <a:srgbClr val="23272E"/>
            </a:solidFill>
            <a:prstDash val="solid"/>
          </a:ln>
        </p:spPr>
      </p:sp>
      <p:sp>
        <p:nvSpPr>
          <p:cNvPr id="9" name="Text 7"/>
          <p:cNvSpPr txBox="1"/>
          <p:nvPr/>
        </p:nvSpPr>
        <p:spPr>
          <a:xfrm>
            <a:off x="603504" y="2195474"/>
            <a:ext cx="4800600" cy="348386"/>
          </a:xfrm>
          <a:prstGeom prst="rect">
            <a:avLst/>
          </a:prstGeom>
          <a:noFill/>
          <a:ln/>
        </p:spPr>
        <p:txBody>
          <a:bodyPr wrap="square" lIns="0" tIns="0" rIns="0" bIns="0" rtlCol="0" anchor="t"/>
          <a:lstStyle/>
          <a:p>
            <a:pPr indent="0" marL="0">
              <a:buNone/>
            </a:pPr>
            <a:r>
              <a:rPr lang="en-US" sz="1000" b="1" dirty="0">
                <a:solidFill>
                  <a:srgbClr val="D97A14"/>
                </a:solidFill>
                <a:latin typeface="Courier New" pitchFamily="34" charset="0"/>
                <a:ea typeface="Courier New" pitchFamily="34" charset="-122"/>
                <a:cs typeface="Courier New" pitchFamily="34" charset="-120"/>
              </a:rPr>
              <a:t>&gt;&gt;&gt; </a:t>
            </a:r>
            <a:r>
              <a:rPr lang="en-US" sz="1000" dirty="0">
                <a:solidFill>
                  <a:srgbClr val="E6EDF3"/>
                </a:solidFill>
                <a:latin typeface="Courier New" pitchFamily="34" charset="0"/>
                <a:ea typeface="Courier New" pitchFamily="34" charset="-122"/>
                <a:cs typeface="Courier New" pitchFamily="34" charset="-120"/>
              </a:rPr>
              <a:t>ok = K.ms_spend(</a:t>
            </a:r>
            <a:r>
              <a:rPr lang="en-US" sz="1000" dirty="0">
                <a:solidFill>
                  <a:srgbClr val="FFD28A"/>
                </a:solidFill>
                <a:latin typeface="Courier New" pitchFamily="34" charset="0"/>
                <a:ea typeface="Courier New" pitchFamily="34" charset="-122"/>
                <a:cs typeface="Courier New" pitchFamily="34" charset="-120"/>
              </a:rPr>
              <a:t>2</a:t>
            </a:r>
            <a:r>
              <a:rPr lang="en-US" sz="1000" dirty="0">
                <a:solidFill>
                  <a:srgbClr val="E6EDF3"/>
                </a:solidFill>
                <a:latin typeface="Courier New" pitchFamily="34" charset="0"/>
                <a:ea typeface="Courier New" pitchFamily="34" charset="-122"/>
                <a:cs typeface="Courier New" pitchFamily="34" charset="-120"/>
              </a:rPr>
              <a:t>, </a:t>
            </a:r>
            <a:r>
              <a:rPr lang="en-US" sz="1000" dirty="0">
                <a:solidFill>
                  <a:srgbClr val="FFD28A"/>
                </a:solidFill>
                <a:latin typeface="Courier New" pitchFamily="34" charset="0"/>
                <a:ea typeface="Courier New" pitchFamily="34" charset="-122"/>
                <a:cs typeface="Courier New" pitchFamily="34" charset="-120"/>
              </a:rPr>
              <a:t>3</a:t>
            </a:r>
            <a:r>
              <a:rPr lang="en-US" sz="1000" dirty="0">
                <a:solidFill>
                  <a:srgbClr val="E6EDF3"/>
                </a:solidFill>
                <a:latin typeface="Courier New" pitchFamily="34" charset="0"/>
                <a:ea typeface="Courier New" pitchFamily="34" charset="-122"/>
                <a:cs typeface="Courier New" pitchFamily="34" charset="-120"/>
              </a:rPr>
              <a:t>, [</a:t>
            </a:r>
            <a:r>
              <a:rPr lang="en-US" sz="1000" dirty="0">
                <a:solidFill>
                  <a:srgbClr val="FFD28A"/>
                </a:solidFill>
                <a:latin typeface="Courier New" pitchFamily="34" charset="0"/>
                <a:ea typeface="Courier New" pitchFamily="34" charset="-122"/>
                <a:cs typeface="Courier New" pitchFamily="34" charset="-120"/>
              </a:rPr>
              <a:t>0</a:t>
            </a:r>
            <a:r>
              <a:rPr lang="en-US" sz="1000" dirty="0">
                <a:solidFill>
                  <a:srgbClr val="E6EDF3"/>
                </a:solidFill>
                <a:latin typeface="Courier New" pitchFamily="34" charset="0"/>
                <a:ea typeface="Courier New" pitchFamily="34" charset="-122"/>
                <a:cs typeface="Courier New" pitchFamily="34" charset="-120"/>
              </a:rPr>
              <a:t>, </a:t>
            </a:r>
            <a:r>
              <a:rPr lang="en-US" sz="1000" dirty="0">
                <a:solidFill>
                  <a:srgbClr val="FFD28A"/>
                </a:solidFill>
                <a:latin typeface="Courier New" pitchFamily="34" charset="0"/>
                <a:ea typeface="Courier New" pitchFamily="34" charset="-122"/>
                <a:cs typeface="Courier New" pitchFamily="34" charset="-120"/>
              </a:rPr>
              <a:t>1</a:t>
            </a:r>
            <a:r>
              <a:rPr lang="en-US" sz="1000" dirty="0">
                <a:solidFill>
                  <a:srgbClr val="E6EDF3"/>
                </a:solidFill>
                <a:latin typeface="Courier New" pitchFamily="34" charset="0"/>
                <a:ea typeface="Courier New" pitchFamily="34" charset="-122"/>
                <a:cs typeface="Courier New" pitchFamily="34" charset="-120"/>
              </a:rPr>
              <a:t>], wrap=</a:t>
            </a:r>
            <a:r>
              <a:rPr lang="en-US" sz="1000" dirty="0">
                <a:solidFill>
                  <a:srgbClr val="9ECBFF"/>
                </a:solidFill>
                <a:latin typeface="Courier New" pitchFamily="34" charset="0"/>
                <a:ea typeface="Courier New" pitchFamily="34" charset="-122"/>
                <a:cs typeface="Courier New" pitchFamily="34" charset="-120"/>
              </a:rPr>
              <a:t>'p2sh'</a:t>
            </a:r>
            <a:r>
              <a:rPr lang="en-US" sz="1000" dirty="0">
                <a:solidFill>
                  <a:srgbClr val="E6EDF3"/>
                </a:solidFill>
                <a:latin typeface="Courier New" pitchFamily="34" charset="0"/>
                <a:ea typeface="Courier New" pitchFamily="34" charset="-122"/>
                <a:cs typeface="Courier New" pitchFamily="34" charset="-120"/>
              </a:rPr>
              <a:t>)</a:t>
            </a:r>
            <a:endParaRPr lang="en-US" sz="1000" dirty="0"/>
          </a:p>
          <a:p>
            <a:pPr indent="0" marL="0">
              <a:buNone/>
            </a:pPr>
            <a:r>
              <a:rPr lang="en-US" sz="1000" b="1" dirty="0">
                <a:solidFill>
                  <a:srgbClr val="D97A14"/>
                </a:solidFill>
                <a:latin typeface="Courier New" pitchFamily="34" charset="0"/>
                <a:ea typeface="Courier New" pitchFamily="34" charset="-122"/>
                <a:cs typeface="Courier New" pitchFamily="34" charset="-120"/>
              </a:rPr>
              <a:t>&gt;&gt;&gt; </a:t>
            </a:r>
            <a:r>
              <a:rPr lang="en-US" sz="1000" dirty="0">
                <a:solidFill>
                  <a:srgbClr val="E6EDF3"/>
                </a:solidFill>
                <a:latin typeface="Courier New" pitchFamily="34" charset="0"/>
                <a:ea typeface="Courier New" pitchFamily="34" charset="-122"/>
                <a:cs typeface="Courier New" pitchFamily="34" charset="-120"/>
              </a:rPr>
              <a:t>bad = K.p2sh_spend(RED, hashed=RED + b</a:t>
            </a:r>
            <a:r>
              <a:rPr lang="en-US" sz="1000" dirty="0">
                <a:solidFill>
                  <a:srgbClr val="9ECBFF"/>
                </a:solidFill>
                <a:latin typeface="Courier New" pitchFamily="34" charset="0"/>
                <a:ea typeface="Courier New" pitchFamily="34" charset="-122"/>
                <a:cs typeface="Courier New" pitchFamily="34" charset="-120"/>
              </a:rPr>
              <a:t>'\x00'</a:t>
            </a:r>
            <a:r>
              <a:rPr lang="en-US" sz="1000" dirty="0">
                <a:solidFill>
                  <a:srgbClr val="E6EDF3"/>
                </a:solidFill>
                <a:latin typeface="Courier New" pitchFamily="34" charset="0"/>
                <a:ea typeface="Courier New" pitchFamily="34" charset="-122"/>
                <a:cs typeface="Courier New" pitchFamily="34" charset="-120"/>
              </a:rPr>
              <a:t>)</a:t>
            </a:r>
            <a:endParaRPr lang="en-US" sz="1000" dirty="0"/>
          </a:p>
        </p:txBody>
      </p:sp>
      <p:sp>
        <p:nvSpPr>
          <p:cNvPr id="10" name="Shape 8"/>
          <p:cNvSpPr/>
          <p:nvPr/>
        </p:nvSpPr>
        <p:spPr>
          <a:xfrm>
            <a:off x="457200" y="3083357"/>
            <a:ext cx="5074920" cy="641909"/>
          </a:xfrm>
          <a:prstGeom prst="roundRect">
            <a:avLst>
              <a:gd name="adj" fmla="val 11396"/>
            </a:avLst>
          </a:prstGeom>
          <a:solidFill>
            <a:srgbClr val="23272E"/>
          </a:solidFill>
          <a:ln w="12700">
            <a:solidFill>
              <a:srgbClr val="23272E"/>
            </a:solidFill>
            <a:prstDash val="solid"/>
          </a:ln>
        </p:spPr>
      </p:sp>
      <p:sp>
        <p:nvSpPr>
          <p:cNvPr id="11" name="Text 9"/>
          <p:cNvSpPr txBox="1"/>
          <p:nvPr/>
        </p:nvSpPr>
        <p:spPr>
          <a:xfrm>
            <a:off x="603504" y="3156509"/>
            <a:ext cx="4800600" cy="513893"/>
          </a:xfrm>
          <a:prstGeom prst="rect">
            <a:avLst/>
          </a:prstGeom>
          <a:noFill/>
          <a:ln/>
        </p:spPr>
        <p:txBody>
          <a:bodyPr wrap="square" lIns="0" tIns="0" rIns="0" bIns="0" rtlCol="0" anchor="t"/>
          <a:lstStyle/>
          <a:p>
            <a:pPr indent="0" marL="0">
              <a:buNone/>
            </a:pPr>
            <a:r>
              <a:rPr lang="en-US" sz="1000" b="1" dirty="0">
                <a:solidFill>
                  <a:srgbClr val="D97A14"/>
                </a:solidFill>
                <a:latin typeface="Courier New" pitchFamily="34" charset="0"/>
                <a:ea typeface="Courier New" pitchFamily="34" charset="-122"/>
                <a:cs typeface="Courier New" pitchFamily="34" charset="-120"/>
              </a:rPr>
              <a:t>&gt;&gt;&gt; </a:t>
            </a:r>
            <a:r>
              <a:rPr lang="en-US" sz="1000" dirty="0">
                <a:solidFill>
                  <a:srgbClr val="E6EDF3"/>
                </a:solidFill>
                <a:latin typeface="Courier New" pitchFamily="34" charset="0"/>
                <a:ea typeface="Courier New" pitchFamily="34" charset="-122"/>
                <a:cs typeface="Courier New" pitchFamily="34" charset="-120"/>
              </a:rPr>
              <a:t>res = [addr[:</a:t>
            </a:r>
            <a:r>
              <a:rPr lang="en-US" sz="1000" dirty="0">
                <a:solidFill>
                  <a:srgbClr val="FFD28A"/>
                </a:solidFill>
                <a:latin typeface="Courier New" pitchFamily="34" charset="0"/>
                <a:ea typeface="Courier New" pitchFamily="34" charset="-122"/>
                <a:cs typeface="Courier New" pitchFamily="34" charset="-120"/>
              </a:rPr>
              <a:t>6</a:t>
            </a:r>
            <a:r>
              <a:rPr lang="en-US" sz="1000" dirty="0">
                <a:solidFill>
                  <a:srgbClr val="E6EDF3"/>
                </a:solidFill>
                <a:latin typeface="Courier New" pitchFamily="34" charset="0"/>
                <a:ea typeface="Courier New" pitchFamily="34" charset="-122"/>
                <a:cs typeface="Courier New" pitchFamily="34" charset="-120"/>
              </a:rPr>
              <a:t>], len(spk), ok, bad]</a:t>
            </a:r>
            <a:endParaRPr lang="en-US" sz="1000" dirty="0"/>
          </a:p>
          <a:p>
            <a:pPr indent="0" marL="0">
              <a:buNone/>
            </a:pPr>
            <a:r>
              <a:rPr lang="en-US" sz="1000" b="1" dirty="0">
                <a:solidFill>
                  <a:srgbClr val="D97A14"/>
                </a:solidFill>
                <a:latin typeface="Courier New" pitchFamily="34" charset="0"/>
                <a:ea typeface="Courier New" pitchFamily="34" charset="-122"/>
                <a:cs typeface="Courier New" pitchFamily="34" charset="-120"/>
              </a:rPr>
              <a:t>&gt;&gt;&gt; </a:t>
            </a:r>
            <a:r>
              <a:rPr lang="en-US" sz="1000" dirty="0">
                <a:solidFill>
                  <a:srgbClr val="E6EDF3"/>
                </a:solidFill>
                <a:latin typeface="Courier New" pitchFamily="34" charset="0"/>
                <a:ea typeface="Courier New" pitchFamily="34" charset="-122"/>
                <a:cs typeface="Courier New" pitchFamily="34" charset="-120"/>
              </a:rPr>
              <a:t>res</a:t>
            </a:r>
            <a:endParaRPr lang="en-US" sz="1000" dirty="0"/>
          </a:p>
          <a:p>
            <a:pPr indent="0" marL="0">
              <a:buNone/>
            </a:pPr>
            <a:r>
              <a:rPr lang="en-US" sz="1000" dirty="0">
                <a:solidFill>
                  <a:srgbClr val="7EE787"/>
                </a:solidFill>
                <a:latin typeface="Courier New" pitchFamily="34" charset="0"/>
                <a:ea typeface="Courier New" pitchFamily="34" charset="-122"/>
                <a:cs typeface="Courier New" pitchFamily="34" charset="-120"/>
              </a:rPr>
              <a:t>['3BuKam', 23, 'OK', 'EVAL_FALSE']</a:t>
            </a:r>
            <a:endParaRPr lang="en-US" sz="1000" dirty="0"/>
          </a:p>
        </p:txBody>
      </p:sp>
      <p:sp>
        <p:nvSpPr>
          <p:cNvPr id="12" name="Shape 10"/>
          <p:cNvSpPr/>
          <p:nvPr/>
        </p:nvSpPr>
        <p:spPr>
          <a:xfrm>
            <a:off x="365760" y="1252728"/>
            <a:ext cx="237744" cy="237744"/>
          </a:xfrm>
          <a:prstGeom prst="ellipse">
            <a:avLst/>
          </a:prstGeom>
          <a:solidFill>
            <a:srgbClr val="D97A14"/>
          </a:solidFill>
          <a:ln w="12700">
            <a:solidFill>
              <a:srgbClr val="D97A14"/>
            </a:solidFill>
            <a:prstDash val="solid"/>
          </a:ln>
        </p:spPr>
      </p:sp>
      <p:sp>
        <p:nvSpPr>
          <p:cNvPr id="13" name="Text 11"/>
          <p:cNvSpPr txBox="1"/>
          <p:nvPr/>
        </p:nvSpPr>
        <p:spPr>
          <a:xfrm>
            <a:off x="365760" y="1252728"/>
            <a:ext cx="237744" cy="237744"/>
          </a:xfrm>
          <a:prstGeom prst="rect">
            <a:avLst/>
          </a:prstGeom>
          <a:noFill/>
          <a:ln/>
        </p:spPr>
        <p:txBody>
          <a:bodyPr wrap="square" lIns="0" tIns="0" rIns="0" bIns="0" rtlCol="0" anchor="ctr"/>
          <a:lstStyle/>
          <a:p>
            <a:pPr algn="ctr" indent="0" marL="0">
              <a:buNone/>
            </a:pPr>
            <a:r>
              <a:rPr lang="en-US" sz="1100" b="1" dirty="0">
                <a:solidFill>
                  <a:srgbClr val="FFFFFF"/>
                </a:solidFill>
                <a:latin typeface="Cambria" pitchFamily="34" charset="0"/>
                <a:ea typeface="Cambria" pitchFamily="34" charset="-122"/>
                <a:cs typeface="Cambria" pitchFamily="34" charset="-120"/>
              </a:rPr>
              <a:t>1</a:t>
            </a:r>
            <a:endParaRPr lang="en-US" sz="1100" dirty="0"/>
          </a:p>
        </p:txBody>
      </p:sp>
      <p:sp>
        <p:nvSpPr>
          <p:cNvPr id="14" name="Text 12"/>
          <p:cNvSpPr txBox="1"/>
          <p:nvPr/>
        </p:nvSpPr>
        <p:spPr>
          <a:xfrm>
            <a:off x="731520" y="1829714"/>
            <a:ext cx="4800600" cy="210312"/>
          </a:xfrm>
          <a:prstGeom prst="rect">
            <a:avLst/>
          </a:prstGeom>
          <a:noFill/>
          <a:ln/>
        </p:spPr>
        <p:txBody>
          <a:bodyPr wrap="square" lIns="0" tIns="0" rIns="0" bIns="0" rtlCol="0" anchor="t"/>
          <a:lstStyle/>
          <a:p>
            <a:pPr indent="0" marL="0">
              <a:buNone/>
            </a:pPr>
            <a:r>
              <a:rPr lang="en-US" sz="1050" dirty="0">
                <a:solidFill>
                  <a:srgbClr val="2B2622"/>
                </a:solidFill>
                <a:latin typeface="Calibri" pitchFamily="34" charset="0"/>
                <a:ea typeface="Calibri" pitchFamily="34" charset="-122"/>
                <a:cs typeface="Calibri" pitchFamily="34" charset="-120"/>
              </a:rPr>
              <a:t>The lock holds only the 20-byte hash of the script: 23 bytes.</a:t>
            </a:r>
            <a:endParaRPr lang="en-US" sz="1050" dirty="0"/>
          </a:p>
        </p:txBody>
      </p:sp>
      <p:sp>
        <p:nvSpPr>
          <p:cNvPr id="15" name="Shape 13"/>
          <p:cNvSpPr/>
          <p:nvPr/>
        </p:nvSpPr>
        <p:spPr>
          <a:xfrm>
            <a:off x="365760" y="2049170"/>
            <a:ext cx="237744" cy="237744"/>
          </a:xfrm>
          <a:prstGeom prst="ellipse">
            <a:avLst/>
          </a:prstGeom>
          <a:solidFill>
            <a:srgbClr val="D97A14"/>
          </a:solidFill>
          <a:ln w="12700">
            <a:solidFill>
              <a:srgbClr val="D97A14"/>
            </a:solidFill>
            <a:prstDash val="solid"/>
          </a:ln>
        </p:spPr>
      </p:sp>
      <p:sp>
        <p:nvSpPr>
          <p:cNvPr id="16" name="Text 14"/>
          <p:cNvSpPr txBox="1"/>
          <p:nvPr/>
        </p:nvSpPr>
        <p:spPr>
          <a:xfrm>
            <a:off x="365760" y="2049170"/>
            <a:ext cx="237744" cy="237744"/>
          </a:xfrm>
          <a:prstGeom prst="rect">
            <a:avLst/>
          </a:prstGeom>
          <a:noFill/>
          <a:ln/>
        </p:spPr>
        <p:txBody>
          <a:bodyPr wrap="square" lIns="0" tIns="0" rIns="0" bIns="0" rtlCol="0" anchor="ctr"/>
          <a:lstStyle/>
          <a:p>
            <a:pPr algn="ctr" indent="0" marL="0">
              <a:buNone/>
            </a:pPr>
            <a:r>
              <a:rPr lang="en-US" sz="1100" b="1" dirty="0">
                <a:solidFill>
                  <a:srgbClr val="FFFFFF"/>
                </a:solidFill>
                <a:latin typeface="Cambria" pitchFamily="34" charset="0"/>
                <a:ea typeface="Cambria" pitchFamily="34" charset="-122"/>
                <a:cs typeface="Cambria" pitchFamily="34" charset="-120"/>
              </a:rPr>
              <a:t>2</a:t>
            </a:r>
            <a:endParaRPr lang="en-US" sz="1100" dirty="0"/>
          </a:p>
        </p:txBody>
      </p:sp>
      <p:sp>
        <p:nvSpPr>
          <p:cNvPr id="17" name="Text 15"/>
          <p:cNvSpPr txBox="1"/>
          <p:nvPr/>
        </p:nvSpPr>
        <p:spPr>
          <a:xfrm>
            <a:off x="731520" y="2626157"/>
            <a:ext cx="4800600" cy="374904"/>
          </a:xfrm>
          <a:prstGeom prst="rect">
            <a:avLst/>
          </a:prstGeom>
          <a:noFill/>
          <a:ln/>
        </p:spPr>
        <p:txBody>
          <a:bodyPr wrap="square" lIns="0" tIns="0" rIns="0" bIns="0" rtlCol="0" anchor="t"/>
          <a:lstStyle/>
          <a:p>
            <a:pPr indent="0" marL="0">
              <a:buNone/>
            </a:pPr>
            <a:r>
              <a:rPr lang="en-US" sz="1050" dirty="0">
                <a:solidFill>
                  <a:srgbClr val="2B2622"/>
                </a:solidFill>
                <a:latin typeface="Calibri" pitchFamily="34" charset="0"/>
                <a:ea typeface="Calibri" pitchFamily="34" charset="-122"/>
                <a:cs typeface="Calibri" pitchFamily="34" charset="-120"/>
              </a:rPr>
              <a:t>The spender reveals the script; a script that does not hash to the lock fails.</a:t>
            </a:r>
            <a:endParaRPr lang="en-US" sz="1050" dirty="0"/>
          </a:p>
        </p:txBody>
      </p:sp>
      <p:sp>
        <p:nvSpPr>
          <p:cNvPr id="18" name="Shape 16"/>
          <p:cNvSpPr/>
          <p:nvPr/>
        </p:nvSpPr>
        <p:spPr>
          <a:xfrm>
            <a:off x="365760" y="3010205"/>
            <a:ext cx="237744" cy="237744"/>
          </a:xfrm>
          <a:prstGeom prst="ellipse">
            <a:avLst/>
          </a:prstGeom>
          <a:solidFill>
            <a:srgbClr val="D97A14"/>
          </a:solidFill>
          <a:ln w="12700">
            <a:solidFill>
              <a:srgbClr val="D97A14"/>
            </a:solidFill>
            <a:prstDash val="solid"/>
          </a:ln>
        </p:spPr>
      </p:sp>
      <p:sp>
        <p:nvSpPr>
          <p:cNvPr id="19" name="Text 17"/>
          <p:cNvSpPr txBox="1"/>
          <p:nvPr/>
        </p:nvSpPr>
        <p:spPr>
          <a:xfrm>
            <a:off x="365760" y="3010205"/>
            <a:ext cx="237744" cy="237744"/>
          </a:xfrm>
          <a:prstGeom prst="rect">
            <a:avLst/>
          </a:prstGeom>
          <a:noFill/>
          <a:ln/>
        </p:spPr>
        <p:txBody>
          <a:bodyPr wrap="square" lIns="0" tIns="0" rIns="0" bIns="0" rtlCol="0" anchor="ctr"/>
          <a:lstStyle/>
          <a:p>
            <a:pPr algn="ctr" indent="0" marL="0">
              <a:buNone/>
            </a:pPr>
            <a:r>
              <a:rPr lang="en-US" sz="1100" b="1" dirty="0">
                <a:solidFill>
                  <a:srgbClr val="FFFFFF"/>
                </a:solidFill>
                <a:latin typeface="Cambria" pitchFamily="34" charset="0"/>
                <a:ea typeface="Cambria" pitchFamily="34" charset="-122"/>
                <a:cs typeface="Cambria" pitchFamily="34" charset="-120"/>
              </a:rPr>
              <a:t>3</a:t>
            </a:r>
            <a:endParaRPr lang="en-US" sz="1100" dirty="0"/>
          </a:p>
        </p:txBody>
      </p:sp>
      <p:sp>
        <p:nvSpPr>
          <p:cNvPr id="20" name="Text 18"/>
          <p:cNvSpPr txBox="1"/>
          <p:nvPr/>
        </p:nvSpPr>
        <p:spPr>
          <a:xfrm>
            <a:off x="731520" y="3752698"/>
            <a:ext cx="4800600" cy="210312"/>
          </a:xfrm>
          <a:prstGeom prst="rect">
            <a:avLst/>
          </a:prstGeom>
          <a:noFill/>
          <a:ln/>
        </p:spPr>
        <p:txBody>
          <a:bodyPr wrap="square" lIns="0" tIns="0" rIns="0" bIns="0" rtlCol="0" anchor="t"/>
          <a:lstStyle/>
          <a:p>
            <a:pPr indent="0" marL="0">
              <a:buNone/>
            </a:pPr>
            <a:r>
              <a:rPr lang="en-US" sz="1050" dirty="0">
                <a:solidFill>
                  <a:srgbClr val="2B2622"/>
                </a:solidFill>
                <a:latin typeface="Calibri" pitchFamily="34" charset="0"/>
                <a:ea typeface="Calibri" pitchFamily="34" charset="-122"/>
                <a:cs typeface="Calibri" pitchFamily="34" charset="-120"/>
              </a:rPr>
              <a:t>Addresses of this kind start with a 3.</a:t>
            </a:r>
            <a:endParaRPr lang="en-US" sz="1050" dirty="0"/>
          </a:p>
        </p:txBody>
      </p:sp>
      <p:sp>
        <p:nvSpPr>
          <p:cNvPr id="21" name="Text 19"/>
          <p:cNvSpPr txBox="1"/>
          <p:nvPr/>
        </p:nvSpPr>
        <p:spPr>
          <a:xfrm>
            <a:off x="457200" y="4008730"/>
            <a:ext cx="5074920" cy="182880"/>
          </a:xfrm>
          <a:prstGeom prst="rect">
            <a:avLst/>
          </a:prstGeom>
          <a:noFill/>
          <a:ln/>
        </p:spPr>
        <p:txBody>
          <a:bodyPr wrap="square" lIns="0" tIns="0" rIns="0" bIns="0" rtlCol="0" anchor="ctr"/>
          <a:lstStyle/>
          <a:p>
            <a:pPr algn="l" indent="0" marL="0">
              <a:buNone/>
            </a:pPr>
            <a:r>
              <a:rPr lang="en-US" sz="900" i="1" dirty="0">
                <a:solidFill>
                  <a:srgbClr val="6E655C"/>
                </a:solidFill>
                <a:latin typeface="Calibri" pitchFamily="34" charset="0"/>
                <a:ea typeface="Calibri" pitchFamily="34" charset="-122"/>
                <a:cs typeface="Calibri" pitchFamily="34" charset="-120"/>
              </a:rPr>
              <a:t>run under Python 3.14.6 - L, K and the chapter setup as on slide 7</a:t>
            </a:r>
            <a:endParaRPr lang="en-US" sz="900" dirty="0"/>
          </a:p>
        </p:txBody>
      </p:sp>
      <p:sp>
        <p:nvSpPr>
          <p:cNvPr id="22" name="Text 20"/>
          <p:cNvSpPr txBox="1"/>
          <p:nvPr/>
        </p:nvSpPr>
        <p:spPr>
          <a:xfrm>
            <a:off x="5715000" y="1325880"/>
            <a:ext cx="2971800" cy="402336"/>
          </a:xfrm>
          <a:prstGeom prst="rect">
            <a:avLst/>
          </a:prstGeom>
          <a:noFill/>
          <a:ln/>
        </p:spPr>
        <p:txBody>
          <a:bodyPr wrap="square" lIns="0" tIns="0" rIns="0" bIns="0" rtlCol="0" anchor="t"/>
          <a:lstStyle/>
          <a:p>
            <a:pPr algn="l" indent="0" marL="0">
              <a:buNone/>
            </a:pPr>
            <a:r>
              <a:rPr lang="en-US" sz="1100" b="1" dirty="0">
                <a:solidFill>
                  <a:srgbClr val="6E655C"/>
                </a:solidFill>
                <a:latin typeface="Calibri" pitchFamily="34" charset="0"/>
                <a:ea typeface="Calibri" pitchFamily="34" charset="-122"/>
                <a:cs typeface="Calibri" pitchFamily="34" charset="-120"/>
              </a:rPr>
              <a:t>Result: the hash lock and two reveals</a:t>
            </a:r>
            <a:endParaRPr lang="en-US" sz="11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715000" y="1773936"/>
          <a:ext cx="2971800" cy="914400"/>
        </p:xfrm>
        <a:graphic>
          <a:graphicData uri="http://schemas.openxmlformats.org/drawingml/2006/table">
            <a:tbl>
              <a:tblPr/>
              <a:tblGrid>
                <a:gridCol w="1463040"/>
                <a:gridCol w="1508760"/>
              </a:tblGrid>
              <a:tr h="274320">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Quantity</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solidFill>
                      <a:srgbClr val="2B2622"/>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Result</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solidFill>
                      <a:srgbClr val="2B2622"/>
                    </a:solidFill>
                  </a:tcPr>
                </a:tc>
              </a:tr>
              <a:tr h="274320">
                <a:tc>
                  <a:txBody>
                    <a:bodyPr/>
                    <a:lstStyle/>
                    <a:p>
                      <a:pPr indent="0" marL="0">
                        <a:buNone/>
                      </a:pPr>
                      <a:r>
                        <a:rPr lang="en-US" sz="950" dirty="0">
                          <a:solidFill>
                            <a:srgbClr val="2B2622"/>
                          </a:solidFill>
                          <a:latin typeface="Calibri" pitchFamily="34" charset="0"/>
                          <a:ea typeface="Calibri" pitchFamily="34" charset="-122"/>
                          <a:cs typeface="Calibri" pitchFamily="34" charset="-120"/>
                        </a:rPr>
                        <a:t>Address begins</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c>
                  <a:txBody>
                    <a:bodyPr/>
                    <a:lstStyle/>
                    <a:p>
                      <a:pPr indent="0" marL="0">
                        <a:buNone/>
                      </a:pPr>
                      <a:r>
                        <a:rPr lang="en-US" sz="950" dirty="0">
                          <a:solidFill>
                            <a:srgbClr val="2B2622"/>
                          </a:solidFill>
                          <a:latin typeface="Calibri" pitchFamily="34" charset="0"/>
                          <a:ea typeface="Calibri" pitchFamily="34" charset="-122"/>
                          <a:cs typeface="Calibri" pitchFamily="34" charset="-120"/>
                        </a:rPr>
                        <a:t>3BuKam</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r>
              <a:tr h="274320">
                <a:tc>
                  <a:txBody>
                    <a:bodyPr/>
                    <a:lstStyle/>
                    <a:p>
                      <a:pPr indent="0" marL="0">
                        <a:buNone/>
                      </a:pPr>
                      <a:r>
                        <a:rPr lang="en-US" sz="950" dirty="0">
                          <a:solidFill>
                            <a:srgbClr val="2B2622"/>
                          </a:solidFill>
                          <a:latin typeface="Calibri" pitchFamily="34" charset="0"/>
                          <a:ea typeface="Calibri" pitchFamily="34" charset="-122"/>
                          <a:cs typeface="Calibri" pitchFamily="34" charset="-120"/>
                        </a:rPr>
                        <a:t>Lock, bytes</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c>
                  <a:txBody>
                    <a:bodyPr/>
                    <a:lstStyle/>
                    <a:p>
                      <a:pPr indent="0" marL="0">
                        <a:buNone/>
                      </a:pPr>
                      <a:r>
                        <a:rPr lang="en-US" sz="950" dirty="0">
                          <a:solidFill>
                            <a:srgbClr val="2B2622"/>
                          </a:solidFill>
                          <a:latin typeface="Calibri" pitchFamily="34" charset="0"/>
                          <a:ea typeface="Calibri" pitchFamily="34" charset="-122"/>
                          <a:cs typeface="Calibri" pitchFamily="34" charset="-120"/>
                        </a:rPr>
                        <a:t>23</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r>
              <a:tr h="274320">
                <a:tc>
                  <a:txBody>
                    <a:bodyPr/>
                    <a:lstStyle/>
                    <a:p>
                      <a:pPr indent="0" marL="0">
                        <a:buNone/>
                      </a:pPr>
                      <a:r>
                        <a:rPr lang="en-US" sz="950" dirty="0">
                          <a:solidFill>
                            <a:srgbClr val="2B2622"/>
                          </a:solidFill>
                          <a:latin typeface="Calibri" pitchFamily="34" charset="0"/>
                          <a:ea typeface="Calibri" pitchFamily="34" charset="-122"/>
                          <a:cs typeface="Calibri" pitchFamily="34" charset="-120"/>
                        </a:rPr>
                        <a:t>Right script shown</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c>
                  <a:txBody>
                    <a:bodyPr/>
                    <a:lstStyle/>
                    <a:p>
                      <a:pPr indent="0" marL="0">
                        <a:buNone/>
                      </a:pPr>
                      <a:r>
                        <a:rPr lang="en-US" sz="950" dirty="0">
                          <a:solidFill>
                            <a:srgbClr val="2B2622"/>
                          </a:solidFill>
                          <a:latin typeface="Calibri" pitchFamily="34" charset="0"/>
                          <a:ea typeface="Calibri" pitchFamily="34" charset="-122"/>
                          <a:cs typeface="Calibri" pitchFamily="34" charset="-120"/>
                        </a:rPr>
                        <a:t>OK</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r>
              <a:tr h="274320">
                <a:tc>
                  <a:txBody>
                    <a:bodyPr/>
                    <a:lstStyle/>
                    <a:p>
                      <a:pPr indent="0" marL="0">
                        <a:buNone/>
                      </a:pPr>
                      <a:r>
                        <a:rPr lang="en-US" sz="950" dirty="0">
                          <a:solidFill>
                            <a:srgbClr val="2B2622"/>
                          </a:solidFill>
                          <a:latin typeface="Calibri" pitchFamily="34" charset="0"/>
                          <a:ea typeface="Calibri" pitchFamily="34" charset="-122"/>
                          <a:cs typeface="Calibri" pitchFamily="34" charset="-120"/>
                        </a:rPr>
                        <a:t>Other script shown</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c>
                  <a:txBody>
                    <a:bodyPr/>
                    <a:lstStyle/>
                    <a:p>
                      <a:pPr indent="0" marL="0">
                        <a:buNone/>
                      </a:pPr>
                      <a:r>
                        <a:rPr lang="en-US" sz="950" dirty="0">
                          <a:solidFill>
                            <a:srgbClr val="2B2622"/>
                          </a:solidFill>
                          <a:latin typeface="Calibri" pitchFamily="34" charset="0"/>
                          <a:ea typeface="Calibri" pitchFamily="34" charset="-122"/>
                          <a:cs typeface="Calibri" pitchFamily="34" charset="-120"/>
                        </a:rPr>
                        <a:t>EVAL_FALSE</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r>
            </a:tbl>
          </a:graphicData>
        </a:graphic>
      </p:graphicFrame>
      <p:sp>
        <p:nvSpPr>
          <p:cNvPr id="24" name="Text 21"/>
          <p:cNvSpPr txBox="1"/>
          <p:nvPr/>
        </p:nvSpPr>
        <p:spPr>
          <a:xfrm>
            <a:off x="5715000" y="3419856"/>
            <a:ext cx="2971800" cy="603504"/>
          </a:xfrm>
          <a:prstGeom prst="rect">
            <a:avLst/>
          </a:prstGeom>
          <a:noFill/>
          <a:ln/>
        </p:spPr>
        <p:txBody>
          <a:bodyPr wrap="square" lIns="0" tIns="0" rIns="0" bIns="0" rtlCol="0" anchor="t"/>
          <a:lstStyle/>
          <a:p>
            <a:pPr algn="l" indent="0" marL="0">
              <a:buNone/>
            </a:pPr>
            <a:r>
              <a:rPr lang="en-US" sz="1150" i="1" dirty="0">
                <a:solidFill>
                  <a:srgbClr val="2B2622"/>
                </a:solidFill>
                <a:latin typeface="Calibri" pitchFamily="34" charset="0"/>
                <a:ea typeface="Calibri" pitchFamily="34" charset="-122"/>
                <a:cs typeface="Calibri" pitchFamily="34" charset="-120"/>
              </a:rPr>
              <a:t>The lock is 23 bytes however long the script is. A script that does not match the hash fails.</a:t>
            </a:r>
            <a:endParaRPr lang="en-US" sz="1150" dirty="0"/>
          </a:p>
        </p:txBody>
      </p:sp>
      <p:sp>
        <p:nvSpPr>
          <p:cNvPr id="25" name="Shape 22"/>
          <p:cNvSpPr/>
          <p:nvPr/>
        </p:nvSpPr>
        <p:spPr>
          <a:xfrm>
            <a:off x="457200" y="4636008"/>
            <a:ext cx="91440" cy="310896"/>
          </a:xfrm>
          <a:prstGeom prst="rect">
            <a:avLst/>
          </a:prstGeom>
          <a:solidFill>
            <a:srgbClr val="D97A14"/>
          </a:solidFill>
          <a:ln w="12700">
            <a:solidFill>
              <a:srgbClr val="D97A14"/>
            </a:solidFill>
            <a:prstDash val="solid"/>
          </a:ln>
        </p:spPr>
      </p:sp>
      <p:sp>
        <p:nvSpPr>
          <p:cNvPr id="26" name="Text 23"/>
          <p:cNvSpPr txBox="1"/>
          <p:nvPr/>
        </p:nvSpPr>
        <p:spPr>
          <a:xfrm>
            <a:off x="658368" y="4599432"/>
            <a:ext cx="6949440" cy="384048"/>
          </a:xfrm>
          <a:prstGeom prst="rect">
            <a:avLst/>
          </a:prstGeom>
          <a:noFill/>
          <a:ln/>
        </p:spPr>
        <p:txBody>
          <a:bodyPr wrap="square" lIns="0" tIns="0" rIns="0" bIns="0" rtlCol="0" anchor="ctr"/>
          <a:lstStyle/>
          <a:p>
            <a:pPr indent="0" marL="0">
              <a:buNone/>
            </a:pPr>
            <a:r>
              <a:rPr lang="en-US" sz="1350" b="1" i="1" dirty="0">
                <a:solidFill>
                  <a:srgbClr val="2B2622"/>
                </a:solidFill>
                <a:latin typeface="Cambria" pitchFamily="34" charset="0"/>
                <a:ea typeface="Cambria" pitchFamily="34" charset="-122"/>
                <a:cs typeface="Cambria" pitchFamily="34" charset="-120"/>
              </a:rPr>
              <a:t>The long lock moves from the payer to the spender</a:t>
            </a:r>
            <a:endParaRPr lang="en-US" sz="1350" dirty="0"/>
          </a:p>
        </p:txBody>
      </p:sp>
      <p:sp>
        <p:nvSpPr>
          <p:cNvPr id="27" name="Text 24"/>
          <p:cNvSpPr txBox="1"/>
          <p:nvPr/>
        </p:nvSpPr>
        <p:spPr>
          <a:xfrm>
            <a:off x="7863840" y="4645152"/>
            <a:ext cx="868680" cy="310896"/>
          </a:xfrm>
          <a:prstGeom prst="rect">
            <a:avLst/>
          </a:prstGeom>
          <a:noFill/>
          <a:ln/>
        </p:spPr>
        <p:txBody>
          <a:bodyPr wrap="square" lIns="0" tIns="0" rIns="0" bIns="0" rtlCol="0" anchor="ctr"/>
          <a:lstStyle/>
          <a:p>
            <a:pPr algn="r" indent="0" marL="0">
              <a:buNone/>
            </a:pPr>
            <a:r>
              <a:rPr lang="en-US" sz="1100" dirty="0">
                <a:solidFill>
                  <a:srgbClr val="6E655C"/>
                </a:solidFill>
                <a:latin typeface="Calibri" pitchFamily="34" charset="0"/>
                <a:ea typeface="Calibri" pitchFamily="34" charset="-122"/>
                <a:cs typeface="Calibri" pitchFamily="34" charset="-120"/>
              </a:rPr>
              <a:t>25 / 61</a:t>
            </a:r>
            <a:endParaRPr lang="en-US" sz="11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AF6EF"/>
        </a:solidFill>
      </p:bgPr>
    </p:bg>
    <p:spTree>
      <p:nvGrpSpPr>
        <p:cNvPr id="1" name=""/>
        <p:cNvGrpSpPr/>
        <p:nvPr/>
      </p:nvGrpSpPr>
      <p:grpSpPr>
        <a:xfrm>
          <a:off x="0" y="0"/>
          <a:ext cx="0" cy="0"/>
          <a:chOff x="0" y="0"/>
          <a:chExt cx="0" cy="0"/>
        </a:xfrm>
      </p:grpSpPr>
      <p:sp>
        <p:nvSpPr>
          <p:cNvPr id="2" name="Shape 0"/>
          <p:cNvSpPr/>
          <p:nvPr/>
        </p:nvSpPr>
        <p:spPr>
          <a:xfrm>
            <a:off x="457200" y="347472"/>
            <a:ext cx="566928" cy="384048"/>
          </a:xfrm>
          <a:prstGeom prst="roundRect">
            <a:avLst>
              <a:gd name="adj" fmla="val 19048"/>
            </a:avLst>
          </a:prstGeom>
          <a:solidFill>
            <a:srgbClr val="D97A14"/>
          </a:solidFill>
          <a:ln w="12700">
            <a:solidFill>
              <a:srgbClr val="D97A14"/>
            </a:solidFill>
            <a:prstDash val="solid"/>
          </a:ln>
        </p:spPr>
      </p:sp>
      <p:sp>
        <p:nvSpPr>
          <p:cNvPr id="3" name="Text 1"/>
          <p:cNvSpPr txBox="1"/>
          <p:nvPr/>
        </p:nvSpPr>
        <p:spPr>
          <a:xfrm>
            <a:off x="457200" y="347472"/>
            <a:ext cx="56692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4" name="Text 2"/>
          <p:cNvSpPr txBox="1"/>
          <p:nvPr/>
        </p:nvSpPr>
        <p:spPr>
          <a:xfrm>
            <a:off x="1143000" y="237744"/>
            <a:ext cx="7543800" cy="566928"/>
          </a:xfrm>
          <a:prstGeom prst="rect">
            <a:avLst/>
          </a:prstGeom>
          <a:noFill/>
          <a:ln/>
        </p:spPr>
        <p:txBody>
          <a:bodyPr wrap="square" lIns="0" tIns="0" rIns="0" bIns="0" rtlCol="0" anchor="ctr"/>
          <a:lstStyle/>
          <a:p>
            <a:pPr indent="0" marL="0">
              <a:buNone/>
            </a:pPr>
            <a:r>
              <a:rPr lang="en-US" sz="2500" b="1" dirty="0">
                <a:solidFill>
                  <a:srgbClr val="2B2622"/>
                </a:solidFill>
                <a:latin typeface="Cambria" pitchFamily="34" charset="0"/>
                <a:ea typeface="Cambria" pitchFamily="34" charset="-122"/>
                <a:cs typeface="Cambria" pitchFamily="34" charset="-120"/>
              </a:rPr>
              <a:t>Pay to script hash: concepts (2 of 2)</a:t>
            </a:r>
            <a:endParaRPr lang="en-US" sz="2500" dirty="0"/>
          </a:p>
        </p:txBody>
      </p:sp>
      <p:sp>
        <p:nvSpPr>
          <p:cNvPr id="5" name="Text 3"/>
          <p:cNvSpPr txBox="1"/>
          <p:nvPr/>
        </p:nvSpPr>
        <p:spPr>
          <a:xfrm>
            <a:off x="1143000" y="786384"/>
            <a:ext cx="7543800" cy="310896"/>
          </a:xfrm>
          <a:prstGeom prst="rect">
            <a:avLst/>
          </a:prstGeom>
          <a:noFill/>
          <a:ln/>
        </p:spPr>
        <p:txBody>
          <a:bodyPr wrap="square" lIns="0" tIns="0" rIns="0" bIns="0" rtlCol="0" anchor="ctr"/>
          <a:lstStyle/>
          <a:p>
            <a:pPr indent="0" marL="0">
              <a:buNone/>
            </a:pPr>
            <a:r>
              <a:rPr lang="en-US" sz="1300" i="1" dirty="0">
                <a:solidFill>
                  <a:srgbClr val="6E655C"/>
                </a:solidFill>
                <a:latin typeface="Calibri" pitchFamily="34" charset="0"/>
                <a:ea typeface="Calibri" pitchFamily="34" charset="-122"/>
                <a:cs typeface="Calibri" pitchFamily="34" charset="-120"/>
              </a:rPr>
              <a:t>Each card: the meaning in a few words, then something you already know</a:t>
            </a:r>
            <a:endParaRPr lang="en-US" sz="1300" dirty="0"/>
          </a:p>
        </p:txBody>
      </p:sp>
      <p:sp>
        <p:nvSpPr>
          <p:cNvPr id="6" name="Shape 4"/>
          <p:cNvSpPr/>
          <p:nvPr/>
        </p:nvSpPr>
        <p:spPr>
          <a:xfrm>
            <a:off x="457200" y="1280160"/>
            <a:ext cx="2645664" cy="1719072"/>
          </a:xfrm>
          <a:prstGeom prst="roundRect">
            <a:avLst>
              <a:gd name="adj" fmla="val 4255"/>
            </a:avLst>
          </a:prstGeom>
          <a:solidFill>
            <a:srgbClr val="F2ECE1"/>
          </a:solidFill>
          <a:ln w="12700">
            <a:solidFill>
              <a:srgbClr val="DFD6C7"/>
            </a:solidFill>
            <a:prstDash val="solid"/>
          </a:ln>
        </p:spPr>
      </p:sp>
      <p:sp>
        <p:nvSpPr>
          <p:cNvPr id="7" name="Shape 5"/>
          <p:cNvSpPr/>
          <p:nvPr/>
        </p:nvSpPr>
        <p:spPr>
          <a:xfrm>
            <a:off x="475488" y="1408176"/>
            <a:ext cx="64008" cy="1463040"/>
          </a:xfrm>
          <a:prstGeom prst="rect">
            <a:avLst/>
          </a:prstGeom>
          <a:solidFill>
            <a:srgbClr val="D97A14"/>
          </a:solidFill>
          <a:ln w="12700">
            <a:solidFill>
              <a:srgbClr val="D97A14"/>
            </a:solidFill>
            <a:prstDash val="solid"/>
          </a:ln>
        </p:spPr>
      </p:sp>
      <p:sp>
        <p:nvSpPr>
          <p:cNvPr id="8" name="Text 6"/>
          <p:cNvSpPr txBox="1"/>
          <p:nvPr/>
        </p:nvSpPr>
        <p:spPr>
          <a:xfrm>
            <a:off x="640080" y="1344168"/>
            <a:ext cx="2371344" cy="992124"/>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Redeem Script and Validation</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The spender reveals the script; nodes hash it and then run it.</a:t>
            </a:r>
            <a:endParaRPr lang="en-US" sz="1300" dirty="0"/>
          </a:p>
        </p:txBody>
      </p:sp>
      <p:sp>
        <p:nvSpPr>
          <p:cNvPr id="9" name="Text 7"/>
          <p:cNvSpPr txBox="1"/>
          <p:nvPr/>
        </p:nvSpPr>
        <p:spPr>
          <a:xfrm>
            <a:off x="640080" y="2363724"/>
            <a:ext cx="2371344" cy="571500"/>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opening the envelope at the counter so the clerk can read it.</a:t>
            </a:r>
            <a:endParaRPr lang="en-US" sz="1150" dirty="0"/>
          </a:p>
        </p:txBody>
      </p:sp>
      <p:sp>
        <p:nvSpPr>
          <p:cNvPr id="10" name="Shape 8"/>
          <p:cNvSpPr/>
          <p:nvPr/>
        </p:nvSpPr>
        <p:spPr>
          <a:xfrm>
            <a:off x="3249168" y="1280160"/>
            <a:ext cx="2645664" cy="1719072"/>
          </a:xfrm>
          <a:prstGeom prst="roundRect">
            <a:avLst>
              <a:gd name="adj" fmla="val 4255"/>
            </a:avLst>
          </a:prstGeom>
          <a:solidFill>
            <a:srgbClr val="F2ECE1"/>
          </a:solidFill>
          <a:ln w="12700">
            <a:solidFill>
              <a:srgbClr val="DFD6C7"/>
            </a:solidFill>
            <a:prstDash val="solid"/>
          </a:ln>
        </p:spPr>
      </p:sp>
      <p:sp>
        <p:nvSpPr>
          <p:cNvPr id="11" name="Shape 9"/>
          <p:cNvSpPr/>
          <p:nvPr/>
        </p:nvSpPr>
        <p:spPr>
          <a:xfrm>
            <a:off x="3267456" y="1408176"/>
            <a:ext cx="64008" cy="1463040"/>
          </a:xfrm>
          <a:prstGeom prst="rect">
            <a:avLst/>
          </a:prstGeom>
          <a:solidFill>
            <a:srgbClr val="D97A14"/>
          </a:solidFill>
          <a:ln w="12700">
            <a:solidFill>
              <a:srgbClr val="D97A14"/>
            </a:solidFill>
            <a:prstDash val="solid"/>
          </a:ln>
        </p:spPr>
      </p:sp>
      <p:sp>
        <p:nvSpPr>
          <p:cNvPr id="12" name="Text 10"/>
          <p:cNvSpPr txBox="1"/>
          <p:nvPr/>
        </p:nvSpPr>
        <p:spPr>
          <a:xfrm>
            <a:off x="3432048" y="1344168"/>
            <a:ext cx="2371344" cy="612648"/>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redeem script</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The script whose hash locked the coin.</a:t>
            </a:r>
            <a:endParaRPr lang="en-US" sz="1300" dirty="0"/>
          </a:p>
        </p:txBody>
      </p:sp>
      <p:sp>
        <p:nvSpPr>
          <p:cNvPr id="13" name="Text 11"/>
          <p:cNvSpPr txBox="1"/>
          <p:nvPr/>
        </p:nvSpPr>
        <p:spPr>
          <a:xfrm>
            <a:off x="3432048" y="1984248"/>
            <a:ext cx="2371344" cy="393192"/>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the letter inside the sealed envelope.</a:t>
            </a:r>
            <a:endParaRPr lang="en-US" sz="1150" dirty="0"/>
          </a:p>
        </p:txBody>
      </p:sp>
      <p:sp>
        <p:nvSpPr>
          <p:cNvPr id="14" name="Shape 12"/>
          <p:cNvSpPr/>
          <p:nvPr/>
        </p:nvSpPr>
        <p:spPr>
          <a:xfrm>
            <a:off x="6041136" y="1280160"/>
            <a:ext cx="2645664" cy="1719072"/>
          </a:xfrm>
          <a:prstGeom prst="roundRect">
            <a:avLst>
              <a:gd name="adj" fmla="val 4255"/>
            </a:avLst>
          </a:prstGeom>
          <a:solidFill>
            <a:srgbClr val="F2ECE1"/>
          </a:solidFill>
          <a:ln w="12700">
            <a:solidFill>
              <a:srgbClr val="DFD6C7"/>
            </a:solidFill>
            <a:prstDash val="solid"/>
          </a:ln>
        </p:spPr>
      </p:sp>
      <p:sp>
        <p:nvSpPr>
          <p:cNvPr id="15" name="Shape 13"/>
          <p:cNvSpPr/>
          <p:nvPr/>
        </p:nvSpPr>
        <p:spPr>
          <a:xfrm>
            <a:off x="6059424" y="1408176"/>
            <a:ext cx="64008" cy="1463040"/>
          </a:xfrm>
          <a:prstGeom prst="rect">
            <a:avLst/>
          </a:prstGeom>
          <a:solidFill>
            <a:srgbClr val="D97A14"/>
          </a:solidFill>
          <a:ln w="12700">
            <a:solidFill>
              <a:srgbClr val="D97A14"/>
            </a:solidFill>
            <a:prstDash val="solid"/>
          </a:ln>
        </p:spPr>
      </p:sp>
      <p:sp>
        <p:nvSpPr>
          <p:cNvPr id="16" name="Text 14"/>
          <p:cNvSpPr txBox="1"/>
          <p:nvPr/>
        </p:nvSpPr>
        <p:spPr>
          <a:xfrm>
            <a:off x="6224016" y="1344168"/>
            <a:ext cx="2371344" cy="612648"/>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P2SH address</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One such address, written in Base58Check with a checksum.</a:t>
            </a:r>
            <a:endParaRPr lang="en-US" sz="1300" dirty="0"/>
          </a:p>
        </p:txBody>
      </p:sp>
      <p:sp>
        <p:nvSpPr>
          <p:cNvPr id="17" name="Text 15"/>
          <p:cNvSpPr txBox="1"/>
          <p:nvPr/>
        </p:nvSpPr>
        <p:spPr>
          <a:xfrm>
            <a:off x="6224016" y="1984248"/>
            <a:ext cx="2371344" cy="393192"/>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one box number with a check digit.</a:t>
            </a:r>
            <a:endParaRPr lang="en-US" sz="1150" dirty="0"/>
          </a:p>
        </p:txBody>
      </p:sp>
      <p:sp>
        <p:nvSpPr>
          <p:cNvPr id="18" name="Shape 16"/>
          <p:cNvSpPr/>
          <p:nvPr/>
        </p:nvSpPr>
        <p:spPr>
          <a:xfrm>
            <a:off x="457200" y="4636008"/>
            <a:ext cx="91440" cy="310896"/>
          </a:xfrm>
          <a:prstGeom prst="rect">
            <a:avLst/>
          </a:prstGeom>
          <a:solidFill>
            <a:srgbClr val="D97A14"/>
          </a:solidFill>
          <a:ln w="12700">
            <a:solidFill>
              <a:srgbClr val="D97A14"/>
            </a:solidFill>
            <a:prstDash val="solid"/>
          </a:ln>
        </p:spPr>
      </p:sp>
      <p:sp>
        <p:nvSpPr>
          <p:cNvPr id="19" name="Text 17"/>
          <p:cNvSpPr txBox="1"/>
          <p:nvPr/>
        </p:nvSpPr>
        <p:spPr>
          <a:xfrm>
            <a:off x="658368" y="4599432"/>
            <a:ext cx="6949440" cy="384048"/>
          </a:xfrm>
          <a:prstGeom prst="rect">
            <a:avLst/>
          </a:prstGeom>
          <a:noFill/>
          <a:ln/>
        </p:spPr>
        <p:txBody>
          <a:bodyPr wrap="square" lIns="0" tIns="0" rIns="0" bIns="0" rtlCol="0" anchor="ctr"/>
          <a:lstStyle/>
          <a:p>
            <a:pPr indent="0" marL="0">
              <a:buNone/>
            </a:pPr>
            <a:r>
              <a:rPr lang="en-US" sz="1350" b="1" i="1" dirty="0">
                <a:solidFill>
                  <a:srgbClr val="2B2622"/>
                </a:solidFill>
                <a:latin typeface="Cambria" pitchFamily="34" charset="0"/>
                <a:ea typeface="Cambria" pitchFamily="34" charset="-122"/>
                <a:cs typeface="Cambria" pitchFamily="34" charset="-120"/>
              </a:rPr>
              <a:t>Say each idea twice: once as the meaning, once as the everyday comparison</a:t>
            </a:r>
            <a:endParaRPr lang="en-US" sz="1350" dirty="0"/>
          </a:p>
        </p:txBody>
      </p:sp>
      <p:sp>
        <p:nvSpPr>
          <p:cNvPr id="20" name="Text 18"/>
          <p:cNvSpPr txBox="1"/>
          <p:nvPr/>
        </p:nvSpPr>
        <p:spPr>
          <a:xfrm>
            <a:off x="7863840" y="4645152"/>
            <a:ext cx="868680" cy="310896"/>
          </a:xfrm>
          <a:prstGeom prst="rect">
            <a:avLst/>
          </a:prstGeom>
          <a:noFill/>
          <a:ln/>
        </p:spPr>
        <p:txBody>
          <a:bodyPr wrap="square" lIns="0" tIns="0" rIns="0" bIns="0" rtlCol="0" anchor="ctr"/>
          <a:lstStyle/>
          <a:p>
            <a:pPr algn="r" indent="0" marL="0">
              <a:buNone/>
            </a:pPr>
            <a:r>
              <a:rPr lang="en-US" sz="1100" dirty="0">
                <a:solidFill>
                  <a:srgbClr val="6E655C"/>
                </a:solidFill>
                <a:latin typeface="Calibri" pitchFamily="34" charset="0"/>
                <a:ea typeface="Calibri" pitchFamily="34" charset="-122"/>
                <a:cs typeface="Calibri" pitchFamily="34" charset="-120"/>
              </a:rPr>
              <a:t>26 / 61</a:t>
            </a:r>
            <a:endParaRPr lang="en-US" sz="11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AF6EF"/>
        </a:solidFill>
      </p:bgPr>
    </p:bg>
    <p:spTree>
      <p:nvGrpSpPr>
        <p:cNvPr id="1" name=""/>
        <p:cNvGrpSpPr/>
        <p:nvPr/>
      </p:nvGrpSpPr>
      <p:grpSpPr>
        <a:xfrm>
          <a:off x="0" y="0"/>
          <a:ext cx="0" cy="0"/>
          <a:chOff x="0" y="0"/>
          <a:chExt cx="0" cy="0"/>
        </a:xfrm>
      </p:grpSpPr>
      <p:sp>
        <p:nvSpPr>
          <p:cNvPr id="2" name="Shape 0"/>
          <p:cNvSpPr/>
          <p:nvPr/>
        </p:nvSpPr>
        <p:spPr>
          <a:xfrm>
            <a:off x="0" y="0"/>
            <a:ext cx="9144000" cy="219456"/>
          </a:xfrm>
          <a:prstGeom prst="rect">
            <a:avLst/>
          </a:prstGeom>
          <a:solidFill>
            <a:srgbClr val="D97A14"/>
          </a:solidFill>
          <a:ln w="12700">
            <a:solidFill>
              <a:srgbClr val="D97A14"/>
            </a:solidFill>
            <a:prstDash val="solid"/>
          </a:ln>
        </p:spPr>
      </p:sp>
      <p:sp>
        <p:nvSpPr>
          <p:cNvPr id="3" name="Shape 1"/>
          <p:cNvSpPr/>
          <p:nvPr/>
        </p:nvSpPr>
        <p:spPr>
          <a:xfrm>
            <a:off x="457200" y="960120"/>
            <a:ext cx="128016" cy="1417320"/>
          </a:xfrm>
          <a:prstGeom prst="rect">
            <a:avLst/>
          </a:prstGeom>
          <a:solidFill>
            <a:srgbClr val="D97A14"/>
          </a:solidFill>
          <a:ln w="12700">
            <a:solidFill>
              <a:srgbClr val="D97A14"/>
            </a:solidFill>
            <a:prstDash val="solid"/>
          </a:ln>
        </p:spPr>
      </p:sp>
      <p:sp>
        <p:nvSpPr>
          <p:cNvPr id="4" name="Text 2"/>
          <p:cNvSpPr txBox="1"/>
          <p:nvPr/>
        </p:nvSpPr>
        <p:spPr>
          <a:xfrm>
            <a:off x="777240" y="932688"/>
            <a:ext cx="7863840" cy="658368"/>
          </a:xfrm>
          <a:prstGeom prst="rect">
            <a:avLst/>
          </a:prstGeom>
          <a:noFill/>
          <a:ln/>
        </p:spPr>
        <p:txBody>
          <a:bodyPr wrap="square" lIns="0" tIns="0" rIns="0" bIns="0" rtlCol="0" anchor="ctr"/>
          <a:lstStyle/>
          <a:p>
            <a:pPr indent="0" marL="0">
              <a:buNone/>
            </a:pPr>
            <a:r>
              <a:rPr lang="en-US" sz="3200" b="1" dirty="0">
                <a:solidFill>
                  <a:srgbClr val="2B2622"/>
                </a:solidFill>
                <a:latin typeface="Cambria" pitchFamily="34" charset="0"/>
                <a:ea typeface="Cambria" pitchFamily="34" charset="-122"/>
                <a:cs typeface="Cambria" pitchFamily="34" charset="-120"/>
              </a:rPr>
              <a:t>Data and timelocks</a:t>
            </a:r>
            <a:endParaRPr lang="en-US" sz="3200" dirty="0"/>
          </a:p>
        </p:txBody>
      </p:sp>
      <p:sp>
        <p:nvSpPr>
          <p:cNvPr id="5" name="Text 3"/>
          <p:cNvSpPr txBox="1"/>
          <p:nvPr/>
        </p:nvSpPr>
        <p:spPr>
          <a:xfrm>
            <a:off x="777240" y="1645920"/>
            <a:ext cx="7863840" cy="384048"/>
          </a:xfrm>
          <a:prstGeom prst="rect">
            <a:avLst/>
          </a:prstGeom>
          <a:noFill/>
          <a:ln/>
        </p:spPr>
        <p:txBody>
          <a:bodyPr wrap="square" lIns="0" tIns="0" rIns="0" bIns="0" rtlCol="0" anchor="t"/>
          <a:lstStyle/>
          <a:p>
            <a:pPr indent="0" marL="0">
              <a:buNone/>
            </a:pPr>
            <a:r>
              <a:rPr lang="en-US" sz="1500" i="1" dirty="0">
                <a:solidFill>
                  <a:srgbClr val="2F6D62"/>
                </a:solidFill>
                <a:latin typeface="Calibri" pitchFamily="34" charset="0"/>
                <a:ea typeface="Calibri" pitchFamily="34" charset="-122"/>
                <a:cs typeface="Calibri" pitchFamily="34" charset="-120"/>
              </a:rPr>
              <a:t>A timelock is a post-dated cheque; a data output is a note on a noticeboard.</a:t>
            </a:r>
            <a:endParaRPr lang="en-US" sz="1500" dirty="0"/>
          </a:p>
        </p:txBody>
      </p:sp>
      <p:sp>
        <p:nvSpPr>
          <p:cNvPr id="6" name="Shape 4"/>
          <p:cNvSpPr/>
          <p:nvPr/>
        </p:nvSpPr>
        <p:spPr>
          <a:xfrm>
            <a:off x="777240" y="2103120"/>
            <a:ext cx="2499360" cy="310896"/>
          </a:xfrm>
          <a:prstGeom prst="roundRect">
            <a:avLst>
              <a:gd name="adj" fmla="val 50000"/>
            </a:avLst>
          </a:prstGeom>
          <a:solidFill>
            <a:srgbClr val="D97A14"/>
          </a:solidFill>
          <a:ln w="12700">
            <a:solidFill>
              <a:srgbClr val="D97A14"/>
            </a:solidFill>
            <a:prstDash val="solid"/>
          </a:ln>
        </p:spPr>
      </p:sp>
      <p:sp>
        <p:nvSpPr>
          <p:cNvPr id="7" name="Text 5"/>
          <p:cNvSpPr txBox="1"/>
          <p:nvPr/>
        </p:nvSpPr>
        <p:spPr>
          <a:xfrm>
            <a:off x="850392" y="2103120"/>
            <a:ext cx="235305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Recording data</a:t>
            </a:r>
            <a:endParaRPr lang="en-US" sz="1200" dirty="0"/>
          </a:p>
        </p:txBody>
      </p:sp>
      <p:sp>
        <p:nvSpPr>
          <p:cNvPr id="8" name="Text 6"/>
          <p:cNvSpPr txBox="1"/>
          <p:nvPr/>
        </p:nvSpPr>
        <p:spPr>
          <a:xfrm>
            <a:off x="777240" y="2487168"/>
            <a:ext cx="2499360" cy="377647"/>
          </a:xfrm>
          <a:prstGeom prst="rect">
            <a:avLst/>
          </a:prstGeom>
          <a:noFill/>
          <a:ln/>
        </p:spPr>
        <p:txBody>
          <a:bodyPr wrap="square" lIns="0" tIns="0" rIns="0" bIns="0" rtlCol="0" anchor="t"/>
          <a:lstStyle/>
          <a:p>
            <a:pPr indent="0" marL="0">
              <a:buNone/>
            </a:pPr>
            <a:r>
              <a:rPr lang="en-US" sz="1100" dirty="0">
                <a:solidFill>
                  <a:srgbClr val="2B2622"/>
                </a:solidFill>
                <a:latin typeface="Calibri" pitchFamily="34" charset="0"/>
                <a:ea typeface="Calibri" pitchFamily="34" charset="-122"/>
                <a:cs typeface="Calibri" pitchFamily="34" charset="-120"/>
              </a:rPr>
              <a:t>A few bytes of data go on chain without a spendable coin.</a:t>
            </a:r>
            <a:endParaRPr lang="en-US" sz="1100" dirty="0"/>
          </a:p>
        </p:txBody>
      </p:sp>
      <p:sp>
        <p:nvSpPr>
          <p:cNvPr id="9" name="Text 7"/>
          <p:cNvSpPr txBox="1"/>
          <p:nvPr/>
        </p:nvSpPr>
        <p:spPr>
          <a:xfrm>
            <a:off x="777240" y="2892247"/>
            <a:ext cx="2499360" cy="377647"/>
          </a:xfrm>
          <a:prstGeom prst="rect">
            <a:avLst/>
          </a:prstGeom>
          <a:noFill/>
          <a:ln/>
        </p:spPr>
        <p:txBody>
          <a:bodyPr wrap="square" lIns="0" tIns="0" rIns="0" bIns="0" rtlCol="0" anchor="t"/>
          <a:lstStyle/>
          <a:p>
            <a:pPr indent="0" marL="0">
              <a:buNone/>
            </a:pPr>
            <a:r>
              <a:rPr lang="en-US" sz="1100" i="1" dirty="0">
                <a:solidFill>
                  <a:srgbClr val="2F6D62"/>
                </a:solidFill>
                <a:latin typeface="Calibri" pitchFamily="34" charset="0"/>
                <a:ea typeface="Calibri" pitchFamily="34" charset="-122"/>
                <a:cs typeface="Calibri" pitchFamily="34" charset="-120"/>
              </a:rPr>
              <a:t>Think of a noticeboard that nobody can walk away with.</a:t>
            </a:r>
            <a:endParaRPr lang="en-US" sz="1100" dirty="0"/>
          </a:p>
        </p:txBody>
      </p:sp>
      <p:sp>
        <p:nvSpPr>
          <p:cNvPr id="10" name="Shape 8"/>
          <p:cNvSpPr/>
          <p:nvPr/>
        </p:nvSpPr>
        <p:spPr>
          <a:xfrm>
            <a:off x="3459480" y="2103120"/>
            <a:ext cx="2499360" cy="310896"/>
          </a:xfrm>
          <a:prstGeom prst="roundRect">
            <a:avLst>
              <a:gd name="adj" fmla="val 50000"/>
            </a:avLst>
          </a:prstGeom>
          <a:solidFill>
            <a:srgbClr val="D97A14"/>
          </a:solidFill>
          <a:ln w="12700">
            <a:solidFill>
              <a:srgbClr val="D97A14"/>
            </a:solidFill>
            <a:prstDash val="solid"/>
          </a:ln>
        </p:spPr>
      </p:sp>
      <p:sp>
        <p:nvSpPr>
          <p:cNvPr id="11" name="Text 9"/>
          <p:cNvSpPr txBox="1"/>
          <p:nvPr/>
        </p:nvSpPr>
        <p:spPr>
          <a:xfrm>
            <a:off x="3532632" y="2103120"/>
            <a:ext cx="235305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Absolute timelocks</a:t>
            </a:r>
            <a:endParaRPr lang="en-US" sz="1200" dirty="0"/>
          </a:p>
        </p:txBody>
      </p:sp>
      <p:sp>
        <p:nvSpPr>
          <p:cNvPr id="12" name="Text 10"/>
          <p:cNvSpPr txBox="1"/>
          <p:nvPr/>
        </p:nvSpPr>
        <p:spPr>
          <a:xfrm>
            <a:off x="3459480" y="2487168"/>
            <a:ext cx="2499360" cy="377647"/>
          </a:xfrm>
          <a:prstGeom prst="rect">
            <a:avLst/>
          </a:prstGeom>
          <a:noFill/>
          <a:ln/>
        </p:spPr>
        <p:txBody>
          <a:bodyPr wrap="square" lIns="0" tIns="0" rIns="0" bIns="0" rtlCol="0" anchor="t"/>
          <a:lstStyle/>
          <a:p>
            <a:pPr indent="0" marL="0">
              <a:buNone/>
            </a:pPr>
            <a:r>
              <a:rPr lang="en-US" sz="1100" dirty="0">
                <a:solidFill>
                  <a:srgbClr val="2B2622"/>
                </a:solidFill>
                <a:latin typeface="Calibri" pitchFamily="34" charset="0"/>
                <a:ea typeface="Calibri" pitchFamily="34" charset="-122"/>
                <a:cs typeface="Calibri" pitchFamily="34" charset="-120"/>
              </a:rPr>
              <a:t>A transaction or a coin that waits for a fixed time or height.</a:t>
            </a:r>
            <a:endParaRPr lang="en-US" sz="1100" dirty="0"/>
          </a:p>
        </p:txBody>
      </p:sp>
      <p:sp>
        <p:nvSpPr>
          <p:cNvPr id="13" name="Text 11"/>
          <p:cNvSpPr txBox="1"/>
          <p:nvPr/>
        </p:nvSpPr>
        <p:spPr>
          <a:xfrm>
            <a:off x="3459480" y="2892247"/>
            <a:ext cx="2499360" cy="377647"/>
          </a:xfrm>
          <a:prstGeom prst="rect">
            <a:avLst/>
          </a:prstGeom>
          <a:noFill/>
          <a:ln/>
        </p:spPr>
        <p:txBody>
          <a:bodyPr wrap="square" lIns="0" tIns="0" rIns="0" bIns="0" rtlCol="0" anchor="t"/>
          <a:lstStyle/>
          <a:p>
            <a:pPr indent="0" marL="0">
              <a:buNone/>
            </a:pPr>
            <a:r>
              <a:rPr lang="en-US" sz="1100" i="1" dirty="0">
                <a:solidFill>
                  <a:srgbClr val="2F6D62"/>
                </a:solidFill>
                <a:latin typeface="Calibri" pitchFamily="34" charset="0"/>
                <a:ea typeface="Calibri" pitchFamily="34" charset="-122"/>
                <a:cs typeface="Calibri" pitchFamily="34" charset="-120"/>
              </a:rPr>
              <a:t>Think of a savings bond with a fixed date.</a:t>
            </a:r>
            <a:endParaRPr lang="en-US" sz="1100" dirty="0"/>
          </a:p>
        </p:txBody>
      </p:sp>
      <p:sp>
        <p:nvSpPr>
          <p:cNvPr id="14" name="Shape 12"/>
          <p:cNvSpPr/>
          <p:nvPr/>
        </p:nvSpPr>
        <p:spPr>
          <a:xfrm>
            <a:off x="6141720" y="2103120"/>
            <a:ext cx="2499360" cy="310896"/>
          </a:xfrm>
          <a:prstGeom prst="roundRect">
            <a:avLst>
              <a:gd name="adj" fmla="val 50000"/>
            </a:avLst>
          </a:prstGeom>
          <a:solidFill>
            <a:srgbClr val="D97A14"/>
          </a:solidFill>
          <a:ln w="12700">
            <a:solidFill>
              <a:srgbClr val="D97A14"/>
            </a:solidFill>
            <a:prstDash val="solid"/>
          </a:ln>
        </p:spPr>
      </p:sp>
      <p:sp>
        <p:nvSpPr>
          <p:cNvPr id="15" name="Text 13"/>
          <p:cNvSpPr txBox="1"/>
          <p:nvPr/>
        </p:nvSpPr>
        <p:spPr>
          <a:xfrm>
            <a:off x="6214872" y="2103120"/>
            <a:ext cx="235305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Relative timelocks</a:t>
            </a:r>
            <a:endParaRPr lang="en-US" sz="1200" dirty="0"/>
          </a:p>
        </p:txBody>
      </p:sp>
      <p:sp>
        <p:nvSpPr>
          <p:cNvPr id="16" name="Text 14"/>
          <p:cNvSpPr txBox="1"/>
          <p:nvPr/>
        </p:nvSpPr>
        <p:spPr>
          <a:xfrm>
            <a:off x="6141720" y="2487168"/>
            <a:ext cx="2499360" cy="547726"/>
          </a:xfrm>
          <a:prstGeom prst="rect">
            <a:avLst/>
          </a:prstGeom>
          <a:noFill/>
          <a:ln/>
        </p:spPr>
        <p:txBody>
          <a:bodyPr wrap="square" lIns="0" tIns="0" rIns="0" bIns="0" rtlCol="0" anchor="t"/>
          <a:lstStyle/>
          <a:p>
            <a:pPr indent="0" marL="0">
              <a:buNone/>
            </a:pPr>
            <a:r>
              <a:rPr lang="en-US" sz="1100" dirty="0">
                <a:solidFill>
                  <a:srgbClr val="2B2622"/>
                </a:solidFill>
                <a:latin typeface="Calibri" pitchFamily="34" charset="0"/>
                <a:ea typeface="Calibri" pitchFamily="34" charset="-122"/>
                <a:cs typeface="Calibri" pitchFamily="34" charset="-120"/>
              </a:rPr>
              <a:t>A coin that waits for an age, counted from the day it was mined.</a:t>
            </a:r>
            <a:endParaRPr lang="en-US" sz="1100" dirty="0"/>
          </a:p>
        </p:txBody>
      </p:sp>
      <p:sp>
        <p:nvSpPr>
          <p:cNvPr id="17" name="Text 15"/>
          <p:cNvSpPr txBox="1"/>
          <p:nvPr/>
        </p:nvSpPr>
        <p:spPr>
          <a:xfrm>
            <a:off x="6141720" y="3062326"/>
            <a:ext cx="2499360" cy="377647"/>
          </a:xfrm>
          <a:prstGeom prst="rect">
            <a:avLst/>
          </a:prstGeom>
          <a:noFill/>
          <a:ln/>
        </p:spPr>
        <p:txBody>
          <a:bodyPr wrap="square" lIns="0" tIns="0" rIns="0" bIns="0" rtlCol="0" anchor="t"/>
          <a:lstStyle/>
          <a:p>
            <a:pPr indent="0" marL="0">
              <a:buNone/>
            </a:pPr>
            <a:r>
              <a:rPr lang="en-US" sz="1100" i="1" dirty="0">
                <a:solidFill>
                  <a:srgbClr val="2F6D62"/>
                </a:solidFill>
                <a:latin typeface="Calibri" pitchFamily="34" charset="0"/>
                <a:ea typeface="Calibri" pitchFamily="34" charset="-122"/>
                <a:cs typeface="Calibri" pitchFamily="34" charset="-120"/>
              </a:rPr>
              <a:t>Think of a gift card that works a week after purchase.</a:t>
            </a:r>
            <a:endParaRPr lang="en-US" sz="11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777240" y="3950208"/>
          <a:ext cx="7863840" cy="914400"/>
        </p:xfrm>
        <a:graphic>
          <a:graphicData uri="http://schemas.openxmlformats.org/drawingml/2006/table">
            <a:tbl>
              <a:tblPr/>
              <a:tblGrid>
                <a:gridCol w="874166"/>
                <a:gridCol w="874166"/>
                <a:gridCol w="874166"/>
                <a:gridCol w="874166"/>
                <a:gridCol w="874166"/>
                <a:gridCol w="874166"/>
                <a:gridCol w="874166"/>
                <a:gridCol w="874166"/>
                <a:gridCol w="874166"/>
              </a:tblGrid>
              <a:tr h="365760">
                <a:tc>
                  <a:txBody>
                    <a:bodyPr/>
                    <a:lstStyle/>
                    <a:p>
                      <a:pPr algn="ctr" indent="0" marL="0">
                        <a:buNone/>
                      </a:pPr>
                      <a:r>
                        <a:rPr lang="en-US" sz="1000" dirty="0">
                          <a:solidFill>
                            <a:srgbClr val="2B2622"/>
                          </a:solidFill>
                          <a:latin typeface="Calibri" pitchFamily="34" charset="0"/>
                          <a:ea typeface="Calibri" pitchFamily="34" charset="-122"/>
                          <a:cs typeface="Calibri" pitchFamily="34" charset="-120"/>
                        </a:rPr>
                        <a:t>Language</a:t>
                      </a:r>
                      <a:endParaRPr lang="en-US" sz="10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ECE1"/>
                    </a:solidFill>
                  </a:tcPr>
                </a:tc>
                <a:tc>
                  <a:txBody>
                    <a:bodyPr/>
                    <a:lstStyle/>
                    <a:p>
                      <a:pPr algn="ctr" indent="0" marL="0">
                        <a:buNone/>
                      </a:pPr>
                      <a:r>
                        <a:rPr lang="en-US" sz="1000" dirty="0">
                          <a:solidFill>
                            <a:srgbClr val="2B2622"/>
                          </a:solidFill>
                          <a:latin typeface="Calibri" pitchFamily="34" charset="0"/>
                          <a:ea typeface="Calibri" pitchFamily="34" charset="-122"/>
                          <a:cs typeface="Calibri" pitchFamily="34" charset="-120"/>
                        </a:rPr>
                        <a:t>Keys</a:t>
                      </a:r>
                      <a:endParaRPr lang="en-US" sz="10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ECE1"/>
                    </a:solidFill>
                  </a:tcPr>
                </a:tc>
                <a:tc>
                  <a:txBody>
                    <a:bodyPr/>
                    <a:lstStyle/>
                    <a:p>
                      <a:pPr algn="ctr" indent="0" marL="0">
                        <a:buNone/>
                      </a:pPr>
                      <a:r>
                        <a:rPr lang="en-US" sz="1000" dirty="0">
                          <a:solidFill>
                            <a:srgbClr val="2B2622"/>
                          </a:solidFill>
                          <a:latin typeface="Calibri" pitchFamily="34" charset="0"/>
                          <a:ea typeface="Calibri" pitchFamily="34" charset="-122"/>
                          <a:cs typeface="Calibri" pitchFamily="34" charset="-120"/>
                        </a:rPr>
                        <a:t>Multisig</a:t>
                      </a:r>
                      <a:endParaRPr lang="en-US" sz="10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ECE1"/>
                    </a:solidFill>
                  </a:tcPr>
                </a:tc>
                <a:tc>
                  <a:txBody>
                    <a:bodyPr/>
                    <a:lstStyle/>
                    <a:p>
                      <a:pPr algn="ctr" indent="0" marL="0">
                        <a:buNone/>
                      </a:pPr>
                      <a:r>
                        <a:rPr lang="en-US" sz="1000" dirty="0">
                          <a:solidFill>
                            <a:srgbClr val="2B2622"/>
                          </a:solidFill>
                          <a:latin typeface="Calibri" pitchFamily="34" charset="0"/>
                          <a:ea typeface="Calibri" pitchFamily="34" charset="-122"/>
                          <a:cs typeface="Calibri" pitchFamily="34" charset="-120"/>
                        </a:rPr>
                        <a:t>P2SH</a:t>
                      </a:r>
                      <a:endParaRPr lang="en-US" sz="10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ECE1"/>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Time</a:t>
                      </a:r>
                      <a:endParaRPr lang="en-US" sz="10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97A14"/>
                    </a:solidFill>
                  </a:tcPr>
                </a:tc>
                <a:tc>
                  <a:txBody>
                    <a:bodyPr/>
                    <a:lstStyle/>
                    <a:p>
                      <a:pPr algn="ctr" indent="0" marL="0">
                        <a:buNone/>
                      </a:pPr>
                      <a:r>
                        <a:rPr lang="en-US" sz="1000" dirty="0">
                          <a:solidFill>
                            <a:srgbClr val="2B2622"/>
                          </a:solidFill>
                          <a:latin typeface="Calibri" pitchFamily="34" charset="0"/>
                          <a:ea typeface="Calibri" pitchFamily="34" charset="-122"/>
                          <a:cs typeface="Calibri" pitchFamily="34" charset="-120"/>
                        </a:rPr>
                        <a:t>Flow</a:t>
                      </a:r>
                      <a:endParaRPr lang="en-US" sz="10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ECE1"/>
                    </a:solidFill>
                  </a:tcPr>
                </a:tc>
                <a:tc>
                  <a:txBody>
                    <a:bodyPr/>
                    <a:lstStyle/>
                    <a:p>
                      <a:pPr algn="ctr" indent="0" marL="0">
                        <a:buNone/>
                      </a:pPr>
                      <a:r>
                        <a:rPr lang="en-US" sz="1000" dirty="0">
                          <a:solidFill>
                            <a:srgbClr val="2B2622"/>
                          </a:solidFill>
                          <a:latin typeface="Calibri" pitchFamily="34" charset="0"/>
                          <a:ea typeface="Calibri" pitchFamily="34" charset="-122"/>
                          <a:cs typeface="Calibri" pitchFamily="34" charset="-120"/>
                        </a:rPr>
                        <a:t>Segwit</a:t>
                      </a:r>
                      <a:endParaRPr lang="en-US" sz="10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ECE1"/>
                    </a:solidFill>
                  </a:tcPr>
                </a:tc>
                <a:tc>
                  <a:txBody>
                    <a:bodyPr/>
                    <a:lstStyle/>
                    <a:p>
                      <a:pPr algn="ctr" indent="0" marL="0">
                        <a:buNone/>
                      </a:pPr>
                      <a:r>
                        <a:rPr lang="en-US" sz="1000" dirty="0">
                          <a:solidFill>
                            <a:srgbClr val="2B2622"/>
                          </a:solidFill>
                          <a:latin typeface="Calibri" pitchFamily="34" charset="0"/>
                          <a:ea typeface="Calibri" pitchFamily="34" charset="-122"/>
                          <a:cs typeface="Calibri" pitchFamily="34" charset="-120"/>
                        </a:rPr>
                        <a:t>Trees</a:t>
                      </a:r>
                      <a:endParaRPr lang="en-US" sz="10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ECE1"/>
                    </a:solidFill>
                  </a:tcPr>
                </a:tc>
                <a:tc>
                  <a:txBody>
                    <a:bodyPr/>
                    <a:lstStyle/>
                    <a:p>
                      <a:pPr algn="ctr" indent="0" marL="0">
                        <a:buNone/>
                      </a:pPr>
                      <a:r>
                        <a:rPr lang="en-US" sz="1000" dirty="0">
                          <a:solidFill>
                            <a:srgbClr val="2B2622"/>
                          </a:solidFill>
                          <a:latin typeface="Calibri" pitchFamily="34" charset="0"/>
                          <a:ea typeface="Calibri" pitchFamily="34" charset="-122"/>
                          <a:cs typeface="Calibri" pitchFamily="34" charset="-120"/>
                        </a:rPr>
                        <a:t>Taproot</a:t>
                      </a:r>
                      <a:endParaRPr lang="en-US" sz="10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ECE1"/>
                    </a:solidFill>
                  </a:tcPr>
                </a:tc>
              </a:tr>
            </a:tbl>
          </a:graphicData>
        </a:graphic>
      </p:graphicFrame>
      <p:sp>
        <p:nvSpPr>
          <p:cNvPr id="19" name="Text 16"/>
          <p:cNvSpPr txBox="1"/>
          <p:nvPr/>
        </p:nvSpPr>
        <p:spPr>
          <a:xfrm>
            <a:off x="7863840" y="4645152"/>
            <a:ext cx="868680" cy="310896"/>
          </a:xfrm>
          <a:prstGeom prst="rect">
            <a:avLst/>
          </a:prstGeom>
          <a:noFill/>
          <a:ln/>
        </p:spPr>
        <p:txBody>
          <a:bodyPr wrap="square" lIns="0" tIns="0" rIns="0" bIns="0" rtlCol="0" anchor="ctr"/>
          <a:lstStyle/>
          <a:p>
            <a:pPr algn="r" indent="0" marL="0">
              <a:buNone/>
            </a:pPr>
            <a:r>
              <a:rPr lang="en-US" sz="1100" dirty="0">
                <a:solidFill>
                  <a:srgbClr val="6E655C"/>
                </a:solidFill>
                <a:latin typeface="Calibri" pitchFamily="34" charset="0"/>
                <a:ea typeface="Calibri" pitchFamily="34" charset="-122"/>
                <a:cs typeface="Calibri" pitchFamily="34" charset="-120"/>
              </a:rPr>
              <a:t>27 / 61</a:t>
            </a:r>
            <a:endParaRPr lang="en-US" sz="11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AF6EF"/>
        </a:solidFill>
      </p:bgPr>
    </p:bg>
    <p:spTree>
      <p:nvGrpSpPr>
        <p:cNvPr id="1" name=""/>
        <p:cNvGrpSpPr/>
        <p:nvPr/>
      </p:nvGrpSpPr>
      <p:grpSpPr>
        <a:xfrm>
          <a:off x="0" y="0"/>
          <a:ext cx="0" cy="0"/>
          <a:chOff x="0" y="0"/>
          <a:chExt cx="0" cy="0"/>
        </a:xfrm>
      </p:grpSpPr>
      <p:sp>
        <p:nvSpPr>
          <p:cNvPr id="2" name="Shape 0"/>
          <p:cNvSpPr/>
          <p:nvPr/>
        </p:nvSpPr>
        <p:spPr>
          <a:xfrm>
            <a:off x="457200" y="347472"/>
            <a:ext cx="566928" cy="384048"/>
          </a:xfrm>
          <a:prstGeom prst="roundRect">
            <a:avLst>
              <a:gd name="adj" fmla="val 19048"/>
            </a:avLst>
          </a:prstGeom>
          <a:solidFill>
            <a:srgbClr val="D97A14"/>
          </a:solidFill>
          <a:ln w="12700">
            <a:solidFill>
              <a:srgbClr val="D97A14"/>
            </a:solidFill>
            <a:prstDash val="solid"/>
          </a:ln>
        </p:spPr>
      </p:sp>
      <p:sp>
        <p:nvSpPr>
          <p:cNvPr id="3" name="Text 1"/>
          <p:cNvSpPr txBox="1"/>
          <p:nvPr/>
        </p:nvSpPr>
        <p:spPr>
          <a:xfrm>
            <a:off x="457200" y="347472"/>
            <a:ext cx="56692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4" name="Text 2"/>
          <p:cNvSpPr txBox="1"/>
          <p:nvPr/>
        </p:nvSpPr>
        <p:spPr>
          <a:xfrm>
            <a:off x="1143000" y="237744"/>
            <a:ext cx="7543800" cy="566928"/>
          </a:xfrm>
          <a:prstGeom prst="rect">
            <a:avLst/>
          </a:prstGeom>
          <a:noFill/>
          <a:ln/>
        </p:spPr>
        <p:txBody>
          <a:bodyPr wrap="square" lIns="0" tIns="0" rIns="0" bIns="0" rtlCol="0" anchor="ctr"/>
          <a:lstStyle/>
          <a:p>
            <a:pPr indent="0" marL="0">
              <a:buNone/>
            </a:pPr>
            <a:r>
              <a:rPr lang="en-US" sz="2500" b="1" dirty="0">
                <a:solidFill>
                  <a:srgbClr val="2B2622"/>
                </a:solidFill>
                <a:latin typeface="Cambria" pitchFamily="34" charset="0"/>
                <a:ea typeface="Cambria" pitchFamily="34" charset="-122"/>
                <a:cs typeface="Cambria" pitchFamily="34" charset="-120"/>
              </a:rPr>
              <a:t>Data and timelocks: concepts (1 of 3)</a:t>
            </a:r>
            <a:endParaRPr lang="en-US" sz="2500" dirty="0"/>
          </a:p>
        </p:txBody>
      </p:sp>
      <p:sp>
        <p:nvSpPr>
          <p:cNvPr id="5" name="Text 3"/>
          <p:cNvSpPr txBox="1"/>
          <p:nvPr/>
        </p:nvSpPr>
        <p:spPr>
          <a:xfrm>
            <a:off x="1143000" y="786384"/>
            <a:ext cx="7543800" cy="310896"/>
          </a:xfrm>
          <a:prstGeom prst="rect">
            <a:avLst/>
          </a:prstGeom>
          <a:noFill/>
          <a:ln/>
        </p:spPr>
        <p:txBody>
          <a:bodyPr wrap="square" lIns="0" tIns="0" rIns="0" bIns="0" rtlCol="0" anchor="ctr"/>
          <a:lstStyle/>
          <a:p>
            <a:pPr indent="0" marL="0">
              <a:buNone/>
            </a:pPr>
            <a:r>
              <a:rPr lang="en-US" sz="1300" i="1" dirty="0">
                <a:solidFill>
                  <a:srgbClr val="6E655C"/>
                </a:solidFill>
                <a:latin typeface="Calibri" pitchFamily="34" charset="0"/>
                <a:ea typeface="Calibri" pitchFamily="34" charset="-122"/>
                <a:cs typeface="Calibri" pitchFamily="34" charset="-120"/>
              </a:rPr>
              <a:t>Each card: the meaning in a few words, then something you already know</a:t>
            </a:r>
            <a:endParaRPr lang="en-US" sz="1300" dirty="0"/>
          </a:p>
        </p:txBody>
      </p:sp>
      <p:sp>
        <p:nvSpPr>
          <p:cNvPr id="6" name="Shape 4"/>
          <p:cNvSpPr/>
          <p:nvPr/>
        </p:nvSpPr>
        <p:spPr>
          <a:xfrm>
            <a:off x="457200" y="1280160"/>
            <a:ext cx="4041648" cy="1161288"/>
          </a:xfrm>
          <a:prstGeom prst="roundRect">
            <a:avLst>
              <a:gd name="adj" fmla="val 6299"/>
            </a:avLst>
          </a:prstGeom>
          <a:solidFill>
            <a:srgbClr val="F2ECE1"/>
          </a:solidFill>
          <a:ln w="12700">
            <a:solidFill>
              <a:srgbClr val="DFD6C7"/>
            </a:solidFill>
            <a:prstDash val="solid"/>
          </a:ln>
        </p:spPr>
      </p:sp>
      <p:sp>
        <p:nvSpPr>
          <p:cNvPr id="7" name="Shape 5"/>
          <p:cNvSpPr/>
          <p:nvPr/>
        </p:nvSpPr>
        <p:spPr>
          <a:xfrm>
            <a:off x="475488" y="1408176"/>
            <a:ext cx="64008" cy="905256"/>
          </a:xfrm>
          <a:prstGeom prst="rect">
            <a:avLst/>
          </a:prstGeom>
          <a:solidFill>
            <a:srgbClr val="D97A14"/>
          </a:solidFill>
          <a:ln w="12700">
            <a:solidFill>
              <a:srgbClr val="D97A14"/>
            </a:solidFill>
            <a:prstDash val="solid"/>
          </a:ln>
        </p:spPr>
      </p:sp>
      <p:sp>
        <p:nvSpPr>
          <p:cNvPr id="8" name="Text 6"/>
          <p:cNvSpPr txBox="1"/>
          <p:nvPr/>
        </p:nvSpPr>
        <p:spPr>
          <a:xfrm>
            <a:off x="640080" y="1344168"/>
            <a:ext cx="3767328" cy="612648"/>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Data Recording Output (OP_RETURN)</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An unspendable output that carries a few bytes of data.</a:t>
            </a:r>
            <a:endParaRPr lang="en-US" sz="1300" dirty="0"/>
          </a:p>
        </p:txBody>
      </p:sp>
      <p:sp>
        <p:nvSpPr>
          <p:cNvPr id="9" name="Text 7"/>
          <p:cNvSpPr txBox="1"/>
          <p:nvPr/>
        </p:nvSpPr>
        <p:spPr>
          <a:xfrm>
            <a:off x="640080" y="1984248"/>
            <a:ext cx="3767328" cy="393192"/>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a note pinned to a public noticeboard.</a:t>
            </a:r>
            <a:endParaRPr lang="en-US" sz="1150" dirty="0"/>
          </a:p>
        </p:txBody>
      </p:sp>
      <p:sp>
        <p:nvSpPr>
          <p:cNvPr id="10" name="Shape 8"/>
          <p:cNvSpPr/>
          <p:nvPr/>
        </p:nvSpPr>
        <p:spPr>
          <a:xfrm>
            <a:off x="4645152" y="1280160"/>
            <a:ext cx="4041648" cy="1161288"/>
          </a:xfrm>
          <a:prstGeom prst="roundRect">
            <a:avLst>
              <a:gd name="adj" fmla="val 6299"/>
            </a:avLst>
          </a:prstGeom>
          <a:solidFill>
            <a:srgbClr val="F2ECE1"/>
          </a:solidFill>
          <a:ln w="12700">
            <a:solidFill>
              <a:srgbClr val="DFD6C7"/>
            </a:solidFill>
            <a:prstDash val="solid"/>
          </a:ln>
        </p:spPr>
      </p:sp>
      <p:sp>
        <p:nvSpPr>
          <p:cNvPr id="11" name="Shape 9"/>
          <p:cNvSpPr/>
          <p:nvPr/>
        </p:nvSpPr>
        <p:spPr>
          <a:xfrm>
            <a:off x="4663440" y="1408176"/>
            <a:ext cx="64008" cy="905256"/>
          </a:xfrm>
          <a:prstGeom prst="rect">
            <a:avLst/>
          </a:prstGeom>
          <a:solidFill>
            <a:srgbClr val="D97A14"/>
          </a:solidFill>
          <a:ln w="12700">
            <a:solidFill>
              <a:srgbClr val="D97A14"/>
            </a:solidFill>
            <a:prstDash val="solid"/>
          </a:ln>
        </p:spPr>
      </p:sp>
      <p:sp>
        <p:nvSpPr>
          <p:cNvPr id="12" name="Text 10"/>
          <p:cNvSpPr txBox="1"/>
          <p:nvPr/>
        </p:nvSpPr>
        <p:spPr>
          <a:xfrm>
            <a:off x="4828032" y="1344168"/>
            <a:ext cx="3767328" cy="434340"/>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Transaction Lock Time Limitations</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Lock time stops a transaction, not a spender.</a:t>
            </a:r>
            <a:endParaRPr lang="en-US" sz="1300" dirty="0"/>
          </a:p>
        </p:txBody>
      </p:sp>
      <p:sp>
        <p:nvSpPr>
          <p:cNvPr id="13" name="Text 11"/>
          <p:cNvSpPr txBox="1"/>
          <p:nvPr/>
        </p:nvSpPr>
        <p:spPr>
          <a:xfrm>
            <a:off x="4828032" y="1805940"/>
            <a:ext cx="3767328" cy="393192"/>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a post-dated cheque that its writer can replace before the date.</a:t>
            </a:r>
            <a:endParaRPr lang="en-US" sz="1150" dirty="0"/>
          </a:p>
        </p:txBody>
      </p:sp>
      <p:sp>
        <p:nvSpPr>
          <p:cNvPr id="14" name="Shape 12"/>
          <p:cNvSpPr/>
          <p:nvPr/>
        </p:nvSpPr>
        <p:spPr>
          <a:xfrm>
            <a:off x="457200" y="2569464"/>
            <a:ext cx="4041648" cy="1161288"/>
          </a:xfrm>
          <a:prstGeom prst="roundRect">
            <a:avLst>
              <a:gd name="adj" fmla="val 6299"/>
            </a:avLst>
          </a:prstGeom>
          <a:solidFill>
            <a:srgbClr val="F2ECE1"/>
          </a:solidFill>
          <a:ln w="12700">
            <a:solidFill>
              <a:srgbClr val="DFD6C7"/>
            </a:solidFill>
            <a:prstDash val="solid"/>
          </a:ln>
        </p:spPr>
      </p:sp>
      <p:sp>
        <p:nvSpPr>
          <p:cNvPr id="15" name="Shape 13"/>
          <p:cNvSpPr/>
          <p:nvPr/>
        </p:nvSpPr>
        <p:spPr>
          <a:xfrm>
            <a:off x="475488" y="2697480"/>
            <a:ext cx="64008" cy="905256"/>
          </a:xfrm>
          <a:prstGeom prst="rect">
            <a:avLst/>
          </a:prstGeom>
          <a:solidFill>
            <a:srgbClr val="D97A14"/>
          </a:solidFill>
          <a:ln w="12700">
            <a:solidFill>
              <a:srgbClr val="D97A14"/>
            </a:solidFill>
            <a:prstDash val="solid"/>
          </a:ln>
        </p:spPr>
      </p:sp>
      <p:sp>
        <p:nvSpPr>
          <p:cNvPr id="16" name="Text 14"/>
          <p:cNvSpPr txBox="1"/>
          <p:nvPr/>
        </p:nvSpPr>
        <p:spPr>
          <a:xfrm>
            <a:off x="640080" y="2633472"/>
            <a:ext cx="3767328" cy="612648"/>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Check Lock Time Verify (OP_CLTV)</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A script rule: this coin is not spendable before a time or height.</a:t>
            </a:r>
            <a:endParaRPr lang="en-US" sz="1300" dirty="0"/>
          </a:p>
        </p:txBody>
      </p:sp>
      <p:sp>
        <p:nvSpPr>
          <p:cNvPr id="17" name="Text 15"/>
          <p:cNvSpPr txBox="1"/>
          <p:nvPr/>
        </p:nvSpPr>
        <p:spPr>
          <a:xfrm>
            <a:off x="640080" y="3273552"/>
            <a:ext cx="3767328" cy="393192"/>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a savings bond that cannot be cashed before its date.</a:t>
            </a:r>
            <a:endParaRPr lang="en-US" sz="1150" dirty="0"/>
          </a:p>
        </p:txBody>
      </p:sp>
      <p:sp>
        <p:nvSpPr>
          <p:cNvPr id="18" name="Shape 16"/>
          <p:cNvSpPr/>
          <p:nvPr/>
        </p:nvSpPr>
        <p:spPr>
          <a:xfrm>
            <a:off x="4645152" y="2569464"/>
            <a:ext cx="4041648" cy="1161288"/>
          </a:xfrm>
          <a:prstGeom prst="roundRect">
            <a:avLst>
              <a:gd name="adj" fmla="val 6299"/>
            </a:avLst>
          </a:prstGeom>
          <a:solidFill>
            <a:srgbClr val="F2ECE1"/>
          </a:solidFill>
          <a:ln w="12700">
            <a:solidFill>
              <a:srgbClr val="DFD6C7"/>
            </a:solidFill>
            <a:prstDash val="solid"/>
          </a:ln>
        </p:spPr>
      </p:sp>
      <p:sp>
        <p:nvSpPr>
          <p:cNvPr id="19" name="Shape 17"/>
          <p:cNvSpPr/>
          <p:nvPr/>
        </p:nvSpPr>
        <p:spPr>
          <a:xfrm>
            <a:off x="4663440" y="2697480"/>
            <a:ext cx="64008" cy="905256"/>
          </a:xfrm>
          <a:prstGeom prst="rect">
            <a:avLst/>
          </a:prstGeom>
          <a:solidFill>
            <a:srgbClr val="D97A14"/>
          </a:solidFill>
          <a:ln w="12700">
            <a:solidFill>
              <a:srgbClr val="D97A14"/>
            </a:solidFill>
            <a:prstDash val="solid"/>
          </a:ln>
        </p:spPr>
      </p:sp>
      <p:sp>
        <p:nvSpPr>
          <p:cNvPr id="20" name="Text 18"/>
          <p:cNvSpPr txBox="1"/>
          <p:nvPr/>
        </p:nvSpPr>
        <p:spPr>
          <a:xfrm>
            <a:off x="4828032" y="2633472"/>
            <a:ext cx="3767328" cy="612648"/>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Relative Timelocks</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A wait counted from the day the coin was mined.</a:t>
            </a:r>
            <a:endParaRPr lang="en-US" sz="1300" dirty="0"/>
          </a:p>
        </p:txBody>
      </p:sp>
      <p:sp>
        <p:nvSpPr>
          <p:cNvPr id="21" name="Text 19"/>
          <p:cNvSpPr txBox="1"/>
          <p:nvPr/>
        </p:nvSpPr>
        <p:spPr>
          <a:xfrm>
            <a:off x="4828032" y="3273552"/>
            <a:ext cx="3767328" cy="393192"/>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a gift card that works only a week after purchase.</a:t>
            </a:r>
            <a:endParaRPr lang="en-US" sz="1150" dirty="0"/>
          </a:p>
        </p:txBody>
      </p:sp>
      <p:sp>
        <p:nvSpPr>
          <p:cNvPr id="22" name="Shape 20"/>
          <p:cNvSpPr/>
          <p:nvPr/>
        </p:nvSpPr>
        <p:spPr>
          <a:xfrm>
            <a:off x="457200" y="4636008"/>
            <a:ext cx="91440" cy="310896"/>
          </a:xfrm>
          <a:prstGeom prst="rect">
            <a:avLst/>
          </a:prstGeom>
          <a:solidFill>
            <a:srgbClr val="D97A14"/>
          </a:solidFill>
          <a:ln w="12700">
            <a:solidFill>
              <a:srgbClr val="D97A14"/>
            </a:solidFill>
            <a:prstDash val="solid"/>
          </a:ln>
        </p:spPr>
      </p:sp>
      <p:sp>
        <p:nvSpPr>
          <p:cNvPr id="23" name="Text 21"/>
          <p:cNvSpPr txBox="1"/>
          <p:nvPr/>
        </p:nvSpPr>
        <p:spPr>
          <a:xfrm>
            <a:off x="658368" y="4599432"/>
            <a:ext cx="6949440" cy="384048"/>
          </a:xfrm>
          <a:prstGeom prst="rect">
            <a:avLst/>
          </a:prstGeom>
          <a:noFill/>
          <a:ln/>
        </p:spPr>
        <p:txBody>
          <a:bodyPr wrap="square" lIns="0" tIns="0" rIns="0" bIns="0" rtlCol="0" anchor="ctr"/>
          <a:lstStyle/>
          <a:p>
            <a:pPr indent="0" marL="0">
              <a:buNone/>
            </a:pPr>
            <a:r>
              <a:rPr lang="en-US" sz="1350" b="1" i="1" dirty="0">
                <a:solidFill>
                  <a:srgbClr val="2B2622"/>
                </a:solidFill>
                <a:latin typeface="Cambria" pitchFamily="34" charset="0"/>
                <a:ea typeface="Cambria" pitchFamily="34" charset="-122"/>
                <a:cs typeface="Cambria" pitchFamily="34" charset="-120"/>
              </a:rPr>
              <a:t>Say each idea twice: once as the meaning, once as the everyday comparison</a:t>
            </a:r>
            <a:endParaRPr lang="en-US" sz="1350" dirty="0"/>
          </a:p>
        </p:txBody>
      </p:sp>
      <p:sp>
        <p:nvSpPr>
          <p:cNvPr id="24" name="Text 22"/>
          <p:cNvSpPr txBox="1"/>
          <p:nvPr/>
        </p:nvSpPr>
        <p:spPr>
          <a:xfrm>
            <a:off x="7863840" y="4645152"/>
            <a:ext cx="868680" cy="310896"/>
          </a:xfrm>
          <a:prstGeom prst="rect">
            <a:avLst/>
          </a:prstGeom>
          <a:noFill/>
          <a:ln/>
        </p:spPr>
        <p:txBody>
          <a:bodyPr wrap="square" lIns="0" tIns="0" rIns="0" bIns="0" rtlCol="0" anchor="ctr"/>
          <a:lstStyle/>
          <a:p>
            <a:pPr algn="r" indent="0" marL="0">
              <a:buNone/>
            </a:pPr>
            <a:r>
              <a:rPr lang="en-US" sz="1100" dirty="0">
                <a:solidFill>
                  <a:srgbClr val="6E655C"/>
                </a:solidFill>
                <a:latin typeface="Calibri" pitchFamily="34" charset="0"/>
                <a:ea typeface="Calibri" pitchFamily="34" charset="-122"/>
                <a:cs typeface="Calibri" pitchFamily="34" charset="-120"/>
              </a:rPr>
              <a:t>28 / 61</a:t>
            </a:r>
            <a:endParaRPr lang="en-US" sz="11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AF6EF"/>
        </a:solidFill>
      </p:bgPr>
    </p:bg>
    <p:spTree>
      <p:nvGrpSpPr>
        <p:cNvPr id="1" name=""/>
        <p:cNvGrpSpPr/>
        <p:nvPr/>
      </p:nvGrpSpPr>
      <p:grpSpPr>
        <a:xfrm>
          <a:off x="0" y="0"/>
          <a:ext cx="0" cy="0"/>
          <a:chOff x="0" y="0"/>
          <a:chExt cx="0" cy="0"/>
        </a:xfrm>
      </p:grpSpPr>
      <p:sp>
        <p:nvSpPr>
          <p:cNvPr id="2" name="Shape 0"/>
          <p:cNvSpPr/>
          <p:nvPr/>
        </p:nvSpPr>
        <p:spPr>
          <a:xfrm>
            <a:off x="457200" y="347472"/>
            <a:ext cx="566928" cy="384048"/>
          </a:xfrm>
          <a:prstGeom prst="roundRect">
            <a:avLst>
              <a:gd name="adj" fmla="val 19048"/>
            </a:avLst>
          </a:prstGeom>
          <a:solidFill>
            <a:srgbClr val="D97A14"/>
          </a:solidFill>
          <a:ln w="12700">
            <a:solidFill>
              <a:srgbClr val="D97A14"/>
            </a:solidFill>
            <a:prstDash val="solid"/>
          </a:ln>
        </p:spPr>
      </p:sp>
      <p:sp>
        <p:nvSpPr>
          <p:cNvPr id="3" name="Text 1"/>
          <p:cNvSpPr txBox="1"/>
          <p:nvPr/>
        </p:nvSpPr>
        <p:spPr>
          <a:xfrm>
            <a:off x="457200" y="347472"/>
            <a:ext cx="56692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4" name="Text 2"/>
          <p:cNvSpPr txBox="1"/>
          <p:nvPr/>
        </p:nvSpPr>
        <p:spPr>
          <a:xfrm>
            <a:off x="1143000" y="237744"/>
            <a:ext cx="7543800" cy="566928"/>
          </a:xfrm>
          <a:prstGeom prst="rect">
            <a:avLst/>
          </a:prstGeom>
          <a:noFill/>
          <a:ln/>
        </p:spPr>
        <p:txBody>
          <a:bodyPr wrap="square" lIns="0" tIns="0" rIns="0" bIns="0" rtlCol="0" anchor="ctr"/>
          <a:lstStyle/>
          <a:p>
            <a:pPr indent="0" marL="0">
              <a:buNone/>
            </a:pPr>
            <a:r>
              <a:rPr lang="en-US" sz="2800" b="1" dirty="0">
                <a:solidFill>
                  <a:srgbClr val="2B2622"/>
                </a:solidFill>
                <a:latin typeface="Cambria" pitchFamily="34" charset="0"/>
                <a:ea typeface="Cambria" pitchFamily="34" charset="-122"/>
                <a:cs typeface="Cambria" pitchFamily="34" charset="-120"/>
              </a:rPr>
              <a:t>A lock until block 800,000</a:t>
            </a:r>
            <a:endParaRPr lang="en-US" sz="2800" dirty="0"/>
          </a:p>
        </p:txBody>
      </p:sp>
      <p:sp>
        <p:nvSpPr>
          <p:cNvPr id="5" name="Text 3"/>
          <p:cNvSpPr txBox="1"/>
          <p:nvPr/>
        </p:nvSpPr>
        <p:spPr>
          <a:xfrm>
            <a:off x="1143000" y="786384"/>
            <a:ext cx="7543800" cy="310896"/>
          </a:xfrm>
          <a:prstGeom prst="rect">
            <a:avLst/>
          </a:prstGeom>
          <a:noFill/>
          <a:ln/>
        </p:spPr>
        <p:txBody>
          <a:bodyPr wrap="square" lIns="0" tIns="0" rIns="0" bIns="0" rtlCol="0" anchor="ctr"/>
          <a:lstStyle/>
          <a:p>
            <a:pPr indent="0" marL="0">
              <a:buNone/>
            </a:pPr>
            <a:r>
              <a:rPr lang="en-US" sz="1300" i="1" dirty="0">
                <a:solidFill>
                  <a:srgbClr val="6E655C"/>
                </a:solidFill>
                <a:latin typeface="Calibri" pitchFamily="34" charset="0"/>
                <a:ea typeface="Calibri" pitchFamily="34" charset="-122"/>
                <a:cs typeface="Calibri" pitchFamily="34" charset="-120"/>
              </a:rPr>
              <a:t>OP_CHECKLOCKTIMEVERIFY on a real spend</a:t>
            </a:r>
            <a:endParaRPr lang="en-US" sz="1300" dirty="0"/>
          </a:p>
        </p:txBody>
      </p:sp>
      <p:sp>
        <p:nvSpPr>
          <p:cNvPr id="6" name="Shape 4"/>
          <p:cNvSpPr/>
          <p:nvPr/>
        </p:nvSpPr>
        <p:spPr>
          <a:xfrm>
            <a:off x="457200" y="1325880"/>
            <a:ext cx="5074920" cy="476402"/>
          </a:xfrm>
          <a:prstGeom prst="roundRect">
            <a:avLst>
              <a:gd name="adj" fmla="val 15355"/>
            </a:avLst>
          </a:prstGeom>
          <a:solidFill>
            <a:srgbClr val="23272E"/>
          </a:solidFill>
          <a:ln w="12700">
            <a:solidFill>
              <a:srgbClr val="23272E"/>
            </a:solidFill>
            <a:prstDash val="solid"/>
          </a:ln>
        </p:spPr>
      </p:sp>
      <p:sp>
        <p:nvSpPr>
          <p:cNvPr id="7" name="Text 5"/>
          <p:cNvSpPr txBox="1"/>
          <p:nvPr/>
        </p:nvSpPr>
        <p:spPr>
          <a:xfrm>
            <a:off x="603504" y="1399032"/>
            <a:ext cx="4800600" cy="348386"/>
          </a:xfrm>
          <a:prstGeom prst="rect">
            <a:avLst/>
          </a:prstGeom>
          <a:noFill/>
          <a:ln/>
        </p:spPr>
        <p:txBody>
          <a:bodyPr wrap="square" lIns="0" tIns="0" rIns="0" bIns="0" rtlCol="0" anchor="t"/>
          <a:lstStyle/>
          <a:p>
            <a:pPr indent="0" marL="0">
              <a:buNone/>
            </a:pPr>
            <a:r>
              <a:rPr lang="en-US" sz="1000" b="1" dirty="0">
                <a:solidFill>
                  <a:srgbClr val="D97A14"/>
                </a:solidFill>
                <a:latin typeface="Courier New" pitchFamily="34" charset="0"/>
                <a:ea typeface="Courier New" pitchFamily="34" charset="-122"/>
                <a:cs typeface="Courier New" pitchFamily="34" charset="-120"/>
              </a:rPr>
              <a:t>&gt;&gt;&gt; </a:t>
            </a:r>
            <a:r>
              <a:rPr lang="en-US" sz="1000" dirty="0">
                <a:solidFill>
                  <a:srgbClr val="E6EDF3"/>
                </a:solidFill>
                <a:latin typeface="Courier New" pitchFamily="34" charset="0"/>
                <a:ea typeface="Courier New" pitchFamily="34" charset="-122"/>
                <a:cs typeface="Courier New" pitchFamily="34" charset="-120"/>
              </a:rPr>
              <a:t>seq = 0xfffffffe</a:t>
            </a:r>
            <a:endParaRPr lang="en-US" sz="1000" dirty="0"/>
          </a:p>
          <a:p>
            <a:pPr indent="0" marL="0">
              <a:buNone/>
            </a:pPr>
            <a:r>
              <a:rPr lang="en-US" sz="1000" b="1" dirty="0">
                <a:solidFill>
                  <a:srgbClr val="D97A14"/>
                </a:solidFill>
                <a:latin typeface="Courier New" pitchFamily="34" charset="0"/>
                <a:ea typeface="Courier New" pitchFamily="34" charset="-122"/>
                <a:cs typeface="Courier New" pitchFamily="34" charset="-120"/>
              </a:rPr>
              <a:t>&gt;&gt;&gt; </a:t>
            </a:r>
            <a:r>
              <a:rPr lang="en-US" sz="1000" dirty="0">
                <a:solidFill>
                  <a:srgbClr val="E6EDF3"/>
                </a:solidFill>
                <a:latin typeface="Courier New" pitchFamily="34" charset="0"/>
                <a:ea typeface="Courier New" pitchFamily="34" charset="-122"/>
                <a:cs typeface="Courier New" pitchFamily="34" charset="-120"/>
              </a:rPr>
              <a:t>ok = K.key_spend(CLTV, locktime=</a:t>
            </a:r>
            <a:r>
              <a:rPr lang="en-US" sz="1000" dirty="0">
                <a:solidFill>
                  <a:srgbClr val="FFD28A"/>
                </a:solidFill>
                <a:latin typeface="Courier New" pitchFamily="34" charset="0"/>
                <a:ea typeface="Courier New" pitchFamily="34" charset="-122"/>
                <a:cs typeface="Courier New" pitchFamily="34" charset="-120"/>
              </a:rPr>
              <a:t>800000</a:t>
            </a:r>
            <a:r>
              <a:rPr lang="en-US" sz="1000" dirty="0">
                <a:solidFill>
                  <a:srgbClr val="E6EDF3"/>
                </a:solidFill>
                <a:latin typeface="Courier New" pitchFamily="34" charset="0"/>
                <a:ea typeface="Courier New" pitchFamily="34" charset="-122"/>
                <a:cs typeface="Courier New" pitchFamily="34" charset="-120"/>
              </a:rPr>
              <a:t>, sequence=seq)</a:t>
            </a:r>
            <a:endParaRPr lang="en-US" sz="1000" dirty="0"/>
          </a:p>
        </p:txBody>
      </p:sp>
      <p:sp>
        <p:nvSpPr>
          <p:cNvPr id="8" name="Shape 6"/>
          <p:cNvSpPr/>
          <p:nvPr/>
        </p:nvSpPr>
        <p:spPr>
          <a:xfrm>
            <a:off x="457200" y="2122322"/>
            <a:ext cx="5074920" cy="311810"/>
          </a:xfrm>
          <a:prstGeom prst="roundRect">
            <a:avLst>
              <a:gd name="adj" fmla="val 23460"/>
            </a:avLst>
          </a:prstGeom>
          <a:solidFill>
            <a:srgbClr val="23272E"/>
          </a:solidFill>
          <a:ln w="12700">
            <a:solidFill>
              <a:srgbClr val="23272E"/>
            </a:solidFill>
            <a:prstDash val="solid"/>
          </a:ln>
        </p:spPr>
      </p:sp>
      <p:sp>
        <p:nvSpPr>
          <p:cNvPr id="9" name="Text 7"/>
          <p:cNvSpPr txBox="1"/>
          <p:nvPr/>
        </p:nvSpPr>
        <p:spPr>
          <a:xfrm>
            <a:off x="603504" y="2195474"/>
            <a:ext cx="4800600" cy="183794"/>
          </a:xfrm>
          <a:prstGeom prst="rect">
            <a:avLst/>
          </a:prstGeom>
          <a:noFill/>
          <a:ln/>
        </p:spPr>
        <p:txBody>
          <a:bodyPr wrap="square" lIns="0" tIns="0" rIns="0" bIns="0" rtlCol="0" anchor="t"/>
          <a:lstStyle/>
          <a:p>
            <a:pPr indent="0" marL="0">
              <a:buNone/>
            </a:pPr>
            <a:r>
              <a:rPr lang="en-US" sz="1000" b="1" dirty="0">
                <a:solidFill>
                  <a:srgbClr val="D97A14"/>
                </a:solidFill>
                <a:latin typeface="Courier New" pitchFamily="34" charset="0"/>
                <a:ea typeface="Courier New" pitchFamily="34" charset="-122"/>
                <a:cs typeface="Courier New" pitchFamily="34" charset="-120"/>
              </a:rPr>
              <a:t>&gt;&gt;&gt; </a:t>
            </a:r>
            <a:r>
              <a:rPr lang="en-US" sz="1000" dirty="0">
                <a:solidFill>
                  <a:srgbClr val="E6EDF3"/>
                </a:solidFill>
                <a:latin typeface="Courier New" pitchFamily="34" charset="0"/>
                <a:ea typeface="Courier New" pitchFamily="34" charset="-122"/>
                <a:cs typeface="Courier New" pitchFamily="34" charset="-120"/>
              </a:rPr>
              <a:t>early = K.key_spend(CLTV, locktime=</a:t>
            </a:r>
            <a:r>
              <a:rPr lang="en-US" sz="1000" dirty="0">
                <a:solidFill>
                  <a:srgbClr val="FFD28A"/>
                </a:solidFill>
                <a:latin typeface="Courier New" pitchFamily="34" charset="0"/>
                <a:ea typeface="Courier New" pitchFamily="34" charset="-122"/>
                <a:cs typeface="Courier New" pitchFamily="34" charset="-120"/>
              </a:rPr>
              <a:t>799999</a:t>
            </a:r>
            <a:r>
              <a:rPr lang="en-US" sz="1000" dirty="0">
                <a:solidFill>
                  <a:srgbClr val="E6EDF3"/>
                </a:solidFill>
                <a:latin typeface="Courier New" pitchFamily="34" charset="0"/>
                <a:ea typeface="Courier New" pitchFamily="34" charset="-122"/>
                <a:cs typeface="Courier New" pitchFamily="34" charset="-120"/>
              </a:rPr>
              <a:t>, sequence=seq)</a:t>
            </a:r>
            <a:endParaRPr lang="en-US" sz="1000" dirty="0"/>
          </a:p>
        </p:txBody>
      </p:sp>
      <p:sp>
        <p:nvSpPr>
          <p:cNvPr id="10" name="Shape 8"/>
          <p:cNvSpPr/>
          <p:nvPr/>
        </p:nvSpPr>
        <p:spPr>
          <a:xfrm>
            <a:off x="457200" y="2754173"/>
            <a:ext cx="5074920" cy="806501"/>
          </a:xfrm>
          <a:prstGeom prst="roundRect">
            <a:avLst>
              <a:gd name="adj" fmla="val 9070"/>
            </a:avLst>
          </a:prstGeom>
          <a:solidFill>
            <a:srgbClr val="23272E"/>
          </a:solidFill>
          <a:ln w="12700">
            <a:solidFill>
              <a:srgbClr val="23272E"/>
            </a:solidFill>
            <a:prstDash val="solid"/>
          </a:ln>
        </p:spPr>
      </p:sp>
      <p:sp>
        <p:nvSpPr>
          <p:cNvPr id="11" name="Text 9"/>
          <p:cNvSpPr txBox="1"/>
          <p:nvPr/>
        </p:nvSpPr>
        <p:spPr>
          <a:xfrm>
            <a:off x="603504" y="2827325"/>
            <a:ext cx="4800600" cy="678485"/>
          </a:xfrm>
          <a:prstGeom prst="rect">
            <a:avLst/>
          </a:prstGeom>
          <a:noFill/>
          <a:ln/>
        </p:spPr>
        <p:txBody>
          <a:bodyPr wrap="square" lIns="0" tIns="0" rIns="0" bIns="0" rtlCol="0" anchor="t"/>
          <a:lstStyle/>
          <a:p>
            <a:pPr indent="0" marL="0">
              <a:buNone/>
            </a:pPr>
            <a:r>
              <a:rPr lang="en-US" sz="1000" b="1" dirty="0">
                <a:solidFill>
                  <a:srgbClr val="D97A14"/>
                </a:solidFill>
                <a:latin typeface="Courier New" pitchFamily="34" charset="0"/>
                <a:ea typeface="Courier New" pitchFamily="34" charset="-122"/>
                <a:cs typeface="Courier New" pitchFamily="34" charset="-120"/>
              </a:rPr>
              <a:t>&gt;&gt;&gt; </a:t>
            </a:r>
            <a:r>
              <a:rPr lang="en-US" sz="1000" dirty="0">
                <a:solidFill>
                  <a:srgbClr val="E6EDF3"/>
                </a:solidFill>
                <a:latin typeface="Courier New" pitchFamily="34" charset="0"/>
                <a:ea typeface="Courier New" pitchFamily="34" charset="-122"/>
                <a:cs typeface="Courier New" pitchFamily="34" charset="-120"/>
              </a:rPr>
              <a:t>final = K.key_spend(CLTV, locktime=</a:t>
            </a:r>
            <a:r>
              <a:rPr lang="en-US" sz="1000" dirty="0">
                <a:solidFill>
                  <a:srgbClr val="FFD28A"/>
                </a:solidFill>
                <a:latin typeface="Courier New" pitchFamily="34" charset="0"/>
                <a:ea typeface="Courier New" pitchFamily="34" charset="-122"/>
                <a:cs typeface="Courier New" pitchFamily="34" charset="-120"/>
              </a:rPr>
              <a:t>800000</a:t>
            </a:r>
            <a:r>
              <a:rPr lang="en-US" sz="1000" dirty="0">
                <a:solidFill>
                  <a:srgbClr val="E6EDF3"/>
                </a:solidFill>
                <a:latin typeface="Courier New" pitchFamily="34" charset="0"/>
                <a:ea typeface="Courier New" pitchFamily="34" charset="-122"/>
                <a:cs typeface="Courier New" pitchFamily="34" charset="-120"/>
              </a:rPr>
              <a:t>)</a:t>
            </a:r>
            <a:endParaRPr lang="en-US" sz="1000" dirty="0"/>
          </a:p>
          <a:p>
            <a:pPr indent="0" marL="0">
              <a:buNone/>
            </a:pPr>
            <a:r>
              <a:rPr lang="en-US" sz="1000" b="1" dirty="0">
                <a:solidFill>
                  <a:srgbClr val="D97A14"/>
                </a:solidFill>
                <a:latin typeface="Courier New" pitchFamily="34" charset="0"/>
                <a:ea typeface="Courier New" pitchFamily="34" charset="-122"/>
                <a:cs typeface="Courier New" pitchFamily="34" charset="-120"/>
              </a:rPr>
              <a:t>&gt;&gt;&gt; </a:t>
            </a:r>
            <a:r>
              <a:rPr lang="en-US" sz="1000" dirty="0">
                <a:solidFill>
                  <a:srgbClr val="E6EDF3"/>
                </a:solidFill>
                <a:latin typeface="Courier New" pitchFamily="34" charset="0"/>
                <a:ea typeface="Courier New" pitchFamily="34" charset="-122"/>
                <a:cs typeface="Courier New" pitchFamily="34" charset="-120"/>
              </a:rPr>
              <a:t>res = [ok, early, final]</a:t>
            </a:r>
            <a:endParaRPr lang="en-US" sz="1000" dirty="0"/>
          </a:p>
          <a:p>
            <a:pPr indent="0" marL="0">
              <a:buNone/>
            </a:pPr>
            <a:r>
              <a:rPr lang="en-US" sz="1000" b="1" dirty="0">
                <a:solidFill>
                  <a:srgbClr val="D97A14"/>
                </a:solidFill>
                <a:latin typeface="Courier New" pitchFamily="34" charset="0"/>
                <a:ea typeface="Courier New" pitchFamily="34" charset="-122"/>
                <a:cs typeface="Courier New" pitchFamily="34" charset="-120"/>
              </a:rPr>
              <a:t>&gt;&gt;&gt; </a:t>
            </a:r>
            <a:r>
              <a:rPr lang="en-US" sz="1000" dirty="0">
                <a:solidFill>
                  <a:srgbClr val="E6EDF3"/>
                </a:solidFill>
                <a:latin typeface="Courier New" pitchFamily="34" charset="0"/>
                <a:ea typeface="Courier New" pitchFamily="34" charset="-122"/>
                <a:cs typeface="Courier New" pitchFamily="34" charset="-120"/>
              </a:rPr>
              <a:t>res</a:t>
            </a:r>
            <a:endParaRPr lang="en-US" sz="1000" dirty="0"/>
          </a:p>
          <a:p>
            <a:pPr indent="0" marL="0">
              <a:buNone/>
            </a:pPr>
            <a:r>
              <a:rPr lang="en-US" sz="1000" dirty="0">
                <a:solidFill>
                  <a:srgbClr val="7EE787"/>
                </a:solidFill>
                <a:latin typeface="Courier New" pitchFamily="34" charset="0"/>
                <a:ea typeface="Courier New" pitchFamily="34" charset="-122"/>
                <a:cs typeface="Courier New" pitchFamily="34" charset="-120"/>
              </a:rPr>
              <a:t>['OK', 'UNSATISFIED_LOCKTIME', 'UNSATISFIED_LOCKTIME']</a:t>
            </a:r>
            <a:endParaRPr lang="en-US" sz="1000" dirty="0"/>
          </a:p>
        </p:txBody>
      </p:sp>
      <p:sp>
        <p:nvSpPr>
          <p:cNvPr id="12" name="Shape 10"/>
          <p:cNvSpPr/>
          <p:nvPr/>
        </p:nvSpPr>
        <p:spPr>
          <a:xfrm>
            <a:off x="365760" y="1252728"/>
            <a:ext cx="237744" cy="237744"/>
          </a:xfrm>
          <a:prstGeom prst="ellipse">
            <a:avLst/>
          </a:prstGeom>
          <a:solidFill>
            <a:srgbClr val="D97A14"/>
          </a:solidFill>
          <a:ln w="12700">
            <a:solidFill>
              <a:srgbClr val="D97A14"/>
            </a:solidFill>
            <a:prstDash val="solid"/>
          </a:ln>
        </p:spPr>
      </p:sp>
      <p:sp>
        <p:nvSpPr>
          <p:cNvPr id="13" name="Text 11"/>
          <p:cNvSpPr txBox="1"/>
          <p:nvPr/>
        </p:nvSpPr>
        <p:spPr>
          <a:xfrm>
            <a:off x="365760" y="1252728"/>
            <a:ext cx="237744" cy="237744"/>
          </a:xfrm>
          <a:prstGeom prst="rect">
            <a:avLst/>
          </a:prstGeom>
          <a:noFill/>
          <a:ln/>
        </p:spPr>
        <p:txBody>
          <a:bodyPr wrap="square" lIns="0" tIns="0" rIns="0" bIns="0" rtlCol="0" anchor="ctr"/>
          <a:lstStyle/>
          <a:p>
            <a:pPr algn="ctr" indent="0" marL="0">
              <a:buNone/>
            </a:pPr>
            <a:r>
              <a:rPr lang="en-US" sz="1100" b="1" dirty="0">
                <a:solidFill>
                  <a:srgbClr val="FFFFFF"/>
                </a:solidFill>
                <a:latin typeface="Cambria" pitchFamily="34" charset="0"/>
                <a:ea typeface="Cambria" pitchFamily="34" charset="-122"/>
                <a:cs typeface="Cambria" pitchFamily="34" charset="-120"/>
              </a:rPr>
              <a:t>1</a:t>
            </a:r>
            <a:endParaRPr lang="en-US" sz="1100" dirty="0"/>
          </a:p>
        </p:txBody>
      </p:sp>
      <p:sp>
        <p:nvSpPr>
          <p:cNvPr id="14" name="Text 12"/>
          <p:cNvSpPr txBox="1"/>
          <p:nvPr/>
        </p:nvSpPr>
        <p:spPr>
          <a:xfrm>
            <a:off x="731520" y="1829714"/>
            <a:ext cx="4800600" cy="210312"/>
          </a:xfrm>
          <a:prstGeom prst="rect">
            <a:avLst/>
          </a:prstGeom>
          <a:noFill/>
          <a:ln/>
        </p:spPr>
        <p:txBody>
          <a:bodyPr wrap="square" lIns="0" tIns="0" rIns="0" bIns="0" rtlCol="0" anchor="t"/>
          <a:lstStyle/>
          <a:p>
            <a:pPr indent="0" marL="0">
              <a:buNone/>
            </a:pPr>
            <a:r>
              <a:rPr lang="en-US" sz="1050" dirty="0">
                <a:solidFill>
                  <a:srgbClr val="2B2622"/>
                </a:solidFill>
                <a:latin typeface="Calibri" pitchFamily="34" charset="0"/>
                <a:ea typeface="Calibri" pitchFamily="34" charset="-122"/>
                <a:cs typeface="Calibri" pitchFamily="34" charset="-120"/>
              </a:rPr>
              <a:t>The sequence must not be final, or the lock time is ignored.</a:t>
            </a:r>
            <a:endParaRPr lang="en-US" sz="1050" dirty="0"/>
          </a:p>
        </p:txBody>
      </p:sp>
      <p:sp>
        <p:nvSpPr>
          <p:cNvPr id="15" name="Shape 13"/>
          <p:cNvSpPr/>
          <p:nvPr/>
        </p:nvSpPr>
        <p:spPr>
          <a:xfrm>
            <a:off x="365760" y="2049170"/>
            <a:ext cx="237744" cy="237744"/>
          </a:xfrm>
          <a:prstGeom prst="ellipse">
            <a:avLst/>
          </a:prstGeom>
          <a:solidFill>
            <a:srgbClr val="D97A14"/>
          </a:solidFill>
          <a:ln w="12700">
            <a:solidFill>
              <a:srgbClr val="D97A14"/>
            </a:solidFill>
            <a:prstDash val="solid"/>
          </a:ln>
        </p:spPr>
      </p:sp>
      <p:sp>
        <p:nvSpPr>
          <p:cNvPr id="16" name="Text 14"/>
          <p:cNvSpPr txBox="1"/>
          <p:nvPr/>
        </p:nvSpPr>
        <p:spPr>
          <a:xfrm>
            <a:off x="365760" y="2049170"/>
            <a:ext cx="237744" cy="237744"/>
          </a:xfrm>
          <a:prstGeom prst="rect">
            <a:avLst/>
          </a:prstGeom>
          <a:noFill/>
          <a:ln/>
        </p:spPr>
        <p:txBody>
          <a:bodyPr wrap="square" lIns="0" tIns="0" rIns="0" bIns="0" rtlCol="0" anchor="ctr"/>
          <a:lstStyle/>
          <a:p>
            <a:pPr algn="ctr" indent="0" marL="0">
              <a:buNone/>
            </a:pPr>
            <a:r>
              <a:rPr lang="en-US" sz="1100" b="1" dirty="0">
                <a:solidFill>
                  <a:srgbClr val="FFFFFF"/>
                </a:solidFill>
                <a:latin typeface="Cambria" pitchFamily="34" charset="0"/>
                <a:ea typeface="Cambria" pitchFamily="34" charset="-122"/>
                <a:cs typeface="Cambria" pitchFamily="34" charset="-120"/>
              </a:rPr>
              <a:t>2</a:t>
            </a:r>
            <a:endParaRPr lang="en-US" sz="1100" dirty="0"/>
          </a:p>
        </p:txBody>
      </p:sp>
      <p:sp>
        <p:nvSpPr>
          <p:cNvPr id="17" name="Text 15"/>
          <p:cNvSpPr txBox="1"/>
          <p:nvPr/>
        </p:nvSpPr>
        <p:spPr>
          <a:xfrm>
            <a:off x="731520" y="2461565"/>
            <a:ext cx="4800600" cy="210312"/>
          </a:xfrm>
          <a:prstGeom prst="rect">
            <a:avLst/>
          </a:prstGeom>
          <a:noFill/>
          <a:ln/>
        </p:spPr>
        <p:txBody>
          <a:bodyPr wrap="square" lIns="0" tIns="0" rIns="0" bIns="0" rtlCol="0" anchor="t"/>
          <a:lstStyle/>
          <a:p>
            <a:pPr indent="0" marL="0">
              <a:buNone/>
            </a:pPr>
            <a:r>
              <a:rPr lang="en-US" sz="1050" dirty="0">
                <a:solidFill>
                  <a:srgbClr val="2B2622"/>
                </a:solidFill>
                <a:latin typeface="Calibri" pitchFamily="34" charset="0"/>
                <a:ea typeface="Calibri" pitchFamily="34" charset="-122"/>
                <a:cs typeface="Calibri" pitchFamily="34" charset="-120"/>
              </a:rPr>
              <a:t>A lock time one block too early fails.</a:t>
            </a:r>
            <a:endParaRPr lang="en-US" sz="1050" dirty="0"/>
          </a:p>
        </p:txBody>
      </p:sp>
      <p:sp>
        <p:nvSpPr>
          <p:cNvPr id="18" name="Shape 16"/>
          <p:cNvSpPr/>
          <p:nvPr/>
        </p:nvSpPr>
        <p:spPr>
          <a:xfrm>
            <a:off x="365760" y="2681021"/>
            <a:ext cx="237744" cy="237744"/>
          </a:xfrm>
          <a:prstGeom prst="ellipse">
            <a:avLst/>
          </a:prstGeom>
          <a:solidFill>
            <a:srgbClr val="D97A14"/>
          </a:solidFill>
          <a:ln w="12700">
            <a:solidFill>
              <a:srgbClr val="D97A14"/>
            </a:solidFill>
            <a:prstDash val="solid"/>
          </a:ln>
        </p:spPr>
      </p:sp>
      <p:sp>
        <p:nvSpPr>
          <p:cNvPr id="19" name="Text 17"/>
          <p:cNvSpPr txBox="1"/>
          <p:nvPr/>
        </p:nvSpPr>
        <p:spPr>
          <a:xfrm>
            <a:off x="365760" y="2681021"/>
            <a:ext cx="237744" cy="237744"/>
          </a:xfrm>
          <a:prstGeom prst="rect">
            <a:avLst/>
          </a:prstGeom>
          <a:noFill/>
          <a:ln/>
        </p:spPr>
        <p:txBody>
          <a:bodyPr wrap="square" lIns="0" tIns="0" rIns="0" bIns="0" rtlCol="0" anchor="ctr"/>
          <a:lstStyle/>
          <a:p>
            <a:pPr algn="ctr" indent="0" marL="0">
              <a:buNone/>
            </a:pPr>
            <a:r>
              <a:rPr lang="en-US" sz="1100" b="1" dirty="0">
                <a:solidFill>
                  <a:srgbClr val="FFFFFF"/>
                </a:solidFill>
                <a:latin typeface="Cambria" pitchFamily="34" charset="0"/>
                <a:ea typeface="Cambria" pitchFamily="34" charset="-122"/>
                <a:cs typeface="Cambria" pitchFamily="34" charset="-120"/>
              </a:rPr>
              <a:t>3</a:t>
            </a:r>
            <a:endParaRPr lang="en-US" sz="1100" dirty="0"/>
          </a:p>
        </p:txBody>
      </p:sp>
      <p:sp>
        <p:nvSpPr>
          <p:cNvPr id="20" name="Text 18"/>
          <p:cNvSpPr txBox="1"/>
          <p:nvPr/>
        </p:nvSpPr>
        <p:spPr>
          <a:xfrm>
            <a:off x="731520" y="3588106"/>
            <a:ext cx="4800600" cy="210312"/>
          </a:xfrm>
          <a:prstGeom prst="rect">
            <a:avLst/>
          </a:prstGeom>
          <a:noFill/>
          <a:ln/>
        </p:spPr>
        <p:txBody>
          <a:bodyPr wrap="square" lIns="0" tIns="0" rIns="0" bIns="0" rtlCol="0" anchor="t"/>
          <a:lstStyle/>
          <a:p>
            <a:pPr indent="0" marL="0">
              <a:buNone/>
            </a:pPr>
            <a:r>
              <a:rPr lang="en-US" sz="1050" dirty="0">
                <a:solidFill>
                  <a:srgbClr val="2B2622"/>
                </a:solidFill>
                <a:latin typeface="Calibri" pitchFamily="34" charset="0"/>
                <a:ea typeface="Calibri" pitchFamily="34" charset="-122"/>
                <a:cs typeface="Calibri" pitchFamily="34" charset="-120"/>
              </a:rPr>
              <a:t>A final sequence switches the lock time off, and the script fails.</a:t>
            </a:r>
            <a:endParaRPr lang="en-US" sz="1050" dirty="0"/>
          </a:p>
        </p:txBody>
      </p:sp>
      <p:sp>
        <p:nvSpPr>
          <p:cNvPr id="21" name="Text 19"/>
          <p:cNvSpPr txBox="1"/>
          <p:nvPr/>
        </p:nvSpPr>
        <p:spPr>
          <a:xfrm>
            <a:off x="457200" y="3844138"/>
            <a:ext cx="5074920" cy="182880"/>
          </a:xfrm>
          <a:prstGeom prst="rect">
            <a:avLst/>
          </a:prstGeom>
          <a:noFill/>
          <a:ln/>
        </p:spPr>
        <p:txBody>
          <a:bodyPr wrap="square" lIns="0" tIns="0" rIns="0" bIns="0" rtlCol="0" anchor="ctr"/>
          <a:lstStyle/>
          <a:p>
            <a:pPr algn="l" indent="0" marL="0">
              <a:buNone/>
            </a:pPr>
            <a:r>
              <a:rPr lang="en-US" sz="900" i="1" dirty="0">
                <a:solidFill>
                  <a:srgbClr val="6E655C"/>
                </a:solidFill>
                <a:latin typeface="Calibri" pitchFamily="34" charset="0"/>
                <a:ea typeface="Calibri" pitchFamily="34" charset="-122"/>
                <a:cs typeface="Calibri" pitchFamily="34" charset="-120"/>
              </a:rPr>
              <a:t>run under Python 3.14.6 - L, K and the chapter setup as on slide 7</a:t>
            </a:r>
            <a:endParaRPr lang="en-US" sz="900" dirty="0"/>
          </a:p>
        </p:txBody>
      </p:sp>
      <p:sp>
        <p:nvSpPr>
          <p:cNvPr id="22" name="Text 20"/>
          <p:cNvSpPr txBox="1"/>
          <p:nvPr/>
        </p:nvSpPr>
        <p:spPr>
          <a:xfrm>
            <a:off x="5715000" y="1325880"/>
            <a:ext cx="2971800" cy="219456"/>
          </a:xfrm>
          <a:prstGeom prst="rect">
            <a:avLst/>
          </a:prstGeom>
          <a:noFill/>
          <a:ln/>
        </p:spPr>
        <p:txBody>
          <a:bodyPr wrap="square" lIns="0" tIns="0" rIns="0" bIns="0" rtlCol="0" anchor="t"/>
          <a:lstStyle/>
          <a:p>
            <a:pPr algn="l" indent="0" marL="0">
              <a:buNone/>
            </a:pPr>
            <a:r>
              <a:rPr lang="en-US" sz="1100" b="1" dirty="0">
                <a:solidFill>
                  <a:srgbClr val="6E655C"/>
                </a:solidFill>
                <a:latin typeface="Calibri" pitchFamily="34" charset="0"/>
                <a:ea typeface="Calibri" pitchFamily="34" charset="-122"/>
                <a:cs typeface="Calibri" pitchFamily="34" charset="-120"/>
              </a:rPr>
              <a:t>Result: three spends of one script</a:t>
            </a:r>
            <a:endParaRPr lang="en-US" sz="11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715000" y="1591056"/>
          <a:ext cx="2971800" cy="914400"/>
        </p:xfrm>
        <a:graphic>
          <a:graphicData uri="http://schemas.openxmlformats.org/drawingml/2006/table">
            <a:tbl>
              <a:tblPr/>
              <a:tblGrid>
                <a:gridCol w="1417320"/>
                <a:gridCol w="1554480"/>
              </a:tblGrid>
              <a:tr h="274320">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Lock time of the spend</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solidFill>
                      <a:srgbClr val="2B2622"/>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Result</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solidFill>
                      <a:srgbClr val="2B2622"/>
                    </a:solidFill>
                  </a:tcPr>
                </a:tc>
              </a:tr>
              <a:tr h="274320">
                <a:tc>
                  <a:txBody>
                    <a:bodyPr/>
                    <a:lstStyle/>
                    <a:p>
                      <a:pPr indent="0" marL="0">
                        <a:buNone/>
                      </a:pPr>
                      <a:r>
                        <a:rPr lang="en-US" sz="950" dirty="0">
                          <a:solidFill>
                            <a:srgbClr val="2B2622"/>
                          </a:solidFill>
                          <a:latin typeface="Calibri" pitchFamily="34" charset="0"/>
                          <a:ea typeface="Calibri" pitchFamily="34" charset="-122"/>
                          <a:cs typeface="Calibri" pitchFamily="34" charset="-120"/>
                        </a:rPr>
                        <a:t>800,000, not final</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c>
                  <a:txBody>
                    <a:bodyPr/>
                    <a:lstStyle/>
                    <a:p>
                      <a:pPr indent="0" marL="0">
                        <a:buNone/>
                      </a:pPr>
                      <a:r>
                        <a:rPr lang="en-US" sz="950" dirty="0">
                          <a:solidFill>
                            <a:srgbClr val="2B2622"/>
                          </a:solidFill>
                          <a:latin typeface="Calibri" pitchFamily="34" charset="0"/>
                          <a:ea typeface="Calibri" pitchFamily="34" charset="-122"/>
                          <a:cs typeface="Calibri" pitchFamily="34" charset="-120"/>
                        </a:rPr>
                        <a:t>OK</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r>
              <a:tr h="274320">
                <a:tc>
                  <a:txBody>
                    <a:bodyPr/>
                    <a:lstStyle/>
                    <a:p>
                      <a:pPr indent="0" marL="0">
                        <a:buNone/>
                      </a:pPr>
                      <a:r>
                        <a:rPr lang="en-US" sz="950" dirty="0">
                          <a:solidFill>
                            <a:srgbClr val="2B2622"/>
                          </a:solidFill>
                          <a:latin typeface="Calibri" pitchFamily="34" charset="0"/>
                          <a:ea typeface="Calibri" pitchFamily="34" charset="-122"/>
                          <a:cs typeface="Calibri" pitchFamily="34" charset="-120"/>
                        </a:rPr>
                        <a:t>799,999, not final</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c>
                  <a:txBody>
                    <a:bodyPr/>
                    <a:lstStyle/>
                    <a:p>
                      <a:pPr indent="0" marL="0">
                        <a:buNone/>
                      </a:pPr>
                      <a:r>
                        <a:rPr lang="en-US" sz="950" dirty="0">
                          <a:solidFill>
                            <a:srgbClr val="2B2622"/>
                          </a:solidFill>
                          <a:latin typeface="Calibri" pitchFamily="34" charset="0"/>
                          <a:ea typeface="Calibri" pitchFamily="34" charset="-122"/>
                          <a:cs typeface="Calibri" pitchFamily="34" charset="-120"/>
                        </a:rPr>
                        <a:t>UNSATISFIED_LOCKTIME</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r>
              <a:tr h="274320">
                <a:tc>
                  <a:txBody>
                    <a:bodyPr/>
                    <a:lstStyle/>
                    <a:p>
                      <a:pPr indent="0" marL="0">
                        <a:buNone/>
                      </a:pPr>
                      <a:r>
                        <a:rPr lang="en-US" sz="950" dirty="0">
                          <a:solidFill>
                            <a:srgbClr val="2B2622"/>
                          </a:solidFill>
                          <a:latin typeface="Calibri" pitchFamily="34" charset="0"/>
                          <a:ea typeface="Calibri" pitchFamily="34" charset="-122"/>
                          <a:cs typeface="Calibri" pitchFamily="34" charset="-120"/>
                        </a:rPr>
                        <a:t>800,000, final</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c>
                  <a:txBody>
                    <a:bodyPr/>
                    <a:lstStyle/>
                    <a:p>
                      <a:pPr indent="0" marL="0">
                        <a:buNone/>
                      </a:pPr>
                      <a:r>
                        <a:rPr lang="en-US" sz="950" dirty="0">
                          <a:solidFill>
                            <a:srgbClr val="2B2622"/>
                          </a:solidFill>
                          <a:latin typeface="Calibri" pitchFamily="34" charset="0"/>
                          <a:ea typeface="Calibri" pitchFamily="34" charset="-122"/>
                          <a:cs typeface="Calibri" pitchFamily="34" charset="-120"/>
                        </a:rPr>
                        <a:t>UNSATISFIED_LOCKTIME</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r>
            </a:tbl>
          </a:graphicData>
        </a:graphic>
      </p:graphicFrame>
      <p:sp>
        <p:nvSpPr>
          <p:cNvPr id="24" name="Text 21"/>
          <p:cNvSpPr txBox="1"/>
          <p:nvPr/>
        </p:nvSpPr>
        <p:spPr>
          <a:xfrm>
            <a:off x="5715000" y="2962656"/>
            <a:ext cx="2971800" cy="603504"/>
          </a:xfrm>
          <a:prstGeom prst="rect">
            <a:avLst/>
          </a:prstGeom>
          <a:noFill/>
          <a:ln/>
        </p:spPr>
        <p:txBody>
          <a:bodyPr wrap="square" lIns="0" tIns="0" rIns="0" bIns="0" rtlCol="0" anchor="t"/>
          <a:lstStyle/>
          <a:p>
            <a:pPr algn="l" indent="0" marL="0">
              <a:buNone/>
            </a:pPr>
            <a:r>
              <a:rPr lang="en-US" sz="1150" i="1" dirty="0">
                <a:solidFill>
                  <a:srgbClr val="2B2622"/>
                </a:solidFill>
                <a:latin typeface="Calibri" pitchFamily="34" charset="0"/>
                <a:ea typeface="Calibri" pitchFamily="34" charset="-122"/>
                <a:cs typeface="Calibri" pitchFamily="34" charset="-120"/>
              </a:rPr>
              <a:t>Only a lock time that reaches 800,000, with a sequence that is not final, satisfies the script.</a:t>
            </a:r>
            <a:endParaRPr lang="en-US" sz="1150" dirty="0"/>
          </a:p>
        </p:txBody>
      </p:sp>
      <p:sp>
        <p:nvSpPr>
          <p:cNvPr id="25" name="Shape 22"/>
          <p:cNvSpPr/>
          <p:nvPr/>
        </p:nvSpPr>
        <p:spPr>
          <a:xfrm>
            <a:off x="457200" y="4636008"/>
            <a:ext cx="91440" cy="310896"/>
          </a:xfrm>
          <a:prstGeom prst="rect">
            <a:avLst/>
          </a:prstGeom>
          <a:solidFill>
            <a:srgbClr val="D97A14"/>
          </a:solidFill>
          <a:ln w="12700">
            <a:solidFill>
              <a:srgbClr val="D97A14"/>
            </a:solidFill>
            <a:prstDash val="solid"/>
          </a:ln>
        </p:spPr>
      </p:sp>
      <p:sp>
        <p:nvSpPr>
          <p:cNvPr id="26" name="Text 23"/>
          <p:cNvSpPr txBox="1"/>
          <p:nvPr/>
        </p:nvSpPr>
        <p:spPr>
          <a:xfrm>
            <a:off x="658368" y="4599432"/>
            <a:ext cx="6949440" cy="384048"/>
          </a:xfrm>
          <a:prstGeom prst="rect">
            <a:avLst/>
          </a:prstGeom>
          <a:noFill/>
          <a:ln/>
        </p:spPr>
        <p:txBody>
          <a:bodyPr wrap="square" lIns="0" tIns="0" rIns="0" bIns="0" rtlCol="0" anchor="ctr"/>
          <a:lstStyle/>
          <a:p>
            <a:pPr indent="0" marL="0">
              <a:buNone/>
            </a:pPr>
            <a:r>
              <a:rPr lang="en-US" sz="1350" b="1" i="1" dirty="0">
                <a:solidFill>
                  <a:srgbClr val="2B2622"/>
                </a:solidFill>
                <a:latin typeface="Cambria" pitchFamily="34" charset="0"/>
                <a:ea typeface="Cambria" pitchFamily="34" charset="-122"/>
                <a:cs typeface="Cambria" pitchFamily="34" charset="-120"/>
              </a:rPr>
              <a:t>The transaction's lock time must reach the number in the script</a:t>
            </a:r>
            <a:endParaRPr lang="en-US" sz="1350" dirty="0"/>
          </a:p>
        </p:txBody>
      </p:sp>
      <p:sp>
        <p:nvSpPr>
          <p:cNvPr id="27" name="Text 24"/>
          <p:cNvSpPr txBox="1"/>
          <p:nvPr/>
        </p:nvSpPr>
        <p:spPr>
          <a:xfrm>
            <a:off x="7863840" y="4645152"/>
            <a:ext cx="868680" cy="310896"/>
          </a:xfrm>
          <a:prstGeom prst="rect">
            <a:avLst/>
          </a:prstGeom>
          <a:noFill/>
          <a:ln/>
        </p:spPr>
        <p:txBody>
          <a:bodyPr wrap="square" lIns="0" tIns="0" rIns="0" bIns="0" rtlCol="0" anchor="ctr"/>
          <a:lstStyle/>
          <a:p>
            <a:pPr algn="r" indent="0" marL="0">
              <a:buNone/>
            </a:pPr>
            <a:r>
              <a:rPr lang="en-US" sz="1100" dirty="0">
                <a:solidFill>
                  <a:srgbClr val="6E655C"/>
                </a:solidFill>
                <a:latin typeface="Calibri" pitchFamily="34" charset="0"/>
                <a:ea typeface="Calibri" pitchFamily="34" charset="-122"/>
                <a:cs typeface="Calibri" pitchFamily="34" charset="-120"/>
              </a:rPr>
              <a:t>29 / 61</a:t>
            </a:r>
            <a:endParaRPr lang="en-US" sz="11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AF6EF"/>
        </a:solidFill>
      </p:bgPr>
    </p:bg>
    <p:spTree>
      <p:nvGrpSpPr>
        <p:cNvPr id="1" name=""/>
        <p:cNvGrpSpPr/>
        <p:nvPr/>
      </p:nvGrpSpPr>
      <p:grpSpPr>
        <a:xfrm>
          <a:off x="0" y="0"/>
          <a:ext cx="0" cy="0"/>
          <a:chOff x="0" y="0"/>
          <a:chExt cx="0" cy="0"/>
        </a:xfrm>
      </p:grpSpPr>
      <p:sp>
        <p:nvSpPr>
          <p:cNvPr id="2" name="Shape 0"/>
          <p:cNvSpPr/>
          <p:nvPr/>
        </p:nvSpPr>
        <p:spPr>
          <a:xfrm>
            <a:off x="457200" y="347472"/>
            <a:ext cx="566928" cy="384048"/>
          </a:xfrm>
          <a:prstGeom prst="roundRect">
            <a:avLst>
              <a:gd name="adj" fmla="val 19048"/>
            </a:avLst>
          </a:prstGeom>
          <a:solidFill>
            <a:srgbClr val="D97A14"/>
          </a:solidFill>
          <a:ln w="12700">
            <a:solidFill>
              <a:srgbClr val="D97A14"/>
            </a:solidFill>
            <a:prstDash val="solid"/>
          </a:ln>
        </p:spPr>
      </p:sp>
      <p:sp>
        <p:nvSpPr>
          <p:cNvPr id="3" name="Text 1"/>
          <p:cNvSpPr txBox="1"/>
          <p:nvPr/>
        </p:nvSpPr>
        <p:spPr>
          <a:xfrm>
            <a:off x="457200" y="347472"/>
            <a:ext cx="56692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4" name="Text 2"/>
          <p:cNvSpPr txBox="1"/>
          <p:nvPr/>
        </p:nvSpPr>
        <p:spPr>
          <a:xfrm>
            <a:off x="1143000" y="237744"/>
            <a:ext cx="7543800" cy="566928"/>
          </a:xfrm>
          <a:prstGeom prst="rect">
            <a:avLst/>
          </a:prstGeom>
          <a:noFill/>
          <a:ln/>
        </p:spPr>
        <p:txBody>
          <a:bodyPr wrap="square" lIns="0" tIns="0" rIns="0" bIns="0" rtlCol="0" anchor="ctr"/>
          <a:lstStyle/>
          <a:p>
            <a:pPr indent="0" marL="0">
              <a:buNone/>
            </a:pPr>
            <a:r>
              <a:rPr lang="en-US" sz="2500" b="1" dirty="0">
                <a:solidFill>
                  <a:srgbClr val="2B2622"/>
                </a:solidFill>
                <a:latin typeface="Cambria" pitchFamily="34" charset="0"/>
                <a:ea typeface="Cambria" pitchFamily="34" charset="-122"/>
                <a:cs typeface="Cambria" pitchFamily="34" charset="-120"/>
              </a:rPr>
              <a:t>Data and timelocks: concepts (2 of 3)</a:t>
            </a:r>
            <a:endParaRPr lang="en-US" sz="2500" dirty="0"/>
          </a:p>
        </p:txBody>
      </p:sp>
      <p:sp>
        <p:nvSpPr>
          <p:cNvPr id="5" name="Text 3"/>
          <p:cNvSpPr txBox="1"/>
          <p:nvPr/>
        </p:nvSpPr>
        <p:spPr>
          <a:xfrm>
            <a:off x="1143000" y="786384"/>
            <a:ext cx="7543800" cy="310896"/>
          </a:xfrm>
          <a:prstGeom prst="rect">
            <a:avLst/>
          </a:prstGeom>
          <a:noFill/>
          <a:ln/>
        </p:spPr>
        <p:txBody>
          <a:bodyPr wrap="square" lIns="0" tIns="0" rIns="0" bIns="0" rtlCol="0" anchor="ctr"/>
          <a:lstStyle/>
          <a:p>
            <a:pPr indent="0" marL="0">
              <a:buNone/>
            </a:pPr>
            <a:r>
              <a:rPr lang="en-US" sz="1300" i="1" dirty="0">
                <a:solidFill>
                  <a:srgbClr val="6E655C"/>
                </a:solidFill>
                <a:latin typeface="Calibri" pitchFamily="34" charset="0"/>
                <a:ea typeface="Calibri" pitchFamily="34" charset="-122"/>
                <a:cs typeface="Calibri" pitchFamily="34" charset="-120"/>
              </a:rPr>
              <a:t>Each card: the meaning in a few words, then something you already know</a:t>
            </a:r>
            <a:endParaRPr lang="en-US" sz="1300" dirty="0"/>
          </a:p>
        </p:txBody>
      </p:sp>
      <p:sp>
        <p:nvSpPr>
          <p:cNvPr id="6" name="Shape 4"/>
          <p:cNvSpPr/>
          <p:nvPr/>
        </p:nvSpPr>
        <p:spPr>
          <a:xfrm>
            <a:off x="457200" y="1280160"/>
            <a:ext cx="4041648" cy="1097280"/>
          </a:xfrm>
          <a:prstGeom prst="roundRect">
            <a:avLst>
              <a:gd name="adj" fmla="val 6667"/>
            </a:avLst>
          </a:prstGeom>
          <a:solidFill>
            <a:srgbClr val="F2ECE1"/>
          </a:solidFill>
          <a:ln w="12700">
            <a:solidFill>
              <a:srgbClr val="DFD6C7"/>
            </a:solidFill>
            <a:prstDash val="solid"/>
          </a:ln>
        </p:spPr>
      </p:sp>
      <p:sp>
        <p:nvSpPr>
          <p:cNvPr id="7" name="Shape 5"/>
          <p:cNvSpPr/>
          <p:nvPr/>
        </p:nvSpPr>
        <p:spPr>
          <a:xfrm>
            <a:off x="475488" y="1408176"/>
            <a:ext cx="64008" cy="841248"/>
          </a:xfrm>
          <a:prstGeom prst="rect">
            <a:avLst/>
          </a:prstGeom>
          <a:solidFill>
            <a:srgbClr val="D97A14"/>
          </a:solidFill>
          <a:ln w="12700">
            <a:solidFill>
              <a:srgbClr val="D97A14"/>
            </a:solidFill>
            <a:prstDash val="solid"/>
          </a:ln>
        </p:spPr>
      </p:sp>
      <p:sp>
        <p:nvSpPr>
          <p:cNvPr id="8" name="Text 6"/>
          <p:cNvSpPr txBox="1"/>
          <p:nvPr/>
        </p:nvSpPr>
        <p:spPr>
          <a:xfrm>
            <a:off x="640080" y="1344168"/>
            <a:ext cx="3767328" cy="434340"/>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Relative Timelocks with OP_CSV</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The script rule that enforces a relative wait.</a:t>
            </a:r>
            <a:endParaRPr lang="en-US" sz="1300" dirty="0"/>
          </a:p>
        </p:txBody>
      </p:sp>
      <p:sp>
        <p:nvSpPr>
          <p:cNvPr id="9" name="Text 7"/>
          <p:cNvSpPr txBox="1"/>
          <p:nvPr/>
        </p:nvSpPr>
        <p:spPr>
          <a:xfrm>
            <a:off x="640080" y="1805940"/>
            <a:ext cx="3767328" cy="393192"/>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a clerk who checks the purchase date on your receipt.</a:t>
            </a:r>
            <a:endParaRPr lang="en-US" sz="1150" dirty="0"/>
          </a:p>
        </p:txBody>
      </p:sp>
      <p:sp>
        <p:nvSpPr>
          <p:cNvPr id="10" name="Shape 8"/>
          <p:cNvSpPr/>
          <p:nvPr/>
        </p:nvSpPr>
        <p:spPr>
          <a:xfrm>
            <a:off x="4645152" y="1280160"/>
            <a:ext cx="4041648" cy="1097280"/>
          </a:xfrm>
          <a:prstGeom prst="roundRect">
            <a:avLst>
              <a:gd name="adj" fmla="val 6667"/>
            </a:avLst>
          </a:prstGeom>
          <a:solidFill>
            <a:srgbClr val="F2ECE1"/>
          </a:solidFill>
          <a:ln w="12700">
            <a:solidFill>
              <a:srgbClr val="DFD6C7"/>
            </a:solidFill>
            <a:prstDash val="solid"/>
          </a:ln>
        </p:spPr>
      </p:sp>
      <p:sp>
        <p:nvSpPr>
          <p:cNvPr id="11" name="Shape 9"/>
          <p:cNvSpPr/>
          <p:nvPr/>
        </p:nvSpPr>
        <p:spPr>
          <a:xfrm>
            <a:off x="4663440" y="1408176"/>
            <a:ext cx="64008" cy="841248"/>
          </a:xfrm>
          <a:prstGeom prst="rect">
            <a:avLst/>
          </a:prstGeom>
          <a:solidFill>
            <a:srgbClr val="D97A14"/>
          </a:solidFill>
          <a:ln w="12700">
            <a:solidFill>
              <a:srgbClr val="D97A14"/>
            </a:solidFill>
            <a:prstDash val="solid"/>
          </a:ln>
        </p:spPr>
      </p:sp>
      <p:sp>
        <p:nvSpPr>
          <p:cNvPr id="12" name="Text 10"/>
          <p:cNvSpPr txBox="1"/>
          <p:nvPr/>
        </p:nvSpPr>
        <p:spPr>
          <a:xfrm>
            <a:off x="4828032" y="1344168"/>
            <a:ext cx="3767328" cy="612648"/>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OP_RETURN</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The word that ends a script in failure and marks data outputs.</a:t>
            </a:r>
            <a:endParaRPr lang="en-US" sz="1300" dirty="0"/>
          </a:p>
        </p:txBody>
      </p:sp>
      <p:sp>
        <p:nvSpPr>
          <p:cNvPr id="13" name="Text 11"/>
          <p:cNvSpPr txBox="1"/>
          <p:nvPr/>
        </p:nvSpPr>
        <p:spPr>
          <a:xfrm>
            <a:off x="4828032" y="1984248"/>
            <a:ext cx="3767328" cy="214884"/>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a stop sign at the end of a road.</a:t>
            </a:r>
            <a:endParaRPr lang="en-US" sz="1150" dirty="0"/>
          </a:p>
        </p:txBody>
      </p:sp>
      <p:sp>
        <p:nvSpPr>
          <p:cNvPr id="14" name="Shape 12"/>
          <p:cNvSpPr/>
          <p:nvPr/>
        </p:nvSpPr>
        <p:spPr>
          <a:xfrm>
            <a:off x="457200" y="2505456"/>
            <a:ext cx="4041648" cy="1097280"/>
          </a:xfrm>
          <a:prstGeom prst="roundRect">
            <a:avLst>
              <a:gd name="adj" fmla="val 6667"/>
            </a:avLst>
          </a:prstGeom>
          <a:solidFill>
            <a:srgbClr val="F2ECE1"/>
          </a:solidFill>
          <a:ln w="12700">
            <a:solidFill>
              <a:srgbClr val="DFD6C7"/>
            </a:solidFill>
            <a:prstDash val="solid"/>
          </a:ln>
        </p:spPr>
      </p:sp>
      <p:sp>
        <p:nvSpPr>
          <p:cNvPr id="15" name="Shape 13"/>
          <p:cNvSpPr/>
          <p:nvPr/>
        </p:nvSpPr>
        <p:spPr>
          <a:xfrm>
            <a:off x="475488" y="2633472"/>
            <a:ext cx="64008" cy="841248"/>
          </a:xfrm>
          <a:prstGeom prst="rect">
            <a:avLst/>
          </a:prstGeom>
          <a:solidFill>
            <a:srgbClr val="D97A14"/>
          </a:solidFill>
          <a:ln w="12700">
            <a:solidFill>
              <a:srgbClr val="D97A14"/>
            </a:solidFill>
            <a:prstDash val="solid"/>
          </a:ln>
        </p:spPr>
      </p:sp>
      <p:sp>
        <p:nvSpPr>
          <p:cNvPr id="16" name="Text 14"/>
          <p:cNvSpPr txBox="1"/>
          <p:nvPr/>
        </p:nvSpPr>
        <p:spPr>
          <a:xfrm>
            <a:off x="640080" y="2569464"/>
            <a:ext cx="3767328" cy="612648"/>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data carrier output</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The relay policy's name for an OP_RETURN output.</a:t>
            </a:r>
            <a:endParaRPr lang="en-US" sz="1300" dirty="0"/>
          </a:p>
        </p:txBody>
      </p:sp>
      <p:sp>
        <p:nvSpPr>
          <p:cNvPr id="17" name="Text 15"/>
          <p:cNvSpPr txBox="1"/>
          <p:nvPr/>
        </p:nvSpPr>
        <p:spPr>
          <a:xfrm>
            <a:off x="640080" y="3209544"/>
            <a:ext cx="3767328" cy="214884"/>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a luggage tag that holds a few words.</a:t>
            </a:r>
            <a:endParaRPr lang="en-US" sz="1150" dirty="0"/>
          </a:p>
        </p:txBody>
      </p:sp>
      <p:sp>
        <p:nvSpPr>
          <p:cNvPr id="18" name="Shape 16"/>
          <p:cNvSpPr/>
          <p:nvPr/>
        </p:nvSpPr>
        <p:spPr>
          <a:xfrm>
            <a:off x="4645152" y="2505456"/>
            <a:ext cx="4041648" cy="1097280"/>
          </a:xfrm>
          <a:prstGeom prst="roundRect">
            <a:avLst>
              <a:gd name="adj" fmla="val 6667"/>
            </a:avLst>
          </a:prstGeom>
          <a:solidFill>
            <a:srgbClr val="F2ECE1"/>
          </a:solidFill>
          <a:ln w="12700">
            <a:solidFill>
              <a:srgbClr val="DFD6C7"/>
            </a:solidFill>
            <a:prstDash val="solid"/>
          </a:ln>
        </p:spPr>
      </p:sp>
      <p:sp>
        <p:nvSpPr>
          <p:cNvPr id="19" name="Shape 17"/>
          <p:cNvSpPr/>
          <p:nvPr/>
        </p:nvSpPr>
        <p:spPr>
          <a:xfrm>
            <a:off x="4663440" y="2633472"/>
            <a:ext cx="64008" cy="841248"/>
          </a:xfrm>
          <a:prstGeom prst="rect">
            <a:avLst/>
          </a:prstGeom>
          <a:solidFill>
            <a:srgbClr val="D97A14"/>
          </a:solidFill>
          <a:ln w="12700">
            <a:solidFill>
              <a:srgbClr val="D97A14"/>
            </a:solidFill>
            <a:prstDash val="solid"/>
          </a:ln>
        </p:spPr>
      </p:sp>
      <p:sp>
        <p:nvSpPr>
          <p:cNvPr id="20" name="Text 18"/>
          <p:cNvSpPr txBox="1"/>
          <p:nvPr/>
        </p:nvSpPr>
        <p:spPr>
          <a:xfrm>
            <a:off x="4828032" y="2569464"/>
            <a:ext cx="3767328" cy="612648"/>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lock time</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A field with the earliest time or block for a transaction.</a:t>
            </a:r>
            <a:endParaRPr lang="en-US" sz="1300" dirty="0"/>
          </a:p>
        </p:txBody>
      </p:sp>
      <p:sp>
        <p:nvSpPr>
          <p:cNvPr id="21" name="Text 19"/>
          <p:cNvSpPr txBox="1"/>
          <p:nvPr/>
        </p:nvSpPr>
        <p:spPr>
          <a:xfrm>
            <a:off x="4828032" y="3209544"/>
            <a:ext cx="3767328" cy="214884"/>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the not-before date on an invitation.</a:t>
            </a:r>
            <a:endParaRPr lang="en-US" sz="1150" dirty="0"/>
          </a:p>
        </p:txBody>
      </p:sp>
      <p:sp>
        <p:nvSpPr>
          <p:cNvPr id="22" name="Shape 20"/>
          <p:cNvSpPr/>
          <p:nvPr/>
        </p:nvSpPr>
        <p:spPr>
          <a:xfrm>
            <a:off x="457200" y="4636008"/>
            <a:ext cx="91440" cy="310896"/>
          </a:xfrm>
          <a:prstGeom prst="rect">
            <a:avLst/>
          </a:prstGeom>
          <a:solidFill>
            <a:srgbClr val="D97A14"/>
          </a:solidFill>
          <a:ln w="12700">
            <a:solidFill>
              <a:srgbClr val="D97A14"/>
            </a:solidFill>
            <a:prstDash val="solid"/>
          </a:ln>
        </p:spPr>
      </p:sp>
      <p:sp>
        <p:nvSpPr>
          <p:cNvPr id="23" name="Text 21"/>
          <p:cNvSpPr txBox="1"/>
          <p:nvPr/>
        </p:nvSpPr>
        <p:spPr>
          <a:xfrm>
            <a:off x="658368" y="4599432"/>
            <a:ext cx="6949440" cy="384048"/>
          </a:xfrm>
          <a:prstGeom prst="rect">
            <a:avLst/>
          </a:prstGeom>
          <a:noFill/>
          <a:ln/>
        </p:spPr>
        <p:txBody>
          <a:bodyPr wrap="square" lIns="0" tIns="0" rIns="0" bIns="0" rtlCol="0" anchor="ctr"/>
          <a:lstStyle/>
          <a:p>
            <a:pPr indent="0" marL="0">
              <a:buNone/>
            </a:pPr>
            <a:r>
              <a:rPr lang="en-US" sz="1350" b="1" i="1" dirty="0">
                <a:solidFill>
                  <a:srgbClr val="2B2622"/>
                </a:solidFill>
                <a:latin typeface="Cambria" pitchFamily="34" charset="0"/>
                <a:ea typeface="Cambria" pitchFamily="34" charset="-122"/>
                <a:cs typeface="Cambria" pitchFamily="34" charset="-120"/>
              </a:rPr>
              <a:t>Say each idea twice: once as the meaning, once as the everyday comparison</a:t>
            </a:r>
            <a:endParaRPr lang="en-US" sz="1350" dirty="0"/>
          </a:p>
        </p:txBody>
      </p:sp>
      <p:sp>
        <p:nvSpPr>
          <p:cNvPr id="24" name="Text 22"/>
          <p:cNvSpPr txBox="1"/>
          <p:nvPr/>
        </p:nvSpPr>
        <p:spPr>
          <a:xfrm>
            <a:off x="7863840" y="4645152"/>
            <a:ext cx="868680" cy="310896"/>
          </a:xfrm>
          <a:prstGeom prst="rect">
            <a:avLst/>
          </a:prstGeom>
          <a:noFill/>
          <a:ln/>
        </p:spPr>
        <p:txBody>
          <a:bodyPr wrap="square" lIns="0" tIns="0" rIns="0" bIns="0" rtlCol="0" anchor="ctr"/>
          <a:lstStyle/>
          <a:p>
            <a:pPr algn="r" indent="0" marL="0">
              <a:buNone/>
            </a:pPr>
            <a:r>
              <a:rPr lang="en-US" sz="1100" dirty="0">
                <a:solidFill>
                  <a:srgbClr val="6E655C"/>
                </a:solidFill>
                <a:latin typeface="Calibri" pitchFamily="34" charset="0"/>
                <a:ea typeface="Calibri" pitchFamily="34" charset="-122"/>
                <a:cs typeface="Calibri" pitchFamily="34" charset="-120"/>
              </a:rPr>
              <a:t>30 / 61</a:t>
            </a:r>
            <a:endParaRPr lang="en-US" sz="11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AF6EF"/>
        </a:solidFill>
      </p:bgPr>
    </p:bg>
    <p:spTree>
      <p:nvGrpSpPr>
        <p:cNvPr id="1" name=""/>
        <p:cNvGrpSpPr/>
        <p:nvPr/>
      </p:nvGrpSpPr>
      <p:grpSpPr>
        <a:xfrm>
          <a:off x="0" y="0"/>
          <a:ext cx="0" cy="0"/>
          <a:chOff x="0" y="0"/>
          <a:chExt cx="0" cy="0"/>
        </a:xfrm>
      </p:grpSpPr>
      <p:sp>
        <p:nvSpPr>
          <p:cNvPr id="2" name="Shape 0"/>
          <p:cNvSpPr/>
          <p:nvPr/>
        </p:nvSpPr>
        <p:spPr>
          <a:xfrm>
            <a:off x="457200" y="347472"/>
            <a:ext cx="566928" cy="384048"/>
          </a:xfrm>
          <a:prstGeom prst="roundRect">
            <a:avLst>
              <a:gd name="adj" fmla="val 19048"/>
            </a:avLst>
          </a:prstGeom>
          <a:solidFill>
            <a:srgbClr val="D97A14"/>
          </a:solidFill>
          <a:ln w="12700">
            <a:solidFill>
              <a:srgbClr val="D97A14"/>
            </a:solidFill>
            <a:prstDash val="solid"/>
          </a:ln>
        </p:spPr>
      </p:sp>
      <p:sp>
        <p:nvSpPr>
          <p:cNvPr id="3" name="Text 1"/>
          <p:cNvSpPr txBox="1"/>
          <p:nvPr/>
        </p:nvSpPr>
        <p:spPr>
          <a:xfrm>
            <a:off x="457200" y="347472"/>
            <a:ext cx="56692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4" name="Text 2"/>
          <p:cNvSpPr txBox="1"/>
          <p:nvPr/>
        </p:nvSpPr>
        <p:spPr>
          <a:xfrm>
            <a:off x="1143000" y="237744"/>
            <a:ext cx="7543800" cy="566928"/>
          </a:xfrm>
          <a:prstGeom prst="rect">
            <a:avLst/>
          </a:prstGeom>
          <a:noFill/>
          <a:ln/>
        </p:spPr>
        <p:txBody>
          <a:bodyPr wrap="square" lIns="0" tIns="0" rIns="0" bIns="0" rtlCol="0" anchor="ctr"/>
          <a:lstStyle/>
          <a:p>
            <a:pPr indent="0" marL="0">
              <a:buNone/>
            </a:pPr>
            <a:r>
              <a:rPr lang="en-US" sz="2800" b="1" dirty="0">
                <a:solidFill>
                  <a:srgbClr val="2B2622"/>
                </a:solidFill>
                <a:latin typeface="Cambria" pitchFamily="34" charset="0"/>
                <a:ea typeface="Cambria" pitchFamily="34" charset="-122"/>
                <a:cs typeface="Cambria" pitchFamily="34" charset="-120"/>
              </a:rPr>
              <a:t>A wait of 4,320 blocks</a:t>
            </a:r>
            <a:endParaRPr lang="en-US" sz="2800" dirty="0"/>
          </a:p>
        </p:txBody>
      </p:sp>
      <p:sp>
        <p:nvSpPr>
          <p:cNvPr id="5" name="Text 3"/>
          <p:cNvSpPr txBox="1"/>
          <p:nvPr/>
        </p:nvSpPr>
        <p:spPr>
          <a:xfrm>
            <a:off x="1143000" y="786384"/>
            <a:ext cx="7543800" cy="310896"/>
          </a:xfrm>
          <a:prstGeom prst="rect">
            <a:avLst/>
          </a:prstGeom>
          <a:noFill/>
          <a:ln/>
        </p:spPr>
        <p:txBody>
          <a:bodyPr wrap="square" lIns="0" tIns="0" rIns="0" bIns="0" rtlCol="0" anchor="ctr"/>
          <a:lstStyle/>
          <a:p>
            <a:pPr indent="0" marL="0">
              <a:buNone/>
            </a:pPr>
            <a:r>
              <a:rPr lang="en-US" sz="1300" i="1" dirty="0">
                <a:solidFill>
                  <a:srgbClr val="6E655C"/>
                </a:solidFill>
                <a:latin typeface="Calibri" pitchFamily="34" charset="0"/>
                <a:ea typeface="Calibri" pitchFamily="34" charset="-122"/>
                <a:cs typeface="Calibri" pitchFamily="34" charset="-120"/>
              </a:rPr>
              <a:t>OP_CHECKSEQUENCEVERIFY counts the age of the coin</a:t>
            </a:r>
            <a:endParaRPr lang="en-US" sz="1300" dirty="0"/>
          </a:p>
        </p:txBody>
      </p:sp>
      <p:sp>
        <p:nvSpPr>
          <p:cNvPr id="6" name="Shape 4"/>
          <p:cNvSpPr/>
          <p:nvPr/>
        </p:nvSpPr>
        <p:spPr>
          <a:xfrm>
            <a:off x="457200" y="1325880"/>
            <a:ext cx="5074920" cy="311810"/>
          </a:xfrm>
          <a:prstGeom prst="roundRect">
            <a:avLst>
              <a:gd name="adj" fmla="val 23460"/>
            </a:avLst>
          </a:prstGeom>
          <a:solidFill>
            <a:srgbClr val="23272E"/>
          </a:solidFill>
          <a:ln w="12700">
            <a:solidFill>
              <a:srgbClr val="23272E"/>
            </a:solidFill>
            <a:prstDash val="solid"/>
          </a:ln>
        </p:spPr>
      </p:sp>
      <p:sp>
        <p:nvSpPr>
          <p:cNvPr id="7" name="Text 5"/>
          <p:cNvSpPr txBox="1"/>
          <p:nvPr/>
        </p:nvSpPr>
        <p:spPr>
          <a:xfrm>
            <a:off x="603504" y="1399032"/>
            <a:ext cx="4800600" cy="183794"/>
          </a:xfrm>
          <a:prstGeom prst="rect">
            <a:avLst/>
          </a:prstGeom>
          <a:noFill/>
          <a:ln/>
        </p:spPr>
        <p:txBody>
          <a:bodyPr wrap="square" lIns="0" tIns="0" rIns="0" bIns="0" rtlCol="0" anchor="t"/>
          <a:lstStyle/>
          <a:p>
            <a:pPr indent="0" marL="0">
              <a:buNone/>
            </a:pPr>
            <a:r>
              <a:rPr lang="en-US" sz="1000" b="1" dirty="0">
                <a:solidFill>
                  <a:srgbClr val="D97A14"/>
                </a:solidFill>
                <a:latin typeface="Courier New" pitchFamily="34" charset="0"/>
                <a:ea typeface="Courier New" pitchFamily="34" charset="-122"/>
                <a:cs typeface="Courier New" pitchFamily="34" charset="-120"/>
              </a:rPr>
              <a:t>&gt;&gt;&gt; </a:t>
            </a:r>
            <a:r>
              <a:rPr lang="en-US" sz="1000" dirty="0">
                <a:solidFill>
                  <a:srgbClr val="E6EDF3"/>
                </a:solidFill>
                <a:latin typeface="Courier New" pitchFamily="34" charset="0"/>
                <a:ea typeface="Courier New" pitchFamily="34" charset="-122"/>
                <a:cs typeface="Courier New" pitchFamily="34" charset="-120"/>
              </a:rPr>
              <a:t>ok = K.key_spend(CSV, version=</a:t>
            </a:r>
            <a:r>
              <a:rPr lang="en-US" sz="1000" dirty="0">
                <a:solidFill>
                  <a:srgbClr val="FFD28A"/>
                </a:solidFill>
                <a:latin typeface="Courier New" pitchFamily="34" charset="0"/>
                <a:ea typeface="Courier New" pitchFamily="34" charset="-122"/>
                <a:cs typeface="Courier New" pitchFamily="34" charset="-120"/>
              </a:rPr>
              <a:t>2</a:t>
            </a:r>
            <a:r>
              <a:rPr lang="en-US" sz="1000" dirty="0">
                <a:solidFill>
                  <a:srgbClr val="E6EDF3"/>
                </a:solidFill>
                <a:latin typeface="Courier New" pitchFamily="34" charset="0"/>
                <a:ea typeface="Courier New" pitchFamily="34" charset="-122"/>
                <a:cs typeface="Courier New" pitchFamily="34" charset="-120"/>
              </a:rPr>
              <a:t>, sequence=</a:t>
            </a:r>
            <a:r>
              <a:rPr lang="en-US" sz="1000" dirty="0">
                <a:solidFill>
                  <a:srgbClr val="FFD28A"/>
                </a:solidFill>
                <a:latin typeface="Courier New" pitchFamily="34" charset="0"/>
                <a:ea typeface="Courier New" pitchFamily="34" charset="-122"/>
                <a:cs typeface="Courier New" pitchFamily="34" charset="-120"/>
              </a:rPr>
              <a:t>4320</a:t>
            </a:r>
            <a:r>
              <a:rPr lang="en-US" sz="1000" dirty="0">
                <a:solidFill>
                  <a:srgbClr val="E6EDF3"/>
                </a:solidFill>
                <a:latin typeface="Courier New" pitchFamily="34" charset="0"/>
                <a:ea typeface="Courier New" pitchFamily="34" charset="-122"/>
                <a:cs typeface="Courier New" pitchFamily="34" charset="-120"/>
              </a:rPr>
              <a:t>)</a:t>
            </a:r>
            <a:endParaRPr lang="en-US" sz="1000" dirty="0"/>
          </a:p>
        </p:txBody>
      </p:sp>
      <p:sp>
        <p:nvSpPr>
          <p:cNvPr id="8" name="Shape 6"/>
          <p:cNvSpPr/>
          <p:nvPr/>
        </p:nvSpPr>
        <p:spPr>
          <a:xfrm>
            <a:off x="457200" y="2122322"/>
            <a:ext cx="5074920" cy="476402"/>
          </a:xfrm>
          <a:prstGeom prst="roundRect">
            <a:avLst>
              <a:gd name="adj" fmla="val 15355"/>
            </a:avLst>
          </a:prstGeom>
          <a:solidFill>
            <a:srgbClr val="23272E"/>
          </a:solidFill>
          <a:ln w="12700">
            <a:solidFill>
              <a:srgbClr val="23272E"/>
            </a:solidFill>
            <a:prstDash val="solid"/>
          </a:ln>
        </p:spPr>
      </p:sp>
      <p:sp>
        <p:nvSpPr>
          <p:cNvPr id="9" name="Text 7"/>
          <p:cNvSpPr txBox="1"/>
          <p:nvPr/>
        </p:nvSpPr>
        <p:spPr>
          <a:xfrm>
            <a:off x="603504" y="2195474"/>
            <a:ext cx="4800600" cy="348386"/>
          </a:xfrm>
          <a:prstGeom prst="rect">
            <a:avLst/>
          </a:prstGeom>
          <a:noFill/>
          <a:ln/>
        </p:spPr>
        <p:txBody>
          <a:bodyPr wrap="square" lIns="0" tIns="0" rIns="0" bIns="0" rtlCol="0" anchor="t"/>
          <a:lstStyle/>
          <a:p>
            <a:pPr indent="0" marL="0">
              <a:buNone/>
            </a:pPr>
            <a:r>
              <a:rPr lang="en-US" sz="1000" b="1" dirty="0">
                <a:solidFill>
                  <a:srgbClr val="D97A14"/>
                </a:solidFill>
                <a:latin typeface="Courier New" pitchFamily="34" charset="0"/>
                <a:ea typeface="Courier New" pitchFamily="34" charset="-122"/>
                <a:cs typeface="Courier New" pitchFamily="34" charset="-120"/>
              </a:rPr>
              <a:t>&gt;&gt;&gt; </a:t>
            </a:r>
            <a:r>
              <a:rPr lang="en-US" sz="1000" dirty="0">
                <a:solidFill>
                  <a:srgbClr val="E6EDF3"/>
                </a:solidFill>
                <a:latin typeface="Courier New" pitchFamily="34" charset="0"/>
                <a:ea typeface="Courier New" pitchFamily="34" charset="-122"/>
                <a:cs typeface="Courier New" pitchFamily="34" charset="-120"/>
              </a:rPr>
              <a:t>early = K.key_spend(CSV, version=</a:t>
            </a:r>
            <a:r>
              <a:rPr lang="en-US" sz="1000" dirty="0">
                <a:solidFill>
                  <a:srgbClr val="FFD28A"/>
                </a:solidFill>
                <a:latin typeface="Courier New" pitchFamily="34" charset="0"/>
                <a:ea typeface="Courier New" pitchFamily="34" charset="-122"/>
                <a:cs typeface="Courier New" pitchFamily="34" charset="-120"/>
              </a:rPr>
              <a:t>2</a:t>
            </a:r>
            <a:r>
              <a:rPr lang="en-US" sz="1000" dirty="0">
                <a:solidFill>
                  <a:srgbClr val="E6EDF3"/>
                </a:solidFill>
                <a:latin typeface="Courier New" pitchFamily="34" charset="0"/>
                <a:ea typeface="Courier New" pitchFamily="34" charset="-122"/>
                <a:cs typeface="Courier New" pitchFamily="34" charset="-120"/>
              </a:rPr>
              <a:t>, sequence=</a:t>
            </a:r>
            <a:r>
              <a:rPr lang="en-US" sz="1000" dirty="0">
                <a:solidFill>
                  <a:srgbClr val="FFD28A"/>
                </a:solidFill>
                <a:latin typeface="Courier New" pitchFamily="34" charset="0"/>
                <a:ea typeface="Courier New" pitchFamily="34" charset="-122"/>
                <a:cs typeface="Courier New" pitchFamily="34" charset="-120"/>
              </a:rPr>
              <a:t>4319</a:t>
            </a:r>
            <a:r>
              <a:rPr lang="en-US" sz="1000" dirty="0">
                <a:solidFill>
                  <a:srgbClr val="E6EDF3"/>
                </a:solidFill>
                <a:latin typeface="Courier New" pitchFamily="34" charset="0"/>
                <a:ea typeface="Courier New" pitchFamily="34" charset="-122"/>
                <a:cs typeface="Courier New" pitchFamily="34" charset="-120"/>
              </a:rPr>
              <a:t>)</a:t>
            </a:r>
            <a:endParaRPr lang="en-US" sz="1000" dirty="0"/>
          </a:p>
          <a:p>
            <a:pPr indent="0" marL="0">
              <a:buNone/>
            </a:pPr>
            <a:r>
              <a:rPr lang="en-US" sz="1000" b="1" dirty="0">
                <a:solidFill>
                  <a:srgbClr val="D97A14"/>
                </a:solidFill>
                <a:latin typeface="Courier New" pitchFamily="34" charset="0"/>
                <a:ea typeface="Courier New" pitchFamily="34" charset="-122"/>
                <a:cs typeface="Courier New" pitchFamily="34" charset="-120"/>
              </a:rPr>
              <a:t>&gt;&gt;&gt; </a:t>
            </a:r>
            <a:r>
              <a:rPr lang="en-US" sz="1000" dirty="0">
                <a:solidFill>
                  <a:srgbClr val="E6EDF3"/>
                </a:solidFill>
                <a:latin typeface="Courier New" pitchFamily="34" charset="0"/>
                <a:ea typeface="Courier New" pitchFamily="34" charset="-122"/>
                <a:cs typeface="Courier New" pitchFamily="34" charset="-120"/>
              </a:rPr>
              <a:t>v1 = K.key_spend(CSV, version=</a:t>
            </a:r>
            <a:r>
              <a:rPr lang="en-US" sz="1000" dirty="0">
                <a:solidFill>
                  <a:srgbClr val="FFD28A"/>
                </a:solidFill>
                <a:latin typeface="Courier New" pitchFamily="34" charset="0"/>
                <a:ea typeface="Courier New" pitchFamily="34" charset="-122"/>
                <a:cs typeface="Courier New" pitchFamily="34" charset="-120"/>
              </a:rPr>
              <a:t>1</a:t>
            </a:r>
            <a:r>
              <a:rPr lang="en-US" sz="1000" dirty="0">
                <a:solidFill>
                  <a:srgbClr val="E6EDF3"/>
                </a:solidFill>
                <a:latin typeface="Courier New" pitchFamily="34" charset="0"/>
                <a:ea typeface="Courier New" pitchFamily="34" charset="-122"/>
                <a:cs typeface="Courier New" pitchFamily="34" charset="-120"/>
              </a:rPr>
              <a:t>, sequence=</a:t>
            </a:r>
            <a:r>
              <a:rPr lang="en-US" sz="1000" dirty="0">
                <a:solidFill>
                  <a:srgbClr val="FFD28A"/>
                </a:solidFill>
                <a:latin typeface="Courier New" pitchFamily="34" charset="0"/>
                <a:ea typeface="Courier New" pitchFamily="34" charset="-122"/>
                <a:cs typeface="Courier New" pitchFamily="34" charset="-120"/>
              </a:rPr>
              <a:t>4320</a:t>
            </a:r>
            <a:r>
              <a:rPr lang="en-US" sz="1000" dirty="0">
                <a:solidFill>
                  <a:srgbClr val="E6EDF3"/>
                </a:solidFill>
                <a:latin typeface="Courier New" pitchFamily="34" charset="0"/>
                <a:ea typeface="Courier New" pitchFamily="34" charset="-122"/>
                <a:cs typeface="Courier New" pitchFamily="34" charset="-120"/>
              </a:rPr>
              <a:t>)</a:t>
            </a:r>
            <a:endParaRPr lang="en-US" sz="1000" dirty="0"/>
          </a:p>
        </p:txBody>
      </p:sp>
      <p:sp>
        <p:nvSpPr>
          <p:cNvPr id="10" name="Shape 8"/>
          <p:cNvSpPr/>
          <p:nvPr/>
        </p:nvSpPr>
        <p:spPr>
          <a:xfrm>
            <a:off x="457200" y="2918765"/>
            <a:ext cx="5074920" cy="806501"/>
          </a:xfrm>
          <a:prstGeom prst="roundRect">
            <a:avLst>
              <a:gd name="adj" fmla="val 9070"/>
            </a:avLst>
          </a:prstGeom>
          <a:solidFill>
            <a:srgbClr val="23272E"/>
          </a:solidFill>
          <a:ln w="12700">
            <a:solidFill>
              <a:srgbClr val="23272E"/>
            </a:solidFill>
            <a:prstDash val="solid"/>
          </a:ln>
        </p:spPr>
      </p:sp>
      <p:sp>
        <p:nvSpPr>
          <p:cNvPr id="11" name="Text 9"/>
          <p:cNvSpPr txBox="1"/>
          <p:nvPr/>
        </p:nvSpPr>
        <p:spPr>
          <a:xfrm>
            <a:off x="603504" y="2991917"/>
            <a:ext cx="4800600" cy="678485"/>
          </a:xfrm>
          <a:prstGeom prst="rect">
            <a:avLst/>
          </a:prstGeom>
          <a:noFill/>
          <a:ln/>
        </p:spPr>
        <p:txBody>
          <a:bodyPr wrap="square" lIns="0" tIns="0" rIns="0" bIns="0" rtlCol="0" anchor="t"/>
          <a:lstStyle/>
          <a:p>
            <a:pPr indent="0" marL="0">
              <a:buNone/>
            </a:pPr>
            <a:r>
              <a:rPr lang="en-US" sz="1000" b="1" dirty="0">
                <a:solidFill>
                  <a:srgbClr val="D97A14"/>
                </a:solidFill>
                <a:latin typeface="Courier New" pitchFamily="34" charset="0"/>
                <a:ea typeface="Courier New" pitchFamily="34" charset="-122"/>
                <a:cs typeface="Courier New" pitchFamily="34" charset="-120"/>
              </a:rPr>
              <a:t>&gt;&gt;&gt; </a:t>
            </a:r>
            <a:r>
              <a:rPr lang="en-US" sz="1000" dirty="0">
                <a:solidFill>
                  <a:srgbClr val="E6EDF3"/>
                </a:solidFill>
                <a:latin typeface="Courier New" pitchFamily="34" charset="0"/>
                <a:ea typeface="Courier New" pitchFamily="34" charset="-122"/>
                <a:cs typeface="Courier New" pitchFamily="34" charset="-120"/>
              </a:rPr>
              <a:t>bit31 = 0x80000000 | </a:t>
            </a:r>
            <a:r>
              <a:rPr lang="en-US" sz="1000" dirty="0">
                <a:solidFill>
                  <a:srgbClr val="FFD28A"/>
                </a:solidFill>
                <a:latin typeface="Courier New" pitchFamily="34" charset="0"/>
                <a:ea typeface="Courier New" pitchFamily="34" charset="-122"/>
                <a:cs typeface="Courier New" pitchFamily="34" charset="-120"/>
              </a:rPr>
              <a:t>4320</a:t>
            </a:r>
            <a:endParaRPr lang="en-US" sz="1000" dirty="0"/>
          </a:p>
          <a:p>
            <a:pPr indent="0" marL="0">
              <a:buNone/>
            </a:pPr>
            <a:r>
              <a:rPr lang="en-US" sz="1000" b="1" dirty="0">
                <a:solidFill>
                  <a:srgbClr val="D97A14"/>
                </a:solidFill>
                <a:latin typeface="Courier New" pitchFamily="34" charset="0"/>
                <a:ea typeface="Courier New" pitchFamily="34" charset="-122"/>
                <a:cs typeface="Courier New" pitchFamily="34" charset="-120"/>
              </a:rPr>
              <a:t>&gt;&gt;&gt; </a:t>
            </a:r>
            <a:r>
              <a:rPr lang="en-US" sz="1000" dirty="0">
                <a:solidFill>
                  <a:srgbClr val="E6EDF3"/>
                </a:solidFill>
                <a:latin typeface="Courier New" pitchFamily="34" charset="0"/>
                <a:ea typeface="Courier New" pitchFamily="34" charset="-122"/>
                <a:cs typeface="Courier New" pitchFamily="34" charset="-120"/>
              </a:rPr>
              <a:t>off = K.key_spend(CSV, version=</a:t>
            </a:r>
            <a:r>
              <a:rPr lang="en-US" sz="1000" dirty="0">
                <a:solidFill>
                  <a:srgbClr val="FFD28A"/>
                </a:solidFill>
                <a:latin typeface="Courier New" pitchFamily="34" charset="0"/>
                <a:ea typeface="Courier New" pitchFamily="34" charset="-122"/>
                <a:cs typeface="Courier New" pitchFamily="34" charset="-120"/>
              </a:rPr>
              <a:t>2</a:t>
            </a:r>
            <a:r>
              <a:rPr lang="en-US" sz="1000" dirty="0">
                <a:solidFill>
                  <a:srgbClr val="E6EDF3"/>
                </a:solidFill>
                <a:latin typeface="Courier New" pitchFamily="34" charset="0"/>
                <a:ea typeface="Courier New" pitchFamily="34" charset="-122"/>
                <a:cs typeface="Courier New" pitchFamily="34" charset="-120"/>
              </a:rPr>
              <a:t>, sequence=bit31)</a:t>
            </a:r>
            <a:endParaRPr lang="en-US" sz="1000" dirty="0"/>
          </a:p>
          <a:p>
            <a:pPr indent="0" marL="0">
              <a:buNone/>
            </a:pPr>
            <a:r>
              <a:rPr lang="en-US" sz="1000" b="1" dirty="0">
                <a:solidFill>
                  <a:srgbClr val="D97A14"/>
                </a:solidFill>
                <a:latin typeface="Courier New" pitchFamily="34" charset="0"/>
                <a:ea typeface="Courier New" pitchFamily="34" charset="-122"/>
                <a:cs typeface="Courier New" pitchFamily="34" charset="-120"/>
              </a:rPr>
              <a:t>&gt;&gt;&gt; </a:t>
            </a:r>
            <a:r>
              <a:rPr lang="en-US" sz="1000" dirty="0">
                <a:solidFill>
                  <a:srgbClr val="E6EDF3"/>
                </a:solidFill>
                <a:latin typeface="Courier New" pitchFamily="34" charset="0"/>
                <a:ea typeface="Courier New" pitchFamily="34" charset="-122"/>
                <a:cs typeface="Courier New" pitchFamily="34" charset="-120"/>
              </a:rPr>
              <a:t>off</a:t>
            </a:r>
            <a:endParaRPr lang="en-US" sz="1000" dirty="0"/>
          </a:p>
          <a:p>
            <a:pPr indent="0" marL="0">
              <a:buNone/>
            </a:pPr>
            <a:r>
              <a:rPr lang="en-US" sz="1000" dirty="0">
                <a:solidFill>
                  <a:srgbClr val="7EE787"/>
                </a:solidFill>
                <a:latin typeface="Courier New" pitchFamily="34" charset="0"/>
                <a:ea typeface="Courier New" pitchFamily="34" charset="-122"/>
                <a:cs typeface="Courier New" pitchFamily="34" charset="-120"/>
              </a:rPr>
              <a:t>'UNSATISFIED_LOCKTIME'</a:t>
            </a:r>
            <a:endParaRPr lang="en-US" sz="1000" dirty="0"/>
          </a:p>
        </p:txBody>
      </p:sp>
      <p:sp>
        <p:nvSpPr>
          <p:cNvPr id="12" name="Shape 10"/>
          <p:cNvSpPr/>
          <p:nvPr/>
        </p:nvSpPr>
        <p:spPr>
          <a:xfrm>
            <a:off x="365760" y="1252728"/>
            <a:ext cx="237744" cy="237744"/>
          </a:xfrm>
          <a:prstGeom prst="ellipse">
            <a:avLst/>
          </a:prstGeom>
          <a:solidFill>
            <a:srgbClr val="D97A14"/>
          </a:solidFill>
          <a:ln w="12700">
            <a:solidFill>
              <a:srgbClr val="D97A14"/>
            </a:solidFill>
            <a:prstDash val="solid"/>
          </a:ln>
        </p:spPr>
      </p:sp>
      <p:sp>
        <p:nvSpPr>
          <p:cNvPr id="13" name="Text 11"/>
          <p:cNvSpPr txBox="1"/>
          <p:nvPr/>
        </p:nvSpPr>
        <p:spPr>
          <a:xfrm>
            <a:off x="365760" y="1252728"/>
            <a:ext cx="237744" cy="237744"/>
          </a:xfrm>
          <a:prstGeom prst="rect">
            <a:avLst/>
          </a:prstGeom>
          <a:noFill/>
          <a:ln/>
        </p:spPr>
        <p:txBody>
          <a:bodyPr wrap="square" lIns="0" tIns="0" rIns="0" bIns="0" rtlCol="0" anchor="ctr"/>
          <a:lstStyle/>
          <a:p>
            <a:pPr algn="ctr" indent="0" marL="0">
              <a:buNone/>
            </a:pPr>
            <a:r>
              <a:rPr lang="en-US" sz="1100" b="1" dirty="0">
                <a:solidFill>
                  <a:srgbClr val="FFFFFF"/>
                </a:solidFill>
                <a:latin typeface="Cambria" pitchFamily="34" charset="0"/>
                <a:ea typeface="Cambria" pitchFamily="34" charset="-122"/>
                <a:cs typeface="Cambria" pitchFamily="34" charset="-120"/>
              </a:rPr>
              <a:t>1</a:t>
            </a:r>
            <a:endParaRPr lang="en-US" sz="1100" dirty="0"/>
          </a:p>
        </p:txBody>
      </p:sp>
      <p:sp>
        <p:nvSpPr>
          <p:cNvPr id="14" name="Text 12"/>
          <p:cNvSpPr txBox="1"/>
          <p:nvPr/>
        </p:nvSpPr>
        <p:spPr>
          <a:xfrm>
            <a:off x="731520" y="1665122"/>
            <a:ext cx="4800600" cy="374904"/>
          </a:xfrm>
          <a:prstGeom prst="rect">
            <a:avLst/>
          </a:prstGeom>
          <a:noFill/>
          <a:ln/>
        </p:spPr>
        <p:txBody>
          <a:bodyPr wrap="square" lIns="0" tIns="0" rIns="0" bIns="0" rtlCol="0" anchor="t"/>
          <a:lstStyle/>
          <a:p>
            <a:pPr indent="0" marL="0">
              <a:buNone/>
            </a:pPr>
            <a:r>
              <a:rPr lang="en-US" sz="1050" dirty="0">
                <a:solidFill>
                  <a:srgbClr val="2B2622"/>
                </a:solidFill>
                <a:latin typeface="Calibri" pitchFamily="34" charset="0"/>
                <a:ea typeface="Calibri" pitchFamily="34" charset="-122"/>
                <a:cs typeface="Calibri" pitchFamily="34" charset="-120"/>
              </a:rPr>
              <a:t>Version 2 and a sequence of 4,320 satisfy the script: thirty days of blocks.</a:t>
            </a:r>
            <a:endParaRPr lang="en-US" sz="1050" dirty="0"/>
          </a:p>
        </p:txBody>
      </p:sp>
      <p:sp>
        <p:nvSpPr>
          <p:cNvPr id="15" name="Shape 13"/>
          <p:cNvSpPr/>
          <p:nvPr/>
        </p:nvSpPr>
        <p:spPr>
          <a:xfrm>
            <a:off x="365760" y="2049170"/>
            <a:ext cx="237744" cy="237744"/>
          </a:xfrm>
          <a:prstGeom prst="ellipse">
            <a:avLst/>
          </a:prstGeom>
          <a:solidFill>
            <a:srgbClr val="D97A14"/>
          </a:solidFill>
          <a:ln w="12700">
            <a:solidFill>
              <a:srgbClr val="D97A14"/>
            </a:solidFill>
            <a:prstDash val="solid"/>
          </a:ln>
        </p:spPr>
      </p:sp>
      <p:sp>
        <p:nvSpPr>
          <p:cNvPr id="16" name="Text 14"/>
          <p:cNvSpPr txBox="1"/>
          <p:nvPr/>
        </p:nvSpPr>
        <p:spPr>
          <a:xfrm>
            <a:off x="365760" y="2049170"/>
            <a:ext cx="237744" cy="237744"/>
          </a:xfrm>
          <a:prstGeom prst="rect">
            <a:avLst/>
          </a:prstGeom>
          <a:noFill/>
          <a:ln/>
        </p:spPr>
        <p:txBody>
          <a:bodyPr wrap="square" lIns="0" tIns="0" rIns="0" bIns="0" rtlCol="0" anchor="ctr"/>
          <a:lstStyle/>
          <a:p>
            <a:pPr algn="ctr" indent="0" marL="0">
              <a:buNone/>
            </a:pPr>
            <a:r>
              <a:rPr lang="en-US" sz="1100" b="1" dirty="0">
                <a:solidFill>
                  <a:srgbClr val="FFFFFF"/>
                </a:solidFill>
                <a:latin typeface="Cambria" pitchFamily="34" charset="0"/>
                <a:ea typeface="Cambria" pitchFamily="34" charset="-122"/>
                <a:cs typeface="Cambria" pitchFamily="34" charset="-120"/>
              </a:rPr>
              <a:t>2</a:t>
            </a:r>
            <a:endParaRPr lang="en-US" sz="1100" dirty="0"/>
          </a:p>
        </p:txBody>
      </p:sp>
      <p:sp>
        <p:nvSpPr>
          <p:cNvPr id="17" name="Text 15"/>
          <p:cNvSpPr txBox="1"/>
          <p:nvPr/>
        </p:nvSpPr>
        <p:spPr>
          <a:xfrm>
            <a:off x="731520" y="2626157"/>
            <a:ext cx="4800600" cy="210312"/>
          </a:xfrm>
          <a:prstGeom prst="rect">
            <a:avLst/>
          </a:prstGeom>
          <a:noFill/>
          <a:ln/>
        </p:spPr>
        <p:txBody>
          <a:bodyPr wrap="square" lIns="0" tIns="0" rIns="0" bIns="0" rtlCol="0" anchor="t"/>
          <a:lstStyle/>
          <a:p>
            <a:pPr indent="0" marL="0">
              <a:buNone/>
            </a:pPr>
            <a:r>
              <a:rPr lang="en-US" sz="1050" dirty="0">
                <a:solidFill>
                  <a:srgbClr val="2B2622"/>
                </a:solidFill>
                <a:latin typeface="Calibri" pitchFamily="34" charset="0"/>
                <a:ea typeface="Calibri" pitchFamily="34" charset="-122"/>
                <a:cs typeface="Calibri" pitchFamily="34" charset="-120"/>
              </a:rPr>
              <a:t>One block short fails, and so does version 1.</a:t>
            </a:r>
            <a:endParaRPr lang="en-US" sz="1050" dirty="0"/>
          </a:p>
        </p:txBody>
      </p:sp>
      <p:sp>
        <p:nvSpPr>
          <p:cNvPr id="18" name="Shape 16"/>
          <p:cNvSpPr/>
          <p:nvPr/>
        </p:nvSpPr>
        <p:spPr>
          <a:xfrm>
            <a:off x="365760" y="2845613"/>
            <a:ext cx="237744" cy="237744"/>
          </a:xfrm>
          <a:prstGeom prst="ellipse">
            <a:avLst/>
          </a:prstGeom>
          <a:solidFill>
            <a:srgbClr val="D97A14"/>
          </a:solidFill>
          <a:ln w="12700">
            <a:solidFill>
              <a:srgbClr val="D97A14"/>
            </a:solidFill>
            <a:prstDash val="solid"/>
          </a:ln>
        </p:spPr>
      </p:sp>
      <p:sp>
        <p:nvSpPr>
          <p:cNvPr id="19" name="Text 17"/>
          <p:cNvSpPr txBox="1"/>
          <p:nvPr/>
        </p:nvSpPr>
        <p:spPr>
          <a:xfrm>
            <a:off x="365760" y="2845613"/>
            <a:ext cx="237744" cy="237744"/>
          </a:xfrm>
          <a:prstGeom prst="rect">
            <a:avLst/>
          </a:prstGeom>
          <a:noFill/>
          <a:ln/>
        </p:spPr>
        <p:txBody>
          <a:bodyPr wrap="square" lIns="0" tIns="0" rIns="0" bIns="0" rtlCol="0" anchor="ctr"/>
          <a:lstStyle/>
          <a:p>
            <a:pPr algn="ctr" indent="0" marL="0">
              <a:buNone/>
            </a:pPr>
            <a:r>
              <a:rPr lang="en-US" sz="1100" b="1" dirty="0">
                <a:solidFill>
                  <a:srgbClr val="FFFFFF"/>
                </a:solidFill>
                <a:latin typeface="Cambria" pitchFamily="34" charset="0"/>
                <a:ea typeface="Cambria" pitchFamily="34" charset="-122"/>
                <a:cs typeface="Cambria" pitchFamily="34" charset="-120"/>
              </a:rPr>
              <a:t>3</a:t>
            </a:r>
            <a:endParaRPr lang="en-US" sz="1100" dirty="0"/>
          </a:p>
        </p:txBody>
      </p:sp>
      <p:sp>
        <p:nvSpPr>
          <p:cNvPr id="20" name="Text 18"/>
          <p:cNvSpPr txBox="1"/>
          <p:nvPr/>
        </p:nvSpPr>
        <p:spPr>
          <a:xfrm>
            <a:off x="731520" y="3752698"/>
            <a:ext cx="4800600" cy="210312"/>
          </a:xfrm>
          <a:prstGeom prst="rect">
            <a:avLst/>
          </a:prstGeom>
          <a:noFill/>
          <a:ln/>
        </p:spPr>
        <p:txBody>
          <a:bodyPr wrap="square" lIns="0" tIns="0" rIns="0" bIns="0" rtlCol="0" anchor="t"/>
          <a:lstStyle/>
          <a:p>
            <a:pPr indent="0" marL="0">
              <a:buNone/>
            </a:pPr>
            <a:r>
              <a:rPr lang="en-US" sz="1050" dirty="0">
                <a:solidFill>
                  <a:srgbClr val="2B2622"/>
                </a:solidFill>
                <a:latin typeface="Calibri" pitchFamily="34" charset="0"/>
                <a:ea typeface="Calibri" pitchFamily="34" charset="-122"/>
                <a:cs typeface="Calibri" pitchFamily="34" charset="-120"/>
              </a:rPr>
              <a:t>Bit 31 set disables the relative lock, and the script fails.</a:t>
            </a:r>
            <a:endParaRPr lang="en-US" sz="1050" dirty="0"/>
          </a:p>
        </p:txBody>
      </p:sp>
      <p:sp>
        <p:nvSpPr>
          <p:cNvPr id="21" name="Text 19"/>
          <p:cNvSpPr txBox="1"/>
          <p:nvPr/>
        </p:nvSpPr>
        <p:spPr>
          <a:xfrm>
            <a:off x="457200" y="4008730"/>
            <a:ext cx="5074920" cy="182880"/>
          </a:xfrm>
          <a:prstGeom prst="rect">
            <a:avLst/>
          </a:prstGeom>
          <a:noFill/>
          <a:ln/>
        </p:spPr>
        <p:txBody>
          <a:bodyPr wrap="square" lIns="0" tIns="0" rIns="0" bIns="0" rtlCol="0" anchor="ctr"/>
          <a:lstStyle/>
          <a:p>
            <a:pPr algn="l" indent="0" marL="0">
              <a:buNone/>
            </a:pPr>
            <a:r>
              <a:rPr lang="en-US" sz="900" i="1" dirty="0">
                <a:solidFill>
                  <a:srgbClr val="6E655C"/>
                </a:solidFill>
                <a:latin typeface="Calibri" pitchFamily="34" charset="0"/>
                <a:ea typeface="Calibri" pitchFamily="34" charset="-122"/>
                <a:cs typeface="Calibri" pitchFamily="34" charset="-120"/>
              </a:rPr>
              <a:t>run under Python 3.14.6 - L, K and the chapter setup as on slide 7</a:t>
            </a:r>
            <a:endParaRPr lang="en-US" sz="900" dirty="0"/>
          </a:p>
        </p:txBody>
      </p:sp>
      <p:sp>
        <p:nvSpPr>
          <p:cNvPr id="22" name="Text 20"/>
          <p:cNvSpPr txBox="1"/>
          <p:nvPr/>
        </p:nvSpPr>
        <p:spPr>
          <a:xfrm>
            <a:off x="5715000" y="1325880"/>
            <a:ext cx="2971800" cy="219456"/>
          </a:xfrm>
          <a:prstGeom prst="rect">
            <a:avLst/>
          </a:prstGeom>
          <a:noFill/>
          <a:ln/>
        </p:spPr>
        <p:txBody>
          <a:bodyPr wrap="square" lIns="0" tIns="0" rIns="0" bIns="0" rtlCol="0" anchor="t"/>
          <a:lstStyle/>
          <a:p>
            <a:pPr algn="l" indent="0" marL="0">
              <a:buNone/>
            </a:pPr>
            <a:r>
              <a:rPr lang="en-US" sz="1100" b="1" dirty="0">
                <a:solidFill>
                  <a:srgbClr val="6E655C"/>
                </a:solidFill>
                <a:latin typeface="Calibri" pitchFamily="34" charset="0"/>
                <a:ea typeface="Calibri" pitchFamily="34" charset="-122"/>
                <a:cs typeface="Calibri" pitchFamily="34" charset="-120"/>
              </a:rPr>
              <a:t>Result: four spends of one script</a:t>
            </a:r>
            <a:endParaRPr lang="en-US" sz="11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715000" y="1591056"/>
          <a:ext cx="2971800" cy="914400"/>
        </p:xfrm>
        <a:graphic>
          <a:graphicData uri="http://schemas.openxmlformats.org/drawingml/2006/table">
            <a:tbl>
              <a:tblPr/>
              <a:tblGrid>
                <a:gridCol w="1097280"/>
                <a:gridCol w="1874520"/>
              </a:tblGrid>
              <a:tr h="274320">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Spend</a:t>
                      </a:r>
                      <a:endParaRPr lang="en-US" sz="90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solidFill>
                      <a:srgbClr val="2B2622"/>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Result</a:t>
                      </a:r>
                      <a:endParaRPr lang="en-US" sz="90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solidFill>
                      <a:srgbClr val="2B2622"/>
                    </a:solidFill>
                  </a:tcPr>
                </a:tc>
              </a:tr>
              <a:tr h="274320">
                <a:tc>
                  <a:txBody>
                    <a:bodyPr/>
                    <a:lstStyle/>
                    <a:p>
                      <a:pPr indent="0" marL="0">
                        <a:buNone/>
                      </a:pPr>
                      <a:r>
                        <a:rPr lang="en-US" sz="900" dirty="0">
                          <a:solidFill>
                            <a:srgbClr val="2B2622"/>
                          </a:solidFill>
                          <a:latin typeface="Calibri" pitchFamily="34" charset="0"/>
                          <a:ea typeface="Calibri" pitchFamily="34" charset="-122"/>
                          <a:cs typeface="Calibri" pitchFamily="34" charset="-120"/>
                        </a:rPr>
                        <a:t>Version 2, 4,320</a:t>
                      </a:r>
                      <a:endParaRPr lang="en-US" sz="90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c>
                  <a:txBody>
                    <a:bodyPr/>
                    <a:lstStyle/>
                    <a:p>
                      <a:pPr indent="0" marL="0">
                        <a:buNone/>
                      </a:pPr>
                      <a:r>
                        <a:rPr lang="en-US" sz="900" dirty="0">
                          <a:solidFill>
                            <a:srgbClr val="2B2622"/>
                          </a:solidFill>
                          <a:latin typeface="Calibri" pitchFamily="34" charset="0"/>
                          <a:ea typeface="Calibri" pitchFamily="34" charset="-122"/>
                          <a:cs typeface="Calibri" pitchFamily="34" charset="-120"/>
                        </a:rPr>
                        <a:t>OK</a:t>
                      </a:r>
                      <a:endParaRPr lang="en-US" sz="90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r>
              <a:tr h="274320">
                <a:tc>
                  <a:txBody>
                    <a:bodyPr/>
                    <a:lstStyle/>
                    <a:p>
                      <a:pPr indent="0" marL="0">
                        <a:buNone/>
                      </a:pPr>
                      <a:r>
                        <a:rPr lang="en-US" sz="900" dirty="0">
                          <a:solidFill>
                            <a:srgbClr val="2B2622"/>
                          </a:solidFill>
                          <a:latin typeface="Calibri" pitchFamily="34" charset="0"/>
                          <a:ea typeface="Calibri" pitchFamily="34" charset="-122"/>
                          <a:cs typeface="Calibri" pitchFamily="34" charset="-120"/>
                        </a:rPr>
                        <a:t>Version 2, 4,319</a:t>
                      </a:r>
                      <a:endParaRPr lang="en-US" sz="90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c>
                  <a:txBody>
                    <a:bodyPr/>
                    <a:lstStyle/>
                    <a:p>
                      <a:pPr indent="0" marL="0">
                        <a:buNone/>
                      </a:pPr>
                      <a:r>
                        <a:rPr lang="en-US" sz="900" dirty="0">
                          <a:solidFill>
                            <a:srgbClr val="2B2622"/>
                          </a:solidFill>
                          <a:latin typeface="Calibri" pitchFamily="34" charset="0"/>
                          <a:ea typeface="Calibri" pitchFamily="34" charset="-122"/>
                          <a:cs typeface="Calibri" pitchFamily="34" charset="-120"/>
                        </a:rPr>
                        <a:t>UNSATISFIED_LOCKTIME</a:t>
                      </a:r>
                      <a:endParaRPr lang="en-US" sz="90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r>
              <a:tr h="274320">
                <a:tc>
                  <a:txBody>
                    <a:bodyPr/>
                    <a:lstStyle/>
                    <a:p>
                      <a:pPr indent="0" marL="0">
                        <a:buNone/>
                      </a:pPr>
                      <a:r>
                        <a:rPr lang="en-US" sz="900" dirty="0">
                          <a:solidFill>
                            <a:srgbClr val="2B2622"/>
                          </a:solidFill>
                          <a:latin typeface="Calibri" pitchFamily="34" charset="0"/>
                          <a:ea typeface="Calibri" pitchFamily="34" charset="-122"/>
                          <a:cs typeface="Calibri" pitchFamily="34" charset="-120"/>
                        </a:rPr>
                        <a:t>Version 1, 4,320</a:t>
                      </a:r>
                      <a:endParaRPr lang="en-US" sz="90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c>
                  <a:txBody>
                    <a:bodyPr/>
                    <a:lstStyle/>
                    <a:p>
                      <a:pPr indent="0" marL="0">
                        <a:buNone/>
                      </a:pPr>
                      <a:r>
                        <a:rPr lang="en-US" sz="900" dirty="0">
                          <a:solidFill>
                            <a:srgbClr val="2B2622"/>
                          </a:solidFill>
                          <a:latin typeface="Calibri" pitchFamily="34" charset="0"/>
                          <a:ea typeface="Calibri" pitchFamily="34" charset="-122"/>
                          <a:cs typeface="Calibri" pitchFamily="34" charset="-120"/>
                        </a:rPr>
                        <a:t>UNSATISFIED_LOCKTIME</a:t>
                      </a:r>
                      <a:endParaRPr lang="en-US" sz="90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r>
              <a:tr h="274320">
                <a:tc>
                  <a:txBody>
                    <a:bodyPr/>
                    <a:lstStyle/>
                    <a:p>
                      <a:pPr indent="0" marL="0">
                        <a:buNone/>
                      </a:pPr>
                      <a:r>
                        <a:rPr lang="en-US" sz="900" dirty="0">
                          <a:solidFill>
                            <a:srgbClr val="2B2622"/>
                          </a:solidFill>
                          <a:latin typeface="Calibri" pitchFamily="34" charset="0"/>
                          <a:ea typeface="Calibri" pitchFamily="34" charset="-122"/>
                          <a:cs typeface="Calibri" pitchFamily="34" charset="-120"/>
                        </a:rPr>
                        <a:t>Bit 31 set</a:t>
                      </a:r>
                      <a:endParaRPr lang="en-US" sz="90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c>
                  <a:txBody>
                    <a:bodyPr/>
                    <a:lstStyle/>
                    <a:p>
                      <a:pPr indent="0" marL="0">
                        <a:buNone/>
                      </a:pPr>
                      <a:r>
                        <a:rPr lang="en-US" sz="900" dirty="0">
                          <a:solidFill>
                            <a:srgbClr val="2B2622"/>
                          </a:solidFill>
                          <a:latin typeface="Calibri" pitchFamily="34" charset="0"/>
                          <a:ea typeface="Calibri" pitchFamily="34" charset="-122"/>
                          <a:cs typeface="Calibri" pitchFamily="34" charset="-120"/>
                        </a:rPr>
                        <a:t>UNSATISFIED_LOCKTIME</a:t>
                      </a:r>
                      <a:endParaRPr lang="en-US" sz="90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r>
            </a:tbl>
          </a:graphicData>
        </a:graphic>
      </p:graphicFrame>
      <p:sp>
        <p:nvSpPr>
          <p:cNvPr id="24" name="Text 21"/>
          <p:cNvSpPr txBox="1"/>
          <p:nvPr/>
        </p:nvSpPr>
        <p:spPr>
          <a:xfrm>
            <a:off x="5715000" y="3236976"/>
            <a:ext cx="2971800" cy="603504"/>
          </a:xfrm>
          <a:prstGeom prst="rect">
            <a:avLst/>
          </a:prstGeom>
          <a:noFill/>
          <a:ln/>
        </p:spPr>
        <p:txBody>
          <a:bodyPr wrap="square" lIns="0" tIns="0" rIns="0" bIns="0" rtlCol="0" anchor="t"/>
          <a:lstStyle/>
          <a:p>
            <a:pPr algn="l" indent="0" marL="0">
              <a:buNone/>
            </a:pPr>
            <a:r>
              <a:rPr lang="en-US" sz="1150" i="1" dirty="0">
                <a:solidFill>
                  <a:srgbClr val="2B2622"/>
                </a:solidFill>
                <a:latin typeface="Calibri" pitchFamily="34" charset="0"/>
                <a:ea typeface="Calibri" pitchFamily="34" charset="-122"/>
                <a:cs typeface="Calibri" pitchFamily="34" charset="-120"/>
              </a:rPr>
              <a:t>One block short, the old version, or a disabled lock each fail with UNSATISFIED_LOCKTIME.</a:t>
            </a:r>
            <a:endParaRPr lang="en-US" sz="1150" dirty="0"/>
          </a:p>
        </p:txBody>
      </p:sp>
      <p:sp>
        <p:nvSpPr>
          <p:cNvPr id="25" name="Shape 22"/>
          <p:cNvSpPr/>
          <p:nvPr/>
        </p:nvSpPr>
        <p:spPr>
          <a:xfrm>
            <a:off x="457200" y="4636008"/>
            <a:ext cx="91440" cy="310896"/>
          </a:xfrm>
          <a:prstGeom prst="rect">
            <a:avLst/>
          </a:prstGeom>
          <a:solidFill>
            <a:srgbClr val="D97A14"/>
          </a:solidFill>
          <a:ln w="12700">
            <a:solidFill>
              <a:srgbClr val="D97A14"/>
            </a:solidFill>
            <a:prstDash val="solid"/>
          </a:ln>
        </p:spPr>
      </p:sp>
      <p:sp>
        <p:nvSpPr>
          <p:cNvPr id="26" name="Text 23"/>
          <p:cNvSpPr txBox="1"/>
          <p:nvPr/>
        </p:nvSpPr>
        <p:spPr>
          <a:xfrm>
            <a:off x="658368" y="4599432"/>
            <a:ext cx="6949440" cy="384048"/>
          </a:xfrm>
          <a:prstGeom prst="rect">
            <a:avLst/>
          </a:prstGeom>
          <a:noFill/>
          <a:ln/>
        </p:spPr>
        <p:txBody>
          <a:bodyPr wrap="square" lIns="0" tIns="0" rIns="0" bIns="0" rtlCol="0" anchor="ctr"/>
          <a:lstStyle/>
          <a:p>
            <a:pPr indent="0" marL="0">
              <a:buNone/>
            </a:pPr>
            <a:r>
              <a:rPr lang="en-US" sz="1350" b="1" i="1" dirty="0">
                <a:solidFill>
                  <a:srgbClr val="2B2622"/>
                </a:solidFill>
                <a:latin typeface="Cambria" pitchFamily="34" charset="0"/>
                <a:ea typeface="Cambria" pitchFamily="34" charset="-122"/>
                <a:cs typeface="Cambria" pitchFamily="34" charset="-120"/>
              </a:rPr>
              <a:t>The sequence of the input must reach the number in the script</a:t>
            </a:r>
            <a:endParaRPr lang="en-US" sz="1350" dirty="0"/>
          </a:p>
        </p:txBody>
      </p:sp>
      <p:sp>
        <p:nvSpPr>
          <p:cNvPr id="27" name="Text 24"/>
          <p:cNvSpPr txBox="1"/>
          <p:nvPr/>
        </p:nvSpPr>
        <p:spPr>
          <a:xfrm>
            <a:off x="7863840" y="4645152"/>
            <a:ext cx="868680" cy="310896"/>
          </a:xfrm>
          <a:prstGeom prst="rect">
            <a:avLst/>
          </a:prstGeom>
          <a:noFill/>
          <a:ln/>
        </p:spPr>
        <p:txBody>
          <a:bodyPr wrap="square" lIns="0" tIns="0" rIns="0" bIns="0" rtlCol="0" anchor="ctr"/>
          <a:lstStyle/>
          <a:p>
            <a:pPr algn="r" indent="0" marL="0">
              <a:buNone/>
            </a:pPr>
            <a:r>
              <a:rPr lang="en-US" sz="1100" dirty="0">
                <a:solidFill>
                  <a:srgbClr val="6E655C"/>
                </a:solidFill>
                <a:latin typeface="Calibri" pitchFamily="34" charset="0"/>
                <a:ea typeface="Calibri" pitchFamily="34" charset="-122"/>
                <a:cs typeface="Calibri" pitchFamily="34" charset="-120"/>
              </a:rPr>
              <a:t>31 / 61</a:t>
            </a:r>
            <a:endParaRPr lang="en-US" sz="11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AF6EF"/>
        </a:solidFill>
      </p:bgPr>
    </p:bg>
    <p:spTree>
      <p:nvGrpSpPr>
        <p:cNvPr id="1" name=""/>
        <p:cNvGrpSpPr/>
        <p:nvPr/>
      </p:nvGrpSpPr>
      <p:grpSpPr>
        <a:xfrm>
          <a:off x="0" y="0"/>
          <a:ext cx="0" cy="0"/>
          <a:chOff x="0" y="0"/>
          <a:chExt cx="0" cy="0"/>
        </a:xfrm>
      </p:grpSpPr>
      <p:sp>
        <p:nvSpPr>
          <p:cNvPr id="2" name="Shape 0"/>
          <p:cNvSpPr/>
          <p:nvPr/>
        </p:nvSpPr>
        <p:spPr>
          <a:xfrm>
            <a:off x="457200" y="347472"/>
            <a:ext cx="566928" cy="384048"/>
          </a:xfrm>
          <a:prstGeom prst="roundRect">
            <a:avLst>
              <a:gd name="adj" fmla="val 19048"/>
            </a:avLst>
          </a:prstGeom>
          <a:solidFill>
            <a:srgbClr val="D97A14"/>
          </a:solidFill>
          <a:ln w="12700">
            <a:solidFill>
              <a:srgbClr val="D97A14"/>
            </a:solidFill>
            <a:prstDash val="solid"/>
          </a:ln>
        </p:spPr>
      </p:sp>
      <p:sp>
        <p:nvSpPr>
          <p:cNvPr id="3" name="Text 1"/>
          <p:cNvSpPr txBox="1"/>
          <p:nvPr/>
        </p:nvSpPr>
        <p:spPr>
          <a:xfrm>
            <a:off x="457200" y="347472"/>
            <a:ext cx="56692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4" name="Text 2"/>
          <p:cNvSpPr txBox="1"/>
          <p:nvPr/>
        </p:nvSpPr>
        <p:spPr>
          <a:xfrm>
            <a:off x="1143000" y="237744"/>
            <a:ext cx="7543800" cy="566928"/>
          </a:xfrm>
          <a:prstGeom prst="rect">
            <a:avLst/>
          </a:prstGeom>
          <a:noFill/>
          <a:ln/>
        </p:spPr>
        <p:txBody>
          <a:bodyPr wrap="square" lIns="0" tIns="0" rIns="0" bIns="0" rtlCol="0" anchor="ctr"/>
          <a:lstStyle/>
          <a:p>
            <a:pPr indent="0" marL="0">
              <a:buNone/>
            </a:pPr>
            <a:r>
              <a:rPr lang="en-US" sz="2500" b="1" dirty="0">
                <a:solidFill>
                  <a:srgbClr val="2B2622"/>
                </a:solidFill>
                <a:latin typeface="Cambria" pitchFamily="34" charset="0"/>
                <a:ea typeface="Cambria" pitchFamily="34" charset="-122"/>
                <a:cs typeface="Cambria" pitchFamily="34" charset="-120"/>
              </a:rPr>
              <a:t>Data and timelocks: concepts (3 of 3)</a:t>
            </a:r>
            <a:endParaRPr lang="en-US" sz="2500" dirty="0"/>
          </a:p>
        </p:txBody>
      </p:sp>
      <p:sp>
        <p:nvSpPr>
          <p:cNvPr id="5" name="Text 3"/>
          <p:cNvSpPr txBox="1"/>
          <p:nvPr/>
        </p:nvSpPr>
        <p:spPr>
          <a:xfrm>
            <a:off x="1143000" y="786384"/>
            <a:ext cx="7543800" cy="310896"/>
          </a:xfrm>
          <a:prstGeom prst="rect">
            <a:avLst/>
          </a:prstGeom>
          <a:noFill/>
          <a:ln/>
        </p:spPr>
        <p:txBody>
          <a:bodyPr wrap="square" lIns="0" tIns="0" rIns="0" bIns="0" rtlCol="0" anchor="ctr"/>
          <a:lstStyle/>
          <a:p>
            <a:pPr indent="0" marL="0">
              <a:buNone/>
            </a:pPr>
            <a:r>
              <a:rPr lang="en-US" sz="1300" i="1" dirty="0">
                <a:solidFill>
                  <a:srgbClr val="6E655C"/>
                </a:solidFill>
                <a:latin typeface="Calibri" pitchFamily="34" charset="0"/>
                <a:ea typeface="Calibri" pitchFamily="34" charset="-122"/>
                <a:cs typeface="Calibri" pitchFamily="34" charset="-120"/>
              </a:rPr>
              <a:t>Each card: the meaning in a few words, then something you already know</a:t>
            </a:r>
            <a:endParaRPr lang="en-US" sz="1300" dirty="0"/>
          </a:p>
        </p:txBody>
      </p:sp>
      <p:sp>
        <p:nvSpPr>
          <p:cNvPr id="6" name="Shape 4"/>
          <p:cNvSpPr/>
          <p:nvPr/>
        </p:nvSpPr>
        <p:spPr>
          <a:xfrm>
            <a:off x="457200" y="1280160"/>
            <a:ext cx="2645664" cy="1516990"/>
          </a:xfrm>
          <a:prstGeom prst="roundRect">
            <a:avLst>
              <a:gd name="adj" fmla="val 4822"/>
            </a:avLst>
          </a:prstGeom>
          <a:solidFill>
            <a:srgbClr val="F2ECE1"/>
          </a:solidFill>
          <a:ln w="12700">
            <a:solidFill>
              <a:srgbClr val="DFD6C7"/>
            </a:solidFill>
            <a:prstDash val="solid"/>
          </a:ln>
        </p:spPr>
      </p:sp>
      <p:sp>
        <p:nvSpPr>
          <p:cNvPr id="7" name="Shape 5"/>
          <p:cNvSpPr/>
          <p:nvPr/>
        </p:nvSpPr>
        <p:spPr>
          <a:xfrm>
            <a:off x="475488" y="1408176"/>
            <a:ext cx="64008" cy="1260958"/>
          </a:xfrm>
          <a:prstGeom prst="rect">
            <a:avLst/>
          </a:prstGeom>
          <a:solidFill>
            <a:srgbClr val="D97A14"/>
          </a:solidFill>
          <a:ln w="12700">
            <a:solidFill>
              <a:srgbClr val="D97A14"/>
            </a:solidFill>
            <a:prstDash val="solid"/>
          </a:ln>
        </p:spPr>
      </p:sp>
      <p:sp>
        <p:nvSpPr>
          <p:cNvPr id="8" name="Text 6"/>
          <p:cNvSpPr txBox="1"/>
          <p:nvPr/>
        </p:nvSpPr>
        <p:spPr>
          <a:xfrm>
            <a:off x="640080" y="1344168"/>
            <a:ext cx="2371344" cy="434340"/>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OP_CHECKLOCKTIMEVERIFY</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The full name of OP_CLTV.</a:t>
            </a:r>
            <a:endParaRPr lang="en-US" sz="1300" dirty="0"/>
          </a:p>
        </p:txBody>
      </p:sp>
      <p:sp>
        <p:nvSpPr>
          <p:cNvPr id="9" name="Text 7"/>
          <p:cNvSpPr txBox="1"/>
          <p:nvPr/>
        </p:nvSpPr>
        <p:spPr>
          <a:xfrm>
            <a:off x="640080" y="1805940"/>
            <a:ext cx="2371344" cy="393192"/>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the date check at the door of a theatre.</a:t>
            </a:r>
            <a:endParaRPr lang="en-US" sz="1150" dirty="0"/>
          </a:p>
        </p:txBody>
      </p:sp>
      <p:sp>
        <p:nvSpPr>
          <p:cNvPr id="10" name="Shape 8"/>
          <p:cNvSpPr/>
          <p:nvPr/>
        </p:nvSpPr>
        <p:spPr>
          <a:xfrm>
            <a:off x="3249168" y="1280160"/>
            <a:ext cx="2645664" cy="1516990"/>
          </a:xfrm>
          <a:prstGeom prst="roundRect">
            <a:avLst>
              <a:gd name="adj" fmla="val 4822"/>
            </a:avLst>
          </a:prstGeom>
          <a:solidFill>
            <a:srgbClr val="F2ECE1"/>
          </a:solidFill>
          <a:ln w="12700">
            <a:solidFill>
              <a:srgbClr val="DFD6C7"/>
            </a:solidFill>
            <a:prstDash val="solid"/>
          </a:ln>
        </p:spPr>
      </p:sp>
      <p:sp>
        <p:nvSpPr>
          <p:cNvPr id="11" name="Shape 9"/>
          <p:cNvSpPr/>
          <p:nvPr/>
        </p:nvSpPr>
        <p:spPr>
          <a:xfrm>
            <a:off x="3267456" y="1408176"/>
            <a:ext cx="64008" cy="1260958"/>
          </a:xfrm>
          <a:prstGeom prst="rect">
            <a:avLst/>
          </a:prstGeom>
          <a:solidFill>
            <a:srgbClr val="D97A14"/>
          </a:solidFill>
          <a:ln w="12700">
            <a:solidFill>
              <a:srgbClr val="D97A14"/>
            </a:solidFill>
            <a:prstDash val="solid"/>
          </a:ln>
        </p:spPr>
      </p:sp>
      <p:sp>
        <p:nvSpPr>
          <p:cNvPr id="12" name="Text 10"/>
          <p:cNvSpPr txBox="1"/>
          <p:nvPr/>
        </p:nvSpPr>
        <p:spPr>
          <a:xfrm>
            <a:off x="3432048" y="1344168"/>
            <a:ext cx="2371344" cy="790956"/>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sequence</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A field of each input whose use includes the relative wait.</a:t>
            </a:r>
            <a:endParaRPr lang="en-US" sz="1300" dirty="0"/>
          </a:p>
        </p:txBody>
      </p:sp>
      <p:sp>
        <p:nvSpPr>
          <p:cNvPr id="13" name="Text 11"/>
          <p:cNvSpPr txBox="1"/>
          <p:nvPr/>
        </p:nvSpPr>
        <p:spPr>
          <a:xfrm>
            <a:off x="3432048" y="2162556"/>
            <a:ext cx="2371344" cy="571500"/>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the number on a bakery ticket that shows how long you have waited.</a:t>
            </a:r>
            <a:endParaRPr lang="en-US" sz="1150" dirty="0"/>
          </a:p>
        </p:txBody>
      </p:sp>
      <p:sp>
        <p:nvSpPr>
          <p:cNvPr id="14" name="Shape 12"/>
          <p:cNvSpPr/>
          <p:nvPr/>
        </p:nvSpPr>
        <p:spPr>
          <a:xfrm>
            <a:off x="6041136" y="1280160"/>
            <a:ext cx="2645664" cy="1516990"/>
          </a:xfrm>
          <a:prstGeom prst="roundRect">
            <a:avLst>
              <a:gd name="adj" fmla="val 4822"/>
            </a:avLst>
          </a:prstGeom>
          <a:solidFill>
            <a:srgbClr val="F2ECE1"/>
          </a:solidFill>
          <a:ln w="12700">
            <a:solidFill>
              <a:srgbClr val="DFD6C7"/>
            </a:solidFill>
            <a:prstDash val="solid"/>
          </a:ln>
        </p:spPr>
      </p:sp>
      <p:sp>
        <p:nvSpPr>
          <p:cNvPr id="15" name="Shape 13"/>
          <p:cNvSpPr/>
          <p:nvPr/>
        </p:nvSpPr>
        <p:spPr>
          <a:xfrm>
            <a:off x="6059424" y="1408176"/>
            <a:ext cx="64008" cy="1260958"/>
          </a:xfrm>
          <a:prstGeom prst="rect">
            <a:avLst/>
          </a:prstGeom>
          <a:solidFill>
            <a:srgbClr val="D97A14"/>
          </a:solidFill>
          <a:ln w="12700">
            <a:solidFill>
              <a:srgbClr val="D97A14"/>
            </a:solidFill>
            <a:prstDash val="solid"/>
          </a:ln>
        </p:spPr>
      </p:sp>
      <p:sp>
        <p:nvSpPr>
          <p:cNvPr id="16" name="Text 14"/>
          <p:cNvSpPr txBox="1"/>
          <p:nvPr/>
        </p:nvSpPr>
        <p:spPr>
          <a:xfrm>
            <a:off x="6224016" y="1344168"/>
            <a:ext cx="2371344" cy="434340"/>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OP_CHECKSEQUENCEVERIFY</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The full name of OP_CSV.</a:t>
            </a:r>
            <a:endParaRPr lang="en-US" sz="1300" dirty="0"/>
          </a:p>
        </p:txBody>
      </p:sp>
      <p:sp>
        <p:nvSpPr>
          <p:cNvPr id="17" name="Text 15"/>
          <p:cNvSpPr txBox="1"/>
          <p:nvPr/>
        </p:nvSpPr>
        <p:spPr>
          <a:xfrm>
            <a:off x="6224016" y="1805940"/>
            <a:ext cx="2371344" cy="393192"/>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a stopwatch that must reach the agreed time.</a:t>
            </a:r>
            <a:endParaRPr lang="en-US" sz="1150" dirty="0"/>
          </a:p>
        </p:txBody>
      </p:sp>
      <p:sp>
        <p:nvSpPr>
          <p:cNvPr id="18" name="Shape 16"/>
          <p:cNvSpPr/>
          <p:nvPr/>
        </p:nvSpPr>
        <p:spPr>
          <a:xfrm>
            <a:off x="457200" y="4636008"/>
            <a:ext cx="91440" cy="310896"/>
          </a:xfrm>
          <a:prstGeom prst="rect">
            <a:avLst/>
          </a:prstGeom>
          <a:solidFill>
            <a:srgbClr val="D97A14"/>
          </a:solidFill>
          <a:ln w="12700">
            <a:solidFill>
              <a:srgbClr val="D97A14"/>
            </a:solidFill>
            <a:prstDash val="solid"/>
          </a:ln>
        </p:spPr>
      </p:sp>
      <p:sp>
        <p:nvSpPr>
          <p:cNvPr id="19" name="Text 17"/>
          <p:cNvSpPr txBox="1"/>
          <p:nvPr/>
        </p:nvSpPr>
        <p:spPr>
          <a:xfrm>
            <a:off x="658368" y="4599432"/>
            <a:ext cx="6949440" cy="384048"/>
          </a:xfrm>
          <a:prstGeom prst="rect">
            <a:avLst/>
          </a:prstGeom>
          <a:noFill/>
          <a:ln/>
        </p:spPr>
        <p:txBody>
          <a:bodyPr wrap="square" lIns="0" tIns="0" rIns="0" bIns="0" rtlCol="0" anchor="ctr"/>
          <a:lstStyle/>
          <a:p>
            <a:pPr indent="0" marL="0">
              <a:buNone/>
            </a:pPr>
            <a:r>
              <a:rPr lang="en-US" sz="1350" b="1" i="1" dirty="0">
                <a:solidFill>
                  <a:srgbClr val="2B2622"/>
                </a:solidFill>
                <a:latin typeface="Cambria" pitchFamily="34" charset="0"/>
                <a:ea typeface="Cambria" pitchFamily="34" charset="-122"/>
                <a:cs typeface="Cambria" pitchFamily="34" charset="-120"/>
              </a:rPr>
              <a:t>Say each idea twice: once as the meaning, once as the everyday comparison</a:t>
            </a:r>
            <a:endParaRPr lang="en-US" sz="1350" dirty="0"/>
          </a:p>
        </p:txBody>
      </p:sp>
      <p:sp>
        <p:nvSpPr>
          <p:cNvPr id="20" name="Text 18"/>
          <p:cNvSpPr txBox="1"/>
          <p:nvPr/>
        </p:nvSpPr>
        <p:spPr>
          <a:xfrm>
            <a:off x="7863840" y="4645152"/>
            <a:ext cx="868680" cy="310896"/>
          </a:xfrm>
          <a:prstGeom prst="rect">
            <a:avLst/>
          </a:prstGeom>
          <a:noFill/>
          <a:ln/>
        </p:spPr>
        <p:txBody>
          <a:bodyPr wrap="square" lIns="0" tIns="0" rIns="0" bIns="0" rtlCol="0" anchor="ctr"/>
          <a:lstStyle/>
          <a:p>
            <a:pPr algn="r" indent="0" marL="0">
              <a:buNone/>
            </a:pPr>
            <a:r>
              <a:rPr lang="en-US" sz="1100" dirty="0">
                <a:solidFill>
                  <a:srgbClr val="6E655C"/>
                </a:solidFill>
                <a:latin typeface="Calibri" pitchFamily="34" charset="0"/>
                <a:ea typeface="Calibri" pitchFamily="34" charset="-122"/>
                <a:cs typeface="Calibri" pitchFamily="34" charset="-120"/>
              </a:rPr>
              <a:t>32 / 61</a:t>
            </a:r>
            <a:endParaRPr lang="en-US" sz="11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AF6EF"/>
        </a:solidFill>
      </p:bgPr>
    </p:bg>
    <p:spTree>
      <p:nvGrpSpPr>
        <p:cNvPr id="1" name=""/>
        <p:cNvGrpSpPr/>
        <p:nvPr/>
      </p:nvGrpSpPr>
      <p:grpSpPr>
        <a:xfrm>
          <a:off x="0" y="0"/>
          <a:ext cx="0" cy="0"/>
          <a:chOff x="0" y="0"/>
          <a:chExt cx="0" cy="0"/>
        </a:xfrm>
      </p:grpSpPr>
      <p:sp>
        <p:nvSpPr>
          <p:cNvPr id="2" name="Shape 0"/>
          <p:cNvSpPr/>
          <p:nvPr/>
        </p:nvSpPr>
        <p:spPr>
          <a:xfrm>
            <a:off x="0" y="0"/>
            <a:ext cx="9144000" cy="219456"/>
          </a:xfrm>
          <a:prstGeom prst="rect">
            <a:avLst/>
          </a:prstGeom>
          <a:solidFill>
            <a:srgbClr val="D97A14"/>
          </a:solidFill>
          <a:ln w="12700">
            <a:solidFill>
              <a:srgbClr val="D97A14"/>
            </a:solidFill>
            <a:prstDash val="solid"/>
          </a:ln>
        </p:spPr>
      </p:sp>
      <p:sp>
        <p:nvSpPr>
          <p:cNvPr id="3" name="Shape 1"/>
          <p:cNvSpPr/>
          <p:nvPr/>
        </p:nvSpPr>
        <p:spPr>
          <a:xfrm>
            <a:off x="457200" y="960120"/>
            <a:ext cx="128016" cy="1417320"/>
          </a:xfrm>
          <a:prstGeom prst="rect">
            <a:avLst/>
          </a:prstGeom>
          <a:solidFill>
            <a:srgbClr val="D97A14"/>
          </a:solidFill>
          <a:ln w="12700">
            <a:solidFill>
              <a:srgbClr val="D97A14"/>
            </a:solidFill>
            <a:prstDash val="solid"/>
          </a:ln>
        </p:spPr>
      </p:sp>
      <p:sp>
        <p:nvSpPr>
          <p:cNvPr id="4" name="Text 2"/>
          <p:cNvSpPr txBox="1"/>
          <p:nvPr/>
        </p:nvSpPr>
        <p:spPr>
          <a:xfrm>
            <a:off x="777240" y="932688"/>
            <a:ext cx="7863840" cy="658368"/>
          </a:xfrm>
          <a:prstGeom prst="rect">
            <a:avLst/>
          </a:prstGeom>
          <a:noFill/>
          <a:ln/>
        </p:spPr>
        <p:txBody>
          <a:bodyPr wrap="square" lIns="0" tIns="0" rIns="0" bIns="0" rtlCol="0" anchor="ctr"/>
          <a:lstStyle/>
          <a:p>
            <a:pPr indent="0" marL="0">
              <a:buNone/>
            </a:pPr>
            <a:r>
              <a:rPr lang="en-US" sz="3200" b="1" dirty="0">
                <a:solidFill>
                  <a:srgbClr val="2B2622"/>
                </a:solidFill>
                <a:latin typeface="Cambria" pitchFamily="34" charset="0"/>
                <a:ea typeface="Cambria" pitchFamily="34" charset="-122"/>
                <a:cs typeface="Cambria" pitchFamily="34" charset="-120"/>
              </a:rPr>
              <a:t>Flow control and complex scripts</a:t>
            </a:r>
            <a:endParaRPr lang="en-US" sz="3200" dirty="0"/>
          </a:p>
        </p:txBody>
      </p:sp>
      <p:sp>
        <p:nvSpPr>
          <p:cNvPr id="5" name="Text 3"/>
          <p:cNvSpPr txBox="1"/>
          <p:nvPr/>
        </p:nvSpPr>
        <p:spPr>
          <a:xfrm>
            <a:off x="777240" y="1645920"/>
            <a:ext cx="7863840" cy="384048"/>
          </a:xfrm>
          <a:prstGeom prst="rect">
            <a:avLst/>
          </a:prstGeom>
          <a:noFill/>
          <a:ln/>
        </p:spPr>
        <p:txBody>
          <a:bodyPr wrap="square" lIns="0" tIns="0" rIns="0" bIns="0" rtlCol="0" anchor="t"/>
          <a:lstStyle/>
          <a:p>
            <a:pPr indent="0" marL="0">
              <a:buNone/>
            </a:pPr>
            <a:r>
              <a:rPr lang="en-US" sz="1500" i="1" dirty="0">
                <a:solidFill>
                  <a:srgbClr val="2F6D62"/>
                </a:solidFill>
                <a:latin typeface="Calibri" pitchFamily="34" charset="0"/>
                <a:ea typeface="Calibri" pitchFamily="34" charset="-122"/>
                <a:cs typeface="Calibri" pitchFamily="34" charset="-120"/>
              </a:rPr>
              <a:t>Flow control is a fork in the road with a checkpoint on each path.</a:t>
            </a:r>
            <a:endParaRPr lang="en-US" sz="1500" dirty="0"/>
          </a:p>
        </p:txBody>
      </p:sp>
      <p:sp>
        <p:nvSpPr>
          <p:cNvPr id="6" name="Shape 4"/>
          <p:cNvSpPr/>
          <p:nvPr/>
        </p:nvSpPr>
        <p:spPr>
          <a:xfrm>
            <a:off x="777240" y="2103120"/>
            <a:ext cx="3840480" cy="310896"/>
          </a:xfrm>
          <a:prstGeom prst="roundRect">
            <a:avLst>
              <a:gd name="adj" fmla="val 50000"/>
            </a:avLst>
          </a:prstGeom>
          <a:solidFill>
            <a:srgbClr val="D97A14"/>
          </a:solidFill>
          <a:ln w="12700">
            <a:solidFill>
              <a:srgbClr val="D97A14"/>
            </a:solidFill>
            <a:prstDash val="solid"/>
          </a:ln>
        </p:spPr>
      </p:sp>
      <p:sp>
        <p:nvSpPr>
          <p:cNvPr id="7" name="Text 5"/>
          <p:cNvSpPr txBox="1"/>
          <p:nvPr/>
        </p:nvSpPr>
        <p:spPr>
          <a:xfrm>
            <a:off x="850392" y="2103120"/>
            <a:ext cx="369417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Conditionals and guards</a:t>
            </a:r>
            <a:endParaRPr lang="en-US" sz="1200" dirty="0"/>
          </a:p>
        </p:txBody>
      </p:sp>
      <p:sp>
        <p:nvSpPr>
          <p:cNvPr id="8" name="Text 6"/>
          <p:cNvSpPr txBox="1"/>
          <p:nvPr/>
        </p:nvSpPr>
        <p:spPr>
          <a:xfrm>
            <a:off x="777240" y="2487168"/>
            <a:ext cx="3840480" cy="393192"/>
          </a:xfrm>
          <a:prstGeom prst="rect">
            <a:avLst/>
          </a:prstGeom>
          <a:noFill/>
          <a:ln/>
        </p:spPr>
        <p:txBody>
          <a:bodyPr wrap="square" lIns="0" tIns="0" rIns="0" bIns="0" rtlCol="0" anchor="t"/>
          <a:lstStyle/>
          <a:p>
            <a:pPr indent="0" marL="0">
              <a:buNone/>
            </a:pPr>
            <a:r>
              <a:rPr lang="en-US" sz="1150" dirty="0">
                <a:solidFill>
                  <a:srgbClr val="2B2622"/>
                </a:solidFill>
                <a:latin typeface="Calibri" pitchFamily="34" charset="0"/>
                <a:ea typeface="Calibri" pitchFamily="34" charset="-122"/>
                <a:cs typeface="Calibri" pitchFamily="34" charset="-120"/>
              </a:rPr>
              <a:t>Branches that choose a path, and checks that stop a script early.</a:t>
            </a:r>
            <a:endParaRPr lang="en-US" sz="1150" dirty="0"/>
          </a:p>
        </p:txBody>
      </p:sp>
      <p:sp>
        <p:nvSpPr>
          <p:cNvPr id="9" name="Text 7"/>
          <p:cNvSpPr txBox="1"/>
          <p:nvPr/>
        </p:nvSpPr>
        <p:spPr>
          <a:xfrm>
            <a:off x="777240" y="2907792"/>
            <a:ext cx="3840480" cy="214884"/>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a fork in the road with a checkpoint.</a:t>
            </a:r>
            <a:endParaRPr lang="en-US" sz="1150" dirty="0"/>
          </a:p>
        </p:txBody>
      </p:sp>
      <p:sp>
        <p:nvSpPr>
          <p:cNvPr id="10" name="Shape 8"/>
          <p:cNvSpPr/>
          <p:nvPr/>
        </p:nvSpPr>
        <p:spPr>
          <a:xfrm>
            <a:off x="4800600" y="2103120"/>
            <a:ext cx="3840480" cy="310896"/>
          </a:xfrm>
          <a:prstGeom prst="roundRect">
            <a:avLst>
              <a:gd name="adj" fmla="val 50000"/>
            </a:avLst>
          </a:prstGeom>
          <a:solidFill>
            <a:srgbClr val="D97A14"/>
          </a:solidFill>
          <a:ln w="12700">
            <a:solidFill>
              <a:srgbClr val="D97A14"/>
            </a:solidFill>
            <a:prstDash val="solid"/>
          </a:ln>
        </p:spPr>
      </p:sp>
      <p:sp>
        <p:nvSpPr>
          <p:cNvPr id="11" name="Text 9"/>
          <p:cNvSpPr txBox="1"/>
          <p:nvPr/>
        </p:nvSpPr>
        <p:spPr>
          <a:xfrm>
            <a:off x="4873752" y="2103120"/>
            <a:ext cx="369417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Complex scripts</a:t>
            </a:r>
            <a:endParaRPr lang="en-US" sz="1200" dirty="0"/>
          </a:p>
        </p:txBody>
      </p:sp>
      <p:sp>
        <p:nvSpPr>
          <p:cNvPr id="12" name="Text 10"/>
          <p:cNvSpPr txBox="1"/>
          <p:nvPr/>
        </p:nvSpPr>
        <p:spPr>
          <a:xfrm>
            <a:off x="4800600" y="2487168"/>
            <a:ext cx="3840480" cy="393192"/>
          </a:xfrm>
          <a:prstGeom prst="rect">
            <a:avLst/>
          </a:prstGeom>
          <a:noFill/>
          <a:ln/>
        </p:spPr>
        <p:txBody>
          <a:bodyPr wrap="square" lIns="0" tIns="0" rIns="0" bIns="0" rtlCol="0" anchor="t"/>
          <a:lstStyle/>
          <a:p>
            <a:pPr indent="0" marL="0">
              <a:buNone/>
            </a:pPr>
            <a:r>
              <a:rPr lang="en-US" sz="1150" dirty="0">
                <a:solidFill>
                  <a:srgbClr val="2B2622"/>
                </a:solidFill>
                <a:latin typeface="Calibri" pitchFamily="34" charset="0"/>
                <a:ea typeface="Calibri" pitchFamily="34" charset="-122"/>
                <a:cs typeface="Calibri" pitchFamily="34" charset="-120"/>
              </a:rPr>
              <a:t>A real lock that mixes partners, a lawyer and delays.</a:t>
            </a:r>
            <a:endParaRPr lang="en-US" sz="1150" dirty="0"/>
          </a:p>
        </p:txBody>
      </p:sp>
      <p:sp>
        <p:nvSpPr>
          <p:cNvPr id="13" name="Text 11"/>
          <p:cNvSpPr txBox="1"/>
          <p:nvPr/>
        </p:nvSpPr>
        <p:spPr>
          <a:xfrm>
            <a:off x="4800600" y="2907792"/>
            <a:ext cx="3840480" cy="393192"/>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a company safe with three ways to open it.</a:t>
            </a:r>
            <a:endParaRPr lang="en-US" sz="115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777240" y="3950208"/>
          <a:ext cx="7863840" cy="914400"/>
        </p:xfrm>
        <a:graphic>
          <a:graphicData uri="http://schemas.openxmlformats.org/drawingml/2006/table">
            <a:tbl>
              <a:tblPr/>
              <a:tblGrid>
                <a:gridCol w="874166"/>
                <a:gridCol w="874166"/>
                <a:gridCol w="874166"/>
                <a:gridCol w="874166"/>
                <a:gridCol w="874166"/>
                <a:gridCol w="874166"/>
                <a:gridCol w="874166"/>
                <a:gridCol w="874166"/>
                <a:gridCol w="874166"/>
              </a:tblGrid>
              <a:tr h="365760">
                <a:tc>
                  <a:txBody>
                    <a:bodyPr/>
                    <a:lstStyle/>
                    <a:p>
                      <a:pPr algn="ctr" indent="0" marL="0">
                        <a:buNone/>
                      </a:pPr>
                      <a:r>
                        <a:rPr lang="en-US" sz="1000" dirty="0">
                          <a:solidFill>
                            <a:srgbClr val="2B2622"/>
                          </a:solidFill>
                          <a:latin typeface="Calibri" pitchFamily="34" charset="0"/>
                          <a:ea typeface="Calibri" pitchFamily="34" charset="-122"/>
                          <a:cs typeface="Calibri" pitchFamily="34" charset="-120"/>
                        </a:rPr>
                        <a:t>Language</a:t>
                      </a:r>
                      <a:endParaRPr lang="en-US" sz="10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ECE1"/>
                    </a:solidFill>
                  </a:tcPr>
                </a:tc>
                <a:tc>
                  <a:txBody>
                    <a:bodyPr/>
                    <a:lstStyle/>
                    <a:p>
                      <a:pPr algn="ctr" indent="0" marL="0">
                        <a:buNone/>
                      </a:pPr>
                      <a:r>
                        <a:rPr lang="en-US" sz="1000" dirty="0">
                          <a:solidFill>
                            <a:srgbClr val="2B2622"/>
                          </a:solidFill>
                          <a:latin typeface="Calibri" pitchFamily="34" charset="0"/>
                          <a:ea typeface="Calibri" pitchFamily="34" charset="-122"/>
                          <a:cs typeface="Calibri" pitchFamily="34" charset="-120"/>
                        </a:rPr>
                        <a:t>Keys</a:t>
                      </a:r>
                      <a:endParaRPr lang="en-US" sz="10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ECE1"/>
                    </a:solidFill>
                  </a:tcPr>
                </a:tc>
                <a:tc>
                  <a:txBody>
                    <a:bodyPr/>
                    <a:lstStyle/>
                    <a:p>
                      <a:pPr algn="ctr" indent="0" marL="0">
                        <a:buNone/>
                      </a:pPr>
                      <a:r>
                        <a:rPr lang="en-US" sz="1000" dirty="0">
                          <a:solidFill>
                            <a:srgbClr val="2B2622"/>
                          </a:solidFill>
                          <a:latin typeface="Calibri" pitchFamily="34" charset="0"/>
                          <a:ea typeface="Calibri" pitchFamily="34" charset="-122"/>
                          <a:cs typeface="Calibri" pitchFamily="34" charset="-120"/>
                        </a:rPr>
                        <a:t>Multisig</a:t>
                      </a:r>
                      <a:endParaRPr lang="en-US" sz="10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ECE1"/>
                    </a:solidFill>
                  </a:tcPr>
                </a:tc>
                <a:tc>
                  <a:txBody>
                    <a:bodyPr/>
                    <a:lstStyle/>
                    <a:p>
                      <a:pPr algn="ctr" indent="0" marL="0">
                        <a:buNone/>
                      </a:pPr>
                      <a:r>
                        <a:rPr lang="en-US" sz="1000" dirty="0">
                          <a:solidFill>
                            <a:srgbClr val="2B2622"/>
                          </a:solidFill>
                          <a:latin typeface="Calibri" pitchFamily="34" charset="0"/>
                          <a:ea typeface="Calibri" pitchFamily="34" charset="-122"/>
                          <a:cs typeface="Calibri" pitchFamily="34" charset="-120"/>
                        </a:rPr>
                        <a:t>P2SH</a:t>
                      </a:r>
                      <a:endParaRPr lang="en-US" sz="10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ECE1"/>
                    </a:solidFill>
                  </a:tcPr>
                </a:tc>
                <a:tc>
                  <a:txBody>
                    <a:bodyPr/>
                    <a:lstStyle/>
                    <a:p>
                      <a:pPr algn="ctr" indent="0" marL="0">
                        <a:buNone/>
                      </a:pPr>
                      <a:r>
                        <a:rPr lang="en-US" sz="1000" dirty="0">
                          <a:solidFill>
                            <a:srgbClr val="2B2622"/>
                          </a:solidFill>
                          <a:latin typeface="Calibri" pitchFamily="34" charset="0"/>
                          <a:ea typeface="Calibri" pitchFamily="34" charset="-122"/>
                          <a:cs typeface="Calibri" pitchFamily="34" charset="-120"/>
                        </a:rPr>
                        <a:t>Time</a:t>
                      </a:r>
                      <a:endParaRPr lang="en-US" sz="10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ECE1"/>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Flow</a:t>
                      </a:r>
                      <a:endParaRPr lang="en-US" sz="10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97A14"/>
                    </a:solidFill>
                  </a:tcPr>
                </a:tc>
                <a:tc>
                  <a:txBody>
                    <a:bodyPr/>
                    <a:lstStyle/>
                    <a:p>
                      <a:pPr algn="ctr" indent="0" marL="0">
                        <a:buNone/>
                      </a:pPr>
                      <a:r>
                        <a:rPr lang="en-US" sz="1000" dirty="0">
                          <a:solidFill>
                            <a:srgbClr val="2B2622"/>
                          </a:solidFill>
                          <a:latin typeface="Calibri" pitchFamily="34" charset="0"/>
                          <a:ea typeface="Calibri" pitchFamily="34" charset="-122"/>
                          <a:cs typeface="Calibri" pitchFamily="34" charset="-120"/>
                        </a:rPr>
                        <a:t>Segwit</a:t>
                      </a:r>
                      <a:endParaRPr lang="en-US" sz="10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ECE1"/>
                    </a:solidFill>
                  </a:tcPr>
                </a:tc>
                <a:tc>
                  <a:txBody>
                    <a:bodyPr/>
                    <a:lstStyle/>
                    <a:p>
                      <a:pPr algn="ctr" indent="0" marL="0">
                        <a:buNone/>
                      </a:pPr>
                      <a:r>
                        <a:rPr lang="en-US" sz="1000" dirty="0">
                          <a:solidFill>
                            <a:srgbClr val="2B2622"/>
                          </a:solidFill>
                          <a:latin typeface="Calibri" pitchFamily="34" charset="0"/>
                          <a:ea typeface="Calibri" pitchFamily="34" charset="-122"/>
                          <a:cs typeface="Calibri" pitchFamily="34" charset="-120"/>
                        </a:rPr>
                        <a:t>Trees</a:t>
                      </a:r>
                      <a:endParaRPr lang="en-US" sz="10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ECE1"/>
                    </a:solidFill>
                  </a:tcPr>
                </a:tc>
                <a:tc>
                  <a:txBody>
                    <a:bodyPr/>
                    <a:lstStyle/>
                    <a:p>
                      <a:pPr algn="ctr" indent="0" marL="0">
                        <a:buNone/>
                      </a:pPr>
                      <a:r>
                        <a:rPr lang="en-US" sz="1000" dirty="0">
                          <a:solidFill>
                            <a:srgbClr val="2B2622"/>
                          </a:solidFill>
                          <a:latin typeface="Calibri" pitchFamily="34" charset="0"/>
                          <a:ea typeface="Calibri" pitchFamily="34" charset="-122"/>
                          <a:cs typeface="Calibri" pitchFamily="34" charset="-120"/>
                        </a:rPr>
                        <a:t>Taproot</a:t>
                      </a:r>
                      <a:endParaRPr lang="en-US" sz="10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ECE1"/>
                    </a:solidFill>
                  </a:tcPr>
                </a:tc>
              </a:tr>
            </a:tbl>
          </a:graphicData>
        </a:graphic>
      </p:graphicFrame>
      <p:sp>
        <p:nvSpPr>
          <p:cNvPr id="15" name="Text 12"/>
          <p:cNvSpPr txBox="1"/>
          <p:nvPr/>
        </p:nvSpPr>
        <p:spPr>
          <a:xfrm>
            <a:off x="7863840" y="4645152"/>
            <a:ext cx="868680" cy="310896"/>
          </a:xfrm>
          <a:prstGeom prst="rect">
            <a:avLst/>
          </a:prstGeom>
          <a:noFill/>
          <a:ln/>
        </p:spPr>
        <p:txBody>
          <a:bodyPr wrap="square" lIns="0" tIns="0" rIns="0" bIns="0" rtlCol="0" anchor="ctr"/>
          <a:lstStyle/>
          <a:p>
            <a:pPr algn="r" indent="0" marL="0">
              <a:buNone/>
            </a:pPr>
            <a:r>
              <a:rPr lang="en-US" sz="1100" dirty="0">
                <a:solidFill>
                  <a:srgbClr val="6E655C"/>
                </a:solidFill>
                <a:latin typeface="Calibri" pitchFamily="34" charset="0"/>
                <a:ea typeface="Calibri" pitchFamily="34" charset="-122"/>
                <a:cs typeface="Calibri" pitchFamily="34" charset="-120"/>
              </a:rPr>
              <a:t>33 / 61</a:t>
            </a:r>
            <a:endParaRPr lang="en-US" sz="11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AF6EF"/>
        </a:solidFill>
      </p:bgPr>
    </p:bg>
    <p:spTree>
      <p:nvGrpSpPr>
        <p:cNvPr id="1" name=""/>
        <p:cNvGrpSpPr/>
        <p:nvPr/>
      </p:nvGrpSpPr>
      <p:grpSpPr>
        <a:xfrm>
          <a:off x="0" y="0"/>
          <a:ext cx="0" cy="0"/>
          <a:chOff x="0" y="0"/>
          <a:chExt cx="0" cy="0"/>
        </a:xfrm>
      </p:grpSpPr>
      <p:sp>
        <p:nvSpPr>
          <p:cNvPr id="2" name="Shape 0"/>
          <p:cNvSpPr/>
          <p:nvPr/>
        </p:nvSpPr>
        <p:spPr>
          <a:xfrm>
            <a:off x="457200" y="347472"/>
            <a:ext cx="566928" cy="384048"/>
          </a:xfrm>
          <a:prstGeom prst="roundRect">
            <a:avLst>
              <a:gd name="adj" fmla="val 19048"/>
            </a:avLst>
          </a:prstGeom>
          <a:solidFill>
            <a:srgbClr val="D97A14"/>
          </a:solidFill>
          <a:ln w="12700">
            <a:solidFill>
              <a:srgbClr val="D97A14"/>
            </a:solidFill>
            <a:prstDash val="solid"/>
          </a:ln>
        </p:spPr>
      </p:sp>
      <p:sp>
        <p:nvSpPr>
          <p:cNvPr id="3" name="Text 1"/>
          <p:cNvSpPr txBox="1"/>
          <p:nvPr/>
        </p:nvSpPr>
        <p:spPr>
          <a:xfrm>
            <a:off x="457200" y="347472"/>
            <a:ext cx="56692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4" name="Text 2"/>
          <p:cNvSpPr txBox="1"/>
          <p:nvPr/>
        </p:nvSpPr>
        <p:spPr>
          <a:xfrm>
            <a:off x="1143000" y="237744"/>
            <a:ext cx="7543800" cy="566928"/>
          </a:xfrm>
          <a:prstGeom prst="rect">
            <a:avLst/>
          </a:prstGeom>
          <a:noFill/>
          <a:ln/>
        </p:spPr>
        <p:txBody>
          <a:bodyPr wrap="square" lIns="0" tIns="0" rIns="0" bIns="0" rtlCol="0" anchor="ctr"/>
          <a:lstStyle/>
          <a:p>
            <a:pPr indent="0" marL="0">
              <a:buNone/>
            </a:pPr>
            <a:r>
              <a:rPr lang="en-US" sz="2800" b="1" dirty="0">
                <a:solidFill>
                  <a:srgbClr val="2B2622"/>
                </a:solidFill>
                <a:latin typeface="Cambria" pitchFamily="34" charset="0"/>
                <a:ea typeface="Cambria" pitchFamily="34" charset="-122"/>
                <a:cs typeface="Cambria" pitchFamily="34" charset="-120"/>
              </a:rPr>
              <a:t>Flow (1 of 2)</a:t>
            </a:r>
            <a:endParaRPr lang="en-US" sz="2800" dirty="0"/>
          </a:p>
        </p:txBody>
      </p:sp>
      <p:sp>
        <p:nvSpPr>
          <p:cNvPr id="5" name="Text 3"/>
          <p:cNvSpPr txBox="1"/>
          <p:nvPr/>
        </p:nvSpPr>
        <p:spPr>
          <a:xfrm>
            <a:off x="1143000" y="786384"/>
            <a:ext cx="7543800" cy="310896"/>
          </a:xfrm>
          <a:prstGeom prst="rect">
            <a:avLst/>
          </a:prstGeom>
          <a:noFill/>
          <a:ln/>
        </p:spPr>
        <p:txBody>
          <a:bodyPr wrap="square" lIns="0" tIns="0" rIns="0" bIns="0" rtlCol="0" anchor="ctr"/>
          <a:lstStyle/>
          <a:p>
            <a:pPr indent="0" marL="0">
              <a:buNone/>
            </a:pPr>
            <a:r>
              <a:rPr lang="en-US" sz="1300" i="1" dirty="0">
                <a:solidFill>
                  <a:srgbClr val="6E655C"/>
                </a:solidFill>
                <a:latin typeface="Calibri" pitchFamily="34" charset="0"/>
                <a:ea typeface="Calibri" pitchFamily="34" charset="-122"/>
                <a:cs typeface="Calibri" pitchFamily="34" charset="-120"/>
              </a:rPr>
              <a:t>Each card: the meaning in a few words, then something you already know</a:t>
            </a:r>
            <a:endParaRPr lang="en-US" sz="1300" dirty="0"/>
          </a:p>
        </p:txBody>
      </p:sp>
      <p:sp>
        <p:nvSpPr>
          <p:cNvPr id="6" name="Shape 4"/>
          <p:cNvSpPr/>
          <p:nvPr/>
        </p:nvSpPr>
        <p:spPr>
          <a:xfrm>
            <a:off x="457200" y="1280160"/>
            <a:ext cx="4041648" cy="1362456"/>
          </a:xfrm>
          <a:prstGeom prst="roundRect">
            <a:avLst>
              <a:gd name="adj" fmla="val 5369"/>
            </a:avLst>
          </a:prstGeom>
          <a:solidFill>
            <a:srgbClr val="F2ECE1"/>
          </a:solidFill>
          <a:ln w="12700">
            <a:solidFill>
              <a:srgbClr val="DFD6C7"/>
            </a:solidFill>
            <a:prstDash val="solid"/>
          </a:ln>
        </p:spPr>
      </p:sp>
      <p:sp>
        <p:nvSpPr>
          <p:cNvPr id="7" name="Shape 5"/>
          <p:cNvSpPr/>
          <p:nvPr/>
        </p:nvSpPr>
        <p:spPr>
          <a:xfrm>
            <a:off x="475488" y="1408176"/>
            <a:ext cx="64008" cy="1106424"/>
          </a:xfrm>
          <a:prstGeom prst="rect">
            <a:avLst/>
          </a:prstGeom>
          <a:solidFill>
            <a:srgbClr val="D97A14"/>
          </a:solidFill>
          <a:ln w="12700">
            <a:solidFill>
              <a:srgbClr val="D97A14"/>
            </a:solidFill>
            <a:prstDash val="solid"/>
          </a:ln>
        </p:spPr>
      </p:sp>
      <p:sp>
        <p:nvSpPr>
          <p:cNvPr id="8" name="Text 6"/>
          <p:cNvSpPr txBox="1"/>
          <p:nvPr/>
        </p:nvSpPr>
        <p:spPr>
          <a:xfrm>
            <a:off x="640080" y="1344168"/>
            <a:ext cx="3767328" cy="635508"/>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Scripts with Flow Control (Conditional Clauses)</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A script can choose between several paths.</a:t>
            </a:r>
            <a:endParaRPr lang="en-US" sz="1300" dirty="0"/>
          </a:p>
        </p:txBody>
      </p:sp>
      <p:sp>
        <p:nvSpPr>
          <p:cNvPr id="9" name="Text 7"/>
          <p:cNvSpPr txBox="1"/>
          <p:nvPr/>
        </p:nvSpPr>
        <p:spPr>
          <a:xfrm>
            <a:off x="640080" y="2007108"/>
            <a:ext cx="3767328" cy="214884"/>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a road with a fork.</a:t>
            </a:r>
            <a:endParaRPr lang="en-US" sz="1150" dirty="0"/>
          </a:p>
        </p:txBody>
      </p:sp>
      <p:sp>
        <p:nvSpPr>
          <p:cNvPr id="10" name="Shape 8"/>
          <p:cNvSpPr/>
          <p:nvPr/>
        </p:nvSpPr>
        <p:spPr>
          <a:xfrm>
            <a:off x="4645152" y="1280160"/>
            <a:ext cx="4041648" cy="1362456"/>
          </a:xfrm>
          <a:prstGeom prst="roundRect">
            <a:avLst>
              <a:gd name="adj" fmla="val 5369"/>
            </a:avLst>
          </a:prstGeom>
          <a:solidFill>
            <a:srgbClr val="F2ECE1"/>
          </a:solidFill>
          <a:ln w="12700">
            <a:solidFill>
              <a:srgbClr val="DFD6C7"/>
            </a:solidFill>
            <a:prstDash val="solid"/>
          </a:ln>
        </p:spPr>
      </p:sp>
      <p:sp>
        <p:nvSpPr>
          <p:cNvPr id="11" name="Shape 9"/>
          <p:cNvSpPr/>
          <p:nvPr/>
        </p:nvSpPr>
        <p:spPr>
          <a:xfrm>
            <a:off x="4663440" y="1408176"/>
            <a:ext cx="64008" cy="1106424"/>
          </a:xfrm>
          <a:prstGeom prst="rect">
            <a:avLst/>
          </a:prstGeom>
          <a:solidFill>
            <a:srgbClr val="D97A14"/>
          </a:solidFill>
          <a:ln w="12700">
            <a:solidFill>
              <a:srgbClr val="D97A14"/>
            </a:solidFill>
            <a:prstDash val="solid"/>
          </a:ln>
        </p:spPr>
      </p:sp>
      <p:sp>
        <p:nvSpPr>
          <p:cNvPr id="12" name="Text 10"/>
          <p:cNvSpPr txBox="1"/>
          <p:nvPr/>
        </p:nvSpPr>
        <p:spPr>
          <a:xfrm>
            <a:off x="4828032" y="1344168"/>
            <a:ext cx="3767328" cy="813816"/>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Conditional Clauses with VERIFY Opcodes</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VERIFY words stop the script at once when a check fails.</a:t>
            </a:r>
            <a:endParaRPr lang="en-US" sz="1300" dirty="0"/>
          </a:p>
        </p:txBody>
      </p:sp>
      <p:sp>
        <p:nvSpPr>
          <p:cNvPr id="13" name="Text 11"/>
          <p:cNvSpPr txBox="1"/>
          <p:nvPr/>
        </p:nvSpPr>
        <p:spPr>
          <a:xfrm>
            <a:off x="4828032" y="2185416"/>
            <a:ext cx="3767328" cy="393192"/>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a security gate that turns people away at once.</a:t>
            </a:r>
            <a:endParaRPr lang="en-US" sz="1150" dirty="0"/>
          </a:p>
        </p:txBody>
      </p:sp>
      <p:sp>
        <p:nvSpPr>
          <p:cNvPr id="14" name="Shape 12"/>
          <p:cNvSpPr/>
          <p:nvPr/>
        </p:nvSpPr>
        <p:spPr>
          <a:xfrm>
            <a:off x="457200" y="2770632"/>
            <a:ext cx="4041648" cy="1362456"/>
          </a:xfrm>
          <a:prstGeom prst="roundRect">
            <a:avLst>
              <a:gd name="adj" fmla="val 5369"/>
            </a:avLst>
          </a:prstGeom>
          <a:solidFill>
            <a:srgbClr val="F2ECE1"/>
          </a:solidFill>
          <a:ln w="12700">
            <a:solidFill>
              <a:srgbClr val="DFD6C7"/>
            </a:solidFill>
            <a:prstDash val="solid"/>
          </a:ln>
        </p:spPr>
      </p:sp>
      <p:sp>
        <p:nvSpPr>
          <p:cNvPr id="15" name="Shape 13"/>
          <p:cNvSpPr/>
          <p:nvPr/>
        </p:nvSpPr>
        <p:spPr>
          <a:xfrm>
            <a:off x="475488" y="2898648"/>
            <a:ext cx="64008" cy="1106424"/>
          </a:xfrm>
          <a:prstGeom prst="rect">
            <a:avLst/>
          </a:prstGeom>
          <a:solidFill>
            <a:srgbClr val="D97A14"/>
          </a:solidFill>
          <a:ln w="12700">
            <a:solidFill>
              <a:srgbClr val="D97A14"/>
            </a:solidFill>
            <a:prstDash val="solid"/>
          </a:ln>
        </p:spPr>
      </p:sp>
      <p:sp>
        <p:nvSpPr>
          <p:cNvPr id="16" name="Text 14"/>
          <p:cNvSpPr txBox="1"/>
          <p:nvPr/>
        </p:nvSpPr>
        <p:spPr>
          <a:xfrm>
            <a:off x="640080" y="2834640"/>
            <a:ext cx="3767328" cy="612648"/>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Using Flow Control in Scripts</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IF, ELSE and ENDIF select one of several spending paths.</a:t>
            </a:r>
            <a:endParaRPr lang="en-US" sz="1300" dirty="0"/>
          </a:p>
        </p:txBody>
      </p:sp>
      <p:sp>
        <p:nvSpPr>
          <p:cNvPr id="17" name="Text 15"/>
          <p:cNvSpPr txBox="1"/>
          <p:nvPr/>
        </p:nvSpPr>
        <p:spPr>
          <a:xfrm>
            <a:off x="640080" y="3474720"/>
            <a:ext cx="3767328" cy="393192"/>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a form that says: if married fill box A, else box B.</a:t>
            </a:r>
            <a:endParaRPr lang="en-US" sz="1150" dirty="0"/>
          </a:p>
        </p:txBody>
      </p:sp>
      <p:sp>
        <p:nvSpPr>
          <p:cNvPr id="18" name="Shape 16"/>
          <p:cNvSpPr/>
          <p:nvPr/>
        </p:nvSpPr>
        <p:spPr>
          <a:xfrm>
            <a:off x="4645152" y="2770632"/>
            <a:ext cx="4041648" cy="1362456"/>
          </a:xfrm>
          <a:prstGeom prst="roundRect">
            <a:avLst>
              <a:gd name="adj" fmla="val 5369"/>
            </a:avLst>
          </a:prstGeom>
          <a:solidFill>
            <a:srgbClr val="F2ECE1"/>
          </a:solidFill>
          <a:ln w="12700">
            <a:solidFill>
              <a:srgbClr val="DFD6C7"/>
            </a:solidFill>
            <a:prstDash val="solid"/>
          </a:ln>
        </p:spPr>
      </p:sp>
      <p:sp>
        <p:nvSpPr>
          <p:cNvPr id="19" name="Shape 17"/>
          <p:cNvSpPr/>
          <p:nvPr/>
        </p:nvSpPr>
        <p:spPr>
          <a:xfrm>
            <a:off x="4663440" y="2898648"/>
            <a:ext cx="64008" cy="1106424"/>
          </a:xfrm>
          <a:prstGeom prst="rect">
            <a:avLst/>
          </a:prstGeom>
          <a:solidFill>
            <a:srgbClr val="D97A14"/>
          </a:solidFill>
          <a:ln w="12700">
            <a:solidFill>
              <a:srgbClr val="D97A14"/>
            </a:solidFill>
            <a:prstDash val="solid"/>
          </a:ln>
        </p:spPr>
      </p:sp>
      <p:sp>
        <p:nvSpPr>
          <p:cNvPr id="20" name="Text 18"/>
          <p:cNvSpPr txBox="1"/>
          <p:nvPr/>
        </p:nvSpPr>
        <p:spPr>
          <a:xfrm>
            <a:off x="4828032" y="2834640"/>
            <a:ext cx="3767328" cy="612648"/>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Complex Script Example</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Mohammed's capital account: partners, or a lawyer after a delay.</a:t>
            </a:r>
            <a:endParaRPr lang="en-US" sz="1300" dirty="0"/>
          </a:p>
        </p:txBody>
      </p:sp>
      <p:sp>
        <p:nvSpPr>
          <p:cNvPr id="21" name="Text 19"/>
          <p:cNvSpPr txBox="1"/>
          <p:nvPr/>
        </p:nvSpPr>
        <p:spPr>
          <a:xfrm>
            <a:off x="4828032" y="3474720"/>
            <a:ext cx="3767328" cy="393192"/>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a company safe with three different ways to open it.</a:t>
            </a:r>
            <a:endParaRPr lang="en-US" sz="1150" dirty="0"/>
          </a:p>
        </p:txBody>
      </p:sp>
      <p:sp>
        <p:nvSpPr>
          <p:cNvPr id="22" name="Shape 20"/>
          <p:cNvSpPr/>
          <p:nvPr/>
        </p:nvSpPr>
        <p:spPr>
          <a:xfrm>
            <a:off x="457200" y="4636008"/>
            <a:ext cx="91440" cy="310896"/>
          </a:xfrm>
          <a:prstGeom prst="rect">
            <a:avLst/>
          </a:prstGeom>
          <a:solidFill>
            <a:srgbClr val="D97A14"/>
          </a:solidFill>
          <a:ln w="12700">
            <a:solidFill>
              <a:srgbClr val="D97A14"/>
            </a:solidFill>
            <a:prstDash val="solid"/>
          </a:ln>
        </p:spPr>
      </p:sp>
      <p:sp>
        <p:nvSpPr>
          <p:cNvPr id="23" name="Text 21"/>
          <p:cNvSpPr txBox="1"/>
          <p:nvPr/>
        </p:nvSpPr>
        <p:spPr>
          <a:xfrm>
            <a:off x="658368" y="4599432"/>
            <a:ext cx="6949440" cy="384048"/>
          </a:xfrm>
          <a:prstGeom prst="rect">
            <a:avLst/>
          </a:prstGeom>
          <a:noFill/>
          <a:ln/>
        </p:spPr>
        <p:txBody>
          <a:bodyPr wrap="square" lIns="0" tIns="0" rIns="0" bIns="0" rtlCol="0" anchor="ctr"/>
          <a:lstStyle/>
          <a:p>
            <a:pPr indent="0" marL="0">
              <a:buNone/>
            </a:pPr>
            <a:r>
              <a:rPr lang="en-US" sz="1350" b="1" i="1" dirty="0">
                <a:solidFill>
                  <a:srgbClr val="2B2622"/>
                </a:solidFill>
                <a:latin typeface="Cambria" pitchFamily="34" charset="0"/>
                <a:ea typeface="Cambria" pitchFamily="34" charset="-122"/>
                <a:cs typeface="Cambria" pitchFamily="34" charset="-120"/>
              </a:rPr>
              <a:t>Say each idea twice: once as the meaning, once as the everyday comparison</a:t>
            </a:r>
            <a:endParaRPr lang="en-US" sz="1350" dirty="0"/>
          </a:p>
        </p:txBody>
      </p:sp>
      <p:sp>
        <p:nvSpPr>
          <p:cNvPr id="24" name="Text 22"/>
          <p:cNvSpPr txBox="1"/>
          <p:nvPr/>
        </p:nvSpPr>
        <p:spPr>
          <a:xfrm>
            <a:off x="7863840" y="4645152"/>
            <a:ext cx="868680" cy="310896"/>
          </a:xfrm>
          <a:prstGeom prst="rect">
            <a:avLst/>
          </a:prstGeom>
          <a:noFill/>
          <a:ln/>
        </p:spPr>
        <p:txBody>
          <a:bodyPr wrap="square" lIns="0" tIns="0" rIns="0" bIns="0" rtlCol="0" anchor="ctr"/>
          <a:lstStyle/>
          <a:p>
            <a:pPr algn="r" indent="0" marL="0">
              <a:buNone/>
            </a:pPr>
            <a:r>
              <a:rPr lang="en-US" sz="1100" dirty="0">
                <a:solidFill>
                  <a:srgbClr val="6E655C"/>
                </a:solidFill>
                <a:latin typeface="Calibri" pitchFamily="34" charset="0"/>
                <a:ea typeface="Calibri" pitchFamily="34" charset="-122"/>
                <a:cs typeface="Calibri" pitchFamily="34" charset="-120"/>
              </a:rPr>
              <a:t>34 / 61</a:t>
            </a:r>
            <a:endParaRPr lang="en-US" sz="11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AF6EF"/>
        </a:solidFill>
      </p:bgPr>
    </p:bg>
    <p:spTree>
      <p:nvGrpSpPr>
        <p:cNvPr id="1" name=""/>
        <p:cNvGrpSpPr/>
        <p:nvPr/>
      </p:nvGrpSpPr>
      <p:grpSpPr>
        <a:xfrm>
          <a:off x="0" y="0"/>
          <a:ext cx="0" cy="0"/>
          <a:chOff x="0" y="0"/>
          <a:chExt cx="0" cy="0"/>
        </a:xfrm>
      </p:grpSpPr>
      <p:sp>
        <p:nvSpPr>
          <p:cNvPr id="2" name="Shape 0"/>
          <p:cNvSpPr/>
          <p:nvPr/>
        </p:nvSpPr>
        <p:spPr>
          <a:xfrm>
            <a:off x="457200" y="347472"/>
            <a:ext cx="566928" cy="384048"/>
          </a:xfrm>
          <a:prstGeom prst="roundRect">
            <a:avLst>
              <a:gd name="adj" fmla="val 19048"/>
            </a:avLst>
          </a:prstGeom>
          <a:solidFill>
            <a:srgbClr val="D97A14"/>
          </a:solidFill>
          <a:ln w="12700">
            <a:solidFill>
              <a:srgbClr val="D97A14"/>
            </a:solidFill>
            <a:prstDash val="solid"/>
          </a:ln>
        </p:spPr>
      </p:sp>
      <p:sp>
        <p:nvSpPr>
          <p:cNvPr id="3" name="Text 1"/>
          <p:cNvSpPr txBox="1"/>
          <p:nvPr/>
        </p:nvSpPr>
        <p:spPr>
          <a:xfrm>
            <a:off x="457200" y="347472"/>
            <a:ext cx="56692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4" name="Text 2"/>
          <p:cNvSpPr txBox="1"/>
          <p:nvPr/>
        </p:nvSpPr>
        <p:spPr>
          <a:xfrm>
            <a:off x="1143000" y="237744"/>
            <a:ext cx="7543800" cy="566928"/>
          </a:xfrm>
          <a:prstGeom prst="rect">
            <a:avLst/>
          </a:prstGeom>
          <a:noFill/>
          <a:ln/>
        </p:spPr>
        <p:txBody>
          <a:bodyPr wrap="square" lIns="0" tIns="0" rIns="0" bIns="0" rtlCol="0" anchor="ctr"/>
          <a:lstStyle/>
          <a:p>
            <a:pPr indent="0" marL="0">
              <a:buNone/>
            </a:pPr>
            <a:r>
              <a:rPr lang="en-US" sz="2800" b="1" dirty="0">
                <a:solidFill>
                  <a:srgbClr val="2B2622"/>
                </a:solidFill>
                <a:latin typeface="Cambria" pitchFamily="34" charset="0"/>
                <a:ea typeface="Cambria" pitchFamily="34" charset="-122"/>
                <a:cs typeface="Cambria" pitchFamily="34" charset="-120"/>
              </a:rPr>
              <a:t>Three ways out of one output</a:t>
            </a:r>
            <a:endParaRPr lang="en-US" sz="2800" dirty="0"/>
          </a:p>
        </p:txBody>
      </p:sp>
      <p:sp>
        <p:nvSpPr>
          <p:cNvPr id="5" name="Text 3"/>
          <p:cNvSpPr txBox="1"/>
          <p:nvPr/>
        </p:nvSpPr>
        <p:spPr>
          <a:xfrm>
            <a:off x="1143000" y="786384"/>
            <a:ext cx="7543800" cy="310896"/>
          </a:xfrm>
          <a:prstGeom prst="rect">
            <a:avLst/>
          </a:prstGeom>
          <a:noFill/>
          <a:ln/>
        </p:spPr>
        <p:txBody>
          <a:bodyPr wrap="square" lIns="0" tIns="0" rIns="0" bIns="0" rtlCol="0" anchor="ctr"/>
          <a:lstStyle/>
          <a:p>
            <a:pPr indent="0" marL="0">
              <a:buNone/>
            </a:pPr>
            <a:r>
              <a:rPr lang="en-US" sz="1300" i="1" dirty="0">
                <a:solidFill>
                  <a:srgbClr val="6E655C"/>
                </a:solidFill>
                <a:latin typeface="Calibri" pitchFamily="34" charset="0"/>
                <a:ea typeface="Calibri" pitchFamily="34" charset="-122"/>
                <a:cs typeface="Calibri" pitchFamily="34" charset="-120"/>
              </a:rPr>
              <a:t>Partners at once, a lawyer after 30 days, the lawyer alone after 90</a:t>
            </a:r>
            <a:endParaRPr lang="en-US" sz="1300" dirty="0"/>
          </a:p>
        </p:txBody>
      </p:sp>
      <p:sp>
        <p:nvSpPr>
          <p:cNvPr id="6" name="Shape 4"/>
          <p:cNvSpPr/>
          <p:nvPr/>
        </p:nvSpPr>
        <p:spPr>
          <a:xfrm>
            <a:off x="457200" y="1325880"/>
            <a:ext cx="5074920" cy="476402"/>
          </a:xfrm>
          <a:prstGeom prst="roundRect">
            <a:avLst>
              <a:gd name="adj" fmla="val 15355"/>
            </a:avLst>
          </a:prstGeom>
          <a:solidFill>
            <a:srgbClr val="23272E"/>
          </a:solidFill>
          <a:ln w="12700">
            <a:solidFill>
              <a:srgbClr val="23272E"/>
            </a:solidFill>
            <a:prstDash val="solid"/>
          </a:ln>
        </p:spPr>
      </p:sp>
      <p:sp>
        <p:nvSpPr>
          <p:cNvPr id="7" name="Text 5"/>
          <p:cNvSpPr txBox="1"/>
          <p:nvPr/>
        </p:nvSpPr>
        <p:spPr>
          <a:xfrm>
            <a:off x="603504" y="1399032"/>
            <a:ext cx="4800600" cy="348386"/>
          </a:xfrm>
          <a:prstGeom prst="rect">
            <a:avLst/>
          </a:prstGeom>
          <a:noFill/>
          <a:ln/>
        </p:spPr>
        <p:txBody>
          <a:bodyPr wrap="square" lIns="0" tIns="0" rIns="0" bIns="0" rtlCol="0" anchor="t"/>
          <a:lstStyle/>
          <a:p>
            <a:pPr indent="0" marL="0">
              <a:buNone/>
            </a:pPr>
            <a:r>
              <a:rPr lang="en-US" sz="1000" b="1" dirty="0">
                <a:solidFill>
                  <a:srgbClr val="D97A14"/>
                </a:solidFill>
                <a:latin typeface="Courier New" pitchFamily="34" charset="0"/>
                <a:ea typeface="Courier New" pitchFamily="34" charset="-122"/>
                <a:cs typeface="Courier New" pitchFamily="34" charset="-120"/>
              </a:rPr>
              <a:t>&gt;&gt;&gt; </a:t>
            </a:r>
            <a:r>
              <a:rPr lang="en-US" sz="1000" dirty="0">
                <a:solidFill>
                  <a:srgbClr val="E6EDF3"/>
                </a:solidFill>
                <a:latin typeface="Courier New" pitchFamily="34" charset="0"/>
                <a:ea typeface="Courier New" pitchFamily="34" charset="-122"/>
                <a:cs typeface="Courier New" pitchFamily="34" charset="-120"/>
              </a:rPr>
              <a:t>size = len(K.moh_script())</a:t>
            </a:r>
            <a:endParaRPr lang="en-US" sz="1000" dirty="0"/>
          </a:p>
          <a:p>
            <a:pPr indent="0" marL="0">
              <a:buNone/>
            </a:pPr>
            <a:r>
              <a:rPr lang="en-US" sz="1000" b="1" dirty="0">
                <a:solidFill>
                  <a:srgbClr val="D97A14"/>
                </a:solidFill>
                <a:latin typeface="Courier New" pitchFamily="34" charset="0"/>
                <a:ea typeface="Courier New" pitchFamily="34" charset="-122"/>
                <a:cs typeface="Courier New" pitchFamily="34" charset="-120"/>
              </a:rPr>
              <a:t>&gt;&gt;&gt; </a:t>
            </a:r>
            <a:r>
              <a:rPr lang="en-US" sz="1000" dirty="0">
                <a:solidFill>
                  <a:srgbClr val="E6EDF3"/>
                </a:solidFill>
                <a:latin typeface="Courier New" pitchFamily="34" charset="0"/>
                <a:ea typeface="Courier New" pitchFamily="34" charset="-122"/>
                <a:cs typeface="Courier New" pitchFamily="34" charset="-120"/>
              </a:rPr>
              <a:t>p1 = K.moh_spend(</a:t>
            </a:r>
            <a:r>
              <a:rPr lang="en-US" sz="1000" dirty="0">
                <a:solidFill>
                  <a:srgbClr val="FFD28A"/>
                </a:solidFill>
                <a:latin typeface="Courier New" pitchFamily="34" charset="0"/>
                <a:ea typeface="Courier New" pitchFamily="34" charset="-122"/>
                <a:cs typeface="Courier New" pitchFamily="34" charset="-120"/>
              </a:rPr>
              <a:t>1</a:t>
            </a:r>
            <a:r>
              <a:rPr lang="en-US" sz="1000" dirty="0">
                <a:solidFill>
                  <a:srgbClr val="E6EDF3"/>
                </a:solidFill>
                <a:latin typeface="Courier New" pitchFamily="34" charset="0"/>
                <a:ea typeface="Courier New" pitchFamily="34" charset="-122"/>
                <a:cs typeface="Courier New" pitchFamily="34" charset="-120"/>
              </a:rPr>
              <a:t>)</a:t>
            </a:r>
            <a:endParaRPr lang="en-US" sz="1000" dirty="0"/>
          </a:p>
        </p:txBody>
      </p:sp>
      <p:sp>
        <p:nvSpPr>
          <p:cNvPr id="8" name="Shape 6"/>
          <p:cNvSpPr/>
          <p:nvPr/>
        </p:nvSpPr>
        <p:spPr>
          <a:xfrm>
            <a:off x="457200" y="2122322"/>
            <a:ext cx="5074920" cy="311810"/>
          </a:xfrm>
          <a:prstGeom prst="roundRect">
            <a:avLst>
              <a:gd name="adj" fmla="val 23460"/>
            </a:avLst>
          </a:prstGeom>
          <a:solidFill>
            <a:srgbClr val="23272E"/>
          </a:solidFill>
          <a:ln w="12700">
            <a:solidFill>
              <a:srgbClr val="23272E"/>
            </a:solidFill>
            <a:prstDash val="solid"/>
          </a:ln>
        </p:spPr>
      </p:sp>
      <p:sp>
        <p:nvSpPr>
          <p:cNvPr id="9" name="Text 7"/>
          <p:cNvSpPr txBox="1"/>
          <p:nvPr/>
        </p:nvSpPr>
        <p:spPr>
          <a:xfrm>
            <a:off x="603504" y="2195474"/>
            <a:ext cx="4800600" cy="183794"/>
          </a:xfrm>
          <a:prstGeom prst="rect">
            <a:avLst/>
          </a:prstGeom>
          <a:noFill/>
          <a:ln/>
        </p:spPr>
        <p:txBody>
          <a:bodyPr wrap="square" lIns="0" tIns="0" rIns="0" bIns="0" rtlCol="0" anchor="t"/>
          <a:lstStyle/>
          <a:p>
            <a:pPr indent="0" marL="0">
              <a:buNone/>
            </a:pPr>
            <a:r>
              <a:rPr lang="en-US" sz="1000" b="1" dirty="0">
                <a:solidFill>
                  <a:srgbClr val="D97A14"/>
                </a:solidFill>
                <a:latin typeface="Courier New" pitchFamily="34" charset="0"/>
                <a:ea typeface="Courier New" pitchFamily="34" charset="-122"/>
                <a:cs typeface="Courier New" pitchFamily="34" charset="-120"/>
              </a:rPr>
              <a:t>&gt;&gt;&gt; </a:t>
            </a:r>
            <a:r>
              <a:rPr lang="en-US" sz="1000" dirty="0">
                <a:solidFill>
                  <a:srgbClr val="E6EDF3"/>
                </a:solidFill>
                <a:latin typeface="Courier New" pitchFamily="34" charset="0"/>
                <a:ea typeface="Courier New" pitchFamily="34" charset="-122"/>
                <a:cs typeface="Courier New" pitchFamily="34" charset="-120"/>
              </a:rPr>
              <a:t>p2 = [K.moh_spend(</a:t>
            </a:r>
            <a:r>
              <a:rPr lang="en-US" sz="1000" dirty="0">
                <a:solidFill>
                  <a:srgbClr val="FFD28A"/>
                </a:solidFill>
                <a:latin typeface="Courier New" pitchFamily="34" charset="0"/>
                <a:ea typeface="Courier New" pitchFamily="34" charset="-122"/>
                <a:cs typeface="Courier New" pitchFamily="34" charset="-120"/>
              </a:rPr>
              <a:t>2</a:t>
            </a:r>
            <a:r>
              <a:rPr lang="en-US" sz="1000" dirty="0">
                <a:solidFill>
                  <a:srgbClr val="E6EDF3"/>
                </a:solidFill>
                <a:latin typeface="Courier New" pitchFamily="34" charset="0"/>
                <a:ea typeface="Courier New" pitchFamily="34" charset="-122"/>
                <a:cs typeface="Courier New" pitchFamily="34" charset="-120"/>
              </a:rPr>
              <a:t>, sequence=s) </a:t>
            </a:r>
            <a:r>
              <a:rPr lang="en-US" sz="1000" b="1" dirty="0">
                <a:solidFill>
                  <a:srgbClr val="F2A860"/>
                </a:solidFill>
                <a:latin typeface="Courier New" pitchFamily="34" charset="0"/>
                <a:ea typeface="Courier New" pitchFamily="34" charset="-122"/>
                <a:cs typeface="Courier New" pitchFamily="34" charset="-120"/>
              </a:rPr>
              <a:t>for</a:t>
            </a:r>
            <a:r>
              <a:rPr lang="en-US" sz="1000" dirty="0">
                <a:solidFill>
                  <a:srgbClr val="E6EDF3"/>
                </a:solidFill>
                <a:latin typeface="Courier New" pitchFamily="34" charset="0"/>
                <a:ea typeface="Courier New" pitchFamily="34" charset="-122"/>
                <a:cs typeface="Courier New" pitchFamily="34" charset="-120"/>
              </a:rPr>
              <a:t> s </a:t>
            </a:r>
            <a:r>
              <a:rPr lang="en-US" sz="1000" b="1" dirty="0">
                <a:solidFill>
                  <a:srgbClr val="F2A860"/>
                </a:solidFill>
                <a:latin typeface="Courier New" pitchFamily="34" charset="0"/>
                <a:ea typeface="Courier New" pitchFamily="34" charset="-122"/>
                <a:cs typeface="Courier New" pitchFamily="34" charset="-120"/>
              </a:rPr>
              <a:t>in</a:t>
            </a:r>
            <a:r>
              <a:rPr lang="en-US" sz="1000" dirty="0">
                <a:solidFill>
                  <a:srgbClr val="E6EDF3"/>
                </a:solidFill>
                <a:latin typeface="Courier New" pitchFamily="34" charset="0"/>
                <a:ea typeface="Courier New" pitchFamily="34" charset="-122"/>
                <a:cs typeface="Courier New" pitchFamily="34" charset="-120"/>
              </a:rPr>
              <a:t> (</a:t>
            </a:r>
            <a:r>
              <a:rPr lang="en-US" sz="1000" dirty="0">
                <a:solidFill>
                  <a:srgbClr val="FFD28A"/>
                </a:solidFill>
                <a:latin typeface="Courier New" pitchFamily="34" charset="0"/>
                <a:ea typeface="Courier New" pitchFamily="34" charset="-122"/>
                <a:cs typeface="Courier New" pitchFamily="34" charset="-120"/>
              </a:rPr>
              <a:t>4320</a:t>
            </a:r>
            <a:r>
              <a:rPr lang="en-US" sz="1000" dirty="0">
                <a:solidFill>
                  <a:srgbClr val="E6EDF3"/>
                </a:solidFill>
                <a:latin typeface="Courier New" pitchFamily="34" charset="0"/>
                <a:ea typeface="Courier New" pitchFamily="34" charset="-122"/>
                <a:cs typeface="Courier New" pitchFamily="34" charset="-120"/>
              </a:rPr>
              <a:t>, </a:t>
            </a:r>
            <a:r>
              <a:rPr lang="en-US" sz="1000" dirty="0">
                <a:solidFill>
                  <a:srgbClr val="FFD28A"/>
                </a:solidFill>
                <a:latin typeface="Courier New" pitchFamily="34" charset="0"/>
                <a:ea typeface="Courier New" pitchFamily="34" charset="-122"/>
                <a:cs typeface="Courier New" pitchFamily="34" charset="-120"/>
              </a:rPr>
              <a:t>4319</a:t>
            </a:r>
            <a:r>
              <a:rPr lang="en-US" sz="1000" dirty="0">
                <a:solidFill>
                  <a:srgbClr val="E6EDF3"/>
                </a:solidFill>
                <a:latin typeface="Courier New" pitchFamily="34" charset="0"/>
                <a:ea typeface="Courier New" pitchFamily="34" charset="-122"/>
                <a:cs typeface="Courier New" pitchFamily="34" charset="-120"/>
              </a:rPr>
              <a:t>)]</a:t>
            </a:r>
            <a:endParaRPr lang="en-US" sz="1000" dirty="0"/>
          </a:p>
        </p:txBody>
      </p:sp>
      <p:sp>
        <p:nvSpPr>
          <p:cNvPr id="10" name="Shape 8"/>
          <p:cNvSpPr/>
          <p:nvPr/>
        </p:nvSpPr>
        <p:spPr>
          <a:xfrm>
            <a:off x="457200" y="2754173"/>
            <a:ext cx="5074920" cy="641909"/>
          </a:xfrm>
          <a:prstGeom prst="roundRect">
            <a:avLst>
              <a:gd name="adj" fmla="val 11396"/>
            </a:avLst>
          </a:prstGeom>
          <a:solidFill>
            <a:srgbClr val="23272E"/>
          </a:solidFill>
          <a:ln w="12700">
            <a:solidFill>
              <a:srgbClr val="23272E"/>
            </a:solidFill>
            <a:prstDash val="solid"/>
          </a:ln>
        </p:spPr>
      </p:sp>
      <p:sp>
        <p:nvSpPr>
          <p:cNvPr id="11" name="Text 9"/>
          <p:cNvSpPr txBox="1"/>
          <p:nvPr/>
        </p:nvSpPr>
        <p:spPr>
          <a:xfrm>
            <a:off x="603504" y="2827325"/>
            <a:ext cx="4800600" cy="513893"/>
          </a:xfrm>
          <a:prstGeom prst="rect">
            <a:avLst/>
          </a:prstGeom>
          <a:noFill/>
          <a:ln/>
        </p:spPr>
        <p:txBody>
          <a:bodyPr wrap="square" lIns="0" tIns="0" rIns="0" bIns="0" rtlCol="0" anchor="t"/>
          <a:lstStyle/>
          <a:p>
            <a:pPr indent="0" marL="0">
              <a:buNone/>
            </a:pPr>
            <a:r>
              <a:rPr lang="en-US" sz="1000" b="1" dirty="0">
                <a:solidFill>
                  <a:srgbClr val="D97A14"/>
                </a:solidFill>
                <a:latin typeface="Courier New" pitchFamily="34" charset="0"/>
                <a:ea typeface="Courier New" pitchFamily="34" charset="-122"/>
                <a:cs typeface="Courier New" pitchFamily="34" charset="-120"/>
              </a:rPr>
              <a:t>&gt;&gt;&gt; </a:t>
            </a:r>
            <a:r>
              <a:rPr lang="en-US" sz="1000" dirty="0">
                <a:solidFill>
                  <a:srgbClr val="E6EDF3"/>
                </a:solidFill>
                <a:latin typeface="Courier New" pitchFamily="34" charset="0"/>
                <a:ea typeface="Courier New" pitchFamily="34" charset="-122"/>
                <a:cs typeface="Courier New" pitchFamily="34" charset="-120"/>
              </a:rPr>
              <a:t>p3 = [K.moh_spend(</a:t>
            </a:r>
            <a:r>
              <a:rPr lang="en-US" sz="1000" dirty="0">
                <a:solidFill>
                  <a:srgbClr val="FFD28A"/>
                </a:solidFill>
                <a:latin typeface="Courier New" pitchFamily="34" charset="0"/>
                <a:ea typeface="Courier New" pitchFamily="34" charset="-122"/>
                <a:cs typeface="Courier New" pitchFamily="34" charset="-120"/>
              </a:rPr>
              <a:t>3</a:t>
            </a:r>
            <a:r>
              <a:rPr lang="en-US" sz="1000" dirty="0">
                <a:solidFill>
                  <a:srgbClr val="E6EDF3"/>
                </a:solidFill>
                <a:latin typeface="Courier New" pitchFamily="34" charset="0"/>
                <a:ea typeface="Courier New" pitchFamily="34" charset="-122"/>
                <a:cs typeface="Courier New" pitchFamily="34" charset="-120"/>
              </a:rPr>
              <a:t>, sequence=s) </a:t>
            </a:r>
            <a:r>
              <a:rPr lang="en-US" sz="1000" b="1" dirty="0">
                <a:solidFill>
                  <a:srgbClr val="F2A860"/>
                </a:solidFill>
                <a:latin typeface="Courier New" pitchFamily="34" charset="0"/>
                <a:ea typeface="Courier New" pitchFamily="34" charset="-122"/>
                <a:cs typeface="Courier New" pitchFamily="34" charset="-120"/>
              </a:rPr>
              <a:t>for</a:t>
            </a:r>
            <a:r>
              <a:rPr lang="en-US" sz="1000" dirty="0">
                <a:solidFill>
                  <a:srgbClr val="E6EDF3"/>
                </a:solidFill>
                <a:latin typeface="Courier New" pitchFamily="34" charset="0"/>
                <a:ea typeface="Courier New" pitchFamily="34" charset="-122"/>
                <a:cs typeface="Courier New" pitchFamily="34" charset="-120"/>
              </a:rPr>
              <a:t> s </a:t>
            </a:r>
            <a:r>
              <a:rPr lang="en-US" sz="1000" b="1" dirty="0">
                <a:solidFill>
                  <a:srgbClr val="F2A860"/>
                </a:solidFill>
                <a:latin typeface="Courier New" pitchFamily="34" charset="0"/>
                <a:ea typeface="Courier New" pitchFamily="34" charset="-122"/>
                <a:cs typeface="Courier New" pitchFamily="34" charset="-120"/>
              </a:rPr>
              <a:t>in</a:t>
            </a:r>
            <a:r>
              <a:rPr lang="en-US" sz="1000" dirty="0">
                <a:solidFill>
                  <a:srgbClr val="E6EDF3"/>
                </a:solidFill>
                <a:latin typeface="Courier New" pitchFamily="34" charset="0"/>
                <a:ea typeface="Courier New" pitchFamily="34" charset="-122"/>
                <a:cs typeface="Courier New" pitchFamily="34" charset="-120"/>
              </a:rPr>
              <a:t> (</a:t>
            </a:r>
            <a:r>
              <a:rPr lang="en-US" sz="1000" dirty="0">
                <a:solidFill>
                  <a:srgbClr val="FFD28A"/>
                </a:solidFill>
                <a:latin typeface="Courier New" pitchFamily="34" charset="0"/>
                <a:ea typeface="Courier New" pitchFamily="34" charset="-122"/>
                <a:cs typeface="Courier New" pitchFamily="34" charset="-120"/>
              </a:rPr>
              <a:t>12960</a:t>
            </a:r>
            <a:r>
              <a:rPr lang="en-US" sz="1000" dirty="0">
                <a:solidFill>
                  <a:srgbClr val="E6EDF3"/>
                </a:solidFill>
                <a:latin typeface="Courier New" pitchFamily="34" charset="0"/>
                <a:ea typeface="Courier New" pitchFamily="34" charset="-122"/>
                <a:cs typeface="Courier New" pitchFamily="34" charset="-120"/>
              </a:rPr>
              <a:t>, </a:t>
            </a:r>
            <a:r>
              <a:rPr lang="en-US" sz="1000" dirty="0">
                <a:solidFill>
                  <a:srgbClr val="FFD28A"/>
                </a:solidFill>
                <a:latin typeface="Courier New" pitchFamily="34" charset="0"/>
                <a:ea typeface="Courier New" pitchFamily="34" charset="-122"/>
                <a:cs typeface="Courier New" pitchFamily="34" charset="-120"/>
              </a:rPr>
              <a:t>4320</a:t>
            </a:r>
            <a:r>
              <a:rPr lang="en-US" sz="1000" dirty="0">
                <a:solidFill>
                  <a:srgbClr val="E6EDF3"/>
                </a:solidFill>
                <a:latin typeface="Courier New" pitchFamily="34" charset="0"/>
                <a:ea typeface="Courier New" pitchFamily="34" charset="-122"/>
                <a:cs typeface="Courier New" pitchFamily="34" charset="-120"/>
              </a:rPr>
              <a:t>)]</a:t>
            </a:r>
            <a:endParaRPr lang="en-US" sz="1000" dirty="0"/>
          </a:p>
          <a:p>
            <a:pPr indent="0" marL="0">
              <a:buNone/>
            </a:pPr>
            <a:r>
              <a:rPr lang="en-US" sz="1000" b="1" dirty="0">
                <a:solidFill>
                  <a:srgbClr val="D97A14"/>
                </a:solidFill>
                <a:latin typeface="Courier New" pitchFamily="34" charset="0"/>
                <a:ea typeface="Courier New" pitchFamily="34" charset="-122"/>
                <a:cs typeface="Courier New" pitchFamily="34" charset="-120"/>
              </a:rPr>
              <a:t>&gt;&gt;&gt; </a:t>
            </a:r>
            <a:r>
              <a:rPr lang="en-US" sz="1000" dirty="0">
                <a:solidFill>
                  <a:srgbClr val="E6EDF3"/>
                </a:solidFill>
                <a:latin typeface="Courier New" pitchFamily="34" charset="0"/>
                <a:ea typeface="Courier New" pitchFamily="34" charset="-122"/>
                <a:cs typeface="Courier New" pitchFamily="34" charset="-120"/>
              </a:rPr>
              <a:t>p3</a:t>
            </a:r>
            <a:endParaRPr lang="en-US" sz="1000" dirty="0"/>
          </a:p>
          <a:p>
            <a:pPr indent="0" marL="0">
              <a:buNone/>
            </a:pPr>
            <a:r>
              <a:rPr lang="en-US" sz="1000" dirty="0">
                <a:solidFill>
                  <a:srgbClr val="7EE787"/>
                </a:solidFill>
                <a:latin typeface="Courier New" pitchFamily="34" charset="0"/>
                <a:ea typeface="Courier New" pitchFamily="34" charset="-122"/>
                <a:cs typeface="Courier New" pitchFamily="34" charset="-120"/>
              </a:rPr>
              <a:t>['OK', 'UNSATISFIED_LOCKTIME']</a:t>
            </a:r>
            <a:endParaRPr lang="en-US" sz="1000" dirty="0"/>
          </a:p>
        </p:txBody>
      </p:sp>
      <p:sp>
        <p:nvSpPr>
          <p:cNvPr id="12" name="Shape 10"/>
          <p:cNvSpPr/>
          <p:nvPr/>
        </p:nvSpPr>
        <p:spPr>
          <a:xfrm>
            <a:off x="365760" y="1252728"/>
            <a:ext cx="237744" cy="237744"/>
          </a:xfrm>
          <a:prstGeom prst="ellipse">
            <a:avLst/>
          </a:prstGeom>
          <a:solidFill>
            <a:srgbClr val="D97A14"/>
          </a:solidFill>
          <a:ln w="12700">
            <a:solidFill>
              <a:srgbClr val="D97A14"/>
            </a:solidFill>
            <a:prstDash val="solid"/>
          </a:ln>
        </p:spPr>
      </p:sp>
      <p:sp>
        <p:nvSpPr>
          <p:cNvPr id="13" name="Text 11"/>
          <p:cNvSpPr txBox="1"/>
          <p:nvPr/>
        </p:nvSpPr>
        <p:spPr>
          <a:xfrm>
            <a:off x="365760" y="1252728"/>
            <a:ext cx="237744" cy="237744"/>
          </a:xfrm>
          <a:prstGeom prst="rect">
            <a:avLst/>
          </a:prstGeom>
          <a:noFill/>
          <a:ln/>
        </p:spPr>
        <p:txBody>
          <a:bodyPr wrap="square" lIns="0" tIns="0" rIns="0" bIns="0" rtlCol="0" anchor="ctr"/>
          <a:lstStyle/>
          <a:p>
            <a:pPr algn="ctr" indent="0" marL="0">
              <a:buNone/>
            </a:pPr>
            <a:r>
              <a:rPr lang="en-US" sz="1100" b="1" dirty="0">
                <a:solidFill>
                  <a:srgbClr val="FFFFFF"/>
                </a:solidFill>
                <a:latin typeface="Cambria" pitchFamily="34" charset="0"/>
                <a:ea typeface="Cambria" pitchFamily="34" charset="-122"/>
                <a:cs typeface="Cambria" pitchFamily="34" charset="-120"/>
              </a:rPr>
              <a:t>1</a:t>
            </a:r>
            <a:endParaRPr lang="en-US" sz="1100" dirty="0"/>
          </a:p>
        </p:txBody>
      </p:sp>
      <p:sp>
        <p:nvSpPr>
          <p:cNvPr id="14" name="Text 12"/>
          <p:cNvSpPr txBox="1"/>
          <p:nvPr/>
        </p:nvSpPr>
        <p:spPr>
          <a:xfrm>
            <a:off x="731520" y="1829714"/>
            <a:ext cx="4800600" cy="210312"/>
          </a:xfrm>
          <a:prstGeom prst="rect">
            <a:avLst/>
          </a:prstGeom>
          <a:noFill/>
          <a:ln/>
        </p:spPr>
        <p:txBody>
          <a:bodyPr wrap="square" lIns="0" tIns="0" rIns="0" bIns="0" rtlCol="0" anchor="t"/>
          <a:lstStyle/>
          <a:p>
            <a:pPr indent="0" marL="0">
              <a:buNone/>
            </a:pPr>
            <a:r>
              <a:rPr lang="en-US" sz="1050" dirty="0">
                <a:solidFill>
                  <a:srgbClr val="2B2622"/>
                </a:solidFill>
                <a:latin typeface="Calibri" pitchFamily="34" charset="0"/>
                <a:ea typeface="Calibri" pitchFamily="34" charset="-122"/>
                <a:cs typeface="Calibri" pitchFamily="34" charset="-120"/>
              </a:rPr>
              <a:t>Path one needs two of three partners and no waiting.</a:t>
            </a:r>
            <a:endParaRPr lang="en-US" sz="1050" dirty="0"/>
          </a:p>
        </p:txBody>
      </p:sp>
      <p:sp>
        <p:nvSpPr>
          <p:cNvPr id="15" name="Shape 13"/>
          <p:cNvSpPr/>
          <p:nvPr/>
        </p:nvSpPr>
        <p:spPr>
          <a:xfrm>
            <a:off x="365760" y="2049170"/>
            <a:ext cx="237744" cy="237744"/>
          </a:xfrm>
          <a:prstGeom prst="ellipse">
            <a:avLst/>
          </a:prstGeom>
          <a:solidFill>
            <a:srgbClr val="D97A14"/>
          </a:solidFill>
          <a:ln w="12700">
            <a:solidFill>
              <a:srgbClr val="D97A14"/>
            </a:solidFill>
            <a:prstDash val="solid"/>
          </a:ln>
        </p:spPr>
      </p:sp>
      <p:sp>
        <p:nvSpPr>
          <p:cNvPr id="16" name="Text 14"/>
          <p:cNvSpPr txBox="1"/>
          <p:nvPr/>
        </p:nvSpPr>
        <p:spPr>
          <a:xfrm>
            <a:off x="365760" y="2049170"/>
            <a:ext cx="237744" cy="237744"/>
          </a:xfrm>
          <a:prstGeom prst="rect">
            <a:avLst/>
          </a:prstGeom>
          <a:noFill/>
          <a:ln/>
        </p:spPr>
        <p:txBody>
          <a:bodyPr wrap="square" lIns="0" tIns="0" rIns="0" bIns="0" rtlCol="0" anchor="ctr"/>
          <a:lstStyle/>
          <a:p>
            <a:pPr algn="ctr" indent="0" marL="0">
              <a:buNone/>
            </a:pPr>
            <a:r>
              <a:rPr lang="en-US" sz="1100" b="1" dirty="0">
                <a:solidFill>
                  <a:srgbClr val="FFFFFF"/>
                </a:solidFill>
                <a:latin typeface="Cambria" pitchFamily="34" charset="0"/>
                <a:ea typeface="Cambria" pitchFamily="34" charset="-122"/>
                <a:cs typeface="Cambria" pitchFamily="34" charset="-120"/>
              </a:rPr>
              <a:t>2</a:t>
            </a:r>
            <a:endParaRPr lang="en-US" sz="1100" dirty="0"/>
          </a:p>
        </p:txBody>
      </p:sp>
      <p:sp>
        <p:nvSpPr>
          <p:cNvPr id="17" name="Text 15"/>
          <p:cNvSpPr txBox="1"/>
          <p:nvPr/>
        </p:nvSpPr>
        <p:spPr>
          <a:xfrm>
            <a:off x="731520" y="2461565"/>
            <a:ext cx="4800600" cy="210312"/>
          </a:xfrm>
          <a:prstGeom prst="rect">
            <a:avLst/>
          </a:prstGeom>
          <a:noFill/>
          <a:ln/>
        </p:spPr>
        <p:txBody>
          <a:bodyPr wrap="square" lIns="0" tIns="0" rIns="0" bIns="0" rtlCol="0" anchor="t"/>
          <a:lstStyle/>
          <a:p>
            <a:pPr indent="0" marL="0">
              <a:buNone/>
            </a:pPr>
            <a:r>
              <a:rPr lang="en-US" sz="1050" dirty="0">
                <a:solidFill>
                  <a:srgbClr val="2B2622"/>
                </a:solidFill>
                <a:latin typeface="Calibri" pitchFamily="34" charset="0"/>
                <a:ea typeface="Calibri" pitchFamily="34" charset="-122"/>
                <a:cs typeface="Calibri" pitchFamily="34" charset="-120"/>
              </a:rPr>
              <a:t>Path two: the lawyer and one partner, after 4,320 blocks.</a:t>
            </a:r>
            <a:endParaRPr lang="en-US" sz="1050" dirty="0"/>
          </a:p>
        </p:txBody>
      </p:sp>
      <p:sp>
        <p:nvSpPr>
          <p:cNvPr id="18" name="Shape 16"/>
          <p:cNvSpPr/>
          <p:nvPr/>
        </p:nvSpPr>
        <p:spPr>
          <a:xfrm>
            <a:off x="365760" y="2681021"/>
            <a:ext cx="237744" cy="237744"/>
          </a:xfrm>
          <a:prstGeom prst="ellipse">
            <a:avLst/>
          </a:prstGeom>
          <a:solidFill>
            <a:srgbClr val="D97A14"/>
          </a:solidFill>
          <a:ln w="12700">
            <a:solidFill>
              <a:srgbClr val="D97A14"/>
            </a:solidFill>
            <a:prstDash val="solid"/>
          </a:ln>
        </p:spPr>
      </p:sp>
      <p:sp>
        <p:nvSpPr>
          <p:cNvPr id="19" name="Text 17"/>
          <p:cNvSpPr txBox="1"/>
          <p:nvPr/>
        </p:nvSpPr>
        <p:spPr>
          <a:xfrm>
            <a:off x="365760" y="2681021"/>
            <a:ext cx="237744" cy="237744"/>
          </a:xfrm>
          <a:prstGeom prst="rect">
            <a:avLst/>
          </a:prstGeom>
          <a:noFill/>
          <a:ln/>
        </p:spPr>
        <p:txBody>
          <a:bodyPr wrap="square" lIns="0" tIns="0" rIns="0" bIns="0" rtlCol="0" anchor="ctr"/>
          <a:lstStyle/>
          <a:p>
            <a:pPr algn="ctr" indent="0" marL="0">
              <a:buNone/>
            </a:pPr>
            <a:r>
              <a:rPr lang="en-US" sz="1100" b="1" dirty="0">
                <a:solidFill>
                  <a:srgbClr val="FFFFFF"/>
                </a:solidFill>
                <a:latin typeface="Cambria" pitchFamily="34" charset="0"/>
                <a:ea typeface="Cambria" pitchFamily="34" charset="-122"/>
                <a:cs typeface="Cambria" pitchFamily="34" charset="-120"/>
              </a:rPr>
              <a:t>3</a:t>
            </a:r>
            <a:endParaRPr lang="en-US" sz="1100" dirty="0"/>
          </a:p>
        </p:txBody>
      </p:sp>
      <p:sp>
        <p:nvSpPr>
          <p:cNvPr id="20" name="Text 18"/>
          <p:cNvSpPr txBox="1"/>
          <p:nvPr/>
        </p:nvSpPr>
        <p:spPr>
          <a:xfrm>
            <a:off x="731520" y="3423514"/>
            <a:ext cx="4800600" cy="210312"/>
          </a:xfrm>
          <a:prstGeom prst="rect">
            <a:avLst/>
          </a:prstGeom>
          <a:noFill/>
          <a:ln/>
        </p:spPr>
        <p:txBody>
          <a:bodyPr wrap="square" lIns="0" tIns="0" rIns="0" bIns="0" rtlCol="0" anchor="t"/>
          <a:lstStyle/>
          <a:p>
            <a:pPr indent="0" marL="0">
              <a:buNone/>
            </a:pPr>
            <a:r>
              <a:rPr lang="en-US" sz="1050" dirty="0">
                <a:solidFill>
                  <a:srgbClr val="2B2622"/>
                </a:solidFill>
                <a:latin typeface="Calibri" pitchFamily="34" charset="0"/>
                <a:ea typeface="Calibri" pitchFamily="34" charset="-122"/>
                <a:cs typeface="Calibri" pitchFamily="34" charset="-120"/>
              </a:rPr>
              <a:t>Path three: the lawyer alone, after 12,960 blocks.</a:t>
            </a:r>
            <a:endParaRPr lang="en-US" sz="1050" dirty="0"/>
          </a:p>
        </p:txBody>
      </p:sp>
      <p:sp>
        <p:nvSpPr>
          <p:cNvPr id="21" name="Text 19"/>
          <p:cNvSpPr txBox="1"/>
          <p:nvPr/>
        </p:nvSpPr>
        <p:spPr>
          <a:xfrm>
            <a:off x="457200" y="3679546"/>
            <a:ext cx="5074920" cy="182880"/>
          </a:xfrm>
          <a:prstGeom prst="rect">
            <a:avLst/>
          </a:prstGeom>
          <a:noFill/>
          <a:ln/>
        </p:spPr>
        <p:txBody>
          <a:bodyPr wrap="square" lIns="0" tIns="0" rIns="0" bIns="0" rtlCol="0" anchor="ctr"/>
          <a:lstStyle/>
          <a:p>
            <a:pPr algn="l" indent="0" marL="0">
              <a:buNone/>
            </a:pPr>
            <a:r>
              <a:rPr lang="en-US" sz="900" i="1" dirty="0">
                <a:solidFill>
                  <a:srgbClr val="6E655C"/>
                </a:solidFill>
                <a:latin typeface="Calibri" pitchFamily="34" charset="0"/>
                <a:ea typeface="Calibri" pitchFamily="34" charset="-122"/>
                <a:cs typeface="Calibri" pitchFamily="34" charset="-120"/>
              </a:rPr>
              <a:t>run under Python 3.14.6 - L, K and the chapter setup as on slide 7</a:t>
            </a:r>
            <a:endParaRPr lang="en-US" sz="900" dirty="0"/>
          </a:p>
        </p:txBody>
      </p:sp>
      <p:sp>
        <p:nvSpPr>
          <p:cNvPr id="22" name="Text 20"/>
          <p:cNvSpPr txBox="1"/>
          <p:nvPr/>
        </p:nvSpPr>
        <p:spPr>
          <a:xfrm>
            <a:off x="5715000" y="1325880"/>
            <a:ext cx="2971800" cy="402336"/>
          </a:xfrm>
          <a:prstGeom prst="rect">
            <a:avLst/>
          </a:prstGeom>
          <a:noFill/>
          <a:ln/>
        </p:spPr>
        <p:txBody>
          <a:bodyPr wrap="square" lIns="0" tIns="0" rIns="0" bIns="0" rtlCol="0" anchor="t"/>
          <a:lstStyle/>
          <a:p>
            <a:pPr algn="l" indent="0" marL="0">
              <a:buNone/>
            </a:pPr>
            <a:r>
              <a:rPr lang="en-US" sz="1100" b="1" dirty="0">
                <a:solidFill>
                  <a:srgbClr val="6E655C"/>
                </a:solidFill>
                <a:latin typeface="Calibri" pitchFamily="34" charset="0"/>
                <a:ea typeface="Calibri" pitchFamily="34" charset="-122"/>
                <a:cs typeface="Calibri" pitchFamily="34" charset="-120"/>
              </a:rPr>
              <a:t>Result: the script of 192 bytes, six spends</a:t>
            </a:r>
            <a:endParaRPr lang="en-US" sz="11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5715000" y="1773936"/>
          <a:ext cx="2971800" cy="914400"/>
        </p:xfrm>
        <a:graphic>
          <a:graphicData uri="http://schemas.openxmlformats.org/drawingml/2006/table">
            <a:tbl>
              <a:tblPr/>
              <a:tblGrid>
                <a:gridCol w="1234440"/>
                <a:gridCol w="1737360"/>
              </a:tblGrid>
              <a:tr h="274320">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Path and wait</a:t>
                      </a:r>
                      <a:endParaRPr lang="en-US" sz="90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solidFill>
                      <a:srgbClr val="2B2622"/>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Result</a:t>
                      </a:r>
                      <a:endParaRPr lang="en-US" sz="90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solidFill>
                      <a:srgbClr val="2B2622"/>
                    </a:solidFill>
                  </a:tcPr>
                </a:tc>
              </a:tr>
              <a:tr h="274320">
                <a:tc>
                  <a:txBody>
                    <a:bodyPr/>
                    <a:lstStyle/>
                    <a:p>
                      <a:pPr indent="0" marL="0">
                        <a:buNone/>
                      </a:pPr>
                      <a:r>
                        <a:rPr lang="en-US" sz="900" dirty="0">
                          <a:solidFill>
                            <a:srgbClr val="2B2622"/>
                          </a:solidFill>
                          <a:latin typeface="Calibri" pitchFamily="34" charset="0"/>
                          <a:ea typeface="Calibri" pitchFamily="34" charset="-122"/>
                          <a:cs typeface="Calibri" pitchFamily="34" charset="-120"/>
                        </a:rPr>
                        <a:t>1: partners, none</a:t>
                      </a:r>
                      <a:endParaRPr lang="en-US" sz="90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c>
                  <a:txBody>
                    <a:bodyPr/>
                    <a:lstStyle/>
                    <a:p>
                      <a:pPr indent="0" marL="0">
                        <a:buNone/>
                      </a:pPr>
                      <a:r>
                        <a:rPr lang="en-US" sz="900" dirty="0">
                          <a:solidFill>
                            <a:srgbClr val="2B2622"/>
                          </a:solidFill>
                          <a:latin typeface="Calibri" pitchFamily="34" charset="0"/>
                          <a:ea typeface="Calibri" pitchFamily="34" charset="-122"/>
                          <a:cs typeface="Calibri" pitchFamily="34" charset="-120"/>
                        </a:rPr>
                        <a:t>OK</a:t>
                      </a:r>
                      <a:endParaRPr lang="en-US" sz="90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r>
              <a:tr h="274320">
                <a:tc>
                  <a:txBody>
                    <a:bodyPr/>
                    <a:lstStyle/>
                    <a:p>
                      <a:pPr indent="0" marL="0">
                        <a:buNone/>
                      </a:pPr>
                      <a:r>
                        <a:rPr lang="en-US" sz="900" dirty="0">
                          <a:solidFill>
                            <a:srgbClr val="2B2622"/>
                          </a:solidFill>
                          <a:latin typeface="Calibri" pitchFamily="34" charset="0"/>
                          <a:ea typeface="Calibri" pitchFamily="34" charset="-122"/>
                          <a:cs typeface="Calibri" pitchFamily="34" charset="-120"/>
                        </a:rPr>
                        <a:t>2: lawyer, 4,320</a:t>
                      </a:r>
                      <a:endParaRPr lang="en-US" sz="90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c>
                  <a:txBody>
                    <a:bodyPr/>
                    <a:lstStyle/>
                    <a:p>
                      <a:pPr indent="0" marL="0">
                        <a:buNone/>
                      </a:pPr>
                      <a:r>
                        <a:rPr lang="en-US" sz="900" dirty="0">
                          <a:solidFill>
                            <a:srgbClr val="2B2622"/>
                          </a:solidFill>
                          <a:latin typeface="Calibri" pitchFamily="34" charset="0"/>
                          <a:ea typeface="Calibri" pitchFamily="34" charset="-122"/>
                          <a:cs typeface="Calibri" pitchFamily="34" charset="-120"/>
                        </a:rPr>
                        <a:t>OK</a:t>
                      </a:r>
                      <a:endParaRPr lang="en-US" sz="90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r>
              <a:tr h="274320">
                <a:tc>
                  <a:txBody>
                    <a:bodyPr/>
                    <a:lstStyle/>
                    <a:p>
                      <a:pPr indent="0" marL="0">
                        <a:buNone/>
                      </a:pPr>
                      <a:r>
                        <a:rPr lang="en-US" sz="900" dirty="0">
                          <a:solidFill>
                            <a:srgbClr val="2B2622"/>
                          </a:solidFill>
                          <a:latin typeface="Calibri" pitchFamily="34" charset="0"/>
                          <a:ea typeface="Calibri" pitchFamily="34" charset="-122"/>
                          <a:cs typeface="Calibri" pitchFamily="34" charset="-120"/>
                        </a:rPr>
                        <a:t>2: lawyer, 4,319</a:t>
                      </a:r>
                      <a:endParaRPr lang="en-US" sz="90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c>
                  <a:txBody>
                    <a:bodyPr/>
                    <a:lstStyle/>
                    <a:p>
                      <a:pPr indent="0" marL="0">
                        <a:buNone/>
                      </a:pPr>
                      <a:r>
                        <a:rPr lang="en-US" sz="900" dirty="0">
                          <a:solidFill>
                            <a:srgbClr val="2B2622"/>
                          </a:solidFill>
                          <a:latin typeface="Calibri" pitchFamily="34" charset="0"/>
                          <a:ea typeface="Calibri" pitchFamily="34" charset="-122"/>
                          <a:cs typeface="Calibri" pitchFamily="34" charset="-120"/>
                        </a:rPr>
                        <a:t>UNSATISFIED_LOCKTIME</a:t>
                      </a:r>
                      <a:endParaRPr lang="en-US" sz="90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r>
              <a:tr h="274320">
                <a:tc>
                  <a:txBody>
                    <a:bodyPr/>
                    <a:lstStyle/>
                    <a:p>
                      <a:pPr indent="0" marL="0">
                        <a:buNone/>
                      </a:pPr>
                      <a:r>
                        <a:rPr lang="en-US" sz="900" dirty="0">
                          <a:solidFill>
                            <a:srgbClr val="2B2622"/>
                          </a:solidFill>
                          <a:latin typeface="Calibri" pitchFamily="34" charset="0"/>
                          <a:ea typeface="Calibri" pitchFamily="34" charset="-122"/>
                          <a:cs typeface="Calibri" pitchFamily="34" charset="-120"/>
                        </a:rPr>
                        <a:t>3: lawyer, 12,960</a:t>
                      </a:r>
                      <a:endParaRPr lang="en-US" sz="90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c>
                  <a:txBody>
                    <a:bodyPr/>
                    <a:lstStyle/>
                    <a:p>
                      <a:pPr indent="0" marL="0">
                        <a:buNone/>
                      </a:pPr>
                      <a:r>
                        <a:rPr lang="en-US" sz="900" dirty="0">
                          <a:solidFill>
                            <a:srgbClr val="2B2622"/>
                          </a:solidFill>
                          <a:latin typeface="Calibri" pitchFamily="34" charset="0"/>
                          <a:ea typeface="Calibri" pitchFamily="34" charset="-122"/>
                          <a:cs typeface="Calibri" pitchFamily="34" charset="-120"/>
                        </a:rPr>
                        <a:t>OK</a:t>
                      </a:r>
                      <a:endParaRPr lang="en-US" sz="90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r>
              <a:tr h="274320">
                <a:tc>
                  <a:txBody>
                    <a:bodyPr/>
                    <a:lstStyle/>
                    <a:p>
                      <a:pPr indent="0" marL="0">
                        <a:buNone/>
                      </a:pPr>
                      <a:r>
                        <a:rPr lang="en-US" sz="900" dirty="0">
                          <a:solidFill>
                            <a:srgbClr val="2B2622"/>
                          </a:solidFill>
                          <a:latin typeface="Calibri" pitchFamily="34" charset="0"/>
                          <a:ea typeface="Calibri" pitchFamily="34" charset="-122"/>
                          <a:cs typeface="Calibri" pitchFamily="34" charset="-120"/>
                        </a:rPr>
                        <a:t>3: lawyer, 4,320</a:t>
                      </a:r>
                      <a:endParaRPr lang="en-US" sz="90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c>
                  <a:txBody>
                    <a:bodyPr/>
                    <a:lstStyle/>
                    <a:p>
                      <a:pPr indent="0" marL="0">
                        <a:buNone/>
                      </a:pPr>
                      <a:r>
                        <a:rPr lang="en-US" sz="900" dirty="0">
                          <a:solidFill>
                            <a:srgbClr val="2B2622"/>
                          </a:solidFill>
                          <a:latin typeface="Calibri" pitchFamily="34" charset="0"/>
                          <a:ea typeface="Calibri" pitchFamily="34" charset="-122"/>
                          <a:cs typeface="Calibri" pitchFamily="34" charset="-120"/>
                        </a:rPr>
                        <a:t>UNSATISFIED_LOCKTIME</a:t>
                      </a:r>
                      <a:endParaRPr lang="en-US" sz="90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r>
            </a:tbl>
          </a:graphicData>
        </a:graphic>
      </p:graphicFrame>
      <p:sp>
        <p:nvSpPr>
          <p:cNvPr id="24" name="Text 21"/>
          <p:cNvSpPr txBox="1"/>
          <p:nvPr/>
        </p:nvSpPr>
        <p:spPr>
          <a:xfrm>
            <a:off x="5715000" y="3694176"/>
            <a:ext cx="2971800" cy="603504"/>
          </a:xfrm>
          <a:prstGeom prst="rect">
            <a:avLst/>
          </a:prstGeom>
          <a:noFill/>
          <a:ln/>
        </p:spPr>
        <p:txBody>
          <a:bodyPr wrap="square" lIns="0" tIns="0" rIns="0" bIns="0" rtlCol="0" anchor="t"/>
          <a:lstStyle/>
          <a:p>
            <a:pPr algn="l" indent="0" marL="0">
              <a:buNone/>
            </a:pPr>
            <a:r>
              <a:rPr lang="en-US" sz="1150" i="1" dirty="0">
                <a:solidFill>
                  <a:srgbClr val="2B2622"/>
                </a:solidFill>
                <a:latin typeface="Calibri" pitchFamily="34" charset="0"/>
                <a:ea typeface="Calibri" pitchFamily="34" charset="-122"/>
                <a:cs typeface="Calibri" pitchFamily="34" charset="-120"/>
              </a:rPr>
              <a:t>Each path works only after its wait; asking one block early fails with UNSATISFIED_LOCKTIME.</a:t>
            </a:r>
            <a:endParaRPr lang="en-US" sz="1150" dirty="0"/>
          </a:p>
        </p:txBody>
      </p:sp>
      <p:sp>
        <p:nvSpPr>
          <p:cNvPr id="25" name="Shape 22"/>
          <p:cNvSpPr/>
          <p:nvPr/>
        </p:nvSpPr>
        <p:spPr>
          <a:xfrm>
            <a:off x="457200" y="4636008"/>
            <a:ext cx="91440" cy="310896"/>
          </a:xfrm>
          <a:prstGeom prst="rect">
            <a:avLst/>
          </a:prstGeom>
          <a:solidFill>
            <a:srgbClr val="D97A14"/>
          </a:solidFill>
          <a:ln w="12700">
            <a:solidFill>
              <a:srgbClr val="D97A14"/>
            </a:solidFill>
            <a:prstDash val="solid"/>
          </a:ln>
        </p:spPr>
      </p:sp>
      <p:sp>
        <p:nvSpPr>
          <p:cNvPr id="26" name="Text 23"/>
          <p:cNvSpPr txBox="1"/>
          <p:nvPr/>
        </p:nvSpPr>
        <p:spPr>
          <a:xfrm>
            <a:off x="658368" y="4599432"/>
            <a:ext cx="6949440" cy="384048"/>
          </a:xfrm>
          <a:prstGeom prst="rect">
            <a:avLst/>
          </a:prstGeom>
          <a:noFill/>
          <a:ln/>
        </p:spPr>
        <p:txBody>
          <a:bodyPr wrap="square" lIns="0" tIns="0" rIns="0" bIns="0" rtlCol="0" anchor="ctr"/>
          <a:lstStyle/>
          <a:p>
            <a:pPr indent="0" marL="0">
              <a:buNone/>
            </a:pPr>
            <a:r>
              <a:rPr lang="en-US" sz="1350" b="1" i="1" dirty="0">
                <a:solidFill>
                  <a:srgbClr val="2B2622"/>
                </a:solidFill>
                <a:latin typeface="Cambria" pitchFamily="34" charset="0"/>
                <a:ea typeface="Cambria" pitchFamily="34" charset="-122"/>
                <a:cs typeface="Cambria" pitchFamily="34" charset="-120"/>
              </a:rPr>
              <a:t>A conditional script lets one output have several spending paths</a:t>
            </a:r>
            <a:endParaRPr lang="en-US" sz="1350" dirty="0"/>
          </a:p>
        </p:txBody>
      </p:sp>
      <p:sp>
        <p:nvSpPr>
          <p:cNvPr id="27" name="Text 24"/>
          <p:cNvSpPr txBox="1"/>
          <p:nvPr/>
        </p:nvSpPr>
        <p:spPr>
          <a:xfrm>
            <a:off x="7863840" y="4645152"/>
            <a:ext cx="868680" cy="310896"/>
          </a:xfrm>
          <a:prstGeom prst="rect">
            <a:avLst/>
          </a:prstGeom>
          <a:noFill/>
          <a:ln/>
        </p:spPr>
        <p:txBody>
          <a:bodyPr wrap="square" lIns="0" tIns="0" rIns="0" bIns="0" rtlCol="0" anchor="ctr"/>
          <a:lstStyle/>
          <a:p>
            <a:pPr algn="r" indent="0" marL="0">
              <a:buNone/>
            </a:pPr>
            <a:r>
              <a:rPr lang="en-US" sz="1100" dirty="0">
                <a:solidFill>
                  <a:srgbClr val="6E655C"/>
                </a:solidFill>
                <a:latin typeface="Calibri" pitchFamily="34" charset="0"/>
                <a:ea typeface="Calibri" pitchFamily="34" charset="-122"/>
                <a:cs typeface="Calibri" pitchFamily="34" charset="-120"/>
              </a:rPr>
              <a:t>35 / 61</a:t>
            </a:r>
            <a:endParaRPr lang="en-US" sz="11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AF6EF"/>
        </a:solidFill>
      </p:bgPr>
    </p:bg>
    <p:spTree>
      <p:nvGrpSpPr>
        <p:cNvPr id="1" name=""/>
        <p:cNvGrpSpPr/>
        <p:nvPr/>
      </p:nvGrpSpPr>
      <p:grpSpPr>
        <a:xfrm>
          <a:off x="0" y="0"/>
          <a:ext cx="0" cy="0"/>
          <a:chOff x="0" y="0"/>
          <a:chExt cx="0" cy="0"/>
        </a:xfrm>
      </p:grpSpPr>
      <p:sp>
        <p:nvSpPr>
          <p:cNvPr id="2" name="Shape 0"/>
          <p:cNvSpPr/>
          <p:nvPr/>
        </p:nvSpPr>
        <p:spPr>
          <a:xfrm>
            <a:off x="457200" y="347472"/>
            <a:ext cx="566928" cy="384048"/>
          </a:xfrm>
          <a:prstGeom prst="roundRect">
            <a:avLst>
              <a:gd name="adj" fmla="val 19048"/>
            </a:avLst>
          </a:prstGeom>
          <a:solidFill>
            <a:srgbClr val="D97A14"/>
          </a:solidFill>
          <a:ln w="12700">
            <a:solidFill>
              <a:srgbClr val="D97A14"/>
            </a:solidFill>
            <a:prstDash val="solid"/>
          </a:ln>
        </p:spPr>
      </p:sp>
      <p:sp>
        <p:nvSpPr>
          <p:cNvPr id="3" name="Text 1"/>
          <p:cNvSpPr txBox="1"/>
          <p:nvPr/>
        </p:nvSpPr>
        <p:spPr>
          <a:xfrm>
            <a:off x="457200" y="347472"/>
            <a:ext cx="56692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4" name="Text 2"/>
          <p:cNvSpPr txBox="1"/>
          <p:nvPr/>
        </p:nvSpPr>
        <p:spPr>
          <a:xfrm>
            <a:off x="1143000" y="237744"/>
            <a:ext cx="7543800" cy="566928"/>
          </a:xfrm>
          <a:prstGeom prst="rect">
            <a:avLst/>
          </a:prstGeom>
          <a:noFill/>
          <a:ln/>
        </p:spPr>
        <p:txBody>
          <a:bodyPr wrap="square" lIns="0" tIns="0" rIns="0" bIns="0" rtlCol="0" anchor="ctr"/>
          <a:lstStyle/>
          <a:p>
            <a:pPr indent="0" marL="0">
              <a:buNone/>
            </a:pPr>
            <a:r>
              <a:rPr lang="en-US" sz="2800" b="1" dirty="0">
                <a:solidFill>
                  <a:srgbClr val="2B2622"/>
                </a:solidFill>
                <a:latin typeface="Cambria" pitchFamily="34" charset="0"/>
                <a:ea typeface="Cambria" pitchFamily="34" charset="-122"/>
                <a:cs typeface="Cambria" pitchFamily="34" charset="-120"/>
              </a:rPr>
              <a:t>Flow (2 of 2)</a:t>
            </a:r>
            <a:endParaRPr lang="en-US" sz="2800" dirty="0"/>
          </a:p>
        </p:txBody>
      </p:sp>
      <p:sp>
        <p:nvSpPr>
          <p:cNvPr id="5" name="Text 3"/>
          <p:cNvSpPr txBox="1"/>
          <p:nvPr/>
        </p:nvSpPr>
        <p:spPr>
          <a:xfrm>
            <a:off x="1143000" y="786384"/>
            <a:ext cx="7543800" cy="310896"/>
          </a:xfrm>
          <a:prstGeom prst="rect">
            <a:avLst/>
          </a:prstGeom>
          <a:noFill/>
          <a:ln/>
        </p:spPr>
        <p:txBody>
          <a:bodyPr wrap="square" lIns="0" tIns="0" rIns="0" bIns="0" rtlCol="0" anchor="ctr"/>
          <a:lstStyle/>
          <a:p>
            <a:pPr indent="0" marL="0">
              <a:buNone/>
            </a:pPr>
            <a:r>
              <a:rPr lang="en-US" sz="1300" i="1" dirty="0">
                <a:solidFill>
                  <a:srgbClr val="6E655C"/>
                </a:solidFill>
                <a:latin typeface="Calibri" pitchFamily="34" charset="0"/>
                <a:ea typeface="Calibri" pitchFamily="34" charset="-122"/>
                <a:cs typeface="Calibri" pitchFamily="34" charset="-120"/>
              </a:rPr>
              <a:t>Each card: the meaning in a few words, then something you already know</a:t>
            </a:r>
            <a:endParaRPr lang="en-US" sz="1300" dirty="0"/>
          </a:p>
        </p:txBody>
      </p:sp>
      <p:sp>
        <p:nvSpPr>
          <p:cNvPr id="6" name="Shape 4"/>
          <p:cNvSpPr/>
          <p:nvPr/>
        </p:nvSpPr>
        <p:spPr>
          <a:xfrm>
            <a:off x="457200" y="1280160"/>
            <a:ext cx="4041648" cy="1161288"/>
          </a:xfrm>
          <a:prstGeom prst="roundRect">
            <a:avLst>
              <a:gd name="adj" fmla="val 6299"/>
            </a:avLst>
          </a:prstGeom>
          <a:solidFill>
            <a:srgbClr val="F2ECE1"/>
          </a:solidFill>
          <a:ln w="12700">
            <a:solidFill>
              <a:srgbClr val="DFD6C7"/>
            </a:solidFill>
            <a:prstDash val="solid"/>
          </a:ln>
        </p:spPr>
      </p:sp>
      <p:sp>
        <p:nvSpPr>
          <p:cNvPr id="7" name="Shape 5"/>
          <p:cNvSpPr/>
          <p:nvPr/>
        </p:nvSpPr>
        <p:spPr>
          <a:xfrm>
            <a:off x="475488" y="1408176"/>
            <a:ext cx="64008" cy="905256"/>
          </a:xfrm>
          <a:prstGeom prst="rect">
            <a:avLst/>
          </a:prstGeom>
          <a:solidFill>
            <a:srgbClr val="D97A14"/>
          </a:solidFill>
          <a:ln w="12700">
            <a:solidFill>
              <a:srgbClr val="D97A14"/>
            </a:solidFill>
            <a:prstDash val="solid"/>
          </a:ln>
        </p:spPr>
      </p:sp>
      <p:sp>
        <p:nvSpPr>
          <p:cNvPr id="8" name="Text 6"/>
          <p:cNvSpPr txBox="1"/>
          <p:nvPr/>
        </p:nvSpPr>
        <p:spPr>
          <a:xfrm>
            <a:off x="640080" y="1344168"/>
            <a:ext cx="3767328" cy="612648"/>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OP_IF</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Runs the next clause only if the top item is true.</a:t>
            </a:r>
            <a:endParaRPr lang="en-US" sz="1300" dirty="0"/>
          </a:p>
        </p:txBody>
      </p:sp>
      <p:sp>
        <p:nvSpPr>
          <p:cNvPr id="9" name="Text 7"/>
          <p:cNvSpPr txBox="1"/>
          <p:nvPr/>
        </p:nvSpPr>
        <p:spPr>
          <a:xfrm>
            <a:off x="640080" y="1984248"/>
            <a:ext cx="3767328" cy="214884"/>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a turnstile that opens on a yes.</a:t>
            </a:r>
            <a:endParaRPr lang="en-US" sz="1150" dirty="0"/>
          </a:p>
        </p:txBody>
      </p:sp>
      <p:sp>
        <p:nvSpPr>
          <p:cNvPr id="10" name="Shape 8"/>
          <p:cNvSpPr/>
          <p:nvPr/>
        </p:nvSpPr>
        <p:spPr>
          <a:xfrm>
            <a:off x="4645152" y="1280160"/>
            <a:ext cx="4041648" cy="1161288"/>
          </a:xfrm>
          <a:prstGeom prst="roundRect">
            <a:avLst>
              <a:gd name="adj" fmla="val 6299"/>
            </a:avLst>
          </a:prstGeom>
          <a:solidFill>
            <a:srgbClr val="F2ECE1"/>
          </a:solidFill>
          <a:ln w="12700">
            <a:solidFill>
              <a:srgbClr val="DFD6C7"/>
            </a:solidFill>
            <a:prstDash val="solid"/>
          </a:ln>
        </p:spPr>
      </p:sp>
      <p:sp>
        <p:nvSpPr>
          <p:cNvPr id="11" name="Shape 9"/>
          <p:cNvSpPr/>
          <p:nvPr/>
        </p:nvSpPr>
        <p:spPr>
          <a:xfrm>
            <a:off x="4663440" y="1408176"/>
            <a:ext cx="64008" cy="905256"/>
          </a:xfrm>
          <a:prstGeom prst="rect">
            <a:avLst/>
          </a:prstGeom>
          <a:solidFill>
            <a:srgbClr val="D97A14"/>
          </a:solidFill>
          <a:ln w="12700">
            <a:solidFill>
              <a:srgbClr val="D97A14"/>
            </a:solidFill>
            <a:prstDash val="solid"/>
          </a:ln>
        </p:spPr>
      </p:sp>
      <p:sp>
        <p:nvSpPr>
          <p:cNvPr id="12" name="Text 10"/>
          <p:cNvSpPr txBox="1"/>
          <p:nvPr/>
        </p:nvSpPr>
        <p:spPr>
          <a:xfrm>
            <a:off x="4828032" y="1344168"/>
            <a:ext cx="3767328" cy="612648"/>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conditional clause</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One branch of a script that runs only under a condition.</a:t>
            </a:r>
            <a:endParaRPr lang="en-US" sz="1300" dirty="0"/>
          </a:p>
        </p:txBody>
      </p:sp>
      <p:sp>
        <p:nvSpPr>
          <p:cNvPr id="13" name="Text 11"/>
          <p:cNvSpPr txBox="1"/>
          <p:nvPr/>
        </p:nvSpPr>
        <p:spPr>
          <a:xfrm>
            <a:off x="4828032" y="1984248"/>
            <a:ext cx="3767328" cy="393192"/>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a footnote that applies only in a special case.</a:t>
            </a:r>
            <a:endParaRPr lang="en-US" sz="1150" dirty="0"/>
          </a:p>
        </p:txBody>
      </p:sp>
      <p:sp>
        <p:nvSpPr>
          <p:cNvPr id="14" name="Shape 12"/>
          <p:cNvSpPr/>
          <p:nvPr/>
        </p:nvSpPr>
        <p:spPr>
          <a:xfrm>
            <a:off x="457200" y="2569464"/>
            <a:ext cx="4041648" cy="1161288"/>
          </a:xfrm>
          <a:prstGeom prst="roundRect">
            <a:avLst>
              <a:gd name="adj" fmla="val 6299"/>
            </a:avLst>
          </a:prstGeom>
          <a:solidFill>
            <a:srgbClr val="F2ECE1"/>
          </a:solidFill>
          <a:ln w="12700">
            <a:solidFill>
              <a:srgbClr val="DFD6C7"/>
            </a:solidFill>
            <a:prstDash val="solid"/>
          </a:ln>
        </p:spPr>
      </p:sp>
      <p:sp>
        <p:nvSpPr>
          <p:cNvPr id="15" name="Shape 13"/>
          <p:cNvSpPr/>
          <p:nvPr/>
        </p:nvSpPr>
        <p:spPr>
          <a:xfrm>
            <a:off x="475488" y="2697480"/>
            <a:ext cx="64008" cy="905256"/>
          </a:xfrm>
          <a:prstGeom prst="rect">
            <a:avLst/>
          </a:prstGeom>
          <a:solidFill>
            <a:srgbClr val="D97A14"/>
          </a:solidFill>
          <a:ln w="12700">
            <a:solidFill>
              <a:srgbClr val="D97A14"/>
            </a:solidFill>
            <a:prstDash val="solid"/>
          </a:ln>
        </p:spPr>
      </p:sp>
      <p:sp>
        <p:nvSpPr>
          <p:cNvPr id="16" name="Text 14"/>
          <p:cNvSpPr txBox="1"/>
          <p:nvPr/>
        </p:nvSpPr>
        <p:spPr>
          <a:xfrm>
            <a:off x="640080" y="2633472"/>
            <a:ext cx="3767328" cy="434340"/>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OP_VERIFY</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Fails the script unless the top item is true.</a:t>
            </a:r>
            <a:endParaRPr lang="en-US" sz="1300" dirty="0"/>
          </a:p>
        </p:txBody>
      </p:sp>
      <p:sp>
        <p:nvSpPr>
          <p:cNvPr id="17" name="Text 15"/>
          <p:cNvSpPr txBox="1"/>
          <p:nvPr/>
        </p:nvSpPr>
        <p:spPr>
          <a:xfrm>
            <a:off x="640080" y="3095244"/>
            <a:ext cx="3767328" cy="393192"/>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a bouncer who checks one thing and sends you home.</a:t>
            </a:r>
            <a:endParaRPr lang="en-US" sz="1150" dirty="0"/>
          </a:p>
        </p:txBody>
      </p:sp>
      <p:sp>
        <p:nvSpPr>
          <p:cNvPr id="18" name="Shape 16"/>
          <p:cNvSpPr/>
          <p:nvPr/>
        </p:nvSpPr>
        <p:spPr>
          <a:xfrm>
            <a:off x="4645152" y="2569464"/>
            <a:ext cx="4041648" cy="1161288"/>
          </a:xfrm>
          <a:prstGeom prst="roundRect">
            <a:avLst>
              <a:gd name="adj" fmla="val 6299"/>
            </a:avLst>
          </a:prstGeom>
          <a:solidFill>
            <a:srgbClr val="F2ECE1"/>
          </a:solidFill>
          <a:ln w="12700">
            <a:solidFill>
              <a:srgbClr val="DFD6C7"/>
            </a:solidFill>
            <a:prstDash val="solid"/>
          </a:ln>
        </p:spPr>
      </p:sp>
      <p:sp>
        <p:nvSpPr>
          <p:cNvPr id="19" name="Shape 17"/>
          <p:cNvSpPr/>
          <p:nvPr/>
        </p:nvSpPr>
        <p:spPr>
          <a:xfrm>
            <a:off x="4663440" y="2697480"/>
            <a:ext cx="64008" cy="905256"/>
          </a:xfrm>
          <a:prstGeom prst="rect">
            <a:avLst/>
          </a:prstGeom>
          <a:solidFill>
            <a:srgbClr val="D97A14"/>
          </a:solidFill>
          <a:ln w="12700">
            <a:solidFill>
              <a:srgbClr val="D97A14"/>
            </a:solidFill>
            <a:prstDash val="solid"/>
          </a:ln>
        </p:spPr>
      </p:sp>
      <p:sp>
        <p:nvSpPr>
          <p:cNvPr id="20" name="Text 18"/>
          <p:cNvSpPr txBox="1"/>
          <p:nvPr/>
        </p:nvSpPr>
        <p:spPr>
          <a:xfrm>
            <a:off x="4828032" y="2633472"/>
            <a:ext cx="3767328" cy="612648"/>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Miniscript</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A structured language that compiles to Script and can be analysed.</a:t>
            </a:r>
            <a:endParaRPr lang="en-US" sz="1300" dirty="0"/>
          </a:p>
        </p:txBody>
      </p:sp>
      <p:sp>
        <p:nvSpPr>
          <p:cNvPr id="21" name="Text 19"/>
          <p:cNvSpPr txBox="1"/>
          <p:nvPr/>
        </p:nvSpPr>
        <p:spPr>
          <a:xfrm>
            <a:off x="4828032" y="3273552"/>
            <a:ext cx="3767328" cy="393192"/>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a spreadsheet formula that is checked before you save it.</a:t>
            </a:r>
            <a:endParaRPr lang="en-US" sz="1150" dirty="0"/>
          </a:p>
        </p:txBody>
      </p:sp>
      <p:sp>
        <p:nvSpPr>
          <p:cNvPr id="22" name="Shape 20"/>
          <p:cNvSpPr/>
          <p:nvPr/>
        </p:nvSpPr>
        <p:spPr>
          <a:xfrm>
            <a:off x="457200" y="4636008"/>
            <a:ext cx="91440" cy="310896"/>
          </a:xfrm>
          <a:prstGeom prst="rect">
            <a:avLst/>
          </a:prstGeom>
          <a:solidFill>
            <a:srgbClr val="D97A14"/>
          </a:solidFill>
          <a:ln w="12700">
            <a:solidFill>
              <a:srgbClr val="D97A14"/>
            </a:solidFill>
            <a:prstDash val="solid"/>
          </a:ln>
        </p:spPr>
      </p:sp>
      <p:sp>
        <p:nvSpPr>
          <p:cNvPr id="23" name="Text 21"/>
          <p:cNvSpPr txBox="1"/>
          <p:nvPr/>
        </p:nvSpPr>
        <p:spPr>
          <a:xfrm>
            <a:off x="658368" y="4599432"/>
            <a:ext cx="6949440" cy="384048"/>
          </a:xfrm>
          <a:prstGeom prst="rect">
            <a:avLst/>
          </a:prstGeom>
          <a:noFill/>
          <a:ln/>
        </p:spPr>
        <p:txBody>
          <a:bodyPr wrap="square" lIns="0" tIns="0" rIns="0" bIns="0" rtlCol="0" anchor="ctr"/>
          <a:lstStyle/>
          <a:p>
            <a:pPr indent="0" marL="0">
              <a:buNone/>
            </a:pPr>
            <a:r>
              <a:rPr lang="en-US" sz="1350" b="1" i="1" dirty="0">
                <a:solidFill>
                  <a:srgbClr val="2B2622"/>
                </a:solidFill>
                <a:latin typeface="Cambria" pitchFamily="34" charset="0"/>
                <a:ea typeface="Cambria" pitchFamily="34" charset="-122"/>
                <a:cs typeface="Cambria" pitchFamily="34" charset="-120"/>
              </a:rPr>
              <a:t>Say each idea twice: once as the meaning, once as the everyday comparison</a:t>
            </a:r>
            <a:endParaRPr lang="en-US" sz="1350" dirty="0"/>
          </a:p>
        </p:txBody>
      </p:sp>
      <p:sp>
        <p:nvSpPr>
          <p:cNvPr id="24" name="Text 22"/>
          <p:cNvSpPr txBox="1"/>
          <p:nvPr/>
        </p:nvSpPr>
        <p:spPr>
          <a:xfrm>
            <a:off x="7863840" y="4645152"/>
            <a:ext cx="868680" cy="310896"/>
          </a:xfrm>
          <a:prstGeom prst="rect">
            <a:avLst/>
          </a:prstGeom>
          <a:noFill/>
          <a:ln/>
        </p:spPr>
        <p:txBody>
          <a:bodyPr wrap="square" lIns="0" tIns="0" rIns="0" bIns="0" rtlCol="0" anchor="ctr"/>
          <a:lstStyle/>
          <a:p>
            <a:pPr algn="r" indent="0" marL="0">
              <a:buNone/>
            </a:pPr>
            <a:r>
              <a:rPr lang="en-US" sz="1100" dirty="0">
                <a:solidFill>
                  <a:srgbClr val="6E655C"/>
                </a:solidFill>
                <a:latin typeface="Calibri" pitchFamily="34" charset="0"/>
                <a:ea typeface="Calibri" pitchFamily="34" charset="-122"/>
                <a:cs typeface="Calibri" pitchFamily="34" charset="-120"/>
              </a:rPr>
              <a:t>36 / 61</a:t>
            </a:r>
            <a:endParaRPr lang="en-US" sz="11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AF6EF"/>
        </a:solidFill>
      </p:bgPr>
    </p:bg>
    <p:spTree>
      <p:nvGrpSpPr>
        <p:cNvPr id="1" name=""/>
        <p:cNvGrpSpPr/>
        <p:nvPr/>
      </p:nvGrpSpPr>
      <p:grpSpPr>
        <a:xfrm>
          <a:off x="0" y="0"/>
          <a:ext cx="0" cy="0"/>
          <a:chOff x="0" y="0"/>
          <a:chExt cx="0" cy="0"/>
        </a:xfrm>
      </p:grpSpPr>
      <p:sp>
        <p:nvSpPr>
          <p:cNvPr id="2" name="Shape 0"/>
          <p:cNvSpPr/>
          <p:nvPr/>
        </p:nvSpPr>
        <p:spPr>
          <a:xfrm>
            <a:off x="0" y="0"/>
            <a:ext cx="9144000" cy="219456"/>
          </a:xfrm>
          <a:prstGeom prst="rect">
            <a:avLst/>
          </a:prstGeom>
          <a:solidFill>
            <a:srgbClr val="D97A14"/>
          </a:solidFill>
          <a:ln w="12700">
            <a:solidFill>
              <a:srgbClr val="D97A14"/>
            </a:solidFill>
            <a:prstDash val="solid"/>
          </a:ln>
        </p:spPr>
      </p:sp>
      <p:sp>
        <p:nvSpPr>
          <p:cNvPr id="3" name="Shape 1"/>
          <p:cNvSpPr/>
          <p:nvPr/>
        </p:nvSpPr>
        <p:spPr>
          <a:xfrm>
            <a:off x="457200" y="960120"/>
            <a:ext cx="128016" cy="1417320"/>
          </a:xfrm>
          <a:prstGeom prst="rect">
            <a:avLst/>
          </a:prstGeom>
          <a:solidFill>
            <a:srgbClr val="D97A14"/>
          </a:solidFill>
          <a:ln w="12700">
            <a:solidFill>
              <a:srgbClr val="D97A14"/>
            </a:solidFill>
            <a:prstDash val="solid"/>
          </a:ln>
        </p:spPr>
      </p:sp>
      <p:sp>
        <p:nvSpPr>
          <p:cNvPr id="4" name="Text 2"/>
          <p:cNvSpPr txBox="1"/>
          <p:nvPr/>
        </p:nvSpPr>
        <p:spPr>
          <a:xfrm>
            <a:off x="777240" y="932688"/>
            <a:ext cx="7863840" cy="658368"/>
          </a:xfrm>
          <a:prstGeom prst="rect">
            <a:avLst/>
          </a:prstGeom>
          <a:noFill/>
          <a:ln/>
        </p:spPr>
        <p:txBody>
          <a:bodyPr wrap="square" lIns="0" tIns="0" rIns="0" bIns="0" rtlCol="0" anchor="ctr"/>
          <a:lstStyle/>
          <a:p>
            <a:pPr indent="0" marL="0">
              <a:buNone/>
            </a:pPr>
            <a:r>
              <a:rPr lang="en-US" sz="3200" b="1" dirty="0">
                <a:solidFill>
                  <a:srgbClr val="2B2622"/>
                </a:solidFill>
                <a:latin typeface="Cambria" pitchFamily="34" charset="0"/>
                <a:ea typeface="Cambria" pitchFamily="34" charset="-122"/>
                <a:cs typeface="Cambria" pitchFamily="34" charset="-120"/>
              </a:rPr>
              <a:t>Segregated witness scripts</a:t>
            </a:r>
            <a:endParaRPr lang="en-US" sz="3200" dirty="0"/>
          </a:p>
        </p:txBody>
      </p:sp>
      <p:sp>
        <p:nvSpPr>
          <p:cNvPr id="5" name="Text 3"/>
          <p:cNvSpPr txBox="1"/>
          <p:nvPr/>
        </p:nvSpPr>
        <p:spPr>
          <a:xfrm>
            <a:off x="777240" y="1645920"/>
            <a:ext cx="7863840" cy="384048"/>
          </a:xfrm>
          <a:prstGeom prst="rect">
            <a:avLst/>
          </a:prstGeom>
          <a:noFill/>
          <a:ln/>
        </p:spPr>
        <p:txBody>
          <a:bodyPr wrap="square" lIns="0" tIns="0" rIns="0" bIns="0" rtlCol="0" anchor="t"/>
          <a:lstStyle/>
          <a:p>
            <a:pPr indent="0" marL="0">
              <a:buNone/>
            </a:pPr>
            <a:r>
              <a:rPr lang="en-US" sz="1500" i="1" dirty="0">
                <a:solidFill>
                  <a:srgbClr val="2F6D62"/>
                </a:solidFill>
                <a:latin typeface="Calibri" pitchFamily="34" charset="0"/>
                <a:ea typeface="Calibri" pitchFamily="34" charset="-122"/>
                <a:cs typeface="Calibri" pitchFamily="34" charset="-120"/>
              </a:rPr>
              <a:t>Segregated witness moves the proof to a window beside the counter.</a:t>
            </a:r>
            <a:endParaRPr lang="en-US" sz="1500" dirty="0"/>
          </a:p>
        </p:txBody>
      </p:sp>
      <p:sp>
        <p:nvSpPr>
          <p:cNvPr id="6" name="Shape 4"/>
          <p:cNvSpPr/>
          <p:nvPr/>
        </p:nvSpPr>
        <p:spPr>
          <a:xfrm>
            <a:off x="777240" y="2103120"/>
            <a:ext cx="3840480" cy="310896"/>
          </a:xfrm>
          <a:prstGeom prst="roundRect">
            <a:avLst>
              <a:gd name="adj" fmla="val 50000"/>
            </a:avLst>
          </a:prstGeom>
          <a:solidFill>
            <a:srgbClr val="D97A14"/>
          </a:solidFill>
          <a:ln w="12700">
            <a:solidFill>
              <a:srgbClr val="D97A14"/>
            </a:solidFill>
            <a:prstDash val="solid"/>
          </a:ln>
        </p:spPr>
      </p:sp>
      <p:sp>
        <p:nvSpPr>
          <p:cNvPr id="7" name="Text 5"/>
          <p:cNvSpPr txBox="1"/>
          <p:nvPr/>
        </p:nvSpPr>
        <p:spPr>
          <a:xfrm>
            <a:off x="850392" y="2103120"/>
            <a:ext cx="369417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Witness programs</a:t>
            </a:r>
            <a:endParaRPr lang="en-US" sz="1200" dirty="0"/>
          </a:p>
        </p:txBody>
      </p:sp>
      <p:sp>
        <p:nvSpPr>
          <p:cNvPr id="8" name="Text 6"/>
          <p:cNvSpPr txBox="1"/>
          <p:nvPr/>
        </p:nvSpPr>
        <p:spPr>
          <a:xfrm>
            <a:off x="777240" y="2487168"/>
            <a:ext cx="3840480" cy="393192"/>
          </a:xfrm>
          <a:prstGeom prst="rect">
            <a:avLst/>
          </a:prstGeom>
          <a:noFill/>
          <a:ln/>
        </p:spPr>
        <p:txBody>
          <a:bodyPr wrap="square" lIns="0" tIns="0" rIns="0" bIns="0" rtlCol="0" anchor="t"/>
          <a:lstStyle/>
          <a:p>
            <a:pPr indent="0" marL="0">
              <a:buNone/>
            </a:pPr>
            <a:r>
              <a:rPr lang="en-US" sz="1150" dirty="0">
                <a:solidFill>
                  <a:srgbClr val="2B2622"/>
                </a:solidFill>
                <a:latin typeface="Calibri" pitchFamily="34" charset="0"/>
                <a:ea typeface="Calibri" pitchFamily="34" charset="-122"/>
                <a:cs typeface="Calibri" pitchFamily="34" charset="-120"/>
              </a:rPr>
              <a:t>How a segregated witness lock is written and addressed.</a:t>
            </a:r>
            <a:endParaRPr lang="en-US" sz="1150" dirty="0"/>
          </a:p>
        </p:txBody>
      </p:sp>
      <p:sp>
        <p:nvSpPr>
          <p:cNvPr id="9" name="Text 7"/>
          <p:cNvSpPr txBox="1"/>
          <p:nvPr/>
        </p:nvSpPr>
        <p:spPr>
          <a:xfrm>
            <a:off x="777240" y="2907792"/>
            <a:ext cx="3840480" cy="393192"/>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a postcode that also names the kind of building.</a:t>
            </a:r>
            <a:endParaRPr lang="en-US" sz="1150" dirty="0"/>
          </a:p>
        </p:txBody>
      </p:sp>
      <p:sp>
        <p:nvSpPr>
          <p:cNvPr id="10" name="Shape 8"/>
          <p:cNvSpPr/>
          <p:nvPr/>
        </p:nvSpPr>
        <p:spPr>
          <a:xfrm>
            <a:off x="4800600" y="2103120"/>
            <a:ext cx="3840480" cy="310896"/>
          </a:xfrm>
          <a:prstGeom prst="roundRect">
            <a:avLst>
              <a:gd name="adj" fmla="val 50000"/>
            </a:avLst>
          </a:prstGeom>
          <a:solidFill>
            <a:srgbClr val="D97A14"/>
          </a:solidFill>
          <a:ln w="12700">
            <a:solidFill>
              <a:srgbClr val="D97A14"/>
            </a:solidFill>
            <a:prstDash val="solid"/>
          </a:ln>
        </p:spPr>
      </p:sp>
      <p:sp>
        <p:nvSpPr>
          <p:cNvPr id="11" name="Text 9"/>
          <p:cNvSpPr txBox="1"/>
          <p:nvPr/>
        </p:nvSpPr>
        <p:spPr>
          <a:xfrm>
            <a:off x="4873752" y="2103120"/>
            <a:ext cx="369417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The upgrade</a:t>
            </a:r>
            <a:endParaRPr lang="en-US" sz="1200" dirty="0"/>
          </a:p>
        </p:txBody>
      </p:sp>
      <p:sp>
        <p:nvSpPr>
          <p:cNvPr id="12" name="Text 10"/>
          <p:cNvSpPr txBox="1"/>
          <p:nvPr/>
        </p:nvSpPr>
        <p:spPr>
          <a:xfrm>
            <a:off x="4800600" y="2487168"/>
            <a:ext cx="3840480" cy="393192"/>
          </a:xfrm>
          <a:prstGeom prst="rect">
            <a:avLst/>
          </a:prstGeom>
          <a:noFill/>
          <a:ln/>
        </p:spPr>
        <p:txBody>
          <a:bodyPr wrap="square" lIns="0" tIns="0" rIns="0" bIns="0" rtlCol="0" anchor="t"/>
          <a:lstStyle/>
          <a:p>
            <a:pPr indent="0" marL="0">
              <a:buNone/>
            </a:pPr>
            <a:r>
              <a:rPr lang="en-US" sz="1150" dirty="0">
                <a:solidFill>
                  <a:srgbClr val="2B2622"/>
                </a:solidFill>
                <a:latin typeface="Calibri" pitchFamily="34" charset="0"/>
                <a:ea typeface="Calibri" pitchFamily="34" charset="-122"/>
                <a:cs typeface="Calibri" pitchFamily="34" charset="-120"/>
              </a:rPr>
              <a:t>How the change reached old nodes without splitting the network.</a:t>
            </a:r>
            <a:endParaRPr lang="en-US" sz="1150" dirty="0"/>
          </a:p>
        </p:txBody>
      </p:sp>
      <p:sp>
        <p:nvSpPr>
          <p:cNvPr id="13" name="Text 11"/>
          <p:cNvSpPr txBox="1"/>
          <p:nvPr/>
        </p:nvSpPr>
        <p:spPr>
          <a:xfrm>
            <a:off x="4800600" y="2907792"/>
            <a:ext cx="3840480" cy="393192"/>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a new lane that old cars can simply ignore.</a:t>
            </a:r>
            <a:endParaRPr lang="en-US" sz="115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777240" y="3950208"/>
          <a:ext cx="7863840" cy="914400"/>
        </p:xfrm>
        <a:graphic>
          <a:graphicData uri="http://schemas.openxmlformats.org/drawingml/2006/table">
            <a:tbl>
              <a:tblPr/>
              <a:tblGrid>
                <a:gridCol w="874166"/>
                <a:gridCol w="874166"/>
                <a:gridCol w="874166"/>
                <a:gridCol w="874166"/>
                <a:gridCol w="874166"/>
                <a:gridCol w="874166"/>
                <a:gridCol w="874166"/>
                <a:gridCol w="874166"/>
                <a:gridCol w="874166"/>
              </a:tblGrid>
              <a:tr h="365760">
                <a:tc>
                  <a:txBody>
                    <a:bodyPr/>
                    <a:lstStyle/>
                    <a:p>
                      <a:pPr algn="ctr" indent="0" marL="0">
                        <a:buNone/>
                      </a:pPr>
                      <a:r>
                        <a:rPr lang="en-US" sz="1000" dirty="0">
                          <a:solidFill>
                            <a:srgbClr val="2B2622"/>
                          </a:solidFill>
                          <a:latin typeface="Calibri" pitchFamily="34" charset="0"/>
                          <a:ea typeface="Calibri" pitchFamily="34" charset="-122"/>
                          <a:cs typeface="Calibri" pitchFamily="34" charset="-120"/>
                        </a:rPr>
                        <a:t>Language</a:t>
                      </a:r>
                      <a:endParaRPr lang="en-US" sz="10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ECE1"/>
                    </a:solidFill>
                  </a:tcPr>
                </a:tc>
                <a:tc>
                  <a:txBody>
                    <a:bodyPr/>
                    <a:lstStyle/>
                    <a:p>
                      <a:pPr algn="ctr" indent="0" marL="0">
                        <a:buNone/>
                      </a:pPr>
                      <a:r>
                        <a:rPr lang="en-US" sz="1000" dirty="0">
                          <a:solidFill>
                            <a:srgbClr val="2B2622"/>
                          </a:solidFill>
                          <a:latin typeface="Calibri" pitchFamily="34" charset="0"/>
                          <a:ea typeface="Calibri" pitchFamily="34" charset="-122"/>
                          <a:cs typeface="Calibri" pitchFamily="34" charset="-120"/>
                        </a:rPr>
                        <a:t>Keys</a:t>
                      </a:r>
                      <a:endParaRPr lang="en-US" sz="10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ECE1"/>
                    </a:solidFill>
                  </a:tcPr>
                </a:tc>
                <a:tc>
                  <a:txBody>
                    <a:bodyPr/>
                    <a:lstStyle/>
                    <a:p>
                      <a:pPr algn="ctr" indent="0" marL="0">
                        <a:buNone/>
                      </a:pPr>
                      <a:r>
                        <a:rPr lang="en-US" sz="1000" dirty="0">
                          <a:solidFill>
                            <a:srgbClr val="2B2622"/>
                          </a:solidFill>
                          <a:latin typeface="Calibri" pitchFamily="34" charset="0"/>
                          <a:ea typeface="Calibri" pitchFamily="34" charset="-122"/>
                          <a:cs typeface="Calibri" pitchFamily="34" charset="-120"/>
                        </a:rPr>
                        <a:t>Multisig</a:t>
                      </a:r>
                      <a:endParaRPr lang="en-US" sz="10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ECE1"/>
                    </a:solidFill>
                  </a:tcPr>
                </a:tc>
                <a:tc>
                  <a:txBody>
                    <a:bodyPr/>
                    <a:lstStyle/>
                    <a:p>
                      <a:pPr algn="ctr" indent="0" marL="0">
                        <a:buNone/>
                      </a:pPr>
                      <a:r>
                        <a:rPr lang="en-US" sz="1000" dirty="0">
                          <a:solidFill>
                            <a:srgbClr val="2B2622"/>
                          </a:solidFill>
                          <a:latin typeface="Calibri" pitchFamily="34" charset="0"/>
                          <a:ea typeface="Calibri" pitchFamily="34" charset="-122"/>
                          <a:cs typeface="Calibri" pitchFamily="34" charset="-120"/>
                        </a:rPr>
                        <a:t>P2SH</a:t>
                      </a:r>
                      <a:endParaRPr lang="en-US" sz="10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ECE1"/>
                    </a:solidFill>
                  </a:tcPr>
                </a:tc>
                <a:tc>
                  <a:txBody>
                    <a:bodyPr/>
                    <a:lstStyle/>
                    <a:p>
                      <a:pPr algn="ctr" indent="0" marL="0">
                        <a:buNone/>
                      </a:pPr>
                      <a:r>
                        <a:rPr lang="en-US" sz="1000" dirty="0">
                          <a:solidFill>
                            <a:srgbClr val="2B2622"/>
                          </a:solidFill>
                          <a:latin typeface="Calibri" pitchFamily="34" charset="0"/>
                          <a:ea typeface="Calibri" pitchFamily="34" charset="-122"/>
                          <a:cs typeface="Calibri" pitchFamily="34" charset="-120"/>
                        </a:rPr>
                        <a:t>Time</a:t>
                      </a:r>
                      <a:endParaRPr lang="en-US" sz="10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ECE1"/>
                    </a:solidFill>
                  </a:tcPr>
                </a:tc>
                <a:tc>
                  <a:txBody>
                    <a:bodyPr/>
                    <a:lstStyle/>
                    <a:p>
                      <a:pPr algn="ctr" indent="0" marL="0">
                        <a:buNone/>
                      </a:pPr>
                      <a:r>
                        <a:rPr lang="en-US" sz="1000" dirty="0">
                          <a:solidFill>
                            <a:srgbClr val="2B2622"/>
                          </a:solidFill>
                          <a:latin typeface="Calibri" pitchFamily="34" charset="0"/>
                          <a:ea typeface="Calibri" pitchFamily="34" charset="-122"/>
                          <a:cs typeface="Calibri" pitchFamily="34" charset="-120"/>
                        </a:rPr>
                        <a:t>Flow</a:t>
                      </a:r>
                      <a:endParaRPr lang="en-US" sz="10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ECE1"/>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Segwit</a:t>
                      </a:r>
                      <a:endParaRPr lang="en-US" sz="10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97A14"/>
                    </a:solidFill>
                  </a:tcPr>
                </a:tc>
                <a:tc>
                  <a:txBody>
                    <a:bodyPr/>
                    <a:lstStyle/>
                    <a:p>
                      <a:pPr algn="ctr" indent="0" marL="0">
                        <a:buNone/>
                      </a:pPr>
                      <a:r>
                        <a:rPr lang="en-US" sz="1000" dirty="0">
                          <a:solidFill>
                            <a:srgbClr val="2B2622"/>
                          </a:solidFill>
                          <a:latin typeface="Calibri" pitchFamily="34" charset="0"/>
                          <a:ea typeface="Calibri" pitchFamily="34" charset="-122"/>
                          <a:cs typeface="Calibri" pitchFamily="34" charset="-120"/>
                        </a:rPr>
                        <a:t>Trees</a:t>
                      </a:r>
                      <a:endParaRPr lang="en-US" sz="10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ECE1"/>
                    </a:solidFill>
                  </a:tcPr>
                </a:tc>
                <a:tc>
                  <a:txBody>
                    <a:bodyPr/>
                    <a:lstStyle/>
                    <a:p>
                      <a:pPr algn="ctr" indent="0" marL="0">
                        <a:buNone/>
                      </a:pPr>
                      <a:r>
                        <a:rPr lang="en-US" sz="1000" dirty="0">
                          <a:solidFill>
                            <a:srgbClr val="2B2622"/>
                          </a:solidFill>
                          <a:latin typeface="Calibri" pitchFamily="34" charset="0"/>
                          <a:ea typeface="Calibri" pitchFamily="34" charset="-122"/>
                          <a:cs typeface="Calibri" pitchFamily="34" charset="-120"/>
                        </a:rPr>
                        <a:t>Taproot</a:t>
                      </a:r>
                      <a:endParaRPr lang="en-US" sz="10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ECE1"/>
                    </a:solidFill>
                  </a:tcPr>
                </a:tc>
              </a:tr>
            </a:tbl>
          </a:graphicData>
        </a:graphic>
      </p:graphicFrame>
      <p:sp>
        <p:nvSpPr>
          <p:cNvPr id="15" name="Text 12"/>
          <p:cNvSpPr txBox="1"/>
          <p:nvPr/>
        </p:nvSpPr>
        <p:spPr>
          <a:xfrm>
            <a:off x="7863840" y="4645152"/>
            <a:ext cx="868680" cy="310896"/>
          </a:xfrm>
          <a:prstGeom prst="rect">
            <a:avLst/>
          </a:prstGeom>
          <a:noFill/>
          <a:ln/>
        </p:spPr>
        <p:txBody>
          <a:bodyPr wrap="square" lIns="0" tIns="0" rIns="0" bIns="0" rtlCol="0" anchor="ctr"/>
          <a:lstStyle/>
          <a:p>
            <a:pPr algn="r" indent="0" marL="0">
              <a:buNone/>
            </a:pPr>
            <a:r>
              <a:rPr lang="en-US" sz="1100" dirty="0">
                <a:solidFill>
                  <a:srgbClr val="6E655C"/>
                </a:solidFill>
                <a:latin typeface="Calibri" pitchFamily="34" charset="0"/>
                <a:ea typeface="Calibri" pitchFamily="34" charset="-122"/>
                <a:cs typeface="Calibri" pitchFamily="34" charset="-120"/>
              </a:rPr>
              <a:t>37 / 61</a:t>
            </a:r>
            <a:endParaRPr lang="en-US" sz="11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AF6EF"/>
        </a:solidFill>
      </p:bgPr>
    </p:bg>
    <p:spTree>
      <p:nvGrpSpPr>
        <p:cNvPr id="1" name=""/>
        <p:cNvGrpSpPr/>
        <p:nvPr/>
      </p:nvGrpSpPr>
      <p:grpSpPr>
        <a:xfrm>
          <a:off x="0" y="0"/>
          <a:ext cx="0" cy="0"/>
          <a:chOff x="0" y="0"/>
          <a:chExt cx="0" cy="0"/>
        </a:xfrm>
      </p:grpSpPr>
      <p:sp>
        <p:nvSpPr>
          <p:cNvPr id="2" name="Shape 0"/>
          <p:cNvSpPr/>
          <p:nvPr/>
        </p:nvSpPr>
        <p:spPr>
          <a:xfrm>
            <a:off x="457200" y="347472"/>
            <a:ext cx="566928" cy="384048"/>
          </a:xfrm>
          <a:prstGeom prst="roundRect">
            <a:avLst>
              <a:gd name="adj" fmla="val 19048"/>
            </a:avLst>
          </a:prstGeom>
          <a:solidFill>
            <a:srgbClr val="D97A14"/>
          </a:solidFill>
          <a:ln w="12700">
            <a:solidFill>
              <a:srgbClr val="D97A14"/>
            </a:solidFill>
            <a:prstDash val="solid"/>
          </a:ln>
        </p:spPr>
      </p:sp>
      <p:sp>
        <p:nvSpPr>
          <p:cNvPr id="3" name="Text 1"/>
          <p:cNvSpPr txBox="1"/>
          <p:nvPr/>
        </p:nvSpPr>
        <p:spPr>
          <a:xfrm>
            <a:off x="457200" y="347472"/>
            <a:ext cx="56692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4" name="Text 2"/>
          <p:cNvSpPr txBox="1"/>
          <p:nvPr/>
        </p:nvSpPr>
        <p:spPr>
          <a:xfrm>
            <a:off x="1143000" y="237744"/>
            <a:ext cx="7543800" cy="566928"/>
          </a:xfrm>
          <a:prstGeom prst="rect">
            <a:avLst/>
          </a:prstGeom>
          <a:noFill/>
          <a:ln/>
        </p:spPr>
        <p:txBody>
          <a:bodyPr wrap="square" lIns="0" tIns="0" rIns="0" bIns="0" rtlCol="0" anchor="ctr"/>
          <a:lstStyle/>
          <a:p>
            <a:pPr indent="0" marL="0">
              <a:buNone/>
            </a:pPr>
            <a:r>
              <a:rPr lang="en-US" sz="2500" b="1" dirty="0">
                <a:solidFill>
                  <a:srgbClr val="2B2622"/>
                </a:solidFill>
                <a:latin typeface="Cambria" pitchFamily="34" charset="0"/>
                <a:ea typeface="Cambria" pitchFamily="34" charset="-122"/>
                <a:cs typeface="Cambria" pitchFamily="34" charset="-120"/>
              </a:rPr>
              <a:t>Segregated witness scripts (1 of 4)</a:t>
            </a:r>
            <a:endParaRPr lang="en-US" sz="2500" dirty="0"/>
          </a:p>
        </p:txBody>
      </p:sp>
      <p:sp>
        <p:nvSpPr>
          <p:cNvPr id="5" name="Text 3"/>
          <p:cNvSpPr txBox="1"/>
          <p:nvPr/>
        </p:nvSpPr>
        <p:spPr>
          <a:xfrm>
            <a:off x="1143000" y="786384"/>
            <a:ext cx="7543800" cy="310896"/>
          </a:xfrm>
          <a:prstGeom prst="rect">
            <a:avLst/>
          </a:prstGeom>
          <a:noFill/>
          <a:ln/>
        </p:spPr>
        <p:txBody>
          <a:bodyPr wrap="square" lIns="0" tIns="0" rIns="0" bIns="0" rtlCol="0" anchor="ctr"/>
          <a:lstStyle/>
          <a:p>
            <a:pPr indent="0" marL="0">
              <a:buNone/>
            </a:pPr>
            <a:r>
              <a:rPr lang="en-US" sz="1300" i="1" dirty="0">
                <a:solidFill>
                  <a:srgbClr val="6E655C"/>
                </a:solidFill>
                <a:latin typeface="Calibri" pitchFamily="34" charset="0"/>
                <a:ea typeface="Calibri" pitchFamily="34" charset="-122"/>
                <a:cs typeface="Calibri" pitchFamily="34" charset="-120"/>
              </a:rPr>
              <a:t>Each card: the meaning in a few words, then something you already know</a:t>
            </a:r>
            <a:endParaRPr lang="en-US" sz="1300" dirty="0"/>
          </a:p>
        </p:txBody>
      </p:sp>
      <p:sp>
        <p:nvSpPr>
          <p:cNvPr id="6" name="Shape 4"/>
          <p:cNvSpPr/>
          <p:nvPr/>
        </p:nvSpPr>
        <p:spPr>
          <a:xfrm>
            <a:off x="457200" y="1280160"/>
            <a:ext cx="4041648" cy="1362456"/>
          </a:xfrm>
          <a:prstGeom prst="roundRect">
            <a:avLst>
              <a:gd name="adj" fmla="val 5369"/>
            </a:avLst>
          </a:prstGeom>
          <a:solidFill>
            <a:srgbClr val="F2ECE1"/>
          </a:solidFill>
          <a:ln w="12700">
            <a:solidFill>
              <a:srgbClr val="DFD6C7"/>
            </a:solidFill>
            <a:prstDash val="solid"/>
          </a:ln>
        </p:spPr>
      </p:sp>
      <p:sp>
        <p:nvSpPr>
          <p:cNvPr id="7" name="Shape 5"/>
          <p:cNvSpPr/>
          <p:nvPr/>
        </p:nvSpPr>
        <p:spPr>
          <a:xfrm>
            <a:off x="475488" y="1408176"/>
            <a:ext cx="64008" cy="1106424"/>
          </a:xfrm>
          <a:prstGeom prst="rect">
            <a:avLst/>
          </a:prstGeom>
          <a:solidFill>
            <a:srgbClr val="D97A14"/>
          </a:solidFill>
          <a:ln w="12700">
            <a:solidFill>
              <a:srgbClr val="D97A14"/>
            </a:solidFill>
            <a:prstDash val="solid"/>
          </a:ln>
        </p:spPr>
      </p:sp>
      <p:sp>
        <p:nvSpPr>
          <p:cNvPr id="8" name="Text 6"/>
          <p:cNvSpPr txBox="1"/>
          <p:nvPr/>
        </p:nvSpPr>
        <p:spPr>
          <a:xfrm>
            <a:off x="640080" y="1344168"/>
            <a:ext cx="3767328" cy="813816"/>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Segregated Witness Output and Transaction Examples</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Real outputs and transactions that use segregated witness.</a:t>
            </a:r>
            <a:endParaRPr lang="en-US" sz="1300" dirty="0"/>
          </a:p>
        </p:txBody>
      </p:sp>
      <p:sp>
        <p:nvSpPr>
          <p:cNvPr id="9" name="Text 7"/>
          <p:cNvSpPr txBox="1"/>
          <p:nvPr/>
        </p:nvSpPr>
        <p:spPr>
          <a:xfrm>
            <a:off x="640080" y="2185416"/>
            <a:ext cx="3767328" cy="393192"/>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worked examples at the back of a driving manual.</a:t>
            </a:r>
            <a:endParaRPr lang="en-US" sz="1150" dirty="0"/>
          </a:p>
        </p:txBody>
      </p:sp>
      <p:sp>
        <p:nvSpPr>
          <p:cNvPr id="10" name="Shape 8"/>
          <p:cNvSpPr/>
          <p:nvPr/>
        </p:nvSpPr>
        <p:spPr>
          <a:xfrm>
            <a:off x="4645152" y="1280160"/>
            <a:ext cx="4041648" cy="1362456"/>
          </a:xfrm>
          <a:prstGeom prst="roundRect">
            <a:avLst>
              <a:gd name="adj" fmla="val 5369"/>
            </a:avLst>
          </a:prstGeom>
          <a:solidFill>
            <a:srgbClr val="F2ECE1"/>
          </a:solidFill>
          <a:ln w="12700">
            <a:solidFill>
              <a:srgbClr val="DFD6C7"/>
            </a:solidFill>
            <a:prstDash val="solid"/>
          </a:ln>
        </p:spPr>
      </p:sp>
      <p:sp>
        <p:nvSpPr>
          <p:cNvPr id="11" name="Shape 9"/>
          <p:cNvSpPr/>
          <p:nvPr/>
        </p:nvSpPr>
        <p:spPr>
          <a:xfrm>
            <a:off x="4663440" y="1408176"/>
            <a:ext cx="64008" cy="1106424"/>
          </a:xfrm>
          <a:prstGeom prst="rect">
            <a:avLst/>
          </a:prstGeom>
          <a:solidFill>
            <a:srgbClr val="D97A14"/>
          </a:solidFill>
          <a:ln w="12700">
            <a:solidFill>
              <a:srgbClr val="D97A14"/>
            </a:solidFill>
            <a:prstDash val="solid"/>
          </a:ln>
        </p:spPr>
      </p:sp>
      <p:sp>
        <p:nvSpPr>
          <p:cNvPr id="12" name="Text 10"/>
          <p:cNvSpPr txBox="1"/>
          <p:nvPr/>
        </p:nvSpPr>
        <p:spPr>
          <a:xfrm>
            <a:off x="4828032" y="1344168"/>
            <a:ext cx="3767328" cy="813816"/>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Pay to witness public key hash (P2WPKH)</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A key-hash lock whose proof lives in the witness.</a:t>
            </a:r>
            <a:endParaRPr lang="en-US" sz="1300" dirty="0"/>
          </a:p>
        </p:txBody>
      </p:sp>
      <p:sp>
        <p:nvSpPr>
          <p:cNvPr id="13" name="Text 11"/>
          <p:cNvSpPr txBox="1"/>
          <p:nvPr/>
        </p:nvSpPr>
        <p:spPr>
          <a:xfrm>
            <a:off x="4828032" y="2185416"/>
            <a:ext cx="3767328" cy="393192"/>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the same fingerprint lock with the key shown at a side window.</a:t>
            </a:r>
            <a:endParaRPr lang="en-US" sz="1150" dirty="0"/>
          </a:p>
        </p:txBody>
      </p:sp>
      <p:sp>
        <p:nvSpPr>
          <p:cNvPr id="14" name="Shape 12"/>
          <p:cNvSpPr/>
          <p:nvPr/>
        </p:nvSpPr>
        <p:spPr>
          <a:xfrm>
            <a:off x="457200" y="2770632"/>
            <a:ext cx="4041648" cy="1362456"/>
          </a:xfrm>
          <a:prstGeom prst="roundRect">
            <a:avLst>
              <a:gd name="adj" fmla="val 5369"/>
            </a:avLst>
          </a:prstGeom>
          <a:solidFill>
            <a:srgbClr val="F2ECE1"/>
          </a:solidFill>
          <a:ln w="12700">
            <a:solidFill>
              <a:srgbClr val="DFD6C7"/>
            </a:solidFill>
            <a:prstDash val="solid"/>
          </a:ln>
        </p:spPr>
      </p:sp>
      <p:sp>
        <p:nvSpPr>
          <p:cNvPr id="15" name="Shape 13"/>
          <p:cNvSpPr/>
          <p:nvPr/>
        </p:nvSpPr>
        <p:spPr>
          <a:xfrm>
            <a:off x="475488" y="2898648"/>
            <a:ext cx="64008" cy="1106424"/>
          </a:xfrm>
          <a:prstGeom prst="rect">
            <a:avLst/>
          </a:prstGeom>
          <a:solidFill>
            <a:srgbClr val="D97A14"/>
          </a:solidFill>
          <a:ln w="12700">
            <a:solidFill>
              <a:srgbClr val="D97A14"/>
            </a:solidFill>
            <a:prstDash val="solid"/>
          </a:ln>
        </p:spPr>
      </p:sp>
      <p:sp>
        <p:nvSpPr>
          <p:cNvPr id="16" name="Text 14"/>
          <p:cNvSpPr txBox="1"/>
          <p:nvPr/>
        </p:nvSpPr>
        <p:spPr>
          <a:xfrm>
            <a:off x="640080" y="2834640"/>
            <a:ext cx="3767328" cy="612648"/>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Wallet construction of P2WPKH</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How a wallet builds the output and the witness for a spend.</a:t>
            </a:r>
            <a:endParaRPr lang="en-US" sz="1300" dirty="0"/>
          </a:p>
        </p:txBody>
      </p:sp>
      <p:sp>
        <p:nvSpPr>
          <p:cNvPr id="17" name="Text 15"/>
          <p:cNvSpPr txBox="1"/>
          <p:nvPr/>
        </p:nvSpPr>
        <p:spPr>
          <a:xfrm>
            <a:off x="640080" y="3474720"/>
            <a:ext cx="3767328" cy="393192"/>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a cashier assembling a receipt together with its annex.</a:t>
            </a:r>
            <a:endParaRPr lang="en-US" sz="1150" dirty="0"/>
          </a:p>
        </p:txBody>
      </p:sp>
      <p:sp>
        <p:nvSpPr>
          <p:cNvPr id="18" name="Shape 16"/>
          <p:cNvSpPr/>
          <p:nvPr/>
        </p:nvSpPr>
        <p:spPr>
          <a:xfrm>
            <a:off x="4645152" y="2770632"/>
            <a:ext cx="4041648" cy="1362456"/>
          </a:xfrm>
          <a:prstGeom prst="roundRect">
            <a:avLst>
              <a:gd name="adj" fmla="val 5369"/>
            </a:avLst>
          </a:prstGeom>
          <a:solidFill>
            <a:srgbClr val="F2ECE1"/>
          </a:solidFill>
          <a:ln w="12700">
            <a:solidFill>
              <a:srgbClr val="DFD6C7"/>
            </a:solidFill>
            <a:prstDash val="solid"/>
          </a:ln>
        </p:spPr>
      </p:sp>
      <p:sp>
        <p:nvSpPr>
          <p:cNvPr id="19" name="Shape 17"/>
          <p:cNvSpPr/>
          <p:nvPr/>
        </p:nvSpPr>
        <p:spPr>
          <a:xfrm>
            <a:off x="4663440" y="2898648"/>
            <a:ext cx="64008" cy="1106424"/>
          </a:xfrm>
          <a:prstGeom prst="rect">
            <a:avLst/>
          </a:prstGeom>
          <a:solidFill>
            <a:srgbClr val="D97A14"/>
          </a:solidFill>
          <a:ln w="12700">
            <a:solidFill>
              <a:srgbClr val="D97A14"/>
            </a:solidFill>
            <a:prstDash val="solid"/>
          </a:ln>
        </p:spPr>
      </p:sp>
      <p:sp>
        <p:nvSpPr>
          <p:cNvPr id="20" name="Text 18"/>
          <p:cNvSpPr txBox="1"/>
          <p:nvPr/>
        </p:nvSpPr>
        <p:spPr>
          <a:xfrm>
            <a:off x="4828032" y="2834640"/>
            <a:ext cx="3767328" cy="612648"/>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Pay to witness script hash (P2WSH)</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A script-hash lock whose script is revealed in the witness.</a:t>
            </a:r>
            <a:endParaRPr lang="en-US" sz="1300" dirty="0"/>
          </a:p>
        </p:txBody>
      </p:sp>
      <p:sp>
        <p:nvSpPr>
          <p:cNvPr id="21" name="Text 19"/>
          <p:cNvSpPr txBox="1"/>
          <p:nvPr/>
        </p:nvSpPr>
        <p:spPr>
          <a:xfrm>
            <a:off x="4828032" y="3474720"/>
            <a:ext cx="3767328" cy="393192"/>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the sealed envelope, opened at the side window.</a:t>
            </a:r>
            <a:endParaRPr lang="en-US" sz="1150" dirty="0"/>
          </a:p>
        </p:txBody>
      </p:sp>
      <p:sp>
        <p:nvSpPr>
          <p:cNvPr id="22" name="Shape 20"/>
          <p:cNvSpPr/>
          <p:nvPr/>
        </p:nvSpPr>
        <p:spPr>
          <a:xfrm>
            <a:off x="457200" y="4636008"/>
            <a:ext cx="91440" cy="310896"/>
          </a:xfrm>
          <a:prstGeom prst="rect">
            <a:avLst/>
          </a:prstGeom>
          <a:solidFill>
            <a:srgbClr val="D97A14"/>
          </a:solidFill>
          <a:ln w="12700">
            <a:solidFill>
              <a:srgbClr val="D97A14"/>
            </a:solidFill>
            <a:prstDash val="solid"/>
          </a:ln>
        </p:spPr>
      </p:sp>
      <p:sp>
        <p:nvSpPr>
          <p:cNvPr id="23" name="Text 21"/>
          <p:cNvSpPr txBox="1"/>
          <p:nvPr/>
        </p:nvSpPr>
        <p:spPr>
          <a:xfrm>
            <a:off x="658368" y="4599432"/>
            <a:ext cx="6949440" cy="384048"/>
          </a:xfrm>
          <a:prstGeom prst="rect">
            <a:avLst/>
          </a:prstGeom>
          <a:noFill/>
          <a:ln/>
        </p:spPr>
        <p:txBody>
          <a:bodyPr wrap="square" lIns="0" tIns="0" rIns="0" bIns="0" rtlCol="0" anchor="ctr"/>
          <a:lstStyle/>
          <a:p>
            <a:pPr indent="0" marL="0">
              <a:buNone/>
            </a:pPr>
            <a:r>
              <a:rPr lang="en-US" sz="1350" b="1" i="1" dirty="0">
                <a:solidFill>
                  <a:srgbClr val="2B2622"/>
                </a:solidFill>
                <a:latin typeface="Cambria" pitchFamily="34" charset="0"/>
                <a:ea typeface="Cambria" pitchFamily="34" charset="-122"/>
                <a:cs typeface="Cambria" pitchFamily="34" charset="-120"/>
              </a:rPr>
              <a:t>Say each idea twice: once as the meaning, once as the everyday comparison</a:t>
            </a:r>
            <a:endParaRPr lang="en-US" sz="1350" dirty="0"/>
          </a:p>
        </p:txBody>
      </p:sp>
      <p:sp>
        <p:nvSpPr>
          <p:cNvPr id="24" name="Text 22"/>
          <p:cNvSpPr txBox="1"/>
          <p:nvPr/>
        </p:nvSpPr>
        <p:spPr>
          <a:xfrm>
            <a:off x="7863840" y="4645152"/>
            <a:ext cx="868680" cy="310896"/>
          </a:xfrm>
          <a:prstGeom prst="rect">
            <a:avLst/>
          </a:prstGeom>
          <a:noFill/>
          <a:ln/>
        </p:spPr>
        <p:txBody>
          <a:bodyPr wrap="square" lIns="0" tIns="0" rIns="0" bIns="0" rtlCol="0" anchor="ctr"/>
          <a:lstStyle/>
          <a:p>
            <a:pPr algn="r" indent="0" marL="0">
              <a:buNone/>
            </a:pPr>
            <a:r>
              <a:rPr lang="en-US" sz="1100" dirty="0">
                <a:solidFill>
                  <a:srgbClr val="6E655C"/>
                </a:solidFill>
                <a:latin typeface="Calibri" pitchFamily="34" charset="0"/>
                <a:ea typeface="Calibri" pitchFamily="34" charset="-122"/>
                <a:cs typeface="Calibri" pitchFamily="34" charset="-120"/>
              </a:rPr>
              <a:t>38 / 61</a:t>
            </a:r>
            <a:endParaRPr lang="en-US" sz="11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AF6EF"/>
        </a:solidFill>
      </p:bgPr>
    </p:bg>
    <p:spTree>
      <p:nvGrpSpPr>
        <p:cNvPr id="1" name=""/>
        <p:cNvGrpSpPr/>
        <p:nvPr/>
      </p:nvGrpSpPr>
      <p:grpSpPr>
        <a:xfrm>
          <a:off x="0" y="0"/>
          <a:ext cx="0" cy="0"/>
          <a:chOff x="0" y="0"/>
          <a:chExt cx="0" cy="0"/>
        </a:xfrm>
      </p:grpSpPr>
      <p:sp>
        <p:nvSpPr>
          <p:cNvPr id="2" name="Shape 0"/>
          <p:cNvSpPr/>
          <p:nvPr/>
        </p:nvSpPr>
        <p:spPr>
          <a:xfrm>
            <a:off x="457200" y="347472"/>
            <a:ext cx="566928" cy="384048"/>
          </a:xfrm>
          <a:prstGeom prst="roundRect">
            <a:avLst>
              <a:gd name="adj" fmla="val 19048"/>
            </a:avLst>
          </a:prstGeom>
          <a:solidFill>
            <a:srgbClr val="D97A14"/>
          </a:solidFill>
          <a:ln w="12700">
            <a:solidFill>
              <a:srgbClr val="D97A14"/>
            </a:solidFill>
            <a:prstDash val="solid"/>
          </a:ln>
        </p:spPr>
      </p:sp>
      <p:sp>
        <p:nvSpPr>
          <p:cNvPr id="3" name="Text 1"/>
          <p:cNvSpPr txBox="1"/>
          <p:nvPr/>
        </p:nvSpPr>
        <p:spPr>
          <a:xfrm>
            <a:off x="457200" y="347472"/>
            <a:ext cx="56692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4" name="Text 2"/>
          <p:cNvSpPr txBox="1"/>
          <p:nvPr/>
        </p:nvSpPr>
        <p:spPr>
          <a:xfrm>
            <a:off x="1143000" y="237744"/>
            <a:ext cx="7543800" cy="566928"/>
          </a:xfrm>
          <a:prstGeom prst="rect">
            <a:avLst/>
          </a:prstGeom>
          <a:noFill/>
          <a:ln/>
        </p:spPr>
        <p:txBody>
          <a:bodyPr wrap="square" lIns="0" tIns="0" rIns="0" bIns="0" rtlCol="0" anchor="ctr"/>
          <a:lstStyle/>
          <a:p>
            <a:pPr indent="0" marL="0">
              <a:buNone/>
            </a:pPr>
            <a:r>
              <a:rPr lang="en-US" sz="2800" b="1" dirty="0">
                <a:solidFill>
                  <a:srgbClr val="2B2622"/>
                </a:solidFill>
                <a:latin typeface="Cambria" pitchFamily="34" charset="0"/>
                <a:ea typeface="Cambria" pitchFamily="34" charset="-122"/>
                <a:cs typeface="Cambria" pitchFamily="34" charset="-120"/>
              </a:rPr>
              <a:t>Pay to witness public key hash</a:t>
            </a:r>
            <a:endParaRPr lang="en-US" sz="2800" dirty="0"/>
          </a:p>
        </p:txBody>
      </p:sp>
      <p:sp>
        <p:nvSpPr>
          <p:cNvPr id="5" name="Text 3"/>
          <p:cNvSpPr txBox="1"/>
          <p:nvPr/>
        </p:nvSpPr>
        <p:spPr>
          <a:xfrm>
            <a:off x="1143000" y="786384"/>
            <a:ext cx="7543800" cy="310896"/>
          </a:xfrm>
          <a:prstGeom prst="rect">
            <a:avLst/>
          </a:prstGeom>
          <a:noFill/>
          <a:ln/>
        </p:spPr>
        <p:txBody>
          <a:bodyPr wrap="square" lIns="0" tIns="0" rIns="0" bIns="0" rtlCol="0" anchor="ctr"/>
          <a:lstStyle/>
          <a:p>
            <a:pPr indent="0" marL="0">
              <a:buNone/>
            </a:pPr>
            <a:r>
              <a:rPr lang="en-US" sz="1300" i="1" dirty="0">
                <a:solidFill>
                  <a:srgbClr val="6E655C"/>
                </a:solidFill>
                <a:latin typeface="Calibri" pitchFamily="34" charset="0"/>
                <a:ea typeface="Calibri" pitchFamily="34" charset="-122"/>
                <a:cs typeface="Calibri" pitchFamily="34" charset="-120"/>
              </a:rPr>
              <a:t>A key-hash spend with the proof in the witness</a:t>
            </a:r>
            <a:endParaRPr lang="en-US" sz="1300" dirty="0"/>
          </a:p>
        </p:txBody>
      </p:sp>
      <p:sp>
        <p:nvSpPr>
          <p:cNvPr id="6" name="Shape 4"/>
          <p:cNvSpPr/>
          <p:nvPr/>
        </p:nvSpPr>
        <p:spPr>
          <a:xfrm>
            <a:off x="457200" y="1325880"/>
            <a:ext cx="5074920" cy="311810"/>
          </a:xfrm>
          <a:prstGeom prst="roundRect">
            <a:avLst>
              <a:gd name="adj" fmla="val 23460"/>
            </a:avLst>
          </a:prstGeom>
          <a:solidFill>
            <a:srgbClr val="23272E"/>
          </a:solidFill>
          <a:ln w="12700">
            <a:solidFill>
              <a:srgbClr val="23272E"/>
            </a:solidFill>
            <a:prstDash val="solid"/>
          </a:ln>
        </p:spPr>
      </p:sp>
      <p:sp>
        <p:nvSpPr>
          <p:cNvPr id="7" name="Text 5"/>
          <p:cNvSpPr txBox="1"/>
          <p:nvPr/>
        </p:nvSpPr>
        <p:spPr>
          <a:xfrm>
            <a:off x="603504" y="1399032"/>
            <a:ext cx="4800600" cy="183794"/>
          </a:xfrm>
          <a:prstGeom prst="rect">
            <a:avLst/>
          </a:prstGeom>
          <a:noFill/>
          <a:ln/>
        </p:spPr>
        <p:txBody>
          <a:bodyPr wrap="square" lIns="0" tIns="0" rIns="0" bIns="0" rtlCol="0" anchor="t"/>
          <a:lstStyle/>
          <a:p>
            <a:pPr indent="0" marL="0">
              <a:buNone/>
            </a:pPr>
            <a:r>
              <a:rPr lang="en-US" sz="1000" b="1" dirty="0">
                <a:solidFill>
                  <a:srgbClr val="D97A14"/>
                </a:solidFill>
                <a:latin typeface="Courier New" pitchFamily="34" charset="0"/>
                <a:ea typeface="Courier New" pitchFamily="34" charset="-122"/>
                <a:cs typeface="Courier New" pitchFamily="34" charset="-120"/>
              </a:rPr>
              <a:t>&gt;&gt;&gt; </a:t>
            </a:r>
            <a:r>
              <a:rPr lang="en-US" sz="1000" dirty="0">
                <a:solidFill>
                  <a:srgbClr val="E6EDF3"/>
                </a:solidFill>
                <a:latin typeface="Courier New" pitchFamily="34" charset="0"/>
                <a:ea typeface="Courier New" pitchFamily="34" charset="-122"/>
                <a:cs typeface="Courier New" pitchFamily="34" charset="-120"/>
              </a:rPr>
              <a:t>ok = [K.wpkh_spend(), K.wpkh_spend(nested=</a:t>
            </a:r>
            <a:r>
              <a:rPr lang="en-US" sz="1000" b="1" dirty="0">
                <a:solidFill>
                  <a:srgbClr val="F2A860"/>
                </a:solidFill>
                <a:latin typeface="Courier New" pitchFamily="34" charset="0"/>
                <a:ea typeface="Courier New" pitchFamily="34" charset="-122"/>
                <a:cs typeface="Courier New" pitchFamily="34" charset="-120"/>
              </a:rPr>
              <a:t>True</a:t>
            </a:r>
            <a:r>
              <a:rPr lang="en-US" sz="1000" dirty="0">
                <a:solidFill>
                  <a:srgbClr val="E6EDF3"/>
                </a:solidFill>
                <a:latin typeface="Courier New" pitchFamily="34" charset="0"/>
                <a:ea typeface="Courier New" pitchFamily="34" charset="-122"/>
                <a:cs typeface="Courier New" pitchFamily="34" charset="-120"/>
              </a:rPr>
              <a:t>)]</a:t>
            </a:r>
            <a:endParaRPr lang="en-US" sz="1000" dirty="0"/>
          </a:p>
        </p:txBody>
      </p:sp>
      <p:sp>
        <p:nvSpPr>
          <p:cNvPr id="8" name="Shape 6"/>
          <p:cNvSpPr/>
          <p:nvPr/>
        </p:nvSpPr>
        <p:spPr>
          <a:xfrm>
            <a:off x="457200" y="1957730"/>
            <a:ext cx="5074920" cy="311810"/>
          </a:xfrm>
          <a:prstGeom prst="roundRect">
            <a:avLst>
              <a:gd name="adj" fmla="val 23460"/>
            </a:avLst>
          </a:prstGeom>
          <a:solidFill>
            <a:srgbClr val="23272E"/>
          </a:solidFill>
          <a:ln w="12700">
            <a:solidFill>
              <a:srgbClr val="23272E"/>
            </a:solidFill>
            <a:prstDash val="solid"/>
          </a:ln>
        </p:spPr>
      </p:sp>
      <p:sp>
        <p:nvSpPr>
          <p:cNvPr id="9" name="Text 7"/>
          <p:cNvSpPr txBox="1"/>
          <p:nvPr/>
        </p:nvSpPr>
        <p:spPr>
          <a:xfrm>
            <a:off x="603504" y="2030882"/>
            <a:ext cx="4800600" cy="183794"/>
          </a:xfrm>
          <a:prstGeom prst="rect">
            <a:avLst/>
          </a:prstGeom>
          <a:noFill/>
          <a:ln/>
        </p:spPr>
        <p:txBody>
          <a:bodyPr wrap="square" lIns="0" tIns="0" rIns="0" bIns="0" rtlCol="0" anchor="t"/>
          <a:lstStyle/>
          <a:p>
            <a:pPr indent="0" marL="0">
              <a:buNone/>
            </a:pPr>
            <a:r>
              <a:rPr lang="en-US" sz="1000" b="1" dirty="0">
                <a:solidFill>
                  <a:srgbClr val="D97A14"/>
                </a:solidFill>
                <a:latin typeface="Courier New" pitchFamily="34" charset="0"/>
                <a:ea typeface="Courier New" pitchFamily="34" charset="-122"/>
                <a:cs typeface="Courier New" pitchFamily="34" charset="-120"/>
              </a:rPr>
              <a:t>&gt;&gt;&gt; </a:t>
            </a:r>
            <a:r>
              <a:rPr lang="en-US" sz="1000" dirty="0">
                <a:solidFill>
                  <a:srgbClr val="E6EDF3"/>
                </a:solidFill>
                <a:latin typeface="Courier New" pitchFamily="34" charset="0"/>
                <a:ea typeface="Courier New" pitchFamily="34" charset="-122"/>
                <a:cs typeface="Courier New" pitchFamily="34" charset="-120"/>
              </a:rPr>
              <a:t>wrong = K.wpkh_spend(signed_amount=</a:t>
            </a:r>
            <a:r>
              <a:rPr lang="en-US" sz="1000" dirty="0">
                <a:solidFill>
                  <a:srgbClr val="FFD28A"/>
                </a:solidFill>
                <a:latin typeface="Courier New" pitchFamily="34" charset="0"/>
                <a:ea typeface="Courier New" pitchFamily="34" charset="-122"/>
                <a:cs typeface="Courier New" pitchFamily="34" charset="-120"/>
              </a:rPr>
              <a:t>99999</a:t>
            </a:r>
            <a:r>
              <a:rPr lang="en-US" sz="1000" dirty="0">
                <a:solidFill>
                  <a:srgbClr val="E6EDF3"/>
                </a:solidFill>
                <a:latin typeface="Courier New" pitchFamily="34" charset="0"/>
                <a:ea typeface="Courier New" pitchFamily="34" charset="-122"/>
                <a:cs typeface="Courier New" pitchFamily="34" charset="-120"/>
              </a:rPr>
              <a:t>)</a:t>
            </a:r>
            <a:endParaRPr lang="en-US" sz="1000" dirty="0"/>
          </a:p>
        </p:txBody>
      </p:sp>
      <p:sp>
        <p:nvSpPr>
          <p:cNvPr id="10" name="Shape 8"/>
          <p:cNvSpPr/>
          <p:nvPr/>
        </p:nvSpPr>
        <p:spPr>
          <a:xfrm>
            <a:off x="457200" y="2589581"/>
            <a:ext cx="5074920" cy="806501"/>
          </a:xfrm>
          <a:prstGeom prst="roundRect">
            <a:avLst>
              <a:gd name="adj" fmla="val 9070"/>
            </a:avLst>
          </a:prstGeom>
          <a:solidFill>
            <a:srgbClr val="23272E"/>
          </a:solidFill>
          <a:ln w="12700">
            <a:solidFill>
              <a:srgbClr val="23272E"/>
            </a:solidFill>
            <a:prstDash val="solid"/>
          </a:ln>
        </p:spPr>
      </p:sp>
      <p:sp>
        <p:nvSpPr>
          <p:cNvPr id="11" name="Text 9"/>
          <p:cNvSpPr txBox="1"/>
          <p:nvPr/>
        </p:nvSpPr>
        <p:spPr>
          <a:xfrm>
            <a:off x="603504" y="2662733"/>
            <a:ext cx="4800600" cy="678485"/>
          </a:xfrm>
          <a:prstGeom prst="rect">
            <a:avLst/>
          </a:prstGeom>
          <a:noFill/>
          <a:ln/>
        </p:spPr>
        <p:txBody>
          <a:bodyPr wrap="square" lIns="0" tIns="0" rIns="0" bIns="0" rtlCol="0" anchor="t"/>
          <a:lstStyle/>
          <a:p>
            <a:pPr indent="0" marL="0">
              <a:buNone/>
            </a:pPr>
            <a:r>
              <a:rPr lang="en-US" sz="1000" b="1" dirty="0">
                <a:solidFill>
                  <a:srgbClr val="D97A14"/>
                </a:solidFill>
                <a:latin typeface="Courier New" pitchFamily="34" charset="0"/>
                <a:ea typeface="Courier New" pitchFamily="34" charset="-122"/>
                <a:cs typeface="Courier New" pitchFamily="34" charset="-120"/>
              </a:rPr>
              <a:t>&gt;&gt;&gt; </a:t>
            </a:r>
            <a:r>
              <a:rPr lang="en-US" sz="1000" dirty="0">
                <a:solidFill>
                  <a:srgbClr val="E6EDF3"/>
                </a:solidFill>
                <a:latin typeface="Courier New" pitchFamily="34" charset="0"/>
                <a:ea typeface="Courier New" pitchFamily="34" charset="-122"/>
                <a:cs typeface="Courier New" pitchFamily="34" charset="-120"/>
              </a:rPr>
              <a:t>prog = L.p2wpkh_script(L.hash160(K.pub(</a:t>
            </a:r>
            <a:r>
              <a:rPr lang="en-US" sz="1000" dirty="0">
                <a:solidFill>
                  <a:srgbClr val="FFD28A"/>
                </a:solidFill>
                <a:latin typeface="Courier New" pitchFamily="34" charset="0"/>
                <a:ea typeface="Courier New" pitchFamily="34" charset="-122"/>
                <a:cs typeface="Courier New" pitchFamily="34" charset="-120"/>
              </a:rPr>
              <a:t>1</a:t>
            </a:r>
            <a:r>
              <a:rPr lang="en-US" sz="1000" dirty="0">
                <a:solidFill>
                  <a:srgbClr val="E6EDF3"/>
                </a:solidFill>
                <a:latin typeface="Courier New" pitchFamily="34" charset="0"/>
                <a:ea typeface="Courier New" pitchFamily="34" charset="-122"/>
                <a:cs typeface="Courier New" pitchFamily="34" charset="-120"/>
              </a:rPr>
              <a:t>)))</a:t>
            </a:r>
            <a:endParaRPr lang="en-US" sz="1000" dirty="0"/>
          </a:p>
          <a:p>
            <a:pPr indent="0" marL="0">
              <a:buNone/>
            </a:pPr>
            <a:r>
              <a:rPr lang="en-US" sz="1000" b="1" dirty="0">
                <a:solidFill>
                  <a:srgbClr val="D97A14"/>
                </a:solidFill>
                <a:latin typeface="Courier New" pitchFamily="34" charset="0"/>
                <a:ea typeface="Courier New" pitchFamily="34" charset="-122"/>
                <a:cs typeface="Courier New" pitchFamily="34" charset="-120"/>
              </a:rPr>
              <a:t>&gt;&gt;&gt; </a:t>
            </a:r>
            <a:r>
              <a:rPr lang="en-US" sz="1000" dirty="0">
                <a:solidFill>
                  <a:srgbClr val="E6EDF3"/>
                </a:solidFill>
                <a:latin typeface="Courier New" pitchFamily="34" charset="0"/>
                <a:ea typeface="Courier New" pitchFamily="34" charset="-122"/>
                <a:cs typeface="Courier New" pitchFamily="34" charset="-120"/>
              </a:rPr>
              <a:t>addr = L.script_to_address(prog)</a:t>
            </a:r>
            <a:endParaRPr lang="en-US" sz="1000" dirty="0"/>
          </a:p>
          <a:p>
            <a:pPr indent="0" marL="0">
              <a:buNone/>
            </a:pPr>
            <a:r>
              <a:rPr lang="en-US" sz="1000" b="1" dirty="0">
                <a:solidFill>
                  <a:srgbClr val="D97A14"/>
                </a:solidFill>
                <a:latin typeface="Courier New" pitchFamily="34" charset="0"/>
                <a:ea typeface="Courier New" pitchFamily="34" charset="-122"/>
                <a:cs typeface="Courier New" pitchFamily="34" charset="-120"/>
              </a:rPr>
              <a:t>&gt;&gt;&gt; </a:t>
            </a:r>
            <a:r>
              <a:rPr lang="en-US" sz="1000" dirty="0">
                <a:solidFill>
                  <a:srgbClr val="E6EDF3"/>
                </a:solidFill>
                <a:latin typeface="Courier New" pitchFamily="34" charset="0"/>
                <a:ea typeface="Courier New" pitchFamily="34" charset="-122"/>
                <a:cs typeface="Courier New" pitchFamily="34" charset="-120"/>
              </a:rPr>
              <a:t>addr</a:t>
            </a:r>
            <a:endParaRPr lang="en-US" sz="1000" dirty="0"/>
          </a:p>
          <a:p>
            <a:pPr indent="0" marL="0">
              <a:buNone/>
            </a:pPr>
            <a:r>
              <a:rPr lang="en-US" sz="1000" dirty="0">
                <a:solidFill>
                  <a:srgbClr val="7EE787"/>
                </a:solidFill>
                <a:latin typeface="Courier New" pitchFamily="34" charset="0"/>
                <a:ea typeface="Courier New" pitchFamily="34" charset="-122"/>
                <a:cs typeface="Courier New" pitchFamily="34" charset="-120"/>
              </a:rPr>
              <a:t>'bc1qm5gqhe7e46jhyy2ca00x66slmrlljwa33n9fts'</a:t>
            </a:r>
            <a:endParaRPr lang="en-US" sz="1000" dirty="0"/>
          </a:p>
        </p:txBody>
      </p:sp>
      <p:sp>
        <p:nvSpPr>
          <p:cNvPr id="12" name="Shape 10"/>
          <p:cNvSpPr/>
          <p:nvPr/>
        </p:nvSpPr>
        <p:spPr>
          <a:xfrm>
            <a:off x="365760" y="1252728"/>
            <a:ext cx="237744" cy="237744"/>
          </a:xfrm>
          <a:prstGeom prst="ellipse">
            <a:avLst/>
          </a:prstGeom>
          <a:solidFill>
            <a:srgbClr val="D97A14"/>
          </a:solidFill>
          <a:ln w="12700">
            <a:solidFill>
              <a:srgbClr val="D97A14"/>
            </a:solidFill>
            <a:prstDash val="solid"/>
          </a:ln>
        </p:spPr>
      </p:sp>
      <p:sp>
        <p:nvSpPr>
          <p:cNvPr id="13" name="Text 11"/>
          <p:cNvSpPr txBox="1"/>
          <p:nvPr/>
        </p:nvSpPr>
        <p:spPr>
          <a:xfrm>
            <a:off x="365760" y="1252728"/>
            <a:ext cx="237744" cy="237744"/>
          </a:xfrm>
          <a:prstGeom prst="rect">
            <a:avLst/>
          </a:prstGeom>
          <a:noFill/>
          <a:ln/>
        </p:spPr>
        <p:txBody>
          <a:bodyPr wrap="square" lIns="0" tIns="0" rIns="0" bIns="0" rtlCol="0" anchor="ctr"/>
          <a:lstStyle/>
          <a:p>
            <a:pPr algn="ctr" indent="0" marL="0">
              <a:buNone/>
            </a:pPr>
            <a:r>
              <a:rPr lang="en-US" sz="1100" b="1" dirty="0">
                <a:solidFill>
                  <a:srgbClr val="FFFFFF"/>
                </a:solidFill>
                <a:latin typeface="Cambria" pitchFamily="34" charset="0"/>
                <a:ea typeface="Cambria" pitchFamily="34" charset="-122"/>
                <a:cs typeface="Cambria" pitchFamily="34" charset="-120"/>
              </a:rPr>
              <a:t>1</a:t>
            </a:r>
            <a:endParaRPr lang="en-US" sz="1100" dirty="0"/>
          </a:p>
        </p:txBody>
      </p:sp>
      <p:sp>
        <p:nvSpPr>
          <p:cNvPr id="14" name="Text 12"/>
          <p:cNvSpPr txBox="1"/>
          <p:nvPr/>
        </p:nvSpPr>
        <p:spPr>
          <a:xfrm>
            <a:off x="731520" y="1665122"/>
            <a:ext cx="4800600" cy="210312"/>
          </a:xfrm>
          <a:prstGeom prst="rect">
            <a:avLst/>
          </a:prstGeom>
          <a:noFill/>
          <a:ln/>
        </p:spPr>
        <p:txBody>
          <a:bodyPr wrap="square" lIns="0" tIns="0" rIns="0" bIns="0" rtlCol="0" anchor="t"/>
          <a:lstStyle/>
          <a:p>
            <a:pPr indent="0" marL="0">
              <a:buNone/>
            </a:pPr>
            <a:r>
              <a:rPr lang="en-US" sz="1050" dirty="0">
                <a:solidFill>
                  <a:srgbClr val="2B2622"/>
                </a:solidFill>
                <a:latin typeface="Calibri" pitchFamily="34" charset="0"/>
                <a:ea typeface="Calibri" pitchFamily="34" charset="-122"/>
                <a:cs typeface="Calibri" pitchFamily="34" charset="-120"/>
              </a:rPr>
              <a:t>A witness key-hash spend works directly and nested in a script hash.</a:t>
            </a:r>
            <a:endParaRPr lang="en-US" sz="1050" dirty="0"/>
          </a:p>
        </p:txBody>
      </p:sp>
      <p:sp>
        <p:nvSpPr>
          <p:cNvPr id="15" name="Shape 13"/>
          <p:cNvSpPr/>
          <p:nvPr/>
        </p:nvSpPr>
        <p:spPr>
          <a:xfrm>
            <a:off x="365760" y="1884578"/>
            <a:ext cx="237744" cy="237744"/>
          </a:xfrm>
          <a:prstGeom prst="ellipse">
            <a:avLst/>
          </a:prstGeom>
          <a:solidFill>
            <a:srgbClr val="D97A14"/>
          </a:solidFill>
          <a:ln w="12700">
            <a:solidFill>
              <a:srgbClr val="D97A14"/>
            </a:solidFill>
            <a:prstDash val="solid"/>
          </a:ln>
        </p:spPr>
      </p:sp>
      <p:sp>
        <p:nvSpPr>
          <p:cNvPr id="16" name="Text 14"/>
          <p:cNvSpPr txBox="1"/>
          <p:nvPr/>
        </p:nvSpPr>
        <p:spPr>
          <a:xfrm>
            <a:off x="365760" y="1884578"/>
            <a:ext cx="237744" cy="237744"/>
          </a:xfrm>
          <a:prstGeom prst="rect">
            <a:avLst/>
          </a:prstGeom>
          <a:noFill/>
          <a:ln/>
        </p:spPr>
        <p:txBody>
          <a:bodyPr wrap="square" lIns="0" tIns="0" rIns="0" bIns="0" rtlCol="0" anchor="ctr"/>
          <a:lstStyle/>
          <a:p>
            <a:pPr algn="ctr" indent="0" marL="0">
              <a:buNone/>
            </a:pPr>
            <a:r>
              <a:rPr lang="en-US" sz="1100" b="1" dirty="0">
                <a:solidFill>
                  <a:srgbClr val="FFFFFF"/>
                </a:solidFill>
                <a:latin typeface="Cambria" pitchFamily="34" charset="0"/>
                <a:ea typeface="Cambria" pitchFamily="34" charset="-122"/>
                <a:cs typeface="Cambria" pitchFamily="34" charset="-120"/>
              </a:rPr>
              <a:t>2</a:t>
            </a:r>
            <a:endParaRPr lang="en-US" sz="1100" dirty="0"/>
          </a:p>
        </p:txBody>
      </p:sp>
      <p:sp>
        <p:nvSpPr>
          <p:cNvPr id="17" name="Text 15"/>
          <p:cNvSpPr txBox="1"/>
          <p:nvPr/>
        </p:nvSpPr>
        <p:spPr>
          <a:xfrm>
            <a:off x="731520" y="2296973"/>
            <a:ext cx="4800600" cy="210312"/>
          </a:xfrm>
          <a:prstGeom prst="rect">
            <a:avLst/>
          </a:prstGeom>
          <a:noFill/>
          <a:ln/>
        </p:spPr>
        <p:txBody>
          <a:bodyPr wrap="square" lIns="0" tIns="0" rIns="0" bIns="0" rtlCol="0" anchor="t"/>
          <a:lstStyle/>
          <a:p>
            <a:pPr indent="0" marL="0">
              <a:buNone/>
            </a:pPr>
            <a:r>
              <a:rPr lang="en-US" sz="1050" dirty="0">
                <a:solidFill>
                  <a:srgbClr val="2B2622"/>
                </a:solidFill>
                <a:latin typeface="Calibri" pitchFamily="34" charset="0"/>
                <a:ea typeface="Calibri" pitchFamily="34" charset="-122"/>
                <a:cs typeface="Calibri" pitchFamily="34" charset="-120"/>
              </a:rPr>
              <a:t>The signature commits to the amount, so a wrong amount fails.</a:t>
            </a:r>
            <a:endParaRPr lang="en-US" sz="1050" dirty="0"/>
          </a:p>
        </p:txBody>
      </p:sp>
      <p:sp>
        <p:nvSpPr>
          <p:cNvPr id="18" name="Shape 16"/>
          <p:cNvSpPr/>
          <p:nvPr/>
        </p:nvSpPr>
        <p:spPr>
          <a:xfrm>
            <a:off x="365760" y="2516429"/>
            <a:ext cx="237744" cy="237744"/>
          </a:xfrm>
          <a:prstGeom prst="ellipse">
            <a:avLst/>
          </a:prstGeom>
          <a:solidFill>
            <a:srgbClr val="D97A14"/>
          </a:solidFill>
          <a:ln w="12700">
            <a:solidFill>
              <a:srgbClr val="D97A14"/>
            </a:solidFill>
            <a:prstDash val="solid"/>
          </a:ln>
        </p:spPr>
      </p:sp>
      <p:sp>
        <p:nvSpPr>
          <p:cNvPr id="19" name="Text 17"/>
          <p:cNvSpPr txBox="1"/>
          <p:nvPr/>
        </p:nvSpPr>
        <p:spPr>
          <a:xfrm>
            <a:off x="365760" y="2516429"/>
            <a:ext cx="237744" cy="237744"/>
          </a:xfrm>
          <a:prstGeom prst="rect">
            <a:avLst/>
          </a:prstGeom>
          <a:noFill/>
          <a:ln/>
        </p:spPr>
        <p:txBody>
          <a:bodyPr wrap="square" lIns="0" tIns="0" rIns="0" bIns="0" rtlCol="0" anchor="ctr"/>
          <a:lstStyle/>
          <a:p>
            <a:pPr algn="ctr" indent="0" marL="0">
              <a:buNone/>
            </a:pPr>
            <a:r>
              <a:rPr lang="en-US" sz="1100" b="1" dirty="0">
                <a:solidFill>
                  <a:srgbClr val="FFFFFF"/>
                </a:solidFill>
                <a:latin typeface="Cambria" pitchFamily="34" charset="0"/>
                <a:ea typeface="Cambria" pitchFamily="34" charset="-122"/>
                <a:cs typeface="Cambria" pitchFamily="34" charset="-120"/>
              </a:rPr>
              <a:t>3</a:t>
            </a:r>
            <a:endParaRPr lang="en-US" sz="1100" dirty="0"/>
          </a:p>
        </p:txBody>
      </p:sp>
      <p:sp>
        <p:nvSpPr>
          <p:cNvPr id="20" name="Text 18"/>
          <p:cNvSpPr txBox="1"/>
          <p:nvPr/>
        </p:nvSpPr>
        <p:spPr>
          <a:xfrm>
            <a:off x="731520" y="3423514"/>
            <a:ext cx="4800600" cy="210312"/>
          </a:xfrm>
          <a:prstGeom prst="rect">
            <a:avLst/>
          </a:prstGeom>
          <a:noFill/>
          <a:ln/>
        </p:spPr>
        <p:txBody>
          <a:bodyPr wrap="square" lIns="0" tIns="0" rIns="0" bIns="0" rtlCol="0" anchor="t"/>
          <a:lstStyle/>
          <a:p>
            <a:pPr indent="0" marL="0">
              <a:buNone/>
            </a:pPr>
            <a:r>
              <a:rPr lang="en-US" sz="1050" dirty="0">
                <a:solidFill>
                  <a:srgbClr val="2B2622"/>
                </a:solidFill>
                <a:latin typeface="Calibri" pitchFamily="34" charset="0"/>
                <a:ea typeface="Calibri" pitchFamily="34" charset="-122"/>
                <a:cs typeface="Calibri" pitchFamily="34" charset="-120"/>
              </a:rPr>
              <a:t>The address is bech32 and begins with bc1q.</a:t>
            </a:r>
            <a:endParaRPr lang="en-US" sz="1050" dirty="0"/>
          </a:p>
        </p:txBody>
      </p:sp>
      <p:sp>
        <p:nvSpPr>
          <p:cNvPr id="21" name="Text 19"/>
          <p:cNvSpPr txBox="1"/>
          <p:nvPr/>
        </p:nvSpPr>
        <p:spPr>
          <a:xfrm>
            <a:off x="457200" y="3679546"/>
            <a:ext cx="5074920" cy="182880"/>
          </a:xfrm>
          <a:prstGeom prst="rect">
            <a:avLst/>
          </a:prstGeom>
          <a:noFill/>
          <a:ln/>
        </p:spPr>
        <p:txBody>
          <a:bodyPr wrap="square" lIns="0" tIns="0" rIns="0" bIns="0" rtlCol="0" anchor="ctr"/>
          <a:lstStyle/>
          <a:p>
            <a:pPr algn="l" indent="0" marL="0">
              <a:buNone/>
            </a:pPr>
            <a:r>
              <a:rPr lang="en-US" sz="900" i="1" dirty="0">
                <a:solidFill>
                  <a:srgbClr val="6E655C"/>
                </a:solidFill>
                <a:latin typeface="Calibri" pitchFamily="34" charset="0"/>
                <a:ea typeface="Calibri" pitchFamily="34" charset="-122"/>
                <a:cs typeface="Calibri" pitchFamily="34" charset="-120"/>
              </a:rPr>
              <a:t>run under Python 3.14.6 - L, K and the chapter setup as on slide 7</a:t>
            </a:r>
            <a:endParaRPr lang="en-US" sz="900" dirty="0"/>
          </a:p>
        </p:txBody>
      </p:sp>
      <p:sp>
        <p:nvSpPr>
          <p:cNvPr id="22" name="Text 20"/>
          <p:cNvSpPr txBox="1"/>
          <p:nvPr/>
        </p:nvSpPr>
        <p:spPr>
          <a:xfrm>
            <a:off x="5715000" y="1325880"/>
            <a:ext cx="2971800" cy="219456"/>
          </a:xfrm>
          <a:prstGeom prst="rect">
            <a:avLst/>
          </a:prstGeom>
          <a:noFill/>
          <a:ln/>
        </p:spPr>
        <p:txBody>
          <a:bodyPr wrap="square" lIns="0" tIns="0" rIns="0" bIns="0" rtlCol="0" anchor="t"/>
          <a:lstStyle/>
          <a:p>
            <a:pPr algn="l" indent="0" marL="0">
              <a:buNone/>
            </a:pPr>
            <a:r>
              <a:rPr lang="en-US" sz="1100" b="1" dirty="0">
                <a:solidFill>
                  <a:srgbClr val="6E655C"/>
                </a:solidFill>
                <a:latin typeface="Calibri" pitchFamily="34" charset="0"/>
                <a:ea typeface="Calibri" pitchFamily="34" charset="-122"/>
                <a:cs typeface="Calibri" pitchFamily="34" charset="-120"/>
              </a:rPr>
              <a:t>Result: a witness key-hash spend</a:t>
            </a:r>
            <a:endParaRPr lang="en-US" sz="11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5715000" y="1591056"/>
          <a:ext cx="2971800" cy="914400"/>
        </p:xfrm>
        <a:graphic>
          <a:graphicData uri="http://schemas.openxmlformats.org/drawingml/2006/table">
            <a:tbl>
              <a:tblPr/>
              <a:tblGrid>
                <a:gridCol w="1280160"/>
                <a:gridCol w="1691640"/>
              </a:tblGrid>
              <a:tr h="274320">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Spend</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solidFill>
                      <a:srgbClr val="2B2622"/>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Result</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solidFill>
                      <a:srgbClr val="2B2622"/>
                    </a:solidFill>
                  </a:tcPr>
                </a:tc>
              </a:tr>
              <a:tr h="274320">
                <a:tc>
                  <a:txBody>
                    <a:bodyPr/>
                    <a:lstStyle/>
                    <a:p>
                      <a:pPr indent="0" marL="0">
                        <a:buNone/>
                      </a:pPr>
                      <a:r>
                        <a:rPr lang="en-US" sz="950" dirty="0">
                          <a:solidFill>
                            <a:srgbClr val="2B2622"/>
                          </a:solidFill>
                          <a:latin typeface="Calibri" pitchFamily="34" charset="0"/>
                          <a:ea typeface="Calibri" pitchFamily="34" charset="-122"/>
                          <a:cs typeface="Calibri" pitchFamily="34" charset="-120"/>
                        </a:rPr>
                        <a:t>Direct</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c>
                  <a:txBody>
                    <a:bodyPr/>
                    <a:lstStyle/>
                    <a:p>
                      <a:pPr indent="0" marL="0">
                        <a:buNone/>
                      </a:pPr>
                      <a:r>
                        <a:rPr lang="en-US" sz="950" dirty="0">
                          <a:solidFill>
                            <a:srgbClr val="2B2622"/>
                          </a:solidFill>
                          <a:latin typeface="Calibri" pitchFamily="34" charset="0"/>
                          <a:ea typeface="Calibri" pitchFamily="34" charset="-122"/>
                          <a:cs typeface="Calibri" pitchFamily="34" charset="-120"/>
                        </a:rPr>
                        <a:t>OK</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r>
              <a:tr h="274320">
                <a:tc>
                  <a:txBody>
                    <a:bodyPr/>
                    <a:lstStyle/>
                    <a:p>
                      <a:pPr indent="0" marL="0">
                        <a:buNone/>
                      </a:pPr>
                      <a:r>
                        <a:rPr lang="en-US" sz="950" dirty="0">
                          <a:solidFill>
                            <a:srgbClr val="2B2622"/>
                          </a:solidFill>
                          <a:latin typeface="Calibri" pitchFamily="34" charset="0"/>
                          <a:ea typeface="Calibri" pitchFamily="34" charset="-122"/>
                          <a:cs typeface="Calibri" pitchFamily="34" charset="-120"/>
                        </a:rPr>
                        <a:t>Nested in P2SH</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c>
                  <a:txBody>
                    <a:bodyPr/>
                    <a:lstStyle/>
                    <a:p>
                      <a:pPr indent="0" marL="0">
                        <a:buNone/>
                      </a:pPr>
                      <a:r>
                        <a:rPr lang="en-US" sz="950" dirty="0">
                          <a:solidFill>
                            <a:srgbClr val="2B2622"/>
                          </a:solidFill>
                          <a:latin typeface="Calibri" pitchFamily="34" charset="0"/>
                          <a:ea typeface="Calibri" pitchFamily="34" charset="-122"/>
                          <a:cs typeface="Calibri" pitchFamily="34" charset="-120"/>
                        </a:rPr>
                        <a:t>OK</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r>
              <a:tr h="274320">
                <a:tc>
                  <a:txBody>
                    <a:bodyPr/>
                    <a:lstStyle/>
                    <a:p>
                      <a:pPr indent="0" marL="0">
                        <a:buNone/>
                      </a:pPr>
                      <a:r>
                        <a:rPr lang="en-US" sz="950" dirty="0">
                          <a:solidFill>
                            <a:srgbClr val="2B2622"/>
                          </a:solidFill>
                          <a:latin typeface="Calibri" pitchFamily="34" charset="0"/>
                          <a:ea typeface="Calibri" pitchFamily="34" charset="-122"/>
                          <a:cs typeface="Calibri" pitchFamily="34" charset="-120"/>
                        </a:rPr>
                        <a:t>Amount changed</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c>
                  <a:txBody>
                    <a:bodyPr/>
                    <a:lstStyle/>
                    <a:p>
                      <a:pPr indent="0" marL="0">
                        <a:buNone/>
                      </a:pPr>
                      <a:r>
                        <a:rPr lang="en-US" sz="950" dirty="0">
                          <a:solidFill>
                            <a:srgbClr val="2B2622"/>
                          </a:solidFill>
                          <a:latin typeface="Calibri" pitchFamily="34" charset="0"/>
                          <a:ea typeface="Calibri" pitchFamily="34" charset="-122"/>
                          <a:cs typeface="Calibri" pitchFamily="34" charset="-120"/>
                        </a:rPr>
                        <a:t>EVAL_FALSE</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r>
              <a:tr h="274320">
                <a:tc>
                  <a:txBody>
                    <a:bodyPr/>
                    <a:lstStyle/>
                    <a:p>
                      <a:pPr indent="0" marL="0">
                        <a:buNone/>
                      </a:pPr>
                      <a:r>
                        <a:rPr lang="en-US" sz="950" dirty="0">
                          <a:solidFill>
                            <a:srgbClr val="2B2622"/>
                          </a:solidFill>
                          <a:latin typeface="Calibri" pitchFamily="34" charset="0"/>
                          <a:ea typeface="Calibri" pitchFamily="34" charset="-122"/>
                          <a:cs typeface="Calibri" pitchFamily="34" charset="-120"/>
                        </a:rPr>
                        <a:t>Address</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c>
                  <a:txBody>
                    <a:bodyPr/>
                    <a:lstStyle/>
                    <a:p>
                      <a:pPr indent="0" marL="0">
                        <a:buNone/>
                      </a:pPr>
                      <a:r>
                        <a:rPr lang="en-US" sz="950" dirty="0">
                          <a:solidFill>
                            <a:srgbClr val="2B2622"/>
                          </a:solidFill>
                          <a:latin typeface="Calibri" pitchFamily="34" charset="0"/>
                          <a:ea typeface="Calibri" pitchFamily="34" charset="-122"/>
                          <a:cs typeface="Calibri" pitchFamily="34" charset="-120"/>
                        </a:rPr>
                        <a:t>bc1qm5gqhe7e...</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r>
            </a:tbl>
          </a:graphicData>
        </a:graphic>
      </p:graphicFrame>
      <p:sp>
        <p:nvSpPr>
          <p:cNvPr id="24" name="Text 21"/>
          <p:cNvSpPr txBox="1"/>
          <p:nvPr/>
        </p:nvSpPr>
        <p:spPr>
          <a:xfrm>
            <a:off x="5715000" y="3236976"/>
            <a:ext cx="2971800" cy="603504"/>
          </a:xfrm>
          <a:prstGeom prst="rect">
            <a:avLst/>
          </a:prstGeom>
          <a:noFill/>
          <a:ln/>
        </p:spPr>
        <p:txBody>
          <a:bodyPr wrap="square" lIns="0" tIns="0" rIns="0" bIns="0" rtlCol="0" anchor="t"/>
          <a:lstStyle/>
          <a:p>
            <a:pPr algn="l" indent="0" marL="0">
              <a:buNone/>
            </a:pPr>
            <a:r>
              <a:rPr lang="en-US" sz="1150" i="1" dirty="0">
                <a:solidFill>
                  <a:srgbClr val="2B2622"/>
                </a:solidFill>
                <a:latin typeface="Calibri" pitchFamily="34" charset="0"/>
                <a:ea typeface="Calibri" pitchFamily="34" charset="-122"/>
                <a:cs typeface="Calibri" pitchFamily="34" charset="-120"/>
              </a:rPr>
              <a:t>The signature covers the amount, so a changed amount fails. The address starts with bc1q.</a:t>
            </a:r>
            <a:endParaRPr lang="en-US" sz="1150" dirty="0"/>
          </a:p>
        </p:txBody>
      </p:sp>
      <p:sp>
        <p:nvSpPr>
          <p:cNvPr id="25" name="Shape 22"/>
          <p:cNvSpPr/>
          <p:nvPr/>
        </p:nvSpPr>
        <p:spPr>
          <a:xfrm>
            <a:off x="457200" y="4636008"/>
            <a:ext cx="91440" cy="310896"/>
          </a:xfrm>
          <a:prstGeom prst="rect">
            <a:avLst/>
          </a:prstGeom>
          <a:solidFill>
            <a:srgbClr val="D97A14"/>
          </a:solidFill>
          <a:ln w="12700">
            <a:solidFill>
              <a:srgbClr val="D97A14"/>
            </a:solidFill>
            <a:prstDash val="solid"/>
          </a:ln>
        </p:spPr>
      </p:sp>
      <p:sp>
        <p:nvSpPr>
          <p:cNvPr id="26" name="Text 23"/>
          <p:cNvSpPr txBox="1"/>
          <p:nvPr/>
        </p:nvSpPr>
        <p:spPr>
          <a:xfrm>
            <a:off x="658368" y="4599432"/>
            <a:ext cx="6949440" cy="384048"/>
          </a:xfrm>
          <a:prstGeom prst="rect">
            <a:avLst/>
          </a:prstGeom>
          <a:noFill/>
          <a:ln/>
        </p:spPr>
        <p:txBody>
          <a:bodyPr wrap="square" lIns="0" tIns="0" rIns="0" bIns="0" rtlCol="0" anchor="ctr"/>
          <a:lstStyle/>
          <a:p>
            <a:pPr indent="0" marL="0">
              <a:buNone/>
            </a:pPr>
            <a:r>
              <a:rPr lang="en-US" sz="1350" b="1" i="1" dirty="0">
                <a:solidFill>
                  <a:srgbClr val="2B2622"/>
                </a:solidFill>
                <a:latin typeface="Cambria" pitchFamily="34" charset="0"/>
                <a:ea typeface="Cambria" pitchFamily="34" charset="-122"/>
                <a:cs typeface="Cambria" pitchFamily="34" charset="-120"/>
              </a:rPr>
              <a:t>The signature commits to the amount; the address is bech32</a:t>
            </a:r>
            <a:endParaRPr lang="en-US" sz="1350" dirty="0"/>
          </a:p>
        </p:txBody>
      </p:sp>
      <p:sp>
        <p:nvSpPr>
          <p:cNvPr id="27" name="Text 24"/>
          <p:cNvSpPr txBox="1"/>
          <p:nvPr/>
        </p:nvSpPr>
        <p:spPr>
          <a:xfrm>
            <a:off x="7863840" y="4645152"/>
            <a:ext cx="868680" cy="310896"/>
          </a:xfrm>
          <a:prstGeom prst="rect">
            <a:avLst/>
          </a:prstGeom>
          <a:noFill/>
          <a:ln/>
        </p:spPr>
        <p:txBody>
          <a:bodyPr wrap="square" lIns="0" tIns="0" rIns="0" bIns="0" rtlCol="0" anchor="ctr"/>
          <a:lstStyle/>
          <a:p>
            <a:pPr algn="r" indent="0" marL="0">
              <a:buNone/>
            </a:pPr>
            <a:r>
              <a:rPr lang="en-US" sz="1100" dirty="0">
                <a:solidFill>
                  <a:srgbClr val="6E655C"/>
                </a:solidFill>
                <a:latin typeface="Calibri" pitchFamily="34" charset="0"/>
                <a:ea typeface="Calibri" pitchFamily="34" charset="-122"/>
                <a:cs typeface="Calibri" pitchFamily="34" charset="-120"/>
              </a:rPr>
              <a:t>39 / 61</a:t>
            </a:r>
            <a:endParaRPr lang="en-US" sz="11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AF6EF"/>
        </a:solidFill>
      </p:bgPr>
    </p:bg>
    <p:spTree>
      <p:nvGrpSpPr>
        <p:cNvPr id="1" name=""/>
        <p:cNvGrpSpPr/>
        <p:nvPr/>
      </p:nvGrpSpPr>
      <p:grpSpPr>
        <a:xfrm>
          <a:off x="0" y="0"/>
          <a:ext cx="0" cy="0"/>
          <a:chOff x="0" y="0"/>
          <a:chExt cx="0" cy="0"/>
        </a:xfrm>
      </p:grpSpPr>
      <p:sp>
        <p:nvSpPr>
          <p:cNvPr id="2" name="Shape 0"/>
          <p:cNvSpPr/>
          <p:nvPr/>
        </p:nvSpPr>
        <p:spPr>
          <a:xfrm>
            <a:off x="457200" y="347472"/>
            <a:ext cx="566928" cy="384048"/>
          </a:xfrm>
          <a:prstGeom prst="roundRect">
            <a:avLst>
              <a:gd name="adj" fmla="val 19048"/>
            </a:avLst>
          </a:prstGeom>
          <a:solidFill>
            <a:srgbClr val="D97A14"/>
          </a:solidFill>
          <a:ln w="12700">
            <a:solidFill>
              <a:srgbClr val="D97A14"/>
            </a:solidFill>
            <a:prstDash val="solid"/>
          </a:ln>
        </p:spPr>
      </p:sp>
      <p:sp>
        <p:nvSpPr>
          <p:cNvPr id="3" name="Text 1"/>
          <p:cNvSpPr txBox="1"/>
          <p:nvPr/>
        </p:nvSpPr>
        <p:spPr>
          <a:xfrm>
            <a:off x="457200" y="347472"/>
            <a:ext cx="56692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4" name="Text 2"/>
          <p:cNvSpPr txBox="1"/>
          <p:nvPr/>
        </p:nvSpPr>
        <p:spPr>
          <a:xfrm>
            <a:off x="1143000" y="237744"/>
            <a:ext cx="7543800" cy="566928"/>
          </a:xfrm>
          <a:prstGeom prst="rect">
            <a:avLst/>
          </a:prstGeom>
          <a:noFill/>
          <a:ln/>
        </p:spPr>
        <p:txBody>
          <a:bodyPr wrap="square" lIns="0" tIns="0" rIns="0" bIns="0" rtlCol="0" anchor="ctr"/>
          <a:lstStyle/>
          <a:p>
            <a:pPr indent="0" marL="0">
              <a:buNone/>
            </a:pPr>
            <a:r>
              <a:rPr lang="en-US" sz="2800" b="1" dirty="0">
                <a:solidFill>
                  <a:srgbClr val="2B2622"/>
                </a:solidFill>
                <a:latin typeface="Cambria" pitchFamily="34" charset="0"/>
                <a:ea typeface="Cambria" pitchFamily="34" charset="-122"/>
                <a:cs typeface="Cambria" pitchFamily="34" charset="-120"/>
              </a:rPr>
              <a:t>What 1,022 real inputs spend</a:t>
            </a:r>
            <a:endParaRPr lang="en-US" sz="2800" dirty="0"/>
          </a:p>
        </p:txBody>
      </p:sp>
      <p:sp>
        <p:nvSpPr>
          <p:cNvPr id="5" name="Text 3"/>
          <p:cNvSpPr txBox="1"/>
          <p:nvPr/>
        </p:nvSpPr>
        <p:spPr>
          <a:xfrm>
            <a:off x="1143000" y="786384"/>
            <a:ext cx="7543800" cy="310896"/>
          </a:xfrm>
          <a:prstGeom prst="rect">
            <a:avLst/>
          </a:prstGeom>
          <a:noFill/>
          <a:ln/>
        </p:spPr>
        <p:txBody>
          <a:bodyPr wrap="square" lIns="0" tIns="0" rIns="0" bIns="0" rtlCol="0" anchor="ctr"/>
          <a:lstStyle/>
          <a:p>
            <a:pPr indent="0" marL="0">
              <a:buNone/>
            </a:pPr>
            <a:r>
              <a:rPr lang="en-US" sz="1300" i="1" dirty="0">
                <a:solidFill>
                  <a:srgbClr val="6E655C"/>
                </a:solidFill>
                <a:latin typeface="Calibri" pitchFamily="34" charset="0"/>
                <a:ea typeface="Calibri" pitchFamily="34" charset="-122"/>
                <a:cs typeface="Calibri" pitchFamily="34" charset="-120"/>
              </a:rPr>
              <a:t>Block 775,072, classified by the chapter's own Script interpreter, bytes from mempool.space</a:t>
            </a:r>
            <a:endParaRPr lang="en-US" sz="1300" dirty="0"/>
          </a:p>
        </p:txBody>
      </p:sp>
      <p:graphicFrame>
        <p:nvGraphicFramePr>
          <p:cNvPr id="6" name="Chart 0" descr=""/>
          <p:cNvGraphicFramePr/>
          <p:nvPr/>
        </p:nvGraphicFramePr>
        <p:xfrm>
          <a:off x="457200" y="1325880"/>
          <a:ext cx="5303520" cy="315468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5989320" y="1325880"/>
            <a:ext cx="2697480" cy="457200"/>
          </a:xfrm>
          <a:prstGeom prst="rect">
            <a:avLst/>
          </a:prstGeom>
          <a:noFill/>
          <a:ln/>
        </p:spPr>
        <p:txBody>
          <a:bodyPr wrap="square" lIns="0" tIns="0" rIns="0" bIns="0" rtlCol="0" anchor="t"/>
          <a:lstStyle/>
          <a:p>
            <a:pPr algn="l" indent="0" marL="0">
              <a:buNone/>
            </a:pPr>
            <a:r>
              <a:rPr lang="en-US" sz="1100" b="1" dirty="0">
                <a:solidFill>
                  <a:srgbClr val="6E655C"/>
                </a:solidFill>
                <a:latin typeface="Calibri" pitchFamily="34" charset="0"/>
                <a:ea typeface="Calibri" pitchFamily="34" charset="-122"/>
                <a:cs typeface="Calibri" pitchFamily="34" charset="-120"/>
              </a:rPr>
              <a:t>Result: what 1,022 real inputs spend</a:t>
            </a:r>
            <a:endParaRPr lang="en-US" sz="1100" dirty="0"/>
          </a:p>
        </p:txBody>
      </p:sp>
      <p:sp>
        <p:nvSpPr>
          <p:cNvPr id="8" name="Text 5"/>
          <p:cNvSpPr txBox="1"/>
          <p:nvPr/>
        </p:nvSpPr>
        <p:spPr>
          <a:xfrm>
            <a:off x="5989320" y="1874520"/>
            <a:ext cx="2697480" cy="1371600"/>
          </a:xfrm>
          <a:prstGeom prst="rect">
            <a:avLst/>
          </a:prstGeom>
          <a:noFill/>
          <a:ln/>
        </p:spPr>
        <p:txBody>
          <a:bodyPr wrap="square" lIns="0" tIns="0" rIns="0" bIns="0" rtlCol="0" anchor="t"/>
          <a:lstStyle/>
          <a:p>
            <a:pPr algn="l" indent="0" marL="0">
              <a:buNone/>
            </a:pPr>
            <a:r>
              <a:rPr lang="en-US" sz="1150" dirty="0">
                <a:solidFill>
                  <a:srgbClr val="2B2622"/>
                </a:solidFill>
                <a:latin typeface="Calibri" pitchFamily="34" charset="0"/>
                <a:ea typeface="Calibri" pitchFamily="34" charset="-122"/>
                <a:cs typeface="Calibri" pitchFamily="34" charset="-120"/>
              </a:rPr>
              <a:t>The chapter's interpreter ran every input of the first 599 non-coinbase transactions of block 775,072 and sorted them by the kind of output they spend.</a:t>
            </a:r>
            <a:endParaRPr lang="en-US" sz="1150" dirty="0"/>
          </a:p>
        </p:txBody>
      </p:sp>
      <p:sp>
        <p:nvSpPr>
          <p:cNvPr id="9" name="Text 6"/>
          <p:cNvSpPr txBox="1"/>
          <p:nvPr/>
        </p:nvSpPr>
        <p:spPr>
          <a:xfrm>
            <a:off x="5989320" y="3383280"/>
            <a:ext cx="2697480" cy="1097280"/>
          </a:xfrm>
          <a:prstGeom prst="rect">
            <a:avLst/>
          </a:prstGeom>
          <a:noFill/>
          <a:ln/>
        </p:spPr>
        <p:txBody>
          <a:bodyPr wrap="square" lIns="0" tIns="0" rIns="0" bIns="0" rtlCol="0" anchor="t"/>
          <a:lstStyle/>
          <a:p>
            <a:pPr algn="l" indent="0" marL="0">
              <a:buNone/>
            </a:pPr>
            <a:r>
              <a:rPr lang="en-US" sz="1150" i="1" dirty="0">
                <a:solidFill>
                  <a:srgbClr val="2B2622"/>
                </a:solidFill>
                <a:latin typeface="Calibri" pitchFamily="34" charset="0"/>
                <a:ea typeface="Calibri" pitchFamily="34" charset="-122"/>
                <a:cs typeface="Calibri" pitchFamily="34" charset="-120"/>
              </a:rPr>
              <a:t>Witness key hashes lead; taproot is still rare. Think of a motorway where most cars already use the new lane.</a:t>
            </a:r>
            <a:endParaRPr lang="en-US" sz="1150" dirty="0"/>
          </a:p>
        </p:txBody>
      </p:sp>
      <p:sp>
        <p:nvSpPr>
          <p:cNvPr id="10" name="Shape 7"/>
          <p:cNvSpPr/>
          <p:nvPr/>
        </p:nvSpPr>
        <p:spPr>
          <a:xfrm>
            <a:off x="457200" y="4636008"/>
            <a:ext cx="91440" cy="310896"/>
          </a:xfrm>
          <a:prstGeom prst="rect">
            <a:avLst/>
          </a:prstGeom>
          <a:solidFill>
            <a:srgbClr val="D97A14"/>
          </a:solidFill>
          <a:ln w="12700">
            <a:solidFill>
              <a:srgbClr val="D97A14"/>
            </a:solidFill>
            <a:prstDash val="solid"/>
          </a:ln>
        </p:spPr>
      </p:sp>
      <p:sp>
        <p:nvSpPr>
          <p:cNvPr id="11" name="Text 8"/>
          <p:cNvSpPr txBox="1"/>
          <p:nvPr/>
        </p:nvSpPr>
        <p:spPr>
          <a:xfrm>
            <a:off x="658368" y="4599432"/>
            <a:ext cx="6949440" cy="384048"/>
          </a:xfrm>
          <a:prstGeom prst="rect">
            <a:avLst/>
          </a:prstGeom>
          <a:noFill/>
          <a:ln/>
        </p:spPr>
        <p:txBody>
          <a:bodyPr wrap="square" lIns="0" tIns="0" rIns="0" bIns="0" rtlCol="0" anchor="ctr"/>
          <a:lstStyle/>
          <a:p>
            <a:pPr indent="0" marL="0">
              <a:buNone/>
            </a:pPr>
            <a:r>
              <a:rPr lang="en-US" sz="1350" b="1" i="1" dirty="0">
                <a:solidFill>
                  <a:srgbClr val="2B2622"/>
                </a:solidFill>
                <a:latin typeface="Cambria" pitchFamily="34" charset="0"/>
                <a:ea typeface="Cambria" pitchFamily="34" charset="-122"/>
                <a:cs typeface="Cambria" pitchFamily="34" charset="-120"/>
              </a:rPr>
              <a:t>Most real coins already move through witness programs</a:t>
            </a:r>
            <a:endParaRPr lang="en-US" sz="1350" dirty="0"/>
          </a:p>
        </p:txBody>
      </p:sp>
      <p:sp>
        <p:nvSpPr>
          <p:cNvPr id="12" name="Text 9"/>
          <p:cNvSpPr txBox="1"/>
          <p:nvPr/>
        </p:nvSpPr>
        <p:spPr>
          <a:xfrm>
            <a:off x="7863840" y="4645152"/>
            <a:ext cx="868680" cy="310896"/>
          </a:xfrm>
          <a:prstGeom prst="rect">
            <a:avLst/>
          </a:prstGeom>
          <a:noFill/>
          <a:ln/>
        </p:spPr>
        <p:txBody>
          <a:bodyPr wrap="square" lIns="0" tIns="0" rIns="0" bIns="0" rtlCol="0" anchor="ctr"/>
          <a:lstStyle/>
          <a:p>
            <a:pPr algn="r" indent="0" marL="0">
              <a:buNone/>
            </a:pPr>
            <a:r>
              <a:rPr lang="en-US" sz="1100" dirty="0">
                <a:solidFill>
                  <a:srgbClr val="6E655C"/>
                </a:solidFill>
                <a:latin typeface="Calibri" pitchFamily="34" charset="0"/>
                <a:ea typeface="Calibri" pitchFamily="34" charset="-122"/>
                <a:cs typeface="Calibri" pitchFamily="34" charset="-120"/>
              </a:rPr>
              <a:t>40 / 61</a:t>
            </a:r>
            <a:endParaRPr lang="en-US" sz="11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AF6EF"/>
        </a:solidFill>
      </p:bgPr>
    </p:bg>
    <p:spTree>
      <p:nvGrpSpPr>
        <p:cNvPr id="1" name=""/>
        <p:cNvGrpSpPr/>
        <p:nvPr/>
      </p:nvGrpSpPr>
      <p:grpSpPr>
        <a:xfrm>
          <a:off x="0" y="0"/>
          <a:ext cx="0" cy="0"/>
          <a:chOff x="0" y="0"/>
          <a:chExt cx="0" cy="0"/>
        </a:xfrm>
      </p:grpSpPr>
      <p:sp>
        <p:nvSpPr>
          <p:cNvPr id="2" name="Shape 0"/>
          <p:cNvSpPr/>
          <p:nvPr/>
        </p:nvSpPr>
        <p:spPr>
          <a:xfrm>
            <a:off x="457200" y="347472"/>
            <a:ext cx="566928" cy="384048"/>
          </a:xfrm>
          <a:prstGeom prst="roundRect">
            <a:avLst>
              <a:gd name="adj" fmla="val 19048"/>
            </a:avLst>
          </a:prstGeom>
          <a:solidFill>
            <a:srgbClr val="D97A14"/>
          </a:solidFill>
          <a:ln w="12700">
            <a:solidFill>
              <a:srgbClr val="D97A14"/>
            </a:solidFill>
            <a:prstDash val="solid"/>
          </a:ln>
        </p:spPr>
      </p:sp>
      <p:sp>
        <p:nvSpPr>
          <p:cNvPr id="3" name="Text 1"/>
          <p:cNvSpPr txBox="1"/>
          <p:nvPr/>
        </p:nvSpPr>
        <p:spPr>
          <a:xfrm>
            <a:off x="457200" y="347472"/>
            <a:ext cx="56692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4" name="Text 2"/>
          <p:cNvSpPr txBox="1"/>
          <p:nvPr/>
        </p:nvSpPr>
        <p:spPr>
          <a:xfrm>
            <a:off x="1143000" y="237744"/>
            <a:ext cx="7543800" cy="566928"/>
          </a:xfrm>
          <a:prstGeom prst="rect">
            <a:avLst/>
          </a:prstGeom>
          <a:noFill/>
          <a:ln/>
        </p:spPr>
        <p:txBody>
          <a:bodyPr wrap="square" lIns="0" tIns="0" rIns="0" bIns="0" rtlCol="0" anchor="ctr"/>
          <a:lstStyle/>
          <a:p>
            <a:pPr indent="0" marL="0">
              <a:buNone/>
            </a:pPr>
            <a:r>
              <a:rPr lang="en-US" sz="2500" b="1" dirty="0">
                <a:solidFill>
                  <a:srgbClr val="2B2622"/>
                </a:solidFill>
                <a:latin typeface="Cambria" pitchFamily="34" charset="0"/>
                <a:ea typeface="Cambria" pitchFamily="34" charset="-122"/>
                <a:cs typeface="Cambria" pitchFamily="34" charset="-120"/>
              </a:rPr>
              <a:t>Segregated witness scripts (2 of 4)</a:t>
            </a:r>
            <a:endParaRPr lang="en-US" sz="2500" dirty="0"/>
          </a:p>
        </p:txBody>
      </p:sp>
      <p:sp>
        <p:nvSpPr>
          <p:cNvPr id="5" name="Text 3"/>
          <p:cNvSpPr txBox="1"/>
          <p:nvPr/>
        </p:nvSpPr>
        <p:spPr>
          <a:xfrm>
            <a:off x="1143000" y="786384"/>
            <a:ext cx="7543800" cy="310896"/>
          </a:xfrm>
          <a:prstGeom prst="rect">
            <a:avLst/>
          </a:prstGeom>
          <a:noFill/>
          <a:ln/>
        </p:spPr>
        <p:txBody>
          <a:bodyPr wrap="square" lIns="0" tIns="0" rIns="0" bIns="0" rtlCol="0" anchor="ctr"/>
          <a:lstStyle/>
          <a:p>
            <a:pPr indent="0" marL="0">
              <a:buNone/>
            </a:pPr>
            <a:r>
              <a:rPr lang="en-US" sz="1300" i="1" dirty="0">
                <a:solidFill>
                  <a:srgbClr val="6E655C"/>
                </a:solidFill>
                <a:latin typeface="Calibri" pitchFamily="34" charset="0"/>
                <a:ea typeface="Calibri" pitchFamily="34" charset="-122"/>
                <a:cs typeface="Calibri" pitchFamily="34" charset="-120"/>
              </a:rPr>
              <a:t>Each card: the meaning in a few words, then something you already know</a:t>
            </a:r>
            <a:endParaRPr lang="en-US" sz="1300" dirty="0"/>
          </a:p>
        </p:txBody>
      </p:sp>
      <p:sp>
        <p:nvSpPr>
          <p:cNvPr id="6" name="Shape 4"/>
          <p:cNvSpPr/>
          <p:nvPr/>
        </p:nvSpPr>
        <p:spPr>
          <a:xfrm>
            <a:off x="457200" y="1280160"/>
            <a:ext cx="4041648" cy="1362456"/>
          </a:xfrm>
          <a:prstGeom prst="roundRect">
            <a:avLst>
              <a:gd name="adj" fmla="val 5369"/>
            </a:avLst>
          </a:prstGeom>
          <a:solidFill>
            <a:srgbClr val="F2ECE1"/>
          </a:solidFill>
          <a:ln w="12700">
            <a:solidFill>
              <a:srgbClr val="DFD6C7"/>
            </a:solidFill>
            <a:prstDash val="solid"/>
          </a:ln>
        </p:spPr>
      </p:sp>
      <p:sp>
        <p:nvSpPr>
          <p:cNvPr id="7" name="Shape 5"/>
          <p:cNvSpPr/>
          <p:nvPr/>
        </p:nvSpPr>
        <p:spPr>
          <a:xfrm>
            <a:off x="475488" y="1408176"/>
            <a:ext cx="64008" cy="1106424"/>
          </a:xfrm>
          <a:prstGeom prst="rect">
            <a:avLst/>
          </a:prstGeom>
          <a:solidFill>
            <a:srgbClr val="D97A14"/>
          </a:solidFill>
          <a:ln w="12700">
            <a:solidFill>
              <a:srgbClr val="D97A14"/>
            </a:solidFill>
            <a:prstDash val="solid"/>
          </a:ln>
        </p:spPr>
      </p:sp>
      <p:sp>
        <p:nvSpPr>
          <p:cNvPr id="8" name="Text 6"/>
          <p:cNvSpPr txBox="1"/>
          <p:nvPr/>
        </p:nvSpPr>
        <p:spPr>
          <a:xfrm>
            <a:off x="640080" y="1344168"/>
            <a:ext cx="3767328" cy="813816"/>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Differentiating between P2WPKH and P2WSH</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The program length tells them apart: 20 or 32 bytes.</a:t>
            </a:r>
            <a:endParaRPr lang="en-US" sz="1300" dirty="0"/>
          </a:p>
        </p:txBody>
      </p:sp>
      <p:sp>
        <p:nvSpPr>
          <p:cNvPr id="9" name="Text 7"/>
          <p:cNvSpPr txBox="1"/>
          <p:nvPr/>
        </p:nvSpPr>
        <p:spPr>
          <a:xfrm>
            <a:off x="640080" y="2185416"/>
            <a:ext cx="3767328" cy="393192"/>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telling a postcode from a full address by its length.</a:t>
            </a:r>
            <a:endParaRPr lang="en-US" sz="1150" dirty="0"/>
          </a:p>
        </p:txBody>
      </p:sp>
      <p:sp>
        <p:nvSpPr>
          <p:cNvPr id="10" name="Shape 8"/>
          <p:cNvSpPr/>
          <p:nvPr/>
        </p:nvSpPr>
        <p:spPr>
          <a:xfrm>
            <a:off x="4645152" y="1280160"/>
            <a:ext cx="4041648" cy="1362456"/>
          </a:xfrm>
          <a:prstGeom prst="roundRect">
            <a:avLst>
              <a:gd name="adj" fmla="val 5369"/>
            </a:avLst>
          </a:prstGeom>
          <a:solidFill>
            <a:srgbClr val="F2ECE1"/>
          </a:solidFill>
          <a:ln w="12700">
            <a:solidFill>
              <a:srgbClr val="DFD6C7"/>
            </a:solidFill>
            <a:prstDash val="solid"/>
          </a:ln>
        </p:spPr>
      </p:sp>
      <p:sp>
        <p:nvSpPr>
          <p:cNvPr id="11" name="Shape 9"/>
          <p:cNvSpPr/>
          <p:nvPr/>
        </p:nvSpPr>
        <p:spPr>
          <a:xfrm>
            <a:off x="4663440" y="1408176"/>
            <a:ext cx="64008" cy="1106424"/>
          </a:xfrm>
          <a:prstGeom prst="rect">
            <a:avLst/>
          </a:prstGeom>
          <a:solidFill>
            <a:srgbClr val="D97A14"/>
          </a:solidFill>
          <a:ln w="12700">
            <a:solidFill>
              <a:srgbClr val="D97A14"/>
            </a:solidFill>
            <a:prstDash val="solid"/>
          </a:ln>
        </p:spPr>
      </p:sp>
      <p:sp>
        <p:nvSpPr>
          <p:cNvPr id="12" name="Text 10"/>
          <p:cNvSpPr txBox="1"/>
          <p:nvPr/>
        </p:nvSpPr>
        <p:spPr>
          <a:xfrm>
            <a:off x="4828032" y="1344168"/>
            <a:ext cx="3767328" cy="434340"/>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Upgrading to Segregated Witness</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How old and new software live side by side.</a:t>
            </a:r>
            <a:endParaRPr lang="en-US" sz="1300" dirty="0"/>
          </a:p>
        </p:txBody>
      </p:sp>
      <p:sp>
        <p:nvSpPr>
          <p:cNvPr id="13" name="Text 11"/>
          <p:cNvSpPr txBox="1"/>
          <p:nvPr/>
        </p:nvSpPr>
        <p:spPr>
          <a:xfrm>
            <a:off x="4828032" y="1805940"/>
            <a:ext cx="3767328" cy="393192"/>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adding a new lane to a road without closing it.</a:t>
            </a:r>
            <a:endParaRPr lang="en-US" sz="1150" dirty="0"/>
          </a:p>
        </p:txBody>
      </p:sp>
      <p:sp>
        <p:nvSpPr>
          <p:cNvPr id="14" name="Shape 12"/>
          <p:cNvSpPr/>
          <p:nvPr/>
        </p:nvSpPr>
        <p:spPr>
          <a:xfrm>
            <a:off x="457200" y="2770632"/>
            <a:ext cx="4041648" cy="1362456"/>
          </a:xfrm>
          <a:prstGeom prst="roundRect">
            <a:avLst>
              <a:gd name="adj" fmla="val 5369"/>
            </a:avLst>
          </a:prstGeom>
          <a:solidFill>
            <a:srgbClr val="F2ECE1"/>
          </a:solidFill>
          <a:ln w="12700">
            <a:solidFill>
              <a:srgbClr val="DFD6C7"/>
            </a:solidFill>
            <a:prstDash val="solid"/>
          </a:ln>
        </p:spPr>
      </p:sp>
      <p:sp>
        <p:nvSpPr>
          <p:cNvPr id="15" name="Shape 13"/>
          <p:cNvSpPr/>
          <p:nvPr/>
        </p:nvSpPr>
        <p:spPr>
          <a:xfrm>
            <a:off x="475488" y="2898648"/>
            <a:ext cx="64008" cy="1106424"/>
          </a:xfrm>
          <a:prstGeom prst="rect">
            <a:avLst/>
          </a:prstGeom>
          <a:solidFill>
            <a:srgbClr val="D97A14"/>
          </a:solidFill>
          <a:ln w="12700">
            <a:solidFill>
              <a:srgbClr val="D97A14"/>
            </a:solidFill>
            <a:prstDash val="solid"/>
          </a:ln>
        </p:spPr>
      </p:sp>
      <p:sp>
        <p:nvSpPr>
          <p:cNvPr id="16" name="Text 14"/>
          <p:cNvSpPr txBox="1"/>
          <p:nvPr/>
        </p:nvSpPr>
        <p:spPr>
          <a:xfrm>
            <a:off x="640080" y="2834640"/>
            <a:ext cx="3767328" cy="813816"/>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Embedding segregated witness inside P2SH</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A witness program wrapped in a script hash for old wallets.</a:t>
            </a:r>
            <a:endParaRPr lang="en-US" sz="1300" dirty="0"/>
          </a:p>
        </p:txBody>
      </p:sp>
      <p:sp>
        <p:nvSpPr>
          <p:cNvPr id="17" name="Text 15"/>
          <p:cNvSpPr txBox="1"/>
          <p:nvPr/>
        </p:nvSpPr>
        <p:spPr>
          <a:xfrm>
            <a:off x="640080" y="3675888"/>
            <a:ext cx="3767328" cy="214884"/>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a new letter inside an old envelope.</a:t>
            </a:r>
            <a:endParaRPr lang="en-US" sz="1150" dirty="0"/>
          </a:p>
        </p:txBody>
      </p:sp>
      <p:sp>
        <p:nvSpPr>
          <p:cNvPr id="18" name="Shape 16"/>
          <p:cNvSpPr/>
          <p:nvPr/>
        </p:nvSpPr>
        <p:spPr>
          <a:xfrm>
            <a:off x="4645152" y="2770632"/>
            <a:ext cx="4041648" cy="1362456"/>
          </a:xfrm>
          <a:prstGeom prst="roundRect">
            <a:avLst>
              <a:gd name="adj" fmla="val 5369"/>
            </a:avLst>
          </a:prstGeom>
          <a:solidFill>
            <a:srgbClr val="F2ECE1"/>
          </a:solidFill>
          <a:ln w="12700">
            <a:solidFill>
              <a:srgbClr val="DFD6C7"/>
            </a:solidFill>
            <a:prstDash val="solid"/>
          </a:ln>
        </p:spPr>
      </p:sp>
      <p:sp>
        <p:nvSpPr>
          <p:cNvPr id="19" name="Shape 17"/>
          <p:cNvSpPr/>
          <p:nvPr/>
        </p:nvSpPr>
        <p:spPr>
          <a:xfrm>
            <a:off x="4663440" y="2898648"/>
            <a:ext cx="64008" cy="1106424"/>
          </a:xfrm>
          <a:prstGeom prst="rect">
            <a:avLst/>
          </a:prstGeom>
          <a:solidFill>
            <a:srgbClr val="D97A14"/>
          </a:solidFill>
          <a:ln w="12700">
            <a:solidFill>
              <a:srgbClr val="D97A14"/>
            </a:solidFill>
            <a:prstDash val="solid"/>
          </a:ln>
        </p:spPr>
      </p:sp>
      <p:sp>
        <p:nvSpPr>
          <p:cNvPr id="20" name="Text 18"/>
          <p:cNvSpPr txBox="1"/>
          <p:nvPr/>
        </p:nvSpPr>
        <p:spPr>
          <a:xfrm>
            <a:off x="4828032" y="2834640"/>
            <a:ext cx="3767328" cy="635508"/>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Nested pay to witness public key hash</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P2WPKH placed inside P2SH.</a:t>
            </a:r>
            <a:endParaRPr lang="en-US" sz="1300" dirty="0"/>
          </a:p>
        </p:txBody>
      </p:sp>
      <p:sp>
        <p:nvSpPr>
          <p:cNvPr id="21" name="Text 19"/>
          <p:cNvSpPr txBox="1"/>
          <p:nvPr/>
        </p:nvSpPr>
        <p:spPr>
          <a:xfrm>
            <a:off x="4828032" y="3497580"/>
            <a:ext cx="3767328" cy="214884"/>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a small box inside a larger box.</a:t>
            </a:r>
            <a:endParaRPr lang="en-US" sz="1150" dirty="0"/>
          </a:p>
        </p:txBody>
      </p:sp>
      <p:sp>
        <p:nvSpPr>
          <p:cNvPr id="22" name="Shape 20"/>
          <p:cNvSpPr/>
          <p:nvPr/>
        </p:nvSpPr>
        <p:spPr>
          <a:xfrm>
            <a:off x="457200" y="4636008"/>
            <a:ext cx="91440" cy="310896"/>
          </a:xfrm>
          <a:prstGeom prst="rect">
            <a:avLst/>
          </a:prstGeom>
          <a:solidFill>
            <a:srgbClr val="D97A14"/>
          </a:solidFill>
          <a:ln w="12700">
            <a:solidFill>
              <a:srgbClr val="D97A14"/>
            </a:solidFill>
            <a:prstDash val="solid"/>
          </a:ln>
        </p:spPr>
      </p:sp>
      <p:sp>
        <p:nvSpPr>
          <p:cNvPr id="23" name="Text 21"/>
          <p:cNvSpPr txBox="1"/>
          <p:nvPr/>
        </p:nvSpPr>
        <p:spPr>
          <a:xfrm>
            <a:off x="658368" y="4599432"/>
            <a:ext cx="6949440" cy="384048"/>
          </a:xfrm>
          <a:prstGeom prst="rect">
            <a:avLst/>
          </a:prstGeom>
          <a:noFill/>
          <a:ln/>
        </p:spPr>
        <p:txBody>
          <a:bodyPr wrap="square" lIns="0" tIns="0" rIns="0" bIns="0" rtlCol="0" anchor="ctr"/>
          <a:lstStyle/>
          <a:p>
            <a:pPr indent="0" marL="0">
              <a:buNone/>
            </a:pPr>
            <a:r>
              <a:rPr lang="en-US" sz="1350" b="1" i="1" dirty="0">
                <a:solidFill>
                  <a:srgbClr val="2B2622"/>
                </a:solidFill>
                <a:latin typeface="Cambria" pitchFamily="34" charset="0"/>
                <a:ea typeface="Cambria" pitchFamily="34" charset="-122"/>
                <a:cs typeface="Cambria" pitchFamily="34" charset="-120"/>
              </a:rPr>
              <a:t>Say each idea twice: once as the meaning, once as the everyday comparison</a:t>
            </a:r>
            <a:endParaRPr lang="en-US" sz="1350" dirty="0"/>
          </a:p>
        </p:txBody>
      </p:sp>
      <p:sp>
        <p:nvSpPr>
          <p:cNvPr id="24" name="Text 22"/>
          <p:cNvSpPr txBox="1"/>
          <p:nvPr/>
        </p:nvSpPr>
        <p:spPr>
          <a:xfrm>
            <a:off x="7863840" y="4645152"/>
            <a:ext cx="868680" cy="310896"/>
          </a:xfrm>
          <a:prstGeom prst="rect">
            <a:avLst/>
          </a:prstGeom>
          <a:noFill/>
          <a:ln/>
        </p:spPr>
        <p:txBody>
          <a:bodyPr wrap="square" lIns="0" tIns="0" rIns="0" bIns="0" rtlCol="0" anchor="ctr"/>
          <a:lstStyle/>
          <a:p>
            <a:pPr algn="r" indent="0" marL="0">
              <a:buNone/>
            </a:pPr>
            <a:r>
              <a:rPr lang="en-US" sz="1100" dirty="0">
                <a:solidFill>
                  <a:srgbClr val="6E655C"/>
                </a:solidFill>
                <a:latin typeface="Calibri" pitchFamily="34" charset="0"/>
                <a:ea typeface="Calibri" pitchFamily="34" charset="-122"/>
                <a:cs typeface="Calibri" pitchFamily="34" charset="-120"/>
              </a:rPr>
              <a:t>41 / 61</a:t>
            </a:r>
            <a:endParaRPr lang="en-US" sz="11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AF6EF"/>
        </a:solidFill>
      </p:bgPr>
    </p:bg>
    <p:spTree>
      <p:nvGrpSpPr>
        <p:cNvPr id="1" name=""/>
        <p:cNvGrpSpPr/>
        <p:nvPr/>
      </p:nvGrpSpPr>
      <p:grpSpPr>
        <a:xfrm>
          <a:off x="0" y="0"/>
          <a:ext cx="0" cy="0"/>
          <a:chOff x="0" y="0"/>
          <a:chExt cx="0" cy="0"/>
        </a:xfrm>
      </p:grpSpPr>
      <p:sp>
        <p:nvSpPr>
          <p:cNvPr id="2" name="Shape 0"/>
          <p:cNvSpPr/>
          <p:nvPr/>
        </p:nvSpPr>
        <p:spPr>
          <a:xfrm>
            <a:off x="457200" y="347472"/>
            <a:ext cx="566928" cy="384048"/>
          </a:xfrm>
          <a:prstGeom prst="roundRect">
            <a:avLst>
              <a:gd name="adj" fmla="val 19048"/>
            </a:avLst>
          </a:prstGeom>
          <a:solidFill>
            <a:srgbClr val="D97A14"/>
          </a:solidFill>
          <a:ln w="12700">
            <a:solidFill>
              <a:srgbClr val="D97A14"/>
            </a:solidFill>
            <a:prstDash val="solid"/>
          </a:ln>
        </p:spPr>
      </p:sp>
      <p:sp>
        <p:nvSpPr>
          <p:cNvPr id="3" name="Text 1"/>
          <p:cNvSpPr txBox="1"/>
          <p:nvPr/>
        </p:nvSpPr>
        <p:spPr>
          <a:xfrm>
            <a:off x="457200" y="347472"/>
            <a:ext cx="56692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4" name="Text 2"/>
          <p:cNvSpPr txBox="1"/>
          <p:nvPr/>
        </p:nvSpPr>
        <p:spPr>
          <a:xfrm>
            <a:off x="1143000" y="237744"/>
            <a:ext cx="7543800" cy="566928"/>
          </a:xfrm>
          <a:prstGeom prst="rect">
            <a:avLst/>
          </a:prstGeom>
          <a:noFill/>
          <a:ln/>
        </p:spPr>
        <p:txBody>
          <a:bodyPr wrap="square" lIns="0" tIns="0" rIns="0" bIns="0" rtlCol="0" anchor="ctr"/>
          <a:lstStyle/>
          <a:p>
            <a:pPr indent="0" marL="0">
              <a:buNone/>
            </a:pPr>
            <a:r>
              <a:rPr lang="en-US" sz="2500" b="1" dirty="0">
                <a:solidFill>
                  <a:srgbClr val="2B2622"/>
                </a:solidFill>
                <a:latin typeface="Cambria" pitchFamily="34" charset="0"/>
                <a:ea typeface="Cambria" pitchFamily="34" charset="-122"/>
                <a:cs typeface="Cambria" pitchFamily="34" charset="-120"/>
              </a:rPr>
              <a:t>Segregated witness scripts (3 of 4)</a:t>
            </a:r>
            <a:endParaRPr lang="en-US" sz="2500" dirty="0"/>
          </a:p>
        </p:txBody>
      </p:sp>
      <p:sp>
        <p:nvSpPr>
          <p:cNvPr id="5" name="Text 3"/>
          <p:cNvSpPr txBox="1"/>
          <p:nvPr/>
        </p:nvSpPr>
        <p:spPr>
          <a:xfrm>
            <a:off x="1143000" y="786384"/>
            <a:ext cx="7543800" cy="310896"/>
          </a:xfrm>
          <a:prstGeom prst="rect">
            <a:avLst/>
          </a:prstGeom>
          <a:noFill/>
          <a:ln/>
        </p:spPr>
        <p:txBody>
          <a:bodyPr wrap="square" lIns="0" tIns="0" rIns="0" bIns="0" rtlCol="0" anchor="ctr"/>
          <a:lstStyle/>
          <a:p>
            <a:pPr indent="0" marL="0">
              <a:buNone/>
            </a:pPr>
            <a:r>
              <a:rPr lang="en-US" sz="1300" i="1" dirty="0">
                <a:solidFill>
                  <a:srgbClr val="6E655C"/>
                </a:solidFill>
                <a:latin typeface="Calibri" pitchFamily="34" charset="0"/>
                <a:ea typeface="Calibri" pitchFamily="34" charset="-122"/>
                <a:cs typeface="Calibri" pitchFamily="34" charset="-120"/>
              </a:rPr>
              <a:t>Each card: the meaning in a few words, then something you already know</a:t>
            </a:r>
            <a:endParaRPr lang="en-US" sz="1300" dirty="0"/>
          </a:p>
        </p:txBody>
      </p:sp>
      <p:sp>
        <p:nvSpPr>
          <p:cNvPr id="6" name="Shape 4"/>
          <p:cNvSpPr/>
          <p:nvPr/>
        </p:nvSpPr>
        <p:spPr>
          <a:xfrm>
            <a:off x="457200" y="1280160"/>
            <a:ext cx="4041648" cy="1161288"/>
          </a:xfrm>
          <a:prstGeom prst="roundRect">
            <a:avLst>
              <a:gd name="adj" fmla="val 6299"/>
            </a:avLst>
          </a:prstGeom>
          <a:solidFill>
            <a:srgbClr val="F2ECE1"/>
          </a:solidFill>
          <a:ln w="12700">
            <a:solidFill>
              <a:srgbClr val="DFD6C7"/>
            </a:solidFill>
            <a:prstDash val="solid"/>
          </a:ln>
        </p:spPr>
      </p:sp>
      <p:sp>
        <p:nvSpPr>
          <p:cNvPr id="7" name="Shape 5"/>
          <p:cNvSpPr/>
          <p:nvPr/>
        </p:nvSpPr>
        <p:spPr>
          <a:xfrm>
            <a:off x="475488" y="1408176"/>
            <a:ext cx="64008" cy="905256"/>
          </a:xfrm>
          <a:prstGeom prst="rect">
            <a:avLst/>
          </a:prstGeom>
          <a:solidFill>
            <a:srgbClr val="D97A14"/>
          </a:solidFill>
          <a:ln w="12700">
            <a:solidFill>
              <a:srgbClr val="D97A14"/>
            </a:solidFill>
            <a:prstDash val="solid"/>
          </a:ln>
        </p:spPr>
      </p:sp>
      <p:sp>
        <p:nvSpPr>
          <p:cNvPr id="8" name="Text 6"/>
          <p:cNvSpPr txBox="1"/>
          <p:nvPr/>
        </p:nvSpPr>
        <p:spPr>
          <a:xfrm>
            <a:off x="640080" y="1344168"/>
            <a:ext cx="3767328" cy="434340"/>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Nested pay to witness script hash</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P2WSH placed inside P2SH.</a:t>
            </a:r>
            <a:endParaRPr lang="en-US" sz="1300" dirty="0"/>
          </a:p>
        </p:txBody>
      </p:sp>
      <p:sp>
        <p:nvSpPr>
          <p:cNvPr id="9" name="Text 7"/>
          <p:cNvSpPr txBox="1"/>
          <p:nvPr/>
        </p:nvSpPr>
        <p:spPr>
          <a:xfrm>
            <a:off x="640080" y="1805940"/>
            <a:ext cx="3767328" cy="393192"/>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a sealed envelope inside a courier bag.</a:t>
            </a:r>
            <a:endParaRPr lang="en-US" sz="1150" dirty="0"/>
          </a:p>
        </p:txBody>
      </p:sp>
      <p:sp>
        <p:nvSpPr>
          <p:cNvPr id="10" name="Shape 8"/>
          <p:cNvSpPr/>
          <p:nvPr/>
        </p:nvSpPr>
        <p:spPr>
          <a:xfrm>
            <a:off x="4645152" y="1280160"/>
            <a:ext cx="4041648" cy="1161288"/>
          </a:xfrm>
          <a:prstGeom prst="roundRect">
            <a:avLst>
              <a:gd name="adj" fmla="val 6299"/>
            </a:avLst>
          </a:prstGeom>
          <a:solidFill>
            <a:srgbClr val="F2ECE1"/>
          </a:solidFill>
          <a:ln w="12700">
            <a:solidFill>
              <a:srgbClr val="DFD6C7"/>
            </a:solidFill>
            <a:prstDash val="solid"/>
          </a:ln>
        </p:spPr>
      </p:sp>
      <p:sp>
        <p:nvSpPr>
          <p:cNvPr id="11" name="Shape 9"/>
          <p:cNvSpPr/>
          <p:nvPr/>
        </p:nvSpPr>
        <p:spPr>
          <a:xfrm>
            <a:off x="4663440" y="1408176"/>
            <a:ext cx="64008" cy="905256"/>
          </a:xfrm>
          <a:prstGeom prst="rect">
            <a:avLst/>
          </a:prstGeom>
          <a:solidFill>
            <a:srgbClr val="D97A14"/>
          </a:solidFill>
          <a:ln w="12700">
            <a:solidFill>
              <a:srgbClr val="D97A14"/>
            </a:solidFill>
            <a:prstDash val="solid"/>
          </a:ln>
        </p:spPr>
      </p:sp>
      <p:sp>
        <p:nvSpPr>
          <p:cNvPr id="12" name="Text 10"/>
          <p:cNvSpPr txBox="1"/>
          <p:nvPr/>
        </p:nvSpPr>
        <p:spPr>
          <a:xfrm>
            <a:off x="4828032" y="1344168"/>
            <a:ext cx="3767328" cy="612648"/>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segregated witness</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The upgrade that moves signatures out of the transaction identifier.</a:t>
            </a:r>
            <a:endParaRPr lang="en-US" sz="1300" dirty="0"/>
          </a:p>
        </p:txBody>
      </p:sp>
      <p:sp>
        <p:nvSpPr>
          <p:cNvPr id="13" name="Text 11"/>
          <p:cNvSpPr txBox="1"/>
          <p:nvPr/>
        </p:nvSpPr>
        <p:spPr>
          <a:xfrm>
            <a:off x="4828032" y="1984248"/>
            <a:ext cx="3767328" cy="393192"/>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keeping the passport photo off the ticket number.</a:t>
            </a:r>
            <a:endParaRPr lang="en-US" sz="1150" dirty="0"/>
          </a:p>
        </p:txBody>
      </p:sp>
      <p:sp>
        <p:nvSpPr>
          <p:cNvPr id="14" name="Shape 12"/>
          <p:cNvSpPr/>
          <p:nvPr/>
        </p:nvSpPr>
        <p:spPr>
          <a:xfrm>
            <a:off x="457200" y="2569464"/>
            <a:ext cx="4041648" cy="1161288"/>
          </a:xfrm>
          <a:prstGeom prst="roundRect">
            <a:avLst>
              <a:gd name="adj" fmla="val 6299"/>
            </a:avLst>
          </a:prstGeom>
          <a:solidFill>
            <a:srgbClr val="F2ECE1"/>
          </a:solidFill>
          <a:ln w="12700">
            <a:solidFill>
              <a:srgbClr val="DFD6C7"/>
            </a:solidFill>
            <a:prstDash val="solid"/>
          </a:ln>
        </p:spPr>
      </p:sp>
      <p:sp>
        <p:nvSpPr>
          <p:cNvPr id="15" name="Shape 13"/>
          <p:cNvSpPr/>
          <p:nvPr/>
        </p:nvSpPr>
        <p:spPr>
          <a:xfrm>
            <a:off x="475488" y="2697480"/>
            <a:ext cx="64008" cy="905256"/>
          </a:xfrm>
          <a:prstGeom prst="rect">
            <a:avLst/>
          </a:prstGeom>
          <a:solidFill>
            <a:srgbClr val="D97A14"/>
          </a:solidFill>
          <a:ln w="12700">
            <a:solidFill>
              <a:srgbClr val="D97A14"/>
            </a:solidFill>
            <a:prstDash val="solid"/>
          </a:ln>
        </p:spPr>
      </p:sp>
      <p:sp>
        <p:nvSpPr>
          <p:cNvPr id="16" name="Text 14"/>
          <p:cNvSpPr txBox="1"/>
          <p:nvPr/>
        </p:nvSpPr>
        <p:spPr>
          <a:xfrm>
            <a:off x="640080" y="2633472"/>
            <a:ext cx="3767328" cy="612648"/>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witness program</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The version and hash that lock a segwit output.</a:t>
            </a:r>
            <a:endParaRPr lang="en-US" sz="1300" dirty="0"/>
          </a:p>
        </p:txBody>
      </p:sp>
      <p:sp>
        <p:nvSpPr>
          <p:cNvPr id="17" name="Text 15"/>
          <p:cNvSpPr txBox="1"/>
          <p:nvPr/>
        </p:nvSpPr>
        <p:spPr>
          <a:xfrm>
            <a:off x="640080" y="3273552"/>
            <a:ext cx="3767328" cy="393192"/>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an extension number that tells the switchboard where to connect.</a:t>
            </a:r>
            <a:endParaRPr lang="en-US" sz="1150" dirty="0"/>
          </a:p>
        </p:txBody>
      </p:sp>
      <p:sp>
        <p:nvSpPr>
          <p:cNvPr id="18" name="Shape 16"/>
          <p:cNvSpPr/>
          <p:nvPr/>
        </p:nvSpPr>
        <p:spPr>
          <a:xfrm>
            <a:off x="4645152" y="2569464"/>
            <a:ext cx="4041648" cy="1161288"/>
          </a:xfrm>
          <a:prstGeom prst="roundRect">
            <a:avLst>
              <a:gd name="adj" fmla="val 6299"/>
            </a:avLst>
          </a:prstGeom>
          <a:solidFill>
            <a:srgbClr val="F2ECE1"/>
          </a:solidFill>
          <a:ln w="12700">
            <a:solidFill>
              <a:srgbClr val="DFD6C7"/>
            </a:solidFill>
            <a:prstDash val="solid"/>
          </a:ln>
        </p:spPr>
      </p:sp>
      <p:sp>
        <p:nvSpPr>
          <p:cNvPr id="19" name="Shape 17"/>
          <p:cNvSpPr/>
          <p:nvPr/>
        </p:nvSpPr>
        <p:spPr>
          <a:xfrm>
            <a:off x="4663440" y="2697480"/>
            <a:ext cx="64008" cy="905256"/>
          </a:xfrm>
          <a:prstGeom prst="rect">
            <a:avLst/>
          </a:prstGeom>
          <a:solidFill>
            <a:srgbClr val="D97A14"/>
          </a:solidFill>
          <a:ln w="12700">
            <a:solidFill>
              <a:srgbClr val="D97A14"/>
            </a:solidFill>
            <a:prstDash val="solid"/>
          </a:ln>
        </p:spPr>
      </p:sp>
      <p:sp>
        <p:nvSpPr>
          <p:cNvPr id="20" name="Text 18"/>
          <p:cNvSpPr txBox="1"/>
          <p:nvPr/>
        </p:nvSpPr>
        <p:spPr>
          <a:xfrm>
            <a:off x="4828032" y="2633472"/>
            <a:ext cx="3767328" cy="612648"/>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P2WPKH</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The short name of pay to witness public key hash.</a:t>
            </a:r>
            <a:endParaRPr lang="en-US" sz="1300" dirty="0"/>
          </a:p>
        </p:txBody>
      </p:sp>
      <p:sp>
        <p:nvSpPr>
          <p:cNvPr id="21" name="Text 19"/>
          <p:cNvSpPr txBox="1"/>
          <p:nvPr/>
        </p:nvSpPr>
        <p:spPr>
          <a:xfrm>
            <a:off x="4828032" y="3273552"/>
            <a:ext cx="3767328" cy="214884"/>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a nickname for a long job title.</a:t>
            </a:r>
            <a:endParaRPr lang="en-US" sz="1150" dirty="0"/>
          </a:p>
        </p:txBody>
      </p:sp>
      <p:sp>
        <p:nvSpPr>
          <p:cNvPr id="22" name="Shape 20"/>
          <p:cNvSpPr/>
          <p:nvPr/>
        </p:nvSpPr>
        <p:spPr>
          <a:xfrm>
            <a:off x="457200" y="4636008"/>
            <a:ext cx="91440" cy="310896"/>
          </a:xfrm>
          <a:prstGeom prst="rect">
            <a:avLst/>
          </a:prstGeom>
          <a:solidFill>
            <a:srgbClr val="D97A14"/>
          </a:solidFill>
          <a:ln w="12700">
            <a:solidFill>
              <a:srgbClr val="D97A14"/>
            </a:solidFill>
            <a:prstDash val="solid"/>
          </a:ln>
        </p:spPr>
      </p:sp>
      <p:sp>
        <p:nvSpPr>
          <p:cNvPr id="23" name="Text 21"/>
          <p:cNvSpPr txBox="1"/>
          <p:nvPr/>
        </p:nvSpPr>
        <p:spPr>
          <a:xfrm>
            <a:off x="658368" y="4599432"/>
            <a:ext cx="6949440" cy="384048"/>
          </a:xfrm>
          <a:prstGeom prst="rect">
            <a:avLst/>
          </a:prstGeom>
          <a:noFill/>
          <a:ln/>
        </p:spPr>
        <p:txBody>
          <a:bodyPr wrap="square" lIns="0" tIns="0" rIns="0" bIns="0" rtlCol="0" anchor="ctr"/>
          <a:lstStyle/>
          <a:p>
            <a:pPr indent="0" marL="0">
              <a:buNone/>
            </a:pPr>
            <a:r>
              <a:rPr lang="en-US" sz="1350" b="1" i="1" dirty="0">
                <a:solidFill>
                  <a:srgbClr val="2B2622"/>
                </a:solidFill>
                <a:latin typeface="Cambria" pitchFamily="34" charset="0"/>
                <a:ea typeface="Cambria" pitchFamily="34" charset="-122"/>
                <a:cs typeface="Cambria" pitchFamily="34" charset="-120"/>
              </a:rPr>
              <a:t>Say each idea twice: once as the meaning, once as the everyday comparison</a:t>
            </a:r>
            <a:endParaRPr lang="en-US" sz="1350" dirty="0"/>
          </a:p>
        </p:txBody>
      </p:sp>
      <p:sp>
        <p:nvSpPr>
          <p:cNvPr id="24" name="Text 22"/>
          <p:cNvSpPr txBox="1"/>
          <p:nvPr/>
        </p:nvSpPr>
        <p:spPr>
          <a:xfrm>
            <a:off x="7863840" y="4645152"/>
            <a:ext cx="868680" cy="310896"/>
          </a:xfrm>
          <a:prstGeom prst="rect">
            <a:avLst/>
          </a:prstGeom>
          <a:noFill/>
          <a:ln/>
        </p:spPr>
        <p:txBody>
          <a:bodyPr wrap="square" lIns="0" tIns="0" rIns="0" bIns="0" rtlCol="0" anchor="ctr"/>
          <a:lstStyle/>
          <a:p>
            <a:pPr algn="r" indent="0" marL="0">
              <a:buNone/>
            </a:pPr>
            <a:r>
              <a:rPr lang="en-US" sz="1100" dirty="0">
                <a:solidFill>
                  <a:srgbClr val="6E655C"/>
                </a:solidFill>
                <a:latin typeface="Calibri" pitchFamily="34" charset="0"/>
                <a:ea typeface="Calibri" pitchFamily="34" charset="-122"/>
                <a:cs typeface="Calibri" pitchFamily="34" charset="-120"/>
              </a:rPr>
              <a:t>42 / 61</a:t>
            </a:r>
            <a:endParaRPr lang="en-US" sz="11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AF6EF"/>
        </a:solidFill>
      </p:bgPr>
    </p:bg>
    <p:spTree>
      <p:nvGrpSpPr>
        <p:cNvPr id="1" name=""/>
        <p:cNvGrpSpPr/>
        <p:nvPr/>
      </p:nvGrpSpPr>
      <p:grpSpPr>
        <a:xfrm>
          <a:off x="0" y="0"/>
          <a:ext cx="0" cy="0"/>
          <a:chOff x="0" y="0"/>
          <a:chExt cx="0" cy="0"/>
        </a:xfrm>
      </p:grpSpPr>
      <p:sp>
        <p:nvSpPr>
          <p:cNvPr id="2" name="Shape 0"/>
          <p:cNvSpPr/>
          <p:nvPr/>
        </p:nvSpPr>
        <p:spPr>
          <a:xfrm>
            <a:off x="457200" y="347472"/>
            <a:ext cx="566928" cy="384048"/>
          </a:xfrm>
          <a:prstGeom prst="roundRect">
            <a:avLst>
              <a:gd name="adj" fmla="val 19048"/>
            </a:avLst>
          </a:prstGeom>
          <a:solidFill>
            <a:srgbClr val="D97A14"/>
          </a:solidFill>
          <a:ln w="12700">
            <a:solidFill>
              <a:srgbClr val="D97A14"/>
            </a:solidFill>
            <a:prstDash val="solid"/>
          </a:ln>
        </p:spPr>
      </p:sp>
      <p:sp>
        <p:nvSpPr>
          <p:cNvPr id="3" name="Text 1"/>
          <p:cNvSpPr txBox="1"/>
          <p:nvPr/>
        </p:nvSpPr>
        <p:spPr>
          <a:xfrm>
            <a:off x="457200" y="347472"/>
            <a:ext cx="56692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4" name="Text 2"/>
          <p:cNvSpPr txBox="1"/>
          <p:nvPr/>
        </p:nvSpPr>
        <p:spPr>
          <a:xfrm>
            <a:off x="1143000" y="237744"/>
            <a:ext cx="7543800" cy="566928"/>
          </a:xfrm>
          <a:prstGeom prst="rect">
            <a:avLst/>
          </a:prstGeom>
          <a:noFill/>
          <a:ln/>
        </p:spPr>
        <p:txBody>
          <a:bodyPr wrap="square" lIns="0" tIns="0" rIns="0" bIns="0" rtlCol="0" anchor="ctr"/>
          <a:lstStyle/>
          <a:p>
            <a:pPr indent="0" marL="0">
              <a:buNone/>
            </a:pPr>
            <a:r>
              <a:rPr lang="en-US" sz="2500" b="1" dirty="0">
                <a:solidFill>
                  <a:srgbClr val="2B2622"/>
                </a:solidFill>
                <a:latin typeface="Cambria" pitchFamily="34" charset="0"/>
                <a:ea typeface="Cambria" pitchFamily="34" charset="-122"/>
                <a:cs typeface="Cambria" pitchFamily="34" charset="-120"/>
              </a:rPr>
              <a:t>Segregated witness scripts (4 of 4)</a:t>
            </a:r>
            <a:endParaRPr lang="en-US" sz="2500" dirty="0"/>
          </a:p>
        </p:txBody>
      </p:sp>
      <p:sp>
        <p:nvSpPr>
          <p:cNvPr id="5" name="Text 3"/>
          <p:cNvSpPr txBox="1"/>
          <p:nvPr/>
        </p:nvSpPr>
        <p:spPr>
          <a:xfrm>
            <a:off x="1143000" y="786384"/>
            <a:ext cx="7543800" cy="310896"/>
          </a:xfrm>
          <a:prstGeom prst="rect">
            <a:avLst/>
          </a:prstGeom>
          <a:noFill/>
          <a:ln/>
        </p:spPr>
        <p:txBody>
          <a:bodyPr wrap="square" lIns="0" tIns="0" rIns="0" bIns="0" rtlCol="0" anchor="ctr"/>
          <a:lstStyle/>
          <a:p>
            <a:pPr indent="0" marL="0">
              <a:buNone/>
            </a:pPr>
            <a:r>
              <a:rPr lang="en-US" sz="1300" i="1" dirty="0">
                <a:solidFill>
                  <a:srgbClr val="6E655C"/>
                </a:solidFill>
                <a:latin typeface="Calibri" pitchFamily="34" charset="0"/>
                <a:ea typeface="Calibri" pitchFamily="34" charset="-122"/>
                <a:cs typeface="Calibri" pitchFamily="34" charset="-120"/>
              </a:rPr>
              <a:t>Each card: the meaning in a few words, then something you already know</a:t>
            </a:r>
            <a:endParaRPr lang="en-US" sz="1300" dirty="0"/>
          </a:p>
        </p:txBody>
      </p:sp>
      <p:sp>
        <p:nvSpPr>
          <p:cNvPr id="6" name="Shape 4"/>
          <p:cNvSpPr/>
          <p:nvPr/>
        </p:nvSpPr>
        <p:spPr>
          <a:xfrm>
            <a:off x="457200" y="1280160"/>
            <a:ext cx="4041648" cy="1161288"/>
          </a:xfrm>
          <a:prstGeom prst="roundRect">
            <a:avLst>
              <a:gd name="adj" fmla="val 6299"/>
            </a:avLst>
          </a:prstGeom>
          <a:solidFill>
            <a:srgbClr val="F2ECE1"/>
          </a:solidFill>
          <a:ln w="12700">
            <a:solidFill>
              <a:srgbClr val="DFD6C7"/>
            </a:solidFill>
            <a:prstDash val="solid"/>
          </a:ln>
        </p:spPr>
      </p:sp>
      <p:sp>
        <p:nvSpPr>
          <p:cNvPr id="7" name="Shape 5"/>
          <p:cNvSpPr/>
          <p:nvPr/>
        </p:nvSpPr>
        <p:spPr>
          <a:xfrm>
            <a:off x="475488" y="1408176"/>
            <a:ext cx="64008" cy="905256"/>
          </a:xfrm>
          <a:prstGeom prst="rect">
            <a:avLst/>
          </a:prstGeom>
          <a:solidFill>
            <a:srgbClr val="D97A14"/>
          </a:solidFill>
          <a:ln w="12700">
            <a:solidFill>
              <a:srgbClr val="D97A14"/>
            </a:solidFill>
            <a:prstDash val="solid"/>
          </a:ln>
        </p:spPr>
      </p:sp>
      <p:sp>
        <p:nvSpPr>
          <p:cNvPr id="8" name="Text 6"/>
          <p:cNvSpPr txBox="1"/>
          <p:nvPr/>
        </p:nvSpPr>
        <p:spPr>
          <a:xfrm>
            <a:off x="640080" y="1344168"/>
            <a:ext cx="3767328" cy="434340"/>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P2WSH</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The short name of pay to witness script hash.</a:t>
            </a:r>
            <a:endParaRPr lang="en-US" sz="1300" dirty="0"/>
          </a:p>
        </p:txBody>
      </p:sp>
      <p:sp>
        <p:nvSpPr>
          <p:cNvPr id="9" name="Text 7"/>
          <p:cNvSpPr txBox="1"/>
          <p:nvPr/>
        </p:nvSpPr>
        <p:spPr>
          <a:xfrm>
            <a:off x="640080" y="1805940"/>
            <a:ext cx="3767328" cy="214884"/>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an acronym on a name badge.</a:t>
            </a:r>
            <a:endParaRPr lang="en-US" sz="1150" dirty="0"/>
          </a:p>
        </p:txBody>
      </p:sp>
      <p:sp>
        <p:nvSpPr>
          <p:cNvPr id="10" name="Shape 8"/>
          <p:cNvSpPr/>
          <p:nvPr/>
        </p:nvSpPr>
        <p:spPr>
          <a:xfrm>
            <a:off x="4645152" y="1280160"/>
            <a:ext cx="4041648" cy="1161288"/>
          </a:xfrm>
          <a:prstGeom prst="roundRect">
            <a:avLst>
              <a:gd name="adj" fmla="val 6299"/>
            </a:avLst>
          </a:prstGeom>
          <a:solidFill>
            <a:srgbClr val="F2ECE1"/>
          </a:solidFill>
          <a:ln w="12700">
            <a:solidFill>
              <a:srgbClr val="DFD6C7"/>
            </a:solidFill>
            <a:prstDash val="solid"/>
          </a:ln>
        </p:spPr>
      </p:sp>
      <p:sp>
        <p:nvSpPr>
          <p:cNvPr id="11" name="Shape 9"/>
          <p:cNvSpPr/>
          <p:nvPr/>
        </p:nvSpPr>
        <p:spPr>
          <a:xfrm>
            <a:off x="4663440" y="1408176"/>
            <a:ext cx="64008" cy="905256"/>
          </a:xfrm>
          <a:prstGeom prst="rect">
            <a:avLst/>
          </a:prstGeom>
          <a:solidFill>
            <a:srgbClr val="D97A14"/>
          </a:solidFill>
          <a:ln w="12700">
            <a:solidFill>
              <a:srgbClr val="D97A14"/>
            </a:solidFill>
            <a:prstDash val="solid"/>
          </a:ln>
        </p:spPr>
      </p:sp>
      <p:sp>
        <p:nvSpPr>
          <p:cNvPr id="12" name="Text 10"/>
          <p:cNvSpPr txBox="1"/>
          <p:nvPr/>
        </p:nvSpPr>
        <p:spPr>
          <a:xfrm>
            <a:off x="4828032" y="1344168"/>
            <a:ext cx="3767328" cy="612648"/>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bech32</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The segwit address format, with a checksum that finds typos.</a:t>
            </a:r>
            <a:endParaRPr lang="en-US" sz="1300" dirty="0"/>
          </a:p>
        </p:txBody>
      </p:sp>
      <p:sp>
        <p:nvSpPr>
          <p:cNvPr id="13" name="Text 11"/>
          <p:cNvSpPr txBox="1"/>
          <p:nvPr/>
        </p:nvSpPr>
        <p:spPr>
          <a:xfrm>
            <a:off x="4828032" y="1984248"/>
            <a:ext cx="3767328" cy="393192"/>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a spelling checker built into the address.</a:t>
            </a:r>
            <a:endParaRPr lang="en-US" sz="1150" dirty="0"/>
          </a:p>
        </p:txBody>
      </p:sp>
      <p:sp>
        <p:nvSpPr>
          <p:cNvPr id="14" name="Shape 12"/>
          <p:cNvSpPr/>
          <p:nvPr/>
        </p:nvSpPr>
        <p:spPr>
          <a:xfrm>
            <a:off x="457200" y="2569464"/>
            <a:ext cx="4041648" cy="1161288"/>
          </a:xfrm>
          <a:prstGeom prst="roundRect">
            <a:avLst>
              <a:gd name="adj" fmla="val 6299"/>
            </a:avLst>
          </a:prstGeom>
          <a:solidFill>
            <a:srgbClr val="F2ECE1"/>
          </a:solidFill>
          <a:ln w="12700">
            <a:solidFill>
              <a:srgbClr val="DFD6C7"/>
            </a:solidFill>
            <a:prstDash val="solid"/>
          </a:ln>
        </p:spPr>
      </p:sp>
      <p:sp>
        <p:nvSpPr>
          <p:cNvPr id="15" name="Shape 13"/>
          <p:cNvSpPr/>
          <p:nvPr/>
        </p:nvSpPr>
        <p:spPr>
          <a:xfrm>
            <a:off x="475488" y="2697480"/>
            <a:ext cx="64008" cy="905256"/>
          </a:xfrm>
          <a:prstGeom prst="rect">
            <a:avLst/>
          </a:prstGeom>
          <a:solidFill>
            <a:srgbClr val="D97A14"/>
          </a:solidFill>
          <a:ln w="12700">
            <a:solidFill>
              <a:srgbClr val="D97A14"/>
            </a:solidFill>
            <a:prstDash val="solid"/>
          </a:ln>
        </p:spPr>
      </p:sp>
      <p:sp>
        <p:nvSpPr>
          <p:cNvPr id="16" name="Text 14"/>
          <p:cNvSpPr txBox="1"/>
          <p:nvPr/>
        </p:nvSpPr>
        <p:spPr>
          <a:xfrm>
            <a:off x="640080" y="2633472"/>
            <a:ext cx="3767328" cy="612648"/>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nested segregated witness</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Segwit hidden inside the older script hash format.</a:t>
            </a:r>
            <a:endParaRPr lang="en-US" sz="1300" dirty="0"/>
          </a:p>
        </p:txBody>
      </p:sp>
      <p:sp>
        <p:nvSpPr>
          <p:cNvPr id="17" name="Text 15"/>
          <p:cNvSpPr txBox="1"/>
          <p:nvPr/>
        </p:nvSpPr>
        <p:spPr>
          <a:xfrm>
            <a:off x="640080" y="3273552"/>
            <a:ext cx="3767328" cy="214884"/>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a modern phone in an old phone case.</a:t>
            </a:r>
            <a:endParaRPr lang="en-US" sz="1150" dirty="0"/>
          </a:p>
        </p:txBody>
      </p:sp>
      <p:sp>
        <p:nvSpPr>
          <p:cNvPr id="18" name="Shape 16"/>
          <p:cNvSpPr/>
          <p:nvPr/>
        </p:nvSpPr>
        <p:spPr>
          <a:xfrm>
            <a:off x="4645152" y="2569464"/>
            <a:ext cx="4041648" cy="1161288"/>
          </a:xfrm>
          <a:prstGeom prst="roundRect">
            <a:avLst>
              <a:gd name="adj" fmla="val 6299"/>
            </a:avLst>
          </a:prstGeom>
          <a:solidFill>
            <a:srgbClr val="F2ECE1"/>
          </a:solidFill>
          <a:ln w="12700">
            <a:solidFill>
              <a:srgbClr val="DFD6C7"/>
            </a:solidFill>
            <a:prstDash val="solid"/>
          </a:ln>
        </p:spPr>
      </p:sp>
      <p:sp>
        <p:nvSpPr>
          <p:cNvPr id="19" name="Shape 17"/>
          <p:cNvSpPr/>
          <p:nvPr/>
        </p:nvSpPr>
        <p:spPr>
          <a:xfrm>
            <a:off x="4663440" y="2697480"/>
            <a:ext cx="64008" cy="905256"/>
          </a:xfrm>
          <a:prstGeom prst="rect">
            <a:avLst/>
          </a:prstGeom>
          <a:solidFill>
            <a:srgbClr val="D97A14"/>
          </a:solidFill>
          <a:ln w="12700">
            <a:solidFill>
              <a:srgbClr val="D97A14"/>
            </a:solidFill>
            <a:prstDash val="solid"/>
          </a:ln>
        </p:spPr>
      </p:sp>
      <p:sp>
        <p:nvSpPr>
          <p:cNvPr id="20" name="Text 18"/>
          <p:cNvSpPr txBox="1"/>
          <p:nvPr/>
        </p:nvSpPr>
        <p:spPr>
          <a:xfrm>
            <a:off x="4828032" y="2633472"/>
            <a:ext cx="3767328" cy="434340"/>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soft fork</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A rule change that old nodes still accept.</a:t>
            </a:r>
            <a:endParaRPr lang="en-US" sz="1300" dirty="0"/>
          </a:p>
        </p:txBody>
      </p:sp>
      <p:sp>
        <p:nvSpPr>
          <p:cNvPr id="21" name="Text 19"/>
          <p:cNvSpPr txBox="1"/>
          <p:nvPr/>
        </p:nvSpPr>
        <p:spPr>
          <a:xfrm>
            <a:off x="4828032" y="3095244"/>
            <a:ext cx="3767328" cy="393192"/>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a stricter speed limit that old cars can still obey.</a:t>
            </a:r>
            <a:endParaRPr lang="en-US" sz="1150" dirty="0"/>
          </a:p>
        </p:txBody>
      </p:sp>
      <p:sp>
        <p:nvSpPr>
          <p:cNvPr id="22" name="Shape 20"/>
          <p:cNvSpPr/>
          <p:nvPr/>
        </p:nvSpPr>
        <p:spPr>
          <a:xfrm>
            <a:off x="457200" y="4636008"/>
            <a:ext cx="91440" cy="310896"/>
          </a:xfrm>
          <a:prstGeom prst="rect">
            <a:avLst/>
          </a:prstGeom>
          <a:solidFill>
            <a:srgbClr val="D97A14"/>
          </a:solidFill>
          <a:ln w="12700">
            <a:solidFill>
              <a:srgbClr val="D97A14"/>
            </a:solidFill>
            <a:prstDash val="solid"/>
          </a:ln>
        </p:spPr>
      </p:sp>
      <p:sp>
        <p:nvSpPr>
          <p:cNvPr id="23" name="Text 21"/>
          <p:cNvSpPr txBox="1"/>
          <p:nvPr/>
        </p:nvSpPr>
        <p:spPr>
          <a:xfrm>
            <a:off x="658368" y="4599432"/>
            <a:ext cx="6949440" cy="384048"/>
          </a:xfrm>
          <a:prstGeom prst="rect">
            <a:avLst/>
          </a:prstGeom>
          <a:noFill/>
          <a:ln/>
        </p:spPr>
        <p:txBody>
          <a:bodyPr wrap="square" lIns="0" tIns="0" rIns="0" bIns="0" rtlCol="0" anchor="ctr"/>
          <a:lstStyle/>
          <a:p>
            <a:pPr indent="0" marL="0">
              <a:buNone/>
            </a:pPr>
            <a:r>
              <a:rPr lang="en-US" sz="1350" b="1" i="1" dirty="0">
                <a:solidFill>
                  <a:srgbClr val="2B2622"/>
                </a:solidFill>
                <a:latin typeface="Cambria" pitchFamily="34" charset="0"/>
                <a:ea typeface="Cambria" pitchFamily="34" charset="-122"/>
                <a:cs typeface="Cambria" pitchFamily="34" charset="-120"/>
              </a:rPr>
              <a:t>Say each idea twice: once as the meaning, once as the everyday comparison</a:t>
            </a:r>
            <a:endParaRPr lang="en-US" sz="1350" dirty="0"/>
          </a:p>
        </p:txBody>
      </p:sp>
      <p:sp>
        <p:nvSpPr>
          <p:cNvPr id="24" name="Text 22"/>
          <p:cNvSpPr txBox="1"/>
          <p:nvPr/>
        </p:nvSpPr>
        <p:spPr>
          <a:xfrm>
            <a:off x="7863840" y="4645152"/>
            <a:ext cx="868680" cy="310896"/>
          </a:xfrm>
          <a:prstGeom prst="rect">
            <a:avLst/>
          </a:prstGeom>
          <a:noFill/>
          <a:ln/>
        </p:spPr>
        <p:txBody>
          <a:bodyPr wrap="square" lIns="0" tIns="0" rIns="0" bIns="0" rtlCol="0" anchor="ctr"/>
          <a:lstStyle/>
          <a:p>
            <a:pPr algn="r" indent="0" marL="0">
              <a:buNone/>
            </a:pPr>
            <a:r>
              <a:rPr lang="en-US" sz="1100" dirty="0">
                <a:solidFill>
                  <a:srgbClr val="6E655C"/>
                </a:solidFill>
                <a:latin typeface="Calibri" pitchFamily="34" charset="0"/>
                <a:ea typeface="Calibri" pitchFamily="34" charset="-122"/>
                <a:cs typeface="Calibri" pitchFamily="34" charset="-120"/>
              </a:rPr>
              <a:t>43 / 61</a:t>
            </a:r>
            <a:endParaRPr lang="en-US" sz="11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AF6EF"/>
        </a:solidFill>
      </p:bgPr>
    </p:bg>
    <p:spTree>
      <p:nvGrpSpPr>
        <p:cNvPr id="1" name=""/>
        <p:cNvGrpSpPr/>
        <p:nvPr/>
      </p:nvGrpSpPr>
      <p:grpSpPr>
        <a:xfrm>
          <a:off x="0" y="0"/>
          <a:ext cx="0" cy="0"/>
          <a:chOff x="0" y="0"/>
          <a:chExt cx="0" cy="0"/>
        </a:xfrm>
      </p:grpSpPr>
      <p:sp>
        <p:nvSpPr>
          <p:cNvPr id="2" name="Shape 0"/>
          <p:cNvSpPr/>
          <p:nvPr/>
        </p:nvSpPr>
        <p:spPr>
          <a:xfrm>
            <a:off x="457200" y="347472"/>
            <a:ext cx="566928" cy="384048"/>
          </a:xfrm>
          <a:prstGeom prst="roundRect">
            <a:avLst>
              <a:gd name="adj" fmla="val 19048"/>
            </a:avLst>
          </a:prstGeom>
          <a:solidFill>
            <a:srgbClr val="D97A14"/>
          </a:solidFill>
          <a:ln w="12700">
            <a:solidFill>
              <a:srgbClr val="D97A14"/>
            </a:solidFill>
            <a:prstDash val="solid"/>
          </a:ln>
        </p:spPr>
      </p:sp>
      <p:sp>
        <p:nvSpPr>
          <p:cNvPr id="3" name="Text 1"/>
          <p:cNvSpPr txBox="1"/>
          <p:nvPr/>
        </p:nvSpPr>
        <p:spPr>
          <a:xfrm>
            <a:off x="457200" y="347472"/>
            <a:ext cx="56692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4" name="Text 2"/>
          <p:cNvSpPr txBox="1"/>
          <p:nvPr/>
        </p:nvSpPr>
        <p:spPr>
          <a:xfrm>
            <a:off x="1143000" y="237744"/>
            <a:ext cx="7543800" cy="566928"/>
          </a:xfrm>
          <a:prstGeom prst="rect">
            <a:avLst/>
          </a:prstGeom>
          <a:noFill/>
          <a:ln/>
        </p:spPr>
        <p:txBody>
          <a:bodyPr wrap="square" lIns="0" tIns="0" rIns="0" bIns="0" rtlCol="0" anchor="ctr"/>
          <a:lstStyle/>
          <a:p>
            <a:pPr indent="0" marL="0">
              <a:buNone/>
            </a:pPr>
            <a:r>
              <a:rPr lang="en-US" sz="2800" b="1" dirty="0">
                <a:solidFill>
                  <a:srgbClr val="2B2622"/>
                </a:solidFill>
                <a:latin typeface="Cambria" pitchFamily="34" charset="0"/>
                <a:ea typeface="Cambria" pitchFamily="34" charset="-122"/>
                <a:cs typeface="Cambria" pitchFamily="34" charset="-120"/>
              </a:rPr>
              <a:t>Hard fork or soft fork?</a:t>
            </a:r>
            <a:endParaRPr lang="en-US" sz="2800" dirty="0"/>
          </a:p>
        </p:txBody>
      </p:sp>
      <p:sp>
        <p:nvSpPr>
          <p:cNvPr id="5" name="Text 3"/>
          <p:cNvSpPr txBox="1"/>
          <p:nvPr/>
        </p:nvSpPr>
        <p:spPr>
          <a:xfrm>
            <a:off x="1143000" y="786384"/>
            <a:ext cx="7543800" cy="310896"/>
          </a:xfrm>
          <a:prstGeom prst="rect">
            <a:avLst/>
          </a:prstGeom>
          <a:noFill/>
          <a:ln/>
        </p:spPr>
        <p:txBody>
          <a:bodyPr wrap="square" lIns="0" tIns="0" rIns="0" bIns="0" rtlCol="0" anchor="ctr"/>
          <a:lstStyle/>
          <a:p>
            <a:pPr indent="0" marL="0">
              <a:buNone/>
            </a:pPr>
            <a:r>
              <a:rPr lang="en-US" sz="1300" i="1" dirty="0">
                <a:solidFill>
                  <a:srgbClr val="6E655C"/>
                </a:solidFill>
                <a:latin typeface="Calibri" pitchFamily="34" charset="0"/>
                <a:ea typeface="Calibri" pitchFamily="34" charset="-122"/>
                <a:cs typeface="Calibri" pitchFamily="34" charset="-120"/>
              </a:rPr>
              <a:t>Why segregated witness could be activated without splitting the network</a:t>
            </a:r>
            <a:endParaRPr lang="en-US" sz="1300" dirty="0"/>
          </a:p>
        </p:txBody>
      </p:sp>
      <p:sp>
        <p:nvSpPr>
          <p:cNvPr id="6" name="Shape 4"/>
          <p:cNvSpPr/>
          <p:nvPr/>
        </p:nvSpPr>
        <p:spPr>
          <a:xfrm>
            <a:off x="457200" y="1325880"/>
            <a:ext cx="3931920" cy="3108960"/>
          </a:xfrm>
          <a:prstGeom prst="roundRect">
            <a:avLst>
              <a:gd name="adj" fmla="val 2941"/>
            </a:avLst>
          </a:prstGeom>
          <a:solidFill>
            <a:srgbClr val="F2ECE1"/>
          </a:solidFill>
          <a:ln w="15875">
            <a:solidFill>
              <a:srgbClr val="D97A14"/>
            </a:solidFill>
            <a:prstDash val="solid"/>
          </a:ln>
        </p:spPr>
      </p:sp>
      <p:sp>
        <p:nvSpPr>
          <p:cNvPr id="7" name="Text 5"/>
          <p:cNvSpPr txBox="1"/>
          <p:nvPr/>
        </p:nvSpPr>
        <p:spPr>
          <a:xfrm>
            <a:off x="640080" y="1435608"/>
            <a:ext cx="3566160" cy="365760"/>
          </a:xfrm>
          <a:prstGeom prst="rect">
            <a:avLst/>
          </a:prstGeom>
          <a:noFill/>
          <a:ln/>
        </p:spPr>
        <p:txBody>
          <a:bodyPr wrap="square" lIns="0" tIns="0" rIns="0" bIns="0" rtlCol="0" anchor="ctr"/>
          <a:lstStyle/>
          <a:p>
            <a:pPr indent="0" marL="0">
              <a:buNone/>
            </a:pPr>
            <a:r>
              <a:rPr lang="en-US" sz="1500" b="1" dirty="0">
                <a:solidFill>
                  <a:srgbClr val="D97A14"/>
                </a:solidFill>
                <a:latin typeface="Cambria" pitchFamily="34" charset="0"/>
                <a:ea typeface="Cambria" pitchFamily="34" charset="-122"/>
                <a:cs typeface="Cambria" pitchFamily="34" charset="-120"/>
              </a:rPr>
              <a:t>A hard fork loosens the rules</a:t>
            </a:r>
            <a:endParaRPr lang="en-US" sz="1500" dirty="0"/>
          </a:p>
        </p:txBody>
      </p:sp>
      <p:sp>
        <p:nvSpPr>
          <p:cNvPr id="8" name="Text 6"/>
          <p:cNvSpPr txBox="1"/>
          <p:nvPr/>
        </p:nvSpPr>
        <p:spPr>
          <a:xfrm>
            <a:off x="640080" y="1856232"/>
            <a:ext cx="3566160" cy="2450592"/>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rgbClr val="2B2622"/>
                </a:solidFill>
                <a:latin typeface="Calibri" pitchFamily="34" charset="0"/>
                <a:ea typeface="Calibri" pitchFamily="34" charset="-122"/>
                <a:cs typeface="Calibri" pitchFamily="34" charset="-120"/>
              </a:rPr>
              <a:t>Blocks that old nodes reject become valid.</a:t>
            </a:r>
            <a:endParaRPr lang="en-US" sz="1250" dirty="0"/>
          </a:p>
          <a:p>
            <a:pPr marL="342900" indent="-342900">
              <a:spcAft>
                <a:spcPts val="500"/>
              </a:spcAft>
              <a:buSzPct val="100000"/>
              <a:buChar char="•"/>
            </a:pPr>
            <a:r>
              <a:rPr lang="en-US" sz="1250" dirty="0">
                <a:solidFill>
                  <a:srgbClr val="2B2622"/>
                </a:solidFill>
                <a:latin typeface="Calibri" pitchFamily="34" charset="0"/>
                <a:ea typeface="Calibri" pitchFamily="34" charset="-122"/>
                <a:cs typeface="Calibri" pitchFamily="34" charset="-120"/>
              </a:rPr>
              <a:t>Every node must upgrade, or the chain splits.</a:t>
            </a:r>
            <a:endParaRPr lang="en-US" sz="1250" dirty="0"/>
          </a:p>
          <a:p>
            <a:pPr marL="342900" indent="-342900">
              <a:spcAft>
                <a:spcPts val="500"/>
              </a:spcAft>
              <a:buSzPct val="100000"/>
              <a:buChar char="•"/>
            </a:pPr>
            <a:r>
              <a:rPr lang="en-US" sz="1250" dirty="0">
                <a:solidFill>
                  <a:srgbClr val="2B2622"/>
                </a:solidFill>
                <a:latin typeface="Calibri" pitchFamily="34" charset="0"/>
                <a:ea typeface="Calibri" pitchFamily="34" charset="-122"/>
                <a:cs typeface="Calibri" pitchFamily="34" charset="-120"/>
              </a:rPr>
              <a:t>Like a new road standard that old cars cannot use.</a:t>
            </a:r>
            <a:endParaRPr lang="en-US" sz="1250" dirty="0"/>
          </a:p>
        </p:txBody>
      </p:sp>
      <p:sp>
        <p:nvSpPr>
          <p:cNvPr id="9" name="Shape 7"/>
          <p:cNvSpPr/>
          <p:nvPr/>
        </p:nvSpPr>
        <p:spPr>
          <a:xfrm>
            <a:off x="4754880" y="1325880"/>
            <a:ext cx="3931920" cy="3108960"/>
          </a:xfrm>
          <a:prstGeom prst="roundRect">
            <a:avLst>
              <a:gd name="adj" fmla="val 2941"/>
            </a:avLst>
          </a:prstGeom>
          <a:solidFill>
            <a:srgbClr val="F2ECE1"/>
          </a:solidFill>
          <a:ln w="15875">
            <a:solidFill>
              <a:srgbClr val="2F6D62"/>
            </a:solidFill>
            <a:prstDash val="solid"/>
          </a:ln>
        </p:spPr>
      </p:sp>
      <p:sp>
        <p:nvSpPr>
          <p:cNvPr id="10" name="Text 8"/>
          <p:cNvSpPr txBox="1"/>
          <p:nvPr/>
        </p:nvSpPr>
        <p:spPr>
          <a:xfrm>
            <a:off x="4937760" y="1435608"/>
            <a:ext cx="3566160" cy="365760"/>
          </a:xfrm>
          <a:prstGeom prst="rect">
            <a:avLst/>
          </a:prstGeom>
          <a:noFill/>
          <a:ln/>
        </p:spPr>
        <p:txBody>
          <a:bodyPr wrap="square" lIns="0" tIns="0" rIns="0" bIns="0" rtlCol="0" anchor="ctr"/>
          <a:lstStyle/>
          <a:p>
            <a:pPr indent="0" marL="0">
              <a:buNone/>
            </a:pPr>
            <a:r>
              <a:rPr lang="en-US" sz="1500" b="1" dirty="0">
                <a:solidFill>
                  <a:srgbClr val="2F6D62"/>
                </a:solidFill>
                <a:latin typeface="Cambria" pitchFamily="34" charset="0"/>
                <a:ea typeface="Cambria" pitchFamily="34" charset="-122"/>
                <a:cs typeface="Cambria" pitchFamily="34" charset="-120"/>
              </a:rPr>
              <a:t>A soft fork tightens the rules</a:t>
            </a:r>
            <a:endParaRPr lang="en-US" sz="1500" dirty="0"/>
          </a:p>
        </p:txBody>
      </p:sp>
      <p:sp>
        <p:nvSpPr>
          <p:cNvPr id="11" name="Text 9"/>
          <p:cNvSpPr txBox="1"/>
          <p:nvPr/>
        </p:nvSpPr>
        <p:spPr>
          <a:xfrm>
            <a:off x="4937760" y="1856232"/>
            <a:ext cx="3566160" cy="2450592"/>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rgbClr val="2B2622"/>
                </a:solidFill>
                <a:latin typeface="Calibri" pitchFamily="34" charset="0"/>
                <a:ea typeface="Calibri" pitchFamily="34" charset="-122"/>
                <a:cs typeface="Calibri" pitchFamily="34" charset="-120"/>
              </a:rPr>
              <a:t>New nodes reject more; they accept nothing new.</a:t>
            </a:r>
            <a:endParaRPr lang="en-US" sz="1250" dirty="0"/>
          </a:p>
          <a:p>
            <a:pPr marL="342900" indent="-342900">
              <a:spcAft>
                <a:spcPts val="500"/>
              </a:spcAft>
              <a:buSzPct val="100000"/>
              <a:buChar char="•"/>
            </a:pPr>
            <a:r>
              <a:rPr lang="en-US" sz="1250" dirty="0">
                <a:solidFill>
                  <a:srgbClr val="2B2622"/>
                </a:solidFill>
                <a:latin typeface="Calibri" pitchFamily="34" charset="0"/>
                <a:ea typeface="Calibri" pitchFamily="34" charset="-122"/>
                <a:cs typeface="Calibri" pitchFamily="34" charset="-120"/>
              </a:rPr>
              <a:t>Old nodes still follow the chain and accept its blocks.</a:t>
            </a:r>
            <a:endParaRPr lang="en-US" sz="1250" dirty="0"/>
          </a:p>
          <a:p>
            <a:pPr marL="342900" indent="-342900">
              <a:spcAft>
                <a:spcPts val="500"/>
              </a:spcAft>
              <a:buSzPct val="100000"/>
              <a:buChar char="•"/>
            </a:pPr>
            <a:r>
              <a:rPr lang="en-US" sz="1250" dirty="0">
                <a:solidFill>
                  <a:srgbClr val="2B2622"/>
                </a:solidFill>
                <a:latin typeface="Calibri" pitchFamily="34" charset="0"/>
                <a:ea typeface="Calibri" pitchFamily="34" charset="-122"/>
                <a:cs typeface="Calibri" pitchFamily="34" charset="-120"/>
              </a:rPr>
              <a:t>Like a stricter speed limit that old cars can still obey.</a:t>
            </a:r>
            <a:endParaRPr lang="en-US" sz="1250" dirty="0"/>
          </a:p>
        </p:txBody>
      </p:sp>
      <p:sp>
        <p:nvSpPr>
          <p:cNvPr id="12" name="Shape 10"/>
          <p:cNvSpPr/>
          <p:nvPr/>
        </p:nvSpPr>
        <p:spPr>
          <a:xfrm>
            <a:off x="457200" y="4636008"/>
            <a:ext cx="91440" cy="310896"/>
          </a:xfrm>
          <a:prstGeom prst="rect">
            <a:avLst/>
          </a:prstGeom>
          <a:solidFill>
            <a:srgbClr val="D97A14"/>
          </a:solidFill>
          <a:ln w="12700">
            <a:solidFill>
              <a:srgbClr val="D97A14"/>
            </a:solidFill>
            <a:prstDash val="solid"/>
          </a:ln>
        </p:spPr>
      </p:sp>
      <p:sp>
        <p:nvSpPr>
          <p:cNvPr id="13" name="Text 11"/>
          <p:cNvSpPr txBox="1"/>
          <p:nvPr/>
        </p:nvSpPr>
        <p:spPr>
          <a:xfrm>
            <a:off x="658368" y="4599432"/>
            <a:ext cx="6949440" cy="384048"/>
          </a:xfrm>
          <a:prstGeom prst="rect">
            <a:avLst/>
          </a:prstGeom>
          <a:noFill/>
          <a:ln/>
        </p:spPr>
        <p:txBody>
          <a:bodyPr wrap="square" lIns="0" tIns="0" rIns="0" bIns="0" rtlCol="0" anchor="ctr"/>
          <a:lstStyle/>
          <a:p>
            <a:pPr indent="0" marL="0">
              <a:buNone/>
            </a:pPr>
            <a:r>
              <a:rPr lang="en-US" sz="1350" b="1" i="1" dirty="0">
                <a:solidFill>
                  <a:srgbClr val="2B2622"/>
                </a:solidFill>
                <a:latin typeface="Cambria" pitchFamily="34" charset="0"/>
                <a:ea typeface="Cambria" pitchFamily="34" charset="-122"/>
                <a:cs typeface="Cambria" pitchFamily="34" charset="-120"/>
              </a:rPr>
              <a:t>A soft fork can only restrict; old nodes keep accepting the blocks</a:t>
            </a:r>
            <a:endParaRPr lang="en-US" sz="1350" dirty="0"/>
          </a:p>
        </p:txBody>
      </p:sp>
      <p:sp>
        <p:nvSpPr>
          <p:cNvPr id="14" name="Text 12"/>
          <p:cNvSpPr txBox="1"/>
          <p:nvPr/>
        </p:nvSpPr>
        <p:spPr>
          <a:xfrm>
            <a:off x="7863840" y="4645152"/>
            <a:ext cx="868680" cy="310896"/>
          </a:xfrm>
          <a:prstGeom prst="rect">
            <a:avLst/>
          </a:prstGeom>
          <a:noFill/>
          <a:ln/>
        </p:spPr>
        <p:txBody>
          <a:bodyPr wrap="square" lIns="0" tIns="0" rIns="0" bIns="0" rtlCol="0" anchor="ctr"/>
          <a:lstStyle/>
          <a:p>
            <a:pPr algn="r" indent="0" marL="0">
              <a:buNone/>
            </a:pPr>
            <a:r>
              <a:rPr lang="en-US" sz="1100" dirty="0">
                <a:solidFill>
                  <a:srgbClr val="6E655C"/>
                </a:solidFill>
                <a:latin typeface="Calibri" pitchFamily="34" charset="0"/>
                <a:ea typeface="Calibri" pitchFamily="34" charset="-122"/>
                <a:cs typeface="Calibri" pitchFamily="34" charset="-120"/>
              </a:rPr>
              <a:t>44 / 61</a:t>
            </a:r>
            <a:endParaRPr lang="en-US" sz="11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AF6EF"/>
        </a:solidFill>
      </p:bgPr>
    </p:bg>
    <p:spTree>
      <p:nvGrpSpPr>
        <p:cNvPr id="1" name=""/>
        <p:cNvGrpSpPr/>
        <p:nvPr/>
      </p:nvGrpSpPr>
      <p:grpSpPr>
        <a:xfrm>
          <a:off x="0" y="0"/>
          <a:ext cx="0" cy="0"/>
          <a:chOff x="0" y="0"/>
          <a:chExt cx="0" cy="0"/>
        </a:xfrm>
      </p:grpSpPr>
      <p:sp>
        <p:nvSpPr>
          <p:cNvPr id="2" name="Shape 0"/>
          <p:cNvSpPr/>
          <p:nvPr/>
        </p:nvSpPr>
        <p:spPr>
          <a:xfrm>
            <a:off x="0" y="0"/>
            <a:ext cx="9144000" cy="219456"/>
          </a:xfrm>
          <a:prstGeom prst="rect">
            <a:avLst/>
          </a:prstGeom>
          <a:solidFill>
            <a:srgbClr val="D97A14"/>
          </a:solidFill>
          <a:ln w="12700">
            <a:solidFill>
              <a:srgbClr val="D97A14"/>
            </a:solidFill>
            <a:prstDash val="solid"/>
          </a:ln>
        </p:spPr>
      </p:sp>
      <p:sp>
        <p:nvSpPr>
          <p:cNvPr id="3" name="Shape 1"/>
          <p:cNvSpPr/>
          <p:nvPr/>
        </p:nvSpPr>
        <p:spPr>
          <a:xfrm>
            <a:off x="457200" y="960120"/>
            <a:ext cx="128016" cy="1417320"/>
          </a:xfrm>
          <a:prstGeom prst="rect">
            <a:avLst/>
          </a:prstGeom>
          <a:solidFill>
            <a:srgbClr val="D97A14"/>
          </a:solidFill>
          <a:ln w="12700">
            <a:solidFill>
              <a:srgbClr val="D97A14"/>
            </a:solidFill>
            <a:prstDash val="solid"/>
          </a:ln>
        </p:spPr>
      </p:sp>
      <p:sp>
        <p:nvSpPr>
          <p:cNvPr id="4" name="Text 2"/>
          <p:cNvSpPr txBox="1"/>
          <p:nvPr/>
        </p:nvSpPr>
        <p:spPr>
          <a:xfrm>
            <a:off x="777240" y="932688"/>
            <a:ext cx="7863840" cy="658368"/>
          </a:xfrm>
          <a:prstGeom prst="rect">
            <a:avLst/>
          </a:prstGeom>
          <a:noFill/>
          <a:ln/>
        </p:spPr>
        <p:txBody>
          <a:bodyPr wrap="square" lIns="0" tIns="0" rIns="0" bIns="0" rtlCol="0" anchor="ctr"/>
          <a:lstStyle/>
          <a:p>
            <a:pPr indent="0" marL="0">
              <a:buNone/>
            </a:pPr>
            <a:r>
              <a:rPr lang="en-US" sz="3200" b="1" dirty="0">
                <a:solidFill>
                  <a:srgbClr val="2B2622"/>
                </a:solidFill>
                <a:latin typeface="Cambria" pitchFamily="34" charset="0"/>
                <a:ea typeface="Cambria" pitchFamily="34" charset="-122"/>
                <a:cs typeface="Cambria" pitchFamily="34" charset="-120"/>
              </a:rPr>
              <a:t>Script trees and key tweaks</a:t>
            </a:r>
            <a:endParaRPr lang="en-US" sz="3200" dirty="0"/>
          </a:p>
        </p:txBody>
      </p:sp>
      <p:sp>
        <p:nvSpPr>
          <p:cNvPr id="5" name="Text 3"/>
          <p:cNvSpPr txBox="1"/>
          <p:nvPr/>
        </p:nvSpPr>
        <p:spPr>
          <a:xfrm>
            <a:off x="777240" y="1645920"/>
            <a:ext cx="7863840" cy="384048"/>
          </a:xfrm>
          <a:prstGeom prst="rect">
            <a:avLst/>
          </a:prstGeom>
          <a:noFill/>
          <a:ln/>
        </p:spPr>
        <p:txBody>
          <a:bodyPr wrap="square" lIns="0" tIns="0" rIns="0" bIns="0" rtlCol="0" anchor="t"/>
          <a:lstStyle/>
          <a:p>
            <a:pPr indent="0" marL="0">
              <a:buNone/>
            </a:pPr>
            <a:r>
              <a:rPr lang="en-US" sz="1500" i="1" dirty="0">
                <a:solidFill>
                  <a:srgbClr val="2F6D62"/>
                </a:solidFill>
                <a:latin typeface="Calibri" pitchFamily="34" charset="0"/>
                <a:ea typeface="Calibri" pitchFamily="34" charset="-122"/>
                <a:cs typeface="Calibri" pitchFamily="34" charset="-120"/>
              </a:rPr>
              <a:t>A script tree is a menu of which only the ordered dish is shown.</a:t>
            </a:r>
            <a:endParaRPr lang="en-US" sz="1500" dirty="0"/>
          </a:p>
        </p:txBody>
      </p:sp>
      <p:sp>
        <p:nvSpPr>
          <p:cNvPr id="6" name="Shape 4"/>
          <p:cNvSpPr/>
          <p:nvPr/>
        </p:nvSpPr>
        <p:spPr>
          <a:xfrm>
            <a:off x="777240" y="2103120"/>
            <a:ext cx="3840480" cy="310896"/>
          </a:xfrm>
          <a:prstGeom prst="roundRect">
            <a:avLst>
              <a:gd name="adj" fmla="val 50000"/>
            </a:avLst>
          </a:prstGeom>
          <a:solidFill>
            <a:srgbClr val="D97A14"/>
          </a:solidFill>
          <a:ln w="12700">
            <a:solidFill>
              <a:srgbClr val="D97A14"/>
            </a:solidFill>
            <a:prstDash val="solid"/>
          </a:ln>
        </p:spPr>
      </p:sp>
      <p:sp>
        <p:nvSpPr>
          <p:cNvPr id="7" name="Text 5"/>
          <p:cNvSpPr txBox="1"/>
          <p:nvPr/>
        </p:nvSpPr>
        <p:spPr>
          <a:xfrm>
            <a:off x="850392" y="2103120"/>
            <a:ext cx="369417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Script trees</a:t>
            </a:r>
            <a:endParaRPr lang="en-US" sz="1200" dirty="0"/>
          </a:p>
        </p:txBody>
      </p:sp>
      <p:sp>
        <p:nvSpPr>
          <p:cNvPr id="8" name="Text 6"/>
          <p:cNvSpPr txBox="1"/>
          <p:nvPr/>
        </p:nvSpPr>
        <p:spPr>
          <a:xfrm>
            <a:off x="777240" y="2487168"/>
            <a:ext cx="3840480" cy="214884"/>
          </a:xfrm>
          <a:prstGeom prst="rect">
            <a:avLst/>
          </a:prstGeom>
          <a:noFill/>
          <a:ln/>
        </p:spPr>
        <p:txBody>
          <a:bodyPr wrap="square" lIns="0" tIns="0" rIns="0" bIns="0" rtlCol="0" anchor="t"/>
          <a:lstStyle/>
          <a:p>
            <a:pPr indent="0" marL="0">
              <a:buNone/>
            </a:pPr>
            <a:r>
              <a:rPr lang="en-US" sz="1150" dirty="0">
                <a:solidFill>
                  <a:srgbClr val="2B2622"/>
                </a:solidFill>
                <a:latin typeface="Calibri" pitchFamily="34" charset="0"/>
                <a:ea typeface="Calibri" pitchFamily="34" charset="-122"/>
                <a:cs typeface="Calibri" pitchFamily="34" charset="-120"/>
              </a:rPr>
              <a:t>Many spending rules hide behind one hash.</a:t>
            </a:r>
            <a:endParaRPr lang="en-US" sz="1150" dirty="0"/>
          </a:p>
        </p:txBody>
      </p:sp>
      <p:sp>
        <p:nvSpPr>
          <p:cNvPr id="9" name="Text 7"/>
          <p:cNvSpPr txBox="1"/>
          <p:nvPr/>
        </p:nvSpPr>
        <p:spPr>
          <a:xfrm>
            <a:off x="777240" y="2729484"/>
            <a:ext cx="3840480" cy="393192"/>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a menu where only the ordered dish is shown.</a:t>
            </a:r>
            <a:endParaRPr lang="en-US" sz="1150" dirty="0"/>
          </a:p>
        </p:txBody>
      </p:sp>
      <p:sp>
        <p:nvSpPr>
          <p:cNvPr id="10" name="Shape 8"/>
          <p:cNvSpPr/>
          <p:nvPr/>
        </p:nvSpPr>
        <p:spPr>
          <a:xfrm>
            <a:off x="4800600" y="2103120"/>
            <a:ext cx="3840480" cy="310896"/>
          </a:xfrm>
          <a:prstGeom prst="roundRect">
            <a:avLst>
              <a:gd name="adj" fmla="val 50000"/>
            </a:avLst>
          </a:prstGeom>
          <a:solidFill>
            <a:srgbClr val="D97A14"/>
          </a:solidFill>
          <a:ln w="12700">
            <a:solidFill>
              <a:srgbClr val="D97A14"/>
            </a:solidFill>
            <a:prstDash val="solid"/>
          </a:ln>
        </p:spPr>
      </p:sp>
      <p:sp>
        <p:nvSpPr>
          <p:cNvPr id="11" name="Text 9"/>
          <p:cNvSpPr txBox="1"/>
          <p:nvPr/>
        </p:nvSpPr>
        <p:spPr>
          <a:xfrm>
            <a:off x="4873752" y="2103120"/>
            <a:ext cx="369417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Key tweaks</a:t>
            </a:r>
            <a:endParaRPr lang="en-US" sz="1200" dirty="0"/>
          </a:p>
        </p:txBody>
      </p:sp>
      <p:sp>
        <p:nvSpPr>
          <p:cNvPr id="12" name="Text 10"/>
          <p:cNvSpPr txBox="1"/>
          <p:nvPr/>
        </p:nvSpPr>
        <p:spPr>
          <a:xfrm>
            <a:off x="4800600" y="2487168"/>
            <a:ext cx="3840480" cy="393192"/>
          </a:xfrm>
          <a:prstGeom prst="rect">
            <a:avLst/>
          </a:prstGeom>
          <a:noFill/>
          <a:ln/>
        </p:spPr>
        <p:txBody>
          <a:bodyPr wrap="square" lIns="0" tIns="0" rIns="0" bIns="0" rtlCol="0" anchor="t"/>
          <a:lstStyle/>
          <a:p>
            <a:pPr indent="0" marL="0">
              <a:buNone/>
            </a:pPr>
            <a:r>
              <a:rPr lang="en-US" sz="1150" dirty="0">
                <a:solidFill>
                  <a:srgbClr val="2B2622"/>
                </a:solidFill>
                <a:latin typeface="Calibri" pitchFamily="34" charset="0"/>
                <a:ea typeface="Calibri" pitchFamily="34" charset="-122"/>
                <a:cs typeface="Calibri" pitchFamily="34" charset="-120"/>
              </a:rPr>
              <a:t>A key is changed a little to commit to hidden data.</a:t>
            </a:r>
            <a:endParaRPr lang="en-US" sz="1150" dirty="0"/>
          </a:p>
        </p:txBody>
      </p:sp>
      <p:sp>
        <p:nvSpPr>
          <p:cNvPr id="13" name="Text 11"/>
          <p:cNvSpPr txBox="1"/>
          <p:nvPr/>
        </p:nvSpPr>
        <p:spPr>
          <a:xfrm>
            <a:off x="4800600" y="2907792"/>
            <a:ext cx="3840480" cy="393192"/>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an engraved key that carries a hidden code.</a:t>
            </a:r>
            <a:endParaRPr lang="en-US" sz="115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777240" y="3950208"/>
          <a:ext cx="7863840" cy="914400"/>
        </p:xfrm>
        <a:graphic>
          <a:graphicData uri="http://schemas.openxmlformats.org/drawingml/2006/table">
            <a:tbl>
              <a:tblPr/>
              <a:tblGrid>
                <a:gridCol w="874166"/>
                <a:gridCol w="874166"/>
                <a:gridCol w="874166"/>
                <a:gridCol w="874166"/>
                <a:gridCol w="874166"/>
                <a:gridCol w="874166"/>
                <a:gridCol w="874166"/>
                <a:gridCol w="874166"/>
                <a:gridCol w="874166"/>
              </a:tblGrid>
              <a:tr h="365760">
                <a:tc>
                  <a:txBody>
                    <a:bodyPr/>
                    <a:lstStyle/>
                    <a:p>
                      <a:pPr algn="ctr" indent="0" marL="0">
                        <a:buNone/>
                      </a:pPr>
                      <a:r>
                        <a:rPr lang="en-US" sz="1000" dirty="0">
                          <a:solidFill>
                            <a:srgbClr val="2B2622"/>
                          </a:solidFill>
                          <a:latin typeface="Calibri" pitchFamily="34" charset="0"/>
                          <a:ea typeface="Calibri" pitchFamily="34" charset="-122"/>
                          <a:cs typeface="Calibri" pitchFamily="34" charset="-120"/>
                        </a:rPr>
                        <a:t>Language</a:t>
                      </a:r>
                      <a:endParaRPr lang="en-US" sz="10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ECE1"/>
                    </a:solidFill>
                  </a:tcPr>
                </a:tc>
                <a:tc>
                  <a:txBody>
                    <a:bodyPr/>
                    <a:lstStyle/>
                    <a:p>
                      <a:pPr algn="ctr" indent="0" marL="0">
                        <a:buNone/>
                      </a:pPr>
                      <a:r>
                        <a:rPr lang="en-US" sz="1000" dirty="0">
                          <a:solidFill>
                            <a:srgbClr val="2B2622"/>
                          </a:solidFill>
                          <a:latin typeface="Calibri" pitchFamily="34" charset="0"/>
                          <a:ea typeface="Calibri" pitchFamily="34" charset="-122"/>
                          <a:cs typeface="Calibri" pitchFamily="34" charset="-120"/>
                        </a:rPr>
                        <a:t>Keys</a:t>
                      </a:r>
                      <a:endParaRPr lang="en-US" sz="10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ECE1"/>
                    </a:solidFill>
                  </a:tcPr>
                </a:tc>
                <a:tc>
                  <a:txBody>
                    <a:bodyPr/>
                    <a:lstStyle/>
                    <a:p>
                      <a:pPr algn="ctr" indent="0" marL="0">
                        <a:buNone/>
                      </a:pPr>
                      <a:r>
                        <a:rPr lang="en-US" sz="1000" dirty="0">
                          <a:solidFill>
                            <a:srgbClr val="2B2622"/>
                          </a:solidFill>
                          <a:latin typeface="Calibri" pitchFamily="34" charset="0"/>
                          <a:ea typeface="Calibri" pitchFamily="34" charset="-122"/>
                          <a:cs typeface="Calibri" pitchFamily="34" charset="-120"/>
                        </a:rPr>
                        <a:t>Multisig</a:t>
                      </a:r>
                      <a:endParaRPr lang="en-US" sz="10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ECE1"/>
                    </a:solidFill>
                  </a:tcPr>
                </a:tc>
                <a:tc>
                  <a:txBody>
                    <a:bodyPr/>
                    <a:lstStyle/>
                    <a:p>
                      <a:pPr algn="ctr" indent="0" marL="0">
                        <a:buNone/>
                      </a:pPr>
                      <a:r>
                        <a:rPr lang="en-US" sz="1000" dirty="0">
                          <a:solidFill>
                            <a:srgbClr val="2B2622"/>
                          </a:solidFill>
                          <a:latin typeface="Calibri" pitchFamily="34" charset="0"/>
                          <a:ea typeface="Calibri" pitchFamily="34" charset="-122"/>
                          <a:cs typeface="Calibri" pitchFamily="34" charset="-120"/>
                        </a:rPr>
                        <a:t>P2SH</a:t>
                      </a:r>
                      <a:endParaRPr lang="en-US" sz="10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ECE1"/>
                    </a:solidFill>
                  </a:tcPr>
                </a:tc>
                <a:tc>
                  <a:txBody>
                    <a:bodyPr/>
                    <a:lstStyle/>
                    <a:p>
                      <a:pPr algn="ctr" indent="0" marL="0">
                        <a:buNone/>
                      </a:pPr>
                      <a:r>
                        <a:rPr lang="en-US" sz="1000" dirty="0">
                          <a:solidFill>
                            <a:srgbClr val="2B2622"/>
                          </a:solidFill>
                          <a:latin typeface="Calibri" pitchFamily="34" charset="0"/>
                          <a:ea typeface="Calibri" pitchFamily="34" charset="-122"/>
                          <a:cs typeface="Calibri" pitchFamily="34" charset="-120"/>
                        </a:rPr>
                        <a:t>Time</a:t>
                      </a:r>
                      <a:endParaRPr lang="en-US" sz="10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ECE1"/>
                    </a:solidFill>
                  </a:tcPr>
                </a:tc>
                <a:tc>
                  <a:txBody>
                    <a:bodyPr/>
                    <a:lstStyle/>
                    <a:p>
                      <a:pPr algn="ctr" indent="0" marL="0">
                        <a:buNone/>
                      </a:pPr>
                      <a:r>
                        <a:rPr lang="en-US" sz="1000" dirty="0">
                          <a:solidFill>
                            <a:srgbClr val="2B2622"/>
                          </a:solidFill>
                          <a:latin typeface="Calibri" pitchFamily="34" charset="0"/>
                          <a:ea typeface="Calibri" pitchFamily="34" charset="-122"/>
                          <a:cs typeface="Calibri" pitchFamily="34" charset="-120"/>
                        </a:rPr>
                        <a:t>Flow</a:t>
                      </a:r>
                      <a:endParaRPr lang="en-US" sz="10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ECE1"/>
                    </a:solidFill>
                  </a:tcPr>
                </a:tc>
                <a:tc>
                  <a:txBody>
                    <a:bodyPr/>
                    <a:lstStyle/>
                    <a:p>
                      <a:pPr algn="ctr" indent="0" marL="0">
                        <a:buNone/>
                      </a:pPr>
                      <a:r>
                        <a:rPr lang="en-US" sz="1000" dirty="0">
                          <a:solidFill>
                            <a:srgbClr val="2B2622"/>
                          </a:solidFill>
                          <a:latin typeface="Calibri" pitchFamily="34" charset="0"/>
                          <a:ea typeface="Calibri" pitchFamily="34" charset="-122"/>
                          <a:cs typeface="Calibri" pitchFamily="34" charset="-120"/>
                        </a:rPr>
                        <a:t>Segwit</a:t>
                      </a:r>
                      <a:endParaRPr lang="en-US" sz="10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ECE1"/>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Trees</a:t>
                      </a:r>
                      <a:endParaRPr lang="en-US" sz="10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97A14"/>
                    </a:solidFill>
                  </a:tcPr>
                </a:tc>
                <a:tc>
                  <a:txBody>
                    <a:bodyPr/>
                    <a:lstStyle/>
                    <a:p>
                      <a:pPr algn="ctr" indent="0" marL="0">
                        <a:buNone/>
                      </a:pPr>
                      <a:r>
                        <a:rPr lang="en-US" sz="1000" dirty="0">
                          <a:solidFill>
                            <a:srgbClr val="2B2622"/>
                          </a:solidFill>
                          <a:latin typeface="Calibri" pitchFamily="34" charset="0"/>
                          <a:ea typeface="Calibri" pitchFamily="34" charset="-122"/>
                          <a:cs typeface="Calibri" pitchFamily="34" charset="-120"/>
                        </a:rPr>
                        <a:t>Taproot</a:t>
                      </a:r>
                      <a:endParaRPr lang="en-US" sz="10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ECE1"/>
                    </a:solidFill>
                  </a:tcPr>
                </a:tc>
              </a:tr>
            </a:tbl>
          </a:graphicData>
        </a:graphic>
      </p:graphicFrame>
      <p:sp>
        <p:nvSpPr>
          <p:cNvPr id="15" name="Text 12"/>
          <p:cNvSpPr txBox="1"/>
          <p:nvPr/>
        </p:nvSpPr>
        <p:spPr>
          <a:xfrm>
            <a:off x="7863840" y="4645152"/>
            <a:ext cx="868680" cy="310896"/>
          </a:xfrm>
          <a:prstGeom prst="rect">
            <a:avLst/>
          </a:prstGeom>
          <a:noFill/>
          <a:ln/>
        </p:spPr>
        <p:txBody>
          <a:bodyPr wrap="square" lIns="0" tIns="0" rIns="0" bIns="0" rtlCol="0" anchor="ctr"/>
          <a:lstStyle/>
          <a:p>
            <a:pPr algn="r" indent="0" marL="0">
              <a:buNone/>
            </a:pPr>
            <a:r>
              <a:rPr lang="en-US" sz="1100" dirty="0">
                <a:solidFill>
                  <a:srgbClr val="6E655C"/>
                </a:solidFill>
                <a:latin typeface="Calibri" pitchFamily="34" charset="0"/>
                <a:ea typeface="Calibri" pitchFamily="34" charset="-122"/>
                <a:cs typeface="Calibri" pitchFamily="34" charset="-120"/>
              </a:rPr>
              <a:t>45 / 61</a:t>
            </a:r>
            <a:endParaRPr lang="en-US" sz="11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AF6EF"/>
        </a:solidFill>
      </p:bgPr>
    </p:bg>
    <p:spTree>
      <p:nvGrpSpPr>
        <p:cNvPr id="1" name=""/>
        <p:cNvGrpSpPr/>
        <p:nvPr/>
      </p:nvGrpSpPr>
      <p:grpSpPr>
        <a:xfrm>
          <a:off x="0" y="0"/>
          <a:ext cx="0" cy="0"/>
          <a:chOff x="0" y="0"/>
          <a:chExt cx="0" cy="0"/>
        </a:xfrm>
      </p:grpSpPr>
      <p:sp>
        <p:nvSpPr>
          <p:cNvPr id="2" name="Shape 0"/>
          <p:cNvSpPr/>
          <p:nvPr/>
        </p:nvSpPr>
        <p:spPr>
          <a:xfrm>
            <a:off x="457200" y="347472"/>
            <a:ext cx="566928" cy="384048"/>
          </a:xfrm>
          <a:prstGeom prst="roundRect">
            <a:avLst>
              <a:gd name="adj" fmla="val 19048"/>
            </a:avLst>
          </a:prstGeom>
          <a:solidFill>
            <a:srgbClr val="D97A14"/>
          </a:solidFill>
          <a:ln w="12700">
            <a:solidFill>
              <a:srgbClr val="D97A14"/>
            </a:solidFill>
            <a:prstDash val="solid"/>
          </a:ln>
        </p:spPr>
      </p:sp>
      <p:sp>
        <p:nvSpPr>
          <p:cNvPr id="3" name="Text 1"/>
          <p:cNvSpPr txBox="1"/>
          <p:nvPr/>
        </p:nvSpPr>
        <p:spPr>
          <a:xfrm>
            <a:off x="457200" y="347472"/>
            <a:ext cx="56692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4" name="Text 2"/>
          <p:cNvSpPr txBox="1"/>
          <p:nvPr/>
        </p:nvSpPr>
        <p:spPr>
          <a:xfrm>
            <a:off x="1143000" y="237744"/>
            <a:ext cx="7543800" cy="566928"/>
          </a:xfrm>
          <a:prstGeom prst="rect">
            <a:avLst/>
          </a:prstGeom>
          <a:noFill/>
          <a:ln/>
        </p:spPr>
        <p:txBody>
          <a:bodyPr wrap="square" lIns="0" tIns="0" rIns="0" bIns="0" rtlCol="0" anchor="ctr"/>
          <a:lstStyle/>
          <a:p>
            <a:pPr indent="0" marL="0">
              <a:buNone/>
            </a:pPr>
            <a:r>
              <a:rPr lang="en-US" sz="2500" b="1" dirty="0">
                <a:solidFill>
                  <a:srgbClr val="2B2622"/>
                </a:solidFill>
                <a:latin typeface="Cambria" pitchFamily="34" charset="0"/>
                <a:ea typeface="Cambria" pitchFamily="34" charset="-122"/>
                <a:cs typeface="Cambria" pitchFamily="34" charset="-120"/>
              </a:rPr>
              <a:t>Script trees and key tweaks (1 of 3)</a:t>
            </a:r>
            <a:endParaRPr lang="en-US" sz="2500" dirty="0"/>
          </a:p>
        </p:txBody>
      </p:sp>
      <p:sp>
        <p:nvSpPr>
          <p:cNvPr id="5" name="Text 3"/>
          <p:cNvSpPr txBox="1"/>
          <p:nvPr/>
        </p:nvSpPr>
        <p:spPr>
          <a:xfrm>
            <a:off x="1143000" y="786384"/>
            <a:ext cx="7543800" cy="310896"/>
          </a:xfrm>
          <a:prstGeom prst="rect">
            <a:avLst/>
          </a:prstGeom>
          <a:noFill/>
          <a:ln/>
        </p:spPr>
        <p:txBody>
          <a:bodyPr wrap="square" lIns="0" tIns="0" rIns="0" bIns="0" rtlCol="0" anchor="ctr"/>
          <a:lstStyle/>
          <a:p>
            <a:pPr indent="0" marL="0">
              <a:buNone/>
            </a:pPr>
            <a:r>
              <a:rPr lang="en-US" sz="1300" i="1" dirty="0">
                <a:solidFill>
                  <a:srgbClr val="6E655C"/>
                </a:solidFill>
                <a:latin typeface="Calibri" pitchFamily="34" charset="0"/>
                <a:ea typeface="Calibri" pitchFamily="34" charset="-122"/>
                <a:cs typeface="Calibri" pitchFamily="34" charset="-120"/>
              </a:rPr>
              <a:t>Each card: the meaning in a few words, then something you already know</a:t>
            </a:r>
            <a:endParaRPr lang="en-US" sz="1300" dirty="0"/>
          </a:p>
        </p:txBody>
      </p:sp>
      <p:sp>
        <p:nvSpPr>
          <p:cNvPr id="6" name="Shape 4"/>
          <p:cNvSpPr/>
          <p:nvPr/>
        </p:nvSpPr>
        <p:spPr>
          <a:xfrm>
            <a:off x="457200" y="1280160"/>
            <a:ext cx="4041648" cy="1362456"/>
          </a:xfrm>
          <a:prstGeom prst="roundRect">
            <a:avLst>
              <a:gd name="adj" fmla="val 5369"/>
            </a:avLst>
          </a:prstGeom>
          <a:solidFill>
            <a:srgbClr val="F2ECE1"/>
          </a:solidFill>
          <a:ln w="12700">
            <a:solidFill>
              <a:srgbClr val="DFD6C7"/>
            </a:solidFill>
            <a:prstDash val="solid"/>
          </a:ln>
        </p:spPr>
      </p:sp>
      <p:sp>
        <p:nvSpPr>
          <p:cNvPr id="7" name="Shape 5"/>
          <p:cNvSpPr/>
          <p:nvPr/>
        </p:nvSpPr>
        <p:spPr>
          <a:xfrm>
            <a:off x="475488" y="1408176"/>
            <a:ext cx="64008" cy="1106424"/>
          </a:xfrm>
          <a:prstGeom prst="rect">
            <a:avLst/>
          </a:prstGeom>
          <a:solidFill>
            <a:srgbClr val="D97A14"/>
          </a:solidFill>
          <a:ln w="12700">
            <a:solidFill>
              <a:srgbClr val="D97A14"/>
            </a:solidFill>
            <a:prstDash val="solid"/>
          </a:ln>
        </p:spPr>
      </p:sp>
      <p:sp>
        <p:nvSpPr>
          <p:cNvPr id="8" name="Text 6"/>
          <p:cNvSpPr txBox="1"/>
          <p:nvPr/>
        </p:nvSpPr>
        <p:spPr>
          <a:xfrm>
            <a:off x="640080" y="1344168"/>
            <a:ext cx="3767328" cy="813816"/>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Merklized Alternative Script Trees (MAST)</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Many scripts sit under one hash; a spend shows only one.</a:t>
            </a:r>
            <a:endParaRPr lang="en-US" sz="1300" dirty="0"/>
          </a:p>
        </p:txBody>
      </p:sp>
      <p:sp>
        <p:nvSpPr>
          <p:cNvPr id="9" name="Text 7"/>
          <p:cNvSpPr txBox="1"/>
          <p:nvPr/>
        </p:nvSpPr>
        <p:spPr>
          <a:xfrm>
            <a:off x="640080" y="2185416"/>
            <a:ext cx="3767328" cy="393192"/>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a restaurant menu where you read out only the dish you ordered.</a:t>
            </a:r>
            <a:endParaRPr lang="en-US" sz="1150" dirty="0"/>
          </a:p>
        </p:txBody>
      </p:sp>
      <p:sp>
        <p:nvSpPr>
          <p:cNvPr id="10" name="Shape 8"/>
          <p:cNvSpPr/>
          <p:nvPr/>
        </p:nvSpPr>
        <p:spPr>
          <a:xfrm>
            <a:off x="4645152" y="1280160"/>
            <a:ext cx="4041648" cy="1362456"/>
          </a:xfrm>
          <a:prstGeom prst="roundRect">
            <a:avLst>
              <a:gd name="adj" fmla="val 5369"/>
            </a:avLst>
          </a:prstGeom>
          <a:solidFill>
            <a:srgbClr val="F2ECE1"/>
          </a:solidFill>
          <a:ln w="12700">
            <a:solidFill>
              <a:srgbClr val="DFD6C7"/>
            </a:solidFill>
            <a:prstDash val="solid"/>
          </a:ln>
        </p:spPr>
      </p:sp>
      <p:sp>
        <p:nvSpPr>
          <p:cNvPr id="11" name="Shape 9"/>
          <p:cNvSpPr/>
          <p:nvPr/>
        </p:nvSpPr>
        <p:spPr>
          <a:xfrm>
            <a:off x="4663440" y="1408176"/>
            <a:ext cx="64008" cy="1106424"/>
          </a:xfrm>
          <a:prstGeom prst="rect">
            <a:avLst/>
          </a:prstGeom>
          <a:solidFill>
            <a:srgbClr val="D97A14"/>
          </a:solidFill>
          <a:ln w="12700">
            <a:solidFill>
              <a:srgbClr val="D97A14"/>
            </a:solidFill>
            <a:prstDash val="solid"/>
          </a:ln>
        </p:spPr>
      </p:sp>
      <p:sp>
        <p:nvSpPr>
          <p:cNvPr id="12" name="Text 10"/>
          <p:cNvSpPr txBox="1"/>
          <p:nvPr/>
        </p:nvSpPr>
        <p:spPr>
          <a:xfrm>
            <a:off x="4828032" y="1344168"/>
            <a:ext cx="3767328" cy="612648"/>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Pay to Contract (P2C)</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A key is tweaked so that it commits to a contract.</a:t>
            </a:r>
            <a:endParaRPr lang="en-US" sz="1300" dirty="0"/>
          </a:p>
        </p:txBody>
      </p:sp>
      <p:sp>
        <p:nvSpPr>
          <p:cNvPr id="13" name="Text 11"/>
          <p:cNvSpPr txBox="1"/>
          <p:nvPr/>
        </p:nvSpPr>
        <p:spPr>
          <a:xfrm>
            <a:off x="4828032" y="1984248"/>
            <a:ext cx="3767328" cy="393192"/>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a wax seal that also encodes the fingerprint of the contract.</a:t>
            </a:r>
            <a:endParaRPr lang="en-US" sz="1150" dirty="0"/>
          </a:p>
        </p:txBody>
      </p:sp>
      <p:sp>
        <p:nvSpPr>
          <p:cNvPr id="14" name="Shape 12"/>
          <p:cNvSpPr/>
          <p:nvPr/>
        </p:nvSpPr>
        <p:spPr>
          <a:xfrm>
            <a:off x="457200" y="2770632"/>
            <a:ext cx="4041648" cy="1362456"/>
          </a:xfrm>
          <a:prstGeom prst="roundRect">
            <a:avLst>
              <a:gd name="adj" fmla="val 5369"/>
            </a:avLst>
          </a:prstGeom>
          <a:solidFill>
            <a:srgbClr val="F2ECE1"/>
          </a:solidFill>
          <a:ln w="12700">
            <a:solidFill>
              <a:srgbClr val="DFD6C7"/>
            </a:solidFill>
            <a:prstDash val="solid"/>
          </a:ln>
        </p:spPr>
      </p:sp>
      <p:sp>
        <p:nvSpPr>
          <p:cNvPr id="15" name="Shape 13"/>
          <p:cNvSpPr/>
          <p:nvPr/>
        </p:nvSpPr>
        <p:spPr>
          <a:xfrm>
            <a:off x="475488" y="2898648"/>
            <a:ext cx="64008" cy="1106424"/>
          </a:xfrm>
          <a:prstGeom prst="rect">
            <a:avLst/>
          </a:prstGeom>
          <a:solidFill>
            <a:srgbClr val="D97A14"/>
          </a:solidFill>
          <a:ln w="12700">
            <a:solidFill>
              <a:srgbClr val="D97A14"/>
            </a:solidFill>
            <a:prstDash val="solid"/>
          </a:ln>
        </p:spPr>
      </p:sp>
      <p:sp>
        <p:nvSpPr>
          <p:cNvPr id="16" name="Text 14"/>
          <p:cNvSpPr txBox="1"/>
          <p:nvPr/>
        </p:nvSpPr>
        <p:spPr>
          <a:xfrm>
            <a:off x="640080" y="2834640"/>
            <a:ext cx="3767328" cy="813816"/>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Scriptless Multisignatures and Threshold Signatures</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Many signers combine into one key and one signature.</a:t>
            </a:r>
            <a:endParaRPr lang="en-US" sz="1300" dirty="0"/>
          </a:p>
        </p:txBody>
      </p:sp>
      <p:sp>
        <p:nvSpPr>
          <p:cNvPr id="17" name="Text 15"/>
          <p:cNvSpPr txBox="1"/>
          <p:nvPr/>
        </p:nvSpPr>
        <p:spPr>
          <a:xfrm>
            <a:off x="640080" y="3675888"/>
            <a:ext cx="3767328" cy="214884"/>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a choir that sings with one voice.</a:t>
            </a:r>
            <a:endParaRPr lang="en-US" sz="1150" dirty="0"/>
          </a:p>
        </p:txBody>
      </p:sp>
      <p:sp>
        <p:nvSpPr>
          <p:cNvPr id="18" name="Shape 16"/>
          <p:cNvSpPr/>
          <p:nvPr/>
        </p:nvSpPr>
        <p:spPr>
          <a:xfrm>
            <a:off x="4645152" y="2770632"/>
            <a:ext cx="4041648" cy="1362456"/>
          </a:xfrm>
          <a:prstGeom prst="roundRect">
            <a:avLst>
              <a:gd name="adj" fmla="val 5369"/>
            </a:avLst>
          </a:prstGeom>
          <a:solidFill>
            <a:srgbClr val="F2ECE1"/>
          </a:solidFill>
          <a:ln w="12700">
            <a:solidFill>
              <a:srgbClr val="DFD6C7"/>
            </a:solidFill>
            <a:prstDash val="solid"/>
          </a:ln>
        </p:spPr>
      </p:sp>
      <p:sp>
        <p:nvSpPr>
          <p:cNvPr id="19" name="Shape 17"/>
          <p:cNvSpPr/>
          <p:nvPr/>
        </p:nvSpPr>
        <p:spPr>
          <a:xfrm>
            <a:off x="4663440" y="2898648"/>
            <a:ext cx="64008" cy="1106424"/>
          </a:xfrm>
          <a:prstGeom prst="rect">
            <a:avLst/>
          </a:prstGeom>
          <a:solidFill>
            <a:srgbClr val="D97A14"/>
          </a:solidFill>
          <a:ln w="12700">
            <a:solidFill>
              <a:srgbClr val="D97A14"/>
            </a:solidFill>
            <a:prstDash val="solid"/>
          </a:ln>
        </p:spPr>
      </p:sp>
      <p:sp>
        <p:nvSpPr>
          <p:cNvPr id="20" name="Text 18"/>
          <p:cNvSpPr txBox="1"/>
          <p:nvPr/>
        </p:nvSpPr>
        <p:spPr>
          <a:xfrm>
            <a:off x="4828032" y="2834640"/>
            <a:ext cx="3767328" cy="434340"/>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MAST</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The short name of the script tree.</a:t>
            </a:r>
            <a:endParaRPr lang="en-US" sz="1300" dirty="0"/>
          </a:p>
        </p:txBody>
      </p:sp>
      <p:sp>
        <p:nvSpPr>
          <p:cNvPr id="21" name="Text 19"/>
          <p:cNvSpPr txBox="1"/>
          <p:nvPr/>
        </p:nvSpPr>
        <p:spPr>
          <a:xfrm>
            <a:off x="4828032" y="3296412"/>
            <a:ext cx="3767328" cy="393192"/>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a tournament bracket where only one team's path is shown.</a:t>
            </a:r>
            <a:endParaRPr lang="en-US" sz="1150" dirty="0"/>
          </a:p>
        </p:txBody>
      </p:sp>
      <p:sp>
        <p:nvSpPr>
          <p:cNvPr id="22" name="Shape 20"/>
          <p:cNvSpPr/>
          <p:nvPr/>
        </p:nvSpPr>
        <p:spPr>
          <a:xfrm>
            <a:off x="457200" y="4636008"/>
            <a:ext cx="91440" cy="310896"/>
          </a:xfrm>
          <a:prstGeom prst="rect">
            <a:avLst/>
          </a:prstGeom>
          <a:solidFill>
            <a:srgbClr val="D97A14"/>
          </a:solidFill>
          <a:ln w="12700">
            <a:solidFill>
              <a:srgbClr val="D97A14"/>
            </a:solidFill>
            <a:prstDash val="solid"/>
          </a:ln>
        </p:spPr>
      </p:sp>
      <p:sp>
        <p:nvSpPr>
          <p:cNvPr id="23" name="Text 21"/>
          <p:cNvSpPr txBox="1"/>
          <p:nvPr/>
        </p:nvSpPr>
        <p:spPr>
          <a:xfrm>
            <a:off x="658368" y="4599432"/>
            <a:ext cx="6949440" cy="384048"/>
          </a:xfrm>
          <a:prstGeom prst="rect">
            <a:avLst/>
          </a:prstGeom>
          <a:noFill/>
          <a:ln/>
        </p:spPr>
        <p:txBody>
          <a:bodyPr wrap="square" lIns="0" tIns="0" rIns="0" bIns="0" rtlCol="0" anchor="ctr"/>
          <a:lstStyle/>
          <a:p>
            <a:pPr indent="0" marL="0">
              <a:buNone/>
            </a:pPr>
            <a:r>
              <a:rPr lang="en-US" sz="1350" b="1" i="1" dirty="0">
                <a:solidFill>
                  <a:srgbClr val="2B2622"/>
                </a:solidFill>
                <a:latin typeface="Cambria" pitchFamily="34" charset="0"/>
                <a:ea typeface="Cambria" pitchFamily="34" charset="-122"/>
                <a:cs typeface="Cambria" pitchFamily="34" charset="-120"/>
              </a:rPr>
              <a:t>Say each idea twice: once as the meaning, once as the everyday comparison</a:t>
            </a:r>
            <a:endParaRPr lang="en-US" sz="1350" dirty="0"/>
          </a:p>
        </p:txBody>
      </p:sp>
      <p:sp>
        <p:nvSpPr>
          <p:cNvPr id="24" name="Text 22"/>
          <p:cNvSpPr txBox="1"/>
          <p:nvPr/>
        </p:nvSpPr>
        <p:spPr>
          <a:xfrm>
            <a:off x="7863840" y="4645152"/>
            <a:ext cx="868680" cy="310896"/>
          </a:xfrm>
          <a:prstGeom prst="rect">
            <a:avLst/>
          </a:prstGeom>
          <a:noFill/>
          <a:ln/>
        </p:spPr>
        <p:txBody>
          <a:bodyPr wrap="square" lIns="0" tIns="0" rIns="0" bIns="0" rtlCol="0" anchor="ctr"/>
          <a:lstStyle/>
          <a:p>
            <a:pPr algn="r" indent="0" marL="0">
              <a:buNone/>
            </a:pPr>
            <a:r>
              <a:rPr lang="en-US" sz="1100" dirty="0">
                <a:solidFill>
                  <a:srgbClr val="6E655C"/>
                </a:solidFill>
                <a:latin typeface="Calibri" pitchFamily="34" charset="0"/>
                <a:ea typeface="Calibri" pitchFamily="34" charset="-122"/>
                <a:cs typeface="Calibri" pitchFamily="34" charset="-120"/>
              </a:rPr>
              <a:t>46 / 61</a:t>
            </a:r>
            <a:endParaRPr lang="en-US" sz="11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AF6EF"/>
        </a:solidFill>
      </p:bgPr>
    </p:bg>
    <p:spTree>
      <p:nvGrpSpPr>
        <p:cNvPr id="1" name=""/>
        <p:cNvGrpSpPr/>
        <p:nvPr/>
      </p:nvGrpSpPr>
      <p:grpSpPr>
        <a:xfrm>
          <a:off x="0" y="0"/>
          <a:ext cx="0" cy="0"/>
          <a:chOff x="0" y="0"/>
          <a:chExt cx="0" cy="0"/>
        </a:xfrm>
      </p:grpSpPr>
      <p:sp>
        <p:nvSpPr>
          <p:cNvPr id="2" name="Shape 0"/>
          <p:cNvSpPr/>
          <p:nvPr/>
        </p:nvSpPr>
        <p:spPr>
          <a:xfrm>
            <a:off x="457200" y="347472"/>
            <a:ext cx="566928" cy="384048"/>
          </a:xfrm>
          <a:prstGeom prst="roundRect">
            <a:avLst>
              <a:gd name="adj" fmla="val 19048"/>
            </a:avLst>
          </a:prstGeom>
          <a:solidFill>
            <a:srgbClr val="D97A14"/>
          </a:solidFill>
          <a:ln w="12700">
            <a:solidFill>
              <a:srgbClr val="D97A14"/>
            </a:solidFill>
            <a:prstDash val="solid"/>
          </a:ln>
        </p:spPr>
      </p:sp>
      <p:sp>
        <p:nvSpPr>
          <p:cNvPr id="3" name="Text 1"/>
          <p:cNvSpPr txBox="1"/>
          <p:nvPr/>
        </p:nvSpPr>
        <p:spPr>
          <a:xfrm>
            <a:off x="457200" y="347472"/>
            <a:ext cx="56692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4" name="Text 2"/>
          <p:cNvSpPr txBox="1"/>
          <p:nvPr/>
        </p:nvSpPr>
        <p:spPr>
          <a:xfrm>
            <a:off x="1143000" y="237744"/>
            <a:ext cx="7543800" cy="566928"/>
          </a:xfrm>
          <a:prstGeom prst="rect">
            <a:avLst/>
          </a:prstGeom>
          <a:noFill/>
          <a:ln/>
        </p:spPr>
        <p:txBody>
          <a:bodyPr wrap="square" lIns="0" tIns="0" rIns="0" bIns="0" rtlCol="0" anchor="ctr"/>
          <a:lstStyle/>
          <a:p>
            <a:pPr indent="0" marL="0">
              <a:buNone/>
            </a:pPr>
            <a:r>
              <a:rPr lang="en-US" sz="2800" b="1" dirty="0">
                <a:solidFill>
                  <a:srgbClr val="2B2622"/>
                </a:solidFill>
                <a:latin typeface="Cambria" pitchFamily="34" charset="0"/>
                <a:ea typeface="Cambria" pitchFamily="34" charset="-122"/>
                <a:cs typeface="Cambria" pitchFamily="34" charset="-120"/>
              </a:rPr>
              <a:t>A proof grows with the logarithm</a:t>
            </a:r>
            <a:endParaRPr lang="en-US" sz="2800" dirty="0"/>
          </a:p>
        </p:txBody>
      </p:sp>
      <p:sp>
        <p:nvSpPr>
          <p:cNvPr id="5" name="Text 3"/>
          <p:cNvSpPr txBox="1"/>
          <p:nvPr/>
        </p:nvSpPr>
        <p:spPr>
          <a:xfrm>
            <a:off x="1143000" y="786384"/>
            <a:ext cx="7543800" cy="310896"/>
          </a:xfrm>
          <a:prstGeom prst="rect">
            <a:avLst/>
          </a:prstGeom>
          <a:noFill/>
          <a:ln/>
        </p:spPr>
        <p:txBody>
          <a:bodyPr wrap="square" lIns="0" tIns="0" rIns="0" bIns="0" rtlCol="0" anchor="ctr"/>
          <a:lstStyle/>
          <a:p>
            <a:pPr indent="0" marL="0">
              <a:buNone/>
            </a:pPr>
            <a:r>
              <a:rPr lang="en-US" sz="1300" i="1" dirty="0">
                <a:solidFill>
                  <a:srgbClr val="6E655C"/>
                </a:solidFill>
                <a:latin typeface="Calibri" pitchFamily="34" charset="0"/>
                <a:ea typeface="Calibri" pitchFamily="34" charset="-122"/>
                <a:cs typeface="Calibri" pitchFamily="34" charset="-120"/>
              </a:rPr>
              <a:t>How many hashes a script tree reveals</a:t>
            </a:r>
            <a:endParaRPr lang="en-US" sz="1300" dirty="0"/>
          </a:p>
        </p:txBody>
      </p:sp>
      <p:sp>
        <p:nvSpPr>
          <p:cNvPr id="6" name="Shape 4"/>
          <p:cNvSpPr/>
          <p:nvPr/>
        </p:nvSpPr>
        <p:spPr>
          <a:xfrm>
            <a:off x="457200" y="1325880"/>
            <a:ext cx="5074920" cy="311810"/>
          </a:xfrm>
          <a:prstGeom prst="roundRect">
            <a:avLst>
              <a:gd name="adj" fmla="val 23460"/>
            </a:avLst>
          </a:prstGeom>
          <a:solidFill>
            <a:srgbClr val="23272E"/>
          </a:solidFill>
          <a:ln w="12700">
            <a:solidFill>
              <a:srgbClr val="23272E"/>
            </a:solidFill>
            <a:prstDash val="solid"/>
          </a:ln>
        </p:spPr>
      </p:sp>
      <p:sp>
        <p:nvSpPr>
          <p:cNvPr id="7" name="Text 5"/>
          <p:cNvSpPr txBox="1"/>
          <p:nvPr/>
        </p:nvSpPr>
        <p:spPr>
          <a:xfrm>
            <a:off x="603504" y="1399032"/>
            <a:ext cx="4800600" cy="183794"/>
          </a:xfrm>
          <a:prstGeom prst="rect">
            <a:avLst/>
          </a:prstGeom>
          <a:noFill/>
          <a:ln/>
        </p:spPr>
        <p:txBody>
          <a:bodyPr wrap="square" lIns="0" tIns="0" rIns="0" bIns="0" rtlCol="0" anchor="t"/>
          <a:lstStyle/>
          <a:p>
            <a:pPr indent="0" marL="0">
              <a:buNone/>
            </a:pPr>
            <a:r>
              <a:rPr lang="en-US" sz="1000" b="1" dirty="0">
                <a:solidFill>
                  <a:srgbClr val="D97A14"/>
                </a:solidFill>
                <a:latin typeface="Courier New" pitchFamily="34" charset="0"/>
                <a:ea typeface="Courier New" pitchFamily="34" charset="-122"/>
                <a:cs typeface="Courier New" pitchFamily="34" charset="-120"/>
              </a:rPr>
              <a:t>&gt;&gt;&gt; </a:t>
            </a:r>
            <a:r>
              <a:rPr lang="en-US" sz="1000" dirty="0">
                <a:solidFill>
                  <a:srgbClr val="E6EDF3"/>
                </a:solidFill>
                <a:latin typeface="Courier New" pitchFamily="34" charset="0"/>
                <a:ea typeface="Courier New" pitchFamily="34" charset="-122"/>
                <a:cs typeface="Courier New" pitchFamily="34" charset="-120"/>
              </a:rPr>
              <a:t>proof = [len(p) </a:t>
            </a:r>
            <a:r>
              <a:rPr lang="en-US" sz="1000" b="1" dirty="0">
                <a:solidFill>
                  <a:srgbClr val="F2A860"/>
                </a:solidFill>
                <a:latin typeface="Courier New" pitchFamily="34" charset="0"/>
                <a:ea typeface="Courier New" pitchFamily="34" charset="-122"/>
                <a:cs typeface="Courier New" pitchFamily="34" charset="-120"/>
              </a:rPr>
              <a:t>for</a:t>
            </a:r>
            <a:r>
              <a:rPr lang="en-US" sz="1000" dirty="0">
                <a:solidFill>
                  <a:srgbClr val="E6EDF3"/>
                </a:solidFill>
                <a:latin typeface="Courier New" pitchFamily="34" charset="0"/>
                <a:ea typeface="Courier New" pitchFamily="34" charset="-122"/>
                <a:cs typeface="Courier New" pitchFamily="34" charset="-120"/>
              </a:rPr>
              <a:t> p </a:t>
            </a:r>
            <a:r>
              <a:rPr lang="en-US" sz="1000" b="1" dirty="0">
                <a:solidFill>
                  <a:srgbClr val="F2A860"/>
                </a:solidFill>
                <a:latin typeface="Courier New" pitchFamily="34" charset="0"/>
                <a:ea typeface="Courier New" pitchFamily="34" charset="-122"/>
                <a:cs typeface="Courier New" pitchFamily="34" charset="-120"/>
              </a:rPr>
              <a:t>in</a:t>
            </a:r>
            <a:r>
              <a:rPr lang="en-US" sz="1000" dirty="0">
                <a:solidFill>
                  <a:srgbClr val="E6EDF3"/>
                </a:solidFill>
                <a:latin typeface="Courier New" pitchFamily="34" charset="0"/>
                <a:ea typeface="Courier New" pitchFamily="34" charset="-122"/>
                <a:cs typeface="Courier New" pitchFamily="34" charset="-120"/>
              </a:rPr>
              <a:t> K.tap_tree(MOH_LEAVES)[</a:t>
            </a:r>
            <a:r>
              <a:rPr lang="en-US" sz="1000" dirty="0">
                <a:solidFill>
                  <a:srgbClr val="FFD28A"/>
                </a:solidFill>
                <a:latin typeface="Courier New" pitchFamily="34" charset="0"/>
                <a:ea typeface="Courier New" pitchFamily="34" charset="-122"/>
                <a:cs typeface="Courier New" pitchFamily="34" charset="-120"/>
              </a:rPr>
              <a:t>1</a:t>
            </a:r>
            <a:r>
              <a:rPr lang="en-US" sz="1000" dirty="0">
                <a:solidFill>
                  <a:srgbClr val="E6EDF3"/>
                </a:solidFill>
                <a:latin typeface="Courier New" pitchFamily="34" charset="0"/>
                <a:ea typeface="Courier New" pitchFamily="34" charset="-122"/>
                <a:cs typeface="Courier New" pitchFamily="34" charset="-120"/>
              </a:rPr>
              <a:t>]]</a:t>
            </a:r>
            <a:endParaRPr lang="en-US" sz="1000" dirty="0"/>
          </a:p>
        </p:txBody>
      </p:sp>
      <p:sp>
        <p:nvSpPr>
          <p:cNvPr id="8" name="Shape 6"/>
          <p:cNvSpPr/>
          <p:nvPr/>
        </p:nvSpPr>
        <p:spPr>
          <a:xfrm>
            <a:off x="457200" y="1957730"/>
            <a:ext cx="5074920" cy="806501"/>
          </a:xfrm>
          <a:prstGeom prst="roundRect">
            <a:avLst>
              <a:gd name="adj" fmla="val 9070"/>
            </a:avLst>
          </a:prstGeom>
          <a:solidFill>
            <a:srgbClr val="23272E"/>
          </a:solidFill>
          <a:ln w="12700">
            <a:solidFill>
              <a:srgbClr val="23272E"/>
            </a:solidFill>
            <a:prstDash val="solid"/>
          </a:ln>
        </p:spPr>
      </p:sp>
      <p:sp>
        <p:nvSpPr>
          <p:cNvPr id="9" name="Text 7"/>
          <p:cNvSpPr txBox="1"/>
          <p:nvPr/>
        </p:nvSpPr>
        <p:spPr>
          <a:xfrm>
            <a:off x="603504" y="2030882"/>
            <a:ext cx="4800600" cy="678485"/>
          </a:xfrm>
          <a:prstGeom prst="rect">
            <a:avLst/>
          </a:prstGeom>
          <a:noFill/>
          <a:ln/>
        </p:spPr>
        <p:txBody>
          <a:bodyPr wrap="square" lIns="0" tIns="0" rIns="0" bIns="0" rtlCol="0" anchor="t"/>
          <a:lstStyle/>
          <a:p>
            <a:pPr indent="0" marL="0">
              <a:buNone/>
            </a:pPr>
            <a:r>
              <a:rPr lang="en-US" sz="1000" b="1" dirty="0">
                <a:solidFill>
                  <a:srgbClr val="D97A14"/>
                </a:solidFill>
                <a:latin typeface="Courier New" pitchFamily="34" charset="0"/>
                <a:ea typeface="Courier New" pitchFamily="34" charset="-122"/>
                <a:cs typeface="Courier New" pitchFamily="34" charset="-120"/>
              </a:rPr>
              <a:t>&gt;&gt;&gt; </a:t>
            </a:r>
            <a:r>
              <a:rPr lang="en-US" sz="1000" dirty="0">
                <a:solidFill>
                  <a:srgbClr val="E6EDF3"/>
                </a:solidFill>
                <a:latin typeface="Courier New" pitchFamily="34" charset="0"/>
                <a:ea typeface="Courier New" pitchFamily="34" charset="-122"/>
                <a:cs typeface="Courier New" pitchFamily="34" charset="-120"/>
              </a:rPr>
              <a:t>ns = (</a:t>
            </a:r>
            <a:r>
              <a:rPr lang="en-US" sz="1000" dirty="0">
                <a:solidFill>
                  <a:srgbClr val="FFD28A"/>
                </a:solidFill>
                <a:latin typeface="Courier New" pitchFamily="34" charset="0"/>
                <a:ea typeface="Courier New" pitchFamily="34" charset="-122"/>
                <a:cs typeface="Courier New" pitchFamily="34" charset="-120"/>
              </a:rPr>
              <a:t>3</a:t>
            </a:r>
            <a:r>
              <a:rPr lang="en-US" sz="1000" dirty="0">
                <a:solidFill>
                  <a:srgbClr val="E6EDF3"/>
                </a:solidFill>
                <a:latin typeface="Courier New" pitchFamily="34" charset="0"/>
                <a:ea typeface="Courier New" pitchFamily="34" charset="-122"/>
                <a:cs typeface="Courier New" pitchFamily="34" charset="-120"/>
              </a:rPr>
              <a:t>, </a:t>
            </a:r>
            <a:r>
              <a:rPr lang="en-US" sz="1000" dirty="0">
                <a:solidFill>
                  <a:srgbClr val="FFD28A"/>
                </a:solidFill>
                <a:latin typeface="Courier New" pitchFamily="34" charset="0"/>
                <a:ea typeface="Courier New" pitchFamily="34" charset="-122"/>
                <a:cs typeface="Courier New" pitchFamily="34" charset="-120"/>
              </a:rPr>
              <a:t>8</a:t>
            </a:r>
            <a:r>
              <a:rPr lang="en-US" sz="1000" dirty="0">
                <a:solidFill>
                  <a:srgbClr val="E6EDF3"/>
                </a:solidFill>
                <a:latin typeface="Courier New" pitchFamily="34" charset="0"/>
                <a:ea typeface="Courier New" pitchFamily="34" charset="-122"/>
                <a:cs typeface="Courier New" pitchFamily="34" charset="-120"/>
              </a:rPr>
              <a:t>, </a:t>
            </a:r>
            <a:r>
              <a:rPr lang="en-US" sz="1000" dirty="0">
                <a:solidFill>
                  <a:srgbClr val="FFD28A"/>
                </a:solidFill>
                <a:latin typeface="Courier New" pitchFamily="34" charset="0"/>
                <a:ea typeface="Courier New" pitchFamily="34" charset="-122"/>
                <a:cs typeface="Courier New" pitchFamily="34" charset="-120"/>
              </a:rPr>
              <a:t>1024</a:t>
            </a:r>
            <a:r>
              <a:rPr lang="en-US" sz="1000" dirty="0">
                <a:solidFill>
                  <a:srgbClr val="E6EDF3"/>
                </a:solidFill>
                <a:latin typeface="Courier New" pitchFamily="34" charset="0"/>
                <a:ea typeface="Courier New" pitchFamily="34" charset="-122"/>
                <a:cs typeface="Courier New" pitchFamily="34" charset="-120"/>
              </a:rPr>
              <a:t>, </a:t>
            </a:r>
            <a:r>
              <a:rPr lang="en-US" sz="1000" dirty="0">
                <a:solidFill>
                  <a:srgbClr val="FFD28A"/>
                </a:solidFill>
                <a:latin typeface="Courier New" pitchFamily="34" charset="0"/>
                <a:ea typeface="Courier New" pitchFamily="34" charset="-122"/>
                <a:cs typeface="Courier New" pitchFamily="34" charset="-120"/>
              </a:rPr>
              <a:t>2</a:t>
            </a:r>
            <a:r>
              <a:rPr lang="en-US" sz="1000" dirty="0">
                <a:solidFill>
                  <a:srgbClr val="E6EDF3"/>
                </a:solidFill>
                <a:latin typeface="Courier New" pitchFamily="34" charset="0"/>
                <a:ea typeface="Courier New" pitchFamily="34" charset="-122"/>
                <a:cs typeface="Courier New" pitchFamily="34" charset="-120"/>
              </a:rPr>
              <a:t>**</a:t>
            </a:r>
            <a:r>
              <a:rPr lang="en-US" sz="1000" dirty="0">
                <a:solidFill>
                  <a:srgbClr val="FFD28A"/>
                </a:solidFill>
                <a:latin typeface="Courier New" pitchFamily="34" charset="0"/>
                <a:ea typeface="Courier New" pitchFamily="34" charset="-122"/>
                <a:cs typeface="Courier New" pitchFamily="34" charset="-120"/>
              </a:rPr>
              <a:t>20</a:t>
            </a:r>
            <a:r>
              <a:rPr lang="en-US" sz="1000" dirty="0">
                <a:solidFill>
                  <a:srgbClr val="E6EDF3"/>
                </a:solidFill>
                <a:latin typeface="Courier New" pitchFamily="34" charset="0"/>
                <a:ea typeface="Courier New" pitchFamily="34" charset="-122"/>
                <a:cs typeface="Courier New" pitchFamily="34" charset="-120"/>
              </a:rPr>
              <a:t>)</a:t>
            </a:r>
            <a:endParaRPr lang="en-US" sz="1000" dirty="0"/>
          </a:p>
          <a:p>
            <a:pPr indent="0" marL="0">
              <a:buNone/>
            </a:pPr>
            <a:r>
              <a:rPr lang="en-US" sz="1000" b="1" dirty="0">
                <a:solidFill>
                  <a:srgbClr val="D97A14"/>
                </a:solidFill>
                <a:latin typeface="Courier New" pitchFamily="34" charset="0"/>
                <a:ea typeface="Courier New" pitchFamily="34" charset="-122"/>
                <a:cs typeface="Courier New" pitchFamily="34" charset="-120"/>
              </a:rPr>
              <a:t>&gt;&gt;&gt; </a:t>
            </a:r>
            <a:r>
              <a:rPr lang="en-US" sz="1000" dirty="0">
                <a:solidFill>
                  <a:srgbClr val="E6EDF3"/>
                </a:solidFill>
                <a:latin typeface="Courier New" pitchFamily="34" charset="0"/>
                <a:ea typeface="Courier New" pitchFamily="34" charset="-122"/>
                <a:cs typeface="Courier New" pitchFamily="34" charset="-120"/>
              </a:rPr>
              <a:t>depth = [(n - </a:t>
            </a:r>
            <a:r>
              <a:rPr lang="en-US" sz="1000" dirty="0">
                <a:solidFill>
                  <a:srgbClr val="FFD28A"/>
                </a:solidFill>
                <a:latin typeface="Courier New" pitchFamily="34" charset="0"/>
                <a:ea typeface="Courier New" pitchFamily="34" charset="-122"/>
                <a:cs typeface="Courier New" pitchFamily="34" charset="-120"/>
              </a:rPr>
              <a:t>1</a:t>
            </a:r>
            <a:r>
              <a:rPr lang="en-US" sz="1000" dirty="0">
                <a:solidFill>
                  <a:srgbClr val="E6EDF3"/>
                </a:solidFill>
                <a:latin typeface="Courier New" pitchFamily="34" charset="0"/>
                <a:ea typeface="Courier New" pitchFamily="34" charset="-122"/>
                <a:cs typeface="Courier New" pitchFamily="34" charset="-120"/>
              </a:rPr>
              <a:t>).bit_length() </a:t>
            </a:r>
            <a:r>
              <a:rPr lang="en-US" sz="1000" b="1" dirty="0">
                <a:solidFill>
                  <a:srgbClr val="F2A860"/>
                </a:solidFill>
                <a:latin typeface="Courier New" pitchFamily="34" charset="0"/>
                <a:ea typeface="Courier New" pitchFamily="34" charset="-122"/>
                <a:cs typeface="Courier New" pitchFamily="34" charset="-120"/>
              </a:rPr>
              <a:t>for</a:t>
            </a:r>
            <a:r>
              <a:rPr lang="en-US" sz="1000" dirty="0">
                <a:solidFill>
                  <a:srgbClr val="E6EDF3"/>
                </a:solidFill>
                <a:latin typeface="Courier New" pitchFamily="34" charset="0"/>
                <a:ea typeface="Courier New" pitchFamily="34" charset="-122"/>
                <a:cs typeface="Courier New" pitchFamily="34" charset="-120"/>
              </a:rPr>
              <a:t> n </a:t>
            </a:r>
            <a:r>
              <a:rPr lang="en-US" sz="1000" b="1" dirty="0">
                <a:solidFill>
                  <a:srgbClr val="F2A860"/>
                </a:solidFill>
                <a:latin typeface="Courier New" pitchFamily="34" charset="0"/>
                <a:ea typeface="Courier New" pitchFamily="34" charset="-122"/>
                <a:cs typeface="Courier New" pitchFamily="34" charset="-120"/>
              </a:rPr>
              <a:t>in</a:t>
            </a:r>
            <a:r>
              <a:rPr lang="en-US" sz="1000" dirty="0">
                <a:solidFill>
                  <a:srgbClr val="E6EDF3"/>
                </a:solidFill>
                <a:latin typeface="Courier New" pitchFamily="34" charset="0"/>
                <a:ea typeface="Courier New" pitchFamily="34" charset="-122"/>
                <a:cs typeface="Courier New" pitchFamily="34" charset="-120"/>
              </a:rPr>
              <a:t> ns]</a:t>
            </a:r>
            <a:endParaRPr lang="en-US" sz="1000" dirty="0"/>
          </a:p>
          <a:p>
            <a:pPr indent="0" marL="0">
              <a:buNone/>
            </a:pPr>
            <a:r>
              <a:rPr lang="en-US" sz="1000" b="1" dirty="0">
                <a:solidFill>
                  <a:srgbClr val="D97A14"/>
                </a:solidFill>
                <a:latin typeface="Courier New" pitchFamily="34" charset="0"/>
                <a:ea typeface="Courier New" pitchFamily="34" charset="-122"/>
                <a:cs typeface="Courier New" pitchFamily="34" charset="-120"/>
              </a:rPr>
              <a:t>&gt;&gt;&gt; </a:t>
            </a:r>
            <a:r>
              <a:rPr lang="en-US" sz="1000" dirty="0">
                <a:solidFill>
                  <a:srgbClr val="E6EDF3"/>
                </a:solidFill>
                <a:latin typeface="Courier New" pitchFamily="34" charset="0"/>
                <a:ea typeface="Courier New" pitchFamily="34" charset="-122"/>
                <a:cs typeface="Courier New" pitchFamily="34" charset="-120"/>
              </a:rPr>
              <a:t>depth</a:t>
            </a:r>
            <a:endParaRPr lang="en-US" sz="1000" dirty="0"/>
          </a:p>
          <a:p>
            <a:pPr indent="0" marL="0">
              <a:buNone/>
            </a:pPr>
            <a:r>
              <a:rPr lang="en-US" sz="1000" dirty="0">
                <a:solidFill>
                  <a:srgbClr val="7EE787"/>
                </a:solidFill>
                <a:latin typeface="Courier New" pitchFamily="34" charset="0"/>
                <a:ea typeface="Courier New" pitchFamily="34" charset="-122"/>
                <a:cs typeface="Courier New" pitchFamily="34" charset="-120"/>
              </a:rPr>
              <a:t>[2, 3, 10, 20]</a:t>
            </a:r>
            <a:endParaRPr lang="en-US" sz="1000" dirty="0"/>
          </a:p>
        </p:txBody>
      </p:sp>
      <p:sp>
        <p:nvSpPr>
          <p:cNvPr id="10" name="Shape 8"/>
          <p:cNvSpPr/>
          <p:nvPr/>
        </p:nvSpPr>
        <p:spPr>
          <a:xfrm>
            <a:off x="365760" y="1252728"/>
            <a:ext cx="237744" cy="237744"/>
          </a:xfrm>
          <a:prstGeom prst="ellipse">
            <a:avLst/>
          </a:prstGeom>
          <a:solidFill>
            <a:srgbClr val="D97A14"/>
          </a:solidFill>
          <a:ln w="12700">
            <a:solidFill>
              <a:srgbClr val="D97A14"/>
            </a:solidFill>
            <a:prstDash val="solid"/>
          </a:ln>
        </p:spPr>
      </p:sp>
      <p:sp>
        <p:nvSpPr>
          <p:cNvPr id="11" name="Text 9"/>
          <p:cNvSpPr txBox="1"/>
          <p:nvPr/>
        </p:nvSpPr>
        <p:spPr>
          <a:xfrm>
            <a:off x="365760" y="1252728"/>
            <a:ext cx="237744" cy="237744"/>
          </a:xfrm>
          <a:prstGeom prst="rect">
            <a:avLst/>
          </a:prstGeom>
          <a:noFill/>
          <a:ln/>
        </p:spPr>
        <p:txBody>
          <a:bodyPr wrap="square" lIns="0" tIns="0" rIns="0" bIns="0" rtlCol="0" anchor="ctr"/>
          <a:lstStyle/>
          <a:p>
            <a:pPr algn="ctr" indent="0" marL="0">
              <a:buNone/>
            </a:pPr>
            <a:r>
              <a:rPr lang="en-US" sz="1100" b="1" dirty="0">
                <a:solidFill>
                  <a:srgbClr val="FFFFFF"/>
                </a:solidFill>
                <a:latin typeface="Cambria" pitchFamily="34" charset="0"/>
                <a:ea typeface="Cambria" pitchFamily="34" charset="-122"/>
                <a:cs typeface="Cambria" pitchFamily="34" charset="-120"/>
              </a:rPr>
              <a:t>1</a:t>
            </a:r>
            <a:endParaRPr lang="en-US" sz="1100" dirty="0"/>
          </a:p>
        </p:txBody>
      </p:sp>
      <p:sp>
        <p:nvSpPr>
          <p:cNvPr id="12" name="Text 10"/>
          <p:cNvSpPr txBox="1"/>
          <p:nvPr/>
        </p:nvSpPr>
        <p:spPr>
          <a:xfrm>
            <a:off x="731520" y="1665122"/>
            <a:ext cx="4800600" cy="210312"/>
          </a:xfrm>
          <a:prstGeom prst="rect">
            <a:avLst/>
          </a:prstGeom>
          <a:noFill/>
          <a:ln/>
        </p:spPr>
        <p:txBody>
          <a:bodyPr wrap="square" lIns="0" tIns="0" rIns="0" bIns="0" rtlCol="0" anchor="t"/>
          <a:lstStyle/>
          <a:p>
            <a:pPr indent="0" marL="0">
              <a:buNone/>
            </a:pPr>
            <a:r>
              <a:rPr lang="en-US" sz="1050" dirty="0">
                <a:solidFill>
                  <a:srgbClr val="2B2622"/>
                </a:solidFill>
                <a:latin typeface="Calibri" pitchFamily="34" charset="0"/>
                <a:ea typeface="Calibri" pitchFamily="34" charset="-122"/>
                <a:cs typeface="Calibri" pitchFamily="34" charset="-120"/>
              </a:rPr>
              <a:t>Each of three scripts needs its sibling hashes as a proof.</a:t>
            </a:r>
            <a:endParaRPr lang="en-US" sz="1050" dirty="0"/>
          </a:p>
        </p:txBody>
      </p:sp>
      <p:sp>
        <p:nvSpPr>
          <p:cNvPr id="13" name="Shape 11"/>
          <p:cNvSpPr/>
          <p:nvPr/>
        </p:nvSpPr>
        <p:spPr>
          <a:xfrm>
            <a:off x="365760" y="1884578"/>
            <a:ext cx="237744" cy="237744"/>
          </a:xfrm>
          <a:prstGeom prst="ellipse">
            <a:avLst/>
          </a:prstGeom>
          <a:solidFill>
            <a:srgbClr val="D97A14"/>
          </a:solidFill>
          <a:ln w="12700">
            <a:solidFill>
              <a:srgbClr val="D97A14"/>
            </a:solidFill>
            <a:prstDash val="solid"/>
          </a:ln>
        </p:spPr>
      </p:sp>
      <p:sp>
        <p:nvSpPr>
          <p:cNvPr id="14" name="Text 12"/>
          <p:cNvSpPr txBox="1"/>
          <p:nvPr/>
        </p:nvSpPr>
        <p:spPr>
          <a:xfrm>
            <a:off x="365760" y="1884578"/>
            <a:ext cx="237744" cy="237744"/>
          </a:xfrm>
          <a:prstGeom prst="rect">
            <a:avLst/>
          </a:prstGeom>
          <a:noFill/>
          <a:ln/>
        </p:spPr>
        <p:txBody>
          <a:bodyPr wrap="square" lIns="0" tIns="0" rIns="0" bIns="0" rtlCol="0" anchor="ctr"/>
          <a:lstStyle/>
          <a:p>
            <a:pPr algn="ctr" indent="0" marL="0">
              <a:buNone/>
            </a:pPr>
            <a:r>
              <a:rPr lang="en-US" sz="1100" b="1" dirty="0">
                <a:solidFill>
                  <a:srgbClr val="FFFFFF"/>
                </a:solidFill>
                <a:latin typeface="Cambria" pitchFamily="34" charset="0"/>
                <a:ea typeface="Cambria" pitchFamily="34" charset="-122"/>
                <a:cs typeface="Cambria" pitchFamily="34" charset="-120"/>
              </a:rPr>
              <a:t>2</a:t>
            </a:r>
            <a:endParaRPr lang="en-US" sz="1100" dirty="0"/>
          </a:p>
        </p:txBody>
      </p:sp>
      <p:sp>
        <p:nvSpPr>
          <p:cNvPr id="15" name="Text 13"/>
          <p:cNvSpPr txBox="1"/>
          <p:nvPr/>
        </p:nvSpPr>
        <p:spPr>
          <a:xfrm>
            <a:off x="731520" y="2791663"/>
            <a:ext cx="4800600" cy="210312"/>
          </a:xfrm>
          <a:prstGeom prst="rect">
            <a:avLst/>
          </a:prstGeom>
          <a:noFill/>
          <a:ln/>
        </p:spPr>
        <p:txBody>
          <a:bodyPr wrap="square" lIns="0" tIns="0" rIns="0" bIns="0" rtlCol="0" anchor="t"/>
          <a:lstStyle/>
          <a:p>
            <a:pPr indent="0" marL="0">
              <a:buNone/>
            </a:pPr>
            <a:r>
              <a:rPr lang="en-US" sz="1050" dirty="0">
                <a:solidFill>
                  <a:srgbClr val="2B2622"/>
                </a:solidFill>
                <a:latin typeface="Calibri" pitchFamily="34" charset="0"/>
                <a:ea typeface="Calibri" pitchFamily="34" charset="-122"/>
                <a:cs typeface="Calibri" pitchFamily="34" charset="-120"/>
              </a:rPr>
              <a:t>A tree of n scripts needs about log2 of n hashes per spend.</a:t>
            </a:r>
            <a:endParaRPr lang="en-US" sz="1050" dirty="0"/>
          </a:p>
        </p:txBody>
      </p:sp>
      <p:sp>
        <p:nvSpPr>
          <p:cNvPr id="16" name="Text 14"/>
          <p:cNvSpPr txBox="1"/>
          <p:nvPr/>
        </p:nvSpPr>
        <p:spPr>
          <a:xfrm>
            <a:off x="457200" y="3047695"/>
            <a:ext cx="5074920" cy="182880"/>
          </a:xfrm>
          <a:prstGeom prst="rect">
            <a:avLst/>
          </a:prstGeom>
          <a:noFill/>
          <a:ln/>
        </p:spPr>
        <p:txBody>
          <a:bodyPr wrap="square" lIns="0" tIns="0" rIns="0" bIns="0" rtlCol="0" anchor="ctr"/>
          <a:lstStyle/>
          <a:p>
            <a:pPr algn="l" indent="0" marL="0">
              <a:buNone/>
            </a:pPr>
            <a:r>
              <a:rPr lang="en-US" sz="900" i="1" dirty="0">
                <a:solidFill>
                  <a:srgbClr val="6E655C"/>
                </a:solidFill>
                <a:latin typeface="Calibri" pitchFamily="34" charset="0"/>
                <a:ea typeface="Calibri" pitchFamily="34" charset="-122"/>
                <a:cs typeface="Calibri" pitchFamily="34" charset="-120"/>
              </a:rPr>
              <a:t>run under Python 3.14.6 - L, K and the chapter setup as on slide 7</a:t>
            </a:r>
            <a:endParaRPr lang="en-US" sz="900" dirty="0"/>
          </a:p>
        </p:txBody>
      </p:sp>
      <p:sp>
        <p:nvSpPr>
          <p:cNvPr id="17" name="Text 15"/>
          <p:cNvSpPr txBox="1"/>
          <p:nvPr/>
        </p:nvSpPr>
        <p:spPr>
          <a:xfrm>
            <a:off x="5715000" y="1325880"/>
            <a:ext cx="2971800" cy="402336"/>
          </a:xfrm>
          <a:prstGeom prst="rect">
            <a:avLst/>
          </a:prstGeom>
          <a:noFill/>
          <a:ln/>
        </p:spPr>
        <p:txBody>
          <a:bodyPr wrap="square" lIns="0" tIns="0" rIns="0" bIns="0" rtlCol="0" anchor="t"/>
          <a:lstStyle/>
          <a:p>
            <a:pPr algn="l" indent="0" marL="0">
              <a:buNone/>
            </a:pPr>
            <a:r>
              <a:rPr lang="en-US" sz="1100" b="1" dirty="0">
                <a:solidFill>
                  <a:srgbClr val="6E655C"/>
                </a:solidFill>
                <a:latin typeface="Calibri" pitchFamily="34" charset="0"/>
                <a:ea typeface="Calibri" pitchFamily="34" charset="-122"/>
                <a:cs typeface="Calibri" pitchFamily="34" charset="-120"/>
              </a:rPr>
              <a:t>Result: hashes in a proof, by scripts in the tree</a:t>
            </a:r>
            <a:endParaRPr lang="en-US" sz="1100" dirty="0"/>
          </a:p>
        </p:txBody>
      </p:sp>
      <p:graphicFrame>
        <p:nvGraphicFramePr>
          <p:cNvPr id="18" name="Chart 0" descr=""/>
          <p:cNvGraphicFramePr/>
          <p:nvPr/>
        </p:nvGraphicFramePr>
        <p:xfrm>
          <a:off x="5715000" y="1773936"/>
          <a:ext cx="2971800" cy="2075688"/>
        </p:xfrm>
        <a:graphic xmlns:a="http://schemas.openxmlformats.org/drawingml/2006/main">
          <a:graphicData uri="http://schemas.openxmlformats.org/drawingml/2006/chart">
            <c:chart xmlns:c="http://schemas.openxmlformats.org/drawingml/2006/chart" r:id="rId1"/>
          </a:graphicData>
        </a:graphic>
      </p:graphicFrame>
      <p:sp>
        <p:nvSpPr>
          <p:cNvPr id="19" name="Text 16"/>
          <p:cNvSpPr txBox="1"/>
          <p:nvPr/>
        </p:nvSpPr>
        <p:spPr>
          <a:xfrm>
            <a:off x="5715000" y="3941064"/>
            <a:ext cx="2971800" cy="603504"/>
          </a:xfrm>
          <a:prstGeom prst="rect">
            <a:avLst/>
          </a:prstGeom>
          <a:noFill/>
          <a:ln/>
        </p:spPr>
        <p:txBody>
          <a:bodyPr wrap="square" lIns="0" tIns="0" rIns="0" bIns="0" rtlCol="0" anchor="t"/>
          <a:lstStyle/>
          <a:p>
            <a:pPr algn="l" indent="0" marL="0">
              <a:buNone/>
            </a:pPr>
            <a:r>
              <a:rPr lang="en-US" sz="1150" i="1" dirty="0">
                <a:solidFill>
                  <a:srgbClr val="2B2622"/>
                </a:solidFill>
                <a:latin typeface="Calibri" pitchFamily="34" charset="0"/>
                <a:ea typeface="Calibri" pitchFamily="34" charset="-122"/>
                <a:cs typeface="Calibri" pitchFamily="34" charset="-120"/>
              </a:rPr>
              <a:t>Our three scripts need 2, 2, 1 hashes each. A tree of 1,048,576 scripts needs only 20.</a:t>
            </a:r>
            <a:endParaRPr lang="en-US" sz="1150" dirty="0"/>
          </a:p>
        </p:txBody>
      </p:sp>
      <p:sp>
        <p:nvSpPr>
          <p:cNvPr id="20" name="Shape 17"/>
          <p:cNvSpPr/>
          <p:nvPr/>
        </p:nvSpPr>
        <p:spPr>
          <a:xfrm>
            <a:off x="457200" y="4636008"/>
            <a:ext cx="91440" cy="310896"/>
          </a:xfrm>
          <a:prstGeom prst="rect">
            <a:avLst/>
          </a:prstGeom>
          <a:solidFill>
            <a:srgbClr val="D97A14"/>
          </a:solidFill>
          <a:ln w="12700">
            <a:solidFill>
              <a:srgbClr val="D97A14"/>
            </a:solidFill>
            <a:prstDash val="solid"/>
          </a:ln>
        </p:spPr>
      </p:sp>
      <p:sp>
        <p:nvSpPr>
          <p:cNvPr id="21" name="Text 18"/>
          <p:cNvSpPr txBox="1"/>
          <p:nvPr/>
        </p:nvSpPr>
        <p:spPr>
          <a:xfrm>
            <a:off x="658368" y="4599432"/>
            <a:ext cx="6949440" cy="384048"/>
          </a:xfrm>
          <a:prstGeom prst="rect">
            <a:avLst/>
          </a:prstGeom>
          <a:noFill/>
          <a:ln/>
        </p:spPr>
        <p:txBody>
          <a:bodyPr wrap="square" lIns="0" tIns="0" rIns="0" bIns="0" rtlCol="0" anchor="ctr"/>
          <a:lstStyle/>
          <a:p>
            <a:pPr indent="0" marL="0">
              <a:buNone/>
            </a:pPr>
            <a:r>
              <a:rPr lang="en-US" sz="1350" b="1" i="1" dirty="0">
                <a:solidFill>
                  <a:srgbClr val="2B2622"/>
                </a:solidFill>
                <a:latin typeface="Cambria" pitchFamily="34" charset="0"/>
                <a:ea typeface="Cambria" pitchFamily="34" charset="-122"/>
                <a:cs typeface="Cambria" pitchFamily="34" charset="-120"/>
              </a:rPr>
              <a:t>A million scripts need only twenty hashes in a proof</a:t>
            </a:r>
            <a:endParaRPr lang="en-US" sz="1350" dirty="0"/>
          </a:p>
        </p:txBody>
      </p:sp>
      <p:sp>
        <p:nvSpPr>
          <p:cNvPr id="22" name="Text 19"/>
          <p:cNvSpPr txBox="1"/>
          <p:nvPr/>
        </p:nvSpPr>
        <p:spPr>
          <a:xfrm>
            <a:off x="7863840" y="4645152"/>
            <a:ext cx="868680" cy="310896"/>
          </a:xfrm>
          <a:prstGeom prst="rect">
            <a:avLst/>
          </a:prstGeom>
          <a:noFill/>
          <a:ln/>
        </p:spPr>
        <p:txBody>
          <a:bodyPr wrap="square" lIns="0" tIns="0" rIns="0" bIns="0" rtlCol="0" anchor="ctr"/>
          <a:lstStyle/>
          <a:p>
            <a:pPr algn="r" indent="0" marL="0">
              <a:buNone/>
            </a:pPr>
            <a:r>
              <a:rPr lang="en-US" sz="1100" dirty="0">
                <a:solidFill>
                  <a:srgbClr val="6E655C"/>
                </a:solidFill>
                <a:latin typeface="Calibri" pitchFamily="34" charset="0"/>
                <a:ea typeface="Calibri" pitchFamily="34" charset="-122"/>
                <a:cs typeface="Calibri" pitchFamily="34" charset="-120"/>
              </a:rPr>
              <a:t>47 / 61</a:t>
            </a:r>
            <a:endParaRPr lang="en-US" sz="11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AF6EF"/>
        </a:solidFill>
      </p:bgPr>
    </p:bg>
    <p:spTree>
      <p:nvGrpSpPr>
        <p:cNvPr id="1" name=""/>
        <p:cNvGrpSpPr/>
        <p:nvPr/>
      </p:nvGrpSpPr>
      <p:grpSpPr>
        <a:xfrm>
          <a:off x="0" y="0"/>
          <a:ext cx="0" cy="0"/>
          <a:chOff x="0" y="0"/>
          <a:chExt cx="0" cy="0"/>
        </a:xfrm>
      </p:grpSpPr>
      <p:sp>
        <p:nvSpPr>
          <p:cNvPr id="2" name="Shape 0"/>
          <p:cNvSpPr/>
          <p:nvPr/>
        </p:nvSpPr>
        <p:spPr>
          <a:xfrm>
            <a:off x="457200" y="347472"/>
            <a:ext cx="566928" cy="384048"/>
          </a:xfrm>
          <a:prstGeom prst="roundRect">
            <a:avLst>
              <a:gd name="adj" fmla="val 19048"/>
            </a:avLst>
          </a:prstGeom>
          <a:solidFill>
            <a:srgbClr val="D97A14"/>
          </a:solidFill>
          <a:ln w="12700">
            <a:solidFill>
              <a:srgbClr val="D97A14"/>
            </a:solidFill>
            <a:prstDash val="solid"/>
          </a:ln>
        </p:spPr>
      </p:sp>
      <p:sp>
        <p:nvSpPr>
          <p:cNvPr id="3" name="Text 1"/>
          <p:cNvSpPr txBox="1"/>
          <p:nvPr/>
        </p:nvSpPr>
        <p:spPr>
          <a:xfrm>
            <a:off x="457200" y="347472"/>
            <a:ext cx="56692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4" name="Text 2"/>
          <p:cNvSpPr txBox="1"/>
          <p:nvPr/>
        </p:nvSpPr>
        <p:spPr>
          <a:xfrm>
            <a:off x="1143000" y="237744"/>
            <a:ext cx="7543800" cy="566928"/>
          </a:xfrm>
          <a:prstGeom prst="rect">
            <a:avLst/>
          </a:prstGeom>
          <a:noFill/>
          <a:ln/>
        </p:spPr>
        <p:txBody>
          <a:bodyPr wrap="square" lIns="0" tIns="0" rIns="0" bIns="0" rtlCol="0" anchor="ctr"/>
          <a:lstStyle/>
          <a:p>
            <a:pPr indent="0" marL="0">
              <a:buNone/>
            </a:pPr>
            <a:r>
              <a:rPr lang="en-US" sz="2500" b="1" dirty="0">
                <a:solidFill>
                  <a:srgbClr val="2B2622"/>
                </a:solidFill>
                <a:latin typeface="Cambria" pitchFamily="34" charset="0"/>
                <a:ea typeface="Cambria" pitchFamily="34" charset="-122"/>
                <a:cs typeface="Cambria" pitchFamily="34" charset="-120"/>
              </a:rPr>
              <a:t>Script trees and key tweaks (2 of 3)</a:t>
            </a:r>
            <a:endParaRPr lang="en-US" sz="2500" dirty="0"/>
          </a:p>
        </p:txBody>
      </p:sp>
      <p:sp>
        <p:nvSpPr>
          <p:cNvPr id="5" name="Text 3"/>
          <p:cNvSpPr txBox="1"/>
          <p:nvPr/>
        </p:nvSpPr>
        <p:spPr>
          <a:xfrm>
            <a:off x="1143000" y="786384"/>
            <a:ext cx="7543800" cy="310896"/>
          </a:xfrm>
          <a:prstGeom prst="rect">
            <a:avLst/>
          </a:prstGeom>
          <a:noFill/>
          <a:ln/>
        </p:spPr>
        <p:txBody>
          <a:bodyPr wrap="square" lIns="0" tIns="0" rIns="0" bIns="0" rtlCol="0" anchor="ctr"/>
          <a:lstStyle/>
          <a:p>
            <a:pPr indent="0" marL="0">
              <a:buNone/>
            </a:pPr>
            <a:r>
              <a:rPr lang="en-US" sz="1300" i="1" dirty="0">
                <a:solidFill>
                  <a:srgbClr val="6E655C"/>
                </a:solidFill>
                <a:latin typeface="Calibri" pitchFamily="34" charset="0"/>
                <a:ea typeface="Calibri" pitchFamily="34" charset="-122"/>
                <a:cs typeface="Calibri" pitchFamily="34" charset="-120"/>
              </a:rPr>
              <a:t>Each card: the meaning in a few words, then something you already know</a:t>
            </a:r>
            <a:endParaRPr lang="en-US" sz="1300" dirty="0"/>
          </a:p>
        </p:txBody>
      </p:sp>
      <p:sp>
        <p:nvSpPr>
          <p:cNvPr id="6" name="Shape 4"/>
          <p:cNvSpPr/>
          <p:nvPr/>
        </p:nvSpPr>
        <p:spPr>
          <a:xfrm>
            <a:off x="457200" y="1280160"/>
            <a:ext cx="4041648" cy="1161288"/>
          </a:xfrm>
          <a:prstGeom prst="roundRect">
            <a:avLst>
              <a:gd name="adj" fmla="val 6299"/>
            </a:avLst>
          </a:prstGeom>
          <a:solidFill>
            <a:srgbClr val="F2ECE1"/>
          </a:solidFill>
          <a:ln w="12700">
            <a:solidFill>
              <a:srgbClr val="DFD6C7"/>
            </a:solidFill>
            <a:prstDash val="solid"/>
          </a:ln>
        </p:spPr>
      </p:sp>
      <p:sp>
        <p:nvSpPr>
          <p:cNvPr id="7" name="Shape 5"/>
          <p:cNvSpPr/>
          <p:nvPr/>
        </p:nvSpPr>
        <p:spPr>
          <a:xfrm>
            <a:off x="475488" y="1408176"/>
            <a:ext cx="64008" cy="905256"/>
          </a:xfrm>
          <a:prstGeom prst="rect">
            <a:avLst/>
          </a:prstGeom>
          <a:solidFill>
            <a:srgbClr val="D97A14"/>
          </a:solidFill>
          <a:ln w="12700">
            <a:solidFill>
              <a:srgbClr val="D97A14"/>
            </a:solidFill>
            <a:prstDash val="solid"/>
          </a:ln>
        </p:spPr>
      </p:sp>
      <p:sp>
        <p:nvSpPr>
          <p:cNvPr id="8" name="Text 6"/>
          <p:cNvSpPr txBox="1"/>
          <p:nvPr/>
        </p:nvSpPr>
        <p:spPr>
          <a:xfrm>
            <a:off x="640080" y="1344168"/>
            <a:ext cx="3767328" cy="612648"/>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merkle root</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The single hash at the top of a tree of hashes.</a:t>
            </a:r>
            <a:endParaRPr lang="en-US" sz="1300" dirty="0"/>
          </a:p>
        </p:txBody>
      </p:sp>
      <p:sp>
        <p:nvSpPr>
          <p:cNvPr id="9" name="Text 7"/>
          <p:cNvSpPr txBox="1"/>
          <p:nvPr/>
        </p:nvSpPr>
        <p:spPr>
          <a:xfrm>
            <a:off x="640080" y="1984248"/>
            <a:ext cx="3767328" cy="393192"/>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the seal on top of a pyramid of stamped boxes.</a:t>
            </a:r>
            <a:endParaRPr lang="en-US" sz="1150" dirty="0"/>
          </a:p>
        </p:txBody>
      </p:sp>
      <p:sp>
        <p:nvSpPr>
          <p:cNvPr id="10" name="Shape 8"/>
          <p:cNvSpPr/>
          <p:nvPr/>
        </p:nvSpPr>
        <p:spPr>
          <a:xfrm>
            <a:off x="4645152" y="1280160"/>
            <a:ext cx="4041648" cy="1161288"/>
          </a:xfrm>
          <a:prstGeom prst="roundRect">
            <a:avLst>
              <a:gd name="adj" fmla="val 6299"/>
            </a:avLst>
          </a:prstGeom>
          <a:solidFill>
            <a:srgbClr val="F2ECE1"/>
          </a:solidFill>
          <a:ln w="12700">
            <a:solidFill>
              <a:srgbClr val="DFD6C7"/>
            </a:solidFill>
            <a:prstDash val="solid"/>
          </a:ln>
        </p:spPr>
      </p:sp>
      <p:sp>
        <p:nvSpPr>
          <p:cNvPr id="11" name="Shape 9"/>
          <p:cNvSpPr/>
          <p:nvPr/>
        </p:nvSpPr>
        <p:spPr>
          <a:xfrm>
            <a:off x="4663440" y="1408176"/>
            <a:ext cx="64008" cy="905256"/>
          </a:xfrm>
          <a:prstGeom prst="rect">
            <a:avLst/>
          </a:prstGeom>
          <a:solidFill>
            <a:srgbClr val="D97A14"/>
          </a:solidFill>
          <a:ln w="12700">
            <a:solidFill>
              <a:srgbClr val="D97A14"/>
            </a:solidFill>
            <a:prstDash val="solid"/>
          </a:ln>
        </p:spPr>
      </p:sp>
      <p:sp>
        <p:nvSpPr>
          <p:cNvPr id="12" name="Text 10"/>
          <p:cNvSpPr txBox="1"/>
          <p:nvPr/>
        </p:nvSpPr>
        <p:spPr>
          <a:xfrm>
            <a:off x="4828032" y="1344168"/>
            <a:ext cx="3767328" cy="612648"/>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membership proof</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The sibling hashes that prove a leaf belongs to the tree.</a:t>
            </a:r>
            <a:endParaRPr lang="en-US" sz="1300" dirty="0"/>
          </a:p>
        </p:txBody>
      </p:sp>
      <p:sp>
        <p:nvSpPr>
          <p:cNvPr id="13" name="Text 11"/>
          <p:cNvSpPr txBox="1"/>
          <p:nvPr/>
        </p:nvSpPr>
        <p:spPr>
          <a:xfrm>
            <a:off x="4828032" y="1984248"/>
            <a:ext cx="3767328" cy="393192"/>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the chain of members who vouch that someone belongs to a club.</a:t>
            </a:r>
            <a:endParaRPr lang="en-US" sz="1150" dirty="0"/>
          </a:p>
        </p:txBody>
      </p:sp>
      <p:sp>
        <p:nvSpPr>
          <p:cNvPr id="14" name="Shape 12"/>
          <p:cNvSpPr/>
          <p:nvPr/>
        </p:nvSpPr>
        <p:spPr>
          <a:xfrm>
            <a:off x="457200" y="2569464"/>
            <a:ext cx="4041648" cy="1161288"/>
          </a:xfrm>
          <a:prstGeom prst="roundRect">
            <a:avLst>
              <a:gd name="adj" fmla="val 6299"/>
            </a:avLst>
          </a:prstGeom>
          <a:solidFill>
            <a:srgbClr val="F2ECE1"/>
          </a:solidFill>
          <a:ln w="12700">
            <a:solidFill>
              <a:srgbClr val="DFD6C7"/>
            </a:solidFill>
            <a:prstDash val="solid"/>
          </a:ln>
        </p:spPr>
      </p:sp>
      <p:sp>
        <p:nvSpPr>
          <p:cNvPr id="15" name="Shape 13"/>
          <p:cNvSpPr/>
          <p:nvPr/>
        </p:nvSpPr>
        <p:spPr>
          <a:xfrm>
            <a:off x="475488" y="2697480"/>
            <a:ext cx="64008" cy="905256"/>
          </a:xfrm>
          <a:prstGeom prst="rect">
            <a:avLst/>
          </a:prstGeom>
          <a:solidFill>
            <a:srgbClr val="D97A14"/>
          </a:solidFill>
          <a:ln w="12700">
            <a:solidFill>
              <a:srgbClr val="D97A14"/>
            </a:solidFill>
            <a:prstDash val="solid"/>
          </a:ln>
        </p:spPr>
      </p:sp>
      <p:sp>
        <p:nvSpPr>
          <p:cNvPr id="16" name="Text 14"/>
          <p:cNvSpPr txBox="1"/>
          <p:nvPr/>
        </p:nvSpPr>
        <p:spPr>
          <a:xfrm>
            <a:off x="640080" y="2633472"/>
            <a:ext cx="3767328" cy="612648"/>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key tweak</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A small number, derived from a hash, added to a key.</a:t>
            </a:r>
            <a:endParaRPr lang="en-US" sz="1300" dirty="0"/>
          </a:p>
        </p:txBody>
      </p:sp>
      <p:sp>
        <p:nvSpPr>
          <p:cNvPr id="17" name="Text 15"/>
          <p:cNvSpPr txBox="1"/>
          <p:nvPr/>
        </p:nvSpPr>
        <p:spPr>
          <a:xfrm>
            <a:off x="640080" y="3273552"/>
            <a:ext cx="3767328" cy="214884"/>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a tiny adjustment screw on a lock.</a:t>
            </a:r>
            <a:endParaRPr lang="en-US" sz="1150" dirty="0"/>
          </a:p>
        </p:txBody>
      </p:sp>
      <p:sp>
        <p:nvSpPr>
          <p:cNvPr id="18" name="Shape 16"/>
          <p:cNvSpPr/>
          <p:nvPr/>
        </p:nvSpPr>
        <p:spPr>
          <a:xfrm>
            <a:off x="4645152" y="2569464"/>
            <a:ext cx="4041648" cy="1161288"/>
          </a:xfrm>
          <a:prstGeom prst="roundRect">
            <a:avLst>
              <a:gd name="adj" fmla="val 6299"/>
            </a:avLst>
          </a:prstGeom>
          <a:solidFill>
            <a:srgbClr val="F2ECE1"/>
          </a:solidFill>
          <a:ln w="12700">
            <a:solidFill>
              <a:srgbClr val="DFD6C7"/>
            </a:solidFill>
            <a:prstDash val="solid"/>
          </a:ln>
        </p:spPr>
      </p:sp>
      <p:sp>
        <p:nvSpPr>
          <p:cNvPr id="19" name="Shape 17"/>
          <p:cNvSpPr/>
          <p:nvPr/>
        </p:nvSpPr>
        <p:spPr>
          <a:xfrm>
            <a:off x="4663440" y="2697480"/>
            <a:ext cx="64008" cy="905256"/>
          </a:xfrm>
          <a:prstGeom prst="rect">
            <a:avLst/>
          </a:prstGeom>
          <a:solidFill>
            <a:srgbClr val="D97A14"/>
          </a:solidFill>
          <a:ln w="12700">
            <a:solidFill>
              <a:srgbClr val="D97A14"/>
            </a:solidFill>
            <a:prstDash val="solid"/>
          </a:ln>
        </p:spPr>
      </p:sp>
      <p:sp>
        <p:nvSpPr>
          <p:cNvPr id="20" name="Text 18"/>
          <p:cNvSpPr txBox="1"/>
          <p:nvPr/>
        </p:nvSpPr>
        <p:spPr>
          <a:xfrm>
            <a:off x="4828032" y="2633472"/>
            <a:ext cx="3767328" cy="434340"/>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scriptless multisignature</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A joint signature that shows no script at all.</a:t>
            </a:r>
            <a:endParaRPr lang="en-US" sz="1300" dirty="0"/>
          </a:p>
        </p:txBody>
      </p:sp>
      <p:sp>
        <p:nvSpPr>
          <p:cNvPr id="21" name="Text 19"/>
          <p:cNvSpPr txBox="1"/>
          <p:nvPr/>
        </p:nvSpPr>
        <p:spPr>
          <a:xfrm>
            <a:off x="4828032" y="3095244"/>
            <a:ext cx="3767328" cy="393192"/>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a group letter that looks like one person's.</a:t>
            </a:r>
            <a:endParaRPr lang="en-US" sz="1150" dirty="0"/>
          </a:p>
        </p:txBody>
      </p:sp>
      <p:sp>
        <p:nvSpPr>
          <p:cNvPr id="22" name="Shape 20"/>
          <p:cNvSpPr/>
          <p:nvPr/>
        </p:nvSpPr>
        <p:spPr>
          <a:xfrm>
            <a:off x="457200" y="4636008"/>
            <a:ext cx="91440" cy="310896"/>
          </a:xfrm>
          <a:prstGeom prst="rect">
            <a:avLst/>
          </a:prstGeom>
          <a:solidFill>
            <a:srgbClr val="D97A14"/>
          </a:solidFill>
          <a:ln w="12700">
            <a:solidFill>
              <a:srgbClr val="D97A14"/>
            </a:solidFill>
            <a:prstDash val="solid"/>
          </a:ln>
        </p:spPr>
      </p:sp>
      <p:sp>
        <p:nvSpPr>
          <p:cNvPr id="23" name="Text 21"/>
          <p:cNvSpPr txBox="1"/>
          <p:nvPr/>
        </p:nvSpPr>
        <p:spPr>
          <a:xfrm>
            <a:off x="658368" y="4599432"/>
            <a:ext cx="6949440" cy="384048"/>
          </a:xfrm>
          <a:prstGeom prst="rect">
            <a:avLst/>
          </a:prstGeom>
          <a:noFill/>
          <a:ln/>
        </p:spPr>
        <p:txBody>
          <a:bodyPr wrap="square" lIns="0" tIns="0" rIns="0" bIns="0" rtlCol="0" anchor="ctr"/>
          <a:lstStyle/>
          <a:p>
            <a:pPr indent="0" marL="0">
              <a:buNone/>
            </a:pPr>
            <a:r>
              <a:rPr lang="en-US" sz="1350" b="1" i="1" dirty="0">
                <a:solidFill>
                  <a:srgbClr val="2B2622"/>
                </a:solidFill>
                <a:latin typeface="Cambria" pitchFamily="34" charset="0"/>
                <a:ea typeface="Cambria" pitchFamily="34" charset="-122"/>
                <a:cs typeface="Cambria" pitchFamily="34" charset="-120"/>
              </a:rPr>
              <a:t>Say each idea twice: once as the meaning, once as the everyday comparison</a:t>
            </a:r>
            <a:endParaRPr lang="en-US" sz="1350" dirty="0"/>
          </a:p>
        </p:txBody>
      </p:sp>
      <p:sp>
        <p:nvSpPr>
          <p:cNvPr id="24" name="Text 22"/>
          <p:cNvSpPr txBox="1"/>
          <p:nvPr/>
        </p:nvSpPr>
        <p:spPr>
          <a:xfrm>
            <a:off x="7863840" y="4645152"/>
            <a:ext cx="868680" cy="310896"/>
          </a:xfrm>
          <a:prstGeom prst="rect">
            <a:avLst/>
          </a:prstGeom>
          <a:noFill/>
          <a:ln/>
        </p:spPr>
        <p:txBody>
          <a:bodyPr wrap="square" lIns="0" tIns="0" rIns="0" bIns="0" rtlCol="0" anchor="ctr"/>
          <a:lstStyle/>
          <a:p>
            <a:pPr algn="r" indent="0" marL="0">
              <a:buNone/>
            </a:pPr>
            <a:r>
              <a:rPr lang="en-US" sz="1100" dirty="0">
                <a:solidFill>
                  <a:srgbClr val="6E655C"/>
                </a:solidFill>
                <a:latin typeface="Calibri" pitchFamily="34" charset="0"/>
                <a:ea typeface="Calibri" pitchFamily="34" charset="-122"/>
                <a:cs typeface="Calibri" pitchFamily="34" charset="-120"/>
              </a:rPr>
              <a:t>48 / 61</a:t>
            </a:r>
            <a:endParaRPr lang="en-US" sz="11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AF6EF"/>
        </a:solidFill>
      </p:bgPr>
    </p:bg>
    <p:spTree>
      <p:nvGrpSpPr>
        <p:cNvPr id="1" name=""/>
        <p:cNvGrpSpPr/>
        <p:nvPr/>
      </p:nvGrpSpPr>
      <p:grpSpPr>
        <a:xfrm>
          <a:off x="0" y="0"/>
          <a:ext cx="0" cy="0"/>
          <a:chOff x="0" y="0"/>
          <a:chExt cx="0" cy="0"/>
        </a:xfrm>
      </p:grpSpPr>
      <p:sp>
        <p:nvSpPr>
          <p:cNvPr id="2" name="Shape 0"/>
          <p:cNvSpPr/>
          <p:nvPr/>
        </p:nvSpPr>
        <p:spPr>
          <a:xfrm>
            <a:off x="457200" y="347472"/>
            <a:ext cx="566928" cy="384048"/>
          </a:xfrm>
          <a:prstGeom prst="roundRect">
            <a:avLst>
              <a:gd name="adj" fmla="val 19048"/>
            </a:avLst>
          </a:prstGeom>
          <a:solidFill>
            <a:srgbClr val="D97A14"/>
          </a:solidFill>
          <a:ln w="12700">
            <a:solidFill>
              <a:srgbClr val="D97A14"/>
            </a:solidFill>
            <a:prstDash val="solid"/>
          </a:ln>
        </p:spPr>
      </p:sp>
      <p:sp>
        <p:nvSpPr>
          <p:cNvPr id="3" name="Text 1"/>
          <p:cNvSpPr txBox="1"/>
          <p:nvPr/>
        </p:nvSpPr>
        <p:spPr>
          <a:xfrm>
            <a:off x="457200" y="347472"/>
            <a:ext cx="56692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4" name="Text 2"/>
          <p:cNvSpPr txBox="1"/>
          <p:nvPr/>
        </p:nvSpPr>
        <p:spPr>
          <a:xfrm>
            <a:off x="1143000" y="237744"/>
            <a:ext cx="7543800" cy="566928"/>
          </a:xfrm>
          <a:prstGeom prst="rect">
            <a:avLst/>
          </a:prstGeom>
          <a:noFill/>
          <a:ln/>
        </p:spPr>
        <p:txBody>
          <a:bodyPr wrap="square" lIns="0" tIns="0" rIns="0" bIns="0" rtlCol="0" anchor="ctr"/>
          <a:lstStyle/>
          <a:p>
            <a:pPr indent="0" marL="0">
              <a:buNone/>
            </a:pPr>
            <a:r>
              <a:rPr lang="en-US" sz="2500" b="1" dirty="0">
                <a:solidFill>
                  <a:srgbClr val="2B2622"/>
                </a:solidFill>
                <a:latin typeface="Cambria" pitchFamily="34" charset="0"/>
                <a:ea typeface="Cambria" pitchFamily="34" charset="-122"/>
                <a:cs typeface="Cambria" pitchFamily="34" charset="-120"/>
              </a:rPr>
              <a:t>Script trees and key tweaks (3 of 3)</a:t>
            </a:r>
            <a:endParaRPr lang="en-US" sz="2500" dirty="0"/>
          </a:p>
        </p:txBody>
      </p:sp>
      <p:sp>
        <p:nvSpPr>
          <p:cNvPr id="5" name="Text 3"/>
          <p:cNvSpPr txBox="1"/>
          <p:nvPr/>
        </p:nvSpPr>
        <p:spPr>
          <a:xfrm>
            <a:off x="1143000" y="786384"/>
            <a:ext cx="7543800" cy="310896"/>
          </a:xfrm>
          <a:prstGeom prst="rect">
            <a:avLst/>
          </a:prstGeom>
          <a:noFill/>
          <a:ln/>
        </p:spPr>
        <p:txBody>
          <a:bodyPr wrap="square" lIns="0" tIns="0" rIns="0" bIns="0" rtlCol="0" anchor="ctr"/>
          <a:lstStyle/>
          <a:p>
            <a:pPr indent="0" marL="0">
              <a:buNone/>
            </a:pPr>
            <a:r>
              <a:rPr lang="en-US" sz="1300" i="1" dirty="0">
                <a:solidFill>
                  <a:srgbClr val="6E655C"/>
                </a:solidFill>
                <a:latin typeface="Calibri" pitchFamily="34" charset="0"/>
                <a:ea typeface="Calibri" pitchFamily="34" charset="-122"/>
                <a:cs typeface="Calibri" pitchFamily="34" charset="-120"/>
              </a:rPr>
              <a:t>Each card: the meaning in a few words, then something you already know</a:t>
            </a:r>
            <a:endParaRPr lang="en-US" sz="1300" dirty="0"/>
          </a:p>
        </p:txBody>
      </p:sp>
      <p:sp>
        <p:nvSpPr>
          <p:cNvPr id="6" name="Shape 4"/>
          <p:cNvSpPr/>
          <p:nvPr/>
        </p:nvSpPr>
        <p:spPr>
          <a:xfrm>
            <a:off x="457200" y="1280160"/>
            <a:ext cx="4041648" cy="1161288"/>
          </a:xfrm>
          <a:prstGeom prst="roundRect">
            <a:avLst>
              <a:gd name="adj" fmla="val 6299"/>
            </a:avLst>
          </a:prstGeom>
          <a:solidFill>
            <a:srgbClr val="F2ECE1"/>
          </a:solidFill>
          <a:ln w="12700">
            <a:solidFill>
              <a:srgbClr val="DFD6C7"/>
            </a:solidFill>
            <a:prstDash val="solid"/>
          </a:ln>
        </p:spPr>
      </p:sp>
      <p:sp>
        <p:nvSpPr>
          <p:cNvPr id="7" name="Shape 5"/>
          <p:cNvSpPr/>
          <p:nvPr/>
        </p:nvSpPr>
        <p:spPr>
          <a:xfrm>
            <a:off x="475488" y="1408176"/>
            <a:ext cx="64008" cy="905256"/>
          </a:xfrm>
          <a:prstGeom prst="rect">
            <a:avLst/>
          </a:prstGeom>
          <a:solidFill>
            <a:srgbClr val="D97A14"/>
          </a:solidFill>
          <a:ln w="12700">
            <a:solidFill>
              <a:srgbClr val="D97A14"/>
            </a:solidFill>
            <a:prstDash val="solid"/>
          </a:ln>
        </p:spPr>
      </p:sp>
      <p:sp>
        <p:nvSpPr>
          <p:cNvPr id="8" name="Text 6"/>
          <p:cNvSpPr txBox="1"/>
          <p:nvPr/>
        </p:nvSpPr>
        <p:spPr>
          <a:xfrm>
            <a:off x="640080" y="1344168"/>
            <a:ext cx="3767328" cy="612648"/>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threshold signature</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Any t of n holders can sign for one shared key.</a:t>
            </a:r>
            <a:endParaRPr lang="en-US" sz="1300" dirty="0"/>
          </a:p>
        </p:txBody>
      </p:sp>
      <p:sp>
        <p:nvSpPr>
          <p:cNvPr id="9" name="Text 7"/>
          <p:cNvSpPr txBox="1"/>
          <p:nvPr/>
        </p:nvSpPr>
        <p:spPr>
          <a:xfrm>
            <a:off x="640080" y="1984248"/>
            <a:ext cx="3767328" cy="393192"/>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a council where any two of three may sign for the town.</a:t>
            </a:r>
            <a:endParaRPr lang="en-US" sz="1150" dirty="0"/>
          </a:p>
        </p:txBody>
      </p:sp>
      <p:sp>
        <p:nvSpPr>
          <p:cNvPr id="10" name="Shape 8"/>
          <p:cNvSpPr/>
          <p:nvPr/>
        </p:nvSpPr>
        <p:spPr>
          <a:xfrm>
            <a:off x="4645152" y="1280160"/>
            <a:ext cx="4041648" cy="1161288"/>
          </a:xfrm>
          <a:prstGeom prst="roundRect">
            <a:avLst>
              <a:gd name="adj" fmla="val 6299"/>
            </a:avLst>
          </a:prstGeom>
          <a:solidFill>
            <a:srgbClr val="F2ECE1"/>
          </a:solidFill>
          <a:ln w="12700">
            <a:solidFill>
              <a:srgbClr val="DFD6C7"/>
            </a:solidFill>
            <a:prstDash val="solid"/>
          </a:ln>
        </p:spPr>
      </p:sp>
      <p:sp>
        <p:nvSpPr>
          <p:cNvPr id="11" name="Shape 9"/>
          <p:cNvSpPr/>
          <p:nvPr/>
        </p:nvSpPr>
        <p:spPr>
          <a:xfrm>
            <a:off x="4663440" y="1408176"/>
            <a:ext cx="64008" cy="905256"/>
          </a:xfrm>
          <a:prstGeom prst="rect">
            <a:avLst/>
          </a:prstGeom>
          <a:solidFill>
            <a:srgbClr val="D97A14"/>
          </a:solidFill>
          <a:ln w="12700">
            <a:solidFill>
              <a:srgbClr val="D97A14"/>
            </a:solidFill>
            <a:prstDash val="solid"/>
          </a:ln>
        </p:spPr>
      </p:sp>
      <p:sp>
        <p:nvSpPr>
          <p:cNvPr id="12" name="Text 10"/>
          <p:cNvSpPr txBox="1"/>
          <p:nvPr/>
        </p:nvSpPr>
        <p:spPr>
          <a:xfrm>
            <a:off x="4828032" y="1344168"/>
            <a:ext cx="3767328" cy="612648"/>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partial public key</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One signer's share, added to the others to make the joint key.</a:t>
            </a:r>
            <a:endParaRPr lang="en-US" sz="1300" dirty="0"/>
          </a:p>
        </p:txBody>
      </p:sp>
      <p:sp>
        <p:nvSpPr>
          <p:cNvPr id="13" name="Text 11"/>
          <p:cNvSpPr txBox="1"/>
          <p:nvPr/>
        </p:nvSpPr>
        <p:spPr>
          <a:xfrm>
            <a:off x="4828032" y="1984248"/>
            <a:ext cx="3767328" cy="393192"/>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one voice of a choir, added to the others.</a:t>
            </a:r>
            <a:endParaRPr lang="en-US" sz="1150" dirty="0"/>
          </a:p>
        </p:txBody>
      </p:sp>
      <p:sp>
        <p:nvSpPr>
          <p:cNvPr id="14" name="Shape 12"/>
          <p:cNvSpPr/>
          <p:nvPr/>
        </p:nvSpPr>
        <p:spPr>
          <a:xfrm>
            <a:off x="457200" y="4636008"/>
            <a:ext cx="91440" cy="310896"/>
          </a:xfrm>
          <a:prstGeom prst="rect">
            <a:avLst/>
          </a:prstGeom>
          <a:solidFill>
            <a:srgbClr val="D97A14"/>
          </a:solidFill>
          <a:ln w="12700">
            <a:solidFill>
              <a:srgbClr val="D97A14"/>
            </a:solidFill>
            <a:prstDash val="solid"/>
          </a:ln>
        </p:spPr>
      </p:sp>
      <p:sp>
        <p:nvSpPr>
          <p:cNvPr id="15" name="Text 13"/>
          <p:cNvSpPr txBox="1"/>
          <p:nvPr/>
        </p:nvSpPr>
        <p:spPr>
          <a:xfrm>
            <a:off x="658368" y="4599432"/>
            <a:ext cx="6949440" cy="384048"/>
          </a:xfrm>
          <a:prstGeom prst="rect">
            <a:avLst/>
          </a:prstGeom>
          <a:noFill/>
          <a:ln/>
        </p:spPr>
        <p:txBody>
          <a:bodyPr wrap="square" lIns="0" tIns="0" rIns="0" bIns="0" rtlCol="0" anchor="ctr"/>
          <a:lstStyle/>
          <a:p>
            <a:pPr indent="0" marL="0">
              <a:buNone/>
            </a:pPr>
            <a:r>
              <a:rPr lang="en-US" sz="1350" b="1" i="1" dirty="0">
                <a:solidFill>
                  <a:srgbClr val="2B2622"/>
                </a:solidFill>
                <a:latin typeface="Cambria" pitchFamily="34" charset="0"/>
                <a:ea typeface="Cambria" pitchFamily="34" charset="-122"/>
                <a:cs typeface="Cambria" pitchFamily="34" charset="-120"/>
              </a:rPr>
              <a:t>Say each idea twice: once as the meaning, once as the everyday comparison</a:t>
            </a:r>
            <a:endParaRPr lang="en-US" sz="1350" dirty="0"/>
          </a:p>
        </p:txBody>
      </p:sp>
      <p:sp>
        <p:nvSpPr>
          <p:cNvPr id="16" name="Text 14"/>
          <p:cNvSpPr txBox="1"/>
          <p:nvPr/>
        </p:nvSpPr>
        <p:spPr>
          <a:xfrm>
            <a:off x="7863840" y="4645152"/>
            <a:ext cx="868680" cy="310896"/>
          </a:xfrm>
          <a:prstGeom prst="rect">
            <a:avLst/>
          </a:prstGeom>
          <a:noFill/>
          <a:ln/>
        </p:spPr>
        <p:txBody>
          <a:bodyPr wrap="square" lIns="0" tIns="0" rIns="0" bIns="0" rtlCol="0" anchor="ctr"/>
          <a:lstStyle/>
          <a:p>
            <a:pPr algn="r" indent="0" marL="0">
              <a:buNone/>
            </a:pPr>
            <a:r>
              <a:rPr lang="en-US" sz="1100" dirty="0">
                <a:solidFill>
                  <a:srgbClr val="6E655C"/>
                </a:solidFill>
                <a:latin typeface="Calibri" pitchFamily="34" charset="0"/>
                <a:ea typeface="Calibri" pitchFamily="34" charset="-122"/>
                <a:cs typeface="Calibri" pitchFamily="34" charset="-120"/>
              </a:rPr>
              <a:t>49 / 61</a:t>
            </a:r>
            <a:endParaRPr lang="en-US" sz="11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AF6EF"/>
        </a:solidFill>
      </p:bgPr>
    </p:bg>
    <p:spTree>
      <p:nvGrpSpPr>
        <p:cNvPr id="1" name=""/>
        <p:cNvGrpSpPr/>
        <p:nvPr/>
      </p:nvGrpSpPr>
      <p:grpSpPr>
        <a:xfrm>
          <a:off x="0" y="0"/>
          <a:ext cx="0" cy="0"/>
          <a:chOff x="0" y="0"/>
          <a:chExt cx="0" cy="0"/>
        </a:xfrm>
      </p:grpSpPr>
      <p:sp>
        <p:nvSpPr>
          <p:cNvPr id="2" name="Shape 0"/>
          <p:cNvSpPr/>
          <p:nvPr/>
        </p:nvSpPr>
        <p:spPr>
          <a:xfrm>
            <a:off x="0" y="0"/>
            <a:ext cx="9144000" cy="219456"/>
          </a:xfrm>
          <a:prstGeom prst="rect">
            <a:avLst/>
          </a:prstGeom>
          <a:solidFill>
            <a:srgbClr val="D97A14"/>
          </a:solidFill>
          <a:ln w="12700">
            <a:solidFill>
              <a:srgbClr val="D97A14"/>
            </a:solidFill>
            <a:prstDash val="solid"/>
          </a:ln>
        </p:spPr>
      </p:sp>
      <p:sp>
        <p:nvSpPr>
          <p:cNvPr id="3" name="Shape 1"/>
          <p:cNvSpPr/>
          <p:nvPr/>
        </p:nvSpPr>
        <p:spPr>
          <a:xfrm>
            <a:off x="457200" y="960120"/>
            <a:ext cx="128016" cy="1417320"/>
          </a:xfrm>
          <a:prstGeom prst="rect">
            <a:avLst/>
          </a:prstGeom>
          <a:solidFill>
            <a:srgbClr val="D97A14"/>
          </a:solidFill>
          <a:ln w="12700">
            <a:solidFill>
              <a:srgbClr val="D97A14"/>
            </a:solidFill>
            <a:prstDash val="solid"/>
          </a:ln>
        </p:spPr>
      </p:sp>
      <p:sp>
        <p:nvSpPr>
          <p:cNvPr id="4" name="Text 2"/>
          <p:cNvSpPr txBox="1"/>
          <p:nvPr/>
        </p:nvSpPr>
        <p:spPr>
          <a:xfrm>
            <a:off x="777240" y="932688"/>
            <a:ext cx="7863840" cy="658368"/>
          </a:xfrm>
          <a:prstGeom prst="rect">
            <a:avLst/>
          </a:prstGeom>
          <a:noFill/>
          <a:ln/>
        </p:spPr>
        <p:txBody>
          <a:bodyPr wrap="square" lIns="0" tIns="0" rIns="0" bIns="0" rtlCol="0" anchor="ctr"/>
          <a:lstStyle/>
          <a:p>
            <a:pPr indent="0" marL="0">
              <a:buNone/>
            </a:pPr>
            <a:r>
              <a:rPr lang="en-US" sz="3200" b="1" dirty="0">
                <a:solidFill>
                  <a:srgbClr val="2B2622"/>
                </a:solidFill>
                <a:latin typeface="Cambria" pitchFamily="34" charset="0"/>
                <a:ea typeface="Cambria" pitchFamily="34" charset="-122"/>
                <a:cs typeface="Cambria" pitchFamily="34" charset="-120"/>
              </a:rPr>
              <a:t>Taproot and tapscript</a:t>
            </a:r>
            <a:endParaRPr lang="en-US" sz="3200" dirty="0"/>
          </a:p>
        </p:txBody>
      </p:sp>
      <p:sp>
        <p:nvSpPr>
          <p:cNvPr id="5" name="Text 3"/>
          <p:cNvSpPr txBox="1"/>
          <p:nvPr/>
        </p:nvSpPr>
        <p:spPr>
          <a:xfrm>
            <a:off x="777240" y="1645920"/>
            <a:ext cx="7863840" cy="384048"/>
          </a:xfrm>
          <a:prstGeom prst="rect">
            <a:avLst/>
          </a:prstGeom>
          <a:noFill/>
          <a:ln/>
        </p:spPr>
        <p:txBody>
          <a:bodyPr wrap="square" lIns="0" tIns="0" rIns="0" bIns="0" rtlCol="0" anchor="t"/>
          <a:lstStyle/>
          <a:p>
            <a:pPr indent="0" marL="0">
              <a:buNone/>
            </a:pPr>
            <a:r>
              <a:rPr lang="en-US" sz="1500" i="1" dirty="0">
                <a:solidFill>
                  <a:srgbClr val="2F6D62"/>
                </a:solidFill>
                <a:latin typeface="Calibri" pitchFamily="34" charset="0"/>
                <a:ea typeface="Calibri" pitchFamily="34" charset="-122"/>
                <a:cs typeface="Calibri" pitchFamily="34" charset="-120"/>
              </a:rPr>
              <a:t>Taproot is a front door with a hidden side entrance.</a:t>
            </a:r>
            <a:endParaRPr lang="en-US" sz="1500" dirty="0"/>
          </a:p>
        </p:txBody>
      </p:sp>
      <p:sp>
        <p:nvSpPr>
          <p:cNvPr id="6" name="Shape 4"/>
          <p:cNvSpPr/>
          <p:nvPr/>
        </p:nvSpPr>
        <p:spPr>
          <a:xfrm>
            <a:off x="777240" y="2103120"/>
            <a:ext cx="3840480" cy="310896"/>
          </a:xfrm>
          <a:prstGeom prst="roundRect">
            <a:avLst>
              <a:gd name="adj" fmla="val 50000"/>
            </a:avLst>
          </a:prstGeom>
          <a:solidFill>
            <a:srgbClr val="D97A14"/>
          </a:solidFill>
          <a:ln w="12700">
            <a:solidFill>
              <a:srgbClr val="D97A14"/>
            </a:solidFill>
            <a:prstDash val="solid"/>
          </a:ln>
        </p:spPr>
      </p:sp>
      <p:sp>
        <p:nvSpPr>
          <p:cNvPr id="7" name="Text 5"/>
          <p:cNvSpPr txBox="1"/>
          <p:nvPr/>
        </p:nvSpPr>
        <p:spPr>
          <a:xfrm>
            <a:off x="850392" y="2103120"/>
            <a:ext cx="369417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Taproot outputs</a:t>
            </a:r>
            <a:endParaRPr lang="en-US" sz="1200" dirty="0"/>
          </a:p>
        </p:txBody>
      </p:sp>
      <p:sp>
        <p:nvSpPr>
          <p:cNvPr id="8" name="Text 6"/>
          <p:cNvSpPr txBox="1"/>
          <p:nvPr/>
        </p:nvSpPr>
        <p:spPr>
          <a:xfrm>
            <a:off x="777240" y="2487168"/>
            <a:ext cx="3840480" cy="393192"/>
          </a:xfrm>
          <a:prstGeom prst="rect">
            <a:avLst/>
          </a:prstGeom>
          <a:noFill/>
          <a:ln/>
        </p:spPr>
        <p:txBody>
          <a:bodyPr wrap="square" lIns="0" tIns="0" rIns="0" bIns="0" rtlCol="0" anchor="t"/>
          <a:lstStyle/>
          <a:p>
            <a:pPr indent="0" marL="0">
              <a:buNone/>
            </a:pPr>
            <a:r>
              <a:rPr lang="en-US" sz="1150" dirty="0">
                <a:solidFill>
                  <a:srgbClr val="2B2622"/>
                </a:solidFill>
                <a:latin typeface="Calibri" pitchFamily="34" charset="0"/>
                <a:ea typeface="Calibri" pitchFamily="34" charset="-122"/>
                <a:cs typeface="Calibri" pitchFamily="34" charset="-120"/>
              </a:rPr>
              <a:t>One output key that is spent with a signature or with a script.</a:t>
            </a:r>
            <a:endParaRPr lang="en-US" sz="1150" dirty="0"/>
          </a:p>
        </p:txBody>
      </p:sp>
      <p:sp>
        <p:nvSpPr>
          <p:cNvPr id="9" name="Text 7"/>
          <p:cNvSpPr txBox="1"/>
          <p:nvPr/>
        </p:nvSpPr>
        <p:spPr>
          <a:xfrm>
            <a:off x="777240" y="2907792"/>
            <a:ext cx="3840480" cy="393192"/>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a front door with a hidden side entrance.</a:t>
            </a:r>
            <a:endParaRPr lang="en-US" sz="1150" dirty="0"/>
          </a:p>
        </p:txBody>
      </p:sp>
      <p:sp>
        <p:nvSpPr>
          <p:cNvPr id="10" name="Shape 8"/>
          <p:cNvSpPr/>
          <p:nvPr/>
        </p:nvSpPr>
        <p:spPr>
          <a:xfrm>
            <a:off x="4800600" y="2103120"/>
            <a:ext cx="3840480" cy="310896"/>
          </a:xfrm>
          <a:prstGeom prst="roundRect">
            <a:avLst>
              <a:gd name="adj" fmla="val 50000"/>
            </a:avLst>
          </a:prstGeom>
          <a:solidFill>
            <a:srgbClr val="D97A14"/>
          </a:solidFill>
          <a:ln w="12700">
            <a:solidFill>
              <a:srgbClr val="D97A14"/>
            </a:solidFill>
            <a:prstDash val="solid"/>
          </a:ln>
        </p:spPr>
      </p:sp>
      <p:sp>
        <p:nvSpPr>
          <p:cNvPr id="11" name="Text 9"/>
          <p:cNvSpPr txBox="1"/>
          <p:nvPr/>
        </p:nvSpPr>
        <p:spPr>
          <a:xfrm>
            <a:off x="4873752" y="2103120"/>
            <a:ext cx="369417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Tapscript</a:t>
            </a:r>
            <a:endParaRPr lang="en-US" sz="1200" dirty="0"/>
          </a:p>
        </p:txBody>
      </p:sp>
      <p:sp>
        <p:nvSpPr>
          <p:cNvPr id="12" name="Text 10"/>
          <p:cNvSpPr txBox="1"/>
          <p:nvPr/>
        </p:nvSpPr>
        <p:spPr>
          <a:xfrm>
            <a:off x="4800600" y="2487168"/>
            <a:ext cx="3840480" cy="393192"/>
          </a:xfrm>
          <a:prstGeom prst="rect">
            <a:avLst/>
          </a:prstGeom>
          <a:noFill/>
          <a:ln/>
        </p:spPr>
        <p:txBody>
          <a:bodyPr wrap="square" lIns="0" tIns="0" rIns="0" bIns="0" rtlCol="0" anchor="t"/>
          <a:lstStyle/>
          <a:p>
            <a:pPr indent="0" marL="0">
              <a:buNone/>
            </a:pPr>
            <a:r>
              <a:rPr lang="en-US" sz="1150" dirty="0">
                <a:solidFill>
                  <a:srgbClr val="2B2622"/>
                </a:solidFill>
                <a:latin typeface="Calibri" pitchFamily="34" charset="0"/>
                <a:ea typeface="Calibri" pitchFamily="34" charset="-122"/>
                <a:cs typeface="Calibri" pitchFamily="34" charset="-120"/>
              </a:rPr>
              <a:t>The script rules that apply inside a taproot spend.</a:t>
            </a:r>
            <a:endParaRPr lang="en-US" sz="1150" dirty="0"/>
          </a:p>
        </p:txBody>
      </p:sp>
      <p:sp>
        <p:nvSpPr>
          <p:cNvPr id="13" name="Text 11"/>
          <p:cNvSpPr txBox="1"/>
          <p:nvPr/>
        </p:nvSpPr>
        <p:spPr>
          <a:xfrm>
            <a:off x="4800600" y="2907792"/>
            <a:ext cx="3840480" cy="393192"/>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the house rules for the side entrance.</a:t>
            </a:r>
            <a:endParaRPr lang="en-US" sz="115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777240" y="3950208"/>
          <a:ext cx="7863840" cy="914400"/>
        </p:xfrm>
        <a:graphic>
          <a:graphicData uri="http://schemas.openxmlformats.org/drawingml/2006/table">
            <a:tbl>
              <a:tblPr/>
              <a:tblGrid>
                <a:gridCol w="874166"/>
                <a:gridCol w="874166"/>
                <a:gridCol w="874166"/>
                <a:gridCol w="874166"/>
                <a:gridCol w="874166"/>
                <a:gridCol w="874166"/>
                <a:gridCol w="874166"/>
                <a:gridCol w="874166"/>
                <a:gridCol w="874166"/>
              </a:tblGrid>
              <a:tr h="365760">
                <a:tc>
                  <a:txBody>
                    <a:bodyPr/>
                    <a:lstStyle/>
                    <a:p>
                      <a:pPr algn="ctr" indent="0" marL="0">
                        <a:buNone/>
                      </a:pPr>
                      <a:r>
                        <a:rPr lang="en-US" sz="1000" dirty="0">
                          <a:solidFill>
                            <a:srgbClr val="2B2622"/>
                          </a:solidFill>
                          <a:latin typeface="Calibri" pitchFamily="34" charset="0"/>
                          <a:ea typeface="Calibri" pitchFamily="34" charset="-122"/>
                          <a:cs typeface="Calibri" pitchFamily="34" charset="-120"/>
                        </a:rPr>
                        <a:t>Language</a:t>
                      </a:r>
                      <a:endParaRPr lang="en-US" sz="10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ECE1"/>
                    </a:solidFill>
                  </a:tcPr>
                </a:tc>
                <a:tc>
                  <a:txBody>
                    <a:bodyPr/>
                    <a:lstStyle/>
                    <a:p>
                      <a:pPr algn="ctr" indent="0" marL="0">
                        <a:buNone/>
                      </a:pPr>
                      <a:r>
                        <a:rPr lang="en-US" sz="1000" dirty="0">
                          <a:solidFill>
                            <a:srgbClr val="2B2622"/>
                          </a:solidFill>
                          <a:latin typeface="Calibri" pitchFamily="34" charset="0"/>
                          <a:ea typeface="Calibri" pitchFamily="34" charset="-122"/>
                          <a:cs typeface="Calibri" pitchFamily="34" charset="-120"/>
                        </a:rPr>
                        <a:t>Keys</a:t>
                      </a:r>
                      <a:endParaRPr lang="en-US" sz="10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ECE1"/>
                    </a:solidFill>
                  </a:tcPr>
                </a:tc>
                <a:tc>
                  <a:txBody>
                    <a:bodyPr/>
                    <a:lstStyle/>
                    <a:p>
                      <a:pPr algn="ctr" indent="0" marL="0">
                        <a:buNone/>
                      </a:pPr>
                      <a:r>
                        <a:rPr lang="en-US" sz="1000" dirty="0">
                          <a:solidFill>
                            <a:srgbClr val="2B2622"/>
                          </a:solidFill>
                          <a:latin typeface="Calibri" pitchFamily="34" charset="0"/>
                          <a:ea typeface="Calibri" pitchFamily="34" charset="-122"/>
                          <a:cs typeface="Calibri" pitchFamily="34" charset="-120"/>
                        </a:rPr>
                        <a:t>Multisig</a:t>
                      </a:r>
                      <a:endParaRPr lang="en-US" sz="10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ECE1"/>
                    </a:solidFill>
                  </a:tcPr>
                </a:tc>
                <a:tc>
                  <a:txBody>
                    <a:bodyPr/>
                    <a:lstStyle/>
                    <a:p>
                      <a:pPr algn="ctr" indent="0" marL="0">
                        <a:buNone/>
                      </a:pPr>
                      <a:r>
                        <a:rPr lang="en-US" sz="1000" dirty="0">
                          <a:solidFill>
                            <a:srgbClr val="2B2622"/>
                          </a:solidFill>
                          <a:latin typeface="Calibri" pitchFamily="34" charset="0"/>
                          <a:ea typeface="Calibri" pitchFamily="34" charset="-122"/>
                          <a:cs typeface="Calibri" pitchFamily="34" charset="-120"/>
                        </a:rPr>
                        <a:t>P2SH</a:t>
                      </a:r>
                      <a:endParaRPr lang="en-US" sz="10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ECE1"/>
                    </a:solidFill>
                  </a:tcPr>
                </a:tc>
                <a:tc>
                  <a:txBody>
                    <a:bodyPr/>
                    <a:lstStyle/>
                    <a:p>
                      <a:pPr algn="ctr" indent="0" marL="0">
                        <a:buNone/>
                      </a:pPr>
                      <a:r>
                        <a:rPr lang="en-US" sz="1000" dirty="0">
                          <a:solidFill>
                            <a:srgbClr val="2B2622"/>
                          </a:solidFill>
                          <a:latin typeface="Calibri" pitchFamily="34" charset="0"/>
                          <a:ea typeface="Calibri" pitchFamily="34" charset="-122"/>
                          <a:cs typeface="Calibri" pitchFamily="34" charset="-120"/>
                        </a:rPr>
                        <a:t>Time</a:t>
                      </a:r>
                      <a:endParaRPr lang="en-US" sz="10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ECE1"/>
                    </a:solidFill>
                  </a:tcPr>
                </a:tc>
                <a:tc>
                  <a:txBody>
                    <a:bodyPr/>
                    <a:lstStyle/>
                    <a:p>
                      <a:pPr algn="ctr" indent="0" marL="0">
                        <a:buNone/>
                      </a:pPr>
                      <a:r>
                        <a:rPr lang="en-US" sz="1000" dirty="0">
                          <a:solidFill>
                            <a:srgbClr val="2B2622"/>
                          </a:solidFill>
                          <a:latin typeface="Calibri" pitchFamily="34" charset="0"/>
                          <a:ea typeface="Calibri" pitchFamily="34" charset="-122"/>
                          <a:cs typeface="Calibri" pitchFamily="34" charset="-120"/>
                        </a:rPr>
                        <a:t>Flow</a:t>
                      </a:r>
                      <a:endParaRPr lang="en-US" sz="10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ECE1"/>
                    </a:solidFill>
                  </a:tcPr>
                </a:tc>
                <a:tc>
                  <a:txBody>
                    <a:bodyPr/>
                    <a:lstStyle/>
                    <a:p>
                      <a:pPr algn="ctr" indent="0" marL="0">
                        <a:buNone/>
                      </a:pPr>
                      <a:r>
                        <a:rPr lang="en-US" sz="1000" dirty="0">
                          <a:solidFill>
                            <a:srgbClr val="2B2622"/>
                          </a:solidFill>
                          <a:latin typeface="Calibri" pitchFamily="34" charset="0"/>
                          <a:ea typeface="Calibri" pitchFamily="34" charset="-122"/>
                          <a:cs typeface="Calibri" pitchFamily="34" charset="-120"/>
                        </a:rPr>
                        <a:t>Segwit</a:t>
                      </a:r>
                      <a:endParaRPr lang="en-US" sz="10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ECE1"/>
                    </a:solidFill>
                  </a:tcPr>
                </a:tc>
                <a:tc>
                  <a:txBody>
                    <a:bodyPr/>
                    <a:lstStyle/>
                    <a:p>
                      <a:pPr algn="ctr" indent="0" marL="0">
                        <a:buNone/>
                      </a:pPr>
                      <a:r>
                        <a:rPr lang="en-US" sz="1000" dirty="0">
                          <a:solidFill>
                            <a:srgbClr val="2B2622"/>
                          </a:solidFill>
                          <a:latin typeface="Calibri" pitchFamily="34" charset="0"/>
                          <a:ea typeface="Calibri" pitchFamily="34" charset="-122"/>
                          <a:cs typeface="Calibri" pitchFamily="34" charset="-120"/>
                        </a:rPr>
                        <a:t>Trees</a:t>
                      </a:r>
                      <a:endParaRPr lang="en-US" sz="10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ECE1"/>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Taproot</a:t>
                      </a:r>
                      <a:endParaRPr lang="en-US" sz="10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97A14"/>
                    </a:solidFill>
                  </a:tcPr>
                </a:tc>
              </a:tr>
            </a:tbl>
          </a:graphicData>
        </a:graphic>
      </p:graphicFrame>
      <p:sp>
        <p:nvSpPr>
          <p:cNvPr id="15" name="Text 12"/>
          <p:cNvSpPr txBox="1"/>
          <p:nvPr/>
        </p:nvSpPr>
        <p:spPr>
          <a:xfrm>
            <a:off x="7863840" y="4645152"/>
            <a:ext cx="868680" cy="310896"/>
          </a:xfrm>
          <a:prstGeom prst="rect">
            <a:avLst/>
          </a:prstGeom>
          <a:noFill/>
          <a:ln/>
        </p:spPr>
        <p:txBody>
          <a:bodyPr wrap="square" lIns="0" tIns="0" rIns="0" bIns="0" rtlCol="0" anchor="ctr"/>
          <a:lstStyle/>
          <a:p>
            <a:pPr algn="r" indent="0" marL="0">
              <a:buNone/>
            </a:pPr>
            <a:r>
              <a:rPr lang="en-US" sz="1100" dirty="0">
                <a:solidFill>
                  <a:srgbClr val="6E655C"/>
                </a:solidFill>
                <a:latin typeface="Calibri" pitchFamily="34" charset="0"/>
                <a:ea typeface="Calibri" pitchFamily="34" charset="-122"/>
                <a:cs typeface="Calibri" pitchFamily="34" charset="-120"/>
              </a:rPr>
              <a:t>50 / 61</a:t>
            </a:r>
            <a:endParaRPr lang="en-US" sz="11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AF6EF"/>
        </a:solidFill>
      </p:bgPr>
    </p:bg>
    <p:spTree>
      <p:nvGrpSpPr>
        <p:cNvPr id="1" name=""/>
        <p:cNvGrpSpPr/>
        <p:nvPr/>
      </p:nvGrpSpPr>
      <p:grpSpPr>
        <a:xfrm>
          <a:off x="0" y="0"/>
          <a:ext cx="0" cy="0"/>
          <a:chOff x="0" y="0"/>
          <a:chExt cx="0" cy="0"/>
        </a:xfrm>
      </p:grpSpPr>
      <p:sp>
        <p:nvSpPr>
          <p:cNvPr id="2" name="Shape 0"/>
          <p:cNvSpPr/>
          <p:nvPr/>
        </p:nvSpPr>
        <p:spPr>
          <a:xfrm>
            <a:off x="457200" y="347472"/>
            <a:ext cx="566928" cy="384048"/>
          </a:xfrm>
          <a:prstGeom prst="roundRect">
            <a:avLst>
              <a:gd name="adj" fmla="val 19048"/>
            </a:avLst>
          </a:prstGeom>
          <a:solidFill>
            <a:srgbClr val="D97A14"/>
          </a:solidFill>
          <a:ln w="12700">
            <a:solidFill>
              <a:srgbClr val="D97A14"/>
            </a:solidFill>
            <a:prstDash val="solid"/>
          </a:ln>
        </p:spPr>
      </p:sp>
      <p:sp>
        <p:nvSpPr>
          <p:cNvPr id="3" name="Text 1"/>
          <p:cNvSpPr txBox="1"/>
          <p:nvPr/>
        </p:nvSpPr>
        <p:spPr>
          <a:xfrm>
            <a:off x="457200" y="347472"/>
            <a:ext cx="56692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4" name="Text 2"/>
          <p:cNvSpPr txBox="1"/>
          <p:nvPr/>
        </p:nvSpPr>
        <p:spPr>
          <a:xfrm>
            <a:off x="1143000" y="237744"/>
            <a:ext cx="7543800" cy="566928"/>
          </a:xfrm>
          <a:prstGeom prst="rect">
            <a:avLst/>
          </a:prstGeom>
          <a:noFill/>
          <a:ln/>
        </p:spPr>
        <p:txBody>
          <a:bodyPr wrap="square" lIns="0" tIns="0" rIns="0" bIns="0" rtlCol="0" anchor="ctr"/>
          <a:lstStyle/>
          <a:p>
            <a:pPr indent="0" marL="0">
              <a:buNone/>
            </a:pPr>
            <a:r>
              <a:rPr lang="en-US" sz="2500" b="1" dirty="0">
                <a:solidFill>
                  <a:srgbClr val="2B2622"/>
                </a:solidFill>
                <a:latin typeface="Cambria" pitchFamily="34" charset="0"/>
                <a:ea typeface="Cambria" pitchFamily="34" charset="-122"/>
                <a:cs typeface="Cambria" pitchFamily="34" charset="-120"/>
              </a:rPr>
              <a:t>Taproot and tapscript: concepts (1 of 3)</a:t>
            </a:r>
            <a:endParaRPr lang="en-US" sz="2500" dirty="0"/>
          </a:p>
        </p:txBody>
      </p:sp>
      <p:sp>
        <p:nvSpPr>
          <p:cNvPr id="5" name="Text 3"/>
          <p:cNvSpPr txBox="1"/>
          <p:nvPr/>
        </p:nvSpPr>
        <p:spPr>
          <a:xfrm>
            <a:off x="1143000" y="786384"/>
            <a:ext cx="7543800" cy="310896"/>
          </a:xfrm>
          <a:prstGeom prst="rect">
            <a:avLst/>
          </a:prstGeom>
          <a:noFill/>
          <a:ln/>
        </p:spPr>
        <p:txBody>
          <a:bodyPr wrap="square" lIns="0" tIns="0" rIns="0" bIns="0" rtlCol="0" anchor="ctr"/>
          <a:lstStyle/>
          <a:p>
            <a:pPr indent="0" marL="0">
              <a:buNone/>
            </a:pPr>
            <a:r>
              <a:rPr lang="en-US" sz="1300" i="1" dirty="0">
                <a:solidFill>
                  <a:srgbClr val="6E655C"/>
                </a:solidFill>
                <a:latin typeface="Calibri" pitchFamily="34" charset="0"/>
                <a:ea typeface="Calibri" pitchFamily="34" charset="-122"/>
                <a:cs typeface="Calibri" pitchFamily="34" charset="-120"/>
              </a:rPr>
              <a:t>Each card: the meaning in a few words, then something you already know</a:t>
            </a:r>
            <a:endParaRPr lang="en-US" sz="1300" dirty="0"/>
          </a:p>
        </p:txBody>
      </p:sp>
      <p:sp>
        <p:nvSpPr>
          <p:cNvPr id="6" name="Shape 4"/>
          <p:cNvSpPr/>
          <p:nvPr/>
        </p:nvSpPr>
        <p:spPr>
          <a:xfrm>
            <a:off x="457200" y="1280160"/>
            <a:ext cx="4041648" cy="1161288"/>
          </a:xfrm>
          <a:prstGeom prst="roundRect">
            <a:avLst>
              <a:gd name="adj" fmla="val 6299"/>
            </a:avLst>
          </a:prstGeom>
          <a:solidFill>
            <a:srgbClr val="F2ECE1"/>
          </a:solidFill>
          <a:ln w="12700">
            <a:solidFill>
              <a:srgbClr val="DFD6C7"/>
            </a:solidFill>
            <a:prstDash val="solid"/>
          </a:ln>
        </p:spPr>
      </p:sp>
      <p:sp>
        <p:nvSpPr>
          <p:cNvPr id="7" name="Shape 5"/>
          <p:cNvSpPr/>
          <p:nvPr/>
        </p:nvSpPr>
        <p:spPr>
          <a:xfrm>
            <a:off x="475488" y="1408176"/>
            <a:ext cx="64008" cy="905256"/>
          </a:xfrm>
          <a:prstGeom prst="rect">
            <a:avLst/>
          </a:prstGeom>
          <a:solidFill>
            <a:srgbClr val="D97A14"/>
          </a:solidFill>
          <a:ln w="12700">
            <a:solidFill>
              <a:srgbClr val="D97A14"/>
            </a:solidFill>
            <a:prstDash val="solid"/>
          </a:ln>
        </p:spPr>
      </p:sp>
      <p:sp>
        <p:nvSpPr>
          <p:cNvPr id="8" name="Text 6"/>
          <p:cNvSpPr txBox="1"/>
          <p:nvPr/>
        </p:nvSpPr>
        <p:spPr>
          <a:xfrm>
            <a:off x="640080" y="1344168"/>
            <a:ext cx="3767328" cy="612648"/>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Taproot</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An output that is a key which may hide a script tree.</a:t>
            </a:r>
            <a:endParaRPr lang="en-US" sz="1300" dirty="0"/>
          </a:p>
        </p:txBody>
      </p:sp>
      <p:sp>
        <p:nvSpPr>
          <p:cNvPr id="9" name="Text 7"/>
          <p:cNvSpPr txBox="1"/>
          <p:nvPr/>
        </p:nvSpPr>
        <p:spPr>
          <a:xfrm>
            <a:off x="640080" y="1984248"/>
            <a:ext cx="3767328" cy="393192"/>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a front door with a hidden side entrance.</a:t>
            </a:r>
            <a:endParaRPr lang="en-US" sz="1150" dirty="0"/>
          </a:p>
        </p:txBody>
      </p:sp>
      <p:sp>
        <p:nvSpPr>
          <p:cNvPr id="10" name="Shape 8"/>
          <p:cNvSpPr/>
          <p:nvPr/>
        </p:nvSpPr>
        <p:spPr>
          <a:xfrm>
            <a:off x="4645152" y="1280160"/>
            <a:ext cx="4041648" cy="1161288"/>
          </a:xfrm>
          <a:prstGeom prst="roundRect">
            <a:avLst>
              <a:gd name="adj" fmla="val 6299"/>
            </a:avLst>
          </a:prstGeom>
          <a:solidFill>
            <a:srgbClr val="F2ECE1"/>
          </a:solidFill>
          <a:ln w="12700">
            <a:solidFill>
              <a:srgbClr val="DFD6C7"/>
            </a:solidFill>
            <a:prstDash val="solid"/>
          </a:ln>
        </p:spPr>
      </p:sp>
      <p:sp>
        <p:nvSpPr>
          <p:cNvPr id="11" name="Shape 9"/>
          <p:cNvSpPr/>
          <p:nvPr/>
        </p:nvSpPr>
        <p:spPr>
          <a:xfrm>
            <a:off x="4663440" y="1408176"/>
            <a:ext cx="64008" cy="905256"/>
          </a:xfrm>
          <a:prstGeom prst="rect">
            <a:avLst/>
          </a:prstGeom>
          <a:solidFill>
            <a:srgbClr val="D97A14"/>
          </a:solidFill>
          <a:ln w="12700">
            <a:solidFill>
              <a:srgbClr val="D97A14"/>
            </a:solidFill>
            <a:prstDash val="solid"/>
          </a:ln>
        </p:spPr>
      </p:sp>
      <p:sp>
        <p:nvSpPr>
          <p:cNvPr id="12" name="Text 10"/>
          <p:cNvSpPr txBox="1"/>
          <p:nvPr/>
        </p:nvSpPr>
        <p:spPr>
          <a:xfrm>
            <a:off x="4828032" y="1344168"/>
            <a:ext cx="3767328" cy="434340"/>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Tapscript</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The script rules inside taproot spends.</a:t>
            </a:r>
            <a:endParaRPr lang="en-US" sz="1300" dirty="0"/>
          </a:p>
        </p:txBody>
      </p:sp>
      <p:sp>
        <p:nvSpPr>
          <p:cNvPr id="13" name="Text 11"/>
          <p:cNvSpPr txBox="1"/>
          <p:nvPr/>
        </p:nvSpPr>
        <p:spPr>
          <a:xfrm>
            <a:off x="4828032" y="1805940"/>
            <a:ext cx="3767328" cy="393192"/>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the house rules for the side entrance.</a:t>
            </a:r>
            <a:endParaRPr lang="en-US" sz="1150" dirty="0"/>
          </a:p>
        </p:txBody>
      </p:sp>
      <p:sp>
        <p:nvSpPr>
          <p:cNvPr id="14" name="Shape 12"/>
          <p:cNvSpPr/>
          <p:nvPr/>
        </p:nvSpPr>
        <p:spPr>
          <a:xfrm>
            <a:off x="457200" y="2569464"/>
            <a:ext cx="4041648" cy="1161288"/>
          </a:xfrm>
          <a:prstGeom prst="roundRect">
            <a:avLst>
              <a:gd name="adj" fmla="val 6299"/>
            </a:avLst>
          </a:prstGeom>
          <a:solidFill>
            <a:srgbClr val="F2ECE1"/>
          </a:solidFill>
          <a:ln w="12700">
            <a:solidFill>
              <a:srgbClr val="DFD6C7"/>
            </a:solidFill>
            <a:prstDash val="solid"/>
          </a:ln>
        </p:spPr>
      </p:sp>
      <p:sp>
        <p:nvSpPr>
          <p:cNvPr id="15" name="Shape 13"/>
          <p:cNvSpPr/>
          <p:nvPr/>
        </p:nvSpPr>
        <p:spPr>
          <a:xfrm>
            <a:off x="475488" y="2697480"/>
            <a:ext cx="64008" cy="905256"/>
          </a:xfrm>
          <a:prstGeom prst="rect">
            <a:avLst/>
          </a:prstGeom>
          <a:solidFill>
            <a:srgbClr val="D97A14"/>
          </a:solidFill>
          <a:ln w="12700">
            <a:solidFill>
              <a:srgbClr val="D97A14"/>
            </a:solidFill>
            <a:prstDash val="solid"/>
          </a:ln>
        </p:spPr>
      </p:sp>
      <p:sp>
        <p:nvSpPr>
          <p:cNvPr id="16" name="Text 14"/>
          <p:cNvSpPr txBox="1"/>
          <p:nvPr/>
        </p:nvSpPr>
        <p:spPr>
          <a:xfrm>
            <a:off x="640080" y="2633472"/>
            <a:ext cx="3767328" cy="434340"/>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keypath spending</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Spend with one signature for the output key.</a:t>
            </a:r>
            <a:endParaRPr lang="en-US" sz="1300" dirty="0"/>
          </a:p>
        </p:txBody>
      </p:sp>
      <p:sp>
        <p:nvSpPr>
          <p:cNvPr id="17" name="Text 15"/>
          <p:cNvSpPr txBox="1"/>
          <p:nvPr/>
        </p:nvSpPr>
        <p:spPr>
          <a:xfrm>
            <a:off x="640080" y="3095244"/>
            <a:ext cx="3767328" cy="393192"/>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walking in through the front door with your key.</a:t>
            </a:r>
            <a:endParaRPr lang="en-US" sz="1150" dirty="0"/>
          </a:p>
        </p:txBody>
      </p:sp>
      <p:sp>
        <p:nvSpPr>
          <p:cNvPr id="18" name="Shape 16"/>
          <p:cNvSpPr/>
          <p:nvPr/>
        </p:nvSpPr>
        <p:spPr>
          <a:xfrm>
            <a:off x="4645152" y="2569464"/>
            <a:ext cx="4041648" cy="1161288"/>
          </a:xfrm>
          <a:prstGeom prst="roundRect">
            <a:avLst>
              <a:gd name="adj" fmla="val 6299"/>
            </a:avLst>
          </a:prstGeom>
          <a:solidFill>
            <a:srgbClr val="F2ECE1"/>
          </a:solidFill>
          <a:ln w="12700">
            <a:solidFill>
              <a:srgbClr val="DFD6C7"/>
            </a:solidFill>
            <a:prstDash val="solid"/>
          </a:ln>
        </p:spPr>
      </p:sp>
      <p:sp>
        <p:nvSpPr>
          <p:cNvPr id="19" name="Shape 17"/>
          <p:cNvSpPr/>
          <p:nvPr/>
        </p:nvSpPr>
        <p:spPr>
          <a:xfrm>
            <a:off x="4663440" y="2697480"/>
            <a:ext cx="64008" cy="905256"/>
          </a:xfrm>
          <a:prstGeom prst="rect">
            <a:avLst/>
          </a:prstGeom>
          <a:solidFill>
            <a:srgbClr val="D97A14"/>
          </a:solidFill>
          <a:ln w="12700">
            <a:solidFill>
              <a:srgbClr val="D97A14"/>
            </a:solidFill>
            <a:prstDash val="solid"/>
          </a:ln>
        </p:spPr>
      </p:sp>
      <p:sp>
        <p:nvSpPr>
          <p:cNvPr id="20" name="Text 18"/>
          <p:cNvSpPr txBox="1"/>
          <p:nvPr/>
        </p:nvSpPr>
        <p:spPr>
          <a:xfrm>
            <a:off x="4828032" y="2633472"/>
            <a:ext cx="3767328" cy="612648"/>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scriptpath spending</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Reveal one leaf script, its proof and its data.</a:t>
            </a:r>
            <a:endParaRPr lang="en-US" sz="1300" dirty="0"/>
          </a:p>
        </p:txBody>
      </p:sp>
      <p:sp>
        <p:nvSpPr>
          <p:cNvPr id="21" name="Text 19"/>
          <p:cNvSpPr txBox="1"/>
          <p:nvPr/>
        </p:nvSpPr>
        <p:spPr>
          <a:xfrm>
            <a:off x="4828032" y="3273552"/>
            <a:ext cx="3767328" cy="393192"/>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using the side entrance and showing the pass for it.</a:t>
            </a:r>
            <a:endParaRPr lang="en-US" sz="1150" dirty="0"/>
          </a:p>
        </p:txBody>
      </p:sp>
      <p:sp>
        <p:nvSpPr>
          <p:cNvPr id="22" name="Shape 20"/>
          <p:cNvSpPr/>
          <p:nvPr/>
        </p:nvSpPr>
        <p:spPr>
          <a:xfrm>
            <a:off x="457200" y="4636008"/>
            <a:ext cx="91440" cy="310896"/>
          </a:xfrm>
          <a:prstGeom prst="rect">
            <a:avLst/>
          </a:prstGeom>
          <a:solidFill>
            <a:srgbClr val="D97A14"/>
          </a:solidFill>
          <a:ln w="12700">
            <a:solidFill>
              <a:srgbClr val="D97A14"/>
            </a:solidFill>
            <a:prstDash val="solid"/>
          </a:ln>
        </p:spPr>
      </p:sp>
      <p:sp>
        <p:nvSpPr>
          <p:cNvPr id="23" name="Text 21"/>
          <p:cNvSpPr txBox="1"/>
          <p:nvPr/>
        </p:nvSpPr>
        <p:spPr>
          <a:xfrm>
            <a:off x="658368" y="4599432"/>
            <a:ext cx="6949440" cy="384048"/>
          </a:xfrm>
          <a:prstGeom prst="rect">
            <a:avLst/>
          </a:prstGeom>
          <a:noFill/>
          <a:ln/>
        </p:spPr>
        <p:txBody>
          <a:bodyPr wrap="square" lIns="0" tIns="0" rIns="0" bIns="0" rtlCol="0" anchor="ctr"/>
          <a:lstStyle/>
          <a:p>
            <a:pPr indent="0" marL="0">
              <a:buNone/>
            </a:pPr>
            <a:r>
              <a:rPr lang="en-US" sz="1350" b="1" i="1" dirty="0">
                <a:solidFill>
                  <a:srgbClr val="2B2622"/>
                </a:solidFill>
                <a:latin typeface="Cambria" pitchFamily="34" charset="0"/>
                <a:ea typeface="Cambria" pitchFamily="34" charset="-122"/>
                <a:cs typeface="Cambria" pitchFamily="34" charset="-120"/>
              </a:rPr>
              <a:t>Say each idea twice: once as the meaning, once as the everyday comparison</a:t>
            </a:r>
            <a:endParaRPr lang="en-US" sz="1350" dirty="0"/>
          </a:p>
        </p:txBody>
      </p:sp>
      <p:sp>
        <p:nvSpPr>
          <p:cNvPr id="24" name="Text 22"/>
          <p:cNvSpPr txBox="1"/>
          <p:nvPr/>
        </p:nvSpPr>
        <p:spPr>
          <a:xfrm>
            <a:off x="7863840" y="4645152"/>
            <a:ext cx="868680" cy="310896"/>
          </a:xfrm>
          <a:prstGeom prst="rect">
            <a:avLst/>
          </a:prstGeom>
          <a:noFill/>
          <a:ln/>
        </p:spPr>
        <p:txBody>
          <a:bodyPr wrap="square" lIns="0" tIns="0" rIns="0" bIns="0" rtlCol="0" anchor="ctr"/>
          <a:lstStyle/>
          <a:p>
            <a:pPr algn="r" indent="0" marL="0">
              <a:buNone/>
            </a:pPr>
            <a:r>
              <a:rPr lang="en-US" sz="1100" dirty="0">
                <a:solidFill>
                  <a:srgbClr val="6E655C"/>
                </a:solidFill>
                <a:latin typeface="Calibri" pitchFamily="34" charset="0"/>
                <a:ea typeface="Calibri" pitchFamily="34" charset="-122"/>
                <a:cs typeface="Calibri" pitchFamily="34" charset="-120"/>
              </a:rPr>
              <a:t>51 / 61</a:t>
            </a:r>
            <a:endParaRPr lang="en-US" sz="11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AF6EF"/>
        </a:solidFill>
      </p:bgPr>
    </p:bg>
    <p:spTree>
      <p:nvGrpSpPr>
        <p:cNvPr id="1" name=""/>
        <p:cNvGrpSpPr/>
        <p:nvPr/>
      </p:nvGrpSpPr>
      <p:grpSpPr>
        <a:xfrm>
          <a:off x="0" y="0"/>
          <a:ext cx="0" cy="0"/>
          <a:chOff x="0" y="0"/>
          <a:chExt cx="0" cy="0"/>
        </a:xfrm>
      </p:grpSpPr>
      <p:sp>
        <p:nvSpPr>
          <p:cNvPr id="2" name="Shape 0"/>
          <p:cNvSpPr/>
          <p:nvPr/>
        </p:nvSpPr>
        <p:spPr>
          <a:xfrm>
            <a:off x="457200" y="347472"/>
            <a:ext cx="566928" cy="384048"/>
          </a:xfrm>
          <a:prstGeom prst="roundRect">
            <a:avLst>
              <a:gd name="adj" fmla="val 19048"/>
            </a:avLst>
          </a:prstGeom>
          <a:solidFill>
            <a:srgbClr val="D97A14"/>
          </a:solidFill>
          <a:ln w="12700">
            <a:solidFill>
              <a:srgbClr val="D97A14"/>
            </a:solidFill>
            <a:prstDash val="solid"/>
          </a:ln>
        </p:spPr>
      </p:sp>
      <p:sp>
        <p:nvSpPr>
          <p:cNvPr id="3" name="Text 1"/>
          <p:cNvSpPr txBox="1"/>
          <p:nvPr/>
        </p:nvSpPr>
        <p:spPr>
          <a:xfrm>
            <a:off x="457200" y="347472"/>
            <a:ext cx="56692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4" name="Text 2"/>
          <p:cNvSpPr txBox="1"/>
          <p:nvPr/>
        </p:nvSpPr>
        <p:spPr>
          <a:xfrm>
            <a:off x="1143000" y="237744"/>
            <a:ext cx="7543800" cy="566928"/>
          </a:xfrm>
          <a:prstGeom prst="rect">
            <a:avLst/>
          </a:prstGeom>
          <a:noFill/>
          <a:ln/>
        </p:spPr>
        <p:txBody>
          <a:bodyPr wrap="square" lIns="0" tIns="0" rIns="0" bIns="0" rtlCol="0" anchor="ctr"/>
          <a:lstStyle/>
          <a:p>
            <a:pPr indent="0" marL="0">
              <a:buNone/>
            </a:pPr>
            <a:r>
              <a:rPr lang="en-US" sz="2800" b="1" dirty="0">
                <a:solidFill>
                  <a:srgbClr val="2B2622"/>
                </a:solidFill>
                <a:latin typeface="Cambria" pitchFamily="34" charset="0"/>
                <a:ea typeface="Cambria" pitchFamily="34" charset="-122"/>
                <a:cs typeface="Cambria" pitchFamily="34" charset="-120"/>
              </a:rPr>
              <a:t>Taproot: a key path spend</a:t>
            </a:r>
            <a:endParaRPr lang="en-US" sz="2800" dirty="0"/>
          </a:p>
        </p:txBody>
      </p:sp>
      <p:sp>
        <p:nvSpPr>
          <p:cNvPr id="5" name="Text 3"/>
          <p:cNvSpPr txBox="1"/>
          <p:nvPr/>
        </p:nvSpPr>
        <p:spPr>
          <a:xfrm>
            <a:off x="1143000" y="786384"/>
            <a:ext cx="7543800" cy="310896"/>
          </a:xfrm>
          <a:prstGeom prst="rect">
            <a:avLst/>
          </a:prstGeom>
          <a:noFill/>
          <a:ln/>
        </p:spPr>
        <p:txBody>
          <a:bodyPr wrap="square" lIns="0" tIns="0" rIns="0" bIns="0" rtlCol="0" anchor="ctr"/>
          <a:lstStyle/>
          <a:p>
            <a:pPr indent="0" marL="0">
              <a:buNone/>
            </a:pPr>
            <a:r>
              <a:rPr lang="en-US" sz="1300" i="1" dirty="0">
                <a:solidFill>
                  <a:srgbClr val="6E655C"/>
                </a:solidFill>
                <a:latin typeface="Calibri" pitchFamily="34" charset="0"/>
                <a:ea typeface="Calibri" pitchFamily="34" charset="-122"/>
                <a:cs typeface="Calibri" pitchFamily="34" charset="-120"/>
              </a:rPr>
              <a:t>One signature, no script revealed</a:t>
            </a:r>
            <a:endParaRPr lang="en-US" sz="1300" dirty="0"/>
          </a:p>
        </p:txBody>
      </p:sp>
      <p:sp>
        <p:nvSpPr>
          <p:cNvPr id="6" name="Shape 4"/>
          <p:cNvSpPr/>
          <p:nvPr/>
        </p:nvSpPr>
        <p:spPr>
          <a:xfrm>
            <a:off x="457200" y="1325880"/>
            <a:ext cx="5074920" cy="311810"/>
          </a:xfrm>
          <a:prstGeom prst="roundRect">
            <a:avLst>
              <a:gd name="adj" fmla="val 23460"/>
            </a:avLst>
          </a:prstGeom>
          <a:solidFill>
            <a:srgbClr val="23272E"/>
          </a:solidFill>
          <a:ln w="12700">
            <a:solidFill>
              <a:srgbClr val="23272E"/>
            </a:solidFill>
            <a:prstDash val="solid"/>
          </a:ln>
        </p:spPr>
      </p:sp>
      <p:sp>
        <p:nvSpPr>
          <p:cNvPr id="7" name="Text 5"/>
          <p:cNvSpPr txBox="1"/>
          <p:nvPr/>
        </p:nvSpPr>
        <p:spPr>
          <a:xfrm>
            <a:off x="603504" y="1399032"/>
            <a:ext cx="4800600" cy="183794"/>
          </a:xfrm>
          <a:prstGeom prst="rect">
            <a:avLst/>
          </a:prstGeom>
          <a:noFill/>
          <a:ln/>
        </p:spPr>
        <p:txBody>
          <a:bodyPr wrap="square" lIns="0" tIns="0" rIns="0" bIns="0" rtlCol="0" anchor="t"/>
          <a:lstStyle/>
          <a:p>
            <a:pPr indent="0" marL="0">
              <a:buNone/>
            </a:pPr>
            <a:r>
              <a:rPr lang="en-US" sz="1000" b="1" dirty="0">
                <a:solidFill>
                  <a:srgbClr val="D97A14"/>
                </a:solidFill>
                <a:latin typeface="Courier New" pitchFamily="34" charset="0"/>
                <a:ea typeface="Courier New" pitchFamily="34" charset="-122"/>
                <a:cs typeface="Courier New" pitchFamily="34" charset="-120"/>
              </a:rPr>
              <a:t>&gt;&gt;&gt; </a:t>
            </a:r>
            <a:r>
              <a:rPr lang="en-US" sz="1000" dirty="0">
                <a:solidFill>
                  <a:srgbClr val="E6EDF3"/>
                </a:solidFill>
                <a:latin typeface="Courier New" pitchFamily="34" charset="0"/>
                <a:ea typeface="Courier New" pitchFamily="34" charset="-122"/>
                <a:cs typeface="Courier New" pitchFamily="34" charset="-120"/>
              </a:rPr>
              <a:t>par, q = L.taproot_tweak_pubkey(K.xpub(</a:t>
            </a:r>
            <a:r>
              <a:rPr lang="en-US" sz="1000" dirty="0">
                <a:solidFill>
                  <a:srgbClr val="FFD28A"/>
                </a:solidFill>
                <a:latin typeface="Courier New" pitchFamily="34" charset="0"/>
                <a:ea typeface="Courier New" pitchFamily="34" charset="-122"/>
                <a:cs typeface="Courier New" pitchFamily="34" charset="-120"/>
              </a:rPr>
              <a:t>1</a:t>
            </a:r>
            <a:r>
              <a:rPr lang="en-US" sz="1000" dirty="0">
                <a:solidFill>
                  <a:srgbClr val="E6EDF3"/>
                </a:solidFill>
                <a:latin typeface="Courier New" pitchFamily="34" charset="0"/>
                <a:ea typeface="Courier New" pitchFamily="34" charset="-122"/>
                <a:cs typeface="Courier New" pitchFamily="34" charset="-120"/>
              </a:rPr>
              <a:t>), b</a:t>
            </a:r>
            <a:r>
              <a:rPr lang="en-US" sz="1000" dirty="0">
                <a:solidFill>
                  <a:srgbClr val="9ECBFF"/>
                </a:solidFill>
                <a:latin typeface="Courier New" pitchFamily="34" charset="0"/>
                <a:ea typeface="Courier New" pitchFamily="34" charset="-122"/>
                <a:cs typeface="Courier New" pitchFamily="34" charset="-120"/>
              </a:rPr>
              <a:t>''</a:t>
            </a:r>
            <a:r>
              <a:rPr lang="en-US" sz="1000" dirty="0">
                <a:solidFill>
                  <a:srgbClr val="E6EDF3"/>
                </a:solidFill>
                <a:latin typeface="Courier New" pitchFamily="34" charset="0"/>
                <a:ea typeface="Courier New" pitchFamily="34" charset="-122"/>
                <a:cs typeface="Courier New" pitchFamily="34" charset="-120"/>
              </a:rPr>
              <a:t>)</a:t>
            </a:r>
            <a:endParaRPr lang="en-US" sz="1000" dirty="0"/>
          </a:p>
        </p:txBody>
      </p:sp>
      <p:sp>
        <p:nvSpPr>
          <p:cNvPr id="8" name="Shape 6"/>
          <p:cNvSpPr/>
          <p:nvPr/>
        </p:nvSpPr>
        <p:spPr>
          <a:xfrm>
            <a:off x="457200" y="2122322"/>
            <a:ext cx="5074920" cy="476402"/>
          </a:xfrm>
          <a:prstGeom prst="roundRect">
            <a:avLst>
              <a:gd name="adj" fmla="val 15355"/>
            </a:avLst>
          </a:prstGeom>
          <a:solidFill>
            <a:srgbClr val="23272E"/>
          </a:solidFill>
          <a:ln w="12700">
            <a:solidFill>
              <a:srgbClr val="23272E"/>
            </a:solidFill>
            <a:prstDash val="solid"/>
          </a:ln>
        </p:spPr>
      </p:sp>
      <p:sp>
        <p:nvSpPr>
          <p:cNvPr id="9" name="Text 7"/>
          <p:cNvSpPr txBox="1"/>
          <p:nvPr/>
        </p:nvSpPr>
        <p:spPr>
          <a:xfrm>
            <a:off x="603504" y="2195474"/>
            <a:ext cx="4800600" cy="348386"/>
          </a:xfrm>
          <a:prstGeom prst="rect">
            <a:avLst/>
          </a:prstGeom>
          <a:noFill/>
          <a:ln/>
        </p:spPr>
        <p:txBody>
          <a:bodyPr wrap="square" lIns="0" tIns="0" rIns="0" bIns="0" rtlCol="0" anchor="t"/>
          <a:lstStyle/>
          <a:p>
            <a:pPr indent="0" marL="0">
              <a:buNone/>
            </a:pPr>
            <a:r>
              <a:rPr lang="en-US" sz="1000" b="1" dirty="0">
                <a:solidFill>
                  <a:srgbClr val="D97A14"/>
                </a:solidFill>
                <a:latin typeface="Courier New" pitchFamily="34" charset="0"/>
                <a:ea typeface="Courier New" pitchFamily="34" charset="-122"/>
                <a:cs typeface="Courier New" pitchFamily="34" charset="-120"/>
              </a:rPr>
              <a:t>&gt;&gt;&gt; </a:t>
            </a:r>
            <a:r>
              <a:rPr lang="en-US" sz="1000" dirty="0">
                <a:solidFill>
                  <a:srgbClr val="E6EDF3"/>
                </a:solidFill>
                <a:latin typeface="Courier New" pitchFamily="34" charset="0"/>
                <a:ea typeface="Courier New" pitchFamily="34" charset="-122"/>
                <a:cs typeface="Courier New" pitchFamily="34" charset="-120"/>
              </a:rPr>
              <a:t>addr = L.script_to_address(L.p2tr_script(q))</a:t>
            </a:r>
            <a:endParaRPr lang="en-US" sz="1000" dirty="0"/>
          </a:p>
          <a:p>
            <a:pPr indent="0" marL="0">
              <a:buNone/>
            </a:pPr>
            <a:r>
              <a:rPr lang="en-US" sz="1000" b="1" dirty="0">
                <a:solidFill>
                  <a:srgbClr val="D97A14"/>
                </a:solidFill>
                <a:latin typeface="Courier New" pitchFamily="34" charset="0"/>
                <a:ea typeface="Courier New" pitchFamily="34" charset="-122"/>
                <a:cs typeface="Courier New" pitchFamily="34" charset="-120"/>
              </a:rPr>
              <a:t>&gt;&gt;&gt; </a:t>
            </a:r>
            <a:r>
              <a:rPr lang="en-US" sz="1000" dirty="0">
                <a:solidFill>
                  <a:srgbClr val="E6EDF3"/>
                </a:solidFill>
                <a:latin typeface="Courier New" pitchFamily="34" charset="0"/>
                <a:ea typeface="Courier New" pitchFamily="34" charset="-122"/>
                <a:cs typeface="Courier New" pitchFamily="34" charset="-120"/>
              </a:rPr>
              <a:t>kind = (addr[:</a:t>
            </a:r>
            <a:r>
              <a:rPr lang="en-US" sz="1000" dirty="0">
                <a:solidFill>
                  <a:srgbClr val="FFD28A"/>
                </a:solidFill>
                <a:latin typeface="Courier New" pitchFamily="34" charset="0"/>
                <a:ea typeface="Courier New" pitchFamily="34" charset="-122"/>
                <a:cs typeface="Courier New" pitchFamily="34" charset="-120"/>
              </a:rPr>
              <a:t>6</a:t>
            </a:r>
            <a:r>
              <a:rPr lang="en-US" sz="1000" dirty="0">
                <a:solidFill>
                  <a:srgbClr val="E6EDF3"/>
                </a:solidFill>
                <a:latin typeface="Courier New" pitchFamily="34" charset="0"/>
                <a:ea typeface="Courier New" pitchFamily="34" charset="-122"/>
                <a:cs typeface="Courier New" pitchFamily="34" charset="-120"/>
              </a:rPr>
              <a:t>], len(q))</a:t>
            </a:r>
            <a:endParaRPr lang="en-US" sz="1000" dirty="0"/>
          </a:p>
        </p:txBody>
      </p:sp>
      <p:sp>
        <p:nvSpPr>
          <p:cNvPr id="10" name="Shape 8"/>
          <p:cNvSpPr/>
          <p:nvPr/>
        </p:nvSpPr>
        <p:spPr>
          <a:xfrm>
            <a:off x="457200" y="2918765"/>
            <a:ext cx="5074920" cy="972007"/>
          </a:xfrm>
          <a:prstGeom prst="roundRect">
            <a:avLst>
              <a:gd name="adj" fmla="val 7526"/>
            </a:avLst>
          </a:prstGeom>
          <a:solidFill>
            <a:srgbClr val="23272E"/>
          </a:solidFill>
          <a:ln w="12700">
            <a:solidFill>
              <a:srgbClr val="23272E"/>
            </a:solidFill>
            <a:prstDash val="solid"/>
          </a:ln>
        </p:spPr>
      </p:sp>
      <p:sp>
        <p:nvSpPr>
          <p:cNvPr id="11" name="Text 9"/>
          <p:cNvSpPr txBox="1"/>
          <p:nvPr/>
        </p:nvSpPr>
        <p:spPr>
          <a:xfrm>
            <a:off x="603504" y="2991917"/>
            <a:ext cx="4800600" cy="843991"/>
          </a:xfrm>
          <a:prstGeom prst="rect">
            <a:avLst/>
          </a:prstGeom>
          <a:noFill/>
          <a:ln/>
        </p:spPr>
        <p:txBody>
          <a:bodyPr wrap="square" lIns="0" tIns="0" rIns="0" bIns="0" rtlCol="0" anchor="t"/>
          <a:lstStyle/>
          <a:p>
            <a:pPr indent="0" marL="0">
              <a:buNone/>
            </a:pPr>
            <a:r>
              <a:rPr lang="en-US" sz="1000" b="1" dirty="0">
                <a:solidFill>
                  <a:srgbClr val="D97A14"/>
                </a:solidFill>
                <a:latin typeface="Courier New" pitchFamily="34" charset="0"/>
                <a:ea typeface="Courier New" pitchFamily="34" charset="-122"/>
                <a:cs typeface="Courier New" pitchFamily="34" charset="-120"/>
              </a:rPr>
              <a:t>&gt;&gt;&gt; </a:t>
            </a:r>
            <a:r>
              <a:rPr lang="en-US" sz="1000" dirty="0">
                <a:solidFill>
                  <a:srgbClr val="E6EDF3"/>
                </a:solidFill>
                <a:latin typeface="Courier New" pitchFamily="34" charset="0"/>
                <a:ea typeface="Courier New" pitchFamily="34" charset="-122"/>
                <a:cs typeface="Courier New" pitchFamily="34" charset="-120"/>
              </a:rPr>
              <a:t>r, wit, wt = K.tr_keypath(</a:t>
            </a:r>
            <a:r>
              <a:rPr lang="en-US" sz="1000" dirty="0">
                <a:solidFill>
                  <a:srgbClr val="FFD28A"/>
                </a:solidFill>
                <a:latin typeface="Courier New" pitchFamily="34" charset="0"/>
                <a:ea typeface="Courier New" pitchFamily="34" charset="-122"/>
                <a:cs typeface="Courier New" pitchFamily="34" charset="-120"/>
              </a:rPr>
              <a:t>1</a:t>
            </a:r>
            <a:r>
              <a:rPr lang="en-US" sz="1000" dirty="0">
                <a:solidFill>
                  <a:srgbClr val="E6EDF3"/>
                </a:solidFill>
                <a:latin typeface="Courier New" pitchFamily="34" charset="0"/>
                <a:ea typeface="Courier New" pitchFamily="34" charset="-122"/>
                <a:cs typeface="Courier New" pitchFamily="34" charset="-120"/>
              </a:rPr>
              <a:t>)</a:t>
            </a:r>
            <a:endParaRPr lang="en-US" sz="1000" dirty="0"/>
          </a:p>
          <a:p>
            <a:pPr indent="0" marL="0">
              <a:buNone/>
            </a:pPr>
            <a:r>
              <a:rPr lang="en-US" sz="1000" b="1" dirty="0">
                <a:solidFill>
                  <a:srgbClr val="D97A14"/>
                </a:solidFill>
                <a:latin typeface="Courier New" pitchFamily="34" charset="0"/>
                <a:ea typeface="Courier New" pitchFamily="34" charset="-122"/>
                <a:cs typeface="Courier New" pitchFamily="34" charset="-120"/>
              </a:rPr>
              <a:t>&gt;&gt;&gt; </a:t>
            </a:r>
            <a:r>
              <a:rPr lang="en-US" sz="1000" dirty="0">
                <a:solidFill>
                  <a:srgbClr val="E6EDF3"/>
                </a:solidFill>
                <a:latin typeface="Courier New" pitchFamily="34" charset="0"/>
                <a:ea typeface="Courier New" pitchFamily="34" charset="-122"/>
                <a:cs typeface="Courier New" pitchFamily="34" charset="-120"/>
              </a:rPr>
              <a:t>bad = K.tr_keypath(</a:t>
            </a:r>
            <a:r>
              <a:rPr lang="en-US" sz="1000" dirty="0">
                <a:solidFill>
                  <a:srgbClr val="FFD28A"/>
                </a:solidFill>
                <a:latin typeface="Courier New" pitchFamily="34" charset="0"/>
                <a:ea typeface="Courier New" pitchFamily="34" charset="-122"/>
                <a:cs typeface="Courier New" pitchFamily="34" charset="-120"/>
              </a:rPr>
              <a:t>1</a:t>
            </a:r>
            <a:r>
              <a:rPr lang="en-US" sz="1000" dirty="0">
                <a:solidFill>
                  <a:srgbClr val="E6EDF3"/>
                </a:solidFill>
                <a:latin typeface="Courier New" pitchFamily="34" charset="0"/>
                <a:ea typeface="Courier New" pitchFamily="34" charset="-122"/>
                <a:cs typeface="Courier New" pitchFamily="34" charset="-120"/>
              </a:rPr>
              <a:t>, MOH_LEAVES, tamper=</a:t>
            </a:r>
            <a:r>
              <a:rPr lang="en-US" sz="1000" dirty="0">
                <a:solidFill>
                  <a:srgbClr val="9ECBFF"/>
                </a:solidFill>
                <a:latin typeface="Courier New" pitchFamily="34" charset="0"/>
                <a:ea typeface="Courier New" pitchFamily="34" charset="-122"/>
                <a:cs typeface="Courier New" pitchFamily="34" charset="-120"/>
              </a:rPr>
              <a:t>'untweaked'</a:t>
            </a:r>
            <a:r>
              <a:rPr lang="en-US" sz="1000" dirty="0">
                <a:solidFill>
                  <a:srgbClr val="E6EDF3"/>
                </a:solidFill>
                <a:latin typeface="Courier New" pitchFamily="34" charset="0"/>
                <a:ea typeface="Courier New" pitchFamily="34" charset="-122"/>
                <a:cs typeface="Courier New" pitchFamily="34" charset="-120"/>
              </a:rPr>
              <a:t>)[</a:t>
            </a:r>
            <a:r>
              <a:rPr lang="en-US" sz="1000" dirty="0">
                <a:solidFill>
                  <a:srgbClr val="FFD28A"/>
                </a:solidFill>
                <a:latin typeface="Courier New" pitchFamily="34" charset="0"/>
                <a:ea typeface="Courier New" pitchFamily="34" charset="-122"/>
                <a:cs typeface="Courier New" pitchFamily="34" charset="-120"/>
              </a:rPr>
              <a:t>0</a:t>
            </a:r>
            <a:r>
              <a:rPr lang="en-US" sz="1000" dirty="0">
                <a:solidFill>
                  <a:srgbClr val="E6EDF3"/>
                </a:solidFill>
                <a:latin typeface="Courier New" pitchFamily="34" charset="0"/>
                <a:ea typeface="Courier New" pitchFamily="34" charset="-122"/>
                <a:cs typeface="Courier New" pitchFamily="34" charset="-120"/>
              </a:rPr>
              <a:t>]</a:t>
            </a:r>
            <a:endParaRPr lang="en-US" sz="1000" dirty="0"/>
          </a:p>
          <a:p>
            <a:pPr indent="0" marL="0">
              <a:buNone/>
            </a:pPr>
            <a:r>
              <a:rPr lang="en-US" sz="1000" b="1" dirty="0">
                <a:solidFill>
                  <a:srgbClr val="D97A14"/>
                </a:solidFill>
                <a:latin typeface="Courier New" pitchFamily="34" charset="0"/>
                <a:ea typeface="Courier New" pitchFamily="34" charset="-122"/>
                <a:cs typeface="Courier New" pitchFamily="34" charset="-120"/>
              </a:rPr>
              <a:t>&gt;&gt;&gt; </a:t>
            </a:r>
            <a:r>
              <a:rPr lang="en-US" sz="1000" dirty="0">
                <a:solidFill>
                  <a:srgbClr val="E6EDF3"/>
                </a:solidFill>
                <a:latin typeface="Courier New" pitchFamily="34" charset="0"/>
                <a:ea typeface="Courier New" pitchFamily="34" charset="-122"/>
                <a:cs typeface="Courier New" pitchFamily="34" charset="-120"/>
              </a:rPr>
              <a:t>res = (r, len(wit[</a:t>
            </a:r>
            <a:r>
              <a:rPr lang="en-US" sz="1000" dirty="0">
                <a:solidFill>
                  <a:srgbClr val="FFD28A"/>
                </a:solidFill>
                <a:latin typeface="Courier New" pitchFamily="34" charset="0"/>
                <a:ea typeface="Courier New" pitchFamily="34" charset="-122"/>
                <a:cs typeface="Courier New" pitchFamily="34" charset="-120"/>
              </a:rPr>
              <a:t>0</a:t>
            </a:r>
            <a:r>
              <a:rPr lang="en-US" sz="1000" dirty="0">
                <a:solidFill>
                  <a:srgbClr val="E6EDF3"/>
                </a:solidFill>
                <a:latin typeface="Courier New" pitchFamily="34" charset="0"/>
                <a:ea typeface="Courier New" pitchFamily="34" charset="-122"/>
                <a:cs typeface="Courier New" pitchFamily="34" charset="-120"/>
              </a:rPr>
              <a:t>]), wt, bad)</a:t>
            </a:r>
            <a:endParaRPr lang="en-US" sz="1000" dirty="0"/>
          </a:p>
          <a:p>
            <a:pPr indent="0" marL="0">
              <a:buNone/>
            </a:pPr>
            <a:r>
              <a:rPr lang="en-US" sz="1000" b="1" dirty="0">
                <a:solidFill>
                  <a:srgbClr val="D97A14"/>
                </a:solidFill>
                <a:latin typeface="Courier New" pitchFamily="34" charset="0"/>
                <a:ea typeface="Courier New" pitchFamily="34" charset="-122"/>
                <a:cs typeface="Courier New" pitchFamily="34" charset="-120"/>
              </a:rPr>
              <a:t>&gt;&gt;&gt; </a:t>
            </a:r>
            <a:r>
              <a:rPr lang="en-US" sz="1000" dirty="0">
                <a:solidFill>
                  <a:srgbClr val="E6EDF3"/>
                </a:solidFill>
                <a:latin typeface="Courier New" pitchFamily="34" charset="0"/>
                <a:ea typeface="Courier New" pitchFamily="34" charset="-122"/>
                <a:cs typeface="Courier New" pitchFamily="34" charset="-120"/>
              </a:rPr>
              <a:t>res</a:t>
            </a:r>
            <a:endParaRPr lang="en-US" sz="1000" dirty="0"/>
          </a:p>
          <a:p>
            <a:pPr indent="0" marL="0">
              <a:buNone/>
            </a:pPr>
            <a:r>
              <a:rPr lang="en-US" sz="1000" dirty="0">
                <a:solidFill>
                  <a:srgbClr val="7EE787"/>
                </a:solidFill>
                <a:latin typeface="Courier New" pitchFamily="34" charset="0"/>
                <a:ea typeface="Courier New" pitchFamily="34" charset="-122"/>
                <a:cs typeface="Courier New" pitchFamily="34" charset="-120"/>
              </a:rPr>
              <a:t>('OK', 64, 308, 'SCHNORR_SIG')</a:t>
            </a:r>
            <a:endParaRPr lang="en-US" sz="1000" dirty="0"/>
          </a:p>
        </p:txBody>
      </p:sp>
      <p:sp>
        <p:nvSpPr>
          <p:cNvPr id="12" name="Shape 10"/>
          <p:cNvSpPr/>
          <p:nvPr/>
        </p:nvSpPr>
        <p:spPr>
          <a:xfrm>
            <a:off x="365760" y="1252728"/>
            <a:ext cx="237744" cy="237744"/>
          </a:xfrm>
          <a:prstGeom prst="ellipse">
            <a:avLst/>
          </a:prstGeom>
          <a:solidFill>
            <a:srgbClr val="D97A14"/>
          </a:solidFill>
          <a:ln w="12700">
            <a:solidFill>
              <a:srgbClr val="D97A14"/>
            </a:solidFill>
            <a:prstDash val="solid"/>
          </a:ln>
        </p:spPr>
      </p:sp>
      <p:sp>
        <p:nvSpPr>
          <p:cNvPr id="13" name="Text 11"/>
          <p:cNvSpPr txBox="1"/>
          <p:nvPr/>
        </p:nvSpPr>
        <p:spPr>
          <a:xfrm>
            <a:off x="365760" y="1252728"/>
            <a:ext cx="237744" cy="237744"/>
          </a:xfrm>
          <a:prstGeom prst="rect">
            <a:avLst/>
          </a:prstGeom>
          <a:noFill/>
          <a:ln/>
        </p:spPr>
        <p:txBody>
          <a:bodyPr wrap="square" lIns="0" tIns="0" rIns="0" bIns="0" rtlCol="0" anchor="ctr"/>
          <a:lstStyle/>
          <a:p>
            <a:pPr algn="ctr" indent="0" marL="0">
              <a:buNone/>
            </a:pPr>
            <a:r>
              <a:rPr lang="en-US" sz="1100" b="1" dirty="0">
                <a:solidFill>
                  <a:srgbClr val="FFFFFF"/>
                </a:solidFill>
                <a:latin typeface="Cambria" pitchFamily="34" charset="0"/>
                <a:ea typeface="Cambria" pitchFamily="34" charset="-122"/>
                <a:cs typeface="Cambria" pitchFamily="34" charset="-120"/>
              </a:rPr>
              <a:t>1</a:t>
            </a:r>
            <a:endParaRPr lang="en-US" sz="1100" dirty="0"/>
          </a:p>
        </p:txBody>
      </p:sp>
      <p:sp>
        <p:nvSpPr>
          <p:cNvPr id="14" name="Text 12"/>
          <p:cNvSpPr txBox="1"/>
          <p:nvPr/>
        </p:nvSpPr>
        <p:spPr>
          <a:xfrm>
            <a:off x="731520" y="1665122"/>
            <a:ext cx="4800600" cy="374904"/>
          </a:xfrm>
          <a:prstGeom prst="rect">
            <a:avLst/>
          </a:prstGeom>
          <a:noFill/>
          <a:ln/>
        </p:spPr>
        <p:txBody>
          <a:bodyPr wrap="square" lIns="0" tIns="0" rIns="0" bIns="0" rtlCol="0" anchor="t"/>
          <a:lstStyle/>
          <a:p>
            <a:pPr indent="0" marL="0">
              <a:buNone/>
            </a:pPr>
            <a:r>
              <a:rPr lang="en-US" sz="1050" dirty="0">
                <a:solidFill>
                  <a:srgbClr val="2B2622"/>
                </a:solidFill>
                <a:latin typeface="Calibri" pitchFamily="34" charset="0"/>
                <a:ea typeface="Calibri" pitchFamily="34" charset="-122"/>
                <a:cs typeface="Calibri" pitchFamily="34" charset="-120"/>
              </a:rPr>
              <a:t>The output key is the internal key plus a tweak; here there is no script.</a:t>
            </a:r>
            <a:endParaRPr lang="en-US" sz="1050" dirty="0"/>
          </a:p>
        </p:txBody>
      </p:sp>
      <p:sp>
        <p:nvSpPr>
          <p:cNvPr id="15" name="Shape 13"/>
          <p:cNvSpPr/>
          <p:nvPr/>
        </p:nvSpPr>
        <p:spPr>
          <a:xfrm>
            <a:off x="365760" y="2049170"/>
            <a:ext cx="237744" cy="237744"/>
          </a:xfrm>
          <a:prstGeom prst="ellipse">
            <a:avLst/>
          </a:prstGeom>
          <a:solidFill>
            <a:srgbClr val="D97A14"/>
          </a:solidFill>
          <a:ln w="12700">
            <a:solidFill>
              <a:srgbClr val="D97A14"/>
            </a:solidFill>
            <a:prstDash val="solid"/>
          </a:ln>
        </p:spPr>
      </p:sp>
      <p:sp>
        <p:nvSpPr>
          <p:cNvPr id="16" name="Text 14"/>
          <p:cNvSpPr txBox="1"/>
          <p:nvPr/>
        </p:nvSpPr>
        <p:spPr>
          <a:xfrm>
            <a:off x="365760" y="2049170"/>
            <a:ext cx="237744" cy="237744"/>
          </a:xfrm>
          <a:prstGeom prst="rect">
            <a:avLst/>
          </a:prstGeom>
          <a:noFill/>
          <a:ln/>
        </p:spPr>
        <p:txBody>
          <a:bodyPr wrap="square" lIns="0" tIns="0" rIns="0" bIns="0" rtlCol="0" anchor="ctr"/>
          <a:lstStyle/>
          <a:p>
            <a:pPr algn="ctr" indent="0" marL="0">
              <a:buNone/>
            </a:pPr>
            <a:r>
              <a:rPr lang="en-US" sz="1100" b="1" dirty="0">
                <a:solidFill>
                  <a:srgbClr val="FFFFFF"/>
                </a:solidFill>
                <a:latin typeface="Cambria" pitchFamily="34" charset="0"/>
                <a:ea typeface="Cambria" pitchFamily="34" charset="-122"/>
                <a:cs typeface="Cambria" pitchFamily="34" charset="-120"/>
              </a:rPr>
              <a:t>2</a:t>
            </a:r>
            <a:endParaRPr lang="en-US" sz="1100" dirty="0"/>
          </a:p>
        </p:txBody>
      </p:sp>
      <p:sp>
        <p:nvSpPr>
          <p:cNvPr id="17" name="Text 15"/>
          <p:cNvSpPr txBox="1"/>
          <p:nvPr/>
        </p:nvSpPr>
        <p:spPr>
          <a:xfrm>
            <a:off x="731520" y="2626157"/>
            <a:ext cx="4800600" cy="210312"/>
          </a:xfrm>
          <a:prstGeom prst="rect">
            <a:avLst/>
          </a:prstGeom>
          <a:noFill/>
          <a:ln/>
        </p:spPr>
        <p:txBody>
          <a:bodyPr wrap="square" lIns="0" tIns="0" rIns="0" bIns="0" rtlCol="0" anchor="t"/>
          <a:lstStyle/>
          <a:p>
            <a:pPr indent="0" marL="0">
              <a:buNone/>
            </a:pPr>
            <a:r>
              <a:rPr lang="en-US" sz="1050" dirty="0">
                <a:solidFill>
                  <a:srgbClr val="2B2622"/>
                </a:solidFill>
                <a:latin typeface="Calibri" pitchFamily="34" charset="0"/>
                <a:ea typeface="Calibri" pitchFamily="34" charset="-122"/>
                <a:cs typeface="Calibri" pitchFamily="34" charset="-120"/>
              </a:rPr>
              <a:t>The address begins with bc1p and the key takes 32 bytes.</a:t>
            </a:r>
            <a:endParaRPr lang="en-US" sz="1050" dirty="0"/>
          </a:p>
        </p:txBody>
      </p:sp>
      <p:sp>
        <p:nvSpPr>
          <p:cNvPr id="18" name="Shape 16"/>
          <p:cNvSpPr/>
          <p:nvPr/>
        </p:nvSpPr>
        <p:spPr>
          <a:xfrm>
            <a:off x="365760" y="2845613"/>
            <a:ext cx="237744" cy="237744"/>
          </a:xfrm>
          <a:prstGeom prst="ellipse">
            <a:avLst/>
          </a:prstGeom>
          <a:solidFill>
            <a:srgbClr val="D97A14"/>
          </a:solidFill>
          <a:ln w="12700">
            <a:solidFill>
              <a:srgbClr val="D97A14"/>
            </a:solidFill>
            <a:prstDash val="solid"/>
          </a:ln>
        </p:spPr>
      </p:sp>
      <p:sp>
        <p:nvSpPr>
          <p:cNvPr id="19" name="Text 17"/>
          <p:cNvSpPr txBox="1"/>
          <p:nvPr/>
        </p:nvSpPr>
        <p:spPr>
          <a:xfrm>
            <a:off x="365760" y="2845613"/>
            <a:ext cx="237744" cy="237744"/>
          </a:xfrm>
          <a:prstGeom prst="rect">
            <a:avLst/>
          </a:prstGeom>
          <a:noFill/>
          <a:ln/>
        </p:spPr>
        <p:txBody>
          <a:bodyPr wrap="square" lIns="0" tIns="0" rIns="0" bIns="0" rtlCol="0" anchor="ctr"/>
          <a:lstStyle/>
          <a:p>
            <a:pPr algn="ctr" indent="0" marL="0">
              <a:buNone/>
            </a:pPr>
            <a:r>
              <a:rPr lang="en-US" sz="1100" b="1" dirty="0">
                <a:solidFill>
                  <a:srgbClr val="FFFFFF"/>
                </a:solidFill>
                <a:latin typeface="Cambria" pitchFamily="34" charset="0"/>
                <a:ea typeface="Cambria" pitchFamily="34" charset="-122"/>
                <a:cs typeface="Cambria" pitchFamily="34" charset="-120"/>
              </a:rPr>
              <a:t>3</a:t>
            </a:r>
            <a:endParaRPr lang="en-US" sz="1100" dirty="0"/>
          </a:p>
        </p:txBody>
      </p:sp>
      <p:sp>
        <p:nvSpPr>
          <p:cNvPr id="20" name="Text 18"/>
          <p:cNvSpPr txBox="1"/>
          <p:nvPr/>
        </p:nvSpPr>
        <p:spPr>
          <a:xfrm>
            <a:off x="731520" y="3918204"/>
            <a:ext cx="4800600" cy="210312"/>
          </a:xfrm>
          <a:prstGeom prst="rect">
            <a:avLst/>
          </a:prstGeom>
          <a:noFill/>
          <a:ln/>
        </p:spPr>
        <p:txBody>
          <a:bodyPr wrap="square" lIns="0" tIns="0" rIns="0" bIns="0" rtlCol="0" anchor="t"/>
          <a:lstStyle/>
          <a:p>
            <a:pPr indent="0" marL="0">
              <a:buNone/>
            </a:pPr>
            <a:r>
              <a:rPr lang="en-US" sz="1050" dirty="0">
                <a:solidFill>
                  <a:srgbClr val="2B2622"/>
                </a:solidFill>
                <a:latin typeface="Calibri" pitchFamily="34" charset="0"/>
                <a:ea typeface="Calibri" pitchFamily="34" charset="-122"/>
                <a:cs typeface="Calibri" pitchFamily="34" charset="-120"/>
              </a:rPr>
              <a:t>One 64-byte signature spends it; an untweaked key is refused.</a:t>
            </a:r>
            <a:endParaRPr lang="en-US" sz="1050" dirty="0"/>
          </a:p>
        </p:txBody>
      </p:sp>
      <p:sp>
        <p:nvSpPr>
          <p:cNvPr id="21" name="Text 19"/>
          <p:cNvSpPr txBox="1"/>
          <p:nvPr/>
        </p:nvSpPr>
        <p:spPr>
          <a:xfrm>
            <a:off x="457200" y="4174236"/>
            <a:ext cx="5074920" cy="182880"/>
          </a:xfrm>
          <a:prstGeom prst="rect">
            <a:avLst/>
          </a:prstGeom>
          <a:noFill/>
          <a:ln/>
        </p:spPr>
        <p:txBody>
          <a:bodyPr wrap="square" lIns="0" tIns="0" rIns="0" bIns="0" rtlCol="0" anchor="ctr"/>
          <a:lstStyle/>
          <a:p>
            <a:pPr algn="l" indent="0" marL="0">
              <a:buNone/>
            </a:pPr>
            <a:r>
              <a:rPr lang="en-US" sz="900" i="1" dirty="0">
                <a:solidFill>
                  <a:srgbClr val="6E655C"/>
                </a:solidFill>
                <a:latin typeface="Calibri" pitchFamily="34" charset="0"/>
                <a:ea typeface="Calibri" pitchFamily="34" charset="-122"/>
                <a:cs typeface="Calibri" pitchFamily="34" charset="-120"/>
              </a:rPr>
              <a:t>run under Python 3.14.6 - L, K and the chapter setup as on slide 7</a:t>
            </a:r>
            <a:endParaRPr lang="en-US" sz="900" dirty="0"/>
          </a:p>
        </p:txBody>
      </p:sp>
      <p:sp>
        <p:nvSpPr>
          <p:cNvPr id="22" name="Text 20"/>
          <p:cNvSpPr txBox="1"/>
          <p:nvPr/>
        </p:nvSpPr>
        <p:spPr>
          <a:xfrm>
            <a:off x="5715000" y="1325880"/>
            <a:ext cx="2971800" cy="219456"/>
          </a:xfrm>
          <a:prstGeom prst="rect">
            <a:avLst/>
          </a:prstGeom>
          <a:noFill/>
          <a:ln/>
        </p:spPr>
        <p:txBody>
          <a:bodyPr wrap="square" lIns="0" tIns="0" rIns="0" bIns="0" rtlCol="0" anchor="t"/>
          <a:lstStyle/>
          <a:p>
            <a:pPr algn="l" indent="0" marL="0">
              <a:buNone/>
            </a:pPr>
            <a:r>
              <a:rPr lang="en-US" sz="1100" b="1" dirty="0">
                <a:solidFill>
                  <a:srgbClr val="6E655C"/>
                </a:solidFill>
                <a:latin typeface="Calibri" pitchFamily="34" charset="0"/>
                <a:ea typeface="Calibri" pitchFamily="34" charset="-122"/>
                <a:cs typeface="Calibri" pitchFamily="34" charset="-120"/>
              </a:rPr>
              <a:t>Result: one key path spend</a:t>
            </a:r>
            <a:endParaRPr lang="en-US" sz="11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5715000" y="1591056"/>
          <a:ext cx="2971800" cy="914400"/>
        </p:xfrm>
        <a:graphic>
          <a:graphicData uri="http://schemas.openxmlformats.org/drawingml/2006/table">
            <a:tbl>
              <a:tblPr/>
              <a:tblGrid>
                <a:gridCol w="1463040"/>
                <a:gridCol w="1508760"/>
              </a:tblGrid>
              <a:tr h="274320">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Quantity</a:t>
                      </a:r>
                      <a:endParaRPr lang="en-US" sz="90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solidFill>
                      <a:srgbClr val="2B2622"/>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Result</a:t>
                      </a:r>
                      <a:endParaRPr lang="en-US" sz="90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solidFill>
                      <a:srgbClr val="2B2622"/>
                    </a:solidFill>
                  </a:tcPr>
                </a:tc>
              </a:tr>
              <a:tr h="274320">
                <a:tc>
                  <a:txBody>
                    <a:bodyPr/>
                    <a:lstStyle/>
                    <a:p>
                      <a:pPr indent="0" marL="0">
                        <a:buNone/>
                      </a:pPr>
                      <a:r>
                        <a:rPr lang="en-US" sz="900" dirty="0">
                          <a:solidFill>
                            <a:srgbClr val="2B2622"/>
                          </a:solidFill>
                          <a:latin typeface="Calibri" pitchFamily="34" charset="0"/>
                          <a:ea typeface="Calibri" pitchFamily="34" charset="-122"/>
                          <a:cs typeface="Calibri" pitchFamily="34" charset="-120"/>
                        </a:rPr>
                        <a:t>Address begins</a:t>
                      </a:r>
                      <a:endParaRPr lang="en-US" sz="90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c>
                  <a:txBody>
                    <a:bodyPr/>
                    <a:lstStyle/>
                    <a:p>
                      <a:pPr indent="0" marL="0">
                        <a:buNone/>
                      </a:pPr>
                      <a:r>
                        <a:rPr lang="en-US" sz="900" dirty="0">
                          <a:solidFill>
                            <a:srgbClr val="2B2622"/>
                          </a:solidFill>
                          <a:latin typeface="Calibri" pitchFamily="34" charset="0"/>
                          <a:ea typeface="Calibri" pitchFamily="34" charset="-122"/>
                          <a:cs typeface="Calibri" pitchFamily="34" charset="-120"/>
                        </a:rPr>
                        <a:t>bc1pwd</a:t>
                      </a:r>
                      <a:endParaRPr lang="en-US" sz="90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r>
              <a:tr h="274320">
                <a:tc>
                  <a:txBody>
                    <a:bodyPr/>
                    <a:lstStyle/>
                    <a:p>
                      <a:pPr indent="0" marL="0">
                        <a:buNone/>
                      </a:pPr>
                      <a:r>
                        <a:rPr lang="en-US" sz="900" dirty="0">
                          <a:solidFill>
                            <a:srgbClr val="2B2622"/>
                          </a:solidFill>
                          <a:latin typeface="Calibri" pitchFamily="34" charset="0"/>
                          <a:ea typeface="Calibri" pitchFamily="34" charset="-122"/>
                          <a:cs typeface="Calibri" pitchFamily="34" charset="-120"/>
                        </a:rPr>
                        <a:t>Output key, bytes</a:t>
                      </a:r>
                      <a:endParaRPr lang="en-US" sz="90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c>
                  <a:txBody>
                    <a:bodyPr/>
                    <a:lstStyle/>
                    <a:p>
                      <a:pPr indent="0" marL="0">
                        <a:buNone/>
                      </a:pPr>
                      <a:r>
                        <a:rPr lang="en-US" sz="900" dirty="0">
                          <a:solidFill>
                            <a:srgbClr val="2B2622"/>
                          </a:solidFill>
                          <a:latin typeface="Calibri" pitchFamily="34" charset="0"/>
                          <a:ea typeface="Calibri" pitchFamily="34" charset="-122"/>
                          <a:cs typeface="Calibri" pitchFamily="34" charset="-120"/>
                        </a:rPr>
                        <a:t>32</a:t>
                      </a:r>
                      <a:endParaRPr lang="en-US" sz="90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r>
              <a:tr h="274320">
                <a:tc>
                  <a:txBody>
                    <a:bodyPr/>
                    <a:lstStyle/>
                    <a:p>
                      <a:pPr indent="0" marL="0">
                        <a:buNone/>
                      </a:pPr>
                      <a:r>
                        <a:rPr lang="en-US" sz="900" dirty="0">
                          <a:solidFill>
                            <a:srgbClr val="2B2622"/>
                          </a:solidFill>
                          <a:latin typeface="Calibri" pitchFamily="34" charset="0"/>
                          <a:ea typeface="Calibri" pitchFamily="34" charset="-122"/>
                          <a:cs typeface="Calibri" pitchFamily="34" charset="-120"/>
                        </a:rPr>
                        <a:t>Key path spend</a:t>
                      </a:r>
                      <a:endParaRPr lang="en-US" sz="90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c>
                  <a:txBody>
                    <a:bodyPr/>
                    <a:lstStyle/>
                    <a:p>
                      <a:pPr indent="0" marL="0">
                        <a:buNone/>
                      </a:pPr>
                      <a:r>
                        <a:rPr lang="en-US" sz="900" dirty="0">
                          <a:solidFill>
                            <a:srgbClr val="2B2622"/>
                          </a:solidFill>
                          <a:latin typeface="Calibri" pitchFamily="34" charset="0"/>
                          <a:ea typeface="Calibri" pitchFamily="34" charset="-122"/>
                          <a:cs typeface="Calibri" pitchFamily="34" charset="-120"/>
                        </a:rPr>
                        <a:t>OK</a:t>
                      </a:r>
                      <a:endParaRPr lang="en-US" sz="90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r>
              <a:tr h="274320">
                <a:tc>
                  <a:txBody>
                    <a:bodyPr/>
                    <a:lstStyle/>
                    <a:p>
                      <a:pPr indent="0" marL="0">
                        <a:buNone/>
                      </a:pPr>
                      <a:r>
                        <a:rPr lang="en-US" sz="900" dirty="0">
                          <a:solidFill>
                            <a:srgbClr val="2B2622"/>
                          </a:solidFill>
                          <a:latin typeface="Calibri" pitchFamily="34" charset="0"/>
                          <a:ea typeface="Calibri" pitchFamily="34" charset="-122"/>
                          <a:cs typeface="Calibri" pitchFamily="34" charset="-120"/>
                        </a:rPr>
                        <a:t>Signature, bytes</a:t>
                      </a:r>
                      <a:endParaRPr lang="en-US" sz="90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c>
                  <a:txBody>
                    <a:bodyPr/>
                    <a:lstStyle/>
                    <a:p>
                      <a:pPr indent="0" marL="0">
                        <a:buNone/>
                      </a:pPr>
                      <a:r>
                        <a:rPr lang="en-US" sz="900" dirty="0">
                          <a:solidFill>
                            <a:srgbClr val="2B2622"/>
                          </a:solidFill>
                          <a:latin typeface="Calibri" pitchFamily="34" charset="0"/>
                          <a:ea typeface="Calibri" pitchFamily="34" charset="-122"/>
                          <a:cs typeface="Calibri" pitchFamily="34" charset="-120"/>
                        </a:rPr>
                        <a:t>64</a:t>
                      </a:r>
                      <a:endParaRPr lang="en-US" sz="90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r>
              <a:tr h="274320">
                <a:tc>
                  <a:txBody>
                    <a:bodyPr/>
                    <a:lstStyle/>
                    <a:p>
                      <a:pPr indent="0" marL="0">
                        <a:buNone/>
                      </a:pPr>
                      <a:r>
                        <a:rPr lang="en-US" sz="900" dirty="0">
                          <a:solidFill>
                            <a:srgbClr val="2B2622"/>
                          </a:solidFill>
                          <a:latin typeface="Calibri" pitchFamily="34" charset="0"/>
                          <a:ea typeface="Calibri" pitchFamily="34" charset="-122"/>
                          <a:cs typeface="Calibri" pitchFamily="34" charset="-120"/>
                        </a:rPr>
                        <a:t>Weight units</a:t>
                      </a:r>
                      <a:endParaRPr lang="en-US" sz="90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c>
                  <a:txBody>
                    <a:bodyPr/>
                    <a:lstStyle/>
                    <a:p>
                      <a:pPr indent="0" marL="0">
                        <a:buNone/>
                      </a:pPr>
                      <a:r>
                        <a:rPr lang="en-US" sz="900" dirty="0">
                          <a:solidFill>
                            <a:srgbClr val="2B2622"/>
                          </a:solidFill>
                          <a:latin typeface="Calibri" pitchFamily="34" charset="0"/>
                          <a:ea typeface="Calibri" pitchFamily="34" charset="-122"/>
                          <a:cs typeface="Calibri" pitchFamily="34" charset="-120"/>
                        </a:rPr>
                        <a:t>308</a:t>
                      </a:r>
                      <a:endParaRPr lang="en-US" sz="90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r>
              <a:tr h="274320">
                <a:tc>
                  <a:txBody>
                    <a:bodyPr/>
                    <a:lstStyle/>
                    <a:p>
                      <a:pPr indent="0" marL="0">
                        <a:buNone/>
                      </a:pPr>
                      <a:r>
                        <a:rPr lang="en-US" sz="900" dirty="0">
                          <a:solidFill>
                            <a:srgbClr val="2B2622"/>
                          </a:solidFill>
                          <a:latin typeface="Calibri" pitchFamily="34" charset="0"/>
                          <a:ea typeface="Calibri" pitchFamily="34" charset="-122"/>
                          <a:cs typeface="Calibri" pitchFamily="34" charset="-120"/>
                        </a:rPr>
                        <a:t>Untweaked key</a:t>
                      </a:r>
                      <a:endParaRPr lang="en-US" sz="90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c>
                  <a:txBody>
                    <a:bodyPr/>
                    <a:lstStyle/>
                    <a:p>
                      <a:pPr indent="0" marL="0">
                        <a:buNone/>
                      </a:pPr>
                      <a:r>
                        <a:rPr lang="en-US" sz="900" dirty="0">
                          <a:solidFill>
                            <a:srgbClr val="2B2622"/>
                          </a:solidFill>
                          <a:latin typeface="Calibri" pitchFamily="34" charset="0"/>
                          <a:ea typeface="Calibri" pitchFamily="34" charset="-122"/>
                          <a:cs typeface="Calibri" pitchFamily="34" charset="-120"/>
                        </a:rPr>
                        <a:t>SCHNORR_SIG</a:t>
                      </a:r>
                      <a:endParaRPr lang="en-US" sz="90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r>
            </a:tbl>
          </a:graphicData>
        </a:graphic>
      </p:graphicFrame>
      <p:sp>
        <p:nvSpPr>
          <p:cNvPr id="24" name="Text 21"/>
          <p:cNvSpPr txBox="1"/>
          <p:nvPr/>
        </p:nvSpPr>
        <p:spPr>
          <a:xfrm>
            <a:off x="5715000" y="3785616"/>
            <a:ext cx="2971800" cy="603504"/>
          </a:xfrm>
          <a:prstGeom prst="rect">
            <a:avLst/>
          </a:prstGeom>
          <a:noFill/>
          <a:ln/>
        </p:spPr>
        <p:txBody>
          <a:bodyPr wrap="square" lIns="0" tIns="0" rIns="0" bIns="0" rtlCol="0" anchor="t"/>
          <a:lstStyle/>
          <a:p>
            <a:pPr algn="l" indent="0" marL="0">
              <a:buNone/>
            </a:pPr>
            <a:r>
              <a:rPr lang="en-US" sz="1150" i="1" dirty="0">
                <a:solidFill>
                  <a:srgbClr val="2B2622"/>
                </a:solidFill>
                <a:latin typeface="Calibri" pitchFamily="34" charset="0"/>
                <a:ea typeface="Calibri" pitchFamily="34" charset="-122"/>
                <a:cs typeface="Calibri" pitchFamily="34" charset="-120"/>
              </a:rPr>
              <a:t>One 64-byte signature spends it. A key that was not tweaked as the output says fails with SCHNORR_SIG.</a:t>
            </a:r>
            <a:endParaRPr lang="en-US" sz="1150" dirty="0"/>
          </a:p>
        </p:txBody>
      </p:sp>
      <p:sp>
        <p:nvSpPr>
          <p:cNvPr id="25" name="Shape 22"/>
          <p:cNvSpPr/>
          <p:nvPr/>
        </p:nvSpPr>
        <p:spPr>
          <a:xfrm>
            <a:off x="457200" y="4636008"/>
            <a:ext cx="91440" cy="310896"/>
          </a:xfrm>
          <a:prstGeom prst="rect">
            <a:avLst/>
          </a:prstGeom>
          <a:solidFill>
            <a:srgbClr val="D97A14"/>
          </a:solidFill>
          <a:ln w="12700">
            <a:solidFill>
              <a:srgbClr val="D97A14"/>
            </a:solidFill>
            <a:prstDash val="solid"/>
          </a:ln>
        </p:spPr>
      </p:sp>
      <p:sp>
        <p:nvSpPr>
          <p:cNvPr id="26" name="Text 23"/>
          <p:cNvSpPr txBox="1"/>
          <p:nvPr/>
        </p:nvSpPr>
        <p:spPr>
          <a:xfrm>
            <a:off x="658368" y="4599432"/>
            <a:ext cx="6949440" cy="384048"/>
          </a:xfrm>
          <a:prstGeom prst="rect">
            <a:avLst/>
          </a:prstGeom>
          <a:noFill/>
          <a:ln/>
        </p:spPr>
        <p:txBody>
          <a:bodyPr wrap="square" lIns="0" tIns="0" rIns="0" bIns="0" rtlCol="0" anchor="ctr"/>
          <a:lstStyle/>
          <a:p>
            <a:pPr indent="0" marL="0">
              <a:buNone/>
            </a:pPr>
            <a:r>
              <a:rPr lang="en-US" sz="1350" b="1" i="1" dirty="0">
                <a:solidFill>
                  <a:srgbClr val="2B2622"/>
                </a:solidFill>
                <a:latin typeface="Cambria" pitchFamily="34" charset="0"/>
                <a:ea typeface="Cambria" pitchFamily="34" charset="-122"/>
                <a:cs typeface="Cambria" pitchFamily="34" charset="-120"/>
              </a:rPr>
              <a:t>The output key is the internal key plus a tweak</a:t>
            </a:r>
            <a:endParaRPr lang="en-US" sz="1350" dirty="0"/>
          </a:p>
        </p:txBody>
      </p:sp>
      <p:sp>
        <p:nvSpPr>
          <p:cNvPr id="27" name="Text 24"/>
          <p:cNvSpPr txBox="1"/>
          <p:nvPr/>
        </p:nvSpPr>
        <p:spPr>
          <a:xfrm>
            <a:off x="7863840" y="4645152"/>
            <a:ext cx="868680" cy="310896"/>
          </a:xfrm>
          <a:prstGeom prst="rect">
            <a:avLst/>
          </a:prstGeom>
          <a:noFill/>
          <a:ln/>
        </p:spPr>
        <p:txBody>
          <a:bodyPr wrap="square" lIns="0" tIns="0" rIns="0" bIns="0" rtlCol="0" anchor="ctr"/>
          <a:lstStyle/>
          <a:p>
            <a:pPr algn="r" indent="0" marL="0">
              <a:buNone/>
            </a:pPr>
            <a:r>
              <a:rPr lang="en-US" sz="1100" dirty="0">
                <a:solidFill>
                  <a:srgbClr val="6E655C"/>
                </a:solidFill>
                <a:latin typeface="Calibri" pitchFamily="34" charset="0"/>
                <a:ea typeface="Calibri" pitchFamily="34" charset="-122"/>
                <a:cs typeface="Calibri" pitchFamily="34" charset="-120"/>
              </a:rPr>
              <a:t>52 / 61</a:t>
            </a:r>
            <a:endParaRPr lang="en-US" sz="11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AF6EF"/>
        </a:solidFill>
      </p:bgPr>
    </p:bg>
    <p:spTree>
      <p:nvGrpSpPr>
        <p:cNvPr id="1" name=""/>
        <p:cNvGrpSpPr/>
        <p:nvPr/>
      </p:nvGrpSpPr>
      <p:grpSpPr>
        <a:xfrm>
          <a:off x="0" y="0"/>
          <a:ext cx="0" cy="0"/>
          <a:chOff x="0" y="0"/>
          <a:chExt cx="0" cy="0"/>
        </a:xfrm>
      </p:grpSpPr>
      <p:sp>
        <p:nvSpPr>
          <p:cNvPr id="2" name="Shape 0"/>
          <p:cNvSpPr/>
          <p:nvPr/>
        </p:nvSpPr>
        <p:spPr>
          <a:xfrm>
            <a:off x="457200" y="347472"/>
            <a:ext cx="566928" cy="384048"/>
          </a:xfrm>
          <a:prstGeom prst="roundRect">
            <a:avLst>
              <a:gd name="adj" fmla="val 19048"/>
            </a:avLst>
          </a:prstGeom>
          <a:solidFill>
            <a:srgbClr val="D97A14"/>
          </a:solidFill>
          <a:ln w="12700">
            <a:solidFill>
              <a:srgbClr val="D97A14"/>
            </a:solidFill>
            <a:prstDash val="solid"/>
          </a:ln>
        </p:spPr>
      </p:sp>
      <p:sp>
        <p:nvSpPr>
          <p:cNvPr id="3" name="Text 1"/>
          <p:cNvSpPr txBox="1"/>
          <p:nvPr/>
        </p:nvSpPr>
        <p:spPr>
          <a:xfrm>
            <a:off x="457200" y="347472"/>
            <a:ext cx="56692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4" name="Text 2"/>
          <p:cNvSpPr txBox="1"/>
          <p:nvPr/>
        </p:nvSpPr>
        <p:spPr>
          <a:xfrm>
            <a:off x="1143000" y="237744"/>
            <a:ext cx="7543800" cy="566928"/>
          </a:xfrm>
          <a:prstGeom prst="rect">
            <a:avLst/>
          </a:prstGeom>
          <a:noFill/>
          <a:ln/>
        </p:spPr>
        <p:txBody>
          <a:bodyPr wrap="square" lIns="0" tIns="0" rIns="0" bIns="0" rtlCol="0" anchor="ctr"/>
          <a:lstStyle/>
          <a:p>
            <a:pPr indent="0" marL="0">
              <a:buNone/>
            </a:pPr>
            <a:r>
              <a:rPr lang="en-US" sz="2200" b="1" dirty="0">
                <a:solidFill>
                  <a:srgbClr val="2B2622"/>
                </a:solidFill>
                <a:latin typeface="Cambria" pitchFamily="34" charset="0"/>
                <a:ea typeface="Cambria" pitchFamily="34" charset="-122"/>
                <a:cs typeface="Cambria" pitchFamily="34" charset="-120"/>
              </a:rPr>
              <a:t>From a patented signature to one key for a million people</a:t>
            </a:r>
            <a:endParaRPr lang="en-US" sz="2200" dirty="0"/>
          </a:p>
        </p:txBody>
      </p:sp>
      <p:sp>
        <p:nvSpPr>
          <p:cNvPr id="5" name="Text 3"/>
          <p:cNvSpPr txBox="1"/>
          <p:nvPr/>
        </p:nvSpPr>
        <p:spPr>
          <a:xfrm>
            <a:off x="1143000" y="786384"/>
            <a:ext cx="7543800" cy="310896"/>
          </a:xfrm>
          <a:prstGeom prst="rect">
            <a:avLst/>
          </a:prstGeom>
          <a:noFill/>
          <a:ln/>
        </p:spPr>
        <p:txBody>
          <a:bodyPr wrap="square" lIns="0" tIns="0" rIns="0" bIns="0" rtlCol="0" anchor="ctr"/>
          <a:lstStyle/>
          <a:p>
            <a:pPr indent="0" marL="0">
              <a:buNone/>
            </a:pPr>
            <a:r>
              <a:rPr lang="en-US" sz="1300" i="1" dirty="0">
                <a:solidFill>
                  <a:srgbClr val="6E655C"/>
                </a:solidFill>
                <a:latin typeface="Calibri" pitchFamily="34" charset="0"/>
                <a:ea typeface="Calibri" pitchFamily="34" charset="-122"/>
                <a:cs typeface="Calibri" pitchFamily="34" charset="-120"/>
              </a:rPr>
              <a:t>Taproot took effect at block 709,632 in 2021</a:t>
            </a:r>
            <a:endParaRPr lang="en-US" sz="1300" dirty="0"/>
          </a:p>
        </p:txBody>
      </p:sp>
      <p:pic>
        <p:nvPicPr>
          <p:cNvPr id="6" name="Image 0" descr="../../03-materials/ch07/assets/photo_claus_schnorr_1986.jpg">    </p:cNvPr>
          <p:cNvPicPr>
            <a:picLocks noChangeAspect="1"/>
          </p:cNvPicPr>
          <p:nvPr/>
        </p:nvPicPr>
        <p:blipFill>
          <a:blip r:embed="rId1"/>
          <a:srcRect l="0" r="0" t="0" b="0"/>
          <a:stretch/>
        </p:blipFill>
        <p:spPr>
          <a:xfrm>
            <a:off x="457200" y="1280160"/>
            <a:ext cx="2377440" cy="2331720"/>
          </a:xfrm>
          <a:prstGeom prst="rect">
            <a:avLst/>
          </a:prstGeom>
        </p:spPr>
      </p:pic>
      <p:sp>
        <p:nvSpPr>
          <p:cNvPr id="7" name="Text 4"/>
          <p:cNvSpPr txBox="1"/>
          <p:nvPr/>
        </p:nvSpPr>
        <p:spPr>
          <a:xfrm>
            <a:off x="457200" y="3630168"/>
            <a:ext cx="2377440" cy="329184"/>
          </a:xfrm>
          <a:prstGeom prst="rect">
            <a:avLst/>
          </a:prstGeom>
          <a:noFill/>
          <a:ln/>
        </p:spPr>
        <p:txBody>
          <a:bodyPr wrap="square" lIns="0" tIns="0" rIns="0" bIns="0" rtlCol="0" anchor="ctr"/>
          <a:lstStyle/>
          <a:p>
            <a:pPr algn="ctr" indent="0" marL="0">
              <a:buNone/>
            </a:pPr>
            <a:r>
              <a:rPr lang="en-US" sz="900" i="1" dirty="0">
                <a:solidFill>
                  <a:srgbClr val="6E655C"/>
                </a:solidFill>
                <a:latin typeface="Calibri" pitchFamily="34" charset="0"/>
                <a:ea typeface="Calibri" pitchFamily="34" charset="-122"/>
                <a:cs typeface="Calibri" pitchFamily="34" charset="-120"/>
              </a:rPr>
              <a:t>Claus-Peter Schnorr, 1986 - Konrad Jacobs, CC BY-SA 2.0 de</a:t>
            </a:r>
            <a:endParaRPr lang="en-US" sz="900" dirty="0"/>
          </a:p>
        </p:txBody>
      </p:sp>
      <p:sp>
        <p:nvSpPr>
          <p:cNvPr id="8" name="Shape 5"/>
          <p:cNvSpPr/>
          <p:nvPr/>
        </p:nvSpPr>
        <p:spPr>
          <a:xfrm>
            <a:off x="3108960" y="1524762"/>
            <a:ext cx="128016" cy="128016"/>
          </a:xfrm>
          <a:prstGeom prst="diamond">
            <a:avLst/>
          </a:prstGeom>
          <a:solidFill>
            <a:srgbClr val="D97A14"/>
          </a:solidFill>
          <a:ln w="12700">
            <a:solidFill>
              <a:srgbClr val="D97A14"/>
            </a:solidFill>
            <a:prstDash val="solid"/>
          </a:ln>
        </p:spPr>
      </p:sp>
      <p:sp>
        <p:nvSpPr>
          <p:cNvPr id="9" name="Text 6"/>
          <p:cNvSpPr txBox="1"/>
          <p:nvPr/>
        </p:nvSpPr>
        <p:spPr>
          <a:xfrm>
            <a:off x="3383280" y="1280160"/>
            <a:ext cx="5303520" cy="617220"/>
          </a:xfrm>
          <a:prstGeom prst="rect">
            <a:avLst/>
          </a:prstGeom>
          <a:noFill/>
          <a:ln/>
        </p:spPr>
        <p:txBody>
          <a:bodyPr wrap="square" lIns="0" tIns="0" rIns="0" bIns="0" rtlCol="0" anchor="ctr"/>
          <a:lstStyle/>
          <a:p>
            <a:pPr indent="0" marL="0">
              <a:buNone/>
            </a:pPr>
            <a:r>
              <a:rPr lang="en-US" sz="1150" dirty="0">
                <a:solidFill>
                  <a:srgbClr val="2B2622"/>
                </a:solidFill>
                <a:latin typeface="Calibri" pitchFamily="34" charset="0"/>
                <a:ea typeface="Calibri" pitchFamily="34" charset="-122"/>
                <a:cs typeface="Calibri" pitchFamily="34" charset="-120"/>
              </a:rPr>
              <a:t>WHAT: At block 709,632, mined on 14 November 2021, the taproot rules and Schnorr signatures (BIPs 340 to 342) took effect.</a:t>
            </a:r>
            <a:endParaRPr lang="en-US" sz="1150" dirty="0"/>
          </a:p>
        </p:txBody>
      </p:sp>
      <p:sp>
        <p:nvSpPr>
          <p:cNvPr id="10" name="Shape 7"/>
          <p:cNvSpPr/>
          <p:nvPr/>
        </p:nvSpPr>
        <p:spPr>
          <a:xfrm>
            <a:off x="3108960" y="2141982"/>
            <a:ext cx="128016" cy="128016"/>
          </a:xfrm>
          <a:prstGeom prst="diamond">
            <a:avLst/>
          </a:prstGeom>
          <a:solidFill>
            <a:srgbClr val="D97A14"/>
          </a:solidFill>
          <a:ln w="12700">
            <a:solidFill>
              <a:srgbClr val="D97A14"/>
            </a:solidFill>
            <a:prstDash val="solid"/>
          </a:ln>
        </p:spPr>
      </p:sp>
      <p:sp>
        <p:nvSpPr>
          <p:cNvPr id="11" name="Text 8"/>
          <p:cNvSpPr txBox="1"/>
          <p:nvPr/>
        </p:nvSpPr>
        <p:spPr>
          <a:xfrm>
            <a:off x="3383280" y="1897380"/>
            <a:ext cx="5303520" cy="617220"/>
          </a:xfrm>
          <a:prstGeom prst="rect">
            <a:avLst/>
          </a:prstGeom>
          <a:noFill/>
          <a:ln/>
        </p:spPr>
        <p:txBody>
          <a:bodyPr wrap="square" lIns="0" tIns="0" rIns="0" bIns="0" rtlCol="0" anchor="ctr"/>
          <a:lstStyle/>
          <a:p>
            <a:pPr indent="0" marL="0">
              <a:buNone/>
            </a:pPr>
            <a:r>
              <a:rPr lang="en-US" sz="1150" dirty="0">
                <a:solidFill>
                  <a:srgbClr val="2B2622"/>
                </a:solidFill>
                <a:latin typeface="Calibri" pitchFamily="34" charset="0"/>
                <a:ea typeface="Calibri" pitchFamily="34" charset="-122"/>
                <a:cs typeface="Calibri" pitchFamily="34" charset="-120"/>
              </a:rPr>
              <a:t>WHY: Claus Schnorr had patented his signature, which kept it out of open standards for almost two decades; ECDSA was used instead.</a:t>
            </a:r>
            <a:endParaRPr lang="en-US" sz="1150" dirty="0"/>
          </a:p>
        </p:txBody>
      </p:sp>
      <p:sp>
        <p:nvSpPr>
          <p:cNvPr id="12" name="Shape 9"/>
          <p:cNvSpPr/>
          <p:nvPr/>
        </p:nvSpPr>
        <p:spPr>
          <a:xfrm>
            <a:off x="3108960" y="2759202"/>
            <a:ext cx="128016" cy="128016"/>
          </a:xfrm>
          <a:prstGeom prst="diamond">
            <a:avLst/>
          </a:prstGeom>
          <a:solidFill>
            <a:srgbClr val="D97A14"/>
          </a:solidFill>
          <a:ln w="12700">
            <a:solidFill>
              <a:srgbClr val="D97A14"/>
            </a:solidFill>
            <a:prstDash val="solid"/>
          </a:ln>
        </p:spPr>
      </p:sp>
      <p:sp>
        <p:nvSpPr>
          <p:cNvPr id="13" name="Text 10"/>
          <p:cNvSpPr txBox="1"/>
          <p:nvPr/>
        </p:nvSpPr>
        <p:spPr>
          <a:xfrm>
            <a:off x="3383280" y="2514600"/>
            <a:ext cx="5303520" cy="617220"/>
          </a:xfrm>
          <a:prstGeom prst="rect">
            <a:avLst/>
          </a:prstGeom>
          <a:noFill/>
          <a:ln/>
        </p:spPr>
        <p:txBody>
          <a:bodyPr wrap="square" lIns="0" tIns="0" rIns="0" bIns="0" rtlCol="0" anchor="ctr"/>
          <a:lstStyle/>
          <a:p>
            <a:pPr indent="0" marL="0">
              <a:buNone/>
            </a:pPr>
            <a:r>
              <a:rPr lang="en-US" sz="1150" dirty="0">
                <a:solidFill>
                  <a:srgbClr val="2B2622"/>
                </a:solidFill>
                <a:latin typeface="Calibri" pitchFamily="34" charset="0"/>
                <a:ea typeface="Calibri" pitchFamily="34" charset="-122"/>
                <a:cs typeface="Calibri" pitchFamily="34" charset="-120"/>
              </a:rPr>
              <a:t>HOW: BIP340 was assigned in January 2020; a soft fork then added taproot and tapscript to the running chain.</a:t>
            </a:r>
            <a:endParaRPr lang="en-US" sz="1150" dirty="0"/>
          </a:p>
        </p:txBody>
      </p:sp>
      <p:sp>
        <p:nvSpPr>
          <p:cNvPr id="14" name="Shape 11"/>
          <p:cNvSpPr/>
          <p:nvPr/>
        </p:nvSpPr>
        <p:spPr>
          <a:xfrm>
            <a:off x="3108960" y="3376422"/>
            <a:ext cx="128016" cy="128016"/>
          </a:xfrm>
          <a:prstGeom prst="diamond">
            <a:avLst/>
          </a:prstGeom>
          <a:solidFill>
            <a:srgbClr val="D97A14"/>
          </a:solidFill>
          <a:ln w="12700">
            <a:solidFill>
              <a:srgbClr val="D97A14"/>
            </a:solidFill>
            <a:prstDash val="solid"/>
          </a:ln>
        </p:spPr>
      </p:sp>
      <p:sp>
        <p:nvSpPr>
          <p:cNvPr id="15" name="Text 12"/>
          <p:cNvSpPr txBox="1"/>
          <p:nvPr/>
        </p:nvSpPr>
        <p:spPr>
          <a:xfrm>
            <a:off x="3383280" y="3131820"/>
            <a:ext cx="5303520" cy="617220"/>
          </a:xfrm>
          <a:prstGeom prst="rect">
            <a:avLst/>
          </a:prstGeom>
          <a:noFill/>
          <a:ln/>
        </p:spPr>
        <p:txBody>
          <a:bodyPr wrap="square" lIns="0" tIns="0" rIns="0" bIns="0" rtlCol="0" anchor="ctr"/>
          <a:lstStyle/>
          <a:p>
            <a:pPr indent="0" marL="0">
              <a:buNone/>
            </a:pPr>
            <a:r>
              <a:rPr lang="en-US" sz="1150" dirty="0">
                <a:solidFill>
                  <a:srgbClr val="2B2622"/>
                </a:solidFill>
                <a:latin typeface="Calibri" pitchFamily="34" charset="0"/>
                <a:ea typeface="Calibri" pitchFamily="34" charset="-122"/>
                <a:cs typeface="Calibri" pitchFamily="34" charset="-120"/>
              </a:rPr>
              <a:t>SO WHAT: A key path spend is one 64-byte signature that looks the same whether one person or a million made it.</a:t>
            </a:r>
            <a:endParaRPr lang="en-US" sz="1150" dirty="0"/>
          </a:p>
        </p:txBody>
      </p:sp>
      <p:sp>
        <p:nvSpPr>
          <p:cNvPr id="16" name="Shape 13"/>
          <p:cNvSpPr/>
          <p:nvPr/>
        </p:nvSpPr>
        <p:spPr>
          <a:xfrm>
            <a:off x="457200" y="4114800"/>
            <a:ext cx="1738092" cy="365760"/>
          </a:xfrm>
          <a:prstGeom prst="roundRect">
            <a:avLst>
              <a:gd name="adj" fmla="val 50000"/>
            </a:avLst>
          </a:prstGeom>
          <a:solidFill>
            <a:srgbClr val="EFE9DC"/>
          </a:solidFill>
          <a:ln w="9525">
            <a:solidFill>
              <a:srgbClr val="DFD6C7"/>
            </a:solidFill>
            <a:prstDash val="solid"/>
          </a:ln>
        </p:spPr>
      </p:sp>
      <p:sp>
        <p:nvSpPr>
          <p:cNvPr id="17" name="Text 14"/>
          <p:cNvSpPr txBox="1"/>
          <p:nvPr/>
        </p:nvSpPr>
        <p:spPr>
          <a:xfrm>
            <a:off x="548640" y="4114800"/>
            <a:ext cx="1591788" cy="365760"/>
          </a:xfrm>
          <a:prstGeom prst="rect">
            <a:avLst/>
          </a:prstGeom>
          <a:noFill/>
          <a:ln/>
        </p:spPr>
        <p:txBody>
          <a:bodyPr wrap="square" lIns="0" tIns="0" rIns="0" bIns="0" rtlCol="0" anchor="ctr"/>
          <a:lstStyle/>
          <a:p>
            <a:pPr indent="0" marL="0">
              <a:buNone/>
            </a:pPr>
            <a:r>
              <a:rPr lang="en-US" sz="750" b="1" dirty="0">
                <a:solidFill>
                  <a:srgbClr val="2F6D62"/>
                </a:solidFill>
                <a:latin typeface="Calibri" pitchFamily="34" charset="0"/>
                <a:ea typeface="Calibri" pitchFamily="34" charset="-122"/>
                <a:cs typeface="Calibri" pitchFamily="34" charset="-120"/>
              </a:rPr>
              <a:t>WHO  </a:t>
            </a:r>
            <a:r>
              <a:rPr lang="en-US" sz="900" dirty="0">
                <a:solidFill>
                  <a:srgbClr val="2B2622"/>
                </a:solidFill>
                <a:latin typeface="Calibri" pitchFamily="34" charset="0"/>
                <a:ea typeface="Calibri" pitchFamily="34" charset="-122"/>
                <a:cs typeface="Calibri" pitchFamily="34" charset="-120"/>
              </a:rPr>
              <a:t>Claus-Peter Schnorr</a:t>
            </a:r>
            <a:endParaRPr lang="en-US" sz="750" dirty="0"/>
          </a:p>
        </p:txBody>
      </p:sp>
      <p:sp>
        <p:nvSpPr>
          <p:cNvPr id="18" name="Shape 15"/>
          <p:cNvSpPr/>
          <p:nvPr/>
        </p:nvSpPr>
        <p:spPr>
          <a:xfrm>
            <a:off x="2305020" y="4114800"/>
            <a:ext cx="1659087" cy="365760"/>
          </a:xfrm>
          <a:prstGeom prst="roundRect">
            <a:avLst>
              <a:gd name="adj" fmla="val 50000"/>
            </a:avLst>
          </a:prstGeom>
          <a:solidFill>
            <a:srgbClr val="EFE9DC"/>
          </a:solidFill>
          <a:ln w="9525">
            <a:solidFill>
              <a:srgbClr val="DFD6C7"/>
            </a:solidFill>
            <a:prstDash val="solid"/>
          </a:ln>
        </p:spPr>
      </p:sp>
      <p:sp>
        <p:nvSpPr>
          <p:cNvPr id="19" name="Text 16"/>
          <p:cNvSpPr txBox="1"/>
          <p:nvPr/>
        </p:nvSpPr>
        <p:spPr>
          <a:xfrm>
            <a:off x="2396460" y="4114800"/>
            <a:ext cx="1512783" cy="365760"/>
          </a:xfrm>
          <a:prstGeom prst="rect">
            <a:avLst/>
          </a:prstGeom>
          <a:noFill/>
          <a:ln/>
        </p:spPr>
        <p:txBody>
          <a:bodyPr wrap="square" lIns="0" tIns="0" rIns="0" bIns="0" rtlCol="0" anchor="ctr"/>
          <a:lstStyle/>
          <a:p>
            <a:pPr indent="0" marL="0">
              <a:buNone/>
            </a:pPr>
            <a:r>
              <a:rPr lang="en-US" sz="750" b="1" dirty="0">
                <a:solidFill>
                  <a:srgbClr val="2F6D62"/>
                </a:solidFill>
                <a:latin typeface="Calibri" pitchFamily="34" charset="0"/>
                <a:ea typeface="Calibri" pitchFamily="34" charset="-122"/>
                <a:cs typeface="Calibri" pitchFamily="34" charset="-120"/>
              </a:rPr>
              <a:t>WHERE  </a:t>
            </a:r>
            <a:r>
              <a:rPr lang="en-US" sz="900" dirty="0">
                <a:solidFill>
                  <a:srgbClr val="2B2622"/>
                </a:solidFill>
                <a:latin typeface="Calibri" pitchFamily="34" charset="0"/>
                <a:ea typeface="Calibri" pitchFamily="34" charset="-122"/>
                <a:cs typeface="Calibri" pitchFamily="34" charset="-120"/>
              </a:rPr>
              <a:t>Block 709,632</a:t>
            </a:r>
            <a:endParaRPr lang="en-US" sz="750" dirty="0"/>
          </a:p>
        </p:txBody>
      </p:sp>
      <p:sp>
        <p:nvSpPr>
          <p:cNvPr id="20" name="Shape 17"/>
          <p:cNvSpPr/>
          <p:nvPr/>
        </p:nvSpPr>
        <p:spPr>
          <a:xfrm>
            <a:off x="4073835" y="4114800"/>
            <a:ext cx="1343071" cy="365760"/>
          </a:xfrm>
          <a:prstGeom prst="roundRect">
            <a:avLst>
              <a:gd name="adj" fmla="val 50000"/>
            </a:avLst>
          </a:prstGeom>
          <a:solidFill>
            <a:srgbClr val="EFE9DC"/>
          </a:solidFill>
          <a:ln w="9525">
            <a:solidFill>
              <a:srgbClr val="DFD6C7"/>
            </a:solidFill>
            <a:prstDash val="solid"/>
          </a:ln>
        </p:spPr>
      </p:sp>
      <p:sp>
        <p:nvSpPr>
          <p:cNvPr id="21" name="Text 18"/>
          <p:cNvSpPr txBox="1"/>
          <p:nvPr/>
        </p:nvSpPr>
        <p:spPr>
          <a:xfrm>
            <a:off x="4165275" y="4114800"/>
            <a:ext cx="1196767" cy="365760"/>
          </a:xfrm>
          <a:prstGeom prst="rect">
            <a:avLst/>
          </a:prstGeom>
          <a:noFill/>
          <a:ln/>
        </p:spPr>
        <p:txBody>
          <a:bodyPr wrap="square" lIns="0" tIns="0" rIns="0" bIns="0" rtlCol="0" anchor="ctr"/>
          <a:lstStyle/>
          <a:p>
            <a:pPr indent="0" marL="0">
              <a:buNone/>
            </a:pPr>
            <a:r>
              <a:rPr lang="en-US" sz="750" b="1" dirty="0">
                <a:solidFill>
                  <a:srgbClr val="2F6D62"/>
                </a:solidFill>
                <a:latin typeface="Calibri" pitchFamily="34" charset="0"/>
                <a:ea typeface="Calibri" pitchFamily="34" charset="-122"/>
                <a:cs typeface="Calibri" pitchFamily="34" charset="-120"/>
              </a:rPr>
              <a:t>WHEN  </a:t>
            </a:r>
            <a:r>
              <a:rPr lang="en-US" sz="900" dirty="0">
                <a:solidFill>
                  <a:srgbClr val="2B2622"/>
                </a:solidFill>
                <a:latin typeface="Calibri" pitchFamily="34" charset="0"/>
                <a:ea typeface="Calibri" pitchFamily="34" charset="-122"/>
                <a:cs typeface="Calibri" pitchFamily="34" charset="-120"/>
              </a:rPr>
              <a:t>2021-11-14</a:t>
            </a:r>
            <a:endParaRPr lang="en-US" sz="750" dirty="0"/>
          </a:p>
        </p:txBody>
      </p:sp>
      <p:sp>
        <p:nvSpPr>
          <p:cNvPr id="22" name="Shape 19"/>
          <p:cNvSpPr/>
          <p:nvPr/>
        </p:nvSpPr>
        <p:spPr>
          <a:xfrm>
            <a:off x="5526634" y="4114800"/>
            <a:ext cx="3160166" cy="365760"/>
          </a:xfrm>
          <a:prstGeom prst="roundRect">
            <a:avLst>
              <a:gd name="adj" fmla="val 50000"/>
            </a:avLst>
          </a:prstGeom>
          <a:solidFill>
            <a:srgbClr val="2F6D62"/>
          </a:solidFill>
          <a:ln w="9525">
            <a:solidFill>
              <a:srgbClr val="2F6D62"/>
            </a:solidFill>
            <a:prstDash val="solid"/>
          </a:ln>
        </p:spPr>
      </p:sp>
      <p:sp>
        <p:nvSpPr>
          <p:cNvPr id="23" name="Text 20"/>
          <p:cNvSpPr txBox="1"/>
          <p:nvPr/>
        </p:nvSpPr>
        <p:spPr>
          <a:xfrm>
            <a:off x="5618074" y="4114800"/>
            <a:ext cx="3013862" cy="365760"/>
          </a:xfrm>
          <a:prstGeom prst="rect">
            <a:avLst/>
          </a:prstGeom>
          <a:noFill/>
          <a:ln/>
        </p:spPr>
        <p:txBody>
          <a:bodyPr wrap="square" lIns="0" tIns="0" rIns="0" bIns="0" rtlCol="0" anchor="ctr"/>
          <a:lstStyle/>
          <a:p>
            <a:pPr indent="0" marL="0">
              <a:buNone/>
            </a:pPr>
            <a:r>
              <a:rPr lang="en-US" sz="750" b="1" dirty="0">
                <a:solidFill>
                  <a:srgbClr val="D7E4E0"/>
                </a:solidFill>
                <a:latin typeface="Calibri" pitchFamily="34" charset="0"/>
                <a:ea typeface="Calibri" pitchFamily="34" charset="-122"/>
                <a:cs typeface="Calibri" pitchFamily="34" charset="-120"/>
              </a:rPr>
              <a:t>READ  </a:t>
            </a:r>
            <a:r>
              <a:rPr lang="en-US" sz="900" u="sng" dirty="0">
                <a:solidFill>
                  <a:srgbClr val="FFFFFF"/>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mempool.space</a:t>
            </a:r>
            <a:endParaRPr lang="en-US" sz="750" dirty="0"/>
          </a:p>
          <a:p>
            <a:pPr indent="0" marL="0">
              <a:buNone/>
            </a:pPr>
            <a:r>
              <a:rPr lang="en-US" sz="700" dirty="0">
                <a:solidFill>
                  <a:srgbClr val="D7E4E0"/>
                </a:solidFill>
                <a:latin typeface="Calibri" pitchFamily="34" charset="0"/>
                <a:ea typeface="Calibri" pitchFamily="34" charset="-122"/>
                <a:cs typeface="Calibri" pitchFamily="34" charset="-120"/>
              </a:rPr>
              <a:t>mempool.space</a:t>
            </a:r>
            <a:endParaRPr lang="en-US" sz="750" dirty="0"/>
          </a:p>
        </p:txBody>
      </p:sp>
      <p:sp>
        <p:nvSpPr>
          <p:cNvPr id="24" name="Text 21"/>
          <p:cNvSpPr txBox="1"/>
          <p:nvPr/>
        </p:nvSpPr>
        <p:spPr>
          <a:xfrm>
            <a:off x="7863840" y="4645152"/>
            <a:ext cx="868680" cy="310896"/>
          </a:xfrm>
          <a:prstGeom prst="rect">
            <a:avLst/>
          </a:prstGeom>
          <a:noFill/>
          <a:ln/>
        </p:spPr>
        <p:txBody>
          <a:bodyPr wrap="square" lIns="0" tIns="0" rIns="0" bIns="0" rtlCol="0" anchor="ctr"/>
          <a:lstStyle/>
          <a:p>
            <a:pPr algn="r" indent="0" marL="0">
              <a:buNone/>
            </a:pPr>
            <a:r>
              <a:rPr lang="en-US" sz="1100" dirty="0">
                <a:solidFill>
                  <a:srgbClr val="6E655C"/>
                </a:solidFill>
                <a:latin typeface="Calibri" pitchFamily="34" charset="0"/>
                <a:ea typeface="Calibri" pitchFamily="34" charset="-122"/>
                <a:cs typeface="Calibri" pitchFamily="34" charset="-120"/>
              </a:rPr>
              <a:t>53 / 61</a:t>
            </a:r>
            <a:endParaRPr lang="en-US" sz="11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AF6EF"/>
        </a:solidFill>
      </p:bgPr>
    </p:bg>
    <p:spTree>
      <p:nvGrpSpPr>
        <p:cNvPr id="1" name=""/>
        <p:cNvGrpSpPr/>
        <p:nvPr/>
      </p:nvGrpSpPr>
      <p:grpSpPr>
        <a:xfrm>
          <a:off x="0" y="0"/>
          <a:ext cx="0" cy="0"/>
          <a:chOff x="0" y="0"/>
          <a:chExt cx="0" cy="0"/>
        </a:xfrm>
      </p:grpSpPr>
      <p:sp>
        <p:nvSpPr>
          <p:cNvPr id="2" name="Shape 0"/>
          <p:cNvSpPr/>
          <p:nvPr/>
        </p:nvSpPr>
        <p:spPr>
          <a:xfrm>
            <a:off x="457200" y="347472"/>
            <a:ext cx="566928" cy="384048"/>
          </a:xfrm>
          <a:prstGeom prst="roundRect">
            <a:avLst>
              <a:gd name="adj" fmla="val 19048"/>
            </a:avLst>
          </a:prstGeom>
          <a:solidFill>
            <a:srgbClr val="D97A14"/>
          </a:solidFill>
          <a:ln w="12700">
            <a:solidFill>
              <a:srgbClr val="D97A14"/>
            </a:solidFill>
            <a:prstDash val="solid"/>
          </a:ln>
        </p:spPr>
      </p:sp>
      <p:sp>
        <p:nvSpPr>
          <p:cNvPr id="3" name="Text 1"/>
          <p:cNvSpPr txBox="1"/>
          <p:nvPr/>
        </p:nvSpPr>
        <p:spPr>
          <a:xfrm>
            <a:off x="457200" y="347472"/>
            <a:ext cx="56692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4" name="Text 2"/>
          <p:cNvSpPr txBox="1"/>
          <p:nvPr/>
        </p:nvSpPr>
        <p:spPr>
          <a:xfrm>
            <a:off x="1143000" y="237744"/>
            <a:ext cx="7543800" cy="566928"/>
          </a:xfrm>
          <a:prstGeom prst="rect">
            <a:avLst/>
          </a:prstGeom>
          <a:noFill/>
          <a:ln/>
        </p:spPr>
        <p:txBody>
          <a:bodyPr wrap="square" lIns="0" tIns="0" rIns="0" bIns="0" rtlCol="0" anchor="ctr"/>
          <a:lstStyle/>
          <a:p>
            <a:pPr indent="0" marL="0">
              <a:buNone/>
            </a:pPr>
            <a:r>
              <a:rPr lang="en-US" sz="2500" b="1" dirty="0">
                <a:solidFill>
                  <a:srgbClr val="2B2622"/>
                </a:solidFill>
                <a:latin typeface="Cambria" pitchFamily="34" charset="0"/>
                <a:ea typeface="Cambria" pitchFamily="34" charset="-122"/>
                <a:cs typeface="Cambria" pitchFamily="34" charset="-120"/>
              </a:rPr>
              <a:t>Taproot and tapscript: concepts (2 of 3)</a:t>
            </a:r>
            <a:endParaRPr lang="en-US" sz="2500" dirty="0"/>
          </a:p>
        </p:txBody>
      </p:sp>
      <p:sp>
        <p:nvSpPr>
          <p:cNvPr id="5" name="Text 3"/>
          <p:cNvSpPr txBox="1"/>
          <p:nvPr/>
        </p:nvSpPr>
        <p:spPr>
          <a:xfrm>
            <a:off x="1143000" y="786384"/>
            <a:ext cx="7543800" cy="310896"/>
          </a:xfrm>
          <a:prstGeom prst="rect">
            <a:avLst/>
          </a:prstGeom>
          <a:noFill/>
          <a:ln/>
        </p:spPr>
        <p:txBody>
          <a:bodyPr wrap="square" lIns="0" tIns="0" rIns="0" bIns="0" rtlCol="0" anchor="ctr"/>
          <a:lstStyle/>
          <a:p>
            <a:pPr indent="0" marL="0">
              <a:buNone/>
            </a:pPr>
            <a:r>
              <a:rPr lang="en-US" sz="1300" i="1" dirty="0">
                <a:solidFill>
                  <a:srgbClr val="6E655C"/>
                </a:solidFill>
                <a:latin typeface="Calibri" pitchFamily="34" charset="0"/>
                <a:ea typeface="Calibri" pitchFamily="34" charset="-122"/>
                <a:cs typeface="Calibri" pitchFamily="34" charset="-120"/>
              </a:rPr>
              <a:t>Each card: the meaning in a few words, then something you already know</a:t>
            </a:r>
            <a:endParaRPr lang="en-US" sz="1300" dirty="0"/>
          </a:p>
        </p:txBody>
      </p:sp>
      <p:sp>
        <p:nvSpPr>
          <p:cNvPr id="6" name="Shape 4"/>
          <p:cNvSpPr/>
          <p:nvPr/>
        </p:nvSpPr>
        <p:spPr>
          <a:xfrm>
            <a:off x="457200" y="1280160"/>
            <a:ext cx="4041648" cy="1161288"/>
          </a:xfrm>
          <a:prstGeom prst="roundRect">
            <a:avLst>
              <a:gd name="adj" fmla="val 6299"/>
            </a:avLst>
          </a:prstGeom>
          <a:solidFill>
            <a:srgbClr val="F2ECE1"/>
          </a:solidFill>
          <a:ln w="12700">
            <a:solidFill>
              <a:srgbClr val="DFD6C7"/>
            </a:solidFill>
            <a:prstDash val="solid"/>
          </a:ln>
        </p:spPr>
      </p:sp>
      <p:sp>
        <p:nvSpPr>
          <p:cNvPr id="7" name="Shape 5"/>
          <p:cNvSpPr/>
          <p:nvPr/>
        </p:nvSpPr>
        <p:spPr>
          <a:xfrm>
            <a:off x="475488" y="1408176"/>
            <a:ext cx="64008" cy="905256"/>
          </a:xfrm>
          <a:prstGeom prst="rect">
            <a:avLst/>
          </a:prstGeom>
          <a:solidFill>
            <a:srgbClr val="D97A14"/>
          </a:solidFill>
          <a:ln w="12700">
            <a:solidFill>
              <a:srgbClr val="D97A14"/>
            </a:solidFill>
            <a:prstDash val="solid"/>
          </a:ln>
        </p:spPr>
      </p:sp>
      <p:sp>
        <p:nvSpPr>
          <p:cNvPr id="8" name="Text 6"/>
          <p:cNvSpPr txBox="1"/>
          <p:nvPr/>
        </p:nvSpPr>
        <p:spPr>
          <a:xfrm>
            <a:off x="640080" y="1344168"/>
            <a:ext cx="3767328" cy="434340"/>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taproot internal key</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The key before the tweak is added.</a:t>
            </a:r>
            <a:endParaRPr lang="en-US" sz="1300" dirty="0"/>
          </a:p>
        </p:txBody>
      </p:sp>
      <p:sp>
        <p:nvSpPr>
          <p:cNvPr id="9" name="Text 7"/>
          <p:cNvSpPr txBox="1"/>
          <p:nvPr/>
        </p:nvSpPr>
        <p:spPr>
          <a:xfrm>
            <a:off x="640080" y="1805940"/>
            <a:ext cx="3767328" cy="393192"/>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the key blank before the locksmith adds a mark.</a:t>
            </a:r>
            <a:endParaRPr lang="en-US" sz="1150" dirty="0"/>
          </a:p>
        </p:txBody>
      </p:sp>
      <p:sp>
        <p:nvSpPr>
          <p:cNvPr id="10" name="Shape 8"/>
          <p:cNvSpPr/>
          <p:nvPr/>
        </p:nvSpPr>
        <p:spPr>
          <a:xfrm>
            <a:off x="4645152" y="1280160"/>
            <a:ext cx="4041648" cy="1161288"/>
          </a:xfrm>
          <a:prstGeom prst="roundRect">
            <a:avLst>
              <a:gd name="adj" fmla="val 6299"/>
            </a:avLst>
          </a:prstGeom>
          <a:solidFill>
            <a:srgbClr val="F2ECE1"/>
          </a:solidFill>
          <a:ln w="12700">
            <a:solidFill>
              <a:srgbClr val="DFD6C7"/>
            </a:solidFill>
            <a:prstDash val="solid"/>
          </a:ln>
        </p:spPr>
      </p:sp>
      <p:sp>
        <p:nvSpPr>
          <p:cNvPr id="11" name="Shape 9"/>
          <p:cNvSpPr/>
          <p:nvPr/>
        </p:nvSpPr>
        <p:spPr>
          <a:xfrm>
            <a:off x="4663440" y="1408176"/>
            <a:ext cx="64008" cy="905256"/>
          </a:xfrm>
          <a:prstGeom prst="rect">
            <a:avLst/>
          </a:prstGeom>
          <a:solidFill>
            <a:srgbClr val="D97A14"/>
          </a:solidFill>
          <a:ln w="12700">
            <a:solidFill>
              <a:srgbClr val="D97A14"/>
            </a:solidFill>
            <a:prstDash val="solid"/>
          </a:ln>
        </p:spPr>
      </p:sp>
      <p:sp>
        <p:nvSpPr>
          <p:cNvPr id="12" name="Text 10"/>
          <p:cNvSpPr txBox="1"/>
          <p:nvPr/>
        </p:nvSpPr>
        <p:spPr>
          <a:xfrm>
            <a:off x="4828032" y="1344168"/>
            <a:ext cx="3767328" cy="434340"/>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taproot output key</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The tweaked key that appears in the output.</a:t>
            </a:r>
            <a:endParaRPr lang="en-US" sz="1300" dirty="0"/>
          </a:p>
        </p:txBody>
      </p:sp>
      <p:sp>
        <p:nvSpPr>
          <p:cNvPr id="13" name="Text 11"/>
          <p:cNvSpPr txBox="1"/>
          <p:nvPr/>
        </p:nvSpPr>
        <p:spPr>
          <a:xfrm>
            <a:off x="4828032" y="1805940"/>
            <a:ext cx="3767328" cy="214884"/>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the finished key as it is cut.</a:t>
            </a:r>
            <a:endParaRPr lang="en-US" sz="1150" dirty="0"/>
          </a:p>
        </p:txBody>
      </p:sp>
      <p:sp>
        <p:nvSpPr>
          <p:cNvPr id="14" name="Shape 12"/>
          <p:cNvSpPr/>
          <p:nvPr/>
        </p:nvSpPr>
        <p:spPr>
          <a:xfrm>
            <a:off x="457200" y="2569464"/>
            <a:ext cx="4041648" cy="1161288"/>
          </a:xfrm>
          <a:prstGeom prst="roundRect">
            <a:avLst>
              <a:gd name="adj" fmla="val 6299"/>
            </a:avLst>
          </a:prstGeom>
          <a:solidFill>
            <a:srgbClr val="F2ECE1"/>
          </a:solidFill>
          <a:ln w="12700">
            <a:solidFill>
              <a:srgbClr val="DFD6C7"/>
            </a:solidFill>
            <a:prstDash val="solid"/>
          </a:ln>
        </p:spPr>
      </p:sp>
      <p:sp>
        <p:nvSpPr>
          <p:cNvPr id="15" name="Shape 13"/>
          <p:cNvSpPr/>
          <p:nvPr/>
        </p:nvSpPr>
        <p:spPr>
          <a:xfrm>
            <a:off x="475488" y="2697480"/>
            <a:ext cx="64008" cy="905256"/>
          </a:xfrm>
          <a:prstGeom prst="rect">
            <a:avLst/>
          </a:prstGeom>
          <a:solidFill>
            <a:srgbClr val="D97A14"/>
          </a:solidFill>
          <a:ln w="12700">
            <a:solidFill>
              <a:srgbClr val="D97A14"/>
            </a:solidFill>
            <a:prstDash val="solid"/>
          </a:ln>
        </p:spPr>
      </p:sp>
      <p:sp>
        <p:nvSpPr>
          <p:cNvPr id="16" name="Text 14"/>
          <p:cNvSpPr txBox="1"/>
          <p:nvPr/>
        </p:nvSpPr>
        <p:spPr>
          <a:xfrm>
            <a:off x="640080" y="2633472"/>
            <a:ext cx="3767328" cy="434340"/>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leaf script</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A script at the end of a branch of the tree.</a:t>
            </a:r>
            <a:endParaRPr lang="en-US" sz="1300" dirty="0"/>
          </a:p>
        </p:txBody>
      </p:sp>
      <p:sp>
        <p:nvSpPr>
          <p:cNvPr id="17" name="Text 15"/>
          <p:cNvSpPr txBox="1"/>
          <p:nvPr/>
        </p:nvSpPr>
        <p:spPr>
          <a:xfrm>
            <a:off x="640080" y="3095244"/>
            <a:ext cx="3767328" cy="214884"/>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a dish at the end of a menu section.</a:t>
            </a:r>
            <a:endParaRPr lang="en-US" sz="1150" dirty="0"/>
          </a:p>
        </p:txBody>
      </p:sp>
      <p:sp>
        <p:nvSpPr>
          <p:cNvPr id="18" name="Shape 16"/>
          <p:cNvSpPr/>
          <p:nvPr/>
        </p:nvSpPr>
        <p:spPr>
          <a:xfrm>
            <a:off x="4645152" y="2569464"/>
            <a:ext cx="4041648" cy="1161288"/>
          </a:xfrm>
          <a:prstGeom prst="roundRect">
            <a:avLst>
              <a:gd name="adj" fmla="val 6299"/>
            </a:avLst>
          </a:prstGeom>
          <a:solidFill>
            <a:srgbClr val="F2ECE1"/>
          </a:solidFill>
          <a:ln w="12700">
            <a:solidFill>
              <a:srgbClr val="DFD6C7"/>
            </a:solidFill>
            <a:prstDash val="solid"/>
          </a:ln>
        </p:spPr>
      </p:sp>
      <p:sp>
        <p:nvSpPr>
          <p:cNvPr id="19" name="Shape 17"/>
          <p:cNvSpPr/>
          <p:nvPr/>
        </p:nvSpPr>
        <p:spPr>
          <a:xfrm>
            <a:off x="4663440" y="2697480"/>
            <a:ext cx="64008" cy="905256"/>
          </a:xfrm>
          <a:prstGeom prst="rect">
            <a:avLst/>
          </a:prstGeom>
          <a:solidFill>
            <a:srgbClr val="D97A14"/>
          </a:solidFill>
          <a:ln w="12700">
            <a:solidFill>
              <a:srgbClr val="D97A14"/>
            </a:solidFill>
            <a:prstDash val="solid"/>
          </a:ln>
        </p:spPr>
      </p:sp>
      <p:sp>
        <p:nvSpPr>
          <p:cNvPr id="20" name="Text 18"/>
          <p:cNvSpPr txBox="1"/>
          <p:nvPr/>
        </p:nvSpPr>
        <p:spPr>
          <a:xfrm>
            <a:off x="4828032" y="2633472"/>
            <a:ext cx="3767328" cy="612648"/>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OP_CHECKSIGADD</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Adds one to a counter for each valid signature.</a:t>
            </a:r>
            <a:endParaRPr lang="en-US" sz="1300" dirty="0"/>
          </a:p>
        </p:txBody>
      </p:sp>
      <p:sp>
        <p:nvSpPr>
          <p:cNvPr id="21" name="Text 19"/>
          <p:cNvSpPr txBox="1"/>
          <p:nvPr/>
        </p:nvSpPr>
        <p:spPr>
          <a:xfrm>
            <a:off x="4828032" y="3273552"/>
            <a:ext cx="3767328" cy="393192"/>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a tally mark added for every valid signature.</a:t>
            </a:r>
            <a:endParaRPr lang="en-US" sz="1150" dirty="0"/>
          </a:p>
        </p:txBody>
      </p:sp>
      <p:sp>
        <p:nvSpPr>
          <p:cNvPr id="22" name="Shape 20"/>
          <p:cNvSpPr/>
          <p:nvPr/>
        </p:nvSpPr>
        <p:spPr>
          <a:xfrm>
            <a:off x="457200" y="4636008"/>
            <a:ext cx="91440" cy="310896"/>
          </a:xfrm>
          <a:prstGeom prst="rect">
            <a:avLst/>
          </a:prstGeom>
          <a:solidFill>
            <a:srgbClr val="D97A14"/>
          </a:solidFill>
          <a:ln w="12700">
            <a:solidFill>
              <a:srgbClr val="D97A14"/>
            </a:solidFill>
            <a:prstDash val="solid"/>
          </a:ln>
        </p:spPr>
      </p:sp>
      <p:sp>
        <p:nvSpPr>
          <p:cNvPr id="23" name="Text 21"/>
          <p:cNvSpPr txBox="1"/>
          <p:nvPr/>
        </p:nvSpPr>
        <p:spPr>
          <a:xfrm>
            <a:off x="658368" y="4599432"/>
            <a:ext cx="6949440" cy="384048"/>
          </a:xfrm>
          <a:prstGeom prst="rect">
            <a:avLst/>
          </a:prstGeom>
          <a:noFill/>
          <a:ln/>
        </p:spPr>
        <p:txBody>
          <a:bodyPr wrap="square" lIns="0" tIns="0" rIns="0" bIns="0" rtlCol="0" anchor="ctr"/>
          <a:lstStyle/>
          <a:p>
            <a:pPr indent="0" marL="0">
              <a:buNone/>
            </a:pPr>
            <a:r>
              <a:rPr lang="en-US" sz="1350" b="1" i="1" dirty="0">
                <a:solidFill>
                  <a:srgbClr val="2B2622"/>
                </a:solidFill>
                <a:latin typeface="Cambria" pitchFamily="34" charset="0"/>
                <a:ea typeface="Cambria" pitchFamily="34" charset="-122"/>
                <a:cs typeface="Cambria" pitchFamily="34" charset="-120"/>
              </a:rPr>
              <a:t>Say each idea twice: once as the meaning, once as the everyday comparison</a:t>
            </a:r>
            <a:endParaRPr lang="en-US" sz="1350" dirty="0"/>
          </a:p>
        </p:txBody>
      </p:sp>
      <p:sp>
        <p:nvSpPr>
          <p:cNvPr id="24" name="Text 22"/>
          <p:cNvSpPr txBox="1"/>
          <p:nvPr/>
        </p:nvSpPr>
        <p:spPr>
          <a:xfrm>
            <a:off x="7863840" y="4645152"/>
            <a:ext cx="868680" cy="310896"/>
          </a:xfrm>
          <a:prstGeom prst="rect">
            <a:avLst/>
          </a:prstGeom>
          <a:noFill/>
          <a:ln/>
        </p:spPr>
        <p:txBody>
          <a:bodyPr wrap="square" lIns="0" tIns="0" rIns="0" bIns="0" rtlCol="0" anchor="ctr"/>
          <a:lstStyle/>
          <a:p>
            <a:pPr algn="r" indent="0" marL="0">
              <a:buNone/>
            </a:pPr>
            <a:r>
              <a:rPr lang="en-US" sz="1100" dirty="0">
                <a:solidFill>
                  <a:srgbClr val="6E655C"/>
                </a:solidFill>
                <a:latin typeface="Calibri" pitchFamily="34" charset="0"/>
                <a:ea typeface="Calibri" pitchFamily="34" charset="-122"/>
                <a:cs typeface="Calibri" pitchFamily="34" charset="-120"/>
              </a:rPr>
              <a:t>54 / 61</a:t>
            </a:r>
            <a:endParaRPr lang="en-US" sz="11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AF6EF"/>
        </a:solidFill>
      </p:bgPr>
    </p:bg>
    <p:spTree>
      <p:nvGrpSpPr>
        <p:cNvPr id="1" name=""/>
        <p:cNvGrpSpPr/>
        <p:nvPr/>
      </p:nvGrpSpPr>
      <p:grpSpPr>
        <a:xfrm>
          <a:off x="0" y="0"/>
          <a:ext cx="0" cy="0"/>
          <a:chOff x="0" y="0"/>
          <a:chExt cx="0" cy="0"/>
        </a:xfrm>
      </p:grpSpPr>
      <p:sp>
        <p:nvSpPr>
          <p:cNvPr id="2" name="Shape 0"/>
          <p:cNvSpPr/>
          <p:nvPr/>
        </p:nvSpPr>
        <p:spPr>
          <a:xfrm>
            <a:off x="457200" y="347472"/>
            <a:ext cx="566928" cy="384048"/>
          </a:xfrm>
          <a:prstGeom prst="roundRect">
            <a:avLst>
              <a:gd name="adj" fmla="val 19048"/>
            </a:avLst>
          </a:prstGeom>
          <a:solidFill>
            <a:srgbClr val="D97A14"/>
          </a:solidFill>
          <a:ln w="12700">
            <a:solidFill>
              <a:srgbClr val="D97A14"/>
            </a:solidFill>
            <a:prstDash val="solid"/>
          </a:ln>
        </p:spPr>
      </p:sp>
      <p:sp>
        <p:nvSpPr>
          <p:cNvPr id="3" name="Text 1"/>
          <p:cNvSpPr txBox="1"/>
          <p:nvPr/>
        </p:nvSpPr>
        <p:spPr>
          <a:xfrm>
            <a:off x="457200" y="347472"/>
            <a:ext cx="56692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4" name="Text 2"/>
          <p:cNvSpPr txBox="1"/>
          <p:nvPr/>
        </p:nvSpPr>
        <p:spPr>
          <a:xfrm>
            <a:off x="1143000" y="237744"/>
            <a:ext cx="7543800" cy="566928"/>
          </a:xfrm>
          <a:prstGeom prst="rect">
            <a:avLst/>
          </a:prstGeom>
          <a:noFill/>
          <a:ln/>
        </p:spPr>
        <p:txBody>
          <a:bodyPr wrap="square" lIns="0" tIns="0" rIns="0" bIns="0" rtlCol="0" anchor="ctr"/>
          <a:lstStyle/>
          <a:p>
            <a:pPr indent="0" marL="0">
              <a:buNone/>
            </a:pPr>
            <a:r>
              <a:rPr lang="en-US" sz="2800" b="1" dirty="0">
                <a:solidFill>
                  <a:srgbClr val="2B2622"/>
                </a:solidFill>
                <a:latin typeface="Cambria" pitchFamily="34" charset="0"/>
                <a:ea typeface="Cambria" pitchFamily="34" charset="-122"/>
                <a:cs typeface="Cambria" pitchFamily="34" charset="-120"/>
              </a:rPr>
              <a:t>Taproot: the script path</a:t>
            </a:r>
            <a:endParaRPr lang="en-US" sz="2800" dirty="0"/>
          </a:p>
        </p:txBody>
      </p:sp>
      <p:sp>
        <p:nvSpPr>
          <p:cNvPr id="5" name="Text 3"/>
          <p:cNvSpPr txBox="1"/>
          <p:nvPr/>
        </p:nvSpPr>
        <p:spPr>
          <a:xfrm>
            <a:off x="1143000" y="786384"/>
            <a:ext cx="7543800" cy="310896"/>
          </a:xfrm>
          <a:prstGeom prst="rect">
            <a:avLst/>
          </a:prstGeom>
          <a:noFill/>
          <a:ln/>
        </p:spPr>
        <p:txBody>
          <a:bodyPr wrap="square" lIns="0" tIns="0" rIns="0" bIns="0" rtlCol="0" anchor="ctr"/>
          <a:lstStyle/>
          <a:p>
            <a:pPr indent="0" marL="0">
              <a:buNone/>
            </a:pPr>
            <a:r>
              <a:rPr lang="en-US" sz="1300" i="1" dirty="0">
                <a:solidFill>
                  <a:srgbClr val="6E655C"/>
                </a:solidFill>
                <a:latin typeface="Calibri" pitchFamily="34" charset="0"/>
                <a:ea typeface="Calibri" pitchFamily="34" charset="-122"/>
                <a:cs typeface="Calibri" pitchFamily="34" charset="-120"/>
              </a:rPr>
              <a:t>Reveal one script of the tree and its proof</a:t>
            </a:r>
            <a:endParaRPr lang="en-US" sz="1300" dirty="0"/>
          </a:p>
        </p:txBody>
      </p:sp>
      <p:sp>
        <p:nvSpPr>
          <p:cNvPr id="6" name="Shape 4"/>
          <p:cNvSpPr/>
          <p:nvPr/>
        </p:nvSpPr>
        <p:spPr>
          <a:xfrm>
            <a:off x="457200" y="1325880"/>
            <a:ext cx="5074920" cy="311810"/>
          </a:xfrm>
          <a:prstGeom prst="roundRect">
            <a:avLst>
              <a:gd name="adj" fmla="val 23460"/>
            </a:avLst>
          </a:prstGeom>
          <a:solidFill>
            <a:srgbClr val="23272E"/>
          </a:solidFill>
          <a:ln w="12700">
            <a:solidFill>
              <a:srgbClr val="23272E"/>
            </a:solidFill>
            <a:prstDash val="solid"/>
          </a:ln>
        </p:spPr>
      </p:sp>
      <p:sp>
        <p:nvSpPr>
          <p:cNvPr id="7" name="Text 5"/>
          <p:cNvSpPr txBox="1"/>
          <p:nvPr/>
        </p:nvSpPr>
        <p:spPr>
          <a:xfrm>
            <a:off x="603504" y="1399032"/>
            <a:ext cx="4800600" cy="183794"/>
          </a:xfrm>
          <a:prstGeom prst="rect">
            <a:avLst/>
          </a:prstGeom>
          <a:noFill/>
          <a:ln/>
        </p:spPr>
        <p:txBody>
          <a:bodyPr wrap="square" lIns="0" tIns="0" rIns="0" bIns="0" rtlCol="0" anchor="t"/>
          <a:lstStyle/>
          <a:p>
            <a:pPr indent="0" marL="0">
              <a:buNone/>
            </a:pPr>
            <a:r>
              <a:rPr lang="en-US" sz="1000" b="1" dirty="0">
                <a:solidFill>
                  <a:srgbClr val="D97A14"/>
                </a:solidFill>
                <a:latin typeface="Courier New" pitchFamily="34" charset="0"/>
                <a:ea typeface="Courier New" pitchFamily="34" charset="-122"/>
                <a:cs typeface="Courier New" pitchFamily="34" charset="-120"/>
              </a:rPr>
              <a:t>&gt;&gt;&gt; </a:t>
            </a:r>
            <a:r>
              <a:rPr lang="en-US" sz="1000" dirty="0">
                <a:solidFill>
                  <a:srgbClr val="E6EDF3"/>
                </a:solidFill>
                <a:latin typeface="Courier New" pitchFamily="34" charset="0"/>
                <a:ea typeface="Courier New" pitchFamily="34" charset="-122"/>
                <a:cs typeface="Courier New" pitchFamily="34" charset="-120"/>
              </a:rPr>
              <a:t>res = [moh_tap(i)[</a:t>
            </a:r>
            <a:r>
              <a:rPr lang="en-US" sz="1000" dirty="0">
                <a:solidFill>
                  <a:srgbClr val="FFD28A"/>
                </a:solidFill>
                <a:latin typeface="Courier New" pitchFamily="34" charset="0"/>
                <a:ea typeface="Courier New" pitchFamily="34" charset="-122"/>
                <a:cs typeface="Courier New" pitchFamily="34" charset="-120"/>
              </a:rPr>
              <a:t>0</a:t>
            </a:r>
            <a:r>
              <a:rPr lang="en-US" sz="1000" dirty="0">
                <a:solidFill>
                  <a:srgbClr val="E6EDF3"/>
                </a:solidFill>
                <a:latin typeface="Courier New" pitchFamily="34" charset="0"/>
                <a:ea typeface="Courier New" pitchFamily="34" charset="-122"/>
                <a:cs typeface="Courier New" pitchFamily="34" charset="-120"/>
              </a:rPr>
              <a:t>] </a:t>
            </a:r>
            <a:r>
              <a:rPr lang="en-US" sz="1000" b="1" dirty="0">
                <a:solidFill>
                  <a:srgbClr val="F2A860"/>
                </a:solidFill>
                <a:latin typeface="Courier New" pitchFamily="34" charset="0"/>
                <a:ea typeface="Courier New" pitchFamily="34" charset="-122"/>
                <a:cs typeface="Courier New" pitchFamily="34" charset="-120"/>
              </a:rPr>
              <a:t>for</a:t>
            </a:r>
            <a:r>
              <a:rPr lang="en-US" sz="1000" dirty="0">
                <a:solidFill>
                  <a:srgbClr val="E6EDF3"/>
                </a:solidFill>
                <a:latin typeface="Courier New" pitchFamily="34" charset="0"/>
                <a:ea typeface="Courier New" pitchFamily="34" charset="-122"/>
                <a:cs typeface="Courier New" pitchFamily="34" charset="-120"/>
              </a:rPr>
              <a:t> i </a:t>
            </a:r>
            <a:r>
              <a:rPr lang="en-US" sz="1000" b="1" dirty="0">
                <a:solidFill>
                  <a:srgbClr val="F2A860"/>
                </a:solidFill>
                <a:latin typeface="Courier New" pitchFamily="34" charset="0"/>
                <a:ea typeface="Courier New" pitchFamily="34" charset="-122"/>
                <a:cs typeface="Courier New" pitchFamily="34" charset="-120"/>
              </a:rPr>
              <a:t>in</a:t>
            </a:r>
            <a:r>
              <a:rPr lang="en-US" sz="1000" dirty="0">
                <a:solidFill>
                  <a:srgbClr val="E6EDF3"/>
                </a:solidFill>
                <a:latin typeface="Courier New" pitchFamily="34" charset="0"/>
                <a:ea typeface="Courier New" pitchFamily="34" charset="-122"/>
                <a:cs typeface="Courier New" pitchFamily="34" charset="-120"/>
              </a:rPr>
              <a:t> range(</a:t>
            </a:r>
            <a:r>
              <a:rPr lang="en-US" sz="1000" dirty="0">
                <a:solidFill>
                  <a:srgbClr val="FFD28A"/>
                </a:solidFill>
                <a:latin typeface="Courier New" pitchFamily="34" charset="0"/>
                <a:ea typeface="Courier New" pitchFamily="34" charset="-122"/>
                <a:cs typeface="Courier New" pitchFamily="34" charset="-120"/>
              </a:rPr>
              <a:t>3</a:t>
            </a:r>
            <a:r>
              <a:rPr lang="en-US" sz="1000" dirty="0">
                <a:solidFill>
                  <a:srgbClr val="E6EDF3"/>
                </a:solidFill>
                <a:latin typeface="Courier New" pitchFamily="34" charset="0"/>
                <a:ea typeface="Courier New" pitchFamily="34" charset="-122"/>
                <a:cs typeface="Courier New" pitchFamily="34" charset="-120"/>
              </a:rPr>
              <a:t>)]</a:t>
            </a:r>
            <a:endParaRPr lang="en-US" sz="1000" dirty="0"/>
          </a:p>
        </p:txBody>
      </p:sp>
      <p:sp>
        <p:nvSpPr>
          <p:cNvPr id="8" name="Shape 6"/>
          <p:cNvSpPr/>
          <p:nvPr/>
        </p:nvSpPr>
        <p:spPr>
          <a:xfrm>
            <a:off x="457200" y="1957730"/>
            <a:ext cx="5074920" cy="311810"/>
          </a:xfrm>
          <a:prstGeom prst="roundRect">
            <a:avLst>
              <a:gd name="adj" fmla="val 23460"/>
            </a:avLst>
          </a:prstGeom>
          <a:solidFill>
            <a:srgbClr val="23272E"/>
          </a:solidFill>
          <a:ln w="12700">
            <a:solidFill>
              <a:srgbClr val="23272E"/>
            </a:solidFill>
            <a:prstDash val="solid"/>
          </a:ln>
        </p:spPr>
      </p:sp>
      <p:sp>
        <p:nvSpPr>
          <p:cNvPr id="9" name="Text 7"/>
          <p:cNvSpPr txBox="1"/>
          <p:nvPr/>
        </p:nvSpPr>
        <p:spPr>
          <a:xfrm>
            <a:off x="603504" y="2030882"/>
            <a:ext cx="4800600" cy="183794"/>
          </a:xfrm>
          <a:prstGeom prst="rect">
            <a:avLst/>
          </a:prstGeom>
          <a:noFill/>
          <a:ln/>
        </p:spPr>
        <p:txBody>
          <a:bodyPr wrap="square" lIns="0" tIns="0" rIns="0" bIns="0" rtlCol="0" anchor="t"/>
          <a:lstStyle/>
          <a:p>
            <a:pPr indent="0" marL="0">
              <a:buNone/>
            </a:pPr>
            <a:r>
              <a:rPr lang="en-US" sz="1000" b="1" dirty="0">
                <a:solidFill>
                  <a:srgbClr val="D97A14"/>
                </a:solidFill>
                <a:latin typeface="Courier New" pitchFamily="34" charset="0"/>
                <a:ea typeface="Courier New" pitchFamily="34" charset="-122"/>
                <a:cs typeface="Courier New" pitchFamily="34" charset="-120"/>
              </a:rPr>
              <a:t>&gt;&gt;&gt; </a:t>
            </a:r>
            <a:r>
              <a:rPr lang="en-US" sz="1000" dirty="0">
                <a:solidFill>
                  <a:srgbClr val="E6EDF3"/>
                </a:solidFill>
                <a:latin typeface="Courier New" pitchFamily="34" charset="0"/>
                <a:ea typeface="Courier New" pitchFamily="34" charset="-122"/>
                <a:cs typeface="Courier New" pitchFamily="34" charset="-120"/>
              </a:rPr>
              <a:t>tap = [moh_tap(i)[</a:t>
            </a:r>
            <a:r>
              <a:rPr lang="en-US" sz="1000" dirty="0">
                <a:solidFill>
                  <a:srgbClr val="FFD28A"/>
                </a:solidFill>
                <a:latin typeface="Courier New" pitchFamily="34" charset="0"/>
                <a:ea typeface="Courier New" pitchFamily="34" charset="-122"/>
                <a:cs typeface="Courier New" pitchFamily="34" charset="-120"/>
              </a:rPr>
              <a:t>2</a:t>
            </a:r>
            <a:r>
              <a:rPr lang="en-US" sz="1000" dirty="0">
                <a:solidFill>
                  <a:srgbClr val="E6EDF3"/>
                </a:solidFill>
                <a:latin typeface="Courier New" pitchFamily="34" charset="0"/>
                <a:ea typeface="Courier New" pitchFamily="34" charset="-122"/>
                <a:cs typeface="Courier New" pitchFamily="34" charset="-120"/>
              </a:rPr>
              <a:t>] </a:t>
            </a:r>
            <a:r>
              <a:rPr lang="en-US" sz="1000" b="1" dirty="0">
                <a:solidFill>
                  <a:srgbClr val="F2A860"/>
                </a:solidFill>
                <a:latin typeface="Courier New" pitchFamily="34" charset="0"/>
                <a:ea typeface="Courier New" pitchFamily="34" charset="-122"/>
                <a:cs typeface="Courier New" pitchFamily="34" charset="-120"/>
              </a:rPr>
              <a:t>for</a:t>
            </a:r>
            <a:r>
              <a:rPr lang="en-US" sz="1000" dirty="0">
                <a:solidFill>
                  <a:srgbClr val="E6EDF3"/>
                </a:solidFill>
                <a:latin typeface="Courier New" pitchFamily="34" charset="0"/>
                <a:ea typeface="Courier New" pitchFamily="34" charset="-122"/>
                <a:cs typeface="Courier New" pitchFamily="34" charset="-120"/>
              </a:rPr>
              <a:t> i </a:t>
            </a:r>
            <a:r>
              <a:rPr lang="en-US" sz="1000" b="1" dirty="0">
                <a:solidFill>
                  <a:srgbClr val="F2A860"/>
                </a:solidFill>
                <a:latin typeface="Courier New" pitchFamily="34" charset="0"/>
                <a:ea typeface="Courier New" pitchFamily="34" charset="-122"/>
                <a:cs typeface="Courier New" pitchFamily="34" charset="-120"/>
              </a:rPr>
              <a:t>in</a:t>
            </a:r>
            <a:r>
              <a:rPr lang="en-US" sz="1000" dirty="0">
                <a:solidFill>
                  <a:srgbClr val="E6EDF3"/>
                </a:solidFill>
                <a:latin typeface="Courier New" pitchFamily="34" charset="0"/>
                <a:ea typeface="Courier New" pitchFamily="34" charset="-122"/>
                <a:cs typeface="Courier New" pitchFamily="34" charset="-120"/>
              </a:rPr>
              <a:t> range(</a:t>
            </a:r>
            <a:r>
              <a:rPr lang="en-US" sz="1000" dirty="0">
                <a:solidFill>
                  <a:srgbClr val="FFD28A"/>
                </a:solidFill>
                <a:latin typeface="Courier New" pitchFamily="34" charset="0"/>
                <a:ea typeface="Courier New" pitchFamily="34" charset="-122"/>
                <a:cs typeface="Courier New" pitchFamily="34" charset="-120"/>
              </a:rPr>
              <a:t>3</a:t>
            </a:r>
            <a:r>
              <a:rPr lang="en-US" sz="1000" dirty="0">
                <a:solidFill>
                  <a:srgbClr val="E6EDF3"/>
                </a:solidFill>
                <a:latin typeface="Courier New" pitchFamily="34" charset="0"/>
                <a:ea typeface="Courier New" pitchFamily="34" charset="-122"/>
                <a:cs typeface="Courier New" pitchFamily="34" charset="-120"/>
              </a:rPr>
              <a:t>)]</a:t>
            </a:r>
            <a:endParaRPr lang="en-US" sz="1000" dirty="0"/>
          </a:p>
        </p:txBody>
      </p:sp>
      <p:sp>
        <p:nvSpPr>
          <p:cNvPr id="10" name="Shape 8"/>
          <p:cNvSpPr/>
          <p:nvPr/>
        </p:nvSpPr>
        <p:spPr>
          <a:xfrm>
            <a:off x="457200" y="2589581"/>
            <a:ext cx="5074920" cy="641909"/>
          </a:xfrm>
          <a:prstGeom prst="roundRect">
            <a:avLst>
              <a:gd name="adj" fmla="val 11396"/>
            </a:avLst>
          </a:prstGeom>
          <a:solidFill>
            <a:srgbClr val="23272E"/>
          </a:solidFill>
          <a:ln w="12700">
            <a:solidFill>
              <a:srgbClr val="23272E"/>
            </a:solidFill>
            <a:prstDash val="solid"/>
          </a:ln>
        </p:spPr>
      </p:sp>
      <p:sp>
        <p:nvSpPr>
          <p:cNvPr id="11" name="Text 9"/>
          <p:cNvSpPr txBox="1"/>
          <p:nvPr/>
        </p:nvSpPr>
        <p:spPr>
          <a:xfrm>
            <a:off x="603504" y="2662733"/>
            <a:ext cx="4800600" cy="513893"/>
          </a:xfrm>
          <a:prstGeom prst="rect">
            <a:avLst/>
          </a:prstGeom>
          <a:noFill/>
          <a:ln/>
        </p:spPr>
        <p:txBody>
          <a:bodyPr wrap="square" lIns="0" tIns="0" rIns="0" bIns="0" rtlCol="0" anchor="t"/>
          <a:lstStyle/>
          <a:p>
            <a:pPr indent="0" marL="0">
              <a:buNone/>
            </a:pPr>
            <a:r>
              <a:rPr lang="en-US" sz="1000" b="1" dirty="0">
                <a:solidFill>
                  <a:srgbClr val="D97A14"/>
                </a:solidFill>
                <a:latin typeface="Courier New" pitchFamily="34" charset="0"/>
                <a:ea typeface="Courier New" pitchFamily="34" charset="-122"/>
                <a:cs typeface="Courier New" pitchFamily="34" charset="-120"/>
              </a:rPr>
              <a:t>&gt;&gt;&gt; </a:t>
            </a:r>
            <a:r>
              <a:rPr lang="en-US" sz="1000" dirty="0">
                <a:solidFill>
                  <a:srgbClr val="E6EDF3"/>
                </a:solidFill>
                <a:latin typeface="Courier New" pitchFamily="34" charset="0"/>
                <a:ea typeface="Courier New" pitchFamily="34" charset="-122"/>
                <a:cs typeface="Courier New" pitchFamily="34" charset="-120"/>
              </a:rPr>
              <a:t>wsh = [moh_wsh(p) </a:t>
            </a:r>
            <a:r>
              <a:rPr lang="en-US" sz="1000" b="1" dirty="0">
                <a:solidFill>
                  <a:srgbClr val="F2A860"/>
                </a:solidFill>
                <a:latin typeface="Courier New" pitchFamily="34" charset="0"/>
                <a:ea typeface="Courier New" pitchFamily="34" charset="-122"/>
                <a:cs typeface="Courier New" pitchFamily="34" charset="-120"/>
              </a:rPr>
              <a:t>for</a:t>
            </a:r>
            <a:r>
              <a:rPr lang="en-US" sz="1000" dirty="0">
                <a:solidFill>
                  <a:srgbClr val="E6EDF3"/>
                </a:solidFill>
                <a:latin typeface="Courier New" pitchFamily="34" charset="0"/>
                <a:ea typeface="Courier New" pitchFamily="34" charset="-122"/>
                <a:cs typeface="Courier New" pitchFamily="34" charset="-120"/>
              </a:rPr>
              <a:t> p </a:t>
            </a:r>
            <a:r>
              <a:rPr lang="en-US" sz="1000" b="1" dirty="0">
                <a:solidFill>
                  <a:srgbClr val="F2A860"/>
                </a:solidFill>
                <a:latin typeface="Courier New" pitchFamily="34" charset="0"/>
                <a:ea typeface="Courier New" pitchFamily="34" charset="-122"/>
                <a:cs typeface="Courier New" pitchFamily="34" charset="-120"/>
              </a:rPr>
              <a:t>in</a:t>
            </a:r>
            <a:r>
              <a:rPr lang="en-US" sz="1000" dirty="0">
                <a:solidFill>
                  <a:srgbClr val="E6EDF3"/>
                </a:solidFill>
                <a:latin typeface="Courier New" pitchFamily="34" charset="0"/>
                <a:ea typeface="Courier New" pitchFamily="34" charset="-122"/>
                <a:cs typeface="Courier New" pitchFamily="34" charset="-120"/>
              </a:rPr>
              <a:t> (</a:t>
            </a:r>
            <a:r>
              <a:rPr lang="en-US" sz="1000" dirty="0">
                <a:solidFill>
                  <a:srgbClr val="FFD28A"/>
                </a:solidFill>
                <a:latin typeface="Courier New" pitchFamily="34" charset="0"/>
                <a:ea typeface="Courier New" pitchFamily="34" charset="-122"/>
                <a:cs typeface="Courier New" pitchFamily="34" charset="-120"/>
              </a:rPr>
              <a:t>1</a:t>
            </a:r>
            <a:r>
              <a:rPr lang="en-US" sz="1000" dirty="0">
                <a:solidFill>
                  <a:srgbClr val="E6EDF3"/>
                </a:solidFill>
                <a:latin typeface="Courier New" pitchFamily="34" charset="0"/>
                <a:ea typeface="Courier New" pitchFamily="34" charset="-122"/>
                <a:cs typeface="Courier New" pitchFamily="34" charset="-120"/>
              </a:rPr>
              <a:t>, </a:t>
            </a:r>
            <a:r>
              <a:rPr lang="en-US" sz="1000" dirty="0">
                <a:solidFill>
                  <a:srgbClr val="FFD28A"/>
                </a:solidFill>
                <a:latin typeface="Courier New" pitchFamily="34" charset="0"/>
                <a:ea typeface="Courier New" pitchFamily="34" charset="-122"/>
                <a:cs typeface="Courier New" pitchFamily="34" charset="-120"/>
              </a:rPr>
              <a:t>2</a:t>
            </a:r>
            <a:r>
              <a:rPr lang="en-US" sz="1000" dirty="0">
                <a:solidFill>
                  <a:srgbClr val="E6EDF3"/>
                </a:solidFill>
                <a:latin typeface="Courier New" pitchFamily="34" charset="0"/>
                <a:ea typeface="Courier New" pitchFamily="34" charset="-122"/>
                <a:cs typeface="Courier New" pitchFamily="34" charset="-120"/>
              </a:rPr>
              <a:t>, </a:t>
            </a:r>
            <a:r>
              <a:rPr lang="en-US" sz="1000" dirty="0">
                <a:solidFill>
                  <a:srgbClr val="FFD28A"/>
                </a:solidFill>
                <a:latin typeface="Courier New" pitchFamily="34" charset="0"/>
                <a:ea typeface="Courier New" pitchFamily="34" charset="-122"/>
                <a:cs typeface="Courier New" pitchFamily="34" charset="-120"/>
              </a:rPr>
              <a:t>3</a:t>
            </a:r>
            <a:r>
              <a:rPr lang="en-US" sz="1000" dirty="0">
                <a:solidFill>
                  <a:srgbClr val="E6EDF3"/>
                </a:solidFill>
                <a:latin typeface="Courier New" pitchFamily="34" charset="0"/>
                <a:ea typeface="Courier New" pitchFamily="34" charset="-122"/>
                <a:cs typeface="Courier New" pitchFamily="34" charset="-120"/>
              </a:rPr>
              <a:t>)]</a:t>
            </a:r>
            <a:endParaRPr lang="en-US" sz="1000" dirty="0"/>
          </a:p>
          <a:p>
            <a:pPr indent="0" marL="0">
              <a:buNone/>
            </a:pPr>
            <a:r>
              <a:rPr lang="en-US" sz="1000" b="1" dirty="0">
                <a:solidFill>
                  <a:srgbClr val="D97A14"/>
                </a:solidFill>
                <a:latin typeface="Courier New" pitchFamily="34" charset="0"/>
                <a:ea typeface="Courier New" pitchFamily="34" charset="-122"/>
                <a:cs typeface="Courier New" pitchFamily="34" charset="-120"/>
              </a:rPr>
              <a:t>&gt;&gt;&gt; </a:t>
            </a:r>
            <a:r>
              <a:rPr lang="en-US" sz="1000" dirty="0">
                <a:solidFill>
                  <a:srgbClr val="E6EDF3"/>
                </a:solidFill>
                <a:latin typeface="Courier New" pitchFamily="34" charset="0"/>
                <a:ea typeface="Courier New" pitchFamily="34" charset="-122"/>
                <a:cs typeface="Courier New" pitchFamily="34" charset="-120"/>
              </a:rPr>
              <a:t>res</a:t>
            </a:r>
            <a:endParaRPr lang="en-US" sz="1000" dirty="0"/>
          </a:p>
          <a:p>
            <a:pPr indent="0" marL="0">
              <a:buNone/>
            </a:pPr>
            <a:r>
              <a:rPr lang="en-US" sz="1000" dirty="0">
                <a:solidFill>
                  <a:srgbClr val="7EE787"/>
                </a:solidFill>
                <a:latin typeface="Courier New" pitchFamily="34" charset="0"/>
                <a:ea typeface="Courier New" pitchFamily="34" charset="-122"/>
                <a:cs typeface="Courier New" pitchFamily="34" charset="-120"/>
              </a:rPr>
              <a:t>['OK', 'OK', 'OK']</a:t>
            </a:r>
            <a:endParaRPr lang="en-US" sz="1000" dirty="0"/>
          </a:p>
        </p:txBody>
      </p:sp>
      <p:sp>
        <p:nvSpPr>
          <p:cNvPr id="12" name="Shape 10"/>
          <p:cNvSpPr/>
          <p:nvPr/>
        </p:nvSpPr>
        <p:spPr>
          <a:xfrm>
            <a:off x="365760" y="1252728"/>
            <a:ext cx="237744" cy="237744"/>
          </a:xfrm>
          <a:prstGeom prst="ellipse">
            <a:avLst/>
          </a:prstGeom>
          <a:solidFill>
            <a:srgbClr val="D97A14"/>
          </a:solidFill>
          <a:ln w="12700">
            <a:solidFill>
              <a:srgbClr val="D97A14"/>
            </a:solidFill>
            <a:prstDash val="solid"/>
          </a:ln>
        </p:spPr>
      </p:sp>
      <p:sp>
        <p:nvSpPr>
          <p:cNvPr id="13" name="Text 11"/>
          <p:cNvSpPr txBox="1"/>
          <p:nvPr/>
        </p:nvSpPr>
        <p:spPr>
          <a:xfrm>
            <a:off x="365760" y="1252728"/>
            <a:ext cx="237744" cy="237744"/>
          </a:xfrm>
          <a:prstGeom prst="rect">
            <a:avLst/>
          </a:prstGeom>
          <a:noFill/>
          <a:ln/>
        </p:spPr>
        <p:txBody>
          <a:bodyPr wrap="square" lIns="0" tIns="0" rIns="0" bIns="0" rtlCol="0" anchor="ctr"/>
          <a:lstStyle/>
          <a:p>
            <a:pPr algn="ctr" indent="0" marL="0">
              <a:buNone/>
            </a:pPr>
            <a:r>
              <a:rPr lang="en-US" sz="1100" b="1" dirty="0">
                <a:solidFill>
                  <a:srgbClr val="FFFFFF"/>
                </a:solidFill>
                <a:latin typeface="Cambria" pitchFamily="34" charset="0"/>
                <a:ea typeface="Cambria" pitchFamily="34" charset="-122"/>
                <a:cs typeface="Cambria" pitchFamily="34" charset="-120"/>
              </a:rPr>
              <a:t>1</a:t>
            </a:r>
            <a:endParaRPr lang="en-US" sz="1100" dirty="0"/>
          </a:p>
        </p:txBody>
      </p:sp>
      <p:sp>
        <p:nvSpPr>
          <p:cNvPr id="14" name="Text 12"/>
          <p:cNvSpPr txBox="1"/>
          <p:nvPr/>
        </p:nvSpPr>
        <p:spPr>
          <a:xfrm>
            <a:off x="731520" y="1665122"/>
            <a:ext cx="4800600" cy="210312"/>
          </a:xfrm>
          <a:prstGeom prst="rect">
            <a:avLst/>
          </a:prstGeom>
          <a:noFill/>
          <a:ln/>
        </p:spPr>
        <p:txBody>
          <a:bodyPr wrap="square" lIns="0" tIns="0" rIns="0" bIns="0" rtlCol="0" anchor="t"/>
          <a:lstStyle/>
          <a:p>
            <a:pPr indent="0" marL="0">
              <a:buNone/>
            </a:pPr>
            <a:r>
              <a:rPr lang="en-US" sz="1050" dirty="0">
                <a:solidFill>
                  <a:srgbClr val="2B2622"/>
                </a:solidFill>
                <a:latin typeface="Calibri" pitchFamily="34" charset="0"/>
                <a:ea typeface="Calibri" pitchFamily="34" charset="-122"/>
                <a:cs typeface="Calibri" pitchFamily="34" charset="-120"/>
              </a:rPr>
              <a:t>Each of the three leaves of the account script can be spent.</a:t>
            </a:r>
            <a:endParaRPr lang="en-US" sz="1050" dirty="0"/>
          </a:p>
        </p:txBody>
      </p:sp>
      <p:sp>
        <p:nvSpPr>
          <p:cNvPr id="15" name="Shape 13"/>
          <p:cNvSpPr/>
          <p:nvPr/>
        </p:nvSpPr>
        <p:spPr>
          <a:xfrm>
            <a:off x="365760" y="1884578"/>
            <a:ext cx="237744" cy="237744"/>
          </a:xfrm>
          <a:prstGeom prst="ellipse">
            <a:avLst/>
          </a:prstGeom>
          <a:solidFill>
            <a:srgbClr val="D97A14"/>
          </a:solidFill>
          <a:ln w="12700">
            <a:solidFill>
              <a:srgbClr val="D97A14"/>
            </a:solidFill>
            <a:prstDash val="solid"/>
          </a:ln>
        </p:spPr>
      </p:sp>
      <p:sp>
        <p:nvSpPr>
          <p:cNvPr id="16" name="Text 14"/>
          <p:cNvSpPr txBox="1"/>
          <p:nvPr/>
        </p:nvSpPr>
        <p:spPr>
          <a:xfrm>
            <a:off x="365760" y="1884578"/>
            <a:ext cx="237744" cy="237744"/>
          </a:xfrm>
          <a:prstGeom prst="rect">
            <a:avLst/>
          </a:prstGeom>
          <a:noFill/>
          <a:ln/>
        </p:spPr>
        <p:txBody>
          <a:bodyPr wrap="square" lIns="0" tIns="0" rIns="0" bIns="0" rtlCol="0" anchor="ctr"/>
          <a:lstStyle/>
          <a:p>
            <a:pPr algn="ctr" indent="0" marL="0">
              <a:buNone/>
            </a:pPr>
            <a:r>
              <a:rPr lang="en-US" sz="1100" b="1" dirty="0">
                <a:solidFill>
                  <a:srgbClr val="FFFFFF"/>
                </a:solidFill>
                <a:latin typeface="Cambria" pitchFamily="34" charset="0"/>
                <a:ea typeface="Cambria" pitchFamily="34" charset="-122"/>
                <a:cs typeface="Cambria" pitchFamily="34" charset="-120"/>
              </a:rPr>
              <a:t>2</a:t>
            </a:r>
            <a:endParaRPr lang="en-US" sz="1100" dirty="0"/>
          </a:p>
        </p:txBody>
      </p:sp>
      <p:sp>
        <p:nvSpPr>
          <p:cNvPr id="17" name="Text 15"/>
          <p:cNvSpPr txBox="1"/>
          <p:nvPr/>
        </p:nvSpPr>
        <p:spPr>
          <a:xfrm>
            <a:off x="731520" y="2296973"/>
            <a:ext cx="4800600" cy="210312"/>
          </a:xfrm>
          <a:prstGeom prst="rect">
            <a:avLst/>
          </a:prstGeom>
          <a:noFill/>
          <a:ln/>
        </p:spPr>
        <p:txBody>
          <a:bodyPr wrap="square" lIns="0" tIns="0" rIns="0" bIns="0" rtlCol="0" anchor="t"/>
          <a:lstStyle/>
          <a:p>
            <a:pPr indent="0" marL="0">
              <a:buNone/>
            </a:pPr>
            <a:r>
              <a:rPr lang="en-US" sz="1050" dirty="0">
                <a:solidFill>
                  <a:srgbClr val="2B2622"/>
                </a:solidFill>
                <a:latin typeface="Calibri" pitchFamily="34" charset="0"/>
                <a:ea typeface="Calibri" pitchFamily="34" charset="-122"/>
                <a:cs typeface="Calibri" pitchFamily="34" charset="-120"/>
              </a:rPr>
              <a:t>Weight units of each spend as a taproot script path.</a:t>
            </a:r>
            <a:endParaRPr lang="en-US" sz="1050" dirty="0"/>
          </a:p>
        </p:txBody>
      </p:sp>
      <p:sp>
        <p:nvSpPr>
          <p:cNvPr id="18" name="Shape 16"/>
          <p:cNvSpPr/>
          <p:nvPr/>
        </p:nvSpPr>
        <p:spPr>
          <a:xfrm>
            <a:off x="365760" y="2516429"/>
            <a:ext cx="237744" cy="237744"/>
          </a:xfrm>
          <a:prstGeom prst="ellipse">
            <a:avLst/>
          </a:prstGeom>
          <a:solidFill>
            <a:srgbClr val="D97A14"/>
          </a:solidFill>
          <a:ln w="12700">
            <a:solidFill>
              <a:srgbClr val="D97A14"/>
            </a:solidFill>
            <a:prstDash val="solid"/>
          </a:ln>
        </p:spPr>
      </p:sp>
      <p:sp>
        <p:nvSpPr>
          <p:cNvPr id="19" name="Text 17"/>
          <p:cNvSpPr txBox="1"/>
          <p:nvPr/>
        </p:nvSpPr>
        <p:spPr>
          <a:xfrm>
            <a:off x="365760" y="2516429"/>
            <a:ext cx="237744" cy="237744"/>
          </a:xfrm>
          <a:prstGeom prst="rect">
            <a:avLst/>
          </a:prstGeom>
          <a:noFill/>
          <a:ln/>
        </p:spPr>
        <p:txBody>
          <a:bodyPr wrap="square" lIns="0" tIns="0" rIns="0" bIns="0" rtlCol="0" anchor="ctr"/>
          <a:lstStyle/>
          <a:p>
            <a:pPr algn="ctr" indent="0" marL="0">
              <a:buNone/>
            </a:pPr>
            <a:r>
              <a:rPr lang="en-US" sz="1100" b="1" dirty="0">
                <a:solidFill>
                  <a:srgbClr val="FFFFFF"/>
                </a:solidFill>
                <a:latin typeface="Cambria" pitchFamily="34" charset="0"/>
                <a:ea typeface="Cambria" pitchFamily="34" charset="-122"/>
                <a:cs typeface="Cambria" pitchFamily="34" charset="-120"/>
              </a:rPr>
              <a:t>3</a:t>
            </a:r>
            <a:endParaRPr lang="en-US" sz="1100" dirty="0"/>
          </a:p>
        </p:txBody>
      </p:sp>
      <p:sp>
        <p:nvSpPr>
          <p:cNvPr id="20" name="Text 18"/>
          <p:cNvSpPr txBox="1"/>
          <p:nvPr/>
        </p:nvSpPr>
        <p:spPr>
          <a:xfrm>
            <a:off x="731520" y="3258922"/>
            <a:ext cx="4800600" cy="210312"/>
          </a:xfrm>
          <a:prstGeom prst="rect">
            <a:avLst/>
          </a:prstGeom>
          <a:noFill/>
          <a:ln/>
        </p:spPr>
        <p:txBody>
          <a:bodyPr wrap="square" lIns="0" tIns="0" rIns="0" bIns="0" rtlCol="0" anchor="t"/>
          <a:lstStyle/>
          <a:p>
            <a:pPr indent="0" marL="0">
              <a:buNone/>
            </a:pPr>
            <a:r>
              <a:rPr lang="en-US" sz="1050" dirty="0">
                <a:solidFill>
                  <a:srgbClr val="2B2622"/>
                </a:solidFill>
                <a:latin typeface="Calibri" pitchFamily="34" charset="0"/>
                <a:ea typeface="Calibri" pitchFamily="34" charset="-122"/>
                <a:cs typeface="Calibri" pitchFamily="34" charset="-120"/>
              </a:rPr>
              <a:t>The same three paths as a witness script hash spend.</a:t>
            </a:r>
            <a:endParaRPr lang="en-US" sz="1050" dirty="0"/>
          </a:p>
        </p:txBody>
      </p:sp>
      <p:sp>
        <p:nvSpPr>
          <p:cNvPr id="21" name="Text 19"/>
          <p:cNvSpPr txBox="1"/>
          <p:nvPr/>
        </p:nvSpPr>
        <p:spPr>
          <a:xfrm>
            <a:off x="457200" y="3514954"/>
            <a:ext cx="5074920" cy="182880"/>
          </a:xfrm>
          <a:prstGeom prst="rect">
            <a:avLst/>
          </a:prstGeom>
          <a:noFill/>
          <a:ln/>
        </p:spPr>
        <p:txBody>
          <a:bodyPr wrap="square" lIns="0" tIns="0" rIns="0" bIns="0" rtlCol="0" anchor="ctr"/>
          <a:lstStyle/>
          <a:p>
            <a:pPr algn="l" indent="0" marL="0">
              <a:buNone/>
            </a:pPr>
            <a:r>
              <a:rPr lang="en-US" sz="900" i="1" dirty="0">
                <a:solidFill>
                  <a:srgbClr val="6E655C"/>
                </a:solidFill>
                <a:latin typeface="Calibri" pitchFamily="34" charset="0"/>
                <a:ea typeface="Calibri" pitchFamily="34" charset="-122"/>
                <a:cs typeface="Calibri" pitchFamily="34" charset="-120"/>
              </a:rPr>
              <a:t>run under Python 3.14.6 - L, K and the chapter setup as on slide 7</a:t>
            </a:r>
            <a:endParaRPr lang="en-US" sz="900" dirty="0"/>
          </a:p>
        </p:txBody>
      </p:sp>
      <p:sp>
        <p:nvSpPr>
          <p:cNvPr id="22" name="Text 20"/>
          <p:cNvSpPr txBox="1"/>
          <p:nvPr/>
        </p:nvSpPr>
        <p:spPr>
          <a:xfrm>
            <a:off x="5715000" y="1325880"/>
            <a:ext cx="2971800" cy="402336"/>
          </a:xfrm>
          <a:prstGeom prst="rect">
            <a:avLst/>
          </a:prstGeom>
          <a:noFill/>
          <a:ln/>
        </p:spPr>
        <p:txBody>
          <a:bodyPr wrap="square" lIns="0" tIns="0" rIns="0" bIns="0" rtlCol="0" anchor="t"/>
          <a:lstStyle/>
          <a:p>
            <a:pPr algn="l" indent="0" marL="0">
              <a:buNone/>
            </a:pPr>
            <a:r>
              <a:rPr lang="en-US" sz="1100" b="1" dirty="0">
                <a:solidFill>
                  <a:srgbClr val="6E655C"/>
                </a:solidFill>
                <a:latin typeface="Calibri" pitchFamily="34" charset="0"/>
                <a:ea typeface="Calibri" pitchFamily="34" charset="-122"/>
                <a:cs typeface="Calibri" pitchFamily="34" charset="-120"/>
              </a:rPr>
              <a:t>Result: weight units of three spends, two ways</a:t>
            </a:r>
            <a:endParaRPr lang="en-US" sz="1100" dirty="0"/>
          </a:p>
        </p:txBody>
      </p:sp>
      <p:graphicFrame>
        <p:nvGraphicFramePr>
          <p:cNvPr id="23" name="Chart 0" descr=""/>
          <p:cNvGraphicFramePr/>
          <p:nvPr/>
        </p:nvGraphicFramePr>
        <p:xfrm>
          <a:off x="5715000" y="1773936"/>
          <a:ext cx="2971800" cy="1892808"/>
        </p:xfrm>
        <a:graphic xmlns:a="http://schemas.openxmlformats.org/drawingml/2006/main">
          <a:graphicData uri="http://schemas.openxmlformats.org/drawingml/2006/chart">
            <c:chart xmlns:c="http://schemas.openxmlformats.org/drawingml/2006/chart" r:id="rId1"/>
          </a:graphicData>
        </a:graphic>
      </p:graphicFrame>
      <p:sp>
        <p:nvSpPr>
          <p:cNvPr id="24" name="Text 21"/>
          <p:cNvSpPr txBox="1"/>
          <p:nvPr/>
        </p:nvSpPr>
        <p:spPr>
          <a:xfrm>
            <a:off x="5715000" y="3758184"/>
            <a:ext cx="2971800" cy="786384"/>
          </a:xfrm>
          <a:prstGeom prst="rect">
            <a:avLst/>
          </a:prstGeom>
          <a:noFill/>
          <a:ln/>
        </p:spPr>
        <p:txBody>
          <a:bodyPr wrap="square" lIns="0" tIns="0" rIns="0" bIns="0" rtlCol="0" anchor="t"/>
          <a:lstStyle/>
          <a:p>
            <a:pPr algn="l" indent="0" marL="0">
              <a:buNone/>
            </a:pPr>
            <a:r>
              <a:rPr lang="en-US" sz="1150" i="1" dirty="0">
                <a:solidFill>
                  <a:srgbClr val="2B2622"/>
                </a:solidFill>
                <a:latin typeface="Calibri" pitchFamily="34" charset="0"/>
                <a:ea typeface="Calibri" pitchFamily="34" charset="-122"/>
                <a:cs typeface="Calibri" pitchFamily="34" charset="-120"/>
              </a:rPr>
              <a:t>All three paths verify (OK, OK, OK). Orange bars: taproot script path; green bars: the same path as a witness script hash.</a:t>
            </a:r>
            <a:endParaRPr lang="en-US" sz="1150" dirty="0"/>
          </a:p>
        </p:txBody>
      </p:sp>
      <p:sp>
        <p:nvSpPr>
          <p:cNvPr id="25" name="Shape 22"/>
          <p:cNvSpPr/>
          <p:nvPr/>
        </p:nvSpPr>
        <p:spPr>
          <a:xfrm>
            <a:off x="457200" y="4636008"/>
            <a:ext cx="91440" cy="310896"/>
          </a:xfrm>
          <a:prstGeom prst="rect">
            <a:avLst/>
          </a:prstGeom>
          <a:solidFill>
            <a:srgbClr val="D97A14"/>
          </a:solidFill>
          <a:ln w="12700">
            <a:solidFill>
              <a:srgbClr val="D97A14"/>
            </a:solidFill>
            <a:prstDash val="solid"/>
          </a:ln>
        </p:spPr>
      </p:sp>
      <p:sp>
        <p:nvSpPr>
          <p:cNvPr id="26" name="Text 23"/>
          <p:cNvSpPr txBox="1"/>
          <p:nvPr/>
        </p:nvSpPr>
        <p:spPr>
          <a:xfrm>
            <a:off x="658368" y="4599432"/>
            <a:ext cx="6949440" cy="384048"/>
          </a:xfrm>
          <a:prstGeom prst="rect">
            <a:avLst/>
          </a:prstGeom>
          <a:noFill/>
          <a:ln/>
        </p:spPr>
        <p:txBody>
          <a:bodyPr wrap="square" lIns="0" tIns="0" rIns="0" bIns="0" rtlCol="0" anchor="ctr"/>
          <a:lstStyle/>
          <a:p>
            <a:pPr indent="0" marL="0">
              <a:buNone/>
            </a:pPr>
            <a:r>
              <a:rPr lang="en-US" sz="1350" b="1" i="1" dirty="0">
                <a:solidFill>
                  <a:srgbClr val="2B2622"/>
                </a:solidFill>
                <a:latin typeface="Cambria" pitchFamily="34" charset="0"/>
                <a:ea typeface="Cambria" pitchFamily="34" charset="-122"/>
                <a:cs typeface="Cambria" pitchFamily="34" charset="-120"/>
              </a:rPr>
              <a:t>Each path costs about as much as a plain witness script</a:t>
            </a:r>
            <a:endParaRPr lang="en-US" sz="1350" dirty="0"/>
          </a:p>
        </p:txBody>
      </p:sp>
      <p:sp>
        <p:nvSpPr>
          <p:cNvPr id="27" name="Text 24"/>
          <p:cNvSpPr txBox="1"/>
          <p:nvPr/>
        </p:nvSpPr>
        <p:spPr>
          <a:xfrm>
            <a:off x="7863840" y="4645152"/>
            <a:ext cx="868680" cy="310896"/>
          </a:xfrm>
          <a:prstGeom prst="rect">
            <a:avLst/>
          </a:prstGeom>
          <a:noFill/>
          <a:ln/>
        </p:spPr>
        <p:txBody>
          <a:bodyPr wrap="square" lIns="0" tIns="0" rIns="0" bIns="0" rtlCol="0" anchor="ctr"/>
          <a:lstStyle/>
          <a:p>
            <a:pPr algn="r" indent="0" marL="0">
              <a:buNone/>
            </a:pPr>
            <a:r>
              <a:rPr lang="en-US" sz="1100" dirty="0">
                <a:solidFill>
                  <a:srgbClr val="6E655C"/>
                </a:solidFill>
                <a:latin typeface="Calibri" pitchFamily="34" charset="0"/>
                <a:ea typeface="Calibri" pitchFamily="34" charset="-122"/>
                <a:cs typeface="Calibri" pitchFamily="34" charset="-120"/>
              </a:rPr>
              <a:t>55 / 61</a:t>
            </a:r>
            <a:endParaRPr lang="en-US" sz="11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AF6EF"/>
        </a:solidFill>
      </p:bgPr>
    </p:bg>
    <p:spTree>
      <p:nvGrpSpPr>
        <p:cNvPr id="1" name=""/>
        <p:cNvGrpSpPr/>
        <p:nvPr/>
      </p:nvGrpSpPr>
      <p:grpSpPr>
        <a:xfrm>
          <a:off x="0" y="0"/>
          <a:ext cx="0" cy="0"/>
          <a:chOff x="0" y="0"/>
          <a:chExt cx="0" cy="0"/>
        </a:xfrm>
      </p:grpSpPr>
      <p:sp>
        <p:nvSpPr>
          <p:cNvPr id="2" name="Shape 0"/>
          <p:cNvSpPr/>
          <p:nvPr/>
        </p:nvSpPr>
        <p:spPr>
          <a:xfrm>
            <a:off x="457200" y="347472"/>
            <a:ext cx="566928" cy="384048"/>
          </a:xfrm>
          <a:prstGeom prst="roundRect">
            <a:avLst>
              <a:gd name="adj" fmla="val 19048"/>
            </a:avLst>
          </a:prstGeom>
          <a:solidFill>
            <a:srgbClr val="D97A14"/>
          </a:solidFill>
          <a:ln w="12700">
            <a:solidFill>
              <a:srgbClr val="D97A14"/>
            </a:solidFill>
            <a:prstDash val="solid"/>
          </a:ln>
        </p:spPr>
      </p:sp>
      <p:sp>
        <p:nvSpPr>
          <p:cNvPr id="3" name="Text 1"/>
          <p:cNvSpPr txBox="1"/>
          <p:nvPr/>
        </p:nvSpPr>
        <p:spPr>
          <a:xfrm>
            <a:off x="457200" y="347472"/>
            <a:ext cx="56692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4" name="Text 2"/>
          <p:cNvSpPr txBox="1"/>
          <p:nvPr/>
        </p:nvSpPr>
        <p:spPr>
          <a:xfrm>
            <a:off x="1143000" y="237744"/>
            <a:ext cx="7543800" cy="566928"/>
          </a:xfrm>
          <a:prstGeom prst="rect">
            <a:avLst/>
          </a:prstGeom>
          <a:noFill/>
          <a:ln/>
        </p:spPr>
        <p:txBody>
          <a:bodyPr wrap="square" lIns="0" tIns="0" rIns="0" bIns="0" rtlCol="0" anchor="ctr"/>
          <a:lstStyle/>
          <a:p>
            <a:pPr indent="0" marL="0">
              <a:buNone/>
            </a:pPr>
            <a:r>
              <a:rPr lang="en-US" sz="2500" b="1" dirty="0">
                <a:solidFill>
                  <a:srgbClr val="2B2622"/>
                </a:solidFill>
                <a:latin typeface="Cambria" pitchFamily="34" charset="0"/>
                <a:ea typeface="Cambria" pitchFamily="34" charset="-122"/>
                <a:cs typeface="Cambria" pitchFamily="34" charset="-120"/>
              </a:rPr>
              <a:t>Taproot and tapscript: concepts (3 of 3)</a:t>
            </a:r>
            <a:endParaRPr lang="en-US" sz="2500" dirty="0"/>
          </a:p>
        </p:txBody>
      </p:sp>
      <p:sp>
        <p:nvSpPr>
          <p:cNvPr id="5" name="Text 3"/>
          <p:cNvSpPr txBox="1"/>
          <p:nvPr/>
        </p:nvSpPr>
        <p:spPr>
          <a:xfrm>
            <a:off x="1143000" y="786384"/>
            <a:ext cx="7543800" cy="310896"/>
          </a:xfrm>
          <a:prstGeom prst="rect">
            <a:avLst/>
          </a:prstGeom>
          <a:noFill/>
          <a:ln/>
        </p:spPr>
        <p:txBody>
          <a:bodyPr wrap="square" lIns="0" tIns="0" rIns="0" bIns="0" rtlCol="0" anchor="ctr"/>
          <a:lstStyle/>
          <a:p>
            <a:pPr indent="0" marL="0">
              <a:buNone/>
            </a:pPr>
            <a:r>
              <a:rPr lang="en-US" sz="1300" i="1" dirty="0">
                <a:solidFill>
                  <a:srgbClr val="6E655C"/>
                </a:solidFill>
                <a:latin typeface="Calibri" pitchFamily="34" charset="0"/>
                <a:ea typeface="Calibri" pitchFamily="34" charset="-122"/>
                <a:cs typeface="Calibri" pitchFamily="34" charset="-120"/>
              </a:rPr>
              <a:t>Each card: the meaning in a few words, then something you already know</a:t>
            </a:r>
            <a:endParaRPr lang="en-US" sz="1300" dirty="0"/>
          </a:p>
        </p:txBody>
      </p:sp>
      <p:sp>
        <p:nvSpPr>
          <p:cNvPr id="6" name="Shape 4"/>
          <p:cNvSpPr/>
          <p:nvPr/>
        </p:nvSpPr>
        <p:spPr>
          <a:xfrm>
            <a:off x="457200" y="1280160"/>
            <a:ext cx="2645664" cy="1516990"/>
          </a:xfrm>
          <a:prstGeom prst="roundRect">
            <a:avLst>
              <a:gd name="adj" fmla="val 4822"/>
            </a:avLst>
          </a:prstGeom>
          <a:solidFill>
            <a:srgbClr val="F2ECE1"/>
          </a:solidFill>
          <a:ln w="12700">
            <a:solidFill>
              <a:srgbClr val="DFD6C7"/>
            </a:solidFill>
            <a:prstDash val="solid"/>
          </a:ln>
        </p:spPr>
      </p:sp>
      <p:sp>
        <p:nvSpPr>
          <p:cNvPr id="7" name="Shape 5"/>
          <p:cNvSpPr/>
          <p:nvPr/>
        </p:nvSpPr>
        <p:spPr>
          <a:xfrm>
            <a:off x="475488" y="1408176"/>
            <a:ext cx="64008" cy="1260958"/>
          </a:xfrm>
          <a:prstGeom prst="rect">
            <a:avLst/>
          </a:prstGeom>
          <a:solidFill>
            <a:srgbClr val="D97A14"/>
          </a:solidFill>
          <a:ln w="12700">
            <a:solidFill>
              <a:srgbClr val="D97A14"/>
            </a:solidFill>
            <a:prstDash val="solid"/>
          </a:ln>
        </p:spPr>
      </p:sp>
      <p:sp>
        <p:nvSpPr>
          <p:cNvPr id="8" name="Text 6"/>
          <p:cNvSpPr txBox="1"/>
          <p:nvPr/>
        </p:nvSpPr>
        <p:spPr>
          <a:xfrm>
            <a:off x="640080" y="1344168"/>
            <a:ext cx="2371344" cy="612648"/>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schnorr signature</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A short signature that adds up when many signers sign.</a:t>
            </a:r>
            <a:endParaRPr lang="en-US" sz="1300" dirty="0"/>
          </a:p>
        </p:txBody>
      </p:sp>
      <p:sp>
        <p:nvSpPr>
          <p:cNvPr id="9" name="Text 7"/>
          <p:cNvSpPr txBox="1"/>
          <p:nvPr/>
        </p:nvSpPr>
        <p:spPr>
          <a:xfrm>
            <a:off x="640080" y="1984248"/>
            <a:ext cx="2371344" cy="571500"/>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handwriting that adds up neatly when several people write together.</a:t>
            </a:r>
            <a:endParaRPr lang="en-US" sz="1150" dirty="0"/>
          </a:p>
        </p:txBody>
      </p:sp>
      <p:sp>
        <p:nvSpPr>
          <p:cNvPr id="10" name="Shape 8"/>
          <p:cNvSpPr/>
          <p:nvPr/>
        </p:nvSpPr>
        <p:spPr>
          <a:xfrm>
            <a:off x="3249168" y="1280160"/>
            <a:ext cx="2645664" cy="1516990"/>
          </a:xfrm>
          <a:prstGeom prst="roundRect">
            <a:avLst>
              <a:gd name="adj" fmla="val 4822"/>
            </a:avLst>
          </a:prstGeom>
          <a:solidFill>
            <a:srgbClr val="F2ECE1"/>
          </a:solidFill>
          <a:ln w="12700">
            <a:solidFill>
              <a:srgbClr val="DFD6C7"/>
            </a:solidFill>
            <a:prstDash val="solid"/>
          </a:ln>
        </p:spPr>
      </p:sp>
      <p:sp>
        <p:nvSpPr>
          <p:cNvPr id="11" name="Shape 9"/>
          <p:cNvSpPr/>
          <p:nvPr/>
        </p:nvSpPr>
        <p:spPr>
          <a:xfrm>
            <a:off x="3267456" y="1408176"/>
            <a:ext cx="64008" cy="1260958"/>
          </a:xfrm>
          <a:prstGeom prst="rect">
            <a:avLst/>
          </a:prstGeom>
          <a:solidFill>
            <a:srgbClr val="D97A14"/>
          </a:solidFill>
          <a:ln w="12700">
            <a:solidFill>
              <a:srgbClr val="D97A14"/>
            </a:solidFill>
            <a:prstDash val="solid"/>
          </a:ln>
        </p:spPr>
      </p:sp>
      <p:sp>
        <p:nvSpPr>
          <p:cNvPr id="12" name="Text 10"/>
          <p:cNvSpPr txBox="1"/>
          <p:nvPr/>
        </p:nvSpPr>
        <p:spPr>
          <a:xfrm>
            <a:off x="3432048" y="1344168"/>
            <a:ext cx="2371344" cy="790956"/>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OP_SUCCESS</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Opcode values that make a tapscript succeed, kept for upgrades.</a:t>
            </a:r>
            <a:endParaRPr lang="en-US" sz="1300" dirty="0"/>
          </a:p>
        </p:txBody>
      </p:sp>
      <p:sp>
        <p:nvSpPr>
          <p:cNvPr id="13" name="Text 11"/>
          <p:cNvSpPr txBox="1"/>
          <p:nvPr/>
        </p:nvSpPr>
        <p:spPr>
          <a:xfrm>
            <a:off x="3432048" y="2162556"/>
            <a:ext cx="2371344" cy="571500"/>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a green light reserved for traffic rules of the future.</a:t>
            </a:r>
            <a:endParaRPr lang="en-US" sz="1150" dirty="0"/>
          </a:p>
        </p:txBody>
      </p:sp>
      <p:sp>
        <p:nvSpPr>
          <p:cNvPr id="14" name="Shape 12"/>
          <p:cNvSpPr/>
          <p:nvPr/>
        </p:nvSpPr>
        <p:spPr>
          <a:xfrm>
            <a:off x="6041136" y="1280160"/>
            <a:ext cx="2645664" cy="1516990"/>
          </a:xfrm>
          <a:prstGeom prst="roundRect">
            <a:avLst>
              <a:gd name="adj" fmla="val 4822"/>
            </a:avLst>
          </a:prstGeom>
          <a:solidFill>
            <a:srgbClr val="F2ECE1"/>
          </a:solidFill>
          <a:ln w="12700">
            <a:solidFill>
              <a:srgbClr val="DFD6C7"/>
            </a:solidFill>
            <a:prstDash val="solid"/>
          </a:ln>
        </p:spPr>
      </p:sp>
      <p:sp>
        <p:nvSpPr>
          <p:cNvPr id="15" name="Shape 13"/>
          <p:cNvSpPr/>
          <p:nvPr/>
        </p:nvSpPr>
        <p:spPr>
          <a:xfrm>
            <a:off x="6059424" y="1408176"/>
            <a:ext cx="64008" cy="1260958"/>
          </a:xfrm>
          <a:prstGeom prst="rect">
            <a:avLst/>
          </a:prstGeom>
          <a:solidFill>
            <a:srgbClr val="D97A14"/>
          </a:solidFill>
          <a:ln w="12700">
            <a:solidFill>
              <a:srgbClr val="D97A14"/>
            </a:solidFill>
            <a:prstDash val="solid"/>
          </a:ln>
        </p:spPr>
      </p:sp>
      <p:sp>
        <p:nvSpPr>
          <p:cNvPr id="16" name="Text 14"/>
          <p:cNvSpPr txBox="1"/>
          <p:nvPr/>
        </p:nvSpPr>
        <p:spPr>
          <a:xfrm>
            <a:off x="6224016" y="1344168"/>
            <a:ext cx="2371344" cy="612648"/>
          </a:xfrm>
          <a:prstGeom prst="rect">
            <a:avLst/>
          </a:prstGeom>
          <a:noFill/>
          <a:ln/>
        </p:spPr>
        <p:txBody>
          <a:bodyPr wrap="square" lIns="0" tIns="0" rIns="0" bIns="0" rtlCol="0" anchor="t"/>
          <a:lstStyle/>
          <a:p>
            <a:pPr indent="0" marL="0">
              <a:spcAft>
                <a:spcPts val="200"/>
              </a:spcAft>
              <a:buNone/>
            </a:pPr>
            <a:r>
              <a:rPr lang="en-US" sz="1300" b="1" dirty="0">
                <a:solidFill>
                  <a:srgbClr val="2B2622"/>
                </a:solidFill>
                <a:latin typeface="Cambria" pitchFamily="34" charset="0"/>
                <a:ea typeface="Cambria" pitchFamily="34" charset="-122"/>
                <a:cs typeface="Cambria" pitchFamily="34" charset="-120"/>
              </a:rPr>
              <a:t>mutual satisfaction</a:t>
            </a:r>
            <a:endParaRPr lang="en-US" sz="1300" dirty="0"/>
          </a:p>
          <a:p>
            <a:pPr indent="0" marL="0">
              <a:spcAft>
                <a:spcPts val="200"/>
              </a:spcAft>
              <a:buNone/>
            </a:pPr>
            <a:r>
              <a:rPr lang="en-US" sz="1150" dirty="0">
                <a:solidFill>
                  <a:srgbClr val="2B2622"/>
                </a:solidFill>
                <a:latin typeface="Calibri" pitchFamily="34" charset="0"/>
                <a:ea typeface="Calibri" pitchFamily="34" charset="-122"/>
                <a:cs typeface="Calibri" pitchFamily="34" charset="-120"/>
              </a:rPr>
              <a:t>All parties agree, so the script never needs to be shown.</a:t>
            </a:r>
            <a:endParaRPr lang="en-US" sz="1300" dirty="0"/>
          </a:p>
        </p:txBody>
      </p:sp>
      <p:sp>
        <p:nvSpPr>
          <p:cNvPr id="17" name="Text 15"/>
          <p:cNvSpPr txBox="1"/>
          <p:nvPr/>
        </p:nvSpPr>
        <p:spPr>
          <a:xfrm>
            <a:off x="6224016" y="1984248"/>
            <a:ext cx="2371344" cy="571500"/>
          </a:xfrm>
          <a:prstGeom prst="rect">
            <a:avLst/>
          </a:prstGeom>
          <a:noFill/>
          <a:ln/>
        </p:spPr>
        <p:txBody>
          <a:bodyPr wrap="square" lIns="0" tIns="0" rIns="0" bIns="0" rtlCol="0" anchor="t"/>
          <a:lstStyle/>
          <a:p>
            <a:pPr indent="0" marL="0">
              <a:buNone/>
            </a:pPr>
            <a:r>
              <a:rPr lang="en-US" sz="1150" i="1" dirty="0">
                <a:solidFill>
                  <a:srgbClr val="2F6D62"/>
                </a:solidFill>
                <a:latin typeface="Calibri" pitchFamily="34" charset="0"/>
                <a:ea typeface="Calibri" pitchFamily="34" charset="-122"/>
                <a:cs typeface="Calibri" pitchFamily="34" charset="-120"/>
              </a:rPr>
              <a:t>Think of neighbours who settle a dispute over the fence instead of in court.</a:t>
            </a:r>
            <a:endParaRPr lang="en-US" sz="1150" dirty="0"/>
          </a:p>
        </p:txBody>
      </p:sp>
      <p:sp>
        <p:nvSpPr>
          <p:cNvPr id="18" name="Shape 16"/>
          <p:cNvSpPr/>
          <p:nvPr/>
        </p:nvSpPr>
        <p:spPr>
          <a:xfrm>
            <a:off x="457200" y="4636008"/>
            <a:ext cx="91440" cy="310896"/>
          </a:xfrm>
          <a:prstGeom prst="rect">
            <a:avLst/>
          </a:prstGeom>
          <a:solidFill>
            <a:srgbClr val="D97A14"/>
          </a:solidFill>
          <a:ln w="12700">
            <a:solidFill>
              <a:srgbClr val="D97A14"/>
            </a:solidFill>
            <a:prstDash val="solid"/>
          </a:ln>
        </p:spPr>
      </p:sp>
      <p:sp>
        <p:nvSpPr>
          <p:cNvPr id="19" name="Text 17"/>
          <p:cNvSpPr txBox="1"/>
          <p:nvPr/>
        </p:nvSpPr>
        <p:spPr>
          <a:xfrm>
            <a:off x="658368" y="4599432"/>
            <a:ext cx="6949440" cy="384048"/>
          </a:xfrm>
          <a:prstGeom prst="rect">
            <a:avLst/>
          </a:prstGeom>
          <a:noFill/>
          <a:ln/>
        </p:spPr>
        <p:txBody>
          <a:bodyPr wrap="square" lIns="0" tIns="0" rIns="0" bIns="0" rtlCol="0" anchor="ctr"/>
          <a:lstStyle/>
          <a:p>
            <a:pPr indent="0" marL="0">
              <a:buNone/>
            </a:pPr>
            <a:r>
              <a:rPr lang="en-US" sz="1350" b="1" i="1" dirty="0">
                <a:solidFill>
                  <a:srgbClr val="2B2622"/>
                </a:solidFill>
                <a:latin typeface="Cambria" pitchFamily="34" charset="0"/>
                <a:ea typeface="Cambria" pitchFamily="34" charset="-122"/>
                <a:cs typeface="Cambria" pitchFamily="34" charset="-120"/>
              </a:rPr>
              <a:t>Say each idea twice: once as the meaning, once as the everyday comparison</a:t>
            </a:r>
            <a:endParaRPr lang="en-US" sz="1350" dirty="0"/>
          </a:p>
        </p:txBody>
      </p:sp>
      <p:sp>
        <p:nvSpPr>
          <p:cNvPr id="20" name="Text 18"/>
          <p:cNvSpPr txBox="1"/>
          <p:nvPr/>
        </p:nvSpPr>
        <p:spPr>
          <a:xfrm>
            <a:off x="7863840" y="4645152"/>
            <a:ext cx="868680" cy="310896"/>
          </a:xfrm>
          <a:prstGeom prst="rect">
            <a:avLst/>
          </a:prstGeom>
          <a:noFill/>
          <a:ln/>
        </p:spPr>
        <p:txBody>
          <a:bodyPr wrap="square" lIns="0" tIns="0" rIns="0" bIns="0" rtlCol="0" anchor="ctr"/>
          <a:lstStyle/>
          <a:p>
            <a:pPr algn="r" indent="0" marL="0">
              <a:buNone/>
            </a:pPr>
            <a:r>
              <a:rPr lang="en-US" sz="1100" dirty="0">
                <a:solidFill>
                  <a:srgbClr val="6E655C"/>
                </a:solidFill>
                <a:latin typeface="Calibri" pitchFamily="34" charset="0"/>
                <a:ea typeface="Calibri" pitchFamily="34" charset="-122"/>
                <a:cs typeface="Calibri" pitchFamily="34" charset="-120"/>
              </a:rPr>
              <a:t>56 / 61</a:t>
            </a:r>
            <a:endParaRPr lang="en-US" sz="11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AF6EF"/>
        </a:solidFill>
      </p:bgPr>
    </p:bg>
    <p:spTree>
      <p:nvGrpSpPr>
        <p:cNvPr id="1" name=""/>
        <p:cNvGrpSpPr/>
        <p:nvPr/>
      </p:nvGrpSpPr>
      <p:grpSpPr>
        <a:xfrm>
          <a:off x="0" y="0"/>
          <a:ext cx="0" cy="0"/>
          <a:chOff x="0" y="0"/>
          <a:chExt cx="0" cy="0"/>
        </a:xfrm>
      </p:grpSpPr>
      <p:sp>
        <p:nvSpPr>
          <p:cNvPr id="2" name="Shape 0"/>
          <p:cNvSpPr/>
          <p:nvPr/>
        </p:nvSpPr>
        <p:spPr>
          <a:xfrm>
            <a:off x="457200" y="347472"/>
            <a:ext cx="566928" cy="384048"/>
          </a:xfrm>
          <a:prstGeom prst="roundRect">
            <a:avLst>
              <a:gd name="adj" fmla="val 19048"/>
            </a:avLst>
          </a:prstGeom>
          <a:solidFill>
            <a:srgbClr val="D97A14"/>
          </a:solidFill>
          <a:ln w="12700">
            <a:solidFill>
              <a:srgbClr val="D97A14"/>
            </a:solidFill>
            <a:prstDash val="solid"/>
          </a:ln>
        </p:spPr>
      </p:sp>
      <p:sp>
        <p:nvSpPr>
          <p:cNvPr id="3" name="Text 1"/>
          <p:cNvSpPr txBox="1"/>
          <p:nvPr/>
        </p:nvSpPr>
        <p:spPr>
          <a:xfrm>
            <a:off x="457200" y="347472"/>
            <a:ext cx="56692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4" name="Text 2"/>
          <p:cNvSpPr txBox="1"/>
          <p:nvPr/>
        </p:nvSpPr>
        <p:spPr>
          <a:xfrm>
            <a:off x="1143000" y="237744"/>
            <a:ext cx="7543800" cy="566928"/>
          </a:xfrm>
          <a:prstGeom prst="rect">
            <a:avLst/>
          </a:prstGeom>
          <a:noFill/>
          <a:ln/>
        </p:spPr>
        <p:txBody>
          <a:bodyPr wrap="square" lIns="0" tIns="0" rIns="0" bIns="0" rtlCol="0" anchor="ctr"/>
          <a:lstStyle/>
          <a:p>
            <a:pPr indent="0" marL="0">
              <a:buNone/>
            </a:pPr>
            <a:r>
              <a:rPr lang="en-US" sz="2500" b="1" dirty="0">
                <a:solidFill>
                  <a:srgbClr val="2B2622"/>
                </a:solidFill>
                <a:latin typeface="Cambria" pitchFamily="34" charset="0"/>
                <a:ea typeface="Cambria" pitchFamily="34" charset="-122"/>
                <a:cs typeface="Cambria" pitchFamily="34" charset="-120"/>
              </a:rPr>
              <a:t>Counting signatures: OP_CHECKSIGADD</a:t>
            </a:r>
            <a:endParaRPr lang="en-US" sz="2500" dirty="0"/>
          </a:p>
        </p:txBody>
      </p:sp>
      <p:sp>
        <p:nvSpPr>
          <p:cNvPr id="5" name="Text 3"/>
          <p:cNvSpPr txBox="1"/>
          <p:nvPr/>
        </p:nvSpPr>
        <p:spPr>
          <a:xfrm>
            <a:off x="1143000" y="786384"/>
            <a:ext cx="7543800" cy="310896"/>
          </a:xfrm>
          <a:prstGeom prst="rect">
            <a:avLst/>
          </a:prstGeom>
          <a:noFill/>
          <a:ln/>
        </p:spPr>
        <p:txBody>
          <a:bodyPr wrap="square" lIns="0" tIns="0" rIns="0" bIns="0" rtlCol="0" anchor="ctr"/>
          <a:lstStyle/>
          <a:p>
            <a:pPr indent="0" marL="0">
              <a:buNone/>
            </a:pPr>
            <a:r>
              <a:rPr lang="en-US" sz="1300" i="1" dirty="0">
                <a:solidFill>
                  <a:srgbClr val="6E655C"/>
                </a:solidFill>
                <a:latin typeface="Calibri" pitchFamily="34" charset="0"/>
                <a:ea typeface="Calibri" pitchFamily="34" charset="-122"/>
                <a:cs typeface="Calibri" pitchFamily="34" charset="-120"/>
              </a:rPr>
              <a:t>Tapscript's replacement for CHECKMULTISIG</a:t>
            </a:r>
            <a:endParaRPr lang="en-US" sz="1300" dirty="0"/>
          </a:p>
        </p:txBody>
      </p:sp>
      <p:sp>
        <p:nvSpPr>
          <p:cNvPr id="6" name="Shape 4"/>
          <p:cNvSpPr/>
          <p:nvPr/>
        </p:nvSpPr>
        <p:spPr>
          <a:xfrm>
            <a:off x="457200" y="1325880"/>
            <a:ext cx="5074920" cy="476402"/>
          </a:xfrm>
          <a:prstGeom prst="roundRect">
            <a:avLst>
              <a:gd name="adj" fmla="val 15355"/>
            </a:avLst>
          </a:prstGeom>
          <a:solidFill>
            <a:srgbClr val="23272E"/>
          </a:solidFill>
          <a:ln w="12700">
            <a:solidFill>
              <a:srgbClr val="23272E"/>
            </a:solidFill>
            <a:prstDash val="solid"/>
          </a:ln>
        </p:spPr>
      </p:sp>
      <p:sp>
        <p:nvSpPr>
          <p:cNvPr id="7" name="Text 5"/>
          <p:cNvSpPr txBox="1"/>
          <p:nvPr/>
        </p:nvSpPr>
        <p:spPr>
          <a:xfrm>
            <a:off x="603504" y="1399032"/>
            <a:ext cx="4800600" cy="348386"/>
          </a:xfrm>
          <a:prstGeom prst="rect">
            <a:avLst/>
          </a:prstGeom>
          <a:noFill/>
          <a:ln/>
        </p:spPr>
        <p:txBody>
          <a:bodyPr wrap="square" lIns="0" tIns="0" rIns="0" bIns="0" rtlCol="0" anchor="t"/>
          <a:lstStyle/>
          <a:p>
            <a:pPr indent="0" marL="0">
              <a:buNone/>
            </a:pPr>
            <a:r>
              <a:rPr lang="en-US" sz="1000" b="1" dirty="0">
                <a:solidFill>
                  <a:srgbClr val="D97A14"/>
                </a:solidFill>
                <a:latin typeface="Courier New" pitchFamily="34" charset="0"/>
                <a:ea typeface="Courier New" pitchFamily="34" charset="-122"/>
                <a:cs typeface="Courier New" pitchFamily="34" charset="-120"/>
              </a:rPr>
              <a:t>&gt;&gt;&gt; </a:t>
            </a:r>
            <a:r>
              <a:rPr lang="en-US" sz="1000" dirty="0">
                <a:solidFill>
                  <a:srgbClr val="E6EDF3"/>
                </a:solidFill>
                <a:latin typeface="Courier New" pitchFamily="34" charset="0"/>
                <a:ea typeface="Courier New" pitchFamily="34" charset="-122"/>
                <a:cs typeface="Courier New" pitchFamily="34" charset="-120"/>
              </a:rPr>
              <a:t>s = K.csa_script([</a:t>
            </a:r>
            <a:r>
              <a:rPr lang="en-US" sz="1000" dirty="0">
                <a:solidFill>
                  <a:srgbClr val="FFD28A"/>
                </a:solidFill>
                <a:latin typeface="Courier New" pitchFamily="34" charset="0"/>
                <a:ea typeface="Courier New" pitchFamily="34" charset="-122"/>
                <a:cs typeface="Courier New" pitchFamily="34" charset="-120"/>
              </a:rPr>
              <a:t>0</a:t>
            </a:r>
            <a:r>
              <a:rPr lang="en-US" sz="1000" dirty="0">
                <a:solidFill>
                  <a:srgbClr val="E6EDF3"/>
                </a:solidFill>
                <a:latin typeface="Courier New" pitchFamily="34" charset="0"/>
                <a:ea typeface="Courier New" pitchFamily="34" charset="-122"/>
                <a:cs typeface="Courier New" pitchFamily="34" charset="-120"/>
              </a:rPr>
              <a:t>, </a:t>
            </a:r>
            <a:r>
              <a:rPr lang="en-US" sz="1000" dirty="0">
                <a:solidFill>
                  <a:srgbClr val="FFD28A"/>
                </a:solidFill>
                <a:latin typeface="Courier New" pitchFamily="34" charset="0"/>
                <a:ea typeface="Courier New" pitchFamily="34" charset="-122"/>
                <a:cs typeface="Courier New" pitchFamily="34" charset="-120"/>
              </a:rPr>
              <a:t>1</a:t>
            </a:r>
            <a:r>
              <a:rPr lang="en-US" sz="1000" dirty="0">
                <a:solidFill>
                  <a:srgbClr val="E6EDF3"/>
                </a:solidFill>
                <a:latin typeface="Courier New" pitchFamily="34" charset="0"/>
                <a:ea typeface="Courier New" pitchFamily="34" charset="-122"/>
                <a:cs typeface="Courier New" pitchFamily="34" charset="-120"/>
              </a:rPr>
              <a:t>, </a:t>
            </a:r>
            <a:r>
              <a:rPr lang="en-US" sz="1000" dirty="0">
                <a:solidFill>
                  <a:srgbClr val="FFD28A"/>
                </a:solidFill>
                <a:latin typeface="Courier New" pitchFamily="34" charset="0"/>
                <a:ea typeface="Courier New" pitchFamily="34" charset="-122"/>
                <a:cs typeface="Courier New" pitchFamily="34" charset="-120"/>
              </a:rPr>
              <a:t>2</a:t>
            </a:r>
            <a:r>
              <a:rPr lang="en-US" sz="1000" dirty="0">
                <a:solidFill>
                  <a:srgbClr val="E6EDF3"/>
                </a:solidFill>
                <a:latin typeface="Courier New" pitchFamily="34" charset="0"/>
                <a:ea typeface="Courier New" pitchFamily="34" charset="-122"/>
                <a:cs typeface="Courier New" pitchFamily="34" charset="-120"/>
              </a:rPr>
              <a:t>], </a:t>
            </a:r>
            <a:r>
              <a:rPr lang="en-US" sz="1000" dirty="0">
                <a:solidFill>
                  <a:srgbClr val="FFD28A"/>
                </a:solidFill>
                <a:latin typeface="Courier New" pitchFamily="34" charset="0"/>
                <a:ea typeface="Courier New" pitchFamily="34" charset="-122"/>
                <a:cs typeface="Courier New" pitchFamily="34" charset="-120"/>
              </a:rPr>
              <a:t>2</a:t>
            </a:r>
            <a:r>
              <a:rPr lang="en-US" sz="1000" dirty="0">
                <a:solidFill>
                  <a:srgbClr val="E6EDF3"/>
                </a:solidFill>
                <a:latin typeface="Courier New" pitchFamily="34" charset="0"/>
                <a:ea typeface="Courier New" pitchFamily="34" charset="-122"/>
                <a:cs typeface="Courier New" pitchFamily="34" charset="-120"/>
              </a:rPr>
              <a:t>)</a:t>
            </a:r>
            <a:endParaRPr lang="en-US" sz="1000" dirty="0"/>
          </a:p>
          <a:p>
            <a:pPr indent="0" marL="0">
              <a:buNone/>
            </a:pPr>
            <a:r>
              <a:rPr lang="en-US" sz="1000" b="1" dirty="0">
                <a:solidFill>
                  <a:srgbClr val="D97A14"/>
                </a:solidFill>
                <a:latin typeface="Courier New" pitchFamily="34" charset="0"/>
                <a:ea typeface="Courier New" pitchFamily="34" charset="-122"/>
                <a:cs typeface="Courier New" pitchFamily="34" charset="-120"/>
              </a:rPr>
              <a:t>&gt;&gt;&gt; </a:t>
            </a:r>
            <a:r>
              <a:rPr lang="en-US" sz="1000" dirty="0">
                <a:solidFill>
                  <a:srgbClr val="E6EDF3"/>
                </a:solidFill>
                <a:latin typeface="Courier New" pitchFamily="34" charset="0"/>
                <a:ea typeface="Courier New" pitchFamily="34" charset="-122"/>
                <a:cs typeface="Courier New" pitchFamily="34" charset="-120"/>
              </a:rPr>
              <a:t>sizes = (len(s), len(RED))</a:t>
            </a:r>
            <a:endParaRPr lang="en-US" sz="1000" dirty="0"/>
          </a:p>
        </p:txBody>
      </p:sp>
      <p:sp>
        <p:nvSpPr>
          <p:cNvPr id="8" name="Shape 6"/>
          <p:cNvSpPr/>
          <p:nvPr/>
        </p:nvSpPr>
        <p:spPr>
          <a:xfrm>
            <a:off x="457200" y="2122322"/>
            <a:ext cx="5074920" cy="476402"/>
          </a:xfrm>
          <a:prstGeom prst="roundRect">
            <a:avLst>
              <a:gd name="adj" fmla="val 15355"/>
            </a:avLst>
          </a:prstGeom>
          <a:solidFill>
            <a:srgbClr val="23272E"/>
          </a:solidFill>
          <a:ln w="12700">
            <a:solidFill>
              <a:srgbClr val="23272E"/>
            </a:solidFill>
            <a:prstDash val="solid"/>
          </a:ln>
        </p:spPr>
      </p:sp>
      <p:sp>
        <p:nvSpPr>
          <p:cNvPr id="9" name="Text 7"/>
          <p:cNvSpPr txBox="1"/>
          <p:nvPr/>
        </p:nvSpPr>
        <p:spPr>
          <a:xfrm>
            <a:off x="603504" y="2195474"/>
            <a:ext cx="4800600" cy="348386"/>
          </a:xfrm>
          <a:prstGeom prst="rect">
            <a:avLst/>
          </a:prstGeom>
          <a:noFill/>
          <a:ln/>
        </p:spPr>
        <p:txBody>
          <a:bodyPr wrap="square" lIns="0" tIns="0" rIns="0" bIns="0" rtlCol="0" anchor="t"/>
          <a:lstStyle/>
          <a:p>
            <a:pPr indent="0" marL="0">
              <a:buNone/>
            </a:pPr>
            <a:r>
              <a:rPr lang="en-US" sz="1000" b="1" dirty="0">
                <a:solidFill>
                  <a:srgbClr val="D97A14"/>
                </a:solidFill>
                <a:latin typeface="Courier New" pitchFamily="34" charset="0"/>
                <a:ea typeface="Courier New" pitchFamily="34" charset="-122"/>
                <a:cs typeface="Courier New" pitchFamily="34" charset="-120"/>
              </a:rPr>
              <a:t>&gt;&gt;&gt; </a:t>
            </a:r>
            <a:r>
              <a:rPr lang="en-US" sz="1000" dirty="0">
                <a:solidFill>
                  <a:srgbClr val="E6EDF3"/>
                </a:solidFill>
                <a:latin typeface="Courier New" pitchFamily="34" charset="0"/>
                <a:ea typeface="Courier New" pitchFamily="34" charset="-122"/>
                <a:cs typeface="Courier New" pitchFamily="34" charset="-120"/>
              </a:rPr>
              <a:t>items = [b</a:t>
            </a:r>
            <a:r>
              <a:rPr lang="en-US" sz="1000" dirty="0">
                <a:solidFill>
                  <a:srgbClr val="9ECBFF"/>
                </a:solidFill>
                <a:latin typeface="Courier New" pitchFamily="34" charset="0"/>
                <a:ea typeface="Courier New" pitchFamily="34" charset="-122"/>
                <a:cs typeface="Courier New" pitchFamily="34" charset="-120"/>
              </a:rPr>
              <a:t>''</a:t>
            </a:r>
            <a:r>
              <a:rPr lang="en-US" sz="1000" dirty="0">
                <a:solidFill>
                  <a:srgbClr val="E6EDF3"/>
                </a:solidFill>
                <a:latin typeface="Courier New" pitchFamily="34" charset="0"/>
                <a:ea typeface="Courier New" pitchFamily="34" charset="-122"/>
                <a:cs typeface="Courier New" pitchFamily="34" charset="-120"/>
              </a:rPr>
              <a:t>, (</a:t>
            </a:r>
            <a:r>
              <a:rPr lang="en-US" sz="1000" dirty="0">
                <a:solidFill>
                  <a:srgbClr val="9ECBFF"/>
                </a:solidFill>
                <a:latin typeface="Courier New" pitchFamily="34" charset="0"/>
                <a:ea typeface="Courier New" pitchFamily="34" charset="-122"/>
                <a:cs typeface="Courier New" pitchFamily="34" charset="-120"/>
              </a:rPr>
              <a:t>'sig'</a:t>
            </a:r>
            <a:r>
              <a:rPr lang="en-US" sz="1000" dirty="0">
                <a:solidFill>
                  <a:srgbClr val="E6EDF3"/>
                </a:solidFill>
                <a:latin typeface="Courier New" pitchFamily="34" charset="0"/>
                <a:ea typeface="Courier New" pitchFamily="34" charset="-122"/>
                <a:cs typeface="Courier New" pitchFamily="34" charset="-120"/>
              </a:rPr>
              <a:t>, </a:t>
            </a:r>
            <a:r>
              <a:rPr lang="en-US" sz="1000" dirty="0">
                <a:solidFill>
                  <a:srgbClr val="FFD28A"/>
                </a:solidFill>
                <a:latin typeface="Courier New" pitchFamily="34" charset="0"/>
                <a:ea typeface="Courier New" pitchFamily="34" charset="-122"/>
                <a:cs typeface="Courier New" pitchFamily="34" charset="-120"/>
              </a:rPr>
              <a:t>1</a:t>
            </a:r>
            <a:r>
              <a:rPr lang="en-US" sz="1000" dirty="0">
                <a:solidFill>
                  <a:srgbClr val="E6EDF3"/>
                </a:solidFill>
                <a:latin typeface="Courier New" pitchFamily="34" charset="0"/>
                <a:ea typeface="Courier New" pitchFamily="34" charset="-122"/>
                <a:cs typeface="Courier New" pitchFamily="34" charset="-120"/>
              </a:rPr>
              <a:t>), (</a:t>
            </a:r>
            <a:r>
              <a:rPr lang="en-US" sz="1000" dirty="0">
                <a:solidFill>
                  <a:srgbClr val="9ECBFF"/>
                </a:solidFill>
                <a:latin typeface="Courier New" pitchFamily="34" charset="0"/>
                <a:ea typeface="Courier New" pitchFamily="34" charset="-122"/>
                <a:cs typeface="Courier New" pitchFamily="34" charset="-120"/>
              </a:rPr>
              <a:t>'sig'</a:t>
            </a:r>
            <a:r>
              <a:rPr lang="en-US" sz="1000" dirty="0">
                <a:solidFill>
                  <a:srgbClr val="E6EDF3"/>
                </a:solidFill>
                <a:latin typeface="Courier New" pitchFamily="34" charset="0"/>
                <a:ea typeface="Courier New" pitchFamily="34" charset="-122"/>
                <a:cs typeface="Courier New" pitchFamily="34" charset="-120"/>
              </a:rPr>
              <a:t>, </a:t>
            </a:r>
            <a:r>
              <a:rPr lang="en-US" sz="1000" dirty="0">
                <a:solidFill>
                  <a:srgbClr val="FFD28A"/>
                </a:solidFill>
                <a:latin typeface="Courier New" pitchFamily="34" charset="0"/>
                <a:ea typeface="Courier New" pitchFamily="34" charset="-122"/>
                <a:cs typeface="Courier New" pitchFamily="34" charset="-120"/>
              </a:rPr>
              <a:t>0</a:t>
            </a:r>
            <a:r>
              <a:rPr lang="en-US" sz="1000" dirty="0">
                <a:solidFill>
                  <a:srgbClr val="E6EDF3"/>
                </a:solidFill>
                <a:latin typeface="Courier New" pitchFamily="34" charset="0"/>
                <a:ea typeface="Courier New" pitchFamily="34" charset="-122"/>
                <a:cs typeface="Courier New" pitchFamily="34" charset="-120"/>
              </a:rPr>
              <a:t>)]</a:t>
            </a:r>
            <a:endParaRPr lang="en-US" sz="1000" dirty="0"/>
          </a:p>
          <a:p>
            <a:pPr indent="0" marL="0">
              <a:buNone/>
            </a:pPr>
            <a:r>
              <a:rPr lang="en-US" sz="1000" b="1" dirty="0">
                <a:solidFill>
                  <a:srgbClr val="D97A14"/>
                </a:solidFill>
                <a:latin typeface="Courier New" pitchFamily="34" charset="0"/>
                <a:ea typeface="Courier New" pitchFamily="34" charset="-122"/>
                <a:cs typeface="Courier New" pitchFamily="34" charset="-120"/>
              </a:rPr>
              <a:t>&gt;&gt;&gt; </a:t>
            </a:r>
            <a:r>
              <a:rPr lang="en-US" sz="1000" dirty="0">
                <a:solidFill>
                  <a:srgbClr val="E6EDF3"/>
                </a:solidFill>
                <a:latin typeface="Courier New" pitchFamily="34" charset="0"/>
                <a:ea typeface="Courier New" pitchFamily="34" charset="-122"/>
                <a:cs typeface="Courier New" pitchFamily="34" charset="-120"/>
              </a:rPr>
              <a:t>ok = K.tr_spend([s], </a:t>
            </a:r>
            <a:r>
              <a:rPr lang="en-US" sz="1000" dirty="0">
                <a:solidFill>
                  <a:srgbClr val="FFD28A"/>
                </a:solidFill>
                <a:latin typeface="Courier New" pitchFamily="34" charset="0"/>
                <a:ea typeface="Courier New" pitchFamily="34" charset="-122"/>
                <a:cs typeface="Courier New" pitchFamily="34" charset="-120"/>
              </a:rPr>
              <a:t>0</a:t>
            </a:r>
            <a:r>
              <a:rPr lang="en-US" sz="1000" dirty="0">
                <a:solidFill>
                  <a:srgbClr val="E6EDF3"/>
                </a:solidFill>
                <a:latin typeface="Courier New" pitchFamily="34" charset="0"/>
                <a:ea typeface="Courier New" pitchFamily="34" charset="-122"/>
                <a:cs typeface="Courier New" pitchFamily="34" charset="-120"/>
              </a:rPr>
              <a:t>, items)[</a:t>
            </a:r>
            <a:r>
              <a:rPr lang="en-US" sz="1000" dirty="0">
                <a:solidFill>
                  <a:srgbClr val="FFD28A"/>
                </a:solidFill>
                <a:latin typeface="Courier New" pitchFamily="34" charset="0"/>
                <a:ea typeface="Courier New" pitchFamily="34" charset="-122"/>
                <a:cs typeface="Courier New" pitchFamily="34" charset="-120"/>
              </a:rPr>
              <a:t>0</a:t>
            </a:r>
            <a:r>
              <a:rPr lang="en-US" sz="1000" dirty="0">
                <a:solidFill>
                  <a:srgbClr val="E6EDF3"/>
                </a:solidFill>
                <a:latin typeface="Courier New" pitchFamily="34" charset="0"/>
                <a:ea typeface="Courier New" pitchFamily="34" charset="-122"/>
                <a:cs typeface="Courier New" pitchFamily="34" charset="-120"/>
              </a:rPr>
              <a:t>]</a:t>
            </a:r>
            <a:endParaRPr lang="en-US" sz="1000" dirty="0"/>
          </a:p>
        </p:txBody>
      </p:sp>
      <p:sp>
        <p:nvSpPr>
          <p:cNvPr id="10" name="Shape 8"/>
          <p:cNvSpPr/>
          <p:nvPr/>
        </p:nvSpPr>
        <p:spPr>
          <a:xfrm>
            <a:off x="457200" y="2918765"/>
            <a:ext cx="5074920" cy="806501"/>
          </a:xfrm>
          <a:prstGeom prst="roundRect">
            <a:avLst>
              <a:gd name="adj" fmla="val 9070"/>
            </a:avLst>
          </a:prstGeom>
          <a:solidFill>
            <a:srgbClr val="23272E"/>
          </a:solidFill>
          <a:ln w="12700">
            <a:solidFill>
              <a:srgbClr val="23272E"/>
            </a:solidFill>
            <a:prstDash val="solid"/>
          </a:ln>
        </p:spPr>
      </p:sp>
      <p:sp>
        <p:nvSpPr>
          <p:cNvPr id="11" name="Text 9"/>
          <p:cNvSpPr txBox="1"/>
          <p:nvPr/>
        </p:nvSpPr>
        <p:spPr>
          <a:xfrm>
            <a:off x="603504" y="2991917"/>
            <a:ext cx="4800600" cy="678485"/>
          </a:xfrm>
          <a:prstGeom prst="rect">
            <a:avLst/>
          </a:prstGeom>
          <a:noFill/>
          <a:ln/>
        </p:spPr>
        <p:txBody>
          <a:bodyPr wrap="square" lIns="0" tIns="0" rIns="0" bIns="0" rtlCol="0" anchor="t"/>
          <a:lstStyle/>
          <a:p>
            <a:pPr indent="0" marL="0">
              <a:buNone/>
            </a:pPr>
            <a:r>
              <a:rPr lang="en-US" sz="1000" b="1" dirty="0">
                <a:solidFill>
                  <a:srgbClr val="D97A14"/>
                </a:solidFill>
                <a:latin typeface="Courier New" pitchFamily="34" charset="0"/>
                <a:ea typeface="Courier New" pitchFamily="34" charset="-122"/>
                <a:cs typeface="Courier New" pitchFamily="34" charset="-120"/>
              </a:rPr>
              <a:t>&gt;&gt;&gt; </a:t>
            </a:r>
            <a:r>
              <a:rPr lang="en-US" sz="1000" dirty="0">
                <a:solidFill>
                  <a:srgbClr val="E6EDF3"/>
                </a:solidFill>
                <a:latin typeface="Courier New" pitchFamily="34" charset="0"/>
                <a:ea typeface="Courier New" pitchFamily="34" charset="-122"/>
                <a:cs typeface="Courier New" pitchFamily="34" charset="-120"/>
              </a:rPr>
              <a:t>few = K.tr_spend([s], </a:t>
            </a:r>
            <a:r>
              <a:rPr lang="en-US" sz="1000" dirty="0">
                <a:solidFill>
                  <a:srgbClr val="FFD28A"/>
                </a:solidFill>
                <a:latin typeface="Courier New" pitchFamily="34" charset="0"/>
                <a:ea typeface="Courier New" pitchFamily="34" charset="-122"/>
                <a:cs typeface="Courier New" pitchFamily="34" charset="-120"/>
              </a:rPr>
              <a:t>0</a:t>
            </a:r>
            <a:r>
              <a:rPr lang="en-US" sz="1000" dirty="0">
                <a:solidFill>
                  <a:srgbClr val="E6EDF3"/>
                </a:solidFill>
                <a:latin typeface="Courier New" pitchFamily="34" charset="0"/>
                <a:ea typeface="Courier New" pitchFamily="34" charset="-122"/>
                <a:cs typeface="Courier New" pitchFamily="34" charset="-120"/>
              </a:rPr>
              <a:t>, [b</a:t>
            </a:r>
            <a:r>
              <a:rPr lang="en-US" sz="1000" dirty="0">
                <a:solidFill>
                  <a:srgbClr val="9ECBFF"/>
                </a:solidFill>
                <a:latin typeface="Courier New" pitchFamily="34" charset="0"/>
                <a:ea typeface="Courier New" pitchFamily="34" charset="-122"/>
                <a:cs typeface="Courier New" pitchFamily="34" charset="-120"/>
              </a:rPr>
              <a:t>''</a:t>
            </a:r>
            <a:r>
              <a:rPr lang="en-US" sz="1000" dirty="0">
                <a:solidFill>
                  <a:srgbClr val="E6EDF3"/>
                </a:solidFill>
                <a:latin typeface="Courier New" pitchFamily="34" charset="0"/>
                <a:ea typeface="Courier New" pitchFamily="34" charset="-122"/>
                <a:cs typeface="Courier New" pitchFamily="34" charset="-120"/>
              </a:rPr>
              <a:t>, b</a:t>
            </a:r>
            <a:r>
              <a:rPr lang="en-US" sz="1000" dirty="0">
                <a:solidFill>
                  <a:srgbClr val="9ECBFF"/>
                </a:solidFill>
                <a:latin typeface="Courier New" pitchFamily="34" charset="0"/>
                <a:ea typeface="Courier New" pitchFamily="34" charset="-122"/>
                <a:cs typeface="Courier New" pitchFamily="34" charset="-120"/>
              </a:rPr>
              <a:t>''</a:t>
            </a:r>
            <a:r>
              <a:rPr lang="en-US" sz="1000" dirty="0">
                <a:solidFill>
                  <a:srgbClr val="E6EDF3"/>
                </a:solidFill>
                <a:latin typeface="Courier New" pitchFamily="34" charset="0"/>
                <a:ea typeface="Courier New" pitchFamily="34" charset="-122"/>
                <a:cs typeface="Courier New" pitchFamily="34" charset="-120"/>
              </a:rPr>
              <a:t>, (</a:t>
            </a:r>
            <a:r>
              <a:rPr lang="en-US" sz="1000" dirty="0">
                <a:solidFill>
                  <a:srgbClr val="9ECBFF"/>
                </a:solidFill>
                <a:latin typeface="Courier New" pitchFamily="34" charset="0"/>
                <a:ea typeface="Courier New" pitchFamily="34" charset="-122"/>
                <a:cs typeface="Courier New" pitchFamily="34" charset="-120"/>
              </a:rPr>
              <a:t>'sig'</a:t>
            </a:r>
            <a:r>
              <a:rPr lang="en-US" sz="1000" dirty="0">
                <a:solidFill>
                  <a:srgbClr val="E6EDF3"/>
                </a:solidFill>
                <a:latin typeface="Courier New" pitchFamily="34" charset="0"/>
                <a:ea typeface="Courier New" pitchFamily="34" charset="-122"/>
                <a:cs typeface="Courier New" pitchFamily="34" charset="-120"/>
              </a:rPr>
              <a:t>, </a:t>
            </a:r>
            <a:r>
              <a:rPr lang="en-US" sz="1000" dirty="0">
                <a:solidFill>
                  <a:srgbClr val="FFD28A"/>
                </a:solidFill>
                <a:latin typeface="Courier New" pitchFamily="34" charset="0"/>
                <a:ea typeface="Courier New" pitchFamily="34" charset="-122"/>
                <a:cs typeface="Courier New" pitchFamily="34" charset="-120"/>
              </a:rPr>
              <a:t>0</a:t>
            </a:r>
            <a:r>
              <a:rPr lang="en-US" sz="1000" dirty="0">
                <a:solidFill>
                  <a:srgbClr val="E6EDF3"/>
                </a:solidFill>
                <a:latin typeface="Courier New" pitchFamily="34" charset="0"/>
                <a:ea typeface="Courier New" pitchFamily="34" charset="-122"/>
                <a:cs typeface="Courier New" pitchFamily="34" charset="-120"/>
              </a:rPr>
              <a:t>)])[</a:t>
            </a:r>
            <a:r>
              <a:rPr lang="en-US" sz="1000" dirty="0">
                <a:solidFill>
                  <a:srgbClr val="FFD28A"/>
                </a:solidFill>
                <a:latin typeface="Courier New" pitchFamily="34" charset="0"/>
                <a:ea typeface="Courier New" pitchFamily="34" charset="-122"/>
                <a:cs typeface="Courier New" pitchFamily="34" charset="-120"/>
              </a:rPr>
              <a:t>0</a:t>
            </a:r>
            <a:r>
              <a:rPr lang="en-US" sz="1000" dirty="0">
                <a:solidFill>
                  <a:srgbClr val="E6EDF3"/>
                </a:solidFill>
                <a:latin typeface="Courier New" pitchFamily="34" charset="0"/>
                <a:ea typeface="Courier New" pitchFamily="34" charset="-122"/>
                <a:cs typeface="Courier New" pitchFamily="34" charset="-120"/>
              </a:rPr>
              <a:t>]</a:t>
            </a:r>
            <a:endParaRPr lang="en-US" sz="1000" dirty="0"/>
          </a:p>
          <a:p>
            <a:pPr indent="0" marL="0">
              <a:buNone/>
            </a:pPr>
            <a:r>
              <a:rPr lang="en-US" sz="1000" b="1" dirty="0">
                <a:solidFill>
                  <a:srgbClr val="D97A14"/>
                </a:solidFill>
                <a:latin typeface="Courier New" pitchFamily="34" charset="0"/>
                <a:ea typeface="Courier New" pitchFamily="34" charset="-122"/>
                <a:cs typeface="Courier New" pitchFamily="34" charset="-120"/>
              </a:rPr>
              <a:t>&gt;&gt;&gt; </a:t>
            </a:r>
            <a:r>
              <a:rPr lang="en-US" sz="1000" dirty="0">
                <a:solidFill>
                  <a:srgbClr val="E6EDF3"/>
                </a:solidFill>
                <a:latin typeface="Courier New" pitchFamily="34" charset="0"/>
                <a:ea typeface="Courier New" pitchFamily="34" charset="-122"/>
                <a:cs typeface="Courier New" pitchFamily="34" charset="-120"/>
              </a:rPr>
              <a:t>res = [ok, few]</a:t>
            </a:r>
            <a:endParaRPr lang="en-US" sz="1000" dirty="0"/>
          </a:p>
          <a:p>
            <a:pPr indent="0" marL="0">
              <a:buNone/>
            </a:pPr>
            <a:r>
              <a:rPr lang="en-US" sz="1000" b="1" dirty="0">
                <a:solidFill>
                  <a:srgbClr val="D97A14"/>
                </a:solidFill>
                <a:latin typeface="Courier New" pitchFamily="34" charset="0"/>
                <a:ea typeface="Courier New" pitchFamily="34" charset="-122"/>
                <a:cs typeface="Courier New" pitchFamily="34" charset="-120"/>
              </a:rPr>
              <a:t>&gt;&gt;&gt; </a:t>
            </a:r>
            <a:r>
              <a:rPr lang="en-US" sz="1000" dirty="0">
                <a:solidFill>
                  <a:srgbClr val="E6EDF3"/>
                </a:solidFill>
                <a:latin typeface="Courier New" pitchFamily="34" charset="0"/>
                <a:ea typeface="Courier New" pitchFamily="34" charset="-122"/>
                <a:cs typeface="Courier New" pitchFamily="34" charset="-120"/>
              </a:rPr>
              <a:t>res</a:t>
            </a:r>
            <a:endParaRPr lang="en-US" sz="1000" dirty="0"/>
          </a:p>
          <a:p>
            <a:pPr indent="0" marL="0">
              <a:buNone/>
            </a:pPr>
            <a:r>
              <a:rPr lang="en-US" sz="1000" dirty="0">
                <a:solidFill>
                  <a:srgbClr val="7EE787"/>
                </a:solidFill>
                <a:latin typeface="Courier New" pitchFamily="34" charset="0"/>
                <a:ea typeface="Courier New" pitchFamily="34" charset="-122"/>
                <a:cs typeface="Courier New" pitchFamily="34" charset="-120"/>
              </a:rPr>
              <a:t>['OK', 'EVAL_FALSE']</a:t>
            </a:r>
            <a:endParaRPr lang="en-US" sz="1000" dirty="0"/>
          </a:p>
        </p:txBody>
      </p:sp>
      <p:sp>
        <p:nvSpPr>
          <p:cNvPr id="12" name="Shape 10"/>
          <p:cNvSpPr/>
          <p:nvPr/>
        </p:nvSpPr>
        <p:spPr>
          <a:xfrm>
            <a:off x="365760" y="1252728"/>
            <a:ext cx="237744" cy="237744"/>
          </a:xfrm>
          <a:prstGeom prst="ellipse">
            <a:avLst/>
          </a:prstGeom>
          <a:solidFill>
            <a:srgbClr val="D97A14"/>
          </a:solidFill>
          <a:ln w="12700">
            <a:solidFill>
              <a:srgbClr val="D97A14"/>
            </a:solidFill>
            <a:prstDash val="solid"/>
          </a:ln>
        </p:spPr>
      </p:sp>
      <p:sp>
        <p:nvSpPr>
          <p:cNvPr id="13" name="Text 11"/>
          <p:cNvSpPr txBox="1"/>
          <p:nvPr/>
        </p:nvSpPr>
        <p:spPr>
          <a:xfrm>
            <a:off x="365760" y="1252728"/>
            <a:ext cx="237744" cy="237744"/>
          </a:xfrm>
          <a:prstGeom prst="rect">
            <a:avLst/>
          </a:prstGeom>
          <a:noFill/>
          <a:ln/>
        </p:spPr>
        <p:txBody>
          <a:bodyPr wrap="square" lIns="0" tIns="0" rIns="0" bIns="0" rtlCol="0" anchor="ctr"/>
          <a:lstStyle/>
          <a:p>
            <a:pPr algn="ctr" indent="0" marL="0">
              <a:buNone/>
            </a:pPr>
            <a:r>
              <a:rPr lang="en-US" sz="1100" b="1" dirty="0">
                <a:solidFill>
                  <a:srgbClr val="FFFFFF"/>
                </a:solidFill>
                <a:latin typeface="Cambria" pitchFamily="34" charset="0"/>
                <a:ea typeface="Cambria" pitchFamily="34" charset="-122"/>
                <a:cs typeface="Cambria" pitchFamily="34" charset="-120"/>
              </a:rPr>
              <a:t>1</a:t>
            </a:r>
            <a:endParaRPr lang="en-US" sz="1100" dirty="0"/>
          </a:p>
        </p:txBody>
      </p:sp>
      <p:sp>
        <p:nvSpPr>
          <p:cNvPr id="14" name="Text 12"/>
          <p:cNvSpPr txBox="1"/>
          <p:nvPr/>
        </p:nvSpPr>
        <p:spPr>
          <a:xfrm>
            <a:off x="731520" y="1829714"/>
            <a:ext cx="4800600" cy="210312"/>
          </a:xfrm>
          <a:prstGeom prst="rect">
            <a:avLst/>
          </a:prstGeom>
          <a:noFill/>
          <a:ln/>
        </p:spPr>
        <p:txBody>
          <a:bodyPr wrap="square" lIns="0" tIns="0" rIns="0" bIns="0" rtlCol="0" anchor="t"/>
          <a:lstStyle/>
          <a:p>
            <a:pPr indent="0" marL="0">
              <a:buNone/>
            </a:pPr>
            <a:r>
              <a:rPr lang="en-US" sz="1050" dirty="0">
                <a:solidFill>
                  <a:srgbClr val="2B2622"/>
                </a:solidFill>
                <a:latin typeface="Calibri" pitchFamily="34" charset="0"/>
                <a:ea typeface="Calibri" pitchFamily="34" charset="-122"/>
                <a:cs typeface="Calibri" pitchFamily="34" charset="-120"/>
              </a:rPr>
              <a:t>The same 2-of-3 rule written with CHECKSIGADD is a byte shorter.</a:t>
            </a:r>
            <a:endParaRPr lang="en-US" sz="1050" dirty="0"/>
          </a:p>
        </p:txBody>
      </p:sp>
      <p:sp>
        <p:nvSpPr>
          <p:cNvPr id="15" name="Shape 13"/>
          <p:cNvSpPr/>
          <p:nvPr/>
        </p:nvSpPr>
        <p:spPr>
          <a:xfrm>
            <a:off x="365760" y="2049170"/>
            <a:ext cx="237744" cy="237744"/>
          </a:xfrm>
          <a:prstGeom prst="ellipse">
            <a:avLst/>
          </a:prstGeom>
          <a:solidFill>
            <a:srgbClr val="D97A14"/>
          </a:solidFill>
          <a:ln w="12700">
            <a:solidFill>
              <a:srgbClr val="D97A14"/>
            </a:solidFill>
            <a:prstDash val="solid"/>
          </a:ln>
        </p:spPr>
      </p:sp>
      <p:sp>
        <p:nvSpPr>
          <p:cNvPr id="16" name="Text 14"/>
          <p:cNvSpPr txBox="1"/>
          <p:nvPr/>
        </p:nvSpPr>
        <p:spPr>
          <a:xfrm>
            <a:off x="365760" y="2049170"/>
            <a:ext cx="237744" cy="237744"/>
          </a:xfrm>
          <a:prstGeom prst="rect">
            <a:avLst/>
          </a:prstGeom>
          <a:noFill/>
          <a:ln/>
        </p:spPr>
        <p:txBody>
          <a:bodyPr wrap="square" lIns="0" tIns="0" rIns="0" bIns="0" rtlCol="0" anchor="ctr"/>
          <a:lstStyle/>
          <a:p>
            <a:pPr algn="ctr" indent="0" marL="0">
              <a:buNone/>
            </a:pPr>
            <a:r>
              <a:rPr lang="en-US" sz="1100" b="1" dirty="0">
                <a:solidFill>
                  <a:srgbClr val="FFFFFF"/>
                </a:solidFill>
                <a:latin typeface="Cambria" pitchFamily="34" charset="0"/>
                <a:ea typeface="Cambria" pitchFamily="34" charset="-122"/>
                <a:cs typeface="Cambria" pitchFamily="34" charset="-120"/>
              </a:rPr>
              <a:t>2</a:t>
            </a:r>
            <a:endParaRPr lang="en-US" sz="1100" dirty="0"/>
          </a:p>
        </p:txBody>
      </p:sp>
      <p:sp>
        <p:nvSpPr>
          <p:cNvPr id="17" name="Text 15"/>
          <p:cNvSpPr txBox="1"/>
          <p:nvPr/>
        </p:nvSpPr>
        <p:spPr>
          <a:xfrm>
            <a:off x="731520" y="2626157"/>
            <a:ext cx="4800600" cy="210312"/>
          </a:xfrm>
          <a:prstGeom prst="rect">
            <a:avLst/>
          </a:prstGeom>
          <a:noFill/>
          <a:ln/>
        </p:spPr>
        <p:txBody>
          <a:bodyPr wrap="square" lIns="0" tIns="0" rIns="0" bIns="0" rtlCol="0" anchor="t"/>
          <a:lstStyle/>
          <a:p>
            <a:pPr indent="0" marL="0">
              <a:buNone/>
            </a:pPr>
            <a:r>
              <a:rPr lang="en-US" sz="1050" dirty="0">
                <a:solidFill>
                  <a:srgbClr val="2B2622"/>
                </a:solidFill>
                <a:latin typeface="Calibri" pitchFamily="34" charset="0"/>
                <a:ea typeface="Calibri" pitchFamily="34" charset="-122"/>
                <a:cs typeface="Calibri" pitchFamily="34" charset="-120"/>
              </a:rPr>
              <a:t>Two valid signatures and one empty slot satisfy it.</a:t>
            </a:r>
            <a:endParaRPr lang="en-US" sz="1050" dirty="0"/>
          </a:p>
        </p:txBody>
      </p:sp>
      <p:sp>
        <p:nvSpPr>
          <p:cNvPr id="18" name="Shape 16"/>
          <p:cNvSpPr/>
          <p:nvPr/>
        </p:nvSpPr>
        <p:spPr>
          <a:xfrm>
            <a:off x="365760" y="2845613"/>
            <a:ext cx="237744" cy="237744"/>
          </a:xfrm>
          <a:prstGeom prst="ellipse">
            <a:avLst/>
          </a:prstGeom>
          <a:solidFill>
            <a:srgbClr val="D97A14"/>
          </a:solidFill>
          <a:ln w="12700">
            <a:solidFill>
              <a:srgbClr val="D97A14"/>
            </a:solidFill>
            <a:prstDash val="solid"/>
          </a:ln>
        </p:spPr>
      </p:sp>
      <p:sp>
        <p:nvSpPr>
          <p:cNvPr id="19" name="Text 17"/>
          <p:cNvSpPr txBox="1"/>
          <p:nvPr/>
        </p:nvSpPr>
        <p:spPr>
          <a:xfrm>
            <a:off x="365760" y="2845613"/>
            <a:ext cx="237744" cy="237744"/>
          </a:xfrm>
          <a:prstGeom prst="rect">
            <a:avLst/>
          </a:prstGeom>
          <a:noFill/>
          <a:ln/>
        </p:spPr>
        <p:txBody>
          <a:bodyPr wrap="square" lIns="0" tIns="0" rIns="0" bIns="0" rtlCol="0" anchor="ctr"/>
          <a:lstStyle/>
          <a:p>
            <a:pPr algn="ctr" indent="0" marL="0">
              <a:buNone/>
            </a:pPr>
            <a:r>
              <a:rPr lang="en-US" sz="1100" b="1" dirty="0">
                <a:solidFill>
                  <a:srgbClr val="FFFFFF"/>
                </a:solidFill>
                <a:latin typeface="Cambria" pitchFamily="34" charset="0"/>
                <a:ea typeface="Cambria" pitchFamily="34" charset="-122"/>
                <a:cs typeface="Cambria" pitchFamily="34" charset="-120"/>
              </a:rPr>
              <a:t>3</a:t>
            </a:r>
            <a:endParaRPr lang="en-US" sz="1100" dirty="0"/>
          </a:p>
        </p:txBody>
      </p:sp>
      <p:sp>
        <p:nvSpPr>
          <p:cNvPr id="20" name="Text 18"/>
          <p:cNvSpPr txBox="1"/>
          <p:nvPr/>
        </p:nvSpPr>
        <p:spPr>
          <a:xfrm>
            <a:off x="731520" y="3752698"/>
            <a:ext cx="4800600" cy="374904"/>
          </a:xfrm>
          <a:prstGeom prst="rect">
            <a:avLst/>
          </a:prstGeom>
          <a:noFill/>
          <a:ln/>
        </p:spPr>
        <p:txBody>
          <a:bodyPr wrap="square" lIns="0" tIns="0" rIns="0" bIns="0" rtlCol="0" anchor="t"/>
          <a:lstStyle/>
          <a:p>
            <a:pPr indent="0" marL="0">
              <a:buNone/>
            </a:pPr>
            <a:r>
              <a:rPr lang="en-US" sz="1050" dirty="0">
                <a:solidFill>
                  <a:srgbClr val="2B2622"/>
                </a:solidFill>
                <a:latin typeface="Calibri" pitchFamily="34" charset="0"/>
                <a:ea typeface="Calibri" pitchFamily="34" charset="-122"/>
                <a:cs typeface="Calibri" pitchFamily="34" charset="-120"/>
              </a:rPr>
              <a:t>With only one valid signature the count stays below two and the script fails.</a:t>
            </a:r>
            <a:endParaRPr lang="en-US" sz="1050" dirty="0"/>
          </a:p>
        </p:txBody>
      </p:sp>
      <p:sp>
        <p:nvSpPr>
          <p:cNvPr id="21" name="Text 19"/>
          <p:cNvSpPr txBox="1"/>
          <p:nvPr/>
        </p:nvSpPr>
        <p:spPr>
          <a:xfrm>
            <a:off x="457200" y="4173322"/>
            <a:ext cx="5074920" cy="182880"/>
          </a:xfrm>
          <a:prstGeom prst="rect">
            <a:avLst/>
          </a:prstGeom>
          <a:noFill/>
          <a:ln/>
        </p:spPr>
        <p:txBody>
          <a:bodyPr wrap="square" lIns="0" tIns="0" rIns="0" bIns="0" rtlCol="0" anchor="ctr"/>
          <a:lstStyle/>
          <a:p>
            <a:pPr algn="l" indent="0" marL="0">
              <a:buNone/>
            </a:pPr>
            <a:r>
              <a:rPr lang="en-US" sz="900" i="1" dirty="0">
                <a:solidFill>
                  <a:srgbClr val="6E655C"/>
                </a:solidFill>
                <a:latin typeface="Calibri" pitchFamily="34" charset="0"/>
                <a:ea typeface="Calibri" pitchFamily="34" charset="-122"/>
                <a:cs typeface="Calibri" pitchFamily="34" charset="-120"/>
              </a:rPr>
              <a:t>run under Python 3.14.6 - L, K and the chapter setup as on slide 7</a:t>
            </a:r>
            <a:endParaRPr lang="en-US" sz="900" dirty="0"/>
          </a:p>
        </p:txBody>
      </p:sp>
      <p:sp>
        <p:nvSpPr>
          <p:cNvPr id="22" name="Text 20"/>
          <p:cNvSpPr txBox="1"/>
          <p:nvPr/>
        </p:nvSpPr>
        <p:spPr>
          <a:xfrm>
            <a:off x="5715000" y="1325880"/>
            <a:ext cx="2971800" cy="402336"/>
          </a:xfrm>
          <a:prstGeom prst="rect">
            <a:avLst/>
          </a:prstGeom>
          <a:noFill/>
          <a:ln/>
        </p:spPr>
        <p:txBody>
          <a:bodyPr wrap="square" lIns="0" tIns="0" rIns="0" bIns="0" rtlCol="0" anchor="t"/>
          <a:lstStyle/>
          <a:p>
            <a:pPr algn="l" indent="0" marL="0">
              <a:buNone/>
            </a:pPr>
            <a:r>
              <a:rPr lang="en-US" sz="1100" b="1" dirty="0">
                <a:solidFill>
                  <a:srgbClr val="6E655C"/>
                </a:solidFill>
                <a:latin typeface="Calibri" pitchFamily="34" charset="0"/>
                <a:ea typeface="Calibri" pitchFamily="34" charset="-122"/>
                <a:cs typeface="Calibri" pitchFamily="34" charset="-120"/>
              </a:rPr>
              <a:t>Result: the same rule, two ways of writing it</a:t>
            </a:r>
            <a:endParaRPr lang="en-US" sz="11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5715000" y="1773936"/>
          <a:ext cx="2971800" cy="914400"/>
        </p:xfrm>
        <a:graphic>
          <a:graphicData uri="http://schemas.openxmlformats.org/drawingml/2006/table">
            <a:tbl>
              <a:tblPr/>
              <a:tblGrid>
                <a:gridCol w="1691640"/>
                <a:gridCol w="1280160"/>
              </a:tblGrid>
              <a:tr h="274320">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Quantity</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solidFill>
                      <a:srgbClr val="2B2622"/>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Result</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solidFill>
                      <a:srgbClr val="2B2622"/>
                    </a:solidFill>
                  </a:tcPr>
                </a:tc>
              </a:tr>
              <a:tr h="274320">
                <a:tc>
                  <a:txBody>
                    <a:bodyPr/>
                    <a:lstStyle/>
                    <a:p>
                      <a:pPr indent="0" marL="0">
                        <a:buNone/>
                      </a:pPr>
                      <a:r>
                        <a:rPr lang="en-US" sz="950" dirty="0">
                          <a:solidFill>
                            <a:srgbClr val="2B2622"/>
                          </a:solidFill>
                          <a:latin typeface="Calibri" pitchFamily="34" charset="0"/>
                          <a:ea typeface="Calibri" pitchFamily="34" charset="-122"/>
                          <a:cs typeface="Calibri" pitchFamily="34" charset="-120"/>
                        </a:rPr>
                        <a:t>CHECKSIGADD script, bytes</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c>
                  <a:txBody>
                    <a:bodyPr/>
                    <a:lstStyle/>
                    <a:p>
                      <a:pPr indent="0" marL="0">
                        <a:buNone/>
                      </a:pPr>
                      <a:r>
                        <a:rPr lang="en-US" sz="950" dirty="0">
                          <a:solidFill>
                            <a:srgbClr val="2B2622"/>
                          </a:solidFill>
                          <a:latin typeface="Calibri" pitchFamily="34" charset="0"/>
                          <a:ea typeface="Calibri" pitchFamily="34" charset="-122"/>
                          <a:cs typeface="Calibri" pitchFamily="34" charset="-120"/>
                        </a:rPr>
                        <a:t>104</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r>
              <a:tr h="274320">
                <a:tc>
                  <a:txBody>
                    <a:bodyPr/>
                    <a:lstStyle/>
                    <a:p>
                      <a:pPr indent="0" marL="0">
                        <a:buNone/>
                      </a:pPr>
                      <a:r>
                        <a:rPr lang="en-US" sz="950" dirty="0">
                          <a:solidFill>
                            <a:srgbClr val="2B2622"/>
                          </a:solidFill>
                          <a:latin typeface="Calibri" pitchFamily="34" charset="0"/>
                          <a:ea typeface="Calibri" pitchFamily="34" charset="-122"/>
                          <a:cs typeface="Calibri" pitchFamily="34" charset="-120"/>
                        </a:rPr>
                        <a:t>Old 2-of-3 script, bytes</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c>
                  <a:txBody>
                    <a:bodyPr/>
                    <a:lstStyle/>
                    <a:p>
                      <a:pPr indent="0" marL="0">
                        <a:buNone/>
                      </a:pPr>
                      <a:r>
                        <a:rPr lang="en-US" sz="950" dirty="0">
                          <a:solidFill>
                            <a:srgbClr val="2B2622"/>
                          </a:solidFill>
                          <a:latin typeface="Calibri" pitchFamily="34" charset="0"/>
                          <a:ea typeface="Calibri" pitchFamily="34" charset="-122"/>
                          <a:cs typeface="Calibri" pitchFamily="34" charset="-120"/>
                        </a:rPr>
                        <a:t>105</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r>
              <a:tr h="274320">
                <a:tc>
                  <a:txBody>
                    <a:bodyPr/>
                    <a:lstStyle/>
                    <a:p>
                      <a:pPr indent="0" marL="0">
                        <a:buNone/>
                      </a:pPr>
                      <a:r>
                        <a:rPr lang="en-US" sz="950" dirty="0">
                          <a:solidFill>
                            <a:srgbClr val="2B2622"/>
                          </a:solidFill>
                          <a:latin typeface="Calibri" pitchFamily="34" charset="0"/>
                          <a:ea typeface="Calibri" pitchFamily="34" charset="-122"/>
                          <a:cs typeface="Calibri" pitchFamily="34" charset="-120"/>
                        </a:rPr>
                        <a:t>Two signatures</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c>
                  <a:txBody>
                    <a:bodyPr/>
                    <a:lstStyle/>
                    <a:p>
                      <a:pPr indent="0" marL="0">
                        <a:buNone/>
                      </a:pPr>
                      <a:r>
                        <a:rPr lang="en-US" sz="950" dirty="0">
                          <a:solidFill>
                            <a:srgbClr val="2B2622"/>
                          </a:solidFill>
                          <a:latin typeface="Calibri" pitchFamily="34" charset="0"/>
                          <a:ea typeface="Calibri" pitchFamily="34" charset="-122"/>
                          <a:cs typeface="Calibri" pitchFamily="34" charset="-120"/>
                        </a:rPr>
                        <a:t>OK</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r>
              <a:tr h="274320">
                <a:tc>
                  <a:txBody>
                    <a:bodyPr/>
                    <a:lstStyle/>
                    <a:p>
                      <a:pPr indent="0" marL="0">
                        <a:buNone/>
                      </a:pPr>
                      <a:r>
                        <a:rPr lang="en-US" sz="950" dirty="0">
                          <a:solidFill>
                            <a:srgbClr val="2B2622"/>
                          </a:solidFill>
                          <a:latin typeface="Calibri" pitchFamily="34" charset="0"/>
                          <a:ea typeface="Calibri" pitchFamily="34" charset="-122"/>
                          <a:cs typeface="Calibri" pitchFamily="34" charset="-120"/>
                        </a:rPr>
                        <a:t>One signature</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c>
                  <a:txBody>
                    <a:bodyPr/>
                    <a:lstStyle/>
                    <a:p>
                      <a:pPr indent="0" marL="0">
                        <a:buNone/>
                      </a:pPr>
                      <a:r>
                        <a:rPr lang="en-US" sz="950" dirty="0">
                          <a:solidFill>
                            <a:srgbClr val="2B2622"/>
                          </a:solidFill>
                          <a:latin typeface="Calibri" pitchFamily="34" charset="0"/>
                          <a:ea typeface="Calibri" pitchFamily="34" charset="-122"/>
                          <a:cs typeface="Calibri" pitchFamily="34" charset="-120"/>
                        </a:rPr>
                        <a:t>EVAL_FALSE</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r>
            </a:tbl>
          </a:graphicData>
        </a:graphic>
      </p:graphicFrame>
      <p:sp>
        <p:nvSpPr>
          <p:cNvPr id="24" name="Text 21"/>
          <p:cNvSpPr txBox="1"/>
          <p:nvPr/>
        </p:nvSpPr>
        <p:spPr>
          <a:xfrm>
            <a:off x="5715000" y="3419856"/>
            <a:ext cx="2971800" cy="603504"/>
          </a:xfrm>
          <a:prstGeom prst="rect">
            <a:avLst/>
          </a:prstGeom>
          <a:noFill/>
          <a:ln/>
        </p:spPr>
        <p:txBody>
          <a:bodyPr wrap="square" lIns="0" tIns="0" rIns="0" bIns="0" rtlCol="0" anchor="t"/>
          <a:lstStyle/>
          <a:p>
            <a:pPr algn="l" indent="0" marL="0">
              <a:buNone/>
            </a:pPr>
            <a:r>
              <a:rPr lang="en-US" sz="1150" i="1" dirty="0">
                <a:solidFill>
                  <a:srgbClr val="2B2622"/>
                </a:solidFill>
                <a:latin typeface="Calibri" pitchFamily="34" charset="0"/>
                <a:ea typeface="Calibri" pitchFamily="34" charset="-122"/>
                <a:cs typeface="Calibri" pitchFamily="34" charset="-120"/>
              </a:rPr>
              <a:t>The tapscript form is one byte shorter. Two valid signatures reach the count; one does not.</a:t>
            </a:r>
            <a:endParaRPr lang="en-US" sz="1150" dirty="0"/>
          </a:p>
        </p:txBody>
      </p:sp>
      <p:sp>
        <p:nvSpPr>
          <p:cNvPr id="25" name="Shape 22"/>
          <p:cNvSpPr/>
          <p:nvPr/>
        </p:nvSpPr>
        <p:spPr>
          <a:xfrm>
            <a:off x="457200" y="4636008"/>
            <a:ext cx="91440" cy="310896"/>
          </a:xfrm>
          <a:prstGeom prst="rect">
            <a:avLst/>
          </a:prstGeom>
          <a:solidFill>
            <a:srgbClr val="D97A14"/>
          </a:solidFill>
          <a:ln w="12700">
            <a:solidFill>
              <a:srgbClr val="D97A14"/>
            </a:solidFill>
            <a:prstDash val="solid"/>
          </a:ln>
        </p:spPr>
      </p:sp>
      <p:sp>
        <p:nvSpPr>
          <p:cNvPr id="26" name="Text 23"/>
          <p:cNvSpPr txBox="1"/>
          <p:nvPr/>
        </p:nvSpPr>
        <p:spPr>
          <a:xfrm>
            <a:off x="658368" y="4599432"/>
            <a:ext cx="6949440" cy="384048"/>
          </a:xfrm>
          <a:prstGeom prst="rect">
            <a:avLst/>
          </a:prstGeom>
          <a:noFill/>
          <a:ln/>
        </p:spPr>
        <p:txBody>
          <a:bodyPr wrap="square" lIns="0" tIns="0" rIns="0" bIns="0" rtlCol="0" anchor="ctr"/>
          <a:lstStyle/>
          <a:p>
            <a:pPr indent="0" marL="0">
              <a:buNone/>
            </a:pPr>
            <a:r>
              <a:rPr lang="en-US" sz="1350" b="1" i="1" dirty="0">
                <a:solidFill>
                  <a:srgbClr val="2B2622"/>
                </a:solidFill>
                <a:latin typeface="Cambria" pitchFamily="34" charset="0"/>
                <a:ea typeface="Cambria" pitchFamily="34" charset="-122"/>
                <a:cs typeface="Cambria" pitchFamily="34" charset="-120"/>
              </a:rPr>
              <a:t>Each valid signature adds one; an empty slot adds nothing</a:t>
            </a:r>
            <a:endParaRPr lang="en-US" sz="1350" dirty="0"/>
          </a:p>
        </p:txBody>
      </p:sp>
      <p:sp>
        <p:nvSpPr>
          <p:cNvPr id="27" name="Text 24"/>
          <p:cNvSpPr txBox="1"/>
          <p:nvPr/>
        </p:nvSpPr>
        <p:spPr>
          <a:xfrm>
            <a:off x="7863840" y="4645152"/>
            <a:ext cx="868680" cy="310896"/>
          </a:xfrm>
          <a:prstGeom prst="rect">
            <a:avLst/>
          </a:prstGeom>
          <a:noFill/>
          <a:ln/>
        </p:spPr>
        <p:txBody>
          <a:bodyPr wrap="square" lIns="0" tIns="0" rIns="0" bIns="0" rtlCol="0" anchor="ctr"/>
          <a:lstStyle/>
          <a:p>
            <a:pPr algn="r" indent="0" marL="0">
              <a:buNone/>
            </a:pPr>
            <a:r>
              <a:rPr lang="en-US" sz="1100" dirty="0">
                <a:solidFill>
                  <a:srgbClr val="6E655C"/>
                </a:solidFill>
                <a:latin typeface="Calibri" pitchFamily="34" charset="0"/>
                <a:ea typeface="Calibri" pitchFamily="34" charset="-122"/>
                <a:cs typeface="Calibri" pitchFamily="34" charset="-120"/>
              </a:rPr>
              <a:t>57 / 61</a:t>
            </a:r>
            <a:endParaRPr lang="en-US" sz="11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AF6EF"/>
        </a:solidFill>
      </p:bgPr>
    </p:bg>
    <p:spTree>
      <p:nvGrpSpPr>
        <p:cNvPr id="1" name=""/>
        <p:cNvGrpSpPr/>
        <p:nvPr/>
      </p:nvGrpSpPr>
      <p:grpSpPr>
        <a:xfrm>
          <a:off x="0" y="0"/>
          <a:ext cx="0" cy="0"/>
          <a:chOff x="0" y="0"/>
          <a:chExt cx="0" cy="0"/>
        </a:xfrm>
      </p:grpSpPr>
      <p:sp>
        <p:nvSpPr>
          <p:cNvPr id="2" name="Shape 0"/>
          <p:cNvSpPr/>
          <p:nvPr/>
        </p:nvSpPr>
        <p:spPr>
          <a:xfrm>
            <a:off x="457200" y="347472"/>
            <a:ext cx="566928" cy="384048"/>
          </a:xfrm>
          <a:prstGeom prst="roundRect">
            <a:avLst>
              <a:gd name="adj" fmla="val 19048"/>
            </a:avLst>
          </a:prstGeom>
          <a:solidFill>
            <a:srgbClr val="D97A14"/>
          </a:solidFill>
          <a:ln w="12700">
            <a:solidFill>
              <a:srgbClr val="D97A14"/>
            </a:solidFill>
            <a:prstDash val="solid"/>
          </a:ln>
        </p:spPr>
      </p:sp>
      <p:sp>
        <p:nvSpPr>
          <p:cNvPr id="3" name="Text 1"/>
          <p:cNvSpPr txBox="1"/>
          <p:nvPr/>
        </p:nvSpPr>
        <p:spPr>
          <a:xfrm>
            <a:off x="457200" y="347472"/>
            <a:ext cx="56692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4" name="Text 2"/>
          <p:cNvSpPr txBox="1"/>
          <p:nvPr/>
        </p:nvSpPr>
        <p:spPr>
          <a:xfrm>
            <a:off x="1143000" y="237744"/>
            <a:ext cx="7543800" cy="566928"/>
          </a:xfrm>
          <a:prstGeom prst="rect">
            <a:avLst/>
          </a:prstGeom>
          <a:noFill/>
          <a:ln/>
        </p:spPr>
        <p:txBody>
          <a:bodyPr wrap="square" lIns="0" tIns="0" rIns="0" bIns="0" rtlCol="0" anchor="ctr"/>
          <a:lstStyle/>
          <a:p>
            <a:pPr indent="0" marL="0">
              <a:buNone/>
            </a:pPr>
            <a:r>
              <a:rPr lang="en-US" sz="2800" b="1" dirty="0">
                <a:solidFill>
                  <a:srgbClr val="2B2622"/>
                </a:solidFill>
                <a:latin typeface="Cambria" pitchFamily="34" charset="0"/>
                <a:ea typeface="Cambria" pitchFamily="34" charset="-122"/>
                <a:cs typeface="Cambria" pitchFamily="34" charset="-120"/>
              </a:rPr>
              <a:t>Opcodes kept for upgrades</a:t>
            </a:r>
            <a:endParaRPr lang="en-US" sz="2800" dirty="0"/>
          </a:p>
        </p:txBody>
      </p:sp>
      <p:sp>
        <p:nvSpPr>
          <p:cNvPr id="5" name="Text 3"/>
          <p:cNvSpPr txBox="1"/>
          <p:nvPr/>
        </p:nvSpPr>
        <p:spPr>
          <a:xfrm>
            <a:off x="1143000" y="786384"/>
            <a:ext cx="7543800" cy="310896"/>
          </a:xfrm>
          <a:prstGeom prst="rect">
            <a:avLst/>
          </a:prstGeom>
          <a:noFill/>
          <a:ln/>
        </p:spPr>
        <p:txBody>
          <a:bodyPr wrap="square" lIns="0" tIns="0" rIns="0" bIns="0" rtlCol="0" anchor="ctr"/>
          <a:lstStyle/>
          <a:p>
            <a:pPr indent="0" marL="0">
              <a:buNone/>
            </a:pPr>
            <a:r>
              <a:rPr lang="en-US" sz="1300" i="1" dirty="0">
                <a:solidFill>
                  <a:srgbClr val="6E655C"/>
                </a:solidFill>
                <a:latin typeface="Calibri" pitchFamily="34" charset="0"/>
                <a:ea typeface="Calibri" pitchFamily="34" charset="-122"/>
                <a:cs typeface="Calibri" pitchFamily="34" charset="-120"/>
              </a:rPr>
              <a:t>OP_SUCCESS in tapscript</a:t>
            </a:r>
            <a:endParaRPr lang="en-US" sz="1300" dirty="0"/>
          </a:p>
        </p:txBody>
      </p:sp>
      <p:sp>
        <p:nvSpPr>
          <p:cNvPr id="6" name="Shape 4"/>
          <p:cNvSpPr/>
          <p:nvPr/>
        </p:nvSpPr>
        <p:spPr>
          <a:xfrm>
            <a:off x="457200" y="1325880"/>
            <a:ext cx="5074920" cy="311810"/>
          </a:xfrm>
          <a:prstGeom prst="roundRect">
            <a:avLst>
              <a:gd name="adj" fmla="val 23460"/>
            </a:avLst>
          </a:prstGeom>
          <a:solidFill>
            <a:srgbClr val="23272E"/>
          </a:solidFill>
          <a:ln w="12700">
            <a:solidFill>
              <a:srgbClr val="23272E"/>
            </a:solidFill>
            <a:prstDash val="solid"/>
          </a:ln>
        </p:spPr>
      </p:sp>
      <p:sp>
        <p:nvSpPr>
          <p:cNvPr id="7" name="Text 5"/>
          <p:cNvSpPr txBox="1"/>
          <p:nvPr/>
        </p:nvSpPr>
        <p:spPr>
          <a:xfrm>
            <a:off x="603504" y="1399032"/>
            <a:ext cx="4800600" cy="183794"/>
          </a:xfrm>
          <a:prstGeom prst="rect">
            <a:avLst/>
          </a:prstGeom>
          <a:noFill/>
          <a:ln/>
        </p:spPr>
        <p:txBody>
          <a:bodyPr wrap="square" lIns="0" tIns="0" rIns="0" bIns="0" rtlCol="0" anchor="t"/>
          <a:lstStyle/>
          <a:p>
            <a:pPr indent="0" marL="0">
              <a:buNone/>
            </a:pPr>
            <a:r>
              <a:rPr lang="en-US" sz="1000" b="1" dirty="0">
                <a:solidFill>
                  <a:srgbClr val="D97A14"/>
                </a:solidFill>
                <a:latin typeface="Courier New" pitchFamily="34" charset="0"/>
                <a:ea typeface="Courier New" pitchFamily="34" charset="-122"/>
                <a:cs typeface="Courier New" pitchFamily="34" charset="-120"/>
              </a:rPr>
              <a:t>&gt;&gt;&gt; </a:t>
            </a:r>
            <a:r>
              <a:rPr lang="en-US" sz="1000" dirty="0">
                <a:solidFill>
                  <a:srgbClr val="E6EDF3"/>
                </a:solidFill>
                <a:latin typeface="Courier New" pitchFamily="34" charset="0"/>
                <a:ea typeface="Courier New" pitchFamily="34" charset="-122"/>
                <a:cs typeface="Courier New" pitchFamily="34" charset="-120"/>
              </a:rPr>
              <a:t>n = sum(</a:t>
            </a:r>
            <a:r>
              <a:rPr lang="en-US" sz="1000" dirty="0">
                <a:solidFill>
                  <a:srgbClr val="FFD28A"/>
                </a:solidFill>
                <a:latin typeface="Courier New" pitchFamily="34" charset="0"/>
                <a:ea typeface="Courier New" pitchFamily="34" charset="-122"/>
                <a:cs typeface="Courier New" pitchFamily="34" charset="-120"/>
              </a:rPr>
              <a:t>1</a:t>
            </a:r>
            <a:r>
              <a:rPr lang="en-US" sz="1000" dirty="0">
                <a:solidFill>
                  <a:srgbClr val="E6EDF3"/>
                </a:solidFill>
                <a:latin typeface="Courier New" pitchFamily="34" charset="0"/>
                <a:ea typeface="Courier New" pitchFamily="34" charset="-122"/>
                <a:cs typeface="Courier New" pitchFamily="34" charset="-120"/>
              </a:rPr>
              <a:t> </a:t>
            </a:r>
            <a:r>
              <a:rPr lang="en-US" sz="1000" b="1" dirty="0">
                <a:solidFill>
                  <a:srgbClr val="F2A860"/>
                </a:solidFill>
                <a:latin typeface="Courier New" pitchFamily="34" charset="0"/>
                <a:ea typeface="Courier New" pitchFamily="34" charset="-122"/>
                <a:cs typeface="Courier New" pitchFamily="34" charset="-120"/>
              </a:rPr>
              <a:t>for</a:t>
            </a:r>
            <a:r>
              <a:rPr lang="en-US" sz="1000" dirty="0">
                <a:solidFill>
                  <a:srgbClr val="E6EDF3"/>
                </a:solidFill>
                <a:latin typeface="Courier New" pitchFamily="34" charset="0"/>
                <a:ea typeface="Courier New" pitchFamily="34" charset="-122"/>
                <a:cs typeface="Courier New" pitchFamily="34" charset="-120"/>
              </a:rPr>
              <a:t> o </a:t>
            </a:r>
            <a:r>
              <a:rPr lang="en-US" sz="1000" b="1" dirty="0">
                <a:solidFill>
                  <a:srgbClr val="F2A860"/>
                </a:solidFill>
                <a:latin typeface="Courier New" pitchFamily="34" charset="0"/>
                <a:ea typeface="Courier New" pitchFamily="34" charset="-122"/>
                <a:cs typeface="Courier New" pitchFamily="34" charset="-120"/>
              </a:rPr>
              <a:t>in</a:t>
            </a:r>
            <a:r>
              <a:rPr lang="en-US" sz="1000" dirty="0">
                <a:solidFill>
                  <a:srgbClr val="E6EDF3"/>
                </a:solidFill>
                <a:latin typeface="Courier New" pitchFamily="34" charset="0"/>
                <a:ea typeface="Courier New" pitchFamily="34" charset="-122"/>
                <a:cs typeface="Courier New" pitchFamily="34" charset="-120"/>
              </a:rPr>
              <a:t> range(</a:t>
            </a:r>
            <a:r>
              <a:rPr lang="en-US" sz="1000" dirty="0">
                <a:solidFill>
                  <a:srgbClr val="FFD28A"/>
                </a:solidFill>
                <a:latin typeface="Courier New" pitchFamily="34" charset="0"/>
                <a:ea typeface="Courier New" pitchFamily="34" charset="-122"/>
                <a:cs typeface="Courier New" pitchFamily="34" charset="-120"/>
              </a:rPr>
              <a:t>256</a:t>
            </a:r>
            <a:r>
              <a:rPr lang="en-US" sz="1000" dirty="0">
                <a:solidFill>
                  <a:srgbClr val="E6EDF3"/>
                </a:solidFill>
                <a:latin typeface="Courier New" pitchFamily="34" charset="0"/>
                <a:ea typeface="Courier New" pitchFamily="34" charset="-122"/>
                <a:cs typeface="Courier New" pitchFamily="34" charset="-120"/>
              </a:rPr>
              <a:t>) </a:t>
            </a:r>
            <a:r>
              <a:rPr lang="en-US" sz="1000" b="1" dirty="0">
                <a:solidFill>
                  <a:srgbClr val="F2A860"/>
                </a:solidFill>
                <a:latin typeface="Courier New" pitchFamily="34" charset="0"/>
                <a:ea typeface="Courier New" pitchFamily="34" charset="-122"/>
                <a:cs typeface="Courier New" pitchFamily="34" charset="-120"/>
              </a:rPr>
              <a:t>if</a:t>
            </a:r>
            <a:r>
              <a:rPr lang="en-US" sz="1000" dirty="0">
                <a:solidFill>
                  <a:srgbClr val="E6EDF3"/>
                </a:solidFill>
                <a:latin typeface="Courier New" pitchFamily="34" charset="0"/>
                <a:ea typeface="Courier New" pitchFamily="34" charset="-122"/>
                <a:cs typeface="Courier New" pitchFamily="34" charset="-120"/>
              </a:rPr>
              <a:t> L.is_op_success(o))</a:t>
            </a:r>
            <a:endParaRPr lang="en-US" sz="1000" dirty="0"/>
          </a:p>
        </p:txBody>
      </p:sp>
      <p:sp>
        <p:nvSpPr>
          <p:cNvPr id="8" name="Shape 6"/>
          <p:cNvSpPr/>
          <p:nvPr/>
        </p:nvSpPr>
        <p:spPr>
          <a:xfrm>
            <a:off x="457200" y="1957730"/>
            <a:ext cx="5074920" cy="311810"/>
          </a:xfrm>
          <a:prstGeom prst="roundRect">
            <a:avLst>
              <a:gd name="adj" fmla="val 23460"/>
            </a:avLst>
          </a:prstGeom>
          <a:solidFill>
            <a:srgbClr val="23272E"/>
          </a:solidFill>
          <a:ln w="12700">
            <a:solidFill>
              <a:srgbClr val="23272E"/>
            </a:solidFill>
            <a:prstDash val="solid"/>
          </a:ln>
        </p:spPr>
      </p:sp>
      <p:sp>
        <p:nvSpPr>
          <p:cNvPr id="9" name="Text 7"/>
          <p:cNvSpPr txBox="1"/>
          <p:nvPr/>
        </p:nvSpPr>
        <p:spPr>
          <a:xfrm>
            <a:off x="603504" y="2030882"/>
            <a:ext cx="4800600" cy="183794"/>
          </a:xfrm>
          <a:prstGeom prst="rect">
            <a:avLst/>
          </a:prstGeom>
          <a:noFill/>
          <a:ln/>
        </p:spPr>
        <p:txBody>
          <a:bodyPr wrap="square" lIns="0" tIns="0" rIns="0" bIns="0" rtlCol="0" anchor="t"/>
          <a:lstStyle/>
          <a:p>
            <a:pPr indent="0" marL="0">
              <a:buNone/>
            </a:pPr>
            <a:r>
              <a:rPr lang="en-US" sz="1000" b="1" dirty="0">
                <a:solidFill>
                  <a:srgbClr val="D97A14"/>
                </a:solidFill>
                <a:latin typeface="Courier New" pitchFamily="34" charset="0"/>
                <a:ea typeface="Courier New" pitchFamily="34" charset="-122"/>
                <a:cs typeface="Courier New" pitchFamily="34" charset="-120"/>
              </a:rPr>
              <a:t>&gt;&gt;&gt; </a:t>
            </a:r>
            <a:r>
              <a:rPr lang="en-US" sz="1000" dirty="0">
                <a:solidFill>
                  <a:srgbClr val="E6EDF3"/>
                </a:solidFill>
                <a:latin typeface="Courier New" pitchFamily="34" charset="0"/>
                <a:ea typeface="Courier New" pitchFamily="34" charset="-122"/>
                <a:cs typeface="Courier New" pitchFamily="34" charset="-120"/>
              </a:rPr>
              <a:t>ok = K.tr_spend([bytes([0x51, </a:t>
            </a:r>
            <a:r>
              <a:rPr lang="en-US" sz="1000" dirty="0">
                <a:solidFill>
                  <a:srgbClr val="FFD28A"/>
                </a:solidFill>
                <a:latin typeface="Courier New" pitchFamily="34" charset="0"/>
                <a:ea typeface="Courier New" pitchFamily="34" charset="-122"/>
                <a:cs typeface="Courier New" pitchFamily="34" charset="-120"/>
              </a:rPr>
              <a:t>152</a:t>
            </a:r>
            <a:r>
              <a:rPr lang="en-US" sz="1000" dirty="0">
                <a:solidFill>
                  <a:srgbClr val="E6EDF3"/>
                </a:solidFill>
                <a:latin typeface="Courier New" pitchFamily="34" charset="0"/>
                <a:ea typeface="Courier New" pitchFamily="34" charset="-122"/>
                <a:cs typeface="Courier New" pitchFamily="34" charset="-120"/>
              </a:rPr>
              <a:t>])], </a:t>
            </a:r>
            <a:r>
              <a:rPr lang="en-US" sz="1000" dirty="0">
                <a:solidFill>
                  <a:srgbClr val="FFD28A"/>
                </a:solidFill>
                <a:latin typeface="Courier New" pitchFamily="34" charset="0"/>
                <a:ea typeface="Courier New" pitchFamily="34" charset="-122"/>
                <a:cs typeface="Courier New" pitchFamily="34" charset="-120"/>
              </a:rPr>
              <a:t>0</a:t>
            </a:r>
            <a:r>
              <a:rPr lang="en-US" sz="1000" dirty="0">
                <a:solidFill>
                  <a:srgbClr val="E6EDF3"/>
                </a:solidFill>
                <a:latin typeface="Courier New" pitchFamily="34" charset="0"/>
                <a:ea typeface="Courier New" pitchFamily="34" charset="-122"/>
                <a:cs typeface="Courier New" pitchFamily="34" charset="-120"/>
              </a:rPr>
              <a:t>, [])[</a:t>
            </a:r>
            <a:r>
              <a:rPr lang="en-US" sz="1000" dirty="0">
                <a:solidFill>
                  <a:srgbClr val="FFD28A"/>
                </a:solidFill>
                <a:latin typeface="Courier New" pitchFamily="34" charset="0"/>
                <a:ea typeface="Courier New" pitchFamily="34" charset="-122"/>
                <a:cs typeface="Courier New" pitchFamily="34" charset="-120"/>
              </a:rPr>
              <a:t>0</a:t>
            </a:r>
            <a:r>
              <a:rPr lang="en-US" sz="1000" dirty="0">
                <a:solidFill>
                  <a:srgbClr val="E6EDF3"/>
                </a:solidFill>
                <a:latin typeface="Courier New" pitchFamily="34" charset="0"/>
                <a:ea typeface="Courier New" pitchFamily="34" charset="-122"/>
                <a:cs typeface="Courier New" pitchFamily="34" charset="-120"/>
              </a:rPr>
              <a:t>]</a:t>
            </a:r>
            <a:endParaRPr lang="en-US" sz="1000" dirty="0"/>
          </a:p>
        </p:txBody>
      </p:sp>
      <p:sp>
        <p:nvSpPr>
          <p:cNvPr id="10" name="Shape 8"/>
          <p:cNvSpPr/>
          <p:nvPr/>
        </p:nvSpPr>
        <p:spPr>
          <a:xfrm>
            <a:off x="457200" y="2589581"/>
            <a:ext cx="5074920" cy="806501"/>
          </a:xfrm>
          <a:prstGeom prst="roundRect">
            <a:avLst>
              <a:gd name="adj" fmla="val 9070"/>
            </a:avLst>
          </a:prstGeom>
          <a:solidFill>
            <a:srgbClr val="23272E"/>
          </a:solidFill>
          <a:ln w="12700">
            <a:solidFill>
              <a:srgbClr val="23272E"/>
            </a:solidFill>
            <a:prstDash val="solid"/>
          </a:ln>
        </p:spPr>
      </p:sp>
      <p:sp>
        <p:nvSpPr>
          <p:cNvPr id="11" name="Text 9"/>
          <p:cNvSpPr txBox="1"/>
          <p:nvPr/>
        </p:nvSpPr>
        <p:spPr>
          <a:xfrm>
            <a:off x="603504" y="2662733"/>
            <a:ext cx="4800600" cy="678485"/>
          </a:xfrm>
          <a:prstGeom prst="rect">
            <a:avLst/>
          </a:prstGeom>
          <a:noFill/>
          <a:ln/>
        </p:spPr>
        <p:txBody>
          <a:bodyPr wrap="square" lIns="0" tIns="0" rIns="0" bIns="0" rtlCol="0" anchor="t"/>
          <a:lstStyle/>
          <a:p>
            <a:pPr indent="0" marL="0">
              <a:buNone/>
            </a:pPr>
            <a:r>
              <a:rPr lang="en-US" sz="1000" b="1" dirty="0">
                <a:solidFill>
                  <a:srgbClr val="D97A14"/>
                </a:solidFill>
                <a:latin typeface="Courier New" pitchFamily="34" charset="0"/>
                <a:ea typeface="Courier New" pitchFamily="34" charset="-122"/>
                <a:cs typeface="Courier New" pitchFamily="34" charset="-120"/>
              </a:rPr>
              <a:t>&gt;&gt;&gt; </a:t>
            </a:r>
            <a:r>
              <a:rPr lang="en-US" sz="1000" dirty="0">
                <a:solidFill>
                  <a:srgbClr val="E6EDF3"/>
                </a:solidFill>
                <a:latin typeface="Courier New" pitchFamily="34" charset="0"/>
                <a:ea typeface="Courier New" pitchFamily="34" charset="-122"/>
                <a:cs typeface="Courier New" pitchFamily="34" charset="-120"/>
              </a:rPr>
              <a:t>old = L.run(</a:t>
            </a:r>
            <a:r>
              <a:rPr lang="en-US" sz="1000" dirty="0">
                <a:solidFill>
                  <a:srgbClr val="9ECBFF"/>
                </a:solidFill>
                <a:latin typeface="Courier New" pitchFamily="34" charset="0"/>
                <a:ea typeface="Courier New" pitchFamily="34" charset="-122"/>
                <a:cs typeface="Courier New" pitchFamily="34" charset="-120"/>
              </a:rPr>
              <a:t>'OP_1 OP_LSHIFT'</a:t>
            </a:r>
            <a:r>
              <a:rPr lang="en-US" sz="1000" dirty="0">
                <a:solidFill>
                  <a:srgbClr val="E6EDF3"/>
                </a:solidFill>
                <a:latin typeface="Courier New" pitchFamily="34" charset="0"/>
                <a:ea typeface="Courier New" pitchFamily="34" charset="-122"/>
                <a:cs typeface="Courier New" pitchFamily="34" charset="-120"/>
              </a:rPr>
              <a:t>, </a:t>
            </a:r>
            <a:r>
              <a:rPr lang="en-US" sz="1000" dirty="0">
                <a:solidFill>
                  <a:srgbClr val="9ECBFF"/>
                </a:solidFill>
                <a:latin typeface="Courier New" pitchFamily="34" charset="0"/>
                <a:ea typeface="Courier New" pitchFamily="34" charset="-122"/>
                <a:cs typeface="Courier New" pitchFamily="34" charset="-120"/>
              </a:rPr>
              <a:t>'OP_1'</a:t>
            </a:r>
            <a:r>
              <a:rPr lang="en-US" sz="1000" dirty="0">
                <a:solidFill>
                  <a:srgbClr val="E6EDF3"/>
                </a:solidFill>
                <a:latin typeface="Courier New" pitchFamily="34" charset="0"/>
                <a:ea typeface="Courier New" pitchFamily="34" charset="-122"/>
                <a:cs typeface="Courier New" pitchFamily="34" charset="-120"/>
              </a:rPr>
              <a:t>, flags=())</a:t>
            </a:r>
            <a:endParaRPr lang="en-US" sz="1000" dirty="0"/>
          </a:p>
          <a:p>
            <a:pPr indent="0" marL="0">
              <a:buNone/>
            </a:pPr>
            <a:r>
              <a:rPr lang="en-US" sz="1000" b="1" dirty="0">
                <a:solidFill>
                  <a:srgbClr val="D97A14"/>
                </a:solidFill>
                <a:latin typeface="Courier New" pitchFamily="34" charset="0"/>
                <a:ea typeface="Courier New" pitchFamily="34" charset="-122"/>
                <a:cs typeface="Courier New" pitchFamily="34" charset="-120"/>
              </a:rPr>
              <a:t>&gt;&gt;&gt; </a:t>
            </a:r>
            <a:r>
              <a:rPr lang="en-US" sz="1000" dirty="0">
                <a:solidFill>
                  <a:srgbClr val="E6EDF3"/>
                </a:solidFill>
                <a:latin typeface="Courier New" pitchFamily="34" charset="0"/>
                <a:ea typeface="Courier New" pitchFamily="34" charset="-122"/>
                <a:cs typeface="Courier New" pitchFamily="34" charset="-120"/>
              </a:rPr>
              <a:t>res = [n, ok, old]</a:t>
            </a:r>
            <a:endParaRPr lang="en-US" sz="1000" dirty="0"/>
          </a:p>
          <a:p>
            <a:pPr indent="0" marL="0">
              <a:buNone/>
            </a:pPr>
            <a:r>
              <a:rPr lang="en-US" sz="1000" b="1" dirty="0">
                <a:solidFill>
                  <a:srgbClr val="D97A14"/>
                </a:solidFill>
                <a:latin typeface="Courier New" pitchFamily="34" charset="0"/>
                <a:ea typeface="Courier New" pitchFamily="34" charset="-122"/>
                <a:cs typeface="Courier New" pitchFamily="34" charset="-120"/>
              </a:rPr>
              <a:t>&gt;&gt;&gt; </a:t>
            </a:r>
            <a:r>
              <a:rPr lang="en-US" sz="1000" dirty="0">
                <a:solidFill>
                  <a:srgbClr val="E6EDF3"/>
                </a:solidFill>
                <a:latin typeface="Courier New" pitchFamily="34" charset="0"/>
                <a:ea typeface="Courier New" pitchFamily="34" charset="-122"/>
                <a:cs typeface="Courier New" pitchFamily="34" charset="-120"/>
              </a:rPr>
              <a:t>res</a:t>
            </a:r>
            <a:endParaRPr lang="en-US" sz="1000" dirty="0"/>
          </a:p>
          <a:p>
            <a:pPr indent="0" marL="0">
              <a:buNone/>
            </a:pPr>
            <a:r>
              <a:rPr lang="en-US" sz="1000" dirty="0">
                <a:solidFill>
                  <a:srgbClr val="7EE787"/>
                </a:solidFill>
                <a:latin typeface="Courier New" pitchFamily="34" charset="0"/>
                <a:ea typeface="Courier New" pitchFamily="34" charset="-122"/>
                <a:cs typeface="Courier New" pitchFamily="34" charset="-120"/>
              </a:rPr>
              <a:t>[87, 'OK', 'DISABLED_OPCODE']</a:t>
            </a:r>
            <a:endParaRPr lang="en-US" sz="1000" dirty="0"/>
          </a:p>
        </p:txBody>
      </p:sp>
      <p:sp>
        <p:nvSpPr>
          <p:cNvPr id="12" name="Shape 10"/>
          <p:cNvSpPr/>
          <p:nvPr/>
        </p:nvSpPr>
        <p:spPr>
          <a:xfrm>
            <a:off x="365760" y="1252728"/>
            <a:ext cx="237744" cy="237744"/>
          </a:xfrm>
          <a:prstGeom prst="ellipse">
            <a:avLst/>
          </a:prstGeom>
          <a:solidFill>
            <a:srgbClr val="D97A14"/>
          </a:solidFill>
          <a:ln w="12700">
            <a:solidFill>
              <a:srgbClr val="D97A14"/>
            </a:solidFill>
            <a:prstDash val="solid"/>
          </a:ln>
        </p:spPr>
      </p:sp>
      <p:sp>
        <p:nvSpPr>
          <p:cNvPr id="13" name="Text 11"/>
          <p:cNvSpPr txBox="1"/>
          <p:nvPr/>
        </p:nvSpPr>
        <p:spPr>
          <a:xfrm>
            <a:off x="365760" y="1252728"/>
            <a:ext cx="237744" cy="237744"/>
          </a:xfrm>
          <a:prstGeom prst="rect">
            <a:avLst/>
          </a:prstGeom>
          <a:noFill/>
          <a:ln/>
        </p:spPr>
        <p:txBody>
          <a:bodyPr wrap="square" lIns="0" tIns="0" rIns="0" bIns="0" rtlCol="0" anchor="ctr"/>
          <a:lstStyle/>
          <a:p>
            <a:pPr algn="ctr" indent="0" marL="0">
              <a:buNone/>
            </a:pPr>
            <a:r>
              <a:rPr lang="en-US" sz="1100" b="1" dirty="0">
                <a:solidFill>
                  <a:srgbClr val="FFFFFF"/>
                </a:solidFill>
                <a:latin typeface="Cambria" pitchFamily="34" charset="0"/>
                <a:ea typeface="Cambria" pitchFamily="34" charset="-122"/>
                <a:cs typeface="Cambria" pitchFamily="34" charset="-120"/>
              </a:rPr>
              <a:t>1</a:t>
            </a:r>
            <a:endParaRPr lang="en-US" sz="1100" dirty="0"/>
          </a:p>
        </p:txBody>
      </p:sp>
      <p:sp>
        <p:nvSpPr>
          <p:cNvPr id="14" name="Text 12"/>
          <p:cNvSpPr txBox="1"/>
          <p:nvPr/>
        </p:nvSpPr>
        <p:spPr>
          <a:xfrm>
            <a:off x="731520" y="1665122"/>
            <a:ext cx="4800600" cy="210312"/>
          </a:xfrm>
          <a:prstGeom prst="rect">
            <a:avLst/>
          </a:prstGeom>
          <a:noFill/>
          <a:ln/>
        </p:spPr>
        <p:txBody>
          <a:bodyPr wrap="square" lIns="0" tIns="0" rIns="0" bIns="0" rtlCol="0" anchor="t"/>
          <a:lstStyle/>
          <a:p>
            <a:pPr indent="0" marL="0">
              <a:buNone/>
            </a:pPr>
            <a:r>
              <a:rPr lang="en-US" sz="1050" dirty="0">
                <a:solidFill>
                  <a:srgbClr val="2B2622"/>
                </a:solidFill>
                <a:latin typeface="Calibri" pitchFamily="34" charset="0"/>
                <a:ea typeface="Calibri" pitchFamily="34" charset="-122"/>
                <a:cs typeface="Calibri" pitchFamily="34" charset="-120"/>
              </a:rPr>
              <a:t>In tapscript, 87 opcode values succeed on sight.</a:t>
            </a:r>
            <a:endParaRPr lang="en-US" sz="1050" dirty="0"/>
          </a:p>
        </p:txBody>
      </p:sp>
      <p:sp>
        <p:nvSpPr>
          <p:cNvPr id="15" name="Shape 13"/>
          <p:cNvSpPr/>
          <p:nvPr/>
        </p:nvSpPr>
        <p:spPr>
          <a:xfrm>
            <a:off x="365760" y="1884578"/>
            <a:ext cx="237744" cy="237744"/>
          </a:xfrm>
          <a:prstGeom prst="ellipse">
            <a:avLst/>
          </a:prstGeom>
          <a:solidFill>
            <a:srgbClr val="D97A14"/>
          </a:solidFill>
          <a:ln w="12700">
            <a:solidFill>
              <a:srgbClr val="D97A14"/>
            </a:solidFill>
            <a:prstDash val="solid"/>
          </a:ln>
        </p:spPr>
      </p:sp>
      <p:sp>
        <p:nvSpPr>
          <p:cNvPr id="16" name="Text 14"/>
          <p:cNvSpPr txBox="1"/>
          <p:nvPr/>
        </p:nvSpPr>
        <p:spPr>
          <a:xfrm>
            <a:off x="365760" y="1884578"/>
            <a:ext cx="237744" cy="237744"/>
          </a:xfrm>
          <a:prstGeom prst="rect">
            <a:avLst/>
          </a:prstGeom>
          <a:noFill/>
          <a:ln/>
        </p:spPr>
        <p:txBody>
          <a:bodyPr wrap="square" lIns="0" tIns="0" rIns="0" bIns="0" rtlCol="0" anchor="ctr"/>
          <a:lstStyle/>
          <a:p>
            <a:pPr algn="ctr" indent="0" marL="0">
              <a:buNone/>
            </a:pPr>
            <a:r>
              <a:rPr lang="en-US" sz="1100" b="1" dirty="0">
                <a:solidFill>
                  <a:srgbClr val="FFFFFF"/>
                </a:solidFill>
                <a:latin typeface="Cambria" pitchFamily="34" charset="0"/>
                <a:ea typeface="Cambria" pitchFamily="34" charset="-122"/>
                <a:cs typeface="Cambria" pitchFamily="34" charset="-120"/>
              </a:rPr>
              <a:t>2</a:t>
            </a:r>
            <a:endParaRPr lang="en-US" sz="1100" dirty="0"/>
          </a:p>
        </p:txBody>
      </p:sp>
      <p:sp>
        <p:nvSpPr>
          <p:cNvPr id="17" name="Text 15"/>
          <p:cNvSpPr txBox="1"/>
          <p:nvPr/>
        </p:nvSpPr>
        <p:spPr>
          <a:xfrm>
            <a:off x="731520" y="2296973"/>
            <a:ext cx="4800600" cy="210312"/>
          </a:xfrm>
          <a:prstGeom prst="rect">
            <a:avLst/>
          </a:prstGeom>
          <a:noFill/>
          <a:ln/>
        </p:spPr>
        <p:txBody>
          <a:bodyPr wrap="square" lIns="0" tIns="0" rIns="0" bIns="0" rtlCol="0" anchor="t"/>
          <a:lstStyle/>
          <a:p>
            <a:pPr indent="0" marL="0">
              <a:buNone/>
            </a:pPr>
            <a:r>
              <a:rPr lang="en-US" sz="1050" dirty="0">
                <a:solidFill>
                  <a:srgbClr val="2B2622"/>
                </a:solidFill>
                <a:latin typeface="Calibri" pitchFamily="34" charset="0"/>
                <a:ea typeface="Calibri" pitchFamily="34" charset="-122"/>
                <a:cs typeface="Calibri" pitchFamily="34" charset="-120"/>
              </a:rPr>
              <a:t>A tapscript with opcode 152 succeeds at once.</a:t>
            </a:r>
            <a:endParaRPr lang="en-US" sz="1050" dirty="0"/>
          </a:p>
        </p:txBody>
      </p:sp>
      <p:sp>
        <p:nvSpPr>
          <p:cNvPr id="18" name="Shape 16"/>
          <p:cNvSpPr/>
          <p:nvPr/>
        </p:nvSpPr>
        <p:spPr>
          <a:xfrm>
            <a:off x="365760" y="2516429"/>
            <a:ext cx="237744" cy="237744"/>
          </a:xfrm>
          <a:prstGeom prst="ellipse">
            <a:avLst/>
          </a:prstGeom>
          <a:solidFill>
            <a:srgbClr val="D97A14"/>
          </a:solidFill>
          <a:ln w="12700">
            <a:solidFill>
              <a:srgbClr val="D97A14"/>
            </a:solidFill>
            <a:prstDash val="solid"/>
          </a:ln>
        </p:spPr>
      </p:sp>
      <p:sp>
        <p:nvSpPr>
          <p:cNvPr id="19" name="Text 17"/>
          <p:cNvSpPr txBox="1"/>
          <p:nvPr/>
        </p:nvSpPr>
        <p:spPr>
          <a:xfrm>
            <a:off x="365760" y="2516429"/>
            <a:ext cx="237744" cy="237744"/>
          </a:xfrm>
          <a:prstGeom prst="rect">
            <a:avLst/>
          </a:prstGeom>
          <a:noFill/>
          <a:ln/>
        </p:spPr>
        <p:txBody>
          <a:bodyPr wrap="square" lIns="0" tIns="0" rIns="0" bIns="0" rtlCol="0" anchor="ctr"/>
          <a:lstStyle/>
          <a:p>
            <a:pPr algn="ctr" indent="0" marL="0">
              <a:buNone/>
            </a:pPr>
            <a:r>
              <a:rPr lang="en-US" sz="1100" b="1" dirty="0">
                <a:solidFill>
                  <a:srgbClr val="FFFFFF"/>
                </a:solidFill>
                <a:latin typeface="Cambria" pitchFamily="34" charset="0"/>
                <a:ea typeface="Cambria" pitchFamily="34" charset="-122"/>
                <a:cs typeface="Cambria" pitchFamily="34" charset="-120"/>
              </a:rPr>
              <a:t>3</a:t>
            </a:r>
            <a:endParaRPr lang="en-US" sz="1100" dirty="0"/>
          </a:p>
        </p:txBody>
      </p:sp>
      <p:sp>
        <p:nvSpPr>
          <p:cNvPr id="20" name="Text 18"/>
          <p:cNvSpPr txBox="1"/>
          <p:nvPr/>
        </p:nvSpPr>
        <p:spPr>
          <a:xfrm>
            <a:off x="731520" y="3423514"/>
            <a:ext cx="4800600" cy="210312"/>
          </a:xfrm>
          <a:prstGeom prst="rect">
            <a:avLst/>
          </a:prstGeom>
          <a:noFill/>
          <a:ln/>
        </p:spPr>
        <p:txBody>
          <a:bodyPr wrap="square" lIns="0" tIns="0" rIns="0" bIns="0" rtlCol="0" anchor="t"/>
          <a:lstStyle/>
          <a:p>
            <a:pPr indent="0" marL="0">
              <a:buNone/>
            </a:pPr>
            <a:r>
              <a:rPr lang="en-US" sz="1050" dirty="0">
                <a:solidFill>
                  <a:srgbClr val="2B2622"/>
                </a:solidFill>
                <a:latin typeface="Calibri" pitchFamily="34" charset="0"/>
                <a:ea typeface="Calibri" pitchFamily="34" charset="-122"/>
                <a:cs typeface="Calibri" pitchFamily="34" charset="-120"/>
              </a:rPr>
              <a:t>The same word, a disabled shift, fails in an old script.</a:t>
            </a:r>
            <a:endParaRPr lang="en-US" sz="1050" dirty="0"/>
          </a:p>
        </p:txBody>
      </p:sp>
      <p:sp>
        <p:nvSpPr>
          <p:cNvPr id="21" name="Text 19"/>
          <p:cNvSpPr txBox="1"/>
          <p:nvPr/>
        </p:nvSpPr>
        <p:spPr>
          <a:xfrm>
            <a:off x="457200" y="3679546"/>
            <a:ext cx="5074920" cy="182880"/>
          </a:xfrm>
          <a:prstGeom prst="rect">
            <a:avLst/>
          </a:prstGeom>
          <a:noFill/>
          <a:ln/>
        </p:spPr>
        <p:txBody>
          <a:bodyPr wrap="square" lIns="0" tIns="0" rIns="0" bIns="0" rtlCol="0" anchor="ctr"/>
          <a:lstStyle/>
          <a:p>
            <a:pPr algn="l" indent="0" marL="0">
              <a:buNone/>
            </a:pPr>
            <a:r>
              <a:rPr lang="en-US" sz="900" i="1" dirty="0">
                <a:solidFill>
                  <a:srgbClr val="6E655C"/>
                </a:solidFill>
                <a:latin typeface="Calibri" pitchFamily="34" charset="0"/>
                <a:ea typeface="Calibri" pitchFamily="34" charset="-122"/>
                <a:cs typeface="Calibri" pitchFamily="34" charset="-120"/>
              </a:rPr>
              <a:t>run under Python 3.14.6 - L, K and the chapter setup as on slide 7</a:t>
            </a:r>
            <a:endParaRPr lang="en-US" sz="900" dirty="0"/>
          </a:p>
        </p:txBody>
      </p:sp>
      <p:sp>
        <p:nvSpPr>
          <p:cNvPr id="22" name="Text 20"/>
          <p:cNvSpPr txBox="1"/>
          <p:nvPr/>
        </p:nvSpPr>
        <p:spPr>
          <a:xfrm>
            <a:off x="5715000" y="1325880"/>
            <a:ext cx="2971800" cy="402336"/>
          </a:xfrm>
          <a:prstGeom prst="rect">
            <a:avLst/>
          </a:prstGeom>
          <a:noFill/>
          <a:ln/>
        </p:spPr>
        <p:txBody>
          <a:bodyPr wrap="square" lIns="0" tIns="0" rIns="0" bIns="0" rtlCol="0" anchor="t"/>
          <a:lstStyle/>
          <a:p>
            <a:pPr algn="l" indent="0" marL="0">
              <a:buNone/>
            </a:pPr>
            <a:r>
              <a:rPr lang="en-US" sz="1100" b="1" dirty="0">
                <a:solidFill>
                  <a:srgbClr val="6E655C"/>
                </a:solidFill>
                <a:latin typeface="Calibri" pitchFamily="34" charset="0"/>
                <a:ea typeface="Calibri" pitchFamily="34" charset="-122"/>
                <a:cs typeface="Calibri" pitchFamily="34" charset="-120"/>
              </a:rPr>
              <a:t>Result: unknown words in tapscript and in an old script</a:t>
            </a:r>
            <a:endParaRPr lang="en-US" sz="11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5715000" y="1773936"/>
          <a:ext cx="2971800" cy="914400"/>
        </p:xfrm>
        <a:graphic>
          <a:graphicData uri="http://schemas.openxmlformats.org/drawingml/2006/table">
            <a:tbl>
              <a:tblPr/>
              <a:tblGrid>
                <a:gridCol w="1554480"/>
                <a:gridCol w="1417320"/>
              </a:tblGrid>
              <a:tr h="274320">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Quantity</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solidFill>
                      <a:srgbClr val="2B2622"/>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Result</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solidFill>
                      <a:srgbClr val="2B2622"/>
                    </a:solidFill>
                  </a:tcPr>
                </a:tc>
              </a:tr>
              <a:tr h="274320">
                <a:tc>
                  <a:txBody>
                    <a:bodyPr/>
                    <a:lstStyle/>
                    <a:p>
                      <a:pPr indent="0" marL="0">
                        <a:buNone/>
                      </a:pPr>
                      <a:r>
                        <a:rPr lang="en-US" sz="950" dirty="0">
                          <a:solidFill>
                            <a:srgbClr val="2B2622"/>
                          </a:solidFill>
                          <a:latin typeface="Calibri" pitchFamily="34" charset="0"/>
                          <a:ea typeface="Calibri" pitchFamily="34" charset="-122"/>
                          <a:cs typeface="Calibri" pitchFamily="34" charset="-120"/>
                        </a:rPr>
                        <a:t>OP_SUCCESS values</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c>
                  <a:txBody>
                    <a:bodyPr/>
                    <a:lstStyle/>
                    <a:p>
                      <a:pPr indent="0" marL="0">
                        <a:buNone/>
                      </a:pPr>
                      <a:r>
                        <a:rPr lang="en-US" sz="950" dirty="0">
                          <a:solidFill>
                            <a:srgbClr val="2B2622"/>
                          </a:solidFill>
                          <a:latin typeface="Calibri" pitchFamily="34" charset="0"/>
                          <a:ea typeface="Calibri" pitchFamily="34" charset="-122"/>
                          <a:cs typeface="Calibri" pitchFamily="34" charset="-120"/>
                        </a:rPr>
                        <a:t>87</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r>
              <a:tr h="274320">
                <a:tc>
                  <a:txBody>
                    <a:bodyPr/>
                    <a:lstStyle/>
                    <a:p>
                      <a:pPr indent="0" marL="0">
                        <a:buNone/>
                      </a:pPr>
                      <a:r>
                        <a:rPr lang="en-US" sz="950" dirty="0">
                          <a:solidFill>
                            <a:srgbClr val="2B2622"/>
                          </a:solidFill>
                          <a:latin typeface="Calibri" pitchFamily="34" charset="0"/>
                          <a:ea typeface="Calibri" pitchFamily="34" charset="-122"/>
                          <a:cs typeface="Calibri" pitchFamily="34" charset="-120"/>
                        </a:rPr>
                        <a:t>Opcode 152 in tapscript</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c>
                  <a:txBody>
                    <a:bodyPr/>
                    <a:lstStyle/>
                    <a:p>
                      <a:pPr indent="0" marL="0">
                        <a:buNone/>
                      </a:pPr>
                      <a:r>
                        <a:rPr lang="en-US" sz="950" dirty="0">
                          <a:solidFill>
                            <a:srgbClr val="2B2622"/>
                          </a:solidFill>
                          <a:latin typeface="Calibri" pitchFamily="34" charset="0"/>
                          <a:ea typeface="Calibri" pitchFamily="34" charset="-122"/>
                          <a:cs typeface="Calibri" pitchFamily="34" charset="-120"/>
                        </a:rPr>
                        <a:t>OK</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r>
              <a:tr h="274320">
                <a:tc>
                  <a:txBody>
                    <a:bodyPr/>
                    <a:lstStyle/>
                    <a:p>
                      <a:pPr indent="0" marL="0">
                        <a:buNone/>
                      </a:pPr>
                      <a:r>
                        <a:rPr lang="en-US" sz="950" dirty="0">
                          <a:solidFill>
                            <a:srgbClr val="2B2622"/>
                          </a:solidFill>
                          <a:latin typeface="Calibri" pitchFamily="34" charset="0"/>
                          <a:ea typeface="Calibri" pitchFamily="34" charset="-122"/>
                          <a:cs typeface="Calibri" pitchFamily="34" charset="-120"/>
                        </a:rPr>
                        <a:t>Same word, old script</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c>
                  <a:txBody>
                    <a:bodyPr/>
                    <a:lstStyle/>
                    <a:p>
                      <a:pPr indent="0" marL="0">
                        <a:buNone/>
                      </a:pPr>
                      <a:r>
                        <a:rPr lang="en-US" sz="950" dirty="0">
                          <a:solidFill>
                            <a:srgbClr val="2B2622"/>
                          </a:solidFill>
                          <a:latin typeface="Calibri" pitchFamily="34" charset="0"/>
                          <a:ea typeface="Calibri" pitchFamily="34" charset="-122"/>
                          <a:cs typeface="Calibri" pitchFamily="34" charset="-120"/>
                        </a:rPr>
                        <a:t>DISABLED_OPCODE</a:t>
                      </a:r>
                      <a:endParaRPr lang="en-US" sz="950" dirty="0">
                        <a:latin typeface="Calibri" charset="0"/>
                        <a:ea typeface="Calibri" charset="0"/>
                        <a:cs typeface="Calibri" charset="0"/>
                      </a:endParaRPr>
                    </a:p>
                  </a:txBody>
                  <a:tcPr marL="91440" marR="91440" marT="45720" marB="45720" anchor="ctr">
                    <a:lnL w="6350" cap="flat" cmpd="sng" algn="ctr">
                      <a:solidFill>
                        <a:srgbClr val="DFD6C7"/>
                      </a:solidFill>
                      <a:prstDash val="solid"/>
                      <a:round/>
                      <a:headEnd type="none" w="med" len="med"/>
                      <a:tailEnd type="none" w="med" len="med"/>
                    </a:lnL>
                    <a:lnR w="6350" cap="flat" cmpd="sng" algn="ctr">
                      <a:solidFill>
                        <a:srgbClr val="DFD6C7"/>
                      </a:solidFill>
                      <a:prstDash val="solid"/>
                      <a:round/>
                      <a:headEnd type="none" w="med" len="med"/>
                      <a:tailEnd type="none" w="med" len="med"/>
                    </a:lnR>
                    <a:lnT w="6350" cap="flat" cmpd="sng" algn="ctr">
                      <a:solidFill>
                        <a:srgbClr val="DFD6C7"/>
                      </a:solidFill>
                      <a:prstDash val="solid"/>
                      <a:round/>
                      <a:headEnd type="none" w="med" len="med"/>
                      <a:tailEnd type="none" w="med" len="med"/>
                    </a:lnT>
                    <a:lnB w="6350" cap="flat" cmpd="sng" algn="ctr">
                      <a:solidFill>
                        <a:srgbClr val="DFD6C7"/>
                      </a:solidFill>
                      <a:prstDash val="solid"/>
                      <a:round/>
                      <a:headEnd type="none" w="med" len="med"/>
                      <a:tailEnd type="none" w="med" len="med"/>
                    </a:lnB>
                  </a:tcPr>
                </a:tc>
              </a:tr>
            </a:tbl>
          </a:graphicData>
        </a:graphic>
      </p:graphicFrame>
      <p:sp>
        <p:nvSpPr>
          <p:cNvPr id="24" name="Text 21"/>
          <p:cNvSpPr txBox="1"/>
          <p:nvPr/>
        </p:nvSpPr>
        <p:spPr>
          <a:xfrm>
            <a:off x="5715000" y="3145536"/>
            <a:ext cx="2971800" cy="786384"/>
          </a:xfrm>
          <a:prstGeom prst="rect">
            <a:avLst/>
          </a:prstGeom>
          <a:noFill/>
          <a:ln/>
        </p:spPr>
        <p:txBody>
          <a:bodyPr wrap="square" lIns="0" tIns="0" rIns="0" bIns="0" rtlCol="0" anchor="t"/>
          <a:lstStyle/>
          <a:p>
            <a:pPr algn="l" indent="0" marL="0">
              <a:buNone/>
            </a:pPr>
            <a:r>
              <a:rPr lang="en-US" sz="1150" i="1" dirty="0">
                <a:solidFill>
                  <a:srgbClr val="2B2622"/>
                </a:solidFill>
                <a:latin typeface="Calibri" pitchFamily="34" charset="0"/>
                <a:ea typeface="Calibri" pitchFamily="34" charset="-122"/>
                <a:cs typeface="Calibri" pitchFamily="34" charset="-120"/>
              </a:rPr>
              <a:t>Of 256 opcode values, 87 are OP_SUCCESS. The disabled shift fails in an old script with DISABLED_OPCODE.</a:t>
            </a:r>
            <a:endParaRPr lang="en-US" sz="1150" dirty="0"/>
          </a:p>
        </p:txBody>
      </p:sp>
      <p:sp>
        <p:nvSpPr>
          <p:cNvPr id="25" name="Shape 22"/>
          <p:cNvSpPr/>
          <p:nvPr/>
        </p:nvSpPr>
        <p:spPr>
          <a:xfrm>
            <a:off x="457200" y="4636008"/>
            <a:ext cx="91440" cy="310896"/>
          </a:xfrm>
          <a:prstGeom prst="rect">
            <a:avLst/>
          </a:prstGeom>
          <a:solidFill>
            <a:srgbClr val="D97A14"/>
          </a:solidFill>
          <a:ln w="12700">
            <a:solidFill>
              <a:srgbClr val="D97A14"/>
            </a:solidFill>
            <a:prstDash val="solid"/>
          </a:ln>
        </p:spPr>
      </p:sp>
      <p:sp>
        <p:nvSpPr>
          <p:cNvPr id="26" name="Text 23"/>
          <p:cNvSpPr txBox="1"/>
          <p:nvPr/>
        </p:nvSpPr>
        <p:spPr>
          <a:xfrm>
            <a:off x="658368" y="4599432"/>
            <a:ext cx="6949440" cy="384048"/>
          </a:xfrm>
          <a:prstGeom prst="rect">
            <a:avLst/>
          </a:prstGeom>
          <a:noFill/>
          <a:ln/>
        </p:spPr>
        <p:txBody>
          <a:bodyPr wrap="square" lIns="0" tIns="0" rIns="0" bIns="0" rtlCol="0" anchor="ctr"/>
          <a:lstStyle/>
          <a:p>
            <a:pPr indent="0" marL="0">
              <a:buNone/>
            </a:pPr>
            <a:r>
              <a:rPr lang="en-US" sz="1350" b="1" i="1" dirty="0">
                <a:solidFill>
                  <a:srgbClr val="2B2622"/>
                </a:solidFill>
                <a:latin typeface="Cambria" pitchFamily="34" charset="0"/>
                <a:ea typeface="Cambria" pitchFamily="34" charset="-122"/>
                <a:cs typeface="Cambria" pitchFamily="34" charset="-120"/>
              </a:rPr>
              <a:t>Unknown opcodes succeed, so soft forks can give them a meaning</a:t>
            </a:r>
            <a:endParaRPr lang="en-US" sz="1350" dirty="0"/>
          </a:p>
        </p:txBody>
      </p:sp>
      <p:sp>
        <p:nvSpPr>
          <p:cNvPr id="27" name="Text 24"/>
          <p:cNvSpPr txBox="1"/>
          <p:nvPr/>
        </p:nvSpPr>
        <p:spPr>
          <a:xfrm>
            <a:off x="7863840" y="4645152"/>
            <a:ext cx="868680" cy="310896"/>
          </a:xfrm>
          <a:prstGeom prst="rect">
            <a:avLst/>
          </a:prstGeom>
          <a:noFill/>
          <a:ln/>
        </p:spPr>
        <p:txBody>
          <a:bodyPr wrap="square" lIns="0" tIns="0" rIns="0" bIns="0" rtlCol="0" anchor="ctr"/>
          <a:lstStyle/>
          <a:p>
            <a:pPr algn="r" indent="0" marL="0">
              <a:buNone/>
            </a:pPr>
            <a:r>
              <a:rPr lang="en-US" sz="1100" dirty="0">
                <a:solidFill>
                  <a:srgbClr val="6E655C"/>
                </a:solidFill>
                <a:latin typeface="Calibri" pitchFamily="34" charset="0"/>
                <a:ea typeface="Calibri" pitchFamily="34" charset="-122"/>
                <a:cs typeface="Calibri" pitchFamily="34" charset="-120"/>
              </a:rPr>
              <a:t>58 / 61</a:t>
            </a:r>
            <a:endParaRPr lang="en-US" sz="11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AF6EF"/>
        </a:solidFill>
      </p:bgPr>
    </p:bg>
    <p:spTree>
      <p:nvGrpSpPr>
        <p:cNvPr id="1" name=""/>
        <p:cNvGrpSpPr/>
        <p:nvPr/>
      </p:nvGrpSpPr>
      <p:grpSpPr>
        <a:xfrm>
          <a:off x="0" y="0"/>
          <a:ext cx="0" cy="0"/>
          <a:chOff x="0" y="0"/>
          <a:chExt cx="0" cy="0"/>
        </a:xfrm>
      </p:grpSpPr>
      <p:sp>
        <p:nvSpPr>
          <p:cNvPr id="2" name="Shape 0"/>
          <p:cNvSpPr/>
          <p:nvPr/>
        </p:nvSpPr>
        <p:spPr>
          <a:xfrm>
            <a:off x="457200" y="347472"/>
            <a:ext cx="566928" cy="384048"/>
          </a:xfrm>
          <a:prstGeom prst="roundRect">
            <a:avLst>
              <a:gd name="adj" fmla="val 19048"/>
            </a:avLst>
          </a:prstGeom>
          <a:solidFill>
            <a:srgbClr val="D97A14"/>
          </a:solidFill>
          <a:ln w="12700">
            <a:solidFill>
              <a:srgbClr val="D97A14"/>
            </a:solidFill>
            <a:prstDash val="solid"/>
          </a:ln>
        </p:spPr>
      </p:sp>
      <p:sp>
        <p:nvSpPr>
          <p:cNvPr id="3" name="Text 1"/>
          <p:cNvSpPr txBox="1"/>
          <p:nvPr/>
        </p:nvSpPr>
        <p:spPr>
          <a:xfrm>
            <a:off x="457200" y="347472"/>
            <a:ext cx="56692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4" name="Text 2"/>
          <p:cNvSpPr txBox="1"/>
          <p:nvPr/>
        </p:nvSpPr>
        <p:spPr>
          <a:xfrm>
            <a:off x="1143000" y="237744"/>
            <a:ext cx="7543800" cy="566928"/>
          </a:xfrm>
          <a:prstGeom prst="rect">
            <a:avLst/>
          </a:prstGeom>
          <a:noFill/>
          <a:ln/>
        </p:spPr>
        <p:txBody>
          <a:bodyPr wrap="square" lIns="0" tIns="0" rIns="0" bIns="0" rtlCol="0" anchor="ctr"/>
          <a:lstStyle/>
          <a:p>
            <a:pPr indent="0" marL="0">
              <a:buNone/>
            </a:pPr>
            <a:r>
              <a:rPr lang="en-US" sz="2800" b="1" dirty="0">
                <a:solidFill>
                  <a:srgbClr val="2B2622"/>
                </a:solidFill>
                <a:latin typeface="Cambria" pitchFamily="34" charset="0"/>
                <a:ea typeface="Cambria" pitchFamily="34" charset="-122"/>
                <a:cs typeface="Cambria" pitchFamily="34" charset="-120"/>
              </a:rPr>
              <a:t>The chapter in five lines</a:t>
            </a:r>
            <a:endParaRPr lang="en-US" sz="2800" dirty="0"/>
          </a:p>
        </p:txBody>
      </p:sp>
      <p:sp>
        <p:nvSpPr>
          <p:cNvPr id="5" name="Text 3"/>
          <p:cNvSpPr txBox="1"/>
          <p:nvPr/>
        </p:nvSpPr>
        <p:spPr>
          <a:xfrm>
            <a:off x="1143000" y="786384"/>
            <a:ext cx="7543800" cy="310896"/>
          </a:xfrm>
          <a:prstGeom prst="rect">
            <a:avLst/>
          </a:prstGeom>
          <a:noFill/>
          <a:ln/>
        </p:spPr>
        <p:txBody>
          <a:bodyPr wrap="square" lIns="0" tIns="0" rIns="0" bIns="0" rtlCol="0" anchor="ctr"/>
          <a:lstStyle/>
          <a:p>
            <a:pPr indent="0" marL="0">
              <a:buNone/>
            </a:pPr>
            <a:r>
              <a:rPr lang="en-US" sz="1300" i="1" dirty="0">
                <a:solidFill>
                  <a:srgbClr val="6E655C"/>
                </a:solidFill>
                <a:latin typeface="Calibri" pitchFamily="34" charset="0"/>
                <a:ea typeface="Calibri" pitchFamily="34" charset="-122"/>
                <a:cs typeface="Calibri" pitchFamily="34" charset="-120"/>
              </a:rPr>
              <a:t>One line per group of parts, each provable from its slides</a:t>
            </a:r>
            <a:endParaRPr lang="en-US" sz="1300" dirty="0"/>
          </a:p>
        </p:txBody>
      </p:sp>
      <p:sp>
        <p:nvSpPr>
          <p:cNvPr id="6" name="Shape 4"/>
          <p:cNvSpPr/>
          <p:nvPr/>
        </p:nvSpPr>
        <p:spPr>
          <a:xfrm>
            <a:off x="457200" y="1408176"/>
            <a:ext cx="402336" cy="402336"/>
          </a:xfrm>
          <a:prstGeom prst="ellipse">
            <a:avLst/>
          </a:prstGeom>
          <a:solidFill>
            <a:srgbClr val="D97A14"/>
          </a:solidFill>
          <a:ln w="12700">
            <a:solidFill>
              <a:srgbClr val="D97A14"/>
            </a:solidFill>
            <a:prstDash val="solid"/>
          </a:ln>
        </p:spPr>
      </p:sp>
      <p:sp>
        <p:nvSpPr>
          <p:cNvPr id="7" name="Text 5"/>
          <p:cNvSpPr txBox="1"/>
          <p:nvPr/>
        </p:nvSpPr>
        <p:spPr>
          <a:xfrm>
            <a:off x="457200" y="1408176"/>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8" name="Text 6"/>
          <p:cNvSpPr txBox="1"/>
          <p:nvPr/>
        </p:nvSpPr>
        <p:spPr>
          <a:xfrm>
            <a:off x="1024128" y="1371600"/>
            <a:ext cx="7662672" cy="566928"/>
          </a:xfrm>
          <a:prstGeom prst="rect">
            <a:avLst/>
          </a:prstGeom>
          <a:noFill/>
          <a:ln/>
        </p:spPr>
        <p:txBody>
          <a:bodyPr wrap="square" lIns="0" tIns="0" rIns="0" bIns="0" rtlCol="0" anchor="ctr"/>
          <a:lstStyle/>
          <a:p>
            <a:pPr indent="0" marL="0">
              <a:buNone/>
            </a:pPr>
            <a:r>
              <a:rPr lang="en-US" sz="1250" dirty="0">
                <a:solidFill>
                  <a:srgbClr val="2B2622"/>
                </a:solidFill>
                <a:latin typeface="Calibri" pitchFamily="34" charset="0"/>
                <a:ea typeface="Calibri" pitchFamily="34" charset="-122"/>
                <a:cs typeface="Calibri" pitchFamily="34" charset="-120"/>
              </a:rPr>
              <a:t>A coin is locked by a script; the spender's script is the key, and the two run apart on a stack.</a:t>
            </a:r>
            <a:endParaRPr lang="en-US" sz="1250" dirty="0"/>
          </a:p>
        </p:txBody>
      </p:sp>
      <p:sp>
        <p:nvSpPr>
          <p:cNvPr id="9" name="Shape 7"/>
          <p:cNvSpPr/>
          <p:nvPr/>
        </p:nvSpPr>
        <p:spPr>
          <a:xfrm>
            <a:off x="457200" y="2011680"/>
            <a:ext cx="402336" cy="402336"/>
          </a:xfrm>
          <a:prstGeom prst="ellipse">
            <a:avLst/>
          </a:prstGeom>
          <a:solidFill>
            <a:srgbClr val="D97A14"/>
          </a:solidFill>
          <a:ln w="12700">
            <a:solidFill>
              <a:srgbClr val="D97A14"/>
            </a:solidFill>
            <a:prstDash val="solid"/>
          </a:ln>
        </p:spPr>
      </p:sp>
      <p:sp>
        <p:nvSpPr>
          <p:cNvPr id="10" name="Text 8"/>
          <p:cNvSpPr txBox="1"/>
          <p:nvPr/>
        </p:nvSpPr>
        <p:spPr>
          <a:xfrm>
            <a:off x="457200" y="201168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11" name="Text 9"/>
          <p:cNvSpPr txBox="1"/>
          <p:nvPr/>
        </p:nvSpPr>
        <p:spPr>
          <a:xfrm>
            <a:off x="1024128" y="1975104"/>
            <a:ext cx="7662672" cy="566928"/>
          </a:xfrm>
          <a:prstGeom prst="rect">
            <a:avLst/>
          </a:prstGeom>
          <a:noFill/>
          <a:ln/>
        </p:spPr>
        <p:txBody>
          <a:bodyPr wrap="square" lIns="0" tIns="0" rIns="0" bIns="0" rtlCol="0" anchor="ctr"/>
          <a:lstStyle/>
          <a:p>
            <a:pPr indent="0" marL="0">
              <a:buNone/>
            </a:pPr>
            <a:r>
              <a:rPr lang="en-US" sz="1250" dirty="0">
                <a:solidFill>
                  <a:srgbClr val="2B2622"/>
                </a:solidFill>
                <a:latin typeface="Calibri" pitchFamily="34" charset="0"/>
                <a:ea typeface="Calibri" pitchFamily="34" charset="-122"/>
                <a:cs typeface="Calibri" pitchFamily="34" charset="-120"/>
              </a:rPr>
              <a:t>Key hashes, multisignatures and script hashes lock a coin to what the spender can prove, and move the long lock to the spender.</a:t>
            </a:r>
            <a:endParaRPr lang="en-US" sz="1250" dirty="0"/>
          </a:p>
        </p:txBody>
      </p:sp>
      <p:sp>
        <p:nvSpPr>
          <p:cNvPr id="12" name="Shape 10"/>
          <p:cNvSpPr/>
          <p:nvPr/>
        </p:nvSpPr>
        <p:spPr>
          <a:xfrm>
            <a:off x="457200" y="2615184"/>
            <a:ext cx="402336" cy="402336"/>
          </a:xfrm>
          <a:prstGeom prst="ellipse">
            <a:avLst/>
          </a:prstGeom>
          <a:solidFill>
            <a:srgbClr val="D97A14"/>
          </a:solidFill>
          <a:ln w="12700">
            <a:solidFill>
              <a:srgbClr val="D97A14"/>
            </a:solidFill>
            <a:prstDash val="solid"/>
          </a:ln>
        </p:spPr>
      </p:sp>
      <p:sp>
        <p:nvSpPr>
          <p:cNvPr id="13" name="Text 11"/>
          <p:cNvSpPr txBox="1"/>
          <p:nvPr/>
        </p:nvSpPr>
        <p:spPr>
          <a:xfrm>
            <a:off x="457200" y="2615184"/>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4" name="Text 12"/>
          <p:cNvSpPr txBox="1"/>
          <p:nvPr/>
        </p:nvSpPr>
        <p:spPr>
          <a:xfrm>
            <a:off x="1024128" y="2578608"/>
            <a:ext cx="7662672" cy="566928"/>
          </a:xfrm>
          <a:prstGeom prst="rect">
            <a:avLst/>
          </a:prstGeom>
          <a:noFill/>
          <a:ln/>
        </p:spPr>
        <p:txBody>
          <a:bodyPr wrap="square" lIns="0" tIns="0" rIns="0" bIns="0" rtlCol="0" anchor="ctr"/>
          <a:lstStyle/>
          <a:p>
            <a:pPr indent="0" marL="0">
              <a:buNone/>
            </a:pPr>
            <a:r>
              <a:rPr lang="en-US" sz="1250" dirty="0">
                <a:solidFill>
                  <a:srgbClr val="2B2622"/>
                </a:solidFill>
                <a:latin typeface="Calibri" pitchFamily="34" charset="0"/>
                <a:ea typeface="Calibri" pitchFamily="34" charset="-122"/>
                <a:cs typeface="Calibri" pitchFamily="34" charset="-120"/>
              </a:rPr>
              <a:t>Lock time and sequence make a spend wait, and flow control gives one output several ways out.</a:t>
            </a:r>
            <a:endParaRPr lang="en-US" sz="1250" dirty="0"/>
          </a:p>
        </p:txBody>
      </p:sp>
      <p:sp>
        <p:nvSpPr>
          <p:cNvPr id="15" name="Shape 13"/>
          <p:cNvSpPr/>
          <p:nvPr/>
        </p:nvSpPr>
        <p:spPr>
          <a:xfrm>
            <a:off x="457200" y="3218688"/>
            <a:ext cx="402336" cy="402336"/>
          </a:xfrm>
          <a:prstGeom prst="ellipse">
            <a:avLst/>
          </a:prstGeom>
          <a:solidFill>
            <a:srgbClr val="D97A14"/>
          </a:solidFill>
          <a:ln w="12700">
            <a:solidFill>
              <a:srgbClr val="D97A14"/>
            </a:solidFill>
            <a:prstDash val="solid"/>
          </a:ln>
        </p:spPr>
      </p:sp>
      <p:sp>
        <p:nvSpPr>
          <p:cNvPr id="16" name="Text 14"/>
          <p:cNvSpPr txBox="1"/>
          <p:nvPr/>
        </p:nvSpPr>
        <p:spPr>
          <a:xfrm>
            <a:off x="457200" y="3218688"/>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4</a:t>
            </a:r>
            <a:endParaRPr lang="en-US" sz="1400" dirty="0"/>
          </a:p>
        </p:txBody>
      </p:sp>
      <p:sp>
        <p:nvSpPr>
          <p:cNvPr id="17" name="Text 15"/>
          <p:cNvSpPr txBox="1"/>
          <p:nvPr/>
        </p:nvSpPr>
        <p:spPr>
          <a:xfrm>
            <a:off x="1024128" y="3182112"/>
            <a:ext cx="7662672" cy="566928"/>
          </a:xfrm>
          <a:prstGeom prst="rect">
            <a:avLst/>
          </a:prstGeom>
          <a:noFill/>
          <a:ln/>
        </p:spPr>
        <p:txBody>
          <a:bodyPr wrap="square" lIns="0" tIns="0" rIns="0" bIns="0" rtlCol="0" anchor="ctr"/>
          <a:lstStyle/>
          <a:p>
            <a:pPr indent="0" marL="0">
              <a:buNone/>
            </a:pPr>
            <a:r>
              <a:rPr lang="en-US" sz="1250" dirty="0">
                <a:solidFill>
                  <a:srgbClr val="2B2622"/>
                </a:solidFill>
                <a:latin typeface="Calibri" pitchFamily="34" charset="0"/>
                <a:ea typeface="Calibri" pitchFamily="34" charset="-122"/>
                <a:cs typeface="Calibri" pitchFamily="34" charset="-120"/>
              </a:rPr>
              <a:t>Segregated witness moves the proof out of the identifier, as a soft fork that old nodes accept.</a:t>
            </a:r>
            <a:endParaRPr lang="en-US" sz="1250" dirty="0"/>
          </a:p>
        </p:txBody>
      </p:sp>
      <p:sp>
        <p:nvSpPr>
          <p:cNvPr id="18" name="Shape 16"/>
          <p:cNvSpPr/>
          <p:nvPr/>
        </p:nvSpPr>
        <p:spPr>
          <a:xfrm>
            <a:off x="457200" y="3822192"/>
            <a:ext cx="402336" cy="402336"/>
          </a:xfrm>
          <a:prstGeom prst="ellipse">
            <a:avLst/>
          </a:prstGeom>
          <a:solidFill>
            <a:srgbClr val="D97A14"/>
          </a:solidFill>
          <a:ln w="12700">
            <a:solidFill>
              <a:srgbClr val="D97A14"/>
            </a:solidFill>
            <a:prstDash val="solid"/>
          </a:ln>
        </p:spPr>
      </p:sp>
      <p:sp>
        <p:nvSpPr>
          <p:cNvPr id="19" name="Text 17"/>
          <p:cNvSpPr txBox="1"/>
          <p:nvPr/>
        </p:nvSpPr>
        <p:spPr>
          <a:xfrm>
            <a:off x="457200" y="3822192"/>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5</a:t>
            </a:r>
            <a:endParaRPr lang="en-US" sz="1400" dirty="0"/>
          </a:p>
        </p:txBody>
      </p:sp>
      <p:sp>
        <p:nvSpPr>
          <p:cNvPr id="20" name="Text 18"/>
          <p:cNvSpPr txBox="1"/>
          <p:nvPr/>
        </p:nvSpPr>
        <p:spPr>
          <a:xfrm>
            <a:off x="1024128" y="3785616"/>
            <a:ext cx="7662672" cy="566928"/>
          </a:xfrm>
          <a:prstGeom prst="rect">
            <a:avLst/>
          </a:prstGeom>
          <a:noFill/>
          <a:ln/>
        </p:spPr>
        <p:txBody>
          <a:bodyPr wrap="square" lIns="0" tIns="0" rIns="0" bIns="0" rtlCol="0" anchor="ctr"/>
          <a:lstStyle/>
          <a:p>
            <a:pPr indent="0" marL="0">
              <a:buNone/>
            </a:pPr>
            <a:r>
              <a:rPr lang="en-US" sz="1250" dirty="0">
                <a:solidFill>
                  <a:srgbClr val="2B2622"/>
                </a:solidFill>
                <a:latin typeface="Calibri" pitchFamily="34" charset="0"/>
                <a:ea typeface="Calibri" pitchFamily="34" charset="-122"/>
                <a:cs typeface="Calibri" pitchFamily="34" charset="-120"/>
              </a:rPr>
              <a:t>Taproot commits to a tree of scripts with one key, so agreement looks like a single signature.</a:t>
            </a:r>
            <a:endParaRPr lang="en-US" sz="1250" dirty="0"/>
          </a:p>
        </p:txBody>
      </p:sp>
      <p:sp>
        <p:nvSpPr>
          <p:cNvPr id="21" name="Shape 19"/>
          <p:cNvSpPr/>
          <p:nvPr/>
        </p:nvSpPr>
        <p:spPr>
          <a:xfrm>
            <a:off x="457200" y="4636008"/>
            <a:ext cx="91440" cy="310896"/>
          </a:xfrm>
          <a:prstGeom prst="rect">
            <a:avLst/>
          </a:prstGeom>
          <a:solidFill>
            <a:srgbClr val="D97A14"/>
          </a:solidFill>
          <a:ln w="12700">
            <a:solidFill>
              <a:srgbClr val="D97A14"/>
            </a:solidFill>
            <a:prstDash val="solid"/>
          </a:ln>
        </p:spPr>
      </p:sp>
      <p:sp>
        <p:nvSpPr>
          <p:cNvPr id="22" name="Text 20"/>
          <p:cNvSpPr txBox="1"/>
          <p:nvPr/>
        </p:nvSpPr>
        <p:spPr>
          <a:xfrm>
            <a:off x="658368" y="4599432"/>
            <a:ext cx="6949440" cy="384048"/>
          </a:xfrm>
          <a:prstGeom prst="rect">
            <a:avLst/>
          </a:prstGeom>
          <a:noFill/>
          <a:ln/>
        </p:spPr>
        <p:txBody>
          <a:bodyPr wrap="square" lIns="0" tIns="0" rIns="0" bIns="0" rtlCol="0" anchor="ctr"/>
          <a:lstStyle/>
          <a:p>
            <a:pPr indent="0" marL="0">
              <a:buNone/>
            </a:pPr>
            <a:r>
              <a:rPr lang="en-US" sz="1350" b="1" i="1" dirty="0">
                <a:solidFill>
                  <a:srgbClr val="2B2622"/>
                </a:solidFill>
                <a:latin typeface="Cambria" pitchFamily="34" charset="0"/>
                <a:ea typeface="Cambria" pitchFamily="34" charset="-122"/>
                <a:cs typeface="Cambria" pitchFamily="34" charset="-120"/>
              </a:rPr>
              <a:t>If a line feels unproven, the code slide of its part carries the receipt</a:t>
            </a:r>
            <a:endParaRPr lang="en-US" sz="1350" dirty="0"/>
          </a:p>
        </p:txBody>
      </p:sp>
      <p:sp>
        <p:nvSpPr>
          <p:cNvPr id="23" name="Text 21"/>
          <p:cNvSpPr txBox="1"/>
          <p:nvPr/>
        </p:nvSpPr>
        <p:spPr>
          <a:xfrm>
            <a:off x="7863840" y="4645152"/>
            <a:ext cx="868680" cy="310896"/>
          </a:xfrm>
          <a:prstGeom prst="rect">
            <a:avLst/>
          </a:prstGeom>
          <a:noFill/>
          <a:ln/>
        </p:spPr>
        <p:txBody>
          <a:bodyPr wrap="square" lIns="0" tIns="0" rIns="0" bIns="0" rtlCol="0" anchor="ctr"/>
          <a:lstStyle/>
          <a:p>
            <a:pPr algn="r" indent="0" marL="0">
              <a:buNone/>
            </a:pPr>
            <a:r>
              <a:rPr lang="en-US" sz="1100" dirty="0">
                <a:solidFill>
                  <a:srgbClr val="6E655C"/>
                </a:solidFill>
                <a:latin typeface="Calibri" pitchFamily="34" charset="0"/>
                <a:ea typeface="Calibri" pitchFamily="34" charset="-122"/>
                <a:cs typeface="Calibri" pitchFamily="34" charset="-120"/>
              </a:rPr>
              <a:t>59 / 61</a:t>
            </a:r>
            <a:endParaRPr lang="en-US" sz="11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AF6EF"/>
        </a:solidFill>
      </p:bgPr>
    </p:bg>
    <p:spTree>
      <p:nvGrpSpPr>
        <p:cNvPr id="1" name=""/>
        <p:cNvGrpSpPr/>
        <p:nvPr/>
      </p:nvGrpSpPr>
      <p:grpSpPr>
        <a:xfrm>
          <a:off x="0" y="0"/>
          <a:ext cx="0" cy="0"/>
          <a:chOff x="0" y="0"/>
          <a:chExt cx="0" cy="0"/>
        </a:xfrm>
      </p:grpSpPr>
      <p:sp>
        <p:nvSpPr>
          <p:cNvPr id="2" name="Shape 0"/>
          <p:cNvSpPr/>
          <p:nvPr/>
        </p:nvSpPr>
        <p:spPr>
          <a:xfrm>
            <a:off x="457200" y="347472"/>
            <a:ext cx="566928" cy="384048"/>
          </a:xfrm>
          <a:prstGeom prst="roundRect">
            <a:avLst>
              <a:gd name="adj" fmla="val 19048"/>
            </a:avLst>
          </a:prstGeom>
          <a:solidFill>
            <a:srgbClr val="D97A14"/>
          </a:solidFill>
          <a:ln w="12700">
            <a:solidFill>
              <a:srgbClr val="D97A14"/>
            </a:solidFill>
            <a:prstDash val="solid"/>
          </a:ln>
        </p:spPr>
      </p:sp>
      <p:sp>
        <p:nvSpPr>
          <p:cNvPr id="3" name="Text 1"/>
          <p:cNvSpPr txBox="1"/>
          <p:nvPr/>
        </p:nvSpPr>
        <p:spPr>
          <a:xfrm>
            <a:off x="457200" y="347472"/>
            <a:ext cx="56692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4" name="Text 2"/>
          <p:cNvSpPr txBox="1"/>
          <p:nvPr/>
        </p:nvSpPr>
        <p:spPr>
          <a:xfrm>
            <a:off x="1143000" y="237744"/>
            <a:ext cx="7543800" cy="566928"/>
          </a:xfrm>
          <a:prstGeom prst="rect">
            <a:avLst/>
          </a:prstGeom>
          <a:noFill/>
          <a:ln/>
        </p:spPr>
        <p:txBody>
          <a:bodyPr wrap="square" lIns="0" tIns="0" rIns="0" bIns="0" rtlCol="0" anchor="ctr"/>
          <a:lstStyle/>
          <a:p>
            <a:pPr indent="0" marL="0">
              <a:buNone/>
            </a:pPr>
            <a:r>
              <a:rPr lang="en-US" sz="2800" b="1" dirty="0">
                <a:solidFill>
                  <a:srgbClr val="2B2622"/>
                </a:solidFill>
                <a:latin typeface="Cambria" pitchFamily="34" charset="0"/>
                <a:ea typeface="Cambria" pitchFamily="34" charset="-122"/>
                <a:cs typeface="Cambria" pitchFamily="34" charset="-120"/>
              </a:rPr>
              <a:t>Where to go from here</a:t>
            </a:r>
            <a:endParaRPr lang="en-US" sz="2800" dirty="0"/>
          </a:p>
        </p:txBody>
      </p:sp>
      <p:sp>
        <p:nvSpPr>
          <p:cNvPr id="5" name="Text 3"/>
          <p:cNvSpPr txBox="1"/>
          <p:nvPr/>
        </p:nvSpPr>
        <p:spPr>
          <a:xfrm>
            <a:off x="1143000" y="786384"/>
            <a:ext cx="7543800" cy="310896"/>
          </a:xfrm>
          <a:prstGeom prst="rect">
            <a:avLst/>
          </a:prstGeom>
          <a:noFill/>
          <a:ln/>
        </p:spPr>
        <p:txBody>
          <a:bodyPr wrap="square" lIns="0" tIns="0" rIns="0" bIns="0" rtlCol="0" anchor="ctr"/>
          <a:lstStyle/>
          <a:p>
            <a:pPr indent="0" marL="0">
              <a:buNone/>
            </a:pPr>
            <a:r>
              <a:rPr lang="en-US" sz="1300" i="1" dirty="0">
                <a:solidFill>
                  <a:srgbClr val="6E655C"/>
                </a:solidFill>
                <a:latin typeface="Calibri" pitchFamily="34" charset="0"/>
                <a:ea typeface="Calibri" pitchFamily="34" charset="-122"/>
                <a:cs typeface="Calibri" pitchFamily="34" charset="-120"/>
              </a:rPr>
              <a:t>Resources for further reading and watching; every entry is a live link in this file</a:t>
            </a:r>
            <a:endParaRPr lang="en-US" sz="1300" dirty="0"/>
          </a:p>
        </p:txBody>
      </p:sp>
      <p:sp>
        <p:nvSpPr>
          <p:cNvPr id="6" name="Text 4"/>
          <p:cNvSpPr txBox="1"/>
          <p:nvPr/>
        </p:nvSpPr>
        <p:spPr>
          <a:xfrm>
            <a:off x="457200" y="1280160"/>
            <a:ext cx="3954780" cy="274320"/>
          </a:xfrm>
          <a:prstGeom prst="rect">
            <a:avLst/>
          </a:prstGeom>
          <a:noFill/>
          <a:ln/>
        </p:spPr>
        <p:txBody>
          <a:bodyPr wrap="square" lIns="0" tIns="0" rIns="0" bIns="0" rtlCol="0" anchor="ctr"/>
          <a:lstStyle/>
          <a:p>
            <a:pPr indent="0" marL="0">
              <a:buNone/>
            </a:pPr>
            <a:r>
              <a:rPr lang="en-US" sz="1250" b="1" dirty="0">
                <a:solidFill>
                  <a:srgbClr val="2F6D62"/>
                </a:solidFill>
                <a:latin typeface="Cambria" pitchFamily="34" charset="0"/>
                <a:ea typeface="Cambria" pitchFamily="34" charset="-122"/>
                <a:cs typeface="Cambria" pitchFamily="34" charset="-120"/>
              </a:rPr>
              <a:t>Read and explore</a:t>
            </a:r>
            <a:endParaRPr lang="en-US" sz="1250" dirty="0"/>
          </a:p>
        </p:txBody>
      </p:sp>
      <p:sp>
        <p:nvSpPr>
          <p:cNvPr id="7" name="Shape 5"/>
          <p:cNvSpPr/>
          <p:nvPr/>
        </p:nvSpPr>
        <p:spPr>
          <a:xfrm>
            <a:off x="493776" y="1627632"/>
            <a:ext cx="82296" cy="82296"/>
          </a:xfrm>
          <a:prstGeom prst="ellipse">
            <a:avLst/>
          </a:prstGeom>
          <a:solidFill>
            <a:srgbClr val="D97A14"/>
          </a:solidFill>
          <a:ln w="12700">
            <a:solidFill>
              <a:srgbClr val="D97A14"/>
            </a:solidFill>
            <a:prstDash val="solid"/>
          </a:ln>
        </p:spPr>
      </p:sp>
      <p:sp>
        <p:nvSpPr>
          <p:cNvPr id="8" name="Text 6"/>
          <p:cNvSpPr txBox="1"/>
          <p:nvPr/>
        </p:nvSpPr>
        <p:spPr>
          <a:xfrm>
            <a:off x="658368" y="1554480"/>
            <a:ext cx="3753612" cy="292608"/>
          </a:xfrm>
          <a:prstGeom prst="rect">
            <a:avLst/>
          </a:prstGeom>
          <a:noFill/>
          <a:ln/>
        </p:spPr>
        <p:txBody>
          <a:bodyPr wrap="square" lIns="0" tIns="0" rIns="0" bIns="0" rtlCol="0" anchor="t"/>
          <a:lstStyle/>
          <a:p>
            <a:pPr indent="0" marL="0">
              <a:buNone/>
            </a:pPr>
            <a:r>
              <a:rPr lang="en-US" sz="1000" b="1" u="sng" dirty="0">
                <a:solidFill>
                  <a:srgbClr val="2F6D62"/>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Bitcoin white paper (PDF)</a:t>
            </a:r>
            <a:endParaRPr lang="en-US" sz="1000" dirty="0"/>
          </a:p>
          <a:p>
            <a:pPr indent="0" marL="0">
              <a:buNone/>
            </a:pPr>
            <a:r>
              <a:rPr lang="en-US" sz="800" dirty="0">
                <a:solidFill>
                  <a:srgbClr val="2B2622"/>
                </a:solidFill>
                <a:latin typeface="Calibri" pitchFamily="34" charset="0"/>
                <a:ea typeface="Calibri" pitchFamily="34" charset="-122"/>
                <a:cs typeface="Calibri" pitchFamily="34" charset="-120"/>
              </a:rPr>
              <a:t>Nakamoto's nine pages of 31 October 2008  bitcoin.org</a:t>
            </a:r>
            <a:endParaRPr lang="en-US" sz="1000" dirty="0"/>
          </a:p>
        </p:txBody>
      </p:sp>
      <p:sp>
        <p:nvSpPr>
          <p:cNvPr id="9" name="Shape 7"/>
          <p:cNvSpPr/>
          <p:nvPr/>
        </p:nvSpPr>
        <p:spPr>
          <a:xfrm>
            <a:off x="493776" y="1938528"/>
            <a:ext cx="82296" cy="82296"/>
          </a:xfrm>
          <a:prstGeom prst="ellipse">
            <a:avLst/>
          </a:prstGeom>
          <a:solidFill>
            <a:srgbClr val="D97A14"/>
          </a:solidFill>
          <a:ln w="12700">
            <a:solidFill>
              <a:srgbClr val="D97A14"/>
            </a:solidFill>
            <a:prstDash val="solid"/>
          </a:ln>
        </p:spPr>
      </p:sp>
      <p:sp>
        <p:nvSpPr>
          <p:cNvPr id="10" name="Text 8"/>
          <p:cNvSpPr txBox="1"/>
          <p:nvPr/>
        </p:nvSpPr>
        <p:spPr>
          <a:xfrm>
            <a:off x="658368" y="1865376"/>
            <a:ext cx="3753612" cy="292608"/>
          </a:xfrm>
          <a:prstGeom prst="rect">
            <a:avLst/>
          </a:prstGeom>
          <a:noFill/>
          <a:ln/>
        </p:spPr>
        <p:txBody>
          <a:bodyPr wrap="square" lIns="0" tIns="0" rIns="0" bIns="0" rtlCol="0" anchor="t"/>
          <a:lstStyle/>
          <a:p>
            <a:pPr indent="0" marL="0">
              <a:buNone/>
            </a:pPr>
            <a:r>
              <a:rPr lang="en-US" sz="1000" b="1" u="sng" dirty="0">
                <a:solidFill>
                  <a:srgbClr val="2F6D62"/>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Script (Bitcoin Wiki)</a:t>
            </a:r>
            <a:endParaRPr lang="en-US" sz="1000" dirty="0"/>
          </a:p>
          <a:p>
            <a:pPr indent="0" marL="0">
              <a:buNone/>
            </a:pPr>
            <a:r>
              <a:rPr lang="en-US" sz="800" dirty="0">
                <a:solidFill>
                  <a:srgbClr val="2B2622"/>
                </a:solidFill>
                <a:latin typeface="Calibri" pitchFamily="34" charset="0"/>
                <a:ea typeface="Calibri" pitchFamily="34" charset="-122"/>
                <a:cs typeface="Calibri" pitchFamily="34" charset="-120"/>
              </a:rPr>
              <a:t>Every opcode with its effect and status  en.bitcoin.it</a:t>
            </a:r>
            <a:endParaRPr lang="en-US" sz="1000" dirty="0"/>
          </a:p>
        </p:txBody>
      </p:sp>
      <p:sp>
        <p:nvSpPr>
          <p:cNvPr id="11" name="Shape 9"/>
          <p:cNvSpPr/>
          <p:nvPr/>
        </p:nvSpPr>
        <p:spPr>
          <a:xfrm>
            <a:off x="493776" y="2249424"/>
            <a:ext cx="82296" cy="82296"/>
          </a:xfrm>
          <a:prstGeom prst="ellipse">
            <a:avLst/>
          </a:prstGeom>
          <a:solidFill>
            <a:srgbClr val="D97A14"/>
          </a:solidFill>
          <a:ln w="12700">
            <a:solidFill>
              <a:srgbClr val="D97A14"/>
            </a:solidFill>
            <a:prstDash val="solid"/>
          </a:ln>
        </p:spPr>
      </p:sp>
      <p:sp>
        <p:nvSpPr>
          <p:cNvPr id="12" name="Text 10"/>
          <p:cNvSpPr txBox="1"/>
          <p:nvPr/>
        </p:nvSpPr>
        <p:spPr>
          <a:xfrm>
            <a:off x="658368" y="2176272"/>
            <a:ext cx="3753612" cy="292608"/>
          </a:xfrm>
          <a:prstGeom prst="rect">
            <a:avLst/>
          </a:prstGeom>
          <a:noFill/>
          <a:ln/>
        </p:spPr>
        <p:txBody>
          <a:bodyPr wrap="square" lIns="0" tIns="0" rIns="0" bIns="0" rtlCol="0" anchor="t"/>
          <a:lstStyle/>
          <a:p>
            <a:pPr indent="0" marL="0">
              <a:buNone/>
            </a:pPr>
            <a:r>
              <a:rPr lang="en-US" sz="1000" b="1" u="sng" dirty="0">
                <a:solidFill>
                  <a:srgbClr val="2F6D62"/>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Optech topic: Taproot</a:t>
            </a:r>
            <a:endParaRPr lang="en-US" sz="1000" dirty="0"/>
          </a:p>
          <a:p>
            <a:pPr indent="0" marL="0">
              <a:buNone/>
            </a:pPr>
            <a:r>
              <a:rPr lang="en-US" sz="800" dirty="0">
                <a:solidFill>
                  <a:srgbClr val="2B2622"/>
                </a:solidFill>
                <a:latin typeface="Calibri" pitchFamily="34" charset="0"/>
                <a:ea typeface="Calibri" pitchFamily="34" charset="-122"/>
                <a:cs typeface="Calibri" pitchFamily="34" charset="-120"/>
              </a:rPr>
              <a:t>Summary of taproot with links to newsletters and code</a:t>
            </a:r>
            <a:endParaRPr lang="en-US" sz="1000" dirty="0"/>
          </a:p>
        </p:txBody>
      </p:sp>
      <p:sp>
        <p:nvSpPr>
          <p:cNvPr id="13" name="Shape 11"/>
          <p:cNvSpPr/>
          <p:nvPr/>
        </p:nvSpPr>
        <p:spPr>
          <a:xfrm>
            <a:off x="493776" y="2560320"/>
            <a:ext cx="82296" cy="82296"/>
          </a:xfrm>
          <a:prstGeom prst="ellipse">
            <a:avLst/>
          </a:prstGeom>
          <a:solidFill>
            <a:srgbClr val="D97A14"/>
          </a:solidFill>
          <a:ln w="12700">
            <a:solidFill>
              <a:srgbClr val="D97A14"/>
            </a:solidFill>
            <a:prstDash val="solid"/>
          </a:ln>
        </p:spPr>
      </p:sp>
      <p:sp>
        <p:nvSpPr>
          <p:cNvPr id="14" name="Text 12"/>
          <p:cNvSpPr txBox="1"/>
          <p:nvPr/>
        </p:nvSpPr>
        <p:spPr>
          <a:xfrm>
            <a:off x="658368" y="2487168"/>
            <a:ext cx="3753612" cy="292608"/>
          </a:xfrm>
          <a:prstGeom prst="rect">
            <a:avLst/>
          </a:prstGeom>
          <a:noFill/>
          <a:ln/>
        </p:spPr>
        <p:txBody>
          <a:bodyPr wrap="square" lIns="0" tIns="0" rIns="0" bIns="0" rtlCol="0" anchor="t"/>
          <a:lstStyle/>
          <a:p>
            <a:pPr indent="0" marL="0">
              <a:buNone/>
            </a:pPr>
            <a:r>
              <a:rPr lang="en-US" sz="1000" b="1" u="sng" dirty="0">
                <a:solidFill>
                  <a:srgbClr val="2F6D62"/>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Taproot (Bitcoin Wiki)</a:t>
            </a:r>
            <a:endParaRPr lang="en-US" sz="1000" dirty="0"/>
          </a:p>
          <a:p>
            <a:pPr indent="0" marL="0">
              <a:buNone/>
            </a:pPr>
            <a:r>
              <a:rPr lang="en-US" sz="800" dirty="0">
                <a:solidFill>
                  <a:srgbClr val="2B2622"/>
                </a:solidFill>
                <a:latin typeface="Calibri" pitchFamily="34" charset="0"/>
                <a:ea typeface="Calibri" pitchFamily="34" charset="-122"/>
                <a:cs typeface="Calibri" pitchFamily="34" charset="-120"/>
              </a:rPr>
              <a:t>Plain description of the taproot soft fork  en.bitcoin.it</a:t>
            </a:r>
            <a:endParaRPr lang="en-US" sz="1000" dirty="0"/>
          </a:p>
        </p:txBody>
      </p:sp>
      <p:sp>
        <p:nvSpPr>
          <p:cNvPr id="15" name="Text 13"/>
          <p:cNvSpPr txBox="1"/>
          <p:nvPr/>
        </p:nvSpPr>
        <p:spPr>
          <a:xfrm>
            <a:off x="457200" y="2871216"/>
            <a:ext cx="3954780" cy="274320"/>
          </a:xfrm>
          <a:prstGeom prst="rect">
            <a:avLst/>
          </a:prstGeom>
          <a:noFill/>
          <a:ln/>
        </p:spPr>
        <p:txBody>
          <a:bodyPr wrap="square" lIns="0" tIns="0" rIns="0" bIns="0" rtlCol="0" anchor="ctr"/>
          <a:lstStyle/>
          <a:p>
            <a:pPr indent="0" marL="0">
              <a:buNone/>
            </a:pPr>
            <a:r>
              <a:rPr lang="en-US" sz="1250" b="1" dirty="0">
                <a:solidFill>
                  <a:srgbClr val="2F6D62"/>
                </a:solidFill>
                <a:latin typeface="Cambria" pitchFamily="34" charset="0"/>
                <a:ea typeface="Cambria" pitchFamily="34" charset="-122"/>
                <a:cs typeface="Cambria" pitchFamily="34" charset="-120"/>
              </a:rPr>
              <a:t>Standards</a:t>
            </a:r>
            <a:endParaRPr lang="en-US" sz="1250" dirty="0"/>
          </a:p>
        </p:txBody>
      </p:sp>
      <p:sp>
        <p:nvSpPr>
          <p:cNvPr id="16" name="Shape 14"/>
          <p:cNvSpPr/>
          <p:nvPr/>
        </p:nvSpPr>
        <p:spPr>
          <a:xfrm>
            <a:off x="493776" y="3218688"/>
            <a:ext cx="82296" cy="82296"/>
          </a:xfrm>
          <a:prstGeom prst="ellipse">
            <a:avLst/>
          </a:prstGeom>
          <a:solidFill>
            <a:srgbClr val="D97A14"/>
          </a:solidFill>
          <a:ln w="12700">
            <a:solidFill>
              <a:srgbClr val="D97A14"/>
            </a:solidFill>
            <a:prstDash val="solid"/>
          </a:ln>
        </p:spPr>
      </p:sp>
      <p:sp>
        <p:nvSpPr>
          <p:cNvPr id="17" name="Text 15"/>
          <p:cNvSpPr txBox="1"/>
          <p:nvPr/>
        </p:nvSpPr>
        <p:spPr>
          <a:xfrm>
            <a:off x="658368" y="3145536"/>
            <a:ext cx="3753612" cy="292608"/>
          </a:xfrm>
          <a:prstGeom prst="rect">
            <a:avLst/>
          </a:prstGeom>
          <a:noFill/>
          <a:ln/>
        </p:spPr>
        <p:txBody>
          <a:bodyPr wrap="square" lIns="0" tIns="0" rIns="0" bIns="0" rtlCol="0" anchor="t"/>
          <a:lstStyle/>
          <a:p>
            <a:pPr indent="0" marL="0">
              <a:buNone/>
            </a:pPr>
            <a:r>
              <a:rPr lang="en-US" sz="1000" b="1" u="sng" dirty="0">
                <a:solidFill>
                  <a:srgbClr val="2F6D62"/>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BIP 66: Strict DER signatures (spec)</a:t>
            </a:r>
            <a:endParaRPr lang="en-US" sz="1000" dirty="0"/>
          </a:p>
          <a:p>
            <a:pPr indent="0" marL="0">
              <a:buNone/>
            </a:pPr>
            <a:r>
              <a:rPr lang="en-US" sz="800" dirty="0">
                <a:solidFill>
                  <a:srgbClr val="2B2622"/>
                </a:solidFill>
                <a:latin typeface="Calibri" pitchFamily="34" charset="0"/>
                <a:ea typeface="Calibri" pitchFamily="34" charset="-122"/>
                <a:cs typeface="Calibri" pitchFamily="34" charset="-120"/>
              </a:rPr>
              <a:t>The rule behind the July 2015 fork  bips.dev</a:t>
            </a:r>
            <a:endParaRPr lang="en-US" sz="1000" dirty="0"/>
          </a:p>
        </p:txBody>
      </p:sp>
      <p:sp>
        <p:nvSpPr>
          <p:cNvPr id="18" name="Shape 16"/>
          <p:cNvSpPr/>
          <p:nvPr/>
        </p:nvSpPr>
        <p:spPr>
          <a:xfrm>
            <a:off x="493776" y="3529584"/>
            <a:ext cx="82296" cy="82296"/>
          </a:xfrm>
          <a:prstGeom prst="ellipse">
            <a:avLst/>
          </a:prstGeom>
          <a:solidFill>
            <a:srgbClr val="D97A14"/>
          </a:solidFill>
          <a:ln w="12700">
            <a:solidFill>
              <a:srgbClr val="D97A14"/>
            </a:solidFill>
            <a:prstDash val="solid"/>
          </a:ln>
        </p:spPr>
      </p:sp>
      <p:sp>
        <p:nvSpPr>
          <p:cNvPr id="19" name="Text 17"/>
          <p:cNvSpPr txBox="1"/>
          <p:nvPr/>
        </p:nvSpPr>
        <p:spPr>
          <a:xfrm>
            <a:off x="658368" y="3456432"/>
            <a:ext cx="3753612" cy="292608"/>
          </a:xfrm>
          <a:prstGeom prst="rect">
            <a:avLst/>
          </a:prstGeom>
          <a:noFill/>
          <a:ln/>
        </p:spPr>
        <p:txBody>
          <a:bodyPr wrap="square" lIns="0" tIns="0" rIns="0" bIns="0" rtlCol="0" anchor="t"/>
          <a:lstStyle/>
          <a:p>
            <a:pPr indent="0" marL="0">
              <a:buNone/>
            </a:pPr>
            <a:r>
              <a:rPr lang="en-US" sz="1000" b="1" u="sng" dirty="0">
                <a:solidFill>
                  <a:srgbClr val="2F6D62"/>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BIP 141: Segregated Witness (spec)</a:t>
            </a:r>
            <a:endParaRPr lang="en-US" sz="1000" dirty="0"/>
          </a:p>
          <a:p>
            <a:pPr indent="0" marL="0">
              <a:buNone/>
            </a:pPr>
            <a:r>
              <a:rPr lang="en-US" sz="800" dirty="0">
                <a:solidFill>
                  <a:srgbClr val="2B2622"/>
                </a:solidFill>
                <a:latin typeface="Calibri" pitchFamily="34" charset="0"/>
                <a:ea typeface="Calibri" pitchFamily="34" charset="-122"/>
                <a:cs typeface="Calibri" pitchFamily="34" charset="-120"/>
              </a:rPr>
              <a:t>Witness programs and how they are validated  bips.dev</a:t>
            </a:r>
            <a:endParaRPr lang="en-US" sz="1000" dirty="0"/>
          </a:p>
        </p:txBody>
      </p:sp>
      <p:sp>
        <p:nvSpPr>
          <p:cNvPr id="20" name="Shape 18"/>
          <p:cNvSpPr/>
          <p:nvPr/>
        </p:nvSpPr>
        <p:spPr>
          <a:xfrm>
            <a:off x="493776" y="3840480"/>
            <a:ext cx="82296" cy="82296"/>
          </a:xfrm>
          <a:prstGeom prst="ellipse">
            <a:avLst/>
          </a:prstGeom>
          <a:solidFill>
            <a:srgbClr val="D97A14"/>
          </a:solidFill>
          <a:ln w="12700">
            <a:solidFill>
              <a:srgbClr val="D97A14"/>
            </a:solidFill>
            <a:prstDash val="solid"/>
          </a:ln>
        </p:spPr>
      </p:sp>
      <p:sp>
        <p:nvSpPr>
          <p:cNvPr id="21" name="Text 19"/>
          <p:cNvSpPr txBox="1"/>
          <p:nvPr/>
        </p:nvSpPr>
        <p:spPr>
          <a:xfrm>
            <a:off x="658368" y="3767328"/>
            <a:ext cx="3753612" cy="292608"/>
          </a:xfrm>
          <a:prstGeom prst="rect">
            <a:avLst/>
          </a:prstGeom>
          <a:noFill/>
          <a:ln/>
        </p:spPr>
        <p:txBody>
          <a:bodyPr wrap="square" lIns="0" tIns="0" rIns="0" bIns="0" rtlCol="0" anchor="t"/>
          <a:lstStyle/>
          <a:p>
            <a:pPr indent="0" marL="0">
              <a:buNone/>
            </a:pPr>
            <a:r>
              <a:rPr lang="en-US" sz="1000" b="1" u="sng" dirty="0">
                <a:solidFill>
                  <a:srgbClr val="2F6D62"/>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BIP 341: Taproot spending rules (spec)</a:t>
            </a:r>
            <a:endParaRPr lang="en-US" sz="1000" dirty="0"/>
          </a:p>
          <a:p>
            <a:pPr indent="0" marL="0">
              <a:buNone/>
            </a:pPr>
            <a:r>
              <a:rPr lang="en-US" sz="800" dirty="0">
                <a:solidFill>
                  <a:srgbClr val="2B2622"/>
                </a:solidFill>
                <a:latin typeface="Calibri" pitchFamily="34" charset="0"/>
                <a:ea typeface="Calibri" pitchFamily="34" charset="-122"/>
                <a:cs typeface="Calibri" pitchFamily="34" charset="-120"/>
              </a:rPr>
              <a:t>Key path, script path and the commitment  bips.dev</a:t>
            </a:r>
            <a:endParaRPr lang="en-US" sz="1000" dirty="0"/>
          </a:p>
        </p:txBody>
      </p:sp>
      <p:sp>
        <p:nvSpPr>
          <p:cNvPr id="22" name="Shape 20"/>
          <p:cNvSpPr/>
          <p:nvPr/>
        </p:nvSpPr>
        <p:spPr>
          <a:xfrm>
            <a:off x="493776" y="4151376"/>
            <a:ext cx="82296" cy="82296"/>
          </a:xfrm>
          <a:prstGeom prst="ellipse">
            <a:avLst/>
          </a:prstGeom>
          <a:solidFill>
            <a:srgbClr val="D97A14"/>
          </a:solidFill>
          <a:ln w="12700">
            <a:solidFill>
              <a:srgbClr val="D97A14"/>
            </a:solidFill>
            <a:prstDash val="solid"/>
          </a:ln>
        </p:spPr>
      </p:sp>
      <p:sp>
        <p:nvSpPr>
          <p:cNvPr id="23" name="Text 21"/>
          <p:cNvSpPr txBox="1"/>
          <p:nvPr/>
        </p:nvSpPr>
        <p:spPr>
          <a:xfrm>
            <a:off x="658368" y="4078224"/>
            <a:ext cx="3753612" cy="292608"/>
          </a:xfrm>
          <a:prstGeom prst="rect">
            <a:avLst/>
          </a:prstGeom>
          <a:noFill/>
          <a:ln/>
        </p:spPr>
        <p:txBody>
          <a:bodyPr wrap="square" lIns="0" tIns="0" rIns="0" bIns="0" rtlCol="0" anchor="t"/>
          <a:lstStyle/>
          <a:p>
            <a:pPr indent="0" marL="0">
              <a:buNone/>
            </a:pPr>
            <a:r>
              <a:rPr lang="en-US" sz="1000" b="1" u="sng" dirty="0">
                <a:solidFill>
                  <a:srgbClr val="2F6D62"/>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BIP 342: Tapscript validation (spec)</a:t>
            </a:r>
            <a:endParaRPr lang="en-US" sz="1000" dirty="0"/>
          </a:p>
          <a:p>
            <a:pPr indent="0" marL="0">
              <a:buNone/>
            </a:pPr>
            <a:r>
              <a:rPr lang="en-US" sz="800" dirty="0">
                <a:solidFill>
                  <a:srgbClr val="2B2622"/>
                </a:solidFill>
                <a:latin typeface="Calibri" pitchFamily="34" charset="0"/>
                <a:ea typeface="Calibri" pitchFamily="34" charset="-122"/>
                <a:cs typeface="Calibri" pitchFamily="34" charset="-120"/>
              </a:rPr>
              <a:t>The script rules inside a taproot spend  bips.dev</a:t>
            </a:r>
            <a:endParaRPr lang="en-US" sz="1000" dirty="0"/>
          </a:p>
        </p:txBody>
      </p:sp>
      <p:sp>
        <p:nvSpPr>
          <p:cNvPr id="24" name="Text 22"/>
          <p:cNvSpPr txBox="1"/>
          <p:nvPr/>
        </p:nvSpPr>
        <p:spPr>
          <a:xfrm>
            <a:off x="4732020" y="1280160"/>
            <a:ext cx="3954780" cy="274320"/>
          </a:xfrm>
          <a:prstGeom prst="rect">
            <a:avLst/>
          </a:prstGeom>
          <a:noFill/>
          <a:ln/>
        </p:spPr>
        <p:txBody>
          <a:bodyPr wrap="square" lIns="0" tIns="0" rIns="0" bIns="0" rtlCol="0" anchor="ctr"/>
          <a:lstStyle/>
          <a:p>
            <a:pPr indent="0" marL="0">
              <a:buNone/>
            </a:pPr>
            <a:r>
              <a:rPr lang="en-US" sz="1250" b="1" dirty="0">
                <a:solidFill>
                  <a:srgbClr val="2F6D62"/>
                </a:solidFill>
                <a:latin typeface="Cambria" pitchFamily="34" charset="0"/>
                <a:ea typeface="Cambria" pitchFamily="34" charset="-122"/>
                <a:cs typeface="Cambria" pitchFamily="34" charset="-120"/>
              </a:rPr>
              <a:t>The stories</a:t>
            </a:r>
            <a:endParaRPr lang="en-US" sz="1250" dirty="0"/>
          </a:p>
        </p:txBody>
      </p:sp>
      <p:sp>
        <p:nvSpPr>
          <p:cNvPr id="25" name="Shape 23"/>
          <p:cNvSpPr/>
          <p:nvPr/>
        </p:nvSpPr>
        <p:spPr>
          <a:xfrm>
            <a:off x="4768596" y="1627632"/>
            <a:ext cx="82296" cy="82296"/>
          </a:xfrm>
          <a:prstGeom prst="ellipse">
            <a:avLst/>
          </a:prstGeom>
          <a:solidFill>
            <a:srgbClr val="D97A14"/>
          </a:solidFill>
          <a:ln w="12700">
            <a:solidFill>
              <a:srgbClr val="D97A14"/>
            </a:solidFill>
            <a:prstDash val="solid"/>
          </a:ln>
        </p:spPr>
      </p:sp>
      <p:sp>
        <p:nvSpPr>
          <p:cNvPr id="26" name="Text 24"/>
          <p:cNvSpPr txBox="1"/>
          <p:nvPr/>
        </p:nvSpPr>
        <p:spPr>
          <a:xfrm>
            <a:off x="4933188" y="1554480"/>
            <a:ext cx="3753612" cy="292608"/>
          </a:xfrm>
          <a:prstGeom prst="rect">
            <a:avLst/>
          </a:prstGeom>
          <a:noFill/>
          <a:ln/>
        </p:spPr>
        <p:txBody>
          <a:bodyPr wrap="square" lIns="0" tIns="0" rIns="0" bIns="0" rtlCol="0" anchor="t"/>
          <a:lstStyle/>
          <a:p>
            <a:pPr indent="0" marL="0">
              <a:buNone/>
            </a:pPr>
            <a:r>
              <a:rPr lang="en-US" sz="1000" b="1" u="sng" dirty="0">
                <a:solidFill>
                  <a:srgbClr val="2F6D62"/>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script.cpp of Bitcoin 0.3.0 (source)</a:t>
            </a:r>
            <a:endParaRPr lang="en-US" sz="1000" dirty="0"/>
          </a:p>
          <a:p>
            <a:pPr indent="0" marL="0">
              <a:buNone/>
            </a:pPr>
            <a:r>
              <a:rPr lang="en-US" sz="800" dirty="0">
                <a:solidFill>
                  <a:srgbClr val="2B2622"/>
                </a:solidFill>
                <a:latin typeface="Calibri" pitchFamily="34" charset="0"/>
                <a:ea typeface="Calibri" pitchFamily="34" charset="-122"/>
                <a:cs typeface="Calibri" pitchFamily="34" charset="-120"/>
              </a:rPr>
              <a:t>The early script engine, as it was released</a:t>
            </a:r>
            <a:endParaRPr lang="en-US" sz="1000" dirty="0"/>
          </a:p>
        </p:txBody>
      </p:sp>
      <p:sp>
        <p:nvSpPr>
          <p:cNvPr id="27" name="Shape 25"/>
          <p:cNvSpPr/>
          <p:nvPr/>
        </p:nvSpPr>
        <p:spPr>
          <a:xfrm>
            <a:off x="4768596" y="1938528"/>
            <a:ext cx="82296" cy="82296"/>
          </a:xfrm>
          <a:prstGeom prst="ellipse">
            <a:avLst/>
          </a:prstGeom>
          <a:solidFill>
            <a:srgbClr val="D97A14"/>
          </a:solidFill>
          <a:ln w="12700">
            <a:solidFill>
              <a:srgbClr val="D97A14"/>
            </a:solidFill>
            <a:prstDash val="solid"/>
          </a:ln>
        </p:spPr>
      </p:sp>
      <p:sp>
        <p:nvSpPr>
          <p:cNvPr id="28" name="Text 26"/>
          <p:cNvSpPr txBox="1"/>
          <p:nvPr/>
        </p:nvSpPr>
        <p:spPr>
          <a:xfrm>
            <a:off x="4933188" y="1865376"/>
            <a:ext cx="3753612" cy="292608"/>
          </a:xfrm>
          <a:prstGeom prst="rect">
            <a:avLst/>
          </a:prstGeom>
          <a:noFill/>
          <a:ln/>
        </p:spPr>
        <p:txBody>
          <a:bodyPr wrap="square" lIns="0" tIns="0" rIns="0" bIns="0" rtlCol="0" anchor="t"/>
          <a:lstStyle/>
          <a:p>
            <a:pPr indent="0" marL="0">
              <a:buNone/>
            </a:pPr>
            <a:r>
              <a:rPr lang="en-US" sz="1000" b="1" u="sng" dirty="0">
                <a:solidFill>
                  <a:srgbClr val="2F6D62"/>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CVE-2010-5141 entry (Bitcoin Wiki)</a:t>
            </a:r>
            <a:endParaRPr lang="en-US" sz="1000" dirty="0"/>
          </a:p>
          <a:p>
            <a:pPr indent="0" marL="0">
              <a:buNone/>
            </a:pPr>
            <a:r>
              <a:rPr lang="en-US" sz="800" dirty="0">
                <a:solidFill>
                  <a:srgbClr val="2B2622"/>
                </a:solidFill>
                <a:latin typeface="Calibri" pitchFamily="34" charset="0"/>
                <a:ea typeface="Calibri" pitchFamily="34" charset="-122"/>
                <a:cs typeface="Calibri" pitchFamily="34" charset="-120"/>
              </a:rPr>
              <a:t>The early script bug, in the list of known vulnerabilities</a:t>
            </a:r>
            <a:endParaRPr lang="en-US" sz="1000" dirty="0"/>
          </a:p>
        </p:txBody>
      </p:sp>
      <p:sp>
        <p:nvSpPr>
          <p:cNvPr id="29" name="Shape 27"/>
          <p:cNvSpPr/>
          <p:nvPr/>
        </p:nvSpPr>
        <p:spPr>
          <a:xfrm>
            <a:off x="4768596" y="2249424"/>
            <a:ext cx="82296" cy="82296"/>
          </a:xfrm>
          <a:prstGeom prst="ellipse">
            <a:avLst/>
          </a:prstGeom>
          <a:solidFill>
            <a:srgbClr val="D97A14"/>
          </a:solidFill>
          <a:ln w="12700">
            <a:solidFill>
              <a:srgbClr val="D97A14"/>
            </a:solidFill>
            <a:prstDash val="solid"/>
          </a:ln>
        </p:spPr>
      </p:sp>
      <p:sp>
        <p:nvSpPr>
          <p:cNvPr id="30" name="Text 28"/>
          <p:cNvSpPr txBox="1"/>
          <p:nvPr/>
        </p:nvSpPr>
        <p:spPr>
          <a:xfrm>
            <a:off x="4933188" y="2176272"/>
            <a:ext cx="3753612" cy="292608"/>
          </a:xfrm>
          <a:prstGeom prst="rect">
            <a:avLst/>
          </a:prstGeom>
          <a:noFill/>
          <a:ln/>
        </p:spPr>
        <p:txBody>
          <a:bodyPr wrap="square" lIns="0" tIns="0" rIns="0" bIns="0" rtlCol="0" anchor="t"/>
          <a:lstStyle/>
          <a:p>
            <a:pPr indent="0" marL="0">
              <a:buNone/>
            </a:pPr>
            <a:r>
              <a:rPr lang="en-US" sz="1000" b="1" u="sng" dirty="0">
                <a:solidFill>
                  <a:srgbClr val="2F6D62"/>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Alert: Some Miners Generating Invalid Blocks</a:t>
            </a:r>
            <a:endParaRPr lang="en-US" sz="1000" dirty="0"/>
          </a:p>
          <a:p>
            <a:pPr indent="0" marL="0">
              <a:buNone/>
            </a:pPr>
            <a:r>
              <a:rPr lang="en-US" sz="800" dirty="0">
                <a:solidFill>
                  <a:srgbClr val="2B2622"/>
                </a:solidFill>
                <a:latin typeface="Calibri" pitchFamily="34" charset="0"/>
                <a:ea typeface="Calibri" pitchFamily="34" charset="-122"/>
                <a:cs typeface="Calibri" pitchFamily="34" charset="-120"/>
              </a:rPr>
              <a:t>The notice of 4 July 2015 about unvalidated blocks  bitcoin.org</a:t>
            </a:r>
            <a:endParaRPr lang="en-US" sz="1000" dirty="0"/>
          </a:p>
        </p:txBody>
      </p:sp>
      <p:sp>
        <p:nvSpPr>
          <p:cNvPr id="31" name="Text 29"/>
          <p:cNvSpPr txBox="1"/>
          <p:nvPr/>
        </p:nvSpPr>
        <p:spPr>
          <a:xfrm>
            <a:off x="4732020" y="2560320"/>
            <a:ext cx="3954780" cy="274320"/>
          </a:xfrm>
          <a:prstGeom prst="rect">
            <a:avLst/>
          </a:prstGeom>
          <a:noFill/>
          <a:ln/>
        </p:spPr>
        <p:txBody>
          <a:bodyPr wrap="square" lIns="0" tIns="0" rIns="0" bIns="0" rtlCol="0" anchor="ctr"/>
          <a:lstStyle/>
          <a:p>
            <a:pPr indent="0" marL="0">
              <a:buNone/>
            </a:pPr>
            <a:r>
              <a:rPr lang="en-US" sz="1250" b="1" dirty="0">
                <a:solidFill>
                  <a:srgbClr val="2F6D62"/>
                </a:solidFill>
                <a:latin typeface="Cambria" pitchFamily="34" charset="0"/>
                <a:ea typeface="Cambria" pitchFamily="34" charset="-122"/>
                <a:cs typeface="Cambria" pitchFamily="34" charset="-120"/>
              </a:rPr>
              <a:t>Community</a:t>
            </a:r>
            <a:endParaRPr lang="en-US" sz="1250" dirty="0"/>
          </a:p>
        </p:txBody>
      </p:sp>
      <p:sp>
        <p:nvSpPr>
          <p:cNvPr id="32" name="Shape 30"/>
          <p:cNvSpPr/>
          <p:nvPr/>
        </p:nvSpPr>
        <p:spPr>
          <a:xfrm>
            <a:off x="4768596" y="2907792"/>
            <a:ext cx="82296" cy="82296"/>
          </a:xfrm>
          <a:prstGeom prst="ellipse">
            <a:avLst/>
          </a:prstGeom>
          <a:solidFill>
            <a:srgbClr val="D97A14"/>
          </a:solidFill>
          <a:ln w="12700">
            <a:solidFill>
              <a:srgbClr val="D97A14"/>
            </a:solidFill>
            <a:prstDash val="solid"/>
          </a:ln>
        </p:spPr>
      </p:sp>
      <p:sp>
        <p:nvSpPr>
          <p:cNvPr id="33" name="Text 31"/>
          <p:cNvSpPr txBox="1"/>
          <p:nvPr/>
        </p:nvSpPr>
        <p:spPr>
          <a:xfrm>
            <a:off x="4933188" y="2834640"/>
            <a:ext cx="3753612" cy="292608"/>
          </a:xfrm>
          <a:prstGeom prst="rect">
            <a:avLst/>
          </a:prstGeom>
          <a:noFill/>
          <a:ln/>
        </p:spPr>
        <p:txBody>
          <a:bodyPr wrap="square" lIns="0" tIns="0" rIns="0" bIns="0" rtlCol="0" anchor="t"/>
          <a:lstStyle/>
          <a:p>
            <a:pPr indent="0" marL="0">
              <a:buNone/>
            </a:pPr>
            <a:r>
              <a:rPr lang="en-US" sz="1000" b="1" u="sng" dirty="0">
                <a:solidFill>
                  <a:srgbClr val="2F6D62"/>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Bitcoin Stack Exchange (Q&amp;A site)</a:t>
            </a:r>
            <a:endParaRPr lang="en-US" sz="1000" dirty="0"/>
          </a:p>
          <a:p>
            <a:pPr indent="0" marL="0">
              <a:buNone/>
            </a:pPr>
            <a:r>
              <a:rPr lang="en-US" sz="800" dirty="0">
                <a:solidFill>
                  <a:srgbClr val="2B2622"/>
                </a:solidFill>
                <a:latin typeface="Calibri" pitchFamily="34" charset="0"/>
                <a:ea typeface="Calibri" pitchFamily="34" charset="-122"/>
                <a:cs typeface="Calibri" pitchFamily="34" charset="-120"/>
              </a:rPr>
              <a:t>Search or ask any technical question; answers are voted</a:t>
            </a:r>
            <a:endParaRPr lang="en-US" sz="1000" dirty="0"/>
          </a:p>
        </p:txBody>
      </p:sp>
      <p:sp>
        <p:nvSpPr>
          <p:cNvPr id="34" name="Shape 32"/>
          <p:cNvSpPr/>
          <p:nvPr/>
        </p:nvSpPr>
        <p:spPr>
          <a:xfrm>
            <a:off x="4768596" y="3218688"/>
            <a:ext cx="82296" cy="82296"/>
          </a:xfrm>
          <a:prstGeom prst="ellipse">
            <a:avLst/>
          </a:prstGeom>
          <a:solidFill>
            <a:srgbClr val="D97A14"/>
          </a:solidFill>
          <a:ln w="12700">
            <a:solidFill>
              <a:srgbClr val="D97A14"/>
            </a:solidFill>
            <a:prstDash val="solid"/>
          </a:ln>
        </p:spPr>
      </p:sp>
      <p:sp>
        <p:nvSpPr>
          <p:cNvPr id="35" name="Text 33"/>
          <p:cNvSpPr txBox="1"/>
          <p:nvPr/>
        </p:nvSpPr>
        <p:spPr>
          <a:xfrm>
            <a:off x="4933188" y="3145536"/>
            <a:ext cx="3753612" cy="292608"/>
          </a:xfrm>
          <a:prstGeom prst="rect">
            <a:avLst/>
          </a:prstGeom>
          <a:noFill/>
          <a:ln/>
        </p:spPr>
        <p:txBody>
          <a:bodyPr wrap="square" lIns="0" tIns="0" rIns="0" bIns="0" rtlCol="0" anchor="t"/>
          <a:lstStyle/>
          <a:p>
            <a:pPr indent="0" marL="0">
              <a:buNone/>
            </a:pPr>
            <a:r>
              <a:rPr lang="en-US" sz="1000" b="1" u="sng" dirty="0">
                <a:solidFill>
                  <a:srgbClr val="2F6D62"/>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Delving Bitcoin (forum)</a:t>
            </a:r>
            <a:endParaRPr lang="en-US" sz="1000" dirty="0"/>
          </a:p>
          <a:p>
            <a:pPr indent="0" marL="0">
              <a:buNone/>
            </a:pPr>
            <a:r>
              <a:rPr lang="en-US" sz="800" dirty="0">
                <a:solidFill>
                  <a:srgbClr val="2B2622"/>
                </a:solidFill>
                <a:latin typeface="Calibri" pitchFamily="34" charset="0"/>
                <a:ea typeface="Calibri" pitchFamily="34" charset="-122"/>
                <a:cs typeface="Calibri" pitchFamily="34" charset="-120"/>
              </a:rPr>
              <a:t>Developers discuss script and consensus changes in the open</a:t>
            </a:r>
            <a:endParaRPr lang="en-US" sz="1000" dirty="0"/>
          </a:p>
        </p:txBody>
      </p:sp>
      <p:sp>
        <p:nvSpPr>
          <p:cNvPr id="36" name="Text 34"/>
          <p:cNvSpPr txBox="1"/>
          <p:nvPr/>
        </p:nvSpPr>
        <p:spPr>
          <a:xfrm>
            <a:off x="4732020" y="3529584"/>
            <a:ext cx="3954780" cy="274320"/>
          </a:xfrm>
          <a:prstGeom prst="rect">
            <a:avLst/>
          </a:prstGeom>
          <a:noFill/>
          <a:ln/>
        </p:spPr>
        <p:txBody>
          <a:bodyPr wrap="square" lIns="0" tIns="0" rIns="0" bIns="0" rtlCol="0" anchor="ctr"/>
          <a:lstStyle/>
          <a:p>
            <a:pPr indent="0" marL="0">
              <a:buNone/>
            </a:pPr>
            <a:r>
              <a:rPr lang="en-US" sz="1250" b="1" dirty="0">
                <a:solidFill>
                  <a:srgbClr val="2F6D62"/>
                </a:solidFill>
                <a:latin typeface="Cambria" pitchFamily="34" charset="0"/>
                <a:ea typeface="Cambria" pitchFamily="34" charset="-122"/>
                <a:cs typeface="Cambria" pitchFamily="34" charset="-120"/>
              </a:rPr>
              <a:t>Watch</a:t>
            </a:r>
            <a:endParaRPr lang="en-US" sz="1250" dirty="0"/>
          </a:p>
        </p:txBody>
      </p:sp>
      <p:sp>
        <p:nvSpPr>
          <p:cNvPr id="37" name="Shape 35"/>
          <p:cNvSpPr/>
          <p:nvPr/>
        </p:nvSpPr>
        <p:spPr>
          <a:xfrm>
            <a:off x="4768596" y="3877056"/>
            <a:ext cx="82296" cy="82296"/>
          </a:xfrm>
          <a:prstGeom prst="ellipse">
            <a:avLst/>
          </a:prstGeom>
          <a:solidFill>
            <a:srgbClr val="D97A14"/>
          </a:solidFill>
          <a:ln w="12700">
            <a:solidFill>
              <a:srgbClr val="D97A14"/>
            </a:solidFill>
            <a:prstDash val="solid"/>
          </a:ln>
        </p:spPr>
      </p:sp>
      <p:sp>
        <p:nvSpPr>
          <p:cNvPr id="38" name="Text 36"/>
          <p:cNvSpPr txBox="1"/>
          <p:nvPr/>
        </p:nvSpPr>
        <p:spPr>
          <a:xfrm>
            <a:off x="4933188" y="3803904"/>
            <a:ext cx="3753612" cy="292608"/>
          </a:xfrm>
          <a:prstGeom prst="rect">
            <a:avLst/>
          </a:prstGeom>
          <a:noFill/>
          <a:ln/>
        </p:spPr>
        <p:txBody>
          <a:bodyPr wrap="square" lIns="0" tIns="0" rIns="0" bIns="0" rtlCol="0" anchor="t"/>
          <a:lstStyle/>
          <a:p>
            <a:pPr indent="0" marL="0">
              <a:buNone/>
            </a:pPr>
            <a:r>
              <a:rPr lang="en-US" sz="1000" b="1" u="sng" dirty="0">
                <a:solidFill>
                  <a:srgbClr val="2F6D62"/>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Schnorr: Optech workshop 1.1 (video)</a:t>
            </a:r>
            <a:endParaRPr lang="en-US" sz="1000" dirty="0"/>
          </a:p>
          <a:p>
            <a:pPr indent="0" marL="0">
              <a:buNone/>
            </a:pPr>
            <a:r>
              <a:rPr lang="en-US" sz="800" dirty="0">
                <a:solidFill>
                  <a:srgbClr val="2B2622"/>
                </a:solidFill>
                <a:latin typeface="Calibri" pitchFamily="34" charset="0"/>
                <a:ea typeface="Calibri" pitchFamily="34" charset="-122"/>
                <a:cs typeface="Calibri" pitchFamily="34" charset="-120"/>
              </a:rPr>
              <a:t>Bitcoin Optech's workshop on the signature scheme of chapter 7</a:t>
            </a:r>
            <a:endParaRPr lang="en-US" sz="1000" dirty="0"/>
          </a:p>
        </p:txBody>
      </p:sp>
      <p:sp>
        <p:nvSpPr>
          <p:cNvPr id="39" name="Shape 37"/>
          <p:cNvSpPr/>
          <p:nvPr/>
        </p:nvSpPr>
        <p:spPr>
          <a:xfrm>
            <a:off x="4768596" y="4187952"/>
            <a:ext cx="82296" cy="82296"/>
          </a:xfrm>
          <a:prstGeom prst="ellipse">
            <a:avLst/>
          </a:prstGeom>
          <a:solidFill>
            <a:srgbClr val="D97A14"/>
          </a:solidFill>
          <a:ln w="12700">
            <a:solidFill>
              <a:srgbClr val="D97A14"/>
            </a:solidFill>
            <a:prstDash val="solid"/>
          </a:ln>
        </p:spPr>
      </p:sp>
      <p:sp>
        <p:nvSpPr>
          <p:cNvPr id="40" name="Text 38"/>
          <p:cNvSpPr txBox="1"/>
          <p:nvPr/>
        </p:nvSpPr>
        <p:spPr>
          <a:xfrm>
            <a:off x="4933188" y="4114800"/>
            <a:ext cx="3753612" cy="292608"/>
          </a:xfrm>
          <a:prstGeom prst="rect">
            <a:avLst/>
          </a:prstGeom>
          <a:noFill/>
          <a:ln/>
        </p:spPr>
        <p:txBody>
          <a:bodyPr wrap="square" lIns="0" tIns="0" rIns="0" bIns="0" rtlCol="0" anchor="t"/>
          <a:lstStyle/>
          <a:p>
            <a:pPr indent="0" marL="0">
              <a:buNone/>
            </a:pPr>
            <a:r>
              <a:rPr lang="en-US" sz="1000" b="1" u="sng" dirty="0">
                <a:solidFill>
                  <a:srgbClr val="2F6D62"/>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Tapscript: Optech workshop 2.3 (video)</a:t>
            </a:r>
            <a:endParaRPr lang="en-US" sz="1000" dirty="0"/>
          </a:p>
          <a:p>
            <a:pPr indent="0" marL="0">
              <a:buNone/>
            </a:pPr>
            <a:r>
              <a:rPr lang="en-US" sz="800" dirty="0">
                <a:solidFill>
                  <a:srgbClr val="2B2622"/>
                </a:solidFill>
                <a:latin typeface="Calibri" pitchFamily="34" charset="0"/>
                <a:ea typeface="Calibri" pitchFamily="34" charset="-122"/>
                <a:cs typeface="Calibri" pitchFamily="34" charset="-120"/>
              </a:rPr>
              <a:t>Bitcoin Optech on the three small changes of tapscript</a:t>
            </a:r>
            <a:endParaRPr lang="en-US" sz="1000" dirty="0"/>
          </a:p>
        </p:txBody>
      </p:sp>
      <p:sp>
        <p:nvSpPr>
          <p:cNvPr id="41" name="Shape 39"/>
          <p:cNvSpPr/>
          <p:nvPr/>
        </p:nvSpPr>
        <p:spPr>
          <a:xfrm>
            <a:off x="457200" y="4636008"/>
            <a:ext cx="91440" cy="310896"/>
          </a:xfrm>
          <a:prstGeom prst="rect">
            <a:avLst/>
          </a:prstGeom>
          <a:solidFill>
            <a:srgbClr val="D97A14"/>
          </a:solidFill>
          <a:ln w="12700">
            <a:solidFill>
              <a:srgbClr val="D97A14"/>
            </a:solidFill>
            <a:prstDash val="solid"/>
          </a:ln>
        </p:spPr>
      </p:sp>
      <p:sp>
        <p:nvSpPr>
          <p:cNvPr id="42" name="Text 40"/>
          <p:cNvSpPr txBox="1"/>
          <p:nvPr/>
        </p:nvSpPr>
        <p:spPr>
          <a:xfrm>
            <a:off x="658368" y="4599432"/>
            <a:ext cx="6949440" cy="384048"/>
          </a:xfrm>
          <a:prstGeom prst="rect">
            <a:avLst/>
          </a:prstGeom>
          <a:noFill/>
          <a:ln/>
        </p:spPr>
        <p:txBody>
          <a:bodyPr wrap="square" lIns="0" tIns="0" rIns="0" bIns="0" rtlCol="0" anchor="ctr"/>
          <a:lstStyle/>
          <a:p>
            <a:pPr indent="0" marL="0">
              <a:buNone/>
            </a:pPr>
            <a:r>
              <a:rPr lang="en-US" sz="1350" b="1" i="1" dirty="0">
                <a:solidFill>
                  <a:srgbClr val="2B2622"/>
                </a:solidFill>
                <a:latin typeface="Cambria" pitchFamily="34" charset="0"/>
                <a:ea typeface="Cambria" pitchFamily="34" charset="-122"/>
                <a:cs typeface="Cambria" pitchFamily="34" charset="-120"/>
              </a:rPr>
              <a:t>Run a real spend through the interpreter and match the explorer's verdict</a:t>
            </a:r>
            <a:endParaRPr lang="en-US" sz="1350" dirty="0"/>
          </a:p>
        </p:txBody>
      </p:sp>
      <p:sp>
        <p:nvSpPr>
          <p:cNvPr id="43" name="Text 41"/>
          <p:cNvSpPr txBox="1"/>
          <p:nvPr/>
        </p:nvSpPr>
        <p:spPr>
          <a:xfrm>
            <a:off x="7863840" y="4645152"/>
            <a:ext cx="868680" cy="310896"/>
          </a:xfrm>
          <a:prstGeom prst="rect">
            <a:avLst/>
          </a:prstGeom>
          <a:noFill/>
          <a:ln/>
        </p:spPr>
        <p:txBody>
          <a:bodyPr wrap="square" lIns="0" tIns="0" rIns="0" bIns="0" rtlCol="0" anchor="ctr"/>
          <a:lstStyle/>
          <a:p>
            <a:pPr algn="r" indent="0" marL="0">
              <a:buNone/>
            </a:pPr>
            <a:r>
              <a:rPr lang="en-US" sz="1100" dirty="0">
                <a:solidFill>
                  <a:srgbClr val="6E655C"/>
                </a:solidFill>
                <a:latin typeface="Calibri" pitchFamily="34" charset="0"/>
                <a:ea typeface="Calibri" pitchFamily="34" charset="-122"/>
                <a:cs typeface="Calibri" pitchFamily="34" charset="-120"/>
              </a:rPr>
              <a:t>60 / 61</a:t>
            </a:r>
            <a:endParaRPr lang="en-US" sz="11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AF6EF"/>
        </a:solidFill>
      </p:bgPr>
    </p:bg>
    <p:spTree>
      <p:nvGrpSpPr>
        <p:cNvPr id="1" name=""/>
        <p:cNvGrpSpPr/>
        <p:nvPr/>
      </p:nvGrpSpPr>
      <p:grpSpPr>
        <a:xfrm>
          <a:off x="0" y="0"/>
          <a:ext cx="0" cy="0"/>
          <a:chOff x="0" y="0"/>
          <a:chExt cx="0" cy="0"/>
        </a:xfrm>
      </p:grpSpPr>
      <p:sp>
        <p:nvSpPr>
          <p:cNvPr id="2" name="Shape 0"/>
          <p:cNvSpPr/>
          <p:nvPr/>
        </p:nvSpPr>
        <p:spPr>
          <a:xfrm>
            <a:off x="0" y="0"/>
            <a:ext cx="9144000" cy="219456"/>
          </a:xfrm>
          <a:prstGeom prst="rect">
            <a:avLst/>
          </a:prstGeom>
          <a:solidFill>
            <a:srgbClr val="D97A14"/>
          </a:solidFill>
          <a:ln w="12700">
            <a:solidFill>
              <a:srgbClr val="D97A14"/>
            </a:solidFill>
            <a:prstDash val="solid"/>
          </a:ln>
        </p:spPr>
      </p:sp>
      <p:sp>
        <p:nvSpPr>
          <p:cNvPr id="3" name="Text 1"/>
          <p:cNvSpPr txBox="1"/>
          <p:nvPr/>
        </p:nvSpPr>
        <p:spPr>
          <a:xfrm>
            <a:off x="548640" y="1325880"/>
            <a:ext cx="8046720" cy="868680"/>
          </a:xfrm>
          <a:prstGeom prst="rect">
            <a:avLst/>
          </a:prstGeom>
          <a:noFill/>
          <a:ln/>
        </p:spPr>
        <p:txBody>
          <a:bodyPr wrap="square" lIns="0" tIns="0" rIns="0" bIns="0" rtlCol="0" anchor="ctr"/>
          <a:lstStyle/>
          <a:p>
            <a:pPr indent="0" marL="0">
              <a:buNone/>
            </a:pPr>
            <a:r>
              <a:rPr lang="en-US" sz="2800" b="1" dirty="0">
                <a:solidFill>
                  <a:srgbClr val="2B2622"/>
                </a:solidFill>
                <a:latin typeface="Cambria" pitchFamily="34" charset="0"/>
                <a:ea typeface="Cambria" pitchFamily="34" charset="-122"/>
                <a:cs typeface="Cambria" pitchFamily="34" charset="-120"/>
              </a:rPr>
              <a:t>What you should now be able to say</a:t>
            </a:r>
            <a:endParaRPr lang="en-US" sz="2800" dirty="0"/>
          </a:p>
        </p:txBody>
      </p:sp>
      <p:sp>
        <p:nvSpPr>
          <p:cNvPr id="4" name="Text 2"/>
          <p:cNvSpPr txBox="1"/>
          <p:nvPr/>
        </p:nvSpPr>
        <p:spPr>
          <a:xfrm>
            <a:off x="548640" y="2194560"/>
            <a:ext cx="8046720" cy="548640"/>
          </a:xfrm>
          <a:prstGeom prst="rect">
            <a:avLst/>
          </a:prstGeom>
          <a:noFill/>
          <a:ln/>
        </p:spPr>
        <p:txBody>
          <a:bodyPr wrap="square" lIns="0" tIns="0" rIns="0" bIns="0" rtlCol="0" anchor="t"/>
          <a:lstStyle/>
          <a:p>
            <a:pPr indent="0" marL="0">
              <a:buNone/>
            </a:pPr>
            <a:r>
              <a:rPr lang="en-US" sz="1600" dirty="0">
                <a:solidFill>
                  <a:srgbClr val="2F6D62"/>
                </a:solidFill>
                <a:latin typeface="Calibri" pitchFamily="34" charset="0"/>
                <a:ea typeface="Calibri" pitchFamily="34" charset="-122"/>
                <a:cs typeface="Calibri" pitchFamily="34" charset="-120"/>
              </a:rPr>
              <a:t>And where each claim gets its proof</a:t>
            </a:r>
            <a:endParaRPr lang="en-US" sz="1600" dirty="0"/>
          </a:p>
        </p:txBody>
      </p:sp>
      <p:sp>
        <p:nvSpPr>
          <p:cNvPr id="5" name="Text 3"/>
          <p:cNvSpPr txBox="1"/>
          <p:nvPr/>
        </p:nvSpPr>
        <p:spPr>
          <a:xfrm>
            <a:off x="548640" y="2788920"/>
            <a:ext cx="8046720" cy="1508760"/>
          </a:xfrm>
          <a:prstGeom prst="rect">
            <a:avLst/>
          </a:prstGeom>
          <a:noFill/>
          <a:ln/>
        </p:spPr>
        <p:txBody>
          <a:bodyPr wrap="square" lIns="0" tIns="0" rIns="0" bIns="0" rtlCol="0" anchor="t"/>
          <a:lstStyle/>
          <a:p>
            <a:pPr marL="342900" indent="-342900">
              <a:spcAft>
                <a:spcPts val="400"/>
              </a:spcAft>
              <a:buSzPct val="100000"/>
              <a:buChar char="•"/>
            </a:pPr>
            <a:r>
              <a:rPr lang="en-US" sz="1600" dirty="0">
                <a:solidFill>
                  <a:srgbClr val="2B2622"/>
                </a:solidFill>
                <a:latin typeface="Calibri" pitchFamily="34" charset="0"/>
                <a:ea typeface="Calibri" pitchFamily="34" charset="-122"/>
                <a:cs typeface="Calibri" pitchFamily="34" charset="-120"/>
              </a:rPr>
              <a:t>How a lock and a key decide a spend</a:t>
            </a:r>
            <a:endParaRPr lang="en-US" sz="1600" dirty="0"/>
          </a:p>
          <a:p>
            <a:pPr marL="342900" indent="-342900">
              <a:spcAft>
                <a:spcPts val="400"/>
              </a:spcAft>
              <a:buSzPct val="100000"/>
              <a:buChar char="•"/>
            </a:pPr>
            <a:r>
              <a:rPr lang="en-US" sz="1600" dirty="0">
                <a:solidFill>
                  <a:srgbClr val="2B2622"/>
                </a:solidFill>
                <a:latin typeface="Calibri" pitchFamily="34" charset="0"/>
                <a:ea typeface="Calibri" pitchFamily="34" charset="-122"/>
                <a:cs typeface="Calibri" pitchFamily="34" charset="-120"/>
              </a:rPr>
              <a:t>How signatures and script hashes are checked</a:t>
            </a:r>
            <a:endParaRPr lang="en-US" sz="1600" dirty="0"/>
          </a:p>
          <a:p>
            <a:pPr marL="342900" indent="-342900">
              <a:spcAft>
                <a:spcPts val="400"/>
              </a:spcAft>
              <a:buSzPct val="100000"/>
              <a:buChar char="•"/>
            </a:pPr>
            <a:r>
              <a:rPr lang="en-US" sz="1600" dirty="0">
                <a:solidFill>
                  <a:srgbClr val="2B2622"/>
                </a:solidFill>
                <a:latin typeface="Calibri" pitchFamily="34" charset="0"/>
                <a:ea typeface="Calibri" pitchFamily="34" charset="-122"/>
                <a:cs typeface="Calibri" pitchFamily="34" charset="-120"/>
              </a:rPr>
              <a:t>How timelocks shape who spends, and when</a:t>
            </a:r>
            <a:endParaRPr lang="en-US" sz="1600" dirty="0"/>
          </a:p>
          <a:p>
            <a:pPr marL="342900" indent="-342900">
              <a:spcAft>
                <a:spcPts val="400"/>
              </a:spcAft>
              <a:buSzPct val="100000"/>
              <a:buChar char="•"/>
            </a:pPr>
            <a:r>
              <a:rPr lang="en-US" sz="1600" dirty="0">
                <a:solidFill>
                  <a:srgbClr val="2B2622"/>
                </a:solidFill>
                <a:latin typeface="Calibri" pitchFamily="34" charset="0"/>
                <a:ea typeface="Calibri" pitchFamily="34" charset="-122"/>
                <a:cs typeface="Calibri" pitchFamily="34" charset="-120"/>
              </a:rPr>
              <a:t>What segwit and taproot change</a:t>
            </a:r>
            <a:endParaRPr lang="en-US" sz="1600" dirty="0"/>
          </a:p>
        </p:txBody>
      </p:sp>
      <p:sp>
        <p:nvSpPr>
          <p:cNvPr id="6" name="Text 4"/>
          <p:cNvSpPr txBox="1"/>
          <p:nvPr/>
        </p:nvSpPr>
        <p:spPr>
          <a:xfrm>
            <a:off x="548640" y="4407408"/>
            <a:ext cx="7132320" cy="457200"/>
          </a:xfrm>
          <a:prstGeom prst="rect">
            <a:avLst/>
          </a:prstGeom>
          <a:noFill/>
          <a:ln/>
        </p:spPr>
        <p:txBody>
          <a:bodyPr wrap="square" lIns="0" tIns="0" rIns="0" bIns="0" rtlCol="0" anchor="ctr"/>
          <a:lstStyle/>
          <a:p>
            <a:pPr indent="0" marL="0">
              <a:buNone/>
            </a:pPr>
            <a:r>
              <a:rPr lang="en-US" sz="2000" i="1" dirty="0">
                <a:solidFill>
                  <a:srgbClr val="6E655C"/>
                </a:solidFill>
                <a:latin typeface="Cambria" pitchFamily="34" charset="0"/>
                <a:ea typeface="Cambria" pitchFamily="34" charset="-122"/>
                <a:cs typeface="Cambria" pitchFamily="34" charset="-120"/>
              </a:rPr>
              <a:t>Questions?</a:t>
            </a:r>
            <a:endParaRPr lang="en-US" sz="2000" dirty="0"/>
          </a:p>
        </p:txBody>
      </p:sp>
      <p:sp>
        <p:nvSpPr>
          <p:cNvPr id="7" name="Text 5"/>
          <p:cNvSpPr txBox="1"/>
          <p:nvPr/>
        </p:nvSpPr>
        <p:spPr>
          <a:xfrm>
            <a:off x="7863840" y="4645152"/>
            <a:ext cx="868680" cy="310896"/>
          </a:xfrm>
          <a:prstGeom prst="rect">
            <a:avLst/>
          </a:prstGeom>
          <a:noFill/>
          <a:ln/>
        </p:spPr>
        <p:txBody>
          <a:bodyPr wrap="square" lIns="0" tIns="0" rIns="0" bIns="0" rtlCol="0" anchor="ctr"/>
          <a:lstStyle/>
          <a:p>
            <a:pPr algn="r" indent="0" marL="0">
              <a:buNone/>
            </a:pPr>
            <a:r>
              <a:rPr lang="en-US" sz="1100" dirty="0">
                <a:solidFill>
                  <a:srgbClr val="6E655C"/>
                </a:solidFill>
                <a:latin typeface="Calibri" pitchFamily="34" charset="0"/>
                <a:ea typeface="Calibri" pitchFamily="34" charset="-122"/>
                <a:cs typeface="Calibri" pitchFamily="34" charset="-120"/>
              </a:rPr>
              <a:t>61 / 61</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61</Slides>
  <Notes>61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61</vt:i4>
      </vt:variant>
    </vt:vector>
  </HeadingPairs>
  <TitlesOfParts>
    <vt:vector size="6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SEN0401 Chapter 7</dc:title>
  <dc:subject>PptxGenJS Presentation</dc:subject>
  <dc:creator>Yusuf Altunel</dc:creator>
  <cp:lastModifiedBy>Yusuf Altunel</cp:lastModifiedBy>
  <cp:revision>1</cp:revision>
  <dcterms:created xsi:type="dcterms:W3CDTF">2026-10-24T08:15:21Z</dcterms:created>
  <dcterms:modified xsi:type="dcterms:W3CDTF">2026-10-24T08:15:21Z</dcterms:modified>
  <cp:version>2.0.0</cp:version>
</cp:coreProperties>
</file>