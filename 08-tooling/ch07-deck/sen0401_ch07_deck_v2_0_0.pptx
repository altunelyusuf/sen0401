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18-1.jpg" ContentType="image/jpg"/>
  <Override PartName="/ppt/media/image-5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hashes in the proof</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c:v>
                  </c:pt>
                  <c:pt idx="1">
                    <c:v>8</c:v>
                  </c:pt>
                  <c:pt idx="2">
                    <c:v>1,024</c:v>
                  </c:pt>
                  <c:pt idx="3">
                    <c:v>1,048,576</c:v>
                  </c:pt>
                </c:lvl>
              </c:multiLvlStrCache>
            </c:multiLvlStrRef>
          </c:cat>
          <c:val>
            <c:numRef>
              <c:f>Sheet1!$B$2:$B$5</c:f>
              <c:numCache>
                <c:formatCode>General</c:formatCode>
                <c:ptCount val="4"/>
                <c:pt idx="0">
                  <c:v>2</c:v>
                </c:pt>
                <c:pt idx="1">
                  <c:v>3</c:v>
                </c:pt>
                <c:pt idx="2">
                  <c:v>10</c:v>
                </c:pt>
                <c:pt idx="3">
                  <c:v>20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taproot script path</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witness script hash</c:v>
                </c:pt>
              </c:strCache>
            </c:strRef>
          </c:tx>
          <c:spPr>
            <a:solidFill>
              <a:srgbClr val="2F6D62"/>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Sheet1!$C$2:$C$4</c:f>
              <c:numCache>
                <c:formatCode>General</c:formatCode>
                <c:ptCount val="3"/>
                <c:pt idx="0">
                  <c:v>585</c:v>
                </c:pt>
                <c:pt idx="1">
                  <c:v>584</c:v>
                </c:pt>
                <c:pt idx="2">
                  <c:v>509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 the spender supplies the key, and every node runs both and accepts only a true result. Every spend shown ran in the chapter's own interpreter;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nine parts that follow the order in which Bitcoin gained its spending conditions. Three true stories and fifteen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shortened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nine parts and 87 concepts. Each part gets a divider, concept cards with everyday comparisons and code that runs, and some parts a true story. The deck follows the order in which Bitcoin gained its spending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coin is locked by a small program. This part shows the language, its stack and the two scripts that run one after the other. A bug of 2010 shows why they must run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Scripts and Script Language, Turing Incompleteness, Stateless Verification and Script Construction.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reads its words from left to right. Numbers are pushed on the stack, and OP_ADD replaces the top two by their sum. OP_EQUAL compares the sum with five, so the spend is true with five and false with six.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script execution stack, A simple script, Separate execution of output and input scripts and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2010 the software joined the input script and the output script into one program. An input script of 1 then OP_RETURN ended the run with a true value before the lock ran. Today the scripts run apart.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The lesson: run the two scripts separately, and fail closed on anything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stack, Turing complete, output script and input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scriptSig and scriptPubKey.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lock asks for a signature from one key. We lock a coin to the hash of a public key, check a signature, and see why the strict signature format caused a fork in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Public Key Hash, public key hash and OP_CHECKSIG.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holds the hash of a public key. The spender shows the key and a signature over the transaction. A wrong key fails, and so does a changed amount, because the signature covers the 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signature hash, hash type and DER.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is two numbers, r and s, written in DER with a hash type at the end. A padded form was once accepted. Since BIP66 only the strict form is valid, which is the rule behind the fork of 2015.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The lesson: a rule that you do not check for yourself protects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lock can ask for t signatures out of k keys. We run a real two-of-three spend, see why the signatures must follow the order of the keys, and meet the extra element that the opcode pops.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Scripted Multisignatures, An Oddity in CHECKMULTISIG Execution and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lock lists three keys and wants two signatures in the same order. A single signature fails. The opcode also pops one item too many, so a dummy sits in front and must be empty.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OP_CHECKMULTISIG and dummy element.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lock is costly for the payer. Pay to script hash puts only a hash in the output and lets the spender reveal the script. We build one and watch a wrong script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Script Hash, P2SH Addresses and Benefits of P2SH.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holds only the 20-byte hash of the script, so the payer pays for a short lock. The spender reveals the script, nodes hash it, compare, and then run it. A script that hashes differently fails.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Redeem Script and Validation, redeem script and P2SH address.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locks. One records a few bytes of data and can never be spent. The others make a coin wait, until a time or block, or for an age counted from the day it was 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Data Recording Output (OP_RETURN), Transaction Lock Time Limitations, Check Lock Time Verify (OP_CLTV) and Relative Timelocks.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holds a block number. The spending transaction must carry a lock time of at least that number, and its sequence must not be final. One block too early fails, and so does a final sequence.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Relative Timelocks with OP_CSV, OP_RETURN, data carrier output and lock time.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relative lock counts from the block that confirmed the coin. The input's sequence must reach 4,320 blocks, about thirty days, and the transaction must be version 2. Setting bit 31 turns the lock off.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OP_CHECKLOCKTIMEVERIFY, sequence and OP_CHECKSEQUENCEVERIFY.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can choose between paths, and a check can stop it early. We combine both in a capital account that partners open at once, a lawyer opens after thirty days, and the lawyer alone after ninety.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 with Flow Control (Conditional Clauses), Conditional Clauses with VERIFY Opcodes, Using Flow Control in Scripts and Complex Script Example.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Mohammed's capital account uses OP_IF to pick a path. Two of three partners may spend at once. The lawyer with one partner must wait 4,320 blocks, and the lawyer alone 12,960. Each path runs for real.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OP_IF, conditional clause, OP_VERIFY and Miniscript.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moves the proof out of the transaction identifier. We spend a witness key hash, look at what real inputs of one block spend, and see why this upgrade was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Output and Transaction Examples, Pay to witness public key hash (P2WPKH), Wallet construction of P2WPKH and Pay to witness script hash (P2WSH).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key-hash output is 22 bytes. The signature and the key travel in the witness, not in the input script. They work directly and nested in a script hash, and the signature covers the amount.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599 transactions of block 775,072 hold 1,022 inputs. Our interpreter verified each of them and sorted them by spending type. Segwit key hashes dominate, legacy key hashes follow, and taproot is still a handful.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Differentiating between P2WPKH and P2WSH, Upgrading to Segregated Witness, Embedding segregated witness inside P2SH and Nested pay to witness public key hash.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Nested pay to witness script hash, segregated witness, witness program and P2WPKH.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P2WSH, bech32, nested segregated witness and soft fork.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that taproot combines. A tree of scripts is committed to by one hash, and a key can be tweaked to commit to hidden data, so many signers look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Merklized Alternative Script Trees (MAST), Pay to Contract (P2C), Scriptless Multisignatures and Threshold Signatures and MAST.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spender reveals one script and the sibling hashes up to the root. Our three scripts need two, two and one. Every doubling of the tree adds one hash, so a tree of a million scripts needs twenty.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merkle root, membership proof, key tweak and scriptless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threshold signature and partial public 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gives an output one key that hides a tree. We spend it by key and by script, count signatures with a new opcode, and end with a story of a patented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Tapscript, keypath spending and scriptpath spending.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taproot output holds one 32-byte key. Spending by key path needs a single 64-byte Schnorr signature, and nothing about the hidden scripts is revealed. A key that was not tweaked correctly is refused.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internal key, taproot output key, leaf script and OP_CHECKSIGADD.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by script path reveals one leaf script, its data and a control block with the proof. All three paths of the account script verify. Their weights are close to those of the same paths in a witness script hash.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schnorr signature, OP_SUCCESS and mutual satisfaction.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Tapscript drops the old multisignature opcode. A script checks each key in turn and adds one to a counter per valid signature, then compares the counter with t. The script is a byte shorter than before.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tapscript 87 opcode values are OP_SUCCESS: a script that contains one succeeds on sight. This leaves room for future soft forks. The disabled shift of the old language still fails in an old script.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result in it was computed there. The chapter code tab of the course page lets you rerun all fifteen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exercise is to take any spend from the explorer and run it through the chapter's interpreter. The course page for chapter 7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runs of the chapter's own interpreter on slides of this deck. The course page for chapter 7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en.bitcoin.it/wiki/Common_Vulnerabilities_and_Exposures#CVE-2010-5141"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bitcoinops.org/en/topics/taproot/" TargetMode="External"/><Relationship Id="rId4" Type="http://schemas.openxmlformats.org/officeDocument/2006/relationships/hyperlink" Target="https://en.bitcoin.it/wiki/Taproot" TargetMode="External"/><Relationship Id="rId5" Type="http://schemas.openxmlformats.org/officeDocument/2006/relationships/hyperlink" Target="https://bips.dev/66/" TargetMode="External"/><Relationship Id="rId6" Type="http://schemas.openxmlformats.org/officeDocument/2006/relationships/hyperlink" Target="https://bips.dev/141/" TargetMode="External"/><Relationship Id="rId7" Type="http://schemas.openxmlformats.org/officeDocument/2006/relationships/hyperlink" Target="https://bips.dev/341/" TargetMode="External"/><Relationship Id="rId8" Type="http://schemas.openxmlformats.org/officeDocument/2006/relationships/hyperlink" Target="https://bips.dev/342/" TargetMode="External"/><Relationship Id="rId9" Type="http://schemas.openxmlformats.org/officeDocument/2006/relationships/hyperlink" Target="https://raw.githubusercontent.com/bitcoin/bitcoin/v0.3.0/script.cpp" TargetMode="External"/><Relationship Id="rId10" Type="http://schemas.openxmlformats.org/officeDocument/2006/relationships/hyperlink" Target="https://en.bitcoin.it/wiki/Common_Vulnerabilities_and_Exposures#CVE-2010-5141" TargetMode="External"/><Relationship Id="rId11" Type="http://schemas.openxmlformats.org/officeDocument/2006/relationships/hyperlink" Target="https://bitcoin.org/en/alert/2015-07-04-spv-mining" TargetMode="External"/><Relationship Id="rId12" Type="http://schemas.openxmlformats.org/officeDocument/2006/relationships/hyperlink" Target="https://bitcoin.stackexchange.com" TargetMode="External"/><Relationship Id="rId13" Type="http://schemas.openxmlformats.org/officeDocument/2006/relationships/hyperlink" Target="https://delvingbitcoin.org/" TargetMode="External"/><Relationship Id="rId14" Type="http://schemas.openxmlformats.org/officeDocument/2006/relationships/hyperlink" Target="https://www.youtube.com/embed/wybiVFdknhg" TargetMode="External"/><Relationship Id="rId15" Type="http://schemas.openxmlformats.org/officeDocument/2006/relationships/hyperlink" Target="https://www.youtube.com/embed/nXGe9_M5pjk" TargetMode="External"/><Relationship Id="rId16" Type="http://schemas.openxmlformats.org/officeDocument/2006/relationships/slideLayout" Target="../slideLayouts/slideLayout1.xml"/><Relationship Id="rId1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411480"/>
            <a:ext cx="4937760" cy="10972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locking and unlocking scripts,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Nine parts; every number is a slide you can jump to</a:t>
            </a:r>
            <a:endParaRPr lang="en-US" sz="1300" dirty="0"/>
          </a:p>
        </p:txBody>
      </p:sp>
      <p:sp>
        <p:nvSpPr>
          <p:cNvPr id="6" name="Shape 4"/>
          <p:cNvSpPr/>
          <p:nvPr/>
        </p:nvSpPr>
        <p:spPr>
          <a:xfrm>
            <a:off x="457200" y="1280160"/>
            <a:ext cx="1822704"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2517648"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Scripts and the Script language</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5-12)</a:t>
            </a:r>
            <a:endParaRPr lang="en-US" sz="1100" dirty="0"/>
          </a:p>
        </p:txBody>
      </p:sp>
      <p:sp>
        <p:nvSpPr>
          <p:cNvPr id="10" name="Shape 8"/>
          <p:cNvSpPr/>
          <p:nvPr/>
        </p:nvSpPr>
        <p:spPr>
          <a:xfrm>
            <a:off x="4395216" y="1280160"/>
            <a:ext cx="1822704"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4486656"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Locking a coin to a key</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13-18)</a:t>
            </a:r>
            <a:endParaRPr lang="en-US" sz="1100" dirty="0"/>
          </a:p>
        </p:txBody>
      </p:sp>
      <p:sp>
        <p:nvSpPr>
          <p:cNvPr id="12" name="Shape 10"/>
          <p:cNvSpPr/>
          <p:nvPr/>
        </p:nvSpPr>
        <p:spPr>
          <a:xfrm>
            <a:off x="457200" y="2112264"/>
            <a:ext cx="1822704"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548640"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Scripted multisignatures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19-22)</a:t>
            </a:r>
            <a:endParaRPr lang="en-US" sz="1100" dirty="0"/>
          </a:p>
        </p:txBody>
      </p:sp>
      <p:sp>
        <p:nvSpPr>
          <p:cNvPr id="14" name="Shape 12"/>
          <p:cNvSpPr/>
          <p:nvPr/>
        </p:nvSpPr>
        <p:spPr>
          <a:xfrm>
            <a:off x="2426208" y="2112264"/>
            <a:ext cx="1822704"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2517648"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Pay to script hash</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23-26)</a:t>
            </a:r>
            <a:endParaRPr lang="en-US" sz="1100" dirty="0"/>
          </a:p>
        </p:txBody>
      </p:sp>
      <p:sp>
        <p:nvSpPr>
          <p:cNvPr id="16" name="Shape 14"/>
          <p:cNvSpPr/>
          <p:nvPr/>
        </p:nvSpPr>
        <p:spPr>
          <a:xfrm>
            <a:off x="4395216" y="2112264"/>
            <a:ext cx="1822704"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4486656"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Data and timelocks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27-32)</a:t>
            </a:r>
            <a:endParaRPr lang="en-US" sz="1100" dirty="0"/>
          </a:p>
        </p:txBody>
      </p:sp>
      <p:sp>
        <p:nvSpPr>
          <p:cNvPr id="18" name="Shape 16"/>
          <p:cNvSpPr/>
          <p:nvPr/>
        </p:nvSpPr>
        <p:spPr>
          <a:xfrm>
            <a:off x="457200" y="2944368"/>
            <a:ext cx="1822704"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Flow control and complex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33-36)</a:t>
            </a:r>
            <a:endParaRPr lang="en-US" sz="1100" dirty="0"/>
          </a:p>
        </p:txBody>
      </p:sp>
      <p:sp>
        <p:nvSpPr>
          <p:cNvPr id="20" name="Shape 18"/>
          <p:cNvSpPr/>
          <p:nvPr/>
        </p:nvSpPr>
        <p:spPr>
          <a:xfrm>
            <a:off x="2426208" y="2944368"/>
            <a:ext cx="1822704" cy="704088"/>
          </a:xfrm>
          <a:prstGeom prst="roundRect">
            <a:avLst>
              <a:gd name="adj" fmla="val 10390"/>
            </a:avLst>
          </a:prstGeom>
          <a:solidFill>
            <a:srgbClr val="F2ECE1"/>
          </a:solidFill>
          <a:ln w="12700">
            <a:solidFill>
              <a:srgbClr val="DFD6C7"/>
            </a:solidFill>
            <a:prstDash val="solid"/>
          </a:ln>
        </p:spPr>
      </p:sp>
      <p:sp>
        <p:nvSpPr>
          <p:cNvPr id="21" name="Text 19"/>
          <p:cNvSpPr txBox="1"/>
          <p:nvPr/>
        </p:nvSpPr>
        <p:spPr>
          <a:xfrm>
            <a:off x="2517648"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Segregated witness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37-44)</a:t>
            </a:r>
            <a:endParaRPr lang="en-US" sz="1100" dirty="0"/>
          </a:p>
        </p:txBody>
      </p:sp>
      <p:sp>
        <p:nvSpPr>
          <p:cNvPr id="22" name="Shape 20"/>
          <p:cNvSpPr/>
          <p:nvPr/>
        </p:nvSpPr>
        <p:spPr>
          <a:xfrm>
            <a:off x="4395216" y="2944368"/>
            <a:ext cx="1822704" cy="704088"/>
          </a:xfrm>
          <a:prstGeom prst="roundRect">
            <a:avLst>
              <a:gd name="adj" fmla="val 10390"/>
            </a:avLst>
          </a:prstGeom>
          <a:solidFill>
            <a:srgbClr val="F2ECE1"/>
          </a:solidFill>
          <a:ln w="12700">
            <a:solidFill>
              <a:srgbClr val="DFD6C7"/>
            </a:solidFill>
            <a:prstDash val="solid"/>
          </a:ln>
        </p:spPr>
      </p:sp>
      <p:sp>
        <p:nvSpPr>
          <p:cNvPr id="23" name="Text 21"/>
          <p:cNvSpPr txBox="1"/>
          <p:nvPr/>
        </p:nvSpPr>
        <p:spPr>
          <a:xfrm>
            <a:off x="4486656"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9. Script trees and key tweaks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45-49)</a:t>
            </a:r>
            <a:endParaRPr lang="en-US" sz="1100" dirty="0"/>
          </a:p>
        </p:txBody>
      </p:sp>
      <p:sp>
        <p:nvSpPr>
          <p:cNvPr id="24" name="Shape 22"/>
          <p:cNvSpPr/>
          <p:nvPr/>
        </p:nvSpPr>
        <p:spPr>
          <a:xfrm>
            <a:off x="457200" y="3776472"/>
            <a:ext cx="1822704" cy="704088"/>
          </a:xfrm>
          <a:prstGeom prst="roundRect">
            <a:avLst>
              <a:gd name="adj" fmla="val 10390"/>
            </a:avLst>
          </a:prstGeom>
          <a:solidFill>
            <a:srgbClr val="F2ECE1"/>
          </a:solidFill>
          <a:ln w="12700">
            <a:solidFill>
              <a:srgbClr val="DFD6C7"/>
            </a:solidFill>
            <a:prstDash val="solid"/>
          </a:ln>
        </p:spPr>
      </p:sp>
      <p:sp>
        <p:nvSpPr>
          <p:cNvPr id="25" name="Text 23"/>
          <p:cNvSpPr txBox="1"/>
          <p:nvPr/>
        </p:nvSpPr>
        <p:spPr>
          <a:xfrm>
            <a:off x="548640" y="3831336"/>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10. Taproot and tapscript</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50-61)</a:t>
            </a:r>
            <a:endParaRPr lang="en-US" sz="1100" dirty="0"/>
          </a:p>
        </p:txBody>
      </p:sp>
      <p:sp>
        <p:nvSpPr>
          <p:cNvPr id="26" name="Shape 24"/>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61</a:t>
            </a:r>
            <a:endParaRPr lang="en-US" sz="2600" dirty="0"/>
          </a:p>
        </p:txBody>
      </p:sp>
      <p:sp>
        <p:nvSpPr>
          <p:cNvPr id="28" name="Text 26"/>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9" name="Shape 27"/>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30" name="Text 28"/>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31" name="Text 29"/>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2" name="Shape 30"/>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3" name="Text 31"/>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4" name="Text 32"/>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fifteen runs and three true stories</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an output script and an input script together decide a spend?</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is Script not Turing complete, and why can every node verify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key hashes, multisignatures and script hashes move cost to the spender?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lock time and sequence make a spend wait?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segregated witness fix malleability without splitting the network?</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taproot hide, and what does a key path or script path reveal?</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tapscript change in the language?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950976"/>
          </a:xfrm>
          <a:prstGeom prst="roundRect">
            <a:avLst>
              <a:gd name="adj" fmla="val 7692"/>
            </a:avLst>
          </a:prstGeom>
          <a:solidFill>
            <a:srgbClr val="F2ECE1"/>
          </a:solidFill>
          <a:ln w="12700">
            <a:solidFill>
              <a:srgbClr val="DFD6C7"/>
            </a:solidFill>
            <a:prstDash val="solid"/>
          </a:ln>
        </p:spPr>
      </p:sp>
      <p:sp>
        <p:nvSpPr>
          <p:cNvPr id="7" name="Text 5"/>
          <p:cNvSpPr txBox="1"/>
          <p:nvPr/>
        </p:nvSpPr>
        <p:spPr>
          <a:xfrm>
            <a:off x="548640"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Scripts and the Script language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8" name="Shape 6"/>
          <p:cNvSpPr/>
          <p:nvPr/>
        </p:nvSpPr>
        <p:spPr>
          <a:xfrm>
            <a:off x="3249168" y="1280160"/>
            <a:ext cx="2645664" cy="950976"/>
          </a:xfrm>
          <a:prstGeom prst="roundRect">
            <a:avLst>
              <a:gd name="adj" fmla="val 7692"/>
            </a:avLst>
          </a:prstGeom>
          <a:solidFill>
            <a:srgbClr val="F2ECE1"/>
          </a:solidFill>
          <a:ln w="12700">
            <a:solidFill>
              <a:srgbClr val="DFD6C7"/>
            </a:solidFill>
            <a:prstDash val="solid"/>
          </a:ln>
        </p:spPr>
      </p:sp>
      <p:sp>
        <p:nvSpPr>
          <p:cNvPr id="9" name="Text 7"/>
          <p:cNvSpPr txBox="1"/>
          <p:nvPr/>
        </p:nvSpPr>
        <p:spPr>
          <a:xfrm>
            <a:off x="3340608"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Locking a coin to a key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0" name="Shape 8"/>
          <p:cNvSpPr/>
          <p:nvPr/>
        </p:nvSpPr>
        <p:spPr>
          <a:xfrm>
            <a:off x="6041136" y="1280160"/>
            <a:ext cx="2645664" cy="950976"/>
          </a:xfrm>
          <a:prstGeom prst="roundRect">
            <a:avLst>
              <a:gd name="adj" fmla="val 7692"/>
            </a:avLst>
          </a:prstGeom>
          <a:solidFill>
            <a:srgbClr val="F2ECE1"/>
          </a:solidFill>
          <a:ln w="12700">
            <a:solidFill>
              <a:srgbClr val="DFD6C7"/>
            </a:solidFill>
            <a:prstDash val="solid"/>
          </a:ln>
        </p:spPr>
      </p:sp>
      <p:sp>
        <p:nvSpPr>
          <p:cNvPr id="11" name="Text 9"/>
          <p:cNvSpPr txBox="1"/>
          <p:nvPr/>
        </p:nvSpPr>
        <p:spPr>
          <a:xfrm>
            <a:off x="6132576"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Scripted multisignatures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12" name="Shape 10"/>
          <p:cNvSpPr/>
          <p:nvPr/>
        </p:nvSpPr>
        <p:spPr>
          <a:xfrm>
            <a:off x="457200" y="2359152"/>
            <a:ext cx="2645664" cy="950976"/>
          </a:xfrm>
          <a:prstGeom prst="roundRect">
            <a:avLst>
              <a:gd name="adj" fmla="val 7692"/>
            </a:avLst>
          </a:prstGeom>
          <a:solidFill>
            <a:srgbClr val="F2ECE1"/>
          </a:solidFill>
          <a:ln w="12700">
            <a:solidFill>
              <a:srgbClr val="DFD6C7"/>
            </a:solidFill>
            <a:prstDash val="solid"/>
          </a:ln>
        </p:spPr>
      </p:sp>
      <p:sp>
        <p:nvSpPr>
          <p:cNvPr id="13" name="Text 11"/>
          <p:cNvSpPr txBox="1"/>
          <p:nvPr/>
        </p:nvSpPr>
        <p:spPr>
          <a:xfrm>
            <a:off x="548640"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Pay to script hash</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4" name="Shape 12"/>
          <p:cNvSpPr/>
          <p:nvPr/>
        </p:nvSpPr>
        <p:spPr>
          <a:xfrm>
            <a:off x="3249168" y="2359152"/>
            <a:ext cx="2645664" cy="950976"/>
          </a:xfrm>
          <a:prstGeom prst="roundRect">
            <a:avLst>
              <a:gd name="adj" fmla="val 7692"/>
            </a:avLst>
          </a:prstGeom>
          <a:solidFill>
            <a:srgbClr val="F2ECE1"/>
          </a:solidFill>
          <a:ln w="12700">
            <a:solidFill>
              <a:srgbClr val="DFD6C7"/>
            </a:solidFill>
            <a:prstDash val="solid"/>
          </a:ln>
        </p:spPr>
      </p:sp>
      <p:sp>
        <p:nvSpPr>
          <p:cNvPr id="15" name="Text 13"/>
          <p:cNvSpPr txBox="1"/>
          <p:nvPr/>
        </p:nvSpPr>
        <p:spPr>
          <a:xfrm>
            <a:off x="3340608"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Data and timelocks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250" dirty="0"/>
          </a:p>
        </p:txBody>
      </p:sp>
      <p:sp>
        <p:nvSpPr>
          <p:cNvPr id="16" name="Shape 14"/>
          <p:cNvSpPr/>
          <p:nvPr/>
        </p:nvSpPr>
        <p:spPr>
          <a:xfrm>
            <a:off x="6041136" y="2359152"/>
            <a:ext cx="2645664" cy="950976"/>
          </a:xfrm>
          <a:prstGeom prst="roundRect">
            <a:avLst>
              <a:gd name="adj" fmla="val 7692"/>
            </a:avLst>
          </a:prstGeom>
          <a:solidFill>
            <a:srgbClr val="F2ECE1"/>
          </a:solidFill>
          <a:ln w="12700">
            <a:solidFill>
              <a:srgbClr val="DFD6C7"/>
            </a:solidFill>
            <a:prstDash val="solid"/>
          </a:ln>
        </p:spPr>
      </p:sp>
      <p:sp>
        <p:nvSpPr>
          <p:cNvPr id="17" name="Text 15"/>
          <p:cNvSpPr txBox="1"/>
          <p:nvPr/>
        </p:nvSpPr>
        <p:spPr>
          <a:xfrm>
            <a:off x="6132576"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Flow control and complex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8" name="Shape 16"/>
          <p:cNvSpPr/>
          <p:nvPr/>
        </p:nvSpPr>
        <p:spPr>
          <a:xfrm>
            <a:off x="457200" y="3438144"/>
            <a:ext cx="2645664"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548640"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Segregated witness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16 concepts</a:t>
            </a:r>
            <a:endParaRPr lang="en-US" sz="1250" dirty="0"/>
          </a:p>
        </p:txBody>
      </p:sp>
      <p:sp>
        <p:nvSpPr>
          <p:cNvPr id="20" name="Shape 18"/>
          <p:cNvSpPr/>
          <p:nvPr/>
        </p:nvSpPr>
        <p:spPr>
          <a:xfrm>
            <a:off x="3249168" y="3438144"/>
            <a:ext cx="2645664" cy="950976"/>
          </a:xfrm>
          <a:prstGeom prst="roundRect">
            <a:avLst>
              <a:gd name="adj" fmla="val 7692"/>
            </a:avLst>
          </a:prstGeom>
          <a:solidFill>
            <a:srgbClr val="F2ECE1"/>
          </a:solidFill>
          <a:ln w="12700">
            <a:solidFill>
              <a:srgbClr val="DFD6C7"/>
            </a:solidFill>
            <a:prstDash val="solid"/>
          </a:ln>
        </p:spPr>
      </p:sp>
      <p:sp>
        <p:nvSpPr>
          <p:cNvPr id="21" name="Text 19"/>
          <p:cNvSpPr txBox="1"/>
          <p:nvPr/>
        </p:nvSpPr>
        <p:spPr>
          <a:xfrm>
            <a:off x="3340608"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 trees and key tweaks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22" name="Shape 20"/>
          <p:cNvSpPr/>
          <p:nvPr/>
        </p:nvSpPr>
        <p:spPr>
          <a:xfrm>
            <a:off x="6041136" y="3438144"/>
            <a:ext cx="2645664" cy="950976"/>
          </a:xfrm>
          <a:prstGeom prst="roundRect">
            <a:avLst>
              <a:gd name="adj" fmla="val 7692"/>
            </a:avLst>
          </a:prstGeom>
          <a:solidFill>
            <a:srgbClr val="D97A14"/>
          </a:solidFill>
          <a:ln w="12700">
            <a:solidFill>
              <a:srgbClr val="D97A14"/>
            </a:solidFill>
            <a:prstDash val="solid"/>
          </a:ln>
        </p:spPr>
      </p:sp>
      <p:sp>
        <p:nvSpPr>
          <p:cNvPr id="23" name="Text 21"/>
          <p:cNvSpPr txBox="1"/>
          <p:nvPr/>
        </p:nvSpPr>
        <p:spPr>
          <a:xfrm>
            <a:off x="6132576" y="3493008"/>
            <a:ext cx="2462784"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Taproot and tapscript</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every slide today lives on this map</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Script language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is a lock and key recipe that every node checks the same way.</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Language and limits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Script is, and why it is kept small and free of loops.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calculator rather than a full computer.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Locking and running</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an output script and an input script run one after the other.</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padlock and the key that must be shown to it.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Scripts and Script Language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small language in which every coin's spending rule is written.</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rulebook that every cashier in the world reads the same way.</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Incompleteness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Script has no loops, so every program 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without a repeat-forever step.</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Stateless Verification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script's result depends only on the script and its inputs.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sum whose answer never depends on the day or the machine.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Construction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and the unlocking data are built separately and checked together.</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made by one person and a key cut by another.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Script is arithmetic on a stack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script of the chapter, run in the chapter's interpreter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5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6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code = L.assemble(</a:t>
            </a:r>
            <a:r>
              <a:rPr lang="en-US" sz="1000" dirty="0">
                <a:solidFill>
                  <a:srgbClr val="9ECBFF"/>
                </a:solidFill>
                <a:latin typeface="Courier New" pitchFamily="34" charset="0"/>
                <a:ea typeface="Courier New" pitchFamily="34" charset="-122"/>
                <a:cs typeface="Courier New" pitchFamily="34" charset="-120"/>
              </a:rPr>
              <a:t>'2 3 OP_ADD 5 OP_EQUAL'</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bad, 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'5253935587']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script is read left to right; numbers are pushed and operations use the top items.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the five to a six and the same script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assembler turns the five words into five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names as in the chapter setup</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script with a five and a six</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Program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5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6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Assembled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5253935587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sum is five, so the first script ends true and the second false. The five words assemble to five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Numbers are pushed; an operation takes its inputs from the top</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script execution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Items are pushed and popped in last-in, first-out order.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plates where you touch only the top one.</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simple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3 OP_ADD 5 OP_EQUAL adds two numbers and compares the sum.</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adds two prices and checks the total.</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Separate execution of output and input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scripts run apart; only the stack passes between them.</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people in two rooms passing one tray through a hatch.</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list of data items and operation words.</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shopping list that also says what to do with each item.</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OP_RETURN bug of 2010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Joined scripts against separate scripts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joined = old_joined(</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now = L.run(</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 flags=())</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a:t>
            </a:r>
            <a:r>
              <a:rPr lang="en-US" sz="1000" dirty="0">
                <a:solidFill>
                  <a:srgbClr val="9ECBFF"/>
                </a:solidFill>
                <a:latin typeface="Courier New" pitchFamily="34" charset="0"/>
                <a:ea typeface="Courier New" pitchFamily="34" charset="-122"/>
                <a:cs typeface="Courier New" pitchFamily="34" charset="-120"/>
              </a:rPr>
              <a:t>'0x06'</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'secret'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real = L.run(key, LOCK,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[joined, now, real]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'OP_RETURN',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software joined both scripts into one program that stopped at OP_RETURN.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 the scripts run apart, and OP_RETURN makes the spend fail.</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real secret opens the lock, in both engines.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spend that has no secret, and one that has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Engine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2010: joined scripts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Today: scripts apart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OP_RETURN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Real secret, today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 the old engine OK means that anyone could spend the coin. Today the same input fails with OP_RETURN.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the two scripts apart, and fail closed on anything unknown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of 2010 that let anyone spend any output</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July 2010 two bugs were shown on the test network; one let a stranger spend coins that were not theirs.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first software joined input and output script into one program, and OP_RETURN jumped to its end with a true result.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 input script of 1 then OP_RETURN ended the run true; version 0.3.5 fixed it, and later versions run the scripts apart.</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Many unused opcodes were disabled; in tapscript such values, like OP_LSHIFT (152), are now OP_SUCCESS.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 test network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2010-07-28</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pile of items on which a script works.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spike on a desk where notes are pushed on top.</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complete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language that can compute anything given time; Script cannot.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full workshop, where Script offers one screwdriver.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that the payer places on a coin.</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padlock a payer fastens onto a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data a spender shows to open the lock.</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that is held up to the padlock.</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input script.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signature card that is presented at the counter.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scriptPubKey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output script.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plate on a mailbox that says who may open it.</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Locking a coin to a key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key lock is a safe-deposit box labelled with a fingerprint.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and key hash</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coin is locked to a key, or to the hash of a key.</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a door with the fingerprint of the key.</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Checking signatures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signature is tied to the transaction and written down.</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comparing your signature with your card.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public key.</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deposit box labelled with a fingerprint instead of a face.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20-byte fingerprint of a public key.</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card number instead of the reader's full name.</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one signature against one public key.</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guard comparing the signature on a form with the one on file.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key-hash lock, tried three ways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 to public key hash with a real signature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(len(spk), L.classify(spk)[</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1136599"/>
          </a:xfrm>
          <a:prstGeom prst="roundRect">
            <a:avLst>
              <a:gd name="adj" fmla="val 6436"/>
            </a:avLst>
          </a:prstGeom>
          <a:solidFill>
            <a:srgbClr val="23272E"/>
          </a:solidFill>
          <a:ln w="12700">
            <a:solidFill>
              <a:srgbClr val="23272E"/>
            </a:solidFill>
            <a:prstDash val="solid"/>
          </a:ln>
        </p:spPr>
      </p:sp>
      <p:sp>
        <p:nvSpPr>
          <p:cNvPr id="9" name="Text 7"/>
          <p:cNvSpPr txBox="1"/>
          <p:nvPr/>
        </p:nvSpPr>
        <p:spPr>
          <a:xfrm>
            <a:off x="603504" y="2195474"/>
            <a:ext cx="4800600" cy="100858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p2pkh()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p2pkh(signer=</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p2pkh(amount_after=</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 b, 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'EVAL_FALSE')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a 20-byte hash of the public key and fills 25 bytes.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635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spends are tried: the right key, a wrong key, a changed amount.</a:t>
            </a:r>
            <a:endParaRPr lang="en-US" sz="1050" dirty="0"/>
          </a:p>
        </p:txBody>
      </p:sp>
      <p:sp>
        <p:nvSpPr>
          <p:cNvPr id="16" name="Text 14"/>
          <p:cNvSpPr txBox="1"/>
          <p:nvPr/>
        </p:nvSpPr>
        <p:spPr>
          <a:xfrm>
            <a:off x="457200" y="354238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trials of one lock</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 kind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 pubkeyhash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Wrong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right key signing the real amount opens it; the other two fail with EVAL_FALSE.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owner of the key, signing this exact transaction, opens the lock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signature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digest of the transaction that a signature really signs.</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summary page that is initialled instead of the whole contract.</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type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flag that says which parts of the transaction are signed.</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saying which pages of the contract the signature covers.</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strict byte format in which a signature is written.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fixed boxes where each number must go.</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DER signature, strict and loose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encoding of a signature is a consensus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L.ecdsa_sign(K.secret(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L.sha256(b</a:t>
            </a:r>
            <a:r>
              <a:rPr lang="en-US" sz="1000" dirty="0">
                <a:solidFill>
                  <a:srgbClr val="9ECBFF"/>
                </a:solidFill>
                <a:latin typeface="Courier New" pitchFamily="34" charset="0"/>
                <a:ea typeface="Courier New" pitchFamily="34" charset="-122"/>
                <a:cs typeface="Courier New" pitchFamily="34" charset="-120"/>
              </a:rPr>
              <a:t>'pay 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sig + b</a:t>
            </a:r>
            <a:r>
              <a:rPr lang="en-US" sz="1000" dirty="0">
                <a:solidFill>
                  <a:srgbClr val="9ECBFF"/>
                </a:solidFill>
                <a:latin typeface="Courier New" pitchFamily="34" charset="0"/>
                <a:ea typeface="Courier New" pitchFamily="34" charset="-122"/>
                <a:cs typeface="Courier New" pitchFamily="34" charset="-120"/>
              </a:rPr>
              <a:t>'\x01'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facts = [len(full), full[</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L.is_low_s(full)]</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nod = L.MAINNET_FLAGS - {</a:t>
            </a:r>
            <a:r>
              <a:rPr lang="en-US" sz="1000" dirty="0">
                <a:solidFill>
                  <a:srgbClr val="9ECBFF"/>
                </a:solidFill>
                <a:latin typeface="Courier New" pitchFamily="34" charset="0"/>
                <a:ea typeface="Courier New" pitchFamily="34" charset="-122"/>
                <a:cs typeface="Courier New" pitchFamily="34" charset="-120"/>
              </a:rPr>
              <a:t>'DERSIG'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 flags=nod)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[old,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'SIG_DER']</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signature is made over the hash of a message.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its hash type it is 72 bytes, starts with 0x30 and has a low 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padded signature passes old rules but fails the strict DER rule.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signature, two rule sets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 with hash type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byte (0x30 = 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Low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old rules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DER rule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SIG_DER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padded signature passes without the DER rule and fails with it, with the error SIG_DER.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rule that nodes check for themselves cannot be skipped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DER signatures, and the fork of 4 July 2015</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280160"/>
            <a:ext cx="3200400" cy="2331720"/>
          </a:xfrm>
          <a:prstGeom prst="rect">
            <a:avLst/>
          </a:prstGeom>
        </p:spPr>
      </p:pic>
      <p:sp>
        <p:nvSpPr>
          <p:cNvPr id="7" name="Text 4"/>
          <p:cNvSpPr txBox="1"/>
          <p:nvPr/>
        </p:nvSpPr>
        <p:spPr>
          <a:xfrm>
            <a:off x="457200" y="363016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93192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06240" y="128016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4 July 2015, at block 363,725, strict DER signatures (BIP66) took effect, and a fork of six blocks followed.</a:t>
            </a:r>
            <a:endParaRPr lang="en-US" sz="1150" dirty="0"/>
          </a:p>
        </p:txBody>
      </p:sp>
      <p:sp>
        <p:nvSpPr>
          <p:cNvPr id="10" name="Shape 7"/>
          <p:cNvSpPr/>
          <p:nvPr/>
        </p:nvSpPr>
        <p:spPr>
          <a:xfrm>
            <a:off x="393192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06240" y="189738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About half of the hash rate mined without fully validating, so it built on an invalid block of a miner that had not upgraded.</a:t>
            </a:r>
            <a:endParaRPr lang="en-US" sz="1150" dirty="0"/>
          </a:p>
        </p:txBody>
      </p:sp>
      <p:sp>
        <p:nvSpPr>
          <p:cNvPr id="12" name="Shape 9"/>
          <p:cNvSpPr/>
          <p:nvPr/>
        </p:nvSpPr>
        <p:spPr>
          <a:xfrm>
            <a:off x="393192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06240" y="251460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fork lasted from 02:10 to 03:50 UTC, a second of three blocks followed on 5 July, and the first showed no double spend.</a:t>
            </a:r>
            <a:endParaRPr lang="en-US" sz="1150" dirty="0"/>
          </a:p>
        </p:txBody>
      </p:sp>
      <p:sp>
        <p:nvSpPr>
          <p:cNvPr id="14" name="Shape 11"/>
          <p:cNvSpPr/>
          <p:nvPr/>
        </p:nvSpPr>
        <p:spPr>
          <a:xfrm>
            <a:off x="393192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06240" y="313182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0.9.5 and later checked the rule and were unaffected: a rule you do not check protects nobody.</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miners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363,725</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2015-07-04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Scripted multisignatures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multisignature is a vault that opens when enough directors turn their keys.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t-of-k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shape of a lock that needs t of k keys, and how large it may grow.</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with several keyholes.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extra element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Why one useless item must sit in front of the signatures.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swallows one token too many.</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Scripted Multisignatures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that wants t signatures out of k keys.</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vault that opens when two of three directors turn their keys.</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 Oddity in CHECKMULTISIG Execution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opcode pops one item too many, so a dummy is needed.</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always takes one coin more than the price.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More than one key must approve a spend.</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needs two signatures.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2-of-3 multisignature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Signatures in key order, and the extra element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525573"/>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dummy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dummy=b</a:t>
            </a:r>
            <a:r>
              <a:rPr lang="en-US" sz="1000" dirty="0">
                <a:solidFill>
                  <a:srgbClr val="9ECBFF"/>
                </a:solidFill>
                <a:latin typeface="Courier New" pitchFamily="34" charset="0"/>
                <a:ea typeface="Courier New" pitchFamily="34" charset="-122"/>
                <a:cs typeface="Courier New" pitchFamily="34" charset="-120"/>
              </a:rPr>
              <a:t>'\x01'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swap,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'INVALID_STACK_OPERATION']</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Signatures must follow the order of the keys; one signature is too few.</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CHECKMULTISIG pops one item too many; a non-empty dummy is refused.</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itself is 105 bytes, mostly three public keys.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five trials of a 2-of-3 lock</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80160"/>
                <a:gridCol w="1691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0 and 2, in order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2 and 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EVAL_FALSE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Only key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INVALID_STACK_OPERATION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Dummy not empty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SIG_NULLDUMMY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105 bytes long. Only signatures in the order of the keys, behind an empty dummy, pass.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signatures must follow the order of the keys, after one empty dummy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OP_CHECKMULTISIG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t signatures against k keys, in order.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panel that checks signatures in the order of the names.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dummy element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unused item that the extra pop consumes.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blank page that the form insists on.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 to script hash</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hash is a sealed envelope that shows only a code number.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Hashing the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holds only the hash; the script is revealed at spending.</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sealing a contract in an envelope.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the hash changes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 pays for the size of the script, and which rules apply.</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 office that charges by the envelope.</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whole script.</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whose outside shows only a code number.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start with a 3 and stand for a script hash.</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box number at the post office that stands for a whole office.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Benefits of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payer writes a short lock; the spender carries the long script.</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sender writes a short address and the receiver carries the key ring.</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script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payer sees a hash, the spender shows the script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L.p2sh_script(L.hash160(RED))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L.script_to_address(spk)</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wrap=</a:t>
            </a:r>
            <a:r>
              <a:rPr lang="en-US" sz="1000" dirty="0">
                <a:solidFill>
                  <a:srgbClr val="9ECBFF"/>
                </a:solidFill>
                <a:latin typeface="Courier New" pitchFamily="34" charset="0"/>
                <a:ea typeface="Courier New" pitchFamily="34" charset="-122"/>
                <a:cs typeface="Courier New" pitchFamily="34" charset="-120"/>
              </a:rPr>
              <a:t>'p2sh'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K.p2sh_spend(RED, hashed=RED + b</a:t>
            </a:r>
            <a:r>
              <a:rPr lang="en-US" sz="1000" dirty="0">
                <a:solidFill>
                  <a:srgbClr val="9ECBFF"/>
                </a:solidFill>
                <a:latin typeface="Courier New" pitchFamily="34" charset="0"/>
                <a:ea typeface="Courier New" pitchFamily="34" charset="-122"/>
                <a:cs typeface="Courier New" pitchFamily="34" charset="-120"/>
              </a:rPr>
              <a:t>'\x00'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len(spk), ok,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['3BuKam', 23, 'OK',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only the 20-byte hash of the script: 23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spender reveals the script; a script that does not hash to the lock fails.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Addresses of this kind start with a 3.</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hash lock and two reveals</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630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 begins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3BuKam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Other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lock is 23 bytes however long the script is. A script that does not match the hash fails.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long lock moves from the payer to the spender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 and Validation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spender reveals the script; nodes hash it and then run it.</a:t>
            </a:r>
            <a:endParaRPr lang="en-US" sz="1300" dirty="0"/>
          </a:p>
        </p:txBody>
      </p:sp>
      <p:sp>
        <p:nvSpPr>
          <p:cNvPr id="9" name="Text 7"/>
          <p:cNvSpPr txBox="1"/>
          <p:nvPr/>
        </p:nvSpPr>
        <p:spPr>
          <a:xfrm>
            <a:off x="640080" y="236372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opening the envelope at the counter so the clerk can read it.</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whose hash locked the coin.</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letter inside the sealed envelope.</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such address, written in Base58Check with a checksum.</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box number with a check digit.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Data and timelocks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timelock is a post-dated cheque; a data output is a note on a noticeboard.</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Recording data</a:t>
            </a:r>
            <a:endParaRPr lang="en-US" sz="1200" dirty="0"/>
          </a:p>
        </p:txBody>
      </p:sp>
      <p:sp>
        <p:nvSpPr>
          <p:cNvPr id="8" name="Text 6"/>
          <p:cNvSpPr txBox="1"/>
          <p:nvPr/>
        </p:nvSpPr>
        <p:spPr>
          <a:xfrm>
            <a:off x="77724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few bytes of data go on chain without a spendable coin.</a:t>
            </a:r>
            <a:endParaRPr lang="en-US" sz="1100" dirty="0"/>
          </a:p>
        </p:txBody>
      </p:sp>
      <p:sp>
        <p:nvSpPr>
          <p:cNvPr id="9" name="Text 7"/>
          <p:cNvSpPr txBox="1"/>
          <p:nvPr/>
        </p:nvSpPr>
        <p:spPr>
          <a:xfrm>
            <a:off x="77724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noticeboard that nobody can walk away with.</a:t>
            </a:r>
            <a:endParaRPr lang="en-US" sz="110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Absolute timelocks</a:t>
            </a:r>
            <a:endParaRPr lang="en-US" sz="1200" dirty="0"/>
          </a:p>
        </p:txBody>
      </p:sp>
      <p:sp>
        <p:nvSpPr>
          <p:cNvPr id="12" name="Text 10"/>
          <p:cNvSpPr txBox="1"/>
          <p:nvPr/>
        </p:nvSpPr>
        <p:spPr>
          <a:xfrm>
            <a:off x="345948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transaction or a coin that waits for a fixed time or height.</a:t>
            </a:r>
            <a:endParaRPr lang="en-US" sz="1100" dirty="0"/>
          </a:p>
        </p:txBody>
      </p:sp>
      <p:sp>
        <p:nvSpPr>
          <p:cNvPr id="13" name="Text 11"/>
          <p:cNvSpPr txBox="1"/>
          <p:nvPr/>
        </p:nvSpPr>
        <p:spPr>
          <a:xfrm>
            <a:off x="345948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savings bond with a fixed date.</a:t>
            </a:r>
            <a:endParaRPr lang="en-US" sz="110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timelocks</a:t>
            </a:r>
            <a:endParaRPr lang="en-US" sz="1200" dirty="0"/>
          </a:p>
        </p:txBody>
      </p:sp>
      <p:sp>
        <p:nvSpPr>
          <p:cNvPr id="16" name="Text 14"/>
          <p:cNvSpPr txBox="1"/>
          <p:nvPr/>
        </p:nvSpPr>
        <p:spPr>
          <a:xfrm>
            <a:off x="6141720" y="2487168"/>
            <a:ext cx="249936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coin that waits for an age, counted from the day it was mined.</a:t>
            </a:r>
            <a:endParaRPr lang="en-US" sz="1100" dirty="0"/>
          </a:p>
        </p:txBody>
      </p:sp>
      <p:sp>
        <p:nvSpPr>
          <p:cNvPr id="17" name="Text 15"/>
          <p:cNvSpPr txBox="1"/>
          <p:nvPr/>
        </p:nvSpPr>
        <p:spPr>
          <a:xfrm>
            <a:off x="6141720" y="3062326"/>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gift card that works a week after purchase.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Recording Output (OP_RETURN)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unspendable output that carries a few bytes of data.</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pinned to a public noticeboard.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Lock Time Limitations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Lock time stops a transaction, not a spender.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that its writer can replace before the date.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Check Lock Time Verify (OP_CLTV)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rule: this coin is not spendable before a time or height.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savings bond that cannot be cashed before its date.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wait counted from the day the coin was mined.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works only a week after purchase.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lock until block 800,000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OP_CHECKLOCKTIMEVERIFY on a real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0xfffffffe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K.key_spend(CLTV, locktime=</a:t>
            </a:r>
            <a:r>
              <a:rPr lang="en-US" sz="1000" dirty="0">
                <a:solidFill>
                  <a:srgbClr val="FFD28A"/>
                </a:solidFill>
                <a:latin typeface="Courier New" pitchFamily="34" charset="0"/>
                <a:ea typeface="Courier New" pitchFamily="34" charset="-122"/>
                <a:cs typeface="Courier New" pitchFamily="34" charset="-120"/>
              </a:rPr>
              <a:t>799999</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final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early, final]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sequence must not be final, or the lock time is ignored.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lock time one block too early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final sequence switches the lock time off, and the script fails.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spends of one script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Lock time of the 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799,999,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a lock time that reaches 800,000, with a sequence that is not final, satisfies the script.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transaction's lock time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 with OP_CSV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 that enforces a relative wait.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who checks the purchase date on your receipt.</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word that ends a script in failure and marks data outputs.</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 sign at the end of a road.</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relay policy's name for an OP_RETURN output.</a:t>
            </a:r>
            <a:endParaRPr lang="en-US" sz="1300" dirty="0"/>
          </a:p>
        </p:txBody>
      </p:sp>
      <p:sp>
        <p:nvSpPr>
          <p:cNvPr id="17" name="Text 15"/>
          <p:cNvSpPr txBox="1"/>
          <p:nvPr/>
        </p:nvSpPr>
        <p:spPr>
          <a:xfrm>
            <a:off x="640080"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luggage tag that holds a few words.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with the earliest time or block for a transaction.</a:t>
            </a:r>
            <a:endParaRPr lang="en-US" sz="1300" dirty="0"/>
          </a:p>
        </p:txBody>
      </p:sp>
      <p:sp>
        <p:nvSpPr>
          <p:cNvPr id="21" name="Text 19"/>
          <p:cNvSpPr txBox="1"/>
          <p:nvPr/>
        </p:nvSpPr>
        <p:spPr>
          <a:xfrm>
            <a:off x="4828032"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not-before date on an invitation.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wait of 4,320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OP_CHECKSEQUENCEVERIFY counts the age of the coin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K.key_spend(CSV, version=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bit31 = 0x80000000 | </a:t>
            </a:r>
            <a:r>
              <a:rPr lang="en-US" sz="1000" dirty="0">
                <a:solidFill>
                  <a:srgbClr val="FFD28A"/>
                </a:solidFill>
                <a:latin typeface="Courier New" pitchFamily="34" charset="0"/>
                <a:ea typeface="Courier New" pitchFamily="34" charset="-122"/>
                <a:cs typeface="Courier New" pitchFamily="34" charset="-120"/>
              </a:rPr>
              <a:t>4320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sequence=bit31)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2 and a sequence of 4,320 satisfy the script: thirty days of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block short fails, and so does version 1.</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 31 set disables the relative lock, and the script fails.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spends of one script</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8745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 31 set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block short, the old version, or a disabled lock each fail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sequence of the input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OP_CHECKLOCKTIMEVERIFY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OP_CLTV.</a:t>
            </a:r>
            <a:endParaRPr lang="en-US" sz="1300" dirty="0"/>
          </a:p>
        </p:txBody>
      </p:sp>
      <p:sp>
        <p:nvSpPr>
          <p:cNvPr id="9" name="Text 7"/>
          <p:cNvSpPr txBox="1"/>
          <p:nvPr/>
        </p:nvSpPr>
        <p:spPr>
          <a:xfrm>
            <a:off x="640080"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date check at the door of a theatre.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of each input whose use includes the relative wait.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number on a bakery ticket that shows how long you have waited.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OP_CHECKSEQUENCEVERIFY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OP_CSV.</a:t>
            </a:r>
            <a:endParaRPr lang="en-US" sz="1300" dirty="0"/>
          </a:p>
        </p:txBody>
      </p:sp>
      <p:sp>
        <p:nvSpPr>
          <p:cNvPr id="17" name="Text 15"/>
          <p:cNvSpPr txBox="1"/>
          <p:nvPr/>
        </p:nvSpPr>
        <p:spPr>
          <a:xfrm>
            <a:off x="6224016"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that must reach the agreed time.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Flow control and complex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Flow control is a fork in the road with a checkpoint on each path.</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Conditionals and guards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Branches that choose a path, and checks that stop a script early.</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fork in the road with a checkpoint.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Complex scripts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real lock that mixes partners, a lawyer and delays.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ways to open it.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 with Flow Control (Conditional Clauses)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can choose between several paths.</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with a fork.</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Clauses with VERIFY Opcodes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VERIFY words stop the script at once when a check fails.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security gate that turns people away at once.</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Using Flow Control in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IF, ELSE and ENDIF select one of several spending paths.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if married fill box A, else box B.</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Complex Script Example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Mohammed's capital account: partners, or a lawyer after a delay.</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different ways to open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Three ways out of one output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once, a lawyer after 30 days, the lawyer alone after 90</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len(K.moh_script())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K.moh_spend(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[K.moh_spend(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 = [K.moh_spend(</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12960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one needs two of three partners and no waiting.</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two: the lawyer and one partner, after 4,320 blocks.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three: the lawyer alone, after 12,960 blocks.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script of 192 bytes, six spends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Path and wait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 partners, none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12,960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path works only after its wait; asking one block early fails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conditional script lets one output have several spending paths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OP_IF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Runs the next clause only if the top item is true.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opens on a yes.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branch of a script that runs only under a condition.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footnote that applies only in a special case.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Fails the script unless the top item is true.</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bouncer who checks one thing and sends you home.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structured language that compiles to Script and can be analysed.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spreadsheet formula that is checked before you save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Segregated witness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Segregated witness moves the proof to a window beside the counter.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Witness programs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segregated witness lock is written and addressed.</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postcode that also names the kind of building.</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upgrade</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the change reached old nodes without splitting the network.</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lane that old cars can simply ignore.</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 Output and Transaction Examples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Real outputs and transactions that use segregated witness.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worked examples at the back of a driving manual.</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public key hash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key-hash lock whose proof lives in the witness.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fingerprint lock with the key shown at a side window.</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Wallet construction of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a wallet builds the output and the witness for a spend.</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assembling a receipt together with its annex.</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script hash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script-hash lock whose script is revealed in the witness.</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sealed envelope, opened at the side window.</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witness public key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key-hash spend with the proof in the witness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[K.wpkh_spend(), K.wpkh_spend(nested=</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K.wpkh_spend(signed_amount=</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prog = L.p2wpkh_script(L.hash160(K.pub(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L.script_to_address(prog)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'bc1qm5gqhe7e46jhyy2ca00x66slmrlljwa33n9fts'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witness key-hash spend works directly and nested in a script hash.</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signature commits to the amount, so a wrong amount fails.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is bech32 and begins with bc1q.</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witness key-hash spend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28016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Direct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Nested in P2SH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bc1qm5gqhe7e...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signature covers the amount, so a changed amount fails. The address starts with bc1q.</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 commits to the amount; the address is bech32</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1,022 real inputs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775,072, classified by the chapter's own Script interpreter, bytes from mempool.space</a:t>
            </a:r>
            <a:endParaRPr lang="en-US" sz="1300" dirty="0"/>
          </a:p>
        </p:txBody>
      </p:sp>
      <p:graphicFrame>
        <p:nvGraphicFramePr>
          <p:cNvPr id="6" name="Chart 0" descr=""/>
          <p:cNvGraphicFramePr/>
          <p:nvPr/>
        </p:nvGraphicFramePr>
        <p:xfrm>
          <a:off x="457200" y="1325880"/>
          <a:ext cx="530352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989320" y="1325880"/>
            <a:ext cx="2697480" cy="4572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1,022 real inputs spend</a:t>
            </a:r>
            <a:endParaRPr lang="en-US" sz="1100" dirty="0"/>
          </a:p>
        </p:txBody>
      </p:sp>
      <p:sp>
        <p:nvSpPr>
          <p:cNvPr id="8" name="Text 5"/>
          <p:cNvSpPr txBox="1"/>
          <p:nvPr/>
        </p:nvSpPr>
        <p:spPr>
          <a:xfrm>
            <a:off x="5989320" y="1874520"/>
            <a:ext cx="2697480" cy="1371600"/>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chapter's interpreter ran every input of the first 599 non-coinbase transactions of block 775,072 and sorted them by the kind of output they spend.</a:t>
            </a:r>
            <a:endParaRPr lang="en-US" sz="1150" dirty="0"/>
          </a:p>
        </p:txBody>
      </p:sp>
      <p:sp>
        <p:nvSpPr>
          <p:cNvPr id="9" name="Text 6"/>
          <p:cNvSpPr txBox="1"/>
          <p:nvPr/>
        </p:nvSpPr>
        <p:spPr>
          <a:xfrm>
            <a:off x="5989320" y="3383280"/>
            <a:ext cx="2697480" cy="1097280"/>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Witness key hashes lead; taproot is still rare. Think of a motorway where most cars already use the new lane.</a:t>
            </a:r>
            <a:endParaRPr lang="en-US" sz="11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real coins already move through witness programs</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Differentiating between P2WPKH and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program length tells them apart: 20 or 32 bytes.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telling a postcode from a full address by its length.</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Upgrading to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old and new software live side by side.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adding a new lane to a road without closing it.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Embedding segregated witness inside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witness program wrapped in a script hash for old wallets.</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letter inside an old envelope.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P2WPKH placed inside P2SH.</a:t>
            </a:r>
            <a:endParaRPr lang="en-US" sz="1300" dirty="0"/>
          </a:p>
        </p:txBody>
      </p:sp>
      <p:sp>
        <p:nvSpPr>
          <p:cNvPr id="21" name="Text 19"/>
          <p:cNvSpPr txBox="1"/>
          <p:nvPr/>
        </p:nvSpPr>
        <p:spPr>
          <a:xfrm>
            <a:off x="4828032" y="349758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small box inside a larger box.</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P2WSH placed inside P2SH.</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inside a courier bag.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upgrade that moves signatures out of the transaction identifier.</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and hash that lock a segwit output.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extension number that tells the switchboard where to connect.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public key hash.</a:t>
            </a:r>
            <a:endParaRPr lang="en-US" sz="1300" dirty="0"/>
          </a:p>
        </p:txBody>
      </p:sp>
      <p:sp>
        <p:nvSpPr>
          <p:cNvPr id="21" name="Text 19"/>
          <p:cNvSpPr txBox="1"/>
          <p:nvPr/>
        </p:nvSpPr>
        <p:spPr>
          <a:xfrm>
            <a:off x="4828032"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nickname for a long job title.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script hash.</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acronym on a name badge.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bech32</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segwit address format, with a checksum that finds typos.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spelling checker built into the address.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Segwit hidden inside the older script hash format.</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modern phone in an old phone case.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rule change that old nodes still accept.</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speed limit that old cars can still obey.</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 trees and key tweaks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tree is a menu of which only the ordered dish is shown.</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Script trees</a:t>
            </a:r>
            <a:endParaRPr lang="en-US" sz="1200" dirty="0"/>
          </a:p>
        </p:txBody>
      </p:sp>
      <p:sp>
        <p:nvSpPr>
          <p:cNvPr id="8" name="Text 6"/>
          <p:cNvSpPr txBox="1"/>
          <p:nvPr/>
        </p:nvSpPr>
        <p:spPr>
          <a:xfrm>
            <a:off x="77724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Many spending rules hide behind one hash.</a:t>
            </a:r>
            <a:endParaRPr lang="en-US" sz="1150" dirty="0"/>
          </a:p>
        </p:txBody>
      </p:sp>
      <p:sp>
        <p:nvSpPr>
          <p:cNvPr id="9" name="Text 7"/>
          <p:cNvSpPr txBox="1"/>
          <p:nvPr/>
        </p:nvSpPr>
        <p:spPr>
          <a:xfrm>
            <a:off x="777240" y="2729484"/>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menu where only the ordered dish is shown.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tweaks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key is changed a little to commit to hidden data.</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engraved key that carries a hidden code.</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Merklized Alternative Script Trees (MAST)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scripts sit under one hash; a spend shows only one.</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restaurant menu where you read out only the dish you ordered.</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Contract (P2C)</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 is tweaked so that it commits to a contract.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that also encodes the fingerprint of the contract.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Multisignatures and Threshold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signers combine into one key and one signature.</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choir that sings with one voice.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the script tree.</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tournament bracket where only one team's path is shown.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proof grows with the logarithm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many hashes a script tree reveals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proof = [len(p)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K.tap_tree(MOH_LEAVES)[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030882"/>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 = [(n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).bit_length()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3, 10, 20]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three scripts needs its sibling hashes as a proof.</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tree of n scripts needs about log2 of n hashes per spend.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hashes in a proof, by scripts in the tree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Our three scripts need 2, 2, 1 hashes each. A tree of 1,048,576 scripts needs only 20.</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million scripts need only twenty hashes in a proof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single hash at the top of a tree of hashes.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 on top of a pyramid of stamped boxes.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membership proof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sibling hashes that prove a leaf belongs to the tree.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chain of members who vouch that someone belongs to a club.</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 tweak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number, derived from a hash, added to a key.</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tiny adjustment screw on a lock.</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joint signature that shows no script at all.</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group letter that looks like one person's.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threshold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t of n holders can sign for one shared key.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council where any two of three may sign for the town.</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 public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signer's share, added to the others to make the joint key.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voice of a choir, added to the others.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Taproot is a front door with a hidden side entrance.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Taproot outputs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output key that is spent with a signature or with a script.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Tapscript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script rules that apply inside a taproot spend.</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that is a key which may hide a script tree.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rules inside taproot spends.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 with one signature for the output key.</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walking in through the front door with your key.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Reveal one leaf script, its proof and its data.</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using the side entrance and showing the pass for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a key path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signature, no script revealed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q = L.taproot_tweak_pubkey(K.xpub(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L.script_to_address(L.p2tr_script(q))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len(q))</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wit, wt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MOH_LEAVES, tamper=</a:t>
            </a:r>
            <a:r>
              <a:rPr lang="en-US" sz="1000" dirty="0">
                <a:solidFill>
                  <a:srgbClr val="9ECBFF"/>
                </a:solidFill>
                <a:latin typeface="Courier New" pitchFamily="34" charset="0"/>
                <a:ea typeface="Courier New" pitchFamily="34" charset="-122"/>
                <a:cs typeface="Courier New" pitchFamily="34" charset="-120"/>
              </a:rPr>
              <a:t>'untweaked'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(r, len(wit[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wt,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64, 308, 'SCHNORR_SIG')</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output key is the internal key plus a tweak; here there is no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begins with bc1p and the key takes 32 bytes.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64-byte signature spends it; an untweaked key is refused.</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key path spend</a:t>
            </a:r>
            <a:endParaRPr lang="en-US" sz="11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Address begins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bc1pwd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 key,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 path 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Signature,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units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Untweaked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SCHNORR_SIG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64-byte signature spends it. A key that was not tweaked as the output says fails with SCHNORR_SIG.</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output key is the internal key plus a tweak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Taproot took effect at block 709,632 in 2021</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1986 - Konrad Jacobs, CC BY-SA 2.0 de</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At block 709,632, mined on 14 November 2021, the taproot rules and Schnorr signatures (BIPs 340 to 342) took effect.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Claus Schnorr had patented his signature, which kept it out of open standards for almost two decades; ECDSA was used instead.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BIP340 was assigned in January 2020; a soft fork then added taproot and tapscript to the running chain.</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key path spend is one 64-byte signature that looks the same whether one person or a million made it.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709,632</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61</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internal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key before the tweak is added.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blank before the locksmith adds a mark.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output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tweaked key that appears in the output.</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finished key as it is cut.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leaf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at the end of a branch of the tree.</a:t>
            </a:r>
            <a:endParaRPr lang="en-US" sz="1300" dirty="0"/>
          </a:p>
        </p:txBody>
      </p:sp>
      <p:sp>
        <p:nvSpPr>
          <p:cNvPr id="17" name="Text 15"/>
          <p:cNvSpPr txBox="1"/>
          <p:nvPr/>
        </p:nvSpPr>
        <p:spPr>
          <a:xfrm>
            <a:off x="640080" y="30952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dish at the end of a menu section.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OP_CHECKSIGADD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Adds one to a counter for each valid signature.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tally mark added for every valid signature.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61</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the script path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Reveal one script of the tree and its proof</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[moh_tap(i)[</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tap = [moh_tap(i)[</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wsh = [moh_wsh(p)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'OK',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the three leaves of the account script can be spent.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Weight units of each spend as a taproot script path.</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three paths as a witness script hash spend.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of three spends, two ways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paths verify (OK, OK, OK). Orange bars: taproot script path; green bars: the same path as a witness script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path costs about as much as a plain witness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61</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signature that adds up when many signers sign.</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handwriting that adds up neatly when several people write together.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OP_SUCCESS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Opcode values that make a tapscript succeed, kept for upgrades.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green light reserved for traffic rules of the future.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mutual satisfaction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All parties agree, so the script never needs to be shown.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settle a dispute over the fence instead of in court.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Counting signatures: OP_CHECKSIGADD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Tapscript's replacement for CHECKMULTISIG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K.csa_script([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(len(s), len(RED))</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items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items)[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2-of-3 rule written with CHECKSIGADD is a byte shorter.</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valid signatures and one empty slot satisfy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only one valid signature the count stays below two and the script fails.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rule, two ways of writing it</a:t>
            </a:r>
            <a:endParaRPr lang="en-US" sz="1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CHECKSIGADD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2-of-3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signatures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signature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tapscript form is one byte shorter. Two valid signatures reach the count; 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valid signature adds one; an empty slot adds nothing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Opcodes kept for upgrades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OP_SUCCESS in tapscript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sum(</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L.is_op_success(o))</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K.tr_spend([bytes([0x51, </a:t>
            </a:r>
            <a:r>
              <a:rPr lang="en-US" sz="1000" dirty="0">
                <a:solidFill>
                  <a:srgbClr val="FFD28A"/>
                </a:solidFill>
                <a:latin typeface="Courier New" pitchFamily="34" charset="0"/>
                <a:ea typeface="Courier New" pitchFamily="34" charset="-122"/>
                <a:cs typeface="Courier New" pitchFamily="34" charset="-120"/>
              </a:rPr>
              <a:t>152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L.run(</a:t>
            </a:r>
            <a:r>
              <a:rPr lang="en-US" sz="1000" dirty="0">
                <a:solidFill>
                  <a:srgbClr val="9ECBFF"/>
                </a:solidFill>
                <a:latin typeface="Courier New" pitchFamily="34" charset="0"/>
                <a:ea typeface="Courier New" pitchFamily="34" charset="-122"/>
                <a:cs typeface="Courier New" pitchFamily="34" charset="-120"/>
              </a:rPr>
              <a:t>'OP_1 OP_LSHIFT'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'OP_1'</a:t>
            </a:r>
            <a:r>
              <a:rPr lang="en-US" sz="1000" dirty="0">
                <a:solidFill>
                  <a:srgbClr val="E6EDF3"/>
                </a:solidFill>
                <a:latin typeface="Courier New" pitchFamily="34" charset="0"/>
                <a:ea typeface="Courier New" pitchFamily="34" charset="-122"/>
                <a:cs typeface="Courier New" pitchFamily="34" charset="-120"/>
              </a:rPr>
              <a:t>,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[n, ok, old]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[87, 'OK', 'DISABLED_OPCODE']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tapscript, 87 opcode values succeed on sight.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tapscript with opcode 152 succeeds at once.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 a disabled shift, fails in an old script.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unknown words in tapscript and in an old script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OP_SUCCESS values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Opcode 152 in tapscript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word, old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DISABLED_OPCODE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Of 256 opcode values, 87 are OP_SUCCESS. The disabled shift fails in an old script with DISABLED_OPCODE.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Unknown opcodes succeed, so soft forks can give them a meaning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parts,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coin is locked by a script; the spender's script is the key, and the two run apart on a stack.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 hashes, multisignatures and script hashes lock a coin to what the spender can prove, and move the long lock to the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make a spend wait, and flow control gives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moves the proof out of the identifier, as a soft fork that old nodes accept.</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to a tree of scripts with one key, so agreement looks like a single signature.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61</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Resources for further reading and watching; every entry is a live link in this file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 and explore</a:t>
            </a:r>
            <a:endParaRPr lang="en-US" sz="12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193852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Script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opcode with its effect and status  en.bitcoin.it</a:t>
            </a:r>
            <a:endParaRPr lang="en-US" sz="1000" dirty="0"/>
          </a:p>
        </p:txBody>
      </p:sp>
      <p:sp>
        <p:nvSpPr>
          <p:cNvPr id="11" name="Shape 9"/>
          <p:cNvSpPr/>
          <p:nvPr/>
        </p:nvSpPr>
        <p:spPr>
          <a:xfrm>
            <a:off x="493776" y="224942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Taproot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taproot with links to newsletters and code</a:t>
            </a:r>
            <a:endParaRPr lang="en-US" sz="1000" dirty="0"/>
          </a:p>
        </p:txBody>
      </p:sp>
      <p:sp>
        <p:nvSpPr>
          <p:cNvPr id="13" name="Shape 11"/>
          <p:cNvSpPr/>
          <p:nvPr/>
        </p:nvSpPr>
        <p:spPr>
          <a:xfrm>
            <a:off x="493776" y="2560320"/>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48716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Taproot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description of the taproot soft fork  en.bitcoin.it</a:t>
            </a:r>
            <a:endParaRPr lang="en-US" sz="1000" dirty="0"/>
          </a:p>
        </p:txBody>
      </p:sp>
      <p:sp>
        <p:nvSpPr>
          <p:cNvPr id="15" name="Text 13"/>
          <p:cNvSpPr txBox="1"/>
          <p:nvPr/>
        </p:nvSpPr>
        <p:spPr>
          <a:xfrm>
            <a:off x="457200" y="287121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6" name="Shape 14"/>
          <p:cNvSpPr/>
          <p:nvPr/>
        </p:nvSpPr>
        <p:spPr>
          <a:xfrm>
            <a:off x="493776" y="32186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66: Strict DER signatures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 behind the July 2015 fork  bips.dev</a:t>
            </a:r>
            <a:endParaRPr lang="en-US" sz="1000" dirty="0"/>
          </a:p>
        </p:txBody>
      </p:sp>
      <p:sp>
        <p:nvSpPr>
          <p:cNvPr id="18" name="Shape 16"/>
          <p:cNvSpPr/>
          <p:nvPr/>
        </p:nvSpPr>
        <p:spPr>
          <a:xfrm>
            <a:off x="493776" y="35295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Witness programs and how they are validated  bips.dev</a:t>
            </a:r>
            <a:endParaRPr lang="en-US" sz="1000" dirty="0"/>
          </a:p>
        </p:txBody>
      </p:sp>
      <p:sp>
        <p:nvSpPr>
          <p:cNvPr id="20" name="Shape 18"/>
          <p:cNvSpPr/>
          <p:nvPr/>
        </p:nvSpPr>
        <p:spPr>
          <a:xfrm>
            <a:off x="493776" y="3840480"/>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76732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 341: Taproot spending rules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 path, script path and the commitment  bips.dev</a:t>
            </a:r>
            <a:endParaRPr lang="en-US" sz="1000" dirty="0"/>
          </a:p>
        </p:txBody>
      </p:sp>
      <p:sp>
        <p:nvSpPr>
          <p:cNvPr id="22" name="Shape 20"/>
          <p:cNvSpPr/>
          <p:nvPr/>
        </p:nvSpPr>
        <p:spPr>
          <a:xfrm>
            <a:off x="493776" y="4151376"/>
            <a:ext cx="82296" cy="82296"/>
          </a:xfrm>
          <a:prstGeom prst="ellipse">
            <a:avLst/>
          </a:prstGeom>
          <a:solidFill>
            <a:srgbClr val="D97A14"/>
          </a:solidFill>
          <a:ln w="12700">
            <a:solidFill>
              <a:srgbClr val="D97A14"/>
            </a:solidFill>
            <a:prstDash val="solid"/>
          </a:ln>
        </p:spPr>
      </p:sp>
      <p:sp>
        <p:nvSpPr>
          <p:cNvPr id="23" name="Text 21"/>
          <p:cNvSpPr txBox="1"/>
          <p:nvPr/>
        </p:nvSpPr>
        <p:spPr>
          <a:xfrm>
            <a:off x="658368" y="407822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BIP 342: Tapscript validation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script rules inside a taproot spend  bips.dev</a:t>
            </a:r>
            <a:endParaRPr lang="en-US" sz="1000" dirty="0"/>
          </a:p>
        </p:txBody>
      </p:sp>
      <p:sp>
        <p:nvSpPr>
          <p:cNvPr id="24" name="Text 22"/>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5" name="Shape 23"/>
          <p:cNvSpPr/>
          <p:nvPr/>
        </p:nvSpPr>
        <p:spPr>
          <a:xfrm>
            <a:off x="4768596" y="1627632"/>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script.cpp of Bitcoin 0.3.0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engine, as it was released</a:t>
            </a:r>
            <a:endParaRPr lang="en-US" sz="1000" dirty="0"/>
          </a:p>
        </p:txBody>
      </p:sp>
      <p:sp>
        <p:nvSpPr>
          <p:cNvPr id="27" name="Shape 25"/>
          <p:cNvSpPr/>
          <p:nvPr/>
        </p:nvSpPr>
        <p:spPr>
          <a:xfrm>
            <a:off x="4768596" y="1938528"/>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bug, in the list of known vulnerabilities</a:t>
            </a:r>
            <a:endParaRPr lang="en-US" sz="1000" dirty="0"/>
          </a:p>
        </p:txBody>
      </p:sp>
      <p:sp>
        <p:nvSpPr>
          <p:cNvPr id="29" name="Shape 27"/>
          <p:cNvSpPr/>
          <p:nvPr/>
        </p:nvSpPr>
        <p:spPr>
          <a:xfrm>
            <a:off x="4768596" y="224942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notice of 4 July 2015 about unvalidated blocks  bitcoin.org</a:t>
            </a:r>
            <a:endParaRPr lang="en-US" sz="1000" dirty="0"/>
          </a:p>
        </p:txBody>
      </p:sp>
      <p:sp>
        <p:nvSpPr>
          <p:cNvPr id="31" name="Text 29"/>
          <p:cNvSpPr txBox="1"/>
          <p:nvPr/>
        </p:nvSpPr>
        <p:spPr>
          <a:xfrm>
            <a:off x="4732020" y="256032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32" name="Shape 30"/>
          <p:cNvSpPr/>
          <p:nvPr/>
        </p:nvSpPr>
        <p:spPr>
          <a:xfrm>
            <a:off x="4768596" y="2907792"/>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283464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34" name="Shape 32"/>
          <p:cNvSpPr/>
          <p:nvPr/>
        </p:nvSpPr>
        <p:spPr>
          <a:xfrm>
            <a:off x="4768596" y="3218688"/>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Delving Bitcoin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discuss script and consensus changes in the open</a:t>
            </a:r>
            <a:endParaRPr lang="en-US" sz="1000" dirty="0"/>
          </a:p>
        </p:txBody>
      </p:sp>
      <p:sp>
        <p:nvSpPr>
          <p:cNvPr id="36" name="Text 34"/>
          <p:cNvSpPr txBox="1"/>
          <p:nvPr/>
        </p:nvSpPr>
        <p:spPr>
          <a:xfrm>
            <a:off x="4732020" y="352958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37" name="Shape 35"/>
          <p:cNvSpPr/>
          <p:nvPr/>
        </p:nvSpPr>
        <p:spPr>
          <a:xfrm>
            <a:off x="4768596" y="3877056"/>
            <a:ext cx="82296" cy="82296"/>
          </a:xfrm>
          <a:prstGeom prst="ellipse">
            <a:avLst/>
          </a:prstGeom>
          <a:solidFill>
            <a:srgbClr val="D97A14"/>
          </a:solidFill>
          <a:ln w="12700">
            <a:solidFill>
              <a:srgbClr val="D97A14"/>
            </a:solidFill>
            <a:prstDash val="solid"/>
          </a:ln>
        </p:spPr>
      </p:sp>
      <p:sp>
        <p:nvSpPr>
          <p:cNvPr id="38" name="Text 36"/>
          <p:cNvSpPr txBox="1"/>
          <p:nvPr/>
        </p:nvSpPr>
        <p:spPr>
          <a:xfrm>
            <a:off x="4933188" y="380390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Schnorr: Optech workshop 1.1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Optech's workshop on the signature scheme of chapter 7</a:t>
            </a:r>
            <a:endParaRPr lang="en-US" sz="1000" dirty="0"/>
          </a:p>
        </p:txBody>
      </p:sp>
      <p:sp>
        <p:nvSpPr>
          <p:cNvPr id="39" name="Shape 37"/>
          <p:cNvSpPr/>
          <p:nvPr/>
        </p:nvSpPr>
        <p:spPr>
          <a:xfrm>
            <a:off x="4768596" y="4187952"/>
            <a:ext cx="82296" cy="82296"/>
          </a:xfrm>
          <a:prstGeom prst="ellipse">
            <a:avLst/>
          </a:prstGeom>
          <a:solidFill>
            <a:srgbClr val="D97A14"/>
          </a:solidFill>
          <a:ln w="12700">
            <a:solidFill>
              <a:srgbClr val="D97A14"/>
            </a:solidFill>
            <a:prstDash val="solid"/>
          </a:ln>
        </p:spPr>
      </p:sp>
      <p:sp>
        <p:nvSpPr>
          <p:cNvPr id="40" name="Text 38"/>
          <p:cNvSpPr txBox="1"/>
          <p:nvPr/>
        </p:nvSpPr>
        <p:spPr>
          <a:xfrm>
            <a:off x="4933188" y="411480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Tapscript: Optech workshop 2.3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 on the three small changes of tapscript</a:t>
            </a:r>
            <a:endParaRPr lang="en-US" sz="10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a real spend through the interpreter and match the explorer's verdict</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61</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 and a key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signatures and script hashes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shape who spends,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2026-10-24T08:16:15Z</dcterms:created>
  <dcterms:modified xsi:type="dcterms:W3CDTF">2026-10-24T08:16:15Z</dcterms:modified>
  <cp:version>2.0.0</cp:version>
</cp:coreProperties>
</file>