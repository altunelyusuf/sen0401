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Seconds of waiting after the nth wrong PIN</a:t>
            </a:r>
          </a:p>
        </c:rich>
      </c:tx>
      <c:layout/>
      <c:overlay val="0"/>
    </c:title>
    <c:autoTitleDeleted val="0"/>
    <c:plotArea>
      <c:layout/>
      <c:barChart>
        <c:barDir val="col"/>
        <c:grouping val="clustered"/>
        <c:varyColors val="0"/>
        <c:ser>
          <c:idx val="0"/>
          <c:order val="0"/>
          <c:tx>
            <c:strRef>
              <c:f>Sheet1!$B$1</c:f>
              <c:strCache>
                <c:ptCount val="1"/>
                <c:pt idx="0">
                  <c:v>seconds</c:v>
                </c:pt>
              </c:strCache>
            </c:strRef>
          </c:tx>
          <c:spPr>
            <a:solidFill>
              <a:srgbClr val="D97A14"/>
            </a:solidFill>
            <a:effectLst/>
          </c:spPr>
          <c:invertIfNegative val="0"/>
          <c:dLbls>
            <c:numFmt formatCode="#,##0" sourceLinked="0"/>
            <c:txPr>
              <a:bodyPr/>
              <a:lstStyle/>
              <a:p>
                <a:pPr>
                  <a:defRPr b="0" i="0" strike="noStrike" sz="7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dPt>
            <c:idx val="6"/>
            <c:invertIfNegative val="0"/>
            <c:bubble3D val="0"/>
            <c:spPr>
              <a:solidFill>
                <a:srgbClr val="D97A14"/>
              </a:solidFill>
              <a:effectLst/>
            </c:spPr>
          </c:dPt>
          <c:dPt>
            <c:idx val="7"/>
            <c:invertIfNegative val="0"/>
            <c:bubble3D val="0"/>
            <c:spPr>
              <a:solidFill>
                <a:srgbClr val="2F6D62"/>
              </a:solidFill>
              <a:effectLst/>
            </c:spPr>
          </c:dPt>
          <c:dPt>
            <c:idx val="8"/>
            <c:invertIfNegative val="0"/>
            <c:bubble3D val="0"/>
            <c:spPr>
              <a:solidFill>
                <a:srgbClr val="D97A14"/>
              </a:solidFill>
              <a:effectLst/>
            </c:spPr>
          </c:dPt>
          <c:dPt>
            <c:idx val="9"/>
            <c:invertIfNegative val="0"/>
            <c:bubble3D val="0"/>
            <c:spPr>
              <a:solidFill>
                <a:srgbClr val="2F6D62"/>
              </a:solidFill>
              <a:effectLst/>
            </c:spPr>
          </c:dPt>
          <c:dPt>
            <c:idx val="10"/>
            <c:invertIfNegative val="0"/>
            <c:bubble3D val="0"/>
            <c:spPr>
              <a:solidFill>
                <a:srgbClr val="D97A14"/>
              </a:solidFill>
              <a:effectLst/>
            </c:spPr>
          </c:dPt>
          <c:dPt>
            <c:idx val="11"/>
            <c:invertIfNegative val="0"/>
            <c:bubble3D val="0"/>
            <c:spPr>
              <a:solidFill>
                <a:srgbClr val="2F6D62"/>
              </a:solidFill>
              <a:effectLst/>
            </c:spPr>
          </c:dPt>
          <c:dPt>
            <c:idx val="12"/>
            <c:invertIfNegative val="0"/>
            <c:bubble3D val="0"/>
            <c:spPr>
              <a:solidFill>
                <a:srgbClr val="D97A14"/>
              </a:solidFill>
              <a:effectLst/>
            </c:spPr>
          </c:dPt>
          <c:dPt>
            <c:idx val="13"/>
            <c:invertIfNegative val="0"/>
            <c:bubble3D val="0"/>
            <c:spPr>
              <a:solidFill>
                <a:srgbClr val="2F6D62"/>
              </a:solidFill>
              <a:effectLst/>
            </c:spPr>
          </c:dPt>
          <c:dPt>
            <c:idx val="14"/>
            <c:invertIfNegative val="0"/>
            <c:bubble3D val="0"/>
            <c:spPr>
              <a:solidFill>
                <a:srgbClr val="D97A14"/>
              </a:solidFill>
              <a:effectLst/>
            </c:spPr>
          </c:dPt>
          <c:cat>
            <c:multiLvlStrRef>
              <c:f>Sheet1!$A$2:$A$16</c:f>
              <c:multiLvlStrCache>
                <c:ptCount val="15"/>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lvl>
              </c:multiLvlStrCache>
            </c:multiLvlStrRef>
          </c:cat>
          <c:val>
            <c:numRef>
              <c:f>Sheet1!$B$2:$B$16</c:f>
              <c:numCache>
                <c:formatCode>General</c:formatCode>
                <c:ptCount val="15"/>
                <c:pt idx="0">
                  <c:v>1</c:v>
                </c:pt>
                <c:pt idx="1">
                  <c:v>2</c:v>
                </c:pt>
                <c:pt idx="2">
                  <c:v>4</c:v>
                </c:pt>
                <c:pt idx="3">
                  <c:v>8</c:v>
                </c:pt>
                <c:pt idx="4">
                  <c:v>16</c:v>
                </c:pt>
                <c:pt idx="5">
                  <c:v>32</c:v>
                </c:pt>
                <c:pt idx="6">
                  <c:v>64</c:v>
                </c:pt>
                <c:pt idx="7">
                  <c:v>128</c:v>
                </c:pt>
                <c:pt idx="8">
                  <c:v>256</c:v>
                </c:pt>
                <c:pt idx="9">
                  <c:v>512</c:v>
                </c:pt>
                <c:pt idx="10">
                  <c:v>1024</c:v>
                </c:pt>
                <c:pt idx="11">
                  <c:v>2048</c:v>
                </c:pt>
                <c:pt idx="12">
                  <c:v>4096</c:v>
                </c:pt>
                <c:pt idx="13">
                  <c:v>8192</c:v>
                </c:pt>
                <c:pt idx="14">
                  <c:v>16384</c:v>
                </c:pt>
              </c:numCache>
            </c:numRef>
          </c:val>
        </c:ser>
        <c:dLbls>
          <c:numFmt formatCode="#,##0" sourceLinked="0"/>
          <c:txPr>
            <a:bodyPr/>
            <a:lstStyle/>
            <a:p>
              <a:pPr>
                <a:defRPr b="0" i="0" strike="noStrike" sz="7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Virtual bytes of one spend</a:t>
            </a:r>
          </a:p>
        </c:rich>
      </c:tx>
      <c:layout/>
      <c:overlay val="0"/>
    </c:title>
    <c:autoTitleDeleted val="0"/>
    <c:plotArea>
      <c:layout/>
      <c:barChart>
        <c:barDir val="col"/>
        <c:grouping val="clustered"/>
        <c:varyColors val="0"/>
        <c:ser>
          <c:idx val="0"/>
          <c:order val="0"/>
          <c:tx>
            <c:strRef>
              <c:f>Sheet1!$B$1</c:f>
              <c:strCache>
                <c:ptCount val="1"/>
                <c:pt idx="0">
                  <c:v>vbytes</c:v>
                </c:pt>
              </c:strCache>
            </c:strRef>
          </c:tx>
          <c:spPr>
            <a:solidFill>
              <a:srgbClr val="D97A14"/>
            </a:solidFill>
            <a:effectLst/>
          </c:spPr>
          <c:invertIfNegative val="0"/>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cat>
            <c:multiLvlStrRef>
              <c:f>Sheet1!$A$2:$A$3</c:f>
              <c:multiLvlStrCache>
                <c:ptCount val="2"/>
                <c:lvl>
                  <c:pt idx="0">
                    <c:v>one key</c:v>
                  </c:pt>
                  <c:pt idx="1">
                    <c:v>2-of-3 multisig</c:v>
                  </c:pt>
                </c:lvl>
              </c:multiLvlStrCache>
            </c:multiLvlStrRef>
          </c:cat>
          <c:val>
            <c:numRef>
              <c:f>Sheet1!$B$2:$B$3</c:f>
              <c:numCache>
                <c:formatCode>General</c:formatCode>
                <c:ptCount val="2"/>
                <c:pt idx="0">
                  <c:v>110</c:v>
                </c:pt>
                <c:pt idx="1">
                  <c:v>146</c:v>
                </c:pt>
              </c:numCache>
            </c:numRef>
          </c:val>
        </c:ser>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Stuck</a:t>
            </a:r>
          </a:p>
        </c:rich>
      </c:tx>
      <c:layout/>
      <c:overlay val="0"/>
    </c:title>
    <c:autoTitleDeleted val="0"/>
    <c:plotArea>
      <c:layout/>
      <c:barChart>
        <c:barDir val="col"/>
        <c:grouping val="clustered"/>
        <c:varyColors val="0"/>
        <c:ser>
          <c:idx val="0"/>
          <c:order val="0"/>
          <c:tx>
            <c:strRef>
              <c:f>Sheet1!$B$1</c:f>
              <c:strCache>
                <c:ptCount val="1"/>
                <c:pt idx="0">
                  <c:v>stuck</c:v>
                </c:pt>
              </c:strCache>
            </c:strRef>
          </c:tx>
          <c:spPr>
            <a:solidFill>
              <a:srgbClr val="D97A14"/>
            </a:solidFill>
            <a:effectLst/>
          </c:spPr>
          <c:invertIfNegative val="0"/>
          <c:dLbls>
            <c:numFmt formatCode="0.###"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cat>
            <c:multiLvlStrRef>
              <c:f>Sheet1!$A$2:$A$4</c:f>
              <c:multiLvlStrCache>
                <c:ptCount val="3"/>
                <c:lvl>
                  <c:pt idx="0">
                    <c:v>1 key</c:v>
                  </c:pt>
                  <c:pt idx="1">
                    <c:v>2-of-3</c:v>
                  </c:pt>
                  <c:pt idx="2">
                    <c:v>1-of-3</c:v>
                  </c:pt>
                </c:lvl>
              </c:multiLvlStrCache>
            </c:multiLvlStrRef>
          </c:cat>
          <c:val>
            <c:numRef>
              <c:f>Sheet1!$B$2:$B$4</c:f>
              <c:numCache>
                <c:formatCode>General</c:formatCode>
                <c:ptCount val="3"/>
                <c:pt idx="0">
                  <c:v>0.1</c:v>
                </c:pt>
                <c:pt idx="1">
                  <c:v>0.028</c:v>
                </c:pt>
                <c:pt idx="2">
                  <c:v>0.001</c:v>
                </c:pt>
              </c:numCache>
            </c:numRef>
          </c:val>
        </c:ser>
        <c:dLbls>
          <c:numFmt formatCode="0.###"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Robbed</a:t>
            </a:r>
          </a:p>
        </c:rich>
      </c:tx>
      <c:layout/>
      <c:overlay val="0"/>
    </c:title>
    <c:autoTitleDeleted val="0"/>
    <c:plotArea>
      <c:layout/>
      <c:barChart>
        <c:barDir val="col"/>
        <c:grouping val="clustered"/>
        <c:varyColors val="0"/>
        <c:ser>
          <c:idx val="0"/>
          <c:order val="0"/>
          <c:tx>
            <c:strRef>
              <c:f>Sheet1!$B$1</c:f>
              <c:strCache>
                <c:ptCount val="1"/>
                <c:pt idx="0">
                  <c:v>robbed</c:v>
                </c:pt>
              </c:strCache>
            </c:strRef>
          </c:tx>
          <c:spPr>
            <a:solidFill>
              <a:srgbClr val="D97A14"/>
            </a:solidFill>
            <a:effectLst/>
          </c:spPr>
          <c:invertIfNegative val="0"/>
          <c:dLbls>
            <c:numFmt formatCode="0.#####"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cat>
            <c:multiLvlStrRef>
              <c:f>Sheet1!$A$2:$A$4</c:f>
              <c:multiLvlStrCache>
                <c:ptCount val="3"/>
                <c:lvl>
                  <c:pt idx="0">
                    <c:v>1 key</c:v>
                  </c:pt>
                  <c:pt idx="1">
                    <c:v>2-of-3</c:v>
                  </c:pt>
                  <c:pt idx="2">
                    <c:v>1-of-3</c:v>
                  </c:pt>
                </c:lvl>
              </c:multiLvlStrCache>
            </c:multiLvlStrRef>
          </c:cat>
          <c:val>
            <c:numRef>
              <c:f>Sheet1!$B$2:$B$4</c:f>
              <c:numCache>
                <c:formatCode>General</c:formatCode>
                <c:ptCount val="3"/>
                <c:pt idx="0">
                  <c:v>0.05</c:v>
                </c:pt>
                <c:pt idx="1">
                  <c:v>0.00725</c:v>
                </c:pt>
                <c:pt idx="2">
                  <c:v>0.14263</c:v>
                </c:pt>
              </c:numCache>
            </c:numRef>
          </c:val>
        </c:ser>
        <c:dLbls>
          <c:numFmt formatCode="0.#####"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explains Bitcoin security: what a signature protects, how traffic and the chain's first block are trusted, how a download is checked, and how keys are kept offline, on a device, behind a passphrase and in a backup. It ends with several keys, a delayed heir and Shamir's shared secrets. Every example runs under Python 3.14.6 on the chapter's own library, and Bitcoin Core 31.1 was run on a test network, so its answers are Recorded and only read back here. The research package for chapter 13 holds the sources and the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three parts after the questions: trusting the network and the software, with the signed payment, encrypted traffic, the first block and the download check; keeping the keys safe, with cold storage, devices, passphrases, backups and seed words; and surviving loss and theft, with several keys, an heir, shared secrets and custody. Each part carries true stories and corrections of the book that a reader can check on the slide. The numbers in the list let a reader jump straight to a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asks two questions that this deck answers by computation: which of its statements can be checked, and what has changed since print. The three numbers are counted from the research package, which holds 77 sources, 27 findings and 74 executed claims. Each slide that follows shows the computation behind one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asks what Bitcoin protects and what it asks you to trust. A signed payment cannot be altered or replayed, node traffic is now encrypted by default, the chain starts from one typed-in block and a shortcut called assumed-valid, and a downloaded program can be checked against a list of hashes, but only so far as the signers' keys are known.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Bitcoin payment authorizes a specific value to a specific recipient. On a Bitcoin Core 31.1 test node, a signed payment of 222 bytes held a signature of 71 bytes and the public key of 33 bytes, and neither the private key nor its WIF text. The same payment with a swapped recipient or a changed amount was refused, because the signature covers the outputs, and sending it again paid nothing. No mainnet funds were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book says that no encryption is required for Bitcoin traffic, and chapter 10 says Bitcoin Core talks in the clear. That is out of date: BIP 324 defines an encrypted version 2 transport, release 26.0 added it switched off, and release 27.0 turned it on by default. Two test nodes of Core 31.1 spoke v2 and agreed on one session id, while a peer without v2 was still served over v1. No traffic was captured on the wire.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book says that the genesis block is the root of trust and that the only thing to be explicitly trusted is a fully validated blockchain. The genesis hash is indeed typed into chainparams.cpp and asserted. But Bitcoin Core 31.1 also ships an assumed-valid block, 938,343, and its help says a node may assume that block and its ancestors are valid and skip their script verification. Trust is therefore in the release you installed as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tarball of Bitcoin Core 31.1 has 90,293,352 bytes and its SHA-256 equals its line in the list of 28 hashes, so it is the file that the list names. But the list itself is signed with 11 signatures, and with an empty keyring gpg could call none of them good: the hash proves only that the file is the listed one. The project's Guix builds exist so that users need not trust binary downloads blindly.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is about keeping keys. A watch-only wallet and a partially signed transaction keep the keys on another machine, a hardware wallet makes the signature and defends itself with waiting, a passphrase locks the wallet file, and a backup must hold the descriptor and be recent. Seed words are checksummed arithmetic. The stories are the Trezor and the Casascius coin.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cold storage the node that is online holds only public keys. On test nodes the hot wallet had private keys disabled and could not sign, and when asked for its private descriptors it answered with error minus four. A second node with no blocks and no connections signed the partially signed transaction of 528 characters, and the hot node finalized and broadcast it. A second node on the same machine is not a true air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hardware wallet holds the keys and defends them with a PIN whose waits double after every wrong try: they add up to 32,767 seconds, 9.1 hours, before the device wipes itself at the sixteenth. A phrase a person invents is weaker: four words from a list of 2,048 give 17,592,186,044,416 phrases, which an assumed trillion guesses a second exhaust in 17.6 seconds. Bitcoin Core can drive such a device with the option -signer, and the person must still read the address on the device's screen; no device was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Encrypting the wallet locks the private keys and nothing else. A locked test wallet still showed its balance but refused to send with error minus 13, a wrong passphrase gave minus 14, and a three-second unlock ended on time. The key is AES-256 with 8 bytes of salt and 25000 rounds, about 0.1 seconds on an old laptop, so trying all 30-bit passphrases takes about 1,242.8 days on one such machine. Encryption also makes a new seed, so an older backup misses new coins.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book speaks of a wallet as keys that can be backed up like any file. In Bitcoin Core 31.1 a wallet is a set of descriptors, and a backup is only good while it is recent: with a keypool of 3 a stale backup held only 1.0 of 3.0 coins, because 2.0 went to the tenth address, and counted by hand 1 of 3 comes back. For a multisignature wallet the descriptor must be saved too, since one key alone knew nothing of the address.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seed phrase is a number written in words with a checksum. Sixteen bytes of entropy, 128 bits, get a 4-bit checksum and make twelve words from a list of 2048, so a random wrong phrase still passes once in 16. The seed is made with 2048 rounds of PBKDF2 over the words and an optional passphrase, and it equals the published Trezor vector. Printing a single key on paper was a method of 2011 to 2016 that the Bitcoin Wiki now calls obsolete.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Trezor holds the keys and makes the signatures, and it defends itself against a thief with a PIN whose waits double, with a wipe after 16 failed attempts. SatoshiLabs announced the Trezor Safe 5 on 14 June 2024 at BTC Prague, with a colour touchscreen and an EAL 6+ secure element. The Bitcoin Wiki still warns that malware could swap the recipient's address, so the person must read the address on the device's own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Mike Caldwell of Sandy, Utah, made physical bitcoins: a coin with a private key under a tamper-evident hologram, sold in sizes from 1 to 1000 BTC. FinCEN had told him that minting physical bitcoins qualified him as a money transmitter that must register, and he suspended sales on 26 November 2013. The book's physical storage, the seed on paper or metal, is the same idea without the maker.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is about the two ways to lose coins, losing the key and having it stolen. Several keys, a path for an heir that opens after a wait, and Shamir's shared secrets each trade one risk for another, and the odds depend on what is feared. The stories are the exchange that held everyone's keys and the paper that began secret sharing.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two-of-three wallet needs two signatures: on the test chain one signature left the payment incomplete and two made it complete, in 146 virtual bytes against 110 for a single key. Counting the bytes by hand gives the same 146, which is 1,460 satoshis at 10 per virtual byte. The loss of one key left the funds spendable, the loss of two did not. With sortedmulti the address is the same for any order of the keys, which is why the descriptor belongs in the backup.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odds depend on what is feared. If each key is lost with chance 0.1 and stolen with chance 0.05, independently, which is an assumption, a two-of-three setup is stuck with chance 0.028 and robbed with chance 0.00725, against 0.1 and 0.05 for one key. A one-of-three setup is almost never stuck, 0.001, but is robbed with chance 0.14263. Summing the binomial terms by hand gives the same 0.028 and 0.00725.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wallet can give an heir a path that opens only after a delay: the policy was or(owner, and(heir, older 10)). On the test chain the owner could spend at once and the heir was refused at one and nine confirmations and accepted at ten, about 100 minutes of blocks. The trap: BIP 68 keeps 16 bits, so older(65536), which Core 31.1 accepted, means a wait of 0 and the heir could spend after one block. The longest honest wait is 65,535 blocks, about 455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Shamir's scheme splits a secret into n pieces so that any k of them recover it and fewer reveal nothing. In the chapter's library a secret was split into three shares, and any two returned it while one share did not. Over the small prime 11, one share fitted 11 pairs of secret and slope, one for each of the 11 possible secrets, which is what undetermined means. The book does not mention the scheme, but BIP 93, a draft, and SLIP 39 use it for seed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Mt. Gox of Shibuya, Tokyo, launched in 2010, halted withdrawals on 7 February 2014 and suspended all trading on 24 February. The 850,000 bitcoins it reported lost were called about 7 percent of all coins, which implies a supply near 12.1 million. Counts differ by source: 850,000 less the 199,999.99 found leaves 650,000.01. Bitfinex in 2016 cut every account by 36 percent, so 40 bitcoin kept 25.6, and customers of both held claims, not keys.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Adi Shamir's paper How to Share a Secret (Communications of the ACM, November 1979) divides data into n pieces so that any k compute it and any k minus 1 leave it completely undetermined. It rests on polynomial interpolation: k points fix one polynomial of degree k minus 1, and the secret is its value at zero. Modulo 47, the secret 12 and slope 30 give shares 42, 25 and 8, and two of them return 12. With 3 of 5 shares needed, 16 groups open the secret and 10 groups of two learn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lines are the deck in miniature. Each can be traced to a part of the route on slide 2 and to computations that ran on its slides. A line that feels unproven should send the reader back to that part's consoles.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free to read or watch, and every link was opened on 2026-10-19. A good start is the Stand-up Maths video on secret sharing, then the Optech topic on partially signed transactions next to the chapter. The research package for chapter 13 lists all 77 sources with the passages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computations that ran on slides of this deck. A reader who can say them and point to the slide that proves them has the chapter. The research package for chapter 13 holds the sources and the test records behind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hyperlink" Target="https://en.bitcoin.it/wiki/Trezor" TargetMode="External"/><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hyperlink" Target="https://en.bitcoin.it/wiki/Casascius_physical_bitcoins" TargetMode="External"/><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chart" Target="../charts/chart4.xml"/><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hyperlink" Target="https://en.wikipedia.org/wiki/Mt._Gox" TargetMode="External"/><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hyperlink" Target="https://web.mit.edu/6.857/OldStuff/Fall03/ref/Shamir-HowToShareASecret.pdf" TargetMode="External"/><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bitcoinops.org/en/topics/psbt/" TargetMode="External"/><Relationship Id="rId2" Type="http://schemas.openxmlformats.org/officeDocument/2006/relationships/hyperlink" Target="https://bitcoinops.org/en/topics/output-script-descriptors/" TargetMode="External"/><Relationship Id="rId3" Type="http://schemas.openxmlformats.org/officeDocument/2006/relationships/hyperlink" Target="https://bitcoinops.org/en/topics/timelocks/" TargetMode="External"/><Relationship Id="rId4" Type="http://schemas.openxmlformats.org/officeDocument/2006/relationships/hyperlink" Target="https://bips.dev/324/" TargetMode="External"/><Relationship Id="rId5" Type="http://schemas.openxmlformats.org/officeDocument/2006/relationships/hyperlink" Target="https://bips.dev/39/" TargetMode="External"/><Relationship Id="rId6" Type="http://schemas.openxmlformats.org/officeDocument/2006/relationships/hyperlink" Target="https://web.mit.edu/6.857/OldStuff/Fall03/ref/Shamir-HowToShareASecret.pdf" TargetMode="External"/><Relationship Id="rId7" Type="http://schemas.openxmlformats.org/officeDocument/2006/relationships/hyperlink" Target="https://www.youtube.com/embed/K54ildEW9-Q" TargetMode="External"/><Relationship Id="rId8" Type="http://schemas.openxmlformats.org/officeDocument/2006/relationships/hyperlink" Target="https://www.youtube.com/embed/pOr6dwb7-dw" TargetMode="External"/><Relationship Id="rId9" Type="http://schemas.openxmlformats.org/officeDocument/2006/relationships/hyperlink" Target="https://bitcoinops.org/en/newsletters/" TargetMode="External"/><Relationship Id="rId10" Type="http://schemas.openxmlformats.org/officeDocument/2006/relationships/hyperlink" Target="https://delvingbitcoin.org/" TargetMode="External"/><Relationship Id="rId11" Type="http://schemas.openxmlformats.org/officeDocument/2006/relationships/hyperlink" Target="https://groups.google.com/g/bitcoindev" TargetMode="External"/><Relationship Id="rId12" Type="http://schemas.openxmlformats.org/officeDocument/2006/relationships/slideLayout" Target="../slideLayouts/slideLayout1.xml"/><Relationship Id="rId1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13: Bitcoin Security</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What a signature protects, how keys are kept and backed up, and how several keys survive loss and theft. Bitcoin Core 31.1 results are Recorded.</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questions, then three parts; every number is a slide you can jump to</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5193792" cy="62179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The chapter's questions  (slides 3-3)</a:t>
            </a:r>
            <a:endParaRPr lang="en-US" sz="1200" dirty="0"/>
          </a:p>
        </p:txBody>
      </p:sp>
      <p:sp>
        <p:nvSpPr>
          <p:cNvPr id="9" name="Shape 7"/>
          <p:cNvSpPr/>
          <p:nvPr/>
        </p:nvSpPr>
        <p:spPr>
          <a:xfrm>
            <a:off x="457200" y="206654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665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029968"/>
            <a:ext cx="5193792" cy="62179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Trusting the network and the software  (slides 4-8)</a:t>
            </a:r>
            <a:endParaRPr lang="en-US" sz="1200" dirty="0"/>
          </a:p>
        </p:txBody>
      </p:sp>
      <p:sp>
        <p:nvSpPr>
          <p:cNvPr id="12" name="Shape 10"/>
          <p:cNvSpPr/>
          <p:nvPr/>
        </p:nvSpPr>
        <p:spPr>
          <a:xfrm>
            <a:off x="457200" y="2724912"/>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72491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88336"/>
            <a:ext cx="5193792" cy="62179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Keeping the keys safe  (slides 9-16)</a:t>
            </a:r>
            <a:endParaRPr lang="en-US" sz="1200" dirty="0"/>
          </a:p>
        </p:txBody>
      </p:sp>
      <p:sp>
        <p:nvSpPr>
          <p:cNvPr id="15" name="Shape 13"/>
          <p:cNvSpPr/>
          <p:nvPr/>
        </p:nvSpPr>
        <p:spPr>
          <a:xfrm>
            <a:off x="457200" y="3383280"/>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3832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346704"/>
            <a:ext cx="5193792" cy="62179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Surviving loss and theft  (slides 17-26)</a:t>
            </a:r>
            <a:endParaRPr lang="en-US" sz="1200" dirty="0"/>
          </a:p>
        </p:txBody>
      </p:sp>
      <p:sp>
        <p:nvSpPr>
          <p:cNvPr id="18" name="Shape 16"/>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19" name="Text 17"/>
          <p:cNvSpPr txBox="1"/>
          <p:nvPr/>
        </p:nvSpPr>
        <p:spPr>
          <a:xfrm>
            <a:off x="6556248" y="1408176"/>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26</a:t>
            </a:r>
            <a:endParaRPr lang="en-US" sz="2600" dirty="0"/>
          </a:p>
        </p:txBody>
      </p:sp>
      <p:sp>
        <p:nvSpPr>
          <p:cNvPr id="20" name="Text 18"/>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1" name="Shape 19"/>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22" name="Text 20"/>
          <p:cNvSpPr txBox="1"/>
          <p:nvPr/>
        </p:nvSpPr>
        <p:spPr>
          <a:xfrm>
            <a:off x="6556248" y="2487168"/>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4</a:t>
            </a:r>
            <a:endParaRPr lang="en-US" sz="2600" dirty="0"/>
          </a:p>
        </p:txBody>
      </p:sp>
      <p:sp>
        <p:nvSpPr>
          <p:cNvPr id="23" name="Text 21"/>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with WHO / WHERE / WHEN / READ</a:t>
            </a:r>
            <a:endParaRPr lang="en-US" sz="1100" dirty="0"/>
          </a:p>
        </p:txBody>
      </p:sp>
      <p:sp>
        <p:nvSpPr>
          <p:cNvPr id="24" name="Shape 22"/>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25" name="Text 23"/>
          <p:cNvSpPr txBox="1"/>
          <p:nvPr/>
        </p:nvSpPr>
        <p:spPr>
          <a:xfrm>
            <a:off x="6556248" y="3566160"/>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17</a:t>
            </a:r>
            <a:endParaRPr lang="en-US" sz="2600" dirty="0"/>
          </a:p>
        </p:txBody>
      </p:sp>
      <p:sp>
        <p:nvSpPr>
          <p:cNvPr id="26" name="Text 24"/>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live-run consoles, each shown with its result</a:t>
            </a:r>
            <a:endParaRPr lang="en-US" sz="1100" dirty="0"/>
          </a:p>
        </p:txBody>
      </p:sp>
      <p:sp>
        <p:nvSpPr>
          <p:cNvPr id="27" name="Shape 25"/>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Three parts, four true stories, and a list of what was not run</a:t>
            </a:r>
            <a:endParaRPr lang="en-US" sz="1350" dirty="0"/>
          </a:p>
        </p:txBody>
      </p:sp>
      <p:sp>
        <p:nvSpPr>
          <p:cNvPr id="29"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26</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own competency questions, and the numbers behind the answers</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Which claims of the chapter can be checked by computation, and what does the computation give?</a:t>
            </a:r>
            <a:endParaRPr lang="en-US" sz="1300" dirty="0"/>
          </a:p>
        </p:txBody>
      </p:sp>
      <p:sp>
        <p:nvSpPr>
          <p:cNvPr id="9" name="Shape 7"/>
          <p:cNvSpPr/>
          <p:nvPr/>
        </p:nvSpPr>
        <p:spPr>
          <a:xfrm>
            <a:off x="457200" y="197510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7510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38528"/>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What in the chapter has changed since the book went to print, and on what source?</a:t>
            </a:r>
            <a:endParaRPr lang="en-US" sz="1300" dirty="0"/>
          </a:p>
        </p:txBody>
      </p:sp>
      <p:sp>
        <p:nvSpPr>
          <p:cNvPr id="12" name="Shape 10"/>
          <p:cNvSpPr/>
          <p:nvPr/>
        </p:nvSpPr>
        <p:spPr>
          <a:xfrm>
            <a:off x="457200" y="3017520"/>
            <a:ext cx="2590800" cy="1463040"/>
          </a:xfrm>
          <a:prstGeom prst="roundRect">
            <a:avLst>
              <a:gd name="adj" fmla="val 5000"/>
            </a:avLst>
          </a:prstGeom>
          <a:solidFill>
            <a:srgbClr val="F2ECE1"/>
          </a:solidFill>
          <a:ln w="12700">
            <a:solidFill>
              <a:srgbClr val="DFD6C7"/>
            </a:solidFill>
            <a:prstDash val="solid"/>
          </a:ln>
        </p:spPr>
      </p:sp>
      <p:sp>
        <p:nvSpPr>
          <p:cNvPr id="13" name="Text 11"/>
          <p:cNvSpPr txBox="1"/>
          <p:nvPr/>
        </p:nvSpPr>
        <p:spPr>
          <a:xfrm>
            <a:off x="566928" y="3090672"/>
            <a:ext cx="2371344" cy="73152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77</a:t>
            </a:r>
            <a:endParaRPr lang="en-US" sz="2800" dirty="0"/>
          </a:p>
        </p:txBody>
      </p:sp>
      <p:sp>
        <p:nvSpPr>
          <p:cNvPr id="14" name="Text 12"/>
          <p:cNvSpPr txBox="1"/>
          <p:nvPr/>
        </p:nvSpPr>
        <p:spPr>
          <a:xfrm>
            <a:off x="566928" y="3778301"/>
            <a:ext cx="2371344" cy="643738"/>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sources, opened and read on 2026-10-19</a:t>
            </a:r>
            <a:endParaRPr lang="en-US" sz="1150" dirty="0"/>
          </a:p>
        </p:txBody>
      </p:sp>
      <p:sp>
        <p:nvSpPr>
          <p:cNvPr id="15" name="Shape 13"/>
          <p:cNvSpPr/>
          <p:nvPr/>
        </p:nvSpPr>
        <p:spPr>
          <a:xfrm>
            <a:off x="3276600" y="3017520"/>
            <a:ext cx="2590800" cy="1463040"/>
          </a:xfrm>
          <a:prstGeom prst="roundRect">
            <a:avLst>
              <a:gd name="adj" fmla="val 5000"/>
            </a:avLst>
          </a:prstGeom>
          <a:solidFill>
            <a:srgbClr val="F2ECE1"/>
          </a:solidFill>
          <a:ln w="12700">
            <a:solidFill>
              <a:srgbClr val="DFD6C7"/>
            </a:solidFill>
            <a:prstDash val="solid"/>
          </a:ln>
        </p:spPr>
      </p:sp>
      <p:sp>
        <p:nvSpPr>
          <p:cNvPr id="16" name="Text 14"/>
          <p:cNvSpPr txBox="1"/>
          <p:nvPr/>
        </p:nvSpPr>
        <p:spPr>
          <a:xfrm>
            <a:off x="3386328" y="3090672"/>
            <a:ext cx="2371344" cy="73152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74</a:t>
            </a:r>
            <a:endParaRPr lang="en-US" sz="2800" dirty="0"/>
          </a:p>
        </p:txBody>
      </p:sp>
      <p:sp>
        <p:nvSpPr>
          <p:cNvPr id="17" name="Text 15"/>
          <p:cNvSpPr txBox="1"/>
          <p:nvPr/>
        </p:nvSpPr>
        <p:spPr>
          <a:xfrm>
            <a:off x="3386328" y="3778301"/>
            <a:ext cx="2371344" cy="643738"/>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claims, each recomputed by running code</a:t>
            </a:r>
            <a:endParaRPr lang="en-US" sz="1150" dirty="0"/>
          </a:p>
        </p:txBody>
      </p:sp>
      <p:sp>
        <p:nvSpPr>
          <p:cNvPr id="18" name="Shape 16"/>
          <p:cNvSpPr/>
          <p:nvPr/>
        </p:nvSpPr>
        <p:spPr>
          <a:xfrm>
            <a:off x="6096000" y="3017520"/>
            <a:ext cx="2590800" cy="1463040"/>
          </a:xfrm>
          <a:prstGeom prst="roundRect">
            <a:avLst>
              <a:gd name="adj" fmla="val 5000"/>
            </a:avLst>
          </a:prstGeom>
          <a:solidFill>
            <a:srgbClr val="F2ECE1"/>
          </a:solidFill>
          <a:ln w="12700">
            <a:solidFill>
              <a:srgbClr val="DFD6C7"/>
            </a:solidFill>
            <a:prstDash val="solid"/>
          </a:ln>
        </p:spPr>
      </p:sp>
      <p:sp>
        <p:nvSpPr>
          <p:cNvPr id="19" name="Text 17"/>
          <p:cNvSpPr txBox="1"/>
          <p:nvPr/>
        </p:nvSpPr>
        <p:spPr>
          <a:xfrm>
            <a:off x="6205728" y="3090672"/>
            <a:ext cx="2371344" cy="73152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27</a:t>
            </a:r>
            <a:endParaRPr lang="en-US" sz="2800" dirty="0"/>
          </a:p>
        </p:txBody>
      </p:sp>
      <p:sp>
        <p:nvSpPr>
          <p:cNvPr id="20" name="Text 18"/>
          <p:cNvSpPr txBox="1"/>
          <p:nvPr/>
        </p:nvSpPr>
        <p:spPr>
          <a:xfrm>
            <a:off x="6205728" y="3778301"/>
            <a:ext cx="2371344" cy="643738"/>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findings, several of them corrections of the book</a:t>
            </a:r>
            <a:endParaRPr lang="en-US" sz="1150" dirty="0"/>
          </a:p>
        </p:txBody>
      </p:sp>
      <p:sp>
        <p:nvSpPr>
          <p:cNvPr id="21"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26</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Trusting the network and the software</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What a signature protects, and what a node or a download is trusted for.</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 signed payment</a:t>
            </a: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Encrypted traffic</a:t>
            </a: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first block</a:t>
            </a: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Checking a download</a:t>
            </a: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26</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signature protects value and recipient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cheque with amount and payee inked in: change either and the signature fails</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a:t>
            </a:r>
            <a:endParaRPr lang="en-US" sz="1150" dirty="0"/>
          </a:p>
        </p:txBody>
      </p:sp>
      <p:sp>
        <p:nvSpPr>
          <p:cNvPr id="7" name="Shape 5"/>
          <p:cNvSpPr/>
          <p:nvPr/>
        </p:nvSpPr>
        <p:spPr>
          <a:xfrm>
            <a:off x="457200" y="1554480"/>
            <a:ext cx="8229600" cy="1645920"/>
          </a:xfrm>
          <a:prstGeom prst="roundRect">
            <a:avLst>
              <a:gd name="adj" fmla="val 5556"/>
            </a:avLst>
          </a:prstGeom>
          <a:solidFill>
            <a:srgbClr val="23272E"/>
          </a:solidFill>
          <a:ln w="12700">
            <a:solidFill>
              <a:srgbClr val="23272E"/>
            </a:solidFill>
            <a:prstDash val="solid"/>
          </a:ln>
        </p:spPr>
      </p:sp>
      <p:sp>
        <p:nvSpPr>
          <p:cNvPr id="8" name="Text 6"/>
          <p:cNvSpPr txBox="1"/>
          <p:nvPr/>
        </p:nvSpPr>
        <p:spPr>
          <a:xfrm>
            <a:off x="640080" y="1673352"/>
            <a:ext cx="7863840" cy="1408176"/>
          </a:xfrm>
          <a:prstGeom prst="rect">
            <a:avLst/>
          </a:prstGeom>
          <a:noFill/>
          <a:ln/>
        </p:spPr>
        <p:txBody>
          <a:bodyPr wrap="square" lIns="0" tIns="0" rIns="0" bIns="0" rtlCol="0" anchor="t"/>
          <a:lstStyle/>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s, t, r = R[</a:t>
            </a:r>
            <a:r>
              <a:rPr lang="en-US" sz="920" dirty="0">
                <a:solidFill>
                  <a:srgbClr val="9ECBFF"/>
                </a:solidFill>
                <a:latin typeface="Courier New" pitchFamily="34" charset="0"/>
                <a:ea typeface="Courier New" pitchFamily="34" charset="-122"/>
                <a:cs typeface="Courier New" pitchFamily="34" charset="-120"/>
              </a:rPr>
              <a:t>'b1_secrecy'</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'b1_tamper'</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'b1_replay'</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s[</a:t>
            </a:r>
            <a:r>
              <a:rPr lang="en-US" sz="920" dirty="0">
                <a:solidFill>
                  <a:srgbClr val="9ECBFF"/>
                </a:solidFill>
                <a:latin typeface="Courier New" pitchFamily="34" charset="0"/>
                <a:ea typeface="Courier New" pitchFamily="34" charset="-122"/>
                <a:cs typeface="Courier New" pitchFamily="34" charset="-120"/>
              </a:rPr>
              <a:t>'tx_bytes'</a:t>
            </a:r>
            <a:r>
              <a:rPr lang="en-US" sz="920" dirty="0">
                <a:solidFill>
                  <a:srgbClr val="E6EDF3"/>
                </a:solidFill>
                <a:latin typeface="Courier New" pitchFamily="34" charset="0"/>
                <a:ea typeface="Courier New" pitchFamily="34" charset="-122"/>
                <a:cs typeface="Courier New" pitchFamily="34" charset="-120"/>
              </a:rPr>
              <a:t>], s[</a:t>
            </a:r>
            <a:r>
              <a:rPr lang="en-US" sz="920" dirty="0">
                <a:solidFill>
                  <a:srgbClr val="9ECBFF"/>
                </a:solidFill>
                <a:latin typeface="Courier New" pitchFamily="34" charset="0"/>
                <a:ea typeface="Courier New" pitchFamily="34" charset="-122"/>
                <a:cs typeface="Courier New" pitchFamily="34" charset="-120"/>
              </a:rPr>
              <a:t>'witness_item_lengths'</a:t>
            </a:r>
            <a:r>
              <a:rPr lang="en-US" sz="920" dirty="0">
                <a:solidFill>
                  <a:srgbClr val="E6EDF3"/>
                </a:solidFill>
                <a:latin typeface="Courier New" pitchFamily="34" charset="0"/>
                <a:ea typeface="Courier New" pitchFamily="34" charset="-122"/>
                <a:cs typeface="Courier New" pitchFamily="34" charset="-120"/>
              </a:rPr>
              <a:t>], s[</a:t>
            </a:r>
            <a:r>
              <a:rPr lang="en-US" sz="920" dirty="0">
                <a:solidFill>
                  <a:srgbClr val="9ECBFF"/>
                </a:solidFill>
                <a:latin typeface="Courier New" pitchFamily="34" charset="0"/>
                <a:ea typeface="Courier New" pitchFamily="34" charset="-122"/>
                <a:cs typeface="Courier New" pitchFamily="34" charset="-120"/>
              </a:rPr>
              <a:t>'private_key_hex_in_tx'</a:t>
            </a:r>
            <a:r>
              <a:rPr lang="en-US" sz="920" dirty="0">
                <a:solidFill>
                  <a:srgbClr val="E6EDF3"/>
                </a:solidFill>
                <a:latin typeface="Courier New" pitchFamily="34" charset="0"/>
                <a:ea typeface="Courier New" pitchFamily="34" charset="-122"/>
                <a:cs typeface="Courier New" pitchFamily="34" charset="-120"/>
              </a:rPr>
              <a:t>], s[</a:t>
            </a:r>
            <a:r>
              <a:rPr lang="en-US" sz="920" dirty="0">
                <a:solidFill>
                  <a:srgbClr val="9ECBFF"/>
                </a:solidFill>
                <a:latin typeface="Courier New" pitchFamily="34" charset="0"/>
                <a:ea typeface="Courier New" pitchFamily="34" charset="-122"/>
                <a:cs typeface="Courier New" pitchFamily="34" charset="-120"/>
              </a:rPr>
              <a:t>'wif_in_tx'</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(222, [71, 33], False, False)</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t[</a:t>
            </a:r>
            <a:r>
              <a:rPr lang="en-US" sz="920" dirty="0">
                <a:solidFill>
                  <a:srgbClr val="9ECBFF"/>
                </a:solidFill>
                <a:latin typeface="Courier New" pitchFamily="34" charset="0"/>
                <a:ea typeface="Courier New" pitchFamily="34" charset="-122"/>
                <a:cs typeface="Courier New" pitchFamily="34" charset="-120"/>
              </a:rPr>
              <a:t>'valid'</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'allowed'</a:t>
            </a:r>
            <a:r>
              <a:rPr lang="en-US" sz="920" dirty="0">
                <a:solidFill>
                  <a:srgbClr val="E6EDF3"/>
                </a:solidFill>
                <a:latin typeface="Courier New" pitchFamily="34" charset="0"/>
                <a:ea typeface="Courier New" pitchFamily="34" charset="-122"/>
                <a:cs typeface="Courier New" pitchFamily="34" charset="-120"/>
              </a:rPr>
              <a:t>], t[</a:t>
            </a:r>
            <a:r>
              <a:rPr lang="en-US" sz="920" dirty="0">
                <a:solidFill>
                  <a:srgbClr val="9ECBFF"/>
                </a:solidFill>
                <a:latin typeface="Courier New" pitchFamily="34" charset="0"/>
                <a:ea typeface="Courier New" pitchFamily="34" charset="-122"/>
                <a:cs typeface="Courier New" pitchFamily="34" charset="-120"/>
              </a:rPr>
              <a:t>'address_replaced'</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'allowed'</a:t>
            </a:r>
            <a:r>
              <a:rPr lang="en-US" sz="920" dirty="0">
                <a:solidFill>
                  <a:srgbClr val="E6EDF3"/>
                </a:solidFill>
                <a:latin typeface="Courier New" pitchFamily="34" charset="0"/>
                <a:ea typeface="Courier New" pitchFamily="34" charset="-122"/>
                <a:cs typeface="Courier New" pitchFamily="34" charset="-120"/>
              </a:rPr>
              <a:t>], t[</a:t>
            </a:r>
            <a:r>
              <a:rPr lang="en-US" sz="920" dirty="0">
                <a:solidFill>
                  <a:srgbClr val="9ECBFF"/>
                </a:solidFill>
                <a:latin typeface="Courier New" pitchFamily="34" charset="0"/>
                <a:ea typeface="Courier New" pitchFamily="34" charset="-122"/>
                <a:cs typeface="Courier New" pitchFamily="34" charset="-120"/>
              </a:rPr>
              <a:t>'amount_changed'</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'allowed'</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(True, False, False)</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s[</a:t>
            </a:r>
            <a:r>
              <a:rPr lang="en-US" sz="920" dirty="0">
                <a:solidFill>
                  <a:srgbClr val="9ECBFF"/>
                </a:solidFill>
                <a:latin typeface="Courier New" pitchFamily="34" charset="0"/>
                <a:ea typeface="Courier New" pitchFamily="34" charset="-122"/>
                <a:cs typeface="Courier New" pitchFamily="34" charset="-120"/>
              </a:rPr>
              <a:t>'sighash_byte'</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'testmempoolaccept'</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'reject-reason'</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'balance_r'</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'balance_r_after'</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('01', 'txn-already-known', 1.5, 1.5)</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r[</a:t>
            </a:r>
            <a:r>
              <a:rPr lang="en-US" sz="920" dirty="0">
                <a:solidFill>
                  <a:srgbClr val="9ECBFF"/>
                </a:solidFill>
                <a:latin typeface="Courier New" pitchFamily="34" charset="0"/>
                <a:ea typeface="Courier New" pitchFamily="34" charset="-122"/>
                <a:cs typeface="Courier New" pitchFamily="34" charset="-120"/>
              </a:rPr>
              <a:t>'sendrawtransaction'</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'error'</a:t>
            </a:r>
            <a:r>
              <a:rPr lang="en-US" sz="920" dirty="0">
                <a:solidFill>
                  <a:srgbClr val="E6EDF3"/>
                </a:solidFill>
                <a:latin typeface="Courier New" pitchFamily="34" charset="0"/>
                <a:ea typeface="Courier New" pitchFamily="34" charset="-122"/>
                <a:cs typeface="Courier New" pitchFamily="34" charset="-120"/>
              </a:rPr>
              <a:t>].split(</a:t>
            </a:r>
            <a:r>
              <a:rPr lang="en-US" sz="920" dirty="0">
                <a:solidFill>
                  <a:srgbClr val="9ECBFF"/>
                </a:solidFill>
                <a:latin typeface="Courier New" pitchFamily="34" charset="0"/>
                <a:ea typeface="Courier New" pitchFamily="34" charset="-122"/>
                <a:cs typeface="Courier New" pitchFamily="34" charset="-120"/>
              </a:rPr>
              <a:t>'message: '</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FFD28A"/>
                </a:solidFill>
                <a:latin typeface="Courier New" pitchFamily="34" charset="0"/>
                <a:ea typeface="Courier New" pitchFamily="34" charset="-122"/>
                <a:cs typeface="Courier New" pitchFamily="34" charset="-120"/>
              </a:rPr>
              <a:t>1</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'Transaction outputs already in utxo set'</a:t>
            </a:r>
            <a:endParaRPr lang="en-US" sz="920" dirty="0"/>
          </a:p>
        </p:txBody>
      </p:sp>
      <p:sp>
        <p:nvSpPr>
          <p:cNvPr id="9" name="Text 7"/>
          <p:cNvSpPr txBox="1"/>
          <p:nvPr/>
        </p:nvSpPr>
        <p:spPr>
          <a:xfrm>
            <a:off x="457200" y="321868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550920"/>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520440"/>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the 222-byte payment holds a 71-byte signature and the 33-byte public key, no private key and no WIF</a:t>
            </a:r>
            <a:endParaRPr lang="en-US" sz="1000" dirty="0"/>
          </a:p>
        </p:txBody>
      </p:sp>
      <p:sp>
        <p:nvSpPr>
          <p:cNvPr id="12" name="Shape 10"/>
          <p:cNvSpPr/>
          <p:nvPr/>
        </p:nvSpPr>
        <p:spPr>
          <a:xfrm>
            <a:off x="457200" y="3739896"/>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709416"/>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a valid payment is accepted; a swapped recipient or a changed amount breaks the signature</a:t>
            </a:r>
            <a:endParaRPr lang="en-US" sz="1000" dirty="0"/>
          </a:p>
        </p:txBody>
      </p:sp>
      <p:sp>
        <p:nvSpPr>
          <p:cNvPr id="14" name="Shape 12"/>
          <p:cNvSpPr/>
          <p:nvPr/>
        </p:nvSpPr>
        <p:spPr>
          <a:xfrm>
            <a:off x="457200" y="392887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3898392"/>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4 and 5: the sighash byte 01 signs all outputs; a replay pays nothing, the outputs are already known</a:t>
            </a:r>
            <a:endParaRPr lang="en-US" sz="1000" dirty="0"/>
          </a:p>
        </p:txBody>
      </p:sp>
      <p:sp>
        <p:nvSpPr>
          <p:cNvPr id="16" name="Text 14"/>
          <p:cNvSpPr txBox="1"/>
          <p:nvPr/>
        </p:nvSpPr>
        <p:spPr>
          <a:xfrm>
            <a:off x="457200" y="4187952"/>
            <a:ext cx="8229600" cy="256032"/>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NOT EXECUTED: real money on mainnet; every payment here was made on regtest.</a:t>
            </a:r>
            <a:endParaRPr lang="en-US" sz="100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signature covers value and recipient, and never contains the key</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26</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Encrypted by default since release 27.0</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sealing the envelope: strangers on the road cannot read it, only the two peers can</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the book and the release notes are saved</a:t>
            </a:r>
            <a:endParaRPr lang="en-US" sz="1150" dirty="0"/>
          </a:p>
        </p:txBody>
      </p:sp>
      <p:sp>
        <p:nvSpPr>
          <p:cNvPr id="7" name="Shape 5"/>
          <p:cNvSpPr/>
          <p:nvPr/>
        </p:nvSpPr>
        <p:spPr>
          <a:xfrm>
            <a:off x="457200" y="1554480"/>
            <a:ext cx="8229600" cy="1645920"/>
          </a:xfrm>
          <a:prstGeom prst="roundRect">
            <a:avLst>
              <a:gd name="adj" fmla="val 5556"/>
            </a:avLst>
          </a:prstGeom>
          <a:solidFill>
            <a:srgbClr val="23272E"/>
          </a:solidFill>
          <a:ln w="12700">
            <a:solidFill>
              <a:srgbClr val="23272E"/>
            </a:solidFill>
            <a:prstDash val="solid"/>
          </a:ln>
        </p:spPr>
      </p:sp>
      <p:sp>
        <p:nvSpPr>
          <p:cNvPr id="8" name="Text 6"/>
          <p:cNvSpPr txBox="1"/>
          <p:nvPr/>
        </p:nvSpPr>
        <p:spPr>
          <a:xfrm>
            <a:off x="640080" y="1673352"/>
            <a:ext cx="7863840" cy="1408176"/>
          </a:xfrm>
          <a:prstGeom prst="rect">
            <a:avLst/>
          </a:prstGeom>
          <a:noFill/>
          <a:ln/>
        </p:spPr>
        <p:txBody>
          <a:bodyPr wrap="square" lIns="0" tIns="0" rIns="0" bIns="0" rtlCol="0" anchor="t"/>
          <a:lstStyle/>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p, n = R[</a:t>
            </a:r>
            <a:r>
              <a:rPr lang="en-US" sz="920" dirty="0">
                <a:solidFill>
                  <a:srgbClr val="9ECBFF"/>
                </a:solidFill>
                <a:latin typeface="Courier New" pitchFamily="34" charset="0"/>
                <a:ea typeface="Courier New" pitchFamily="34" charset="-122"/>
                <a:cs typeface="Courier New" pitchFamily="34" charset="-120"/>
              </a:rPr>
              <a:t>'b2_peers'</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'b2_netinfo'</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p[</a:t>
            </a:r>
            <a:r>
              <a:rPr lang="en-US" sz="920" dirty="0">
                <a:solidFill>
                  <a:srgbClr val="9ECBFF"/>
                </a:solidFill>
                <a:latin typeface="Courier New" pitchFamily="34" charset="0"/>
                <a:ea typeface="Courier New" pitchFamily="34" charset="-122"/>
                <a:cs typeface="Courier New" pitchFamily="34" charset="-120"/>
              </a:rPr>
              <a:t>'Q'</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FFD28A"/>
                </a:solidFill>
                <a:latin typeface="Courier New" pitchFamily="34" charset="0"/>
                <a:ea typeface="Courier New" pitchFamily="34" charset="-122"/>
                <a:cs typeface="Courier New" pitchFamily="34" charset="-120"/>
              </a:rPr>
              <a:t>0</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'transport'</a:t>
            </a:r>
            <a:r>
              <a:rPr lang="en-US" sz="920" dirty="0">
                <a:solidFill>
                  <a:srgbClr val="E6EDF3"/>
                </a:solidFill>
                <a:latin typeface="Courier New" pitchFamily="34" charset="0"/>
                <a:ea typeface="Courier New" pitchFamily="34" charset="-122"/>
                <a:cs typeface="Courier New" pitchFamily="34" charset="-120"/>
              </a:rPr>
              <a:t>], p[</a:t>
            </a:r>
            <a:r>
              <a:rPr lang="en-US" sz="920" dirty="0">
                <a:solidFill>
                  <a:srgbClr val="9ECBFF"/>
                </a:solidFill>
                <a:latin typeface="Courier New" pitchFamily="34" charset="0"/>
                <a:ea typeface="Courier New" pitchFamily="34" charset="-122"/>
                <a:cs typeface="Courier New" pitchFamily="34" charset="-120"/>
              </a:rPr>
              <a:t>'P'</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FFD28A"/>
                </a:solidFill>
                <a:latin typeface="Courier New" pitchFamily="34" charset="0"/>
                <a:ea typeface="Courier New" pitchFamily="34" charset="-122"/>
                <a:cs typeface="Courier New" pitchFamily="34" charset="-120"/>
              </a:rPr>
              <a:t>0</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'transport'</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'b2_session_ids_match'</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9ECBFF"/>
                </a:solidFill>
                <a:latin typeface="Courier New" pitchFamily="34" charset="0"/>
                <a:ea typeface="Courier New" pitchFamily="34" charset="-122"/>
                <a:cs typeface="Courier New" pitchFamily="34" charset="-120"/>
              </a:rPr>
              <a:t>'P2P_V2'</a:t>
            </a:r>
            <a:r>
              <a:rPr lang="en-US" sz="920" dirty="0">
                <a:solidFill>
                  <a:srgbClr val="E6EDF3"/>
                </a:solidFill>
                <a:latin typeface="Courier New" pitchFamily="34" charset="0"/>
                <a:ea typeface="Courier New" pitchFamily="34" charset="-122"/>
                <a:cs typeface="Courier New" pitchFamily="34" charset="-120"/>
              </a:rPr>
              <a:t> </a:t>
            </a:r>
            <a:r>
              <a:rPr lang="en-US" sz="920" b="1" dirty="0">
                <a:solidFill>
                  <a:srgbClr val="F2A860"/>
                </a:solidFill>
                <a:latin typeface="Courier New" pitchFamily="34" charset="0"/>
                <a:ea typeface="Courier New" pitchFamily="34" charset="-122"/>
                <a:cs typeface="Courier New" pitchFamily="34" charset="-120"/>
              </a:rPr>
              <a:t>in</a:t>
            </a:r>
            <a:r>
              <a:rPr lang="en-US" sz="920" dirty="0">
                <a:solidFill>
                  <a:srgbClr val="E6EDF3"/>
                </a:solidFill>
                <a:latin typeface="Courier New" pitchFamily="34" charset="0"/>
                <a:ea typeface="Courier New" pitchFamily="34" charset="-122"/>
                <a:cs typeface="Courier New" pitchFamily="34" charset="-120"/>
              </a:rPr>
              <a:t> n[</a:t>
            </a:r>
            <a:r>
              <a:rPr lang="en-US" sz="920" dirty="0">
                <a:solidFill>
                  <a:srgbClr val="9ECBFF"/>
                </a:solidFill>
                <a:latin typeface="Courier New" pitchFamily="34" charset="0"/>
                <a:ea typeface="Courier New" pitchFamily="34" charset="-122"/>
                <a:cs typeface="Courier New" pitchFamily="34" charset="-120"/>
              </a:rPr>
              <a:t>'P_localservices'</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('v2', 'v2', True, True)</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p[</a:t>
            </a:r>
            <a:r>
              <a:rPr lang="en-US" sz="920" dirty="0">
                <a:solidFill>
                  <a:srgbClr val="9ECBFF"/>
                </a:solidFill>
                <a:latin typeface="Courier New" pitchFamily="34" charset="0"/>
                <a:ea typeface="Courier New" pitchFamily="34" charset="-122"/>
                <a:cs typeface="Courier New" pitchFamily="34" charset="-120"/>
              </a:rPr>
              <a:t>'X'</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FFD28A"/>
                </a:solidFill>
                <a:latin typeface="Courier New" pitchFamily="34" charset="0"/>
                <a:ea typeface="Courier New" pitchFamily="34" charset="-122"/>
                <a:cs typeface="Courier New" pitchFamily="34" charset="-120"/>
              </a:rPr>
              <a:t>0</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'transport'</a:t>
            </a:r>
            <a:r>
              <a:rPr lang="en-US" sz="920" dirty="0">
                <a:solidFill>
                  <a:srgbClr val="E6EDF3"/>
                </a:solidFill>
                <a:latin typeface="Courier New" pitchFamily="34" charset="0"/>
                <a:ea typeface="Courier New" pitchFamily="34" charset="-122"/>
                <a:cs typeface="Courier New" pitchFamily="34" charset="-120"/>
              </a:rPr>
              <a:t>], [y[</a:t>
            </a:r>
            <a:r>
              <a:rPr lang="en-US" sz="920" dirty="0">
                <a:solidFill>
                  <a:srgbClr val="9ECBFF"/>
                </a:solidFill>
                <a:latin typeface="Courier New" pitchFamily="34" charset="0"/>
                <a:ea typeface="Courier New" pitchFamily="34" charset="-122"/>
                <a:cs typeface="Courier New" pitchFamily="34" charset="-120"/>
              </a:rPr>
              <a:t>'transport'</a:t>
            </a:r>
            <a:r>
              <a:rPr lang="en-US" sz="920" dirty="0">
                <a:solidFill>
                  <a:srgbClr val="E6EDF3"/>
                </a:solidFill>
                <a:latin typeface="Courier New" pitchFamily="34" charset="0"/>
                <a:ea typeface="Courier New" pitchFamily="34" charset="-122"/>
                <a:cs typeface="Courier New" pitchFamily="34" charset="-120"/>
              </a:rPr>
              <a:t>] </a:t>
            </a:r>
            <a:r>
              <a:rPr lang="en-US" sz="920" b="1" dirty="0">
                <a:solidFill>
                  <a:srgbClr val="F2A860"/>
                </a:solidFill>
                <a:latin typeface="Courier New" pitchFamily="34" charset="0"/>
                <a:ea typeface="Courier New" pitchFamily="34" charset="-122"/>
                <a:cs typeface="Courier New" pitchFamily="34" charset="-120"/>
              </a:rPr>
              <a:t>for</a:t>
            </a:r>
            <a:r>
              <a:rPr lang="en-US" sz="920" dirty="0">
                <a:solidFill>
                  <a:srgbClr val="E6EDF3"/>
                </a:solidFill>
                <a:latin typeface="Courier New" pitchFamily="34" charset="0"/>
                <a:ea typeface="Courier New" pitchFamily="34" charset="-122"/>
                <a:cs typeface="Courier New" pitchFamily="34" charset="-120"/>
              </a:rPr>
              <a:t> y </a:t>
            </a:r>
            <a:r>
              <a:rPr lang="en-US" sz="920" b="1" dirty="0">
                <a:solidFill>
                  <a:srgbClr val="F2A860"/>
                </a:solidFill>
                <a:latin typeface="Courier New" pitchFamily="34" charset="0"/>
                <a:ea typeface="Courier New" pitchFamily="34" charset="-122"/>
                <a:cs typeface="Courier New" pitchFamily="34" charset="-120"/>
              </a:rPr>
              <a:t>in</a:t>
            </a:r>
            <a:r>
              <a:rPr lang="en-US" sz="920" dirty="0">
                <a:solidFill>
                  <a:srgbClr val="E6EDF3"/>
                </a:solidFill>
                <a:latin typeface="Courier New" pitchFamily="34" charset="0"/>
                <a:ea typeface="Courier New" pitchFamily="34" charset="-122"/>
                <a:cs typeface="Courier New" pitchFamily="34" charset="-120"/>
              </a:rPr>
              <a:t> p[</a:t>
            </a:r>
            <a:r>
              <a:rPr lang="en-US" sz="920" dirty="0">
                <a:solidFill>
                  <a:srgbClr val="9ECBFF"/>
                </a:solidFill>
                <a:latin typeface="Courier New" pitchFamily="34" charset="0"/>
                <a:ea typeface="Courier New" pitchFamily="34" charset="-122"/>
                <a:cs typeface="Courier New" pitchFamily="34" charset="-120"/>
              </a:rPr>
              <a:t>'P'</a:t>
            </a:r>
            <a:r>
              <a:rPr lang="en-US" sz="920" dirty="0">
                <a:solidFill>
                  <a:srgbClr val="E6EDF3"/>
                </a:solidFill>
                <a:latin typeface="Courier New" pitchFamily="34" charset="0"/>
                <a:ea typeface="Courier New" pitchFamily="34" charset="-122"/>
                <a:cs typeface="Courier New" pitchFamily="34" charset="-120"/>
              </a:rPr>
              <a:t>]].count(</a:t>
            </a:r>
            <a:r>
              <a:rPr lang="en-US" sz="920" dirty="0">
                <a:solidFill>
                  <a:srgbClr val="9ECBFF"/>
                </a:solidFill>
                <a:latin typeface="Courier New" pitchFamily="34" charset="0"/>
                <a:ea typeface="Courier New" pitchFamily="34" charset="-122"/>
                <a:cs typeface="Courier New" pitchFamily="34" charset="-120"/>
              </a:rPr>
              <a:t>'v1'</a:t>
            </a:r>
            <a:r>
              <a:rPr lang="en-US" sz="920" dirty="0">
                <a:solidFill>
                  <a:srgbClr val="E6EDF3"/>
                </a:solidFill>
                <a:latin typeface="Courier New" pitchFamily="34" charset="0"/>
                <a:ea typeface="Courier New" pitchFamily="34" charset="-122"/>
                <a:cs typeface="Courier New" pitchFamily="34" charset="-120"/>
              </a:rPr>
              <a:t>), n[</a:t>
            </a:r>
            <a:r>
              <a:rPr lang="en-US" sz="920" dirty="0">
                <a:solidFill>
                  <a:srgbClr val="9ECBFF"/>
                </a:solidFill>
                <a:latin typeface="Courier New" pitchFamily="34" charset="0"/>
                <a:ea typeface="Courier New" pitchFamily="34" charset="-122"/>
                <a:cs typeface="Courier New" pitchFamily="34" charset="-120"/>
              </a:rPr>
              <a:t>'X_localservices'</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('v1', 1, ['NETWORK', 'WITNESS', 'NETWORK_LIMITED'])</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seen(</a:t>
            </a:r>
            <a:r>
              <a:rPr lang="en-US" sz="920" dirty="0">
                <a:solidFill>
                  <a:srgbClr val="9ECBFF"/>
                </a:solidFill>
                <a:latin typeface="Courier New" pitchFamily="34" charset="0"/>
                <a:ea typeface="Courier New" pitchFamily="34" charset="-122"/>
                <a:cs typeface="Courier New" pitchFamily="34" charset="-120"/>
              </a:rPr>
              <a:t>'book_ch13_security.adoc'</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9ECBFF"/>
                </a:solidFill>
                <a:latin typeface="Courier New" pitchFamily="34" charset="0"/>
                <a:ea typeface="Courier New" pitchFamily="34" charset="-122"/>
                <a:cs typeface="Courier New" pitchFamily="34" charset="-120"/>
              </a:rPr>
              <a:t>'no encryption is required for Bitcoin traffic'</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True</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seen(</a:t>
            </a:r>
            <a:r>
              <a:rPr lang="en-US" sz="920" dirty="0">
                <a:solidFill>
                  <a:srgbClr val="9ECBFF"/>
                </a:solidFill>
                <a:latin typeface="Courier New" pitchFamily="34" charset="0"/>
                <a:ea typeface="Courier New" pitchFamily="34" charset="-122"/>
                <a:cs typeface="Courier New" pitchFamily="34" charset="-120"/>
              </a:rPr>
              <a:t>'core_relnotes_27.0.md'</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9ECBFF"/>
                </a:solidFill>
                <a:latin typeface="Courier New" pitchFamily="34" charset="0"/>
                <a:ea typeface="Courier New" pitchFamily="34" charset="-122"/>
                <a:cs typeface="Courier New" pitchFamily="34" charset="-120"/>
              </a:rPr>
              <a:t>'BIP324 v2 transport is now enabled by default'</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True</a:t>
            </a:r>
            <a:endParaRPr lang="en-US" sz="920" dirty="0"/>
          </a:p>
        </p:txBody>
      </p:sp>
      <p:sp>
        <p:nvSpPr>
          <p:cNvPr id="9" name="Text 7"/>
          <p:cNvSpPr txBox="1"/>
          <p:nvPr/>
        </p:nvSpPr>
        <p:spPr>
          <a:xfrm>
            <a:off x="457200" y="321868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550920"/>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520440"/>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two Core 31.1 nodes spoke v2 and agreed on one session id; the services list P2P_V2</a:t>
            </a:r>
            <a:endParaRPr lang="en-US" sz="1000" dirty="0"/>
          </a:p>
        </p:txBody>
      </p:sp>
      <p:sp>
        <p:nvSpPr>
          <p:cNvPr id="12" name="Shape 10"/>
          <p:cNvSpPr/>
          <p:nvPr/>
        </p:nvSpPr>
        <p:spPr>
          <a:xfrm>
            <a:off x="457200" y="3739896"/>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709416"/>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a peer that offers no v2 is served over v1, with no session id, and is still connected</a:t>
            </a:r>
            <a:endParaRPr lang="en-US" sz="1000" dirty="0"/>
          </a:p>
        </p:txBody>
      </p:sp>
      <p:sp>
        <p:nvSpPr>
          <p:cNvPr id="14" name="Shape 12"/>
          <p:cNvSpPr/>
          <p:nvPr/>
        </p:nvSpPr>
        <p:spPr>
          <a:xfrm>
            <a:off x="457200" y="392887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3898392"/>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4 and 5: the book says no encryption is required; release 27.0 turned BIP 324 on by default</a:t>
            </a:r>
            <a:endParaRPr lang="en-US" sz="1000" dirty="0"/>
          </a:p>
        </p:txBody>
      </p:sp>
      <p:sp>
        <p:nvSpPr>
          <p:cNvPr id="16" name="Text 14"/>
          <p:cNvSpPr txBox="1"/>
          <p:nvPr/>
        </p:nvSpPr>
        <p:spPr>
          <a:xfrm>
            <a:off x="457200" y="4187952"/>
            <a:ext cx="8229600" cy="256032"/>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NOT EXECUTED: BIP 324 on the wire; the session ids matched, but no packets were captured.</a:t>
            </a:r>
            <a:endParaRPr lang="en-US" sz="100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Since release 27.0 peers encrypt their traffic by default</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26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root of trust: one typed-in block</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tracing a family tree to its founder, but trusting a recent page to save time</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blocks saved from mempool.space and on the saved chainparams.cpp</a:t>
            </a:r>
            <a:endParaRPr lang="en-US" sz="1150" dirty="0"/>
          </a:p>
        </p:txBody>
      </p:sp>
      <p:sp>
        <p:nvSpPr>
          <p:cNvPr id="7" name="Shape 5"/>
          <p:cNvSpPr/>
          <p:nvPr/>
        </p:nvSpPr>
        <p:spPr>
          <a:xfrm>
            <a:off x="457200" y="1554480"/>
            <a:ext cx="8229600" cy="1645920"/>
          </a:xfrm>
          <a:prstGeom prst="roundRect">
            <a:avLst>
              <a:gd name="adj" fmla="val 5556"/>
            </a:avLst>
          </a:prstGeom>
          <a:solidFill>
            <a:srgbClr val="23272E"/>
          </a:solidFill>
          <a:ln w="12700">
            <a:solidFill>
              <a:srgbClr val="23272E"/>
            </a:solidFill>
            <a:prstDash val="solid"/>
          </a:ln>
        </p:spPr>
      </p:sp>
      <p:sp>
        <p:nvSpPr>
          <p:cNvPr id="8" name="Text 6"/>
          <p:cNvSpPr txBox="1"/>
          <p:nvPr/>
        </p:nvSpPr>
        <p:spPr>
          <a:xfrm>
            <a:off x="640080" y="1673352"/>
            <a:ext cx="7863840" cy="1408176"/>
          </a:xfrm>
          <a:prstGeom prst="rect">
            <a:avLst/>
          </a:prstGeom>
          <a:noFill/>
          <a:ln/>
        </p:spPr>
        <p:txBody>
          <a:bodyPr wrap="square" lIns="0" tIns="0" rIns="0" bIns="0" rtlCol="0" anchor="t"/>
          <a:lstStyle/>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g, b = J(</a:t>
            </a:r>
            <a:r>
              <a:rPr lang="en-US" sz="920" dirty="0">
                <a:solidFill>
                  <a:srgbClr val="FFD28A"/>
                </a:solidFill>
                <a:latin typeface="Courier New" pitchFamily="34" charset="0"/>
                <a:ea typeface="Courier New" pitchFamily="34" charset="-122"/>
                <a:cs typeface="Courier New" pitchFamily="34" charset="-120"/>
              </a:rPr>
              <a:t>0</a:t>
            </a:r>
            <a:r>
              <a:rPr lang="en-US" sz="920" dirty="0">
                <a:solidFill>
                  <a:srgbClr val="E6EDF3"/>
                </a:solidFill>
                <a:latin typeface="Courier New" pitchFamily="34" charset="0"/>
                <a:ea typeface="Courier New" pitchFamily="34" charset="-122"/>
                <a:cs typeface="Courier New" pitchFamily="34" charset="-120"/>
              </a:rPr>
              <a:t>), J(</a:t>
            </a:r>
            <a:r>
              <a:rPr lang="en-US" sz="920" dirty="0">
                <a:solidFill>
                  <a:srgbClr val="FFD28A"/>
                </a:solidFill>
                <a:latin typeface="Courier New" pitchFamily="34" charset="0"/>
                <a:ea typeface="Courier New" pitchFamily="34" charset="-122"/>
                <a:cs typeface="Courier New" pitchFamily="34" charset="-120"/>
              </a:rPr>
              <a:t>938343</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g[</a:t>
            </a:r>
            <a:r>
              <a:rPr lang="en-US" sz="920" dirty="0">
                <a:solidFill>
                  <a:srgbClr val="9ECBFF"/>
                </a:solidFill>
                <a:latin typeface="Courier New" pitchFamily="34" charset="0"/>
                <a:ea typeface="Courier New" pitchFamily="34" charset="-122"/>
                <a:cs typeface="Courier New" pitchFamily="34" charset="-120"/>
              </a:rPr>
              <a:t>'id'</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FFD28A"/>
                </a:solidFill>
                <a:latin typeface="Courier New" pitchFamily="34" charset="0"/>
                <a:ea typeface="Courier New" pitchFamily="34" charset="-122"/>
                <a:cs typeface="Courier New" pitchFamily="34" charset="-120"/>
              </a:rPr>
              <a:t>20</a:t>
            </a:r>
            <a:r>
              <a:rPr lang="en-US" sz="920" dirty="0">
                <a:solidFill>
                  <a:srgbClr val="E6EDF3"/>
                </a:solidFill>
                <a:latin typeface="Courier New" pitchFamily="34" charset="0"/>
                <a:ea typeface="Courier New" pitchFamily="34" charset="-122"/>
                <a:cs typeface="Courier New" pitchFamily="34" charset="-120"/>
              </a:rPr>
              <a:t>], g[</a:t>
            </a:r>
            <a:r>
              <a:rPr lang="en-US" sz="920" dirty="0">
                <a:solidFill>
                  <a:srgbClr val="9ECBFF"/>
                </a:solidFill>
                <a:latin typeface="Courier New" pitchFamily="34" charset="0"/>
                <a:ea typeface="Courier New" pitchFamily="34" charset="-122"/>
                <a:cs typeface="Courier New" pitchFamily="34" charset="-120"/>
              </a:rPr>
              <a:t>'height'</a:t>
            </a:r>
            <a:r>
              <a:rPr lang="en-US" sz="920" dirty="0">
                <a:solidFill>
                  <a:srgbClr val="E6EDF3"/>
                </a:solidFill>
                <a:latin typeface="Courier New" pitchFamily="34" charset="0"/>
                <a:ea typeface="Courier New" pitchFamily="34" charset="-122"/>
                <a:cs typeface="Courier New" pitchFamily="34" charset="-120"/>
              </a:rPr>
              <a:t>], seen(</a:t>
            </a:r>
            <a:r>
              <a:rPr lang="en-US" sz="920" dirty="0">
                <a:solidFill>
                  <a:srgbClr val="9ECBFF"/>
                </a:solidFill>
                <a:latin typeface="Courier New" pitchFamily="34" charset="0"/>
                <a:ea typeface="Courier New" pitchFamily="34" charset="-122"/>
                <a:cs typeface="Courier New" pitchFamily="34" charset="-120"/>
              </a:rPr>
              <a:t>'core_src_kernel_chainparams.cpp'</a:t>
            </a:r>
            <a:r>
              <a:rPr lang="en-US" sz="920" dirty="0">
                <a:solidFill>
                  <a:srgbClr val="E6EDF3"/>
                </a:solidFill>
                <a:latin typeface="Courier New" pitchFamily="34" charset="0"/>
                <a:ea typeface="Courier New" pitchFamily="34" charset="-122"/>
                <a:cs typeface="Courier New" pitchFamily="34" charset="-120"/>
              </a:rPr>
              <a:t>, g[</a:t>
            </a:r>
            <a:r>
              <a:rPr lang="en-US" sz="920" dirty="0">
                <a:solidFill>
                  <a:srgbClr val="9ECBFF"/>
                </a:solidFill>
                <a:latin typeface="Courier New" pitchFamily="34" charset="0"/>
                <a:ea typeface="Courier New" pitchFamily="34" charset="-122"/>
                <a:cs typeface="Courier New" pitchFamily="34" charset="-120"/>
              </a:rPr>
              <a:t>'id'</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('000000000019d6689c08', 0, True)</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b[</a:t>
            </a:r>
            <a:r>
              <a:rPr lang="en-US" sz="920" dirty="0">
                <a:solidFill>
                  <a:srgbClr val="9ECBFF"/>
                </a:solidFill>
                <a:latin typeface="Courier New" pitchFamily="34" charset="0"/>
                <a:ea typeface="Courier New" pitchFamily="34" charset="-122"/>
                <a:cs typeface="Courier New" pitchFamily="34" charset="-120"/>
              </a:rPr>
              <a:t>'height'</a:t>
            </a:r>
            <a:r>
              <a:rPr lang="en-US" sz="920" dirty="0">
                <a:solidFill>
                  <a:srgbClr val="E6EDF3"/>
                </a:solidFill>
                <a:latin typeface="Courier New" pitchFamily="34" charset="0"/>
                <a:ea typeface="Courier New" pitchFamily="34" charset="-122"/>
                <a:cs typeface="Courier New" pitchFamily="34" charset="-120"/>
              </a:rPr>
              <a:t>], b[</a:t>
            </a:r>
            <a:r>
              <a:rPr lang="en-US" sz="920" dirty="0">
                <a:solidFill>
                  <a:srgbClr val="9ECBFF"/>
                </a:solidFill>
                <a:latin typeface="Courier New" pitchFamily="34" charset="0"/>
                <a:ea typeface="Courier New" pitchFamily="34" charset="-122"/>
                <a:cs typeface="Courier New" pitchFamily="34" charset="-120"/>
              </a:rPr>
              <a:t>'id'</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FFD28A"/>
                </a:solidFill>
                <a:latin typeface="Courier New" pitchFamily="34" charset="0"/>
                <a:ea typeface="Courier New" pitchFamily="34" charset="-122"/>
                <a:cs typeface="Courier New" pitchFamily="34" charset="-120"/>
              </a:rPr>
              <a:t>24</a:t>
            </a:r>
            <a:r>
              <a:rPr lang="en-US" sz="920" dirty="0">
                <a:solidFill>
                  <a:srgbClr val="E6EDF3"/>
                </a:solidFill>
                <a:latin typeface="Courier New" pitchFamily="34" charset="0"/>
                <a:ea typeface="Courier New" pitchFamily="34" charset="-122"/>
                <a:cs typeface="Courier New" pitchFamily="34" charset="-120"/>
              </a:rPr>
              <a:t>], seen(</a:t>
            </a:r>
            <a:r>
              <a:rPr lang="en-US" sz="920" dirty="0">
                <a:solidFill>
                  <a:srgbClr val="9ECBFF"/>
                </a:solidFill>
                <a:latin typeface="Courier New" pitchFamily="34" charset="0"/>
                <a:ea typeface="Courier New" pitchFamily="34" charset="-122"/>
                <a:cs typeface="Courier New" pitchFamily="34" charset="-120"/>
              </a:rPr>
              <a:t>'core_src_kernel_chainparams.cpp'</a:t>
            </a:r>
            <a:r>
              <a:rPr lang="en-US" sz="920" dirty="0">
                <a:solidFill>
                  <a:srgbClr val="E6EDF3"/>
                </a:solidFill>
                <a:latin typeface="Courier New" pitchFamily="34" charset="0"/>
                <a:ea typeface="Courier New" pitchFamily="34" charset="-122"/>
                <a:cs typeface="Courier New" pitchFamily="34" charset="-120"/>
              </a:rPr>
              <a:t>, b[</a:t>
            </a:r>
            <a:r>
              <a:rPr lang="en-US" sz="920" dirty="0">
                <a:solidFill>
                  <a:srgbClr val="9ECBFF"/>
                </a:solidFill>
                <a:latin typeface="Courier New" pitchFamily="34" charset="0"/>
                <a:ea typeface="Courier New" pitchFamily="34" charset="-122"/>
                <a:cs typeface="Courier New" pitchFamily="34" charset="-120"/>
              </a:rPr>
              <a:t>'id'</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(938343, '00000000000000000000cceb', True)</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seen(</a:t>
            </a:r>
            <a:r>
              <a:rPr lang="en-US" sz="920" dirty="0">
                <a:solidFill>
                  <a:srgbClr val="9ECBFF"/>
                </a:solidFill>
                <a:latin typeface="Courier New" pitchFamily="34" charset="0"/>
                <a:ea typeface="Courier New" pitchFamily="34" charset="-122"/>
                <a:cs typeface="Courier New" pitchFamily="34" charset="-120"/>
              </a:rPr>
              <a:t>'bitcoind_help_31.1.txt'</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9ECBFF"/>
                </a:solidFill>
                <a:latin typeface="Courier New" pitchFamily="34" charset="0"/>
                <a:ea typeface="Courier New" pitchFamily="34" charset="-122"/>
                <a:cs typeface="Courier New" pitchFamily="34" charset="-120"/>
              </a:rPr>
              <a:t>'potentially skip their script verification'</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True</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int(L.raw(</a:t>
            </a:r>
            <a:r>
              <a:rPr lang="en-US" sz="920" dirty="0">
                <a:solidFill>
                  <a:srgbClr val="9ECBFF"/>
                </a:solidFill>
                <a:latin typeface="Courier New" pitchFamily="34" charset="0"/>
                <a:ea typeface="Courier New" pitchFamily="34" charset="-122"/>
                <a:cs typeface="Courier New" pitchFamily="34" charset="-120"/>
              </a:rPr>
              <a:t>'mempool_tip_height.txt'</a:t>
            </a:r>
            <a:r>
              <a:rPr lang="en-US" sz="920" dirty="0">
                <a:solidFill>
                  <a:srgbClr val="E6EDF3"/>
                </a:solidFill>
                <a:latin typeface="Courier New" pitchFamily="34" charset="0"/>
                <a:ea typeface="Courier New" pitchFamily="34" charset="-122"/>
                <a:cs typeface="Courier New" pitchFamily="34" charset="-120"/>
              </a:rPr>
              <a:t>)) - b[</a:t>
            </a:r>
            <a:r>
              <a:rPr lang="en-US" sz="920" dirty="0">
                <a:solidFill>
                  <a:srgbClr val="9ECBFF"/>
                </a:solidFill>
                <a:latin typeface="Courier New" pitchFamily="34" charset="0"/>
                <a:ea typeface="Courier New" pitchFamily="34" charset="-122"/>
                <a:cs typeface="Courier New" pitchFamily="34" charset="-120"/>
              </a:rPr>
              <a:t>'height'</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33237</a:t>
            </a:r>
            <a:endParaRPr lang="en-US" sz="920" dirty="0"/>
          </a:p>
        </p:txBody>
      </p:sp>
      <p:sp>
        <p:nvSpPr>
          <p:cNvPr id="9" name="Text 7"/>
          <p:cNvSpPr txBox="1"/>
          <p:nvPr/>
        </p:nvSpPr>
        <p:spPr>
          <a:xfrm>
            <a:off x="457200" y="321868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563112"/>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52044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the hash of the first block is typed into chainparams.cpp, and the code asserts it (True)</a:t>
            </a:r>
            <a:endParaRPr lang="en-US" sz="1000" dirty="0"/>
          </a:p>
        </p:txBody>
      </p:sp>
      <p:sp>
        <p:nvSpPr>
          <p:cNvPr id="12" name="Shape 10"/>
          <p:cNvSpPr/>
          <p:nvPr/>
        </p:nvSpPr>
        <p:spPr>
          <a:xfrm>
            <a:off x="457200" y="3776472"/>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73380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3 and 4: Core 31.1 also ships an assumed-valid block, 938,343, and may skip script checks for blocks before it</a:t>
            </a:r>
            <a:endParaRPr lang="en-US" sz="1000" dirty="0"/>
          </a:p>
        </p:txBody>
      </p:sp>
      <p:sp>
        <p:nvSpPr>
          <p:cNvPr id="14" name="Shape 12"/>
          <p:cNvSpPr/>
          <p:nvPr/>
        </p:nvSpPr>
        <p:spPr>
          <a:xfrm>
            <a:off x="457200" y="398983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394716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5: that block is 33,237 blocks behind the tip, so 'trust only a validated chain' has a shortcut</a:t>
            </a:r>
            <a:endParaRPr lang="en-US" sz="10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chain starts from one typed-in block, plus an assumed-valid shortcut</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26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Does the download match the list?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seal on a medicine box: it shows the box is the listed one, not who sealed it</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the list and the Guix text are saved</a:t>
            </a:r>
            <a:endParaRPr lang="en-US" sz="1150" dirty="0"/>
          </a:p>
        </p:txBody>
      </p:sp>
      <p:sp>
        <p:nvSpPr>
          <p:cNvPr id="7" name="Shape 5"/>
          <p:cNvSpPr/>
          <p:nvPr/>
        </p:nvSpPr>
        <p:spPr>
          <a:xfrm>
            <a:off x="457200" y="1554480"/>
            <a:ext cx="8229600" cy="1371600"/>
          </a:xfrm>
          <a:prstGeom prst="roundRect">
            <a:avLst>
              <a:gd name="adj" fmla="val 6667"/>
            </a:avLst>
          </a:prstGeom>
          <a:solidFill>
            <a:srgbClr val="23272E"/>
          </a:solidFill>
          <a:ln w="12700">
            <a:solidFill>
              <a:srgbClr val="23272E"/>
            </a:solidFill>
            <a:prstDash val="solid"/>
          </a:ln>
        </p:spPr>
      </p:sp>
      <p:sp>
        <p:nvSpPr>
          <p:cNvPr id="8" name="Text 6"/>
          <p:cNvSpPr txBox="1"/>
          <p:nvPr/>
        </p:nvSpPr>
        <p:spPr>
          <a:xfrm>
            <a:off x="640080" y="1673352"/>
            <a:ext cx="7863840" cy="113385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r = R[</a:t>
            </a:r>
            <a:r>
              <a:rPr lang="en-US" sz="950" dirty="0">
                <a:solidFill>
                  <a:srgbClr val="9ECBFF"/>
                </a:solidFill>
                <a:latin typeface="Courier New" pitchFamily="34" charset="0"/>
                <a:ea typeface="Courier New" pitchFamily="34" charset="-122"/>
                <a:cs typeface="Courier New" pitchFamily="34" charset="-120"/>
              </a:rPr>
              <a:t>'b8_release'</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r[</a:t>
            </a:r>
            <a:r>
              <a:rPr lang="en-US" sz="950" dirty="0">
                <a:solidFill>
                  <a:srgbClr val="9ECBFF"/>
                </a:solidFill>
                <a:latin typeface="Courier New" pitchFamily="34" charset="0"/>
                <a:ea typeface="Courier New" pitchFamily="34" charset="-122"/>
                <a:cs typeface="Courier New" pitchFamily="34" charset="-120"/>
              </a:rPr>
              <a:t>'match'</a:t>
            </a:r>
            <a:r>
              <a:rPr lang="en-US" sz="950" dirty="0">
                <a:solidFill>
                  <a:srgbClr val="E6EDF3"/>
                </a:solidFill>
                <a:latin typeface="Courier New" pitchFamily="34" charset="0"/>
                <a:ea typeface="Courier New" pitchFamily="34" charset="-122"/>
                <a:cs typeface="Courier New" pitchFamily="34" charset="-120"/>
              </a:rPr>
              <a:t>], r[</a:t>
            </a:r>
            <a:r>
              <a:rPr lang="en-US" sz="950" dirty="0">
                <a:solidFill>
                  <a:srgbClr val="9ECBFF"/>
                </a:solidFill>
                <a:latin typeface="Courier New" pitchFamily="34" charset="0"/>
                <a:ea typeface="Courier New" pitchFamily="34" charset="-122"/>
                <a:cs typeface="Courier New" pitchFamily="34" charset="-120"/>
              </a:rPr>
              <a:t>'tarball_sha256'</a:t>
            </a:r>
            <a:r>
              <a:rPr lang="en-US" sz="950" dirty="0">
                <a:solidFill>
                  <a:srgbClr val="E6EDF3"/>
                </a:solidFill>
                <a:latin typeface="Courier New" pitchFamily="34" charset="0"/>
                <a:ea typeface="Courier New" pitchFamily="34" charset="-122"/>
                <a:cs typeface="Courier New" pitchFamily="34" charset="-120"/>
              </a:rPr>
              <a:t>][:</a:t>
            </a:r>
            <a:r>
              <a:rPr lang="en-US" sz="950" dirty="0">
                <a:solidFill>
                  <a:srgbClr val="FFD28A"/>
                </a:solidFill>
                <a:latin typeface="Courier New" pitchFamily="34" charset="0"/>
                <a:ea typeface="Courier New" pitchFamily="34" charset="-122"/>
                <a:cs typeface="Courier New" pitchFamily="34" charset="-120"/>
              </a:rPr>
              <a:t>16</a:t>
            </a:r>
            <a:r>
              <a:rPr lang="en-US" sz="950" dirty="0">
                <a:solidFill>
                  <a:srgbClr val="E6EDF3"/>
                </a:solidFill>
                <a:latin typeface="Courier New" pitchFamily="34" charset="0"/>
                <a:ea typeface="Courier New" pitchFamily="34" charset="-122"/>
                <a:cs typeface="Courier New" pitchFamily="34" charset="-120"/>
              </a:rPr>
              <a:t>], r[</a:t>
            </a:r>
            <a:r>
              <a:rPr lang="en-US" sz="950" dirty="0">
                <a:solidFill>
                  <a:srgbClr val="9ECBFF"/>
                </a:solidFill>
                <a:latin typeface="Courier New" pitchFamily="34" charset="0"/>
                <a:ea typeface="Courier New" pitchFamily="34" charset="-122"/>
                <a:cs typeface="Courier New" pitchFamily="34" charset="-120"/>
              </a:rPr>
              <a:t>'tarball_bytes'</a:t>
            </a:r>
            <a:r>
              <a:rPr lang="en-US" sz="950" dirty="0">
                <a:solidFill>
                  <a:srgbClr val="E6EDF3"/>
                </a:solidFill>
                <a:latin typeface="Courier New" pitchFamily="34" charset="0"/>
                <a:ea typeface="Courier New" pitchFamily="34" charset="-122"/>
                <a:cs typeface="Courier New" pitchFamily="34" charset="-120"/>
              </a:rPr>
              <a:t>], r[</a:t>
            </a:r>
            <a:r>
              <a:rPr lang="en-US" sz="950" dirty="0">
                <a:solidFill>
                  <a:srgbClr val="9ECBFF"/>
                </a:solidFill>
                <a:latin typeface="Courier New" pitchFamily="34" charset="0"/>
                <a:ea typeface="Courier New" pitchFamily="34" charset="-122"/>
                <a:cs typeface="Courier New" pitchFamily="34" charset="-120"/>
              </a:rPr>
              <a:t>'n_lines_in_list'</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(True, 'b80d9c3e04da78fb', 90293352, 28)</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r[</a:t>
            </a:r>
            <a:r>
              <a:rPr lang="en-US" sz="950" dirty="0">
                <a:solidFill>
                  <a:srgbClr val="9ECBFF"/>
                </a:solidFill>
                <a:latin typeface="Courier New" pitchFamily="34" charset="0"/>
                <a:ea typeface="Courier New" pitchFamily="34" charset="-122"/>
                <a:cs typeface="Courier New" pitchFamily="34" charset="-120"/>
              </a:rPr>
              <a:t>'gpg_exit'</a:t>
            </a:r>
            <a:r>
              <a:rPr lang="en-US" sz="950" dirty="0">
                <a:solidFill>
                  <a:srgbClr val="E6EDF3"/>
                </a:solidFill>
                <a:latin typeface="Courier New" pitchFamily="34" charset="0"/>
                <a:ea typeface="Courier New" pitchFamily="34" charset="-122"/>
                <a:cs typeface="Courier New" pitchFamily="34" charset="-120"/>
              </a:rPr>
              <a:t>], r[</a:t>
            </a:r>
            <a:r>
              <a:rPr lang="en-US" sz="950" dirty="0">
                <a:solidFill>
                  <a:srgbClr val="9ECBFF"/>
                </a:solidFill>
                <a:latin typeface="Courier New" pitchFamily="34" charset="0"/>
                <a:ea typeface="Courier New" pitchFamily="34" charset="-122"/>
                <a:cs typeface="Courier New" pitchFamily="34" charset="-120"/>
              </a:rPr>
              <a:t>'gpg_has_signature_line'</a:t>
            </a:r>
            <a:r>
              <a:rPr lang="en-US" sz="950" dirty="0">
                <a:solidFill>
                  <a:srgbClr val="E6EDF3"/>
                </a:solidFill>
                <a:latin typeface="Courier New" pitchFamily="34" charset="0"/>
                <a:ea typeface="Courier New" pitchFamily="34" charset="-122"/>
                <a:cs typeface="Courier New" pitchFamily="34" charset="-120"/>
              </a:rPr>
              <a:t>], r[</a:t>
            </a:r>
            <a:r>
              <a:rPr lang="en-US" sz="950" dirty="0">
                <a:solidFill>
                  <a:srgbClr val="9ECBFF"/>
                </a:solidFill>
                <a:latin typeface="Courier New" pitchFamily="34" charset="0"/>
                <a:ea typeface="Courier New" pitchFamily="34" charset="-122"/>
                <a:cs typeface="Courier New" pitchFamily="34" charset="-120"/>
              </a:rPr>
              <a:t>'n_signatures_made'</a:t>
            </a:r>
            <a:r>
              <a:rPr lang="en-US" sz="950" dirty="0">
                <a:solidFill>
                  <a:srgbClr val="E6EDF3"/>
                </a:solidFill>
                <a:latin typeface="Courier New" pitchFamily="34" charset="0"/>
                <a:ea typeface="Courier New" pitchFamily="34" charset="-122"/>
                <a:cs typeface="Courier New" pitchFamily="34" charset="-120"/>
              </a:rPr>
              <a:t>], r[</a:t>
            </a:r>
            <a:r>
              <a:rPr lang="en-US" sz="950" dirty="0">
                <a:solidFill>
                  <a:srgbClr val="9ECBFF"/>
                </a:solidFill>
                <a:latin typeface="Courier New" pitchFamily="34" charset="0"/>
                <a:ea typeface="Courier New" pitchFamily="34" charset="-122"/>
                <a:cs typeface="Courier New" pitchFamily="34" charset="-120"/>
              </a:rPr>
              <a:t>'n_cannot_check_no_public_key'</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(2, False, 11, 11)</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seen(</a:t>
            </a:r>
            <a:r>
              <a:rPr lang="en-US" sz="950" dirty="0">
                <a:solidFill>
                  <a:srgbClr val="9ECBFF"/>
                </a:solidFill>
                <a:latin typeface="Courier New" pitchFamily="34" charset="0"/>
                <a:ea typeface="Courier New" pitchFamily="34" charset="-122"/>
                <a:cs typeface="Courier New" pitchFamily="34" charset="-120"/>
              </a:rPr>
              <a:t>'core_contrib_guix_README.md'</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'instead of blindly _trusting_ binary downloads'</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True</a:t>
            </a:r>
            <a:endParaRPr lang="en-US" sz="950" dirty="0"/>
          </a:p>
        </p:txBody>
      </p:sp>
      <p:sp>
        <p:nvSpPr>
          <p:cNvPr id="9" name="Text 7"/>
          <p:cNvSpPr txBox="1"/>
          <p:nvPr/>
        </p:nvSpPr>
        <p:spPr>
          <a:xfrm>
            <a:off x="457200" y="294436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334512"/>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29184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the SHA-256 of the 90,293,352-byte tarball equals its line among the 28 in SHA256SUMS (True)</a:t>
            </a:r>
            <a:endParaRPr lang="en-US" sz="1000" dirty="0"/>
          </a:p>
        </p:txBody>
      </p:sp>
      <p:sp>
        <p:nvSpPr>
          <p:cNvPr id="12" name="Shape 10"/>
          <p:cNvSpPr/>
          <p:nvPr/>
        </p:nvSpPr>
        <p:spPr>
          <a:xfrm>
            <a:off x="457200" y="3547872"/>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50520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gpg checked none of the 11 signatures with an empty keyring: exit 2, no good signature</a:t>
            </a:r>
            <a:endParaRPr lang="en-US" sz="1000" dirty="0"/>
          </a:p>
        </p:txBody>
      </p:sp>
      <p:sp>
        <p:nvSpPr>
          <p:cNvPr id="14" name="Shape 12"/>
          <p:cNvSpPr/>
          <p:nvPr/>
        </p:nvSpPr>
        <p:spPr>
          <a:xfrm>
            <a:off x="457200" y="376123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371856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So the hash shows the file is the listed one, not who listed it; Guix builds avoid blind trust (row 4)</a:t>
            </a:r>
            <a:endParaRPr lang="en-US" sz="1000" dirty="0"/>
          </a:p>
        </p:txBody>
      </p:sp>
      <p:sp>
        <p:nvSpPr>
          <p:cNvPr id="16" name="Text 14"/>
          <p:cNvSpPr txBox="1"/>
          <p:nvPr/>
        </p:nvSpPr>
        <p:spPr>
          <a:xfrm>
            <a:off x="457200" y="4023360"/>
            <a:ext cx="8229600" cy="256032"/>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NOT EXECUTED: a good gpg verification; it needs the builders' public keys, which were not imported.</a:t>
            </a:r>
            <a:endParaRPr lang="en-US" sz="100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matching hash proves the file is the listed one, not who listed it</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26</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Keeping the keys safe</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Cold storage, devices, passphrases, backups and seed words.</a:t>
            </a:r>
            <a:endParaRPr lang="en-US" sz="1500" dirty="0"/>
          </a:p>
        </p:txBody>
      </p:sp>
      <p:sp>
        <p:nvSpPr>
          <p:cNvPr id="6" name="Shape 4"/>
          <p:cNvSpPr/>
          <p:nvPr/>
        </p:nvSpPr>
        <p:spPr>
          <a:xfrm>
            <a:off x="777240" y="2697480"/>
            <a:ext cx="1856232"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Cold storage</a:t>
            </a:r>
            <a:endParaRPr lang="en-US" sz="1400" dirty="0"/>
          </a:p>
        </p:txBody>
      </p:sp>
      <p:sp>
        <p:nvSpPr>
          <p:cNvPr id="8" name="Shape 6"/>
          <p:cNvSpPr/>
          <p:nvPr/>
        </p:nvSpPr>
        <p:spPr>
          <a:xfrm>
            <a:off x="2779776" y="2697480"/>
            <a:ext cx="1856232"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2852928" y="2743200"/>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Hardware wallets</a:t>
            </a:r>
            <a:endParaRPr lang="en-US" sz="1400" dirty="0"/>
          </a:p>
        </p:txBody>
      </p:sp>
      <p:sp>
        <p:nvSpPr>
          <p:cNvPr id="10" name="Shape 8"/>
          <p:cNvSpPr/>
          <p:nvPr/>
        </p:nvSpPr>
        <p:spPr>
          <a:xfrm>
            <a:off x="4782312" y="2697480"/>
            <a:ext cx="1856232"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4855464" y="2743200"/>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Passphrase and backup</a:t>
            </a:r>
            <a:endParaRPr lang="en-US" sz="1400" dirty="0"/>
          </a:p>
        </p:txBody>
      </p:sp>
      <p:sp>
        <p:nvSpPr>
          <p:cNvPr id="12" name="Shape 10"/>
          <p:cNvSpPr/>
          <p:nvPr/>
        </p:nvSpPr>
        <p:spPr>
          <a:xfrm>
            <a:off x="6784848" y="2697480"/>
            <a:ext cx="1856232"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6858000" y="2743200"/>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Seed words</a:t>
            </a:r>
            <a:endParaRPr lang="en-US" sz="1400" dirty="0"/>
          </a:p>
        </p:txBody>
      </p:sp>
      <p:sp>
        <p:nvSpPr>
          <p:cNvPr id="14" name="Shape 12"/>
          <p:cNvSpPr/>
          <p:nvPr/>
        </p:nvSpPr>
        <p:spPr>
          <a:xfrm>
            <a:off x="777240" y="3630168"/>
            <a:ext cx="1856232" cy="804672"/>
          </a:xfrm>
          <a:prstGeom prst="roundRect">
            <a:avLst>
              <a:gd name="adj" fmla="val 9091"/>
            </a:avLst>
          </a:prstGeom>
          <a:solidFill>
            <a:srgbClr val="2F6D62"/>
          </a:solidFill>
          <a:ln w="12700">
            <a:solidFill>
              <a:srgbClr val="2F6D62"/>
            </a:solidFill>
            <a:prstDash val="solid"/>
          </a:ln>
        </p:spPr>
      </p:sp>
      <p:sp>
        <p:nvSpPr>
          <p:cNvPr id="15" name="Text 13"/>
          <p:cNvSpPr txBox="1"/>
          <p:nvPr/>
        </p:nvSpPr>
        <p:spPr>
          <a:xfrm>
            <a:off x="850392" y="3675888"/>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Trezor and Casascius</a:t>
            </a:r>
            <a:endParaRPr lang="en-US" sz="140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26</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Cold storage: watch, sign elsewhere, send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cashier who writes cheques and a manager in another building who only signs them</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three nodes</a:t>
            </a:r>
            <a:endParaRPr lang="en-US" sz="1150" dirty="0"/>
          </a:p>
        </p:txBody>
      </p:sp>
      <p:sp>
        <p:nvSpPr>
          <p:cNvPr id="7" name="Shape 5"/>
          <p:cNvSpPr/>
          <p:nvPr/>
        </p:nvSpPr>
        <p:spPr>
          <a:xfrm>
            <a:off x="457200" y="1554480"/>
            <a:ext cx="8229600" cy="1645920"/>
          </a:xfrm>
          <a:prstGeom prst="roundRect">
            <a:avLst>
              <a:gd name="adj" fmla="val 5556"/>
            </a:avLst>
          </a:prstGeom>
          <a:solidFill>
            <a:srgbClr val="23272E"/>
          </a:solidFill>
          <a:ln w="12700">
            <a:solidFill>
              <a:srgbClr val="23272E"/>
            </a:solidFill>
            <a:prstDash val="solid"/>
          </a:ln>
        </p:spPr>
      </p:sp>
      <p:sp>
        <p:nvSpPr>
          <p:cNvPr id="8" name="Text 6"/>
          <p:cNvSpPr txBox="1"/>
          <p:nvPr/>
        </p:nvSpPr>
        <p:spPr>
          <a:xfrm>
            <a:off x="640080" y="1673352"/>
            <a:ext cx="7863840" cy="1408176"/>
          </a:xfrm>
          <a:prstGeom prst="rect">
            <a:avLst/>
          </a:prstGeom>
          <a:noFill/>
          <a:ln/>
        </p:spPr>
        <p:txBody>
          <a:bodyPr wrap="square" lIns="0" tIns="0" rIns="0" bIns="0" rtlCol="0" anchor="t"/>
          <a:lstStyle/>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h, c, b = R[</a:t>
            </a:r>
            <a:r>
              <a:rPr lang="en-US" sz="920" dirty="0">
                <a:solidFill>
                  <a:srgbClr val="9ECBFF"/>
                </a:solidFill>
                <a:latin typeface="Courier New" pitchFamily="34" charset="0"/>
                <a:ea typeface="Courier New" pitchFamily="34" charset="-122"/>
                <a:cs typeface="Courier New" pitchFamily="34" charset="-120"/>
              </a:rPr>
              <a:t>'b3_hot'</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'b3_cold'</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'b3_broadcast'</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h[</a:t>
            </a:r>
            <a:r>
              <a:rPr lang="en-US" sz="920" dirty="0">
                <a:solidFill>
                  <a:srgbClr val="9ECBFF"/>
                </a:solidFill>
                <a:latin typeface="Courier New" pitchFamily="34" charset="0"/>
                <a:ea typeface="Courier New" pitchFamily="34" charset="-122"/>
                <a:cs typeface="Courier New" pitchFamily="34" charset="-120"/>
              </a:rPr>
              <a:t>'watch_private_keys_enabled'</a:t>
            </a:r>
            <a:r>
              <a:rPr lang="en-US" sz="920" dirty="0">
                <a:solidFill>
                  <a:srgbClr val="E6EDF3"/>
                </a:solidFill>
                <a:latin typeface="Courier New" pitchFamily="34" charset="0"/>
                <a:ea typeface="Courier New" pitchFamily="34" charset="-122"/>
                <a:cs typeface="Courier New" pitchFamily="34" charset="-120"/>
              </a:rPr>
              <a:t>], h[</a:t>
            </a:r>
            <a:r>
              <a:rPr lang="en-US" sz="920" dirty="0">
                <a:solidFill>
                  <a:srgbClr val="9ECBFF"/>
                </a:solidFill>
                <a:latin typeface="Courier New" pitchFamily="34" charset="0"/>
                <a:ea typeface="Courier New" pitchFamily="34" charset="-122"/>
                <a:cs typeface="Courier New" pitchFamily="34" charset="-120"/>
              </a:rPr>
              <a:t>'hot_sign_complete'</a:t>
            </a:r>
            <a:r>
              <a:rPr lang="en-US" sz="920" dirty="0">
                <a:solidFill>
                  <a:srgbClr val="E6EDF3"/>
                </a:solidFill>
                <a:latin typeface="Courier New" pitchFamily="34" charset="0"/>
                <a:ea typeface="Courier New" pitchFamily="34" charset="-122"/>
                <a:cs typeface="Courier New" pitchFamily="34" charset="-120"/>
              </a:rPr>
              <a:t>], h[</a:t>
            </a:r>
            <a:r>
              <a:rPr lang="en-US" sz="920" dirty="0">
                <a:solidFill>
                  <a:srgbClr val="9ECBFF"/>
                </a:solidFill>
                <a:latin typeface="Courier New" pitchFamily="34" charset="0"/>
                <a:ea typeface="Courier New" pitchFamily="34" charset="-122"/>
                <a:cs typeface="Courier New" pitchFamily="34" charset="-120"/>
              </a:rPr>
              <a:t>'partial_sigs_before'</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(False, False, [0])</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h[</a:t>
            </a:r>
            <a:r>
              <a:rPr lang="en-US" sz="920" dirty="0">
                <a:solidFill>
                  <a:srgbClr val="9ECBFF"/>
                </a:solidFill>
                <a:latin typeface="Courier New" pitchFamily="34" charset="0"/>
                <a:ea typeface="Courier New" pitchFamily="34" charset="-122"/>
                <a:cs typeface="Courier New" pitchFamily="34" charset="-120"/>
              </a:rPr>
              <a:t>'hot_listdescriptors_private'</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'error'</a:t>
            </a:r>
            <a:r>
              <a:rPr lang="en-US" sz="920" dirty="0">
                <a:solidFill>
                  <a:srgbClr val="E6EDF3"/>
                </a:solidFill>
                <a:latin typeface="Courier New" pitchFamily="34" charset="0"/>
                <a:ea typeface="Courier New" pitchFamily="34" charset="-122"/>
                <a:cs typeface="Courier New" pitchFamily="34" charset="-120"/>
              </a:rPr>
              <a:t>].split(</a:t>
            </a:r>
            <a:r>
              <a:rPr lang="en-US" sz="920" dirty="0">
                <a:solidFill>
                  <a:srgbClr val="9ECBFF"/>
                </a:solidFill>
                <a:latin typeface="Courier New" pitchFamily="34" charset="0"/>
                <a:ea typeface="Courier New" pitchFamily="34" charset="-122"/>
                <a:cs typeface="Courier New" pitchFamily="34" charset="-120"/>
              </a:rPr>
              <a:t>'message: '</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FFD28A"/>
                </a:solidFill>
                <a:latin typeface="Courier New" pitchFamily="34" charset="0"/>
                <a:ea typeface="Courier New" pitchFamily="34" charset="-122"/>
                <a:cs typeface="Courier New" pitchFamily="34" charset="-120"/>
              </a:rPr>
              <a:t>1</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"Can't get private descriptor string for watch-only wallets"</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c[</a:t>
            </a:r>
            <a:r>
              <a:rPr lang="en-US" sz="920" dirty="0">
                <a:solidFill>
                  <a:srgbClr val="9ECBFF"/>
                </a:solidFill>
                <a:latin typeface="Courier New" pitchFamily="34" charset="0"/>
                <a:ea typeface="Courier New" pitchFamily="34" charset="-122"/>
                <a:cs typeface="Courier New" pitchFamily="34" charset="-120"/>
              </a:rPr>
              <a:t>'blocks'</a:t>
            </a:r>
            <a:r>
              <a:rPr lang="en-US" sz="920" dirty="0">
                <a:solidFill>
                  <a:srgbClr val="E6EDF3"/>
                </a:solidFill>
                <a:latin typeface="Courier New" pitchFamily="34" charset="0"/>
                <a:ea typeface="Courier New" pitchFamily="34" charset="-122"/>
                <a:cs typeface="Courier New" pitchFamily="34" charset="-120"/>
              </a:rPr>
              <a:t>], c[</a:t>
            </a:r>
            <a:r>
              <a:rPr lang="en-US" sz="920" dirty="0">
                <a:solidFill>
                  <a:srgbClr val="9ECBFF"/>
                </a:solidFill>
                <a:latin typeface="Courier New" pitchFamily="34" charset="0"/>
                <a:ea typeface="Courier New" pitchFamily="34" charset="-122"/>
                <a:cs typeface="Courier New" pitchFamily="34" charset="-120"/>
              </a:rPr>
              <a:t>'connections'</a:t>
            </a:r>
            <a:r>
              <a:rPr lang="en-US" sz="920" dirty="0">
                <a:solidFill>
                  <a:srgbClr val="E6EDF3"/>
                </a:solidFill>
                <a:latin typeface="Courier New" pitchFamily="34" charset="0"/>
                <a:ea typeface="Courier New" pitchFamily="34" charset="-122"/>
                <a:cs typeface="Courier New" pitchFamily="34" charset="-120"/>
              </a:rPr>
              <a:t>], c[</a:t>
            </a:r>
            <a:r>
              <a:rPr lang="en-US" sz="920" dirty="0">
                <a:solidFill>
                  <a:srgbClr val="9ECBFF"/>
                </a:solidFill>
                <a:latin typeface="Courier New" pitchFamily="34" charset="0"/>
                <a:ea typeface="Courier New" pitchFamily="34" charset="-122"/>
                <a:cs typeface="Courier New" pitchFamily="34" charset="-120"/>
              </a:rPr>
              <a:t>'sign_complete'</a:t>
            </a:r>
            <a:r>
              <a:rPr lang="en-US" sz="920" dirty="0">
                <a:solidFill>
                  <a:srgbClr val="E6EDF3"/>
                </a:solidFill>
                <a:latin typeface="Courier New" pitchFamily="34" charset="0"/>
                <a:ea typeface="Courier New" pitchFamily="34" charset="-122"/>
                <a:cs typeface="Courier New" pitchFamily="34" charset="-120"/>
              </a:rPr>
              <a:t>], h[</a:t>
            </a:r>
            <a:r>
              <a:rPr lang="en-US" sz="920" dirty="0">
                <a:solidFill>
                  <a:srgbClr val="9ECBFF"/>
                </a:solidFill>
                <a:latin typeface="Courier New" pitchFamily="34" charset="0"/>
                <a:ea typeface="Courier New" pitchFamily="34" charset="-122"/>
                <a:cs typeface="Courier New" pitchFamily="34" charset="-120"/>
              </a:rPr>
              <a:t>'psbt_chars'</a:t>
            </a:r>
            <a:r>
              <a:rPr lang="en-US" sz="920" dirty="0">
                <a:solidFill>
                  <a:srgbClr val="E6EDF3"/>
                </a:solidFill>
                <a:latin typeface="Courier New" pitchFamily="34" charset="0"/>
                <a:ea typeface="Courier New" pitchFamily="34" charset="-122"/>
                <a:cs typeface="Courier New" pitchFamily="34" charset="-120"/>
              </a:rPr>
              <a:t>], c[</a:t>
            </a:r>
            <a:r>
              <a:rPr lang="en-US" sz="920" dirty="0">
                <a:solidFill>
                  <a:srgbClr val="9ECBFF"/>
                </a:solidFill>
                <a:latin typeface="Courier New" pitchFamily="34" charset="0"/>
                <a:ea typeface="Courier New" pitchFamily="34" charset="-122"/>
                <a:cs typeface="Courier New" pitchFamily="34" charset="-120"/>
              </a:rPr>
              <a:t>'psbt_chars_signed'</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(0, 0, True, 528, 596)</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b[</a:t>
            </a:r>
            <a:r>
              <a:rPr lang="en-US" sz="920" dirty="0">
                <a:solidFill>
                  <a:srgbClr val="9ECBFF"/>
                </a:solidFill>
                <a:latin typeface="Courier New" pitchFamily="34" charset="0"/>
                <a:ea typeface="Courier New" pitchFamily="34" charset="-122"/>
                <a:cs typeface="Courier New" pitchFamily="34" charset="-120"/>
              </a:rPr>
              <a:t>'finalize_complete'</a:t>
            </a:r>
            <a:r>
              <a:rPr lang="en-US" sz="920" dirty="0">
                <a:solidFill>
                  <a:srgbClr val="E6EDF3"/>
                </a:solidFill>
                <a:latin typeface="Courier New" pitchFamily="34" charset="0"/>
                <a:ea typeface="Courier New" pitchFamily="34" charset="-122"/>
                <a:cs typeface="Courier New" pitchFamily="34" charset="-120"/>
              </a:rPr>
              <a:t>], b[</a:t>
            </a:r>
            <a:r>
              <a:rPr lang="en-US" sz="920" dirty="0">
                <a:solidFill>
                  <a:srgbClr val="9ECBFF"/>
                </a:solidFill>
                <a:latin typeface="Courier New" pitchFamily="34" charset="0"/>
                <a:ea typeface="Courier New" pitchFamily="34" charset="-122"/>
                <a:cs typeface="Courier New" pitchFamily="34" charset="-120"/>
              </a:rPr>
              <a:t>'confirmations'</a:t>
            </a:r>
            <a:r>
              <a:rPr lang="en-US" sz="920" dirty="0">
                <a:solidFill>
                  <a:srgbClr val="E6EDF3"/>
                </a:solidFill>
                <a:latin typeface="Courier New" pitchFamily="34" charset="0"/>
                <a:ea typeface="Courier New" pitchFamily="34" charset="-122"/>
                <a:cs typeface="Courier New" pitchFamily="34" charset="-120"/>
              </a:rPr>
              <a:t>], b[</a:t>
            </a:r>
            <a:r>
              <a:rPr lang="en-US" sz="920" dirty="0">
                <a:solidFill>
                  <a:srgbClr val="9ECBFF"/>
                </a:solidFill>
                <a:latin typeface="Courier New" pitchFamily="34" charset="0"/>
                <a:ea typeface="Courier New" pitchFamily="34" charset="-122"/>
                <a:cs typeface="Courier New" pitchFamily="34" charset="-120"/>
              </a:rPr>
              <a:t>'dest_received'</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(True, 1, 1.0)</a:t>
            </a:r>
            <a:endParaRPr lang="en-US" sz="920" dirty="0"/>
          </a:p>
        </p:txBody>
      </p:sp>
      <p:sp>
        <p:nvSpPr>
          <p:cNvPr id="9" name="Text 7"/>
          <p:cNvSpPr txBox="1"/>
          <p:nvPr/>
        </p:nvSpPr>
        <p:spPr>
          <a:xfrm>
            <a:off x="457200" y="321868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550920"/>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520440"/>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the hot wallet has private keys disabled and cannot sign (complete False, no signatures)</a:t>
            </a:r>
            <a:endParaRPr lang="en-US" sz="1000" dirty="0"/>
          </a:p>
        </p:txBody>
      </p:sp>
      <p:sp>
        <p:nvSpPr>
          <p:cNvPr id="12" name="Shape 10"/>
          <p:cNvSpPr/>
          <p:nvPr/>
        </p:nvSpPr>
        <p:spPr>
          <a:xfrm>
            <a:off x="457200" y="3739896"/>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709416"/>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asked for its private descriptors, a watch-only wallet refuses: it holds none</a:t>
            </a:r>
            <a:endParaRPr lang="en-US" sz="1000" dirty="0"/>
          </a:p>
        </p:txBody>
      </p:sp>
      <p:sp>
        <p:nvSpPr>
          <p:cNvPr id="14" name="Shape 12"/>
          <p:cNvSpPr/>
          <p:nvPr/>
        </p:nvSpPr>
        <p:spPr>
          <a:xfrm>
            <a:off x="457200" y="392887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3898392"/>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4 and 5: a node with 0 blocks and 0 connections signed the 528-character PSBT; the hot node sent it</a:t>
            </a:r>
            <a:endParaRPr lang="en-US" sz="1000" dirty="0"/>
          </a:p>
        </p:txBody>
      </p:sp>
      <p:sp>
        <p:nvSpPr>
          <p:cNvPr id="16" name="Text 14"/>
          <p:cNvSpPr txBox="1"/>
          <p:nvPr/>
        </p:nvSpPr>
        <p:spPr>
          <a:xfrm>
            <a:off x="457200" y="4187952"/>
            <a:ext cx="8229600" cy="256032"/>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NOT EXECUTED: a true air gap; the cold node was a second regtest node, not a separate machine.</a:t>
            </a:r>
            <a:endParaRPr lang="en-US" sz="100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online wallet only watches; the signing happens somewhere else</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26</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Hardware wallets wait and wipe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safe that makes you wait longer after each wrong code, and then empties itself</a:t>
            </a:r>
            <a:endParaRPr lang="en-US" sz="1300" dirty="0"/>
          </a:p>
        </p:txBody>
      </p:sp>
      <p:sp>
        <p:nvSpPr>
          <p:cNvPr id="6" name="Shape 4"/>
          <p:cNvSpPr/>
          <p:nvPr/>
        </p:nvSpPr>
        <p:spPr>
          <a:xfrm>
            <a:off x="457200" y="1329309"/>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261872"/>
            <a:ext cx="3931920" cy="26289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Row 2: waits 1, 2, 4 ... 16,384 s add up to 32,767 s, 9.1 hours</a:t>
            </a:r>
            <a:endParaRPr lang="en-US" sz="950" dirty="0"/>
          </a:p>
        </p:txBody>
      </p:sp>
      <p:sp>
        <p:nvSpPr>
          <p:cNvPr id="8" name="Shape 6"/>
          <p:cNvSpPr/>
          <p:nvPr/>
        </p:nvSpPr>
        <p:spPr>
          <a:xfrm>
            <a:off x="457200" y="1592199"/>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524762"/>
            <a:ext cx="3931920" cy="26289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Row 4: four words fall in 17.6 s at a trillion guesses a second</a:t>
            </a:r>
            <a:endParaRPr lang="en-US" sz="950" dirty="0"/>
          </a:p>
        </p:txBody>
      </p:sp>
      <p:sp>
        <p:nvSpPr>
          <p:cNvPr id="10" name="Shape 8"/>
          <p:cNvSpPr/>
          <p:nvPr/>
        </p:nvSpPr>
        <p:spPr>
          <a:xfrm>
            <a:off x="457200" y="1855089"/>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1787652"/>
            <a:ext cx="3931920" cy="26289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Row 5: after 16 failed PIN entries the device wipes itself (True)</a:t>
            </a:r>
            <a:endParaRPr lang="en-US" sz="950" dirty="0"/>
          </a:p>
        </p:txBody>
      </p:sp>
      <p:sp>
        <p:nvSpPr>
          <p:cNvPr id="12" name="Shape 10"/>
          <p:cNvSpPr/>
          <p:nvPr/>
        </p:nvSpPr>
        <p:spPr>
          <a:xfrm>
            <a:off x="457200" y="2117979"/>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2050542"/>
            <a:ext cx="3931920" cy="26289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Row 6: -signer drives a device. NOT EXECUTED: a device</a:t>
            </a:r>
            <a:endParaRPr lang="en-US" sz="950" dirty="0"/>
          </a:p>
        </p:txBody>
      </p:sp>
      <p:graphicFrame>
        <p:nvGraphicFramePr>
          <p:cNvPr id="14" name="Chart 0" descr=""/>
          <p:cNvGraphicFramePr/>
          <p:nvPr/>
        </p:nvGraphicFramePr>
        <p:xfrm>
          <a:off x="4846320" y="1261872"/>
          <a:ext cx="3840480" cy="1051560"/>
        </p:xfrm>
        <a:graphic xmlns:a="http://schemas.openxmlformats.org/drawingml/2006/main">
          <a:graphicData uri="http://schemas.openxmlformats.org/drawingml/2006/chart">
            <c:chart xmlns:c="http://schemas.openxmlformats.org/drawingml/2006/chart" r:id="rId1"/>
          </a:graphicData>
        </a:graphic>
      </p:graphicFrame>
      <p:sp>
        <p:nvSpPr>
          <p:cNvPr id="15" name="Text 12"/>
          <p:cNvSpPr txBox="1"/>
          <p:nvPr/>
        </p:nvSpPr>
        <p:spPr>
          <a:xfrm>
            <a:off x="457200" y="233172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the Bitcoin Wiki and the Core documentation, saved on 2026-10-15</a:t>
            </a:r>
            <a:endParaRPr lang="en-US" sz="1150" dirty="0"/>
          </a:p>
        </p:txBody>
      </p:sp>
      <p:sp>
        <p:nvSpPr>
          <p:cNvPr id="16" name="Shape 13"/>
          <p:cNvSpPr/>
          <p:nvPr/>
        </p:nvSpPr>
        <p:spPr>
          <a:xfrm>
            <a:off x="457200" y="2606040"/>
            <a:ext cx="8229600" cy="1783080"/>
          </a:xfrm>
          <a:prstGeom prst="roundRect">
            <a:avLst>
              <a:gd name="adj" fmla="val 5128"/>
            </a:avLst>
          </a:prstGeom>
          <a:solidFill>
            <a:srgbClr val="23272E"/>
          </a:solidFill>
          <a:ln w="12700">
            <a:solidFill>
              <a:srgbClr val="23272E"/>
            </a:solidFill>
            <a:prstDash val="solid"/>
          </a:ln>
        </p:spPr>
      </p:sp>
      <p:sp>
        <p:nvSpPr>
          <p:cNvPr id="17" name="Text 14"/>
          <p:cNvSpPr txBox="1"/>
          <p:nvPr/>
        </p:nvSpPr>
        <p:spPr>
          <a:xfrm>
            <a:off x="640080" y="2724912"/>
            <a:ext cx="7863840" cy="1545336"/>
          </a:xfrm>
          <a:prstGeom prst="rect">
            <a:avLst/>
          </a:prstGeom>
          <a:noFill/>
          <a:ln/>
        </p:spPr>
        <p:txBody>
          <a:bodyPr wrap="square" lIns="0" tIns="0" rIns="0" bIns="0" rtlCol="0" anchor="t"/>
          <a:lstStyle/>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tries = </a:t>
            </a:r>
            <a:r>
              <a:rPr lang="en-US" sz="910" dirty="0">
                <a:solidFill>
                  <a:srgbClr val="FFD28A"/>
                </a:solidFill>
                <a:latin typeface="Courier New" pitchFamily="34" charset="0"/>
                <a:ea typeface="Courier New" pitchFamily="34" charset="-122"/>
                <a:cs typeface="Courier New" pitchFamily="34" charset="-120"/>
              </a:rPr>
              <a:t>15</a:t>
            </a:r>
            <a:r>
              <a:rPr lang="en-US" sz="910" dirty="0">
                <a:solidFill>
                  <a:srgbClr val="E6EDF3"/>
                </a:solidFill>
                <a:latin typeface="Courier New" pitchFamily="34" charset="0"/>
                <a:ea typeface="Courier New" pitchFamily="34" charset="-122"/>
                <a:cs typeface="Courier New" pitchFamily="34" charset="-120"/>
              </a:rPr>
              <a:t>; wait = [</a:t>
            </a:r>
            <a:r>
              <a:rPr lang="en-US" sz="910" dirty="0">
                <a:solidFill>
                  <a:srgbClr val="FFD28A"/>
                </a:solidFill>
                <a:latin typeface="Courier New" pitchFamily="34" charset="0"/>
                <a:ea typeface="Courier New" pitchFamily="34" charset="-122"/>
                <a:cs typeface="Courier New" pitchFamily="34" charset="-120"/>
              </a:rPr>
              <a:t>2</a:t>
            </a:r>
            <a:r>
              <a:rPr lang="en-US" sz="910" dirty="0">
                <a:solidFill>
                  <a:srgbClr val="E6EDF3"/>
                </a:solidFill>
                <a:latin typeface="Courier New" pitchFamily="34" charset="0"/>
                <a:ea typeface="Courier New" pitchFamily="34" charset="-122"/>
                <a:cs typeface="Courier New" pitchFamily="34" charset="-120"/>
              </a:rPr>
              <a:t> ** k </a:t>
            </a:r>
            <a:r>
              <a:rPr lang="en-US" sz="910" b="1" dirty="0">
                <a:solidFill>
                  <a:srgbClr val="F2A860"/>
                </a:solidFill>
                <a:latin typeface="Courier New" pitchFamily="34" charset="0"/>
                <a:ea typeface="Courier New" pitchFamily="34" charset="-122"/>
                <a:cs typeface="Courier New" pitchFamily="34" charset="-120"/>
              </a:rPr>
              <a:t>for</a:t>
            </a:r>
            <a:r>
              <a:rPr lang="en-US" sz="910" dirty="0">
                <a:solidFill>
                  <a:srgbClr val="E6EDF3"/>
                </a:solidFill>
                <a:latin typeface="Courier New" pitchFamily="34" charset="0"/>
                <a:ea typeface="Courier New" pitchFamily="34" charset="-122"/>
                <a:cs typeface="Courier New" pitchFamily="34" charset="-120"/>
              </a:rPr>
              <a:t> k </a:t>
            </a:r>
            <a:r>
              <a:rPr lang="en-US" sz="910" b="1" dirty="0">
                <a:solidFill>
                  <a:srgbClr val="F2A860"/>
                </a:solidFill>
                <a:latin typeface="Courier New" pitchFamily="34" charset="0"/>
                <a:ea typeface="Courier New" pitchFamily="34" charset="-122"/>
                <a:cs typeface="Courier New" pitchFamily="34" charset="-120"/>
              </a:rPr>
              <a:t>in</a:t>
            </a:r>
            <a:r>
              <a:rPr lang="en-US" sz="910" dirty="0">
                <a:solidFill>
                  <a:srgbClr val="E6EDF3"/>
                </a:solidFill>
                <a:latin typeface="Courier New" pitchFamily="34" charset="0"/>
                <a:ea typeface="Courier New" pitchFamily="34" charset="-122"/>
                <a:cs typeface="Courier New" pitchFamily="34" charset="-120"/>
              </a:rPr>
              <a:t> range(tries)]</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wait, sum(wait), round(sum(wait) / </a:t>
            </a:r>
            <a:r>
              <a:rPr lang="en-US" sz="910" dirty="0">
                <a:solidFill>
                  <a:srgbClr val="FFD28A"/>
                </a:solidFill>
                <a:latin typeface="Courier New" pitchFamily="34" charset="0"/>
                <a:ea typeface="Courier New" pitchFamily="34" charset="-122"/>
                <a:cs typeface="Courier New" pitchFamily="34" charset="-120"/>
              </a:rPr>
              <a:t>3600</a:t>
            </a:r>
            <a:r>
              <a:rPr lang="en-US" sz="910" dirty="0">
                <a:solidFill>
                  <a:srgbClr val="E6EDF3"/>
                </a:solidFill>
                <a:latin typeface="Courier New" pitchFamily="34" charset="0"/>
                <a:ea typeface="Courier New" pitchFamily="34" charset="-122"/>
                <a:cs typeface="Courier New" pitchFamily="34" charset="-120"/>
              </a:rPr>
              <a:t>, </a:t>
            </a:r>
            <a:r>
              <a:rPr lang="en-US" sz="910" dirty="0">
                <a:solidFill>
                  <a:srgbClr val="FFD28A"/>
                </a:solidFill>
                <a:latin typeface="Courier New" pitchFamily="34" charset="0"/>
                <a:ea typeface="Courier New" pitchFamily="34" charset="-122"/>
                <a:cs typeface="Courier New" pitchFamily="34" charset="-120"/>
              </a:rPr>
              <a:t>1</a:t>
            </a:r>
            <a:r>
              <a:rPr lang="en-US" sz="910" dirty="0">
                <a:solidFill>
                  <a:srgbClr val="E6EDF3"/>
                </a:solidFill>
                <a:latin typeface="Courier New" pitchFamily="34" charset="0"/>
                <a:ea typeface="Courier New" pitchFamily="34" charset="-122"/>
                <a:cs typeface="Courier New" pitchFamily="34" charset="-120"/>
              </a:rPr>
              <a:t>)</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([1, 2, 4, 8, 16, 32, 64, 128, 256, 512, 1024, 2048, 4096, 8192, 16384], 32767, 9.1)</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words = </a:t>
            </a:r>
            <a:r>
              <a:rPr lang="en-US" sz="910" dirty="0">
                <a:solidFill>
                  <a:srgbClr val="FFD28A"/>
                </a:solidFill>
                <a:latin typeface="Courier New" pitchFamily="34" charset="0"/>
                <a:ea typeface="Courier New" pitchFamily="34" charset="-122"/>
                <a:cs typeface="Courier New" pitchFamily="34" charset="-120"/>
              </a:rPr>
              <a:t>4</a:t>
            </a:r>
            <a:r>
              <a:rPr lang="en-US" sz="910" dirty="0">
                <a:solidFill>
                  <a:srgbClr val="E6EDF3"/>
                </a:solidFill>
                <a:latin typeface="Courier New" pitchFamily="34" charset="0"/>
                <a:ea typeface="Courier New" pitchFamily="34" charset="-122"/>
                <a:cs typeface="Courier New" pitchFamily="34" charset="-120"/>
              </a:rPr>
              <a:t>; rate = </a:t>
            </a:r>
            <a:r>
              <a:rPr lang="en-US" sz="910" dirty="0">
                <a:solidFill>
                  <a:srgbClr val="FFD28A"/>
                </a:solidFill>
                <a:latin typeface="Courier New" pitchFamily="34" charset="0"/>
                <a:ea typeface="Courier New" pitchFamily="34" charset="-122"/>
                <a:cs typeface="Courier New" pitchFamily="34" charset="-120"/>
              </a:rPr>
              <a:t>12</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FFD28A"/>
                </a:solidFill>
                <a:latin typeface="Courier New" pitchFamily="34" charset="0"/>
                <a:ea typeface="Courier New" pitchFamily="34" charset="-122"/>
                <a:cs typeface="Courier New" pitchFamily="34" charset="-120"/>
              </a:rPr>
              <a:t>2</a:t>
            </a:r>
            <a:r>
              <a:rPr lang="en-US" sz="910" dirty="0">
                <a:solidFill>
                  <a:srgbClr val="E6EDF3"/>
                </a:solidFill>
                <a:latin typeface="Courier New" pitchFamily="34" charset="0"/>
                <a:ea typeface="Courier New" pitchFamily="34" charset="-122"/>
                <a:cs typeface="Courier New" pitchFamily="34" charset="-120"/>
              </a:rPr>
              <a:t> ** (</a:t>
            </a:r>
            <a:r>
              <a:rPr lang="en-US" sz="910" dirty="0">
                <a:solidFill>
                  <a:srgbClr val="FFD28A"/>
                </a:solidFill>
                <a:latin typeface="Courier New" pitchFamily="34" charset="0"/>
                <a:ea typeface="Courier New" pitchFamily="34" charset="-122"/>
                <a:cs typeface="Courier New" pitchFamily="34" charset="-120"/>
              </a:rPr>
              <a:t>11</a:t>
            </a:r>
            <a:r>
              <a:rPr lang="en-US" sz="910" dirty="0">
                <a:solidFill>
                  <a:srgbClr val="E6EDF3"/>
                </a:solidFill>
                <a:latin typeface="Courier New" pitchFamily="34" charset="0"/>
                <a:ea typeface="Courier New" pitchFamily="34" charset="-122"/>
                <a:cs typeface="Courier New" pitchFamily="34" charset="-120"/>
              </a:rPr>
              <a:t> * words), round(</a:t>
            </a:r>
            <a:r>
              <a:rPr lang="en-US" sz="910" dirty="0">
                <a:solidFill>
                  <a:srgbClr val="FFD28A"/>
                </a:solidFill>
                <a:latin typeface="Courier New" pitchFamily="34" charset="0"/>
                <a:ea typeface="Courier New" pitchFamily="34" charset="-122"/>
                <a:cs typeface="Courier New" pitchFamily="34" charset="-120"/>
              </a:rPr>
              <a:t>2048</a:t>
            </a:r>
            <a:r>
              <a:rPr lang="en-US" sz="910" dirty="0">
                <a:solidFill>
                  <a:srgbClr val="E6EDF3"/>
                </a:solidFill>
                <a:latin typeface="Courier New" pitchFamily="34" charset="0"/>
                <a:ea typeface="Courier New" pitchFamily="34" charset="-122"/>
                <a:cs typeface="Courier New" pitchFamily="34" charset="-120"/>
              </a:rPr>
              <a:t> ** words / </a:t>
            </a:r>
            <a:r>
              <a:rPr lang="en-US" sz="910" dirty="0">
                <a:solidFill>
                  <a:srgbClr val="FFD28A"/>
                </a:solidFill>
                <a:latin typeface="Courier New" pitchFamily="34" charset="0"/>
                <a:ea typeface="Courier New" pitchFamily="34" charset="-122"/>
                <a:cs typeface="Courier New" pitchFamily="34" charset="-120"/>
              </a:rPr>
              <a:t>10</a:t>
            </a:r>
            <a:r>
              <a:rPr lang="en-US" sz="910" dirty="0">
                <a:solidFill>
                  <a:srgbClr val="E6EDF3"/>
                </a:solidFill>
                <a:latin typeface="Courier New" pitchFamily="34" charset="0"/>
                <a:ea typeface="Courier New" pitchFamily="34" charset="-122"/>
                <a:cs typeface="Courier New" pitchFamily="34" charset="-120"/>
              </a:rPr>
              <a:t> ** rate, </a:t>
            </a:r>
            <a:r>
              <a:rPr lang="en-US" sz="910" dirty="0">
                <a:solidFill>
                  <a:srgbClr val="FFD28A"/>
                </a:solidFill>
                <a:latin typeface="Courier New" pitchFamily="34" charset="0"/>
                <a:ea typeface="Courier New" pitchFamily="34" charset="-122"/>
                <a:cs typeface="Courier New" pitchFamily="34" charset="-120"/>
              </a:rPr>
              <a:t>1</a:t>
            </a:r>
            <a:r>
              <a:rPr lang="en-US" sz="910" dirty="0">
                <a:solidFill>
                  <a:srgbClr val="E6EDF3"/>
                </a:solidFill>
                <a:latin typeface="Courier New" pitchFamily="34" charset="0"/>
                <a:ea typeface="Courier New" pitchFamily="34" charset="-122"/>
                <a:cs typeface="Courier New" pitchFamily="34" charset="-120"/>
              </a:rPr>
              <a:t>))</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(17592186044416, 17.6)</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seen(</a:t>
            </a:r>
            <a:r>
              <a:rPr lang="en-US" sz="910" dirty="0">
                <a:solidFill>
                  <a:srgbClr val="9ECBFF"/>
                </a:solidFill>
                <a:latin typeface="Courier New" pitchFamily="34" charset="0"/>
                <a:ea typeface="Courier New" pitchFamily="34" charset="-122"/>
                <a:cs typeface="Courier New" pitchFamily="34" charset="-120"/>
              </a:rPr>
              <a:t>'bitcoinwiki_trezor.txt'</a:t>
            </a:r>
            <a:r>
              <a:rPr lang="en-US" sz="910" dirty="0">
                <a:solidFill>
                  <a:srgbClr val="E6EDF3"/>
                </a:solidFill>
                <a:latin typeface="Courier New" pitchFamily="34" charset="0"/>
                <a:ea typeface="Courier New" pitchFamily="34" charset="-122"/>
                <a:cs typeface="Courier New" pitchFamily="34" charset="-120"/>
              </a:rPr>
              <a:t>, </a:t>
            </a:r>
            <a:r>
              <a:rPr lang="en-US" sz="910" dirty="0">
                <a:solidFill>
                  <a:srgbClr val="9ECBFF"/>
                </a:solidFill>
                <a:latin typeface="Courier New" pitchFamily="34" charset="0"/>
                <a:ea typeface="Courier New" pitchFamily="34" charset="-122"/>
                <a:cs typeface="Courier New" pitchFamily="34" charset="-120"/>
              </a:rPr>
              <a:t>'wipe itself after 16 failed PIN entry attempts'</a:t>
            </a:r>
            <a:r>
              <a:rPr lang="en-US" sz="910" dirty="0">
                <a:solidFill>
                  <a:srgbClr val="E6EDF3"/>
                </a:solidFill>
                <a:latin typeface="Courier New" pitchFamily="34" charset="0"/>
                <a:ea typeface="Courier New" pitchFamily="34" charset="-122"/>
                <a:cs typeface="Courier New" pitchFamily="34" charset="-120"/>
              </a:rPr>
              <a:t>)</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True</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seen(</a:t>
            </a:r>
            <a:r>
              <a:rPr lang="en-US" sz="910" dirty="0">
                <a:solidFill>
                  <a:srgbClr val="9ECBFF"/>
                </a:solidFill>
                <a:latin typeface="Courier New" pitchFamily="34" charset="0"/>
                <a:ea typeface="Courier New" pitchFamily="34" charset="-122"/>
                <a:cs typeface="Courier New" pitchFamily="34" charset="-120"/>
              </a:rPr>
              <a:t>'core_doc_external-signer.md'</a:t>
            </a:r>
            <a:r>
              <a:rPr lang="en-US" sz="910" dirty="0">
                <a:solidFill>
                  <a:srgbClr val="E6EDF3"/>
                </a:solidFill>
                <a:latin typeface="Courier New" pitchFamily="34" charset="0"/>
                <a:ea typeface="Courier New" pitchFamily="34" charset="-122"/>
                <a:cs typeface="Courier New" pitchFamily="34" charset="-120"/>
              </a:rPr>
              <a:t>, </a:t>
            </a:r>
            <a:r>
              <a:rPr lang="en-US" sz="910" dirty="0">
                <a:solidFill>
                  <a:srgbClr val="9ECBFF"/>
                </a:solidFill>
                <a:latin typeface="Courier New" pitchFamily="34" charset="0"/>
                <a:ea typeface="Courier New" pitchFamily="34" charset="-122"/>
                <a:cs typeface="Courier New" pitchFamily="34" charset="-120"/>
              </a:rPr>
              <a:t>'-signer=&lt;cmd&gt;'</a:t>
            </a:r>
            <a:r>
              <a:rPr lang="en-US" sz="910" dirty="0">
                <a:solidFill>
                  <a:srgbClr val="E6EDF3"/>
                </a:solidFill>
                <a:latin typeface="Courier New" pitchFamily="34" charset="0"/>
                <a:ea typeface="Courier New" pitchFamily="34" charset="-122"/>
                <a:cs typeface="Courier New" pitchFamily="34" charset="-120"/>
              </a:rPr>
              <a:t>), seen(hww, </a:t>
            </a:r>
            <a:r>
              <a:rPr lang="en-US" sz="910" dirty="0">
                <a:solidFill>
                  <a:srgbClr val="9ECBFF"/>
                </a:solidFill>
                <a:latin typeface="Courier New" pitchFamily="34" charset="0"/>
                <a:ea typeface="Courier New" pitchFamily="34" charset="-122"/>
                <a:cs typeface="Courier New" pitchFamily="34" charset="-120"/>
              </a:rPr>
              <a:t>'swap out the recipient'</a:t>
            </a:r>
            <a:r>
              <a:rPr lang="en-US" sz="910" dirty="0">
                <a:solidFill>
                  <a:srgbClr val="E6EDF3"/>
                </a:solidFill>
                <a:latin typeface="Courier New" pitchFamily="34" charset="0"/>
                <a:ea typeface="Courier New" pitchFamily="34" charset="-122"/>
                <a:cs typeface="Courier New" pitchFamily="34" charset="-120"/>
              </a:rPr>
              <a:t>)</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(True, True)</a:t>
            </a:r>
            <a:endParaRPr lang="en-US" sz="910" dirty="0"/>
          </a:p>
        </p:txBody>
      </p:sp>
      <p:sp>
        <p:nvSpPr>
          <p:cNvPr id="18" name="Text 15"/>
          <p:cNvSpPr txBox="1"/>
          <p:nvPr/>
        </p:nvSpPr>
        <p:spPr>
          <a:xfrm>
            <a:off x="457200" y="44074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9"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20"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device protects the key; you must still read the address on its screen</a:t>
            </a:r>
            <a:endParaRPr lang="en-US" sz="1350" dirty="0"/>
          </a:p>
        </p:txBody>
      </p:sp>
      <p:sp>
        <p:nvSpPr>
          <p:cNvPr id="21"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26</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passphrase locks the keys, not the balance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locked cash drawer in a shop window: customers see the money, only you can open it</a:t>
            </a:r>
            <a:endParaRPr lang="en-US" sz="1300" dirty="0"/>
          </a:p>
        </p:txBody>
      </p:sp>
      <p:sp>
        <p:nvSpPr>
          <p:cNvPr id="6" name="Text 4"/>
          <p:cNvSpPr txBox="1"/>
          <p:nvPr/>
        </p:nvSpPr>
        <p:spPr>
          <a:xfrm>
            <a:off x="457200" y="123444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the constants are read from the saved crypter.h</a:t>
            </a:r>
            <a:endParaRPr lang="en-US" sz="1150" dirty="0"/>
          </a:p>
        </p:txBody>
      </p:sp>
      <p:sp>
        <p:nvSpPr>
          <p:cNvPr id="7" name="Shape 5"/>
          <p:cNvSpPr/>
          <p:nvPr/>
        </p:nvSpPr>
        <p:spPr>
          <a:xfrm>
            <a:off x="457200" y="1508760"/>
            <a:ext cx="8229600" cy="2103120"/>
          </a:xfrm>
          <a:prstGeom prst="roundRect">
            <a:avLst>
              <a:gd name="adj" fmla="val 4348"/>
            </a:avLst>
          </a:prstGeom>
          <a:solidFill>
            <a:srgbClr val="23272E"/>
          </a:solidFill>
          <a:ln w="12700">
            <a:solidFill>
              <a:srgbClr val="23272E"/>
            </a:solidFill>
            <a:prstDash val="solid"/>
          </a:ln>
        </p:spPr>
      </p:sp>
      <p:sp>
        <p:nvSpPr>
          <p:cNvPr id="8" name="Text 6"/>
          <p:cNvSpPr txBox="1"/>
          <p:nvPr/>
        </p:nvSpPr>
        <p:spPr>
          <a:xfrm>
            <a:off x="640080" y="1627632"/>
            <a:ext cx="7863840" cy="1865376"/>
          </a:xfrm>
          <a:prstGeom prst="rect">
            <a:avLst/>
          </a:prstGeom>
          <a:noFill/>
          <a:ln/>
        </p:spPr>
        <p:txBody>
          <a:bodyPr wrap="square" lIns="0" tIns="0" rIns="0" bIns="0" rtlCol="0" anchor="t"/>
          <a:lstStyle/>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l, w, u, f = R[</a:t>
            </a:r>
            <a:r>
              <a:rPr lang="en-US" sz="920" dirty="0">
                <a:solidFill>
                  <a:srgbClr val="9ECBFF"/>
                </a:solidFill>
                <a:latin typeface="Courier New" pitchFamily="34" charset="0"/>
                <a:ea typeface="Courier New" pitchFamily="34" charset="-122"/>
                <a:cs typeface="Courier New" pitchFamily="34" charset="-120"/>
              </a:rPr>
              <a:t>'b4_locked'</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'b4_wrong'</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'b4_unlocked'</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'b4_file'</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l[</a:t>
            </a:r>
            <a:r>
              <a:rPr lang="en-US" sz="920" dirty="0">
                <a:solidFill>
                  <a:srgbClr val="9ECBFF"/>
                </a:solidFill>
                <a:latin typeface="Courier New" pitchFamily="34" charset="0"/>
                <a:ea typeface="Courier New" pitchFamily="34" charset="-122"/>
                <a:cs typeface="Courier New" pitchFamily="34" charset="-120"/>
              </a:rPr>
              <a:t>'send'</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'error'</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FFD28A"/>
                </a:solidFill>
                <a:latin typeface="Courier New" pitchFamily="34" charset="0"/>
                <a:ea typeface="Courier New" pitchFamily="34" charset="-122"/>
                <a:cs typeface="Courier New" pitchFamily="34" charset="-120"/>
              </a:rPr>
              <a:t>15</a:t>
            </a:r>
            <a:r>
              <a:rPr lang="en-US" sz="920" dirty="0">
                <a:solidFill>
                  <a:srgbClr val="E6EDF3"/>
                </a:solidFill>
                <a:latin typeface="Courier New" pitchFamily="34" charset="0"/>
                <a:ea typeface="Courier New" pitchFamily="34" charset="-122"/>
                <a:cs typeface="Courier New" pitchFamily="34" charset="-120"/>
              </a:rPr>
              <a:t>], w[</a:t>
            </a:r>
            <a:r>
              <a:rPr lang="en-US" sz="920" dirty="0">
                <a:solidFill>
                  <a:srgbClr val="9ECBFF"/>
                </a:solidFill>
                <a:latin typeface="Courier New" pitchFamily="34" charset="0"/>
                <a:ea typeface="Courier New" pitchFamily="34" charset="-122"/>
                <a:cs typeface="Courier New" pitchFamily="34" charset="-120"/>
              </a:rPr>
              <a:t>'error'</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FFD28A"/>
                </a:solidFill>
                <a:latin typeface="Courier New" pitchFamily="34" charset="0"/>
                <a:ea typeface="Courier New" pitchFamily="34" charset="-122"/>
                <a:cs typeface="Courier New" pitchFamily="34" charset="-120"/>
              </a:rPr>
              <a:t>15</a:t>
            </a:r>
            <a:r>
              <a:rPr lang="en-US" sz="920" dirty="0">
                <a:solidFill>
                  <a:srgbClr val="E6EDF3"/>
                </a:solidFill>
                <a:latin typeface="Courier New" pitchFamily="34" charset="0"/>
                <a:ea typeface="Courier New" pitchFamily="34" charset="-122"/>
                <a:cs typeface="Courier New" pitchFamily="34" charset="-120"/>
              </a:rPr>
              <a:t>], l[</a:t>
            </a:r>
            <a:r>
              <a:rPr lang="en-US" sz="920" dirty="0">
                <a:solidFill>
                  <a:srgbClr val="9ECBFF"/>
                </a:solidFill>
                <a:latin typeface="Courier New" pitchFamily="34" charset="0"/>
                <a:ea typeface="Courier New" pitchFamily="34" charset="-122"/>
                <a:cs typeface="Courier New" pitchFamily="34" charset="-120"/>
              </a:rPr>
              <a:t>'balance_visible'</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('error code: -13', 'error code: -14', 1.0)</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u[</a:t>
            </a:r>
            <a:r>
              <a:rPr lang="en-US" sz="920" dirty="0">
                <a:solidFill>
                  <a:srgbClr val="9ECBFF"/>
                </a:solidFill>
                <a:latin typeface="Courier New" pitchFamily="34" charset="0"/>
                <a:ea typeface="Courier New" pitchFamily="34" charset="-122"/>
                <a:cs typeface="Courier New" pitchFamily="34" charset="-120"/>
              </a:rPr>
              <a:t>'unlocked_until'</a:t>
            </a:r>
            <a:r>
              <a:rPr lang="en-US" sz="920" dirty="0">
                <a:solidFill>
                  <a:srgbClr val="E6EDF3"/>
                </a:solidFill>
                <a:latin typeface="Courier New" pitchFamily="34" charset="0"/>
                <a:ea typeface="Courier New" pitchFamily="34" charset="-122"/>
                <a:cs typeface="Courier New" pitchFamily="34" charset="-120"/>
              </a:rPr>
              <a:t>] - u[</a:t>
            </a:r>
            <a:r>
              <a:rPr lang="en-US" sz="920" dirty="0">
                <a:solidFill>
                  <a:srgbClr val="9ECBFF"/>
                </a:solidFill>
                <a:latin typeface="Courier New" pitchFamily="34" charset="0"/>
                <a:ea typeface="Courier New" pitchFamily="34" charset="-122"/>
                <a:cs typeface="Courier New" pitchFamily="34" charset="-120"/>
              </a:rPr>
              <a:t>'now'</a:t>
            </a:r>
            <a:r>
              <a:rPr lang="en-US" sz="920" dirty="0">
                <a:solidFill>
                  <a:srgbClr val="E6EDF3"/>
                </a:solidFill>
                <a:latin typeface="Courier New" pitchFamily="34" charset="0"/>
                <a:ea typeface="Courier New" pitchFamily="34" charset="-122"/>
                <a:cs typeface="Courier New" pitchFamily="34" charset="-120"/>
              </a:rPr>
              <a:t>], u[</a:t>
            </a:r>
            <a:r>
              <a:rPr lang="en-US" sz="920" dirty="0">
                <a:solidFill>
                  <a:srgbClr val="9ECBFF"/>
                </a:solidFill>
                <a:latin typeface="Courier New" pitchFamily="34" charset="0"/>
                <a:ea typeface="Courier New" pitchFamily="34" charset="-122"/>
                <a:cs typeface="Courier New" pitchFamily="34" charset="-120"/>
              </a:rPr>
              <a:t>'send_ok'</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'b4_after_timeout'</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'unlocked_until'</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(3, True, 0)</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[cr(</a:t>
            </a:r>
            <a:r>
              <a:rPr lang="en-US" sz="920" dirty="0">
                <a:solidFill>
                  <a:srgbClr val="9ECBFF"/>
                </a:solidFill>
                <a:latin typeface="Courier New" pitchFamily="34" charset="0"/>
                <a:ea typeface="Courier New" pitchFamily="34" charset="-122"/>
                <a:cs typeface="Courier New" pitchFamily="34" charset="-120"/>
              </a:rPr>
              <a:t>'WALLET_CRYPTO_'</a:t>
            </a:r>
            <a:r>
              <a:rPr lang="en-US" sz="920" dirty="0">
                <a:solidFill>
                  <a:srgbClr val="E6EDF3"/>
                </a:solidFill>
                <a:latin typeface="Courier New" pitchFamily="34" charset="0"/>
                <a:ea typeface="Courier New" pitchFamily="34" charset="-122"/>
                <a:cs typeface="Courier New" pitchFamily="34" charset="-120"/>
              </a:rPr>
              <a:t> + k) </a:t>
            </a:r>
            <a:r>
              <a:rPr lang="en-US" sz="920" b="1" dirty="0">
                <a:solidFill>
                  <a:srgbClr val="F2A860"/>
                </a:solidFill>
                <a:latin typeface="Courier New" pitchFamily="34" charset="0"/>
                <a:ea typeface="Courier New" pitchFamily="34" charset="-122"/>
                <a:cs typeface="Courier New" pitchFamily="34" charset="-120"/>
              </a:rPr>
              <a:t>for</a:t>
            </a:r>
            <a:r>
              <a:rPr lang="en-US" sz="920" dirty="0">
                <a:solidFill>
                  <a:srgbClr val="E6EDF3"/>
                </a:solidFill>
                <a:latin typeface="Courier New" pitchFamily="34" charset="0"/>
                <a:ea typeface="Courier New" pitchFamily="34" charset="-122"/>
                <a:cs typeface="Courier New" pitchFamily="34" charset="-120"/>
              </a:rPr>
              <a:t> k </a:t>
            </a:r>
            <a:r>
              <a:rPr lang="en-US" sz="920" b="1" dirty="0">
                <a:solidFill>
                  <a:srgbClr val="F2A860"/>
                </a:solidFill>
                <a:latin typeface="Courier New" pitchFamily="34" charset="0"/>
                <a:ea typeface="Courier New" pitchFamily="34" charset="-122"/>
                <a:cs typeface="Courier New" pitchFamily="34" charset="-120"/>
              </a:rPr>
              <a:t>in</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9ECBFF"/>
                </a:solidFill>
                <a:latin typeface="Courier New" pitchFamily="34" charset="0"/>
                <a:ea typeface="Courier New" pitchFamily="34" charset="-122"/>
                <a:cs typeface="Courier New" pitchFamily="34" charset="-120"/>
              </a:rPr>
              <a:t>'KEY_SIZE'</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9ECBFF"/>
                </a:solidFill>
                <a:latin typeface="Courier New" pitchFamily="34" charset="0"/>
                <a:ea typeface="Courier New" pitchFamily="34" charset="-122"/>
                <a:cs typeface="Courier New" pitchFamily="34" charset="-120"/>
              </a:rPr>
              <a:t>'SALT_SIZE'</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9ECBFF"/>
                </a:solidFill>
                <a:latin typeface="Courier New" pitchFamily="34" charset="0"/>
                <a:ea typeface="Courier New" pitchFamily="34" charset="-122"/>
                <a:cs typeface="Courier New" pitchFamily="34" charset="-120"/>
              </a:rPr>
              <a:t>'IV_SIZE'</a:t>
            </a:r>
            <a:r>
              <a:rPr lang="en-US" sz="920" dirty="0">
                <a:solidFill>
                  <a:srgbClr val="E6EDF3"/>
                </a:solidFill>
                <a:latin typeface="Courier New" pitchFamily="34" charset="0"/>
                <a:ea typeface="Courier New" pitchFamily="34" charset="-122"/>
                <a:cs typeface="Courier New" pitchFamily="34" charset="-120"/>
              </a:rPr>
              <a:t>)], cr(</a:t>
            </a:r>
            <a:r>
              <a:rPr lang="en-US" sz="920" dirty="0">
                <a:solidFill>
                  <a:srgbClr val="9ECBFF"/>
                </a:solidFill>
                <a:latin typeface="Courier New" pitchFamily="34" charset="0"/>
                <a:ea typeface="Courier New" pitchFamily="34" charset="-122"/>
                <a:cs typeface="Courier New" pitchFamily="34" charset="-120"/>
              </a:rPr>
              <a:t>'DEFAULT_DERIVE_ITERATIONS'</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(['32', '8', '16'], '25000')</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f[</a:t>
            </a:r>
            <a:r>
              <a:rPr lang="en-US" sz="920" dirty="0">
                <a:solidFill>
                  <a:srgbClr val="9ECBFF"/>
                </a:solidFill>
                <a:latin typeface="Courier New" pitchFamily="34" charset="0"/>
                <a:ea typeface="Courier New" pitchFamily="34" charset="-122"/>
                <a:cs typeface="Courier New" pitchFamily="34" charset="-120"/>
              </a:rPr>
              <a:t>'encryptwallet_message'</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FFD28A"/>
                </a:solidFill>
                <a:latin typeface="Courier New" pitchFamily="34" charset="0"/>
                <a:ea typeface="Courier New" pitchFamily="34" charset="-122"/>
                <a:cs typeface="Courier New" pitchFamily="34" charset="-120"/>
              </a:rPr>
              <a:t>60</a:t>
            </a:r>
            <a:r>
              <a:rPr lang="en-US" sz="920" dirty="0">
                <a:solidFill>
                  <a:srgbClr val="E6EDF3"/>
                </a:solidFill>
                <a:latin typeface="Courier New" pitchFamily="34" charset="0"/>
                <a:ea typeface="Courier New" pitchFamily="34" charset="-122"/>
                <a:cs typeface="Courier New" pitchFamily="34" charset="-120"/>
              </a:rPr>
              <a:t>], f[</a:t>
            </a:r>
            <a:r>
              <a:rPr lang="en-US" sz="920" dirty="0">
                <a:solidFill>
                  <a:srgbClr val="9ECBFF"/>
                </a:solidFill>
                <a:latin typeface="Courier New" pitchFamily="34" charset="0"/>
                <a:ea typeface="Courier New" pitchFamily="34" charset="-122"/>
                <a:cs typeface="Courier New" pitchFamily="34" charset="-120"/>
              </a:rPr>
              <a:t>'xprv_text_in_file_before'</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('wallet encrypted; The keypool has been flushed and a new HD ', False)</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k = </a:t>
            </a:r>
            <a:r>
              <a:rPr lang="en-US" sz="920" dirty="0">
                <a:solidFill>
                  <a:srgbClr val="FFD28A"/>
                </a:solidFill>
                <a:latin typeface="Courier New" pitchFamily="34" charset="0"/>
                <a:ea typeface="Courier New" pitchFamily="34" charset="-122"/>
                <a:cs typeface="Courier New" pitchFamily="34" charset="-120"/>
              </a:rPr>
              <a:t>25</a:t>
            </a:r>
            <a:r>
              <a:rPr lang="en-US" sz="920" dirty="0">
                <a:solidFill>
                  <a:srgbClr val="E6EDF3"/>
                </a:solidFill>
                <a:latin typeface="Courier New" pitchFamily="34" charset="0"/>
                <a:ea typeface="Courier New" pitchFamily="34" charset="-122"/>
                <a:cs typeface="Courier New" pitchFamily="34" charset="-120"/>
              </a:rPr>
              <a:t>; bits = </a:t>
            </a:r>
            <a:r>
              <a:rPr lang="en-US" sz="920" dirty="0">
                <a:solidFill>
                  <a:srgbClr val="FFD28A"/>
                </a:solidFill>
                <a:latin typeface="Courier New" pitchFamily="34" charset="0"/>
                <a:ea typeface="Courier New" pitchFamily="34" charset="-122"/>
                <a:cs typeface="Courier New" pitchFamily="34" charset="-120"/>
              </a:rPr>
              <a:t>30</a:t>
            </a:r>
            <a:r>
              <a:rPr lang="en-US" sz="920" dirty="0">
                <a:solidFill>
                  <a:srgbClr val="E6EDF3"/>
                </a:solidFill>
                <a:latin typeface="Courier New" pitchFamily="34" charset="0"/>
                <a:ea typeface="Courier New" pitchFamily="34" charset="-122"/>
                <a:cs typeface="Courier New" pitchFamily="34" charset="-120"/>
              </a:rPr>
              <a:t>; days = </a:t>
            </a:r>
            <a:r>
              <a:rPr lang="en-US" sz="920" dirty="0">
                <a:solidFill>
                  <a:srgbClr val="FFD28A"/>
                </a:solidFill>
                <a:latin typeface="Courier New" pitchFamily="34" charset="0"/>
                <a:ea typeface="Courier New" pitchFamily="34" charset="-122"/>
                <a:cs typeface="Courier New" pitchFamily="34" charset="-120"/>
              </a:rPr>
              <a:t>2</a:t>
            </a:r>
            <a:r>
              <a:rPr lang="en-US" sz="920" dirty="0">
                <a:solidFill>
                  <a:srgbClr val="E6EDF3"/>
                </a:solidFill>
                <a:latin typeface="Courier New" pitchFamily="34" charset="0"/>
                <a:ea typeface="Courier New" pitchFamily="34" charset="-122"/>
                <a:cs typeface="Courier New" pitchFamily="34" charset="-120"/>
              </a:rPr>
              <a:t> ** bits * (k / </a:t>
            </a:r>
            <a:r>
              <a:rPr lang="en-US" sz="920" dirty="0">
                <a:solidFill>
                  <a:srgbClr val="FFD28A"/>
                </a:solidFill>
                <a:latin typeface="Courier New" pitchFamily="34" charset="0"/>
                <a:ea typeface="Courier New" pitchFamily="34" charset="-122"/>
                <a:cs typeface="Courier New" pitchFamily="34" charset="-120"/>
              </a:rPr>
              <a:t>250</a:t>
            </a:r>
            <a:r>
              <a:rPr lang="en-US" sz="920" dirty="0">
                <a:solidFill>
                  <a:srgbClr val="E6EDF3"/>
                </a:solidFill>
                <a:latin typeface="Courier New" pitchFamily="34" charset="0"/>
                <a:ea typeface="Courier New" pitchFamily="34" charset="-122"/>
                <a:cs typeface="Courier New" pitchFamily="34" charset="-120"/>
              </a:rPr>
              <a:t>) / </a:t>
            </a:r>
            <a:r>
              <a:rPr lang="en-US" sz="920" dirty="0">
                <a:solidFill>
                  <a:srgbClr val="FFD28A"/>
                </a:solidFill>
                <a:latin typeface="Courier New" pitchFamily="34" charset="0"/>
                <a:ea typeface="Courier New" pitchFamily="34" charset="-122"/>
                <a:cs typeface="Courier New" pitchFamily="34" charset="-120"/>
              </a:rPr>
              <a:t>86400</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(k * </a:t>
            </a:r>
            <a:r>
              <a:rPr lang="en-US" sz="920" dirty="0">
                <a:solidFill>
                  <a:srgbClr val="FFD28A"/>
                </a:solidFill>
                <a:latin typeface="Courier New" pitchFamily="34" charset="0"/>
                <a:ea typeface="Courier New" pitchFamily="34" charset="-122"/>
                <a:cs typeface="Courier New" pitchFamily="34" charset="-120"/>
              </a:rPr>
              <a:t>1000</a:t>
            </a:r>
            <a:r>
              <a:rPr lang="en-US" sz="920" dirty="0">
                <a:solidFill>
                  <a:srgbClr val="E6EDF3"/>
                </a:solidFill>
                <a:latin typeface="Courier New" pitchFamily="34" charset="0"/>
                <a:ea typeface="Courier New" pitchFamily="34" charset="-122"/>
                <a:cs typeface="Courier New" pitchFamily="34" charset="-120"/>
              </a:rPr>
              <a:t>, round(days, </a:t>
            </a:r>
            <a:r>
              <a:rPr lang="en-US" sz="920" dirty="0">
                <a:solidFill>
                  <a:srgbClr val="FFD28A"/>
                </a:solidFill>
                <a:latin typeface="Courier New" pitchFamily="34" charset="0"/>
                <a:ea typeface="Courier New" pitchFamily="34" charset="-122"/>
                <a:cs typeface="Courier New" pitchFamily="34" charset="-120"/>
              </a:rPr>
              <a:t>1</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(25000, 1242.8)</a:t>
            </a:r>
            <a:endParaRPr lang="en-US" sz="920" dirty="0"/>
          </a:p>
        </p:txBody>
      </p:sp>
      <p:sp>
        <p:nvSpPr>
          <p:cNvPr id="9" name="Text 7"/>
          <p:cNvSpPr txBox="1"/>
          <p:nvPr/>
        </p:nvSpPr>
        <p:spPr>
          <a:xfrm>
            <a:off x="457200" y="363016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929634"/>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913632"/>
            <a:ext cx="7955280" cy="16002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Row 2: a locked wallet shows its balance (1.0) but cannot send (-13); a wrong passphrase gives -14</a:t>
            </a:r>
            <a:endParaRPr lang="en-US" sz="950" dirty="0"/>
          </a:p>
        </p:txBody>
      </p:sp>
      <p:sp>
        <p:nvSpPr>
          <p:cNvPr id="12" name="Shape 10"/>
          <p:cNvSpPr/>
          <p:nvPr/>
        </p:nvSpPr>
        <p:spPr>
          <a:xfrm>
            <a:off x="457200" y="4089654"/>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4073652"/>
            <a:ext cx="7955280" cy="16002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Row 3: an unlock for 3 seconds ended exactly then: the key is dropped and sending fails again</a:t>
            </a:r>
            <a:endParaRPr lang="en-US" sz="950" dirty="0"/>
          </a:p>
        </p:txBody>
      </p:sp>
      <p:sp>
        <p:nvSpPr>
          <p:cNvPr id="14" name="Shape 12"/>
          <p:cNvSpPr/>
          <p:nvPr/>
        </p:nvSpPr>
        <p:spPr>
          <a:xfrm>
            <a:off x="457200" y="4249674"/>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4233672"/>
            <a:ext cx="7955280" cy="16002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Rows 4, 5: 32-byte key, 8-byte salt, 25000 rounds; encrypting also makes a new seed, so old backups miss new coins</a:t>
            </a:r>
            <a:endParaRPr lang="en-US" sz="950" dirty="0"/>
          </a:p>
        </p:txBody>
      </p:sp>
      <p:sp>
        <p:nvSpPr>
          <p:cNvPr id="16" name="Shape 14"/>
          <p:cNvSpPr/>
          <p:nvPr/>
        </p:nvSpPr>
        <p:spPr>
          <a:xfrm>
            <a:off x="457200" y="4409694"/>
            <a:ext cx="128016" cy="128016"/>
          </a:xfrm>
          <a:prstGeom prst="diamond">
            <a:avLst/>
          </a:prstGeom>
          <a:solidFill>
            <a:srgbClr val="D97A14"/>
          </a:solidFill>
          <a:ln w="12700">
            <a:solidFill>
              <a:srgbClr val="D97A14"/>
            </a:solidFill>
            <a:prstDash val="solid"/>
          </a:ln>
        </p:spPr>
      </p:sp>
      <p:sp>
        <p:nvSpPr>
          <p:cNvPr id="17" name="Text 15"/>
          <p:cNvSpPr txBox="1"/>
          <p:nvPr/>
        </p:nvSpPr>
        <p:spPr>
          <a:xfrm>
            <a:off x="731520" y="4393692"/>
            <a:ext cx="7955280" cy="16002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Row 7: 25,000 rounds take 0.1 s on a 1.86 GHz Pentium M: 1,242.8 days to try every 30-bit passphrase</a:t>
            </a:r>
            <a:endParaRPr lang="en-US" sz="95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Encryption hides the keys, and it starts a new seed: back up again</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26</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backup is a descriptor and a date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spare key cut before the locksmith adds new locks: it opens only the old ones</a:t>
            </a:r>
            <a:endParaRPr lang="en-US" sz="1300" dirty="0"/>
          </a:p>
        </p:txBody>
      </p:sp>
      <p:sp>
        <p:nvSpPr>
          <p:cNvPr id="6" name="Text 4"/>
          <p:cNvSpPr txBox="1"/>
          <p:nvPr/>
        </p:nvSpPr>
        <p:spPr>
          <a:xfrm>
            <a:off x="457200" y="123444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the pool count is worked by hand</a:t>
            </a:r>
            <a:endParaRPr lang="en-US" sz="1150" dirty="0"/>
          </a:p>
        </p:txBody>
      </p:sp>
      <p:sp>
        <p:nvSpPr>
          <p:cNvPr id="7" name="Shape 5"/>
          <p:cNvSpPr/>
          <p:nvPr/>
        </p:nvSpPr>
        <p:spPr>
          <a:xfrm>
            <a:off x="457200" y="1508760"/>
            <a:ext cx="8229600" cy="1764792"/>
          </a:xfrm>
          <a:prstGeom prst="roundRect">
            <a:avLst>
              <a:gd name="adj" fmla="val 5181"/>
            </a:avLst>
          </a:prstGeom>
          <a:solidFill>
            <a:srgbClr val="23272E"/>
          </a:solidFill>
          <a:ln w="12700">
            <a:solidFill>
              <a:srgbClr val="23272E"/>
            </a:solidFill>
            <a:prstDash val="solid"/>
          </a:ln>
        </p:spPr>
      </p:sp>
      <p:sp>
        <p:nvSpPr>
          <p:cNvPr id="8" name="Text 6"/>
          <p:cNvSpPr txBox="1"/>
          <p:nvPr/>
        </p:nvSpPr>
        <p:spPr>
          <a:xfrm>
            <a:off x="640080" y="1627632"/>
            <a:ext cx="7863840" cy="1527048"/>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b, d = R[</a:t>
            </a:r>
            <a:r>
              <a:rPr lang="en-US" sz="900" dirty="0">
                <a:solidFill>
                  <a:srgbClr val="9ECBFF"/>
                </a:solidFill>
                <a:latin typeface="Courier New" pitchFamily="34" charset="0"/>
                <a:ea typeface="Courier New" pitchFamily="34" charset="-122"/>
                <a:cs typeface="Courier New" pitchFamily="34" charset="-120"/>
              </a:rPr>
              <a:t>'b5_backup'</a:t>
            </a:r>
            <a:r>
              <a:rPr lang="en-US" sz="900" dirty="0">
                <a:solidFill>
                  <a:srgbClr val="E6EDF3"/>
                </a:solidFill>
                <a:latin typeface="Courier New" pitchFamily="34" charset="0"/>
                <a:ea typeface="Courier New" pitchFamily="34" charset="-122"/>
                <a:cs typeface="Courier New" pitchFamily="34" charset="-120"/>
              </a:rPr>
              <a:t>], R[</a:t>
            </a:r>
            <a:r>
              <a:rPr lang="en-US" sz="900" dirty="0">
                <a:solidFill>
                  <a:srgbClr val="9ECBFF"/>
                </a:solidFill>
                <a:latin typeface="Courier New" pitchFamily="34" charset="0"/>
                <a:ea typeface="Courier New" pitchFamily="34" charset="-122"/>
                <a:cs typeface="Courier New" pitchFamily="34" charset="-120"/>
              </a:rPr>
              <a:t>'b6_backup'</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b[</a:t>
            </a:r>
            <a:r>
              <a:rPr lang="en-US" sz="900" dirty="0">
                <a:solidFill>
                  <a:srgbClr val="9ECBFF"/>
                </a:solidFill>
                <a:latin typeface="Courier New" pitchFamily="34" charset="0"/>
                <a:ea typeface="Courier New" pitchFamily="34" charset="-122"/>
                <a:cs typeface="Courier New" pitchFamily="34" charset="-120"/>
              </a:rPr>
              <a:t>'balance_src'</a:t>
            </a:r>
            <a:r>
              <a:rPr lang="en-US" sz="900" dirty="0">
                <a:solidFill>
                  <a:srgbClr val="E6EDF3"/>
                </a:solidFill>
                <a:latin typeface="Courier New" pitchFamily="34" charset="0"/>
                <a:ea typeface="Courier New" pitchFamily="34" charset="-122"/>
                <a:cs typeface="Courier New" pitchFamily="34" charset="-120"/>
              </a:rPr>
              <a:t>], b[</a:t>
            </a:r>
            <a:r>
              <a:rPr lang="en-US" sz="900" dirty="0">
                <a:solidFill>
                  <a:srgbClr val="9ECBFF"/>
                </a:solidFill>
                <a:latin typeface="Courier New" pitchFamily="34" charset="0"/>
                <a:ea typeface="Courier New" pitchFamily="34" charset="-122"/>
                <a:cs typeface="Courier New" pitchFamily="34" charset="-120"/>
              </a:rPr>
              <a:t>'balance_fresh'</a:t>
            </a:r>
            <a:r>
              <a:rPr lang="en-US" sz="900" dirty="0">
                <a:solidFill>
                  <a:srgbClr val="E6EDF3"/>
                </a:solidFill>
                <a:latin typeface="Courier New" pitchFamily="34" charset="0"/>
                <a:ea typeface="Courier New" pitchFamily="34" charset="-122"/>
                <a:cs typeface="Courier New" pitchFamily="34" charset="-120"/>
              </a:rPr>
              <a:t>], b[</a:t>
            </a:r>
            <a:r>
              <a:rPr lang="en-US" sz="900" dirty="0">
                <a:solidFill>
                  <a:srgbClr val="9ECBFF"/>
                </a:solidFill>
                <a:latin typeface="Courier New" pitchFamily="34" charset="0"/>
                <a:ea typeface="Courier New" pitchFamily="34" charset="-122"/>
                <a:cs typeface="Courier New" pitchFamily="34" charset="-120"/>
              </a:rPr>
              <a:t>'fresh_next_matches'</a:t>
            </a:r>
            <a:r>
              <a:rPr lang="en-US" sz="900" dirty="0">
                <a:solidFill>
                  <a:srgbClr val="E6EDF3"/>
                </a:solidFill>
                <a:latin typeface="Courier New" pitchFamily="34" charset="0"/>
                <a:ea typeface="Courier New" pitchFamily="34" charset="-122"/>
                <a:cs typeface="Courier New" pitchFamily="34" charset="-120"/>
              </a:rPr>
              <a:t>], b[</a:t>
            </a:r>
            <a:r>
              <a:rPr lang="en-US" sz="900" dirty="0">
                <a:solidFill>
                  <a:srgbClr val="9ECBFF"/>
                </a:solidFill>
                <a:latin typeface="Courier New" pitchFamily="34" charset="0"/>
                <a:ea typeface="Courier New" pitchFamily="34" charset="-122"/>
                <a:cs typeface="Courier New" pitchFamily="34" charset="-120"/>
              </a:rPr>
              <a:t>'far_address_ismine_fresh'</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(3.0, 3.0, True, True)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b[</a:t>
            </a:r>
            <a:r>
              <a:rPr lang="en-US" sz="900" dirty="0">
                <a:solidFill>
                  <a:srgbClr val="9ECBFF"/>
                </a:solidFill>
                <a:latin typeface="Courier New" pitchFamily="34" charset="0"/>
                <a:ea typeface="Courier New" pitchFamily="34" charset="-122"/>
                <a:cs typeface="Courier New" pitchFamily="34" charset="-120"/>
              </a:rPr>
              <a:t>'keypool_range_end'</a:t>
            </a:r>
            <a:r>
              <a:rPr lang="en-US" sz="900" dirty="0">
                <a:solidFill>
                  <a:srgbClr val="E6EDF3"/>
                </a:solidFill>
                <a:latin typeface="Courier New" pitchFamily="34" charset="0"/>
                <a:ea typeface="Courier New" pitchFamily="34" charset="-122"/>
                <a:cs typeface="Courier New" pitchFamily="34" charset="-120"/>
              </a:rPr>
              <a:t>], b[</a:t>
            </a:r>
            <a:r>
              <a:rPr lang="en-US" sz="900" dirty="0">
                <a:solidFill>
                  <a:srgbClr val="9ECBFF"/>
                </a:solidFill>
                <a:latin typeface="Courier New" pitchFamily="34" charset="0"/>
                <a:ea typeface="Courier New" pitchFamily="34" charset="-122"/>
                <a:cs typeface="Courier New" pitchFamily="34" charset="-120"/>
              </a:rPr>
              <a:t>'far_index'</a:t>
            </a:r>
            <a:r>
              <a:rPr lang="en-US" sz="900" dirty="0">
                <a:solidFill>
                  <a:srgbClr val="E6EDF3"/>
                </a:solidFill>
                <a:latin typeface="Courier New" pitchFamily="34" charset="0"/>
                <a:ea typeface="Courier New" pitchFamily="34" charset="-122"/>
                <a:cs typeface="Courier New" pitchFamily="34" charset="-120"/>
              </a:rPr>
              <a:t>], b[</a:t>
            </a:r>
            <a:r>
              <a:rPr lang="en-US" sz="900" dirty="0">
                <a:solidFill>
                  <a:srgbClr val="9ECBFF"/>
                </a:solidFill>
                <a:latin typeface="Courier New" pitchFamily="34" charset="0"/>
                <a:ea typeface="Courier New" pitchFamily="34" charset="-122"/>
                <a:cs typeface="Courier New" pitchFamily="34" charset="-120"/>
              </a:rPr>
              <a:t>'balance_stale'</a:t>
            </a:r>
            <a:r>
              <a:rPr lang="en-US" sz="900" dirty="0">
                <a:solidFill>
                  <a:srgbClr val="E6EDF3"/>
                </a:solidFill>
                <a:latin typeface="Courier New" pitchFamily="34" charset="0"/>
                <a:ea typeface="Courier New" pitchFamily="34" charset="-122"/>
                <a:cs typeface="Courier New" pitchFamily="34" charset="-120"/>
              </a:rPr>
              <a:t>], b[</a:t>
            </a:r>
            <a:r>
              <a:rPr lang="en-US" sz="900" dirty="0">
                <a:solidFill>
                  <a:srgbClr val="9ECBFF"/>
                </a:solidFill>
                <a:latin typeface="Courier New" pitchFamily="34" charset="0"/>
                <a:ea typeface="Courier New" pitchFamily="34" charset="-122"/>
                <a:cs typeface="Courier New" pitchFamily="34" charset="-120"/>
              </a:rPr>
              <a:t>'far_address_ismine_stale'</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([0, 2], 9, 1.0, False)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d[</a:t>
            </a:r>
            <a:r>
              <a:rPr lang="en-US" sz="900" dirty="0">
                <a:solidFill>
                  <a:srgbClr val="9ECBFF"/>
                </a:solidFill>
                <a:latin typeface="Courier New" pitchFamily="34" charset="0"/>
                <a:ea typeface="Courier New" pitchFamily="34" charset="-122"/>
                <a:cs typeface="Courier New" pitchFamily="34" charset="-120"/>
              </a:rPr>
              <a:t>'m1_knows_multisig_address'</a:t>
            </a:r>
            <a:r>
              <a:rPr lang="en-US" sz="900" dirty="0">
                <a:solidFill>
                  <a:srgbClr val="E6EDF3"/>
                </a:solidFill>
                <a:latin typeface="Courier New" pitchFamily="34" charset="0"/>
                <a:ea typeface="Courier New" pitchFamily="34" charset="-122"/>
                <a:cs typeface="Courier New" pitchFamily="34" charset="-120"/>
              </a:rPr>
              <a:t>], d[</a:t>
            </a:r>
            <a:r>
              <a:rPr lang="en-US" sz="900" dirty="0">
                <a:solidFill>
                  <a:srgbClr val="9ECBFF"/>
                </a:solidFill>
                <a:latin typeface="Courier New" pitchFamily="34" charset="0"/>
                <a:ea typeface="Courier New" pitchFamily="34" charset="-122"/>
                <a:cs typeface="Courier New" pitchFamily="34" charset="-120"/>
              </a:rPr>
              <a:t>'ms_balance'</a:t>
            </a:r>
            <a:r>
              <a:rPr lang="en-US" sz="900" dirty="0">
                <a:solidFill>
                  <a:srgbClr val="E6EDF3"/>
                </a:solidFill>
                <a:latin typeface="Courier New" pitchFamily="34" charset="0"/>
                <a:ea typeface="Courier New" pitchFamily="34" charset="-122"/>
                <a:cs typeface="Courier New" pitchFamily="34" charset="-120"/>
              </a:rPr>
              <a:t>], d[</a:t>
            </a:r>
            <a:r>
              <a:rPr lang="en-US" sz="900" dirty="0">
                <a:solidFill>
                  <a:srgbClr val="9ECBFF"/>
                </a:solidFill>
                <a:latin typeface="Courier New" pitchFamily="34" charset="0"/>
                <a:ea typeface="Courier New" pitchFamily="34" charset="-122"/>
                <a:cs typeface="Courier New" pitchFamily="34" charset="-120"/>
              </a:rPr>
              <a:t>'rebuilt_balance'</a:t>
            </a:r>
            <a:r>
              <a:rPr lang="en-US" sz="900" dirty="0">
                <a:solidFill>
                  <a:srgbClr val="E6EDF3"/>
                </a:solidFill>
                <a:latin typeface="Courier New" pitchFamily="34" charset="0"/>
                <a:ea typeface="Courier New" pitchFamily="34" charset="-122"/>
                <a:cs typeface="Courier New" pitchFamily="34" charset="-120"/>
              </a:rPr>
              <a:t>], d[</a:t>
            </a:r>
            <a:r>
              <a:rPr lang="en-US" sz="900" dirty="0">
                <a:solidFill>
                  <a:srgbClr val="9ECBFF"/>
                </a:solidFill>
                <a:latin typeface="Courier New" pitchFamily="34" charset="0"/>
                <a:ea typeface="Courier New" pitchFamily="34" charset="-122"/>
                <a:cs typeface="Courier New" pitchFamily="34" charset="-120"/>
              </a:rPr>
              <a:t>'wrongorder_balance'</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(False, 2.0, 2.0, 0.0)</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pool = </a:t>
            </a:r>
            <a:r>
              <a:rPr lang="en-US" sz="900" dirty="0">
                <a:solidFill>
                  <a:srgbClr val="FFD28A"/>
                </a:solidFill>
                <a:latin typeface="Courier New" pitchFamily="34" charset="0"/>
                <a:ea typeface="Courier New" pitchFamily="34" charset="-122"/>
                <a:cs typeface="Courier New" pitchFamily="34" charset="-120"/>
              </a:rPr>
              <a:t>3</a:t>
            </a:r>
            <a:r>
              <a:rPr lang="en-US" sz="900" dirty="0">
                <a:solidFill>
                  <a:srgbClr val="E6EDF3"/>
                </a:solidFill>
                <a:latin typeface="Courier New" pitchFamily="34" charset="0"/>
                <a:ea typeface="Courier New" pitchFamily="34" charset="-122"/>
                <a:cs typeface="Courier New" pitchFamily="34" charset="-120"/>
              </a:rPr>
              <a:t>; paid = [(</a:t>
            </a:r>
            <a:r>
              <a:rPr lang="en-US" sz="900" dirty="0">
                <a:solidFill>
                  <a:srgbClr val="FFD28A"/>
                </a:solidFill>
                <a:latin typeface="Courier New" pitchFamily="34" charset="0"/>
                <a:ea typeface="Courier New" pitchFamily="34" charset="-122"/>
                <a:cs typeface="Courier New" pitchFamily="34" charset="-120"/>
              </a:rPr>
              <a:t>1</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1</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9</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2</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(sum(c </a:t>
            </a:r>
            <a:r>
              <a:rPr lang="en-US" sz="900" b="1" dirty="0">
                <a:solidFill>
                  <a:srgbClr val="F2A860"/>
                </a:solidFill>
                <a:latin typeface="Courier New" pitchFamily="34" charset="0"/>
                <a:ea typeface="Courier New" pitchFamily="34" charset="-122"/>
                <a:cs typeface="Courier New" pitchFamily="34" charset="-120"/>
              </a:rPr>
              <a:t>for</a:t>
            </a:r>
            <a:r>
              <a:rPr lang="en-US" sz="900" dirty="0">
                <a:solidFill>
                  <a:srgbClr val="E6EDF3"/>
                </a:solidFill>
                <a:latin typeface="Courier New" pitchFamily="34" charset="0"/>
                <a:ea typeface="Courier New" pitchFamily="34" charset="-122"/>
                <a:cs typeface="Courier New" pitchFamily="34" charset="-120"/>
              </a:rPr>
              <a:t> i, c </a:t>
            </a:r>
            <a:r>
              <a:rPr lang="en-US" sz="900" b="1" dirty="0">
                <a:solidFill>
                  <a:srgbClr val="F2A860"/>
                </a:solidFill>
                <a:latin typeface="Courier New" pitchFamily="34" charset="0"/>
                <a:ea typeface="Courier New" pitchFamily="34" charset="-122"/>
                <a:cs typeface="Courier New" pitchFamily="34" charset="-120"/>
              </a:rPr>
              <a:t>in</a:t>
            </a:r>
            <a:r>
              <a:rPr lang="en-US" sz="900" dirty="0">
                <a:solidFill>
                  <a:srgbClr val="E6EDF3"/>
                </a:solidFill>
                <a:latin typeface="Courier New" pitchFamily="34" charset="0"/>
                <a:ea typeface="Courier New" pitchFamily="34" charset="-122"/>
                <a:cs typeface="Courier New" pitchFamily="34" charset="-120"/>
              </a:rPr>
              <a:t> paid </a:t>
            </a:r>
            <a:r>
              <a:rPr lang="en-US" sz="900" b="1" dirty="0">
                <a:solidFill>
                  <a:srgbClr val="F2A860"/>
                </a:solidFill>
                <a:latin typeface="Courier New" pitchFamily="34" charset="0"/>
                <a:ea typeface="Courier New" pitchFamily="34" charset="-122"/>
                <a:cs typeface="Courier New" pitchFamily="34" charset="-120"/>
              </a:rPr>
              <a:t>if</a:t>
            </a:r>
            <a:r>
              <a:rPr lang="en-US" sz="900" dirty="0">
                <a:solidFill>
                  <a:srgbClr val="E6EDF3"/>
                </a:solidFill>
                <a:latin typeface="Courier New" pitchFamily="34" charset="0"/>
                <a:ea typeface="Courier New" pitchFamily="34" charset="-122"/>
                <a:cs typeface="Courier New" pitchFamily="34" charset="-120"/>
              </a:rPr>
              <a:t> i &lt; pool), sum(c </a:t>
            </a:r>
            <a:r>
              <a:rPr lang="en-US" sz="900" b="1" dirty="0">
                <a:solidFill>
                  <a:srgbClr val="F2A860"/>
                </a:solidFill>
                <a:latin typeface="Courier New" pitchFamily="34" charset="0"/>
                <a:ea typeface="Courier New" pitchFamily="34" charset="-122"/>
                <a:cs typeface="Courier New" pitchFamily="34" charset="-120"/>
              </a:rPr>
              <a:t>for</a:t>
            </a:r>
            <a:r>
              <a:rPr lang="en-US" sz="900" dirty="0">
                <a:solidFill>
                  <a:srgbClr val="E6EDF3"/>
                </a:solidFill>
                <a:latin typeface="Courier New" pitchFamily="34" charset="0"/>
                <a:ea typeface="Courier New" pitchFamily="34" charset="-122"/>
                <a:cs typeface="Courier New" pitchFamily="34" charset="-120"/>
              </a:rPr>
              <a:t> i, c </a:t>
            </a:r>
            <a:r>
              <a:rPr lang="en-US" sz="900" b="1" dirty="0">
                <a:solidFill>
                  <a:srgbClr val="F2A860"/>
                </a:solidFill>
                <a:latin typeface="Courier New" pitchFamily="34" charset="0"/>
                <a:ea typeface="Courier New" pitchFamily="34" charset="-122"/>
                <a:cs typeface="Courier New" pitchFamily="34" charset="-120"/>
              </a:rPr>
              <a:t>in</a:t>
            </a:r>
            <a:r>
              <a:rPr lang="en-US" sz="900" dirty="0">
                <a:solidFill>
                  <a:srgbClr val="E6EDF3"/>
                </a:solidFill>
                <a:latin typeface="Courier New" pitchFamily="34" charset="0"/>
                <a:ea typeface="Courier New" pitchFamily="34" charset="-122"/>
                <a:cs typeface="Courier New" pitchFamily="34" charset="-120"/>
              </a:rPr>
              <a:t> paid))</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(1, 3)</a:t>
            </a:r>
            <a:endParaRPr lang="en-US" sz="900" dirty="0"/>
          </a:p>
        </p:txBody>
      </p:sp>
      <p:sp>
        <p:nvSpPr>
          <p:cNvPr id="9" name="Text 7"/>
          <p:cNvSpPr txBox="1"/>
          <p:nvPr/>
        </p:nvSpPr>
        <p:spPr>
          <a:xfrm>
            <a:off x="457200" y="3291840"/>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614928"/>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584448"/>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a wallet restored from a fresh backup holds all 3.0 coins and derives the same next addresses</a:t>
            </a:r>
            <a:endParaRPr lang="en-US" sz="1000" dirty="0"/>
          </a:p>
        </p:txBody>
      </p:sp>
      <p:sp>
        <p:nvSpPr>
          <p:cNvPr id="12" name="Shape 10"/>
          <p:cNvSpPr/>
          <p:nvPr/>
        </p:nvSpPr>
        <p:spPr>
          <a:xfrm>
            <a:off x="457200" y="3803904"/>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773424"/>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3, 6: with a keypool of 3 a stale backup held 1.0 of 3.0: coins at address 9 lie outside 0 to 2 (1 of 3 by hand)</a:t>
            </a:r>
            <a:endParaRPr lang="en-US" sz="1000" dirty="0"/>
          </a:p>
        </p:txBody>
      </p:sp>
      <p:sp>
        <p:nvSpPr>
          <p:cNvPr id="14" name="Shape 12"/>
          <p:cNvSpPr/>
          <p:nvPr/>
        </p:nvSpPr>
        <p:spPr>
          <a:xfrm>
            <a:off x="457200" y="3992880"/>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3962400"/>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one key does not know the multisig address; the descriptor finds the 2.0 coins, a wrong key order 0.0</a:t>
            </a:r>
            <a:endParaRPr lang="en-US" sz="1000" dirty="0"/>
          </a:p>
        </p:txBody>
      </p:sp>
      <p:sp>
        <p:nvSpPr>
          <p:cNvPr id="16" name="Text 14"/>
          <p:cNvSpPr txBox="1"/>
          <p:nvPr/>
        </p:nvSpPr>
        <p:spPr>
          <a:xfrm>
            <a:off x="457200" y="4187952"/>
            <a:ext cx="8229600" cy="256032"/>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NOT EXECUTED: paper and metal backups; only file backups of regtest wallets were restored.</a:t>
            </a:r>
            <a:endParaRPr lang="en-US" sz="100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backup needs the descriptor and a recent date</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26</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Seed words and their arithmetic</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recipe card: twelve words are enough to cook the same keys again</a:t>
            </a:r>
            <a:endParaRPr lang="en-US" sz="1300" dirty="0"/>
          </a:p>
        </p:txBody>
      </p:sp>
      <p:sp>
        <p:nvSpPr>
          <p:cNvPr id="6" name="Text 4"/>
          <p:cNvSpPr txBox="1"/>
          <p:nvPr/>
        </p:nvSpPr>
        <p:spPr>
          <a:xfrm>
            <a:off x="457200" y="123444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the published BIP 39 test vector, saved on 2026-10-15; the Core files are saved</a:t>
            </a:r>
            <a:endParaRPr lang="en-US" sz="1150" dirty="0"/>
          </a:p>
        </p:txBody>
      </p:sp>
      <p:sp>
        <p:nvSpPr>
          <p:cNvPr id="7" name="Shape 5"/>
          <p:cNvSpPr/>
          <p:nvPr/>
        </p:nvSpPr>
        <p:spPr>
          <a:xfrm>
            <a:off x="457200" y="1508760"/>
            <a:ext cx="8229600" cy="2103120"/>
          </a:xfrm>
          <a:prstGeom prst="roundRect">
            <a:avLst>
              <a:gd name="adj" fmla="val 4348"/>
            </a:avLst>
          </a:prstGeom>
          <a:solidFill>
            <a:srgbClr val="23272E"/>
          </a:solidFill>
          <a:ln w="12700">
            <a:solidFill>
              <a:srgbClr val="23272E"/>
            </a:solidFill>
            <a:prstDash val="solid"/>
          </a:ln>
        </p:spPr>
      </p:sp>
      <p:sp>
        <p:nvSpPr>
          <p:cNvPr id="8" name="Text 6"/>
          <p:cNvSpPr txBox="1"/>
          <p:nvPr/>
        </p:nvSpPr>
        <p:spPr>
          <a:xfrm>
            <a:off x="640080" y="1627632"/>
            <a:ext cx="7863840" cy="1865376"/>
          </a:xfrm>
          <a:prstGeom prst="rect">
            <a:avLst/>
          </a:prstGeom>
          <a:noFill/>
          <a:ln/>
        </p:spPr>
        <p:txBody>
          <a:bodyPr wrap="square" lIns="0" tIns="0" rIns="0" bIns="0" rtlCol="0" anchor="t"/>
          <a:lstStyle/>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v = L.jload(</a:t>
            </a:r>
            <a:r>
              <a:rPr lang="en-US" sz="920" dirty="0">
                <a:solidFill>
                  <a:srgbClr val="9ECBFF"/>
                </a:solidFill>
                <a:latin typeface="Courier New" pitchFamily="34" charset="0"/>
                <a:ea typeface="Courier New" pitchFamily="34" charset="-122"/>
                <a:cs typeface="Courier New" pitchFamily="34" charset="-120"/>
              </a:rPr>
              <a:t>'bip39_trezor_vectors.json'</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'english'</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FFD28A"/>
                </a:solidFill>
                <a:latin typeface="Courier New" pitchFamily="34" charset="0"/>
                <a:ea typeface="Courier New" pitchFamily="34" charset="-122"/>
                <a:cs typeface="Courier New" pitchFamily="34" charset="-120"/>
              </a:rPr>
              <a:t>0</a:t>
            </a:r>
            <a:r>
              <a:rPr lang="en-US" sz="920" dirty="0">
                <a:solidFill>
                  <a:srgbClr val="E6EDF3"/>
                </a:solidFill>
                <a:latin typeface="Courier New" pitchFamily="34" charset="0"/>
                <a:ea typeface="Courier New" pitchFamily="34" charset="-122"/>
                <a:cs typeface="Courier New" pitchFamily="34" charset="-120"/>
              </a:rPr>
              <a:t>]; w = v[</a:t>
            </a:r>
            <a:r>
              <a:rPr lang="en-US" sz="920" dirty="0">
                <a:solidFill>
                  <a:srgbClr val="FFD28A"/>
                </a:solidFill>
                <a:latin typeface="Courier New" pitchFamily="34" charset="0"/>
                <a:ea typeface="Courier New" pitchFamily="34" charset="-122"/>
                <a:cs typeface="Courier New" pitchFamily="34" charset="-120"/>
              </a:rPr>
              <a:t>1</a:t>
            </a:r>
            <a:r>
              <a:rPr lang="en-US" sz="920" dirty="0">
                <a:solidFill>
                  <a:srgbClr val="E6EDF3"/>
                </a:solidFill>
                <a:latin typeface="Courier New" pitchFamily="34" charset="0"/>
                <a:ea typeface="Courier New" pitchFamily="34" charset="-122"/>
                <a:cs typeface="Courier New" pitchFamily="34" charset="-120"/>
              </a:rPr>
              <a:t>].split()</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L.bip39_mnemonic(bytes.fromhex(v[</a:t>
            </a:r>
            <a:r>
              <a:rPr lang="en-US" sz="920" dirty="0">
                <a:solidFill>
                  <a:srgbClr val="FFD28A"/>
                </a:solidFill>
                <a:latin typeface="Courier New" pitchFamily="34" charset="0"/>
                <a:ea typeface="Courier New" pitchFamily="34" charset="-122"/>
                <a:cs typeface="Courier New" pitchFamily="34" charset="-120"/>
              </a:rPr>
              <a:t>0</a:t>
            </a:r>
            <a:r>
              <a:rPr lang="en-US" sz="920" dirty="0">
                <a:solidFill>
                  <a:srgbClr val="E6EDF3"/>
                </a:solidFill>
                <a:latin typeface="Courier New" pitchFamily="34" charset="0"/>
                <a:ea typeface="Courier New" pitchFamily="34" charset="-122"/>
                <a:cs typeface="Courier New" pitchFamily="34" charset="-120"/>
              </a:rPr>
              <a:t>])) == v[</a:t>
            </a:r>
            <a:r>
              <a:rPr lang="en-US" sz="920" dirty="0">
                <a:solidFill>
                  <a:srgbClr val="FFD28A"/>
                </a:solidFill>
                <a:latin typeface="Courier New" pitchFamily="34" charset="0"/>
                <a:ea typeface="Courier New" pitchFamily="34" charset="-122"/>
                <a:cs typeface="Courier New" pitchFamily="34" charset="-120"/>
              </a:rPr>
              <a:t>1</a:t>
            </a:r>
            <a:r>
              <a:rPr lang="en-US" sz="920" dirty="0">
                <a:solidFill>
                  <a:srgbClr val="E6EDF3"/>
                </a:solidFill>
                <a:latin typeface="Courier New" pitchFamily="34" charset="0"/>
                <a:ea typeface="Courier New" pitchFamily="34" charset="-122"/>
                <a:cs typeface="Courier New" pitchFamily="34" charset="-120"/>
              </a:rPr>
              <a:t>], len(w), L.bip39_valid(v[</a:t>
            </a:r>
            <a:r>
              <a:rPr lang="en-US" sz="920" dirty="0">
                <a:solidFill>
                  <a:srgbClr val="FFD28A"/>
                </a:solidFill>
                <a:latin typeface="Courier New" pitchFamily="34" charset="0"/>
                <a:ea typeface="Courier New" pitchFamily="34" charset="-122"/>
                <a:cs typeface="Courier New" pitchFamily="34" charset="-120"/>
              </a:rPr>
              <a:t>1</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(True, 12, True)</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ent = </a:t>
            </a:r>
            <a:r>
              <a:rPr lang="en-US" sz="920" dirty="0">
                <a:solidFill>
                  <a:srgbClr val="FFD28A"/>
                </a:solidFill>
                <a:latin typeface="Courier New" pitchFamily="34" charset="0"/>
                <a:ea typeface="Courier New" pitchFamily="34" charset="-122"/>
                <a:cs typeface="Courier New" pitchFamily="34" charset="-120"/>
              </a:rPr>
              <a:t>16</a:t>
            </a:r>
            <a:r>
              <a:rPr lang="en-US" sz="920" dirty="0">
                <a:solidFill>
                  <a:srgbClr val="E6EDF3"/>
                </a:solidFill>
                <a:latin typeface="Courier New" pitchFamily="34" charset="0"/>
                <a:ea typeface="Courier New" pitchFamily="34" charset="-122"/>
                <a:cs typeface="Courier New" pitchFamily="34" charset="-120"/>
              </a:rPr>
              <a:t>; cs = ent // </a:t>
            </a:r>
            <a:r>
              <a:rPr lang="en-US" sz="920" dirty="0">
                <a:solidFill>
                  <a:srgbClr val="FFD28A"/>
                </a:solidFill>
                <a:latin typeface="Courier New" pitchFamily="34" charset="0"/>
                <a:ea typeface="Courier New" pitchFamily="34" charset="-122"/>
                <a:cs typeface="Courier New" pitchFamily="34" charset="-120"/>
              </a:rPr>
              <a:t>4</a:t>
            </a:r>
            <a:r>
              <a:rPr lang="en-US" sz="920" dirty="0">
                <a:solidFill>
                  <a:srgbClr val="E6EDF3"/>
                </a:solidFill>
                <a:latin typeface="Courier New" pitchFamily="34" charset="0"/>
                <a:ea typeface="Courier New" pitchFamily="34" charset="-122"/>
                <a:cs typeface="Courier New" pitchFamily="34" charset="-120"/>
              </a:rPr>
              <a:t>; words = </a:t>
            </a:r>
            <a:r>
              <a:rPr lang="en-US" sz="920" dirty="0">
                <a:solidFill>
                  <a:srgbClr val="FFD28A"/>
                </a:solidFill>
                <a:latin typeface="Courier New" pitchFamily="34" charset="0"/>
                <a:ea typeface="Courier New" pitchFamily="34" charset="-122"/>
                <a:cs typeface="Courier New" pitchFamily="34" charset="-120"/>
              </a:rPr>
              <a:t>12</a:t>
            </a:r>
            <a:r>
              <a:rPr lang="en-US" sz="920" dirty="0">
                <a:solidFill>
                  <a:srgbClr val="E6EDF3"/>
                </a:solidFill>
                <a:latin typeface="Courier New" pitchFamily="34" charset="0"/>
                <a:ea typeface="Courier New" pitchFamily="34" charset="-122"/>
                <a:cs typeface="Courier New" pitchFamily="34" charset="-120"/>
              </a:rPr>
              <a:t>; total = words * </a:t>
            </a:r>
            <a:r>
              <a:rPr lang="en-US" sz="920" dirty="0">
                <a:solidFill>
                  <a:srgbClr val="FFD28A"/>
                </a:solidFill>
                <a:latin typeface="Courier New" pitchFamily="34" charset="0"/>
                <a:ea typeface="Courier New" pitchFamily="34" charset="-122"/>
                <a:cs typeface="Courier New" pitchFamily="34" charset="-120"/>
              </a:rPr>
              <a:t>11</a:t>
            </a:r>
            <a:r>
              <a:rPr lang="en-US" sz="920" dirty="0">
                <a:solidFill>
                  <a:srgbClr val="E6EDF3"/>
                </a:solidFill>
                <a:latin typeface="Courier New" pitchFamily="34" charset="0"/>
                <a:ea typeface="Courier New" pitchFamily="34" charset="-122"/>
                <a:cs typeface="Courier New" pitchFamily="34" charset="-120"/>
              </a:rPr>
              <a:t>; tcs = total - total * </a:t>
            </a:r>
            <a:r>
              <a:rPr lang="en-US" sz="920" dirty="0">
                <a:solidFill>
                  <a:srgbClr val="FFD28A"/>
                </a:solidFill>
                <a:latin typeface="Courier New" pitchFamily="34" charset="0"/>
                <a:ea typeface="Courier New" pitchFamily="34" charset="-122"/>
                <a:cs typeface="Courier New" pitchFamily="34" charset="-120"/>
              </a:rPr>
              <a:t>32</a:t>
            </a:r>
            <a:r>
              <a:rPr lang="en-US" sz="920" dirty="0">
                <a:solidFill>
                  <a:srgbClr val="E6EDF3"/>
                </a:solidFill>
                <a:latin typeface="Courier New" pitchFamily="34" charset="0"/>
                <a:ea typeface="Courier New" pitchFamily="34" charset="-122"/>
                <a:cs typeface="Courier New" pitchFamily="34" charset="-120"/>
              </a:rPr>
              <a:t> // </a:t>
            </a:r>
            <a:r>
              <a:rPr lang="en-US" sz="920" dirty="0">
                <a:solidFill>
                  <a:srgbClr val="FFD28A"/>
                </a:solidFill>
                <a:latin typeface="Courier New" pitchFamily="34" charset="0"/>
                <a:ea typeface="Courier New" pitchFamily="34" charset="-122"/>
                <a:cs typeface="Courier New" pitchFamily="34" charset="-120"/>
              </a:rPr>
              <a:t>33</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(ent * </a:t>
            </a:r>
            <a:r>
              <a:rPr lang="en-US" sz="920" dirty="0">
                <a:solidFill>
                  <a:srgbClr val="FFD28A"/>
                </a:solidFill>
                <a:latin typeface="Courier New" pitchFamily="34" charset="0"/>
                <a:ea typeface="Courier New" pitchFamily="34" charset="-122"/>
                <a:cs typeface="Courier New" pitchFamily="34" charset="-120"/>
              </a:rPr>
              <a:t>8</a:t>
            </a:r>
            <a:r>
              <a:rPr lang="en-US" sz="920" dirty="0">
                <a:solidFill>
                  <a:srgbClr val="E6EDF3"/>
                </a:solidFill>
                <a:latin typeface="Courier New" pitchFamily="34" charset="0"/>
                <a:ea typeface="Courier New" pitchFamily="34" charset="-122"/>
                <a:cs typeface="Courier New" pitchFamily="34" charset="-120"/>
              </a:rPr>
              <a:t>, cs, (ent * </a:t>
            </a:r>
            <a:r>
              <a:rPr lang="en-US" sz="920" dirty="0">
                <a:solidFill>
                  <a:srgbClr val="FFD28A"/>
                </a:solidFill>
                <a:latin typeface="Courier New" pitchFamily="34" charset="0"/>
                <a:ea typeface="Courier New" pitchFamily="34" charset="-122"/>
                <a:cs typeface="Courier New" pitchFamily="34" charset="-120"/>
              </a:rPr>
              <a:t>8</a:t>
            </a:r>
            <a:r>
              <a:rPr lang="en-US" sz="920" dirty="0">
                <a:solidFill>
                  <a:srgbClr val="E6EDF3"/>
                </a:solidFill>
                <a:latin typeface="Courier New" pitchFamily="34" charset="0"/>
                <a:ea typeface="Courier New" pitchFamily="34" charset="-122"/>
                <a:cs typeface="Courier New" pitchFamily="34" charset="-120"/>
              </a:rPr>
              <a:t> + cs) // </a:t>
            </a:r>
            <a:r>
              <a:rPr lang="en-US" sz="920" dirty="0">
                <a:solidFill>
                  <a:srgbClr val="FFD28A"/>
                </a:solidFill>
                <a:latin typeface="Courier New" pitchFamily="34" charset="0"/>
                <a:ea typeface="Courier New" pitchFamily="34" charset="-122"/>
                <a:cs typeface="Courier New" pitchFamily="34" charset="-120"/>
              </a:rPr>
              <a:t>11</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(128, 4, 12)</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(tcs, </a:t>
            </a:r>
            <a:r>
              <a:rPr lang="en-US" sz="920" dirty="0">
                <a:solidFill>
                  <a:srgbClr val="FFD28A"/>
                </a:solidFill>
                <a:latin typeface="Courier New" pitchFamily="34" charset="0"/>
                <a:ea typeface="Courier New" pitchFamily="34" charset="-122"/>
                <a:cs typeface="Courier New" pitchFamily="34" charset="-120"/>
              </a:rPr>
              <a:t>1</a:t>
            </a:r>
            <a:r>
              <a:rPr lang="en-US" sz="920" dirty="0">
                <a:solidFill>
                  <a:srgbClr val="E6EDF3"/>
                </a:solidFill>
                <a:latin typeface="Courier New" pitchFamily="34" charset="0"/>
                <a:ea typeface="Courier New" pitchFamily="34" charset="-122"/>
                <a:cs typeface="Courier New" pitchFamily="34" charset="-120"/>
              </a:rPr>
              <a:t> / </a:t>
            </a:r>
            <a:r>
              <a:rPr lang="en-US" sz="920" dirty="0">
                <a:solidFill>
                  <a:srgbClr val="FFD28A"/>
                </a:solidFill>
                <a:latin typeface="Courier New" pitchFamily="34" charset="0"/>
                <a:ea typeface="Courier New" pitchFamily="34" charset="-122"/>
                <a:cs typeface="Courier New" pitchFamily="34" charset="-120"/>
              </a:rPr>
              <a:t>2</a:t>
            </a:r>
            <a:r>
              <a:rPr lang="en-US" sz="920" dirty="0">
                <a:solidFill>
                  <a:srgbClr val="E6EDF3"/>
                </a:solidFill>
                <a:latin typeface="Courier New" pitchFamily="34" charset="0"/>
                <a:ea typeface="Courier New" pitchFamily="34" charset="-122"/>
                <a:cs typeface="Courier New" pitchFamily="34" charset="-120"/>
              </a:rPr>
              <a:t> ** tcs)</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(4, 0.0625)</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L.bip39_seed(v[</a:t>
            </a:r>
            <a:r>
              <a:rPr lang="en-US" sz="920" dirty="0">
                <a:solidFill>
                  <a:srgbClr val="FFD28A"/>
                </a:solidFill>
                <a:latin typeface="Courier New" pitchFamily="34" charset="0"/>
                <a:ea typeface="Courier New" pitchFamily="34" charset="-122"/>
                <a:cs typeface="Courier New" pitchFamily="34" charset="-120"/>
              </a:rPr>
              <a:t>1</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9ECBFF"/>
                </a:solidFill>
                <a:latin typeface="Courier New" pitchFamily="34" charset="0"/>
                <a:ea typeface="Courier New" pitchFamily="34" charset="-122"/>
                <a:cs typeface="Courier New" pitchFamily="34" charset="-120"/>
              </a:rPr>
              <a:t>'TREZOR'</a:t>
            </a:r>
            <a:r>
              <a:rPr lang="en-US" sz="920" dirty="0">
                <a:solidFill>
                  <a:srgbClr val="E6EDF3"/>
                </a:solidFill>
                <a:latin typeface="Courier New" pitchFamily="34" charset="0"/>
                <a:ea typeface="Courier New" pitchFamily="34" charset="-122"/>
                <a:cs typeface="Courier New" pitchFamily="34" charset="-120"/>
              </a:rPr>
              <a:t>).hex() == v[</a:t>
            </a:r>
            <a:r>
              <a:rPr lang="en-US" sz="920" dirty="0">
                <a:solidFill>
                  <a:srgbClr val="FFD28A"/>
                </a:solidFill>
                <a:latin typeface="Courier New" pitchFamily="34" charset="0"/>
                <a:ea typeface="Courier New" pitchFamily="34" charset="-122"/>
                <a:cs typeface="Courier New" pitchFamily="34" charset="-120"/>
              </a:rPr>
              <a:t>2</a:t>
            </a:r>
            <a:r>
              <a:rPr lang="en-US" sz="920" dirty="0">
                <a:solidFill>
                  <a:srgbClr val="E6EDF3"/>
                </a:solidFill>
                <a:latin typeface="Courier New" pitchFamily="34" charset="0"/>
                <a:ea typeface="Courier New" pitchFamily="34" charset="-122"/>
                <a:cs typeface="Courier New" pitchFamily="34" charset="-120"/>
              </a:rPr>
              <a:t>], L.bip39_seed(v[</a:t>
            </a:r>
            <a:r>
              <a:rPr lang="en-US" sz="920" dirty="0">
                <a:solidFill>
                  <a:srgbClr val="FFD28A"/>
                </a:solidFill>
                <a:latin typeface="Courier New" pitchFamily="34" charset="0"/>
                <a:ea typeface="Courier New" pitchFamily="34" charset="-122"/>
                <a:cs typeface="Courier New" pitchFamily="34" charset="-120"/>
              </a:rPr>
              <a:t>1</a:t>
            </a:r>
            <a:r>
              <a:rPr lang="en-US" sz="920" dirty="0">
                <a:solidFill>
                  <a:srgbClr val="E6EDF3"/>
                </a:solidFill>
                <a:latin typeface="Courier New" pitchFamily="34" charset="0"/>
                <a:ea typeface="Courier New" pitchFamily="34" charset="-122"/>
                <a:cs typeface="Courier New" pitchFamily="34" charset="-120"/>
              </a:rPr>
              <a:t>]).hex()[:</a:t>
            </a:r>
            <a:r>
              <a:rPr lang="en-US" sz="920" dirty="0">
                <a:solidFill>
                  <a:srgbClr val="FFD28A"/>
                </a:solidFill>
                <a:latin typeface="Courier New" pitchFamily="34" charset="0"/>
                <a:ea typeface="Courier New" pitchFamily="34" charset="-122"/>
                <a:cs typeface="Courier New" pitchFamily="34" charset="-120"/>
              </a:rPr>
              <a:t>16</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(True, '5eb00bbddcf06908')</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sum(seen(f, </a:t>
            </a:r>
            <a:r>
              <a:rPr lang="en-US" sz="920" dirty="0">
                <a:solidFill>
                  <a:srgbClr val="9ECBFF"/>
                </a:solidFill>
                <a:latin typeface="Courier New" pitchFamily="34" charset="0"/>
                <a:ea typeface="Courier New" pitchFamily="34" charset="-122"/>
                <a:cs typeface="Courier New" pitchFamily="34" charset="-120"/>
              </a:rPr>
              <a:t>'mnemonic'</a:t>
            </a:r>
            <a:r>
              <a:rPr lang="en-US" sz="920" dirty="0">
                <a:solidFill>
                  <a:srgbClr val="E6EDF3"/>
                </a:solidFill>
                <a:latin typeface="Courier New" pitchFamily="34" charset="0"/>
                <a:ea typeface="Courier New" pitchFamily="34" charset="-122"/>
                <a:cs typeface="Courier New" pitchFamily="34" charset="-120"/>
              </a:rPr>
              <a:t>) </a:t>
            </a:r>
            <a:r>
              <a:rPr lang="en-US" sz="920" b="1" dirty="0">
                <a:solidFill>
                  <a:srgbClr val="F2A860"/>
                </a:solidFill>
                <a:latin typeface="Courier New" pitchFamily="34" charset="0"/>
                <a:ea typeface="Courier New" pitchFamily="34" charset="-122"/>
                <a:cs typeface="Courier New" pitchFamily="34" charset="-120"/>
              </a:rPr>
              <a:t>for</a:t>
            </a:r>
            <a:r>
              <a:rPr lang="en-US" sz="920" dirty="0">
                <a:solidFill>
                  <a:srgbClr val="E6EDF3"/>
                </a:solidFill>
                <a:latin typeface="Courier New" pitchFamily="34" charset="0"/>
                <a:ea typeface="Courier New" pitchFamily="34" charset="-122"/>
                <a:cs typeface="Courier New" pitchFamily="34" charset="-120"/>
              </a:rPr>
              <a:t> f </a:t>
            </a:r>
            <a:r>
              <a:rPr lang="en-US" sz="920" b="1" dirty="0">
                <a:solidFill>
                  <a:srgbClr val="F2A860"/>
                </a:solidFill>
                <a:latin typeface="Courier New" pitchFamily="34" charset="0"/>
                <a:ea typeface="Courier New" pitchFamily="34" charset="-122"/>
                <a:cs typeface="Courier New" pitchFamily="34" charset="-120"/>
              </a:rPr>
              <a:t>in</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9ECBFF"/>
                </a:solidFill>
                <a:latin typeface="Courier New" pitchFamily="34" charset="0"/>
                <a:ea typeface="Courier New" pitchFamily="34" charset="-122"/>
                <a:cs typeface="Courier New" pitchFamily="34" charset="-120"/>
              </a:rPr>
              <a:t>'core_doc_descriptors.md'</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9ECBFF"/>
                </a:solidFill>
                <a:latin typeface="Courier New" pitchFamily="34" charset="0"/>
                <a:ea typeface="Courier New" pitchFamily="34" charset="-122"/>
                <a:cs typeface="Courier New" pitchFamily="34" charset="-120"/>
              </a:rPr>
              <a:t>'bitcoind_help_31.1.txt'</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0</a:t>
            </a:r>
            <a:endParaRPr lang="en-US" sz="920" dirty="0"/>
          </a:p>
        </p:txBody>
      </p:sp>
      <p:sp>
        <p:nvSpPr>
          <p:cNvPr id="9" name="Text 7"/>
          <p:cNvSpPr txBox="1"/>
          <p:nvPr/>
        </p:nvSpPr>
        <p:spPr>
          <a:xfrm>
            <a:off x="457200" y="363016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929634"/>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913632"/>
            <a:ext cx="7955280" cy="16002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Rows 2, 4, 5: 16 bytes make 12 words with a 4-bit checksum; a random wrong phrase still passes 1 time in 16</a:t>
            </a:r>
            <a:endParaRPr lang="en-US" sz="950" dirty="0"/>
          </a:p>
        </p:txBody>
      </p:sp>
      <p:sp>
        <p:nvSpPr>
          <p:cNvPr id="12" name="Shape 10"/>
          <p:cNvSpPr/>
          <p:nvPr/>
        </p:nvSpPr>
        <p:spPr>
          <a:xfrm>
            <a:off x="457200" y="4089654"/>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4073652"/>
            <a:ext cx="7955280" cy="16002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Row 6: 2048 rounds with the passphrase TREZOR give the published seed (True); with none the seed starts 5eb00bbd</a:t>
            </a:r>
            <a:endParaRPr lang="en-US" sz="950" dirty="0"/>
          </a:p>
        </p:txBody>
      </p:sp>
      <p:sp>
        <p:nvSpPr>
          <p:cNvPr id="14" name="Shape 12"/>
          <p:cNvSpPr/>
          <p:nvPr/>
        </p:nvSpPr>
        <p:spPr>
          <a:xfrm>
            <a:off x="457200" y="4249674"/>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4233672"/>
            <a:ext cx="7955280" cy="16002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Row 7: no mention of a mnemonic in Core's descriptors document or help: Core keeps descriptors, not words</a:t>
            </a:r>
            <a:endParaRPr lang="en-US" sz="950" dirty="0"/>
          </a:p>
        </p:txBody>
      </p:sp>
      <p:sp>
        <p:nvSpPr>
          <p:cNvPr id="16" name="Shape 14"/>
          <p:cNvSpPr/>
          <p:nvPr/>
        </p:nvSpPr>
        <p:spPr>
          <a:xfrm>
            <a:off x="457200" y="4409694"/>
            <a:ext cx="128016" cy="128016"/>
          </a:xfrm>
          <a:prstGeom prst="diamond">
            <a:avLst/>
          </a:prstGeom>
          <a:solidFill>
            <a:srgbClr val="D97A14"/>
          </a:solidFill>
          <a:ln w="12700">
            <a:solidFill>
              <a:srgbClr val="D97A14"/>
            </a:solidFill>
            <a:prstDash val="solid"/>
          </a:ln>
        </p:spPr>
      </p:sp>
      <p:sp>
        <p:nvSpPr>
          <p:cNvPr id="17" name="Text 15"/>
          <p:cNvSpPr txBox="1"/>
          <p:nvPr/>
        </p:nvSpPr>
        <p:spPr>
          <a:xfrm>
            <a:off x="731520" y="4393692"/>
            <a:ext cx="7955280" cy="16002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NOT EXECUTED: recovery of a BIP 39 phrase in Bitcoin Core; Core has no such import.</a:t>
            </a:r>
            <a:endParaRPr lang="en-US" sz="95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Twelve words with a checksum rebuild every key; Core itself keeps descriptors</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26</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little box that learned to wait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14 June 2024: who, where, when and what to read next</a:t>
            </a:r>
            <a:endParaRPr lang="en-US" sz="1300" dirty="0"/>
          </a:p>
        </p:txBody>
      </p:sp>
      <p:pic>
        <p:nvPicPr>
          <p:cNvPr id="6" name="Image 0" descr="../../03-materials/ch13/assets/trezor_model_t.png">    </p:cNvPr>
          <p:cNvPicPr>
            <a:picLocks noChangeAspect="1"/>
          </p:cNvPicPr>
          <p:nvPr/>
        </p:nvPicPr>
        <p:blipFill>
          <a:blip r:embed="rId1"/>
          <a:srcRect l="0" r="0" t="0" b="0"/>
          <a:stretch/>
        </p:blipFill>
        <p:spPr>
          <a:xfrm>
            <a:off x="457200" y="1280160"/>
            <a:ext cx="2651760" cy="2240280"/>
          </a:xfrm>
          <a:prstGeom prst="rect">
            <a:avLst/>
          </a:prstGeom>
        </p:spPr>
      </p:pic>
      <p:sp>
        <p:nvSpPr>
          <p:cNvPr id="7" name="Text 4"/>
          <p:cNvSpPr txBox="1"/>
          <p:nvPr/>
        </p:nvSpPr>
        <p:spPr>
          <a:xfrm>
            <a:off x="457200" y="35387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Trezor Model T - FlippyFlink, CC0 1.0, Wikimedia Commons</a:t>
            </a:r>
            <a:endParaRPr lang="en-US" sz="900" dirty="0"/>
          </a:p>
        </p:txBody>
      </p:sp>
      <p:sp>
        <p:nvSpPr>
          <p:cNvPr id="8" name="Shape 5"/>
          <p:cNvSpPr/>
          <p:nvPr/>
        </p:nvSpPr>
        <p:spPr>
          <a:xfrm>
            <a:off x="3291840" y="13990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566160" y="128016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 14 June 2024 SatoshiLabs announces the Trezor Safe 5 at BTC Prague, with an EAL 6+ secure element (row 3)</a:t>
            </a:r>
            <a:endParaRPr lang="en-US" sz="1050" dirty="0"/>
          </a:p>
        </p:txBody>
      </p:sp>
      <p:sp>
        <p:nvSpPr>
          <p:cNvPr id="10" name="Shape 7"/>
          <p:cNvSpPr/>
          <p:nvPr/>
        </p:nvSpPr>
        <p:spPr>
          <a:xfrm>
            <a:off x="3291840" y="17647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566160" y="164592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 wrong PIN costs more waiting each time: 1, 2, 4 ... seconds, 32,767 in all (row 2)</a:t>
            </a:r>
            <a:endParaRPr lang="en-US" sz="1050" dirty="0"/>
          </a:p>
        </p:txBody>
      </p:sp>
      <p:sp>
        <p:nvSpPr>
          <p:cNvPr id="12" name="Shape 9"/>
          <p:cNvSpPr/>
          <p:nvPr/>
        </p:nvSpPr>
        <p:spPr>
          <a:xfrm>
            <a:off x="3291840" y="2130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566160" y="201168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After 16 wrong PINs the device wipes itself; the Wiki lists the Trezor first among commercial hardware wallets</a:t>
            </a:r>
            <a:endParaRPr lang="en-US" sz="1050" dirty="0"/>
          </a:p>
        </p:txBody>
      </p:sp>
      <p:sp>
        <p:nvSpPr>
          <p:cNvPr id="14" name="Text 11"/>
          <p:cNvSpPr txBox="1"/>
          <p:nvPr/>
        </p:nvSpPr>
        <p:spPr>
          <a:xfrm>
            <a:off x="3291840" y="2468880"/>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the Bitcoin Wiki page on the Trezor, saved on 2026-10-15</a:t>
            </a:r>
            <a:endParaRPr lang="en-US" sz="1150" dirty="0"/>
          </a:p>
        </p:txBody>
      </p:sp>
      <p:sp>
        <p:nvSpPr>
          <p:cNvPr id="15" name="Shape 12"/>
          <p:cNvSpPr/>
          <p:nvPr/>
        </p:nvSpPr>
        <p:spPr>
          <a:xfrm>
            <a:off x="3291840" y="2743200"/>
            <a:ext cx="5394960" cy="1261872"/>
          </a:xfrm>
          <a:prstGeom prst="roundRect">
            <a:avLst>
              <a:gd name="adj" fmla="val 7246"/>
            </a:avLst>
          </a:prstGeom>
          <a:solidFill>
            <a:srgbClr val="23272E"/>
          </a:solidFill>
          <a:ln w="12700">
            <a:solidFill>
              <a:srgbClr val="23272E"/>
            </a:solidFill>
            <a:prstDash val="solid"/>
          </a:ln>
        </p:spPr>
      </p:sp>
      <p:sp>
        <p:nvSpPr>
          <p:cNvPr id="16" name="Text 13"/>
          <p:cNvSpPr txBox="1"/>
          <p:nvPr/>
        </p:nvSpPr>
        <p:spPr>
          <a:xfrm>
            <a:off x="3474720" y="2862072"/>
            <a:ext cx="5029200" cy="1024128"/>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w = [</a:t>
            </a:r>
            <a:r>
              <a:rPr lang="en-US" sz="900" dirty="0">
                <a:solidFill>
                  <a:srgbClr val="FFD28A"/>
                </a:solidFill>
                <a:latin typeface="Courier New" pitchFamily="34" charset="0"/>
                <a:ea typeface="Courier New" pitchFamily="34" charset="-122"/>
                <a:cs typeface="Courier New" pitchFamily="34" charset="-120"/>
              </a:rPr>
              <a:t>2</a:t>
            </a:r>
            <a:r>
              <a:rPr lang="en-US" sz="900" dirty="0">
                <a:solidFill>
                  <a:srgbClr val="E6EDF3"/>
                </a:solidFill>
                <a:latin typeface="Courier New" pitchFamily="34" charset="0"/>
                <a:ea typeface="Courier New" pitchFamily="34" charset="-122"/>
                <a:cs typeface="Courier New" pitchFamily="34" charset="-120"/>
              </a:rPr>
              <a:t> ** k </a:t>
            </a:r>
            <a:r>
              <a:rPr lang="en-US" sz="900" b="1" dirty="0">
                <a:solidFill>
                  <a:srgbClr val="F2A860"/>
                </a:solidFill>
                <a:latin typeface="Courier New" pitchFamily="34" charset="0"/>
                <a:ea typeface="Courier New" pitchFamily="34" charset="-122"/>
                <a:cs typeface="Courier New" pitchFamily="34" charset="-120"/>
              </a:rPr>
              <a:t>for</a:t>
            </a:r>
            <a:r>
              <a:rPr lang="en-US" sz="900" dirty="0">
                <a:solidFill>
                  <a:srgbClr val="E6EDF3"/>
                </a:solidFill>
                <a:latin typeface="Courier New" pitchFamily="34" charset="0"/>
                <a:ea typeface="Courier New" pitchFamily="34" charset="-122"/>
                <a:cs typeface="Courier New" pitchFamily="34" charset="-120"/>
              </a:rPr>
              <a:t> k </a:t>
            </a:r>
            <a:r>
              <a:rPr lang="en-US" sz="900" b="1" dirty="0">
                <a:solidFill>
                  <a:srgbClr val="F2A860"/>
                </a:solidFill>
                <a:latin typeface="Courier New" pitchFamily="34" charset="0"/>
                <a:ea typeface="Courier New" pitchFamily="34" charset="-122"/>
                <a:cs typeface="Courier New" pitchFamily="34" charset="-120"/>
              </a:rPr>
              <a:t>in</a:t>
            </a:r>
            <a:r>
              <a:rPr lang="en-US" sz="900" dirty="0">
                <a:solidFill>
                  <a:srgbClr val="E6EDF3"/>
                </a:solidFill>
                <a:latin typeface="Courier New" pitchFamily="34" charset="0"/>
                <a:ea typeface="Courier New" pitchFamily="34" charset="-122"/>
                <a:cs typeface="Courier New" pitchFamily="34" charset="-120"/>
              </a:rPr>
              <a:t> range(</a:t>
            </a:r>
            <a:r>
              <a:rPr lang="en-US" sz="900" dirty="0">
                <a:solidFill>
                  <a:srgbClr val="FFD28A"/>
                </a:solidFill>
                <a:latin typeface="Courier New" pitchFamily="34" charset="0"/>
                <a:ea typeface="Courier New" pitchFamily="34" charset="-122"/>
                <a:cs typeface="Courier New" pitchFamily="34" charset="-120"/>
              </a:rPr>
              <a:t>15</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sum(w), round(sum(w) / </a:t>
            </a:r>
            <a:r>
              <a:rPr lang="en-US" sz="900" dirty="0">
                <a:solidFill>
                  <a:srgbClr val="FFD28A"/>
                </a:solidFill>
                <a:latin typeface="Courier New" pitchFamily="34" charset="0"/>
                <a:ea typeface="Courier New" pitchFamily="34" charset="-122"/>
                <a:cs typeface="Courier New" pitchFamily="34" charset="-120"/>
              </a:rPr>
              <a:t>3600</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1</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(32767, 9.1)</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seen(</a:t>
            </a:r>
            <a:r>
              <a:rPr lang="en-US" sz="900" dirty="0">
                <a:solidFill>
                  <a:srgbClr val="9ECBFF"/>
                </a:solidFill>
                <a:latin typeface="Courier New" pitchFamily="34" charset="0"/>
                <a:ea typeface="Courier New" pitchFamily="34" charset="-122"/>
                <a:cs typeface="Courier New" pitchFamily="34" charset="-120"/>
              </a:rPr>
              <a:t>'bitcoinwiki_trezor.txt'</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9ECBFF"/>
                </a:solidFill>
                <a:latin typeface="Courier New" pitchFamily="34" charset="0"/>
                <a:ea typeface="Courier New" pitchFamily="34" charset="-122"/>
                <a:cs typeface="Courier New" pitchFamily="34" charset="-120"/>
              </a:rPr>
              <a:t>'an EAL 6+ secure element'</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a:t>
            </a:r>
            <a:endParaRPr lang="en-US" sz="900" dirty="0"/>
          </a:p>
        </p:txBody>
      </p:sp>
      <p:sp>
        <p:nvSpPr>
          <p:cNvPr id="17" name="Text 14"/>
          <p:cNvSpPr txBox="1"/>
          <p:nvPr/>
        </p:nvSpPr>
        <p:spPr>
          <a:xfrm>
            <a:off x="3291840" y="402336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1896100"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1749796"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SatoshiLabs, the company be…</a:t>
            </a:r>
            <a:endParaRPr lang="en-US" sz="750" dirty="0"/>
          </a:p>
        </p:txBody>
      </p:sp>
      <p:sp>
        <p:nvSpPr>
          <p:cNvPr id="20" name="Shape 17"/>
          <p:cNvSpPr/>
          <p:nvPr/>
        </p:nvSpPr>
        <p:spPr>
          <a:xfrm>
            <a:off x="2463028" y="4224528"/>
            <a:ext cx="1817096"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2554468" y="4224528"/>
            <a:ext cx="1670792"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BTC Prague, and the Bitcoi…</a:t>
            </a:r>
            <a:endParaRPr lang="en-US" sz="750" dirty="0"/>
          </a:p>
        </p:txBody>
      </p:sp>
      <p:sp>
        <p:nvSpPr>
          <p:cNvPr id="22" name="Shape 19"/>
          <p:cNvSpPr/>
          <p:nvPr/>
        </p:nvSpPr>
        <p:spPr>
          <a:xfrm>
            <a:off x="4389852" y="4224528"/>
            <a:ext cx="1027054"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4481292" y="4224528"/>
            <a:ext cx="880750"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2024-06-14</a:t>
            </a:r>
            <a:endParaRPr lang="en-US" sz="750" dirty="0"/>
          </a:p>
        </p:txBody>
      </p:sp>
      <p:sp>
        <p:nvSpPr>
          <p:cNvPr id="24" name="Shape 21"/>
          <p:cNvSpPr/>
          <p:nvPr/>
        </p:nvSpPr>
        <p:spPr>
          <a:xfrm>
            <a:off x="5526634" y="4224528"/>
            <a:ext cx="3160166"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5618074" y="422452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Bitcoin Wiki: Trezor (article)</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en.bitcoin.it</a:t>
            </a:r>
            <a:endParaRPr lang="en-US" sz="750" dirty="0"/>
          </a:p>
        </p:txBody>
      </p:sp>
      <p:sp>
        <p:nvSpPr>
          <p:cNvPr id="26" name="Text 23"/>
          <p:cNvSpPr txBox="1"/>
          <p:nvPr/>
        </p:nvSpPr>
        <p:spPr>
          <a:xfrm>
            <a:off x="457200" y="3858768"/>
            <a:ext cx="2651760" cy="329184"/>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Stand-in picture: a Trezor Model T, not the Safe 5.</a:t>
            </a:r>
            <a:endParaRPr lang="en-US" sz="90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26</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coin with a private key under a sticker</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26 November 2013: who, where, when and what to read next</a:t>
            </a:r>
            <a:endParaRPr lang="en-US" sz="1300" dirty="0"/>
          </a:p>
        </p:txBody>
      </p:sp>
      <p:pic>
        <p:nvPicPr>
          <p:cNvPr id="6" name="Image 0" descr="../../03-materials/ch13/assets/casascius_hologram.png">    </p:cNvPr>
          <p:cNvPicPr>
            <a:picLocks noChangeAspect="1"/>
          </p:cNvPicPr>
          <p:nvPr/>
        </p:nvPicPr>
        <p:blipFill>
          <a:blip r:embed="rId1"/>
          <a:srcRect l="0" r="0" t="0" b="0"/>
          <a:stretch/>
        </p:blipFill>
        <p:spPr>
          <a:xfrm>
            <a:off x="457200" y="1280160"/>
            <a:ext cx="2651760" cy="2240280"/>
          </a:xfrm>
          <a:prstGeom prst="rect">
            <a:avLst/>
          </a:prstGeom>
        </p:spPr>
      </p:pic>
      <p:sp>
        <p:nvSpPr>
          <p:cNvPr id="7" name="Text 4"/>
          <p:cNvSpPr txBox="1"/>
          <p:nvPr/>
        </p:nvSpPr>
        <p:spPr>
          <a:xfrm>
            <a:off x="457200" y="35387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Casascius hologram close-up - BTC Keychain, CC BY 2.0, Flickr</a:t>
            </a:r>
            <a:endParaRPr lang="en-US" sz="900" dirty="0"/>
          </a:p>
        </p:txBody>
      </p:sp>
      <p:sp>
        <p:nvSpPr>
          <p:cNvPr id="8" name="Shape 5"/>
          <p:cNvSpPr/>
          <p:nvPr/>
        </p:nvSpPr>
        <p:spPr>
          <a:xfrm>
            <a:off x="3291840" y="13990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566160" y="128016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Mike Caldwell of Sandy, Utah, sold Casascius coins with a private key under a hologram, until 26 November 2013 (row 2)</a:t>
            </a:r>
            <a:endParaRPr lang="en-US" sz="1050" dirty="0"/>
          </a:p>
        </p:txBody>
      </p:sp>
      <p:sp>
        <p:nvSpPr>
          <p:cNvPr id="10" name="Shape 7"/>
          <p:cNvSpPr/>
          <p:nvPr/>
        </p:nvSpPr>
        <p:spPr>
          <a:xfrm>
            <a:off x="3291840" y="17647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566160" y="164592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They came in 1, 10, 25, 100 and 1000 BTC; the hologram shows if anyone peeled it, not who (row 2)</a:t>
            </a:r>
            <a:endParaRPr lang="en-US" sz="1050" dirty="0"/>
          </a:p>
        </p:txBody>
      </p:sp>
      <p:sp>
        <p:nvSpPr>
          <p:cNvPr id="12" name="Shape 9"/>
          <p:cNvSpPr/>
          <p:nvPr/>
        </p:nvSpPr>
        <p:spPr>
          <a:xfrm>
            <a:off x="3291840" y="2130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566160" y="201168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FinCEN told him that minting physical bitcoins made him a money transmitter (row 3)</a:t>
            </a:r>
            <a:endParaRPr lang="en-US" sz="1050" dirty="0"/>
          </a:p>
        </p:txBody>
      </p:sp>
      <p:sp>
        <p:nvSpPr>
          <p:cNvPr id="14" name="Text 11"/>
          <p:cNvSpPr txBox="1"/>
          <p:nvPr/>
        </p:nvSpPr>
        <p:spPr>
          <a:xfrm>
            <a:off x="3291840" y="2468880"/>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the Bitcoin Wiki page on Casascius, saved on 2026-10-15</a:t>
            </a:r>
            <a:endParaRPr lang="en-US" sz="1150" dirty="0"/>
          </a:p>
        </p:txBody>
      </p:sp>
      <p:sp>
        <p:nvSpPr>
          <p:cNvPr id="15" name="Shape 12"/>
          <p:cNvSpPr/>
          <p:nvPr/>
        </p:nvSpPr>
        <p:spPr>
          <a:xfrm>
            <a:off x="3291840" y="2743200"/>
            <a:ext cx="5394960" cy="1261872"/>
          </a:xfrm>
          <a:prstGeom prst="roundRect">
            <a:avLst>
              <a:gd name="adj" fmla="val 7246"/>
            </a:avLst>
          </a:prstGeom>
          <a:solidFill>
            <a:srgbClr val="23272E"/>
          </a:solidFill>
          <a:ln w="12700">
            <a:solidFill>
              <a:srgbClr val="23272E"/>
            </a:solidFill>
            <a:prstDash val="solid"/>
          </a:ln>
        </p:spPr>
      </p:sp>
      <p:sp>
        <p:nvSpPr>
          <p:cNvPr id="16" name="Text 13"/>
          <p:cNvSpPr txBox="1"/>
          <p:nvPr/>
        </p:nvSpPr>
        <p:spPr>
          <a:xfrm>
            <a:off x="3474720" y="2862072"/>
            <a:ext cx="5029200" cy="1024128"/>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t = </a:t>
            </a:r>
            <a:r>
              <a:rPr lang="en-US" sz="900" dirty="0">
                <a:solidFill>
                  <a:srgbClr val="9ECBFF"/>
                </a:solidFill>
                <a:latin typeface="Courier New" pitchFamily="34" charset="0"/>
                <a:ea typeface="Courier New" pitchFamily="34" charset="-122"/>
                <a:cs typeface="Courier New" pitchFamily="34" charset="-120"/>
              </a:rPr>
              <a:t>'bitcoinwiki_casascius.txt'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seen(t, </a:t>
            </a:r>
            <a:r>
              <a:rPr lang="en-US" sz="900" dirty="0">
                <a:solidFill>
                  <a:srgbClr val="9ECBFF"/>
                </a:solidFill>
                <a:latin typeface="Courier New" pitchFamily="34" charset="0"/>
                <a:ea typeface="Courier New" pitchFamily="34" charset="-122"/>
                <a:cs typeface="Courier New" pitchFamily="34" charset="-120"/>
              </a:rPr>
              <a:t>'sold until Nov 26, 2013'</a:t>
            </a:r>
            <a:r>
              <a:rPr lang="en-US" sz="900" dirty="0">
                <a:solidFill>
                  <a:srgbClr val="E6EDF3"/>
                </a:solidFill>
                <a:latin typeface="Courier New" pitchFamily="34" charset="0"/>
                <a:ea typeface="Courier New" pitchFamily="34" charset="-122"/>
                <a:cs typeface="Courier New" pitchFamily="34" charset="-120"/>
              </a:rPr>
              <a:t>), seen(t, </a:t>
            </a:r>
            <a:r>
              <a:rPr lang="en-US" sz="900" dirty="0">
                <a:solidFill>
                  <a:srgbClr val="9ECBFF"/>
                </a:solidFill>
                <a:latin typeface="Courier New" pitchFamily="34" charset="0"/>
                <a:ea typeface="Courier New" pitchFamily="34" charset="-122"/>
                <a:cs typeface="Courier New" pitchFamily="34" charset="-120"/>
              </a:rPr>
              <a:t>'1000 BTC increments'</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 True)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seen(t, </a:t>
            </a:r>
            <a:r>
              <a:rPr lang="en-US" sz="900" dirty="0">
                <a:solidFill>
                  <a:srgbClr val="9ECBFF"/>
                </a:solidFill>
                <a:latin typeface="Courier New" pitchFamily="34" charset="0"/>
                <a:ea typeface="Courier New" pitchFamily="34" charset="-122"/>
                <a:cs typeface="Courier New" pitchFamily="34" charset="-120"/>
              </a:rPr>
              <a:t>'qualifies him as a money transmitter'</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a:t>
            </a:r>
            <a:endParaRPr lang="en-US" sz="900" dirty="0"/>
          </a:p>
        </p:txBody>
      </p:sp>
      <p:sp>
        <p:nvSpPr>
          <p:cNvPr id="17" name="Text 14"/>
          <p:cNvSpPr txBox="1"/>
          <p:nvPr/>
        </p:nvSpPr>
        <p:spPr>
          <a:xfrm>
            <a:off x="3291840" y="402336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1896100"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1749796"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Mike Caldwell, the maker of…</a:t>
            </a:r>
            <a:endParaRPr lang="en-US" sz="750" dirty="0"/>
          </a:p>
        </p:txBody>
      </p:sp>
      <p:sp>
        <p:nvSpPr>
          <p:cNvPr id="20" name="Shape 17"/>
          <p:cNvSpPr/>
          <p:nvPr/>
        </p:nvSpPr>
        <p:spPr>
          <a:xfrm>
            <a:off x="2463028" y="4224528"/>
            <a:ext cx="1817096"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2554468" y="4224528"/>
            <a:ext cx="1670792"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Sandy, Utah, USA, and the …</a:t>
            </a:r>
            <a:endParaRPr lang="en-US" sz="750" dirty="0"/>
          </a:p>
        </p:txBody>
      </p:sp>
      <p:sp>
        <p:nvSpPr>
          <p:cNvPr id="22" name="Shape 19"/>
          <p:cNvSpPr/>
          <p:nvPr/>
        </p:nvSpPr>
        <p:spPr>
          <a:xfrm>
            <a:off x="4389852" y="4224528"/>
            <a:ext cx="1027054"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4481292" y="4224528"/>
            <a:ext cx="880750"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2013-11-26</a:t>
            </a:r>
            <a:endParaRPr lang="en-US" sz="750" dirty="0"/>
          </a:p>
        </p:txBody>
      </p:sp>
      <p:sp>
        <p:nvSpPr>
          <p:cNvPr id="24" name="Shape 21"/>
          <p:cNvSpPr/>
          <p:nvPr/>
        </p:nvSpPr>
        <p:spPr>
          <a:xfrm>
            <a:off x="5526634" y="4224528"/>
            <a:ext cx="3160166"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5618074" y="422452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85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Bitcoin Wiki: Casascius physical bitcoins</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en.bitcoin.it</a:t>
            </a:r>
            <a:endParaRPr lang="en-US" sz="750" dirty="0"/>
          </a:p>
        </p:txBody>
      </p:sp>
      <p:sp>
        <p:nvSpPr>
          <p:cNvPr id="26" name="Text 23"/>
          <p:cNvSpPr txBox="1"/>
          <p:nvPr/>
        </p:nvSpPr>
        <p:spPr>
          <a:xfrm>
            <a:off x="457200" y="3858768"/>
            <a:ext cx="2651760" cy="329184"/>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Stand-in picture: a hologram close-up, not the coin.</a:t>
            </a:r>
            <a:endParaRPr lang="en-US" sz="90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26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Surviving loss and theft</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Several keys, a delayed heir and shared secrets, and what custody costs.</a:t>
            </a:r>
            <a:endParaRPr lang="en-US" sz="1500" dirty="0"/>
          </a:p>
        </p:txBody>
      </p:sp>
      <p:sp>
        <p:nvSpPr>
          <p:cNvPr id="6" name="Shape 4"/>
          <p:cNvSpPr/>
          <p:nvPr/>
        </p:nvSpPr>
        <p:spPr>
          <a:xfrm>
            <a:off x="777240" y="2697480"/>
            <a:ext cx="1856232"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Two of three keys</a:t>
            </a:r>
            <a:endParaRPr lang="en-US" sz="1400" dirty="0"/>
          </a:p>
        </p:txBody>
      </p:sp>
      <p:sp>
        <p:nvSpPr>
          <p:cNvPr id="8" name="Shape 6"/>
          <p:cNvSpPr/>
          <p:nvPr/>
        </p:nvSpPr>
        <p:spPr>
          <a:xfrm>
            <a:off x="2779776" y="2697480"/>
            <a:ext cx="1856232"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2852928" y="2743200"/>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odds</a:t>
            </a:r>
            <a:endParaRPr lang="en-US" sz="1400" dirty="0"/>
          </a:p>
        </p:txBody>
      </p:sp>
      <p:sp>
        <p:nvSpPr>
          <p:cNvPr id="10" name="Shape 8"/>
          <p:cNvSpPr/>
          <p:nvPr/>
        </p:nvSpPr>
        <p:spPr>
          <a:xfrm>
            <a:off x="4782312" y="2697480"/>
            <a:ext cx="1856232"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4855464" y="2743200"/>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 heir who waits</a:t>
            </a:r>
            <a:endParaRPr lang="en-US" sz="1400" dirty="0"/>
          </a:p>
        </p:txBody>
      </p:sp>
      <p:sp>
        <p:nvSpPr>
          <p:cNvPr id="12" name="Shape 10"/>
          <p:cNvSpPr/>
          <p:nvPr/>
        </p:nvSpPr>
        <p:spPr>
          <a:xfrm>
            <a:off x="6784848" y="2697480"/>
            <a:ext cx="1856232"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6858000" y="2743200"/>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Shared secrets</a:t>
            </a:r>
            <a:endParaRPr lang="en-US" sz="1400" dirty="0"/>
          </a:p>
        </p:txBody>
      </p:sp>
      <p:sp>
        <p:nvSpPr>
          <p:cNvPr id="14" name="Shape 12"/>
          <p:cNvSpPr/>
          <p:nvPr/>
        </p:nvSpPr>
        <p:spPr>
          <a:xfrm>
            <a:off x="777240" y="3630168"/>
            <a:ext cx="1856232" cy="804672"/>
          </a:xfrm>
          <a:prstGeom prst="roundRect">
            <a:avLst>
              <a:gd name="adj" fmla="val 9091"/>
            </a:avLst>
          </a:prstGeom>
          <a:solidFill>
            <a:srgbClr val="2F6D62"/>
          </a:solidFill>
          <a:ln w="12700">
            <a:solidFill>
              <a:srgbClr val="2F6D62"/>
            </a:solidFill>
            <a:prstDash val="solid"/>
          </a:ln>
        </p:spPr>
      </p:sp>
      <p:sp>
        <p:nvSpPr>
          <p:cNvPr id="15" name="Text 13"/>
          <p:cNvSpPr txBox="1"/>
          <p:nvPr/>
        </p:nvSpPr>
        <p:spPr>
          <a:xfrm>
            <a:off x="850392" y="3675888"/>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Two true stories</a:t>
            </a:r>
            <a:endParaRPr lang="en-US" sz="140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26</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Two of three keys sign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safe deposit box that needs two of three keyholders: one lost key is no disaster</a:t>
            </a:r>
            <a:endParaRPr lang="en-US" sz="1300" dirty="0"/>
          </a:p>
        </p:txBody>
      </p:sp>
      <p:sp>
        <p:nvSpPr>
          <p:cNvPr id="6" name="Shape 4"/>
          <p:cNvSpPr/>
          <p:nvPr/>
        </p:nvSpPr>
        <p:spPr>
          <a:xfrm>
            <a:off x="457200" y="1329309"/>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261872"/>
            <a:ext cx="3931920" cy="26289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Row 2: one signature is incomplete, two complete: 146 virtual bytes</a:t>
            </a:r>
            <a:endParaRPr lang="en-US" sz="950" dirty="0"/>
          </a:p>
        </p:txBody>
      </p:sp>
      <p:sp>
        <p:nvSpPr>
          <p:cNvPr id="8" name="Shape 6"/>
          <p:cNvSpPr/>
          <p:nvPr/>
        </p:nvSpPr>
        <p:spPr>
          <a:xfrm>
            <a:off x="457200" y="1592199"/>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524762"/>
            <a:ext cx="3931920" cy="26289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Row 3: lose one key: spendable (True); lose two: not (False)</a:t>
            </a:r>
            <a:endParaRPr lang="en-US" sz="950" dirty="0"/>
          </a:p>
        </p:txBody>
      </p:sp>
      <p:sp>
        <p:nvSpPr>
          <p:cNvPr id="10" name="Shape 8"/>
          <p:cNvSpPr/>
          <p:nvPr/>
        </p:nvSpPr>
        <p:spPr>
          <a:xfrm>
            <a:off x="457200" y="1855089"/>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1787652"/>
            <a:ext cx="3931920" cy="26289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Row 4: one key 110 virtual bytes, 2-of-3 146; sortedmulti True</a:t>
            </a:r>
            <a:endParaRPr lang="en-US" sz="950" dirty="0"/>
          </a:p>
        </p:txBody>
      </p:sp>
      <p:sp>
        <p:nvSpPr>
          <p:cNvPr id="12" name="Shape 10"/>
          <p:cNvSpPr/>
          <p:nvPr/>
        </p:nvSpPr>
        <p:spPr>
          <a:xfrm>
            <a:off x="457200" y="2117979"/>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2050542"/>
            <a:ext cx="3931920" cy="26289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Row 6: by hand: 146 virtual bytes, 1,460 satoshis at 10 each</a:t>
            </a:r>
            <a:endParaRPr lang="en-US" sz="950" dirty="0"/>
          </a:p>
        </p:txBody>
      </p:sp>
      <p:graphicFrame>
        <p:nvGraphicFramePr>
          <p:cNvPr id="14" name="Chart 0" descr=""/>
          <p:cNvGraphicFramePr/>
          <p:nvPr/>
        </p:nvGraphicFramePr>
        <p:xfrm>
          <a:off x="4846320" y="1261872"/>
          <a:ext cx="3840480" cy="1051560"/>
        </p:xfrm>
        <a:graphic xmlns:a="http://schemas.openxmlformats.org/drawingml/2006/main">
          <a:graphicData uri="http://schemas.openxmlformats.org/drawingml/2006/chart">
            <c:chart xmlns:c="http://schemas.openxmlformats.org/drawingml/2006/chart" r:id="rId1"/>
          </a:graphicData>
        </a:graphic>
      </p:graphicFrame>
      <p:sp>
        <p:nvSpPr>
          <p:cNvPr id="15" name="Text 12"/>
          <p:cNvSpPr txBox="1"/>
          <p:nvPr/>
        </p:nvSpPr>
        <p:spPr>
          <a:xfrm>
            <a:off x="457200" y="233172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a:t>
            </a:r>
            <a:endParaRPr lang="en-US" sz="1150" dirty="0"/>
          </a:p>
        </p:txBody>
      </p:sp>
      <p:sp>
        <p:nvSpPr>
          <p:cNvPr id="16" name="Shape 13"/>
          <p:cNvSpPr/>
          <p:nvPr/>
        </p:nvSpPr>
        <p:spPr>
          <a:xfrm>
            <a:off x="457200" y="2606040"/>
            <a:ext cx="8229600" cy="1783080"/>
          </a:xfrm>
          <a:prstGeom prst="roundRect">
            <a:avLst>
              <a:gd name="adj" fmla="val 5128"/>
            </a:avLst>
          </a:prstGeom>
          <a:solidFill>
            <a:srgbClr val="23272E"/>
          </a:solidFill>
          <a:ln w="12700">
            <a:solidFill>
              <a:srgbClr val="23272E"/>
            </a:solidFill>
            <a:prstDash val="solid"/>
          </a:ln>
        </p:spPr>
      </p:sp>
      <p:sp>
        <p:nvSpPr>
          <p:cNvPr id="17" name="Text 14"/>
          <p:cNvSpPr txBox="1"/>
          <p:nvPr/>
        </p:nvSpPr>
        <p:spPr>
          <a:xfrm>
            <a:off x="640080" y="2724912"/>
            <a:ext cx="7863840" cy="1545336"/>
          </a:xfrm>
          <a:prstGeom prst="rect">
            <a:avLst/>
          </a:prstGeom>
          <a:noFill/>
          <a:ln/>
        </p:spPr>
        <p:txBody>
          <a:bodyPr wrap="square" lIns="0" tIns="0" rIns="0" bIns="0" rtlCol="0" anchor="t"/>
          <a:lstStyle/>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s, l, o = R[</a:t>
            </a:r>
            <a:r>
              <a:rPr lang="en-US" sz="910" dirty="0">
                <a:solidFill>
                  <a:srgbClr val="9ECBFF"/>
                </a:solidFill>
                <a:latin typeface="Courier New" pitchFamily="34" charset="0"/>
                <a:ea typeface="Courier New" pitchFamily="34" charset="-122"/>
                <a:cs typeface="Courier New" pitchFamily="34" charset="-120"/>
              </a:rPr>
              <a:t>'b6_sign'</a:t>
            </a:r>
            <a:r>
              <a:rPr lang="en-US" sz="910" dirty="0">
                <a:solidFill>
                  <a:srgbClr val="E6EDF3"/>
                </a:solidFill>
                <a:latin typeface="Courier New" pitchFamily="34" charset="0"/>
                <a:ea typeface="Courier New" pitchFamily="34" charset="-122"/>
                <a:cs typeface="Courier New" pitchFamily="34" charset="-120"/>
              </a:rPr>
              <a:t>], R[</a:t>
            </a:r>
            <a:r>
              <a:rPr lang="en-US" sz="910" dirty="0">
                <a:solidFill>
                  <a:srgbClr val="9ECBFF"/>
                </a:solidFill>
                <a:latin typeface="Courier New" pitchFamily="34" charset="0"/>
                <a:ea typeface="Courier New" pitchFamily="34" charset="-122"/>
                <a:cs typeface="Courier New" pitchFamily="34" charset="-120"/>
              </a:rPr>
              <a:t>'b6_loss'</a:t>
            </a:r>
            <a:r>
              <a:rPr lang="en-US" sz="910" dirty="0">
                <a:solidFill>
                  <a:srgbClr val="E6EDF3"/>
                </a:solidFill>
                <a:latin typeface="Courier New" pitchFamily="34" charset="0"/>
                <a:ea typeface="Courier New" pitchFamily="34" charset="-122"/>
                <a:cs typeface="Courier New" pitchFamily="34" charset="-120"/>
              </a:rPr>
              <a:t>], R[</a:t>
            </a:r>
            <a:r>
              <a:rPr lang="en-US" sz="910" dirty="0">
                <a:solidFill>
                  <a:srgbClr val="9ECBFF"/>
                </a:solidFill>
                <a:latin typeface="Courier New" pitchFamily="34" charset="0"/>
                <a:ea typeface="Courier New" pitchFamily="34" charset="-122"/>
                <a:cs typeface="Courier New" pitchFamily="34" charset="-120"/>
              </a:rPr>
              <a:t>'b6_order'</a:t>
            </a:r>
            <a:r>
              <a:rPr lang="en-US" sz="910" dirty="0">
                <a:solidFill>
                  <a:srgbClr val="E6EDF3"/>
                </a:solidFill>
                <a:latin typeface="Courier New" pitchFamily="34" charset="0"/>
                <a:ea typeface="Courier New" pitchFamily="34" charset="-122"/>
                <a:cs typeface="Courier New" pitchFamily="34" charset="-120"/>
              </a:rPr>
              <a:t>]</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s[</a:t>
            </a:r>
            <a:r>
              <a:rPr lang="en-US" sz="910" dirty="0">
                <a:solidFill>
                  <a:srgbClr val="9ECBFF"/>
                </a:solidFill>
                <a:latin typeface="Courier New" pitchFamily="34" charset="0"/>
                <a:ea typeface="Courier New" pitchFamily="34" charset="-122"/>
                <a:cs typeface="Courier New" pitchFamily="34" charset="-120"/>
              </a:rPr>
              <a:t>'m1_alone'</a:t>
            </a:r>
            <a:r>
              <a:rPr lang="en-US" sz="910" dirty="0">
                <a:solidFill>
                  <a:srgbClr val="E6EDF3"/>
                </a:solidFill>
                <a:latin typeface="Courier New" pitchFamily="34" charset="0"/>
                <a:ea typeface="Courier New" pitchFamily="34" charset="-122"/>
                <a:cs typeface="Courier New" pitchFamily="34" charset="-120"/>
              </a:rPr>
              <a:t>], s[</a:t>
            </a:r>
            <a:r>
              <a:rPr lang="en-US" sz="910" dirty="0">
                <a:solidFill>
                  <a:srgbClr val="9ECBFF"/>
                </a:solidFill>
                <a:latin typeface="Courier New" pitchFamily="34" charset="0"/>
                <a:ea typeface="Courier New" pitchFamily="34" charset="-122"/>
                <a:cs typeface="Courier New" pitchFamily="34" charset="-120"/>
              </a:rPr>
              <a:t>'m1_m3'</a:t>
            </a:r>
            <a:r>
              <a:rPr lang="en-US" sz="910" dirty="0">
                <a:solidFill>
                  <a:srgbClr val="E6EDF3"/>
                </a:solidFill>
                <a:latin typeface="Courier New" pitchFamily="34" charset="0"/>
                <a:ea typeface="Courier New" pitchFamily="34" charset="-122"/>
                <a:cs typeface="Courier New" pitchFamily="34" charset="-120"/>
              </a:rPr>
              <a:t>], s[</a:t>
            </a:r>
            <a:r>
              <a:rPr lang="en-US" sz="910" dirty="0">
                <a:solidFill>
                  <a:srgbClr val="9ECBFF"/>
                </a:solidFill>
                <a:latin typeface="Courier New" pitchFamily="34" charset="0"/>
                <a:ea typeface="Courier New" pitchFamily="34" charset="-122"/>
                <a:cs typeface="Courier New" pitchFamily="34" charset="-120"/>
              </a:rPr>
              <a:t>'vsize'</a:t>
            </a:r>
            <a:r>
              <a:rPr lang="en-US" sz="910" dirty="0">
                <a:solidFill>
                  <a:srgbClr val="E6EDF3"/>
                </a:solidFill>
                <a:latin typeface="Courier New" pitchFamily="34" charset="0"/>
                <a:ea typeface="Courier New" pitchFamily="34" charset="-122"/>
                <a:cs typeface="Courier New" pitchFamily="34" charset="-120"/>
              </a:rPr>
              <a:t>]</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({'complete': False, 'sigs': [1]}, {'complete': True, 'sigs': [0]}, 146)</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l[</a:t>
            </a:r>
            <a:r>
              <a:rPr lang="en-US" sz="910" dirty="0">
                <a:solidFill>
                  <a:srgbClr val="9ECBFF"/>
                </a:solidFill>
                <a:latin typeface="Courier New" pitchFamily="34" charset="0"/>
                <a:ea typeface="Courier New" pitchFamily="34" charset="-122"/>
                <a:cs typeface="Courier New" pitchFamily="34" charset="-120"/>
              </a:rPr>
              <a:t>'lose_m1_sign_with_m2_m3'</a:t>
            </a:r>
            <a:r>
              <a:rPr lang="en-US" sz="910" dirty="0">
                <a:solidFill>
                  <a:srgbClr val="E6EDF3"/>
                </a:solidFill>
                <a:latin typeface="Courier New" pitchFamily="34" charset="0"/>
                <a:ea typeface="Courier New" pitchFamily="34" charset="-122"/>
                <a:cs typeface="Courier New" pitchFamily="34" charset="-120"/>
              </a:rPr>
              <a:t>], l[</a:t>
            </a:r>
            <a:r>
              <a:rPr lang="en-US" sz="910" dirty="0">
                <a:solidFill>
                  <a:srgbClr val="9ECBFF"/>
                </a:solidFill>
                <a:latin typeface="Courier New" pitchFamily="34" charset="0"/>
                <a:ea typeface="Courier New" pitchFamily="34" charset="-122"/>
                <a:cs typeface="Courier New" pitchFamily="34" charset="-120"/>
              </a:rPr>
              <a:t>'lose_m2_m3_sign_with_m1'</a:t>
            </a:r>
            <a:r>
              <a:rPr lang="en-US" sz="910" dirty="0">
                <a:solidFill>
                  <a:srgbClr val="E6EDF3"/>
                </a:solidFill>
                <a:latin typeface="Courier New" pitchFamily="34" charset="0"/>
                <a:ea typeface="Courier New" pitchFamily="34" charset="-122"/>
                <a:cs typeface="Courier New" pitchFamily="34" charset="-120"/>
              </a:rPr>
              <a:t>]</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(True, False)</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R[</a:t>
            </a:r>
            <a:r>
              <a:rPr lang="en-US" sz="910" dirty="0">
                <a:solidFill>
                  <a:srgbClr val="9ECBFF"/>
                </a:solidFill>
                <a:latin typeface="Courier New" pitchFamily="34" charset="0"/>
                <a:ea typeface="Courier New" pitchFamily="34" charset="-122"/>
                <a:cs typeface="Courier New" pitchFamily="34" charset="-120"/>
              </a:rPr>
              <a:t>'b6_single_vsize'</a:t>
            </a:r>
            <a:r>
              <a:rPr lang="en-US" sz="910" dirty="0">
                <a:solidFill>
                  <a:srgbClr val="E6EDF3"/>
                </a:solidFill>
                <a:latin typeface="Courier New" pitchFamily="34" charset="0"/>
                <a:ea typeface="Courier New" pitchFamily="34" charset="-122"/>
                <a:cs typeface="Courier New" pitchFamily="34" charset="-120"/>
              </a:rPr>
              <a:t>], s[</a:t>
            </a:r>
            <a:r>
              <a:rPr lang="en-US" sz="910" dirty="0">
                <a:solidFill>
                  <a:srgbClr val="9ECBFF"/>
                </a:solidFill>
                <a:latin typeface="Courier New" pitchFamily="34" charset="0"/>
                <a:ea typeface="Courier New" pitchFamily="34" charset="-122"/>
                <a:cs typeface="Courier New" pitchFamily="34" charset="-120"/>
              </a:rPr>
              <a:t>'vsize'</a:t>
            </a:r>
            <a:r>
              <a:rPr lang="en-US" sz="910" dirty="0">
                <a:solidFill>
                  <a:srgbClr val="E6EDF3"/>
                </a:solidFill>
                <a:latin typeface="Courier New" pitchFamily="34" charset="0"/>
                <a:ea typeface="Courier New" pitchFamily="34" charset="-122"/>
                <a:cs typeface="Courier New" pitchFamily="34" charset="-120"/>
              </a:rPr>
              <a:t>], o[</a:t>
            </a:r>
            <a:r>
              <a:rPr lang="en-US" sz="910" dirty="0">
                <a:solidFill>
                  <a:srgbClr val="9ECBFF"/>
                </a:solidFill>
                <a:latin typeface="Courier New" pitchFamily="34" charset="0"/>
                <a:ea typeface="Courier New" pitchFamily="34" charset="-122"/>
                <a:cs typeface="Courier New" pitchFamily="34" charset="-120"/>
              </a:rPr>
              <a:t>'sortedmulti_same'</a:t>
            </a:r>
            <a:r>
              <a:rPr lang="en-US" sz="910" dirty="0">
                <a:solidFill>
                  <a:srgbClr val="E6EDF3"/>
                </a:solidFill>
                <a:latin typeface="Courier New" pitchFamily="34" charset="0"/>
                <a:ea typeface="Courier New" pitchFamily="34" charset="-122"/>
                <a:cs typeface="Courier New" pitchFamily="34" charset="-120"/>
              </a:rPr>
              <a:t>], o[</a:t>
            </a:r>
            <a:r>
              <a:rPr lang="en-US" sz="910" dirty="0">
                <a:solidFill>
                  <a:srgbClr val="9ECBFF"/>
                </a:solidFill>
                <a:latin typeface="Courier New" pitchFamily="34" charset="0"/>
                <a:ea typeface="Courier New" pitchFamily="34" charset="-122"/>
                <a:cs typeface="Courier New" pitchFamily="34" charset="-120"/>
              </a:rPr>
              <a:t>'multi_same'</a:t>
            </a:r>
            <a:r>
              <a:rPr lang="en-US" sz="910" dirty="0">
                <a:solidFill>
                  <a:srgbClr val="E6EDF3"/>
                </a:solidFill>
                <a:latin typeface="Courier New" pitchFamily="34" charset="0"/>
                <a:ea typeface="Courier New" pitchFamily="34" charset="-122"/>
                <a:cs typeface="Courier New" pitchFamily="34" charset="-120"/>
              </a:rPr>
              <a:t>]</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(110, 146, True, False)</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m = </a:t>
            </a:r>
            <a:r>
              <a:rPr lang="en-US" sz="910" dirty="0">
                <a:solidFill>
                  <a:srgbClr val="FFD28A"/>
                </a:solidFill>
                <a:latin typeface="Courier New" pitchFamily="34" charset="0"/>
                <a:ea typeface="Courier New" pitchFamily="34" charset="-122"/>
                <a:cs typeface="Courier New" pitchFamily="34" charset="-120"/>
              </a:rPr>
              <a:t>2</a:t>
            </a:r>
            <a:r>
              <a:rPr lang="en-US" sz="910" dirty="0">
                <a:solidFill>
                  <a:srgbClr val="E6EDF3"/>
                </a:solidFill>
                <a:latin typeface="Courier New" pitchFamily="34" charset="0"/>
                <a:ea typeface="Courier New" pitchFamily="34" charset="-122"/>
                <a:cs typeface="Courier New" pitchFamily="34" charset="-120"/>
              </a:rPr>
              <a:t>; n = </a:t>
            </a:r>
            <a:r>
              <a:rPr lang="en-US" sz="910" dirty="0">
                <a:solidFill>
                  <a:srgbClr val="FFD28A"/>
                </a:solidFill>
                <a:latin typeface="Courier New" pitchFamily="34" charset="0"/>
                <a:ea typeface="Courier New" pitchFamily="34" charset="-122"/>
                <a:cs typeface="Courier New" pitchFamily="34" charset="-120"/>
              </a:rPr>
              <a:t>3</a:t>
            </a:r>
            <a:r>
              <a:rPr lang="en-US" sz="910" dirty="0">
                <a:solidFill>
                  <a:srgbClr val="E6EDF3"/>
                </a:solidFill>
                <a:latin typeface="Courier New" pitchFamily="34" charset="0"/>
                <a:ea typeface="Courier New" pitchFamily="34" charset="-122"/>
                <a:cs typeface="Courier New" pitchFamily="34" charset="-120"/>
              </a:rPr>
              <a:t>; r = </a:t>
            </a:r>
            <a:r>
              <a:rPr lang="en-US" sz="910" dirty="0">
                <a:solidFill>
                  <a:srgbClr val="FFD28A"/>
                </a:solidFill>
                <a:latin typeface="Courier New" pitchFamily="34" charset="0"/>
                <a:ea typeface="Courier New" pitchFamily="34" charset="-122"/>
                <a:cs typeface="Courier New" pitchFamily="34" charset="-120"/>
              </a:rPr>
              <a:t>10</a:t>
            </a:r>
            <a:r>
              <a:rPr lang="en-US" sz="910" dirty="0">
                <a:solidFill>
                  <a:srgbClr val="E6EDF3"/>
                </a:solidFill>
                <a:latin typeface="Courier New" pitchFamily="34" charset="0"/>
                <a:ea typeface="Courier New" pitchFamily="34" charset="-122"/>
                <a:cs typeface="Courier New" pitchFamily="34" charset="-120"/>
              </a:rPr>
              <a:t>; vs = (</a:t>
            </a:r>
            <a:r>
              <a:rPr lang="en-US" sz="910" dirty="0">
                <a:solidFill>
                  <a:srgbClr val="FFD28A"/>
                </a:solidFill>
                <a:latin typeface="Courier New" pitchFamily="34" charset="0"/>
                <a:ea typeface="Courier New" pitchFamily="34" charset="-122"/>
                <a:cs typeface="Courier New" pitchFamily="34" charset="-120"/>
              </a:rPr>
              <a:t>82</a:t>
            </a:r>
            <a:r>
              <a:rPr lang="en-US" sz="910" dirty="0">
                <a:solidFill>
                  <a:srgbClr val="E6EDF3"/>
                </a:solidFill>
                <a:latin typeface="Courier New" pitchFamily="34" charset="0"/>
                <a:ea typeface="Courier New" pitchFamily="34" charset="-122"/>
                <a:cs typeface="Courier New" pitchFamily="34" charset="-120"/>
              </a:rPr>
              <a:t> * </a:t>
            </a:r>
            <a:r>
              <a:rPr lang="en-US" sz="910" dirty="0">
                <a:solidFill>
                  <a:srgbClr val="FFD28A"/>
                </a:solidFill>
                <a:latin typeface="Courier New" pitchFamily="34" charset="0"/>
                <a:ea typeface="Courier New" pitchFamily="34" charset="-122"/>
                <a:cs typeface="Courier New" pitchFamily="34" charset="-120"/>
              </a:rPr>
              <a:t>4</a:t>
            </a:r>
            <a:r>
              <a:rPr lang="en-US" sz="910" dirty="0">
                <a:solidFill>
                  <a:srgbClr val="E6EDF3"/>
                </a:solidFill>
                <a:latin typeface="Courier New" pitchFamily="34" charset="0"/>
                <a:ea typeface="Courier New" pitchFamily="34" charset="-122"/>
                <a:cs typeface="Courier New" pitchFamily="34" charset="-120"/>
              </a:rPr>
              <a:t> + </a:t>
            </a:r>
            <a:r>
              <a:rPr lang="en-US" sz="910" dirty="0">
                <a:solidFill>
                  <a:srgbClr val="FFD28A"/>
                </a:solidFill>
                <a:latin typeface="Courier New" pitchFamily="34" charset="0"/>
                <a:ea typeface="Courier New" pitchFamily="34" charset="-122"/>
                <a:cs typeface="Courier New" pitchFamily="34" charset="-120"/>
              </a:rPr>
              <a:t>2</a:t>
            </a:r>
            <a:r>
              <a:rPr lang="en-US" sz="910" dirty="0">
                <a:solidFill>
                  <a:srgbClr val="E6EDF3"/>
                </a:solidFill>
                <a:latin typeface="Courier New" pitchFamily="34" charset="0"/>
                <a:ea typeface="Courier New" pitchFamily="34" charset="-122"/>
                <a:cs typeface="Courier New" pitchFamily="34" charset="-120"/>
              </a:rPr>
              <a:t> + </a:t>
            </a:r>
            <a:r>
              <a:rPr lang="en-US" sz="910" dirty="0">
                <a:solidFill>
                  <a:srgbClr val="FFD28A"/>
                </a:solidFill>
                <a:latin typeface="Courier New" pitchFamily="34" charset="0"/>
                <a:ea typeface="Courier New" pitchFamily="34" charset="-122"/>
                <a:cs typeface="Courier New" pitchFamily="34" charset="-120"/>
              </a:rPr>
              <a:t>1</a:t>
            </a:r>
            <a:r>
              <a:rPr lang="en-US" sz="910" dirty="0">
                <a:solidFill>
                  <a:srgbClr val="E6EDF3"/>
                </a:solidFill>
                <a:latin typeface="Courier New" pitchFamily="34" charset="0"/>
                <a:ea typeface="Courier New" pitchFamily="34" charset="-122"/>
                <a:cs typeface="Courier New" pitchFamily="34" charset="-120"/>
              </a:rPr>
              <a:t> + </a:t>
            </a:r>
            <a:r>
              <a:rPr lang="en-US" sz="910" dirty="0">
                <a:solidFill>
                  <a:srgbClr val="FFD28A"/>
                </a:solidFill>
                <a:latin typeface="Courier New" pitchFamily="34" charset="0"/>
                <a:ea typeface="Courier New" pitchFamily="34" charset="-122"/>
                <a:cs typeface="Courier New" pitchFamily="34" charset="-120"/>
              </a:rPr>
              <a:t>1</a:t>
            </a:r>
            <a:r>
              <a:rPr lang="en-US" sz="910" dirty="0">
                <a:solidFill>
                  <a:srgbClr val="E6EDF3"/>
                </a:solidFill>
                <a:latin typeface="Courier New" pitchFamily="34" charset="0"/>
                <a:ea typeface="Courier New" pitchFamily="34" charset="-122"/>
                <a:cs typeface="Courier New" pitchFamily="34" charset="-120"/>
              </a:rPr>
              <a:t> + m * </a:t>
            </a:r>
            <a:r>
              <a:rPr lang="en-US" sz="910" dirty="0">
                <a:solidFill>
                  <a:srgbClr val="FFD28A"/>
                </a:solidFill>
                <a:latin typeface="Courier New" pitchFamily="34" charset="0"/>
                <a:ea typeface="Courier New" pitchFamily="34" charset="-122"/>
                <a:cs typeface="Courier New" pitchFamily="34" charset="-120"/>
              </a:rPr>
              <a:t>73</a:t>
            </a:r>
            <a:r>
              <a:rPr lang="en-US" sz="910" dirty="0">
                <a:solidFill>
                  <a:srgbClr val="E6EDF3"/>
                </a:solidFill>
                <a:latin typeface="Courier New" pitchFamily="34" charset="0"/>
                <a:ea typeface="Courier New" pitchFamily="34" charset="-122"/>
                <a:cs typeface="Courier New" pitchFamily="34" charset="-120"/>
              </a:rPr>
              <a:t> + </a:t>
            </a:r>
            <a:r>
              <a:rPr lang="en-US" sz="910" dirty="0">
                <a:solidFill>
                  <a:srgbClr val="FFD28A"/>
                </a:solidFill>
                <a:latin typeface="Courier New" pitchFamily="34" charset="0"/>
                <a:ea typeface="Courier New" pitchFamily="34" charset="-122"/>
                <a:cs typeface="Courier New" pitchFamily="34" charset="-120"/>
              </a:rPr>
              <a:t>1</a:t>
            </a:r>
            <a:r>
              <a:rPr lang="en-US" sz="910" dirty="0">
                <a:solidFill>
                  <a:srgbClr val="E6EDF3"/>
                </a:solidFill>
                <a:latin typeface="Courier New" pitchFamily="34" charset="0"/>
                <a:ea typeface="Courier New" pitchFamily="34" charset="-122"/>
                <a:cs typeface="Courier New" pitchFamily="34" charset="-120"/>
              </a:rPr>
              <a:t> + </a:t>
            </a:r>
            <a:r>
              <a:rPr lang="en-US" sz="910" dirty="0">
                <a:solidFill>
                  <a:srgbClr val="FFD28A"/>
                </a:solidFill>
                <a:latin typeface="Courier New" pitchFamily="34" charset="0"/>
                <a:ea typeface="Courier New" pitchFamily="34" charset="-122"/>
                <a:cs typeface="Courier New" pitchFamily="34" charset="-120"/>
              </a:rPr>
              <a:t>3</a:t>
            </a:r>
            <a:r>
              <a:rPr lang="en-US" sz="910" dirty="0">
                <a:solidFill>
                  <a:srgbClr val="E6EDF3"/>
                </a:solidFill>
                <a:latin typeface="Courier New" pitchFamily="34" charset="0"/>
                <a:ea typeface="Courier New" pitchFamily="34" charset="-122"/>
                <a:cs typeface="Courier New" pitchFamily="34" charset="-120"/>
              </a:rPr>
              <a:t> + </a:t>
            </a:r>
            <a:r>
              <a:rPr lang="en-US" sz="910" dirty="0">
                <a:solidFill>
                  <a:srgbClr val="FFD28A"/>
                </a:solidFill>
                <a:latin typeface="Courier New" pitchFamily="34" charset="0"/>
                <a:ea typeface="Courier New" pitchFamily="34" charset="-122"/>
                <a:cs typeface="Courier New" pitchFamily="34" charset="-120"/>
              </a:rPr>
              <a:t>34</a:t>
            </a:r>
            <a:r>
              <a:rPr lang="en-US" sz="910" dirty="0">
                <a:solidFill>
                  <a:srgbClr val="E6EDF3"/>
                </a:solidFill>
                <a:latin typeface="Courier New" pitchFamily="34" charset="0"/>
                <a:ea typeface="Courier New" pitchFamily="34" charset="-122"/>
                <a:cs typeface="Courier New" pitchFamily="34" charset="-120"/>
              </a:rPr>
              <a:t> * n + </a:t>
            </a:r>
            <a:r>
              <a:rPr lang="en-US" sz="910" dirty="0">
                <a:solidFill>
                  <a:srgbClr val="FFD28A"/>
                </a:solidFill>
                <a:latin typeface="Courier New" pitchFamily="34" charset="0"/>
                <a:ea typeface="Courier New" pitchFamily="34" charset="-122"/>
                <a:cs typeface="Courier New" pitchFamily="34" charset="-120"/>
              </a:rPr>
              <a:t>3</a:t>
            </a:r>
            <a:r>
              <a:rPr lang="en-US" sz="910" dirty="0">
                <a:solidFill>
                  <a:srgbClr val="E6EDF3"/>
                </a:solidFill>
                <a:latin typeface="Courier New" pitchFamily="34" charset="0"/>
                <a:ea typeface="Courier New" pitchFamily="34" charset="-122"/>
                <a:cs typeface="Courier New" pitchFamily="34" charset="-120"/>
              </a:rPr>
              <a:t>) // </a:t>
            </a:r>
            <a:r>
              <a:rPr lang="en-US" sz="910" dirty="0">
                <a:solidFill>
                  <a:srgbClr val="FFD28A"/>
                </a:solidFill>
                <a:latin typeface="Courier New" pitchFamily="34" charset="0"/>
                <a:ea typeface="Courier New" pitchFamily="34" charset="-122"/>
                <a:cs typeface="Courier New" pitchFamily="34" charset="-120"/>
              </a:rPr>
              <a:t>4</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(vs, vs * r)</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(146, 1460)</a:t>
            </a:r>
            <a:endParaRPr lang="en-US" sz="910" dirty="0"/>
          </a:p>
        </p:txBody>
      </p:sp>
      <p:sp>
        <p:nvSpPr>
          <p:cNvPr id="18" name="Text 15"/>
          <p:cNvSpPr txBox="1"/>
          <p:nvPr/>
        </p:nvSpPr>
        <p:spPr>
          <a:xfrm>
            <a:off x="457200" y="44074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9"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20"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Two of three keys survive one loss, and cost 36 more virtual bytes</a:t>
            </a:r>
            <a:endParaRPr lang="en-US" sz="1350" dirty="0"/>
          </a:p>
        </p:txBody>
      </p:sp>
      <p:sp>
        <p:nvSpPr>
          <p:cNvPr id="21"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26</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Odds of losing or being robbed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extra locks on a door: fewer break-ins, but more ways to lock yourself out</a:t>
            </a:r>
            <a:endParaRPr lang="en-US" sz="1300" dirty="0"/>
          </a:p>
        </p:txBody>
      </p:sp>
      <p:sp>
        <p:nvSpPr>
          <p:cNvPr id="6" name="Shape 4"/>
          <p:cNvSpPr/>
          <p:nvPr/>
        </p:nvSpPr>
        <p:spPr>
          <a:xfrm>
            <a:off x="457200" y="1329309"/>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261872"/>
            <a:ext cx="3931920" cy="26289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Row 1: lost at 0.1: 2-of-3 stuck 0.028, 1-of-3 0.001</a:t>
            </a:r>
            <a:endParaRPr lang="en-US" sz="950" dirty="0"/>
          </a:p>
        </p:txBody>
      </p:sp>
      <p:sp>
        <p:nvSpPr>
          <p:cNvPr id="8" name="Shape 6"/>
          <p:cNvSpPr/>
          <p:nvPr/>
        </p:nvSpPr>
        <p:spPr>
          <a:xfrm>
            <a:off x="457200" y="1592199"/>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524762"/>
            <a:ext cx="3931920" cy="26289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Row 2: stolen at 0.05: 2-of-3 robbed 0.00725, 1-of-3 0.14263</a:t>
            </a:r>
            <a:endParaRPr lang="en-US" sz="950" dirty="0"/>
          </a:p>
        </p:txBody>
      </p:sp>
      <p:sp>
        <p:nvSpPr>
          <p:cNvPr id="10" name="Shape 8"/>
          <p:cNvSpPr/>
          <p:nvPr/>
        </p:nvSpPr>
        <p:spPr>
          <a:xfrm>
            <a:off x="457200" y="1855089"/>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1787652"/>
            <a:ext cx="3931920" cy="26289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Rows 3, 4: the binomial terms summed by hand give the same 0.028</a:t>
            </a:r>
            <a:endParaRPr lang="en-US" sz="950" dirty="0"/>
          </a:p>
        </p:txBody>
      </p:sp>
      <p:sp>
        <p:nvSpPr>
          <p:cNvPr id="12" name="Shape 10"/>
          <p:cNvSpPr/>
          <p:nvPr/>
        </p:nvSpPr>
        <p:spPr>
          <a:xfrm>
            <a:off x="457200" y="2117979"/>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2050542"/>
            <a:ext cx="3931920" cy="26289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Rows 5, 6: and the same 0.00725; the keys are assumed independent</a:t>
            </a:r>
            <a:endParaRPr lang="en-US" sz="950" dirty="0"/>
          </a:p>
        </p:txBody>
      </p:sp>
      <p:graphicFrame>
        <p:nvGraphicFramePr>
          <p:cNvPr id="14" name="Chart 0" descr=""/>
          <p:cNvGraphicFramePr/>
          <p:nvPr/>
        </p:nvGraphicFramePr>
        <p:xfrm>
          <a:off x="4846320" y="1261872"/>
          <a:ext cx="1920240" cy="1051560"/>
        </p:xfrm>
        <a:graphic xmlns:a="http://schemas.openxmlformats.org/drawingml/2006/main">
          <a:graphicData uri="http://schemas.openxmlformats.org/drawingml/2006/chart">
            <c:chart xmlns:c="http://schemas.openxmlformats.org/drawingml/2006/chart" r:id="rId1"/>
          </a:graphicData>
        </a:graphic>
      </p:graphicFrame>
      <p:graphicFrame>
        <p:nvGraphicFramePr>
          <p:cNvPr id="15" name="Chart 1" descr=""/>
          <p:cNvGraphicFramePr/>
          <p:nvPr/>
        </p:nvGraphicFramePr>
        <p:xfrm>
          <a:off x="6766560" y="1261872"/>
          <a:ext cx="1920240" cy="1051560"/>
        </p:xfrm>
        <a:graphic xmlns:a="http://schemas.openxmlformats.org/drawingml/2006/main">
          <a:graphicData uri="http://schemas.openxmlformats.org/drawingml/2006/chart">
            <c:chart xmlns:c="http://schemas.openxmlformats.org/drawingml/2006/chart" r:id="rId2"/>
          </a:graphicData>
        </a:graphic>
      </p:graphicFrame>
      <p:sp>
        <p:nvSpPr>
          <p:cNvPr id="16" name="Text 12"/>
          <p:cNvSpPr txBox="1"/>
          <p:nvPr/>
        </p:nvSpPr>
        <p:spPr>
          <a:xfrm>
            <a:off x="457200" y="233172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the chapter's own formulas; the chances are assumptions</a:t>
            </a:r>
            <a:endParaRPr lang="en-US" sz="1150" dirty="0"/>
          </a:p>
        </p:txBody>
      </p:sp>
      <p:sp>
        <p:nvSpPr>
          <p:cNvPr id="17" name="Shape 13"/>
          <p:cNvSpPr/>
          <p:nvPr/>
        </p:nvSpPr>
        <p:spPr>
          <a:xfrm>
            <a:off x="457200" y="2606040"/>
            <a:ext cx="8229600" cy="1783080"/>
          </a:xfrm>
          <a:prstGeom prst="roundRect">
            <a:avLst>
              <a:gd name="adj" fmla="val 5128"/>
            </a:avLst>
          </a:prstGeom>
          <a:solidFill>
            <a:srgbClr val="23272E"/>
          </a:solidFill>
          <a:ln w="12700">
            <a:solidFill>
              <a:srgbClr val="23272E"/>
            </a:solidFill>
            <a:prstDash val="solid"/>
          </a:ln>
        </p:spPr>
      </p:sp>
      <p:sp>
        <p:nvSpPr>
          <p:cNvPr id="18" name="Text 14"/>
          <p:cNvSpPr txBox="1"/>
          <p:nvPr/>
        </p:nvSpPr>
        <p:spPr>
          <a:xfrm>
            <a:off x="640080" y="2724912"/>
            <a:ext cx="7863840" cy="1545336"/>
          </a:xfrm>
          <a:prstGeom prst="rect">
            <a:avLst/>
          </a:prstGeom>
          <a:noFill/>
          <a:ln/>
        </p:spPr>
        <p:txBody>
          <a:bodyPr wrap="square" lIns="0" tIns="0" rIns="0" bIns="0" rtlCol="0" anchor="t"/>
          <a:lstStyle/>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[round(L.p_lose(</a:t>
            </a:r>
            <a:r>
              <a:rPr lang="en-US" sz="910" dirty="0">
                <a:solidFill>
                  <a:srgbClr val="FFD28A"/>
                </a:solidFill>
                <a:latin typeface="Courier New" pitchFamily="34" charset="0"/>
                <a:ea typeface="Courier New" pitchFamily="34" charset="-122"/>
                <a:cs typeface="Courier New" pitchFamily="34" charset="-120"/>
              </a:rPr>
              <a:t>0.1</a:t>
            </a:r>
            <a:r>
              <a:rPr lang="en-US" sz="910" dirty="0">
                <a:solidFill>
                  <a:srgbClr val="E6EDF3"/>
                </a:solidFill>
                <a:latin typeface="Courier New" pitchFamily="34" charset="0"/>
                <a:ea typeface="Courier New" pitchFamily="34" charset="-122"/>
                <a:cs typeface="Courier New" pitchFamily="34" charset="-120"/>
              </a:rPr>
              <a:t>, m, n), </a:t>
            </a:r>
            <a:r>
              <a:rPr lang="en-US" sz="910" dirty="0">
                <a:solidFill>
                  <a:srgbClr val="FFD28A"/>
                </a:solidFill>
                <a:latin typeface="Courier New" pitchFamily="34" charset="0"/>
                <a:ea typeface="Courier New" pitchFamily="34" charset="-122"/>
                <a:cs typeface="Courier New" pitchFamily="34" charset="-120"/>
              </a:rPr>
              <a:t>4</a:t>
            </a:r>
            <a:r>
              <a:rPr lang="en-US" sz="910" dirty="0">
                <a:solidFill>
                  <a:srgbClr val="E6EDF3"/>
                </a:solidFill>
                <a:latin typeface="Courier New" pitchFamily="34" charset="0"/>
                <a:ea typeface="Courier New" pitchFamily="34" charset="-122"/>
                <a:cs typeface="Courier New" pitchFamily="34" charset="-120"/>
              </a:rPr>
              <a:t>) </a:t>
            </a:r>
            <a:r>
              <a:rPr lang="en-US" sz="910" b="1" dirty="0">
                <a:solidFill>
                  <a:srgbClr val="F2A860"/>
                </a:solidFill>
                <a:latin typeface="Courier New" pitchFamily="34" charset="0"/>
                <a:ea typeface="Courier New" pitchFamily="34" charset="-122"/>
                <a:cs typeface="Courier New" pitchFamily="34" charset="-120"/>
              </a:rPr>
              <a:t>for</a:t>
            </a:r>
            <a:r>
              <a:rPr lang="en-US" sz="910" dirty="0">
                <a:solidFill>
                  <a:srgbClr val="E6EDF3"/>
                </a:solidFill>
                <a:latin typeface="Courier New" pitchFamily="34" charset="0"/>
                <a:ea typeface="Courier New" pitchFamily="34" charset="-122"/>
                <a:cs typeface="Courier New" pitchFamily="34" charset="-120"/>
              </a:rPr>
              <a:t> m, n </a:t>
            </a:r>
            <a:r>
              <a:rPr lang="en-US" sz="910" b="1" dirty="0">
                <a:solidFill>
                  <a:srgbClr val="F2A860"/>
                </a:solidFill>
                <a:latin typeface="Courier New" pitchFamily="34" charset="0"/>
                <a:ea typeface="Courier New" pitchFamily="34" charset="-122"/>
                <a:cs typeface="Courier New" pitchFamily="34" charset="-120"/>
              </a:rPr>
              <a:t>in</a:t>
            </a:r>
            <a:r>
              <a:rPr lang="en-US" sz="910" dirty="0">
                <a:solidFill>
                  <a:srgbClr val="E6EDF3"/>
                </a:solidFill>
                <a:latin typeface="Courier New" pitchFamily="34" charset="0"/>
                <a:ea typeface="Courier New" pitchFamily="34" charset="-122"/>
                <a:cs typeface="Courier New" pitchFamily="34" charset="-120"/>
              </a:rPr>
              <a:t> ((</a:t>
            </a:r>
            <a:r>
              <a:rPr lang="en-US" sz="910" dirty="0">
                <a:solidFill>
                  <a:srgbClr val="FFD28A"/>
                </a:solidFill>
                <a:latin typeface="Courier New" pitchFamily="34" charset="0"/>
                <a:ea typeface="Courier New" pitchFamily="34" charset="-122"/>
                <a:cs typeface="Courier New" pitchFamily="34" charset="-120"/>
              </a:rPr>
              <a:t>1</a:t>
            </a:r>
            <a:r>
              <a:rPr lang="en-US" sz="910" dirty="0">
                <a:solidFill>
                  <a:srgbClr val="E6EDF3"/>
                </a:solidFill>
                <a:latin typeface="Courier New" pitchFamily="34" charset="0"/>
                <a:ea typeface="Courier New" pitchFamily="34" charset="-122"/>
                <a:cs typeface="Courier New" pitchFamily="34" charset="-120"/>
              </a:rPr>
              <a:t>, </a:t>
            </a:r>
            <a:r>
              <a:rPr lang="en-US" sz="910" dirty="0">
                <a:solidFill>
                  <a:srgbClr val="FFD28A"/>
                </a:solidFill>
                <a:latin typeface="Courier New" pitchFamily="34" charset="0"/>
                <a:ea typeface="Courier New" pitchFamily="34" charset="-122"/>
                <a:cs typeface="Courier New" pitchFamily="34" charset="-120"/>
              </a:rPr>
              <a:t>1</a:t>
            </a:r>
            <a:r>
              <a:rPr lang="en-US" sz="910" dirty="0">
                <a:solidFill>
                  <a:srgbClr val="E6EDF3"/>
                </a:solidFill>
                <a:latin typeface="Courier New" pitchFamily="34" charset="0"/>
                <a:ea typeface="Courier New" pitchFamily="34" charset="-122"/>
                <a:cs typeface="Courier New" pitchFamily="34" charset="-120"/>
              </a:rPr>
              <a:t>), (</a:t>
            </a:r>
            <a:r>
              <a:rPr lang="en-US" sz="910" dirty="0">
                <a:solidFill>
                  <a:srgbClr val="FFD28A"/>
                </a:solidFill>
                <a:latin typeface="Courier New" pitchFamily="34" charset="0"/>
                <a:ea typeface="Courier New" pitchFamily="34" charset="-122"/>
                <a:cs typeface="Courier New" pitchFamily="34" charset="-120"/>
              </a:rPr>
              <a:t>2</a:t>
            </a:r>
            <a:r>
              <a:rPr lang="en-US" sz="910" dirty="0">
                <a:solidFill>
                  <a:srgbClr val="E6EDF3"/>
                </a:solidFill>
                <a:latin typeface="Courier New" pitchFamily="34" charset="0"/>
                <a:ea typeface="Courier New" pitchFamily="34" charset="-122"/>
                <a:cs typeface="Courier New" pitchFamily="34" charset="-120"/>
              </a:rPr>
              <a:t>, </a:t>
            </a:r>
            <a:r>
              <a:rPr lang="en-US" sz="910" dirty="0">
                <a:solidFill>
                  <a:srgbClr val="FFD28A"/>
                </a:solidFill>
                <a:latin typeface="Courier New" pitchFamily="34" charset="0"/>
                <a:ea typeface="Courier New" pitchFamily="34" charset="-122"/>
                <a:cs typeface="Courier New" pitchFamily="34" charset="-120"/>
              </a:rPr>
              <a:t>3</a:t>
            </a:r>
            <a:r>
              <a:rPr lang="en-US" sz="910" dirty="0">
                <a:solidFill>
                  <a:srgbClr val="E6EDF3"/>
                </a:solidFill>
                <a:latin typeface="Courier New" pitchFamily="34" charset="0"/>
                <a:ea typeface="Courier New" pitchFamily="34" charset="-122"/>
                <a:cs typeface="Courier New" pitchFamily="34" charset="-120"/>
              </a:rPr>
              <a:t>), (</a:t>
            </a:r>
            <a:r>
              <a:rPr lang="en-US" sz="910" dirty="0">
                <a:solidFill>
                  <a:srgbClr val="FFD28A"/>
                </a:solidFill>
                <a:latin typeface="Courier New" pitchFamily="34" charset="0"/>
                <a:ea typeface="Courier New" pitchFamily="34" charset="-122"/>
                <a:cs typeface="Courier New" pitchFamily="34" charset="-120"/>
              </a:rPr>
              <a:t>1</a:t>
            </a:r>
            <a:r>
              <a:rPr lang="en-US" sz="910" dirty="0">
                <a:solidFill>
                  <a:srgbClr val="E6EDF3"/>
                </a:solidFill>
                <a:latin typeface="Courier New" pitchFamily="34" charset="0"/>
                <a:ea typeface="Courier New" pitchFamily="34" charset="-122"/>
                <a:cs typeface="Courier New" pitchFamily="34" charset="-120"/>
              </a:rPr>
              <a:t>, </a:t>
            </a:r>
            <a:r>
              <a:rPr lang="en-US" sz="910" dirty="0">
                <a:solidFill>
                  <a:srgbClr val="FFD28A"/>
                </a:solidFill>
                <a:latin typeface="Courier New" pitchFamily="34" charset="0"/>
                <a:ea typeface="Courier New" pitchFamily="34" charset="-122"/>
                <a:cs typeface="Courier New" pitchFamily="34" charset="-120"/>
              </a:rPr>
              <a:t>3</a:t>
            </a:r>
            <a:r>
              <a:rPr lang="en-US" sz="910" dirty="0">
                <a:solidFill>
                  <a:srgbClr val="E6EDF3"/>
                </a:solidFill>
                <a:latin typeface="Courier New" pitchFamily="34" charset="0"/>
                <a:ea typeface="Courier New" pitchFamily="34" charset="-122"/>
                <a:cs typeface="Courier New" pitchFamily="34" charset="-120"/>
              </a:rPr>
              <a:t>))]</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[0.1, 0.028, 0.001]</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[round(L.p_theft(</a:t>
            </a:r>
            <a:r>
              <a:rPr lang="en-US" sz="910" dirty="0">
                <a:solidFill>
                  <a:srgbClr val="FFD28A"/>
                </a:solidFill>
                <a:latin typeface="Courier New" pitchFamily="34" charset="0"/>
                <a:ea typeface="Courier New" pitchFamily="34" charset="-122"/>
                <a:cs typeface="Courier New" pitchFamily="34" charset="-120"/>
              </a:rPr>
              <a:t>0.05</a:t>
            </a:r>
            <a:r>
              <a:rPr lang="en-US" sz="910" dirty="0">
                <a:solidFill>
                  <a:srgbClr val="E6EDF3"/>
                </a:solidFill>
                <a:latin typeface="Courier New" pitchFamily="34" charset="0"/>
                <a:ea typeface="Courier New" pitchFamily="34" charset="-122"/>
                <a:cs typeface="Courier New" pitchFamily="34" charset="-120"/>
              </a:rPr>
              <a:t>, m, n), </a:t>
            </a:r>
            <a:r>
              <a:rPr lang="en-US" sz="910" dirty="0">
                <a:solidFill>
                  <a:srgbClr val="FFD28A"/>
                </a:solidFill>
                <a:latin typeface="Courier New" pitchFamily="34" charset="0"/>
                <a:ea typeface="Courier New" pitchFamily="34" charset="-122"/>
                <a:cs typeface="Courier New" pitchFamily="34" charset="-120"/>
              </a:rPr>
              <a:t>5</a:t>
            </a:r>
            <a:r>
              <a:rPr lang="en-US" sz="910" dirty="0">
                <a:solidFill>
                  <a:srgbClr val="E6EDF3"/>
                </a:solidFill>
                <a:latin typeface="Courier New" pitchFamily="34" charset="0"/>
                <a:ea typeface="Courier New" pitchFamily="34" charset="-122"/>
                <a:cs typeface="Courier New" pitchFamily="34" charset="-120"/>
              </a:rPr>
              <a:t>) </a:t>
            </a:r>
            <a:r>
              <a:rPr lang="en-US" sz="910" b="1" dirty="0">
                <a:solidFill>
                  <a:srgbClr val="F2A860"/>
                </a:solidFill>
                <a:latin typeface="Courier New" pitchFamily="34" charset="0"/>
                <a:ea typeface="Courier New" pitchFamily="34" charset="-122"/>
                <a:cs typeface="Courier New" pitchFamily="34" charset="-120"/>
              </a:rPr>
              <a:t>for</a:t>
            </a:r>
            <a:r>
              <a:rPr lang="en-US" sz="910" dirty="0">
                <a:solidFill>
                  <a:srgbClr val="E6EDF3"/>
                </a:solidFill>
                <a:latin typeface="Courier New" pitchFamily="34" charset="0"/>
                <a:ea typeface="Courier New" pitchFamily="34" charset="-122"/>
                <a:cs typeface="Courier New" pitchFamily="34" charset="-120"/>
              </a:rPr>
              <a:t> m, n </a:t>
            </a:r>
            <a:r>
              <a:rPr lang="en-US" sz="910" b="1" dirty="0">
                <a:solidFill>
                  <a:srgbClr val="F2A860"/>
                </a:solidFill>
                <a:latin typeface="Courier New" pitchFamily="34" charset="0"/>
                <a:ea typeface="Courier New" pitchFamily="34" charset="-122"/>
                <a:cs typeface="Courier New" pitchFamily="34" charset="-120"/>
              </a:rPr>
              <a:t>in</a:t>
            </a:r>
            <a:r>
              <a:rPr lang="en-US" sz="910" dirty="0">
                <a:solidFill>
                  <a:srgbClr val="E6EDF3"/>
                </a:solidFill>
                <a:latin typeface="Courier New" pitchFamily="34" charset="0"/>
                <a:ea typeface="Courier New" pitchFamily="34" charset="-122"/>
                <a:cs typeface="Courier New" pitchFamily="34" charset="-120"/>
              </a:rPr>
              <a:t> ((</a:t>
            </a:r>
            <a:r>
              <a:rPr lang="en-US" sz="910" dirty="0">
                <a:solidFill>
                  <a:srgbClr val="FFD28A"/>
                </a:solidFill>
                <a:latin typeface="Courier New" pitchFamily="34" charset="0"/>
                <a:ea typeface="Courier New" pitchFamily="34" charset="-122"/>
                <a:cs typeface="Courier New" pitchFamily="34" charset="-120"/>
              </a:rPr>
              <a:t>1</a:t>
            </a:r>
            <a:r>
              <a:rPr lang="en-US" sz="910" dirty="0">
                <a:solidFill>
                  <a:srgbClr val="E6EDF3"/>
                </a:solidFill>
                <a:latin typeface="Courier New" pitchFamily="34" charset="0"/>
                <a:ea typeface="Courier New" pitchFamily="34" charset="-122"/>
                <a:cs typeface="Courier New" pitchFamily="34" charset="-120"/>
              </a:rPr>
              <a:t>, </a:t>
            </a:r>
            <a:r>
              <a:rPr lang="en-US" sz="910" dirty="0">
                <a:solidFill>
                  <a:srgbClr val="FFD28A"/>
                </a:solidFill>
                <a:latin typeface="Courier New" pitchFamily="34" charset="0"/>
                <a:ea typeface="Courier New" pitchFamily="34" charset="-122"/>
                <a:cs typeface="Courier New" pitchFamily="34" charset="-120"/>
              </a:rPr>
              <a:t>1</a:t>
            </a:r>
            <a:r>
              <a:rPr lang="en-US" sz="910" dirty="0">
                <a:solidFill>
                  <a:srgbClr val="E6EDF3"/>
                </a:solidFill>
                <a:latin typeface="Courier New" pitchFamily="34" charset="0"/>
                <a:ea typeface="Courier New" pitchFamily="34" charset="-122"/>
                <a:cs typeface="Courier New" pitchFamily="34" charset="-120"/>
              </a:rPr>
              <a:t>), (</a:t>
            </a:r>
            <a:r>
              <a:rPr lang="en-US" sz="910" dirty="0">
                <a:solidFill>
                  <a:srgbClr val="FFD28A"/>
                </a:solidFill>
                <a:latin typeface="Courier New" pitchFamily="34" charset="0"/>
                <a:ea typeface="Courier New" pitchFamily="34" charset="-122"/>
                <a:cs typeface="Courier New" pitchFamily="34" charset="-120"/>
              </a:rPr>
              <a:t>2</a:t>
            </a:r>
            <a:r>
              <a:rPr lang="en-US" sz="910" dirty="0">
                <a:solidFill>
                  <a:srgbClr val="E6EDF3"/>
                </a:solidFill>
                <a:latin typeface="Courier New" pitchFamily="34" charset="0"/>
                <a:ea typeface="Courier New" pitchFamily="34" charset="-122"/>
                <a:cs typeface="Courier New" pitchFamily="34" charset="-120"/>
              </a:rPr>
              <a:t>, </a:t>
            </a:r>
            <a:r>
              <a:rPr lang="en-US" sz="910" dirty="0">
                <a:solidFill>
                  <a:srgbClr val="FFD28A"/>
                </a:solidFill>
                <a:latin typeface="Courier New" pitchFamily="34" charset="0"/>
                <a:ea typeface="Courier New" pitchFamily="34" charset="-122"/>
                <a:cs typeface="Courier New" pitchFamily="34" charset="-120"/>
              </a:rPr>
              <a:t>3</a:t>
            </a:r>
            <a:r>
              <a:rPr lang="en-US" sz="910" dirty="0">
                <a:solidFill>
                  <a:srgbClr val="E6EDF3"/>
                </a:solidFill>
                <a:latin typeface="Courier New" pitchFamily="34" charset="0"/>
                <a:ea typeface="Courier New" pitchFamily="34" charset="-122"/>
                <a:cs typeface="Courier New" pitchFamily="34" charset="-120"/>
              </a:rPr>
              <a:t>), (</a:t>
            </a:r>
            <a:r>
              <a:rPr lang="en-US" sz="910" dirty="0">
                <a:solidFill>
                  <a:srgbClr val="FFD28A"/>
                </a:solidFill>
                <a:latin typeface="Courier New" pitchFamily="34" charset="0"/>
                <a:ea typeface="Courier New" pitchFamily="34" charset="-122"/>
                <a:cs typeface="Courier New" pitchFamily="34" charset="-120"/>
              </a:rPr>
              <a:t>1</a:t>
            </a:r>
            <a:r>
              <a:rPr lang="en-US" sz="910" dirty="0">
                <a:solidFill>
                  <a:srgbClr val="E6EDF3"/>
                </a:solidFill>
                <a:latin typeface="Courier New" pitchFamily="34" charset="0"/>
                <a:ea typeface="Courier New" pitchFamily="34" charset="-122"/>
                <a:cs typeface="Courier New" pitchFamily="34" charset="-120"/>
              </a:rPr>
              <a:t>, </a:t>
            </a:r>
            <a:r>
              <a:rPr lang="en-US" sz="910" dirty="0">
                <a:solidFill>
                  <a:srgbClr val="FFD28A"/>
                </a:solidFill>
                <a:latin typeface="Courier New" pitchFamily="34" charset="0"/>
                <a:ea typeface="Courier New" pitchFamily="34" charset="-122"/>
                <a:cs typeface="Courier New" pitchFamily="34" charset="-120"/>
              </a:rPr>
              <a:t>3</a:t>
            </a:r>
            <a:r>
              <a:rPr lang="en-US" sz="910" dirty="0">
                <a:solidFill>
                  <a:srgbClr val="E6EDF3"/>
                </a:solidFill>
                <a:latin typeface="Courier New" pitchFamily="34" charset="0"/>
                <a:ea typeface="Courier New" pitchFamily="34" charset="-122"/>
                <a:cs typeface="Courier New" pitchFamily="34" charset="-120"/>
              </a:rPr>
              <a:t>))]</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[0.05, 0.00725, 0.14263]</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b="1" dirty="0">
                <a:solidFill>
                  <a:srgbClr val="F2A860"/>
                </a:solidFill>
                <a:latin typeface="Courier New" pitchFamily="34" charset="0"/>
                <a:ea typeface="Courier New" pitchFamily="34" charset="-122"/>
                <a:cs typeface="Courier New" pitchFamily="34" charset="-120"/>
              </a:rPr>
              <a:t>from</a:t>
            </a:r>
            <a:r>
              <a:rPr lang="en-US" sz="910" dirty="0">
                <a:solidFill>
                  <a:srgbClr val="E6EDF3"/>
                </a:solidFill>
                <a:latin typeface="Courier New" pitchFamily="34" charset="0"/>
                <a:ea typeface="Courier New" pitchFamily="34" charset="-122"/>
                <a:cs typeface="Courier New" pitchFamily="34" charset="-120"/>
              </a:rPr>
              <a:t> math </a:t>
            </a:r>
            <a:r>
              <a:rPr lang="en-US" sz="910" b="1" dirty="0">
                <a:solidFill>
                  <a:srgbClr val="F2A860"/>
                </a:solidFill>
                <a:latin typeface="Courier New" pitchFamily="34" charset="0"/>
                <a:ea typeface="Courier New" pitchFamily="34" charset="-122"/>
                <a:cs typeface="Courier New" pitchFamily="34" charset="-120"/>
              </a:rPr>
              <a:t>import</a:t>
            </a:r>
            <a:r>
              <a:rPr lang="en-US" sz="910" dirty="0">
                <a:solidFill>
                  <a:srgbClr val="E6EDF3"/>
                </a:solidFill>
                <a:latin typeface="Courier New" pitchFamily="34" charset="0"/>
                <a:ea typeface="Courier New" pitchFamily="34" charset="-122"/>
                <a:cs typeface="Courier New" pitchFamily="34" charset="-120"/>
              </a:rPr>
              <a:t> comb; n = </a:t>
            </a:r>
            <a:r>
              <a:rPr lang="en-US" sz="910" dirty="0">
                <a:solidFill>
                  <a:srgbClr val="FFD28A"/>
                </a:solidFill>
                <a:latin typeface="Courier New" pitchFamily="34" charset="0"/>
                <a:ea typeface="Courier New" pitchFamily="34" charset="-122"/>
                <a:cs typeface="Courier New" pitchFamily="34" charset="-120"/>
              </a:rPr>
              <a:t>3</a:t>
            </a:r>
            <a:r>
              <a:rPr lang="en-US" sz="910" dirty="0">
                <a:solidFill>
                  <a:srgbClr val="E6EDF3"/>
                </a:solidFill>
                <a:latin typeface="Courier New" pitchFamily="34" charset="0"/>
                <a:ea typeface="Courier New" pitchFamily="34" charset="-122"/>
                <a:cs typeface="Courier New" pitchFamily="34" charset="-120"/>
              </a:rPr>
              <a:t>; m = </a:t>
            </a:r>
            <a:r>
              <a:rPr lang="en-US" sz="910" dirty="0">
                <a:solidFill>
                  <a:srgbClr val="FFD28A"/>
                </a:solidFill>
                <a:latin typeface="Courier New" pitchFamily="34" charset="0"/>
                <a:ea typeface="Courier New" pitchFamily="34" charset="-122"/>
                <a:cs typeface="Courier New" pitchFamily="34" charset="-120"/>
              </a:rPr>
              <a:t>2</a:t>
            </a:r>
            <a:r>
              <a:rPr lang="en-US" sz="910" dirty="0">
                <a:solidFill>
                  <a:srgbClr val="E6EDF3"/>
                </a:solidFill>
                <a:latin typeface="Courier New" pitchFamily="34" charset="0"/>
                <a:ea typeface="Courier New" pitchFamily="34" charset="-122"/>
                <a:cs typeface="Courier New" pitchFamily="34" charset="-120"/>
              </a:rPr>
              <a:t>; p = </a:t>
            </a:r>
            <a:r>
              <a:rPr lang="en-US" sz="910" dirty="0">
                <a:solidFill>
                  <a:srgbClr val="FFD28A"/>
                </a:solidFill>
                <a:latin typeface="Courier New" pitchFamily="34" charset="0"/>
                <a:ea typeface="Courier New" pitchFamily="34" charset="-122"/>
                <a:cs typeface="Courier New" pitchFamily="34" charset="-120"/>
              </a:rPr>
              <a:t>10</a:t>
            </a:r>
            <a:r>
              <a:rPr lang="en-US" sz="910" dirty="0">
                <a:solidFill>
                  <a:srgbClr val="E6EDF3"/>
                </a:solidFill>
                <a:latin typeface="Courier New" pitchFamily="34" charset="0"/>
                <a:ea typeface="Courier New" pitchFamily="34" charset="-122"/>
                <a:cs typeface="Courier New" pitchFamily="34" charset="-120"/>
              </a:rPr>
              <a:t>; q = p / </a:t>
            </a:r>
            <a:r>
              <a:rPr lang="en-US" sz="910" dirty="0">
                <a:solidFill>
                  <a:srgbClr val="FFD28A"/>
                </a:solidFill>
                <a:latin typeface="Courier New" pitchFamily="34" charset="0"/>
                <a:ea typeface="Courier New" pitchFamily="34" charset="-122"/>
                <a:cs typeface="Courier New" pitchFamily="34" charset="-120"/>
              </a:rPr>
              <a:t>100</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round(sum(comb(n, s) * (</a:t>
            </a:r>
            <a:r>
              <a:rPr lang="en-US" sz="910" dirty="0">
                <a:solidFill>
                  <a:srgbClr val="FFD28A"/>
                </a:solidFill>
                <a:latin typeface="Courier New" pitchFamily="34" charset="0"/>
                <a:ea typeface="Courier New" pitchFamily="34" charset="-122"/>
                <a:cs typeface="Courier New" pitchFamily="34" charset="-120"/>
              </a:rPr>
              <a:t>1</a:t>
            </a:r>
            <a:r>
              <a:rPr lang="en-US" sz="910" dirty="0">
                <a:solidFill>
                  <a:srgbClr val="E6EDF3"/>
                </a:solidFill>
                <a:latin typeface="Courier New" pitchFamily="34" charset="0"/>
                <a:ea typeface="Courier New" pitchFamily="34" charset="-122"/>
                <a:cs typeface="Courier New" pitchFamily="34" charset="-120"/>
              </a:rPr>
              <a:t> - q) ** s * q ** (n - s) </a:t>
            </a:r>
            <a:r>
              <a:rPr lang="en-US" sz="910" b="1" dirty="0">
                <a:solidFill>
                  <a:srgbClr val="F2A860"/>
                </a:solidFill>
                <a:latin typeface="Courier New" pitchFamily="34" charset="0"/>
                <a:ea typeface="Courier New" pitchFamily="34" charset="-122"/>
                <a:cs typeface="Courier New" pitchFamily="34" charset="-120"/>
              </a:rPr>
              <a:t>for</a:t>
            </a:r>
            <a:r>
              <a:rPr lang="en-US" sz="910" dirty="0">
                <a:solidFill>
                  <a:srgbClr val="E6EDF3"/>
                </a:solidFill>
                <a:latin typeface="Courier New" pitchFamily="34" charset="0"/>
                <a:ea typeface="Courier New" pitchFamily="34" charset="-122"/>
                <a:cs typeface="Courier New" pitchFamily="34" charset="-120"/>
              </a:rPr>
              <a:t> s </a:t>
            </a:r>
            <a:r>
              <a:rPr lang="en-US" sz="910" b="1" dirty="0">
                <a:solidFill>
                  <a:srgbClr val="F2A860"/>
                </a:solidFill>
                <a:latin typeface="Courier New" pitchFamily="34" charset="0"/>
                <a:ea typeface="Courier New" pitchFamily="34" charset="-122"/>
                <a:cs typeface="Courier New" pitchFamily="34" charset="-120"/>
              </a:rPr>
              <a:t>in</a:t>
            </a:r>
            <a:r>
              <a:rPr lang="en-US" sz="910" dirty="0">
                <a:solidFill>
                  <a:srgbClr val="E6EDF3"/>
                </a:solidFill>
                <a:latin typeface="Courier New" pitchFamily="34" charset="0"/>
                <a:ea typeface="Courier New" pitchFamily="34" charset="-122"/>
                <a:cs typeface="Courier New" pitchFamily="34" charset="-120"/>
              </a:rPr>
              <a:t> range(m)), </a:t>
            </a:r>
            <a:r>
              <a:rPr lang="en-US" sz="910" dirty="0">
                <a:solidFill>
                  <a:srgbClr val="FFD28A"/>
                </a:solidFill>
                <a:latin typeface="Courier New" pitchFamily="34" charset="0"/>
                <a:ea typeface="Courier New" pitchFamily="34" charset="-122"/>
                <a:cs typeface="Courier New" pitchFamily="34" charset="-120"/>
              </a:rPr>
              <a:t>4</a:t>
            </a:r>
            <a:r>
              <a:rPr lang="en-US" sz="910" dirty="0">
                <a:solidFill>
                  <a:srgbClr val="E6EDF3"/>
                </a:solidFill>
                <a:latin typeface="Courier New" pitchFamily="34" charset="0"/>
                <a:ea typeface="Courier New" pitchFamily="34" charset="-122"/>
                <a:cs typeface="Courier New" pitchFamily="34" charset="-120"/>
              </a:rPr>
              <a:t>)</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0.028</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p = </a:t>
            </a:r>
            <a:r>
              <a:rPr lang="en-US" sz="910" dirty="0">
                <a:solidFill>
                  <a:srgbClr val="FFD28A"/>
                </a:solidFill>
                <a:latin typeface="Courier New" pitchFamily="34" charset="0"/>
                <a:ea typeface="Courier New" pitchFamily="34" charset="-122"/>
                <a:cs typeface="Courier New" pitchFamily="34" charset="-120"/>
              </a:rPr>
              <a:t>5</a:t>
            </a:r>
            <a:r>
              <a:rPr lang="en-US" sz="910" dirty="0">
                <a:solidFill>
                  <a:srgbClr val="E6EDF3"/>
                </a:solidFill>
                <a:latin typeface="Courier New" pitchFamily="34" charset="0"/>
                <a:ea typeface="Courier New" pitchFamily="34" charset="-122"/>
                <a:cs typeface="Courier New" pitchFamily="34" charset="-120"/>
              </a:rPr>
              <a:t>; q = p / </a:t>
            </a:r>
            <a:r>
              <a:rPr lang="en-US" sz="910" dirty="0">
                <a:solidFill>
                  <a:srgbClr val="FFD28A"/>
                </a:solidFill>
                <a:latin typeface="Courier New" pitchFamily="34" charset="0"/>
                <a:ea typeface="Courier New" pitchFamily="34" charset="-122"/>
                <a:cs typeface="Courier New" pitchFamily="34" charset="-120"/>
              </a:rPr>
              <a:t>100</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round(sum(comb(n, s) * q ** s * (</a:t>
            </a:r>
            <a:r>
              <a:rPr lang="en-US" sz="910" dirty="0">
                <a:solidFill>
                  <a:srgbClr val="FFD28A"/>
                </a:solidFill>
                <a:latin typeface="Courier New" pitchFamily="34" charset="0"/>
                <a:ea typeface="Courier New" pitchFamily="34" charset="-122"/>
                <a:cs typeface="Courier New" pitchFamily="34" charset="-120"/>
              </a:rPr>
              <a:t>1</a:t>
            </a:r>
            <a:r>
              <a:rPr lang="en-US" sz="910" dirty="0">
                <a:solidFill>
                  <a:srgbClr val="E6EDF3"/>
                </a:solidFill>
                <a:latin typeface="Courier New" pitchFamily="34" charset="0"/>
                <a:ea typeface="Courier New" pitchFamily="34" charset="-122"/>
                <a:cs typeface="Courier New" pitchFamily="34" charset="-120"/>
              </a:rPr>
              <a:t> - q) ** (n - s) </a:t>
            </a:r>
            <a:r>
              <a:rPr lang="en-US" sz="910" b="1" dirty="0">
                <a:solidFill>
                  <a:srgbClr val="F2A860"/>
                </a:solidFill>
                <a:latin typeface="Courier New" pitchFamily="34" charset="0"/>
                <a:ea typeface="Courier New" pitchFamily="34" charset="-122"/>
                <a:cs typeface="Courier New" pitchFamily="34" charset="-120"/>
              </a:rPr>
              <a:t>for</a:t>
            </a:r>
            <a:r>
              <a:rPr lang="en-US" sz="910" dirty="0">
                <a:solidFill>
                  <a:srgbClr val="E6EDF3"/>
                </a:solidFill>
                <a:latin typeface="Courier New" pitchFamily="34" charset="0"/>
                <a:ea typeface="Courier New" pitchFamily="34" charset="-122"/>
                <a:cs typeface="Courier New" pitchFamily="34" charset="-120"/>
              </a:rPr>
              <a:t> s </a:t>
            </a:r>
            <a:r>
              <a:rPr lang="en-US" sz="910" b="1" dirty="0">
                <a:solidFill>
                  <a:srgbClr val="F2A860"/>
                </a:solidFill>
                <a:latin typeface="Courier New" pitchFamily="34" charset="0"/>
                <a:ea typeface="Courier New" pitchFamily="34" charset="-122"/>
                <a:cs typeface="Courier New" pitchFamily="34" charset="-120"/>
              </a:rPr>
              <a:t>in</a:t>
            </a:r>
            <a:r>
              <a:rPr lang="en-US" sz="910" dirty="0">
                <a:solidFill>
                  <a:srgbClr val="E6EDF3"/>
                </a:solidFill>
                <a:latin typeface="Courier New" pitchFamily="34" charset="0"/>
                <a:ea typeface="Courier New" pitchFamily="34" charset="-122"/>
                <a:cs typeface="Courier New" pitchFamily="34" charset="-120"/>
              </a:rPr>
              <a:t> range(m, n + </a:t>
            </a:r>
            <a:r>
              <a:rPr lang="en-US" sz="910" dirty="0">
                <a:solidFill>
                  <a:srgbClr val="FFD28A"/>
                </a:solidFill>
                <a:latin typeface="Courier New" pitchFamily="34" charset="0"/>
                <a:ea typeface="Courier New" pitchFamily="34" charset="-122"/>
                <a:cs typeface="Courier New" pitchFamily="34" charset="-120"/>
              </a:rPr>
              <a:t>1</a:t>
            </a:r>
            <a:r>
              <a:rPr lang="en-US" sz="910" dirty="0">
                <a:solidFill>
                  <a:srgbClr val="E6EDF3"/>
                </a:solidFill>
                <a:latin typeface="Courier New" pitchFamily="34" charset="0"/>
                <a:ea typeface="Courier New" pitchFamily="34" charset="-122"/>
                <a:cs typeface="Courier New" pitchFamily="34" charset="-120"/>
              </a:rPr>
              <a:t>)), </a:t>
            </a:r>
            <a:r>
              <a:rPr lang="en-US" sz="910" dirty="0">
                <a:solidFill>
                  <a:srgbClr val="FFD28A"/>
                </a:solidFill>
                <a:latin typeface="Courier New" pitchFamily="34" charset="0"/>
                <a:ea typeface="Courier New" pitchFamily="34" charset="-122"/>
                <a:cs typeface="Courier New" pitchFamily="34" charset="-120"/>
              </a:rPr>
              <a:t>5</a:t>
            </a:r>
            <a:r>
              <a:rPr lang="en-US" sz="910" dirty="0">
                <a:solidFill>
                  <a:srgbClr val="E6EDF3"/>
                </a:solidFill>
                <a:latin typeface="Courier New" pitchFamily="34" charset="0"/>
                <a:ea typeface="Courier New" pitchFamily="34" charset="-122"/>
                <a:cs typeface="Courier New" pitchFamily="34" charset="-120"/>
              </a:rPr>
              <a:t>)</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0.00725</a:t>
            </a:r>
            <a:endParaRPr lang="en-US" sz="910" dirty="0"/>
          </a:p>
        </p:txBody>
      </p:sp>
      <p:sp>
        <p:nvSpPr>
          <p:cNvPr id="19" name="Text 15"/>
          <p:cNvSpPr txBox="1"/>
          <p:nvPr/>
        </p:nvSpPr>
        <p:spPr>
          <a:xfrm>
            <a:off x="457200" y="44074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0"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More keys trade the risk of loss against the risk of theft</a:t>
            </a:r>
            <a:endParaRPr lang="en-US" sz="1350" dirty="0"/>
          </a:p>
        </p:txBody>
      </p:sp>
      <p:sp>
        <p:nvSpPr>
          <p:cNvPr id="22"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26</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An heir who must wait ten blocks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will with a waiting period: the heir can claim only after the owner stays silent</a:t>
            </a:r>
            <a:endParaRPr lang="en-US" sz="1300" dirty="0"/>
          </a:p>
        </p:txBody>
      </p:sp>
      <p:sp>
        <p:nvSpPr>
          <p:cNvPr id="6" name="Text 4"/>
          <p:cNvSpPr txBox="1"/>
          <p:nvPr/>
        </p:nvSpPr>
        <p:spPr>
          <a:xfrm>
            <a:off x="457200" y="123444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a:t>
            </a:r>
            <a:endParaRPr lang="en-US" sz="1150" dirty="0"/>
          </a:p>
        </p:txBody>
      </p:sp>
      <p:sp>
        <p:nvSpPr>
          <p:cNvPr id="7" name="Shape 5"/>
          <p:cNvSpPr/>
          <p:nvPr/>
        </p:nvSpPr>
        <p:spPr>
          <a:xfrm>
            <a:off x="457200" y="1508760"/>
            <a:ext cx="8229600" cy="2103120"/>
          </a:xfrm>
          <a:prstGeom prst="roundRect">
            <a:avLst>
              <a:gd name="adj" fmla="val 4348"/>
            </a:avLst>
          </a:prstGeom>
          <a:solidFill>
            <a:srgbClr val="23272E"/>
          </a:solidFill>
          <a:ln w="12700">
            <a:solidFill>
              <a:srgbClr val="23272E"/>
            </a:solidFill>
            <a:prstDash val="solid"/>
          </a:ln>
        </p:spPr>
      </p:sp>
      <p:sp>
        <p:nvSpPr>
          <p:cNvPr id="8" name="Text 6"/>
          <p:cNvSpPr txBox="1"/>
          <p:nvPr/>
        </p:nvSpPr>
        <p:spPr>
          <a:xfrm>
            <a:off x="640080" y="1627632"/>
            <a:ext cx="7863840" cy="1865376"/>
          </a:xfrm>
          <a:prstGeom prst="rect">
            <a:avLst/>
          </a:prstGeom>
          <a:noFill/>
          <a:ln/>
        </p:spPr>
        <p:txBody>
          <a:bodyPr wrap="square" lIns="0" tIns="0" rIns="0" bIns="0" rtlCol="0" anchor="t"/>
          <a:lstStyle/>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h, lim = R[</a:t>
            </a:r>
            <a:r>
              <a:rPr lang="en-US" sz="920" dirty="0">
                <a:solidFill>
                  <a:srgbClr val="9ECBFF"/>
                </a:solidFill>
                <a:latin typeface="Courier New" pitchFamily="34" charset="0"/>
                <a:ea typeface="Courier New" pitchFamily="34" charset="-122"/>
                <a:cs typeface="Courier New" pitchFamily="34" charset="-120"/>
              </a:rPr>
              <a:t>'b7_heir'</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'b7_limits'</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R[</a:t>
            </a:r>
            <a:r>
              <a:rPr lang="en-US" sz="920" dirty="0">
                <a:solidFill>
                  <a:srgbClr val="9ECBFF"/>
                </a:solidFill>
                <a:latin typeface="Courier New" pitchFamily="34" charset="0"/>
                <a:ea typeface="Courier New" pitchFamily="34" charset="-122"/>
                <a:cs typeface="Courier New" pitchFamily="34" charset="-120"/>
              </a:rPr>
              <a:t>'b7_owner'</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'allowed'</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'b7_descriptor'</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'policy'</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(True, 'or(owner, and(heir, older 10))')</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[h[k][</a:t>
            </a:r>
            <a:r>
              <a:rPr lang="en-US" sz="920" dirty="0">
                <a:solidFill>
                  <a:srgbClr val="9ECBFF"/>
                </a:solidFill>
                <a:latin typeface="Courier New" pitchFamily="34" charset="0"/>
                <a:ea typeface="Courier New" pitchFamily="34" charset="-122"/>
                <a:cs typeface="Courier New" pitchFamily="34" charset="-120"/>
              </a:rPr>
              <a:t>'allowed'</a:t>
            </a:r>
            <a:r>
              <a:rPr lang="en-US" sz="920" dirty="0">
                <a:solidFill>
                  <a:srgbClr val="E6EDF3"/>
                </a:solidFill>
                <a:latin typeface="Courier New" pitchFamily="34" charset="0"/>
                <a:ea typeface="Courier New" pitchFamily="34" charset="-122"/>
                <a:cs typeface="Courier New" pitchFamily="34" charset="-120"/>
              </a:rPr>
              <a:t>] </a:t>
            </a:r>
            <a:r>
              <a:rPr lang="en-US" sz="920" b="1" dirty="0">
                <a:solidFill>
                  <a:srgbClr val="F2A860"/>
                </a:solidFill>
                <a:latin typeface="Courier New" pitchFamily="34" charset="0"/>
                <a:ea typeface="Courier New" pitchFamily="34" charset="-122"/>
                <a:cs typeface="Courier New" pitchFamily="34" charset="-120"/>
              </a:rPr>
              <a:t>for</a:t>
            </a:r>
            <a:r>
              <a:rPr lang="en-US" sz="920" dirty="0">
                <a:solidFill>
                  <a:srgbClr val="E6EDF3"/>
                </a:solidFill>
                <a:latin typeface="Courier New" pitchFamily="34" charset="0"/>
                <a:ea typeface="Courier New" pitchFamily="34" charset="-122"/>
                <a:cs typeface="Courier New" pitchFamily="34" charset="-120"/>
              </a:rPr>
              <a:t> k </a:t>
            </a:r>
            <a:r>
              <a:rPr lang="en-US" sz="920" b="1" dirty="0">
                <a:solidFill>
                  <a:srgbClr val="F2A860"/>
                </a:solidFill>
                <a:latin typeface="Courier New" pitchFamily="34" charset="0"/>
                <a:ea typeface="Courier New" pitchFamily="34" charset="-122"/>
                <a:cs typeface="Courier New" pitchFamily="34" charset="-120"/>
              </a:rPr>
              <a:t>in</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9ECBFF"/>
                </a:solidFill>
                <a:latin typeface="Courier New" pitchFamily="34" charset="0"/>
                <a:ea typeface="Courier New" pitchFamily="34" charset="-122"/>
                <a:cs typeface="Courier New" pitchFamily="34" charset="-120"/>
              </a:rPr>
              <a:t>'at_1_conf'</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9ECBFF"/>
                </a:solidFill>
                <a:latin typeface="Courier New" pitchFamily="34" charset="0"/>
                <a:ea typeface="Courier New" pitchFamily="34" charset="-122"/>
                <a:cs typeface="Courier New" pitchFamily="34" charset="-120"/>
              </a:rPr>
              <a:t>'at_9_conf'</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9ECBFF"/>
                </a:solidFill>
                <a:latin typeface="Courier New" pitchFamily="34" charset="0"/>
                <a:ea typeface="Courier New" pitchFamily="34" charset="-122"/>
                <a:cs typeface="Courier New" pitchFamily="34" charset="-120"/>
              </a:rPr>
              <a:t>'at_10_conf'</a:t>
            </a:r>
            <a:r>
              <a:rPr lang="en-US" sz="920" dirty="0">
                <a:solidFill>
                  <a:srgbClr val="E6EDF3"/>
                </a:solidFill>
                <a:latin typeface="Courier New" pitchFamily="34" charset="0"/>
                <a:ea typeface="Courier New" pitchFamily="34" charset="-122"/>
                <a:cs typeface="Courier New" pitchFamily="34" charset="-120"/>
              </a:rPr>
              <a:t>)], h[</a:t>
            </a:r>
            <a:r>
              <a:rPr lang="en-US" sz="920" dirty="0">
                <a:solidFill>
                  <a:srgbClr val="9ECBFF"/>
                </a:solidFill>
                <a:latin typeface="Courier New" pitchFamily="34" charset="0"/>
                <a:ea typeface="Courier New" pitchFamily="34" charset="-122"/>
                <a:cs typeface="Courier New" pitchFamily="34" charset="-120"/>
              </a:rPr>
              <a:t>'at_9_conf'</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'reject_reason'</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([False, False, True], 'non-BIP68-final')</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lim[</a:t>
            </a:r>
            <a:r>
              <a:rPr lang="en-US" sz="920" dirty="0">
                <a:solidFill>
                  <a:srgbClr val="9ECBFF"/>
                </a:solidFill>
                <a:latin typeface="Courier New" pitchFamily="34" charset="0"/>
                <a:ea typeface="Courier New" pitchFamily="34" charset="-122"/>
                <a:cs typeface="Courier New" pitchFamily="34" charset="-120"/>
              </a:rPr>
              <a:t>'65535'</a:t>
            </a:r>
            <a:r>
              <a:rPr lang="en-US" sz="920" dirty="0">
                <a:solidFill>
                  <a:srgbClr val="E6EDF3"/>
                </a:solidFill>
                <a:latin typeface="Courier New" pitchFamily="34" charset="0"/>
                <a:ea typeface="Courier New" pitchFamily="34" charset="-122"/>
                <a:cs typeface="Courier New" pitchFamily="34" charset="-120"/>
              </a:rPr>
              <a:t>], lim[</a:t>
            </a:r>
            <a:r>
              <a:rPr lang="en-US" sz="920" dirty="0">
                <a:solidFill>
                  <a:srgbClr val="9ECBFF"/>
                </a:solidFill>
                <a:latin typeface="Courier New" pitchFamily="34" charset="0"/>
                <a:ea typeface="Courier New" pitchFamily="34" charset="-122"/>
                <a:cs typeface="Courier New" pitchFamily="34" charset="-120"/>
              </a:rPr>
              <a:t>'65536'</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'b7_older_65536'</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'allowed'</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'b7_older_65536'</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'confirmations'</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({'ok': True}, {'ok': True}, True, 1)</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bits = </a:t>
            </a:r>
            <a:r>
              <a:rPr lang="en-US" sz="920" dirty="0">
                <a:solidFill>
                  <a:srgbClr val="FFD28A"/>
                </a:solidFill>
                <a:latin typeface="Courier New" pitchFamily="34" charset="0"/>
                <a:ea typeface="Courier New" pitchFamily="34" charset="-122"/>
                <a:cs typeface="Courier New" pitchFamily="34" charset="-120"/>
              </a:rPr>
              <a:t>16</a:t>
            </a:r>
            <a:r>
              <a:rPr lang="en-US" sz="920" dirty="0">
                <a:solidFill>
                  <a:srgbClr val="E6EDF3"/>
                </a:solidFill>
                <a:latin typeface="Courier New" pitchFamily="34" charset="0"/>
                <a:ea typeface="Courier New" pitchFamily="34" charset="-122"/>
                <a:cs typeface="Courier New" pitchFamily="34" charset="-120"/>
              </a:rPr>
              <a:t>; top = </a:t>
            </a:r>
            <a:r>
              <a:rPr lang="en-US" sz="920" dirty="0">
                <a:solidFill>
                  <a:srgbClr val="FFD28A"/>
                </a:solidFill>
                <a:latin typeface="Courier New" pitchFamily="34" charset="0"/>
                <a:ea typeface="Courier New" pitchFamily="34" charset="-122"/>
                <a:cs typeface="Courier New" pitchFamily="34" charset="-120"/>
              </a:rPr>
              <a:t>2</a:t>
            </a:r>
            <a:r>
              <a:rPr lang="en-US" sz="920" dirty="0">
                <a:solidFill>
                  <a:srgbClr val="E6EDF3"/>
                </a:solidFill>
                <a:latin typeface="Courier New" pitchFamily="34" charset="0"/>
                <a:ea typeface="Courier New" pitchFamily="34" charset="-122"/>
                <a:cs typeface="Courier New" pitchFamily="34" charset="-120"/>
              </a:rPr>
              <a:t> ** bits - </a:t>
            </a:r>
            <a:r>
              <a:rPr lang="en-US" sz="920" dirty="0">
                <a:solidFill>
                  <a:srgbClr val="FFD28A"/>
                </a:solidFill>
                <a:latin typeface="Courier New" pitchFamily="34" charset="0"/>
                <a:ea typeface="Courier New" pitchFamily="34" charset="-122"/>
                <a:cs typeface="Courier New" pitchFamily="34" charset="-120"/>
              </a:rPr>
              <a:t>1</a:t>
            </a:r>
            <a:r>
              <a:rPr lang="en-US" sz="920" dirty="0">
                <a:solidFill>
                  <a:srgbClr val="E6EDF3"/>
                </a:solidFill>
                <a:latin typeface="Courier New" pitchFamily="34" charset="0"/>
                <a:ea typeface="Courier New" pitchFamily="34" charset="-122"/>
                <a:cs typeface="Courier New" pitchFamily="34" charset="-120"/>
              </a:rPr>
              <a:t>; n = </a:t>
            </a:r>
            <a:r>
              <a:rPr lang="en-US" sz="920" dirty="0">
                <a:solidFill>
                  <a:srgbClr val="FFD28A"/>
                </a:solidFill>
                <a:latin typeface="Courier New" pitchFamily="34" charset="0"/>
                <a:ea typeface="Courier New" pitchFamily="34" charset="-122"/>
                <a:cs typeface="Courier New" pitchFamily="34" charset="-120"/>
              </a:rPr>
              <a:t>10</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(top, </a:t>
            </a:r>
            <a:r>
              <a:rPr lang="en-US" sz="920" dirty="0">
                <a:solidFill>
                  <a:srgbClr val="FFD28A"/>
                </a:solidFill>
                <a:latin typeface="Courier New" pitchFamily="34" charset="0"/>
                <a:ea typeface="Courier New" pitchFamily="34" charset="-122"/>
                <a:cs typeface="Courier New" pitchFamily="34" charset="-120"/>
              </a:rPr>
              <a:t>65536</a:t>
            </a:r>
            <a:r>
              <a:rPr lang="en-US" sz="920" dirty="0">
                <a:solidFill>
                  <a:srgbClr val="E6EDF3"/>
                </a:solidFill>
                <a:latin typeface="Courier New" pitchFamily="34" charset="0"/>
                <a:ea typeface="Courier New" pitchFamily="34" charset="-122"/>
                <a:cs typeface="Courier New" pitchFamily="34" charset="-120"/>
              </a:rPr>
              <a:t> &amp; top, round(top * </a:t>
            </a:r>
            <a:r>
              <a:rPr lang="en-US" sz="920" dirty="0">
                <a:solidFill>
                  <a:srgbClr val="FFD28A"/>
                </a:solidFill>
                <a:latin typeface="Courier New" pitchFamily="34" charset="0"/>
                <a:ea typeface="Courier New" pitchFamily="34" charset="-122"/>
                <a:cs typeface="Courier New" pitchFamily="34" charset="-120"/>
              </a:rPr>
              <a:t>10</a:t>
            </a:r>
            <a:r>
              <a:rPr lang="en-US" sz="920" dirty="0">
                <a:solidFill>
                  <a:srgbClr val="E6EDF3"/>
                </a:solidFill>
                <a:latin typeface="Courier New" pitchFamily="34" charset="0"/>
                <a:ea typeface="Courier New" pitchFamily="34" charset="-122"/>
                <a:cs typeface="Courier New" pitchFamily="34" charset="-120"/>
              </a:rPr>
              <a:t> / </a:t>
            </a:r>
            <a:r>
              <a:rPr lang="en-US" sz="920" dirty="0">
                <a:solidFill>
                  <a:srgbClr val="FFD28A"/>
                </a:solidFill>
                <a:latin typeface="Courier New" pitchFamily="34" charset="0"/>
                <a:ea typeface="Courier New" pitchFamily="34" charset="-122"/>
                <a:cs typeface="Courier New" pitchFamily="34" charset="-120"/>
              </a:rPr>
              <a:t>1440</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FFD28A"/>
                </a:solidFill>
                <a:latin typeface="Courier New" pitchFamily="34" charset="0"/>
                <a:ea typeface="Courier New" pitchFamily="34" charset="-122"/>
                <a:cs typeface="Courier New" pitchFamily="34" charset="-120"/>
              </a:rPr>
              <a:t>1</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(65535, 0, 455.1)</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(n * </a:t>
            </a:r>
            <a:r>
              <a:rPr lang="en-US" sz="920" dirty="0">
                <a:solidFill>
                  <a:srgbClr val="FFD28A"/>
                </a:solidFill>
                <a:latin typeface="Courier New" pitchFamily="34" charset="0"/>
                <a:ea typeface="Courier New" pitchFamily="34" charset="-122"/>
                <a:cs typeface="Courier New" pitchFamily="34" charset="-120"/>
              </a:rPr>
              <a:t>10</a:t>
            </a:r>
            <a:r>
              <a:rPr lang="en-US" sz="920" dirty="0">
                <a:solidFill>
                  <a:srgbClr val="E6EDF3"/>
                </a:solidFill>
                <a:latin typeface="Courier New" pitchFamily="34" charset="0"/>
                <a:ea typeface="Courier New" pitchFamily="34" charset="-122"/>
                <a:cs typeface="Courier New" pitchFamily="34" charset="-120"/>
              </a:rPr>
              <a:t>, n * </a:t>
            </a:r>
            <a:r>
              <a:rPr lang="en-US" sz="920" dirty="0">
                <a:solidFill>
                  <a:srgbClr val="FFD28A"/>
                </a:solidFill>
                <a:latin typeface="Courier New" pitchFamily="34" charset="0"/>
                <a:ea typeface="Courier New" pitchFamily="34" charset="-122"/>
                <a:cs typeface="Courier New" pitchFamily="34" charset="-120"/>
              </a:rPr>
              <a:t>512</a:t>
            </a:r>
            <a:r>
              <a:rPr lang="en-US" sz="920" dirty="0">
                <a:solidFill>
                  <a:srgbClr val="E6EDF3"/>
                </a:solidFill>
                <a:latin typeface="Courier New" pitchFamily="34" charset="0"/>
                <a:ea typeface="Courier New" pitchFamily="34" charset="-122"/>
                <a:cs typeface="Courier New" pitchFamily="34" charset="-120"/>
              </a:rPr>
              <a:t> // </a:t>
            </a:r>
            <a:r>
              <a:rPr lang="en-US" sz="920" dirty="0">
                <a:solidFill>
                  <a:srgbClr val="FFD28A"/>
                </a:solidFill>
                <a:latin typeface="Courier New" pitchFamily="34" charset="0"/>
                <a:ea typeface="Courier New" pitchFamily="34" charset="-122"/>
                <a:cs typeface="Courier New" pitchFamily="34" charset="-120"/>
              </a:rPr>
              <a:t>60</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(100, 85)</a:t>
            </a:r>
            <a:endParaRPr lang="en-US" sz="920" dirty="0"/>
          </a:p>
        </p:txBody>
      </p:sp>
      <p:sp>
        <p:nvSpPr>
          <p:cNvPr id="9" name="Text 7"/>
          <p:cNvSpPr txBox="1"/>
          <p:nvPr/>
        </p:nvSpPr>
        <p:spPr>
          <a:xfrm>
            <a:off x="457200" y="363016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929634"/>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913632"/>
            <a:ext cx="7955280" cy="16002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Rows 2, 3: the owner spends at once; the heir is refused at 1 and 9 confirmations and accepted at 10</a:t>
            </a:r>
            <a:endParaRPr lang="en-US" sz="950" dirty="0"/>
          </a:p>
        </p:txBody>
      </p:sp>
      <p:sp>
        <p:nvSpPr>
          <p:cNvPr id="12" name="Shape 10"/>
          <p:cNvSpPr/>
          <p:nvPr/>
        </p:nvSpPr>
        <p:spPr>
          <a:xfrm>
            <a:off x="457200" y="4089654"/>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4073652"/>
            <a:ext cx="7955280" cy="16002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Rows 4, 6: older(65536) was accepted by Core 31.1, but 65536 &amp; 65535 is 0: the heir could spend after 1 block</a:t>
            </a:r>
            <a:endParaRPr lang="en-US" sz="950" dirty="0"/>
          </a:p>
        </p:txBody>
      </p:sp>
      <p:sp>
        <p:nvSpPr>
          <p:cNvPr id="14" name="Shape 12"/>
          <p:cNvSpPr/>
          <p:nvPr/>
        </p:nvSpPr>
        <p:spPr>
          <a:xfrm>
            <a:off x="457200" y="4249674"/>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4233672"/>
            <a:ext cx="7955280" cy="16002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Rows 6, 7: the longest honest wait is 65,535 blocks, 455.1 days; ten blocks are 100 minutes, ten 512-second units 85</a:t>
            </a:r>
            <a:endParaRPr lang="en-US" sz="950" dirty="0"/>
          </a:p>
        </p:txBody>
      </p:sp>
      <p:sp>
        <p:nvSpPr>
          <p:cNvPr id="16" name="Shape 14"/>
          <p:cNvSpPr/>
          <p:nvPr/>
        </p:nvSpPr>
        <p:spPr>
          <a:xfrm>
            <a:off x="457200" y="4409694"/>
            <a:ext cx="128016" cy="128016"/>
          </a:xfrm>
          <a:prstGeom prst="diamond">
            <a:avLst/>
          </a:prstGeom>
          <a:solidFill>
            <a:srgbClr val="D97A14"/>
          </a:solidFill>
          <a:ln w="12700">
            <a:solidFill>
              <a:srgbClr val="D97A14"/>
            </a:solidFill>
            <a:prstDash val="solid"/>
          </a:ln>
        </p:spPr>
      </p:sp>
      <p:sp>
        <p:nvSpPr>
          <p:cNvPr id="17" name="Text 15"/>
          <p:cNvSpPr txBox="1"/>
          <p:nvPr/>
        </p:nvSpPr>
        <p:spPr>
          <a:xfrm>
            <a:off x="731520" y="4393692"/>
            <a:ext cx="7955280" cy="16002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NOT EXECUTED: estate planning with a lawyer; only the script rule was tested, on regtest.</a:t>
            </a:r>
            <a:endParaRPr lang="en-US" sz="95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An heir path waits for confirmations, and a value over 65,535 wraps around</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26</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Shamir: three pieces, any two open it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map torn in three: any two pieces show the spot, one shows nothing</a:t>
            </a:r>
            <a:endParaRPr lang="en-US" sz="1300" dirty="0"/>
          </a:p>
        </p:txBody>
      </p:sp>
      <p:sp>
        <p:nvSpPr>
          <p:cNvPr id="6" name="Text 4"/>
          <p:cNvSpPr txBox="1"/>
          <p:nvPr/>
        </p:nvSpPr>
        <p:spPr>
          <a:xfrm>
            <a:off x="457200" y="123444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the chapter's own Shamir library over a prime field</a:t>
            </a:r>
            <a:endParaRPr lang="en-US" sz="1150" dirty="0"/>
          </a:p>
        </p:txBody>
      </p:sp>
      <p:sp>
        <p:nvSpPr>
          <p:cNvPr id="7" name="Shape 5"/>
          <p:cNvSpPr/>
          <p:nvPr/>
        </p:nvSpPr>
        <p:spPr>
          <a:xfrm>
            <a:off x="457200" y="1508760"/>
            <a:ext cx="8229600" cy="1600200"/>
          </a:xfrm>
          <a:prstGeom prst="roundRect">
            <a:avLst>
              <a:gd name="adj" fmla="val 5714"/>
            </a:avLst>
          </a:prstGeom>
          <a:solidFill>
            <a:srgbClr val="23272E"/>
          </a:solidFill>
          <a:ln w="12700">
            <a:solidFill>
              <a:srgbClr val="23272E"/>
            </a:solidFill>
            <a:prstDash val="solid"/>
          </a:ln>
        </p:spPr>
      </p:sp>
      <p:sp>
        <p:nvSpPr>
          <p:cNvPr id="8" name="Text 6"/>
          <p:cNvSpPr txBox="1"/>
          <p:nvPr/>
        </p:nvSpPr>
        <p:spPr>
          <a:xfrm>
            <a:off x="640080" y="1627632"/>
            <a:ext cx="7863840" cy="136245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sh = L.shamir_split(</a:t>
            </a:r>
            <a:r>
              <a:rPr lang="en-US" sz="1000" dirty="0">
                <a:solidFill>
                  <a:srgbClr val="FFD28A"/>
                </a:solidFill>
                <a:latin typeface="Courier New" pitchFamily="34" charset="0"/>
                <a:ea typeface="Courier New" pitchFamily="34" charset="-122"/>
                <a:cs typeface="Courier New" pitchFamily="34" charset="-120"/>
              </a:rPr>
              <a:t>123456789</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987654321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sh</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 1111111110), (2, 2098765431), (3, 3086419752)]</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[L.shamir_recover(x)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x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(sh[:</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sh[</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L.shamir_recover(sh[:</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123456789</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([123456789, 123456789], False)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 = </a:t>
            </a:r>
            <a:r>
              <a:rPr lang="en-US" sz="1000" dirty="0">
                <a:solidFill>
                  <a:srgbClr val="FFD28A"/>
                </a:solidFill>
                <a:latin typeface="Courier New" pitchFamily="34" charset="0"/>
                <a:ea typeface="Courier New" pitchFamily="34" charset="-122"/>
                <a:cs typeface="Courier New" pitchFamily="34" charset="-120"/>
              </a:rPr>
              <a:t>11</a:t>
            </a:r>
            <a:r>
              <a:rPr lang="en-US" sz="1000" dirty="0">
                <a:solidFill>
                  <a:srgbClr val="E6EDF3"/>
                </a:solidFill>
                <a:latin typeface="Courier New" pitchFamily="34" charset="0"/>
                <a:ea typeface="Courier New" pitchFamily="34" charset="-122"/>
                <a:cs typeface="Courier New" pitchFamily="34" charset="-120"/>
              </a:rPr>
              <a:t>; y = </a:t>
            </a:r>
            <a:r>
              <a:rPr lang="en-US" sz="1000" dirty="0">
                <a:solidFill>
                  <a:srgbClr val="FFD28A"/>
                </a:solidFill>
                <a:latin typeface="Courier New" pitchFamily="34" charset="0"/>
                <a:ea typeface="Courier New" pitchFamily="34" charset="-122"/>
                <a:cs typeface="Courier New" pitchFamily="34" charset="-120"/>
              </a:rPr>
              <a:t>5</a:t>
            </a:r>
            <a:r>
              <a:rPr lang="en-US" sz="1000" dirty="0">
                <a:solidFill>
                  <a:srgbClr val="E6EDF3"/>
                </a:solidFill>
                <a:latin typeface="Courier New" pitchFamily="34" charset="0"/>
                <a:ea typeface="Courier New" pitchFamily="34" charset="-122"/>
                <a:cs typeface="Courier New" pitchFamily="34" charset="-120"/>
              </a:rPr>
              <a:t>; fits = {(s, (y - s) % p)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s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range(p)}</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(len(fits), len({s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s, a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fits}), p)</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(11, 11, 11)</a:t>
            </a:r>
            <a:endParaRPr lang="en-US" sz="1000" dirty="0"/>
          </a:p>
        </p:txBody>
      </p:sp>
      <p:sp>
        <p:nvSpPr>
          <p:cNvPr id="9" name="Text 7"/>
          <p:cNvSpPr txBox="1"/>
          <p:nvPr/>
        </p:nvSpPr>
        <p:spPr>
          <a:xfrm>
            <a:off x="457200" y="312724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462528"/>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419856"/>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2, 3: a secret is split in three shares; any two recover it, one share alone does not (False)</a:t>
            </a:r>
            <a:endParaRPr lang="en-US" sz="1000" dirty="0"/>
          </a:p>
        </p:txBody>
      </p:sp>
      <p:sp>
        <p:nvSpPr>
          <p:cNvPr id="12" name="Shape 10"/>
          <p:cNvSpPr/>
          <p:nvPr/>
        </p:nvSpPr>
        <p:spPr>
          <a:xfrm>
            <a:off x="457200" y="3675888"/>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633216"/>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4, 5: modulo 11, one share fits all 11 possible secrets, one slope for each: the secret stays undetermined</a:t>
            </a:r>
            <a:endParaRPr lang="en-US" sz="1000" dirty="0"/>
          </a:p>
        </p:txBody>
      </p:sp>
      <p:sp>
        <p:nvSpPr>
          <p:cNvPr id="14" name="Shape 12"/>
          <p:cNvSpPr/>
          <p:nvPr/>
        </p:nvSpPr>
        <p:spPr>
          <a:xfrm>
            <a:off x="457200" y="3889248"/>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3846576"/>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The chapter does not mention Shamir; BIP 93 (codex32, a draft) and SLIP 39 use the idea for seed words</a:t>
            </a:r>
            <a:endParaRPr lang="en-US" sz="1000" dirty="0"/>
          </a:p>
        </p:txBody>
      </p:sp>
      <p:sp>
        <p:nvSpPr>
          <p:cNvPr id="16" name="Text 14"/>
          <p:cNvSpPr txBox="1"/>
          <p:nvPr/>
        </p:nvSpPr>
        <p:spPr>
          <a:xfrm>
            <a:off x="457200" y="4114800"/>
            <a:ext cx="8229600" cy="256032"/>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NOT EXECUTED: Shamir sharing inside a wallet; the shares were made by the chapter's own library.</a:t>
            </a:r>
            <a:endParaRPr lang="en-US" sz="100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Any two of three shares recover the secret, and one share reveals nothing</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26</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exchange that held the keys of everyone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24 February 2014: who, where, when and what to read next</a:t>
            </a:r>
            <a:endParaRPr lang="en-US" sz="1300" dirty="0"/>
          </a:p>
        </p:txBody>
      </p:sp>
      <p:pic>
        <p:nvPicPr>
          <p:cNvPr id="6" name="Image 0" descr="../../03-materials/ch13/assets/mtgox_letter.png">    </p:cNvPr>
          <p:cNvPicPr>
            <a:picLocks noChangeAspect="1"/>
          </p:cNvPicPr>
          <p:nvPr/>
        </p:nvPicPr>
        <p:blipFill>
          <a:blip r:embed="rId1"/>
          <a:srcRect l="0" r="0" t="0" b="0"/>
          <a:stretch/>
        </p:blipFill>
        <p:spPr>
          <a:xfrm>
            <a:off x="457200" y="1280160"/>
            <a:ext cx="2651760" cy="2240280"/>
          </a:xfrm>
          <a:prstGeom prst="rect">
            <a:avLst/>
          </a:prstGeom>
        </p:spPr>
      </p:pic>
      <p:sp>
        <p:nvSpPr>
          <p:cNvPr id="7" name="Text 4"/>
          <p:cNvSpPr txBox="1"/>
          <p:nvPr/>
        </p:nvSpPr>
        <p:spPr>
          <a:xfrm>
            <a:off x="457200" y="35387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Letter regarding Mt.Gox - NetSPI, CC BY 2.0, Flickr</a:t>
            </a:r>
            <a:endParaRPr lang="en-US" sz="900" dirty="0"/>
          </a:p>
        </p:txBody>
      </p:sp>
      <p:sp>
        <p:nvSpPr>
          <p:cNvPr id="8" name="Shape 5"/>
          <p:cNvSpPr/>
          <p:nvPr/>
        </p:nvSpPr>
        <p:spPr>
          <a:xfrm>
            <a:off x="3291840" y="1353312"/>
            <a:ext cx="128016" cy="128016"/>
          </a:xfrm>
          <a:prstGeom prst="diamond">
            <a:avLst/>
          </a:prstGeom>
          <a:solidFill>
            <a:srgbClr val="D97A14"/>
          </a:solidFill>
          <a:ln w="12700">
            <a:solidFill>
              <a:srgbClr val="D97A14"/>
            </a:solidFill>
            <a:prstDash val="solid"/>
          </a:ln>
        </p:spPr>
      </p:sp>
      <p:sp>
        <p:nvSpPr>
          <p:cNvPr id="9" name="Text 6"/>
          <p:cNvSpPr txBox="1"/>
          <p:nvPr/>
        </p:nvSpPr>
        <p:spPr>
          <a:xfrm>
            <a:off x="3566160" y="1280160"/>
            <a:ext cx="5120640" cy="27432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Mt. Gox, Shibuya, Tokyo, suspended all trading on 24 February 2014</a:t>
            </a:r>
            <a:endParaRPr lang="en-US" sz="1050" dirty="0"/>
          </a:p>
        </p:txBody>
      </p:sp>
      <p:sp>
        <p:nvSpPr>
          <p:cNvPr id="10" name="Shape 7"/>
          <p:cNvSpPr/>
          <p:nvPr/>
        </p:nvSpPr>
        <p:spPr>
          <a:xfrm>
            <a:off x="3291840" y="162763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566160" y="1554480"/>
            <a:ext cx="5120640" cy="27432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850,000 lost bitcoins, 7 percent of all coins: about 12.1 million (row 1)</a:t>
            </a:r>
            <a:endParaRPr lang="en-US" sz="1050" dirty="0"/>
          </a:p>
        </p:txBody>
      </p:sp>
      <p:sp>
        <p:nvSpPr>
          <p:cNvPr id="12" name="Shape 9"/>
          <p:cNvSpPr/>
          <p:nvPr/>
        </p:nvSpPr>
        <p:spPr>
          <a:xfrm>
            <a:off x="3291840" y="19019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566160" y="1828800"/>
            <a:ext cx="5120640" cy="27432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Bitfinex, 2016: a 36 percent cut, so 40 kept 25.6 (row 2)</a:t>
            </a:r>
            <a:endParaRPr lang="en-US" sz="1050" dirty="0"/>
          </a:p>
        </p:txBody>
      </p:sp>
      <p:sp>
        <p:nvSpPr>
          <p:cNvPr id="14" name="Shape 11"/>
          <p:cNvSpPr/>
          <p:nvPr/>
        </p:nvSpPr>
        <p:spPr>
          <a:xfrm>
            <a:off x="3291840" y="217627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3566160" y="2103120"/>
            <a:ext cx="5120640" cy="27432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850,000 less 199,999.99 found: 650,000.01 (row 3). NOT EXECUTED: a breach</a:t>
            </a:r>
            <a:endParaRPr lang="en-US" sz="1050" dirty="0"/>
          </a:p>
        </p:txBody>
      </p:sp>
      <p:sp>
        <p:nvSpPr>
          <p:cNvPr id="16" name="Text 13"/>
          <p:cNvSpPr txBox="1"/>
          <p:nvPr/>
        </p:nvSpPr>
        <p:spPr>
          <a:xfrm>
            <a:off x="3291840" y="2468880"/>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figures quoted in the research</a:t>
            </a:r>
            <a:endParaRPr lang="en-US" sz="1150" dirty="0"/>
          </a:p>
        </p:txBody>
      </p:sp>
      <p:sp>
        <p:nvSpPr>
          <p:cNvPr id="17" name="Shape 14"/>
          <p:cNvSpPr/>
          <p:nvPr/>
        </p:nvSpPr>
        <p:spPr>
          <a:xfrm>
            <a:off x="3291840" y="2743200"/>
            <a:ext cx="5394960" cy="1261872"/>
          </a:xfrm>
          <a:prstGeom prst="roundRect">
            <a:avLst>
              <a:gd name="adj" fmla="val 7246"/>
            </a:avLst>
          </a:prstGeom>
          <a:solidFill>
            <a:srgbClr val="23272E"/>
          </a:solidFill>
          <a:ln w="12700">
            <a:solidFill>
              <a:srgbClr val="23272E"/>
            </a:solidFill>
            <a:prstDash val="solid"/>
          </a:ln>
        </p:spPr>
      </p:sp>
      <p:sp>
        <p:nvSpPr>
          <p:cNvPr id="18" name="Text 15"/>
          <p:cNvSpPr txBox="1"/>
          <p:nvPr/>
        </p:nvSpPr>
        <p:spPr>
          <a:xfrm>
            <a:off x="3474720" y="2862072"/>
            <a:ext cx="5029200" cy="1024128"/>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round(</a:t>
            </a:r>
            <a:r>
              <a:rPr lang="en-US" sz="900" dirty="0">
                <a:solidFill>
                  <a:srgbClr val="FFD28A"/>
                </a:solidFill>
                <a:latin typeface="Courier New" pitchFamily="34" charset="0"/>
                <a:ea typeface="Courier New" pitchFamily="34" charset="-122"/>
                <a:cs typeface="Courier New" pitchFamily="34" charset="-120"/>
              </a:rPr>
              <a:t>850000</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100</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7</a:t>
            </a:r>
            <a:r>
              <a:rPr lang="en-US" sz="900" dirty="0">
                <a:solidFill>
                  <a:srgbClr val="E6EDF3"/>
                </a:solidFill>
                <a:latin typeface="Courier New" pitchFamily="34" charset="0"/>
                <a:ea typeface="Courier New" pitchFamily="34" charset="-122"/>
                <a:cs typeface="Courier New" pitchFamily="34" charset="-120"/>
              </a:rPr>
              <a:t> / 1e6, </a:t>
            </a:r>
            <a:r>
              <a:rPr lang="en-US" sz="900" dirty="0">
                <a:solidFill>
                  <a:srgbClr val="FFD28A"/>
                </a:solidFill>
                <a:latin typeface="Courier New" pitchFamily="34" charset="0"/>
                <a:ea typeface="Courier New" pitchFamily="34" charset="-122"/>
                <a:cs typeface="Courier New" pitchFamily="34" charset="-120"/>
              </a:rPr>
              <a:t>1</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12.1</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(round(</a:t>
            </a:r>
            <a:r>
              <a:rPr lang="en-US" sz="900" dirty="0">
                <a:solidFill>
                  <a:srgbClr val="FFD28A"/>
                </a:solidFill>
                <a:latin typeface="Courier New" pitchFamily="34" charset="0"/>
                <a:ea typeface="Courier New" pitchFamily="34" charset="-122"/>
                <a:cs typeface="Courier New" pitchFamily="34" charset="-120"/>
              </a:rPr>
              <a:t>40</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100</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36</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100</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2</a:t>
            </a:r>
            <a:r>
              <a:rPr lang="en-US" sz="900" dirty="0">
                <a:solidFill>
                  <a:srgbClr val="E6EDF3"/>
                </a:solidFill>
                <a:latin typeface="Courier New" pitchFamily="34" charset="0"/>
                <a:ea typeface="Courier New" pitchFamily="34" charset="-122"/>
                <a:cs typeface="Courier New" pitchFamily="34" charset="-120"/>
              </a:rPr>
              <a:t>), round(</a:t>
            </a:r>
            <a:r>
              <a:rPr lang="en-US" sz="900" dirty="0">
                <a:solidFill>
                  <a:srgbClr val="FFD28A"/>
                </a:solidFill>
                <a:latin typeface="Courier New" pitchFamily="34" charset="0"/>
                <a:ea typeface="Courier New" pitchFamily="34" charset="-122"/>
                <a:cs typeface="Courier New" pitchFamily="34" charset="-120"/>
              </a:rPr>
              <a:t>40</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36</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100</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2</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(25.6, 14.4)</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round(</a:t>
            </a:r>
            <a:r>
              <a:rPr lang="en-US" sz="900" dirty="0">
                <a:solidFill>
                  <a:srgbClr val="FFD28A"/>
                </a:solidFill>
                <a:latin typeface="Courier New" pitchFamily="34" charset="0"/>
                <a:ea typeface="Courier New" pitchFamily="34" charset="-122"/>
                <a:cs typeface="Courier New" pitchFamily="34" charset="-120"/>
              </a:rPr>
              <a:t>850000</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199999.99</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2</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650000.01</a:t>
            </a:r>
            <a:endParaRPr lang="en-US" sz="900" dirty="0"/>
          </a:p>
        </p:txBody>
      </p:sp>
      <p:sp>
        <p:nvSpPr>
          <p:cNvPr id="19" name="Text 16"/>
          <p:cNvSpPr txBox="1"/>
          <p:nvPr/>
        </p:nvSpPr>
        <p:spPr>
          <a:xfrm>
            <a:off x="3291840" y="402336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0" name="Shape 17"/>
          <p:cNvSpPr/>
          <p:nvPr/>
        </p:nvSpPr>
        <p:spPr>
          <a:xfrm>
            <a:off x="457200" y="4224528"/>
            <a:ext cx="1896100"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548640" y="4224528"/>
            <a:ext cx="1749796"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Mark Karpeles, who bought t…</a:t>
            </a:r>
            <a:endParaRPr lang="en-US" sz="750" dirty="0"/>
          </a:p>
        </p:txBody>
      </p:sp>
      <p:sp>
        <p:nvSpPr>
          <p:cNvPr id="22" name="Shape 19"/>
          <p:cNvSpPr/>
          <p:nvPr/>
        </p:nvSpPr>
        <p:spPr>
          <a:xfrm>
            <a:off x="2463028" y="4224528"/>
            <a:ext cx="1817096"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2554468" y="4224528"/>
            <a:ext cx="1670792"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exchange Mt. Gox in Sh…</a:t>
            </a:r>
            <a:endParaRPr lang="en-US" sz="750" dirty="0"/>
          </a:p>
        </p:txBody>
      </p:sp>
      <p:sp>
        <p:nvSpPr>
          <p:cNvPr id="24" name="Shape 21"/>
          <p:cNvSpPr/>
          <p:nvPr/>
        </p:nvSpPr>
        <p:spPr>
          <a:xfrm>
            <a:off x="4389852" y="4224528"/>
            <a:ext cx="1027054" cy="365760"/>
          </a:xfrm>
          <a:prstGeom prst="roundRect">
            <a:avLst>
              <a:gd name="adj" fmla="val 50000"/>
            </a:avLst>
          </a:prstGeom>
          <a:solidFill>
            <a:srgbClr val="EFE9DC"/>
          </a:solidFill>
          <a:ln w="9525">
            <a:solidFill>
              <a:srgbClr val="DFD6C7"/>
            </a:solidFill>
            <a:prstDash val="solid"/>
          </a:ln>
        </p:spPr>
      </p:sp>
      <p:sp>
        <p:nvSpPr>
          <p:cNvPr id="25" name="Text 22"/>
          <p:cNvSpPr txBox="1"/>
          <p:nvPr/>
        </p:nvSpPr>
        <p:spPr>
          <a:xfrm>
            <a:off x="4481292" y="4224528"/>
            <a:ext cx="880750"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2014-02-24</a:t>
            </a:r>
            <a:endParaRPr lang="en-US" sz="750" dirty="0"/>
          </a:p>
        </p:txBody>
      </p:sp>
      <p:sp>
        <p:nvSpPr>
          <p:cNvPr id="26" name="Shape 23"/>
          <p:cNvSpPr/>
          <p:nvPr/>
        </p:nvSpPr>
        <p:spPr>
          <a:xfrm>
            <a:off x="5526634" y="4224528"/>
            <a:ext cx="3160166" cy="365760"/>
          </a:xfrm>
          <a:prstGeom prst="roundRect">
            <a:avLst>
              <a:gd name="adj" fmla="val 50000"/>
            </a:avLst>
          </a:prstGeom>
          <a:solidFill>
            <a:srgbClr val="2F6D62"/>
          </a:solidFill>
          <a:ln w="9525">
            <a:solidFill>
              <a:srgbClr val="2F6D62"/>
            </a:solidFill>
            <a:prstDash val="solid"/>
          </a:ln>
        </p:spPr>
      </p:sp>
      <p:sp>
        <p:nvSpPr>
          <p:cNvPr id="27" name="Text 24"/>
          <p:cNvSpPr txBox="1"/>
          <p:nvPr/>
        </p:nvSpPr>
        <p:spPr>
          <a:xfrm>
            <a:off x="5618074" y="422452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Wikipedia: Mt. Gox (article)</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en.wikipedia.org</a:t>
            </a:r>
            <a:endParaRPr lang="en-US" sz="750" dirty="0"/>
          </a:p>
        </p:txBody>
      </p:sp>
      <p:sp>
        <p:nvSpPr>
          <p:cNvPr id="28" name="Text 25"/>
          <p:cNvSpPr txBox="1"/>
          <p:nvPr/>
        </p:nvSpPr>
        <p:spPr>
          <a:xfrm>
            <a:off x="457200" y="3858768"/>
            <a:ext cx="2651760" cy="329184"/>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Stand-in picture: a letter about the bankruptcy, not the theft.</a:t>
            </a:r>
            <a:endParaRPr lang="en-US" sz="900" dirty="0"/>
          </a:p>
        </p:txBody>
      </p:sp>
      <p:sp>
        <p:nvSpPr>
          <p:cNvPr id="29" name="Text 2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26</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Three pieces of a key, any two will do</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1 November 1979: who, where, when and what to read next</a:t>
            </a:r>
            <a:endParaRPr lang="en-US" sz="1300" dirty="0"/>
          </a:p>
        </p:txBody>
      </p:sp>
      <p:pic>
        <p:nvPicPr>
          <p:cNvPr id="6" name="Image 0" descr="../../03-materials/ch13/assets/adi_shamir.png">    </p:cNvPr>
          <p:cNvPicPr>
            <a:picLocks noChangeAspect="1"/>
          </p:cNvPicPr>
          <p:nvPr/>
        </p:nvPicPr>
        <p:blipFill>
          <a:blip r:embed="rId1"/>
          <a:srcRect l="0" r="0" t="0" b="0"/>
          <a:stretch/>
        </p:blipFill>
        <p:spPr>
          <a:xfrm>
            <a:off x="457200" y="1280160"/>
            <a:ext cx="2651760" cy="2240280"/>
          </a:xfrm>
          <a:prstGeom prst="rect">
            <a:avLst/>
          </a:prstGeom>
        </p:spPr>
      </p:pic>
      <p:sp>
        <p:nvSpPr>
          <p:cNvPr id="7" name="Text 4"/>
          <p:cNvSpPr txBox="1"/>
          <p:nvPr/>
        </p:nvSpPr>
        <p:spPr>
          <a:xfrm>
            <a:off x="457200" y="35387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Adi Shamir Royal Society - Duncan Hull, CC BY-SA 4.0, Wikimedia Commons</a:t>
            </a:r>
            <a:endParaRPr lang="en-US" sz="900" dirty="0"/>
          </a:p>
        </p:txBody>
      </p:sp>
      <p:sp>
        <p:nvSpPr>
          <p:cNvPr id="8" name="Shape 5"/>
          <p:cNvSpPr/>
          <p:nvPr/>
        </p:nvSpPr>
        <p:spPr>
          <a:xfrm>
            <a:off x="3291840" y="13990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566160" y="128016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In November 1979 Adi Shamir, then at MIT, publishes How to Share a Secret in the Communications of the ACM</a:t>
            </a:r>
            <a:endParaRPr lang="en-US" sz="1050" dirty="0"/>
          </a:p>
        </p:txBody>
      </p:sp>
      <p:sp>
        <p:nvSpPr>
          <p:cNvPr id="10" name="Shape 7"/>
          <p:cNvSpPr/>
          <p:nvPr/>
        </p:nvSpPr>
        <p:spPr>
          <a:xfrm>
            <a:off x="3291840" y="17647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566160" y="164592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Modulo 47, the secret 12 and slope 30 give shares 42, 25 and 8; two of them give back 12 (row 2)</a:t>
            </a:r>
            <a:endParaRPr lang="en-US" sz="1050" dirty="0"/>
          </a:p>
        </p:txBody>
      </p:sp>
      <p:sp>
        <p:nvSpPr>
          <p:cNvPr id="12" name="Shape 9"/>
          <p:cNvSpPr/>
          <p:nvPr/>
        </p:nvSpPr>
        <p:spPr>
          <a:xfrm>
            <a:off x="3291840" y="2130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566160" y="201168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With 3 of 5 shares needed, 16 groups open the secret and the 10 groups of two learn nothing (row 4)</a:t>
            </a:r>
            <a:endParaRPr lang="en-US" sz="1050" dirty="0"/>
          </a:p>
        </p:txBody>
      </p:sp>
      <p:sp>
        <p:nvSpPr>
          <p:cNvPr id="14" name="Text 11"/>
          <p:cNvSpPr txBox="1"/>
          <p:nvPr/>
        </p:nvSpPr>
        <p:spPr>
          <a:xfrm>
            <a:off x="3291840" y="2468880"/>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small numbers worked by hand, after the published 1979 paper</a:t>
            </a:r>
            <a:endParaRPr lang="en-US" sz="1150" dirty="0"/>
          </a:p>
        </p:txBody>
      </p:sp>
      <p:sp>
        <p:nvSpPr>
          <p:cNvPr id="15" name="Shape 12"/>
          <p:cNvSpPr/>
          <p:nvPr/>
        </p:nvSpPr>
        <p:spPr>
          <a:xfrm>
            <a:off x="3291840" y="2743200"/>
            <a:ext cx="5394960" cy="1261872"/>
          </a:xfrm>
          <a:prstGeom prst="roundRect">
            <a:avLst>
              <a:gd name="adj" fmla="val 7246"/>
            </a:avLst>
          </a:prstGeom>
          <a:solidFill>
            <a:srgbClr val="23272E"/>
          </a:solidFill>
          <a:ln w="12700">
            <a:solidFill>
              <a:srgbClr val="23272E"/>
            </a:solidFill>
            <a:prstDash val="solid"/>
          </a:ln>
        </p:spPr>
      </p:sp>
      <p:sp>
        <p:nvSpPr>
          <p:cNvPr id="16" name="Text 13"/>
          <p:cNvSpPr txBox="1"/>
          <p:nvPr/>
        </p:nvSpPr>
        <p:spPr>
          <a:xfrm>
            <a:off x="3474720" y="2862072"/>
            <a:ext cx="5029200" cy="1024128"/>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p = </a:t>
            </a:r>
            <a:r>
              <a:rPr lang="en-US" sz="900" dirty="0">
                <a:solidFill>
                  <a:srgbClr val="FFD28A"/>
                </a:solidFill>
                <a:latin typeface="Courier New" pitchFamily="34" charset="0"/>
                <a:ea typeface="Courier New" pitchFamily="34" charset="-122"/>
                <a:cs typeface="Courier New" pitchFamily="34" charset="-120"/>
              </a:rPr>
              <a:t>47</a:t>
            </a:r>
            <a:r>
              <a:rPr lang="en-US" sz="900" dirty="0">
                <a:solidFill>
                  <a:srgbClr val="E6EDF3"/>
                </a:solidFill>
                <a:latin typeface="Courier New" pitchFamily="34" charset="0"/>
                <a:ea typeface="Courier New" pitchFamily="34" charset="-122"/>
                <a:cs typeface="Courier New" pitchFamily="34" charset="-120"/>
              </a:rPr>
              <a:t>; s = </a:t>
            </a:r>
            <a:r>
              <a:rPr lang="en-US" sz="900" dirty="0">
                <a:solidFill>
                  <a:srgbClr val="FFD28A"/>
                </a:solidFill>
                <a:latin typeface="Courier New" pitchFamily="34" charset="0"/>
                <a:ea typeface="Courier New" pitchFamily="34" charset="-122"/>
                <a:cs typeface="Courier New" pitchFamily="34" charset="-120"/>
              </a:rPr>
              <a:t>12</a:t>
            </a:r>
            <a:r>
              <a:rPr lang="en-US" sz="900" dirty="0">
                <a:solidFill>
                  <a:srgbClr val="E6EDF3"/>
                </a:solidFill>
                <a:latin typeface="Courier New" pitchFamily="34" charset="0"/>
                <a:ea typeface="Courier New" pitchFamily="34" charset="-122"/>
                <a:cs typeface="Courier New" pitchFamily="34" charset="-120"/>
              </a:rPr>
              <a:t>; a = </a:t>
            </a:r>
            <a:r>
              <a:rPr lang="en-US" sz="900" dirty="0">
                <a:solidFill>
                  <a:srgbClr val="FFD28A"/>
                </a:solidFill>
                <a:latin typeface="Courier New" pitchFamily="34" charset="0"/>
                <a:ea typeface="Courier New" pitchFamily="34" charset="-122"/>
                <a:cs typeface="Courier New" pitchFamily="34" charset="-120"/>
              </a:rPr>
              <a:t>30</a:t>
            </a:r>
            <a:r>
              <a:rPr lang="en-US" sz="900" dirty="0">
                <a:solidFill>
                  <a:srgbClr val="E6EDF3"/>
                </a:solidFill>
                <a:latin typeface="Courier New" pitchFamily="34" charset="0"/>
                <a:ea typeface="Courier New" pitchFamily="34" charset="-122"/>
                <a:cs typeface="Courier New" pitchFamily="34" charset="-120"/>
              </a:rPr>
              <a:t>; y = [(s + a * x) % p </a:t>
            </a:r>
            <a:r>
              <a:rPr lang="en-US" sz="900" b="1" dirty="0">
                <a:solidFill>
                  <a:srgbClr val="F2A860"/>
                </a:solidFill>
                <a:latin typeface="Courier New" pitchFamily="34" charset="0"/>
                <a:ea typeface="Courier New" pitchFamily="34" charset="-122"/>
                <a:cs typeface="Courier New" pitchFamily="34" charset="-120"/>
              </a:rPr>
              <a:t>for</a:t>
            </a:r>
            <a:r>
              <a:rPr lang="en-US" sz="900" dirty="0">
                <a:solidFill>
                  <a:srgbClr val="E6EDF3"/>
                </a:solidFill>
                <a:latin typeface="Courier New" pitchFamily="34" charset="0"/>
                <a:ea typeface="Courier New" pitchFamily="34" charset="-122"/>
                <a:cs typeface="Courier New" pitchFamily="34" charset="-120"/>
              </a:rPr>
              <a:t> x </a:t>
            </a:r>
            <a:r>
              <a:rPr lang="en-US" sz="900" b="1" dirty="0">
                <a:solidFill>
                  <a:srgbClr val="F2A860"/>
                </a:solidFill>
                <a:latin typeface="Courier New" pitchFamily="34" charset="0"/>
                <a:ea typeface="Courier New" pitchFamily="34" charset="-122"/>
                <a:cs typeface="Courier New" pitchFamily="34" charset="-120"/>
              </a:rPr>
              <a:t>in</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1</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2</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3</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(y, (</a:t>
            </a:r>
            <a:r>
              <a:rPr lang="en-US" sz="900" dirty="0">
                <a:solidFill>
                  <a:srgbClr val="FFD28A"/>
                </a:solidFill>
                <a:latin typeface="Courier New" pitchFamily="34" charset="0"/>
                <a:ea typeface="Courier New" pitchFamily="34" charset="-122"/>
                <a:cs typeface="Courier New" pitchFamily="34" charset="-120"/>
              </a:rPr>
              <a:t>2</a:t>
            </a:r>
            <a:r>
              <a:rPr lang="en-US" sz="900" dirty="0">
                <a:solidFill>
                  <a:srgbClr val="E6EDF3"/>
                </a:solidFill>
                <a:latin typeface="Courier New" pitchFamily="34" charset="0"/>
                <a:ea typeface="Courier New" pitchFamily="34" charset="-122"/>
                <a:cs typeface="Courier New" pitchFamily="34" charset="-120"/>
              </a:rPr>
              <a:t> * y[</a:t>
            </a:r>
            <a:r>
              <a:rPr lang="en-US" sz="900" dirty="0">
                <a:solidFill>
                  <a:srgbClr val="FFD28A"/>
                </a:solidFill>
                <a:latin typeface="Courier New" pitchFamily="34" charset="0"/>
                <a:ea typeface="Courier New" pitchFamily="34" charset="-122"/>
                <a:cs typeface="Courier New" pitchFamily="34" charset="-120"/>
              </a:rPr>
              <a:t>0</a:t>
            </a:r>
            <a:r>
              <a:rPr lang="en-US" sz="900" dirty="0">
                <a:solidFill>
                  <a:srgbClr val="E6EDF3"/>
                </a:solidFill>
                <a:latin typeface="Courier New" pitchFamily="34" charset="0"/>
                <a:ea typeface="Courier New" pitchFamily="34" charset="-122"/>
                <a:cs typeface="Courier New" pitchFamily="34" charset="-120"/>
              </a:rPr>
              <a:t>] - y[</a:t>
            </a:r>
            <a:r>
              <a:rPr lang="en-US" sz="900" dirty="0">
                <a:solidFill>
                  <a:srgbClr val="FFD28A"/>
                </a:solidFill>
                <a:latin typeface="Courier New" pitchFamily="34" charset="0"/>
                <a:ea typeface="Courier New" pitchFamily="34" charset="-122"/>
                <a:cs typeface="Courier New" pitchFamily="34" charset="-120"/>
              </a:rPr>
              <a:t>1</a:t>
            </a:r>
            <a:r>
              <a:rPr lang="en-US" sz="900" dirty="0">
                <a:solidFill>
                  <a:srgbClr val="E6EDF3"/>
                </a:solidFill>
                <a:latin typeface="Courier New" pitchFamily="34" charset="0"/>
                <a:ea typeface="Courier New" pitchFamily="34" charset="-122"/>
                <a:cs typeface="Courier New" pitchFamily="34" charset="-120"/>
              </a:rPr>
              <a:t>]) % p)</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([42, 25, 8], 12)</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b="1" dirty="0">
                <a:solidFill>
                  <a:srgbClr val="F2A860"/>
                </a:solidFill>
                <a:latin typeface="Courier New" pitchFamily="34" charset="0"/>
                <a:ea typeface="Courier New" pitchFamily="34" charset="-122"/>
                <a:cs typeface="Courier New" pitchFamily="34" charset="-120"/>
              </a:rPr>
              <a:t>from</a:t>
            </a:r>
            <a:r>
              <a:rPr lang="en-US" sz="900" dirty="0">
                <a:solidFill>
                  <a:srgbClr val="E6EDF3"/>
                </a:solidFill>
                <a:latin typeface="Courier New" pitchFamily="34" charset="0"/>
                <a:ea typeface="Courier New" pitchFamily="34" charset="-122"/>
                <a:cs typeface="Courier New" pitchFamily="34" charset="-120"/>
              </a:rPr>
              <a:t> math </a:t>
            </a:r>
            <a:r>
              <a:rPr lang="en-US" sz="900" b="1" dirty="0">
                <a:solidFill>
                  <a:srgbClr val="F2A860"/>
                </a:solidFill>
                <a:latin typeface="Courier New" pitchFamily="34" charset="0"/>
                <a:ea typeface="Courier New" pitchFamily="34" charset="-122"/>
                <a:cs typeface="Courier New" pitchFamily="34" charset="-120"/>
              </a:rPr>
              <a:t>import</a:t>
            </a:r>
            <a:r>
              <a:rPr lang="en-US" sz="900" dirty="0">
                <a:solidFill>
                  <a:srgbClr val="E6EDF3"/>
                </a:solidFill>
                <a:latin typeface="Courier New" pitchFamily="34" charset="0"/>
                <a:ea typeface="Courier New" pitchFamily="34" charset="-122"/>
                <a:cs typeface="Courier New" pitchFamily="34" charset="-120"/>
              </a:rPr>
              <a:t> comb; n = </a:t>
            </a:r>
            <a:r>
              <a:rPr lang="en-US" sz="900" dirty="0">
                <a:solidFill>
                  <a:srgbClr val="FFD28A"/>
                </a:solidFill>
                <a:latin typeface="Courier New" pitchFamily="34" charset="0"/>
                <a:ea typeface="Courier New" pitchFamily="34" charset="-122"/>
                <a:cs typeface="Courier New" pitchFamily="34" charset="-120"/>
              </a:rPr>
              <a:t>5</a:t>
            </a:r>
            <a:r>
              <a:rPr lang="en-US" sz="900" dirty="0">
                <a:solidFill>
                  <a:srgbClr val="E6EDF3"/>
                </a:solidFill>
                <a:latin typeface="Courier New" pitchFamily="34" charset="0"/>
                <a:ea typeface="Courier New" pitchFamily="34" charset="-122"/>
                <a:cs typeface="Courier New" pitchFamily="34" charset="-120"/>
              </a:rPr>
              <a:t>; k = </a:t>
            </a:r>
            <a:r>
              <a:rPr lang="en-US" sz="900" dirty="0">
                <a:solidFill>
                  <a:srgbClr val="FFD28A"/>
                </a:solidFill>
                <a:latin typeface="Courier New" pitchFamily="34" charset="0"/>
                <a:ea typeface="Courier New" pitchFamily="34" charset="-122"/>
                <a:cs typeface="Courier New" pitchFamily="34" charset="-120"/>
              </a:rPr>
              <a:t>3</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(sum(comb(n, j) </a:t>
            </a:r>
            <a:r>
              <a:rPr lang="en-US" sz="900" b="1" dirty="0">
                <a:solidFill>
                  <a:srgbClr val="F2A860"/>
                </a:solidFill>
                <a:latin typeface="Courier New" pitchFamily="34" charset="0"/>
                <a:ea typeface="Courier New" pitchFamily="34" charset="-122"/>
                <a:cs typeface="Courier New" pitchFamily="34" charset="-120"/>
              </a:rPr>
              <a:t>for</a:t>
            </a:r>
            <a:r>
              <a:rPr lang="en-US" sz="900" dirty="0">
                <a:solidFill>
                  <a:srgbClr val="E6EDF3"/>
                </a:solidFill>
                <a:latin typeface="Courier New" pitchFamily="34" charset="0"/>
                <a:ea typeface="Courier New" pitchFamily="34" charset="-122"/>
                <a:cs typeface="Courier New" pitchFamily="34" charset="-120"/>
              </a:rPr>
              <a:t> j </a:t>
            </a:r>
            <a:r>
              <a:rPr lang="en-US" sz="900" b="1" dirty="0">
                <a:solidFill>
                  <a:srgbClr val="F2A860"/>
                </a:solidFill>
                <a:latin typeface="Courier New" pitchFamily="34" charset="0"/>
                <a:ea typeface="Courier New" pitchFamily="34" charset="-122"/>
                <a:cs typeface="Courier New" pitchFamily="34" charset="-120"/>
              </a:rPr>
              <a:t>in</a:t>
            </a:r>
            <a:r>
              <a:rPr lang="en-US" sz="900" dirty="0">
                <a:solidFill>
                  <a:srgbClr val="E6EDF3"/>
                </a:solidFill>
                <a:latin typeface="Courier New" pitchFamily="34" charset="0"/>
                <a:ea typeface="Courier New" pitchFamily="34" charset="-122"/>
                <a:cs typeface="Courier New" pitchFamily="34" charset="-120"/>
              </a:rPr>
              <a:t> range(k, n + </a:t>
            </a:r>
            <a:r>
              <a:rPr lang="en-US" sz="900" dirty="0">
                <a:solidFill>
                  <a:srgbClr val="FFD28A"/>
                </a:solidFill>
                <a:latin typeface="Courier New" pitchFamily="34" charset="0"/>
                <a:ea typeface="Courier New" pitchFamily="34" charset="-122"/>
                <a:cs typeface="Courier New" pitchFamily="34" charset="-120"/>
              </a:rPr>
              <a:t>1</a:t>
            </a:r>
            <a:r>
              <a:rPr lang="en-US" sz="900" dirty="0">
                <a:solidFill>
                  <a:srgbClr val="E6EDF3"/>
                </a:solidFill>
                <a:latin typeface="Courier New" pitchFamily="34" charset="0"/>
                <a:ea typeface="Courier New" pitchFamily="34" charset="-122"/>
                <a:cs typeface="Courier New" pitchFamily="34" charset="-120"/>
              </a:rPr>
              <a:t>)), comb(n, k - </a:t>
            </a:r>
            <a:r>
              <a:rPr lang="en-US" sz="900" dirty="0">
                <a:solidFill>
                  <a:srgbClr val="FFD28A"/>
                </a:solidFill>
                <a:latin typeface="Courier New" pitchFamily="34" charset="0"/>
                <a:ea typeface="Courier New" pitchFamily="34" charset="-122"/>
                <a:cs typeface="Courier New" pitchFamily="34" charset="-120"/>
              </a:rPr>
              <a:t>1</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(16, 10)</a:t>
            </a:r>
            <a:endParaRPr lang="en-US" sz="900" dirty="0"/>
          </a:p>
        </p:txBody>
      </p:sp>
      <p:sp>
        <p:nvSpPr>
          <p:cNvPr id="17" name="Text 14"/>
          <p:cNvSpPr txBox="1"/>
          <p:nvPr/>
        </p:nvSpPr>
        <p:spPr>
          <a:xfrm>
            <a:off x="3291840" y="402336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1896100"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1749796"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Adi Shamir, then at the Mas…</a:t>
            </a:r>
            <a:endParaRPr lang="en-US" sz="750" dirty="0"/>
          </a:p>
        </p:txBody>
      </p:sp>
      <p:sp>
        <p:nvSpPr>
          <p:cNvPr id="20" name="Shape 17"/>
          <p:cNvSpPr/>
          <p:nvPr/>
        </p:nvSpPr>
        <p:spPr>
          <a:xfrm>
            <a:off x="2463028" y="4224528"/>
            <a:ext cx="1817096"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2554468" y="4224528"/>
            <a:ext cx="1670792"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Communications of the …</a:t>
            </a:r>
            <a:endParaRPr lang="en-US" sz="750" dirty="0"/>
          </a:p>
        </p:txBody>
      </p:sp>
      <p:sp>
        <p:nvSpPr>
          <p:cNvPr id="22" name="Shape 19"/>
          <p:cNvSpPr/>
          <p:nvPr/>
        </p:nvSpPr>
        <p:spPr>
          <a:xfrm>
            <a:off x="4389852" y="4224528"/>
            <a:ext cx="1027054"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4481292" y="4224528"/>
            <a:ext cx="880750"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1979-11-01</a:t>
            </a:r>
            <a:endParaRPr lang="en-US" sz="750" dirty="0"/>
          </a:p>
        </p:txBody>
      </p:sp>
      <p:sp>
        <p:nvSpPr>
          <p:cNvPr id="24" name="Shape 21"/>
          <p:cNvSpPr/>
          <p:nvPr/>
        </p:nvSpPr>
        <p:spPr>
          <a:xfrm>
            <a:off x="5526634" y="4224528"/>
            <a:ext cx="3160166"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5618074" y="422452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85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Shamir: How to Share a Secret (PDF, 1979)</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web.mit.edu</a:t>
            </a:r>
            <a:endParaRPr lang="en-US" sz="7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26</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idea, each one provable from its slides</a:t>
            </a:r>
            <a:endParaRPr lang="en-US" sz="1300" dirty="0"/>
          </a:p>
        </p:txBody>
      </p:sp>
      <p:sp>
        <p:nvSpPr>
          <p:cNvPr id="6" name="Shape 4"/>
          <p:cNvSpPr/>
          <p:nvPr/>
        </p:nvSpPr>
        <p:spPr>
          <a:xfrm>
            <a:off x="457200" y="136245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624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25880"/>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signature covers value and recipient, and traffic between nodes is encrypted by default</a:t>
            </a:r>
            <a:endParaRPr lang="en-US" sz="1250" dirty="0"/>
          </a:p>
        </p:txBody>
      </p:sp>
      <p:sp>
        <p:nvSpPr>
          <p:cNvPr id="9" name="Shape 7"/>
          <p:cNvSpPr/>
          <p:nvPr/>
        </p:nvSpPr>
        <p:spPr>
          <a:xfrm>
            <a:off x="457200" y="1984248"/>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842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47672"/>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chain starts from one typed-in block, and a matching hash proves only that a file is the listed one</a:t>
            </a:r>
            <a:endParaRPr lang="en-US" sz="1250" dirty="0"/>
          </a:p>
        </p:txBody>
      </p:sp>
      <p:sp>
        <p:nvSpPr>
          <p:cNvPr id="12" name="Shape 10"/>
          <p:cNvSpPr/>
          <p:nvPr/>
        </p:nvSpPr>
        <p:spPr>
          <a:xfrm>
            <a:off x="457200" y="260604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0604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69464"/>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Keys are safer offline or on a device, behind a passphrase, and backed up with their descriptor</a:t>
            </a:r>
            <a:endParaRPr lang="en-US" sz="1250" dirty="0"/>
          </a:p>
        </p:txBody>
      </p:sp>
      <p:sp>
        <p:nvSpPr>
          <p:cNvPr id="15" name="Shape 13"/>
          <p:cNvSpPr/>
          <p:nvPr/>
        </p:nvSpPr>
        <p:spPr>
          <a:xfrm>
            <a:off x="457200" y="3227832"/>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2783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91256"/>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Seed words are checksummed arithmetic; paper wallets and brainwallets are weak</a:t>
            </a:r>
            <a:endParaRPr lang="en-US" sz="1250" dirty="0"/>
          </a:p>
        </p:txBody>
      </p:sp>
      <p:sp>
        <p:nvSpPr>
          <p:cNvPr id="18" name="Shape 16"/>
          <p:cNvSpPr/>
          <p:nvPr/>
        </p:nvSpPr>
        <p:spPr>
          <a:xfrm>
            <a:off x="457200" y="3849624"/>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4962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813048"/>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Several keys, a delayed heir or shared secrets trade the risk of loss against the risk of theft</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its part's consoles carry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26</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Opened on 2026-10-19;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Optech topic: Partially signed transactions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Summary of PSBT and the wallets that use it  bitcoinops.org</a:t>
            </a:r>
            <a:endParaRPr lang="en-US" sz="1000" dirty="0"/>
          </a:p>
        </p:txBody>
      </p:sp>
      <p:sp>
        <p:nvSpPr>
          <p:cNvPr id="9" name="Shape 7"/>
          <p:cNvSpPr/>
          <p:nvPr/>
        </p:nvSpPr>
        <p:spPr>
          <a:xfrm>
            <a:off x="493776" y="2121408"/>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Optech topic: Output script descriptors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Summary of descriptors with examples  bitcoinops.org</a:t>
            </a:r>
            <a:endParaRPr lang="en-US" sz="1000" dirty="0"/>
          </a:p>
        </p:txBody>
      </p:sp>
      <p:sp>
        <p:nvSpPr>
          <p:cNvPr id="11" name="Shape 9"/>
          <p:cNvSpPr/>
          <p:nvPr/>
        </p:nvSpPr>
        <p:spPr>
          <a:xfrm>
            <a:off x="493776" y="2523744"/>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450592"/>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Optech topic: Timelocks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four timelock types side by side  bitcoinops.org</a:t>
            </a:r>
            <a:endParaRPr lang="en-US" sz="1000" dirty="0"/>
          </a:p>
        </p:txBody>
      </p:sp>
      <p:sp>
        <p:nvSpPr>
          <p:cNvPr id="13" name="Text 11"/>
          <p:cNvSpPr txBox="1"/>
          <p:nvPr/>
        </p:nvSpPr>
        <p:spPr>
          <a:xfrm>
            <a:off x="457200" y="292608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Standards and papers</a:t>
            </a:r>
            <a:endParaRPr lang="en-US" sz="1250" dirty="0"/>
          </a:p>
        </p:txBody>
      </p:sp>
      <p:sp>
        <p:nvSpPr>
          <p:cNvPr id="14" name="Shape 12"/>
          <p:cNvSpPr/>
          <p:nvPr/>
        </p:nvSpPr>
        <p:spPr>
          <a:xfrm>
            <a:off x="493776" y="3273552"/>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320040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BIP 324: v2 P2P Encrypted Transport</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encrypted handshake and packet format of peers  bips.dev</a:t>
            </a:r>
            <a:endParaRPr lang="en-US" sz="1000" dirty="0"/>
          </a:p>
        </p:txBody>
      </p:sp>
      <p:sp>
        <p:nvSpPr>
          <p:cNvPr id="16" name="Shape 14"/>
          <p:cNvSpPr/>
          <p:nvPr/>
        </p:nvSpPr>
        <p:spPr>
          <a:xfrm>
            <a:off x="493776" y="3675888"/>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60273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BIP 39: Mnemonic code for deterministic keys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Seed words, their checksum and the word list  bips.dev</a:t>
            </a:r>
            <a:endParaRPr lang="en-US" sz="1000" dirty="0"/>
          </a:p>
        </p:txBody>
      </p:sp>
      <p:sp>
        <p:nvSpPr>
          <p:cNvPr id="18" name="Shape 16"/>
          <p:cNvSpPr/>
          <p:nvPr/>
        </p:nvSpPr>
        <p:spPr>
          <a:xfrm>
            <a:off x="493776" y="407822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4005072"/>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Shamir: How to Share a Secret (PDF, 1979)</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original two pages that define threshold sharing</a:t>
            </a:r>
            <a:endParaRPr lang="en-US" sz="1000" dirty="0"/>
          </a:p>
        </p:txBody>
      </p:sp>
      <p:sp>
        <p:nvSpPr>
          <p:cNvPr id="20" name="Text 18"/>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Watch</a:t>
            </a:r>
            <a:endParaRPr lang="en-US" sz="1250" dirty="0"/>
          </a:p>
        </p:txBody>
      </p:sp>
      <p:sp>
        <p:nvSpPr>
          <p:cNvPr id="21" name="Shape 19"/>
          <p:cNvSpPr/>
          <p:nvPr/>
        </p:nvSpPr>
        <p:spPr>
          <a:xfrm>
            <a:off x="4768596" y="1719072"/>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Stand-up Maths: an open secret with maths (video)</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Secret sharing explained with polynomials  youtube.com</a:t>
            </a:r>
            <a:endParaRPr lang="en-US" sz="1000" dirty="0"/>
          </a:p>
        </p:txBody>
      </p:sp>
      <p:sp>
        <p:nvSpPr>
          <p:cNvPr id="23" name="Shape 21"/>
          <p:cNvSpPr/>
          <p:nvPr/>
        </p:nvSpPr>
        <p:spPr>
          <a:xfrm>
            <a:off x="4768596" y="2121408"/>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Unchained: What is bitcoin multisig? (video)</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How several keys protect one wallet  youtube.com</a:t>
            </a:r>
            <a:endParaRPr lang="en-US" sz="1000" dirty="0"/>
          </a:p>
        </p:txBody>
      </p:sp>
      <p:sp>
        <p:nvSpPr>
          <p:cNvPr id="25" name="Text 23"/>
          <p:cNvSpPr txBox="1"/>
          <p:nvPr/>
        </p:nvSpPr>
        <p:spPr>
          <a:xfrm>
            <a:off x="4732020" y="252374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Community</a:t>
            </a:r>
            <a:endParaRPr lang="en-US" sz="1250" dirty="0"/>
          </a:p>
        </p:txBody>
      </p:sp>
      <p:sp>
        <p:nvSpPr>
          <p:cNvPr id="26" name="Shape 24"/>
          <p:cNvSpPr/>
          <p:nvPr/>
        </p:nvSpPr>
        <p:spPr>
          <a:xfrm>
            <a:off x="4768596" y="2871216"/>
            <a:ext cx="82296" cy="82296"/>
          </a:xfrm>
          <a:prstGeom prst="ellipse">
            <a:avLst/>
          </a:prstGeom>
          <a:solidFill>
            <a:srgbClr val="D97A14"/>
          </a:solidFill>
          <a:ln w="12700">
            <a:solidFill>
              <a:srgbClr val="D97A14"/>
            </a:solidFill>
            <a:prstDash val="solid"/>
          </a:ln>
        </p:spPr>
      </p:sp>
      <p:sp>
        <p:nvSpPr>
          <p:cNvPr id="27" name="Text 25"/>
          <p:cNvSpPr txBox="1"/>
          <p:nvPr/>
        </p:nvSpPr>
        <p:spPr>
          <a:xfrm>
            <a:off x="4933188" y="2798064"/>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Bitcoin Optech newsletters (weekly)</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Weekly digest of protocol and wallet development; all issues</a:t>
            </a:r>
            <a:endParaRPr lang="en-US" sz="1000" dirty="0"/>
          </a:p>
        </p:txBody>
      </p:sp>
      <p:sp>
        <p:nvSpPr>
          <p:cNvPr id="28" name="Shape 26"/>
          <p:cNvSpPr/>
          <p:nvPr/>
        </p:nvSpPr>
        <p:spPr>
          <a:xfrm>
            <a:off x="4768596" y="3273552"/>
            <a:ext cx="82296" cy="82296"/>
          </a:xfrm>
          <a:prstGeom prst="ellipse">
            <a:avLst/>
          </a:prstGeom>
          <a:solidFill>
            <a:srgbClr val="D97A14"/>
          </a:solidFill>
          <a:ln w="12700">
            <a:solidFill>
              <a:srgbClr val="D97A14"/>
            </a:solidFill>
            <a:prstDash val="solid"/>
          </a:ln>
        </p:spPr>
      </p:sp>
      <p:sp>
        <p:nvSpPr>
          <p:cNvPr id="29" name="Text 27"/>
          <p:cNvSpPr txBox="1"/>
          <p:nvPr/>
        </p:nvSpPr>
        <p:spPr>
          <a:xfrm>
            <a:off x="4933188" y="320040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Delving Bitcoin (research forum)</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Developers argue out proposals and research in public threads</a:t>
            </a:r>
            <a:endParaRPr lang="en-US" sz="1000" dirty="0"/>
          </a:p>
        </p:txBody>
      </p:sp>
      <p:sp>
        <p:nvSpPr>
          <p:cNvPr id="30" name="Shape 28"/>
          <p:cNvSpPr/>
          <p:nvPr/>
        </p:nvSpPr>
        <p:spPr>
          <a:xfrm>
            <a:off x="4768596" y="3675888"/>
            <a:ext cx="82296" cy="82296"/>
          </a:xfrm>
          <a:prstGeom prst="ellipse">
            <a:avLst/>
          </a:prstGeom>
          <a:solidFill>
            <a:srgbClr val="D97A14"/>
          </a:solidFill>
          <a:ln w="12700">
            <a:solidFill>
              <a:srgbClr val="D97A14"/>
            </a:solidFill>
            <a:prstDash val="solid"/>
          </a:ln>
        </p:spPr>
      </p:sp>
      <p:sp>
        <p:nvSpPr>
          <p:cNvPr id="31" name="Text 29"/>
          <p:cNvSpPr txBox="1"/>
          <p:nvPr/>
        </p:nvSpPr>
        <p:spPr>
          <a:xfrm>
            <a:off x="4933188" y="360273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bitcoin-dev (mailing list)</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Where BIPs and soft forks are first proposed and debated</a:t>
            </a:r>
            <a:endParaRPr lang="en-US" sz="1000" dirty="0"/>
          </a:p>
        </p:txBody>
      </p:sp>
      <p:sp>
        <p:nvSpPr>
          <p:cNvPr id="32"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Watch the secret-sharing video, then read the Optech topic beside the chapter</a:t>
            </a:r>
            <a:endParaRPr lang="en-US" sz="1350" dirty="0"/>
          </a:p>
        </p:txBody>
      </p:sp>
      <p:sp>
        <p:nvSpPr>
          <p:cNvPr id="34"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26</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txBody>
          <a:bodyPr/>
          <a:p/>
        </p:txBody>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a signature protects, and what a node or a download is trusted for</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keys are kept offline, on a device, behind a passphrase and in a backup</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seed words, several keys and shared secrets are made</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Why custody is trust, and what each safeguard costs</a:t>
            </a:r>
            <a:endParaRPr lang="en-US" sz="1600" dirty="0"/>
          </a:p>
        </p:txBody>
      </p:sp>
      <p:sp>
        <p:nvSpPr>
          <p:cNvPr id="6" name="Text 4"/>
          <p:cNvSpPr txBox="1"/>
          <p:nvPr/>
        </p:nvSpPr>
        <p:spPr>
          <a:xfrm>
            <a:off x="548640" y="4407408"/>
            <a:ext cx="71323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13</dc:title>
  <dc:subject>PptxGenJS Presentation</dc:subject>
  <dc:creator>Yusuf Altunel</dc:creator>
  <cp:lastModifiedBy>Yusuf Altunel</cp:lastModifiedBy>
  <cp:revision>1</cp:revision>
  <dcterms:created xsi:type="dcterms:W3CDTF">2026-10-18T21:59:43Z</dcterms:created>
  <dcterms:modified xsi:type="dcterms:W3CDTF">2026-10-18T21:59:43Z</dcterms:modified>
  <cp:version>1.2.0</cp:version>
</cp:coreProperties>
</file>