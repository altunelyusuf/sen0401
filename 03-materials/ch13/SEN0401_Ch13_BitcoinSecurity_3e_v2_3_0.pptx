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characters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Unsigned file</c:v>
                  </c:pt>
                  <c:pt idx="1">
                    <c:v>Signed file</c:v>
                  </c:pt>
                </c:lvl>
              </c:multiLvlStrCache>
            </c:multiLvlStrRef>
          </c:cat>
          <c:val>
            <c:numRef>
              <c:f>Sheet1!$B$2:$B$3</c:f>
              <c:numCache>
                <c:formatCode>General</c:formatCode>
                <c:ptCount val="2"/>
                <c:pt idx="0">
                  <c:v>528</c:v>
                </c:pt>
                <c:pt idx="1">
                  <c:v>596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seconds</c:v>
                </c:pt>
              </c:strCache>
            </c:strRef>
          </c:tx>
          <c:spPr>
            <a:solidFill>
              <a:srgbClr val="D97A14"/>
            </a:solidFill>
            <a:effectLst/>
          </c:spPr>
          <c:invertIfNegative val="0"/>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dPt>
            <c:idx val="11"/>
            <c:invertIfNegative val="0"/>
            <c:bubble3D val="0"/>
            <c:spPr>
              <a:solidFill>
                <a:srgbClr val="2F6D62"/>
              </a:solidFill>
              <a:effectLst/>
            </c:spPr>
          </c:dPt>
          <c:dPt>
            <c:idx val="12"/>
            <c:invertIfNegative val="0"/>
            <c:bubble3D val="0"/>
            <c:spPr>
              <a:solidFill>
                <a:srgbClr val="D97A14"/>
              </a:solidFill>
              <a:effectLst/>
            </c:spPr>
          </c:dPt>
          <c:dPt>
            <c:idx val="13"/>
            <c:invertIfNegative val="0"/>
            <c:bubble3D val="0"/>
            <c:spPr>
              <a:solidFill>
                <a:srgbClr val="2F6D62"/>
              </a:solidFill>
              <a:effectLst/>
            </c:spPr>
          </c:dPt>
          <c:dPt>
            <c:idx val="14"/>
            <c:invertIfNegative val="0"/>
            <c:bubble3D val="0"/>
            <c:spPr>
              <a:solidFill>
                <a:srgbClr val="D97A14"/>
              </a:solidFill>
              <a:effectLst/>
            </c:spPr>
          </c:dPt>
          <c:dLbls>
            <c:numFmt formatCode="#,##0" sourceLinked="0"/>
            <c:spPr>
              <a:noFill/>
              <a:ln>
                <a:noFill/>
              </a:ln>
            </c:spPr>
            <c:txPr>
              <a:bodyPr rot="-5400000" vert="horz"/>
              <a:lstStyle/>
              <a:p>
                <a:pPr>
                  <a:defRPr b="0" i="0" strike="noStrike" sz="900" u="none">
                    <a:solidFill>
                      <a:srgbClr val="2B2622"/>
                    </a:solidFill>
                    <a:latin typeface="Calibri"/>
                  </a:defRPr>
                </a:pPr>
                <a:endParaRPr lang="en-US"/>
              </a:p>
            </c:txPr>
            <c:dLblPos val="outEnd"/>
            <c:showLegendKey val="0"/>
            <c:showVal val="1"/>
            <c:showCatName val="0"/>
            <c:showSerName val="0"/>
            <c:showPercent val="0"/>
            <c:showBubbleSize val="0"/>
          </c:dLbls>
          <c:cat>
            <c:multiLvlStrRef>
              <c:f>Sheet1!$A$2:$A$16</c:f>
              <c:multiLvlStrCache>
                <c:ptCount val="1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lvl>
              </c:multiLvlStrCache>
            </c:multiLvlStrRef>
          </c:cat>
          <c:val>
            <c:numRef>
              <c:f>Sheet1!$B$2:$B$16</c:f>
              <c:numCache>
                <c:formatCode>General</c:formatCode>
                <c:ptCount val="15"/>
                <c:pt idx="0">
                  <c:v>1</c:v>
                </c:pt>
                <c:pt idx="1">
                  <c:v>2</c:v>
                </c:pt>
                <c:pt idx="2">
                  <c:v>4</c:v>
                </c:pt>
                <c:pt idx="3">
                  <c:v>8</c:v>
                </c:pt>
                <c:pt idx="4">
                  <c:v>16</c:v>
                </c:pt>
                <c:pt idx="5">
                  <c:v>32</c:v>
                </c:pt>
                <c:pt idx="6">
                  <c:v>64</c:v>
                </c:pt>
                <c:pt idx="7">
                  <c:v>128</c:v>
                </c:pt>
                <c:pt idx="8">
                  <c:v>256</c:v>
                </c:pt>
                <c:pt idx="9">
                  <c:v>512</c:v>
                </c:pt>
                <c:pt idx="10">
                  <c:v>1024</c:v>
                </c:pt>
                <c:pt idx="11">
                  <c:v>2048</c:v>
                </c:pt>
                <c:pt idx="12">
                  <c:v>4096</c:v>
                </c:pt>
                <c:pt idx="13">
                  <c:v>8192</c:v>
                </c:pt>
                <c:pt idx="14">
                  <c:v>16384</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coins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Original wallet</c:v>
                  </c:pt>
                  <c:pt idx="1">
                    <c:v>Late backup</c:v>
                  </c:pt>
                  <c:pt idx="2">
                    <c:v>Early backup</c:v>
                  </c:pt>
                </c:lvl>
              </c:multiLvlStrCache>
            </c:multiLvlStrRef>
          </c:cat>
          <c:val>
            <c:numRef>
              <c:f>Sheet1!$B$2:$B$4</c:f>
              <c:numCache>
                <c:formatCode>General</c:formatCode>
                <c:ptCount val="3"/>
                <c:pt idx="0">
                  <c:v>3</c:v>
                </c:pt>
                <c:pt idx="1">
                  <c:v>3</c:v>
                </c:pt>
                <c:pt idx="2">
                  <c:v>1</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coins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Found after restore</c:v>
                  </c:pt>
                  <c:pt idx="1">
                    <c:v>Paid in all</c:v>
                  </c:pt>
                </c:lvl>
              </c:multiLvlStrCache>
            </c:multiLvlStrRef>
          </c:cat>
          <c:val>
            <c:numRef>
              <c:f>Sheet1!$B$2:$B$3</c:f>
              <c:numCache>
                <c:formatCode>General</c:formatCode>
                <c:ptCount val="2"/>
                <c:pt idx="0">
                  <c:v>1</c:v>
                </c:pt>
                <c:pt idx="1">
                  <c:v>3</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virtual 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One key</c:v>
                  </c:pt>
                  <c:pt idx="1">
                    <c:v>Two of three</c:v>
                  </c:pt>
                </c:lvl>
              </c:multiLvlStrCache>
            </c:multiLvlStrRef>
          </c:cat>
          <c:val>
            <c:numRef>
              <c:f>Sheet1!$B$2:$B$3</c:f>
              <c:numCache>
                <c:formatCode>General</c:formatCode>
                <c:ptCount val="2"/>
                <c:pt idx="0">
                  <c:v>110</c:v>
                </c:pt>
                <c:pt idx="1">
                  <c:v>146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slope</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cat>
            <c:multiLvlStrRef>
              <c:f>Sheet1!$A$2:$A$12</c:f>
              <c:multiLvlStrCache>
                <c:ptCount val="11"/>
                <c:lvl>
                  <c:pt idx="0">
                    <c:v>0</c:v>
                  </c:pt>
                  <c:pt idx="1">
                    <c:v>1</c:v>
                  </c:pt>
                  <c:pt idx="2">
                    <c:v>2</c:v>
                  </c:pt>
                  <c:pt idx="3">
                    <c:v>3</c:v>
                  </c:pt>
                  <c:pt idx="4">
                    <c:v>4</c:v>
                  </c:pt>
                  <c:pt idx="5">
                    <c:v>5</c:v>
                  </c:pt>
                  <c:pt idx="6">
                    <c:v>6</c:v>
                  </c:pt>
                  <c:pt idx="7">
                    <c:v>7</c:v>
                  </c:pt>
                  <c:pt idx="8">
                    <c:v>8</c:v>
                  </c:pt>
                  <c:pt idx="9">
                    <c:v>9</c:v>
                  </c:pt>
                  <c:pt idx="10">
                    <c:v>10</c:v>
                  </c:pt>
                </c:lvl>
              </c:multiLvlStrCache>
            </c:multiLvlStrRef>
          </c:cat>
          <c:val>
            <c:numRef>
              <c:f>Sheet1!$B$2:$B$12</c:f>
              <c:numCache>
                <c:formatCode>General</c:formatCode>
                <c:ptCount val="11"/>
                <c:pt idx="0">
                  <c:v>5</c:v>
                </c:pt>
                <c:pt idx="1">
                  <c:v>4</c:v>
                </c:pt>
                <c:pt idx="2">
                  <c:v>3</c:v>
                </c:pt>
                <c:pt idx="3">
                  <c:v>2</c:v>
                </c:pt>
                <c:pt idx="4">
                  <c:v>1</c:v>
                </c:pt>
                <c:pt idx="5">
                  <c:v>0</c:v>
                </c:pt>
                <c:pt idx="6">
                  <c:v>10</c:v>
                </c:pt>
                <c:pt idx="7">
                  <c:v>9</c:v>
                </c:pt>
                <c:pt idx="8">
                  <c:v>8</c:v>
                </c:pt>
                <c:pt idx="9">
                  <c:v>7</c:v>
                </c:pt>
                <c:pt idx="10">
                  <c:v>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Bitcoin coins are kept safe: what a signature protects, where keys are stored, how they are backed up and shared, and what an heir needs. Every number on a result picture was computed, or read from one recorded run of Bitcoin Core 31.1 on a test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that follow the order of the chapter. Four true stories and twenty-eight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six parts and 25 key concepts. Each part gets a divider, concept cards with everyday comparisons, code that runs, and some parts a true story. The deck follows the order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trusts only what it can check. This part shows why a signed payment can be published, how peers talk, where checking starts, and what a download 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Bitcoin Security, Security Principles, Developing Bitcoin Systems Securely and The Root of Trust.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payment can be published because it contains a signature and a public key, not the private key. The recorded bytes of one signed payment show the witness items and their sizes, and no key of the owner.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root of trust, decentralization, decentralized consensus and genesis block.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signature covers the amounts and the receiving scripts. A copy with another payee, or another amount, is no longer what was signed, so the node refuses it. Only the original is allowed.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Sending the same signed payment again gains nothing. The node already knows it and says so, and the receiver's balance does not change. A signature is not a bearer cheque that can be cashed twice.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release 27.0 nodes talk over the encrypted transport of BIP 324. Two recorded peers both report version two and the same session identifier. A node without the service falls back to the plain version one.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of the first block has 80 bytes. Hashing it twice gives the hash that Bitcoin Core carries in its source. Software checks every later block against this typed-in starting point.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start faster, a node may skip checking old signatures for blocks that lead up to a block hash typed into the release. The help text describes it, the source holds the hash, and an option controls it.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hash of the downloaded file equals its line in the signed list. That proves the file is the listed one. Eleven builders signed the list, but their keys were not imported, so no signature was checked.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Coins are as safe as their keys. We compare a watching wallet with a signing one, see a device that makes a thief wait, and count what a guess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User Security Best Practices, best practices and Physical Bitcoin Storage.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online wallet holds only public information. It sees the balance and builds a payment, but it cannot sign, and it refuses to list private descriptors. That is why a thief of this machine gets no coins.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Hardware Signing Devices, cold storage and paper backup.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online wallet writes an unsigned payment file. The cold node, with no blocks and no connection, signs it and returns a longer file. The online node finishes it and the payment confirms.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hot wallet keeps its keys on a machine that is online, so malware or a thief of the machine can reach them. Cold storage keeps them on a machine that is never connected, and only signed files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hardware wallet answers wrong PINs with waits that double: 1, 2, 4 seconds and so on. Fifteen waits add up to hours, and after sixteen failed tries the device wipes itself, so guessing is hopeless.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2024-06-14. A Trezor holds the keys and makes the signatures, and defends itself against a thief with a PIN whose waits double, 1 second after the first wrong try, 2 after the second, 4 after the third, and a wipe after 16 failed attempts.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phrase made of words from a list of 2048 has 2048 to the power of its length in possibilities. At a trillion guesses a second four words last seconds, six words about two years. Choose long, random secrets.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encryption the wallet still shows the balance and creates addresses, because those need no private key. Sending is refused until the passphrase is entered, and a wrong passphrase is refused too.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stretches the passphrase by repeating a hash many times, so each guess costs time. We assume a rig and a passphrase of thirty bits of strength, and count the days an attacker needs.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 keys are no use if you lose them. We see what a backup restores, how twelve words stand for every key, and where a master key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Ensuring Your Access, backing up, recovery codes and seed.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pre-computes a pool of addresses. A backup taken early knows few of them. Restoring from it finds fewer coins than the wallet holds, while a late backup finds them all.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the pool size or the payments and rerun. Only payments sent to addresses inside the backup's pool are found after a restore. The rest are on the chain but invisible to the restored wallet.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Sixteen bytes of entropy are 128 bits. One bit in 32 is added as a checksum and everything is cut into groups of eleven bits, each choosing one of 2048 words. That gives twelve words. It is example 16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words are hashed many times, with the passphrase as salt, into a 64-byte seed. We compare it with the official test vector. With no passphrase the same words give a different seed, hence another wallet. It is example 17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keyed hash of the seed splits into a master private key and a chain code. All the wallet's keys are derived from this pair. We compare with the published test vector of BIP 32. It is example 18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key is one point of failure. Several keys and shared secrets spread loss and theft, and we measure what that costs in bytes and in chances.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Diversifying Risk, risk diversification, Multisig and Governance and multisignature addresses.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two-of-three wallet needs two signatures. One key alone leaves the payment unfinished. If one key is lost the other two still sign, but with two keys lost the wallet cannot be spent. It is example 19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scheme that needs fewer keys is easier to use but easier to rob. With a loss chance of 0.1 and a theft chance of 0.05 per key, two of three is the balance; one of three is often robbed. It is example 20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multisignature spend carries several signatures and the script that lists the keys. The recorded sizes in virtual bytes show the cost. Counting the script parts by hand gives the same number. It is example 21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secret is the height of a line at zero, and each share is its height at another point. Two points fix the line, so two shares rebuild the secret. Try other numbers and rerun; this is example 22 in the chapter code tab of the course page.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library cuts a secret into three shares with a fixed slope so that the run repeats. Any two shares rebuild the secret. A single share rebuilds some number, but not the secret. It is example 23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small field we can list every possibility. For each possible secret exactly one slope fits the single share we hold. So the share alone tells nothing about which secret is the true one. It is example 24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1979-11-01. Adi Shamir's two-page paper How to Share a Secret divides data D into n pieces so that D is easily computable from any k pieces and knowledge of any k minus 1 pieces leaves D completely undetermined. The lesson is that split the secret so that loss and theft both need several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Giving your coins to someone else is trust, not safety. Two true stories show what happens when a shop or a seal replaces your own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hot wallet.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figures from the story are recomputed here. If 850,000 coins were 7 percent of all coins, the supply was about 12.1 million, and a 36 percent cut turns 40 coins into 25.6. The sources disagree on the rest; this is example 25 in the chapter code tab of the course page.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2014-02-24. Mt. Gox, based in Shibuya, was launched in 2010 and was handling over 70% of all bitcoin transactions worldwide by early 2014. The lesson is that not your keys, not your coins: custody is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story's facts are read from the saved wiki page, not from memory. The search finds the date sales stopped, the coin sizes and the regulator's view. A claim you cannot find in a source is only a claim. It is example 26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2013-11-26. Mike Caldwell first imagined a private key on a piece of paper inside a washer with a tamper-evident hologram on each side, and found it more economical to make a real coin. The lesson is that a tamper seal tells you someone looked, not who.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Funds should outlive their owner. A timelock lets an heir spend after a wait, and the last slide lists what these experiments did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Survivability and estate planning. Each pairs a short meaning with something from everyday life, so that the idea can be retold in your own words. The full explanation is on the course page,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lets the owner spend at any time and the heir only after ten confirmations. The recorded tests show the heir refused after one and nine confirmations and accepted at ten. It is example 27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relative wait is stored in sixteen bits, so it cannot exceed 65535 blocks, about 455 days. A value of 65536 is cut to zero in those bits, which lets the heir spend at once. Check your own numbers. It is example 28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31.1 ran once on a private test chain. The table lists, from that record, what was not run: real funds, a physical device, a true air gap, an exchange breach and more. Treat those parts of the chapter as read, not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for each group of parts. A line that feels unproven should send you back to its code slide, because every figure in it was computed or read from the recorded run. The chapter code tab of the course page reruns all 28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 good start is the Stand-up Maths video on secret sharing, then the Optech topic on partially signed transactions beside the chapter. The course page for chapter 13 carries the full text and every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The course page for chapter 13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hyperlink" Target="https://en.bitcoin.it/wiki/Trezor"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hyperlink" Target="https://web.mit.edu/6.857/OldStuff/Fall03/ref/Shamir-HowToShareASecret.pdf" TargetMode="External"/><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hyperlink" Target="https://en.wikipedia.org/wiki/Mt._Gox" TargetMode="External"/><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hyperlink" Target="https://en.bitcoin.it/wiki/Casascius_physical_bitcoins" TargetMode="External"/><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hyperlink" Target="https://bitcoinops.org/en/topics/psbt/" TargetMode="External"/><Relationship Id="rId2" Type="http://schemas.openxmlformats.org/officeDocument/2006/relationships/hyperlink" Target="https://bitcoinops.org/en/topics/output-script-descriptors/" TargetMode="External"/><Relationship Id="rId3" Type="http://schemas.openxmlformats.org/officeDocument/2006/relationships/hyperlink" Target="https://bitcoinops.org/en/topics/timelocks/" TargetMode="External"/><Relationship Id="rId4" Type="http://schemas.openxmlformats.org/officeDocument/2006/relationships/hyperlink" Target="https://bips.dev/324/" TargetMode="External"/><Relationship Id="rId5" Type="http://schemas.openxmlformats.org/officeDocument/2006/relationships/hyperlink" Target="https://bips.dev/39/" TargetMode="External"/><Relationship Id="rId6" Type="http://schemas.openxmlformats.org/officeDocument/2006/relationships/hyperlink" Target="https://web.mit.edu/6.857/OldStuff/Fall03/ref/Shamir-HowToShareASecret.pdf" TargetMode="External"/><Relationship Id="rId7" Type="http://schemas.openxmlformats.org/officeDocument/2006/relationships/hyperlink" Target="https://www.youtube.com/embed/K54ildEW9-Q" TargetMode="External"/><Relationship Id="rId8" Type="http://schemas.openxmlformats.org/officeDocument/2006/relationships/hyperlink" Target="https://www.youtube.com/embed/pOr6dwb7-dw"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13: Bitcoin Security</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How keys are protected, backed up, shared and handed on, and what each safeguard costs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13/assets/ch13_bitcoinlogo.png">    </p:cNvPr>
          <p:cNvPicPr>
            <a:picLocks noChangeAspect="1"/>
          </p:cNvPicPr>
          <p:nvPr/>
        </p:nvPicPr>
        <p:blipFill>
          <a:blip r:embed="rId1"/>
          <a:srcRect l="0" r="0" t="0" b="0"/>
          <a:stretch/>
        </p:blipFill>
        <p:spPr>
          <a:xfrm>
            <a:off x="6675120" y="320040"/>
            <a:ext cx="1737360" cy="173736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the Bitcoin logo, public domain (Wikimedia Commons). Python 3.14.6; Bitcoin Core 31.1 results are recorded from one run, not run here.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55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280160"/>
            <a:ext cx="2807208" cy="704088"/>
          </a:xfrm>
          <a:prstGeom prst="roundRect">
            <a:avLst>
              <a:gd name="adj" fmla="val 10390"/>
            </a:avLst>
          </a:prstGeom>
          <a:solidFill>
            <a:srgbClr val="F2ECE1"/>
          </a:solidFill>
          <a:ln w="12700">
            <a:solidFill>
              <a:srgbClr val="DFD6C7"/>
            </a:solidFill>
            <a:prstDash val="solid"/>
          </a:ln>
        </p:spPr>
      </p:sp>
      <p:sp>
        <p:nvSpPr>
          <p:cNvPr id="7" name="Text 5"/>
          <p:cNvSpPr txBox="1"/>
          <p:nvPr/>
        </p:nvSpPr>
        <p:spPr>
          <a:xfrm>
            <a:off x="548640" y="1335024"/>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3410712" y="1280160"/>
            <a:ext cx="2807208" cy="704088"/>
          </a:xfrm>
          <a:prstGeom prst="roundRect">
            <a:avLst>
              <a:gd name="adj" fmla="val 10390"/>
            </a:avLst>
          </a:prstGeom>
          <a:solidFill>
            <a:srgbClr val="F2ECE1"/>
          </a:solidFill>
          <a:ln w="12700">
            <a:solidFill>
              <a:srgbClr val="DFD6C7"/>
            </a:solidFill>
            <a:prstDash val="solid"/>
          </a:ln>
        </p:spPr>
      </p:sp>
      <p:sp>
        <p:nvSpPr>
          <p:cNvPr id="9" name="Text 7"/>
          <p:cNvSpPr txBox="1"/>
          <p:nvPr/>
        </p:nvSpPr>
        <p:spPr>
          <a:xfrm>
            <a:off x="3502152" y="1335024"/>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The security model</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5-14)</a:t>
            </a:r>
            <a:endParaRPr lang="en-US" sz="1100" dirty="0"/>
          </a:p>
        </p:txBody>
      </p:sp>
      <p:sp>
        <p:nvSpPr>
          <p:cNvPr id="10" name="Shape 8"/>
          <p:cNvSpPr/>
          <p:nvPr/>
        </p:nvSpPr>
        <p:spPr>
          <a:xfrm>
            <a:off x="457200" y="2112264"/>
            <a:ext cx="2807208" cy="704088"/>
          </a:xfrm>
          <a:prstGeom prst="roundRect">
            <a:avLst>
              <a:gd name="adj" fmla="val 10390"/>
            </a:avLst>
          </a:prstGeom>
          <a:solidFill>
            <a:srgbClr val="F2ECE1"/>
          </a:solidFill>
          <a:ln w="12700">
            <a:solidFill>
              <a:srgbClr val="DFD6C7"/>
            </a:solidFill>
            <a:prstDash val="solid"/>
          </a:ln>
        </p:spPr>
      </p:sp>
      <p:sp>
        <p:nvSpPr>
          <p:cNvPr id="11" name="Text 9"/>
          <p:cNvSpPr txBox="1"/>
          <p:nvPr/>
        </p:nvSpPr>
        <p:spPr>
          <a:xfrm>
            <a:off x="548640" y="2167128"/>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Protecting keys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15-25)</a:t>
            </a:r>
            <a:endParaRPr lang="en-US" sz="1100" dirty="0"/>
          </a:p>
        </p:txBody>
      </p:sp>
      <p:sp>
        <p:nvSpPr>
          <p:cNvPr id="12" name="Shape 10"/>
          <p:cNvSpPr/>
          <p:nvPr/>
        </p:nvSpPr>
        <p:spPr>
          <a:xfrm>
            <a:off x="3410712" y="2112264"/>
            <a:ext cx="2807208" cy="704088"/>
          </a:xfrm>
          <a:prstGeom prst="roundRect">
            <a:avLst>
              <a:gd name="adj" fmla="val 10390"/>
            </a:avLst>
          </a:prstGeom>
          <a:solidFill>
            <a:srgbClr val="F2ECE1"/>
          </a:solidFill>
          <a:ln w="12700">
            <a:solidFill>
              <a:srgbClr val="DFD6C7"/>
            </a:solidFill>
            <a:prstDash val="solid"/>
          </a:ln>
        </p:spPr>
      </p:sp>
      <p:sp>
        <p:nvSpPr>
          <p:cNvPr id="13" name="Text 11"/>
          <p:cNvSpPr txBox="1"/>
          <p:nvPr/>
        </p:nvSpPr>
        <p:spPr>
          <a:xfrm>
            <a:off x="3502152" y="2167128"/>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Keeping access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26-32)</a:t>
            </a:r>
            <a:endParaRPr lang="en-US" sz="1100" dirty="0"/>
          </a:p>
        </p:txBody>
      </p:sp>
      <p:sp>
        <p:nvSpPr>
          <p:cNvPr id="14" name="Shape 12"/>
          <p:cNvSpPr/>
          <p:nvPr/>
        </p:nvSpPr>
        <p:spPr>
          <a:xfrm>
            <a:off x="457200" y="2944368"/>
            <a:ext cx="2807208" cy="704088"/>
          </a:xfrm>
          <a:prstGeom prst="roundRect">
            <a:avLst>
              <a:gd name="adj" fmla="val 10390"/>
            </a:avLst>
          </a:prstGeom>
          <a:solidFill>
            <a:srgbClr val="F2ECE1"/>
          </a:solidFill>
          <a:ln w="12700">
            <a:solidFill>
              <a:srgbClr val="DFD6C7"/>
            </a:solidFill>
            <a:prstDash val="solid"/>
          </a:ln>
        </p:spPr>
      </p:sp>
      <p:sp>
        <p:nvSpPr>
          <p:cNvPr id="15" name="Text 13"/>
          <p:cNvSpPr txBox="1"/>
          <p:nvPr/>
        </p:nvSpPr>
        <p:spPr>
          <a:xfrm>
            <a:off x="548640" y="2999232"/>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Sharing control</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33-41)</a:t>
            </a:r>
            <a:endParaRPr lang="en-US" sz="1100" dirty="0"/>
          </a:p>
        </p:txBody>
      </p:sp>
      <p:sp>
        <p:nvSpPr>
          <p:cNvPr id="16" name="Shape 14"/>
          <p:cNvSpPr/>
          <p:nvPr/>
        </p:nvSpPr>
        <p:spPr>
          <a:xfrm>
            <a:off x="3410712" y="2944368"/>
            <a:ext cx="2807208" cy="704088"/>
          </a:xfrm>
          <a:prstGeom prst="roundRect">
            <a:avLst>
              <a:gd name="adj" fmla="val 10390"/>
            </a:avLst>
          </a:prstGeom>
          <a:solidFill>
            <a:srgbClr val="F2ECE1"/>
          </a:solidFill>
          <a:ln w="12700">
            <a:solidFill>
              <a:srgbClr val="DFD6C7"/>
            </a:solidFill>
            <a:prstDash val="solid"/>
          </a:ln>
        </p:spPr>
      </p:sp>
      <p:sp>
        <p:nvSpPr>
          <p:cNvPr id="17" name="Text 15"/>
          <p:cNvSpPr txBox="1"/>
          <p:nvPr/>
        </p:nvSpPr>
        <p:spPr>
          <a:xfrm>
            <a:off x="3502152" y="2999232"/>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6. Custody history</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42-47)</a:t>
            </a:r>
            <a:endParaRPr lang="en-US" sz="1100" dirty="0"/>
          </a:p>
        </p:txBody>
      </p:sp>
      <p:sp>
        <p:nvSpPr>
          <p:cNvPr id="18" name="Shape 16"/>
          <p:cNvSpPr/>
          <p:nvPr/>
        </p:nvSpPr>
        <p:spPr>
          <a:xfrm>
            <a:off x="457200" y="3776472"/>
            <a:ext cx="2807208" cy="704088"/>
          </a:xfrm>
          <a:prstGeom prst="roundRect">
            <a:avLst>
              <a:gd name="adj" fmla="val 10390"/>
            </a:avLst>
          </a:prstGeom>
          <a:solidFill>
            <a:srgbClr val="F2ECE1"/>
          </a:solidFill>
          <a:ln w="12700">
            <a:solidFill>
              <a:srgbClr val="DFD6C7"/>
            </a:solidFill>
            <a:prstDash val="solid"/>
          </a:ln>
        </p:spPr>
      </p:sp>
      <p:sp>
        <p:nvSpPr>
          <p:cNvPr id="19" name="Text 17"/>
          <p:cNvSpPr txBox="1"/>
          <p:nvPr/>
        </p:nvSpPr>
        <p:spPr>
          <a:xfrm>
            <a:off x="548640" y="3831336"/>
            <a:ext cx="2624328"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7. Survivability</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48-55)</a:t>
            </a:r>
            <a:endParaRPr lang="en-US" sz="1100" dirty="0"/>
          </a:p>
        </p:txBody>
      </p:sp>
      <p:sp>
        <p:nvSpPr>
          <p:cNvPr id="20" name="Shape 18"/>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55</a:t>
            </a:r>
            <a:endParaRPr lang="en-US" sz="2600" dirty="0"/>
          </a:p>
        </p:txBody>
      </p:sp>
      <p:sp>
        <p:nvSpPr>
          <p:cNvPr id="22" name="Text 20"/>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3" name="Shape 21"/>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4" name="Text 22"/>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5" name="Text 23"/>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6" name="Shape 24"/>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7" name="Text 25"/>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28</a:t>
            </a:r>
            <a:endParaRPr lang="en-US" sz="2600" dirty="0"/>
          </a:p>
        </p:txBody>
      </p:sp>
      <p:sp>
        <p:nvSpPr>
          <p:cNvPr id="28" name="Text 26"/>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twenty-eight examples, four true stories</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55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can a signed payment be published without showing the key, and what breaks it?</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node trust, and how can it check the first block and a download?</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cold storage, a locked wallet and a signing device each protect keys?</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backup or a set of seed words restore, and what does it miss?</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 several keys and shared secrets buy, and what do they cost?</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it mean to leave your coins with an exchange?</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can an heir be allowed to spend after a wait, and what was not run here?</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55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parts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2645664" cy="1490472"/>
          </a:xfrm>
          <a:prstGeom prst="roundRect">
            <a:avLst>
              <a:gd name="adj" fmla="val 4908"/>
            </a:avLst>
          </a:prstGeom>
          <a:solidFill>
            <a:srgbClr val="F2ECE1"/>
          </a:solidFill>
          <a:ln w="12700">
            <a:solidFill>
              <a:srgbClr val="DFD6C7"/>
            </a:solidFill>
            <a:prstDash val="solid"/>
          </a:ln>
        </p:spPr>
      </p:sp>
      <p:sp>
        <p:nvSpPr>
          <p:cNvPr id="7" name="Text 5"/>
          <p:cNvSpPr txBox="1"/>
          <p:nvPr/>
        </p:nvSpPr>
        <p:spPr>
          <a:xfrm>
            <a:off x="548640" y="1335024"/>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The security model</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8 key concepts, 7 examples</a:t>
            </a:r>
            <a:endParaRPr lang="en-US" sz="1250" dirty="0"/>
          </a:p>
        </p:txBody>
      </p:sp>
      <p:sp>
        <p:nvSpPr>
          <p:cNvPr id="8" name="Shape 6"/>
          <p:cNvSpPr/>
          <p:nvPr/>
        </p:nvSpPr>
        <p:spPr>
          <a:xfrm>
            <a:off x="3249168" y="1280160"/>
            <a:ext cx="2645664" cy="1490472"/>
          </a:xfrm>
          <a:prstGeom prst="roundRect">
            <a:avLst>
              <a:gd name="adj" fmla="val 4908"/>
            </a:avLst>
          </a:prstGeom>
          <a:solidFill>
            <a:srgbClr val="F2ECE1"/>
          </a:solidFill>
          <a:ln w="12700">
            <a:solidFill>
              <a:srgbClr val="DFD6C7"/>
            </a:solidFill>
            <a:prstDash val="solid"/>
          </a:ln>
        </p:spPr>
      </p:sp>
      <p:sp>
        <p:nvSpPr>
          <p:cNvPr id="9" name="Text 7"/>
          <p:cNvSpPr txBox="1"/>
          <p:nvPr/>
        </p:nvSpPr>
        <p:spPr>
          <a:xfrm>
            <a:off x="3340608" y="1335024"/>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Protecting keys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6 key concepts, 6 examples</a:t>
            </a:r>
            <a:endParaRPr lang="en-US" sz="1250" dirty="0"/>
          </a:p>
        </p:txBody>
      </p:sp>
      <p:sp>
        <p:nvSpPr>
          <p:cNvPr id="10" name="Shape 8"/>
          <p:cNvSpPr/>
          <p:nvPr/>
        </p:nvSpPr>
        <p:spPr>
          <a:xfrm>
            <a:off x="6041136" y="1280160"/>
            <a:ext cx="2645664" cy="1490472"/>
          </a:xfrm>
          <a:prstGeom prst="roundRect">
            <a:avLst>
              <a:gd name="adj" fmla="val 4908"/>
            </a:avLst>
          </a:prstGeom>
          <a:solidFill>
            <a:srgbClr val="F2ECE1"/>
          </a:solidFill>
          <a:ln w="12700">
            <a:solidFill>
              <a:srgbClr val="DFD6C7"/>
            </a:solidFill>
            <a:prstDash val="solid"/>
          </a:ln>
        </p:spPr>
      </p:sp>
      <p:sp>
        <p:nvSpPr>
          <p:cNvPr id="11" name="Text 9"/>
          <p:cNvSpPr txBox="1"/>
          <p:nvPr/>
        </p:nvSpPr>
        <p:spPr>
          <a:xfrm>
            <a:off x="6132576" y="1335024"/>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Keeping access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4 key concepts, 5 examples</a:t>
            </a:r>
            <a:endParaRPr lang="en-US" sz="1250" dirty="0"/>
          </a:p>
        </p:txBody>
      </p:sp>
      <p:sp>
        <p:nvSpPr>
          <p:cNvPr id="12" name="Shape 10"/>
          <p:cNvSpPr/>
          <p:nvPr/>
        </p:nvSpPr>
        <p:spPr>
          <a:xfrm>
            <a:off x="457200" y="2898648"/>
            <a:ext cx="2645664" cy="1490472"/>
          </a:xfrm>
          <a:prstGeom prst="roundRect">
            <a:avLst>
              <a:gd name="adj" fmla="val 4908"/>
            </a:avLst>
          </a:prstGeom>
          <a:solidFill>
            <a:srgbClr val="F2ECE1"/>
          </a:solidFill>
          <a:ln w="12700">
            <a:solidFill>
              <a:srgbClr val="DFD6C7"/>
            </a:solidFill>
            <a:prstDash val="solid"/>
          </a:ln>
        </p:spPr>
      </p:sp>
      <p:sp>
        <p:nvSpPr>
          <p:cNvPr id="13" name="Text 11"/>
          <p:cNvSpPr txBox="1"/>
          <p:nvPr/>
        </p:nvSpPr>
        <p:spPr>
          <a:xfrm>
            <a:off x="548640" y="2953512"/>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Sharing control</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4 key concepts, 6 examples</a:t>
            </a:r>
            <a:endParaRPr lang="en-US" sz="1250" dirty="0"/>
          </a:p>
        </p:txBody>
      </p:sp>
      <p:sp>
        <p:nvSpPr>
          <p:cNvPr id="14" name="Shape 12"/>
          <p:cNvSpPr/>
          <p:nvPr/>
        </p:nvSpPr>
        <p:spPr>
          <a:xfrm>
            <a:off x="3249168" y="2898648"/>
            <a:ext cx="2645664" cy="1490472"/>
          </a:xfrm>
          <a:prstGeom prst="roundRect">
            <a:avLst>
              <a:gd name="adj" fmla="val 4908"/>
            </a:avLst>
          </a:prstGeom>
          <a:solidFill>
            <a:srgbClr val="F2ECE1"/>
          </a:solidFill>
          <a:ln w="12700">
            <a:solidFill>
              <a:srgbClr val="DFD6C7"/>
            </a:solidFill>
            <a:prstDash val="solid"/>
          </a:ln>
        </p:spPr>
      </p:sp>
      <p:sp>
        <p:nvSpPr>
          <p:cNvPr id="15" name="Text 13"/>
          <p:cNvSpPr txBox="1"/>
          <p:nvPr/>
        </p:nvSpPr>
        <p:spPr>
          <a:xfrm>
            <a:off x="3340608" y="2953512"/>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Custody history</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 key concepts, 2 examples</a:t>
            </a:r>
            <a:endParaRPr lang="en-US" sz="1250" dirty="0"/>
          </a:p>
        </p:txBody>
      </p:sp>
      <p:sp>
        <p:nvSpPr>
          <p:cNvPr id="16" name="Shape 14"/>
          <p:cNvSpPr/>
          <p:nvPr/>
        </p:nvSpPr>
        <p:spPr>
          <a:xfrm>
            <a:off x="6041136" y="2898648"/>
            <a:ext cx="2645664" cy="1490472"/>
          </a:xfrm>
          <a:prstGeom prst="roundRect">
            <a:avLst>
              <a:gd name="adj" fmla="val 4908"/>
            </a:avLst>
          </a:prstGeom>
          <a:solidFill>
            <a:srgbClr val="F2ECE1"/>
          </a:solidFill>
          <a:ln w="12700">
            <a:solidFill>
              <a:srgbClr val="DFD6C7"/>
            </a:solidFill>
            <a:prstDash val="solid"/>
          </a:ln>
        </p:spPr>
      </p:sp>
      <p:sp>
        <p:nvSpPr>
          <p:cNvPr id="17" name="Text 15"/>
          <p:cNvSpPr txBox="1"/>
          <p:nvPr/>
        </p:nvSpPr>
        <p:spPr>
          <a:xfrm>
            <a:off x="6132576" y="2953512"/>
            <a:ext cx="2462784"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Survivability</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2 key concepts, 2 examples</a:t>
            </a:r>
            <a:endParaRPr lang="en-US" sz="12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every slide today lives on this map</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55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security model</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node trusts only what it can check itself, like a cashier who tests every note.</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Payment secrecy</a:t>
            </a:r>
            <a:endParaRPr lang="en-US" sz="1100" dirty="0"/>
          </a:p>
        </p:txBody>
      </p:sp>
      <p:sp>
        <p:nvSpPr>
          <p:cNvPr id="8" name="Text 6"/>
          <p:cNvSpPr txBox="1"/>
          <p:nvPr/>
        </p:nvSpPr>
        <p:spPr>
          <a:xfrm>
            <a:off x="77724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signed payment can be published because it never contains the key.</a:t>
            </a:r>
            <a:endParaRPr lang="en-US" sz="1100" dirty="0"/>
          </a:p>
        </p:txBody>
      </p:sp>
      <p:sp>
        <p:nvSpPr>
          <p:cNvPr id="9" name="Text 7"/>
          <p:cNvSpPr txBox="1"/>
          <p:nvPr/>
        </p:nvSpPr>
        <p:spPr>
          <a:xfrm>
            <a:off x="77724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cheque that shows the signature but never the pen.</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Encrypted peers</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Nodes talk in an encrypted language by default; old nodes fall back.</a:t>
            </a:r>
            <a:endParaRPr lang="en-US" sz="1100" dirty="0"/>
          </a:p>
        </p:txBody>
      </p:sp>
      <p:sp>
        <p:nvSpPr>
          <p:cNvPr id="13" name="Text 11"/>
          <p:cNvSpPr txBox="1"/>
          <p:nvPr/>
        </p:nvSpPr>
        <p:spPr>
          <a:xfrm>
            <a:off x="278892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two people who switch to a private language.</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Root of trust</a:t>
            </a:r>
            <a:endParaRPr lang="en-US" sz="1100" dirty="0"/>
          </a:p>
        </p:txBody>
      </p:sp>
      <p:sp>
        <p:nvSpPr>
          <p:cNvPr id="16" name="Text 14"/>
          <p:cNvSpPr txBox="1"/>
          <p:nvPr/>
        </p:nvSpPr>
        <p:spPr>
          <a:xfrm>
            <a:off x="480060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One typed-in block is the start of all checking.</a:t>
            </a:r>
            <a:endParaRPr lang="en-US" sz="1100" dirty="0"/>
          </a:p>
        </p:txBody>
      </p:sp>
      <p:sp>
        <p:nvSpPr>
          <p:cNvPr id="17" name="Text 15"/>
          <p:cNvSpPr txBox="1"/>
          <p:nvPr/>
        </p:nvSpPr>
        <p:spPr>
          <a:xfrm>
            <a:off x="480060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founder at the top of a family tree.</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Software checks</a:t>
            </a:r>
            <a:endParaRPr lang="en-US" sz="1100" dirty="0"/>
          </a:p>
        </p:txBody>
      </p:sp>
      <p:sp>
        <p:nvSpPr>
          <p:cNvPr id="20" name="Text 18"/>
          <p:cNvSpPr txBox="1"/>
          <p:nvPr/>
        </p:nvSpPr>
        <p:spPr>
          <a:xfrm>
            <a:off x="6812280" y="2487168"/>
            <a:ext cx="1828800" cy="718718"/>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hash proves the download is the listed file; a signature says who listed it.</a:t>
            </a:r>
            <a:endParaRPr lang="en-US" sz="1100" dirty="0"/>
          </a:p>
        </p:txBody>
      </p:sp>
      <p:sp>
        <p:nvSpPr>
          <p:cNvPr id="21" name="Text 19"/>
          <p:cNvSpPr txBox="1"/>
          <p:nvPr/>
        </p:nvSpPr>
        <p:spPr>
          <a:xfrm>
            <a:off x="6812280" y="3233318"/>
            <a:ext cx="182880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seal on a medicine box.</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55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security model: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Security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Keeping coins safe by keeping the keys safe, and by checking what you run.</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locking your front door and also checking who made the lock.</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Security Principles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Rules such as trusting as little as possible and checking what you can.</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habits of a cashier who tests every note.</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Developing Bitcoin Systems Securely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Builders must assume attackers read the code and copy the data.</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building a shop on the assumption that burglars know the plan.</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Root of Trust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book's name for the one thing a system must simply believe.</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founder at the top of a family tree.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55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signed payment hides the key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What the recorded bytes of a payment contain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R[</a:t>
            </a:r>
            <a:r>
              <a:rPr lang="en-US" sz="1000" dirty="0">
                <a:solidFill>
                  <a:srgbClr val="9ECBFF"/>
                </a:solidFill>
                <a:latin typeface="Courier New" pitchFamily="34" charset="0"/>
                <a:ea typeface="Courier New" pitchFamily="34" charset="-122"/>
                <a:cs typeface="Courier New" pitchFamily="34" charset="-120"/>
              </a:rPr>
              <a:t>'b1_secrecy'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 s[</a:t>
            </a:r>
            <a:r>
              <a:rPr lang="en-US" sz="1000" dirty="0">
                <a:solidFill>
                  <a:srgbClr val="9ECBFF"/>
                </a:solidFill>
                <a:latin typeface="Courier New" pitchFamily="34" charset="0"/>
                <a:ea typeface="Courier New" pitchFamily="34" charset="-122"/>
                <a:cs typeface="Courier New" pitchFamily="34" charset="-120"/>
              </a:rPr>
              <a:t>'tx_bytes'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lens = s[</a:t>
            </a:r>
            <a:r>
              <a:rPr lang="en-US" sz="1000" dirty="0">
                <a:solidFill>
                  <a:srgbClr val="9ECBFF"/>
                </a:solidFill>
                <a:latin typeface="Courier New" pitchFamily="34" charset="0"/>
                <a:ea typeface="Courier New" pitchFamily="34" charset="-122"/>
                <a:cs typeface="Courier New" pitchFamily="34" charset="-120"/>
              </a:rPr>
              <a:t>'witness_item_lengths'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key_in = s[</a:t>
            </a:r>
            <a:r>
              <a:rPr lang="en-US" sz="1000" dirty="0">
                <a:solidFill>
                  <a:srgbClr val="9ECBFF"/>
                </a:solidFill>
                <a:latin typeface="Courier New" pitchFamily="34" charset="0"/>
                <a:ea typeface="Courier New" pitchFamily="34" charset="-122"/>
                <a:cs typeface="Courier New" pitchFamily="34" charset="-120"/>
              </a:rPr>
              <a:t>'private_key_hex_in_tx'</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wif_in = s[</a:t>
            </a:r>
            <a:r>
              <a:rPr lang="en-US" sz="1000" dirty="0">
                <a:solidFill>
                  <a:srgbClr val="9ECBFF"/>
                </a:solidFill>
                <a:latin typeface="Courier New" pitchFamily="34" charset="0"/>
                <a:ea typeface="Courier New" pitchFamily="34" charset="-122"/>
                <a:cs typeface="Courier New" pitchFamily="34" charset="-120"/>
              </a:rPr>
              <a:t>'wif_in_tx'</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(key_in, wif_in, lens)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False, [71, 33])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signed payment of the test node, as bytes.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Its witness holds a signature and a public key, never the key itself.</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Neither the raw key nor its wallet export form appears in the bytes.</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what the signed bytes contain</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783080"/>
                <a:gridCol w="11887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Observation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Bytes in the payment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222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Witness item sizes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71 and 33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Private key inside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Wallet-format key inside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Hash type byte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 (ALL)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witness holds a signature of 71 bytes and a public key of 33 bytes. No key of the owner is in the payment.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payment carries a signature and a public key, never the private key</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55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security model: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root of trust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Everything checked later is checked against this starting point.</a:t>
            </a:r>
            <a:endParaRPr lang="en-US" sz="1300" dirty="0"/>
          </a:p>
        </p:txBody>
      </p:sp>
      <p:sp>
        <p:nvSpPr>
          <p:cNvPr id="9" name="Text 7"/>
          <p:cNvSpPr txBox="1"/>
          <p:nvPr/>
        </p:nvSpPr>
        <p:spPr>
          <a:xfrm>
            <a:off x="640080"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zero mark on a ruler.</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decentralization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No single party can change or stop the system.</a:t>
            </a:r>
            <a:endParaRPr lang="en-US" sz="1300" dirty="0"/>
          </a:p>
        </p:txBody>
      </p:sp>
      <p:sp>
        <p:nvSpPr>
          <p:cNvPr id="13" name="Text 11"/>
          <p:cNvSpPr txBox="1"/>
          <p:nvPr/>
        </p:nvSpPr>
        <p:spPr>
          <a:xfrm>
            <a:off x="4828032"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town square with no single owner.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decentralized consensus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Thousands of nodes check the same rules and so agree on one history.</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class where every pupil marks the same sum.</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genesis block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first block, whose hash is typed into the software.</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first page of a ledger, signed in advance.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55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Edit the payee or the amount: rejected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node tested the payment as signed and two edited copies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R[</a:t>
            </a:r>
            <a:r>
              <a:rPr lang="en-US" sz="1000" dirty="0">
                <a:solidFill>
                  <a:srgbClr val="9ECBFF"/>
                </a:solidFill>
                <a:latin typeface="Courier New" pitchFamily="34" charset="0"/>
                <a:ea typeface="Courier New" pitchFamily="34" charset="-122"/>
                <a:cs typeface="Courier New" pitchFamily="34" charset="-120"/>
              </a:rPr>
              <a:t>'b1_tamper'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names = [</a:t>
            </a:r>
            <a:r>
              <a:rPr lang="en-US" sz="1000" dirty="0">
                <a:solidFill>
                  <a:srgbClr val="9ECBFF"/>
                </a:solidFill>
                <a:latin typeface="Courier New" pitchFamily="34" charset="0"/>
                <a:ea typeface="Courier New" pitchFamily="34" charset="-122"/>
                <a:cs typeface="Courier New" pitchFamily="34" charset="-120"/>
              </a:rPr>
              <a:t>'valid'</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'address_replaced'</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'amount_changed'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[t[k][</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names]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 False]</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node was offered the payment as signed and two edited copies.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Only the copy that was signed is allowed into the mempool.</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copies offered to the node</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Copy offered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Mempool test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As signed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allowed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Payee replaced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Amount changed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Both edited copies really differ from the original (yes), and both are refused: the signature covered what was changed.</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signature covers payee and amount, so any edit fails the check</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55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replayed payment pays nothing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Offering a mined payment to the same node again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a:t>
            </a:r>
            <a:r>
              <a:rPr lang="en-US" sz="1000" dirty="0">
                <a:solidFill>
                  <a:srgbClr val="9ECBFF"/>
                </a:solidFill>
                <a:latin typeface="Courier New" pitchFamily="34" charset="0"/>
                <a:ea typeface="Courier New" pitchFamily="34" charset="-122"/>
                <a:cs typeface="Courier New" pitchFamily="34" charset="-120"/>
              </a:rPr>
              <a:t>'b1_replay'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r[</a:t>
            </a:r>
            <a:r>
              <a:rPr lang="en-US" sz="1000" dirty="0">
                <a:solidFill>
                  <a:srgbClr val="9ECBFF"/>
                </a:solidFill>
                <a:latin typeface="Courier New" pitchFamily="34" charset="0"/>
                <a:ea typeface="Courier New" pitchFamily="34" charset="-122"/>
                <a:cs typeface="Courier New" pitchFamily="34" charset="-120"/>
              </a:rPr>
              <a:t>'testmempoolaccept'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'reject-reason'</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gain = r[</a:t>
            </a:r>
            <a:r>
              <a:rPr lang="en-US" sz="1000" dirty="0">
                <a:solidFill>
                  <a:srgbClr val="9ECBFF"/>
                </a:solidFill>
                <a:latin typeface="Courier New" pitchFamily="34" charset="0"/>
                <a:ea typeface="Courier New" pitchFamily="34" charset="-122"/>
                <a:cs typeface="Courier New" pitchFamily="34" charset="-120"/>
              </a:rPr>
              <a:t>'balance_r_after'</a:t>
            </a:r>
            <a:r>
              <a:rPr lang="en-US" sz="1000" dirty="0">
                <a:solidFill>
                  <a:srgbClr val="E6EDF3"/>
                </a:solidFill>
                <a:latin typeface="Courier New" pitchFamily="34" charset="0"/>
                <a:ea typeface="Courier New" pitchFamily="34" charset="-122"/>
                <a:cs typeface="Courier New" pitchFamily="34" charset="-120"/>
              </a:rPr>
              <a:t>] - r[</a:t>
            </a:r>
            <a:r>
              <a:rPr lang="en-US" sz="1000" dirty="0">
                <a:solidFill>
                  <a:srgbClr val="9ECBFF"/>
                </a:solidFill>
                <a:latin typeface="Courier New" pitchFamily="34" charset="0"/>
                <a:ea typeface="Courier New" pitchFamily="34" charset="-122"/>
                <a:cs typeface="Courier New" pitchFamily="34" charset="-120"/>
              </a:rPr>
              <a:t>'balance_r'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gain)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('txn-already-known', 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mined payment is offered to the same node a second time.</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receiver's balance before and after the replay is compared.</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replay and its effect</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Second offer to the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Reject reason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txn-already-known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Receiver's balance before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Change after the replay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node that already knows a payment will not take it again: nothing is paid twice.</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node that knows a payment refuses it, so nothing is paid twice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55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Encrypted by default since release 27.0</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recorded nodes, and one without the service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n = R[</a:t>
            </a:r>
            <a:r>
              <a:rPr lang="en-US" sz="1000" dirty="0">
                <a:solidFill>
                  <a:srgbClr val="9ECBFF"/>
                </a:solidFill>
                <a:latin typeface="Courier New" pitchFamily="34" charset="0"/>
                <a:ea typeface="Courier New" pitchFamily="34" charset="-122"/>
                <a:cs typeface="Courier New" pitchFamily="34" charset="-120"/>
              </a:rPr>
              <a:t>'b2_peers'</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'b2_netinfo'</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v2 = [p[</a:t>
            </a:r>
            <a:r>
              <a:rPr lang="en-US" sz="1000" dirty="0">
                <a:solidFill>
                  <a:srgbClr val="9ECBFF"/>
                </a:solidFill>
                <a:latin typeface="Courier New" pitchFamily="34" charset="0"/>
                <a:ea typeface="Courier New" pitchFamily="34" charset="-122"/>
                <a:cs typeface="Courier New" pitchFamily="34" charset="-120"/>
              </a:rPr>
              <a:t>'Q'</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'transport'</a:t>
            </a:r>
            <a:r>
              <a:rPr lang="en-US" sz="1000" dirty="0">
                <a:solidFill>
                  <a:srgbClr val="E6EDF3"/>
                </a:solidFill>
                <a:latin typeface="Courier New" pitchFamily="34" charset="0"/>
                <a:ea typeface="Courier New" pitchFamily="34" charset="-122"/>
                <a:cs typeface="Courier New" pitchFamily="34" charset="-120"/>
              </a:rPr>
              <a:t>], p[</a:t>
            </a:r>
            <a:r>
              <a:rPr lang="en-US" sz="1000" dirty="0">
                <a:solidFill>
                  <a:srgbClr val="9ECBFF"/>
                </a:solidFill>
                <a:latin typeface="Courier New" pitchFamily="34" charset="0"/>
                <a:ea typeface="Courier New" pitchFamily="34" charset="-122"/>
                <a:cs typeface="Courier New" pitchFamily="34" charset="-120"/>
              </a:rPr>
              <a:t>'P'</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'transport'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R[</a:t>
            </a:r>
            <a:r>
              <a:rPr lang="en-US" sz="1000" dirty="0">
                <a:solidFill>
                  <a:srgbClr val="9ECBFF"/>
                </a:solidFill>
                <a:latin typeface="Courier New" pitchFamily="34" charset="0"/>
                <a:ea typeface="Courier New" pitchFamily="34" charset="-122"/>
                <a:cs typeface="Courier New" pitchFamily="34" charset="-120"/>
              </a:rPr>
              <a:t>'b2_session_ids_match'</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v1 = p[</a:t>
            </a:r>
            <a:r>
              <a:rPr lang="en-US" sz="1000" dirty="0">
                <a:solidFill>
                  <a:srgbClr val="9ECBFF"/>
                </a:solidFill>
                <a:latin typeface="Courier New" pitchFamily="34" charset="0"/>
                <a:ea typeface="Courier New" pitchFamily="34" charset="-122"/>
                <a:cs typeface="Courier New" pitchFamily="34" charset="-120"/>
              </a:rPr>
              <a:t>'X'</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'transport'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(v2, v1)</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(['v2', 'v2'], 'v1')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recorded nodes both speak the new encrypted transport.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Both ends of the link derived the same session identifier.</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node without the service falls back to the old version one.</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who speaks which version</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Peer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Transport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Q, talking to 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 talking to Q</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Old-style node X</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Same session id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 offers the service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offers the service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Both ends of an encrypted link derive the same session identifier. The node without the service stays on version one.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Peers with the service speak version two; others stay on version one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55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first block's hash, rebuilt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Eighty bytes, hashed twice, found in the source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mr = </a:t>
            </a:r>
            <a:r>
              <a:rPr lang="en-US" sz="1000" dirty="0">
                <a:solidFill>
                  <a:srgbClr val="9ECBFF"/>
                </a:solidFill>
                <a:latin typeface="Courier New" pitchFamily="34" charset="0"/>
                <a:ea typeface="Courier New" pitchFamily="34" charset="-122"/>
                <a:cs typeface="Courier New" pitchFamily="34" charset="-120"/>
              </a:rPr>
              <a:t>'4a5e1e4baab89f3a32518a88c31bc87f'</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mr += </a:t>
            </a:r>
            <a:r>
              <a:rPr lang="en-US" sz="1000" dirty="0">
                <a:solidFill>
                  <a:srgbClr val="9ECBFF"/>
                </a:solidFill>
                <a:latin typeface="Courier New" pitchFamily="34" charset="0"/>
                <a:ea typeface="Courier New" pitchFamily="34" charset="-122"/>
                <a:cs typeface="Courier New" pitchFamily="34" charset="-120"/>
              </a:rPr>
              <a:t>'618f76673e2cc77ab2127b7afdeda33b'</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n: n.to_bytes(</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'little'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hdr = le(</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bytes(</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 bytes.fromhex(mr)[::-</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hdr += le(</a:t>
            </a:r>
            <a:r>
              <a:rPr lang="en-US" sz="1000" dirty="0">
                <a:solidFill>
                  <a:srgbClr val="FFD28A"/>
                </a:solidFill>
                <a:latin typeface="Courier New" pitchFamily="34" charset="0"/>
                <a:ea typeface="Courier New" pitchFamily="34" charset="-122"/>
                <a:cs typeface="Courier New" pitchFamily="34" charset="-120"/>
              </a:rPr>
              <a:t>1231006505</a:t>
            </a:r>
            <a:r>
              <a:rPr lang="en-US" sz="1000" dirty="0">
                <a:solidFill>
                  <a:srgbClr val="E6EDF3"/>
                </a:solidFill>
                <a:latin typeface="Courier New" pitchFamily="34" charset="0"/>
                <a:ea typeface="Courier New" pitchFamily="34" charset="-122"/>
                <a:cs typeface="Courier New" pitchFamily="34" charset="-120"/>
              </a:rPr>
              <a:t>) + le(0x1d00ffff) + le(</a:t>
            </a:r>
            <a:r>
              <a:rPr lang="en-US" sz="1000" dirty="0">
                <a:solidFill>
                  <a:srgbClr val="FFD28A"/>
                </a:solidFill>
                <a:latin typeface="Courier New" pitchFamily="34" charset="0"/>
                <a:ea typeface="Courier New" pitchFamily="34" charset="-122"/>
                <a:cs typeface="Courier New" pitchFamily="34" charset="-120"/>
              </a:rPr>
              <a:t>2083236893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3157423"/>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b: hashlib.sha256(b).digest()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d(d(hdr))[::-</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found = seen(</a:t>
            </a:r>
            <a:r>
              <a:rPr lang="en-US" sz="1000" dirty="0">
                <a:solidFill>
                  <a:srgbClr val="9ECBFF"/>
                </a:solidFill>
                <a:latin typeface="Courier New" pitchFamily="34" charset="0"/>
                <a:ea typeface="Courier New" pitchFamily="34" charset="-122"/>
                <a:cs typeface="Courier New" pitchFamily="34" charset="-120"/>
              </a:rPr>
              <a:t>'core_src_kernel_chainparams.cpp'</a:t>
            </a:r>
            <a:r>
              <a:rPr lang="en-US" sz="1000" dirty="0">
                <a:solidFill>
                  <a:srgbClr val="E6EDF3"/>
                </a:solidFill>
                <a:latin typeface="Courier New" pitchFamily="34" charset="0"/>
                <a:ea typeface="Courier New" pitchFamily="34" charset="-122"/>
                <a:cs typeface="Courier New" pitchFamily="34" charset="-120"/>
              </a:rPr>
              <a:t>, 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(len(hdr), h[:</a:t>
            </a:r>
            <a:r>
              <a:rPr lang="en-US" sz="1000" dirty="0">
                <a:solidFill>
                  <a:srgbClr val="FFD28A"/>
                </a:solidFill>
                <a:latin typeface="Courier New" pitchFamily="34" charset="0"/>
                <a:ea typeface="Courier New" pitchFamily="34" charset="-122"/>
                <a:cs typeface="Courier New" pitchFamily="34" charset="-120"/>
              </a:rPr>
              <a:t>20</a:t>
            </a:r>
            <a:r>
              <a:rPr lang="en-US" sz="1000" dirty="0">
                <a:solidFill>
                  <a:srgbClr val="E6EDF3"/>
                </a:solidFill>
                <a:latin typeface="Courier New" pitchFamily="34" charset="0"/>
                <a:ea typeface="Courier New" pitchFamily="34" charset="-122"/>
                <a:cs typeface="Courier New" pitchFamily="34" charset="-120"/>
              </a:rPr>
              <a:t>], found)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(80, '000000000019d6689c08',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Merkle root of the first block, as printed in explorers.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80-byte header: version, parent, root, time, bits, nonce.</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408371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Hash it twice and look the result up in the source of Core.</a:t>
            </a:r>
            <a:endParaRPr lang="en-US" sz="1050" dirty="0"/>
          </a:p>
        </p:txBody>
      </p:sp>
      <p:sp>
        <p:nvSpPr>
          <p:cNvPr id="21" name="Text 19"/>
          <p:cNvSpPr txBox="1"/>
          <p:nvPr/>
        </p:nvSpPr>
        <p:spPr>
          <a:xfrm>
            <a:off x="457200" y="433974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seen() searches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double hash of the header</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417320"/>
                <a:gridCol w="15544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Header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Hash starts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000000000019d6689c08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Leading zero digits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Found in Core's source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hash begins with 10 zero digits and appears in the source of Core: the starting point is typed in.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first block is not fetched; its hash is typed into the software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55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Assumed valid: a typed-in shortcut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Where Core describes it and where it keeps the block</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a:t>
            </a:r>
            <a:r>
              <a:rPr lang="en-US" sz="1000" dirty="0">
                <a:solidFill>
                  <a:srgbClr val="9ECBFF"/>
                </a:solidFill>
                <a:latin typeface="Courier New" pitchFamily="34" charset="0"/>
                <a:ea typeface="Courier New" pitchFamily="34" charset="-122"/>
                <a:cs typeface="Courier New" pitchFamily="34" charset="-120"/>
              </a:rPr>
              <a:t>'bitcoind_help_31.1.txt'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q = </a:t>
            </a:r>
            <a:r>
              <a:rPr lang="en-US" sz="1000" dirty="0">
                <a:solidFill>
                  <a:srgbClr val="9ECBFF"/>
                </a:solidFill>
                <a:latin typeface="Courier New" pitchFamily="34" charset="0"/>
                <a:ea typeface="Courier New" pitchFamily="34" charset="-122"/>
                <a:cs typeface="Courier New" pitchFamily="34" charset="-120"/>
              </a:rPr>
              <a:t>'potentially skip their script verification'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says = seen(f, q)</a:t>
            </a:r>
            <a:endParaRPr lang="en-US" sz="1000" dirty="0"/>
          </a:p>
        </p:txBody>
      </p:sp>
      <p:sp>
        <p:nvSpPr>
          <p:cNvPr id="8" name="Shape 6"/>
          <p:cNvSpPr/>
          <p:nvPr/>
        </p:nvSpPr>
        <p:spPr>
          <a:xfrm>
            <a:off x="457200" y="2287829"/>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98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a:t>
            </a:r>
            <a:r>
              <a:rPr lang="en-US" sz="1000" dirty="0">
                <a:solidFill>
                  <a:srgbClr val="9ECBFF"/>
                </a:solidFill>
                <a:latin typeface="Courier New" pitchFamily="34" charset="0"/>
                <a:ea typeface="Courier New" pitchFamily="34" charset="-122"/>
                <a:cs typeface="Courier New" pitchFamily="34" charset="-120"/>
              </a:rPr>
              <a:t>'core_src_kernel_chainparams.cpp'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typed = seen(c, </a:t>
            </a:r>
            <a:r>
              <a:rPr lang="en-US" sz="1000" dirty="0">
                <a:solidFill>
                  <a:srgbClr val="9ECBFF"/>
                </a:solidFill>
                <a:latin typeface="Courier New" pitchFamily="34" charset="0"/>
                <a:ea typeface="Courier New" pitchFamily="34" charset="-122"/>
                <a:cs typeface="Courier New" pitchFamily="34" charset="-120"/>
              </a:rPr>
              <a:t>'defaultAssumeValid'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742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opt = R[</a:t>
            </a:r>
            <a:r>
              <a:rPr lang="en-US" sz="1000" dirty="0">
                <a:solidFill>
                  <a:srgbClr val="9ECBFF"/>
                </a:solidFill>
                <a:latin typeface="Courier New" pitchFamily="34" charset="0"/>
                <a:ea typeface="Courier New" pitchFamily="34" charset="-122"/>
                <a:cs typeface="Courier New" pitchFamily="34" charset="-120"/>
              </a:rPr>
              <a:t>'b8_help_has'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'-assumevalid'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(says, typed, opt)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help text of release 31.1 describes the shortcut in words.</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block it trusts is typed into the source, like the genesis block.</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 option of the recorded node controls it.</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seen() searches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searches in saved sources</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2194560"/>
                <a:gridCol w="7772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Search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Found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Help text names the shortcut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Source types the trusted block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Option -assumevalid exists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shortcut is documented, typed into the release and switchable. Trust in it is trust in the release.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Old blocks are trusted by a block hash typed into the release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55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Does the download match the list?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recorded check of the release 31.1 tarball</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 R[</a:t>
            </a:r>
            <a:r>
              <a:rPr lang="en-US" sz="1000" dirty="0">
                <a:solidFill>
                  <a:srgbClr val="9ECBFF"/>
                </a:solidFill>
                <a:latin typeface="Courier New" pitchFamily="34" charset="0"/>
                <a:ea typeface="Courier New" pitchFamily="34" charset="-122"/>
                <a:cs typeface="Courier New" pitchFamily="34" charset="-120"/>
              </a:rPr>
              <a:t>'b8_release'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match = r[</a:t>
            </a:r>
            <a:r>
              <a:rPr lang="en-US" sz="1000" dirty="0">
                <a:solidFill>
                  <a:srgbClr val="9ECBFF"/>
                </a:solidFill>
                <a:latin typeface="Courier New" pitchFamily="34" charset="0"/>
                <a:ea typeface="Courier New" pitchFamily="34" charset="-122"/>
                <a:cs typeface="Courier New" pitchFamily="34" charset="-120"/>
              </a:rPr>
              <a:t>'match'</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size_mb = round(r[</a:t>
            </a:r>
            <a:r>
              <a:rPr lang="en-US" sz="1000" dirty="0">
                <a:solidFill>
                  <a:srgbClr val="9ECBFF"/>
                </a:solidFill>
                <a:latin typeface="Courier New" pitchFamily="34" charset="0"/>
                <a:ea typeface="Courier New" pitchFamily="34" charset="-122"/>
                <a:cs typeface="Courier New" pitchFamily="34" charset="-120"/>
              </a:rPr>
              <a:t>'tarball_bytes'</a:t>
            </a:r>
            <a:r>
              <a:rPr lang="en-US" sz="1000" dirty="0">
                <a:solidFill>
                  <a:srgbClr val="E6EDF3"/>
                </a:solidFill>
                <a:latin typeface="Courier New" pitchFamily="34" charset="0"/>
                <a:ea typeface="Courier New" pitchFamily="34" charset="-122"/>
                <a:cs typeface="Courier New" pitchFamily="34" charset="-120"/>
              </a:rPr>
              <a:t>] / 1e6,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lines = r[</a:t>
            </a:r>
            <a:r>
              <a:rPr lang="en-US" sz="1000" dirty="0">
                <a:solidFill>
                  <a:srgbClr val="9ECBFF"/>
                </a:solidFill>
                <a:latin typeface="Courier New" pitchFamily="34" charset="0"/>
                <a:ea typeface="Courier New" pitchFamily="34" charset="-122"/>
                <a:cs typeface="Courier New" pitchFamily="34" charset="-120"/>
              </a:rPr>
              <a:t>'n_lines_in_list'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made = r[</a:t>
            </a:r>
            <a:r>
              <a:rPr lang="en-US" sz="1000" dirty="0">
                <a:solidFill>
                  <a:srgbClr val="9ECBFF"/>
                </a:solidFill>
                <a:latin typeface="Courier New" pitchFamily="34" charset="0"/>
                <a:ea typeface="Courier New" pitchFamily="34" charset="-122"/>
                <a:cs typeface="Courier New" pitchFamily="34" charset="-120"/>
              </a:rPr>
              <a:t>'n_signatures_made'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unchecked = r[</a:t>
            </a:r>
            <a:r>
              <a:rPr lang="en-US" sz="1000" dirty="0">
                <a:solidFill>
                  <a:srgbClr val="9ECBFF"/>
                </a:solidFill>
                <a:latin typeface="Courier New" pitchFamily="34" charset="0"/>
                <a:ea typeface="Courier New" pitchFamily="34" charset="-122"/>
                <a:cs typeface="Courier New" pitchFamily="34" charset="-120"/>
              </a:rPr>
              <a:t>'n_cannot_check_no_public_key'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(match, made, unchecked)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11, 11)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download of Bitcoin Core 31.1 and its hash list.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list names every file; the tarball hash is one line of it.</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Builders signed the list, but without their keys none could be checked.</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recorded download check</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Hash equals the listed 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Lines in the list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Signatures made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Signatures checked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none (11 keys missing)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hash proves the file is the listed one. Without the builders' keys, nothing says who made the list.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matching hash proves the file; a checked signature proves who listed it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55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Protecting keys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Keys are kept where thieves cannot reach, like cash in a safe and not in a pocket.</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Cold storage</a:t>
            </a:r>
            <a:endParaRPr lang="en-US" sz="1100" dirty="0"/>
          </a:p>
        </p:txBody>
      </p:sp>
      <p:sp>
        <p:nvSpPr>
          <p:cNvPr id="8" name="Text 6"/>
          <p:cNvSpPr txBox="1"/>
          <p:nvPr/>
        </p:nvSpPr>
        <p:spPr>
          <a:xfrm>
            <a:off x="777240" y="2487168"/>
            <a:ext cx="1828800" cy="718718"/>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Keys stay on a machine that is never online; only the signed file travels.</a:t>
            </a:r>
            <a:endParaRPr lang="en-US" sz="1100" dirty="0"/>
          </a:p>
        </p:txBody>
      </p:sp>
      <p:sp>
        <p:nvSpPr>
          <p:cNvPr id="9" name="Text 7"/>
          <p:cNvSpPr txBox="1"/>
          <p:nvPr/>
        </p:nvSpPr>
        <p:spPr>
          <a:xfrm>
            <a:off x="777240" y="3233318"/>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manager who signs cheques in another building.</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Wallet lock</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passphrase locks the keys but not the balance.</a:t>
            </a:r>
            <a:endParaRPr lang="en-US" sz="1100" dirty="0"/>
          </a:p>
        </p:txBody>
      </p:sp>
      <p:sp>
        <p:nvSpPr>
          <p:cNvPr id="13" name="Text 11"/>
          <p:cNvSpPr txBox="1"/>
          <p:nvPr/>
        </p:nvSpPr>
        <p:spPr>
          <a:xfrm>
            <a:off x="2788920" y="3062326"/>
            <a:ext cx="182880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locked drawer in a shop window.</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Signing devices</a:t>
            </a:r>
            <a:endParaRPr lang="en-US" sz="1100" dirty="0"/>
          </a:p>
        </p:txBody>
      </p:sp>
      <p:sp>
        <p:nvSpPr>
          <p:cNvPr id="16" name="Text 14"/>
          <p:cNvSpPr txBox="1"/>
          <p:nvPr/>
        </p:nvSpPr>
        <p:spPr>
          <a:xfrm>
            <a:off x="4800600" y="2487168"/>
            <a:ext cx="1828800" cy="718718"/>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small device holds the keys and signs, and waits longer after each wrong PIN.</a:t>
            </a:r>
            <a:endParaRPr lang="en-US" sz="1100" dirty="0"/>
          </a:p>
        </p:txBody>
      </p:sp>
      <p:sp>
        <p:nvSpPr>
          <p:cNvPr id="17" name="Text 15"/>
          <p:cNvSpPr txBox="1"/>
          <p:nvPr/>
        </p:nvSpPr>
        <p:spPr>
          <a:xfrm>
            <a:off x="4800600" y="3233318"/>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safe that empties itself after too many tries.</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Paper, memory</a:t>
            </a:r>
            <a:endParaRPr lang="en-US" sz="1100" dirty="0"/>
          </a:p>
        </p:txBody>
      </p:sp>
      <p:sp>
        <p:nvSpPr>
          <p:cNvPr id="20" name="Text 18"/>
          <p:cNvSpPr txBox="1"/>
          <p:nvPr/>
        </p:nvSpPr>
        <p:spPr>
          <a:xfrm>
            <a:off x="6812280" y="2487168"/>
            <a:ext cx="1828800" cy="718718"/>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Paper wallets are obsolete; a secret made of a few words is quickly guessed.</a:t>
            </a:r>
            <a:endParaRPr lang="en-US" sz="1100" dirty="0"/>
          </a:p>
        </p:txBody>
      </p:sp>
      <p:sp>
        <p:nvSpPr>
          <p:cNvPr id="21" name="Text 19"/>
          <p:cNvSpPr txBox="1"/>
          <p:nvPr/>
        </p:nvSpPr>
        <p:spPr>
          <a:xfrm>
            <a:off x="6812280" y="3233318"/>
            <a:ext cx="182880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password written on a sticky note.</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55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Protecting keys: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40764"/>
          </a:xfrm>
          <a:prstGeom prst="roundRect">
            <a:avLst>
              <a:gd name="adj" fmla="val 4748"/>
            </a:avLst>
          </a:prstGeom>
          <a:solidFill>
            <a:srgbClr val="F2ECE1"/>
          </a:solidFill>
          <a:ln w="12700">
            <a:solidFill>
              <a:srgbClr val="DFD6C7"/>
            </a:solidFill>
            <a:prstDash val="solid"/>
          </a:ln>
        </p:spPr>
      </p:sp>
      <p:sp>
        <p:nvSpPr>
          <p:cNvPr id="7" name="Shape 5"/>
          <p:cNvSpPr/>
          <p:nvPr/>
        </p:nvSpPr>
        <p:spPr>
          <a:xfrm>
            <a:off x="475488" y="1408176"/>
            <a:ext cx="64008" cy="128473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User Security Best Practices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book's advice for people who hold keys.</a:t>
            </a:r>
            <a:endParaRPr lang="en-US" sz="1300" dirty="0"/>
          </a:p>
        </p:txBody>
      </p:sp>
      <p:sp>
        <p:nvSpPr>
          <p:cNvPr id="9" name="Text 7"/>
          <p:cNvSpPr txBox="1"/>
          <p:nvPr/>
        </p:nvSpPr>
        <p:spPr>
          <a:xfrm>
            <a:off x="640080" y="218541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safety rules printed on a ladder.</a:t>
            </a:r>
            <a:endParaRPr lang="en-US" sz="1150" dirty="0"/>
          </a:p>
        </p:txBody>
      </p:sp>
      <p:sp>
        <p:nvSpPr>
          <p:cNvPr id="10" name="Shape 8"/>
          <p:cNvSpPr/>
          <p:nvPr/>
        </p:nvSpPr>
        <p:spPr>
          <a:xfrm>
            <a:off x="3249168" y="1280160"/>
            <a:ext cx="2645664" cy="1540764"/>
          </a:xfrm>
          <a:prstGeom prst="roundRect">
            <a:avLst>
              <a:gd name="adj" fmla="val 4748"/>
            </a:avLst>
          </a:prstGeom>
          <a:solidFill>
            <a:srgbClr val="F2ECE1"/>
          </a:solidFill>
          <a:ln w="12700">
            <a:solidFill>
              <a:srgbClr val="DFD6C7"/>
            </a:solidFill>
            <a:prstDash val="solid"/>
          </a:ln>
        </p:spPr>
      </p:sp>
      <p:sp>
        <p:nvSpPr>
          <p:cNvPr id="11" name="Shape 9"/>
          <p:cNvSpPr/>
          <p:nvPr/>
        </p:nvSpPr>
        <p:spPr>
          <a:xfrm>
            <a:off x="3267456" y="1408176"/>
            <a:ext cx="64008" cy="128473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best practices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Habits that experience shows to work, such as offline keys and tested backups.</a:t>
            </a:r>
            <a:endParaRPr lang="en-US" sz="1300" dirty="0"/>
          </a:p>
        </p:txBody>
      </p:sp>
      <p:sp>
        <p:nvSpPr>
          <p:cNvPr id="13" name="Text 11"/>
          <p:cNvSpPr txBox="1"/>
          <p:nvPr/>
        </p:nvSpPr>
        <p:spPr>
          <a:xfrm>
            <a:off x="3432048"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washing your hands before cooking.</a:t>
            </a:r>
            <a:endParaRPr lang="en-US" sz="1150" dirty="0"/>
          </a:p>
        </p:txBody>
      </p:sp>
      <p:sp>
        <p:nvSpPr>
          <p:cNvPr id="14" name="Shape 12"/>
          <p:cNvSpPr/>
          <p:nvPr/>
        </p:nvSpPr>
        <p:spPr>
          <a:xfrm>
            <a:off x="6041136" y="1280160"/>
            <a:ext cx="2645664" cy="1540764"/>
          </a:xfrm>
          <a:prstGeom prst="roundRect">
            <a:avLst>
              <a:gd name="adj" fmla="val 4748"/>
            </a:avLst>
          </a:prstGeom>
          <a:solidFill>
            <a:srgbClr val="F2ECE1"/>
          </a:solidFill>
          <a:ln w="12700">
            <a:solidFill>
              <a:srgbClr val="DFD6C7"/>
            </a:solidFill>
            <a:prstDash val="solid"/>
          </a:ln>
        </p:spPr>
      </p:sp>
      <p:sp>
        <p:nvSpPr>
          <p:cNvPr id="15" name="Shape 13"/>
          <p:cNvSpPr/>
          <p:nvPr/>
        </p:nvSpPr>
        <p:spPr>
          <a:xfrm>
            <a:off x="6059424" y="1408176"/>
            <a:ext cx="64008" cy="128473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Physical Bitcoin Storage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Keeping the secret on paper, metal or a device that can be locked away.</a:t>
            </a:r>
            <a:endParaRPr lang="en-US" sz="1300" dirty="0"/>
          </a:p>
        </p:txBody>
      </p:sp>
      <p:sp>
        <p:nvSpPr>
          <p:cNvPr id="17" name="Text 15"/>
          <p:cNvSpPr txBox="1"/>
          <p:nvPr/>
        </p:nvSpPr>
        <p:spPr>
          <a:xfrm>
            <a:off x="6224016" y="236372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keeping a spare key in a bank box.</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55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watch-only wallet cannot sign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online half of cold storage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'b3_hot'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can_sign = h[</a:t>
            </a:r>
            <a:r>
              <a:rPr lang="en-US" sz="1000" dirty="0">
                <a:solidFill>
                  <a:srgbClr val="9ECBFF"/>
                </a:solidFill>
                <a:latin typeface="Courier New" pitchFamily="34" charset="0"/>
                <a:ea typeface="Courier New" pitchFamily="34" charset="-122"/>
                <a:cs typeface="Courier New" pitchFamily="34" charset="-120"/>
              </a:rPr>
              <a:t>'watch_private_keys_enabled'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done = h[</a:t>
            </a:r>
            <a:r>
              <a:rPr lang="en-US" sz="1000" dirty="0">
                <a:solidFill>
                  <a:srgbClr val="9ECBFF"/>
                </a:solidFill>
                <a:latin typeface="Courier New" pitchFamily="34" charset="0"/>
                <a:ea typeface="Courier New" pitchFamily="34" charset="-122"/>
                <a:cs typeface="Courier New" pitchFamily="34" charset="-120"/>
              </a:rPr>
              <a:t>'hot_sign_complete'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msg = h[</a:t>
            </a:r>
            <a:r>
              <a:rPr lang="en-US" sz="1000" dirty="0">
                <a:solidFill>
                  <a:srgbClr val="9ECBFF"/>
                </a:solidFill>
                <a:latin typeface="Courier New" pitchFamily="34" charset="0"/>
                <a:ea typeface="Courier New" pitchFamily="34" charset="-122"/>
                <a:cs typeface="Courier New" pitchFamily="34" charset="-120"/>
              </a:rPr>
              <a:t>'hot_listdescriptors_private'</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'error'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msg.split(</a:t>
            </a:r>
            <a:r>
              <a:rPr lang="en-US" sz="1000" dirty="0">
                <a:solidFill>
                  <a:srgbClr val="9ECBFF"/>
                </a:solidFill>
                <a:latin typeface="Courier New" pitchFamily="34" charset="0"/>
                <a:ea typeface="Courier New" pitchFamily="34" charset="-122"/>
                <a:cs typeface="Courier New" pitchFamily="34" charset="-120"/>
              </a:rPr>
              <a:t>'message: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40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(can_sign, done)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online wallet that only watches the coins.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Asked to sign a payment, it cannot finish the job.</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Asked for private descriptors, it answers with a refusal text.</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online wallet of cold storage</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Question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Answer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 private keys?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Signature complete?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Coins it watches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Asked for private descriptors it answers: Can't get private descriptor string for. It can watch and build, never sign.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wallet without keys can build payments but never finish them</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55</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Protecting keys: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40764"/>
          </a:xfrm>
          <a:prstGeom prst="roundRect">
            <a:avLst>
              <a:gd name="adj" fmla="val 4748"/>
            </a:avLst>
          </a:prstGeom>
          <a:solidFill>
            <a:srgbClr val="F2ECE1"/>
          </a:solidFill>
          <a:ln w="12700">
            <a:solidFill>
              <a:srgbClr val="DFD6C7"/>
            </a:solidFill>
            <a:prstDash val="solid"/>
          </a:ln>
        </p:spPr>
      </p:sp>
      <p:sp>
        <p:nvSpPr>
          <p:cNvPr id="7" name="Shape 5"/>
          <p:cNvSpPr/>
          <p:nvPr/>
        </p:nvSpPr>
        <p:spPr>
          <a:xfrm>
            <a:off x="475488" y="1408176"/>
            <a:ext cx="64008" cy="128473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Hardware Signing Devices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Small devices that hold the keys and sign inside.</a:t>
            </a:r>
            <a:endParaRPr lang="en-US" sz="1300" dirty="0"/>
          </a:p>
        </p:txBody>
      </p:sp>
      <p:sp>
        <p:nvSpPr>
          <p:cNvPr id="9" name="Text 7"/>
          <p:cNvSpPr txBox="1"/>
          <p:nvPr/>
        </p:nvSpPr>
        <p:spPr>
          <a:xfrm>
            <a:off x="640080" y="218541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that makes you wait longer after each wrong code.</a:t>
            </a:r>
            <a:endParaRPr lang="en-US" sz="1150" dirty="0"/>
          </a:p>
        </p:txBody>
      </p:sp>
      <p:sp>
        <p:nvSpPr>
          <p:cNvPr id="10" name="Shape 8"/>
          <p:cNvSpPr/>
          <p:nvPr/>
        </p:nvSpPr>
        <p:spPr>
          <a:xfrm>
            <a:off x="3249168" y="1280160"/>
            <a:ext cx="2645664" cy="1540764"/>
          </a:xfrm>
          <a:prstGeom prst="roundRect">
            <a:avLst>
              <a:gd name="adj" fmla="val 4748"/>
            </a:avLst>
          </a:prstGeom>
          <a:solidFill>
            <a:srgbClr val="F2ECE1"/>
          </a:solidFill>
          <a:ln w="12700">
            <a:solidFill>
              <a:srgbClr val="DFD6C7"/>
            </a:solidFill>
            <a:prstDash val="solid"/>
          </a:ln>
        </p:spPr>
      </p:sp>
      <p:sp>
        <p:nvSpPr>
          <p:cNvPr id="11" name="Shape 9"/>
          <p:cNvSpPr/>
          <p:nvPr/>
        </p:nvSpPr>
        <p:spPr>
          <a:xfrm>
            <a:off x="3267456" y="1408176"/>
            <a:ext cx="64008" cy="128473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cold storage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Keys on a machine that is never connected to the network.</a:t>
            </a:r>
            <a:endParaRPr lang="en-US" sz="1300" dirty="0"/>
          </a:p>
        </p:txBody>
      </p:sp>
      <p:sp>
        <p:nvSpPr>
          <p:cNvPr id="13" name="Text 11"/>
          <p:cNvSpPr txBox="1"/>
          <p:nvPr/>
        </p:nvSpPr>
        <p:spPr>
          <a:xfrm>
            <a:off x="3432048"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cash in a safe at home, not in your pocket.</a:t>
            </a:r>
            <a:endParaRPr lang="en-US" sz="1150" dirty="0"/>
          </a:p>
        </p:txBody>
      </p:sp>
      <p:sp>
        <p:nvSpPr>
          <p:cNvPr id="14" name="Shape 12"/>
          <p:cNvSpPr/>
          <p:nvPr/>
        </p:nvSpPr>
        <p:spPr>
          <a:xfrm>
            <a:off x="6041136" y="1280160"/>
            <a:ext cx="2645664" cy="1540764"/>
          </a:xfrm>
          <a:prstGeom prst="roundRect">
            <a:avLst>
              <a:gd name="adj" fmla="val 4748"/>
            </a:avLst>
          </a:prstGeom>
          <a:solidFill>
            <a:srgbClr val="F2ECE1"/>
          </a:solidFill>
          <a:ln w="12700">
            <a:solidFill>
              <a:srgbClr val="DFD6C7"/>
            </a:solidFill>
            <a:prstDash val="solid"/>
          </a:ln>
        </p:spPr>
      </p:sp>
      <p:sp>
        <p:nvSpPr>
          <p:cNvPr id="15" name="Shape 13"/>
          <p:cNvSpPr/>
          <p:nvPr/>
        </p:nvSpPr>
        <p:spPr>
          <a:xfrm>
            <a:off x="6059424" y="1408176"/>
            <a:ext cx="64008" cy="128473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paper backup</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seed written on paper; fine for a copy, poor for daily use.</a:t>
            </a:r>
            <a:endParaRPr lang="en-US" sz="1300" dirty="0"/>
          </a:p>
        </p:txBody>
      </p:sp>
      <p:sp>
        <p:nvSpPr>
          <p:cNvPr id="17" name="Text 15"/>
          <p:cNvSpPr txBox="1"/>
          <p:nvPr/>
        </p:nvSpPr>
        <p:spPr>
          <a:xfrm>
            <a:off x="6224016"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recipe card kept in the kitchen drawer.</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55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payment file travels offline and back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partially signed payment goes to the cold node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c = R[</a:t>
            </a:r>
            <a:r>
              <a:rPr lang="en-US" sz="1000" dirty="0">
                <a:solidFill>
                  <a:srgbClr val="9ECBFF"/>
                </a:solidFill>
                <a:latin typeface="Courier New" pitchFamily="34" charset="0"/>
                <a:ea typeface="Courier New" pitchFamily="34" charset="-122"/>
                <a:cs typeface="Courier New" pitchFamily="34" charset="-120"/>
              </a:rPr>
              <a:t>'b3_hot'</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'b3_cold'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off = (c[</a:t>
            </a:r>
            <a:r>
              <a:rPr lang="en-US" sz="1000" dirty="0">
                <a:solidFill>
                  <a:srgbClr val="9ECBFF"/>
                </a:solidFill>
                <a:latin typeface="Courier New" pitchFamily="34" charset="0"/>
                <a:ea typeface="Courier New" pitchFamily="34" charset="-122"/>
                <a:cs typeface="Courier New" pitchFamily="34" charset="-120"/>
              </a:rPr>
              <a:t>'blocks'</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'connections'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signed = c[</a:t>
            </a:r>
            <a:r>
              <a:rPr lang="en-US" sz="1000" dirty="0">
                <a:solidFill>
                  <a:srgbClr val="9ECBFF"/>
                </a:solidFill>
                <a:latin typeface="Courier New" pitchFamily="34" charset="0"/>
                <a:ea typeface="Courier New" pitchFamily="34" charset="-122"/>
                <a:cs typeface="Courier New" pitchFamily="34" charset="-120"/>
              </a:rPr>
              <a:t>'sign_complete'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grown = (h[</a:t>
            </a:r>
            <a:r>
              <a:rPr lang="en-US" sz="1000" dirty="0">
                <a:solidFill>
                  <a:srgbClr val="9ECBFF"/>
                </a:solidFill>
                <a:latin typeface="Courier New" pitchFamily="34" charset="0"/>
                <a:ea typeface="Courier New" pitchFamily="34" charset="-122"/>
                <a:cs typeface="Courier New" pitchFamily="34" charset="-120"/>
              </a:rPr>
              <a:t>'psbt_chars'</a:t>
            </a:r>
            <a:r>
              <a:rPr lang="en-US" sz="1000" dirty="0">
                <a:solidFill>
                  <a:srgbClr val="E6EDF3"/>
                </a:solidFill>
                <a:latin typeface="Courier New" pitchFamily="34" charset="0"/>
                <a:ea typeface="Courier New" pitchFamily="34" charset="-122"/>
                <a:cs typeface="Courier New" pitchFamily="34" charset="-120"/>
              </a:rPr>
              <a:t>], c[</a:t>
            </a:r>
            <a:r>
              <a:rPr lang="en-US" sz="1000" dirty="0">
                <a:solidFill>
                  <a:srgbClr val="9ECBFF"/>
                </a:solidFill>
                <a:latin typeface="Courier New" pitchFamily="34" charset="0"/>
                <a:ea typeface="Courier New" pitchFamily="34" charset="-122"/>
                <a:cs typeface="Courier New" pitchFamily="34" charset="-120"/>
              </a:rPr>
              <a:t>'psbt_chars_signed'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R[</a:t>
            </a:r>
            <a:r>
              <a:rPr lang="en-US" sz="1000" dirty="0">
                <a:solidFill>
                  <a:srgbClr val="9ECBFF"/>
                </a:solidFill>
                <a:latin typeface="Courier New" pitchFamily="34" charset="0"/>
                <a:ea typeface="Courier New" pitchFamily="34" charset="-122"/>
                <a:cs typeface="Courier New" pitchFamily="34" charset="-120"/>
              </a:rPr>
              <a:t>'b3_broadcast'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fin = (b[</a:t>
            </a:r>
            <a:r>
              <a:rPr lang="en-US" sz="1000" dirty="0">
                <a:solidFill>
                  <a:srgbClr val="9ECBFF"/>
                </a:solidFill>
                <a:latin typeface="Courier New" pitchFamily="34" charset="0"/>
                <a:ea typeface="Courier New" pitchFamily="34" charset="-122"/>
                <a:cs typeface="Courier New" pitchFamily="34" charset="-120"/>
              </a:rPr>
              <a:t>'finalize_complete'</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'confirmations'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(signed, off, fin)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(0, 0), (True, 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cold node has no blocks and no network connection.</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It signs the file and returns a longer one.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online node finishes it and the payment confirms.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characters of the payment file, before and after signing</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cold node, with 0 blocks and 0 connections, signed it. The online node finished it: 1 confirmation, 1.0 coin received.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Only the file travels; the keys never touch the online machine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55</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Hot or cold?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the keys live on a machine that is never online</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hot wallet is online</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Handy for daily payments.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A thief of the machine can reach the keys.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the cash in your pocket.</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Cold storage is offline</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Only a signed file travels in.</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 keys never touch a connected machine.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safe kept at home.</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Hot is handy, cold is safe; many people keep both</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55</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PIN that makes the thief wait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waits of a hardware wallet double after each wrong try</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tries = </a:t>
            </a:r>
            <a:r>
              <a:rPr lang="en-US" sz="1000" dirty="0">
                <a:solidFill>
                  <a:srgbClr val="FFD28A"/>
                </a:solidFill>
                <a:latin typeface="Courier New" pitchFamily="34" charset="0"/>
                <a:ea typeface="Courier New" pitchFamily="34" charset="-122"/>
                <a:cs typeface="Courier New" pitchFamily="34" charset="-120"/>
              </a:rPr>
              <a:t>15</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wait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k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range(tries)]</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 sum(wait)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hours = round(total / </a:t>
            </a:r>
            <a:r>
              <a:rPr lang="en-US" sz="1000" dirty="0">
                <a:solidFill>
                  <a:srgbClr val="FFD28A"/>
                </a:solidFill>
                <a:latin typeface="Courier New" pitchFamily="34" charset="0"/>
                <a:ea typeface="Courier New" pitchFamily="34" charset="-122"/>
                <a:cs typeface="Courier New" pitchFamily="34" charset="-120"/>
              </a:rPr>
              <a:t>3600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991917"/>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a:t>
            </a:r>
            <a:r>
              <a:rPr lang="en-US" sz="1000" dirty="0">
                <a:solidFill>
                  <a:srgbClr val="9ECBFF"/>
                </a:solidFill>
                <a:latin typeface="Courier New" pitchFamily="34" charset="0"/>
                <a:ea typeface="Courier New" pitchFamily="34" charset="-122"/>
                <a:cs typeface="Courier New" pitchFamily="34" charset="-120"/>
              </a:rPr>
              <a:t>'bitcoinwiki_trezor.txt'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q = </a:t>
            </a:r>
            <a:r>
              <a:rPr lang="en-US" sz="1000" dirty="0">
                <a:solidFill>
                  <a:srgbClr val="9ECBFF"/>
                </a:solidFill>
                <a:latin typeface="Courier New" pitchFamily="34" charset="0"/>
                <a:ea typeface="Courier New" pitchFamily="34" charset="-122"/>
                <a:cs typeface="Courier New" pitchFamily="34" charset="-120"/>
              </a:rPr>
              <a:t>'wipe itself after 16 failed PIN entry attempts'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wipes = seen(t, q)</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hours)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(32767, 9.1)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each wrong PIN the wait doubles, starting from one second.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Fifteen waits add up to a number of seconds, and of hours.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saved wiki page says the device wipes itself after sixteen tries.</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seen() searches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seconds waited after each wrong PIN, tries 1 to 15</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waits add up to 32,767 seconds, 9.1 hours. The saved wiki page says the device wipes itself after 16 tries: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Waiting costs the thief hours long before the device wipes itself</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55</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little box that learned to wait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device that makes a thief wait</a:t>
            </a:r>
            <a:endParaRPr lang="en-US" sz="1300" dirty="0"/>
          </a:p>
        </p:txBody>
      </p:sp>
      <p:pic>
        <p:nvPicPr>
          <p:cNvPr id="6" name="Image 0" descr="../../03-materials/ch13/assets/trezor_model_t.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Trezor Model T - FlippyFlink, CC0 1.0,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SatoshiLabs announced the Trezor Safe 5 on 14 June 2024 at BTC Prague, with a colour touchscreen and an EAL 6+ secure element.</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thief with the device must guess the PIN, and every wrong try costs more waiting.</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waits double, 1, 2, 4 seconds and so on, and after 16 failed tries the device wipes itself.</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A signing box protects the key; you protect the intent by reading the address on its own screen.</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a Trezor Model T, not the Safe 5.</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SatoshiLabs, the company…</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BTC Prague, and the Bi…</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2024-06-14</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Wiki: Trezor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55</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Four words fall in seconds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long a phrase of words lasts against a fast rig</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words = </a:t>
            </a:r>
            <a:r>
              <a:rPr lang="en-US" sz="1000" dirty="0">
                <a:solidFill>
                  <a:srgbClr val="FFD28A"/>
                </a:solidFill>
                <a:latin typeface="Courier New" pitchFamily="34" charset="0"/>
                <a:ea typeface="Courier New" pitchFamily="34" charset="-122"/>
                <a:cs typeface="Courier New" pitchFamily="34" charset="-120"/>
              </a:rPr>
              <a:t>4</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choices = </a:t>
            </a:r>
            <a:r>
              <a:rPr lang="en-US" sz="1000" dirty="0">
                <a:solidFill>
                  <a:srgbClr val="FFD28A"/>
                </a:solidFill>
                <a:latin typeface="Courier New" pitchFamily="34" charset="0"/>
                <a:ea typeface="Courier New" pitchFamily="34" charset="-122"/>
                <a:cs typeface="Courier New" pitchFamily="34" charset="-120"/>
              </a:rPr>
              <a:t>2048</a:t>
            </a:r>
            <a:r>
              <a:rPr lang="en-US" sz="1000" dirty="0">
                <a:solidFill>
                  <a:srgbClr val="E6EDF3"/>
                </a:solidFill>
                <a:latin typeface="Courier New" pitchFamily="34" charset="0"/>
                <a:ea typeface="Courier New" pitchFamily="34" charset="-122"/>
                <a:cs typeface="Courier New" pitchFamily="34" charset="-120"/>
              </a:rPr>
              <a:t> ** words</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rate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12</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secs = round(choices / rate,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(choices, secs)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(17592186044416, 17.6)</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phrase of four words from a list of 2048: how many choices?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Assume a cracking rig that tries a trillion guesses a second.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Seconds needed to try every phrase of that length:</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time to try every phrase at 10^12 guesses a second</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17373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Words from 2048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Time to try all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under a millisecond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under a millisecond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 milliseconds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17.6 seconds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 hours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 years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Four words give 17,592,186,044,416 phrases and last 17.6 seconds. Six words last 2.3 years.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few random words are not a safe secret on their own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55</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locked wallet still shows the balance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passphrase locks the keys, not the view</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 = R[</a:t>
            </a:r>
            <a:r>
              <a:rPr lang="en-US" sz="1000" dirty="0">
                <a:solidFill>
                  <a:srgbClr val="9ECBFF"/>
                </a:solidFill>
                <a:latin typeface="Courier New" pitchFamily="34" charset="0"/>
                <a:ea typeface="Courier New" pitchFamily="34" charset="-122"/>
                <a:cs typeface="Courier New" pitchFamily="34" charset="-120"/>
              </a:rPr>
              <a:t>'b4_locked'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 = R[</a:t>
            </a:r>
            <a:r>
              <a:rPr lang="en-US" sz="1000" dirty="0">
                <a:solidFill>
                  <a:srgbClr val="9ECBFF"/>
                </a:solidFill>
                <a:latin typeface="Courier New" pitchFamily="34" charset="0"/>
                <a:ea typeface="Courier New" pitchFamily="34" charset="-122"/>
                <a:cs typeface="Courier New" pitchFamily="34" charset="-120"/>
              </a:rPr>
              <a:t>'b4_unlocked'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msg = l[</a:t>
            </a:r>
            <a:r>
              <a:rPr lang="en-US" sz="1000" dirty="0">
                <a:solidFill>
                  <a:srgbClr val="9ECBFF"/>
                </a:solidFill>
                <a:latin typeface="Courier New" pitchFamily="34" charset="0"/>
                <a:ea typeface="Courier New" pitchFamily="34" charset="-122"/>
                <a:cs typeface="Courier New" pitchFamily="34" charset="-120"/>
              </a:rPr>
              <a:t>'send'</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'error'</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'message: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msg = msg.removeprefix(</a:t>
            </a:r>
            <a:r>
              <a:rPr lang="en-US" sz="1000" dirty="0">
                <a:solidFill>
                  <a:srgbClr val="9ECBFF"/>
                </a:solidFill>
                <a:latin typeface="Courier New" pitchFamily="34" charset="0"/>
                <a:ea typeface="Courier New" pitchFamily="34" charset="-122"/>
                <a:cs typeface="Courier New" pitchFamily="34" charset="-120"/>
              </a:rPr>
              <a:t>'Error: '</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991917"/>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wrong = R[</a:t>
            </a:r>
            <a:r>
              <a:rPr lang="en-US" sz="1000" dirty="0">
                <a:solidFill>
                  <a:srgbClr val="9ECBFF"/>
                </a:solidFill>
                <a:latin typeface="Courier New" pitchFamily="34" charset="0"/>
                <a:ea typeface="Courier New" pitchFamily="34" charset="-122"/>
                <a:cs typeface="Courier New" pitchFamily="34" charset="-120"/>
              </a:rPr>
              <a:t>'b4_wrong'</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'error'</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'message: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wrong = wrong.removeprefix(</a:t>
            </a:r>
            <a:r>
              <a:rPr lang="en-US" sz="1000" dirty="0">
                <a:solidFill>
                  <a:srgbClr val="9ECBFF"/>
                </a:solidFill>
                <a:latin typeface="Courier New" pitchFamily="34" charset="0"/>
                <a:ea typeface="Courier New" pitchFamily="34" charset="-122"/>
                <a:cs typeface="Courier New" pitchFamily="34" charset="-120"/>
              </a:rPr>
              <a:t>'Error: '</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left = u[</a:t>
            </a:r>
            <a:r>
              <a:rPr lang="en-US" sz="1000" dirty="0">
                <a:solidFill>
                  <a:srgbClr val="9ECBFF"/>
                </a:solidFill>
                <a:latin typeface="Courier New" pitchFamily="34" charset="0"/>
                <a:ea typeface="Courier New" pitchFamily="34" charset="-122"/>
                <a:cs typeface="Courier New" pitchFamily="34" charset="-120"/>
              </a:rPr>
              <a:t>'unlocked_until'</a:t>
            </a:r>
            <a:r>
              <a:rPr lang="en-US" sz="1000" dirty="0">
                <a:solidFill>
                  <a:srgbClr val="E6EDF3"/>
                </a:solidFill>
                <a:latin typeface="Courier New" pitchFamily="34" charset="0"/>
                <a:ea typeface="Courier New" pitchFamily="34" charset="-122"/>
                <a:cs typeface="Courier New" pitchFamily="34" charset="-120"/>
              </a:rPr>
              <a:t>] - u[</a:t>
            </a:r>
            <a:r>
              <a:rPr lang="en-US" sz="1000" dirty="0">
                <a:solidFill>
                  <a:srgbClr val="9ECBFF"/>
                </a:solidFill>
                <a:latin typeface="Courier New" pitchFamily="34" charset="0"/>
                <a:ea typeface="Courier New" pitchFamily="34" charset="-122"/>
                <a:cs typeface="Courier New" pitchFamily="34" charset="-120"/>
              </a:rPr>
              <a:t>'now'</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t>
            </a:r>
            <a:r>
              <a:rPr lang="en-US" sz="1000" dirty="0">
                <a:solidFill>
                  <a:srgbClr val="9ECBFF"/>
                </a:solidFill>
                <a:latin typeface="Courier New" pitchFamily="34" charset="0"/>
                <a:ea typeface="Courier New" pitchFamily="34" charset="-122"/>
                <a:cs typeface="Courier New" pitchFamily="34" charset="-120"/>
              </a:rPr>
              <a:t>'balance_visible'</a:t>
            </a:r>
            <a:r>
              <a:rPr lang="en-US" sz="1000" dirty="0">
                <a:solidFill>
                  <a:srgbClr val="E6EDF3"/>
                </a:solidFill>
                <a:latin typeface="Courier New" pitchFamily="34" charset="0"/>
                <a:ea typeface="Courier New" pitchFamily="34" charset="-122"/>
                <a:cs typeface="Courier New" pitchFamily="34" charset="-120"/>
              </a:rPr>
              <a:t>], msg[:</a:t>
            </a:r>
            <a:r>
              <a:rPr lang="en-US" sz="1000" dirty="0">
                <a:solidFill>
                  <a:srgbClr val="FFD28A"/>
                </a:solidFill>
                <a:latin typeface="Courier New" pitchFamily="34" charset="0"/>
                <a:ea typeface="Courier New" pitchFamily="34" charset="-122"/>
                <a:cs typeface="Courier New" pitchFamily="34" charset="-120"/>
              </a:rPr>
              <a:t>23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(1.0, 'Please enter the wallet')</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wallet, locked and then unlocked.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Sending is refused with a plain message that names the cure.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wrong passphrase gives another refusal; unlocking lasts a few seconds.</a:t>
            </a:r>
            <a:endParaRPr lang="en-US" sz="1050" dirty="0"/>
          </a:p>
        </p:txBody>
      </p:sp>
      <p:sp>
        <p:nvSpPr>
          <p:cNvPr id="21" name="Text 19"/>
          <p:cNvSpPr txBox="1"/>
          <p:nvPr/>
        </p:nvSpPr>
        <p:spPr>
          <a:xfrm>
            <a:off x="457200" y="433882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encrypted wallet</a:t>
            </a:r>
            <a:endParaRPr lang="en-US" sz="1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783080"/>
                <a:gridCol w="11887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Action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Answer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Balance shown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Send while locked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Send, wrong passphrase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Open for (seconds)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Locked again after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Sending is refused with: "Please enter the wallet". The wrong passphrase gives: "The wallet passphrase entered was incorrect."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balance stays visible; spending needs the passphrase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55</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Stretching the passphrase buys days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Core repeats a hash thousands of times per guess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a:t>
            </a:r>
            <a:r>
              <a:rPr lang="en-US" sz="1000" dirty="0">
                <a:solidFill>
                  <a:srgbClr val="9ECBFF"/>
                </a:solidFill>
                <a:latin typeface="Courier New" pitchFamily="34" charset="0"/>
                <a:ea typeface="Courier New" pitchFamily="34" charset="-122"/>
                <a:cs typeface="Courier New" pitchFamily="34" charset="-120"/>
              </a:rPr>
              <a:t>'core_src_wallet_crypter.h'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rounds = int(L.const(c, </a:t>
            </a:r>
            <a:r>
              <a:rPr lang="en-US" sz="1000" dirty="0">
                <a:solidFill>
                  <a:srgbClr val="9ECBFF"/>
                </a:solidFill>
                <a:latin typeface="Courier New" pitchFamily="34" charset="0"/>
                <a:ea typeface="Courier New" pitchFamily="34" charset="-122"/>
                <a:cs typeface="Courier New" pitchFamily="34" charset="-120"/>
              </a:rPr>
              <a:t>'DEFAULT_DERIVE_ITERATIONS'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per_guess = rounds / </a:t>
            </a:r>
            <a:r>
              <a:rPr lang="en-US" sz="1000" dirty="0">
                <a:solidFill>
                  <a:srgbClr val="FFD28A"/>
                </a:solidFill>
                <a:latin typeface="Courier New" pitchFamily="34" charset="0"/>
                <a:ea typeface="Courier New" pitchFamily="34" charset="-122"/>
                <a:cs typeface="Courier New" pitchFamily="34" charset="-120"/>
              </a:rPr>
              <a:t>250000</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days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30</a:t>
            </a:r>
            <a:r>
              <a:rPr lang="en-US" sz="1000" dirty="0">
                <a:solidFill>
                  <a:srgbClr val="E6EDF3"/>
                </a:solidFill>
                <a:latin typeface="Courier New" pitchFamily="34" charset="0"/>
                <a:ea typeface="Courier New" pitchFamily="34" charset="-122"/>
                <a:cs typeface="Courier New" pitchFamily="34" charset="-120"/>
              </a:rPr>
              <a:t> * per_guess / </a:t>
            </a:r>
            <a:r>
              <a:rPr lang="en-US" sz="1000" dirty="0">
                <a:solidFill>
                  <a:srgbClr val="FFD28A"/>
                </a:solidFill>
                <a:latin typeface="Courier New" pitchFamily="34" charset="0"/>
                <a:ea typeface="Courier New" pitchFamily="34" charset="-122"/>
                <a:cs typeface="Courier New" pitchFamily="34" charset="-120"/>
              </a:rPr>
              <a:t>86400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(rounds, round(days,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(25000, 1242.8)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Bitcoin Core stretches the passphrase; its source names the rounds.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Assume a guessing rig that runs 250,000 rounds a second.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passphrase worth thirty bits then takes days to exhaust.</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L.const reads a constant from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cost of guessing a passphrase</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920240"/>
                <a:gridCol w="10515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Rounds per guess (source)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Seconds per guess (assumed rig)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Days for 2^30 guesses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1242.8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guess costs 0.1 seconds on the assumed rig, so thirty bits of passphrase hold out for 1242.8 days.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More rounds per guess mean more days for an attacker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55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Keeping access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Access survives loss through a backup, like a spare key in a drawer.</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Seed words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Twelve words and a checksum stand for all the keys of a wallet.</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recipe card from which the same dish is cooked again.</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Wallet backups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backup restores only what it knew when it was made.</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spare key cut before the locksmith adds new locks.</a:t>
            </a:r>
            <a:endParaRPr lang="en-US" sz="11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55</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Keeping access: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Ensuring Your Access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Planning so that you can still reach your coins after a loss.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keeping a copy of your house key with a neighbour.</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backing up</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Saving what a wallet needs, and doing it again after changes.</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photocopying a document after each new page.</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recovery codes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short secret that rebuilds the keys, such as the seed words.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reset code printed in a new phone's box.</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seed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number from which every key of a wallet is derived.</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single seed that grows into a whole orchard.</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55</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stale backup misses the newest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restores of the same recorded wallet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R[</a:t>
            </a:r>
            <a:r>
              <a:rPr lang="en-US" sz="1000" dirty="0">
                <a:solidFill>
                  <a:srgbClr val="9ECBFF"/>
                </a:solidFill>
                <a:latin typeface="Courier New" pitchFamily="34" charset="0"/>
                <a:ea typeface="Courier New" pitchFamily="34" charset="-122"/>
                <a:cs typeface="Courier New" pitchFamily="34" charset="-120"/>
              </a:rPr>
              <a:t>'b5_backup'</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fresh = (b[</a:t>
            </a:r>
            <a:r>
              <a:rPr lang="en-US" sz="1000" dirty="0">
                <a:solidFill>
                  <a:srgbClr val="9ECBFF"/>
                </a:solidFill>
                <a:latin typeface="Courier New" pitchFamily="34" charset="0"/>
                <a:ea typeface="Courier New" pitchFamily="34" charset="-122"/>
                <a:cs typeface="Courier New" pitchFamily="34" charset="-120"/>
              </a:rPr>
              <a:t>'balance_src'</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'balance_fresh'</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 = b[</a:t>
            </a:r>
            <a:r>
              <a:rPr lang="en-US" sz="1000" dirty="0">
                <a:solidFill>
                  <a:srgbClr val="9ECBFF"/>
                </a:solidFill>
                <a:latin typeface="Courier New" pitchFamily="34" charset="0"/>
                <a:ea typeface="Courier New" pitchFamily="34" charset="-122"/>
                <a:cs typeface="Courier New" pitchFamily="34" charset="-120"/>
              </a:rPr>
              <a:t>'balance_stale'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stale = (st, b[</a:t>
            </a:r>
            <a:r>
              <a:rPr lang="en-US" sz="1000" dirty="0">
                <a:solidFill>
                  <a:srgbClr val="9ECBFF"/>
                </a:solidFill>
                <a:latin typeface="Courier New" pitchFamily="34" charset="0"/>
                <a:ea typeface="Courier New" pitchFamily="34" charset="-122"/>
                <a:cs typeface="Courier New" pitchFamily="34" charset="-120"/>
              </a:rPr>
              <a:t>'far_address_ismine_stale'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far = b[</a:t>
            </a:r>
            <a:r>
              <a:rPr lang="en-US" sz="1000" dirty="0">
                <a:solidFill>
                  <a:srgbClr val="9ECBFF"/>
                </a:solidFill>
                <a:latin typeface="Courier New" pitchFamily="34" charset="0"/>
                <a:ea typeface="Courier New" pitchFamily="34" charset="-122"/>
                <a:cs typeface="Courier New" pitchFamily="34" charset="-120"/>
              </a:rPr>
              <a:t>'far_index'</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known = b[</a:t>
            </a:r>
            <a:r>
              <a:rPr lang="en-US" sz="1000" dirty="0">
                <a:solidFill>
                  <a:srgbClr val="9ECBFF"/>
                </a:solidFill>
                <a:latin typeface="Courier New" pitchFamily="34" charset="0"/>
                <a:ea typeface="Courier New" pitchFamily="34" charset="-122"/>
                <a:cs typeface="Courier New" pitchFamily="34" charset="-120"/>
              </a:rPr>
              <a:t>'far_address_ismine_fresh'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(fresh, stale)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((3.0, 3.0), (1.0,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wallet held coins; one backup is late, one early.</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early copy knows fewer addresses, so it misses coins.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late copy also knows an address far ahead in the pool.</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coins found by the wallet and by two restores</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early copy finds 1.0 of 3.0 coins. Address 9, far ahead in the pool, is known to the late copy (yes) and not to the early one.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backup restores only what it knew when it was made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55</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backup range covers only the pool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same idea with whole numbers you can change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pool = </a:t>
            </a:r>
            <a:r>
              <a:rPr lang="en-US" sz="1000" dirty="0">
                <a:solidFill>
                  <a:srgbClr val="FFD28A"/>
                </a:solidFill>
                <a:latin typeface="Courier New" pitchFamily="34" charset="0"/>
                <a:ea typeface="Courier New" pitchFamily="34" charset="-122"/>
                <a:cs typeface="Courier New" pitchFamily="34" charset="-120"/>
              </a:rPr>
              <a:t>3</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paid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found = sum(c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paid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i &lt; pool)</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 sum(c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paid)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(found, total)</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(1, 3)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backup knows the first three addresses of the key pool.</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payments arrived: one coin at address 1, two at address 9.</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Only payments to known addresses are found after a restore.</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coins found against coins paid</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1 of 3 coins sit at addresses the backup knows. The other coins are on the chain but invisible to the restored wallet.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Coins sent beyond the known addresses are not found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55</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Twelve words, 128 bits and a checksum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arithmetic of BIP 39</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ent = </a:t>
            </a:r>
            <a:r>
              <a:rPr lang="en-US" sz="1000" dirty="0">
                <a:solidFill>
                  <a:srgbClr val="FFD28A"/>
                </a:solidFill>
                <a:latin typeface="Courier New" pitchFamily="34" charset="0"/>
                <a:ea typeface="Courier New" pitchFamily="34" charset="-122"/>
                <a:cs typeface="Courier New" pitchFamily="34" charset="-120"/>
              </a:rPr>
              <a:t>16</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 ent * </a:t>
            </a:r>
            <a:r>
              <a:rPr lang="en-US" sz="1000" dirty="0">
                <a:solidFill>
                  <a:srgbClr val="FFD28A"/>
                </a:solidFill>
                <a:latin typeface="Courier New" pitchFamily="34" charset="0"/>
                <a:ea typeface="Courier New" pitchFamily="34" charset="-122"/>
                <a:cs typeface="Courier New" pitchFamily="34" charset="-120"/>
              </a:rPr>
              <a:t>8</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cs = bits // </a:t>
            </a:r>
            <a:r>
              <a:rPr lang="en-US" sz="1000" dirty="0">
                <a:solidFill>
                  <a:srgbClr val="FFD28A"/>
                </a:solidFill>
                <a:latin typeface="Courier New" pitchFamily="34" charset="0"/>
                <a:ea typeface="Courier New" pitchFamily="34" charset="-122"/>
                <a:cs typeface="Courier New" pitchFamily="34" charset="-120"/>
              </a:rPr>
              <a:t>32</a:t>
            </a:r>
            <a:endParaRPr lang="en-US" sz="1000" dirty="0"/>
          </a:p>
        </p:txBody>
      </p:sp>
      <p:sp>
        <p:nvSpPr>
          <p:cNvPr id="8" name="Shape 6"/>
          <p:cNvSpPr/>
          <p:nvPr/>
        </p:nvSpPr>
        <p:spPr>
          <a:xfrm>
            <a:off x="457200" y="2287829"/>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981"/>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words = (bits + cs) // </a:t>
            </a:r>
            <a:r>
              <a:rPr lang="en-US" sz="1000" dirty="0">
                <a:solidFill>
                  <a:srgbClr val="FFD28A"/>
                </a:solidFill>
                <a:latin typeface="Courier New" pitchFamily="34" charset="0"/>
                <a:ea typeface="Courier New" pitchFamily="34" charset="-122"/>
                <a:cs typeface="Courier New" pitchFamily="34" charset="-120"/>
              </a:rPr>
              <a:t>11</a:t>
            </a:r>
            <a:endParaRPr lang="en-US" sz="1000" dirty="0"/>
          </a:p>
        </p:txBody>
      </p:sp>
      <p:sp>
        <p:nvSpPr>
          <p:cNvPr id="10" name="Shape 8"/>
          <p:cNvSpPr/>
          <p:nvPr/>
        </p:nvSpPr>
        <p:spPr>
          <a:xfrm>
            <a:off x="457200" y="308427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742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luck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cs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cs, words, luck)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(128, 4, 12, 0.0625)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Sixteen bytes of entropy are 128 bits; one bit in 32 is a checksum.</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707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Entropy and checksum are cut into groups of eleven bits: one word each.</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wrong word set passes the checksum one time in sixteen.</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how the words are made</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Entropy,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Checksum,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Bits in all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132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Words of 11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Chance a wrong set passes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in 16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12 words carry 128 bits and a 4-bit check; one wrong word set in 16 would pass by luck.</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wrong word set passes the checksum only one time in sixteen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55</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Seed words are stretched into a seed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test vector of BIP 39</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mn = </a:t>
            </a:r>
            <a:r>
              <a:rPr lang="en-US" sz="1000" dirty="0">
                <a:solidFill>
                  <a:srgbClr val="9ECBFF"/>
                </a:solidFill>
                <a:latin typeface="Courier New" pitchFamily="34" charset="0"/>
                <a:ea typeface="Courier New" pitchFamily="34" charset="-122"/>
                <a:cs typeface="Courier New" pitchFamily="34" charset="-120"/>
              </a:rPr>
              <a:t>' '</a:t>
            </a:r>
            <a:r>
              <a:rPr lang="en-US" sz="1000" dirty="0">
                <a:solidFill>
                  <a:srgbClr val="E6EDF3"/>
                </a:solidFill>
                <a:latin typeface="Courier New" pitchFamily="34" charset="0"/>
                <a:ea typeface="Courier New" pitchFamily="34" charset="-122"/>
                <a:cs typeface="Courier New" pitchFamily="34" charset="-120"/>
              </a:rPr>
              <a:t>.join([</a:t>
            </a:r>
            <a:r>
              <a:rPr lang="en-US" sz="1000" dirty="0">
                <a:solidFill>
                  <a:srgbClr val="9ECBFF"/>
                </a:solidFill>
                <a:latin typeface="Courier New" pitchFamily="34" charset="0"/>
                <a:ea typeface="Courier New" pitchFamily="34" charset="-122"/>
                <a:cs typeface="Courier New" pitchFamily="34" charset="-120"/>
              </a:rPr>
              <a:t>'abandon'</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9ECBFF"/>
                </a:solidFill>
                <a:latin typeface="Courier New" pitchFamily="34" charset="0"/>
                <a:ea typeface="Courier New" pitchFamily="34" charset="-122"/>
                <a:cs typeface="Courier New" pitchFamily="34" charset="-120"/>
              </a:rPr>
              <a:t>'about'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seed = L.bip39_seed(mn, </a:t>
            </a:r>
            <a:r>
              <a:rPr lang="en-US" sz="1000" dirty="0">
                <a:solidFill>
                  <a:srgbClr val="9ECBFF"/>
                </a:solidFill>
                <a:latin typeface="Courier New" pitchFamily="34" charset="0"/>
                <a:ea typeface="Courier New" pitchFamily="34" charset="-122"/>
                <a:cs typeface="Courier New" pitchFamily="34" charset="-120"/>
              </a:rPr>
              <a:t>'TREZOR'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seed.hex().startswith(</a:t>
            </a:r>
            <a:r>
              <a:rPr lang="en-US" sz="1000" dirty="0">
                <a:solidFill>
                  <a:srgbClr val="9ECBFF"/>
                </a:solidFill>
                <a:latin typeface="Courier New" pitchFamily="34" charset="0"/>
                <a:ea typeface="Courier New" pitchFamily="34" charset="-122"/>
                <a:cs typeface="Courier New" pitchFamily="34" charset="-120"/>
              </a:rPr>
              <a:t>'c55257c360c07c72'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other = L.bip39_seed(mn).hex()[:</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len(seed), other)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64, '5eb00bbddcf06908')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twelve words of the first official test vector of BIP 39.</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Stretching the words with a passphrase gives a 64-byte seed.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words with no passphrase give another seed.</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seed from the words</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Seed length,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Starts with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c55257c360c07c72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Matches official vector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 passphrase starts with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5eb00bbddcf06908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Same words, other passphrase, other seed: the passphrase is part of the secret.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same words with another passphrase give another wallet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55</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master key grows from the seed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test vector of BIP 32</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sd = bytes.fromhex(</a:t>
            </a:r>
            <a:r>
              <a:rPr lang="en-US" sz="1000" dirty="0">
                <a:solidFill>
                  <a:srgbClr val="9ECBFF"/>
                </a:solidFill>
                <a:latin typeface="Courier New" pitchFamily="34" charset="0"/>
                <a:ea typeface="Courier New" pitchFamily="34" charset="-122"/>
                <a:cs typeface="Courier New" pitchFamily="34" charset="-120"/>
              </a:rPr>
              <a:t>'000102030405060708090a0b0c0d0e0f'</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x, k, c = L.bip32_master(sd)</a:t>
            </a:r>
            <a:endParaRPr lang="en-US" sz="1000" dirty="0"/>
          </a:p>
        </p:txBody>
      </p:sp>
      <p:sp>
        <p:nvSpPr>
          <p:cNvPr id="10" name="Shape 8"/>
          <p:cNvSpPr/>
          <p:nvPr/>
        </p:nvSpPr>
        <p:spPr>
          <a:xfrm>
            <a:off x="457200" y="258958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66273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x.startswith(</a:t>
            </a:r>
            <a:r>
              <a:rPr lang="en-US" sz="1000" dirty="0">
                <a:solidFill>
                  <a:srgbClr val="9ECBFF"/>
                </a:solidFill>
                <a:latin typeface="Courier New" pitchFamily="34" charset="0"/>
                <a:ea typeface="Courier New" pitchFamily="34" charset="-122"/>
                <a:cs typeface="Courier New" pitchFamily="34" charset="-120"/>
              </a:rPr>
              <a:t>'xprv9s21ZrQH143K3QTDL4LXw2F7HEK3'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k[:</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len(c)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'e8f32e72', 32)</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first official test seed of BIP 32 is sixteen bytes.</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keyed hash splits it into a master key and a chain code.</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9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extended key matches the published test vector.</a:t>
            </a:r>
            <a:endParaRPr lang="en-US" sz="1050" dirty="0"/>
          </a:p>
        </p:txBody>
      </p:sp>
      <p:sp>
        <p:nvSpPr>
          <p:cNvPr id="21" name="Text 19"/>
          <p:cNvSpPr txBox="1"/>
          <p:nvPr/>
        </p:nvSpPr>
        <p:spPr>
          <a:xfrm>
            <a:off x="457200" y="351495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master key of the seed</a:t>
            </a:r>
            <a:endParaRPr lang="en-US" sz="1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Master key starts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e8f32e72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Chain code,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Extended key starts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xprv9s21ZrQH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Matches test vector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Key and chain code together are the root from which every key of the wallet is derived.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key of the wallet descends from these two values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55</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Sharing control</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Control is shared among keys or pieces, like a vault that needs two keyholders.</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Several keys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Two of three keys must sign, so one lost or stolen key is not fatal.</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deposit box that needs two keyholders.</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Shared secret</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secret is cut into shares; enough of them rebuild it, fewer reveal nothing.</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map torn in three: two pieces show the spot.</a:t>
            </a:r>
            <a:endParaRPr lang="en-US" sz="11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55</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Sharing control: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Diversifying Risk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Not putting all trust in one key, one place or one person.</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not keeping all your eggs in one basket.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risk diversification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Spreading loss and theft over several keys so that no single failure is fatal.</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splitting savings across several banks.</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Multisig and Governance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Several keyholders, such as partners, agree before coins move.</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board of directors that must vote before a payment.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multisignature addresses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Addresses that need m signatures out of n keys.</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deposit box that needs two of three keyholders.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55</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of three keys sign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signing with one, two and three keys</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R[</a:t>
            </a:r>
            <a:r>
              <a:rPr lang="en-US" sz="1000" dirty="0">
                <a:solidFill>
                  <a:srgbClr val="9ECBFF"/>
                </a:solidFill>
                <a:latin typeface="Courier New" pitchFamily="34" charset="0"/>
                <a:ea typeface="Courier New" pitchFamily="34" charset="-122"/>
                <a:cs typeface="Courier New" pitchFamily="34" charset="-120"/>
              </a:rPr>
              <a:t>'b6_sign'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m1, m3 = s[</a:t>
            </a:r>
            <a:r>
              <a:rPr lang="en-US" sz="1000" dirty="0">
                <a:solidFill>
                  <a:srgbClr val="9ECBFF"/>
                </a:solidFill>
                <a:latin typeface="Courier New" pitchFamily="34" charset="0"/>
                <a:ea typeface="Courier New" pitchFamily="34" charset="-122"/>
                <a:cs typeface="Courier New" pitchFamily="34" charset="-120"/>
              </a:rPr>
              <a:t>'m1_alone'</a:t>
            </a:r>
            <a:r>
              <a:rPr lang="en-US" sz="1000" dirty="0">
                <a:solidFill>
                  <a:srgbClr val="E6EDF3"/>
                </a:solidFill>
                <a:latin typeface="Courier New" pitchFamily="34" charset="0"/>
                <a:ea typeface="Courier New" pitchFamily="34" charset="-122"/>
                <a:cs typeface="Courier New" pitchFamily="34" charset="-120"/>
              </a:rPr>
              <a:t>], s[</a:t>
            </a:r>
            <a:r>
              <a:rPr lang="en-US" sz="1000" dirty="0">
                <a:solidFill>
                  <a:srgbClr val="9ECBFF"/>
                </a:solidFill>
                <a:latin typeface="Courier New" pitchFamily="34" charset="0"/>
                <a:ea typeface="Courier New" pitchFamily="34" charset="-122"/>
                <a:cs typeface="Courier New" pitchFamily="34" charset="-120"/>
              </a:rPr>
              <a:t>'m1_m3'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pair = m1[</a:t>
            </a:r>
            <a:r>
              <a:rPr lang="en-US" sz="1000" dirty="0">
                <a:solidFill>
                  <a:srgbClr val="9ECBFF"/>
                </a:solidFill>
                <a:latin typeface="Courier New" pitchFamily="34" charset="0"/>
                <a:ea typeface="Courier New" pitchFamily="34" charset="-122"/>
                <a:cs typeface="Courier New" pitchFamily="34" charset="-120"/>
              </a:rPr>
              <a:t>'complete'</a:t>
            </a:r>
            <a:r>
              <a:rPr lang="en-US" sz="1000" dirty="0">
                <a:solidFill>
                  <a:srgbClr val="E6EDF3"/>
                </a:solidFill>
                <a:latin typeface="Courier New" pitchFamily="34" charset="0"/>
                <a:ea typeface="Courier New" pitchFamily="34" charset="-122"/>
                <a:cs typeface="Courier New" pitchFamily="34" charset="-120"/>
              </a:rPr>
              <a:t>], m3[</a:t>
            </a:r>
            <a:r>
              <a:rPr lang="en-US" sz="1000" dirty="0">
                <a:solidFill>
                  <a:srgbClr val="9ECBFF"/>
                </a:solidFill>
                <a:latin typeface="Courier New" pitchFamily="34" charset="0"/>
                <a:ea typeface="Courier New" pitchFamily="34" charset="-122"/>
                <a:cs typeface="Courier New" pitchFamily="34" charset="-120"/>
              </a:rPr>
              <a:t>'complete'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7829"/>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981"/>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 = R[</a:t>
            </a:r>
            <a:r>
              <a:rPr lang="en-US" sz="1000" dirty="0">
                <a:solidFill>
                  <a:srgbClr val="9ECBFF"/>
                </a:solidFill>
                <a:latin typeface="Courier New" pitchFamily="34" charset="0"/>
                <a:ea typeface="Courier New" pitchFamily="34" charset="-122"/>
                <a:cs typeface="Courier New" pitchFamily="34" charset="-120"/>
              </a:rPr>
              <a:t>'b6_loss'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lost = [l[k]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sorted(l)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k.startswith(</a:t>
            </a:r>
            <a:r>
              <a:rPr lang="en-US" sz="1000" dirty="0">
                <a:solidFill>
                  <a:srgbClr val="9ECBFF"/>
                </a:solidFill>
                <a:latin typeface="Courier New" pitchFamily="34" charset="0"/>
                <a:ea typeface="Courier New" pitchFamily="34" charset="-122"/>
                <a:cs typeface="Courier New" pitchFamily="34" charset="-120"/>
              </a:rPr>
              <a:t>'lose'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pair, lost)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True, [True, False])</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key signs the recorded payment, then a second key joins.</a:t>
            </a:r>
            <a:endParaRPr lang="en-US" sz="1050" dirty="0"/>
          </a:p>
        </p:txBody>
      </p:sp>
      <p:sp>
        <p:nvSpPr>
          <p:cNvPr id="13" name="Shape 11"/>
          <p:cNvSpPr/>
          <p:nvPr/>
        </p:nvSpPr>
        <p:spPr>
          <a:xfrm>
            <a:off x="365760" y="2214677"/>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176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Lose one key: the other two still sign. Lose two: they do not.</a:t>
            </a:r>
            <a:endParaRPr lang="en-US" sz="1050" dirty="0"/>
          </a:p>
        </p:txBody>
      </p:sp>
      <p:sp>
        <p:nvSpPr>
          <p:cNvPr id="16" name="Text 14"/>
          <p:cNvSpPr txBox="1"/>
          <p:nvPr/>
        </p:nvSpPr>
        <p:spPr>
          <a:xfrm>
            <a:off x="457200" y="337779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who can finish the payment</a:t>
            </a:r>
            <a:endParaRPr lang="en-US" sz="11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Signers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Payment complete?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key alone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Two keys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Lose one: other two sign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Lose two: third signs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Two of three keys are enough, and one lost key is no disaster. The node accepted the signed payment: yes.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key alone cannot sign; any two of the three can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55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More keys: fewer losses, more thefts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Chances of being stuck or robbed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schemes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lose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m, n: round(L.p_lose(</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m, n),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stuck = [lose(m, n)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m,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schemes]</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rob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m, n: round(L.p_theft(</a:t>
            </a:r>
            <a:r>
              <a:rPr lang="en-US" sz="1000" dirty="0">
                <a:solidFill>
                  <a:srgbClr val="FFD28A"/>
                </a:solidFill>
                <a:latin typeface="Courier New" pitchFamily="34" charset="0"/>
                <a:ea typeface="Courier New" pitchFamily="34" charset="-122"/>
                <a:cs typeface="Courier New" pitchFamily="34" charset="-120"/>
              </a:rPr>
              <a:t>0.05</a:t>
            </a:r>
            <a:r>
              <a:rPr lang="en-US" sz="1000" dirty="0">
                <a:solidFill>
                  <a:srgbClr val="E6EDF3"/>
                </a:solidFill>
                <a:latin typeface="Courier New" pitchFamily="34" charset="0"/>
                <a:ea typeface="Courier New" pitchFamily="34" charset="-122"/>
                <a:cs typeface="Courier New" pitchFamily="34" charset="-120"/>
              </a:rPr>
              <a:t>, m, n),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robbed = [rob(m, n)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m,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schemes]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(stuck, robbed)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([0.1, 0.028, 0.001], [0.05, 0.00725, 0.14263])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schemes: one key, two of three, one of three.</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key is lost with chance 0.1; the funds are stuck if too few remain.</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key is stolen with chance 0.05; a thief needs m of them.</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chance of loss and of theft, per scheme</a:t>
            </a:r>
            <a:endParaRPr lang="en-US" sz="11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868680"/>
                <a:gridCol w="8686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Scheme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Stuck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Robbed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key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Two of three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2.8 %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0.73 %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of three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14.26 %</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Two of three cuts both risks against one key. One of three is stuck rarely but robbed 14.26 % of the time.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of three cuts both risks; one of three trades loss for theft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55</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two-of-three payment is larger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Virtual bytes of one spend</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single = R[</a:t>
            </a:r>
            <a:r>
              <a:rPr lang="en-US" sz="1000" dirty="0">
                <a:solidFill>
                  <a:srgbClr val="9ECBFF"/>
                </a:solidFill>
                <a:latin typeface="Courier New" pitchFamily="34" charset="0"/>
                <a:ea typeface="Courier New" pitchFamily="34" charset="-122"/>
                <a:cs typeface="Courier New" pitchFamily="34" charset="-120"/>
              </a:rPr>
              <a:t>'b6_single_vsize'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vsize = R[</a:t>
            </a:r>
            <a:r>
              <a:rPr lang="en-US" sz="1000" dirty="0">
                <a:solidFill>
                  <a:srgbClr val="9ECBFF"/>
                </a:solidFill>
                <a:latin typeface="Courier New" pitchFamily="34" charset="0"/>
                <a:ea typeface="Courier New" pitchFamily="34" charset="-122"/>
                <a:cs typeface="Courier New" pitchFamily="34" charset="-120"/>
              </a:rPr>
              <a:t>'b6_sign'</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'vsize'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 n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calc = (</a:t>
            </a:r>
            <a:r>
              <a:rPr lang="en-US" sz="1000" dirty="0">
                <a:solidFill>
                  <a:srgbClr val="FFD28A"/>
                </a:solidFill>
                <a:latin typeface="Courier New" pitchFamily="34" charset="0"/>
                <a:ea typeface="Courier New" pitchFamily="34" charset="-122"/>
                <a:cs typeface="Courier New" pitchFamily="34" charset="-120"/>
              </a:rPr>
              <a:t>82</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m * </a:t>
            </a:r>
            <a:r>
              <a:rPr lang="en-US" sz="1000" dirty="0">
                <a:solidFill>
                  <a:srgbClr val="FFD28A"/>
                </a:solidFill>
                <a:latin typeface="Courier New" pitchFamily="34" charset="0"/>
                <a:ea typeface="Courier New" pitchFamily="34" charset="-122"/>
                <a:cs typeface="Courier New" pitchFamily="34" charset="-120"/>
              </a:rPr>
              <a:t>73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34</a:t>
            </a:r>
            <a:r>
              <a:rPr lang="en-US" sz="1000" dirty="0">
                <a:solidFill>
                  <a:srgbClr val="E6EDF3"/>
                </a:solidFill>
                <a:latin typeface="Courier New" pitchFamily="34" charset="0"/>
                <a:ea typeface="Courier New" pitchFamily="34" charset="-122"/>
                <a:cs typeface="Courier New" pitchFamily="34" charset="-120"/>
              </a:rPr>
              <a:t> * n +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(vsize, single, calc)</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(146, 110, 146)</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sizes in virtual bytes of a one-key and a two-of-three spend.</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signatures out of three keys: m = 2 and n = 3.</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Counting the script parts by hand gives the same number.</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virtual bytes of one spend</a:t>
            </a:r>
            <a:endParaRPr lang="en-US" sz="1100" dirty="0"/>
          </a:p>
        </p:txBody>
      </p:sp>
      <p:graphicFrame>
        <p:nvGraphicFramePr>
          <p:cNvPr id="23" name="Chart 0" descr=""/>
          <p:cNvGraphicFramePr/>
          <p:nvPr/>
        </p:nvGraphicFramePr>
        <p:xfrm>
          <a:off x="5715000" y="159105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Counting the script parts by hand gives 146, the same as the node recorded. More signatures mean a higher fee.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More signatures mean more bytes, and so a higher fee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55</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Shamir by hand: shares on a line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line, three points, a secret at zero</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s, a = </a:t>
            </a:r>
            <a:r>
              <a:rPr lang="en-US" sz="1000" dirty="0">
                <a:solidFill>
                  <a:srgbClr val="FFD28A"/>
                </a:solidFill>
                <a:latin typeface="Courier New" pitchFamily="34" charset="0"/>
                <a:ea typeface="Courier New" pitchFamily="34" charset="-122"/>
                <a:cs typeface="Courier New" pitchFamily="34" charset="-120"/>
              </a:rPr>
              <a:t>47</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30</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y = [(s + a * x) % 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66273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back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y[</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y[</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(y, back)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([42, 25, 8], 12)</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Work modulo 47 with secret 12 and slope 30: the line is 12 + 30x.</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shares are the line's heights at x = 1, 2 and 3.</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9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shares rebuild the line, and its height at zero is the secret.</a:t>
            </a:r>
            <a:endParaRPr lang="en-US" sz="1050" dirty="0"/>
          </a:p>
        </p:txBody>
      </p:sp>
      <p:sp>
        <p:nvSpPr>
          <p:cNvPr id="21" name="Text 19"/>
          <p:cNvSpPr txBox="1"/>
          <p:nvPr/>
        </p:nvSpPr>
        <p:spPr>
          <a:xfrm>
            <a:off x="457200" y="351495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shares and the secret</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17373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Share at x</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Height y = 12 + 30x mod 47</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Secret from two shares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Two shares fix the line and give 12, its height at zero. One share alone does not.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points fix the line; its height at zero is the secret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55</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Shamir with the chapter library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shares, any two rebuild the secret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 = L.shamir_split(</a:t>
            </a:r>
            <a:r>
              <a:rPr lang="en-US" sz="1000" dirty="0">
                <a:solidFill>
                  <a:srgbClr val="FFD28A"/>
                </a:solidFill>
                <a:latin typeface="Courier New" pitchFamily="34" charset="0"/>
                <a:ea typeface="Courier New" pitchFamily="34" charset="-122"/>
                <a:cs typeface="Courier New" pitchFamily="34" charset="-120"/>
              </a:rPr>
              <a:t>123456789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987654321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back = [L.shamir_recover(x)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(sh[:</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sh[</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66273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 L.shamir_recover(sh[:</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123456789</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(back, alone)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([123456789, 123456789],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secret is cut into three shares; the slope is fixed here.</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Any two of the three shares rebuild the secret.</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9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share alone rebuilds a number that is not the secret.</a:t>
            </a:r>
            <a:endParaRPr lang="en-US" sz="1050" dirty="0"/>
          </a:p>
        </p:txBody>
      </p:sp>
      <p:sp>
        <p:nvSpPr>
          <p:cNvPr id="21" name="Text 19"/>
          <p:cNvSpPr txBox="1"/>
          <p:nvPr/>
        </p:nvSpPr>
        <p:spPr>
          <a:xfrm>
            <a:off x="457200" y="351495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shares and what they rebuild</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Share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Height 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1111111110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2098765431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x = 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3086419752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Any two shares give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123456789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share gives the secret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shares are ordinary numbers. Pairs of them agree on 123456789; a single share does not give it.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share alone gives no information about the secret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55</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share fits every secret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small field where every case can be listed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y = </a:t>
            </a:r>
            <a:r>
              <a:rPr lang="en-US" sz="1000" dirty="0">
                <a:solidFill>
                  <a:srgbClr val="FFD28A"/>
                </a:solidFill>
                <a:latin typeface="Courier New" pitchFamily="34" charset="0"/>
                <a:ea typeface="Courier New" pitchFamily="34" charset="-122"/>
                <a:cs typeface="Courier New" pitchFamily="34" charset="-120"/>
              </a:rPr>
              <a:t>11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5</a:t>
            </a:r>
            <a:endParaRPr lang="en-US" sz="1000" dirty="0"/>
          </a:p>
        </p:txBody>
      </p:sp>
      <p:sp>
        <p:nvSpPr>
          <p:cNvPr id="8" name="Shape 6"/>
          <p:cNvSpPr/>
          <p:nvPr/>
        </p:nvSpPr>
        <p:spPr>
          <a:xfrm>
            <a:off x="457200" y="1957730"/>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03088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fits = {(s, (y - s) % 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(len(fits), len({s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fits}), 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(11, 11, 11)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Work modulo 11. A single share has height 5 at x = 1.</a:t>
            </a:r>
            <a:endParaRPr lang="en-US" sz="1050" dirty="0"/>
          </a:p>
        </p:txBody>
      </p:sp>
      <p:sp>
        <p:nvSpPr>
          <p:cNvPr id="13" name="Shape 11"/>
          <p:cNvSpPr/>
          <p:nvPr/>
        </p:nvSpPr>
        <p:spPr>
          <a:xfrm>
            <a:off x="365760" y="1884578"/>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62707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For every possible secret there is a slope that fits the share.</a:t>
            </a:r>
            <a:endParaRPr lang="en-US" sz="1050" dirty="0"/>
          </a:p>
        </p:txBody>
      </p:sp>
      <p:sp>
        <p:nvSpPr>
          <p:cNvPr id="16" name="Text 14"/>
          <p:cNvSpPr txBox="1"/>
          <p:nvPr/>
        </p:nvSpPr>
        <p:spPr>
          <a:xfrm>
            <a:off x="457200" y="288310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slope that fits the share, for each possible secret s</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All 11 possible secrets have a slope that fits the one share we hold: it reveals nothing.</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single share is consistent with every possible secret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55</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Three pieces of a key, any two will do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Shares of a secret: loss and theft both need several failures</a:t>
            </a:r>
            <a:endParaRPr lang="en-US" sz="1300" dirty="0"/>
          </a:p>
        </p:txBody>
      </p:sp>
      <p:pic>
        <p:nvPicPr>
          <p:cNvPr id="6" name="Image 0" descr="../../03-materials/ch13/assets/adi_shamir.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Adi Shamir Royal Society - Duncan Hull, CC BY-SA 4.0,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In November 1979 Adi Shamir published How to Share a Secret, two pages in the Communications of the ACM.</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secret kept in one place is lost or stolen with it; shares make both loss and theft need several failures.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Any k of n shares rebuild the secret by polynomial interpolation, and k minus 1 shares leave it completely undetermined.</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Codex32 and SLIP39 apply the same idea to seed words.</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Adi Shamir, then at the …</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Communications of …</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1979-11-01</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Shamir: How to Share a Secret (PDF, 1979)</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web.mit.edu</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55</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Custody history</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Handing coins to someone else is trust, like leaving cash with a stranger.</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Exchange failures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When an exchange holds the keys, customers hold only a claim on it.</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leaving your cash with a shopkeeper who may close.</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Physical coins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coin can hide a key under a seal that shows if it was opened.</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tamper seal on a medicine bottle.</a:t>
            </a:r>
            <a:endParaRPr lang="en-US" sz="115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55</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Custody history: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8229600"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7955280"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hot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wallet whose keys sit on an online machine.</a:t>
            </a:r>
            <a:endParaRPr lang="en-US" sz="1300" dirty="0"/>
          </a:p>
        </p:txBody>
      </p:sp>
      <p:sp>
        <p:nvSpPr>
          <p:cNvPr id="9" name="Text 7"/>
          <p:cNvSpPr txBox="1"/>
          <p:nvPr/>
        </p:nvSpPr>
        <p:spPr>
          <a:xfrm>
            <a:off x="640080" y="1805940"/>
            <a:ext cx="79552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cash in your pocket, handy but easy to lose.</a:t>
            </a:r>
            <a:endParaRPr lang="en-US" sz="115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55</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Mt. Gox figures, recomputed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Arithmetic on figures quoted in the research</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 = round(</a:t>
            </a:r>
            <a:r>
              <a:rPr lang="en-US" sz="1000" dirty="0">
                <a:solidFill>
                  <a:srgbClr val="FFD28A"/>
                </a:solidFill>
                <a:latin typeface="Courier New" pitchFamily="34" charset="0"/>
                <a:ea typeface="Courier New" pitchFamily="34" charset="-122"/>
                <a:cs typeface="Courier New" pitchFamily="34" charset="-120"/>
              </a:rPr>
              <a:t>850000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7</a:t>
            </a:r>
            <a:r>
              <a:rPr lang="en-US" sz="1000" dirty="0">
                <a:solidFill>
                  <a:srgbClr val="E6EDF3"/>
                </a:solidFill>
                <a:latin typeface="Courier New" pitchFamily="34" charset="0"/>
                <a:ea typeface="Courier New" pitchFamily="34" charset="-122"/>
                <a:cs typeface="Courier New" pitchFamily="34" charset="-120"/>
              </a:rPr>
              <a:t> / 1e6,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kept = round(</a:t>
            </a:r>
            <a:r>
              <a:rPr lang="en-US" sz="1000" dirty="0">
                <a:solidFill>
                  <a:srgbClr val="FFD28A"/>
                </a:solidFill>
                <a:latin typeface="Courier New" pitchFamily="34" charset="0"/>
                <a:ea typeface="Courier New" pitchFamily="34" charset="-122"/>
                <a:cs typeface="Courier New" pitchFamily="34" charset="-120"/>
              </a:rPr>
              <a:t>40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36</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66273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left = round(</a:t>
            </a:r>
            <a:r>
              <a:rPr lang="en-US" sz="1000" dirty="0">
                <a:solidFill>
                  <a:srgbClr val="FFD28A"/>
                </a:solidFill>
                <a:latin typeface="Courier New" pitchFamily="34" charset="0"/>
                <a:ea typeface="Courier New" pitchFamily="34" charset="-122"/>
                <a:cs typeface="Courier New" pitchFamily="34" charset="-120"/>
              </a:rPr>
              <a:t>850000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199999.99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 kept, left)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(12.1, 25.6, 650000.01)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850,000 lost coins, said to be 7 percent of all coins, in millions.</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Bitfinex cut every account by 36 percent: what 40 coins became.</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9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Of the 850,000 lost, 199,999.99 were later found.</a:t>
            </a:r>
            <a:endParaRPr lang="en-US" sz="1050" dirty="0"/>
          </a:p>
        </p:txBody>
      </p:sp>
      <p:sp>
        <p:nvSpPr>
          <p:cNvPr id="21" name="Text 19"/>
          <p:cNvSpPr txBox="1"/>
          <p:nvPr/>
        </p:nvSpPr>
        <p:spPr>
          <a:xfrm>
            <a:off x="457200" y="351495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of the page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arithmetic on quoted figures</a:t>
            </a:r>
            <a:endParaRPr lang="en-US" sz="11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Supply implied, millions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40 coins after a 36 % cut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25.6</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Part of the 40 cut away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14.4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850,000 less 199,999.99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650,000.01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Counts differ by source. These sums show what each figure implies, not which source is right.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Counts differ by source; the arithmetic shows by how much</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55</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exchange that held the keys of everyone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coins of everyone sat in one wallet of the exchange</a:t>
            </a:r>
            <a:endParaRPr lang="en-US" sz="1300" dirty="0"/>
          </a:p>
        </p:txBody>
      </p:sp>
      <p:pic>
        <p:nvPicPr>
          <p:cNvPr id="6" name="Image 0" descr="../../03-materials/ch13/assets/mtgox_letter.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Letter regarding Mt.Gox - NetSPI, CC BY 2.0, Flickr</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Mt. Gox of Shibuya, Tokyo, halted withdrawals on 7 February 2014 and suspended all trading on 24 February.</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It kept customers' coins in its own wallets, so customers held a claim on the exchange and not the keys.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 leaked document said 744,408 coins were stolen unnoticed for years; the Tokyo court found Karpeles guilty of falsifying data.</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Not your keys, not your coins: custody is trust.</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a bankruptcy letter, not the theft.</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Mark Karpeles, who bough…</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exchange Mt. Gox i…</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2014-02-24</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Wikipedia: Mt. Gox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en.wikipedia.org</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55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Casascius coin in the saved page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passages searched in the saved wiki page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a:t>
            </a:r>
            <a:r>
              <a:rPr lang="en-US" sz="1000" dirty="0">
                <a:solidFill>
                  <a:srgbClr val="9ECBFF"/>
                </a:solidFill>
                <a:latin typeface="Courier New" pitchFamily="34" charset="0"/>
                <a:ea typeface="Courier New" pitchFamily="34" charset="-122"/>
                <a:cs typeface="Courier New" pitchFamily="34" charset="-120"/>
              </a:rPr>
              <a:t>'bitcoinwiki_casascius.txt'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sold = seen(t, </a:t>
            </a:r>
            <a:r>
              <a:rPr lang="en-US" sz="1000" dirty="0">
                <a:solidFill>
                  <a:srgbClr val="9ECBFF"/>
                </a:solidFill>
                <a:latin typeface="Courier New" pitchFamily="34" charset="0"/>
                <a:ea typeface="Courier New" pitchFamily="34" charset="-122"/>
                <a:cs typeface="Courier New" pitchFamily="34" charset="-120"/>
              </a:rPr>
              <a:t>'sold until Nov 26, 2013'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seen(t, </a:t>
            </a:r>
            <a:r>
              <a:rPr lang="en-US" sz="1000" dirty="0">
                <a:solidFill>
                  <a:srgbClr val="9ECBFF"/>
                </a:solidFill>
                <a:latin typeface="Courier New" pitchFamily="34" charset="0"/>
                <a:ea typeface="Courier New" pitchFamily="34" charset="-122"/>
                <a:cs typeface="Courier New" pitchFamily="34" charset="-120"/>
              </a:rPr>
              <a:t>'1000 BTC increments'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msb = seen(t, </a:t>
            </a:r>
            <a:r>
              <a:rPr lang="en-US" sz="1000" dirty="0">
                <a:solidFill>
                  <a:srgbClr val="9ECBFF"/>
                </a:solidFill>
                <a:latin typeface="Courier New" pitchFamily="34" charset="0"/>
                <a:ea typeface="Courier New" pitchFamily="34" charset="-122"/>
                <a:cs typeface="Courier New" pitchFamily="34" charset="-120"/>
              </a:rPr>
              <a:t>'qualifies him as a money transmitter'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(sold, sizes, msb)</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saved wiki page on the Casascius coins is the source.</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Sales stopped on 26 November 2013; coins came in set sizes.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regulator called the maker a money transmitter.</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seen() searches a saved source</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claims searched in the saved source</a:t>
            </a:r>
            <a:endParaRPr lang="en-US" sz="11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2103120"/>
                <a:gridCol w="8686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Passage in the saved page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Found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Sales stopped 26 Nov 2013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Sold in set coin sizes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Maker called a money transmitter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All three claims of the story are in the saved page. A claim you cannot find in a source is only a claim.</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claim of the story can be found in the saved source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55</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coin with a private key under a sticker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private key hidden under a hologram</a:t>
            </a:r>
            <a:endParaRPr lang="en-US" sz="1300" dirty="0"/>
          </a:p>
        </p:txBody>
      </p:sp>
      <p:pic>
        <p:nvPicPr>
          <p:cNvPr id="6" name="Image 0" descr="../../03-materials/ch13/assets/casascius_hologram.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Casascius hologram close-up - BTC Keychain, CC BY 2.0, Flickr</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Mike Caldwell sold physical bitcoins: a coin with the private key under a hologram that shows a honeycomb pattern when peeled.</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peeled seal shows that someone looked, which a bare slip of paper cannot do.</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Coins came in 1, 10, 25, 100 and 1000 BTC; FinCEN said minting them made him a money transmitter, so sales stopped on 26 November 2013.</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A tamper seal tells you someone looked, not who.</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a hologram close-up, not the coin.</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Mike Caldwell, the maker…</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Sandy, Utah, USA, and …</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2013-11-26</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Wiki: Casascius physical bitcoins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55</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Survivability</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Funds should outlive their owner, like a will with a waiting period.</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Heirs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timelock lets an heir spend only after a set wait.</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will that takes effect after a waiting period.</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Limits of the runs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Some safeguards could not be run here; the deck says which.</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test drive that never left the car park.</a:t>
            </a:r>
            <a:endParaRPr lang="en-US" sz="115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Sharing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Custody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Survival</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55</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Survivability: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Survivability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Funds and access that outlive failure, loss or the death of the owner.</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lifeboat that still floats after a leak.</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estate planning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Arranging in advance who can reach the coins after you, and when.</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writing a will that names the heir and the waiting time.</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55</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heir must wait ten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recorded timelock: owner at once, heir after a wait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R[</a:t>
            </a:r>
            <a:r>
              <a:rPr lang="en-US" sz="1000" dirty="0">
                <a:solidFill>
                  <a:srgbClr val="9ECBFF"/>
                </a:solidFill>
                <a:latin typeface="Courier New" pitchFamily="34" charset="0"/>
                <a:ea typeface="Courier New" pitchFamily="34" charset="-122"/>
                <a:cs typeface="Courier New" pitchFamily="34" charset="-120"/>
              </a:rPr>
              <a:t>'b7_descriptor'</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'policy'</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owner = R[</a:t>
            </a:r>
            <a:r>
              <a:rPr lang="en-US" sz="1000" dirty="0">
                <a:solidFill>
                  <a:srgbClr val="9ECBFF"/>
                </a:solidFill>
                <a:latin typeface="Courier New" pitchFamily="34" charset="0"/>
                <a:ea typeface="Courier New" pitchFamily="34" charset="-122"/>
                <a:cs typeface="Courier New" pitchFamily="34" charset="-120"/>
              </a:rPr>
              <a:t>'b7_owner'</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a:t>
            </a:r>
            <a:r>
              <a:rPr lang="en-US" sz="1000" dirty="0">
                <a:solidFill>
                  <a:srgbClr val="9ECBFF"/>
                </a:solidFill>
                <a:latin typeface="Courier New" pitchFamily="34" charset="0"/>
                <a:ea typeface="Courier New" pitchFamily="34" charset="-122"/>
                <a:cs typeface="Courier New" pitchFamily="34" charset="-120"/>
              </a:rPr>
              <a:t>'b7_heir'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9ECBFF"/>
                </a:solidFill>
                <a:latin typeface="Courier New" pitchFamily="34" charset="0"/>
                <a:ea typeface="Courier New" pitchFamily="34" charset="-122"/>
                <a:cs typeface="Courier New" pitchFamily="34" charset="-120"/>
              </a:rPr>
              <a:t>'at_1_conf'</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'at_9_conf'</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'at_10_conf'</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heir = [h[k][</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ks]</a:t>
            </a:r>
            <a:endParaRPr lang="en-US" sz="1000" dirty="0"/>
          </a:p>
        </p:txBody>
      </p:sp>
      <p:sp>
        <p:nvSpPr>
          <p:cNvPr id="10" name="Shape 8"/>
          <p:cNvSpPr/>
          <p:nvPr/>
        </p:nvSpPr>
        <p:spPr>
          <a:xfrm>
            <a:off x="457200" y="324886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201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h[</a:t>
            </a:r>
            <a:r>
              <a:rPr lang="en-US" sz="1000" dirty="0">
                <a:solidFill>
                  <a:srgbClr val="9ECBFF"/>
                </a:solidFill>
                <a:latin typeface="Courier New" pitchFamily="34" charset="0"/>
                <a:ea typeface="Courier New" pitchFamily="34" charset="-122"/>
                <a:cs typeface="Courier New" pitchFamily="34" charset="-120"/>
              </a:rPr>
              <a:t>'at_9_conf'</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'reject_reason'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(owner, heir, why)</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 False, True], 'non-BIP68-final')</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recorded policy: the owner at any time, or the heir after ten blocks.</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heir tried after 1, 9 and 10 confirmations.</a:t>
            </a:r>
            <a:endParaRPr lang="en-US" sz="1050" dirty="0"/>
          </a:p>
        </p:txBody>
      </p:sp>
      <p:sp>
        <p:nvSpPr>
          <p:cNvPr id="18" name="Shape 16"/>
          <p:cNvSpPr/>
          <p:nvPr/>
        </p:nvSpPr>
        <p:spPr>
          <a:xfrm>
            <a:off x="365760" y="317571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571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refusal before the time names the rule.</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recorded timelock tests</a:t>
            </a:r>
            <a:endParaRPr lang="en-US" sz="11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Who and when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Allowed?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Owner, at any time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Heir after 1 confirmation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Heir after 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Heir after 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policy is or(owner, and(heir, older 10)). Before the wait the node says: non-BIP68-final.</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Before the wait, the node refuses the heir's payment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55</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wait field has sixteen bits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trap in the heir's timelock</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bits = </a:t>
            </a:r>
            <a:r>
              <a:rPr lang="en-US" sz="1000" dirty="0">
                <a:solidFill>
                  <a:srgbClr val="FFD28A"/>
                </a:solidFill>
                <a:latin typeface="Courier New" pitchFamily="34" charset="0"/>
                <a:ea typeface="Courier New" pitchFamily="34" charset="-122"/>
                <a:cs typeface="Courier New" pitchFamily="34" charset="-120"/>
              </a:rPr>
              <a:t>16</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top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bits - </a:t>
            </a:r>
            <a:r>
              <a:rPr lang="en-US" sz="1000" dirty="0">
                <a:solidFill>
                  <a:srgbClr val="FFD28A"/>
                </a:solidFill>
                <a:latin typeface="Courier New" pitchFamily="34" charset="0"/>
                <a:ea typeface="Courier New" pitchFamily="34" charset="-122"/>
                <a:cs typeface="Courier New" pitchFamily="34" charset="-120"/>
              </a:rPr>
              <a:t>1</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wrapped = </a:t>
            </a:r>
            <a:r>
              <a:rPr lang="en-US" sz="1000" dirty="0">
                <a:solidFill>
                  <a:srgbClr val="FFD28A"/>
                </a:solidFill>
                <a:latin typeface="Courier New" pitchFamily="34" charset="0"/>
                <a:ea typeface="Courier New" pitchFamily="34" charset="-122"/>
                <a:cs typeface="Courier New" pitchFamily="34" charset="-120"/>
              </a:rPr>
              <a:t>65536</a:t>
            </a:r>
            <a:r>
              <a:rPr lang="en-US" sz="1000" dirty="0">
                <a:solidFill>
                  <a:srgbClr val="E6EDF3"/>
                </a:solidFill>
                <a:latin typeface="Courier New" pitchFamily="34" charset="0"/>
                <a:ea typeface="Courier New" pitchFamily="34" charset="-122"/>
                <a:cs typeface="Courier New" pitchFamily="34" charset="-120"/>
              </a:rPr>
              <a:t> &amp; top</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trap = R[</a:t>
            </a:r>
            <a:r>
              <a:rPr lang="en-US" sz="1000" dirty="0">
                <a:solidFill>
                  <a:srgbClr val="9ECBFF"/>
                </a:solidFill>
                <a:latin typeface="Courier New" pitchFamily="34" charset="0"/>
                <a:ea typeface="Courier New" pitchFamily="34" charset="-122"/>
                <a:cs typeface="Courier New" pitchFamily="34" charset="-120"/>
              </a:rPr>
              <a:t>'b7_older_65536'</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days = round(top *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1440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(top, wrapped, trap, days)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(65535, 0, True, 455.1)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wait field of a relative timelock has sixteen bits.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value 65536 does not fit; its low sixteen bits are zero.</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In blocks of ten minutes the longest wait is counted in days.</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is the recorded run of Core 31.1</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sixteen-bit wait field</a:t>
            </a:r>
            <a:endParaRPr lang="en-US" sz="11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Largest wait, blocks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65,535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65536 cut to 16 bits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Heir spends at once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Longest wait, days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455.1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wait of 65536 wraps to 0, so the recorded heir could spend at once: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wait of 65536 wraps to zero, so the heir can spend at once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55</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these runs did not cover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Read from the record of the one run; nothing here is claimed as executed</a:t>
            </a:r>
            <a:endParaRPr lang="en-US" sz="13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200400"/>
                <a:gridCol w="5029200"/>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Not run here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Why</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BIP 324 on the wire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packet capture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BIP 39 recovery in Core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Bitcoin Core has no BIP 39 import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Estate planning with a lawyer</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 lawyer, a digital asset executor and a family were not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An exchange hack or hot-wallet breach</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exchange or server was attacked</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 good gpg signature check</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The builders' public keys were not imported</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 hardware signing device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physical device</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Mainnet funds</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All coins are regtest coins on private chains</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Paper and metal backups</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printer, no steel plate and no fire or water test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Shamir or SLIP 39 in a wallet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No wallet in the table does SLIP 39 or codex32 shares</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A true air gap</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00" dirty="0">
                          <a:solidFill>
                            <a:srgbClr val="2B2622"/>
                          </a:solidFill>
                          <a:latin typeface="Calibri" pitchFamily="34" charset="0"/>
                          <a:ea typeface="Calibri" pitchFamily="34" charset="-122"/>
                          <a:cs typeface="Calibri" pitchFamily="34" charset="-120"/>
                        </a:rPr>
                        <a:t>The cold node of b3 ran on the same machine and sent its PSBT</a:t>
                      </a:r>
                      <a:endParaRPr lang="en-US" sz="10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4636008"/>
            <a:ext cx="91440" cy="310896"/>
          </a:xfrm>
          <a:prstGeom prst="rect">
            <a:avLst/>
          </a:prstGeom>
          <a:solidFill>
            <a:srgbClr val="D97A14"/>
          </a:solidFill>
          <a:ln w="12700">
            <a:solidFill>
              <a:srgbClr val="D97A14"/>
            </a:solidFill>
            <a:prstDash val="solid"/>
          </a:ln>
        </p:spPr>
      </p:sp>
      <p:sp>
        <p:nvSpPr>
          <p:cNvPr id="8" name="Text 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safeguard that was not run here is explained, not proven</a:t>
            </a:r>
            <a:endParaRPr lang="en-US" sz="1350" dirty="0"/>
          </a:p>
        </p:txBody>
      </p:sp>
      <p:sp>
        <p:nvSpPr>
          <p:cNvPr id="9" name="Text 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52 / 55</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idea,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signed payment shows no key, and editing its payee or amount breaks the signature; peers talk encrypted and trust one typed-in block.</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Keys stay offline in cold storage, behind a passphrase, or in a device that waits longer after each wrong PIN.</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backup restores only what it knew; twelve words and a checksum rebuild every key of a wallet.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Two of three keys cut the chance of being stuck but raise the chance of theft; one share of a secret reveals nothing.</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An exchange holds claims, not keys; an heir can be made to wait ten blocks; some safeguards were not run here.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53 / 55</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Partially signed transactions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PSBT and the wallets that use it  bitcoinops.org</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Output script descriptors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descriptors with examples  bitcoinops.org</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Optech topic: Timelocks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four timelock types side by side  bitcoinops.org</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324: v2 P2P Encrypted Transport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encrypted handshake and packet format of peers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39: Mnemonic code for deterministic keys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Seed words, their checksum and the word list  bips.dev</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Shamir: How to Share a Secret (PDF, 1979)</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original two pages that define threshold sharing</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Stand-up Maths: an open secret with maths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Secret sharing explained with polynomials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Unchained: What is bitcoin multisig?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several keys protect one wallet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secret-sharing video,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54 / 55</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signature protects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keys are stored and backed up</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control is shared among holders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custody is trust</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55 / 55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13</dc:title>
  <dc:subject>PptxGenJS Presentation</dc:subject>
  <dc:creator>Yusuf Altunel</dc:creator>
  <cp:lastModifiedBy>Yusuf Altunel</cp:lastModifiedBy>
  <cp:revision>1</cp:revision>
  <dcterms:created xsi:type="dcterms:W3CDTF">2026-10-25T11:45:02Z</dcterms:created>
  <dcterms:modified xsi:type="dcterms:W3CDTF">2026-10-25T11:45:02Z</dcterms:modified>
  <cp:version>2.3.0</cp:version>
</cp:coreProperties>
</file>