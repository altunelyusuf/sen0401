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fee in 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First spend</c:v>
                  </c:pt>
                  <c:pt idx="1">
                    <c:v>Lower fee</c:v>
                  </c:pt>
                  <c:pt idx="2">
                    <c:v>Higher fee</c:v>
                  </c:pt>
                </c:lvl>
              </c:multiLvlStrCache>
            </c:multiLvlStrRef>
          </c:cat>
          <c:val>
            <c:numRef>
              <c:f>Sheet1!$B$2:$B$4</c:f>
              <c:numCache>
                <c:formatCode>General</c:formatCode>
                <c:ptCount val="3"/>
                <c:pt idx="0">
                  <c:v>100000</c:v>
                </c:pt>
                <c:pt idx="1">
                  <c:v>50000</c:v>
                </c:pt>
                <c:pt idx="2">
                  <c:v>200000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Alice's balance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Start</c:v>
                  </c:pt>
                  <c:pt idx="1">
                    <c:v>Alice pays 30</c:v>
                  </c:pt>
                  <c:pt idx="2">
                    <c:v>Alice pays 50</c:v>
                  </c:pt>
                  <c:pt idx="3">
                    <c:v>Bob pays 20</c:v>
                  </c:pt>
                </c:lvl>
              </c:multiLvlStrCache>
            </c:multiLvlStrRef>
          </c:cat>
          <c:val>
            <c:numRef>
              <c:f>Sheet1!$B$2:$B$5</c:f>
              <c:numCache>
                <c:formatCode>General</c:formatCode>
                <c:ptCount val="4"/>
                <c:pt idx="0">
                  <c:v>100</c:v>
                </c:pt>
                <c:pt idx="1">
                  <c:v>70</c:v>
                </c:pt>
                <c:pt idx="2">
                  <c:v>20</c:v>
                </c:pt>
                <c:pt idx="3">
                  <c:v>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200000</c:v>
                </c:pt>
                <c:pt idx="1">
                  <c:v>100000</c:v>
                </c:pt>
                <c:pt idx="2">
                  <c:v>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blocks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243</c:v>
                </c:pt>
                <c:pt idx="1">
                  <c:v>163</c:v>
                </c:pt>
                <c:pt idx="2">
                  <c:v>83</c:v>
                </c:pt>
                <c:pt idx="3">
                  <c:v>83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pending HTLCs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Alice</c:v>
                  </c:pt>
                  <c:pt idx="1">
                    <c:v>Bob</c:v>
                  </c:pt>
                  <c:pt idx="2">
                    <c:v>Carol</c:v>
                  </c:pt>
                  <c:pt idx="3">
                    <c:v>Diana</c:v>
                  </c:pt>
                  <c:pt idx="4">
                    <c:v>Eric</c:v>
                  </c:pt>
                </c:lvl>
              </c:multiLvlStrCache>
            </c:multiLvlStrRef>
          </c:cat>
          <c:val>
            <c:numRef>
              <c:f>Sheet1!$B$2:$B$6</c:f>
              <c:numCache>
                <c:formatCode>General</c:formatCode>
                <c:ptCount val="5"/>
                <c:pt idx="0">
                  <c:v>1</c:v>
                </c:pt>
                <c:pt idx="1">
                  <c:v>2</c:v>
                </c:pt>
                <c:pt idx="2">
                  <c:v>2</c:v>
                </c:pt>
                <c:pt idx="3">
                  <c:v>2</c:v>
                </c:pt>
                <c:pt idx="4">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is built on top of Bitcoin: the guarantees of the chain, colored coins, payment channels and the Lightning Network. Every number on a result picture was computed with the chapter's own Python library or read from one recorded run on private test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that follow the order of the chapter. Four true stories and nineteen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four parts. Together they hold 61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offers guarantees that any application can reuse: no double spend, immutability, timestamps and more. This part lists them, then shows how a digital notary and a crowdfund mix them. We test four of them on a private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Second-Layer Applications, Building Blocks (Primitives), Applications from Building Blocks, second layer, primitives and no double spend.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output can be spent twice in the same chain. Core accepted a first spend and refused a second one that paid less. It replaced the first with a second that paid more, and the first then vanished from the waiting pool.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On 18 May 2010, by the forum's clock, Laszlo Hanyecz opened the thread Pizza for bitcoins? and offered 10,000 bitcoins for a couple of pizzas delivered to Jacksonville, Florida. The lesson is that the first purchase settled on the chain; small ones now travel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immutability, neutrality, secure timestamping, authorization, auditability and accounting.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signed 150 blocks earlier was still valid, because its input was unspent. A transaction whose outputs exceed its inputs was refused, whatever the signatures said. These are two of the chain's guarantees.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nonexpiration, integrity, transaction atomicity, quorum of control, timelock and replication.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can carry the hash of a document in an output that nobody can spend. The script is OP_RETURN and the hash, and the output holds no value. The block that holds the transaction gives the document its date.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forgery protection, consistency, recording external state, predictable issuance, proof of existence and Lighthouse.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pledges, less the fee, make the goal. One pledge alone is refused, because it pays out more than it takes in. Changing the output breaks the signatures, and a signature over everything stops a pledge that comes too late.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can be marked so that it stands for another asset. Three ideas make that work: a seal that opens once, a key that commits to a contract, and a receiver who checks the history himself. We run two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Colored Coins, Single-Use Seals, Pay to Contract (P2C), Client-Side Validation, RGB and Taproot Assets.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of ACME tokens passes through two transactions. Each one commits to its contract, and a forged contract does not match. Yet nothing in the chain shows that the tokens exist, so the receiver must check the whole history.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native forwarding and translated forwarding.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 key is tweaked by a contract and looks like any other key. Revealing the key and the contract proves the commitment; a wrong contract fails. The output can be spent only with the tweaked key, never with the plain one.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can trade many times and settle once. This part builds a channel step by step: a funding output, refunds, commitments that punish an old state, and a secret that claims a payment. Each step is run on a private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Payment channels. Each pairs a short meaning with something from everyday life.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funds one hour of video, at 1,000 satoshis a second. The funding output is a two-of-two script. Emma alone cannot spend it, and both together can. The witness script begins with a 2 and ends with a 2 and CHECKMULTISIG.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2013-04-20. The Bitcoin Wiki traces payment channels to the first Bitcoin code, where an unrecorded open transaction could keep being replaced until its lock time, and to a personal email of Satoshi Nakamoto that described it. The lesson is that channels began as a replaced transaction, waiting for its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payment channel, state channel, funding transaction, commitment transaction, settlement transaction and refund transaction.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signed six refunds before funding, each with a lower lock time than the one before. At the start all are refused as not yet final. Six blocks before the newest lock time it is still refused, and five blocks before it is accepted.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Spillman-style payment channel, revocation key, asymmetric commitment and preimage.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channel's capacity is fixed when it is funded. Each payment only shifts value from one side to the other, so the sum of the two balances never changes. A payment larger than the sender's balance cannot be made.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 puts two transactions on the chain, the funding and the settlement. Everything between them stays off the chain as signed commitments. The chain is the court of last resort, which is why each side keeps its latest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delayed output has two paths: a revocation key now, or a wait of 1,000 blocks. At 999 confirmations the delayed spend is refused and at 1,000 it is accepted. The revocation path needs both halves of the key.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 claims the output with the secret and a signature. A wrong secret fails the hash check, and the payer's key cannot claim it. The payer's refund is final only at the lock height, nineteen blocks after funding.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links channels into a network. We follow a payment through relays, count the fees and the time locks, read an invoice and a packet, and watch a breach being punished. Every number comes from the recorded run or the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Routed Payment Channels (Lightning Network), Basic Lightning Network Example, Lightning Network Transport and Pathfinding, Lightning Network Benefits, Lightning Network and route.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hop forwards what the later hops still need. The surcharge over one bitcoin is 200,000 satoshis at Bob, 100,000 at Carol and nothing at Diana. The library works backwards from the last hop and gets the same numbers.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2019-01-19. On 19 January 2019 the pseudonymous Twitter user hodlonaut began a game-like promotional test of the Lightning Network by sending 100,000 satoshis, 0.001 bitcoin, to a trusted recipient. The lesson is that lightning payments pass hand to hand without touching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invoice, onion routing, Sphinx, BOLT and pathfinding.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hop's HTLC expires at a block height. Neighbouring hops differ by 80 blocks, so a relay that pays downstream and learns the secret still has time to claim from upstream. The library rebuilds the same heights.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2015-02-28. Joseph Poon and Thaddeus Dryja published a Lightning Network white paper in February 2015, and Wikipedia cites a copy of version 0.5 archived on 28 February 2015. The lesson is that a design on paper took years, soft forks and four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fee and capacity. Each pairs a short meaning with something from everyday life, so that the idea can be retold in your own words. The full explanation is on the course page,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held back the secret, so the payment stayed pending on all four channels: one HTLC at each end and two at each relay. When Eric cancelled, every balance returned. A later payment of the same kind settled.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nodes talk over an encrypted link. The specification prints a test vector with fixed keys. We rerun the handshake and compare the three outputs, the two acts and the transport key. The sizes are 50, 66 and 39 bytes.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Lightning onion packet holds a version byte, a key, 1,300 bytes of hop data and a check value. Its size is 1366 bytes for a route of any length, with at most twenty hops. A relay cannot tell how far it is from the end.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made an invoice for 100,000,000,000 millisatoshis and the library parsed it. It asks 80 blocks for the last hop. The secret, hashed once, equals the payment hash. The invoice in BOLT 11 is dated 1 June 2017.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channel is opened by one funding transaction and closed by one more. The funding output is a two-of-two script, and the close pays two taproot outputs. Six updates happened off the chain in between.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Irene went back to an old state and published it. Hitesh's node saw the breach and its justice transaction took the whole channel. A separate test showed a parent with no fee lifted into a block by a child that paid for both.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nineteen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video of CuriousInventor on how Lightning works, then the Optech topic on hash time locked contracts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14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lists.linuxfoundation.org/pipermail/bitcoin-dev/2013-April/002433.html"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hyperlink" Target="https://en.wikipedia.org/wiki/Lightning_Network"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hyperlink" Target="https://lightning.network/lightning-network-paper.pdf"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bitcoinops.org/en/topics/htlc/" TargetMode="External"/><Relationship Id="rId2" Type="http://schemas.openxmlformats.org/officeDocument/2006/relationships/hyperlink" Target="https://bitcoinops.org/en/topics/anchor-outputs/" TargetMode="External"/><Relationship Id="rId3" Type="http://schemas.openxmlformats.org/officeDocument/2006/relationships/hyperlink" Target="https://bitcoinops.org/en/topics/watchtowers/" TargetMode="External"/><Relationship Id="rId4" Type="http://schemas.openxmlformats.org/officeDocument/2006/relationships/hyperlink" Target="https://raw.githubusercontent.com/lightning/bolts/master/03-transactions.md" TargetMode="External"/><Relationship Id="rId5" Type="http://schemas.openxmlformats.org/officeDocument/2006/relationships/hyperlink" Target="https://bips.dev/112/" TargetMode="External"/><Relationship Id="rId6" Type="http://schemas.openxmlformats.org/officeDocument/2006/relationships/hyperlink" Target="https://lightning.network/lightning-network-paper.pdf" TargetMode="External"/><Relationship Id="rId7" Type="http://schemas.openxmlformats.org/officeDocument/2006/relationships/hyperlink" Target="https://www.youtube.com/embed/yKdK-7AtAMQ" TargetMode="External"/><Relationship Id="rId8" Type="http://schemas.openxmlformats.org/officeDocument/2006/relationships/hyperlink" Target="https://www.youtube.com/embed/KN7Z5dGWcRY" TargetMode="External"/><Relationship Id="rId9" Type="http://schemas.openxmlformats.org/officeDocument/2006/relationships/hyperlink" Target="https://mempool.space/lightning" TargetMode="External"/><Relationship Id="rId10" Type="http://schemas.openxmlformats.org/officeDocument/2006/relationships/hyperlink" Target="https://bitcoinops.org/en/newsletters/" TargetMode="External"/><Relationship Id="rId11" Type="http://schemas.openxmlformats.org/officeDocument/2006/relationships/hyperlink" Target="https://delvingbitcoin.org/" TargetMode="External"/><Relationship Id="rId12" Type="http://schemas.openxmlformats.org/officeDocument/2006/relationships/slideLayout" Target="../slideLayouts/slideLayout1.xml"/><Relationship Id="rId1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Second-Layer Apps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the chain guarantees, how a payment channel is built, and how Lightning routes payments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4/assets/ch14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and lnd 0.21.3-beta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parts; every number is a slide you can jump to</a:t>
            </a:r>
            <a:endParaRPr lang="en-US" sz="1300" dirty="0"/>
          </a:p>
        </p:txBody>
      </p:sp>
      <p:sp>
        <p:nvSpPr>
          <p:cNvPr id="6" name="Shape 4"/>
          <p:cNvSpPr/>
          <p:nvPr/>
        </p:nvSpPr>
        <p:spPr>
          <a:xfrm>
            <a:off x="457200" y="1280160"/>
            <a:ext cx="2807208"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3502152" y="1335024"/>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What the chain guarantees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389632"/>
            <a:ext cx="2807208"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548640" y="2444496"/>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Colored coins and seals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15-19)</a:t>
            </a:r>
            <a:endParaRPr lang="en-US" sz="1100" dirty="0"/>
          </a:p>
        </p:txBody>
      </p:sp>
      <p:sp>
        <p:nvSpPr>
          <p:cNvPr id="12" name="Shape 10"/>
          <p:cNvSpPr/>
          <p:nvPr/>
        </p:nvSpPr>
        <p:spPr>
          <a:xfrm>
            <a:off x="3410712" y="2389632"/>
            <a:ext cx="2807208"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3502152" y="2444496"/>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Payment channels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20-30)</a:t>
            </a:r>
            <a:endParaRPr lang="en-US" sz="1100" dirty="0"/>
          </a:p>
        </p:txBody>
      </p:sp>
      <p:sp>
        <p:nvSpPr>
          <p:cNvPr id="14" name="Shape 12"/>
          <p:cNvSpPr/>
          <p:nvPr/>
        </p:nvSpPr>
        <p:spPr>
          <a:xfrm>
            <a:off x="457200" y="3499104"/>
            <a:ext cx="2807208"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548640" y="3553968"/>
            <a:ext cx="2624328"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The Lightning Network</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31-47)</a:t>
            </a:r>
            <a:endParaRPr lang="en-US" sz="1100" dirty="0"/>
          </a:p>
        </p:txBody>
      </p:sp>
      <p:sp>
        <p:nvSpPr>
          <p:cNvPr id="16" name="Shape 14"/>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47</a:t>
            </a:r>
            <a:endParaRPr lang="en-US" sz="2600" dirty="0"/>
          </a:p>
        </p:txBody>
      </p:sp>
      <p:sp>
        <p:nvSpPr>
          <p:cNvPr id="18" name="Text 16"/>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9" name="Shape 17"/>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0" name="Text 18"/>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1" name="Text 19"/>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2" name="Shape 20"/>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19</a:t>
            </a:r>
            <a:endParaRPr lang="en-US" sz="2600" dirty="0"/>
          </a:p>
        </p:txBody>
      </p:sp>
      <p:sp>
        <p:nvSpPr>
          <p:cNvPr id="24" name="Text 22"/>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nineteen examples, four true stories</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guarantees of the chain can an application rely on, and how do two applications mix them?</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coin carry a second meaning, and who checks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payment channel put on the chain, and what stays off it?</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revocation key stop a party from cheating with an old state?</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an HTLC let a secret open a payment and time return it?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Lightning route a payment through strangers and keep the route private?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channel cost, and what does a relay earn?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four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3108960"/>
          </a:xfrm>
          <a:prstGeom prst="roundRect">
            <a:avLst>
              <a:gd name="adj" fmla="val 3756"/>
            </a:avLst>
          </a:prstGeom>
          <a:solidFill>
            <a:srgbClr val="F2ECE1"/>
          </a:solidFill>
          <a:ln w="12700">
            <a:solidFill>
              <a:srgbClr val="DFD6C7"/>
            </a:solidFill>
            <a:prstDash val="solid"/>
          </a:ln>
        </p:spPr>
      </p:sp>
      <p:sp>
        <p:nvSpPr>
          <p:cNvPr id="7" name="Text 5"/>
          <p:cNvSpPr txBox="1"/>
          <p:nvPr/>
        </p:nvSpPr>
        <p:spPr>
          <a:xfrm>
            <a:off x="548640"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the chain guarantees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24 key concepts, 4 examples</a:t>
            </a:r>
            <a:endParaRPr lang="en-US" sz="1250" dirty="0"/>
          </a:p>
        </p:txBody>
      </p:sp>
      <p:sp>
        <p:nvSpPr>
          <p:cNvPr id="8" name="Shape 6"/>
          <p:cNvSpPr/>
          <p:nvPr/>
        </p:nvSpPr>
        <p:spPr>
          <a:xfrm>
            <a:off x="2551176" y="1280160"/>
            <a:ext cx="1947672" cy="3108960"/>
          </a:xfrm>
          <a:prstGeom prst="roundRect">
            <a:avLst>
              <a:gd name="adj" fmla="val 3756"/>
            </a:avLst>
          </a:prstGeom>
          <a:solidFill>
            <a:srgbClr val="F2ECE1"/>
          </a:solidFill>
          <a:ln w="12700">
            <a:solidFill>
              <a:srgbClr val="DFD6C7"/>
            </a:solidFill>
            <a:prstDash val="solid"/>
          </a:ln>
        </p:spPr>
      </p:sp>
      <p:sp>
        <p:nvSpPr>
          <p:cNvPr id="9" name="Text 7"/>
          <p:cNvSpPr txBox="1"/>
          <p:nvPr/>
        </p:nvSpPr>
        <p:spPr>
          <a:xfrm>
            <a:off x="2642616"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Colored coins and seals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2 examples</a:t>
            </a:r>
            <a:endParaRPr lang="en-US" sz="1250" dirty="0"/>
          </a:p>
        </p:txBody>
      </p:sp>
      <p:sp>
        <p:nvSpPr>
          <p:cNvPr id="10" name="Shape 8"/>
          <p:cNvSpPr/>
          <p:nvPr/>
        </p:nvSpPr>
        <p:spPr>
          <a:xfrm>
            <a:off x="4645152" y="1280160"/>
            <a:ext cx="1947672" cy="3108960"/>
          </a:xfrm>
          <a:prstGeom prst="roundRect">
            <a:avLst>
              <a:gd name="adj" fmla="val 3756"/>
            </a:avLst>
          </a:prstGeom>
          <a:solidFill>
            <a:srgbClr val="F2ECE1"/>
          </a:solidFill>
          <a:ln w="12700">
            <a:solidFill>
              <a:srgbClr val="DFD6C7"/>
            </a:solidFill>
            <a:prstDash val="solid"/>
          </a:ln>
        </p:spPr>
      </p:sp>
      <p:sp>
        <p:nvSpPr>
          <p:cNvPr id="11" name="Text 9"/>
          <p:cNvSpPr txBox="1"/>
          <p:nvPr/>
        </p:nvSpPr>
        <p:spPr>
          <a:xfrm>
            <a:off x="4736592"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Payment channels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16 key concepts, 5 examples</a:t>
            </a:r>
            <a:endParaRPr lang="en-US" sz="1250" dirty="0"/>
          </a:p>
        </p:txBody>
      </p:sp>
      <p:sp>
        <p:nvSpPr>
          <p:cNvPr id="12" name="Shape 10"/>
          <p:cNvSpPr/>
          <p:nvPr/>
        </p:nvSpPr>
        <p:spPr>
          <a:xfrm>
            <a:off x="6739128" y="1280160"/>
            <a:ext cx="1947672" cy="3108960"/>
          </a:xfrm>
          <a:prstGeom prst="roundRect">
            <a:avLst>
              <a:gd name="adj" fmla="val 3756"/>
            </a:avLst>
          </a:prstGeom>
          <a:solidFill>
            <a:srgbClr val="F2ECE1"/>
          </a:solidFill>
          <a:ln w="12700">
            <a:solidFill>
              <a:srgbClr val="DFD6C7"/>
            </a:solidFill>
            <a:prstDash val="solid"/>
          </a:ln>
        </p:spPr>
      </p:sp>
      <p:sp>
        <p:nvSpPr>
          <p:cNvPr id="13" name="Text 11"/>
          <p:cNvSpPr txBox="1"/>
          <p:nvPr/>
        </p:nvSpPr>
        <p:spPr>
          <a:xfrm>
            <a:off x="6830568" y="1335024"/>
            <a:ext cx="1764792" cy="2999232"/>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Lightning Network</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key concepts, 8 examples</a:t>
            </a:r>
            <a:endParaRPr lang="en-US" sz="12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every slide today lives on this map</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the chain guarantees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chain is a toolbox of guarantees; an application is a recipe.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building blocks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Guarantees such as no double spend and immutability can be reused by any application.</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bricks that fit many buildings.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Applications from blocks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digital notary and a crowdfund each mix several guarantees.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that mixes basic ingredients.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Second-Layer Applications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Services built on Bitcoin's first layer that use its guarantees and change none of its rules.</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shops on a busy high street that never rebuild the road.</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Building Blocks (Primitives)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guarantees Bitcoin offers, which every application may reuse.</a:t>
            </a:r>
            <a:endParaRPr lang="en-US" sz="1150" dirty="0"/>
          </a:p>
        </p:txBody>
      </p:sp>
      <p:sp>
        <p:nvSpPr>
          <p:cNvPr id="13" name="Text 11"/>
          <p:cNvSpPr txBox="1"/>
          <p:nvPr/>
        </p:nvSpPr>
        <p:spPr>
          <a:xfrm>
            <a:off x="3432048" y="209306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bricks that fit many different buildings.</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1030529"/>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Applications from Building 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Each application mixes several guarantees, as a digital notary mixes immutability, a timestamp and durability.</a:t>
            </a:r>
            <a:endParaRPr lang="en-US" sz="1150" dirty="0"/>
          </a:p>
        </p:txBody>
      </p:sp>
      <p:sp>
        <p:nvSpPr>
          <p:cNvPr id="17" name="Text 15"/>
          <p:cNvSpPr txBox="1"/>
          <p:nvPr/>
        </p:nvSpPr>
        <p:spPr>
          <a:xfrm>
            <a:off x="6224016" y="2402129"/>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recipe that mixes a few basic ingredients.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second layer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system that settles on the chain but does most of its work away from it.</a:t>
            </a:r>
            <a:endParaRPr lang="en-US" sz="1150" dirty="0"/>
          </a:p>
        </p:txBody>
      </p:sp>
      <p:sp>
        <p:nvSpPr>
          <p:cNvPr id="21" name="Text 19"/>
          <p:cNvSpPr txBox="1"/>
          <p:nvPr/>
        </p:nvSpPr>
        <p:spPr>
          <a:xfrm>
            <a:off x="640080" y="372983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tram line that meets the main railway at a few stations.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primitives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basic guarantees themselves, small enough to be combined in many ways.</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notes of a scale that every song is built from.</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no double spend</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No output can be spent twice in the same valid chain of blocks.</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cheque that the bank cashes only once.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spends of one coin on a private chain</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'double_spend'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'first'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'lower'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'higher'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 [d[</a:t>
            </a:r>
            <a:r>
              <a:rPr lang="en-US" sz="1000" dirty="0">
                <a:solidFill>
                  <a:srgbClr val="9ECBFF"/>
                </a:solidFill>
                <a:latin typeface="Courier New" pitchFamily="34" charset="0"/>
                <a:ea typeface="Courier New" pitchFamily="34" charset="-122"/>
                <a:cs typeface="Courier New" pitchFamily="34" charset="-120"/>
              </a:rPr>
              <a:t>'fee_%s_sat'</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low = d[</a:t>
            </a:r>
            <a:r>
              <a:rPr lang="en-US" sz="1000" dirty="0">
                <a:solidFill>
                  <a:srgbClr val="9ECBFF"/>
                </a:solidFill>
                <a:latin typeface="Courier New" pitchFamily="34" charset="0"/>
                <a:ea typeface="Courier New" pitchFamily="34" charset="-122"/>
                <a:cs typeface="Courier New" pitchFamily="34" charset="-120"/>
              </a:rPr>
              <a:t>'second_lower_fee'</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
            </a:r>
            <a:r>
              <a:rPr lang="en-US" sz="1000" dirty="0">
                <a:solidFill>
                  <a:srgbClr val="9ECBFF"/>
                </a:solidFill>
                <a:latin typeface="Courier New" pitchFamily="34" charset="0"/>
                <a:ea typeface="Courier New" pitchFamily="34" charset="-122"/>
                <a:cs typeface="Courier New" pitchFamily="34" charset="-120"/>
              </a:rPr>
              <a:t>'first_accepted'</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'second_higher_fee'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'replaced the first')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on a private chain, accepted a first spend of one coin.</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spend of the same coin with a lower fee was refused, with a named reason.</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spend with a higher fee replaced the first, and the first vanished.</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fee of each spend, in satoshis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lower fee is refused: insufficient fee. The higher fee wins, and the first spend is gone: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a spend that pays more can replace the first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pizzas for 10,000 bitcoins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purchase settled on the chain; small ones now travel off it</a:t>
            </a:r>
            <a:endParaRPr lang="en-US" sz="1300" dirty="0"/>
          </a:p>
        </p:txBody>
      </p:sp>
      <p:pic>
        <p:nvPicPr>
          <p:cNvPr id="6" name="Image 0" descr="../../03-materials/ch14/assets/papa_johns_jacksonvil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Jacksonville - Sanjev Rajaram,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bitcoins for two pizzas, the first notable retail purchase of physical goods with bitcoin.</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had offered the coins for a couple of pizzas in a Bitcoin Forum post, and a 19-year-old, Jeremy Sturdivant, took the offer.</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Sturdivant ordered two Papa John's pizzas to Hanyecz's home in Jacksonville and received the coins; the payment settled on the chain.</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payment on the chain waits for confirmations, which payment channels and Lightning avoid for small payments.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the plaque in a Papa John's shop</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a progra…</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 thread: Pizza for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immutability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more work lies on top of a transaction, the more energy it takes to rewrite it.</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wet concrete that sets harder every hour.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neutrality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network relays any valid transaction with a sufficient fee, whoever sends it.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 office that stamps every parcel with enough postage.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secure timestamping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consensus rules keep block times roughly honest, so a recorded fact has a trusted date.</a:t>
            </a:r>
            <a:endParaRPr lang="en-US" sz="1300" dirty="0"/>
          </a:p>
        </p:txBody>
      </p:sp>
      <p:sp>
        <p:nvSpPr>
          <p:cNvPr id="17" name="Text 15"/>
          <p:cNvSpPr txBox="1"/>
          <p:nvPr/>
        </p:nvSpPr>
        <p:spPr>
          <a:xfrm>
            <a:off x="6224016"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postmark that the sender cannot choose.</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authorization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that asks for a signature cannot run without the holder of the private key.</a:t>
            </a:r>
            <a:endParaRPr lang="en-US" sz="1300" dirty="0"/>
          </a:p>
        </p:txBody>
      </p:sp>
      <p:sp>
        <p:nvSpPr>
          <p:cNvPr id="21" name="Text 19"/>
          <p:cNvSpPr txBox="1"/>
          <p:nvPr/>
        </p:nvSpPr>
        <p:spPr>
          <a:xfrm>
            <a:off x="640080"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door that opens only to its owner's key.</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auditability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transaction is public and links back to the genesis block.</a:t>
            </a:r>
            <a:endParaRPr lang="en-US" sz="1300" dirty="0"/>
          </a:p>
        </p:txBody>
      </p:sp>
      <p:sp>
        <p:nvSpPr>
          <p:cNvPr id="25" name="Text 23"/>
          <p:cNvSpPr txBox="1"/>
          <p:nvPr/>
        </p:nvSpPr>
        <p:spPr>
          <a:xfrm>
            <a:off x="3432048" y="380756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ledger that anyone may read from the first page.</a:t>
            </a:r>
            <a:endParaRPr lang="en-US" sz="1150" dirty="0"/>
          </a:p>
        </p:txBody>
      </p:sp>
      <p:sp>
        <p:nvSpPr>
          <p:cNvPr id="26" name="Shape 24"/>
          <p:cNvSpPr/>
          <p:nvPr/>
        </p:nvSpPr>
        <p:spPr>
          <a:xfrm>
            <a:off x="6041136" y="2925166"/>
            <a:ext cx="2645664" cy="1516990"/>
          </a:xfrm>
          <a:prstGeom prst="roundRect">
            <a:avLst>
              <a:gd name="adj" fmla="val 4822"/>
            </a:avLst>
          </a:prstGeom>
          <a:solidFill>
            <a:srgbClr val="F2ECE1"/>
          </a:solidFill>
          <a:ln w="12700">
            <a:solidFill>
              <a:srgbClr val="DFD6C7"/>
            </a:solidFill>
            <a:prstDash val="solid"/>
          </a:ln>
        </p:spPr>
      </p:sp>
      <p:sp>
        <p:nvSpPr>
          <p:cNvPr id="27" name="Shape 25"/>
          <p:cNvSpPr/>
          <p:nvPr/>
        </p:nvSpPr>
        <p:spPr>
          <a:xfrm>
            <a:off x="6059424" y="3053182"/>
            <a:ext cx="64008" cy="1260958"/>
          </a:xfrm>
          <a:prstGeom prst="rect">
            <a:avLst/>
          </a:prstGeom>
          <a:solidFill>
            <a:srgbClr val="D97A14"/>
          </a:solidFill>
          <a:ln w="12700">
            <a:solidFill>
              <a:srgbClr val="D97A14"/>
            </a:solidFill>
            <a:prstDash val="solid"/>
          </a:ln>
        </p:spPr>
      </p:sp>
      <p:sp>
        <p:nvSpPr>
          <p:cNvPr id="28" name="Text 26"/>
          <p:cNvSpPr txBox="1"/>
          <p:nvPr/>
        </p:nvSpPr>
        <p:spPr>
          <a:xfrm>
            <a:off x="6224016"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accounting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Outputs never exceed inputs, so a transaction cannot create or destroy value.</a:t>
            </a:r>
            <a:endParaRPr lang="en-US" sz="1300" dirty="0"/>
          </a:p>
        </p:txBody>
      </p:sp>
      <p:sp>
        <p:nvSpPr>
          <p:cNvPr id="29" name="Text 27"/>
          <p:cNvSpPr txBox="1"/>
          <p:nvPr/>
        </p:nvSpPr>
        <p:spPr>
          <a:xfrm>
            <a:off x="6224016"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must balance to the last coin.</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Nonexpiration and accounting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signed long ago, and one that pays too much</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'non_expiration'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n[</a:t>
            </a:r>
            <a:r>
              <a:rPr lang="en-US" sz="1000" dirty="0">
                <a:solidFill>
                  <a:srgbClr val="9ECBFF"/>
                </a:solidFill>
                <a:latin typeface="Courier New" pitchFamily="34" charset="0"/>
                <a:ea typeface="Courier New" pitchFamily="34" charset="-122"/>
                <a:cs typeface="Courier New" pitchFamily="34" charset="-120"/>
              </a:rPr>
              <a:t>'tested_at_height'</a:t>
            </a:r>
            <a:r>
              <a:rPr lang="en-US" sz="1000" dirty="0">
                <a:solidFill>
                  <a:srgbClr val="E6EDF3"/>
                </a:solidFill>
                <a:latin typeface="Courier New" pitchFamily="34" charset="0"/>
                <a:ea typeface="Courier New" pitchFamily="34" charset="-122"/>
                <a:cs typeface="Courier New" pitchFamily="34" charset="-120"/>
              </a:rPr>
              <a:t>] - n[</a:t>
            </a:r>
            <a:r>
              <a:rPr lang="en-US" sz="1000" dirty="0">
                <a:solidFill>
                  <a:srgbClr val="9ECBFF"/>
                </a:solidFill>
                <a:latin typeface="Courier New" pitchFamily="34" charset="0"/>
                <a:ea typeface="Courier New" pitchFamily="34" charset="-122"/>
                <a:cs typeface="Courier New" pitchFamily="34" charset="-120"/>
              </a:rPr>
              <a:t>'signed_at_height'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'outputs_exceed_inputs'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n[</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bad)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 True, 'bad-txns-in-belowout')</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signed 150 blocks earlier was still accepted, because its input was unspent.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whose outputs exceed its inputs is refused, whatever its signatures say.</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guarantees put to the test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60120"/>
                <a:gridCol w="1097280"/>
                <a:gridCol w="9144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Guarantee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Answer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Nonexpiration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signed 150 blocks ago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Accounting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287121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old transaction is still valid. The one that pays out more than it takes in is refused with the name bad-txns-in-belowout.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does not expire, and it can never pay out more than it takes 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nonexpiration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valid transaction stays valid for as long as its inputs are unspent.</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with no expiry date.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integrity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signature covers the parts of a transaction it commits to, so they cannot be altered.</a:t>
            </a:r>
            <a:endParaRPr lang="en-US" sz="1300" dirty="0"/>
          </a:p>
        </p:txBody>
      </p:sp>
      <p:sp>
        <p:nvSpPr>
          <p:cNvPr id="13" name="Text 11"/>
          <p:cNvSpPr txBox="1"/>
          <p:nvPr/>
        </p:nvSpPr>
        <p:spPr>
          <a:xfrm>
            <a:off x="3432048"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that breaks if the letter is changed.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atomicity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transaction is mined in full or not at all, never halfway.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light switch: on or off, never half.</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quorum of control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multisignature script demands a set number of keys, such as two of two.</a:t>
            </a:r>
            <a:endParaRPr lang="en-US" sz="1300" dirty="0"/>
          </a:p>
        </p:txBody>
      </p:sp>
      <p:sp>
        <p:nvSpPr>
          <p:cNvPr id="21" name="Text 19"/>
          <p:cNvSpPr txBox="1"/>
          <p:nvPr/>
        </p:nvSpPr>
        <p:spPr>
          <a:xfrm>
            <a:off x="640080"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needs two keyholders.</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timelock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clause can run only after a set time or block height.</a:t>
            </a:r>
            <a:endParaRPr lang="en-US" sz="1300" dirty="0"/>
          </a:p>
        </p:txBody>
      </p:sp>
      <p:sp>
        <p:nvSpPr>
          <p:cNvPr id="25" name="Text 23"/>
          <p:cNvSpPr txBox="1"/>
          <p:nvPr/>
        </p:nvSpPr>
        <p:spPr>
          <a:xfrm>
            <a:off x="3432048"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vault on a time lock.</a:t>
            </a:r>
            <a:endParaRPr lang="en-US" sz="1150" dirty="0"/>
          </a:p>
        </p:txBody>
      </p:sp>
      <p:sp>
        <p:nvSpPr>
          <p:cNvPr id="26" name="Shape 24"/>
          <p:cNvSpPr/>
          <p:nvPr/>
        </p:nvSpPr>
        <p:spPr>
          <a:xfrm>
            <a:off x="6041136" y="2925166"/>
            <a:ext cx="2645664" cy="1516990"/>
          </a:xfrm>
          <a:prstGeom prst="roundRect">
            <a:avLst>
              <a:gd name="adj" fmla="val 4822"/>
            </a:avLst>
          </a:prstGeom>
          <a:solidFill>
            <a:srgbClr val="F2ECE1"/>
          </a:solidFill>
          <a:ln w="12700">
            <a:solidFill>
              <a:srgbClr val="DFD6C7"/>
            </a:solidFill>
            <a:prstDash val="solid"/>
          </a:ln>
        </p:spPr>
      </p:sp>
      <p:sp>
        <p:nvSpPr>
          <p:cNvPr id="27" name="Shape 25"/>
          <p:cNvSpPr/>
          <p:nvPr/>
        </p:nvSpPr>
        <p:spPr>
          <a:xfrm>
            <a:off x="6059424" y="3053182"/>
            <a:ext cx="64008" cy="1260958"/>
          </a:xfrm>
          <a:prstGeom prst="rect">
            <a:avLst/>
          </a:prstGeom>
          <a:solidFill>
            <a:srgbClr val="D97A14"/>
          </a:solidFill>
          <a:ln w="12700">
            <a:solidFill>
              <a:srgbClr val="D97A14"/>
            </a:solidFill>
            <a:prstDash val="solid"/>
          </a:ln>
        </p:spPr>
      </p:sp>
      <p:sp>
        <p:nvSpPr>
          <p:cNvPr id="28" name="Text 26"/>
          <p:cNvSpPr txBox="1"/>
          <p:nvPr/>
        </p:nvSpPr>
        <p:spPr>
          <a:xfrm>
            <a:off x="6224016"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replication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full node keeps a copy of the chain, so the data survives local failures.</a:t>
            </a:r>
            <a:endParaRPr lang="en-US" sz="1300" dirty="0"/>
          </a:p>
        </p:txBody>
      </p:sp>
      <p:sp>
        <p:nvSpPr>
          <p:cNvPr id="29" name="Text 27"/>
          <p:cNvSpPr txBox="1"/>
          <p:nvPr/>
        </p:nvSpPr>
        <p:spPr>
          <a:xfrm>
            <a:off x="6224016" y="3807562"/>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book on the shelves of many libraries.</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existence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document's hash in an OP_RETURN output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'proof_of_existence'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len(p[</a:t>
            </a:r>
            <a:r>
              <a:rPr lang="en-US" sz="1000" dirty="0">
                <a:solidFill>
                  <a:srgbClr val="9ECBFF"/>
                </a:solidFill>
                <a:latin typeface="Courier New" pitchFamily="34" charset="0"/>
                <a:ea typeface="Courier New" pitchFamily="34" charset="-122"/>
                <a:cs typeface="Courier New" pitchFamily="34" charset="-120"/>
              </a:rPr>
              <a:t>'sha256'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p[</a:t>
            </a:r>
            <a:r>
              <a:rPr lang="en-US" sz="1000" dirty="0">
                <a:solidFill>
                  <a:srgbClr val="9ECBFF"/>
                </a:solidFill>
                <a:latin typeface="Courier New" pitchFamily="34" charset="0"/>
                <a:ea typeface="Courier New" pitchFamily="34" charset="-122"/>
                <a:cs typeface="Courier New" pitchFamily="34" charset="-120"/>
              </a:rPr>
              <a:t>'nulldata_asm'</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'OP_RETURN '</a:t>
            </a:r>
            <a:r>
              <a:rPr lang="en-US" sz="1000" dirty="0">
                <a:solidFill>
                  <a:srgbClr val="E6EDF3"/>
                </a:solidFill>
                <a:latin typeface="Courier New" pitchFamily="34" charset="0"/>
                <a:ea typeface="Courier New" pitchFamily="34" charset="-122"/>
                <a:cs typeface="Courier New" pitchFamily="34" charset="-120"/>
              </a:rPr>
              <a:t> + p[</a:t>
            </a:r>
            <a:r>
              <a:rPr lang="en-US" sz="1000" dirty="0">
                <a:solidFill>
                  <a:srgbClr val="9ECBFF"/>
                </a:solidFill>
                <a:latin typeface="Courier New" pitchFamily="34" charset="0"/>
                <a:ea typeface="Courier New" pitchFamily="34" charset="-122"/>
                <a:cs typeface="Courier New" pitchFamily="34" charset="-120"/>
              </a:rPr>
              <a:t>'sha256'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 L.iso(p[</a:t>
            </a:r>
            <a:r>
              <a:rPr lang="en-US" sz="1000" dirty="0">
                <a:solidFill>
                  <a:srgbClr val="9ECBFF"/>
                </a:solidFill>
                <a:latin typeface="Courier New" pitchFamily="34" charset="0"/>
                <a:ea typeface="Courier New" pitchFamily="34" charset="-122"/>
                <a:cs typeface="Courier New" pitchFamily="34" charset="-120"/>
              </a:rPr>
              <a:t>'block_time'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ok, p[</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 True, 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can carry the hash of a document in an output that nobody can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is OP_RETURN followed by the hash, and the output holds no value.</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that holds the transaction gives the document a date.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notary output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Hash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is OP_RETURN + 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Value of the output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452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 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2026-10-15 18:06:55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is in the chain at block 452, dated 2026-10-15. The document itself is not in the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in a transaction proves that the document existed at that block's date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chain guarantees: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55141"/>
          </a:xfrm>
          <a:prstGeom prst="roundRect">
            <a:avLst>
              <a:gd name="adj" fmla="val 5398"/>
            </a:avLst>
          </a:prstGeom>
          <a:solidFill>
            <a:srgbClr val="F2ECE1"/>
          </a:solidFill>
          <a:ln w="12700">
            <a:solidFill>
              <a:srgbClr val="DFD6C7"/>
            </a:solidFill>
            <a:prstDash val="solid"/>
          </a:ln>
        </p:spPr>
      </p:sp>
      <p:sp>
        <p:nvSpPr>
          <p:cNvPr id="7" name="Shape 5"/>
          <p:cNvSpPr/>
          <p:nvPr/>
        </p:nvSpPr>
        <p:spPr>
          <a:xfrm>
            <a:off x="475488" y="1408176"/>
            <a:ext cx="64008" cy="109910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forgery protection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transaction can spend only existing, validated outputs, so value cannot be counterfeited.</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bank that checks every note against its register.</a:t>
            </a:r>
            <a:endParaRPr lang="en-US" sz="1000" dirty="0"/>
          </a:p>
        </p:txBody>
      </p:sp>
      <p:sp>
        <p:nvSpPr>
          <p:cNvPr id="10" name="Shape 8"/>
          <p:cNvSpPr/>
          <p:nvPr/>
        </p:nvSpPr>
        <p:spPr>
          <a:xfrm>
            <a:off x="3249168" y="1280160"/>
            <a:ext cx="2645664" cy="1355141"/>
          </a:xfrm>
          <a:prstGeom prst="roundRect">
            <a:avLst>
              <a:gd name="adj" fmla="val 5398"/>
            </a:avLst>
          </a:prstGeom>
          <a:solidFill>
            <a:srgbClr val="F2ECE1"/>
          </a:solidFill>
          <a:ln w="12700">
            <a:solidFill>
              <a:srgbClr val="DFD6C7"/>
            </a:solidFill>
            <a:prstDash val="solid"/>
          </a:ln>
        </p:spPr>
      </p:sp>
      <p:sp>
        <p:nvSpPr>
          <p:cNvPr id="11" name="Shape 9"/>
          <p:cNvSpPr/>
          <p:nvPr/>
        </p:nvSpPr>
        <p:spPr>
          <a:xfrm>
            <a:off x="3267456" y="1408176"/>
            <a:ext cx="64008" cy="109910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consistency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deeper a block lies, the less likely it is to be reorganised.</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footprints in drying cement: the older, the firmer.</a:t>
            </a:r>
            <a:endParaRPr lang="en-US" sz="1000" dirty="0"/>
          </a:p>
        </p:txBody>
      </p:sp>
      <p:sp>
        <p:nvSpPr>
          <p:cNvPr id="14" name="Shape 12"/>
          <p:cNvSpPr/>
          <p:nvPr/>
        </p:nvSpPr>
        <p:spPr>
          <a:xfrm>
            <a:off x="6041136" y="1280160"/>
            <a:ext cx="2645664" cy="1355141"/>
          </a:xfrm>
          <a:prstGeom prst="roundRect">
            <a:avLst>
              <a:gd name="adj" fmla="val 5398"/>
            </a:avLst>
          </a:prstGeom>
          <a:solidFill>
            <a:srgbClr val="F2ECE1"/>
          </a:solidFill>
          <a:ln w="12700">
            <a:solidFill>
              <a:srgbClr val="DFD6C7"/>
            </a:solidFill>
            <a:prstDash val="solid"/>
          </a:ln>
        </p:spPr>
      </p:sp>
      <p:sp>
        <p:nvSpPr>
          <p:cNvPr id="15" name="Shape 13"/>
          <p:cNvSpPr/>
          <p:nvPr/>
        </p:nvSpPr>
        <p:spPr>
          <a:xfrm>
            <a:off x="6059424" y="1408176"/>
            <a:ext cx="64008" cy="109910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recording external state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transaction can commit to outside data through OP_RETURN or pay to contract.</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notary who stamps a page of someone else's contract.</a:t>
            </a:r>
            <a:endParaRPr lang="en-US" sz="1000" dirty="0"/>
          </a:p>
        </p:txBody>
      </p:sp>
      <p:sp>
        <p:nvSpPr>
          <p:cNvPr id="18" name="Shape 16"/>
          <p:cNvSpPr/>
          <p:nvPr/>
        </p:nvSpPr>
        <p:spPr>
          <a:xfrm>
            <a:off x="457200" y="2763317"/>
            <a:ext cx="2645664" cy="1355141"/>
          </a:xfrm>
          <a:prstGeom prst="roundRect">
            <a:avLst>
              <a:gd name="adj" fmla="val 5398"/>
            </a:avLst>
          </a:prstGeom>
          <a:solidFill>
            <a:srgbClr val="F2ECE1"/>
          </a:solidFill>
          <a:ln w="12700">
            <a:solidFill>
              <a:srgbClr val="DFD6C7"/>
            </a:solidFill>
            <a:prstDash val="solid"/>
          </a:ln>
        </p:spPr>
      </p:sp>
      <p:sp>
        <p:nvSpPr>
          <p:cNvPr id="19" name="Shape 17"/>
          <p:cNvSpPr/>
          <p:nvPr/>
        </p:nvSpPr>
        <p:spPr>
          <a:xfrm>
            <a:off x="475488" y="2891333"/>
            <a:ext cx="64008" cy="1099109"/>
          </a:xfrm>
          <a:prstGeom prst="rect">
            <a:avLst/>
          </a:prstGeom>
          <a:solidFill>
            <a:srgbClr val="D97A14"/>
          </a:solidFill>
          <a:ln w="12700">
            <a:solidFill>
              <a:srgbClr val="D97A14"/>
            </a:solidFill>
            <a:prstDash val="solid"/>
          </a:ln>
        </p:spPr>
      </p:sp>
      <p:sp>
        <p:nvSpPr>
          <p:cNvPr id="20" name="Text 18"/>
          <p:cNvSpPr txBox="1"/>
          <p:nvPr/>
        </p:nvSpPr>
        <p:spPr>
          <a:xfrm>
            <a:off x="640080"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predictable issuance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Fewer than 21 million bitcoin will ever exist, issued at a known rate.</a:t>
            </a:r>
            <a:endParaRPr lang="en-US" sz="1150" dirty="0"/>
          </a:p>
        </p:txBody>
      </p:sp>
      <p:sp>
        <p:nvSpPr>
          <p:cNvPr id="21" name="Text 19"/>
          <p:cNvSpPr txBox="1"/>
          <p:nvPr/>
        </p:nvSpPr>
        <p:spPr>
          <a:xfrm>
            <a:off x="640080" y="355244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mint that follows a published timetable.</a:t>
            </a:r>
            <a:endParaRPr lang="en-US" sz="1000" dirty="0"/>
          </a:p>
        </p:txBody>
      </p:sp>
      <p:sp>
        <p:nvSpPr>
          <p:cNvPr id="22" name="Shape 20"/>
          <p:cNvSpPr/>
          <p:nvPr/>
        </p:nvSpPr>
        <p:spPr>
          <a:xfrm>
            <a:off x="3249168" y="2763317"/>
            <a:ext cx="2645664" cy="1355141"/>
          </a:xfrm>
          <a:prstGeom prst="roundRect">
            <a:avLst>
              <a:gd name="adj" fmla="val 5398"/>
            </a:avLst>
          </a:prstGeom>
          <a:solidFill>
            <a:srgbClr val="F2ECE1"/>
          </a:solidFill>
          <a:ln w="12700">
            <a:solidFill>
              <a:srgbClr val="DFD6C7"/>
            </a:solidFill>
            <a:prstDash val="solid"/>
          </a:ln>
        </p:spPr>
      </p:sp>
      <p:sp>
        <p:nvSpPr>
          <p:cNvPr id="23" name="Shape 21"/>
          <p:cNvSpPr/>
          <p:nvPr/>
        </p:nvSpPr>
        <p:spPr>
          <a:xfrm>
            <a:off x="3267456" y="2891333"/>
            <a:ext cx="64008" cy="1099109"/>
          </a:xfrm>
          <a:prstGeom prst="rect">
            <a:avLst/>
          </a:prstGeom>
          <a:solidFill>
            <a:srgbClr val="D97A14"/>
          </a:solidFill>
          <a:ln w="12700">
            <a:solidFill>
              <a:srgbClr val="D97A14"/>
            </a:solidFill>
            <a:prstDash val="solid"/>
          </a:ln>
        </p:spPr>
      </p:sp>
      <p:sp>
        <p:nvSpPr>
          <p:cNvPr id="24" name="Text 22"/>
          <p:cNvSpPr txBox="1"/>
          <p:nvPr/>
        </p:nvSpPr>
        <p:spPr>
          <a:xfrm>
            <a:off x="3432048"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proof of existence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document's hash in a transaction proves the document existed when that block was mined.</a:t>
            </a:r>
            <a:endParaRPr lang="en-US" sz="1150" dirty="0"/>
          </a:p>
        </p:txBody>
      </p:sp>
      <p:sp>
        <p:nvSpPr>
          <p:cNvPr id="25" name="Text 23"/>
          <p:cNvSpPr txBox="1"/>
          <p:nvPr/>
        </p:nvSpPr>
        <p:spPr>
          <a:xfrm>
            <a:off x="3432048" y="355244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notary's date stamp on a sealed envelope.</a:t>
            </a:r>
            <a:endParaRPr lang="en-US" sz="1000" dirty="0"/>
          </a:p>
        </p:txBody>
      </p:sp>
      <p:sp>
        <p:nvSpPr>
          <p:cNvPr id="26" name="Shape 24"/>
          <p:cNvSpPr/>
          <p:nvPr/>
        </p:nvSpPr>
        <p:spPr>
          <a:xfrm>
            <a:off x="6041136" y="2763317"/>
            <a:ext cx="2645664" cy="1355141"/>
          </a:xfrm>
          <a:prstGeom prst="roundRect">
            <a:avLst>
              <a:gd name="adj" fmla="val 5398"/>
            </a:avLst>
          </a:prstGeom>
          <a:solidFill>
            <a:srgbClr val="F2ECE1"/>
          </a:solidFill>
          <a:ln w="12700">
            <a:solidFill>
              <a:srgbClr val="DFD6C7"/>
            </a:solidFill>
            <a:prstDash val="solid"/>
          </a:ln>
        </p:spPr>
      </p:sp>
      <p:sp>
        <p:nvSpPr>
          <p:cNvPr id="27" name="Shape 25"/>
          <p:cNvSpPr/>
          <p:nvPr/>
        </p:nvSpPr>
        <p:spPr>
          <a:xfrm>
            <a:off x="6059424" y="2891333"/>
            <a:ext cx="64008" cy="1099109"/>
          </a:xfrm>
          <a:prstGeom prst="rect">
            <a:avLst/>
          </a:prstGeom>
          <a:solidFill>
            <a:srgbClr val="D97A14"/>
          </a:solidFill>
          <a:ln w="12700">
            <a:solidFill>
              <a:srgbClr val="D97A14"/>
            </a:solidFill>
            <a:prstDash val="solid"/>
          </a:ln>
        </p:spPr>
      </p:sp>
      <p:sp>
        <p:nvSpPr>
          <p:cNvPr id="28" name="Text 26"/>
          <p:cNvSpPr txBox="1"/>
          <p:nvPr/>
        </p:nvSpPr>
        <p:spPr>
          <a:xfrm>
            <a:off x="6224016" y="282732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Lighthouse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crowdfunding application whose pledges are signed inputs, spendable only when the goal is met.</a:t>
            </a:r>
            <a:endParaRPr lang="en-US" sz="1150" dirty="0"/>
          </a:p>
        </p:txBody>
      </p:sp>
      <p:sp>
        <p:nvSpPr>
          <p:cNvPr id="29" name="Text 27"/>
          <p:cNvSpPr txBox="1"/>
          <p:nvPr/>
        </p:nvSpPr>
        <p:spPr>
          <a:xfrm>
            <a:off x="6224016" y="3552444"/>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street collection that pays out only when the target is reached.</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Lighthouse: a crowdfund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Pledges that move only when the goal is met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'lighthouse'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l[</a:t>
            </a:r>
            <a:r>
              <a:rPr lang="en-US" sz="1000" dirty="0">
                <a:solidFill>
                  <a:srgbClr val="9ECBFF"/>
                </a:solidFill>
                <a:latin typeface="Courier New" pitchFamily="34" charset="0"/>
                <a:ea typeface="Courier New" pitchFamily="34" charset="-122"/>
                <a:cs typeface="Courier New" pitchFamily="34" charset="-120"/>
              </a:rPr>
              <a:t>'pledge_a_sat'</a:t>
            </a:r>
            <a:r>
              <a:rPr lang="en-US" sz="1000" dirty="0">
                <a:solidFill>
                  <a:srgbClr val="E6EDF3"/>
                </a:solidFill>
                <a:latin typeface="Courier New" pitchFamily="34" charset="0"/>
                <a:ea typeface="Courier New" pitchFamily="34" charset="-122"/>
                <a:cs typeface="Courier New" pitchFamily="34" charset="-120"/>
              </a:rPr>
              <a:t>] + l[</a:t>
            </a:r>
            <a:r>
              <a:rPr lang="en-US" sz="1000" dirty="0">
                <a:solidFill>
                  <a:srgbClr val="9ECBFF"/>
                </a:solidFill>
                <a:latin typeface="Courier New" pitchFamily="34" charset="0"/>
                <a:ea typeface="Courier New" pitchFamily="34" charset="-122"/>
                <a:cs typeface="Courier New" pitchFamily="34" charset="-120"/>
              </a:rPr>
              <a:t>'pledge_b_sat'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goal = tot - l[</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 == l[</a:t>
            </a:r>
            <a:r>
              <a:rPr lang="en-US" sz="1000" dirty="0">
                <a:solidFill>
                  <a:srgbClr val="9ECBFF"/>
                </a:solidFill>
                <a:latin typeface="Courier New" pitchFamily="34" charset="0"/>
                <a:ea typeface="Courier New" pitchFamily="34" charset="-122"/>
                <a:cs typeface="Courier New" pitchFamily="34" charset="-120"/>
              </a:rPr>
              <a:t>'goal_sat'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a:t>
            </a:r>
            <a:r>
              <a:rPr lang="en-US" sz="1000" dirty="0">
                <a:solidFill>
                  <a:srgbClr val="9ECBFF"/>
                </a:solidFill>
                <a:latin typeface="Courier New" pitchFamily="34" charset="0"/>
                <a:ea typeface="Courier New" pitchFamily="34" charset="-122"/>
                <a:cs typeface="Courier New" pitchFamily="34" charset="-120"/>
              </a:rPr>
              <a:t>'only_a'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l[</a:t>
            </a:r>
            <a:r>
              <a:rPr lang="en-US" sz="1000" dirty="0">
                <a:solidFill>
                  <a:srgbClr val="9ECBFF"/>
                </a:solidFill>
                <a:latin typeface="Courier New" pitchFamily="34" charset="0"/>
                <a:ea typeface="Courier New" pitchFamily="34" charset="-122"/>
                <a:cs typeface="Courier New" pitchFamily="34" charset="-120"/>
              </a:rPr>
              <a:t>'both'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l[</a:t>
            </a:r>
            <a:r>
              <a:rPr lang="en-US" sz="1000" dirty="0">
                <a:solidFill>
                  <a:srgbClr val="9ECBFF"/>
                </a:solidFill>
                <a:latin typeface="Courier New" pitchFamily="34" charset="0"/>
                <a:ea typeface="Courier New" pitchFamily="34" charset="-122"/>
                <a:cs typeface="Courier New" pitchFamily="34" charset="-120"/>
              </a:rPr>
              <a:t>'a_signed_all_then_b_added'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(goal, both,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pledges, less the fee, make the goal of the fundraiser.</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pledge alone is refused; both pledges together are accepted.</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Changing the output breaks the signatures, and a signature of everything stops a late pledge.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tries at the fundraiser</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Try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Pledges less fee = goal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One pledge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 outputs above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pledges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 changed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 script check failed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Pledge added late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refused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fundraiser can be spent only with all pledges in and the output unchanged.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fix the output, so the money moves only when the goal is reached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Colored coins and seals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colored coin is a banknote stamped with a second meaning.</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Single-use seals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unspent output can be tied to a statement only once, when it is spent.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that breaks when opened.</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 to contract</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key is tweaked so that it commits to a contract nobody else sees.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invisible engraving on a key.</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Client-side validation</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receiver checks the whole history of an asset; the chain holds only commitments.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buyer reading a car's service book.</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Colored coins and seals: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Colored Coins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small amount of bitcoin is marked so that it stands for another asset, such as a share.</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banknote stamped 'this is a stock certificate'.</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Single-Use Seals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data structure that can be tied to another only once; an unspent output does that.</a:t>
            </a:r>
            <a:endParaRPr lang="en-US" sz="1200" dirty="0"/>
          </a:p>
        </p:txBody>
      </p:sp>
      <p:sp>
        <p:nvSpPr>
          <p:cNvPr id="13" name="Text 11"/>
          <p:cNvSpPr txBox="1"/>
          <p:nvPr/>
        </p:nvSpPr>
        <p:spPr>
          <a:xfrm>
            <a:off x="3432048"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tamper seal on a parcel that breaks when opened.</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Pay to Contract (P2C)</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public key is tweaked so that it commits to a contract that nobody else sees.</a:t>
            </a:r>
            <a:endParaRPr lang="en-US" sz="1200" dirty="0"/>
          </a:p>
        </p:txBody>
      </p:sp>
      <p:sp>
        <p:nvSpPr>
          <p:cNvPr id="17" name="Text 15"/>
          <p:cNvSpPr txBox="1"/>
          <p:nvPr/>
        </p:nvSpPr>
        <p:spPr>
          <a:xfrm>
            <a:off x="6224016"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key with an invisible engraving of the agreement.</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Client-Side Validation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receiver checks the whole history of an asset; the chain holds only commitments.</a:t>
            </a:r>
            <a:endParaRPr lang="en-US" sz="1200" dirty="0"/>
          </a:p>
        </p:txBody>
      </p:sp>
      <p:sp>
        <p:nvSpPr>
          <p:cNvPr id="21" name="Text 19"/>
          <p:cNvSpPr txBox="1"/>
          <p:nvPr/>
        </p:nvSpPr>
        <p:spPr>
          <a:xfrm>
            <a:off x="640080"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buyer who reads a car's whole service book.</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89154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RGB</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colored coin protocol made to work with channels, built from seals, contracts and client checks.</a:t>
            </a:r>
            <a:endParaRPr lang="en-US" sz="1200" dirty="0"/>
          </a:p>
        </p:txBody>
      </p:sp>
      <p:sp>
        <p:nvSpPr>
          <p:cNvPr id="25" name="Text 23"/>
          <p:cNvSpPr txBox="1"/>
          <p:nvPr/>
        </p:nvSpPr>
        <p:spPr>
          <a:xfrm>
            <a:off x="3432048" y="3800246"/>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club with its own rules, meeting in a public hall.</a:t>
            </a:r>
            <a:endParaRPr lang="en-US" sz="1050" dirty="0"/>
          </a:p>
        </p:txBody>
      </p:sp>
      <p:sp>
        <p:nvSpPr>
          <p:cNvPr id="26" name="Shape 24"/>
          <p:cNvSpPr/>
          <p:nvPr/>
        </p:nvSpPr>
        <p:spPr>
          <a:xfrm>
            <a:off x="6041136" y="2817266"/>
            <a:ext cx="2645664" cy="1409090"/>
          </a:xfrm>
          <a:prstGeom prst="roundRect">
            <a:avLst>
              <a:gd name="adj" fmla="val 5191"/>
            </a:avLst>
          </a:prstGeom>
          <a:solidFill>
            <a:srgbClr val="F2ECE1"/>
          </a:solidFill>
          <a:ln w="12700">
            <a:solidFill>
              <a:srgbClr val="DFD6C7"/>
            </a:solidFill>
            <a:prstDash val="solid"/>
          </a:ln>
        </p:spPr>
      </p:sp>
      <p:sp>
        <p:nvSpPr>
          <p:cNvPr id="27" name="Shape 25"/>
          <p:cNvSpPr/>
          <p:nvPr/>
        </p:nvSpPr>
        <p:spPr>
          <a:xfrm>
            <a:off x="6059424" y="2945282"/>
            <a:ext cx="64008" cy="1153058"/>
          </a:xfrm>
          <a:prstGeom prst="rect">
            <a:avLst/>
          </a:prstGeom>
          <a:solidFill>
            <a:srgbClr val="D97A14"/>
          </a:solidFill>
          <a:ln w="12700">
            <a:solidFill>
              <a:srgbClr val="D97A14"/>
            </a:solidFill>
            <a:prstDash val="solid"/>
          </a:ln>
        </p:spPr>
      </p:sp>
      <p:sp>
        <p:nvSpPr>
          <p:cNvPr id="28" name="Text 26"/>
          <p:cNvSpPr txBox="1"/>
          <p:nvPr/>
        </p:nvSpPr>
        <p:spPr>
          <a:xfrm>
            <a:off x="6224016"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Taproot Assets</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colored coin protocol, once called Taro, built around taproot-style contracts.</a:t>
            </a:r>
            <a:endParaRPr lang="en-US" sz="1200" dirty="0"/>
          </a:p>
        </p:txBody>
      </p:sp>
      <p:sp>
        <p:nvSpPr>
          <p:cNvPr id="29" name="Text 27"/>
          <p:cNvSpPr txBox="1"/>
          <p:nvPr/>
        </p:nvSpPr>
        <p:spPr>
          <a:xfrm>
            <a:off x="6224016"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foreign banknotes carried on the same railway.</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Client-side validation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token history that the chain never shows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'client_side_validation'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len(c[</a:t>
            </a:r>
            <a:r>
              <a:rPr lang="en-US" sz="1000" dirty="0">
                <a:solidFill>
                  <a:srgbClr val="9ECBFF"/>
                </a:solidFill>
                <a:latin typeface="Courier New" pitchFamily="34" charset="0"/>
                <a:ea typeface="Courier New" pitchFamily="34" charset="-122"/>
                <a:cs typeface="Courier New" pitchFamily="34" charset="-120"/>
              </a:rPr>
              <a:t>'tx_ids'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outs = len({h[</a:t>
            </a:r>
            <a:r>
              <a:rPr lang="en-US" sz="1000" dirty="0">
                <a:solidFill>
                  <a:srgbClr val="9ECBFF"/>
                </a:solidFill>
                <a:latin typeface="Courier New" pitchFamily="34" charset="0"/>
                <a:ea typeface="Courier New" pitchFamily="34" charset="-122"/>
                <a:cs typeface="Courier New" pitchFamily="34" charset="-120"/>
              </a:rPr>
              <a:t>'outpoint'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'history'</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all(c[</a:t>
            </a:r>
            <a:r>
              <a:rPr lang="en-US" sz="1000" dirty="0">
                <a:solidFill>
                  <a:srgbClr val="9ECBFF"/>
                </a:solidFill>
                <a:latin typeface="Courier New" pitchFamily="34" charset="0"/>
                <a:ea typeface="Courier New" pitchFamily="34" charset="-122"/>
                <a:cs typeface="Courier New" pitchFamily="34" charset="-120"/>
              </a:rPr>
              <a:t>'commitments_match'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fake = c[</a:t>
            </a:r>
            <a:r>
              <a:rPr lang="en-US" sz="1000" dirty="0">
                <a:solidFill>
                  <a:srgbClr val="9ECBFF"/>
                </a:solidFill>
                <a:latin typeface="Courier New" pitchFamily="34" charset="0"/>
                <a:ea typeface="Courier New" pitchFamily="34" charset="-122"/>
                <a:cs typeface="Courier New" pitchFamily="34" charset="-120"/>
              </a:rPr>
              <a:t>'forged_contract_matches'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hidden = </a:t>
            </a:r>
            <a:r>
              <a:rPr lang="en-US" sz="1000" b="1" dirty="0">
                <a:solidFill>
                  <a:srgbClr val="F2A860"/>
                </a:solidFill>
                <a:latin typeface="Courier New" pitchFamily="34" charset="0"/>
                <a:ea typeface="Courier New" pitchFamily="34" charset="-122"/>
                <a:cs typeface="Courier New" pitchFamily="34" charset="-120"/>
              </a:rPr>
              <a:t>not</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'tokens_visible_in_chain'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outs, ok, fake, hidden)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3, True,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history of ACME tokens names two transactions and three outputs.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step commits to its contract; a forged contract does not match.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nothing in the chain shows that any token exists.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history of the ACME tokens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Observation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Transactions in the history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Outputs it names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Every commitment matches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Forged contract matches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Tokens visible in the chain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chain shows ordinary outputs only. The receiver must read the history to know what they mean.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holds a commitment, and the receiver checks the history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Colored coins and seals: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native forwarding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hop on a Lightning path must know the asset and hold a balance of it.</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relay in which every courier handles the special parcel.</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translated forwarding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Only the first and last hops know the asset, and the hops between forward plain bitcoin.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exchange booths at both ends of a bridge, plain coins in the middle.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contract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tweaked key that commits to a contract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'c2'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'p2c'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p[</a:t>
            </a:r>
            <a:r>
              <a:rPr lang="en-US" sz="1000" dirty="0">
                <a:solidFill>
                  <a:srgbClr val="9ECBFF"/>
                </a:solidFill>
                <a:latin typeface="Courier New" pitchFamily="34" charset="0"/>
                <a:ea typeface="Courier New" pitchFamily="34" charset="-122"/>
                <a:cs typeface="Courier New" pitchFamily="34" charset="-120"/>
              </a:rPr>
              <a:t>'same_as_plain_p2wpkh'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good = p[</a:t>
            </a:r>
            <a:r>
              <a:rPr lang="en-US" sz="1000" dirty="0">
                <a:solidFill>
                  <a:srgbClr val="9ECBFF"/>
                </a:solidFill>
                <a:latin typeface="Courier New" pitchFamily="34" charset="0"/>
                <a:ea typeface="Courier New" pitchFamily="34" charset="-122"/>
                <a:cs typeface="Courier New" pitchFamily="34" charset="-120"/>
              </a:rPr>
              <a:t>'reveal_check'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p[</a:t>
            </a:r>
            <a:r>
              <a:rPr lang="en-US" sz="1000" dirty="0">
                <a:solidFill>
                  <a:srgbClr val="9ECBFF"/>
                </a:solidFill>
                <a:latin typeface="Courier New" pitchFamily="34" charset="0"/>
                <a:ea typeface="Courier New" pitchFamily="34" charset="-122"/>
                <a:cs typeface="Courier New" pitchFamily="34" charset="-120"/>
              </a:rPr>
              <a:t>'reveal_wrong_contract'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plain = p[</a:t>
            </a:r>
            <a:r>
              <a:rPr lang="en-US" sz="1000" dirty="0">
                <a:solidFill>
                  <a:srgbClr val="9ECBFF"/>
                </a:solidFill>
                <a:latin typeface="Courier New" pitchFamily="34" charset="0"/>
                <a:ea typeface="Courier New" pitchFamily="34" charset="-122"/>
                <a:cs typeface="Courier New" pitchFamily="34" charset="-120"/>
              </a:rPr>
              <a:t>'spend_with_plain_key'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tweaked = p[</a:t>
            </a:r>
            <a:r>
              <a:rPr lang="en-US" sz="1000" dirty="0">
                <a:solidFill>
                  <a:srgbClr val="9ECBFF"/>
                </a:solidFill>
                <a:latin typeface="Courier New" pitchFamily="34" charset="0"/>
                <a:ea typeface="Courier New" pitchFamily="34" charset="-122"/>
                <a:cs typeface="Courier New" pitchFamily="34" charset="-120"/>
              </a:rPr>
              <a:t>'spend_with_tweaked_key'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(good, wrong, plain, tweaked)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 tweaked by a contract gives another address than the plain key.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Revealing the contract and the tweak proves the commitment; a wrong contract fails.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tweaked key can spend the output; the plain key cannot.</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key tweaked by a contract</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Address equals the plain key's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Reveal with the contract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Reveal with a wrong contract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with the plain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with the tweaked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Contract length,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reveal proves the commitment only for the real contract, and only the tweaked key spends.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holder of the contract can reveal the commitment and spend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47</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Payment channels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payment channel is a bar tab: many small orders, one bill at closing time.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Funding and settling</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transactions on the chain, and any number of signed updates between them.</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opening and closing a bar tab.</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Revocable commitments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Each side's payout is delayed, and an old state can be punished with a revocation key.</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contract that forfeits the safe to a cheat.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time locks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claims the payment before a deadline; after it the payer takes the money back.</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locker with a code and a return date.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Payment Channels and State Channels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Two parties exchange signed transactions off the chain and settle on it later.</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bar tab that is paid once, at closing time.</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State Channels - Basic Concepts and Terminology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funding transaction opens the channel, commitments change it, and a settlement closes it.</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opening, using and paying a hotel bill.</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Simple Payment Channel Example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Emma pays Fabian for each second of video, and a signed refund protects her.</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taxi meter that counts up while you ride.</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Making Trustless Channels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Signed refunds and lock times let each side leave safely without trusting the other.</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deposit with a clause that returns it by a set date.</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Asymmetric Revocable Commitments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Each side holds a commitment that delays its own payout and can be punished once it is old.</a:t>
            </a:r>
            <a:endParaRPr lang="en-US" sz="1150" dirty="0"/>
          </a:p>
        </p:txBody>
      </p:sp>
      <p:sp>
        <p:nvSpPr>
          <p:cNvPr id="25" name="Text 23"/>
          <p:cNvSpPr txBox="1"/>
          <p:nvPr/>
        </p:nvSpPr>
        <p:spPr>
          <a:xfrm>
            <a:off x="3432048"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contract that hands the safe to the other party if you cheat.</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Hash Time Lock Contracts (HTLC)</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secret can claim the payment before a deadline, and the payer can reclaim it after.</a:t>
            </a:r>
            <a:endParaRPr lang="en-US" sz="1150" dirty="0"/>
          </a:p>
        </p:txBody>
      </p:sp>
      <p:sp>
        <p:nvSpPr>
          <p:cNvPr id="29" name="Text 27"/>
          <p:cNvSpPr txBox="1"/>
          <p:nvPr/>
        </p:nvSpPr>
        <p:spPr>
          <a:xfrm>
            <a:off x="6224016"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locker opened by a code today, reclaimed by its owner tomorrow.</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47</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Emma and Fabian's channel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two-of-two output funded by Emma</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'c3'</a:t>
            </a:r>
            <a:r>
              <a:rPr lang="en-US" sz="1000" dirty="0">
                <a:solidFill>
                  <a:srgbClr val="E6EDF3"/>
                </a:solidFill>
                <a:latin typeface="Courier New" pitchFamily="34" charset="0"/>
                <a:ea typeface="Courier New" pitchFamily="34" charset="-122"/>
                <a:cs typeface="Courier New" pitchFamily="34" charset="-120"/>
              </a:rPr>
              <a:t>]; k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cap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cap == k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 c[</a:t>
            </a:r>
            <a:r>
              <a:rPr lang="en-US" sz="1000" dirty="0">
                <a:solidFill>
                  <a:srgbClr val="9ECBFF"/>
                </a:solidFill>
                <a:latin typeface="Courier New" pitchFamily="34" charset="0"/>
                <a:ea typeface="Courier New" pitchFamily="34" charset="-122"/>
                <a:cs typeface="Courier New" pitchFamily="34" charset="-120"/>
              </a:rPr>
              <a:t>'capacity_sat'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c[</a:t>
            </a:r>
            <a:r>
              <a:rPr lang="en-US" sz="1000" dirty="0">
                <a:solidFill>
                  <a:srgbClr val="9ECBFF"/>
                </a:solidFill>
                <a:latin typeface="Courier New" pitchFamily="34" charset="0"/>
                <a:ea typeface="Courier New" pitchFamily="34" charset="-122"/>
                <a:cs typeface="Courier New" pitchFamily="34" charset="-120"/>
              </a:rPr>
              <a:t>'emma_alone'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c[</a:t>
            </a:r>
            <a:r>
              <a:rPr lang="en-US" sz="1000" dirty="0">
                <a:solidFill>
                  <a:srgbClr val="9ECBFF"/>
                </a:solidFill>
                <a:latin typeface="Courier New" pitchFamily="34" charset="0"/>
                <a:ea typeface="Courier New" pitchFamily="34" charset="-122"/>
                <a:cs typeface="Courier New" pitchFamily="34" charset="-120"/>
              </a:rPr>
              <a:t>'both_sign'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c[</a:t>
            </a:r>
            <a:r>
              <a:rPr lang="en-US" sz="1000" dirty="0">
                <a:solidFill>
                  <a:srgbClr val="9ECBFF"/>
                </a:solidFill>
                <a:latin typeface="Courier New" pitchFamily="34" charset="0"/>
                <a:ea typeface="Courier New" pitchFamily="34" charset="-122"/>
                <a:cs typeface="Courier New" pitchFamily="34" charset="-120"/>
              </a:rPr>
              <a:t>'witness_script_hex'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'witness_script_len'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('52', '52ae', 71)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Emma funds one hour of video at 1,000 satoshis a second: 3,600,000 satoshis.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Spending the funding output needs both signatures; Emma alone is refused.</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starts with 2 and ends with 2 and CHECKMULTISIG: two of two.</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funding output of the channel</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Channel funded,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3,600,000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Equals 1,000 x 3,600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Emma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script check failed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sign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starts and ends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52 ... 52ae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 size,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71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Opcode 52 is OP_2 and ae is CHECKMULTISIG: two keys must sign, so Emma cannot run off with the funds.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funding output needs both keys, so neither side can spend alone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payment channels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Channels began as a replaced transaction waiting for its lock time</a:t>
            </a:r>
            <a:endParaRPr lang="en-US" sz="1300" dirty="0"/>
          </a:p>
        </p:txBody>
      </p:sp>
      <p:pic>
        <p:nvPicPr>
          <p:cNvPr id="6" name="Image 0" descr="../../03-materials/ch14/assets/micropayment_channel_construction.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Micropayment channel - Burchert, Decker, Wattenhofer, CC BY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Hearn posted Anti DoS for tx replacement on 17 April 2013, and Jeremy Spillman answered on 20 April with a one-way channel design.</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first Bitcoin code already let an unrecorded open transaction be replaced until its lock time, and the channel idea grew from that.</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payer signs larger and larger payments while a refund waits behind a lock time; Hearn and Matt Corallo announced bitcoinj code on 27 June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Such channels were safe only with segwit transactions, so Emma's refund is signed before the funding is sent.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a later authors' channel diagram</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who posted A…</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bitcoin-developmen…</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Reply: Anti DoS for tx replacement (list post)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47</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payment channel</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Two parties keep a running balance of signed transactions that they do not publish.</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running tab between two friends.</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state channel</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general form: any shared state is changed off the chain and secured by a final settlement.</a:t>
            </a:r>
            <a:endParaRPr lang="en-US" sz="1200" dirty="0"/>
          </a:p>
        </p:txBody>
      </p:sp>
      <p:sp>
        <p:nvSpPr>
          <p:cNvPr id="13" name="Text 11"/>
          <p:cNvSpPr txBox="1"/>
          <p:nvPr/>
        </p:nvSpPr>
        <p:spPr>
          <a:xfrm>
            <a:off x="3432048"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score sheet that both players sign after every point.</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funding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one transaction that locks the shared funds in a two-of-two output and opens the channel.</a:t>
            </a:r>
            <a:endParaRPr lang="en-US" sz="1200" dirty="0"/>
          </a:p>
        </p:txBody>
      </p:sp>
      <p:sp>
        <p:nvSpPr>
          <p:cNvPr id="17" name="Text 15"/>
          <p:cNvSpPr txBox="1"/>
          <p:nvPr/>
        </p:nvSpPr>
        <p:spPr>
          <a:xfrm>
            <a:off x="6224016"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deposit paid into a joint account.</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commitment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signed transaction that could be published but is held back and replaced by newer ones.</a:t>
            </a:r>
            <a:endParaRPr lang="en-US" sz="1200" dirty="0"/>
          </a:p>
        </p:txBody>
      </p:sp>
      <p:sp>
        <p:nvSpPr>
          <p:cNvPr id="21" name="Text 19"/>
          <p:cNvSpPr txBox="1"/>
          <p:nvPr/>
        </p:nvSpPr>
        <p:spPr>
          <a:xfrm>
            <a:off x="640080"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cheque kept in a drawer and replaced by a newer one.</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settlement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final transaction that closes the channel and pays each side its share.</a:t>
            </a:r>
            <a:endParaRPr lang="en-US" sz="1200" dirty="0"/>
          </a:p>
        </p:txBody>
      </p:sp>
      <p:sp>
        <p:nvSpPr>
          <p:cNvPr id="25" name="Text 23"/>
          <p:cNvSpPr txBox="1"/>
          <p:nvPr/>
        </p:nvSpPr>
        <p:spPr>
          <a:xfrm>
            <a:off x="3432048"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final bill at checkout.</a:t>
            </a:r>
            <a:endParaRPr lang="en-US" sz="1050" dirty="0"/>
          </a:p>
        </p:txBody>
      </p:sp>
      <p:sp>
        <p:nvSpPr>
          <p:cNvPr id="26" name="Shape 24"/>
          <p:cNvSpPr/>
          <p:nvPr/>
        </p:nvSpPr>
        <p:spPr>
          <a:xfrm>
            <a:off x="6041136" y="2817266"/>
            <a:ext cx="2645664" cy="1409090"/>
          </a:xfrm>
          <a:prstGeom prst="roundRect">
            <a:avLst>
              <a:gd name="adj" fmla="val 5191"/>
            </a:avLst>
          </a:prstGeom>
          <a:solidFill>
            <a:srgbClr val="F2ECE1"/>
          </a:solidFill>
          <a:ln w="12700">
            <a:solidFill>
              <a:srgbClr val="DFD6C7"/>
            </a:solidFill>
            <a:prstDash val="solid"/>
          </a:ln>
        </p:spPr>
      </p:sp>
      <p:sp>
        <p:nvSpPr>
          <p:cNvPr id="27" name="Shape 25"/>
          <p:cNvSpPr/>
          <p:nvPr/>
        </p:nvSpPr>
        <p:spPr>
          <a:xfrm>
            <a:off x="6059424" y="2945282"/>
            <a:ext cx="64008" cy="1153058"/>
          </a:xfrm>
          <a:prstGeom prst="rect">
            <a:avLst/>
          </a:prstGeom>
          <a:solidFill>
            <a:srgbClr val="D97A14"/>
          </a:solidFill>
          <a:ln w="12700">
            <a:solidFill>
              <a:srgbClr val="D97A14"/>
            </a:solidFill>
            <a:prstDash val="solid"/>
          </a:ln>
        </p:spPr>
      </p:sp>
      <p:sp>
        <p:nvSpPr>
          <p:cNvPr id="28" name="Text 26"/>
          <p:cNvSpPr txBox="1"/>
          <p:nvPr/>
        </p:nvSpPr>
        <p:spPr>
          <a:xfrm>
            <a:off x="6224016"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refund transaction</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signed, time-locked transaction that returns the funds if the channel never starts.</a:t>
            </a:r>
            <a:endParaRPr lang="en-US" sz="1200" dirty="0"/>
          </a:p>
        </p:txBody>
      </p:sp>
      <p:sp>
        <p:nvSpPr>
          <p:cNvPr id="29" name="Text 27"/>
          <p:cNvSpPr txBox="1"/>
          <p:nvPr/>
        </p:nvSpPr>
        <p:spPr>
          <a:xfrm>
            <a:off x="6224016"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the return ticket bought before the journey.</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47</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Refunds with falling lock times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signed refunds; the newest becomes valid first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 c[</a:t>
            </a:r>
            <a:r>
              <a:rPr lang="en-US" sz="1000" dirty="0">
                <a:solidFill>
                  <a:srgbClr val="9ECBFF"/>
                </a:solidFill>
                <a:latin typeface="Courier New" pitchFamily="34" charset="0"/>
                <a:ea typeface="Courier New" pitchFamily="34" charset="-122"/>
                <a:cs typeface="Courier New" pitchFamily="34" charset="-120"/>
              </a:rPr>
              <a:t>'locktimes'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c[</a:t>
            </a:r>
            <a:r>
              <a:rPr lang="en-US" sz="1000" dirty="0">
                <a:solidFill>
                  <a:srgbClr val="9ECBFF"/>
                </a:solidFill>
                <a:latin typeface="Courier New" pitchFamily="34" charset="0"/>
                <a:ea typeface="Courier New" pitchFamily="34" charset="-122"/>
                <a:cs typeface="Courier New" pitchFamily="34" charset="-120"/>
              </a:rPr>
              <a:t>'at_start'</a:t>
            </a:r>
            <a:r>
              <a:rPr lang="en-US" sz="1000" dirty="0">
                <a:solidFill>
                  <a:srgbClr val="E6EDF3"/>
                </a:solidFill>
                <a:latin typeface="Courier New" pitchFamily="34" charset="0"/>
                <a:ea typeface="Courier New" pitchFamily="34" charset="-122"/>
                <a:cs typeface="Courier New" pitchFamily="34" charset="-120"/>
              </a:rPr>
              <a:t>].count(</a:t>
            </a:r>
            <a:r>
              <a:rPr lang="en-US" sz="1000" dirty="0">
                <a:solidFill>
                  <a:srgbClr val="9ECBFF"/>
                </a:solidFill>
                <a:latin typeface="Courier New" pitchFamily="34" charset="0"/>
                <a:ea typeface="Courier New" pitchFamily="34" charset="-122"/>
                <a:cs typeface="Courier New" pitchFamily="34" charset="-120"/>
              </a:rPr>
              <a:t>'non-final'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c[</a:t>
            </a:r>
            <a:r>
              <a:rPr lang="en-US" sz="1000" dirty="0">
                <a:solidFill>
                  <a:srgbClr val="9ECBFF"/>
                </a:solidFill>
                <a:latin typeface="Courier New" pitchFamily="34" charset="0"/>
                <a:ea typeface="Courier New" pitchFamily="34" charset="-122"/>
                <a:cs typeface="Courier New" pitchFamily="34" charset="-120"/>
              </a:rPr>
              <a:t>'tip_l_minus_6'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c[</a:t>
            </a:r>
            <a:r>
              <a:rPr lang="en-US" sz="1000" dirty="0">
                <a:solidFill>
                  <a:srgbClr val="9ECBFF"/>
                </a:solidFill>
                <a:latin typeface="Courier New" pitchFamily="34" charset="0"/>
                <a:ea typeface="Courier New" pitchFamily="34" charset="-122"/>
                <a:cs typeface="Courier New" pitchFamily="34" charset="-120"/>
              </a:rPr>
              <a:t>'tip_l_minus_5'</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stuck, early,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([488, 487, 486, 485, 484, 483], 6, 'non-final',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refunds were signed, each with a lower lock time than the one before.</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the start every one of them is refused as not yet final.</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newest refund is refused six blocks early and accepted five blocks before.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six refunds signed before funding</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22960"/>
                <a:gridCol w="868680"/>
                <a:gridCol w="12801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Refund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Lock 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the start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483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Six blocks early the newest refund is not yet final; five blocks early it is accepted.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newest refund has the lowest lock time, so it can be used first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47</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Payment channels: key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Spillman-style payment channel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one-way channel of 2013: ever larger signed payments, and a refund behind a lock time.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prepaid card that only goes down, with a refund date.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revocation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 of two secret halves that lets the wronged side take the whole channel after a cheat.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to the cheater's safe, held by the victim.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asymmetric commitment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commitments differ: the holder's own payout waits, the other side is paid at once.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where only the signer has to wait.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preimage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secret that hashes to the value in an HTLC; whoever knows it can claim the payment.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original text behind a published fingerprint.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47</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Balances move, capacity stays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channel of 100 units after three payments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 = [(</a:t>
            </a:r>
            <a:r>
              <a:rPr lang="en-US" sz="1000" dirty="0">
                <a:solidFill>
                  <a:srgbClr val="9ECBFF"/>
                </a:solidFill>
                <a:latin typeface="Courier New" pitchFamily="34" charset="0"/>
                <a:ea typeface="Courier New" pitchFamily="34" charset="-122"/>
                <a:cs typeface="Courier New" pitchFamily="34" charset="-120"/>
              </a:rPr>
              <a:t>'ab'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hist = L.channel_balances(</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mv)</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hist}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hist]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tot)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 70, 20, 40], {100})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of 100 units starts with everything on Alice's side.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move shifts value between the two sides; their sum never changes.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left column is Alice's balance after each step, and the sum stays at 100.</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Alice's balance after each payment</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Bob holds the rest each time. The two balances always add up to 100.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two balances always add up to the capacity of the channel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 the chain, or off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channel is cheap and fast, and what it still needs from the chain</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On the chain</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funding transaction opens the channel.</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settlement closes it for good.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deposit and the final bill.</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Off the chain</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Signed commitments change the balances.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No one else sees them, and fees are small.</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running tab in between.</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transactions on the chain, and any number of updates between them</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commitment that can be punished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delayed output of a commitment transaction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'c4'</a:t>
            </a:r>
            <a:r>
              <a:rPr lang="en-US" sz="1000" dirty="0">
                <a:solidFill>
                  <a:srgbClr val="E6EDF3"/>
                </a:solidFill>
                <a:latin typeface="Courier New" pitchFamily="34" charset="0"/>
                <a:ea typeface="Courier New" pitchFamily="34" charset="-122"/>
                <a:cs typeface="Courier New" pitchFamily="34" charset="-120"/>
              </a:rPr>
              <a:t>]; a = c[</a:t>
            </a:r>
            <a:r>
              <a:rPr lang="en-US" sz="1000" dirty="0">
                <a:solidFill>
                  <a:srgbClr val="9ECBFF"/>
                </a:solidFill>
                <a:latin typeface="Courier New" pitchFamily="34" charset="0"/>
                <a:ea typeface="Courier New" pitchFamily="34" charset="-122"/>
                <a:cs typeface="Courier New" pitchFamily="34" charset="-120"/>
              </a:rPr>
              <a:t>'to_local_script_asm'</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c[</a:t>
            </a:r>
            <a:r>
              <a:rPr lang="en-US" sz="1000" dirty="0">
                <a:solidFill>
                  <a:srgbClr val="9ECBFF"/>
                </a:solidFill>
                <a:latin typeface="Courier New" pitchFamily="34" charset="0"/>
                <a:ea typeface="Courier New" pitchFamily="34" charset="-122"/>
                <a:cs typeface="Courier New" pitchFamily="34" charset="-120"/>
              </a:rPr>
              <a:t>'delay_at_999_confirmations'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c[</a:t>
            </a:r>
            <a:r>
              <a:rPr lang="en-US" sz="1000" dirty="0">
                <a:solidFill>
                  <a:srgbClr val="9ECBFF"/>
                </a:solidFill>
                <a:latin typeface="Courier New" pitchFamily="34" charset="0"/>
                <a:ea typeface="Courier New" pitchFamily="34" charset="-122"/>
                <a:cs typeface="Courier New" pitchFamily="34" charset="-120"/>
              </a:rPr>
              <a:t>'delay_at_1000_confirmations'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one = c[</a:t>
            </a:r>
            <a:r>
              <a:rPr lang="en-US" sz="1000" dirty="0">
                <a:solidFill>
                  <a:srgbClr val="9ECBFF"/>
                </a:solidFill>
                <a:latin typeface="Courier New" pitchFamily="34" charset="0"/>
                <a:ea typeface="Courier New" pitchFamily="34" charset="-122"/>
                <a:cs typeface="Courier New" pitchFamily="34" charset="-120"/>
              </a:rPr>
              <a:t>'revoke_with_one_half'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c[</a:t>
            </a:r>
            <a:r>
              <a:rPr lang="en-US" sz="1000" dirty="0">
                <a:solidFill>
                  <a:srgbClr val="9ECBFF"/>
                </a:solidFill>
                <a:latin typeface="Courier New" pitchFamily="34" charset="0"/>
                <a:ea typeface="Courier New" pitchFamily="34" charset="-122"/>
                <a:cs typeface="Courier New" pitchFamily="34" charset="-120"/>
              </a:rPr>
              <a:t>'revoke_with_both_halves'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early, ok, one, both)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 'non-BIP68-final', True,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delayed output is an IF branch: revocation key, or a wait.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delayed spend fails at 999 confirmations, passes at 1,000.</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Revocation needs both halves of the key; one half fails.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delayed output of a commitment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Allowed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Delay written in the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1000 blocks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at 999 confirmations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wait not over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Spend at 1,000 confirmations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Revoke with one half</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Revoke with both halves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cheater must wait 1000 blocks, while the victim holding both halves can take the output at once.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cheater waits a thousand blocks, and the victim can act before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47</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HTLC: a secret or the clock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Who can claim a hash time lock contract, and when</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'c5'</a:t>
            </a:r>
            <a:r>
              <a:rPr lang="en-US" sz="1000" dirty="0">
                <a:solidFill>
                  <a:srgbClr val="E6EDF3"/>
                </a:solidFill>
                <a:latin typeface="Courier New" pitchFamily="34" charset="0"/>
                <a:ea typeface="Courier New" pitchFamily="34" charset="-122"/>
                <a:cs typeface="Courier New" pitchFamily="34" charset="-120"/>
              </a:rPr>
              <a:t>]; a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k: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yes = a(</a:t>
            </a:r>
            <a:r>
              <a:rPr lang="en-US" sz="1000" dirty="0">
                <a:solidFill>
                  <a:srgbClr val="9ECBFF"/>
                </a:solidFill>
                <a:latin typeface="Courier New" pitchFamily="34" charset="0"/>
                <a:ea typeface="Courier New" pitchFamily="34" charset="-122"/>
                <a:cs typeface="Courier New" pitchFamily="34" charset="-120"/>
              </a:rPr>
              <a:t>'claim_with_secret'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a(</a:t>
            </a:r>
            <a:r>
              <a:rPr lang="en-US" sz="1000" dirty="0">
                <a:solidFill>
                  <a:srgbClr val="9ECBFF"/>
                </a:solidFill>
                <a:latin typeface="Courier New" pitchFamily="34" charset="0"/>
                <a:ea typeface="Courier New" pitchFamily="34" charset="-122"/>
                <a:cs typeface="Courier New" pitchFamily="34" charset="-120"/>
              </a:rPr>
              <a:t>'claim_with_secret_but_payer_key'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52557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a(</a:t>
            </a:r>
            <a:r>
              <a:rPr lang="en-US" sz="1000" dirty="0">
                <a:solidFill>
                  <a:srgbClr val="9ECBFF"/>
                </a:solidFill>
                <a:latin typeface="Courier New" pitchFamily="34" charset="0"/>
                <a:ea typeface="Courier New" pitchFamily="34" charset="-122"/>
                <a:cs typeface="Courier New" pitchFamily="34" charset="-120"/>
              </a:rPr>
              <a:t>'refund_at_tip_lock'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h[</a:t>
            </a:r>
            <a:r>
              <a:rPr lang="en-US" sz="1000" dirty="0">
                <a:solidFill>
                  <a:srgbClr val="9ECBFF"/>
                </a:solidFill>
                <a:latin typeface="Courier New" pitchFamily="34" charset="0"/>
                <a:ea typeface="Courier New" pitchFamily="34" charset="-122"/>
                <a:cs typeface="Courier New" pitchFamily="34" charset="-120"/>
              </a:rPr>
              <a:t>'lock_height'</a:t>
            </a:r>
            <a:r>
              <a:rPr lang="en-US" sz="1000" dirty="0">
                <a:solidFill>
                  <a:srgbClr val="E6EDF3"/>
                </a:solidFill>
                <a:latin typeface="Courier New" pitchFamily="34" charset="0"/>
                <a:ea typeface="Courier New" pitchFamily="34" charset="-122"/>
                <a:cs typeface="Courier New" pitchFamily="34" charset="-120"/>
              </a:rPr>
              <a:t>] - h[</a:t>
            </a:r>
            <a:r>
              <a:rPr lang="en-US" sz="1000" dirty="0">
                <a:solidFill>
                  <a:srgbClr val="9ECBFF"/>
                </a:solidFill>
                <a:latin typeface="Courier New" pitchFamily="34" charset="0"/>
                <a:ea typeface="Courier New" pitchFamily="34" charset="-122"/>
                <a:cs typeface="Courier New" pitchFamily="34" charset="-120"/>
              </a:rPr>
              <a:t>'height_at_funding'</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41345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48660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(yes, key, late, gap)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19)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right secret and the receiver's key claim the output; the payer's key does not.</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refund works only at the lock height, nineteen blocks after funding.</a:t>
            </a:r>
            <a:endParaRPr lang="en-US" sz="1050" dirty="0"/>
          </a:p>
        </p:txBody>
      </p:sp>
      <p:sp>
        <p:nvSpPr>
          <p:cNvPr id="18" name="Shape 16"/>
          <p:cNvSpPr/>
          <p:nvPr/>
        </p:nvSpPr>
        <p:spPr>
          <a:xfrm>
            <a:off x="365760" y="334030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34030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secret fails the hash check, whoever signs.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claim the HTLC</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Claim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Allowed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and receiver's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and payer's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Wrong secret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hash differs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before the 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not yet 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Refund at the lock height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Blocks from funding to 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secret opens it for the receiver. The clock opens it for the payer, but only at the lock height.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secret claims the payment; after the lock height the payer takes it back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Lightning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Lightning is a chain of couriers who pass a parcel on and each keep a small fee.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Routing and fees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payment crosses several channels, and each relay keeps a small fee.</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parcel couriers who each take a fee.</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Onion routing</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sender wraps the path in layers, and each relay peels exactly one.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pass-the-parcel at a party.</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Invoices and BOLTs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payee's invoice names an amount and a hash; the BOLTs are the shared standards.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and the plug standards.</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965960"/>
                <a:gridCol w="1965960"/>
                <a:gridCol w="1965960"/>
                <a:gridCol w="196596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Guarantees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Colored coins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Lightning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Routed Payment Channels (Lightning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Many channels linked end to end, so that anyone can pay anyone through intermediaries.</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chain of couriers who pass a parcel hand to hand.</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Basic Lightning Network Example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Alice pays Eric one bitcoin through Bob, Carol and Diana, who each keep a small fee.</a:t>
            </a:r>
            <a:endParaRPr lang="en-US" sz="1150" dirty="0"/>
          </a:p>
        </p:txBody>
      </p:sp>
      <p:sp>
        <p:nvSpPr>
          <p:cNvPr id="13" name="Text 11"/>
          <p:cNvSpPr txBox="1"/>
          <p:nvPr/>
        </p:nvSpPr>
        <p:spPr>
          <a:xfrm>
            <a:off x="3432048"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parcel relays where each courier takes a fee.</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 Transport and Pathfinding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Nodes talk over encrypted links, share channel news by flooding, and the sender plans the path.</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driver who plans a route from a shared road map.</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 Benefits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Privacy, fungibility, speed, granularity, capacity and trustless operation.</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express lanes beside an old toll road.</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Lightning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network of payment channels that routes payments with hash time locks and onion packets.</a:t>
            </a:r>
            <a:endParaRPr lang="en-US" sz="1150" dirty="0"/>
          </a:p>
        </p:txBody>
      </p:sp>
      <p:sp>
        <p:nvSpPr>
          <p:cNvPr id="25" name="Text 23"/>
          <p:cNvSpPr txBox="1"/>
          <p:nvPr/>
        </p:nvSpPr>
        <p:spPr>
          <a:xfrm>
            <a:off x="3432048"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pneumatic tubes in an office building.</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route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chain of channels from payer to payee that a payment will follow.</a:t>
            </a:r>
            <a:endParaRPr lang="en-US" sz="1150" dirty="0"/>
          </a:p>
        </p:txBody>
      </p:sp>
      <p:sp>
        <p:nvSpPr>
          <p:cNvPr id="29" name="Text 27"/>
          <p:cNvSpPr txBox="1"/>
          <p:nvPr/>
        </p:nvSpPr>
        <p:spPr>
          <a:xfrm>
            <a:off x="6224016" y="3575304"/>
            <a:ext cx="2371344" cy="191110"/>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stops of a bus line.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Five nodes, one payment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 pays one bitcoin to Eric through three relays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[x[</a:t>
            </a:r>
            <a:r>
              <a:rPr lang="en-US" sz="1000" dirty="0">
                <a:solidFill>
                  <a:srgbClr val="9ECBFF"/>
                </a:solidFill>
                <a:latin typeface="Courier New" pitchFamily="34" charset="0"/>
                <a:ea typeface="Courier New" pitchFamily="34" charset="-122"/>
                <a:cs typeface="Courier New" pitchFamily="34" charset="-120"/>
              </a:rPr>
              <a:t>'amt_to_forward_msat'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[int(x)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L.route_fees(</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[s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calc[</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d[</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([200000, 100000, 0, 0], 300000,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pays Eric one bitcoin; three relays ask 100,000 satoshis each.</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hop forwards what the later hops still need.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works backwards from the last hop.</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surcharge over one bitcoin that each hop forwards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Alice pays 300,000 satoshis in fees. The surcharge falls to zero at Diana and Eric. The library agrees: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relay keeps 100,000 satoshis, and Alice pays 300,000 in all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47</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Satoshis passed from hand to hand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Satoshis passed hand to hand without touching the chain</a:t>
            </a:r>
            <a:endParaRPr lang="en-US" sz="1300" dirty="0"/>
          </a:p>
        </p:txBody>
      </p:sp>
      <p:pic>
        <p:nvPicPr>
          <p:cNvPr id="6" name="Image 0" descr="../../03-materials/ch14/assets/jack_dorsey_2009.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Jack Dorsey 2009 - Brian Solis,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19 January 2019 the Twitter user hodlonaut began a game-like test of Lightning by sending 100,000 satoshis to a trusted recipient.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was a promotional test, passed from one well-known person to the next, to show that the network could carry real payments.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Each recipient added 10,000 satoshis, 34 cents then, and sent the sum on; Jack Dorsey, Charlie Lee, Elizabeth Stark and Changpeng Zhao took part.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Each hand-over was an ordinary Lightning payment, with no transaction on the chain for each step.</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Jack Dorsey, 2009, a recipient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hodlonaut, a pseudonymou…</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Twitter, and the Light…</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2019-01-19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Lightning Network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47</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09090"/>
          </a:xfrm>
          <a:prstGeom prst="roundRect">
            <a:avLst>
              <a:gd name="adj" fmla="val 5191"/>
            </a:avLst>
          </a:prstGeom>
          <a:solidFill>
            <a:srgbClr val="F2ECE1"/>
          </a:solidFill>
          <a:ln w="12700">
            <a:solidFill>
              <a:srgbClr val="DFD6C7"/>
            </a:solidFill>
            <a:prstDash val="solid"/>
          </a:ln>
        </p:spPr>
      </p:sp>
      <p:sp>
        <p:nvSpPr>
          <p:cNvPr id="7" name="Shape 5"/>
          <p:cNvSpPr/>
          <p:nvPr/>
        </p:nvSpPr>
        <p:spPr>
          <a:xfrm>
            <a:off x="475488" y="1408176"/>
            <a:ext cx="64008" cy="11530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invoice</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A payee's request for payment that carries an amount, a payment hash and an expiry.</a:t>
            </a:r>
            <a:endParaRPr lang="en-US" sz="1200" dirty="0"/>
          </a:p>
        </p:txBody>
      </p:sp>
      <p:sp>
        <p:nvSpPr>
          <p:cNvPr id="9" name="Text 7"/>
          <p:cNvSpPr txBox="1"/>
          <p:nvPr/>
        </p:nvSpPr>
        <p:spPr>
          <a:xfrm>
            <a:off x="640080"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bill with the payer's reference printed on it.</a:t>
            </a:r>
            <a:endParaRPr lang="en-US" sz="1050" dirty="0"/>
          </a:p>
        </p:txBody>
      </p:sp>
      <p:sp>
        <p:nvSpPr>
          <p:cNvPr id="10" name="Shape 8"/>
          <p:cNvSpPr/>
          <p:nvPr/>
        </p:nvSpPr>
        <p:spPr>
          <a:xfrm>
            <a:off x="3249168" y="1280160"/>
            <a:ext cx="2645664" cy="1409090"/>
          </a:xfrm>
          <a:prstGeom prst="roundRect">
            <a:avLst>
              <a:gd name="adj" fmla="val 5191"/>
            </a:avLst>
          </a:prstGeom>
          <a:solidFill>
            <a:srgbClr val="F2ECE1"/>
          </a:solidFill>
          <a:ln w="12700">
            <a:solidFill>
              <a:srgbClr val="DFD6C7"/>
            </a:solidFill>
            <a:prstDash val="solid"/>
          </a:ln>
        </p:spPr>
      </p:sp>
      <p:sp>
        <p:nvSpPr>
          <p:cNvPr id="11" name="Shape 9"/>
          <p:cNvSpPr/>
          <p:nvPr/>
        </p:nvSpPr>
        <p:spPr>
          <a:xfrm>
            <a:off x="3267456" y="1408176"/>
            <a:ext cx="64008" cy="11530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onion routing</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sender wraps the path in layers, and each relay peels one and sees only the next hop.</a:t>
            </a:r>
            <a:endParaRPr lang="en-US" sz="1200" dirty="0"/>
          </a:p>
        </p:txBody>
      </p:sp>
      <p:sp>
        <p:nvSpPr>
          <p:cNvPr id="13" name="Text 11"/>
          <p:cNvSpPr txBox="1"/>
          <p:nvPr/>
        </p:nvSpPr>
        <p:spPr>
          <a:xfrm>
            <a:off x="3432048" y="2100377"/>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pass-the-parcel at a party.</a:t>
            </a:r>
            <a:endParaRPr lang="en-US" sz="1050" dirty="0"/>
          </a:p>
        </p:txBody>
      </p:sp>
      <p:sp>
        <p:nvSpPr>
          <p:cNvPr id="14" name="Shape 12"/>
          <p:cNvSpPr/>
          <p:nvPr/>
        </p:nvSpPr>
        <p:spPr>
          <a:xfrm>
            <a:off x="6041136" y="1280160"/>
            <a:ext cx="2645664" cy="1409090"/>
          </a:xfrm>
          <a:prstGeom prst="roundRect">
            <a:avLst>
              <a:gd name="adj" fmla="val 5191"/>
            </a:avLst>
          </a:prstGeom>
          <a:solidFill>
            <a:srgbClr val="F2ECE1"/>
          </a:solidFill>
          <a:ln w="12700">
            <a:solidFill>
              <a:srgbClr val="DFD6C7"/>
            </a:solidFill>
            <a:prstDash val="solid"/>
          </a:ln>
        </p:spPr>
      </p:sp>
      <p:sp>
        <p:nvSpPr>
          <p:cNvPr id="15" name="Shape 13"/>
          <p:cNvSpPr/>
          <p:nvPr/>
        </p:nvSpPr>
        <p:spPr>
          <a:xfrm>
            <a:off x="6059424" y="1408176"/>
            <a:ext cx="64008" cy="11530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Sphinx</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The packet format of the Lightning onion: fixed in size, with a check value for every hop.</a:t>
            </a:r>
            <a:endParaRPr lang="en-US" sz="1200" dirty="0"/>
          </a:p>
        </p:txBody>
      </p:sp>
      <p:sp>
        <p:nvSpPr>
          <p:cNvPr id="17" name="Text 15"/>
          <p:cNvSpPr txBox="1"/>
          <p:nvPr/>
        </p:nvSpPr>
        <p:spPr>
          <a:xfrm>
            <a:off x="6224016" y="2100377"/>
            <a:ext cx="2371344" cy="524866"/>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an envelope of one size, so thin and thick letters look alike.</a:t>
            </a:r>
            <a:endParaRPr lang="en-US" sz="1050" dirty="0"/>
          </a:p>
        </p:txBody>
      </p:sp>
      <p:sp>
        <p:nvSpPr>
          <p:cNvPr id="18" name="Shape 16"/>
          <p:cNvSpPr/>
          <p:nvPr/>
        </p:nvSpPr>
        <p:spPr>
          <a:xfrm>
            <a:off x="457200" y="2817266"/>
            <a:ext cx="2645664" cy="1409090"/>
          </a:xfrm>
          <a:prstGeom prst="roundRect">
            <a:avLst>
              <a:gd name="adj" fmla="val 5191"/>
            </a:avLst>
          </a:prstGeom>
          <a:solidFill>
            <a:srgbClr val="F2ECE1"/>
          </a:solidFill>
          <a:ln w="12700">
            <a:solidFill>
              <a:srgbClr val="DFD6C7"/>
            </a:solidFill>
            <a:prstDash val="solid"/>
          </a:ln>
        </p:spPr>
      </p:sp>
      <p:sp>
        <p:nvSpPr>
          <p:cNvPr id="19" name="Shape 17"/>
          <p:cNvSpPr/>
          <p:nvPr/>
        </p:nvSpPr>
        <p:spPr>
          <a:xfrm>
            <a:off x="475488" y="2945282"/>
            <a:ext cx="64008" cy="1153058"/>
          </a:xfrm>
          <a:prstGeom prst="rect">
            <a:avLst/>
          </a:prstGeom>
          <a:solidFill>
            <a:srgbClr val="D97A14"/>
          </a:solidFill>
          <a:ln w="12700">
            <a:solidFill>
              <a:srgbClr val="D97A14"/>
            </a:solidFill>
            <a:prstDash val="solid"/>
          </a:ln>
        </p:spPr>
      </p:sp>
      <p:sp>
        <p:nvSpPr>
          <p:cNvPr id="20" name="Text 18"/>
          <p:cNvSpPr txBox="1"/>
          <p:nvPr/>
        </p:nvSpPr>
        <p:spPr>
          <a:xfrm>
            <a:off x="640080" y="2881274"/>
            <a:ext cx="2371344" cy="891540"/>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BOLT</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Basis of Lightning Technology: the numbered specifications that let different programs work together.</a:t>
            </a:r>
            <a:endParaRPr lang="en-US" sz="1200" dirty="0"/>
          </a:p>
        </p:txBody>
      </p:sp>
      <p:sp>
        <p:nvSpPr>
          <p:cNvPr id="21" name="Text 19"/>
          <p:cNvSpPr txBox="1"/>
          <p:nvPr/>
        </p:nvSpPr>
        <p:spPr>
          <a:xfrm>
            <a:off x="640080" y="3800246"/>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plug standards that let any appliance fit any socket.</a:t>
            </a:r>
            <a:endParaRPr lang="en-US" sz="1050" dirty="0"/>
          </a:p>
        </p:txBody>
      </p:sp>
      <p:sp>
        <p:nvSpPr>
          <p:cNvPr id="22" name="Shape 20"/>
          <p:cNvSpPr/>
          <p:nvPr/>
        </p:nvSpPr>
        <p:spPr>
          <a:xfrm>
            <a:off x="3249168" y="2817266"/>
            <a:ext cx="2645664" cy="1409090"/>
          </a:xfrm>
          <a:prstGeom prst="roundRect">
            <a:avLst>
              <a:gd name="adj" fmla="val 5191"/>
            </a:avLst>
          </a:prstGeom>
          <a:solidFill>
            <a:srgbClr val="F2ECE1"/>
          </a:solidFill>
          <a:ln w="12700">
            <a:solidFill>
              <a:srgbClr val="DFD6C7"/>
            </a:solidFill>
            <a:prstDash val="solid"/>
          </a:ln>
        </p:spPr>
      </p:sp>
      <p:sp>
        <p:nvSpPr>
          <p:cNvPr id="23" name="Shape 21"/>
          <p:cNvSpPr/>
          <p:nvPr/>
        </p:nvSpPr>
        <p:spPr>
          <a:xfrm>
            <a:off x="3267456" y="2945282"/>
            <a:ext cx="64008" cy="1153058"/>
          </a:xfrm>
          <a:prstGeom prst="rect">
            <a:avLst/>
          </a:prstGeom>
          <a:solidFill>
            <a:srgbClr val="D97A14"/>
          </a:solidFill>
          <a:ln w="12700">
            <a:solidFill>
              <a:srgbClr val="D97A14"/>
            </a:solidFill>
            <a:prstDash val="solid"/>
          </a:ln>
        </p:spPr>
      </p:sp>
      <p:sp>
        <p:nvSpPr>
          <p:cNvPr id="24" name="Text 22"/>
          <p:cNvSpPr txBox="1"/>
          <p:nvPr/>
        </p:nvSpPr>
        <p:spPr>
          <a:xfrm>
            <a:off x="3432048" y="2881274"/>
            <a:ext cx="2371344" cy="728777"/>
          </a:xfrm>
          <a:prstGeom prst="rect">
            <a:avLst/>
          </a:prstGeom>
          <a:noFill/>
          <a:ln/>
        </p:spPr>
        <p:txBody>
          <a:bodyPr wrap="square" lIns="0" tIns="0" rIns="0" bIns="0" rtlCol="0" anchor="t"/>
          <a:lstStyle/>
          <a:p>
            <a:pPr indent="0" marL="0">
              <a:spcAft>
                <a:spcPts val="200"/>
              </a:spcAft>
              <a:buNone/>
            </a:pPr>
            <a:r>
              <a:rPr lang="en-US" sz="1200" b="1" dirty="0">
                <a:solidFill>
                  <a:srgbClr val="2B2622"/>
                </a:solidFill>
                <a:latin typeface="Cambria" pitchFamily="34" charset="0"/>
                <a:ea typeface="Cambria" pitchFamily="34" charset="-122"/>
                <a:cs typeface="Cambria" pitchFamily="34" charset="-120"/>
              </a:rPr>
              <a:t>pathfinding</a:t>
            </a:r>
            <a:endParaRPr lang="en-US" sz="1200" dirty="0"/>
          </a:p>
          <a:p>
            <a:pPr indent="0" marL="0">
              <a:spcAft>
                <a:spcPts val="200"/>
              </a:spcAft>
              <a:buNone/>
            </a:pPr>
            <a:r>
              <a:rPr lang="en-US" sz="1050" dirty="0">
                <a:solidFill>
                  <a:srgbClr val="2B2622"/>
                </a:solidFill>
                <a:latin typeface="Calibri" pitchFamily="34" charset="0"/>
                <a:ea typeface="Calibri" pitchFamily="34" charset="-122"/>
                <a:cs typeface="Calibri" pitchFamily="34" charset="-120"/>
              </a:rPr>
              <a:t>Choosing a route with enough capacity and low fees, using the channel announcements.</a:t>
            </a:r>
            <a:endParaRPr lang="en-US" sz="1200" dirty="0"/>
          </a:p>
        </p:txBody>
      </p:sp>
      <p:sp>
        <p:nvSpPr>
          <p:cNvPr id="25" name="Text 23"/>
          <p:cNvSpPr txBox="1"/>
          <p:nvPr/>
        </p:nvSpPr>
        <p:spPr>
          <a:xfrm>
            <a:off x="3432048" y="3637483"/>
            <a:ext cx="2371344" cy="362102"/>
          </a:xfrm>
          <a:prstGeom prst="rect">
            <a:avLst/>
          </a:prstGeom>
          <a:noFill/>
          <a:ln/>
        </p:spPr>
        <p:txBody>
          <a:bodyPr wrap="square" lIns="0" tIns="0" rIns="0" bIns="0" rtlCol="0" anchor="t"/>
          <a:lstStyle/>
          <a:p>
            <a:pPr indent="0" marL="0">
              <a:buNone/>
            </a:pPr>
            <a:r>
              <a:rPr lang="en-US" sz="1050" i="1" dirty="0">
                <a:solidFill>
                  <a:srgbClr val="2F6D62"/>
                </a:solidFill>
                <a:latin typeface="Calibri" pitchFamily="34" charset="0"/>
                <a:ea typeface="Calibri" pitchFamily="34" charset="-122"/>
                <a:cs typeface="Calibri" pitchFamily="34" charset="-120"/>
              </a:rPr>
              <a:t>Think of a satnav that knows how wide each road is.</a:t>
            </a:r>
            <a:endParaRPr lang="en-US" sz="10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47</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Each hop has less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expiry of the HTLC on each hop</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[x[</a:t>
            </a:r>
            <a:r>
              <a:rPr lang="en-US" sz="1000" dirty="0">
                <a:solidFill>
                  <a:srgbClr val="9ECBFF"/>
                </a:solidFill>
                <a:latin typeface="Courier New" pitchFamily="34" charset="0"/>
                <a:ea typeface="Courier New" pitchFamily="34" charset="-122"/>
                <a:cs typeface="Courier New" pitchFamily="34" charset="-120"/>
              </a:rPr>
              <a:t>'expiry'</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[p - q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zip(e, 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L.timelocks(e[-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calc == 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80, 0],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HTLC of each hop expires at a block height, and the earliest expiry is at Eric's 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gap between neighbours is 80 blocks, so a relay can always reclaim in time.</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rebuilds the expiries from the last hop backwards.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blocks left until the HTLC of each hop expires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Neighbours differ by 80 blocks, and the last two share one expiry. The library agrees: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relay that learns the secret still has time to claim upstream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47</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paper that became a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design on paper took years, soft forks and four teams</a:t>
            </a:r>
            <a:endParaRPr lang="en-US" sz="1300" dirty="0"/>
          </a:p>
        </p:txBody>
      </p:sp>
      <p:pic>
        <p:nvPicPr>
          <p:cNvPr id="6" name="Image 0" descr="../../03-materials/ch14/assets/lightning_cut_nodes.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cut nodes - FrankAndProust,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Joseph Poon and Thaddeus Dryja published a Lightning Network white paper in February 2015; the draft kept on lightning.network is version 0.5.9.2.</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summary calls it a decentralized system for instant, high-volume micropayments that removes the risk of trusting third-party custody.</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Lightning Labs launched the network in 2018; the picture shows its cut nodes, from under 100 in 2018 to about 1,500 in 2022.</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the network was first described in February 2015; the word proposed no longer holds.</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Picture: the network's cut nodes, approximate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Joseph Poon and Thaddeus…</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website lightning.…</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2015-02-28</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lightning.network</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Lightning Network: key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relay earns a fee for locking its funds while the payment is in flight.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toll collected at each bridge.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capacity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sum locked in a channel; a payment must fit in the balance on the sending side.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pipe that carries no more than its width.</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47</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hold invoice keeps a payment waiting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HTLCs pending on four channels, then cancelled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'l3'</a:t>
            </a:r>
            <a:r>
              <a:rPr lang="en-US" sz="1000" dirty="0">
                <a:solidFill>
                  <a:srgbClr val="E6EDF3"/>
                </a:solidFill>
                <a:latin typeface="Courier New" pitchFamily="34" charset="0"/>
                <a:ea typeface="Courier New" pitchFamily="34" charset="-122"/>
                <a:cs typeface="Courier New" pitchFamily="34" charset="-120"/>
              </a:rPr>
              <a:t>]; n = </a:t>
            </a:r>
            <a:r>
              <a:rPr lang="en-US" sz="1000" dirty="0">
                <a:solidFill>
                  <a:srgbClr val="9ECBFF"/>
                </a:solidFill>
                <a:latin typeface="Courier New" pitchFamily="34" charset="0"/>
                <a:ea typeface="Courier New" pitchFamily="34" charset="-122"/>
                <a:cs typeface="Courier New" pitchFamily="34" charset="-120"/>
              </a:rPr>
              <a:t>'alice bob carol diana eric'</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 = [h[</a:t>
            </a:r>
            <a:r>
              <a:rPr lang="en-US" sz="1000" dirty="0">
                <a:solidFill>
                  <a:srgbClr val="9ECBFF"/>
                </a:solidFill>
                <a:latin typeface="Courier New" pitchFamily="34" charset="0"/>
                <a:ea typeface="Courier New" pitchFamily="34" charset="-122"/>
                <a:cs typeface="Courier New" pitchFamily="34" charset="-120"/>
              </a:rPr>
              <a:t>'cancel'</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'pending_during'</a:t>
            </a:r>
            <a:r>
              <a:rPr lang="en-US" sz="1000" dirty="0">
                <a:solidFill>
                  <a:srgbClr val="E6EDF3"/>
                </a:solidFill>
                <a:latin typeface="Courier New" pitchFamily="34" charset="0"/>
                <a:ea typeface="Courier New" pitchFamily="34" charset="-122"/>
                <a:cs typeface="Courier New" pitchFamily="34" charset="-120"/>
              </a:rPr>
              <a:t>][k]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h[</a:t>
            </a:r>
            <a:r>
              <a:rPr lang="en-US" sz="1000" dirty="0">
                <a:solidFill>
                  <a:srgbClr val="9ECBFF"/>
                </a:solidFill>
                <a:latin typeface="Courier New" pitchFamily="34" charset="0"/>
                <a:ea typeface="Courier New" pitchFamily="34" charset="-122"/>
                <a:cs typeface="Courier New" pitchFamily="34" charset="-120"/>
              </a:rPr>
              <a:t>'cancel'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c[</a:t>
            </a:r>
            <a:r>
              <a:rPr lang="en-US" sz="1000" dirty="0">
                <a:solidFill>
                  <a:srgbClr val="9ECBFF"/>
                </a:solidFill>
                <a:latin typeface="Courier New" pitchFamily="34" charset="0"/>
                <a:ea typeface="Courier New" pitchFamily="34" charset="-122"/>
                <a:cs typeface="Courier New" pitchFamily="34" charset="-120"/>
              </a:rPr>
              <a:t>'balances_before'</a:t>
            </a:r>
            <a:r>
              <a:rPr lang="en-US" sz="1000" dirty="0">
                <a:solidFill>
                  <a:srgbClr val="E6EDF3"/>
                </a:solidFill>
                <a:latin typeface="Courier New" pitchFamily="34" charset="0"/>
                <a:ea typeface="Courier New" pitchFamily="34" charset="-122"/>
                <a:cs typeface="Courier New" pitchFamily="34" charset="-120"/>
              </a:rPr>
              <a:t>] == c[</a:t>
            </a:r>
            <a:r>
              <a:rPr lang="en-US" sz="1000" dirty="0">
                <a:solidFill>
                  <a:srgbClr val="9ECBFF"/>
                </a:solidFill>
                <a:latin typeface="Courier New" pitchFamily="34" charset="0"/>
                <a:ea typeface="Courier New" pitchFamily="34" charset="-122"/>
                <a:cs typeface="Courier New" pitchFamily="34" charset="-120"/>
              </a:rPr>
              <a:t>'balances_after'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 same, h[</a:t>
            </a:r>
            <a:r>
              <a:rPr lang="en-US" sz="1000" dirty="0">
                <a:solidFill>
                  <a:srgbClr val="9ECBFF"/>
                </a:solidFill>
                <a:latin typeface="Courier New" pitchFamily="34" charset="0"/>
                <a:ea typeface="Courier New" pitchFamily="34" charset="-122"/>
                <a:cs typeface="Courier New" pitchFamily="34" charset="-120"/>
              </a:rPr>
              <a:t>'settled_status'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2, 2, 2, 1], True, 'SUCCEEDED')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Eric held back the secret, so the HTLCs stayed pending along all four channels.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When Eric cancelled, every balance returned to where it began.</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later payment of the same kind settled once the secret was released.</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payments pending on each node while Eric holds back</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relays carry two HTLCs each, the ends one. After the cancel all balances are back: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can wait in flight, and a cancel returns every balance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47</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encrypted link of BOLT 8</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test vector of the specification, rerun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L.bolt8()</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ok1 = b[</a:t>
            </a:r>
            <a:r>
              <a:rPr lang="en-US" sz="1000" dirty="0">
                <a:solidFill>
                  <a:srgbClr val="9ECBFF"/>
                </a:solidFill>
                <a:latin typeface="Courier New" pitchFamily="34" charset="0"/>
                <a:ea typeface="Courier New" pitchFamily="34" charset="-122"/>
                <a:cs typeface="Courier New" pitchFamily="34" charset="-120"/>
              </a:rPr>
              <a:t>'act1'</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'want_act1'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ok3 = b[</a:t>
            </a:r>
            <a:r>
              <a:rPr lang="en-US" sz="1000" dirty="0">
                <a:solidFill>
                  <a:srgbClr val="9ECBFF"/>
                </a:solidFill>
                <a:latin typeface="Courier New" pitchFamily="34" charset="0"/>
                <a:ea typeface="Courier New" pitchFamily="34" charset="-122"/>
                <a:cs typeface="Courier New" pitchFamily="34" charset="-120"/>
              </a:rPr>
              <a:t>'act3'</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'want_act3'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b[</a:t>
            </a:r>
            <a:r>
              <a:rPr lang="en-US" sz="1000" dirty="0">
                <a:solidFill>
                  <a:srgbClr val="9ECBFF"/>
                </a:solidFill>
                <a:latin typeface="Courier New" pitchFamily="34" charset="0"/>
                <a:ea typeface="Courier New" pitchFamily="34" charset="-122"/>
                <a:cs typeface="Courier New" pitchFamily="34" charset="-120"/>
              </a:rPr>
              <a:t>'sk'</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'want_sk'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9679"/>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283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n3 = [len(b[k])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'act1'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'act3'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 = L.bolt8_hello()[</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(n1, n3, 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(50, 66, 39)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vector of the specification is rerun, with fixed keys.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three outputs equal the values printed in the specification.</a:t>
            </a:r>
            <a:endParaRPr lang="en-US" sz="1050" dirty="0"/>
          </a:p>
        </p:txBody>
      </p:sp>
      <p:sp>
        <p:nvSpPr>
          <p:cNvPr id="18" name="Shape 16"/>
          <p:cNvSpPr/>
          <p:nvPr/>
        </p:nvSpPr>
        <p:spPr>
          <a:xfrm>
            <a:off x="365760" y="284652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652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Acts one and three are 50 and 66 bytes; the first message is 39.</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BOLT 8 test vector</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Matches the specification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 one (50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Act three (66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Transport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First message,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Every output equals the one printed in the specification, so the handshake is implemented as specified.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handshake outputs equal the values printed in the specification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47</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onion has a fixed size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parts of a BOLT 4 packet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1300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sum(parts)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'bolt04_onion_routing.md'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fixed = seen(f, </a:t>
            </a:r>
            <a:r>
              <a:rPr lang="en-US" sz="1000" dirty="0">
                <a:solidFill>
                  <a:srgbClr val="9ECBFF"/>
                </a:solidFill>
                <a:latin typeface="Courier New" pitchFamily="34" charset="0"/>
                <a:ea typeface="Courier New" pitchFamily="34" charset="-122"/>
                <a:cs typeface="Courier New" pitchFamily="34" charset="-120"/>
              </a:rPr>
              <a:t>'1366-byte packet'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seen(f, </a:t>
            </a:r>
            <a:r>
              <a:rPr lang="en-US" sz="1000" dirty="0">
                <a:solidFill>
                  <a:srgbClr val="9ECBFF"/>
                </a:solidFill>
                <a:latin typeface="Courier New" pitchFamily="34" charset="0"/>
                <a:ea typeface="Courier New" pitchFamily="34" charset="-122"/>
                <a:cs typeface="Courier New" pitchFamily="34" charset="-120"/>
              </a:rPr>
              <a:t>'hops in a route (20)'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fixed, top)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(1366,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packet holds a version byte, a key, the hop data and a check value.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specification says one packet of 1366 bytes, whatever the route.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limit is twenty hops, so a relay cannot tell how far the end is.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BOLT 4 packet</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7452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 of the packet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Ephemeral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Hop data, 20 hops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1,300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Check 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1,366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Same in the specification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Hop data takes 1,300 of 1,366 bytes. It is padded, so a short route looks like a long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packet is 1366 bytes whatever the route, so a relay cannot count the hops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47</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invoice carries the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parsed invoice, and the one printed in BOLT 11</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L.C.bolt11(i[</a:t>
            </a:r>
            <a:r>
              <a:rPr lang="en-US" sz="1000" dirty="0">
                <a:solidFill>
                  <a:srgbClr val="9ECBFF"/>
                </a:solidFill>
                <a:latin typeface="Courier New" pitchFamily="34" charset="0"/>
                <a:ea typeface="Courier New" pitchFamily="34" charset="-122"/>
                <a:cs typeface="Courier New" pitchFamily="34" charset="-120"/>
              </a:rPr>
              <a:t>'payment_request'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 cl = p[</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L.C.field_int(p[</a:t>
            </a:r>
            <a:r>
              <a:rPr lang="en-US" sz="1000" dirty="0">
                <a:solidFill>
                  <a:srgbClr val="9ECBFF"/>
                </a:solidFill>
                <a:latin typeface="Courier New" pitchFamily="34" charset="0"/>
                <a:ea typeface="Courier New" pitchFamily="34" charset="-122"/>
                <a:cs typeface="Courier New" pitchFamily="34" charset="-120"/>
              </a:rPr>
              <a:t>'fields'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img = bytes.fromhex(R[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'preimage'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hashlib.sha256(img).hexdigest()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hs == i[</a:t>
            </a:r>
            <a:r>
              <a:rPr lang="en-US" sz="1000" dirty="0">
                <a:solidFill>
                  <a:srgbClr val="9ECBFF"/>
                </a:solidFill>
                <a:latin typeface="Courier New" pitchFamily="34" charset="0"/>
                <a:ea typeface="Courier New" pitchFamily="34" charset="-122"/>
                <a:cs typeface="Courier New" pitchFamily="34" charset="-120"/>
              </a:rPr>
              <a:t>'payment_hash'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9778"/>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930"/>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 L.iso(L.invoice()[</a:t>
            </a:r>
            <a:r>
              <a:rPr lang="en-US" sz="1000" dirty="0">
                <a:solidFill>
                  <a:srgbClr val="9ECBFF"/>
                </a:solidFill>
                <a:latin typeface="Courier New" pitchFamily="34" charset="0"/>
                <a:ea typeface="Courier New" pitchFamily="34" charset="-122"/>
                <a:cs typeface="Courier New" pitchFamily="34" charset="-120"/>
              </a:rPr>
              <a:t>'timestamp'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 cl, ok, when)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('lnbcrt1', 80, True, '2017-06-01 10:57:38')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on a private chain made an invoice and the library parsed it.</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secret, hashed once, is the payment hash printed in the invoice.</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invoice printed in BOLT 11 is dated 1 June 2017.</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invoices parsed</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Prefix of the test invoice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lnbcrt1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Amount, millisatoshis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100,000,000,000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Final hop expiry, blocks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Secret hashes to the 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BOLT 11 invoice prefix</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lnbc2500u</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Its amount,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250,000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Its date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2017-06-01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prefix names the chain: lnbcrt is regtest, lnbc is the main chain.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secret, hashed once, is the payment hash in the invoice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channel on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Opening and closing a channel in two transactions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c =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'funding'</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R[</a:t>
            </a:r>
            <a:r>
              <a:rPr lang="en-US" sz="1000" dirty="0">
                <a:solidFill>
                  <a:srgbClr val="9ECBFF"/>
                </a:solidFill>
                <a:latin typeface="Courier New" pitchFamily="34" charset="0"/>
                <a:ea typeface="Courier New" pitchFamily="34" charset="-122"/>
                <a:cs typeface="Courier New" pitchFamily="34" charset="-120"/>
              </a:rPr>
              <a:t>'l4'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'onchain_transactions_in_lifetime'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script = c[</a:t>
            </a:r>
            <a:r>
              <a:rPr lang="en-US" sz="1000" dirty="0">
                <a:solidFill>
                  <a:srgbClr val="9ECBFF"/>
                </a:solidFill>
                <a:latin typeface="Courier New" pitchFamily="34" charset="0"/>
                <a:ea typeface="Courier New" pitchFamily="34" charset="-122"/>
                <a:cs typeface="Courier New" pitchFamily="34" charset="-120"/>
              </a:rPr>
              <a:t>'witness_script_asm'</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kinds = [o[</a:t>
            </a:r>
            <a:r>
              <a:rPr lang="en-US" sz="1000" dirty="0">
                <a:solidFill>
                  <a:srgbClr val="9ECBFF"/>
                </a:solidFill>
                <a:latin typeface="Courier New" pitchFamily="34" charset="0"/>
                <a:ea typeface="Courier New" pitchFamily="34" charset="-122"/>
                <a:cs typeface="Courier New" pitchFamily="34" charset="-120"/>
              </a:rPr>
              <a:t>'type'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t>
            </a:r>
            <a:r>
              <a:rPr lang="en-US" sz="1000" dirty="0">
                <a:solidFill>
                  <a:srgbClr val="9ECBFF"/>
                </a:solidFill>
                <a:latin typeface="Courier New" pitchFamily="34" charset="0"/>
                <a:ea typeface="Courier New" pitchFamily="34" charset="-122"/>
                <a:cs typeface="Courier New" pitchFamily="34" charset="-120"/>
              </a:rPr>
              <a:t>'type'</a:t>
            </a:r>
            <a:r>
              <a:rPr lang="en-US" sz="1000" dirty="0">
                <a:solidFill>
                  <a:srgbClr val="E6EDF3"/>
                </a:solidFill>
                <a:latin typeface="Courier New" pitchFamily="34" charset="0"/>
                <a:ea typeface="Courier New" pitchFamily="34" charset="-122"/>
                <a:cs typeface="Courier New" pitchFamily="34" charset="-120"/>
              </a:rPr>
              <a:t>], f[</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len(c[</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('witness_v0_scripthash', 4.0, 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is opened by one funding transaction and closed by one more.</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funding output is a two-of-two script; the close pays two taproot outputs.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updates happened off the chain in between.</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channel, on the chain</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output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scripthash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value, BTC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Funding script ends with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OP_CHECKMULTISIG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outputs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taproot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size, vbytes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193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Updates in between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Transactions on the chain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chain saw 2 transactions. The 6 updates in between never touched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two transactions touch the chain, however many updates happen between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47</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breach and its punishment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justice transaction, and a fee paid by a child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'l5'</a:t>
            </a:r>
            <a:r>
              <a:rPr lang="en-US" sz="1000" dirty="0">
                <a:solidFill>
                  <a:srgbClr val="E6EDF3"/>
                </a:solidFill>
                <a:latin typeface="Courier New" pitchFamily="34" charset="0"/>
                <a:ea typeface="Courier New" pitchFamily="34" charset="-122"/>
                <a:cs typeface="Courier New" pitchFamily="34" charset="-120"/>
              </a:rPr>
              <a:t>]; j = l[</a:t>
            </a:r>
            <a:r>
              <a:rPr lang="en-US" sz="1000" dirty="0">
                <a:solidFill>
                  <a:srgbClr val="9ECBFF"/>
                </a:solidFill>
                <a:latin typeface="Courier New" pitchFamily="34" charset="0"/>
                <a:ea typeface="Courier New" pitchFamily="34" charset="-122"/>
                <a:cs typeface="Courier New" pitchFamily="34" charset="-120"/>
              </a:rPr>
              <a:t>'justice'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close = l[</a:t>
            </a:r>
            <a:r>
              <a:rPr lang="en-US" sz="1000" dirty="0">
                <a:solidFill>
                  <a:srgbClr val="9ECBFF"/>
                </a:solidFill>
                <a:latin typeface="Courier New" pitchFamily="34" charset="0"/>
                <a:ea typeface="Courier New" pitchFamily="34" charset="-122"/>
                <a:cs typeface="Courier New" pitchFamily="34" charset="-120"/>
              </a:rPr>
              <a:t>'hitesh_closed'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'close_type'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owed = l[</a:t>
            </a:r>
            <a:r>
              <a:rPr lang="en-US" sz="1000" dirty="0">
                <a:solidFill>
                  <a:srgbClr val="9ECBFF"/>
                </a:solidFill>
                <a:latin typeface="Courier New" pitchFamily="34" charset="0"/>
                <a:ea typeface="Courier New" pitchFamily="34" charset="-122"/>
                <a:cs typeface="Courier New" pitchFamily="34" charset="-120"/>
              </a:rPr>
              <a:t>'state2'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'hitesh'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l[</a:t>
            </a:r>
            <a:r>
              <a:rPr lang="en-US" sz="1000" dirty="0">
                <a:solidFill>
                  <a:srgbClr val="9ECBFF"/>
                </a:solidFill>
                <a:latin typeface="Courier New" pitchFamily="34" charset="0"/>
                <a:ea typeface="Courier New" pitchFamily="34" charset="-122"/>
                <a:cs typeface="Courier New" pitchFamily="34" charset="-120"/>
              </a:rPr>
              <a:t>'hitesh_wallet_after_sat'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c6 = R[</a:t>
            </a:r>
            <a:r>
              <a:rPr lang="en-US" sz="1000" dirty="0">
                <a:solidFill>
                  <a:srgbClr val="9ECBFF"/>
                </a:solidFill>
                <a:latin typeface="Courier New" pitchFamily="34" charset="0"/>
                <a:ea typeface="Courier New" pitchFamily="34" charset="-122"/>
                <a:cs typeface="Courier New" pitchFamily="34" charset="-120"/>
              </a:rPr>
              <a:t>'c6'</a:t>
            </a:r>
            <a:r>
              <a:rPr lang="en-US" sz="1000" dirty="0">
                <a:solidFill>
                  <a:srgbClr val="E6EDF3"/>
                </a:solidFill>
                <a:latin typeface="Courier New" pitchFamily="34" charset="0"/>
                <a:ea typeface="Courier New" pitchFamily="34" charset="-122"/>
                <a:cs typeface="Courier New" pitchFamily="34" charset="-120"/>
              </a:rPr>
              <a:t>]; pkg = c6[</a:t>
            </a:r>
            <a:r>
              <a:rPr lang="en-US" sz="1000" dirty="0">
                <a:solidFill>
                  <a:srgbClr val="9ECBFF"/>
                </a:solidFill>
                <a:latin typeface="Courier New" pitchFamily="34" charset="0"/>
                <a:ea typeface="Courier New" pitchFamily="34" charset="-122"/>
                <a:cs typeface="Courier New" pitchFamily="34" charset="-120"/>
              </a:rPr>
              <a:t>'package_msg'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(close, got, pkg)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('BREACH_CLOSE', 999990380, 'success')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Irene went back to an old state and published it; Hitesh's node saw the breach.</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state owed Hitesh 700,000,000 satoshis, yet the justice transaction paid him the whole channel.</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parent with no fee was lifted into a block by a child that paid for both.</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breach and the fee bump</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5969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Close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BREACH_CLOSE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Justice inputs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Owed,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700,000,000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Paid, satoshis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999,990,380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min relay fee not met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plus child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success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969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Both confirmed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cheater lost the whole channel. A child of 151 vbytes paid for its parent of 123.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cheater loses the whole channel, and a child can pay the parent's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47</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guarantees no double spend, immutability and more, and applications are recipes that mix these guarantees.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Colored coins use a seal, a contract-committing key and client-side checks, so the chain never sees the asset.</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payment channel needs two transactions on the chain, and signed commitments in between.</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revocation key punishes an old state, and an HTLC lets a secret claim a payment before a deadline.</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Lightning routes a payment through relays that each keep a fee and have less time than the one before.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47</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Hash time locked contracts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HTLCs route payments, with links to code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Anchor outputs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channels keep the option to raise their fees later</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Watchtowers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Services that answer a breach while the owner is offline</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BOLT 3: Transaction and Script Formats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 transaction layouts, with test vectors</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112: CHECKSEQUENCEVERIFY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relative timelock opcode that channels depend on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Draft 0.5.9.2 of 14 January 2016  lightning.network</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CuriousInventor: Lightning Explained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Lightning works, with animations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Poon and Dryja at Coinbase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two authors present the Lightning Network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mempool.space Lightning (statistics)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Channels, nodes and capacity of the Lightning Network</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CuriousInventor, then read the Optech topic on HTLCs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47</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chain guarantees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channel moves value off the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secret and a clock settle a payment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Lightning routes and punishes cheats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47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14</dc:title>
  <dc:subject>PptxGenJS Presentation</dc:subject>
  <dc:creator>Yusuf Altunel</dc:creator>
  <cp:lastModifiedBy>Yusuf Altunel</cp:lastModifiedBy>
  <cp:revision>1</cp:revision>
  <dcterms:created xsi:type="dcterms:W3CDTF">2026-10-25T11:53:28Z</dcterms:created>
  <dcterms:modified xsi:type="dcterms:W3CDTF">2026-10-25T11:53:28Z</dcterms:modified>
  <cp:version>2.0.0</cp:version>
</cp:coreProperties>
</file>