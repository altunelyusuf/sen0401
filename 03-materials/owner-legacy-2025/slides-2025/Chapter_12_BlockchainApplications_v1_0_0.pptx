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89"/>
  </p:notesMasterIdLst>
  <p:sldIdLst>
    <p:sldId id="256" r:id="rId2"/>
    <p:sldId id="257" r:id="rId3"/>
    <p:sldId id="365" r:id="rId4"/>
    <p:sldId id="412" r:id="rId5"/>
    <p:sldId id="406" r:id="rId6"/>
    <p:sldId id="413" r:id="rId7"/>
    <p:sldId id="414" r:id="rId8"/>
    <p:sldId id="416" r:id="rId9"/>
    <p:sldId id="417" r:id="rId10"/>
    <p:sldId id="418" r:id="rId11"/>
    <p:sldId id="419" r:id="rId12"/>
    <p:sldId id="420" r:id="rId13"/>
    <p:sldId id="421" r:id="rId14"/>
    <p:sldId id="422" r:id="rId15"/>
    <p:sldId id="423" r:id="rId16"/>
    <p:sldId id="424" r:id="rId17"/>
    <p:sldId id="425" r:id="rId18"/>
    <p:sldId id="426" r:id="rId19"/>
    <p:sldId id="427" r:id="rId20"/>
    <p:sldId id="428" r:id="rId21"/>
    <p:sldId id="429" r:id="rId22"/>
    <p:sldId id="430" r:id="rId23"/>
    <p:sldId id="431" r:id="rId24"/>
    <p:sldId id="432" r:id="rId25"/>
    <p:sldId id="433" r:id="rId26"/>
    <p:sldId id="407" r:id="rId27"/>
    <p:sldId id="415" r:id="rId28"/>
    <p:sldId id="434" r:id="rId29"/>
    <p:sldId id="435" r:id="rId30"/>
    <p:sldId id="436" r:id="rId31"/>
    <p:sldId id="408" r:id="rId32"/>
    <p:sldId id="437" r:id="rId33"/>
    <p:sldId id="441" r:id="rId34"/>
    <p:sldId id="442" r:id="rId35"/>
    <p:sldId id="443" r:id="rId36"/>
    <p:sldId id="444" r:id="rId37"/>
    <p:sldId id="445" r:id="rId38"/>
    <p:sldId id="446" r:id="rId39"/>
    <p:sldId id="447" r:id="rId40"/>
    <p:sldId id="448" r:id="rId41"/>
    <p:sldId id="438" r:id="rId42"/>
    <p:sldId id="449" r:id="rId43"/>
    <p:sldId id="439" r:id="rId44"/>
    <p:sldId id="450" r:id="rId45"/>
    <p:sldId id="440" r:id="rId46"/>
    <p:sldId id="451" r:id="rId47"/>
    <p:sldId id="452" r:id="rId48"/>
    <p:sldId id="409" r:id="rId49"/>
    <p:sldId id="453" r:id="rId50"/>
    <p:sldId id="454" r:id="rId51"/>
    <p:sldId id="455" r:id="rId52"/>
    <p:sldId id="410" r:id="rId53"/>
    <p:sldId id="456" r:id="rId54"/>
    <p:sldId id="465" r:id="rId55"/>
    <p:sldId id="457" r:id="rId56"/>
    <p:sldId id="458" r:id="rId57"/>
    <p:sldId id="471" r:id="rId58"/>
    <p:sldId id="472" r:id="rId59"/>
    <p:sldId id="473" r:id="rId60"/>
    <p:sldId id="474" r:id="rId61"/>
    <p:sldId id="475" r:id="rId62"/>
    <p:sldId id="466" r:id="rId63"/>
    <p:sldId id="476" r:id="rId64"/>
    <p:sldId id="477" r:id="rId65"/>
    <p:sldId id="467" r:id="rId66"/>
    <p:sldId id="478" r:id="rId67"/>
    <p:sldId id="479" r:id="rId68"/>
    <p:sldId id="480" r:id="rId69"/>
    <p:sldId id="481" r:id="rId70"/>
    <p:sldId id="482" r:id="rId71"/>
    <p:sldId id="483" r:id="rId72"/>
    <p:sldId id="484" r:id="rId73"/>
    <p:sldId id="485" r:id="rId74"/>
    <p:sldId id="486" r:id="rId75"/>
    <p:sldId id="468" r:id="rId76"/>
    <p:sldId id="469" r:id="rId77"/>
    <p:sldId id="470" r:id="rId78"/>
    <p:sldId id="411" r:id="rId79"/>
    <p:sldId id="459" r:id="rId80"/>
    <p:sldId id="461" r:id="rId81"/>
    <p:sldId id="460" r:id="rId82"/>
    <p:sldId id="462" r:id="rId83"/>
    <p:sldId id="463" r:id="rId84"/>
    <p:sldId id="464" r:id="rId85"/>
    <p:sldId id="367" r:id="rId86"/>
    <p:sldId id="405" r:id="rId87"/>
    <p:sldId id="267" r:id="rId88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868" autoAdjust="0"/>
    <p:restoredTop sz="87819" autoAdjust="0"/>
  </p:normalViewPr>
  <p:slideViewPr>
    <p:cSldViewPr snapToGrid="0">
      <p:cViewPr varScale="1">
        <p:scale>
          <a:sx n="71" d="100"/>
          <a:sy n="71" d="100"/>
        </p:scale>
        <p:origin x="773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notesMaster" Target="notesMasters/notesMaster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presProps" Target="presProp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theme" Target="theme/theme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2_4">
  <dgm:title val=""/>
  <dgm:desc val=""/>
  <dgm:catLst>
    <dgm:cat type="accent2" pri="11400"/>
  </dgm:catLst>
  <dgm:styleLbl name="node0">
    <dgm:fillClrLst meth="cycle">
      <a:schemeClr val="accent2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2">
        <a:shade val="50000"/>
      </a:schemeClr>
      <a:schemeClr val="accent2">
        <a:tint val="4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2">
        <a:shade val="50000"/>
      </a:schemeClr>
      <a:schemeClr val="accent2">
        <a:tint val="45000"/>
      </a:schemeClr>
    </dgm:fillClrLst>
    <dgm:linClrLst meth="cycle">
      <a:schemeClr val="accent2">
        <a:shade val="50000"/>
      </a:schemeClr>
      <a:schemeClr val="accent2">
        <a:tint val="45000"/>
      </a:schemeClr>
    </dgm:linClrLst>
    <dgm:effectClrLst/>
    <dgm:txLinClrLst/>
    <dgm:txFillClrLst/>
    <dgm:txEffectClrLst/>
  </dgm:styleLbl>
  <dgm:styleLbl name="lnNode1">
    <dgm:fillClrLst meth="cycle">
      <a:schemeClr val="accent2">
        <a:shade val="50000"/>
      </a:schemeClr>
      <a:schemeClr val="accent2">
        <a:tint val="4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2">
        <a:shade val="80000"/>
        <a:alpha val="50000"/>
      </a:schemeClr>
      <a:schemeClr val="accent2">
        <a:tint val="45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2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2">
        <a:shade val="90000"/>
      </a:schemeClr>
      <a:schemeClr val="accent2">
        <a:tint val="50000"/>
      </a:schemeClr>
    </dgm:fillClrLst>
    <dgm:linClrLst meth="cycle"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2">
        <a:shade val="90000"/>
      </a:schemeClr>
      <a:schemeClr val="accent2">
        <a:tint val="50000"/>
      </a:schemeClr>
    </dgm:fillClrLst>
    <dgm:linClrLst meth="cycle"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2">
        <a:shade val="90000"/>
      </a:schemeClr>
      <a:schemeClr val="accent2">
        <a:tint val="50000"/>
      </a:schemeClr>
    </dgm:fillClrLst>
    <dgm:linClrLst meth="cycle"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2">
        <a:shade val="90000"/>
      </a:schemeClr>
      <a:schemeClr val="accent2">
        <a:tint val="50000"/>
      </a:schemeClr>
    </dgm:fillClrLst>
    <dgm:linClrLst meth="cycle"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2">
        <a:shade val="50000"/>
      </a:schemeClr>
      <a:schemeClr val="accent2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2">
        <a:shade val="50000"/>
      </a:schemeClr>
      <a:schemeClr val="accent2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2">
        <a:shade val="50000"/>
      </a:schemeClr>
      <a:schemeClr val="accent2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2">
        <a:shade val="50000"/>
      </a:schemeClr>
      <a:schemeClr val="accent2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2">
        <a:shade val="50000"/>
      </a:schemeClr>
      <a:schemeClr val="accent2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55000"/>
      </a:schemeClr>
    </dgm:fillClrLst>
    <dgm:linClrLst meth="repeat">
      <a:schemeClr val="accent2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55000"/>
      </a:schemeClr>
    </dgm:fillClrLst>
    <dgm:linClrLst meth="repeat">
      <a:schemeClr val="accent2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55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05/8/layout/list1" loCatId="list" qsTypeId="urn:microsoft.com/office/officeart/2005/8/quickstyle/simple5" qsCatId="simple" csTypeId="urn:microsoft.com/office/officeart/2005/8/colors/accent2_4" csCatId="accent2" phldr="1"/>
      <dgm:spPr/>
      <dgm:t>
        <a:bodyPr/>
        <a:lstStyle/>
        <a:p>
          <a:endParaRPr lang="en-US"/>
        </a:p>
      </dgm:t>
    </dgm:pt>
    <dgm:pt modelId="{28FA0ACB-9BE0-4E05-9785-FD7E554DB653}">
      <dgm:prSet custT="1"/>
      <dgm:spPr/>
      <dgm:t>
        <a:bodyPr/>
        <a:lstStyle/>
        <a:p>
          <a:r>
            <a:rPr lang="tr-TR" sz="1800" dirty="0"/>
            <a:t>Building Blocks (Primitives)</a:t>
          </a:r>
          <a:endParaRPr lang="en-US" sz="1800" dirty="0"/>
        </a:p>
      </dgm:t>
    </dgm:pt>
    <dgm:pt modelId="{F0659631-892E-44C1-91D7-AB865EADB356}" type="parTrans" cxnId="{A570A703-2694-4808-8E99-73A6E952E0CA}">
      <dgm:prSet/>
      <dgm:spPr/>
      <dgm:t>
        <a:bodyPr/>
        <a:lstStyle/>
        <a:p>
          <a:endParaRPr lang="tr-TR"/>
        </a:p>
      </dgm:t>
    </dgm:pt>
    <dgm:pt modelId="{E177175F-2D53-414C-A935-FEA8484BC284}" type="sibTrans" cxnId="{A570A703-2694-4808-8E99-73A6E952E0CA}">
      <dgm:prSet/>
      <dgm:spPr/>
      <dgm:t>
        <a:bodyPr/>
        <a:lstStyle/>
        <a:p>
          <a:endParaRPr lang="tr-TR"/>
        </a:p>
      </dgm:t>
    </dgm:pt>
    <dgm:pt modelId="{15B65624-C22F-413D-AD5F-65AC1BCABB3F}">
      <dgm:prSet custT="1"/>
      <dgm:spPr/>
      <dgm:t>
        <a:bodyPr/>
        <a:lstStyle/>
        <a:p>
          <a:r>
            <a:rPr lang="tr-TR" sz="1800" dirty="0"/>
            <a:t>Introduction</a:t>
          </a:r>
          <a:endParaRPr lang="en-US" sz="1800" dirty="0"/>
        </a:p>
      </dgm:t>
    </dgm:pt>
    <dgm:pt modelId="{D6790728-1295-4788-87F8-A816380334AB}" type="parTrans" cxnId="{8FFC8A2D-D717-42B6-8BF9-EF45273FE4E7}">
      <dgm:prSet/>
      <dgm:spPr/>
    </dgm:pt>
    <dgm:pt modelId="{58605F30-56FD-4D59-8BB0-BE7FD6768D2F}" type="sibTrans" cxnId="{8FFC8A2D-D717-42B6-8BF9-EF45273FE4E7}">
      <dgm:prSet/>
      <dgm:spPr/>
    </dgm:pt>
    <dgm:pt modelId="{54713A42-FA91-4621-A90D-DB48C839EBDE}">
      <dgm:prSet custT="1"/>
      <dgm:spPr/>
      <dgm:t>
        <a:bodyPr/>
        <a:lstStyle/>
        <a:p>
          <a:r>
            <a:rPr lang="tr-TR" sz="1800" dirty="0"/>
            <a:t>Applications from Building Blocks</a:t>
          </a:r>
          <a:endParaRPr lang="en-US" sz="1800" dirty="0"/>
        </a:p>
      </dgm:t>
    </dgm:pt>
    <dgm:pt modelId="{FED5CCE4-E37B-42E5-B669-8A9F40B1CFD6}" type="parTrans" cxnId="{9D07CD2C-D606-4691-8521-B5D95245AF46}">
      <dgm:prSet/>
      <dgm:spPr/>
    </dgm:pt>
    <dgm:pt modelId="{4A43A648-9022-4178-93F7-08286610B467}" type="sibTrans" cxnId="{9D07CD2C-D606-4691-8521-B5D95245AF46}">
      <dgm:prSet/>
      <dgm:spPr/>
    </dgm:pt>
    <dgm:pt modelId="{650141E8-CB1E-45BA-B123-561BC775F15A}">
      <dgm:prSet custT="1"/>
      <dgm:spPr/>
      <dgm:t>
        <a:bodyPr/>
        <a:lstStyle/>
        <a:p>
          <a:r>
            <a:rPr lang="tr-TR" sz="1800" dirty="0"/>
            <a:t>Colored Coins</a:t>
          </a:r>
          <a:endParaRPr lang="en-US" sz="1800" dirty="0"/>
        </a:p>
      </dgm:t>
    </dgm:pt>
    <dgm:pt modelId="{869BA101-5E54-4F51-BC59-7144B02BAB8C}" type="parTrans" cxnId="{3E7535B9-8224-484A-8A8D-ED3E70964580}">
      <dgm:prSet/>
      <dgm:spPr/>
    </dgm:pt>
    <dgm:pt modelId="{991F72BA-5BAD-48EE-B1C3-9DA524843E63}" type="sibTrans" cxnId="{3E7535B9-8224-484A-8A8D-ED3E70964580}">
      <dgm:prSet/>
      <dgm:spPr/>
    </dgm:pt>
    <dgm:pt modelId="{CEB2A431-FDBE-4E5A-8AAE-48801FC8DFC6}">
      <dgm:prSet custT="1"/>
      <dgm:spPr/>
      <dgm:t>
        <a:bodyPr/>
        <a:lstStyle/>
        <a:p>
          <a:r>
            <a:rPr lang="tr-TR" sz="1800" dirty="0"/>
            <a:t>Using Colored Coins</a:t>
          </a:r>
          <a:endParaRPr lang="en-US" sz="1800" dirty="0"/>
        </a:p>
      </dgm:t>
    </dgm:pt>
    <dgm:pt modelId="{7DA7941B-0620-4EB9-9EF0-F208CF13C4A3}" type="parTrans" cxnId="{9A668910-CC87-4BE7-95DE-898401976B52}">
      <dgm:prSet/>
      <dgm:spPr/>
    </dgm:pt>
    <dgm:pt modelId="{709FE47E-07DD-4113-AA0F-352B41AA4E43}" type="sibTrans" cxnId="{9A668910-CC87-4BE7-95DE-898401976B52}">
      <dgm:prSet/>
      <dgm:spPr/>
    </dgm:pt>
    <dgm:pt modelId="{5694B3E0-4530-4975-8D3F-282D0D89B9AE}">
      <dgm:prSet custT="1"/>
      <dgm:spPr/>
      <dgm:t>
        <a:bodyPr/>
        <a:lstStyle/>
        <a:p>
          <a:r>
            <a:rPr lang="tr-TR" sz="1800" dirty="0"/>
            <a:t>Issuing Colored Coins</a:t>
          </a:r>
          <a:endParaRPr lang="en-US" sz="1800" dirty="0"/>
        </a:p>
      </dgm:t>
    </dgm:pt>
    <dgm:pt modelId="{1AC8E9FC-F521-4866-8368-6FC2A049A385}" type="parTrans" cxnId="{869762F1-20DE-4A20-97D9-784E0735BC41}">
      <dgm:prSet/>
      <dgm:spPr/>
    </dgm:pt>
    <dgm:pt modelId="{A688B86A-3C58-42EF-9F73-9570F5F6DE01}" type="sibTrans" cxnId="{869762F1-20DE-4A20-97D9-784E0735BC41}">
      <dgm:prSet/>
      <dgm:spPr/>
    </dgm:pt>
    <dgm:pt modelId="{C55AEC1F-7329-4EBD-BE11-6EE29EE4E560}">
      <dgm:prSet custT="1"/>
      <dgm:spPr/>
      <dgm:t>
        <a:bodyPr/>
        <a:lstStyle/>
        <a:p>
          <a:r>
            <a:rPr lang="tr-TR" sz="1800" dirty="0"/>
            <a:t>Colored Coins Transactions</a:t>
          </a:r>
          <a:endParaRPr lang="en-US" sz="1800" dirty="0"/>
        </a:p>
      </dgm:t>
    </dgm:pt>
    <dgm:pt modelId="{A194E371-F6D7-4362-AF4E-1C7E468C01E1}" type="parTrans" cxnId="{BFDEB828-2E51-460E-A5E8-B3010DB83275}">
      <dgm:prSet/>
      <dgm:spPr/>
    </dgm:pt>
    <dgm:pt modelId="{C7770DF3-6CAA-4F46-B957-9BFF73022AEC}" type="sibTrans" cxnId="{BFDEB828-2E51-460E-A5E8-B3010DB83275}">
      <dgm:prSet/>
      <dgm:spPr/>
    </dgm:pt>
    <dgm:pt modelId="{3332A04A-A60E-45FB-B848-BAAFF28B0871}">
      <dgm:prSet custT="1"/>
      <dgm:spPr/>
      <dgm:t>
        <a:bodyPr/>
        <a:lstStyle/>
        <a:p>
          <a:r>
            <a:rPr lang="tr-TR" sz="1800" dirty="0"/>
            <a:t>Counterparty</a:t>
          </a:r>
          <a:endParaRPr lang="en-US" sz="1800" dirty="0"/>
        </a:p>
      </dgm:t>
    </dgm:pt>
    <dgm:pt modelId="{B584C2E0-B475-4211-BD69-F7DF1EDF93D1}" type="parTrans" cxnId="{4605D348-925E-4C7A-A76F-BFF745B0C6C0}">
      <dgm:prSet/>
      <dgm:spPr/>
    </dgm:pt>
    <dgm:pt modelId="{816AFF58-EBCA-4AE3-8BC0-70C8A347FA8A}" type="sibTrans" cxnId="{4605D348-925E-4C7A-A76F-BFF745B0C6C0}">
      <dgm:prSet/>
      <dgm:spPr/>
    </dgm:pt>
    <dgm:pt modelId="{5EB3A76A-B1C9-4B98-9A46-534E1B21B714}">
      <dgm:prSet custT="1"/>
      <dgm:spPr/>
      <dgm:t>
        <a:bodyPr/>
        <a:lstStyle/>
        <a:p>
          <a:r>
            <a:rPr lang="en-US" sz="1800" dirty="0"/>
            <a:t>Payment Channels and State Channels</a:t>
          </a:r>
        </a:p>
      </dgm:t>
    </dgm:pt>
    <dgm:pt modelId="{15EA869F-E276-4BE2-9D80-63788D745C26}" type="parTrans" cxnId="{F72C0987-0053-4DBE-B423-17F83A97F232}">
      <dgm:prSet/>
      <dgm:spPr/>
    </dgm:pt>
    <dgm:pt modelId="{169C0B9A-C522-4FFF-8934-EEE7E3D59126}" type="sibTrans" cxnId="{F72C0987-0053-4DBE-B423-17F83A97F232}">
      <dgm:prSet/>
      <dgm:spPr/>
    </dgm:pt>
    <dgm:pt modelId="{7B66AAE1-E279-4275-AF68-E715FD1711EA}">
      <dgm:prSet custT="1"/>
      <dgm:spPr/>
      <dgm:t>
        <a:bodyPr/>
        <a:lstStyle/>
        <a:p>
          <a:r>
            <a:rPr lang="en-US" sz="1800" dirty="0"/>
            <a:t>Routed Payment Channels (Lightning Network)</a:t>
          </a:r>
        </a:p>
      </dgm:t>
    </dgm:pt>
    <dgm:pt modelId="{74A6E67E-37B9-49C7-B05F-1D8BC74B43D2}" type="parTrans" cxnId="{DFEFB751-10AE-489C-8754-F18431C739B4}">
      <dgm:prSet/>
      <dgm:spPr/>
    </dgm:pt>
    <dgm:pt modelId="{3FAE277C-55E7-4810-A2E3-EF6E98213DE6}" type="sibTrans" cxnId="{DFEFB751-10AE-489C-8754-F18431C739B4}">
      <dgm:prSet/>
      <dgm:spPr/>
    </dgm:pt>
    <dgm:pt modelId="{AB3D1AF4-8AD6-4C2B-88AE-E7D156FE1009}">
      <dgm:prSet custT="1"/>
      <dgm:spPr/>
      <dgm:t>
        <a:bodyPr/>
        <a:lstStyle/>
        <a:p>
          <a:r>
            <a:rPr lang="tr-TR" sz="1800" dirty="0"/>
            <a:t>Conclusion</a:t>
          </a:r>
          <a:endParaRPr lang="en-US" sz="1800" dirty="0"/>
        </a:p>
      </dgm:t>
    </dgm:pt>
    <dgm:pt modelId="{C3701CAC-5857-4B72-BF69-D614A180591F}" type="parTrans" cxnId="{BACD545A-030D-434E-BFA6-D8794A9F61CA}">
      <dgm:prSet/>
      <dgm:spPr/>
    </dgm:pt>
    <dgm:pt modelId="{F4A1B910-AF0F-47CC-92B9-293E1F080AB6}" type="sibTrans" cxnId="{BACD545A-030D-434E-BFA6-D8794A9F61CA}">
      <dgm:prSet/>
      <dgm:spPr/>
    </dgm:pt>
    <dgm:pt modelId="{2954409B-7250-4741-8A82-320B47154396}" type="pres">
      <dgm:prSet presAssocID="{A133FCAE-E73A-4F6E-AAE2-9B409B02E4EB}" presName="linear" presStyleCnt="0">
        <dgm:presLayoutVars>
          <dgm:dir/>
          <dgm:animLvl val="lvl"/>
          <dgm:resizeHandles val="exact"/>
        </dgm:presLayoutVars>
      </dgm:prSet>
      <dgm:spPr/>
    </dgm:pt>
    <dgm:pt modelId="{9581F33C-8A4B-4E33-B2E4-2EC6791E2EAD}" type="pres">
      <dgm:prSet presAssocID="{15B65624-C22F-413D-AD5F-65AC1BCABB3F}" presName="parentLin" presStyleCnt="0"/>
      <dgm:spPr/>
    </dgm:pt>
    <dgm:pt modelId="{734AB1F5-81E4-4448-A0D5-FF4FBE032EDB}" type="pres">
      <dgm:prSet presAssocID="{15B65624-C22F-413D-AD5F-65AC1BCABB3F}" presName="parentLeftMargin" presStyleLbl="node1" presStyleIdx="0" presStyleCnt="8"/>
      <dgm:spPr/>
    </dgm:pt>
    <dgm:pt modelId="{80B32E0F-FF67-4FC5-995F-6278FEEDFF25}" type="pres">
      <dgm:prSet presAssocID="{15B65624-C22F-413D-AD5F-65AC1BCABB3F}" presName="parentText" presStyleLbl="node1" presStyleIdx="0" presStyleCnt="8">
        <dgm:presLayoutVars>
          <dgm:chMax val="0"/>
          <dgm:bulletEnabled val="1"/>
        </dgm:presLayoutVars>
      </dgm:prSet>
      <dgm:spPr/>
    </dgm:pt>
    <dgm:pt modelId="{2B37F898-23BC-43B1-8C55-56D9ED0ACDE1}" type="pres">
      <dgm:prSet presAssocID="{15B65624-C22F-413D-AD5F-65AC1BCABB3F}" presName="negativeSpace" presStyleCnt="0"/>
      <dgm:spPr/>
    </dgm:pt>
    <dgm:pt modelId="{7E600FBD-C113-4964-A295-11470F791671}" type="pres">
      <dgm:prSet presAssocID="{15B65624-C22F-413D-AD5F-65AC1BCABB3F}" presName="childText" presStyleLbl="conFgAcc1" presStyleIdx="0" presStyleCnt="8">
        <dgm:presLayoutVars>
          <dgm:bulletEnabled val="1"/>
        </dgm:presLayoutVars>
      </dgm:prSet>
      <dgm:spPr/>
    </dgm:pt>
    <dgm:pt modelId="{CC005CA1-9C27-4A39-B709-759CF465E60B}" type="pres">
      <dgm:prSet presAssocID="{58605F30-56FD-4D59-8BB0-BE7FD6768D2F}" presName="spaceBetweenRectangles" presStyleCnt="0"/>
      <dgm:spPr/>
    </dgm:pt>
    <dgm:pt modelId="{57D3BDE5-7423-483D-89A8-0E1804D9B56F}" type="pres">
      <dgm:prSet presAssocID="{28FA0ACB-9BE0-4E05-9785-FD7E554DB653}" presName="parentLin" presStyleCnt="0"/>
      <dgm:spPr/>
    </dgm:pt>
    <dgm:pt modelId="{0DEE52C6-C51A-47A6-9F47-85DF1D3933E8}" type="pres">
      <dgm:prSet presAssocID="{28FA0ACB-9BE0-4E05-9785-FD7E554DB653}" presName="parentLeftMargin" presStyleLbl="node1" presStyleIdx="0" presStyleCnt="8"/>
      <dgm:spPr/>
    </dgm:pt>
    <dgm:pt modelId="{7E0CF83A-D079-428C-9AAC-022860F686EA}" type="pres">
      <dgm:prSet presAssocID="{28FA0ACB-9BE0-4E05-9785-FD7E554DB653}" presName="parentText" presStyleLbl="node1" presStyleIdx="1" presStyleCnt="8">
        <dgm:presLayoutVars>
          <dgm:chMax val="0"/>
          <dgm:bulletEnabled val="1"/>
        </dgm:presLayoutVars>
      </dgm:prSet>
      <dgm:spPr/>
    </dgm:pt>
    <dgm:pt modelId="{F2BE61AD-966B-4A03-8DD0-BD310D84D268}" type="pres">
      <dgm:prSet presAssocID="{28FA0ACB-9BE0-4E05-9785-FD7E554DB653}" presName="negativeSpace" presStyleCnt="0"/>
      <dgm:spPr/>
    </dgm:pt>
    <dgm:pt modelId="{70C2B46A-1683-426D-AEC7-797794C3FD2D}" type="pres">
      <dgm:prSet presAssocID="{28FA0ACB-9BE0-4E05-9785-FD7E554DB653}" presName="childText" presStyleLbl="conFgAcc1" presStyleIdx="1" presStyleCnt="8">
        <dgm:presLayoutVars>
          <dgm:bulletEnabled val="1"/>
        </dgm:presLayoutVars>
      </dgm:prSet>
      <dgm:spPr/>
    </dgm:pt>
    <dgm:pt modelId="{3F909B1B-E695-45DD-BDA0-A66006DA71B0}" type="pres">
      <dgm:prSet presAssocID="{E177175F-2D53-414C-A935-FEA8484BC284}" presName="spaceBetweenRectangles" presStyleCnt="0"/>
      <dgm:spPr/>
    </dgm:pt>
    <dgm:pt modelId="{52BF5A4B-CBB8-41CA-B0E7-7E095F56666C}" type="pres">
      <dgm:prSet presAssocID="{54713A42-FA91-4621-A90D-DB48C839EBDE}" presName="parentLin" presStyleCnt="0"/>
      <dgm:spPr/>
    </dgm:pt>
    <dgm:pt modelId="{9CD78C95-6717-48B9-B538-9AAE4BA72348}" type="pres">
      <dgm:prSet presAssocID="{54713A42-FA91-4621-A90D-DB48C839EBDE}" presName="parentLeftMargin" presStyleLbl="node1" presStyleIdx="1" presStyleCnt="8"/>
      <dgm:spPr/>
    </dgm:pt>
    <dgm:pt modelId="{F9B54F2F-115C-40F3-B40A-8B958DFA04F0}" type="pres">
      <dgm:prSet presAssocID="{54713A42-FA91-4621-A90D-DB48C839EBDE}" presName="parentText" presStyleLbl="node1" presStyleIdx="2" presStyleCnt="8">
        <dgm:presLayoutVars>
          <dgm:chMax val="0"/>
          <dgm:bulletEnabled val="1"/>
        </dgm:presLayoutVars>
      </dgm:prSet>
      <dgm:spPr/>
    </dgm:pt>
    <dgm:pt modelId="{4C773F7F-70E4-4553-9756-07CF6682B3A2}" type="pres">
      <dgm:prSet presAssocID="{54713A42-FA91-4621-A90D-DB48C839EBDE}" presName="negativeSpace" presStyleCnt="0"/>
      <dgm:spPr/>
    </dgm:pt>
    <dgm:pt modelId="{1F9DD730-5D9B-4AFA-B1B1-BE5ED14555D4}" type="pres">
      <dgm:prSet presAssocID="{54713A42-FA91-4621-A90D-DB48C839EBDE}" presName="childText" presStyleLbl="conFgAcc1" presStyleIdx="2" presStyleCnt="8">
        <dgm:presLayoutVars>
          <dgm:bulletEnabled val="1"/>
        </dgm:presLayoutVars>
      </dgm:prSet>
      <dgm:spPr/>
    </dgm:pt>
    <dgm:pt modelId="{55B25968-2604-4805-9DD6-A236518CE6A2}" type="pres">
      <dgm:prSet presAssocID="{4A43A648-9022-4178-93F7-08286610B467}" presName="spaceBetweenRectangles" presStyleCnt="0"/>
      <dgm:spPr/>
    </dgm:pt>
    <dgm:pt modelId="{B07DC825-503C-488C-A850-047B5E636D5C}" type="pres">
      <dgm:prSet presAssocID="{650141E8-CB1E-45BA-B123-561BC775F15A}" presName="parentLin" presStyleCnt="0"/>
      <dgm:spPr/>
    </dgm:pt>
    <dgm:pt modelId="{B02CD97A-585D-4B80-B2CB-04AB654EB068}" type="pres">
      <dgm:prSet presAssocID="{650141E8-CB1E-45BA-B123-561BC775F15A}" presName="parentLeftMargin" presStyleLbl="node1" presStyleIdx="2" presStyleCnt="8"/>
      <dgm:spPr/>
    </dgm:pt>
    <dgm:pt modelId="{0C7CF1A0-2068-4DEA-94EE-45E834462303}" type="pres">
      <dgm:prSet presAssocID="{650141E8-CB1E-45BA-B123-561BC775F15A}" presName="parentText" presStyleLbl="node1" presStyleIdx="3" presStyleCnt="8">
        <dgm:presLayoutVars>
          <dgm:chMax val="0"/>
          <dgm:bulletEnabled val="1"/>
        </dgm:presLayoutVars>
      </dgm:prSet>
      <dgm:spPr/>
    </dgm:pt>
    <dgm:pt modelId="{B17644C2-DCF8-4B8D-90BB-89D8ED018C2B}" type="pres">
      <dgm:prSet presAssocID="{650141E8-CB1E-45BA-B123-561BC775F15A}" presName="negativeSpace" presStyleCnt="0"/>
      <dgm:spPr/>
    </dgm:pt>
    <dgm:pt modelId="{DCFB640D-C4BD-48AA-8383-1A912AE72DE8}" type="pres">
      <dgm:prSet presAssocID="{650141E8-CB1E-45BA-B123-561BC775F15A}" presName="childText" presStyleLbl="conFgAcc1" presStyleIdx="3" presStyleCnt="8">
        <dgm:presLayoutVars>
          <dgm:bulletEnabled val="1"/>
        </dgm:presLayoutVars>
      </dgm:prSet>
      <dgm:spPr/>
    </dgm:pt>
    <dgm:pt modelId="{87D554BF-E963-4BD4-A1D1-0E9BE2C7E446}" type="pres">
      <dgm:prSet presAssocID="{991F72BA-5BAD-48EE-B1C3-9DA524843E63}" presName="spaceBetweenRectangles" presStyleCnt="0"/>
      <dgm:spPr/>
    </dgm:pt>
    <dgm:pt modelId="{2DAC6331-7820-4C98-BED0-E69D552461BC}" type="pres">
      <dgm:prSet presAssocID="{3332A04A-A60E-45FB-B848-BAAFF28B0871}" presName="parentLin" presStyleCnt="0"/>
      <dgm:spPr/>
    </dgm:pt>
    <dgm:pt modelId="{476FB15C-1E1C-481E-A613-9472C1B6DE7B}" type="pres">
      <dgm:prSet presAssocID="{3332A04A-A60E-45FB-B848-BAAFF28B0871}" presName="parentLeftMargin" presStyleLbl="node1" presStyleIdx="3" presStyleCnt="8"/>
      <dgm:spPr/>
    </dgm:pt>
    <dgm:pt modelId="{AFA4BBA5-BEB7-44C9-B535-FCF7A7708C06}" type="pres">
      <dgm:prSet presAssocID="{3332A04A-A60E-45FB-B848-BAAFF28B0871}" presName="parentText" presStyleLbl="node1" presStyleIdx="4" presStyleCnt="8">
        <dgm:presLayoutVars>
          <dgm:chMax val="0"/>
          <dgm:bulletEnabled val="1"/>
        </dgm:presLayoutVars>
      </dgm:prSet>
      <dgm:spPr/>
    </dgm:pt>
    <dgm:pt modelId="{34B59300-BB8A-489F-B015-116440C9EE87}" type="pres">
      <dgm:prSet presAssocID="{3332A04A-A60E-45FB-B848-BAAFF28B0871}" presName="negativeSpace" presStyleCnt="0"/>
      <dgm:spPr/>
    </dgm:pt>
    <dgm:pt modelId="{B5C4A507-47C8-4D59-82E5-1F3D74BDDB15}" type="pres">
      <dgm:prSet presAssocID="{3332A04A-A60E-45FB-B848-BAAFF28B0871}" presName="childText" presStyleLbl="conFgAcc1" presStyleIdx="4" presStyleCnt="8">
        <dgm:presLayoutVars>
          <dgm:bulletEnabled val="1"/>
        </dgm:presLayoutVars>
      </dgm:prSet>
      <dgm:spPr/>
    </dgm:pt>
    <dgm:pt modelId="{2AACA7C4-9844-4D5D-8367-1FB691D75C0E}" type="pres">
      <dgm:prSet presAssocID="{816AFF58-EBCA-4AE3-8BC0-70C8A347FA8A}" presName="spaceBetweenRectangles" presStyleCnt="0"/>
      <dgm:spPr/>
    </dgm:pt>
    <dgm:pt modelId="{BE85B9F4-EA73-4F99-9E4A-A4724F927757}" type="pres">
      <dgm:prSet presAssocID="{5EB3A76A-B1C9-4B98-9A46-534E1B21B714}" presName="parentLin" presStyleCnt="0"/>
      <dgm:spPr/>
    </dgm:pt>
    <dgm:pt modelId="{08FFD8D1-4D1E-46F6-ABD3-14AC0B86DF6A}" type="pres">
      <dgm:prSet presAssocID="{5EB3A76A-B1C9-4B98-9A46-534E1B21B714}" presName="parentLeftMargin" presStyleLbl="node1" presStyleIdx="4" presStyleCnt="8"/>
      <dgm:spPr/>
    </dgm:pt>
    <dgm:pt modelId="{7AE1457A-27E1-4687-88A1-E017972C66EB}" type="pres">
      <dgm:prSet presAssocID="{5EB3A76A-B1C9-4B98-9A46-534E1B21B714}" presName="parentText" presStyleLbl="node1" presStyleIdx="5" presStyleCnt="8">
        <dgm:presLayoutVars>
          <dgm:chMax val="0"/>
          <dgm:bulletEnabled val="1"/>
        </dgm:presLayoutVars>
      </dgm:prSet>
      <dgm:spPr/>
    </dgm:pt>
    <dgm:pt modelId="{8EFC0919-8369-4EDB-8DE6-501EB26A6A64}" type="pres">
      <dgm:prSet presAssocID="{5EB3A76A-B1C9-4B98-9A46-534E1B21B714}" presName="negativeSpace" presStyleCnt="0"/>
      <dgm:spPr/>
    </dgm:pt>
    <dgm:pt modelId="{8DD6B91C-347B-4124-B2C3-E7A05F95084C}" type="pres">
      <dgm:prSet presAssocID="{5EB3A76A-B1C9-4B98-9A46-534E1B21B714}" presName="childText" presStyleLbl="conFgAcc1" presStyleIdx="5" presStyleCnt="8">
        <dgm:presLayoutVars>
          <dgm:bulletEnabled val="1"/>
        </dgm:presLayoutVars>
      </dgm:prSet>
      <dgm:spPr/>
    </dgm:pt>
    <dgm:pt modelId="{5DD467B0-3775-4798-B22C-999850EC49EB}" type="pres">
      <dgm:prSet presAssocID="{169C0B9A-C522-4FFF-8934-EEE7E3D59126}" presName="spaceBetweenRectangles" presStyleCnt="0"/>
      <dgm:spPr/>
    </dgm:pt>
    <dgm:pt modelId="{8435312E-48A6-48A4-AFB6-D572330A765E}" type="pres">
      <dgm:prSet presAssocID="{7B66AAE1-E279-4275-AF68-E715FD1711EA}" presName="parentLin" presStyleCnt="0"/>
      <dgm:spPr/>
    </dgm:pt>
    <dgm:pt modelId="{80F78669-2A17-4EB7-8582-6D0613CC23E4}" type="pres">
      <dgm:prSet presAssocID="{7B66AAE1-E279-4275-AF68-E715FD1711EA}" presName="parentLeftMargin" presStyleLbl="node1" presStyleIdx="5" presStyleCnt="8"/>
      <dgm:spPr/>
    </dgm:pt>
    <dgm:pt modelId="{15FC47B7-6CF7-4317-9596-D289B882C771}" type="pres">
      <dgm:prSet presAssocID="{7B66AAE1-E279-4275-AF68-E715FD1711EA}" presName="parentText" presStyleLbl="node1" presStyleIdx="6" presStyleCnt="8">
        <dgm:presLayoutVars>
          <dgm:chMax val="0"/>
          <dgm:bulletEnabled val="1"/>
        </dgm:presLayoutVars>
      </dgm:prSet>
      <dgm:spPr/>
    </dgm:pt>
    <dgm:pt modelId="{B78516F3-2DF8-40BF-8303-B142049547B2}" type="pres">
      <dgm:prSet presAssocID="{7B66AAE1-E279-4275-AF68-E715FD1711EA}" presName="negativeSpace" presStyleCnt="0"/>
      <dgm:spPr/>
    </dgm:pt>
    <dgm:pt modelId="{C0B557D5-CCE6-44B4-B2FB-3B89E8596183}" type="pres">
      <dgm:prSet presAssocID="{7B66AAE1-E279-4275-AF68-E715FD1711EA}" presName="childText" presStyleLbl="conFgAcc1" presStyleIdx="6" presStyleCnt="8">
        <dgm:presLayoutVars>
          <dgm:bulletEnabled val="1"/>
        </dgm:presLayoutVars>
      </dgm:prSet>
      <dgm:spPr/>
    </dgm:pt>
    <dgm:pt modelId="{DA56B935-8857-4690-BB46-9078D1C83DBE}" type="pres">
      <dgm:prSet presAssocID="{3FAE277C-55E7-4810-A2E3-EF6E98213DE6}" presName="spaceBetweenRectangles" presStyleCnt="0"/>
      <dgm:spPr/>
    </dgm:pt>
    <dgm:pt modelId="{0986D3D7-1E78-4662-9F1A-3C6FA1335545}" type="pres">
      <dgm:prSet presAssocID="{AB3D1AF4-8AD6-4C2B-88AE-E7D156FE1009}" presName="parentLin" presStyleCnt="0"/>
      <dgm:spPr/>
    </dgm:pt>
    <dgm:pt modelId="{065D84C4-59B5-4BA8-8B3D-C3CFAC57A982}" type="pres">
      <dgm:prSet presAssocID="{AB3D1AF4-8AD6-4C2B-88AE-E7D156FE1009}" presName="parentLeftMargin" presStyleLbl="node1" presStyleIdx="6" presStyleCnt="8"/>
      <dgm:spPr/>
    </dgm:pt>
    <dgm:pt modelId="{5FA7F3AC-511E-44ED-8414-764055185257}" type="pres">
      <dgm:prSet presAssocID="{AB3D1AF4-8AD6-4C2B-88AE-E7D156FE1009}" presName="parentText" presStyleLbl="node1" presStyleIdx="7" presStyleCnt="8">
        <dgm:presLayoutVars>
          <dgm:chMax val="0"/>
          <dgm:bulletEnabled val="1"/>
        </dgm:presLayoutVars>
      </dgm:prSet>
      <dgm:spPr/>
    </dgm:pt>
    <dgm:pt modelId="{DD522FE2-E796-4E21-9F75-3525B6F1A465}" type="pres">
      <dgm:prSet presAssocID="{AB3D1AF4-8AD6-4C2B-88AE-E7D156FE1009}" presName="negativeSpace" presStyleCnt="0"/>
      <dgm:spPr/>
    </dgm:pt>
    <dgm:pt modelId="{66C728BE-EFAD-4251-9AF6-1A3E7829D61F}" type="pres">
      <dgm:prSet presAssocID="{AB3D1AF4-8AD6-4C2B-88AE-E7D156FE1009}" presName="childText" presStyleLbl="conFgAcc1" presStyleIdx="7" presStyleCnt="8">
        <dgm:presLayoutVars>
          <dgm:bulletEnabled val="1"/>
        </dgm:presLayoutVars>
      </dgm:prSet>
      <dgm:spPr/>
    </dgm:pt>
  </dgm:ptLst>
  <dgm:cxnLst>
    <dgm:cxn modelId="{A570A703-2694-4808-8E99-73A6E952E0CA}" srcId="{A133FCAE-E73A-4F6E-AAE2-9B409B02E4EB}" destId="{28FA0ACB-9BE0-4E05-9785-FD7E554DB653}" srcOrd="1" destOrd="0" parTransId="{F0659631-892E-44C1-91D7-AB865EADB356}" sibTransId="{E177175F-2D53-414C-A935-FEA8484BC284}"/>
    <dgm:cxn modelId="{6B71E205-C81C-489C-830F-3E89F1975C88}" type="presOf" srcId="{54713A42-FA91-4621-A90D-DB48C839EBDE}" destId="{9CD78C95-6717-48B9-B538-9AAE4BA72348}" srcOrd="0" destOrd="0" presId="urn:microsoft.com/office/officeart/2005/8/layout/list1"/>
    <dgm:cxn modelId="{05490708-653A-4E6E-BA96-DB36F8DC03B3}" type="presOf" srcId="{CEB2A431-FDBE-4E5A-8AAE-48801FC8DFC6}" destId="{DCFB640D-C4BD-48AA-8383-1A912AE72DE8}" srcOrd="0" destOrd="0" presId="urn:microsoft.com/office/officeart/2005/8/layout/list1"/>
    <dgm:cxn modelId="{9A668910-CC87-4BE7-95DE-898401976B52}" srcId="{650141E8-CB1E-45BA-B123-561BC775F15A}" destId="{CEB2A431-FDBE-4E5A-8AAE-48801FC8DFC6}" srcOrd="0" destOrd="0" parTransId="{7DA7941B-0620-4EB9-9EF0-F208CF13C4A3}" sibTransId="{709FE47E-07DD-4113-AA0F-352B41AA4E43}"/>
    <dgm:cxn modelId="{08023824-7B0B-430C-BD01-CAE034DE721C}" type="presOf" srcId="{7B66AAE1-E279-4275-AF68-E715FD1711EA}" destId="{80F78669-2A17-4EB7-8582-6D0613CC23E4}" srcOrd="0" destOrd="0" presId="urn:microsoft.com/office/officeart/2005/8/layout/list1"/>
    <dgm:cxn modelId="{BFDEB828-2E51-460E-A5E8-B3010DB83275}" srcId="{650141E8-CB1E-45BA-B123-561BC775F15A}" destId="{C55AEC1F-7329-4EBD-BE11-6EE29EE4E560}" srcOrd="2" destOrd="0" parTransId="{A194E371-F6D7-4362-AF4E-1C7E468C01E1}" sibTransId="{C7770DF3-6CAA-4F46-B957-9BFF73022AEC}"/>
    <dgm:cxn modelId="{392DAC2B-3C23-413F-90F3-4EE4137A0701}" type="presOf" srcId="{28FA0ACB-9BE0-4E05-9785-FD7E554DB653}" destId="{7E0CF83A-D079-428C-9AAC-022860F686EA}" srcOrd="1" destOrd="0" presId="urn:microsoft.com/office/officeart/2005/8/layout/list1"/>
    <dgm:cxn modelId="{9D07CD2C-D606-4691-8521-B5D95245AF46}" srcId="{A133FCAE-E73A-4F6E-AAE2-9B409B02E4EB}" destId="{54713A42-FA91-4621-A90D-DB48C839EBDE}" srcOrd="2" destOrd="0" parTransId="{FED5CCE4-E37B-42E5-B669-8A9F40B1CFD6}" sibTransId="{4A43A648-9022-4178-93F7-08286610B467}"/>
    <dgm:cxn modelId="{8FFC8A2D-D717-42B6-8BF9-EF45273FE4E7}" srcId="{A133FCAE-E73A-4F6E-AAE2-9B409B02E4EB}" destId="{15B65624-C22F-413D-AD5F-65AC1BCABB3F}" srcOrd="0" destOrd="0" parTransId="{D6790728-1295-4788-87F8-A816380334AB}" sibTransId="{58605F30-56FD-4D59-8BB0-BE7FD6768D2F}"/>
    <dgm:cxn modelId="{59478730-C683-40B0-9E4E-7F39C7593909}" type="presOf" srcId="{54713A42-FA91-4621-A90D-DB48C839EBDE}" destId="{F9B54F2F-115C-40F3-B40A-8B958DFA04F0}" srcOrd="1" destOrd="0" presId="urn:microsoft.com/office/officeart/2005/8/layout/list1"/>
    <dgm:cxn modelId="{854AE93C-192C-47DD-BA3B-7C2431CF8EEA}" type="presOf" srcId="{5EB3A76A-B1C9-4B98-9A46-534E1B21B714}" destId="{08FFD8D1-4D1E-46F6-ABD3-14AC0B86DF6A}" srcOrd="0" destOrd="0" presId="urn:microsoft.com/office/officeart/2005/8/layout/list1"/>
    <dgm:cxn modelId="{4091D85D-AD24-4BE9-82C0-C24B7847D763}" type="presOf" srcId="{15B65624-C22F-413D-AD5F-65AC1BCABB3F}" destId="{734AB1F5-81E4-4448-A0D5-FF4FBE032EDB}" srcOrd="0" destOrd="0" presId="urn:microsoft.com/office/officeart/2005/8/layout/list1"/>
    <dgm:cxn modelId="{4605D348-925E-4C7A-A76F-BFF745B0C6C0}" srcId="{A133FCAE-E73A-4F6E-AAE2-9B409B02E4EB}" destId="{3332A04A-A60E-45FB-B848-BAAFF28B0871}" srcOrd="4" destOrd="0" parTransId="{B584C2E0-B475-4211-BD69-F7DF1EDF93D1}" sibTransId="{816AFF58-EBCA-4AE3-8BC0-70C8A347FA8A}"/>
    <dgm:cxn modelId="{D30CB96B-7A08-4CD8-B3E6-3B8B2EB20E9C}" type="presOf" srcId="{650141E8-CB1E-45BA-B123-561BC775F15A}" destId="{B02CD97A-585D-4B80-B2CB-04AB654EB068}" srcOrd="0" destOrd="0" presId="urn:microsoft.com/office/officeart/2005/8/layout/list1"/>
    <dgm:cxn modelId="{DFEFB751-10AE-489C-8754-F18431C739B4}" srcId="{A133FCAE-E73A-4F6E-AAE2-9B409B02E4EB}" destId="{7B66AAE1-E279-4275-AF68-E715FD1711EA}" srcOrd="6" destOrd="0" parTransId="{74A6E67E-37B9-49C7-B05F-1D8BC74B43D2}" sibTransId="{3FAE277C-55E7-4810-A2E3-EF6E98213DE6}"/>
    <dgm:cxn modelId="{BACD545A-030D-434E-BFA6-D8794A9F61CA}" srcId="{A133FCAE-E73A-4F6E-AAE2-9B409B02E4EB}" destId="{AB3D1AF4-8AD6-4C2B-88AE-E7D156FE1009}" srcOrd="7" destOrd="0" parTransId="{C3701CAC-5857-4B72-BF69-D614A180591F}" sibTransId="{F4A1B910-AF0F-47CC-92B9-293E1F080AB6}"/>
    <dgm:cxn modelId="{F72C0987-0053-4DBE-B423-17F83A97F232}" srcId="{A133FCAE-E73A-4F6E-AAE2-9B409B02E4EB}" destId="{5EB3A76A-B1C9-4B98-9A46-534E1B21B714}" srcOrd="5" destOrd="0" parTransId="{15EA869F-E276-4BE2-9D80-63788D745C26}" sibTransId="{169C0B9A-C522-4FFF-8934-EEE7E3D59126}"/>
    <dgm:cxn modelId="{205B6294-578E-444D-8E9C-E1E31133D00E}" type="presOf" srcId="{650141E8-CB1E-45BA-B123-561BC775F15A}" destId="{0C7CF1A0-2068-4DEA-94EE-45E834462303}" srcOrd="1" destOrd="0" presId="urn:microsoft.com/office/officeart/2005/8/layout/list1"/>
    <dgm:cxn modelId="{33F0279E-BCAE-4067-8F6D-FF626FB8F96F}" type="presOf" srcId="{28FA0ACB-9BE0-4E05-9785-FD7E554DB653}" destId="{0DEE52C6-C51A-47A6-9F47-85DF1D3933E8}" srcOrd="0" destOrd="0" presId="urn:microsoft.com/office/officeart/2005/8/layout/list1"/>
    <dgm:cxn modelId="{FC3AD0A4-4D51-4DE5-94D6-EE92AE31E8A4}" type="presOf" srcId="{3332A04A-A60E-45FB-B848-BAAFF28B0871}" destId="{476FB15C-1E1C-481E-A613-9472C1B6DE7B}" srcOrd="0" destOrd="0" presId="urn:microsoft.com/office/officeart/2005/8/layout/list1"/>
    <dgm:cxn modelId="{61CB78AB-4A7E-49FE-933A-E939FA376531}" type="presOf" srcId="{15B65624-C22F-413D-AD5F-65AC1BCABB3F}" destId="{80B32E0F-FF67-4FC5-995F-6278FEEDFF25}" srcOrd="1" destOrd="0" presId="urn:microsoft.com/office/officeart/2005/8/layout/list1"/>
    <dgm:cxn modelId="{3E7535B9-8224-484A-8A8D-ED3E70964580}" srcId="{A133FCAE-E73A-4F6E-AAE2-9B409B02E4EB}" destId="{650141E8-CB1E-45BA-B123-561BC775F15A}" srcOrd="3" destOrd="0" parTransId="{869BA101-5E54-4F51-BC59-7144B02BAB8C}" sibTransId="{991F72BA-5BAD-48EE-B1C3-9DA524843E63}"/>
    <dgm:cxn modelId="{5B2789B9-9F93-4428-9750-2D626F48AD2F}" type="presOf" srcId="{7B66AAE1-E279-4275-AF68-E715FD1711EA}" destId="{15FC47B7-6CF7-4317-9596-D289B882C771}" srcOrd="1" destOrd="0" presId="urn:microsoft.com/office/officeart/2005/8/layout/list1"/>
    <dgm:cxn modelId="{3A17C6BB-337F-4E1B-9E75-34AC8C171DE3}" type="presOf" srcId="{AB3D1AF4-8AD6-4C2B-88AE-E7D156FE1009}" destId="{5FA7F3AC-511E-44ED-8414-764055185257}" srcOrd="1" destOrd="0" presId="urn:microsoft.com/office/officeart/2005/8/layout/list1"/>
    <dgm:cxn modelId="{E7E592C8-FC18-43F6-B8E3-484518B40A92}" type="presOf" srcId="{5EB3A76A-B1C9-4B98-9A46-534E1B21B714}" destId="{7AE1457A-27E1-4687-88A1-E017972C66EB}" srcOrd="1" destOrd="0" presId="urn:microsoft.com/office/officeart/2005/8/layout/list1"/>
    <dgm:cxn modelId="{D949F1CB-6181-4556-A183-C4007C613BCD}" type="presOf" srcId="{3332A04A-A60E-45FB-B848-BAAFF28B0871}" destId="{AFA4BBA5-BEB7-44C9-B535-FCF7A7708C06}" srcOrd="1" destOrd="0" presId="urn:microsoft.com/office/officeart/2005/8/layout/list1"/>
    <dgm:cxn modelId="{70C29EDB-CE95-4D31-A050-E555E251C949}" type="presOf" srcId="{C55AEC1F-7329-4EBD-BE11-6EE29EE4E560}" destId="{DCFB640D-C4BD-48AA-8383-1A912AE72DE8}" srcOrd="0" destOrd="2" presId="urn:microsoft.com/office/officeart/2005/8/layout/list1"/>
    <dgm:cxn modelId="{869762F1-20DE-4A20-97D9-784E0735BC41}" srcId="{650141E8-CB1E-45BA-B123-561BC775F15A}" destId="{5694B3E0-4530-4975-8D3F-282D0D89B9AE}" srcOrd="1" destOrd="0" parTransId="{1AC8E9FC-F521-4866-8368-6FC2A049A385}" sibTransId="{A688B86A-3C58-42EF-9F73-9570F5F6DE01}"/>
    <dgm:cxn modelId="{6C576AF2-8F50-4979-BA13-604C02C4B9C3}" type="presOf" srcId="{A133FCAE-E73A-4F6E-AAE2-9B409B02E4EB}" destId="{2954409B-7250-4741-8A82-320B47154396}" srcOrd="0" destOrd="0" presId="urn:microsoft.com/office/officeart/2005/8/layout/list1"/>
    <dgm:cxn modelId="{009782F2-67DE-4A42-BFDC-A85C03AFB5D6}" type="presOf" srcId="{5694B3E0-4530-4975-8D3F-282D0D89B9AE}" destId="{DCFB640D-C4BD-48AA-8383-1A912AE72DE8}" srcOrd="0" destOrd="1" presId="urn:microsoft.com/office/officeart/2005/8/layout/list1"/>
    <dgm:cxn modelId="{5B12A8F6-F20A-4EFC-80B0-9A52C9B39050}" type="presOf" srcId="{AB3D1AF4-8AD6-4C2B-88AE-E7D156FE1009}" destId="{065D84C4-59B5-4BA8-8B3D-C3CFAC57A982}" srcOrd="0" destOrd="0" presId="urn:microsoft.com/office/officeart/2005/8/layout/list1"/>
    <dgm:cxn modelId="{F36EAC6B-B979-486A-9CE7-52425C1FDF39}" type="presParOf" srcId="{2954409B-7250-4741-8A82-320B47154396}" destId="{9581F33C-8A4B-4E33-B2E4-2EC6791E2EAD}" srcOrd="0" destOrd="0" presId="urn:microsoft.com/office/officeart/2005/8/layout/list1"/>
    <dgm:cxn modelId="{B5813BDF-0E9D-41E3-AEA6-D8A3854738DC}" type="presParOf" srcId="{9581F33C-8A4B-4E33-B2E4-2EC6791E2EAD}" destId="{734AB1F5-81E4-4448-A0D5-FF4FBE032EDB}" srcOrd="0" destOrd="0" presId="urn:microsoft.com/office/officeart/2005/8/layout/list1"/>
    <dgm:cxn modelId="{72D3622E-6EDF-41DB-9E7E-7B80A46B8B00}" type="presParOf" srcId="{9581F33C-8A4B-4E33-B2E4-2EC6791E2EAD}" destId="{80B32E0F-FF67-4FC5-995F-6278FEEDFF25}" srcOrd="1" destOrd="0" presId="urn:microsoft.com/office/officeart/2005/8/layout/list1"/>
    <dgm:cxn modelId="{33A6C4EB-6770-4C73-AFFF-A8567D16866F}" type="presParOf" srcId="{2954409B-7250-4741-8A82-320B47154396}" destId="{2B37F898-23BC-43B1-8C55-56D9ED0ACDE1}" srcOrd="1" destOrd="0" presId="urn:microsoft.com/office/officeart/2005/8/layout/list1"/>
    <dgm:cxn modelId="{B059F120-737B-49A5-A286-6D987448A187}" type="presParOf" srcId="{2954409B-7250-4741-8A82-320B47154396}" destId="{7E600FBD-C113-4964-A295-11470F791671}" srcOrd="2" destOrd="0" presId="urn:microsoft.com/office/officeart/2005/8/layout/list1"/>
    <dgm:cxn modelId="{41D75552-2512-4AE5-AA74-693CDEFBC617}" type="presParOf" srcId="{2954409B-7250-4741-8A82-320B47154396}" destId="{CC005CA1-9C27-4A39-B709-759CF465E60B}" srcOrd="3" destOrd="0" presId="urn:microsoft.com/office/officeart/2005/8/layout/list1"/>
    <dgm:cxn modelId="{436B17F9-F05D-4941-B4C9-16CF4EC87F86}" type="presParOf" srcId="{2954409B-7250-4741-8A82-320B47154396}" destId="{57D3BDE5-7423-483D-89A8-0E1804D9B56F}" srcOrd="4" destOrd="0" presId="urn:microsoft.com/office/officeart/2005/8/layout/list1"/>
    <dgm:cxn modelId="{AAF7DBDC-BEE2-4029-9B6B-04ECC51509D0}" type="presParOf" srcId="{57D3BDE5-7423-483D-89A8-0E1804D9B56F}" destId="{0DEE52C6-C51A-47A6-9F47-85DF1D3933E8}" srcOrd="0" destOrd="0" presId="urn:microsoft.com/office/officeart/2005/8/layout/list1"/>
    <dgm:cxn modelId="{8D031FFF-6EAA-4C23-AC53-502FD25F3B22}" type="presParOf" srcId="{57D3BDE5-7423-483D-89A8-0E1804D9B56F}" destId="{7E0CF83A-D079-428C-9AAC-022860F686EA}" srcOrd="1" destOrd="0" presId="urn:microsoft.com/office/officeart/2005/8/layout/list1"/>
    <dgm:cxn modelId="{23CFD32A-7332-4F84-B049-BE67D22C83CD}" type="presParOf" srcId="{2954409B-7250-4741-8A82-320B47154396}" destId="{F2BE61AD-966B-4A03-8DD0-BD310D84D268}" srcOrd="5" destOrd="0" presId="urn:microsoft.com/office/officeart/2005/8/layout/list1"/>
    <dgm:cxn modelId="{670269B6-B6F7-405F-B17F-59EA0A3014EF}" type="presParOf" srcId="{2954409B-7250-4741-8A82-320B47154396}" destId="{70C2B46A-1683-426D-AEC7-797794C3FD2D}" srcOrd="6" destOrd="0" presId="urn:microsoft.com/office/officeart/2005/8/layout/list1"/>
    <dgm:cxn modelId="{36C36B34-3FDC-460D-8A82-AA915660C2A6}" type="presParOf" srcId="{2954409B-7250-4741-8A82-320B47154396}" destId="{3F909B1B-E695-45DD-BDA0-A66006DA71B0}" srcOrd="7" destOrd="0" presId="urn:microsoft.com/office/officeart/2005/8/layout/list1"/>
    <dgm:cxn modelId="{E8279C82-FD94-4F47-AE78-5F33127B1CD9}" type="presParOf" srcId="{2954409B-7250-4741-8A82-320B47154396}" destId="{52BF5A4B-CBB8-41CA-B0E7-7E095F56666C}" srcOrd="8" destOrd="0" presId="urn:microsoft.com/office/officeart/2005/8/layout/list1"/>
    <dgm:cxn modelId="{0A4CC9F5-6179-4D5D-9246-110E4A871652}" type="presParOf" srcId="{52BF5A4B-CBB8-41CA-B0E7-7E095F56666C}" destId="{9CD78C95-6717-48B9-B538-9AAE4BA72348}" srcOrd="0" destOrd="0" presId="urn:microsoft.com/office/officeart/2005/8/layout/list1"/>
    <dgm:cxn modelId="{89AF630D-B57C-4764-9803-66914EBCAFA5}" type="presParOf" srcId="{52BF5A4B-CBB8-41CA-B0E7-7E095F56666C}" destId="{F9B54F2F-115C-40F3-B40A-8B958DFA04F0}" srcOrd="1" destOrd="0" presId="urn:microsoft.com/office/officeart/2005/8/layout/list1"/>
    <dgm:cxn modelId="{BF929F57-9B1A-4079-93C6-ED1E23DC1FFC}" type="presParOf" srcId="{2954409B-7250-4741-8A82-320B47154396}" destId="{4C773F7F-70E4-4553-9756-07CF6682B3A2}" srcOrd="9" destOrd="0" presId="urn:microsoft.com/office/officeart/2005/8/layout/list1"/>
    <dgm:cxn modelId="{7A858E45-2DDD-4DDA-BC2F-FAB343B33D72}" type="presParOf" srcId="{2954409B-7250-4741-8A82-320B47154396}" destId="{1F9DD730-5D9B-4AFA-B1B1-BE5ED14555D4}" srcOrd="10" destOrd="0" presId="urn:microsoft.com/office/officeart/2005/8/layout/list1"/>
    <dgm:cxn modelId="{5D4A2DBB-0CD7-485B-9363-8C4810320EC0}" type="presParOf" srcId="{2954409B-7250-4741-8A82-320B47154396}" destId="{55B25968-2604-4805-9DD6-A236518CE6A2}" srcOrd="11" destOrd="0" presId="urn:microsoft.com/office/officeart/2005/8/layout/list1"/>
    <dgm:cxn modelId="{F718858D-46AF-4A61-B338-8F52CBE6C436}" type="presParOf" srcId="{2954409B-7250-4741-8A82-320B47154396}" destId="{B07DC825-503C-488C-A850-047B5E636D5C}" srcOrd="12" destOrd="0" presId="urn:microsoft.com/office/officeart/2005/8/layout/list1"/>
    <dgm:cxn modelId="{214DAA46-012E-457C-9B38-2DCEDB05721A}" type="presParOf" srcId="{B07DC825-503C-488C-A850-047B5E636D5C}" destId="{B02CD97A-585D-4B80-B2CB-04AB654EB068}" srcOrd="0" destOrd="0" presId="urn:microsoft.com/office/officeart/2005/8/layout/list1"/>
    <dgm:cxn modelId="{C4CC8CC1-E450-4683-A11C-B9CEECC3A7C4}" type="presParOf" srcId="{B07DC825-503C-488C-A850-047B5E636D5C}" destId="{0C7CF1A0-2068-4DEA-94EE-45E834462303}" srcOrd="1" destOrd="0" presId="urn:microsoft.com/office/officeart/2005/8/layout/list1"/>
    <dgm:cxn modelId="{AA3B536B-C8E5-4137-83DA-E857C107D094}" type="presParOf" srcId="{2954409B-7250-4741-8A82-320B47154396}" destId="{B17644C2-DCF8-4B8D-90BB-89D8ED018C2B}" srcOrd="13" destOrd="0" presId="urn:microsoft.com/office/officeart/2005/8/layout/list1"/>
    <dgm:cxn modelId="{5AEFC09A-CCF5-49F0-ABFB-7DBACBE02911}" type="presParOf" srcId="{2954409B-7250-4741-8A82-320B47154396}" destId="{DCFB640D-C4BD-48AA-8383-1A912AE72DE8}" srcOrd="14" destOrd="0" presId="urn:microsoft.com/office/officeart/2005/8/layout/list1"/>
    <dgm:cxn modelId="{99E191DF-3E5A-467E-A349-B77F00E36F37}" type="presParOf" srcId="{2954409B-7250-4741-8A82-320B47154396}" destId="{87D554BF-E963-4BD4-A1D1-0E9BE2C7E446}" srcOrd="15" destOrd="0" presId="urn:microsoft.com/office/officeart/2005/8/layout/list1"/>
    <dgm:cxn modelId="{2B259F67-1762-4E15-84A5-E1D068AAAE31}" type="presParOf" srcId="{2954409B-7250-4741-8A82-320B47154396}" destId="{2DAC6331-7820-4C98-BED0-E69D552461BC}" srcOrd="16" destOrd="0" presId="urn:microsoft.com/office/officeart/2005/8/layout/list1"/>
    <dgm:cxn modelId="{9A536D46-2DEC-4F1E-812A-144BD5F669CC}" type="presParOf" srcId="{2DAC6331-7820-4C98-BED0-E69D552461BC}" destId="{476FB15C-1E1C-481E-A613-9472C1B6DE7B}" srcOrd="0" destOrd="0" presId="urn:microsoft.com/office/officeart/2005/8/layout/list1"/>
    <dgm:cxn modelId="{06EBD0AC-11ED-4766-ACD2-754C222FC76B}" type="presParOf" srcId="{2DAC6331-7820-4C98-BED0-E69D552461BC}" destId="{AFA4BBA5-BEB7-44C9-B535-FCF7A7708C06}" srcOrd="1" destOrd="0" presId="urn:microsoft.com/office/officeart/2005/8/layout/list1"/>
    <dgm:cxn modelId="{58770ACF-96FC-48EA-B21A-C7D6518531CC}" type="presParOf" srcId="{2954409B-7250-4741-8A82-320B47154396}" destId="{34B59300-BB8A-489F-B015-116440C9EE87}" srcOrd="17" destOrd="0" presId="urn:microsoft.com/office/officeart/2005/8/layout/list1"/>
    <dgm:cxn modelId="{F07BB1C5-865F-4279-9E34-0071B24A8C84}" type="presParOf" srcId="{2954409B-7250-4741-8A82-320B47154396}" destId="{B5C4A507-47C8-4D59-82E5-1F3D74BDDB15}" srcOrd="18" destOrd="0" presId="urn:microsoft.com/office/officeart/2005/8/layout/list1"/>
    <dgm:cxn modelId="{6B22BEFD-F5B3-42AA-9F73-CACDDCEB8E72}" type="presParOf" srcId="{2954409B-7250-4741-8A82-320B47154396}" destId="{2AACA7C4-9844-4D5D-8367-1FB691D75C0E}" srcOrd="19" destOrd="0" presId="urn:microsoft.com/office/officeart/2005/8/layout/list1"/>
    <dgm:cxn modelId="{B9A4AFB2-4BD4-4C88-A586-2C997BBBAB27}" type="presParOf" srcId="{2954409B-7250-4741-8A82-320B47154396}" destId="{BE85B9F4-EA73-4F99-9E4A-A4724F927757}" srcOrd="20" destOrd="0" presId="urn:microsoft.com/office/officeart/2005/8/layout/list1"/>
    <dgm:cxn modelId="{2FBED344-5924-4987-A5A9-A307A1CC232D}" type="presParOf" srcId="{BE85B9F4-EA73-4F99-9E4A-A4724F927757}" destId="{08FFD8D1-4D1E-46F6-ABD3-14AC0B86DF6A}" srcOrd="0" destOrd="0" presId="urn:microsoft.com/office/officeart/2005/8/layout/list1"/>
    <dgm:cxn modelId="{75F86A06-8D61-4B54-B8EE-11948274D09A}" type="presParOf" srcId="{BE85B9F4-EA73-4F99-9E4A-A4724F927757}" destId="{7AE1457A-27E1-4687-88A1-E017972C66EB}" srcOrd="1" destOrd="0" presId="urn:microsoft.com/office/officeart/2005/8/layout/list1"/>
    <dgm:cxn modelId="{51EAF434-AE19-4173-AFAA-F830775A835E}" type="presParOf" srcId="{2954409B-7250-4741-8A82-320B47154396}" destId="{8EFC0919-8369-4EDB-8DE6-501EB26A6A64}" srcOrd="21" destOrd="0" presId="urn:microsoft.com/office/officeart/2005/8/layout/list1"/>
    <dgm:cxn modelId="{2AF89BD9-F84D-4D36-82C4-6CB2BE7E37DA}" type="presParOf" srcId="{2954409B-7250-4741-8A82-320B47154396}" destId="{8DD6B91C-347B-4124-B2C3-E7A05F95084C}" srcOrd="22" destOrd="0" presId="urn:microsoft.com/office/officeart/2005/8/layout/list1"/>
    <dgm:cxn modelId="{4F7663A0-5468-44F2-8279-667563D023F3}" type="presParOf" srcId="{2954409B-7250-4741-8A82-320B47154396}" destId="{5DD467B0-3775-4798-B22C-999850EC49EB}" srcOrd="23" destOrd="0" presId="urn:microsoft.com/office/officeart/2005/8/layout/list1"/>
    <dgm:cxn modelId="{6D5A028D-D1FB-47A0-BF65-86EBCB95DB08}" type="presParOf" srcId="{2954409B-7250-4741-8A82-320B47154396}" destId="{8435312E-48A6-48A4-AFB6-D572330A765E}" srcOrd="24" destOrd="0" presId="urn:microsoft.com/office/officeart/2005/8/layout/list1"/>
    <dgm:cxn modelId="{95123266-ADAC-4091-9561-037C09289B76}" type="presParOf" srcId="{8435312E-48A6-48A4-AFB6-D572330A765E}" destId="{80F78669-2A17-4EB7-8582-6D0613CC23E4}" srcOrd="0" destOrd="0" presId="urn:microsoft.com/office/officeart/2005/8/layout/list1"/>
    <dgm:cxn modelId="{8549EE73-F213-4402-AAE9-1A824D6EC60D}" type="presParOf" srcId="{8435312E-48A6-48A4-AFB6-D572330A765E}" destId="{15FC47B7-6CF7-4317-9596-D289B882C771}" srcOrd="1" destOrd="0" presId="urn:microsoft.com/office/officeart/2005/8/layout/list1"/>
    <dgm:cxn modelId="{2CDB9A9C-1CF8-494B-A038-C5AE964B55BD}" type="presParOf" srcId="{2954409B-7250-4741-8A82-320B47154396}" destId="{B78516F3-2DF8-40BF-8303-B142049547B2}" srcOrd="25" destOrd="0" presId="urn:microsoft.com/office/officeart/2005/8/layout/list1"/>
    <dgm:cxn modelId="{74C852AC-44A8-405B-95AC-D82C0F9F8F93}" type="presParOf" srcId="{2954409B-7250-4741-8A82-320B47154396}" destId="{C0B557D5-CCE6-44B4-B2FB-3B89E8596183}" srcOrd="26" destOrd="0" presId="urn:microsoft.com/office/officeart/2005/8/layout/list1"/>
    <dgm:cxn modelId="{A7A72D00-8298-4CC9-930A-DEA549796D5A}" type="presParOf" srcId="{2954409B-7250-4741-8A82-320B47154396}" destId="{DA56B935-8857-4690-BB46-9078D1C83DBE}" srcOrd="27" destOrd="0" presId="urn:microsoft.com/office/officeart/2005/8/layout/list1"/>
    <dgm:cxn modelId="{B29E9815-8184-46F9-971F-C73B55DD2F90}" type="presParOf" srcId="{2954409B-7250-4741-8A82-320B47154396}" destId="{0986D3D7-1E78-4662-9F1A-3C6FA1335545}" srcOrd="28" destOrd="0" presId="urn:microsoft.com/office/officeart/2005/8/layout/list1"/>
    <dgm:cxn modelId="{B79D4381-DB70-4E57-9DE5-A42D7C69E130}" type="presParOf" srcId="{0986D3D7-1E78-4662-9F1A-3C6FA1335545}" destId="{065D84C4-59B5-4BA8-8B3D-C3CFAC57A982}" srcOrd="0" destOrd="0" presId="urn:microsoft.com/office/officeart/2005/8/layout/list1"/>
    <dgm:cxn modelId="{6BE4CC4F-8F5A-47AF-8E35-B334AB34CCDE}" type="presParOf" srcId="{0986D3D7-1E78-4662-9F1A-3C6FA1335545}" destId="{5FA7F3AC-511E-44ED-8414-764055185257}" srcOrd="1" destOrd="0" presId="urn:microsoft.com/office/officeart/2005/8/layout/list1"/>
    <dgm:cxn modelId="{13D37405-C40D-44F1-AEBD-1D8F2B413662}" type="presParOf" srcId="{2954409B-7250-4741-8A82-320B47154396}" destId="{DD522FE2-E796-4E21-9F75-3525B6F1A465}" srcOrd="29" destOrd="0" presId="urn:microsoft.com/office/officeart/2005/8/layout/list1"/>
    <dgm:cxn modelId="{B070DF9E-984D-4920-8D4E-13683093EB3A}" type="presParOf" srcId="{2954409B-7250-4741-8A82-320B47154396}" destId="{66C728BE-EFAD-4251-9AF6-1A3E7829D61F}" srcOrd="3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diagrams.loki3.com/BracketLis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r>
            <a:rPr lang="tr-TR" dirty="0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r>
            <a:rPr lang="tr-TR" dirty="0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r>
            <a:rPr lang="tr-TR" dirty="0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r>
            <a:rPr lang="tr-TR" dirty="0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r>
            <a:rPr lang="en-US"/>
            <a:t>What do you think on this chapter?</a:t>
          </a:r>
          <a:endParaRPr lang="tr-TR" dirty="0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r>
            <a:rPr lang="en-US"/>
            <a:t>What </a:t>
          </a:r>
          <a:r>
            <a:rPr lang="en-US" dirty="0"/>
            <a:t>is the most interesting point?</a:t>
          </a:r>
          <a:endParaRPr lang="tr-TR" dirty="0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r>
            <a:rPr lang="en-US"/>
            <a:t>What </a:t>
          </a:r>
          <a:r>
            <a:rPr lang="en-US" dirty="0"/>
            <a:t>are the unclarified points?</a:t>
          </a:r>
          <a:endParaRPr lang="tr-TR" dirty="0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tr-TR" dirty="0"/>
            <a:t>e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4B0992C5-EBA2-42BD-AFEB-FD20768C0A06}" type="pres">
      <dgm:prSet presAssocID="{B56EFF07-F619-44CF-9BAA-6C7D336F5420}" presName="Name0" presStyleCnt="0">
        <dgm:presLayoutVars>
          <dgm:dir/>
          <dgm:animLvl val="lvl"/>
          <dgm:resizeHandles val="exact"/>
        </dgm:presLayoutVars>
      </dgm:prSet>
      <dgm:spPr/>
    </dgm:pt>
    <dgm:pt modelId="{476320CC-8C6E-47ED-931C-0B230D8B6AB4}" type="pres">
      <dgm:prSet presAssocID="{C39B30A5-73B7-415C-B676-12BF6CB4007C}" presName="linNode" presStyleCnt="0"/>
      <dgm:spPr/>
    </dgm:pt>
    <dgm:pt modelId="{E54DB4E4-1F4E-467F-BBD5-85B8AC8B4AAC}" type="pres">
      <dgm:prSet presAssocID="{C39B30A5-73B7-415C-B676-12BF6CB4007C}" presName="parTx" presStyleLbl="revTx" presStyleIdx="0" presStyleCnt="4">
        <dgm:presLayoutVars>
          <dgm:chMax val="1"/>
          <dgm:bulletEnabled val="1"/>
        </dgm:presLayoutVars>
      </dgm:prSet>
      <dgm:spPr/>
    </dgm:pt>
    <dgm:pt modelId="{2A108F87-7397-44D6-A3A0-A534BA9AEBFB}" type="pres">
      <dgm:prSet presAssocID="{C39B30A5-73B7-415C-B676-12BF6CB4007C}" presName="bracket" presStyleLbl="parChTrans1D1" presStyleIdx="0" presStyleCnt="4"/>
      <dgm:spPr/>
    </dgm:pt>
    <dgm:pt modelId="{258F787B-570D-4635-84D8-7F18911D6429}" type="pres">
      <dgm:prSet presAssocID="{C39B30A5-73B7-415C-B676-12BF6CB4007C}" presName="spH" presStyleCnt="0"/>
      <dgm:spPr/>
    </dgm:pt>
    <dgm:pt modelId="{E77CA117-0D04-4E02-A29B-41DF9359879F}" type="pres">
      <dgm:prSet presAssocID="{C39B30A5-73B7-415C-B676-12BF6CB4007C}" presName="desTx" presStyleLbl="node1" presStyleIdx="0" presStyleCnt="4">
        <dgm:presLayoutVars>
          <dgm:bulletEnabled val="1"/>
        </dgm:presLayoutVars>
      </dgm:prSet>
      <dgm:spPr/>
    </dgm:pt>
    <dgm:pt modelId="{5661998B-972F-4B59-AC01-E0A918C5175D}" type="pres">
      <dgm:prSet presAssocID="{52881BA2-E7AE-42C4-94D6-6579828C2B87}" presName="spV" presStyleCnt="0"/>
      <dgm:spPr/>
    </dgm:pt>
    <dgm:pt modelId="{A9E63CDB-B839-4876-BBF3-0384644475A3}" type="pres">
      <dgm:prSet presAssocID="{8841368A-36B1-48FC-A2A5-5D1EB7381265}" presName="linNode" presStyleCnt="0"/>
      <dgm:spPr/>
    </dgm:pt>
    <dgm:pt modelId="{B1433626-A47E-4B25-AA9A-3BBE021E0628}" type="pres">
      <dgm:prSet presAssocID="{8841368A-36B1-48FC-A2A5-5D1EB7381265}" presName="parTx" presStyleLbl="revTx" presStyleIdx="1" presStyleCnt="4">
        <dgm:presLayoutVars>
          <dgm:chMax val="1"/>
          <dgm:bulletEnabled val="1"/>
        </dgm:presLayoutVars>
      </dgm:prSet>
      <dgm:spPr/>
    </dgm:pt>
    <dgm:pt modelId="{E067AADF-C3F4-4AD8-BA4A-2D9B2B4F6339}" type="pres">
      <dgm:prSet presAssocID="{8841368A-36B1-48FC-A2A5-5D1EB7381265}" presName="bracket" presStyleLbl="parChTrans1D1" presStyleIdx="1" presStyleCnt="4"/>
      <dgm:spPr/>
    </dgm:pt>
    <dgm:pt modelId="{A1B9B6F2-D0C5-4ADE-8741-DDE1C7F96347}" type="pres">
      <dgm:prSet presAssocID="{8841368A-36B1-48FC-A2A5-5D1EB7381265}" presName="spH" presStyleCnt="0"/>
      <dgm:spPr/>
    </dgm:pt>
    <dgm:pt modelId="{BCB42873-909E-4BAE-BD5E-964E8D3ACC85}" type="pres">
      <dgm:prSet presAssocID="{8841368A-36B1-48FC-A2A5-5D1EB7381265}" presName="desTx" presStyleLbl="node1" presStyleIdx="1" presStyleCnt="4">
        <dgm:presLayoutVars>
          <dgm:bulletEnabled val="1"/>
        </dgm:presLayoutVars>
      </dgm:prSet>
      <dgm:spPr/>
    </dgm:pt>
    <dgm:pt modelId="{33988EA6-B606-4BD3-934C-E8FA5D40AF44}" type="pres">
      <dgm:prSet presAssocID="{4DB2FC51-182E-41E0-8584-5BB6B1D5B605}" presName="spV" presStyleCnt="0"/>
      <dgm:spPr/>
    </dgm:pt>
    <dgm:pt modelId="{7A01A168-82B5-4077-BD32-15C7243C60D9}" type="pres">
      <dgm:prSet presAssocID="{0849733B-2445-43CF-AD92-CD3266E42B5C}" presName="linNode" presStyleCnt="0"/>
      <dgm:spPr/>
    </dgm:pt>
    <dgm:pt modelId="{3DF34E84-6DA8-4C56-8ECD-41F5D5B30BC5}" type="pres">
      <dgm:prSet presAssocID="{0849733B-2445-43CF-AD92-CD3266E42B5C}" presName="parTx" presStyleLbl="revTx" presStyleIdx="2" presStyleCnt="4">
        <dgm:presLayoutVars>
          <dgm:chMax val="1"/>
          <dgm:bulletEnabled val="1"/>
        </dgm:presLayoutVars>
      </dgm:prSet>
      <dgm:spPr/>
    </dgm:pt>
    <dgm:pt modelId="{98DDC82D-9EE9-4383-AA55-B33C85D0A77B}" type="pres">
      <dgm:prSet presAssocID="{0849733B-2445-43CF-AD92-CD3266E42B5C}" presName="bracket" presStyleLbl="parChTrans1D1" presStyleIdx="2" presStyleCnt="4"/>
      <dgm:spPr/>
    </dgm:pt>
    <dgm:pt modelId="{95882FBA-810D-43AD-9034-8549D1951161}" type="pres">
      <dgm:prSet presAssocID="{0849733B-2445-43CF-AD92-CD3266E42B5C}" presName="spH" presStyleCnt="0"/>
      <dgm:spPr/>
    </dgm:pt>
    <dgm:pt modelId="{CCDC223C-7BE7-4419-820A-9F32BA0EE881}" type="pres">
      <dgm:prSet presAssocID="{0849733B-2445-43CF-AD92-CD3266E42B5C}" presName="desTx" presStyleLbl="node1" presStyleIdx="2" presStyleCnt="4">
        <dgm:presLayoutVars>
          <dgm:bulletEnabled val="1"/>
        </dgm:presLayoutVars>
      </dgm:prSet>
      <dgm:spPr/>
    </dgm:pt>
    <dgm:pt modelId="{FBA15C7E-D948-426C-A415-7B4099BF63B9}" type="pres">
      <dgm:prSet presAssocID="{6F437F73-7249-423F-A6B6-08814B24D355}" presName="spV" presStyleCnt="0"/>
      <dgm:spPr/>
    </dgm:pt>
    <dgm:pt modelId="{A4C15AC2-6A45-4D63-951C-B9FE34A78513}" type="pres">
      <dgm:prSet presAssocID="{732EB7B2-2BCB-44B9-95EB-32AEB4DF1799}" presName="linNode" presStyleCnt="0"/>
      <dgm:spPr/>
    </dgm:pt>
    <dgm:pt modelId="{203F7200-90E2-47CF-8988-1A8262928919}" type="pres">
      <dgm:prSet presAssocID="{732EB7B2-2BCB-44B9-95EB-32AEB4DF1799}" presName="parTx" presStyleLbl="revTx" presStyleIdx="3" presStyleCnt="4">
        <dgm:presLayoutVars>
          <dgm:chMax val="1"/>
          <dgm:bulletEnabled val="1"/>
        </dgm:presLayoutVars>
      </dgm:prSet>
      <dgm:spPr/>
    </dgm:pt>
    <dgm:pt modelId="{88BF0636-FE4A-4386-B4AF-9BD376B8671B}" type="pres">
      <dgm:prSet presAssocID="{732EB7B2-2BCB-44B9-95EB-32AEB4DF1799}" presName="bracket" presStyleLbl="parChTrans1D1" presStyleIdx="3" presStyleCnt="4"/>
      <dgm:spPr/>
    </dgm:pt>
    <dgm:pt modelId="{7BD1312A-97A1-46BB-AFD4-32717B95D533}" type="pres">
      <dgm:prSet presAssocID="{732EB7B2-2BCB-44B9-95EB-32AEB4DF1799}" presName="spH" presStyleCnt="0"/>
      <dgm:spPr/>
    </dgm:pt>
    <dgm:pt modelId="{114A66CE-CFE9-42E2-AF20-1CFF9500E318}" type="pres">
      <dgm:prSet presAssocID="{732EB7B2-2BCB-44B9-95EB-32AEB4DF1799}" presName="desTx" presStyleLbl="node1" presStyleIdx="3" presStyleCnt="4">
        <dgm:presLayoutVars>
          <dgm:bulletEnabled val="1"/>
        </dgm:presLayoutVars>
      </dgm:prSet>
      <dgm:spPr/>
    </dgm:pt>
  </dgm:ptLst>
  <dgm:cxnLst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124E9A63-B112-4CBD-AC77-32A89B9F4E0F}" type="presOf" srcId="{8F873442-61B3-4E56-B25A-2ECB6D315DD7}" destId="{114A66CE-CFE9-42E2-AF20-1CFF9500E318}" srcOrd="0" destOrd="0" presId="urn:diagrams.loki3.com/BracketList"/>
    <dgm:cxn modelId="{37C70E65-E92F-48CF-BD0D-B35887965833}" type="presOf" srcId="{C39B30A5-73B7-415C-B676-12BF6CB4007C}" destId="{E54DB4E4-1F4E-467F-BBD5-85B8AC8B4AAC}" srcOrd="0" destOrd="0" presId="urn:diagrams.loki3.com/BracketList"/>
    <dgm:cxn modelId="{62D4DC6A-7CDC-4AFE-AE4A-ACC32EF59A8E}" type="presOf" srcId="{051E10DC-E74A-4906-8F74-B1A3B09A1930}" destId="{BCB42873-909E-4BAE-BD5E-964E8D3ACC85}" srcOrd="0" destOrd="0" presId="urn:diagrams.loki3.com/Bracket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B4731E54-11A6-41ED-B2D9-D177079137CE}" type="presOf" srcId="{B56EFF07-F619-44CF-9BAA-6C7D336F5420}" destId="{4B0992C5-EBA2-42BD-AFEB-FD20768C0A06}" srcOrd="0" destOrd="0" presId="urn:diagrams.loki3.com/BracketList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3A19DCB4-870E-411A-A859-FF4F57193921}" type="presOf" srcId="{0849733B-2445-43CF-AD92-CD3266E42B5C}" destId="{3DF34E84-6DA8-4C56-8ECD-41F5D5B30BC5}" srcOrd="0" destOrd="0" presId="urn:diagrams.loki3.com/Bracket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C09479CE-F799-4344-AD45-3DBC9D1F4232}" type="presOf" srcId="{8841368A-36B1-48FC-A2A5-5D1EB7381265}" destId="{B1433626-A47E-4B25-AA9A-3BBE021E0628}" srcOrd="0" destOrd="0" presId="urn:diagrams.loki3.com/BracketList"/>
    <dgm:cxn modelId="{5A41B8CE-29B1-40ED-BE25-16EB4FC7E764}" type="presOf" srcId="{E5389173-720E-4683-BC63-1EF88F29E563}" destId="{CCDC223C-7BE7-4419-820A-9F32BA0EE881}" srcOrd="0" destOrd="0" presId="urn:diagrams.loki3.com/BracketList"/>
    <dgm:cxn modelId="{1DB7B0DB-0894-476E-B72E-3C6DFFADB709}" type="presOf" srcId="{0C44AAE8-30E4-46E9-ABB1-7C04744FE14C}" destId="{E77CA117-0D04-4E02-A29B-41DF9359879F}" srcOrd="0" destOrd="0" presId="urn:diagrams.loki3.com/BracketList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37F36CF6-2318-478B-97BB-F89D7A59B22F}" type="presOf" srcId="{732EB7B2-2BCB-44B9-95EB-32AEB4DF1799}" destId="{203F7200-90E2-47CF-8988-1A8262928919}" srcOrd="0" destOrd="0" presId="urn:diagrams.loki3.com/BracketList"/>
    <dgm:cxn modelId="{081881A2-5B3B-4A41-A2B4-F0FC7743D1C3}" type="presParOf" srcId="{4B0992C5-EBA2-42BD-AFEB-FD20768C0A06}" destId="{476320CC-8C6E-47ED-931C-0B230D8B6AB4}" srcOrd="0" destOrd="0" presId="urn:diagrams.loki3.com/BracketList"/>
    <dgm:cxn modelId="{66060BED-95AE-4796-BFE6-F3829773BA3B}" type="presParOf" srcId="{476320CC-8C6E-47ED-931C-0B230D8B6AB4}" destId="{E54DB4E4-1F4E-467F-BBD5-85B8AC8B4AAC}" srcOrd="0" destOrd="0" presId="urn:diagrams.loki3.com/BracketList"/>
    <dgm:cxn modelId="{B41D205C-6848-4669-8075-C4DD26AD97DF}" type="presParOf" srcId="{476320CC-8C6E-47ED-931C-0B230D8B6AB4}" destId="{2A108F87-7397-44D6-A3A0-A534BA9AEBFB}" srcOrd="1" destOrd="0" presId="urn:diagrams.loki3.com/BracketList"/>
    <dgm:cxn modelId="{91CB21A6-A9B9-4FC8-B4E4-F4B280D6A1BF}" type="presParOf" srcId="{476320CC-8C6E-47ED-931C-0B230D8B6AB4}" destId="{258F787B-570D-4635-84D8-7F18911D6429}" srcOrd="2" destOrd="0" presId="urn:diagrams.loki3.com/BracketList"/>
    <dgm:cxn modelId="{899304F3-CDBE-4320-896E-06FED72D3689}" type="presParOf" srcId="{476320CC-8C6E-47ED-931C-0B230D8B6AB4}" destId="{E77CA117-0D04-4E02-A29B-41DF9359879F}" srcOrd="3" destOrd="0" presId="urn:diagrams.loki3.com/BracketList"/>
    <dgm:cxn modelId="{ED2E184A-A4D8-4B46-A984-AA6E809FB9A4}" type="presParOf" srcId="{4B0992C5-EBA2-42BD-AFEB-FD20768C0A06}" destId="{5661998B-972F-4B59-AC01-E0A918C5175D}" srcOrd="1" destOrd="0" presId="urn:diagrams.loki3.com/BracketList"/>
    <dgm:cxn modelId="{0EE45B77-6D71-47F9-B219-DE5D233E97F0}" type="presParOf" srcId="{4B0992C5-EBA2-42BD-AFEB-FD20768C0A06}" destId="{A9E63CDB-B839-4876-BBF3-0384644475A3}" srcOrd="2" destOrd="0" presId="urn:diagrams.loki3.com/BracketList"/>
    <dgm:cxn modelId="{B502413B-F7A8-4599-8829-BFE2F935B718}" type="presParOf" srcId="{A9E63CDB-B839-4876-BBF3-0384644475A3}" destId="{B1433626-A47E-4B25-AA9A-3BBE021E0628}" srcOrd="0" destOrd="0" presId="urn:diagrams.loki3.com/BracketList"/>
    <dgm:cxn modelId="{9CF5A8C1-72A5-4C0A-A4EB-5C786326FDC1}" type="presParOf" srcId="{A9E63CDB-B839-4876-BBF3-0384644475A3}" destId="{E067AADF-C3F4-4AD8-BA4A-2D9B2B4F6339}" srcOrd="1" destOrd="0" presId="urn:diagrams.loki3.com/BracketList"/>
    <dgm:cxn modelId="{C3C9B0A9-01BF-4E44-9C86-61CCD579BAE7}" type="presParOf" srcId="{A9E63CDB-B839-4876-BBF3-0384644475A3}" destId="{A1B9B6F2-D0C5-4ADE-8741-DDE1C7F96347}" srcOrd="2" destOrd="0" presId="urn:diagrams.loki3.com/BracketList"/>
    <dgm:cxn modelId="{F3E7A0CB-AC01-47E3-AA5A-9509C0085102}" type="presParOf" srcId="{A9E63CDB-B839-4876-BBF3-0384644475A3}" destId="{BCB42873-909E-4BAE-BD5E-964E8D3ACC85}" srcOrd="3" destOrd="0" presId="urn:diagrams.loki3.com/BracketList"/>
    <dgm:cxn modelId="{FEFCD1DC-8552-4BEB-A330-88FBC8200574}" type="presParOf" srcId="{4B0992C5-EBA2-42BD-AFEB-FD20768C0A06}" destId="{33988EA6-B606-4BD3-934C-E8FA5D40AF44}" srcOrd="3" destOrd="0" presId="urn:diagrams.loki3.com/BracketList"/>
    <dgm:cxn modelId="{4BE07EE3-AB6C-4962-8EBB-448744016955}" type="presParOf" srcId="{4B0992C5-EBA2-42BD-AFEB-FD20768C0A06}" destId="{7A01A168-82B5-4077-BD32-15C7243C60D9}" srcOrd="4" destOrd="0" presId="urn:diagrams.loki3.com/BracketList"/>
    <dgm:cxn modelId="{0BBD1D6C-DC48-43FA-98DC-0FB25144448F}" type="presParOf" srcId="{7A01A168-82B5-4077-BD32-15C7243C60D9}" destId="{3DF34E84-6DA8-4C56-8ECD-41F5D5B30BC5}" srcOrd="0" destOrd="0" presId="urn:diagrams.loki3.com/BracketList"/>
    <dgm:cxn modelId="{9E2FE17D-BD20-41B0-9CE5-54AC85761B6C}" type="presParOf" srcId="{7A01A168-82B5-4077-BD32-15C7243C60D9}" destId="{98DDC82D-9EE9-4383-AA55-B33C85D0A77B}" srcOrd="1" destOrd="0" presId="urn:diagrams.loki3.com/BracketList"/>
    <dgm:cxn modelId="{A0F3D6D4-9AF6-4F9B-B7C2-643FACA39A1A}" type="presParOf" srcId="{7A01A168-82B5-4077-BD32-15C7243C60D9}" destId="{95882FBA-810D-43AD-9034-8549D1951161}" srcOrd="2" destOrd="0" presId="urn:diagrams.loki3.com/BracketList"/>
    <dgm:cxn modelId="{F6DF374E-C0A6-47E4-9B1E-EC9278D8A587}" type="presParOf" srcId="{7A01A168-82B5-4077-BD32-15C7243C60D9}" destId="{CCDC223C-7BE7-4419-820A-9F32BA0EE881}" srcOrd="3" destOrd="0" presId="urn:diagrams.loki3.com/BracketList"/>
    <dgm:cxn modelId="{F94DB4C1-1B21-4A87-8597-B002C633E754}" type="presParOf" srcId="{4B0992C5-EBA2-42BD-AFEB-FD20768C0A06}" destId="{FBA15C7E-D948-426C-A415-7B4099BF63B9}" srcOrd="5" destOrd="0" presId="urn:diagrams.loki3.com/BracketList"/>
    <dgm:cxn modelId="{08BA826A-5C4E-46E2-AB91-9012FD66305E}" type="presParOf" srcId="{4B0992C5-EBA2-42BD-AFEB-FD20768C0A06}" destId="{A4C15AC2-6A45-4D63-951C-B9FE34A78513}" srcOrd="6" destOrd="0" presId="urn:diagrams.loki3.com/BracketList"/>
    <dgm:cxn modelId="{7C96854A-6B4D-40FE-ACCF-F08BDD508B6A}" type="presParOf" srcId="{A4C15AC2-6A45-4D63-951C-B9FE34A78513}" destId="{203F7200-90E2-47CF-8988-1A8262928919}" srcOrd="0" destOrd="0" presId="urn:diagrams.loki3.com/BracketList"/>
    <dgm:cxn modelId="{B9F3DBB7-9C23-4A66-A758-FF135C31D44A}" type="presParOf" srcId="{A4C15AC2-6A45-4D63-951C-B9FE34A78513}" destId="{88BF0636-FE4A-4386-B4AF-9BD376B8671B}" srcOrd="1" destOrd="0" presId="urn:diagrams.loki3.com/BracketList"/>
    <dgm:cxn modelId="{E86C5FD4-DCA3-47A6-A6F5-C6FE3A356B5D}" type="presParOf" srcId="{A4C15AC2-6A45-4D63-951C-B9FE34A78513}" destId="{7BD1312A-97A1-46BB-AFD4-32717B95D533}" srcOrd="2" destOrd="0" presId="urn:diagrams.loki3.com/BracketList"/>
    <dgm:cxn modelId="{A3A039DF-6031-42D2-8B14-7C4106D69F00}" type="presParOf" srcId="{A4C15AC2-6A45-4D63-951C-B9FE34A78513}" destId="{114A66CE-CFE9-42E2-AF20-1CFF9500E318}" srcOrd="3" destOrd="0" presId="urn:diagrams.loki3.com/Bracket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E600FBD-C113-4964-A295-11470F791671}">
      <dsp:nvSpPr>
        <dsp:cNvPr id="0" name=""/>
        <dsp:cNvSpPr/>
      </dsp:nvSpPr>
      <dsp:spPr>
        <a:xfrm>
          <a:off x="0" y="296053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80B32E0F-FF67-4FC5-995F-6278FEEDFF25}">
      <dsp:nvSpPr>
        <dsp:cNvPr id="0" name=""/>
        <dsp:cNvSpPr/>
      </dsp:nvSpPr>
      <dsp:spPr>
        <a:xfrm>
          <a:off x="391164" y="74653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Introduction</a:t>
          </a:r>
          <a:endParaRPr lang="en-US" sz="1800" kern="1200" dirty="0"/>
        </a:p>
      </dsp:txBody>
      <dsp:txXfrm>
        <a:off x="412780" y="96269"/>
        <a:ext cx="5433072" cy="399568"/>
      </dsp:txXfrm>
    </dsp:sp>
    <dsp:sp modelId="{70C2B46A-1683-426D-AEC7-797794C3FD2D}">
      <dsp:nvSpPr>
        <dsp:cNvPr id="0" name=""/>
        <dsp:cNvSpPr/>
      </dsp:nvSpPr>
      <dsp:spPr>
        <a:xfrm>
          <a:off x="0" y="976454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10524"/>
              <a:satOff val="-99"/>
              <a:lumOff val="980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7E0CF83A-D079-428C-9AAC-022860F686EA}">
      <dsp:nvSpPr>
        <dsp:cNvPr id="0" name=""/>
        <dsp:cNvSpPr/>
      </dsp:nvSpPr>
      <dsp:spPr>
        <a:xfrm>
          <a:off x="391164" y="755053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11629"/>
                <a:satOff val="-238"/>
                <a:lumOff val="1082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11629"/>
                <a:satOff val="-238"/>
                <a:lumOff val="1082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11629"/>
                <a:satOff val="-238"/>
                <a:lumOff val="1082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Building Blocks (Primitives)</a:t>
          </a:r>
          <a:endParaRPr lang="en-US" sz="1800" kern="1200" dirty="0"/>
        </a:p>
      </dsp:txBody>
      <dsp:txXfrm>
        <a:off x="412780" y="776669"/>
        <a:ext cx="5433072" cy="399568"/>
      </dsp:txXfrm>
    </dsp:sp>
    <dsp:sp modelId="{1F9DD730-5D9B-4AFA-B1B1-BE5ED14555D4}">
      <dsp:nvSpPr>
        <dsp:cNvPr id="0" name=""/>
        <dsp:cNvSpPr/>
      </dsp:nvSpPr>
      <dsp:spPr>
        <a:xfrm>
          <a:off x="0" y="1656854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21048"/>
              <a:satOff val="-197"/>
              <a:lumOff val="1961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F9B54F2F-115C-40F3-B40A-8B958DFA04F0}">
      <dsp:nvSpPr>
        <dsp:cNvPr id="0" name=""/>
        <dsp:cNvSpPr/>
      </dsp:nvSpPr>
      <dsp:spPr>
        <a:xfrm>
          <a:off x="391164" y="1435454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23259"/>
                <a:satOff val="-476"/>
                <a:lumOff val="2164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23259"/>
                <a:satOff val="-476"/>
                <a:lumOff val="2164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23259"/>
                <a:satOff val="-476"/>
                <a:lumOff val="2164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Applications from Building Blocks</a:t>
          </a:r>
          <a:endParaRPr lang="en-US" sz="1800" kern="1200" dirty="0"/>
        </a:p>
      </dsp:txBody>
      <dsp:txXfrm>
        <a:off x="412780" y="1457070"/>
        <a:ext cx="5433072" cy="399568"/>
      </dsp:txXfrm>
    </dsp:sp>
    <dsp:sp modelId="{DCFB640D-C4BD-48AA-8383-1A912AE72DE8}">
      <dsp:nvSpPr>
        <dsp:cNvPr id="0" name=""/>
        <dsp:cNvSpPr/>
      </dsp:nvSpPr>
      <dsp:spPr>
        <a:xfrm>
          <a:off x="0" y="2337254"/>
          <a:ext cx="7823292" cy="12993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31571"/>
              <a:satOff val="-296"/>
              <a:lumOff val="2941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7174" tIns="312420" rIns="60717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 dirty="0"/>
            <a:t>Using Colored Coins</a:t>
          </a:r>
          <a:endParaRPr lang="en-US" sz="1800" kern="1200" dirty="0"/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 dirty="0"/>
            <a:t>Issuing Colored Coins</a:t>
          </a:r>
          <a:endParaRPr lang="en-US" sz="1800" kern="1200" dirty="0"/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 dirty="0"/>
            <a:t>Colored Coins Transactions</a:t>
          </a:r>
          <a:endParaRPr lang="en-US" sz="1800" kern="1200" dirty="0"/>
        </a:p>
      </dsp:txBody>
      <dsp:txXfrm>
        <a:off x="0" y="2337254"/>
        <a:ext cx="7823292" cy="1299375"/>
      </dsp:txXfrm>
    </dsp:sp>
    <dsp:sp modelId="{0C7CF1A0-2068-4DEA-94EE-45E834462303}">
      <dsp:nvSpPr>
        <dsp:cNvPr id="0" name=""/>
        <dsp:cNvSpPr/>
      </dsp:nvSpPr>
      <dsp:spPr>
        <a:xfrm>
          <a:off x="391164" y="2115854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34888"/>
                <a:satOff val="-715"/>
                <a:lumOff val="3246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34888"/>
                <a:satOff val="-715"/>
                <a:lumOff val="3246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34888"/>
                <a:satOff val="-715"/>
                <a:lumOff val="3246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Colored Coins</a:t>
          </a:r>
          <a:endParaRPr lang="en-US" sz="1800" kern="1200" dirty="0"/>
        </a:p>
      </dsp:txBody>
      <dsp:txXfrm>
        <a:off x="412780" y="2137470"/>
        <a:ext cx="5433072" cy="399568"/>
      </dsp:txXfrm>
    </dsp:sp>
    <dsp:sp modelId="{B5C4A507-47C8-4D59-82E5-1F3D74BDDB15}">
      <dsp:nvSpPr>
        <dsp:cNvPr id="0" name=""/>
        <dsp:cNvSpPr/>
      </dsp:nvSpPr>
      <dsp:spPr>
        <a:xfrm>
          <a:off x="0" y="3939029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42095"/>
              <a:satOff val="-395"/>
              <a:lumOff val="3922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AFA4BBA5-BEB7-44C9-B535-FCF7A7708C06}">
      <dsp:nvSpPr>
        <dsp:cNvPr id="0" name=""/>
        <dsp:cNvSpPr/>
      </dsp:nvSpPr>
      <dsp:spPr>
        <a:xfrm>
          <a:off x="391164" y="3717629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46517"/>
                <a:satOff val="-953"/>
                <a:lumOff val="4328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46517"/>
                <a:satOff val="-953"/>
                <a:lumOff val="4328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46517"/>
                <a:satOff val="-953"/>
                <a:lumOff val="4328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Counterparty</a:t>
          </a:r>
          <a:endParaRPr lang="en-US" sz="1800" kern="1200" dirty="0"/>
        </a:p>
      </dsp:txBody>
      <dsp:txXfrm>
        <a:off x="412780" y="3739245"/>
        <a:ext cx="5433072" cy="399568"/>
      </dsp:txXfrm>
    </dsp:sp>
    <dsp:sp modelId="{8DD6B91C-347B-4124-B2C3-E7A05F95084C}">
      <dsp:nvSpPr>
        <dsp:cNvPr id="0" name=""/>
        <dsp:cNvSpPr/>
      </dsp:nvSpPr>
      <dsp:spPr>
        <a:xfrm>
          <a:off x="0" y="4619429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31571"/>
              <a:satOff val="-296"/>
              <a:lumOff val="2941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7AE1457A-27E1-4687-88A1-E017972C66EB}">
      <dsp:nvSpPr>
        <dsp:cNvPr id="0" name=""/>
        <dsp:cNvSpPr/>
      </dsp:nvSpPr>
      <dsp:spPr>
        <a:xfrm>
          <a:off x="391164" y="4398029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34888"/>
                <a:satOff val="-715"/>
                <a:lumOff val="3246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34888"/>
                <a:satOff val="-715"/>
                <a:lumOff val="3246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34888"/>
                <a:satOff val="-715"/>
                <a:lumOff val="3246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Payment Channels and State Channels</a:t>
          </a:r>
        </a:p>
      </dsp:txBody>
      <dsp:txXfrm>
        <a:off x="412780" y="4419645"/>
        <a:ext cx="5433072" cy="399568"/>
      </dsp:txXfrm>
    </dsp:sp>
    <dsp:sp modelId="{C0B557D5-CCE6-44B4-B2FB-3B89E8596183}">
      <dsp:nvSpPr>
        <dsp:cNvPr id="0" name=""/>
        <dsp:cNvSpPr/>
      </dsp:nvSpPr>
      <dsp:spPr>
        <a:xfrm>
          <a:off x="0" y="5299829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21048"/>
              <a:satOff val="-197"/>
              <a:lumOff val="1961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15FC47B7-6CF7-4317-9596-D289B882C771}">
      <dsp:nvSpPr>
        <dsp:cNvPr id="0" name=""/>
        <dsp:cNvSpPr/>
      </dsp:nvSpPr>
      <dsp:spPr>
        <a:xfrm>
          <a:off x="391164" y="5078429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23259"/>
                <a:satOff val="-476"/>
                <a:lumOff val="2164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23259"/>
                <a:satOff val="-476"/>
                <a:lumOff val="2164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23259"/>
                <a:satOff val="-476"/>
                <a:lumOff val="2164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Routed Payment Channels (Lightning Network)</a:t>
          </a:r>
        </a:p>
      </dsp:txBody>
      <dsp:txXfrm>
        <a:off x="412780" y="5100045"/>
        <a:ext cx="5433072" cy="399568"/>
      </dsp:txXfrm>
    </dsp:sp>
    <dsp:sp modelId="{66C728BE-EFAD-4251-9AF6-1A3E7829D61F}">
      <dsp:nvSpPr>
        <dsp:cNvPr id="0" name=""/>
        <dsp:cNvSpPr/>
      </dsp:nvSpPr>
      <dsp:spPr>
        <a:xfrm>
          <a:off x="0" y="5980229"/>
          <a:ext cx="7823292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shade val="50000"/>
              <a:hueOff val="-10524"/>
              <a:satOff val="-99"/>
              <a:lumOff val="980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5FA7F3AC-511E-44ED-8414-764055185257}">
      <dsp:nvSpPr>
        <dsp:cNvPr id="0" name=""/>
        <dsp:cNvSpPr/>
      </dsp:nvSpPr>
      <dsp:spPr>
        <a:xfrm>
          <a:off x="391164" y="5758829"/>
          <a:ext cx="5476304" cy="442800"/>
        </a:xfrm>
        <a:prstGeom prst="roundRect">
          <a:avLst/>
        </a:prstGeom>
        <a:gradFill rotWithShape="0">
          <a:gsLst>
            <a:gs pos="0">
              <a:schemeClr val="accent2">
                <a:shade val="50000"/>
                <a:hueOff val="-11629"/>
                <a:satOff val="-238"/>
                <a:lumOff val="1082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2">
                <a:shade val="50000"/>
                <a:hueOff val="-11629"/>
                <a:satOff val="-238"/>
                <a:lumOff val="1082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2">
                <a:shade val="50000"/>
                <a:hueOff val="-11629"/>
                <a:satOff val="-238"/>
                <a:lumOff val="1082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206991" tIns="0" rIns="206991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Conclusion</a:t>
          </a:r>
          <a:endParaRPr lang="en-US" sz="1800" kern="1200" dirty="0"/>
        </a:p>
      </dsp:txBody>
      <dsp:txXfrm>
        <a:off x="412780" y="5780445"/>
        <a:ext cx="5433072" cy="399568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54DB4E4-1F4E-467F-BBD5-85B8AC8B4AAC}">
      <dsp:nvSpPr>
        <dsp:cNvPr id="0" name=""/>
        <dsp:cNvSpPr/>
      </dsp:nvSpPr>
      <dsp:spPr>
        <a:xfrm>
          <a:off x="2725" y="709122"/>
          <a:ext cx="1394300" cy="6014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8016" tIns="45720" rIns="128016" bIns="45720" numCol="1" spcCol="1270" anchor="ctr" anchorCtr="0">
          <a:noAutofit/>
        </a:bodyPr>
        <a:lstStyle/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Your opinion</a:t>
          </a:r>
        </a:p>
      </dsp:txBody>
      <dsp:txXfrm>
        <a:off x="2725" y="709122"/>
        <a:ext cx="1394300" cy="601425"/>
      </dsp:txXfrm>
    </dsp:sp>
    <dsp:sp modelId="{2A108F87-7397-44D6-A3A0-A534BA9AEBFB}">
      <dsp:nvSpPr>
        <dsp:cNvPr id="0" name=""/>
        <dsp:cNvSpPr/>
      </dsp:nvSpPr>
      <dsp:spPr>
        <a:xfrm>
          <a:off x="1397026" y="709122"/>
          <a:ext cx="278860" cy="601425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77CA117-0D04-4E02-A29B-41DF9359879F}">
      <dsp:nvSpPr>
        <dsp:cNvPr id="0" name=""/>
        <dsp:cNvSpPr/>
      </dsp:nvSpPr>
      <dsp:spPr>
        <a:xfrm>
          <a:off x="1787430" y="709122"/>
          <a:ext cx="3792496" cy="601425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What do you think on this chapter?</a:t>
          </a:r>
          <a:endParaRPr lang="tr-TR" sz="1800" kern="1200" dirty="0"/>
        </a:p>
      </dsp:txBody>
      <dsp:txXfrm>
        <a:off x="1787430" y="709122"/>
        <a:ext cx="3792496" cy="601425"/>
      </dsp:txXfrm>
    </dsp:sp>
    <dsp:sp modelId="{B1433626-A47E-4B25-AA9A-3BBE021E0628}">
      <dsp:nvSpPr>
        <dsp:cNvPr id="0" name=""/>
        <dsp:cNvSpPr/>
      </dsp:nvSpPr>
      <dsp:spPr>
        <a:xfrm>
          <a:off x="2725" y="1392053"/>
          <a:ext cx="1394300" cy="3564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8016" tIns="45720" rIns="128016" bIns="45720" numCol="1" spcCol="1270" anchor="ctr" anchorCtr="0">
          <a:noAutofit/>
        </a:bodyPr>
        <a:lstStyle/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Challenging</a:t>
          </a:r>
        </a:p>
      </dsp:txBody>
      <dsp:txXfrm>
        <a:off x="2725" y="1392053"/>
        <a:ext cx="1394300" cy="356400"/>
      </dsp:txXfrm>
    </dsp:sp>
    <dsp:sp modelId="{E067AADF-C3F4-4AD8-BA4A-2D9B2B4F6339}">
      <dsp:nvSpPr>
        <dsp:cNvPr id="0" name=""/>
        <dsp:cNvSpPr/>
      </dsp:nvSpPr>
      <dsp:spPr>
        <a:xfrm>
          <a:off x="1397026" y="1375347"/>
          <a:ext cx="278860" cy="389812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CB42873-909E-4BAE-BD5E-964E8D3ACC85}">
      <dsp:nvSpPr>
        <dsp:cNvPr id="0" name=""/>
        <dsp:cNvSpPr/>
      </dsp:nvSpPr>
      <dsp:spPr>
        <a:xfrm>
          <a:off x="1787430" y="1375347"/>
          <a:ext cx="3792496" cy="38981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What </a:t>
          </a:r>
          <a:r>
            <a:rPr lang="en-US" sz="1800" kern="1200" dirty="0"/>
            <a:t>is the most interesting point?</a:t>
          </a:r>
          <a:endParaRPr lang="tr-TR" sz="1800" kern="1200" dirty="0"/>
        </a:p>
      </dsp:txBody>
      <dsp:txXfrm>
        <a:off x="1787430" y="1375347"/>
        <a:ext cx="3792496" cy="389812"/>
      </dsp:txXfrm>
    </dsp:sp>
    <dsp:sp modelId="{3DF34E84-6DA8-4C56-8ECD-41F5D5B30BC5}">
      <dsp:nvSpPr>
        <dsp:cNvPr id="0" name=""/>
        <dsp:cNvSpPr/>
      </dsp:nvSpPr>
      <dsp:spPr>
        <a:xfrm>
          <a:off x="2725" y="1846666"/>
          <a:ext cx="1394300" cy="3564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8016" tIns="45720" rIns="128016" bIns="45720" numCol="1" spcCol="1270" anchor="ctr" anchorCtr="0">
          <a:noAutofit/>
        </a:bodyPr>
        <a:lstStyle/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Clarification</a:t>
          </a:r>
        </a:p>
      </dsp:txBody>
      <dsp:txXfrm>
        <a:off x="2725" y="1846666"/>
        <a:ext cx="1394300" cy="356400"/>
      </dsp:txXfrm>
    </dsp:sp>
    <dsp:sp modelId="{98DDC82D-9EE9-4383-AA55-B33C85D0A77B}">
      <dsp:nvSpPr>
        <dsp:cNvPr id="0" name=""/>
        <dsp:cNvSpPr/>
      </dsp:nvSpPr>
      <dsp:spPr>
        <a:xfrm>
          <a:off x="1397026" y="1829960"/>
          <a:ext cx="278860" cy="389812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CDC223C-7BE7-4419-820A-9F32BA0EE881}">
      <dsp:nvSpPr>
        <dsp:cNvPr id="0" name=""/>
        <dsp:cNvSpPr/>
      </dsp:nvSpPr>
      <dsp:spPr>
        <a:xfrm>
          <a:off x="1787430" y="1829960"/>
          <a:ext cx="3792496" cy="38981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What </a:t>
          </a:r>
          <a:r>
            <a:rPr lang="en-US" sz="1800" kern="1200" dirty="0"/>
            <a:t>are the unclarified points?</a:t>
          </a:r>
          <a:endParaRPr lang="tr-TR" sz="1800" kern="1200" dirty="0"/>
        </a:p>
      </dsp:txBody>
      <dsp:txXfrm>
        <a:off x="1787430" y="1829960"/>
        <a:ext cx="3792496" cy="389812"/>
      </dsp:txXfrm>
    </dsp:sp>
    <dsp:sp modelId="{203F7200-90E2-47CF-8988-1A8262928919}">
      <dsp:nvSpPr>
        <dsp:cNvPr id="0" name=""/>
        <dsp:cNvSpPr/>
      </dsp:nvSpPr>
      <dsp:spPr>
        <a:xfrm>
          <a:off x="2725" y="2312764"/>
          <a:ext cx="1394300" cy="6014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8016" tIns="45720" rIns="128016" bIns="45720" numCol="1" spcCol="1270" anchor="ctr" anchorCtr="0">
          <a:noAutofit/>
        </a:bodyPr>
        <a:lstStyle/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Critical issue</a:t>
          </a:r>
        </a:p>
      </dsp:txBody>
      <dsp:txXfrm>
        <a:off x="2725" y="2312764"/>
        <a:ext cx="1394300" cy="601425"/>
      </dsp:txXfrm>
    </dsp:sp>
    <dsp:sp modelId="{88BF0636-FE4A-4386-B4AF-9BD376B8671B}">
      <dsp:nvSpPr>
        <dsp:cNvPr id="0" name=""/>
        <dsp:cNvSpPr/>
      </dsp:nvSpPr>
      <dsp:spPr>
        <a:xfrm>
          <a:off x="1397026" y="2284572"/>
          <a:ext cx="278860" cy="657808"/>
        </a:xfrm>
        <a:prstGeom prst="leftBrace">
          <a:avLst>
            <a:gd name="adj1" fmla="val 35000"/>
            <a:gd name="adj2" fmla="val 50000"/>
          </a:avLst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14A66CE-CFE9-42E2-AF20-1CFF9500E318}">
      <dsp:nvSpPr>
        <dsp:cNvPr id="0" name=""/>
        <dsp:cNvSpPr/>
      </dsp:nvSpPr>
      <dsp:spPr>
        <a:xfrm>
          <a:off x="1787430" y="2284572"/>
          <a:ext cx="3792496" cy="65780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/>
            <a:t>Select and explain a critical </a:t>
          </a:r>
          <a:r>
            <a:rPr lang="en-US" sz="1800" kern="1200" dirty="0" err="1"/>
            <a:t>issu</a:t>
          </a:r>
          <a:r>
            <a:rPr lang="tr-TR" sz="1800" kern="1200" dirty="0"/>
            <a:t>e</a:t>
          </a:r>
          <a:r>
            <a:rPr lang="en-US" sz="1800" kern="1200" dirty="0"/>
            <a:t> in this chapter</a:t>
          </a:r>
          <a:endParaRPr lang="tr-TR" sz="1800" kern="1200" dirty="0"/>
        </a:p>
      </dsp:txBody>
      <dsp:txXfrm>
        <a:off x="1787430" y="2284572"/>
        <a:ext cx="3792496" cy="65780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diagrams.loki3.com/BracketList">
  <dgm:title val="Vertical Bracket List"/>
  <dgm:desc val="Use to show grouped blocks of information.  Works well with large amounts of Level 2 text."/>
  <dgm:catLst>
    <dgm:cat type="list" pri="4110"/>
    <dgm:cat type="officeonline" pri="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3" srcId="0" destId="1" srcOrd="0" destOrd="0"/>
        <dgm:cxn modelId="4" srcId="1" destId="11" srcOrd="0" destOrd="0"/>
        <dgm:cxn modelId="5" srcId="0" destId="2" srcOrd="0" destOrd="0"/>
        <dgm:cxn modelId="6" srcId="2" destId="21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V" refType="primFontSz" refFor="des" refForName="parTx" fact="0.1"/>
      <dgm:constr type="primFontSz" for="des" forName="parTx" val="65"/>
      <dgm:constr type="primFontSz" for="des" forName="desTx" refType="primFontSz" refFor="des" refForName="parTx"/>
      <dgm:constr type="h" for="des" forName="parTx" refType="primFontSz" refFor="des" refForName="parTx" fact="0.55"/>
      <dgm:constr type="h" for="des" forName="bracket" refType="primFontSz" refFor="des" refForName="parTx" fact="0.55"/>
      <dgm:constr type="h" for="des" forName="desTx" refType="primFontSz" refFor="des" refForName="parTx" fact="0.55"/>
    </dgm:constrLst>
    <dgm:ruleLst>
      <dgm:rule type="primFontSz" for="des" forName="parTx" val="5" fact="NaN" max="NaN"/>
    </dgm:ruleLst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Tx" refType="w" fact="0.25"/>
          <dgm:constr type="w" for="ch" forName="bracket" refType="w" fact="0.05"/>
          <dgm:constr type="w" for="ch" forName="spH" refType="w" fact="0.02"/>
          <dgm:constr type="w" for="ch" forName="desTx" refType="w" fact="0.68"/>
          <dgm:constr type="h" for="ch" forName="bracket" refType="h" refFor="ch" refForName="desTx" op="gte"/>
          <dgm:constr type="h" for="ch" forName="bracket" refType="h" refFor="ch" refForName="parTx" op="gte"/>
          <dgm:constr type="h" for="ch" forName="desTx" refType="h" refFor="ch" refForName="parTx" op="gte"/>
        </dgm:constrLst>
        <dgm:ruleLst/>
        <dgm:layoutNode name="parTx" styleLbl="revTx">
          <dgm:varLst>
            <dgm:chMax val="1"/>
            <dgm:bulletEnabled val="1"/>
          </dgm:varLst>
          <dgm:choose name="Name8">
            <dgm:if name="Name9" func="var" arg="dir" op="equ" val="norm">
              <dgm:alg type="tx">
                <dgm:param type="parTxLTRAlign" val="r"/>
              </dgm:alg>
            </dgm:if>
            <dgm:else name="Name10">
              <dgm:alg type="tx">
                <dgm:param type="parTxLTRAlign" val="l"/>
              </dgm:alg>
            </dgm:else>
          </dgm:choose>
          <dgm:shape xmlns:r="http://schemas.openxmlformats.org/officeDocument/2006/relationships" type="rect" r:blip="">
            <dgm:adjLst/>
          </dgm:shape>
          <dgm:presOf axis="self" ptType="node"/>
          <dgm:constrLst>
            <dgm:constr type="tMarg" refType="primFontSz" fact="0.2"/>
            <dgm:constr type="bMarg" refType="primFontSz" fact="0.2"/>
          </dgm:constrLst>
          <dgm:ruleLst>
            <dgm:rule type="h" val="INF" fact="NaN" max="NaN"/>
          </dgm:ruleLst>
        </dgm:layoutNode>
        <dgm:layoutNode name="bracket" styleLbl="parChTrans1D1">
          <dgm:alg type="sp"/>
          <dgm:choose name="Name11">
            <dgm:if name="Name12" func="var" arg="dir" op="equ" val="norm">
              <dgm:shape xmlns:r="http://schemas.openxmlformats.org/officeDocument/2006/relationships" type="leftBrace" r:blip="">
                <dgm:adjLst>
                  <dgm:adj idx="1" val="0.35"/>
                </dgm:adjLst>
              </dgm:shape>
            </dgm:if>
            <dgm:else name="Name13">
              <dgm:shape xmlns:r="http://schemas.openxmlformats.org/officeDocument/2006/relationships" rot="180" type="leftBrace" r:blip="">
                <dgm:adjLst>
                  <dgm:adj idx="1" val="0.35"/>
                </dgm:adjLst>
              </dgm:shape>
            </dgm:else>
          </dgm:choose>
          <dgm:presOf/>
        </dgm:layoutNode>
        <dgm:layoutNode name="spH">
          <dgm:alg type="sp"/>
        </dgm:layoutNode>
        <dgm:choose name="Name14">
          <dgm:if name="Name15" axis="ch" ptType="node" func="cnt" op="gte" val="1">
            <dgm:layoutNode name="desTx" styleLbl="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secFontSz" refType="primFontSz"/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h" val="INF" fact="NaN" max="NaN"/>
              </dgm:ruleLst>
            </dgm:layoutNode>
          </dgm:if>
          <dgm:else name="Name16"/>
        </dgm:choose>
      </dgm:layoutNode>
      <dgm:forEach name="Name17" axis="followSib" ptType="sibTrans" cnt="1">
        <dgm:layoutNode name="spV">
          <dgm:alg type="sp"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26.05.2021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5/26/2021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5/26/2021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hyperlink" Target="http://coloredcoins.org/explorer/" TargetMode="External"/><Relationship Id="rId2" Type="http://schemas.openxmlformats.org/officeDocument/2006/relationships/hyperlink" Target="https://www.coinprism.info/" TargetMode="External"/><Relationship Id="rId1" Type="http://schemas.openxmlformats.org/officeDocument/2006/relationships/slideLayout" Target="../slideLayouts/slideLayout2.xml"/><Relationship Id="rId4" Type="http://schemas.openxmlformats.org/officeDocument/2006/relationships/hyperlink" Target="http://coloredcoins.org/colored-coins-copay-addon/" TargetMode="Externa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12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Blockchain Applications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 lnSpcReduction="10000"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29F21D33-7C72-4D9D-AB31-56CD5D229EB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82F133EB-00E6-4683-85DC-CDF9651642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714328" y="2190393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4900054"/>
              </p:ext>
            </p:extLst>
          </p:nvPr>
        </p:nvGraphicFramePr>
        <p:xfrm>
          <a:off x="642938" y="208547"/>
          <a:ext cx="7823292" cy="643288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5400" dirty="0"/>
              <a:t>Introduction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5129451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5AFD12-124F-44F6-9A27-4ED92C8378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Introduction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72A01DD-8655-457F-9CE5-5321BC2CC0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297722"/>
            <a:ext cx="8770571" cy="4419601"/>
          </a:xfrm>
        </p:spPr>
        <p:txBody>
          <a:bodyPr>
            <a:normAutofit/>
          </a:bodyPr>
          <a:lstStyle/>
          <a:p>
            <a:r>
              <a:rPr lang="tr-TR" dirty="0"/>
              <a:t>Bitcoin uses a transactional </a:t>
            </a:r>
            <a:r>
              <a:rPr lang="en-US" dirty="0"/>
              <a:t>scripting language </a:t>
            </a:r>
            <a:endParaRPr lang="tr-TR" dirty="0"/>
          </a:p>
          <a:p>
            <a:pPr lvl="1"/>
            <a:r>
              <a:rPr lang="en-US" dirty="0"/>
              <a:t>with low-level cryptographic functions</a:t>
            </a:r>
            <a:endParaRPr lang="tr-TR" dirty="0"/>
          </a:p>
          <a:p>
            <a:r>
              <a:rPr lang="en-US" dirty="0"/>
              <a:t>higher-level concepts of accounts, balances, and payments </a:t>
            </a:r>
            <a:endParaRPr lang="tr-TR" dirty="0"/>
          </a:p>
          <a:p>
            <a:pPr lvl="1"/>
            <a:r>
              <a:rPr lang="en-US" dirty="0"/>
              <a:t>can be derived</a:t>
            </a:r>
            <a:r>
              <a:rPr lang="tr-TR" dirty="0"/>
              <a:t> </a:t>
            </a:r>
            <a:r>
              <a:rPr lang="en-US" dirty="0"/>
              <a:t>from these basic primitives, </a:t>
            </a:r>
            <a:endParaRPr lang="tr-TR" dirty="0"/>
          </a:p>
          <a:p>
            <a:pPr lvl="1"/>
            <a:r>
              <a:rPr lang="en-US" dirty="0"/>
              <a:t>so can many other complex applications</a:t>
            </a:r>
            <a:endParaRPr lang="tr-TR" dirty="0"/>
          </a:p>
          <a:p>
            <a:r>
              <a:rPr lang="tr-TR" dirty="0"/>
              <a:t>the bitcoin </a:t>
            </a:r>
            <a:r>
              <a:rPr lang="en-US" dirty="0"/>
              <a:t>blockchain </a:t>
            </a:r>
            <a:endParaRPr lang="tr-TR" dirty="0"/>
          </a:p>
          <a:p>
            <a:pPr lvl="1"/>
            <a:r>
              <a:rPr lang="en-US" dirty="0"/>
              <a:t>can become an application platform </a:t>
            </a:r>
            <a:endParaRPr lang="tr-TR" dirty="0"/>
          </a:p>
          <a:p>
            <a:pPr lvl="1"/>
            <a:r>
              <a:rPr lang="en-US" dirty="0"/>
              <a:t>offering trust services to applications,</a:t>
            </a:r>
            <a:r>
              <a:rPr lang="tr-TR" dirty="0"/>
              <a:t> </a:t>
            </a:r>
          </a:p>
          <a:p>
            <a:r>
              <a:rPr lang="en-US" dirty="0"/>
              <a:t>such as smart contracts, </a:t>
            </a:r>
            <a:endParaRPr lang="tr-TR" dirty="0"/>
          </a:p>
          <a:p>
            <a:pPr lvl="1"/>
            <a:r>
              <a:rPr lang="en-US" dirty="0"/>
              <a:t>far surpassing the original purpose of digital</a:t>
            </a:r>
            <a:r>
              <a:rPr lang="tr-TR" dirty="0"/>
              <a:t> currency and payments</a:t>
            </a:r>
          </a:p>
        </p:txBody>
      </p:sp>
    </p:spTree>
    <p:extLst>
      <p:ext uri="{BB962C8B-B14F-4D97-AF65-F5344CB8AC3E}">
        <p14:creationId xmlns:p14="http://schemas.microsoft.com/office/powerpoint/2010/main" val="124773245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5400" dirty="0"/>
              <a:t>Building Blocks (Primitives)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23693517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A22705-50D4-45B3-8A2A-BE21E8F4AA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Building Blocks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BA41B5-DD10-4942-9F65-9AD52705DF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170947"/>
          </a:xfrm>
        </p:spPr>
        <p:txBody>
          <a:bodyPr>
            <a:normAutofit lnSpcReduction="10000"/>
          </a:bodyPr>
          <a:lstStyle/>
          <a:p>
            <a:r>
              <a:rPr lang="en-US" dirty="0"/>
              <a:t>bitcoin system offers </a:t>
            </a:r>
            <a:endParaRPr lang="tr-TR" dirty="0"/>
          </a:p>
          <a:p>
            <a:pPr lvl="1"/>
            <a:r>
              <a:rPr lang="en-US" dirty="0"/>
              <a:t>certain</a:t>
            </a:r>
            <a:r>
              <a:rPr lang="tr-TR" dirty="0"/>
              <a:t> </a:t>
            </a:r>
            <a:r>
              <a:rPr lang="en-US" dirty="0"/>
              <a:t>guarantees, </a:t>
            </a:r>
            <a:endParaRPr lang="tr-TR" dirty="0"/>
          </a:p>
          <a:p>
            <a:pPr lvl="1"/>
            <a:r>
              <a:rPr lang="en-US" dirty="0"/>
              <a:t>which can be used as building blocks to create applications</a:t>
            </a:r>
            <a:endParaRPr lang="tr-TR" dirty="0"/>
          </a:p>
          <a:p>
            <a:r>
              <a:rPr lang="tr-TR" i="1" dirty="0"/>
              <a:t>No Double-Spend</a:t>
            </a:r>
          </a:p>
          <a:p>
            <a:r>
              <a:rPr lang="tr-TR" i="1" dirty="0"/>
              <a:t>Immutability</a:t>
            </a:r>
          </a:p>
          <a:p>
            <a:r>
              <a:rPr lang="tr-TR" i="1" dirty="0"/>
              <a:t>Neutrality</a:t>
            </a:r>
          </a:p>
          <a:p>
            <a:r>
              <a:rPr lang="tr-TR" i="1" dirty="0"/>
              <a:t>Secure Timestamping</a:t>
            </a:r>
          </a:p>
          <a:p>
            <a:r>
              <a:rPr lang="tr-TR" i="1" dirty="0"/>
              <a:t>Authorization</a:t>
            </a:r>
          </a:p>
          <a:p>
            <a:r>
              <a:rPr lang="tr-TR" i="1" dirty="0"/>
              <a:t>Auditability</a:t>
            </a:r>
          </a:p>
          <a:p>
            <a:r>
              <a:rPr lang="tr-TR" i="1" dirty="0"/>
              <a:t>Accounting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407013767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A22705-50D4-45B3-8A2A-BE21E8F4AA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Building Blocks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BA41B5-DD10-4942-9F65-9AD52705DF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261937"/>
            <a:ext cx="8770571" cy="4459705"/>
          </a:xfrm>
        </p:spPr>
        <p:txBody>
          <a:bodyPr>
            <a:normAutofit fontScale="92500" lnSpcReduction="10000"/>
          </a:bodyPr>
          <a:lstStyle/>
          <a:p>
            <a:r>
              <a:rPr lang="tr-TR" i="1" dirty="0"/>
              <a:t>Nonexpiration</a:t>
            </a:r>
          </a:p>
          <a:p>
            <a:r>
              <a:rPr lang="tr-TR" i="1" dirty="0"/>
              <a:t>Integrity</a:t>
            </a:r>
          </a:p>
          <a:p>
            <a:r>
              <a:rPr lang="tr-TR" i="1" dirty="0"/>
              <a:t>Transaction Atomicity</a:t>
            </a:r>
          </a:p>
          <a:p>
            <a:r>
              <a:rPr lang="en-US" i="1" dirty="0"/>
              <a:t>Discrete (Indivisible) Units of Value</a:t>
            </a:r>
            <a:endParaRPr lang="tr-TR" i="1" dirty="0"/>
          </a:p>
          <a:p>
            <a:r>
              <a:rPr lang="tr-TR" i="1" dirty="0"/>
              <a:t>Quorum of Control</a:t>
            </a:r>
          </a:p>
          <a:p>
            <a:r>
              <a:rPr lang="tr-TR" i="1" dirty="0"/>
              <a:t>Timelock/Aging</a:t>
            </a:r>
          </a:p>
          <a:p>
            <a:r>
              <a:rPr lang="tr-TR" i="1" dirty="0"/>
              <a:t>Replication</a:t>
            </a:r>
          </a:p>
          <a:p>
            <a:r>
              <a:rPr lang="tr-TR" i="1" dirty="0"/>
              <a:t>Forgery Protection</a:t>
            </a:r>
          </a:p>
          <a:p>
            <a:r>
              <a:rPr lang="tr-TR" i="1" dirty="0"/>
              <a:t>Consistency</a:t>
            </a:r>
          </a:p>
          <a:p>
            <a:r>
              <a:rPr lang="tr-TR" i="1" dirty="0"/>
              <a:t>Recording External State</a:t>
            </a:r>
          </a:p>
          <a:p>
            <a:r>
              <a:rPr lang="tr-TR" i="1" dirty="0"/>
              <a:t>Predictable Issuance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93246484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No Double-Spend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i="1" dirty="0"/>
              <a:t>The most fundamental guarantee </a:t>
            </a:r>
            <a:endParaRPr lang="tr-TR" i="1" dirty="0"/>
          </a:p>
          <a:p>
            <a:pPr lvl="1"/>
            <a:r>
              <a:rPr lang="en-US" i="1" dirty="0"/>
              <a:t>of bitcoin’s decentralized consensus algorithm</a:t>
            </a:r>
          </a:p>
          <a:p>
            <a:r>
              <a:rPr lang="en-US" i="1" dirty="0"/>
              <a:t>ensures that </a:t>
            </a:r>
            <a:endParaRPr lang="tr-TR" i="1" dirty="0"/>
          </a:p>
          <a:p>
            <a:pPr lvl="1"/>
            <a:r>
              <a:rPr lang="en-US" i="1" dirty="0"/>
              <a:t>no UTXO can be spent twice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95720998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 i="1" dirty="0"/>
              <a:t>Immutability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173415"/>
          </a:xfrm>
        </p:spPr>
        <p:txBody>
          <a:bodyPr/>
          <a:lstStyle/>
          <a:p>
            <a:r>
              <a:rPr lang="en-US" dirty="0"/>
              <a:t>Once a transaction is recorded in the blockchain</a:t>
            </a:r>
            <a:endParaRPr lang="tr-TR" dirty="0"/>
          </a:p>
          <a:p>
            <a:pPr lvl="1"/>
            <a:r>
              <a:rPr lang="tr-TR" dirty="0"/>
              <a:t>transaction’s data becomes immutable</a:t>
            </a:r>
          </a:p>
          <a:p>
            <a:r>
              <a:rPr lang="en-US" dirty="0"/>
              <a:t>Immutability is underwritten by energy, </a:t>
            </a:r>
            <a:endParaRPr lang="tr-TR" dirty="0"/>
          </a:p>
          <a:p>
            <a:pPr lvl="1"/>
            <a:r>
              <a:rPr lang="en-US" dirty="0"/>
              <a:t>as rewriting the blockchain requires the</a:t>
            </a:r>
            <a:r>
              <a:rPr lang="tr-TR" dirty="0"/>
              <a:t> </a:t>
            </a:r>
            <a:r>
              <a:rPr lang="en-US" dirty="0"/>
              <a:t>expenditure of energy</a:t>
            </a:r>
            <a:endParaRPr lang="tr-TR" dirty="0"/>
          </a:p>
          <a:p>
            <a:pPr lvl="1"/>
            <a:r>
              <a:rPr lang="en-US" dirty="0"/>
              <a:t>to produce Proof-of-Work. </a:t>
            </a:r>
            <a:endParaRPr lang="tr-TR" dirty="0"/>
          </a:p>
          <a:p>
            <a:r>
              <a:rPr lang="en-US" dirty="0"/>
              <a:t>therefore </a:t>
            </a:r>
            <a:endParaRPr lang="tr-TR" dirty="0"/>
          </a:p>
          <a:p>
            <a:pPr lvl="1"/>
            <a:r>
              <a:rPr lang="en-US" dirty="0"/>
              <a:t>the degree of immutability increases </a:t>
            </a:r>
            <a:endParaRPr lang="tr-TR" dirty="0"/>
          </a:p>
          <a:p>
            <a:pPr lvl="1"/>
            <a:r>
              <a:rPr lang="en-US" dirty="0"/>
              <a:t>with the amount of work committed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on top of the block containing a transaction.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95200457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 i="1" dirty="0"/>
              <a:t>Neutrality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bitcoin network propagates valid transactions </a:t>
            </a:r>
            <a:endParaRPr lang="tr-TR" dirty="0"/>
          </a:p>
          <a:p>
            <a:pPr lvl="1"/>
            <a:r>
              <a:rPr lang="en-US" dirty="0"/>
              <a:t>regardless of the</a:t>
            </a:r>
            <a:r>
              <a:rPr lang="tr-TR" dirty="0"/>
              <a:t> </a:t>
            </a:r>
            <a:r>
              <a:rPr lang="en-US" dirty="0"/>
              <a:t>origin or content of those transactions. </a:t>
            </a:r>
            <a:endParaRPr lang="tr-TR" dirty="0"/>
          </a:p>
          <a:p>
            <a:r>
              <a:rPr lang="en-US" dirty="0"/>
              <a:t>anyone can create a valid</a:t>
            </a:r>
            <a:r>
              <a:rPr lang="tr-TR" dirty="0"/>
              <a:t> </a:t>
            </a:r>
            <a:r>
              <a:rPr lang="en-US" dirty="0"/>
              <a:t>transaction </a:t>
            </a:r>
            <a:endParaRPr lang="tr-TR" dirty="0"/>
          </a:p>
          <a:p>
            <a:pPr lvl="1"/>
            <a:r>
              <a:rPr lang="en-US" dirty="0"/>
              <a:t>with sufficient fees and trust </a:t>
            </a:r>
            <a:endParaRPr lang="tr-TR" dirty="0"/>
          </a:p>
          <a:p>
            <a:r>
              <a:rPr lang="en-US" dirty="0"/>
              <a:t>they will be able to transmit that transaction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and have it included in the blockchain at anytime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75621180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 i="1" dirty="0"/>
              <a:t>Secure Timestamping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consensus rules reject any block </a:t>
            </a:r>
            <a:endParaRPr lang="tr-TR" dirty="0"/>
          </a:p>
          <a:p>
            <a:pPr lvl="1"/>
            <a:r>
              <a:rPr lang="en-US" dirty="0"/>
              <a:t>whose timestamp is too far in the past or</a:t>
            </a:r>
            <a:r>
              <a:rPr lang="tr-TR" dirty="0"/>
              <a:t> </a:t>
            </a:r>
            <a:r>
              <a:rPr lang="en-US" dirty="0"/>
              <a:t>future. </a:t>
            </a:r>
            <a:endParaRPr lang="tr-TR" dirty="0"/>
          </a:p>
          <a:p>
            <a:pPr lvl="1"/>
            <a:r>
              <a:rPr lang="en-US" dirty="0"/>
              <a:t>This ensures that timestamps on blocks can be trusted. </a:t>
            </a:r>
            <a:endParaRPr lang="tr-TR" dirty="0"/>
          </a:p>
          <a:p>
            <a:r>
              <a:rPr lang="en-US" dirty="0"/>
              <a:t>The timestamp on</a:t>
            </a:r>
            <a:r>
              <a:rPr lang="tr-TR" dirty="0"/>
              <a:t> </a:t>
            </a:r>
            <a:r>
              <a:rPr lang="en-US" dirty="0"/>
              <a:t>a block </a:t>
            </a:r>
            <a:endParaRPr lang="tr-TR" dirty="0"/>
          </a:p>
          <a:p>
            <a:pPr lvl="1"/>
            <a:r>
              <a:rPr lang="en-US" dirty="0"/>
              <a:t>implies an unspent-before guarantee</a:t>
            </a:r>
            <a:endParaRPr lang="tr-TR" dirty="0"/>
          </a:p>
          <a:p>
            <a:pPr lvl="1"/>
            <a:r>
              <a:rPr lang="en-US" dirty="0"/>
              <a:t>for the inputs of all included transactions.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06319774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 i="1" dirty="0"/>
              <a:t>Authorization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Digital signatures, </a:t>
            </a:r>
            <a:endParaRPr lang="tr-TR" dirty="0"/>
          </a:p>
          <a:p>
            <a:pPr lvl="1"/>
            <a:r>
              <a:rPr lang="en-US" dirty="0"/>
              <a:t>validated in a decentralized network, </a:t>
            </a:r>
            <a:endParaRPr lang="tr-TR" dirty="0"/>
          </a:p>
          <a:p>
            <a:pPr lvl="1"/>
            <a:r>
              <a:rPr lang="en-US" dirty="0"/>
              <a:t>offer authorization guarantees.</a:t>
            </a:r>
          </a:p>
          <a:p>
            <a:r>
              <a:rPr lang="en-US" dirty="0"/>
              <a:t>Scripts that contain a requirement for a digital signature </a:t>
            </a:r>
            <a:endParaRPr lang="tr-TR" dirty="0"/>
          </a:p>
          <a:p>
            <a:pPr lvl="1"/>
            <a:r>
              <a:rPr lang="en-US" dirty="0"/>
              <a:t>cannot be executed</a:t>
            </a:r>
            <a:r>
              <a:rPr lang="tr-TR" dirty="0"/>
              <a:t> </a:t>
            </a:r>
            <a:r>
              <a:rPr lang="en-US" dirty="0"/>
              <a:t>without authorization </a:t>
            </a:r>
            <a:endParaRPr lang="tr-TR" dirty="0"/>
          </a:p>
          <a:p>
            <a:pPr lvl="1"/>
            <a:r>
              <a:rPr lang="en-US" dirty="0"/>
              <a:t>by the holder of the private key implied in the script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58525194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 i="1" dirty="0"/>
              <a:t>Auditability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All transactions are </a:t>
            </a:r>
            <a:endParaRPr lang="tr-TR" dirty="0"/>
          </a:p>
          <a:p>
            <a:pPr lvl="1"/>
            <a:r>
              <a:rPr lang="en-US" dirty="0"/>
              <a:t>public and can be audited. </a:t>
            </a:r>
            <a:endParaRPr lang="tr-TR" dirty="0"/>
          </a:p>
          <a:p>
            <a:r>
              <a:rPr lang="en-US" dirty="0"/>
              <a:t>All transactions and blocks </a:t>
            </a:r>
            <a:endParaRPr lang="tr-TR" dirty="0"/>
          </a:p>
          <a:p>
            <a:pPr lvl="1"/>
            <a:r>
              <a:rPr lang="en-US" dirty="0"/>
              <a:t>can be</a:t>
            </a:r>
            <a:r>
              <a:rPr lang="tr-TR" dirty="0"/>
              <a:t> </a:t>
            </a:r>
            <a:r>
              <a:rPr lang="en-US" dirty="0"/>
              <a:t>linked back in an unbroken chain </a:t>
            </a:r>
            <a:endParaRPr lang="tr-TR" dirty="0"/>
          </a:p>
          <a:p>
            <a:pPr lvl="1"/>
            <a:r>
              <a:rPr lang="en-US" dirty="0"/>
              <a:t>to the genesis block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08707941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CF91BD-9DD2-4935-A0F0-DEDEA9EFD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 i="1" dirty="0"/>
              <a:t>Accounting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4E0E7A-1256-432E-8BE6-7AAC37ABA4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In any transaction (except the </a:t>
            </a:r>
            <a:r>
              <a:rPr lang="en-US" dirty="0" err="1"/>
              <a:t>coinbase</a:t>
            </a:r>
            <a:r>
              <a:rPr lang="en-US" dirty="0"/>
              <a:t> transaction) </a:t>
            </a:r>
            <a:endParaRPr lang="tr-TR" dirty="0"/>
          </a:p>
          <a:p>
            <a:pPr lvl="1"/>
            <a:r>
              <a:rPr lang="en-US" dirty="0"/>
              <a:t>the value of inputs is equal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to the value of outputs plus fees. </a:t>
            </a:r>
            <a:endParaRPr lang="tr-TR" dirty="0"/>
          </a:p>
          <a:p>
            <a:r>
              <a:rPr lang="en-US" dirty="0"/>
              <a:t>It is not possible </a:t>
            </a:r>
            <a:endParaRPr lang="tr-TR" dirty="0"/>
          </a:p>
          <a:p>
            <a:pPr lvl="1"/>
            <a:r>
              <a:rPr lang="en-US" dirty="0"/>
              <a:t>to create or destroy bitcoin</a:t>
            </a:r>
            <a:r>
              <a:rPr lang="tr-TR" dirty="0"/>
              <a:t> </a:t>
            </a:r>
            <a:r>
              <a:rPr lang="en-US" dirty="0"/>
              <a:t>value in a transaction. </a:t>
            </a:r>
            <a:endParaRPr lang="tr-TR" dirty="0"/>
          </a:p>
          <a:p>
            <a:r>
              <a:rPr lang="en-US" dirty="0"/>
              <a:t>The outputs</a:t>
            </a:r>
            <a:endParaRPr lang="tr-TR" dirty="0"/>
          </a:p>
          <a:p>
            <a:pPr lvl="1"/>
            <a:r>
              <a:rPr lang="en-US" dirty="0"/>
              <a:t>cannot exceed the inputs.</a:t>
            </a:r>
            <a:endParaRPr lang="tr-TR" i="1" dirty="0"/>
          </a:p>
          <a:p>
            <a:endParaRPr lang="tr-TR" i="1" dirty="0"/>
          </a:p>
          <a:p>
            <a:endParaRPr lang="tr-TR" i="1" dirty="0"/>
          </a:p>
          <a:p>
            <a:endParaRPr lang="tr-TR" i="1" dirty="0"/>
          </a:p>
          <a:p>
            <a:endParaRPr lang="tr-TR" dirty="0"/>
          </a:p>
          <a:p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84909141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Nonexpiration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 valid transaction </a:t>
            </a:r>
            <a:endParaRPr lang="tr-TR" dirty="0"/>
          </a:p>
          <a:p>
            <a:pPr lvl="1"/>
            <a:r>
              <a:rPr lang="en-US" dirty="0"/>
              <a:t>does not expire.</a:t>
            </a:r>
            <a:endParaRPr lang="tr-TR" dirty="0"/>
          </a:p>
          <a:p>
            <a:r>
              <a:rPr lang="en-US" dirty="0"/>
              <a:t>If it is valid today, </a:t>
            </a:r>
            <a:endParaRPr lang="tr-TR" dirty="0"/>
          </a:p>
          <a:p>
            <a:pPr lvl="1"/>
            <a:r>
              <a:rPr lang="en-US" dirty="0"/>
              <a:t>it will be valid in the near</a:t>
            </a:r>
            <a:r>
              <a:rPr lang="tr-TR" dirty="0"/>
              <a:t> </a:t>
            </a:r>
            <a:r>
              <a:rPr lang="en-US" dirty="0"/>
              <a:t>future, </a:t>
            </a:r>
            <a:endParaRPr lang="tr-TR" dirty="0"/>
          </a:p>
          <a:p>
            <a:r>
              <a:rPr lang="en-US" dirty="0"/>
              <a:t>as long as </a:t>
            </a:r>
            <a:endParaRPr lang="tr-TR" dirty="0"/>
          </a:p>
          <a:p>
            <a:pPr lvl="1"/>
            <a:r>
              <a:rPr lang="en-US" dirty="0"/>
              <a:t>the inputs remain unspent</a:t>
            </a:r>
            <a:endParaRPr lang="tr-TR" dirty="0"/>
          </a:p>
          <a:p>
            <a:pPr lvl="1"/>
            <a:r>
              <a:rPr lang="en-US" dirty="0"/>
              <a:t>and the consensus rules do not</a:t>
            </a:r>
            <a:r>
              <a:rPr lang="tr-TR" dirty="0"/>
              <a:t> change.</a:t>
            </a:r>
          </a:p>
        </p:txBody>
      </p:sp>
    </p:spTree>
    <p:extLst>
      <p:ext uri="{BB962C8B-B14F-4D97-AF65-F5344CB8AC3E}">
        <p14:creationId xmlns:p14="http://schemas.microsoft.com/office/powerpoint/2010/main" val="300351407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Integrity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bitcoin transaction </a:t>
            </a:r>
            <a:endParaRPr lang="tr-TR" dirty="0"/>
          </a:p>
          <a:p>
            <a:pPr lvl="1"/>
            <a:r>
              <a:rPr lang="en-US" dirty="0"/>
              <a:t>signed with SIGHASH_ALL </a:t>
            </a:r>
            <a:endParaRPr lang="tr-TR" dirty="0"/>
          </a:p>
          <a:p>
            <a:pPr lvl="1"/>
            <a:r>
              <a:rPr lang="en-US" dirty="0"/>
              <a:t>or parts of a transaction signed</a:t>
            </a:r>
            <a:r>
              <a:rPr lang="tr-TR" dirty="0"/>
              <a:t> </a:t>
            </a:r>
            <a:r>
              <a:rPr lang="en-US" dirty="0"/>
              <a:t>by another SIGHASH type </a:t>
            </a:r>
            <a:endParaRPr lang="tr-TR" dirty="0"/>
          </a:p>
          <a:p>
            <a:r>
              <a:rPr lang="en-US" dirty="0"/>
              <a:t>cannot be modified </a:t>
            </a:r>
            <a:endParaRPr lang="tr-TR" dirty="0"/>
          </a:p>
          <a:p>
            <a:pPr lvl="1"/>
            <a:r>
              <a:rPr lang="en-US" dirty="0"/>
              <a:t>without invalidating the signature,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thus invalidating the transaction itself.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12103425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Transaction Atomicity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Bitcoin transactions are atomic. </a:t>
            </a:r>
            <a:endParaRPr lang="tr-TR" dirty="0"/>
          </a:p>
          <a:p>
            <a:pPr lvl="1"/>
            <a:r>
              <a:rPr lang="en-US" dirty="0"/>
              <a:t>They are either valid and confirmed (mined) or</a:t>
            </a:r>
            <a:r>
              <a:rPr lang="tr-TR" dirty="0"/>
              <a:t> </a:t>
            </a:r>
            <a:r>
              <a:rPr lang="en-US" dirty="0"/>
              <a:t>not. </a:t>
            </a:r>
            <a:endParaRPr lang="tr-TR" dirty="0"/>
          </a:p>
          <a:p>
            <a:r>
              <a:rPr lang="en-US" dirty="0"/>
              <a:t>Partial transactions </a:t>
            </a:r>
            <a:endParaRPr lang="tr-TR" dirty="0"/>
          </a:p>
          <a:p>
            <a:pPr lvl="1"/>
            <a:r>
              <a:rPr lang="en-US" dirty="0"/>
              <a:t>cannot be mined </a:t>
            </a:r>
            <a:endParaRPr lang="tr-TR" dirty="0"/>
          </a:p>
          <a:p>
            <a:pPr lvl="1"/>
            <a:r>
              <a:rPr lang="en-US" dirty="0"/>
              <a:t>and there is no interim state for a</a:t>
            </a:r>
            <a:r>
              <a:rPr lang="tr-TR" dirty="0"/>
              <a:t> </a:t>
            </a:r>
            <a:r>
              <a:rPr lang="en-US" dirty="0"/>
              <a:t>transaction. </a:t>
            </a:r>
            <a:endParaRPr lang="tr-TR" dirty="0"/>
          </a:p>
          <a:p>
            <a:r>
              <a:rPr lang="en-US" dirty="0"/>
              <a:t>At any point in time</a:t>
            </a:r>
            <a:endParaRPr lang="tr-TR" dirty="0"/>
          </a:p>
          <a:p>
            <a:pPr lvl="1"/>
            <a:r>
              <a:rPr lang="en-US" dirty="0"/>
              <a:t>a transaction is either mined, or not.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420049469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Discrete (Indivisible) Units of Value</a:t>
            </a:r>
            <a:endParaRPr lang="tr-TR" i="1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Transaction outputs </a:t>
            </a:r>
            <a:endParaRPr lang="tr-TR" dirty="0"/>
          </a:p>
          <a:p>
            <a:pPr lvl="1"/>
            <a:r>
              <a:rPr lang="en-US" dirty="0"/>
              <a:t>are discrete and indivisible units of value. </a:t>
            </a:r>
            <a:endParaRPr lang="tr-TR" dirty="0"/>
          </a:p>
          <a:p>
            <a:r>
              <a:rPr lang="en-US" dirty="0"/>
              <a:t>They can </a:t>
            </a:r>
            <a:endParaRPr lang="tr-TR" dirty="0"/>
          </a:p>
          <a:p>
            <a:pPr lvl="1"/>
            <a:r>
              <a:rPr lang="en-US" dirty="0"/>
              <a:t>either be</a:t>
            </a:r>
            <a:r>
              <a:rPr lang="tr-TR" dirty="0"/>
              <a:t> </a:t>
            </a:r>
            <a:r>
              <a:rPr lang="en-US" dirty="0"/>
              <a:t>spent or unspent, in full. </a:t>
            </a:r>
            <a:endParaRPr lang="tr-TR" dirty="0"/>
          </a:p>
          <a:p>
            <a:r>
              <a:rPr lang="en-US" dirty="0"/>
              <a:t>They cannot </a:t>
            </a:r>
            <a:endParaRPr lang="tr-TR" dirty="0"/>
          </a:p>
          <a:p>
            <a:pPr lvl="1"/>
            <a:r>
              <a:rPr lang="en-US" dirty="0"/>
              <a:t>be divided or partially spent.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99476528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Quorum of Control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err="1"/>
              <a:t>Multisignature</a:t>
            </a:r>
            <a:r>
              <a:rPr lang="en-US" dirty="0"/>
              <a:t> constraints in scripts</a:t>
            </a:r>
            <a:endParaRPr lang="tr-TR" dirty="0"/>
          </a:p>
          <a:p>
            <a:pPr lvl="1"/>
            <a:r>
              <a:rPr lang="en-US" dirty="0"/>
              <a:t>impose a quorum of authorization, </a:t>
            </a:r>
            <a:endParaRPr lang="tr-TR" dirty="0"/>
          </a:p>
          <a:p>
            <a:pPr lvl="1"/>
            <a:r>
              <a:rPr lang="en-US" dirty="0"/>
              <a:t>predefined</a:t>
            </a:r>
            <a:r>
              <a:rPr lang="tr-TR" dirty="0"/>
              <a:t> </a:t>
            </a:r>
            <a:r>
              <a:rPr lang="en-US" dirty="0"/>
              <a:t>in the </a:t>
            </a:r>
            <a:r>
              <a:rPr lang="en-US" dirty="0" err="1"/>
              <a:t>multisignature</a:t>
            </a:r>
            <a:r>
              <a:rPr lang="en-US" dirty="0"/>
              <a:t> scheme. </a:t>
            </a:r>
            <a:endParaRPr lang="tr-TR" dirty="0"/>
          </a:p>
          <a:p>
            <a:r>
              <a:rPr lang="en-US" dirty="0"/>
              <a:t>The M-of-N requirement </a:t>
            </a:r>
            <a:endParaRPr lang="tr-TR" dirty="0"/>
          </a:p>
          <a:p>
            <a:pPr lvl="1"/>
            <a:r>
              <a:rPr lang="en-US" dirty="0"/>
              <a:t>is enforced by the</a:t>
            </a:r>
            <a:r>
              <a:rPr lang="tr-TR" dirty="0"/>
              <a:t> consensus rules.</a:t>
            </a:r>
          </a:p>
        </p:txBody>
      </p:sp>
    </p:spTree>
    <p:extLst>
      <p:ext uri="{BB962C8B-B14F-4D97-AF65-F5344CB8AC3E}">
        <p14:creationId xmlns:p14="http://schemas.microsoft.com/office/powerpoint/2010/main" val="173016388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Timelock/Aging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Any script clause</a:t>
            </a:r>
            <a:endParaRPr lang="tr-TR" dirty="0"/>
          </a:p>
          <a:p>
            <a:pPr lvl="1"/>
            <a:r>
              <a:rPr lang="en-US" dirty="0"/>
              <a:t>containing a relative or absolute </a:t>
            </a:r>
            <a:r>
              <a:rPr lang="en-US" dirty="0" err="1"/>
              <a:t>timelock</a:t>
            </a:r>
            <a:r>
              <a:rPr lang="en-US" dirty="0"/>
              <a:t> </a:t>
            </a:r>
            <a:endParaRPr lang="tr-TR" dirty="0"/>
          </a:p>
          <a:p>
            <a:r>
              <a:rPr lang="en-US" dirty="0"/>
              <a:t>can only be executed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after its age exceeds the time specified.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86732065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Replication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The decentralized storage of the blockchain </a:t>
            </a:r>
            <a:endParaRPr lang="tr-TR" dirty="0"/>
          </a:p>
          <a:p>
            <a:pPr lvl="1"/>
            <a:r>
              <a:rPr lang="en-US" dirty="0"/>
              <a:t>ensures that when a transaction is</a:t>
            </a:r>
            <a:r>
              <a:rPr lang="tr-TR" dirty="0"/>
              <a:t> </a:t>
            </a:r>
            <a:r>
              <a:rPr lang="en-US" dirty="0"/>
              <a:t>mined,</a:t>
            </a:r>
            <a:endParaRPr lang="tr-TR" dirty="0"/>
          </a:p>
          <a:p>
            <a:r>
              <a:rPr lang="en-US" dirty="0"/>
              <a:t>after sufficient confirmations, </a:t>
            </a:r>
            <a:endParaRPr lang="tr-TR" dirty="0"/>
          </a:p>
          <a:p>
            <a:pPr lvl="1"/>
            <a:r>
              <a:rPr lang="en-US" dirty="0"/>
              <a:t>it is replicated across the network </a:t>
            </a:r>
            <a:endParaRPr lang="tr-TR" dirty="0"/>
          </a:p>
          <a:p>
            <a:pPr lvl="1"/>
            <a:r>
              <a:rPr lang="en-US" dirty="0"/>
              <a:t>and</a:t>
            </a:r>
            <a:r>
              <a:rPr lang="tr-TR" dirty="0"/>
              <a:t> </a:t>
            </a:r>
            <a:r>
              <a:rPr lang="en-US" dirty="0"/>
              <a:t>becomes durable and resilient </a:t>
            </a:r>
            <a:endParaRPr lang="tr-TR" dirty="0"/>
          </a:p>
          <a:p>
            <a:pPr lvl="1"/>
            <a:r>
              <a:rPr lang="en-US" dirty="0"/>
              <a:t>to power loss, data loss, etc.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81148902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Forgery Protection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 transaction can </a:t>
            </a:r>
            <a:endParaRPr lang="tr-TR" dirty="0"/>
          </a:p>
          <a:p>
            <a:pPr lvl="1"/>
            <a:r>
              <a:rPr lang="en-US" dirty="0"/>
              <a:t>only spend existing, validated outputs.</a:t>
            </a:r>
            <a:endParaRPr lang="tr-TR" dirty="0"/>
          </a:p>
          <a:p>
            <a:r>
              <a:rPr lang="en-US" dirty="0"/>
              <a:t>It is not possible </a:t>
            </a:r>
            <a:endParaRPr lang="tr-TR" dirty="0"/>
          </a:p>
          <a:p>
            <a:pPr lvl="1"/>
            <a:r>
              <a:rPr lang="en-US" dirty="0"/>
              <a:t>to create</a:t>
            </a:r>
            <a:r>
              <a:rPr lang="tr-TR" dirty="0"/>
              <a:t> or counterfeit value</a:t>
            </a:r>
          </a:p>
        </p:txBody>
      </p:sp>
    </p:spTree>
    <p:extLst>
      <p:ext uri="{BB962C8B-B14F-4D97-AF65-F5344CB8AC3E}">
        <p14:creationId xmlns:p14="http://schemas.microsoft.com/office/powerpoint/2010/main" val="10523981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Consistency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In the absence of miner partitions, </a:t>
            </a:r>
            <a:endParaRPr lang="tr-TR" dirty="0"/>
          </a:p>
          <a:p>
            <a:pPr lvl="1"/>
            <a:r>
              <a:rPr lang="en-US" dirty="0"/>
              <a:t>blocks that are recorded in the blockchain </a:t>
            </a:r>
            <a:endParaRPr lang="tr-TR" dirty="0"/>
          </a:p>
          <a:p>
            <a:pPr lvl="1"/>
            <a:r>
              <a:rPr lang="en-US" dirty="0"/>
              <a:t>are</a:t>
            </a:r>
            <a:r>
              <a:rPr lang="tr-TR" dirty="0"/>
              <a:t> </a:t>
            </a:r>
            <a:r>
              <a:rPr lang="en-US" dirty="0"/>
              <a:t>subject to reorganization or disagreement </a:t>
            </a:r>
            <a:endParaRPr lang="tr-TR" dirty="0"/>
          </a:p>
          <a:p>
            <a:r>
              <a:rPr lang="en-US" dirty="0"/>
              <a:t>with exponentially decreasing likelihood,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based on the depth at which they are recorded. </a:t>
            </a:r>
            <a:endParaRPr lang="tr-TR" dirty="0"/>
          </a:p>
          <a:p>
            <a:r>
              <a:rPr lang="en-US" dirty="0"/>
              <a:t>Once deeply recorded, </a:t>
            </a:r>
            <a:endParaRPr lang="tr-TR" dirty="0"/>
          </a:p>
          <a:p>
            <a:pPr lvl="1"/>
            <a:r>
              <a:rPr lang="en-US" dirty="0"/>
              <a:t>the</a:t>
            </a:r>
            <a:r>
              <a:rPr lang="tr-TR" dirty="0"/>
              <a:t> </a:t>
            </a:r>
            <a:r>
              <a:rPr lang="en-US" dirty="0"/>
              <a:t>computation and energy required to change </a:t>
            </a:r>
            <a:endParaRPr lang="tr-TR" dirty="0"/>
          </a:p>
          <a:p>
            <a:pPr lvl="1"/>
            <a:r>
              <a:rPr lang="en-US" dirty="0"/>
              <a:t>makes change practically infeasible.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0625864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Recording External State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A transaction can </a:t>
            </a:r>
            <a:endParaRPr lang="tr-TR" dirty="0"/>
          </a:p>
          <a:p>
            <a:pPr lvl="1"/>
            <a:r>
              <a:rPr lang="en-US" dirty="0"/>
              <a:t>commit a data value, via OP_RETURN, </a:t>
            </a:r>
            <a:endParaRPr lang="tr-TR" dirty="0"/>
          </a:p>
          <a:p>
            <a:pPr lvl="1"/>
            <a:r>
              <a:rPr lang="en-US" dirty="0"/>
              <a:t>representing a state transition</a:t>
            </a:r>
            <a:r>
              <a:rPr lang="tr-TR" dirty="0"/>
              <a:t> in an external state machine.</a:t>
            </a:r>
          </a:p>
        </p:txBody>
      </p:sp>
    </p:spTree>
    <p:extLst>
      <p:ext uri="{BB962C8B-B14F-4D97-AF65-F5344CB8AC3E}">
        <p14:creationId xmlns:p14="http://schemas.microsoft.com/office/powerpoint/2010/main" val="249185974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A8D5BA-B982-4C29-8230-D5A7B9A66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Predictable Issuance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812813-4257-44D5-AE99-BC104E072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Less than 21 million bitcoin will be issued, </a:t>
            </a:r>
            <a:endParaRPr lang="tr-TR" dirty="0"/>
          </a:p>
          <a:p>
            <a:pPr lvl="1"/>
            <a:r>
              <a:rPr lang="en-US" dirty="0"/>
              <a:t>at a predictable rate.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7199241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5400" dirty="0"/>
              <a:t>Applications from Building Blocks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78476211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F65E03-0756-4881-A932-59DCF1170B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Bitcoin Applications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AC402-5F4F-4A09-B7EF-56268DD5DD1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3851255"/>
          </a:xfrm>
        </p:spPr>
        <p:txBody>
          <a:bodyPr/>
          <a:lstStyle/>
          <a:p>
            <a:r>
              <a:rPr lang="en-US" dirty="0"/>
              <a:t>The building blocks offered by bitcoin </a:t>
            </a:r>
            <a:endParaRPr lang="tr-TR" dirty="0"/>
          </a:p>
          <a:p>
            <a:pPr lvl="1"/>
            <a:r>
              <a:rPr lang="en-US" dirty="0"/>
              <a:t>are elements of a trust platform </a:t>
            </a:r>
            <a:endParaRPr lang="tr-TR" dirty="0"/>
          </a:p>
          <a:p>
            <a:pPr lvl="1"/>
            <a:r>
              <a:rPr lang="en-US" dirty="0"/>
              <a:t>that can be</a:t>
            </a:r>
            <a:r>
              <a:rPr lang="tr-TR" dirty="0"/>
              <a:t> </a:t>
            </a:r>
            <a:r>
              <a:rPr lang="en-US" dirty="0"/>
              <a:t>used to compose applications. </a:t>
            </a:r>
            <a:endParaRPr lang="tr-TR" dirty="0"/>
          </a:p>
          <a:p>
            <a:r>
              <a:rPr lang="en-US" dirty="0"/>
              <a:t>some examples of applications</a:t>
            </a:r>
            <a:endParaRPr lang="tr-TR" dirty="0"/>
          </a:p>
          <a:p>
            <a:pPr lvl="1"/>
            <a:r>
              <a:rPr lang="en-US" dirty="0"/>
              <a:t>that exist</a:t>
            </a:r>
            <a:r>
              <a:rPr lang="tr-TR" dirty="0"/>
              <a:t> </a:t>
            </a:r>
            <a:r>
              <a:rPr lang="en-US" dirty="0"/>
              <a:t>today and the building blocks they use</a:t>
            </a:r>
            <a:endParaRPr lang="tr-TR" dirty="0"/>
          </a:p>
          <a:p>
            <a:r>
              <a:rPr lang="tr-TR" i="1" dirty="0"/>
              <a:t>Proof-of-Existence (Digital Notary)</a:t>
            </a:r>
          </a:p>
          <a:p>
            <a:r>
              <a:rPr lang="tr-TR" i="1" dirty="0"/>
              <a:t>Kickstarter (Lighthouse)</a:t>
            </a:r>
          </a:p>
          <a:p>
            <a:r>
              <a:rPr lang="tr-TR" i="1" dirty="0"/>
              <a:t>Payment Channels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542729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7F6155-DFAA-472A-A1C4-0E3904ADDF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Proof-of-Existence (Digital Notary)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4AFE0A9-DB33-4F98-93C7-23B37B02E0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106779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Immutability + Timestamp + Durability. </a:t>
            </a:r>
            <a:endParaRPr lang="tr-TR" dirty="0"/>
          </a:p>
          <a:p>
            <a:r>
              <a:rPr lang="en-US" dirty="0"/>
              <a:t>A digital fingerprint </a:t>
            </a:r>
            <a:endParaRPr lang="tr-TR" dirty="0"/>
          </a:p>
          <a:p>
            <a:pPr lvl="1"/>
            <a:r>
              <a:rPr lang="en-US" dirty="0"/>
              <a:t>can be committed</a:t>
            </a:r>
            <a:r>
              <a:rPr lang="tr-TR" dirty="0"/>
              <a:t> </a:t>
            </a:r>
            <a:r>
              <a:rPr lang="en-US" dirty="0"/>
              <a:t>with a transaction </a:t>
            </a:r>
            <a:endParaRPr lang="tr-TR" dirty="0"/>
          </a:p>
          <a:p>
            <a:pPr lvl="1"/>
            <a:r>
              <a:rPr lang="en-US" dirty="0"/>
              <a:t>to the blockchain, </a:t>
            </a:r>
            <a:endParaRPr lang="tr-TR" dirty="0"/>
          </a:p>
          <a:p>
            <a:r>
              <a:rPr lang="en-US" dirty="0"/>
              <a:t>proving that </a:t>
            </a:r>
            <a:endParaRPr lang="tr-TR" dirty="0"/>
          </a:p>
          <a:p>
            <a:pPr lvl="1"/>
            <a:r>
              <a:rPr lang="en-US" dirty="0"/>
              <a:t>a document existed (Timestamp)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at the time it was recorded. </a:t>
            </a:r>
            <a:endParaRPr lang="tr-TR" dirty="0"/>
          </a:p>
          <a:p>
            <a:r>
              <a:rPr lang="en-US" dirty="0"/>
              <a:t>The fingerprint</a:t>
            </a:r>
            <a:endParaRPr lang="tr-TR" dirty="0"/>
          </a:p>
          <a:p>
            <a:pPr lvl="1"/>
            <a:r>
              <a:rPr lang="en-US" dirty="0"/>
              <a:t> cannot be modified ex-</a:t>
            </a:r>
            <a:r>
              <a:rPr lang="en-US" dirty="0" err="1"/>
              <a:t>postfacto</a:t>
            </a:r>
            <a:r>
              <a:rPr lang="tr-TR" dirty="0"/>
              <a:t> </a:t>
            </a:r>
            <a:r>
              <a:rPr lang="en-US" dirty="0"/>
              <a:t>(Immutability)</a:t>
            </a:r>
            <a:endParaRPr lang="tr-TR" dirty="0"/>
          </a:p>
          <a:p>
            <a:pPr lvl="1"/>
            <a:r>
              <a:rPr lang="en-US" dirty="0"/>
              <a:t> and the proof will be stored permanently (Durability).</a:t>
            </a:r>
          </a:p>
        </p:txBody>
      </p:sp>
    </p:spTree>
    <p:extLst>
      <p:ext uri="{BB962C8B-B14F-4D97-AF65-F5344CB8AC3E}">
        <p14:creationId xmlns:p14="http://schemas.microsoft.com/office/powerpoint/2010/main" val="29619977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7F6155-DFAA-472A-A1C4-0E3904ADDF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Kickstarter (Lighthouse)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4AFE0A9-DB33-4F98-93C7-23B37B02E0F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Consistency + Atomicity + Integrity. </a:t>
            </a:r>
            <a:endParaRPr lang="tr-TR" dirty="0"/>
          </a:p>
          <a:p>
            <a:r>
              <a:rPr lang="en-US" dirty="0"/>
              <a:t>If you sign</a:t>
            </a:r>
            <a:endParaRPr lang="tr-TR" dirty="0"/>
          </a:p>
          <a:p>
            <a:pPr lvl="1"/>
            <a:r>
              <a:rPr lang="en-US" dirty="0"/>
              <a:t>one input and the output (</a:t>
            </a:r>
            <a:r>
              <a:rPr lang="en-US" dirty="0" err="1"/>
              <a:t>Integ</a:t>
            </a:r>
            <a:r>
              <a:rPr lang="tr-TR" dirty="0"/>
              <a:t>Integrity) </a:t>
            </a:r>
            <a:r>
              <a:rPr lang="en-US" dirty="0"/>
              <a:t>of a fundraiser transaction, </a:t>
            </a:r>
            <a:endParaRPr lang="tr-TR" dirty="0"/>
          </a:p>
          <a:p>
            <a:pPr lvl="1"/>
            <a:r>
              <a:rPr lang="en-US" dirty="0"/>
              <a:t>others can contribute to the fundraiser </a:t>
            </a:r>
            <a:endParaRPr lang="tr-TR" dirty="0"/>
          </a:p>
          <a:p>
            <a:r>
              <a:rPr lang="en-US" dirty="0"/>
              <a:t>But</a:t>
            </a:r>
            <a:endParaRPr lang="tr-TR" dirty="0"/>
          </a:p>
          <a:p>
            <a:pPr lvl="1"/>
            <a:r>
              <a:rPr lang="en-US" dirty="0"/>
              <a:t>it</a:t>
            </a:r>
            <a:r>
              <a:rPr lang="tr-TR" dirty="0"/>
              <a:t> </a:t>
            </a:r>
            <a:r>
              <a:rPr lang="en-US" dirty="0"/>
              <a:t>cannot be spent (Atomicity) </a:t>
            </a:r>
            <a:endParaRPr lang="tr-TR" dirty="0"/>
          </a:p>
          <a:p>
            <a:pPr lvl="1"/>
            <a:r>
              <a:rPr lang="en-US" dirty="0"/>
              <a:t>until the goal (output value) is funded (Consistency).</a:t>
            </a:r>
          </a:p>
        </p:txBody>
      </p:sp>
    </p:spTree>
    <p:extLst>
      <p:ext uri="{BB962C8B-B14F-4D97-AF65-F5344CB8AC3E}">
        <p14:creationId xmlns:p14="http://schemas.microsoft.com/office/powerpoint/2010/main" val="121360042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7F6155-DFAA-472A-A1C4-0E3904ADDF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Payment Channels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4AFE0A9-DB33-4F98-93C7-23B37B02E0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277979"/>
            <a:ext cx="8770571" cy="4299283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Quorum of Control + </a:t>
            </a:r>
            <a:r>
              <a:rPr lang="en-US" dirty="0" err="1"/>
              <a:t>Timelock</a:t>
            </a:r>
            <a:r>
              <a:rPr lang="en-US" dirty="0"/>
              <a:t> + No Double Spend + </a:t>
            </a:r>
            <a:r>
              <a:rPr lang="en-US" dirty="0" err="1"/>
              <a:t>Nonexpiration</a:t>
            </a:r>
            <a:r>
              <a:rPr lang="en-US" dirty="0"/>
              <a:t> + Censorship</a:t>
            </a:r>
            <a:r>
              <a:rPr lang="tr-TR" dirty="0"/>
              <a:t> </a:t>
            </a:r>
            <a:r>
              <a:rPr lang="en-US" dirty="0"/>
              <a:t>Resistance + Authorization. </a:t>
            </a:r>
            <a:endParaRPr lang="tr-TR" dirty="0"/>
          </a:p>
          <a:p>
            <a:r>
              <a:rPr lang="en-US" dirty="0"/>
              <a:t>A </a:t>
            </a:r>
            <a:r>
              <a:rPr lang="en-US" dirty="0" err="1"/>
              <a:t>multisig</a:t>
            </a:r>
            <a:r>
              <a:rPr lang="en-US" dirty="0"/>
              <a:t> 2-of-2 (Quorum) </a:t>
            </a:r>
            <a:endParaRPr lang="tr-TR" dirty="0"/>
          </a:p>
          <a:p>
            <a:pPr lvl="1"/>
            <a:r>
              <a:rPr lang="en-US" dirty="0"/>
              <a:t>with a </a:t>
            </a:r>
            <a:r>
              <a:rPr lang="en-US" dirty="0" err="1"/>
              <a:t>timelock</a:t>
            </a:r>
            <a:r>
              <a:rPr lang="tr-TR" dirty="0"/>
              <a:t> </a:t>
            </a:r>
            <a:r>
              <a:rPr lang="en-US" dirty="0"/>
              <a:t>(</a:t>
            </a:r>
            <a:r>
              <a:rPr lang="en-US" dirty="0" err="1"/>
              <a:t>Timelock</a:t>
            </a:r>
            <a:r>
              <a:rPr lang="en-US" dirty="0"/>
              <a:t>) used as </a:t>
            </a:r>
            <a:endParaRPr lang="tr-TR" dirty="0"/>
          </a:p>
          <a:p>
            <a:pPr lvl="1"/>
            <a:r>
              <a:rPr lang="en-US" dirty="0"/>
              <a:t>the “settlement” transaction of a payment channel </a:t>
            </a:r>
            <a:endParaRPr lang="tr-TR" dirty="0"/>
          </a:p>
          <a:p>
            <a:pPr lvl="1"/>
            <a:r>
              <a:rPr lang="en-US" dirty="0"/>
              <a:t>can be</a:t>
            </a:r>
            <a:r>
              <a:rPr lang="tr-TR" dirty="0"/>
              <a:t> </a:t>
            </a:r>
            <a:r>
              <a:rPr lang="en-US" dirty="0"/>
              <a:t>held</a:t>
            </a:r>
            <a:r>
              <a:rPr lang="tr-TR" dirty="0"/>
              <a:t> </a:t>
            </a:r>
            <a:r>
              <a:rPr lang="en-US" dirty="0"/>
              <a:t>(</a:t>
            </a:r>
            <a:r>
              <a:rPr lang="en-US" dirty="0" err="1"/>
              <a:t>Nonexpiration</a:t>
            </a:r>
            <a:r>
              <a:rPr lang="en-US" dirty="0"/>
              <a:t>) and spent whenever (Censorship Resistance) </a:t>
            </a:r>
            <a:endParaRPr lang="tr-TR" dirty="0"/>
          </a:p>
          <a:p>
            <a:pPr lvl="1"/>
            <a:r>
              <a:rPr lang="en-US" dirty="0"/>
              <a:t>by either party</a:t>
            </a:r>
            <a:r>
              <a:rPr lang="tr-TR" dirty="0"/>
              <a:t> </a:t>
            </a:r>
            <a:r>
              <a:rPr lang="en-US" dirty="0"/>
              <a:t>(Authorization). </a:t>
            </a:r>
            <a:endParaRPr lang="tr-TR" dirty="0"/>
          </a:p>
          <a:p>
            <a:r>
              <a:rPr lang="en-US" dirty="0"/>
              <a:t>The two parties can </a:t>
            </a:r>
            <a:endParaRPr lang="tr-TR" dirty="0"/>
          </a:p>
          <a:p>
            <a:pPr lvl="1"/>
            <a:r>
              <a:rPr lang="en-US" dirty="0"/>
              <a:t>then create commitment transactions </a:t>
            </a:r>
            <a:endParaRPr lang="tr-TR" dirty="0"/>
          </a:p>
          <a:p>
            <a:pPr lvl="1"/>
            <a:r>
              <a:rPr lang="en-US" dirty="0"/>
              <a:t>that</a:t>
            </a:r>
            <a:r>
              <a:rPr lang="tr-TR" dirty="0"/>
              <a:t> </a:t>
            </a:r>
            <a:r>
              <a:rPr lang="en-US" dirty="0"/>
              <a:t>double-spend (No Double-Spend) the settlement </a:t>
            </a:r>
            <a:endParaRPr lang="tr-TR" dirty="0"/>
          </a:p>
          <a:p>
            <a:pPr lvl="1"/>
            <a:r>
              <a:rPr lang="en-US" dirty="0"/>
              <a:t>on a shorter </a:t>
            </a:r>
            <a:r>
              <a:rPr lang="en-US" dirty="0" err="1"/>
              <a:t>timelock</a:t>
            </a:r>
            <a:r>
              <a:rPr lang="en-US" dirty="0"/>
              <a:t> (</a:t>
            </a:r>
            <a:r>
              <a:rPr lang="en-US" dirty="0" err="1"/>
              <a:t>Timelock</a:t>
            </a:r>
            <a:r>
              <a:rPr lang="en-US" dirty="0"/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95439411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5400" dirty="0"/>
              <a:t>Colored Coins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Using</a:t>
            </a:r>
            <a:r>
              <a:rPr lang="en-US" sz="2400" dirty="0"/>
              <a:t> Colored Coins</a:t>
            </a:r>
            <a:br>
              <a:rPr lang="en-US" sz="2400" dirty="0"/>
            </a:br>
            <a:r>
              <a:rPr lang="en-US" sz="2400" dirty="0"/>
              <a:t>Issuing Colored Coins</a:t>
            </a:r>
            <a:br>
              <a:rPr lang="en-US" sz="2400" dirty="0"/>
            </a:br>
            <a:r>
              <a:rPr lang="en-US" sz="2400" dirty="0"/>
              <a:t>Colored Coins Transactions</a:t>
            </a:r>
          </a:p>
        </p:txBody>
      </p:sp>
    </p:spTree>
    <p:extLst>
      <p:ext uri="{BB962C8B-B14F-4D97-AF65-F5344CB8AC3E}">
        <p14:creationId xmlns:p14="http://schemas.microsoft.com/office/powerpoint/2010/main" val="3759963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7D4FC3-8C8B-4415-AF6E-14A6776E4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D1EA1D-19BF-49AF-B6C6-03FBF71990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138246"/>
          </a:xfrm>
        </p:spPr>
        <p:txBody>
          <a:bodyPr/>
          <a:lstStyle/>
          <a:p>
            <a:r>
              <a:rPr lang="en-US" dirty="0"/>
              <a:t>Colored coins refers to </a:t>
            </a:r>
            <a:endParaRPr lang="tr-TR" dirty="0"/>
          </a:p>
          <a:p>
            <a:pPr lvl="1"/>
            <a:r>
              <a:rPr lang="en-US" dirty="0"/>
              <a:t>a set of similar technologies </a:t>
            </a:r>
            <a:endParaRPr lang="tr-TR" dirty="0"/>
          </a:p>
          <a:p>
            <a:r>
              <a:rPr lang="en-US" dirty="0"/>
              <a:t>that use bitcoin transactions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to</a:t>
            </a:r>
            <a:r>
              <a:rPr lang="tr-TR" dirty="0"/>
              <a:t> </a:t>
            </a:r>
            <a:r>
              <a:rPr lang="en-US" dirty="0"/>
              <a:t>record the creation, ownership, and transfer of </a:t>
            </a:r>
            <a:endParaRPr lang="tr-TR" dirty="0"/>
          </a:p>
          <a:p>
            <a:pPr lvl="1"/>
            <a:r>
              <a:rPr lang="en-US" dirty="0"/>
              <a:t>extrinsic assets other than bitcoin. </a:t>
            </a:r>
            <a:endParaRPr lang="tr-TR" dirty="0"/>
          </a:p>
          <a:p>
            <a:r>
              <a:rPr lang="en-US" dirty="0"/>
              <a:t>By</a:t>
            </a:r>
            <a:r>
              <a:rPr lang="tr-TR" dirty="0"/>
              <a:t> </a:t>
            </a:r>
            <a:r>
              <a:rPr lang="en-US" dirty="0"/>
              <a:t>“extrinsic” we mean </a:t>
            </a:r>
            <a:endParaRPr lang="tr-TR" dirty="0"/>
          </a:p>
          <a:p>
            <a:pPr lvl="1"/>
            <a:r>
              <a:rPr lang="en-US" dirty="0"/>
              <a:t>assets that are not stored directly on the bitcoin blockchain, </a:t>
            </a:r>
            <a:endParaRPr lang="tr-TR" dirty="0"/>
          </a:p>
          <a:p>
            <a:pPr lvl="1"/>
            <a:r>
              <a:rPr lang="en-US" dirty="0"/>
              <a:t>as</a:t>
            </a:r>
            <a:r>
              <a:rPr lang="tr-TR" dirty="0"/>
              <a:t> </a:t>
            </a:r>
            <a:r>
              <a:rPr lang="en-US" dirty="0"/>
              <a:t>opposed to bitcoin itself, which is an asset intrinsic to the blockchain.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91441983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7D4FC3-8C8B-4415-AF6E-14A6776E4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D1EA1D-19BF-49AF-B6C6-03FBF71990E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Colored coins are used </a:t>
            </a:r>
            <a:endParaRPr lang="tr-TR" dirty="0"/>
          </a:p>
          <a:p>
            <a:pPr lvl="1"/>
            <a:r>
              <a:rPr lang="en-US" dirty="0"/>
              <a:t>to track digital assets as well as physical assets </a:t>
            </a:r>
            <a:endParaRPr lang="tr-TR" dirty="0"/>
          </a:p>
          <a:p>
            <a:pPr lvl="1"/>
            <a:r>
              <a:rPr lang="en-US" dirty="0"/>
              <a:t>held by third</a:t>
            </a:r>
            <a:r>
              <a:rPr lang="tr-TR" dirty="0"/>
              <a:t> </a:t>
            </a:r>
            <a:r>
              <a:rPr lang="en-US" dirty="0"/>
              <a:t>parties </a:t>
            </a:r>
            <a:endParaRPr lang="tr-TR" dirty="0"/>
          </a:p>
          <a:p>
            <a:pPr lvl="1"/>
            <a:r>
              <a:rPr lang="en-US" dirty="0"/>
              <a:t>and traded through colored coins certificates of ownership. </a:t>
            </a:r>
            <a:endParaRPr lang="tr-TR" dirty="0"/>
          </a:p>
          <a:p>
            <a:r>
              <a:rPr lang="en-US" dirty="0"/>
              <a:t>Digital asset-colored</a:t>
            </a:r>
            <a:r>
              <a:rPr lang="tr-TR" dirty="0"/>
              <a:t> </a:t>
            </a:r>
            <a:r>
              <a:rPr lang="en-US" dirty="0"/>
              <a:t>coins </a:t>
            </a:r>
            <a:endParaRPr lang="tr-TR" dirty="0"/>
          </a:p>
          <a:p>
            <a:pPr lvl="1"/>
            <a:r>
              <a:rPr lang="en-US" dirty="0"/>
              <a:t>can represent intangible assets 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94522207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7D4FC3-8C8B-4415-AF6E-14A6776E4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D1EA1D-19BF-49AF-B6C6-03FBF71990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3851255"/>
          </a:xfrm>
        </p:spPr>
        <p:txBody>
          <a:bodyPr>
            <a:normAutofit/>
          </a:bodyPr>
          <a:lstStyle/>
          <a:p>
            <a:r>
              <a:rPr lang="en-US" dirty="0"/>
              <a:t>Digital asset</a:t>
            </a:r>
            <a:r>
              <a:rPr lang="tr-TR" dirty="0"/>
              <a:t>s</a:t>
            </a:r>
          </a:p>
          <a:p>
            <a:pPr lvl="1"/>
            <a:r>
              <a:rPr lang="en-US" dirty="0"/>
              <a:t>a stock certificate,</a:t>
            </a:r>
            <a:endParaRPr lang="tr-TR" dirty="0"/>
          </a:p>
          <a:p>
            <a:pPr lvl="1"/>
            <a:r>
              <a:rPr lang="en-US" dirty="0"/>
              <a:t>license, </a:t>
            </a:r>
            <a:endParaRPr lang="tr-TR" dirty="0"/>
          </a:p>
          <a:p>
            <a:pPr lvl="1"/>
            <a:r>
              <a:rPr lang="en-US" dirty="0"/>
              <a:t>virtual</a:t>
            </a:r>
            <a:r>
              <a:rPr lang="tr-TR" dirty="0"/>
              <a:t> </a:t>
            </a:r>
            <a:r>
              <a:rPr lang="en-US" dirty="0"/>
              <a:t>property (game items), </a:t>
            </a:r>
            <a:endParaRPr lang="tr-TR" dirty="0"/>
          </a:p>
          <a:p>
            <a:r>
              <a:rPr lang="en-US" dirty="0"/>
              <a:t>or most any form of </a:t>
            </a:r>
            <a:endParaRPr lang="tr-TR" dirty="0"/>
          </a:p>
          <a:p>
            <a:pPr lvl="1"/>
            <a:r>
              <a:rPr lang="en-US" dirty="0"/>
              <a:t>licensed intellectual property</a:t>
            </a:r>
            <a:endParaRPr lang="tr-TR" dirty="0"/>
          </a:p>
          <a:p>
            <a:pPr lvl="1"/>
            <a:r>
              <a:rPr lang="en-US" dirty="0"/>
              <a:t>trademarks,</a:t>
            </a:r>
            <a:r>
              <a:rPr lang="tr-TR" dirty="0"/>
              <a:t> </a:t>
            </a:r>
          </a:p>
          <a:p>
            <a:pPr lvl="1"/>
            <a:r>
              <a:rPr lang="tr-TR" dirty="0"/>
              <a:t>copyrights, </a:t>
            </a:r>
          </a:p>
          <a:p>
            <a:pPr lvl="1"/>
            <a:r>
              <a:rPr lang="tr-TR" dirty="0"/>
              <a:t>etc.</a:t>
            </a:r>
          </a:p>
        </p:txBody>
      </p:sp>
    </p:spTree>
    <p:extLst>
      <p:ext uri="{BB962C8B-B14F-4D97-AF65-F5344CB8AC3E}">
        <p14:creationId xmlns:p14="http://schemas.microsoft.com/office/powerpoint/2010/main" val="392838491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7D4FC3-8C8B-4415-AF6E-14A6776E4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D1EA1D-19BF-49AF-B6C6-03FBF71990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419601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Tangible asset colored coins </a:t>
            </a:r>
            <a:endParaRPr lang="tr-TR" dirty="0"/>
          </a:p>
          <a:p>
            <a:pPr lvl="1"/>
            <a:r>
              <a:rPr lang="en-US" dirty="0"/>
              <a:t>can represent certificates of</a:t>
            </a:r>
            <a:r>
              <a:rPr lang="tr-TR" dirty="0"/>
              <a:t> </a:t>
            </a:r>
            <a:r>
              <a:rPr lang="en-US" dirty="0"/>
              <a:t>ownership of commodities </a:t>
            </a:r>
            <a:endParaRPr lang="tr-TR" dirty="0"/>
          </a:p>
          <a:p>
            <a:r>
              <a:rPr lang="tr-TR" dirty="0"/>
              <a:t>Such as</a:t>
            </a:r>
          </a:p>
          <a:p>
            <a:pPr lvl="1"/>
            <a:r>
              <a:rPr lang="en-US" dirty="0"/>
              <a:t>gold</a:t>
            </a:r>
            <a:endParaRPr lang="tr-TR" dirty="0"/>
          </a:p>
          <a:p>
            <a:pPr lvl="1"/>
            <a:r>
              <a:rPr lang="en-US" dirty="0"/>
              <a:t>silver</a:t>
            </a:r>
            <a:endParaRPr lang="tr-TR" dirty="0"/>
          </a:p>
          <a:p>
            <a:pPr lvl="1"/>
            <a:r>
              <a:rPr lang="en-US" dirty="0"/>
              <a:t>oil</a:t>
            </a:r>
            <a:endParaRPr lang="tr-TR" dirty="0"/>
          </a:p>
          <a:p>
            <a:pPr lvl="1"/>
            <a:r>
              <a:rPr lang="en-US" dirty="0"/>
              <a:t>land title</a:t>
            </a:r>
            <a:endParaRPr lang="tr-TR" dirty="0"/>
          </a:p>
          <a:p>
            <a:pPr lvl="1"/>
            <a:r>
              <a:rPr lang="en-US" dirty="0"/>
              <a:t>automobiles</a:t>
            </a:r>
            <a:endParaRPr lang="tr-TR" dirty="0"/>
          </a:p>
          <a:p>
            <a:pPr lvl="1"/>
            <a:r>
              <a:rPr lang="en-US" dirty="0"/>
              <a:t>boats</a:t>
            </a:r>
            <a:endParaRPr lang="tr-TR" dirty="0"/>
          </a:p>
          <a:p>
            <a:pPr lvl="1"/>
            <a:r>
              <a:rPr lang="en-US" dirty="0"/>
              <a:t>aircraft</a:t>
            </a:r>
            <a:endParaRPr lang="tr-TR" dirty="0"/>
          </a:p>
          <a:p>
            <a:pPr lvl="1"/>
            <a:r>
              <a:rPr lang="tr-TR" dirty="0"/>
              <a:t>etc.</a:t>
            </a:r>
          </a:p>
        </p:txBody>
      </p:sp>
    </p:spTree>
    <p:extLst>
      <p:ext uri="{BB962C8B-B14F-4D97-AF65-F5344CB8AC3E}">
        <p14:creationId xmlns:p14="http://schemas.microsoft.com/office/powerpoint/2010/main" val="227857866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3EC084-480D-48EB-9C49-53F861780C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Source of «Coloring»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85F32C-D23D-4352-91EC-4FCD05C3EC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term derives </a:t>
            </a:r>
            <a:endParaRPr lang="tr-TR" dirty="0"/>
          </a:p>
          <a:p>
            <a:pPr lvl="1"/>
            <a:r>
              <a:rPr lang="en-US" dirty="0"/>
              <a:t>from the idea of “coloring” </a:t>
            </a:r>
            <a:endParaRPr lang="tr-TR" dirty="0"/>
          </a:p>
          <a:p>
            <a:pPr lvl="1"/>
            <a:r>
              <a:rPr lang="en-US" dirty="0"/>
              <a:t>or marking a nominal amount of bitcoin,</a:t>
            </a:r>
          </a:p>
          <a:p>
            <a:r>
              <a:rPr lang="en-US" dirty="0"/>
              <a:t>for example, </a:t>
            </a:r>
            <a:endParaRPr lang="tr-TR" dirty="0"/>
          </a:p>
          <a:p>
            <a:pPr lvl="1"/>
            <a:r>
              <a:rPr lang="en-US" dirty="0"/>
              <a:t>a single </a:t>
            </a:r>
            <a:r>
              <a:rPr lang="en-US" dirty="0" err="1"/>
              <a:t>satoshi</a:t>
            </a:r>
            <a:r>
              <a:rPr lang="en-US" dirty="0"/>
              <a:t>, </a:t>
            </a:r>
            <a:endParaRPr lang="tr-TR" dirty="0"/>
          </a:p>
          <a:p>
            <a:pPr lvl="1"/>
            <a:r>
              <a:rPr lang="en-US" dirty="0"/>
              <a:t>to represent something </a:t>
            </a:r>
            <a:endParaRPr lang="tr-TR" dirty="0"/>
          </a:p>
          <a:p>
            <a:pPr lvl="1"/>
            <a:r>
              <a:rPr lang="en-US" dirty="0"/>
              <a:t>other than the bitcoin</a:t>
            </a:r>
            <a:r>
              <a:rPr lang="tr-TR" dirty="0"/>
              <a:t> value itself.</a:t>
            </a:r>
          </a:p>
        </p:txBody>
      </p:sp>
    </p:spTree>
    <p:extLst>
      <p:ext uri="{BB962C8B-B14F-4D97-AF65-F5344CB8AC3E}">
        <p14:creationId xmlns:p14="http://schemas.microsoft.com/office/powerpoint/2010/main" val="259415140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3EC084-480D-48EB-9C49-53F861780C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Source of «Coloring»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85F32C-D23D-4352-91EC-4FCD05C3EC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As an analogy, </a:t>
            </a:r>
            <a:endParaRPr lang="tr-TR" dirty="0"/>
          </a:p>
          <a:p>
            <a:pPr lvl="1"/>
            <a:r>
              <a:rPr lang="en-US" dirty="0"/>
              <a:t>consider stamping a $1 note with a message saying, </a:t>
            </a:r>
            <a:endParaRPr lang="tr-TR" dirty="0"/>
          </a:p>
          <a:p>
            <a:pPr lvl="1"/>
            <a:r>
              <a:rPr lang="en-US" dirty="0"/>
              <a:t>“this is</a:t>
            </a:r>
            <a:r>
              <a:rPr lang="tr-TR" dirty="0"/>
              <a:t> </a:t>
            </a:r>
            <a:r>
              <a:rPr lang="en-US" dirty="0"/>
              <a:t>a stock certificate of ACME”</a:t>
            </a:r>
            <a:endParaRPr lang="tr-TR" dirty="0"/>
          </a:p>
          <a:p>
            <a:pPr lvl="1"/>
            <a:r>
              <a:rPr lang="en-US" dirty="0"/>
              <a:t>or “this note can be redeemed for 1 oz of silver”</a:t>
            </a:r>
            <a:endParaRPr lang="tr-TR" dirty="0"/>
          </a:p>
          <a:p>
            <a:r>
              <a:rPr lang="en-US" dirty="0"/>
              <a:t>and</a:t>
            </a:r>
            <a:r>
              <a:rPr lang="tr-TR" dirty="0"/>
              <a:t> </a:t>
            </a:r>
            <a:r>
              <a:rPr lang="en-US" dirty="0"/>
              <a:t>then trading </a:t>
            </a:r>
            <a:endParaRPr lang="tr-TR" dirty="0"/>
          </a:p>
          <a:p>
            <a:pPr lvl="1"/>
            <a:r>
              <a:rPr lang="en-US" dirty="0"/>
              <a:t>the $1 note as a certificate of ownership of this other asset. 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57078524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3EC084-480D-48EB-9C49-53F861780C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Implementation of 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85F32C-D23D-4352-91EC-4FCD05C3EC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first</a:t>
            </a:r>
            <a:r>
              <a:rPr lang="tr-TR" dirty="0"/>
              <a:t> </a:t>
            </a:r>
            <a:r>
              <a:rPr lang="en-US" dirty="0"/>
              <a:t>implementation of colored coins, </a:t>
            </a:r>
            <a:endParaRPr lang="tr-TR" dirty="0"/>
          </a:p>
          <a:p>
            <a:pPr lvl="1"/>
            <a:r>
              <a:rPr lang="en-US" dirty="0"/>
              <a:t>named </a:t>
            </a:r>
            <a:r>
              <a:rPr lang="en-US" i="1" dirty="0"/>
              <a:t>Enhanced Padded-Order-Based </a:t>
            </a:r>
            <a:r>
              <a:rPr lang="tr-TR" i="1" dirty="0"/>
              <a:t>Coloring </a:t>
            </a:r>
            <a:r>
              <a:rPr lang="tr-TR" dirty="0"/>
              <a:t>or </a:t>
            </a:r>
            <a:r>
              <a:rPr lang="en-US" i="1" dirty="0"/>
              <a:t>EPOBC</a:t>
            </a:r>
            <a:r>
              <a:rPr lang="en-US" dirty="0"/>
              <a:t>, </a:t>
            </a:r>
            <a:endParaRPr lang="tr-TR" dirty="0"/>
          </a:p>
          <a:p>
            <a:pPr lvl="1"/>
            <a:r>
              <a:rPr lang="en-US" dirty="0"/>
              <a:t>assigned extrinsic assets to a 1-satoshi output.</a:t>
            </a:r>
            <a:endParaRPr lang="tr-TR" dirty="0"/>
          </a:p>
          <a:p>
            <a:r>
              <a:rPr lang="en-US" dirty="0"/>
              <a:t> In this way, </a:t>
            </a:r>
            <a:endParaRPr lang="tr-TR" dirty="0"/>
          </a:p>
          <a:p>
            <a:pPr lvl="1"/>
            <a:r>
              <a:rPr lang="en-US" dirty="0"/>
              <a:t>it was a true “colored</a:t>
            </a:r>
            <a:r>
              <a:rPr lang="tr-TR" dirty="0"/>
              <a:t> </a:t>
            </a:r>
            <a:r>
              <a:rPr lang="en-US" dirty="0"/>
              <a:t>coin,” </a:t>
            </a:r>
            <a:endParaRPr lang="tr-TR" dirty="0"/>
          </a:p>
          <a:p>
            <a:pPr lvl="1"/>
            <a:r>
              <a:rPr lang="en-US" dirty="0"/>
              <a:t>as each asset was added as an attribute (color) of a single </a:t>
            </a:r>
            <a:r>
              <a:rPr lang="en-US" dirty="0" err="1"/>
              <a:t>satoshi</a:t>
            </a:r>
            <a:r>
              <a:rPr lang="en-US" dirty="0"/>
              <a:t>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6666044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3EC084-480D-48EB-9C49-53F861780C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Implementation of 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85F32C-D23D-4352-91EC-4FCD05C3EC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More recent implementations of colored coins </a:t>
            </a:r>
            <a:endParaRPr lang="tr-TR" dirty="0"/>
          </a:p>
          <a:p>
            <a:pPr lvl="1"/>
            <a:r>
              <a:rPr lang="en-US" dirty="0"/>
              <a:t>use the OP_RETURN script opcode </a:t>
            </a:r>
            <a:endParaRPr lang="tr-TR" dirty="0"/>
          </a:p>
          <a:p>
            <a:pPr lvl="1"/>
            <a:r>
              <a:rPr lang="en-US" dirty="0"/>
              <a:t>to</a:t>
            </a:r>
            <a:r>
              <a:rPr lang="tr-TR" dirty="0"/>
              <a:t> </a:t>
            </a:r>
            <a:r>
              <a:rPr lang="en-US" dirty="0"/>
              <a:t>store metadata in a transaction, </a:t>
            </a:r>
            <a:endParaRPr lang="tr-TR" dirty="0"/>
          </a:p>
          <a:p>
            <a:r>
              <a:rPr lang="en-US" dirty="0"/>
              <a:t>in conjunction with </a:t>
            </a:r>
            <a:endParaRPr lang="tr-TR" dirty="0"/>
          </a:p>
          <a:p>
            <a:pPr lvl="1"/>
            <a:r>
              <a:rPr lang="en-US" dirty="0"/>
              <a:t>external data stores that associate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the metadata to specific assets.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09433490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3EC084-480D-48EB-9C49-53F861780C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Implementation of 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85F32C-D23D-4352-91EC-4FCD05C3EC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two most prominent implementations of colored coins today are </a:t>
            </a:r>
            <a:endParaRPr lang="tr-TR" dirty="0"/>
          </a:p>
          <a:p>
            <a:pPr lvl="1"/>
            <a:r>
              <a:rPr lang="en-US" i="1" dirty="0"/>
              <a:t>Open Assets </a:t>
            </a:r>
            <a:endParaRPr lang="tr-TR" i="1" dirty="0"/>
          </a:p>
          <a:p>
            <a:pPr lvl="1"/>
            <a:r>
              <a:rPr lang="en-US" i="1" dirty="0"/>
              <a:t>Colored Coins by </a:t>
            </a:r>
            <a:r>
              <a:rPr lang="en-US" i="1" dirty="0" err="1"/>
              <a:t>Colu</a:t>
            </a:r>
            <a:r>
              <a:rPr lang="en-US" dirty="0"/>
              <a:t>. </a:t>
            </a:r>
            <a:endParaRPr lang="tr-TR" dirty="0"/>
          </a:p>
          <a:p>
            <a:r>
              <a:rPr lang="en-US" dirty="0"/>
              <a:t>These two systems </a:t>
            </a:r>
            <a:endParaRPr lang="tr-TR" dirty="0"/>
          </a:p>
          <a:p>
            <a:pPr lvl="1"/>
            <a:r>
              <a:rPr lang="en-US" dirty="0"/>
              <a:t>use different approaches to colored coins</a:t>
            </a:r>
            <a:r>
              <a:rPr lang="tr-TR" dirty="0"/>
              <a:t> </a:t>
            </a:r>
          </a:p>
          <a:p>
            <a:pPr lvl="1"/>
            <a:r>
              <a:rPr lang="tr-TR" dirty="0"/>
              <a:t>and are not compatible.</a:t>
            </a:r>
          </a:p>
          <a:p>
            <a:r>
              <a:rPr lang="en-US" dirty="0"/>
              <a:t>Colored coins created in one system </a:t>
            </a:r>
            <a:endParaRPr lang="tr-TR" dirty="0"/>
          </a:p>
          <a:p>
            <a:pPr lvl="1"/>
            <a:r>
              <a:rPr lang="en-US" dirty="0"/>
              <a:t>cannot be seen or used</a:t>
            </a:r>
            <a:r>
              <a:rPr lang="tr-TR" dirty="0"/>
              <a:t> in the other system.</a:t>
            </a:r>
          </a:p>
        </p:txBody>
      </p:sp>
    </p:spTree>
    <p:extLst>
      <p:ext uri="{BB962C8B-B14F-4D97-AF65-F5344CB8AC3E}">
        <p14:creationId xmlns:p14="http://schemas.microsoft.com/office/powerpoint/2010/main" val="136016636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04E363-8897-44AF-A102-EE8961E0F1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Using 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0F0E525-C4B8-45C5-A8E6-AE092CA4382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tr-TR" dirty="0"/>
              <a:t>Interpetation of metadata for colored coins</a:t>
            </a:r>
          </a:p>
          <a:p>
            <a:pPr lvl="1"/>
            <a:r>
              <a:rPr lang="tr-TR" dirty="0"/>
              <a:t>Needs special wallets to create, transfer, and view</a:t>
            </a:r>
          </a:p>
          <a:p>
            <a:r>
              <a:rPr lang="tr-TR" dirty="0"/>
              <a:t>Regular wallet may destroy metadata</a:t>
            </a:r>
          </a:p>
          <a:p>
            <a:pPr lvl="1"/>
            <a:r>
              <a:rPr lang="tr-TR" dirty="0"/>
              <a:t>Avoid </a:t>
            </a:r>
            <a:r>
              <a:rPr lang="en-US" dirty="0"/>
              <a:t>using a colored-coin–related key in a regular bitcoin</a:t>
            </a:r>
            <a:r>
              <a:rPr lang="tr-TR" dirty="0"/>
              <a:t> </a:t>
            </a:r>
            <a:r>
              <a:rPr lang="en-US" dirty="0"/>
              <a:t>wallet, </a:t>
            </a:r>
            <a:endParaRPr lang="tr-TR" dirty="0"/>
          </a:p>
          <a:p>
            <a:pPr lvl="1"/>
            <a:r>
              <a:rPr lang="en-US" dirty="0"/>
              <a:t>as the regular wallet may destroy the metadata.</a:t>
            </a:r>
            <a:endParaRPr lang="tr-TR" dirty="0"/>
          </a:p>
          <a:p>
            <a:r>
              <a:rPr lang="tr-TR" dirty="0"/>
              <a:t>Sending colored coins</a:t>
            </a:r>
          </a:p>
          <a:p>
            <a:pPr lvl="1"/>
            <a:r>
              <a:rPr lang="en-US" dirty="0"/>
              <a:t>not be sent to addresses managed by regular wallets, </a:t>
            </a:r>
            <a:endParaRPr lang="tr-TR" dirty="0"/>
          </a:p>
          <a:p>
            <a:pPr lvl="1"/>
            <a:r>
              <a:rPr lang="en-US" dirty="0"/>
              <a:t>but only to wallets that are colored-coin-aware.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41694053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CB90B5-A5BF-464F-97DB-1B919EC5EF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Interpret Colored Coins Transactions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25BB5D5-964C-4CE6-B045-4E1C58DAA9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73923"/>
            <a:ext cx="8770571" cy="4220307"/>
          </a:xfrm>
        </p:spPr>
        <p:txBody>
          <a:bodyPr>
            <a:normAutofit lnSpcReduction="10000"/>
          </a:bodyPr>
          <a:lstStyle/>
          <a:p>
            <a:r>
              <a:rPr lang="en-US" dirty="0"/>
              <a:t>Colored coins are not visible </a:t>
            </a:r>
            <a:endParaRPr lang="tr-TR" dirty="0"/>
          </a:p>
          <a:p>
            <a:pPr lvl="1"/>
            <a:r>
              <a:rPr lang="en-US" dirty="0"/>
              <a:t>to most general-purpose blockchain explorers.</a:t>
            </a:r>
          </a:p>
          <a:p>
            <a:r>
              <a:rPr lang="en-US" dirty="0"/>
              <a:t>a colored-coins explorer </a:t>
            </a:r>
            <a:endParaRPr lang="tr-TR" dirty="0"/>
          </a:p>
          <a:p>
            <a:pPr lvl="1"/>
            <a:r>
              <a:rPr lang="en-US" dirty="0"/>
              <a:t>to interpret the metadata of a colored</a:t>
            </a:r>
            <a:r>
              <a:rPr lang="tr-TR" dirty="0"/>
              <a:t> coins transaction is needed</a:t>
            </a:r>
            <a:endParaRPr lang="tr-TR" dirty="0">
              <a:hlinkClick r:id="rId2"/>
            </a:endParaRPr>
          </a:p>
          <a:p>
            <a:r>
              <a:rPr lang="tr-TR" dirty="0">
                <a:hlinkClick r:id="rId2"/>
              </a:rPr>
              <a:t>Coinprism</a:t>
            </a:r>
            <a:endParaRPr lang="tr-TR" dirty="0"/>
          </a:p>
          <a:p>
            <a:pPr lvl="1"/>
            <a:r>
              <a:rPr lang="en-US" dirty="0"/>
              <a:t>An Open Assets-compatible wallet application and blockchain explorer</a:t>
            </a:r>
            <a:endParaRPr lang="tr-TR" dirty="0"/>
          </a:p>
          <a:p>
            <a:r>
              <a:rPr lang="tr-TR" dirty="0">
                <a:hlinkClick r:id="rId3"/>
              </a:rPr>
              <a:t>Coloredcoins explorer</a:t>
            </a:r>
            <a:endParaRPr lang="tr-TR" dirty="0"/>
          </a:p>
          <a:p>
            <a:pPr lvl="1"/>
            <a:r>
              <a:rPr lang="en-US" dirty="0"/>
              <a:t>A </a:t>
            </a:r>
            <a:r>
              <a:rPr lang="en-US" dirty="0" err="1"/>
              <a:t>Colu</a:t>
            </a:r>
            <a:r>
              <a:rPr lang="en-US" dirty="0"/>
              <a:t> Colored Coins-compatible wallet application and blockchain explorer </a:t>
            </a:r>
            <a:endParaRPr lang="tr-TR" dirty="0"/>
          </a:p>
          <a:p>
            <a:r>
              <a:rPr lang="en-US" dirty="0">
                <a:hlinkClick r:id="rId4"/>
              </a:rPr>
              <a:t>Copay Addon</a:t>
            </a:r>
            <a:r>
              <a:rPr lang="en-US" dirty="0"/>
              <a:t> </a:t>
            </a:r>
            <a:endParaRPr lang="tr-TR" dirty="0"/>
          </a:p>
          <a:p>
            <a:pPr lvl="1"/>
            <a:r>
              <a:rPr lang="en-US" dirty="0"/>
              <a:t>A Copay wallet plug-in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34220347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4F1C07-562B-463F-9B1D-E92959CDD7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Issuing 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91B8FB5-5F93-4474-A9B6-11EDCBEE2D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226169"/>
          </a:xfrm>
        </p:spPr>
        <p:txBody>
          <a:bodyPr/>
          <a:lstStyle/>
          <a:p>
            <a:r>
              <a:rPr lang="tr-TR" dirty="0"/>
              <a:t>Issuence</a:t>
            </a:r>
          </a:p>
          <a:p>
            <a:pPr lvl="1"/>
            <a:r>
              <a:rPr lang="en-US" dirty="0"/>
              <a:t>The process of creating a colored</a:t>
            </a:r>
            <a:r>
              <a:rPr lang="tr-TR" dirty="0"/>
              <a:t> </a:t>
            </a:r>
            <a:r>
              <a:rPr lang="en-US" dirty="0"/>
              <a:t>coin asset</a:t>
            </a:r>
            <a:endParaRPr lang="tr-TR" dirty="0"/>
          </a:p>
          <a:p>
            <a:r>
              <a:rPr lang="tr-TR" dirty="0"/>
              <a:t>Issuence transaction</a:t>
            </a:r>
          </a:p>
          <a:p>
            <a:pPr lvl="1"/>
            <a:r>
              <a:rPr lang="en-US" dirty="0"/>
              <a:t>initial transaction</a:t>
            </a:r>
            <a:r>
              <a:rPr lang="tr-TR" dirty="0"/>
              <a:t> to </a:t>
            </a:r>
            <a:r>
              <a:rPr lang="en-US" dirty="0"/>
              <a:t>register</a:t>
            </a:r>
            <a:r>
              <a:rPr lang="tr-TR" dirty="0"/>
              <a:t> </a:t>
            </a:r>
            <a:r>
              <a:rPr lang="en-US" dirty="0"/>
              <a:t>the asset on the bitcoin blockchain </a:t>
            </a:r>
            <a:endParaRPr lang="tr-TR" dirty="0"/>
          </a:p>
          <a:p>
            <a:pPr lvl="1"/>
            <a:r>
              <a:rPr lang="en-US" dirty="0"/>
              <a:t>creates an </a:t>
            </a:r>
            <a:r>
              <a:rPr lang="en-US" i="1" dirty="0"/>
              <a:t>asset ID </a:t>
            </a:r>
            <a:r>
              <a:rPr lang="en-US" dirty="0"/>
              <a:t>that is used to reference</a:t>
            </a:r>
            <a:r>
              <a:rPr lang="tr-TR" dirty="0"/>
              <a:t> </a:t>
            </a:r>
            <a:r>
              <a:rPr lang="en-US" dirty="0"/>
              <a:t>the asset. </a:t>
            </a:r>
            <a:endParaRPr lang="tr-TR" dirty="0"/>
          </a:p>
          <a:p>
            <a:r>
              <a:rPr lang="tr-TR" dirty="0"/>
              <a:t>Transfer transaction</a:t>
            </a:r>
          </a:p>
          <a:p>
            <a:pPr lvl="1"/>
            <a:r>
              <a:rPr lang="en-US" dirty="0"/>
              <a:t>Once issued, assets can be transferred </a:t>
            </a:r>
            <a:endParaRPr lang="tr-TR" dirty="0"/>
          </a:p>
          <a:p>
            <a:pPr lvl="1"/>
            <a:r>
              <a:rPr lang="tr-TR" dirty="0"/>
              <a:t>between</a:t>
            </a:r>
            <a:r>
              <a:rPr lang="en-US" dirty="0"/>
              <a:t> addresses using </a:t>
            </a:r>
            <a:r>
              <a:rPr lang="en-US" i="1" dirty="0"/>
              <a:t>transfer</a:t>
            </a:r>
            <a:r>
              <a:rPr lang="tr-TR" i="1" dirty="0"/>
              <a:t> transactions</a:t>
            </a:r>
            <a:r>
              <a:rPr lang="tr-TR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3643254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0A1CAC-0D9D-4753-B8E3-AC3A686EFD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Properties of Colored Coins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7D78768-091E-42F5-ADB7-F0D0AB2B6B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286001"/>
            <a:ext cx="8770571" cy="4431322"/>
          </a:xfrm>
        </p:spPr>
        <p:txBody>
          <a:bodyPr>
            <a:normAutofit fontScale="92500" lnSpcReduction="20000"/>
          </a:bodyPr>
          <a:lstStyle/>
          <a:p>
            <a:r>
              <a:rPr lang="en-US" dirty="0"/>
              <a:t>They can be divisible or</a:t>
            </a:r>
            <a:r>
              <a:rPr lang="tr-TR" dirty="0"/>
              <a:t> indivisible</a:t>
            </a:r>
            <a:endParaRPr lang="en-US" dirty="0"/>
          </a:p>
          <a:p>
            <a:pPr lvl="1"/>
            <a:r>
              <a:rPr lang="en-US" dirty="0"/>
              <a:t>the amount of asset in a transfer can be an integer (e.g., 5)</a:t>
            </a:r>
            <a:endParaRPr lang="tr-TR" dirty="0"/>
          </a:p>
          <a:p>
            <a:pPr lvl="1"/>
            <a:r>
              <a:rPr lang="en-US" dirty="0"/>
              <a:t>Or</a:t>
            </a:r>
            <a:r>
              <a:rPr lang="tr-TR" dirty="0"/>
              <a:t> </a:t>
            </a:r>
            <a:r>
              <a:rPr lang="en-US" dirty="0"/>
              <a:t>have decimal subdivision (e.g., 4.321).</a:t>
            </a:r>
            <a:endParaRPr lang="tr-TR" dirty="0"/>
          </a:p>
          <a:p>
            <a:r>
              <a:rPr lang="en-US" dirty="0"/>
              <a:t>can have </a:t>
            </a:r>
            <a:r>
              <a:rPr lang="en-US" i="1" dirty="0"/>
              <a:t>fixed issuance</a:t>
            </a:r>
            <a:r>
              <a:rPr lang="en-US" dirty="0"/>
              <a:t>, </a:t>
            </a:r>
            <a:endParaRPr lang="tr-TR" dirty="0"/>
          </a:p>
          <a:p>
            <a:pPr lvl="1"/>
            <a:r>
              <a:rPr lang="en-US" dirty="0"/>
              <a:t>certain amount are issued only once,</a:t>
            </a:r>
            <a:endParaRPr lang="tr-TR" dirty="0"/>
          </a:p>
          <a:p>
            <a:r>
              <a:rPr lang="en-US" dirty="0"/>
              <a:t>can be </a:t>
            </a:r>
            <a:r>
              <a:rPr lang="en-US" i="1" dirty="0"/>
              <a:t>reissued</a:t>
            </a:r>
            <a:endParaRPr lang="tr-TR" dirty="0"/>
          </a:p>
          <a:p>
            <a:pPr lvl="1"/>
            <a:r>
              <a:rPr lang="en-US" dirty="0"/>
              <a:t>new units of</a:t>
            </a:r>
            <a:r>
              <a:rPr lang="tr-TR" dirty="0"/>
              <a:t> </a:t>
            </a:r>
            <a:r>
              <a:rPr lang="en-US" dirty="0"/>
              <a:t>the asset can be issued </a:t>
            </a:r>
            <a:endParaRPr lang="tr-TR" dirty="0"/>
          </a:p>
          <a:p>
            <a:pPr lvl="1"/>
            <a:r>
              <a:rPr lang="en-US" dirty="0"/>
              <a:t>by the original issuer after the initial issuance</a:t>
            </a:r>
            <a:endParaRPr lang="tr-TR" dirty="0"/>
          </a:p>
          <a:p>
            <a:r>
              <a:rPr lang="en-US" dirty="0"/>
              <a:t>enable </a:t>
            </a:r>
            <a:r>
              <a:rPr lang="en-US" i="1" dirty="0"/>
              <a:t>dividends</a:t>
            </a:r>
            <a:endParaRPr lang="tr-TR" dirty="0"/>
          </a:p>
          <a:p>
            <a:pPr lvl="1"/>
            <a:r>
              <a:rPr lang="en-US" dirty="0"/>
              <a:t>allowing the distribution of bitcoin payments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to the owners of a colored coin asset </a:t>
            </a:r>
            <a:endParaRPr lang="tr-TR" dirty="0"/>
          </a:p>
          <a:p>
            <a:pPr lvl="1"/>
            <a:r>
              <a:rPr lang="en-US" dirty="0"/>
              <a:t>in proportion to their ownership.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407863333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883479-42DB-43B1-A08B-4D2C46B8E2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Colored Coins Transactions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D0D71F-EBEF-4CBB-A683-C71D0D53815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metadata </a:t>
            </a:r>
            <a:endParaRPr lang="tr-TR" dirty="0"/>
          </a:p>
          <a:p>
            <a:pPr lvl="1"/>
            <a:r>
              <a:rPr lang="en-US" dirty="0"/>
              <a:t>that gives meaning to a colored coin transaction </a:t>
            </a:r>
            <a:endParaRPr lang="tr-TR" dirty="0"/>
          </a:p>
          <a:p>
            <a:pPr lvl="1"/>
            <a:r>
              <a:rPr lang="en-US" dirty="0"/>
              <a:t>is usually stored in</a:t>
            </a:r>
            <a:r>
              <a:rPr lang="tr-TR" dirty="0"/>
              <a:t> </a:t>
            </a:r>
            <a:r>
              <a:rPr lang="en-US" dirty="0"/>
              <a:t>one of the outputs using the OP_RETURN opcode. </a:t>
            </a:r>
            <a:endParaRPr lang="tr-TR" dirty="0"/>
          </a:p>
          <a:p>
            <a:r>
              <a:rPr lang="en-US" dirty="0"/>
              <a:t>Different colored coins protocols</a:t>
            </a:r>
            <a:endParaRPr lang="tr-TR" dirty="0"/>
          </a:p>
          <a:p>
            <a:pPr lvl="1"/>
            <a:r>
              <a:rPr lang="en-US" dirty="0"/>
              <a:t> use</a:t>
            </a:r>
            <a:r>
              <a:rPr lang="tr-TR" dirty="0"/>
              <a:t> </a:t>
            </a:r>
            <a:r>
              <a:rPr lang="en-US" dirty="0"/>
              <a:t>different encodings </a:t>
            </a:r>
            <a:endParaRPr lang="tr-TR" dirty="0"/>
          </a:p>
          <a:p>
            <a:pPr lvl="1"/>
            <a:r>
              <a:rPr lang="en-US" dirty="0"/>
              <a:t>for the content of the OP_RETURN data. </a:t>
            </a:r>
            <a:endParaRPr lang="tr-TR" dirty="0"/>
          </a:p>
          <a:p>
            <a:r>
              <a:rPr lang="en-US" dirty="0"/>
              <a:t>The output containing the</a:t>
            </a:r>
            <a:r>
              <a:rPr lang="tr-TR" dirty="0"/>
              <a:t> </a:t>
            </a:r>
            <a:r>
              <a:rPr lang="en-US" dirty="0"/>
              <a:t>OP_RETURN </a:t>
            </a:r>
            <a:endParaRPr lang="tr-TR" dirty="0"/>
          </a:p>
          <a:p>
            <a:pPr lvl="1"/>
            <a:r>
              <a:rPr lang="en-US" dirty="0"/>
              <a:t>is called the </a:t>
            </a:r>
            <a:r>
              <a:rPr lang="en-US" i="1" dirty="0"/>
              <a:t>marker output</a:t>
            </a:r>
            <a:r>
              <a:rPr lang="en-US" dirty="0"/>
              <a:t>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7217459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DC0CD7-78A6-4578-AB57-E2CCAF49B8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Colored Coins (Colu)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77341B2-FCE0-459A-B4C4-D11EDDDC9C1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050324"/>
          </a:xfrm>
        </p:spPr>
        <p:txBody>
          <a:bodyPr>
            <a:normAutofit/>
          </a:bodyPr>
          <a:lstStyle/>
          <a:p>
            <a:r>
              <a:rPr lang="en-US" dirty="0"/>
              <a:t>Opcodes 0x01 through 0x0F indicate an</a:t>
            </a:r>
            <a:r>
              <a:rPr lang="tr-TR" dirty="0"/>
              <a:t> issuance transaction</a:t>
            </a:r>
          </a:p>
          <a:p>
            <a:pPr lvl="1"/>
            <a:r>
              <a:rPr lang="en-US" dirty="0"/>
              <a:t>issuance opcode is usually followed by an asset ID </a:t>
            </a:r>
            <a:endParaRPr lang="tr-TR" dirty="0"/>
          </a:p>
          <a:p>
            <a:pPr lvl="1"/>
            <a:r>
              <a:rPr lang="en-US" dirty="0"/>
              <a:t>or other</a:t>
            </a:r>
            <a:r>
              <a:rPr lang="tr-TR" dirty="0"/>
              <a:t> </a:t>
            </a:r>
            <a:r>
              <a:rPr lang="en-US" dirty="0"/>
              <a:t>identifier that can be used </a:t>
            </a:r>
            <a:endParaRPr lang="tr-TR" dirty="0"/>
          </a:p>
          <a:p>
            <a:pPr lvl="1"/>
            <a:r>
              <a:rPr lang="en-US" dirty="0"/>
              <a:t>to retrieve the asset information </a:t>
            </a:r>
            <a:endParaRPr lang="tr-TR" dirty="0"/>
          </a:p>
          <a:p>
            <a:pPr lvl="1"/>
            <a:r>
              <a:rPr lang="en-US" dirty="0"/>
              <a:t>from an external source</a:t>
            </a:r>
            <a:r>
              <a:rPr lang="tr-TR" dirty="0"/>
              <a:t> </a:t>
            </a:r>
            <a:r>
              <a:rPr lang="en-US" dirty="0"/>
              <a:t>(e.g., </a:t>
            </a:r>
            <a:r>
              <a:rPr lang="en-US" dirty="0" err="1"/>
              <a:t>bittorrent</a:t>
            </a:r>
            <a:r>
              <a:rPr lang="en-US" dirty="0"/>
              <a:t>)</a:t>
            </a:r>
            <a:endParaRPr lang="tr-TR" dirty="0"/>
          </a:p>
          <a:p>
            <a:r>
              <a:rPr lang="en-US" dirty="0"/>
              <a:t>0x10 through 0x1F represent a transfer transaction.</a:t>
            </a:r>
            <a:endParaRPr lang="tr-TR" dirty="0"/>
          </a:p>
          <a:p>
            <a:pPr lvl="1"/>
            <a:r>
              <a:rPr lang="en-US" dirty="0"/>
              <a:t>Transfer</a:t>
            </a:r>
            <a:r>
              <a:rPr lang="tr-TR" dirty="0"/>
              <a:t> </a:t>
            </a:r>
            <a:r>
              <a:rPr lang="en-US" dirty="0"/>
              <a:t>transaction metadata contain simple scripts</a:t>
            </a:r>
            <a:endParaRPr lang="tr-TR" dirty="0"/>
          </a:p>
          <a:p>
            <a:pPr lvl="1"/>
            <a:r>
              <a:rPr lang="en-US" dirty="0"/>
              <a:t>that transfer specific amounts of</a:t>
            </a:r>
            <a:r>
              <a:rPr lang="tr-TR" dirty="0"/>
              <a:t> </a:t>
            </a:r>
            <a:r>
              <a:rPr lang="en-US" dirty="0"/>
              <a:t>assets from inputs to outputs, </a:t>
            </a:r>
            <a:endParaRPr lang="tr-TR" dirty="0"/>
          </a:p>
          <a:p>
            <a:pPr lvl="1"/>
            <a:r>
              <a:rPr lang="en-US" dirty="0"/>
              <a:t>by reference to their index.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16898693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DBCD7B-D929-4F1E-9744-2090976E54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Alternatives for Long Data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404FBB-AFB0-413F-9547-DB4F0229E0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261338"/>
          </a:xfrm>
        </p:spPr>
        <p:txBody>
          <a:bodyPr>
            <a:normAutofit lnSpcReduction="10000"/>
          </a:bodyPr>
          <a:lstStyle/>
          <a:p>
            <a:r>
              <a:rPr lang="en-US" dirty="0"/>
              <a:t>If the metadata is too long to fit in OP_RETURN, </a:t>
            </a:r>
            <a:endParaRPr lang="tr-TR" dirty="0"/>
          </a:p>
          <a:p>
            <a:pPr lvl="1"/>
            <a:r>
              <a:rPr lang="en-US" dirty="0"/>
              <a:t>the colored coins protocol may use</a:t>
            </a:r>
            <a:r>
              <a:rPr lang="tr-TR" dirty="0"/>
              <a:t> </a:t>
            </a:r>
            <a:r>
              <a:rPr lang="en-US" dirty="0"/>
              <a:t>other “tricks” </a:t>
            </a:r>
            <a:endParaRPr lang="tr-TR" dirty="0"/>
          </a:p>
          <a:p>
            <a:pPr lvl="1"/>
            <a:r>
              <a:rPr lang="en-US" dirty="0"/>
              <a:t>to store metadata in a transaction.</a:t>
            </a:r>
            <a:endParaRPr lang="tr-TR" dirty="0"/>
          </a:p>
          <a:p>
            <a:r>
              <a:rPr lang="en-US" dirty="0"/>
              <a:t> Examples include </a:t>
            </a:r>
            <a:endParaRPr lang="tr-TR" dirty="0"/>
          </a:p>
          <a:p>
            <a:pPr lvl="1"/>
            <a:r>
              <a:rPr lang="en-US" dirty="0"/>
              <a:t>putting metadata</a:t>
            </a:r>
            <a:r>
              <a:rPr lang="tr-TR" dirty="0"/>
              <a:t> </a:t>
            </a:r>
            <a:r>
              <a:rPr lang="en-US" dirty="0"/>
              <a:t>in a redeem script, </a:t>
            </a:r>
            <a:endParaRPr lang="tr-TR" dirty="0"/>
          </a:p>
          <a:p>
            <a:pPr lvl="1"/>
            <a:r>
              <a:rPr lang="en-US" dirty="0"/>
              <a:t>followed by OP_DROP opcodes </a:t>
            </a:r>
            <a:endParaRPr lang="tr-TR" dirty="0"/>
          </a:p>
          <a:p>
            <a:pPr lvl="1"/>
            <a:r>
              <a:rPr lang="en-US" dirty="0"/>
              <a:t>to ensure the script ignores the</a:t>
            </a:r>
            <a:r>
              <a:rPr lang="tr-TR" dirty="0"/>
              <a:t> </a:t>
            </a:r>
            <a:r>
              <a:rPr lang="en-US" dirty="0"/>
              <a:t>metadata. </a:t>
            </a:r>
            <a:endParaRPr lang="tr-TR" dirty="0"/>
          </a:p>
          <a:p>
            <a:r>
              <a:rPr lang="en-US" dirty="0"/>
              <a:t>Another mechanism used is a 1-of-N </a:t>
            </a:r>
            <a:r>
              <a:rPr lang="en-US" dirty="0" err="1"/>
              <a:t>multisig</a:t>
            </a:r>
            <a:r>
              <a:rPr lang="en-US" dirty="0"/>
              <a:t> script</a:t>
            </a:r>
            <a:endParaRPr lang="tr-TR" dirty="0"/>
          </a:p>
          <a:p>
            <a:pPr lvl="1"/>
            <a:r>
              <a:rPr lang="tr-TR" dirty="0"/>
              <a:t>only the first </a:t>
            </a:r>
            <a:r>
              <a:rPr lang="en-US" dirty="0"/>
              <a:t>public key is a real public key that can spend the output</a:t>
            </a:r>
            <a:endParaRPr lang="tr-TR" dirty="0"/>
          </a:p>
          <a:p>
            <a:pPr lvl="1"/>
            <a:r>
              <a:rPr lang="en-US" dirty="0"/>
              <a:t> and subsequent “keys” are</a:t>
            </a:r>
            <a:r>
              <a:rPr lang="tr-TR" dirty="0"/>
              <a:t> </a:t>
            </a:r>
            <a:r>
              <a:rPr lang="en-US" dirty="0"/>
              <a:t>replaced by encoded metadata.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35894685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5400" dirty="0"/>
              <a:t>Counterparty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27415197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804177-CBD7-4BAA-8ADC-F7C6226C6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Counterparty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16CAB06-58D6-4F74-8425-A4B0F05015C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120662"/>
          </a:xfrm>
        </p:spPr>
        <p:txBody>
          <a:bodyPr>
            <a:normAutofit lnSpcReduction="10000"/>
          </a:bodyPr>
          <a:lstStyle/>
          <a:p>
            <a:r>
              <a:rPr lang="en-US" dirty="0"/>
              <a:t>a protocol layer </a:t>
            </a:r>
            <a:endParaRPr lang="tr-TR" dirty="0"/>
          </a:p>
          <a:p>
            <a:pPr lvl="1"/>
            <a:r>
              <a:rPr lang="en-US" dirty="0"/>
              <a:t>built on top of bitcoin. </a:t>
            </a:r>
            <a:endParaRPr lang="tr-TR" dirty="0"/>
          </a:p>
          <a:p>
            <a:r>
              <a:rPr lang="en-US" dirty="0"/>
              <a:t>The Counterparty protocol,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like colored coins, </a:t>
            </a:r>
            <a:endParaRPr lang="tr-TR" dirty="0"/>
          </a:p>
          <a:p>
            <a:r>
              <a:rPr lang="en-US" dirty="0"/>
              <a:t>offers the ability to create and trade </a:t>
            </a:r>
            <a:endParaRPr lang="tr-TR" dirty="0"/>
          </a:p>
          <a:p>
            <a:pPr lvl="1"/>
            <a:r>
              <a:rPr lang="en-US" dirty="0"/>
              <a:t>virtual assets and tokens.</a:t>
            </a:r>
          </a:p>
          <a:p>
            <a:r>
              <a:rPr lang="en-US" dirty="0"/>
              <a:t>Offers</a:t>
            </a:r>
            <a:endParaRPr lang="tr-TR" dirty="0"/>
          </a:p>
          <a:p>
            <a:pPr lvl="1"/>
            <a:r>
              <a:rPr lang="en-US" dirty="0"/>
              <a:t>a decentralized exchange for assets. </a:t>
            </a:r>
            <a:endParaRPr lang="tr-TR" dirty="0"/>
          </a:p>
          <a:p>
            <a:r>
              <a:rPr lang="en-US" dirty="0"/>
              <a:t>is</a:t>
            </a:r>
            <a:r>
              <a:rPr lang="tr-TR" dirty="0"/>
              <a:t> </a:t>
            </a:r>
            <a:r>
              <a:rPr lang="en-US" dirty="0"/>
              <a:t>also implementing smart contracts, </a:t>
            </a:r>
            <a:endParaRPr lang="tr-TR" dirty="0"/>
          </a:p>
          <a:p>
            <a:pPr lvl="1"/>
            <a:r>
              <a:rPr lang="en-US" dirty="0"/>
              <a:t>based on the Ethereum Virtual Machine (EVM).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423438359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804177-CBD7-4BAA-8ADC-F7C6226C6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Counterparty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16CAB06-58D6-4F74-8425-A4B0F05015C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191000"/>
          </a:xfrm>
        </p:spPr>
        <p:txBody>
          <a:bodyPr>
            <a:normAutofit fontScale="92500" lnSpcReduction="20000"/>
          </a:bodyPr>
          <a:lstStyle/>
          <a:p>
            <a:r>
              <a:rPr lang="en-US" dirty="0"/>
              <a:t>embeds metadata in bitcoin transactions,</a:t>
            </a:r>
          </a:p>
          <a:p>
            <a:pPr lvl="1"/>
            <a:r>
              <a:rPr lang="en-US" dirty="0"/>
              <a:t>using the OP_RETURN opcode </a:t>
            </a:r>
            <a:endParaRPr lang="tr-TR" dirty="0"/>
          </a:p>
          <a:p>
            <a:pPr lvl="1"/>
            <a:r>
              <a:rPr lang="en-US" dirty="0"/>
              <a:t>or 1-of-N </a:t>
            </a:r>
            <a:r>
              <a:rPr lang="en-US" dirty="0" err="1"/>
              <a:t>multisignature</a:t>
            </a:r>
            <a:r>
              <a:rPr lang="en-US" dirty="0"/>
              <a:t> addresses</a:t>
            </a:r>
            <a:endParaRPr lang="tr-TR" dirty="0"/>
          </a:p>
          <a:p>
            <a:pPr lvl="1"/>
            <a:r>
              <a:rPr lang="en-US" dirty="0"/>
              <a:t> that encode</a:t>
            </a:r>
            <a:r>
              <a:rPr lang="tr-TR" dirty="0"/>
              <a:t> </a:t>
            </a:r>
            <a:r>
              <a:rPr lang="en-US" dirty="0"/>
              <a:t>metadata in the place of public keys.</a:t>
            </a:r>
            <a:endParaRPr lang="tr-TR" dirty="0"/>
          </a:p>
          <a:p>
            <a:r>
              <a:rPr lang="tr-TR" dirty="0"/>
              <a:t>İmplements </a:t>
            </a:r>
            <a:r>
              <a:rPr lang="en-US" dirty="0"/>
              <a:t>a protocol layer </a:t>
            </a:r>
            <a:endParaRPr lang="tr-TR" dirty="0"/>
          </a:p>
          <a:p>
            <a:pPr lvl="1"/>
            <a:r>
              <a:rPr lang="en-US" dirty="0"/>
              <a:t>encoded in bitcoin transactions. </a:t>
            </a:r>
            <a:endParaRPr lang="tr-TR" dirty="0"/>
          </a:p>
          <a:p>
            <a:r>
              <a:rPr lang="en-US" dirty="0"/>
              <a:t>can be interpreted by applications </a:t>
            </a:r>
            <a:endParaRPr lang="tr-TR" dirty="0"/>
          </a:p>
          <a:p>
            <a:pPr lvl="1"/>
            <a:r>
              <a:rPr lang="en-US" dirty="0"/>
              <a:t>Counterparty-aware, </a:t>
            </a:r>
            <a:endParaRPr lang="tr-TR" dirty="0"/>
          </a:p>
          <a:p>
            <a:r>
              <a:rPr lang="en-US" dirty="0"/>
              <a:t>such as </a:t>
            </a:r>
            <a:endParaRPr lang="tr-TR" dirty="0"/>
          </a:p>
          <a:p>
            <a:pPr lvl="1"/>
            <a:r>
              <a:rPr lang="en-US" dirty="0"/>
              <a:t>wallets and</a:t>
            </a:r>
            <a:r>
              <a:rPr lang="tr-TR" dirty="0"/>
              <a:t> </a:t>
            </a:r>
            <a:r>
              <a:rPr lang="en-US" dirty="0"/>
              <a:t>blockchain explorers, </a:t>
            </a:r>
            <a:endParaRPr lang="tr-TR" dirty="0"/>
          </a:p>
          <a:p>
            <a:pPr lvl="1"/>
            <a:r>
              <a:rPr lang="en-US" dirty="0"/>
              <a:t>or any application built using the Counterparty libraries.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40521305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47B651-6152-4086-9B7D-2643561C4A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Counterparty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0D3C532-65D0-4203-8574-B54C4714AC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280139"/>
            <a:ext cx="8770571" cy="4419600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can be used </a:t>
            </a:r>
            <a:endParaRPr lang="tr-TR" dirty="0"/>
          </a:p>
          <a:p>
            <a:pPr lvl="1"/>
            <a:r>
              <a:rPr lang="en-US" dirty="0"/>
              <a:t>as a platform for other applications and services</a:t>
            </a:r>
          </a:p>
          <a:p>
            <a:r>
              <a:rPr lang="en-US" dirty="0" err="1"/>
              <a:t>Tokenly</a:t>
            </a:r>
            <a:r>
              <a:rPr lang="en-US" dirty="0"/>
              <a:t> </a:t>
            </a:r>
            <a:endParaRPr lang="tr-TR" dirty="0"/>
          </a:p>
          <a:p>
            <a:pPr lvl="1"/>
            <a:r>
              <a:rPr lang="en-US" dirty="0"/>
              <a:t>is a platform built on top of Counterparty</a:t>
            </a:r>
            <a:endParaRPr lang="tr-TR" dirty="0"/>
          </a:p>
          <a:p>
            <a:r>
              <a:rPr lang="en-US" dirty="0"/>
              <a:t>allows content</a:t>
            </a:r>
            <a:r>
              <a:rPr lang="tr-TR" dirty="0"/>
              <a:t> </a:t>
            </a:r>
            <a:r>
              <a:rPr lang="en-US" dirty="0"/>
              <a:t>creators, artists, and companies</a:t>
            </a:r>
            <a:endParaRPr lang="tr-TR" dirty="0"/>
          </a:p>
          <a:p>
            <a:pPr lvl="1"/>
            <a:r>
              <a:rPr lang="en-US" dirty="0"/>
              <a:t>to issue tokens that express digital ownership</a:t>
            </a:r>
            <a:endParaRPr lang="tr-TR" dirty="0"/>
          </a:p>
          <a:p>
            <a:r>
              <a:rPr lang="en-US" dirty="0"/>
              <a:t>Can</a:t>
            </a:r>
            <a:r>
              <a:rPr lang="tr-TR" dirty="0"/>
              <a:t> </a:t>
            </a:r>
            <a:r>
              <a:rPr lang="en-US" dirty="0"/>
              <a:t>be used </a:t>
            </a:r>
            <a:endParaRPr lang="tr-TR" dirty="0"/>
          </a:p>
          <a:p>
            <a:pPr lvl="1"/>
            <a:r>
              <a:rPr lang="en-US" dirty="0"/>
              <a:t>to rent, access, trade, or shop for content, products, and services. </a:t>
            </a:r>
            <a:endParaRPr lang="tr-TR" dirty="0"/>
          </a:p>
          <a:p>
            <a:r>
              <a:rPr lang="en-US" dirty="0"/>
              <a:t>Other applications</a:t>
            </a:r>
          </a:p>
          <a:p>
            <a:pPr lvl="1"/>
            <a:r>
              <a:rPr lang="en-US" dirty="0"/>
              <a:t>games (Spells of Genesis) and </a:t>
            </a:r>
            <a:endParaRPr lang="tr-TR" dirty="0"/>
          </a:p>
          <a:p>
            <a:pPr lvl="1"/>
            <a:r>
              <a:rPr lang="en-US" dirty="0"/>
              <a:t>grid computing</a:t>
            </a:r>
            <a:r>
              <a:rPr lang="tr-TR" dirty="0"/>
              <a:t> </a:t>
            </a:r>
            <a:r>
              <a:rPr lang="en-US" dirty="0"/>
              <a:t>projects (Folding Coin).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40833424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en-US" sz="5400" dirty="0"/>
              <a:t>Payment Channels and State Channels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20209276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A5FF0A-15B0-4360-92A6-A6736B4A5B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Payment Channels and State Channels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FB1B50-04E6-4A97-B2FC-E6DC2F3908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21169"/>
            <a:ext cx="8770571" cy="4290646"/>
          </a:xfrm>
        </p:spPr>
        <p:txBody>
          <a:bodyPr>
            <a:normAutofit/>
          </a:bodyPr>
          <a:lstStyle/>
          <a:p>
            <a:r>
              <a:rPr lang="en-US" dirty="0"/>
              <a:t>for exchanging bitcoin transactions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between two parties, </a:t>
            </a:r>
            <a:endParaRPr lang="tr-TR" dirty="0"/>
          </a:p>
          <a:p>
            <a:pPr lvl="1"/>
            <a:r>
              <a:rPr lang="en-US" dirty="0"/>
              <a:t>outside of the bitcoin blockchain</a:t>
            </a:r>
            <a:endParaRPr lang="tr-TR" dirty="0"/>
          </a:p>
          <a:p>
            <a:r>
              <a:rPr lang="tr-TR" dirty="0"/>
              <a:t>held off-chain</a:t>
            </a:r>
          </a:p>
          <a:p>
            <a:pPr lvl="1"/>
            <a:r>
              <a:rPr lang="tr-TR" dirty="0"/>
              <a:t>Acting </a:t>
            </a:r>
            <a:r>
              <a:rPr lang="en-US" dirty="0"/>
              <a:t>as </a:t>
            </a:r>
            <a:r>
              <a:rPr lang="en-US" i="1" dirty="0"/>
              <a:t>promissory notes </a:t>
            </a:r>
            <a:endParaRPr lang="tr-TR" i="1" dirty="0"/>
          </a:p>
          <a:p>
            <a:pPr lvl="1"/>
            <a:r>
              <a:rPr lang="en-US" dirty="0"/>
              <a:t>for eventual batch settlement. 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78326044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A5FF0A-15B0-4360-92A6-A6736B4A5B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Payment Channels and State Channels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FB1B50-04E6-4A97-B2FC-E6DC2F3908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21169"/>
            <a:ext cx="8770571" cy="4290646"/>
          </a:xfrm>
        </p:spPr>
        <p:txBody>
          <a:bodyPr>
            <a:normAutofit/>
          </a:bodyPr>
          <a:lstStyle/>
          <a:p>
            <a:r>
              <a:rPr lang="tr-TR" dirty="0"/>
              <a:t>Transactions</a:t>
            </a:r>
          </a:p>
          <a:p>
            <a:pPr lvl="1"/>
            <a:r>
              <a:rPr lang="en-US" dirty="0"/>
              <a:t>can be exchanged without the usual settlement latency,</a:t>
            </a:r>
            <a:endParaRPr lang="tr-TR" dirty="0"/>
          </a:p>
          <a:p>
            <a:pPr lvl="1"/>
            <a:r>
              <a:rPr lang="tr-TR" dirty="0"/>
              <a:t>since</a:t>
            </a:r>
            <a:r>
              <a:rPr lang="en-US" dirty="0"/>
              <a:t> the transactions are not settled, </a:t>
            </a:r>
            <a:endParaRPr lang="tr-TR" dirty="0"/>
          </a:p>
          <a:p>
            <a:r>
              <a:rPr lang="en-US" dirty="0"/>
              <a:t>Allowing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extremely high transaction throughput, </a:t>
            </a:r>
            <a:endParaRPr lang="tr-TR" dirty="0"/>
          </a:p>
          <a:p>
            <a:pPr lvl="1"/>
            <a:r>
              <a:rPr lang="en-US" dirty="0"/>
              <a:t>low (</a:t>
            </a:r>
            <a:r>
              <a:rPr lang="en-US" dirty="0" err="1"/>
              <a:t>submillisecond</a:t>
            </a:r>
            <a:r>
              <a:rPr lang="en-US" dirty="0"/>
              <a:t>) latency,</a:t>
            </a:r>
            <a:endParaRPr lang="tr-TR" dirty="0"/>
          </a:p>
          <a:p>
            <a:pPr lvl="1"/>
            <a:r>
              <a:rPr lang="en-US" dirty="0"/>
              <a:t>fine</a:t>
            </a:r>
            <a:r>
              <a:rPr lang="tr-TR" dirty="0"/>
              <a:t> (satoshi-level) granularity.</a:t>
            </a:r>
          </a:p>
        </p:txBody>
      </p:sp>
    </p:spTree>
    <p:extLst>
      <p:ext uri="{BB962C8B-B14F-4D97-AF65-F5344CB8AC3E}">
        <p14:creationId xmlns:p14="http://schemas.microsoft.com/office/powerpoint/2010/main" val="103326834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DC233-3281-4638-9E85-5FB69CD82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The Term Channel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F7115DD-4358-448D-B64B-0FBC04FA2E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38755"/>
            <a:ext cx="8770571" cy="4325814"/>
          </a:xfrm>
        </p:spPr>
        <p:txBody>
          <a:bodyPr>
            <a:normAutofit/>
          </a:bodyPr>
          <a:lstStyle/>
          <a:p>
            <a:r>
              <a:rPr lang="en-US" dirty="0"/>
              <a:t>the term </a:t>
            </a:r>
            <a:r>
              <a:rPr lang="en-US" i="1" dirty="0"/>
              <a:t>channel </a:t>
            </a:r>
            <a:r>
              <a:rPr lang="en-US" dirty="0"/>
              <a:t>is a metaphor. </a:t>
            </a:r>
            <a:endParaRPr lang="tr-TR" dirty="0"/>
          </a:p>
          <a:p>
            <a:pPr lvl="1"/>
            <a:r>
              <a:rPr lang="en-US" dirty="0"/>
              <a:t>State channels are virtual constructs </a:t>
            </a:r>
            <a:endParaRPr lang="tr-TR" dirty="0"/>
          </a:p>
          <a:p>
            <a:pPr lvl="1"/>
            <a:r>
              <a:rPr lang="en-US" dirty="0"/>
              <a:t>represented</a:t>
            </a:r>
            <a:r>
              <a:rPr lang="tr-TR" dirty="0"/>
              <a:t> </a:t>
            </a:r>
            <a:r>
              <a:rPr lang="en-US" dirty="0"/>
              <a:t>by the exchange of state </a:t>
            </a:r>
            <a:endParaRPr lang="tr-TR" dirty="0"/>
          </a:p>
          <a:p>
            <a:pPr lvl="1"/>
            <a:r>
              <a:rPr lang="en-US" dirty="0"/>
              <a:t>between two parties, outside of the blockchain. </a:t>
            </a:r>
            <a:endParaRPr lang="tr-TR" dirty="0"/>
          </a:p>
          <a:p>
            <a:r>
              <a:rPr lang="en-US" dirty="0"/>
              <a:t>There</a:t>
            </a:r>
            <a:r>
              <a:rPr lang="tr-TR" dirty="0"/>
              <a:t> </a:t>
            </a:r>
            <a:r>
              <a:rPr lang="en-US" dirty="0"/>
              <a:t>are no “channels” per se</a:t>
            </a:r>
            <a:endParaRPr lang="tr-TR" dirty="0"/>
          </a:p>
          <a:p>
            <a:pPr lvl="1"/>
            <a:r>
              <a:rPr lang="en-US" dirty="0"/>
              <a:t>the underlying data transport mechanism is not the</a:t>
            </a:r>
            <a:r>
              <a:rPr lang="tr-TR" dirty="0"/>
              <a:t> </a:t>
            </a:r>
            <a:r>
              <a:rPr lang="en-US" dirty="0"/>
              <a:t>channel. </a:t>
            </a:r>
            <a:endParaRPr lang="tr-TR" dirty="0"/>
          </a:p>
          <a:p>
            <a:r>
              <a:rPr lang="tr-TR" dirty="0"/>
              <a:t>used the channel term</a:t>
            </a:r>
          </a:p>
          <a:p>
            <a:pPr lvl="1"/>
            <a:r>
              <a:rPr lang="en-US" dirty="0"/>
              <a:t>to represent the relationship and shared state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between two parties, outside of the blockchain.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406141478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7B852B-C590-4B27-8C7B-8ABACFE783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Trustless Mechanism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E58DEC8-B89D-41C9-88A1-0674D3DA471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a payment channel is</a:t>
            </a:r>
            <a:endParaRPr lang="tr-TR" dirty="0"/>
          </a:p>
          <a:p>
            <a:pPr lvl="1"/>
            <a:r>
              <a:rPr lang="en-US" dirty="0"/>
              <a:t>just a series of transactions. </a:t>
            </a:r>
            <a:endParaRPr lang="tr-TR" dirty="0"/>
          </a:p>
          <a:p>
            <a:r>
              <a:rPr lang="en-US" dirty="0"/>
              <a:t>If properly sequenced and</a:t>
            </a:r>
            <a:r>
              <a:rPr lang="tr-TR" dirty="0"/>
              <a:t> </a:t>
            </a:r>
            <a:r>
              <a:rPr lang="en-US" dirty="0"/>
              <a:t>connected, </a:t>
            </a:r>
            <a:endParaRPr lang="tr-TR" dirty="0"/>
          </a:p>
          <a:p>
            <a:pPr lvl="1"/>
            <a:r>
              <a:rPr lang="en-US" dirty="0"/>
              <a:t>they create redeemable obligations </a:t>
            </a:r>
            <a:endParaRPr lang="tr-TR" dirty="0"/>
          </a:p>
          <a:p>
            <a:pPr lvl="1"/>
            <a:r>
              <a:rPr lang="en-US" dirty="0"/>
              <a:t>that you can trust</a:t>
            </a:r>
            <a:endParaRPr lang="tr-TR" dirty="0"/>
          </a:p>
          <a:p>
            <a:r>
              <a:rPr lang="en-US" dirty="0"/>
              <a:t>even though </a:t>
            </a:r>
            <a:endParaRPr lang="tr-TR" dirty="0"/>
          </a:p>
          <a:p>
            <a:pPr lvl="1"/>
            <a:r>
              <a:rPr lang="en-US" dirty="0"/>
              <a:t>you</a:t>
            </a:r>
            <a:r>
              <a:rPr lang="tr-TR" dirty="0"/>
              <a:t> </a:t>
            </a:r>
            <a:r>
              <a:rPr lang="en-US" dirty="0"/>
              <a:t>don’t trust the other side of the channel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93601757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0E4843-F468-4409-A964-AD008FC4AA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State Channels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ED1109F-549A-4593-988F-8230C4FD2A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21169"/>
            <a:ext cx="8770571" cy="4308231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A state channel </a:t>
            </a:r>
            <a:endParaRPr lang="tr-TR" dirty="0"/>
          </a:p>
          <a:p>
            <a:pPr lvl="1"/>
            <a:r>
              <a:rPr lang="en-US" dirty="0"/>
              <a:t>is established between two parties, </a:t>
            </a:r>
            <a:endParaRPr lang="tr-TR" dirty="0"/>
          </a:p>
          <a:p>
            <a:pPr lvl="1"/>
            <a:r>
              <a:rPr lang="en-US" dirty="0"/>
              <a:t>through a transaction that locks a</a:t>
            </a:r>
            <a:r>
              <a:rPr lang="tr-TR" dirty="0"/>
              <a:t> </a:t>
            </a:r>
            <a:r>
              <a:rPr lang="en-US" dirty="0"/>
              <a:t>shared state on the blockchain. </a:t>
            </a:r>
            <a:endParaRPr lang="tr-TR" dirty="0"/>
          </a:p>
          <a:p>
            <a:r>
              <a:rPr lang="en-US" dirty="0"/>
              <a:t>This is called </a:t>
            </a:r>
            <a:endParaRPr lang="tr-TR" dirty="0"/>
          </a:p>
          <a:p>
            <a:pPr lvl="1"/>
            <a:r>
              <a:rPr lang="en-US" dirty="0"/>
              <a:t>the funding transaction </a:t>
            </a:r>
            <a:endParaRPr lang="tr-TR" dirty="0"/>
          </a:p>
          <a:p>
            <a:pPr lvl="1"/>
            <a:r>
              <a:rPr lang="en-US" dirty="0"/>
              <a:t>or anchor transaction.</a:t>
            </a:r>
          </a:p>
          <a:p>
            <a:r>
              <a:rPr lang="en-US" dirty="0"/>
              <a:t>This single transaction </a:t>
            </a:r>
            <a:endParaRPr lang="tr-TR" dirty="0"/>
          </a:p>
          <a:p>
            <a:pPr lvl="1"/>
            <a:r>
              <a:rPr lang="en-US" dirty="0"/>
              <a:t>must be transmitted to the network </a:t>
            </a:r>
            <a:endParaRPr lang="tr-TR" dirty="0"/>
          </a:p>
          <a:p>
            <a:pPr lvl="1"/>
            <a:r>
              <a:rPr lang="en-US" dirty="0"/>
              <a:t>and mined to</a:t>
            </a:r>
            <a:r>
              <a:rPr lang="tr-TR" dirty="0"/>
              <a:t> </a:t>
            </a:r>
            <a:r>
              <a:rPr lang="en-US" dirty="0"/>
              <a:t>establish the channel.</a:t>
            </a:r>
            <a:endParaRPr lang="tr-TR" dirty="0"/>
          </a:p>
          <a:p>
            <a:r>
              <a:rPr lang="en-US" dirty="0"/>
              <a:t>In the example of a payment channel, </a:t>
            </a:r>
            <a:endParaRPr lang="tr-TR" dirty="0"/>
          </a:p>
          <a:p>
            <a:pPr lvl="1"/>
            <a:r>
              <a:rPr lang="en-US" dirty="0"/>
              <a:t>the locked state is the</a:t>
            </a:r>
            <a:r>
              <a:rPr lang="tr-TR" dirty="0"/>
              <a:t> </a:t>
            </a:r>
            <a:r>
              <a:rPr lang="en-US" dirty="0"/>
              <a:t>initial balance (in currency) of the channel.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87804608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9DFF19-77A5-4386-BFC5-A1A5E5EA6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Commitment Transactions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EA88BF-664D-4211-8A1F-DE3DAC9691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296508"/>
          </a:xfrm>
        </p:spPr>
        <p:txBody>
          <a:bodyPr>
            <a:normAutofit/>
          </a:bodyPr>
          <a:lstStyle/>
          <a:p>
            <a:r>
              <a:rPr lang="en-US" dirty="0"/>
              <a:t>The two parties then exchange signed transactions, </a:t>
            </a:r>
            <a:endParaRPr lang="tr-TR" dirty="0"/>
          </a:p>
          <a:p>
            <a:pPr lvl="1"/>
            <a:r>
              <a:rPr lang="en-US" dirty="0"/>
              <a:t>called </a:t>
            </a:r>
            <a:r>
              <a:rPr lang="en-US" i="1" dirty="0"/>
              <a:t>commitment transactions</a:t>
            </a:r>
            <a:r>
              <a:rPr lang="en-US" dirty="0"/>
              <a:t>,</a:t>
            </a:r>
          </a:p>
          <a:p>
            <a:r>
              <a:rPr lang="en-US" dirty="0"/>
              <a:t>that alter the initial state. </a:t>
            </a:r>
            <a:endParaRPr lang="tr-TR" dirty="0"/>
          </a:p>
          <a:p>
            <a:r>
              <a:rPr lang="en-US" dirty="0"/>
              <a:t>These transactions are </a:t>
            </a:r>
            <a:endParaRPr lang="tr-TR" dirty="0"/>
          </a:p>
          <a:p>
            <a:pPr lvl="1"/>
            <a:r>
              <a:rPr lang="en-US" dirty="0"/>
              <a:t>valid transactions</a:t>
            </a:r>
            <a:endParaRPr lang="tr-TR" dirty="0"/>
          </a:p>
          <a:p>
            <a:r>
              <a:rPr lang="en-US" dirty="0"/>
              <a:t>in that they </a:t>
            </a:r>
            <a:r>
              <a:rPr lang="en-US" i="1" dirty="0"/>
              <a:t>could</a:t>
            </a:r>
            <a:r>
              <a:rPr lang="tr-TR" i="1" dirty="0"/>
              <a:t> </a:t>
            </a:r>
            <a:r>
              <a:rPr lang="en-US" dirty="0"/>
              <a:t>be submitted </a:t>
            </a:r>
            <a:endParaRPr lang="tr-TR" dirty="0"/>
          </a:p>
          <a:p>
            <a:pPr lvl="1"/>
            <a:r>
              <a:rPr lang="en-US" dirty="0"/>
              <a:t>for settlement by either party, </a:t>
            </a:r>
            <a:endParaRPr lang="tr-TR" dirty="0"/>
          </a:p>
          <a:p>
            <a:pPr lvl="1"/>
            <a:r>
              <a:rPr lang="en-US" dirty="0"/>
              <a:t>but instead are held off-chain by each</a:t>
            </a:r>
            <a:r>
              <a:rPr lang="tr-TR" dirty="0"/>
              <a:t> </a:t>
            </a:r>
            <a:r>
              <a:rPr lang="en-US" dirty="0"/>
              <a:t>party </a:t>
            </a:r>
            <a:endParaRPr lang="tr-TR" dirty="0"/>
          </a:p>
          <a:p>
            <a:pPr lvl="1"/>
            <a:r>
              <a:rPr lang="en-US" dirty="0"/>
              <a:t>pending the channel closure.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23409069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9DFF19-77A5-4386-BFC5-A1A5E5EA6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Commitment Transactions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EA88BF-664D-4211-8A1F-DE3DAC9691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296508"/>
          </a:xfrm>
        </p:spPr>
        <p:txBody>
          <a:bodyPr>
            <a:normAutofit/>
          </a:bodyPr>
          <a:lstStyle/>
          <a:p>
            <a:r>
              <a:rPr lang="en-US" dirty="0"/>
              <a:t>When exchanging commitment transactions </a:t>
            </a:r>
            <a:endParaRPr lang="tr-TR" dirty="0"/>
          </a:p>
          <a:p>
            <a:pPr lvl="1"/>
            <a:r>
              <a:rPr lang="en-US" dirty="0"/>
              <a:t>the two parties also invalidate the previous</a:t>
            </a:r>
            <a:r>
              <a:rPr lang="tr-TR" dirty="0"/>
              <a:t> </a:t>
            </a:r>
            <a:r>
              <a:rPr lang="en-US" dirty="0"/>
              <a:t>states, </a:t>
            </a:r>
            <a:endParaRPr lang="tr-TR" dirty="0"/>
          </a:p>
          <a:p>
            <a:r>
              <a:rPr lang="en-US" dirty="0"/>
              <a:t>so that the most up-to-date commitment transaction </a:t>
            </a:r>
            <a:endParaRPr lang="tr-TR" dirty="0"/>
          </a:p>
          <a:p>
            <a:pPr lvl="1"/>
            <a:r>
              <a:rPr lang="en-US" dirty="0"/>
              <a:t>is always the only one</a:t>
            </a:r>
            <a:r>
              <a:rPr lang="tr-TR" dirty="0"/>
              <a:t> </a:t>
            </a:r>
            <a:r>
              <a:rPr lang="en-US" dirty="0"/>
              <a:t>that can be redeemed. </a:t>
            </a:r>
            <a:endParaRPr lang="tr-TR" dirty="0"/>
          </a:p>
          <a:p>
            <a:pPr lvl="1"/>
            <a:r>
              <a:rPr lang="tr-TR" dirty="0"/>
              <a:t>to</a:t>
            </a:r>
            <a:r>
              <a:rPr lang="en-US" dirty="0"/>
              <a:t> prevent either party from cheating </a:t>
            </a:r>
            <a:endParaRPr lang="tr-TR" dirty="0"/>
          </a:p>
          <a:p>
            <a:r>
              <a:rPr lang="en-US" dirty="0"/>
              <a:t>by unilaterally closing</a:t>
            </a:r>
            <a:r>
              <a:rPr lang="tr-TR" dirty="0"/>
              <a:t> </a:t>
            </a:r>
            <a:r>
              <a:rPr lang="en-US" dirty="0"/>
              <a:t>the channel </a:t>
            </a:r>
            <a:endParaRPr lang="tr-TR" dirty="0"/>
          </a:p>
          <a:p>
            <a:pPr lvl="1"/>
            <a:r>
              <a:rPr lang="en-US" dirty="0"/>
              <a:t>with an expired prior state </a:t>
            </a:r>
            <a:endParaRPr lang="tr-TR" dirty="0"/>
          </a:p>
          <a:p>
            <a:pPr lvl="1"/>
            <a:r>
              <a:rPr lang="en-US" dirty="0"/>
              <a:t>that is more favorable to them than the current</a:t>
            </a:r>
            <a:r>
              <a:rPr lang="tr-TR" dirty="0"/>
              <a:t> state.</a:t>
            </a:r>
          </a:p>
        </p:txBody>
      </p:sp>
    </p:spTree>
    <p:extLst>
      <p:ext uri="{BB962C8B-B14F-4D97-AF65-F5344CB8AC3E}">
        <p14:creationId xmlns:p14="http://schemas.microsoft.com/office/powerpoint/2010/main" val="182289684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98A647-0179-4503-9D10-3E179DCB4A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Settlement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FB724C-EE8A-4655-84F3-1FF060B238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085492"/>
          </a:xfrm>
        </p:spPr>
        <p:txBody>
          <a:bodyPr>
            <a:normAutofit lnSpcReduction="10000"/>
          </a:bodyPr>
          <a:lstStyle/>
          <a:p>
            <a:r>
              <a:rPr lang="en-US" dirty="0"/>
              <a:t>the channel can be closed</a:t>
            </a:r>
            <a:endParaRPr lang="tr-TR" dirty="0"/>
          </a:p>
          <a:p>
            <a:pPr lvl="1"/>
            <a:r>
              <a:rPr lang="en-US" dirty="0"/>
              <a:t>either cooperatively, </a:t>
            </a:r>
            <a:endParaRPr lang="tr-TR" dirty="0"/>
          </a:p>
          <a:p>
            <a:pPr lvl="1"/>
            <a:r>
              <a:rPr lang="en-US" dirty="0"/>
              <a:t>by submitting a final </a:t>
            </a:r>
            <a:r>
              <a:rPr lang="en-US" i="1" dirty="0"/>
              <a:t>settlement</a:t>
            </a:r>
            <a:r>
              <a:rPr lang="tr-TR" i="1" dirty="0"/>
              <a:t> </a:t>
            </a:r>
            <a:r>
              <a:rPr lang="en-US" i="1" dirty="0"/>
              <a:t>transaction </a:t>
            </a:r>
            <a:r>
              <a:rPr lang="en-US" dirty="0"/>
              <a:t>to the blockchain, </a:t>
            </a:r>
            <a:endParaRPr lang="tr-TR" dirty="0"/>
          </a:p>
          <a:p>
            <a:pPr lvl="1"/>
            <a:r>
              <a:rPr lang="en-US" dirty="0"/>
              <a:t>or unilaterally, </a:t>
            </a:r>
            <a:endParaRPr lang="tr-TR" dirty="0"/>
          </a:p>
          <a:p>
            <a:pPr lvl="2"/>
            <a:r>
              <a:rPr lang="en-US" dirty="0"/>
              <a:t>by either party submitting the last</a:t>
            </a:r>
            <a:r>
              <a:rPr lang="tr-TR" dirty="0"/>
              <a:t> </a:t>
            </a:r>
            <a:r>
              <a:rPr lang="en-US" dirty="0"/>
              <a:t>commitment transaction to the blockchain.</a:t>
            </a:r>
            <a:endParaRPr lang="tr-TR" dirty="0"/>
          </a:p>
          <a:p>
            <a:r>
              <a:rPr lang="en-US" dirty="0"/>
              <a:t>A unilateral close option </a:t>
            </a:r>
            <a:endParaRPr lang="tr-TR" dirty="0"/>
          </a:p>
          <a:p>
            <a:pPr lvl="1"/>
            <a:r>
              <a:rPr lang="en-US" dirty="0"/>
              <a:t>is needed in</a:t>
            </a:r>
            <a:r>
              <a:rPr lang="tr-TR" dirty="0"/>
              <a:t> </a:t>
            </a:r>
            <a:r>
              <a:rPr lang="en-US" dirty="0"/>
              <a:t>case one of the parties unexpectedly disconnects. </a:t>
            </a:r>
            <a:endParaRPr lang="tr-TR" dirty="0"/>
          </a:p>
          <a:p>
            <a:r>
              <a:rPr lang="en-US" dirty="0"/>
              <a:t>The settlement transaction </a:t>
            </a:r>
            <a:endParaRPr lang="tr-TR" dirty="0"/>
          </a:p>
          <a:p>
            <a:pPr lvl="1"/>
            <a:r>
              <a:rPr lang="en-US" dirty="0"/>
              <a:t>represents</a:t>
            </a:r>
            <a:r>
              <a:rPr lang="tr-TR" dirty="0"/>
              <a:t> </a:t>
            </a:r>
            <a:r>
              <a:rPr lang="en-US" dirty="0"/>
              <a:t>the final state of the channel </a:t>
            </a:r>
            <a:endParaRPr lang="tr-TR" dirty="0"/>
          </a:p>
          <a:p>
            <a:pPr lvl="1"/>
            <a:r>
              <a:rPr lang="en-US" dirty="0"/>
              <a:t>and is settled on the blockchain.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87601703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C69A22-A6B9-44FF-8700-BDB8375170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Mining of Transactions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E6D0808-5423-47DA-952F-804D8B8C4B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191000"/>
          </a:xfrm>
        </p:spPr>
        <p:txBody>
          <a:bodyPr>
            <a:normAutofit lnSpcReduction="10000"/>
          </a:bodyPr>
          <a:lstStyle/>
          <a:p>
            <a:r>
              <a:rPr lang="en-US" dirty="0"/>
              <a:t>In the entire lifetime of the channel, </a:t>
            </a:r>
            <a:endParaRPr lang="tr-TR" dirty="0"/>
          </a:p>
          <a:p>
            <a:pPr lvl="1"/>
            <a:r>
              <a:rPr lang="en-US" dirty="0"/>
              <a:t>only two transactions need to be submitted </a:t>
            </a:r>
            <a:endParaRPr lang="tr-TR" dirty="0"/>
          </a:p>
          <a:p>
            <a:pPr lvl="1"/>
            <a:r>
              <a:rPr lang="en-US" dirty="0"/>
              <a:t>for</a:t>
            </a:r>
            <a:r>
              <a:rPr lang="tr-TR" dirty="0"/>
              <a:t> </a:t>
            </a:r>
            <a:r>
              <a:rPr lang="en-US" dirty="0"/>
              <a:t>mining on the blockchain: </a:t>
            </a:r>
            <a:endParaRPr lang="tr-TR" dirty="0"/>
          </a:p>
          <a:p>
            <a:r>
              <a:rPr lang="tr-TR" dirty="0"/>
              <a:t>Transactions to mine</a:t>
            </a:r>
          </a:p>
          <a:p>
            <a:pPr lvl="1"/>
            <a:r>
              <a:rPr lang="en-US" dirty="0"/>
              <a:t>the funding and settlement transactions. </a:t>
            </a:r>
            <a:endParaRPr lang="tr-TR" dirty="0"/>
          </a:p>
          <a:p>
            <a:r>
              <a:rPr lang="en-US" dirty="0"/>
              <a:t>In between these</a:t>
            </a:r>
            <a:r>
              <a:rPr lang="tr-TR" dirty="0"/>
              <a:t> </a:t>
            </a:r>
            <a:r>
              <a:rPr lang="en-US" dirty="0"/>
              <a:t>two states, </a:t>
            </a:r>
            <a:endParaRPr lang="tr-TR" dirty="0"/>
          </a:p>
          <a:p>
            <a:pPr lvl="1"/>
            <a:r>
              <a:rPr lang="en-US" dirty="0"/>
              <a:t>the two parties can exchange </a:t>
            </a:r>
            <a:endParaRPr lang="tr-TR" dirty="0"/>
          </a:p>
          <a:p>
            <a:pPr lvl="1"/>
            <a:r>
              <a:rPr lang="en-US" dirty="0"/>
              <a:t>any number of commitment transactions</a:t>
            </a:r>
          </a:p>
          <a:p>
            <a:r>
              <a:rPr lang="en-US" dirty="0"/>
              <a:t>that are never seen by anyone else, </a:t>
            </a:r>
            <a:endParaRPr lang="tr-TR" dirty="0"/>
          </a:p>
          <a:p>
            <a:pPr lvl="1"/>
            <a:r>
              <a:rPr lang="en-US" dirty="0"/>
              <a:t>nor submitted to the blockchain.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96318180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C5D0B24F-4D72-4A0A-ADE7-C75F62DBE598}"/>
              </a:ext>
            </a:extLst>
          </p:cNvPr>
          <p:cNvSpPr/>
          <p:nvPr/>
        </p:nvSpPr>
        <p:spPr>
          <a:xfrm>
            <a:off x="5802774" y="1224725"/>
            <a:ext cx="597612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/>
              <a:t>Figure 12-4. A payment channel between Bob and Alice, showing the </a:t>
            </a:r>
            <a:r>
              <a:rPr lang="en-US" sz="2400" b="1" dirty="0"/>
              <a:t>funding</a:t>
            </a:r>
            <a:r>
              <a:rPr lang="en-US" sz="2400" dirty="0"/>
              <a:t>,</a:t>
            </a:r>
            <a:r>
              <a:rPr lang="tr-TR" sz="2400" dirty="0"/>
              <a:t> </a:t>
            </a:r>
            <a:r>
              <a:rPr lang="en-US" sz="2400" b="1" dirty="0"/>
              <a:t>commitment</a:t>
            </a:r>
            <a:r>
              <a:rPr lang="en-US" sz="2400" dirty="0"/>
              <a:t>,</a:t>
            </a:r>
            <a:r>
              <a:rPr lang="tr-TR" sz="2400" dirty="0"/>
              <a:t> </a:t>
            </a:r>
            <a:r>
              <a:rPr lang="en-US" sz="2400" dirty="0"/>
              <a:t>and </a:t>
            </a:r>
            <a:r>
              <a:rPr lang="en-US" sz="2400" b="1" dirty="0"/>
              <a:t>settlement</a:t>
            </a:r>
            <a:r>
              <a:rPr lang="en-US" sz="2400" dirty="0"/>
              <a:t> transactions</a:t>
            </a:r>
            <a:endParaRPr lang="tr-TR" sz="24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7FDDD05-3DB3-4A22-9046-8414E83F85D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7356" y="237154"/>
            <a:ext cx="4795418" cy="638369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EBA5DF40-3013-4D45-BAF2-821A47226CA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13380" y="3310551"/>
            <a:ext cx="4941369" cy="30261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934786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D4817C-8229-4B12-9A31-D32FDDFBF6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Simple Payment Example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C6ED24-AC6A-48BE-9D94-98262C459F4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/>
              <a:t>To explain state channels, </a:t>
            </a:r>
            <a:endParaRPr lang="tr-TR" dirty="0"/>
          </a:p>
          <a:p>
            <a:pPr lvl="1"/>
            <a:r>
              <a:rPr lang="en-US" dirty="0"/>
              <a:t>we have to start with a very simple example. </a:t>
            </a:r>
            <a:endParaRPr lang="tr-TR" dirty="0"/>
          </a:p>
          <a:p>
            <a:r>
              <a:rPr lang="en-US" dirty="0"/>
              <a:t>We demonstrate</a:t>
            </a:r>
            <a:r>
              <a:rPr lang="tr-TR" dirty="0"/>
              <a:t> </a:t>
            </a:r>
            <a:r>
              <a:rPr lang="en-US" dirty="0"/>
              <a:t>a one-way channel, </a:t>
            </a:r>
            <a:endParaRPr lang="tr-TR" dirty="0"/>
          </a:p>
          <a:p>
            <a:pPr lvl="1"/>
            <a:r>
              <a:rPr lang="en-US" dirty="0"/>
              <a:t>meaning that value is flowing in one direction only. </a:t>
            </a:r>
            <a:endParaRPr lang="tr-TR" dirty="0"/>
          </a:p>
          <a:p>
            <a:r>
              <a:rPr lang="en-US" dirty="0"/>
              <a:t>We will</a:t>
            </a:r>
            <a:r>
              <a:rPr lang="tr-TR" dirty="0"/>
              <a:t> </a:t>
            </a:r>
            <a:r>
              <a:rPr lang="en-US" dirty="0"/>
              <a:t>also start with the naive assumption </a:t>
            </a:r>
            <a:endParaRPr lang="tr-TR" dirty="0"/>
          </a:p>
          <a:p>
            <a:pPr lvl="1"/>
            <a:r>
              <a:rPr lang="en-US" dirty="0"/>
              <a:t>that no one is trying to cheat, to keep things simple.</a:t>
            </a:r>
          </a:p>
          <a:p>
            <a:r>
              <a:rPr lang="en-US" dirty="0"/>
              <a:t>Once we have the basic channel idea explained,</a:t>
            </a:r>
            <a:endParaRPr lang="tr-TR" dirty="0"/>
          </a:p>
          <a:p>
            <a:pPr lvl="1"/>
            <a:r>
              <a:rPr lang="en-US" dirty="0"/>
              <a:t> we will then look at what it takes</a:t>
            </a:r>
            <a:r>
              <a:rPr lang="tr-TR" dirty="0"/>
              <a:t> </a:t>
            </a:r>
            <a:r>
              <a:rPr lang="en-US" dirty="0"/>
              <a:t>to make it trustless </a:t>
            </a:r>
            <a:endParaRPr lang="tr-TR" dirty="0"/>
          </a:p>
          <a:p>
            <a:pPr lvl="1"/>
            <a:r>
              <a:rPr lang="en-US" dirty="0"/>
              <a:t>so that neither party can cheat, even if they are trying to.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02559631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FA73CE-EDC1-4C09-BDDC-D1DCB31021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Example: Selling Video Stream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4E96807-1627-42AB-AA92-A371282B169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dirty="0"/>
              <a:t>For this example </a:t>
            </a:r>
            <a:endParaRPr lang="tr-TR" dirty="0"/>
          </a:p>
          <a:p>
            <a:pPr lvl="1"/>
            <a:r>
              <a:rPr lang="en-US" dirty="0"/>
              <a:t>we will assume two participants:</a:t>
            </a:r>
            <a:endParaRPr lang="tr-TR" dirty="0"/>
          </a:p>
          <a:p>
            <a:pPr lvl="1"/>
            <a:r>
              <a:rPr lang="en-US" dirty="0"/>
              <a:t>Emma and Fabian. </a:t>
            </a:r>
            <a:endParaRPr lang="tr-TR" dirty="0"/>
          </a:p>
          <a:p>
            <a:r>
              <a:rPr lang="en-US" dirty="0"/>
              <a:t>Fabian offers a</a:t>
            </a:r>
            <a:r>
              <a:rPr lang="tr-TR" dirty="0"/>
              <a:t> </a:t>
            </a:r>
            <a:r>
              <a:rPr lang="en-US" dirty="0"/>
              <a:t>video streaming service </a:t>
            </a:r>
            <a:endParaRPr lang="tr-TR" dirty="0"/>
          </a:p>
          <a:p>
            <a:pPr lvl="1"/>
            <a:r>
              <a:rPr lang="en-US" dirty="0"/>
              <a:t>that is billed by the second using a micropayment channel.</a:t>
            </a:r>
          </a:p>
          <a:p>
            <a:r>
              <a:rPr lang="en-US" dirty="0"/>
              <a:t>Fabian </a:t>
            </a:r>
            <a:endParaRPr lang="tr-TR" dirty="0"/>
          </a:p>
          <a:p>
            <a:pPr lvl="1"/>
            <a:r>
              <a:rPr lang="en-US" dirty="0"/>
              <a:t>Charges</a:t>
            </a:r>
            <a:r>
              <a:rPr lang="tr-TR" dirty="0"/>
              <a:t> </a:t>
            </a:r>
            <a:r>
              <a:rPr lang="en-US" dirty="0"/>
              <a:t>0.01 </a:t>
            </a:r>
            <a:r>
              <a:rPr lang="en-US" dirty="0" err="1"/>
              <a:t>millibit</a:t>
            </a:r>
            <a:r>
              <a:rPr lang="en-US" dirty="0"/>
              <a:t> (0.00001 BTC) per second of video, </a:t>
            </a:r>
            <a:endParaRPr lang="tr-TR" dirty="0"/>
          </a:p>
          <a:p>
            <a:pPr lvl="1"/>
            <a:r>
              <a:rPr lang="en-US" dirty="0"/>
              <a:t>equivalent to 36 </a:t>
            </a:r>
            <a:r>
              <a:rPr lang="en-US" dirty="0" err="1"/>
              <a:t>millibits</a:t>
            </a:r>
            <a:r>
              <a:rPr lang="tr-TR" dirty="0"/>
              <a:t> </a:t>
            </a:r>
            <a:r>
              <a:rPr lang="en-US" dirty="0"/>
              <a:t>(0.036 BTC) per hour of video. </a:t>
            </a:r>
            <a:endParaRPr lang="tr-TR" dirty="0"/>
          </a:p>
          <a:p>
            <a:r>
              <a:rPr lang="en-US" dirty="0"/>
              <a:t>Emma</a:t>
            </a:r>
            <a:endParaRPr lang="tr-TR" dirty="0"/>
          </a:p>
          <a:p>
            <a:pPr lvl="1"/>
            <a:r>
              <a:rPr lang="en-US" dirty="0"/>
              <a:t>is a user who purchases this streaming</a:t>
            </a:r>
            <a:r>
              <a:rPr lang="tr-TR" dirty="0"/>
              <a:t> video service from Fabian.</a:t>
            </a:r>
          </a:p>
        </p:txBody>
      </p:sp>
    </p:spTree>
    <p:extLst>
      <p:ext uri="{BB962C8B-B14F-4D97-AF65-F5344CB8AC3E}">
        <p14:creationId xmlns:p14="http://schemas.microsoft.com/office/powerpoint/2010/main" val="84197123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2B284F7-8D9F-44F2-B215-8B48E88C83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16734" y="190699"/>
            <a:ext cx="7651608" cy="5783625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E57BAAA-00FD-4292-86E6-E2CB861DB35D}"/>
              </a:ext>
            </a:extLst>
          </p:cNvPr>
          <p:cNvSpPr/>
          <p:nvPr/>
        </p:nvSpPr>
        <p:spPr>
          <a:xfrm>
            <a:off x="1107830" y="6328747"/>
            <a:ext cx="1026941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i="1" dirty="0">
                <a:latin typeface="MinionPro-It"/>
              </a:rPr>
              <a:t>Figure 12-5. Emma purchases streaming video from Fabian with a payment channel,</a:t>
            </a:r>
            <a:r>
              <a:rPr lang="tr-TR" sz="1600" i="1" dirty="0">
                <a:latin typeface="MinionPro-It"/>
              </a:rPr>
              <a:t> </a:t>
            </a:r>
            <a:r>
              <a:rPr lang="en-US" sz="1600" i="1" dirty="0">
                <a:latin typeface="MinionPro-It"/>
              </a:rPr>
              <a:t>paying for each second of video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308146844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167A0D-4190-4151-BD36-18FF1602F8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Software in Between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4FFD06D-DB75-460D-9F7E-E9A49B01B7B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243754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Fabian and Emma </a:t>
            </a:r>
            <a:endParaRPr lang="tr-TR" dirty="0"/>
          </a:p>
          <a:p>
            <a:pPr lvl="1"/>
            <a:r>
              <a:rPr lang="en-US" dirty="0"/>
              <a:t>are using special software that handles </a:t>
            </a:r>
            <a:endParaRPr lang="tr-TR" dirty="0"/>
          </a:p>
          <a:p>
            <a:pPr lvl="1"/>
            <a:r>
              <a:rPr lang="en-US" dirty="0"/>
              <a:t>both the</a:t>
            </a:r>
            <a:r>
              <a:rPr lang="tr-TR" dirty="0"/>
              <a:t> </a:t>
            </a:r>
            <a:r>
              <a:rPr lang="en-US" dirty="0"/>
              <a:t>payment channel and the video streaming. </a:t>
            </a:r>
            <a:endParaRPr lang="tr-TR" dirty="0"/>
          </a:p>
          <a:p>
            <a:r>
              <a:rPr lang="tr-TR" dirty="0"/>
              <a:t>Software</a:t>
            </a:r>
          </a:p>
          <a:p>
            <a:pPr lvl="1"/>
            <a:r>
              <a:rPr lang="en-US" dirty="0"/>
              <a:t>Emma is running the software in her</a:t>
            </a:r>
            <a:r>
              <a:rPr lang="tr-TR" dirty="0"/>
              <a:t> </a:t>
            </a:r>
            <a:r>
              <a:rPr lang="en-US" dirty="0"/>
              <a:t>browser, </a:t>
            </a:r>
            <a:endParaRPr lang="tr-TR" dirty="0"/>
          </a:p>
          <a:p>
            <a:pPr lvl="1"/>
            <a:r>
              <a:rPr lang="en-US" dirty="0"/>
              <a:t>Fabian is running it on a server. </a:t>
            </a:r>
            <a:endParaRPr lang="tr-TR" dirty="0"/>
          </a:p>
          <a:p>
            <a:r>
              <a:rPr lang="en-US" dirty="0"/>
              <a:t>The software includes </a:t>
            </a:r>
            <a:endParaRPr lang="tr-TR" dirty="0"/>
          </a:p>
          <a:p>
            <a:pPr lvl="1"/>
            <a:r>
              <a:rPr lang="en-US" dirty="0"/>
              <a:t>basic bitcoin wallet</a:t>
            </a:r>
            <a:r>
              <a:rPr lang="tr-TR" dirty="0"/>
              <a:t> </a:t>
            </a:r>
            <a:r>
              <a:rPr lang="en-US" dirty="0"/>
              <a:t>functionality and can create and sign bitcoin transactions. </a:t>
            </a:r>
            <a:endParaRPr lang="tr-TR" dirty="0"/>
          </a:p>
          <a:p>
            <a:r>
              <a:rPr lang="en-US" dirty="0"/>
              <a:t>Both the concept and the</a:t>
            </a:r>
            <a:r>
              <a:rPr lang="tr-TR" dirty="0"/>
              <a:t> </a:t>
            </a:r>
            <a:r>
              <a:rPr lang="en-US" dirty="0"/>
              <a:t>term “payment channel” </a:t>
            </a:r>
            <a:endParaRPr lang="tr-TR" dirty="0"/>
          </a:p>
          <a:p>
            <a:pPr lvl="1"/>
            <a:r>
              <a:rPr lang="en-US" dirty="0"/>
              <a:t>are completely hidden from the users. </a:t>
            </a:r>
            <a:endParaRPr lang="tr-TR" dirty="0"/>
          </a:p>
          <a:p>
            <a:pPr lvl="1"/>
            <a:r>
              <a:rPr lang="en-US" dirty="0"/>
              <a:t>What they see is video</a:t>
            </a:r>
            <a:r>
              <a:rPr lang="tr-TR" dirty="0"/>
              <a:t> </a:t>
            </a:r>
            <a:r>
              <a:rPr lang="en-US" dirty="0"/>
              <a:t>that is paid for by the second.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64938574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6E0580-9E30-451E-8860-603CF93D18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Set up the Channel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1151E24-7BE1-4BCB-8633-5E5AEE8FF7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419600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To set up the payment channel, </a:t>
            </a:r>
            <a:endParaRPr lang="tr-TR" dirty="0"/>
          </a:p>
          <a:p>
            <a:pPr lvl="1"/>
            <a:r>
              <a:rPr lang="en-US" dirty="0"/>
              <a:t>Emma and Fabian establish a 2-of-2 </a:t>
            </a:r>
            <a:r>
              <a:rPr lang="en-US" dirty="0" err="1"/>
              <a:t>multisignature</a:t>
            </a:r>
            <a:r>
              <a:rPr lang="tr-TR" dirty="0"/>
              <a:t> </a:t>
            </a:r>
            <a:r>
              <a:rPr lang="en-US" dirty="0"/>
              <a:t>address, </a:t>
            </a:r>
            <a:endParaRPr lang="tr-TR" dirty="0"/>
          </a:p>
          <a:p>
            <a:pPr lvl="1"/>
            <a:r>
              <a:rPr lang="en-US" dirty="0"/>
              <a:t>with each of them holding one of the keys.</a:t>
            </a:r>
            <a:endParaRPr lang="tr-TR" dirty="0"/>
          </a:p>
          <a:p>
            <a:r>
              <a:rPr lang="en-US" dirty="0"/>
              <a:t>From Emma’s perspective, </a:t>
            </a:r>
            <a:endParaRPr lang="tr-TR" dirty="0"/>
          </a:p>
          <a:p>
            <a:pPr lvl="1"/>
            <a:r>
              <a:rPr lang="en-US" dirty="0"/>
              <a:t>the</a:t>
            </a:r>
            <a:r>
              <a:rPr lang="tr-TR" dirty="0"/>
              <a:t> </a:t>
            </a:r>
            <a:r>
              <a:rPr lang="en-US" dirty="0"/>
              <a:t>software in her browser presents a QR code </a:t>
            </a:r>
            <a:endParaRPr lang="tr-TR" dirty="0"/>
          </a:p>
          <a:p>
            <a:pPr lvl="1"/>
            <a:r>
              <a:rPr lang="en-US" dirty="0"/>
              <a:t>with a P2SH address (starting with “3”),</a:t>
            </a:r>
          </a:p>
          <a:p>
            <a:pPr lvl="1"/>
            <a:r>
              <a:rPr lang="en-US" dirty="0"/>
              <a:t>asks her to submit a “deposit” for up to 1 hour of video. </a:t>
            </a:r>
            <a:endParaRPr lang="tr-TR" dirty="0"/>
          </a:p>
          <a:p>
            <a:pPr lvl="1"/>
            <a:r>
              <a:rPr lang="en-US" dirty="0"/>
              <a:t>The address is then funded</a:t>
            </a:r>
            <a:r>
              <a:rPr lang="tr-TR" dirty="0"/>
              <a:t> </a:t>
            </a:r>
            <a:r>
              <a:rPr lang="en-US" dirty="0"/>
              <a:t>by Emma.</a:t>
            </a:r>
            <a:endParaRPr lang="tr-TR" dirty="0"/>
          </a:p>
          <a:p>
            <a:r>
              <a:rPr lang="en-US" dirty="0"/>
              <a:t>Emma’s transaction, </a:t>
            </a:r>
            <a:endParaRPr lang="tr-TR" dirty="0"/>
          </a:p>
          <a:p>
            <a:pPr lvl="1"/>
            <a:r>
              <a:rPr lang="en-US" dirty="0"/>
              <a:t>paying to the </a:t>
            </a:r>
            <a:r>
              <a:rPr lang="en-US" dirty="0" err="1"/>
              <a:t>multisignature</a:t>
            </a:r>
            <a:r>
              <a:rPr lang="en-US" dirty="0"/>
              <a:t> address,</a:t>
            </a:r>
            <a:endParaRPr lang="tr-TR" dirty="0"/>
          </a:p>
          <a:p>
            <a:pPr lvl="1"/>
            <a:r>
              <a:rPr lang="en-US" dirty="0"/>
              <a:t>is the funding</a:t>
            </a:r>
            <a:r>
              <a:rPr lang="tr-TR" dirty="0"/>
              <a:t> </a:t>
            </a:r>
            <a:r>
              <a:rPr lang="en-US" dirty="0"/>
              <a:t>or anchor transaction for the payment channel.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62534373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6B5B32-E3BB-4870-82FB-6340EA85EF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Funding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4BBDFA-B371-4061-A981-7A2B9A010E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129061"/>
            <a:ext cx="8770571" cy="4728939"/>
          </a:xfrm>
        </p:spPr>
        <p:txBody>
          <a:bodyPr>
            <a:normAutofit fontScale="85000" lnSpcReduction="20000"/>
          </a:bodyPr>
          <a:lstStyle/>
          <a:p>
            <a:r>
              <a:rPr lang="en-US" dirty="0"/>
              <a:t>Emma </a:t>
            </a:r>
            <a:endParaRPr lang="tr-TR" dirty="0"/>
          </a:p>
          <a:p>
            <a:pPr lvl="1"/>
            <a:r>
              <a:rPr lang="en-US" dirty="0"/>
              <a:t>funds the channel with 36 </a:t>
            </a:r>
            <a:r>
              <a:rPr lang="en-US" dirty="0" err="1"/>
              <a:t>millibits</a:t>
            </a:r>
            <a:r>
              <a:rPr lang="en-US" dirty="0"/>
              <a:t> (0.036 BTC).</a:t>
            </a:r>
          </a:p>
          <a:p>
            <a:pPr lvl="1"/>
            <a:r>
              <a:rPr lang="en-US" dirty="0"/>
              <a:t>to consume </a:t>
            </a:r>
            <a:r>
              <a:rPr lang="en-US" i="1" dirty="0"/>
              <a:t>up to </a:t>
            </a:r>
            <a:r>
              <a:rPr lang="en-US" dirty="0"/>
              <a:t>1 hour of streaming video. </a:t>
            </a:r>
            <a:endParaRPr lang="tr-TR" dirty="0"/>
          </a:p>
          <a:p>
            <a:r>
              <a:rPr lang="en-US" dirty="0"/>
              <a:t>The funding</a:t>
            </a:r>
            <a:r>
              <a:rPr lang="tr-TR" dirty="0"/>
              <a:t> </a:t>
            </a:r>
            <a:r>
              <a:rPr lang="en-US" dirty="0"/>
              <a:t>transaction </a:t>
            </a:r>
            <a:endParaRPr lang="tr-TR" dirty="0"/>
          </a:p>
          <a:p>
            <a:pPr lvl="1"/>
            <a:r>
              <a:rPr lang="en-US" dirty="0"/>
              <a:t>sets the maximum amount that can be transmitted in this</a:t>
            </a:r>
            <a:r>
              <a:rPr lang="tr-TR" dirty="0"/>
              <a:t> </a:t>
            </a:r>
            <a:r>
              <a:rPr lang="en-US" dirty="0"/>
              <a:t>channel, </a:t>
            </a:r>
            <a:endParaRPr lang="tr-TR" dirty="0"/>
          </a:p>
          <a:p>
            <a:pPr lvl="1"/>
            <a:r>
              <a:rPr lang="en-US" dirty="0"/>
              <a:t>setting the </a:t>
            </a:r>
            <a:r>
              <a:rPr lang="en-US" i="1" dirty="0"/>
              <a:t>channel capacity</a:t>
            </a:r>
            <a:r>
              <a:rPr lang="en-US" dirty="0"/>
              <a:t>.</a:t>
            </a:r>
          </a:p>
          <a:p>
            <a:r>
              <a:rPr lang="en-US" dirty="0"/>
              <a:t>The funding transaction </a:t>
            </a:r>
            <a:endParaRPr lang="tr-TR" dirty="0"/>
          </a:p>
          <a:p>
            <a:pPr lvl="1"/>
            <a:r>
              <a:rPr lang="en-US" dirty="0"/>
              <a:t>consumes one or more inputs from Emma’s wallet, </a:t>
            </a:r>
            <a:endParaRPr lang="tr-TR" dirty="0"/>
          </a:p>
          <a:p>
            <a:pPr lvl="1"/>
            <a:r>
              <a:rPr lang="en-US" dirty="0"/>
              <a:t>sourcing</a:t>
            </a:r>
            <a:r>
              <a:rPr lang="tr-TR" dirty="0"/>
              <a:t> </a:t>
            </a:r>
            <a:r>
              <a:rPr lang="en-US" dirty="0"/>
              <a:t>the funds.</a:t>
            </a:r>
            <a:endParaRPr lang="tr-TR" dirty="0"/>
          </a:p>
          <a:p>
            <a:r>
              <a:rPr lang="en-US" dirty="0"/>
              <a:t>It creates one output </a:t>
            </a:r>
            <a:endParaRPr lang="tr-TR" dirty="0"/>
          </a:p>
          <a:p>
            <a:pPr lvl="1"/>
            <a:r>
              <a:rPr lang="en-US" dirty="0"/>
              <a:t>with a value of 36 </a:t>
            </a:r>
            <a:r>
              <a:rPr lang="en-US" dirty="0" err="1"/>
              <a:t>millibits</a:t>
            </a:r>
            <a:r>
              <a:rPr lang="en-US" dirty="0"/>
              <a:t> paid to the </a:t>
            </a:r>
            <a:r>
              <a:rPr lang="en-US" dirty="0" err="1"/>
              <a:t>multisignature</a:t>
            </a:r>
            <a:r>
              <a:rPr lang="tr-TR" dirty="0"/>
              <a:t> </a:t>
            </a:r>
            <a:r>
              <a:rPr lang="en-US" dirty="0"/>
              <a:t>2-of-2 address</a:t>
            </a:r>
            <a:endParaRPr lang="tr-TR" dirty="0"/>
          </a:p>
          <a:p>
            <a:pPr lvl="1"/>
            <a:r>
              <a:rPr lang="en-US" dirty="0"/>
              <a:t>controlled jointly between Emma and Fabian.</a:t>
            </a:r>
            <a:endParaRPr lang="tr-TR" dirty="0"/>
          </a:p>
          <a:p>
            <a:r>
              <a:rPr lang="en-US" dirty="0"/>
              <a:t>It may have additional</a:t>
            </a:r>
            <a:r>
              <a:rPr lang="tr-TR" dirty="0"/>
              <a:t> </a:t>
            </a:r>
            <a:r>
              <a:rPr lang="en-US" dirty="0"/>
              <a:t>outputs </a:t>
            </a:r>
            <a:endParaRPr lang="tr-TR" dirty="0"/>
          </a:p>
          <a:p>
            <a:pPr lvl="1"/>
            <a:r>
              <a:rPr lang="en-US" dirty="0"/>
              <a:t>for change back to Emma’s wallet.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87549017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5E79DB-B23A-48A0-A289-347A5D4BF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Funding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C40BE3-0C17-47E8-88A6-9159346CE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03585"/>
            <a:ext cx="8770571" cy="4308229"/>
          </a:xfrm>
        </p:spPr>
        <p:txBody>
          <a:bodyPr>
            <a:normAutofit/>
          </a:bodyPr>
          <a:lstStyle/>
          <a:p>
            <a:r>
              <a:rPr lang="en-US" dirty="0"/>
              <a:t>Once the funding transaction is confirmed, </a:t>
            </a:r>
            <a:endParaRPr lang="tr-TR" dirty="0"/>
          </a:p>
          <a:p>
            <a:pPr lvl="1"/>
            <a:r>
              <a:rPr lang="en-US" dirty="0"/>
              <a:t>Emma can start streaming video.</a:t>
            </a:r>
            <a:endParaRPr lang="tr-TR" dirty="0"/>
          </a:p>
          <a:p>
            <a:r>
              <a:rPr lang="en-US" dirty="0"/>
              <a:t>Emma’s</a:t>
            </a:r>
            <a:r>
              <a:rPr lang="tr-TR" dirty="0"/>
              <a:t> </a:t>
            </a:r>
            <a:r>
              <a:rPr lang="en-US" dirty="0"/>
              <a:t>software creates and signs a commitment transaction</a:t>
            </a:r>
            <a:endParaRPr lang="tr-TR" dirty="0"/>
          </a:p>
          <a:p>
            <a:pPr lvl="1"/>
            <a:r>
              <a:rPr lang="en-US" dirty="0"/>
              <a:t>changes the channel balance</a:t>
            </a:r>
            <a:r>
              <a:rPr lang="tr-TR" dirty="0"/>
              <a:t> </a:t>
            </a:r>
            <a:r>
              <a:rPr lang="en-US" dirty="0"/>
              <a:t>to credit 0.01 </a:t>
            </a:r>
            <a:r>
              <a:rPr lang="en-US" dirty="0" err="1"/>
              <a:t>millibit</a:t>
            </a:r>
            <a:r>
              <a:rPr lang="en-US" dirty="0"/>
              <a:t> </a:t>
            </a:r>
            <a:endParaRPr lang="tr-TR" dirty="0"/>
          </a:p>
          <a:p>
            <a:pPr lvl="1"/>
            <a:r>
              <a:rPr lang="en-US" dirty="0"/>
              <a:t>to Fabian’s address </a:t>
            </a:r>
            <a:endParaRPr lang="tr-TR" dirty="0"/>
          </a:p>
          <a:p>
            <a:pPr lvl="1"/>
            <a:r>
              <a:rPr lang="en-US" dirty="0"/>
              <a:t>and refund 35.99 </a:t>
            </a:r>
            <a:r>
              <a:rPr lang="en-US" dirty="0" err="1"/>
              <a:t>millibits</a:t>
            </a:r>
            <a:r>
              <a:rPr lang="en-US" dirty="0"/>
              <a:t> back to</a:t>
            </a:r>
            <a:r>
              <a:rPr lang="tr-TR" dirty="0"/>
              <a:t> Emma.</a:t>
            </a:r>
          </a:p>
          <a:p>
            <a:r>
              <a:rPr lang="en-US" dirty="0"/>
              <a:t>The transaction signed by Emma</a:t>
            </a:r>
            <a:endParaRPr lang="tr-TR" dirty="0"/>
          </a:p>
          <a:p>
            <a:pPr lvl="1"/>
            <a:r>
              <a:rPr lang="en-US" dirty="0"/>
              <a:t>consumes the 36 </a:t>
            </a:r>
            <a:r>
              <a:rPr lang="en-US" dirty="0" err="1"/>
              <a:t>millibits</a:t>
            </a:r>
            <a:r>
              <a:rPr lang="en-US" dirty="0"/>
              <a:t> output created by</a:t>
            </a:r>
            <a:r>
              <a:rPr lang="tr-TR" dirty="0"/>
              <a:t> </a:t>
            </a:r>
            <a:r>
              <a:rPr lang="en-US" dirty="0"/>
              <a:t>the funding transaction</a:t>
            </a:r>
            <a:endParaRPr lang="tr-TR" dirty="0"/>
          </a:p>
          <a:p>
            <a:r>
              <a:rPr lang="en-US" dirty="0"/>
              <a:t>creates two outputs: </a:t>
            </a:r>
            <a:endParaRPr lang="tr-TR" dirty="0"/>
          </a:p>
          <a:p>
            <a:pPr lvl="1"/>
            <a:r>
              <a:rPr lang="en-US" dirty="0"/>
              <a:t>one for her refund, the other for</a:t>
            </a:r>
            <a:r>
              <a:rPr lang="tr-TR" dirty="0"/>
              <a:t> </a:t>
            </a:r>
            <a:r>
              <a:rPr lang="en-US" dirty="0"/>
              <a:t>Fabian’s payment.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83391871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5E79DB-B23A-48A0-A289-347A5D4BF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Funding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C40BE3-0C17-47E8-88A6-9159346CE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03586"/>
            <a:ext cx="8770571" cy="4290646"/>
          </a:xfrm>
        </p:spPr>
        <p:txBody>
          <a:bodyPr>
            <a:normAutofit/>
          </a:bodyPr>
          <a:lstStyle/>
          <a:p>
            <a:r>
              <a:rPr lang="en-US" dirty="0"/>
              <a:t>The transaction is only partially signed</a:t>
            </a:r>
            <a:endParaRPr lang="tr-TR" dirty="0"/>
          </a:p>
          <a:p>
            <a:pPr lvl="1"/>
            <a:r>
              <a:rPr lang="en-US" dirty="0"/>
              <a:t>it requires two signatures</a:t>
            </a:r>
            <a:r>
              <a:rPr lang="tr-TR" dirty="0"/>
              <a:t> </a:t>
            </a:r>
            <a:r>
              <a:rPr lang="en-US" dirty="0"/>
              <a:t>(2-of-2), </a:t>
            </a:r>
            <a:endParaRPr lang="tr-TR" dirty="0"/>
          </a:p>
          <a:p>
            <a:pPr lvl="1"/>
            <a:r>
              <a:rPr lang="en-US" dirty="0"/>
              <a:t>but only has Emma’s signature. </a:t>
            </a:r>
            <a:endParaRPr lang="tr-TR" dirty="0"/>
          </a:p>
          <a:p>
            <a:r>
              <a:rPr lang="en-US" dirty="0"/>
              <a:t>When Fabian’s server receives this transaction,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it adds the second signature (for the 2-of-2 input) </a:t>
            </a:r>
            <a:endParaRPr lang="tr-TR" dirty="0"/>
          </a:p>
          <a:p>
            <a:pPr lvl="1"/>
            <a:r>
              <a:rPr lang="en-US" dirty="0"/>
              <a:t>and returns it to Emma</a:t>
            </a:r>
            <a:r>
              <a:rPr lang="tr-TR" dirty="0"/>
              <a:t> </a:t>
            </a:r>
            <a:r>
              <a:rPr lang="en-US" dirty="0"/>
              <a:t>together with 1 second worth of video. </a:t>
            </a:r>
            <a:endParaRPr lang="tr-TR" dirty="0"/>
          </a:p>
          <a:p>
            <a:r>
              <a:rPr lang="en-US" dirty="0"/>
              <a:t>Now both parties have a fully signed commitment</a:t>
            </a:r>
            <a:r>
              <a:rPr lang="tr-TR" dirty="0"/>
              <a:t> </a:t>
            </a:r>
            <a:r>
              <a:rPr lang="en-US" dirty="0"/>
              <a:t>transaction</a:t>
            </a:r>
            <a:endParaRPr lang="tr-TR" dirty="0"/>
          </a:p>
          <a:p>
            <a:pPr lvl="1"/>
            <a:r>
              <a:rPr lang="en-US" dirty="0"/>
              <a:t>either can redeem, representing the correct up-to-date balance</a:t>
            </a:r>
            <a:r>
              <a:rPr lang="tr-TR" dirty="0"/>
              <a:t> </a:t>
            </a:r>
            <a:r>
              <a:rPr lang="en-US" dirty="0"/>
              <a:t>of the channel. </a:t>
            </a:r>
            <a:endParaRPr lang="tr-TR" dirty="0"/>
          </a:p>
          <a:p>
            <a:pPr lvl="1"/>
            <a:r>
              <a:rPr lang="en-US" dirty="0"/>
              <a:t>Neither party broadcasts this transaction to the network.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77771303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5E79DB-B23A-48A0-A289-347A5D4BF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Funding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C40BE3-0C17-47E8-88A6-9159346CE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03586"/>
            <a:ext cx="8770571" cy="4290646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In the next round, </a:t>
            </a:r>
            <a:endParaRPr lang="tr-TR" dirty="0"/>
          </a:p>
          <a:p>
            <a:pPr lvl="1"/>
            <a:r>
              <a:rPr lang="en-US" dirty="0"/>
              <a:t>Emma’s software creates and signs another commitment transaction</a:t>
            </a:r>
            <a:r>
              <a:rPr lang="tr-TR" dirty="0"/>
              <a:t> </a:t>
            </a:r>
            <a:r>
              <a:rPr lang="en-US" dirty="0"/>
              <a:t>(commitment #2) </a:t>
            </a:r>
            <a:endParaRPr lang="tr-TR" dirty="0"/>
          </a:p>
          <a:p>
            <a:pPr lvl="1"/>
            <a:r>
              <a:rPr lang="en-US" dirty="0"/>
              <a:t>that consumes the </a:t>
            </a:r>
            <a:r>
              <a:rPr lang="en-US" i="1" dirty="0"/>
              <a:t>same </a:t>
            </a:r>
            <a:r>
              <a:rPr lang="en-US" dirty="0"/>
              <a:t>2-of-2 output from the funding transaction.</a:t>
            </a:r>
          </a:p>
          <a:p>
            <a:r>
              <a:rPr lang="en-US" dirty="0"/>
              <a:t>The second commitment transaction </a:t>
            </a:r>
            <a:endParaRPr lang="tr-TR" dirty="0"/>
          </a:p>
          <a:p>
            <a:pPr lvl="1"/>
            <a:r>
              <a:rPr lang="en-US" dirty="0"/>
              <a:t>allocates one output of 0.2 </a:t>
            </a:r>
            <a:r>
              <a:rPr lang="en-US" dirty="0" err="1"/>
              <a:t>millibits</a:t>
            </a:r>
            <a:r>
              <a:rPr lang="en-US" dirty="0"/>
              <a:t> to</a:t>
            </a:r>
            <a:r>
              <a:rPr lang="tr-TR" dirty="0"/>
              <a:t> </a:t>
            </a:r>
            <a:r>
              <a:rPr lang="en-US" dirty="0"/>
              <a:t>Fabian’s address and one output of 35.98 </a:t>
            </a:r>
            <a:r>
              <a:rPr lang="en-US" dirty="0" err="1"/>
              <a:t>millibits</a:t>
            </a:r>
            <a:r>
              <a:rPr lang="en-US" dirty="0"/>
              <a:t> back to Emma’s address. </a:t>
            </a:r>
            <a:endParaRPr lang="tr-TR" dirty="0"/>
          </a:p>
          <a:p>
            <a:r>
              <a:rPr lang="en-US" dirty="0"/>
              <a:t>This new</a:t>
            </a:r>
            <a:r>
              <a:rPr lang="tr-TR" dirty="0"/>
              <a:t> </a:t>
            </a:r>
            <a:r>
              <a:rPr lang="en-US" dirty="0"/>
              <a:t>transaction is </a:t>
            </a:r>
            <a:endParaRPr lang="tr-TR" dirty="0"/>
          </a:p>
          <a:p>
            <a:pPr lvl="1"/>
            <a:r>
              <a:rPr lang="en-US" dirty="0"/>
              <a:t>payment for two cumulative seconds of video. </a:t>
            </a:r>
            <a:endParaRPr lang="tr-TR" dirty="0"/>
          </a:p>
          <a:p>
            <a:r>
              <a:rPr lang="en-US" dirty="0"/>
              <a:t>Fabian’s software </a:t>
            </a:r>
            <a:endParaRPr lang="tr-TR" dirty="0"/>
          </a:p>
          <a:p>
            <a:pPr lvl="1"/>
            <a:r>
              <a:rPr lang="en-US" dirty="0"/>
              <a:t>signs</a:t>
            </a:r>
            <a:r>
              <a:rPr lang="tr-TR" dirty="0"/>
              <a:t> </a:t>
            </a:r>
            <a:r>
              <a:rPr lang="en-US" dirty="0"/>
              <a:t>and returns the second commitment transaction, </a:t>
            </a:r>
            <a:endParaRPr lang="tr-TR" dirty="0"/>
          </a:p>
          <a:p>
            <a:pPr lvl="1"/>
            <a:r>
              <a:rPr lang="en-US" dirty="0"/>
              <a:t>together with the another second of</a:t>
            </a:r>
            <a:r>
              <a:rPr lang="tr-TR" dirty="0"/>
              <a:t> video.</a:t>
            </a:r>
          </a:p>
        </p:txBody>
      </p:sp>
    </p:spTree>
    <p:extLst>
      <p:ext uri="{BB962C8B-B14F-4D97-AF65-F5344CB8AC3E}">
        <p14:creationId xmlns:p14="http://schemas.microsoft.com/office/powerpoint/2010/main" val="151831617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5E79DB-B23A-48A0-A289-347A5D4BF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Funding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C40BE3-0C17-47E8-88A6-9159346CE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03586"/>
            <a:ext cx="8770571" cy="4290646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In this way, Emma’s software </a:t>
            </a:r>
            <a:endParaRPr lang="tr-TR" dirty="0"/>
          </a:p>
          <a:p>
            <a:pPr lvl="1"/>
            <a:r>
              <a:rPr lang="en-US" dirty="0"/>
              <a:t>continues to send commitment transactions </a:t>
            </a:r>
            <a:endParaRPr lang="tr-TR" dirty="0"/>
          </a:p>
          <a:p>
            <a:pPr lvl="1"/>
            <a:r>
              <a:rPr lang="en-US" dirty="0"/>
              <a:t>to Fabian’s</a:t>
            </a:r>
            <a:r>
              <a:rPr lang="tr-TR" dirty="0"/>
              <a:t> </a:t>
            </a:r>
            <a:r>
              <a:rPr lang="en-US" dirty="0"/>
              <a:t>server in exchange for streaming video. </a:t>
            </a:r>
            <a:endParaRPr lang="tr-TR" dirty="0"/>
          </a:p>
          <a:p>
            <a:r>
              <a:rPr lang="en-US" dirty="0"/>
              <a:t>The balance of the channel </a:t>
            </a:r>
            <a:endParaRPr lang="tr-TR" dirty="0"/>
          </a:p>
          <a:p>
            <a:pPr lvl="1"/>
            <a:r>
              <a:rPr lang="en-US" dirty="0"/>
              <a:t>gradually accumulates</a:t>
            </a:r>
            <a:r>
              <a:rPr lang="tr-TR" dirty="0"/>
              <a:t> </a:t>
            </a:r>
            <a:r>
              <a:rPr lang="en-US" dirty="0"/>
              <a:t>in favor of Fabian, </a:t>
            </a:r>
            <a:endParaRPr lang="tr-TR" dirty="0"/>
          </a:p>
          <a:p>
            <a:pPr lvl="1"/>
            <a:r>
              <a:rPr lang="en-US" dirty="0"/>
              <a:t>as Emma consumes more seconds of video. </a:t>
            </a:r>
            <a:endParaRPr lang="tr-TR" dirty="0"/>
          </a:p>
          <a:p>
            <a:r>
              <a:rPr lang="en-US" dirty="0"/>
              <a:t>Let’s say</a:t>
            </a:r>
            <a:r>
              <a:rPr lang="tr-TR" dirty="0"/>
              <a:t> </a:t>
            </a:r>
            <a:r>
              <a:rPr lang="en-US" dirty="0"/>
              <a:t>Emma watches 600 seconds (10 minutes) of video, </a:t>
            </a:r>
            <a:endParaRPr lang="tr-TR" dirty="0"/>
          </a:p>
          <a:p>
            <a:pPr lvl="1"/>
            <a:r>
              <a:rPr lang="en-US" dirty="0"/>
              <a:t>creating and signing 600 commitment</a:t>
            </a:r>
            <a:r>
              <a:rPr lang="tr-TR" dirty="0"/>
              <a:t> </a:t>
            </a:r>
            <a:r>
              <a:rPr lang="en-US" dirty="0"/>
              <a:t>transactions. </a:t>
            </a:r>
            <a:endParaRPr lang="tr-TR" dirty="0"/>
          </a:p>
          <a:p>
            <a:r>
              <a:rPr lang="en-US" dirty="0"/>
              <a:t>The last commitment transaction (#600) will have two outputs,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splitting the balance of the channel,</a:t>
            </a:r>
            <a:endParaRPr lang="tr-TR" dirty="0"/>
          </a:p>
          <a:p>
            <a:pPr lvl="1"/>
            <a:r>
              <a:rPr lang="en-US" dirty="0"/>
              <a:t> 6 </a:t>
            </a:r>
            <a:r>
              <a:rPr lang="en-US" dirty="0" err="1"/>
              <a:t>millibits</a:t>
            </a:r>
            <a:r>
              <a:rPr lang="en-US" dirty="0"/>
              <a:t> to Fabian and 30 </a:t>
            </a:r>
            <a:r>
              <a:rPr lang="en-US" dirty="0" err="1"/>
              <a:t>millibits</a:t>
            </a:r>
            <a:r>
              <a:rPr lang="en-US" dirty="0"/>
              <a:t> to Emma.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11643935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5E79DB-B23A-48A0-A289-347A5D4BF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Funding Transaction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C40BE3-0C17-47E8-88A6-9159346CE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303586"/>
            <a:ext cx="8770571" cy="4290646"/>
          </a:xfrm>
        </p:spPr>
        <p:txBody>
          <a:bodyPr>
            <a:normAutofit/>
          </a:bodyPr>
          <a:lstStyle/>
          <a:p>
            <a:r>
              <a:rPr lang="en-US" dirty="0"/>
              <a:t>Finally, Emma clicks “Stop” </a:t>
            </a:r>
            <a:endParaRPr lang="tr-TR" dirty="0"/>
          </a:p>
          <a:p>
            <a:pPr lvl="1"/>
            <a:r>
              <a:rPr lang="en-US" dirty="0"/>
              <a:t>to stop streaming video. </a:t>
            </a:r>
            <a:endParaRPr lang="tr-TR" dirty="0"/>
          </a:p>
          <a:p>
            <a:r>
              <a:rPr lang="en-US" dirty="0"/>
              <a:t>Either Fabian or Emma can now</a:t>
            </a:r>
            <a:r>
              <a:rPr lang="tr-TR" dirty="0"/>
              <a:t> </a:t>
            </a:r>
            <a:r>
              <a:rPr lang="en-US" dirty="0"/>
              <a:t>transmit </a:t>
            </a:r>
            <a:endParaRPr lang="tr-TR" dirty="0"/>
          </a:p>
          <a:p>
            <a:pPr lvl="1"/>
            <a:r>
              <a:rPr lang="en-US" dirty="0"/>
              <a:t>the final state transaction for settlement. </a:t>
            </a:r>
            <a:endParaRPr lang="tr-TR" dirty="0"/>
          </a:p>
          <a:p>
            <a:r>
              <a:rPr lang="en-US" dirty="0"/>
              <a:t>This last transaction is the </a:t>
            </a:r>
            <a:r>
              <a:rPr lang="en-US" i="1" dirty="0"/>
              <a:t>settlement</a:t>
            </a:r>
            <a:r>
              <a:rPr lang="tr-TR" i="1" dirty="0"/>
              <a:t> </a:t>
            </a:r>
            <a:r>
              <a:rPr lang="en-US" i="1" dirty="0"/>
              <a:t>transaction </a:t>
            </a:r>
            <a:endParaRPr lang="tr-TR" i="1" dirty="0"/>
          </a:p>
          <a:p>
            <a:pPr lvl="1"/>
            <a:r>
              <a:rPr lang="en-US" dirty="0"/>
              <a:t>and pays Fabian for all the video Emma consumed, </a:t>
            </a:r>
            <a:endParaRPr lang="tr-TR" dirty="0"/>
          </a:p>
          <a:p>
            <a:pPr lvl="1"/>
            <a:r>
              <a:rPr lang="en-US" dirty="0"/>
              <a:t>refunding the</a:t>
            </a:r>
            <a:r>
              <a:rPr lang="tr-TR" dirty="0"/>
              <a:t> </a:t>
            </a:r>
            <a:r>
              <a:rPr lang="en-US" dirty="0"/>
              <a:t>remainder of the funding transaction to Emma.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416417613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06AC64-F973-4501-B336-C69A0DD27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Transactions Recorded on Blockchain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5546F6-1486-4B4A-A0DC-E069B5CE1F6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In the end, </a:t>
            </a:r>
            <a:endParaRPr lang="tr-TR" dirty="0"/>
          </a:p>
          <a:p>
            <a:pPr lvl="1"/>
            <a:r>
              <a:rPr lang="en-US" dirty="0"/>
              <a:t>only two transactions are recorded on the blockchain: </a:t>
            </a:r>
            <a:endParaRPr lang="tr-TR" dirty="0"/>
          </a:p>
          <a:p>
            <a:r>
              <a:rPr lang="en-US" dirty="0"/>
              <a:t>the funding transaction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that established </a:t>
            </a:r>
            <a:r>
              <a:rPr lang="tr-TR" dirty="0"/>
              <a:t> </a:t>
            </a:r>
            <a:r>
              <a:rPr lang="en-US" dirty="0"/>
              <a:t>the channel </a:t>
            </a:r>
            <a:endParaRPr lang="tr-TR" dirty="0"/>
          </a:p>
          <a:p>
            <a:r>
              <a:rPr lang="en-US" dirty="0"/>
              <a:t>a settlement transaction</a:t>
            </a:r>
            <a:endParaRPr lang="tr-TR" dirty="0"/>
          </a:p>
          <a:p>
            <a:pPr lvl="1"/>
            <a:r>
              <a:rPr lang="en-US" dirty="0"/>
              <a:t> that allocated the</a:t>
            </a:r>
            <a:r>
              <a:rPr lang="tr-TR" dirty="0"/>
              <a:t> </a:t>
            </a:r>
            <a:r>
              <a:rPr lang="en-US" dirty="0"/>
              <a:t>final balance correctly between the two participants.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97962189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87831D2-4FFF-4FA7-AFC6-2DE42CB6C0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79519" y="0"/>
            <a:ext cx="2979702" cy="6858000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5F02089D-9219-4E52-959A-272D7AC9FD1D}"/>
              </a:ext>
            </a:extLst>
          </p:cNvPr>
          <p:cNvSpPr/>
          <p:nvPr/>
        </p:nvSpPr>
        <p:spPr>
          <a:xfrm>
            <a:off x="727851" y="3049396"/>
            <a:ext cx="4208585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i="1" dirty="0">
                <a:latin typeface="MinionPro-It"/>
              </a:rPr>
              <a:t>Figure 12-6. Emma’s payment channel with Fabian, showing the commitment transactions</a:t>
            </a:r>
            <a:r>
              <a:rPr lang="tr-TR" sz="2400" i="1" dirty="0">
                <a:latin typeface="MinionPro-It"/>
              </a:rPr>
              <a:t> </a:t>
            </a:r>
            <a:r>
              <a:rPr lang="en-US" sz="2400" i="1" dirty="0">
                <a:latin typeface="MinionPro-It"/>
              </a:rPr>
              <a:t>that update the balance of the channel</a:t>
            </a:r>
            <a:endParaRPr lang="tr-TR" sz="2400" dirty="0"/>
          </a:p>
        </p:txBody>
      </p:sp>
    </p:spTree>
    <p:extLst>
      <p:ext uri="{BB962C8B-B14F-4D97-AF65-F5344CB8AC3E}">
        <p14:creationId xmlns:p14="http://schemas.microsoft.com/office/powerpoint/2010/main" val="109863396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A8E5C11-99BA-4098-A8C2-3D1A304181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6468" y="1460203"/>
            <a:ext cx="10879064" cy="3937594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7A5DEB1-6147-44C4-A831-437034328AF3}"/>
              </a:ext>
            </a:extLst>
          </p:cNvPr>
          <p:cNvSpPr/>
          <p:nvPr/>
        </p:nvSpPr>
        <p:spPr>
          <a:xfrm>
            <a:off x="281354" y="5919391"/>
            <a:ext cx="11430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 dirty="0">
                <a:latin typeface="MinionPro-It"/>
              </a:rPr>
              <a:t>Figure 12-7. Each commitment sets a shorter </a:t>
            </a:r>
            <a:r>
              <a:rPr lang="en-US" sz="2000" i="1" dirty="0" err="1">
                <a:latin typeface="MinionPro-It"/>
              </a:rPr>
              <a:t>timelock</a:t>
            </a:r>
            <a:r>
              <a:rPr lang="en-US" sz="2000" i="1" dirty="0">
                <a:latin typeface="MinionPro-It"/>
              </a:rPr>
              <a:t>, allowing it to be spent before the</a:t>
            </a:r>
            <a:r>
              <a:rPr lang="tr-TR" sz="2000" i="1" dirty="0">
                <a:latin typeface="MinionPro-It"/>
              </a:rPr>
              <a:t> previous commitments become valid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22382310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2BF0B9C-0A0B-492D-AC04-706F85641C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2506" y="200718"/>
            <a:ext cx="7363909" cy="5485821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8C1208E8-D968-4276-94D9-A9E14F398791}"/>
              </a:ext>
            </a:extLst>
          </p:cNvPr>
          <p:cNvSpPr/>
          <p:nvPr/>
        </p:nvSpPr>
        <p:spPr>
          <a:xfrm>
            <a:off x="266700" y="5938520"/>
            <a:ext cx="116586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 dirty="0">
                <a:latin typeface="MinionPro-It"/>
              </a:rPr>
              <a:t>Figure 12-8. Two asymmetric commitment transactions with delayed payment for the</a:t>
            </a:r>
            <a:r>
              <a:rPr lang="tr-TR" sz="2000" i="1" dirty="0">
                <a:latin typeface="MinionPro-It"/>
              </a:rPr>
              <a:t> party holding the transaction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367788590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en-US" sz="5400" dirty="0"/>
              <a:t>Routed Payment Channels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Lightning Network</a:t>
            </a:r>
            <a:endParaRPr lang="tr-TR" sz="2400" dirty="0"/>
          </a:p>
          <a:p>
            <a:pPr algn="l">
              <a:spcBef>
                <a:spcPts val="930"/>
              </a:spcBef>
            </a:pPr>
            <a:r>
              <a:rPr lang="tr-TR" sz="2400" dirty="0"/>
              <a:t>Other Implementations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88149946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7D19FA-3211-453D-B827-9861F1C937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Routed Payment Channels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C95E85-DDB6-49F9-9743-8235824ECF4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120662"/>
          </a:xfrm>
        </p:spPr>
        <p:txBody>
          <a:bodyPr>
            <a:normAutofit lnSpcReduction="10000"/>
          </a:bodyPr>
          <a:lstStyle/>
          <a:p>
            <a:r>
              <a:rPr lang="en-US" dirty="0"/>
              <a:t>Joseph Poon and </a:t>
            </a:r>
            <a:r>
              <a:rPr lang="en-US" dirty="0" err="1"/>
              <a:t>Thadeus</a:t>
            </a:r>
            <a:r>
              <a:rPr lang="en-US" dirty="0"/>
              <a:t> </a:t>
            </a:r>
            <a:r>
              <a:rPr lang="en-US" dirty="0" err="1"/>
              <a:t>Dryja</a:t>
            </a:r>
            <a:endParaRPr lang="tr-TR" dirty="0"/>
          </a:p>
          <a:p>
            <a:pPr lvl="1"/>
            <a:r>
              <a:rPr lang="en-US" dirty="0"/>
              <a:t>was first described in February</a:t>
            </a:r>
            <a:r>
              <a:rPr lang="tr-TR" dirty="0"/>
              <a:t> </a:t>
            </a:r>
            <a:r>
              <a:rPr lang="en-US" dirty="0"/>
              <a:t>2015, </a:t>
            </a:r>
            <a:endParaRPr lang="tr-TR" dirty="0"/>
          </a:p>
          <a:p>
            <a:pPr lvl="1"/>
            <a:r>
              <a:rPr lang="en-US" dirty="0"/>
              <a:t>building on the concept of payment channels </a:t>
            </a:r>
            <a:endParaRPr lang="tr-TR" dirty="0"/>
          </a:p>
          <a:p>
            <a:r>
              <a:rPr lang="en-US" dirty="0"/>
              <a:t>is a proposed routed network </a:t>
            </a:r>
            <a:endParaRPr lang="tr-TR" dirty="0"/>
          </a:p>
          <a:p>
            <a:pPr lvl="1"/>
            <a:r>
              <a:rPr lang="en-US" dirty="0"/>
              <a:t>of bidirectional payment channels</a:t>
            </a:r>
          </a:p>
          <a:p>
            <a:pPr lvl="1"/>
            <a:r>
              <a:rPr lang="en-US" dirty="0"/>
              <a:t>connected end-to-end. </a:t>
            </a:r>
            <a:endParaRPr lang="tr-TR" dirty="0"/>
          </a:p>
          <a:p>
            <a:r>
              <a:rPr lang="en-US" dirty="0"/>
              <a:t>A network like this can allow </a:t>
            </a:r>
            <a:endParaRPr lang="tr-TR" dirty="0"/>
          </a:p>
          <a:p>
            <a:pPr lvl="1"/>
            <a:r>
              <a:rPr lang="en-US" dirty="0"/>
              <a:t>any participant to route a</a:t>
            </a:r>
            <a:r>
              <a:rPr lang="tr-TR" dirty="0"/>
              <a:t> </a:t>
            </a:r>
            <a:r>
              <a:rPr lang="en-US" dirty="0"/>
              <a:t>payment </a:t>
            </a:r>
            <a:endParaRPr lang="tr-TR" dirty="0"/>
          </a:p>
          <a:p>
            <a:pPr lvl="1"/>
            <a:r>
              <a:rPr lang="en-US" dirty="0"/>
              <a:t>from channel to channel</a:t>
            </a:r>
            <a:endParaRPr lang="tr-TR" dirty="0"/>
          </a:p>
          <a:p>
            <a:pPr lvl="1"/>
            <a:r>
              <a:rPr lang="en-US" dirty="0"/>
              <a:t> without trusting any of the intermediaries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05461742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38A5B1-4FD1-4419-8C58-1419400AA2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Implementations of Routed Payment Channels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B216FF-DD65-421E-ACCF-38F56A51EE5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Lightning Network </a:t>
            </a:r>
            <a:endParaRPr lang="tr-TR" dirty="0"/>
          </a:p>
          <a:p>
            <a:pPr lvl="1"/>
            <a:r>
              <a:rPr lang="en-US" dirty="0"/>
              <a:t>is one possible way of implementing routed payment channels.</a:t>
            </a:r>
            <a:endParaRPr lang="tr-TR" dirty="0"/>
          </a:p>
          <a:p>
            <a:r>
              <a:rPr lang="en-US" dirty="0"/>
              <a:t>There are several other designs </a:t>
            </a:r>
            <a:endParaRPr lang="tr-TR" dirty="0"/>
          </a:p>
          <a:p>
            <a:pPr lvl="1"/>
            <a:r>
              <a:rPr lang="en-US" dirty="0"/>
              <a:t>to achieve similar goals, </a:t>
            </a:r>
            <a:endParaRPr lang="tr-TR" dirty="0"/>
          </a:p>
          <a:p>
            <a:r>
              <a:rPr lang="en-US" dirty="0"/>
              <a:t>such as </a:t>
            </a:r>
            <a:endParaRPr lang="tr-TR" dirty="0"/>
          </a:p>
          <a:p>
            <a:pPr lvl="1"/>
            <a:r>
              <a:rPr lang="en-US" dirty="0" err="1"/>
              <a:t>Teechan</a:t>
            </a:r>
            <a:r>
              <a:rPr lang="tr-TR" dirty="0"/>
              <a:t> and Tumblebit.</a:t>
            </a:r>
          </a:p>
        </p:txBody>
      </p:sp>
    </p:spTree>
    <p:extLst>
      <p:ext uri="{BB962C8B-B14F-4D97-AF65-F5344CB8AC3E}">
        <p14:creationId xmlns:p14="http://schemas.microsoft.com/office/powerpoint/2010/main" val="119640319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D25C8F-2C42-482B-B168-E977D2798A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“Lightning Network”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2AD19D-D416-44DF-BCA3-4AAB818EF13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268415"/>
            <a:ext cx="8770571" cy="4360985"/>
          </a:xfrm>
        </p:spPr>
        <p:txBody>
          <a:bodyPr>
            <a:normAutofit/>
          </a:bodyPr>
          <a:lstStyle/>
          <a:p>
            <a:r>
              <a:rPr lang="en-US" dirty="0"/>
              <a:t>“Lightning Network” </a:t>
            </a:r>
            <a:endParaRPr lang="tr-TR" dirty="0"/>
          </a:p>
          <a:p>
            <a:pPr lvl="1"/>
            <a:r>
              <a:rPr lang="en-US" dirty="0"/>
              <a:t>refers to a specific design </a:t>
            </a:r>
            <a:endParaRPr lang="tr-TR" dirty="0"/>
          </a:p>
          <a:p>
            <a:pPr lvl="1"/>
            <a:r>
              <a:rPr lang="en-US" dirty="0"/>
              <a:t>for a routed payment channel network</a:t>
            </a:r>
          </a:p>
          <a:p>
            <a:r>
              <a:rPr lang="en-US" dirty="0"/>
              <a:t>has now been implemented </a:t>
            </a:r>
            <a:endParaRPr lang="tr-TR" dirty="0"/>
          </a:p>
          <a:p>
            <a:pPr lvl="1"/>
            <a:r>
              <a:rPr lang="en-US" dirty="0"/>
              <a:t>by at least five different open-source teams.</a:t>
            </a:r>
            <a:endParaRPr lang="tr-TR" dirty="0"/>
          </a:p>
          <a:p>
            <a:r>
              <a:rPr lang="en-US" dirty="0"/>
              <a:t>For now,</a:t>
            </a:r>
            <a:endParaRPr lang="tr-TR" dirty="0"/>
          </a:p>
          <a:p>
            <a:pPr lvl="1"/>
            <a:r>
              <a:rPr lang="en-US" dirty="0"/>
              <a:t>these implementations can only be run on </a:t>
            </a:r>
            <a:r>
              <a:rPr lang="en-US" dirty="0" err="1"/>
              <a:t>testnet</a:t>
            </a:r>
            <a:r>
              <a:rPr lang="en-US" dirty="0"/>
              <a:t> </a:t>
            </a:r>
            <a:endParaRPr lang="tr-TR" dirty="0"/>
          </a:p>
          <a:p>
            <a:pPr lvl="1"/>
            <a:r>
              <a:rPr lang="en-US" dirty="0"/>
              <a:t>because they use</a:t>
            </a:r>
            <a:r>
              <a:rPr lang="tr-TR" dirty="0"/>
              <a:t> </a:t>
            </a:r>
            <a:r>
              <a:rPr lang="en-US" dirty="0" err="1"/>
              <a:t>segwit</a:t>
            </a:r>
            <a:r>
              <a:rPr lang="en-US" dirty="0"/>
              <a:t>, </a:t>
            </a:r>
            <a:endParaRPr lang="tr-TR" dirty="0"/>
          </a:p>
          <a:p>
            <a:r>
              <a:rPr lang="tr-TR" dirty="0"/>
              <a:t>Since segwit</a:t>
            </a:r>
            <a:r>
              <a:rPr lang="en-US" dirty="0"/>
              <a:t> is not activated </a:t>
            </a:r>
            <a:endParaRPr lang="tr-TR" dirty="0"/>
          </a:p>
          <a:p>
            <a:pPr lvl="1"/>
            <a:r>
              <a:rPr lang="en-US" dirty="0"/>
              <a:t>on the main bitcoin blockchain (</a:t>
            </a:r>
            <a:r>
              <a:rPr lang="en-US" dirty="0" err="1"/>
              <a:t>mainnet</a:t>
            </a:r>
            <a:r>
              <a:rPr lang="en-US" dirty="0"/>
              <a:t>).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51842673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0919A2CF-11EF-4CCC-B6D1-D829E762C9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6326" y="168372"/>
            <a:ext cx="6019347" cy="5731238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FE7379F8-108C-4456-9BB6-8B0446AA5AE9}"/>
              </a:ext>
            </a:extLst>
          </p:cNvPr>
          <p:cNvSpPr/>
          <p:nvPr/>
        </p:nvSpPr>
        <p:spPr>
          <a:xfrm>
            <a:off x="389791" y="6211669"/>
            <a:ext cx="114124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i="1" dirty="0">
                <a:latin typeface="MinionPro-It"/>
              </a:rPr>
              <a:t>Figure 12-9. A series of bidirectional payment channels linked to form a Lightning Network</a:t>
            </a:r>
            <a:r>
              <a:rPr lang="tr-TR" i="1" dirty="0">
                <a:latin typeface="MinionPro-It"/>
              </a:rPr>
              <a:t> </a:t>
            </a:r>
            <a:r>
              <a:rPr lang="en-US" i="1" dirty="0">
                <a:latin typeface="MinionPro-It"/>
              </a:rPr>
              <a:t>that can route a payment from Alice to Eric</a:t>
            </a:r>
            <a:endParaRPr lang="tr-TR" sz="4000" dirty="0"/>
          </a:p>
        </p:txBody>
      </p:sp>
    </p:spTree>
    <p:extLst>
      <p:ext uri="{BB962C8B-B14F-4D97-AF65-F5344CB8AC3E}">
        <p14:creationId xmlns:p14="http://schemas.microsoft.com/office/powerpoint/2010/main" val="203951110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AC7D01-A20A-4EF8-865C-2F3AAC622F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Lightning Network Benefits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471A500-588F-44B3-8E59-769764D50C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173415"/>
          </a:xfrm>
        </p:spPr>
        <p:txBody>
          <a:bodyPr>
            <a:normAutofit/>
          </a:bodyPr>
          <a:lstStyle/>
          <a:p>
            <a:r>
              <a:rPr lang="tr-TR" i="1" dirty="0"/>
              <a:t>Privacy</a:t>
            </a:r>
          </a:p>
          <a:p>
            <a:pPr lvl="1"/>
            <a:r>
              <a:rPr lang="en-US" dirty="0"/>
              <a:t>Lightning Network payments are much more private</a:t>
            </a:r>
            <a:endParaRPr lang="tr-TR" dirty="0"/>
          </a:p>
          <a:p>
            <a:pPr lvl="1"/>
            <a:r>
              <a:rPr lang="en-US" dirty="0"/>
              <a:t>than payments on the bitcoin</a:t>
            </a:r>
            <a:r>
              <a:rPr lang="tr-TR" dirty="0"/>
              <a:t> </a:t>
            </a:r>
            <a:r>
              <a:rPr lang="en-US" dirty="0"/>
              <a:t>blockchain, as they are not public.</a:t>
            </a:r>
            <a:endParaRPr lang="tr-TR" dirty="0"/>
          </a:p>
          <a:p>
            <a:r>
              <a:rPr lang="tr-TR" i="1" dirty="0"/>
              <a:t>Fungibility</a:t>
            </a:r>
          </a:p>
          <a:p>
            <a:pPr lvl="1"/>
            <a:r>
              <a:rPr lang="en-US" dirty="0"/>
              <a:t>makes it much more difficult to apply surveillance and</a:t>
            </a:r>
            <a:r>
              <a:rPr lang="tr-TR" dirty="0"/>
              <a:t> </a:t>
            </a:r>
            <a:r>
              <a:rPr lang="en-US" dirty="0"/>
              <a:t>blacklists on bitcoin, </a:t>
            </a:r>
            <a:endParaRPr lang="tr-TR" dirty="0"/>
          </a:p>
          <a:p>
            <a:pPr lvl="1"/>
            <a:r>
              <a:rPr lang="en-US" dirty="0"/>
              <a:t>increasing the fungibility of the currency</a:t>
            </a:r>
            <a:endParaRPr lang="tr-TR" dirty="0"/>
          </a:p>
          <a:p>
            <a:r>
              <a:rPr lang="tr-TR" i="1" dirty="0"/>
              <a:t>Speed</a:t>
            </a:r>
          </a:p>
          <a:p>
            <a:pPr lvl="1"/>
            <a:r>
              <a:rPr lang="en-US" dirty="0"/>
              <a:t>Bitcoin transactions using Lightning Network </a:t>
            </a:r>
            <a:endParaRPr lang="tr-TR" dirty="0"/>
          </a:p>
          <a:p>
            <a:pPr lvl="1"/>
            <a:r>
              <a:rPr lang="en-US" dirty="0"/>
              <a:t>are settled in milliseconds, rather</a:t>
            </a:r>
            <a:r>
              <a:rPr lang="tr-TR" dirty="0"/>
              <a:t> </a:t>
            </a:r>
            <a:r>
              <a:rPr lang="en-US" dirty="0"/>
              <a:t>than minutes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57630993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AC7D01-A20A-4EF8-865C-2F3AAC622F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Lightning Network Benefits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471A500-588F-44B3-8E59-769764D50C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173415"/>
          </a:xfrm>
        </p:spPr>
        <p:txBody>
          <a:bodyPr>
            <a:normAutofit lnSpcReduction="10000"/>
          </a:bodyPr>
          <a:lstStyle/>
          <a:p>
            <a:r>
              <a:rPr lang="tr-TR" i="1" dirty="0"/>
              <a:t>Granularity</a:t>
            </a:r>
          </a:p>
          <a:p>
            <a:pPr lvl="1"/>
            <a:r>
              <a:rPr lang="en-US" dirty="0"/>
              <a:t>A Lightning Network can enable payments </a:t>
            </a:r>
            <a:endParaRPr lang="tr-TR" dirty="0"/>
          </a:p>
          <a:p>
            <a:pPr lvl="1"/>
            <a:r>
              <a:rPr lang="en-US" dirty="0"/>
              <a:t>at least as small as the bitcoin “dust”</a:t>
            </a:r>
            <a:r>
              <a:rPr lang="tr-TR" dirty="0"/>
              <a:t> </a:t>
            </a:r>
            <a:r>
              <a:rPr lang="en-US" dirty="0"/>
              <a:t>limit, perhaps even smaller. S</a:t>
            </a:r>
            <a:endParaRPr lang="tr-TR" dirty="0"/>
          </a:p>
          <a:p>
            <a:pPr lvl="1"/>
            <a:r>
              <a:rPr lang="en-US" dirty="0" err="1"/>
              <a:t>ome</a:t>
            </a:r>
            <a:r>
              <a:rPr lang="en-US" dirty="0"/>
              <a:t> proposals allow for </a:t>
            </a:r>
            <a:r>
              <a:rPr lang="en-US" dirty="0" err="1"/>
              <a:t>subsatoshi</a:t>
            </a:r>
            <a:r>
              <a:rPr lang="en-US" dirty="0"/>
              <a:t> increments.</a:t>
            </a:r>
            <a:endParaRPr lang="tr-TR" dirty="0"/>
          </a:p>
          <a:p>
            <a:r>
              <a:rPr lang="tr-TR" i="1" dirty="0"/>
              <a:t>Capacity</a:t>
            </a:r>
          </a:p>
          <a:p>
            <a:pPr lvl="1"/>
            <a:r>
              <a:rPr lang="en-US" dirty="0"/>
              <a:t>A Lightning Network increases the capacity of the bitcoin system </a:t>
            </a:r>
            <a:endParaRPr lang="tr-TR" dirty="0"/>
          </a:p>
          <a:p>
            <a:pPr lvl="1"/>
            <a:r>
              <a:rPr lang="en-US" dirty="0"/>
              <a:t>by several</a:t>
            </a:r>
            <a:r>
              <a:rPr lang="tr-TR" dirty="0"/>
              <a:t> </a:t>
            </a:r>
            <a:r>
              <a:rPr lang="en-US" dirty="0"/>
              <a:t>orders of magnitude.</a:t>
            </a:r>
            <a:endParaRPr lang="tr-TR" dirty="0"/>
          </a:p>
          <a:p>
            <a:r>
              <a:rPr lang="tr-TR" i="1" dirty="0"/>
              <a:t>Trustless Operation</a:t>
            </a:r>
          </a:p>
          <a:p>
            <a:pPr lvl="1"/>
            <a:r>
              <a:rPr lang="en-US" dirty="0"/>
              <a:t>A Lightning Network uses bitcoin transactions between nodes </a:t>
            </a:r>
            <a:endParaRPr lang="tr-TR" dirty="0"/>
          </a:p>
          <a:p>
            <a:pPr lvl="1"/>
            <a:r>
              <a:rPr lang="en-US" dirty="0"/>
              <a:t>that operate as</a:t>
            </a:r>
            <a:r>
              <a:rPr lang="tr-TR" dirty="0"/>
              <a:t> </a:t>
            </a:r>
            <a:r>
              <a:rPr lang="en-US" dirty="0"/>
              <a:t>peers without trusting each other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68757273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5400" dirty="0"/>
              <a:t>Conclusion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231730"/>
            <a:ext cx="6244349" cy="2364205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32220810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2F81CF-613C-431C-B2EC-4A58A6688C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Conclusion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B4ED45-C41F-42C4-8A7C-48F421B8FDB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399"/>
            <a:ext cx="8770571" cy="4186989"/>
          </a:xfrm>
        </p:spPr>
        <p:txBody>
          <a:bodyPr>
            <a:normAutofit/>
          </a:bodyPr>
          <a:lstStyle/>
          <a:p>
            <a:r>
              <a:rPr lang="en-US" dirty="0"/>
              <a:t>emerging applications </a:t>
            </a:r>
            <a:endParaRPr lang="tr-TR" dirty="0"/>
          </a:p>
          <a:p>
            <a:pPr lvl="1"/>
            <a:r>
              <a:rPr lang="en-US" dirty="0"/>
              <a:t>can be built using the</a:t>
            </a:r>
            <a:r>
              <a:rPr lang="tr-TR" dirty="0"/>
              <a:t> </a:t>
            </a:r>
            <a:r>
              <a:rPr lang="en-US" dirty="0"/>
              <a:t>bitcoin blockchain as a trust platform.</a:t>
            </a:r>
            <a:endParaRPr lang="tr-TR" dirty="0"/>
          </a:p>
          <a:p>
            <a:r>
              <a:rPr lang="en-US" dirty="0"/>
              <a:t>expand the scope of bitcoin</a:t>
            </a:r>
            <a:r>
              <a:rPr lang="tr-TR" dirty="0"/>
              <a:t> </a:t>
            </a:r>
          </a:p>
          <a:p>
            <a:pPr lvl="1"/>
            <a:r>
              <a:rPr lang="en-US" dirty="0"/>
              <a:t>beyond payments and beyond financial instruments, </a:t>
            </a:r>
            <a:endParaRPr lang="tr-TR" dirty="0"/>
          </a:p>
          <a:p>
            <a:pPr lvl="1"/>
            <a:r>
              <a:rPr lang="en-US" dirty="0"/>
              <a:t>to encompass many other applications</a:t>
            </a:r>
            <a:r>
              <a:rPr lang="tr-TR" dirty="0"/>
              <a:t> </a:t>
            </a:r>
            <a:r>
              <a:rPr lang="en-US" dirty="0"/>
              <a:t>where trust is critical. </a:t>
            </a:r>
            <a:endParaRPr lang="tr-TR" dirty="0"/>
          </a:p>
          <a:p>
            <a:r>
              <a:rPr lang="en-US" dirty="0"/>
              <a:t>By decentralizing the basis of trust,</a:t>
            </a:r>
            <a:endParaRPr lang="tr-TR" dirty="0"/>
          </a:p>
          <a:p>
            <a:pPr lvl="1"/>
            <a:r>
              <a:rPr lang="en-US" dirty="0"/>
              <a:t>the bitcoin blockchain</a:t>
            </a:r>
            <a:r>
              <a:rPr lang="tr-TR" dirty="0"/>
              <a:t> </a:t>
            </a:r>
            <a:r>
              <a:rPr lang="en-US" dirty="0"/>
              <a:t>is a platform </a:t>
            </a:r>
            <a:endParaRPr lang="tr-TR" dirty="0"/>
          </a:p>
          <a:p>
            <a:pPr lvl="1"/>
            <a:r>
              <a:rPr lang="en-US" dirty="0"/>
              <a:t>that will spawn many revolutionary applications </a:t>
            </a:r>
            <a:endParaRPr lang="tr-TR" dirty="0"/>
          </a:p>
          <a:p>
            <a:pPr lvl="1"/>
            <a:r>
              <a:rPr lang="en-US" dirty="0"/>
              <a:t>in a wide variety</a:t>
            </a:r>
            <a:r>
              <a:rPr lang="tr-TR" dirty="0"/>
              <a:t> of industries.</a:t>
            </a:r>
          </a:p>
        </p:txBody>
      </p:sp>
    </p:spTree>
    <p:extLst>
      <p:ext uri="{BB962C8B-B14F-4D97-AF65-F5344CB8AC3E}">
        <p14:creationId xmlns:p14="http://schemas.microsoft.com/office/powerpoint/2010/main" val="50605920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 title="Feathers">
            <a:extLst>
              <a:ext uri="{FF2B5EF4-FFF2-40B4-BE49-F238E27FC236}">
                <a16:creationId xmlns:a16="http://schemas.microsoft.com/office/drawing/2014/main" id="{F7FD9B28-D4CE-4960-9CA8-20C433BC287C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4C755812-A347-4BC6-99B0-4F9005146C8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C01C931E-CA16-482B-862A-5CC7FD0E933B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14" name="Straight Connector 13" title="Rule Line">
            <a:extLst>
              <a:ext uri="{FF2B5EF4-FFF2-40B4-BE49-F238E27FC236}">
                <a16:creationId xmlns:a16="http://schemas.microsoft.com/office/drawing/2014/main" id="{D7B5CF36-88AE-4085-B580-4618B482816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2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" name="Straight Connector 17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2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3192" y="1482156"/>
            <a:ext cx="5455949" cy="357364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2" y="568345"/>
            <a:ext cx="5303471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graphicFrame>
        <p:nvGraphicFramePr>
          <p:cNvPr id="3" name="Diagram 2">
            <a:extLst>
              <a:ext uri="{FF2B5EF4-FFF2-40B4-BE49-F238E27FC236}">
                <a16:creationId xmlns:a16="http://schemas.microsoft.com/office/drawing/2014/main" id="{AA9DBA32-579C-48E3-855A-88F93A03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0573638"/>
              </p:ext>
            </p:extLst>
          </p:nvPr>
        </p:nvGraphicFramePr>
        <p:xfrm>
          <a:off x="6137662" y="2357699"/>
          <a:ext cx="5582653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227447994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Feathered</Template>
  <TotalTime>68416</TotalTime>
  <Words>4024</Words>
  <Application>Microsoft Office PowerPoint</Application>
  <PresentationFormat>Geniş ekran</PresentationFormat>
  <Paragraphs>686</Paragraphs>
  <Slides>87</Slides>
  <Notes>0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87</vt:i4>
      </vt:variant>
    </vt:vector>
  </HeadingPairs>
  <TitlesOfParts>
    <vt:vector size="92" baseType="lpstr">
      <vt:lpstr>Calibri</vt:lpstr>
      <vt:lpstr>Century Schoolbook</vt:lpstr>
      <vt:lpstr>Corbel</vt:lpstr>
      <vt:lpstr>MinionPro-It</vt:lpstr>
      <vt:lpstr>Feathered</vt:lpstr>
      <vt:lpstr>Chapter 12 Blockchain Applications</vt:lpstr>
      <vt:lpstr>Content</vt:lpstr>
      <vt:lpstr>Introduction</vt:lpstr>
      <vt:lpstr>Introduction</vt:lpstr>
      <vt:lpstr>Building Blocks (Primitives)</vt:lpstr>
      <vt:lpstr>Building Blocks</vt:lpstr>
      <vt:lpstr>Building Blocks</vt:lpstr>
      <vt:lpstr>No Double-Spend</vt:lpstr>
      <vt:lpstr>Immutability</vt:lpstr>
      <vt:lpstr>Neutrality</vt:lpstr>
      <vt:lpstr>Secure Timestamping</vt:lpstr>
      <vt:lpstr>Authorization</vt:lpstr>
      <vt:lpstr>Auditability</vt:lpstr>
      <vt:lpstr>Accounting</vt:lpstr>
      <vt:lpstr>Nonexpiration</vt:lpstr>
      <vt:lpstr>Integrity</vt:lpstr>
      <vt:lpstr>Transaction Atomicity</vt:lpstr>
      <vt:lpstr>Discrete (Indivisible) Units of Value</vt:lpstr>
      <vt:lpstr>Quorum of Control</vt:lpstr>
      <vt:lpstr>Timelock/Aging</vt:lpstr>
      <vt:lpstr>Replication</vt:lpstr>
      <vt:lpstr>Forgery Protection</vt:lpstr>
      <vt:lpstr>Consistency</vt:lpstr>
      <vt:lpstr>Recording External State</vt:lpstr>
      <vt:lpstr>Predictable Issuance</vt:lpstr>
      <vt:lpstr>Applications from Building Blocks</vt:lpstr>
      <vt:lpstr>Bitcoin Applications</vt:lpstr>
      <vt:lpstr>Proof-of-Existence (Digital Notary)</vt:lpstr>
      <vt:lpstr>Kickstarter (Lighthouse)</vt:lpstr>
      <vt:lpstr>Payment Channels</vt:lpstr>
      <vt:lpstr>Colored Coins</vt:lpstr>
      <vt:lpstr>Colored Coins</vt:lpstr>
      <vt:lpstr>Colored Coins</vt:lpstr>
      <vt:lpstr>Colored Coins</vt:lpstr>
      <vt:lpstr>Colored Coins</vt:lpstr>
      <vt:lpstr>Source of «Coloring»</vt:lpstr>
      <vt:lpstr>Source of «Coloring»</vt:lpstr>
      <vt:lpstr>Implementation of Colored Coins</vt:lpstr>
      <vt:lpstr>Implementation of Colored Coins</vt:lpstr>
      <vt:lpstr>Implementation of Colored Coins</vt:lpstr>
      <vt:lpstr>Using Colored Coins</vt:lpstr>
      <vt:lpstr>Interpret Colored Coins Transactions</vt:lpstr>
      <vt:lpstr>Issuing Colored Coins</vt:lpstr>
      <vt:lpstr>Properties of Colored Coins</vt:lpstr>
      <vt:lpstr>Colored Coins Transactions</vt:lpstr>
      <vt:lpstr>Colored Coins (Colu)</vt:lpstr>
      <vt:lpstr>Alternatives for Long Data</vt:lpstr>
      <vt:lpstr>Counterparty</vt:lpstr>
      <vt:lpstr>Counterparty</vt:lpstr>
      <vt:lpstr>Counterparty</vt:lpstr>
      <vt:lpstr>Counterparty</vt:lpstr>
      <vt:lpstr>Payment Channels and State Channels</vt:lpstr>
      <vt:lpstr>Payment Channels and State Channels</vt:lpstr>
      <vt:lpstr>Payment Channels and State Channels</vt:lpstr>
      <vt:lpstr>The Term Channel</vt:lpstr>
      <vt:lpstr>Trustless Mechanism</vt:lpstr>
      <vt:lpstr>State Channels</vt:lpstr>
      <vt:lpstr>Commitment Transactions</vt:lpstr>
      <vt:lpstr>Commitment Transactions</vt:lpstr>
      <vt:lpstr>Settlement Transaction</vt:lpstr>
      <vt:lpstr>Mining of Transactions</vt:lpstr>
      <vt:lpstr>PowerPoint Sunusu</vt:lpstr>
      <vt:lpstr>Simple Payment Example</vt:lpstr>
      <vt:lpstr>Example: Selling Video Stream</vt:lpstr>
      <vt:lpstr>PowerPoint Sunusu</vt:lpstr>
      <vt:lpstr>Software in Between</vt:lpstr>
      <vt:lpstr>Set up the Channel</vt:lpstr>
      <vt:lpstr>Funding Transaction</vt:lpstr>
      <vt:lpstr>Funding Transaction</vt:lpstr>
      <vt:lpstr>Funding Transaction</vt:lpstr>
      <vt:lpstr>Funding Transaction</vt:lpstr>
      <vt:lpstr>Funding Transaction</vt:lpstr>
      <vt:lpstr>Funding Transaction</vt:lpstr>
      <vt:lpstr>Transactions Recorded on Blockchain</vt:lpstr>
      <vt:lpstr>PowerPoint Sunusu</vt:lpstr>
      <vt:lpstr>PowerPoint Sunusu</vt:lpstr>
      <vt:lpstr>PowerPoint Sunusu</vt:lpstr>
      <vt:lpstr>Routed Payment Channels</vt:lpstr>
      <vt:lpstr>Routed Payment Channels</vt:lpstr>
      <vt:lpstr>Implementations of Routed Payment Channels</vt:lpstr>
      <vt:lpstr>“Lightning Network” </vt:lpstr>
      <vt:lpstr>PowerPoint Sunusu</vt:lpstr>
      <vt:lpstr>Lightning Network Benefits</vt:lpstr>
      <vt:lpstr>Lightning Network Benefits</vt:lpstr>
      <vt:lpstr>Conclusion</vt:lpstr>
      <vt:lpstr>Conclusion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1: What ıs block chaın</dc:title>
  <dc:creator>YUSUF ALTUNEL</dc:creator>
  <cp:lastModifiedBy>YUSUF ALTUNEL</cp:lastModifiedBy>
  <cp:revision>1675</cp:revision>
  <dcterms:created xsi:type="dcterms:W3CDTF">2018-01-15T16:25:35Z</dcterms:created>
  <dcterms:modified xsi:type="dcterms:W3CDTF">2021-05-26T09:41:46Z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2021-05-26T09:41:45Z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/>
  </property>
  <property fmtid="{D5CDD505-2E9C-101B-9397-08002B2CF9AE}" pid="8" name="MSIP_Label_c66f6488-6f7b-4340-b880-828136ff7811_ContentBits">
    <vt:lpwstr>0</vt:lpwstr>
  </property>
</Properties>
</file>