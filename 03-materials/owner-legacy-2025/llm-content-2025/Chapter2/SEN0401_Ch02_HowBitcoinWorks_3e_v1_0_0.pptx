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34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free under CC BY-SA 4.0. Every computed figure was executed under Python 3.14.4; claims beyond the book are in 03-materials/ch02/rdodi.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How Bitcoin Works and Bitcoin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Buying from an Online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Transaction Inputs and Outputs. The amounts are an illustration; the computation was executed under Python 3.14.4.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Transaction Chains and Making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Coin Selection and Common Transaction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Constructing a Transaction, Getting the Right Inputs, Creating the Outputs, Adding the Transaction to the Blockchain.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Bitcoin Mining.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Nakamoto (2008), section 11, Calculations: for q=0.1 the paper lists P=0.2045873 at z=1 and P=0.0002428 at z=6. The table on this slide was computed under Python 3.14.4.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Spending the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Block Explorer Privacy Warning in section Bitcoin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PROV-O: The PROV Ontology, W3C Recommendation, 30 April 2013. The mapping is a teaching suggestion within the term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nowhere - it is inputs minus outputs; 15; when a miner includes it in a block that full nodes validate; about 0.0002428; an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03-materials/ch02/rdodi/sen0401_ch02_research_v1_0_0.ttl.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Bitcoin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80160" y="1371600"/>
            <a:ext cx="2286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40280" y="1371600"/>
            <a:ext cx="2286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4688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How Bitcoin Works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payment, followed from Alice’s wallet to the blockchain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SEN0401 Special Topics in Software Engineering: Block Chain · Fall 2026 · Yusuf Altunel, PhD · İstanbul Kültür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no trusted third party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can verify every rule with their own 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wallets holding keys, which sign transactions.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Propagated across the network from wallet to wallet and on to miners.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Produce, through competitive computation, the blockchain: the authoritative journal of all transactions.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from an online store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pays Bob’s Store by scanning a QR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10**8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100000000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10**8 // 1000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bitcoin to satoshis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5623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bitcoin divides into 100,000,000 satoshis; a millibitcoin is a thousandth. Within seconds of Alice sending, Bob sees the payment on the register.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Satoshis per bitcoin, and per millibitcoin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 is a ledger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spend, outputs receive, and the difference is the fee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846320" cy="1600200"/>
          </a:xfrm>
          <a:prstGeom prst="roundRect">
            <a:avLst>
              <a:gd name="adj" fmla="val 571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435608"/>
            <a:ext cx="44805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 = [15_000_000]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 = [10_000_000, 4_990_000]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sum(inputs) - sum(outputs)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626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10896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implied fee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5623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minus outputs, in satoshis. Nobody writes the fee down: the miner who includes the transaction collects the difference.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amounts in satoshis — not a real transaction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chains and change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spends earlier outputs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Joe → Alice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783080"/>
            <a:ext cx="457200" cy="0"/>
          </a:xfrm>
          <a:prstGeom prst="line">
            <a:avLst/>
          </a:prstGeom>
          <a:noFill/>
          <a:ln w="31750">
            <a:solidFill>
              <a:srgbClr val="F793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2918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 → Bob’s Store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1783080"/>
            <a:ext cx="457200" cy="0"/>
          </a:xfrm>
          <a:prstGeom prst="line">
            <a:avLst/>
          </a:prstGeom>
          <a:noFill/>
          <a:ln w="31750">
            <a:solidFill>
              <a:srgbClr val="F793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264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 → 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276148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20 - 5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941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56032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84048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change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09067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5 bitcoins with a 20-bitcoin input sends 15 back as change, not counting the fee — usually to a new address, so outsiders cannot tell change from payment.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selection and common forms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choose inputs much as people choose cash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selection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inputs, or one large one? Always using the largest note leaves a pocket of change; wallets aim for a balance.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payment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form: one input, two outputs — the payment and the change.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 spent into one output, like exchanging a pile of coins for a single note.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wallet to network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and propagating a transaction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inputs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finds unspent outputs it controls.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560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outputs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change, and the fee as the difference.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6634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sent to the network.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766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Relayed node to node until miners hold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produce, easy to 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bundled into blocks whose small header takes an enormous amount of computation to form correctly, and little to verify.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miners stay honest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earn only from blocks that follow every consensus rule. Mining also issues new bitcoin on a fixed, diminishing schedule.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Confirmations, quantified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whitepaper’s own procedure, reproduced in 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89888"/>
            <a:ext cx="47548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 p = 0.1, 0.9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lambda z: 1 - sum(math.exp(-z*q/p) * (z*q/p)**k / math.factorial(k) * (1 - (q/p)**(z-k)) for k in range(z+1))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round(P(1), 7)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0.2045873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round(P(6), 7)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0.0002428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57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2834640" cy="223723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succeeds (10% hash power)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0.2045873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0.0509779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0.0131722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0.0002428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0.0000012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table in Nakamoto (2008), section 11, to seven decimals.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six confirmations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on top makes reversal harder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mined on top is one more confirmation. To take back a payment with two confirmations, three blocks would have to be mined.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genesis 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links back to block number 0. By convention, more than six confirmations is considered very hard to change.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it up: block explorers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— and not private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address, transaction, block number or block hash — Blockstream Explorer, Mempool.Space, BlockCypher.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warning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may link your searches to your IP address and browser. Looking up your own transactions can reveal what you own.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2999" y="256032"/>
            <a:ext cx="78193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theme: a chain of spends is provenance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PROV-O fits the transaction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output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6898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08076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holder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 wasDerivedFrom earlier outputs, wasGeneratedBy a transaction, and the transaction wasAssociatedWith the signer — PROV-O’s own terms.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idea: publish a transaction chain as PROV-O RDF and query its history with SPARQL.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before you open the interactive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transaction fee written in a transaction?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5 from a 20 input, what is the change?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transaction join the blockchain?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a 10% attacker to reverse six confirmations?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PROV-O term fits a Bitcoin transaction?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Antonopoulos, A. M., Harding, D. A. (2023). Mastering Bitcoin, 3rd ed., ch. 2. O’Reilly. CC BY-SA 4.0. github.com/bitcoinbook/bitcoinbook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Nakamoto, S. (2008). Bitcoin: A Peer-to-Peer Electronic Cash System, section 11. bitcoin.org/bitcoin.pdf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Core (2026). Releases. bitcoincore.org/en/releases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(2013). PROV-O: The PROV Ontology. W3C Recommendation. w3.org/TR/prov-o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Mastering Bitcoin, 3rd edition, under CC BY-SA 4.0; this deck is shared under the same licence.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Bitcoin 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page, and change the attacker’s hash power in its playground.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9D1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66f6488-6f7b-4340-b880-828136ff7811}" enabled="1" method="Privileged" siteId="{832c1bc9-1e43-4f93-a086-708d36b0c95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1480</Words>
  <Application>Microsoft Office PowerPoint</Application>
  <PresentationFormat>Ekran Gösterisi (16:9)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SEN0401 Chapter 2 - How Bitcoin Works</dc:title>
  <dc:subject>PptxGenJS Presentation</dc:subject>
  <dc:creator>Yusuf Altunel</dc:creator>
  <cp:lastModifiedBy>YUSUF ALTUNEL</cp:lastModifiedBy>
  <cp:revision>3</cp:revision>
  <dcterms:created xsi:type="dcterms:W3CDTF">2026-09-25T00:31:50Z</dcterms:created>
  <dcterms:modified xsi:type="dcterms:W3CDTF">2026-09-25T05:40:49Z</dcterms:modified>
</cp:coreProperties>
</file>