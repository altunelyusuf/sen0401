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3, Bitcoin Core: The Reference Implementation (Antonopoulos and Harding, 2023), free under CC BY-SA 4.0. This deck follows the chapter's own concept taxonomy: 90 concepts in 8 branches, of which 82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Node, Build, Operation, Interface, Data, Ecosystem, Semantics, Computing foundations. Say at the start that the order of the lecture is the order of the taxonomy, so that a student who opens the interactive page afterwards finds the same tree. Concepts are corpus-derived from the 3rd edition's chapter 3 through the Stage 1 research record; the explanations were rewritten for version 1.1.0 from the documents and files listed at the head of this module, each read for this version and each quotation or number re-checked by a claim that the builder executes; the supporting computing terms (bytes, bit shifts, time, randomness, Base64, files, processes, libraries, databases, platforms, protocols, tests, package managers, salts, keyed hashes, forks, output types and programming languages) were added because an audit of the explanations fou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LO-3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competency questions the chapter's ontology was written to answer, so they are a fair statement of what a student should be able to answer at the end. Come back to them in the recap. A student who can answer all of them has the chapter; a student who can answer none of them has memorised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matters because it decides whom a user has to trust. The book explains that Bitcoin was designed so that software running entirely on your own computer can prevent counterfeiting, debasement and several other critical problems, and that the data such a node reports is authoritative not because a powerful entity designated it as such but because the node independently verified it (Antonopoulos and Harding, 2023). Every later chapter of the course examines transactions, blocks and mining, and it does so through the data that a node of this kind provides, so the branch is the practical foundation for everything that follows.
A full node is a choice with costs, and it should not be confused with other roles. It is not a miner, because it does not need to produce blocks; it is not necessarily a wallet, although Bitcoin Core includes one; and it is not the only implementation of the protocol, as the last branches of the chapter show. Running a node also does not remove every kind of trust, because a user still has to trust the software that was downloaded, which is why the ecosystem branch returns to the verification of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rules is only meaningful if everyone checks the same rules. A node that accepted a payment which the others rejected would be living on a different version of the money. For that reason the group does not stop at describing a program; it also describes the documents, the Bitcoin Improvement Proposals, in which the design of each major part of the system is written down, and the mechanism, the soft fork, by which the rules can be tightened while old and new nodes stay on the same chain.
Concepts in this section: Full node, Reference implementation, Bitcoin Improvement Proposal,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for verifying everything is trust. The book states that the Bitcoin system was designed so that software on your own computer can perfectly prevent counterfeiting and debasement, and it describes the data that your own node returns as authoritative because your node independently verified it, whatever any powerful entity may say (Antonopoulos and Harding, 2023). A user who relies on someone else's server to say that a payment has arrived has to trust that server. A user who relies on a full node has only to trust the software and the rules, and the rules are public.
Verifying every rule has a price that the chapter states openly: processing more than 500 GB of data at first and about 400 MB of new transactions a day, in the book's figures for 2023 (Antonopoulos and Harding, 2023). A full node also does not make a user's money safe by itself, because the wallet that holds the keys is a separate function, and it does not make a user a miner. Finally, the word full is not a promise about storage: a pruned node, described in the resource group, still verifies the whole chain but keeps only the most recent blocks.
---
A decentralized network needs participants who agree exactly on what is valid, and agreement is easier when a complete, running program exists that others can compare themselves with. The point is made by the source code itself: the constant that limits the total amount of money is annotated in Bitcoin Core with the remark that its exact value is consensus critical (Bitcoin Core, 2026). If two implementations differed even slightly on a rule of this kind, a block that one accepted could be rejected by the other, which is why the implementation that most nodes run carries so much weight.
Reference does not mean that the code is the specification. The book points out that the whitepaper describes several early parts of the system and that most major parts since 2011 are documented in Bitcoin Improvement Proposals, so the written documents and the code together describe the rules (Antonopoulos and Harding, 2023). It also does not mean that Bitcoin Core is the only implementation: the final section of the chapter lists libraries, toolkits and full-node implementations in many languages, and the book's chapter on the network says that the most common implementation is Bitcoin Core, run by more than 95 per cent of the full nodes, which makes it dominant but not unique (Antonopoulos and Harding, 2023). A learner should treat Bitcoin Core as the most widely used model and not as the only possible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documents make the design of a decentralized system discussable. The process document says that BIPs are intended as the primary mechanisms for proposing new features, for collecting community input on an issue, and for documenting the design decisions that have gone into Bitcoin, and that the author is responsible for building consensus within the community and documenting dissenting opinions (Dashjr, 2016). Because the documents are text files in a versioned repository, their revision history is the historical record of the proposal. Without such a record, a rule would exist only as a line in somebody's code.
A BIP is a recommendation, not a decree. BIP 3 says in so many words that BIPs do not define what Bitcoin is: individual BIPs do not represent community consensus or a general recommendation for implementation, some may never be adopted, and no formal or informal decision body governs Bitcoin development or decides adoption (Murch, 2025). A document with the status Deployed has been implemented and activated; a document that exists in the repository has only been published. When the course cites a BIP, it cites it for the description of a mechanism, and the number is the stable name by which any reader can find the same text.
---
The advantage is that the network can be upgraded without splitting. Because older nodes still accept everything that newer nodes accept, an upgrade does not force every participant to move on the same day. The cost is coordination: the miners who produce the blocks and the nodes that enforce the rules have to agree when the new rule applies. The earlier methods of signalling support in the block version, as BIP 90 recounts, used thresholds of 75 and 95 per cent of the last 1000 blocks (Daftuar, 2016), and they allowed only one change to be rolled out at a time (Wuille et al., 2015).
A soft fork is backward compatible only for nodes that do not need to understand the new rule. Older nodes keep accepting blocks, but they no longer verify the new rule themselves, so a user who wants the full protection has to upgrade. The mechanism of signalling is also not a vote of the users: BIP 9 tallies the blocks that miners produce, and the nodes that enforce the rule decide which chain they will accept. The details of how a rule change is chosen and activated belong to the later chapters on mining and on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meets the term full node soon asks who decides what the node software does. The answer given by the chapter is that nobody owns it in the ordinary sense. The source code is available under an open license, it is developed by an open community of volunteers, and it began as the work of a single person. Knowing this explains why the chapter can invite the reader to download the code, build it and even contribute to it, and why the book can treat the program as a public reference and not as a product.
Concepts in this section: Open-source software, Satoshi Nakamoto.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Openness is what makes it reasonable to trust a program that guards money without trusting its authors. Anyone can read the code, compile it and test it, and the project's own readme asks for exactly that: testing and code review are the bottleneck of development, and because this is a security-critical project, a mistake might cost people lots of money, so changes should be tested by somebody other than the developer who wrote them (Bitcoin Core, 2026). The book also draws a social consequence. Bitcoin is developed by an open community of volunteers, which by 2023 had more than 1,000 contributors, about a dozen developers working on the code almost full time and several dozen more part time, and it adds that anyone can contribute, including the reader (Antonopoulos and Harding, 2023).
Open source does not mean that the code has no defects, or that no one is in charge of releases. The license says plainly that the software is provided as is, and the readme warns that the master branch is not guaranteed to be stable (Open Source Initiative, 2026) (Bitcoin Core, 2026). Openness of the source also does not by itself prove that a downloaded program was built from that source. For that reason the ecosystem branch of this chapter explains how a release is checked by its checksums and signatures and why some builds are made reproducible.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the starting point of the technology. Its abstract proposes a solution to the double-spending problem using a peer-to-peer network, in which the network timestamps transactions by hashing them into an ongoing chain of hash-based proof of work, forming a record that cannot be changed without redoing the proof of work (Nakamoto, 2008). The chapter adds a fact about the order of events: the software was mostly completed before the whitepaper was published, because Nakamoto wanted to make sure that the implementation worked before publishing a paper about it (Antonopoulos and Harding, 2023).
Two points should not be overstated. The first is authority: the book states that Nakamoto withdrew from the public in April 2011, leaving the development of the code and the network to a group of volunteers, and that neither Nakamoto nor anyone else exerts individual control over the system, which operates on transparent mathematical principles, open-source code and consensus among participants (Antonopoulos and Harding, 2023). The second is identity: nothing in the sources of this course identifies the person or people behind the name, and a claim about the identity would need evidence that this course cannot give.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costs decide who can run a node, and therefore how widely the verification of the rules is spread. The book's figures for 2023 are over 500 GB of data to download and process at first, about 400 MB of transactions per day, at least 1 TB of disk if all transactions are indexed and the full copy is kept for several years, and upload bandwidth that a metered connection may not afford (Antonopoulos and Harding, 2023). The current download page of Bitcoin Core states a one-time download of about 600 GB plus a further 5 to 10 GB per month, and says that with pruning a node can store as little as 10 GB (Bitcoin Core, 2026). Every option that lowers these costs, such as pruning, is a trade between cost and what the node can offer to others.
Concepts in this section: Initial download, Pruned node, Peer and connection, Set of unspent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download is what turns the claim that a node verifies everything into a fact about a particular computer. Until the node has processed every block, it cannot know the current set of unspent outputs, so it cannot tell whether a payment is valid. The cost is substantial, and the book says it will take some time, perhaps more than a day, for the program to catch up to the current height, with almost a billion transactions to validate at the time of writing (Antonopoulos and Harding, 2023). That is the reason the chapter asks readers to make sure they have enough disk space, bandwidth and time before they begin.
The download is only the first of two jobs: the node must also validate what it fetches, and on slow hardware validation, not bandwidth, can be the bottleneck. Bitcoin Core's own documentation warns that when the system starts swapping memory pages to disk continuously, a node can slow to a crawl, especially during the initial synchronization, and that a lower database cache makes the initial synchronization much longer (Bitcoin Core, 2026). A learner should therefore treat the figures in the book as a snapshot of 2023 and not as a promise, and should check the current ones on the download page before planning a node.
---
Pruning allows a verifying node on a small machine. The current download page says that with pruning enabled a node can store as little as 10 GB in total without sacrificing any security (Bitcoin Core, 2026). The reason is that verification needs the current state of the chain and a recent stretch of blocks, not every old block: the node checked the old blocks when it first received them and keeps the compact record of unspent outputs, which is the basis for checking new ones. The price is that the node can no longer hand old blocks to other nodes.
Pruning cannot be undone cheaply. The help text warns that reverting the setting requires re-downloading the entire blockchain, and that wallets and indexes should be kept active while pruning is enabled so they stay synchronized before old block data is deleted (Bitcoin Core, 2026). A pruned node also cannot look up an old transaction or block that it has deleted, so the tools of this chapter, such as retrieving an arbitrary transaction by its identifier, work only for data that is still stored or that is part of the wallet. For a learner the safe rule is that pruning saves disk space and nothing else: it neither weakens verification nor makes the node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Peers are how a node learns about the world. It has no central server to ask, so every block and every unconfirmed transaction reaches it from a peer, and every block that it has verified is passed on in the same way. Chapter 2 described this spreading of data as gossiping. For the operator, peers are also a cost, since each active connection takes some memory and bandwidth, and a node on a metered connection may want to limit how much it uploads (Antonopoulos and Harding, 2023) (Bitcoin Core, 2026).
A peer is not a trusted party. Everything it sends is checked by the receiving node against the rules, which is why a node can connect to strangers at all. The number of connections is also not a measure of quality: the node in the evidence files, started with its connections disabled, reports connections 0 and still holds a correct chain of one block (Bitcoin Core, 2026). Finally, the value of the default maximum differs between the release the book printed, release 31.1 and the newest source tree, so a configuration that depends on it should state the number explicitly.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 is what makes verification fast. To decide whether a new transaction is valid, a node does not need to search the whole history: it needs to know whether each output being spent is in the set. The chapter's checklist for transactions says that the outputs being spent must match outputs in the memory pool or unspent outputs in a block of the main branch (Antonopoulos and Harding, 2023). The set is much smaller than the chain of blocks, because every spent output has left it.
The set is derived data, not part of any block, and every node builds it for itself by verifying the chain; two honest nodes get the same set only because they apply the same rules. It is also not a list of balances: the set holds outputs, and the amount a wallet owns is the sum of the outputs it can spend. Finally, the size of the set affects the memory a node needs, which is why the chapter lists the database cache among the options that a resource-constrained node should lower.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from source is the most direct way to know what a node is made of. The source code of Bitcoin Core is public, so a reader who builds it has a program that corresponds to a particular version of the text that anyone can inspect, and can switch features on or off during the build, for example by leaving out the wallet. For a course on software engineering the branch also shows how a large, long-lived project organizes its work: a version control system, numbered releases, a build system that discovers what a computer provides, and an automatic test suite (Bitcoin Core, 2026).
The most important caution is that the commands of the printed chapter belong to a build system that has been replaced: release 29.0 migrated the build from Autotools to CMake, and the current tree has a top-level CMakeLists.txt and no autogen.sh (Bitcoin Core, 2026). A student who follows the book literally on a current source tree fails at the first command. The second caution is that compiling it yourself does not prove that the program is trustworthy; it shows only that a program was built from the text you chose, and the choice of that text is made by selecting a release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changes every day, and not every day's version is safe to run. The book explains that by default the local copy of the repository is synchronized with the most recent code, which might be an unstable or beta version of Bitcoin (Antonopoulos and Harding, 2023). The concepts of the group give a learner the means to say exactly which version is meant: a repository holds every version, a tag names one of them, and a suffix tells whether it is meant for testing.
Concepts in this section: Release tag, Source code, Git repository, Release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Tags solve the problem of the moving target. The project's readme explains that the master branch is regularly built and tested but is not guaranteed to be completely stable, and that tags are created regularly from release branches to indicate new official, stable release versions (Bitcoin Core, 2026). A tag therefore lets two people on different continents talk about exactly the same code, and a book can say which version its screenshots belong to.
A tag is a label, not a guarantee. Checking out a tag gives the code that the maintainers tagged, but it does not by itself show that the label was placed by them, and the book's state message warns that the user is now in a detached HEAD state, where changes belong to no branch (Antonopoulos and Harding, 2023). The tag list also contains names that follow no release scheme, such as noversion and v0.1.6test1. Trust in a release comes from the signatures and the reproducible builds described in the ecosystem branch.
---
The source is the only complete and exact description of the rules that the node enforces. The whitepaper describes several early parts of the system and the proposals describe later ones, but a question such as how much new money a block may create is answered finally by reading the code. The function GetBlockSubsidy in the file validation.cpp is a short example: it divides the block height by the halving interval, returns zero when the shift would be undefined, and otherwise starts from 50 coins and shifts the amount right by the number of halvings (Bitcoin Core, 2026).
Reading the source requires care. The master branch holds work in progress, and a source file read at one commit can differ from the behavior of the release that a user runs, so a statement about the software should name the version it refers to. Also, a program that is open to reading is not thereby correct: the project's readme says that testing and review are the bottleneck and that every mistake might cost people lots of money, which is the reason the project asks for review by someone other than the author (Bitcoin Core,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repository gives a project a memory and a way to share it. Because every copy contains the whole history, anyone can work offline, compare any two versions and verify that a given version is the one that the maintainers named. The chapter uses exactly this: the command git clone makes a complete local copy of the repository from GitHub, after which the command git tag shows the available release names, and the book's example output counts 245,912 objects received, about 217.74 MiB of data (Antonopoulos and Harding, 2023).
Two misunderstandings are common. A repository is not the same as a hosting service: GitHub stores a copy, and the clone on a user's machine is as complete as the original. And a clone is a snapshot of one moment, not a live view: the highest release at the time of writing was v24.0.1, whereas the public repository now holds the releases up to v31.1 and hundreds of tags in all, so a reader who cloned in 2023 does not see the later releases without updating the clone. The detached HEAD state that the book prints after checking out a tag is normal for reading a release and is a warning only for those who intend to commit changes.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two-step method lets the project find problems before ordinary users depend on the software. For a program that guards money, the cost of a defect is high, and the project's readme stresses the need for testing by people other than the developers (Bitcoin Core, 2026). The book's rule for readers follows: when selecting a release for compilation, choose the highest version without a suffix, because that is the one meant for production (Antonopoulos and Harding, 2023).
The suffix is a convention and not a guarantee, and not every unusual tag is a candidate: the first entries of the list include v0.1.6test1, which uses a different suffix. A candidate may also change before the final release, so results that a student obtains from a candidate need not hold for the release. The book itself recommends the plain tag, and a production system should follow that advice.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build system exists because a large program is not compiled by one command. Bitcoin Core consists of many source files, depends on libraries that differ between computers, and offers options such as leaving out the wallet. The build system looks at the computer, records the choices, and runs the translation steps in the right order and, if interrupted, from where they stopped. Knowing the toolchain also explains why the same program can be obtained in several ways with the same result.
Concepts in this section: Autotools build, CMake build, The bitcoin command, Compilation, Build prerequisite, Executable, Package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was designed to make a program portable between operating systems without hand-editing. The script configure offers options that override the defaults, and the book lists four: --prefix, which overrides the installation location /usr/local, for example with $HOME on a computer where only the home directory is writable; --disable-wallet, which disables the reference wallet; --with-incompatible-bdb, which allows an incompatible version of the Berkeley DB library when building a wallet; and --with-gui=no, which leaves out the graphical interface that needs the Qt library (Antonopoulos and Harding, 2023).
The commands of this section no longer work on the current source. The top level of the current tree has no autogen.sh and no configure script, and the option --with-incompatible-bdb has lost its purpose since legacy BerkeleyDB wallets can no longer be created or loaded (Bitcoin Core, 2026). A learner should therefore read the Autotools section as an explanation of the structure of a build, with configure, compile, test and install, and use the CMake commands for any real work.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the project to CMake replaced a collection of generated scripts by a description that works on the platforms the project supports. The release notes list what a user of the old method must change: the minimum required CMake version is 3.22, options are now given as CMake variables, and some defaults changed. For example, one now needs -DWITH_ZMQ=ON to build with the ZeroMQ messaging library and -DBUILD_GUI=ON to build the graphical client bitcoin-qt (Bitcoin Core, 2026).
Copying options from a book or a blog is the usual source of failure. The names are specific to the build system and the version: an option written for Autotools is silently useless to CMake, and the build notes warn that the memory requirement is at least 1.5 GB for compiling, with advice on reducing it for smaller machines (Bitcoin Core, 2026). Environment variables that the old build honored, such as CXXFLAGS, have corresponding CMake variables with other names, so a build that is configured in a script needs to be rewritten, not merely adapted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exists to hide a change in the structure of the software. The project plans to split Bitcoin Core into separate processes for the node, the wallet and the graphical interface, so that each can run in its own address space for better isolation. A front door that chooses the binary spares users from learning new names for each stage of that change (Bitcoin Core, 2026).
A beginner can confuse the new command with the old name. The word bitcoin by itself starts no node; it needs a command such as node. The multiprocess mode is experimental and, in the words of the release notes, the option -m is currently required for the mining interface but will become optional (Bitcoin Core, 2026). The chapter's examples are written with the older names and are still valid for the monolithic binaries.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takes a long time and a lot of memory because the program is large. The book says that the compilation can take up to an hour depending on the speed of the processor and the available memory, and the build notes of the project recommend at least 1.5 GB of memory, with advice on reducing the demand, because C++ compilers are memory-hungry (Antonopoulos and Harding, 2023) (Bitcoin Core, 2026). These facts matter to an operator who plans a build on a small computer and to a student who wonders why the step cannot be skipped.
A successful compilation shows that the program was built, not that it behaves correctly, which is why the book tells the reader to run the unit test suite before installing (Antonopoulos and Harding, 2023). Installing needs administrative privileges in the book's example, because the default installation location is /usr/local/bin; the book mentions installing to the home directory as the alternative where the computer does not allow it (Antonopoulos and Harding, 2023).
---
A large program is not written from nothing. Bitcoin Core relies on libraries for tasks such as storing the wallet in a database, drawing the graphical interface or sending messages to other programs, and each library has to be present in a version that fits. The documentation of dependencies exists so that a builder can see in advance what to install, and the book says that the build can be resumed from where it stopped after installing a missing prerequisite (Antonopoulos and Harding, 2023).
The prerequisites differ by platform and by release, so a list copied from a text about another system or version is likely to be wrong. The security perspective is that every library in the build is also part of the program that guards money, which is the reason the project documents the dependencies and offers a self-contained mechanism for building them, the depends system mentioned in its build notes (Bitcoin Core,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executable has a separate purpose, so that a user can run the part that is needed. A server needs the node without a graphical interface; an operator who sends commands uses the client; a developer who builds a transaction offline uses the transaction tool. The book chooses to build the daemon, the server version, because the chapter is about a node running in the background (Antonopoulos and Harding, 2023). The project's plan for the multiprocess design is that node, wallet and interface code run in separate address spaces for better isolation (Bitcoin Core, 2026).
The name of an executable is not an interface guarantee. Names and places have changed between versions: the unit-test program test_bitcoin was moved from the folder bin to libexec in release 30.0, and the project advises starting multiprocess binaries through the bitcoin command and not directly (Bitcoin Core, 2026). A script that relies on a path should therefore state the release for which it was written.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the prerequisites by hand would mean finding, downloading and compiling each library. A package manager does this with one command and resolves which other libraries are needed. The table of the build notes gives, for each system, the packages for the required build dependencies and then the optional ones for the wallet, the interprocess communication, the messaging and the graphical client, so that a builder chooses the columns that match the features wanted.
A package manager trusts the collection it installs from. The software the builder obtains is the software the maintainers of the distribution packaged, in the version they chose. For a security-critical program like a node, the project therefore also offers a way to build the dependencies from source, called depends in its notes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matters because a node that is badly run gives little of what it promises. A node that is not given enough disk space cannot store the chain, a node whose cache is too small spends its time reading the disk, and a node whose settings nobody understands may expose services that were meant to stay private. The book lists the reasons for running a node in a short list: not relying on any third party to validate the transactions you receive, not disclosing to third parties which transactions belong to your wallet, having programmable access to the network and the blockchain, validating transactions according to the consensus rules in an application, and supporting the network (Antonopoulos and Harding, 2023). Each of these reasons is only as good as the way the node is operated.
Two cautions apply to the whole branch. The first is that many of the book's figures belong to the release it printed: the default cache size, the wallet database and the first lines of the log differ in the current release, and the concepts of this branch give both values. The second is the warning in Bitcoin Core's own documentation, which tells users never to make configuration changes that they do not understand and to be wary of accepting any configuration changes provided to them by another source, even if they believe that they do understand them (Bitcoin Core, 2026). A copied configuration file is a set of instructions to a program that holds money-related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that runs on a default setting is usable, but the options are how it is adapted to the machine and to the purpose. The book's two sample files show the range: one is for a node that serves as the back end of a Bitcoin application and puts its data on a disk with a lot of room, the other is for a resource-constrained server and limits the cache, the mempool, the stored blocks and the traffic (Antonopoulos and Harding, 2023). Knowing what each option does is what turns a copied example into a deliberate decision.
The options meet the reader in three forms: as lines of the configuration file, as parameters after the name of the program on the command line, and as entries in the help text, which the version 31.1 prints with 139 option entries, more than the hundred of the book (Bitcoin Core, 2026). The start-up messages of the node list the settings that it has actually read, so the log is the place where an option can be checked. The concepts that follow take the file, the option, the directory and then the individual settings.
Concepts in this section: Configuration file, Configuration option, Data directory, Database cache (dbcache), Transaction index (txindex), Blocks-only mode, Mempool limit (maxmempool), Alert notification (alertnotify).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 is the practical way to keep a node's settings, because a node is meant to run for months and to restart after every power failure or update. The same options could be typed after the program name every time, but a file records them in one place that can be read, copied, compared and kept under control. It also keeps the settings out of the way of the start-up scripts that the book mentions in the end of the section, which only have to start the program (Antonopoulos and Harding, 2023).
Changes to the file take effect only after the node has been restarted, as the documentation states, so editing the file of a running node changes nothing until then (Bitcoin Core, 2026). The file is not a command language, and an option that the program does not know is not an error but shows up as a warning in the log, so a mistyped name can go unnoticed if nobody reads it. A last caution is that the file may hold secrets, for example the hashed credential of the interface, and should be readable only by the user who runs the node, which the init documentation also recommends for the file and the data directory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options are the program's interface for its owner, and the order in which their sources are read decides which value is used. The documentation states that all command-line options except the help, version and conf options may be specified in the configuration file, that all file options except the one that includes another file may also be given on the command line, and that command-line options override values set in the file (Bitcoin Core, 2026). A script that starts the node can therefore change one value for one run without editing the file.
The help text and the book must not be trusted blindly for the defaults, because defaults change from release to release: the book's value for the database cache is 450 and the current one is 1024 for machines with enough memory, and the minimum relay fee dropped in release 30.0 (Antonopoulos and Harding, 2023) (Bitcoin Core, 2026). Another common mistake is to put an option that is valid only on the command line, such as the one that names the file itself, into the file that it names, where it cannot work. A third is to forget that negation exists: a line written with the prefix no switches something off and is not a typing error.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directory is the node's memory, so where it lives decides whether the node can run at all. The book says that, depending on the configuration, it can use from about 10 GB to almost 1 TB as of the writing, and that the maximum is expected to grow by several hundred gigabytes per year (Antonopoulos and Harding, 2023). For that reason the first sample file puts the directory on a separate disk with plenty of room, and a user who has a small system disk and a large second disk needs this option before the first start.
A directory is not a place to copy files from one running node to another. The documentation warns that a wallet file must not be shared across different node instances, because that can result in key reuse and double spends, and that a backup of a wallet should be made with the backup call so that the file is locked while it is copied (Bitcoin Core, 2026). It also advises against the exFAT filesystem on macOS, because of reports of database corruption (Bitcoin Core, 2026). The cheapest mistake, however, is to fill the disk: a node that cannot write stops, and that is the reason to plan the space.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 matters most while the node is catching up with the chain. The documentation on reducing memory says that a lower value makes the initial sync time much longer, and that after the first synchronization the effect is less pronounced for most uses, unless fast validation of blocks is important, such as for mining (Bitcoin Core, 2026). The same page warns that when the operating system starts swapping memory to disk continuously, the node can slow to a crawl, which is why a too-large value is also a mistake.
The memory is shared with the mempool, which the log shows by saying that up to 286.1 MiB of unused mempool space can be added to the 1014 MiB, a figure that the mempool limit concept explains (Bitcoin Core, 2026). Setting the value larger than the memory that is really available is a mistake that containers make easy, because the detected RAM may exceed what the container may use, a case that the release notes mention, and the node may then run out of memory (Bitcoin Core, 2026). The node also logs a warning when it believes a value is too large for the detected memory.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index the node still has the whole chain, but it has no quick way from a transaction identifier to the block that holds it. The question matters to programs that look up arbitrary transactions, such as an explorer or the application back end of the book's first sample file. The book adds that if the option is not set at first and later set, one has to wait for the index to be rebuilt, and that the lookup works provided the block containing the transaction has not been pruned (Antonopoulos and Harding, 2023).
The index cannot be combined with pruning. The help text of the pruning option says the mode is incompatible with the transaction index, and the run of release 31.1 in the evidence confirms it: starting with both ends with the error that prune mode is incompatible with txindex (Bitcoin Core, 2026). The help of the current release is more exact than the book about what happens without the index: by default the call for a raw transaction returns a transaction only if it is in the mempool, and if the caller names a block, it returns the transaction when the block is available and contains it (Bitcoin Core, 2026). So a node without the index can still answer if it is told in which block to look, but not otherwise. Finally, the index is a convenience for the owner, and it is not part of the consensus rules.
---
The mode exists because relaying every transaction is the largest continuing cost of a node after the first download. A node in this mode still downloads and validates every block, so it enforces the same rules and remains a full node, but it receives each transaction only once, inside a block, and it holds no pool of unconfirmed transactions. The documentation on reducing memory says that the mode reduces the default memory use of the mempool to 5 MB, and that the source defines the blocks-only default as 5, against 300 for a normal node (Bitcoin Core, 2026).
The mode has a privacy cost that the documentation spells out: it must not be used when the node is also used to broadcast transactions, because any transaction sent will stick out like a sore thumb, and when it is combined with the wallet, the wallet should be told not to broadcast and not to spend unconfirmed change, and another mechanism for broadcasting should be used (Bitcoin Core, 2026). Because such a node does not receive transactions that are not yet in a block, a merchant who wants to see a payment before its confirmation cannot rely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pool that has no limit would let any sender fill the memory of every node with unconfirmed transactions. The limit forces the node to decide which transactions to keep, and the documentation says that a lower maximum means that transactions will be evicted sooner, which affects any use of the node that processes unconfirmed transactions (Bitcoin Core, 2026). Chapter 2 explained that a transaction waits in the mempool until it is mined; this is the bound on how long and how many can wait.
The unit is the usual mistake: a number of megabytes of 1000 bytes is smaller than the same number of mebibytes, and the two options that look alike, the mempool limit and the database cache, use different units. A node with a small mempool also forgets low-fee transactions sooner, so a wallet that depends on the node may see its payment dropped from that node's pool while other nodes still hold it. Bitcoin Core also expires transactions after a number of hours, an option that the help lists, so the limit is not the only bound.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runs without anybody watching it, and some events need a person. Bitcoin Core's source shows two situations in which the node raises such a warning: when it finds an invalid chain with more work than its own best chain by more than six blocks of work, which could be due to database corruption or to consensus incompatibility with the peers, and when blocks signal new rules that this version of the software does not know, with the message that unknown new rules were activated and the number of the version bit (Bitcoin Core, 2026). Both are signs that the owner's software may be out of step with the network, a case that the soft fork concept explains.
The cleaning protects against the message but not against the owner's own script. A script that passes its argument on without quoting it can still be abused, and the %s must be inside the quotes of the command, as the book's sample does. The option also depends on the system providing a command interpreter, since the source compiles the function only if the system has one, and on the script being executable by the user who runs the node (Bitcoin Core, 2026). Finally, the command runs only when a warning is newly set, because the source calls it only if the warning was not already present, so a script that sends e-mail should not be the only way to learn that the node is in trouble.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only useful when it runs continuously. The book ends the section with the advice to add Bitcoin Core to the start-up scripts of the operating system, so that it runs all the time and restarts when the operating system restarts, and it points to the examples in the folder contrib/init of the source (Antonopoulos and Harding, 2023). The two status commands that follow tell the owner whether the node is synchronized with the chain and how it stands in the network, which are the two things that decide whether its answers can be relied on.
The reader meets this group the first time the program is started. The log printed to the console is the first thing seen, the data directory gains the log file and the files that mark a running process, and the owner types the first command to learn the state of the chain. The evidence of this version contains the real log of the release 31.1, the answers of its two status commands, and the directory it created, all from an offline node, which is a node that was told not to look for peers (Bitcoin Core, 2026).
Concepts in this section: Daemon, Start-up log, Blockchain information (getblockchaininfo), Network information (getnetworkinfo).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daemon form exists because a node has to run for months, through the closing of terminals and the restarting of machines. A program that is attached to a terminal ends when the terminal ends. For this reason the book advises to add the node to the startup scripts of the operating system, and the documentation of the project says that running the program as a daemon does not need any manual configuration, because it creates its own credential for the interface when it starts (Antonopoulos and Harding, 2023) (Bitcoin Core, 2026).
The sample scripts assume paths that may have to be adjusted, such as /usr/bin/bitcoind, /etc/bitcoin/bitcoin.conf and /var/lib/bitcoind, and a user and group called bitcoin that must be created before use (Bitcoin Core, 2026). The init documentation also says that datadir cannot be overridden in the configuration file with the init files as they are, because the command-line options in those files take precedence, and the comment at the top of the unit file says the same of every option named in its start command (Bitcoin Core, 2026). The operating system keeping a program alive does not mean it is healthy: a node that was restarted a hundred times because of a bad setting is still a node with a bad setting, and its log is where to look.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log is how an owner checks what the node is really doing. The documentation of the configuration file says that the values in use can be seen in the log and that options in the file that the program does not recognize appear there as warnings, so a mistyped option is visible only to someone who reads it (Bitcoin Core, 2026). The log also records the environment the node found: the machine instructions used for hashing, the sources of randomness, the limits on connections and the memory it assigned to each cache.
The log is not a stable interface: the wording and the order of lines change from release to release, and a program that parses them breaks. It is also sensitive: the node itself warns that the log may hold privacy-sensitive information, so an owner who pastes a log into a public forum to ask for help should read it first. A last caution is about size: the help of the release has an option that shrinks the file at start-up, which is on by default when no debugging categories are selected, so an owner who wants a long history has to keep copies of the file himself.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the quickest way to learn whether a node can be trusted for a given purpose. A node whose blocks are far fewer than its headers is still downloading and validating, and the field that tells whether it is in the initial block download says so directly. The book explains what its own printout shows: a blockchain height of 0 blocks and 83,999 headers, because the node first fetches the block headers from its peers to find the blockchain with the most proof of work and then goes on to download the full blocks, validating them as it goes (Antonopoulos and Harding, 2023).
The numbers are a snapshot, and a node that is receiving blocks changes them every few minutes. A height equal to the headers does not by itself prove that the node is caught up with the network, since both come from the node's peers, and the verification progress is an estimate between zero and one, not a measure. The field that says that the node is in the initial block download is described by the source as debug information and as an estimate. An owner who needs certainty compares the best block hash with a block explorer or with a second node.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tells the owner what the rest of the network sees. A node that offers fewer services than expected, or that has no connections, or that reports a network as not reachable, is not doing what its owner thinks. It also shows the settings that decide which transactions the node accepts, the minimum relay fee and the incremental fee, given in bitcoins per thousand virtual bytes, which is why the figure of 0.00001000 in the book's printout means one satoshi per virtual byte, and the figure of 0.000001 in the evidence means 0.1 satoshis per virtual byte, the value that the release notes of 30.0 give for the new default (Antonopoulos and Harding, 2023) (Bitcoin Core, 2026).
Service bits are unauthenticated advertisements, as the source itself says, so a peer that claims a service may not provide it, and the code must be robust against that (Bitcoin Core, 2026). The protocol version of the evidence, 70016, is not the constant in the newest source tree, which is 70017, because the tree is newer than the release, so two figures from different dates should not be compared as if they were errors. A last caution is the name of the user agent: it says Satoshi for historical reasons and is not a claim about who runs the node.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is where a node meets money. Everything else in the node concerns the shared record, whereas the wallet concerns the outputs that belong to its owner and the keys that spend them. Its storage format therefore matters to users more than most settings: a format that is retired makes old files unusable until they are converted. The concepts in this group give the current format, the retired one and the language of descriptions that the current one is built on.
Two cautions apply. The first is that this chapter gives only what the node needs in order to run; the book treats keys and wallets in its later chapters. The second is that the file of a wallet holds what is needed to spend the owner's funds, and Bitcoin Core's documentation points out that the file is not encrypted by default and that it must be backed up with the call provided for it, not by copying the file of a running node (Bitcoin Core, 2026).
Concepts in this section: Descriptor wallet, Legacy wallet, Output descriptor, Output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descriptor wallet is the only kind that a current node can create. The release notes of 30.0 state that legacy wallets can no longer be created or loaded, and the run of release 31.1 in the evidence shows the consequence: asking for a wallet of the older kind fails with error code -4 and the message that the descriptors argument must be set to true because it is no longer possible to create a legacy wallet (Bitcoin Core, 2026). The change makes the wallet's behavior follow from descriptions that can be read, exported and checked, and no longer from a hidden list of keys.
The wallet file is not encrypted by default, and encrypting it needs a passphrase that cannot be recovered; the documentation warns that a lost passphrase loses the coins (Bitcoin Core, 2026). A copy or a backup should be taken with the backup call, not by copying a file that the running node is writing, and a wallet file must not be shared by two node instances (Bitcoin Core, 2026). Finally, a wallet made for the older format is not lost: it can be migrated to this one, as the concept of the legacy wallet explains.
---
The concept matters for two reasons. The first is historical: most of the books, articles and old backups that a learner will meet describe this wallet, with calls such as the ones for dumping or importing a private key. The second is practical: the release notes of 30.0 state that such wallets can no longer be created or loaded, and that they can be migrated to the descriptor format with the migratewallet call (Bitcoin Core, 2026). A user who owns an old file has to migrate it, because the node will not open it as it is.
A learner should not treat a command from an older text as current, because commands that the book's era used for the legacy wallet may no longer exist: the release notes name eleven of them as removed (Bitcoin Core, 2026). A migration is a change to something that holds money, so a backup should be made before it, and a migration is not reversible by the node. Hardware or software that still expects a legacy file must be updated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descriptors, a wallet's backup contained keys and left the reader to guess which scripts they had been used for, and software of different makers could not agree on what a wallet contains. A descriptor states it completely, in a form that can be copied, printed and checked. The standard that defines the general syntax is BIP 380, and further BIPs define the individual expressions, which is why a descriptor written for one program can be read by another (Bitcoin Core, 2026) (Wuille and Chow, 2021).
The checksum protects against accidents and not against attackers, since anybody can compute a valid one for any text, so it is no proof that a descriptor came from the person one thinks. Whether a checksum is required depends on the call: the BIP says it is optional for parsing and that applications may choose to reject descriptors without one, and Bitcoin Core requires it for only some calls, among them the one that derives addresses and the one that imports descriptors (Wuille and Chow, 2021) (Bitcoin Core, 2026). A descriptor that contains private keys is as secret as the keys, and one with only public keys reveals, to whoever reads it, every address of the wallet.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Before descriptors, a wallet's backup contained keys and left the reader to guess which scripts they had been used for, and software of different makers could not agree on what a wallet contains. A descriptor states it completely, in a form that can be copied, printed and checked. The standard that defines the general syntax is BIP 380, and further BIPs define the individual expressions, which is why a descriptor written for one program can be read by another (Bitcoin Core, 2026) (Wuille and Chow, 2021).
The checksum protects against accidents and not against attackers, since anybody can compute a valid one for any text, so it is no proof that a descriptor came from the person one thinks. Whether a checksum is required depends on the call: the BIP says it is optional for parsing and that applications may choose to reject descriptors without one, and Bitcoin Core requires it for only some calls, among them the one that derives addresses and the one that imports descriptors (Wuille and Chow, 2021) (Bitcoin Core, 2026). A descriptor that contains private keys is as secret as the keys, and one with only public keys reveals, to whoever reads it, every address of the wallet.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Before descriptors, a wallet's backup contained keys and left the reader to guess which scripts they had been used for, and software of different makers could not agree on what a wallet contains. A descriptor states it completely, in a form that can be copied, printed and checked. The standard that defines the general syntax is BIP 380, and further BIPs define the individual expressions, which is why a descriptor written for one program can be read by another (Bitcoin Core, 2026) (Wuille and Chow, 2021).
The checksum protects against accidents and not against attackers, since anybody can compute a valid one for any text, so it is no proof that a descriptor came from the person one thinks. Whether a checksum is required depends on the call: the BIP says it is optional for parsing and that applications may choose to reject descriptors without one, and Bitcoin Core requires it for only some calls, among them the one that derives addresses and the one that imports descriptors (Wuille and Chow, 2021) (Bitcoin Core, 2026). A descriptor that contains private keys is as secret as the keys, and one with only public keys reveals, to whoever reads it, every address of the wallet.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type decides the address format and the cost of the payment. The older forms put all the data in the part of the transaction that counts fully towards its size, whereas the witness forms move the signature to the witness, which is discounted, as the weight concept explained. A descriptor wallet keeps one pair of descriptors for each type, one for receiving and one for change.
The abbreviations are easy to confuse. The lowercase function names of the descriptors, pkh, wpkh, sh and tr, and the uppercase names of the output types, P2PKH, P2WPKH, P2SH and P2TR, belong together but are not the same thing, and sh(wpkh) is one combined type and not two. The documentation's one-line descriptions are the reliable way to look up which is which.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what turns a node into a platform. Wallets, explorers, payment processors and research tools get their information about the chain from a node they trust, and they ask it through this interface, which is also the reason why the book lists "programmable access to the network and the blockchain" as one of the reasons for running a node of one's own (Antonopoulos and Harding, 2023). The same interface can also spend funds, change settings and read private data when a wallet is loaded, so the way it is protected is as important as the way it is used.
The documentation of the project is blunt about the risk. The interface allows other programs to control Bitcoin Core, including spending funds from the wallets, affecting the verification of consensus rules, and reading private data; by default only a client on the same computer can reach it, and only with a valid credential, and the documentation says not to enable connections over the public Internet because the credentials are sent as clear text (Bitcoin Core, 2026). A reader who exposes the port to learn faster is taking the largest risk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an interface that rests on JSON and HTTP lets nearly every programming language use the node. The book remarks that any program that can make an HTTP request can call the interface, and that libraries in most popular programming languages wrap it so that the call looks like a function of the language (Antonopoulos and Harding, 2023). The cost is that the node must decide whom to answer, and the group explains how it does so with a cookie that exists only while the node runs, or with credentials that are stored only in hashed form.
The first lines of the book's example are a call written for the command-line program curl, with the address 127.0.0.1, the default port 8332, a body that names the method, and a user name. The port is the node's own: the source gives 8332 for the main network, 18332 for the third test network, 48332 for the fourth and 38332 for the signet (Bitcoin Core, 2026). The log of the evidence node confirms that it bound to the address 127.0.0.1 and port 8332, after the attempt to bind the IPv6 address ::1 had failed (Bitcoin Core, 2026).
Concepts in this section: Application programming interface, JSON-RPC interface, JSON data format, HTTP request, Cookie authentication, Hashed credentials (rpcauth), Salt, Keyed hash (HMAC).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the reason why one reference implementation can serve very different applications. A wallet, an exchange, a research script and a monitoring tool ask the same node different questions, and none of them needs to know how the node stores the blocks or checks the signatures. The book calls it programmable access to the network and the blockchain, and counts building applications that must validate transactions according to Bitcoin's consensus rules among the reasons for running one's own node (Antonopoulos and Harding, 2023).
An interface is a promise only for as long as its owner keeps it. The documentation gives the grace period of one major version for deprecated features, and the chapter's own examples show a change: the field of warnings was a string and became an array of strings in release 28.0 (Bitcoin Core, 2026). A program that depends on the exact text of an answer, as opposed to its documented fields, breaks sooner. Finally, an API gives access, not trust: an answer from a node one does not control is only as good as that node.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keeps the interface small. A client needs to know only the name of a method and its parameters, and the answer tells the result or the error. Because the identifier comes back unchanged, a client can send many requests and still know which answer belongs to which. A request without an identifier is a notification, to which the server must not reply, a feature that Bitcoin Core supports for the newer version of the protocol (JSON-RPC Working Group, 2013) (Bitcoin Core, 2026).
The name remote procedure call hides a danger: the call looks like a local function and behaves like a network request, so it can fail, be slow, or be answered by something else. The documentation warns that other programs on the same machine can try to provide an interface on the same port to trick a user into revealing the credentials, and that the interface does not guarantee escaping of data beyond what JSON needs, so the data of an answer, for example a decoded string, must be handled as untrusted (Bitcoin Core, 2026). The older style is also still accepted, so a program written for it keeps working, which may hide differences in the error behavior.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calls JSON a very convenient way to present data that both humans and programs can easily read, and in the section on status information it says that the data is returned in JSON, a format that can easily be consumed by all programming languages while remaining quite human-readable (Antonopoulos and Harding, 2023). This is why the same answer can be read by a person at the terminal and parsed by a program, and why the rest of the book can show results as pieces of text.
JSON is a data format, not a protocol, and by itself it says nothing about what a member means: the meaning of the member bits or of the member weight comes from the documentation of Bitcoin Core. The order of the members of an object has no meaning and should not be relied on. The format also has no comments and no way to say that a number is a hash or an amount, so a mistake in interpretation is not caught by the parser. The course returns to this point at the end of the chapter, where JSON is given a meaning by a context.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HTTP as the carrier means that a call can be made by any of the tools that already speak it, from a browser to a library of any language. The book shows curl, the versatile command-line HTTP client, and says that a program may use a generic HTTP library to build the call, as the example with curl does (Antonopoulos and Harding, 2023). The manual of curl describes it as a tool for transferring data from or to a server using URLs, with options for the user, for the data to be sent without change, and for header fields (Stenberg, 2026).
Base64 is an encoding, not encryption, so anybody who can read the request can read the credentials, and plain HTTP offers no protection on its way; the documentation of the project says that the interface uses authentication but no encryption (Bitcoin Core, 2026). The status codes are also an indication of a different kind from the errors of the call: with the older protocol a failed call returns an HTTP error status, and with the newer one it returns 200 with an error member, unless the failure was in the HTTP server itself (Bitcoin Core, 2026). A program that checks only the HTTP status will misjudge one of them.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removes the need for the owner to invent and store a password. The init documentation says that a daemon run without any configuration uses a special cookie file for authentication, that the cookie is generated with random content when the daemon starts, and that read access to the file controls who can use the interface (Bitcoin Core, 2026). The project's security notes name this the preferred authentication method, because the secret is new at every start, never typed and never put into a configuration file (Bitcoin Core, 2026).
Anyone who can read the cookie file controls the interface. The default file mode, owner only, is set by the process-wide file creation mask of 0077, and the documentation recommends that the data directory be readable only by the user and group of the node, with access to the interface controlled by group membership (Bitcoin Core, 2026). A cookie is also no solution for a client on another computer or a service that must survive restarts, because the secret changes each time; for these cases the stored credential of the next concept is used, as the book itself says by pointing to the helper script in the share folder (Antonopoulos and Harding, 2023).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stored password in a configuration file is a secret on a disk that is copied, backed up and sometimes shared. Storing only a salted hash means that a leaked file does not reveal the password. The source of the node logs a warning when the older options for user and password are used, saying that they are less secure because the credentials are configured in plain text, and recommends cookie-based authentication or hashed credentials instead; the project's security notes name the script as the way to generate static credentials and the plain user and password options as the last fallback (Bitcoin Core, 2026).
The hash protects the file, not the connection: the client still sends the password itself in each request, and the interface does not encrypt, so the credential is only as safe as the path between client and node (Bitcoin Core, 2026). A hashed credential also does not limit what the caller may do; the option rpcwhitelist can restrict the methods a user may call, but the documentation says that such restrictions should not be seen as robust security boundaries, and recommends system-level isolation instead (Bitcoin Core, 2026). A weak password remains weak, even though the hash is not reversible: it can be guessed offline by anyone who has the line.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must be able to check a password without keeping it. It keeps the user, the salt and the hash, and when a request comes it computes the hash of the supplied password with the stored salt and compares. The salt means that two users with the same password have different stored values, and that an attacker cannot use one prepared table of hashes against all users. The line in the configuration file therefore reveals neither the password nor whether two accounts share one.
A salt protects the stored value and not the password in transit. The password is still sent with each request, and over plain HTTP it is readable by anybody who can see the traffic, as the Base64 concept explains. A salt also does not make a weak password strong; it only prevents the reuse of work across credentials. That is why the helper script offers to generate a long random password, 32 bytes in text form, instead of leaving the choice to the user.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hash proves nothing about who made it, because anybody can compute it. A keyed hash can be produced only with the key, so it is evidence that the holder of the key made it. Bitcoin Core uses this in a modest way, as the way to turn a password and a salt into a stored value. The same construction appears in other parts of the system, where a secret key is needed to derive other keys.
An HMAC authenticates data; it does not encrypt it. The message can be read by anybody who sees it, and the HMAC proves only that the sender knew the key. In the rpcauth credential the key is the salt, which is not secret, so the HMAC is used here as a one-way function with a per-credential parameter and not as a proof of the sender's identity. A reader should keep the two uses apart.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of client decides how much of the protocol a user has to know. At the terminal one needs only the name of a method and its parameters. With a generic HTTP tool one must also write the body and manage the credential. With a wrapper library one writes a function call, and the library does the rest. The book remarks that the helper is very useful for exploring the API and testing functions, and that the whole point of an API is to access functions programmatically (Antonopoulos and Harding, 2023).
All three clients are met in the chapter. The helper is used for the first calls, to list the commands, to get help on one of them and to ask for the hash of block 1000, which the book prints as 00000000c937983704a73af28acdec37b049d214adbda81d7e2a3dd146f6ed09 (Antonopoulos and Harding, 2023). The Python programs in the last part use the wrapper library, and in the evidence of this version the book's first program was run unchanged with the library at version 0.12.2 against the node of release 31.1 (Bitcoin Core, 2026).
Concepts in this section: Command line, Command-line client (bitcoin-cli), Wrapper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line is the common ground of the people who run nodes: it works on a server without any graphical display, over a remote connection, and in scripts that can be repeated. It also leaves a record, because the text of a command can be copied into a document or a script, which is how the book can show an exact sequence of steps. The helper program of Bitcoin Core is made for it, as is the daemon with its options.
The command line is exact and unforgiving: a misplaced space or quote changes the meaning, and a command copied from a page may contain characters that look the same but are not, such as typographic quotation marks. Commands also run with the privileges of the user who types them, so a command copied from an unknown source can do harm, as the documentation says about configuration changes provided by others (Bitcoin Core, 2026). The history of the terminal may keep secrets typed as arguments, such as a password, which is a reason to use a prompt where one is offered.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lets a reader try the interface before writing any code. The book starts the section with the command help, which lists all RPC commands; adding the name of a command after help gives the description, the arguments, the result and two examples (Antonopoulos and Harding, 2023). The first example in the book is bitcoin-cli getblockhash 1000, whose result, a block hash, shows that the node is running, accepting commands and holding the block, as the book puts it (Antonopoulos and Harding, 2023).
The helper is a convenience and not a separate interface: everything it does is a call to the node, and a typing mistake becomes a request for the wrong thing. The positional form needs the parameters in the exact order, which for a method with many optional parameters is error-prone, and the named form is safer, as the documentation's example for creating a wallet shows (Bitcoin Core, 2026). The book's printed results are from a node at a given height, and a reader's results will differ; the chapter itself warns that the examples assume the node is at least at block 775,072 (Antonopoulos and Harding, 2023).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wrapper takes away the work of building the request, finding the credentials, sending the message and decoding the answer, so that the programmer thinks in terms of the node's methods. The book contrasts it with the alternative of building the call with a generic HTTP library as shown with curl (Antonopoulos and Harding, 2023). The price is a dependency: the wrapper must follow the changes of the node, and it is maintained by someone else. The documentation of python-bitcoinlib says that its interface should work with Bitcoin Core 24.0 or later, and the evidence of this version confirms that the book's first program runs with version 0.12.2 on Python 3.14.4 against the release 31.1 (Todd, 2023) (Bitcoin Core, 2026).
A wrapper hides the protocol and so can hide failures: it raises an error of its own when the node reports one, it needs the node to be running and reachable, and it needs a credential that works, which is the usual cause of failure. A library that is not maintained may lack the newest methods or the newest fields. The version in the book's era, 0.12.2, dates from June 2023, a point the research record of this chapter checks against the package index. And a wrapper is only a client of the node: the quality of the answers is the quality of the node behind it.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understands the fields can check the node's answers, which is the point of running a node. The book says that a transaction ID is not authoritative before confirmation, that a block's confirmations tell its depth, and that the median time of the block is a time measurement harder for miners to manipulate (Antonopoulos and Harding, 2023). Each of these statements is a claim about how the system is built, and each can be tested on data that anybody can fetch. The branch therefore pairs each field with a computation that reproduces it from the raw bytes.
Two cautions apply to the whole branch. The first is that the data in the book belong to a moment: the confirmations of a block grow with every new block, and the block of the later example is so old that its figures are history only. The second is that the book contains one printed result that does not match its script. The program that adds the outputs of block 775072 prints 10,322.07722534 BTC and explains it as including a reward of 25 BTC, but the reward at that height is 6.25 BTC, and the sum of all outputs of that block is 5,863.00566521 BTC, as the executed checks of this chapter show (Antonopoulos and Harding, 2023) (Bitcoin Core,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transaction is stored decides how it is identified and how much it costs. A change in the serialization introduced the witness, a part of the transaction that is not included in the old identifier, and with it a second identifier and a new measure of size. A reader who knows only the simple picture of inputs and outputs will not be able to explain why Alice's transaction has a size of 194 bytes and a virtual size of 143, or why it has two identifiers. This group explains why.
The group's concepts are met in the output of the two commands of the book: the first returns the serialized transaction in hexadecimal notation, and the second decodes it into the fields shown in the chapter (Antonopoulos and Harding, 2023). They are met again in every block explorer and every wallet, which show the same fields under other names. The evidence of this version decodes the book's hexadecimal with both the real release 31.1 and a short Python program, and the two agree on every field (Bitcoin Core, 2026).
Concepts in this section: Transaction serialization, Decoded transaction, Segregated witness, Transaction weight, Transaction identifier (txid and wtxid), Transaction malleability.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precise byte layout is what lets independent programs agree. The specification BIP 144 defines the layout with witness data: a four-byte version, a marker byte that must be zero, a flag byte that must be nonzero, the number of inputs, the inputs, the number of outputs, the outputs, the witnesses and a four-byte lock time (Lombrozo and Wuille, 2016). The marker is zero so that the layout is never mistaken for a valid transaction by a program that does not know about witnesses, because in the old layout a zero would mean a transaction with no inputs (Lombrozo and Wuille, 2016).
The layout has a short and a long form. A transaction with no witness is written without the marker and the flag, and that is the form that is hashed to get the old identifier, so one transaction has two serializations. A parser that assumes one of them will misread the other, which is the reason why the call that decodes a raw transaction has an option to tell whether the hexadecimal is in the witness form, and uses a heuristic when it is not told (Bitcoin Core, 2026). The numbers are also written the unexpected way round: byte order in identifiers is reversed between the display and the bytes that are hashed.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A precise byte layout is what lets independent programs agree. The specification BIP 144 defines the layout with witness data: a four-byte version, a marker byte that must be zero, a flag byte that must be nonzero, the number of inputs, the inputs, the number of outputs, the outputs, the witnesses and a four-byte lock time (Lombrozo and Wuille, 2016). The marker is zero so that the layout is never mistaken for a valid transaction by a program that does not know about witnesses, because in the old layout a zero would mean a transaction with no inputs (Lombrozo and Wuille, 2016).
The layout has a short and a long form. A transaction with no witness is written without the marker and the flag, and that is the form that is hashed to get the old identifier, so one transaction has two serializations. A parser that assumes one of them will misread the other, which is the reason why the call that decodes a raw transaction has an option to tell whether the hexadecimal is in the witness form, and uses a heuristic when it is not told (Bitcoin Core, 2026). The numbers are also written the unexpected way round: byte order in identifiers is reversed between the display and the bytes that are hashed.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A precise byte layout is what lets independent programs agree. The specification BIP 144 defines the layout with witness data: a four-byte version, a marker byte that must be zero, a flag byte that must be nonzero, the number of inputs, the inputs, the number of outputs, the outputs, the witnesses and a four-byte lock time (Lombrozo and Wuille, 2016). The marker is zero so that the layout is never mistaken for a valid transaction by a program that does not know about witnesses, because in the old layout a zero would mean a transaction with no inputs (Lombrozo and Wuille, 2016).
The layout has a short and a long form. A transaction with no witness is written without the marker and the flag, and that is the form that is hashed to get the old identifier, so one transaction has two serializations. A parser that assumes one of them will misread the other, which is the reason why the call that decodes a raw transaction has an option to tell whether the hexadecimal is in the witness form, and uses a heuristic when it is not told (Bitcoin Core, 2026). The numbers are also written the unexpected way round: byte order in identifiers is reversed between the display and the bytes that are hashed.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continues. A precise byte layout is what lets independent programs agree. The specification BIP 144 defines the layout with witness data: a four-byte version, a marker byte that must be zero, a flag byte that must be nonzero, the number of inputs, the inputs, the number of outputs, the outputs, the witnesses and a four-byte lock time (Lombrozo and Wuille, 2016). The marker is zero so that the layout is never mistaken for a valid transaction by a program that does not know about witnesses, because in the old layout a zero would mean a transaction with no inputs (Lombrozo and Wuille, 2016).
The layout has a short and a long form. A transaction with no witness is written without the marker and the flag, and that is the form that is hashed to get the old identifier, so one transaction has two serializations. A parser that assumes one of them will misread the other, which is the reason why the call that decodes a raw transaction has an option to tell whether the hexadecimal is in the witness form, and uses a heuristic when it is not told (Bitcoin Core, 2026). The numbers are also written the unexpected way round: byte order in identifiers is reversed between the display and the bytes that are hashed.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turns an opaque string into something a person can check. The book remarks that the decode shows all the components of the transaction, and that following the identifier of the input to the previous transaction lets a reader walk back through the chain of transactions as the coins pass from one owner to the next (Antonopoulos and Harding, 2023). Anyone who distrusts a wallet or an explorer can run the same decoding on their own node, which is the independent check that the chapter advocates.
The decoder shows what the bytes say, not whether they are valid or confirmed. A transaction may be well formed and still spend an output that does not exist, or one that is already spent. The values are given as decimal fractions of a bitcoin, with eight decimals, which a floating-point program should not use for money arithmetic. And the book's example gives the address of an output only because the node was able to derive it from the script: an output whose script has no standard form has no address. The call that fetches a transaction by identifier only works for mempool transactions unless the transaction index is on, or the block is named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upgrade solved two problems. It removed the witness from the data that the transaction identifier covers, so that a third party can no longer change an identifier by changing a signature, a point that the malleability concept develops. And it changed the way block space is measured: BIP 141 defines the weight of a block as the base size times three plus the total size, and limits it to 4,000,000, so witness bytes count one unit each while all the other bytes count four (Lombrozo et al., 2015). Witness data are therefore cheaper than other data.
The upgrade was designed to be a soft fork: old nodes see an output script with a version and a program and consider anyone able to spend it, while upgraded nodes enforce the new rules, so old nodes keep accepting the chain without understanding the witness (Lombrozo et al., 2015). This also means that a node which does not understand witnesses cannot verify the signatures of such transactions, even though it accepts them, which is a reason to run current software. The upgrade was activated at height 481824 on the main network, a constant that Bitcoin Core's chain parameters record (Bitcoin Core, 2026).
---
Weight is the unit in which the limit of a block is set. The source of the consensus rules gives the maximum block weight as 4,000,000 and the witness scale factor as 4, so a block of only old-style bytes can contain 1,000,000 of them, and a block with witnesses can contain more (Bitcoin Core, 2026). Weight is also the basis of the fee rate that chapter 2 introduced: a fee rate in satoshis per virtual byte divides the fee by the weight over four, which is why the decoded answer shows both the size and the virtual size.
Virtual bytes are not bytes, and the discount does not reduce the data that nodes must store or send: a node still downloads and stores all 194 bytes. The limit on weight is a consensus rule, whereas the policy of which transactions a node relays has other limits, one of which is the minimum fee rate, so a transaction of valid weight may still not be relayed. A last point is that older material speaks of a block limit of one megabyte, a rule that the upgrade replaced by the limit of weight, and the figure quoted in the book for the block of the later example, 4179 bytes, is far below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Identifiers are how everything refers to a transaction: the inputs of later transactions, the lists in blocks, the Merkle tree, the requests to the node. Having a second identifier that covers the witness allows the network to commit to the signatures in the block without changing what the old identifier covers. If no input uses a witness, the two identifiers are equal (Lombrozo et al., 2015). The book's tip adds the warning that a txid is not authoritative, a point that the malleability concept develops (Antonopoulos and Harding, 2023).
A txid can be looked up in the block files only with the transaction index or with the name of the block, as the earlier concepts explain, and the book warns that the absence of a txid from the blockchain does not mean the transaction was not processed (Antonopoulos and Harding, 2023). The wtxid is the more specific name, and is the one used when transactions are announced to peers in current protocols. It is also not secret, and not an address: two parties who know the identifier know only which transaction is meant.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watches for a payment by its txid can be misled. If a transaction is changed in transit and the changed version is the one that is confirmed, the original identifier never appears in a block, and a program that waits for it would conclude that the payment failed although the money moved. The book's advice is to treat the txid as authoritative only after confirmation: after the transaction is included in a block, its txid cannot change unless a reorganization removes that block from the best chain, and reorganizations are rare after several confirmations (Antonopoulos and Harding, 2023).
Segregated witness does not make every transaction immune. A transaction that spends an old-style output still has its signature script in the txid, and a transaction can still be replaced by a conflicting one that spends the same inputs, which is a different matter from malleability, since it has different outputs or a different meaning. The wtxid, in turn, can still change with the witness. And the TIP of the book is still true for the careful programmer: use the transaction's confirmation, not only its identifier, to know that a payment was made.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the block's fields is knowing how the chain is held together. Each block names its parent by the hash of its header, so changing anything in a block changes its hash and breaks the link to the next. The header also commits to the transactions through the Merkle root, to the work that was spent through the target and the nonce, and to the time through the timestamp. The book says of the fields of the answer that some are used for security and proof of work: merkle root, nonce, bits, difficulty and chainwork (Antonopoulos and Harding, 2023).
The reader meets the group in the answer of the block command for block 123456 in the book: its hash, 13 transactions, a height, the number of confirmations, the version, the Merkle root, the time, the median time, the nonce, the bits, the difficulty, the chain work, the sizes and the list of transaction identifiers (Antonopoulos and Harding, 2023). The evidence of this version confirms the hash of this block from its header, its Merkle root from its 13 identifiers, and its difficulty from its bits, using the public data of an explorer (Blockstream, 2026).
Concepts in this section: Block height, Block hash, Block header, Block weight, Merkle root, Block subsidy, Compact target (bits), Difficulty,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Heights give people a convenient name for a block, because they are short and ordered. A hash identifies a block without doubt, but it cannot be read or ordered; a height can be said aloud and compared. The book says that blocks can be referenced either by their height or by their hash, and the first command of the exploration, getblockhash, takes a height and returns the block header hash (Antonopoulos and Harding, 2023). The consensus rules also use heights: they decide when the reward is halved and when an upgrade becomes active.
Height 0 is the first block and not the second, so the number of blocks in a chain is its height plus one. A height is also not a proof: the same height names different blocks on different chains, and BIP 34 made the height a part of the coinbase of each block precisely so that it is unambiguous (Andresen, 2012). The height of the tip changes every ten minutes or so, and any figure quoted in the book, such as the assumption that the node is at least at block 775,072, is a snapshot of that day (Antonopoulos and Harding, 2023).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hash stands for the entire block, because the header contains the Merkle root of the transactions, and the next block's header contains this hash as the previous block hash. Anyone who knows the hash of the latest block can in principle check the whole chain behind it. The book says that the hash identifies a block uniquely and unambiguously and can be independently derived by any node by hashing the header (Antonopoulos and Harding, 2023).
A hash is not an authority. It tells which block is meant, not whether the block is valid or part of the best chain; a block with a very small hash can still be invalid because of a transaction in it. The display order differs from the order used in computation, and a program that forgets to reverse the bytes gets a different value. And the explorer's data used here are a secondary source: the check confirms that the explorer's fields are consistent with each other, which is what the hash promises, not that the explorer is honest about the chain.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is small on purpose. Because it commits to everything else, a program that holds only the headers can follow the chain and its work without the transactions. This is what the node in the book does when it starts: it first fetches the block headers from its peers to find the blockchain with the most proof of work, and afterward continues to download the full blocks (Antonopoulos and Harding, 2023). Nakamoto's paper made the same point about lighter programs: a user needs to keep only a copy of the block headers of the longest proof-of-work chain (Nakamoto, 2008).
The version field no longer means a version. The book's table says it was originally a version field and its use has evolved; the upgrade mechanism of BIP 9 uses its bits to signal readiness, as the soft fork concept explains (Antonopoulos and Harding, 2023) (Wuille et al., 2015). The header's time is set by the miner and is only roughly right. And the header does not contain the number of transactions, the block's height or its hash, which are all derived.
---
The limit decides how many transactions a block can hold, and so how much the network can do in ten minutes. It replaced the earlier limit of 1,000,000 bytes of total size with a combined measure, so that witness data, which is cheaper to verify and does not burden the set of unspent outputs, is charged less (Lombrozo et al., 2015). The limit is also a constant in the source: the maximum block weight is 4,000,000, and the witness scale factor is 4 (Bitcoin Core, 2026).
Weight is not the same as size and the two should not be mixed. A tool that reports a block size in bytes and one that reports it in virtual bytes give different numbers for the same block, and a reader who compares them with the limit of 4,000,000 must use the weight. The limit is also a rule for miners, not for relay nodes, which means that a block over the limit is invalid, whereas a transaction is only rejected by policy before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makes the header a commitment to the contents. Changing, adding, removing or reordering any transaction changes the root, which changes the header and so the block hash, and the proof of work would have to be redone. It also allows a short proof of membership: to show that one transaction is in a block, one needs only the hashes along the path from the transaction to the root, not the whole block, a property that Nakamoto's paper describes when it explains how payments can be verified without running a full node (Nakamoto, 2008).
The rule of duplicating the last element has a known weakness: two different lists of transactions can give the same root if the later one repeats the last transaction, and for this reason a node must check a block's transactions for duplication in addition to the root. The root is also computed from txids, not wtxids, so it does not commit to the witnesses; the second tree of BIP 141 does (Lombrozo et al., 2015). And a root is not evidence of validity: it proves only that the listed transactions are those that the miner hashed.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is what makes the supply of bitcoin finite and predictable. The amounts are counted in satoshis, 100,000,000 to a bitcoin, so each shift right halves an integer; the sum of all the subsidies over the 64 possible periods is 2,099,999,997,690,000 satoshis, which is slightly below 21 million bitcoins by 2,310,000 satoshis, because of the rounding in the shifts, as the worked checks of this branch compute (Bitcoin Core, 2026). The consensus constant for the maximum amount of money is 21,000,000 times the number of satoshis in a bitcoin (Bitcoin Core, 2026).
The book's text mentions a reward of 25 BTC and 0.0909 BTC in fees for the block of its example, and the total of 10,322.07722534 BTC. Neither matches block 775072: its reward is 6.25 BTC, its fees are 0.08799108 BTC, and the sum of all its outputs is 5,863.00566521 BTC, so the printed result does not belong to that block, and a student who compares with an explorer, as the book suggests, will find the difference (Antonopoulos and Harding, 2023) (Blockstream, 2026). 25 BTC was the reward for blocks 420,000 to 629,999. The error shows why printed numbers should be checked.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bytes were enough because the target needs only a few digits of precision: it changes in small steps, and the lower digits would not matter. A compact form keeps the header at 80 bytes. The chain information of the current release shows both the compact form, in the field bits, and the target in full, which the book's printout of 2023 does not have (Bitcoin Core, 2026). The form also has a sign bit, a legacy of the number type it was borrowed from, which Bitcoin Core rejects as a target when it is set.
Because only three bytes of the target are kept, the true target that the hash is compared with is the decoded one, not the one the retargeting formula first computed, and a table of difficulties from a program that uses the full-precision number can differ by a tiny amount from one that uses bits. A second caution is the sign bit: the code reduces the mantissa and raises the size if the top bit of the three bytes is set, so values such as 0x1d00ffff and not 0x1d0100.. are seen in practice. And the header's field is named bits in the answer but target in the book's table (Antonopoulos and Harding, 2023)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keeps the time between blocks near ten minutes by changing the difficulty. The consensus parameters give a target spacing of 10 minutes and a target timespan of two weeks, which is 2016 blocks; after every 2016 blocks the target is multiplied by the time the last 2016 blocks actually took and divided by two weeks, and the change in one step is limited to a factor of four in either direction (Bitcoin Core, 2026). The book says that every node retargets independently, every 2,016 blocks, and notes a small bias of 0.05 percent toward higher difficulty because the calculation uses 2,015 intervals (Antonopoulos and Harding, 2023).
Difficulty is a result and not a setting that anyone chooses: it follows the hash rate of miners with a delay of up to two weeks, so a sudden fall in mining power slows blocks until the next adjustment. It is also relative: a difficulty of 157,416 at one time and one of 53,911,173,001,054 at another, the figure printed in the book's cookie example, say how the work grew, not how much work either was (Antonopoulos and Harding, 2023). A change in a test network may follow different rules, since the parameters allow a minimum-difficulty exception there (Bitcoin Core, 2026).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timestamps in headers are set by the miners, who have some latitude, and the book explains the danger: a miner could set the time in the future to lower the difficulty, or in the past to make it look as if blocks were slow, or to collect the fees of transactions with time locks that have not matured (Antonopoulos and Harding, 2023). The median of eleven blocks is hard for one miner to move; BIP 113 made it the time that the checks on time locks use, so that the incentive to lie disappears (Kerin and Friedenbach, 2015).
The book describes the field as the median time of the 11 blocks that precede the block, but the code includes the block itself. The eleven blocks that precede block 123456 are blocks 123445 to 123455, whose median is 1305195947, not the 1305197900 that the node prints, so the sentence of the chapter is slightly off, and the median of the chapter on mining is the one that the field shows (Antonopoulos and Harding, 2023) (Bitcoin Core, 2026). Timestamps are also not required to increase from block to block, only to exceed the median, so a sorted list of times can differ from the order of blocks.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blockchain is not a single list but a tree, since two miners may find blocks at about the same time. The rule that resolves the tree is simple, and everything a user can trust depends on it. The book says that by selecting the greatest-cumulative-work valid chain all nodes eventually achieve network-wide consensus, and that temporary discrepancies between chains are resolved as more work is added (Antonopoulos and Harding, 2023). The concepts of this group make that rule precise.
The group shows in the answers of the node: the chain work in the chain information and in the block data, the confirmations in the block data and the transaction data, and the reorganization only when the best chain changes, an event that the log records. The book's tip about transaction IDs refers to it, since a txid can change only if a reorganization removes the block that holds the transaction (Antonopoulos and Harding, 2023).
Concepts in this section: Best chain, Chain work, Confirmation, Chain reorganization,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such a rule nodes would not agree, and without agreement there would be no single record of who owns what. Because blocks are found by a random process, two miners sometimes find a block at nearly the same time, and the chain forks: the glossary of the book describes this accidental fork as the situation when two or more blocks have the same height (Antonopoulos and Harding, 2023). The rule tells every node which branch to follow, and as the next block is found on one of them, that branch gains work and the other is abandoned.
The best chain is a local judgment that nodes make with the same rule, not an announcement. At any moment two honest nodes can briefly hold different tips, and a payment in a block at the tip is not final. The longest-chain wording of the paper is a shorthand that was precise in a time when every block had the same difficulty, and the more exact wording is the one with the most work. Also, the rule applies only to valid blocks, and a chain with more work that contains an invalid block is not the best chain.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quantity that nodes compare to choose the best chain. The source of Bitcoin Core stores it in the index entry of each block, described as the total amount of work, the expected number of hashes, in the chain up to and including that block (Bitcoin Core, 2026). Because it adds numbers that depend only on the targets in the headers, it is the same in every node, and a node can compute the work of a chain from its headers alone, before having any transactions, which is why the node of the book fetches headers first (Antonopoulos and Harding, 2023).
The chain work counts expected work and not work actually done: the miner of a block may have been lucky or unlucky. It is also not a measure of the value of the chain, only of its cost to reproduce. The number is large and is shown in hexadecimal with leading zeros, which makes it easy to misread; a comparison of two such strings is a comparison of numbers with the same number of digits. And it is a quantity that the node computes itself from the headers, so it is not something that a peer tells it.
---
Confirmations are how a user decides when a payment is safe enough. A transaction in the mempool has none and can be replaced or dropped; one in a block at the tip has one and can still be undone by a reorganization; with each block on top, undoing it needs more work. The glossary says that six or more confirmations is considered sufficient proof that a transaction cannot be reversed, and the book's tip says that reorganizations are rare after a transaction has several confirmations (Antonopoulos and Harding, 2023). How many are enough depends on the value.
A confirmation is a count, not a guarantee; its meaning grows with the work of the blocks, and a confirmation in a low-difficulty chain is worth less. The conventional six is a convention of the book and of its era, not a rule of the protocol, and a large payment may warrant waiting for more. Another trap is that different programs count differently: some start from zero for a transaction in the tip block, while Bitcoin Core counts that block as the first confirmation (Bitcoin Core,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Reorganizations are the mechanism by which the network resolves forks without any authority. They matter to a user because they are the only way in which a confirmed transaction can become unconfirmed. The book's tip says the txid of a confirmed transaction cannot change unless there is a reorganization that removes the block from the best chain, and that such reorganizations are rare after a transaction has several confirmations (Antonopoulos and Harding, 2023). Most reorganizations are only one block deep.
A reorganization does not undo a payment by itself: the transaction usually returns to the pool and is confirmed again in a later block, unless it conflicts with a transaction in the new chain, for instance one that spent the same output. The dangerous case is a double spend, in which the sender pays twice and tries to make the second payment win, and this is the attack that the number of confirmations guards against. A last caution is the scale: after an attack, a deeper reorganization needs more work than the honest network, and the argument depends on no single party controlling most of it (Nakamoto, 2008).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Forks are how a distributed network without a central clock behaves, and they are resolved by the rule that a node follows the branch with the most proof of work. The shorter branch is abandoned, its blocks become stale, and the transactions in them return to the pool, which is what a reorganization does. Understanding the accidental fork is what makes the advice about waiting for confirmations sensible, since the block that ends a payment's journey is safe only when a branch has grown on top of it.
Not every split is a fork of the chain. Two nodes can disagree for a moment about the tip because a block has not reached one of them yet, and this is normal, not a fork. And a software fork, in which somebody copies the code and changes it, creates a new program but not a new chain unless its rules are incompatible with the old ones and someone runs it on the same network.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only as trustworthy as the software it runs, because the node is the thing that checks the rules on the owner's behalf. If the program has been altered on its way to the computer, every answer it gives is worthless, however carefully the owner reads the output. The branch therefore treats the download as the first link of the chain of verification, before the first block is validated, and treats the choice of a library as a decision that can be examined with data rather than with taste.
The evidence for this branch comes from the real release 31.1 of Bitcoin Core: the file of checksums that the project publishes next to its programs, the file of signatures on it, and the documentation of the project's own tools for checking them (Bitcoin Core, 2026). The second kind of evidence is the data of the package registries on the toolkits that the book lists, which were queried on the day this chapter was prepared (Package registries, 2026). Both are saved in the repository of the course, so that the statements of the branch can be recomputed instead of 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checking and trusting is the course's theme in miniature. The documentation of the build tooling of Bitcoin Core puts it as the wish to audit and reproduce the toolchain instead of blindly trusting binary downloads (Bitcoin Core, 2026). A reader who has taken this chapter's own advice and runs a node has made the same choice for the data: instead of trusting a block explorer, the reader verifies the chain. Assurance extends the choice to the software that does the verifying, and it also shows where the choice ends, since some trust always remains and the useful question is which trust is left.
None of the results of this group is a proof of safety. A matching checksum shows that two files are the same, not that either is harmless, and a good signature shows that a key signed, not who holds the key. A recent release in a registry shows activity, not quality. The concepts below state the limit of each check next to the check.
Concepts in this section: Release verification, Checksum, OpenPGP signature, Reproducible build, Package registry, Alternative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downloaded program runs with the rights of the person who starts it, so a file that was altered on the way is the most direct way to compromise a node. The documentation of the project explains that, as of version 22.0, releases are signed by a number of public keys on the basis of the signature repository, that the end user decides which of these keys to trust, and that the downloaded programs are then hashed and compared to the signed list of checksums (Bitcoin Core, 2026). The user, and not the web site that hosts the file, is the party who decides whom to believe, which is why the check protects against a web site or a mirror that has been tampered with.
The check has a limit that the saved evidence states itself: the keys used for the 11 good signatures came from the signature repository of the project and not from an independent source, so the result shows consistency and does not establish trust in the keys. A careful user obtains the keys of people they have reason to trust by a different path from the one that delivered the file, and then insists on a threshold. A matching checksum alone, from the same web page as the file, would prove only that the page is consistent with itself. The check also says nothing about whether the software has bugs, only that it is the software the builders produced.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checksum makes comparison cheap. Two files of ninety million bytes cannot be compared by looking at them, and sending one to a person who holds the other would be as costly as downloading it again, but their two digests of 64 characters can be compared in a moment, in a message or on a page. The same standard states the property that makes this useful: any change to a message in transit will, with very high probability, result in a different message digest (Eastlake and Hansen, 2011). A flipped bit in a bad download is therefore detected as surely as a deliberate change.
A checksum detects change; it does not say who made the file. If an attacker can replace the file, the attacker can replace the line of checksums that sits on the same server, and the check will pass. That is why the project signs the list of checksums, and why the signature, not the checksum, is what ties the list to people. The second thing to watch is the comparison: a checksum is compared as text, and a copy that changed a letter or lost a character will fail, while a glance at the first few characters is not a check at all, since the standard's guarantee holds for the whole value.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gives the checksum list an author. Without it the list is an assertion by whoever controls the web server, and with it the list is an assertion by a key, which the user can decide to trust or not. Several signatures on the same list add something more: a list that is signed by several independent builders is accepted only if each of them produced the same files, so that an attacker would have to compromise many of them. The documentation of the project describes this as a check based upon a plurality of signatures (Bitcoin Core, 2026).
A good signature from a key that was imported from the same place as the file proves little about authenticity, and the saved check of this chapter states this limit in its own output. Keys also expire or are revoked, and the specification of the format has fields and packets for both, so a signature by a revoked key should not be counted (Wouters et al., 2024). The third thing to watch is the difference between this signature and the one in a bitcoin transaction: both use public-key cryptography and both are called signatures, but the OpenPGP one follows a general file format, whereas the transaction signature is a part of the rules of the network and is checked by every node.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turns a download into something that can be verified from the source. If the release files could depend on the builder's machine, nobody could say whether a file differed from the source because of the machine or because of an attack. If they cannot, then a builder who rebuilds the release and obtains the same checksums as the project has confirmed that the published files correspond to the published source, and the more builders do it, the harder it is for any single one of them to be tricked or bribed.
Reproducibility is evidence about the build and not about the source: the builders confirm that the binary matches the source, and they do not read the source for bugs. The check also depends on the keys: if the keys of the builders are not independent of the project, the attestations are weaker than they appear. Finally, a reproducible build is expensive to do, and most users will not do it; they rely on the signatures of the few that do, which is a delegation of trust, though one that can be checked by any user who is willing to spend the time.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is the place to look when choosing a library, because it holds the facts that a list in a book cannot keep up to date. The book's list was written at one moment, and the registry shows what has happened since: whether the library still publishes releases, how recent the latest one is, and which version a new project would get by default. A query to a registry is a computation on public data, which can be repeated by anybody, and it replaces an impression such as the library seems abandoned with a date.
The date of a registry entry is the date of the registry's record and may differ from the date of the work: the NuGet listing used here gives only the list of versions, so the entry for NBitcoin has the latest version 10.0.14 and no date, and the chapter makes no claim about its age. A recent release also does not mean that a library is correct, secure or maintained for the use the reader has in mind. The registries themselves are trusted intermediaries, and an install from a registry is an act of trust of the same kind as the download of a release, though without the signatures the Bitcoin Core project provides.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toolkit saves the programmer from writing the serialization, the hashing and the signing again. The wrapper library of the interface branch is one kind; the others on the list do more, such as building and signing transactions without a node. The choice among them matters because a bug in the code that serializes a transaction or computes a hash is a bug in the money handling of the program, and because a toolkit that no longer follows the rules of the network will fail at some upgrade.
Three limits apply to the figures. The registry shows the packages that carry a name, and the book's names of the projects do not always match the package names: BitcoinJS appears here as bitcoinjs-lib and Bitcore as bitcore-lib, and the choice of the package is the author's. The data are from one day, and the figures for age will be different when the query is repeated. And the book's list is a list of existing libraries and not a recommendation; the book itself says only that it lists some of the best libraries, clients and toolkits (Antonopoulos and Harding, 2023).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reader who has run a node knows why the node's answer is worth trusting: it is the answer of a program that verified the data itself. Chapter 2 introduced the provenance graph for describing where data came from, and the node is the clearest case of a source whose provenance can be stated in a sentence. The branch states it, and also shows how the JSON that the node returns can be turned into linked data by adding a context, which is a small step that makes the same text interpretable by programs that know nothing about Bitcoin.
The branch is met in the examples of this chapter, where the node's answers to the block and transaction commands are JSON texts whose keys the reader has to interpret. The standards involved are the JSON-LD 1.1 recommendation of the World Wide Web Consortium for the format and the same consortium's PROV ontology for provenance, and both were read for this chapter (World Wide Web Consortium, 2020) (Lebo et al.,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identifiers are what lets data from different sources be combined without guessing. The specification of JSON-LD explains the problem with plain names: tokens such as name and homepage are ambiguous, and the solution is to use IRIs for unambiguous identification, so that developers do not accidentally step on each other's terms (World Wide Web Consortium, 2020). The same argument applies to the Bitcoin data: the word hash in one program's output may mean the hash of a block and in another's the hash of a transaction including its witness, as the chapter's own transaction decoding showed.
Linked data does not make data true. It makes data interpretable, and what a statement says about the world is still up to the source of the statement. For Bitcoin, the truth of a statement about a block comes from the verification the node performed, not from the identifiers used to publish it, and that is why the verified data concept is placed in this group beside the technical ones.
Concepts in this section: Verified data, JSON-LD context, 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property can be described in the vocabulary of provenance. The PROV ontology of the World Wide Web Consortium provides classes for representing and exchanging information about how data was produced (Lebo et al., 2013). It describes an entity as a thing, physical, digital or conceptual, an activity as something that occurs over a period of time and acts upon or with entities, and an agent as something that bears some form of responsibility for an activity taking place (Lebo et al., 2013). In these terms the answer of a node is an entity that was generated by an activity, the verification, and attributed to an agent, the node that the reader runs.
Verified data is authoritative only for the party who verified it, and only to the extent of the node's software and its keeping of the data. A node that was altered, as the assurance group warned, would verify nothing. Verified data also does not travel: if the reader copies the node's answer into a document, the document's readers see only a number, and the provenance has to be added deliberately, for example with the vocabulary above, to tell them where the number came from.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 lets the same document be read by a person as ordinary JSON and by a program as linked data. The specification gives the reason in a short phrase: the terms should expand to IRIs so that developers do not accidentally step on each other's terms (World Wide Web Consortium, 2020). For the data of a Bitcoin node this solves the ambiguity of names. The field hash of a block and the field hash of a decoded transaction are both called hash, and a context for each document can map the same key to different identifiers, so that a program combining the two sees that they are different properties.
Adding a context does not check anything. A context that maps height to an identifier for a different meaning would still be a valid context, so the quality of the vocabulary behind the identifiers is what matters, and a vocabulary of Bitcoin terms that the community has agreed on is not something this chapter relies on. The identifiers in the worked example are invented for the example and point to nothing. A context is also written against a particular set of keys, so it has to be revisited if the keys of the answer are renamed.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is the foundation of linking: two documents can only be about the same thing if they use the same name for it. The specification says that IRIs are a fundamental concept of Linked Data, and that for nodes to be truly linked, dereferencing the identifier should result in a representation of that node (World Wide Web Consortium, 2020). Dereferencing means using the identifier to fetch something, so an IRI can serve at once as a name and as the address of a page that tells what the name means.
An IRI looks like a web address but need not lead anywhere, and the worked example's identifiers do not. Two IRIs that differ in one character name different things, so the capitalization and the final slash or fragment have to be exactly the same in every document that uses the identifier. A well-formed IRI is also not a promise that the thing is well defined: the quality of the definition is a matter of the people who maintain the vocabulary.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vocabulary the commands and logs of the chapter are noise: a log that says the signature cache has 16 MiB and the server was started with worker threads means nothing to a reader for whom a mebibyte, a cache and a thread are undefined. With it, each line of the output becomes a small fact that can be checked, and the reader can see why the project chose, say, a fixed number of bytes for a cookie or a database for the set of unspent outputs. The branch is deliberately plain, and each concept is tied to a line or a file of the chapter's own evidence.
The concepts are met in the start-up log, in the data directory, in the documentation of the build and in the source code that the chapter asks the reader to read. The branch has two groups. The first, representation, explains how information is written down: as bytes, as shifted bits, as a time, as a random value and in the Base64 text form. The second, systems, explains the places where programs run and meet each other: files and directories, processes, libraries, databases, platforms, network protocols and software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apparent puzzles in the chapter are only questions of representation. Why does the hash of a block, printed by the node, look reversed compared with the bytes that were hashed? Why is the halving of the subsidy a shift and not a division? Why does the cookie file hold 64 characters when the cookie is 32 bytes? In each case the answer is that the same information has two representations, and that a program converts between them at a known point. A reader who sees this stops being confused by the conversions and can check them.
A representation is not the information. The text 1a6a93b3 and the four bytes it stands for are the same value, but a program that compares text with bytes will find them different, and a number written with its bytes in the other order is a different number. The concepts of the group therefore state, next to each representation, the rule for converting it and a computation that shows the conversion.
Concepts in this section: Bit and byte, Bit shift, Unix time, Random number, Base64.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in Bitcoin are given in bytes, and the chapter's figures only make sense when the unit is clear. A block header is 80 bytes, a hash is 32 bytes, which is 64 hexadecimal digits, a cookie is 32 random bytes, and the chapter's examples talk about caches of 16 MiB and a pruning target of 550 MiB. The size of a transaction in bytes decides how much of a block it takes, and the cost of running a node is counted in the bytes it stores and transfers, so a reader needs to move between the units easily.
Two confusions are frequent. A bit and a byte are different units, and a link speed given in bits per second must be divided by eight to give bytes. And a mebibyte is not a megabyte, so a figure in one unit must not be compared with a limit in the other without converting it; the download page of Bitcoin Core speaks of gigabytes, and the log speaks of mebibytes, so the reader should not expect the figures to match exactly.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Bitcoin's rules use shifts where one would otherwise write a division or a power. The function that computes the block subsidy starts from 50 coins and shifts the amount right by the number of halvings, and it first returns zero if the number of halvings is 64 or more, because the shift would then be undefined (Bitcoin Core, 2026). The compact form of the target in a block header multiplies a three-byte number by a power of 256, which is a shift left by a whole number of bytes. BIP 9 shifts a block's version right by 29 bits to see whether its top three bits are 001 (Wuille et al., 2015).
Shifts on integers of limited size have limits. The comment in the source says that the explicit check, which returns zero for 64 or more halvings, exists to force the block reward to zero when the right shift is undefined (Bitcoin Core, 2026). A shift whose result is undefined is a hazard of fixed-size integers, and the authors guard against it with a check. The python integers of the worked examples have no fixed size, so the examples of this chapter do not meet that limit, and the reader should not assume that every language behaves in the same way.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number is easy to store, compare and calculate with. The consensus rules compare times of blocks with other times, such as the median time past of the previous blocks, and BIP 9 measures the start and the timeout of a deployment in the same unit (Wuille et al., 2015). A time in the header takes only four bytes, which is the reason the format was chosen, and the node can use ordinary integer comparison to enforce the rules about it.
The time of a block is a claim by the miner and not a measurement. The header of block 123456 has a time that is 2,906 seconds later than the median time past of its predecessors, and both numbers are correct for their purposes. A student who reads the time of a block as the exact moment of its creation will be wrong by minutes, and a student who forgets that a 4-byte unsigned number ends in February 2106 will misjudge how long the field can serve.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secret in the chapter is a random number whose strength is its length. The cookie is 32 random bytes, which is 256 bits, and the salt of a stored credential is 16 random bytes. If the source were predictable, the attacker could compute the secret instead of guessing it, and the interface, which has the power to spend from a wallet, would be open. Randomness is therefore a security matter, and the log of the node reports where it gets it.
A value that merely looks random, such as the output of a deterministic generator started from a known number, is not secure. The cookie or the salt must come from the secure source, and reusing the same value for two purposes would defeat it. Another trap is the length: a short random value is easy to guess even if the source is perfect, which is why the project chose 32 bytes for the cookie.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carriers of data, such as the headers of a web request, can hold only text. Base64 lets a program put arbitrary bytes into such a carrier. The Basic authentication scheme of HTTP, which Bitcoin Core accepts for its interface, transmits credentials as a user and a password separated by a colon, encoded using Base64 (Reschke, 2015).
The most common mistake is to treat the encoded text as protected. The standard of the Basic scheme itself warns that it is not secure on its own and should be used with a secure system, since the user and the password are passed over the network as cleartext (Reschke, 2015). For Bitcoin Core this is the reason the project advises against exposing the interface over the public Internet, and the reason a cookie or a hashed credential is kept in a file with restricted access.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is a large program, and the chapter shows a reader how to build it, run it and talk to it. Each of those activities touches one of the concepts of this group, and a reader who can name them can read the documentation of the project, for example the file that lists what the data directory contains or the notes on what each platform needs. The group also helps with the final part of the chapter, where the choice of a library or a node implementation depends on the language and the platform.
These are general concepts, and the explanations here only go as far as the chapter needs. A reader who wants more about operating systems or databases will find that each concept is the subject of a large field; the aim here is to be precise about the facts the chapter rests on.
Concepts in this section: File and directory, Process and thread, Software library, Database, Platform, Network protocol, Software testing, Programming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everything that Bitcoin Core keeps is a file in a directory, and the documentation of the project describes the layout. The data directory of the node holds the blocks, the chain state, the log, the configuration file and the cookie, and the reader must know which of them can be deleted, which must be backed up and which must be protected from other users. A path is also how the node is told where to put its data, with an option that names a directory.
A path is relative or absolute, and a relative path depends on the directory the program was started in, which is a common cause of a program not finding its configuration. The project's documentation gives a different default location of the data directory for each of the three common systems, so a path that works on one machine is not a path that works on another.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explains several facts about a running node. The daemon of the chapter is a single process that runs for days. Within it, the log of the book says that script verification uses 3 additional threads and that the interface started 4 worker threads, while the current log reports 16 worker threads, so that the node can check signatures and answer requests in parallel (Antonopoulos and Harding, 2023) (Bitcoin Core, 2026). The project's documentation presents the split of the program into several processes as a gain in isolation (Bitcoin Core, 2026).
A thread does not make a program faster in every case, and more threads use more memory. For a reader the practical rule is that the number of threads, like the cache sizes, is a setting with a default, and the default of one release is not the default of another, as the two logs, with 4 and 16 worker threads, show.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Libraries make large programs possible and are also a source of risk. The build notes of Bitcoin Core list the libraries that must be installed before a build, such as the Boost libraries for general C++ code, SQLite for the wallet, ZeroMQ for messaging and Cap'n Proto for communication between processes (Bitcoin Core, 2026). Each of them is code that the project did not write and that guards money all the same, which is why the project documents its dependencies and offers a way to build them from source.
A library is trusted by the program that uses it. A flaw in a library affects every program that includes it, and a library that is no longer maintained, like the toolkits that the registry data of the ecosystem branch shows to be old, can fail when the rules of the network change. The reader should therefore ask of a library, as of a program, where it comes from and who looks after it.
---
A node must look up the unspent output that a new transaction spends, without reading the whole chain, and must do so for every input of every transaction. A database makes this lookup quick and, as SQLite's own summary of its features puts it, offers ACID transactions, even after power loss (SQLite, 2026). The same need arises for a wallet, which keeps keys, descriptors and transactions that it must never lose.
A database is not the chain. The chain state is derived from the blocks, and the help text of the node describes the option -reindex-chainstate as wiping the chain state and rebuilding it from the block files on disk (Bitcoin Core, 2026). Also, the word transaction means two different things in this chapter, a transfer of bitcoin and an atomic change of a database, and the two must not be mixed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has to choose the right file, and the builder has to build one for each. The names combine, by their form, the processor family at the start with the operating system after it: x86_64-linux-gnu names the x86_64 family with Linux, arm64-apple-darwin the arm64 family with the system of Apple's computers, whose name in the book is macOS, and win64 names Windows on a 64-bit processor. The download for the wrong platform will not run, and the checksum list is organised by these names so that a user can find the line for the file they have.
The word platform is used loosely. In the first chapter it was used for kinds of wallet, such as desktop and mobile, and here it means the processor and the operating system. A program built for a platform may depend on features of the operating system, such as the way it handles files or the network, which is one more reason to test on each of them.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protocols decide who can talk to the node and how. The interface of the chapter uses JSON-RPC messages carried by HTTP, and the specification of JSON-RPC says that it is independent of the transport, so that the same messages may travel within a process, over sockets or over HTTP (JSON-RPC Working Group, 2013). The network of nodes uses its own protocol, whose spreading of data chapter 2 described as gossiping, and the network information of a node reports a protocol version, 70016 in the book's example (Antonopoulos and Harding, 2023).
A protocol says nothing about trust. HTTP in the form used here sends the credentials as cleartext, so the interface should not be reached over an open network, and the evidence node bound the interface to 127.0.0.1, which is why the chapter treats opening the port to the network as the largest risk. Two programs that speak the same protocol may also differ in the version they support, as the protocol version in the network information shows.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itself gives the reason: testing and code review is the bottleneck for development, and this is a security-critical project where any mistake might cost people lots of money (Bitcoin Core, 2026). The software holds no money itself, but it decides which transactions are valid, and a bug in the rules could split the network or let a transaction through that should be refused. For a reader, the tests are also a source of runnable examples of the behaviour that the chapter describes.
Passing tests do not prove that a program is correct; they show that it behaves as expected on the cases that someone thought of. The project's own statement that review is the bottleneck acknowledges that tests and review complement each other. A reader who relies on a release should also remember that the release was tested on the platforms of the project's continuous integration, and not necessarily on the reader's own.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of language shapes what a program can do and what its authors have to take care of. The files of Bitcoin Core's source tree that the chapter reads have the ending cpp or h, such as validation.cpp and pow.cpp, which is the C++ in which the node is written, and the build notes warn that C++ compilers are memory-hungry (Bitcoin Core, 2026). Python appears where convenience matters more than speed: the project's README says that its regression and integration tests are written in Python, and the helper script for credentials, rpcauth.py, is a python program (Bitcoin Core, 2026).
A language is not a library and not a platform, although the three are often mentioned together. Knowing the language of a toolkit does not tell the reader whether the toolkit is maintained or correct, which is a question for the package registry and the project, as the ecosystem branch shows. And the same idea looks different in each language: the shift, the byte and the hash of the earlier concepts exist in all of them, but their spelling and limits differ, so a result computed in python is a statement about the rule and not about how another language would write it.
Source: Mastering Bitcoin, 3rd edition, chapter 3, Bitcoin Core: The Reference Implementation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competency questions: ask the room to answer one of them out loud before you move to the questions. A recap is the moment to name what was NOT covered as well: every concept on these slides is explained in the chapter's interactive page in more depth than a lecture can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competency questions: ask the room to answer one of them out loud before you move to the questions. A recap is the moment to name what was NOT covered as well: every concept on these slides is explained in the chapter's interactive page in more depth than a lecture can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page carries the same three prompts, so a student who prepared can lead. Give each prompt three minutes and take two answers; do not let the first answer settle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 - The group names the program that checks the rules, the model program, the documents that record the rules and the soft fork that changes them.  (2) B - A user who relies on someone else's server has to trust that server, while a full node verifies everything itself and the rules are public.  (3) B - The book defines the property: nodes with the change must not accept blocks that nodes without it would consider invalid.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(4) C - The book states that Nakamoto withdrew from the public in April 2011, leaving development to a group of volunteers.  (5) C - The group says that its figures are orders of magnitude that change from year to year.  (6) D - The book says the node first fetches the headers from peers to find the chain with the most proof of work, then downloads and validates the full blocks.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(7) A - A pruned node still verifies, but it deleted old blocks and so cannot serve them to other nodes.  (8) D - A node does not need to search the history: it needs to know whether each output being spent is in the set, which is much smaller than the chain.  (9) A - The commands belong to a build system that was replaced in release 29.0, and the current tree has a top-level CMakeLists.txt and no autogen.sh.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03-materials/ch03/rdodi/sen0401_ch03_research_v1_1_0.ttl.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03-materials/ch03/rdodi/sen0401_ch03_research_v1_1_0.ttl.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03-materials/ch03/rdodi/sen0401_ch03_research_v1_1_0.ttl.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03-materials/ch03/rdodi/sen0401_ch03_research_v1_1_0.ttl.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chapter page once more: it holds the same taxonomy, the same worked examples in a playground the student can edit, and the question bank these questions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25880"/>
            <a:ext cx="228600" cy="0"/>
          </a:xfrm>
          <a:prstGeom prst="line">
            <a:avLst/>
          </a:prstGeom>
          <a:noFill/>
          <a:ln w="19050">
            <a:solidFill>
              <a:srgbClr val="F7931A"/>
            </a:solidFill>
            <a:prstDash val="solid"/>
          </a:ln>
        </p:spPr>
      </p:sp>
      <p:sp>
        <p:nvSpPr>
          <p:cNvPr id="4" name="Shape 2"/>
          <p:cNvSpPr/>
          <p:nvPr/>
        </p:nvSpPr>
        <p:spPr>
          <a:xfrm>
            <a:off x="1508760" y="96012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25880"/>
            <a:ext cx="228600" cy="0"/>
          </a:xfrm>
          <a:prstGeom prst="line">
            <a:avLst/>
          </a:prstGeom>
          <a:noFill/>
          <a:ln w="19050">
            <a:solidFill>
              <a:srgbClr val="F7931A"/>
            </a:solidFill>
            <a:prstDash val="solid"/>
          </a:ln>
        </p:spPr>
      </p:sp>
      <p:sp>
        <p:nvSpPr>
          <p:cNvPr id="6" name="Shape 4"/>
          <p:cNvSpPr/>
          <p:nvPr/>
        </p:nvSpPr>
        <p:spPr>
          <a:xfrm>
            <a:off x="2468880" y="96012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Building, configuring and questioning the reference node - checked against release 31.1</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this chapter covers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90 concepts, in 8 branches</a:t>
            </a:r>
            <a:endParaRPr lang="en-US" sz="1300" dirty="0"/>
          </a:p>
        </p:txBody>
      </p:sp>
      <p:sp>
        <p:nvSpPr>
          <p:cNvPr id="6" name="Text 4"/>
          <p:cNvSpPr txBox="1"/>
          <p:nvPr/>
        </p:nvSpPr>
        <p:spPr>
          <a:xfrm>
            <a:off x="457200" y="1280160"/>
            <a:ext cx="8229600" cy="687324"/>
          </a:xfrm>
          <a:prstGeom prst="rect">
            <a:avLst/>
          </a:prstGeom>
          <a:noFill/>
          <a:ln/>
        </p:spPr>
        <p:txBody>
          <a:bodyPr wrap="square" lIns="0" tIns="0" rIns="0" bIns="0" rtlCol="0" anchor="t"/>
          <a:lstStyle/>
          <a:p>
            <a:pPr algn="l" indent="0" marL="0">
              <a:buNone/>
            </a:pPr>
            <a:r>
              <a:rPr lang="en-US" sz="1400" dirty="0">
                <a:solidFill>
                  <a:srgbClr val="1F2933"/>
                </a:solidFill>
                <a:latin typeface="Calibri" pitchFamily="34" charset="0"/>
                <a:ea typeface="Calibri" pitchFamily="34" charset="-122"/>
                <a:cs typeface="Calibri" pitchFamily="34" charset="-120"/>
              </a:rPr>
              <a:t>This document renews chapter 3 of the 3rd edition by running the real Bitcoin Core release 31.1 and reading its source, so that the book's commands, outputs and numbers are explained and checked against what the software does today.</a:t>
            </a:r>
            <a:endParaRPr lang="en-US" sz="1400" dirty="0"/>
          </a:p>
        </p:txBody>
      </p:sp>
      <p:sp>
        <p:nvSpPr>
          <p:cNvPr id="7" name="Shape 5"/>
          <p:cNvSpPr/>
          <p:nvPr/>
        </p:nvSpPr>
        <p:spPr>
          <a:xfrm>
            <a:off x="457200" y="2077212"/>
            <a:ext cx="1947672" cy="1219962"/>
          </a:xfrm>
          <a:prstGeom prst="roundRect">
            <a:avLst>
              <a:gd name="adj" fmla="val 5996"/>
            </a:avLst>
          </a:prstGeom>
          <a:solidFill>
            <a:srgbClr val="F7931A"/>
          </a:solidFill>
          <a:ln w="12700">
            <a:solidFill>
              <a:srgbClr val="F7931A"/>
            </a:solidFill>
            <a:prstDash val="solid"/>
          </a:ln>
        </p:spPr>
      </p:sp>
      <p:sp>
        <p:nvSpPr>
          <p:cNvPr id="8" name="Text 6"/>
          <p:cNvSpPr txBox="1"/>
          <p:nvPr/>
        </p:nvSpPr>
        <p:spPr>
          <a:xfrm>
            <a:off x="548640" y="2132076"/>
            <a:ext cx="1764792"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A node is a computer that runs Bitcoin software and takes part in the peer-to-peer network, and this first branch of the chapter is about the most…</a:t>
            </a:r>
            <a:endParaRPr lang="en-US" sz="1300" dirty="0"/>
          </a:p>
        </p:txBody>
      </p:sp>
      <p:sp>
        <p:nvSpPr>
          <p:cNvPr id="9" name="Shape 7"/>
          <p:cNvSpPr/>
          <p:nvPr/>
        </p:nvSpPr>
        <p:spPr>
          <a:xfrm>
            <a:off x="2551176" y="2077212"/>
            <a:ext cx="1947672" cy="1219962"/>
          </a:xfrm>
          <a:prstGeom prst="roundRect">
            <a:avLst>
              <a:gd name="adj" fmla="val 5996"/>
            </a:avLst>
          </a:prstGeom>
          <a:solidFill>
            <a:srgbClr val="F4F2EE"/>
          </a:solidFill>
          <a:ln w="12700">
            <a:solidFill>
              <a:srgbClr val="D9D4CC"/>
            </a:solidFill>
            <a:prstDash val="solid"/>
          </a:ln>
        </p:spPr>
      </p:sp>
      <p:sp>
        <p:nvSpPr>
          <p:cNvPr id="10" name="Text 8"/>
          <p:cNvSpPr txBox="1"/>
          <p:nvPr/>
        </p:nvSpPr>
        <p:spPr>
          <a:xfrm>
            <a:off x="2642616" y="2132076"/>
            <a:ext cx="1764792"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Build</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build branch is about turning the text of Bitcoin Core into a program that can run.</a:t>
            </a:r>
            <a:endParaRPr lang="en-US" sz="1300" dirty="0"/>
          </a:p>
        </p:txBody>
      </p:sp>
      <p:sp>
        <p:nvSpPr>
          <p:cNvPr id="11" name="Shape 9"/>
          <p:cNvSpPr/>
          <p:nvPr/>
        </p:nvSpPr>
        <p:spPr>
          <a:xfrm>
            <a:off x="4645152" y="2077212"/>
            <a:ext cx="1947672" cy="1219962"/>
          </a:xfrm>
          <a:prstGeom prst="roundRect">
            <a:avLst>
              <a:gd name="adj" fmla="val 5996"/>
            </a:avLst>
          </a:prstGeom>
          <a:solidFill>
            <a:srgbClr val="F7931A"/>
          </a:solidFill>
          <a:ln w="12700">
            <a:solidFill>
              <a:srgbClr val="F7931A"/>
            </a:solidFill>
            <a:prstDash val="solid"/>
          </a:ln>
        </p:spPr>
      </p:sp>
      <p:sp>
        <p:nvSpPr>
          <p:cNvPr id="12" name="Text 10"/>
          <p:cNvSpPr txBox="1"/>
          <p:nvPr/>
        </p:nvSpPr>
        <p:spPr>
          <a:xfrm>
            <a:off x="4736592" y="2132076"/>
            <a:ext cx="1764792"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Operation</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Operation is the second large part of the chapter, and it is about what happens after the software has been built or downloaded: how a node is started, how it is…</a:t>
            </a:r>
            <a:endParaRPr lang="en-US" sz="1300" dirty="0"/>
          </a:p>
        </p:txBody>
      </p:sp>
      <p:sp>
        <p:nvSpPr>
          <p:cNvPr id="13" name="Shape 11"/>
          <p:cNvSpPr/>
          <p:nvPr/>
        </p:nvSpPr>
        <p:spPr>
          <a:xfrm>
            <a:off x="6739128" y="2077212"/>
            <a:ext cx="1947672" cy="1219962"/>
          </a:xfrm>
          <a:prstGeom prst="roundRect">
            <a:avLst>
              <a:gd name="adj" fmla="val 5996"/>
            </a:avLst>
          </a:prstGeom>
          <a:solidFill>
            <a:srgbClr val="F4F2EE"/>
          </a:solidFill>
          <a:ln w="12700">
            <a:solidFill>
              <a:srgbClr val="D9D4CC"/>
            </a:solidFill>
            <a:prstDash val="solid"/>
          </a:ln>
        </p:spPr>
      </p:sp>
      <p:sp>
        <p:nvSpPr>
          <p:cNvPr id="14" name="Text 12"/>
          <p:cNvSpPr txBox="1"/>
          <p:nvPr/>
        </p:nvSpPr>
        <p:spPr>
          <a:xfrm>
            <a:off x="6830568" y="2132076"/>
            <a:ext cx="1764792"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Interface</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interface branch is about how other programs and people talk to a running node.</a:t>
            </a:r>
            <a:endParaRPr lang="en-US" sz="1300" dirty="0"/>
          </a:p>
        </p:txBody>
      </p:sp>
      <p:sp>
        <p:nvSpPr>
          <p:cNvPr id="15" name="Shape 13"/>
          <p:cNvSpPr/>
          <p:nvPr/>
        </p:nvSpPr>
        <p:spPr>
          <a:xfrm>
            <a:off x="457200" y="3425190"/>
            <a:ext cx="1947672" cy="1219962"/>
          </a:xfrm>
          <a:prstGeom prst="roundRect">
            <a:avLst>
              <a:gd name="adj" fmla="val 5996"/>
            </a:avLst>
          </a:prstGeom>
          <a:solidFill>
            <a:srgbClr val="F7931A"/>
          </a:solidFill>
          <a:ln w="12700">
            <a:solidFill>
              <a:srgbClr val="F7931A"/>
            </a:solidFill>
            <a:prstDash val="solid"/>
          </a:ln>
        </p:spPr>
      </p:sp>
      <p:sp>
        <p:nvSpPr>
          <p:cNvPr id="16" name="Text 14"/>
          <p:cNvSpPr txBox="1"/>
          <p:nvPr/>
        </p:nvSpPr>
        <p:spPr>
          <a:xfrm>
            <a:off x="548640" y="3480054"/>
            <a:ext cx="1764792"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The data branch is about what a node holds and what the interface shows of it: the transactions that move value, the blocks that gather them into the shared record, and…</a:t>
            </a:r>
            <a:endParaRPr lang="en-US" sz="1300" dirty="0"/>
          </a:p>
        </p:txBody>
      </p:sp>
      <p:sp>
        <p:nvSpPr>
          <p:cNvPr id="17" name="Shape 15"/>
          <p:cNvSpPr/>
          <p:nvPr/>
        </p:nvSpPr>
        <p:spPr>
          <a:xfrm>
            <a:off x="2551176" y="3425190"/>
            <a:ext cx="1947672" cy="1219962"/>
          </a:xfrm>
          <a:prstGeom prst="roundRect">
            <a:avLst>
              <a:gd name="adj" fmla="val 5996"/>
            </a:avLst>
          </a:prstGeom>
          <a:solidFill>
            <a:srgbClr val="F4F2EE"/>
          </a:solidFill>
          <a:ln w="12700">
            <a:solidFill>
              <a:srgbClr val="D9D4CC"/>
            </a:solidFill>
            <a:prstDash val="solid"/>
          </a:ln>
        </p:spPr>
      </p:sp>
      <p:sp>
        <p:nvSpPr>
          <p:cNvPr id="18" name="Text 16"/>
          <p:cNvSpPr txBox="1"/>
          <p:nvPr/>
        </p:nvSpPr>
        <p:spPr>
          <a:xfrm>
            <a:off x="2642616" y="3480054"/>
            <a:ext cx="1764792"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Ecosystem</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ecosystem branch is about the software around the reference implementation and about how a person can trust what they download.</a:t>
            </a:r>
            <a:endParaRPr lang="en-US" sz="1300" dirty="0"/>
          </a:p>
        </p:txBody>
      </p:sp>
      <p:sp>
        <p:nvSpPr>
          <p:cNvPr id="19" name="Shape 17"/>
          <p:cNvSpPr/>
          <p:nvPr/>
        </p:nvSpPr>
        <p:spPr>
          <a:xfrm>
            <a:off x="4645152" y="3425190"/>
            <a:ext cx="1947672" cy="1219962"/>
          </a:xfrm>
          <a:prstGeom prst="roundRect">
            <a:avLst>
              <a:gd name="adj" fmla="val 5996"/>
            </a:avLst>
          </a:prstGeom>
          <a:solidFill>
            <a:srgbClr val="F7931A"/>
          </a:solidFill>
          <a:ln w="12700">
            <a:solidFill>
              <a:srgbClr val="F7931A"/>
            </a:solidFill>
            <a:prstDash val="solid"/>
          </a:ln>
        </p:spPr>
      </p:sp>
      <p:sp>
        <p:nvSpPr>
          <p:cNvPr id="20" name="Text 18"/>
          <p:cNvSpPr txBox="1"/>
          <p:nvPr/>
        </p:nvSpPr>
        <p:spPr>
          <a:xfrm>
            <a:off x="4736592" y="3480054"/>
            <a:ext cx="1764792" cy="111023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The semantics branch connects the chapter to the course's wider theme, the meaning of data.</a:t>
            </a:r>
            <a:endParaRPr lang="en-US" sz="1300" dirty="0"/>
          </a:p>
        </p:txBody>
      </p:sp>
      <p:sp>
        <p:nvSpPr>
          <p:cNvPr id="21" name="Shape 19"/>
          <p:cNvSpPr/>
          <p:nvPr/>
        </p:nvSpPr>
        <p:spPr>
          <a:xfrm>
            <a:off x="6739128" y="3425190"/>
            <a:ext cx="1947672" cy="1219962"/>
          </a:xfrm>
          <a:prstGeom prst="roundRect">
            <a:avLst>
              <a:gd name="adj" fmla="val 5996"/>
            </a:avLst>
          </a:prstGeom>
          <a:solidFill>
            <a:srgbClr val="F4F2EE"/>
          </a:solidFill>
          <a:ln w="12700">
            <a:solidFill>
              <a:srgbClr val="D9D4CC"/>
            </a:solidFill>
            <a:prstDash val="solid"/>
          </a:ln>
        </p:spPr>
      </p:sp>
      <p:sp>
        <p:nvSpPr>
          <p:cNvPr id="22" name="Text 20"/>
          <p:cNvSpPr txBox="1"/>
          <p:nvPr/>
        </p:nvSpPr>
        <p:spPr>
          <a:xfrm>
            <a:off x="6830568" y="3480054"/>
            <a:ext cx="1764792" cy="1110234"/>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Computing foundations</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computing foundations branch collects the everyday vocabulary of programs and computers that the other branches use without stopping to explain it: bytes and bit…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course outcome, four chapter objectives</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LO-3</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Build, configure and run Bitcoin Core as a full node, verify the release before trusting it, and query the node over its JSON-RPC interface to inspect blocks, transactions and the state of the chain.</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493264"/>
          <a:ext cx="8229600" cy="914400"/>
        </p:xfrm>
        <a:graphic>
          <a:graphicData uri="http://schemas.openxmlformats.org/drawingml/2006/table">
            <a:tbl>
              <a:tblPr/>
              <a:tblGrid>
                <a:gridCol w="731520"/>
                <a:gridCol w="6035040"/>
                <a:gridCol w="146304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should be able to do after this session</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CO1</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Decode a transaction by hand: compute its txid, hash, weight and virtual size from its serialization</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Apply</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CO2</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Explain what a full node verifies and why Bitcoin Core's own answers are authoritative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Understand</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CO3</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Choose and justify Bitcoin Core options, such as prune, txindex and dbcache, for a given machine</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Apply</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CO4</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Recompute a block's Merkle root and header hash, and check a printed result against the software and the chain</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Apply</a:t>
                      </a:r>
                      <a:endParaRPr lang="en-US" sz="105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own competency questions</a:t>
            </a:r>
            <a:endParaRPr lang="en-US" sz="1300" dirty="0"/>
          </a:p>
        </p:txBody>
      </p:sp>
      <p:sp>
        <p:nvSpPr>
          <p:cNvPr id="6" name="Shape 4"/>
          <p:cNvSpPr/>
          <p:nvPr/>
        </p:nvSpPr>
        <p:spPr>
          <a:xfrm>
            <a:off x="457200" y="1316736"/>
            <a:ext cx="402336" cy="402336"/>
          </a:xfrm>
          <a:prstGeom prst="ellipse">
            <a:avLst/>
          </a:prstGeom>
          <a:solidFill>
            <a:srgbClr val="F7931A"/>
          </a:solidFill>
          <a:ln w="12700">
            <a:solidFill>
              <a:srgbClr val="F7931A"/>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programs does Bitcoin Core consist of, how is each obtained, built and started, and what does the project's documentation say about each?</a:t>
            </a:r>
            <a:endParaRPr lang="en-US" sz="1400" dirty="0"/>
          </a:p>
        </p:txBody>
      </p:sp>
      <p:sp>
        <p:nvSpPr>
          <p:cNvPr id="9" name="Shape 7"/>
          <p:cNvSpPr/>
          <p:nvPr/>
        </p:nvSpPr>
        <p:spPr>
          <a:xfrm>
            <a:off x="457200" y="1938528"/>
            <a:ext cx="402336" cy="402336"/>
          </a:xfrm>
          <a:prstGeom prst="ellipse">
            <a:avLst/>
          </a:prstGeom>
          <a:solidFill>
            <a:srgbClr val="F7931A"/>
          </a:solidFill>
          <a:ln w="12700">
            <a:solidFill>
              <a:srgbClr val="F7931A"/>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settings and files decide how a node runs, how much it stores and how it protects its interface, and what does each hold in release 31.1?</a:t>
            </a:r>
            <a:endParaRPr lang="en-US" sz="1400" dirty="0"/>
          </a:p>
        </p:txBody>
      </p:sp>
      <p:sp>
        <p:nvSpPr>
          <p:cNvPr id="12" name="Shape 10"/>
          <p:cNvSpPr/>
          <p:nvPr/>
        </p:nvSpPr>
        <p:spPr>
          <a:xfrm>
            <a:off x="457200" y="2560320"/>
            <a:ext cx="402336" cy="402336"/>
          </a:xfrm>
          <a:prstGeom prst="ellipse">
            <a:avLst/>
          </a:prstGeom>
          <a:solidFill>
            <a:srgbClr val="F7931A"/>
          </a:solidFill>
          <a:ln w="12700">
            <a:solidFill>
              <a:srgbClr val="F7931A"/>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numbers does the node report about a transaction and a block, and how can each be recomputed from the bytes?</a:t>
            </a:r>
            <a:endParaRPr lang="en-US" sz="1400" dirty="0"/>
          </a:p>
        </p:txBody>
      </p:sp>
      <p:sp>
        <p:nvSpPr>
          <p:cNvPr id="15" name="Shape 13"/>
          <p:cNvSpPr/>
          <p:nvPr/>
        </p:nvSpPr>
        <p:spPr>
          <a:xfrm>
            <a:off x="457200" y="3182112"/>
            <a:ext cx="402336" cy="402336"/>
          </a:xfrm>
          <a:prstGeom prst="ellipse">
            <a:avLst/>
          </a:prstGeom>
          <a:solidFill>
            <a:srgbClr val="F7931A"/>
          </a:solidFill>
          <a:ln w="12700">
            <a:solidFill>
              <a:srgbClr val="F7931A"/>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Where do the book's printed outputs differ from the real release 31.1 and the current source, and what does each difference change?</a:t>
            </a:r>
            <a:endParaRPr lang="en-US" sz="1400" dirty="0"/>
          </a:p>
        </p:txBody>
      </p:sp>
      <p:sp>
        <p:nvSpPr>
          <p:cNvPr id="18" name="Shape 16"/>
          <p:cNvSpPr/>
          <p:nvPr/>
        </p:nvSpPr>
        <p:spPr>
          <a:xfrm>
            <a:off x="457200" y="3803904"/>
            <a:ext cx="402336" cy="402336"/>
          </a:xfrm>
          <a:prstGeom prst="ellipse">
            <a:avLst/>
          </a:prstGeom>
          <a:solidFill>
            <a:srgbClr val="F7931A"/>
          </a:solidFill>
          <a:ln w="12700">
            <a:solidFill>
              <a:srgbClr val="F7931A"/>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can a downloaded release and a chosen library be checked before they are trusted, and what does each check not prove?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Node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A node is a computer that runs Bitcoin software and takes part in the peer-to-peer network, and this first branch of the chapter is about the most complete kind of node, the full verification node.</a:t>
            </a:r>
            <a:endParaRPr lang="en-US" sz="1500" dirty="0"/>
          </a:p>
        </p:txBody>
      </p:sp>
      <p:sp>
        <p:nvSpPr>
          <p:cNvPr id="5" name="Shape 3"/>
          <p:cNvSpPr/>
          <p:nvPr/>
        </p:nvSpPr>
        <p:spPr>
          <a:xfrm>
            <a:off x="457200" y="2788920"/>
            <a:ext cx="2645664"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Verification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3249168" y="2788920"/>
            <a:ext cx="2645664"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3322320"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Bitcoin Core project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
        <p:nvSpPr>
          <p:cNvPr id="9" name="Shape 7"/>
          <p:cNvSpPr/>
          <p:nvPr/>
        </p:nvSpPr>
        <p:spPr>
          <a:xfrm>
            <a:off x="6041136" y="2788920"/>
            <a:ext cx="2645664"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6114288"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Node resources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Verification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Node - 4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Verification is the second level of the node branch and gathers four ideas: the full node itself, the reference implementation, the Bitcoin Improvement Proposals and the soft fork. Together they answer one question, which is how a participant can be sure that what the software enforces is what the Bitcoin system actually requires. The first concept names the program that checks the rules, the second names the program that serves as the model of how to check them, and the last two explain how the written rules are documented and how they are changed (Antonopoulos and Harding, 2023).</a:t>
            </a:r>
            <a:endParaRPr lang="en-US" sz="1300" dirty="0"/>
          </a:p>
        </p:txBody>
      </p:sp>
      <p:sp>
        <p:nvSpPr>
          <p:cNvPr id="9" name="Shape 7"/>
          <p:cNvSpPr/>
          <p:nvPr/>
        </p:nvSpPr>
        <p:spPr>
          <a:xfrm>
            <a:off x="457200" y="3531362"/>
            <a:ext cx="1947672" cy="656590"/>
          </a:xfrm>
          <a:prstGeom prst="roundRect">
            <a:avLst>
              <a:gd name="adj" fmla="val 11141"/>
            </a:avLst>
          </a:prstGeom>
          <a:solidFill>
            <a:srgbClr val="F4F2EE"/>
          </a:solidFill>
          <a:ln w="12700">
            <a:solidFill>
              <a:srgbClr val="D9D4CC"/>
            </a:solidFill>
            <a:prstDash val="solid"/>
          </a:ln>
        </p:spPr>
      </p:sp>
      <p:sp>
        <p:nvSpPr>
          <p:cNvPr id="10" name="Text 8"/>
          <p:cNvSpPr txBox="1"/>
          <p:nvPr/>
        </p:nvSpPr>
        <p:spPr>
          <a:xfrm>
            <a:off x="548640"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Full node</a:t>
            </a:r>
            <a:endParaRPr lang="en-US" sz="1250" dirty="0"/>
          </a:p>
        </p:txBody>
      </p:sp>
      <p:sp>
        <p:nvSpPr>
          <p:cNvPr id="11" name="Shape 9"/>
          <p:cNvSpPr/>
          <p:nvPr/>
        </p:nvSpPr>
        <p:spPr>
          <a:xfrm>
            <a:off x="2551176" y="3531362"/>
            <a:ext cx="1947672" cy="656590"/>
          </a:xfrm>
          <a:prstGeom prst="roundRect">
            <a:avLst>
              <a:gd name="adj" fmla="val 11141"/>
            </a:avLst>
          </a:prstGeom>
          <a:solidFill>
            <a:srgbClr val="F4F2EE"/>
          </a:solidFill>
          <a:ln w="12700">
            <a:solidFill>
              <a:srgbClr val="D9D4CC"/>
            </a:solidFill>
            <a:prstDash val="solid"/>
          </a:ln>
        </p:spPr>
      </p:sp>
      <p:sp>
        <p:nvSpPr>
          <p:cNvPr id="12" name="Text 10"/>
          <p:cNvSpPr txBox="1"/>
          <p:nvPr/>
        </p:nvSpPr>
        <p:spPr>
          <a:xfrm>
            <a:off x="2642616"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Reference implementation</a:t>
            </a:r>
            <a:endParaRPr lang="en-US" sz="1250" dirty="0"/>
          </a:p>
        </p:txBody>
      </p:sp>
      <p:sp>
        <p:nvSpPr>
          <p:cNvPr id="13" name="Shape 11"/>
          <p:cNvSpPr/>
          <p:nvPr/>
        </p:nvSpPr>
        <p:spPr>
          <a:xfrm>
            <a:off x="4645152" y="3531362"/>
            <a:ext cx="1947672" cy="656590"/>
          </a:xfrm>
          <a:prstGeom prst="roundRect">
            <a:avLst>
              <a:gd name="adj" fmla="val 11141"/>
            </a:avLst>
          </a:prstGeom>
          <a:solidFill>
            <a:srgbClr val="F4F2EE"/>
          </a:solidFill>
          <a:ln w="12700">
            <a:solidFill>
              <a:srgbClr val="D9D4CC"/>
            </a:solidFill>
            <a:prstDash val="solid"/>
          </a:ln>
        </p:spPr>
      </p:sp>
      <p:sp>
        <p:nvSpPr>
          <p:cNvPr id="14" name="Text 12"/>
          <p:cNvSpPr txBox="1"/>
          <p:nvPr/>
        </p:nvSpPr>
        <p:spPr>
          <a:xfrm>
            <a:off x="4736592"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Improvement Proposal</a:t>
            </a:r>
            <a:endParaRPr lang="en-US" sz="1250" dirty="0"/>
          </a:p>
        </p:txBody>
      </p:sp>
      <p:sp>
        <p:nvSpPr>
          <p:cNvPr id="15" name="Shape 13"/>
          <p:cNvSpPr/>
          <p:nvPr/>
        </p:nvSpPr>
        <p:spPr>
          <a:xfrm>
            <a:off x="6739128" y="3531362"/>
            <a:ext cx="1947672" cy="656590"/>
          </a:xfrm>
          <a:prstGeom prst="roundRect">
            <a:avLst>
              <a:gd name="adj" fmla="val 11141"/>
            </a:avLst>
          </a:prstGeom>
          <a:solidFill>
            <a:srgbClr val="F4F2EE"/>
          </a:solidFill>
          <a:ln w="12700">
            <a:solidFill>
              <a:srgbClr val="D9D4CC"/>
            </a:solidFill>
            <a:prstDash val="solid"/>
          </a:ln>
        </p:spPr>
      </p:sp>
      <p:sp>
        <p:nvSpPr>
          <p:cNvPr id="16" name="Text 14"/>
          <p:cNvSpPr txBox="1"/>
          <p:nvPr/>
        </p:nvSpPr>
        <p:spPr>
          <a:xfrm>
            <a:off x="6830568"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Soft fork</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sections of the group move from the program to the rules. The full node verifies every confirmed transaction.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Full node and Reference implementation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Full node</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full node, which the chapter introduces as a full verification node, is software that verifies every confirmed Bitcoin transaction against every rule in the system (Antonopoulos and Harding, 2023).</a:t>
            </a:r>
            <a:endParaRPr lang="en-US" sz="1200" dirty="0"/>
          </a:p>
        </p:txBody>
      </p:sp>
      <p:sp>
        <p:nvSpPr>
          <p:cNvPr id="9" name="Text 7"/>
          <p:cNvSpPr txBox="1"/>
          <p:nvPr/>
        </p:nvSpPr>
        <p:spPr>
          <a:xfrm>
            <a:off x="457200" y="3051048"/>
            <a:ext cx="3977640" cy="153390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full node receives blocks and transactions from its peers and checks each of them against the consensus rules, which chapter 2 listed for transactions: the syntax and data structure must be correct, the lists of inputs and outputs must not be empty, the amounts must be within the allowed range, the outputs being spent must exist and be unspent, the inputs must cover the outputs, and the scripts must validate (Antonopoulos and Harding, 2023).</a:t>
            </a:r>
            <a:endParaRPr lang="en-US" sz="1100" dirty="0"/>
          </a:p>
        </p:txBody>
      </p:sp>
      <p:sp>
        <p:nvSpPr>
          <p:cNvPr id="10" name="Shape 8"/>
          <p:cNvSpPr/>
          <p:nvPr/>
        </p:nvSpPr>
        <p:spPr>
          <a:xfrm>
            <a:off x="4709160" y="1280160"/>
            <a:ext cx="3977640" cy="2926080"/>
          </a:xfrm>
          <a:prstGeom prst="roundRect">
            <a:avLst>
              <a:gd name="adj" fmla="val 3125"/>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Reference implementation</a:t>
            </a:r>
            <a:endParaRPr lang="en-US" sz="1600" dirty="0"/>
          </a:p>
        </p:txBody>
      </p:sp>
      <p:sp>
        <p:nvSpPr>
          <p:cNvPr id="12" name="Text 10"/>
          <p:cNvSpPr txBox="1"/>
          <p:nvPr/>
        </p:nvSpPr>
        <p:spPr>
          <a:xfrm>
            <a:off x="4892040" y="1783080"/>
            <a:ext cx="3611880" cy="228600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reference implementation is a program that serves as the model of how a specification should be realised. The book calls Bitcoin Core the reference implementation of the Bitcoin system, meaning that it provides a reference for how each part of the technology should be implemented, and it lists what Bitcoin Core implements: wallets, a transaction and block validation engine, tools for block construction, and all modern parts of the peer-to-peer communication (Antonopoulos and Harding, 2023).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Bitcoin Improvement Proposal and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996440"/>
          </a:xfrm>
          <a:prstGeom prst="roundRect">
            <a:avLst>
              <a:gd name="adj" fmla="val 4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Bitcoin Improvement Proposal</a:t>
            </a:r>
            <a:endParaRPr lang="en-US" sz="1600" dirty="0"/>
          </a:p>
        </p:txBody>
      </p:sp>
      <p:sp>
        <p:nvSpPr>
          <p:cNvPr id="8" name="Text 6"/>
          <p:cNvSpPr txBox="1"/>
          <p:nvPr/>
        </p:nvSpPr>
        <p:spPr>
          <a:xfrm>
            <a:off x="64008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Bitcoin Improvement Proposal, abbreviated BIP, is a design document providing information to the Bitcoin community or describing a new feature for Bitcoin or its processes or environment, in the words of the process document that governed BIPs from 2016 (Dashjr, 2016).</a:t>
            </a:r>
            <a:endParaRPr lang="en-US" sz="1200" dirty="0"/>
          </a:p>
        </p:txBody>
      </p:sp>
      <p:sp>
        <p:nvSpPr>
          <p:cNvPr id="9" name="Shape 7"/>
          <p:cNvSpPr/>
          <p:nvPr/>
        </p:nvSpPr>
        <p:spPr>
          <a:xfrm>
            <a:off x="457200" y="3386328"/>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50520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'bip%d' % 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'bip9'</a:t>
            </a:r>
            <a:endParaRPr lang="en-US" sz="1050" dirty="0"/>
          </a:p>
        </p:txBody>
      </p:sp>
      <p:sp>
        <p:nvSpPr>
          <p:cNvPr id="11" name="Text 9"/>
          <p:cNvSpPr txBox="1"/>
          <p:nvPr/>
        </p:nvSpPr>
        <p:spPr>
          <a:xfrm>
            <a:off x="457200" y="396773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Soft fork</a:t>
            </a:r>
            <a:endParaRPr lang="en-US" sz="1600" dirty="0"/>
          </a:p>
        </p:txBody>
      </p:sp>
      <p:sp>
        <p:nvSpPr>
          <p:cNvPr id="14" name="Text 12"/>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soft fork is a change to the consensus rules that is backward compatible.</a:t>
            </a:r>
            <a:endParaRPr lang="en-US" sz="1200" dirty="0"/>
          </a:p>
        </p:txBody>
      </p:sp>
      <p:sp>
        <p:nvSpPr>
          <p:cNvPr id="15" name="Shape 13"/>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6" name="Text 14"/>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0x20000002 &gt;&gt; 29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a:t>
            </a:r>
            <a:endParaRPr lang="en-US" sz="1050" dirty="0"/>
          </a:p>
        </p:txBody>
      </p:sp>
      <p:sp>
        <p:nvSpPr>
          <p:cNvPr id="17" name="Text 15"/>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294126"/>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BIP 9 reinterprets the version field of a block as a bit vector in which each bit can track an independent change.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Bitcoin Core project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Node - 2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project group describes where Bitcoin Core comes from and who maintains it. It contains two concepts: open-source software, which is the legal and social form in which the program is published, and Satoshi Nakamoto, the name under which the system was first described and its first software written. Both belong to the first section of the chapter, From Bitcoin to Bitcoin Core, which explains why the program is called what it is (Antonopoulos and Harding, 2023).</a:t>
            </a:r>
            <a:endParaRPr lang="en-US" sz="1300" dirty="0"/>
          </a:p>
        </p:txBody>
      </p:sp>
      <p:sp>
        <p:nvSpPr>
          <p:cNvPr id="9" name="Shape 7"/>
          <p:cNvSpPr/>
          <p:nvPr/>
        </p:nvSpPr>
        <p:spPr>
          <a:xfrm>
            <a:off x="457200" y="3329940"/>
            <a:ext cx="4041648"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Open-source software</a:t>
            </a:r>
            <a:endParaRPr lang="en-US" sz="1250" dirty="0"/>
          </a:p>
        </p:txBody>
      </p:sp>
      <p:sp>
        <p:nvSpPr>
          <p:cNvPr id="11" name="Shape 9"/>
          <p:cNvSpPr/>
          <p:nvPr/>
        </p:nvSpPr>
        <p:spPr>
          <a:xfrm>
            <a:off x="4645152" y="3329940"/>
            <a:ext cx="4041648"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4736592"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Satoshi Nakamoto</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first states the form of publication, with the license that allows anyone to use, change and pass on the code, and the community process by which changes are reviewed and released. It then turns to the…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Open-source software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MIT license</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Open-source software is software whose source code is available to everyone under a license that allows use, modification and redistribution. The Open Source Initiative, whose definition is widely used, says that open source does not just mean access to the source code: the distribution terms must also allow free redistribution, must include the source code, and must allow modifications and derived works (Open Source Initiative, 2026).</a:t>
            </a:r>
            <a:endParaRPr lang="en-US" sz="1300" dirty="0"/>
          </a:p>
        </p:txBody>
      </p:sp>
      <p:sp>
        <p:nvSpPr>
          <p:cNvPr id="9" name="Shape 7"/>
          <p:cNvSpPr/>
          <p:nvPr/>
        </p:nvSpPr>
        <p:spPr>
          <a:xfrm>
            <a:off x="457200" y="3128518"/>
            <a:ext cx="8229600" cy="1438656"/>
          </a:xfrm>
          <a:prstGeom prst="roundRect">
            <a:avLst>
              <a:gd name="adj" fmla="val 6356"/>
            </a:avLst>
          </a:prstGeom>
          <a:solidFill>
            <a:srgbClr val="F4F2EE"/>
          </a:solidFill>
          <a:ln w="12700">
            <a:solidFill>
              <a:srgbClr val="F4F2EE"/>
            </a:solidFill>
            <a:prstDash val="solid"/>
          </a:ln>
        </p:spPr>
      </p:sp>
      <p:sp>
        <p:nvSpPr>
          <p:cNvPr id="10" name="Text 8"/>
          <p:cNvSpPr txBox="1"/>
          <p:nvPr/>
        </p:nvSpPr>
        <p:spPr>
          <a:xfrm>
            <a:off x="640080" y="324739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631438"/>
            <a:ext cx="786384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source files of Bitcoin Core that were read for this chapter state their terms in the header, with the sentence that the file is distributed under the MIT software license, and the readme repeats that Bitcoin Core is released under the terms of the MIT license (Bitcoin Core, 2026). The license text itself is short.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Satoshi Nakamoto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author of the whitepaper</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Satoshi Nakamoto is the name used by the person or people who designed Bitcoin and created its original reference implementation.</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datetime.datetime.fromtimestamp(1231006505, datetime.timezone.utc).date().isoformat()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'2009-01-03'</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377184"/>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chapter on the history of Bitcoin explains what Nakamoto combined: several prior inventions, such as digital signatures and Hashcash, into a completely decentralized electronic cash system that does not rely on a central authority for currency issuance or for the settlement and validation of transactions.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Node resources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Node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Node resources are the things that a node consumes in order to do its work: time and bandwidth to download the chain, disk space to store it, memory to keep the data it needs often, and network connections to other nodes. The section Running a Bitcoin Core Node of the chapter lists the costs openly before it explains why a reader might still want to bear them, and this group collects the concepts needed to understand those costs (Antonopoulos and Harding, 2023).</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Initial download</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Pruned node</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Peer and connection</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Set of unspent outputs</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Four concepts make up the group. The initial download is the first synchronization with the network. A pruned node keeps only the recent blocks.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Initial download and Pruned node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Initial download</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initial download is the first synchronization of a new node with the network, in which it fetches the whole chain of blocks from its peers and validates every transaction in them.</a:t>
            </a:r>
            <a:endParaRPr lang="en-US" sz="1200" dirty="0"/>
          </a:p>
        </p:txBody>
      </p:sp>
      <p:sp>
        <p:nvSpPr>
          <p:cNvPr id="9" name="Shape 7"/>
          <p:cNvSpPr/>
          <p:nvPr/>
        </p:nvSpPr>
        <p:spPr>
          <a:xfrm>
            <a:off x="457200" y="3014472"/>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400 * 10 / 1000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4.0</a:t>
            </a:r>
            <a:endParaRPr lang="en-US" sz="1050" dirty="0"/>
          </a:p>
        </p:txBody>
      </p:sp>
      <p:sp>
        <p:nvSpPr>
          <p:cNvPr id="11" name="Text 9"/>
          <p:cNvSpPr txBox="1"/>
          <p:nvPr/>
        </p:nvSpPr>
        <p:spPr>
          <a:xfrm>
            <a:off x="45720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1910"/>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same arithmetic applies after any interruption.</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Pruned node</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pruned node is a full node that deletes old block files after it has verified them, so that it needs far less disk space.</a:t>
            </a:r>
            <a:endParaRPr lang="en-US" sz="1200" dirty="0"/>
          </a:p>
        </p:txBody>
      </p:sp>
      <p:sp>
        <p:nvSpPr>
          <p:cNvPr id="16" name="Shape 14"/>
          <p:cNvSpPr/>
          <p:nvPr/>
        </p:nvSpPr>
        <p:spPr>
          <a:xfrm>
            <a:off x="4709160" y="2642616"/>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5000 &gt;= 550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8" name="Text 16"/>
          <p:cNvSpPr txBox="1"/>
          <p:nvPr/>
        </p:nvSpPr>
        <p:spPr>
          <a:xfrm>
            <a:off x="470916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80054"/>
            <a:ext cx="3977640" cy="102260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Bitcoin Core stores blocks in numbered files of 128 MiB each and deletes whole files until the stored blocks fit under the target, never touching the files that hold the 288 most recent blocks; the block index and the chain state are separate databases and stay (Bitcoin Core, 2026).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Peer and connection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node connected to my node</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peer is another node of the Bitcoin network to which a node keeps a connection in order to exchange blocks and transactions. The chapter introduces the word when it says that, by default, Bitcoin nodes transmit transactions and blocks to other nodes, called peers, which consumes upload bandwidth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8 + 2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node finds peers from a stored list: the log of the book says that it loaded 63866 addresses from the file peers.dat, and the data directory of a node holds that file next to a list of banned addresses (Antonopoulos and Harding, 2023) (Bitcoin Core, 2026).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Set of unspent outputs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chainstate database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set of unspent outputs, in the chapter often called the UTXO set, is the collection of all transaction outputs that have been created and not yet spent.</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sorted((set(['4ac5:1', 'x:0']) - {'4ac5:1'}) | {'4662:0', '4662:1'})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['4662:0', '4662:1', 'x:0']</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Each block changes the set in the same way as the transaction of the example: the outputs that its transactions spend leave, and the new outputs enter.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build branch is about turning the text of Bitcoin Core into a program that can run.</a:t>
            </a:r>
            <a:endParaRPr lang="en-US" sz="1500" dirty="0"/>
          </a:p>
        </p:txBody>
      </p:sp>
      <p:sp>
        <p:nvSpPr>
          <p:cNvPr id="5" name="Shape 3"/>
          <p:cNvSpPr/>
          <p:nvPr/>
        </p:nvSpPr>
        <p:spPr>
          <a:xfrm>
            <a:off x="457200" y="2788920"/>
            <a:ext cx="4041648"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4645152" y="2788920"/>
            <a:ext cx="4041648"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4718304"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Toolchain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7 concepts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- 4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source group contains the concepts needed to obtain the right text of the program: the source code itself, the Git repository in which the project keeps it, the release tag that names a particular stable version, and the release candidate that precedes it. The book teaches these in its sections on compiling Bitcoin Core from the source code and on selecting a release (Antonopoulos and Harding, 2023).</a:t>
            </a:r>
            <a:endParaRPr lang="en-US" sz="1300" dirty="0"/>
          </a:p>
        </p:txBody>
      </p:sp>
      <p:sp>
        <p:nvSpPr>
          <p:cNvPr id="9" name="Shape 7"/>
          <p:cNvSpPr/>
          <p:nvPr/>
        </p:nvSpPr>
        <p:spPr>
          <a:xfrm>
            <a:off x="457200" y="3128518"/>
            <a:ext cx="1947672"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Release tag</a:t>
            </a:r>
            <a:endParaRPr lang="en-US" sz="1250" dirty="0"/>
          </a:p>
        </p:txBody>
      </p:sp>
      <p:sp>
        <p:nvSpPr>
          <p:cNvPr id="11" name="Shape 9"/>
          <p:cNvSpPr/>
          <p:nvPr/>
        </p:nvSpPr>
        <p:spPr>
          <a:xfrm>
            <a:off x="2551176" y="3128518"/>
            <a:ext cx="1947672"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2642616"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Source code</a:t>
            </a:r>
            <a:endParaRPr lang="en-US" sz="1250" dirty="0"/>
          </a:p>
        </p:txBody>
      </p:sp>
      <p:sp>
        <p:nvSpPr>
          <p:cNvPr id="13" name="Shape 11"/>
          <p:cNvSpPr/>
          <p:nvPr/>
        </p:nvSpPr>
        <p:spPr>
          <a:xfrm>
            <a:off x="4645152" y="3128518"/>
            <a:ext cx="1947672"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4736592"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Git repository</a:t>
            </a:r>
            <a:endParaRPr lang="en-US" sz="1250" dirty="0"/>
          </a:p>
        </p:txBody>
      </p:sp>
      <p:sp>
        <p:nvSpPr>
          <p:cNvPr id="15" name="Shape 13"/>
          <p:cNvSpPr/>
          <p:nvPr/>
        </p:nvSpPr>
        <p:spPr>
          <a:xfrm>
            <a:off x="6739128" y="3128518"/>
            <a:ext cx="1947672" cy="1059434"/>
          </a:xfrm>
          <a:prstGeom prst="roundRect">
            <a:avLst>
              <a:gd name="adj" fmla="val 6905"/>
            </a:avLst>
          </a:prstGeom>
          <a:solidFill>
            <a:srgbClr val="F4F2EE"/>
          </a:solidFill>
          <a:ln w="12700">
            <a:solidFill>
              <a:srgbClr val="D9D4CC"/>
            </a:solidFill>
            <a:prstDash val="solid"/>
          </a:ln>
        </p:spPr>
      </p:sp>
      <p:sp>
        <p:nvSpPr>
          <p:cNvPr id="16" name="Text 14"/>
          <p:cNvSpPr txBox="1"/>
          <p:nvPr/>
        </p:nvSpPr>
        <p:spPr>
          <a:xfrm>
            <a:off x="6830568" y="3183382"/>
            <a:ext cx="1764792"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Release candidate</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sections of the group follow the order of the commands in the chapter.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Release tag and Source code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Release tag</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release tag is a name that the developers attach to one specific snapshot of the code repository in order to mark a release by its version number (Antonopoulos and Harding, 2023).</a:t>
            </a:r>
            <a:endParaRPr lang="en-US" sz="1200" dirty="0"/>
          </a:p>
        </p:txBody>
      </p:sp>
      <p:sp>
        <p:nvSpPr>
          <p:cNvPr id="9" name="Shape 7"/>
          <p:cNvSpPr/>
          <p:nvPr/>
        </p:nvSpPr>
        <p:spPr>
          <a:xfrm>
            <a:off x="457200" y="3014472"/>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'v24.0.1'.lstrip('v').split('.')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['24', '0', '1']</a:t>
            </a:r>
            <a:endParaRPr lang="en-US" sz="1050" dirty="0"/>
          </a:p>
        </p:txBody>
      </p:sp>
      <p:sp>
        <p:nvSpPr>
          <p:cNvPr id="11" name="Text 9"/>
          <p:cNvSpPr txBox="1"/>
          <p:nvPr/>
        </p:nvSpPr>
        <p:spPr>
          <a:xfrm>
            <a:off x="45720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1910"/>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tag names a commit, the repository's own identifier of a snapshot.</a:t>
            </a:r>
            <a:endParaRPr lang="en-US" sz="1100" dirty="0"/>
          </a:p>
        </p:txBody>
      </p:sp>
      <p:sp>
        <p:nvSpPr>
          <p:cNvPr id="13" name="Shape 11"/>
          <p:cNvSpPr/>
          <p:nvPr/>
        </p:nvSpPr>
        <p:spPr>
          <a:xfrm>
            <a:off x="4709160" y="1280160"/>
            <a:ext cx="3977640" cy="2182368"/>
          </a:xfrm>
          <a:prstGeom prst="roundRect">
            <a:avLst>
              <a:gd name="adj" fmla="val 4190"/>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Source code</a:t>
            </a:r>
            <a:endParaRPr lang="en-US" sz="1600" dirty="0"/>
          </a:p>
        </p:txBody>
      </p:sp>
      <p:sp>
        <p:nvSpPr>
          <p:cNvPr id="15" name="Text 13"/>
          <p:cNvSpPr txBox="1"/>
          <p:nvPr/>
        </p:nvSpPr>
        <p:spPr>
          <a:xfrm>
            <a:off x="4892040" y="1783080"/>
            <a:ext cx="3611880" cy="1542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Source code is the text in which a program is written, in a programming language that a person can read, before it is translated into the form that a computer executes. The book says that Bitcoin Core's source code can be downloaded as an archive or by cloning the source repository from GitHub (Antonopoulos and Harding, 2023).</a:t>
            </a:r>
            <a:endParaRPr lang="en-US" sz="1200" dirty="0"/>
          </a:p>
        </p:txBody>
      </p:sp>
      <p:sp>
        <p:nvSpPr>
          <p:cNvPr id="16" name="Text 14"/>
          <p:cNvSpPr txBox="1"/>
          <p:nvPr/>
        </p:nvSpPr>
        <p:spPr>
          <a:xfrm>
            <a:off x="4709160" y="3608832"/>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From the text to the program takes the steps of the build branch: a compiler translates each source file, a linker combines the results with libraries, and the build system orchestrates the order.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Git repository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git clone and git tag</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len('05bc2f53ce0cb239c17dbdd6b261bd2db7d2a940')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40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Git names each snapshot, called a commit, by a hash computed from its content.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Release candidate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v0.12.0rc1</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release candidate is a version that the developers believe could become the next stable release, published so that it can be tested first.</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for t in ['v0.11.2', 'v0.11.2rc1', 'v0.12.0rc2'] if 'rc' not in 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['v0.11.2']</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Candidates are numbered in the order in which they are published: rc1, then rc2, rc3 and so on until a candidate is accepted and the same code is tagged without a suffix.</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Toolchain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- 7 concepts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toolchain group gathers the programs and conventions that turn source code into running executables: the build system, which decides how, the compilation, which does the translation, the prerequisites, which must be present, and the executables, which are the result.</a:t>
            </a:r>
            <a:endParaRPr lang="en-US" sz="1300" dirty="0"/>
          </a:p>
        </p:txBody>
      </p:sp>
      <p:sp>
        <p:nvSpPr>
          <p:cNvPr id="9" name="Shape 7"/>
          <p:cNvSpPr/>
          <p:nvPr/>
        </p:nvSpPr>
        <p:spPr>
          <a:xfrm>
            <a:off x="457200" y="2725674"/>
            <a:ext cx="2645664" cy="402082"/>
          </a:xfrm>
          <a:prstGeom prst="roundRect">
            <a:avLst>
              <a:gd name="adj" fmla="val 18193"/>
            </a:avLst>
          </a:prstGeom>
          <a:solidFill>
            <a:srgbClr val="F4F2EE"/>
          </a:solidFill>
          <a:ln w="12700">
            <a:solidFill>
              <a:srgbClr val="D9D4CC"/>
            </a:solidFill>
            <a:prstDash val="solid"/>
          </a:ln>
        </p:spPr>
      </p:sp>
      <p:sp>
        <p:nvSpPr>
          <p:cNvPr id="10" name="Text 8"/>
          <p:cNvSpPr txBox="1"/>
          <p:nvPr/>
        </p:nvSpPr>
        <p:spPr>
          <a:xfrm>
            <a:off x="548640" y="2780538"/>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Autotools build</a:t>
            </a:r>
            <a:endParaRPr lang="en-US" sz="1150" dirty="0"/>
          </a:p>
        </p:txBody>
      </p:sp>
      <p:sp>
        <p:nvSpPr>
          <p:cNvPr id="11" name="Shape 9"/>
          <p:cNvSpPr/>
          <p:nvPr/>
        </p:nvSpPr>
        <p:spPr>
          <a:xfrm>
            <a:off x="3249168" y="2725674"/>
            <a:ext cx="2645664" cy="402082"/>
          </a:xfrm>
          <a:prstGeom prst="roundRect">
            <a:avLst>
              <a:gd name="adj" fmla="val 18193"/>
            </a:avLst>
          </a:prstGeom>
          <a:solidFill>
            <a:srgbClr val="F4F2EE"/>
          </a:solidFill>
          <a:ln w="12700">
            <a:solidFill>
              <a:srgbClr val="D9D4CC"/>
            </a:solidFill>
            <a:prstDash val="solid"/>
          </a:ln>
        </p:spPr>
      </p:sp>
      <p:sp>
        <p:nvSpPr>
          <p:cNvPr id="12" name="Text 10"/>
          <p:cNvSpPr txBox="1"/>
          <p:nvPr/>
        </p:nvSpPr>
        <p:spPr>
          <a:xfrm>
            <a:off x="3340608" y="2780538"/>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CMake build</a:t>
            </a:r>
            <a:endParaRPr lang="en-US" sz="1150" dirty="0"/>
          </a:p>
        </p:txBody>
      </p:sp>
      <p:sp>
        <p:nvSpPr>
          <p:cNvPr id="13" name="Shape 11"/>
          <p:cNvSpPr/>
          <p:nvPr/>
        </p:nvSpPr>
        <p:spPr>
          <a:xfrm>
            <a:off x="6041136" y="2725674"/>
            <a:ext cx="2645664" cy="402082"/>
          </a:xfrm>
          <a:prstGeom prst="roundRect">
            <a:avLst>
              <a:gd name="adj" fmla="val 18193"/>
            </a:avLst>
          </a:prstGeom>
          <a:solidFill>
            <a:srgbClr val="F4F2EE"/>
          </a:solidFill>
          <a:ln w="12700">
            <a:solidFill>
              <a:srgbClr val="D9D4CC"/>
            </a:solidFill>
            <a:prstDash val="solid"/>
          </a:ln>
        </p:spPr>
      </p:sp>
      <p:sp>
        <p:nvSpPr>
          <p:cNvPr id="14" name="Text 12"/>
          <p:cNvSpPr txBox="1"/>
          <p:nvPr/>
        </p:nvSpPr>
        <p:spPr>
          <a:xfrm>
            <a:off x="6132576" y="2780538"/>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The bitcoin command</a:t>
            </a:r>
            <a:endParaRPr lang="en-US" sz="1150" dirty="0"/>
          </a:p>
        </p:txBody>
      </p:sp>
      <p:sp>
        <p:nvSpPr>
          <p:cNvPr id="15" name="Shape 13"/>
          <p:cNvSpPr/>
          <p:nvPr/>
        </p:nvSpPr>
        <p:spPr>
          <a:xfrm>
            <a:off x="457200" y="3255772"/>
            <a:ext cx="2645664" cy="402082"/>
          </a:xfrm>
          <a:prstGeom prst="roundRect">
            <a:avLst>
              <a:gd name="adj" fmla="val 18193"/>
            </a:avLst>
          </a:prstGeom>
          <a:solidFill>
            <a:srgbClr val="F4F2EE"/>
          </a:solidFill>
          <a:ln w="12700">
            <a:solidFill>
              <a:srgbClr val="D9D4CC"/>
            </a:solidFill>
            <a:prstDash val="solid"/>
          </a:ln>
        </p:spPr>
      </p:sp>
      <p:sp>
        <p:nvSpPr>
          <p:cNvPr id="16" name="Text 14"/>
          <p:cNvSpPr txBox="1"/>
          <p:nvPr/>
        </p:nvSpPr>
        <p:spPr>
          <a:xfrm>
            <a:off x="548640" y="3310636"/>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Compilation</a:t>
            </a:r>
            <a:endParaRPr lang="en-US" sz="1150" dirty="0"/>
          </a:p>
        </p:txBody>
      </p:sp>
      <p:sp>
        <p:nvSpPr>
          <p:cNvPr id="17" name="Shape 15"/>
          <p:cNvSpPr/>
          <p:nvPr/>
        </p:nvSpPr>
        <p:spPr>
          <a:xfrm>
            <a:off x="3249168" y="3255772"/>
            <a:ext cx="2645664" cy="402082"/>
          </a:xfrm>
          <a:prstGeom prst="roundRect">
            <a:avLst>
              <a:gd name="adj" fmla="val 18193"/>
            </a:avLst>
          </a:prstGeom>
          <a:solidFill>
            <a:srgbClr val="F4F2EE"/>
          </a:solidFill>
          <a:ln w="12700">
            <a:solidFill>
              <a:srgbClr val="D9D4CC"/>
            </a:solidFill>
            <a:prstDash val="solid"/>
          </a:ln>
        </p:spPr>
      </p:sp>
      <p:sp>
        <p:nvSpPr>
          <p:cNvPr id="18" name="Text 16"/>
          <p:cNvSpPr txBox="1"/>
          <p:nvPr/>
        </p:nvSpPr>
        <p:spPr>
          <a:xfrm>
            <a:off x="3340608" y="3310636"/>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Build prerequisite</a:t>
            </a:r>
            <a:endParaRPr lang="en-US" sz="1150" dirty="0"/>
          </a:p>
        </p:txBody>
      </p:sp>
      <p:sp>
        <p:nvSpPr>
          <p:cNvPr id="19" name="Shape 17"/>
          <p:cNvSpPr/>
          <p:nvPr/>
        </p:nvSpPr>
        <p:spPr>
          <a:xfrm>
            <a:off x="6041136" y="3255772"/>
            <a:ext cx="2645664" cy="402082"/>
          </a:xfrm>
          <a:prstGeom prst="roundRect">
            <a:avLst>
              <a:gd name="adj" fmla="val 18193"/>
            </a:avLst>
          </a:prstGeom>
          <a:solidFill>
            <a:srgbClr val="F4F2EE"/>
          </a:solidFill>
          <a:ln w="12700">
            <a:solidFill>
              <a:srgbClr val="D9D4CC"/>
            </a:solidFill>
            <a:prstDash val="solid"/>
          </a:ln>
        </p:spPr>
      </p:sp>
      <p:sp>
        <p:nvSpPr>
          <p:cNvPr id="20" name="Text 18"/>
          <p:cNvSpPr txBox="1"/>
          <p:nvPr/>
        </p:nvSpPr>
        <p:spPr>
          <a:xfrm>
            <a:off x="6132576" y="3310636"/>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Executable</a:t>
            </a:r>
            <a:endParaRPr lang="en-US" sz="1150" dirty="0"/>
          </a:p>
        </p:txBody>
      </p:sp>
      <p:sp>
        <p:nvSpPr>
          <p:cNvPr id="21" name="Shape 19"/>
          <p:cNvSpPr/>
          <p:nvPr/>
        </p:nvSpPr>
        <p:spPr>
          <a:xfrm>
            <a:off x="457200" y="3785870"/>
            <a:ext cx="2645664" cy="402082"/>
          </a:xfrm>
          <a:prstGeom prst="roundRect">
            <a:avLst>
              <a:gd name="adj" fmla="val 18193"/>
            </a:avLst>
          </a:prstGeom>
          <a:solidFill>
            <a:srgbClr val="F4F2EE"/>
          </a:solidFill>
          <a:ln w="12700">
            <a:solidFill>
              <a:srgbClr val="D9D4CC"/>
            </a:solidFill>
            <a:prstDash val="solid"/>
          </a:ln>
        </p:spPr>
      </p:sp>
      <p:sp>
        <p:nvSpPr>
          <p:cNvPr id="22" name="Text 20"/>
          <p:cNvSpPr txBox="1"/>
          <p:nvPr/>
        </p:nvSpPr>
        <p:spPr>
          <a:xfrm>
            <a:off x="548640" y="3840734"/>
            <a:ext cx="2462784" cy="292354"/>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Package manager</a:t>
            </a:r>
            <a:endParaRPr lang="en-US" sz="1150" dirty="0"/>
          </a:p>
        </p:txBody>
      </p:sp>
      <p:sp>
        <p:nvSpPr>
          <p:cNvPr id="23" name="Text 2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six concepts of the group fall into two sets.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Autotools build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autogen.sh, configure and make</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Autotools is the family of tools with which Bitcoin Core was built until release 29.0, and the build of the book follows its three typical commands. The first, the script autogen.sh, creates a set of automatic configuration scripts that interrogate the system to discover the correct settings and make sure that all the necessary libraries are present. The second, configure, applies them and creates a customized build script for the computer. The third, make, runs the build (Antonopoulos and Harding, 2023).</a:t>
            </a:r>
            <a:endParaRPr lang="en-US" sz="1300" dirty="0"/>
          </a:p>
        </p:txBody>
      </p:sp>
      <p:sp>
        <p:nvSpPr>
          <p:cNvPr id="9" name="Shape 7"/>
          <p:cNvSpPr/>
          <p:nvPr/>
        </p:nvSpPr>
        <p:spPr>
          <a:xfrm>
            <a:off x="457200" y="3329940"/>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44881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83286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commands in the chapter are ./autogen.sh, ./configure --help, ./configure, make, make check and sudo make install, in this order, and the book shows output such as the lines beginning CXX that name the object file produced for each source file (Antonopoulos and Harding, 2023).</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CMake build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cmake -B build</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CMake is the build system that Bitcoin Core has used since release 29.0.</a:t>
            </a:r>
            <a:endParaRPr lang="en-US" sz="1300" dirty="0"/>
          </a:p>
        </p:txBody>
      </p:sp>
      <p:sp>
        <p:nvSpPr>
          <p:cNvPr id="9" name="Shape 7"/>
          <p:cNvSpPr/>
          <p:nvPr/>
        </p:nvSpPr>
        <p:spPr>
          <a:xfrm>
            <a:off x="457200" y="2322830"/>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441702"/>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{'--disable-wallet': '-DENABLE_WALLET=OFF'}['--disable-wallet']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'-DENABLE_WALLET=OFF'</a:t>
            </a:r>
            <a:endParaRPr lang="en-US" sz="1100" dirty="0"/>
          </a:p>
        </p:txBody>
      </p:sp>
      <p:sp>
        <p:nvSpPr>
          <p:cNvPr id="11" name="Text 9"/>
          <p:cNvSpPr txBox="1"/>
          <p:nvPr/>
        </p:nvSpPr>
        <p:spPr>
          <a:xfrm>
            <a:off x="457200" y="291973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139186"/>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25805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642106"/>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build is divided into configuration and construction. The first command creates a build tree, the directory named after the -B option, in which CMake writes its cache with the chosen options. The second command builds the targets in that directory with whatever native tool is behind it.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bitcoin command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 -m node</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bitcoin command is a single program, introduced with release 30.0, through which the node and the other tools of Bitcoin Core are started. The installed-files table of the project describes it as the command-line tool for interacting with Bitcoin, which calls the other binaries (Bitcoin Core, 2026).</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{'node': 'bitcoind', 'rpc': 'bitcoin-cli -named', 'tx': 'bitcoin-tx'}['rpc']</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'bitcoin-cli -named'</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option -m, also written --multiprocess, makes the command run the multiprocess binaries bitcoin-node and bitcoin-gui, instead of the monolithic binaries bitcoind and bitcoin-qt, which are the default behavior.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Compilation and Build prerequisite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996440"/>
          </a:xfrm>
          <a:prstGeom prst="roundRect">
            <a:avLst>
              <a:gd name="adj" fmla="val 4580"/>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Compilation</a:t>
            </a:r>
            <a:endParaRPr lang="en-US" sz="1600" dirty="0"/>
          </a:p>
        </p:txBody>
      </p:sp>
      <p:sp>
        <p:nvSpPr>
          <p:cNvPr id="8" name="Text 6"/>
          <p:cNvSpPr txBox="1"/>
          <p:nvPr/>
        </p:nvSpPr>
        <p:spPr>
          <a:xfrm>
            <a:off x="64008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Compilation is the translation of source code into executable machine code by a program called a compiler. The CMake manual defines the neighbouring notion of the buildsystem as the description of how to build a project's executables and libraries from its source code (Kitware, 2026).</a:t>
            </a:r>
            <a:endParaRPr lang="en-US" sz="1200" dirty="0"/>
          </a:p>
        </p:txBody>
      </p:sp>
      <p:sp>
        <p:nvSpPr>
          <p:cNvPr id="9" name="Text 7"/>
          <p:cNvSpPr txBox="1"/>
          <p:nvPr/>
        </p:nvSpPr>
        <p:spPr>
          <a:xfrm>
            <a:off x="457200" y="342290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work is spread over many small jobs. Each source file is compiled independently into an object file, and a final step links the object files and the libraries into an executable.</a:t>
            </a:r>
            <a:endParaRPr lang="en-US" sz="1100" dirty="0"/>
          </a:p>
        </p:txBody>
      </p:sp>
      <p:sp>
        <p:nvSpPr>
          <p:cNvPr id="10" name="Shape 8"/>
          <p:cNvSpPr/>
          <p:nvPr/>
        </p:nvSpPr>
        <p:spPr>
          <a:xfrm>
            <a:off x="4709160" y="1280160"/>
            <a:ext cx="3977640" cy="2554224"/>
          </a:xfrm>
          <a:prstGeom prst="roundRect">
            <a:avLst>
              <a:gd name="adj" fmla="val 3580"/>
            </a:avLst>
          </a:prstGeom>
          <a:solidFill>
            <a:srgbClr val="F4F2EE"/>
          </a:solidFill>
          <a:ln w="12700">
            <a:solidFill>
              <a:srgbClr val="F4F2EE"/>
            </a:solidFill>
            <a:prstDash val="solid"/>
          </a:ln>
        </p:spPr>
      </p:sp>
      <p:sp>
        <p:nvSpPr>
          <p:cNvPr id="11" name="Text 9"/>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Build prerequisite</a:t>
            </a:r>
            <a:endParaRPr lang="en-US" sz="1600" dirty="0"/>
          </a:p>
        </p:txBody>
      </p:sp>
      <p:sp>
        <p:nvSpPr>
          <p:cNvPr id="12" name="Text 10"/>
          <p:cNvSpPr txBox="1"/>
          <p:nvPr/>
        </p:nvSpPr>
        <p:spPr>
          <a:xfrm>
            <a:off x="4892040" y="1783080"/>
            <a:ext cx="3611880" cy="191414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build prerequisite is a tool or library that must be installed on the computer before the program can be compiled. The book tells the reader to review the prerequisites, which it describes as the libraries that must be present on the system before the build can begin, in the first part of the build documentation, and adds that if they are missing the build process will fail with an error (Antonopoulos and Harding, 2023).</a:t>
            </a:r>
            <a:endParaRPr lang="en-US" sz="1200" dirty="0"/>
          </a:p>
        </p:txBody>
      </p:sp>
      <p:sp>
        <p:nvSpPr>
          <p:cNvPr id="13" name="Text 11"/>
          <p:cNvSpPr txBox="1"/>
          <p:nvPr/>
        </p:nvSpPr>
        <p:spPr>
          <a:xfrm>
            <a:off x="4709160" y="3980688"/>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Prerequisites are checked at configuration time.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Executable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bitcoind, bitcoin-cli, bitcoin-tx</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executable is a file that the operating system can run as a program. The book's installation step copies bitcoind, bitcoin-cli and bitcoin-tx into /usr/local/bin, and the command which asks the system for the path of an executable and confirms the installation (Antonopoulos and Harding, 2023).</a:t>
            </a:r>
            <a:endParaRPr lang="en-US" sz="1300" dirty="0"/>
          </a:p>
        </p:txBody>
      </p:sp>
      <p:sp>
        <p:nvSpPr>
          <p:cNvPr id="9" name="Shape 7"/>
          <p:cNvSpPr/>
          <p:nvPr/>
        </p:nvSpPr>
        <p:spPr>
          <a:xfrm>
            <a:off x="457200" y="2927096"/>
            <a:ext cx="8229600" cy="1252728"/>
          </a:xfrm>
          <a:prstGeom prst="roundRect">
            <a:avLst>
              <a:gd name="adj" fmla="val 7299"/>
            </a:avLst>
          </a:prstGeom>
          <a:solidFill>
            <a:srgbClr val="F4F2EE"/>
          </a:solidFill>
          <a:ln w="12700">
            <a:solidFill>
              <a:srgbClr val="F4F2EE"/>
            </a:solidFill>
            <a:prstDash val="solid"/>
          </a:ln>
        </p:spPr>
      </p:sp>
      <p:sp>
        <p:nvSpPr>
          <p:cNvPr id="10" name="Text 8"/>
          <p:cNvSpPr txBox="1"/>
          <p:nvPr/>
        </p:nvSpPr>
        <p:spPr>
          <a:xfrm>
            <a:off x="640080" y="304596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Where you meet it</a:t>
            </a:r>
            <a:endParaRPr lang="en-US" sz="1600" dirty="0"/>
          </a:p>
        </p:txBody>
      </p:sp>
      <p:sp>
        <p:nvSpPr>
          <p:cNvPr id="11" name="Text 9"/>
          <p:cNvSpPr txBox="1"/>
          <p:nvPr/>
        </p:nvSpPr>
        <p:spPr>
          <a:xfrm>
            <a:off x="640080" y="3430016"/>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release 31.1 archive that was downloaded and run for this chapter shows the layout: the folder bin holds bitcoin, bitcoin-cli, bitcoin-qt, bitcoin-tx, bitcoin-util, bitcoin-wallet and bitcoind, and the folder libexec holds bitcoin-gui, bitcoin-node and test_bitcoin (Bitcoin Core, 2026).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Package manager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package managers in the build notes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package manager is the program of an operating system that installs, updates and removes software, together with the libraries each program needs, from a collection of packages.</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re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 Debian / Ubuntu (`apt`)\n| Fedora (`dnf`)\n| Alpine (`apk`)\n| Arch (`pacman`)'</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re.findall(r'^\| (.+?) \(`(\w+)`\)', t, flags=re.M)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[('Debian / Ubuntu', 'apt'), ('Fedora', 'dnf'), ('Alpine', 'apk'), ('Arch', 'pacman')]</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package manager keeps a list of packages with their versions and their dependencies, and installs a package by installing everything it depends on first.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Operation</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Operation is the second large part of the chapter, and it is about what happens after the software has been built or downloaded: how a node is started, how it is configured, how its state is observed, and what kind of wallet comes with it.</a:t>
            </a:r>
            <a:endParaRPr lang="en-US" sz="1500" dirty="0"/>
          </a:p>
        </p:txBody>
      </p:sp>
      <p:sp>
        <p:nvSpPr>
          <p:cNvPr id="5" name="Shape 3"/>
          <p:cNvSpPr/>
          <p:nvPr/>
        </p:nvSpPr>
        <p:spPr>
          <a:xfrm>
            <a:off x="457200" y="2788920"/>
            <a:ext cx="2645664"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8 concepts</a:t>
            </a:r>
            <a:endParaRPr lang="en-US" sz="1200" dirty="0"/>
          </a:p>
        </p:txBody>
      </p:sp>
      <p:sp>
        <p:nvSpPr>
          <p:cNvPr id="7" name="Shape 5"/>
          <p:cNvSpPr/>
          <p:nvPr/>
        </p:nvSpPr>
        <p:spPr>
          <a:xfrm>
            <a:off x="3249168" y="2788920"/>
            <a:ext cx="2645664"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3322320"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Running</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9" name="Shape 7"/>
          <p:cNvSpPr/>
          <p:nvPr/>
        </p:nvSpPr>
        <p:spPr>
          <a:xfrm>
            <a:off x="6041136" y="2788920"/>
            <a:ext cx="2645664"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6114288"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Wallet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Configuration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Operation - 8 concepts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Configuration is the group of concepts that describe how a user tells Bitcoin Core how to behave.</a:t>
            </a:r>
            <a:endParaRPr lang="en-US" sz="1300" dirty="0"/>
          </a:p>
        </p:txBody>
      </p:sp>
      <p:sp>
        <p:nvSpPr>
          <p:cNvPr id="9" name="Shape 7"/>
          <p:cNvSpPr/>
          <p:nvPr/>
        </p:nvSpPr>
        <p:spPr>
          <a:xfrm>
            <a:off x="457200" y="2524252"/>
            <a:ext cx="2645664" cy="469223"/>
          </a:xfrm>
          <a:prstGeom prst="roundRect">
            <a:avLst>
              <a:gd name="adj" fmla="val 15590"/>
            </a:avLst>
          </a:prstGeom>
          <a:solidFill>
            <a:srgbClr val="F4F2EE"/>
          </a:solidFill>
          <a:ln w="12700">
            <a:solidFill>
              <a:srgbClr val="D9D4CC"/>
            </a:solidFill>
            <a:prstDash val="solid"/>
          </a:ln>
        </p:spPr>
      </p:sp>
      <p:sp>
        <p:nvSpPr>
          <p:cNvPr id="10" name="Text 8"/>
          <p:cNvSpPr txBox="1"/>
          <p:nvPr/>
        </p:nvSpPr>
        <p:spPr>
          <a:xfrm>
            <a:off x="548640" y="2579116"/>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Configuration file</a:t>
            </a:r>
            <a:endParaRPr lang="en-US" sz="1150" dirty="0"/>
          </a:p>
        </p:txBody>
      </p:sp>
      <p:sp>
        <p:nvSpPr>
          <p:cNvPr id="11" name="Shape 9"/>
          <p:cNvSpPr/>
          <p:nvPr/>
        </p:nvSpPr>
        <p:spPr>
          <a:xfrm>
            <a:off x="3249168" y="2524252"/>
            <a:ext cx="2645664" cy="469223"/>
          </a:xfrm>
          <a:prstGeom prst="roundRect">
            <a:avLst>
              <a:gd name="adj" fmla="val 15590"/>
            </a:avLst>
          </a:prstGeom>
          <a:solidFill>
            <a:srgbClr val="F4F2EE"/>
          </a:solidFill>
          <a:ln w="12700">
            <a:solidFill>
              <a:srgbClr val="D9D4CC"/>
            </a:solidFill>
            <a:prstDash val="solid"/>
          </a:ln>
        </p:spPr>
      </p:sp>
      <p:sp>
        <p:nvSpPr>
          <p:cNvPr id="12" name="Text 10"/>
          <p:cNvSpPr txBox="1"/>
          <p:nvPr/>
        </p:nvSpPr>
        <p:spPr>
          <a:xfrm>
            <a:off x="3340608" y="2579116"/>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Configuration option</a:t>
            </a:r>
            <a:endParaRPr lang="en-US" sz="1150" dirty="0"/>
          </a:p>
        </p:txBody>
      </p:sp>
      <p:sp>
        <p:nvSpPr>
          <p:cNvPr id="13" name="Shape 11"/>
          <p:cNvSpPr/>
          <p:nvPr/>
        </p:nvSpPr>
        <p:spPr>
          <a:xfrm>
            <a:off x="6041136" y="2524252"/>
            <a:ext cx="2645664" cy="469223"/>
          </a:xfrm>
          <a:prstGeom prst="roundRect">
            <a:avLst>
              <a:gd name="adj" fmla="val 15590"/>
            </a:avLst>
          </a:prstGeom>
          <a:solidFill>
            <a:srgbClr val="F4F2EE"/>
          </a:solidFill>
          <a:ln w="12700">
            <a:solidFill>
              <a:srgbClr val="D9D4CC"/>
            </a:solidFill>
            <a:prstDash val="solid"/>
          </a:ln>
        </p:spPr>
      </p:sp>
      <p:sp>
        <p:nvSpPr>
          <p:cNvPr id="14" name="Text 12"/>
          <p:cNvSpPr txBox="1"/>
          <p:nvPr/>
        </p:nvSpPr>
        <p:spPr>
          <a:xfrm>
            <a:off x="6132576" y="2579116"/>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Data directory</a:t>
            </a:r>
            <a:endParaRPr lang="en-US" sz="1150" dirty="0"/>
          </a:p>
        </p:txBody>
      </p:sp>
      <p:sp>
        <p:nvSpPr>
          <p:cNvPr id="15" name="Shape 13"/>
          <p:cNvSpPr/>
          <p:nvPr/>
        </p:nvSpPr>
        <p:spPr>
          <a:xfrm>
            <a:off x="457200" y="3121491"/>
            <a:ext cx="2645664" cy="469223"/>
          </a:xfrm>
          <a:prstGeom prst="roundRect">
            <a:avLst>
              <a:gd name="adj" fmla="val 15590"/>
            </a:avLst>
          </a:prstGeom>
          <a:solidFill>
            <a:srgbClr val="F4F2EE"/>
          </a:solidFill>
          <a:ln w="12700">
            <a:solidFill>
              <a:srgbClr val="D9D4CC"/>
            </a:solidFill>
            <a:prstDash val="solid"/>
          </a:ln>
        </p:spPr>
      </p:sp>
      <p:sp>
        <p:nvSpPr>
          <p:cNvPr id="16" name="Text 14"/>
          <p:cNvSpPr txBox="1"/>
          <p:nvPr/>
        </p:nvSpPr>
        <p:spPr>
          <a:xfrm>
            <a:off x="548640" y="3176355"/>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Database cache (dbcache)</a:t>
            </a:r>
            <a:endParaRPr lang="en-US" sz="1150" dirty="0"/>
          </a:p>
        </p:txBody>
      </p:sp>
      <p:sp>
        <p:nvSpPr>
          <p:cNvPr id="17" name="Shape 15"/>
          <p:cNvSpPr/>
          <p:nvPr/>
        </p:nvSpPr>
        <p:spPr>
          <a:xfrm>
            <a:off x="3249168" y="3121491"/>
            <a:ext cx="2645664" cy="469223"/>
          </a:xfrm>
          <a:prstGeom prst="roundRect">
            <a:avLst>
              <a:gd name="adj" fmla="val 15590"/>
            </a:avLst>
          </a:prstGeom>
          <a:solidFill>
            <a:srgbClr val="F4F2EE"/>
          </a:solidFill>
          <a:ln w="12700">
            <a:solidFill>
              <a:srgbClr val="D9D4CC"/>
            </a:solidFill>
            <a:prstDash val="solid"/>
          </a:ln>
        </p:spPr>
      </p:sp>
      <p:sp>
        <p:nvSpPr>
          <p:cNvPr id="18" name="Text 16"/>
          <p:cNvSpPr txBox="1"/>
          <p:nvPr/>
        </p:nvSpPr>
        <p:spPr>
          <a:xfrm>
            <a:off x="3340608" y="3176355"/>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 index (txindex)</a:t>
            </a:r>
            <a:endParaRPr lang="en-US" sz="1150" dirty="0"/>
          </a:p>
        </p:txBody>
      </p:sp>
      <p:sp>
        <p:nvSpPr>
          <p:cNvPr id="19" name="Shape 17"/>
          <p:cNvSpPr/>
          <p:nvPr/>
        </p:nvSpPr>
        <p:spPr>
          <a:xfrm>
            <a:off x="6041136" y="3121491"/>
            <a:ext cx="2645664" cy="469223"/>
          </a:xfrm>
          <a:prstGeom prst="roundRect">
            <a:avLst>
              <a:gd name="adj" fmla="val 15590"/>
            </a:avLst>
          </a:prstGeom>
          <a:solidFill>
            <a:srgbClr val="F4F2EE"/>
          </a:solidFill>
          <a:ln w="12700">
            <a:solidFill>
              <a:srgbClr val="D9D4CC"/>
            </a:solidFill>
            <a:prstDash val="solid"/>
          </a:ln>
        </p:spPr>
      </p:sp>
      <p:sp>
        <p:nvSpPr>
          <p:cNvPr id="20" name="Text 18"/>
          <p:cNvSpPr txBox="1"/>
          <p:nvPr/>
        </p:nvSpPr>
        <p:spPr>
          <a:xfrm>
            <a:off x="6132576" y="3176355"/>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Blocks-only mode</a:t>
            </a:r>
            <a:endParaRPr lang="en-US" sz="1150" dirty="0"/>
          </a:p>
        </p:txBody>
      </p:sp>
      <p:sp>
        <p:nvSpPr>
          <p:cNvPr id="21" name="Shape 19"/>
          <p:cNvSpPr/>
          <p:nvPr/>
        </p:nvSpPr>
        <p:spPr>
          <a:xfrm>
            <a:off x="457200" y="3718729"/>
            <a:ext cx="2645664" cy="469223"/>
          </a:xfrm>
          <a:prstGeom prst="roundRect">
            <a:avLst>
              <a:gd name="adj" fmla="val 15590"/>
            </a:avLst>
          </a:prstGeom>
          <a:solidFill>
            <a:srgbClr val="F4F2EE"/>
          </a:solidFill>
          <a:ln w="12700">
            <a:solidFill>
              <a:srgbClr val="D9D4CC"/>
            </a:solidFill>
            <a:prstDash val="solid"/>
          </a:ln>
        </p:spPr>
      </p:sp>
      <p:sp>
        <p:nvSpPr>
          <p:cNvPr id="22" name="Text 20"/>
          <p:cNvSpPr txBox="1"/>
          <p:nvPr/>
        </p:nvSpPr>
        <p:spPr>
          <a:xfrm>
            <a:off x="548640" y="3773593"/>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Mempool limit (maxmempool)</a:t>
            </a:r>
            <a:endParaRPr lang="en-US" sz="1150" dirty="0"/>
          </a:p>
        </p:txBody>
      </p:sp>
      <p:sp>
        <p:nvSpPr>
          <p:cNvPr id="23" name="Shape 21"/>
          <p:cNvSpPr/>
          <p:nvPr/>
        </p:nvSpPr>
        <p:spPr>
          <a:xfrm>
            <a:off x="3249168" y="3718729"/>
            <a:ext cx="2645664" cy="469223"/>
          </a:xfrm>
          <a:prstGeom prst="roundRect">
            <a:avLst>
              <a:gd name="adj" fmla="val 15590"/>
            </a:avLst>
          </a:prstGeom>
          <a:solidFill>
            <a:srgbClr val="F4F2EE"/>
          </a:solidFill>
          <a:ln w="12700">
            <a:solidFill>
              <a:srgbClr val="D9D4CC"/>
            </a:solidFill>
            <a:prstDash val="solid"/>
          </a:ln>
        </p:spPr>
      </p:sp>
      <p:sp>
        <p:nvSpPr>
          <p:cNvPr id="24" name="Text 22"/>
          <p:cNvSpPr txBox="1"/>
          <p:nvPr/>
        </p:nvSpPr>
        <p:spPr>
          <a:xfrm>
            <a:off x="3340608" y="3773593"/>
            <a:ext cx="2462784" cy="359495"/>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Alert notification (alertnotify)</a:t>
            </a:r>
            <a:endParaRPr lang="en-US" sz="1150" dirty="0"/>
          </a:p>
        </p:txBody>
      </p:sp>
      <p:sp>
        <p:nvSpPr>
          <p:cNvPr id="25" name="Text 2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order of the concepts follows the order of the book.</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Configuration file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bitcoin.conf in the data directory</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configuration file is a plain text file, named bitcoin.conf by default, in which the owner of a node writes the options that the program should use.</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dict(l.split('=', 1) for l in 'datadir=/lotsofspace/bitcoin\ntxindex=1'.splitlines())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{'datadir': '/lotsofspace/bitcoin', 'txindex': '1'}</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parser is simple. Blank lines are ignored, a comment starts with a number sign and runs to the end of the line, and a block with a name in square brackets, such as the one named main, holds options for one network only, which take precedence over options without a section (Bitcoin Core, 2026).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Configuration option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dbcache on the command line and in the file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configuration option is a named setting of the program, written in the book and in the help text with a leading hyphen, such as the setting that sets the size of the database cache.</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conf, cli = {'dbcache': '450', 'txindex': '1'}, {'dbcache': '2048'}</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{**conf, **cli}</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{'dbcache': '2048', 'txindex': '1'}</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precedence can be shown with two dictionaries. The file says 450 for the cache and 1 for the transaction index; the command line says 2048 for the cache.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Data directory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.bitcoin folder</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data directory is the folder in which Bitcoin Core stores everything it has to remember between runs.</a:t>
            </a:r>
            <a:endParaRPr lang="en-US" sz="1300" dirty="0"/>
          </a:p>
        </p:txBody>
      </p:sp>
      <p:sp>
        <p:nvSpPr>
          <p:cNvPr id="9" name="Shape 7"/>
          <p:cNvSpPr/>
          <p:nvPr/>
        </p:nvSpPr>
        <p:spPr>
          <a:xfrm>
            <a:off x="457200" y="2524252"/>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643124"/>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{'main': '', 'test': 'testnet3/', 'testnet4': 'testnet4/', 'signet': 'signet/', 'regtest': 'regtest/'}['regtest']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'regtest/'</a:t>
            </a:r>
            <a:endParaRPr lang="en-US" sz="9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18078"/>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53695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20998"/>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All content of the directory except the configuration file is specific to one network.</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Database cache (dbcache)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dbcache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database cache is a region of memory in which the node keeps part of the set of unspent outputs, so that it does not have to read the disk for every output it needs to check.</a:t>
            </a:r>
            <a:endParaRPr lang="en-US" sz="1300" dirty="0"/>
          </a:p>
        </p:txBody>
      </p:sp>
      <p:sp>
        <p:nvSpPr>
          <p:cNvPr id="9" name="Shape 7"/>
          <p:cNvSpPr/>
          <p:nvPr/>
        </p:nvSpPr>
        <p:spPr>
          <a:xfrm>
            <a:off x="457200" y="2524252"/>
            <a:ext cx="8229600" cy="1601216"/>
          </a:xfrm>
          <a:prstGeom prst="roundRect">
            <a:avLst>
              <a:gd name="adj" fmla="val 5711"/>
            </a:avLst>
          </a:prstGeom>
          <a:solidFill>
            <a:srgbClr val="15191E"/>
          </a:solidFill>
          <a:ln w="12700">
            <a:solidFill>
              <a:srgbClr val="15191E"/>
            </a:solidFill>
            <a:prstDash val="solid"/>
          </a:ln>
        </p:spPr>
      </p:sp>
      <p:sp>
        <p:nvSpPr>
          <p:cNvPr id="10" name="Text 8"/>
          <p:cNvSpPr txBox="1"/>
          <p:nvPr/>
        </p:nvSpPr>
        <p:spPr>
          <a:xfrm>
            <a:off x="640080" y="2643124"/>
            <a:ext cx="7863840" cy="136347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M = 2**20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1024 * M</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min(t // 8, 2 * M)</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a</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 = min(t // 2, 8 * M)</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b</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M, b // M, t // 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(2, 8, 1014)</a:t>
            </a:r>
            <a:endParaRPr lang="en-US" sz="1100" dirty="0"/>
          </a:p>
        </p:txBody>
      </p:sp>
      <p:sp>
        <p:nvSpPr>
          <p:cNvPr id="11" name="Text 9"/>
          <p:cNvSpPr txBox="1"/>
          <p:nvPr/>
        </p:nvSpPr>
        <p:spPr>
          <a:xfrm>
            <a:off x="457200" y="414375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1B1F24"/>
                </a:solidFill>
                <a:latin typeface="Cambria" pitchFamily="34" charset="0"/>
                <a:ea typeface="Cambria" pitchFamily="34" charset="-122"/>
                <a:cs typeface="Cambria" pitchFamily="34" charset="-120"/>
              </a:rPr>
              <a:t>Transaction index (txindex) and Blocks-only mode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Transaction index (txindex)</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transaction index is an optional database that lets the node find any confirmed transaction by its identifier.</a:t>
            </a:r>
            <a:endParaRPr lang="en-US" sz="1200" dirty="0"/>
          </a:p>
        </p:txBody>
      </p:sp>
      <p:sp>
        <p:nvSpPr>
          <p:cNvPr id="9" name="Shape 7"/>
          <p:cNvSpPr/>
          <p:nvPr/>
        </p:nvSpPr>
        <p:spPr>
          <a:xfrm>
            <a:off x="457200" y="2642616"/>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round(1024 * 10 / 100,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102.4</a:t>
            </a:r>
            <a:endParaRPr lang="en-US" sz="1050" dirty="0"/>
          </a:p>
        </p:txBody>
      </p:sp>
      <p:sp>
        <p:nvSpPr>
          <p:cNvPr id="11" name="Text 9"/>
          <p:cNvSpPr txBox="1"/>
          <p:nvPr/>
        </p:nvSpPr>
        <p:spPr>
          <a:xfrm>
            <a:off x="45720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8005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source of the index describes it as written to a LevelDB database that records the block sequence number and the serialized block offset of each transaction by transaction hash (Bitcoin Core, 2026).</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Blocks-only mode</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Blocks-only mode is a setting in which the node does not take part in the relay of unconfirmed transactions.</a:t>
            </a:r>
            <a:endParaRPr lang="en-US" sz="1200" dirty="0"/>
          </a:p>
        </p:txBody>
      </p:sp>
      <p:sp>
        <p:nvSpPr>
          <p:cNvPr id="16" name="Shape 14"/>
          <p:cNvSpPr/>
          <p:nvPr/>
        </p:nvSpPr>
        <p:spPr>
          <a:xfrm>
            <a:off x="4709160" y="2642616"/>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300 // 5</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60</a:t>
            </a:r>
            <a:endParaRPr lang="en-US" sz="1050" dirty="0"/>
          </a:p>
        </p:txBody>
      </p:sp>
      <p:sp>
        <p:nvSpPr>
          <p:cNvPr id="18" name="Text 16"/>
          <p:cNvSpPr txBox="1"/>
          <p:nvPr/>
        </p:nvSpPr>
        <p:spPr>
          <a:xfrm>
            <a:off x="470916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8005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In normal operation a node announces and requests unconfirmed transactions from its peers and keeps them in its mempool, from where it can tell a miner or a wallet about them.</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Mempool limit (maxmempool)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maxmempool=150</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mempool limit is the maximum size of the pool of unconfirmed transactions that the node holds, set by the option maxmempool. The book describes it as limiting the transaction memory pool to this many megabytes, and says to use it to reduce memory use on memory-constrained nodes; its second sample file sets it to 150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round(300 * 10**6 / 2**20,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286.1</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conversion explains the odd-looking figure: 300 megabytes is 300 times 10 to the sixth bytes, and dividing by 2 to the twentieth bytes per mebibyte gives 286.1 mebibytes, as the worked example computes.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Alert notification (alertnotify)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alertnotify=myemailscript.sh</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alert notification is a hook that lets a node tell its owner that something is wrong.</a:t>
            </a:r>
            <a:endParaRPr lang="en-US" sz="1300" dirty="0"/>
          </a:p>
        </p:txBody>
      </p:sp>
      <p:sp>
        <p:nvSpPr>
          <p:cNvPr id="9" name="Shape 7"/>
          <p:cNvSpPr/>
          <p:nvPr/>
        </p:nvSpPr>
        <p:spPr>
          <a:xfrm>
            <a:off x="457200" y="2322830"/>
            <a:ext cx="8229600" cy="1260348"/>
          </a:xfrm>
          <a:prstGeom prst="roundRect">
            <a:avLst>
              <a:gd name="adj" fmla="val 7255"/>
            </a:avLst>
          </a:prstGeom>
          <a:solidFill>
            <a:srgbClr val="15191E"/>
          </a:solidFill>
          <a:ln w="12700">
            <a:solidFill>
              <a:srgbClr val="15191E"/>
            </a:solidFill>
            <a:prstDash val="solid"/>
          </a:ln>
        </p:spPr>
      </p:sp>
      <p:sp>
        <p:nvSpPr>
          <p:cNvPr id="10" name="Text 8"/>
          <p:cNvSpPr txBox="1"/>
          <p:nvPr/>
        </p:nvSpPr>
        <p:spPr>
          <a:xfrm>
            <a:off x="640080" y="2441702"/>
            <a:ext cx="7863840" cy="1022604"/>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string</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safe = string.ascii_letters + string.digits + ' .,;-_/:?@()'</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msg = "x'; reboot; '"</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text = "'" + ''.join(c for c in msg if c in safe) + "'"</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'myemailscript.sh "Alert: %s"'.replace('%s', text)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'myemailscript.sh "Alert: \'x; reboot; \'"'</a:t>
            </a:r>
            <a:endParaRPr lang="en-US" sz="1100" dirty="0"/>
          </a:p>
        </p:txBody>
      </p:sp>
      <p:sp>
        <p:nvSpPr>
          <p:cNvPr id="11" name="Text 9"/>
          <p:cNvSpPr txBox="1"/>
          <p:nvPr/>
        </p:nvSpPr>
        <p:spPr>
          <a:xfrm>
            <a:off x="457200" y="360146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7498"/>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When a warning is set, the node calls a function that reads the command from the option, takes the warning text, strips every character that is not a letter, a digit, a blank or one of the characters in the string .,;-_/:?@(), puts single quotes around the result and replaces each %s in the command with it (Bitcoin Core, 2026).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Running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Operation - 4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Running is the group of concepts that describe a node while it is alive: how it is started so that it keeps going without a person, what it writes while it starts, and how its owner asks two short questions about its state. The book moves from the configuration to this stage with a test: the node is started in the foreground with the option that sends the log to the console, the owner reads the lines to see whether the right settings are loaded, and interrupts the program once satisfied. Then the node is run in the background as a process and queried with the command line client (Antonopoulos and Harding, 2023).</a:t>
            </a:r>
            <a:endParaRPr lang="en-US" sz="1300" dirty="0"/>
          </a:p>
        </p:txBody>
      </p:sp>
      <p:sp>
        <p:nvSpPr>
          <p:cNvPr id="9" name="Shape 7"/>
          <p:cNvSpPr/>
          <p:nvPr/>
        </p:nvSpPr>
        <p:spPr>
          <a:xfrm>
            <a:off x="457200" y="3531362"/>
            <a:ext cx="1947672" cy="656590"/>
          </a:xfrm>
          <a:prstGeom prst="roundRect">
            <a:avLst>
              <a:gd name="adj" fmla="val 11141"/>
            </a:avLst>
          </a:prstGeom>
          <a:solidFill>
            <a:srgbClr val="F4F2EE"/>
          </a:solidFill>
          <a:ln w="12700">
            <a:solidFill>
              <a:srgbClr val="D9D4CC"/>
            </a:solidFill>
            <a:prstDash val="solid"/>
          </a:ln>
        </p:spPr>
      </p:sp>
      <p:sp>
        <p:nvSpPr>
          <p:cNvPr id="10" name="Text 8"/>
          <p:cNvSpPr txBox="1"/>
          <p:nvPr/>
        </p:nvSpPr>
        <p:spPr>
          <a:xfrm>
            <a:off x="548640"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Daemon</a:t>
            </a:r>
            <a:endParaRPr lang="en-US" sz="1250" dirty="0"/>
          </a:p>
        </p:txBody>
      </p:sp>
      <p:sp>
        <p:nvSpPr>
          <p:cNvPr id="11" name="Shape 9"/>
          <p:cNvSpPr/>
          <p:nvPr/>
        </p:nvSpPr>
        <p:spPr>
          <a:xfrm>
            <a:off x="2551176" y="3531362"/>
            <a:ext cx="1947672" cy="656590"/>
          </a:xfrm>
          <a:prstGeom prst="roundRect">
            <a:avLst>
              <a:gd name="adj" fmla="val 11141"/>
            </a:avLst>
          </a:prstGeom>
          <a:solidFill>
            <a:srgbClr val="F4F2EE"/>
          </a:solidFill>
          <a:ln w="12700">
            <a:solidFill>
              <a:srgbClr val="D9D4CC"/>
            </a:solidFill>
            <a:prstDash val="solid"/>
          </a:ln>
        </p:spPr>
      </p:sp>
      <p:sp>
        <p:nvSpPr>
          <p:cNvPr id="12" name="Text 10"/>
          <p:cNvSpPr txBox="1"/>
          <p:nvPr/>
        </p:nvSpPr>
        <p:spPr>
          <a:xfrm>
            <a:off x="2642616"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Start-up log</a:t>
            </a:r>
            <a:endParaRPr lang="en-US" sz="1250" dirty="0"/>
          </a:p>
        </p:txBody>
      </p:sp>
      <p:sp>
        <p:nvSpPr>
          <p:cNvPr id="13" name="Shape 11"/>
          <p:cNvSpPr/>
          <p:nvPr/>
        </p:nvSpPr>
        <p:spPr>
          <a:xfrm>
            <a:off x="4645152" y="3531362"/>
            <a:ext cx="1947672" cy="656590"/>
          </a:xfrm>
          <a:prstGeom prst="roundRect">
            <a:avLst>
              <a:gd name="adj" fmla="val 11141"/>
            </a:avLst>
          </a:prstGeom>
          <a:solidFill>
            <a:srgbClr val="F4F2EE"/>
          </a:solidFill>
          <a:ln w="12700">
            <a:solidFill>
              <a:srgbClr val="D9D4CC"/>
            </a:solidFill>
            <a:prstDash val="solid"/>
          </a:ln>
        </p:spPr>
      </p:sp>
      <p:sp>
        <p:nvSpPr>
          <p:cNvPr id="14" name="Text 12"/>
          <p:cNvSpPr txBox="1"/>
          <p:nvPr/>
        </p:nvSpPr>
        <p:spPr>
          <a:xfrm>
            <a:off x="4736592"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Blockchain information (getblockchaininfo)</a:t>
            </a:r>
            <a:endParaRPr lang="en-US" sz="1250" dirty="0"/>
          </a:p>
        </p:txBody>
      </p:sp>
      <p:sp>
        <p:nvSpPr>
          <p:cNvPr id="15" name="Shape 13"/>
          <p:cNvSpPr/>
          <p:nvPr/>
        </p:nvSpPr>
        <p:spPr>
          <a:xfrm>
            <a:off x="6739128" y="3531362"/>
            <a:ext cx="1947672" cy="656590"/>
          </a:xfrm>
          <a:prstGeom prst="roundRect">
            <a:avLst>
              <a:gd name="adj" fmla="val 11141"/>
            </a:avLst>
          </a:prstGeom>
          <a:solidFill>
            <a:srgbClr val="F4F2EE"/>
          </a:solidFill>
          <a:ln w="12700">
            <a:solidFill>
              <a:srgbClr val="D9D4CC"/>
            </a:solidFill>
            <a:prstDash val="solid"/>
          </a:ln>
        </p:spPr>
      </p:sp>
      <p:sp>
        <p:nvSpPr>
          <p:cNvPr id="16" name="Text 14"/>
          <p:cNvSpPr txBox="1"/>
          <p:nvPr/>
        </p:nvSpPr>
        <p:spPr>
          <a:xfrm>
            <a:off x="6830568"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Network information (getnetworkinfo)</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are taken in the order of events.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Daemon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bitcoind -daemon</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daemon is a program that runs in the background of the operating system, without a terminal and without a person typing to it, and waits for work.</a:t>
            </a:r>
            <a:endParaRPr lang="en-US" sz="1300" dirty="0"/>
          </a:p>
        </p:txBody>
      </p:sp>
      <p:sp>
        <p:nvSpPr>
          <p:cNvPr id="9" name="Shape 7"/>
          <p:cNvSpPr/>
          <p:nvPr/>
        </p:nvSpPr>
        <p:spPr>
          <a:xfrm>
            <a:off x="457200" y="2524252"/>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643124"/>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text = DAEMON_D1</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line = text.split('\nExecStart=')[1].split('ExecStartPre')[0]</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[w.split('=')[0] for w in line.split() if w.startswith('-') and not w.startswith('--')]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10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1950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3837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2242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systemd unit is a good example of what such a script does.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Start-up log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bitcoind -printtoconsole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start-up log is the stream of messages that the node writes while it starts, and afterwards as it runs.</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log = 'Starting HTTP server with 16 worker threads'</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next(l for l in log.splitlines() if 'worker threads' in l).split()[-3]</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'16'</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Several lines can be compared with the book's log of release 24.0.1.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Blockchain information (getblockchaininfo)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bitcoin-cli getblockchaininfo</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Blockchain information is the answer that the node gives to the call getblockchaininfo, the book's first example of monitoring a node: start it in daemon mode and then use the command bitcoin-cli getblockchaininfo to watch its progress and its status (Antonopoulos and Harding, 2023).</a:t>
            </a:r>
            <a:endParaRPr lang="en-US" sz="1300" dirty="0"/>
          </a:p>
        </p:txBody>
      </p:sp>
      <p:sp>
        <p:nvSpPr>
          <p:cNvPr id="9" name="Shape 7"/>
          <p:cNvSpPr/>
          <p:nvPr/>
        </p:nvSpPr>
        <p:spPr>
          <a:xfrm>
            <a:off x="457200" y="2927096"/>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3045968"/>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(json.load(io.StringIO(BLOCKCHAININFO_D1))['chain'], json.load(io.StringIO(BLOCKCHAININFO_D1))['blocks'], json.load(io.StringIO(BLOCKCHAININFO_D1))['initialblockdownload'])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('main', 0, True)</a:t>
            </a:r>
            <a:endParaRPr lang="en-US" sz="900" dirty="0"/>
          </a:p>
        </p:txBody>
      </p:sp>
      <p:sp>
        <p:nvSpPr>
          <p:cNvPr id="11" name="Text 9"/>
          <p:cNvSpPr txBox="1"/>
          <p:nvPr/>
        </p:nvSpPr>
        <p:spPr>
          <a:xfrm>
            <a:off x="457200" y="360146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749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Some fields deserve a closer reading. The field with the work of the chain, written in hexadecimal, shows 100010001 at its end for the first block, as in the book's printout, which the chain work concept derives from the target.</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Network information (getnetworkinfo)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bitcoin-cli getnetworkinfo</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Network information is the answer to the call getnetworkinfo, one of the commands that the book lists beside the call for the chain, the mempool and the wallet when it says how to get information on the status of the node (Antonopoulos and Harding, 2023).</a:t>
            </a:r>
            <a:endParaRPr lang="en-US" sz="1300" dirty="0"/>
          </a:p>
        </p:txBody>
      </p:sp>
      <p:sp>
        <p:nvSpPr>
          <p:cNvPr id="9" name="Shape 7"/>
          <p:cNvSpPr/>
          <p:nvPr/>
        </p:nvSpPr>
        <p:spPr>
          <a:xfrm>
            <a:off x="457200" y="2725674"/>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844546"/>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names = (('NETWORK', 1), ('BLOOM', 4), ('WITNESS', 8), ('NETWORK_LIMITED', 1024), ('P2P_V2', 2048))</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[n for n, b in names if 0xc09 &amp; 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['NETWORK', 'WITNESS', 'NETWORK_LIMITED', 'P2P_V2']</a:t>
            </a:r>
            <a:endParaRPr lang="en-US" sz="1000" dirty="0"/>
          </a:p>
        </p:txBody>
      </p:sp>
      <p:sp>
        <p:nvSpPr>
          <p:cNvPr id="11" name="Text 9"/>
          <p:cNvSpPr txBox="1"/>
          <p:nvPr/>
        </p:nvSpPr>
        <p:spPr>
          <a:xfrm>
            <a:off x="457200" y="344652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02558"/>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version number encodes three numbers: the source defines the client version as 10000 times the major number plus 100 times the minor number plus the build number, so release 31.1.0 is 310100 and the book's release 24.0.1 is 240001, and the user-agent string is built by writing the three numbers between the name Satoshi and slashes, following the specification in BIP 14 (Bitcoin Core, 2026).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Wallet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Operation - 4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wallet group collects the concepts about the wallet that comes with Bitcoin Core. Chapter 1 introduced the wallet as the application with which a user holds and spends bitcoin, and the book says here that the reference implementation includes wallets next to the validation engine and the tools for block construction (Antonopoulos and Harding, 2023). In this software the wallet is optional: the build can leave it out, as the book's option to disable the reference wallet implementation shows, and a node can run without one (Antonopoulos and Harding, 2023).</a:t>
            </a:r>
            <a:endParaRPr lang="en-US" sz="1300" dirty="0"/>
          </a:p>
        </p:txBody>
      </p:sp>
      <p:sp>
        <p:nvSpPr>
          <p:cNvPr id="9" name="Shape 7"/>
          <p:cNvSpPr/>
          <p:nvPr/>
        </p:nvSpPr>
        <p:spPr>
          <a:xfrm>
            <a:off x="457200" y="3329940"/>
            <a:ext cx="1947672"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Descriptor wallet</a:t>
            </a:r>
            <a:endParaRPr lang="en-US" sz="1250" dirty="0"/>
          </a:p>
        </p:txBody>
      </p:sp>
      <p:sp>
        <p:nvSpPr>
          <p:cNvPr id="11" name="Shape 9"/>
          <p:cNvSpPr/>
          <p:nvPr/>
        </p:nvSpPr>
        <p:spPr>
          <a:xfrm>
            <a:off x="2551176" y="3329940"/>
            <a:ext cx="1947672"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2642616"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Legacy wallet</a:t>
            </a:r>
            <a:endParaRPr lang="en-US" sz="1250" dirty="0"/>
          </a:p>
        </p:txBody>
      </p:sp>
      <p:sp>
        <p:nvSpPr>
          <p:cNvPr id="13" name="Shape 11"/>
          <p:cNvSpPr/>
          <p:nvPr/>
        </p:nvSpPr>
        <p:spPr>
          <a:xfrm>
            <a:off x="4645152" y="3329940"/>
            <a:ext cx="1947672"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4736592"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Output descriptor</a:t>
            </a:r>
            <a:endParaRPr lang="en-US" sz="1250" dirty="0"/>
          </a:p>
        </p:txBody>
      </p:sp>
      <p:sp>
        <p:nvSpPr>
          <p:cNvPr id="15" name="Shape 13"/>
          <p:cNvSpPr/>
          <p:nvPr/>
        </p:nvSpPr>
        <p:spPr>
          <a:xfrm>
            <a:off x="6739128" y="3329940"/>
            <a:ext cx="1947672" cy="858012"/>
          </a:xfrm>
          <a:prstGeom prst="roundRect">
            <a:avLst>
              <a:gd name="adj" fmla="val 8526"/>
            </a:avLst>
          </a:prstGeom>
          <a:solidFill>
            <a:srgbClr val="F4F2EE"/>
          </a:solidFill>
          <a:ln w="12700">
            <a:solidFill>
              <a:srgbClr val="D9D4CC"/>
            </a:solidFill>
            <a:prstDash val="solid"/>
          </a:ln>
        </p:spPr>
      </p:sp>
      <p:sp>
        <p:nvSpPr>
          <p:cNvPr id="16" name="Text 14"/>
          <p:cNvSpPr txBox="1"/>
          <p:nvPr/>
        </p:nvSpPr>
        <p:spPr>
          <a:xfrm>
            <a:off x="6830568" y="3384804"/>
            <a:ext cx="1764792"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Output type</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three concepts follow the story of the format. The legacy wallet was the first kind, kept in a Berkeley DB file and described with keys alone.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Descriptor wallet and Legacy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Descriptor wallet</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descriptor wallet is a wallet whose content is a set of output descriptions, each stating one family of scripts that the wallet can receive to and spend from.</a:t>
            </a:r>
            <a:endParaRPr lang="en-US" sz="1200" dirty="0"/>
          </a:p>
        </p:txBody>
      </p:sp>
      <p:sp>
        <p:nvSpPr>
          <p:cNvPr id="9" name="Shape 7"/>
          <p:cNvSpPr/>
          <p:nvPr/>
        </p:nvSpPr>
        <p:spPr>
          <a:xfrm>
            <a:off x="457200" y="2828544"/>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4 * 1000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4000</a:t>
            </a:r>
            <a:endParaRPr lang="en-US" sz="1050" dirty="0"/>
          </a:p>
        </p:txBody>
      </p:sp>
      <p:sp>
        <p:nvSpPr>
          <p:cNvPr id="11" name="Text 9"/>
          <p:cNvSpPr txBox="1"/>
          <p:nvPr/>
        </p:nvSpPr>
        <p:spPr>
          <a:xfrm>
            <a:off x="45720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Legacy wallet</a:t>
            </a:r>
            <a:endParaRPr lang="en-US" sz="1600" dirty="0"/>
          </a:p>
        </p:txBody>
      </p:sp>
      <p:sp>
        <p:nvSpPr>
          <p:cNvPr id="14" name="Text 12"/>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legacy wallet is the kind of wallet that Bitcoin Core used before descriptors: a Berkeley DB database file holding the keys of the owner and the transactions that concern them.</a:t>
            </a:r>
            <a:endParaRPr lang="en-US" sz="1200" dirty="0"/>
          </a:p>
        </p:txBody>
      </p:sp>
      <p:sp>
        <p:nvSpPr>
          <p:cNvPr id="15" name="Shape 13"/>
          <p:cNvSpPr/>
          <p:nvPr/>
        </p:nvSpPr>
        <p:spPr>
          <a:xfrm>
            <a:off x="4709160" y="3014472"/>
            <a:ext cx="3977640" cy="725805"/>
          </a:xfrm>
          <a:prstGeom prst="roundRect">
            <a:avLst>
              <a:gd name="adj" fmla="val 12598"/>
            </a:avLst>
          </a:prstGeom>
          <a:solidFill>
            <a:srgbClr val="15191E"/>
          </a:solidFill>
          <a:ln w="12700">
            <a:solidFill>
              <a:srgbClr val="15191E"/>
            </a:solidFill>
            <a:prstDash val="solid"/>
          </a:ln>
        </p:spPr>
      </p:sp>
      <p:sp>
        <p:nvSpPr>
          <p:cNvPr id="16" name="Text 14"/>
          <p:cNvSpPr txBox="1"/>
          <p:nvPr/>
        </p:nvSpPr>
        <p:spPr>
          <a:xfrm>
            <a:off x="4892040" y="3133344"/>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int(io.StringIO(LEGACYWALLET_D1).read().split()[2])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a:t>
            </a:r>
            <a:endParaRPr lang="en-US" sz="1050" dirty="0"/>
          </a:p>
        </p:txBody>
      </p:sp>
      <p:sp>
        <p:nvSpPr>
          <p:cNvPr id="17" name="Text 15"/>
          <p:cNvSpPr txBox="1"/>
          <p:nvPr/>
        </p:nvSpPr>
        <p:spPr>
          <a:xfrm>
            <a:off x="4709160" y="3758565"/>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4014597"/>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reason for the change lies in what a wallet must know.</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Output descriptor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wpkh(02f9...)#8zl0zxma</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output descriptor is a short piece of text in a simple language that describes a collection of output scripts.</a:t>
            </a:r>
            <a:endParaRPr lang="en-US" sz="1200" dirty="0"/>
          </a:p>
        </p:txBody>
      </p:sp>
      <p:sp>
        <p:nvSpPr>
          <p:cNvPr id="9" name="Shape 7"/>
          <p:cNvSpPr/>
          <p:nvPr/>
        </p:nvSpPr>
        <p:spPr>
          <a:xfrm>
            <a:off x="457200" y="2493264"/>
            <a:ext cx="8229600" cy="1771650"/>
          </a:xfrm>
          <a:prstGeom prst="roundRect">
            <a:avLst>
              <a:gd name="adj" fmla="val 5161"/>
            </a:avLst>
          </a:prstGeom>
          <a:solidFill>
            <a:srgbClr val="15191E"/>
          </a:solidFill>
          <a:ln w="12700">
            <a:solidFill>
              <a:srgbClr val="15191E"/>
            </a:solidFill>
            <a:prstDash val="solid"/>
          </a:ln>
        </p:spPr>
      </p:sp>
      <p:sp>
        <p:nvSpPr>
          <p:cNvPr id="10" name="Text 8"/>
          <p:cNvSpPr txBox="1"/>
          <p:nvPr/>
        </p:nvSpPr>
        <p:spPr>
          <a:xfrm>
            <a:off x="640080" y="2612136"/>
            <a:ext cx="7863840" cy="153390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INPUT_CHARSET = OUTPUTDESCRIPTOR_D1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CHECKSUM_CHARSET = "qpzry9x8gf2tvdw0s3jn54khce6mua7l"</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GENERATOR = [0xf5dee51989, 0xa9fdca3312, 0x1bab10e32d, 0x3706b1677a, 0x644d626ffd]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def descsum_polymod(symbols):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chk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value in symbols: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top = chk &gt;&gt; 35</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chk = (chk &amp; 0x7ffffffff) &lt;&lt; 5 ^ value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i in range(5):</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chk ^= GENERATOR[i] if ((top &gt;&gt; i) &amp; 1) else 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chk</a:t>
            </a:r>
            <a:endParaRPr lang="en-US" sz="900" dirty="0"/>
          </a:p>
        </p:txBody>
      </p:sp>
      <p:sp>
        <p:nvSpPr>
          <p:cNvPr id="11" name="Text 9"/>
          <p:cNvSpPr txBox="1"/>
          <p:nvPr/>
        </p:nvSpPr>
        <p:spPr>
          <a:xfrm>
            <a:off x="457200" y="428320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OutputDescriptor, lines 1 to 11 of 40, run under Python 3.14.4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Output descriptor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3026664"/>
          </a:xfrm>
          <a:prstGeom prst="roundRect">
            <a:avLst>
              <a:gd name="adj" fmla="val 3021"/>
            </a:avLst>
          </a:prstGeom>
          <a:solidFill>
            <a:srgbClr val="15191E"/>
          </a:solidFill>
          <a:ln w="12700">
            <a:solidFill>
              <a:srgbClr val="15191E"/>
            </a:solidFill>
            <a:prstDash val="solid"/>
          </a:ln>
        </p:spPr>
      </p:sp>
      <p:sp>
        <p:nvSpPr>
          <p:cNvPr id="7" name="Text 5"/>
          <p:cNvSpPr txBox="1"/>
          <p:nvPr/>
        </p:nvSpPr>
        <p:spPr>
          <a:xfrm>
            <a:off x="640080" y="1399032"/>
            <a:ext cx="7863840" cy="2788920"/>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def descsum_expand(s):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groups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 c in 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not c in INPUT_CHARSET: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None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v = INPUT_CHARSET.find(c)</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symbols.append(v &amp; 31)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groups.append(v &gt;&gt; 5)</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len(groups) == 3:</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symbols.append(groups[0] * 9 + groups[1] * 3 + groups[2])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groups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len(groups)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symbols.append(groups[0])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elif len(groups) ==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symbols.append(groups[0] * 3 + groups[1])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symbols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def descsum_check(s):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if s[-9]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False</a:t>
            </a:r>
            <a:endParaRPr lang="en-US" sz="900" dirty="0"/>
          </a:p>
        </p:txBody>
      </p:sp>
      <p:sp>
        <p:nvSpPr>
          <p:cNvPr id="8" name="Text 6"/>
          <p:cNvSpPr txBox="1"/>
          <p:nvPr/>
        </p:nvSpPr>
        <p:spPr>
          <a:xfrm>
            <a:off x="457200" y="432511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OutputDescriptor, lines 12 to 31 of 40, run under Python 3.14.4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Output descriptor (3 of 5)</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1492758"/>
          </a:xfrm>
          <a:prstGeom prst="roundRect">
            <a:avLst>
              <a:gd name="adj" fmla="val 6126"/>
            </a:avLst>
          </a:prstGeom>
          <a:solidFill>
            <a:srgbClr val="15191E"/>
          </a:solidFill>
          <a:ln w="12700">
            <a:solidFill>
              <a:srgbClr val="15191E"/>
            </a:solidFill>
            <a:prstDash val="solid"/>
          </a:ln>
        </p:spPr>
      </p:sp>
      <p:sp>
        <p:nvSpPr>
          <p:cNvPr id="7" name="Text 5"/>
          <p:cNvSpPr txBox="1"/>
          <p:nvPr/>
        </p:nvSpPr>
        <p:spPr>
          <a:xfrm>
            <a:off x="640080" y="1399032"/>
            <a:ext cx="7863840" cy="1255014"/>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    if not all(x in CHECKSUM_CHARSET for x in s[-8:]):</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False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 = descsum_expand(s[:-9]) + [CHECKSUM_CHARSET.find(x) for x in s[-8:]]</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descsum_polymod(symbols)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def descsum_create(s):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symbols = descsum_expand(s) + [0, 0, 0, 0, 0, 0, 0, 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checksum = descsum_polymod(symbols)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s + '#' + ''.join(CHECKSUM_CHARSET[(checksum &gt;&gt; (5 * (7 - i))) &amp; 31] for i in range(8))</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descsum_create('wpkh(02f9308a019258c31049344f85f89d5229b531c845836f99b08601f113bce036f9)')[-9:]</a:t>
            </a:r>
            <a:endParaRPr lang="en-US" sz="900" dirty="0"/>
          </a:p>
        </p:txBody>
      </p:sp>
      <p:sp>
        <p:nvSpPr>
          <p:cNvPr id="8" name="Text 6"/>
          <p:cNvSpPr txBox="1"/>
          <p:nvPr/>
        </p:nvSpPr>
        <p:spPr>
          <a:xfrm>
            <a:off x="457200" y="2791206"/>
            <a:ext cx="8229600" cy="256032"/>
          </a:xfrm>
          <a:prstGeom prst="rect">
            <a:avLst/>
          </a:prstGeom>
          <a:noFill/>
          <a:ln/>
        </p:spPr>
        <p:txBody>
          <a:bodyPr wrap="square" lIns="0" tIns="0" rIns="0" bIns="0" rtlCol="0" anchor="ctr"/>
          <a:lstStyle/>
          <a:p>
            <a:pPr indent="0" marL="0">
              <a:buNone/>
            </a:pPr>
            <a:r>
              <a:rPr lang="en-US" sz="900" b="1" dirty="0">
                <a:solidFill>
                  <a:srgbClr val="F7931A"/>
                </a:solidFill>
                <a:latin typeface="Courier New" pitchFamily="34" charset="0"/>
                <a:ea typeface="Courier New" pitchFamily="34" charset="-122"/>
                <a:cs typeface="Courier New" pitchFamily="34" charset="-120"/>
              </a:rPr>
              <a:t>result  </a:t>
            </a:r>
            <a:pPr indent="0" marL="0">
              <a:buNone/>
            </a:pPr>
            <a:r>
              <a:rPr lang="en-US" sz="900" dirty="0">
                <a:solidFill>
                  <a:srgbClr val="1B1F24"/>
                </a:solidFill>
                <a:latin typeface="Courier New" pitchFamily="34" charset="0"/>
                <a:ea typeface="Courier New" pitchFamily="34" charset="-122"/>
                <a:cs typeface="Courier New" pitchFamily="34" charset="-120"/>
              </a:rPr>
              <a:t>'#8zl0zxma'</a:t>
            </a:r>
            <a:endParaRPr lang="en-US" sz="900" dirty="0"/>
          </a:p>
        </p:txBody>
      </p:sp>
      <p:sp>
        <p:nvSpPr>
          <p:cNvPr id="9" name="Text 7"/>
          <p:cNvSpPr txBox="1"/>
          <p:nvPr/>
        </p:nvSpPr>
        <p:spPr>
          <a:xfrm>
            <a:off x="457200" y="304723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OutputDescriptor, lines 32 to 40 of 40, run under Python 3.14.4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Output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descriptor kinds in the demo wallet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output type is the form of the locking script of an output, which decides what the spender must show to spend it.</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json, re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 = json.load(io.StringIO(OUTPUTTYPE_D1))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sorted({re.match(r'[a-z]+', x['desc']).group(0) for x in d['descriptors']})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['pkh', 'sh', 'tr', 'wpkh']</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descriptor of an output type is a function that takes a key, or several, and says how the locking script is built from it.</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Interface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interface branch is about how other programs and people talk to a running node.</a:t>
            </a:r>
            <a:endParaRPr lang="en-US" sz="1500" dirty="0"/>
          </a:p>
        </p:txBody>
      </p:sp>
      <p:sp>
        <p:nvSpPr>
          <p:cNvPr id="5" name="Shape 3"/>
          <p:cNvSpPr/>
          <p:nvPr/>
        </p:nvSpPr>
        <p:spPr>
          <a:xfrm>
            <a:off x="457200" y="2788920"/>
            <a:ext cx="4041648"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RPC interface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8 concepts</a:t>
            </a:r>
            <a:endParaRPr lang="en-US" sz="1200" dirty="0"/>
          </a:p>
        </p:txBody>
      </p:sp>
      <p:sp>
        <p:nvSpPr>
          <p:cNvPr id="7" name="Shape 5"/>
          <p:cNvSpPr/>
          <p:nvPr/>
        </p:nvSpPr>
        <p:spPr>
          <a:xfrm>
            <a:off x="4645152" y="2788920"/>
            <a:ext cx="4041648"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4718304"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RPC interface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Interface - 8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RPC interface is the group of concepts that describe the programmatic doorway of Bitcoin Core. It gathers the idea of an application programming interface, the protocol that Bitcoin Core uses for it, the data format and the transport on which that protocol rides, and the two mechanisms with which the node checks the identity of a caller.</a:t>
            </a:r>
            <a:endParaRPr lang="en-US" sz="1300" dirty="0"/>
          </a:p>
        </p:txBody>
      </p:sp>
      <p:sp>
        <p:nvSpPr>
          <p:cNvPr id="9" name="Shape 7"/>
          <p:cNvSpPr/>
          <p:nvPr/>
        </p:nvSpPr>
        <p:spPr>
          <a:xfrm>
            <a:off x="457200" y="2927096"/>
            <a:ext cx="2645664" cy="334941"/>
          </a:xfrm>
          <a:prstGeom prst="roundRect">
            <a:avLst>
              <a:gd name="adj" fmla="val 21840"/>
            </a:avLst>
          </a:prstGeom>
          <a:solidFill>
            <a:srgbClr val="F4F2EE"/>
          </a:solidFill>
          <a:ln w="12700">
            <a:solidFill>
              <a:srgbClr val="D9D4CC"/>
            </a:solidFill>
            <a:prstDash val="solid"/>
          </a:ln>
        </p:spPr>
      </p:sp>
      <p:sp>
        <p:nvSpPr>
          <p:cNvPr id="10" name="Text 8"/>
          <p:cNvSpPr txBox="1"/>
          <p:nvPr/>
        </p:nvSpPr>
        <p:spPr>
          <a:xfrm>
            <a:off x="548640"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Application programming interface</a:t>
            </a:r>
            <a:endParaRPr lang="en-US" sz="1150" dirty="0"/>
          </a:p>
        </p:txBody>
      </p:sp>
      <p:sp>
        <p:nvSpPr>
          <p:cNvPr id="11" name="Shape 9"/>
          <p:cNvSpPr/>
          <p:nvPr/>
        </p:nvSpPr>
        <p:spPr>
          <a:xfrm>
            <a:off x="3249168" y="2927096"/>
            <a:ext cx="2645664" cy="334941"/>
          </a:xfrm>
          <a:prstGeom prst="roundRect">
            <a:avLst>
              <a:gd name="adj" fmla="val 21840"/>
            </a:avLst>
          </a:prstGeom>
          <a:solidFill>
            <a:srgbClr val="F4F2EE"/>
          </a:solidFill>
          <a:ln w="12700">
            <a:solidFill>
              <a:srgbClr val="D9D4CC"/>
            </a:solidFill>
            <a:prstDash val="solid"/>
          </a:ln>
        </p:spPr>
      </p:sp>
      <p:sp>
        <p:nvSpPr>
          <p:cNvPr id="12" name="Text 10"/>
          <p:cNvSpPr txBox="1"/>
          <p:nvPr/>
        </p:nvSpPr>
        <p:spPr>
          <a:xfrm>
            <a:off x="3340608"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JSON-RPC interface</a:t>
            </a:r>
            <a:endParaRPr lang="en-US" sz="1150" dirty="0"/>
          </a:p>
        </p:txBody>
      </p:sp>
      <p:sp>
        <p:nvSpPr>
          <p:cNvPr id="13" name="Shape 11"/>
          <p:cNvSpPr/>
          <p:nvPr/>
        </p:nvSpPr>
        <p:spPr>
          <a:xfrm>
            <a:off x="6041136" y="2927096"/>
            <a:ext cx="2645664" cy="334941"/>
          </a:xfrm>
          <a:prstGeom prst="roundRect">
            <a:avLst>
              <a:gd name="adj" fmla="val 21840"/>
            </a:avLst>
          </a:prstGeom>
          <a:solidFill>
            <a:srgbClr val="F4F2EE"/>
          </a:solidFill>
          <a:ln w="12700">
            <a:solidFill>
              <a:srgbClr val="D9D4CC"/>
            </a:solidFill>
            <a:prstDash val="solid"/>
          </a:ln>
        </p:spPr>
      </p:sp>
      <p:sp>
        <p:nvSpPr>
          <p:cNvPr id="14" name="Text 12"/>
          <p:cNvSpPr txBox="1"/>
          <p:nvPr/>
        </p:nvSpPr>
        <p:spPr>
          <a:xfrm>
            <a:off x="6132576" y="2981960"/>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JSON data format</a:t>
            </a:r>
            <a:endParaRPr lang="en-US" sz="1150" dirty="0"/>
          </a:p>
        </p:txBody>
      </p:sp>
      <p:sp>
        <p:nvSpPr>
          <p:cNvPr id="15" name="Shape 13"/>
          <p:cNvSpPr/>
          <p:nvPr/>
        </p:nvSpPr>
        <p:spPr>
          <a:xfrm>
            <a:off x="457200" y="3390053"/>
            <a:ext cx="2645664" cy="334941"/>
          </a:xfrm>
          <a:prstGeom prst="roundRect">
            <a:avLst>
              <a:gd name="adj" fmla="val 21840"/>
            </a:avLst>
          </a:prstGeom>
          <a:solidFill>
            <a:srgbClr val="F4F2EE"/>
          </a:solidFill>
          <a:ln w="12700">
            <a:solidFill>
              <a:srgbClr val="D9D4CC"/>
            </a:solidFill>
            <a:prstDash val="solid"/>
          </a:ln>
        </p:spPr>
      </p:sp>
      <p:sp>
        <p:nvSpPr>
          <p:cNvPr id="16" name="Text 14"/>
          <p:cNvSpPr txBox="1"/>
          <p:nvPr/>
        </p:nvSpPr>
        <p:spPr>
          <a:xfrm>
            <a:off x="548640"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HTTP request</a:t>
            </a:r>
            <a:endParaRPr lang="en-US" sz="1150" dirty="0"/>
          </a:p>
        </p:txBody>
      </p:sp>
      <p:sp>
        <p:nvSpPr>
          <p:cNvPr id="17" name="Shape 15"/>
          <p:cNvSpPr/>
          <p:nvPr/>
        </p:nvSpPr>
        <p:spPr>
          <a:xfrm>
            <a:off x="3249168" y="3390053"/>
            <a:ext cx="2645664" cy="334941"/>
          </a:xfrm>
          <a:prstGeom prst="roundRect">
            <a:avLst>
              <a:gd name="adj" fmla="val 21840"/>
            </a:avLst>
          </a:prstGeom>
          <a:solidFill>
            <a:srgbClr val="F4F2EE"/>
          </a:solidFill>
          <a:ln w="12700">
            <a:solidFill>
              <a:srgbClr val="D9D4CC"/>
            </a:solidFill>
            <a:prstDash val="solid"/>
          </a:ln>
        </p:spPr>
      </p:sp>
      <p:sp>
        <p:nvSpPr>
          <p:cNvPr id="18" name="Text 16"/>
          <p:cNvSpPr txBox="1"/>
          <p:nvPr/>
        </p:nvSpPr>
        <p:spPr>
          <a:xfrm>
            <a:off x="3340608"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Cookie authentication</a:t>
            </a:r>
            <a:endParaRPr lang="en-US" sz="1150" dirty="0"/>
          </a:p>
        </p:txBody>
      </p:sp>
      <p:sp>
        <p:nvSpPr>
          <p:cNvPr id="19" name="Shape 17"/>
          <p:cNvSpPr/>
          <p:nvPr/>
        </p:nvSpPr>
        <p:spPr>
          <a:xfrm>
            <a:off x="6041136" y="3390053"/>
            <a:ext cx="2645664" cy="334941"/>
          </a:xfrm>
          <a:prstGeom prst="roundRect">
            <a:avLst>
              <a:gd name="adj" fmla="val 21840"/>
            </a:avLst>
          </a:prstGeom>
          <a:solidFill>
            <a:srgbClr val="F4F2EE"/>
          </a:solidFill>
          <a:ln w="12700">
            <a:solidFill>
              <a:srgbClr val="D9D4CC"/>
            </a:solidFill>
            <a:prstDash val="solid"/>
          </a:ln>
        </p:spPr>
      </p:sp>
      <p:sp>
        <p:nvSpPr>
          <p:cNvPr id="20" name="Text 18"/>
          <p:cNvSpPr txBox="1"/>
          <p:nvPr/>
        </p:nvSpPr>
        <p:spPr>
          <a:xfrm>
            <a:off x="6132576" y="3444917"/>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Hashed credentials (rpcauth)</a:t>
            </a:r>
            <a:endParaRPr lang="en-US" sz="1150" dirty="0"/>
          </a:p>
        </p:txBody>
      </p:sp>
      <p:sp>
        <p:nvSpPr>
          <p:cNvPr id="21" name="Shape 19"/>
          <p:cNvSpPr/>
          <p:nvPr/>
        </p:nvSpPr>
        <p:spPr>
          <a:xfrm>
            <a:off x="457200" y="3853011"/>
            <a:ext cx="2645664" cy="334941"/>
          </a:xfrm>
          <a:prstGeom prst="roundRect">
            <a:avLst>
              <a:gd name="adj" fmla="val 21840"/>
            </a:avLst>
          </a:prstGeom>
          <a:solidFill>
            <a:srgbClr val="F4F2EE"/>
          </a:solidFill>
          <a:ln w="12700">
            <a:solidFill>
              <a:srgbClr val="D9D4CC"/>
            </a:solidFill>
            <a:prstDash val="solid"/>
          </a:ln>
        </p:spPr>
      </p:sp>
      <p:sp>
        <p:nvSpPr>
          <p:cNvPr id="22" name="Text 20"/>
          <p:cNvSpPr txBox="1"/>
          <p:nvPr/>
        </p:nvSpPr>
        <p:spPr>
          <a:xfrm>
            <a:off x="548640" y="3907875"/>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Salt</a:t>
            </a:r>
            <a:endParaRPr lang="en-US" sz="1150" dirty="0"/>
          </a:p>
        </p:txBody>
      </p:sp>
      <p:sp>
        <p:nvSpPr>
          <p:cNvPr id="23" name="Shape 21"/>
          <p:cNvSpPr/>
          <p:nvPr/>
        </p:nvSpPr>
        <p:spPr>
          <a:xfrm>
            <a:off x="3249168" y="3853011"/>
            <a:ext cx="2645664" cy="334941"/>
          </a:xfrm>
          <a:prstGeom prst="roundRect">
            <a:avLst>
              <a:gd name="adj" fmla="val 21840"/>
            </a:avLst>
          </a:prstGeom>
          <a:solidFill>
            <a:srgbClr val="F4F2EE"/>
          </a:solidFill>
          <a:ln w="12700">
            <a:solidFill>
              <a:srgbClr val="D9D4CC"/>
            </a:solidFill>
            <a:prstDash val="solid"/>
          </a:ln>
        </p:spPr>
      </p:sp>
      <p:sp>
        <p:nvSpPr>
          <p:cNvPr id="24" name="Text 22"/>
          <p:cNvSpPr txBox="1"/>
          <p:nvPr/>
        </p:nvSpPr>
        <p:spPr>
          <a:xfrm>
            <a:off x="3340608" y="3907875"/>
            <a:ext cx="2462784"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Keyed hash (HMAC)</a:t>
            </a:r>
            <a:endParaRPr lang="en-US" sz="1150" dirty="0"/>
          </a:p>
        </p:txBody>
      </p:sp>
      <p:sp>
        <p:nvSpPr>
          <p:cNvPr id="25" name="Text 2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are taken from the outside inwards. The first is the interface in the general sense.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Application programming interface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Bitcoin Core API</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application programming interface, or API, is the defined way in which one program can use the functions of another. It names the requests that may be made, the information each request needs, and the form of the answer, and so it hides how the work is done behind a contract.</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json</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json.loads('{"result": 6, "error": null, "id": 1}')['result']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method has a name and parameters, and it returns a result or an error.</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JSON-RPC interface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getblockchaininfo call over HTTP</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JSON-RPC is a protocol for remote procedure calls whose messages are written in JSON.</a:t>
            </a:r>
            <a:endParaRPr lang="en-US" sz="1300" dirty="0"/>
          </a:p>
        </p:txBody>
      </p:sp>
      <p:sp>
        <p:nvSpPr>
          <p:cNvPr id="9" name="Shape 7"/>
          <p:cNvSpPr/>
          <p:nvPr/>
        </p:nvSpPr>
        <p:spPr>
          <a:xfrm>
            <a:off x="457200" y="2322830"/>
            <a:ext cx="8229600" cy="1012444"/>
          </a:xfrm>
          <a:prstGeom prst="roundRect">
            <a:avLst>
              <a:gd name="adj" fmla="val 9032"/>
            </a:avLst>
          </a:prstGeom>
          <a:solidFill>
            <a:srgbClr val="15191E"/>
          </a:solidFill>
          <a:ln w="12700">
            <a:solidFill>
              <a:srgbClr val="15191E"/>
            </a:solidFill>
            <a:prstDash val="solid"/>
          </a:ln>
        </p:spPr>
      </p:sp>
      <p:sp>
        <p:nvSpPr>
          <p:cNvPr id="10" name="Text 8"/>
          <p:cNvSpPr txBox="1"/>
          <p:nvPr/>
        </p:nvSpPr>
        <p:spPr>
          <a:xfrm>
            <a:off x="640080" y="2441702"/>
            <a:ext cx="7863840" cy="77470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import json</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body = json.dumps({'jsonrpc': '1.0', 'id': 'curltest', 'method': 'getblockchaininfo', 'params': []})</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json.loads(body)['method']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'getblockchaininfo'</a:t>
            </a:r>
            <a:endParaRPr lang="en-US" sz="1000" dirty="0"/>
          </a:p>
        </p:txBody>
      </p:sp>
      <p:sp>
        <p:nvSpPr>
          <p:cNvPr id="11" name="Text 9"/>
          <p:cNvSpPr txBox="1"/>
          <p:nvPr/>
        </p:nvSpPr>
        <p:spPr>
          <a:xfrm>
            <a:off x="457200" y="335356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09594"/>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two endpoints of the server are the root and a path for each wallet, and the documentation says that the second must be used for wallet requests when two or more wallets are loaded, as the helper does when it is given the name of a wallet (Bitcoin Core, 2026).</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JSON data format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answer of getblockchaininfo</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JSON, short for JavaScript Object Notation, is a text format for the serialization of structured data, which its standard describes as lightweight, text-based and independent of any language (Bray, 2017).</a:t>
            </a:r>
            <a:endParaRPr lang="en-US" sz="1300" dirty="0"/>
          </a:p>
        </p:txBody>
      </p:sp>
      <p:sp>
        <p:nvSpPr>
          <p:cNvPr id="9" name="Shape 7"/>
          <p:cNvSpPr/>
          <p:nvPr/>
        </p:nvSpPr>
        <p:spPr>
          <a:xfrm>
            <a:off x="457200" y="2725674"/>
            <a:ext cx="8229600" cy="1430782"/>
          </a:xfrm>
          <a:prstGeom prst="roundRect">
            <a:avLst>
              <a:gd name="adj" fmla="val 6391"/>
            </a:avLst>
          </a:prstGeom>
          <a:solidFill>
            <a:srgbClr val="15191E"/>
          </a:solidFill>
          <a:ln w="12700">
            <a:solidFill>
              <a:srgbClr val="15191E"/>
            </a:solidFill>
            <a:prstDash val="solid"/>
          </a:ln>
        </p:spPr>
      </p:sp>
      <p:sp>
        <p:nvSpPr>
          <p:cNvPr id="10" name="Text 8"/>
          <p:cNvSpPr txBox="1"/>
          <p:nvPr/>
        </p:nvSpPr>
        <p:spPr>
          <a:xfrm>
            <a:off x="640080" y="2844546"/>
            <a:ext cx="7863840" cy="119303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json</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JSONFORMAT_D1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 = t.index('{"result":{"chain"')</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j = t.index('"id":"curltest"}', i) + len('"id":"curltest"}')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 = json.loads(''.join(t[i:j].split()))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(r['result']['chain'], r['result']['blocks'], r['error'], r['id'])</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('main', 799278, None, 'curltest')</a:t>
            </a:r>
            <a:endParaRPr lang="en-US" sz="1100" dirty="0"/>
          </a:p>
        </p:txBody>
      </p:sp>
      <p:sp>
        <p:nvSpPr>
          <p:cNvPr id="11" name="Text 9"/>
          <p:cNvSpPr txBox="1"/>
          <p:nvPr/>
        </p:nvSpPr>
        <p:spPr>
          <a:xfrm>
            <a:off x="457200" y="41747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HTTP request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curl with --data-binary</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Hypertext Transfer Protocol, HTTP, is the protocol on which the web is built.</a:t>
            </a:r>
            <a:endParaRPr lang="en-US" sz="1300" dirty="0"/>
          </a:p>
        </p:txBody>
      </p:sp>
      <p:sp>
        <p:nvSpPr>
          <p:cNvPr id="9" name="Shape 7"/>
          <p:cNvSpPr/>
          <p:nvPr/>
        </p:nvSpPr>
        <p:spPr>
          <a:xfrm>
            <a:off x="457200" y="2322830"/>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441702"/>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base64</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'Basic ' + base64.b64encode(b'alice:secret').decode()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'Basic YWxpY2U6c2VjcmV0'</a:t>
            </a:r>
            <a:endParaRPr lang="en-US" sz="11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POST method asks the target resource to process the representation enclosed in the request according to its own semantics, which is what a remote call needs, since the body names the method to run (Fielding et al., 2022).</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Cookie authentication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.cookie file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Cookie authentication is the default way in which Bitcoin Core decides who may call its interface.</a:t>
            </a:r>
            <a:endParaRPr lang="en-US" sz="1300" dirty="0"/>
          </a:p>
        </p:txBody>
      </p:sp>
      <p:sp>
        <p:nvSpPr>
          <p:cNvPr id="9" name="Shape 7"/>
          <p:cNvSpPr/>
          <p:nvPr/>
        </p:nvSpPr>
        <p:spPr>
          <a:xfrm>
            <a:off x="457200" y="2524252"/>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643124"/>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(len('17c9b71cef21b893e1a019f4bc071950c7942f49796ed061b274031b17b19cd0'), len(bytes.fromhex('17c9b71cef21b893e1a019f4bc071950c7942f49796ed061b274031b17b19cd0')))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(64, 32)</a:t>
            </a:r>
            <a:endParaRPr lang="en-US" sz="9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4654"/>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source creates 32 random bytes with the node's random-number generator, writes them as 64 hexadecimal digits after the fixed user name __cookie__ and a colon, and renames the finished file into place (Bitcoin Core, 2026).</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Hashed credentials (rpcauth)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rpcauth=alice:salt$hash</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rpcauth option is the way to give the interface a fixed credential without storing the password in plain text.</a:t>
            </a:r>
            <a:endParaRPr lang="en-US" sz="1300" dirty="0"/>
          </a:p>
        </p:txBody>
      </p:sp>
      <p:sp>
        <p:nvSpPr>
          <p:cNvPr id="9" name="Shape 7"/>
          <p:cNvSpPr/>
          <p:nvPr/>
        </p:nvSpPr>
        <p:spPr>
          <a:xfrm>
            <a:off x="457200" y="2524252"/>
            <a:ext cx="8229600" cy="1430782"/>
          </a:xfrm>
          <a:prstGeom prst="roundRect">
            <a:avLst>
              <a:gd name="adj" fmla="val 6391"/>
            </a:avLst>
          </a:prstGeom>
          <a:solidFill>
            <a:srgbClr val="15191E"/>
          </a:solidFill>
          <a:ln w="12700">
            <a:solidFill>
              <a:srgbClr val="15191E"/>
            </a:solidFill>
            <a:prstDash val="solid"/>
          </a:ln>
        </p:spPr>
      </p:sp>
      <p:sp>
        <p:nvSpPr>
          <p:cNvPr id="10" name="Text 8"/>
          <p:cNvSpPr txBox="1"/>
          <p:nvPr/>
        </p:nvSpPr>
        <p:spPr>
          <a:xfrm>
            <a:off x="640080" y="2643124"/>
            <a:ext cx="7863840" cy="119303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hmac</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salt = '00112233445566778899aabbccddeeff'</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pw = 'correct horse'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digest = hmac.new(salt.encode('utf-8'), pw.encode('utf-8'), 'SHA256').hexdigest()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line = 'alice:' + salt + '$' + digest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[len(x) for x in line.replace('$', ':').split(':')]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 32, 64]</a:t>
            </a:r>
            <a:endParaRPr lang="en-US" sz="1100" dirty="0"/>
          </a:p>
        </p:txBody>
      </p:sp>
      <p:sp>
        <p:nvSpPr>
          <p:cNvPr id="11" name="Text 9"/>
          <p:cNvSpPr txBox="1"/>
          <p:nvPr/>
        </p:nvSpPr>
        <p:spPr>
          <a:xfrm>
            <a:off x="457200" y="39733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Salt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salts, two hashes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salt is a random value that is stored next to a hashed password and mixed into the hash.</a:t>
            </a:r>
            <a:endParaRPr lang="en-US" sz="1300" dirty="0"/>
          </a:p>
        </p:txBody>
      </p:sp>
      <p:sp>
        <p:nvSpPr>
          <p:cNvPr id="9" name="Shape 7"/>
          <p:cNvSpPr/>
          <p:nvPr/>
        </p:nvSpPr>
        <p:spPr>
          <a:xfrm>
            <a:off x="457200" y="2322830"/>
            <a:ext cx="8229600" cy="1089914"/>
          </a:xfrm>
          <a:prstGeom prst="roundRect">
            <a:avLst>
              <a:gd name="adj" fmla="val 8390"/>
            </a:avLst>
          </a:prstGeom>
          <a:solidFill>
            <a:srgbClr val="15191E"/>
          </a:solidFill>
          <a:ln w="12700">
            <a:solidFill>
              <a:srgbClr val="15191E"/>
            </a:solidFill>
            <a:prstDash val="solid"/>
          </a:ln>
        </p:spPr>
      </p:sp>
      <p:sp>
        <p:nvSpPr>
          <p:cNvPr id="10" name="Text 8"/>
          <p:cNvSpPr txBox="1"/>
          <p:nvPr/>
        </p:nvSpPr>
        <p:spPr>
          <a:xfrm>
            <a:off x="640080" y="2441702"/>
            <a:ext cx="7863840" cy="852170"/>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hmac, hashlib</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hmac.new(b'salt1', b'pw', hashlib.sha256).hexdigest()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 = hmac.new(b'salt2', b'pw', hashlib.sha256).hexdigest()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(a[:8], b[:8], a == hmac.new(b'salt1', b'pw', hashlib.sha256).hexdigest())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('e21e60d6', 'd84d1ad6', True)</a:t>
            </a:r>
            <a:endParaRPr lang="en-US" sz="1100" dirty="0"/>
          </a:p>
        </p:txBody>
      </p:sp>
      <p:sp>
        <p:nvSpPr>
          <p:cNvPr id="11" name="Text 9"/>
          <p:cNvSpPr txBox="1"/>
          <p:nvPr/>
        </p:nvSpPr>
        <p:spPr>
          <a:xfrm>
            <a:off x="457200" y="343103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87064"/>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salt does not need to be secret, since it is stored in the open, but it must be random and different for each credential. The hash function used is the keyed hash of the next concept, with the salt in the place of the key.</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Keyed hash (HMAC)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RFC test vector</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HMAC, the keyed-hash message authentication code, is a hash function used with a key.</a:t>
            </a:r>
            <a:endParaRPr lang="en-US" sz="1300" dirty="0"/>
          </a:p>
        </p:txBody>
      </p:sp>
      <p:sp>
        <p:nvSpPr>
          <p:cNvPr id="9" name="Shape 7"/>
          <p:cNvSpPr/>
          <p:nvPr/>
        </p:nvSpPr>
        <p:spPr>
          <a:xfrm>
            <a:off x="457200" y="2322830"/>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441702"/>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import hmac, hashlib</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v = hmac.new(b'Jefe', b'what do ya want for nothing?', hashlib.sha256).hexdigest().upper()</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(v == '5BDCC146BF60754E6A042426089575C75A003F089D2739839DEC58B964EC3843', len(v))</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64)</a:t>
            </a:r>
            <a:endParaRPr lang="en-US" sz="10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4654"/>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sample code of the standard states the construction in a comment: SHA(K XOR opad, SHA(K XOR ipad, text)), two nested hashes in which the key, combined with two fixed padding bytes, is mixed in at each level (Eastlake and Hansen, 2011).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Client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Interface - 3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client group collects the concepts about the programs that call the interface. A client is whatever makes a request to the node: a person at a terminal with the helper program, a script that builds the HTTP message itself, or an application that uses a library written for its language. The book goes through them in this order, starting with the help command of the helper, continuing with the curl command that the help prints, and ending with a Python library (Antonopoulos and Harding, 2023).</a:t>
            </a:r>
            <a:endParaRPr lang="en-US" sz="1300" dirty="0"/>
          </a:p>
        </p:txBody>
      </p:sp>
      <p:sp>
        <p:nvSpPr>
          <p:cNvPr id="9" name="Shape 7"/>
          <p:cNvSpPr/>
          <p:nvPr/>
        </p:nvSpPr>
        <p:spPr>
          <a:xfrm>
            <a:off x="457200" y="3329940"/>
            <a:ext cx="2645664"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Command line</a:t>
            </a:r>
            <a:endParaRPr lang="en-US" sz="1250" dirty="0"/>
          </a:p>
        </p:txBody>
      </p:sp>
      <p:sp>
        <p:nvSpPr>
          <p:cNvPr id="11" name="Shape 9"/>
          <p:cNvSpPr/>
          <p:nvPr/>
        </p:nvSpPr>
        <p:spPr>
          <a:xfrm>
            <a:off x="3249168" y="3329940"/>
            <a:ext cx="2645664"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3340608"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Command-line client (bitcoin-cli)</a:t>
            </a:r>
            <a:endParaRPr lang="en-US" sz="1250" dirty="0"/>
          </a:p>
        </p:txBody>
      </p:sp>
      <p:sp>
        <p:nvSpPr>
          <p:cNvPr id="13" name="Shape 11"/>
          <p:cNvSpPr/>
          <p:nvPr/>
        </p:nvSpPr>
        <p:spPr>
          <a:xfrm>
            <a:off x="6041136" y="3329940"/>
            <a:ext cx="2645664"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6132576"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Wrapper library</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are the command line, the helper program that runs on it, and the wrapper library.</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Command line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terminal and the $ prompt</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command line is a way of using a computer by typing text commands in a terminal and reading the text that the programs print. A command is the name of a program followed by arguments, separated by spaces, and the program decides what to do with them.</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shlex</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shlex.split('bitcoin-cli getblockhash 1000')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['bitcoin-cli', 'getblockhash', '1000']</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shell splits what is typed into words, the first being the program and the others its arguments, which the worked example shows with the standard library's splitting function for the command that asks for the hash of block 1000: three words, the program, the method and the height as text.</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Command-line client (bitcoin-cli)</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bitcoin-cli getblockchaininfo</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command-line client is the program bitcoin-cli, which the installed-files table of Bitcoin Core describes as the tool for making node and wallet RPC calls (Bitcoin Core, 2026).</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json</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 = json.load(io.StringIO(COMMANDLINECLIENT_D1))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b['id']</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'00000000c937983704a73af28acdec37b049d214adbda81d7e2a3dd146f6ed09'</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client reads the data directory to find the cookie, or the configured credential, and sends an HTTP request to the local port.</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Wrapper library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python-bitcoinlib's RawProxy</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wrapper library is a package for a programming language that makes the node's interface look like ordinary functions of that language.</a:t>
            </a:r>
            <a:endParaRPr lang="en-US" sz="1200" dirty="0"/>
          </a:p>
        </p:txBody>
      </p:sp>
      <p:sp>
        <p:nvSpPr>
          <p:cNvPr id="9" name="Shape 7"/>
          <p:cNvSpPr/>
          <p:nvPr/>
        </p:nvSpPr>
        <p:spPr>
          <a:xfrm>
            <a:off x="457200" y="2493264"/>
            <a:ext cx="8229600" cy="934974"/>
          </a:xfrm>
          <a:prstGeom prst="roundRect">
            <a:avLst>
              <a:gd name="adj" fmla="val 9780"/>
            </a:avLst>
          </a:prstGeom>
          <a:solidFill>
            <a:srgbClr val="15191E"/>
          </a:solidFill>
          <a:ln w="12700">
            <a:solidFill>
              <a:srgbClr val="15191E"/>
            </a:solidFill>
            <a:prstDash val="solid"/>
          </a:ln>
        </p:spPr>
      </p:sp>
      <p:sp>
        <p:nvSpPr>
          <p:cNvPr id="10" name="Text 8"/>
          <p:cNvSpPr txBox="1"/>
          <p:nvPr/>
        </p:nvSpPr>
        <p:spPr>
          <a:xfrm>
            <a:off x="640080" y="2612136"/>
            <a:ext cx="7863840" cy="697230"/>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import json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class Proxy: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def __getattr__(self, name):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return lambda *args: json.dumps({'version': '1.1', 'method': name, 'params': list(args), 'id':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Proxy().getblockhash(1000)</a:t>
            </a:r>
            <a:endParaRPr lang="en-US" sz="900" dirty="0"/>
          </a:p>
        </p:txBody>
      </p:sp>
      <p:sp>
        <p:nvSpPr>
          <p:cNvPr id="11" name="Text 9"/>
          <p:cNvSpPr txBox="1"/>
          <p:nvPr/>
        </p:nvSpPr>
        <p:spPr>
          <a:xfrm>
            <a:off x="457200" y="3446526"/>
            <a:ext cx="8229600" cy="256032"/>
          </a:xfrm>
          <a:prstGeom prst="rect">
            <a:avLst/>
          </a:prstGeom>
          <a:noFill/>
          <a:ln/>
        </p:spPr>
        <p:txBody>
          <a:bodyPr wrap="square" lIns="0" tIns="0" rIns="0" bIns="0" rtlCol="0" anchor="ctr"/>
          <a:lstStyle/>
          <a:p>
            <a:pPr indent="0" marL="0">
              <a:buNone/>
            </a:pPr>
            <a:r>
              <a:rPr lang="en-US" sz="900" b="1" dirty="0">
                <a:solidFill>
                  <a:srgbClr val="F7931A"/>
                </a:solidFill>
                <a:latin typeface="Courier New" pitchFamily="34" charset="0"/>
                <a:ea typeface="Courier New" pitchFamily="34" charset="-122"/>
                <a:cs typeface="Courier New" pitchFamily="34" charset="-120"/>
              </a:rPr>
              <a:t>result  </a:t>
            </a:r>
            <a:pPr indent="0" marL="0">
              <a:buNone/>
            </a:pPr>
            <a:r>
              <a:rPr lang="en-US" sz="900" dirty="0">
                <a:solidFill>
                  <a:srgbClr val="1B1F24"/>
                </a:solidFill>
                <a:latin typeface="Courier New" pitchFamily="34" charset="0"/>
                <a:ea typeface="Courier New" pitchFamily="34" charset="-122"/>
                <a:cs typeface="Courier New" pitchFamily="34" charset="-120"/>
              </a:rPr>
              <a:t>'{"version": "1.1", "method": "getblockhash", "params": [1000], "id": 1}'</a:t>
            </a:r>
            <a:endParaRPr lang="en-US" sz="900" dirty="0"/>
          </a:p>
        </p:txBody>
      </p:sp>
      <p:sp>
        <p:nvSpPr>
          <p:cNvPr id="12" name="Text 10"/>
          <p:cNvSpPr txBox="1"/>
          <p:nvPr/>
        </p:nvSpPr>
        <p:spPr>
          <a:xfrm>
            <a:off x="457200" y="370255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WrapperLibrary, lines 1 to 5 of 5, run under Python 3.14.4</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Data</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data branch is about what a node holds and what the interface shows of it: the transactions that move value, the blocks that gather them into the shared record, and the state of the chain that results.</a:t>
            </a:r>
            <a:endParaRPr lang="en-US" sz="1500" dirty="0"/>
          </a:p>
        </p:txBody>
      </p:sp>
      <p:sp>
        <p:nvSpPr>
          <p:cNvPr id="5" name="Shape 3"/>
          <p:cNvSpPr/>
          <p:nvPr/>
        </p:nvSpPr>
        <p:spPr>
          <a:xfrm>
            <a:off x="457200" y="2788920"/>
            <a:ext cx="2645664"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Transaction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6 concepts</a:t>
            </a:r>
            <a:endParaRPr lang="en-US" sz="1200" dirty="0"/>
          </a:p>
        </p:txBody>
      </p:sp>
      <p:sp>
        <p:nvSpPr>
          <p:cNvPr id="7" name="Shape 5"/>
          <p:cNvSpPr/>
          <p:nvPr/>
        </p:nvSpPr>
        <p:spPr>
          <a:xfrm>
            <a:off x="3249168" y="2788920"/>
            <a:ext cx="2645664"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3322320"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9 concepts</a:t>
            </a:r>
            <a:endParaRPr lang="en-US" sz="1200" dirty="0"/>
          </a:p>
        </p:txBody>
      </p:sp>
      <p:sp>
        <p:nvSpPr>
          <p:cNvPr id="9" name="Shape 7"/>
          <p:cNvSpPr/>
          <p:nvPr/>
        </p:nvSpPr>
        <p:spPr>
          <a:xfrm>
            <a:off x="6041136" y="2788920"/>
            <a:ext cx="2645664"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6114288"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 state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Data - 6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transaction group collects the concepts about the objects that carry value. Chapter 2 introduced the transaction with its inputs, outputs and fee; this group looks at the same object as a node sees it, first as a string of bytes, then as a decoded structure with fields, with an identifier and with a cost in block space.</a:t>
            </a:r>
            <a:endParaRPr lang="en-US" sz="1300" dirty="0"/>
          </a:p>
        </p:txBody>
      </p:sp>
      <p:sp>
        <p:nvSpPr>
          <p:cNvPr id="9" name="Shape 7"/>
          <p:cNvSpPr/>
          <p:nvPr/>
        </p:nvSpPr>
        <p:spPr>
          <a:xfrm>
            <a:off x="457200" y="2927096"/>
            <a:ext cx="2645664" cy="566420"/>
          </a:xfrm>
          <a:prstGeom prst="roundRect">
            <a:avLst>
              <a:gd name="adj" fmla="val 12915"/>
            </a:avLst>
          </a:prstGeom>
          <a:solidFill>
            <a:srgbClr val="F4F2EE"/>
          </a:solidFill>
          <a:ln w="12700">
            <a:solidFill>
              <a:srgbClr val="D9D4CC"/>
            </a:solidFill>
            <a:prstDash val="solid"/>
          </a:ln>
        </p:spPr>
      </p:sp>
      <p:sp>
        <p:nvSpPr>
          <p:cNvPr id="10" name="Text 8"/>
          <p:cNvSpPr txBox="1"/>
          <p:nvPr/>
        </p:nvSpPr>
        <p:spPr>
          <a:xfrm>
            <a:off x="548640"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serialization</a:t>
            </a:r>
            <a:endParaRPr lang="en-US" sz="1250" dirty="0"/>
          </a:p>
        </p:txBody>
      </p:sp>
      <p:sp>
        <p:nvSpPr>
          <p:cNvPr id="11" name="Shape 9"/>
          <p:cNvSpPr/>
          <p:nvPr/>
        </p:nvSpPr>
        <p:spPr>
          <a:xfrm>
            <a:off x="3249168" y="2927096"/>
            <a:ext cx="2645664" cy="566420"/>
          </a:xfrm>
          <a:prstGeom prst="roundRect">
            <a:avLst>
              <a:gd name="adj" fmla="val 12915"/>
            </a:avLst>
          </a:prstGeom>
          <a:solidFill>
            <a:srgbClr val="F4F2EE"/>
          </a:solidFill>
          <a:ln w="12700">
            <a:solidFill>
              <a:srgbClr val="D9D4CC"/>
            </a:solidFill>
            <a:prstDash val="solid"/>
          </a:ln>
        </p:spPr>
      </p:sp>
      <p:sp>
        <p:nvSpPr>
          <p:cNvPr id="12" name="Text 10"/>
          <p:cNvSpPr txBox="1"/>
          <p:nvPr/>
        </p:nvSpPr>
        <p:spPr>
          <a:xfrm>
            <a:off x="3340608"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Decoded transaction</a:t>
            </a:r>
            <a:endParaRPr lang="en-US" sz="1250" dirty="0"/>
          </a:p>
        </p:txBody>
      </p:sp>
      <p:sp>
        <p:nvSpPr>
          <p:cNvPr id="13" name="Shape 11"/>
          <p:cNvSpPr/>
          <p:nvPr/>
        </p:nvSpPr>
        <p:spPr>
          <a:xfrm>
            <a:off x="6041136" y="2927096"/>
            <a:ext cx="2645664" cy="566420"/>
          </a:xfrm>
          <a:prstGeom prst="roundRect">
            <a:avLst>
              <a:gd name="adj" fmla="val 12915"/>
            </a:avLst>
          </a:prstGeom>
          <a:solidFill>
            <a:srgbClr val="F4F2EE"/>
          </a:solidFill>
          <a:ln w="12700">
            <a:solidFill>
              <a:srgbClr val="D9D4CC"/>
            </a:solidFill>
            <a:prstDash val="solid"/>
          </a:ln>
        </p:spPr>
      </p:sp>
      <p:sp>
        <p:nvSpPr>
          <p:cNvPr id="14" name="Text 12"/>
          <p:cNvSpPr txBox="1"/>
          <p:nvPr/>
        </p:nvSpPr>
        <p:spPr>
          <a:xfrm>
            <a:off x="6132576" y="2981960"/>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Segregated witness</a:t>
            </a:r>
            <a:endParaRPr lang="en-US" sz="1250" dirty="0"/>
          </a:p>
        </p:txBody>
      </p:sp>
      <p:sp>
        <p:nvSpPr>
          <p:cNvPr id="15" name="Shape 13"/>
          <p:cNvSpPr/>
          <p:nvPr/>
        </p:nvSpPr>
        <p:spPr>
          <a:xfrm>
            <a:off x="457200" y="3621532"/>
            <a:ext cx="2645664" cy="566420"/>
          </a:xfrm>
          <a:prstGeom prst="roundRect">
            <a:avLst>
              <a:gd name="adj" fmla="val 12915"/>
            </a:avLst>
          </a:prstGeom>
          <a:solidFill>
            <a:srgbClr val="F4F2EE"/>
          </a:solidFill>
          <a:ln w="12700">
            <a:solidFill>
              <a:srgbClr val="D9D4CC"/>
            </a:solidFill>
            <a:prstDash val="solid"/>
          </a:ln>
        </p:spPr>
      </p:sp>
      <p:sp>
        <p:nvSpPr>
          <p:cNvPr id="16" name="Text 14"/>
          <p:cNvSpPr txBox="1"/>
          <p:nvPr/>
        </p:nvSpPr>
        <p:spPr>
          <a:xfrm>
            <a:off x="548640" y="3676396"/>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weight</a:t>
            </a:r>
            <a:endParaRPr lang="en-US" sz="1250" dirty="0"/>
          </a:p>
        </p:txBody>
      </p:sp>
      <p:sp>
        <p:nvSpPr>
          <p:cNvPr id="17" name="Shape 15"/>
          <p:cNvSpPr/>
          <p:nvPr/>
        </p:nvSpPr>
        <p:spPr>
          <a:xfrm>
            <a:off x="3249168" y="3621532"/>
            <a:ext cx="2645664" cy="566420"/>
          </a:xfrm>
          <a:prstGeom prst="roundRect">
            <a:avLst>
              <a:gd name="adj" fmla="val 12915"/>
            </a:avLst>
          </a:prstGeom>
          <a:solidFill>
            <a:srgbClr val="F4F2EE"/>
          </a:solidFill>
          <a:ln w="12700">
            <a:solidFill>
              <a:srgbClr val="D9D4CC"/>
            </a:solidFill>
            <a:prstDash val="solid"/>
          </a:ln>
        </p:spPr>
      </p:sp>
      <p:sp>
        <p:nvSpPr>
          <p:cNvPr id="18" name="Text 16"/>
          <p:cNvSpPr txBox="1"/>
          <p:nvPr/>
        </p:nvSpPr>
        <p:spPr>
          <a:xfrm>
            <a:off x="3340608" y="3676396"/>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identifier (txid and wtxid)</a:t>
            </a:r>
            <a:endParaRPr lang="en-US" sz="1250" dirty="0"/>
          </a:p>
        </p:txBody>
      </p:sp>
      <p:sp>
        <p:nvSpPr>
          <p:cNvPr id="19" name="Shape 17"/>
          <p:cNvSpPr/>
          <p:nvPr/>
        </p:nvSpPr>
        <p:spPr>
          <a:xfrm>
            <a:off x="6041136" y="3621532"/>
            <a:ext cx="2645664" cy="566420"/>
          </a:xfrm>
          <a:prstGeom prst="roundRect">
            <a:avLst>
              <a:gd name="adj" fmla="val 12915"/>
            </a:avLst>
          </a:prstGeom>
          <a:solidFill>
            <a:srgbClr val="F4F2EE"/>
          </a:solidFill>
          <a:ln w="12700">
            <a:solidFill>
              <a:srgbClr val="D9D4CC"/>
            </a:solidFill>
            <a:prstDash val="solid"/>
          </a:ln>
        </p:spPr>
      </p:sp>
      <p:sp>
        <p:nvSpPr>
          <p:cNvPr id="20" name="Text 18"/>
          <p:cNvSpPr txBox="1"/>
          <p:nvPr/>
        </p:nvSpPr>
        <p:spPr>
          <a:xfrm>
            <a:off x="6132576" y="3676396"/>
            <a:ext cx="2462784" cy="45669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malleability</a:t>
            </a:r>
            <a:endParaRPr lang="en-US" sz="1250" dirty="0"/>
          </a:p>
        </p:txBody>
      </p:sp>
      <p:sp>
        <p:nvSpPr>
          <p:cNvPr id="21" name="Text 19"/>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follow the path from bytes to meaning.</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serialization (1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hexadecimal string of Alice's transaction</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Serialization is the writing of a structured object as a sequence of bytes, so that it can be stored or sent.</a:t>
            </a:r>
            <a:endParaRPr lang="en-US" sz="1200" dirty="0"/>
          </a:p>
        </p:txBody>
      </p:sp>
      <p:sp>
        <p:nvSpPr>
          <p:cNvPr id="9" name="Shape 7"/>
          <p:cNvSpPr/>
          <p:nvPr/>
        </p:nvSpPr>
        <p:spPr>
          <a:xfrm>
            <a:off x="457200" y="2493264"/>
            <a:ext cx="8229600" cy="1787144"/>
          </a:xfrm>
          <a:prstGeom prst="roundRect">
            <a:avLst>
              <a:gd name="adj" fmla="val 5117"/>
            </a:avLst>
          </a:prstGeom>
          <a:solidFill>
            <a:srgbClr val="15191E"/>
          </a:solidFill>
          <a:ln w="12700">
            <a:solidFill>
              <a:srgbClr val="15191E"/>
            </a:solidFill>
            <a:prstDash val="solid"/>
          </a:ln>
        </p:spPr>
      </p:sp>
      <p:sp>
        <p:nvSpPr>
          <p:cNvPr id="10" name="Text 8"/>
          <p:cNvSpPr txBox="1"/>
          <p:nvPr/>
        </p:nvSpPr>
        <p:spPr>
          <a:xfrm>
            <a:off x="640080" y="2612136"/>
            <a:ext cx="7863840" cy="15494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hashlib</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 = lambda b: hashlib.sha256(hashlib.sha256(b).digest()).digest()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raw = bytes.fromhex(io.StringIO(TRANSACTIONSERIALIZATION_D1).read().strip())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def varint(b,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n = b[i]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if n &lt; 0xfd: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n, i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if n == 0xfd: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int.from_bytes(b[i + 1:i + 3], 'little'), i + 3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raise ValueError('long')</a:t>
            </a:r>
            <a:endParaRPr lang="en-US" sz="1000" dirty="0"/>
          </a:p>
        </p:txBody>
      </p:sp>
      <p:sp>
        <p:nvSpPr>
          <p:cNvPr id="11" name="Text 9"/>
          <p:cNvSpPr txBox="1"/>
          <p:nvPr/>
        </p:nvSpPr>
        <p:spPr>
          <a:xfrm>
            <a:off x="457200" y="4298696"/>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TransactionSerialization, lines 1 to 10 of 48, run under Python 3.14.4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serialization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3026664"/>
          </a:xfrm>
          <a:prstGeom prst="roundRect">
            <a:avLst>
              <a:gd name="adj" fmla="val 3021"/>
            </a:avLst>
          </a:prstGeom>
          <a:solidFill>
            <a:srgbClr val="15191E"/>
          </a:solidFill>
          <a:ln w="12700">
            <a:solidFill>
              <a:srgbClr val="15191E"/>
            </a:solidFill>
            <a:prstDash val="solid"/>
          </a:ln>
        </p:spPr>
      </p:sp>
      <p:sp>
        <p:nvSpPr>
          <p:cNvPr id="7" name="Text 5"/>
          <p:cNvSpPr txBox="1"/>
          <p:nvPr/>
        </p:nvSpPr>
        <p:spPr>
          <a:xfrm>
            <a:off x="640080" y="1399032"/>
            <a:ext cx="7863840" cy="27889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version = int.from_bytes(raw[0:4], 'little')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marker, flag = raw[4], raw[5]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 = 6</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n_in,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ins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range(n_in):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prev = raw[i:i + 32][::-1].hex()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vout = int.from_bytes(raw[i + 32:i + 36], 'little')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36</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sl,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sl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seq = int.from_bytes(raw[i:i + 4], 'little')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4</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ins.append((prev, vout, sl, seq))</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n_out,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outs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range(n_out):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val = int.from_bytes(raw[i:i + 8], 'little')</a:t>
            </a:r>
            <a:endParaRPr lang="en-US" sz="1000" dirty="0"/>
          </a:p>
        </p:txBody>
      </p:sp>
      <p:sp>
        <p:nvSpPr>
          <p:cNvPr id="8" name="Text 6"/>
          <p:cNvSpPr txBox="1"/>
          <p:nvPr/>
        </p:nvSpPr>
        <p:spPr>
          <a:xfrm>
            <a:off x="457200" y="432511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TransactionSerialization, lines 11 to 28 of 48, run under Python 3.14.4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serialization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3026664"/>
          </a:xfrm>
          <a:prstGeom prst="roundRect">
            <a:avLst>
              <a:gd name="adj" fmla="val 3021"/>
            </a:avLst>
          </a:prstGeom>
          <a:solidFill>
            <a:srgbClr val="15191E"/>
          </a:solidFill>
          <a:ln w="12700">
            <a:solidFill>
              <a:srgbClr val="15191E"/>
            </a:solidFill>
            <a:prstDash val="solid"/>
          </a:ln>
        </p:spPr>
      </p:sp>
      <p:sp>
        <p:nvSpPr>
          <p:cNvPr id="7" name="Text 5"/>
          <p:cNvSpPr txBox="1"/>
          <p:nvPr/>
        </p:nvSpPr>
        <p:spPr>
          <a:xfrm>
            <a:off x="640080" y="1399032"/>
            <a:ext cx="7863840" cy="27889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    i += 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sl,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outs.append((val, raw[i:i + sl].hex()))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sl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out_end =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wit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range(n_in):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cnt,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items =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for _ in range(cnt):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 i = varint(raw,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items.append(raw[i:i + 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 += 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wit.append(items)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wit_end = 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locktime = int.from_bytes(raw[i:i + 4], 'little')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stripped = raw[:4] + raw[6:out_end] + raw[wit_end:]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txid = d(stripped)[::-1].hex()</a:t>
            </a:r>
            <a:endParaRPr lang="en-US" sz="1000" dirty="0"/>
          </a:p>
        </p:txBody>
      </p:sp>
      <p:sp>
        <p:nvSpPr>
          <p:cNvPr id="8" name="Text 6"/>
          <p:cNvSpPr txBox="1"/>
          <p:nvPr/>
        </p:nvSpPr>
        <p:spPr>
          <a:xfrm>
            <a:off x="457200" y="432511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TransactionSerialization, lines 29 to 46 of 48, run under Python 3.14.4</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serialization (4 of 24)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continued</a:t>
            </a:r>
            <a:endParaRPr lang="en-US" sz="1300" dirty="0"/>
          </a:p>
        </p:txBody>
      </p:sp>
      <p:sp>
        <p:nvSpPr>
          <p:cNvPr id="6" name="Shape 4"/>
          <p:cNvSpPr/>
          <p:nvPr/>
        </p:nvSpPr>
        <p:spPr>
          <a:xfrm>
            <a:off x="457200" y="1280160"/>
            <a:ext cx="8229600" cy="547624"/>
          </a:xfrm>
          <a:prstGeom prst="roundRect">
            <a:avLst>
              <a:gd name="adj" fmla="val 16698"/>
            </a:avLst>
          </a:prstGeom>
          <a:solidFill>
            <a:srgbClr val="15191E"/>
          </a:solidFill>
          <a:ln w="12700">
            <a:solidFill>
              <a:srgbClr val="15191E"/>
            </a:solidFill>
            <a:prstDash val="solid"/>
          </a:ln>
        </p:spPr>
      </p:sp>
      <p:sp>
        <p:nvSpPr>
          <p:cNvPr id="7" name="Text 5"/>
          <p:cNvSpPr txBox="1"/>
          <p:nvPr/>
        </p:nvSpPr>
        <p:spPr>
          <a:xfrm>
            <a:off x="640080" y="1399032"/>
            <a:ext cx="7863840" cy="3098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wtxid = d(raw)[::-1].hex()</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(version, marker, flag, n_in, n_out, locktime)</a:t>
            </a:r>
            <a:endParaRPr lang="en-US" sz="1000" dirty="0"/>
          </a:p>
        </p:txBody>
      </p:sp>
      <p:sp>
        <p:nvSpPr>
          <p:cNvPr id="8" name="Text 6"/>
          <p:cNvSpPr txBox="1"/>
          <p:nvPr/>
        </p:nvSpPr>
        <p:spPr>
          <a:xfrm>
            <a:off x="457200" y="1846072"/>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(1, 0, 1, 1, 2, 0)</a:t>
            </a:r>
            <a:endParaRPr lang="en-US" sz="1000" dirty="0"/>
          </a:p>
        </p:txBody>
      </p:sp>
      <p:sp>
        <p:nvSpPr>
          <p:cNvPr id="9" name="Text 7"/>
          <p:cNvSpPr txBox="1"/>
          <p:nvPr/>
        </p:nvSpPr>
        <p:spPr>
          <a:xfrm>
            <a:off x="457200" y="2102104"/>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TransactionSerialization, lines 47 to 48 of 48, run under Python 3.14.4</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Decoded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decoderawtransaction on Alice's transaction</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decoded transaction is the structure that results from reading the bytes of a serialized transaction and naming each field. The command decoderawtransaction takes the hexadecimal string and returns a JSON object (Antonopoulos and Harding, 2023).</a:t>
            </a:r>
            <a:endParaRPr lang="en-US" sz="1300" dirty="0"/>
          </a:p>
        </p:txBody>
      </p:sp>
      <p:sp>
        <p:nvSpPr>
          <p:cNvPr id="9" name="Shape 7"/>
          <p:cNvSpPr/>
          <p:nvPr/>
        </p:nvSpPr>
        <p:spPr>
          <a:xfrm>
            <a:off x="457200" y="2725674"/>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844546"/>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[(o['n'], o['value'], o['scriptPubKey']['type']) for o in json.load(io.StringIO(DECODEDTRANSACTION_D1))['vout']]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9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5607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decoding code reads the bytes as the serialization concept describes and converts what it reads: the satoshi values become amounts in bitcoin by dividing by 100,000,000, the scripts are shown as assembly and as hexadecimal, the type of each script is recognized from its pattern, and for a known type an address is derived and shown.</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Segregated witness and Transaction weight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Segregated witness</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Segregated witness, often written SegWit, is an upgrade that separates the data that prove a spending right, the signatures, from the rest of the transaction.</a:t>
            </a:r>
            <a:endParaRPr lang="en-US" sz="1200" dirty="0"/>
          </a:p>
        </p:txBody>
      </p:sp>
      <p:sp>
        <p:nvSpPr>
          <p:cNvPr id="9" name="Shape 7"/>
          <p:cNvSpPr/>
          <p:nvPr/>
        </p:nvSpPr>
        <p:spPr>
          <a:xfrm>
            <a:off x="457200" y="2828544"/>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(194 - 125, 194 - 125 == 2 + 1 + 1 + 65)</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(69, True)</a:t>
            </a:r>
            <a:endParaRPr lang="en-US" sz="1050" dirty="0"/>
          </a:p>
        </p:txBody>
      </p:sp>
      <p:sp>
        <p:nvSpPr>
          <p:cNvPr id="11" name="Text 9"/>
          <p:cNvSpPr txBox="1"/>
          <p:nvPr/>
        </p:nvSpPr>
        <p:spPr>
          <a:xfrm>
            <a:off x="45720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65982"/>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Software that knows the upgrade finds a witness program in an output script: a version number followed by a short piece of data.</a:t>
            </a:r>
            <a:endParaRPr lang="en-US" sz="1100" dirty="0"/>
          </a:p>
        </p:txBody>
      </p:sp>
      <p:sp>
        <p:nvSpPr>
          <p:cNvPr id="13" name="Shape 11"/>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Transaction weight</a:t>
            </a:r>
            <a:endParaRPr lang="en-US" sz="1600" dirty="0"/>
          </a:p>
        </p:txBody>
      </p:sp>
      <p:sp>
        <p:nvSpPr>
          <p:cNvPr id="15" name="Text 13"/>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weight of a transaction is a measure of the block space it uses, in weight units.</a:t>
            </a:r>
            <a:endParaRPr lang="en-US" sz="1200" dirty="0"/>
          </a:p>
        </p:txBody>
      </p:sp>
      <p:sp>
        <p:nvSpPr>
          <p:cNvPr id="16" name="Shape 14"/>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-(-(4 * 125 + 194 - 125) // 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143</a:t>
            </a:r>
            <a:endParaRPr lang="en-US" sz="1050" dirty="0"/>
          </a:p>
        </p:txBody>
      </p:sp>
      <p:sp>
        <p:nvSpPr>
          <p:cNvPr id="18" name="Text 16"/>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294126"/>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Weight units make the witness discount a precise rule.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identifier (txid and wtxid)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txid and hash</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transaction identifier is the name of a transaction: the double SHA-256 hash of its serialization, written with the bytes in reverse order. The transaction has two of them.</a:t>
            </a:r>
            <a:endParaRPr lang="en-US" sz="1200" dirty="0"/>
          </a:p>
        </p:txBody>
      </p:sp>
      <p:sp>
        <p:nvSpPr>
          <p:cNvPr id="9" name="Shape 7"/>
          <p:cNvSpPr/>
          <p:nvPr/>
        </p:nvSpPr>
        <p:spPr>
          <a:xfrm>
            <a:off x="457200" y="2493264"/>
            <a:ext cx="8229600" cy="392684"/>
          </a:xfrm>
          <a:prstGeom prst="roundRect">
            <a:avLst>
              <a:gd name="adj" fmla="val 23286"/>
            </a:avLst>
          </a:prstGeom>
          <a:solidFill>
            <a:srgbClr val="15191E"/>
          </a:solidFill>
          <a:ln w="12700">
            <a:solidFill>
              <a:srgbClr val="15191E"/>
            </a:solidFill>
            <a:prstDash val="solid"/>
          </a:ln>
        </p:spPr>
      </p:sp>
      <p:sp>
        <p:nvSpPr>
          <p:cNvPr id="10" name="Text 8"/>
          <p:cNvSpPr txBox="1"/>
          <p:nvPr/>
        </p:nvSpPr>
        <p:spPr>
          <a:xfrm>
            <a:off x="640080" y="2612136"/>
            <a:ext cx="7863840" cy="15494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result = (txid[:16], wtxid[:16])</a:t>
            </a:r>
            <a:endParaRPr lang="en-US" sz="1000" dirty="0"/>
          </a:p>
        </p:txBody>
      </p:sp>
      <p:sp>
        <p:nvSpPr>
          <p:cNvPr id="11" name="Text 9"/>
          <p:cNvSpPr txBox="1"/>
          <p:nvPr/>
        </p:nvSpPr>
        <p:spPr>
          <a:xfrm>
            <a:off x="457200" y="2904236"/>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('466200308696215b', 'f7cdbc7cf8b910d3')</a:t>
            </a:r>
            <a:endParaRPr lang="en-US" sz="1000" dirty="0"/>
          </a:p>
        </p:txBody>
      </p:sp>
      <p:sp>
        <p:nvSpPr>
          <p:cNvPr id="12" name="Text 10"/>
          <p:cNvSpPr txBox="1"/>
          <p:nvPr/>
        </p:nvSpPr>
        <p:spPr>
          <a:xfrm>
            <a:off x="457200" y="316026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TransactionIdentifier, lines 48 to 48 of 48, run under Python 3.14.4</a:t>
            </a:r>
            <a:endParaRPr lang="en-US" sz="90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Lines 1 to 47 are the parser already on the slides; only what follows differs.</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changing a signature changes the wtxid but not the txid</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Transaction malleability is the possibility that a transaction can be changed by a third party before it is confirmed, so that its identifier changes while what it does stays the same.</a:t>
            </a:r>
            <a:endParaRPr lang="en-US" sz="1200" dirty="0"/>
          </a:p>
        </p:txBody>
      </p:sp>
      <p:sp>
        <p:nvSpPr>
          <p:cNvPr id="9" name="Shape 7"/>
          <p:cNvSpPr/>
          <p:nvPr/>
        </p:nvSpPr>
        <p:spPr>
          <a:xfrm>
            <a:off x="457200" y="2493264"/>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612136"/>
            <a:ext cx="7863840" cy="557784"/>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ws = bytearray(raw)</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ws[-10] ^=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ws = bytes(ws)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(d(ws)[::-1].hex() == wtxid, d(raw[:4] + raw[6:out_end] + ws[wit_end:])[::-1].hex() == txid)</a:t>
            </a:r>
            <a:endParaRPr lang="en-US" sz="900" dirty="0"/>
          </a:p>
        </p:txBody>
      </p:sp>
      <p:sp>
        <p:nvSpPr>
          <p:cNvPr id="11" name="Text 9"/>
          <p:cNvSpPr txBox="1"/>
          <p:nvPr/>
        </p:nvSpPr>
        <p:spPr>
          <a:xfrm>
            <a:off x="457200" y="3307080"/>
            <a:ext cx="8229600" cy="256032"/>
          </a:xfrm>
          <a:prstGeom prst="rect">
            <a:avLst/>
          </a:prstGeom>
          <a:noFill/>
          <a:ln/>
        </p:spPr>
        <p:txBody>
          <a:bodyPr wrap="square" lIns="0" tIns="0" rIns="0" bIns="0" rtlCol="0" anchor="ctr"/>
          <a:lstStyle/>
          <a:p>
            <a:pPr indent="0" marL="0">
              <a:buNone/>
            </a:pPr>
            <a:r>
              <a:rPr lang="en-US" sz="900" b="1" dirty="0">
                <a:solidFill>
                  <a:srgbClr val="F7931A"/>
                </a:solidFill>
                <a:latin typeface="Courier New" pitchFamily="34" charset="0"/>
                <a:ea typeface="Courier New" pitchFamily="34" charset="-122"/>
                <a:cs typeface="Courier New" pitchFamily="34" charset="-120"/>
              </a:rPr>
              <a:t>result  </a:t>
            </a:r>
            <a:pPr indent="0" marL="0">
              <a:buNone/>
            </a:pPr>
            <a:r>
              <a:rPr lang="en-US" sz="900" dirty="0">
                <a:solidFill>
                  <a:srgbClr val="1B1F24"/>
                </a:solidFill>
                <a:latin typeface="Courier New" pitchFamily="34" charset="0"/>
                <a:ea typeface="Courier New" pitchFamily="34" charset="-122"/>
                <a:cs typeface="Courier New" pitchFamily="34" charset="-120"/>
              </a:rPr>
              <a:t>(False, True)</a:t>
            </a:r>
            <a:endParaRPr lang="en-US" sz="900" dirty="0"/>
          </a:p>
        </p:txBody>
      </p:sp>
      <p:sp>
        <p:nvSpPr>
          <p:cNvPr id="12" name="Text 10"/>
          <p:cNvSpPr txBox="1"/>
          <p:nvPr/>
        </p:nvSpPr>
        <p:spPr>
          <a:xfrm>
            <a:off x="457200" y="356311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TransactionMalleability, lines 48 to 51 of 51, run under Python 3.14.4</a:t>
            </a:r>
            <a:endParaRPr lang="en-US" sz="90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Lines 1 to 47 are the parser already on the slides; only what follows differs.</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Data - 9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group collects the concepts about the unit in which transactions are recorded. A block holds a header, which is a small fixed-size summary, and a list of transactions, which makes up most of its size; the book of the chapter on the blockchain says that the header is 80 bytes while the transactions of a block can total much more (Antonopoulos and Harding, 2023).</a:t>
            </a:r>
            <a:endParaRPr lang="en-US" sz="1300" dirty="0"/>
          </a:p>
        </p:txBody>
      </p:sp>
      <p:sp>
        <p:nvSpPr>
          <p:cNvPr id="9" name="Shape 7"/>
          <p:cNvSpPr/>
          <p:nvPr/>
        </p:nvSpPr>
        <p:spPr>
          <a:xfrm>
            <a:off x="457200" y="2927096"/>
            <a:ext cx="1947672" cy="334941"/>
          </a:xfrm>
          <a:prstGeom prst="roundRect">
            <a:avLst>
              <a:gd name="adj" fmla="val 21840"/>
            </a:avLst>
          </a:prstGeom>
          <a:solidFill>
            <a:srgbClr val="F4F2EE"/>
          </a:solidFill>
          <a:ln w="12700">
            <a:solidFill>
              <a:srgbClr val="D9D4CC"/>
            </a:solidFill>
            <a:prstDash val="solid"/>
          </a:ln>
        </p:spPr>
      </p:sp>
      <p:sp>
        <p:nvSpPr>
          <p:cNvPr id="10" name="Text 8"/>
          <p:cNvSpPr txBox="1"/>
          <p:nvPr/>
        </p:nvSpPr>
        <p:spPr>
          <a:xfrm>
            <a:off x="548640"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height</a:t>
            </a:r>
            <a:endParaRPr lang="en-US" sz="1150" dirty="0"/>
          </a:p>
        </p:txBody>
      </p:sp>
      <p:sp>
        <p:nvSpPr>
          <p:cNvPr id="11" name="Shape 9"/>
          <p:cNvSpPr/>
          <p:nvPr/>
        </p:nvSpPr>
        <p:spPr>
          <a:xfrm>
            <a:off x="2551176" y="2927096"/>
            <a:ext cx="1947672" cy="334941"/>
          </a:xfrm>
          <a:prstGeom prst="roundRect">
            <a:avLst>
              <a:gd name="adj" fmla="val 21840"/>
            </a:avLst>
          </a:prstGeom>
          <a:solidFill>
            <a:srgbClr val="F4F2EE"/>
          </a:solidFill>
          <a:ln w="12700">
            <a:solidFill>
              <a:srgbClr val="D9D4CC"/>
            </a:solidFill>
            <a:prstDash val="solid"/>
          </a:ln>
        </p:spPr>
      </p:sp>
      <p:sp>
        <p:nvSpPr>
          <p:cNvPr id="12" name="Text 10"/>
          <p:cNvSpPr txBox="1"/>
          <p:nvPr/>
        </p:nvSpPr>
        <p:spPr>
          <a:xfrm>
            <a:off x="2642616"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hash</a:t>
            </a:r>
            <a:endParaRPr lang="en-US" sz="1150" dirty="0"/>
          </a:p>
        </p:txBody>
      </p:sp>
      <p:sp>
        <p:nvSpPr>
          <p:cNvPr id="13" name="Shape 11"/>
          <p:cNvSpPr/>
          <p:nvPr/>
        </p:nvSpPr>
        <p:spPr>
          <a:xfrm>
            <a:off x="4645152" y="2927096"/>
            <a:ext cx="1947672" cy="334941"/>
          </a:xfrm>
          <a:prstGeom prst="roundRect">
            <a:avLst>
              <a:gd name="adj" fmla="val 21840"/>
            </a:avLst>
          </a:prstGeom>
          <a:solidFill>
            <a:srgbClr val="F4F2EE"/>
          </a:solidFill>
          <a:ln w="12700">
            <a:solidFill>
              <a:srgbClr val="D9D4CC"/>
            </a:solidFill>
            <a:prstDash val="solid"/>
          </a:ln>
        </p:spPr>
      </p:sp>
      <p:sp>
        <p:nvSpPr>
          <p:cNvPr id="14" name="Text 12"/>
          <p:cNvSpPr txBox="1"/>
          <p:nvPr/>
        </p:nvSpPr>
        <p:spPr>
          <a:xfrm>
            <a:off x="4736592"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header</a:t>
            </a:r>
            <a:endParaRPr lang="en-US" sz="1150" dirty="0"/>
          </a:p>
        </p:txBody>
      </p:sp>
      <p:sp>
        <p:nvSpPr>
          <p:cNvPr id="15" name="Shape 13"/>
          <p:cNvSpPr/>
          <p:nvPr/>
        </p:nvSpPr>
        <p:spPr>
          <a:xfrm>
            <a:off x="6739128" y="2927096"/>
            <a:ext cx="1947672" cy="334941"/>
          </a:xfrm>
          <a:prstGeom prst="roundRect">
            <a:avLst>
              <a:gd name="adj" fmla="val 21840"/>
            </a:avLst>
          </a:prstGeom>
          <a:solidFill>
            <a:srgbClr val="F4F2EE"/>
          </a:solidFill>
          <a:ln w="12700">
            <a:solidFill>
              <a:srgbClr val="D9D4CC"/>
            </a:solidFill>
            <a:prstDash val="solid"/>
          </a:ln>
        </p:spPr>
      </p:sp>
      <p:sp>
        <p:nvSpPr>
          <p:cNvPr id="16" name="Text 14"/>
          <p:cNvSpPr txBox="1"/>
          <p:nvPr/>
        </p:nvSpPr>
        <p:spPr>
          <a:xfrm>
            <a:off x="6830568"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weight</a:t>
            </a:r>
            <a:endParaRPr lang="en-US" sz="1150" dirty="0"/>
          </a:p>
        </p:txBody>
      </p:sp>
      <p:sp>
        <p:nvSpPr>
          <p:cNvPr id="17" name="Shape 15"/>
          <p:cNvSpPr/>
          <p:nvPr/>
        </p:nvSpPr>
        <p:spPr>
          <a:xfrm>
            <a:off x="457200" y="3390053"/>
            <a:ext cx="1947672" cy="334941"/>
          </a:xfrm>
          <a:prstGeom prst="roundRect">
            <a:avLst>
              <a:gd name="adj" fmla="val 21840"/>
            </a:avLst>
          </a:prstGeom>
          <a:solidFill>
            <a:srgbClr val="F4F2EE"/>
          </a:solidFill>
          <a:ln w="12700">
            <a:solidFill>
              <a:srgbClr val="D9D4CC"/>
            </a:solidFill>
            <a:prstDash val="solid"/>
          </a:ln>
        </p:spPr>
      </p:sp>
      <p:sp>
        <p:nvSpPr>
          <p:cNvPr id="18" name="Text 16"/>
          <p:cNvSpPr txBox="1"/>
          <p:nvPr/>
        </p:nvSpPr>
        <p:spPr>
          <a:xfrm>
            <a:off x="548640"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Merkle root</a:t>
            </a:r>
            <a:endParaRPr lang="en-US" sz="1150" dirty="0"/>
          </a:p>
        </p:txBody>
      </p:sp>
      <p:sp>
        <p:nvSpPr>
          <p:cNvPr id="19" name="Shape 17"/>
          <p:cNvSpPr/>
          <p:nvPr/>
        </p:nvSpPr>
        <p:spPr>
          <a:xfrm>
            <a:off x="2551176" y="3390053"/>
            <a:ext cx="1947672" cy="334941"/>
          </a:xfrm>
          <a:prstGeom prst="roundRect">
            <a:avLst>
              <a:gd name="adj" fmla="val 21840"/>
            </a:avLst>
          </a:prstGeom>
          <a:solidFill>
            <a:srgbClr val="F4F2EE"/>
          </a:solidFill>
          <a:ln w="12700">
            <a:solidFill>
              <a:srgbClr val="D9D4CC"/>
            </a:solidFill>
            <a:prstDash val="solid"/>
          </a:ln>
        </p:spPr>
      </p:sp>
      <p:sp>
        <p:nvSpPr>
          <p:cNvPr id="20" name="Text 18"/>
          <p:cNvSpPr txBox="1"/>
          <p:nvPr/>
        </p:nvSpPr>
        <p:spPr>
          <a:xfrm>
            <a:off x="2642616"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subsidy</a:t>
            </a:r>
            <a:endParaRPr lang="en-US" sz="1150" dirty="0"/>
          </a:p>
        </p:txBody>
      </p:sp>
      <p:sp>
        <p:nvSpPr>
          <p:cNvPr id="21" name="Shape 19"/>
          <p:cNvSpPr/>
          <p:nvPr/>
        </p:nvSpPr>
        <p:spPr>
          <a:xfrm>
            <a:off x="4645152" y="3390053"/>
            <a:ext cx="1947672" cy="334941"/>
          </a:xfrm>
          <a:prstGeom prst="roundRect">
            <a:avLst>
              <a:gd name="adj" fmla="val 21840"/>
            </a:avLst>
          </a:prstGeom>
          <a:solidFill>
            <a:srgbClr val="F4F2EE"/>
          </a:solidFill>
          <a:ln w="12700">
            <a:solidFill>
              <a:srgbClr val="D9D4CC"/>
            </a:solidFill>
            <a:prstDash val="solid"/>
          </a:ln>
        </p:spPr>
      </p:sp>
      <p:sp>
        <p:nvSpPr>
          <p:cNvPr id="22" name="Text 20"/>
          <p:cNvSpPr txBox="1"/>
          <p:nvPr/>
        </p:nvSpPr>
        <p:spPr>
          <a:xfrm>
            <a:off x="4736592"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Compact target (bits)</a:t>
            </a:r>
            <a:endParaRPr lang="en-US" sz="1150" dirty="0"/>
          </a:p>
        </p:txBody>
      </p:sp>
      <p:sp>
        <p:nvSpPr>
          <p:cNvPr id="23" name="Shape 21"/>
          <p:cNvSpPr/>
          <p:nvPr/>
        </p:nvSpPr>
        <p:spPr>
          <a:xfrm>
            <a:off x="6739128" y="3390053"/>
            <a:ext cx="1947672" cy="334941"/>
          </a:xfrm>
          <a:prstGeom prst="roundRect">
            <a:avLst>
              <a:gd name="adj" fmla="val 21840"/>
            </a:avLst>
          </a:prstGeom>
          <a:solidFill>
            <a:srgbClr val="F4F2EE"/>
          </a:solidFill>
          <a:ln w="12700">
            <a:solidFill>
              <a:srgbClr val="D9D4CC"/>
            </a:solidFill>
            <a:prstDash val="solid"/>
          </a:ln>
        </p:spPr>
      </p:sp>
      <p:sp>
        <p:nvSpPr>
          <p:cNvPr id="24" name="Text 22"/>
          <p:cNvSpPr txBox="1"/>
          <p:nvPr/>
        </p:nvSpPr>
        <p:spPr>
          <a:xfrm>
            <a:off x="6830568"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Difficulty</a:t>
            </a:r>
            <a:endParaRPr lang="en-US" sz="1150" dirty="0"/>
          </a:p>
        </p:txBody>
      </p:sp>
      <p:sp>
        <p:nvSpPr>
          <p:cNvPr id="25" name="Shape 23"/>
          <p:cNvSpPr/>
          <p:nvPr/>
        </p:nvSpPr>
        <p:spPr>
          <a:xfrm>
            <a:off x="457200" y="3853011"/>
            <a:ext cx="1947672" cy="334941"/>
          </a:xfrm>
          <a:prstGeom prst="roundRect">
            <a:avLst>
              <a:gd name="adj" fmla="val 21840"/>
            </a:avLst>
          </a:prstGeom>
          <a:solidFill>
            <a:srgbClr val="F4F2EE"/>
          </a:solidFill>
          <a:ln w="12700">
            <a:solidFill>
              <a:srgbClr val="D9D4CC"/>
            </a:solidFill>
            <a:prstDash val="solid"/>
          </a:ln>
        </p:spPr>
      </p:sp>
      <p:sp>
        <p:nvSpPr>
          <p:cNvPr id="26" name="Text 24"/>
          <p:cNvSpPr txBox="1"/>
          <p:nvPr/>
        </p:nvSpPr>
        <p:spPr>
          <a:xfrm>
            <a:off x="548640"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Median time past</a:t>
            </a:r>
            <a:endParaRPr lang="en-US" sz="1150" dirty="0"/>
          </a:p>
        </p:txBody>
      </p:sp>
      <p:sp>
        <p:nvSpPr>
          <p:cNvPr id="27" name="Text 2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of the group go from the outside to the inside.</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height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getblockhash 123456</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height of a block is its position in the chain: the number of blocks that precede it. The book says that the height tells how many blocks preceded the block, and the glossary of the chapter on the blockchain adds that the first block, the genesis block, is at height 0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123456 + 651742 - 1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775197</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80028"/>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height is not stored in the header and is not part of a block's identity: it is the length of the path to the genesis block, and the node counts it in its index.</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80-byte header hashed twice</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hash is the identifier of a block.</a:t>
            </a:r>
            <a:endParaRPr lang="en-US" sz="1300" dirty="0"/>
          </a:p>
        </p:txBody>
      </p:sp>
      <p:sp>
        <p:nvSpPr>
          <p:cNvPr id="9" name="Shape 7"/>
          <p:cNvSpPr/>
          <p:nvPr/>
        </p:nvSpPr>
        <p:spPr>
          <a:xfrm>
            <a:off x="457200" y="2322830"/>
            <a:ext cx="8229600" cy="1213866"/>
          </a:xfrm>
          <a:prstGeom prst="roundRect">
            <a:avLst>
              <a:gd name="adj" fmla="val 7533"/>
            </a:avLst>
          </a:prstGeom>
          <a:solidFill>
            <a:srgbClr val="15191E"/>
          </a:solidFill>
          <a:ln w="12700">
            <a:solidFill>
              <a:srgbClr val="15191E"/>
            </a:solidFill>
            <a:prstDash val="solid"/>
          </a:ln>
        </p:spPr>
      </p:sp>
      <p:sp>
        <p:nvSpPr>
          <p:cNvPr id="10" name="Text 8"/>
          <p:cNvSpPr txBox="1"/>
          <p:nvPr/>
        </p:nvSpPr>
        <p:spPr>
          <a:xfrm>
            <a:off x="640080" y="2441702"/>
            <a:ext cx="7863840" cy="976122"/>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import hashlib, json, struct</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b = json.load(io.StringIO(BLOCKHASH_D1))</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h = struct.pack('&lt;I', b['version']) + bytes.fromhex(b['previousblockhash'])[::-1] + bytes.fromhex(b['merkle_root'])[::-1] + struct.pack('&lt;III', b['timestamp'], b['bits'], b['nonce'])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result = (hashlib.sha256(hashlib.sha256(h).digest()).digest()[::-1].hex() == b['id'], len(h), b['id'])</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result[0]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1" name="Text 9"/>
          <p:cNvSpPr txBox="1"/>
          <p:nvPr/>
        </p:nvSpPr>
        <p:spPr>
          <a:xfrm>
            <a:off x="457200" y="355498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11016"/>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header's fields are packed in a fixed order into 80 bytes: the version as four bytes with the least significant first, the 32 bytes of the previous block hash and 32 bytes of the Merkle root, both reversed from their display order, and the time, the bits and the nonce as four bytes each. The packed bytes are put through SHA-256 twice, and the 32-byte result is reversed to produce the familiar display.</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header and Block weight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Block header</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block header is the summary at the head of every block.</a:t>
            </a:r>
            <a:endParaRPr lang="en-US" sz="1200" dirty="0"/>
          </a:p>
        </p:txBody>
      </p:sp>
      <p:sp>
        <p:nvSpPr>
          <p:cNvPr id="9" name="Shape 7"/>
          <p:cNvSpPr/>
          <p:nvPr/>
        </p:nvSpPr>
        <p:spPr>
          <a:xfrm>
            <a:off x="457200" y="2456688"/>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4 + 32 + 32 + 4 + 4 + 4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80</a:t>
            </a:r>
            <a:endParaRPr lang="en-US" sz="1050" dirty="0"/>
          </a:p>
        </p:txBody>
      </p:sp>
      <p:sp>
        <p:nvSpPr>
          <p:cNvPr id="11" name="Text 9"/>
          <p:cNvSpPr txBox="1"/>
          <p:nvPr/>
        </p:nvSpPr>
        <p:spPr>
          <a:xfrm>
            <a:off x="45720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294126"/>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Each field has a role in the chain. The previous block hash links the block to its parent. The Merkle root ties the transactions to the header.</a:t>
            </a:r>
            <a:endParaRPr lang="en-US" sz="1100" dirty="0"/>
          </a:p>
        </p:txBody>
      </p:sp>
      <p:sp>
        <p:nvSpPr>
          <p:cNvPr id="13" name="Shape 11"/>
          <p:cNvSpPr/>
          <p:nvPr/>
        </p:nvSpPr>
        <p:spPr>
          <a:xfrm>
            <a:off x="4709160" y="1280160"/>
            <a:ext cx="3977640" cy="1996440"/>
          </a:xfrm>
          <a:prstGeom prst="roundRect">
            <a:avLst>
              <a:gd name="adj" fmla="val 4580"/>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Block weight</a:t>
            </a:r>
            <a:endParaRPr lang="en-US" sz="1600" dirty="0"/>
          </a:p>
        </p:txBody>
      </p:sp>
      <p:sp>
        <p:nvSpPr>
          <p:cNvPr id="15" name="Text 13"/>
          <p:cNvSpPr txBox="1"/>
          <p:nvPr/>
        </p:nvSpPr>
        <p:spPr>
          <a:xfrm>
            <a:off x="4892040" y="1783080"/>
            <a:ext cx="3611880" cy="1356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weight of a block is its size in weight units, calculated like the weight of a transaction: BIP 141 defines it as the base size times three plus the total size, where the base size is the size without witness data and the total size is the size with it (Lombrozo et al., 2015).</a:t>
            </a:r>
            <a:endParaRPr lang="en-US" sz="1200" dirty="0"/>
          </a:p>
        </p:txBody>
      </p:sp>
      <p:sp>
        <p:nvSpPr>
          <p:cNvPr id="16" name="Shape 14"/>
          <p:cNvSpPr/>
          <p:nvPr/>
        </p:nvSpPr>
        <p:spPr>
          <a:xfrm>
            <a:off x="4709160" y="3386328"/>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350520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4 * 4179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16716</a:t>
            </a:r>
            <a:endParaRPr lang="en-US" sz="1050" dirty="0"/>
          </a:p>
        </p:txBody>
      </p:sp>
      <p:sp>
        <p:nvSpPr>
          <p:cNvPr id="18" name="Text 16"/>
          <p:cNvSpPr txBox="1"/>
          <p:nvPr/>
        </p:nvSpPr>
        <p:spPr>
          <a:xfrm>
            <a:off x="4709160" y="396773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Merkle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Merkle root of the block's transactions</a:t>
            </a:r>
            <a:endParaRPr lang="en-US" sz="1300" dirty="0"/>
          </a:p>
        </p:txBody>
      </p:sp>
      <p:sp>
        <p:nvSpPr>
          <p:cNvPr id="6" name="Shape 4"/>
          <p:cNvSpPr/>
          <p:nvPr/>
        </p:nvSpPr>
        <p:spPr>
          <a:xfrm>
            <a:off x="457200" y="1280160"/>
            <a:ext cx="8229600" cy="880872"/>
          </a:xfrm>
          <a:prstGeom prst="roundRect">
            <a:avLst>
              <a:gd name="adj" fmla="val 1038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Merkle root is the single hash in a block header that stands for all the transactions of the block.</a:t>
            </a:r>
            <a:endParaRPr lang="en-US" sz="1200" dirty="0"/>
          </a:p>
        </p:txBody>
      </p:sp>
      <p:sp>
        <p:nvSpPr>
          <p:cNvPr id="9" name="Shape 7"/>
          <p:cNvSpPr/>
          <p:nvPr/>
        </p:nvSpPr>
        <p:spPr>
          <a:xfrm>
            <a:off x="457200" y="2307336"/>
            <a:ext cx="8229600" cy="1322324"/>
          </a:xfrm>
          <a:prstGeom prst="roundRect">
            <a:avLst>
              <a:gd name="adj" fmla="val 6915"/>
            </a:avLst>
          </a:prstGeom>
          <a:solidFill>
            <a:srgbClr val="15191E"/>
          </a:solidFill>
          <a:ln w="12700">
            <a:solidFill>
              <a:srgbClr val="15191E"/>
            </a:solidFill>
            <a:prstDash val="solid"/>
          </a:ln>
        </p:spPr>
      </p:sp>
      <p:sp>
        <p:nvSpPr>
          <p:cNvPr id="10" name="Text 8"/>
          <p:cNvSpPr txBox="1"/>
          <p:nvPr/>
        </p:nvSpPr>
        <p:spPr>
          <a:xfrm>
            <a:off x="640080" y="2426208"/>
            <a:ext cx="7863840" cy="10845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hashlib</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d = lambda b: hashlib.sha256(hashlib.sha256(b).digest()).digest()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level = [bytes.fromhex(t)[::-1] for t in MERKLEROOT_D1.split()]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len(level) &gt;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if len(level) % 2: level.append(level[-1])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level = [d(level[i] + level[i + 1]) for i in range(0, len(level), 2)]</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level[0][::-1].hex()</a:t>
            </a:r>
            <a:endParaRPr lang="en-US" sz="1000" dirty="0"/>
          </a:p>
        </p:txBody>
      </p:sp>
      <p:sp>
        <p:nvSpPr>
          <p:cNvPr id="11" name="Text 9"/>
          <p:cNvSpPr txBox="1"/>
          <p:nvPr/>
        </p:nvSpPr>
        <p:spPr>
          <a:xfrm>
            <a:off x="457200" y="3647948"/>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'0e60651a9934e8f0decd1c5fde39309e48fca0cd1c84a21ddfde95033762d86c'</a:t>
            </a:r>
            <a:endParaRPr lang="en-US" sz="1000" dirty="0"/>
          </a:p>
        </p:txBody>
      </p:sp>
      <p:sp>
        <p:nvSpPr>
          <p:cNvPr id="12" name="Text 10"/>
          <p:cNvSpPr txBox="1"/>
          <p:nvPr/>
        </p:nvSpPr>
        <p:spPr>
          <a:xfrm>
            <a:off x="457200" y="390398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MerkleRoot, lines 1 to 7 of 7, run under Python 3.14.4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6.25 bitcoins at height 775072</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subsidy is the amount of new bitcoin that a block creates, which the miner may claim in the first transaction of the block, the coinbase transaction.</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(775072 // 210000)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625000000</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coinbase transaction cannot create more than the subsidy plus the fees of the block, and the amount is checked by every node.</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Compact target (bits)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bits 1a6a93b3</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compact target is the way in which the header records the proof-of-work target in only four bytes. The target is a 256-bit number that the hash of a valid block must not exceed, as chapter 2 explained for the difficulty target, and a 256-bit number would need 32 bytes.</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'%064x' % (0x6a93b3 &lt;&lt; (8 * (0x1a - 3)))</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'0000000000006a93b30000000000000000000000000000000000000000000000'</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7860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source decodes the field with two lines: the size is the value shifted right by 24 bits, the word is the value masked by 0x007fffff, and the target is the word shifted left by 8 times the size minus 3 bits, that is, by size minus three bytes (Bitcoin Core, 2026).</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difficulty from bits 1a6a93b3</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difficulty is a number that tells how much harder it is to produce a valid block than it was at the start. The glossary of the book defines it as a network-wide setting that controls how much computation is required to produce a proof of work (Antonopoulos and Harding, 2023).</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round(0xffff * 256**(0x1d - 3) / (0x6a93b3 * 256**(0x1a - 3)), 10)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157416.4018436489</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7860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program in Bitcoin Core computes it from the bits with floating-point arithmetic: it takes 0x0000ffff divided by the mantissa, and multiplies or divides by 256 until the exponent is 29, the value for the easiest target (Bitcoin Core, 2026).</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Median time past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median of 11 block times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median time past, often written MTP, is a clock that the chain defines for itself. For a block it is the median, the middle value in sorted order, of the timestamps of that block and the ten before it. Bitcoin Core's source states the number of blocks as the constant 11, sorts the times and returns the element in the middle (Bitcoin Core, 2026).</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sorted(json.load(io.StringIO(MEDIANTIMEPAST_D1))[str(h)] for h in range(123446, 123457))[5]</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1305197900</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worked example takes the times of blocks 123446 to 123456, the eleven blocks ending with block 123456, sorts them and picks the sixth, which is 1305197900, the time of block 123451. This is exactly the value the node reports.</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Chain state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Data - 5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chain state group collects the concepts that describe the blocks as a whole: which chain is the true one, how much work it represents, how deep a block is in it, and what happens when the node changes its mind. The word has a second meaning in Bitcoin Core, where the chain state is also the name of the database of unspent outputs, as the earlier concept on the set of unspent outputs explained; here the word means the shape of the chain (Bitcoin Core, 2026).</a:t>
            </a:r>
            <a:endParaRPr lang="en-US" sz="1300" dirty="0"/>
          </a:p>
        </p:txBody>
      </p:sp>
      <p:sp>
        <p:nvSpPr>
          <p:cNvPr id="9" name="Shape 7"/>
          <p:cNvSpPr/>
          <p:nvPr/>
        </p:nvSpPr>
        <p:spPr>
          <a:xfrm>
            <a:off x="457200" y="3128518"/>
            <a:ext cx="2645664" cy="465709"/>
          </a:xfrm>
          <a:prstGeom prst="roundRect">
            <a:avLst>
              <a:gd name="adj" fmla="val 15708"/>
            </a:avLst>
          </a:prstGeom>
          <a:solidFill>
            <a:srgbClr val="F4F2EE"/>
          </a:solidFill>
          <a:ln w="12700">
            <a:solidFill>
              <a:srgbClr val="D9D4CC"/>
            </a:solidFill>
            <a:prstDash val="solid"/>
          </a:ln>
        </p:spPr>
      </p:sp>
      <p:sp>
        <p:nvSpPr>
          <p:cNvPr id="10" name="Text 8"/>
          <p:cNvSpPr txBox="1"/>
          <p:nvPr/>
        </p:nvSpPr>
        <p:spPr>
          <a:xfrm>
            <a:off x="548640" y="3183382"/>
            <a:ext cx="2462784" cy="355981"/>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Best chain</a:t>
            </a:r>
            <a:endParaRPr lang="en-US" sz="1250" dirty="0"/>
          </a:p>
        </p:txBody>
      </p:sp>
      <p:sp>
        <p:nvSpPr>
          <p:cNvPr id="11" name="Shape 9"/>
          <p:cNvSpPr/>
          <p:nvPr/>
        </p:nvSpPr>
        <p:spPr>
          <a:xfrm>
            <a:off x="3249168" y="3128518"/>
            <a:ext cx="2645664" cy="465709"/>
          </a:xfrm>
          <a:prstGeom prst="roundRect">
            <a:avLst>
              <a:gd name="adj" fmla="val 15708"/>
            </a:avLst>
          </a:prstGeom>
          <a:solidFill>
            <a:srgbClr val="F4F2EE"/>
          </a:solidFill>
          <a:ln w="12700">
            <a:solidFill>
              <a:srgbClr val="D9D4CC"/>
            </a:solidFill>
            <a:prstDash val="solid"/>
          </a:ln>
        </p:spPr>
      </p:sp>
      <p:sp>
        <p:nvSpPr>
          <p:cNvPr id="12" name="Text 10"/>
          <p:cNvSpPr txBox="1"/>
          <p:nvPr/>
        </p:nvSpPr>
        <p:spPr>
          <a:xfrm>
            <a:off x="3340608" y="3183382"/>
            <a:ext cx="2462784" cy="355981"/>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Chain work</a:t>
            </a:r>
            <a:endParaRPr lang="en-US" sz="1250" dirty="0"/>
          </a:p>
        </p:txBody>
      </p:sp>
      <p:sp>
        <p:nvSpPr>
          <p:cNvPr id="13" name="Shape 11"/>
          <p:cNvSpPr/>
          <p:nvPr/>
        </p:nvSpPr>
        <p:spPr>
          <a:xfrm>
            <a:off x="6041136" y="3128518"/>
            <a:ext cx="2645664" cy="465709"/>
          </a:xfrm>
          <a:prstGeom prst="roundRect">
            <a:avLst>
              <a:gd name="adj" fmla="val 15708"/>
            </a:avLst>
          </a:prstGeom>
          <a:solidFill>
            <a:srgbClr val="F4F2EE"/>
          </a:solidFill>
          <a:ln w="12700">
            <a:solidFill>
              <a:srgbClr val="D9D4CC"/>
            </a:solidFill>
            <a:prstDash val="solid"/>
          </a:ln>
        </p:spPr>
      </p:sp>
      <p:sp>
        <p:nvSpPr>
          <p:cNvPr id="14" name="Text 12"/>
          <p:cNvSpPr txBox="1"/>
          <p:nvPr/>
        </p:nvSpPr>
        <p:spPr>
          <a:xfrm>
            <a:off x="6132576" y="3183382"/>
            <a:ext cx="2462784" cy="355981"/>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Confirmation</a:t>
            </a:r>
            <a:endParaRPr lang="en-US" sz="1250" dirty="0"/>
          </a:p>
        </p:txBody>
      </p:sp>
      <p:sp>
        <p:nvSpPr>
          <p:cNvPr id="15" name="Shape 13"/>
          <p:cNvSpPr/>
          <p:nvPr/>
        </p:nvSpPr>
        <p:spPr>
          <a:xfrm>
            <a:off x="457200" y="3722243"/>
            <a:ext cx="2645664" cy="465709"/>
          </a:xfrm>
          <a:prstGeom prst="roundRect">
            <a:avLst>
              <a:gd name="adj" fmla="val 15708"/>
            </a:avLst>
          </a:prstGeom>
          <a:solidFill>
            <a:srgbClr val="F4F2EE"/>
          </a:solidFill>
          <a:ln w="12700">
            <a:solidFill>
              <a:srgbClr val="D9D4CC"/>
            </a:solidFill>
            <a:prstDash val="solid"/>
          </a:ln>
        </p:spPr>
      </p:sp>
      <p:sp>
        <p:nvSpPr>
          <p:cNvPr id="16" name="Text 14"/>
          <p:cNvSpPr txBox="1"/>
          <p:nvPr/>
        </p:nvSpPr>
        <p:spPr>
          <a:xfrm>
            <a:off x="548640" y="3777107"/>
            <a:ext cx="2462784" cy="355981"/>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Chain reorganization</a:t>
            </a:r>
            <a:endParaRPr lang="en-US" sz="1250" dirty="0"/>
          </a:p>
        </p:txBody>
      </p:sp>
      <p:sp>
        <p:nvSpPr>
          <p:cNvPr id="17" name="Shape 15"/>
          <p:cNvSpPr/>
          <p:nvPr/>
        </p:nvSpPr>
        <p:spPr>
          <a:xfrm>
            <a:off x="3249168" y="3722243"/>
            <a:ext cx="2645664" cy="465709"/>
          </a:xfrm>
          <a:prstGeom prst="roundRect">
            <a:avLst>
              <a:gd name="adj" fmla="val 15708"/>
            </a:avLst>
          </a:prstGeom>
          <a:solidFill>
            <a:srgbClr val="F4F2EE"/>
          </a:solidFill>
          <a:ln w="12700">
            <a:solidFill>
              <a:srgbClr val="D9D4CC"/>
            </a:solidFill>
            <a:prstDash val="solid"/>
          </a:ln>
        </p:spPr>
      </p:sp>
      <p:sp>
        <p:nvSpPr>
          <p:cNvPr id="18" name="Text 16"/>
          <p:cNvSpPr txBox="1"/>
          <p:nvPr/>
        </p:nvSpPr>
        <p:spPr>
          <a:xfrm>
            <a:off x="3340608" y="3777107"/>
            <a:ext cx="2462784" cy="355981"/>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Fork</a:t>
            </a:r>
            <a:endParaRPr lang="en-US" sz="1250" dirty="0"/>
          </a:p>
        </p:txBody>
      </p:sp>
      <p:sp>
        <p:nvSpPr>
          <p:cNvPr id="19" name="Text 1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order is from the rule to its consequences.</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Best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chain with the most work</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best chain is the chain of valid blocks that a node regards as the true record.</a:t>
            </a:r>
            <a:endParaRPr lang="en-US" sz="1300" dirty="0"/>
          </a:p>
        </p:txBody>
      </p:sp>
      <p:sp>
        <p:nvSpPr>
          <p:cNvPr id="9" name="Shape 7"/>
          <p:cNvSpPr/>
          <p:nvPr/>
        </p:nvSpPr>
        <p:spPr>
          <a:xfrm>
            <a:off x="457200" y="2322830"/>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441702"/>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a_work = 3 * (2**256 // (0xffff * 256**26 + 1))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b_work = 2 * (2**256 // ((0xffff * 256**26) // 4 + 1))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(a_work &lt; b_work, max([('A', a_work), ('B', b_work)], key=lambda c: c[1])[0])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 'B')</a:t>
            </a:r>
            <a:endParaRPr lang="en-US" sz="1100" dirty="0"/>
          </a:p>
        </p:txBody>
      </p:sp>
      <p:sp>
        <p:nvSpPr>
          <p:cNvPr id="11" name="Text 9"/>
          <p:cNvSpPr txBox="1"/>
          <p:nvPr/>
        </p:nvSpPr>
        <p:spPr>
          <a:xfrm>
            <a:off x="457200" y="326059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80054"/>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59892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82974"/>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Work, not length, decides. The chain work concept shows how to measure it: a block with a smaller target represents more expected hashes.</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Chain work and Confirmation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Chain work</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chain work is the total amount of proof of work behind a block, expressed as the expected number of hashes needed to produce the chain up to it.</a:t>
            </a:r>
            <a:endParaRPr lang="en-US" sz="1200" dirty="0"/>
          </a:p>
        </p:txBody>
      </p:sp>
      <p:sp>
        <p:nvSpPr>
          <p:cNvPr id="9" name="Shape 7"/>
          <p:cNvSpPr/>
          <p:nvPr/>
        </p:nvSpPr>
        <p:spPr>
          <a:xfrm>
            <a:off x="457200" y="2828544"/>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hex(2**256 // (0xffff * 256**26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'0x100010001'</a:t>
            </a:r>
            <a:endParaRPr lang="en-US" sz="1050" dirty="0"/>
          </a:p>
        </p:txBody>
      </p:sp>
      <p:sp>
        <p:nvSpPr>
          <p:cNvPr id="11" name="Text 9"/>
          <p:cNvSpPr txBox="1"/>
          <p:nvPr/>
        </p:nvSpPr>
        <p:spPr>
          <a:xfrm>
            <a:off x="45720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Confirmation</a:t>
            </a:r>
            <a:endParaRPr lang="en-US" sz="1600" dirty="0"/>
          </a:p>
        </p:txBody>
      </p:sp>
      <p:sp>
        <p:nvSpPr>
          <p:cNvPr id="14" name="Text 12"/>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confirmation is a block added at or above the block that contains a transaction.</a:t>
            </a:r>
            <a:endParaRPr lang="en-US" sz="1200" dirty="0"/>
          </a:p>
        </p:txBody>
      </p:sp>
      <p:sp>
        <p:nvSpPr>
          <p:cNvPr id="15" name="Shape 13"/>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6" name="Text 14"/>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775197 - 123456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651742</a:t>
            </a:r>
            <a:endParaRPr lang="en-US" sz="1050" dirty="0"/>
          </a:p>
        </p:txBody>
      </p:sp>
      <p:sp>
        <p:nvSpPr>
          <p:cNvPr id="17" name="Text 15"/>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294126"/>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Each new block extends the chain that already contains the transaction, so the number grows by one with every block on the best chain.</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Chain reorganization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switching to a branch with more work</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reorganization is the event in which a node changes which chain it regards as the best.</a:t>
            </a:r>
            <a:endParaRPr lang="en-US" sz="1300" dirty="0"/>
          </a:p>
        </p:txBody>
      </p:sp>
      <p:sp>
        <p:nvSpPr>
          <p:cNvPr id="9" name="Shape 7"/>
          <p:cNvSpPr/>
          <p:nvPr/>
        </p:nvSpPr>
        <p:spPr>
          <a:xfrm>
            <a:off x="457200" y="2322830"/>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441702"/>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{'tx1', 'tx2', 'tx3'}</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 = {'tx1', 'tx4'}</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(sorted(a - b), sorted(b - a))</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(['tx2', 'tx3'], ['tx4'])</a:t>
            </a:r>
            <a:endParaRPr lang="en-US" sz="1100" dirty="0"/>
          </a:p>
        </p:txBody>
      </p:sp>
      <p:sp>
        <p:nvSpPr>
          <p:cNvPr id="11" name="Text 9"/>
          <p:cNvSpPr txBox="1"/>
          <p:nvPr/>
        </p:nvSpPr>
        <p:spPr>
          <a:xfrm>
            <a:off x="457200" y="326059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16630"/>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When the new chain has more work, the node disconnects the blocks of the old branch from the tip down to the point where the branches split, which restores the outputs those blocks spent and removes the ones they created in the set of unspent outputs, and then connects the blocks of the new branch. The transactions of the disconnected blocks that are not in the new blocks go back to the mempool, where they may be mined again.</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blocks at one height</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fork is a point where the chain of blocks divides into two branches.</a:t>
            </a:r>
            <a:endParaRPr lang="en-US" sz="1300" dirty="0"/>
          </a:p>
        </p:txBody>
      </p:sp>
      <p:sp>
        <p:nvSpPr>
          <p:cNvPr id="9" name="Shape 7"/>
          <p:cNvSpPr/>
          <p:nvPr/>
        </p:nvSpPr>
        <p:spPr>
          <a:xfrm>
            <a:off x="457200" y="2322830"/>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441702"/>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blocks = {'G': (None, 0), 'A1': ('G', 1), 'B1': ('G', 1), 'A2': ('A1', 2)}</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tips = sorted(b for b in blocks if not any(p == b for p, h in blocks.values()))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(tips, max(tips, key=lambda b: blocks[b][1]), sorted(b for b, (p, h) in blocks.items() if h ==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(['A2', 'B1'], 'A2', ['A1', 'B1'])</a:t>
            </a:r>
            <a:endParaRPr lang="en-US" sz="10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4654"/>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At a fork each node has seen the blocks in a different order and may have a different tip until one branch is extended. The node stores both branches in its block index and tracks the work of each, and when a branch overtakes the other it switches, as the concept of reorganization explains.</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Ecosystem</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ecosystem branch is about the software around the reference implementation and about how a person can trust what they download.</a:t>
            </a:r>
            <a:endParaRPr lang="en-US" sz="1500" dirty="0"/>
          </a:p>
        </p:txBody>
      </p:sp>
      <p:sp>
        <p:nvSpPr>
          <p:cNvPr id="5" name="Shape 3"/>
          <p:cNvSpPr/>
          <p:nvPr/>
        </p:nvSpPr>
        <p:spPr>
          <a:xfrm>
            <a:off x="457200" y="2788920"/>
            <a:ext cx="8229600"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8083296"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Assurance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6 concepts</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Assurance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Ecosystem - 6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Assurance is the group of concepts that answer the question how do I know. In this chapter it covers the evidence one can gather about a program before trusting it, namely the checksum published for the download, the signatures on that checksum and the build that makes the files reproducible, and the evidence one can gather about a library before depending on it, namely its latest release in a package registry. The common feature is that each statement can be checked by a computation on saved files and does not depend on the reputation of whoever makes it.</a:t>
            </a:r>
            <a:endParaRPr lang="en-US" sz="1300" dirty="0"/>
          </a:p>
        </p:txBody>
      </p:sp>
      <p:sp>
        <p:nvSpPr>
          <p:cNvPr id="9" name="Shape 7"/>
          <p:cNvSpPr/>
          <p:nvPr/>
        </p:nvSpPr>
        <p:spPr>
          <a:xfrm>
            <a:off x="457200" y="3531362"/>
            <a:ext cx="2645664" cy="492887"/>
          </a:xfrm>
          <a:prstGeom prst="roundRect">
            <a:avLst>
              <a:gd name="adj" fmla="val 14842"/>
            </a:avLst>
          </a:prstGeom>
          <a:solidFill>
            <a:srgbClr val="F4F2EE"/>
          </a:solidFill>
          <a:ln w="12700">
            <a:solidFill>
              <a:srgbClr val="D9D4CC"/>
            </a:solidFill>
            <a:prstDash val="solid"/>
          </a:ln>
        </p:spPr>
      </p:sp>
      <p:sp>
        <p:nvSpPr>
          <p:cNvPr id="10" name="Text 8"/>
          <p:cNvSpPr txBox="1"/>
          <p:nvPr/>
        </p:nvSpPr>
        <p:spPr>
          <a:xfrm>
            <a:off x="548640" y="3586226"/>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Release verification</a:t>
            </a:r>
            <a:endParaRPr lang="en-US" sz="1250" dirty="0"/>
          </a:p>
        </p:txBody>
      </p:sp>
      <p:sp>
        <p:nvSpPr>
          <p:cNvPr id="11" name="Shape 9"/>
          <p:cNvSpPr/>
          <p:nvPr/>
        </p:nvSpPr>
        <p:spPr>
          <a:xfrm>
            <a:off x="3249168" y="3531362"/>
            <a:ext cx="2645664" cy="492887"/>
          </a:xfrm>
          <a:prstGeom prst="roundRect">
            <a:avLst>
              <a:gd name="adj" fmla="val 14842"/>
            </a:avLst>
          </a:prstGeom>
          <a:solidFill>
            <a:srgbClr val="F4F2EE"/>
          </a:solidFill>
          <a:ln w="12700">
            <a:solidFill>
              <a:srgbClr val="D9D4CC"/>
            </a:solidFill>
            <a:prstDash val="solid"/>
          </a:ln>
        </p:spPr>
      </p:sp>
      <p:sp>
        <p:nvSpPr>
          <p:cNvPr id="12" name="Text 10"/>
          <p:cNvSpPr txBox="1"/>
          <p:nvPr/>
        </p:nvSpPr>
        <p:spPr>
          <a:xfrm>
            <a:off x="3340608" y="3586226"/>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Checksum</a:t>
            </a:r>
            <a:endParaRPr lang="en-US" sz="1250" dirty="0"/>
          </a:p>
        </p:txBody>
      </p:sp>
      <p:sp>
        <p:nvSpPr>
          <p:cNvPr id="13" name="Shape 11"/>
          <p:cNvSpPr/>
          <p:nvPr/>
        </p:nvSpPr>
        <p:spPr>
          <a:xfrm>
            <a:off x="6041136" y="3531362"/>
            <a:ext cx="2645664" cy="492887"/>
          </a:xfrm>
          <a:prstGeom prst="roundRect">
            <a:avLst>
              <a:gd name="adj" fmla="val 14842"/>
            </a:avLst>
          </a:prstGeom>
          <a:solidFill>
            <a:srgbClr val="F4F2EE"/>
          </a:solidFill>
          <a:ln w="12700">
            <a:solidFill>
              <a:srgbClr val="D9D4CC"/>
            </a:solidFill>
            <a:prstDash val="solid"/>
          </a:ln>
        </p:spPr>
      </p:sp>
      <p:sp>
        <p:nvSpPr>
          <p:cNvPr id="14" name="Text 12"/>
          <p:cNvSpPr txBox="1"/>
          <p:nvPr/>
        </p:nvSpPr>
        <p:spPr>
          <a:xfrm>
            <a:off x="6132576" y="3586226"/>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OpenPGP signature</a:t>
            </a:r>
            <a:endParaRPr lang="en-US" sz="1250" dirty="0"/>
          </a:p>
        </p:txBody>
      </p:sp>
      <p:sp>
        <p:nvSpPr>
          <p:cNvPr id="15" name="Shape 13"/>
          <p:cNvSpPr/>
          <p:nvPr/>
        </p:nvSpPr>
        <p:spPr>
          <a:xfrm>
            <a:off x="457200" y="4152265"/>
            <a:ext cx="2645664" cy="492887"/>
          </a:xfrm>
          <a:prstGeom prst="roundRect">
            <a:avLst>
              <a:gd name="adj" fmla="val 14842"/>
            </a:avLst>
          </a:prstGeom>
          <a:solidFill>
            <a:srgbClr val="F4F2EE"/>
          </a:solidFill>
          <a:ln w="12700">
            <a:solidFill>
              <a:srgbClr val="D9D4CC"/>
            </a:solidFill>
            <a:prstDash val="solid"/>
          </a:ln>
        </p:spPr>
      </p:sp>
      <p:sp>
        <p:nvSpPr>
          <p:cNvPr id="16" name="Text 14"/>
          <p:cNvSpPr txBox="1"/>
          <p:nvPr/>
        </p:nvSpPr>
        <p:spPr>
          <a:xfrm>
            <a:off x="548640" y="4207129"/>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Reproducible build</a:t>
            </a:r>
            <a:endParaRPr lang="en-US" sz="1250" dirty="0"/>
          </a:p>
        </p:txBody>
      </p:sp>
      <p:sp>
        <p:nvSpPr>
          <p:cNvPr id="17" name="Shape 15"/>
          <p:cNvSpPr/>
          <p:nvPr/>
        </p:nvSpPr>
        <p:spPr>
          <a:xfrm>
            <a:off x="3249168" y="4152265"/>
            <a:ext cx="2645664" cy="492887"/>
          </a:xfrm>
          <a:prstGeom prst="roundRect">
            <a:avLst>
              <a:gd name="adj" fmla="val 14842"/>
            </a:avLst>
          </a:prstGeom>
          <a:solidFill>
            <a:srgbClr val="F4F2EE"/>
          </a:solidFill>
          <a:ln w="12700">
            <a:solidFill>
              <a:srgbClr val="D9D4CC"/>
            </a:solidFill>
            <a:prstDash val="solid"/>
          </a:ln>
        </p:spPr>
      </p:sp>
      <p:sp>
        <p:nvSpPr>
          <p:cNvPr id="18" name="Text 16"/>
          <p:cNvSpPr txBox="1"/>
          <p:nvPr/>
        </p:nvSpPr>
        <p:spPr>
          <a:xfrm>
            <a:off x="3340608" y="4207129"/>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Package registry</a:t>
            </a:r>
            <a:endParaRPr lang="en-US" sz="1250" dirty="0"/>
          </a:p>
        </p:txBody>
      </p:sp>
      <p:sp>
        <p:nvSpPr>
          <p:cNvPr id="19" name="Shape 17"/>
          <p:cNvSpPr/>
          <p:nvPr/>
        </p:nvSpPr>
        <p:spPr>
          <a:xfrm>
            <a:off x="6041136" y="4152265"/>
            <a:ext cx="2645664" cy="492887"/>
          </a:xfrm>
          <a:prstGeom prst="roundRect">
            <a:avLst>
              <a:gd name="adj" fmla="val 14842"/>
            </a:avLst>
          </a:prstGeom>
          <a:solidFill>
            <a:srgbClr val="F4F2EE"/>
          </a:solidFill>
          <a:ln w="12700">
            <a:solidFill>
              <a:srgbClr val="D9D4CC"/>
            </a:solidFill>
            <a:prstDash val="solid"/>
          </a:ln>
        </p:spPr>
      </p:sp>
      <p:sp>
        <p:nvSpPr>
          <p:cNvPr id="20" name="Text 18"/>
          <p:cNvSpPr txBox="1"/>
          <p:nvPr/>
        </p:nvSpPr>
        <p:spPr>
          <a:xfrm>
            <a:off x="6132576" y="4207129"/>
            <a:ext cx="2462784" cy="383159"/>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Alternative toolkit</a:t>
            </a:r>
            <a:endParaRPr lang="en-US" sz="12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Release verification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SHA256SUMS and its signatures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Release verification is the check of a downloaded program against what the project published, done before the program is run.</a:t>
            </a:r>
            <a:endParaRPr lang="en-US" sz="1300" dirty="0"/>
          </a:p>
        </p:txBody>
      </p:sp>
      <p:sp>
        <p:nvSpPr>
          <p:cNvPr id="9" name="Shape 7"/>
          <p:cNvSpPr/>
          <p:nvPr/>
        </p:nvSpPr>
        <p:spPr>
          <a:xfrm>
            <a:off x="457200" y="2524252"/>
            <a:ext cx="8229600" cy="1012444"/>
          </a:xfrm>
          <a:prstGeom prst="roundRect">
            <a:avLst>
              <a:gd name="adj" fmla="val 9032"/>
            </a:avLst>
          </a:prstGeom>
          <a:solidFill>
            <a:srgbClr val="15191E"/>
          </a:solidFill>
          <a:ln w="12700">
            <a:solidFill>
              <a:srgbClr val="15191E"/>
            </a:solidFill>
            <a:prstDash val="solid"/>
          </a:ln>
        </p:spPr>
      </p:sp>
      <p:sp>
        <p:nvSpPr>
          <p:cNvPr id="10" name="Text 8"/>
          <p:cNvSpPr txBox="1"/>
          <p:nvPr/>
        </p:nvSpPr>
        <p:spPr>
          <a:xfrm>
            <a:off x="640080" y="2643124"/>
            <a:ext cx="7863840" cy="77470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sums = {l.split()[1]: l.split()[0] for l in io.StringIO(RELEASEVERIFICATION_D1).read().splitlines()}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lines = io.StringIO(RELEASEVERIFICATION_D2).read().splitlines()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(sums['bitcoin-31.1-x86_64-linux-gnu.tar.gz'] == lines[1].split()[0], lines[-2], lines[-1])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'11', '38')</a:t>
            </a:r>
            <a:endParaRPr lang="en-US" sz="1000" dirty="0"/>
          </a:p>
        </p:txBody>
      </p:sp>
      <p:sp>
        <p:nvSpPr>
          <p:cNvPr id="11" name="Text 9"/>
          <p:cNvSpPr txBox="1"/>
          <p:nvPr/>
        </p:nvSpPr>
        <p:spPr>
          <a:xfrm>
            <a:off x="457200" y="355498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1101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project ships a script for the whole procedure, which first checks whether the file of checksums is valid based upon a plurality of signatures and then downloads the files named in it and checks that their hashes are as expected (Bitcoin Core, 2026).</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sha256 of abc</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checksum is a short value computed from the whole content of a file, which can be compared with a value computed elsewhere to decide whether the two files are the same. The checksums used for Bitcoin Core's releases are the SHA-256 hash function that chapter 2 explained, applied to the bytes of the file.</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hashlib.sha256(b'abc').hexdigest()[:16]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'ba7816bf8f01cfea'</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way a checksum behaves is best seen on a small change.</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OpenPGP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11 signature blocks on SHA256SUMS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OpenPGP is a standard for the message formats used in secure messages and signed files. Its specification says that OpenPGP provides encryption with public key or symmetric cryptographic algorithms, digital signatures, compression and key management (Wouters et al., 2024).</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 = io.StringIO(OPENPGPSIGNATURE_D1).read()</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(t.count('-----BEGIN PGP SIGNATURE-----'), t.count('-----END PGP SIGNATURE-----'))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(11, 11)</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saved run counted, for the signatures on the list, the checks that reported a good signature, and the count was 11.</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Reproducible build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guix.sigs attestations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reproducible build is a way of compiling a program such that everybody who follows the same steps on the same source gets exactly the same files, byte for byte.</a:t>
            </a:r>
            <a:endParaRPr lang="en-US" sz="1300" dirty="0"/>
          </a:p>
        </p:txBody>
      </p:sp>
      <p:sp>
        <p:nvSpPr>
          <p:cNvPr id="9" name="Shape 7"/>
          <p:cNvSpPr/>
          <p:nvPr/>
        </p:nvSpPr>
        <p:spPr>
          <a:xfrm>
            <a:off x="457200" y="2524252"/>
            <a:ext cx="8229600" cy="1012444"/>
          </a:xfrm>
          <a:prstGeom prst="roundRect">
            <a:avLst>
              <a:gd name="adj" fmla="val 9032"/>
            </a:avLst>
          </a:prstGeom>
          <a:solidFill>
            <a:srgbClr val="15191E"/>
          </a:solidFill>
          <a:ln w="12700">
            <a:solidFill>
              <a:srgbClr val="15191E"/>
            </a:solidFill>
            <a:prstDash val="solid"/>
          </a:ln>
        </p:spPr>
      </p:sp>
      <p:sp>
        <p:nvSpPr>
          <p:cNvPr id="10" name="Text 8"/>
          <p:cNvSpPr txBox="1"/>
          <p:nvPr/>
        </p:nvSpPr>
        <p:spPr>
          <a:xfrm>
            <a:off x="640080" y="2643124"/>
            <a:ext cx="7863840" cy="77470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sums = {l.split()[1]: l.split()[0] for l in io.StringIO(RELEASEVERIFICATION_D1).read().splitlines()}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lines = io.StringIO(RELEASEVERIFICATION_D2).read().splitlines()</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('bitcoin-31.1.tar.gz' in sums, [n for n in sums if n.endswith('x86_64-linux-gnu.tar.gz')])</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['bitcoin-31.1-x86_64-linux-gnu.tar.gz'])</a:t>
            </a:r>
            <a:endParaRPr lang="en-US" sz="1000" dirty="0"/>
          </a:p>
        </p:txBody>
      </p:sp>
      <p:sp>
        <p:nvSpPr>
          <p:cNvPr id="11" name="Text 9"/>
          <p:cNvSpPr txBox="1"/>
          <p:nvPr/>
        </p:nvSpPr>
        <p:spPr>
          <a:xfrm>
            <a:off x="457200" y="355498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11016"/>
            <a:ext cx="822960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reproducibility rests on removing every source of difference between builds.</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Package registry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entry per toolkit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package registry is a public service where the authors of a programming language's libraries publish them, so that others can install them by name and version.</a:t>
            </a:r>
            <a:endParaRPr lang="en-US" sz="1300" dirty="0"/>
          </a:p>
        </p:txBody>
      </p:sp>
      <p:sp>
        <p:nvSpPr>
          <p:cNvPr id="9" name="Shape 7"/>
          <p:cNvSpPr/>
          <p:nvPr/>
        </p:nvSpPr>
        <p:spPr>
          <a:xfrm>
            <a:off x="457200" y="2524252"/>
            <a:ext cx="8229600" cy="934974"/>
          </a:xfrm>
          <a:prstGeom prst="roundRect">
            <a:avLst>
              <a:gd name="adj" fmla="val 9780"/>
            </a:avLst>
          </a:prstGeom>
          <a:solidFill>
            <a:srgbClr val="15191E"/>
          </a:solidFill>
          <a:ln w="12700">
            <a:solidFill>
              <a:srgbClr val="15191E"/>
            </a:solidFill>
            <a:prstDash val="solid"/>
          </a:ln>
        </p:spPr>
      </p:sp>
      <p:sp>
        <p:nvSpPr>
          <p:cNvPr id="10" name="Text 8"/>
          <p:cNvSpPr txBox="1"/>
          <p:nvPr/>
        </p:nvSpPr>
        <p:spPr>
          <a:xfrm>
            <a:off x="640080" y="2643124"/>
            <a:ext cx="7863840" cy="697230"/>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import json</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j = json.load(io.StringIO(PACKAGEREGISTRY_D1))</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 e['registry'], e['latest']) for n, e in j['entries'].items() if e['registry'] in ('PyPI', 'crates.io')]</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[('python-bitcoinlib', 'PyPI', '0.12.2'), ('pycoin', 'PyPI', '0.92718.20260405'), ('rust-bitcoin', 'crates.io', '0.32.102')]</a:t>
            </a:r>
            <a:endParaRPr lang="en-US" sz="900" dirty="0"/>
          </a:p>
        </p:txBody>
      </p:sp>
      <p:sp>
        <p:nvSpPr>
          <p:cNvPr id="11" name="Text 9"/>
          <p:cNvSpPr txBox="1"/>
          <p:nvPr/>
        </p:nvSpPr>
        <p:spPr>
          <a:xfrm>
            <a:off x="457200" y="347751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33546"/>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Each registry has an interface that answers a request with a document, usually in the JSON format, listing a library's versions and times, and the script of the chapter's evidence reads the latest version and its date from it.</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Alternative toolkit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python-bitcoinlib, btcd, bitcoinj</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alternative toolkit is a library, a client or even a full-node implementation, other than Bitcoin Core, that lets a programmer work with Bitcoin in a language of their choice.</a:t>
            </a:r>
            <a:endParaRPr lang="en-US" sz="1300" dirty="0"/>
          </a:p>
        </p:txBody>
      </p:sp>
      <p:sp>
        <p:nvSpPr>
          <p:cNvPr id="9" name="Shape 7"/>
          <p:cNvSpPr/>
          <p:nvPr/>
        </p:nvSpPr>
        <p:spPr>
          <a:xfrm>
            <a:off x="457200" y="2524252"/>
            <a:ext cx="8229600" cy="1074420"/>
          </a:xfrm>
          <a:prstGeom prst="roundRect">
            <a:avLst>
              <a:gd name="adj" fmla="val 8511"/>
            </a:avLst>
          </a:prstGeom>
          <a:solidFill>
            <a:srgbClr val="15191E"/>
          </a:solidFill>
          <a:ln w="12700">
            <a:solidFill>
              <a:srgbClr val="15191E"/>
            </a:solidFill>
            <a:prstDash val="solid"/>
          </a:ln>
        </p:spPr>
      </p:sp>
      <p:sp>
        <p:nvSpPr>
          <p:cNvPr id="10" name="Text 8"/>
          <p:cNvSpPr txBox="1"/>
          <p:nvPr/>
        </p:nvSpPr>
        <p:spPr>
          <a:xfrm>
            <a:off x="640080" y="2643124"/>
            <a:ext cx="7863840" cy="836676"/>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import json, datetime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j = json.load(io.StringIO(PACKAGEREGISTRY_D1))</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q = datetime.date.fromisoformat(j['queried'])</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 (q - datetime.date.fromisoformat(e['date'])).days) for n, e in j['entries'].items() if n in ('bcoin', 'python-bitcoinlib', 'btcd')]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[('bcoin', 3003), ('python-bitcoinlib', 1217), ('btcd', 70)]</a:t>
            </a:r>
            <a:endParaRPr lang="en-US" sz="900" dirty="0"/>
          </a:p>
        </p:txBody>
      </p:sp>
      <p:sp>
        <p:nvSpPr>
          <p:cNvPr id="11" name="Text 9"/>
          <p:cNvSpPr txBox="1"/>
          <p:nvPr/>
        </p:nvSpPr>
        <p:spPr>
          <a:xfrm>
            <a:off x="457200" y="361696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72992"/>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To judge a toolkit with data, one reads from the registry the latest version and the date, from the project's documentation what version of Bitcoin Core it supports, and from its repository how recently it changed. The saved metadata of python-bitcoinlib states that its RPC interface should work with Bitcoin Core v24.0 or later, and the run of release 31.1 in this chapter confirms that for the calls tried (Todd, 2023) (Bitcoin Core, 2026).</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Semantics</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semantics branch connects the chapter to the course's wider theme, the meaning of data.</a:t>
            </a:r>
            <a:endParaRPr lang="en-US" sz="1500" dirty="0"/>
          </a:p>
        </p:txBody>
      </p:sp>
      <p:sp>
        <p:nvSpPr>
          <p:cNvPr id="5" name="Shape 3"/>
          <p:cNvSpPr/>
          <p:nvPr/>
        </p:nvSpPr>
        <p:spPr>
          <a:xfrm>
            <a:off x="457200" y="2788920"/>
            <a:ext cx="8229600"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8083296"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Linked Data</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Linked Data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Semantics - 3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Linked data is a way of publishing data so that its parts can be referred to from other data. Each thing that is described, and each kind of property it can have, is given a global identifier, and statements are made by connecting identifiers; the JSON-LD specification describes the idea as being all about describing the relationships between different resources, which may be defined in different documents on the web or within the same document (World Wide Web Consortium, 2020). In this chapter the things are blocks, transactions and nodes, and the statements are the fields that the node returns.</a:t>
            </a:r>
            <a:endParaRPr lang="en-US" sz="1300" dirty="0"/>
          </a:p>
        </p:txBody>
      </p:sp>
      <p:sp>
        <p:nvSpPr>
          <p:cNvPr id="9" name="Shape 7"/>
          <p:cNvSpPr/>
          <p:nvPr/>
        </p:nvSpPr>
        <p:spPr>
          <a:xfrm>
            <a:off x="457200" y="3531362"/>
            <a:ext cx="2645664" cy="1113790"/>
          </a:xfrm>
          <a:prstGeom prst="roundRect">
            <a:avLst>
              <a:gd name="adj" fmla="val 6568"/>
            </a:avLst>
          </a:prstGeom>
          <a:solidFill>
            <a:srgbClr val="F4F2EE"/>
          </a:solidFill>
          <a:ln w="12700">
            <a:solidFill>
              <a:srgbClr val="D9D4CC"/>
            </a:solidFill>
            <a:prstDash val="solid"/>
          </a:ln>
        </p:spPr>
      </p:sp>
      <p:sp>
        <p:nvSpPr>
          <p:cNvPr id="10" name="Text 8"/>
          <p:cNvSpPr txBox="1"/>
          <p:nvPr/>
        </p:nvSpPr>
        <p:spPr>
          <a:xfrm>
            <a:off x="548640" y="3586226"/>
            <a:ext cx="2462784" cy="10040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Verified data</a:t>
            </a:r>
            <a:endParaRPr lang="en-US" sz="1250" dirty="0"/>
          </a:p>
        </p:txBody>
      </p:sp>
      <p:sp>
        <p:nvSpPr>
          <p:cNvPr id="11" name="Shape 9"/>
          <p:cNvSpPr/>
          <p:nvPr/>
        </p:nvSpPr>
        <p:spPr>
          <a:xfrm>
            <a:off x="3249168" y="3531362"/>
            <a:ext cx="2645664" cy="1113790"/>
          </a:xfrm>
          <a:prstGeom prst="roundRect">
            <a:avLst>
              <a:gd name="adj" fmla="val 6568"/>
            </a:avLst>
          </a:prstGeom>
          <a:solidFill>
            <a:srgbClr val="F4F2EE"/>
          </a:solidFill>
          <a:ln w="12700">
            <a:solidFill>
              <a:srgbClr val="D9D4CC"/>
            </a:solidFill>
            <a:prstDash val="solid"/>
          </a:ln>
        </p:spPr>
      </p:sp>
      <p:sp>
        <p:nvSpPr>
          <p:cNvPr id="12" name="Text 10"/>
          <p:cNvSpPr txBox="1"/>
          <p:nvPr/>
        </p:nvSpPr>
        <p:spPr>
          <a:xfrm>
            <a:off x="3340608" y="3586226"/>
            <a:ext cx="2462784" cy="10040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JSON-LD context</a:t>
            </a:r>
            <a:endParaRPr lang="en-US" sz="1250" dirty="0"/>
          </a:p>
        </p:txBody>
      </p:sp>
      <p:sp>
        <p:nvSpPr>
          <p:cNvPr id="13" name="Shape 11"/>
          <p:cNvSpPr/>
          <p:nvPr/>
        </p:nvSpPr>
        <p:spPr>
          <a:xfrm>
            <a:off x="6041136" y="3531362"/>
            <a:ext cx="2645664" cy="1113790"/>
          </a:xfrm>
          <a:prstGeom prst="roundRect">
            <a:avLst>
              <a:gd name="adj" fmla="val 6568"/>
            </a:avLst>
          </a:prstGeom>
          <a:solidFill>
            <a:srgbClr val="F4F2EE"/>
          </a:solidFill>
          <a:ln w="12700">
            <a:solidFill>
              <a:srgbClr val="D9D4CC"/>
            </a:solidFill>
            <a:prstDash val="solid"/>
          </a:ln>
        </p:spPr>
      </p:sp>
      <p:sp>
        <p:nvSpPr>
          <p:cNvPr id="14" name="Text 12"/>
          <p:cNvSpPr txBox="1"/>
          <p:nvPr/>
        </p:nvSpPr>
        <p:spPr>
          <a:xfrm>
            <a:off x="6132576" y="3586226"/>
            <a:ext cx="2462784" cy="10040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IRI</a:t>
            </a:r>
            <a:endParaRPr lang="en-US" sz="12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Verified data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node's own verified answer</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Verified data is data that the party using it has checked against the rules instead of taking on someone's word.</a:t>
            </a:r>
            <a:endParaRPr lang="en-US" sz="1300" dirty="0"/>
          </a:p>
        </p:txBody>
      </p:sp>
      <p:sp>
        <p:nvSpPr>
          <p:cNvPr id="9" name="Shape 7"/>
          <p:cNvSpPr/>
          <p:nvPr/>
        </p:nvSpPr>
        <p:spPr>
          <a:xfrm>
            <a:off x="457200" y="2524252"/>
            <a:ext cx="8229600" cy="1074420"/>
          </a:xfrm>
          <a:prstGeom prst="roundRect">
            <a:avLst>
              <a:gd name="adj" fmla="val 8511"/>
            </a:avLst>
          </a:prstGeom>
          <a:solidFill>
            <a:srgbClr val="15191E"/>
          </a:solidFill>
          <a:ln w="12700">
            <a:solidFill>
              <a:srgbClr val="15191E"/>
            </a:solidFill>
            <a:prstDash val="solid"/>
          </a:ln>
        </p:spPr>
      </p:sp>
      <p:sp>
        <p:nvSpPr>
          <p:cNvPr id="10" name="Text 8"/>
          <p:cNvSpPr txBox="1"/>
          <p:nvPr/>
        </p:nvSpPr>
        <p:spPr>
          <a:xfrm>
            <a:off x="640080" y="2643124"/>
            <a:ext cx="7863840" cy="836676"/>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import json, hashlib, struct</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b = json.load(io.StringIO(BLOCKHASH_D1))</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h = struct.pack('&lt;I', b['version']) + bytes.fromhex(b['previousblockhash'])[::-1] + bytes.fromhex(b['merkle_root'])[::-1] + struct.pack('&lt;III', b['timestamp'], b['bits'], b['nonce'])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hashlib.sha256(hashlib.sha256(h).digest()).digest()[::-1].hex() == b['id']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1" name="Text 9"/>
          <p:cNvSpPr txBox="1"/>
          <p:nvPr/>
        </p:nvSpPr>
        <p:spPr>
          <a:xfrm>
            <a:off x="457200" y="361696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72992"/>
            <a:ext cx="822960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chain of verification has a precise shape.</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JSON-LD context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context that maps JSON keys to IRIs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JSON-LD context is the part of a JSON document that says what its keys mean.</a:t>
            </a:r>
            <a:endParaRPr lang="en-US" sz="1300" dirty="0"/>
          </a:p>
        </p:txBody>
      </p:sp>
      <p:sp>
        <p:nvSpPr>
          <p:cNvPr id="9" name="Shape 7"/>
          <p:cNvSpPr/>
          <p:nvPr/>
        </p:nvSpPr>
        <p:spPr>
          <a:xfrm>
            <a:off x="457200" y="2322830"/>
            <a:ext cx="8229600" cy="934974"/>
          </a:xfrm>
          <a:prstGeom prst="roundRect">
            <a:avLst>
              <a:gd name="adj" fmla="val 9780"/>
            </a:avLst>
          </a:prstGeom>
          <a:solidFill>
            <a:srgbClr val="15191E"/>
          </a:solidFill>
          <a:ln w="12700">
            <a:solidFill>
              <a:srgbClr val="15191E"/>
            </a:solidFill>
            <a:prstDash val="solid"/>
          </a:ln>
        </p:spPr>
      </p:sp>
      <p:sp>
        <p:nvSpPr>
          <p:cNvPr id="10" name="Text 8"/>
          <p:cNvSpPr txBox="1"/>
          <p:nvPr/>
        </p:nvSpPr>
        <p:spPr>
          <a:xfrm>
            <a:off x="640080" y="2441702"/>
            <a:ext cx="7863840" cy="697230"/>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ctx = {'height': 'https://vocab.example/bitcoin#height', 'hash': 'https://vocab.example/bitcoin#blockHash'}</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doc = {'height': 123456, 'hash': '0000000000002917ed80650c6174aac8dfc46f5fe36480aaef682ff6cd83c3ca'}</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sorted((ctx[k], v) for k, v in doc.items())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[('https://vocab.example/bitcoin#blockHash', '0000000000002917ed80650c6174aac8dfc46f5fe36480aaef682ff6cd83c3ca'), ('https://vocab.example/bitcoin#height', 123456)]</a:t>
            </a:r>
            <a:endParaRPr lang="en-US" sz="900" dirty="0"/>
          </a:p>
        </p:txBody>
      </p:sp>
      <p:sp>
        <p:nvSpPr>
          <p:cNvPr id="11" name="Text 9"/>
          <p:cNvSpPr txBox="1"/>
          <p:nvPr/>
        </p:nvSpPr>
        <p:spPr>
          <a:xfrm>
            <a:off x="457200" y="327609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32124"/>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In the specification the context sits under the key @context, either at the top of the document or inside an object, and its entries map a term to an IRI or to a map, which the specification calls an expanded term definition and which can add a type or other details (World Wide Web Consortium, 2020).</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IRI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term expanded to an IRI</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IRI, short for internationalized resource identifier, is a global name written like a web address.</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'https://vocab.example/bitcoin#height'.split('#')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['https://vocab.example/bitcoin', 'height']</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IRI is made of parts, in the form of a scheme such as https, a path, and optionally a query and a fragment, which is the part after the symbol #. In a vocabulary, the part before the fragment names the vocabulary and the fragment names the term, so that many terms share one address.</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Computing foundations</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computing foundations branch collects the everyday vocabulary of programs and computers that the other branches use without stopping to explain it: bytes and bit shifts, times and random numbers, files and processes, libraries and databases</a:t>
            </a:r>
            <a:endParaRPr lang="en-US" sz="1500" dirty="0"/>
          </a:p>
        </p:txBody>
      </p:sp>
      <p:sp>
        <p:nvSpPr>
          <p:cNvPr id="5" name="Shape 3"/>
          <p:cNvSpPr/>
          <p:nvPr/>
        </p:nvSpPr>
        <p:spPr>
          <a:xfrm>
            <a:off x="457200" y="2788920"/>
            <a:ext cx="4041648"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Representation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
        <p:nvSpPr>
          <p:cNvPr id="7" name="Shape 5"/>
          <p:cNvSpPr/>
          <p:nvPr/>
        </p:nvSpPr>
        <p:spPr>
          <a:xfrm>
            <a:off x="4645152" y="2788920"/>
            <a:ext cx="4041648"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4718304"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Systems</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8 concepts</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Representation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Computing foundations - 5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Representation is the group of concepts about how a program writes information down. Bitcoin Core's data is numbers and text, but on a computer both are sequences of bytes, and the same number can be written as bytes in two orders, as hexadecimal text or as Base64 text. A time is a number of seconds, a secret is a number that nobody can predict, and an amount is an integer that the program halves by moving its bits. The five concepts of the group are the byte, the bit shift, Unix time, the random number and Base64.</a:t>
            </a:r>
            <a:endParaRPr lang="en-US" sz="1300" dirty="0"/>
          </a:p>
        </p:txBody>
      </p:sp>
      <p:sp>
        <p:nvSpPr>
          <p:cNvPr id="9" name="Shape 7"/>
          <p:cNvSpPr/>
          <p:nvPr/>
        </p:nvSpPr>
        <p:spPr>
          <a:xfrm>
            <a:off x="457200" y="3329940"/>
            <a:ext cx="2645664" cy="593598"/>
          </a:xfrm>
          <a:prstGeom prst="roundRect">
            <a:avLst>
              <a:gd name="adj" fmla="val 12323"/>
            </a:avLst>
          </a:prstGeom>
          <a:solidFill>
            <a:srgbClr val="F4F2EE"/>
          </a:solidFill>
          <a:ln w="12700">
            <a:solidFill>
              <a:srgbClr val="D9D4CC"/>
            </a:solidFill>
            <a:prstDash val="solid"/>
          </a:ln>
        </p:spPr>
      </p:sp>
      <p:sp>
        <p:nvSpPr>
          <p:cNvPr id="10" name="Text 8"/>
          <p:cNvSpPr txBox="1"/>
          <p:nvPr/>
        </p:nvSpPr>
        <p:spPr>
          <a:xfrm>
            <a:off x="548640" y="3384804"/>
            <a:ext cx="2462784" cy="4838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 and byte</a:t>
            </a:r>
            <a:endParaRPr lang="en-US" sz="1250" dirty="0"/>
          </a:p>
        </p:txBody>
      </p:sp>
      <p:sp>
        <p:nvSpPr>
          <p:cNvPr id="11" name="Shape 9"/>
          <p:cNvSpPr/>
          <p:nvPr/>
        </p:nvSpPr>
        <p:spPr>
          <a:xfrm>
            <a:off x="3249168" y="3329940"/>
            <a:ext cx="2645664" cy="593598"/>
          </a:xfrm>
          <a:prstGeom prst="roundRect">
            <a:avLst>
              <a:gd name="adj" fmla="val 12323"/>
            </a:avLst>
          </a:prstGeom>
          <a:solidFill>
            <a:srgbClr val="F4F2EE"/>
          </a:solidFill>
          <a:ln w="12700">
            <a:solidFill>
              <a:srgbClr val="D9D4CC"/>
            </a:solidFill>
            <a:prstDash val="solid"/>
          </a:ln>
        </p:spPr>
      </p:sp>
      <p:sp>
        <p:nvSpPr>
          <p:cNvPr id="12" name="Text 10"/>
          <p:cNvSpPr txBox="1"/>
          <p:nvPr/>
        </p:nvSpPr>
        <p:spPr>
          <a:xfrm>
            <a:off x="3340608" y="3384804"/>
            <a:ext cx="2462784" cy="4838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 shift</a:t>
            </a:r>
            <a:endParaRPr lang="en-US" sz="1250" dirty="0"/>
          </a:p>
        </p:txBody>
      </p:sp>
      <p:sp>
        <p:nvSpPr>
          <p:cNvPr id="13" name="Shape 11"/>
          <p:cNvSpPr/>
          <p:nvPr/>
        </p:nvSpPr>
        <p:spPr>
          <a:xfrm>
            <a:off x="6041136" y="3329940"/>
            <a:ext cx="2645664" cy="593598"/>
          </a:xfrm>
          <a:prstGeom prst="roundRect">
            <a:avLst>
              <a:gd name="adj" fmla="val 12323"/>
            </a:avLst>
          </a:prstGeom>
          <a:solidFill>
            <a:srgbClr val="F4F2EE"/>
          </a:solidFill>
          <a:ln w="12700">
            <a:solidFill>
              <a:srgbClr val="D9D4CC"/>
            </a:solidFill>
            <a:prstDash val="solid"/>
          </a:ln>
        </p:spPr>
      </p:sp>
      <p:sp>
        <p:nvSpPr>
          <p:cNvPr id="14" name="Text 12"/>
          <p:cNvSpPr txBox="1"/>
          <p:nvPr/>
        </p:nvSpPr>
        <p:spPr>
          <a:xfrm>
            <a:off x="6132576" y="3384804"/>
            <a:ext cx="2462784" cy="4838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Unix time</a:t>
            </a:r>
            <a:endParaRPr lang="en-US" sz="1250" dirty="0"/>
          </a:p>
        </p:txBody>
      </p:sp>
      <p:sp>
        <p:nvSpPr>
          <p:cNvPr id="15" name="Shape 13"/>
          <p:cNvSpPr/>
          <p:nvPr/>
        </p:nvSpPr>
        <p:spPr>
          <a:xfrm>
            <a:off x="457200" y="4051554"/>
            <a:ext cx="2645664" cy="593598"/>
          </a:xfrm>
          <a:prstGeom prst="roundRect">
            <a:avLst>
              <a:gd name="adj" fmla="val 12323"/>
            </a:avLst>
          </a:prstGeom>
          <a:solidFill>
            <a:srgbClr val="F4F2EE"/>
          </a:solidFill>
          <a:ln w="12700">
            <a:solidFill>
              <a:srgbClr val="D9D4CC"/>
            </a:solidFill>
            <a:prstDash val="solid"/>
          </a:ln>
        </p:spPr>
      </p:sp>
      <p:sp>
        <p:nvSpPr>
          <p:cNvPr id="16" name="Text 14"/>
          <p:cNvSpPr txBox="1"/>
          <p:nvPr/>
        </p:nvSpPr>
        <p:spPr>
          <a:xfrm>
            <a:off x="548640" y="4106418"/>
            <a:ext cx="2462784" cy="4838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Random number</a:t>
            </a:r>
            <a:endParaRPr lang="en-US" sz="1250" dirty="0"/>
          </a:p>
        </p:txBody>
      </p:sp>
      <p:sp>
        <p:nvSpPr>
          <p:cNvPr id="17" name="Shape 15"/>
          <p:cNvSpPr/>
          <p:nvPr/>
        </p:nvSpPr>
        <p:spPr>
          <a:xfrm>
            <a:off x="3249168" y="4051554"/>
            <a:ext cx="2645664" cy="593598"/>
          </a:xfrm>
          <a:prstGeom prst="roundRect">
            <a:avLst>
              <a:gd name="adj" fmla="val 12323"/>
            </a:avLst>
          </a:prstGeom>
          <a:solidFill>
            <a:srgbClr val="F4F2EE"/>
          </a:solidFill>
          <a:ln w="12700">
            <a:solidFill>
              <a:srgbClr val="D9D4CC"/>
            </a:solidFill>
            <a:prstDash val="solid"/>
          </a:ln>
        </p:spPr>
      </p:sp>
      <p:sp>
        <p:nvSpPr>
          <p:cNvPr id="18" name="Text 16"/>
          <p:cNvSpPr txBox="1"/>
          <p:nvPr/>
        </p:nvSpPr>
        <p:spPr>
          <a:xfrm>
            <a:off x="3340608" y="4106418"/>
            <a:ext cx="2462784" cy="4838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Base64</a:t>
            </a:r>
            <a:endParaRPr lang="en-US" sz="12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 and byte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byte as two hexadecimal digits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 is a single binary digit, which is either 0 or 1. A byte is a group of eight bits, so it can take 256 different values, and a computer stores and sends information as a sequence of bytes.</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(len(bytes.fromhex('0a0b')), bytes.fromhex('ff')[0], 16 * 16 == 2 ** 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 255, True)</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prefix mebi means a power of two, 2 to the power 20, and differs by about five percent from the million bytes of the prefix mega, which is why the file with the conversions uses its own names.</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 shift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halving by shifting right</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 shift moves all the bits of an integer by a number of places. Shifting to the left by one place doubles the number and shifting to the right by one place halves it, with the bit that falls off the right end lost. Shifting by n places multiplies or divides by two to the power n.</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for h in range(4)]</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[5000000000, 2500000000, 1250000000, 625000000]</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shift is exact as long as no non-zero bit falls off.</a:t>
            </a:r>
            <a:endParaRPr lang="en-US"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Unix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seconds since 1970</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Unix time is a way of writing a moment as a single number, the count of seconds since the start of 1 January 1970 in universal time.</a:t>
            </a:r>
            <a:endParaRPr lang="en-US" sz="1300" dirty="0"/>
          </a:p>
        </p:txBody>
      </p:sp>
      <p:sp>
        <p:nvSpPr>
          <p:cNvPr id="9" name="Shape 7"/>
          <p:cNvSpPr/>
          <p:nvPr/>
        </p:nvSpPr>
        <p:spPr>
          <a:xfrm>
            <a:off x="457200" y="2524252"/>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643124"/>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(datetime.datetime.fromtimestamp(0, datetime.UTC).isoformat(), datetime.datetime.fromtimestamp(2**32 - 1, datetime.UTC).isoformat())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('1970-01-01T00:00:00+00:00', '2106-02-07T06:28:15+00:00')</a:t>
            </a:r>
            <a:endParaRPr lang="en-US" sz="9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4654"/>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Unix time counts seconds from one fixed moment, so the number is the same everywhere and a program turns it into a local date only when it prints it; the worked example prints its dates in universal time.</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Random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32-byte random cookie</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random number, in the sense that security needs, is a value that an attacker cannot predict.</a:t>
            </a:r>
            <a:endParaRPr lang="en-US" sz="1300" dirty="0"/>
          </a:p>
        </p:txBody>
      </p:sp>
      <p:sp>
        <p:nvSpPr>
          <p:cNvPr id="9" name="Shape 7"/>
          <p:cNvSpPr/>
          <p:nvPr/>
        </p:nvSpPr>
        <p:spPr>
          <a:xfrm>
            <a:off x="457200" y="2322830"/>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441702"/>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import secrets</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(len(secrets.token_hex(16)), secrets.token_hex(16) != secrets.token_hex(16), len(secrets.token_bytes(32)))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 True, 32)</a:t>
            </a:r>
            <a:endParaRPr lang="en-US" sz="900" dirty="0"/>
          </a:p>
        </p:txBody>
      </p:sp>
      <p:sp>
        <p:nvSpPr>
          <p:cNvPr id="11" name="Text 9"/>
          <p:cNvSpPr txBox="1"/>
          <p:nvPr/>
        </p:nvSpPr>
        <p:spPr>
          <a:xfrm>
            <a:off x="457200" y="299720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216656"/>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33552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719576"/>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source of randomness collects unpredictable events and mixes them into a state from which it produces output. The worked example calls the same function twice, and gets two different 32-character values, each the hexadecimal text of 16 random bytes.</a:t>
            </a:r>
            <a:endParaRPr lang="en-US"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Base64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user:pass as base64</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Base64 is an encoding that writes any sequence of bytes using only 64 printable characters. The standard that defines it describes the commonly used base 64, base 32 and base 16 encoding schemes, of which base 16 is the hexadecimal text of chapter 2 (Josefsson, 2006).</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(base64.b64encode(b'user:pass'), base64.b64decode('dXNlcjpwYXNz'))</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(b'dXNlcjpwYXNz', b'user:pass')</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78606"/>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standard describes the process: the encoding represents 24-bit groups of input bits as output strings of 4 encoded characters, formed by concatenating three 8-bit input groups and treating the 24 bits as four 6-bit groups, each of which is used as an index into an array of 64 printable characters, and special processing, the padding, is performed if fewer than 24 bits are available at the end (Josefsson, 2006).</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Systems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Computing foundations - 8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Systems is the group of concepts about where programs run and how they meet. A program lives in files in a directory, runs as a process with threads, uses libraries written by others, keeps data in a database, is built for a platform, talks to other programs through a protocol, and is checked by tests. All of these appear in the chapter, from the data directory and the daemon to the libraries and the unit tests of the source.</a:t>
            </a:r>
            <a:endParaRPr lang="en-US" sz="1300" dirty="0"/>
          </a:p>
        </p:txBody>
      </p:sp>
      <p:sp>
        <p:nvSpPr>
          <p:cNvPr id="9" name="Shape 7"/>
          <p:cNvSpPr/>
          <p:nvPr/>
        </p:nvSpPr>
        <p:spPr>
          <a:xfrm>
            <a:off x="457200" y="3128518"/>
            <a:ext cx="2645664" cy="420201"/>
          </a:xfrm>
          <a:prstGeom prst="roundRect">
            <a:avLst>
              <a:gd name="adj" fmla="val 17409"/>
            </a:avLst>
          </a:prstGeom>
          <a:solidFill>
            <a:srgbClr val="F4F2EE"/>
          </a:solidFill>
          <a:ln w="12700">
            <a:solidFill>
              <a:srgbClr val="D9D4CC"/>
            </a:solidFill>
            <a:prstDash val="solid"/>
          </a:ln>
        </p:spPr>
      </p:sp>
      <p:sp>
        <p:nvSpPr>
          <p:cNvPr id="10" name="Text 8"/>
          <p:cNvSpPr txBox="1"/>
          <p:nvPr/>
        </p:nvSpPr>
        <p:spPr>
          <a:xfrm>
            <a:off x="548640" y="3183382"/>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File and directory</a:t>
            </a:r>
            <a:endParaRPr lang="en-US" sz="1150" dirty="0"/>
          </a:p>
        </p:txBody>
      </p:sp>
      <p:sp>
        <p:nvSpPr>
          <p:cNvPr id="11" name="Shape 9"/>
          <p:cNvSpPr/>
          <p:nvPr/>
        </p:nvSpPr>
        <p:spPr>
          <a:xfrm>
            <a:off x="3249168" y="3128518"/>
            <a:ext cx="2645664" cy="420201"/>
          </a:xfrm>
          <a:prstGeom prst="roundRect">
            <a:avLst>
              <a:gd name="adj" fmla="val 17409"/>
            </a:avLst>
          </a:prstGeom>
          <a:solidFill>
            <a:srgbClr val="F4F2EE"/>
          </a:solidFill>
          <a:ln w="12700">
            <a:solidFill>
              <a:srgbClr val="D9D4CC"/>
            </a:solidFill>
            <a:prstDash val="solid"/>
          </a:ln>
        </p:spPr>
      </p:sp>
      <p:sp>
        <p:nvSpPr>
          <p:cNvPr id="12" name="Text 10"/>
          <p:cNvSpPr txBox="1"/>
          <p:nvPr/>
        </p:nvSpPr>
        <p:spPr>
          <a:xfrm>
            <a:off x="3340608" y="3183382"/>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Process and thread</a:t>
            </a:r>
            <a:endParaRPr lang="en-US" sz="1150" dirty="0"/>
          </a:p>
        </p:txBody>
      </p:sp>
      <p:sp>
        <p:nvSpPr>
          <p:cNvPr id="13" name="Shape 11"/>
          <p:cNvSpPr/>
          <p:nvPr/>
        </p:nvSpPr>
        <p:spPr>
          <a:xfrm>
            <a:off x="6041136" y="3128518"/>
            <a:ext cx="2645664" cy="420201"/>
          </a:xfrm>
          <a:prstGeom prst="roundRect">
            <a:avLst>
              <a:gd name="adj" fmla="val 17409"/>
            </a:avLst>
          </a:prstGeom>
          <a:solidFill>
            <a:srgbClr val="F4F2EE"/>
          </a:solidFill>
          <a:ln w="12700">
            <a:solidFill>
              <a:srgbClr val="D9D4CC"/>
            </a:solidFill>
            <a:prstDash val="solid"/>
          </a:ln>
        </p:spPr>
      </p:sp>
      <p:sp>
        <p:nvSpPr>
          <p:cNvPr id="14" name="Text 12"/>
          <p:cNvSpPr txBox="1"/>
          <p:nvPr/>
        </p:nvSpPr>
        <p:spPr>
          <a:xfrm>
            <a:off x="6132576" y="3183382"/>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Software library</a:t>
            </a:r>
            <a:endParaRPr lang="en-US" sz="1150" dirty="0"/>
          </a:p>
        </p:txBody>
      </p:sp>
      <p:sp>
        <p:nvSpPr>
          <p:cNvPr id="15" name="Shape 13"/>
          <p:cNvSpPr/>
          <p:nvPr/>
        </p:nvSpPr>
        <p:spPr>
          <a:xfrm>
            <a:off x="457200" y="3676735"/>
            <a:ext cx="2645664" cy="420201"/>
          </a:xfrm>
          <a:prstGeom prst="roundRect">
            <a:avLst>
              <a:gd name="adj" fmla="val 17409"/>
            </a:avLst>
          </a:prstGeom>
          <a:solidFill>
            <a:srgbClr val="F4F2EE"/>
          </a:solidFill>
          <a:ln w="12700">
            <a:solidFill>
              <a:srgbClr val="D9D4CC"/>
            </a:solidFill>
            <a:prstDash val="solid"/>
          </a:ln>
        </p:spPr>
      </p:sp>
      <p:sp>
        <p:nvSpPr>
          <p:cNvPr id="16" name="Text 14"/>
          <p:cNvSpPr txBox="1"/>
          <p:nvPr/>
        </p:nvSpPr>
        <p:spPr>
          <a:xfrm>
            <a:off x="548640" y="3731599"/>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Database</a:t>
            </a:r>
            <a:endParaRPr lang="en-US" sz="1150" dirty="0"/>
          </a:p>
        </p:txBody>
      </p:sp>
      <p:sp>
        <p:nvSpPr>
          <p:cNvPr id="17" name="Shape 15"/>
          <p:cNvSpPr/>
          <p:nvPr/>
        </p:nvSpPr>
        <p:spPr>
          <a:xfrm>
            <a:off x="3249168" y="3676735"/>
            <a:ext cx="2645664" cy="420201"/>
          </a:xfrm>
          <a:prstGeom prst="roundRect">
            <a:avLst>
              <a:gd name="adj" fmla="val 17409"/>
            </a:avLst>
          </a:prstGeom>
          <a:solidFill>
            <a:srgbClr val="F4F2EE"/>
          </a:solidFill>
          <a:ln w="12700">
            <a:solidFill>
              <a:srgbClr val="D9D4CC"/>
            </a:solidFill>
            <a:prstDash val="solid"/>
          </a:ln>
        </p:spPr>
      </p:sp>
      <p:sp>
        <p:nvSpPr>
          <p:cNvPr id="18" name="Text 16"/>
          <p:cNvSpPr txBox="1"/>
          <p:nvPr/>
        </p:nvSpPr>
        <p:spPr>
          <a:xfrm>
            <a:off x="3340608" y="3731599"/>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Platform</a:t>
            </a:r>
            <a:endParaRPr lang="en-US" sz="1150" dirty="0"/>
          </a:p>
        </p:txBody>
      </p:sp>
      <p:sp>
        <p:nvSpPr>
          <p:cNvPr id="19" name="Shape 17"/>
          <p:cNvSpPr/>
          <p:nvPr/>
        </p:nvSpPr>
        <p:spPr>
          <a:xfrm>
            <a:off x="6041136" y="3676735"/>
            <a:ext cx="2645664" cy="420201"/>
          </a:xfrm>
          <a:prstGeom prst="roundRect">
            <a:avLst>
              <a:gd name="adj" fmla="val 17409"/>
            </a:avLst>
          </a:prstGeom>
          <a:solidFill>
            <a:srgbClr val="F4F2EE"/>
          </a:solidFill>
          <a:ln w="12700">
            <a:solidFill>
              <a:srgbClr val="D9D4CC"/>
            </a:solidFill>
            <a:prstDash val="solid"/>
          </a:ln>
        </p:spPr>
      </p:sp>
      <p:sp>
        <p:nvSpPr>
          <p:cNvPr id="20" name="Text 18"/>
          <p:cNvSpPr txBox="1"/>
          <p:nvPr/>
        </p:nvSpPr>
        <p:spPr>
          <a:xfrm>
            <a:off x="6132576" y="3731599"/>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Network protocol</a:t>
            </a:r>
            <a:endParaRPr lang="en-US" sz="1150" dirty="0"/>
          </a:p>
        </p:txBody>
      </p:sp>
      <p:sp>
        <p:nvSpPr>
          <p:cNvPr id="21" name="Shape 19"/>
          <p:cNvSpPr/>
          <p:nvPr/>
        </p:nvSpPr>
        <p:spPr>
          <a:xfrm>
            <a:off x="457200" y="4224951"/>
            <a:ext cx="2645664" cy="420201"/>
          </a:xfrm>
          <a:prstGeom prst="roundRect">
            <a:avLst>
              <a:gd name="adj" fmla="val 17409"/>
            </a:avLst>
          </a:prstGeom>
          <a:solidFill>
            <a:srgbClr val="F4F2EE"/>
          </a:solidFill>
          <a:ln w="12700">
            <a:solidFill>
              <a:srgbClr val="D9D4CC"/>
            </a:solidFill>
            <a:prstDash val="solid"/>
          </a:ln>
        </p:spPr>
      </p:sp>
      <p:sp>
        <p:nvSpPr>
          <p:cNvPr id="22" name="Text 20"/>
          <p:cNvSpPr txBox="1"/>
          <p:nvPr/>
        </p:nvSpPr>
        <p:spPr>
          <a:xfrm>
            <a:off x="548640" y="4279815"/>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Software testing</a:t>
            </a:r>
            <a:endParaRPr lang="en-US" sz="1150" dirty="0"/>
          </a:p>
        </p:txBody>
      </p:sp>
      <p:sp>
        <p:nvSpPr>
          <p:cNvPr id="23" name="Shape 21"/>
          <p:cNvSpPr/>
          <p:nvPr/>
        </p:nvSpPr>
        <p:spPr>
          <a:xfrm>
            <a:off x="3249168" y="4224951"/>
            <a:ext cx="2645664" cy="420201"/>
          </a:xfrm>
          <a:prstGeom prst="roundRect">
            <a:avLst>
              <a:gd name="adj" fmla="val 17409"/>
            </a:avLst>
          </a:prstGeom>
          <a:solidFill>
            <a:srgbClr val="F4F2EE"/>
          </a:solidFill>
          <a:ln w="12700">
            <a:solidFill>
              <a:srgbClr val="D9D4CC"/>
            </a:solidFill>
            <a:prstDash val="solid"/>
          </a:ln>
        </p:spPr>
      </p:sp>
      <p:sp>
        <p:nvSpPr>
          <p:cNvPr id="24" name="Text 22"/>
          <p:cNvSpPr txBox="1"/>
          <p:nvPr/>
        </p:nvSpPr>
        <p:spPr>
          <a:xfrm>
            <a:off x="3340608" y="4279815"/>
            <a:ext cx="2462784" cy="31047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Programming language</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File and directory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path of the cookie file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file is a named piece of stored data, and a directory is a place that holds files and other directories, so that names form a tree.</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pathlib</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 = pathlib.PurePosixPath('/lotsofspace/bitcoin/.cookie')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(p.parts, str(p.parent), p.name)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 'lotsofspace', 'bitcoin', '.cookie'), '/lotsofspace/bitcoin', '.cookie')</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directory tree is resolved from the top: to find the cookie, the system reads the top directory to find lotsofspace, reads that to find bitcoin, and reads that to find .cookie.</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Process and thread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workers sum a range</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process is a program in execution: the computer loads the program, gives it an area of memory of its own and runs it.</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rs = [range(0, 250), range(250, 500), range(500, 750), range(750, 1000)]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parts = [sum(r) for r in rs]</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(parts, sum(parts) == sum(range(1000)))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([31125, 93625, 156125, 218625], True)</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operating system schedules processes and threads onto the processor cores, and gives each process its memory, so that the memory use of a node is the sum of what its parts request.</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Software library and Database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Software library</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software library is a collection of ready-made code that other programs call. The program does not copy the code into its own text; it names the library and uses its functions.</a:t>
            </a:r>
            <a:endParaRPr lang="en-US" sz="1200" dirty="0"/>
          </a:p>
        </p:txBody>
      </p:sp>
      <p:sp>
        <p:nvSpPr>
          <p:cNvPr id="9" name="Shape 7"/>
          <p:cNvSpPr/>
          <p:nvPr/>
        </p:nvSpPr>
        <p:spPr>
          <a:xfrm>
            <a:off x="457200" y="3014472"/>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hashlib.sha256(b'abc').hexdigest()[:8]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'ba7816bf'</a:t>
            </a:r>
            <a:endParaRPr lang="en-US" sz="1050" dirty="0"/>
          </a:p>
        </p:txBody>
      </p:sp>
      <p:sp>
        <p:nvSpPr>
          <p:cNvPr id="11" name="Text 9"/>
          <p:cNvSpPr txBox="1"/>
          <p:nvPr/>
        </p:nvSpPr>
        <p:spPr>
          <a:xfrm>
            <a:off x="45720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1910"/>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library is used in one of two ways.</a:t>
            </a:r>
            <a:endParaRPr lang="en-US" sz="1100" dirty="0"/>
          </a:p>
        </p:txBody>
      </p:sp>
      <p:sp>
        <p:nvSpPr>
          <p:cNvPr id="13" name="Shape 11"/>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Database</a:t>
            </a:r>
            <a:endParaRPr lang="en-US" sz="1600" dirty="0"/>
          </a:p>
        </p:txBody>
      </p:sp>
      <p:sp>
        <p:nvSpPr>
          <p:cNvPr id="15" name="Text 13"/>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database is a store of data organised so that a program can find and change particular items quickly and safely. Two kinds appear in the chapter.</a:t>
            </a:r>
            <a:endParaRPr lang="en-US" sz="1200" dirty="0"/>
          </a:p>
        </p:txBody>
      </p:sp>
      <p:sp>
        <p:nvSpPr>
          <p:cNvPr id="16" name="Shape 14"/>
          <p:cNvSpPr/>
          <p:nvPr/>
        </p:nvSpPr>
        <p:spPr>
          <a:xfrm>
            <a:off x="4709160" y="2828544"/>
            <a:ext cx="3977640" cy="888492"/>
          </a:xfrm>
          <a:prstGeom prst="roundRect">
            <a:avLst>
              <a:gd name="adj" fmla="val 10292"/>
            </a:avLst>
          </a:prstGeom>
          <a:solidFill>
            <a:srgbClr val="15191E"/>
          </a:solidFill>
          <a:ln w="12700">
            <a:solidFill>
              <a:srgbClr val="15191E"/>
            </a:solidFill>
            <a:prstDash val="solid"/>
          </a:ln>
        </p:spPr>
      </p:sp>
      <p:sp>
        <p:nvSpPr>
          <p:cNvPr id="17" name="Text 15"/>
          <p:cNvSpPr txBox="1"/>
          <p:nvPr/>
        </p:nvSpPr>
        <p:spPr>
          <a:xfrm>
            <a:off x="4892040" y="2947416"/>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utxo = {'4662:0': 20000, '4662:1': 75000}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((sum(utxo.values()), len(utxo)), (utxo['4662:1'],))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((95000, 2), (75000,))</a:t>
            </a:r>
            <a:endParaRPr lang="en-US" sz="1050" dirty="0"/>
          </a:p>
        </p:txBody>
      </p:sp>
      <p:sp>
        <p:nvSpPr>
          <p:cNvPr id="18" name="Text 16"/>
          <p:cNvSpPr txBox="1"/>
          <p:nvPr/>
        </p:nvSpPr>
        <p:spPr>
          <a:xfrm>
            <a:off x="4709160" y="373532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Platform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eight platforms of one release</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platform is the kind of computer a program is built for.</a:t>
            </a:r>
            <a:endParaRPr lang="en-US" sz="1300" dirty="0"/>
          </a:p>
        </p:txBody>
      </p:sp>
      <p:sp>
        <p:nvSpPr>
          <p:cNvPr id="9" name="Shape 7"/>
          <p:cNvSpPr/>
          <p:nvPr/>
        </p:nvSpPr>
        <p:spPr>
          <a:xfrm>
            <a:off x="457200" y="2322830"/>
            <a:ext cx="8229600" cy="1089914"/>
          </a:xfrm>
          <a:prstGeom prst="roundRect">
            <a:avLst>
              <a:gd name="adj" fmla="val 8390"/>
            </a:avLst>
          </a:prstGeom>
          <a:solidFill>
            <a:srgbClr val="15191E"/>
          </a:solidFill>
          <a:ln w="12700">
            <a:solidFill>
              <a:srgbClr val="15191E"/>
            </a:solidFill>
            <a:prstDash val="solid"/>
          </a:ln>
        </p:spPr>
      </p:sp>
      <p:sp>
        <p:nvSpPr>
          <p:cNvPr id="10" name="Text 8"/>
          <p:cNvSpPr txBox="1"/>
          <p:nvPr/>
        </p:nvSpPr>
        <p:spPr>
          <a:xfrm>
            <a:off x="640080" y="2441702"/>
            <a:ext cx="7863840" cy="852170"/>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re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names = io.StringIO(RELEASEVERIFICATION_D1).read().split()[1::2]</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sorted({m.group(1) for n in names for m in [re.match(PLATFORM_D1, n)] if 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['aarch64-linux-gnu', 'arm-linux-gnueabihf', 'arm64-apple-darwin', 'powerpc64-linux-gnu', 'riscv64-linux-gnu', 'win64', 'x86_64-apple-darwin', 'x86_64-linux-gnu']</a:t>
            </a:r>
            <a:endParaRPr lang="en-US" sz="1100" dirty="0"/>
          </a:p>
        </p:txBody>
      </p:sp>
      <p:sp>
        <p:nvSpPr>
          <p:cNvPr id="11" name="Text 9"/>
          <p:cNvSpPr txBox="1"/>
          <p:nvPr/>
        </p:nvSpPr>
        <p:spPr>
          <a:xfrm>
            <a:off x="457200" y="343103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50488"/>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6936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53408"/>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worked example extracts the platform name from each file name of the checksum list and finds eight.</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Network protocol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address with a port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network protocol is an agreement between programs about what messages look like and in what order they are sent.</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import urllib.parse</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u = urllib.parse.urlsplit('http://127.0.0.1:8332/')</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(u.scheme, u.hostname, u.port, u.path)</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('http', '127.0.0.1', 8332, '/')</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18052"/>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connection starts with the client opening a channel to the address and the port, over which the two sides exchange the messages of the protocol.</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Software testing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subsidy test at the halvings</a:t>
            </a:r>
            <a:endParaRPr lang="en-US" sz="1300" dirty="0"/>
          </a:p>
        </p:txBody>
      </p:sp>
      <p:sp>
        <p:nvSpPr>
          <p:cNvPr id="6" name="Shape 4"/>
          <p:cNvSpPr/>
          <p:nvPr/>
        </p:nvSpPr>
        <p:spPr>
          <a:xfrm>
            <a:off x="457200" y="1280160"/>
            <a:ext cx="822960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software test is a small program that runs another program, or a part of it, on chosen inputs and checks that the result is the expected one.</a:t>
            </a:r>
            <a:endParaRPr lang="en-US" sz="1200" dirty="0"/>
          </a:p>
        </p:txBody>
      </p:sp>
      <p:sp>
        <p:nvSpPr>
          <p:cNvPr id="9" name="Shape 7"/>
          <p:cNvSpPr/>
          <p:nvPr/>
        </p:nvSpPr>
        <p:spPr>
          <a:xfrm>
            <a:off x="457200" y="2493264"/>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612136"/>
            <a:ext cx="7863840" cy="4648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subsidy(h):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0 if h // 210000 &gt;= 64 else (50 * 10**8) &gt;&gt; (h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[subsidy(h) for h in (0, 209999, 210000, 630000, 775072)]</a:t>
            </a:r>
            <a:endParaRPr lang="en-US" sz="1000" dirty="0"/>
          </a:p>
        </p:txBody>
      </p:sp>
      <p:sp>
        <p:nvSpPr>
          <p:cNvPr id="11" name="Text 9"/>
          <p:cNvSpPr txBox="1"/>
          <p:nvPr/>
        </p:nvSpPr>
        <p:spPr>
          <a:xfrm>
            <a:off x="457200" y="3214116"/>
            <a:ext cx="8229600" cy="256032"/>
          </a:xfrm>
          <a:prstGeom prst="rect">
            <a:avLst/>
          </a:prstGeom>
          <a:noFill/>
          <a:ln/>
        </p:spPr>
        <p:txBody>
          <a:bodyPr wrap="square" lIns="0" tIns="0" rIns="0" bIns="0" rtlCol="0" anchor="ctr"/>
          <a:lstStyle/>
          <a:p>
            <a:pPr indent="0" marL="0">
              <a:buNone/>
            </a:pPr>
            <a:r>
              <a:rPr lang="en-US" sz="1000" b="1" dirty="0">
                <a:solidFill>
                  <a:srgbClr val="F7931A"/>
                </a:solidFill>
                <a:latin typeface="Courier New" pitchFamily="34" charset="0"/>
                <a:ea typeface="Courier New" pitchFamily="34" charset="-122"/>
                <a:cs typeface="Courier New" pitchFamily="34" charset="-120"/>
              </a:rPr>
              <a:t>result  </a:t>
            </a:r>
            <a:pPr indent="0" marL="0">
              <a:buNone/>
            </a:pPr>
            <a:r>
              <a:rPr lang="en-US" sz="1000" dirty="0">
                <a:solidFill>
                  <a:srgbClr val="1B1F24"/>
                </a:solidFill>
                <a:latin typeface="Courier New" pitchFamily="34" charset="0"/>
                <a:ea typeface="Courier New" pitchFamily="34" charset="-122"/>
                <a:cs typeface="Courier New" pitchFamily="34" charset="-120"/>
              </a:rPr>
              <a:t>[5000000000, 5000000000, 2500000000, 625000000, 625000000]</a:t>
            </a:r>
            <a:endParaRPr lang="en-US" sz="1000" dirty="0"/>
          </a:p>
        </p:txBody>
      </p:sp>
      <p:sp>
        <p:nvSpPr>
          <p:cNvPr id="12" name="Text 10"/>
          <p:cNvSpPr txBox="1"/>
          <p:nvPr/>
        </p:nvSpPr>
        <p:spPr>
          <a:xfrm>
            <a:off x="457200" y="3470148"/>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program SoftwareTesting, lines 1 to 3 of 3, run under Python 3.14.4</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Programming language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number in three notations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programming language is a formal notation in which a person writes the instructions of a program, together with the rules that give each form of writing its meaning.</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(0xff, int('ff', 16), int('11111111', 2), 0b11111111 == 0xff)</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(255, 255, 255, True)</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program in a compiled language, such as C++, is translated before it runs into machine instructions for one platform, which is why a release has an archive for each platform.</a:t>
            </a:r>
            <a:endParaRPr lang="en-US"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Recap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649224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Branch</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to take away</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Node</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branch matters because it decides whom a user has to trust.</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Build</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Building from source is the most direct way to know what a node is made of.</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Operation</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branch matters because a node that is badly run gives little of what it promises.</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Interface</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interface is what turns a node into a platform.</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Data</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A student who understands the fields can check the node's answers, which is the point of running a node.</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Ecosystem</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A node is only as trustworthy as the software it runs, because the node is the thing that checks the rules on the owner's behalf.</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Semantics</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A reader who has run a node knows why the node's answer is worth trusting: it is the answer of a program that verified the data itself.</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Recap,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6492240"/>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Branch</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to take away</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Computing foundations</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Without this vocabulary the commands and logs of the chapter are noise: a log that says the signature cache has 16 MiB and the server was started with worker threads means nothing to a reader for whom a mebibyte, a cache and a thread are undefined. With it, each line of the output becomes a small fact that can be checked, and the reader can see why the project chose, say, a fixed number of bytes for a cookie or a database for the set of unspent outputs.</a:t>
                      </a:r>
                      <a:endParaRPr lang="en-US" sz="10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Discussion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have so far</a:t>
            </a:r>
            <a:endParaRPr lang="en-US" sz="1300" dirty="0"/>
          </a:p>
        </p:txBody>
      </p:sp>
      <p:sp>
        <p:nvSpPr>
          <p:cNvPr id="6" name="Shape 4"/>
          <p:cNvSpPr/>
          <p:nvPr/>
        </p:nvSpPr>
        <p:spPr>
          <a:xfrm>
            <a:off x="457200" y="1280160"/>
            <a:ext cx="2645664" cy="2834640"/>
          </a:xfrm>
          <a:prstGeom prst="roundRect">
            <a:avLst>
              <a:gd name="adj" fmla="val 2765"/>
            </a:avLst>
          </a:prstGeom>
          <a:solidFill>
            <a:srgbClr val="F4F2EE"/>
          </a:solidFill>
          <a:ln w="12700">
            <a:solidFill>
              <a:srgbClr val="D9D4CC"/>
            </a:solidFill>
            <a:prstDash val="solid"/>
          </a:ln>
        </p:spPr>
      </p:sp>
      <p:sp>
        <p:nvSpPr>
          <p:cNvPr id="7" name="Text 5"/>
          <p:cNvSpPr txBox="1"/>
          <p:nvPr/>
        </p:nvSpPr>
        <p:spPr>
          <a:xfrm>
            <a:off x="548640"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Noticeable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What stood out in this chapter, and what surprised you?</a:t>
            </a:r>
            <a:endParaRPr lang="en-US" sz="1500" dirty="0"/>
          </a:p>
        </p:txBody>
      </p:sp>
      <p:sp>
        <p:nvSpPr>
          <p:cNvPr id="8" name="Shape 6"/>
          <p:cNvSpPr/>
          <p:nvPr/>
        </p:nvSpPr>
        <p:spPr>
          <a:xfrm>
            <a:off x="3249168" y="1280160"/>
            <a:ext cx="2645664" cy="2834640"/>
          </a:xfrm>
          <a:prstGeom prst="roundRect">
            <a:avLst>
              <a:gd name="adj" fmla="val 2765"/>
            </a:avLst>
          </a:prstGeom>
          <a:solidFill>
            <a:srgbClr val="F7931A"/>
          </a:solidFill>
          <a:ln w="12700">
            <a:solidFill>
              <a:srgbClr val="F7931A"/>
            </a:solidFill>
            <a:prstDash val="solid"/>
          </a:ln>
        </p:spPr>
      </p:sp>
      <p:sp>
        <p:nvSpPr>
          <p:cNvPr id="9" name="Text 7"/>
          <p:cNvSpPr txBox="1"/>
          <p:nvPr/>
        </p:nvSpPr>
        <p:spPr>
          <a:xfrm>
            <a:off x="3340608" y="1335024"/>
            <a:ext cx="2462784" cy="2724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Interesting details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What is the most interesting point? Do you find Bitcoin inspiring, and why?</a:t>
            </a:r>
            <a:endParaRPr lang="en-US" sz="1500" dirty="0"/>
          </a:p>
        </p:txBody>
      </p:sp>
      <p:sp>
        <p:nvSpPr>
          <p:cNvPr id="10" name="Shape 8"/>
          <p:cNvSpPr/>
          <p:nvPr/>
        </p:nvSpPr>
        <p:spPr>
          <a:xfrm>
            <a:off x="6041136" y="1280160"/>
            <a:ext cx="2645664" cy="2834640"/>
          </a:xfrm>
          <a:prstGeom prst="roundRect">
            <a:avLst>
              <a:gd name="adj" fmla="val 2765"/>
            </a:avLst>
          </a:prstGeom>
          <a:solidFill>
            <a:srgbClr val="F4F2EE"/>
          </a:solidFill>
          <a:ln w="12700">
            <a:solidFill>
              <a:srgbClr val="D9D4CC"/>
            </a:solidFill>
            <a:prstDash val="solid"/>
          </a:ln>
        </p:spPr>
      </p:sp>
      <p:sp>
        <p:nvSpPr>
          <p:cNvPr id="11" name="Text 9"/>
          <p:cNvSpPr txBox="1"/>
          <p:nvPr/>
        </p:nvSpPr>
        <p:spPr>
          <a:xfrm>
            <a:off x="6132576"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Unclarified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Which points need further explanation? Select one critical issue from the chapter and explain it.</a:t>
            </a:r>
            <a:endParaRPr lang="en-US" sz="15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question do the four concepts of the verification group answer together?</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How a miner decides which transactions go first inside a new block</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How much disk space a node needs before its first download can finish</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How a participant can be sure that what the software enforces is what Bitcoin requires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How a user can recover coins after losing the file that holds the keys</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does a user who runs a full node have to trust less than one who asks another server?</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 node is run by the miner of the block, so the miner no longer needs trust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node checks blocks against public rules, so only the software and the rules need trust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node encrypts every payment, so no outside party can see any amount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The node keeps the user's keys offline in a separate device, so a stolen password cannot move coins</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property makes a change to the consensus rules a soft fork?</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Older nodes reject every block that newer nodes create, so all of them must upgrade at once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Newer nodes may reject blocks that older nodes accept, but never the other way round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change is voted on by users, and the network splits if the vote fails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Old and new nodes accept exactly the same blocks, so no new rule is enforced</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happened in April 2011 that Mastering Bitcoin mentions?</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Nakamoto published the whitepaper and the first release of the software together</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Nakamoto handed control of the network to a foundation of miners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Nakamoto withdrew from the public and left development to a group of volunteers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Nakamoto revealed an identity in a statement signed with the first key</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does the course read the figures of the resource group against the date of their source?</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They are set by the protocol and change only at a halving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They apply only to nodes that run on a metered connection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They are orders of magnitude that change from year to year and are not constants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They were measured on test networks and not on the main network</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In what order does a new node fetch data during the initial download, according to Mastering Bitcoin?</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Full blocks first, then the headers once all of them have been validated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set of unspent outputs first, then the blocks that created each output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Only the latest blocks first, then older ones whenever a peer asks for them</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Headers first, to find the chain with most proof of work, then the blocks, validated on arrival</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does a pruned node give up in exchange for needing far less disk space?</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It can no longer hand old blocks to other nodes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It stops verifying new blocks and trusts the peers that send them</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It loses the set of unspent outputs and rebuilds it for each payment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It must connect to a single trusted peer that stores the full chain</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does a node keep the set of unspent outputs instead of searching the whole history?</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 set stores every wallet balance, so one lookup gives the amount owned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history is deleted again once the node has downloaded it, so only the set remains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set holds all signatures, so scripts never have to be run a second time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To check a transaction it only has to know whether each output it spends is in the set</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 the printed build commands of Mastering Bitcoin fail on a current source tree?</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Release 29.0 migrated the build from Autotools to CMake, and the tree has no autogen.sh</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project left GitHub, so the cloning command of the book finds nothing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source is now written in Python only, so no compiler is needed for the build of the program</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Git no longer allows a release tag to be checked out in a detached state</a:t>
            </a:r>
            <a:endParaRPr lang="en-US" sz="11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Bitcoin.org, 2026 — Running a full node, minimum requirements , the page the owner's notes link</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Bitcoin Core, 2026 — Bitcoin Core documentation: doc/build-unix.md at commit 05bc2f5</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Dashjr, 2016 — BIP 2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Murch, 2025 — BIP 3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Wuille et al., 2015 — BIP 9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Daftuar, 2016 — BIP 90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Open Source Initiative, 2026 — The Open Source Definition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Nakamoto, 2008 — Bitcoin: A Peer-to-Peer Electronic Cash System</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Schnelli, 2017 — BIP 159 , bitcoin/bips</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Git project, 2026 — git-clone and git-tag documentation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Chacon and Straub, 2014 — Pro Git, What is Git?</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Kitware, 2026 — CMake command-line tools reference manual</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SQLite, 2026 — About SQLite</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Wuille and Chow, 2021 — BIP 380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JSON-RPC Working Group, 2013 — JSON-RPC 2.0 Specification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Bray, 2017 — RFC 8259, The JavaScript Object Notation (JSON) Data Interchange Format</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Fielding et al., 2022 — RFC 9110, HTTP Semantics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Stenberg, 2026 — curl manual</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Todd, 2023 — python-bitcoinlib 0.12.2 on PyPI, released 2023-06-03</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Blockstream, 2026 — Blockstream Esplora API: blocks 123456 and 775072 and Alice's transaction , a third party's index of the chain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Lombrozo and Wuille, 2016 — BIP 144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Lombrozo et al., 2015 — BIP 141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Andresen, 2012 — BIP 34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Kerin and Friedenbach, 2015 — BIP 113 , bitcoin/bips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Package registries, 2026 — Package-registry release data for the toolkits the book lists: npm, PyPI, the Go module proxy, crates.io, Maven Central and NuGet, queried 2026-10-02</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Eastlake and Hansen, 2011 — RFC 6234, US Secure Hash Algorithms (SHA and SHA-based HMAC and HKDF)</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Wouters et al., 2024 — RFC 9580, OpenPGP</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World Wide Web Consortium, 2020 — JSON-LD 1.1, W3C Recommendation, 16 July 2020</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Lebo et al., 2013 — PROV-O: The PROV Ontology, W3C Recommendation, 30 April 2013</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Josefsson, 2006 — RFC 4648, The Base16, Base32, and Base64 Data Encodings</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Reschke, 2015 — RFC 7617, The 'Basic' HTTP Authentication Scheme</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08760"/>
            <a:ext cx="8046720" cy="8686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4 - Keys and Addresses</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Before then: work through the chapter 3 page, and decode the transaction in its Code Lab.</a:t>
            </a:r>
            <a:endParaRPr lang="en-US" sz="16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 Bitcoin Core</dc:title>
  <dc:subject>PptxGenJS Presentation</dc:subject>
  <dc:creator>Yusuf Altunel</dc:creator>
  <cp:lastModifiedBy>Yusuf Altunel</cp:lastModifiedBy>
  <cp:revision>1</cp:revision>
  <dcterms:created xsi:type="dcterms:W3CDTF">2026-10-04T18:40:38Z</dcterms:created>
  <dcterms:modified xsi:type="dcterms:W3CDTF">2026-10-04T18:40:38Z</dcterms:modified>
  <cp:version>1.1.0</cp:version>
</cp:coreProperties>
</file>