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MiB</c:v>
                </c:pt>
              </c:strCache>
            </c:strRef>
          </c:tx>
          <c:spPr>
            <a:solidFill>
              <a:srgbClr val="D97A14"/>
            </a:solidFill>
          </c:spPr>
          <c:dPt>
            <c:idx val="0"/>
            <c:spPr>
              <a:solidFill>
                <a:srgbClr val="6E655C"/>
              </a:solidFill>
            </c:spPr>
          </c:dPt>
          <c:dPt>
            <c:idx val="1"/>
            <c:spPr>
              <a:solidFill>
                <a:srgbClr val="6E655C"/>
              </a:solidFill>
            </c:spPr>
          </c:dPt>
          <c:dPt>
            <c:idx val="2"/>
            <c:spPr>
              <a:solidFill>
                <a:srgbClr val="2F6D62"/>
              </a:solidFill>
            </c:spPr>
          </c:dPt>
          <c:cat>
            <c:strRef>
              <c:f>Sheet1!$A$2:$A$4</c:f>
              <c:strCache>
                <c:ptCount val="3"/>
                <c:pt idx="0">
                  <c:v>Block index</c:v>
                </c:pt>
                <c:pt idx="1">
                  <c:v>Chain state</c:v>
                </c:pt>
                <c:pt idx="2">
                  <c:v>Coins cache</c:v>
                </c:pt>
              </c:strCache>
            </c:strRef>
          </c:cat>
          <c:val>
            <c:numRef>
              <c:f>Sheet1!$B$2:$B$4</c:f>
              <c:numCache>
                <c:formatCode>General</c:formatCode>
                <c:ptCount val="3"/>
                <c:pt idx="0">
                  <c:v>2.0</c:v>
                </c:pt>
                <c:pt idx="1">
                  <c:v>8.0</c:v>
                </c:pt>
                <c:pt idx="2">
                  <c:v>1014.0</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9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2B262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megabytes</c:v>
                </c:pt>
              </c:strCache>
            </c:strRef>
          </c:tx>
          <c:spPr>
            <a:solidFill>
              <a:srgbClr val="D97A14"/>
            </a:solidFill>
          </c:spPr>
          <c:dPt>
            <c:idx val="0"/>
            <c:spPr>
              <a:solidFill>
                <a:srgbClr val="D97A14"/>
              </a:solidFill>
            </c:spPr>
          </c:dPt>
          <c:dPt>
            <c:idx val="1"/>
            <c:spPr>
              <a:solidFill>
                <a:srgbClr val="2F6D62"/>
              </a:solidFill>
            </c:spPr>
          </c:dPt>
          <c:cat>
            <c:strRef>
              <c:f>Sheet1!$A$2:$A$3</c:f>
              <c:strCache>
                <c:ptCount val="2"/>
                <c:pt idx="0">
                  <c:v>Default node</c:v>
                </c:pt>
                <c:pt idx="1">
                  <c:v>Blocks-only mode</c:v>
                </c:pt>
              </c:strCache>
            </c:strRef>
          </c:cat>
          <c:val>
            <c:numRef>
              <c:f>Sheet1!$B$2:$B$3</c:f>
              <c:numCache>
                <c:formatCode>General</c:formatCode>
                <c:ptCount val="2"/>
                <c:pt idx="0">
                  <c:v>300.0</c:v>
                </c:pt>
                <c:pt idx="1">
                  <c:v>5.0</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9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2B262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satoshis</c:v>
                </c:pt>
              </c:strCache>
            </c:strRef>
          </c:tx>
          <c:spPr>
            <a:solidFill>
              <a:srgbClr val="D97A14"/>
            </a:solidFill>
          </c:spPr>
          <c:dPt>
            <c:idx val="0"/>
            <c:spPr>
              <a:solidFill>
                <a:srgbClr val="2F6D62"/>
              </a:solidFill>
            </c:spPr>
          </c:dPt>
          <c:dPt>
            <c:idx val="1"/>
            <c:spPr>
              <a:solidFill>
                <a:srgbClr val="D97A14"/>
              </a:solidFill>
            </c:spPr>
          </c:dPt>
          <c:cat>
            <c:strRef>
              <c:f>Sheet1!$A$2:$A$3</c:f>
              <c:strCache>
                <c:ptCount val="2"/>
                <c:pt idx="0">
                  <c:v>Output 0</c:v>
                </c:pt>
                <c:pt idx="1">
                  <c:v>Output 1</c:v>
                </c:pt>
              </c:strCache>
            </c:strRef>
          </c:cat>
          <c:val>
            <c:numRef>
              <c:f>Sheet1!$B$2:$B$3</c:f>
              <c:numCache>
                <c:formatCode>General</c:formatCode>
                <c:ptCount val="2"/>
                <c:pt idx="0">
                  <c:v>20000.0</c:v>
                </c:pt>
                <c:pt idx="1">
                  <c:v>75000.0</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9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2B262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units</c:v>
                </c:pt>
              </c:strCache>
            </c:strRef>
          </c:tx>
          <c:spPr>
            <a:solidFill>
              <a:srgbClr val="D97A14"/>
            </a:solidFill>
          </c:spPr>
          <c:dPt>
            <c:idx val="0"/>
            <c:spPr>
              <a:solidFill>
                <a:srgbClr val="2F6D62"/>
              </a:solidFill>
            </c:spPr>
          </c:dPt>
          <c:dPt>
            <c:idx val="1"/>
            <c:spPr>
              <a:solidFill>
                <a:srgbClr val="D97A14"/>
              </a:solidFill>
            </c:spPr>
          </c:dPt>
          <c:dPt>
            <c:idx val="2"/>
            <c:spPr>
              <a:solidFill>
                <a:srgbClr val="6E655C"/>
              </a:solidFill>
            </c:spPr>
          </c:dPt>
          <c:cat>
            <c:strRef>
              <c:f>Sheet1!$A$2:$A$4</c:f>
              <c:strCache>
                <c:ptCount val="3"/>
                <c:pt idx="0">
                  <c:v>Base x 4</c:v>
                </c:pt>
                <c:pt idx="1">
                  <c:v>Witness x 1</c:v>
                </c:pt>
                <c:pt idx="2">
                  <c:v>Weight</c:v>
                </c:pt>
              </c:strCache>
            </c:strRef>
          </c:cat>
          <c:val>
            <c:numRef>
              <c:f>Sheet1!$B$2:$B$4</c:f>
              <c:numCache>
                <c:formatCode>General</c:formatCode>
                <c:ptCount val="3"/>
                <c:pt idx="0">
                  <c:v>500.0</c:v>
                </c:pt>
                <c:pt idx="1">
                  <c:v>69.0</c:v>
                </c:pt>
                <c:pt idx="2">
                  <c:v>569.0</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9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2B262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hashes</c:v>
                </c:pt>
              </c:strCache>
            </c:strRef>
          </c:tx>
          <c:spPr>
            <a:solidFill>
              <a:srgbClr val="D97A14"/>
            </a:solidFill>
          </c:spPr>
          <c:dPt>
            <c:idx val="0"/>
            <c:spPr>
              <a:solidFill>
                <a:srgbClr val="2F6D62"/>
              </a:solidFill>
            </c:spPr>
          </c:dPt>
          <c:dPt>
            <c:idx val="1"/>
            <c:spPr>
              <a:solidFill>
                <a:srgbClr val="D97A14"/>
              </a:solidFill>
            </c:spPr>
          </c:dPt>
          <c:dPt>
            <c:idx val="2"/>
            <c:spPr>
              <a:solidFill>
                <a:srgbClr val="D97A14"/>
              </a:solidFill>
            </c:spPr>
          </c:dPt>
          <c:dPt>
            <c:idx val="3"/>
            <c:spPr>
              <a:solidFill>
                <a:srgbClr val="D97A14"/>
              </a:solidFill>
            </c:spPr>
          </c:dPt>
          <c:dPt>
            <c:idx val="4"/>
            <c:spPr>
              <a:solidFill>
                <a:srgbClr val="2F6D62"/>
              </a:solidFill>
            </c:spPr>
          </c:dPt>
          <c:cat>
            <c:strRef>
              <c:f>Sheet1!$A$2:$A$6</c:f>
              <c:strCache>
                <c:ptCount val="5"/>
                <c:pt idx="0">
                  <c:v>Level 0</c:v>
                </c:pt>
                <c:pt idx="1">
                  <c:v>Level 1</c:v>
                </c:pt>
                <c:pt idx="2">
                  <c:v>Level 2</c:v>
                </c:pt>
                <c:pt idx="3">
                  <c:v>Level 3</c:v>
                </c:pt>
                <c:pt idx="4">
                  <c:v>Level 4</c:v>
                </c:pt>
              </c:strCache>
            </c:strRef>
          </c:cat>
          <c:val>
            <c:numRef>
              <c:f>Sheet1!$B$2:$B$6</c:f>
              <c:numCache>
                <c:formatCode>General</c:formatCode>
                <c:ptCount val="5"/>
                <c:pt idx="0">
                  <c:v>13.0</c:v>
                </c:pt>
                <c:pt idx="1">
                  <c:v>7.0</c:v>
                </c:pt>
                <c:pt idx="2">
                  <c:v>4.0</c:v>
                </c:pt>
                <c:pt idx="3">
                  <c:v>2.0</c:v>
                </c:pt>
                <c:pt idx="4">
                  <c:v>1.0</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9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2B2622"/>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minutes</c:v>
                </c:pt>
              </c:strCache>
            </c:strRef>
          </c:tx>
          <c:spPr>
            <a:solidFill>
              <a:srgbClr val="D97A14"/>
            </a:solidFill>
          </c:spPr>
          <c:dPt>
            <c:idx val="0"/>
            <c:spPr>
              <a:solidFill>
                <a:srgbClr val="D97A14"/>
              </a:solidFill>
            </c:spPr>
          </c:dPt>
          <c:dPt>
            <c:idx val="1"/>
            <c:spPr>
              <a:solidFill>
                <a:srgbClr val="D97A14"/>
              </a:solidFill>
            </c:spPr>
          </c:dPt>
          <c:dPt>
            <c:idx val="2"/>
            <c:spPr>
              <a:solidFill>
                <a:srgbClr val="D97A14"/>
              </a:solidFill>
            </c:spPr>
          </c:dPt>
          <c:dPt>
            <c:idx val="3"/>
            <c:spPr>
              <a:solidFill>
                <a:srgbClr val="D97A14"/>
              </a:solidFill>
            </c:spPr>
          </c:dPt>
          <c:dPt>
            <c:idx val="4"/>
            <c:spPr>
              <a:solidFill>
                <a:srgbClr val="D97A14"/>
              </a:solidFill>
            </c:spPr>
          </c:dPt>
          <c:dPt>
            <c:idx val="5"/>
            <c:spPr>
              <a:solidFill>
                <a:srgbClr val="2F6D62"/>
              </a:solidFill>
            </c:spPr>
          </c:dPt>
          <c:dPt>
            <c:idx val="6"/>
            <c:spPr>
              <a:solidFill>
                <a:srgbClr val="D97A14"/>
              </a:solidFill>
            </c:spPr>
          </c:dPt>
          <c:dPt>
            <c:idx val="7"/>
            <c:spPr>
              <a:solidFill>
                <a:srgbClr val="D97A14"/>
              </a:solidFill>
            </c:spPr>
          </c:dPt>
          <c:dPt>
            <c:idx val="8"/>
            <c:spPr>
              <a:solidFill>
                <a:srgbClr val="D97A14"/>
              </a:solidFill>
            </c:spPr>
          </c:dPt>
          <c:dPt>
            <c:idx val="9"/>
            <c:spPr>
              <a:solidFill>
                <a:srgbClr val="D97A14"/>
              </a:solidFill>
            </c:spPr>
          </c:dPt>
          <c:dPt>
            <c:idx val="10"/>
            <c:spPr>
              <a:solidFill>
                <a:srgbClr val="D97A14"/>
              </a:solidFill>
            </c:spPr>
          </c:dPt>
          <c:cat>
            <c:strRef>
              <c:f>Sheet1!$A$2:$A$12</c:f>
              <c:strCache>
                <c:ptCount val="11"/>
                <c:pt idx="0">
                  <c:v>123446</c:v>
                </c:pt>
                <c:pt idx="1">
                  <c:v>123447</c:v>
                </c:pt>
                <c:pt idx="2">
                  <c:v>123448</c:v>
                </c:pt>
                <c:pt idx="3">
                  <c:v>123449</c:v>
                </c:pt>
                <c:pt idx="4">
                  <c:v>123450</c:v>
                </c:pt>
                <c:pt idx="5">
                  <c:v>123451</c:v>
                </c:pt>
                <c:pt idx="6">
                  <c:v>123452</c:v>
                </c:pt>
                <c:pt idx="7">
                  <c:v>123453</c:v>
                </c:pt>
                <c:pt idx="8">
                  <c:v>123454</c:v>
                </c:pt>
                <c:pt idx="9">
                  <c:v>123455</c:v>
                </c:pt>
                <c:pt idx="10">
                  <c:v>123456</c:v>
                </c:pt>
              </c:strCache>
            </c:strRef>
          </c:cat>
          <c:val>
            <c:numRef>
              <c:f>Sheet1!$B$2:$B$12</c:f>
              <c:numCache>
                <c:formatCode>General</c:formatCode>
                <c:ptCount val="11"/>
                <c:pt idx="0">
                  <c:v>0.0</c:v>
                </c:pt>
                <c:pt idx="1">
                  <c:v>27.0</c:v>
                </c:pt>
                <c:pt idx="2">
                  <c:v>48.0</c:v>
                </c:pt>
                <c:pt idx="3">
                  <c:v>54.0</c:v>
                </c:pt>
                <c:pt idx="4">
                  <c:v>70.0</c:v>
                </c:pt>
                <c:pt idx="5">
                  <c:v>103.0</c:v>
                </c:pt>
                <c:pt idx="6">
                  <c:v>129.0</c:v>
                </c:pt>
                <c:pt idx="7">
                  <c:v>143.0</c:v>
                </c:pt>
                <c:pt idx="8">
                  <c:v>146.0</c:v>
                </c:pt>
                <c:pt idx="9">
                  <c:v>148.0</c:v>
                </c:pt>
                <c:pt idx="10">
                  <c:v>151.0</c:v>
                </c:pt>
              </c:numCache>
            </c:numRef>
          </c:val>
        </c:ser>
        <c:dLbls>
          <c:numFmt formatCode="#,##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8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solidFill>
            <a:srgbClr val="2B2622"/>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days</c:v>
                </c:pt>
              </c:strCache>
            </c:strRef>
          </c:tx>
          <c:spPr>
            <a:solidFill>
              <a:srgbClr val="D97A14"/>
            </a:solidFill>
          </c:spPr>
          <c:dPt>
            <c:idx val="0"/>
            <c:spPr>
              <a:solidFill>
                <a:srgbClr val="D97A14"/>
              </a:solidFill>
            </c:spPr>
          </c:dPt>
          <c:dPt>
            <c:idx val="1"/>
            <c:spPr>
              <a:solidFill>
                <a:srgbClr val="D97A14"/>
              </a:solidFill>
            </c:spPr>
          </c:dPt>
          <c:dPt>
            <c:idx val="2"/>
            <c:spPr>
              <a:solidFill>
                <a:srgbClr val="D97A14"/>
              </a:solidFill>
            </c:spPr>
          </c:dPt>
          <c:dPt>
            <c:idx val="3"/>
            <c:spPr>
              <a:solidFill>
                <a:srgbClr val="D97A14"/>
              </a:solidFill>
            </c:spPr>
          </c:dPt>
          <c:dPt>
            <c:idx val="4"/>
            <c:spPr>
              <a:solidFill>
                <a:srgbClr val="D97A14"/>
              </a:solidFill>
            </c:spPr>
          </c:dPt>
          <c:dPt>
            <c:idx val="5"/>
            <c:spPr>
              <a:solidFill>
                <a:srgbClr val="D97A14"/>
              </a:solidFill>
            </c:spPr>
          </c:dPt>
          <c:dPt>
            <c:idx val="6"/>
            <c:spPr>
              <a:solidFill>
                <a:srgbClr val="D97A14"/>
              </a:solidFill>
            </c:spPr>
          </c:dPt>
          <c:dPt>
            <c:idx val="7"/>
            <c:spPr>
              <a:solidFill>
                <a:srgbClr val="D97A14"/>
              </a:solidFill>
            </c:spPr>
          </c:dPt>
          <c:dPt>
            <c:idx val="8"/>
            <c:spPr>
              <a:solidFill>
                <a:srgbClr val="D97A14"/>
              </a:solidFill>
            </c:spPr>
          </c:dPt>
          <c:cat>
            <c:strRef>
              <c:f>Sheet1!$A$2:$A$10</c:f>
              <c:strCache>
                <c:ptCount val="9"/>
                <c:pt idx="0">
                  <c:v>bitcoinjs-lib</c:v>
                </c:pt>
                <c:pt idx="1">
                  <c:v>btcd</c:v>
                </c:pt>
                <c:pt idx="2">
                  <c:v>rust-bitcoin</c:v>
                </c:pt>
                <c:pt idx="3">
                  <c:v>pycoin</c:v>
                </c:pt>
                <c:pt idx="4">
                  <c:v>bitcore-lib</c:v>
                </c:pt>
                <c:pt idx="5">
                  <c:v>bitcoinj</c:v>
                </c:pt>
                <c:pt idx="6">
                  <c:v>bitcoin-s</c:v>
                </c:pt>
                <c:pt idx="7">
                  <c:v>python-bitcoinlib</c:v>
                </c:pt>
                <c:pt idx="8">
                  <c:v>bcoin</c:v>
                </c:pt>
              </c:strCache>
            </c:strRef>
          </c:cat>
          <c:val>
            <c:numRef>
              <c:f>Sheet1!$B$2:$B$10</c:f>
              <c:numCache>
                <c:formatCode>General</c:formatCode>
                <c:ptCount val="9"/>
                <c:pt idx="0">
                  <c:v>25.0</c:v>
                </c:pt>
                <c:pt idx="1">
                  <c:v>70.0</c:v>
                </c:pt>
                <c:pt idx="2">
                  <c:v>72.0</c:v>
                </c:pt>
                <c:pt idx="3">
                  <c:v>180.0</c:v>
                </c:pt>
                <c:pt idx="4">
                  <c:v>438.0</c:v>
                </c:pt>
                <c:pt idx="5">
                  <c:v>588.0</c:v>
                </c:pt>
                <c:pt idx="6">
                  <c:v>615.0</c:v>
                </c:pt>
                <c:pt idx="7">
                  <c:v>1217.0</c:v>
                </c:pt>
                <c:pt idx="8">
                  <c:v>3003.0</c:v>
                </c:pt>
              </c:numCache>
            </c:numRef>
          </c:val>
        </c:ser>
        <c:dLbls>
          <c:numFmt formatCode="#,##0" sourceLinked="0"/>
          <c:txPr>
            <a:bodyPr/>
            <a:lstStyle/>
            <a:p>
              <a:pPr>
                <a:defRPr sz="7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700"/>
            </a:pPr>
          </a:p>
        </c:txPr>
        <c:crossAx val="-2113994440"/>
        <c:crosses val="autoZero"/>
        <c:auto val="1"/>
        <c:lblAlgn val="ctr"/>
        <c:lblOffset val="100"/>
        <c:noMultiLvlLbl val="0"/>
      </c:catAx>
      <c:valAx>
        <c:axId val="-2113994440"/>
        <c:scaling>
          <c:logBase val="10"/>
          <c:min val="1.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700"/>
            </a:pPr>
          </a:p>
        </c:txPr>
        <c:crossAx val="-2068027336"/>
        <c:crosses val="autoZero"/>
      </c:valAx>
    </c:plotArea>
    <c:dispBlanksAs val="gap"/>
  </c:chart>
  <c:txPr>
    <a:bodyPr/>
    <a:lstStyle/>
    <a:p>
      <a:pPr>
        <a:defRPr sz="700">
          <a:solidFill>
            <a:srgbClr val="2B262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followed one payment through the network. Chapter 3 opens the program that checks every rule, Bitcoin Core, and shows how to build it, run it and ask it questions. Every result in this deck was computed by the chapter library from saved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has seven parts that follow the program from its source code to the toolkits around it. Three true stories and nineteen code examples are spread across them. Every example has a picture of its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questions are the chapter's own, rewritten so that each has an answer on a slide. We return to them in the summary. A reader who can answer all six has understood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carry us from the source code to the data of the chain. We read the code and pick a release, build it, run it, ask it questions and read what it says. The last step looks at other programs that speak to a node.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asks what Bitcoin Core is. It began as the program Satoshi Nakamoto released in 2009, and it checks every rule itself as a full verification node. Changes reach it through numbered Bitcoin Improvement Proposals.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January 2009 Satoshi Nakamoto published version 0.1 of the Bitcoin program. A year and a half later he wrote that its core design was set in stone. That is why Bitcoin Core is called the reference implementation: the software came first, and the rules are what it does.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Bitcoin Core is one program with several parts. Peers and the connection manager bring in blocks and transactions, the validation engine checks them, and the storage engine keeps headers, blocks and coins. The interface at the right lets your own programs ask questions.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block's version field is not a counter. Its top three bits mark the BIP 9 scheme, and every lower bit is a vote for one proposal. Here only bit 1 is set.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turns the source code into programs you can run. A release tag fixes which version you build, and release candidates are tried before a final tag exists. The build produces bitcoind, the node itself.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build has three decisions. You select a release tag, you configure which features to build, and you build the executables. Each step has a single command, and a clean tag makes the result repeatable.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tags of the Bitcoin repository. Sorted as text, v0.10.0 lands before v0.9.5, which is wrong. A release candidate is a tag with rc in it, so we leave those out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release unpacks into seven programs and three helper parts. The one to know is bitcoind, the node. You steer it from the command line with bitcoin-cli.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Anyone can ask whether a downloaded binary really matches the source. Since release 22.0 Bitcoin Core builds with Guix, so independent builders get identical files and sign their hashes. For release 31.1 the checksum file carries eleven good signatures.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release ships a list of hashes. You hash your download and compare. If the two texts match, the file is the one that the builders signed for.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starts the node and sets it up. A configuration file and the command line decide what the node does, and the data directory is where it keeps everything. Pruning, the transaction index and the memory limits trade disk, memory and features.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configuration file holds the settings of a node. When the same option is also given on the command line, the command line wins. A script can therefore change one value for one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the node knows lives in its data directory. Blocks and the chain state are the big parts, the log is the node's diary, and the configuration file holds your settings. The cookie file appears while the node runs.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dbcache option sizes the cache for the unspent outputs. Bitcoin Core first gives two small databases their share. Everything else goes to the cache of coins.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Pruning keeps only recent blocks. The transaction index must find any block that holds a transaction. The node therefore refuses both at once, and release 31.1 printed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settings reduce what a node asks of its machine. Blocks-only mode stops it from collecting loose transactions, and the mempool limit caps the waiting room. The default limit is 300 megabytes, and blocks-only mode needs only 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node can run a script of yours when something is wrong. The message goes into the command, so the node cleans it first. The hostile quotes vanish and the rest stays inside one word.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Bitcoin Core outlived its first author. Satoshi Nakamoto handed the project to Gavin Andresen in 2011, and on 7 April 2014 Andresen passed the lead to Wladimir van der Laan. A reference implementation needs a team and public review, not one keyholder.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talks to the running node. The command-line client bitcoin-cli sends JSON-RPC calls, and the node checks who is asking before it answers. The cookie is the default way in, and rpcauth is the fixed alternative.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call is a small JSON text with a method and parameters. The reply carries a result, an error and the id of the call. The sample reply is the one the book prints for the curl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every start bitcoind writes a new random secret to the .cookie file. A client that can read the file can call the node. The secret is 32 bytes, shown as 64 hexadecimal characters.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rpcauth line holds a user, a random salt and a keyed hash of the password. Even a leaked configuration file does not reveal the password. A wrong password gives a different hash.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answer of a real node of release 31.1 that had only the first block. It says which chain it is on, how many blocks it has verified and how hard the work is.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reads a transaction the way the node reports it. Each transaction has an identifier, a weight and a witness. We decode Alice's payment from chapter 2 and look at each part.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node's own decoder turns Alice's bytes into readable fields. Every output has a number, a value and a type. Two outputs, 20,000 and 75,000 satoshis, plus the 5,000 fee make her 100,000.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txid is a hash of the transaction without its witness. A third party can no longer change the txid by re-encoding a signature. That change is called transaction malleability, and segregated witness ended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Blocks are filled by weight units. Base bytes count four units each and witness bytes one. Alice's 194 bytes weigh 569 units, which is 143 virtual bytes.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reads blocks. A block has a height, a hash made from its header, a merkle root of its transactions and a time. We rebuild each one ourselves with a few lines of Python.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block's height counts the blocks before it, so the first block has height zero. Each block built on top adds a confirmation. The numbers in the picture are an example, not a live chain.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header has six fields in 80 bytes. Hashing it twice and reversing the bytes gives the block hash, which starts with many zeros. The block's height, 123,456, counts the blocks before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 123,456 holds 13 transactions. Hashing neighbours in pairs gives 7, 4, 2 and finally 1 hash. That last hash is the merkle root stored in the header, and one changed transaction would change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Miners write the time into every header, and it can be a little off. Bitcoin Core therefore uses the median of the last eleven times. We recompute the saved median of block 123,456.</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7 looks beyond Bitcoin Core. Libraries such as python-bitcoinlib call the node from your own programs, and other clients follow the same rules in other languages. We end with how fresh each toolkit is.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library can speak to the node for you. python-bitcoinlib builds the JSON-RPC call, sends it over HTTP and returns the result as a Python value. On the offline node of release 31.1 a call for the block count returned zero.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Libraries for other languages and other clients exist, but they age. This is the number of days between each toolkit's latest release and the day we asked the registries. A library can be useful and still be old.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answers one of the six opening questions in a line. If you can say each answer in your own words, using the everyday pictures of this chapter, you have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links are all open and free. Start with the chapter source and the release page, try the RPC reference against your own node, and watch the talk on tracing a running node. The community links are where questions get answered.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Bitcoin Core from source to answers. Chapter 4 turns to keys and addresses, which the node's wallet depends on. Bring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hyperlink" Target="https://www.metzdowd.com/pipermail/cryptography/2009-January/014994.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hyperlink" Target="https://raw.githubusercontent.com/bitcoin-core/guix.sigs/main/31.1/achow101/all.SHA256SUM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chart" Target="../charts/char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chart" Target="../charts/char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jpg"/><Relationship Id="rId4" Type="http://schemas.openxmlformats.org/officeDocument/2006/relationships/hyperlink" Target="https://en.bitcoin.it/wiki/Wladimir_van_der_Laan"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chart" Target="../charts/char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chart" Target="../charts/char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chart" Target="../charts/char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chart" Target="../charts/char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chart" Target="../charts/char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hyperlink" Target="https://raw.githubusercontent.com/bitcoinbook/bitcoinbook/develop/ch03_bitcoin-core.adoc" TargetMode="External"/><Relationship Id="rId4" Type="http://schemas.openxmlformats.org/officeDocument/2006/relationships/hyperlink" Target="https://bitcoincore.org/en/releases/" TargetMode="External"/><Relationship Id="rId5" Type="http://schemas.openxmlformats.org/officeDocument/2006/relationships/hyperlink" Target="https://developer.bitcoin.org/reference/rpc/" TargetMode="External"/><Relationship Id="rId6" Type="http://schemas.openxmlformats.org/officeDocument/2006/relationships/hyperlink" Target="https://bips.dev/1/" TargetMode="External"/><Relationship Id="rId7" Type="http://schemas.openxmlformats.org/officeDocument/2006/relationships/hyperlink" Target="https://bitcoin.org/bitcoin.pdf" TargetMode="External"/><Relationship Id="rId8" Type="http://schemas.openxmlformats.org/officeDocument/2006/relationships/hyperlink" Target="https://raw.githubusercontent.com/bitcoin/bitcoin/master/doc/build-unix.md" TargetMode="External"/><Relationship Id="rId9" Type="http://schemas.openxmlformats.org/officeDocument/2006/relationships/hyperlink" Target="https://bitcoincore.reviews/" TargetMode="External"/><Relationship Id="rId10" Type="http://schemas.openxmlformats.org/officeDocument/2006/relationships/hyperlink" Target="https://delvingbitcoin.org/" TargetMode="External"/><Relationship Id="rId11" Type="http://schemas.openxmlformats.org/officeDocument/2006/relationships/hyperlink" Target="https://bitcoin.stackexchange.com/" TargetMode="External"/><Relationship Id="rId12" Type="http://schemas.openxmlformats.org/officeDocument/2006/relationships/hyperlink" Target="https://www.youtube.com/embed/XuRnL393pSk"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Oval 1"/>
          <p:cNvSpPr/>
          <p:nvPr/>
        </p:nvSpPr>
        <p:spPr>
          <a:xfrm>
            <a:off x="548640" y="685800"/>
            <a:ext cx="685800" cy="685800"/>
          </a:xfrm>
          <a:prstGeom prst="ellipse">
            <a:avLst/>
          </a:prstGeom>
          <a:no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i="0">
                <a:solidFill>
                  <a:srgbClr val="2B2622"/>
                </a:solidFill>
                <a:latin typeface="Calibri"/>
              </a:rPr>
              <a:t/>
            </a:r>
          </a:p>
        </p:txBody>
      </p:sp>
      <p:cxnSp>
        <p:nvCxnSpPr>
          <p:cNvPr id="3" name="Connector 2"/>
          <p:cNvCxnSpPr/>
          <p:nvPr/>
        </p:nvCxnSpPr>
        <p:spPr>
          <a:xfrm>
            <a:off x="1234440" y="1024128"/>
            <a:ext cx="18288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417319" y="685800"/>
            <a:ext cx="685800" cy="685800"/>
          </a:xfrm>
          <a:prstGeom prst="ellipse">
            <a:avLst/>
          </a:prstGeom>
          <a:no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i="0">
                <a:solidFill>
                  <a:srgbClr val="2B2622"/>
                </a:solidFill>
                <a:latin typeface="Calibri"/>
              </a:rPr>
              <a:t/>
            </a:r>
          </a:p>
        </p:txBody>
      </p:sp>
      <p:cxnSp>
        <p:nvCxnSpPr>
          <p:cNvPr id="5" name="Connector 4"/>
          <p:cNvCxnSpPr/>
          <p:nvPr/>
        </p:nvCxnSpPr>
        <p:spPr>
          <a:xfrm>
            <a:off x="2103120" y="1024128"/>
            <a:ext cx="18288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2286000" y="685800"/>
            <a:ext cx="685800" cy="685800"/>
          </a:xfrm>
          <a:prstGeom prst="ellipse">
            <a:avLst/>
          </a:prstGeom>
          <a:solidFill>
            <a:srgbClr val="D97A14"/>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i="0">
                <a:solidFill>
                  <a:srgbClr val="FFFFFF"/>
                </a:solidFill>
                <a:latin typeface="Calibri"/>
              </a:rPr>
              <a:t>₿</a:t>
            </a:r>
          </a:p>
        </p:txBody>
      </p:sp>
      <p:sp>
        <p:nvSpPr>
          <p:cNvPr id="7" name="TextBox 6"/>
          <p:cNvSpPr txBox="1"/>
          <p:nvPr/>
        </p:nvSpPr>
        <p:spPr>
          <a:xfrm>
            <a:off x="548640" y="1737360"/>
            <a:ext cx="4572000" cy="1097280"/>
          </a:xfrm>
          <a:prstGeom prst="rect">
            <a:avLst/>
          </a:prstGeom>
          <a:noFill/>
        </p:spPr>
        <p:txBody>
          <a:bodyPr wrap="square" lIns="0" rIns="0" tIns="0" bIns="0" anchor="ctr">
            <a:spAutoFit/>
          </a:bodyPr>
          <a:lstStyle/>
          <a:p>
            <a:pPr algn="l"/>
            <a:r>
              <a:rPr sz="3000" b="0" i="0">
                <a:solidFill>
                  <a:srgbClr val="2B2622"/>
                </a:solidFill>
                <a:latin typeface="Cambria"/>
              </a:rPr>
              <a:t>Chapter 3: Bitcoin Core</a:t>
            </a:r>
          </a:p>
        </p:txBody>
      </p:sp>
      <p:sp>
        <p:nvSpPr>
          <p:cNvPr id="8" name="TextBox 7"/>
          <p:cNvSpPr txBox="1"/>
          <p:nvPr/>
        </p:nvSpPr>
        <p:spPr>
          <a:xfrm>
            <a:off x="548640" y="2926080"/>
            <a:ext cx="4572000" cy="640080"/>
          </a:xfrm>
          <a:prstGeom prst="rect">
            <a:avLst/>
          </a:prstGeom>
          <a:noFill/>
        </p:spPr>
        <p:txBody>
          <a:bodyPr wrap="square" lIns="0" rIns="0" tIns="0" bIns="0" anchor="t">
            <a:spAutoFit/>
          </a:bodyPr>
          <a:lstStyle/>
          <a:p>
            <a:pPr algn="l"/>
            <a:r>
              <a:rPr sz="1500" b="0" i="1">
                <a:solidFill>
                  <a:srgbClr val="6E655C"/>
                </a:solidFill>
                <a:latin typeface="Calibri"/>
              </a:rPr>
              <a:t>The reference implementation: build it, run it, ask it questions</a:t>
            </a:r>
          </a:p>
        </p:txBody>
      </p:sp>
      <p:sp>
        <p:nvSpPr>
          <p:cNvPr id="9" name="TextBox 8"/>
          <p:cNvSpPr txBox="1"/>
          <p:nvPr/>
        </p:nvSpPr>
        <p:spPr>
          <a:xfrm>
            <a:off x="548640" y="3840480"/>
            <a:ext cx="8046720" cy="274320"/>
          </a:xfrm>
          <a:prstGeom prst="rect">
            <a:avLst/>
          </a:prstGeom>
          <a:noFill/>
        </p:spPr>
        <p:txBody>
          <a:bodyPr wrap="square" lIns="0" rIns="0" tIns="0" bIns="0" anchor="t">
            <a:spAutoFit/>
          </a:bodyPr>
          <a:lstStyle/>
          <a:p>
            <a:pPr algn="l"/>
            <a:r>
              <a:rPr sz="1100" b="0" i="0">
                <a:solidFill>
                  <a:srgbClr val="6E655C"/>
                </a:solidFill>
                <a:latin typeface="Calibri"/>
              </a:rPr>
              <a:t>Python 3.14.6; every number is computed by the chapter library from saved data; no Bitcoin Core node was run.</a:t>
            </a:r>
          </a:p>
        </p:txBody>
      </p:sp>
      <p:sp>
        <p:nvSpPr>
          <p:cNvPr id="10" name="TextBox 9"/>
          <p:cNvSpPr txBox="1"/>
          <p:nvPr/>
        </p:nvSpPr>
        <p:spPr>
          <a:xfrm>
            <a:off x="548640" y="4224528"/>
            <a:ext cx="7315200" cy="411480"/>
          </a:xfrm>
          <a:prstGeom prst="rect">
            <a:avLst/>
          </a:prstGeom>
          <a:noFill/>
        </p:spPr>
        <p:txBody>
          <a:bodyPr wrap="square" lIns="0" rIns="0" tIns="0" bIns="0" anchor="t">
            <a:spAutoFit/>
          </a:bodyPr>
          <a:lstStyle/>
          <a:p>
            <a:pPr algn="l"/>
            <a:r>
              <a:rPr sz="1100" b="0" i="0">
                <a:solidFill>
                  <a:srgbClr val="6E655C"/>
                </a:solidFill>
                <a:latin typeface="Calibri"/>
              </a:rPr>
              <a:t>SEN0401 Special Topics in Software Engineering: Block Chain · Fall 2026 · Yusuf Altunel, PhD · İstanbul Kültür University</a:t>
            </a:r>
          </a:p>
        </p:txBody>
      </p:sp>
      <p:pic>
        <p:nvPicPr>
          <p:cNvPr id="11" name="Picture 10" descr="A bitcoin coin dissolving into lines of code"/>
          <p:cNvPicPr>
            <a:picLocks noChangeAspect="1"/>
          </p:cNvPicPr>
          <p:nvPr/>
        </p:nvPicPr>
        <p:blipFill>
          <a:blip r:embed="rId3"/>
          <a:stretch>
            <a:fillRect/>
          </a:stretch>
        </p:blipFill>
        <p:spPr>
          <a:xfrm>
            <a:off x="5352429" y="640080"/>
            <a:ext cx="3331180" cy="2203704"/>
          </a:xfrm>
          <a:prstGeom prst="rect">
            <a:avLst/>
          </a:prstGeom>
        </p:spPr>
      </p:pic>
      <p:sp>
        <p:nvSpPr>
          <p:cNvPr id="12" name="TextBox 11"/>
          <p:cNvSpPr txBox="1"/>
          <p:nvPr/>
        </p:nvSpPr>
        <p:spPr>
          <a:xfrm>
            <a:off x="5349240" y="2880360"/>
            <a:ext cx="3337560" cy="457200"/>
          </a:xfrm>
          <a:prstGeom prst="rect">
            <a:avLst/>
          </a:prstGeom>
          <a:noFill/>
        </p:spPr>
        <p:txBody>
          <a:bodyPr wrap="square" lIns="0" rIns="0" tIns="0" bIns="0" anchor="t">
            <a:spAutoFit/>
          </a:bodyPr>
          <a:lstStyle/>
          <a:p>
            <a:pPr algn="l"/>
            <a:r>
              <a:rPr sz="900" b="0" i="0">
                <a:solidFill>
                  <a:srgbClr val="6E655C"/>
                </a:solidFill>
                <a:latin typeface="Calibri"/>
              </a:rPr>
              <a:t>A coin that turns into code - from the course's 2025 deck</a:t>
            </a:r>
          </a:p>
        </p:txBody>
      </p:sp>
      <p:sp>
        <p:nvSpPr>
          <p:cNvPr id="13" name="TextBox 12"/>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 / 42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Today's route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Seven parts around one program; every range is a slide you can jump to</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Seven parts, three true stories, nineteen examples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 / 42</a:t>
            </a:r>
          </a:p>
        </p:txBody>
      </p:sp>
      <p:sp>
        <p:nvSpPr>
          <p:cNvPr id="8" name="Rounded Rectangle 7"/>
          <p:cNvSpPr/>
          <p:nvPr/>
        </p:nvSpPr>
        <p:spPr>
          <a:xfrm>
            <a:off x="457200" y="1280160"/>
            <a:ext cx="1828800" cy="96012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00" b="1" i="0">
                <a:solidFill>
                  <a:srgbClr val="2B2622"/>
                </a:solidFill>
                <a:latin typeface="Cambria"/>
              </a:rPr>
              <a:t>1. Questions and the chapter map</a:t>
            </a:r>
          </a:p>
          <a:p>
            <a:pPr algn="l"/>
            <a:r>
              <a:rPr sz="1050" b="0" i="0">
                <a:solidFill>
                  <a:srgbClr val="6E655C"/>
                </a:solidFill>
                <a:latin typeface="Calibri"/>
              </a:rPr>
              <a:t>(slides 3-4)</a:t>
            </a:r>
          </a:p>
        </p:txBody>
      </p:sp>
      <p:sp>
        <p:nvSpPr>
          <p:cNvPr id="9" name="Rounded Rectangle 8"/>
          <p:cNvSpPr/>
          <p:nvPr/>
        </p:nvSpPr>
        <p:spPr>
          <a:xfrm>
            <a:off x="2423160" y="1280160"/>
            <a:ext cx="1828800" cy="96012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00" b="1" i="0">
                <a:solidFill>
                  <a:srgbClr val="2B2622"/>
                </a:solidFill>
                <a:latin typeface="Cambria"/>
              </a:rPr>
              <a:t>2. From Bitcoin to Bitcoin Core</a:t>
            </a:r>
          </a:p>
          <a:p>
            <a:pPr algn="l"/>
            <a:r>
              <a:rPr sz="1050" b="0" i="0">
                <a:solidFill>
                  <a:srgbClr val="6E655C"/>
                </a:solidFill>
                <a:latin typeface="Calibri"/>
              </a:rPr>
              <a:t>(slides 5-8)</a:t>
            </a:r>
          </a:p>
        </p:txBody>
      </p:sp>
      <p:sp>
        <p:nvSpPr>
          <p:cNvPr id="10" name="Rounded Rectangle 9"/>
          <p:cNvSpPr/>
          <p:nvPr/>
        </p:nvSpPr>
        <p:spPr>
          <a:xfrm>
            <a:off x="4389120" y="1280160"/>
            <a:ext cx="1828800" cy="96012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00" b="1" i="0">
                <a:solidFill>
                  <a:srgbClr val="2B2622"/>
                </a:solidFill>
                <a:latin typeface="Cambria"/>
              </a:rPr>
              <a:t>3. Bitcoin Development Environment</a:t>
            </a:r>
          </a:p>
          <a:p>
            <a:pPr algn="l"/>
            <a:r>
              <a:rPr sz="1050" b="0" i="0">
                <a:solidFill>
                  <a:srgbClr val="6E655C"/>
                </a:solidFill>
                <a:latin typeface="Calibri"/>
              </a:rPr>
              <a:t>(slides 9-14)</a:t>
            </a:r>
          </a:p>
        </p:txBody>
      </p:sp>
      <p:sp>
        <p:nvSpPr>
          <p:cNvPr id="11" name="Rounded Rectangle 10"/>
          <p:cNvSpPr/>
          <p:nvPr/>
        </p:nvSpPr>
        <p:spPr>
          <a:xfrm>
            <a:off x="457200" y="2331720"/>
            <a:ext cx="1828800" cy="96012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00" b="1" i="0">
                <a:solidFill>
                  <a:srgbClr val="2B2622"/>
                </a:solidFill>
                <a:latin typeface="Cambria"/>
              </a:rPr>
              <a:t>4. Running a Bitcoin Core Node</a:t>
            </a:r>
          </a:p>
          <a:p>
            <a:pPr algn="l"/>
            <a:r>
              <a:rPr sz="1050" b="0" i="0">
                <a:solidFill>
                  <a:srgbClr val="6E655C"/>
                </a:solidFill>
                <a:latin typeface="Calibri"/>
              </a:rPr>
              <a:t>(slides 15-22)</a:t>
            </a:r>
          </a:p>
        </p:txBody>
      </p:sp>
      <p:sp>
        <p:nvSpPr>
          <p:cNvPr id="12" name="Rounded Rectangle 11"/>
          <p:cNvSpPr/>
          <p:nvPr/>
        </p:nvSpPr>
        <p:spPr>
          <a:xfrm>
            <a:off x="2423160" y="2331720"/>
            <a:ext cx="1828800" cy="96012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00" b="1" i="0">
                <a:solidFill>
                  <a:srgbClr val="2B2622"/>
                </a:solidFill>
                <a:latin typeface="Cambria"/>
              </a:rPr>
              <a:t>5. Bitcoin Core API</a:t>
            </a:r>
          </a:p>
          <a:p>
            <a:pPr algn="l"/>
            <a:r>
              <a:rPr sz="1050" b="0" i="0">
                <a:solidFill>
                  <a:srgbClr val="6E655C"/>
                </a:solidFill>
                <a:latin typeface="Calibri"/>
              </a:rPr>
              <a:t>(slides 23-27)</a:t>
            </a:r>
          </a:p>
        </p:txBody>
      </p:sp>
      <p:sp>
        <p:nvSpPr>
          <p:cNvPr id="13" name="Rounded Rectangle 12"/>
          <p:cNvSpPr/>
          <p:nvPr/>
        </p:nvSpPr>
        <p:spPr>
          <a:xfrm>
            <a:off x="4389120" y="2331720"/>
            <a:ext cx="1828800" cy="96012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00" b="1" i="0">
                <a:solidFill>
                  <a:srgbClr val="2B2622"/>
                </a:solidFill>
                <a:latin typeface="Cambria"/>
              </a:rPr>
              <a:t>6. Exploring and Decoding Transactions</a:t>
            </a:r>
          </a:p>
          <a:p>
            <a:pPr algn="l"/>
            <a:r>
              <a:rPr sz="1050" b="0" i="0">
                <a:solidFill>
                  <a:srgbClr val="6E655C"/>
                </a:solidFill>
                <a:latin typeface="Calibri"/>
              </a:rPr>
              <a:t>(slides 28-31)</a:t>
            </a:r>
          </a:p>
        </p:txBody>
      </p:sp>
      <p:sp>
        <p:nvSpPr>
          <p:cNvPr id="14" name="Rounded Rectangle 13"/>
          <p:cNvSpPr/>
          <p:nvPr/>
        </p:nvSpPr>
        <p:spPr>
          <a:xfrm>
            <a:off x="457200" y="3383279"/>
            <a:ext cx="1828800" cy="96012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00" b="1" i="0">
                <a:solidFill>
                  <a:srgbClr val="2B2622"/>
                </a:solidFill>
                <a:latin typeface="Cambria"/>
              </a:rPr>
              <a:t>7. Exploring Blocks</a:t>
            </a:r>
          </a:p>
          <a:p>
            <a:pPr algn="l"/>
            <a:r>
              <a:rPr sz="1050" b="0" i="0">
                <a:solidFill>
                  <a:srgbClr val="6E655C"/>
                </a:solidFill>
                <a:latin typeface="Calibri"/>
              </a:rPr>
              <a:t>(slides 32-36)</a:t>
            </a:r>
          </a:p>
        </p:txBody>
      </p:sp>
      <p:sp>
        <p:nvSpPr>
          <p:cNvPr id="15" name="Rounded Rectangle 14"/>
          <p:cNvSpPr/>
          <p:nvPr/>
        </p:nvSpPr>
        <p:spPr>
          <a:xfrm>
            <a:off x="2423160" y="3383279"/>
            <a:ext cx="1828800" cy="96012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00" b="1" i="0">
                <a:solidFill>
                  <a:srgbClr val="2B2622"/>
                </a:solidFill>
                <a:latin typeface="Cambria"/>
              </a:rPr>
              <a:t>8. Alternative Clients, Libraries, and Toolkits</a:t>
            </a:r>
          </a:p>
          <a:p>
            <a:pPr algn="l"/>
            <a:r>
              <a:rPr sz="1050" b="0" i="0">
                <a:solidFill>
                  <a:srgbClr val="6E655C"/>
                </a:solidFill>
                <a:latin typeface="Calibri"/>
              </a:rPr>
              <a:t>(slides 37-39)</a:t>
            </a:r>
          </a:p>
        </p:txBody>
      </p:sp>
      <p:sp>
        <p:nvSpPr>
          <p:cNvPr id="16" name="Rounded Rectangle 15"/>
          <p:cNvSpPr/>
          <p:nvPr/>
        </p:nvSpPr>
        <p:spPr>
          <a:xfrm>
            <a:off x="4389120" y="3383279"/>
            <a:ext cx="1828800" cy="96012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00" b="1" i="0">
                <a:solidFill>
                  <a:srgbClr val="2B2622"/>
                </a:solidFill>
                <a:latin typeface="Cambria"/>
              </a:rPr>
              <a:t>9. Summary, resources, closing</a:t>
            </a:r>
          </a:p>
          <a:p>
            <a:pPr algn="l"/>
            <a:r>
              <a:rPr sz="1050" b="0" i="0">
                <a:solidFill>
                  <a:srgbClr val="6E655C"/>
                </a:solidFill>
                <a:latin typeface="Calibri"/>
              </a:rPr>
              <a:t>(slides 40-42)</a:t>
            </a:r>
          </a:p>
        </p:txBody>
      </p:sp>
      <p:sp>
        <p:nvSpPr>
          <p:cNvPr id="17" name="Rounded Rectangle 16"/>
          <p:cNvSpPr/>
          <p:nvPr/>
        </p:nvSpPr>
        <p:spPr>
          <a:xfrm>
            <a:off x="6355080" y="1280160"/>
            <a:ext cx="2331720" cy="960120"/>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18" name="TextBox 17"/>
          <p:cNvSpPr txBox="1"/>
          <p:nvPr/>
        </p:nvSpPr>
        <p:spPr>
          <a:xfrm>
            <a:off x="6492240" y="1325880"/>
            <a:ext cx="2057400" cy="384048"/>
          </a:xfrm>
          <a:prstGeom prst="rect">
            <a:avLst/>
          </a:prstGeom>
          <a:noFill/>
        </p:spPr>
        <p:txBody>
          <a:bodyPr wrap="square" lIns="0" rIns="0" tIns="0" bIns="0" anchor="ctr">
            <a:spAutoFit/>
          </a:bodyPr>
          <a:lstStyle/>
          <a:p>
            <a:pPr algn="l"/>
            <a:r>
              <a:rPr sz="2200" b="0" i="0">
                <a:solidFill>
                  <a:srgbClr val="D97A14"/>
                </a:solidFill>
                <a:latin typeface="Cambria"/>
              </a:rPr>
              <a:t>42</a:t>
            </a:r>
          </a:p>
        </p:txBody>
      </p:sp>
      <p:sp>
        <p:nvSpPr>
          <p:cNvPr id="19" name="TextBox 18"/>
          <p:cNvSpPr txBox="1"/>
          <p:nvPr/>
        </p:nvSpPr>
        <p:spPr>
          <a:xfrm>
            <a:off x="6492240" y="1737360"/>
            <a:ext cx="2057400" cy="457200"/>
          </a:xfrm>
          <a:prstGeom prst="rect">
            <a:avLst/>
          </a:prstGeom>
          <a:noFill/>
        </p:spPr>
        <p:txBody>
          <a:bodyPr wrap="square" lIns="0" rIns="0" tIns="0" bIns="0" anchor="t">
            <a:spAutoFit/>
          </a:bodyPr>
          <a:lstStyle/>
          <a:p>
            <a:pPr algn="l"/>
            <a:r>
              <a:rPr sz="1050" b="0" i="0">
                <a:solidFill>
                  <a:srgbClr val="6E655C"/>
                </a:solidFill>
                <a:latin typeface="Calibri"/>
              </a:rPr>
              <a:t>slides, numbered bottom-right</a:t>
            </a:r>
          </a:p>
        </p:txBody>
      </p:sp>
      <p:sp>
        <p:nvSpPr>
          <p:cNvPr id="20" name="Rounded Rectangle 19"/>
          <p:cNvSpPr/>
          <p:nvPr/>
        </p:nvSpPr>
        <p:spPr>
          <a:xfrm>
            <a:off x="6355080" y="2331720"/>
            <a:ext cx="2331720" cy="960120"/>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21" name="TextBox 20"/>
          <p:cNvSpPr txBox="1"/>
          <p:nvPr/>
        </p:nvSpPr>
        <p:spPr>
          <a:xfrm>
            <a:off x="6492240" y="2377439"/>
            <a:ext cx="2057400" cy="384048"/>
          </a:xfrm>
          <a:prstGeom prst="rect">
            <a:avLst/>
          </a:prstGeom>
          <a:noFill/>
        </p:spPr>
        <p:txBody>
          <a:bodyPr wrap="square" lIns="0" rIns="0" tIns="0" bIns="0" anchor="ctr">
            <a:spAutoFit/>
          </a:bodyPr>
          <a:lstStyle/>
          <a:p>
            <a:pPr algn="l"/>
            <a:r>
              <a:rPr sz="2200" b="0" i="0">
                <a:solidFill>
                  <a:srgbClr val="D97A14"/>
                </a:solidFill>
                <a:latin typeface="Cambria"/>
              </a:rPr>
              <a:t>3</a:t>
            </a:r>
          </a:p>
        </p:txBody>
      </p:sp>
      <p:sp>
        <p:nvSpPr>
          <p:cNvPr id="22" name="TextBox 21"/>
          <p:cNvSpPr txBox="1"/>
          <p:nvPr/>
        </p:nvSpPr>
        <p:spPr>
          <a:xfrm>
            <a:off x="6492240" y="2788920"/>
            <a:ext cx="2057400" cy="457200"/>
          </a:xfrm>
          <a:prstGeom prst="rect">
            <a:avLst/>
          </a:prstGeom>
          <a:noFill/>
        </p:spPr>
        <p:txBody>
          <a:bodyPr wrap="square" lIns="0" rIns="0" tIns="0" bIns="0" anchor="t">
            <a:spAutoFit/>
          </a:bodyPr>
          <a:lstStyle/>
          <a:p>
            <a:pPr algn="l"/>
            <a:r>
              <a:rPr sz="1050" b="0" i="0">
                <a:solidFill>
                  <a:srgbClr val="6E655C"/>
                </a:solidFill>
                <a:latin typeface="Calibri"/>
              </a:rPr>
              <a:t>true stories, each told by 5N1K</a:t>
            </a:r>
          </a:p>
        </p:txBody>
      </p:sp>
      <p:sp>
        <p:nvSpPr>
          <p:cNvPr id="23" name="Rounded Rectangle 22"/>
          <p:cNvSpPr/>
          <p:nvPr/>
        </p:nvSpPr>
        <p:spPr>
          <a:xfrm>
            <a:off x="6355080" y="3383279"/>
            <a:ext cx="2331720" cy="960120"/>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24" name="TextBox 23"/>
          <p:cNvSpPr txBox="1"/>
          <p:nvPr/>
        </p:nvSpPr>
        <p:spPr>
          <a:xfrm>
            <a:off x="6492240" y="3428999"/>
            <a:ext cx="2057400" cy="384048"/>
          </a:xfrm>
          <a:prstGeom prst="rect">
            <a:avLst/>
          </a:prstGeom>
          <a:noFill/>
        </p:spPr>
        <p:txBody>
          <a:bodyPr wrap="square" lIns="0" rIns="0" tIns="0" bIns="0" anchor="ctr">
            <a:spAutoFit/>
          </a:bodyPr>
          <a:lstStyle/>
          <a:p>
            <a:pPr algn="l"/>
            <a:r>
              <a:rPr sz="2200" b="0" i="0">
                <a:solidFill>
                  <a:srgbClr val="D97A14"/>
                </a:solidFill>
                <a:latin typeface="Cambria"/>
              </a:rPr>
              <a:t>19</a:t>
            </a:r>
          </a:p>
        </p:txBody>
      </p:sp>
      <p:sp>
        <p:nvSpPr>
          <p:cNvPr id="25" name="TextBox 24"/>
          <p:cNvSpPr txBox="1"/>
          <p:nvPr/>
        </p:nvSpPr>
        <p:spPr>
          <a:xfrm>
            <a:off x="6492240" y="3840479"/>
            <a:ext cx="2057400" cy="457200"/>
          </a:xfrm>
          <a:prstGeom prst="rect">
            <a:avLst/>
          </a:prstGeom>
          <a:noFill/>
        </p:spPr>
        <p:txBody>
          <a:bodyPr wrap="square" lIns="0" rIns="0" tIns="0" bIns="0" anchor="t">
            <a:spAutoFit/>
          </a:bodyPr>
          <a:lstStyle/>
          <a:p>
            <a:pPr algn="l"/>
            <a:r>
              <a:rPr sz="1050" b="0" i="0">
                <a:solidFill>
                  <a:srgbClr val="6E655C"/>
                </a:solidFill>
                <a:latin typeface="Calibri"/>
              </a:rPr>
              <a:t>code examples, each with a picture of its result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The questions this chapter answers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has an answer on a slide; we return to them in the summary</a:t>
            </a:r>
          </a:p>
        </p:txBody>
      </p:sp>
      <p:sp>
        <p:nvSpPr>
          <p:cNvPr id="5" name="TextBox 4"/>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 / 42</a:t>
            </a:r>
          </a:p>
        </p:txBody>
      </p:sp>
      <p:sp>
        <p:nvSpPr>
          <p:cNvPr id="6" name="Oval 5"/>
          <p:cNvSpPr/>
          <p:nvPr/>
        </p:nvSpPr>
        <p:spPr>
          <a:xfrm>
            <a:off x="457200" y="1280160"/>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1</a:t>
            </a:r>
          </a:p>
        </p:txBody>
      </p:sp>
      <p:sp>
        <p:nvSpPr>
          <p:cNvPr id="7" name="TextBox 6"/>
          <p:cNvSpPr txBox="1"/>
          <p:nvPr/>
        </p:nvSpPr>
        <p:spPr>
          <a:xfrm>
            <a:off x="1024128" y="1280160"/>
            <a:ext cx="7662672" cy="402336"/>
          </a:xfrm>
          <a:prstGeom prst="rect">
            <a:avLst/>
          </a:prstGeom>
          <a:noFill/>
        </p:spPr>
        <p:txBody>
          <a:bodyPr wrap="square" lIns="0" rIns="0" tIns="0" bIns="0" anchor="ctr">
            <a:spAutoFit/>
          </a:bodyPr>
          <a:lstStyle/>
          <a:p>
            <a:pPr algn="l"/>
            <a:r>
              <a:rPr sz="1300" b="0" i="0">
                <a:solidFill>
                  <a:srgbClr val="2B2622"/>
                </a:solidFill>
                <a:latin typeface="Calibri"/>
              </a:rPr>
              <a:t>What makes Bitcoin Core the reference implementation of Bitcoin?</a:t>
            </a:r>
          </a:p>
        </p:txBody>
      </p:sp>
      <p:sp>
        <p:nvSpPr>
          <p:cNvPr id="8" name="Oval 7"/>
          <p:cNvSpPr/>
          <p:nvPr/>
        </p:nvSpPr>
        <p:spPr>
          <a:xfrm>
            <a:off x="457200" y="1810512"/>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2</a:t>
            </a:r>
          </a:p>
        </p:txBody>
      </p:sp>
      <p:sp>
        <p:nvSpPr>
          <p:cNvPr id="9" name="TextBox 8"/>
          <p:cNvSpPr txBox="1"/>
          <p:nvPr/>
        </p:nvSpPr>
        <p:spPr>
          <a:xfrm>
            <a:off x="1024128" y="1810512"/>
            <a:ext cx="7662672" cy="402336"/>
          </a:xfrm>
          <a:prstGeom prst="rect">
            <a:avLst/>
          </a:prstGeom>
          <a:noFill/>
        </p:spPr>
        <p:txBody>
          <a:bodyPr wrap="square" lIns="0" rIns="0" tIns="0" bIns="0" anchor="ctr">
            <a:spAutoFit/>
          </a:bodyPr>
          <a:lstStyle/>
          <a:p>
            <a:pPr algn="l"/>
            <a:r>
              <a:rPr sz="1300" b="0" i="0">
                <a:solidFill>
                  <a:srgbClr val="2B2622"/>
                </a:solidFill>
                <a:latin typeface="Calibri"/>
              </a:rPr>
              <a:t>How do I choose a release, check it and build it from source?</a:t>
            </a:r>
          </a:p>
        </p:txBody>
      </p:sp>
      <p:sp>
        <p:nvSpPr>
          <p:cNvPr id="10" name="Oval 9"/>
          <p:cNvSpPr/>
          <p:nvPr/>
        </p:nvSpPr>
        <p:spPr>
          <a:xfrm>
            <a:off x="457200" y="2340863"/>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3</a:t>
            </a:r>
          </a:p>
        </p:txBody>
      </p:sp>
      <p:sp>
        <p:nvSpPr>
          <p:cNvPr id="11" name="TextBox 10"/>
          <p:cNvSpPr txBox="1"/>
          <p:nvPr/>
        </p:nvSpPr>
        <p:spPr>
          <a:xfrm>
            <a:off x="1024128" y="2340863"/>
            <a:ext cx="7662672" cy="402336"/>
          </a:xfrm>
          <a:prstGeom prst="rect">
            <a:avLst/>
          </a:prstGeom>
          <a:noFill/>
        </p:spPr>
        <p:txBody>
          <a:bodyPr wrap="square" lIns="0" rIns="0" tIns="0" bIns="0" anchor="ctr">
            <a:spAutoFit/>
          </a:bodyPr>
          <a:lstStyle/>
          <a:p>
            <a:pPr algn="l"/>
            <a:r>
              <a:rPr sz="1300" b="0" i="0">
                <a:solidFill>
                  <a:srgbClr val="2B2622"/>
                </a:solidFill>
                <a:latin typeface="Calibri"/>
              </a:rPr>
              <a:t>Which settings decide what a node stores, remembers and trusts?</a:t>
            </a:r>
          </a:p>
        </p:txBody>
      </p:sp>
      <p:sp>
        <p:nvSpPr>
          <p:cNvPr id="12" name="Oval 11"/>
          <p:cNvSpPr/>
          <p:nvPr/>
        </p:nvSpPr>
        <p:spPr>
          <a:xfrm>
            <a:off x="457200" y="2871215"/>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4</a:t>
            </a:r>
          </a:p>
        </p:txBody>
      </p:sp>
      <p:sp>
        <p:nvSpPr>
          <p:cNvPr id="13" name="TextBox 12"/>
          <p:cNvSpPr txBox="1"/>
          <p:nvPr/>
        </p:nvSpPr>
        <p:spPr>
          <a:xfrm>
            <a:off x="1024128" y="2871215"/>
            <a:ext cx="7662672" cy="402336"/>
          </a:xfrm>
          <a:prstGeom prst="rect">
            <a:avLst/>
          </a:prstGeom>
          <a:noFill/>
        </p:spPr>
        <p:txBody>
          <a:bodyPr wrap="square" lIns="0" rIns="0" tIns="0" bIns="0" anchor="ctr">
            <a:spAutoFit/>
          </a:bodyPr>
          <a:lstStyle/>
          <a:p>
            <a:pPr algn="l"/>
            <a:r>
              <a:rPr sz="1300" b="0" i="0">
                <a:solidFill>
                  <a:srgbClr val="2B2622"/>
                </a:solidFill>
                <a:latin typeface="Calibri"/>
              </a:rPr>
              <a:t>How do I ask a running node questions, and who may ask?</a:t>
            </a:r>
          </a:p>
        </p:txBody>
      </p:sp>
      <p:sp>
        <p:nvSpPr>
          <p:cNvPr id="14" name="Oval 13"/>
          <p:cNvSpPr/>
          <p:nvPr/>
        </p:nvSpPr>
        <p:spPr>
          <a:xfrm>
            <a:off x="457200" y="3401568"/>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5</a:t>
            </a:r>
          </a:p>
        </p:txBody>
      </p:sp>
      <p:sp>
        <p:nvSpPr>
          <p:cNvPr id="15" name="TextBox 14"/>
          <p:cNvSpPr txBox="1"/>
          <p:nvPr/>
        </p:nvSpPr>
        <p:spPr>
          <a:xfrm>
            <a:off x="1024128" y="3401568"/>
            <a:ext cx="7662672" cy="402336"/>
          </a:xfrm>
          <a:prstGeom prst="rect">
            <a:avLst/>
          </a:prstGeom>
          <a:noFill/>
        </p:spPr>
        <p:txBody>
          <a:bodyPr wrap="square" lIns="0" rIns="0" tIns="0" bIns="0" anchor="ctr">
            <a:spAutoFit/>
          </a:bodyPr>
          <a:lstStyle/>
          <a:p>
            <a:pPr algn="l"/>
            <a:r>
              <a:rPr sz="1300" b="0" i="0">
                <a:solidFill>
                  <a:srgbClr val="2B2622"/>
                </a:solidFill>
                <a:latin typeface="Calibri"/>
              </a:rPr>
              <a:t>How do I decode a transaction and tell its txid from its weight?</a:t>
            </a:r>
          </a:p>
        </p:txBody>
      </p:sp>
      <p:sp>
        <p:nvSpPr>
          <p:cNvPr id="16" name="Oval 15"/>
          <p:cNvSpPr/>
          <p:nvPr/>
        </p:nvSpPr>
        <p:spPr>
          <a:xfrm>
            <a:off x="457200" y="3931920"/>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6</a:t>
            </a:r>
          </a:p>
        </p:txBody>
      </p:sp>
      <p:sp>
        <p:nvSpPr>
          <p:cNvPr id="17" name="TextBox 16"/>
          <p:cNvSpPr txBox="1"/>
          <p:nvPr/>
        </p:nvSpPr>
        <p:spPr>
          <a:xfrm>
            <a:off x="1024128" y="3931920"/>
            <a:ext cx="7662672" cy="402336"/>
          </a:xfrm>
          <a:prstGeom prst="rect">
            <a:avLst/>
          </a:prstGeom>
          <a:noFill/>
        </p:spPr>
        <p:txBody>
          <a:bodyPr wrap="square" lIns="0" rIns="0" tIns="0" bIns="0" anchor="ctr">
            <a:spAutoFit/>
          </a:bodyPr>
          <a:lstStyle/>
          <a:p>
            <a:pPr algn="l"/>
            <a:r>
              <a:rPr sz="1300" b="0" i="0">
                <a:solidFill>
                  <a:srgbClr val="2B2622"/>
                </a:solidFill>
                <a:latin typeface="Calibri"/>
              </a:rPr>
              <a:t>How can I check a block myself, and what else can talk to a node?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The chapter in one picture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One program, six steps; the parts of the deck follow them</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Six steps from the source code to the data of the chain</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 / 42</a:t>
            </a:r>
          </a:p>
        </p:txBody>
      </p:sp>
      <p:sp>
        <p:nvSpPr>
          <p:cNvPr id="8" name="Rounded Rectangle 7"/>
          <p:cNvSpPr/>
          <p:nvPr/>
        </p:nvSpPr>
        <p:spPr>
          <a:xfrm>
            <a:off x="457200" y="1554480"/>
            <a:ext cx="1261872"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1 Source</a:t>
            </a:r>
          </a:p>
        </p:txBody>
      </p:sp>
      <p:sp>
        <p:nvSpPr>
          <p:cNvPr id="9" name="TextBox 8"/>
          <p:cNvSpPr txBox="1"/>
          <p:nvPr/>
        </p:nvSpPr>
        <p:spPr>
          <a:xfrm>
            <a:off x="457200" y="2194560"/>
            <a:ext cx="1261872" cy="822960"/>
          </a:xfrm>
          <a:prstGeom prst="rect">
            <a:avLst/>
          </a:prstGeom>
          <a:noFill/>
        </p:spPr>
        <p:txBody>
          <a:bodyPr wrap="square" lIns="0" rIns="0" tIns="0" bIns="0" anchor="t">
            <a:spAutoFit/>
          </a:bodyPr>
          <a:lstStyle/>
          <a:p>
            <a:pPr algn="l"/>
            <a:r>
              <a:rPr sz="1100" b="0" i="0">
                <a:solidFill>
                  <a:srgbClr val="2B2622"/>
                </a:solidFill>
                <a:latin typeface="Calibri"/>
              </a:rPr>
              <a:t>Read the code; pick a release.</a:t>
            </a:r>
          </a:p>
        </p:txBody>
      </p:sp>
      <p:cxnSp>
        <p:nvCxnSpPr>
          <p:cNvPr id="10" name="Connector 9"/>
          <p:cNvCxnSpPr/>
          <p:nvPr/>
        </p:nvCxnSpPr>
        <p:spPr>
          <a:xfrm>
            <a:off x="1728216" y="1783080"/>
            <a:ext cx="113385"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850745" y="1554480"/>
            <a:ext cx="1261872"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2 Build</a:t>
            </a:r>
          </a:p>
        </p:txBody>
      </p:sp>
      <p:sp>
        <p:nvSpPr>
          <p:cNvPr id="12" name="TextBox 11"/>
          <p:cNvSpPr txBox="1"/>
          <p:nvPr/>
        </p:nvSpPr>
        <p:spPr>
          <a:xfrm>
            <a:off x="1850745" y="2194560"/>
            <a:ext cx="1261872" cy="822960"/>
          </a:xfrm>
          <a:prstGeom prst="rect">
            <a:avLst/>
          </a:prstGeom>
          <a:noFill/>
        </p:spPr>
        <p:txBody>
          <a:bodyPr wrap="square" lIns="0" rIns="0" tIns="0" bIns="0" anchor="t">
            <a:spAutoFit/>
          </a:bodyPr>
          <a:lstStyle/>
          <a:p>
            <a:pPr algn="l"/>
            <a:r>
              <a:rPr sz="1100" b="0" i="0">
                <a:solidFill>
                  <a:srgbClr val="2B2622"/>
                </a:solidFill>
                <a:latin typeface="Calibri"/>
              </a:rPr>
              <a:t>Compile it and check the files.</a:t>
            </a:r>
          </a:p>
        </p:txBody>
      </p:sp>
      <p:cxnSp>
        <p:nvCxnSpPr>
          <p:cNvPr id="13" name="Connector 12"/>
          <p:cNvCxnSpPr/>
          <p:nvPr/>
        </p:nvCxnSpPr>
        <p:spPr>
          <a:xfrm>
            <a:off x="3121761" y="1783080"/>
            <a:ext cx="113386"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244291" y="1554480"/>
            <a:ext cx="1261872"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3 Run</a:t>
            </a:r>
          </a:p>
        </p:txBody>
      </p:sp>
      <p:sp>
        <p:nvSpPr>
          <p:cNvPr id="15" name="TextBox 14"/>
          <p:cNvSpPr txBox="1"/>
          <p:nvPr/>
        </p:nvSpPr>
        <p:spPr>
          <a:xfrm>
            <a:off x="3244291" y="2194560"/>
            <a:ext cx="1261872" cy="822960"/>
          </a:xfrm>
          <a:prstGeom prst="rect">
            <a:avLst/>
          </a:prstGeom>
          <a:noFill/>
        </p:spPr>
        <p:txBody>
          <a:bodyPr wrap="square" lIns="0" rIns="0" tIns="0" bIns="0" anchor="t">
            <a:spAutoFit/>
          </a:bodyPr>
          <a:lstStyle/>
          <a:p>
            <a:pPr algn="l"/>
            <a:r>
              <a:rPr sz="1100" b="0" i="0">
                <a:solidFill>
                  <a:srgbClr val="2B2622"/>
                </a:solidFill>
                <a:latin typeface="Calibri"/>
              </a:rPr>
              <a:t>Start the node and set it up.</a:t>
            </a:r>
          </a:p>
        </p:txBody>
      </p:sp>
      <p:cxnSp>
        <p:nvCxnSpPr>
          <p:cNvPr id="16" name="Connector 15"/>
          <p:cNvCxnSpPr/>
          <p:nvPr/>
        </p:nvCxnSpPr>
        <p:spPr>
          <a:xfrm>
            <a:off x="4515307" y="1783080"/>
            <a:ext cx="113385"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637836" y="1554480"/>
            <a:ext cx="1261872"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4 Ask</a:t>
            </a:r>
          </a:p>
        </p:txBody>
      </p:sp>
      <p:sp>
        <p:nvSpPr>
          <p:cNvPr id="18" name="TextBox 17"/>
          <p:cNvSpPr txBox="1"/>
          <p:nvPr/>
        </p:nvSpPr>
        <p:spPr>
          <a:xfrm>
            <a:off x="4637836" y="2194560"/>
            <a:ext cx="1261872" cy="822960"/>
          </a:xfrm>
          <a:prstGeom prst="rect">
            <a:avLst/>
          </a:prstGeom>
          <a:noFill/>
        </p:spPr>
        <p:txBody>
          <a:bodyPr wrap="square" lIns="0" rIns="0" tIns="0" bIns="0" anchor="t">
            <a:spAutoFit/>
          </a:bodyPr>
          <a:lstStyle/>
          <a:p>
            <a:pPr algn="l"/>
            <a:r>
              <a:rPr sz="1100" b="0" i="0">
                <a:solidFill>
                  <a:srgbClr val="2B2622"/>
                </a:solidFill>
                <a:latin typeface="Calibri"/>
              </a:rPr>
              <a:t>Call its interface with JSON-RPC.</a:t>
            </a:r>
          </a:p>
        </p:txBody>
      </p:sp>
      <p:cxnSp>
        <p:nvCxnSpPr>
          <p:cNvPr id="19" name="Connector 18"/>
          <p:cNvCxnSpPr/>
          <p:nvPr/>
        </p:nvCxnSpPr>
        <p:spPr>
          <a:xfrm>
            <a:off x="5908852" y="1783080"/>
            <a:ext cx="113386"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031382" y="1554480"/>
            <a:ext cx="1261872"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5 Read</a:t>
            </a:r>
          </a:p>
        </p:txBody>
      </p:sp>
      <p:sp>
        <p:nvSpPr>
          <p:cNvPr id="21" name="TextBox 20"/>
          <p:cNvSpPr txBox="1"/>
          <p:nvPr/>
        </p:nvSpPr>
        <p:spPr>
          <a:xfrm>
            <a:off x="6031382" y="2194560"/>
            <a:ext cx="1261872" cy="822960"/>
          </a:xfrm>
          <a:prstGeom prst="rect">
            <a:avLst/>
          </a:prstGeom>
          <a:noFill/>
        </p:spPr>
        <p:txBody>
          <a:bodyPr wrap="square" lIns="0" rIns="0" tIns="0" bIns="0" anchor="t">
            <a:spAutoFit/>
          </a:bodyPr>
          <a:lstStyle/>
          <a:p>
            <a:pPr algn="l"/>
            <a:r>
              <a:rPr sz="1100" b="0" i="0">
                <a:solidFill>
                  <a:srgbClr val="2B2622"/>
                </a:solidFill>
                <a:latin typeface="Calibri"/>
              </a:rPr>
              <a:t>Decode transactions and blocks.</a:t>
            </a:r>
          </a:p>
        </p:txBody>
      </p:sp>
      <p:cxnSp>
        <p:nvCxnSpPr>
          <p:cNvPr id="22" name="Connector 21"/>
          <p:cNvCxnSpPr/>
          <p:nvPr/>
        </p:nvCxnSpPr>
        <p:spPr>
          <a:xfrm>
            <a:off x="7302398" y="1783080"/>
            <a:ext cx="113385"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424927" y="1554480"/>
            <a:ext cx="1261872" cy="457200"/>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6 Extend</a:t>
            </a:r>
          </a:p>
        </p:txBody>
      </p:sp>
      <p:sp>
        <p:nvSpPr>
          <p:cNvPr id="24" name="TextBox 23"/>
          <p:cNvSpPr txBox="1"/>
          <p:nvPr/>
        </p:nvSpPr>
        <p:spPr>
          <a:xfrm>
            <a:off x="7424927" y="2194560"/>
            <a:ext cx="1261872" cy="822960"/>
          </a:xfrm>
          <a:prstGeom prst="rect">
            <a:avLst/>
          </a:prstGeom>
          <a:noFill/>
        </p:spPr>
        <p:txBody>
          <a:bodyPr wrap="square" lIns="0" rIns="0" tIns="0" bIns="0" anchor="t">
            <a:spAutoFit/>
          </a:bodyPr>
          <a:lstStyle/>
          <a:p>
            <a:pPr algn="l"/>
            <a:r>
              <a:rPr sz="1100" b="0" i="0">
                <a:solidFill>
                  <a:srgbClr val="2B2622"/>
                </a:solidFill>
                <a:latin typeface="Calibri"/>
              </a:rPr>
              <a:t>Libraries and other clients.</a:t>
            </a:r>
          </a:p>
        </p:txBody>
      </p:sp>
      <p:sp>
        <p:nvSpPr>
          <p:cNvPr id="25" name="Rounded Rectangle 24"/>
          <p:cNvSpPr/>
          <p:nvPr/>
        </p:nvSpPr>
        <p:spPr>
          <a:xfrm>
            <a:off x="457200" y="3291840"/>
            <a:ext cx="8229600" cy="82296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r>
              <a:rPr sz="1400" b="0" i="0">
                <a:solidFill>
                  <a:srgbClr val="6E655C"/>
                </a:solidFill>
                <a:latin typeface="Calibri"/>
              </a:rPr>
              <a:t>Nineteen code examples run along this path. Each prints its result under the listing and shows it as a picture beside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From Bitcoin to Bitcoin Core</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Bitcoin Core: The Reference Implementation</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reference implementation</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The program against which other programs are measured.</a:t>
            </a:r>
          </a:p>
        </p:txBody>
      </p:sp>
      <p:sp>
        <p:nvSpPr>
          <p:cNvPr id="6" name="TextBox 5"/>
          <p:cNvSpPr txBox="1"/>
          <p:nvPr/>
        </p:nvSpPr>
        <p:spPr>
          <a:xfrm>
            <a:off x="5486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the standard metre bar that every ruler was checked against.</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full verification node</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node that downloads every block and checks every rule itself.</a:t>
            </a:r>
          </a:p>
        </p:txBody>
      </p:sp>
      <p:sp>
        <p:nvSpPr>
          <p:cNvPr id="9" name="TextBox 8"/>
          <p:cNvSpPr txBox="1"/>
          <p:nvPr/>
        </p:nvSpPr>
        <p:spPr>
          <a:xfrm>
            <a:off x="32918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an auditor who recounts every receipt instead of trusting a summary.</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Bitcoin Improvement Proposal</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numbered public document that proposes a change to Bitcoin.</a:t>
            </a:r>
          </a:p>
        </p:txBody>
      </p:sp>
      <p:sp>
        <p:nvSpPr>
          <p:cNvPr id="12" name="TextBox 11"/>
          <p:cNvSpPr txBox="1"/>
          <p:nvPr/>
        </p:nvSpPr>
        <p:spPr>
          <a:xfrm>
            <a:off x="60350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a numbered bylaw proposed in a club's rulebook.</a:t>
            </a:r>
          </a:p>
        </p:txBody>
      </p:sp>
      <p:graphicFrame>
        <p:nvGraphicFramePr>
          <p:cNvPr id="13" name="Table 12"/>
          <p:cNvGraphicFramePr>
            <a:graphicFrameLocks noGrp="1"/>
          </p:cNvGraphicFramePr>
          <p:nvPr/>
        </p:nvGraphicFramePr>
        <p:xfrm>
          <a:off x="548640" y="4023360"/>
          <a:ext cx="8046717" cy="365760"/>
        </p:xfrm>
        <a:graphic>
          <a:graphicData uri="http://schemas.openxmlformats.org/drawingml/2006/table">
            <a:tbl>
              <a:tblPr firstRow="1" bandRow="1">
                <a:tableStyleId>{5C22544A-7EE6-4342-B048-85BDC9FD1C3A}</a:tableStyleId>
              </a:tblPr>
              <a:tblGrid>
                <a:gridCol w="1149531"/>
                <a:gridCol w="1149531"/>
                <a:gridCol w="1149531"/>
                <a:gridCol w="1149531"/>
                <a:gridCol w="1149531"/>
                <a:gridCol w="1149531"/>
                <a:gridCol w="1149531"/>
              </a:tblGrid>
              <a:tr h="365760">
                <a:tc>
                  <a:txBody>
                    <a:bodyPr/>
                    <a:lstStyle/>
                    <a:p>
                      <a:pPr algn="ctr"/>
                      <a:r>
                        <a:rPr sz="1000" b="1">
                          <a:solidFill>
                            <a:srgbClr val="FFFFFF"/>
                          </a:solidFill>
                          <a:latin typeface="Calibri"/>
                        </a:rPr>
                        <a:t>Core</a:t>
                      </a:r>
                    </a:p>
                  </a:txBody>
                  <a:tcPr marL="54864" marR="54864" marT="27432" marB="27432" anchor="ctr">
                    <a:solidFill>
                      <a:srgbClr val="D97A14"/>
                    </a:solidFill>
                  </a:tcPr>
                </a:tc>
                <a:tc>
                  <a:txBody>
                    <a:bodyPr/>
                    <a:lstStyle/>
                    <a:p>
                      <a:pPr algn="ctr"/>
                      <a:r>
                        <a:rPr sz="1000" b="0">
                          <a:solidFill>
                            <a:srgbClr val="6E655C"/>
                          </a:solidFill>
                          <a:latin typeface="Calibri"/>
                        </a:rPr>
                        <a:t>Source</a:t>
                      </a:r>
                    </a:p>
                  </a:txBody>
                  <a:tcPr marL="54864" marR="54864" marT="27432" marB="27432" anchor="ctr">
                    <a:solidFill>
                      <a:srgbClr val="F2ECE1"/>
                    </a:solidFill>
                  </a:tcPr>
                </a:tc>
                <a:tc>
                  <a:txBody>
                    <a:bodyPr/>
                    <a:lstStyle/>
                    <a:p>
                      <a:pPr algn="ctr"/>
                      <a:r>
                        <a:rPr sz="1000" b="0">
                          <a:solidFill>
                            <a:srgbClr val="6E655C"/>
                          </a:solidFill>
                          <a:latin typeface="Calibri"/>
                        </a:rPr>
                        <a:t>Node</a:t>
                      </a:r>
                    </a:p>
                  </a:txBody>
                  <a:tcPr marL="54864" marR="54864" marT="27432" marB="27432" anchor="ctr">
                    <a:solidFill>
                      <a:srgbClr val="F2ECE1"/>
                    </a:solidFill>
                  </a:tcPr>
                </a:tc>
                <a:tc>
                  <a:txBody>
                    <a:bodyPr/>
                    <a:lstStyle/>
                    <a:p>
                      <a:pPr algn="ctr"/>
                      <a:r>
                        <a:rPr sz="1000" b="0">
                          <a:solidFill>
                            <a:srgbClr val="6E655C"/>
                          </a:solidFill>
                          <a:latin typeface="Calibri"/>
                        </a:rPr>
                        <a:t>API</a:t>
                      </a:r>
                    </a:p>
                  </a:txBody>
                  <a:tcPr marL="54864" marR="54864" marT="27432" marB="27432" anchor="ctr">
                    <a:solidFill>
                      <a:srgbClr val="F2ECE1"/>
                    </a:solidFill>
                  </a:tcPr>
                </a:tc>
                <a:tc>
                  <a:txBody>
                    <a:bodyPr/>
                    <a:lstStyle/>
                    <a:p>
                      <a:pPr algn="ctr"/>
                      <a:r>
                        <a:rPr sz="1000" b="0">
                          <a:solidFill>
                            <a:srgbClr val="6E655C"/>
                          </a:solidFill>
                          <a:latin typeface="Calibri"/>
                        </a:rPr>
                        <a:t>Transactions</a:t>
                      </a:r>
                    </a:p>
                  </a:txBody>
                  <a:tcPr marL="54864" marR="54864" marT="27432" marB="27432" anchor="ctr">
                    <a:solidFill>
                      <a:srgbClr val="F2ECE1"/>
                    </a:solidFill>
                  </a:tcPr>
                </a:tc>
                <a:tc>
                  <a:txBody>
                    <a:bodyPr/>
                    <a:lstStyle/>
                    <a:p>
                      <a:pPr algn="ctr"/>
                      <a:r>
                        <a:rPr sz="1000" b="0">
                          <a:solidFill>
                            <a:srgbClr val="6E655C"/>
                          </a:solidFill>
                          <a:latin typeface="Calibri"/>
                        </a:rPr>
                        <a:t>Blocks</a:t>
                      </a:r>
                    </a:p>
                  </a:txBody>
                  <a:tcPr marL="54864" marR="54864" marT="27432" marB="27432" anchor="ctr">
                    <a:solidFill>
                      <a:srgbClr val="F2ECE1"/>
                    </a:solidFill>
                  </a:tcPr>
                </a:tc>
                <a:tc>
                  <a:txBody>
                    <a:bodyPr/>
                    <a:lstStyle/>
                    <a:p>
                      <a:pPr algn="ctr"/>
                      <a:r>
                        <a:rPr sz="1000" b="0">
                          <a:solidFill>
                            <a:srgbClr val="6E655C"/>
                          </a:solidFill>
                          <a:latin typeface="Calibri"/>
                        </a:rPr>
                        <a:t>Toolkits</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5 / 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Version 0.1, set in stone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8 January 2009 · the first release of Bitcoin</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The program came first: the reference implementation defines the rules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6 / 42</a:t>
            </a:r>
          </a:p>
        </p:txBody>
      </p:sp>
      <p:pic>
        <p:nvPicPr>
          <p:cNvPr id="8" name="Picture 7" descr="Bronze bust of Satoshi Nakamoto in Budapest"/>
          <p:cNvPicPr>
            <a:picLocks noChangeAspect="1"/>
          </p:cNvPicPr>
          <p:nvPr/>
        </p:nvPicPr>
        <p:blipFill>
          <a:blip r:embed="rId3"/>
          <a:srcRect t="11629" b="27133"/>
          <a:stretch>
            <a:fillRect/>
          </a:stretch>
        </p:blipFill>
        <p:spPr>
          <a:xfrm>
            <a:off x="457200" y="1234440"/>
            <a:ext cx="2743200" cy="2240280"/>
          </a:xfrm>
          <a:prstGeom prst="rect">
            <a:avLst/>
          </a:prstGeom>
        </p:spPr>
      </p:pic>
      <p:sp>
        <p:nvSpPr>
          <p:cNvPr id="9" name="TextBox 8"/>
          <p:cNvSpPr txBox="1"/>
          <p:nvPr/>
        </p:nvSpPr>
        <p:spPr>
          <a:xfrm>
            <a:off x="457200" y="3547872"/>
            <a:ext cx="2743200" cy="566928"/>
          </a:xfrm>
          <a:prstGeom prst="rect">
            <a:avLst/>
          </a:prstGeom>
          <a:noFill/>
        </p:spPr>
        <p:txBody>
          <a:bodyPr wrap="square" lIns="0" rIns="0" tIns="0" bIns="0" anchor="t">
            <a:spAutoFit/>
          </a:bodyPr>
          <a:lstStyle/>
          <a:p>
            <a:pPr algn="l"/>
            <a:r>
              <a:rPr sz="850" b="0" i="0">
                <a:solidFill>
                  <a:srgbClr val="6E655C"/>
                </a:solidFill>
                <a:latin typeface="Calibri"/>
              </a:rPr>
              <a:t>Picture: Satoshi bust, Budapest - Fekist, CC BY-SA 4.0, Wikimedia Commons</a:t>
            </a:r>
          </a:p>
        </p:txBody>
      </p:sp>
      <p:sp>
        <p:nvSpPr>
          <p:cNvPr id="10" name="TextBox 9"/>
          <p:cNvSpPr txBox="1"/>
          <p:nvPr/>
        </p:nvSpPr>
        <p:spPr>
          <a:xfrm>
            <a:off x="3429000" y="1216152"/>
            <a:ext cx="5257800" cy="438912"/>
          </a:xfrm>
          <a:prstGeom prst="rect">
            <a:avLst/>
          </a:prstGeom>
          <a:noFill/>
        </p:spPr>
        <p:txBody>
          <a:bodyPr wrap="square" lIns="0" rIns="0" tIns="0" bIns="0" anchor="t">
            <a:spAutoFit/>
          </a:bodyPr>
          <a:lstStyle/>
          <a:p>
            <a:pPr algn="l"/>
            <a:r>
              <a:rPr sz="1050" b="1" i="0">
                <a:solidFill>
                  <a:srgbClr val="D97A14"/>
                </a:solidFill>
                <a:latin typeface="Calibri"/>
              </a:rPr>
              <a:t>WHO </a:t>
            </a:r>
            <a:r>
              <a:rPr sz="1050" b="0" i="0">
                <a:solidFill>
                  <a:srgbClr val="2B2622"/>
                </a:solidFill>
                <a:latin typeface="Calibri"/>
              </a:rPr>
              <a:t>Satoshi Nakamoto, the pseudonymous author of the white paper and of the first program.</a:t>
            </a:r>
          </a:p>
        </p:txBody>
      </p:sp>
      <p:sp>
        <p:nvSpPr>
          <p:cNvPr id="11" name="TextBox 10"/>
          <p:cNvSpPr txBox="1"/>
          <p:nvPr/>
        </p:nvSpPr>
        <p:spPr>
          <a:xfrm>
            <a:off x="3429000" y="1691640"/>
            <a:ext cx="5257800" cy="438912"/>
          </a:xfrm>
          <a:prstGeom prst="rect">
            <a:avLst/>
          </a:prstGeom>
          <a:noFill/>
        </p:spPr>
        <p:txBody>
          <a:bodyPr wrap="square" lIns="0" rIns="0" tIns="0" bIns="0" anchor="t">
            <a:spAutoFit/>
          </a:bodyPr>
          <a:lstStyle/>
          <a:p>
            <a:pPr algn="l"/>
            <a:r>
              <a:rPr sz="1050" b="1" i="0">
                <a:solidFill>
                  <a:srgbClr val="D97A14"/>
                </a:solidFill>
                <a:latin typeface="Calibri"/>
              </a:rPr>
              <a:t>WHAT </a:t>
            </a:r>
            <a:r>
              <a:rPr sz="1050" b="0" i="0">
                <a:solidFill>
                  <a:srgbClr val="2B2622"/>
                </a:solidFill>
                <a:latin typeface="Calibri"/>
              </a:rPr>
              <a:t>Version 0.1 of Bitcoin, a Windows program that anyone could download and run.</a:t>
            </a:r>
          </a:p>
        </p:txBody>
      </p:sp>
      <p:sp>
        <p:nvSpPr>
          <p:cNvPr id="12" name="TextBox 11"/>
          <p:cNvSpPr txBox="1"/>
          <p:nvPr/>
        </p:nvSpPr>
        <p:spPr>
          <a:xfrm>
            <a:off x="3429000" y="2167128"/>
            <a:ext cx="5257800" cy="438912"/>
          </a:xfrm>
          <a:prstGeom prst="rect">
            <a:avLst/>
          </a:prstGeom>
          <a:noFill/>
        </p:spPr>
        <p:txBody>
          <a:bodyPr wrap="square" lIns="0" rIns="0" tIns="0" bIns="0" anchor="t">
            <a:spAutoFit/>
          </a:bodyPr>
          <a:lstStyle/>
          <a:p>
            <a:pPr algn="l"/>
            <a:r>
              <a:rPr sz="1050" b="1" i="0">
                <a:solidFill>
                  <a:srgbClr val="D97A14"/>
                </a:solidFill>
                <a:latin typeface="Calibri"/>
              </a:rPr>
              <a:t>WHEN </a:t>
            </a:r>
            <a:r>
              <a:rPr sz="1050" b="0" i="0">
                <a:solidFill>
                  <a:srgbClr val="2B2622"/>
                </a:solidFill>
                <a:latin typeface="Calibri"/>
              </a:rPr>
              <a:t>2009-01-08</a:t>
            </a:r>
            <a:r>
              <a:rPr sz="1050" b="0" i="0">
                <a:solidFill>
                  <a:srgbClr val="2B2622"/>
                </a:solidFill>
                <a:latin typeface="Calibri"/>
              </a:rPr>
              <a:t> (8 January 2009)</a:t>
            </a:r>
          </a:p>
        </p:txBody>
      </p:sp>
      <p:sp>
        <p:nvSpPr>
          <p:cNvPr id="13" name="TextBox 12"/>
          <p:cNvSpPr txBox="1"/>
          <p:nvPr/>
        </p:nvSpPr>
        <p:spPr>
          <a:xfrm>
            <a:off x="3429000" y="2642616"/>
            <a:ext cx="5257800" cy="438912"/>
          </a:xfrm>
          <a:prstGeom prst="rect">
            <a:avLst/>
          </a:prstGeom>
          <a:noFill/>
        </p:spPr>
        <p:txBody>
          <a:bodyPr wrap="square" lIns="0" rIns="0" tIns="0" bIns="0" anchor="t">
            <a:spAutoFit/>
          </a:bodyPr>
          <a:lstStyle/>
          <a:p>
            <a:pPr algn="l"/>
            <a:r>
              <a:rPr sz="1050" b="1" i="0">
                <a:solidFill>
                  <a:srgbClr val="D97A14"/>
                </a:solidFill>
                <a:latin typeface="Calibri"/>
              </a:rPr>
              <a:t>WHERE </a:t>
            </a:r>
            <a:r>
              <a:rPr sz="1050" b="0" i="0">
                <a:solidFill>
                  <a:srgbClr val="2B2622"/>
                </a:solidFill>
                <a:latin typeface="Calibri"/>
              </a:rPr>
              <a:t>Announced on the metzdowd.com cryptography mailing list; the download sat on SourceForge.</a:t>
            </a:r>
          </a:p>
        </p:txBody>
      </p:sp>
      <p:sp>
        <p:nvSpPr>
          <p:cNvPr id="14" name="TextBox 13"/>
          <p:cNvSpPr txBox="1"/>
          <p:nvPr/>
        </p:nvSpPr>
        <p:spPr>
          <a:xfrm>
            <a:off x="3429000" y="3118104"/>
            <a:ext cx="5257800" cy="438912"/>
          </a:xfrm>
          <a:prstGeom prst="rect">
            <a:avLst/>
          </a:prstGeom>
          <a:noFill/>
        </p:spPr>
        <p:txBody>
          <a:bodyPr wrap="square" lIns="0" rIns="0" tIns="0" bIns="0" anchor="t">
            <a:spAutoFit/>
          </a:bodyPr>
          <a:lstStyle/>
          <a:p>
            <a:pPr algn="l"/>
            <a:r>
              <a:rPr sz="1050" b="1" i="0">
                <a:solidFill>
                  <a:srgbClr val="D97A14"/>
                </a:solidFill>
                <a:latin typeface="Calibri"/>
              </a:rPr>
              <a:t>WHY </a:t>
            </a:r>
            <a:r>
              <a:rPr sz="1050" b="0" i="0">
                <a:solidFill>
                  <a:srgbClr val="2B2622"/>
                </a:solidFill>
                <a:latin typeface="Calibri"/>
              </a:rPr>
              <a:t>Only running software could start the network. Later he wrote that, once 0.1 was out, the core design was set in stone.</a:t>
            </a:r>
          </a:p>
        </p:txBody>
      </p:sp>
      <p:sp>
        <p:nvSpPr>
          <p:cNvPr id="15" name="TextBox 14"/>
          <p:cNvSpPr txBox="1"/>
          <p:nvPr/>
        </p:nvSpPr>
        <p:spPr>
          <a:xfrm>
            <a:off x="3429000" y="3593592"/>
            <a:ext cx="5257800" cy="438912"/>
          </a:xfrm>
          <a:prstGeom prst="rect">
            <a:avLst/>
          </a:prstGeom>
          <a:noFill/>
        </p:spPr>
        <p:txBody>
          <a:bodyPr wrap="square" lIns="0" rIns="0" tIns="0" bIns="0" anchor="t">
            <a:spAutoFit/>
          </a:bodyPr>
          <a:lstStyle/>
          <a:p>
            <a:pPr algn="l"/>
            <a:r>
              <a:rPr sz="1050" b="1" i="0">
                <a:solidFill>
                  <a:srgbClr val="D97A14"/>
                </a:solidFill>
                <a:latin typeface="Calibri"/>
              </a:rPr>
              <a:t>HOW </a:t>
            </a:r>
            <a:r>
              <a:rPr sz="1050" b="0" i="0">
                <a:solidFill>
                  <a:srgbClr val="2B2622"/>
                </a:solidFill>
                <a:latin typeface="Calibri"/>
              </a:rPr>
              <a:t>A short post with the download link, five days after the first block had been mined.</a:t>
            </a:r>
          </a:p>
        </p:txBody>
      </p:sp>
      <p:sp>
        <p:nvSpPr>
          <p:cNvPr id="16" name="TextBox 15"/>
          <p:cNvSpPr txBox="1"/>
          <p:nvPr/>
        </p:nvSpPr>
        <p:spPr>
          <a:xfrm>
            <a:off x="3429000" y="4114800"/>
            <a:ext cx="5257800" cy="274320"/>
          </a:xfrm>
          <a:prstGeom prst="rect">
            <a:avLst/>
          </a:prstGeom>
          <a:noFill/>
        </p:spPr>
        <p:txBody>
          <a:bodyPr wrap="square" lIns="0" rIns="0" tIns="0" bIns="0" anchor="t">
            <a:spAutoFit/>
          </a:bodyPr>
          <a:lstStyle/>
          <a:p>
            <a:pPr algn="l"/>
            <a:r>
              <a:rPr sz="1050" b="1" i="0">
                <a:solidFill>
                  <a:srgbClr val="D97A14"/>
                </a:solidFill>
                <a:latin typeface="Calibri"/>
              </a:rPr>
              <a:t>READ </a:t>
            </a:r>
            <a:r>
              <a:rPr sz="1050" b="0" i="0" u="sng">
                <a:solidFill>
                  <a:srgbClr val="2F6D62"/>
                </a:solidFill>
                <a:latin typeface="Calibri"/>
                <a:hlinkClick r:id="rId4"/>
              </a:rPr>
              <a:t>Satoshi: Bitcoin v0.1 released (list post)</a:t>
            </a:r>
            <a:r>
              <a:rPr sz="1050" b="0" i="0">
                <a:solidFill>
                  <a:srgbClr val="6E655C"/>
                </a:solidFill>
                <a:latin typeface="Calibri"/>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Inside the program</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parts of Bitcoin Core, from the course textbook</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One program: it listens, checks, stores and answers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7 / 42</a:t>
            </a:r>
          </a:p>
        </p:txBody>
      </p:sp>
      <p:pic>
        <p:nvPicPr>
          <p:cNvPr id="8" name="Picture 7" descr="Diagram of Bitcoin Core: peer discovery, connection manager, mempool, validation engine, storage engine, wallet and RPC"/>
          <p:cNvPicPr>
            <a:picLocks noChangeAspect="1"/>
          </p:cNvPicPr>
          <p:nvPr/>
        </p:nvPicPr>
        <p:blipFill>
          <a:blip r:embed="rId3"/>
          <a:stretch>
            <a:fillRect/>
          </a:stretch>
        </p:blipFill>
        <p:spPr>
          <a:xfrm>
            <a:off x="459478" y="1234440"/>
            <a:ext cx="3287282" cy="3081528"/>
          </a:xfrm>
          <a:prstGeom prst="rect">
            <a:avLst/>
          </a:prstGeom>
        </p:spPr>
      </p:pic>
      <p:sp>
        <p:nvSpPr>
          <p:cNvPr id="9" name="TextBox 8"/>
          <p:cNvSpPr txBox="1"/>
          <p:nvPr/>
        </p:nvSpPr>
        <p:spPr>
          <a:xfrm>
            <a:off x="457200" y="4315968"/>
            <a:ext cx="3291840" cy="274320"/>
          </a:xfrm>
          <a:prstGeom prst="rect">
            <a:avLst/>
          </a:prstGeom>
          <a:noFill/>
        </p:spPr>
        <p:txBody>
          <a:bodyPr wrap="square" lIns="0" rIns="0" tIns="0" bIns="0" anchor="t">
            <a:spAutoFit/>
          </a:bodyPr>
          <a:lstStyle/>
          <a:p>
            <a:pPr algn="l"/>
            <a:r>
              <a:rPr sz="800" b="0" i="0">
                <a:solidFill>
                  <a:srgbClr val="6E655C"/>
                </a:solidFill>
                <a:latin typeface="Calibri"/>
              </a:rPr>
              <a:t>Antonopoulos and Harding, Mastering Bitcoin 3e, CC BY-SA 4.0</a:t>
            </a:r>
          </a:p>
        </p:txBody>
      </p:sp>
      <p:sp>
        <p:nvSpPr>
          <p:cNvPr id="10" name="Rounded Rectangle 9"/>
          <p:cNvSpPr/>
          <p:nvPr/>
        </p:nvSpPr>
        <p:spPr>
          <a:xfrm>
            <a:off x="4023360" y="1280160"/>
            <a:ext cx="4663440" cy="73152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Connection manager</a:t>
            </a:r>
          </a:p>
          <a:p>
            <a:pPr algn="l"/>
            <a:r>
              <a:rPr sz="1100" b="0" i="0">
                <a:solidFill>
                  <a:srgbClr val="2B2622"/>
                </a:solidFill>
                <a:latin typeface="Calibri"/>
              </a:rPr>
              <a:t>Talks to the peers and passes on blocks and transactions.</a:t>
            </a:r>
          </a:p>
        </p:txBody>
      </p:sp>
      <p:sp>
        <p:nvSpPr>
          <p:cNvPr id="11" name="Rounded Rectangle 10"/>
          <p:cNvSpPr/>
          <p:nvPr/>
        </p:nvSpPr>
        <p:spPr>
          <a:xfrm>
            <a:off x="4023360" y="2103120"/>
            <a:ext cx="4663440" cy="73152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Validation engine</a:t>
            </a:r>
          </a:p>
          <a:p>
            <a:pPr algn="l"/>
            <a:r>
              <a:rPr sz="1100" b="0" i="0">
                <a:solidFill>
                  <a:srgbClr val="2B2622"/>
                </a:solidFill>
                <a:latin typeface="Calibri"/>
              </a:rPr>
              <a:t>Checks every block and every transaction against the rules.</a:t>
            </a:r>
          </a:p>
        </p:txBody>
      </p:sp>
      <p:sp>
        <p:nvSpPr>
          <p:cNvPr id="12" name="Rounded Rectangle 11"/>
          <p:cNvSpPr/>
          <p:nvPr/>
        </p:nvSpPr>
        <p:spPr>
          <a:xfrm>
            <a:off x="4023360" y="2926080"/>
            <a:ext cx="4663440" cy="73152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Storage engine</a:t>
            </a:r>
          </a:p>
          <a:p>
            <a:pPr algn="l"/>
            <a:r>
              <a:rPr sz="1100" b="0" i="0">
                <a:solidFill>
                  <a:srgbClr val="2B2622"/>
                </a:solidFill>
                <a:latin typeface="Calibri"/>
              </a:rPr>
              <a:t>Keeps the headers, the blocks and the set of coins.</a:t>
            </a:r>
          </a:p>
        </p:txBody>
      </p:sp>
      <p:sp>
        <p:nvSpPr>
          <p:cNvPr id="13" name="Rounded Rectangle 12"/>
          <p:cNvSpPr/>
          <p:nvPr/>
        </p:nvSpPr>
        <p:spPr>
          <a:xfrm>
            <a:off x="4023360" y="3749039"/>
            <a:ext cx="4663440" cy="73152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RPC</a:t>
            </a:r>
          </a:p>
          <a:p>
            <a:pPr algn="l"/>
            <a:r>
              <a:rPr sz="1100" b="0" i="0">
                <a:solidFill>
                  <a:srgbClr val="2B2622"/>
                </a:solidFill>
                <a:latin typeface="Calibri"/>
              </a:rPr>
              <a:t>Lets your own programs ask the node questions.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A version number that carries a vote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A Bitcoin Improvement Proposal signals through bit flags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a ballot with 29 tick boxes, one for each proposal</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8 / 42</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8107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v = </a:t>
            </a:r>
            <a:r>
              <a:rPr sz="1000" b="0" i="0">
                <a:solidFill>
                  <a:srgbClr val="FFD28A"/>
                </a:solidFill>
                <a:latin typeface="Courier New"/>
              </a:rPr>
              <a:t>0x20000002</a:t>
            </a:r>
          </a:p>
        </p:txBody>
      </p:sp>
      <p:sp>
        <p:nvSpPr>
          <p:cNvPr id="11" name="TextBox 10"/>
          <p:cNvSpPr txBox="1"/>
          <p:nvPr/>
        </p:nvSpPr>
        <p:spPr>
          <a:xfrm>
            <a:off x="603504" y="2093976"/>
            <a:ext cx="4937760" cy="6278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top = v &gt;&gt; </a:t>
            </a:r>
            <a:r>
              <a:rPr sz="1000" b="0" i="0">
                <a:solidFill>
                  <a:srgbClr val="FFD28A"/>
                </a:solidFill>
                <a:latin typeface="Courier New"/>
              </a:rPr>
              <a:t>29</a:t>
            </a:r>
          </a:p>
          <a:p>
            <a:pPr algn="l"/>
            <a:r>
              <a:rPr sz="1000" b="1" i="0">
                <a:solidFill>
                  <a:srgbClr val="F2A860"/>
                </a:solidFill>
                <a:latin typeface="Courier New"/>
              </a:rPr>
              <a:t>&gt;&gt;&gt; </a:t>
            </a:r>
            <a:r>
              <a:rPr sz="1000" b="0" i="0">
                <a:solidFill>
                  <a:srgbClr val="E6EDF3"/>
                </a:solidFill>
                <a:latin typeface="Courier New"/>
              </a:rPr>
              <a:t>bits = [b </a:t>
            </a:r>
            <a:r>
              <a:rPr sz="1000" b="1" i="0">
                <a:solidFill>
                  <a:srgbClr val="F2A860"/>
                </a:solidFill>
                <a:latin typeface="Courier New"/>
              </a:rPr>
              <a:t>for</a:t>
            </a:r>
            <a:r>
              <a:rPr sz="1000" b="0" i="0">
                <a:solidFill>
                  <a:srgbClr val="E6EDF3"/>
                </a:solidFill>
                <a:latin typeface="Courier New"/>
              </a:rPr>
              <a:t> b </a:t>
            </a:r>
            <a:r>
              <a:rPr sz="1000" b="1" i="0">
                <a:solidFill>
                  <a:srgbClr val="F2A860"/>
                </a:solidFill>
                <a:latin typeface="Courier New"/>
              </a:rPr>
              <a:t>in</a:t>
            </a:r>
            <a:r>
              <a:rPr sz="1000" b="0" i="0">
                <a:solidFill>
                  <a:srgbClr val="E6EDF3"/>
                </a:solidFill>
                <a:latin typeface="Courier New"/>
              </a:rPr>
              <a:t> range(</a:t>
            </a:r>
            <a:r>
              <a:rPr sz="1000" b="0" i="0">
                <a:solidFill>
                  <a:srgbClr val="FFD28A"/>
                </a:solidFill>
                <a:latin typeface="Courier New"/>
              </a:rPr>
              <a:t>29</a:t>
            </a:r>
            <a:r>
              <a:rPr sz="1000" b="0" i="0">
                <a:solidFill>
                  <a:srgbClr val="E6EDF3"/>
                </a:solidFill>
                <a:latin typeface="Courier New"/>
              </a:rPr>
              <a:t>) </a:t>
            </a:r>
            <a:r>
              <a:rPr sz="1000" b="1" i="0">
                <a:solidFill>
                  <a:srgbClr val="F2A860"/>
                </a:solidFill>
                <a:latin typeface="Courier New"/>
              </a:rPr>
              <a:t>if</a:t>
            </a:r>
            <a:r>
              <a:rPr sz="1000" b="0" i="0">
                <a:solidFill>
                  <a:srgbClr val="E6EDF3"/>
                </a:solidFill>
                <a:latin typeface="Courier New"/>
              </a:rPr>
              <a:t> v &gt;&gt; b &amp; </a:t>
            </a:r>
            <a:r>
              <a:rPr sz="1000" b="0" i="0">
                <a:solidFill>
                  <a:srgbClr val="FFD28A"/>
                </a:solidFill>
                <a:latin typeface="Courier New"/>
              </a:rPr>
              <a:t>1</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(hex(v), top, bits)</a:t>
            </a:r>
          </a:p>
          <a:p>
            <a:pPr algn="l"/>
            <a:r>
              <a:rPr sz="1000" b="0" i="0">
                <a:solidFill>
                  <a:srgbClr val="7EE787"/>
                </a:solidFill>
                <a:latin typeface="Courier New"/>
              </a:rPr>
              <a:t>('0x20000002', 1, [1])</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version field of a block header that signals support for a new rule.</a:t>
            </a:r>
          </a:p>
        </p:txBody>
      </p:sp>
      <p:sp>
        <p:nvSpPr>
          <p:cNvPr id="13" name="TextBox 12"/>
          <p:cNvSpPr txBox="1"/>
          <p:nvPr/>
        </p:nvSpPr>
        <p:spPr>
          <a:xfrm>
            <a:off x="457200" y="286816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top three bits mark a version-bits block (BIP 9); each lower bit that is set is one proposal's vote.</a:t>
            </a:r>
          </a:p>
        </p:txBody>
      </p:sp>
      <p:sp>
        <p:nvSpPr>
          <p:cNvPr id="14" name="TextBox 13"/>
          <p:cNvSpPr txBox="1"/>
          <p:nvPr/>
        </p:nvSpPr>
        <p:spPr>
          <a:xfrm>
            <a:off x="457200" y="331317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(sen0401_ch03_core_lib_v1_0_0)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32 bits of the version</a:t>
            </a:r>
          </a:p>
        </p:txBody>
      </p:sp>
      <p:graphicFrame>
        <p:nvGraphicFramePr>
          <p:cNvPr id="16" name="Table 15"/>
          <p:cNvGraphicFramePr>
            <a:graphicFrameLocks noGrp="1"/>
          </p:cNvGraphicFramePr>
          <p:nvPr/>
        </p:nvGraphicFramePr>
        <p:xfrm>
          <a:off x="5852160" y="1691640"/>
          <a:ext cx="2834640" cy="548640"/>
        </p:xfrm>
        <a:graphic>
          <a:graphicData uri="http://schemas.openxmlformats.org/drawingml/2006/table">
            <a:tbl>
              <a:tblPr firstRow="1" bandRow="1">
                <a:tableStyleId>{5C22544A-7EE6-4342-B048-85BDC9FD1C3A}</a:tableStyleId>
              </a:tblPr>
              <a:tblGrid>
                <a:gridCol w="354330"/>
                <a:gridCol w="354330"/>
                <a:gridCol w="354330"/>
                <a:gridCol w="354330"/>
                <a:gridCol w="354330"/>
                <a:gridCol w="354330"/>
                <a:gridCol w="354330"/>
                <a:gridCol w="354330"/>
              </a:tblGrid>
              <a:tr h="274320">
                <a:tc>
                  <a:txBody>
                    <a:bodyPr/>
                    <a:lstStyle/>
                    <a:p>
                      <a:pPr algn="ctr"/>
                      <a:r>
                        <a:rPr sz="850" b="1">
                          <a:solidFill>
                            <a:srgbClr val="FFFFFF"/>
                          </a:solidFill>
                          <a:latin typeface="Calibri"/>
                        </a:rPr>
                        <a:t>31-28</a:t>
                      </a:r>
                    </a:p>
                  </a:txBody>
                  <a:tcPr marL="54864" marR="54864" marT="27432" marB="27432" anchor="ctr">
                    <a:solidFill>
                      <a:srgbClr val="2F6D62"/>
                    </a:solidFill>
                  </a:tcPr>
                </a:tc>
                <a:tc>
                  <a:txBody>
                    <a:bodyPr/>
                    <a:lstStyle/>
                    <a:p>
                      <a:pPr algn="ctr"/>
                      <a:r>
                        <a:rPr sz="850" b="1">
                          <a:solidFill>
                            <a:srgbClr val="FFFFFF"/>
                          </a:solidFill>
                          <a:latin typeface="Calibri"/>
                        </a:rPr>
                        <a:t>27-24</a:t>
                      </a:r>
                    </a:p>
                  </a:txBody>
                  <a:tcPr marL="54864" marR="54864" marT="27432" marB="27432" anchor="ctr">
                    <a:solidFill>
                      <a:srgbClr val="2F6D62"/>
                    </a:solidFill>
                  </a:tcPr>
                </a:tc>
                <a:tc>
                  <a:txBody>
                    <a:bodyPr/>
                    <a:lstStyle/>
                    <a:p>
                      <a:pPr algn="ctr"/>
                      <a:r>
                        <a:rPr sz="850" b="1">
                          <a:solidFill>
                            <a:srgbClr val="FFFFFF"/>
                          </a:solidFill>
                          <a:latin typeface="Calibri"/>
                        </a:rPr>
                        <a:t>23-20</a:t>
                      </a:r>
                    </a:p>
                  </a:txBody>
                  <a:tcPr marL="54864" marR="54864" marT="27432" marB="27432" anchor="ctr">
                    <a:solidFill>
                      <a:srgbClr val="2F6D62"/>
                    </a:solidFill>
                  </a:tcPr>
                </a:tc>
                <a:tc>
                  <a:txBody>
                    <a:bodyPr/>
                    <a:lstStyle/>
                    <a:p>
                      <a:pPr algn="ctr"/>
                      <a:r>
                        <a:rPr sz="850" b="1">
                          <a:solidFill>
                            <a:srgbClr val="FFFFFF"/>
                          </a:solidFill>
                          <a:latin typeface="Calibri"/>
                        </a:rPr>
                        <a:t>19-16</a:t>
                      </a:r>
                    </a:p>
                  </a:txBody>
                  <a:tcPr marL="54864" marR="54864" marT="27432" marB="27432" anchor="ctr">
                    <a:solidFill>
                      <a:srgbClr val="2F6D62"/>
                    </a:solidFill>
                  </a:tcPr>
                </a:tc>
                <a:tc>
                  <a:txBody>
                    <a:bodyPr/>
                    <a:lstStyle/>
                    <a:p>
                      <a:pPr algn="ctr"/>
                      <a:r>
                        <a:rPr sz="850" b="1">
                          <a:solidFill>
                            <a:srgbClr val="FFFFFF"/>
                          </a:solidFill>
                          <a:latin typeface="Calibri"/>
                        </a:rPr>
                        <a:t>15-12</a:t>
                      </a:r>
                    </a:p>
                  </a:txBody>
                  <a:tcPr marL="54864" marR="54864" marT="27432" marB="27432" anchor="ctr">
                    <a:solidFill>
                      <a:srgbClr val="2F6D62"/>
                    </a:solidFill>
                  </a:tcPr>
                </a:tc>
                <a:tc>
                  <a:txBody>
                    <a:bodyPr/>
                    <a:lstStyle/>
                    <a:p>
                      <a:pPr algn="ctr"/>
                      <a:r>
                        <a:rPr sz="850" b="1">
                          <a:solidFill>
                            <a:srgbClr val="FFFFFF"/>
                          </a:solidFill>
                          <a:latin typeface="Calibri"/>
                        </a:rPr>
                        <a:t>11-8</a:t>
                      </a:r>
                    </a:p>
                  </a:txBody>
                  <a:tcPr marL="54864" marR="54864" marT="27432" marB="27432" anchor="ctr">
                    <a:solidFill>
                      <a:srgbClr val="2F6D62"/>
                    </a:solidFill>
                  </a:tcPr>
                </a:tc>
                <a:tc>
                  <a:txBody>
                    <a:bodyPr/>
                    <a:lstStyle/>
                    <a:p>
                      <a:pPr algn="ctr"/>
                      <a:r>
                        <a:rPr sz="850" b="1">
                          <a:solidFill>
                            <a:srgbClr val="FFFFFF"/>
                          </a:solidFill>
                          <a:latin typeface="Calibri"/>
                        </a:rPr>
                        <a:t>7-4</a:t>
                      </a:r>
                    </a:p>
                  </a:txBody>
                  <a:tcPr marL="54864" marR="54864" marT="27432" marB="27432" anchor="ctr">
                    <a:solidFill>
                      <a:srgbClr val="2F6D62"/>
                    </a:solidFill>
                  </a:tcPr>
                </a:tc>
                <a:tc>
                  <a:txBody>
                    <a:bodyPr/>
                    <a:lstStyle/>
                    <a:p>
                      <a:pPr algn="ctr"/>
                      <a:r>
                        <a:rPr sz="850" b="1">
                          <a:solidFill>
                            <a:srgbClr val="FFFFFF"/>
                          </a:solidFill>
                          <a:latin typeface="Calibri"/>
                        </a:rPr>
                        <a:t>3-0</a:t>
                      </a:r>
                    </a:p>
                  </a:txBody>
                  <a:tcPr marL="54864" marR="54864" marT="27432" marB="27432" anchor="ctr">
                    <a:solidFill>
                      <a:srgbClr val="2F6D62"/>
                    </a:solidFill>
                  </a:tcPr>
                </a:tc>
              </a:tr>
              <a:tr h="274320">
                <a:tc>
                  <a:txBody>
                    <a:bodyPr/>
                    <a:lstStyle/>
                    <a:p>
                      <a:pPr algn="ctr"/>
                      <a:r>
                        <a:rPr sz="850" b="1">
                          <a:solidFill>
                            <a:srgbClr val="FFFFFF"/>
                          </a:solidFill>
                          <a:latin typeface="Calibri"/>
                        </a:rPr>
                        <a:t>0010</a:t>
                      </a:r>
                    </a:p>
                  </a:txBody>
                  <a:tcPr marL="54864" marR="54864" marT="27432" marB="27432" anchor="ctr">
                    <a:solidFill>
                      <a:srgbClr val="D97A14"/>
                    </a:solidFill>
                  </a:tcPr>
                </a:tc>
                <a:tc>
                  <a:txBody>
                    <a:bodyPr/>
                    <a:lstStyle/>
                    <a:p>
                      <a:pPr algn="ctr"/>
                      <a:r>
                        <a:rPr sz="850" b="0">
                          <a:solidFill>
                            <a:srgbClr val="2B2622"/>
                          </a:solidFill>
                          <a:latin typeface="Calibri"/>
                        </a:rPr>
                        <a:t>0000</a:t>
                      </a:r>
                    </a:p>
                  </a:txBody>
                  <a:tcPr marL="54864" marR="54864" marT="27432" marB="27432" anchor="ctr">
                    <a:solidFill>
                      <a:srgbClr val="FFFFFF"/>
                    </a:solidFill>
                  </a:tcPr>
                </a:tc>
                <a:tc>
                  <a:txBody>
                    <a:bodyPr/>
                    <a:lstStyle/>
                    <a:p>
                      <a:pPr algn="ctr"/>
                      <a:r>
                        <a:rPr sz="850" b="0">
                          <a:solidFill>
                            <a:srgbClr val="2B2622"/>
                          </a:solidFill>
                          <a:latin typeface="Calibri"/>
                        </a:rPr>
                        <a:t>0000</a:t>
                      </a:r>
                    </a:p>
                  </a:txBody>
                  <a:tcPr marL="54864" marR="54864" marT="27432" marB="27432" anchor="ctr">
                    <a:solidFill>
                      <a:srgbClr val="FFFFFF"/>
                    </a:solidFill>
                  </a:tcPr>
                </a:tc>
                <a:tc>
                  <a:txBody>
                    <a:bodyPr/>
                    <a:lstStyle/>
                    <a:p>
                      <a:pPr algn="ctr"/>
                      <a:r>
                        <a:rPr sz="850" b="0">
                          <a:solidFill>
                            <a:srgbClr val="2B2622"/>
                          </a:solidFill>
                          <a:latin typeface="Calibri"/>
                        </a:rPr>
                        <a:t>0000</a:t>
                      </a:r>
                    </a:p>
                  </a:txBody>
                  <a:tcPr marL="54864" marR="54864" marT="27432" marB="27432" anchor="ctr">
                    <a:solidFill>
                      <a:srgbClr val="FFFFFF"/>
                    </a:solidFill>
                  </a:tcPr>
                </a:tc>
                <a:tc>
                  <a:txBody>
                    <a:bodyPr/>
                    <a:lstStyle/>
                    <a:p>
                      <a:pPr algn="ctr"/>
                      <a:r>
                        <a:rPr sz="850" b="0">
                          <a:solidFill>
                            <a:srgbClr val="2B2622"/>
                          </a:solidFill>
                          <a:latin typeface="Calibri"/>
                        </a:rPr>
                        <a:t>0000</a:t>
                      </a:r>
                    </a:p>
                  </a:txBody>
                  <a:tcPr marL="54864" marR="54864" marT="27432" marB="27432" anchor="ctr">
                    <a:solidFill>
                      <a:srgbClr val="FFFFFF"/>
                    </a:solidFill>
                  </a:tcPr>
                </a:tc>
                <a:tc>
                  <a:txBody>
                    <a:bodyPr/>
                    <a:lstStyle/>
                    <a:p>
                      <a:pPr algn="ctr"/>
                      <a:r>
                        <a:rPr sz="850" b="0">
                          <a:solidFill>
                            <a:srgbClr val="2B2622"/>
                          </a:solidFill>
                          <a:latin typeface="Calibri"/>
                        </a:rPr>
                        <a:t>0000</a:t>
                      </a:r>
                    </a:p>
                  </a:txBody>
                  <a:tcPr marL="54864" marR="54864" marT="27432" marB="27432" anchor="ctr">
                    <a:solidFill>
                      <a:srgbClr val="FFFFFF"/>
                    </a:solidFill>
                  </a:tcPr>
                </a:tc>
                <a:tc>
                  <a:txBody>
                    <a:bodyPr/>
                    <a:lstStyle/>
                    <a:p>
                      <a:pPr algn="ctr"/>
                      <a:r>
                        <a:rPr sz="850" b="0">
                          <a:solidFill>
                            <a:srgbClr val="2B2622"/>
                          </a:solidFill>
                          <a:latin typeface="Calibri"/>
                        </a:rPr>
                        <a:t>0000</a:t>
                      </a:r>
                    </a:p>
                  </a:txBody>
                  <a:tcPr marL="54864" marR="54864" marT="27432" marB="27432" anchor="ctr">
                    <a:solidFill>
                      <a:srgbClr val="FFFFFF"/>
                    </a:solidFill>
                  </a:tcPr>
                </a:tc>
                <a:tc>
                  <a:txBody>
                    <a:bodyPr/>
                    <a:lstStyle/>
                    <a:p>
                      <a:pPr algn="ctr"/>
                      <a:r>
                        <a:rPr sz="850" b="1">
                          <a:solidFill>
                            <a:srgbClr val="FFFFFF"/>
                          </a:solidFill>
                          <a:latin typeface="Calibri"/>
                        </a:rPr>
                        <a:t>0010</a:t>
                      </a:r>
                    </a:p>
                  </a:txBody>
                  <a:tcPr marL="54864" marR="54864" marT="27432" marB="27432" anchor="ctr">
                    <a:solidFill>
                      <a:srgbClr val="2F6D62"/>
                    </a:solidFill>
                  </a:tcPr>
                </a:tc>
              </a:tr>
            </a:tbl>
          </a:graphicData>
        </a:graphic>
      </p:graphicFrame>
      <p:graphicFrame>
        <p:nvGraphicFramePr>
          <p:cNvPr id="17" name="Table 16"/>
          <p:cNvGraphicFramePr>
            <a:graphicFrameLocks noGrp="1"/>
          </p:cNvGraphicFramePr>
          <p:nvPr/>
        </p:nvGraphicFramePr>
        <p:xfrm>
          <a:off x="5852160" y="2423160"/>
          <a:ext cx="2834640" cy="1097280"/>
        </p:xfrm>
        <a:graphic>
          <a:graphicData uri="http://schemas.openxmlformats.org/drawingml/2006/table">
            <a:tbl>
              <a:tblPr firstRow="1" bandRow="1">
                <a:tableStyleId>{5C22544A-7EE6-4342-B048-85BDC9FD1C3A}</a:tableStyleId>
              </a:tblPr>
              <a:tblGrid>
                <a:gridCol w="1463040"/>
                <a:gridCol w="1371600"/>
              </a:tblGrid>
              <a:tr h="274320">
                <a:tc>
                  <a:txBody>
                    <a:bodyPr/>
                    <a:lstStyle/>
                    <a:p>
                      <a:pPr algn="l"/>
                      <a:r>
                        <a:rPr sz="1000" b="1">
                          <a:solidFill>
                            <a:srgbClr val="FFFFFF"/>
                          </a:solidFill>
                          <a:latin typeface="Calibri"/>
                        </a:rPr>
                        <a:t>Part</a:t>
                      </a:r>
                    </a:p>
                  </a:txBody>
                  <a:tcPr marL="54864" marR="54864" marT="27432" marB="27432" anchor="ctr">
                    <a:solidFill>
                      <a:srgbClr val="2F6D62"/>
                    </a:solidFill>
                  </a:tcPr>
                </a:tc>
                <a:tc>
                  <a:txBody>
                    <a:bodyPr/>
                    <a:lstStyle/>
                    <a:p>
                      <a:pPr algn="l"/>
                      <a:r>
                        <a:rPr sz="1000" b="1">
                          <a:solidFill>
                            <a:srgbClr val="FFFFFF"/>
                          </a:solidFill>
                          <a:latin typeface="Calibri"/>
                        </a:rPr>
                        <a:t>Value</a:t>
                      </a:r>
                    </a:p>
                  </a:txBody>
                  <a:tcPr marL="54864" marR="54864" marT="27432" marB="27432" anchor="ctr">
                    <a:solidFill>
                      <a:srgbClr val="2F6D62"/>
                    </a:solidFill>
                  </a:tcPr>
                </a:tc>
              </a:tr>
              <a:tr h="274320">
                <a:tc>
                  <a:txBody>
                    <a:bodyPr/>
                    <a:lstStyle/>
                    <a:p>
                      <a:pPr algn="l"/>
                      <a:r>
                        <a:rPr sz="1000" b="0">
                          <a:solidFill>
                            <a:srgbClr val="2B2622"/>
                          </a:solidFill>
                          <a:latin typeface="Calibri"/>
                        </a:rPr>
                        <a:t>Version</a:t>
                      </a:r>
                    </a:p>
                  </a:txBody>
                  <a:tcPr marL="54864" marR="54864" marT="27432" marB="27432" anchor="ctr">
                    <a:solidFill>
                      <a:srgbClr val="FFFFFF"/>
                    </a:solidFill>
                  </a:tcPr>
                </a:tc>
                <a:tc>
                  <a:txBody>
                    <a:bodyPr/>
                    <a:lstStyle/>
                    <a:p>
                      <a:pPr algn="l"/>
                      <a:r>
                        <a:rPr sz="1000" b="0">
                          <a:solidFill>
                            <a:srgbClr val="2B2622"/>
                          </a:solidFill>
                          <a:latin typeface="Calibri"/>
                        </a:rPr>
                        <a:t>0x20000002</a:t>
                      </a:r>
                    </a:p>
                  </a:txBody>
                  <a:tcPr marL="54864" marR="54864" marT="27432" marB="27432" anchor="ctr">
                    <a:solidFill>
                      <a:srgbClr val="FFFFFF"/>
                    </a:solidFill>
                  </a:tcPr>
                </a:tc>
              </a:tr>
              <a:tr h="274320">
                <a:tc>
                  <a:txBody>
                    <a:bodyPr/>
                    <a:lstStyle/>
                    <a:p>
                      <a:pPr algn="l"/>
                      <a:r>
                        <a:rPr sz="1000" b="0">
                          <a:solidFill>
                            <a:srgbClr val="2B2622"/>
                          </a:solidFill>
                          <a:latin typeface="Calibri"/>
                        </a:rPr>
                        <a:t>Top three bits</a:t>
                      </a:r>
                    </a:p>
                  </a:txBody>
                  <a:tcPr marL="54864" marR="54864" marT="27432" marB="27432" anchor="ctr">
                    <a:solidFill>
                      <a:srgbClr val="F2ECE1"/>
                    </a:solidFill>
                  </a:tcPr>
                </a:tc>
                <a:tc>
                  <a:txBody>
                    <a:bodyPr/>
                    <a:lstStyle/>
                    <a:p>
                      <a:pPr algn="l"/>
                      <a:r>
                        <a:rPr sz="1000" b="0">
                          <a:solidFill>
                            <a:srgbClr val="2B2622"/>
                          </a:solidFill>
                          <a:latin typeface="Calibri"/>
                        </a:rPr>
                        <a:t>001 = BIP 9</a:t>
                      </a:r>
                    </a:p>
                  </a:txBody>
                  <a:tcPr marL="54864" marR="54864" marT="27432" marB="27432" anchor="ctr">
                    <a:solidFill>
                      <a:srgbClr val="F2ECE1"/>
                    </a:solidFill>
                  </a:tcPr>
                </a:tc>
              </a:tr>
              <a:tr h="274320">
                <a:tc>
                  <a:txBody>
                    <a:bodyPr/>
                    <a:lstStyle/>
                    <a:p>
                      <a:pPr algn="l"/>
                      <a:r>
                        <a:rPr sz="1000" b="0">
                          <a:solidFill>
                            <a:srgbClr val="2B2622"/>
                          </a:solidFill>
                          <a:latin typeface="Calibri"/>
                        </a:rPr>
                        <a:t>Bits set below</a:t>
                      </a:r>
                    </a:p>
                  </a:txBody>
                  <a:tcPr marL="54864" marR="54864" marT="27432" marB="27432" anchor="ctr">
                    <a:solidFill>
                      <a:srgbClr val="FFFFFF"/>
                    </a:solidFill>
                  </a:tcPr>
                </a:tc>
                <a:tc>
                  <a:txBody>
                    <a:bodyPr/>
                    <a:lstStyle/>
                    <a:p>
                      <a:pPr algn="l"/>
                      <a:r>
                        <a:rPr sz="1000" b="0">
                          <a:solidFill>
                            <a:srgbClr val="2B2622"/>
                          </a:solidFill>
                          <a:latin typeface="Calibri"/>
                        </a:rPr>
                        <a:t>1</a:t>
                      </a:r>
                    </a:p>
                  </a:txBody>
                  <a:tcPr marL="54864" marR="54864" marT="27432" marB="27432" anchor="ctr">
                    <a:solidFill>
                      <a:srgbClr val="FFFFFF"/>
                    </a:solidFill>
                  </a:tcPr>
                </a:tc>
              </a:tr>
            </a:tbl>
          </a:graphicData>
        </a:graphic>
      </p:graphicFrame>
      <p:sp>
        <p:nvSpPr>
          <p:cNvPr id="18" name="TextBox 17"/>
          <p:cNvSpPr txBox="1"/>
          <p:nvPr/>
        </p:nvSpPr>
        <p:spPr>
          <a:xfrm>
            <a:off x="5852160" y="3630168"/>
            <a:ext cx="2834640" cy="685800"/>
          </a:xfrm>
          <a:prstGeom prst="rect">
            <a:avLst/>
          </a:prstGeom>
          <a:noFill/>
        </p:spPr>
        <p:txBody>
          <a:bodyPr wrap="square" lIns="0" rIns="0" tIns="0" bIns="0" anchor="t">
            <a:spAutoFit/>
          </a:bodyPr>
          <a:lstStyle/>
          <a:p>
            <a:pPr algn="l"/>
            <a:r>
              <a:rPr sz="1100" b="0" i="0">
                <a:solidFill>
                  <a:srgbClr val="2B2622"/>
                </a:solidFill>
                <a:latin typeface="Calibri"/>
              </a:rPr>
              <a:t>Orange cell: the BIP 9 marker. Teal cell: bit 1, the vote.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Bitcoin Development Environment</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Compiling Bitcoin Core from the Source Code</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release tag</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name that fixes one exact version of the source, such as v31.1.</a:t>
            </a:r>
          </a:p>
        </p:txBody>
      </p:sp>
      <p:sp>
        <p:nvSpPr>
          <p:cNvPr id="6" name="TextBox 5"/>
          <p:cNvSpPr txBox="1"/>
          <p:nvPr/>
        </p:nvSpPr>
        <p:spPr>
          <a:xfrm>
            <a:off x="5486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a bookmark that always opens the same page.</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release candidate</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tagged version offered for testing before it becomes final.</a:t>
            </a:r>
          </a:p>
        </p:txBody>
      </p:sp>
      <p:sp>
        <p:nvSpPr>
          <p:cNvPr id="9" name="TextBox 8"/>
          <p:cNvSpPr txBox="1"/>
          <p:nvPr/>
        </p:nvSpPr>
        <p:spPr>
          <a:xfrm>
            <a:off x="32918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a dress rehearsal before the opening night.</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bitcoind</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The node program, which runs in the background.</a:t>
            </a:r>
          </a:p>
        </p:txBody>
      </p:sp>
      <p:sp>
        <p:nvSpPr>
          <p:cNvPr id="12" name="TextBox 11"/>
          <p:cNvSpPr txBox="1"/>
          <p:nvPr/>
        </p:nvSpPr>
        <p:spPr>
          <a:xfrm>
            <a:off x="60350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the engine of a car, working while you do other things.</a:t>
            </a:r>
          </a:p>
        </p:txBody>
      </p:sp>
      <p:graphicFrame>
        <p:nvGraphicFramePr>
          <p:cNvPr id="13" name="Table 12"/>
          <p:cNvGraphicFramePr>
            <a:graphicFrameLocks noGrp="1"/>
          </p:cNvGraphicFramePr>
          <p:nvPr/>
        </p:nvGraphicFramePr>
        <p:xfrm>
          <a:off x="548640" y="4023360"/>
          <a:ext cx="8046717" cy="365760"/>
        </p:xfrm>
        <a:graphic>
          <a:graphicData uri="http://schemas.openxmlformats.org/drawingml/2006/table">
            <a:tbl>
              <a:tblPr firstRow="1" bandRow="1">
                <a:tableStyleId>{5C22544A-7EE6-4342-B048-85BDC9FD1C3A}</a:tableStyleId>
              </a:tblPr>
              <a:tblGrid>
                <a:gridCol w="1149531"/>
                <a:gridCol w="1149531"/>
                <a:gridCol w="1149531"/>
                <a:gridCol w="1149531"/>
                <a:gridCol w="1149531"/>
                <a:gridCol w="1149531"/>
                <a:gridCol w="1149531"/>
              </a:tblGrid>
              <a:tr h="365760">
                <a:tc>
                  <a:txBody>
                    <a:bodyPr/>
                    <a:lstStyle/>
                    <a:p>
                      <a:pPr algn="ctr"/>
                      <a:r>
                        <a:rPr sz="1000" b="0">
                          <a:solidFill>
                            <a:srgbClr val="6E655C"/>
                          </a:solidFill>
                          <a:latin typeface="Calibri"/>
                        </a:rPr>
                        <a:t>Core</a:t>
                      </a:r>
                    </a:p>
                  </a:txBody>
                  <a:tcPr marL="54864" marR="54864" marT="27432" marB="27432" anchor="ctr">
                    <a:solidFill>
                      <a:srgbClr val="F2ECE1"/>
                    </a:solidFill>
                  </a:tcPr>
                </a:tc>
                <a:tc>
                  <a:txBody>
                    <a:bodyPr/>
                    <a:lstStyle/>
                    <a:p>
                      <a:pPr algn="ctr"/>
                      <a:r>
                        <a:rPr sz="1000" b="1">
                          <a:solidFill>
                            <a:srgbClr val="FFFFFF"/>
                          </a:solidFill>
                          <a:latin typeface="Calibri"/>
                        </a:rPr>
                        <a:t>Source</a:t>
                      </a:r>
                    </a:p>
                  </a:txBody>
                  <a:tcPr marL="54864" marR="54864" marT="27432" marB="27432" anchor="ctr">
                    <a:solidFill>
                      <a:srgbClr val="D97A14"/>
                    </a:solidFill>
                  </a:tcPr>
                </a:tc>
                <a:tc>
                  <a:txBody>
                    <a:bodyPr/>
                    <a:lstStyle/>
                    <a:p>
                      <a:pPr algn="ctr"/>
                      <a:r>
                        <a:rPr sz="1000" b="0">
                          <a:solidFill>
                            <a:srgbClr val="6E655C"/>
                          </a:solidFill>
                          <a:latin typeface="Calibri"/>
                        </a:rPr>
                        <a:t>Node</a:t>
                      </a:r>
                    </a:p>
                  </a:txBody>
                  <a:tcPr marL="54864" marR="54864" marT="27432" marB="27432" anchor="ctr">
                    <a:solidFill>
                      <a:srgbClr val="F2ECE1"/>
                    </a:solidFill>
                  </a:tcPr>
                </a:tc>
                <a:tc>
                  <a:txBody>
                    <a:bodyPr/>
                    <a:lstStyle/>
                    <a:p>
                      <a:pPr algn="ctr"/>
                      <a:r>
                        <a:rPr sz="1000" b="0">
                          <a:solidFill>
                            <a:srgbClr val="6E655C"/>
                          </a:solidFill>
                          <a:latin typeface="Calibri"/>
                        </a:rPr>
                        <a:t>API</a:t>
                      </a:r>
                    </a:p>
                  </a:txBody>
                  <a:tcPr marL="54864" marR="54864" marT="27432" marB="27432" anchor="ctr">
                    <a:solidFill>
                      <a:srgbClr val="F2ECE1"/>
                    </a:solidFill>
                  </a:tcPr>
                </a:tc>
                <a:tc>
                  <a:txBody>
                    <a:bodyPr/>
                    <a:lstStyle/>
                    <a:p>
                      <a:pPr algn="ctr"/>
                      <a:r>
                        <a:rPr sz="1000" b="0">
                          <a:solidFill>
                            <a:srgbClr val="6E655C"/>
                          </a:solidFill>
                          <a:latin typeface="Calibri"/>
                        </a:rPr>
                        <a:t>Transactions</a:t>
                      </a:r>
                    </a:p>
                  </a:txBody>
                  <a:tcPr marL="54864" marR="54864" marT="27432" marB="27432" anchor="ctr">
                    <a:solidFill>
                      <a:srgbClr val="F2ECE1"/>
                    </a:solidFill>
                  </a:tcPr>
                </a:tc>
                <a:tc>
                  <a:txBody>
                    <a:bodyPr/>
                    <a:lstStyle/>
                    <a:p>
                      <a:pPr algn="ctr"/>
                      <a:r>
                        <a:rPr sz="1000" b="0">
                          <a:solidFill>
                            <a:srgbClr val="6E655C"/>
                          </a:solidFill>
                          <a:latin typeface="Calibri"/>
                        </a:rPr>
                        <a:t>Blocks</a:t>
                      </a:r>
                    </a:p>
                  </a:txBody>
                  <a:tcPr marL="54864" marR="54864" marT="27432" marB="27432" anchor="ctr">
                    <a:solidFill>
                      <a:srgbClr val="F2ECE1"/>
                    </a:solidFill>
                  </a:tcPr>
                </a:tc>
                <a:tc>
                  <a:txBody>
                    <a:bodyPr/>
                    <a:lstStyle/>
                    <a:p>
                      <a:pPr algn="ctr"/>
                      <a:r>
                        <a:rPr sz="1000" b="0">
                          <a:solidFill>
                            <a:srgbClr val="6E655C"/>
                          </a:solidFill>
                          <a:latin typeface="Calibri"/>
                        </a:rPr>
                        <a:t>Toolkits</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9 / 42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Three steps from source to executables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three headings of the book's building section</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Select, configure, build: three steps, one set of programs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10 / 42</a:t>
            </a:r>
          </a:p>
        </p:txBody>
      </p:sp>
      <p:sp>
        <p:nvSpPr>
          <p:cNvPr id="8" name="Rounded Rectangle 7"/>
          <p:cNvSpPr/>
          <p:nvPr/>
        </p:nvSpPr>
        <p:spPr>
          <a:xfrm>
            <a:off x="457200" y="1325880"/>
            <a:ext cx="2560320" cy="566928"/>
          </a:xfrm>
          <a:prstGeom prst="roundRect">
            <a:avLst>
              <a:gd name="adj" fmla="val 15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200" b="1" i="0">
                <a:solidFill>
                  <a:srgbClr val="FFFFFF"/>
                </a:solidFill>
                <a:latin typeface="Cambria"/>
              </a:rPr>
              <a:t>Selecting a Bitcoin Core Release</a:t>
            </a:r>
          </a:p>
        </p:txBody>
      </p:sp>
      <p:sp>
        <p:nvSpPr>
          <p:cNvPr id="9" name="TextBox 8"/>
          <p:cNvSpPr txBox="1"/>
          <p:nvPr/>
        </p:nvSpPr>
        <p:spPr>
          <a:xfrm>
            <a:off x="457200" y="2103120"/>
            <a:ext cx="2560320" cy="914400"/>
          </a:xfrm>
          <a:prstGeom prst="rect">
            <a:avLst/>
          </a:prstGeom>
          <a:noFill/>
        </p:spPr>
        <p:txBody>
          <a:bodyPr wrap="square" lIns="0" rIns="0" tIns="0" bIns="0" anchor="t">
            <a:spAutoFit/>
          </a:bodyPr>
          <a:lstStyle/>
          <a:p>
            <a:pPr algn="l"/>
            <a:r>
              <a:rPr sz="1200" b="0" i="0">
                <a:solidFill>
                  <a:srgbClr val="2B2622"/>
                </a:solidFill>
                <a:latin typeface="Calibri"/>
              </a:rPr>
              <a:t>Check out the tag of a final release, not of a candidate.</a:t>
            </a:r>
          </a:p>
        </p:txBody>
      </p:sp>
      <p:sp>
        <p:nvSpPr>
          <p:cNvPr id="10" name="TextBox 9"/>
          <p:cNvSpPr txBox="1"/>
          <p:nvPr/>
        </p:nvSpPr>
        <p:spPr>
          <a:xfrm>
            <a:off x="457200" y="3154680"/>
            <a:ext cx="2560320" cy="822960"/>
          </a:xfrm>
          <a:prstGeom prst="rect">
            <a:avLst/>
          </a:prstGeom>
          <a:noFill/>
        </p:spPr>
        <p:txBody>
          <a:bodyPr wrap="square" lIns="0" rIns="0" tIns="0" bIns="0" anchor="t">
            <a:spAutoFit/>
          </a:bodyPr>
          <a:lstStyle/>
          <a:p>
            <a:pPr algn="l"/>
            <a:r>
              <a:rPr sz="1200" b="0" i="1">
                <a:solidFill>
                  <a:srgbClr val="D97A14"/>
                </a:solidFill>
                <a:latin typeface="Calibri"/>
              </a:rPr>
              <a:t>Think of choosing the printed edition, not the draft.</a:t>
            </a:r>
          </a:p>
        </p:txBody>
      </p:sp>
      <p:cxnSp>
        <p:nvCxnSpPr>
          <p:cNvPr id="11" name="Connector 10"/>
          <p:cNvCxnSpPr/>
          <p:nvPr/>
        </p:nvCxnSpPr>
        <p:spPr>
          <a:xfrm>
            <a:off x="3044951" y="1609344"/>
            <a:ext cx="219457"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291839" y="1325880"/>
            <a:ext cx="2560320" cy="566928"/>
          </a:xfrm>
          <a:prstGeom prst="roundRect">
            <a:avLst>
              <a:gd name="adj" fmla="val 15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200" b="1" i="0">
                <a:solidFill>
                  <a:srgbClr val="FFFFFF"/>
                </a:solidFill>
                <a:latin typeface="Cambria"/>
              </a:rPr>
              <a:t>Configuring the Bitcoin Core Build</a:t>
            </a:r>
          </a:p>
        </p:txBody>
      </p:sp>
      <p:sp>
        <p:nvSpPr>
          <p:cNvPr id="13" name="TextBox 12"/>
          <p:cNvSpPr txBox="1"/>
          <p:nvPr/>
        </p:nvSpPr>
        <p:spPr>
          <a:xfrm>
            <a:off x="3291839" y="2103120"/>
            <a:ext cx="2560320" cy="914400"/>
          </a:xfrm>
          <a:prstGeom prst="rect">
            <a:avLst/>
          </a:prstGeom>
          <a:noFill/>
        </p:spPr>
        <p:txBody>
          <a:bodyPr wrap="square" lIns="0" rIns="0" tIns="0" bIns="0" anchor="t">
            <a:spAutoFit/>
          </a:bodyPr>
          <a:lstStyle/>
          <a:p>
            <a:pPr algn="l"/>
            <a:r>
              <a:rPr sz="1200" b="0" i="0">
                <a:solidFill>
                  <a:srgbClr val="2B2622"/>
                </a:solidFill>
                <a:latin typeface="Calibri"/>
              </a:rPr>
              <a:t>Choose options, such as whether to build the wallet or the window.</a:t>
            </a:r>
          </a:p>
        </p:txBody>
      </p:sp>
      <p:sp>
        <p:nvSpPr>
          <p:cNvPr id="14" name="TextBox 13"/>
          <p:cNvSpPr txBox="1"/>
          <p:nvPr/>
        </p:nvSpPr>
        <p:spPr>
          <a:xfrm>
            <a:off x="3291839" y="3154680"/>
            <a:ext cx="2560320" cy="822960"/>
          </a:xfrm>
          <a:prstGeom prst="rect">
            <a:avLst/>
          </a:prstGeom>
          <a:noFill/>
        </p:spPr>
        <p:txBody>
          <a:bodyPr wrap="square" lIns="0" rIns="0" tIns="0" bIns="0" anchor="t">
            <a:spAutoFit/>
          </a:bodyPr>
          <a:lstStyle/>
          <a:p>
            <a:pPr algn="l"/>
            <a:r>
              <a:rPr sz="1200" b="0" i="1">
                <a:solidFill>
                  <a:srgbClr val="D97A14"/>
                </a:solidFill>
                <a:latin typeface="Calibri"/>
              </a:rPr>
              <a:t>Think of ticking the options on a car order form.</a:t>
            </a:r>
          </a:p>
        </p:txBody>
      </p:sp>
      <p:cxnSp>
        <p:nvCxnSpPr>
          <p:cNvPr id="15" name="Connector 14"/>
          <p:cNvCxnSpPr/>
          <p:nvPr/>
        </p:nvCxnSpPr>
        <p:spPr>
          <a:xfrm>
            <a:off x="5879592" y="1609344"/>
            <a:ext cx="219455"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26479" y="1325880"/>
            <a:ext cx="2560320" cy="566928"/>
          </a:xfrm>
          <a:prstGeom prst="roundRect">
            <a:avLst>
              <a:gd name="adj" fmla="val 15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200" b="1" i="0">
                <a:solidFill>
                  <a:srgbClr val="FFFFFF"/>
                </a:solidFill>
                <a:latin typeface="Cambria"/>
              </a:rPr>
              <a:t>Building the Bitcoin Core Executables</a:t>
            </a:r>
          </a:p>
        </p:txBody>
      </p:sp>
      <p:sp>
        <p:nvSpPr>
          <p:cNvPr id="17" name="TextBox 16"/>
          <p:cNvSpPr txBox="1"/>
          <p:nvPr/>
        </p:nvSpPr>
        <p:spPr>
          <a:xfrm>
            <a:off x="6126479" y="2103120"/>
            <a:ext cx="2560320" cy="914400"/>
          </a:xfrm>
          <a:prstGeom prst="rect">
            <a:avLst/>
          </a:prstGeom>
          <a:noFill/>
        </p:spPr>
        <p:txBody>
          <a:bodyPr wrap="square" lIns="0" rIns="0" tIns="0" bIns="0" anchor="t">
            <a:spAutoFit/>
          </a:bodyPr>
          <a:lstStyle/>
          <a:p>
            <a:pPr algn="l"/>
            <a:r>
              <a:rPr sz="1200" b="0" i="0">
                <a:solidFill>
                  <a:srgbClr val="2B2622"/>
                </a:solidFill>
                <a:latin typeface="Calibri"/>
              </a:rPr>
              <a:t>The compiler turns the source into the programs of the bin folder.</a:t>
            </a:r>
          </a:p>
        </p:txBody>
      </p:sp>
      <p:sp>
        <p:nvSpPr>
          <p:cNvPr id="18" name="TextBox 17"/>
          <p:cNvSpPr txBox="1"/>
          <p:nvPr/>
        </p:nvSpPr>
        <p:spPr>
          <a:xfrm>
            <a:off x="6126479" y="3154680"/>
            <a:ext cx="2560320" cy="822960"/>
          </a:xfrm>
          <a:prstGeom prst="rect">
            <a:avLst/>
          </a:prstGeom>
          <a:noFill/>
        </p:spPr>
        <p:txBody>
          <a:bodyPr wrap="square" lIns="0" rIns="0" tIns="0" bIns="0" anchor="t">
            <a:spAutoFit/>
          </a:bodyPr>
          <a:lstStyle/>
          <a:p>
            <a:pPr algn="l"/>
            <a:r>
              <a:rPr sz="1200" b="0" i="1">
                <a:solidFill>
                  <a:srgbClr val="D97A14"/>
                </a:solidFill>
                <a:latin typeface="Calibri"/>
              </a:rPr>
              <a:t>Think of an oven that turns dough into bread.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Release tags sort by number, not by letters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A release tag names the version; a release candidate carries rc</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edition numbers: the tenth edition follows the ninth</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11 / 42</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8107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final = [t </a:t>
            </a:r>
            <a:r>
              <a:rPr sz="1000" b="1" i="0">
                <a:solidFill>
                  <a:srgbClr val="F2A860"/>
                </a:solidFill>
                <a:latin typeface="Courier New"/>
              </a:rPr>
              <a:t>for</a:t>
            </a:r>
            <a:r>
              <a:rPr sz="1000" b="0" i="0">
                <a:solidFill>
                  <a:srgbClr val="E6EDF3"/>
                </a:solidFill>
                <a:latin typeface="Courier New"/>
              </a:rPr>
              <a:t> t </a:t>
            </a:r>
            <a:r>
              <a:rPr sz="1000" b="1" i="0">
                <a:solidFill>
                  <a:srgbClr val="F2A860"/>
                </a:solidFill>
                <a:latin typeface="Courier New"/>
              </a:rPr>
              <a:t>in</a:t>
            </a:r>
            <a:r>
              <a:rPr sz="1000" b="0" i="0">
                <a:solidFill>
                  <a:srgbClr val="E6EDF3"/>
                </a:solidFill>
                <a:latin typeface="Courier New"/>
              </a:rPr>
              <a:t> T.TAGS </a:t>
            </a:r>
            <a:r>
              <a:rPr sz="1000" b="1" i="0">
                <a:solidFill>
                  <a:srgbClr val="F2A860"/>
                </a:solidFill>
                <a:latin typeface="Courier New"/>
              </a:rPr>
              <a:t>if</a:t>
            </a:r>
            <a:r>
              <a:rPr sz="1000" b="0" i="0">
                <a:solidFill>
                  <a:srgbClr val="E6EDF3"/>
                </a:solidFill>
                <a:latin typeface="Courier New"/>
              </a:rPr>
              <a:t> </a:t>
            </a:r>
            <a:r>
              <a:rPr sz="1000" b="0" i="0">
                <a:solidFill>
                  <a:srgbClr val="9ECBFF"/>
                </a:solidFill>
                <a:latin typeface="Courier New"/>
              </a:rPr>
              <a:t>'rc'</a:t>
            </a:r>
            <a:r>
              <a:rPr sz="1000" b="0" i="0">
                <a:solidFill>
                  <a:srgbClr val="E6EDF3"/>
                </a:solidFill>
                <a:latin typeface="Courier New"/>
              </a:rPr>
              <a:t> </a:t>
            </a:r>
            <a:r>
              <a:rPr sz="1000" b="1" i="0">
                <a:solidFill>
                  <a:srgbClr val="F2A860"/>
                </a:solidFill>
                <a:latin typeface="Courier New"/>
              </a:rPr>
              <a:t>not</a:t>
            </a:r>
            <a:r>
              <a:rPr sz="1000" b="0" i="0">
                <a:solidFill>
                  <a:srgbClr val="E6EDF3"/>
                </a:solidFill>
                <a:latin typeface="Courier New"/>
              </a:rPr>
              <a:t> </a:t>
            </a:r>
            <a:r>
              <a:rPr sz="1000" b="1" i="0">
                <a:solidFill>
                  <a:srgbClr val="F2A860"/>
                </a:solidFill>
                <a:latin typeface="Courier New"/>
              </a:rPr>
              <a:t>in</a:t>
            </a:r>
            <a:r>
              <a:rPr sz="1000" b="0" i="0">
                <a:solidFill>
                  <a:srgbClr val="E6EDF3"/>
                </a:solidFill>
                <a:latin typeface="Courier New"/>
              </a:rPr>
              <a:t> t]</a:t>
            </a:r>
          </a:p>
        </p:txBody>
      </p:sp>
      <p:sp>
        <p:nvSpPr>
          <p:cNvPr id="11" name="TextBox 10"/>
          <p:cNvSpPr txBox="1"/>
          <p:nvPr/>
        </p:nvSpPr>
        <p:spPr>
          <a:xfrm>
            <a:off x="603504" y="2093976"/>
            <a:ext cx="4937760" cy="6278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text = sorted(final)</a:t>
            </a:r>
          </a:p>
          <a:p>
            <a:pPr algn="l"/>
            <a:r>
              <a:rPr sz="1000" b="1" i="0">
                <a:solidFill>
                  <a:srgbClr val="F2A860"/>
                </a:solidFill>
                <a:latin typeface="Courier New"/>
              </a:rPr>
              <a:t>&gt;&gt;&gt; </a:t>
            </a:r>
            <a:r>
              <a:rPr sz="1000" b="0" i="0">
                <a:solidFill>
                  <a:srgbClr val="E6EDF3"/>
                </a:solidFill>
                <a:latin typeface="Courier New"/>
              </a:rPr>
              <a:t>num = sorted(final, key=T.version_key)</a:t>
            </a:r>
          </a:p>
          <a:p>
            <a:pPr algn="l"/>
            <a:r>
              <a:rPr sz="1000" b="1" i="0">
                <a:solidFill>
                  <a:srgbClr val="F2A860"/>
                </a:solidFill>
                <a:latin typeface="Courier New"/>
              </a:rPr>
              <a:t>&gt;&gt;&gt; </a:t>
            </a:r>
            <a:r>
              <a:rPr sz="1000" b="0" i="0">
                <a:solidFill>
                  <a:srgbClr val="E6EDF3"/>
                </a:solidFill>
                <a:latin typeface="Courier New"/>
              </a:rPr>
              <a:t>(text[</a:t>
            </a:r>
            <a:r>
              <a:rPr sz="1000" b="0" i="0">
                <a:solidFill>
                  <a:srgbClr val="FFD28A"/>
                </a:solidFill>
                <a:latin typeface="Courier New"/>
              </a:rPr>
              <a:t>0</a:t>
            </a:r>
            <a:r>
              <a:rPr sz="1000" b="0" i="0">
                <a:solidFill>
                  <a:srgbClr val="E6EDF3"/>
                </a:solidFill>
                <a:latin typeface="Courier New"/>
              </a:rPr>
              <a:t>], num[</a:t>
            </a:r>
            <a:r>
              <a:rPr sz="1000" b="0" i="0">
                <a:solidFill>
                  <a:srgbClr val="FFD28A"/>
                </a:solidFill>
                <a:latin typeface="Courier New"/>
              </a:rPr>
              <a:t>0</a:t>
            </a:r>
            <a:r>
              <a:rPr sz="1000" b="0" i="0">
                <a:solidFill>
                  <a:srgbClr val="E6EDF3"/>
                </a:solidFill>
                <a:latin typeface="Courier New"/>
              </a:rPr>
              <a:t>])</a:t>
            </a:r>
          </a:p>
          <a:p>
            <a:pPr algn="l"/>
            <a:r>
              <a:rPr sz="1000" b="0" i="0">
                <a:solidFill>
                  <a:srgbClr val="7EE787"/>
                </a:solidFill>
                <a:latin typeface="Courier New"/>
              </a:rPr>
              <a:t>('v0.10.0', 'v0.9.5')</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Release candidates carry rc in their tag; the final releases do not.</a:t>
            </a:r>
          </a:p>
        </p:txBody>
      </p:sp>
      <p:sp>
        <p:nvSpPr>
          <p:cNvPr id="13" name="TextBox 12"/>
          <p:cNvSpPr txBox="1"/>
          <p:nvPr/>
        </p:nvSpPr>
        <p:spPr>
          <a:xfrm>
            <a:off x="457200" y="2868168"/>
            <a:ext cx="5212080" cy="371855"/>
          </a:xfrm>
          <a:prstGeom prst="rect">
            <a:avLst/>
          </a:prstGeom>
          <a:noFill/>
        </p:spPr>
        <p:txBody>
          <a:bodyPr wrap="square" lIns="0" rIns="0" tIns="0" bIns="0" anchor="t">
            <a:spAutoFit/>
          </a:bodyPr>
          <a:lstStyle/>
          <a:p>
            <a:pPr algn="l"/>
            <a:r>
              <a:rPr sz="1100" b="0" i="0">
                <a:solidFill>
                  <a:srgbClr val="2B2622"/>
                </a:solidFill>
                <a:latin typeface="Calibri"/>
              </a:rPr>
              <a:t>Sorted as text, v0.10.0 comes before v0.9.5; sorted by number, the oldest comes first.</a:t>
            </a:r>
          </a:p>
        </p:txBody>
      </p:sp>
      <p:sp>
        <p:nvSpPr>
          <p:cNvPr id="14" name="TextBox 13"/>
          <p:cNvSpPr txBox="1"/>
          <p:nvPr/>
        </p:nvSpPr>
        <p:spPr>
          <a:xfrm>
            <a:off x="457200" y="331317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Recorded data: git tags listed on 2026-10-04 - T is the chapter library</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oldest tags, in two orders</a:t>
            </a:r>
          </a:p>
        </p:txBody>
      </p:sp>
      <p:graphicFrame>
        <p:nvGraphicFramePr>
          <p:cNvPr id="16" name="Table 15"/>
          <p:cNvGraphicFramePr>
            <a:graphicFrameLocks noGrp="1"/>
          </p:cNvGraphicFramePr>
          <p:nvPr/>
        </p:nvGraphicFramePr>
        <p:xfrm>
          <a:off x="5852160" y="1691640"/>
          <a:ext cx="2834640" cy="1463040"/>
        </p:xfrm>
        <a:graphic>
          <a:graphicData uri="http://schemas.openxmlformats.org/drawingml/2006/table">
            <a:tbl>
              <a:tblPr firstRow="1" bandRow="1">
                <a:tableStyleId>{5C22544A-7EE6-4342-B048-85BDC9FD1C3A}</a:tableStyleId>
              </a:tblPr>
              <a:tblGrid>
                <a:gridCol w="548640"/>
                <a:gridCol w="1143000"/>
                <a:gridCol w="1143000"/>
              </a:tblGrid>
              <a:tr h="292608">
                <a:tc>
                  <a:txBody>
                    <a:bodyPr/>
                    <a:lstStyle/>
                    <a:p>
                      <a:pPr algn="ctr"/>
                      <a:r>
                        <a:rPr sz="1000" b="1">
                          <a:solidFill>
                            <a:srgbClr val="FFFFFF"/>
                          </a:solidFill>
                          <a:latin typeface="Calibri"/>
                        </a:rPr>
                        <a:t>Rank</a:t>
                      </a:r>
                    </a:p>
                  </a:txBody>
                  <a:tcPr marL="54864" marR="54864" marT="27432" marB="27432" anchor="ctr">
                    <a:solidFill>
                      <a:srgbClr val="2F6D62"/>
                    </a:solidFill>
                  </a:tcPr>
                </a:tc>
                <a:tc>
                  <a:txBody>
                    <a:bodyPr/>
                    <a:lstStyle/>
                    <a:p>
                      <a:pPr algn="l"/>
                      <a:r>
                        <a:rPr sz="1000" b="1">
                          <a:solidFill>
                            <a:srgbClr val="FFFFFF"/>
                          </a:solidFill>
                          <a:latin typeface="Calibri"/>
                        </a:rPr>
                        <a:t>As text</a:t>
                      </a:r>
                    </a:p>
                  </a:txBody>
                  <a:tcPr marL="54864" marR="54864" marT="27432" marB="27432" anchor="ctr">
                    <a:solidFill>
                      <a:srgbClr val="2F6D62"/>
                    </a:solidFill>
                  </a:tcPr>
                </a:tc>
                <a:tc>
                  <a:txBody>
                    <a:bodyPr/>
                    <a:lstStyle/>
                    <a:p>
                      <a:pPr algn="l"/>
                      <a:r>
                        <a:rPr sz="1000" b="1">
                          <a:solidFill>
                            <a:srgbClr val="FFFFFF"/>
                          </a:solidFill>
                          <a:latin typeface="Calibri"/>
                        </a:rPr>
                        <a:t>By number</a:t>
                      </a:r>
                    </a:p>
                  </a:txBody>
                  <a:tcPr marL="54864" marR="54864" marT="27432" marB="27432" anchor="ctr">
                    <a:solidFill>
                      <a:srgbClr val="2F6D62"/>
                    </a:solidFill>
                  </a:tcPr>
                </a:tc>
              </a:tr>
              <a:tr h="292608">
                <a:tc>
                  <a:txBody>
                    <a:bodyPr/>
                    <a:lstStyle/>
                    <a:p>
                      <a:pPr algn="ctr"/>
                      <a:r>
                        <a:rPr sz="1000" b="0">
                          <a:solidFill>
                            <a:srgbClr val="2B2622"/>
                          </a:solidFill>
                          <a:latin typeface="Calibri"/>
                        </a:rPr>
                        <a:t>1</a:t>
                      </a:r>
                    </a:p>
                  </a:txBody>
                  <a:tcPr marL="54864" marR="54864" marT="27432" marB="27432" anchor="ctr">
                    <a:solidFill>
                      <a:srgbClr val="FFFFFF"/>
                    </a:solidFill>
                  </a:tcPr>
                </a:tc>
                <a:tc>
                  <a:txBody>
                    <a:bodyPr/>
                    <a:lstStyle/>
                    <a:p>
                      <a:pPr algn="l"/>
                      <a:r>
                        <a:rPr sz="1000" b="0">
                          <a:solidFill>
                            <a:srgbClr val="2B2622"/>
                          </a:solidFill>
                          <a:latin typeface="Calibri"/>
                        </a:rPr>
                        <a:t>v0.10.0</a:t>
                      </a:r>
                    </a:p>
                  </a:txBody>
                  <a:tcPr marL="54864" marR="54864" marT="27432" marB="27432" anchor="ctr">
                    <a:solidFill>
                      <a:srgbClr val="FFFFFF"/>
                    </a:solidFill>
                  </a:tcPr>
                </a:tc>
                <a:tc>
                  <a:txBody>
                    <a:bodyPr/>
                    <a:lstStyle/>
                    <a:p>
                      <a:pPr algn="l"/>
                      <a:r>
                        <a:rPr sz="1000" b="0">
                          <a:solidFill>
                            <a:srgbClr val="2B2622"/>
                          </a:solidFill>
                          <a:latin typeface="Calibri"/>
                        </a:rPr>
                        <a:t>v0.9.5</a:t>
                      </a:r>
                    </a:p>
                  </a:txBody>
                  <a:tcPr marL="54864" marR="54864" marT="27432" marB="27432" anchor="ctr">
                    <a:solidFill>
                      <a:srgbClr val="FFFFFF"/>
                    </a:solidFill>
                  </a:tcPr>
                </a:tc>
              </a:tr>
              <a:tr h="292608">
                <a:tc>
                  <a:txBody>
                    <a:bodyPr/>
                    <a:lstStyle/>
                    <a:p>
                      <a:pPr algn="ctr"/>
                      <a:r>
                        <a:rPr sz="1000" b="0">
                          <a:solidFill>
                            <a:srgbClr val="2B2622"/>
                          </a:solidFill>
                          <a:latin typeface="Calibri"/>
                        </a:rPr>
                        <a:t>2</a:t>
                      </a:r>
                    </a:p>
                  </a:txBody>
                  <a:tcPr marL="54864" marR="54864" marT="27432" marB="27432" anchor="ctr">
                    <a:solidFill>
                      <a:srgbClr val="F2ECE1"/>
                    </a:solidFill>
                  </a:tcPr>
                </a:tc>
                <a:tc>
                  <a:txBody>
                    <a:bodyPr/>
                    <a:lstStyle/>
                    <a:p>
                      <a:pPr algn="l"/>
                      <a:r>
                        <a:rPr sz="1000" b="0">
                          <a:solidFill>
                            <a:srgbClr val="2B2622"/>
                          </a:solidFill>
                          <a:latin typeface="Calibri"/>
                        </a:rPr>
                        <a:t>v0.21.2</a:t>
                      </a:r>
                    </a:p>
                  </a:txBody>
                  <a:tcPr marL="54864" marR="54864" marT="27432" marB="27432" anchor="ctr">
                    <a:solidFill>
                      <a:srgbClr val="F2ECE1"/>
                    </a:solidFill>
                  </a:tcPr>
                </a:tc>
                <a:tc>
                  <a:txBody>
                    <a:bodyPr/>
                    <a:lstStyle/>
                    <a:p>
                      <a:pPr algn="l"/>
                      <a:r>
                        <a:rPr sz="1000" b="0">
                          <a:solidFill>
                            <a:srgbClr val="2B2622"/>
                          </a:solidFill>
                          <a:latin typeface="Calibri"/>
                        </a:rPr>
                        <a:t>v0.10.0</a:t>
                      </a:r>
                    </a:p>
                  </a:txBody>
                  <a:tcPr marL="54864" marR="54864" marT="27432" marB="27432" anchor="ctr">
                    <a:solidFill>
                      <a:srgbClr val="F2ECE1"/>
                    </a:solidFill>
                  </a:tcPr>
                </a:tc>
              </a:tr>
              <a:tr h="292608">
                <a:tc>
                  <a:txBody>
                    <a:bodyPr/>
                    <a:lstStyle/>
                    <a:p>
                      <a:pPr algn="ctr"/>
                      <a:r>
                        <a:rPr sz="1000" b="0">
                          <a:solidFill>
                            <a:srgbClr val="2B2622"/>
                          </a:solidFill>
                          <a:latin typeface="Calibri"/>
                        </a:rPr>
                        <a:t>3</a:t>
                      </a:r>
                    </a:p>
                  </a:txBody>
                  <a:tcPr marL="54864" marR="54864" marT="27432" marB="27432" anchor="ctr">
                    <a:solidFill>
                      <a:srgbClr val="FFFFFF"/>
                    </a:solidFill>
                  </a:tcPr>
                </a:tc>
                <a:tc>
                  <a:txBody>
                    <a:bodyPr/>
                    <a:lstStyle/>
                    <a:p>
                      <a:pPr algn="l"/>
                      <a:r>
                        <a:rPr sz="1000" b="0">
                          <a:solidFill>
                            <a:srgbClr val="2B2622"/>
                          </a:solidFill>
                          <a:latin typeface="Calibri"/>
                        </a:rPr>
                        <a:t>v0.9.5</a:t>
                      </a:r>
                    </a:p>
                  </a:txBody>
                  <a:tcPr marL="54864" marR="54864" marT="27432" marB="27432" anchor="ctr">
                    <a:solidFill>
                      <a:srgbClr val="FFFFFF"/>
                    </a:solidFill>
                  </a:tcPr>
                </a:tc>
                <a:tc>
                  <a:txBody>
                    <a:bodyPr/>
                    <a:lstStyle/>
                    <a:p>
                      <a:pPr algn="l"/>
                      <a:r>
                        <a:rPr sz="1000" b="0">
                          <a:solidFill>
                            <a:srgbClr val="2B2622"/>
                          </a:solidFill>
                          <a:latin typeface="Calibri"/>
                        </a:rPr>
                        <a:t>v0.21.2</a:t>
                      </a:r>
                    </a:p>
                  </a:txBody>
                  <a:tcPr marL="54864" marR="54864" marT="27432" marB="27432" anchor="ctr">
                    <a:solidFill>
                      <a:srgbClr val="FFFFFF"/>
                    </a:solidFill>
                  </a:tcPr>
                </a:tc>
              </a:tr>
              <a:tr h="292608">
                <a:tc>
                  <a:txBody>
                    <a:bodyPr/>
                    <a:lstStyle/>
                    <a:p>
                      <a:pPr algn="ctr"/>
                      <a:r>
                        <a:rPr sz="1000" b="0">
                          <a:solidFill>
                            <a:srgbClr val="2B2622"/>
                          </a:solidFill>
                          <a:latin typeface="Calibri"/>
                        </a:rPr>
                        <a:t>4</a:t>
                      </a:r>
                    </a:p>
                  </a:txBody>
                  <a:tcPr marL="54864" marR="54864" marT="27432" marB="27432" anchor="ctr">
                    <a:solidFill>
                      <a:srgbClr val="F2ECE1"/>
                    </a:solidFill>
                  </a:tcPr>
                </a:tc>
                <a:tc>
                  <a:txBody>
                    <a:bodyPr/>
                    <a:lstStyle/>
                    <a:p>
                      <a:pPr algn="l"/>
                      <a:r>
                        <a:rPr sz="1000" b="0">
                          <a:solidFill>
                            <a:srgbClr val="2B2622"/>
                          </a:solidFill>
                          <a:latin typeface="Calibri"/>
                        </a:rPr>
                        <a:t>v22.0</a:t>
                      </a:r>
                    </a:p>
                  </a:txBody>
                  <a:tcPr marL="54864" marR="54864" marT="27432" marB="27432" anchor="ctr">
                    <a:solidFill>
                      <a:srgbClr val="F2ECE1"/>
                    </a:solidFill>
                  </a:tcPr>
                </a:tc>
                <a:tc>
                  <a:txBody>
                    <a:bodyPr/>
                    <a:lstStyle/>
                    <a:p>
                      <a:pPr algn="l"/>
                      <a:r>
                        <a:rPr sz="1000" b="0">
                          <a:solidFill>
                            <a:srgbClr val="2B2622"/>
                          </a:solidFill>
                          <a:latin typeface="Calibri"/>
                        </a:rPr>
                        <a:t>v22.0</a:t>
                      </a:r>
                    </a:p>
                  </a:txBody>
                  <a:tcPr marL="54864" marR="54864" marT="27432" marB="27432" anchor="ctr">
                    <a:solidFill>
                      <a:srgbClr val="F2ECE1"/>
                    </a:solidFill>
                  </a:tcPr>
                </a:tc>
              </a:tr>
            </a:tbl>
          </a:graphicData>
        </a:graphic>
      </p:graphicFrame>
      <p:sp>
        <p:nvSpPr>
          <p:cNvPr id="17" name="TextBox 16"/>
          <p:cNvSpPr txBox="1"/>
          <p:nvPr/>
        </p:nvSpPr>
        <p:spPr>
          <a:xfrm>
            <a:off x="5852160" y="3264408"/>
            <a:ext cx="2834640" cy="685800"/>
          </a:xfrm>
          <a:prstGeom prst="rect">
            <a:avLst/>
          </a:prstGeom>
          <a:noFill/>
        </p:spPr>
        <p:txBody>
          <a:bodyPr wrap="square" lIns="0" rIns="0" tIns="0" bIns="0" anchor="t">
            <a:spAutoFit/>
          </a:bodyPr>
          <a:lstStyle/>
          <a:p>
            <a:pPr algn="l"/>
            <a:r>
              <a:rPr sz="1100" b="0" i="0">
                <a:solidFill>
                  <a:srgbClr val="2B2622"/>
                </a:solidFill>
                <a:latin typeface="Calibri"/>
              </a:rPr>
              <a:t>As text, v0.10.0 comes first; by number the oldest tag, v0.9.5, does.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What a release folder holds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bitcoind is the node; bitcoin-cli is the client that calls it</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bitcoind as the engine and bitcoin-cli as the steering wheel</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12 / 42</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32257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bins = T.LAYOUT[</a:t>
            </a:r>
            <a:r>
              <a:rPr sz="1000" b="0" i="0">
                <a:solidFill>
                  <a:srgbClr val="9ECBFF"/>
                </a:solidFill>
                <a:latin typeface="Courier New"/>
              </a:rPr>
              <a:t>'bin'</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libs = T.LAYOUT[</a:t>
            </a:r>
            <a:r>
              <a:rPr sz="1000" b="0" i="0">
                <a:solidFill>
                  <a:srgbClr val="9ECBFF"/>
                </a:solidFill>
                <a:latin typeface="Courier New"/>
              </a:rPr>
              <a:t>'libexec'</a:t>
            </a:r>
            <a:r>
              <a:rPr sz="1000" b="0" i="0">
                <a:solidFill>
                  <a:srgbClr val="E6EDF3"/>
                </a:solidFill>
                <a:latin typeface="Courier New"/>
              </a:rPr>
              <a:t>]</a:t>
            </a:r>
          </a:p>
        </p:txBody>
      </p:sp>
      <p:sp>
        <p:nvSpPr>
          <p:cNvPr id="11" name="TextBox 10"/>
          <p:cNvSpPr txBox="1"/>
          <p:nvPr/>
        </p:nvSpPr>
        <p:spPr>
          <a:xfrm>
            <a:off x="603504" y="241401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(len(bins), len(libs), </a:t>
            </a:r>
            <a:r>
              <a:rPr sz="1000" b="0" i="0">
                <a:solidFill>
                  <a:srgbClr val="9ECBFF"/>
                </a:solidFill>
                <a:latin typeface="Courier New"/>
              </a:rPr>
              <a:t>'bitcoind'</a:t>
            </a:r>
            <a:r>
              <a:rPr sz="1000" b="0" i="0">
                <a:solidFill>
                  <a:srgbClr val="E6EDF3"/>
                </a:solidFill>
                <a:latin typeface="Courier New"/>
              </a:rPr>
              <a:t> </a:t>
            </a:r>
            <a:r>
              <a:rPr sz="1000" b="1" i="0">
                <a:solidFill>
                  <a:srgbClr val="F2A860"/>
                </a:solidFill>
                <a:latin typeface="Courier New"/>
              </a:rPr>
              <a:t>in</a:t>
            </a:r>
            <a:r>
              <a:rPr sz="1000" b="0" i="0">
                <a:solidFill>
                  <a:srgbClr val="E6EDF3"/>
                </a:solidFill>
                <a:latin typeface="Courier New"/>
              </a:rPr>
              <a:t> bins)</a:t>
            </a:r>
          </a:p>
          <a:p>
            <a:pPr algn="l"/>
            <a:r>
              <a:rPr sz="1000" b="0" i="0">
                <a:solidFill>
                  <a:srgbClr val="7EE787"/>
                </a:solidFill>
                <a:latin typeface="Courier New"/>
              </a:rPr>
              <a:t>(7, 3, True)</a:t>
            </a:r>
          </a:p>
        </p:txBody>
      </p:sp>
      <p:sp>
        <p:nvSpPr>
          <p:cNvPr id="12" name="TextBox 11"/>
          <p:cNvSpPr txBox="1"/>
          <p:nvPr/>
        </p:nvSpPr>
        <p:spPr>
          <a:xfrm>
            <a:off x="457200" y="1840991"/>
            <a:ext cx="5212080" cy="371855"/>
          </a:xfrm>
          <a:prstGeom prst="rect">
            <a:avLst/>
          </a:prstGeom>
          <a:noFill/>
        </p:spPr>
        <p:txBody>
          <a:bodyPr wrap="square" lIns="0" rIns="0" tIns="0" bIns="0" anchor="t">
            <a:spAutoFit/>
          </a:bodyPr>
          <a:lstStyle/>
          <a:p>
            <a:pPr algn="l"/>
            <a:r>
              <a:rPr sz="1100" b="0" i="0">
                <a:solidFill>
                  <a:srgbClr val="2B2622"/>
                </a:solidFill>
                <a:latin typeface="Calibri"/>
              </a:rPr>
              <a:t>A release unpacks into a bin folder of programs and a libexec folder of parts they use.</a:t>
            </a:r>
          </a:p>
        </p:txBody>
      </p:sp>
      <p:sp>
        <p:nvSpPr>
          <p:cNvPr id="13" name="TextBox 12"/>
          <p:cNvSpPr txBox="1"/>
          <p:nvPr/>
        </p:nvSpPr>
        <p:spPr>
          <a:xfrm>
            <a:off x="457200" y="2883408"/>
            <a:ext cx="5212080" cy="204216"/>
          </a:xfrm>
          <a:prstGeom prst="rect">
            <a:avLst/>
          </a:prstGeom>
          <a:noFill/>
        </p:spPr>
        <p:txBody>
          <a:bodyPr wrap="square" lIns="0" rIns="0" tIns="0" bIns="0" anchor="t">
            <a:spAutoFit/>
          </a:bodyPr>
          <a:lstStyle/>
          <a:p>
            <a:pPr algn="l"/>
            <a:r>
              <a:rPr sz="1100" b="0" i="0">
                <a:solidFill>
                  <a:srgbClr val="2B2622"/>
                </a:solidFill>
                <a:latin typeface="Calibri"/>
              </a:rPr>
              <a:t>Seven programs, among them the node bitcoind and its client bitcoin-cli.</a:t>
            </a:r>
          </a:p>
        </p:txBody>
      </p:sp>
      <p:sp>
        <p:nvSpPr>
          <p:cNvPr id="14" name="TextBox 13"/>
          <p:cNvSpPr txBox="1"/>
          <p:nvPr/>
        </p:nvSpPr>
        <p:spPr>
          <a:xfrm>
            <a:off x="457200" y="316077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Recorded data: file list of release 31.1 - T is the chapter library</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programs of release 31.1</a:t>
            </a:r>
          </a:p>
        </p:txBody>
      </p:sp>
      <p:graphicFrame>
        <p:nvGraphicFramePr>
          <p:cNvPr id="16" name="Table 15"/>
          <p:cNvGraphicFramePr>
            <a:graphicFrameLocks noGrp="1"/>
          </p:cNvGraphicFramePr>
          <p:nvPr/>
        </p:nvGraphicFramePr>
        <p:xfrm>
          <a:off x="5852160" y="1691640"/>
          <a:ext cx="2834640" cy="2084824"/>
        </p:xfrm>
        <a:graphic>
          <a:graphicData uri="http://schemas.openxmlformats.org/drawingml/2006/table">
            <a:tbl>
              <a:tblPr firstRow="1" bandRow="1">
                <a:tableStyleId>{5C22544A-7EE6-4342-B048-85BDC9FD1C3A}</a:tableStyleId>
              </a:tblPr>
              <a:tblGrid>
                <a:gridCol w="1051560"/>
                <a:gridCol w="1783080"/>
              </a:tblGrid>
              <a:tr h="260603">
                <a:tc>
                  <a:txBody>
                    <a:bodyPr/>
                    <a:lstStyle/>
                    <a:p>
                      <a:pPr algn="l"/>
                      <a:r>
                        <a:rPr sz="950" b="1">
                          <a:solidFill>
                            <a:srgbClr val="FFFFFF"/>
                          </a:solidFill>
                          <a:latin typeface="Calibri"/>
                        </a:rPr>
                        <a:t>Program</a:t>
                      </a:r>
                    </a:p>
                  </a:txBody>
                  <a:tcPr marL="54864" marR="54864" marT="27432" marB="27432" anchor="ctr">
                    <a:solidFill>
                      <a:srgbClr val="2F6D62"/>
                    </a:solidFill>
                  </a:tcPr>
                </a:tc>
                <a:tc>
                  <a:txBody>
                    <a:bodyPr/>
                    <a:lstStyle/>
                    <a:p>
                      <a:pPr algn="l"/>
                      <a:r>
                        <a:rPr sz="950" b="1">
                          <a:solidFill>
                            <a:srgbClr val="FFFFFF"/>
                          </a:solidFill>
                          <a:latin typeface="Calibri"/>
                        </a:rPr>
                        <a:t>What it does</a:t>
                      </a:r>
                    </a:p>
                  </a:txBody>
                  <a:tcPr marL="54864" marR="54864" marT="27432" marB="27432" anchor="ctr">
                    <a:solidFill>
                      <a:srgbClr val="2F6D62"/>
                    </a:solidFill>
                  </a:tcPr>
                </a:tc>
              </a:tr>
              <a:tr h="260603">
                <a:tc>
                  <a:txBody>
                    <a:bodyPr/>
                    <a:lstStyle/>
                    <a:p>
                      <a:pPr algn="l"/>
                      <a:r>
                        <a:rPr sz="950" b="0">
                          <a:solidFill>
                            <a:srgbClr val="2B2622"/>
                          </a:solidFill>
                          <a:latin typeface="Calibri"/>
                        </a:rPr>
                        <a:t>bitcoin</a:t>
                      </a:r>
                    </a:p>
                  </a:txBody>
                  <a:tcPr marL="54864" marR="54864" marT="27432" marB="27432" anchor="ctr">
                    <a:solidFill>
                      <a:srgbClr val="FFFFFF"/>
                    </a:solidFill>
                  </a:tcPr>
                </a:tc>
                <a:tc>
                  <a:txBody>
                    <a:bodyPr/>
                    <a:lstStyle/>
                    <a:p>
                      <a:pPr algn="l"/>
                      <a:r>
                        <a:rPr sz="950" b="0">
                          <a:solidFill>
                            <a:srgbClr val="2B2622"/>
                          </a:solidFill>
                          <a:latin typeface="Calibri"/>
                        </a:rPr>
                        <a:t>starts the other programs</a:t>
                      </a:r>
                    </a:p>
                  </a:txBody>
                  <a:tcPr marL="54864" marR="54864" marT="27432" marB="27432" anchor="ctr">
                    <a:solidFill>
                      <a:srgbClr val="FFFFFF"/>
                    </a:solidFill>
                  </a:tcPr>
                </a:tc>
              </a:tr>
              <a:tr h="260603">
                <a:tc>
                  <a:txBody>
                    <a:bodyPr/>
                    <a:lstStyle/>
                    <a:p>
                      <a:pPr algn="l"/>
                      <a:r>
                        <a:rPr sz="950" b="0">
                          <a:solidFill>
                            <a:srgbClr val="2B2622"/>
                          </a:solidFill>
                          <a:latin typeface="Calibri"/>
                        </a:rPr>
                        <a:t>bitcoin-cli</a:t>
                      </a:r>
                    </a:p>
                  </a:txBody>
                  <a:tcPr marL="54864" marR="54864" marT="27432" marB="27432" anchor="ctr">
                    <a:solidFill>
                      <a:srgbClr val="F2ECE1"/>
                    </a:solidFill>
                  </a:tcPr>
                </a:tc>
                <a:tc>
                  <a:txBody>
                    <a:bodyPr/>
                    <a:lstStyle/>
                    <a:p>
                      <a:pPr algn="l"/>
                      <a:r>
                        <a:rPr sz="950" b="0">
                          <a:solidFill>
                            <a:srgbClr val="2B2622"/>
                          </a:solidFill>
                          <a:latin typeface="Calibri"/>
                        </a:rPr>
                        <a:t>calls the node by name</a:t>
                      </a:r>
                    </a:p>
                  </a:txBody>
                  <a:tcPr marL="54864" marR="54864" marT="27432" marB="27432" anchor="ctr">
                    <a:solidFill>
                      <a:srgbClr val="F2ECE1"/>
                    </a:solidFill>
                  </a:tcPr>
                </a:tc>
              </a:tr>
              <a:tr h="260603">
                <a:tc>
                  <a:txBody>
                    <a:bodyPr/>
                    <a:lstStyle/>
                    <a:p>
                      <a:pPr algn="l"/>
                      <a:r>
                        <a:rPr sz="950" b="0">
                          <a:solidFill>
                            <a:srgbClr val="2B2622"/>
                          </a:solidFill>
                          <a:latin typeface="Calibri"/>
                        </a:rPr>
                        <a:t>bitcoin-qt</a:t>
                      </a:r>
                    </a:p>
                  </a:txBody>
                  <a:tcPr marL="54864" marR="54864" marT="27432" marB="27432" anchor="ctr">
                    <a:solidFill>
                      <a:srgbClr val="FFFFFF"/>
                    </a:solidFill>
                  </a:tcPr>
                </a:tc>
                <a:tc>
                  <a:txBody>
                    <a:bodyPr/>
                    <a:lstStyle/>
                    <a:p>
                      <a:pPr algn="l"/>
                      <a:r>
                        <a:rPr sz="950" b="0">
                          <a:solidFill>
                            <a:srgbClr val="2B2622"/>
                          </a:solidFill>
                          <a:latin typeface="Calibri"/>
                        </a:rPr>
                        <a:t>node with a window</a:t>
                      </a:r>
                    </a:p>
                  </a:txBody>
                  <a:tcPr marL="54864" marR="54864" marT="27432" marB="27432" anchor="ctr">
                    <a:solidFill>
                      <a:srgbClr val="FFFFFF"/>
                    </a:solidFill>
                  </a:tcPr>
                </a:tc>
              </a:tr>
              <a:tr h="260603">
                <a:tc>
                  <a:txBody>
                    <a:bodyPr/>
                    <a:lstStyle/>
                    <a:p>
                      <a:pPr algn="l"/>
                      <a:r>
                        <a:rPr sz="950" b="0">
                          <a:solidFill>
                            <a:srgbClr val="2B2622"/>
                          </a:solidFill>
                          <a:latin typeface="Calibri"/>
                        </a:rPr>
                        <a:t>bitcoin-tx</a:t>
                      </a:r>
                    </a:p>
                  </a:txBody>
                  <a:tcPr marL="54864" marR="54864" marT="27432" marB="27432" anchor="ctr">
                    <a:solidFill>
                      <a:srgbClr val="F2ECE1"/>
                    </a:solidFill>
                  </a:tcPr>
                </a:tc>
                <a:tc>
                  <a:txBody>
                    <a:bodyPr/>
                    <a:lstStyle/>
                    <a:p>
                      <a:pPr algn="l"/>
                      <a:r>
                        <a:rPr sz="950" b="0">
                          <a:solidFill>
                            <a:srgbClr val="2B2622"/>
                          </a:solidFill>
                          <a:latin typeface="Calibri"/>
                        </a:rPr>
                        <a:t>builds and edits transactions</a:t>
                      </a:r>
                    </a:p>
                  </a:txBody>
                  <a:tcPr marL="54864" marR="54864" marT="27432" marB="27432" anchor="ctr">
                    <a:solidFill>
                      <a:srgbClr val="F2ECE1"/>
                    </a:solidFill>
                  </a:tcPr>
                </a:tc>
              </a:tr>
              <a:tr h="260603">
                <a:tc>
                  <a:txBody>
                    <a:bodyPr/>
                    <a:lstStyle/>
                    <a:p>
                      <a:pPr algn="l"/>
                      <a:r>
                        <a:rPr sz="950" b="0">
                          <a:solidFill>
                            <a:srgbClr val="2B2622"/>
                          </a:solidFill>
                          <a:latin typeface="Calibri"/>
                        </a:rPr>
                        <a:t>bitcoin-util</a:t>
                      </a:r>
                    </a:p>
                  </a:txBody>
                  <a:tcPr marL="54864" marR="54864" marT="27432" marB="27432" anchor="ctr">
                    <a:solidFill>
                      <a:srgbClr val="FFFFFF"/>
                    </a:solidFill>
                  </a:tcPr>
                </a:tc>
                <a:tc>
                  <a:txBody>
                    <a:bodyPr/>
                    <a:lstStyle/>
                    <a:p>
                      <a:pPr algn="l"/>
                      <a:r>
                        <a:rPr sz="950" b="0">
                          <a:solidFill>
                            <a:srgbClr val="2B2622"/>
                          </a:solidFill>
                          <a:latin typeface="Calibri"/>
                        </a:rPr>
                        <a:t>small helper commands</a:t>
                      </a:r>
                    </a:p>
                  </a:txBody>
                  <a:tcPr marL="54864" marR="54864" marT="27432" marB="27432" anchor="ctr">
                    <a:solidFill>
                      <a:srgbClr val="FFFFFF"/>
                    </a:solidFill>
                  </a:tcPr>
                </a:tc>
              </a:tr>
              <a:tr h="260603">
                <a:tc>
                  <a:txBody>
                    <a:bodyPr/>
                    <a:lstStyle/>
                    <a:p>
                      <a:pPr algn="l"/>
                      <a:r>
                        <a:rPr sz="950" b="0">
                          <a:solidFill>
                            <a:srgbClr val="2B2622"/>
                          </a:solidFill>
                          <a:latin typeface="Calibri"/>
                        </a:rPr>
                        <a:t>bitcoin-wallet</a:t>
                      </a:r>
                    </a:p>
                  </a:txBody>
                  <a:tcPr marL="54864" marR="54864" marT="27432" marB="27432" anchor="ctr">
                    <a:solidFill>
                      <a:srgbClr val="F2ECE1"/>
                    </a:solidFill>
                  </a:tcPr>
                </a:tc>
                <a:tc>
                  <a:txBody>
                    <a:bodyPr/>
                    <a:lstStyle/>
                    <a:p>
                      <a:pPr algn="l"/>
                      <a:r>
                        <a:rPr sz="950" b="0">
                          <a:solidFill>
                            <a:srgbClr val="2B2622"/>
                          </a:solidFill>
                          <a:latin typeface="Calibri"/>
                        </a:rPr>
                        <a:t>works on wallet files</a:t>
                      </a:r>
                    </a:p>
                  </a:txBody>
                  <a:tcPr marL="54864" marR="54864" marT="27432" marB="27432" anchor="ctr">
                    <a:solidFill>
                      <a:srgbClr val="F2ECE1"/>
                    </a:solidFill>
                  </a:tcPr>
                </a:tc>
              </a:tr>
              <a:tr h="260603">
                <a:tc>
                  <a:txBody>
                    <a:bodyPr/>
                    <a:lstStyle/>
                    <a:p>
                      <a:pPr algn="l"/>
                      <a:r>
                        <a:rPr sz="950" b="0">
                          <a:solidFill>
                            <a:srgbClr val="2B2622"/>
                          </a:solidFill>
                          <a:latin typeface="Calibri"/>
                        </a:rPr>
                        <a:t>bitcoind</a:t>
                      </a:r>
                    </a:p>
                  </a:txBody>
                  <a:tcPr marL="54864" marR="54864" marT="27432" marB="27432" anchor="ctr">
                    <a:solidFill>
                      <a:srgbClr val="FFFFFF"/>
                    </a:solidFill>
                  </a:tcPr>
                </a:tc>
                <a:tc>
                  <a:txBody>
                    <a:bodyPr/>
                    <a:lstStyle/>
                    <a:p>
                      <a:pPr algn="l"/>
                      <a:r>
                        <a:rPr sz="950" b="0">
                          <a:solidFill>
                            <a:srgbClr val="2B2622"/>
                          </a:solidFill>
                          <a:latin typeface="Calibri"/>
                        </a:rPr>
                        <a:t>the node, as a daemon</a:t>
                      </a:r>
                    </a:p>
                  </a:txBody>
                  <a:tcPr marL="54864" marR="54864" marT="27432" marB="27432" anchor="ctr">
                    <a:solidFill>
                      <a:srgbClr val="FFFFFF"/>
                    </a:solidFill>
                  </a:tcPr>
                </a:tc>
              </a:tr>
            </a:tbl>
          </a:graphicData>
        </a:graphic>
      </p:graphicFrame>
      <p:sp>
        <p:nvSpPr>
          <p:cNvPr id="17" name="TextBox 16"/>
          <p:cNvSpPr txBox="1"/>
          <p:nvPr/>
        </p:nvSpPr>
        <p:spPr>
          <a:xfrm>
            <a:off x="5852160" y="3886200"/>
            <a:ext cx="2834640" cy="685800"/>
          </a:xfrm>
          <a:prstGeom prst="rect">
            <a:avLst/>
          </a:prstGeom>
          <a:noFill/>
        </p:spPr>
        <p:txBody>
          <a:bodyPr wrap="square" lIns="0" rIns="0" tIns="0" bIns="0" anchor="t">
            <a:spAutoFit/>
          </a:bodyPr>
          <a:lstStyle/>
          <a:p>
            <a:pPr algn="l"/>
            <a:r>
              <a:rPr sz="1100" b="0" i="0">
                <a:solidFill>
                  <a:srgbClr val="2B2622"/>
                </a:solidFill>
                <a:latin typeface="Calibri"/>
              </a:rPr>
              <a:t>Beside bin, libexec holds 3 parts: bitcoin-gui, bitcoin-node, test_bitcoin.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Dozens of builders, one identical binary</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13 September 2021 · Bitcoin Core 22.0 moves to Guix</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Verify, don't trust: the project applies its own rule to itself</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13 / 42</a:t>
            </a:r>
          </a:p>
        </p:txBody>
      </p:sp>
      <p:pic>
        <p:nvPicPr>
          <p:cNvPr id="8" name="Picture 7" descr="The GNU Guix logo"/>
          <p:cNvPicPr>
            <a:picLocks noChangeAspect="1"/>
          </p:cNvPicPr>
          <p:nvPr/>
        </p:nvPicPr>
        <p:blipFill>
          <a:blip r:embed="rId3"/>
          <a:stretch>
            <a:fillRect/>
          </a:stretch>
        </p:blipFill>
        <p:spPr>
          <a:xfrm>
            <a:off x="457200" y="1235392"/>
            <a:ext cx="3931920" cy="1195959"/>
          </a:xfrm>
          <a:prstGeom prst="rect">
            <a:avLst/>
          </a:prstGeom>
        </p:spPr>
      </p:pic>
      <p:sp>
        <p:nvSpPr>
          <p:cNvPr id="9" name="TextBox 8"/>
          <p:cNvSpPr txBox="1"/>
          <p:nvPr/>
        </p:nvSpPr>
        <p:spPr>
          <a:xfrm>
            <a:off x="457200" y="2468880"/>
            <a:ext cx="3931920" cy="365760"/>
          </a:xfrm>
          <a:prstGeom prst="rect">
            <a:avLst/>
          </a:prstGeom>
          <a:noFill/>
        </p:spPr>
        <p:txBody>
          <a:bodyPr wrap="square" lIns="0" rIns="0" tIns="0" bIns="0" anchor="t">
            <a:spAutoFit/>
          </a:bodyPr>
          <a:lstStyle/>
          <a:p>
            <a:pPr algn="l"/>
            <a:r>
              <a:rPr sz="850" b="0" i="0">
                <a:solidFill>
                  <a:srgbClr val="6E655C"/>
                </a:solidFill>
                <a:latin typeface="Calibri"/>
              </a:rPr>
              <a:t>Picture: GNU Guix logo - GNU Guix, public domain, Wikimedia Commons</a:t>
            </a:r>
          </a:p>
        </p:txBody>
      </p:sp>
      <p:sp>
        <p:nvSpPr>
          <p:cNvPr id="10" name="TextBox 9"/>
          <p:cNvSpPr txBox="1"/>
          <p:nvPr/>
        </p:nvSpPr>
        <p:spPr>
          <a:xfrm>
            <a:off x="457200" y="2880360"/>
            <a:ext cx="3931920" cy="512064"/>
          </a:xfrm>
          <a:prstGeom prst="rect">
            <a:avLst/>
          </a:prstGeom>
          <a:noFill/>
        </p:spPr>
        <p:txBody>
          <a:bodyPr wrap="square" lIns="0" rIns="0" tIns="0" bIns="0" anchor="t">
            <a:spAutoFit/>
          </a:bodyPr>
          <a:lstStyle/>
          <a:p>
            <a:pPr algn="l"/>
            <a:r>
              <a:rPr sz="1050" b="1" i="0">
                <a:solidFill>
                  <a:srgbClr val="D97A14"/>
                </a:solidFill>
                <a:latin typeface="Calibri"/>
              </a:rPr>
              <a:t>WHO </a:t>
            </a:r>
            <a:r>
              <a:rPr sz="1050" b="0" i="0">
                <a:solidFill>
                  <a:srgbClr val="2B2622"/>
                </a:solidFill>
                <a:latin typeface="Calibri"/>
              </a:rPr>
              <a:t>Carl Dong, who wrote the Guix build system, and the independent builders who sign its results.</a:t>
            </a:r>
          </a:p>
        </p:txBody>
      </p:sp>
      <p:sp>
        <p:nvSpPr>
          <p:cNvPr id="11" name="TextBox 10"/>
          <p:cNvSpPr txBox="1"/>
          <p:nvPr/>
        </p:nvSpPr>
        <p:spPr>
          <a:xfrm>
            <a:off x="457200" y="3429000"/>
            <a:ext cx="3931920" cy="512064"/>
          </a:xfrm>
          <a:prstGeom prst="rect">
            <a:avLst/>
          </a:prstGeom>
          <a:noFill/>
        </p:spPr>
        <p:txBody>
          <a:bodyPr wrap="square" lIns="0" rIns="0" tIns="0" bIns="0" anchor="t">
            <a:spAutoFit/>
          </a:bodyPr>
          <a:lstStyle/>
          <a:p>
            <a:pPr algn="l"/>
            <a:r>
              <a:rPr sz="1050" b="1" i="0">
                <a:solidFill>
                  <a:srgbClr val="D97A14"/>
                </a:solidFill>
                <a:latin typeface="Calibri"/>
              </a:rPr>
              <a:t>WHAT </a:t>
            </a:r>
            <a:r>
              <a:rPr sz="1050" b="0" i="0">
                <a:solidFill>
                  <a:srgbClr val="2B2622"/>
                </a:solidFill>
                <a:latin typeface="Calibri"/>
              </a:rPr>
              <a:t>Release 22.0 was the first built with Guix, so anyone can rebuild the binary bit for bit.</a:t>
            </a:r>
          </a:p>
        </p:txBody>
      </p:sp>
      <p:sp>
        <p:nvSpPr>
          <p:cNvPr id="12" name="TextBox 11"/>
          <p:cNvSpPr txBox="1"/>
          <p:nvPr/>
        </p:nvSpPr>
        <p:spPr>
          <a:xfrm>
            <a:off x="457200" y="3977639"/>
            <a:ext cx="3931920" cy="512064"/>
          </a:xfrm>
          <a:prstGeom prst="rect">
            <a:avLst/>
          </a:prstGeom>
          <a:noFill/>
        </p:spPr>
        <p:txBody>
          <a:bodyPr wrap="square" lIns="0" rIns="0" tIns="0" bIns="0" anchor="t">
            <a:spAutoFit/>
          </a:bodyPr>
          <a:lstStyle/>
          <a:p>
            <a:pPr algn="l"/>
            <a:r>
              <a:rPr sz="1050" b="1" i="0">
                <a:solidFill>
                  <a:srgbClr val="D97A14"/>
                </a:solidFill>
                <a:latin typeface="Calibri"/>
              </a:rPr>
              <a:t>WHEN </a:t>
            </a:r>
            <a:r>
              <a:rPr sz="1050" b="0" i="0">
                <a:solidFill>
                  <a:srgbClr val="2B2622"/>
                </a:solidFill>
                <a:latin typeface="Calibri"/>
              </a:rPr>
              <a:t>2021-09-13</a:t>
            </a:r>
            <a:r>
              <a:rPr sz="1050" b="0" i="0">
                <a:solidFill>
                  <a:srgbClr val="2B2622"/>
                </a:solidFill>
                <a:latin typeface="Calibri"/>
              </a:rPr>
              <a:t> (13 September 2021)</a:t>
            </a:r>
          </a:p>
        </p:txBody>
      </p:sp>
      <p:sp>
        <p:nvSpPr>
          <p:cNvPr id="13" name="TextBox 12"/>
          <p:cNvSpPr txBox="1"/>
          <p:nvPr/>
        </p:nvSpPr>
        <p:spPr>
          <a:xfrm>
            <a:off x="4617720" y="1280160"/>
            <a:ext cx="4069080" cy="822960"/>
          </a:xfrm>
          <a:prstGeom prst="rect">
            <a:avLst/>
          </a:prstGeom>
          <a:noFill/>
        </p:spPr>
        <p:txBody>
          <a:bodyPr wrap="square" lIns="0" rIns="0" tIns="0" bIns="0" anchor="t">
            <a:spAutoFit/>
          </a:bodyPr>
          <a:lstStyle/>
          <a:p>
            <a:pPr algn="l"/>
            <a:r>
              <a:rPr sz="1050" b="1" i="0">
                <a:solidFill>
                  <a:srgbClr val="D97A14"/>
                </a:solidFill>
                <a:latin typeface="Calibri"/>
              </a:rPr>
              <a:t>WHERE </a:t>
            </a:r>
            <a:r>
              <a:rPr sz="1050" b="0" i="0">
                <a:solidFill>
                  <a:srgbClr val="2B2622"/>
                </a:solidFill>
                <a:latin typeface="Calibri"/>
              </a:rPr>
              <a:t>The guix.sigs repository, beside bitcoin/bitcoin on GitHub.</a:t>
            </a:r>
          </a:p>
        </p:txBody>
      </p:sp>
      <p:sp>
        <p:nvSpPr>
          <p:cNvPr id="14" name="TextBox 13"/>
          <p:cNvSpPr txBox="1"/>
          <p:nvPr/>
        </p:nvSpPr>
        <p:spPr>
          <a:xfrm>
            <a:off x="4617720" y="2148839"/>
            <a:ext cx="4069080" cy="822960"/>
          </a:xfrm>
          <a:prstGeom prst="rect">
            <a:avLst/>
          </a:prstGeom>
          <a:noFill/>
        </p:spPr>
        <p:txBody>
          <a:bodyPr wrap="square" lIns="0" rIns="0" tIns="0" bIns="0" anchor="t">
            <a:spAutoFit/>
          </a:bodyPr>
          <a:lstStyle/>
          <a:p>
            <a:pPr algn="l"/>
            <a:r>
              <a:rPr sz="1050" b="1" i="0">
                <a:solidFill>
                  <a:srgbClr val="D97A14"/>
                </a:solidFill>
                <a:latin typeface="Calibri"/>
              </a:rPr>
              <a:t>WHY </a:t>
            </a:r>
            <a:r>
              <a:rPr sz="1050" b="0" i="0">
                <a:solidFill>
                  <a:srgbClr val="2B2622"/>
                </a:solidFill>
                <a:latin typeface="Calibri"/>
              </a:rPr>
              <a:t>A downloaded program asks for trust; here several builders compare hashes instead of taking one person's word.</a:t>
            </a:r>
          </a:p>
        </p:txBody>
      </p:sp>
      <p:sp>
        <p:nvSpPr>
          <p:cNvPr id="15" name="TextBox 14"/>
          <p:cNvSpPr txBox="1"/>
          <p:nvPr/>
        </p:nvSpPr>
        <p:spPr>
          <a:xfrm>
            <a:off x="4617720" y="3017520"/>
            <a:ext cx="4069080" cy="822960"/>
          </a:xfrm>
          <a:prstGeom prst="rect">
            <a:avLst/>
          </a:prstGeom>
          <a:noFill/>
        </p:spPr>
        <p:txBody>
          <a:bodyPr wrap="square" lIns="0" rIns="0" tIns="0" bIns="0" anchor="t">
            <a:spAutoFit/>
          </a:bodyPr>
          <a:lstStyle/>
          <a:p>
            <a:pPr algn="l"/>
            <a:r>
              <a:rPr sz="1050" b="1" i="0">
                <a:solidFill>
                  <a:srgbClr val="D97A14"/>
                </a:solidFill>
                <a:latin typeface="Calibri"/>
              </a:rPr>
              <a:t>HOW </a:t>
            </a:r>
            <a:r>
              <a:rPr sz="1050" b="0" i="0">
                <a:solidFill>
                  <a:srgbClr val="2B2622"/>
                </a:solidFill>
                <a:latin typeface="Calibri"/>
              </a:rPr>
              <a:t>Each builder compiles the tagged source and signs the hashes. Release 31.1 shows 11 good signatures on its SHA256SUMS.</a:t>
            </a:r>
          </a:p>
        </p:txBody>
      </p:sp>
      <p:sp>
        <p:nvSpPr>
          <p:cNvPr id="16" name="TextBox 15"/>
          <p:cNvSpPr txBox="1"/>
          <p:nvPr/>
        </p:nvSpPr>
        <p:spPr>
          <a:xfrm>
            <a:off x="4617720" y="4023360"/>
            <a:ext cx="4069080" cy="274320"/>
          </a:xfrm>
          <a:prstGeom prst="rect">
            <a:avLst/>
          </a:prstGeom>
          <a:noFill/>
        </p:spPr>
        <p:txBody>
          <a:bodyPr wrap="square" lIns="0" rIns="0" tIns="0" bIns="0" anchor="t">
            <a:spAutoFit/>
          </a:bodyPr>
          <a:lstStyle/>
          <a:p>
            <a:pPr algn="l"/>
            <a:r>
              <a:rPr sz="1050" b="1" i="0">
                <a:solidFill>
                  <a:srgbClr val="D97A14"/>
                </a:solidFill>
                <a:latin typeface="Calibri"/>
              </a:rPr>
              <a:t>READ </a:t>
            </a:r>
            <a:r>
              <a:rPr sz="1050" b="0" i="0" u="sng">
                <a:solidFill>
                  <a:srgbClr val="2F6D62"/>
                </a:solidFill>
                <a:latin typeface="Calibri"/>
                <a:hlinkClick r:id="rId4"/>
              </a:rPr>
              <a:t>Builder attestation, Core 31.1 (hash list)</a:t>
            </a:r>
            <a:r>
              <a:rPr sz="1050" b="0" i="0">
                <a:solidFill>
                  <a:srgbClr val="6E655C"/>
                </a:solidFill>
                <a:latin typeface="Calibri"/>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A download must match its published hash</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Checking a release against SHA256SUMS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the safety seal on a medicine bottle: break it and you can tell</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14 / 42</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listed = T.SUMS[</a:t>
            </a:r>
            <a:r>
              <a:rPr sz="1000" b="0" i="0">
                <a:solidFill>
                  <a:srgbClr val="9ECBFF"/>
                </a:solidFill>
                <a:latin typeface="Courier New"/>
              </a:rPr>
              <a:t>'bitcoin-31.1-x86_64-linux-gnu.tar.gz'</a:t>
            </a:r>
            <a:r>
              <a:rPr sz="1000" b="0" i="0">
                <a:solidFill>
                  <a:srgbClr val="E6EDF3"/>
                </a:solidFill>
                <a:latin typeface="Courier New"/>
              </a:rPr>
              <a:t>]</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computed = T.RECOMPUTED</a:t>
            </a:r>
          </a:p>
          <a:p>
            <a:pPr algn="l"/>
            <a:r>
              <a:rPr sz="1000" b="1" i="0">
                <a:solidFill>
                  <a:srgbClr val="F2A860"/>
                </a:solidFill>
                <a:latin typeface="Courier New"/>
              </a:rPr>
              <a:t>&gt;&gt;&gt; </a:t>
            </a:r>
            <a:r>
              <a:rPr sz="1000" b="0" i="0">
                <a:solidFill>
                  <a:srgbClr val="E6EDF3"/>
                </a:solidFill>
                <a:latin typeface="Courier New"/>
              </a:rPr>
              <a:t>(listed == computed, listed[:</a:t>
            </a:r>
            <a:r>
              <a:rPr sz="1000" b="0" i="0">
                <a:solidFill>
                  <a:srgbClr val="FFD28A"/>
                </a:solidFill>
                <a:latin typeface="Courier New"/>
              </a:rPr>
              <a:t>12</a:t>
            </a:r>
            <a:r>
              <a:rPr sz="1000" b="0" i="0">
                <a:solidFill>
                  <a:srgbClr val="E6EDF3"/>
                </a:solidFill>
                <a:latin typeface="Courier New"/>
              </a:rPr>
              <a:t>])</a:t>
            </a:r>
          </a:p>
          <a:p>
            <a:pPr algn="l"/>
            <a:r>
              <a:rPr sz="1000" b="0" i="0">
                <a:solidFill>
                  <a:srgbClr val="7EE787"/>
                </a:solidFill>
                <a:latin typeface="Courier New"/>
              </a:rPr>
              <a:t>(True, 'b80d9c3e04da')</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release's SHA256SUMS file lists the expected hash of every archive.</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Hash the downloaded archive yourself; equal texts mean it is the file that was published.</a:t>
            </a:r>
          </a:p>
        </p:txBody>
      </p:sp>
      <p:sp>
        <p:nvSpPr>
          <p:cNvPr id="14" name="TextBox 13"/>
          <p:cNvSpPr txBox="1"/>
          <p:nvPr/>
        </p:nvSpPr>
        <p:spPr>
          <a:xfrm>
            <a:off x="457200" y="316077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Recorded data: SHA256SUMS of release 31.1 - T is the chapter library</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listed hash against the computed one</a:t>
            </a:r>
          </a:p>
        </p:txBody>
      </p:sp>
      <p:sp>
        <p:nvSpPr>
          <p:cNvPr id="16" name="Rounded Rectangle 15"/>
          <p:cNvSpPr/>
          <p:nvPr/>
        </p:nvSpPr>
        <p:spPr>
          <a:xfrm>
            <a:off x="5852160" y="1691640"/>
            <a:ext cx="2834640" cy="566928"/>
          </a:xfrm>
          <a:prstGeom prst="roundRect">
            <a:avLst>
              <a:gd name="adj" fmla="val 15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000" b="1" i="0">
                <a:solidFill>
                  <a:srgbClr val="2B2622"/>
                </a:solidFill>
                <a:latin typeface="Calibri"/>
              </a:rPr>
              <a:t>SHA256SUMS lists</a:t>
            </a:r>
          </a:p>
          <a:p>
            <a:pPr algn="ctr"/>
            <a:r>
              <a:rPr sz="1000" b="0" i="0">
                <a:solidFill>
                  <a:srgbClr val="2B2622"/>
                </a:solidFill>
                <a:latin typeface="Courier New"/>
              </a:rPr>
              <a:t>b80d9c3e04da...</a:t>
            </a:r>
          </a:p>
        </p:txBody>
      </p:sp>
      <p:cxnSp>
        <p:nvCxnSpPr>
          <p:cNvPr id="17" name="Connector 16"/>
          <p:cNvCxnSpPr/>
          <p:nvPr/>
        </p:nvCxnSpPr>
        <p:spPr>
          <a:xfrm>
            <a:off x="7269480" y="2258568"/>
            <a:ext cx="0" cy="27432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852160" y="2532888"/>
            <a:ext cx="2834640" cy="566928"/>
          </a:xfrm>
          <a:prstGeom prst="roundRect">
            <a:avLst>
              <a:gd name="adj" fmla="val 15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000" b="1" i="0">
                <a:solidFill>
                  <a:srgbClr val="2B2622"/>
                </a:solidFill>
                <a:latin typeface="Calibri"/>
              </a:rPr>
              <a:t>Your download hashes to</a:t>
            </a:r>
          </a:p>
          <a:p>
            <a:pPr algn="ctr"/>
            <a:r>
              <a:rPr sz="1000" b="0" i="0">
                <a:solidFill>
                  <a:srgbClr val="2B2622"/>
                </a:solidFill>
                <a:latin typeface="Courier New"/>
              </a:rPr>
              <a:t>b80d9c3e04da...</a:t>
            </a:r>
          </a:p>
        </p:txBody>
      </p:sp>
      <p:cxnSp>
        <p:nvCxnSpPr>
          <p:cNvPr id="19" name="Connector 18"/>
          <p:cNvCxnSpPr/>
          <p:nvPr/>
        </p:nvCxnSpPr>
        <p:spPr>
          <a:xfrm>
            <a:off x="7269480" y="3099816"/>
            <a:ext cx="0" cy="27432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852160" y="3374136"/>
            <a:ext cx="2834640" cy="566928"/>
          </a:xfrm>
          <a:prstGeom prst="roundRect">
            <a:avLst>
              <a:gd name="adj" fmla="val 15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200" b="1" i="0">
                <a:solidFill>
                  <a:srgbClr val="FFFFFF"/>
                </a:solidFill>
                <a:latin typeface="Calibri"/>
              </a:rPr>
              <a:t>Equal: True</a:t>
            </a:r>
          </a:p>
          <a:p>
            <a:pPr algn="ctr"/>
            <a:r>
              <a:rPr sz="1000" b="0" i="0">
                <a:solidFill>
                  <a:srgbClr val="FFFFFF"/>
                </a:solidFill>
                <a:latin typeface="Calibri"/>
              </a:rPr>
              <a:t>all 64 characters</a:t>
            </a:r>
          </a:p>
        </p:txBody>
      </p:sp>
      <p:sp>
        <p:nvSpPr>
          <p:cNvPr id="21" name="TextBox 20"/>
          <p:cNvSpPr txBox="1"/>
          <p:nvPr/>
        </p:nvSpPr>
        <p:spPr>
          <a:xfrm>
            <a:off x="5852160" y="4050792"/>
            <a:ext cx="2834640" cy="685800"/>
          </a:xfrm>
          <a:prstGeom prst="rect">
            <a:avLst/>
          </a:prstGeom>
          <a:noFill/>
        </p:spPr>
        <p:txBody>
          <a:bodyPr wrap="square" lIns="0" rIns="0" tIns="0" bIns="0" anchor="t">
            <a:spAutoFit/>
          </a:bodyPr>
          <a:lstStyle/>
          <a:p>
            <a:pPr algn="l"/>
            <a:r>
              <a:rPr sz="1100" b="0" i="0">
                <a:solidFill>
                  <a:srgbClr val="2B2622"/>
                </a:solidFill>
                <a:latin typeface="Calibri"/>
              </a:rPr>
              <a:t>Only the first 12 of 64 characters are shown 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Running a Bitcoin Core Node</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Configuring the Bitcoin Core Node</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configuration file</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text file of settings that the node reads when it starts.</a:t>
            </a:r>
          </a:p>
        </p:txBody>
      </p:sp>
      <p:sp>
        <p:nvSpPr>
          <p:cNvPr id="6" name="TextBox 5"/>
          <p:cNvSpPr txBox="1"/>
          <p:nvPr/>
        </p:nvSpPr>
        <p:spPr>
          <a:xfrm>
            <a:off x="5486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the settings card taped to a coffee machine.</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data directory</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The folder in which the node keeps blocks, state, logs and settings.</a:t>
            </a:r>
          </a:p>
        </p:txBody>
      </p:sp>
      <p:sp>
        <p:nvSpPr>
          <p:cNvPr id="9" name="TextBox 8"/>
          <p:cNvSpPr txBox="1"/>
          <p:nvPr/>
        </p:nvSpPr>
        <p:spPr>
          <a:xfrm>
            <a:off x="32918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the node's filing cabinet.</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prune</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An option that deletes old block files after the node has checked them.</a:t>
            </a:r>
          </a:p>
        </p:txBody>
      </p:sp>
      <p:sp>
        <p:nvSpPr>
          <p:cNvPr id="12" name="TextBox 11"/>
          <p:cNvSpPr txBox="1"/>
          <p:nvPr/>
        </p:nvSpPr>
        <p:spPr>
          <a:xfrm>
            <a:off x="60350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an accountant who audits old invoices, keeps the totals and shreds the paper.</a:t>
            </a:r>
          </a:p>
        </p:txBody>
      </p:sp>
      <p:graphicFrame>
        <p:nvGraphicFramePr>
          <p:cNvPr id="13" name="Table 12"/>
          <p:cNvGraphicFramePr>
            <a:graphicFrameLocks noGrp="1"/>
          </p:cNvGraphicFramePr>
          <p:nvPr/>
        </p:nvGraphicFramePr>
        <p:xfrm>
          <a:off x="548640" y="4023360"/>
          <a:ext cx="8046717" cy="365760"/>
        </p:xfrm>
        <a:graphic>
          <a:graphicData uri="http://schemas.openxmlformats.org/drawingml/2006/table">
            <a:tbl>
              <a:tblPr firstRow="1" bandRow="1">
                <a:tableStyleId>{5C22544A-7EE6-4342-B048-85BDC9FD1C3A}</a:tableStyleId>
              </a:tblPr>
              <a:tblGrid>
                <a:gridCol w="1149531"/>
                <a:gridCol w="1149531"/>
                <a:gridCol w="1149531"/>
                <a:gridCol w="1149531"/>
                <a:gridCol w="1149531"/>
                <a:gridCol w="1149531"/>
                <a:gridCol w="1149531"/>
              </a:tblGrid>
              <a:tr h="365760">
                <a:tc>
                  <a:txBody>
                    <a:bodyPr/>
                    <a:lstStyle/>
                    <a:p>
                      <a:pPr algn="ctr"/>
                      <a:r>
                        <a:rPr sz="1000" b="0">
                          <a:solidFill>
                            <a:srgbClr val="6E655C"/>
                          </a:solidFill>
                          <a:latin typeface="Calibri"/>
                        </a:rPr>
                        <a:t>Core</a:t>
                      </a:r>
                    </a:p>
                  </a:txBody>
                  <a:tcPr marL="54864" marR="54864" marT="27432" marB="27432" anchor="ctr">
                    <a:solidFill>
                      <a:srgbClr val="F2ECE1"/>
                    </a:solidFill>
                  </a:tcPr>
                </a:tc>
                <a:tc>
                  <a:txBody>
                    <a:bodyPr/>
                    <a:lstStyle/>
                    <a:p>
                      <a:pPr algn="ctr"/>
                      <a:r>
                        <a:rPr sz="1000" b="0">
                          <a:solidFill>
                            <a:srgbClr val="6E655C"/>
                          </a:solidFill>
                          <a:latin typeface="Calibri"/>
                        </a:rPr>
                        <a:t>Source</a:t>
                      </a:r>
                    </a:p>
                  </a:txBody>
                  <a:tcPr marL="54864" marR="54864" marT="27432" marB="27432" anchor="ctr">
                    <a:solidFill>
                      <a:srgbClr val="F2ECE1"/>
                    </a:solidFill>
                  </a:tcPr>
                </a:tc>
                <a:tc>
                  <a:txBody>
                    <a:bodyPr/>
                    <a:lstStyle/>
                    <a:p>
                      <a:pPr algn="ctr"/>
                      <a:r>
                        <a:rPr sz="1000" b="1">
                          <a:solidFill>
                            <a:srgbClr val="FFFFFF"/>
                          </a:solidFill>
                          <a:latin typeface="Calibri"/>
                        </a:rPr>
                        <a:t>Node</a:t>
                      </a:r>
                    </a:p>
                  </a:txBody>
                  <a:tcPr marL="54864" marR="54864" marT="27432" marB="27432" anchor="ctr">
                    <a:solidFill>
                      <a:srgbClr val="D97A14"/>
                    </a:solidFill>
                  </a:tcPr>
                </a:tc>
                <a:tc>
                  <a:txBody>
                    <a:bodyPr/>
                    <a:lstStyle/>
                    <a:p>
                      <a:pPr algn="ctr"/>
                      <a:r>
                        <a:rPr sz="1000" b="0">
                          <a:solidFill>
                            <a:srgbClr val="6E655C"/>
                          </a:solidFill>
                          <a:latin typeface="Calibri"/>
                        </a:rPr>
                        <a:t>API</a:t>
                      </a:r>
                    </a:p>
                  </a:txBody>
                  <a:tcPr marL="54864" marR="54864" marT="27432" marB="27432" anchor="ctr">
                    <a:solidFill>
                      <a:srgbClr val="F2ECE1"/>
                    </a:solidFill>
                  </a:tcPr>
                </a:tc>
                <a:tc>
                  <a:txBody>
                    <a:bodyPr/>
                    <a:lstStyle/>
                    <a:p>
                      <a:pPr algn="ctr"/>
                      <a:r>
                        <a:rPr sz="1000" b="0">
                          <a:solidFill>
                            <a:srgbClr val="6E655C"/>
                          </a:solidFill>
                          <a:latin typeface="Calibri"/>
                        </a:rPr>
                        <a:t>Transactions</a:t>
                      </a:r>
                    </a:p>
                  </a:txBody>
                  <a:tcPr marL="54864" marR="54864" marT="27432" marB="27432" anchor="ctr">
                    <a:solidFill>
                      <a:srgbClr val="F2ECE1"/>
                    </a:solidFill>
                  </a:tcPr>
                </a:tc>
                <a:tc>
                  <a:txBody>
                    <a:bodyPr/>
                    <a:lstStyle/>
                    <a:p>
                      <a:pPr algn="ctr"/>
                      <a:r>
                        <a:rPr sz="1000" b="0">
                          <a:solidFill>
                            <a:srgbClr val="6E655C"/>
                          </a:solidFill>
                          <a:latin typeface="Calibri"/>
                        </a:rPr>
                        <a:t>Blocks</a:t>
                      </a:r>
                    </a:p>
                  </a:txBody>
                  <a:tcPr marL="54864" marR="54864" marT="27432" marB="27432" anchor="ctr">
                    <a:solidFill>
                      <a:srgbClr val="F2ECE1"/>
                    </a:solidFill>
                  </a:tcPr>
                </a:tc>
                <a:tc>
                  <a:txBody>
                    <a:bodyPr/>
                    <a:lstStyle/>
                    <a:p>
                      <a:pPr algn="ctr"/>
                      <a:r>
                        <a:rPr sz="1000" b="0">
                          <a:solidFill>
                            <a:srgbClr val="6E655C"/>
                          </a:solidFill>
                          <a:latin typeface="Calibri"/>
                        </a:rPr>
                        <a:t>Toolkits</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15 / 42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The command line wins over the file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configuration file sets defaults; an option on the command line overrides them</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a recipe card that you may override with a note on the fridge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16 / 42</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32257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conf = T.parse_conf(T.CONF_TEXT)</a:t>
            </a:r>
          </a:p>
          <a:p>
            <a:pPr algn="l"/>
            <a:r>
              <a:rPr sz="1000" b="1" i="0">
                <a:solidFill>
                  <a:srgbClr val="F2A860"/>
                </a:solidFill>
                <a:latin typeface="Courier New"/>
              </a:rPr>
              <a:t>&gt;&gt;&gt; </a:t>
            </a:r>
            <a:r>
              <a:rPr sz="1000" b="0" i="0">
                <a:solidFill>
                  <a:srgbClr val="E6EDF3"/>
                </a:solidFill>
                <a:latin typeface="Courier New"/>
              </a:rPr>
              <a:t>cli = {</a:t>
            </a:r>
            <a:r>
              <a:rPr sz="1000" b="0" i="0">
                <a:solidFill>
                  <a:srgbClr val="9ECBFF"/>
                </a:solidFill>
                <a:latin typeface="Courier New"/>
              </a:rPr>
              <a:t>'dbcache'</a:t>
            </a:r>
            <a:r>
              <a:rPr sz="1000" b="0" i="0">
                <a:solidFill>
                  <a:srgbClr val="E6EDF3"/>
                </a:solidFill>
                <a:latin typeface="Courier New"/>
              </a:rPr>
              <a:t>: </a:t>
            </a:r>
            <a:r>
              <a:rPr sz="1000" b="0" i="0">
                <a:solidFill>
                  <a:srgbClr val="9ECBFF"/>
                </a:solidFill>
                <a:latin typeface="Courier New"/>
              </a:rPr>
              <a:t>'2048'</a:t>
            </a:r>
            <a:r>
              <a:rPr sz="1000" b="0" i="0">
                <a:solidFill>
                  <a:srgbClr val="E6EDF3"/>
                </a:solidFill>
                <a:latin typeface="Courier New"/>
              </a:rPr>
              <a:t>}</a:t>
            </a:r>
          </a:p>
        </p:txBody>
      </p:sp>
      <p:sp>
        <p:nvSpPr>
          <p:cNvPr id="11" name="TextBox 10"/>
          <p:cNvSpPr txBox="1"/>
          <p:nvPr/>
        </p:nvSpPr>
        <p:spPr>
          <a:xfrm>
            <a:off x="603504" y="241401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used = {**conf, **cli}</a:t>
            </a:r>
          </a:p>
          <a:p>
            <a:pPr algn="l"/>
            <a:r>
              <a:rPr sz="1000" b="1" i="0">
                <a:solidFill>
                  <a:srgbClr val="F2A860"/>
                </a:solidFill>
                <a:latin typeface="Courier New"/>
              </a:rPr>
              <a:t>&gt;&gt;&gt; </a:t>
            </a:r>
            <a:r>
              <a:rPr sz="1000" b="0" i="0">
                <a:solidFill>
                  <a:srgbClr val="E6EDF3"/>
                </a:solidFill>
                <a:latin typeface="Courier New"/>
              </a:rPr>
              <a:t>used</a:t>
            </a:r>
          </a:p>
          <a:p>
            <a:pPr algn="l"/>
            <a:r>
              <a:rPr sz="1000" b="0" i="0">
                <a:solidFill>
                  <a:srgbClr val="7EE787"/>
                </a:solidFill>
                <a:latin typeface="Courier New"/>
              </a:rPr>
              <a:t>{'dbcache': '2048', 'txindex': '1'}</a:t>
            </a:r>
          </a:p>
        </p:txBody>
      </p:sp>
      <p:sp>
        <p:nvSpPr>
          <p:cNvPr id="12" name="TextBox 11"/>
          <p:cNvSpPr txBox="1"/>
          <p:nvPr/>
        </p:nvSpPr>
        <p:spPr>
          <a:xfrm>
            <a:off x="457200" y="1840991"/>
            <a:ext cx="5212080" cy="371855"/>
          </a:xfrm>
          <a:prstGeom prst="rect">
            <a:avLst/>
          </a:prstGeom>
          <a:noFill/>
        </p:spPr>
        <p:txBody>
          <a:bodyPr wrap="square" lIns="0" rIns="0" tIns="0" bIns="0" anchor="t">
            <a:spAutoFit/>
          </a:bodyPr>
          <a:lstStyle/>
          <a:p>
            <a:pPr algn="l"/>
            <a:r>
              <a:rPr sz="1100" b="0" i="0">
                <a:solidFill>
                  <a:srgbClr val="2B2622"/>
                </a:solidFill>
                <a:latin typeface="Calibri"/>
              </a:rPr>
              <a:t>The file sets the cache to 450 and turns the index on; the command line asks for 2048.</a:t>
            </a:r>
          </a:p>
        </p:txBody>
      </p:sp>
      <p:sp>
        <p:nvSpPr>
          <p:cNvPr id="13" name="TextBox 12"/>
          <p:cNvSpPr txBox="1"/>
          <p:nvPr/>
        </p:nvSpPr>
        <p:spPr>
          <a:xfrm>
            <a:off x="457200" y="3035808"/>
            <a:ext cx="5212080" cy="371855"/>
          </a:xfrm>
          <a:prstGeom prst="rect">
            <a:avLst/>
          </a:prstGeom>
          <a:noFill/>
        </p:spPr>
        <p:txBody>
          <a:bodyPr wrap="square" lIns="0" rIns="0" tIns="0" bIns="0" anchor="t">
            <a:spAutoFit/>
          </a:bodyPr>
          <a:lstStyle/>
          <a:p>
            <a:pPr algn="l"/>
            <a:r>
              <a:rPr sz="1100" b="0" i="0">
                <a:solidFill>
                  <a:srgbClr val="2B2622"/>
                </a:solidFill>
                <a:latin typeface="Calibri"/>
              </a:rPr>
              <a:t>Merge the file first and the command line last, so the command line wins where both speak.</a:t>
            </a:r>
          </a:p>
        </p:txBody>
      </p:sp>
      <p:sp>
        <p:nvSpPr>
          <p:cNvPr id="14" name="TextBox 13"/>
          <p:cNvSpPr txBox="1"/>
          <p:nvPr/>
        </p:nvSpPr>
        <p:spPr>
          <a:xfrm>
            <a:off x="457200" y="348081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(sen0401_ch03_core_lib_v1_0_0)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which source wins for each option</a:t>
            </a:r>
          </a:p>
        </p:txBody>
      </p:sp>
      <p:graphicFrame>
        <p:nvGraphicFramePr>
          <p:cNvPr id="16" name="Table 15"/>
          <p:cNvGraphicFramePr>
            <a:graphicFrameLocks noGrp="1"/>
          </p:cNvGraphicFramePr>
          <p:nvPr/>
        </p:nvGraphicFramePr>
        <p:xfrm>
          <a:off x="5852160" y="1691640"/>
          <a:ext cx="2834640" cy="932688"/>
        </p:xfrm>
        <a:graphic>
          <a:graphicData uri="http://schemas.openxmlformats.org/drawingml/2006/table">
            <a:tbl>
              <a:tblPr firstRow="1" bandRow="1">
                <a:tableStyleId>{5C22544A-7EE6-4342-B048-85BDC9FD1C3A}</a:tableStyleId>
              </a:tblPr>
              <a:tblGrid>
                <a:gridCol w="868680"/>
                <a:gridCol w="548640"/>
                <a:gridCol w="822960"/>
                <a:gridCol w="594360"/>
              </a:tblGrid>
              <a:tr h="310896">
                <a:tc>
                  <a:txBody>
                    <a:bodyPr/>
                    <a:lstStyle/>
                    <a:p>
                      <a:pPr algn="l"/>
                      <a:r>
                        <a:rPr sz="1000" b="1">
                          <a:solidFill>
                            <a:srgbClr val="FFFFFF"/>
                          </a:solidFill>
                          <a:latin typeface="Calibri"/>
                        </a:rPr>
                        <a:t>Option</a:t>
                      </a:r>
                    </a:p>
                  </a:txBody>
                  <a:tcPr marL="54864" marR="54864" marT="27432" marB="27432" anchor="ctr">
                    <a:solidFill>
                      <a:srgbClr val="2F6D62"/>
                    </a:solidFill>
                  </a:tcPr>
                </a:tc>
                <a:tc>
                  <a:txBody>
                    <a:bodyPr/>
                    <a:lstStyle/>
                    <a:p>
                      <a:pPr algn="ctr"/>
                      <a:r>
                        <a:rPr sz="1000" b="1">
                          <a:solidFill>
                            <a:srgbClr val="FFFFFF"/>
                          </a:solidFill>
                          <a:latin typeface="Calibri"/>
                        </a:rPr>
                        <a:t>File</a:t>
                      </a:r>
                    </a:p>
                  </a:txBody>
                  <a:tcPr marL="54864" marR="54864" marT="27432" marB="27432" anchor="ctr">
                    <a:solidFill>
                      <a:srgbClr val="2F6D62"/>
                    </a:solidFill>
                  </a:tcPr>
                </a:tc>
                <a:tc>
                  <a:txBody>
                    <a:bodyPr/>
                    <a:lstStyle/>
                    <a:p>
                      <a:pPr algn="ctr"/>
                      <a:r>
                        <a:rPr sz="1000" b="1">
                          <a:solidFill>
                            <a:srgbClr val="FFFFFF"/>
                          </a:solidFill>
                          <a:latin typeface="Calibri"/>
                        </a:rPr>
                        <a:t>Command</a:t>
                      </a:r>
                    </a:p>
                  </a:txBody>
                  <a:tcPr marL="54864" marR="54864" marT="27432" marB="27432" anchor="ctr">
                    <a:solidFill>
                      <a:srgbClr val="2F6D62"/>
                    </a:solidFill>
                  </a:tcPr>
                </a:tc>
                <a:tc>
                  <a:txBody>
                    <a:bodyPr/>
                    <a:lstStyle/>
                    <a:p>
                      <a:pPr algn="ctr"/>
                      <a:r>
                        <a:rPr sz="1000" b="1">
                          <a:solidFill>
                            <a:srgbClr val="FFFFFF"/>
                          </a:solidFill>
                          <a:latin typeface="Calibri"/>
                        </a:rPr>
                        <a:t>Used</a:t>
                      </a:r>
                    </a:p>
                  </a:txBody>
                  <a:tcPr marL="54864" marR="54864" marT="27432" marB="27432" anchor="ctr">
                    <a:solidFill>
                      <a:srgbClr val="2F6D62"/>
                    </a:solidFill>
                  </a:tcPr>
                </a:tc>
              </a:tr>
              <a:tr h="310896">
                <a:tc>
                  <a:txBody>
                    <a:bodyPr/>
                    <a:lstStyle/>
                    <a:p>
                      <a:pPr algn="l"/>
                      <a:r>
                        <a:rPr sz="1000" b="0">
                          <a:solidFill>
                            <a:srgbClr val="2B2622"/>
                          </a:solidFill>
                          <a:latin typeface="Calibri"/>
                        </a:rPr>
                        <a:t>dbcache</a:t>
                      </a:r>
                    </a:p>
                  </a:txBody>
                  <a:tcPr marL="54864" marR="54864" marT="27432" marB="27432" anchor="ctr">
                    <a:solidFill>
                      <a:srgbClr val="EFE6D6"/>
                    </a:solidFill>
                  </a:tcPr>
                </a:tc>
                <a:tc>
                  <a:txBody>
                    <a:bodyPr/>
                    <a:lstStyle/>
                    <a:p>
                      <a:pPr algn="ctr"/>
                      <a:r>
                        <a:rPr sz="1000" b="0">
                          <a:solidFill>
                            <a:srgbClr val="2B2622"/>
                          </a:solidFill>
                          <a:latin typeface="Calibri"/>
                        </a:rPr>
                        <a:t>450</a:t>
                      </a:r>
                    </a:p>
                  </a:txBody>
                  <a:tcPr marL="54864" marR="54864" marT="27432" marB="27432" anchor="ctr">
                    <a:solidFill>
                      <a:srgbClr val="EFE6D6"/>
                    </a:solidFill>
                  </a:tcPr>
                </a:tc>
                <a:tc>
                  <a:txBody>
                    <a:bodyPr/>
                    <a:lstStyle/>
                    <a:p>
                      <a:pPr algn="ctr"/>
                      <a:r>
                        <a:rPr sz="1000" b="0">
                          <a:solidFill>
                            <a:srgbClr val="2B2622"/>
                          </a:solidFill>
                          <a:latin typeface="Calibri"/>
                        </a:rPr>
                        <a:t>2048</a:t>
                      </a:r>
                    </a:p>
                  </a:txBody>
                  <a:tcPr marL="54864" marR="54864" marT="27432" marB="27432" anchor="ctr">
                    <a:solidFill>
                      <a:srgbClr val="EFE6D6"/>
                    </a:solidFill>
                  </a:tcPr>
                </a:tc>
                <a:tc>
                  <a:txBody>
                    <a:bodyPr/>
                    <a:lstStyle/>
                    <a:p>
                      <a:pPr algn="ctr"/>
                      <a:r>
                        <a:rPr sz="1000" b="0">
                          <a:solidFill>
                            <a:srgbClr val="2B2622"/>
                          </a:solidFill>
                          <a:latin typeface="Calibri"/>
                        </a:rPr>
                        <a:t>2048</a:t>
                      </a:r>
                    </a:p>
                  </a:txBody>
                  <a:tcPr marL="54864" marR="54864" marT="27432" marB="27432" anchor="ctr">
                    <a:solidFill>
                      <a:srgbClr val="EFE6D6"/>
                    </a:solidFill>
                  </a:tcPr>
                </a:tc>
              </a:tr>
              <a:tr h="310896">
                <a:tc>
                  <a:txBody>
                    <a:bodyPr/>
                    <a:lstStyle/>
                    <a:p>
                      <a:pPr algn="l"/>
                      <a:r>
                        <a:rPr sz="1000" b="0">
                          <a:solidFill>
                            <a:srgbClr val="2B2622"/>
                          </a:solidFill>
                          <a:latin typeface="Calibri"/>
                        </a:rPr>
                        <a:t>txindex</a:t>
                      </a:r>
                    </a:p>
                  </a:txBody>
                  <a:tcPr marL="54864" marR="54864" marT="27432" marB="27432" anchor="ctr">
                    <a:solidFill>
                      <a:srgbClr val="F2ECE1"/>
                    </a:solidFill>
                  </a:tcPr>
                </a:tc>
                <a:tc>
                  <a:txBody>
                    <a:bodyPr/>
                    <a:lstStyle/>
                    <a:p>
                      <a:pPr algn="ctr"/>
                      <a:r>
                        <a:rPr sz="1000" b="0">
                          <a:solidFill>
                            <a:srgbClr val="2B2622"/>
                          </a:solidFill>
                          <a:latin typeface="Calibri"/>
                        </a:rPr>
                        <a:t>1</a:t>
                      </a:r>
                    </a:p>
                  </a:txBody>
                  <a:tcPr marL="54864" marR="54864" marT="27432" marB="27432" anchor="ctr">
                    <a:solidFill>
                      <a:srgbClr val="F2ECE1"/>
                    </a:solidFill>
                  </a:tcPr>
                </a:tc>
                <a:tc>
                  <a:txBody>
                    <a:bodyPr/>
                    <a:lstStyle/>
                    <a:p>
                      <a:pPr algn="ctr"/>
                      <a:r>
                        <a:rPr sz="1000" b="0">
                          <a:solidFill>
                            <a:srgbClr val="2B2622"/>
                          </a:solidFill>
                          <a:latin typeface="Calibri"/>
                        </a:rPr>
                        <a:t>-</a:t>
                      </a:r>
                    </a:p>
                  </a:txBody>
                  <a:tcPr marL="54864" marR="54864" marT="27432" marB="27432" anchor="ctr">
                    <a:solidFill>
                      <a:srgbClr val="F2ECE1"/>
                    </a:solidFill>
                  </a:tcPr>
                </a:tc>
                <a:tc>
                  <a:txBody>
                    <a:bodyPr/>
                    <a:lstStyle/>
                    <a:p>
                      <a:pPr algn="ctr"/>
                      <a:r>
                        <a:rPr sz="1000" b="0">
                          <a:solidFill>
                            <a:srgbClr val="2B2622"/>
                          </a:solidFill>
                          <a:latin typeface="Calibri"/>
                        </a:rPr>
                        <a:t>1</a:t>
                      </a:r>
                    </a:p>
                  </a:txBody>
                  <a:tcPr marL="54864" marR="54864" marT="27432" marB="27432" anchor="ctr">
                    <a:solidFill>
                      <a:srgbClr val="F2ECE1"/>
                    </a:solidFill>
                  </a:tcPr>
                </a:tc>
              </a:tr>
            </a:tbl>
          </a:graphicData>
        </a:graphic>
      </p:graphicFrame>
      <p:sp>
        <p:nvSpPr>
          <p:cNvPr id="17" name="TextBox 16"/>
          <p:cNvSpPr txBox="1"/>
          <p:nvPr/>
        </p:nvSpPr>
        <p:spPr>
          <a:xfrm>
            <a:off x="5852160" y="2734056"/>
            <a:ext cx="2834640" cy="685800"/>
          </a:xfrm>
          <a:prstGeom prst="rect">
            <a:avLst/>
          </a:prstGeom>
          <a:noFill/>
        </p:spPr>
        <p:txBody>
          <a:bodyPr wrap="square" lIns="0" rIns="0" tIns="0" bIns="0" anchor="t">
            <a:spAutoFit/>
          </a:bodyPr>
          <a:lstStyle/>
          <a:p>
            <a:pPr algn="l"/>
            <a:r>
              <a:rPr sz="1100" b="0" i="0">
                <a:solidFill>
                  <a:srgbClr val="2B2622"/>
                </a:solidFill>
                <a:latin typeface="Calibri"/>
              </a:rPr>
              <a:t>dbcache is set in both places, so the command line's 2048 is used; txindex comes from the file.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Inside the data directory</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What the offline node of release 31.1 had written</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The data directory is the whole memory of the node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17 / 42</a:t>
            </a:r>
          </a:p>
        </p:txBody>
      </p:sp>
      <p:graphicFrame>
        <p:nvGraphicFramePr>
          <p:cNvPr id="8" name="Table 7"/>
          <p:cNvGraphicFramePr>
            <a:graphicFrameLocks noGrp="1"/>
          </p:cNvGraphicFramePr>
          <p:nvPr/>
        </p:nvGraphicFramePr>
        <p:xfrm>
          <a:off x="457200" y="1280160"/>
          <a:ext cx="5212080" cy="3127236"/>
        </p:xfrm>
        <a:graphic>
          <a:graphicData uri="http://schemas.openxmlformats.org/drawingml/2006/table">
            <a:tbl>
              <a:tblPr firstRow="1" bandRow="1">
                <a:tableStyleId>{5C22544A-7EE6-4342-B048-85BDC9FD1C3A}</a:tableStyleId>
              </a:tblPr>
              <a:tblGrid>
                <a:gridCol w="1554480"/>
                <a:gridCol w="3657600"/>
              </a:tblGrid>
              <a:tr h="260603">
                <a:tc>
                  <a:txBody>
                    <a:bodyPr/>
                    <a:lstStyle/>
                    <a:p>
                      <a:pPr algn="l"/>
                      <a:r>
                        <a:rPr sz="950" b="1">
                          <a:solidFill>
                            <a:srgbClr val="FFFFFF"/>
                          </a:solidFill>
                          <a:latin typeface="Calibri"/>
                        </a:rPr>
                        <a:t>Entry</a:t>
                      </a:r>
                    </a:p>
                  </a:txBody>
                  <a:tcPr marL="54864" marR="54864" marT="27432" marB="27432" anchor="ctr">
                    <a:solidFill>
                      <a:srgbClr val="2F6D62"/>
                    </a:solidFill>
                  </a:tcPr>
                </a:tc>
                <a:tc>
                  <a:txBody>
                    <a:bodyPr/>
                    <a:lstStyle/>
                    <a:p>
                      <a:pPr algn="l"/>
                      <a:r>
                        <a:rPr sz="950" b="1">
                          <a:solidFill>
                            <a:srgbClr val="FFFFFF"/>
                          </a:solidFill>
                          <a:latin typeface="Calibri"/>
                        </a:rPr>
                        <a:t>What it holds</a:t>
                      </a:r>
                    </a:p>
                  </a:txBody>
                  <a:tcPr marL="54864" marR="54864" marT="27432" marB="27432" anchor="ctr">
                    <a:solidFill>
                      <a:srgbClr val="2F6D62"/>
                    </a:solidFill>
                  </a:tcPr>
                </a:tc>
              </a:tr>
              <a:tr h="260603">
                <a:tc>
                  <a:txBody>
                    <a:bodyPr/>
                    <a:lstStyle/>
                    <a:p>
                      <a:pPr algn="l"/>
                      <a:r>
                        <a:rPr sz="950" b="0">
                          <a:solidFill>
                            <a:srgbClr val="2B2622"/>
                          </a:solidFill>
                          <a:latin typeface="Calibri"/>
                        </a:rPr>
                        <a:t>banlist.json</a:t>
                      </a:r>
                    </a:p>
                  </a:txBody>
                  <a:tcPr marL="54864" marR="54864" marT="27432" marB="27432" anchor="ctr">
                    <a:solidFill>
                      <a:srgbClr val="FFFFFF"/>
                    </a:solidFill>
                  </a:tcPr>
                </a:tc>
                <a:tc>
                  <a:txBody>
                    <a:bodyPr/>
                    <a:lstStyle/>
                    <a:p>
                      <a:pPr algn="l"/>
                      <a:r>
                        <a:rPr sz="950" b="0">
                          <a:solidFill>
                            <a:srgbClr val="2B2622"/>
                          </a:solidFill>
                          <a:latin typeface="Calibri"/>
                        </a:rPr>
                        <a:t>peers it refuses to talk to</a:t>
                      </a:r>
                    </a:p>
                  </a:txBody>
                  <a:tcPr marL="54864" marR="54864" marT="27432" marB="27432" anchor="ctr">
                    <a:solidFill>
                      <a:srgbClr val="FFFFFF"/>
                    </a:solidFill>
                  </a:tcPr>
                </a:tc>
              </a:tr>
              <a:tr h="260603">
                <a:tc>
                  <a:txBody>
                    <a:bodyPr/>
                    <a:lstStyle/>
                    <a:p>
                      <a:pPr algn="l"/>
                      <a:r>
                        <a:rPr sz="950" b="0">
                          <a:solidFill>
                            <a:srgbClr val="2B2622"/>
                          </a:solidFill>
                          <a:latin typeface="Calibri"/>
                        </a:rPr>
                        <a:t>bitcoin.conf</a:t>
                      </a:r>
                    </a:p>
                  </a:txBody>
                  <a:tcPr marL="54864" marR="54864" marT="27432" marB="27432" anchor="ctr">
                    <a:solidFill>
                      <a:srgbClr val="F2ECE1"/>
                    </a:solidFill>
                  </a:tcPr>
                </a:tc>
                <a:tc>
                  <a:txBody>
                    <a:bodyPr/>
                    <a:lstStyle/>
                    <a:p>
                      <a:pPr algn="l"/>
                      <a:r>
                        <a:rPr sz="950" b="0">
                          <a:solidFill>
                            <a:srgbClr val="2B2622"/>
                          </a:solidFill>
                          <a:latin typeface="Calibri"/>
                        </a:rPr>
                        <a:t>your configuration file</a:t>
                      </a:r>
                    </a:p>
                  </a:txBody>
                  <a:tcPr marL="54864" marR="54864" marT="27432" marB="27432" anchor="ctr">
                    <a:solidFill>
                      <a:srgbClr val="F2ECE1"/>
                    </a:solidFill>
                  </a:tcPr>
                </a:tc>
              </a:tr>
              <a:tr h="260603">
                <a:tc>
                  <a:txBody>
                    <a:bodyPr/>
                    <a:lstStyle/>
                    <a:p>
                      <a:pPr algn="l"/>
                      <a:r>
                        <a:rPr sz="950" b="0">
                          <a:solidFill>
                            <a:srgbClr val="2B2622"/>
                          </a:solidFill>
                          <a:latin typeface="Calibri"/>
                        </a:rPr>
                        <a:t>bitcoind.pid</a:t>
                      </a:r>
                    </a:p>
                  </a:txBody>
                  <a:tcPr marL="54864" marR="54864" marT="27432" marB="27432" anchor="ctr">
                    <a:solidFill>
                      <a:srgbClr val="FFFFFF"/>
                    </a:solidFill>
                  </a:tcPr>
                </a:tc>
                <a:tc>
                  <a:txBody>
                    <a:bodyPr/>
                    <a:lstStyle/>
                    <a:p>
                      <a:pPr algn="l"/>
                      <a:r>
                        <a:rPr sz="950" b="0">
                          <a:solidFill>
                            <a:srgbClr val="2B2622"/>
                          </a:solidFill>
                          <a:latin typeface="Calibri"/>
                        </a:rPr>
                        <a:t>the number of the running process</a:t>
                      </a:r>
                    </a:p>
                  </a:txBody>
                  <a:tcPr marL="54864" marR="54864" marT="27432" marB="27432" anchor="ctr">
                    <a:solidFill>
                      <a:srgbClr val="FFFFFF"/>
                    </a:solidFill>
                  </a:tcPr>
                </a:tc>
              </a:tr>
              <a:tr h="260603">
                <a:tc>
                  <a:txBody>
                    <a:bodyPr/>
                    <a:lstStyle/>
                    <a:p>
                      <a:pPr algn="l"/>
                      <a:r>
                        <a:rPr sz="950" b="0">
                          <a:solidFill>
                            <a:srgbClr val="2B2622"/>
                          </a:solidFill>
                          <a:latin typeface="Calibri"/>
                        </a:rPr>
                        <a:t>blocks</a:t>
                      </a:r>
                    </a:p>
                  </a:txBody>
                  <a:tcPr marL="54864" marR="54864" marT="27432" marB="27432" anchor="ctr">
                    <a:solidFill>
                      <a:srgbClr val="F2ECE1"/>
                    </a:solidFill>
                  </a:tcPr>
                </a:tc>
                <a:tc>
                  <a:txBody>
                    <a:bodyPr/>
                    <a:lstStyle/>
                    <a:p>
                      <a:pPr algn="l"/>
                      <a:r>
                        <a:rPr sz="950" b="0">
                          <a:solidFill>
                            <a:srgbClr val="2B2622"/>
                          </a:solidFill>
                          <a:latin typeface="Calibri"/>
                        </a:rPr>
                        <a:t>the block files and their index</a:t>
                      </a:r>
                    </a:p>
                  </a:txBody>
                  <a:tcPr marL="54864" marR="54864" marT="27432" marB="27432" anchor="ctr">
                    <a:solidFill>
                      <a:srgbClr val="F2ECE1"/>
                    </a:solidFill>
                  </a:tcPr>
                </a:tc>
              </a:tr>
              <a:tr h="260603">
                <a:tc>
                  <a:txBody>
                    <a:bodyPr/>
                    <a:lstStyle/>
                    <a:p>
                      <a:pPr algn="l"/>
                      <a:r>
                        <a:rPr sz="950" b="0">
                          <a:solidFill>
                            <a:srgbClr val="2B2622"/>
                          </a:solidFill>
                          <a:latin typeface="Calibri"/>
                        </a:rPr>
                        <a:t>chainstate</a:t>
                      </a:r>
                    </a:p>
                  </a:txBody>
                  <a:tcPr marL="54864" marR="54864" marT="27432" marB="27432" anchor="ctr">
                    <a:solidFill>
                      <a:srgbClr val="FFFFFF"/>
                    </a:solidFill>
                  </a:tcPr>
                </a:tc>
                <a:tc>
                  <a:txBody>
                    <a:bodyPr/>
                    <a:lstStyle/>
                    <a:p>
                      <a:pPr algn="l"/>
                      <a:r>
                        <a:rPr sz="950" b="0">
                          <a:solidFill>
                            <a:srgbClr val="2B2622"/>
                          </a:solidFill>
                          <a:latin typeface="Calibri"/>
                        </a:rPr>
                        <a:t>the set of unspent outputs</a:t>
                      </a:r>
                    </a:p>
                  </a:txBody>
                  <a:tcPr marL="54864" marR="54864" marT="27432" marB="27432" anchor="ctr">
                    <a:solidFill>
                      <a:srgbClr val="FFFFFF"/>
                    </a:solidFill>
                  </a:tcPr>
                </a:tc>
              </a:tr>
              <a:tr h="260603">
                <a:tc>
                  <a:txBody>
                    <a:bodyPr/>
                    <a:lstStyle/>
                    <a:p>
                      <a:pPr algn="l"/>
                      <a:r>
                        <a:rPr sz="950" b="0">
                          <a:solidFill>
                            <a:srgbClr val="2B2622"/>
                          </a:solidFill>
                          <a:latin typeface="Calibri"/>
                        </a:rPr>
                        <a:t>debug.log</a:t>
                      </a:r>
                    </a:p>
                  </a:txBody>
                  <a:tcPr marL="54864" marR="54864" marT="27432" marB="27432" anchor="ctr">
                    <a:solidFill>
                      <a:srgbClr val="F2ECE1"/>
                    </a:solidFill>
                  </a:tcPr>
                </a:tc>
                <a:tc>
                  <a:txBody>
                    <a:bodyPr/>
                    <a:lstStyle/>
                    <a:p>
                      <a:pPr algn="l"/>
                      <a:r>
                        <a:rPr sz="950" b="0">
                          <a:solidFill>
                            <a:srgbClr val="2B2622"/>
                          </a:solidFill>
                          <a:latin typeface="Calibri"/>
                        </a:rPr>
                        <a:t>the node's diary, line by line</a:t>
                      </a:r>
                    </a:p>
                  </a:txBody>
                  <a:tcPr marL="54864" marR="54864" marT="27432" marB="27432" anchor="ctr">
                    <a:solidFill>
                      <a:srgbClr val="F2ECE1"/>
                    </a:solidFill>
                  </a:tcPr>
                </a:tc>
              </a:tr>
              <a:tr h="260603">
                <a:tc>
                  <a:txBody>
                    <a:bodyPr/>
                    <a:lstStyle/>
                    <a:p>
                      <a:pPr algn="l"/>
                      <a:r>
                        <a:rPr sz="950" b="0">
                          <a:solidFill>
                            <a:srgbClr val="2B2622"/>
                          </a:solidFill>
                          <a:latin typeface="Calibri"/>
                        </a:rPr>
                        <a:t>demo</a:t>
                      </a:r>
                    </a:p>
                  </a:txBody>
                  <a:tcPr marL="54864" marR="54864" marT="27432" marB="27432" anchor="ctr">
                    <a:solidFill>
                      <a:srgbClr val="FFFFFF"/>
                    </a:solidFill>
                  </a:tcPr>
                </a:tc>
                <a:tc>
                  <a:txBody>
                    <a:bodyPr/>
                    <a:lstStyle/>
                    <a:p>
                      <a:pPr algn="l"/>
                      <a:r>
                        <a:rPr sz="950" b="0">
                          <a:solidFill>
                            <a:srgbClr val="2B2622"/>
                          </a:solidFill>
                          <a:latin typeface="Calibri"/>
                        </a:rPr>
                        <a:t>the folder of the demo wallet</a:t>
                      </a:r>
                    </a:p>
                  </a:txBody>
                  <a:tcPr marL="54864" marR="54864" marT="27432" marB="27432" anchor="ctr">
                    <a:solidFill>
                      <a:srgbClr val="FFFFFF"/>
                    </a:solidFill>
                  </a:tcPr>
                </a:tc>
              </a:tr>
              <a:tr h="260603">
                <a:tc>
                  <a:txBody>
                    <a:bodyPr/>
                    <a:lstStyle/>
                    <a:p>
                      <a:pPr algn="l"/>
                      <a:r>
                        <a:rPr sz="950" b="0">
                          <a:solidFill>
                            <a:srgbClr val="2B2622"/>
                          </a:solidFill>
                          <a:latin typeface="Calibri"/>
                        </a:rPr>
                        <a:t>fee_estimates.dat</a:t>
                      </a:r>
                    </a:p>
                  </a:txBody>
                  <a:tcPr marL="54864" marR="54864" marT="27432" marB="27432" anchor="ctr">
                    <a:solidFill>
                      <a:srgbClr val="F2ECE1"/>
                    </a:solidFill>
                  </a:tcPr>
                </a:tc>
                <a:tc>
                  <a:txBody>
                    <a:bodyPr/>
                    <a:lstStyle/>
                    <a:p>
                      <a:pPr algn="l"/>
                      <a:r>
                        <a:rPr sz="950" b="0">
                          <a:solidFill>
                            <a:srgbClr val="2B2622"/>
                          </a:solidFill>
                          <a:latin typeface="Calibri"/>
                        </a:rPr>
                        <a:t>what the node learned about fees</a:t>
                      </a:r>
                    </a:p>
                  </a:txBody>
                  <a:tcPr marL="54864" marR="54864" marT="27432" marB="27432" anchor="ctr">
                    <a:solidFill>
                      <a:srgbClr val="F2ECE1"/>
                    </a:solidFill>
                  </a:tcPr>
                </a:tc>
              </a:tr>
              <a:tr h="260603">
                <a:tc>
                  <a:txBody>
                    <a:bodyPr/>
                    <a:lstStyle/>
                    <a:p>
                      <a:pPr algn="l"/>
                      <a:r>
                        <a:rPr sz="950" b="0">
                          <a:solidFill>
                            <a:srgbClr val="2B2622"/>
                          </a:solidFill>
                          <a:latin typeface="Calibri"/>
                        </a:rPr>
                        <a:t>mempool.dat</a:t>
                      </a:r>
                    </a:p>
                  </a:txBody>
                  <a:tcPr marL="54864" marR="54864" marT="27432" marB="27432" anchor="ctr">
                    <a:solidFill>
                      <a:srgbClr val="FFFFFF"/>
                    </a:solidFill>
                  </a:tcPr>
                </a:tc>
                <a:tc>
                  <a:txBody>
                    <a:bodyPr/>
                    <a:lstStyle/>
                    <a:p>
                      <a:pPr algn="l"/>
                      <a:r>
                        <a:rPr sz="950" b="0">
                          <a:solidFill>
                            <a:srgbClr val="2B2622"/>
                          </a:solidFill>
                          <a:latin typeface="Calibri"/>
                        </a:rPr>
                        <a:t>waiting transactions, saved at shutdown</a:t>
                      </a:r>
                    </a:p>
                  </a:txBody>
                  <a:tcPr marL="54864" marR="54864" marT="27432" marB="27432" anchor="ctr">
                    <a:solidFill>
                      <a:srgbClr val="FFFFFF"/>
                    </a:solidFill>
                  </a:tcPr>
                </a:tc>
              </a:tr>
              <a:tr h="260603">
                <a:tc>
                  <a:txBody>
                    <a:bodyPr/>
                    <a:lstStyle/>
                    <a:p>
                      <a:pPr algn="l"/>
                      <a:r>
                        <a:rPr sz="950" b="0">
                          <a:solidFill>
                            <a:srgbClr val="2B2622"/>
                          </a:solidFill>
                          <a:latin typeface="Calibri"/>
                        </a:rPr>
                        <a:t>peers.dat</a:t>
                      </a:r>
                    </a:p>
                  </a:txBody>
                  <a:tcPr marL="54864" marR="54864" marT="27432" marB="27432" anchor="ctr">
                    <a:solidFill>
                      <a:srgbClr val="F2ECE1"/>
                    </a:solidFill>
                  </a:tcPr>
                </a:tc>
                <a:tc>
                  <a:txBody>
                    <a:bodyPr/>
                    <a:lstStyle/>
                    <a:p>
                      <a:pPr algn="l"/>
                      <a:r>
                        <a:rPr sz="950" b="0">
                          <a:solidFill>
                            <a:srgbClr val="2B2622"/>
                          </a:solidFill>
                          <a:latin typeface="Calibri"/>
                        </a:rPr>
                        <a:t>addresses of the peers it knows</a:t>
                      </a:r>
                    </a:p>
                  </a:txBody>
                  <a:tcPr marL="54864" marR="54864" marT="27432" marB="27432" anchor="ctr">
                    <a:solidFill>
                      <a:srgbClr val="F2ECE1"/>
                    </a:solidFill>
                  </a:tcPr>
                </a:tc>
              </a:tr>
              <a:tr h="260603">
                <a:tc>
                  <a:txBody>
                    <a:bodyPr/>
                    <a:lstStyle/>
                    <a:p>
                      <a:pPr algn="l"/>
                      <a:r>
                        <a:rPr sz="950" b="0">
                          <a:solidFill>
                            <a:srgbClr val="2B2622"/>
                          </a:solidFill>
                          <a:latin typeface="Calibri"/>
                        </a:rPr>
                        <a:t>settings.json</a:t>
                      </a:r>
                    </a:p>
                  </a:txBody>
                  <a:tcPr marL="54864" marR="54864" marT="27432" marB="27432" anchor="ctr">
                    <a:solidFill>
                      <a:srgbClr val="FFFFFF"/>
                    </a:solidFill>
                  </a:tcPr>
                </a:tc>
                <a:tc>
                  <a:txBody>
                    <a:bodyPr/>
                    <a:lstStyle/>
                    <a:p>
                      <a:pPr algn="l"/>
                      <a:r>
                        <a:rPr sz="950" b="0">
                          <a:solidFill>
                            <a:srgbClr val="2B2622"/>
                          </a:solidFill>
                          <a:latin typeface="Calibri"/>
                        </a:rPr>
                        <a:t>settings changed while running</a:t>
                      </a:r>
                    </a:p>
                  </a:txBody>
                  <a:tcPr marL="54864" marR="54864" marT="27432" marB="27432" anchor="ctr">
                    <a:solidFill>
                      <a:srgbClr val="FFFFFF"/>
                    </a:solidFill>
                  </a:tcPr>
                </a:tc>
              </a:tr>
            </a:tbl>
          </a:graphicData>
        </a:graphic>
      </p:graphicFrame>
      <p:sp>
        <p:nvSpPr>
          <p:cNvPr id="9" name="Rounded Rectangle 8"/>
          <p:cNvSpPr/>
          <p:nvPr/>
        </p:nvSpPr>
        <p:spPr>
          <a:xfrm>
            <a:off x="5897880" y="1280160"/>
            <a:ext cx="2788920" cy="1143000"/>
          </a:xfrm>
          <a:prstGeom prst="roundRect">
            <a:avLst>
              <a:gd name="adj" fmla="val 8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00" b="0" i="1">
                <a:solidFill>
                  <a:srgbClr val="D97A14"/>
                </a:solidFill>
                <a:latin typeface="Calibri"/>
              </a:rPr>
              <a:t>Think of the data directory as the node's filing cabinet: long drawers for the blocks, a small box for the state of the chain, the diary on top.</a:t>
            </a:r>
          </a:p>
        </p:txBody>
      </p:sp>
      <p:sp>
        <p:nvSpPr>
          <p:cNvPr id="10" name="Rounded Rectangle 9"/>
          <p:cNvSpPr/>
          <p:nvPr/>
        </p:nvSpPr>
        <p:spPr>
          <a:xfrm>
            <a:off x="5897880" y="2606040"/>
            <a:ext cx="2788920" cy="1188720"/>
          </a:xfrm>
          <a:prstGeom prst="roundRect">
            <a:avLst>
              <a:gd name="adj" fmla="val 8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150" b="0" i="0">
                <a:solidFill>
                  <a:srgbClr val="2B2622"/>
                </a:solidFill>
                <a:latin typeface="Calibri"/>
              </a:rPr>
              <a:t>The .cookie file with the node's temporary password is also written here while the node runs, and removed when it stops.</a:t>
            </a:r>
          </a:p>
        </p:txBody>
      </p:sp>
      <p:sp>
        <p:nvSpPr>
          <p:cNvPr id="11" name="TextBox 10"/>
          <p:cNvSpPr txBox="1"/>
          <p:nvPr/>
        </p:nvSpPr>
        <p:spPr>
          <a:xfrm>
            <a:off x="5897880" y="3931920"/>
            <a:ext cx="2788920" cy="457200"/>
          </a:xfrm>
          <a:prstGeom prst="rect">
            <a:avLst/>
          </a:prstGeom>
          <a:noFill/>
        </p:spPr>
        <p:txBody>
          <a:bodyPr wrap="square" lIns="0" rIns="0" tIns="0" bIns="0" anchor="t">
            <a:spAutoFit/>
          </a:bodyPr>
          <a:lstStyle/>
          <a:p>
            <a:pPr algn="l"/>
            <a:r>
              <a:rPr sz="950" b="0" i="0">
                <a:solidFill>
                  <a:srgbClr val="6E655C"/>
                </a:solidFill>
                <a:latin typeface="Calibri"/>
              </a:rPr>
              <a:t>Recorded: the listing of the offline node of release 31.1.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How the database cache is shared out</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dbcache setting is divided before it is used</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a desk: two small drawers and one very large tabletop</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18 / 42</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32257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total = </a:t>
            </a:r>
            <a:r>
              <a:rPr sz="1000" b="0" i="0">
                <a:solidFill>
                  <a:srgbClr val="FFD28A"/>
                </a:solidFill>
                <a:latin typeface="Courier New"/>
              </a:rPr>
              <a:t>1024</a:t>
            </a:r>
          </a:p>
          <a:p>
            <a:pPr algn="l"/>
            <a:r>
              <a:rPr sz="1000" b="1" i="0">
                <a:solidFill>
                  <a:srgbClr val="F2A860"/>
                </a:solidFill>
                <a:latin typeface="Courier New"/>
              </a:rPr>
              <a:t>&gt;&gt;&gt; </a:t>
            </a:r>
            <a:r>
              <a:rPr sz="1000" b="0" i="0">
                <a:solidFill>
                  <a:srgbClr val="E6EDF3"/>
                </a:solidFill>
                <a:latin typeface="Courier New"/>
              </a:rPr>
              <a:t>parts = T.cache_split(total)</a:t>
            </a:r>
          </a:p>
        </p:txBody>
      </p:sp>
      <p:sp>
        <p:nvSpPr>
          <p:cNvPr id="11" name="TextBox 10"/>
          <p:cNvSpPr txBox="1"/>
          <p:nvPr/>
        </p:nvSpPr>
        <p:spPr>
          <a:xfrm>
            <a:off x="603504" y="241401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(parts, sum(parts))</a:t>
            </a:r>
          </a:p>
          <a:p>
            <a:pPr algn="l"/>
            <a:r>
              <a:rPr sz="1000" b="0" i="0">
                <a:solidFill>
                  <a:srgbClr val="7EE787"/>
                </a:solidFill>
                <a:latin typeface="Courier New"/>
              </a:rPr>
              <a:t>((2, 8, 1014), 1024)</a:t>
            </a:r>
          </a:p>
        </p:txBody>
      </p:sp>
      <p:sp>
        <p:nvSpPr>
          <p:cNvPr id="12" name="TextBox 11"/>
          <p:cNvSpPr txBox="1"/>
          <p:nvPr/>
        </p:nvSpPr>
        <p:spPr>
          <a:xfrm>
            <a:off x="457200" y="1840991"/>
            <a:ext cx="5212080" cy="371855"/>
          </a:xfrm>
          <a:prstGeom prst="rect">
            <a:avLst/>
          </a:prstGeom>
          <a:noFill/>
        </p:spPr>
        <p:txBody>
          <a:bodyPr wrap="square" lIns="0" rIns="0" tIns="0" bIns="0" anchor="t">
            <a:spAutoFit/>
          </a:bodyPr>
          <a:lstStyle/>
          <a:p>
            <a:pPr algn="l"/>
            <a:r>
              <a:rPr sz="1100" b="0" i="0">
                <a:solidFill>
                  <a:srgbClr val="2B2622"/>
                </a:solidFill>
                <a:latin typeface="Calibri"/>
              </a:rPr>
              <a:t>The node is given 1024 MiB of cache; the library divides it the way Bitcoin Core does.</a:t>
            </a:r>
          </a:p>
        </p:txBody>
      </p:sp>
      <p:sp>
        <p:nvSpPr>
          <p:cNvPr id="13" name="TextBox 12"/>
          <p:cNvSpPr txBox="1"/>
          <p:nvPr/>
        </p:nvSpPr>
        <p:spPr>
          <a:xfrm>
            <a:off x="457200" y="2883408"/>
            <a:ext cx="5212080" cy="371855"/>
          </a:xfrm>
          <a:prstGeom prst="rect">
            <a:avLst/>
          </a:prstGeom>
          <a:noFill/>
        </p:spPr>
        <p:txBody>
          <a:bodyPr wrap="square" lIns="0" rIns="0" tIns="0" bIns="0" anchor="t">
            <a:spAutoFit/>
          </a:bodyPr>
          <a:lstStyle/>
          <a:p>
            <a:pPr algn="l"/>
            <a:r>
              <a:rPr sz="1100" b="0" i="0">
                <a:solidFill>
                  <a:srgbClr val="2B2622"/>
                </a:solidFill>
                <a:latin typeface="Calibri"/>
              </a:rPr>
              <a:t>A little goes to two small databases; nearly everything serves the coins cache.</a:t>
            </a:r>
          </a:p>
        </p:txBody>
      </p:sp>
      <p:sp>
        <p:nvSpPr>
          <p:cNvPr id="14" name="TextBox 13"/>
          <p:cNvSpPr txBox="1"/>
          <p:nvPr/>
        </p:nvSpPr>
        <p:spPr>
          <a:xfrm>
            <a:off x="457200" y="332841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(sen0401_ch03_core_lib_v1_0_0)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MiB of cache for each use</a:t>
            </a:r>
          </a:p>
        </p:txBody>
      </p:sp>
      <p:graphicFrame>
        <p:nvGraphicFramePr>
          <p:cNvPr id="16" name="Chart 15"/>
          <p:cNvGraphicFramePr>
            <a:graphicFrameLocks noGrp="1"/>
          </p:cNvGraphicFramePr>
          <p:nvPr/>
        </p:nvGraphicFramePr>
        <p:xfrm>
          <a:off x="5852160" y="1691640"/>
          <a:ext cx="2834640" cy="205740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858768"/>
            <a:ext cx="2834640" cy="685800"/>
          </a:xfrm>
          <a:prstGeom prst="rect">
            <a:avLst/>
          </a:prstGeom>
          <a:noFill/>
        </p:spPr>
        <p:txBody>
          <a:bodyPr wrap="square" lIns="0" rIns="0" tIns="0" bIns="0" anchor="t">
            <a:spAutoFit/>
          </a:bodyPr>
          <a:lstStyle/>
          <a:p>
            <a:pPr algn="l"/>
            <a:r>
              <a:rPr sz="1100" b="0" i="0">
                <a:solidFill>
                  <a:srgbClr val="2B2622"/>
                </a:solidFill>
                <a:latin typeface="Calibri"/>
              </a:rPr>
              <a:t>Of 1,024 MiB, 1,014 serve the coins cache; the block index gets 2 and the chain state 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Pruning and the transaction index do not mix</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prune deletes old blocks; txindex needs every block</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a library that shreds old books and so cannot catalogue them all</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19 / 42</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a, b = {</a:t>
            </a:r>
            <a:r>
              <a:rPr sz="1000" b="0" i="0">
                <a:solidFill>
                  <a:srgbClr val="9ECBFF"/>
                </a:solidFill>
                <a:latin typeface="Courier New"/>
              </a:rPr>
              <a:t>'prune'</a:t>
            </a:r>
            <a:r>
              <a:rPr sz="1000" b="0" i="0">
                <a:solidFill>
                  <a:srgbClr val="E6EDF3"/>
                </a:solidFill>
                <a:latin typeface="Courier New"/>
              </a:rPr>
              <a:t>: </a:t>
            </a:r>
            <a:r>
              <a:rPr sz="1000" b="0" i="0">
                <a:solidFill>
                  <a:srgbClr val="FFD28A"/>
                </a:solidFill>
                <a:latin typeface="Courier New"/>
              </a:rPr>
              <a:t>550</a:t>
            </a:r>
            <a:r>
              <a:rPr sz="1000" b="0" i="0">
                <a:solidFill>
                  <a:srgbClr val="E6EDF3"/>
                </a:solidFill>
                <a:latin typeface="Courier New"/>
              </a:rPr>
              <a:t>}, {</a:t>
            </a:r>
            <a:r>
              <a:rPr sz="1000" b="0" i="0">
                <a:solidFill>
                  <a:srgbClr val="9ECBFF"/>
                </a:solidFill>
                <a:latin typeface="Courier New"/>
              </a:rPr>
              <a:t>'txindex'</a:t>
            </a:r>
            <a:r>
              <a:rPr sz="1000" b="0" i="0">
                <a:solidFill>
                  <a:srgbClr val="E6EDF3"/>
                </a:solidFill>
                <a:latin typeface="Courier New"/>
              </a:rPr>
              <a:t>: </a:t>
            </a:r>
            <a:r>
              <a:rPr sz="1000" b="0" i="0">
                <a:solidFill>
                  <a:srgbClr val="FFD28A"/>
                </a:solidFill>
                <a:latin typeface="Courier New"/>
              </a:rPr>
              <a:t>1</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c = {</a:t>
            </a:r>
            <a:r>
              <a:rPr sz="1000" b="0" i="0">
                <a:solidFill>
                  <a:srgbClr val="9ECBFF"/>
                </a:solidFill>
                <a:latin typeface="Courier New"/>
              </a:rPr>
              <a:t>'prune'</a:t>
            </a:r>
            <a:r>
              <a:rPr sz="1000" b="0" i="0">
                <a:solidFill>
                  <a:srgbClr val="E6EDF3"/>
                </a:solidFill>
                <a:latin typeface="Courier New"/>
              </a:rPr>
              <a:t>: </a:t>
            </a:r>
            <a:r>
              <a:rPr sz="1000" b="0" i="0">
                <a:solidFill>
                  <a:srgbClr val="FFD28A"/>
                </a:solidFill>
                <a:latin typeface="Courier New"/>
              </a:rPr>
              <a:t>550</a:t>
            </a:r>
            <a:r>
              <a:rPr sz="1000" b="0" i="0">
                <a:solidFill>
                  <a:srgbClr val="E6EDF3"/>
                </a:solidFill>
                <a:latin typeface="Courier New"/>
              </a:rPr>
              <a:t>, </a:t>
            </a:r>
            <a:r>
              <a:rPr sz="1000" b="0" i="0">
                <a:solidFill>
                  <a:srgbClr val="9ECBFF"/>
                </a:solidFill>
                <a:latin typeface="Courier New"/>
              </a:rPr>
              <a:t>'txindex'</a:t>
            </a:r>
            <a:r>
              <a:rPr sz="1000" b="0" i="0">
                <a:solidFill>
                  <a:srgbClr val="E6EDF3"/>
                </a:solidFill>
                <a:latin typeface="Courier New"/>
              </a:rPr>
              <a:t>: </a:t>
            </a:r>
            <a:r>
              <a:rPr sz="1000" b="0" i="0">
                <a:solidFill>
                  <a:srgbClr val="FFD28A"/>
                </a:solidFill>
                <a:latin typeface="Courier New"/>
              </a:rPr>
              <a:t>1</a:t>
            </a:r>
            <a:r>
              <a:rPr sz="1000" b="0" i="0">
                <a:solidFill>
                  <a:srgbClr val="E6EDF3"/>
                </a:solidFill>
                <a:latin typeface="Courier New"/>
              </a:rPr>
              <a:t>}</a:t>
            </a:r>
          </a:p>
        </p:txBody>
      </p:sp>
      <p:sp>
        <p:nvSpPr>
          <p:cNvPr id="11" name="TextBox 10"/>
          <p:cNvSpPr txBox="1"/>
          <p:nvPr/>
        </p:nvSpPr>
        <p:spPr>
          <a:xfrm>
            <a:off x="603504" y="22463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[T.check_options(o)[</a:t>
            </a:r>
            <a:r>
              <a:rPr sz="1000" b="0" i="0">
                <a:solidFill>
                  <a:srgbClr val="FFD28A"/>
                </a:solidFill>
                <a:latin typeface="Courier New"/>
              </a:rPr>
              <a:t>0</a:t>
            </a:r>
            <a:r>
              <a:rPr sz="1000" b="0" i="0">
                <a:solidFill>
                  <a:srgbClr val="E6EDF3"/>
                </a:solidFill>
                <a:latin typeface="Courier New"/>
              </a:rPr>
              <a:t>] </a:t>
            </a:r>
            <a:r>
              <a:rPr sz="1000" b="1" i="0">
                <a:solidFill>
                  <a:srgbClr val="F2A860"/>
                </a:solidFill>
                <a:latin typeface="Courier New"/>
              </a:rPr>
              <a:t>for</a:t>
            </a:r>
            <a:r>
              <a:rPr sz="1000" b="0" i="0">
                <a:solidFill>
                  <a:srgbClr val="E6EDF3"/>
                </a:solidFill>
                <a:latin typeface="Courier New"/>
              </a:rPr>
              <a:t> o </a:t>
            </a:r>
            <a:r>
              <a:rPr sz="1000" b="1" i="0">
                <a:solidFill>
                  <a:srgbClr val="F2A860"/>
                </a:solidFill>
                <a:latin typeface="Courier New"/>
              </a:rPr>
              <a:t>in</a:t>
            </a:r>
            <a:r>
              <a:rPr sz="1000" b="0" i="0">
                <a:solidFill>
                  <a:srgbClr val="E6EDF3"/>
                </a:solidFill>
                <a:latin typeface="Courier New"/>
              </a:rPr>
              <a:t> (a, b, c)]</a:t>
            </a:r>
          </a:p>
          <a:p>
            <a:pPr algn="l"/>
            <a:r>
              <a:rPr sz="1000" b="0" i="0">
                <a:solidFill>
                  <a:srgbClr val="7EE787"/>
                </a:solidFill>
                <a:latin typeface="Courier New"/>
              </a:rPr>
              <a:t>['ok', 'ok', 'refused']</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Three option sets: prune alone, index alone, and both together.</a:t>
            </a:r>
          </a:p>
        </p:txBody>
      </p:sp>
      <p:sp>
        <p:nvSpPr>
          <p:cNvPr id="13" name="TextBox 12"/>
          <p:cNvSpPr txBox="1"/>
          <p:nvPr/>
        </p:nvSpPr>
        <p:spPr>
          <a:xfrm>
            <a:off x="457200" y="2715768"/>
            <a:ext cx="5212080" cy="204216"/>
          </a:xfrm>
          <a:prstGeom prst="rect">
            <a:avLst/>
          </a:prstGeom>
          <a:noFill/>
        </p:spPr>
        <p:txBody>
          <a:bodyPr wrap="square" lIns="0" rIns="0" tIns="0" bIns="0" anchor="t">
            <a:spAutoFit/>
          </a:bodyPr>
          <a:lstStyle/>
          <a:p>
            <a:pPr algn="l"/>
            <a:r>
              <a:rPr sz="1100" b="0" i="0">
                <a:solidFill>
                  <a:srgbClr val="2B2622"/>
                </a:solidFill>
                <a:latin typeface="Calibri"/>
              </a:rPr>
              <a:t>The index needs every block on disk, so a pruned node cannot also keep it.</a:t>
            </a:r>
          </a:p>
        </p:txBody>
      </p:sp>
      <p:sp>
        <p:nvSpPr>
          <p:cNvPr id="14" name="TextBox 13"/>
          <p:cNvSpPr txBox="1"/>
          <p:nvPr/>
        </p:nvSpPr>
        <p:spPr>
          <a:xfrm>
            <a:off x="457200" y="2993135"/>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Recorded data: refusal printed by release 31.1 - T is the chapter library</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verdict for each option set</a:t>
            </a:r>
          </a:p>
        </p:txBody>
      </p:sp>
      <p:graphicFrame>
        <p:nvGraphicFramePr>
          <p:cNvPr id="16" name="Table 15"/>
          <p:cNvGraphicFramePr>
            <a:graphicFrameLocks noGrp="1"/>
          </p:cNvGraphicFramePr>
          <p:nvPr/>
        </p:nvGraphicFramePr>
        <p:xfrm>
          <a:off x="5852160" y="1691640"/>
          <a:ext cx="2834640" cy="1828800"/>
        </p:xfrm>
        <a:graphic>
          <a:graphicData uri="http://schemas.openxmlformats.org/drawingml/2006/table">
            <a:tbl>
              <a:tblPr firstRow="1" bandRow="1">
                <a:tableStyleId>{5C22544A-7EE6-4342-B048-85BDC9FD1C3A}</a:tableStyleId>
              </a:tblPr>
              <a:tblGrid>
                <a:gridCol w="1005840"/>
                <a:gridCol w="640080"/>
                <a:gridCol w="1188720"/>
              </a:tblGrid>
              <a:tr h="457200">
                <a:tc>
                  <a:txBody>
                    <a:bodyPr/>
                    <a:lstStyle/>
                    <a:p>
                      <a:pPr algn="l"/>
                      <a:r>
                        <a:rPr sz="900" b="1">
                          <a:solidFill>
                            <a:srgbClr val="FFFFFF"/>
                          </a:solidFill>
                          <a:latin typeface="Calibri"/>
                        </a:rPr>
                        <a:t>Options</a:t>
                      </a:r>
                    </a:p>
                  </a:txBody>
                  <a:tcPr marL="54864" marR="54864" marT="27432" marB="27432" anchor="ctr">
                    <a:solidFill>
                      <a:srgbClr val="2F6D62"/>
                    </a:solidFill>
                  </a:tcPr>
                </a:tc>
                <a:tc>
                  <a:txBody>
                    <a:bodyPr/>
                    <a:lstStyle/>
                    <a:p>
                      <a:pPr algn="l"/>
                      <a:r>
                        <a:rPr sz="900" b="1">
                          <a:solidFill>
                            <a:srgbClr val="FFFFFF"/>
                          </a:solidFill>
                          <a:latin typeface="Calibri"/>
                        </a:rPr>
                        <a:t>Verdict</a:t>
                      </a:r>
                    </a:p>
                  </a:txBody>
                  <a:tcPr marL="54864" marR="54864" marT="27432" marB="27432" anchor="ctr">
                    <a:solidFill>
                      <a:srgbClr val="2F6D62"/>
                    </a:solidFill>
                  </a:tcPr>
                </a:tc>
                <a:tc>
                  <a:txBody>
                    <a:bodyPr/>
                    <a:lstStyle/>
                    <a:p>
                      <a:pPr algn="l"/>
                      <a:r>
                        <a:rPr sz="900" b="1">
                          <a:solidFill>
                            <a:srgbClr val="FFFFFF"/>
                          </a:solidFill>
                          <a:latin typeface="Calibri"/>
                        </a:rPr>
                        <a:t>Why</a:t>
                      </a:r>
                    </a:p>
                  </a:txBody>
                  <a:tcPr marL="54864" marR="54864" marT="27432" marB="27432" anchor="ctr">
                    <a:solidFill>
                      <a:srgbClr val="2F6D62"/>
                    </a:solidFill>
                  </a:tcPr>
                </a:tc>
              </a:tr>
              <a:tr h="457200">
                <a:tc>
                  <a:txBody>
                    <a:bodyPr/>
                    <a:lstStyle/>
                    <a:p>
                      <a:pPr algn="l"/>
                      <a:r>
                        <a:rPr sz="900" b="0">
                          <a:solidFill>
                            <a:srgbClr val="2B2622"/>
                          </a:solidFill>
                          <a:latin typeface="Calibri"/>
                        </a:rPr>
                        <a:t>prune 550</a:t>
                      </a:r>
                    </a:p>
                  </a:txBody>
                  <a:tcPr marL="54864" marR="54864" marT="27432" marB="27432" anchor="ctr">
                    <a:solidFill>
                      <a:srgbClr val="FFFFFF"/>
                    </a:solidFill>
                  </a:tcPr>
                </a:tc>
                <a:tc>
                  <a:txBody>
                    <a:bodyPr/>
                    <a:lstStyle/>
                    <a:p>
                      <a:pPr algn="l"/>
                      <a:r>
                        <a:rPr sz="900" b="0">
                          <a:solidFill>
                            <a:srgbClr val="2B2622"/>
                          </a:solidFill>
                          <a:latin typeface="Calibri"/>
                        </a:rPr>
                        <a:t>ok</a:t>
                      </a:r>
                    </a:p>
                  </a:txBody>
                  <a:tcPr marL="54864" marR="54864" marT="27432" marB="27432" anchor="ctr">
                    <a:solidFill>
                      <a:srgbClr val="FFFFFF"/>
                    </a:solidFill>
                  </a:tcPr>
                </a:tc>
                <a:tc>
                  <a:txBody>
                    <a:bodyPr/>
                    <a:lstStyle/>
                    <a:p>
                      <a:pPr algn="l"/>
                      <a:r>
                        <a:rPr sz="900" b="0">
                          <a:solidFill>
                            <a:srgbClr val="2B2622"/>
                          </a:solidFill>
                          <a:latin typeface="Calibri"/>
                        </a:rPr>
                        <a:t>no conflict</a:t>
                      </a:r>
                    </a:p>
                  </a:txBody>
                  <a:tcPr marL="54864" marR="54864" marT="27432" marB="27432" anchor="ctr">
                    <a:solidFill>
                      <a:srgbClr val="FFFFFF"/>
                    </a:solidFill>
                  </a:tcPr>
                </a:tc>
              </a:tr>
              <a:tr h="457200">
                <a:tc>
                  <a:txBody>
                    <a:bodyPr/>
                    <a:lstStyle/>
                    <a:p>
                      <a:pPr algn="l"/>
                      <a:r>
                        <a:rPr sz="900" b="0">
                          <a:solidFill>
                            <a:srgbClr val="2B2622"/>
                          </a:solidFill>
                          <a:latin typeface="Calibri"/>
                        </a:rPr>
                        <a:t>txindex 1</a:t>
                      </a:r>
                    </a:p>
                  </a:txBody>
                  <a:tcPr marL="54864" marR="54864" marT="27432" marB="27432" anchor="ctr">
                    <a:solidFill>
                      <a:srgbClr val="F2ECE1"/>
                    </a:solidFill>
                  </a:tcPr>
                </a:tc>
                <a:tc>
                  <a:txBody>
                    <a:bodyPr/>
                    <a:lstStyle/>
                    <a:p>
                      <a:pPr algn="l"/>
                      <a:r>
                        <a:rPr sz="900" b="0">
                          <a:solidFill>
                            <a:srgbClr val="2B2622"/>
                          </a:solidFill>
                          <a:latin typeface="Calibri"/>
                        </a:rPr>
                        <a:t>ok</a:t>
                      </a:r>
                    </a:p>
                  </a:txBody>
                  <a:tcPr marL="54864" marR="54864" marT="27432" marB="27432" anchor="ctr">
                    <a:solidFill>
                      <a:srgbClr val="F2ECE1"/>
                    </a:solidFill>
                  </a:tcPr>
                </a:tc>
                <a:tc>
                  <a:txBody>
                    <a:bodyPr/>
                    <a:lstStyle/>
                    <a:p>
                      <a:pPr algn="l"/>
                      <a:r>
                        <a:rPr sz="900" b="0">
                          <a:solidFill>
                            <a:srgbClr val="2B2622"/>
                          </a:solidFill>
                          <a:latin typeface="Calibri"/>
                        </a:rPr>
                        <a:t>no conflict</a:t>
                      </a:r>
                    </a:p>
                  </a:txBody>
                  <a:tcPr marL="54864" marR="54864" marT="27432" marB="27432" anchor="ctr">
                    <a:solidFill>
                      <a:srgbClr val="F2ECE1"/>
                    </a:solidFill>
                  </a:tcPr>
                </a:tc>
              </a:tr>
              <a:tr h="457200">
                <a:tc>
                  <a:txBody>
                    <a:bodyPr/>
                    <a:lstStyle/>
                    <a:p>
                      <a:pPr algn="l"/>
                      <a:r>
                        <a:rPr sz="900" b="0">
                          <a:solidFill>
                            <a:srgbClr val="2B2622"/>
                          </a:solidFill>
                          <a:latin typeface="Calibri"/>
                        </a:rPr>
                        <a:t>prune 550 + txindex 1</a:t>
                      </a:r>
                    </a:p>
                  </a:txBody>
                  <a:tcPr marL="54864" marR="54864" marT="27432" marB="27432" anchor="ctr">
                    <a:solidFill>
                      <a:srgbClr val="EFE6D6"/>
                    </a:solidFill>
                  </a:tcPr>
                </a:tc>
                <a:tc>
                  <a:txBody>
                    <a:bodyPr/>
                    <a:lstStyle/>
                    <a:p>
                      <a:pPr algn="l"/>
                      <a:r>
                        <a:rPr sz="900" b="0">
                          <a:solidFill>
                            <a:srgbClr val="2B2622"/>
                          </a:solidFill>
                          <a:latin typeface="Calibri"/>
                        </a:rPr>
                        <a:t>refused</a:t>
                      </a:r>
                    </a:p>
                  </a:txBody>
                  <a:tcPr marL="54864" marR="54864" marT="27432" marB="27432" anchor="ctr">
                    <a:solidFill>
                      <a:srgbClr val="EFE6D6"/>
                    </a:solidFill>
                  </a:tcPr>
                </a:tc>
                <a:tc>
                  <a:txBody>
                    <a:bodyPr/>
                    <a:lstStyle/>
                    <a:p>
                      <a:pPr algn="l"/>
                      <a:r>
                        <a:rPr sz="900" b="0">
                          <a:solidFill>
                            <a:srgbClr val="2B2622"/>
                          </a:solidFill>
                          <a:latin typeface="Calibri"/>
                        </a:rPr>
                        <a:t>prune mode is incompatible with txindex</a:t>
                      </a:r>
                    </a:p>
                  </a:txBody>
                  <a:tcPr marL="54864" marR="54864" marT="27432" marB="27432" anchor="ctr">
                    <a:solidFill>
                      <a:srgbClr val="EFE6D6"/>
                    </a:solidFill>
                  </a:tcPr>
                </a:tc>
              </a:tr>
            </a:tbl>
          </a:graphicData>
        </a:graphic>
      </p:graphicFrame>
      <p:sp>
        <p:nvSpPr>
          <p:cNvPr id="17" name="TextBox 16"/>
          <p:cNvSpPr txBox="1"/>
          <p:nvPr/>
        </p:nvSpPr>
        <p:spPr>
          <a:xfrm>
            <a:off x="5852160" y="3630168"/>
            <a:ext cx="2834640" cy="685800"/>
          </a:xfrm>
          <a:prstGeom prst="rect">
            <a:avLst/>
          </a:prstGeom>
          <a:noFill/>
        </p:spPr>
        <p:txBody>
          <a:bodyPr wrap="square" lIns="0" rIns="0" tIns="0" bIns="0" anchor="t">
            <a:spAutoFit/>
          </a:bodyPr>
          <a:lstStyle/>
          <a:p>
            <a:pPr algn="l"/>
            <a:r>
              <a:rPr sz="1100" b="0" i="0">
                <a:solidFill>
                  <a:srgbClr val="2B2622"/>
                </a:solidFill>
                <a:latin typeface="Calibri"/>
              </a:rPr>
              <a:t>Recorded on release 31.1: the node refuses to start with both options.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Two ways to spend less memory</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blocksonly and maxmempool options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 node can trade features for memory, and keep verifying everything</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20 / 42</a:t>
            </a:r>
          </a:p>
        </p:txBody>
      </p:sp>
      <p:sp>
        <p:nvSpPr>
          <p:cNvPr id="8" name="TextBox 7"/>
          <p:cNvSpPr txBox="1"/>
          <p:nvPr/>
        </p:nvSpPr>
        <p:spPr>
          <a:xfrm>
            <a:off x="457200" y="1280160"/>
            <a:ext cx="3840480" cy="292608"/>
          </a:xfrm>
          <a:prstGeom prst="rect">
            <a:avLst/>
          </a:prstGeom>
          <a:noFill/>
        </p:spPr>
        <p:txBody>
          <a:bodyPr wrap="square" lIns="0" rIns="0" tIns="0" bIns="0" anchor="t">
            <a:spAutoFit/>
          </a:bodyPr>
          <a:lstStyle/>
          <a:p>
            <a:pPr algn="l"/>
            <a:r>
              <a:rPr sz="1100" b="1" i="0">
                <a:solidFill>
                  <a:srgbClr val="2F6D62"/>
                </a:solidFill>
                <a:latin typeface="Calibri"/>
              </a:rPr>
              <a:t>Mempool limit in megabytes</a:t>
            </a:r>
          </a:p>
        </p:txBody>
      </p:sp>
      <p:graphicFrame>
        <p:nvGraphicFramePr>
          <p:cNvPr id="9" name="Chart 8"/>
          <p:cNvGraphicFramePr>
            <a:graphicFrameLocks noGrp="1"/>
          </p:cNvGraphicFramePr>
          <p:nvPr/>
        </p:nvGraphicFramePr>
        <p:xfrm>
          <a:off x="457200" y="1645920"/>
          <a:ext cx="3840480" cy="2194560"/>
        </p:xfrm>
        <a:graphic>
          <a:graphicData uri="http://schemas.openxmlformats.org/drawingml/2006/chart">
            <c:chart xmlns:c="http://schemas.openxmlformats.org/drawingml/2006/chart" r:id="rId3"/>
          </a:graphicData>
        </a:graphic>
      </p:graphicFrame>
      <p:sp>
        <p:nvSpPr>
          <p:cNvPr id="10" name="TextBox 9"/>
          <p:cNvSpPr txBox="1"/>
          <p:nvPr/>
        </p:nvSpPr>
        <p:spPr>
          <a:xfrm>
            <a:off x="457200" y="3931920"/>
            <a:ext cx="3840480" cy="548640"/>
          </a:xfrm>
          <a:prstGeom prst="rect">
            <a:avLst/>
          </a:prstGeom>
          <a:noFill/>
        </p:spPr>
        <p:txBody>
          <a:bodyPr wrap="square" lIns="0" rIns="0" tIns="0" bIns="0" anchor="t">
            <a:spAutoFit/>
          </a:bodyPr>
          <a:lstStyle/>
          <a:p>
            <a:pPr algn="l"/>
            <a:r>
              <a:rPr sz="1100" b="0" i="0">
                <a:solidFill>
                  <a:srgbClr val="6E655C"/>
                </a:solidFill>
                <a:latin typeface="Calibri"/>
              </a:rPr>
              <a:t>300 MB are 286.1 MiB; blocks-only mode needs 60 times less.</a:t>
            </a:r>
          </a:p>
        </p:txBody>
      </p:sp>
      <p:sp>
        <p:nvSpPr>
          <p:cNvPr id="11" name="Rounded Rectangle 10"/>
          <p:cNvSpPr/>
          <p:nvPr/>
        </p:nvSpPr>
        <p:spPr>
          <a:xfrm>
            <a:off x="4572000" y="1280160"/>
            <a:ext cx="4114800" cy="1463040"/>
          </a:xfrm>
          <a:prstGeom prst="roundRect">
            <a:avLst>
              <a:gd name="adj" fmla="val 6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12" name="Rectangle 11"/>
          <p:cNvSpPr/>
          <p:nvPr/>
        </p:nvSpPr>
        <p:spPr>
          <a:xfrm>
            <a:off x="4617720" y="1389888"/>
            <a:ext cx="64008" cy="124358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13" name="TextBox 12"/>
          <p:cNvSpPr txBox="1"/>
          <p:nvPr/>
        </p:nvSpPr>
        <p:spPr>
          <a:xfrm>
            <a:off x="4818888" y="1353312"/>
            <a:ext cx="3749039" cy="777240"/>
          </a:xfrm>
          <a:prstGeom prst="rect">
            <a:avLst/>
          </a:prstGeom>
          <a:noFill/>
        </p:spPr>
        <p:txBody>
          <a:bodyPr wrap="square" lIns="0" rIns="0" tIns="0" bIns="0" anchor="t">
            <a:spAutoFit/>
          </a:bodyPr>
          <a:lstStyle/>
          <a:p>
            <a:pPr algn="l"/>
            <a:r>
              <a:rPr sz="1400" b="1" i="0">
                <a:solidFill>
                  <a:srgbClr val="2B2622"/>
                </a:solidFill>
                <a:latin typeface="Cambria"/>
              </a:rPr>
              <a:t>blocksonly</a:t>
            </a:r>
          </a:p>
          <a:p>
            <a:pPr algn="l"/>
            <a:r>
              <a:rPr sz="1150" b="0" i="0">
                <a:solidFill>
                  <a:srgbClr val="2B2622"/>
                </a:solidFill>
                <a:latin typeface="Calibri"/>
              </a:rPr>
              <a:t>The node takes blocks from its peers but no loose transactions.</a:t>
            </a:r>
          </a:p>
        </p:txBody>
      </p:sp>
      <p:sp>
        <p:nvSpPr>
          <p:cNvPr id="14" name="TextBox 13"/>
          <p:cNvSpPr txBox="1"/>
          <p:nvPr/>
        </p:nvSpPr>
        <p:spPr>
          <a:xfrm>
            <a:off x="4818888" y="2194560"/>
            <a:ext cx="3749039" cy="457200"/>
          </a:xfrm>
          <a:prstGeom prst="rect">
            <a:avLst/>
          </a:prstGeom>
          <a:noFill/>
        </p:spPr>
        <p:txBody>
          <a:bodyPr wrap="square" lIns="0" rIns="0" tIns="0" bIns="0" anchor="t">
            <a:spAutoFit/>
          </a:bodyPr>
          <a:lstStyle/>
          <a:p>
            <a:pPr algn="l"/>
            <a:r>
              <a:rPr sz="1150" b="0" i="1">
                <a:solidFill>
                  <a:srgbClr val="D97A14"/>
                </a:solidFill>
                <a:latin typeface="Calibri"/>
              </a:rPr>
              <a:t>Think of reading only the daily paper, not every rumour.</a:t>
            </a:r>
          </a:p>
        </p:txBody>
      </p:sp>
      <p:sp>
        <p:nvSpPr>
          <p:cNvPr id="15" name="Rounded Rectangle 14"/>
          <p:cNvSpPr/>
          <p:nvPr/>
        </p:nvSpPr>
        <p:spPr>
          <a:xfrm>
            <a:off x="4572000" y="2880360"/>
            <a:ext cx="4114800" cy="1463040"/>
          </a:xfrm>
          <a:prstGeom prst="roundRect">
            <a:avLst>
              <a:gd name="adj" fmla="val 6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16" name="Rectangle 15"/>
          <p:cNvSpPr/>
          <p:nvPr/>
        </p:nvSpPr>
        <p:spPr>
          <a:xfrm>
            <a:off x="4617720" y="2990088"/>
            <a:ext cx="64008" cy="124358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17" name="TextBox 16"/>
          <p:cNvSpPr txBox="1"/>
          <p:nvPr/>
        </p:nvSpPr>
        <p:spPr>
          <a:xfrm>
            <a:off x="4818888" y="2953512"/>
            <a:ext cx="3749039" cy="777240"/>
          </a:xfrm>
          <a:prstGeom prst="rect">
            <a:avLst/>
          </a:prstGeom>
          <a:noFill/>
        </p:spPr>
        <p:txBody>
          <a:bodyPr wrap="square" lIns="0" rIns="0" tIns="0" bIns="0" anchor="t">
            <a:spAutoFit/>
          </a:bodyPr>
          <a:lstStyle/>
          <a:p>
            <a:pPr algn="l"/>
            <a:r>
              <a:rPr sz="1400" b="1" i="0">
                <a:solidFill>
                  <a:srgbClr val="2B2622"/>
                </a:solidFill>
                <a:latin typeface="Cambria"/>
              </a:rPr>
              <a:t>maxmempool</a:t>
            </a:r>
          </a:p>
          <a:p>
            <a:pPr algn="l"/>
            <a:r>
              <a:rPr sz="1150" b="0" i="0">
                <a:solidFill>
                  <a:srgbClr val="2B2622"/>
                </a:solidFill>
                <a:latin typeface="Calibri"/>
              </a:rPr>
              <a:t>A cap, in megabytes, on the waiting room of unconfirmed transactions.</a:t>
            </a:r>
          </a:p>
        </p:txBody>
      </p:sp>
      <p:sp>
        <p:nvSpPr>
          <p:cNvPr id="18" name="TextBox 17"/>
          <p:cNvSpPr txBox="1"/>
          <p:nvPr/>
        </p:nvSpPr>
        <p:spPr>
          <a:xfrm>
            <a:off x="4818888" y="3794760"/>
            <a:ext cx="3749039" cy="457200"/>
          </a:xfrm>
          <a:prstGeom prst="rect">
            <a:avLst/>
          </a:prstGeom>
          <a:noFill/>
        </p:spPr>
        <p:txBody>
          <a:bodyPr wrap="square" lIns="0" rIns="0" tIns="0" bIns="0" anchor="t">
            <a:spAutoFit/>
          </a:bodyPr>
          <a:lstStyle/>
          <a:p>
            <a:pPr algn="l"/>
            <a:r>
              <a:rPr sz="1150" b="0" i="1">
                <a:solidFill>
                  <a:srgbClr val="D97A14"/>
                </a:solidFill>
                <a:latin typeface="Calibri"/>
              </a:rPr>
              <a:t>Think of a clinic's waiting room: it has only so many chairs.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An alert text is cleaned before it runs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alertnotify option runs your command when the node raises an alert</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a mail room that removes anything dangerous before a letter reaches you</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21 / 42</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msg = </a:t>
            </a:r>
            <a:r>
              <a:rPr sz="1000" b="0" i="0">
                <a:solidFill>
                  <a:srgbClr val="9ECBFF"/>
                </a:solidFill>
                <a:latin typeface="Courier New"/>
              </a:rPr>
              <a:t>"x'; reboot; '"</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cmd = </a:t>
            </a:r>
            <a:r>
              <a:rPr sz="1000" b="0" i="0">
                <a:solidFill>
                  <a:srgbClr val="9ECBFF"/>
                </a:solidFill>
                <a:latin typeface="Courier New"/>
              </a:rPr>
              <a:t>'notify.sh "Alert: %s"'</a:t>
            </a:r>
          </a:p>
          <a:p>
            <a:pPr algn="l"/>
            <a:r>
              <a:rPr sz="1000" b="1" i="0">
                <a:solidFill>
                  <a:srgbClr val="F2A860"/>
                </a:solidFill>
                <a:latin typeface="Courier New"/>
              </a:rPr>
              <a:t>&gt;&gt;&gt; </a:t>
            </a:r>
            <a:r>
              <a:rPr sz="1000" b="0" i="0">
                <a:solidFill>
                  <a:srgbClr val="E6EDF3"/>
                </a:solidFill>
                <a:latin typeface="Courier New"/>
              </a:rPr>
              <a:t>(T.clean(msg), len(msg) - len(T.clean(msg)))</a:t>
            </a:r>
          </a:p>
          <a:p>
            <a:pPr algn="l"/>
            <a:r>
              <a:rPr sz="1000" b="0" i="0">
                <a:solidFill>
                  <a:srgbClr val="7EE787"/>
                </a:solidFill>
                <a:latin typeface="Courier New"/>
              </a:rPr>
              <a:t>('x; reboot; ', 2)</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A hostile alert text tries to close the quote and run a second command.</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node strips every character outside a short safe list, so both quotes vanish.</a:t>
            </a:r>
          </a:p>
        </p:txBody>
      </p:sp>
      <p:sp>
        <p:nvSpPr>
          <p:cNvPr id="14" name="TextBox 13"/>
          <p:cNvSpPr txBox="1"/>
          <p:nvPr/>
        </p:nvSpPr>
        <p:spPr>
          <a:xfrm>
            <a:off x="457200" y="316077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(sen0401_ch03_core_lib_v1_0_0)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alert text, before and after</a:t>
            </a:r>
          </a:p>
        </p:txBody>
      </p:sp>
      <p:graphicFrame>
        <p:nvGraphicFramePr>
          <p:cNvPr id="16" name="Table 15"/>
          <p:cNvGraphicFramePr>
            <a:graphicFrameLocks noGrp="1"/>
          </p:cNvGraphicFramePr>
          <p:nvPr/>
        </p:nvGraphicFramePr>
        <p:xfrm>
          <a:off x="5852160" y="1691640"/>
          <a:ext cx="2834640" cy="1828800"/>
        </p:xfrm>
        <a:graphic>
          <a:graphicData uri="http://schemas.openxmlformats.org/drawingml/2006/table">
            <a:tbl>
              <a:tblPr firstRow="1" bandRow="1">
                <a:tableStyleId>{5C22544A-7EE6-4342-B048-85BDC9FD1C3A}</a:tableStyleId>
              </a:tblPr>
              <a:tblGrid>
                <a:gridCol w="914400"/>
                <a:gridCol w="1920240"/>
              </a:tblGrid>
              <a:tr h="457200">
                <a:tc>
                  <a:txBody>
                    <a:bodyPr/>
                    <a:lstStyle/>
                    <a:p>
                      <a:pPr algn="l"/>
                      <a:r>
                        <a:rPr sz="950" b="1">
                          <a:solidFill>
                            <a:srgbClr val="FFFFFF"/>
                          </a:solidFill>
                          <a:latin typeface="Calibri"/>
                        </a:rPr>
                        <a:t>Step</a:t>
                      </a:r>
                    </a:p>
                  </a:txBody>
                  <a:tcPr marL="54864" marR="54864" marT="27432" marB="27432" anchor="ctr">
                    <a:solidFill>
                      <a:srgbClr val="2F6D62"/>
                    </a:solidFill>
                  </a:tcPr>
                </a:tc>
                <a:tc>
                  <a:txBody>
                    <a:bodyPr/>
                    <a:lstStyle/>
                    <a:p>
                      <a:pPr algn="l"/>
                      <a:r>
                        <a:rPr sz="950" b="1">
                          <a:solidFill>
                            <a:srgbClr val="FFFFFF"/>
                          </a:solidFill>
                          <a:latin typeface="Calibri"/>
                        </a:rPr>
                        <a:t>Text</a:t>
                      </a:r>
                    </a:p>
                  </a:txBody>
                  <a:tcPr marL="54864" marR="54864" marT="27432" marB="27432" anchor="ctr">
                    <a:solidFill>
                      <a:srgbClr val="2F6D62"/>
                    </a:solidFill>
                  </a:tcPr>
                </a:tc>
              </a:tr>
              <a:tr h="457200">
                <a:tc>
                  <a:txBody>
                    <a:bodyPr/>
                    <a:lstStyle/>
                    <a:p>
                      <a:pPr algn="l"/>
                      <a:r>
                        <a:rPr sz="950" b="0">
                          <a:solidFill>
                            <a:srgbClr val="2B2622"/>
                          </a:solidFill>
                          <a:latin typeface="Calibri"/>
                        </a:rPr>
                        <a:t>Hostile alert</a:t>
                      </a:r>
                    </a:p>
                  </a:txBody>
                  <a:tcPr marL="54864" marR="54864" marT="27432" marB="27432" anchor="ctr">
                    <a:solidFill>
                      <a:srgbClr val="FFFFFF"/>
                    </a:solidFill>
                  </a:tcPr>
                </a:tc>
                <a:tc>
                  <a:txBody>
                    <a:bodyPr/>
                    <a:lstStyle/>
                    <a:p>
                      <a:pPr algn="l"/>
                      <a:r>
                        <a:rPr sz="950" b="0">
                          <a:solidFill>
                            <a:srgbClr val="2B2622"/>
                          </a:solidFill>
                          <a:latin typeface="Calibri"/>
                        </a:rPr>
                        <a:t>x'; reboot; '</a:t>
                      </a:r>
                    </a:p>
                  </a:txBody>
                  <a:tcPr marL="54864" marR="54864" marT="27432" marB="27432" anchor="ctr">
                    <a:solidFill>
                      <a:srgbClr val="FFFFFF"/>
                    </a:solidFill>
                  </a:tcPr>
                </a:tc>
              </a:tr>
              <a:tr h="457200">
                <a:tc>
                  <a:txBody>
                    <a:bodyPr/>
                    <a:lstStyle/>
                    <a:p>
                      <a:pPr algn="l"/>
                      <a:r>
                        <a:rPr sz="950" b="0">
                          <a:solidFill>
                            <a:srgbClr val="2B2622"/>
                          </a:solidFill>
                          <a:latin typeface="Calibri"/>
                        </a:rPr>
                        <a:t>After cleaning</a:t>
                      </a:r>
                    </a:p>
                  </a:txBody>
                  <a:tcPr marL="54864" marR="54864" marT="27432" marB="27432" anchor="ctr">
                    <a:solidFill>
                      <a:srgbClr val="F2ECE1"/>
                    </a:solidFill>
                  </a:tcPr>
                </a:tc>
                <a:tc>
                  <a:txBody>
                    <a:bodyPr/>
                    <a:lstStyle/>
                    <a:p>
                      <a:pPr algn="l"/>
                      <a:r>
                        <a:rPr sz="950" b="0">
                          <a:solidFill>
                            <a:srgbClr val="2B2622"/>
                          </a:solidFill>
                          <a:latin typeface="Calibri"/>
                        </a:rPr>
                        <a:t>x; reboot; </a:t>
                      </a:r>
                    </a:p>
                  </a:txBody>
                  <a:tcPr marL="54864" marR="54864" marT="27432" marB="27432" anchor="ctr">
                    <a:solidFill>
                      <a:srgbClr val="F2ECE1"/>
                    </a:solidFill>
                  </a:tcPr>
                </a:tc>
              </a:tr>
              <a:tr h="457200">
                <a:tc>
                  <a:txBody>
                    <a:bodyPr/>
                    <a:lstStyle/>
                    <a:p>
                      <a:pPr algn="l"/>
                      <a:r>
                        <a:rPr sz="950" b="0">
                          <a:solidFill>
                            <a:srgbClr val="2B2622"/>
                          </a:solidFill>
                          <a:latin typeface="Calibri"/>
                        </a:rPr>
                        <a:t>Command that runs</a:t>
                      </a:r>
                    </a:p>
                  </a:txBody>
                  <a:tcPr marL="54864" marR="54864" marT="27432" marB="27432" anchor="ctr">
                    <a:solidFill>
                      <a:srgbClr val="EFE6D6"/>
                    </a:solidFill>
                  </a:tcPr>
                </a:tc>
                <a:tc>
                  <a:txBody>
                    <a:bodyPr/>
                    <a:lstStyle/>
                    <a:p>
                      <a:pPr algn="l"/>
                      <a:r>
                        <a:rPr sz="950" b="0">
                          <a:solidFill>
                            <a:srgbClr val="2B2622"/>
                          </a:solidFill>
                          <a:latin typeface="Calibri"/>
                        </a:rPr>
                        <a:t>notify.sh "Alert: 'x; reboot; '"</a:t>
                      </a:r>
                    </a:p>
                  </a:txBody>
                  <a:tcPr marL="54864" marR="54864" marT="27432" marB="27432" anchor="ctr">
                    <a:solidFill>
                      <a:srgbClr val="EFE6D6"/>
                    </a:solidFill>
                  </a:tcPr>
                </a:tc>
              </a:tr>
            </a:tbl>
          </a:graphicData>
        </a:graphic>
      </p:graphicFrame>
      <p:sp>
        <p:nvSpPr>
          <p:cNvPr id="17" name="TextBox 16"/>
          <p:cNvSpPr txBox="1"/>
          <p:nvPr/>
        </p:nvSpPr>
        <p:spPr>
          <a:xfrm>
            <a:off x="5852160" y="3630168"/>
            <a:ext cx="2834640" cy="685800"/>
          </a:xfrm>
          <a:prstGeom prst="rect">
            <a:avLst/>
          </a:prstGeom>
          <a:noFill/>
        </p:spPr>
        <p:txBody>
          <a:bodyPr wrap="square" lIns="0" rIns="0" tIns="0" bIns="0" anchor="t">
            <a:spAutoFit/>
          </a:bodyPr>
          <a:lstStyle/>
          <a:p>
            <a:pPr algn="l"/>
            <a:r>
              <a:rPr sz="1100" b="0" i="0">
                <a:solidFill>
                  <a:srgbClr val="2B2622"/>
                </a:solidFill>
                <a:latin typeface="Calibri"/>
              </a:rPr>
              <a:t>2 characters were stripped, so no quote can end the word early.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The project that outlives its keyholders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7 April 2014 · Andresen hands over to van der Laan</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The reference implementation is an institution, not a person</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22 / 42</a:t>
            </a:r>
          </a:p>
        </p:txBody>
      </p:sp>
      <p:pic>
        <p:nvPicPr>
          <p:cNvPr id="8" name="Picture 7" descr="Gavin Andresen at Web Summit 2014"/>
          <p:cNvPicPr>
            <a:picLocks noChangeAspect="1"/>
          </p:cNvPicPr>
          <p:nvPr/>
        </p:nvPicPr>
        <p:blipFill>
          <a:blip r:embed="rId3"/>
          <a:srcRect t="9126" b="36505"/>
          <a:stretch>
            <a:fillRect/>
          </a:stretch>
        </p:blipFill>
        <p:spPr>
          <a:xfrm>
            <a:off x="457200" y="1234440"/>
            <a:ext cx="2743200" cy="2240280"/>
          </a:xfrm>
          <a:prstGeom prst="rect">
            <a:avLst/>
          </a:prstGeom>
        </p:spPr>
      </p:pic>
      <p:sp>
        <p:nvSpPr>
          <p:cNvPr id="9" name="TextBox 8"/>
          <p:cNvSpPr txBox="1"/>
          <p:nvPr/>
        </p:nvSpPr>
        <p:spPr>
          <a:xfrm>
            <a:off x="457200" y="3547872"/>
            <a:ext cx="2743200" cy="566928"/>
          </a:xfrm>
          <a:prstGeom prst="rect">
            <a:avLst/>
          </a:prstGeom>
          <a:noFill/>
        </p:spPr>
        <p:txBody>
          <a:bodyPr wrap="square" lIns="0" rIns="0" tIns="0" bIns="0" anchor="t">
            <a:spAutoFit/>
          </a:bodyPr>
          <a:lstStyle/>
          <a:p>
            <a:pPr algn="l"/>
            <a:r>
              <a:rPr sz="850" b="0" i="0">
                <a:solidFill>
                  <a:srgbClr val="6E655C"/>
                </a:solidFill>
                <a:latin typeface="Calibri"/>
              </a:rPr>
              <a:t>Picture: Gavin Andresen, 2014 - Stephen McCarthy, CC BY 2.0, Wikimedia Commons</a:t>
            </a:r>
          </a:p>
        </p:txBody>
      </p:sp>
      <p:sp>
        <p:nvSpPr>
          <p:cNvPr id="10" name="TextBox 9"/>
          <p:cNvSpPr txBox="1"/>
          <p:nvPr/>
        </p:nvSpPr>
        <p:spPr>
          <a:xfrm>
            <a:off x="3429000" y="1216152"/>
            <a:ext cx="5257800" cy="438912"/>
          </a:xfrm>
          <a:prstGeom prst="rect">
            <a:avLst/>
          </a:prstGeom>
          <a:noFill/>
        </p:spPr>
        <p:txBody>
          <a:bodyPr wrap="square" lIns="0" rIns="0" tIns="0" bIns="0" anchor="t">
            <a:spAutoFit/>
          </a:bodyPr>
          <a:lstStyle/>
          <a:p>
            <a:pPr algn="l"/>
            <a:r>
              <a:rPr sz="1050" b="1" i="0">
                <a:solidFill>
                  <a:srgbClr val="D97A14"/>
                </a:solidFill>
                <a:latin typeface="Calibri"/>
              </a:rPr>
              <a:t>WHO </a:t>
            </a:r>
            <a:r>
              <a:rPr sz="1050" b="0" i="0">
                <a:solidFill>
                  <a:srgbClr val="2B2622"/>
                </a:solidFill>
                <a:latin typeface="Calibri"/>
              </a:rPr>
              <a:t>Gavin Andresen, who led the software after Satoshi Nakamoto, and Wladimir van der Laan, his successor.</a:t>
            </a:r>
          </a:p>
        </p:txBody>
      </p:sp>
      <p:sp>
        <p:nvSpPr>
          <p:cNvPr id="11" name="TextBox 10"/>
          <p:cNvSpPr txBox="1"/>
          <p:nvPr/>
        </p:nvSpPr>
        <p:spPr>
          <a:xfrm>
            <a:off x="3429000" y="1691640"/>
            <a:ext cx="5257800" cy="438912"/>
          </a:xfrm>
          <a:prstGeom prst="rect">
            <a:avLst/>
          </a:prstGeom>
          <a:noFill/>
        </p:spPr>
        <p:txBody>
          <a:bodyPr wrap="square" lIns="0" rIns="0" tIns="0" bIns="0" anchor="t">
            <a:spAutoFit/>
          </a:bodyPr>
          <a:lstStyle/>
          <a:p>
            <a:pPr algn="l"/>
            <a:r>
              <a:rPr sz="1050" b="1" i="0">
                <a:solidFill>
                  <a:srgbClr val="D97A14"/>
                </a:solidFill>
                <a:latin typeface="Calibri"/>
              </a:rPr>
              <a:t>WHAT </a:t>
            </a:r>
            <a:r>
              <a:rPr sz="1050" b="0" i="0">
                <a:solidFill>
                  <a:srgbClr val="2B2622"/>
                </a:solidFill>
                <a:latin typeface="Calibri"/>
              </a:rPr>
              <a:t>Andresen passed the lead-maintainer role of Bitcoin Core to van der Laan.</a:t>
            </a:r>
          </a:p>
        </p:txBody>
      </p:sp>
      <p:sp>
        <p:nvSpPr>
          <p:cNvPr id="12" name="TextBox 11"/>
          <p:cNvSpPr txBox="1"/>
          <p:nvPr/>
        </p:nvSpPr>
        <p:spPr>
          <a:xfrm>
            <a:off x="3429000" y="2167128"/>
            <a:ext cx="5257800" cy="438912"/>
          </a:xfrm>
          <a:prstGeom prst="rect">
            <a:avLst/>
          </a:prstGeom>
          <a:noFill/>
        </p:spPr>
        <p:txBody>
          <a:bodyPr wrap="square" lIns="0" rIns="0" tIns="0" bIns="0" anchor="t">
            <a:spAutoFit/>
          </a:bodyPr>
          <a:lstStyle/>
          <a:p>
            <a:pPr algn="l"/>
            <a:r>
              <a:rPr sz="1050" b="1" i="0">
                <a:solidFill>
                  <a:srgbClr val="D97A14"/>
                </a:solidFill>
                <a:latin typeface="Calibri"/>
              </a:rPr>
              <a:t>WHEN </a:t>
            </a:r>
            <a:r>
              <a:rPr sz="1050" b="0" i="0">
                <a:solidFill>
                  <a:srgbClr val="2B2622"/>
                </a:solidFill>
                <a:latin typeface="Calibri"/>
              </a:rPr>
              <a:t>2014-04-07</a:t>
            </a:r>
            <a:r>
              <a:rPr sz="1050" b="0" i="0">
                <a:solidFill>
                  <a:srgbClr val="2B2622"/>
                </a:solidFill>
                <a:latin typeface="Calibri"/>
              </a:rPr>
              <a:t> (7 April 2014)</a:t>
            </a:r>
          </a:p>
        </p:txBody>
      </p:sp>
      <p:sp>
        <p:nvSpPr>
          <p:cNvPr id="13" name="TextBox 12"/>
          <p:cNvSpPr txBox="1"/>
          <p:nvPr/>
        </p:nvSpPr>
        <p:spPr>
          <a:xfrm>
            <a:off x="3429000" y="2642616"/>
            <a:ext cx="5257800" cy="438912"/>
          </a:xfrm>
          <a:prstGeom prst="rect">
            <a:avLst/>
          </a:prstGeom>
          <a:noFill/>
        </p:spPr>
        <p:txBody>
          <a:bodyPr wrap="square" lIns="0" rIns="0" tIns="0" bIns="0" anchor="t">
            <a:spAutoFit/>
          </a:bodyPr>
          <a:lstStyle/>
          <a:p>
            <a:pPr algn="l"/>
            <a:r>
              <a:rPr sz="1050" b="1" i="0">
                <a:solidFill>
                  <a:srgbClr val="D97A14"/>
                </a:solidFill>
                <a:latin typeface="Calibri"/>
              </a:rPr>
              <a:t>WHERE </a:t>
            </a:r>
            <a:r>
              <a:rPr sz="1050" b="0" i="0">
                <a:solidFill>
                  <a:srgbClr val="2B2622"/>
                </a:solidFill>
                <a:latin typeface="Calibri"/>
              </a:rPr>
              <a:t>The public bitcoin/bitcoin repository on GitHub, where every change is reviewed in the open.</a:t>
            </a:r>
          </a:p>
        </p:txBody>
      </p:sp>
      <p:sp>
        <p:nvSpPr>
          <p:cNvPr id="14" name="TextBox 13"/>
          <p:cNvSpPr txBox="1"/>
          <p:nvPr/>
        </p:nvSpPr>
        <p:spPr>
          <a:xfrm>
            <a:off x="3429000" y="3118104"/>
            <a:ext cx="5257800" cy="438912"/>
          </a:xfrm>
          <a:prstGeom prst="rect">
            <a:avLst/>
          </a:prstGeom>
          <a:noFill/>
        </p:spPr>
        <p:txBody>
          <a:bodyPr wrap="square" lIns="0" rIns="0" tIns="0" bIns="0" anchor="t">
            <a:spAutoFit/>
          </a:bodyPr>
          <a:lstStyle/>
          <a:p>
            <a:pPr algn="l"/>
            <a:r>
              <a:rPr sz="1050" b="1" i="0">
                <a:solidFill>
                  <a:srgbClr val="D97A14"/>
                </a:solidFill>
                <a:latin typeface="Calibri"/>
              </a:rPr>
              <a:t>WHY </a:t>
            </a:r>
            <a:r>
              <a:rPr sz="1050" b="0" i="0">
                <a:solidFill>
                  <a:srgbClr val="2B2622"/>
                </a:solidFill>
                <a:latin typeface="Calibri"/>
              </a:rPr>
              <a:t>Andresen wanted to focus on protocol work, and a reference cannot wait for one person.</a:t>
            </a:r>
          </a:p>
        </p:txBody>
      </p:sp>
      <p:sp>
        <p:nvSpPr>
          <p:cNvPr id="15" name="TextBox 14"/>
          <p:cNvSpPr txBox="1"/>
          <p:nvPr/>
        </p:nvSpPr>
        <p:spPr>
          <a:xfrm>
            <a:off x="3429000" y="3593592"/>
            <a:ext cx="5257800" cy="438912"/>
          </a:xfrm>
          <a:prstGeom prst="rect">
            <a:avLst/>
          </a:prstGeom>
          <a:noFill/>
        </p:spPr>
        <p:txBody>
          <a:bodyPr wrap="square" lIns="0" rIns="0" tIns="0" bIns="0" anchor="t">
            <a:spAutoFit/>
          </a:bodyPr>
          <a:lstStyle/>
          <a:p>
            <a:pPr algn="l"/>
            <a:r>
              <a:rPr sz="1050" b="1" i="0">
                <a:solidFill>
                  <a:srgbClr val="D97A14"/>
                </a:solidFill>
                <a:latin typeface="Calibri"/>
              </a:rPr>
              <a:t>HOW </a:t>
            </a:r>
            <a:r>
              <a:rPr sz="1050" b="0" i="0">
                <a:solidFill>
                  <a:srgbClr val="2B2622"/>
                </a:solidFill>
                <a:latin typeface="Calibri"/>
              </a:rPr>
              <a:t>He named van der Laan, who led until 2022; Satoshi had handed the project to Andresen in 2011.</a:t>
            </a:r>
          </a:p>
        </p:txBody>
      </p:sp>
      <p:sp>
        <p:nvSpPr>
          <p:cNvPr id="16" name="TextBox 15"/>
          <p:cNvSpPr txBox="1"/>
          <p:nvPr/>
        </p:nvSpPr>
        <p:spPr>
          <a:xfrm>
            <a:off x="3429000" y="4114800"/>
            <a:ext cx="5257800" cy="274320"/>
          </a:xfrm>
          <a:prstGeom prst="rect">
            <a:avLst/>
          </a:prstGeom>
          <a:noFill/>
        </p:spPr>
        <p:txBody>
          <a:bodyPr wrap="square" lIns="0" rIns="0" tIns="0" bIns="0" anchor="t">
            <a:spAutoFit/>
          </a:bodyPr>
          <a:lstStyle/>
          <a:p>
            <a:pPr algn="l"/>
            <a:r>
              <a:rPr sz="1050" b="1" i="0">
                <a:solidFill>
                  <a:srgbClr val="D97A14"/>
                </a:solidFill>
                <a:latin typeface="Calibri"/>
              </a:rPr>
              <a:t>READ </a:t>
            </a:r>
            <a:r>
              <a:rPr sz="1050" b="0" i="0" u="sng">
                <a:solidFill>
                  <a:srgbClr val="2F6D62"/>
                </a:solidFill>
                <a:latin typeface="Calibri"/>
                <a:hlinkClick r:id="rId4"/>
              </a:rPr>
              <a:t>Wladimir van der Laan (Bitcoin Wiki)</a:t>
            </a:r>
            <a:r>
              <a:rPr sz="1050" b="0" i="0">
                <a:solidFill>
                  <a:srgbClr val="6E655C"/>
                </a:solidFill>
                <a:latin typeface="Calibri"/>
              </a:rPr>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Bitcoin Core API</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Getting Information on Bitcoin Core's Status</a:t>
            </a:r>
          </a:p>
        </p:txBody>
      </p:sp>
      <p:sp>
        <p:nvSpPr>
          <p:cNvPr id="4" name="Rounded Rectangle 3"/>
          <p:cNvSpPr/>
          <p:nvPr/>
        </p:nvSpPr>
        <p:spPr>
          <a:xfrm>
            <a:off x="548640" y="1783080"/>
            <a:ext cx="18745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bitcoin-cli</a:t>
            </a:r>
          </a:p>
        </p:txBody>
      </p:sp>
      <p:sp>
        <p:nvSpPr>
          <p:cNvPr id="5" name="TextBox 4"/>
          <p:cNvSpPr txBox="1"/>
          <p:nvPr/>
        </p:nvSpPr>
        <p:spPr>
          <a:xfrm>
            <a:off x="548640" y="2267712"/>
            <a:ext cx="1874520" cy="731520"/>
          </a:xfrm>
          <a:prstGeom prst="rect">
            <a:avLst/>
          </a:prstGeom>
          <a:noFill/>
        </p:spPr>
        <p:txBody>
          <a:bodyPr wrap="square" lIns="0" rIns="0" tIns="0" bIns="0" anchor="t">
            <a:spAutoFit/>
          </a:bodyPr>
          <a:lstStyle/>
          <a:p>
            <a:pPr algn="l"/>
            <a:r>
              <a:rPr sz="1150" b="0" i="0">
                <a:solidFill>
                  <a:srgbClr val="2B2622"/>
                </a:solidFill>
                <a:latin typeface="Calibri"/>
              </a:rPr>
              <a:t>A command-line tool that calls the node's interface.</a:t>
            </a:r>
          </a:p>
        </p:txBody>
      </p:sp>
      <p:sp>
        <p:nvSpPr>
          <p:cNvPr id="6" name="TextBox 5"/>
          <p:cNvSpPr txBox="1"/>
          <p:nvPr/>
        </p:nvSpPr>
        <p:spPr>
          <a:xfrm>
            <a:off x="548640" y="3054096"/>
            <a:ext cx="1874520" cy="731520"/>
          </a:xfrm>
          <a:prstGeom prst="rect">
            <a:avLst/>
          </a:prstGeom>
          <a:noFill/>
        </p:spPr>
        <p:txBody>
          <a:bodyPr wrap="square" lIns="0" rIns="0" tIns="0" bIns="0" anchor="t">
            <a:spAutoFit/>
          </a:bodyPr>
          <a:lstStyle/>
          <a:p>
            <a:pPr algn="l"/>
            <a:r>
              <a:rPr sz="1150" b="0" i="1">
                <a:solidFill>
                  <a:srgbClr val="D97A14"/>
                </a:solidFill>
                <a:latin typeface="Calibri"/>
              </a:rPr>
              <a:t>Think of a remote control for the node.</a:t>
            </a:r>
          </a:p>
        </p:txBody>
      </p:sp>
      <p:sp>
        <p:nvSpPr>
          <p:cNvPr id="7" name="Rounded Rectangle 6"/>
          <p:cNvSpPr/>
          <p:nvPr/>
        </p:nvSpPr>
        <p:spPr>
          <a:xfrm>
            <a:off x="2606040" y="1783080"/>
            <a:ext cx="18745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JSON-RPC</a:t>
            </a:r>
          </a:p>
        </p:txBody>
      </p:sp>
      <p:sp>
        <p:nvSpPr>
          <p:cNvPr id="8" name="TextBox 7"/>
          <p:cNvSpPr txBox="1"/>
          <p:nvPr/>
        </p:nvSpPr>
        <p:spPr>
          <a:xfrm>
            <a:off x="2606040" y="2267712"/>
            <a:ext cx="1874520" cy="731520"/>
          </a:xfrm>
          <a:prstGeom prst="rect">
            <a:avLst/>
          </a:prstGeom>
          <a:noFill/>
        </p:spPr>
        <p:txBody>
          <a:bodyPr wrap="square" lIns="0" rIns="0" tIns="0" bIns="0" anchor="t">
            <a:spAutoFit/>
          </a:bodyPr>
          <a:lstStyle/>
          <a:p>
            <a:pPr algn="l"/>
            <a:r>
              <a:rPr sz="1150" b="0" i="0">
                <a:solidFill>
                  <a:srgbClr val="2B2622"/>
                </a:solidFill>
                <a:latin typeface="Calibri"/>
              </a:rPr>
              <a:t>A way to call a program's functions with small JSON messages.</a:t>
            </a:r>
          </a:p>
        </p:txBody>
      </p:sp>
      <p:sp>
        <p:nvSpPr>
          <p:cNvPr id="9" name="TextBox 8"/>
          <p:cNvSpPr txBox="1"/>
          <p:nvPr/>
        </p:nvSpPr>
        <p:spPr>
          <a:xfrm>
            <a:off x="2606040" y="3054096"/>
            <a:ext cx="1874520" cy="731520"/>
          </a:xfrm>
          <a:prstGeom prst="rect">
            <a:avLst/>
          </a:prstGeom>
          <a:noFill/>
        </p:spPr>
        <p:txBody>
          <a:bodyPr wrap="square" lIns="0" rIns="0" tIns="0" bIns="0" anchor="t">
            <a:spAutoFit/>
          </a:bodyPr>
          <a:lstStyle/>
          <a:p>
            <a:pPr algn="l"/>
            <a:r>
              <a:rPr sz="1150" b="0" i="1">
                <a:solidFill>
                  <a:srgbClr val="D97A14"/>
                </a:solidFill>
                <a:latin typeface="Calibri"/>
              </a:rPr>
              <a:t>Think of an order slip handed over a counter.</a:t>
            </a:r>
          </a:p>
        </p:txBody>
      </p:sp>
      <p:sp>
        <p:nvSpPr>
          <p:cNvPr id="10" name="Rounded Rectangle 9"/>
          <p:cNvSpPr/>
          <p:nvPr/>
        </p:nvSpPr>
        <p:spPr>
          <a:xfrm>
            <a:off x="4663440" y="1783080"/>
            <a:ext cx="18745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cookie authentication</a:t>
            </a:r>
          </a:p>
        </p:txBody>
      </p:sp>
      <p:sp>
        <p:nvSpPr>
          <p:cNvPr id="11" name="TextBox 10"/>
          <p:cNvSpPr txBox="1"/>
          <p:nvPr/>
        </p:nvSpPr>
        <p:spPr>
          <a:xfrm>
            <a:off x="4663440" y="2267712"/>
            <a:ext cx="1874520" cy="731520"/>
          </a:xfrm>
          <a:prstGeom prst="rect">
            <a:avLst/>
          </a:prstGeom>
          <a:noFill/>
        </p:spPr>
        <p:txBody>
          <a:bodyPr wrap="square" lIns="0" rIns="0" tIns="0" bIns="0" anchor="t">
            <a:spAutoFit/>
          </a:bodyPr>
          <a:lstStyle/>
          <a:p>
            <a:pPr algn="l"/>
            <a:r>
              <a:rPr sz="1150" b="0" i="0">
                <a:solidFill>
                  <a:srgbClr val="2B2622"/>
                </a:solidFill>
                <a:latin typeface="Calibri"/>
              </a:rPr>
              <a:t>A secret that the node writes to a file at every start.</a:t>
            </a:r>
          </a:p>
        </p:txBody>
      </p:sp>
      <p:sp>
        <p:nvSpPr>
          <p:cNvPr id="12" name="TextBox 11"/>
          <p:cNvSpPr txBox="1"/>
          <p:nvPr/>
        </p:nvSpPr>
        <p:spPr>
          <a:xfrm>
            <a:off x="4663440" y="3054096"/>
            <a:ext cx="1874520" cy="731520"/>
          </a:xfrm>
          <a:prstGeom prst="rect">
            <a:avLst/>
          </a:prstGeom>
          <a:noFill/>
        </p:spPr>
        <p:txBody>
          <a:bodyPr wrap="square" lIns="0" rIns="0" tIns="0" bIns="0" anchor="t">
            <a:spAutoFit/>
          </a:bodyPr>
          <a:lstStyle/>
          <a:p>
            <a:pPr algn="l"/>
            <a:r>
              <a:rPr sz="1150" b="0" i="1">
                <a:solidFill>
                  <a:srgbClr val="D97A14"/>
                </a:solidFill>
                <a:latin typeface="Calibri"/>
              </a:rPr>
              <a:t>Think of a hotel key card coded anew for each guest.</a:t>
            </a:r>
          </a:p>
        </p:txBody>
      </p:sp>
      <p:sp>
        <p:nvSpPr>
          <p:cNvPr id="13" name="Rounded Rectangle 12"/>
          <p:cNvSpPr/>
          <p:nvPr/>
        </p:nvSpPr>
        <p:spPr>
          <a:xfrm>
            <a:off x="6720840" y="1783080"/>
            <a:ext cx="18745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rpcauth</a:t>
            </a:r>
          </a:p>
        </p:txBody>
      </p:sp>
      <p:sp>
        <p:nvSpPr>
          <p:cNvPr id="14" name="TextBox 13"/>
          <p:cNvSpPr txBox="1"/>
          <p:nvPr/>
        </p:nvSpPr>
        <p:spPr>
          <a:xfrm>
            <a:off x="6720840" y="2267712"/>
            <a:ext cx="1874520" cy="731520"/>
          </a:xfrm>
          <a:prstGeom prst="rect">
            <a:avLst/>
          </a:prstGeom>
          <a:noFill/>
        </p:spPr>
        <p:txBody>
          <a:bodyPr wrap="square" lIns="0" rIns="0" tIns="0" bIns="0" anchor="t">
            <a:spAutoFit/>
          </a:bodyPr>
          <a:lstStyle/>
          <a:p>
            <a:pPr algn="l"/>
            <a:r>
              <a:rPr sz="1150" b="0" i="0">
                <a:solidFill>
                  <a:srgbClr val="2B2622"/>
                </a:solidFill>
                <a:latin typeface="Calibri"/>
              </a:rPr>
              <a:t>A stored user name with a salted hash of the password.</a:t>
            </a:r>
          </a:p>
        </p:txBody>
      </p:sp>
      <p:sp>
        <p:nvSpPr>
          <p:cNvPr id="15" name="TextBox 14"/>
          <p:cNvSpPr txBox="1"/>
          <p:nvPr/>
        </p:nvSpPr>
        <p:spPr>
          <a:xfrm>
            <a:off x="6720840" y="3054096"/>
            <a:ext cx="1874520" cy="731520"/>
          </a:xfrm>
          <a:prstGeom prst="rect">
            <a:avLst/>
          </a:prstGeom>
          <a:noFill/>
        </p:spPr>
        <p:txBody>
          <a:bodyPr wrap="square" lIns="0" rIns="0" tIns="0" bIns="0" anchor="t">
            <a:spAutoFit/>
          </a:bodyPr>
          <a:lstStyle/>
          <a:p>
            <a:pPr algn="l"/>
            <a:r>
              <a:rPr sz="1150" b="0" i="1">
                <a:solidFill>
                  <a:srgbClr val="D97A14"/>
                </a:solidFill>
                <a:latin typeface="Calibri"/>
              </a:rPr>
              <a:t>Think of a bank that keeps a check value, not your PIN.</a:t>
            </a:r>
          </a:p>
        </p:txBody>
      </p:sp>
      <p:graphicFrame>
        <p:nvGraphicFramePr>
          <p:cNvPr id="16" name="Table 15"/>
          <p:cNvGraphicFramePr>
            <a:graphicFrameLocks noGrp="1"/>
          </p:cNvGraphicFramePr>
          <p:nvPr/>
        </p:nvGraphicFramePr>
        <p:xfrm>
          <a:off x="548640" y="4023360"/>
          <a:ext cx="8046717" cy="365760"/>
        </p:xfrm>
        <a:graphic>
          <a:graphicData uri="http://schemas.openxmlformats.org/drawingml/2006/table">
            <a:tbl>
              <a:tblPr firstRow="1" bandRow="1">
                <a:tableStyleId>{5C22544A-7EE6-4342-B048-85BDC9FD1C3A}</a:tableStyleId>
              </a:tblPr>
              <a:tblGrid>
                <a:gridCol w="1149531"/>
                <a:gridCol w="1149531"/>
                <a:gridCol w="1149531"/>
                <a:gridCol w="1149531"/>
                <a:gridCol w="1149531"/>
                <a:gridCol w="1149531"/>
                <a:gridCol w="1149531"/>
              </a:tblGrid>
              <a:tr h="365760">
                <a:tc>
                  <a:txBody>
                    <a:bodyPr/>
                    <a:lstStyle/>
                    <a:p>
                      <a:pPr algn="ctr"/>
                      <a:r>
                        <a:rPr sz="1000" b="0">
                          <a:solidFill>
                            <a:srgbClr val="6E655C"/>
                          </a:solidFill>
                          <a:latin typeface="Calibri"/>
                        </a:rPr>
                        <a:t>Core</a:t>
                      </a:r>
                    </a:p>
                  </a:txBody>
                  <a:tcPr marL="54864" marR="54864" marT="27432" marB="27432" anchor="ctr">
                    <a:solidFill>
                      <a:srgbClr val="F2ECE1"/>
                    </a:solidFill>
                  </a:tcPr>
                </a:tc>
                <a:tc>
                  <a:txBody>
                    <a:bodyPr/>
                    <a:lstStyle/>
                    <a:p>
                      <a:pPr algn="ctr"/>
                      <a:r>
                        <a:rPr sz="1000" b="0">
                          <a:solidFill>
                            <a:srgbClr val="6E655C"/>
                          </a:solidFill>
                          <a:latin typeface="Calibri"/>
                        </a:rPr>
                        <a:t>Source</a:t>
                      </a:r>
                    </a:p>
                  </a:txBody>
                  <a:tcPr marL="54864" marR="54864" marT="27432" marB="27432" anchor="ctr">
                    <a:solidFill>
                      <a:srgbClr val="F2ECE1"/>
                    </a:solidFill>
                  </a:tcPr>
                </a:tc>
                <a:tc>
                  <a:txBody>
                    <a:bodyPr/>
                    <a:lstStyle/>
                    <a:p>
                      <a:pPr algn="ctr"/>
                      <a:r>
                        <a:rPr sz="1000" b="0">
                          <a:solidFill>
                            <a:srgbClr val="6E655C"/>
                          </a:solidFill>
                          <a:latin typeface="Calibri"/>
                        </a:rPr>
                        <a:t>Node</a:t>
                      </a:r>
                    </a:p>
                  </a:txBody>
                  <a:tcPr marL="54864" marR="54864" marT="27432" marB="27432" anchor="ctr">
                    <a:solidFill>
                      <a:srgbClr val="F2ECE1"/>
                    </a:solidFill>
                  </a:tcPr>
                </a:tc>
                <a:tc>
                  <a:txBody>
                    <a:bodyPr/>
                    <a:lstStyle/>
                    <a:p>
                      <a:pPr algn="ctr"/>
                      <a:r>
                        <a:rPr sz="1000" b="1">
                          <a:solidFill>
                            <a:srgbClr val="FFFFFF"/>
                          </a:solidFill>
                          <a:latin typeface="Calibri"/>
                        </a:rPr>
                        <a:t>API</a:t>
                      </a:r>
                    </a:p>
                  </a:txBody>
                  <a:tcPr marL="54864" marR="54864" marT="27432" marB="27432" anchor="ctr">
                    <a:solidFill>
                      <a:srgbClr val="D97A14"/>
                    </a:solidFill>
                  </a:tcPr>
                </a:tc>
                <a:tc>
                  <a:txBody>
                    <a:bodyPr/>
                    <a:lstStyle/>
                    <a:p>
                      <a:pPr algn="ctr"/>
                      <a:r>
                        <a:rPr sz="1000" b="0">
                          <a:solidFill>
                            <a:srgbClr val="6E655C"/>
                          </a:solidFill>
                          <a:latin typeface="Calibri"/>
                        </a:rPr>
                        <a:t>Transactions</a:t>
                      </a:r>
                    </a:p>
                  </a:txBody>
                  <a:tcPr marL="54864" marR="54864" marT="27432" marB="27432" anchor="ctr">
                    <a:solidFill>
                      <a:srgbClr val="F2ECE1"/>
                    </a:solidFill>
                  </a:tcPr>
                </a:tc>
                <a:tc>
                  <a:txBody>
                    <a:bodyPr/>
                    <a:lstStyle/>
                    <a:p>
                      <a:pPr algn="ctr"/>
                      <a:r>
                        <a:rPr sz="1000" b="0">
                          <a:solidFill>
                            <a:srgbClr val="6E655C"/>
                          </a:solidFill>
                          <a:latin typeface="Calibri"/>
                        </a:rPr>
                        <a:t>Blocks</a:t>
                      </a:r>
                    </a:p>
                  </a:txBody>
                  <a:tcPr marL="54864" marR="54864" marT="27432" marB="27432" anchor="ctr">
                    <a:solidFill>
                      <a:srgbClr val="F2ECE1"/>
                    </a:solidFill>
                  </a:tcPr>
                </a:tc>
                <a:tc>
                  <a:txBody>
                    <a:bodyPr/>
                    <a:lstStyle/>
                    <a:p>
                      <a:pPr algn="ctr"/>
                      <a:r>
                        <a:rPr sz="1000" b="0">
                          <a:solidFill>
                            <a:srgbClr val="6E655C"/>
                          </a:solidFill>
                          <a:latin typeface="Calibri"/>
                        </a:rPr>
                        <a:t>Toolkits</a:t>
                      </a:r>
                    </a:p>
                  </a:txBody>
                  <a:tcPr marL="54864" marR="54864" marT="27432" marB="27432" anchor="ctr">
                    <a:solidFill>
                      <a:srgbClr val="F2ECE1"/>
                    </a:solidFill>
                  </a:tcPr>
                </a:tc>
              </a:tr>
            </a:tbl>
          </a:graphicData>
        </a:graphic>
      </p:graphicFrame>
      <p:sp>
        <p:nvSpPr>
          <p:cNvPr id="17" name="TextBox 1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23 / 42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One JSON-RPC call and its reply</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JSON-RPC is how every client talks to the node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an order slip: the same fields every time, and an answer on the same slip</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24 / 42</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8107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body = T.rpc_body(</a:t>
            </a:r>
            <a:r>
              <a:rPr sz="1000" b="0" i="0">
                <a:solidFill>
                  <a:srgbClr val="9ECBFF"/>
                </a:solidFill>
                <a:latin typeface="Courier New"/>
              </a:rPr>
              <a:t>'getblockchaininfo'</a:t>
            </a:r>
            <a:r>
              <a:rPr sz="1000" b="0" i="0">
                <a:solidFill>
                  <a:srgbClr val="E6EDF3"/>
                </a:solidFill>
                <a:latin typeface="Courier New"/>
              </a:rPr>
              <a:t>)</a:t>
            </a:r>
          </a:p>
        </p:txBody>
      </p:sp>
      <p:sp>
        <p:nvSpPr>
          <p:cNvPr id="11" name="TextBox 10"/>
          <p:cNvSpPr txBox="1"/>
          <p:nvPr/>
        </p:nvSpPr>
        <p:spPr>
          <a:xfrm>
            <a:off x="603504" y="2093976"/>
            <a:ext cx="4937760" cy="6278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reply = json.loads(T.REPLY)</a:t>
            </a:r>
          </a:p>
          <a:p>
            <a:pPr algn="l"/>
            <a:r>
              <a:rPr sz="1000" b="1" i="0">
                <a:solidFill>
                  <a:srgbClr val="F2A860"/>
                </a:solidFill>
                <a:latin typeface="Courier New"/>
              </a:rPr>
              <a:t>&gt;&gt;&gt; </a:t>
            </a:r>
            <a:r>
              <a:rPr sz="1000" b="0" i="0">
                <a:solidFill>
                  <a:srgbClr val="E6EDF3"/>
                </a:solidFill>
                <a:latin typeface="Courier New"/>
              </a:rPr>
              <a:t>r = reply[</a:t>
            </a:r>
            <a:r>
              <a:rPr sz="1000" b="0" i="0">
                <a:solidFill>
                  <a:srgbClr val="9ECBFF"/>
                </a:solidFill>
                <a:latin typeface="Courier New"/>
              </a:rPr>
              <a:t>'result'</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(json.loads(body)[</a:t>
            </a:r>
            <a:r>
              <a:rPr sz="1000" b="0" i="0">
                <a:solidFill>
                  <a:srgbClr val="9ECBFF"/>
                </a:solidFill>
                <a:latin typeface="Courier New"/>
              </a:rPr>
              <a:t>'method'</a:t>
            </a:r>
            <a:r>
              <a:rPr sz="1000" b="0" i="0">
                <a:solidFill>
                  <a:srgbClr val="E6EDF3"/>
                </a:solidFill>
                <a:latin typeface="Courier New"/>
              </a:rPr>
              <a:t>], r[</a:t>
            </a:r>
            <a:r>
              <a:rPr sz="1000" b="0" i="0">
                <a:solidFill>
                  <a:srgbClr val="9ECBFF"/>
                </a:solidFill>
                <a:latin typeface="Courier New"/>
              </a:rPr>
              <a:t>'blocks'</a:t>
            </a:r>
            <a:r>
              <a:rPr sz="1000" b="0" i="0">
                <a:solidFill>
                  <a:srgbClr val="E6EDF3"/>
                </a:solidFill>
                <a:latin typeface="Courier New"/>
              </a:rPr>
              <a:t>], reply[</a:t>
            </a:r>
            <a:r>
              <a:rPr sz="1000" b="0" i="0">
                <a:solidFill>
                  <a:srgbClr val="9ECBFF"/>
                </a:solidFill>
                <a:latin typeface="Courier New"/>
              </a:rPr>
              <a:t>'error'</a:t>
            </a:r>
            <a:r>
              <a:rPr sz="1000" b="0" i="0">
                <a:solidFill>
                  <a:srgbClr val="E6EDF3"/>
                </a:solidFill>
                <a:latin typeface="Courier New"/>
              </a:rPr>
              <a:t>])</a:t>
            </a:r>
          </a:p>
          <a:p>
            <a:pPr algn="l"/>
            <a:r>
              <a:rPr sz="1000" b="0" i="0">
                <a:solidFill>
                  <a:srgbClr val="7EE787"/>
                </a:solidFill>
                <a:latin typeface="Courier New"/>
              </a:rPr>
              <a:t>('getblockchaininfo', 799278, None)</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A call is a small JSON text that names the method and its parameters.</a:t>
            </a:r>
          </a:p>
        </p:txBody>
      </p:sp>
      <p:sp>
        <p:nvSpPr>
          <p:cNvPr id="13" name="TextBox 12"/>
          <p:cNvSpPr txBox="1"/>
          <p:nvPr/>
        </p:nvSpPr>
        <p:spPr>
          <a:xfrm>
            <a:off x="457200" y="286816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node answers with a result, an error that is empty, and the id of the call.</a:t>
            </a:r>
          </a:p>
        </p:txBody>
      </p:sp>
      <p:sp>
        <p:nvSpPr>
          <p:cNvPr id="14" name="TextBox 13"/>
          <p:cNvSpPr txBox="1"/>
          <p:nvPr/>
        </p:nvSpPr>
        <p:spPr>
          <a:xfrm>
            <a:off x="457200" y="331317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Recorded data: the book's sample reply - T is the chapter library</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call and the reply</a:t>
            </a:r>
          </a:p>
        </p:txBody>
      </p:sp>
      <p:sp>
        <p:nvSpPr>
          <p:cNvPr id="16" name="Rounded Rectangle 15"/>
          <p:cNvSpPr/>
          <p:nvPr/>
        </p:nvSpPr>
        <p:spPr>
          <a:xfrm>
            <a:off x="5852160" y="1691640"/>
            <a:ext cx="2834640" cy="566928"/>
          </a:xfrm>
          <a:prstGeom prst="roundRect">
            <a:avLst>
              <a:gd name="adj" fmla="val 15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000" b="1" i="0">
                <a:solidFill>
                  <a:srgbClr val="2B2622"/>
                </a:solidFill>
                <a:latin typeface="Calibri"/>
              </a:rPr>
              <a:t>Client sends</a:t>
            </a:r>
          </a:p>
          <a:p>
            <a:pPr algn="ctr"/>
            <a:r>
              <a:rPr sz="950" b="0" i="0">
                <a:solidFill>
                  <a:srgbClr val="2B2622"/>
                </a:solidFill>
                <a:latin typeface="Courier New"/>
              </a:rPr>
              <a:t>method getblockchaininfo</a:t>
            </a:r>
          </a:p>
        </p:txBody>
      </p:sp>
      <p:cxnSp>
        <p:nvCxnSpPr>
          <p:cNvPr id="17" name="Connector 16"/>
          <p:cNvCxnSpPr/>
          <p:nvPr/>
        </p:nvCxnSpPr>
        <p:spPr>
          <a:xfrm>
            <a:off x="7269480" y="2258568"/>
            <a:ext cx="0" cy="27432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852160" y="2532888"/>
            <a:ext cx="2834640" cy="566928"/>
          </a:xfrm>
          <a:prstGeom prst="roundRect">
            <a:avLst>
              <a:gd name="adj" fmla="val 15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200" b="1" i="0">
                <a:solidFill>
                  <a:srgbClr val="FFFFFF"/>
                </a:solidFill>
                <a:latin typeface="Calibri"/>
              </a:rPr>
              <a:t>bitcoind</a:t>
            </a:r>
          </a:p>
          <a:p>
            <a:pPr algn="ctr"/>
            <a:r>
              <a:rPr sz="1000" b="0" i="0">
                <a:solidFill>
                  <a:srgbClr val="FFFFFF"/>
                </a:solidFill>
                <a:latin typeface="Calibri"/>
              </a:rPr>
              <a:t>checks the caller, runs the method</a:t>
            </a:r>
          </a:p>
        </p:txBody>
      </p:sp>
      <p:cxnSp>
        <p:nvCxnSpPr>
          <p:cNvPr id="19" name="Connector 18"/>
          <p:cNvCxnSpPr/>
          <p:nvPr/>
        </p:nvCxnSpPr>
        <p:spPr>
          <a:xfrm>
            <a:off x="7269480" y="3099816"/>
            <a:ext cx="0" cy="27432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852160" y="3374136"/>
            <a:ext cx="2834640" cy="566928"/>
          </a:xfrm>
          <a:prstGeom prst="roundRect">
            <a:avLst>
              <a:gd name="adj" fmla="val 15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000" b="1" i="0">
                <a:solidFill>
                  <a:srgbClr val="2B2622"/>
                </a:solidFill>
                <a:latin typeface="Calibri"/>
              </a:rPr>
              <a:t>Reply</a:t>
            </a:r>
          </a:p>
          <a:p>
            <a:pPr algn="ctr"/>
            <a:r>
              <a:rPr sz="900" b="0" i="0">
                <a:solidFill>
                  <a:srgbClr val="2B2622"/>
                </a:solidFill>
                <a:latin typeface="Courier New"/>
              </a:rPr>
              <a:t>blocks 799,278, error null, id curltest</a:t>
            </a:r>
          </a:p>
        </p:txBody>
      </p:sp>
      <p:sp>
        <p:nvSpPr>
          <p:cNvPr id="21" name="TextBox 20"/>
          <p:cNvSpPr txBox="1"/>
          <p:nvPr/>
        </p:nvSpPr>
        <p:spPr>
          <a:xfrm>
            <a:off x="5852160" y="4050792"/>
            <a:ext cx="2834640" cy="685800"/>
          </a:xfrm>
          <a:prstGeom prst="rect">
            <a:avLst/>
          </a:prstGeom>
          <a:noFill/>
        </p:spPr>
        <p:txBody>
          <a:bodyPr wrap="square" lIns="0" rIns="0" tIns="0" bIns="0" anchor="t">
            <a:spAutoFit/>
          </a:bodyPr>
          <a:lstStyle/>
          <a:p>
            <a:pPr algn="l"/>
            <a:r>
              <a:rPr sz="1100" b="0" i="0">
                <a:solidFill>
                  <a:srgbClr val="2B2622"/>
                </a:solidFill>
                <a:latin typeface="Calibri"/>
              </a:rPr>
              <a:t>An empty error means the call worked.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The cookie is a fresh password</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Cookie authentication needs no password to invent or store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a hotel key card that is recoded for every guest</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25 / 42</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70175"/>
            <a:ext cx="5212080" cy="8107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cookie = </a:t>
            </a:r>
            <a:r>
              <a:rPr sz="1000" b="0" i="0">
                <a:solidFill>
                  <a:srgbClr val="9ECBFF"/>
                </a:solidFill>
                <a:latin typeface="Courier New"/>
              </a:rPr>
              <a:t>'__cookie__:'</a:t>
            </a:r>
            <a:r>
              <a:rPr sz="1000" b="0" i="0">
                <a:solidFill>
                  <a:srgbClr val="E6EDF3"/>
                </a:solidFill>
                <a:latin typeface="Courier New"/>
              </a:rPr>
              <a:t> + T.COOKIE</a:t>
            </a:r>
          </a:p>
        </p:txBody>
      </p:sp>
      <p:sp>
        <p:nvSpPr>
          <p:cNvPr id="11" name="TextBox 10"/>
          <p:cNvSpPr txBox="1"/>
          <p:nvPr/>
        </p:nvSpPr>
        <p:spPr>
          <a:xfrm>
            <a:off x="603504" y="2261616"/>
            <a:ext cx="4937760" cy="6278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token = base64.b64encode(cookie.encode()).decode()</a:t>
            </a:r>
          </a:p>
          <a:p>
            <a:pPr algn="l"/>
            <a:r>
              <a:rPr sz="1000" b="1" i="0">
                <a:solidFill>
                  <a:srgbClr val="F2A860"/>
                </a:solidFill>
                <a:latin typeface="Courier New"/>
              </a:rPr>
              <a:t>&gt;&gt;&gt; </a:t>
            </a:r>
            <a:r>
              <a:rPr sz="1000" b="0" i="0">
                <a:solidFill>
                  <a:srgbClr val="E6EDF3"/>
                </a:solidFill>
                <a:latin typeface="Courier New"/>
              </a:rPr>
              <a:t>raw = bytes.fromhex(T.COOKIE)</a:t>
            </a:r>
          </a:p>
          <a:p>
            <a:pPr algn="l"/>
            <a:r>
              <a:rPr sz="1000" b="1" i="0">
                <a:solidFill>
                  <a:srgbClr val="F2A860"/>
                </a:solidFill>
                <a:latin typeface="Courier New"/>
              </a:rPr>
              <a:t>&gt;&gt;&gt; </a:t>
            </a:r>
            <a:r>
              <a:rPr sz="1000" b="0" i="0">
                <a:solidFill>
                  <a:srgbClr val="E6EDF3"/>
                </a:solidFill>
                <a:latin typeface="Courier New"/>
              </a:rPr>
              <a:t>(len(T.COOKIE), len(raw), token[:</a:t>
            </a:r>
            <a:r>
              <a:rPr sz="1000" b="0" i="0">
                <a:solidFill>
                  <a:srgbClr val="FFD28A"/>
                </a:solidFill>
                <a:latin typeface="Courier New"/>
              </a:rPr>
              <a:t>12</a:t>
            </a:r>
            <a:r>
              <a:rPr sz="1000" b="0" i="0">
                <a:solidFill>
                  <a:srgbClr val="E6EDF3"/>
                </a:solidFill>
                <a:latin typeface="Courier New"/>
              </a:rPr>
              <a:t>])</a:t>
            </a:r>
          </a:p>
          <a:p>
            <a:pPr algn="l"/>
            <a:r>
              <a:rPr sz="1000" b="0" i="0">
                <a:solidFill>
                  <a:srgbClr val="7EE787"/>
                </a:solidFill>
                <a:latin typeface="Courier New"/>
              </a:rPr>
              <a:t>(64, 32, 'X19jb29raWVf')</a:t>
            </a:r>
          </a:p>
        </p:txBody>
      </p:sp>
      <p:sp>
        <p:nvSpPr>
          <p:cNvPr id="12" name="TextBox 11"/>
          <p:cNvSpPr txBox="1"/>
          <p:nvPr/>
        </p:nvSpPr>
        <p:spPr>
          <a:xfrm>
            <a:off x="457200" y="1688591"/>
            <a:ext cx="5212080" cy="371855"/>
          </a:xfrm>
          <a:prstGeom prst="rect">
            <a:avLst/>
          </a:prstGeom>
          <a:noFill/>
        </p:spPr>
        <p:txBody>
          <a:bodyPr wrap="square" lIns="0" rIns="0" tIns="0" bIns="0" anchor="t">
            <a:spAutoFit/>
          </a:bodyPr>
          <a:lstStyle/>
          <a:p>
            <a:pPr algn="l"/>
            <a:r>
              <a:rPr sz="1100" b="0" i="0">
                <a:solidFill>
                  <a:srgbClr val="2B2622"/>
                </a:solidFill>
                <a:latin typeface="Calibri"/>
              </a:rPr>
              <a:t>bitcoind writes a new random secret into the .cookie file every time it starts.</a:t>
            </a:r>
          </a:p>
        </p:txBody>
      </p:sp>
      <p:sp>
        <p:nvSpPr>
          <p:cNvPr id="13" name="TextBox 12"/>
          <p:cNvSpPr txBox="1"/>
          <p:nvPr/>
        </p:nvSpPr>
        <p:spPr>
          <a:xfrm>
            <a:off x="457200" y="303580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client sends user and secret in a header, Base64-encoded; the secret is 32 bytes.</a:t>
            </a:r>
          </a:p>
        </p:txBody>
      </p:sp>
      <p:sp>
        <p:nvSpPr>
          <p:cNvPr id="14" name="TextBox 13"/>
          <p:cNvSpPr txBox="1"/>
          <p:nvPr/>
        </p:nvSpPr>
        <p:spPr>
          <a:xfrm>
            <a:off x="457200" y="348081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Recorded data: the book's example cookie - T is the chapter library</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pieces of the cookie login</a:t>
            </a:r>
          </a:p>
        </p:txBody>
      </p:sp>
      <p:graphicFrame>
        <p:nvGraphicFramePr>
          <p:cNvPr id="16" name="Table 15"/>
          <p:cNvGraphicFramePr>
            <a:graphicFrameLocks noGrp="1"/>
          </p:cNvGraphicFramePr>
          <p:nvPr/>
        </p:nvGraphicFramePr>
        <p:xfrm>
          <a:off x="5852160" y="1691640"/>
          <a:ext cx="2834640" cy="1554480"/>
        </p:xfrm>
        <a:graphic>
          <a:graphicData uri="http://schemas.openxmlformats.org/drawingml/2006/table">
            <a:tbl>
              <a:tblPr firstRow="1" bandRow="1">
                <a:tableStyleId>{5C22544A-7EE6-4342-B048-85BDC9FD1C3A}</a:tableStyleId>
              </a:tblPr>
              <a:tblGrid>
                <a:gridCol w="1508760"/>
                <a:gridCol w="1325880"/>
              </a:tblGrid>
              <a:tr h="310896">
                <a:tc>
                  <a:txBody>
                    <a:bodyPr/>
                    <a:lstStyle/>
                    <a:p>
                      <a:pPr algn="l"/>
                      <a:r>
                        <a:rPr sz="950" b="1">
                          <a:solidFill>
                            <a:srgbClr val="FFFFFF"/>
                          </a:solidFill>
                          <a:latin typeface="Calibri"/>
                        </a:rPr>
                        <a:t>Piece</a:t>
                      </a:r>
                    </a:p>
                  </a:txBody>
                  <a:tcPr marL="54864" marR="54864" marT="27432" marB="27432" anchor="ctr">
                    <a:solidFill>
                      <a:srgbClr val="2F6D62"/>
                    </a:solidFill>
                  </a:tcPr>
                </a:tc>
                <a:tc>
                  <a:txBody>
                    <a:bodyPr/>
                    <a:lstStyle/>
                    <a:p>
                      <a:pPr algn="l"/>
                      <a:r>
                        <a:rPr sz="950" b="1">
                          <a:solidFill>
                            <a:srgbClr val="FFFFFF"/>
                          </a:solidFill>
                          <a:latin typeface="Calibri"/>
                        </a:rPr>
                        <a:t>Value</a:t>
                      </a:r>
                    </a:p>
                  </a:txBody>
                  <a:tcPr marL="54864" marR="54864" marT="27432" marB="27432" anchor="ctr">
                    <a:solidFill>
                      <a:srgbClr val="2F6D62"/>
                    </a:solidFill>
                  </a:tcPr>
                </a:tc>
              </a:tr>
              <a:tr h="310896">
                <a:tc>
                  <a:txBody>
                    <a:bodyPr/>
                    <a:lstStyle/>
                    <a:p>
                      <a:pPr algn="l"/>
                      <a:r>
                        <a:rPr sz="950" b="0">
                          <a:solidFill>
                            <a:srgbClr val="2B2622"/>
                          </a:solidFill>
                          <a:latin typeface="Calibri"/>
                        </a:rPr>
                        <a:t>User name</a:t>
                      </a:r>
                    </a:p>
                  </a:txBody>
                  <a:tcPr marL="54864" marR="54864" marT="27432" marB="27432" anchor="ctr">
                    <a:solidFill>
                      <a:srgbClr val="FFFFFF"/>
                    </a:solidFill>
                  </a:tcPr>
                </a:tc>
                <a:tc>
                  <a:txBody>
                    <a:bodyPr/>
                    <a:lstStyle/>
                    <a:p>
                      <a:pPr algn="l"/>
                      <a:r>
                        <a:rPr sz="950" b="0">
                          <a:solidFill>
                            <a:srgbClr val="2B2622"/>
                          </a:solidFill>
                          <a:latin typeface="Calibri"/>
                        </a:rPr>
                        <a:t>__cookie__</a:t>
                      </a:r>
                    </a:p>
                  </a:txBody>
                  <a:tcPr marL="54864" marR="54864" marT="27432" marB="27432" anchor="ctr">
                    <a:solidFill>
                      <a:srgbClr val="FFFFFF"/>
                    </a:solidFill>
                  </a:tcPr>
                </a:tc>
              </a:tr>
              <a:tr h="310896">
                <a:tc>
                  <a:txBody>
                    <a:bodyPr/>
                    <a:lstStyle/>
                    <a:p>
                      <a:pPr algn="l"/>
                      <a:r>
                        <a:rPr sz="950" b="0">
                          <a:solidFill>
                            <a:srgbClr val="2B2622"/>
                          </a:solidFill>
                          <a:latin typeface="Calibri"/>
                        </a:rPr>
                        <a:t>Secret, characters</a:t>
                      </a:r>
                    </a:p>
                  </a:txBody>
                  <a:tcPr marL="54864" marR="54864" marT="27432" marB="27432" anchor="ctr">
                    <a:solidFill>
                      <a:srgbClr val="F2ECE1"/>
                    </a:solidFill>
                  </a:tcPr>
                </a:tc>
                <a:tc>
                  <a:txBody>
                    <a:bodyPr/>
                    <a:lstStyle/>
                    <a:p>
                      <a:pPr algn="l"/>
                      <a:r>
                        <a:rPr sz="950" b="0">
                          <a:solidFill>
                            <a:srgbClr val="2B2622"/>
                          </a:solidFill>
                          <a:latin typeface="Calibri"/>
                        </a:rPr>
                        <a:t>64</a:t>
                      </a:r>
                    </a:p>
                  </a:txBody>
                  <a:tcPr marL="54864" marR="54864" marT="27432" marB="27432" anchor="ctr">
                    <a:solidFill>
                      <a:srgbClr val="F2ECE1"/>
                    </a:solidFill>
                  </a:tcPr>
                </a:tc>
              </a:tr>
              <a:tr h="310896">
                <a:tc>
                  <a:txBody>
                    <a:bodyPr/>
                    <a:lstStyle/>
                    <a:p>
                      <a:pPr algn="l"/>
                      <a:r>
                        <a:rPr sz="950" b="0">
                          <a:solidFill>
                            <a:srgbClr val="2B2622"/>
                          </a:solidFill>
                          <a:latin typeface="Calibri"/>
                        </a:rPr>
                        <a:t>Secret, bytes</a:t>
                      </a:r>
                    </a:p>
                  </a:txBody>
                  <a:tcPr marL="54864" marR="54864" marT="27432" marB="27432" anchor="ctr">
                    <a:solidFill>
                      <a:srgbClr val="FFFFFF"/>
                    </a:solidFill>
                  </a:tcPr>
                </a:tc>
                <a:tc>
                  <a:txBody>
                    <a:bodyPr/>
                    <a:lstStyle/>
                    <a:p>
                      <a:pPr algn="l"/>
                      <a:r>
                        <a:rPr sz="950" b="0">
                          <a:solidFill>
                            <a:srgbClr val="2B2622"/>
                          </a:solidFill>
                          <a:latin typeface="Calibri"/>
                        </a:rPr>
                        <a:t>32</a:t>
                      </a:r>
                    </a:p>
                  </a:txBody>
                  <a:tcPr marL="54864" marR="54864" marT="27432" marB="27432" anchor="ctr">
                    <a:solidFill>
                      <a:srgbClr val="FFFFFF"/>
                    </a:solidFill>
                  </a:tcPr>
                </a:tc>
              </a:tr>
              <a:tr h="310896">
                <a:tc>
                  <a:txBody>
                    <a:bodyPr/>
                    <a:lstStyle/>
                    <a:p>
                      <a:pPr algn="l"/>
                      <a:r>
                        <a:rPr sz="950" b="0">
                          <a:solidFill>
                            <a:srgbClr val="2B2622"/>
                          </a:solidFill>
                          <a:latin typeface="Calibri"/>
                        </a:rPr>
                        <a:t>Header sent</a:t>
                      </a:r>
                    </a:p>
                  </a:txBody>
                  <a:tcPr marL="54864" marR="54864" marT="27432" marB="27432" anchor="ctr">
                    <a:solidFill>
                      <a:srgbClr val="F2ECE1"/>
                    </a:solidFill>
                  </a:tcPr>
                </a:tc>
                <a:tc>
                  <a:txBody>
                    <a:bodyPr/>
                    <a:lstStyle/>
                    <a:p>
                      <a:pPr algn="l"/>
                      <a:r>
                        <a:rPr sz="950" b="0">
                          <a:solidFill>
                            <a:srgbClr val="2B2622"/>
                          </a:solidFill>
                          <a:latin typeface="Calibri"/>
                        </a:rPr>
                        <a:t>Basic X19jb29raWVf...</a:t>
                      </a:r>
                    </a:p>
                  </a:txBody>
                  <a:tcPr marL="54864" marR="54864" marT="27432" marB="27432" anchor="ctr">
                    <a:solidFill>
                      <a:srgbClr val="F2ECE1"/>
                    </a:solidFill>
                  </a:tcPr>
                </a:tc>
              </a:tr>
            </a:tbl>
          </a:graphicData>
        </a:graphic>
      </p:graphicFrame>
      <p:sp>
        <p:nvSpPr>
          <p:cNvPr id="17" name="TextBox 16"/>
          <p:cNvSpPr txBox="1"/>
          <p:nvPr/>
        </p:nvSpPr>
        <p:spPr>
          <a:xfrm>
            <a:off x="5852160" y="3355848"/>
            <a:ext cx="2834640" cy="685800"/>
          </a:xfrm>
          <a:prstGeom prst="rect">
            <a:avLst/>
          </a:prstGeom>
          <a:noFill/>
        </p:spPr>
        <p:txBody>
          <a:bodyPr wrap="square" lIns="0" rIns="0" tIns="0" bIns="0" anchor="t">
            <a:spAutoFit/>
          </a:bodyPr>
          <a:lstStyle/>
          <a:p>
            <a:pPr algn="l"/>
            <a:r>
              <a:rPr sz="1100" b="0" i="0">
                <a:solidFill>
                  <a:srgbClr val="2B2622"/>
                </a:solidFill>
                <a:latin typeface="Calibri"/>
              </a:rPr>
              <a:t>The header holds user:secret in Base64, so it starts with X19jb29raWVf.</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rpcauth stores a salted hash, not the password</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A fixed credential for programs that cannot read the cookie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a bank that keeps a check value and never your PIN</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26 / 42</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32257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salt = T.SALT</a:t>
            </a:r>
          </a:p>
          <a:p>
            <a:pPr algn="l"/>
            <a:r>
              <a:rPr sz="1000" b="1" i="0">
                <a:solidFill>
                  <a:srgbClr val="F2A860"/>
                </a:solidFill>
                <a:latin typeface="Courier New"/>
              </a:rPr>
              <a:t>&gt;&gt;&gt; </a:t>
            </a:r>
            <a:r>
              <a:rPr sz="1000" b="0" i="0">
                <a:solidFill>
                  <a:srgbClr val="E6EDF3"/>
                </a:solidFill>
                <a:latin typeface="Courier New"/>
              </a:rPr>
              <a:t>line = T.rpcauth(</a:t>
            </a:r>
            <a:r>
              <a:rPr sz="1000" b="0" i="0">
                <a:solidFill>
                  <a:srgbClr val="9ECBFF"/>
                </a:solidFill>
                <a:latin typeface="Courier New"/>
              </a:rPr>
              <a:t>'alice'</a:t>
            </a:r>
            <a:r>
              <a:rPr sz="1000" b="0" i="0">
                <a:solidFill>
                  <a:srgbClr val="E6EDF3"/>
                </a:solidFill>
                <a:latin typeface="Courier New"/>
              </a:rPr>
              <a:t>, </a:t>
            </a:r>
            <a:r>
              <a:rPr sz="1000" b="0" i="0">
                <a:solidFill>
                  <a:srgbClr val="9ECBFF"/>
                </a:solidFill>
                <a:latin typeface="Courier New"/>
              </a:rPr>
              <a:t>'correct horse'</a:t>
            </a:r>
            <a:r>
              <a:rPr sz="1000" b="0" i="0">
                <a:solidFill>
                  <a:srgbClr val="E6EDF3"/>
                </a:solidFill>
                <a:latin typeface="Courier New"/>
              </a:rPr>
              <a:t>, salt)</a:t>
            </a:r>
          </a:p>
        </p:txBody>
      </p:sp>
      <p:sp>
        <p:nvSpPr>
          <p:cNvPr id="11" name="TextBox 10"/>
          <p:cNvSpPr txBox="1"/>
          <p:nvPr/>
        </p:nvSpPr>
        <p:spPr>
          <a:xfrm>
            <a:off x="603504" y="241401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[len(x) </a:t>
            </a:r>
            <a:r>
              <a:rPr sz="1000" b="1" i="0">
                <a:solidFill>
                  <a:srgbClr val="F2A860"/>
                </a:solidFill>
                <a:latin typeface="Courier New"/>
              </a:rPr>
              <a:t>for</a:t>
            </a:r>
            <a:r>
              <a:rPr sz="1000" b="0" i="0">
                <a:solidFill>
                  <a:srgbClr val="E6EDF3"/>
                </a:solidFill>
                <a:latin typeface="Courier New"/>
              </a:rPr>
              <a:t> x </a:t>
            </a:r>
            <a:r>
              <a:rPr sz="1000" b="1" i="0">
                <a:solidFill>
                  <a:srgbClr val="F2A860"/>
                </a:solidFill>
                <a:latin typeface="Courier New"/>
              </a:rPr>
              <a:t>in</a:t>
            </a:r>
            <a:r>
              <a:rPr sz="1000" b="0" i="0">
                <a:solidFill>
                  <a:srgbClr val="E6EDF3"/>
                </a:solidFill>
                <a:latin typeface="Courier New"/>
              </a:rPr>
              <a:t> line.replace(</a:t>
            </a:r>
            <a:r>
              <a:rPr sz="1000" b="0" i="0">
                <a:solidFill>
                  <a:srgbClr val="9ECBFF"/>
                </a:solidFill>
                <a:latin typeface="Courier New"/>
              </a:rPr>
              <a:t>'$'</a:t>
            </a:r>
            <a:r>
              <a:rPr sz="1000" b="0" i="0">
                <a:solidFill>
                  <a:srgbClr val="E6EDF3"/>
                </a:solidFill>
                <a:latin typeface="Courier New"/>
              </a:rPr>
              <a:t>, </a:t>
            </a:r>
            <a:r>
              <a:rPr sz="1000" b="0" i="0">
                <a:solidFill>
                  <a:srgbClr val="9ECBFF"/>
                </a:solidFill>
                <a:latin typeface="Courier New"/>
              </a:rPr>
              <a:t>':'</a:t>
            </a:r>
            <a:r>
              <a:rPr sz="1000" b="0" i="0">
                <a:solidFill>
                  <a:srgbClr val="E6EDF3"/>
                </a:solidFill>
                <a:latin typeface="Courier New"/>
              </a:rPr>
              <a:t>).split(</a:t>
            </a:r>
            <a:r>
              <a:rPr sz="1000" b="0" i="0">
                <a:solidFill>
                  <a:srgbClr val="9ECBFF"/>
                </a:solidFill>
                <a:latin typeface="Courier New"/>
              </a:rPr>
              <a:t>':'</a:t>
            </a:r>
            <a:r>
              <a:rPr sz="1000" b="0" i="0">
                <a:solidFill>
                  <a:srgbClr val="E6EDF3"/>
                </a:solidFill>
                <a:latin typeface="Courier New"/>
              </a:rPr>
              <a:t>)]</a:t>
            </a:r>
          </a:p>
          <a:p>
            <a:pPr algn="l"/>
            <a:r>
              <a:rPr sz="1000" b="0" i="0">
                <a:solidFill>
                  <a:srgbClr val="7EE787"/>
                </a:solidFill>
                <a:latin typeface="Courier New"/>
              </a:rPr>
              <a:t>[5, 32, 64]</a:t>
            </a:r>
          </a:p>
        </p:txBody>
      </p:sp>
      <p:sp>
        <p:nvSpPr>
          <p:cNvPr id="12" name="TextBox 11"/>
          <p:cNvSpPr txBox="1"/>
          <p:nvPr/>
        </p:nvSpPr>
        <p:spPr>
          <a:xfrm>
            <a:off x="457200" y="1840991"/>
            <a:ext cx="5212080" cy="371855"/>
          </a:xfrm>
          <a:prstGeom prst="rect">
            <a:avLst/>
          </a:prstGeom>
          <a:noFill/>
        </p:spPr>
        <p:txBody>
          <a:bodyPr wrap="square" lIns="0" rIns="0" tIns="0" bIns="0" anchor="t">
            <a:spAutoFit/>
          </a:bodyPr>
          <a:lstStyle/>
          <a:p>
            <a:pPr algn="l"/>
            <a:r>
              <a:rPr sz="1100" b="0" i="0">
                <a:solidFill>
                  <a:srgbClr val="2B2622"/>
                </a:solidFill>
                <a:latin typeface="Calibri"/>
              </a:rPr>
              <a:t>A static credential keeps the user, a salt and a keyed hash instead of the password.</a:t>
            </a:r>
          </a:p>
        </p:txBody>
      </p:sp>
      <p:sp>
        <p:nvSpPr>
          <p:cNvPr id="13" name="TextBox 12"/>
          <p:cNvSpPr txBox="1"/>
          <p:nvPr/>
        </p:nvSpPr>
        <p:spPr>
          <a:xfrm>
            <a:off x="457200" y="2883408"/>
            <a:ext cx="5212080" cy="204216"/>
          </a:xfrm>
          <a:prstGeom prst="rect">
            <a:avLst/>
          </a:prstGeom>
          <a:noFill/>
        </p:spPr>
        <p:txBody>
          <a:bodyPr wrap="square" lIns="0" rIns="0" tIns="0" bIns="0" anchor="t">
            <a:spAutoFit/>
          </a:bodyPr>
          <a:lstStyle/>
          <a:p>
            <a:pPr algn="l"/>
            <a:r>
              <a:rPr sz="1100" b="0" i="0">
                <a:solidFill>
                  <a:srgbClr val="2B2622"/>
                </a:solidFill>
                <a:latin typeface="Calibri"/>
              </a:rPr>
              <a:t>The three parts have 5, 32 and 64 characters.</a:t>
            </a:r>
          </a:p>
        </p:txBody>
      </p:sp>
      <p:sp>
        <p:nvSpPr>
          <p:cNvPr id="14" name="TextBox 13"/>
          <p:cNvSpPr txBox="1"/>
          <p:nvPr/>
        </p:nvSpPr>
        <p:spPr>
          <a:xfrm>
            <a:off x="457200" y="316077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(sen0401_ch03_core_lib_v1_0_0)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three parts of the rpcauth line</a:t>
            </a:r>
          </a:p>
        </p:txBody>
      </p:sp>
      <p:graphicFrame>
        <p:nvGraphicFramePr>
          <p:cNvPr id="16" name="Table 15"/>
          <p:cNvGraphicFramePr>
            <a:graphicFrameLocks noGrp="1"/>
          </p:cNvGraphicFramePr>
          <p:nvPr/>
        </p:nvGraphicFramePr>
        <p:xfrm>
          <a:off x="5852160" y="1691640"/>
          <a:ext cx="2834640" cy="1243584"/>
        </p:xfrm>
        <a:graphic>
          <a:graphicData uri="http://schemas.openxmlformats.org/drawingml/2006/table">
            <a:tbl>
              <a:tblPr firstRow="1" bandRow="1">
                <a:tableStyleId>{5C22544A-7EE6-4342-B048-85BDC9FD1C3A}</a:tableStyleId>
              </a:tblPr>
              <a:tblGrid>
                <a:gridCol w="594360"/>
                <a:gridCol w="1645920"/>
                <a:gridCol w="594360"/>
              </a:tblGrid>
              <a:tr h="310896">
                <a:tc>
                  <a:txBody>
                    <a:bodyPr/>
                    <a:lstStyle/>
                    <a:p>
                      <a:pPr algn="l"/>
                      <a:r>
                        <a:rPr sz="950" b="1">
                          <a:solidFill>
                            <a:srgbClr val="FFFFFF"/>
                          </a:solidFill>
                          <a:latin typeface="Calibri"/>
                        </a:rPr>
                        <a:t>Part</a:t>
                      </a:r>
                    </a:p>
                  </a:txBody>
                  <a:tcPr marL="54864" marR="54864" marT="27432" marB="27432" anchor="ctr">
                    <a:solidFill>
                      <a:srgbClr val="2F6D62"/>
                    </a:solidFill>
                  </a:tcPr>
                </a:tc>
                <a:tc>
                  <a:txBody>
                    <a:bodyPr/>
                    <a:lstStyle/>
                    <a:p>
                      <a:pPr algn="l"/>
                      <a:r>
                        <a:rPr sz="950" b="1">
                          <a:solidFill>
                            <a:srgbClr val="FFFFFF"/>
                          </a:solidFill>
                          <a:latin typeface="Calibri"/>
                        </a:rPr>
                        <a:t>Starts with</a:t>
                      </a:r>
                    </a:p>
                  </a:txBody>
                  <a:tcPr marL="54864" marR="54864" marT="27432" marB="27432" anchor="ctr">
                    <a:solidFill>
                      <a:srgbClr val="2F6D62"/>
                    </a:solidFill>
                  </a:tcPr>
                </a:tc>
                <a:tc>
                  <a:txBody>
                    <a:bodyPr/>
                    <a:lstStyle/>
                    <a:p>
                      <a:pPr algn="ctr"/>
                      <a:r>
                        <a:rPr sz="950" b="1">
                          <a:solidFill>
                            <a:srgbClr val="FFFFFF"/>
                          </a:solidFill>
                          <a:latin typeface="Calibri"/>
                        </a:rPr>
                        <a:t>Length</a:t>
                      </a:r>
                    </a:p>
                  </a:txBody>
                  <a:tcPr marL="54864" marR="54864" marT="27432" marB="27432" anchor="ctr">
                    <a:solidFill>
                      <a:srgbClr val="2F6D62"/>
                    </a:solidFill>
                  </a:tcPr>
                </a:tc>
              </a:tr>
              <a:tr h="310896">
                <a:tc>
                  <a:txBody>
                    <a:bodyPr/>
                    <a:lstStyle/>
                    <a:p>
                      <a:pPr algn="l"/>
                      <a:r>
                        <a:rPr sz="950" b="0">
                          <a:solidFill>
                            <a:srgbClr val="2B2622"/>
                          </a:solidFill>
                          <a:latin typeface="Calibri"/>
                        </a:rPr>
                        <a:t>user</a:t>
                      </a:r>
                    </a:p>
                  </a:txBody>
                  <a:tcPr marL="54864" marR="54864" marT="27432" marB="27432" anchor="ctr">
                    <a:solidFill>
                      <a:srgbClr val="FFFFFF"/>
                    </a:solidFill>
                  </a:tcPr>
                </a:tc>
                <a:tc>
                  <a:txBody>
                    <a:bodyPr/>
                    <a:lstStyle/>
                    <a:p>
                      <a:pPr algn="l"/>
                      <a:r>
                        <a:rPr sz="950" b="0">
                          <a:solidFill>
                            <a:srgbClr val="2B2622"/>
                          </a:solidFill>
                          <a:latin typeface="Calibri"/>
                        </a:rPr>
                        <a:t>alice</a:t>
                      </a:r>
                    </a:p>
                  </a:txBody>
                  <a:tcPr marL="54864" marR="54864" marT="27432" marB="27432" anchor="ctr">
                    <a:solidFill>
                      <a:srgbClr val="FFFFFF"/>
                    </a:solidFill>
                  </a:tcPr>
                </a:tc>
                <a:tc>
                  <a:txBody>
                    <a:bodyPr/>
                    <a:lstStyle/>
                    <a:p>
                      <a:pPr algn="ctr"/>
                      <a:r>
                        <a:rPr sz="950" b="0">
                          <a:solidFill>
                            <a:srgbClr val="2B2622"/>
                          </a:solidFill>
                          <a:latin typeface="Calibri"/>
                        </a:rPr>
                        <a:t>5</a:t>
                      </a:r>
                    </a:p>
                  </a:txBody>
                  <a:tcPr marL="54864" marR="54864" marT="27432" marB="27432" anchor="ctr">
                    <a:solidFill>
                      <a:srgbClr val="FFFFFF"/>
                    </a:solidFill>
                  </a:tcPr>
                </a:tc>
              </a:tr>
              <a:tr h="310896">
                <a:tc>
                  <a:txBody>
                    <a:bodyPr/>
                    <a:lstStyle/>
                    <a:p>
                      <a:pPr algn="l"/>
                      <a:r>
                        <a:rPr sz="950" b="0">
                          <a:solidFill>
                            <a:srgbClr val="2B2622"/>
                          </a:solidFill>
                          <a:latin typeface="Calibri"/>
                        </a:rPr>
                        <a:t>salt</a:t>
                      </a:r>
                    </a:p>
                  </a:txBody>
                  <a:tcPr marL="54864" marR="54864" marT="27432" marB="27432" anchor="ctr">
                    <a:solidFill>
                      <a:srgbClr val="F2ECE1"/>
                    </a:solidFill>
                  </a:tcPr>
                </a:tc>
                <a:tc>
                  <a:txBody>
                    <a:bodyPr/>
                    <a:lstStyle/>
                    <a:p>
                      <a:pPr algn="l"/>
                      <a:r>
                        <a:rPr sz="950" b="0">
                          <a:solidFill>
                            <a:srgbClr val="2B2622"/>
                          </a:solidFill>
                          <a:latin typeface="Calibri"/>
                        </a:rPr>
                        <a:t>001122334455...</a:t>
                      </a:r>
                    </a:p>
                  </a:txBody>
                  <a:tcPr marL="54864" marR="54864" marT="27432" marB="27432" anchor="ctr">
                    <a:solidFill>
                      <a:srgbClr val="F2ECE1"/>
                    </a:solidFill>
                  </a:tcPr>
                </a:tc>
                <a:tc>
                  <a:txBody>
                    <a:bodyPr/>
                    <a:lstStyle/>
                    <a:p>
                      <a:pPr algn="ctr"/>
                      <a:r>
                        <a:rPr sz="950" b="0">
                          <a:solidFill>
                            <a:srgbClr val="2B2622"/>
                          </a:solidFill>
                          <a:latin typeface="Calibri"/>
                        </a:rPr>
                        <a:t>32</a:t>
                      </a:r>
                    </a:p>
                  </a:txBody>
                  <a:tcPr marL="54864" marR="54864" marT="27432" marB="27432" anchor="ctr">
                    <a:solidFill>
                      <a:srgbClr val="F2ECE1"/>
                    </a:solidFill>
                  </a:tcPr>
                </a:tc>
              </a:tr>
              <a:tr h="310896">
                <a:tc>
                  <a:txBody>
                    <a:bodyPr/>
                    <a:lstStyle/>
                    <a:p>
                      <a:pPr algn="l"/>
                      <a:r>
                        <a:rPr sz="950" b="0">
                          <a:solidFill>
                            <a:srgbClr val="2B2622"/>
                          </a:solidFill>
                          <a:latin typeface="Calibri"/>
                        </a:rPr>
                        <a:t>hash</a:t>
                      </a:r>
                    </a:p>
                  </a:txBody>
                  <a:tcPr marL="54864" marR="54864" marT="27432" marB="27432" anchor="ctr">
                    <a:solidFill>
                      <a:srgbClr val="FFFFFF"/>
                    </a:solidFill>
                  </a:tcPr>
                </a:tc>
                <a:tc>
                  <a:txBody>
                    <a:bodyPr/>
                    <a:lstStyle/>
                    <a:p>
                      <a:pPr algn="l"/>
                      <a:r>
                        <a:rPr sz="950" b="0">
                          <a:solidFill>
                            <a:srgbClr val="2B2622"/>
                          </a:solidFill>
                          <a:latin typeface="Calibri"/>
                        </a:rPr>
                        <a:t>26b9b3d74500...</a:t>
                      </a:r>
                    </a:p>
                  </a:txBody>
                  <a:tcPr marL="54864" marR="54864" marT="27432" marB="27432" anchor="ctr">
                    <a:solidFill>
                      <a:srgbClr val="FFFFFF"/>
                    </a:solidFill>
                  </a:tcPr>
                </a:tc>
                <a:tc>
                  <a:txBody>
                    <a:bodyPr/>
                    <a:lstStyle/>
                    <a:p>
                      <a:pPr algn="ctr"/>
                      <a:r>
                        <a:rPr sz="950" b="0">
                          <a:solidFill>
                            <a:srgbClr val="2B2622"/>
                          </a:solidFill>
                          <a:latin typeface="Calibri"/>
                        </a:rPr>
                        <a:t>64</a:t>
                      </a:r>
                    </a:p>
                  </a:txBody>
                  <a:tcPr marL="54864" marR="54864" marT="27432" marB="27432" anchor="ctr">
                    <a:solidFill>
                      <a:srgbClr val="FFFFFF"/>
                    </a:solidFill>
                  </a:tcPr>
                </a:tc>
              </a:tr>
            </a:tbl>
          </a:graphicData>
        </a:graphic>
      </p:graphicFrame>
      <p:sp>
        <p:nvSpPr>
          <p:cNvPr id="17" name="TextBox 16"/>
          <p:cNvSpPr txBox="1"/>
          <p:nvPr/>
        </p:nvSpPr>
        <p:spPr>
          <a:xfrm>
            <a:off x="5852160" y="3044952"/>
            <a:ext cx="2834640" cy="685800"/>
          </a:xfrm>
          <a:prstGeom prst="rect">
            <a:avLst/>
          </a:prstGeom>
          <a:noFill/>
        </p:spPr>
        <p:txBody>
          <a:bodyPr wrap="square" lIns="0" rIns="0" tIns="0" bIns="0" anchor="t">
            <a:spAutoFit/>
          </a:bodyPr>
          <a:lstStyle/>
          <a:p>
            <a:pPr algn="l"/>
            <a:r>
              <a:rPr sz="1100" b="0" i="0">
                <a:solidFill>
                  <a:srgbClr val="2B2622"/>
                </a:solidFill>
                <a:latin typeface="Calibri"/>
              </a:rPr>
              <a:t>The same salt with a wrong password gives a different hash: equal is False.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Reading getblockchaininfo</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Getting Information on Bitcoin Core's Status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a car dashboard: it reports, and you do not touch the engine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27 / 42</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70175"/>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i = json.loads(T.GETBLOCKCHAININFO)</a:t>
            </a:r>
          </a:p>
        </p:txBody>
      </p:sp>
      <p:sp>
        <p:nvSpPr>
          <p:cNvPr id="11" name="TextBox 10"/>
          <p:cNvSpPr txBox="1"/>
          <p:nvPr/>
        </p:nvSpPr>
        <p:spPr>
          <a:xfrm>
            <a:off x="603504" y="226161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(i[</a:t>
            </a:r>
            <a:r>
              <a:rPr sz="1000" b="0" i="0">
                <a:solidFill>
                  <a:srgbClr val="9ECBFF"/>
                </a:solidFill>
                <a:latin typeface="Courier New"/>
              </a:rPr>
              <a:t>'chain'</a:t>
            </a:r>
            <a:r>
              <a:rPr sz="1000" b="0" i="0">
                <a:solidFill>
                  <a:srgbClr val="E6EDF3"/>
                </a:solidFill>
                <a:latin typeface="Courier New"/>
              </a:rPr>
              <a:t>], i[</a:t>
            </a:r>
            <a:r>
              <a:rPr sz="1000" b="0" i="0">
                <a:solidFill>
                  <a:srgbClr val="9ECBFF"/>
                </a:solidFill>
                <a:latin typeface="Courier New"/>
              </a:rPr>
              <a:t>'blocks'</a:t>
            </a:r>
            <a:r>
              <a:rPr sz="1000" b="0" i="0">
                <a:solidFill>
                  <a:srgbClr val="E6EDF3"/>
                </a:solidFill>
                <a:latin typeface="Courier New"/>
              </a:rPr>
              <a:t>], i[</a:t>
            </a:r>
            <a:r>
              <a:rPr sz="1000" b="0" i="0">
                <a:solidFill>
                  <a:srgbClr val="9ECBFF"/>
                </a:solidFill>
                <a:latin typeface="Courier New"/>
              </a:rPr>
              <a:t>'initialblockdownload'</a:t>
            </a:r>
            <a:r>
              <a:rPr sz="1000" b="0" i="0">
                <a:solidFill>
                  <a:srgbClr val="E6EDF3"/>
                </a:solidFill>
                <a:latin typeface="Courier New"/>
              </a:rPr>
              <a:t>])</a:t>
            </a:r>
          </a:p>
          <a:p>
            <a:pPr algn="l"/>
            <a:r>
              <a:rPr sz="1000" b="0" i="0">
                <a:solidFill>
                  <a:srgbClr val="7EE787"/>
                </a:solidFill>
                <a:latin typeface="Courier New"/>
              </a:rPr>
              <a:t>('main', 0, True)</a:t>
            </a:r>
          </a:p>
        </p:txBody>
      </p:sp>
      <p:sp>
        <p:nvSpPr>
          <p:cNvPr id="12" name="TextBox 11"/>
          <p:cNvSpPr txBox="1"/>
          <p:nvPr/>
        </p:nvSpPr>
        <p:spPr>
          <a:xfrm>
            <a:off x="457200" y="1688591"/>
            <a:ext cx="5212080" cy="371855"/>
          </a:xfrm>
          <a:prstGeom prst="rect">
            <a:avLst/>
          </a:prstGeom>
          <a:noFill/>
        </p:spPr>
        <p:txBody>
          <a:bodyPr wrap="square" lIns="0" rIns="0" tIns="0" bIns="0" anchor="t">
            <a:spAutoFit/>
          </a:bodyPr>
          <a:lstStyle/>
          <a:p>
            <a:pPr algn="l"/>
            <a:r>
              <a:rPr sz="1100" b="0" i="0">
                <a:solidFill>
                  <a:srgbClr val="2B2622"/>
                </a:solidFill>
                <a:latin typeface="Calibri"/>
              </a:rPr>
              <a:t>bitcoin-cli getblockchaininfo answers in JSON; this is the answer of an offline node of release 31.1.</a:t>
            </a:r>
          </a:p>
        </p:txBody>
      </p:sp>
      <p:sp>
        <p:nvSpPr>
          <p:cNvPr id="13" name="TextBox 12"/>
          <p:cNvSpPr txBox="1"/>
          <p:nvPr/>
        </p:nvSpPr>
        <p:spPr>
          <a:xfrm>
            <a:off x="457200" y="2731008"/>
            <a:ext cx="5212080" cy="371855"/>
          </a:xfrm>
          <a:prstGeom prst="rect">
            <a:avLst/>
          </a:prstGeom>
          <a:noFill/>
        </p:spPr>
        <p:txBody>
          <a:bodyPr wrap="square" lIns="0" rIns="0" tIns="0" bIns="0" anchor="t">
            <a:spAutoFit/>
          </a:bodyPr>
          <a:lstStyle/>
          <a:p>
            <a:pPr algn="l"/>
            <a:r>
              <a:rPr sz="1100" b="0" i="0">
                <a:solidFill>
                  <a:srgbClr val="2B2622"/>
                </a:solidFill>
                <a:latin typeface="Calibri"/>
              </a:rPr>
              <a:t>A fresh node knows only the first block and says that it is still downloading.</a:t>
            </a:r>
          </a:p>
        </p:txBody>
      </p:sp>
      <p:sp>
        <p:nvSpPr>
          <p:cNvPr id="14" name="TextBox 13"/>
          <p:cNvSpPr txBox="1"/>
          <p:nvPr/>
        </p:nvSpPr>
        <p:spPr>
          <a:xfrm>
            <a:off x="457200" y="317601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Recorded data: getblockchaininfo of release 31.1 - T is the chapter library</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what the node reports</a:t>
            </a:r>
          </a:p>
        </p:txBody>
      </p:sp>
      <p:graphicFrame>
        <p:nvGraphicFramePr>
          <p:cNvPr id="16" name="Table 15"/>
          <p:cNvGraphicFramePr>
            <a:graphicFrameLocks noGrp="1"/>
          </p:cNvGraphicFramePr>
          <p:nvPr/>
        </p:nvGraphicFramePr>
        <p:xfrm>
          <a:off x="5852160" y="1691640"/>
          <a:ext cx="2834640" cy="2194560"/>
        </p:xfrm>
        <a:graphic>
          <a:graphicData uri="http://schemas.openxmlformats.org/drawingml/2006/table">
            <a:tbl>
              <a:tblPr firstRow="1" bandRow="1">
                <a:tableStyleId>{5C22544A-7EE6-4342-B048-85BDC9FD1C3A}</a:tableStyleId>
              </a:tblPr>
              <a:tblGrid>
                <a:gridCol w="1234440"/>
                <a:gridCol w="1600200"/>
              </a:tblGrid>
              <a:tr h="274320">
                <a:tc>
                  <a:txBody>
                    <a:bodyPr/>
                    <a:lstStyle/>
                    <a:p>
                      <a:pPr algn="l"/>
                      <a:r>
                        <a:rPr sz="950" b="1">
                          <a:solidFill>
                            <a:srgbClr val="FFFFFF"/>
                          </a:solidFill>
                          <a:latin typeface="Calibri"/>
                        </a:rPr>
                        <a:t>Field</a:t>
                      </a:r>
                    </a:p>
                  </a:txBody>
                  <a:tcPr marL="54864" marR="54864" marT="27432" marB="27432" anchor="ctr">
                    <a:solidFill>
                      <a:srgbClr val="2F6D62"/>
                    </a:solidFill>
                  </a:tcPr>
                </a:tc>
                <a:tc>
                  <a:txBody>
                    <a:bodyPr/>
                    <a:lstStyle/>
                    <a:p>
                      <a:pPr algn="l"/>
                      <a:r>
                        <a:rPr sz="950" b="1">
                          <a:solidFill>
                            <a:srgbClr val="FFFFFF"/>
                          </a:solidFill>
                          <a:latin typeface="Calibri"/>
                        </a:rPr>
                        <a:t>Value</a:t>
                      </a:r>
                    </a:p>
                  </a:txBody>
                  <a:tcPr marL="54864" marR="54864" marT="27432" marB="27432" anchor="ctr">
                    <a:solidFill>
                      <a:srgbClr val="2F6D62"/>
                    </a:solidFill>
                  </a:tcPr>
                </a:tc>
              </a:tr>
              <a:tr h="274320">
                <a:tc>
                  <a:txBody>
                    <a:bodyPr/>
                    <a:lstStyle/>
                    <a:p>
                      <a:pPr algn="l"/>
                      <a:r>
                        <a:rPr sz="950" b="0">
                          <a:solidFill>
                            <a:srgbClr val="2B2622"/>
                          </a:solidFill>
                          <a:latin typeface="Calibri"/>
                        </a:rPr>
                        <a:t>chain</a:t>
                      </a:r>
                    </a:p>
                  </a:txBody>
                  <a:tcPr marL="54864" marR="54864" marT="27432" marB="27432" anchor="ctr">
                    <a:solidFill>
                      <a:srgbClr val="FFFFFF"/>
                    </a:solidFill>
                  </a:tcPr>
                </a:tc>
                <a:tc>
                  <a:txBody>
                    <a:bodyPr/>
                    <a:lstStyle/>
                    <a:p>
                      <a:pPr algn="l"/>
                      <a:r>
                        <a:rPr sz="950" b="0">
                          <a:solidFill>
                            <a:srgbClr val="2B2622"/>
                          </a:solidFill>
                          <a:latin typeface="Calibri"/>
                        </a:rPr>
                        <a:t>main</a:t>
                      </a:r>
                    </a:p>
                  </a:txBody>
                  <a:tcPr marL="54864" marR="54864" marT="27432" marB="27432" anchor="ctr">
                    <a:solidFill>
                      <a:srgbClr val="FFFFFF"/>
                    </a:solidFill>
                  </a:tcPr>
                </a:tc>
              </a:tr>
              <a:tr h="274320">
                <a:tc>
                  <a:txBody>
                    <a:bodyPr/>
                    <a:lstStyle/>
                    <a:p>
                      <a:pPr algn="l"/>
                      <a:r>
                        <a:rPr sz="950" b="0">
                          <a:solidFill>
                            <a:srgbClr val="2B2622"/>
                          </a:solidFill>
                          <a:latin typeface="Calibri"/>
                        </a:rPr>
                        <a:t>blocks</a:t>
                      </a:r>
                    </a:p>
                  </a:txBody>
                  <a:tcPr marL="54864" marR="54864" marT="27432" marB="27432" anchor="ctr">
                    <a:solidFill>
                      <a:srgbClr val="F2ECE1"/>
                    </a:solidFill>
                  </a:tcPr>
                </a:tc>
                <a:tc>
                  <a:txBody>
                    <a:bodyPr/>
                    <a:lstStyle/>
                    <a:p>
                      <a:pPr algn="l"/>
                      <a:r>
                        <a:rPr sz="950" b="0">
                          <a:solidFill>
                            <a:srgbClr val="2B2622"/>
                          </a:solidFill>
                          <a:latin typeface="Calibri"/>
                        </a:rPr>
                        <a:t>0</a:t>
                      </a:r>
                    </a:p>
                  </a:txBody>
                  <a:tcPr marL="54864" marR="54864" marT="27432" marB="27432" anchor="ctr">
                    <a:solidFill>
                      <a:srgbClr val="F2ECE1"/>
                    </a:solidFill>
                  </a:tcPr>
                </a:tc>
              </a:tr>
              <a:tr h="274320">
                <a:tc>
                  <a:txBody>
                    <a:bodyPr/>
                    <a:lstStyle/>
                    <a:p>
                      <a:pPr algn="l"/>
                      <a:r>
                        <a:rPr sz="950" b="0">
                          <a:solidFill>
                            <a:srgbClr val="2B2622"/>
                          </a:solidFill>
                          <a:latin typeface="Calibri"/>
                        </a:rPr>
                        <a:t>bestblockhash</a:t>
                      </a:r>
                    </a:p>
                  </a:txBody>
                  <a:tcPr marL="54864" marR="54864" marT="27432" marB="27432" anchor="ctr">
                    <a:solidFill>
                      <a:srgbClr val="FFFFFF"/>
                    </a:solidFill>
                  </a:tcPr>
                </a:tc>
                <a:tc>
                  <a:txBody>
                    <a:bodyPr/>
                    <a:lstStyle/>
                    <a:p>
                      <a:pPr algn="l"/>
                      <a:r>
                        <a:rPr sz="950" b="0">
                          <a:solidFill>
                            <a:srgbClr val="2B2622"/>
                          </a:solidFill>
                          <a:latin typeface="Calibri"/>
                        </a:rPr>
                        <a:t>000000000019d6...</a:t>
                      </a:r>
                    </a:p>
                  </a:txBody>
                  <a:tcPr marL="54864" marR="54864" marT="27432" marB="27432" anchor="ctr">
                    <a:solidFill>
                      <a:srgbClr val="FFFFFF"/>
                    </a:solidFill>
                  </a:tcPr>
                </a:tc>
              </a:tr>
              <a:tr h="274320">
                <a:tc>
                  <a:txBody>
                    <a:bodyPr/>
                    <a:lstStyle/>
                    <a:p>
                      <a:pPr algn="l"/>
                      <a:r>
                        <a:rPr sz="950" b="0">
                          <a:solidFill>
                            <a:srgbClr val="2B2622"/>
                          </a:solidFill>
                          <a:latin typeface="Calibri"/>
                        </a:rPr>
                        <a:t>difficulty</a:t>
                      </a:r>
                    </a:p>
                  </a:txBody>
                  <a:tcPr marL="54864" marR="54864" marT="27432" marB="27432" anchor="ctr">
                    <a:solidFill>
                      <a:srgbClr val="F2ECE1"/>
                    </a:solidFill>
                  </a:tcPr>
                </a:tc>
                <a:tc>
                  <a:txBody>
                    <a:bodyPr/>
                    <a:lstStyle/>
                    <a:p>
                      <a:pPr algn="l"/>
                      <a:r>
                        <a:rPr sz="950" b="0">
                          <a:solidFill>
                            <a:srgbClr val="2B2622"/>
                          </a:solidFill>
                          <a:latin typeface="Calibri"/>
                        </a:rPr>
                        <a:t>1</a:t>
                      </a:r>
                    </a:p>
                  </a:txBody>
                  <a:tcPr marL="54864" marR="54864" marT="27432" marB="27432" anchor="ctr">
                    <a:solidFill>
                      <a:srgbClr val="F2ECE1"/>
                    </a:solidFill>
                  </a:tcPr>
                </a:tc>
              </a:tr>
              <a:tr h="274320">
                <a:tc>
                  <a:txBody>
                    <a:bodyPr/>
                    <a:lstStyle/>
                    <a:p>
                      <a:pPr algn="l"/>
                      <a:r>
                        <a:rPr sz="950" b="0">
                          <a:solidFill>
                            <a:srgbClr val="2B2622"/>
                          </a:solidFill>
                          <a:latin typeface="Calibri"/>
                        </a:rPr>
                        <a:t>chainwork</a:t>
                      </a:r>
                    </a:p>
                  </a:txBody>
                  <a:tcPr marL="54864" marR="54864" marT="27432" marB="27432" anchor="ctr">
                    <a:solidFill>
                      <a:srgbClr val="FFFFFF"/>
                    </a:solidFill>
                  </a:tcPr>
                </a:tc>
                <a:tc>
                  <a:txBody>
                    <a:bodyPr/>
                    <a:lstStyle/>
                    <a:p>
                      <a:pPr algn="l"/>
                      <a:r>
                        <a:rPr sz="950" b="0">
                          <a:solidFill>
                            <a:srgbClr val="2B2622"/>
                          </a:solidFill>
                          <a:latin typeface="Calibri"/>
                        </a:rPr>
                        <a:t>4,295,032,833</a:t>
                      </a:r>
                    </a:p>
                  </a:txBody>
                  <a:tcPr marL="54864" marR="54864" marT="27432" marB="27432" anchor="ctr">
                    <a:solidFill>
                      <a:srgbClr val="FFFFFF"/>
                    </a:solidFill>
                  </a:tcPr>
                </a:tc>
              </a:tr>
              <a:tr h="274320">
                <a:tc>
                  <a:txBody>
                    <a:bodyPr/>
                    <a:lstStyle/>
                    <a:p>
                      <a:pPr algn="l"/>
                      <a:r>
                        <a:rPr sz="950" b="0">
                          <a:solidFill>
                            <a:srgbClr val="2B2622"/>
                          </a:solidFill>
                          <a:latin typeface="Calibri"/>
                        </a:rPr>
                        <a:t>still downloading</a:t>
                      </a:r>
                    </a:p>
                  </a:txBody>
                  <a:tcPr marL="54864" marR="54864" marT="27432" marB="27432" anchor="ctr">
                    <a:solidFill>
                      <a:srgbClr val="F2ECE1"/>
                    </a:solidFill>
                  </a:tcPr>
                </a:tc>
                <a:tc>
                  <a:txBody>
                    <a:bodyPr/>
                    <a:lstStyle/>
                    <a:p>
                      <a:pPr algn="l"/>
                      <a:r>
                        <a:rPr sz="950" b="0">
                          <a:solidFill>
                            <a:srgbClr val="2B2622"/>
                          </a:solidFill>
                          <a:latin typeface="Calibri"/>
                        </a:rPr>
                        <a:t>True</a:t>
                      </a:r>
                    </a:p>
                  </a:txBody>
                  <a:tcPr marL="54864" marR="54864" marT="27432" marB="27432" anchor="ctr">
                    <a:solidFill>
                      <a:srgbClr val="F2ECE1"/>
                    </a:solidFill>
                  </a:tcPr>
                </a:tc>
              </a:tr>
              <a:tr h="274320">
                <a:tc>
                  <a:txBody>
                    <a:bodyPr/>
                    <a:lstStyle/>
                    <a:p>
                      <a:pPr algn="l"/>
                      <a:r>
                        <a:rPr sz="950" b="0">
                          <a:solidFill>
                            <a:srgbClr val="2B2622"/>
                          </a:solidFill>
                          <a:latin typeface="Calibri"/>
                        </a:rPr>
                        <a:t>verification</a:t>
                      </a:r>
                    </a:p>
                  </a:txBody>
                  <a:tcPr marL="54864" marR="54864" marT="27432" marB="27432" anchor="ctr">
                    <a:solidFill>
                      <a:srgbClr val="FFFFFF"/>
                    </a:solidFill>
                  </a:tcPr>
                </a:tc>
                <a:tc>
                  <a:txBody>
                    <a:bodyPr/>
                    <a:lstStyle/>
                    <a:p>
                      <a:pPr algn="l"/>
                      <a:r>
                        <a:rPr sz="950" b="0">
                          <a:solidFill>
                            <a:srgbClr val="2B2622"/>
                          </a:solidFill>
                          <a:latin typeface="Calibri"/>
                        </a:rPr>
                        <a:t>7.1e-10</a:t>
                      </a:r>
                    </a:p>
                  </a:txBody>
                  <a:tcPr marL="54864" marR="54864" marT="27432" marB="27432" anchor="ctr">
                    <a:solidFill>
                      <a:srgbClr val="FFFFFF"/>
                    </a:solidFill>
                  </a:tcPr>
                </a:tc>
              </a:tr>
            </a:tbl>
          </a:graphicData>
        </a:graphic>
      </p:graphicFrame>
      <p:sp>
        <p:nvSpPr>
          <p:cNvPr id="17" name="TextBox 16"/>
          <p:cNvSpPr txBox="1"/>
          <p:nvPr/>
        </p:nvSpPr>
        <p:spPr>
          <a:xfrm>
            <a:off x="5852160" y="3995928"/>
            <a:ext cx="2834640" cy="685800"/>
          </a:xfrm>
          <a:prstGeom prst="rect">
            <a:avLst/>
          </a:prstGeom>
          <a:noFill/>
        </p:spPr>
        <p:txBody>
          <a:bodyPr wrap="square" lIns="0" rIns="0" tIns="0" bIns="0" anchor="t">
            <a:spAutoFit/>
          </a:bodyPr>
          <a:lstStyle/>
          <a:p>
            <a:pPr algn="l"/>
            <a:r>
              <a:rPr sz="1100" b="0" i="0">
                <a:solidFill>
                  <a:srgbClr val="2B2622"/>
                </a:solidFill>
                <a:latin typeface="Calibri"/>
              </a:rPr>
              <a:t>The best block is the first one: its hash starts with 000000000019.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600" b="0" i="0">
                <a:solidFill>
                  <a:srgbClr val="2B2622"/>
                </a:solidFill>
                <a:latin typeface="Cambria"/>
              </a:rPr>
              <a:t>Exploring and Decoding Transactions</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Reading a transaction the way the node reports it</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transaction ID</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The hash that names a transaction.</a:t>
            </a:r>
          </a:p>
        </p:txBody>
      </p:sp>
      <p:sp>
        <p:nvSpPr>
          <p:cNvPr id="6" name="TextBox 5"/>
          <p:cNvSpPr txBox="1"/>
          <p:nvPr/>
        </p:nvSpPr>
        <p:spPr>
          <a:xfrm>
            <a:off x="5486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the tracking number on a parcel.</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transaction malleability</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Changing a transaction's id without changing what it does.</a:t>
            </a:r>
          </a:p>
        </p:txBody>
      </p:sp>
      <p:sp>
        <p:nvSpPr>
          <p:cNvPr id="9" name="TextBox 8"/>
          <p:cNvSpPr txBox="1"/>
          <p:nvPr/>
        </p:nvSpPr>
        <p:spPr>
          <a:xfrm>
            <a:off x="32918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a receipt whose number changes when the clerk re-signs it.</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weight units</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The measure by which a block is filled.</a:t>
            </a:r>
          </a:p>
        </p:txBody>
      </p:sp>
      <p:sp>
        <p:nvSpPr>
          <p:cNvPr id="12" name="TextBox 11"/>
          <p:cNvSpPr txBox="1"/>
          <p:nvPr/>
        </p:nvSpPr>
        <p:spPr>
          <a:xfrm>
            <a:off x="60350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postage by volume, where compact data costs less.</a:t>
            </a:r>
          </a:p>
        </p:txBody>
      </p:sp>
      <p:graphicFrame>
        <p:nvGraphicFramePr>
          <p:cNvPr id="13" name="Table 12"/>
          <p:cNvGraphicFramePr>
            <a:graphicFrameLocks noGrp="1"/>
          </p:cNvGraphicFramePr>
          <p:nvPr/>
        </p:nvGraphicFramePr>
        <p:xfrm>
          <a:off x="548640" y="4023360"/>
          <a:ext cx="8046717" cy="365760"/>
        </p:xfrm>
        <a:graphic>
          <a:graphicData uri="http://schemas.openxmlformats.org/drawingml/2006/table">
            <a:tbl>
              <a:tblPr firstRow="1" bandRow="1">
                <a:tableStyleId>{5C22544A-7EE6-4342-B048-85BDC9FD1C3A}</a:tableStyleId>
              </a:tblPr>
              <a:tblGrid>
                <a:gridCol w="1149531"/>
                <a:gridCol w="1149531"/>
                <a:gridCol w="1149531"/>
                <a:gridCol w="1149531"/>
                <a:gridCol w="1149531"/>
                <a:gridCol w="1149531"/>
                <a:gridCol w="1149531"/>
              </a:tblGrid>
              <a:tr h="365760">
                <a:tc>
                  <a:txBody>
                    <a:bodyPr/>
                    <a:lstStyle/>
                    <a:p>
                      <a:pPr algn="ctr"/>
                      <a:r>
                        <a:rPr sz="1000" b="0">
                          <a:solidFill>
                            <a:srgbClr val="6E655C"/>
                          </a:solidFill>
                          <a:latin typeface="Calibri"/>
                        </a:rPr>
                        <a:t>Core</a:t>
                      </a:r>
                    </a:p>
                  </a:txBody>
                  <a:tcPr marL="54864" marR="54864" marT="27432" marB="27432" anchor="ctr">
                    <a:solidFill>
                      <a:srgbClr val="F2ECE1"/>
                    </a:solidFill>
                  </a:tcPr>
                </a:tc>
                <a:tc>
                  <a:txBody>
                    <a:bodyPr/>
                    <a:lstStyle/>
                    <a:p>
                      <a:pPr algn="ctr"/>
                      <a:r>
                        <a:rPr sz="1000" b="0">
                          <a:solidFill>
                            <a:srgbClr val="6E655C"/>
                          </a:solidFill>
                          <a:latin typeface="Calibri"/>
                        </a:rPr>
                        <a:t>Source</a:t>
                      </a:r>
                    </a:p>
                  </a:txBody>
                  <a:tcPr marL="54864" marR="54864" marT="27432" marB="27432" anchor="ctr">
                    <a:solidFill>
                      <a:srgbClr val="F2ECE1"/>
                    </a:solidFill>
                  </a:tcPr>
                </a:tc>
                <a:tc>
                  <a:txBody>
                    <a:bodyPr/>
                    <a:lstStyle/>
                    <a:p>
                      <a:pPr algn="ctr"/>
                      <a:r>
                        <a:rPr sz="1000" b="0">
                          <a:solidFill>
                            <a:srgbClr val="6E655C"/>
                          </a:solidFill>
                          <a:latin typeface="Calibri"/>
                        </a:rPr>
                        <a:t>Node</a:t>
                      </a:r>
                    </a:p>
                  </a:txBody>
                  <a:tcPr marL="54864" marR="54864" marT="27432" marB="27432" anchor="ctr">
                    <a:solidFill>
                      <a:srgbClr val="F2ECE1"/>
                    </a:solidFill>
                  </a:tcPr>
                </a:tc>
                <a:tc>
                  <a:txBody>
                    <a:bodyPr/>
                    <a:lstStyle/>
                    <a:p>
                      <a:pPr algn="ctr"/>
                      <a:r>
                        <a:rPr sz="1000" b="0">
                          <a:solidFill>
                            <a:srgbClr val="6E655C"/>
                          </a:solidFill>
                          <a:latin typeface="Calibri"/>
                        </a:rPr>
                        <a:t>API</a:t>
                      </a:r>
                    </a:p>
                  </a:txBody>
                  <a:tcPr marL="54864" marR="54864" marT="27432" marB="27432" anchor="ctr">
                    <a:solidFill>
                      <a:srgbClr val="F2ECE1"/>
                    </a:solidFill>
                  </a:tcPr>
                </a:tc>
                <a:tc>
                  <a:txBody>
                    <a:bodyPr/>
                    <a:lstStyle/>
                    <a:p>
                      <a:pPr algn="ctr"/>
                      <a:r>
                        <a:rPr sz="1000" b="1">
                          <a:solidFill>
                            <a:srgbClr val="FFFFFF"/>
                          </a:solidFill>
                          <a:latin typeface="Calibri"/>
                        </a:rPr>
                        <a:t>Transactions</a:t>
                      </a:r>
                    </a:p>
                  </a:txBody>
                  <a:tcPr marL="54864" marR="54864" marT="27432" marB="27432" anchor="ctr">
                    <a:solidFill>
                      <a:srgbClr val="D97A14"/>
                    </a:solidFill>
                  </a:tcPr>
                </a:tc>
                <a:tc>
                  <a:txBody>
                    <a:bodyPr/>
                    <a:lstStyle/>
                    <a:p>
                      <a:pPr algn="ctr"/>
                      <a:r>
                        <a:rPr sz="1000" b="0">
                          <a:solidFill>
                            <a:srgbClr val="6E655C"/>
                          </a:solidFill>
                          <a:latin typeface="Calibri"/>
                        </a:rPr>
                        <a:t>Blocks</a:t>
                      </a:r>
                    </a:p>
                  </a:txBody>
                  <a:tcPr marL="54864" marR="54864" marT="27432" marB="27432" anchor="ctr">
                    <a:solidFill>
                      <a:srgbClr val="F2ECE1"/>
                    </a:solidFill>
                  </a:tcPr>
                </a:tc>
                <a:tc>
                  <a:txBody>
                    <a:bodyPr/>
                    <a:lstStyle/>
                    <a:p>
                      <a:pPr algn="ctr"/>
                      <a:r>
                        <a:rPr sz="1000" b="0">
                          <a:solidFill>
                            <a:srgbClr val="6E655C"/>
                          </a:solidFill>
                          <a:latin typeface="Calibri"/>
                        </a:rPr>
                        <a:t>Toolkits</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28 / 42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Decoding Alice's transaction</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Exploring and Decoding Transactions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an X-ray: the same body, shown layer by layer</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29 / 42</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32257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tx = json.loads(T.ALICE_DECODED)</a:t>
            </a:r>
          </a:p>
          <a:p>
            <a:pPr algn="l"/>
            <a:r>
              <a:rPr sz="1000" b="1" i="0">
                <a:solidFill>
                  <a:srgbClr val="F2A860"/>
                </a:solidFill>
                <a:latin typeface="Courier New"/>
              </a:rPr>
              <a:t>&gt;&gt;&gt; </a:t>
            </a:r>
            <a:r>
              <a:rPr sz="1000" b="0" i="0">
                <a:solidFill>
                  <a:srgbClr val="E6EDF3"/>
                </a:solidFill>
                <a:latin typeface="Courier New"/>
              </a:rPr>
              <a:t>sat = </a:t>
            </a:r>
            <a:r>
              <a:rPr sz="1000" b="1" i="0">
                <a:solidFill>
                  <a:srgbClr val="F2A860"/>
                </a:solidFill>
                <a:latin typeface="Courier New"/>
              </a:rPr>
              <a:t>lambda</a:t>
            </a:r>
            <a:r>
              <a:rPr sz="1000" b="0" i="0">
                <a:solidFill>
                  <a:srgbClr val="E6EDF3"/>
                </a:solidFill>
                <a:latin typeface="Courier New"/>
              </a:rPr>
              <a:t> v: round(v * </a:t>
            </a:r>
            <a:r>
              <a:rPr sz="1000" b="0" i="0">
                <a:solidFill>
                  <a:srgbClr val="FFD28A"/>
                </a:solidFill>
                <a:latin typeface="Courier New"/>
              </a:rPr>
              <a:t>10</a:t>
            </a:r>
            <a:r>
              <a:rPr sz="1000" b="0" i="0">
                <a:solidFill>
                  <a:srgbClr val="E6EDF3"/>
                </a:solidFill>
                <a:latin typeface="Courier New"/>
              </a:rPr>
              <a:t>**</a:t>
            </a:r>
            <a:r>
              <a:rPr sz="1000" b="0" i="0">
                <a:solidFill>
                  <a:srgbClr val="FFD28A"/>
                </a:solidFill>
                <a:latin typeface="Courier New"/>
              </a:rPr>
              <a:t>8</a:t>
            </a:r>
            <a:r>
              <a:rPr sz="1000" b="0" i="0">
                <a:solidFill>
                  <a:srgbClr val="E6EDF3"/>
                </a:solidFill>
                <a:latin typeface="Courier New"/>
              </a:rPr>
              <a:t>)</a:t>
            </a:r>
          </a:p>
        </p:txBody>
      </p:sp>
      <p:sp>
        <p:nvSpPr>
          <p:cNvPr id="11" name="TextBox 10"/>
          <p:cNvSpPr txBox="1"/>
          <p:nvPr/>
        </p:nvSpPr>
        <p:spPr>
          <a:xfrm>
            <a:off x="603504" y="241401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outs = [(o[</a:t>
            </a:r>
            <a:r>
              <a:rPr sz="1000" b="0" i="0">
                <a:solidFill>
                  <a:srgbClr val="9ECBFF"/>
                </a:solidFill>
                <a:latin typeface="Courier New"/>
              </a:rPr>
              <a:t>'n'</a:t>
            </a:r>
            <a:r>
              <a:rPr sz="1000" b="0" i="0">
                <a:solidFill>
                  <a:srgbClr val="E6EDF3"/>
                </a:solidFill>
                <a:latin typeface="Courier New"/>
              </a:rPr>
              <a:t>], sat(o[</a:t>
            </a:r>
            <a:r>
              <a:rPr sz="1000" b="0" i="0">
                <a:solidFill>
                  <a:srgbClr val="9ECBFF"/>
                </a:solidFill>
                <a:latin typeface="Courier New"/>
              </a:rPr>
              <a:t>'value'</a:t>
            </a:r>
            <a:r>
              <a:rPr sz="1000" b="0" i="0">
                <a:solidFill>
                  <a:srgbClr val="E6EDF3"/>
                </a:solidFill>
                <a:latin typeface="Courier New"/>
              </a:rPr>
              <a:t>])) </a:t>
            </a:r>
            <a:r>
              <a:rPr sz="1000" b="1" i="0">
                <a:solidFill>
                  <a:srgbClr val="F2A860"/>
                </a:solidFill>
                <a:latin typeface="Courier New"/>
              </a:rPr>
              <a:t>for</a:t>
            </a:r>
            <a:r>
              <a:rPr sz="1000" b="0" i="0">
                <a:solidFill>
                  <a:srgbClr val="E6EDF3"/>
                </a:solidFill>
                <a:latin typeface="Courier New"/>
              </a:rPr>
              <a:t> o </a:t>
            </a:r>
            <a:r>
              <a:rPr sz="1000" b="1" i="0">
                <a:solidFill>
                  <a:srgbClr val="F2A860"/>
                </a:solidFill>
                <a:latin typeface="Courier New"/>
              </a:rPr>
              <a:t>in</a:t>
            </a:r>
            <a:r>
              <a:rPr sz="1000" b="0" i="0">
                <a:solidFill>
                  <a:srgbClr val="E6EDF3"/>
                </a:solidFill>
                <a:latin typeface="Courier New"/>
              </a:rPr>
              <a:t> tx[</a:t>
            </a:r>
            <a:r>
              <a:rPr sz="1000" b="0" i="0">
                <a:solidFill>
                  <a:srgbClr val="9ECBFF"/>
                </a:solidFill>
                <a:latin typeface="Courier New"/>
              </a:rPr>
              <a:t>'vout'</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outs</a:t>
            </a:r>
          </a:p>
          <a:p>
            <a:pPr algn="l"/>
            <a:r>
              <a:rPr sz="1000" b="0" i="0">
                <a:solidFill>
                  <a:srgbClr val="7EE787"/>
                </a:solidFill>
                <a:latin typeface="Courier New"/>
              </a:rPr>
              <a:t>[(0, 20000), (1, 75000)]</a:t>
            </a:r>
          </a:p>
        </p:txBody>
      </p:sp>
      <p:sp>
        <p:nvSpPr>
          <p:cNvPr id="12" name="TextBox 11"/>
          <p:cNvSpPr txBox="1"/>
          <p:nvPr/>
        </p:nvSpPr>
        <p:spPr>
          <a:xfrm>
            <a:off x="457200" y="1840991"/>
            <a:ext cx="5212080" cy="371855"/>
          </a:xfrm>
          <a:prstGeom prst="rect">
            <a:avLst/>
          </a:prstGeom>
          <a:noFill/>
        </p:spPr>
        <p:txBody>
          <a:bodyPr wrap="square" lIns="0" rIns="0" tIns="0" bIns="0" anchor="t">
            <a:spAutoFit/>
          </a:bodyPr>
          <a:lstStyle/>
          <a:p>
            <a:pPr algn="l"/>
            <a:r>
              <a:rPr sz="1100" b="0" i="0">
                <a:solidFill>
                  <a:srgbClr val="2B2622"/>
                </a:solidFill>
                <a:latin typeface="Calibri"/>
              </a:rPr>
              <a:t>decoderawtransaction shows Alice's payment as JSON; the amounts are written in bitcoin.</a:t>
            </a:r>
          </a:p>
        </p:txBody>
      </p:sp>
      <p:sp>
        <p:nvSpPr>
          <p:cNvPr id="13" name="TextBox 12"/>
          <p:cNvSpPr txBox="1"/>
          <p:nvPr/>
        </p:nvSpPr>
        <p:spPr>
          <a:xfrm>
            <a:off x="457200" y="3035808"/>
            <a:ext cx="5212080" cy="204216"/>
          </a:xfrm>
          <a:prstGeom prst="rect">
            <a:avLst/>
          </a:prstGeom>
          <a:noFill/>
        </p:spPr>
        <p:txBody>
          <a:bodyPr wrap="square" lIns="0" rIns="0" tIns="0" bIns="0" anchor="t">
            <a:spAutoFit/>
          </a:bodyPr>
          <a:lstStyle/>
          <a:p>
            <a:pPr algn="l"/>
            <a:r>
              <a:rPr sz="1100" b="0" i="0">
                <a:solidFill>
                  <a:srgbClr val="2B2622"/>
                </a:solidFill>
                <a:latin typeface="Calibri"/>
              </a:rPr>
              <a:t>In satoshis, 20,000 return to Alice and 75,000 pay the store.</a:t>
            </a:r>
          </a:p>
        </p:txBody>
      </p:sp>
      <p:sp>
        <p:nvSpPr>
          <p:cNvPr id="14" name="TextBox 13"/>
          <p:cNvSpPr txBox="1"/>
          <p:nvPr/>
        </p:nvSpPr>
        <p:spPr>
          <a:xfrm>
            <a:off x="457200" y="331317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Recorded data: decoderawtransaction of release 31.1 - T is the chapter library</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outputs in satoshis</a:t>
            </a:r>
          </a:p>
        </p:txBody>
      </p:sp>
      <p:graphicFrame>
        <p:nvGraphicFramePr>
          <p:cNvPr id="16" name="Chart 15"/>
          <p:cNvGraphicFramePr>
            <a:graphicFrameLocks noGrp="1"/>
          </p:cNvGraphicFramePr>
          <p:nvPr/>
        </p:nvGraphicFramePr>
        <p:xfrm>
          <a:off x="5852160" y="1691640"/>
          <a:ext cx="2834640" cy="205740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858768"/>
            <a:ext cx="2834640" cy="685800"/>
          </a:xfrm>
          <a:prstGeom prst="rect">
            <a:avLst/>
          </a:prstGeom>
          <a:noFill/>
        </p:spPr>
        <p:txBody>
          <a:bodyPr wrap="square" lIns="0" rIns="0" tIns="0" bIns="0" anchor="t">
            <a:spAutoFit/>
          </a:bodyPr>
          <a:lstStyle/>
          <a:p>
            <a:pPr algn="l"/>
            <a:r>
              <a:rPr sz="1100" b="0" i="0">
                <a:solidFill>
                  <a:srgbClr val="2B2622"/>
                </a:solidFill>
                <a:latin typeface="Calibri"/>
              </a:rPr>
              <a:t>Output 0 is a witness_v1_taproot output, output 1 a witness_v0_keyhash output; size 143 virtual bytes.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The txid leaves the witness out</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transaction ID and transaction malleability</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a tracking number printed before anyone adds a signature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30 / 42</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32257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raw = bytes.fromhex(T.ALICE_HEX)</a:t>
            </a:r>
          </a:p>
          <a:p>
            <a:pPr algn="l"/>
            <a:r>
              <a:rPr sz="1000" b="1" i="0">
                <a:solidFill>
                  <a:srgbClr val="F2A860"/>
                </a:solidFill>
                <a:latin typeface="Courier New"/>
              </a:rPr>
              <a:t>&gt;&gt;&gt; </a:t>
            </a:r>
            <a:r>
              <a:rPr sz="1000" b="0" i="0">
                <a:solidFill>
                  <a:srgbClr val="E6EDF3"/>
                </a:solidFill>
                <a:latin typeface="Courier New"/>
              </a:rPr>
              <a:t>txid, wtxid = T.txid(raw), T.wtxid(raw)</a:t>
            </a:r>
          </a:p>
        </p:txBody>
      </p:sp>
      <p:sp>
        <p:nvSpPr>
          <p:cNvPr id="11" name="TextBox 10"/>
          <p:cNvSpPr txBox="1"/>
          <p:nvPr/>
        </p:nvSpPr>
        <p:spPr>
          <a:xfrm>
            <a:off x="603504" y="241401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(txid[:</a:t>
            </a:r>
            <a:r>
              <a:rPr sz="1000" b="0" i="0">
                <a:solidFill>
                  <a:srgbClr val="FFD28A"/>
                </a:solidFill>
                <a:latin typeface="Courier New"/>
              </a:rPr>
              <a:t>16</a:t>
            </a:r>
            <a:r>
              <a:rPr sz="1000" b="0" i="0">
                <a:solidFill>
                  <a:srgbClr val="E6EDF3"/>
                </a:solidFill>
                <a:latin typeface="Courier New"/>
              </a:rPr>
              <a:t>], wtxid[:</a:t>
            </a:r>
            <a:r>
              <a:rPr sz="1000" b="0" i="0">
                <a:solidFill>
                  <a:srgbClr val="FFD28A"/>
                </a:solidFill>
                <a:latin typeface="Courier New"/>
              </a:rPr>
              <a:t>16</a:t>
            </a:r>
            <a:r>
              <a:rPr sz="1000" b="0" i="0">
                <a:solidFill>
                  <a:srgbClr val="E6EDF3"/>
                </a:solidFill>
                <a:latin typeface="Courier New"/>
              </a:rPr>
              <a:t>])</a:t>
            </a:r>
          </a:p>
          <a:p>
            <a:pPr algn="l"/>
            <a:r>
              <a:rPr sz="1000" b="0" i="0">
                <a:solidFill>
                  <a:srgbClr val="7EE787"/>
                </a:solidFill>
                <a:latin typeface="Courier New"/>
              </a:rPr>
              <a:t>('466200308696215b', 'f7cdbc7cf8b910d3')</a:t>
            </a:r>
          </a:p>
        </p:txBody>
      </p:sp>
      <p:sp>
        <p:nvSpPr>
          <p:cNvPr id="12" name="TextBox 11"/>
          <p:cNvSpPr txBox="1"/>
          <p:nvPr/>
        </p:nvSpPr>
        <p:spPr>
          <a:xfrm>
            <a:off x="457200" y="1840991"/>
            <a:ext cx="5212080" cy="371855"/>
          </a:xfrm>
          <a:prstGeom prst="rect">
            <a:avLst/>
          </a:prstGeom>
          <a:noFill/>
        </p:spPr>
        <p:txBody>
          <a:bodyPr wrap="square" lIns="0" rIns="0" tIns="0" bIns="0" anchor="t">
            <a:spAutoFit/>
          </a:bodyPr>
          <a:lstStyle/>
          <a:p>
            <a:pPr algn="l"/>
            <a:r>
              <a:rPr sz="1100" b="0" i="0">
                <a:solidFill>
                  <a:srgbClr val="2B2622"/>
                </a:solidFill>
                <a:latin typeface="Calibri"/>
              </a:rPr>
              <a:t>Hash the transaction without its witness for the txid, and with it for the second hash.</a:t>
            </a:r>
          </a:p>
        </p:txBody>
      </p:sp>
      <p:sp>
        <p:nvSpPr>
          <p:cNvPr id="13" name="TextBox 12"/>
          <p:cNvSpPr txBox="1"/>
          <p:nvPr/>
        </p:nvSpPr>
        <p:spPr>
          <a:xfrm>
            <a:off x="457200" y="288340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two differ because the signature sits in the witness; the txid ignores it, so a changed signature cannot change the txid.</a:t>
            </a:r>
          </a:p>
        </p:txBody>
      </p:sp>
      <p:sp>
        <p:nvSpPr>
          <p:cNvPr id="14" name="TextBox 13"/>
          <p:cNvSpPr txBox="1"/>
          <p:nvPr/>
        </p:nvSpPr>
        <p:spPr>
          <a:xfrm>
            <a:off x="457200" y="332841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Recorded data: decoderawtransaction of release 31.1 - T is the chapter library</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two hashes of one transaction</a:t>
            </a:r>
          </a:p>
        </p:txBody>
      </p:sp>
      <p:graphicFrame>
        <p:nvGraphicFramePr>
          <p:cNvPr id="16" name="Table 15"/>
          <p:cNvGraphicFramePr>
            <a:graphicFrameLocks noGrp="1"/>
          </p:cNvGraphicFramePr>
          <p:nvPr/>
        </p:nvGraphicFramePr>
        <p:xfrm>
          <a:off x="5852160" y="1691640"/>
          <a:ext cx="2834640" cy="1152144"/>
        </p:xfrm>
        <a:graphic>
          <a:graphicData uri="http://schemas.openxmlformats.org/drawingml/2006/table">
            <a:tbl>
              <a:tblPr firstRow="1" bandRow="1">
                <a:tableStyleId>{5C22544A-7EE6-4342-B048-85BDC9FD1C3A}</a:tableStyleId>
              </a:tblPr>
              <a:tblGrid>
                <a:gridCol w="731520"/>
                <a:gridCol w="914400"/>
                <a:gridCol w="1188720"/>
              </a:tblGrid>
              <a:tr h="384048">
                <a:tc>
                  <a:txBody>
                    <a:bodyPr/>
                    <a:lstStyle/>
                    <a:p>
                      <a:pPr algn="l"/>
                      <a:r>
                        <a:rPr sz="900" b="1">
                          <a:solidFill>
                            <a:srgbClr val="FFFFFF"/>
                          </a:solidFill>
                          <a:latin typeface="Calibri"/>
                        </a:rPr>
                        <a:t>Hash</a:t>
                      </a:r>
                    </a:p>
                  </a:txBody>
                  <a:tcPr marL="54864" marR="54864" marT="27432" marB="27432" anchor="ctr">
                    <a:solidFill>
                      <a:srgbClr val="2F6D62"/>
                    </a:solidFill>
                  </a:tcPr>
                </a:tc>
                <a:tc>
                  <a:txBody>
                    <a:bodyPr/>
                    <a:lstStyle/>
                    <a:p>
                      <a:pPr algn="l"/>
                      <a:r>
                        <a:rPr sz="900" b="1">
                          <a:solidFill>
                            <a:srgbClr val="FFFFFF"/>
                          </a:solidFill>
                          <a:latin typeface="Calibri"/>
                        </a:rPr>
                        <a:t>Covers</a:t>
                      </a:r>
                    </a:p>
                  </a:txBody>
                  <a:tcPr marL="54864" marR="54864" marT="27432" marB="27432" anchor="ctr">
                    <a:solidFill>
                      <a:srgbClr val="2F6D62"/>
                    </a:solidFill>
                  </a:tcPr>
                </a:tc>
                <a:tc>
                  <a:txBody>
                    <a:bodyPr/>
                    <a:lstStyle/>
                    <a:p>
                      <a:pPr algn="l"/>
                      <a:r>
                        <a:rPr sz="900" b="1">
                          <a:solidFill>
                            <a:srgbClr val="FFFFFF"/>
                          </a:solidFill>
                          <a:latin typeface="Calibri"/>
                        </a:rPr>
                        <a:t>Starts with</a:t>
                      </a:r>
                    </a:p>
                  </a:txBody>
                  <a:tcPr marL="54864" marR="54864" marT="27432" marB="27432" anchor="ctr">
                    <a:solidFill>
                      <a:srgbClr val="2F6D62"/>
                    </a:solidFill>
                  </a:tcPr>
                </a:tc>
              </a:tr>
              <a:tr h="384048">
                <a:tc>
                  <a:txBody>
                    <a:bodyPr/>
                    <a:lstStyle/>
                    <a:p>
                      <a:pPr algn="l"/>
                      <a:r>
                        <a:rPr sz="900" b="0">
                          <a:solidFill>
                            <a:srgbClr val="2B2622"/>
                          </a:solidFill>
                          <a:latin typeface="Calibri"/>
                        </a:rPr>
                        <a:t>txid</a:t>
                      </a:r>
                    </a:p>
                  </a:txBody>
                  <a:tcPr marL="54864" marR="54864" marT="27432" marB="27432" anchor="ctr">
                    <a:solidFill>
                      <a:srgbClr val="FFFFFF"/>
                    </a:solidFill>
                  </a:tcPr>
                </a:tc>
                <a:tc>
                  <a:txBody>
                    <a:bodyPr/>
                    <a:lstStyle/>
                    <a:p>
                      <a:pPr algn="l"/>
                      <a:r>
                        <a:rPr sz="900" b="0">
                          <a:solidFill>
                            <a:srgbClr val="2B2622"/>
                          </a:solidFill>
                          <a:latin typeface="Calibri"/>
                        </a:rPr>
                        <a:t>no witness</a:t>
                      </a:r>
                    </a:p>
                  </a:txBody>
                  <a:tcPr marL="54864" marR="54864" marT="27432" marB="27432" anchor="ctr">
                    <a:solidFill>
                      <a:srgbClr val="FFFFFF"/>
                    </a:solidFill>
                  </a:tcPr>
                </a:tc>
                <a:tc>
                  <a:txBody>
                    <a:bodyPr/>
                    <a:lstStyle/>
                    <a:p>
                      <a:pPr algn="l"/>
                      <a:r>
                        <a:rPr sz="900" b="0">
                          <a:solidFill>
                            <a:srgbClr val="2B2622"/>
                          </a:solidFill>
                          <a:latin typeface="Calibri"/>
                        </a:rPr>
                        <a:t>466200308696215b</a:t>
                      </a:r>
                    </a:p>
                  </a:txBody>
                  <a:tcPr marL="54864" marR="54864" marT="27432" marB="27432" anchor="ctr">
                    <a:solidFill>
                      <a:srgbClr val="FFFFFF"/>
                    </a:solidFill>
                  </a:tcPr>
                </a:tc>
              </a:tr>
              <a:tr h="384048">
                <a:tc>
                  <a:txBody>
                    <a:bodyPr/>
                    <a:lstStyle/>
                    <a:p>
                      <a:pPr algn="l"/>
                      <a:r>
                        <a:rPr sz="900" b="0">
                          <a:solidFill>
                            <a:srgbClr val="2B2622"/>
                          </a:solidFill>
                          <a:latin typeface="Calibri"/>
                        </a:rPr>
                        <a:t>second hash</a:t>
                      </a:r>
                    </a:p>
                  </a:txBody>
                  <a:tcPr marL="54864" marR="54864" marT="27432" marB="27432" anchor="ctr">
                    <a:solidFill>
                      <a:srgbClr val="F2ECE1"/>
                    </a:solidFill>
                  </a:tcPr>
                </a:tc>
                <a:tc>
                  <a:txBody>
                    <a:bodyPr/>
                    <a:lstStyle/>
                    <a:p>
                      <a:pPr algn="l"/>
                      <a:r>
                        <a:rPr sz="900" b="0">
                          <a:solidFill>
                            <a:srgbClr val="2B2622"/>
                          </a:solidFill>
                          <a:latin typeface="Calibri"/>
                        </a:rPr>
                        <a:t>everything</a:t>
                      </a:r>
                    </a:p>
                  </a:txBody>
                  <a:tcPr marL="54864" marR="54864" marT="27432" marB="27432" anchor="ctr">
                    <a:solidFill>
                      <a:srgbClr val="F2ECE1"/>
                    </a:solidFill>
                  </a:tcPr>
                </a:tc>
                <a:tc>
                  <a:txBody>
                    <a:bodyPr/>
                    <a:lstStyle/>
                    <a:p>
                      <a:pPr algn="l"/>
                      <a:r>
                        <a:rPr sz="900" b="0">
                          <a:solidFill>
                            <a:srgbClr val="2B2622"/>
                          </a:solidFill>
                          <a:latin typeface="Calibri"/>
                        </a:rPr>
                        <a:t>f7cdbc7cf8b910d3</a:t>
                      </a:r>
                    </a:p>
                  </a:txBody>
                  <a:tcPr marL="54864" marR="54864" marT="27432" marB="27432" anchor="ctr">
                    <a:solidFill>
                      <a:srgbClr val="F2ECE1"/>
                    </a:solidFill>
                  </a:tcPr>
                </a:tc>
              </a:tr>
            </a:tbl>
          </a:graphicData>
        </a:graphic>
      </p:graphicFrame>
      <p:graphicFrame>
        <p:nvGraphicFramePr>
          <p:cNvPr id="17" name="Table 16"/>
          <p:cNvGraphicFramePr>
            <a:graphicFrameLocks noGrp="1"/>
          </p:cNvGraphicFramePr>
          <p:nvPr/>
        </p:nvGraphicFramePr>
        <p:xfrm>
          <a:off x="5852160" y="2980944"/>
          <a:ext cx="2834640" cy="822960"/>
        </p:xfrm>
        <a:graphic>
          <a:graphicData uri="http://schemas.openxmlformats.org/drawingml/2006/table">
            <a:tbl>
              <a:tblPr firstRow="1" bandRow="1">
                <a:tableStyleId>{5C22544A-7EE6-4342-B048-85BDC9FD1C3A}</a:tableStyleId>
              </a:tblPr>
              <a:tblGrid>
                <a:gridCol w="1920240"/>
                <a:gridCol w="914400"/>
              </a:tblGrid>
              <a:tr h="274320">
                <a:tc>
                  <a:txBody>
                    <a:bodyPr/>
                    <a:lstStyle/>
                    <a:p>
                      <a:pPr algn="l"/>
                      <a:r>
                        <a:rPr sz="900" b="1">
                          <a:solidFill>
                            <a:srgbClr val="FFFFFF"/>
                          </a:solidFill>
                          <a:latin typeface="Calibri"/>
                        </a:rPr>
                        <a:t>Same as Bitcoin Core says</a:t>
                      </a:r>
                    </a:p>
                  </a:txBody>
                  <a:tcPr marL="54864" marR="54864" marT="27432" marB="27432" anchor="ctr">
                    <a:solidFill>
                      <a:srgbClr val="2F6D62"/>
                    </a:solidFill>
                  </a:tcPr>
                </a:tc>
                <a:tc>
                  <a:txBody>
                    <a:bodyPr/>
                    <a:lstStyle/>
                    <a:p>
                      <a:pPr algn="l"/>
                      <a:r>
                        <a:rPr sz="900" b="1">
                          <a:solidFill>
                            <a:srgbClr val="FFFFFF"/>
                          </a:solidFill>
                          <a:latin typeface="Calibri"/>
                        </a:rPr>
                        <a:t>Equal</a:t>
                      </a:r>
                    </a:p>
                  </a:txBody>
                  <a:tcPr marL="54864" marR="54864" marT="27432" marB="27432" anchor="ctr">
                    <a:solidFill>
                      <a:srgbClr val="2F6D62"/>
                    </a:solidFill>
                  </a:tcPr>
                </a:tc>
              </a:tr>
              <a:tr h="274320">
                <a:tc>
                  <a:txBody>
                    <a:bodyPr/>
                    <a:lstStyle/>
                    <a:p>
                      <a:pPr algn="l"/>
                      <a:r>
                        <a:rPr sz="900" b="0">
                          <a:solidFill>
                            <a:srgbClr val="2B2622"/>
                          </a:solidFill>
                          <a:latin typeface="Calibri"/>
                        </a:rPr>
                        <a:t>txid</a:t>
                      </a:r>
                    </a:p>
                  </a:txBody>
                  <a:tcPr marL="54864" marR="54864" marT="27432" marB="27432" anchor="ctr">
                    <a:solidFill>
                      <a:srgbClr val="FFFFFF"/>
                    </a:solidFill>
                  </a:tcPr>
                </a:tc>
                <a:tc>
                  <a:txBody>
                    <a:bodyPr/>
                    <a:lstStyle/>
                    <a:p>
                      <a:pPr algn="l"/>
                      <a:r>
                        <a:rPr sz="900" b="0">
                          <a:solidFill>
                            <a:srgbClr val="2B2622"/>
                          </a:solidFill>
                          <a:latin typeface="Calibri"/>
                        </a:rPr>
                        <a:t>True</a:t>
                      </a:r>
                    </a:p>
                  </a:txBody>
                  <a:tcPr marL="54864" marR="54864" marT="27432" marB="27432" anchor="ctr">
                    <a:solidFill>
                      <a:srgbClr val="FFFFFF"/>
                    </a:solidFill>
                  </a:tcPr>
                </a:tc>
              </a:tr>
              <a:tr h="274320">
                <a:tc>
                  <a:txBody>
                    <a:bodyPr/>
                    <a:lstStyle/>
                    <a:p>
                      <a:pPr algn="l"/>
                      <a:r>
                        <a:rPr sz="900" b="0">
                          <a:solidFill>
                            <a:srgbClr val="2B2622"/>
                          </a:solidFill>
                          <a:latin typeface="Calibri"/>
                        </a:rPr>
                        <a:t>hash</a:t>
                      </a:r>
                    </a:p>
                  </a:txBody>
                  <a:tcPr marL="54864" marR="54864" marT="27432" marB="27432" anchor="ctr">
                    <a:solidFill>
                      <a:srgbClr val="F2ECE1"/>
                    </a:solidFill>
                  </a:tcPr>
                </a:tc>
                <a:tc>
                  <a:txBody>
                    <a:bodyPr/>
                    <a:lstStyle/>
                    <a:p>
                      <a:pPr algn="l"/>
                      <a:r>
                        <a:rPr sz="900" b="0">
                          <a:solidFill>
                            <a:srgbClr val="2B2622"/>
                          </a:solidFill>
                          <a:latin typeface="Calibri"/>
                        </a:rPr>
                        <a:t>True</a:t>
                      </a:r>
                    </a:p>
                  </a:txBody>
                  <a:tcPr marL="54864" marR="54864" marT="27432" marB="27432" anchor="ctr">
                    <a:solidFill>
                      <a:srgbClr val="F2ECE1"/>
                    </a:solidFill>
                  </a:tcPr>
                </a:tc>
              </a:tr>
            </a:tbl>
          </a:graphicData>
        </a:graphic>
      </p:graphicFrame>
      <p:sp>
        <p:nvSpPr>
          <p:cNvPr id="18" name="TextBox 17"/>
          <p:cNvSpPr txBox="1"/>
          <p:nvPr/>
        </p:nvSpPr>
        <p:spPr>
          <a:xfrm>
            <a:off x="5852160" y="3913632"/>
            <a:ext cx="2834640" cy="685800"/>
          </a:xfrm>
          <a:prstGeom prst="rect">
            <a:avLst/>
          </a:prstGeom>
          <a:noFill/>
        </p:spPr>
        <p:txBody>
          <a:bodyPr wrap="square" lIns="0" rIns="0" tIns="0" bIns="0" anchor="t">
            <a:spAutoFit/>
          </a:bodyPr>
          <a:lstStyle/>
          <a:p>
            <a:pPr algn="l"/>
            <a:r>
              <a:rPr sz="1100" b="0" i="0">
                <a:solidFill>
                  <a:srgbClr val="2B2622"/>
                </a:solidFill>
                <a:latin typeface="Calibri"/>
              </a:rPr>
              <a:t>The witness holds the signature, so only the second hash changes with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Weight units and virtual bytes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How much of a block a transaction fills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postage by volume: compact, light data costs less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31 / 42</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32257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raw = bytes.fromhex(T.ALICE_HEX)</a:t>
            </a:r>
          </a:p>
          <a:p>
            <a:pPr algn="l"/>
            <a:r>
              <a:rPr sz="1000" b="1" i="0">
                <a:solidFill>
                  <a:srgbClr val="F2A860"/>
                </a:solidFill>
                <a:latin typeface="Courier New"/>
              </a:rPr>
              <a:t>&gt;&gt;&gt; </a:t>
            </a:r>
            <a:r>
              <a:rPr sz="1000" b="0" i="0">
                <a:solidFill>
                  <a:srgbClr val="E6EDF3"/>
                </a:solidFill>
                <a:latin typeface="Courier New"/>
              </a:rPr>
              <a:t>base, wit = T.split_witness(raw)</a:t>
            </a:r>
          </a:p>
        </p:txBody>
      </p:sp>
      <p:sp>
        <p:nvSpPr>
          <p:cNvPr id="11" name="TextBox 10"/>
          <p:cNvSpPr txBox="1"/>
          <p:nvPr/>
        </p:nvSpPr>
        <p:spPr>
          <a:xfrm>
            <a:off x="603504" y="241401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weight = </a:t>
            </a:r>
            <a:r>
              <a:rPr sz="1000" b="0" i="0">
                <a:solidFill>
                  <a:srgbClr val="FFD28A"/>
                </a:solidFill>
                <a:latin typeface="Courier New"/>
              </a:rPr>
              <a:t>4</a:t>
            </a:r>
            <a:r>
              <a:rPr sz="1000" b="0" i="0">
                <a:solidFill>
                  <a:srgbClr val="E6EDF3"/>
                </a:solidFill>
                <a:latin typeface="Courier New"/>
              </a:rPr>
              <a:t> * len(base) + len(wit)</a:t>
            </a:r>
          </a:p>
          <a:p>
            <a:pPr algn="l"/>
            <a:r>
              <a:rPr sz="1000" b="1" i="0">
                <a:solidFill>
                  <a:srgbClr val="F2A860"/>
                </a:solidFill>
                <a:latin typeface="Courier New"/>
              </a:rPr>
              <a:t>&gt;&gt;&gt; </a:t>
            </a:r>
            <a:r>
              <a:rPr sz="1000" b="0" i="0">
                <a:solidFill>
                  <a:srgbClr val="E6EDF3"/>
                </a:solidFill>
                <a:latin typeface="Courier New"/>
              </a:rPr>
              <a:t>(weight, -(-weight // </a:t>
            </a:r>
            <a:r>
              <a:rPr sz="1000" b="0" i="0">
                <a:solidFill>
                  <a:srgbClr val="FFD28A"/>
                </a:solidFill>
                <a:latin typeface="Courier New"/>
              </a:rPr>
              <a:t>4</a:t>
            </a:r>
            <a:r>
              <a:rPr sz="1000" b="0" i="0">
                <a:solidFill>
                  <a:srgbClr val="E6EDF3"/>
                </a:solidFill>
                <a:latin typeface="Courier New"/>
              </a:rPr>
              <a:t>))</a:t>
            </a:r>
          </a:p>
          <a:p>
            <a:pPr algn="l"/>
            <a:r>
              <a:rPr sz="1000" b="0" i="0">
                <a:solidFill>
                  <a:srgbClr val="7EE787"/>
                </a:solidFill>
                <a:latin typeface="Courier New"/>
              </a:rPr>
              <a:t>(569, 143)</a:t>
            </a:r>
          </a:p>
        </p:txBody>
      </p:sp>
      <p:sp>
        <p:nvSpPr>
          <p:cNvPr id="12" name="TextBox 11"/>
          <p:cNvSpPr txBox="1"/>
          <p:nvPr/>
        </p:nvSpPr>
        <p:spPr>
          <a:xfrm>
            <a:off x="457200" y="1840991"/>
            <a:ext cx="5212080" cy="371855"/>
          </a:xfrm>
          <a:prstGeom prst="rect">
            <a:avLst/>
          </a:prstGeom>
          <a:noFill/>
        </p:spPr>
        <p:txBody>
          <a:bodyPr wrap="square" lIns="0" rIns="0" tIns="0" bIns="0" anchor="t">
            <a:spAutoFit/>
          </a:bodyPr>
          <a:lstStyle/>
          <a:p>
            <a:pPr algn="l"/>
            <a:r>
              <a:rPr sz="1100" b="0" i="0">
                <a:solidFill>
                  <a:srgbClr val="2B2622"/>
                </a:solidFill>
                <a:latin typeface="Calibri"/>
              </a:rPr>
              <a:t>Split the transaction into the part every node counts in full and the witness part.</a:t>
            </a:r>
          </a:p>
        </p:txBody>
      </p:sp>
      <p:sp>
        <p:nvSpPr>
          <p:cNvPr id="13" name="TextBox 12"/>
          <p:cNvSpPr txBox="1"/>
          <p:nvPr/>
        </p:nvSpPr>
        <p:spPr>
          <a:xfrm>
            <a:off x="457200" y="3035808"/>
            <a:ext cx="5212080" cy="371855"/>
          </a:xfrm>
          <a:prstGeom prst="rect">
            <a:avLst/>
          </a:prstGeom>
          <a:noFill/>
        </p:spPr>
        <p:txBody>
          <a:bodyPr wrap="square" lIns="0" rIns="0" tIns="0" bIns="0" anchor="t">
            <a:spAutoFit/>
          </a:bodyPr>
          <a:lstStyle/>
          <a:p>
            <a:pPr algn="l"/>
            <a:r>
              <a:rPr sz="1100" b="0" i="0">
                <a:solidFill>
                  <a:srgbClr val="2B2622"/>
                </a:solidFill>
                <a:latin typeface="Calibri"/>
              </a:rPr>
              <a:t>Base bytes weigh four units, witness bytes one; a virtual byte is four units, rounded up.</a:t>
            </a:r>
          </a:p>
        </p:txBody>
      </p:sp>
      <p:sp>
        <p:nvSpPr>
          <p:cNvPr id="14" name="TextBox 13"/>
          <p:cNvSpPr txBox="1"/>
          <p:nvPr/>
        </p:nvSpPr>
        <p:spPr>
          <a:xfrm>
            <a:off x="457200" y="348081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Recorded data: decoderawtransaction of release 31.1 - T is the chapter library</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weight units of the transaction</a:t>
            </a:r>
          </a:p>
        </p:txBody>
      </p:sp>
      <p:graphicFrame>
        <p:nvGraphicFramePr>
          <p:cNvPr id="16" name="Chart 15"/>
          <p:cNvGraphicFramePr>
            <a:graphicFrameLocks noGrp="1"/>
          </p:cNvGraphicFramePr>
          <p:nvPr/>
        </p:nvGraphicFramePr>
        <p:xfrm>
          <a:off x="5852160" y="1691640"/>
          <a:ext cx="2834640" cy="205740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858768"/>
            <a:ext cx="2834640" cy="685800"/>
          </a:xfrm>
          <a:prstGeom prst="rect">
            <a:avLst/>
          </a:prstGeom>
          <a:noFill/>
        </p:spPr>
        <p:txBody>
          <a:bodyPr wrap="square" lIns="0" rIns="0" tIns="0" bIns="0" anchor="t">
            <a:spAutoFit/>
          </a:bodyPr>
          <a:lstStyle/>
          <a:p>
            <a:pPr algn="l"/>
            <a:r>
              <a:rPr sz="1100" b="0" i="0">
                <a:solidFill>
                  <a:srgbClr val="2B2622"/>
                </a:solidFill>
                <a:latin typeface="Calibri"/>
              </a:rPr>
              <a:t>194 bytes in all: 125 base and 69 witness. Core says 569 units; 569 / 4 rounded up is 143.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Exploring Blocks</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Height, hash, merkle root and time</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block height</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block's place in the chain, counted from zero.</a:t>
            </a:r>
          </a:p>
        </p:txBody>
      </p:sp>
      <p:sp>
        <p:nvSpPr>
          <p:cNvPr id="6" name="TextBox 5"/>
          <p:cNvSpPr txBox="1"/>
          <p:nvPr/>
        </p:nvSpPr>
        <p:spPr>
          <a:xfrm>
            <a:off x="5486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a page number in a very long book.</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block hash</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The name of a block, made by hashing its header.</a:t>
            </a:r>
          </a:p>
        </p:txBody>
      </p:sp>
      <p:sp>
        <p:nvSpPr>
          <p:cNvPr id="9" name="TextBox 8"/>
          <p:cNvSpPr txBox="1"/>
          <p:nvPr/>
        </p:nvSpPr>
        <p:spPr>
          <a:xfrm>
            <a:off x="32918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a fingerprint taken from the page's header.</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median time</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The middle timestamp of the last eleven blocks.</a:t>
            </a:r>
          </a:p>
        </p:txBody>
      </p:sp>
      <p:sp>
        <p:nvSpPr>
          <p:cNvPr id="12" name="TextBox 11"/>
          <p:cNvSpPr txBox="1"/>
          <p:nvPr/>
        </p:nvSpPr>
        <p:spPr>
          <a:xfrm>
            <a:off x="6035040" y="3054096"/>
            <a:ext cx="2560320" cy="731520"/>
          </a:xfrm>
          <a:prstGeom prst="rect">
            <a:avLst/>
          </a:prstGeom>
          <a:noFill/>
        </p:spPr>
        <p:txBody>
          <a:bodyPr wrap="square" lIns="0" rIns="0" tIns="0" bIns="0" anchor="t">
            <a:spAutoFit/>
          </a:bodyPr>
          <a:lstStyle/>
          <a:p>
            <a:pPr algn="l"/>
            <a:r>
              <a:rPr sz="1150" b="0" i="1">
                <a:solidFill>
                  <a:srgbClr val="D97A14"/>
                </a:solidFill>
                <a:latin typeface="Calibri"/>
              </a:rPr>
              <a:t>Think of a median price that one odd sale cannot move.</a:t>
            </a:r>
          </a:p>
        </p:txBody>
      </p:sp>
      <p:graphicFrame>
        <p:nvGraphicFramePr>
          <p:cNvPr id="13" name="Table 12"/>
          <p:cNvGraphicFramePr>
            <a:graphicFrameLocks noGrp="1"/>
          </p:cNvGraphicFramePr>
          <p:nvPr/>
        </p:nvGraphicFramePr>
        <p:xfrm>
          <a:off x="548640" y="4023360"/>
          <a:ext cx="8046717" cy="365760"/>
        </p:xfrm>
        <a:graphic>
          <a:graphicData uri="http://schemas.openxmlformats.org/drawingml/2006/table">
            <a:tbl>
              <a:tblPr firstRow="1" bandRow="1">
                <a:tableStyleId>{5C22544A-7EE6-4342-B048-85BDC9FD1C3A}</a:tableStyleId>
              </a:tblPr>
              <a:tblGrid>
                <a:gridCol w="1149531"/>
                <a:gridCol w="1149531"/>
                <a:gridCol w="1149531"/>
                <a:gridCol w="1149531"/>
                <a:gridCol w="1149531"/>
                <a:gridCol w="1149531"/>
                <a:gridCol w="1149531"/>
              </a:tblGrid>
              <a:tr h="365760">
                <a:tc>
                  <a:txBody>
                    <a:bodyPr/>
                    <a:lstStyle/>
                    <a:p>
                      <a:pPr algn="ctr"/>
                      <a:r>
                        <a:rPr sz="1000" b="0">
                          <a:solidFill>
                            <a:srgbClr val="6E655C"/>
                          </a:solidFill>
                          <a:latin typeface="Calibri"/>
                        </a:rPr>
                        <a:t>Core</a:t>
                      </a:r>
                    </a:p>
                  </a:txBody>
                  <a:tcPr marL="54864" marR="54864" marT="27432" marB="27432" anchor="ctr">
                    <a:solidFill>
                      <a:srgbClr val="F2ECE1"/>
                    </a:solidFill>
                  </a:tcPr>
                </a:tc>
                <a:tc>
                  <a:txBody>
                    <a:bodyPr/>
                    <a:lstStyle/>
                    <a:p>
                      <a:pPr algn="ctr"/>
                      <a:r>
                        <a:rPr sz="1000" b="0">
                          <a:solidFill>
                            <a:srgbClr val="6E655C"/>
                          </a:solidFill>
                          <a:latin typeface="Calibri"/>
                        </a:rPr>
                        <a:t>Source</a:t>
                      </a:r>
                    </a:p>
                  </a:txBody>
                  <a:tcPr marL="54864" marR="54864" marT="27432" marB="27432" anchor="ctr">
                    <a:solidFill>
                      <a:srgbClr val="F2ECE1"/>
                    </a:solidFill>
                  </a:tcPr>
                </a:tc>
                <a:tc>
                  <a:txBody>
                    <a:bodyPr/>
                    <a:lstStyle/>
                    <a:p>
                      <a:pPr algn="ctr"/>
                      <a:r>
                        <a:rPr sz="1000" b="0">
                          <a:solidFill>
                            <a:srgbClr val="6E655C"/>
                          </a:solidFill>
                          <a:latin typeface="Calibri"/>
                        </a:rPr>
                        <a:t>Node</a:t>
                      </a:r>
                    </a:p>
                  </a:txBody>
                  <a:tcPr marL="54864" marR="54864" marT="27432" marB="27432" anchor="ctr">
                    <a:solidFill>
                      <a:srgbClr val="F2ECE1"/>
                    </a:solidFill>
                  </a:tcPr>
                </a:tc>
                <a:tc>
                  <a:txBody>
                    <a:bodyPr/>
                    <a:lstStyle/>
                    <a:p>
                      <a:pPr algn="ctr"/>
                      <a:r>
                        <a:rPr sz="1000" b="0">
                          <a:solidFill>
                            <a:srgbClr val="6E655C"/>
                          </a:solidFill>
                          <a:latin typeface="Calibri"/>
                        </a:rPr>
                        <a:t>API</a:t>
                      </a:r>
                    </a:p>
                  </a:txBody>
                  <a:tcPr marL="54864" marR="54864" marT="27432" marB="27432" anchor="ctr">
                    <a:solidFill>
                      <a:srgbClr val="F2ECE1"/>
                    </a:solidFill>
                  </a:tcPr>
                </a:tc>
                <a:tc>
                  <a:txBody>
                    <a:bodyPr/>
                    <a:lstStyle/>
                    <a:p>
                      <a:pPr algn="ctr"/>
                      <a:r>
                        <a:rPr sz="1000" b="0">
                          <a:solidFill>
                            <a:srgbClr val="6E655C"/>
                          </a:solidFill>
                          <a:latin typeface="Calibri"/>
                        </a:rPr>
                        <a:t>Transactions</a:t>
                      </a:r>
                    </a:p>
                  </a:txBody>
                  <a:tcPr marL="54864" marR="54864" marT="27432" marB="27432" anchor="ctr">
                    <a:solidFill>
                      <a:srgbClr val="F2ECE1"/>
                    </a:solidFill>
                  </a:tcPr>
                </a:tc>
                <a:tc>
                  <a:txBody>
                    <a:bodyPr/>
                    <a:lstStyle/>
                    <a:p>
                      <a:pPr algn="ctr"/>
                      <a:r>
                        <a:rPr sz="1000" b="1">
                          <a:solidFill>
                            <a:srgbClr val="FFFFFF"/>
                          </a:solidFill>
                          <a:latin typeface="Calibri"/>
                        </a:rPr>
                        <a:t>Blocks</a:t>
                      </a:r>
                    </a:p>
                  </a:txBody>
                  <a:tcPr marL="54864" marR="54864" marT="27432" marB="27432" anchor="ctr">
                    <a:solidFill>
                      <a:srgbClr val="D97A14"/>
                    </a:solidFill>
                  </a:tcPr>
                </a:tc>
                <a:tc>
                  <a:txBody>
                    <a:bodyPr/>
                    <a:lstStyle/>
                    <a:p>
                      <a:pPr algn="ctr"/>
                      <a:r>
                        <a:rPr sz="1000" b="0">
                          <a:solidFill>
                            <a:srgbClr val="6E655C"/>
                          </a:solidFill>
                          <a:latin typeface="Calibri"/>
                        </a:rPr>
                        <a:t>Toolkits</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32 / 42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Height, depth and confirmations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Example numbers: block 123,456 with five blocks on top</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 confirmation is one more block on top of yours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33 / 42</a:t>
            </a:r>
          </a:p>
        </p:txBody>
      </p:sp>
      <p:sp>
        <p:nvSpPr>
          <p:cNvPr id="8" name="Rounded Rectangle 7"/>
          <p:cNvSpPr/>
          <p:nvPr/>
        </p:nvSpPr>
        <p:spPr>
          <a:xfrm>
            <a:off x="457200" y="1371600"/>
            <a:ext cx="1188720" cy="502920"/>
          </a:xfrm>
          <a:prstGeom prst="roundRect">
            <a:avLst>
              <a:gd name="adj" fmla="val 15000"/>
            </a:avLst>
          </a:prstGeom>
          <a:solidFill>
            <a:srgbClr val="D97A14"/>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FFFFF"/>
                </a:solidFill>
                <a:latin typeface="Cambria"/>
              </a:rPr>
              <a:t>123,456</a:t>
            </a:r>
          </a:p>
        </p:txBody>
      </p:sp>
      <p:sp>
        <p:nvSpPr>
          <p:cNvPr id="9" name="TextBox 8"/>
          <p:cNvSpPr txBox="1"/>
          <p:nvPr/>
        </p:nvSpPr>
        <p:spPr>
          <a:xfrm>
            <a:off x="457200" y="1938528"/>
            <a:ext cx="1188720" cy="274320"/>
          </a:xfrm>
          <a:prstGeom prst="rect">
            <a:avLst/>
          </a:prstGeom>
          <a:noFill/>
        </p:spPr>
        <p:txBody>
          <a:bodyPr wrap="square" lIns="0" rIns="0" tIns="0" bIns="0" anchor="t">
            <a:spAutoFit/>
          </a:bodyPr>
          <a:lstStyle/>
          <a:p>
            <a:pPr algn="ctr"/>
            <a:r>
              <a:rPr sz="950" b="0" i="0">
                <a:solidFill>
                  <a:srgbClr val="6E655C"/>
                </a:solidFill>
                <a:latin typeface="Calibri"/>
              </a:rPr>
              <a:t>6 confirmations</a:t>
            </a:r>
          </a:p>
        </p:txBody>
      </p:sp>
      <p:cxnSp>
        <p:nvCxnSpPr>
          <p:cNvPr id="10" name="Connector 9"/>
          <p:cNvCxnSpPr/>
          <p:nvPr/>
        </p:nvCxnSpPr>
        <p:spPr>
          <a:xfrm flipH="1">
            <a:off x="1673352" y="1623060"/>
            <a:ext cx="256032"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956816" y="1371600"/>
            <a:ext cx="1188720" cy="502920"/>
          </a:xfrm>
          <a:prstGeom prst="roundRect">
            <a:avLst>
              <a:gd name="adj" fmla="val 15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2B2622"/>
                </a:solidFill>
                <a:latin typeface="Cambria"/>
              </a:rPr>
              <a:t>123,457</a:t>
            </a:r>
          </a:p>
        </p:txBody>
      </p:sp>
      <p:sp>
        <p:nvSpPr>
          <p:cNvPr id="12" name="TextBox 11"/>
          <p:cNvSpPr txBox="1"/>
          <p:nvPr/>
        </p:nvSpPr>
        <p:spPr>
          <a:xfrm>
            <a:off x="1956816" y="1938528"/>
            <a:ext cx="1188720" cy="274320"/>
          </a:xfrm>
          <a:prstGeom prst="rect">
            <a:avLst/>
          </a:prstGeom>
          <a:noFill/>
        </p:spPr>
        <p:txBody>
          <a:bodyPr wrap="square" lIns="0" rIns="0" tIns="0" bIns="0" anchor="t">
            <a:spAutoFit/>
          </a:bodyPr>
          <a:lstStyle/>
          <a:p>
            <a:pPr algn="ctr"/>
            <a:r>
              <a:rPr sz="950" b="0" i="0">
                <a:solidFill>
                  <a:srgbClr val="6E655C"/>
                </a:solidFill>
                <a:latin typeface="Calibri"/>
              </a:rPr>
              <a:t>5 confirmations</a:t>
            </a:r>
          </a:p>
        </p:txBody>
      </p:sp>
      <p:cxnSp>
        <p:nvCxnSpPr>
          <p:cNvPr id="13" name="Connector 12"/>
          <p:cNvCxnSpPr/>
          <p:nvPr/>
        </p:nvCxnSpPr>
        <p:spPr>
          <a:xfrm flipH="1">
            <a:off x="3172968" y="1623060"/>
            <a:ext cx="256032"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456432" y="1371600"/>
            <a:ext cx="1188720" cy="502920"/>
          </a:xfrm>
          <a:prstGeom prst="roundRect">
            <a:avLst>
              <a:gd name="adj" fmla="val 15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2B2622"/>
                </a:solidFill>
                <a:latin typeface="Cambria"/>
              </a:rPr>
              <a:t>123,458</a:t>
            </a:r>
          </a:p>
        </p:txBody>
      </p:sp>
      <p:sp>
        <p:nvSpPr>
          <p:cNvPr id="15" name="TextBox 14"/>
          <p:cNvSpPr txBox="1"/>
          <p:nvPr/>
        </p:nvSpPr>
        <p:spPr>
          <a:xfrm>
            <a:off x="3456432" y="1938528"/>
            <a:ext cx="1188720" cy="274320"/>
          </a:xfrm>
          <a:prstGeom prst="rect">
            <a:avLst/>
          </a:prstGeom>
          <a:noFill/>
        </p:spPr>
        <p:txBody>
          <a:bodyPr wrap="square" lIns="0" rIns="0" tIns="0" bIns="0" anchor="t">
            <a:spAutoFit/>
          </a:bodyPr>
          <a:lstStyle/>
          <a:p>
            <a:pPr algn="ctr"/>
            <a:r>
              <a:rPr sz="950" b="0" i="0">
                <a:solidFill>
                  <a:srgbClr val="6E655C"/>
                </a:solidFill>
                <a:latin typeface="Calibri"/>
              </a:rPr>
              <a:t>4 confirmations</a:t>
            </a:r>
          </a:p>
        </p:txBody>
      </p:sp>
      <p:cxnSp>
        <p:nvCxnSpPr>
          <p:cNvPr id="16" name="Connector 15"/>
          <p:cNvCxnSpPr/>
          <p:nvPr/>
        </p:nvCxnSpPr>
        <p:spPr>
          <a:xfrm flipH="1">
            <a:off x="4672584" y="1623060"/>
            <a:ext cx="256032"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956048" y="1371600"/>
            <a:ext cx="1188720" cy="502920"/>
          </a:xfrm>
          <a:prstGeom prst="roundRect">
            <a:avLst>
              <a:gd name="adj" fmla="val 15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2B2622"/>
                </a:solidFill>
                <a:latin typeface="Cambria"/>
              </a:rPr>
              <a:t>123,459</a:t>
            </a:r>
          </a:p>
        </p:txBody>
      </p:sp>
      <p:sp>
        <p:nvSpPr>
          <p:cNvPr id="18" name="TextBox 17"/>
          <p:cNvSpPr txBox="1"/>
          <p:nvPr/>
        </p:nvSpPr>
        <p:spPr>
          <a:xfrm>
            <a:off x="4956048" y="1938528"/>
            <a:ext cx="1188720" cy="274320"/>
          </a:xfrm>
          <a:prstGeom prst="rect">
            <a:avLst/>
          </a:prstGeom>
          <a:noFill/>
        </p:spPr>
        <p:txBody>
          <a:bodyPr wrap="square" lIns="0" rIns="0" tIns="0" bIns="0" anchor="t">
            <a:spAutoFit/>
          </a:bodyPr>
          <a:lstStyle/>
          <a:p>
            <a:pPr algn="ctr"/>
            <a:r>
              <a:rPr sz="950" b="0" i="0">
                <a:solidFill>
                  <a:srgbClr val="6E655C"/>
                </a:solidFill>
                <a:latin typeface="Calibri"/>
              </a:rPr>
              <a:t>3 confirmations</a:t>
            </a:r>
          </a:p>
        </p:txBody>
      </p:sp>
      <p:cxnSp>
        <p:nvCxnSpPr>
          <p:cNvPr id="19" name="Connector 18"/>
          <p:cNvCxnSpPr/>
          <p:nvPr/>
        </p:nvCxnSpPr>
        <p:spPr>
          <a:xfrm flipH="1">
            <a:off x="6172200" y="1623060"/>
            <a:ext cx="256031"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455664" y="1371600"/>
            <a:ext cx="1188720" cy="502920"/>
          </a:xfrm>
          <a:prstGeom prst="roundRect">
            <a:avLst>
              <a:gd name="adj" fmla="val 15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2B2622"/>
                </a:solidFill>
                <a:latin typeface="Cambria"/>
              </a:rPr>
              <a:t>123,460</a:t>
            </a:r>
          </a:p>
        </p:txBody>
      </p:sp>
      <p:sp>
        <p:nvSpPr>
          <p:cNvPr id="21" name="TextBox 20"/>
          <p:cNvSpPr txBox="1"/>
          <p:nvPr/>
        </p:nvSpPr>
        <p:spPr>
          <a:xfrm>
            <a:off x="6455664" y="1938528"/>
            <a:ext cx="1188720" cy="274320"/>
          </a:xfrm>
          <a:prstGeom prst="rect">
            <a:avLst/>
          </a:prstGeom>
          <a:noFill/>
        </p:spPr>
        <p:txBody>
          <a:bodyPr wrap="square" lIns="0" rIns="0" tIns="0" bIns="0" anchor="t">
            <a:spAutoFit/>
          </a:bodyPr>
          <a:lstStyle/>
          <a:p>
            <a:pPr algn="ctr"/>
            <a:r>
              <a:rPr sz="950" b="0" i="0">
                <a:solidFill>
                  <a:srgbClr val="6E655C"/>
                </a:solidFill>
                <a:latin typeface="Calibri"/>
              </a:rPr>
              <a:t>2 confirmations</a:t>
            </a:r>
          </a:p>
        </p:txBody>
      </p:sp>
      <p:cxnSp>
        <p:nvCxnSpPr>
          <p:cNvPr id="22" name="Connector 21"/>
          <p:cNvCxnSpPr/>
          <p:nvPr/>
        </p:nvCxnSpPr>
        <p:spPr>
          <a:xfrm flipH="1">
            <a:off x="7671816" y="1623060"/>
            <a:ext cx="256032"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955280" y="1371600"/>
            <a:ext cx="1188720" cy="502920"/>
          </a:xfrm>
          <a:prstGeom prst="roundRect">
            <a:avLst>
              <a:gd name="adj" fmla="val 15000"/>
            </a:avLst>
          </a:prstGeom>
          <a:solidFill>
            <a:srgbClr val="2F6D62"/>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FFFFF"/>
                </a:solidFill>
                <a:latin typeface="Cambria"/>
              </a:rPr>
              <a:t>123,461</a:t>
            </a:r>
          </a:p>
        </p:txBody>
      </p:sp>
      <p:sp>
        <p:nvSpPr>
          <p:cNvPr id="24" name="TextBox 23"/>
          <p:cNvSpPr txBox="1"/>
          <p:nvPr/>
        </p:nvSpPr>
        <p:spPr>
          <a:xfrm>
            <a:off x="7955280" y="1938528"/>
            <a:ext cx="1188720" cy="274320"/>
          </a:xfrm>
          <a:prstGeom prst="rect">
            <a:avLst/>
          </a:prstGeom>
          <a:noFill/>
        </p:spPr>
        <p:txBody>
          <a:bodyPr wrap="square" lIns="0" rIns="0" tIns="0" bIns="0" anchor="t">
            <a:spAutoFit/>
          </a:bodyPr>
          <a:lstStyle/>
          <a:p>
            <a:pPr algn="ctr"/>
            <a:r>
              <a:rPr sz="950" b="0" i="0">
                <a:solidFill>
                  <a:srgbClr val="6E655C"/>
                </a:solidFill>
                <a:latin typeface="Calibri"/>
              </a:rPr>
              <a:t>1 confirmation</a:t>
            </a:r>
          </a:p>
        </p:txBody>
      </p:sp>
      <p:sp>
        <p:nvSpPr>
          <p:cNvPr id="25" name="TextBox 24"/>
          <p:cNvSpPr txBox="1"/>
          <p:nvPr/>
        </p:nvSpPr>
        <p:spPr>
          <a:xfrm>
            <a:off x="457200" y="2286000"/>
            <a:ext cx="8229600" cy="274320"/>
          </a:xfrm>
          <a:prstGeom prst="rect">
            <a:avLst/>
          </a:prstGeom>
          <a:noFill/>
        </p:spPr>
        <p:txBody>
          <a:bodyPr wrap="square" lIns="0" rIns="0" tIns="0" bIns="0" anchor="t">
            <a:spAutoFit/>
          </a:bodyPr>
          <a:lstStyle/>
          <a:p>
            <a:pPr algn="l"/>
            <a:r>
              <a:rPr sz="1050" b="0" i="0">
                <a:solidFill>
                  <a:srgbClr val="6E655C"/>
                </a:solidFill>
                <a:latin typeface="Calibri"/>
              </a:rPr>
              <a:t>Each block points back to the one before it. The tip, 123,461, has one confirmation: itself.</a:t>
            </a:r>
          </a:p>
        </p:txBody>
      </p:sp>
      <p:sp>
        <p:nvSpPr>
          <p:cNvPr id="26" name="Rounded Rectangle 25"/>
          <p:cNvSpPr/>
          <p:nvPr/>
        </p:nvSpPr>
        <p:spPr>
          <a:xfrm>
            <a:off x="457200" y="2743200"/>
            <a:ext cx="4023360" cy="1737360"/>
          </a:xfrm>
          <a:prstGeom prst="roundRect">
            <a:avLst>
              <a:gd name="adj" fmla="val 6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27" name="Rectangle 26"/>
          <p:cNvSpPr/>
          <p:nvPr/>
        </p:nvSpPr>
        <p:spPr>
          <a:xfrm>
            <a:off x="502920" y="2852928"/>
            <a:ext cx="64008" cy="151790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28" name="TextBox 27"/>
          <p:cNvSpPr txBox="1"/>
          <p:nvPr/>
        </p:nvSpPr>
        <p:spPr>
          <a:xfrm>
            <a:off x="704088" y="2816352"/>
            <a:ext cx="3657600" cy="914400"/>
          </a:xfrm>
          <a:prstGeom prst="rect">
            <a:avLst/>
          </a:prstGeom>
          <a:noFill/>
        </p:spPr>
        <p:txBody>
          <a:bodyPr wrap="square" lIns="0" rIns="0" tIns="0" bIns="0" anchor="t">
            <a:spAutoFit/>
          </a:bodyPr>
          <a:lstStyle/>
          <a:p>
            <a:pPr algn="l"/>
            <a:r>
              <a:rPr sz="1400" b="1" i="0">
                <a:solidFill>
                  <a:srgbClr val="2B2622"/>
                </a:solidFill>
                <a:latin typeface="Cambria"/>
              </a:rPr>
              <a:t>Block height</a:t>
            </a:r>
          </a:p>
          <a:p>
            <a:pPr algn="l"/>
            <a:r>
              <a:rPr sz="1150" b="0" i="0">
                <a:solidFill>
                  <a:srgbClr val="2B2622"/>
                </a:solidFill>
                <a:latin typeface="Calibri"/>
              </a:rPr>
              <a:t>The place of a block in the chain, counted from zero at the first block.</a:t>
            </a:r>
          </a:p>
        </p:txBody>
      </p:sp>
      <p:sp>
        <p:nvSpPr>
          <p:cNvPr id="29" name="TextBox 28"/>
          <p:cNvSpPr txBox="1"/>
          <p:nvPr/>
        </p:nvSpPr>
        <p:spPr>
          <a:xfrm>
            <a:off x="704088" y="3840480"/>
            <a:ext cx="3657600" cy="548640"/>
          </a:xfrm>
          <a:prstGeom prst="rect">
            <a:avLst/>
          </a:prstGeom>
          <a:noFill/>
        </p:spPr>
        <p:txBody>
          <a:bodyPr wrap="square" lIns="0" rIns="0" tIns="0" bIns="0" anchor="t">
            <a:spAutoFit/>
          </a:bodyPr>
          <a:lstStyle/>
          <a:p>
            <a:pPr algn="l"/>
            <a:r>
              <a:rPr sz="1150" b="0" i="1">
                <a:solidFill>
                  <a:srgbClr val="D97A14"/>
                </a:solidFill>
                <a:latin typeface="Calibri"/>
              </a:rPr>
              <a:t>Think of a page number in a very long book.</a:t>
            </a:r>
          </a:p>
        </p:txBody>
      </p:sp>
      <p:sp>
        <p:nvSpPr>
          <p:cNvPr id="30" name="Rounded Rectangle 29"/>
          <p:cNvSpPr/>
          <p:nvPr/>
        </p:nvSpPr>
        <p:spPr>
          <a:xfrm>
            <a:off x="4663440" y="2743200"/>
            <a:ext cx="4023360" cy="1737360"/>
          </a:xfrm>
          <a:prstGeom prst="roundRect">
            <a:avLst>
              <a:gd name="adj" fmla="val 6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31" name="Rectangle 30"/>
          <p:cNvSpPr/>
          <p:nvPr/>
        </p:nvSpPr>
        <p:spPr>
          <a:xfrm>
            <a:off x="4709159" y="2852928"/>
            <a:ext cx="64008" cy="151790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32" name="TextBox 31"/>
          <p:cNvSpPr txBox="1"/>
          <p:nvPr/>
        </p:nvSpPr>
        <p:spPr>
          <a:xfrm>
            <a:off x="4910327" y="2816352"/>
            <a:ext cx="3657600" cy="914400"/>
          </a:xfrm>
          <a:prstGeom prst="rect">
            <a:avLst/>
          </a:prstGeom>
          <a:noFill/>
        </p:spPr>
        <p:txBody>
          <a:bodyPr wrap="square" lIns="0" rIns="0" tIns="0" bIns="0" anchor="t">
            <a:spAutoFit/>
          </a:bodyPr>
          <a:lstStyle/>
          <a:p>
            <a:pPr algn="l"/>
            <a:r>
              <a:rPr sz="1400" b="1" i="0">
                <a:solidFill>
                  <a:srgbClr val="2B2622"/>
                </a:solidFill>
                <a:latin typeface="Cambria"/>
              </a:rPr>
              <a:t>Confirmations</a:t>
            </a:r>
          </a:p>
          <a:p>
            <a:pPr algn="l"/>
            <a:r>
              <a:rPr sz="1150" b="0" i="0">
                <a:solidFill>
                  <a:srgbClr val="2B2622"/>
                </a:solidFill>
                <a:latin typeface="Calibri"/>
              </a:rPr>
              <a:t>The number of blocks from yours to the tip, yours included.</a:t>
            </a:r>
          </a:p>
        </p:txBody>
      </p:sp>
      <p:sp>
        <p:nvSpPr>
          <p:cNvPr id="33" name="TextBox 32"/>
          <p:cNvSpPr txBox="1"/>
          <p:nvPr/>
        </p:nvSpPr>
        <p:spPr>
          <a:xfrm>
            <a:off x="4910327" y="3840480"/>
            <a:ext cx="3657600" cy="548640"/>
          </a:xfrm>
          <a:prstGeom prst="rect">
            <a:avLst/>
          </a:prstGeom>
          <a:noFill/>
        </p:spPr>
        <p:txBody>
          <a:bodyPr wrap="square" lIns="0" rIns="0" tIns="0" bIns="0" anchor="t">
            <a:spAutoFit/>
          </a:bodyPr>
          <a:lstStyle/>
          <a:p>
            <a:pPr algn="l"/>
            <a:r>
              <a:rPr sz="1150" b="0" i="1">
                <a:solidFill>
                  <a:srgbClr val="D97A14"/>
                </a:solidFill>
                <a:latin typeface="Calibri"/>
              </a:rPr>
              <a:t>Think of witnesses who sign a contract one after another.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A block's name is the hash of its header</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block hash and the block height of block 123,456</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a fingerprint taken from the page's header line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34 / 42</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b = T.BLOCK_123456</a:t>
            </a:r>
          </a:p>
          <a:p>
            <a:pPr algn="l"/>
            <a:r>
              <a:rPr sz="1000" b="1" i="0">
                <a:solidFill>
                  <a:srgbClr val="F2A860"/>
                </a:solidFill>
                <a:latin typeface="Courier New"/>
              </a:rPr>
              <a:t>&gt;&gt;&gt; </a:t>
            </a:r>
            <a:r>
              <a:rPr sz="1000" b="0" i="0">
                <a:solidFill>
                  <a:srgbClr val="E6EDF3"/>
                </a:solidFill>
                <a:latin typeface="Courier New"/>
              </a:rPr>
              <a:t>h = T.header(b)</a:t>
            </a:r>
          </a:p>
        </p:txBody>
      </p:sp>
      <p:sp>
        <p:nvSpPr>
          <p:cNvPr id="11" name="TextBox 10"/>
          <p:cNvSpPr txBox="1"/>
          <p:nvPr/>
        </p:nvSpPr>
        <p:spPr>
          <a:xfrm>
            <a:off x="603504" y="22463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name = T.hash256(h)[::-</a:t>
            </a:r>
            <a:r>
              <a:rPr sz="1000" b="0" i="0">
                <a:solidFill>
                  <a:srgbClr val="FFD28A"/>
                </a:solidFill>
                <a:latin typeface="Courier New"/>
              </a:rPr>
              <a:t>1</a:t>
            </a:r>
            <a:r>
              <a:rPr sz="1000" b="0" i="0">
                <a:solidFill>
                  <a:srgbClr val="E6EDF3"/>
                </a:solidFill>
                <a:latin typeface="Courier New"/>
              </a:rPr>
              <a:t>].hex()</a:t>
            </a:r>
          </a:p>
          <a:p>
            <a:pPr algn="l"/>
            <a:r>
              <a:rPr sz="1000" b="1" i="0">
                <a:solidFill>
                  <a:srgbClr val="F2A860"/>
                </a:solidFill>
                <a:latin typeface="Courier New"/>
              </a:rPr>
              <a:t>&gt;&gt;&gt; </a:t>
            </a:r>
            <a:r>
              <a:rPr sz="1000" b="0" i="0">
                <a:solidFill>
                  <a:srgbClr val="E6EDF3"/>
                </a:solidFill>
                <a:latin typeface="Courier New"/>
              </a:rPr>
              <a:t>(len(h), name == b[</a:t>
            </a:r>
            <a:r>
              <a:rPr sz="1000" b="0" i="0">
                <a:solidFill>
                  <a:srgbClr val="9ECBFF"/>
                </a:solidFill>
                <a:latin typeface="Courier New"/>
              </a:rPr>
              <a:t>'id'</a:t>
            </a:r>
            <a:r>
              <a:rPr sz="1000" b="0" i="0">
                <a:solidFill>
                  <a:srgbClr val="E6EDF3"/>
                </a:solidFill>
                <a:latin typeface="Courier New"/>
              </a:rPr>
              <a:t>], name[:</a:t>
            </a:r>
            <a:r>
              <a:rPr sz="1000" b="0" i="0">
                <a:solidFill>
                  <a:srgbClr val="FFD28A"/>
                </a:solidFill>
                <a:latin typeface="Courier New"/>
              </a:rPr>
              <a:t>24</a:t>
            </a:r>
            <a:r>
              <a:rPr sz="1000" b="0" i="0">
                <a:solidFill>
                  <a:srgbClr val="E6EDF3"/>
                </a:solidFill>
                <a:latin typeface="Courier New"/>
              </a:rPr>
              <a:t>])</a:t>
            </a:r>
          </a:p>
          <a:p>
            <a:pPr algn="l"/>
            <a:r>
              <a:rPr sz="1000" b="0" i="0">
                <a:solidFill>
                  <a:srgbClr val="7EE787"/>
                </a:solidFill>
                <a:latin typeface="Courier New"/>
              </a:rPr>
              <a:t>(80, True, '0000000000002917ed80650c')</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Block 123,456 as saved from a public API; its header packs into 80 bytes.</a:t>
            </a:r>
          </a:p>
        </p:txBody>
      </p:sp>
      <p:sp>
        <p:nvSpPr>
          <p:cNvPr id="13" name="TextBox 12"/>
          <p:cNvSpPr txBox="1"/>
          <p:nvPr/>
        </p:nvSpPr>
        <p:spPr>
          <a:xfrm>
            <a:off x="457200" y="2868168"/>
            <a:ext cx="5212080" cy="371855"/>
          </a:xfrm>
          <a:prstGeom prst="rect">
            <a:avLst/>
          </a:prstGeom>
          <a:noFill/>
        </p:spPr>
        <p:txBody>
          <a:bodyPr wrap="square" lIns="0" rIns="0" tIns="0" bIns="0" anchor="t">
            <a:spAutoFit/>
          </a:bodyPr>
          <a:lstStyle/>
          <a:p>
            <a:pPr algn="l"/>
            <a:r>
              <a:rPr sz="1100" b="0" i="0">
                <a:solidFill>
                  <a:srgbClr val="2B2622"/>
                </a:solidFill>
                <a:latin typeface="Calibri"/>
              </a:rPr>
              <a:t>Hash the header twice and reverse the bytes: the block's own name, with its zeros in front.</a:t>
            </a:r>
          </a:p>
        </p:txBody>
      </p:sp>
      <p:sp>
        <p:nvSpPr>
          <p:cNvPr id="14" name="TextBox 13"/>
          <p:cNvSpPr txBox="1"/>
          <p:nvPr/>
        </p:nvSpPr>
        <p:spPr>
          <a:xfrm>
            <a:off x="457200" y="3313175"/>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Recorded data: block 123,456 saved from a public API - T is the chapter library</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six fields of the header</a:t>
            </a:r>
          </a:p>
        </p:txBody>
      </p:sp>
      <p:graphicFrame>
        <p:nvGraphicFramePr>
          <p:cNvPr id="16" name="Table 15"/>
          <p:cNvGraphicFramePr>
            <a:graphicFrameLocks noGrp="1"/>
          </p:cNvGraphicFramePr>
          <p:nvPr/>
        </p:nvGraphicFramePr>
        <p:xfrm>
          <a:off x="5852160" y="1691640"/>
          <a:ext cx="2834640" cy="1792224"/>
        </p:xfrm>
        <a:graphic>
          <a:graphicData uri="http://schemas.openxmlformats.org/drawingml/2006/table">
            <a:tbl>
              <a:tblPr firstRow="1" bandRow="1">
                <a:tableStyleId>{5C22544A-7EE6-4342-B048-85BDC9FD1C3A}</a:tableStyleId>
              </a:tblPr>
              <a:tblGrid>
                <a:gridCol w="1188720"/>
                <a:gridCol w="548640"/>
                <a:gridCol w="1097280"/>
              </a:tblGrid>
              <a:tr h="256032">
                <a:tc>
                  <a:txBody>
                    <a:bodyPr/>
                    <a:lstStyle/>
                    <a:p>
                      <a:pPr algn="l"/>
                      <a:r>
                        <a:rPr sz="950" b="1">
                          <a:solidFill>
                            <a:srgbClr val="FFFFFF"/>
                          </a:solidFill>
                          <a:latin typeface="Calibri"/>
                        </a:rPr>
                        <a:t>Field</a:t>
                      </a:r>
                    </a:p>
                  </a:txBody>
                  <a:tcPr marL="54864" marR="54864" marT="27432" marB="27432" anchor="ctr">
                    <a:solidFill>
                      <a:srgbClr val="2F6D62"/>
                    </a:solidFill>
                  </a:tcPr>
                </a:tc>
                <a:tc>
                  <a:txBody>
                    <a:bodyPr/>
                    <a:lstStyle/>
                    <a:p>
                      <a:pPr algn="ctr"/>
                      <a:r>
                        <a:rPr sz="950" b="1">
                          <a:solidFill>
                            <a:srgbClr val="FFFFFF"/>
                          </a:solidFill>
                          <a:latin typeface="Calibri"/>
                        </a:rPr>
                        <a:t>Bytes</a:t>
                      </a:r>
                    </a:p>
                  </a:txBody>
                  <a:tcPr marL="54864" marR="54864" marT="27432" marB="27432" anchor="ctr">
                    <a:solidFill>
                      <a:srgbClr val="2F6D62"/>
                    </a:solidFill>
                  </a:tcPr>
                </a:tc>
                <a:tc>
                  <a:txBody>
                    <a:bodyPr/>
                    <a:lstStyle/>
                    <a:p>
                      <a:pPr algn="l"/>
                      <a:r>
                        <a:rPr sz="950" b="1">
                          <a:solidFill>
                            <a:srgbClr val="FFFFFF"/>
                          </a:solidFill>
                          <a:latin typeface="Calibri"/>
                        </a:rPr>
                        <a:t>Starts with</a:t>
                      </a:r>
                    </a:p>
                  </a:txBody>
                  <a:tcPr marL="54864" marR="54864" marT="27432" marB="27432" anchor="ctr">
                    <a:solidFill>
                      <a:srgbClr val="2F6D62"/>
                    </a:solidFill>
                  </a:tcPr>
                </a:tc>
              </a:tr>
              <a:tr h="256032">
                <a:tc>
                  <a:txBody>
                    <a:bodyPr/>
                    <a:lstStyle/>
                    <a:p>
                      <a:pPr algn="l"/>
                      <a:r>
                        <a:rPr sz="950" b="0">
                          <a:solidFill>
                            <a:srgbClr val="2B2622"/>
                          </a:solidFill>
                          <a:latin typeface="Calibri"/>
                        </a:rPr>
                        <a:t>version</a:t>
                      </a:r>
                    </a:p>
                  </a:txBody>
                  <a:tcPr marL="54864" marR="54864" marT="27432" marB="27432" anchor="ctr">
                    <a:solidFill>
                      <a:srgbClr val="FFFFFF"/>
                    </a:solidFill>
                  </a:tcPr>
                </a:tc>
                <a:tc>
                  <a:txBody>
                    <a:bodyPr/>
                    <a:lstStyle/>
                    <a:p>
                      <a:pPr algn="ctr"/>
                      <a:r>
                        <a:rPr sz="950" b="0">
                          <a:solidFill>
                            <a:srgbClr val="2B2622"/>
                          </a:solidFill>
                          <a:latin typeface="Calibri"/>
                        </a:rPr>
                        <a:t>4</a:t>
                      </a:r>
                    </a:p>
                  </a:txBody>
                  <a:tcPr marL="54864" marR="54864" marT="27432" marB="27432" anchor="ctr">
                    <a:solidFill>
                      <a:srgbClr val="FFFFFF"/>
                    </a:solidFill>
                  </a:tcPr>
                </a:tc>
                <a:tc>
                  <a:txBody>
                    <a:bodyPr/>
                    <a:lstStyle/>
                    <a:p>
                      <a:pPr algn="l"/>
                      <a:r>
                        <a:rPr sz="950" b="0">
                          <a:solidFill>
                            <a:srgbClr val="2B2622"/>
                          </a:solidFill>
                          <a:latin typeface="Calibri"/>
                        </a:rPr>
                        <a:t>01000000</a:t>
                      </a:r>
                    </a:p>
                  </a:txBody>
                  <a:tcPr marL="54864" marR="54864" marT="27432" marB="27432" anchor="ctr">
                    <a:solidFill>
                      <a:srgbClr val="FFFFFF"/>
                    </a:solidFill>
                  </a:tcPr>
                </a:tc>
              </a:tr>
              <a:tr h="256032">
                <a:tc>
                  <a:txBody>
                    <a:bodyPr/>
                    <a:lstStyle/>
                    <a:p>
                      <a:pPr algn="l"/>
                      <a:r>
                        <a:rPr sz="950" b="0">
                          <a:solidFill>
                            <a:srgbClr val="2B2622"/>
                          </a:solidFill>
                          <a:latin typeface="Calibri"/>
                        </a:rPr>
                        <a:t>previous block</a:t>
                      </a:r>
                    </a:p>
                  </a:txBody>
                  <a:tcPr marL="54864" marR="54864" marT="27432" marB="27432" anchor="ctr">
                    <a:solidFill>
                      <a:srgbClr val="F2ECE1"/>
                    </a:solidFill>
                  </a:tcPr>
                </a:tc>
                <a:tc>
                  <a:txBody>
                    <a:bodyPr/>
                    <a:lstStyle/>
                    <a:p>
                      <a:pPr algn="ctr"/>
                      <a:r>
                        <a:rPr sz="950" b="0">
                          <a:solidFill>
                            <a:srgbClr val="2B2622"/>
                          </a:solidFill>
                          <a:latin typeface="Calibri"/>
                        </a:rPr>
                        <a:t>32</a:t>
                      </a:r>
                    </a:p>
                  </a:txBody>
                  <a:tcPr marL="54864" marR="54864" marT="27432" marB="27432" anchor="ctr">
                    <a:solidFill>
                      <a:srgbClr val="F2ECE1"/>
                    </a:solidFill>
                  </a:tcPr>
                </a:tc>
                <a:tc>
                  <a:txBody>
                    <a:bodyPr/>
                    <a:lstStyle/>
                    <a:p>
                      <a:pPr algn="l"/>
                      <a:r>
                        <a:rPr sz="950" b="0">
                          <a:solidFill>
                            <a:srgbClr val="2B2622"/>
                          </a:solidFill>
                          <a:latin typeface="Calibri"/>
                        </a:rPr>
                        <a:t>9500c43a</a:t>
                      </a:r>
                    </a:p>
                  </a:txBody>
                  <a:tcPr marL="54864" marR="54864" marT="27432" marB="27432" anchor="ctr">
                    <a:solidFill>
                      <a:srgbClr val="F2ECE1"/>
                    </a:solidFill>
                  </a:tcPr>
                </a:tc>
              </a:tr>
              <a:tr h="256032">
                <a:tc>
                  <a:txBody>
                    <a:bodyPr/>
                    <a:lstStyle/>
                    <a:p>
                      <a:pPr algn="l"/>
                      <a:r>
                        <a:rPr sz="950" b="0">
                          <a:solidFill>
                            <a:srgbClr val="2B2622"/>
                          </a:solidFill>
                          <a:latin typeface="Calibri"/>
                        </a:rPr>
                        <a:t>merkle root</a:t>
                      </a:r>
                    </a:p>
                  </a:txBody>
                  <a:tcPr marL="54864" marR="54864" marT="27432" marB="27432" anchor="ctr">
                    <a:solidFill>
                      <a:srgbClr val="FFFFFF"/>
                    </a:solidFill>
                  </a:tcPr>
                </a:tc>
                <a:tc>
                  <a:txBody>
                    <a:bodyPr/>
                    <a:lstStyle/>
                    <a:p>
                      <a:pPr algn="ctr"/>
                      <a:r>
                        <a:rPr sz="950" b="0">
                          <a:solidFill>
                            <a:srgbClr val="2B2622"/>
                          </a:solidFill>
                          <a:latin typeface="Calibri"/>
                        </a:rPr>
                        <a:t>32</a:t>
                      </a:r>
                    </a:p>
                  </a:txBody>
                  <a:tcPr marL="54864" marR="54864" marT="27432" marB="27432" anchor="ctr">
                    <a:solidFill>
                      <a:srgbClr val="FFFFFF"/>
                    </a:solidFill>
                  </a:tcPr>
                </a:tc>
                <a:tc>
                  <a:txBody>
                    <a:bodyPr/>
                    <a:lstStyle/>
                    <a:p>
                      <a:pPr algn="l"/>
                      <a:r>
                        <a:rPr sz="950" b="0">
                          <a:solidFill>
                            <a:srgbClr val="2B2622"/>
                          </a:solidFill>
                          <a:latin typeface="Calibri"/>
                        </a:rPr>
                        <a:t>6cd86237</a:t>
                      </a:r>
                    </a:p>
                  </a:txBody>
                  <a:tcPr marL="54864" marR="54864" marT="27432" marB="27432" anchor="ctr">
                    <a:solidFill>
                      <a:srgbClr val="FFFFFF"/>
                    </a:solidFill>
                  </a:tcPr>
                </a:tc>
              </a:tr>
              <a:tr h="256032">
                <a:tc>
                  <a:txBody>
                    <a:bodyPr/>
                    <a:lstStyle/>
                    <a:p>
                      <a:pPr algn="l"/>
                      <a:r>
                        <a:rPr sz="950" b="0">
                          <a:solidFill>
                            <a:srgbClr val="2B2622"/>
                          </a:solidFill>
                          <a:latin typeface="Calibri"/>
                        </a:rPr>
                        <a:t>time</a:t>
                      </a:r>
                    </a:p>
                  </a:txBody>
                  <a:tcPr marL="54864" marR="54864" marT="27432" marB="27432" anchor="ctr">
                    <a:solidFill>
                      <a:srgbClr val="F2ECE1"/>
                    </a:solidFill>
                  </a:tcPr>
                </a:tc>
                <a:tc>
                  <a:txBody>
                    <a:bodyPr/>
                    <a:lstStyle/>
                    <a:p>
                      <a:pPr algn="ctr"/>
                      <a:r>
                        <a:rPr sz="950" b="0">
                          <a:solidFill>
                            <a:srgbClr val="2B2622"/>
                          </a:solidFill>
                          <a:latin typeface="Calibri"/>
                        </a:rPr>
                        <a:t>4</a:t>
                      </a:r>
                    </a:p>
                  </a:txBody>
                  <a:tcPr marL="54864" marR="54864" marT="27432" marB="27432" anchor="ctr">
                    <a:solidFill>
                      <a:srgbClr val="F2ECE1"/>
                    </a:solidFill>
                  </a:tcPr>
                </a:tc>
                <a:tc>
                  <a:txBody>
                    <a:bodyPr/>
                    <a:lstStyle/>
                    <a:p>
                      <a:pPr algn="l"/>
                      <a:r>
                        <a:rPr sz="950" b="0">
                          <a:solidFill>
                            <a:srgbClr val="2B2622"/>
                          </a:solidFill>
                          <a:latin typeface="Calibri"/>
                        </a:rPr>
                        <a:t>a6c8cb4d</a:t>
                      </a:r>
                    </a:p>
                  </a:txBody>
                  <a:tcPr marL="54864" marR="54864" marT="27432" marB="27432" anchor="ctr">
                    <a:solidFill>
                      <a:srgbClr val="F2ECE1"/>
                    </a:solidFill>
                  </a:tcPr>
                </a:tc>
              </a:tr>
              <a:tr h="256032">
                <a:tc>
                  <a:txBody>
                    <a:bodyPr/>
                    <a:lstStyle/>
                    <a:p>
                      <a:pPr algn="l"/>
                      <a:r>
                        <a:rPr sz="950" b="0">
                          <a:solidFill>
                            <a:srgbClr val="2B2622"/>
                          </a:solidFill>
                          <a:latin typeface="Calibri"/>
                        </a:rPr>
                        <a:t>bits</a:t>
                      </a:r>
                    </a:p>
                  </a:txBody>
                  <a:tcPr marL="54864" marR="54864" marT="27432" marB="27432" anchor="ctr">
                    <a:solidFill>
                      <a:srgbClr val="FFFFFF"/>
                    </a:solidFill>
                  </a:tcPr>
                </a:tc>
                <a:tc>
                  <a:txBody>
                    <a:bodyPr/>
                    <a:lstStyle/>
                    <a:p>
                      <a:pPr algn="ctr"/>
                      <a:r>
                        <a:rPr sz="950" b="0">
                          <a:solidFill>
                            <a:srgbClr val="2B2622"/>
                          </a:solidFill>
                          <a:latin typeface="Calibri"/>
                        </a:rPr>
                        <a:t>4</a:t>
                      </a:r>
                    </a:p>
                  </a:txBody>
                  <a:tcPr marL="54864" marR="54864" marT="27432" marB="27432" anchor="ctr">
                    <a:solidFill>
                      <a:srgbClr val="FFFFFF"/>
                    </a:solidFill>
                  </a:tcPr>
                </a:tc>
                <a:tc>
                  <a:txBody>
                    <a:bodyPr/>
                    <a:lstStyle/>
                    <a:p>
                      <a:pPr algn="l"/>
                      <a:r>
                        <a:rPr sz="950" b="0">
                          <a:solidFill>
                            <a:srgbClr val="2B2622"/>
                          </a:solidFill>
                          <a:latin typeface="Calibri"/>
                        </a:rPr>
                        <a:t>b3936a1a</a:t>
                      </a:r>
                    </a:p>
                  </a:txBody>
                  <a:tcPr marL="54864" marR="54864" marT="27432" marB="27432" anchor="ctr">
                    <a:solidFill>
                      <a:srgbClr val="FFFFFF"/>
                    </a:solidFill>
                  </a:tcPr>
                </a:tc>
              </a:tr>
              <a:tr h="256032">
                <a:tc>
                  <a:txBody>
                    <a:bodyPr/>
                    <a:lstStyle/>
                    <a:p>
                      <a:pPr algn="l"/>
                      <a:r>
                        <a:rPr sz="950" b="0">
                          <a:solidFill>
                            <a:srgbClr val="2B2622"/>
                          </a:solidFill>
                          <a:latin typeface="Calibri"/>
                        </a:rPr>
                        <a:t>nonce</a:t>
                      </a:r>
                    </a:p>
                  </a:txBody>
                  <a:tcPr marL="54864" marR="54864" marT="27432" marB="27432" anchor="ctr">
                    <a:solidFill>
                      <a:srgbClr val="F2ECE1"/>
                    </a:solidFill>
                  </a:tcPr>
                </a:tc>
                <a:tc>
                  <a:txBody>
                    <a:bodyPr/>
                    <a:lstStyle/>
                    <a:p>
                      <a:pPr algn="ctr"/>
                      <a:r>
                        <a:rPr sz="950" b="0">
                          <a:solidFill>
                            <a:srgbClr val="2B2622"/>
                          </a:solidFill>
                          <a:latin typeface="Calibri"/>
                        </a:rPr>
                        <a:t>4</a:t>
                      </a:r>
                    </a:p>
                  </a:txBody>
                  <a:tcPr marL="54864" marR="54864" marT="27432" marB="27432" anchor="ctr">
                    <a:solidFill>
                      <a:srgbClr val="F2ECE1"/>
                    </a:solidFill>
                  </a:tcPr>
                </a:tc>
                <a:tc>
                  <a:txBody>
                    <a:bodyPr/>
                    <a:lstStyle/>
                    <a:p>
                      <a:pPr algn="l"/>
                      <a:r>
                        <a:rPr sz="950" b="0">
                          <a:solidFill>
                            <a:srgbClr val="2B2622"/>
                          </a:solidFill>
                          <a:latin typeface="Calibri"/>
                        </a:rPr>
                        <a:t>e3143991</a:t>
                      </a:r>
                    </a:p>
                  </a:txBody>
                  <a:tcPr marL="54864" marR="54864" marT="27432" marB="27432" anchor="ctr">
                    <a:solidFill>
                      <a:srgbClr val="F2ECE1"/>
                    </a:solidFill>
                  </a:tcPr>
                </a:tc>
              </a:tr>
            </a:tbl>
          </a:graphicData>
        </a:graphic>
      </p:graphicFrame>
      <p:sp>
        <p:nvSpPr>
          <p:cNvPr id="17" name="TextBox 16"/>
          <p:cNvSpPr txBox="1"/>
          <p:nvPr/>
        </p:nvSpPr>
        <p:spPr>
          <a:xfrm>
            <a:off x="5852160" y="3593592"/>
            <a:ext cx="2834640" cy="685800"/>
          </a:xfrm>
          <a:prstGeom prst="rect">
            <a:avLst/>
          </a:prstGeom>
          <a:noFill/>
        </p:spPr>
        <p:txBody>
          <a:bodyPr wrap="square" lIns="0" rIns="0" tIns="0" bIns="0" anchor="t">
            <a:spAutoFit/>
          </a:bodyPr>
          <a:lstStyle/>
          <a:p>
            <a:pPr algn="l"/>
            <a:r>
              <a:rPr sz="1100" b="0" i="0">
                <a:solidFill>
                  <a:srgbClr val="2B2622"/>
                </a:solidFill>
                <a:latin typeface="Calibri"/>
              </a:rPr>
              <a:t>Hashed twice and reversed: 0000000000002917ed... equals the saved id: True.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Rebuilding the merkle root</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One hash that commits to every transaction of the block</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a tournament bracket: pairs play, winners meet, one champion remains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35 / 42</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ids = T.TXIDS_123456</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root, sizes = T.merkle(ids)</a:t>
            </a:r>
          </a:p>
          <a:p>
            <a:pPr algn="l"/>
            <a:r>
              <a:rPr sz="1000" b="1" i="0">
                <a:solidFill>
                  <a:srgbClr val="F2A860"/>
                </a:solidFill>
                <a:latin typeface="Courier New"/>
              </a:rPr>
              <a:t>&gt;&gt;&gt; </a:t>
            </a:r>
            <a:r>
              <a:rPr sz="1000" b="0" i="0">
                <a:solidFill>
                  <a:srgbClr val="E6EDF3"/>
                </a:solidFill>
                <a:latin typeface="Courier New"/>
              </a:rPr>
              <a:t>(root[:</a:t>
            </a:r>
            <a:r>
              <a:rPr sz="1000" b="0" i="0">
                <a:solidFill>
                  <a:srgbClr val="FFD28A"/>
                </a:solidFill>
                <a:latin typeface="Courier New"/>
              </a:rPr>
              <a:t>16</a:t>
            </a:r>
            <a:r>
              <a:rPr sz="1000" b="0" i="0">
                <a:solidFill>
                  <a:srgbClr val="E6EDF3"/>
                </a:solidFill>
                <a:latin typeface="Courier New"/>
              </a:rPr>
              <a:t>], sizes)</a:t>
            </a:r>
          </a:p>
          <a:p>
            <a:pPr algn="l"/>
            <a:r>
              <a:rPr sz="1000" b="0" i="0">
                <a:solidFill>
                  <a:srgbClr val="7EE787"/>
                </a:solidFill>
                <a:latin typeface="Courier New"/>
              </a:rPr>
              <a:t>('0e60651a9934e8f0', [13, 7, 4, 2, 1])</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13 transactions of block 123,456, as their ids.</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Hash neighbours in pairs, level after level, until one hash is left: the merkle root.</a:t>
            </a:r>
          </a:p>
        </p:txBody>
      </p:sp>
      <p:sp>
        <p:nvSpPr>
          <p:cNvPr id="14" name="TextBox 13"/>
          <p:cNvSpPr txBox="1"/>
          <p:nvPr/>
        </p:nvSpPr>
        <p:spPr>
          <a:xfrm>
            <a:off x="457200" y="316077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Recorded data: block 123,456 saved from a public API - T is the chapter library</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hashes left on each level</a:t>
            </a:r>
          </a:p>
        </p:txBody>
      </p:sp>
      <p:graphicFrame>
        <p:nvGraphicFramePr>
          <p:cNvPr id="16" name="Chart 15"/>
          <p:cNvGraphicFramePr>
            <a:graphicFrameLocks noGrp="1"/>
          </p:cNvGraphicFramePr>
          <p:nvPr/>
        </p:nvGraphicFramePr>
        <p:xfrm>
          <a:off x="5852160" y="1691640"/>
          <a:ext cx="2834640" cy="205740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858768"/>
            <a:ext cx="2834640" cy="685800"/>
          </a:xfrm>
          <a:prstGeom prst="rect">
            <a:avLst/>
          </a:prstGeom>
          <a:noFill/>
        </p:spPr>
        <p:txBody>
          <a:bodyPr wrap="square" lIns="0" rIns="0" tIns="0" bIns="0" anchor="t">
            <a:spAutoFit/>
          </a:bodyPr>
          <a:lstStyle/>
          <a:p>
            <a:pPr algn="l"/>
            <a:r>
              <a:rPr sz="1100" b="0" i="0">
                <a:solidFill>
                  <a:srgbClr val="2B2622"/>
                </a:solidFill>
                <a:latin typeface="Calibri"/>
              </a:rPr>
              <a:t>The single hash at the top equals the root saved in the block: True.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Median time of the last eleven blocks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Block timestamps are guesses; the median time is not</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a median price that one odd sale cannot move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36 / 42</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t = T.BLOCK_TIMES</a:t>
            </a:r>
          </a:p>
          <a:p>
            <a:pPr algn="l"/>
            <a:r>
              <a:rPr sz="1000" b="1" i="0">
                <a:solidFill>
                  <a:srgbClr val="F2A860"/>
                </a:solidFill>
                <a:latin typeface="Courier New"/>
              </a:rPr>
              <a:t>&gt;&gt;&gt; </a:t>
            </a:r>
            <a:r>
              <a:rPr sz="1000" b="0" i="0">
                <a:solidFill>
                  <a:srgbClr val="E6EDF3"/>
                </a:solidFill>
                <a:latin typeface="Courier New"/>
              </a:rPr>
              <a:t>window = [t[h] </a:t>
            </a:r>
            <a:r>
              <a:rPr sz="1000" b="1" i="0">
                <a:solidFill>
                  <a:srgbClr val="F2A860"/>
                </a:solidFill>
                <a:latin typeface="Courier New"/>
              </a:rPr>
              <a:t>for</a:t>
            </a:r>
            <a:r>
              <a:rPr sz="1000" b="0" i="0">
                <a:solidFill>
                  <a:srgbClr val="E6EDF3"/>
                </a:solidFill>
                <a:latin typeface="Courier New"/>
              </a:rPr>
              <a:t> h </a:t>
            </a:r>
            <a:r>
              <a:rPr sz="1000" b="1" i="0">
                <a:solidFill>
                  <a:srgbClr val="F2A860"/>
                </a:solidFill>
                <a:latin typeface="Courier New"/>
              </a:rPr>
              <a:t>in</a:t>
            </a:r>
            <a:r>
              <a:rPr sz="1000" b="0" i="0">
                <a:solidFill>
                  <a:srgbClr val="E6EDF3"/>
                </a:solidFill>
                <a:latin typeface="Courier New"/>
              </a:rPr>
              <a:t> range(</a:t>
            </a:r>
            <a:r>
              <a:rPr sz="1000" b="0" i="0">
                <a:solidFill>
                  <a:srgbClr val="FFD28A"/>
                </a:solidFill>
                <a:latin typeface="Courier New"/>
              </a:rPr>
              <a:t>123446</a:t>
            </a:r>
            <a:r>
              <a:rPr sz="1000" b="0" i="0">
                <a:solidFill>
                  <a:srgbClr val="E6EDF3"/>
                </a:solidFill>
                <a:latin typeface="Courier New"/>
              </a:rPr>
              <a:t>, </a:t>
            </a:r>
            <a:r>
              <a:rPr sz="1000" b="0" i="0">
                <a:solidFill>
                  <a:srgbClr val="FFD28A"/>
                </a:solidFill>
                <a:latin typeface="Courier New"/>
              </a:rPr>
              <a:t>123457</a:t>
            </a:r>
            <a:r>
              <a:rPr sz="1000" b="0" i="0">
                <a:solidFill>
                  <a:srgbClr val="E6EDF3"/>
                </a:solidFill>
                <a:latin typeface="Courier New"/>
              </a:rPr>
              <a:t>)]</a:t>
            </a:r>
          </a:p>
        </p:txBody>
      </p:sp>
      <p:sp>
        <p:nvSpPr>
          <p:cNvPr id="11" name="TextBox 10"/>
          <p:cNvSpPr txBox="1"/>
          <p:nvPr/>
        </p:nvSpPr>
        <p:spPr>
          <a:xfrm>
            <a:off x="603504" y="22463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median = sorted(window)[</a:t>
            </a:r>
            <a:r>
              <a:rPr sz="1000" b="0" i="0">
                <a:solidFill>
                  <a:srgbClr val="FFD28A"/>
                </a:solidFill>
                <a:latin typeface="Courier New"/>
              </a:rPr>
              <a:t>5</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(median, median == T.BLOCK_123456[</a:t>
            </a:r>
            <a:r>
              <a:rPr sz="1000" b="0" i="0">
                <a:solidFill>
                  <a:srgbClr val="9ECBFF"/>
                </a:solidFill>
                <a:latin typeface="Courier New"/>
              </a:rPr>
              <a:t>'mediantime'</a:t>
            </a:r>
            <a:r>
              <a:rPr sz="1000" b="0" i="0">
                <a:solidFill>
                  <a:srgbClr val="E6EDF3"/>
                </a:solidFill>
                <a:latin typeface="Courier New"/>
              </a:rPr>
              <a:t>])</a:t>
            </a:r>
          </a:p>
          <a:p>
            <a:pPr algn="l"/>
            <a:r>
              <a:rPr sz="1000" b="0" i="0">
                <a:solidFill>
                  <a:srgbClr val="7EE787"/>
                </a:solidFill>
                <a:latin typeface="Courier New"/>
              </a:rPr>
              <a:t>(1305197900, True)</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timestamps of the eleven blocks that end with block 123,456.</a:t>
            </a:r>
          </a:p>
        </p:txBody>
      </p:sp>
      <p:sp>
        <p:nvSpPr>
          <p:cNvPr id="13" name="TextBox 12"/>
          <p:cNvSpPr txBox="1"/>
          <p:nvPr/>
        </p:nvSpPr>
        <p:spPr>
          <a:xfrm>
            <a:off x="457200" y="286816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sixth of eleven sorted times is the median time; the saved block says the same.</a:t>
            </a:r>
          </a:p>
        </p:txBody>
      </p:sp>
      <p:sp>
        <p:nvSpPr>
          <p:cNvPr id="14" name="TextBox 13"/>
          <p:cNvSpPr txBox="1"/>
          <p:nvPr/>
        </p:nvSpPr>
        <p:spPr>
          <a:xfrm>
            <a:off x="457200" y="3313175"/>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Recorded data: block times saved from a public API - T is the chapter library</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minutes since the first of the eleven blocks</a:t>
            </a:r>
          </a:p>
        </p:txBody>
      </p:sp>
      <p:graphicFrame>
        <p:nvGraphicFramePr>
          <p:cNvPr id="16" name="Chart 15"/>
          <p:cNvGraphicFramePr>
            <a:graphicFrameLocks noGrp="1"/>
          </p:cNvGraphicFramePr>
          <p:nvPr/>
        </p:nvGraphicFramePr>
        <p:xfrm>
          <a:off x="5852160" y="1691640"/>
          <a:ext cx="2834640" cy="205740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858768"/>
            <a:ext cx="2834640" cy="685800"/>
          </a:xfrm>
          <a:prstGeom prst="rect">
            <a:avLst/>
          </a:prstGeom>
          <a:noFill/>
        </p:spPr>
        <p:txBody>
          <a:bodyPr wrap="square" lIns="0" rIns="0" tIns="0" bIns="0" anchor="t">
            <a:spAutoFit/>
          </a:bodyPr>
          <a:lstStyle/>
          <a:p>
            <a:pPr algn="l"/>
            <a:r>
              <a:rPr sz="1100" b="0" i="0">
                <a:solidFill>
                  <a:srgbClr val="2B2622"/>
                </a:solidFill>
                <a:latin typeface="Calibri"/>
              </a:rPr>
              <a:t>Teal: the sixth value of the sorted times, 1,305,197,900, the same as the saved median time: True.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600" b="0" i="0">
                <a:solidFill>
                  <a:srgbClr val="2B2622"/>
                </a:solidFill>
                <a:latin typeface="Cambria"/>
              </a:rPr>
              <a:t>Alternative Clients, Libraries, and Toolkits</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Using Bitcoin Core's Programmatic Interface</a:t>
            </a:r>
          </a:p>
        </p:txBody>
      </p:sp>
      <p:sp>
        <p:nvSpPr>
          <p:cNvPr id="4" name="Rounded Rectangle 3"/>
          <p:cNvSpPr/>
          <p:nvPr/>
        </p:nvSpPr>
        <p:spPr>
          <a:xfrm>
            <a:off x="548640" y="1783080"/>
            <a:ext cx="39319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python-bitcoinlib</a:t>
            </a:r>
          </a:p>
        </p:txBody>
      </p:sp>
      <p:sp>
        <p:nvSpPr>
          <p:cNvPr id="5" name="TextBox 4"/>
          <p:cNvSpPr txBox="1"/>
          <p:nvPr/>
        </p:nvSpPr>
        <p:spPr>
          <a:xfrm>
            <a:off x="548640" y="2267712"/>
            <a:ext cx="3931920" cy="731520"/>
          </a:xfrm>
          <a:prstGeom prst="rect">
            <a:avLst/>
          </a:prstGeom>
          <a:noFill/>
        </p:spPr>
        <p:txBody>
          <a:bodyPr wrap="square" lIns="0" rIns="0" tIns="0" bIns="0" anchor="t">
            <a:spAutoFit/>
          </a:bodyPr>
          <a:lstStyle/>
          <a:p>
            <a:pPr algn="l"/>
            <a:r>
              <a:rPr sz="1150" b="0" i="0">
                <a:solidFill>
                  <a:srgbClr val="2B2622"/>
                </a:solidFill>
                <a:latin typeface="Calibri"/>
              </a:rPr>
              <a:t>A Python library that calls the node and builds transactions.</a:t>
            </a:r>
          </a:p>
        </p:txBody>
      </p:sp>
      <p:sp>
        <p:nvSpPr>
          <p:cNvPr id="6" name="TextBox 5"/>
          <p:cNvSpPr txBox="1"/>
          <p:nvPr/>
        </p:nvSpPr>
        <p:spPr>
          <a:xfrm>
            <a:off x="548640" y="3054096"/>
            <a:ext cx="3931920" cy="731520"/>
          </a:xfrm>
          <a:prstGeom prst="rect">
            <a:avLst/>
          </a:prstGeom>
          <a:noFill/>
        </p:spPr>
        <p:txBody>
          <a:bodyPr wrap="square" lIns="0" rIns="0" tIns="0" bIns="0" anchor="t">
            <a:spAutoFit/>
          </a:bodyPr>
          <a:lstStyle/>
          <a:p>
            <a:pPr algn="l"/>
            <a:r>
              <a:rPr sz="1150" b="0" i="1">
                <a:solidFill>
                  <a:srgbClr val="D97A14"/>
                </a:solidFill>
                <a:latin typeface="Calibri"/>
              </a:rPr>
              <a:t>Think of a phrasebook that turns your Python into the node's language.</a:t>
            </a:r>
          </a:p>
        </p:txBody>
      </p:sp>
      <p:sp>
        <p:nvSpPr>
          <p:cNvPr id="7" name="Rounded Rectangle 6"/>
          <p:cNvSpPr/>
          <p:nvPr/>
        </p:nvSpPr>
        <p:spPr>
          <a:xfrm>
            <a:off x="4663440" y="1783080"/>
            <a:ext cx="39319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alternative client</a:t>
            </a:r>
          </a:p>
        </p:txBody>
      </p:sp>
      <p:sp>
        <p:nvSpPr>
          <p:cNvPr id="8" name="TextBox 7"/>
          <p:cNvSpPr txBox="1"/>
          <p:nvPr/>
        </p:nvSpPr>
        <p:spPr>
          <a:xfrm>
            <a:off x="4663440" y="2267712"/>
            <a:ext cx="3931920" cy="731520"/>
          </a:xfrm>
          <a:prstGeom prst="rect">
            <a:avLst/>
          </a:prstGeom>
          <a:noFill/>
        </p:spPr>
        <p:txBody>
          <a:bodyPr wrap="square" lIns="0" rIns="0" tIns="0" bIns="0" anchor="t">
            <a:spAutoFit/>
          </a:bodyPr>
          <a:lstStyle/>
          <a:p>
            <a:pPr algn="l"/>
            <a:r>
              <a:rPr sz="1150" b="0" i="0">
                <a:solidFill>
                  <a:srgbClr val="2B2622"/>
                </a:solidFill>
                <a:latin typeface="Calibri"/>
              </a:rPr>
              <a:t>Another program that follows Bitcoin's rules.</a:t>
            </a:r>
          </a:p>
        </p:txBody>
      </p:sp>
      <p:sp>
        <p:nvSpPr>
          <p:cNvPr id="9" name="TextBox 8"/>
          <p:cNvSpPr txBox="1"/>
          <p:nvPr/>
        </p:nvSpPr>
        <p:spPr>
          <a:xfrm>
            <a:off x="4663440" y="3054096"/>
            <a:ext cx="3931920" cy="731520"/>
          </a:xfrm>
          <a:prstGeom prst="rect">
            <a:avLst/>
          </a:prstGeom>
          <a:noFill/>
        </p:spPr>
        <p:txBody>
          <a:bodyPr wrap="square" lIns="0" rIns="0" tIns="0" bIns="0" anchor="t">
            <a:spAutoFit/>
          </a:bodyPr>
          <a:lstStyle/>
          <a:p>
            <a:pPr algn="l"/>
            <a:r>
              <a:rPr sz="1150" b="0" i="1">
                <a:solidFill>
                  <a:srgbClr val="D97A14"/>
                </a:solidFill>
                <a:latin typeface="Calibri"/>
              </a:rPr>
              <a:t>Think of another airline flying the same routes under the same safety rules.</a:t>
            </a:r>
          </a:p>
        </p:txBody>
      </p:sp>
      <p:graphicFrame>
        <p:nvGraphicFramePr>
          <p:cNvPr id="10" name="Table 9"/>
          <p:cNvGraphicFramePr>
            <a:graphicFrameLocks noGrp="1"/>
          </p:cNvGraphicFramePr>
          <p:nvPr/>
        </p:nvGraphicFramePr>
        <p:xfrm>
          <a:off x="548640" y="4023360"/>
          <a:ext cx="8046717" cy="365760"/>
        </p:xfrm>
        <a:graphic>
          <a:graphicData uri="http://schemas.openxmlformats.org/drawingml/2006/table">
            <a:tbl>
              <a:tblPr firstRow="1" bandRow="1">
                <a:tableStyleId>{5C22544A-7EE6-4342-B048-85BDC9FD1C3A}</a:tableStyleId>
              </a:tblPr>
              <a:tblGrid>
                <a:gridCol w="1149531"/>
                <a:gridCol w="1149531"/>
                <a:gridCol w="1149531"/>
                <a:gridCol w="1149531"/>
                <a:gridCol w="1149531"/>
                <a:gridCol w="1149531"/>
                <a:gridCol w="1149531"/>
              </a:tblGrid>
              <a:tr h="365760">
                <a:tc>
                  <a:txBody>
                    <a:bodyPr/>
                    <a:lstStyle/>
                    <a:p>
                      <a:pPr algn="ctr"/>
                      <a:r>
                        <a:rPr sz="1000" b="0">
                          <a:solidFill>
                            <a:srgbClr val="6E655C"/>
                          </a:solidFill>
                          <a:latin typeface="Calibri"/>
                        </a:rPr>
                        <a:t>Core</a:t>
                      </a:r>
                    </a:p>
                  </a:txBody>
                  <a:tcPr marL="54864" marR="54864" marT="27432" marB="27432" anchor="ctr">
                    <a:solidFill>
                      <a:srgbClr val="F2ECE1"/>
                    </a:solidFill>
                  </a:tcPr>
                </a:tc>
                <a:tc>
                  <a:txBody>
                    <a:bodyPr/>
                    <a:lstStyle/>
                    <a:p>
                      <a:pPr algn="ctr"/>
                      <a:r>
                        <a:rPr sz="1000" b="0">
                          <a:solidFill>
                            <a:srgbClr val="6E655C"/>
                          </a:solidFill>
                          <a:latin typeface="Calibri"/>
                        </a:rPr>
                        <a:t>Source</a:t>
                      </a:r>
                    </a:p>
                  </a:txBody>
                  <a:tcPr marL="54864" marR="54864" marT="27432" marB="27432" anchor="ctr">
                    <a:solidFill>
                      <a:srgbClr val="F2ECE1"/>
                    </a:solidFill>
                  </a:tcPr>
                </a:tc>
                <a:tc>
                  <a:txBody>
                    <a:bodyPr/>
                    <a:lstStyle/>
                    <a:p>
                      <a:pPr algn="ctr"/>
                      <a:r>
                        <a:rPr sz="1000" b="0">
                          <a:solidFill>
                            <a:srgbClr val="6E655C"/>
                          </a:solidFill>
                          <a:latin typeface="Calibri"/>
                        </a:rPr>
                        <a:t>Node</a:t>
                      </a:r>
                    </a:p>
                  </a:txBody>
                  <a:tcPr marL="54864" marR="54864" marT="27432" marB="27432" anchor="ctr">
                    <a:solidFill>
                      <a:srgbClr val="F2ECE1"/>
                    </a:solidFill>
                  </a:tcPr>
                </a:tc>
                <a:tc>
                  <a:txBody>
                    <a:bodyPr/>
                    <a:lstStyle/>
                    <a:p>
                      <a:pPr algn="ctr"/>
                      <a:r>
                        <a:rPr sz="1000" b="0">
                          <a:solidFill>
                            <a:srgbClr val="6E655C"/>
                          </a:solidFill>
                          <a:latin typeface="Calibri"/>
                        </a:rPr>
                        <a:t>API</a:t>
                      </a:r>
                    </a:p>
                  </a:txBody>
                  <a:tcPr marL="54864" marR="54864" marT="27432" marB="27432" anchor="ctr">
                    <a:solidFill>
                      <a:srgbClr val="F2ECE1"/>
                    </a:solidFill>
                  </a:tcPr>
                </a:tc>
                <a:tc>
                  <a:txBody>
                    <a:bodyPr/>
                    <a:lstStyle/>
                    <a:p>
                      <a:pPr algn="ctr"/>
                      <a:r>
                        <a:rPr sz="1000" b="0">
                          <a:solidFill>
                            <a:srgbClr val="6E655C"/>
                          </a:solidFill>
                          <a:latin typeface="Calibri"/>
                        </a:rPr>
                        <a:t>Transactions</a:t>
                      </a:r>
                    </a:p>
                  </a:txBody>
                  <a:tcPr marL="54864" marR="54864" marT="27432" marB="27432" anchor="ctr">
                    <a:solidFill>
                      <a:srgbClr val="F2ECE1"/>
                    </a:solidFill>
                  </a:tcPr>
                </a:tc>
                <a:tc>
                  <a:txBody>
                    <a:bodyPr/>
                    <a:lstStyle/>
                    <a:p>
                      <a:pPr algn="ctr"/>
                      <a:r>
                        <a:rPr sz="1000" b="0">
                          <a:solidFill>
                            <a:srgbClr val="6E655C"/>
                          </a:solidFill>
                          <a:latin typeface="Calibri"/>
                        </a:rPr>
                        <a:t>Blocks</a:t>
                      </a:r>
                    </a:p>
                  </a:txBody>
                  <a:tcPr marL="54864" marR="54864" marT="27432" marB="27432" anchor="ctr">
                    <a:solidFill>
                      <a:srgbClr val="F2ECE1"/>
                    </a:solidFill>
                  </a:tcPr>
                </a:tc>
                <a:tc>
                  <a:txBody>
                    <a:bodyPr/>
                    <a:lstStyle/>
                    <a:p>
                      <a:pPr algn="ctr"/>
                      <a:r>
                        <a:rPr sz="1000" b="1">
                          <a:solidFill>
                            <a:srgbClr val="FFFFFF"/>
                          </a:solidFill>
                          <a:latin typeface="Calibri"/>
                        </a:rPr>
                        <a:t>Toolkits</a:t>
                      </a:r>
                    </a:p>
                  </a:txBody>
                  <a:tcPr marL="54864" marR="54864" marT="27432" marB="27432" anchor="ctr">
                    <a:solidFill>
                      <a:srgbClr val="D97A14"/>
                    </a:solidFill>
                  </a:tcPr>
                </a:tc>
              </a:tr>
            </a:tbl>
          </a:graphicData>
        </a:graphic>
      </p:graphicFrame>
      <p:sp>
        <p:nvSpPr>
          <p:cNvPr id="11" name="TextBox 10"/>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37 / 42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Using Bitcoin Core's Programmatic Interface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python-bitcoinlib calls the node for you</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Your code can ask the node anything the command line can</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38 / 42</a:t>
            </a:r>
          </a:p>
        </p:txBody>
      </p:sp>
      <p:sp>
        <p:nvSpPr>
          <p:cNvPr id="8" name="Rounded Rectangle 7"/>
          <p:cNvSpPr/>
          <p:nvPr/>
        </p:nvSpPr>
        <p:spPr>
          <a:xfrm>
            <a:off x="457200" y="1371600"/>
            <a:ext cx="1783080" cy="914400"/>
          </a:xfrm>
          <a:prstGeom prst="roundRect">
            <a:avLst>
              <a:gd name="adj" fmla="val 12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200" b="1" i="0">
                <a:solidFill>
                  <a:srgbClr val="FFFFFF"/>
                </a:solidFill>
                <a:latin typeface="Cambria"/>
              </a:rPr>
              <a:t>Your Python script</a:t>
            </a:r>
          </a:p>
          <a:p>
            <a:pPr algn="ctr"/>
            <a:r>
              <a:rPr sz="1050" b="0" i="0">
                <a:solidFill>
                  <a:srgbClr val="FFFFFF"/>
                </a:solidFill>
                <a:latin typeface="Calibri"/>
              </a:rPr>
              <a:t>asks for the block count</a:t>
            </a:r>
          </a:p>
        </p:txBody>
      </p:sp>
      <p:cxnSp>
        <p:nvCxnSpPr>
          <p:cNvPr id="9" name="Connector 8"/>
          <p:cNvCxnSpPr/>
          <p:nvPr/>
        </p:nvCxnSpPr>
        <p:spPr>
          <a:xfrm>
            <a:off x="2267712" y="1828800"/>
            <a:ext cx="310896"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06040" y="1371600"/>
            <a:ext cx="1783080" cy="914400"/>
          </a:xfrm>
          <a:prstGeom prst="roundRect">
            <a:avLst>
              <a:gd name="adj" fmla="val 12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200" b="1" i="0">
                <a:solidFill>
                  <a:srgbClr val="FFFFFF"/>
                </a:solidFill>
                <a:latin typeface="Cambria"/>
              </a:rPr>
              <a:t>python-bitcoinlib</a:t>
            </a:r>
          </a:p>
          <a:p>
            <a:pPr algn="ctr"/>
            <a:r>
              <a:rPr sz="1050" b="0" i="0">
                <a:solidFill>
                  <a:srgbClr val="FFFFFF"/>
                </a:solidFill>
                <a:latin typeface="Calibri"/>
              </a:rPr>
              <a:t>builds the JSON-RPC call</a:t>
            </a:r>
          </a:p>
        </p:txBody>
      </p:sp>
      <p:cxnSp>
        <p:nvCxnSpPr>
          <p:cNvPr id="11" name="Connector 10"/>
          <p:cNvCxnSpPr/>
          <p:nvPr/>
        </p:nvCxnSpPr>
        <p:spPr>
          <a:xfrm>
            <a:off x="4416552" y="1828800"/>
            <a:ext cx="310896"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754880" y="1371600"/>
            <a:ext cx="1783080" cy="914400"/>
          </a:xfrm>
          <a:prstGeom prst="roundRect">
            <a:avLst>
              <a:gd name="adj" fmla="val 12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200" b="1" i="0">
                <a:solidFill>
                  <a:srgbClr val="FFFFFF"/>
                </a:solidFill>
                <a:latin typeface="Cambria"/>
              </a:rPr>
              <a:t>HTTP</a:t>
            </a:r>
          </a:p>
          <a:p>
            <a:pPr algn="ctr"/>
            <a:r>
              <a:rPr sz="1050" b="0" i="0">
                <a:solidFill>
                  <a:srgbClr val="FFFFFF"/>
                </a:solidFill>
                <a:latin typeface="Calibri"/>
              </a:rPr>
              <a:t>carries it to the node</a:t>
            </a:r>
          </a:p>
        </p:txBody>
      </p:sp>
      <p:cxnSp>
        <p:nvCxnSpPr>
          <p:cNvPr id="13" name="Connector 12"/>
          <p:cNvCxnSpPr/>
          <p:nvPr/>
        </p:nvCxnSpPr>
        <p:spPr>
          <a:xfrm>
            <a:off x="6565392" y="1828800"/>
            <a:ext cx="310896"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903720" y="1371600"/>
            <a:ext cx="1783080" cy="914400"/>
          </a:xfrm>
          <a:prstGeom prst="roundRect">
            <a:avLst>
              <a:gd name="adj" fmla="val 12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200" b="1" i="0">
                <a:solidFill>
                  <a:srgbClr val="FFFFFF"/>
                </a:solidFill>
                <a:latin typeface="Cambria"/>
              </a:rPr>
              <a:t>bitcoind</a:t>
            </a:r>
          </a:p>
          <a:p>
            <a:pPr algn="ctr"/>
            <a:r>
              <a:rPr sz="1050" b="0" i="0">
                <a:solidFill>
                  <a:srgbClr val="FFFFFF"/>
                </a:solidFill>
                <a:latin typeface="Calibri"/>
              </a:rPr>
              <a:t>answers with the result</a:t>
            </a:r>
          </a:p>
        </p:txBody>
      </p:sp>
      <p:sp>
        <p:nvSpPr>
          <p:cNvPr id="15" name="Rounded Rectangle 14"/>
          <p:cNvSpPr/>
          <p:nvPr/>
        </p:nvSpPr>
        <p:spPr>
          <a:xfrm>
            <a:off x="457200" y="2651760"/>
            <a:ext cx="4023360" cy="1188720"/>
          </a:xfrm>
          <a:prstGeom prst="roundRect">
            <a:avLst>
              <a:gd name="adj" fmla="val 8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r>
              <a:rPr sz="1250" b="0" i="1">
                <a:solidFill>
                  <a:srgbClr val="D97A14"/>
                </a:solidFill>
                <a:latin typeface="Calibri"/>
              </a:rPr>
              <a:t>Think of a waiter who carries your order to the kitchen and brings the dish back to your table.</a:t>
            </a:r>
          </a:p>
        </p:txBody>
      </p:sp>
      <p:sp>
        <p:nvSpPr>
          <p:cNvPr id="16" name="Rounded Rectangle 15"/>
          <p:cNvSpPr/>
          <p:nvPr/>
        </p:nvSpPr>
        <p:spPr>
          <a:xfrm>
            <a:off x="4663440" y="2651760"/>
            <a:ext cx="4023360" cy="1188720"/>
          </a:xfrm>
          <a:prstGeom prst="roundRect">
            <a:avLst>
              <a:gd name="adj" fmla="val 8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r>
              <a:rPr sz="1150" b="0" i="0">
                <a:solidFill>
                  <a:srgbClr val="2B2622"/>
                </a:solidFill>
                <a:latin typeface="Calibri"/>
              </a:rPr>
              <a:t>Recorded on the offline node of release 31.1: the call getblockcount returned 0, and python-bitcoinlib imported under Python 3.14.4.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How fresh are the alternative toolkits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python-bitcoinlib and its neighbours, by days since the latest release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the date on the newest delivery in a shop window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39 / 42</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70175"/>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days = T.age_days(T.QUERIED)</a:t>
            </a:r>
          </a:p>
        </p:txBody>
      </p:sp>
      <p:sp>
        <p:nvSpPr>
          <p:cNvPr id="11" name="TextBox 10"/>
          <p:cNvSpPr txBox="1"/>
          <p:nvPr/>
        </p:nvSpPr>
        <p:spPr>
          <a:xfrm>
            <a:off x="603504" y="226161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(days[</a:t>
            </a:r>
            <a:r>
              <a:rPr sz="1000" b="0" i="0">
                <a:solidFill>
                  <a:srgbClr val="9ECBFF"/>
                </a:solidFill>
                <a:latin typeface="Courier New"/>
              </a:rPr>
              <a:t>'python-bitcoinlib'</a:t>
            </a:r>
            <a:r>
              <a:rPr sz="1000" b="0" i="0">
                <a:solidFill>
                  <a:srgbClr val="E6EDF3"/>
                </a:solidFill>
                <a:latin typeface="Courier New"/>
              </a:rPr>
              <a:t>], days[</a:t>
            </a:r>
            <a:r>
              <a:rPr sz="1000" b="0" i="0">
                <a:solidFill>
                  <a:srgbClr val="9ECBFF"/>
                </a:solidFill>
                <a:latin typeface="Courier New"/>
              </a:rPr>
              <a:t>'bitcoinjs-lib'</a:t>
            </a:r>
            <a:r>
              <a:rPr sz="1000" b="0" i="0">
                <a:solidFill>
                  <a:srgbClr val="E6EDF3"/>
                </a:solidFill>
                <a:latin typeface="Courier New"/>
              </a:rPr>
              <a:t>])</a:t>
            </a:r>
          </a:p>
          <a:p>
            <a:pPr algn="l"/>
            <a:r>
              <a:rPr sz="1000" b="0" i="0">
                <a:solidFill>
                  <a:srgbClr val="7EE787"/>
                </a:solidFill>
                <a:latin typeface="Courier New"/>
              </a:rPr>
              <a:t>(1217, 25)</a:t>
            </a:r>
          </a:p>
        </p:txBody>
      </p:sp>
      <p:sp>
        <p:nvSpPr>
          <p:cNvPr id="12" name="TextBox 11"/>
          <p:cNvSpPr txBox="1"/>
          <p:nvPr/>
        </p:nvSpPr>
        <p:spPr>
          <a:xfrm>
            <a:off x="457200" y="1688591"/>
            <a:ext cx="5212080" cy="371855"/>
          </a:xfrm>
          <a:prstGeom prst="rect">
            <a:avLst/>
          </a:prstGeom>
          <a:noFill/>
        </p:spPr>
        <p:txBody>
          <a:bodyPr wrap="square" lIns="0" rIns="0" tIns="0" bIns="0" anchor="t">
            <a:spAutoFit/>
          </a:bodyPr>
          <a:lstStyle/>
          <a:p>
            <a:pPr algn="l"/>
            <a:r>
              <a:rPr sz="1100" b="0" i="0">
                <a:solidFill>
                  <a:srgbClr val="2B2622"/>
                </a:solidFill>
                <a:latin typeface="Calibri"/>
              </a:rPr>
              <a:t>Nine toolkits, each with the date of its latest release; count the days back from the query.</a:t>
            </a:r>
          </a:p>
        </p:txBody>
      </p:sp>
      <p:sp>
        <p:nvSpPr>
          <p:cNvPr id="13" name="TextBox 12"/>
          <p:cNvSpPr txBox="1"/>
          <p:nvPr/>
        </p:nvSpPr>
        <p:spPr>
          <a:xfrm>
            <a:off x="457200" y="2731008"/>
            <a:ext cx="5212080" cy="371855"/>
          </a:xfrm>
          <a:prstGeom prst="rect">
            <a:avLst/>
          </a:prstGeom>
          <a:noFill/>
        </p:spPr>
        <p:txBody>
          <a:bodyPr wrap="square" lIns="0" rIns="0" tIns="0" bIns="0" anchor="t">
            <a:spAutoFit/>
          </a:bodyPr>
          <a:lstStyle/>
          <a:p>
            <a:pPr algn="l"/>
            <a:r>
              <a:rPr sz="1100" b="0" i="0">
                <a:solidFill>
                  <a:srgbClr val="2B2622"/>
                </a:solidFill>
                <a:latin typeface="Calibri"/>
              </a:rPr>
              <a:t>python-bitcoinlib last released 1,217 days before the query; bitcoinjs-lib only 25.</a:t>
            </a:r>
          </a:p>
        </p:txBody>
      </p:sp>
      <p:sp>
        <p:nvSpPr>
          <p:cNvPr id="14" name="TextBox 13"/>
          <p:cNvSpPr txBox="1"/>
          <p:nvPr/>
        </p:nvSpPr>
        <p:spPr>
          <a:xfrm>
            <a:off x="457200" y="3176016"/>
            <a:ext cx="5212080" cy="292608"/>
          </a:xfrm>
          <a:prstGeom prst="rect">
            <a:avLst/>
          </a:prstGeom>
          <a:noFill/>
        </p:spPr>
        <p:txBody>
          <a:bodyPr wrap="square" lIns="0" rIns="0" tIns="0" bIns="0" anchor="t">
            <a:spAutoFit/>
          </a:bodyPr>
          <a:lstStyle/>
          <a:p>
            <a:pPr algn="l"/>
            <a:r>
              <a:rPr sz="900" b="0" i="0">
                <a:solidFill>
                  <a:srgbClr val="6E655C"/>
                </a:solidFill>
                <a:latin typeface="Calibri"/>
              </a:rPr>
              <a:t>run under Python 3.14.6 - Recorded data: package registries queried on 2026-10-02 - T is the chapter library</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days since the latest release (log scale)</a:t>
            </a:r>
          </a:p>
        </p:txBody>
      </p:sp>
      <p:graphicFrame>
        <p:nvGraphicFramePr>
          <p:cNvPr id="16" name="Chart 15"/>
          <p:cNvGraphicFramePr>
            <a:graphicFrameLocks noGrp="1"/>
          </p:cNvGraphicFramePr>
          <p:nvPr/>
        </p:nvGraphicFramePr>
        <p:xfrm>
          <a:off x="5852160" y="1691640"/>
          <a:ext cx="2834640" cy="224028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4041648"/>
            <a:ext cx="2834640" cy="685800"/>
          </a:xfrm>
          <a:prstGeom prst="rect">
            <a:avLst/>
          </a:prstGeom>
          <a:noFill/>
        </p:spPr>
        <p:txBody>
          <a:bodyPr wrap="square" lIns="0" rIns="0" tIns="0" bIns="0" anchor="t">
            <a:spAutoFit/>
          </a:bodyPr>
          <a:lstStyle/>
          <a:p>
            <a:pPr algn="l"/>
            <a:r>
              <a:rPr sz="1100" b="0" i="0">
                <a:solidFill>
                  <a:srgbClr val="2B2622"/>
                </a:solidFill>
                <a:latin typeface="Calibri"/>
              </a:rPr>
              <a:t>python-bitcoinlib is 1,217 days old, bitcoinjs-lib 25 days (log scale).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Summary: the six answers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questions of slide 3, answered</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Reference, release, settings, interface, transaction, block</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40 / 42</a:t>
            </a:r>
          </a:p>
        </p:txBody>
      </p:sp>
      <p:graphicFrame>
        <p:nvGraphicFramePr>
          <p:cNvPr id="8" name="Table 7"/>
          <p:cNvGraphicFramePr>
            <a:graphicFrameLocks noGrp="1"/>
          </p:cNvGraphicFramePr>
          <p:nvPr/>
        </p:nvGraphicFramePr>
        <p:xfrm>
          <a:off x="457200" y="1280160"/>
          <a:ext cx="8229600" cy="2880360"/>
        </p:xfrm>
        <a:graphic>
          <a:graphicData uri="http://schemas.openxmlformats.org/drawingml/2006/table">
            <a:tbl>
              <a:tblPr firstRow="1" bandRow="1">
                <a:tableStyleId>{5C22544A-7EE6-4342-B048-85BDC9FD1C3A}</a:tableStyleId>
              </a:tblPr>
              <a:tblGrid>
                <a:gridCol w="2834640"/>
                <a:gridCol w="5394960"/>
              </a:tblGrid>
              <a:tr h="411480">
                <a:tc>
                  <a:txBody>
                    <a:bodyPr/>
                    <a:lstStyle/>
                    <a:p>
                      <a:pPr algn="l"/>
                      <a:r>
                        <a:rPr sz="1100" b="1">
                          <a:solidFill>
                            <a:srgbClr val="FFFFFF"/>
                          </a:solidFill>
                          <a:latin typeface="Calibri"/>
                        </a:rPr>
                        <a:t>Question</a:t>
                      </a:r>
                    </a:p>
                  </a:txBody>
                  <a:tcPr marL="54864" marR="54864" marT="27432" marB="27432" anchor="ctr">
                    <a:solidFill>
                      <a:srgbClr val="2F6D62"/>
                    </a:solidFill>
                  </a:tcPr>
                </a:tc>
                <a:tc>
                  <a:txBody>
                    <a:bodyPr/>
                    <a:lstStyle/>
                    <a:p>
                      <a:pPr algn="l"/>
                      <a:r>
                        <a:rPr sz="1100" b="1">
                          <a:solidFill>
                            <a:srgbClr val="FFFFFF"/>
                          </a:solidFill>
                          <a:latin typeface="Calibri"/>
                        </a:rPr>
                        <a:t>Answer in one line</a:t>
                      </a:r>
                    </a:p>
                  </a:txBody>
                  <a:tcPr marL="54864" marR="54864" marT="27432" marB="27432" anchor="ctr">
                    <a:solidFill>
                      <a:srgbClr val="2F6D62"/>
                    </a:solidFill>
                  </a:tcPr>
                </a:tc>
              </a:tr>
              <a:tr h="411480">
                <a:tc>
                  <a:txBody>
                    <a:bodyPr/>
                    <a:lstStyle/>
                    <a:p>
                      <a:pPr algn="l"/>
                      <a:r>
                        <a:rPr sz="1100" b="0">
                          <a:solidFill>
                            <a:srgbClr val="2B2622"/>
                          </a:solidFill>
                          <a:latin typeface="Calibri"/>
                        </a:rPr>
                        <a:t>1 What makes Core the reference?</a:t>
                      </a:r>
                    </a:p>
                  </a:txBody>
                  <a:tcPr marL="54864" marR="54864" marT="27432" marB="27432" anchor="ctr">
                    <a:solidFill>
                      <a:srgbClr val="FFFFFF"/>
                    </a:solidFill>
                  </a:tcPr>
                </a:tc>
                <a:tc>
                  <a:txBody>
                    <a:bodyPr/>
                    <a:lstStyle/>
                    <a:p>
                      <a:pPr algn="l"/>
                      <a:r>
                        <a:rPr sz="1100" b="0">
                          <a:solidFill>
                            <a:srgbClr val="2B2622"/>
                          </a:solidFill>
                          <a:latin typeface="Calibri"/>
                        </a:rPr>
                        <a:t>It came first, it defines the rules by running them, and it is built in the open.</a:t>
                      </a:r>
                    </a:p>
                  </a:txBody>
                  <a:tcPr marL="54864" marR="54864" marT="27432" marB="27432" anchor="ctr">
                    <a:solidFill>
                      <a:srgbClr val="FFFFFF"/>
                    </a:solidFill>
                  </a:tcPr>
                </a:tc>
              </a:tr>
              <a:tr h="411480">
                <a:tc>
                  <a:txBody>
                    <a:bodyPr/>
                    <a:lstStyle/>
                    <a:p>
                      <a:pPr algn="l"/>
                      <a:r>
                        <a:rPr sz="1100" b="0">
                          <a:solidFill>
                            <a:srgbClr val="2B2622"/>
                          </a:solidFill>
                          <a:latin typeface="Calibri"/>
                        </a:rPr>
                        <a:t>2 How do I get a release I trust?</a:t>
                      </a:r>
                    </a:p>
                  </a:txBody>
                  <a:tcPr marL="54864" marR="54864" marT="27432" marB="27432" anchor="ctr">
                    <a:solidFill>
                      <a:srgbClr val="F2ECE1"/>
                    </a:solidFill>
                  </a:tcPr>
                </a:tc>
                <a:tc>
                  <a:txBody>
                    <a:bodyPr/>
                    <a:lstStyle/>
                    <a:p>
                      <a:pPr algn="l"/>
                      <a:r>
                        <a:rPr sz="1100" b="0">
                          <a:solidFill>
                            <a:srgbClr val="2B2622"/>
                          </a:solidFill>
                          <a:latin typeface="Calibri"/>
                        </a:rPr>
                        <a:t>Check out a final tag, build it, and compare its hash with the published one.</a:t>
                      </a:r>
                    </a:p>
                  </a:txBody>
                  <a:tcPr marL="54864" marR="54864" marT="27432" marB="27432" anchor="ctr">
                    <a:solidFill>
                      <a:srgbClr val="F2ECE1"/>
                    </a:solidFill>
                  </a:tcPr>
                </a:tc>
              </a:tr>
              <a:tr h="411480">
                <a:tc>
                  <a:txBody>
                    <a:bodyPr/>
                    <a:lstStyle/>
                    <a:p>
                      <a:pPr algn="l"/>
                      <a:r>
                        <a:rPr sz="1100" b="0">
                          <a:solidFill>
                            <a:srgbClr val="2B2622"/>
                          </a:solidFill>
                          <a:latin typeface="Calibri"/>
                        </a:rPr>
                        <a:t>3 What do the settings decide?</a:t>
                      </a:r>
                    </a:p>
                  </a:txBody>
                  <a:tcPr marL="54864" marR="54864" marT="27432" marB="27432" anchor="ctr">
                    <a:solidFill>
                      <a:srgbClr val="FFFFFF"/>
                    </a:solidFill>
                  </a:tcPr>
                </a:tc>
                <a:tc>
                  <a:txBody>
                    <a:bodyPr/>
                    <a:lstStyle/>
                    <a:p>
                      <a:pPr algn="l"/>
                      <a:r>
                        <a:rPr sz="1100" b="0">
                          <a:solidFill>
                            <a:srgbClr val="2B2622"/>
                          </a:solidFill>
                          <a:latin typeface="Calibri"/>
                        </a:rPr>
                        <a:t>What is stored, how much memory is used, and which alerts run.</a:t>
                      </a:r>
                    </a:p>
                  </a:txBody>
                  <a:tcPr marL="54864" marR="54864" marT="27432" marB="27432" anchor="ctr">
                    <a:solidFill>
                      <a:srgbClr val="FFFFFF"/>
                    </a:solidFill>
                  </a:tcPr>
                </a:tc>
              </a:tr>
              <a:tr h="411480">
                <a:tc>
                  <a:txBody>
                    <a:bodyPr/>
                    <a:lstStyle/>
                    <a:p>
                      <a:pPr algn="l"/>
                      <a:r>
                        <a:rPr sz="1100" b="0">
                          <a:solidFill>
                            <a:srgbClr val="2B2622"/>
                          </a:solidFill>
                          <a:latin typeface="Calibri"/>
                        </a:rPr>
                        <a:t>4 How do I ask a node, and who may?</a:t>
                      </a:r>
                    </a:p>
                  </a:txBody>
                  <a:tcPr marL="54864" marR="54864" marT="27432" marB="27432" anchor="ctr">
                    <a:solidFill>
                      <a:srgbClr val="F2ECE1"/>
                    </a:solidFill>
                  </a:tcPr>
                </a:tc>
                <a:tc>
                  <a:txBody>
                    <a:bodyPr/>
                    <a:lstStyle/>
                    <a:p>
                      <a:pPr algn="l"/>
                      <a:r>
                        <a:rPr sz="1100" b="0">
                          <a:solidFill>
                            <a:srgbClr val="2B2622"/>
                          </a:solidFill>
                          <a:latin typeface="Calibri"/>
                        </a:rPr>
                        <a:t>JSON-RPC calls; the cookie or an rpcauth credential lets you in.</a:t>
                      </a:r>
                    </a:p>
                  </a:txBody>
                  <a:tcPr marL="54864" marR="54864" marT="27432" marB="27432" anchor="ctr">
                    <a:solidFill>
                      <a:srgbClr val="F2ECE1"/>
                    </a:solidFill>
                  </a:tcPr>
                </a:tc>
              </a:tr>
              <a:tr h="411480">
                <a:tc>
                  <a:txBody>
                    <a:bodyPr/>
                    <a:lstStyle/>
                    <a:p>
                      <a:pPr algn="l"/>
                      <a:r>
                        <a:rPr sz="1100" b="0">
                          <a:solidFill>
                            <a:srgbClr val="2B2622"/>
                          </a:solidFill>
                          <a:latin typeface="Calibri"/>
                        </a:rPr>
                        <a:t>5 How do I read a transaction?</a:t>
                      </a:r>
                    </a:p>
                  </a:txBody>
                  <a:tcPr marL="54864" marR="54864" marT="27432" marB="27432" anchor="ctr">
                    <a:solidFill>
                      <a:srgbClr val="FFFFFF"/>
                    </a:solidFill>
                  </a:tcPr>
                </a:tc>
                <a:tc>
                  <a:txBody>
                    <a:bodyPr/>
                    <a:lstStyle/>
                    <a:p>
                      <a:pPr algn="l"/>
                      <a:r>
                        <a:rPr sz="1100" b="0">
                          <a:solidFill>
                            <a:srgbClr val="2B2622"/>
                          </a:solidFill>
                          <a:latin typeface="Calibri"/>
                        </a:rPr>
                        <a:t>Decode it; the txid ignores the witness, and weight counts it.</a:t>
                      </a:r>
                    </a:p>
                  </a:txBody>
                  <a:tcPr marL="54864" marR="54864" marT="27432" marB="27432" anchor="ctr">
                    <a:solidFill>
                      <a:srgbClr val="FFFFFF"/>
                    </a:solidFill>
                  </a:tcPr>
                </a:tc>
              </a:tr>
              <a:tr h="411480">
                <a:tc>
                  <a:txBody>
                    <a:bodyPr/>
                    <a:lstStyle/>
                    <a:p>
                      <a:pPr algn="l"/>
                      <a:r>
                        <a:rPr sz="1100" b="0">
                          <a:solidFill>
                            <a:srgbClr val="2B2622"/>
                          </a:solidFill>
                          <a:latin typeface="Calibri"/>
                        </a:rPr>
                        <a:t>6 How do I check a block?</a:t>
                      </a:r>
                    </a:p>
                  </a:txBody>
                  <a:tcPr marL="54864" marR="54864" marT="27432" marB="27432" anchor="ctr">
                    <a:solidFill>
                      <a:srgbClr val="F2ECE1"/>
                    </a:solidFill>
                  </a:tcPr>
                </a:tc>
                <a:tc>
                  <a:txBody>
                    <a:bodyPr/>
                    <a:lstStyle/>
                    <a:p>
                      <a:pPr algn="l"/>
                      <a:r>
                        <a:rPr sz="1100" b="0">
                          <a:solidFill>
                            <a:srgbClr val="2B2622"/>
                          </a:solidFill>
                          <a:latin typeface="Calibri"/>
                        </a:rPr>
                        <a:t>Hash the 80-byte header and rebuild the merkle root yourself.</a:t>
                      </a:r>
                    </a:p>
                  </a:txBody>
                  <a:tcPr marL="54864" marR="54864" marT="27432" marB="27432" anchor="ctr">
                    <a:solidFill>
                      <a:srgbClr val="F2ECE1"/>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Resources: read, try, watch, ask</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Every link was opened on 25 October 2026; free to use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Build a release, run it offline, and ask it getblockchaininfo</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41 / 42</a:t>
            </a:r>
          </a:p>
        </p:txBody>
      </p:sp>
      <p:sp>
        <p:nvSpPr>
          <p:cNvPr id="8" name="TextBox 7"/>
          <p:cNvSpPr txBox="1"/>
          <p:nvPr/>
        </p:nvSpPr>
        <p:spPr>
          <a:xfrm>
            <a:off x="457200" y="1280160"/>
            <a:ext cx="4023360" cy="585216"/>
          </a:xfrm>
          <a:prstGeom prst="rect">
            <a:avLst/>
          </a:prstGeom>
          <a:noFill/>
        </p:spPr>
        <p:txBody>
          <a:bodyPr wrap="square" lIns="0" rIns="0" tIns="0" bIns="0" anchor="t">
            <a:spAutoFit/>
          </a:bodyPr>
          <a:lstStyle/>
          <a:p>
            <a:pPr algn="l"/>
            <a:r>
              <a:rPr sz="900" b="1" i="0">
                <a:solidFill>
                  <a:srgbClr val="D97A14"/>
                </a:solidFill>
                <a:latin typeface="Calibri"/>
              </a:rPr>
              <a:t>Read  </a:t>
            </a:r>
            <a:r>
              <a:rPr sz="1150" b="1" i="0" u="sng">
                <a:solidFill>
                  <a:srgbClr val="2F6D62"/>
                </a:solidFill>
                <a:latin typeface="Calibri"/>
                <a:hlinkClick r:id="rId3"/>
              </a:rPr>
              <a:t>Mastering Bitcoin, chapter 3 (source text)</a:t>
            </a:r>
          </a:p>
          <a:p>
            <a:pPr algn="l"/>
            <a:r>
              <a:rPr sz="1000" b="0" i="0">
                <a:solidFill>
                  <a:srgbClr val="6E655C"/>
                </a:solidFill>
                <a:latin typeface="Calibri"/>
              </a:rPr>
              <a:t>The chapter this deck follows.</a:t>
            </a:r>
          </a:p>
        </p:txBody>
      </p:sp>
      <p:sp>
        <p:nvSpPr>
          <p:cNvPr id="9" name="TextBox 8"/>
          <p:cNvSpPr txBox="1"/>
          <p:nvPr/>
        </p:nvSpPr>
        <p:spPr>
          <a:xfrm>
            <a:off x="457200" y="1938528"/>
            <a:ext cx="4023360" cy="585216"/>
          </a:xfrm>
          <a:prstGeom prst="rect">
            <a:avLst/>
          </a:prstGeom>
          <a:noFill/>
        </p:spPr>
        <p:txBody>
          <a:bodyPr wrap="square" lIns="0" rIns="0" tIns="0" bIns="0" anchor="t">
            <a:spAutoFit/>
          </a:bodyPr>
          <a:lstStyle/>
          <a:p>
            <a:pPr algn="l"/>
            <a:r>
              <a:rPr sz="900" b="1" i="0">
                <a:solidFill>
                  <a:srgbClr val="D97A14"/>
                </a:solidFill>
                <a:latin typeface="Calibri"/>
              </a:rPr>
              <a:t>Read  </a:t>
            </a:r>
            <a:r>
              <a:rPr sz="1150" b="1" i="0" u="sng">
                <a:solidFill>
                  <a:srgbClr val="2F6D62"/>
                </a:solidFill>
                <a:latin typeface="Calibri"/>
                <a:hlinkClick r:id="rId4"/>
              </a:rPr>
              <a:t>Bitcoin Core releases</a:t>
            </a:r>
          </a:p>
          <a:p>
            <a:pPr algn="l"/>
            <a:r>
              <a:rPr sz="1000" b="0" i="0">
                <a:solidFill>
                  <a:srgbClr val="6E655C"/>
                </a:solidFill>
                <a:latin typeface="Calibri"/>
              </a:rPr>
              <a:t>Every release, with notes and signatures.</a:t>
            </a:r>
          </a:p>
        </p:txBody>
      </p:sp>
      <p:sp>
        <p:nvSpPr>
          <p:cNvPr id="10" name="TextBox 9"/>
          <p:cNvSpPr txBox="1"/>
          <p:nvPr/>
        </p:nvSpPr>
        <p:spPr>
          <a:xfrm>
            <a:off x="457200" y="2596896"/>
            <a:ext cx="4023360" cy="585216"/>
          </a:xfrm>
          <a:prstGeom prst="rect">
            <a:avLst/>
          </a:prstGeom>
          <a:noFill/>
        </p:spPr>
        <p:txBody>
          <a:bodyPr wrap="square" lIns="0" rIns="0" tIns="0" bIns="0" anchor="t">
            <a:spAutoFit/>
          </a:bodyPr>
          <a:lstStyle/>
          <a:p>
            <a:pPr algn="l"/>
            <a:r>
              <a:rPr sz="900" b="1" i="0">
                <a:solidFill>
                  <a:srgbClr val="D97A14"/>
                </a:solidFill>
                <a:latin typeface="Calibri"/>
              </a:rPr>
              <a:t>Read  </a:t>
            </a:r>
            <a:r>
              <a:rPr sz="1150" b="1" i="0" u="sng">
                <a:solidFill>
                  <a:srgbClr val="2F6D62"/>
                </a:solidFill>
                <a:latin typeface="Calibri"/>
                <a:hlinkClick r:id="rId5"/>
              </a:rPr>
              <a:t>Bitcoin Core RPC reference</a:t>
            </a:r>
          </a:p>
          <a:p>
            <a:pPr algn="l"/>
            <a:r>
              <a:rPr sz="1000" b="0" i="0">
                <a:solidFill>
                  <a:srgbClr val="6E655C"/>
                </a:solidFill>
                <a:latin typeface="Calibri"/>
              </a:rPr>
              <a:t>Every call with its arguments and results.</a:t>
            </a:r>
          </a:p>
        </p:txBody>
      </p:sp>
      <p:sp>
        <p:nvSpPr>
          <p:cNvPr id="11" name="TextBox 10"/>
          <p:cNvSpPr txBox="1"/>
          <p:nvPr/>
        </p:nvSpPr>
        <p:spPr>
          <a:xfrm>
            <a:off x="457200" y="3255264"/>
            <a:ext cx="4023360" cy="585216"/>
          </a:xfrm>
          <a:prstGeom prst="rect">
            <a:avLst/>
          </a:prstGeom>
          <a:noFill/>
        </p:spPr>
        <p:txBody>
          <a:bodyPr wrap="square" lIns="0" rIns="0" tIns="0" bIns="0" anchor="t">
            <a:spAutoFit/>
          </a:bodyPr>
          <a:lstStyle/>
          <a:p>
            <a:pPr algn="l"/>
            <a:r>
              <a:rPr sz="900" b="1" i="0">
                <a:solidFill>
                  <a:srgbClr val="D97A14"/>
                </a:solidFill>
                <a:latin typeface="Calibri"/>
              </a:rPr>
              <a:t>Standards and papers  </a:t>
            </a:r>
            <a:r>
              <a:rPr sz="1150" b="1" i="0" u="sng">
                <a:solidFill>
                  <a:srgbClr val="2F6D62"/>
                </a:solidFill>
                <a:latin typeface="Calibri"/>
                <a:hlinkClick r:id="rId6"/>
              </a:rPr>
              <a:t>BIP 1: what a BIP is</a:t>
            </a:r>
          </a:p>
          <a:p>
            <a:pPr algn="l"/>
            <a:r>
              <a:rPr sz="1000" b="0" i="0">
                <a:solidFill>
                  <a:srgbClr val="6E655C"/>
                </a:solidFill>
                <a:latin typeface="Calibri"/>
              </a:rPr>
              <a:t>How a change to Bitcoin is proposed and numbered.</a:t>
            </a:r>
          </a:p>
        </p:txBody>
      </p:sp>
      <p:sp>
        <p:nvSpPr>
          <p:cNvPr id="12" name="TextBox 11"/>
          <p:cNvSpPr txBox="1"/>
          <p:nvPr/>
        </p:nvSpPr>
        <p:spPr>
          <a:xfrm>
            <a:off x="457200" y="3913631"/>
            <a:ext cx="4023360" cy="585216"/>
          </a:xfrm>
          <a:prstGeom prst="rect">
            <a:avLst/>
          </a:prstGeom>
          <a:noFill/>
        </p:spPr>
        <p:txBody>
          <a:bodyPr wrap="square" lIns="0" rIns="0" tIns="0" bIns="0" anchor="t">
            <a:spAutoFit/>
          </a:bodyPr>
          <a:lstStyle/>
          <a:p>
            <a:pPr algn="l"/>
            <a:r>
              <a:rPr sz="900" b="1" i="0">
                <a:solidFill>
                  <a:srgbClr val="D97A14"/>
                </a:solidFill>
                <a:latin typeface="Calibri"/>
              </a:rPr>
              <a:t>Standards and papers  </a:t>
            </a:r>
            <a:r>
              <a:rPr sz="1150" b="1" i="0" u="sng">
                <a:solidFill>
                  <a:srgbClr val="2F6D62"/>
                </a:solidFill>
                <a:latin typeface="Calibri"/>
                <a:hlinkClick r:id="rId7"/>
              </a:rPr>
              <a:t>Bitcoin white paper</a:t>
            </a:r>
          </a:p>
          <a:p>
            <a:pPr algn="l"/>
            <a:r>
              <a:rPr sz="1000" b="0" i="0">
                <a:solidFill>
                  <a:srgbClr val="6E655C"/>
                </a:solidFill>
                <a:latin typeface="Calibri"/>
              </a:rPr>
              <a:t>Nakamoto's nine pages of 31 October 2008.</a:t>
            </a:r>
          </a:p>
        </p:txBody>
      </p:sp>
      <p:sp>
        <p:nvSpPr>
          <p:cNvPr id="13" name="TextBox 12"/>
          <p:cNvSpPr txBox="1"/>
          <p:nvPr/>
        </p:nvSpPr>
        <p:spPr>
          <a:xfrm>
            <a:off x="4663440" y="1280160"/>
            <a:ext cx="4023360" cy="585216"/>
          </a:xfrm>
          <a:prstGeom prst="rect">
            <a:avLst/>
          </a:prstGeom>
          <a:noFill/>
        </p:spPr>
        <p:txBody>
          <a:bodyPr wrap="square" lIns="0" rIns="0" tIns="0" bIns="0" anchor="t">
            <a:spAutoFit/>
          </a:bodyPr>
          <a:lstStyle/>
          <a:p>
            <a:pPr algn="l"/>
            <a:r>
              <a:rPr sz="900" b="1" i="0">
                <a:solidFill>
                  <a:srgbClr val="D97A14"/>
                </a:solidFill>
                <a:latin typeface="Calibri"/>
              </a:rPr>
              <a:t>Verify and build  </a:t>
            </a:r>
            <a:r>
              <a:rPr sz="1150" b="1" i="0" u="sng">
                <a:solidFill>
                  <a:srgbClr val="2F6D62"/>
                </a:solidFill>
                <a:latin typeface="Calibri"/>
                <a:hlinkClick r:id="rId8"/>
              </a:rPr>
              <a:t>Build guide for Unix</a:t>
            </a:r>
          </a:p>
          <a:p>
            <a:pPr algn="l"/>
            <a:r>
              <a:rPr sz="1000" b="0" i="0">
                <a:solidFill>
                  <a:srgbClr val="6E655C"/>
                </a:solidFill>
                <a:latin typeface="Calibri"/>
              </a:rPr>
              <a:t>Dependencies and commands for bitcoind.</a:t>
            </a:r>
          </a:p>
        </p:txBody>
      </p:sp>
      <p:sp>
        <p:nvSpPr>
          <p:cNvPr id="14" name="TextBox 13"/>
          <p:cNvSpPr txBox="1"/>
          <p:nvPr/>
        </p:nvSpPr>
        <p:spPr>
          <a:xfrm>
            <a:off x="4663440" y="1938528"/>
            <a:ext cx="4023360" cy="585216"/>
          </a:xfrm>
          <a:prstGeom prst="rect">
            <a:avLst/>
          </a:prstGeom>
          <a:noFill/>
        </p:spPr>
        <p:txBody>
          <a:bodyPr wrap="square" lIns="0" rIns="0" tIns="0" bIns="0" anchor="t">
            <a:spAutoFit/>
          </a:bodyPr>
          <a:lstStyle/>
          <a:p>
            <a:pPr algn="l"/>
            <a:r>
              <a:rPr sz="900" b="1" i="0">
                <a:solidFill>
                  <a:srgbClr val="D97A14"/>
                </a:solidFill>
                <a:latin typeface="Calibri"/>
              </a:rPr>
              <a:t>Community  </a:t>
            </a:r>
            <a:r>
              <a:rPr sz="1150" b="1" i="0" u="sng">
                <a:solidFill>
                  <a:srgbClr val="2F6D62"/>
                </a:solidFill>
                <a:latin typeface="Calibri"/>
                <a:hlinkClick r:id="rId9"/>
              </a:rPr>
              <a:t>Bitcoin Core PR Review Club</a:t>
            </a:r>
          </a:p>
          <a:p>
            <a:pPr algn="l"/>
            <a:r>
              <a:rPr sz="1000" b="0" i="0">
                <a:solidFill>
                  <a:srgbClr val="6E655C"/>
                </a:solidFill>
                <a:latin typeface="Calibri"/>
              </a:rPr>
              <a:t>Weekly sessions that read one change together.</a:t>
            </a:r>
          </a:p>
        </p:txBody>
      </p:sp>
      <p:sp>
        <p:nvSpPr>
          <p:cNvPr id="15" name="TextBox 14"/>
          <p:cNvSpPr txBox="1"/>
          <p:nvPr/>
        </p:nvSpPr>
        <p:spPr>
          <a:xfrm>
            <a:off x="4663440" y="2596896"/>
            <a:ext cx="4023360" cy="585216"/>
          </a:xfrm>
          <a:prstGeom prst="rect">
            <a:avLst/>
          </a:prstGeom>
          <a:noFill/>
        </p:spPr>
        <p:txBody>
          <a:bodyPr wrap="square" lIns="0" rIns="0" tIns="0" bIns="0" anchor="t">
            <a:spAutoFit/>
          </a:bodyPr>
          <a:lstStyle/>
          <a:p>
            <a:pPr algn="l"/>
            <a:r>
              <a:rPr sz="900" b="1" i="0">
                <a:solidFill>
                  <a:srgbClr val="D97A14"/>
                </a:solidFill>
                <a:latin typeface="Calibri"/>
              </a:rPr>
              <a:t>Community  </a:t>
            </a:r>
            <a:r>
              <a:rPr sz="1150" b="1" i="0" u="sng">
                <a:solidFill>
                  <a:srgbClr val="2F6D62"/>
                </a:solidFill>
                <a:latin typeface="Calibri"/>
                <a:hlinkClick r:id="rId10"/>
              </a:rPr>
              <a:t>Delving Bitcoin</a:t>
            </a:r>
          </a:p>
          <a:p>
            <a:pPr algn="l"/>
            <a:r>
              <a:rPr sz="1000" b="0" i="0">
                <a:solidFill>
                  <a:srgbClr val="6E655C"/>
                </a:solidFill>
                <a:latin typeface="Calibri"/>
              </a:rPr>
              <a:t>Developers discuss protocol and Core in the open.</a:t>
            </a:r>
          </a:p>
        </p:txBody>
      </p:sp>
      <p:sp>
        <p:nvSpPr>
          <p:cNvPr id="16" name="TextBox 15"/>
          <p:cNvSpPr txBox="1"/>
          <p:nvPr/>
        </p:nvSpPr>
        <p:spPr>
          <a:xfrm>
            <a:off x="4663440" y="3255264"/>
            <a:ext cx="4023360" cy="585216"/>
          </a:xfrm>
          <a:prstGeom prst="rect">
            <a:avLst/>
          </a:prstGeom>
          <a:noFill/>
        </p:spPr>
        <p:txBody>
          <a:bodyPr wrap="square" lIns="0" rIns="0" tIns="0" bIns="0" anchor="t">
            <a:spAutoFit/>
          </a:bodyPr>
          <a:lstStyle/>
          <a:p>
            <a:pPr algn="l"/>
            <a:r>
              <a:rPr sz="900" b="1" i="0">
                <a:solidFill>
                  <a:srgbClr val="D97A14"/>
                </a:solidFill>
                <a:latin typeface="Calibri"/>
              </a:rPr>
              <a:t>Community  </a:t>
            </a:r>
            <a:r>
              <a:rPr sz="1150" b="1" i="0" u="sng">
                <a:solidFill>
                  <a:srgbClr val="2F6D62"/>
                </a:solidFill>
                <a:latin typeface="Calibri"/>
                <a:hlinkClick r:id="rId11"/>
              </a:rPr>
              <a:t>Bitcoin Stack Exchange</a:t>
            </a:r>
          </a:p>
          <a:p>
            <a:pPr algn="l"/>
            <a:r>
              <a:rPr sz="1000" b="0" i="0">
                <a:solidFill>
                  <a:srgbClr val="6E655C"/>
                </a:solidFill>
                <a:latin typeface="Calibri"/>
              </a:rPr>
              <a:t>Ask a question, read the voted answers.</a:t>
            </a:r>
          </a:p>
        </p:txBody>
      </p:sp>
      <p:sp>
        <p:nvSpPr>
          <p:cNvPr id="17" name="TextBox 16"/>
          <p:cNvSpPr txBox="1"/>
          <p:nvPr/>
        </p:nvSpPr>
        <p:spPr>
          <a:xfrm>
            <a:off x="4663440" y="3913631"/>
            <a:ext cx="4023360" cy="585216"/>
          </a:xfrm>
          <a:prstGeom prst="rect">
            <a:avLst/>
          </a:prstGeom>
          <a:noFill/>
        </p:spPr>
        <p:txBody>
          <a:bodyPr wrap="square" lIns="0" rIns="0" tIns="0" bIns="0" anchor="t">
            <a:spAutoFit/>
          </a:bodyPr>
          <a:lstStyle/>
          <a:p>
            <a:pPr algn="l"/>
            <a:r>
              <a:rPr sz="900" b="1" i="0">
                <a:solidFill>
                  <a:srgbClr val="D97A14"/>
                </a:solidFill>
                <a:latin typeface="Calibri"/>
              </a:rPr>
              <a:t>Watch  </a:t>
            </a:r>
            <a:r>
              <a:rPr sz="1150" b="1" i="0" u="sng">
                <a:solidFill>
                  <a:srgbClr val="2F6D62"/>
                </a:solidFill>
                <a:latin typeface="Calibri"/>
                <a:hlinkClick r:id="rId12"/>
              </a:rPr>
              <a:t>Tracing Bitcoin Core v23.0 (talk video)</a:t>
            </a:r>
          </a:p>
          <a:p>
            <a:pPr algn="l"/>
            <a:r>
              <a:rPr sz="1000" b="0" i="0">
                <a:solidFill>
                  <a:srgbClr val="6E655C"/>
                </a:solidFill>
                <a:latin typeface="Calibri"/>
              </a:rPr>
              <a:t>A developer watches a running node with tracepoints.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822960"/>
            <a:ext cx="8229600" cy="3383280"/>
          </a:xfrm>
          <a:prstGeom prst="roundRect">
            <a:avLst>
              <a:gd name="adj" fmla="val 4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3" name="TextBox 2"/>
          <p:cNvSpPr txBox="1"/>
          <p:nvPr/>
        </p:nvSpPr>
        <p:spPr>
          <a:xfrm>
            <a:off x="822960" y="1188720"/>
            <a:ext cx="7498079" cy="1005840"/>
          </a:xfrm>
          <a:prstGeom prst="rect">
            <a:avLst/>
          </a:prstGeom>
          <a:noFill/>
        </p:spPr>
        <p:txBody>
          <a:bodyPr wrap="square" lIns="0" rIns="0" tIns="0" bIns="0" anchor="ctr">
            <a:spAutoFit/>
          </a:bodyPr>
          <a:lstStyle/>
          <a:p>
            <a:pPr algn="l"/>
            <a:r>
              <a:rPr sz="4400" b="0" i="0">
                <a:solidFill>
                  <a:srgbClr val="FFFFFF"/>
                </a:solidFill>
                <a:latin typeface="Cambria"/>
              </a:rPr>
              <a:t>Questions?</a:t>
            </a:r>
          </a:p>
        </p:txBody>
      </p:sp>
      <p:sp>
        <p:nvSpPr>
          <p:cNvPr id="4" name="TextBox 3"/>
          <p:cNvSpPr txBox="1"/>
          <p:nvPr/>
        </p:nvSpPr>
        <p:spPr>
          <a:xfrm>
            <a:off x="822960" y="2286000"/>
            <a:ext cx="7498079" cy="457200"/>
          </a:xfrm>
          <a:prstGeom prst="rect">
            <a:avLst/>
          </a:prstGeom>
          <a:noFill/>
        </p:spPr>
        <p:txBody>
          <a:bodyPr wrap="square" lIns="0" rIns="0" tIns="0" bIns="0" anchor="t">
            <a:spAutoFit/>
          </a:bodyPr>
          <a:lstStyle/>
          <a:p>
            <a:pPr algn="l"/>
            <a:r>
              <a:rPr sz="1800" b="0" i="1">
                <a:solidFill>
                  <a:srgbClr val="FFD28A"/>
                </a:solidFill>
                <a:latin typeface="Calibri"/>
              </a:rPr>
              <a:t>From the source code to a node you can ask</a:t>
            </a:r>
          </a:p>
        </p:txBody>
      </p:sp>
      <p:sp>
        <p:nvSpPr>
          <p:cNvPr id="5" name="TextBox 4"/>
          <p:cNvSpPr txBox="1"/>
          <p:nvPr/>
        </p:nvSpPr>
        <p:spPr>
          <a:xfrm>
            <a:off x="822960" y="3017520"/>
            <a:ext cx="7498079" cy="411480"/>
          </a:xfrm>
          <a:prstGeom prst="rect">
            <a:avLst/>
          </a:prstGeom>
          <a:noFill/>
        </p:spPr>
        <p:txBody>
          <a:bodyPr wrap="square" lIns="0" rIns="0" tIns="0" bIns="0" anchor="t">
            <a:spAutoFit/>
          </a:bodyPr>
          <a:lstStyle/>
          <a:p>
            <a:pPr algn="l"/>
            <a:r>
              <a:rPr sz="1500" b="0" i="0">
                <a:solidFill>
                  <a:srgbClr val="F2A860"/>
                </a:solidFill>
                <a:latin typeface="Cambria"/>
              </a:rPr>
              <a:t>Next: chapter 4, Keys and Addresses</a:t>
            </a:r>
          </a:p>
        </p:txBody>
      </p:sp>
      <p:sp>
        <p:nvSpPr>
          <p:cNvPr id="6" name="TextBox 5"/>
          <p:cNvSpPr txBox="1"/>
          <p:nvPr/>
        </p:nvSpPr>
        <p:spPr>
          <a:xfrm>
            <a:off x="822960" y="3657600"/>
            <a:ext cx="7498079" cy="365760"/>
          </a:xfrm>
          <a:prstGeom prst="rect">
            <a:avLst/>
          </a:prstGeom>
          <a:noFill/>
        </p:spPr>
        <p:txBody>
          <a:bodyPr wrap="square" lIns="0" rIns="0" tIns="0" bIns="0" anchor="t">
            <a:spAutoFit/>
          </a:bodyPr>
          <a:lstStyle/>
          <a:p>
            <a:pPr algn="l"/>
            <a:r>
              <a:rPr sz="1100" b="0" i="0">
                <a:solidFill>
                  <a:srgbClr val="E6EDF3"/>
                </a:solidFill>
                <a:latin typeface="Calibri"/>
              </a:rPr>
              <a:t>Python 3.14.6; every result in this deck was computed by the chapter library, not typed</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42 / 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