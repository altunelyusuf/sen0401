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Chapters 1 and 2 described the system; this chapter hands it to you. By tonight you can be running the same program that wrote the genesis block's successors.
FULL TEXT: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by the end you can fetch, verify, build, run and query the reference implementation - and every claim on the way arrives with its receipt.
ASK: Who already runs a node? You are today's teaching assistants.
FULL TEXT: course page, chapter 3 -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node is a computer that runs Bitcoin software and takes part in the peer-to-peer network, and this first branch of the chapter is about the most complete kind of node, the full verification node. The chapter opens with the reason such a node exists.
FULL TEXT: course page, chapter 3 -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node is a computer that runs Bitcoin software and takes part in the peer-to-peer network, and this first branch of the chapter is about the most complete kind of node, the full verification node. The chapter opens with the reason such a node exists.
FULL TEXT: course page, chapter 3 - Node, Build, Operation,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node is a computer that runs Bitcoin software and takes part in the peer-to-peer network, and this first branch of the chapter is about the most complete kind of node, the full verification node. The chapter opens with the reason such a node exists.
FULL TEXT: course page, chapter 3 -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(2009-01-09): Six days after the genesis block, Satoshi announced Bitcoin version 0.1 - a Windows program on SourceForge. A year and a half later he wrote the sentence this course keeps returning to: once version 0.1 was released, the core design was set in stone for the rest of its lifetime. Everything this chapter builds, configures and queries descends from that one program, which is why Bitcoin Core is called the reference implementation.
SOURCE: Announcement of 2009-01-09 on the metzdowd.com cryptography list ('Bitcoin v0.1 released'); the 'set in stone' sentence is Satoshi's forum post of 2010-06-17; project history summarized at en.wikipedia.org/wiki/Bitcoin_Core.
IMAGE: the 0.5.2 GUI (MIT licence) - the same program two years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pruned node is a full node that deletes old block files after it has verified them, so that it needs far less disk space.
ASK: Which posture still enforces every consensus rule? (both - that is the point)
FULL TEXT: course page, chapter 3 - PrunedNode, InitialDownload.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build branch is about turning the text of Bitcoin Core into a program that can run. The book calls this part of the chapter the Bitcoin development environment: the tools, libraries and support software a developer needs for writing Bitcoin applications, which the chapter walks through step by step.
FULL TEXT: course page, chapter 3 -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Git is a distributed version control system, and a repository is the database in which it keeps a project and all of its history. The book calls Git the most widely used distributed version control system and an essential part of the toolkit of every software developer (Antonopoulos and Harding, 2023).
ASK: Why does the course pin a commit instead of saying 'latest'?
FULL TEXT: course page, chapter 3 - GitRepository, ReleaseTag.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(since 2011; Guix from release 22.0): A downloaded binary asks for trust; Bitcoin Core answers with arithmetic. Every release is built reproducibly - first under Gitian, since release 22.0 under Guix - so that anyone compiling the tagged source gets a byte-identical result. Independent builders publish signed hashes of what they produced, side by side, in a public repository. If one build differed, its hash would betray it instantly - the same trick the chapter's Merkle root plays on transactions.
SOURCE: bitcoin-core/guix.sigs on GitHub: per-release folders of builder attestations; Guix build documentation in the pinned source tree, contrib/guix/README.md.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CMake is the build system that Bitcoin Core has used since release 29.0. The manual of CMake explains its role: a buildsystem describes how to build a project's executables and libraries from its source code using a build tool to automate the process, and CMake lets a project describe its buildsystem abstractly in files written in the CMake language, from which it generates a preferred buildsystem for each user (Kitware, 2026).
ASK: Why does the project treat review and tests as the bottleneck?
FULL TEXT: course page, chapter 3 - CMakeBuild, SoftwareTesting.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Operation is the second large part of the chapter, and it is about what happens after the software has been built or downloaded: how a node is started, how it is configured, how its state is observed, and what kind of wallet comes with it.
FULL TEXT: course page, chapter 3 -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start-up log is the stream of messages that the node writes while it starts, and afterwards as it runs. With the option that sends the log to the console it appears in the terminal, and otherwise it goes to a file called debug.log in the data directory, as the documentation of the data directory states (Bitcoin Core, 2026).
ASK: Where would you look first when a node misbehaves? (the answer is this slide's title)
FULL TEXT: course page, chapter 3 - StartupLog, Daemon.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(2011 and 2014): Bitcoin Core is the program Satoshi published in January 2009, still developed in public. In 2011 Satoshi handed the project to Gavin Andresen - the faucet builder of chapter 2 - and withdrew. In April 2014 Andresen passed the lead-maintainer role to Wladimir van der Laan to focus on protocol work. Hundreds of contributors and several maintainers later, the repository, its tags and its releases carry on; no single person has been indispensable since.
SOURCE: Repository history of bitcoin/bitcoin (the chapter's pinned checkout is commit 05bc2f53); maintainer handoffs of 2011 and April 2014 as recorded in the project history and summarized at en.wikipedia.org/wiki/Bitcoin_Core.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JSON-RPC is a protocol for remote procedure calls whose messages are written in JSON. Its specification describes it as a stateless, light-weight remote procedure call protocol that defines a few data structures and the rules for processing them, independent of the transport, so that the same messages may travel within a process, over sockets or over HTTP (JSON-RPC Working Group, 2013).
ASK: Your phone wallet never shows this - what is it speaking underneath?
FULL TEXT: course page, chapter 3 - JsonRpc, BitcoinCommand.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descriptor wallet is a wallet whose content is a set of output descriptions, each stating one family of scripts that the wallet can receive to and spend from. Bitcoin Core's documentation says that its code internally stores and operates on descriptors to reason about the sets of outputs that belong to the wallet (Bitcoin Core, 2026).
ASK: What does the # suffix buy you when you mistype one character?
FULL TEXT: course page, chapter 3 - DescriptorWallet, LegacyWallet.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decoded transaction is the structure that results from reading the bytes of a serialized transaction and naming each field. The command decoderawtransaction takes the hexadecimal string and returns a JSON object (Antonopoulos and Harding, 2023).
ASK: Which of the two identifiers survives a witness change, and why does that matter?
FULL TEXT: course page, chapter 3 - DecodedTransaction, TransactionIdentifier.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data branch is about what a node holds and what the interface shows of it: the transactions that move value, the blocks that gather them into the shared record, and the state of the chain that results.
FULL TEXT: course page, chapter 3 -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block header is the summary at the head of every block.
ASK: Chapter 2 drew this tree with toy leaves - what changed here? (nothing but the data)
FULL TEXT: course page, chapter 3 - BlockHeader, MerkleRoot.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semantics branch connects the chapter to the course's wider theme, the meaning of data. A node answers every request in the JSON text format, a structure of names and values, which a program can read but whose names carry no meaning of their own; the field called height in a block's answer means what the documentation says it means, and nothing in the text states it.
FULL TEXT: course page, chapter 3 -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3 -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The homework writes itself: clone, checkout the newest tag, build, and bring your log's worker-thread line to class.
ASK: Who will have a pruned node syncing before Friday?
FULL TEXT: course page, chapter 3 -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something you watched run - a log, a request, a recomputed root. Next: the keys and addresses that make ownership work.
FULL TEXT: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Bitcoin_Core"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bitcoin-core/guix.sigs"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en.wikipedia.org/wiki/Bitcoin_Core"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bitcoinbook/bitcoinbook/blob/develop/ch03_bitcoin-core.adoc" TargetMode="External"/><Relationship Id="rId2" Type="http://schemas.openxmlformats.org/officeDocument/2006/relationships/hyperlink" Target="https://bitcoincore.org" TargetMode="External"/><Relationship Id="rId3" Type="http://schemas.openxmlformats.org/officeDocument/2006/relationships/hyperlink" Target="https://github.com/bitcoin/bitcoin" TargetMode="External"/><Relationship Id="rId4" Type="http://schemas.openxmlformats.org/officeDocument/2006/relationships/hyperlink" Target="https://github.com/bitcoin-core/guix.sigs" TargetMode="External"/><Relationship Id="rId5" Type="http://schemas.openxmlformats.org/officeDocument/2006/relationships/hyperlink" Target="https://github.com/bitcoin/bitcoin/tree/master/doc" TargetMode="External"/><Relationship Id="rId6" Type="http://schemas.openxmlformats.org/officeDocument/2006/relationships/hyperlink" Target="https://developer.bitcoin.org/reference/rpc/" TargetMode="External"/><Relationship Id="rId7" Type="http://schemas.openxmlformats.org/officeDocument/2006/relationships/hyperlink" Target="https://bitcoin.stackexchange.com" TargetMode="External"/><Relationship Id="rId8" Type="http://schemas.openxmlformats.org/officeDocument/2006/relationships/hyperlink" Target="https://en.wikipedia.org/wiki/Bitcoin_Core" TargetMode="External"/><Relationship Id="rId9" Type="http://schemas.openxmlformats.org/officeDocument/2006/relationships/hyperlink" Target="https://git-scm.com/book" TargetMode="External"/><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3: Bitcoin Core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The reference implementation - download it, verify it, run it, question it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3/assets/c3_cointocode.png">    </p:cNvPr>
          <p:cNvPicPr>
            <a:picLocks noChangeAspect="1"/>
          </p:cNvPicPr>
          <p:nvPr/>
        </p:nvPicPr>
        <p:blipFill>
          <a:blip r:embed="rId1"/>
          <a:srcRect l="0" r="0" t="0" b="0"/>
          <a:stretch/>
        </p:blipFill>
        <p:spPr>
          <a:xfrm>
            <a:off x="5577840" y="1051560"/>
            <a:ext cx="3200400" cy="2286000"/>
          </a:xfrm>
          <a:prstGeom prst="rect">
            <a:avLst/>
          </a:prstGeom>
        </p:spPr>
      </p:pic>
      <p:sp>
        <p:nvSpPr>
          <p:cNvPr id="12" name="Text 9"/>
          <p:cNvSpPr txBox="1"/>
          <p:nvPr/>
        </p:nvSpPr>
        <p:spPr>
          <a:xfrm>
            <a:off x="5577840" y="335584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 full, pruned, and the UTXO set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From source to binary - tags, builds, proofs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Running and talking to it - logs, RPC, wallets  (slides 12-17)</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as data, summary, and resources  (slides 18-23)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examples, shown with their results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by tonight, your own node</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programs does Bitcoin Core consist of?</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settings and files decide how a node runs?</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numbers does the node report about a transaction and a block?</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book's printed outputs differ from the real release 31.1 and the current source?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downloaded release and a chosen library be checked before they are trusted?</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3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13 concepts</a:t>
            </a:r>
            <a:endParaRPr lang="en-US" sz="130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Build</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Operation</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19 concepts</a:t>
            </a:r>
            <a:endParaRPr lang="en-US" sz="130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Interface</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Data</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23 concepts</a:t>
            </a:r>
            <a:endParaRPr lang="en-US" sz="130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Ecosystem</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30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Semantics</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30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Computing</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node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reference implementation is, and what it keeps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node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Pruned node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Initial download</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UTXO set</a:t>
            </a:r>
            <a:pPr algn="ctr" indent="0" marL="0">
              <a:buNone/>
            </a:pPr>
            <a:endParaRPr lang="en-US" sz="1400" dirty="0"/>
          </a:p>
        </p:txBody>
      </p:sp>
      <p:pic>
        <p:nvPicPr>
          <p:cNvPr id="14" name="Image 0" descr="../../03-materials/ch03/assets/mbc3_0301.png">    </p:cNvPr>
          <p:cNvPicPr>
            <a:picLocks noChangeAspect="1"/>
          </p:cNvPicPr>
          <p:nvPr/>
        </p:nvPicPr>
        <p:blipFill>
          <a:blip r:embed="rId1"/>
          <a:srcRect l="0" r="0" t="0" b="0"/>
          <a:stretch/>
        </p:blipFill>
        <p:spPr>
          <a:xfrm>
            <a:off x="5760720" y="1737360"/>
            <a:ext cx="3017520" cy="2651760"/>
          </a:xfrm>
          <a:prstGeom prst="rect">
            <a:avLst/>
          </a:prstGeom>
        </p:spPr>
      </p:pic>
      <p:sp>
        <p:nvSpPr>
          <p:cNvPr id="15" name="Text 12"/>
          <p:cNvSpPr txBox="1"/>
          <p:nvPr/>
        </p:nvSpPr>
        <p:spPr>
          <a:xfrm>
            <a:off x="5760720" y="440740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Core architecture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Version 0.1, set in stone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2009-01-09</a:t>
            </a:r>
            <a:endParaRPr lang="en-US" sz="1300" dirty="0"/>
          </a:p>
        </p:txBody>
      </p:sp>
      <p:sp>
        <p:nvSpPr>
          <p:cNvPr id="6" name="Shape 4"/>
          <p:cNvSpPr/>
          <p:nvPr/>
        </p:nvSpPr>
        <p:spPr>
          <a:xfrm>
            <a:off x="457200" y="1298448"/>
            <a:ext cx="2834640" cy="228600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1A1A1A"/>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Friday January 9 2009</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Bitcoin v0.1 released</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download on SourceForge</a:t>
            </a:r>
            <a:endParaRPr lang="en-US" sz="1000" dirty="0"/>
          </a:p>
        </p:txBody>
      </p:sp>
      <p:sp>
        <p:nvSpPr>
          <p:cNvPr id="13" name="Shape 11"/>
          <p:cNvSpPr/>
          <p:nvPr/>
        </p:nvSpPr>
        <p:spPr>
          <a:xfrm>
            <a:off x="3611880" y="16123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3886200" y="13716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Six days after the genesis block: a runnable Windows program</a:t>
            </a:r>
            <a:endParaRPr lang="en-US" sz="1300" dirty="0"/>
          </a:p>
        </p:txBody>
      </p:sp>
      <p:sp>
        <p:nvSpPr>
          <p:cNvPr id="15" name="Shape 13"/>
          <p:cNvSpPr/>
          <p:nvPr/>
        </p:nvSpPr>
        <p:spPr>
          <a:xfrm>
            <a:off x="3611880" y="22219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3886200" y="19812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core design was set in stone' - Satoshi, a year later</a:t>
            </a:r>
            <a:endParaRPr lang="en-US" sz="1300" dirty="0"/>
          </a:p>
        </p:txBody>
      </p:sp>
      <p:sp>
        <p:nvSpPr>
          <p:cNvPr id="17" name="Shape 15"/>
          <p:cNvSpPr/>
          <p:nvPr/>
        </p:nvSpPr>
        <p:spPr>
          <a:xfrm>
            <a:off x="3611880" y="2831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3886200" y="25908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Everything this chapter runs descends from that program</a:t>
            </a:r>
            <a:endParaRPr lang="en-US" sz="1300" dirty="0"/>
          </a:p>
        </p:txBody>
      </p:sp>
      <p:pic>
        <p:nvPicPr>
          <p:cNvPr id="19" name="Image 0" descr="../../03-materials/ch03/assets/shot_bitcoinqt_0_5_2.png">    </p:cNvPr>
          <p:cNvPicPr>
            <a:picLocks noChangeAspect="1"/>
          </p:cNvPicPr>
          <p:nvPr/>
        </p:nvPicPr>
        <p:blipFill>
          <a:blip r:embed="rId1"/>
          <a:srcRect l="0" r="0" t="0" b="0"/>
          <a:stretch/>
        </p:blipFill>
        <p:spPr>
          <a:xfrm>
            <a:off x="3611880" y="3218688"/>
            <a:ext cx="2011680" cy="731520"/>
          </a:xfrm>
          <a:prstGeom prst="rect">
            <a:avLst/>
          </a:prstGeom>
        </p:spPr>
      </p:pic>
      <p:sp>
        <p:nvSpPr>
          <p:cNvPr id="20" name="Shape 17"/>
          <p:cNvSpPr/>
          <p:nvPr/>
        </p:nvSpPr>
        <p:spPr>
          <a:xfrm>
            <a:off x="3611880" y="4041648"/>
            <a:ext cx="1471178"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703320"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a…</a:t>
            </a:r>
            <a:endParaRPr lang="en-US" sz="750" dirty="0"/>
          </a:p>
        </p:txBody>
      </p:sp>
      <p:sp>
        <p:nvSpPr>
          <p:cNvPr id="22" name="Shape 19"/>
          <p:cNvSpPr/>
          <p:nvPr/>
        </p:nvSpPr>
        <p:spPr>
          <a:xfrm>
            <a:off x="5192786" y="4041648"/>
            <a:ext cx="1471178"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284226"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 Windows build on …</a:t>
            </a:r>
            <a:endParaRPr lang="en-US" sz="750" dirty="0"/>
          </a:p>
        </p:txBody>
      </p:sp>
      <p:sp>
        <p:nvSpPr>
          <p:cNvPr id="24" name="Shape 21"/>
          <p:cNvSpPr/>
          <p:nvPr/>
        </p:nvSpPr>
        <p:spPr>
          <a:xfrm>
            <a:off x="6773692" y="4041648"/>
            <a:ext cx="806775"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6865132"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2009-…</a:t>
            </a:r>
            <a:endParaRPr lang="en-US" sz="750" dirty="0"/>
          </a:p>
        </p:txBody>
      </p:sp>
      <p:sp>
        <p:nvSpPr>
          <p:cNvPr id="26" name="Shape 23"/>
          <p:cNvSpPr/>
          <p:nvPr/>
        </p:nvSpPr>
        <p:spPr>
          <a:xfrm>
            <a:off x="7690195" y="4041648"/>
            <a:ext cx="996605"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781635" y="4041648"/>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a:t>
            </a:r>
            <a:endParaRPr lang="en-US" sz="750" dirty="0"/>
          </a:p>
        </p:txBody>
      </p:sp>
      <p:sp>
        <p:nvSpPr>
          <p:cNvPr id="28"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software came first - the program IS the specification</a:t>
            </a:r>
            <a:endParaRPr lang="en-US" sz="1350" dirty="0"/>
          </a:p>
        </p:txBody>
      </p:sp>
      <p:sp>
        <p:nvSpPr>
          <p:cNvPr id="30"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program, many postures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pruned, and the set every posture must keep</a:t>
            </a:r>
            <a:endParaRPr lang="en-US" sz="1300" dirty="0"/>
          </a:p>
        </p:txBody>
      </p:sp>
      <p:sp>
        <p:nvSpPr>
          <p:cNvPr id="6" name="Shape 4"/>
          <p:cNvSpPr/>
          <p:nvPr/>
        </p:nvSpPr>
        <p:spPr>
          <a:xfrm>
            <a:off x="457200" y="146304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archive</a:t>
            </a:r>
            <a:endParaRPr lang="en-US" sz="1500" dirty="0"/>
          </a:p>
        </p:txBody>
      </p:sp>
      <p:sp>
        <p:nvSpPr>
          <p:cNvPr id="8" name="Text 6"/>
          <p:cNvSpPr txBox="1"/>
          <p:nvPr/>
        </p:nvSpPr>
        <p:spPr>
          <a:xfrm>
            <a:off x="64008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Keeps every block since 2009</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Serves history to anyone who asks</a:t>
            </a:r>
            <a:endParaRPr lang="en-US" sz="1200" dirty="0"/>
          </a:p>
        </p:txBody>
      </p:sp>
      <p:sp>
        <p:nvSpPr>
          <p:cNvPr id="9" name="Shape 7"/>
          <p:cNvSpPr/>
          <p:nvPr/>
        </p:nvSpPr>
        <p:spPr>
          <a:xfrm>
            <a:off x="4754880" y="146304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Pruned</a:t>
            </a:r>
            <a:endParaRPr lang="en-US" sz="1500" dirty="0"/>
          </a:p>
        </p:txBody>
      </p:sp>
      <p:sp>
        <p:nvSpPr>
          <p:cNvPr id="11" name="Text 9"/>
          <p:cNvSpPr txBox="1"/>
          <p:nvPr/>
        </p:nvSpPr>
        <p:spPr>
          <a:xfrm>
            <a:off x="493776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Verifies everything, then discards old blocks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550 MB floor - the run checks 5000 &gt;= 550</a:t>
            </a:r>
            <a:endParaRPr lang="en-US" sz="1200" dirty="0"/>
          </a:p>
        </p:txBody>
      </p:sp>
      <p:sp>
        <p:nvSpPr>
          <p:cNvPr id="12" name="Text 10"/>
          <p:cNvSpPr txBox="1"/>
          <p:nvPr/>
        </p:nvSpPr>
        <p:spPr>
          <a:xfrm>
            <a:off x="457200" y="32461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pruning's floor, checked</a:t>
            </a:r>
            <a:endParaRPr lang="en-US" sz="1150" dirty="0"/>
          </a:p>
        </p:txBody>
      </p:sp>
      <p:sp>
        <p:nvSpPr>
          <p:cNvPr id="13" name="Shape 11"/>
          <p:cNvSpPr/>
          <p:nvPr/>
        </p:nvSpPr>
        <p:spPr>
          <a:xfrm>
            <a:off x="457200" y="3520440"/>
            <a:ext cx="393192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639312"/>
            <a:ext cx="356616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5000 &gt;= 550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5" name="Text 13"/>
          <p:cNvSpPr txBox="1"/>
          <p:nvPr/>
        </p:nvSpPr>
        <p:spPr>
          <a:xfrm>
            <a:off x="457200" y="440740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663440" y="32461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IBD: 400 GB at 10 MB/s, in hours</a:t>
            </a:r>
            <a:endParaRPr lang="en-US" sz="1150" dirty="0"/>
          </a:p>
        </p:txBody>
      </p:sp>
      <p:sp>
        <p:nvSpPr>
          <p:cNvPr id="17" name="Shape 15"/>
          <p:cNvSpPr/>
          <p:nvPr/>
        </p:nvSpPr>
        <p:spPr>
          <a:xfrm>
            <a:off x="4663440" y="3520440"/>
            <a:ext cx="402336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4846320" y="3639312"/>
            <a:ext cx="365760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400 * 10 / 1000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a:t>
            </a:r>
            <a:endParaRPr lang="en-US" sz="950" dirty="0"/>
          </a:p>
        </p:txBody>
      </p:sp>
      <p:sp>
        <p:nvSpPr>
          <p:cNvPr id="19" name="Text 17"/>
          <p:cNvSpPr txBox="1"/>
          <p:nvPr/>
        </p:nvSpPr>
        <p:spPr>
          <a:xfrm>
            <a:off x="4663440" y="44074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rules, different storage - pruning keeps the checks, drops the history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From source to binary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Trust arithmetic, not downloads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Clone and tags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Reproducible builds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CMake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Clone it, then pick your version by tag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repository is the publication of record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chapter corpus itself reads a pinned checkout - commit 05bc2f53 - and the tag list was read live from the public repository on 2026-10-02.</a:t>
            </a:r>
            <a:endParaRPr lang="en-US" sz="1250" dirty="0"/>
          </a:p>
        </p:txBody>
      </p:sp>
      <p:sp>
        <p:nvSpPr>
          <p:cNvPr id="7" name="Shape 5"/>
          <p:cNvSpPr/>
          <p:nvPr/>
        </p:nvSpPr>
        <p:spPr>
          <a:xfrm>
            <a:off x="457200" y="1463040"/>
            <a:ext cx="2426208" cy="1051560"/>
          </a:xfrm>
          <a:prstGeom prst="roundRect">
            <a:avLst>
              <a:gd name="adj" fmla="val 8696"/>
            </a:avLst>
          </a:prstGeom>
          <a:solidFill>
            <a:srgbClr val="2F6D62"/>
          </a:solidFill>
          <a:ln w="12700">
            <a:solidFill>
              <a:srgbClr val="2F6D62"/>
            </a:solidFill>
            <a:prstDash val="solid"/>
          </a:ln>
        </p:spPr>
      </p:sp>
      <p:sp>
        <p:nvSpPr>
          <p:cNvPr id="8" name="Text 6"/>
          <p:cNvSpPr txBox="1"/>
          <p:nvPr/>
        </p:nvSpPr>
        <p:spPr>
          <a:xfrm>
            <a:off x="530352"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clone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whole history</a:t>
            </a:r>
            <a:endParaRPr lang="en-US" sz="1250" dirty="0"/>
          </a:p>
        </p:txBody>
      </p:sp>
      <p:sp>
        <p:nvSpPr>
          <p:cNvPr id="9" name="Shape 7"/>
          <p:cNvSpPr/>
          <p:nvPr/>
        </p:nvSpPr>
        <p:spPr>
          <a:xfrm>
            <a:off x="2938272" y="1988820"/>
            <a:ext cx="365760" cy="0"/>
          </a:xfrm>
          <a:prstGeom prst="line">
            <a:avLst/>
          </a:prstGeom>
          <a:noFill/>
          <a:ln w="25400">
            <a:solidFill>
              <a:srgbClr val="D97A14"/>
            </a:solidFill>
            <a:prstDash val="solid"/>
            <a:tailEnd type="triangle"/>
          </a:ln>
        </p:spPr>
      </p:sp>
      <p:sp>
        <p:nvSpPr>
          <p:cNvPr id="10" name="Shape 8"/>
          <p:cNvSpPr/>
          <p:nvPr/>
        </p:nvSpPr>
        <p:spPr>
          <a:xfrm>
            <a:off x="3358896" y="1463040"/>
            <a:ext cx="2426208" cy="1051560"/>
          </a:xfrm>
          <a:prstGeom prst="roundRect">
            <a:avLst>
              <a:gd name="adj" fmla="val 8696"/>
            </a:avLst>
          </a:prstGeom>
          <a:solidFill>
            <a:srgbClr val="2F6D62"/>
          </a:solidFill>
          <a:ln w="12700">
            <a:solidFill>
              <a:srgbClr val="2F6D62"/>
            </a:solidFill>
            <a:prstDash val="solid"/>
          </a:ln>
        </p:spPr>
      </p:sp>
      <p:sp>
        <p:nvSpPr>
          <p:cNvPr id="11" name="Text 9"/>
          <p:cNvSpPr txBox="1"/>
          <p:nvPr/>
        </p:nvSpPr>
        <p:spPr>
          <a:xfrm>
            <a:off x="3432048"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tag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list the releases</a:t>
            </a:r>
            <a:endParaRPr lang="en-US" sz="1250" dirty="0"/>
          </a:p>
        </p:txBody>
      </p:sp>
      <p:sp>
        <p:nvSpPr>
          <p:cNvPr id="12" name="Shape 10"/>
          <p:cNvSpPr/>
          <p:nvPr/>
        </p:nvSpPr>
        <p:spPr>
          <a:xfrm>
            <a:off x="5839968" y="1988820"/>
            <a:ext cx="365760" cy="0"/>
          </a:xfrm>
          <a:prstGeom prst="line">
            <a:avLst/>
          </a:prstGeom>
          <a:noFill/>
          <a:ln w="25400">
            <a:solidFill>
              <a:srgbClr val="D97A14"/>
            </a:solidFill>
            <a:prstDash val="solid"/>
            <a:tailEnd type="triangle"/>
          </a:ln>
        </p:spPr>
      </p:sp>
      <p:sp>
        <p:nvSpPr>
          <p:cNvPr id="13" name="Shape 11"/>
          <p:cNvSpPr/>
          <p:nvPr/>
        </p:nvSpPr>
        <p:spPr>
          <a:xfrm>
            <a:off x="6260592" y="1463040"/>
            <a:ext cx="2426208" cy="1051560"/>
          </a:xfrm>
          <a:prstGeom prst="roundRect">
            <a:avLst>
              <a:gd name="adj" fmla="val 8696"/>
            </a:avLst>
          </a:prstGeom>
          <a:solidFill>
            <a:srgbClr val="2F6D62"/>
          </a:solidFill>
          <a:ln w="12700">
            <a:solidFill>
              <a:srgbClr val="2F6D62"/>
            </a:solidFill>
            <a:prstDash val="solid"/>
          </a:ln>
        </p:spPr>
      </p:sp>
      <p:sp>
        <p:nvSpPr>
          <p:cNvPr id="14" name="Text 12"/>
          <p:cNvSpPr txBox="1"/>
          <p:nvPr/>
        </p:nvSpPr>
        <p:spPr>
          <a:xfrm>
            <a:off x="6333744"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checkout v...</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one exact snapshot</a:t>
            </a:r>
            <a:endParaRPr lang="en-US" sz="1250" dirty="0"/>
          </a:p>
        </p:txBody>
      </p:sp>
      <p:sp>
        <p:nvSpPr>
          <p:cNvPr id="15" name="Text 13"/>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commit name is 40 hex digits</a:t>
            </a:r>
            <a:endParaRPr lang="en-US" sz="1150" dirty="0"/>
          </a:p>
        </p:txBody>
      </p:sp>
      <p:sp>
        <p:nvSpPr>
          <p:cNvPr id="16" name="Shape 14"/>
          <p:cNvSpPr/>
          <p:nvPr/>
        </p:nvSpPr>
        <p:spPr>
          <a:xfrm>
            <a:off x="457200" y="2743200"/>
            <a:ext cx="393192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640080" y="2862072"/>
            <a:ext cx="3566160" cy="6309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pPr indent="0" marL="0">
              <a:buNone/>
            </a:pPr>
            <a:r>
              <a:rPr lang="en-US" sz="910" dirty="0">
                <a:solidFill>
                  <a:srgbClr val="E6EDF3"/>
                </a:solidFill>
                <a:latin typeface="Courier New" pitchFamily="34" charset="0"/>
                <a:ea typeface="Courier New" pitchFamily="34" charset="-122"/>
                <a:cs typeface="Courier New" pitchFamily="34" charset="-120"/>
              </a:rPr>
              <a:t>len('05bc2f53ce0cb239c17dbdd6b261bd2db7d2a940')</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40</a:t>
            </a:r>
            <a:endParaRPr lang="en-US" sz="910" dirty="0"/>
          </a:p>
        </p:txBody>
      </p:sp>
      <p:sp>
        <p:nvSpPr>
          <p:cNvPr id="18" name="Text 16"/>
          <p:cNvSpPr txBox="1"/>
          <p:nvPr/>
        </p:nvSpPr>
        <p:spPr>
          <a:xfrm>
            <a:off x="457200" y="36301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663440" y="24688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tag is just a version, readable</a:t>
            </a:r>
            <a:endParaRPr lang="en-US" sz="1150" dirty="0"/>
          </a:p>
        </p:txBody>
      </p:sp>
      <p:sp>
        <p:nvSpPr>
          <p:cNvPr id="20" name="Shape 18"/>
          <p:cNvSpPr/>
          <p:nvPr/>
        </p:nvSpPr>
        <p:spPr>
          <a:xfrm>
            <a:off x="4663440" y="2743200"/>
            <a:ext cx="402336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846320" y="2862072"/>
            <a:ext cx="36576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'v24.0.1'.lstrip('v').split('.')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['24', '0', '1']</a:t>
            </a:r>
            <a:endParaRPr lang="en-US" sz="1000" dirty="0"/>
          </a:p>
        </p:txBody>
      </p:sp>
      <p:sp>
        <p:nvSpPr>
          <p:cNvPr id="22" name="Text 20"/>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3840480"/>
            <a:ext cx="2781605"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457200" y="3840480"/>
            <a:ext cx="2781605"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stable today: v31.1</a:t>
            </a:r>
            <a:endParaRPr lang="en-US" sz="1200" dirty="0"/>
          </a:p>
        </p:txBody>
      </p:sp>
      <p:sp>
        <p:nvSpPr>
          <p:cNvPr id="25" name="Shape 23"/>
          <p:cNvSpPr/>
          <p:nvPr/>
        </p:nvSpPr>
        <p:spPr>
          <a:xfrm>
            <a:off x="3439973" y="3840480"/>
            <a:ext cx="341254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3439973" y="3840480"/>
            <a:ext cx="341254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next candidate: v32.0rc3</a:t>
            </a:r>
            <a:endParaRPr lang="en-US" sz="1200" dirty="0"/>
          </a:p>
        </p:txBody>
      </p:sp>
      <p:sp>
        <p:nvSpPr>
          <p:cNvPr id="27" name="Shape 25"/>
          <p:cNvSpPr/>
          <p:nvPr/>
        </p:nvSpPr>
        <p:spPr>
          <a:xfrm>
            <a:off x="457200" y="4425696"/>
            <a:ext cx="3286354"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457200" y="4425696"/>
            <a:ext cx="3286354"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book's example: v24.0.1</a:t>
            </a:r>
            <a:endParaRPr lang="en-US" sz="12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release is a tag; a tag names one exact snapshot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Dozens of builders, one identical binary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Guix from release 22.0</a:t>
            </a:r>
            <a:endParaRPr lang="en-US" sz="1300" dirty="0"/>
          </a:p>
        </p:txBody>
      </p:sp>
      <p:pic>
        <p:nvPicPr>
          <p:cNvPr id="6" name="Image 0" descr="../../03-materials/ch03/assets/core_logo_128.png">    </p:cNvPr>
          <p:cNvPicPr>
            <a:picLocks noChangeAspect="1"/>
          </p:cNvPicPr>
          <p:nvPr/>
        </p:nvPicPr>
        <p:blipFill>
          <a:blip r:embed="rId1"/>
          <a:srcRect l="0" r="0" t="0" b="0"/>
          <a:stretch/>
        </p:blipFill>
        <p:spPr>
          <a:xfrm>
            <a:off x="548640" y="1463040"/>
            <a:ext cx="1371600" cy="1371600"/>
          </a:xfrm>
          <a:prstGeom prst="rect">
            <a:avLst/>
          </a:prstGeom>
        </p:spPr>
      </p:pic>
      <p:sp>
        <p:nvSpPr>
          <p:cNvPr id="7" name="Text 4"/>
          <p:cNvSpPr txBox="1"/>
          <p:nvPr/>
        </p:nvSpPr>
        <p:spPr>
          <a:xfrm>
            <a:off x="548640" y="2852928"/>
            <a:ext cx="13716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project's own icon (MIT)</a:t>
            </a:r>
            <a:endParaRPr lang="en-US" sz="900" dirty="0"/>
          </a:p>
        </p:txBody>
      </p:sp>
      <p:sp>
        <p:nvSpPr>
          <p:cNvPr id="8" name="Shape 5"/>
          <p:cNvSpPr/>
          <p:nvPr/>
        </p:nvSpPr>
        <p:spPr>
          <a:xfrm flipV="1">
            <a:off x="2286000" y="1417320"/>
            <a:ext cx="4206240" cy="233172"/>
          </a:xfrm>
          <a:prstGeom prst="trapezoid">
            <a:avLst/>
          </a:prstGeom>
          <a:solidFill>
            <a:srgbClr val="2F6D62"/>
          </a:solidFill>
          <a:ln w="12700">
            <a:solidFill>
              <a:srgbClr val="FFFFFF"/>
            </a:solidFill>
            <a:prstDash val="solid"/>
          </a:ln>
        </p:spPr>
      </p:sp>
      <p:sp>
        <p:nvSpPr>
          <p:cNvPr id="9" name="Text 6"/>
          <p:cNvSpPr txBox="1"/>
          <p:nvPr/>
        </p:nvSpPr>
        <p:spPr>
          <a:xfrm>
            <a:off x="2286000" y="1417320"/>
            <a:ext cx="4206240"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source at the tag</a:t>
            </a:r>
            <a:endParaRPr lang="en-US" sz="1050" dirty="0"/>
          </a:p>
        </p:txBody>
      </p:sp>
      <p:sp>
        <p:nvSpPr>
          <p:cNvPr id="10" name="Shape 7"/>
          <p:cNvSpPr/>
          <p:nvPr/>
        </p:nvSpPr>
        <p:spPr>
          <a:xfrm flipV="1">
            <a:off x="2664562" y="1760220"/>
            <a:ext cx="3449117" cy="233172"/>
          </a:xfrm>
          <a:prstGeom prst="trapezoid">
            <a:avLst/>
          </a:prstGeom>
          <a:solidFill>
            <a:srgbClr val="2F6D62"/>
          </a:solidFill>
          <a:ln w="12700">
            <a:solidFill>
              <a:srgbClr val="FFFFFF"/>
            </a:solidFill>
            <a:prstDash val="solid"/>
          </a:ln>
        </p:spPr>
      </p:sp>
      <p:sp>
        <p:nvSpPr>
          <p:cNvPr id="11" name="Text 8"/>
          <p:cNvSpPr txBox="1"/>
          <p:nvPr/>
        </p:nvSpPr>
        <p:spPr>
          <a:xfrm>
            <a:off x="2664562" y="1760220"/>
            <a:ext cx="3449117"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Guix builds it, bit for bit</a:t>
            </a:r>
            <a:endParaRPr lang="en-US" sz="1050" dirty="0"/>
          </a:p>
        </p:txBody>
      </p:sp>
      <p:sp>
        <p:nvSpPr>
          <p:cNvPr id="12" name="Shape 9"/>
          <p:cNvSpPr/>
          <p:nvPr/>
        </p:nvSpPr>
        <p:spPr>
          <a:xfrm flipV="1">
            <a:off x="3043123" y="2103120"/>
            <a:ext cx="2691994" cy="233172"/>
          </a:xfrm>
          <a:prstGeom prst="trapezoid">
            <a:avLst/>
          </a:prstGeom>
          <a:solidFill>
            <a:srgbClr val="2F6D62"/>
          </a:solidFill>
          <a:ln w="12700">
            <a:solidFill>
              <a:srgbClr val="FFFFFF"/>
            </a:solidFill>
            <a:prstDash val="solid"/>
          </a:ln>
        </p:spPr>
      </p:sp>
      <p:sp>
        <p:nvSpPr>
          <p:cNvPr id="13" name="Text 10"/>
          <p:cNvSpPr txBox="1"/>
          <p:nvPr/>
        </p:nvSpPr>
        <p:spPr>
          <a:xfrm>
            <a:off x="3043123" y="2103120"/>
            <a:ext cx="2691994"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builders compare hashes</a:t>
            </a:r>
            <a:endParaRPr lang="en-US" sz="1050" dirty="0"/>
          </a:p>
        </p:txBody>
      </p:sp>
      <p:sp>
        <p:nvSpPr>
          <p:cNvPr id="14" name="Shape 11"/>
          <p:cNvSpPr/>
          <p:nvPr/>
        </p:nvSpPr>
        <p:spPr>
          <a:xfrm flipV="1">
            <a:off x="3421685" y="2446020"/>
            <a:ext cx="1934870" cy="233172"/>
          </a:xfrm>
          <a:prstGeom prst="trapezoid">
            <a:avLst/>
          </a:prstGeom>
          <a:solidFill>
            <a:srgbClr val="D97A14"/>
          </a:solidFill>
          <a:ln w="12700">
            <a:solidFill>
              <a:srgbClr val="FFFFFF"/>
            </a:solidFill>
            <a:prstDash val="solid"/>
          </a:ln>
        </p:spPr>
      </p:sp>
      <p:sp>
        <p:nvSpPr>
          <p:cNvPr id="15" name="Text 12"/>
          <p:cNvSpPr txBox="1"/>
          <p:nvPr/>
        </p:nvSpPr>
        <p:spPr>
          <a:xfrm>
            <a:off x="3421685" y="2446020"/>
            <a:ext cx="1934870" cy="2331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signed attestations, public</a:t>
            </a:r>
            <a:endParaRPr lang="en-US" sz="1050" dirty="0"/>
          </a:p>
        </p:txBody>
      </p:sp>
      <p:sp>
        <p:nvSpPr>
          <p:cNvPr id="16" name="Text 13"/>
          <p:cNvSpPr txBox="1"/>
          <p:nvPr/>
        </p:nvSpPr>
        <p:spPr>
          <a:xfrm>
            <a:off x="2286000" y="282549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one hash, many signers - a mismatch would betray itself</a:t>
            </a:r>
            <a:endParaRPr lang="en-US" sz="1050" dirty="0"/>
          </a:p>
        </p:txBody>
      </p:sp>
      <p:sp>
        <p:nvSpPr>
          <p:cNvPr id="17" name="Shape 14"/>
          <p:cNvSpPr/>
          <p:nvPr/>
        </p:nvSpPr>
        <p:spPr>
          <a:xfrm>
            <a:off x="6675120" y="1463040"/>
            <a:ext cx="2011680" cy="1554480"/>
          </a:xfrm>
          <a:prstGeom prst="roundRect">
            <a:avLst>
              <a:gd name="adj" fmla="val 4706"/>
            </a:avLst>
          </a:prstGeom>
          <a:solidFill>
            <a:srgbClr val="F2ECE1"/>
          </a:solidFill>
          <a:ln w="12700">
            <a:solidFill>
              <a:srgbClr val="DFD6C7"/>
            </a:solidFill>
            <a:prstDash val="solid"/>
          </a:ln>
        </p:spPr>
      </p:sp>
      <p:sp>
        <p:nvSpPr>
          <p:cNvPr id="18" name="Text 15"/>
          <p:cNvSpPr txBox="1"/>
          <p:nvPr/>
        </p:nvSpPr>
        <p:spPr>
          <a:xfrm>
            <a:off x="6784848" y="1499616"/>
            <a:ext cx="1792224" cy="80833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22.0</a:t>
            </a:r>
            <a:endParaRPr lang="en-US" sz="2600" dirty="0"/>
          </a:p>
        </p:txBody>
      </p:sp>
      <p:sp>
        <p:nvSpPr>
          <p:cNvPr id="19" name="Text 16"/>
          <p:cNvSpPr txBox="1"/>
          <p:nvPr/>
        </p:nvSpPr>
        <p:spPr>
          <a:xfrm>
            <a:off x="6784848" y="2271370"/>
            <a:ext cx="1792224" cy="68397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first Guix-built release line</a:t>
            </a:r>
            <a:endParaRPr lang="en-US" sz="1100" dirty="0"/>
          </a:p>
        </p:txBody>
      </p:sp>
      <p:sp>
        <p:nvSpPr>
          <p:cNvPr id="20" name="Text 17"/>
          <p:cNvSpPr txBox="1"/>
          <p:nvPr/>
        </p:nvSpPr>
        <p:spPr>
          <a:xfrm>
            <a:off x="457200" y="338328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The chapter's research re-verified a real release: checksum equal, signatures good, node run</a:t>
            </a:r>
            <a:endParaRPr lang="en-US" sz="1250" dirty="0"/>
          </a:p>
        </p:txBody>
      </p:sp>
      <p:sp>
        <p:nvSpPr>
          <p:cNvPr id="21" name="Shape 18"/>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independent Bitcoin Core builders publ…</a:t>
            </a:r>
            <a:endParaRPr lang="en-US" sz="750" dirty="0"/>
          </a:p>
        </p:txBody>
      </p:sp>
      <p:sp>
        <p:nvSpPr>
          <p:cNvPr id="23" name="Shape 20"/>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the guix.sigs repository beside bitcoi…</a:t>
            </a:r>
            <a:endParaRPr lang="en-US" sz="750" dirty="0"/>
          </a:p>
        </p:txBody>
      </p:sp>
      <p:sp>
        <p:nvSpPr>
          <p:cNvPr id="25" name="Shape 22"/>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since 2011; Guix…</a:t>
            </a:r>
            <a:endParaRPr lang="en-US" sz="750" dirty="0"/>
          </a:p>
        </p:txBody>
      </p:sp>
      <p:sp>
        <p:nvSpPr>
          <p:cNvPr id="27" name="Shape 24"/>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8" name="Text 25"/>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t>
            </a:r>
            <a:endParaRPr lang="en-US" sz="750" dirty="0"/>
          </a:p>
        </p:txBody>
      </p:sp>
      <p:sp>
        <p:nvSpPr>
          <p:cNvPr id="29"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Verify, don't trust - applied to the software itself</a:t>
            </a:r>
            <a:endParaRPr lang="en-US" sz="13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source to bitcoind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build branch, compressed to one slide</a:t>
            </a:r>
            <a:endParaRPr lang="en-US" sz="1300" dirty="0"/>
          </a:p>
        </p:txBody>
      </p:sp>
      <p:sp>
        <p:nvSpPr>
          <p:cNvPr id="6" name="Shape 4"/>
          <p:cNvSpPr/>
          <p:nvPr/>
        </p:nvSpPr>
        <p:spPr>
          <a:xfrm>
            <a:off x="457200" y="141732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cmake -B build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configure</a:t>
            </a:r>
            <a:endParaRPr lang="en-US" sz="1250" dirty="0"/>
          </a:p>
        </p:txBody>
      </p:sp>
      <p:sp>
        <p:nvSpPr>
          <p:cNvPr id="8" name="Shape 6"/>
          <p:cNvSpPr/>
          <p:nvPr/>
        </p:nvSpPr>
        <p:spPr>
          <a:xfrm>
            <a:off x="2212848" y="194310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compile + link</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toolchain</a:t>
            </a:r>
            <a:endParaRPr lang="en-US" sz="1250" dirty="0"/>
          </a:p>
        </p:txBody>
      </p:sp>
      <p:sp>
        <p:nvSpPr>
          <p:cNvPr id="11" name="Shape 9"/>
          <p:cNvSpPr/>
          <p:nvPr/>
        </p:nvSpPr>
        <p:spPr>
          <a:xfrm>
            <a:off x="4389120" y="194310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ctest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suite must pass</a:t>
            </a:r>
            <a:endParaRPr lang="en-US" sz="1250" dirty="0"/>
          </a:p>
        </p:txBody>
      </p:sp>
      <p:sp>
        <p:nvSpPr>
          <p:cNvPr id="14" name="Shape 12"/>
          <p:cNvSpPr/>
          <p:nvPr/>
        </p:nvSpPr>
        <p:spPr>
          <a:xfrm>
            <a:off x="6565392" y="194310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your node</a:t>
            </a:r>
            <a:endParaRPr lang="en-US" sz="1250" dirty="0"/>
          </a:p>
        </p:txBody>
      </p:sp>
      <p:sp>
        <p:nvSpPr>
          <p:cNvPr id="17" name="Text 15"/>
          <p:cNvSpPr txBox="1"/>
          <p:nvPr/>
        </p:nvSpPr>
        <p:spPr>
          <a:xfrm>
            <a:off x="457200" y="2377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old autotools flag, new CMake flag - one mapping</a:t>
            </a:r>
            <a:endParaRPr lang="en-US" sz="1150" dirty="0"/>
          </a:p>
        </p:txBody>
      </p:sp>
      <p:sp>
        <p:nvSpPr>
          <p:cNvPr id="18" name="Shape 16"/>
          <p:cNvSpPr/>
          <p:nvPr/>
        </p:nvSpPr>
        <p:spPr>
          <a:xfrm>
            <a:off x="457200" y="2651760"/>
            <a:ext cx="8229600" cy="731520"/>
          </a:xfrm>
          <a:prstGeom prst="roundRect">
            <a:avLst>
              <a:gd name="adj" fmla="val 12500"/>
            </a:avLst>
          </a:prstGeom>
          <a:solidFill>
            <a:srgbClr val="23272E"/>
          </a:solidFill>
          <a:ln w="12700">
            <a:solidFill>
              <a:srgbClr val="23272E"/>
            </a:solidFill>
            <a:prstDash val="solid"/>
          </a:ln>
        </p:spPr>
      </p:sp>
      <p:sp>
        <p:nvSpPr>
          <p:cNvPr id="19" name="Text 17"/>
          <p:cNvSpPr txBox="1"/>
          <p:nvPr/>
        </p:nvSpPr>
        <p:spPr>
          <a:xfrm>
            <a:off x="640080" y="2770632"/>
            <a:ext cx="786384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{'--disable-wallet': '-DENABLE_WALLET=OFF'}['--disable-wallet']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'-DENABLE_WALLET=OFF'</a:t>
            </a:r>
            <a:endParaRPr lang="en-US" sz="950" dirty="0"/>
          </a:p>
        </p:txBody>
      </p:sp>
      <p:sp>
        <p:nvSpPr>
          <p:cNvPr id="20" name="Text 18"/>
          <p:cNvSpPr txBox="1"/>
          <p:nvPr/>
        </p:nvSpPr>
        <p:spPr>
          <a:xfrm>
            <a:off x="457200" y="3401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test the chapter runs: chapter 1's subsidy staircase, as a unit test</a:t>
            </a:r>
            <a:endParaRPr lang="en-US" sz="1150" dirty="0"/>
          </a:p>
        </p:txBody>
      </p:sp>
      <p:sp>
        <p:nvSpPr>
          <p:cNvPr id="22" name="Shape 20"/>
          <p:cNvSpPr/>
          <p:nvPr/>
        </p:nvSpPr>
        <p:spPr>
          <a:xfrm>
            <a:off x="457200" y="3474720"/>
            <a:ext cx="8229600" cy="1024128"/>
          </a:xfrm>
          <a:prstGeom prst="roundRect">
            <a:avLst>
              <a:gd name="adj" fmla="val 8929"/>
            </a:avLst>
          </a:prstGeom>
          <a:solidFill>
            <a:srgbClr val="23272E"/>
          </a:solidFill>
          <a:ln w="12700">
            <a:solidFill>
              <a:srgbClr val="23272E"/>
            </a:solidFill>
            <a:prstDash val="solid"/>
          </a:ln>
        </p:spPr>
      </p:sp>
      <p:sp>
        <p:nvSpPr>
          <p:cNvPr id="23" name="Text 21"/>
          <p:cNvSpPr txBox="1"/>
          <p:nvPr/>
        </p:nvSpPr>
        <p:spPr>
          <a:xfrm>
            <a:off x="640080" y="3593592"/>
            <a:ext cx="7863840" cy="786384"/>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subsidy(h):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h // </a:t>
            </a:r>
            <a:pPr indent="0" marL="0">
              <a:buNone/>
            </a:pPr>
            <a:r>
              <a:rPr lang="en-US" sz="780" dirty="0">
                <a:solidFill>
                  <a:srgbClr val="FFD28A"/>
                </a:solidFill>
                <a:latin typeface="Courier New" pitchFamily="34" charset="0"/>
                <a:ea typeface="Courier New" pitchFamily="34" charset="-122"/>
                <a:cs typeface="Courier New" pitchFamily="34" charset="-120"/>
              </a:rPr>
              <a:t>210000</a:t>
            </a:r>
            <a:pPr indent="0" marL="0">
              <a:buNone/>
            </a:pPr>
            <a:r>
              <a:rPr lang="en-US" sz="780" dirty="0">
                <a:solidFill>
                  <a:srgbClr val="E6EDF3"/>
                </a:solidFill>
                <a:latin typeface="Courier New" pitchFamily="34" charset="0"/>
                <a:ea typeface="Courier New" pitchFamily="34" charset="-122"/>
                <a:cs typeface="Courier New" pitchFamily="34" charset="-120"/>
              </a:rPr>
              <a:t> &gt;= </a:t>
            </a:r>
            <a:pPr indent="0" marL="0">
              <a:buNone/>
            </a:pPr>
            <a:r>
              <a:rPr lang="en-US" sz="780" dirty="0">
                <a:solidFill>
                  <a:srgbClr val="FFD28A"/>
                </a:solidFill>
                <a:latin typeface="Courier New" pitchFamily="34" charset="0"/>
                <a:ea typeface="Courier New" pitchFamily="34" charset="-122"/>
                <a:cs typeface="Courier New" pitchFamily="34" charset="-120"/>
              </a:rPr>
              <a:t>64</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else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50</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10</a:t>
            </a:r>
            <a:pPr indent="0" marL="0">
              <a:buNone/>
            </a:pPr>
            <a:r>
              <a:rPr lang="en-US" sz="780" dirty="0">
                <a:solidFill>
                  <a:srgbClr val="E6EDF3"/>
                </a:solidFill>
                <a:latin typeface="Courier New" pitchFamily="34" charset="0"/>
                <a:ea typeface="Courier New" pitchFamily="34" charset="-122"/>
                <a:cs typeface="Courier New" pitchFamily="34" charset="-120"/>
              </a:rPr>
              <a:t>**</a:t>
            </a:r>
            <a:pPr indent="0" marL="0">
              <a:buNone/>
            </a:pPr>
            <a:r>
              <a:rPr lang="en-US" sz="780" dirty="0">
                <a:solidFill>
                  <a:srgbClr val="FFD28A"/>
                </a:solidFill>
                <a:latin typeface="Courier New" pitchFamily="34" charset="0"/>
                <a:ea typeface="Courier New" pitchFamily="34" charset="-122"/>
                <a:cs typeface="Courier New" pitchFamily="34" charset="-120"/>
              </a:rPr>
              <a:t>8</a:t>
            </a:r>
            <a:pPr indent="0" marL="0">
              <a:buNone/>
            </a:pPr>
            <a:r>
              <a:rPr lang="en-US" sz="780" dirty="0">
                <a:solidFill>
                  <a:srgbClr val="E6EDF3"/>
                </a:solidFill>
                <a:latin typeface="Courier New" pitchFamily="34" charset="0"/>
                <a:ea typeface="Courier New" pitchFamily="34" charset="-122"/>
                <a:cs typeface="Courier New" pitchFamily="34" charset="-120"/>
              </a:rPr>
              <a:t>) &gt;&gt; (h // </a:t>
            </a:r>
            <a:pPr indent="0" marL="0">
              <a:buNone/>
            </a:pPr>
            <a:r>
              <a:rPr lang="en-US" sz="780" dirty="0">
                <a:solidFill>
                  <a:srgbClr val="FFD28A"/>
                </a:solidFill>
                <a:latin typeface="Courier New" pitchFamily="34" charset="0"/>
                <a:ea typeface="Courier New" pitchFamily="34" charset="-122"/>
                <a:cs typeface="Courier New" pitchFamily="34" charset="-120"/>
              </a:rPr>
              <a:t>210000</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[subsidy(h)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h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209999</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210000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630000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775072</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result </a:t>
            </a:r>
            <a:pPr indent="0" marL="0">
              <a:buNone/>
            </a:pPr>
            <a:r>
              <a:rPr lang="en-US" sz="780" dirty="0">
                <a:solidFill>
                  <a:srgbClr val="7EE787"/>
                </a:solidFill>
                <a:latin typeface="Courier New" pitchFamily="34" charset="0"/>
                <a:ea typeface="Courier New" pitchFamily="34" charset="-122"/>
                <a:cs typeface="Courier New" pitchFamily="34" charset="-120"/>
              </a:rPr>
              <a:t>[5000000000, 5000000000, 2500000000, 625000000, 625000000]</a:t>
            </a:r>
            <a:endParaRPr lang="en-US" sz="780" dirty="0"/>
          </a:p>
        </p:txBody>
      </p:sp>
      <p:sp>
        <p:nvSpPr>
          <p:cNvPr id="24" name="Text 22"/>
          <p:cNvSpPr txBox="1"/>
          <p:nvPr/>
        </p:nvSpPr>
        <p:spPr>
          <a:xfrm>
            <a:off x="640080" y="426110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SoftwareTesting, lines 1 to 3 of 3, run under Python 3.14.4</a:t>
            </a:r>
            <a:endParaRPr lang="en-US" sz="8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build system turns audited text into your node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Running and talking to it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daemon, a log that explains itself, and one protocol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run</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daemon</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bitcoin-cli</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JSON-RPC</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log narrates everything the node decides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real 31.1 startup, captured for this chapter</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First run creates the data directory and a config</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log names every subsystem as it wakes</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reads the real log: 16 worker threads</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line of the captured log, parsed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pPr indent="0" marL="0">
              <a:buNone/>
            </a:pPr>
            <a:r>
              <a:rPr lang="en-US" sz="770" dirty="0">
                <a:solidFill>
                  <a:srgbClr val="E6EDF3"/>
                </a:solidFill>
                <a:latin typeface="Courier New" pitchFamily="34" charset="0"/>
                <a:ea typeface="Courier New" pitchFamily="34" charset="-122"/>
                <a:cs typeface="Courier New" pitchFamily="34" charset="-120"/>
              </a:rPr>
              <a:t>log = 'Starting HTTP server with 16 worker threads'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pPr indent="0" marL="0">
              <a:buNone/>
            </a:pPr>
            <a:r>
              <a:rPr lang="en-US" sz="770" dirty="0">
                <a:solidFill>
                  <a:srgbClr val="E6EDF3"/>
                </a:solidFill>
                <a:latin typeface="Courier New" pitchFamily="34" charset="0"/>
                <a:ea typeface="Courier New" pitchFamily="34" charset="-122"/>
                <a:cs typeface="Courier New" pitchFamily="34" charset="-120"/>
              </a:rPr>
              <a:t>next(l for l in log.splitlines() if 'worker threads' in l).split()[-3]</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'16'</a:t>
            </a:r>
            <a:endParaRPr lang="en-US" sz="770" dirty="0"/>
          </a:p>
        </p:txBody>
      </p:sp>
      <p:sp>
        <p:nvSpPr>
          <p:cNvPr id="18" name="Text 16"/>
          <p:cNvSpPr txBox="1"/>
          <p:nvPr/>
        </p:nvSpPr>
        <p:spPr>
          <a:xfrm>
            <a:off x="3931920" y="26700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175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systemd unit's own flags, extracted from the pinned source tree</a:t>
            </a:r>
            <a:endParaRPr lang="en-US" sz="1150" dirty="0"/>
          </a:p>
        </p:txBody>
      </p:sp>
      <p:sp>
        <p:nvSpPr>
          <p:cNvPr id="20" name="Shape 18"/>
          <p:cNvSpPr/>
          <p:nvPr/>
        </p:nvSpPr>
        <p:spPr>
          <a:xfrm>
            <a:off x="457200" y="329184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10712"/>
            <a:ext cx="7863840" cy="9052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text = DAEMON_D1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line = text.split('\nExecStart=')[1].split('ExecStartPre')[0]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[w.split('=')[0] for w in line.split() if w.startswith('-') and not w.startswith('--')]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['-pid', '-conf', '-datadir', '-startupnotify', '-shutdownnotify']</a:t>
            </a:r>
            <a:endParaRPr lang="en-US" sz="900" dirty="0"/>
          </a:p>
        </p:txBody>
      </p:sp>
      <p:sp>
        <p:nvSpPr>
          <p:cNvPr id="22" name="Text 20"/>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a node misbehaves, the log already wrote the diagnosis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project that outlives its keyholders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2011 and 2014</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Satoshi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2009: v0.1</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Gavin Andresen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2011: the handoff</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 van der Laan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2014: lead maintainer</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many maintainers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today</a:t>
            </a:r>
            <a:endParaRPr lang="en-US" sz="1250" dirty="0"/>
          </a:p>
        </p:txBody>
      </p:sp>
      <p:sp>
        <p:nvSpPr>
          <p:cNvPr id="17" name="Shape 15"/>
          <p:cNvSpPr/>
          <p:nvPr/>
        </p:nvSpPr>
        <p:spPr>
          <a:xfrm>
            <a:off x="457200" y="30220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83464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faucet builder of chapter 2 is the 2011 keyholder here</a:t>
            </a:r>
            <a:endParaRPr lang="en-US" sz="1300" dirty="0"/>
          </a:p>
        </p:txBody>
      </p:sp>
      <p:sp>
        <p:nvSpPr>
          <p:cNvPr id="19" name="Shape 17"/>
          <p:cNvSpPr/>
          <p:nvPr/>
        </p:nvSpPr>
        <p:spPr>
          <a:xfrm>
            <a:off x="457200" y="35250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33756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Hundreds of contributors; no one has been indispensable since</a:t>
            </a:r>
            <a:endParaRPr lang="en-US" sz="1300" dirty="0"/>
          </a:p>
        </p:txBody>
      </p:sp>
      <p:sp>
        <p:nvSpPr>
          <p:cNvPr id="21" name="Shape 19"/>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Satoshi Nakamoto to Gavin Andresen (20…</a:t>
            </a:r>
            <a:endParaRPr lang="en-US" sz="750" dirty="0"/>
          </a:p>
        </p:txBody>
      </p:sp>
      <p:sp>
        <p:nvSpPr>
          <p:cNvPr id="23" name="Shape 21"/>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the public bitcoin/bitcoin repository</a:t>
            </a:r>
            <a:endParaRPr lang="en-US" sz="750" dirty="0"/>
          </a:p>
        </p:txBody>
      </p:sp>
      <p:sp>
        <p:nvSpPr>
          <p:cNvPr id="25" name="Shape 23"/>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2011 and 2014</a:t>
            </a:r>
            <a:endParaRPr lang="en-US" sz="750" dirty="0"/>
          </a:p>
        </p:txBody>
      </p:sp>
      <p:sp>
        <p:nvSpPr>
          <p:cNvPr id="27" name="Shape 25"/>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Maintainers change; the repository and its rules remain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Talking to the node: bitcoin-cli and JSON-RPC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protocol under every interface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bitcoin-cli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or any HTTP client</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request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method + params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cookie-authenticated</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answer</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machine-readable</a:t>
            </a:r>
            <a:endParaRPr lang="en-US" sz="1250" dirty="0"/>
          </a:p>
        </p:txBody>
      </p:sp>
      <p:sp>
        <p:nvSpPr>
          <p:cNvPr id="17" name="Text 15"/>
          <p:cNvSpPr txBox="1"/>
          <p:nvPr/>
        </p:nvSpPr>
        <p:spPr>
          <a:xfrm>
            <a:off x="457200" y="235915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request body, built and read back</a:t>
            </a:r>
            <a:endParaRPr lang="en-US" sz="1150" dirty="0"/>
          </a:p>
        </p:txBody>
      </p:sp>
      <p:sp>
        <p:nvSpPr>
          <p:cNvPr id="18" name="Shape 16"/>
          <p:cNvSpPr/>
          <p:nvPr/>
        </p:nvSpPr>
        <p:spPr>
          <a:xfrm>
            <a:off x="457200" y="2633472"/>
            <a:ext cx="8229600" cy="960120"/>
          </a:xfrm>
          <a:prstGeom prst="roundRect">
            <a:avLst>
              <a:gd name="adj" fmla="val 9524"/>
            </a:avLst>
          </a:prstGeom>
          <a:solidFill>
            <a:srgbClr val="23272E"/>
          </a:solidFill>
          <a:ln w="12700">
            <a:solidFill>
              <a:srgbClr val="23272E"/>
            </a:solidFill>
            <a:prstDash val="solid"/>
          </a:ln>
        </p:spPr>
      </p:sp>
      <p:sp>
        <p:nvSpPr>
          <p:cNvPr id="19" name="Text 17"/>
          <p:cNvSpPr txBox="1"/>
          <p:nvPr/>
        </p:nvSpPr>
        <p:spPr>
          <a:xfrm>
            <a:off x="640080" y="2752344"/>
            <a:ext cx="786384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import json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body = json.dumps({'jsonrpc': '1.0', 'id': 'curltest', 'method': 'getblockchaininfo', 'params': []})</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json.loads(body)['method']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'getblockchaininfo'</a:t>
            </a:r>
            <a:endParaRPr lang="en-US" sz="950" dirty="0"/>
          </a:p>
        </p:txBody>
      </p:sp>
      <p:sp>
        <p:nvSpPr>
          <p:cNvPr id="20" name="Text 18"/>
          <p:cNvSpPr txBox="1"/>
          <p:nvPr/>
        </p:nvSpPr>
        <p:spPr>
          <a:xfrm>
            <a:off x="457200" y="36118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Shape 19"/>
          <p:cNvSpPr/>
          <p:nvPr/>
        </p:nvSpPr>
        <p:spPr>
          <a:xfrm>
            <a:off x="457200" y="3675888"/>
            <a:ext cx="2590800" cy="896112"/>
          </a:xfrm>
          <a:prstGeom prst="roundRect">
            <a:avLst>
              <a:gd name="adj" fmla="val 8163"/>
            </a:avLst>
          </a:prstGeom>
          <a:solidFill>
            <a:srgbClr val="F2ECE1"/>
          </a:solidFill>
          <a:ln w="12700">
            <a:solidFill>
              <a:srgbClr val="DFD6C7"/>
            </a:solidFill>
            <a:prstDash val="solid"/>
          </a:ln>
        </p:spPr>
      </p:sp>
      <p:sp>
        <p:nvSpPr>
          <p:cNvPr id="22" name="Text 20"/>
          <p:cNvSpPr txBox="1"/>
          <p:nvPr/>
        </p:nvSpPr>
        <p:spPr>
          <a:xfrm>
            <a:off x="566928" y="3749040"/>
            <a:ext cx="23713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'main'</a:t>
            </a:r>
            <a:endParaRPr lang="en-US" sz="2800" dirty="0"/>
          </a:p>
        </p:txBody>
      </p:sp>
      <p:sp>
        <p:nvSpPr>
          <p:cNvPr id="23" name="Text 21"/>
          <p:cNvSpPr txBox="1"/>
          <p:nvPr/>
        </p:nvSpPr>
        <p:spPr>
          <a:xfrm>
            <a:off x="566928" y="4141866"/>
            <a:ext cx="23713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chain, from the captured getblockchaininfo</a:t>
            </a:r>
            <a:endParaRPr lang="en-US" sz="1150" dirty="0"/>
          </a:p>
        </p:txBody>
      </p:sp>
      <p:sp>
        <p:nvSpPr>
          <p:cNvPr id="24" name="Shape 22"/>
          <p:cNvSpPr/>
          <p:nvPr/>
        </p:nvSpPr>
        <p:spPr>
          <a:xfrm>
            <a:off x="3276600" y="3675888"/>
            <a:ext cx="2590800" cy="896112"/>
          </a:xfrm>
          <a:prstGeom prst="roundRect">
            <a:avLst>
              <a:gd name="adj" fmla="val 8163"/>
            </a:avLst>
          </a:prstGeom>
          <a:solidFill>
            <a:srgbClr val="F2ECE1"/>
          </a:solidFill>
          <a:ln w="12700">
            <a:solidFill>
              <a:srgbClr val="DFD6C7"/>
            </a:solidFill>
            <a:prstDash val="solid"/>
          </a:ln>
        </p:spPr>
      </p:sp>
      <p:sp>
        <p:nvSpPr>
          <p:cNvPr id="25" name="Text 23"/>
          <p:cNvSpPr txBox="1"/>
          <p:nvPr/>
        </p:nvSpPr>
        <p:spPr>
          <a:xfrm>
            <a:off x="3386328" y="3749040"/>
            <a:ext cx="23713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6" name="Text 24"/>
          <p:cNvSpPr txBox="1"/>
          <p:nvPr/>
        </p:nvSpPr>
        <p:spPr>
          <a:xfrm>
            <a:off x="3386328" y="4141866"/>
            <a:ext cx="23713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blocks still to verify</a:t>
            </a:r>
            <a:endParaRPr lang="en-US" sz="1150" dirty="0"/>
          </a:p>
        </p:txBody>
      </p:sp>
      <p:sp>
        <p:nvSpPr>
          <p:cNvPr id="27" name="Shape 25"/>
          <p:cNvSpPr/>
          <p:nvPr/>
        </p:nvSpPr>
        <p:spPr>
          <a:xfrm>
            <a:off x="6096000" y="3675888"/>
            <a:ext cx="2590800" cy="896112"/>
          </a:xfrm>
          <a:prstGeom prst="roundRect">
            <a:avLst>
              <a:gd name="adj" fmla="val 8163"/>
            </a:avLst>
          </a:prstGeom>
          <a:solidFill>
            <a:srgbClr val="F2ECE1"/>
          </a:solidFill>
          <a:ln w="12700">
            <a:solidFill>
              <a:srgbClr val="DFD6C7"/>
            </a:solidFill>
            <a:prstDash val="solid"/>
          </a:ln>
        </p:spPr>
      </p:sp>
      <p:sp>
        <p:nvSpPr>
          <p:cNvPr id="28" name="Text 26"/>
          <p:cNvSpPr txBox="1"/>
          <p:nvPr/>
        </p:nvSpPr>
        <p:spPr>
          <a:xfrm>
            <a:off x="6205728" y="3749040"/>
            <a:ext cx="23713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True</a:t>
            </a:r>
            <a:endParaRPr lang="en-US" sz="2800" dirty="0"/>
          </a:p>
        </p:txBody>
      </p:sp>
      <p:sp>
        <p:nvSpPr>
          <p:cNvPr id="29" name="Text 27"/>
          <p:cNvSpPr txBox="1"/>
          <p:nvPr/>
        </p:nvSpPr>
        <p:spPr>
          <a:xfrm>
            <a:off x="6205728" y="4141866"/>
            <a:ext cx="23713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initial download complete</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GUI and every explorer speaks this same protocol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Wallets are descriptors now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states what the wallet watches</a:t>
            </a:r>
            <a:endParaRPr lang="en-US" sz="1300" dirty="0"/>
          </a:p>
        </p:txBody>
      </p:sp>
      <p:sp>
        <p:nvSpPr>
          <p:cNvPr id="6" name="Shape 4"/>
          <p:cNvSpPr/>
          <p:nvPr/>
        </p:nvSpPr>
        <p:spPr>
          <a:xfrm>
            <a:off x="457200" y="1389888"/>
            <a:ext cx="3931920" cy="1554480"/>
          </a:xfrm>
          <a:prstGeom prst="roundRect">
            <a:avLst>
              <a:gd name="adj" fmla="val 588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Descriptor wallet (today)</a:t>
            </a:r>
            <a:endParaRPr lang="en-US" sz="1500" dirty="0"/>
          </a:p>
        </p:txBody>
      </p:sp>
      <p:sp>
        <p:nvSpPr>
          <p:cNvPr id="8" name="Text 6"/>
          <p:cNvSpPr txBox="1"/>
          <p:nvPr/>
        </p:nvSpPr>
        <p:spPr>
          <a:xfrm>
            <a:off x="64008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readable expression names keys and script type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Ends in a checksum, like an address does</a:t>
            </a:r>
            <a:endParaRPr lang="en-US" sz="1150" dirty="0"/>
          </a:p>
        </p:txBody>
      </p:sp>
      <p:sp>
        <p:nvSpPr>
          <p:cNvPr id="9" name="Shape 7"/>
          <p:cNvSpPr/>
          <p:nvPr/>
        </p:nvSpPr>
        <p:spPr>
          <a:xfrm>
            <a:off x="4754880" y="1389888"/>
            <a:ext cx="3931920" cy="1554480"/>
          </a:xfrm>
          <a:prstGeom prst="roundRect">
            <a:avLst>
              <a:gd name="adj" fmla="val 588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Legacy wallet (retired)</a:t>
            </a:r>
            <a:endParaRPr lang="en-US" sz="1500" dirty="0"/>
          </a:p>
        </p:txBody>
      </p:sp>
      <p:sp>
        <p:nvSpPr>
          <p:cNvPr id="11" name="Text 9"/>
          <p:cNvSpPr txBox="1"/>
          <p:nvPr/>
        </p:nvSpPr>
        <p:spPr>
          <a:xfrm>
            <a:off x="493776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bag of loose keys in a binary file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Removed from current Bitcoin Core</a:t>
            </a:r>
            <a:endParaRPr lang="en-US" sz="1150" dirty="0"/>
          </a:p>
        </p:txBody>
      </p:sp>
      <p:sp>
        <p:nvSpPr>
          <p:cNvPr id="12" name="Text 10"/>
          <p:cNvSpPr txBox="1"/>
          <p:nvPr/>
        </p:nvSpPr>
        <p:spPr>
          <a:xfrm>
            <a:off x="457200" y="2834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tail of the chapter's descriptor program - the checksum the node itself confirms</a:t>
            </a:r>
            <a:endParaRPr lang="en-US" sz="1150" dirty="0"/>
          </a:p>
        </p:txBody>
      </p:sp>
      <p:sp>
        <p:nvSpPr>
          <p:cNvPr id="13" name="Shape 11"/>
          <p:cNvSpPr/>
          <p:nvPr/>
        </p:nvSpPr>
        <p:spPr>
          <a:xfrm>
            <a:off x="457200" y="3108960"/>
            <a:ext cx="8229600" cy="1444752"/>
          </a:xfrm>
          <a:prstGeom prst="roundRect">
            <a:avLst>
              <a:gd name="adj" fmla="val 6329"/>
            </a:avLst>
          </a:prstGeom>
          <a:solidFill>
            <a:srgbClr val="23272E"/>
          </a:solidFill>
          <a:ln w="12700">
            <a:solidFill>
              <a:srgbClr val="23272E"/>
            </a:solidFill>
            <a:prstDash val="solid"/>
          </a:ln>
        </p:spPr>
      </p:sp>
      <p:sp>
        <p:nvSpPr>
          <p:cNvPr id="14" name="Text 12"/>
          <p:cNvSpPr txBox="1"/>
          <p:nvPr/>
        </p:nvSpPr>
        <p:spPr>
          <a:xfrm>
            <a:off x="640080" y="3227832"/>
            <a:ext cx="7863840" cy="120700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a:t>
            </a:r>
            <a:pPr indent="0" marL="0">
              <a:buNone/>
            </a:pPr>
            <a:r>
              <a:rPr lang="en-US" sz="710" dirty="0">
                <a:solidFill>
                  <a:srgbClr val="FFD28A"/>
                </a:solidFill>
                <a:latin typeface="Courier New" pitchFamily="34" charset="0"/>
                <a:ea typeface="Courier New" pitchFamily="34" charset="-122"/>
                <a:cs typeface="Courier New" pitchFamily="34" charset="-120"/>
              </a:rPr>
              <a:t>9</a:t>
            </a:r>
            <a:pPr indent="0" marL="0">
              <a:buNone/>
            </a:pPr>
            <a:r>
              <a:rPr lang="en-US" sz="710" dirty="0">
                <a:solidFill>
                  <a:srgbClr val="E6EDF3"/>
                </a:solidFill>
                <a:latin typeface="Courier New" pitchFamily="34" charset="0"/>
                <a:ea typeface="Courier New" pitchFamily="34" charset="-122"/>
                <a:cs typeface="Courier New" pitchFamily="34" charset="-120"/>
              </a:rPr>
              <a:t>]) + [CHECKSUM_CHARSET.find(x) </a:t>
            </a:r>
            <a:pPr indent="0" marL="0">
              <a:buNone/>
            </a:pPr>
            <a:r>
              <a:rPr lang="en-US" sz="710" b="1" dirty="0">
                <a:solidFill>
                  <a:srgbClr val="F2A860"/>
                </a:solidFill>
                <a:latin typeface="Courier New" pitchFamily="34" charset="0"/>
                <a:ea typeface="Courier New" pitchFamily="34" charset="-122"/>
                <a:cs typeface="Courier New" pitchFamily="34" charset="-120"/>
              </a:rPr>
              <a:t>for</a:t>
            </a:r>
            <a:pPr indent="0" marL="0">
              <a:buNone/>
            </a:pPr>
            <a:r>
              <a:rPr lang="en-US" sz="710" dirty="0">
                <a:solidFill>
                  <a:srgbClr val="E6EDF3"/>
                </a:solidFill>
                <a:latin typeface="Courier New" pitchFamily="34" charset="0"/>
                <a:ea typeface="Courier New" pitchFamily="34" charset="-122"/>
                <a:cs typeface="Courier New" pitchFamily="34" charset="-120"/>
              </a:rPr>
              <a:t> x </a:t>
            </a:r>
            <a:pPr indent="0" marL="0">
              <a:buNone/>
            </a:pPr>
            <a:r>
              <a:rPr lang="en-US" sz="710" b="1" dirty="0">
                <a:solidFill>
                  <a:srgbClr val="F2A860"/>
                </a:solidFill>
                <a:latin typeface="Courier New" pitchFamily="34" charset="0"/>
                <a:ea typeface="Courier New" pitchFamily="34" charset="-122"/>
                <a:cs typeface="Courier New" pitchFamily="34" charset="-120"/>
              </a:rPr>
              <a:t>in</a:t>
            </a:r>
            <a:pPr indent="0" marL="0">
              <a:buNone/>
            </a:pPr>
            <a:r>
              <a:rPr lang="en-US" sz="710" dirty="0">
                <a:solidFill>
                  <a:srgbClr val="E6EDF3"/>
                </a:solidFill>
                <a:latin typeface="Courier New" pitchFamily="34" charset="0"/>
                <a:ea typeface="Courier New" pitchFamily="34" charset="-122"/>
                <a:cs typeface="Courier New" pitchFamily="34" charset="-120"/>
              </a:rPr>
              <a:t> s[-</a:t>
            </a:r>
            <a:pPr indent="0" marL="0">
              <a:buNone/>
            </a:pPr>
            <a:r>
              <a:rPr lang="en-US" sz="710" dirty="0">
                <a:solidFill>
                  <a:srgbClr val="FFD28A"/>
                </a:solidFill>
                <a:latin typeface="Courier New" pitchFamily="34" charset="0"/>
                <a:ea typeface="Courier New" pitchFamily="34" charset="-122"/>
                <a:cs typeface="Courier New" pitchFamily="34" charset="-120"/>
              </a:rPr>
              <a:t>8</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descsum_polymod(symbols) == </a:t>
            </a:r>
            <a:pPr indent="0" marL="0">
              <a:buNone/>
            </a:pP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pPr indent="0" marL="0">
              <a:buNone/>
            </a:pPr>
            <a:r>
              <a:rPr lang="en-US" sz="710" dirty="0">
                <a:solidFill>
                  <a:srgbClr val="E6EDF3"/>
                </a:solidFill>
                <a:latin typeface="Courier New" pitchFamily="34" charset="0"/>
                <a:ea typeface="Courier New" pitchFamily="34" charset="-122"/>
                <a:cs typeface="Courier New" pitchFamily="34" charset="-120"/>
              </a:rPr>
              <a:t> descsum_create(s):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 +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checksum = descsum_polymod(symbols) ^ </a:t>
            </a:r>
            <a:pPr indent="0" marL="0">
              <a:buNone/>
            </a:pP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s + '</a:t>
            </a:r>
            <a:pPr indent="0" marL="0">
              <a:buNone/>
            </a:pPr>
            <a:r>
              <a:rPr lang="en-US" sz="710" i="1" dirty="0">
                <a:solidFill>
                  <a:srgbClr val="8FA98F"/>
                </a:solidFill>
                <a:latin typeface="Courier New" pitchFamily="34" charset="0"/>
                <a:ea typeface="Courier New" pitchFamily="34" charset="-122"/>
                <a:cs typeface="Courier New" pitchFamily="34" charset="-120"/>
              </a:rPr>
              <a:t>#' + ''.join(CHECKSUM_CHARSET[(checksum &gt;&gt; (5 * (7 - i))) &amp; 31] for i in range(8))</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result = descsum_create(</a:t>
            </a:r>
            <a:pPr indent="0" marL="0">
              <a:buNone/>
            </a:pPr>
            <a:r>
              <a:rPr lang="en-US" sz="710" dirty="0">
                <a:solidFill>
                  <a:srgbClr val="9ECBFF"/>
                </a:solidFill>
                <a:latin typeface="Courier New" pitchFamily="34" charset="0"/>
                <a:ea typeface="Courier New" pitchFamily="34" charset="-122"/>
                <a:cs typeface="Courier New" pitchFamily="34" charset="-120"/>
              </a:rPr>
              <a:t>'wpkh(02f9308a019258c31049344f85f89d5229b531c845836f99b08601f113bce036f9)'</a:t>
            </a:r>
            <a:pPr indent="0" marL="0">
              <a:buNone/>
            </a:pPr>
            <a:r>
              <a:rPr lang="en-US" sz="710" dirty="0">
                <a:solidFill>
                  <a:srgbClr val="E6EDF3"/>
                </a:solidFill>
                <a:latin typeface="Courier New" pitchFamily="34" charset="0"/>
                <a:ea typeface="Courier New" pitchFamily="34" charset="-122"/>
                <a:cs typeface="Courier New" pitchFamily="34" charset="-120"/>
              </a:rPr>
              <a:t>)[-</a:t>
            </a:r>
            <a:pPr indent="0" marL="0">
              <a:buNone/>
            </a:pPr>
            <a:r>
              <a:rPr lang="en-US" sz="710" dirty="0">
                <a:solidFill>
                  <a:srgbClr val="FFD28A"/>
                </a:solidFill>
                <a:latin typeface="Courier New" pitchFamily="34" charset="0"/>
                <a:ea typeface="Courier New" pitchFamily="34" charset="-122"/>
                <a:cs typeface="Courier New" pitchFamily="34" charset="-120"/>
              </a:rPr>
              <a:t>9</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result </a:t>
            </a:r>
            <a:pPr indent="0" marL="0">
              <a:buNone/>
            </a:pPr>
            <a:r>
              <a:rPr lang="en-US" sz="710" dirty="0">
                <a:solidFill>
                  <a:srgbClr val="7EE787"/>
                </a:solidFill>
                <a:latin typeface="Courier New" pitchFamily="34" charset="0"/>
                <a:ea typeface="Courier New" pitchFamily="34" charset="-122"/>
                <a:cs typeface="Courier New" pitchFamily="34" charset="-120"/>
              </a:rPr>
              <a:t>'#8zl0zxma'</a:t>
            </a:r>
            <a:endParaRPr lang="en-US" sz="710" dirty="0"/>
          </a:p>
        </p:txBody>
      </p:sp>
      <p:sp>
        <p:nvSpPr>
          <p:cNvPr id="15" name="Text 13"/>
          <p:cNvSpPr txBox="1"/>
          <p:nvPr/>
        </p:nvSpPr>
        <p:spPr>
          <a:xfrm>
            <a:off x="640080" y="4315968"/>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OutputDescriptor, lines 34 to 40 of 40, run under Python 3.14.4</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descriptor states, in one line, what the wallet watches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Decode a real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node explains Alice's payment back to us</a:t>
            </a:r>
            <a:endParaRPr lang="en-US" sz="1300" dirty="0"/>
          </a:p>
        </p:txBody>
      </p:sp>
      <p:sp>
        <p:nvSpPr>
          <p:cNvPr id="6" name="Shape 4"/>
          <p:cNvSpPr/>
          <p:nvPr/>
        </p:nvSpPr>
        <p:spPr>
          <a:xfrm>
            <a:off x="457200" y="137160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71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35024"/>
            <a:ext cx="7662672" cy="32308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Chapter 2 built Alice's payment; here the real node decodes the real thing</a:t>
            </a:r>
            <a:endParaRPr lang="en-US" sz="950" dirty="0"/>
          </a:p>
        </p:txBody>
      </p:sp>
      <p:sp>
        <p:nvSpPr>
          <p:cNvPr id="9" name="Shape 7"/>
          <p:cNvSpPr/>
          <p:nvPr/>
        </p:nvSpPr>
        <p:spPr>
          <a:xfrm>
            <a:off x="457200" y="17312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312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94688"/>
            <a:ext cx="7662672" cy="32308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Two outputs come back typed: a taproot payment and taproot change</a:t>
            </a:r>
            <a:endParaRPr lang="en-US" sz="950" dirty="0"/>
          </a:p>
        </p:txBody>
      </p:sp>
      <p:sp>
        <p:nvSpPr>
          <p:cNvPr id="12" name="Shape 10"/>
          <p:cNvSpPr/>
          <p:nvPr/>
        </p:nvSpPr>
        <p:spPr>
          <a:xfrm>
            <a:off x="457200" y="209092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090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54352"/>
            <a:ext cx="7662672" cy="32308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Full parse (version, marker, flag, ins, outs, locktime) = (1, 0, 1, 1, 2, 0); flip one witness byte and (wtxid equal, txid equal) = (False, True)</a:t>
            </a:r>
            <a:endParaRPr lang="en-US" sz="950" dirty="0"/>
          </a:p>
        </p:txBody>
      </p:sp>
      <p:sp>
        <p:nvSpPr>
          <p:cNvPr id="15" name="Text 13"/>
          <p:cNvSpPr txBox="1"/>
          <p:nvPr/>
        </p:nvSpPr>
        <p:spPr>
          <a:xfrm>
            <a:off x="457200" y="22677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outputs, as the node reports them</a:t>
            </a:r>
            <a:endParaRPr lang="en-US" sz="1150" dirty="0"/>
          </a:p>
        </p:txBody>
      </p:sp>
      <p:sp>
        <p:nvSpPr>
          <p:cNvPr id="16" name="Shape 14"/>
          <p:cNvSpPr/>
          <p:nvPr/>
        </p:nvSpPr>
        <p:spPr>
          <a:xfrm>
            <a:off x="457200" y="2542032"/>
            <a:ext cx="8229600" cy="713232"/>
          </a:xfrm>
          <a:prstGeom prst="roundRect">
            <a:avLst>
              <a:gd name="adj" fmla="val 12821"/>
            </a:avLst>
          </a:prstGeom>
          <a:solidFill>
            <a:srgbClr val="23272E"/>
          </a:solidFill>
          <a:ln w="12700">
            <a:solidFill>
              <a:srgbClr val="23272E"/>
            </a:solidFill>
            <a:prstDash val="solid"/>
          </a:ln>
        </p:spPr>
      </p:sp>
      <p:sp>
        <p:nvSpPr>
          <p:cNvPr id="17" name="Text 15"/>
          <p:cNvSpPr txBox="1"/>
          <p:nvPr/>
        </p:nvSpPr>
        <p:spPr>
          <a:xfrm>
            <a:off x="640080" y="2660904"/>
            <a:ext cx="7863840" cy="47548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[(o['n'], o['value'], o['scriptPubKey']['type']) for o in json.load(io.StringIO(DECODEDTRANSACTION_D1))['vout']]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0.0002, 'witness_v1_taproot'), (1, 0.00075, 'witness_v0_keyhash')]</a:t>
            </a:r>
            <a:endParaRPr lang="en-US" sz="850" dirty="0"/>
          </a:p>
        </p:txBody>
      </p:sp>
      <p:sp>
        <p:nvSpPr>
          <p:cNvPr id="18" name="Text 16"/>
          <p:cNvSpPr txBox="1"/>
          <p:nvPr/>
        </p:nvSpPr>
        <p:spPr>
          <a:xfrm>
            <a:off x="457200" y="327355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9067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and wtxid, computed from her raw bytes</a:t>
            </a:r>
            <a:endParaRPr lang="en-US" sz="1150" dirty="0"/>
          </a:p>
        </p:txBody>
      </p:sp>
      <p:sp>
        <p:nvSpPr>
          <p:cNvPr id="20" name="Shape 18"/>
          <p:cNvSpPr/>
          <p:nvPr/>
        </p:nvSpPr>
        <p:spPr>
          <a:xfrm>
            <a:off x="457200" y="3364992"/>
            <a:ext cx="8229600" cy="1207008"/>
          </a:xfrm>
          <a:prstGeom prst="roundRect">
            <a:avLst>
              <a:gd name="adj" fmla="val 7576"/>
            </a:avLst>
          </a:prstGeom>
          <a:solidFill>
            <a:srgbClr val="23272E"/>
          </a:solidFill>
          <a:ln w="12700">
            <a:solidFill>
              <a:srgbClr val="23272E"/>
            </a:solidFill>
            <a:prstDash val="solid"/>
          </a:ln>
        </p:spPr>
      </p:sp>
      <p:sp>
        <p:nvSpPr>
          <p:cNvPr id="21" name="Text 19"/>
          <p:cNvSpPr txBox="1"/>
          <p:nvPr/>
        </p:nvSpPr>
        <p:spPr>
          <a:xfrm>
            <a:off x="640080" y="3483864"/>
            <a:ext cx="7863840" cy="9692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locktime = int.from_bytes(raw[i:i + </a:t>
            </a:r>
            <a:pPr indent="0" marL="0">
              <a:buNone/>
            </a:pPr>
            <a:r>
              <a:rPr lang="en-US" sz="700" dirty="0">
                <a:solidFill>
                  <a:srgbClr val="FFD28A"/>
                </a:solidFill>
                <a:latin typeface="Courier New" pitchFamily="34" charset="0"/>
                <a:ea typeface="Courier New" pitchFamily="34" charset="-122"/>
                <a:cs typeface="Courier New" pitchFamily="34" charset="-120"/>
              </a:rPr>
              <a:t>4</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9ECBFF"/>
                </a:solidFill>
                <a:latin typeface="Courier New" pitchFamily="34" charset="0"/>
                <a:ea typeface="Courier New" pitchFamily="34" charset="-122"/>
                <a:cs typeface="Courier New" pitchFamily="34" charset="-120"/>
              </a:rPr>
              <a:t>'little'</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stripped = raw[:</a:t>
            </a:r>
            <a:pPr indent="0" marL="0">
              <a:buNone/>
            </a:pPr>
            <a:r>
              <a:rPr lang="en-US" sz="700" dirty="0">
                <a:solidFill>
                  <a:srgbClr val="FFD28A"/>
                </a:solidFill>
                <a:latin typeface="Courier New" pitchFamily="34" charset="0"/>
                <a:ea typeface="Courier New" pitchFamily="34" charset="-122"/>
                <a:cs typeface="Courier New" pitchFamily="34" charset="-120"/>
              </a:rPr>
              <a:t>4</a:t>
            </a:r>
            <a:pPr indent="0" marL="0">
              <a:buNone/>
            </a:pPr>
            <a:r>
              <a:rPr lang="en-US" sz="700" dirty="0">
                <a:solidFill>
                  <a:srgbClr val="E6EDF3"/>
                </a:solidFill>
                <a:latin typeface="Courier New" pitchFamily="34" charset="0"/>
                <a:ea typeface="Courier New" pitchFamily="34" charset="-122"/>
                <a:cs typeface="Courier New" pitchFamily="34" charset="-120"/>
              </a:rPr>
              <a:t>] + raw[</a:t>
            </a:r>
            <a:pPr indent="0" marL="0">
              <a:buNone/>
            </a:pPr>
            <a:r>
              <a:rPr lang="en-US" sz="700" dirty="0">
                <a:solidFill>
                  <a:srgbClr val="FFD28A"/>
                </a:solidFill>
                <a:latin typeface="Courier New" pitchFamily="34" charset="0"/>
                <a:ea typeface="Courier New" pitchFamily="34" charset="-122"/>
                <a:cs typeface="Courier New" pitchFamily="34" charset="-120"/>
              </a:rPr>
              <a:t>6</a:t>
            </a:r>
            <a:pPr indent="0" marL="0">
              <a:buNone/>
            </a:pPr>
            <a:r>
              <a:rPr lang="en-US" sz="700" dirty="0">
                <a:solidFill>
                  <a:srgbClr val="E6EDF3"/>
                </a:solidFill>
                <a:latin typeface="Courier New" pitchFamily="34" charset="0"/>
                <a:ea typeface="Courier New" pitchFamily="34" charset="-122"/>
                <a:cs typeface="Courier New" pitchFamily="34" charset="-120"/>
              </a:rPr>
              <a:t>:out_end] + raw[wit_end:]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txid = d(stripped)[::-</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wtxid = d(raw)[::-</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(txid[:</a:t>
            </a:r>
            <a:pPr indent="0" marL="0">
              <a:buNone/>
            </a:pPr>
            <a:r>
              <a:rPr lang="en-US" sz="700" dirty="0">
                <a:solidFill>
                  <a:srgbClr val="FFD28A"/>
                </a:solidFill>
                <a:latin typeface="Courier New" pitchFamily="34" charset="0"/>
                <a:ea typeface="Courier New" pitchFamily="34" charset="-122"/>
                <a:cs typeface="Courier New" pitchFamily="34" charset="-120"/>
              </a:rPr>
              <a:t>16</a:t>
            </a:r>
            <a:pPr indent="0" marL="0">
              <a:buNone/>
            </a:pPr>
            <a:r>
              <a:rPr lang="en-US" sz="700" dirty="0">
                <a:solidFill>
                  <a:srgbClr val="E6EDF3"/>
                </a:solidFill>
                <a:latin typeface="Courier New" pitchFamily="34" charset="0"/>
                <a:ea typeface="Courier New" pitchFamily="34" charset="-122"/>
                <a:cs typeface="Courier New" pitchFamily="34" charset="-120"/>
              </a:rPr>
              <a:t>], wtxid[:</a:t>
            </a:r>
            <a:pPr indent="0" marL="0">
              <a:buNone/>
            </a:pPr>
            <a:r>
              <a:rPr lang="en-US" sz="700" dirty="0">
                <a:solidFill>
                  <a:srgbClr val="FFD28A"/>
                </a:solidFill>
                <a:latin typeface="Courier New" pitchFamily="34" charset="0"/>
                <a:ea typeface="Courier New" pitchFamily="34" charset="-122"/>
                <a:cs typeface="Courier New" pitchFamily="34" charset="-120"/>
              </a:rPr>
              <a:t>16</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pPr indent="0" marL="0">
              <a:buNone/>
            </a:pPr>
            <a:r>
              <a:rPr lang="en-US" sz="700" dirty="0">
                <a:solidFill>
                  <a:srgbClr val="7EE787"/>
                </a:solidFill>
                <a:latin typeface="Courier New" pitchFamily="34" charset="0"/>
                <a:ea typeface="Courier New" pitchFamily="34" charset="-122"/>
                <a:cs typeface="Courier New" pitchFamily="34" charset="-120"/>
              </a:rPr>
              <a:t>('466200308696215b', 'f7cdbc7cf8b910d3')</a:t>
            </a:r>
            <a:endParaRPr lang="en-US" sz="700" dirty="0"/>
          </a:p>
        </p:txBody>
      </p:sp>
      <p:sp>
        <p:nvSpPr>
          <p:cNvPr id="22" name="Text 20"/>
          <p:cNvSpPr txBox="1"/>
          <p:nvPr/>
        </p:nvSpPr>
        <p:spPr>
          <a:xfrm>
            <a:off x="640080" y="433425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TransactionIdentifier, lines 44 to 48 of 48, run under Python 3.14.4</a:t>
            </a:r>
            <a:endParaRPr lang="en-US" sz="8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explains any transaction - Alice's included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chain as data</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Headers, roots, and the same node from your own code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80-byte header</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root, recomputed</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Libraries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Semantics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header is 80 bytes of commitment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123,456's root, recomputed from its transactions</a:t>
            </a:r>
            <a:endParaRPr lang="en-US" sz="1300" dirty="0"/>
          </a:p>
        </p:txBody>
      </p:sp>
      <p:sp>
        <p:nvSpPr>
          <p:cNvPr id="6" name="Text 4"/>
          <p:cNvSpPr txBox="1"/>
          <p:nvPr/>
        </p:nvSpPr>
        <p:spPr>
          <a:xfrm>
            <a:off x="457200" y="1188720"/>
            <a:ext cx="3108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six fields, summed</a:t>
            </a:r>
            <a:endParaRPr lang="en-US" sz="1150" dirty="0"/>
          </a:p>
        </p:txBody>
      </p:sp>
      <p:sp>
        <p:nvSpPr>
          <p:cNvPr id="7" name="Shape 5"/>
          <p:cNvSpPr/>
          <p:nvPr/>
        </p:nvSpPr>
        <p:spPr>
          <a:xfrm>
            <a:off x="457200" y="1463040"/>
            <a:ext cx="310896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27432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4 + 32 + 32 + 4 + 4 + 4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p:txBody>
      </p:sp>
      <p:sp>
        <p:nvSpPr>
          <p:cNvPr id="9" name="Text 7"/>
          <p:cNvSpPr txBox="1"/>
          <p:nvPr/>
        </p:nvSpPr>
        <p:spPr>
          <a:xfrm>
            <a:off x="457200" y="2350008"/>
            <a:ext cx="3108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Shape 8"/>
          <p:cNvSpPr/>
          <p:nvPr/>
        </p:nvSpPr>
        <p:spPr>
          <a:xfrm>
            <a:off x="3840480" y="1417320"/>
            <a:ext cx="2308860" cy="1005840"/>
          </a:xfrm>
          <a:prstGeom prst="roundRect">
            <a:avLst>
              <a:gd name="adj" fmla="val 7273"/>
            </a:avLst>
          </a:prstGeom>
          <a:solidFill>
            <a:srgbClr val="F2ECE1"/>
          </a:solidFill>
          <a:ln w="12700">
            <a:solidFill>
              <a:srgbClr val="DFD6C7"/>
            </a:solidFill>
            <a:prstDash val="solid"/>
          </a:ln>
        </p:spPr>
      </p:sp>
      <p:sp>
        <p:nvSpPr>
          <p:cNvPr id="11" name="Text 9"/>
          <p:cNvSpPr txBox="1"/>
          <p:nvPr/>
        </p:nvSpPr>
        <p:spPr>
          <a:xfrm>
            <a:off x="3950208" y="1490472"/>
            <a:ext cx="2089404" cy="5029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80</a:t>
            </a:r>
            <a:endParaRPr lang="en-US" sz="2800" dirty="0"/>
          </a:p>
        </p:txBody>
      </p:sp>
      <p:sp>
        <p:nvSpPr>
          <p:cNvPr id="12" name="Text 10"/>
          <p:cNvSpPr txBox="1"/>
          <p:nvPr/>
        </p:nvSpPr>
        <p:spPr>
          <a:xfrm>
            <a:off x="395020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bytes that pin the whole block</a:t>
            </a:r>
            <a:endParaRPr lang="en-US" sz="1150" dirty="0"/>
          </a:p>
        </p:txBody>
      </p:sp>
      <p:sp>
        <p:nvSpPr>
          <p:cNvPr id="13" name="Shape 11"/>
          <p:cNvSpPr/>
          <p:nvPr/>
        </p:nvSpPr>
        <p:spPr>
          <a:xfrm>
            <a:off x="6377940" y="1417320"/>
            <a:ext cx="2308860" cy="1005840"/>
          </a:xfrm>
          <a:prstGeom prst="roundRect">
            <a:avLst>
              <a:gd name="adj" fmla="val 7273"/>
            </a:avLst>
          </a:prstGeom>
          <a:solidFill>
            <a:srgbClr val="F2ECE1"/>
          </a:solidFill>
          <a:ln w="12700">
            <a:solidFill>
              <a:srgbClr val="DFD6C7"/>
            </a:solidFill>
            <a:prstDash val="solid"/>
          </a:ln>
        </p:spPr>
      </p:sp>
      <p:sp>
        <p:nvSpPr>
          <p:cNvPr id="14" name="Text 12"/>
          <p:cNvSpPr txBox="1"/>
          <p:nvPr/>
        </p:nvSpPr>
        <p:spPr>
          <a:xfrm>
            <a:off x="6487668" y="1490472"/>
            <a:ext cx="2089404" cy="5029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0e60651a...</a:t>
            </a:r>
            <a:endParaRPr lang="en-US" sz="2200" dirty="0"/>
          </a:p>
        </p:txBody>
      </p:sp>
      <p:sp>
        <p:nvSpPr>
          <p:cNvPr id="15" name="Text 13"/>
          <p:cNvSpPr txBox="1"/>
          <p:nvPr/>
        </p:nvSpPr>
        <p:spPr>
          <a:xfrm>
            <a:off x="648766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123,456's Merkle root, recomputed</a:t>
            </a:r>
            <a:endParaRPr lang="en-US" sz="1150" dirty="0"/>
          </a:p>
        </p:txBody>
      </p:sp>
      <p:sp>
        <p:nvSpPr>
          <p:cNvPr id="16" name="Text 14"/>
          <p:cNvSpPr txBox="1"/>
          <p:nvPr/>
        </p:nvSpPr>
        <p:spPr>
          <a:xfrm>
            <a:off x="457200" y="24688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pair, hash, repeat - against a real block</a:t>
            </a:r>
            <a:endParaRPr lang="en-US" sz="1150" dirty="0"/>
          </a:p>
        </p:txBody>
      </p:sp>
      <p:sp>
        <p:nvSpPr>
          <p:cNvPr id="17" name="Shape 15"/>
          <p:cNvSpPr/>
          <p:nvPr/>
        </p:nvSpPr>
        <p:spPr>
          <a:xfrm>
            <a:off x="457200" y="2743200"/>
            <a:ext cx="8229600" cy="1737360"/>
          </a:xfrm>
          <a:prstGeom prst="roundRect">
            <a:avLst>
              <a:gd name="adj" fmla="val 5263"/>
            </a:avLst>
          </a:prstGeom>
          <a:solidFill>
            <a:srgbClr val="23272E"/>
          </a:solidFill>
          <a:ln w="12700">
            <a:solidFill>
              <a:srgbClr val="23272E"/>
            </a:solidFill>
            <a:prstDash val="solid"/>
          </a:ln>
        </p:spPr>
      </p:sp>
      <p:sp>
        <p:nvSpPr>
          <p:cNvPr id="18" name="Text 16"/>
          <p:cNvSpPr txBox="1"/>
          <p:nvPr/>
        </p:nvSpPr>
        <p:spPr>
          <a:xfrm>
            <a:off x="640080" y="2862072"/>
            <a:ext cx="7863840" cy="149961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pPr indent="0" marL="0">
              <a:buNone/>
            </a:pPr>
            <a:r>
              <a:rPr lang="en-US" sz="900" dirty="0">
                <a:solidFill>
                  <a:srgbClr val="E6EDF3"/>
                </a:solidFill>
                <a:latin typeface="Courier New" pitchFamily="34" charset="0"/>
                <a:ea typeface="Courier New" pitchFamily="34" charset="-122"/>
                <a:cs typeface="Courier New" pitchFamily="34" charset="-120"/>
              </a:rPr>
              <a:t> hashlib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 = </a:t>
            </a:r>
            <a:pPr indent="0" marL="0">
              <a:buNone/>
            </a:pPr>
            <a:r>
              <a:rPr lang="en-US" sz="900" b="1" dirty="0">
                <a:solidFill>
                  <a:srgbClr val="F2A860"/>
                </a:solidFill>
                <a:latin typeface="Courier New" pitchFamily="34" charset="0"/>
                <a:ea typeface="Courier New" pitchFamily="34" charset="-122"/>
                <a:cs typeface="Courier New" pitchFamily="34" charset="-120"/>
              </a:rPr>
              <a:t>lambda</a:t>
            </a:r>
            <a:pPr indent="0" marL="0">
              <a:buNone/>
            </a:pPr>
            <a:r>
              <a:rPr lang="en-US" sz="900" dirty="0">
                <a:solidFill>
                  <a:srgbClr val="E6EDF3"/>
                </a:solidFill>
                <a:latin typeface="Courier New" pitchFamily="34" charset="0"/>
                <a:ea typeface="Courier New" pitchFamily="34" charset="-122"/>
                <a:cs typeface="Courier New" pitchFamily="34" charset="-120"/>
              </a:rPr>
              <a:t> b: hashlib.sha256(hashlib.sha256(b).digest()).digest()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level = [bytes.fromhex(t)[::-</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for</a:t>
            </a:r>
            <a:pPr indent="0" marL="0">
              <a:buNone/>
            </a:pPr>
            <a:r>
              <a:rPr lang="en-US" sz="900" dirty="0">
                <a:solidFill>
                  <a:srgbClr val="E6EDF3"/>
                </a:solidFill>
                <a:latin typeface="Courier New" pitchFamily="34" charset="0"/>
                <a:ea typeface="Courier New" pitchFamily="34" charset="-122"/>
                <a:cs typeface="Courier New" pitchFamily="34" charset="-120"/>
              </a:rPr>
              <a:t> t </a:t>
            </a:r>
            <a:pPr indent="0" marL="0">
              <a:buNone/>
            </a:pPr>
            <a:r>
              <a:rPr lang="en-US" sz="900" b="1" dirty="0">
                <a:solidFill>
                  <a:srgbClr val="F2A860"/>
                </a:solidFill>
                <a:latin typeface="Courier New" pitchFamily="34" charset="0"/>
                <a:ea typeface="Courier New" pitchFamily="34" charset="-122"/>
                <a:cs typeface="Courier New" pitchFamily="34" charset="-120"/>
              </a:rPr>
              <a:t>in</a:t>
            </a:r>
            <a:pPr indent="0" marL="0">
              <a:buNone/>
            </a:pPr>
            <a:r>
              <a:rPr lang="en-US" sz="900" dirty="0">
                <a:solidFill>
                  <a:srgbClr val="E6EDF3"/>
                </a:solidFill>
                <a:latin typeface="Courier New" pitchFamily="34" charset="0"/>
                <a:ea typeface="Courier New" pitchFamily="34" charset="-122"/>
                <a:cs typeface="Courier New" pitchFamily="34" charset="-120"/>
              </a:rPr>
              <a:t> MERKLEROOT_D1.split()]</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while</a:t>
            </a:r>
            <a:pPr indent="0" marL="0">
              <a:buNone/>
            </a:pPr>
            <a:r>
              <a:rPr lang="en-US" sz="900" dirty="0">
                <a:solidFill>
                  <a:srgbClr val="E6EDF3"/>
                </a:solidFill>
                <a:latin typeface="Courier New" pitchFamily="34" charset="0"/>
                <a:ea typeface="Courier New" pitchFamily="34" charset="-122"/>
                <a:cs typeface="Courier New" pitchFamily="34" charset="-120"/>
              </a:rPr>
              <a:t> len(level) &gt; </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len(level) % </a:t>
            </a:r>
            <a:pPr indent="0" marL="0">
              <a:buNone/>
            </a:pPr>
            <a:r>
              <a:rPr lang="en-US" sz="900" dirty="0">
                <a:solidFill>
                  <a:srgbClr val="FFD28A"/>
                </a:solidFill>
                <a:latin typeface="Courier New" pitchFamily="34" charset="0"/>
                <a:ea typeface="Courier New" pitchFamily="34" charset="-122"/>
                <a:cs typeface="Courier New" pitchFamily="34" charset="-120"/>
              </a:rPr>
              <a:t>2</a:t>
            </a:r>
            <a:pPr indent="0" marL="0">
              <a:buNone/>
            </a:pPr>
            <a:r>
              <a:rPr lang="en-US" sz="900" dirty="0">
                <a:solidFill>
                  <a:srgbClr val="E6EDF3"/>
                </a:solidFill>
                <a:latin typeface="Courier New" pitchFamily="34" charset="0"/>
                <a:ea typeface="Courier New" pitchFamily="34" charset="-122"/>
                <a:cs typeface="Courier New" pitchFamily="34" charset="-120"/>
              </a:rPr>
              <a:t>: level.append(level[-</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level = [d(level[i] + level[i + </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for</a:t>
            </a:r>
            <a:pPr indent="0" marL="0">
              <a:buNone/>
            </a:pPr>
            <a:r>
              <a:rPr lang="en-US" sz="900" dirty="0">
                <a:solidFill>
                  <a:srgbClr val="E6EDF3"/>
                </a:solidFill>
                <a:latin typeface="Courier New" pitchFamily="34" charset="0"/>
                <a:ea typeface="Courier New" pitchFamily="34" charset="-122"/>
                <a:cs typeface="Courier New" pitchFamily="34" charset="-120"/>
              </a:rPr>
              <a:t> i </a:t>
            </a:r>
            <a:pPr indent="0" marL="0">
              <a:buNone/>
            </a:pPr>
            <a:r>
              <a:rPr lang="en-US" sz="900" b="1" dirty="0">
                <a:solidFill>
                  <a:srgbClr val="F2A860"/>
                </a:solidFill>
                <a:latin typeface="Courier New" pitchFamily="34" charset="0"/>
                <a:ea typeface="Courier New" pitchFamily="34" charset="-122"/>
                <a:cs typeface="Courier New" pitchFamily="34" charset="-120"/>
              </a:rPr>
              <a:t>in</a:t>
            </a:r>
            <a:pPr indent="0" marL="0">
              <a:buNone/>
            </a:pPr>
            <a:r>
              <a:rPr lang="en-US" sz="900" dirty="0">
                <a:solidFill>
                  <a:srgbClr val="E6EDF3"/>
                </a:solidFill>
                <a:latin typeface="Courier New" pitchFamily="34" charset="0"/>
                <a:ea typeface="Courier New" pitchFamily="34" charset="-122"/>
                <a:cs typeface="Courier New" pitchFamily="34" charset="-120"/>
              </a:rPr>
              <a:t> range(</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len(level), </a:t>
            </a:r>
            <a:pPr indent="0" marL="0">
              <a:buNone/>
            </a:pPr>
            <a:r>
              <a:rPr lang="en-US" sz="900" dirty="0">
                <a:solidFill>
                  <a:srgbClr val="FFD28A"/>
                </a:solidFill>
                <a:latin typeface="Courier New" pitchFamily="34" charset="0"/>
                <a:ea typeface="Courier New" pitchFamily="34" charset="-122"/>
                <a:cs typeface="Courier New" pitchFamily="34" charset="-120"/>
              </a:rPr>
              <a:t>2</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level[</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900" dirty="0"/>
          </a:p>
        </p:txBody>
      </p:sp>
      <p:sp>
        <p:nvSpPr>
          <p:cNvPr id="19" name="Text 17"/>
          <p:cNvSpPr txBox="1"/>
          <p:nvPr/>
        </p:nvSpPr>
        <p:spPr>
          <a:xfrm>
            <a:off x="640080" y="424281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MerkleRoot, lines 1 to 7 of 7, run under Python 3.14.4</a:t>
            </a:r>
            <a:endParaRPr lang="en-US" sz="8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Eighty bytes pin megabytes - that is the whole trick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and in one library call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Your scripts and the course page read the same node</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wrapper library turns the RPC protocol into one function call</a:t>
            </a:r>
            <a:endParaRPr lang="en-US" sz="9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And the course page stores what you just learned as triples with provenance - same discipline</a:t>
            </a:r>
            <a:endParaRPr lang="en-US" sz="950" dirty="0"/>
          </a:p>
        </p:txBody>
      </p:sp>
      <p:sp>
        <p:nvSpPr>
          <p:cNvPr id="12" name="Text 10"/>
          <p:cNvSpPr txBox="1"/>
          <p:nvPr/>
        </p:nvSpPr>
        <p:spPr>
          <a:xfrm>
            <a:off x="457200" y="2194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the request a library builds for you</a:t>
            </a:r>
            <a:endParaRPr lang="en-US" sz="1150" dirty="0"/>
          </a:p>
        </p:txBody>
      </p:sp>
      <p:sp>
        <p:nvSpPr>
          <p:cNvPr id="13" name="Shape 11"/>
          <p:cNvSpPr/>
          <p:nvPr/>
        </p:nvSpPr>
        <p:spPr>
          <a:xfrm>
            <a:off x="457200" y="2468880"/>
            <a:ext cx="8229600" cy="1207008"/>
          </a:xfrm>
          <a:prstGeom prst="roundRect">
            <a:avLst>
              <a:gd name="adj" fmla="val 7576"/>
            </a:avLst>
          </a:prstGeom>
          <a:solidFill>
            <a:srgbClr val="23272E"/>
          </a:solidFill>
          <a:ln w="12700">
            <a:solidFill>
              <a:srgbClr val="23272E"/>
            </a:solidFill>
            <a:prstDash val="solid"/>
          </a:ln>
        </p:spPr>
      </p:sp>
      <p:sp>
        <p:nvSpPr>
          <p:cNvPr id="14" name="Text 12"/>
          <p:cNvSpPr txBox="1"/>
          <p:nvPr/>
        </p:nvSpPr>
        <p:spPr>
          <a:xfrm>
            <a:off x="640080" y="2587752"/>
            <a:ext cx="7863840" cy="9692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pPr indent="0" marL="0">
              <a:buNone/>
            </a:pPr>
            <a:r>
              <a:rPr lang="en-US" sz="700" dirty="0">
                <a:solidFill>
                  <a:srgbClr val="E6EDF3"/>
                </a:solidFill>
                <a:latin typeface="Courier New" pitchFamily="34" charset="0"/>
                <a:ea typeface="Courier New" pitchFamily="34" charset="-122"/>
                <a:cs typeface="Courier New" pitchFamily="34" charset="-120"/>
              </a:rPr>
              <a:t> json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Proxy: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def</a:t>
            </a:r>
            <a:pPr indent="0" marL="0">
              <a:buNone/>
            </a:pPr>
            <a:r>
              <a:rPr lang="en-US" sz="700" dirty="0">
                <a:solidFill>
                  <a:srgbClr val="E6EDF3"/>
                </a:solidFill>
                <a:latin typeface="Courier New" pitchFamily="34" charset="0"/>
                <a:ea typeface="Courier New" pitchFamily="34" charset="-122"/>
                <a:cs typeface="Courier New" pitchFamily="34" charset="-120"/>
              </a:rPr>
              <a:t> __getattr__(self,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lambda</a:t>
            </a:r>
            <a:pPr indent="0" marL="0">
              <a:buNone/>
            </a:pPr>
            <a:r>
              <a:rPr lang="en-US" sz="700" dirty="0">
                <a:solidFill>
                  <a:srgbClr val="E6EDF3"/>
                </a:solidFill>
                <a:latin typeface="Courier New" pitchFamily="34" charset="0"/>
                <a:ea typeface="Courier New" pitchFamily="34" charset="-122"/>
                <a:cs typeface="Courier New" pitchFamily="34" charset="-120"/>
              </a:rPr>
              <a:t> *args: json.dumps({</a:t>
            </a:r>
            <a:pPr indent="0" marL="0">
              <a:buNone/>
            </a:pPr>
            <a:r>
              <a:rPr lang="en-US" sz="700" dirty="0">
                <a:solidFill>
                  <a:srgbClr val="9ECBFF"/>
                </a:solidFill>
                <a:latin typeface="Courier New" pitchFamily="34" charset="0"/>
                <a:ea typeface="Courier New" pitchFamily="34" charset="-122"/>
                <a:cs typeface="Courier New" pitchFamily="34" charset="-120"/>
              </a:rPr>
              <a:t>'version'</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9ECBFF"/>
                </a:solidFill>
                <a:latin typeface="Courier New" pitchFamily="34" charset="0"/>
                <a:ea typeface="Courier New" pitchFamily="34" charset="-122"/>
                <a:cs typeface="Courier New" pitchFamily="34" charset="-120"/>
              </a:rPr>
              <a:t>'1.1'</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9ECBFF"/>
                </a:solidFill>
                <a:latin typeface="Courier New" pitchFamily="34" charset="0"/>
                <a:ea typeface="Courier New" pitchFamily="34" charset="-122"/>
                <a:cs typeface="Courier New" pitchFamily="34" charset="-120"/>
              </a:rPr>
              <a:t>'method'</a:t>
            </a:r>
            <a:pPr indent="0" marL="0">
              <a:buNone/>
            </a:pPr>
            <a:r>
              <a:rPr lang="en-US" sz="700" dirty="0">
                <a:solidFill>
                  <a:srgbClr val="E6EDF3"/>
                </a:solidFill>
                <a:latin typeface="Courier New" pitchFamily="34" charset="0"/>
                <a:ea typeface="Courier New" pitchFamily="34" charset="-122"/>
                <a:cs typeface="Courier New" pitchFamily="34" charset="-120"/>
              </a:rPr>
              <a:t>: name, </a:t>
            </a:r>
            <a:pPr indent="0" marL="0">
              <a:buNone/>
            </a:pPr>
            <a:r>
              <a:rPr lang="en-US" sz="700" dirty="0">
                <a:solidFill>
                  <a:srgbClr val="9ECBFF"/>
                </a:solidFill>
                <a:latin typeface="Courier New" pitchFamily="34" charset="0"/>
                <a:ea typeface="Courier New" pitchFamily="34" charset="-122"/>
                <a:cs typeface="Courier New" pitchFamily="34" charset="-120"/>
              </a:rPr>
              <a:t>'params'</a:t>
            </a:r>
            <a:pPr indent="0" marL="0">
              <a:buNone/>
            </a:pPr>
            <a:r>
              <a:rPr lang="en-US" sz="700" dirty="0">
                <a:solidFill>
                  <a:srgbClr val="E6EDF3"/>
                </a:solidFill>
                <a:latin typeface="Courier New" pitchFamily="34" charset="0"/>
                <a:ea typeface="Courier New" pitchFamily="34" charset="-122"/>
                <a:cs typeface="Courier New" pitchFamily="34" charset="-120"/>
              </a:rPr>
              <a:t>: list(args), </a:t>
            </a:r>
            <a:pPr indent="0" marL="0">
              <a:buNone/>
            </a:pPr>
            <a:r>
              <a:rPr lang="en-US" sz="700" dirty="0">
                <a:solidFill>
                  <a:srgbClr val="9ECBFF"/>
                </a:solidFill>
                <a:latin typeface="Courier New" pitchFamily="34" charset="0"/>
                <a:ea typeface="Courier New" pitchFamily="34" charset="-122"/>
                <a:cs typeface="Courier New" pitchFamily="34" charset="-120"/>
              </a:rPr>
              <a:t>'id'</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Proxy().getblockhash(</a:t>
            </a:r>
            <a:pPr indent="0" marL="0">
              <a:buNone/>
            </a:pPr>
            <a:r>
              <a:rPr lang="en-US" sz="700" dirty="0">
                <a:solidFill>
                  <a:srgbClr val="FFD28A"/>
                </a:solidFill>
                <a:latin typeface="Courier New" pitchFamily="34" charset="0"/>
                <a:ea typeface="Courier New" pitchFamily="34" charset="-122"/>
                <a:cs typeface="Courier New" pitchFamily="34" charset="-120"/>
              </a:rPr>
              <a:t>1000</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pPr indent="0" marL="0">
              <a:buNone/>
            </a:pPr>
            <a:r>
              <a:rPr lang="en-US" sz="700" dirty="0">
                <a:solidFill>
                  <a:srgbClr val="7EE787"/>
                </a:solidFill>
                <a:latin typeface="Courier New" pitchFamily="34" charset="0"/>
                <a:ea typeface="Courier New" pitchFamily="34" charset="-122"/>
                <a:cs typeface="Courier New" pitchFamily="34" charset="-120"/>
              </a:rPr>
              <a:t>'{"version": "1.1", "method": "getblockhash", "params": [1000], "id": 1}'</a:t>
            </a:r>
            <a:endParaRPr lang="en-US" sz="700" dirty="0"/>
          </a:p>
        </p:txBody>
      </p:sp>
      <p:sp>
        <p:nvSpPr>
          <p:cNvPr id="15" name="Text 13"/>
          <p:cNvSpPr txBox="1"/>
          <p:nvPr/>
        </p:nvSpPr>
        <p:spPr>
          <a:xfrm>
            <a:off x="640080" y="343814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WrapperLibrary, lines 1 to 5 of 5, run under Python 3.14.4</a:t>
            </a:r>
            <a:endParaRPr lang="en-US" sz="800" dirty="0"/>
          </a:p>
        </p:txBody>
      </p:sp>
      <p:sp>
        <p:nvSpPr>
          <p:cNvPr id="16" name="Shape 14"/>
          <p:cNvSpPr/>
          <p:nvPr/>
        </p:nvSpPr>
        <p:spPr>
          <a:xfrm>
            <a:off x="457200" y="3840480"/>
            <a:ext cx="252923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84048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python-bitcoinlib</a:t>
            </a:r>
            <a:endParaRPr lang="en-US" sz="1200" dirty="0"/>
          </a:p>
        </p:txBody>
      </p:sp>
      <p:sp>
        <p:nvSpPr>
          <p:cNvPr id="18" name="Shape 16"/>
          <p:cNvSpPr/>
          <p:nvPr/>
        </p:nvSpPr>
        <p:spPr>
          <a:xfrm>
            <a:off x="3187598" y="3840480"/>
            <a:ext cx="1393546"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187598" y="3840480"/>
            <a:ext cx="139354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JSON-RPC</a:t>
            </a:r>
            <a:endParaRPr lang="en-US" sz="1200" dirty="0"/>
          </a:p>
        </p:txBody>
      </p:sp>
      <p:sp>
        <p:nvSpPr>
          <p:cNvPr id="20" name="Shape 18"/>
          <p:cNvSpPr/>
          <p:nvPr/>
        </p:nvSpPr>
        <p:spPr>
          <a:xfrm>
            <a:off x="4782312" y="3840480"/>
            <a:ext cx="126735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782312" y="3840480"/>
            <a:ext cx="126735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triples</a:t>
            </a:r>
            <a:endParaRPr lang="en-US" sz="1200" dirty="0"/>
          </a:p>
        </p:txBody>
      </p:sp>
      <p:sp>
        <p:nvSpPr>
          <p:cNvPr id="22" name="Shape 20"/>
          <p:cNvSpPr/>
          <p:nvPr/>
        </p:nvSpPr>
        <p:spPr>
          <a:xfrm>
            <a:off x="6250838" y="3840480"/>
            <a:ext cx="164592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0838" y="384048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provenance</a:t>
            </a:r>
            <a:endParaRPr lang="en-US" sz="12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and your scripts read the same node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Bitcoin Core descends from v0.1 of 2009 - the program IS the specification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release is a tag on a public repository; reproducible builds make the binary provable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narrates itself: a data directory, a config, and a log that explains decisions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Everything speaks JSON-RPC underneath - your scripts can too, today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80 header bytes commit to the whole chain - the Merkle root we recomputed is the hinge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github.com/bitcoinbook/bitcoinbook/blob/develop/ch03_bitcoin-core.adoc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Core's own site and releases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bitcoincore.org</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source, at any tag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github.com/bitcoin/bitcoin</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Verify &amp; build</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Builder attestations (guix.sigs)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github.com/bitcoin-core/guix.sigs</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Build documentation in-tree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github.com/bitcoin/bitcoin/tree/master/doc</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Talk to a node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RPC reference, every method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developer.bitcoin.org/reference/rpc/</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History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 the project's story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en.wikipedia.org/wiki/Bitcoin_Core</a:t>
            </a:r>
            <a:endParaRPr lang="en-US" sz="100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Pro Git, free - the tool under it all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git-scm.com/book</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Clone, verify, build, run - the whole chapter is one evening of commands</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the program comes from, and how to pick a version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verified build beats a trusted download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daemon writes, and how to ask it anything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80 bytes commit to everything beneath them</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 Bitcoin Core</dc:title>
  <dc:subject>PptxGenJS Presentation</dc:subject>
  <dc:creator>Yusuf Altunel</dc:creator>
  <cp:lastModifiedBy>Yusuf Altunel</cp:lastModifiedBy>
  <cp:revision>1</cp:revision>
  <dcterms:created xsi:type="dcterms:W3CDTF">2026-10-06T10:21:26Z</dcterms:created>
  <dcterms:modified xsi:type="dcterms:W3CDTF">2026-10-06T10:21:26Z</dcterms:modified>
</cp:coreProperties>
</file>