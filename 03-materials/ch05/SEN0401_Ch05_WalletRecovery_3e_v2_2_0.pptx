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media/image-6-1.jpg" ContentType="image/jpg"/>
  <Override PartName="/ppt/media/image-9-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Entropy carried by a recovery code (bits)</a:t>
            </a:r>
          </a:p>
        </c:rich>
      </c:tx>
      <c:layout/>
      <c:overlay val="0"/>
    </c:title>
    <c:autoTitleDeleted val="0"/>
    <c:plotArea>
      <c:layout/>
      <c:barChart>
        <c:barDir val="col"/>
        <c:grouping val="clustered"/>
        <c:varyColors val="0"/>
        <c:ser>
          <c:idx val="0"/>
          <c:order val="0"/>
          <c:tx>
            <c:strRef>
              <c:f>Sheet1!$B$1</c:f>
              <c:strCache>
                <c:ptCount val="1"/>
                <c:pt idx="0">
                  <c:v>entropy bits</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cat>
            <c:multiLvlStrRef>
              <c:f>Sheet1!$A$2:$A$6</c:f>
              <c:multiLvlStrCache>
                <c:ptCount val="5"/>
                <c:lvl>
                  <c:pt idx="0">
                    <c:v>12 words</c:v>
                  </c:pt>
                  <c:pt idx="1">
                    <c:v>15 words</c:v>
                  </c:pt>
                  <c:pt idx="2">
                    <c:v>18 words</c:v>
                  </c:pt>
                  <c:pt idx="3">
                    <c:v>21 words</c:v>
                  </c:pt>
                  <c:pt idx="4">
                    <c:v>24 words</c:v>
                  </c:pt>
                </c:lvl>
              </c:multiLvlStrCache>
            </c:multiLvlStrRef>
          </c:cat>
          <c:val>
            <c:numRef>
              <c:f>Sheet1!$B$2:$B$6</c:f>
              <c:numCache>
                <c:formatCode>General</c:formatCode>
                <c:ptCount val="5"/>
                <c:pt idx="0">
                  <c:v>128</c:v>
                </c:pt>
                <c:pt idx="1">
                  <c:v>160</c:v>
                </c:pt>
                <c:pt idx="2">
                  <c:v>192</c:v>
                </c:pt>
                <c:pt idx="3">
                  <c:v>224</c:v>
                </c:pt>
                <c:pt idx="4">
                  <c:v>256</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made one key; chapter 5 makes ALL of them recoverable from twelve words you can write on paper - and shows what happens to people who skip the writing. The full explanation is on the course page, chapter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parts, ending at a tested backup. One story costs 7,002 BTC, one finds 200,000, and one explains the twelve words in your pocket. A question to think about is this: which part do you expect to be hardest? The full explanation is on the course page, chapter 5, in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first branch of the chapter asks what a Bitcoin wallet really contains and where its keys come from. The chapter begins by correcting a common belief. The full explanation is on the course page, chapter 5, in Wallet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first branch of the chapter asks what a Bitcoin wallet really contains and where its keys come from. The chapter begins by correcting a common belief. The full explanation is on the course page, chapter 5, in Wallet keys and Recovery codes.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first branch of the chapter asks what a Bitcoin wallet really contains and where its keys come from. The chapter begins by correcting a common belief. The full explanation is on the course page, chapter 5, in Wallet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2021-01-12. In 2011 Stefan Thomas was paid 7,002 BTC for making an animated explainer about bitcoin. He put the keys on an encrypted IronKey drive, wrote the password on a paper he later lost, and the drive allows ten guesses before locking forever. The source is the New York Times, 2021-01-12, 'Lost Passwords Lock Millionaires Out of Their Bitcoin Fortunes': 7,002 BTC, ten guesses, eight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Independent key generation is the method in which a wallet application creates each of the keys that it plans to use independently of the others. Each is a fresh random number with no connection to the rest, and the wallet database is simply the collection of them. A question to think about is this: what breaks if a deterministic wallet's RNG is biased? The full explanation is on the course page, chapter 5, in Independent key generation and Deterministic key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recovery code is the short, written form of a wallet's seed: a sequence of words, or in one case a string of letters and digits, from which every key of a deterministic wallet can be computed again. The full explanation is on the course page, chapter 5, in Recovery codes.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2013-09-10. The team building the first hardware signing device faced a human problem: nobody transcribes 128 raw bits correctly. Their 2013 proposal, BIP 39, encodes entropy as ordinary words from a curated list of 2,048 - eleven bits a word, a checksum folded in, a key-stretching function from words to seed. The source is BIP 39, 'Mnemonic code for generating deterministic keys', authors Palatinus, Rusnak, Voisine, Bowe, dated 2013-09-10, in bitcoin/bips.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length of a recovery code is not a free choice: it is determined by the amount of entropy. The chapter prints the relation as a table with four columns, entropy in bits, checksum in bits, entropy plus checksum, and recovery code words, whose five rows run from 128 bits and 12 words to 256 bits and 24 words (Antonopoulos and Harding, 2023). A question to think about is this: why eleven bits a word? The full explanation is on the course page, chapter 5, in Code length and Word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PBKDF2 is the second password-based key derivation function of the PKCS #5 standard, and it is the particular key-stretching function BIP39 names. Its specification defines it as applying a pseudorandom function to derive keys, with four inputs: a password, a salt, an iteration count and the intended length of the derived key in octets, and says it is recommended for new applications (Moriarty et al., 2017). A question to think about is this: where must the passphrase NOT be stored? The full explanation is on the course page, chapter 5, in PBKDF2 and Recovery code passphrase.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hierarchical deterministic wallet, which the chapter and the standards abbreviate to HD wallet, is a wallet whose keys form a tree, every node of which is computed from the seed. The book's glossary calls the hierarchical deterministic protocol the key creation and transfer protocol of BIP32, which allows creating child keys from parent keys in a hierarchy, and an HD wallet a wallet using that protocol (Antonopoulos and Harding, 2023). The full explanation is on the course page, chapter 5, in Hierarchical deterministic wallet.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Hierarchical deterministic key generation, usually shortened to HD, is the standard way to derive keys from a seed. It is defined in BIP32, a Bitcoin Improvement Proposal by Pieter Wuille that has the status Deployed (Wuille, 2012). A question to think about is this: why carry a chain code at all? The full explanation is on the course page, chapter 5, in Hierarchical deterministic key generation and Child key derivation.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Hardened derivation is the alternative derivation function that breaks the relationship between the parent public key and the child chain code. Think about this case: read m/84h/0h/0h/0/2: which hops could a watch-only server have taken itself? The full explanation is on the course page, chapter 5, in Hardened child key derivation and Private child key derivation.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BIP44 is the layout that gives a tree its familiar shape. The chapter says that, extending BIP43, BIP44 proposes a multi-account structure as purpose number 44 with a prime, that all wallets following the structure are identified by using only the branch m/44', and that the structure consists of five predefined tree levels: purpose, coin type, account, change and address index (Antonopoulos and Harding, 2023). Think about this case: your phone wallet says 'account 0'. The full explanation is on the course page, chapter 5, in BIP44 structure and BIP84 path for native segwit.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branch is about everything in a wallet that a seed cannot reproduce. The full explanation is on the course page, chapter 5, in Backing up data that is not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Deploying an extended public key means installing the public half of a branch on a machine that needs to receive but not to spend. Think about this case: a donation page went viral and used 400 addresses. The full explanation is on the course page, chapter 5, in Extended public key deployment and Gap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2014-03-21. Chapter 1 told how Mt. Gox collapsed owing 850,000 BTC. Three weeks after the bankruptcy filing came a twist: the company reported finding about 200,000 BTC in an old-format wallet file that had sat unused since 2011. The source is Mt. Gox announcement of 2014-03-20/21 reporting approximately 200,000 BTC found in an old-format wallet; summarized with the bankruptcy chronology at en.wikipedia.org/wiki/Mt._Gox.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Secret sharing is a way of splitting one secret into several parts with a threshold. SLIP39's description is the clearest: the scheme splits a secret into a number of unique parts, of which any threshold-many are required to reconstruct it, and knowledge of fewer than the required number does not leak information about the secret (Rusnak et al., 2017). A question to think about is this: where do five shares live so no burglary, flood, or sibling feud collects three? The full explanation is on the course page, chapter 5, in Secret sharing and SLIP39 share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a backup means performing the recovery while it is still optional. It is the action the chapter's last sentence asks for: it is up to the reader to actually use the systems available to make good backups and regularly test them (Antonopoulos and Harding, 2023). A question to think about is this: when did you last restore a backup of anything? The full explanation is on the course page, chapter 5, in Testing a backup and Data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lines, one per part; the agenda names the slides that prove each. A question to think about is this: which line would you defend first, and with which slide? The full explanation is on the course page, chapter 5, in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Homework: generate a THROWAWAY twelve-word code, restore it in a second wallet, and bring the one surprise you hit to class. A question to think about is this: which of the four closing chips does your current phone wallet fail? The full explanation is on the course page, chapter 5, in Deploying keys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a computation you watched run against the standards' own vectors. First five chapters complete - the course page carries every word. The full explanation is on the course page, chapter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hyperlink" Target="https://www.nytimes.com/2021/01/12/technology/bitcoin-passwords-wallets-fortunes.html" TargetMode="Externa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hyperlink" Target="https://bips.dev/39/" TargetMode="Externa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www.theregister.com/2014/03/21/mtgox_finds_200000_bitcoin_in_old_wallets/" TargetMode="Externa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raw.githubusercontent.com/bitcoinbook/bitcoinbook/develop/ch05_wallets.adoc" TargetMode="External"/><Relationship Id="rId2" Type="http://schemas.openxmlformats.org/officeDocument/2006/relationships/hyperlink" Target="https://www.nytimes.com/2021/01/12/technology/bitcoin-passwords-wallets-fortunes.html" TargetMode="External"/><Relationship Id="rId3" Type="http://schemas.openxmlformats.org/officeDocument/2006/relationships/hyperlink" Target="https://bips.dev/39/" TargetMode="External"/><Relationship Id="rId4" Type="http://schemas.openxmlformats.org/officeDocument/2006/relationships/hyperlink" Target="https://bips.dev/32/" TargetMode="External"/><Relationship Id="rId5" Type="http://schemas.openxmlformats.org/officeDocument/2006/relationships/hyperlink" Target="https://bips.dev/84/" TargetMode="External"/><Relationship Id="rId6" Type="http://schemas.openxmlformats.org/officeDocument/2006/relationships/hyperlink" Target="https://iancoleman.io/bip39/" TargetMode="External"/><Relationship Id="rId7" Type="http://schemas.openxmlformats.org/officeDocument/2006/relationships/hyperlink" Target="https://learnmeabitcoin.com/technical/keys/hd-wallets/" TargetMode="External"/><Relationship Id="rId8" Type="http://schemas.openxmlformats.org/officeDocument/2006/relationships/hyperlink" Target="https://bitcoin.stackexchange.com" TargetMode="External"/><Relationship Id="rId9" Type="http://schemas.openxmlformats.org/officeDocument/2006/relationships/slideLayout" Target="../slideLayouts/slideLayout1.xml"/><Relationship Id="rId10"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5: Wallet Recovery</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One seed, twelve words, and every key you will ever need back</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05/assets/mbc3_0503.png">    </p:cNvPr>
          <p:cNvPicPr>
            <a:picLocks noChangeAspect="1"/>
          </p:cNvPicPr>
          <p:nvPr/>
        </p:nvPicPr>
        <p:blipFill>
          <a:blip r:embed="rId1"/>
          <a:srcRect l="0" r="0" t="0" b="0"/>
          <a:stretch/>
        </p:blipFill>
        <p:spPr>
          <a:xfrm>
            <a:off x="5394960" y="1097280"/>
            <a:ext cx="3383280" cy="2286000"/>
          </a:xfrm>
          <a:prstGeom prst="rect">
            <a:avLst/>
          </a:prstGeom>
        </p:spPr>
      </p:pic>
      <p:sp>
        <p:nvSpPr>
          <p:cNvPr id="12" name="Text 9"/>
          <p:cNvSpPr txBox="1"/>
          <p:nvPr/>
        </p:nvSpPr>
        <p:spPr>
          <a:xfrm>
            <a:off x="5394960" y="3401568"/>
            <a:ext cx="33832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HD tree - Mastering Bitcoin 3e, CC BY-SA</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Five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Questions and the chapter map  (slides 3-4)</a:t>
            </a:r>
            <a:endParaRPr lang="en-US" sz="1250" dirty="0"/>
          </a:p>
        </p:txBody>
      </p:sp>
      <p:sp>
        <p:nvSpPr>
          <p:cNvPr id="9" name="Shape 7"/>
          <p:cNvSpPr/>
          <p:nvPr/>
        </p:nvSpPr>
        <p:spPr>
          <a:xfrm>
            <a:off x="457200" y="202996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2996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93392"/>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Keys in wallets - loose, deterministic, hierarchical  (slides 5-7)</a:t>
            </a:r>
            <a:endParaRPr lang="en-US" sz="1250" dirty="0"/>
          </a:p>
        </p:txBody>
      </p:sp>
      <p:sp>
        <p:nvSpPr>
          <p:cNvPr id="12" name="Shape 10"/>
          <p:cNvSpPr/>
          <p:nvPr/>
        </p:nvSpPr>
        <p:spPr>
          <a:xfrm>
            <a:off x="457200" y="265176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17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15184"/>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Recovery codes - BIP-39, measured and stretched  (slides 8-11)</a:t>
            </a:r>
            <a:endParaRPr lang="en-US" sz="1250" dirty="0"/>
          </a:p>
        </p:txBody>
      </p:sp>
      <p:sp>
        <p:nvSpPr>
          <p:cNvPr id="15" name="Shape 13"/>
          <p:cNvSpPr/>
          <p:nvPr/>
        </p:nvSpPr>
        <p:spPr>
          <a:xfrm>
            <a:off x="457200" y="327355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735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236976"/>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tree and its paths - to Core's own address  (slides 12-15)</a:t>
            </a:r>
            <a:endParaRPr lang="en-US" sz="1250" dirty="0"/>
          </a:p>
        </p:txBody>
      </p:sp>
      <p:sp>
        <p:nvSpPr>
          <p:cNvPr id="18" name="Shape 16"/>
          <p:cNvSpPr/>
          <p:nvPr/>
        </p:nvSpPr>
        <p:spPr>
          <a:xfrm>
            <a:off x="457200" y="389534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953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58768"/>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Beyond keys, summary, and resources  (slides 16-23)</a:t>
            </a:r>
            <a:endParaRPr lang="en-US" sz="1250" dirty="0"/>
          </a:p>
        </p:txBody>
      </p:sp>
      <p:sp>
        <p:nvSpPr>
          <p:cNvPr id="21" name="Shape 19"/>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2" name="Text 20"/>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23</a:t>
            </a:r>
            <a:endParaRPr lang="en-US" sz="2600" dirty="0"/>
          </a:p>
        </p:txBody>
      </p:sp>
      <p:sp>
        <p:nvSpPr>
          <p:cNvPr id="23" name="Text 21"/>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4" name="Shape 22"/>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3</a:t>
            </a:r>
            <a:endParaRPr lang="en-US" sz="2600" dirty="0"/>
          </a:p>
        </p:txBody>
      </p:sp>
      <p:sp>
        <p:nvSpPr>
          <p:cNvPr id="26" name="Text 24"/>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27" name="Shape 25"/>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18</a:t>
            </a:r>
            <a:endParaRPr lang="en-US" sz="2600" dirty="0"/>
          </a:p>
        </p:txBody>
      </p:sp>
      <p:sp>
        <p:nvSpPr>
          <p:cNvPr id="29" name="Text 27"/>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live-run consoles, each shown with its result</a:t>
            </a:r>
            <a:endParaRPr lang="en-US" sz="11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parts - and at the end, a backup you have actually tested</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23</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 we return to each</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4206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What does a Bitcoin wallet actually contain?</a:t>
            </a:r>
            <a:endParaRPr lang="en-US" sz="1250" dirty="0"/>
          </a:p>
        </p:txBody>
      </p:sp>
      <p:sp>
        <p:nvSpPr>
          <p:cNvPr id="9" name="Shape 7"/>
          <p:cNvSpPr/>
          <p:nvPr/>
        </p:nvSpPr>
        <p:spPr>
          <a:xfrm>
            <a:off x="457200" y="17739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73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37360"/>
            <a:ext cx="7662672" cy="4206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is a BIP39 recovery code generated from entropy and turned into a seed?</a:t>
            </a:r>
            <a:endParaRPr lang="en-US" sz="1250" dirty="0"/>
          </a:p>
        </p:txBody>
      </p:sp>
      <p:sp>
        <p:nvSpPr>
          <p:cNvPr id="12" name="Shape 10"/>
          <p:cNvSpPr/>
          <p:nvPr/>
        </p:nvSpPr>
        <p:spPr>
          <a:xfrm>
            <a:off x="457200" y="22311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31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194560"/>
            <a:ext cx="7662672" cy="4206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does BIP32 make a tree of keys from one seed?</a:t>
            </a:r>
            <a:endParaRPr lang="en-US" sz="1250" dirty="0"/>
          </a:p>
        </p:txBody>
      </p:sp>
      <p:sp>
        <p:nvSpPr>
          <p:cNvPr id="15" name="Shape 13"/>
          <p:cNvSpPr/>
          <p:nvPr/>
        </p:nvSpPr>
        <p:spPr>
          <a:xfrm>
            <a:off x="457200" y="268833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688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651760"/>
            <a:ext cx="7662672" cy="4206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recovery code schemes are in use?</a:t>
            </a:r>
            <a:endParaRPr lang="en-US" sz="1250" dirty="0"/>
          </a:p>
        </p:txBody>
      </p:sp>
      <p:sp>
        <p:nvSpPr>
          <p:cNvPr id="18" name="Shape 16"/>
          <p:cNvSpPr/>
          <p:nvPr/>
        </p:nvSpPr>
        <p:spPr>
          <a:xfrm>
            <a:off x="457200" y="314553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145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08960"/>
            <a:ext cx="7662672" cy="4206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derivation paths does a wallet use?</a:t>
            </a:r>
            <a:endParaRPr lang="en-US" sz="1250" dirty="0"/>
          </a:p>
        </p:txBody>
      </p:sp>
      <p:sp>
        <p:nvSpPr>
          <p:cNvPr id="21" name="Shape 19"/>
          <p:cNvSpPr/>
          <p:nvPr/>
        </p:nvSpPr>
        <p:spPr>
          <a:xfrm>
            <a:off x="457200" y="36027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602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566160"/>
            <a:ext cx="7662672" cy="4206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Where do the chapter's statements differ from the standards and from Bitcoin Core 31.1?</a:t>
            </a:r>
            <a:endParaRPr lang="en-US" sz="1250" dirty="0"/>
          </a:p>
        </p:txBody>
      </p:sp>
      <p:sp>
        <p:nvSpPr>
          <p:cNvPr id="24" name="Shape 22"/>
          <p:cNvSpPr/>
          <p:nvPr/>
        </p:nvSpPr>
        <p:spPr>
          <a:xfrm>
            <a:off x="457200" y="4059936"/>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4059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023360"/>
            <a:ext cx="7662672" cy="4206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terms do the explanations of this chapter rely on?</a:t>
            </a:r>
            <a:endParaRPr lang="en-US" sz="125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you can answer these, chapter 5 is yours</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eight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chapter hangs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Eight branches; the count under each is how many concepts the course page explains for it - today walks the spine.</a:t>
            </a:r>
            <a:endParaRPr lang="en-US" sz="1250" dirty="0"/>
          </a:p>
        </p:txBody>
      </p:sp>
      <p:sp>
        <p:nvSpPr>
          <p:cNvPr id="7" name="Shape 5"/>
          <p:cNvSpPr/>
          <p:nvPr/>
        </p:nvSpPr>
        <p:spPr>
          <a:xfrm>
            <a:off x="457200" y="1554480"/>
            <a:ext cx="1947672" cy="1261872"/>
          </a:xfrm>
          <a:prstGeom prst="roundRect">
            <a:avLst>
              <a:gd name="adj" fmla="val 5797"/>
            </a:avLst>
          </a:prstGeom>
          <a:solidFill>
            <a:srgbClr val="F2ECE1"/>
          </a:solidFill>
          <a:ln w="12700">
            <a:solidFill>
              <a:srgbClr val="DFD6C7"/>
            </a:solidFill>
            <a:prstDash val="solid"/>
          </a:ln>
        </p:spPr>
      </p:sp>
      <p:sp>
        <p:nvSpPr>
          <p:cNvPr id="8" name="Text 6"/>
          <p:cNvSpPr txBox="1"/>
          <p:nvPr/>
        </p:nvSpPr>
        <p:spPr>
          <a:xfrm>
            <a:off x="548640" y="1609344"/>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Wallet Keys</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10 concepts</a:t>
            </a:r>
            <a:endParaRPr lang="en-US" sz="1250" dirty="0"/>
          </a:p>
        </p:txBody>
      </p:sp>
      <p:sp>
        <p:nvSpPr>
          <p:cNvPr id="9" name="Shape 7"/>
          <p:cNvSpPr/>
          <p:nvPr/>
        </p:nvSpPr>
        <p:spPr>
          <a:xfrm>
            <a:off x="2551176" y="1554480"/>
            <a:ext cx="1947672" cy="1261872"/>
          </a:xfrm>
          <a:prstGeom prst="roundRect">
            <a:avLst>
              <a:gd name="adj" fmla="val 5797"/>
            </a:avLst>
          </a:prstGeom>
          <a:solidFill>
            <a:srgbClr val="F2ECE1"/>
          </a:solidFill>
          <a:ln w="12700">
            <a:solidFill>
              <a:srgbClr val="DFD6C7"/>
            </a:solidFill>
            <a:prstDash val="solid"/>
          </a:ln>
        </p:spPr>
      </p:sp>
      <p:sp>
        <p:nvSpPr>
          <p:cNvPr id="10" name="Text 8"/>
          <p:cNvSpPr txBox="1"/>
          <p:nvPr/>
        </p:nvSpPr>
        <p:spPr>
          <a:xfrm>
            <a:off x="2642616" y="1609344"/>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Recovery Codes</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14 concepts</a:t>
            </a:r>
            <a:endParaRPr lang="en-US" sz="1250" dirty="0"/>
          </a:p>
        </p:txBody>
      </p:sp>
      <p:sp>
        <p:nvSpPr>
          <p:cNvPr id="11" name="Shape 9"/>
          <p:cNvSpPr/>
          <p:nvPr/>
        </p:nvSpPr>
        <p:spPr>
          <a:xfrm>
            <a:off x="4645152" y="1554480"/>
            <a:ext cx="1947672" cy="1261872"/>
          </a:xfrm>
          <a:prstGeom prst="roundRect">
            <a:avLst>
              <a:gd name="adj" fmla="val 5797"/>
            </a:avLst>
          </a:prstGeom>
          <a:solidFill>
            <a:srgbClr val="D97A14"/>
          </a:solidFill>
          <a:ln w="12700">
            <a:solidFill>
              <a:srgbClr val="D97A14"/>
            </a:solidFill>
            <a:prstDash val="solid"/>
          </a:ln>
        </p:spPr>
      </p:sp>
      <p:sp>
        <p:nvSpPr>
          <p:cNvPr id="12" name="Text 10"/>
          <p:cNvSpPr txBox="1"/>
          <p:nvPr/>
        </p:nvSpPr>
        <p:spPr>
          <a:xfrm>
            <a:off x="4736592" y="1609344"/>
            <a:ext cx="1764792" cy="11521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BIP39 Stack</a:t>
            </a:r>
            <a:endParaRPr lang="en-US" sz="1250" dirty="0"/>
          </a:p>
          <a:p>
            <a:pPr algn="ctr" indent="0" marL="0">
              <a:buNone/>
            </a:pPr>
            <a:r>
              <a:rPr lang="en-US" sz="1000" dirty="0">
                <a:solidFill>
                  <a:srgbClr val="FFFFFF"/>
                </a:solidFill>
                <a:latin typeface="Calibri" pitchFamily="34" charset="0"/>
                <a:ea typeface="Calibri" pitchFamily="34" charset="-122"/>
                <a:cs typeface="Calibri" pitchFamily="34" charset="-120"/>
              </a:rPr>
              <a:t>14 concepts</a:t>
            </a:r>
            <a:endParaRPr lang="en-US" sz="1250" dirty="0"/>
          </a:p>
        </p:txBody>
      </p:sp>
      <p:sp>
        <p:nvSpPr>
          <p:cNvPr id="13" name="Shape 11"/>
          <p:cNvSpPr/>
          <p:nvPr/>
        </p:nvSpPr>
        <p:spPr>
          <a:xfrm>
            <a:off x="6739128" y="1554480"/>
            <a:ext cx="1947672" cy="1261872"/>
          </a:xfrm>
          <a:prstGeom prst="roundRect">
            <a:avLst>
              <a:gd name="adj" fmla="val 5797"/>
            </a:avLst>
          </a:prstGeom>
          <a:solidFill>
            <a:srgbClr val="F2ECE1"/>
          </a:solidFill>
          <a:ln w="12700">
            <a:solidFill>
              <a:srgbClr val="DFD6C7"/>
            </a:solidFill>
            <a:prstDash val="solid"/>
          </a:ln>
        </p:spPr>
      </p:sp>
      <p:sp>
        <p:nvSpPr>
          <p:cNvPr id="14" name="Text 12"/>
          <p:cNvSpPr txBox="1"/>
          <p:nvPr/>
        </p:nvSpPr>
        <p:spPr>
          <a:xfrm>
            <a:off x="6830568" y="1609344"/>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HD Wallet</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25 concepts</a:t>
            </a:r>
            <a:endParaRPr lang="en-US" sz="1250" dirty="0"/>
          </a:p>
        </p:txBody>
      </p:sp>
      <p:sp>
        <p:nvSpPr>
          <p:cNvPr id="15" name="Shape 13"/>
          <p:cNvSpPr/>
          <p:nvPr/>
        </p:nvSpPr>
        <p:spPr>
          <a:xfrm>
            <a:off x="457200" y="2944368"/>
            <a:ext cx="1947672" cy="1261872"/>
          </a:xfrm>
          <a:prstGeom prst="roundRect">
            <a:avLst>
              <a:gd name="adj" fmla="val 5797"/>
            </a:avLst>
          </a:prstGeom>
          <a:solidFill>
            <a:srgbClr val="F2ECE1"/>
          </a:solidFill>
          <a:ln w="12700">
            <a:solidFill>
              <a:srgbClr val="DFD6C7"/>
            </a:solidFill>
            <a:prstDash val="solid"/>
          </a:ln>
        </p:spPr>
      </p:sp>
      <p:sp>
        <p:nvSpPr>
          <p:cNvPr id="16" name="Text 14"/>
          <p:cNvSpPr txBox="1"/>
          <p:nvPr/>
        </p:nvSpPr>
        <p:spPr>
          <a:xfrm>
            <a:off x="548640" y="2999232"/>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Path Backup</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15 concepts</a:t>
            </a:r>
            <a:endParaRPr lang="en-US" sz="1250" dirty="0"/>
          </a:p>
        </p:txBody>
      </p:sp>
      <p:sp>
        <p:nvSpPr>
          <p:cNvPr id="17" name="Shape 15"/>
          <p:cNvSpPr/>
          <p:nvPr/>
        </p:nvSpPr>
        <p:spPr>
          <a:xfrm>
            <a:off x="2551176" y="2944368"/>
            <a:ext cx="1947672" cy="1261872"/>
          </a:xfrm>
          <a:prstGeom prst="roundRect">
            <a:avLst>
              <a:gd name="adj" fmla="val 5797"/>
            </a:avLst>
          </a:prstGeom>
          <a:solidFill>
            <a:srgbClr val="F2ECE1"/>
          </a:solidFill>
          <a:ln w="12700">
            <a:solidFill>
              <a:srgbClr val="DFD6C7"/>
            </a:solidFill>
            <a:prstDash val="solid"/>
          </a:ln>
        </p:spPr>
      </p:sp>
      <p:sp>
        <p:nvSpPr>
          <p:cNvPr id="18" name="Text 16"/>
          <p:cNvSpPr txBox="1"/>
          <p:nvPr/>
        </p:nvSpPr>
        <p:spPr>
          <a:xfrm>
            <a:off x="2642616" y="2999232"/>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Nonkey Backup</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9 concepts</a:t>
            </a:r>
            <a:endParaRPr lang="en-US" sz="1250" dirty="0"/>
          </a:p>
        </p:txBody>
      </p:sp>
      <p:sp>
        <p:nvSpPr>
          <p:cNvPr id="19" name="Shape 17"/>
          <p:cNvSpPr/>
          <p:nvPr/>
        </p:nvSpPr>
        <p:spPr>
          <a:xfrm>
            <a:off x="4645152" y="2944368"/>
            <a:ext cx="1947672" cy="1261872"/>
          </a:xfrm>
          <a:prstGeom prst="roundRect">
            <a:avLst>
              <a:gd name="adj" fmla="val 5797"/>
            </a:avLst>
          </a:prstGeom>
          <a:solidFill>
            <a:srgbClr val="F2ECE1"/>
          </a:solidFill>
          <a:ln w="12700">
            <a:solidFill>
              <a:srgbClr val="DFD6C7"/>
            </a:solidFill>
            <a:prstDash val="solid"/>
          </a:ln>
        </p:spPr>
      </p:sp>
      <p:sp>
        <p:nvSpPr>
          <p:cNvPr id="20" name="Text 18"/>
          <p:cNvSpPr txBox="1"/>
          <p:nvPr/>
        </p:nvSpPr>
        <p:spPr>
          <a:xfrm>
            <a:off x="4736592" y="2999232"/>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Wallet Deployment</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8 concepts</a:t>
            </a:r>
            <a:endParaRPr lang="en-US" sz="1250" dirty="0"/>
          </a:p>
        </p:txBody>
      </p:sp>
      <p:sp>
        <p:nvSpPr>
          <p:cNvPr id="21" name="Shape 19"/>
          <p:cNvSpPr/>
          <p:nvPr/>
        </p:nvSpPr>
        <p:spPr>
          <a:xfrm>
            <a:off x="6739128" y="2944368"/>
            <a:ext cx="1947672" cy="1261872"/>
          </a:xfrm>
          <a:prstGeom prst="roundRect">
            <a:avLst>
              <a:gd name="adj" fmla="val 5797"/>
            </a:avLst>
          </a:prstGeom>
          <a:solidFill>
            <a:srgbClr val="F2ECE1"/>
          </a:solidFill>
          <a:ln w="12700">
            <a:solidFill>
              <a:srgbClr val="DFD6C7"/>
            </a:solidFill>
            <a:prstDash val="solid"/>
          </a:ln>
        </p:spPr>
      </p:sp>
      <p:sp>
        <p:nvSpPr>
          <p:cNvPr id="22" name="Text 20"/>
          <p:cNvSpPr txBox="1"/>
          <p:nvPr/>
        </p:nvSpPr>
        <p:spPr>
          <a:xfrm>
            <a:off x="6830568" y="2999232"/>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Foundations</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8 concepts</a:t>
            </a:r>
            <a:endParaRPr lang="en-US" sz="125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Eight branches - every slide today lives on this map</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23</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Keys in wallets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From a bag of keys to one recoverable seed</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Wallet databases</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Loose keys</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Deterministic</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Hierarchical</a:t>
            </a:r>
            <a:endParaRPr lang="en-US" sz="1400" dirty="0"/>
          </a:p>
        </p:txBody>
      </p:sp>
      <p:pic>
        <p:nvPicPr>
          <p:cNvPr id="14" name="Image 0" descr="../../03-materials/ch05/assets/mbc3_0502.png">    </p:cNvPr>
          <p:cNvPicPr>
            <a:picLocks noChangeAspect="1"/>
          </p:cNvPicPr>
          <p:nvPr/>
        </p:nvPicPr>
        <p:blipFill>
          <a:blip r:embed="rId1"/>
          <a:srcRect l="0" r="0" t="0" b="0"/>
          <a:stretch/>
        </p:blipFill>
        <p:spPr>
          <a:xfrm>
            <a:off x="5760720" y="1828800"/>
            <a:ext cx="3017520" cy="2194560"/>
          </a:xfrm>
          <a:prstGeom prst="rect">
            <a:avLst/>
          </a:prstGeom>
        </p:spPr>
      </p:pic>
      <p:sp>
        <p:nvSpPr>
          <p:cNvPr id="15" name="Text 12"/>
          <p:cNvSpPr txBox="1"/>
          <p:nvPr/>
        </p:nvSpPr>
        <p:spPr>
          <a:xfrm>
            <a:off x="5760720" y="4041648"/>
            <a:ext cx="30175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one seed, many keys -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23</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Two guesses from 7,002 bitcoin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2021-01-12</a:t>
            </a:r>
            <a:endParaRPr lang="en-US" sz="1300" dirty="0"/>
          </a:p>
        </p:txBody>
      </p:sp>
      <p:pic>
        <p:nvPicPr>
          <p:cNvPr id="6" name="Image 0" descr="../../03-materials/ch05/assets/photo_stefan_thomas.jpg">    </p:cNvPr>
          <p:cNvPicPr>
            <a:picLocks noChangeAspect="1"/>
          </p:cNvPicPr>
          <p:nvPr/>
        </p:nvPicPr>
        <p:blipFill>
          <a:blip r:embed="rId1"/>
          <a:srcRect l="0" r="0" t="0" b="0"/>
          <a:stretch/>
        </p:blipFill>
        <p:spPr>
          <a:xfrm>
            <a:off x="457200" y="1325880"/>
            <a:ext cx="2194560" cy="2834640"/>
          </a:xfrm>
          <a:prstGeom prst="rect">
            <a:avLst/>
          </a:prstGeom>
        </p:spPr>
      </p:pic>
      <p:sp>
        <p:nvSpPr>
          <p:cNvPr id="7" name="Text 4"/>
          <p:cNvSpPr txBox="1"/>
          <p:nvPr/>
        </p:nvSpPr>
        <p:spPr>
          <a:xfrm>
            <a:off x="457200" y="4178808"/>
            <a:ext cx="21945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Stefan Thomas - Lift 2015, CC BY 2.0</a:t>
            </a:r>
            <a:endParaRPr lang="en-US" sz="900" dirty="0"/>
          </a:p>
        </p:txBody>
      </p:sp>
      <p:sp>
        <p:nvSpPr>
          <p:cNvPr id="8" name="Shape 5"/>
          <p:cNvSpPr/>
          <p:nvPr/>
        </p:nvSpPr>
        <p:spPr>
          <a:xfrm>
            <a:off x="3017520" y="1570482"/>
            <a:ext cx="128016" cy="128016"/>
          </a:xfrm>
          <a:prstGeom prst="diamond">
            <a:avLst/>
          </a:prstGeom>
          <a:solidFill>
            <a:srgbClr val="D97A14"/>
          </a:solidFill>
          <a:ln w="12700">
            <a:solidFill>
              <a:srgbClr val="D97A14"/>
            </a:solidFill>
            <a:prstDash val="solid"/>
          </a:ln>
        </p:spPr>
      </p:sp>
      <p:sp>
        <p:nvSpPr>
          <p:cNvPr id="9" name="Text 6"/>
          <p:cNvSpPr txBox="1"/>
          <p:nvPr/>
        </p:nvSpPr>
        <p:spPr>
          <a:xfrm>
            <a:off x="3291840" y="1371600"/>
            <a:ext cx="539496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2011: paid 7,002 BTC for an animated bitcoin explainer</a:t>
            </a:r>
            <a:endParaRPr lang="en-US" sz="1300" dirty="0"/>
          </a:p>
        </p:txBody>
      </p:sp>
      <p:sp>
        <p:nvSpPr>
          <p:cNvPr id="10" name="Shape 7"/>
          <p:cNvSpPr/>
          <p:nvPr/>
        </p:nvSpPr>
        <p:spPr>
          <a:xfrm>
            <a:off x="3017520" y="209626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291840" y="1897380"/>
            <a:ext cx="539496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Keys on an encrypted drive; password on a paper, lost</a:t>
            </a:r>
            <a:endParaRPr lang="en-US" sz="1300" dirty="0"/>
          </a:p>
        </p:txBody>
      </p:sp>
      <p:sp>
        <p:nvSpPr>
          <p:cNvPr id="12" name="Shape 9"/>
          <p:cNvSpPr/>
          <p:nvPr/>
        </p:nvSpPr>
        <p:spPr>
          <a:xfrm>
            <a:off x="3017520" y="262204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291840" y="2423160"/>
            <a:ext cx="539496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The drive allows ten guesses - by 2021, eight were gone</a:t>
            </a:r>
            <a:endParaRPr lang="en-US" sz="1300" dirty="0"/>
          </a:p>
        </p:txBody>
      </p:sp>
      <p:sp>
        <p:nvSpPr>
          <p:cNvPr id="14" name="Shape 11"/>
          <p:cNvSpPr/>
          <p:nvPr/>
        </p:nvSpPr>
        <p:spPr>
          <a:xfrm>
            <a:off x="3017520" y="31478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3291840" y="2948940"/>
            <a:ext cx="539496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Front page of the New York Times, and of this chapter</a:t>
            </a:r>
            <a:endParaRPr lang="en-US" sz="1300" dirty="0"/>
          </a:p>
        </p:txBody>
      </p:sp>
      <p:sp>
        <p:nvSpPr>
          <p:cNvPr id="16" name="Shape 13"/>
          <p:cNvSpPr/>
          <p:nvPr/>
        </p:nvSpPr>
        <p:spPr>
          <a:xfrm>
            <a:off x="3017520" y="3703320"/>
            <a:ext cx="1068019"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3108960" y="3703320"/>
            <a:ext cx="92171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Stefan Thom…</a:t>
            </a:r>
            <a:endParaRPr lang="en-US" sz="750" dirty="0"/>
          </a:p>
        </p:txBody>
      </p:sp>
      <p:sp>
        <p:nvSpPr>
          <p:cNvPr id="18" name="Shape 15"/>
          <p:cNvSpPr/>
          <p:nvPr/>
        </p:nvSpPr>
        <p:spPr>
          <a:xfrm>
            <a:off x="4195267" y="3703320"/>
            <a:ext cx="1014618"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4286707" y="3703320"/>
            <a:ext cx="868314"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an IronKey…</a:t>
            </a:r>
            <a:endParaRPr lang="en-US" sz="750" dirty="0"/>
          </a:p>
        </p:txBody>
      </p:sp>
      <p:sp>
        <p:nvSpPr>
          <p:cNvPr id="20" name="Shape 17"/>
          <p:cNvSpPr/>
          <p:nvPr/>
        </p:nvSpPr>
        <p:spPr>
          <a:xfrm>
            <a:off x="5319613" y="3703320"/>
            <a:ext cx="907816"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5411053" y="3703320"/>
            <a:ext cx="761512"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2021-01…</a:t>
            </a:r>
            <a:endParaRPr lang="en-US" sz="750" dirty="0"/>
          </a:p>
        </p:txBody>
      </p:sp>
      <p:sp>
        <p:nvSpPr>
          <p:cNvPr id="22" name="Shape 19"/>
          <p:cNvSpPr/>
          <p:nvPr/>
        </p:nvSpPr>
        <p:spPr>
          <a:xfrm>
            <a:off x="6337158" y="3703320"/>
            <a:ext cx="2349642"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6428598" y="3703320"/>
            <a:ext cx="2203338"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Lost passwords lock millionaires out (NYT)</a:t>
            </a:r>
            <a:endParaRPr lang="en-US" sz="750" dirty="0"/>
          </a:p>
        </p:txBody>
      </p:sp>
      <p:sp>
        <p:nvSpPr>
          <p:cNvPr id="24"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Memory is not a backup - this chapter is the alternative</a:t>
            </a:r>
            <a:endParaRPr lang="en-US" sz="13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23</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From loose keys to one seed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Three generations of wallet, one slide</a:t>
            </a:r>
            <a:endParaRPr lang="en-US" sz="1300" dirty="0"/>
          </a:p>
        </p:txBody>
      </p:sp>
      <p:sp>
        <p:nvSpPr>
          <p:cNvPr id="6" name="Shape 4"/>
          <p:cNvSpPr/>
          <p:nvPr/>
        </p:nvSpPr>
        <p:spPr>
          <a:xfrm>
            <a:off x="457200" y="1417320"/>
            <a:ext cx="2426208" cy="1051560"/>
          </a:xfrm>
          <a:prstGeom prst="roundRect">
            <a:avLst>
              <a:gd name="adj" fmla="val 8696"/>
            </a:avLst>
          </a:prstGeom>
          <a:solidFill>
            <a:srgbClr val="2F6D62"/>
          </a:solidFill>
          <a:ln w="12700">
            <a:solidFill>
              <a:srgbClr val="2F6D62"/>
            </a:solidFill>
            <a:prstDash val="solid"/>
          </a:ln>
        </p:spPr>
      </p:sp>
      <p:sp>
        <p:nvSpPr>
          <p:cNvPr id="7" name="Text 5"/>
          <p:cNvSpPr txBox="1"/>
          <p:nvPr/>
        </p:nvSpPr>
        <p:spPr>
          <a:xfrm>
            <a:off x="530352" y="1463040"/>
            <a:ext cx="2279904" cy="9601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Loose keys</a:t>
            </a:r>
            <a:endParaRPr lang="en-US" sz="1200" dirty="0"/>
          </a:p>
          <a:p>
            <a:pPr algn="ctr" indent="0" marL="0">
              <a:buNone/>
            </a:pPr>
            <a:r>
              <a:rPr lang="en-US" sz="950" dirty="0">
                <a:solidFill>
                  <a:srgbClr val="D7E4E0"/>
                </a:solidFill>
                <a:latin typeface="Calibri" pitchFamily="34" charset="0"/>
                <a:ea typeface="Calibri" pitchFamily="34" charset="-122"/>
                <a:cs typeface="Calibri" pitchFamily="34" charset="-120"/>
              </a:rPr>
              <a:t>back up every key, forever</a:t>
            </a:r>
            <a:endParaRPr lang="en-US" sz="1200" dirty="0"/>
          </a:p>
        </p:txBody>
      </p:sp>
      <p:sp>
        <p:nvSpPr>
          <p:cNvPr id="8" name="Shape 6"/>
          <p:cNvSpPr/>
          <p:nvPr/>
        </p:nvSpPr>
        <p:spPr>
          <a:xfrm>
            <a:off x="2938272" y="1943100"/>
            <a:ext cx="365760" cy="0"/>
          </a:xfrm>
          <a:prstGeom prst="line">
            <a:avLst/>
          </a:prstGeom>
          <a:noFill/>
          <a:ln w="25400">
            <a:solidFill>
              <a:srgbClr val="D97A14"/>
            </a:solidFill>
            <a:prstDash val="solid"/>
            <a:tailEnd type="triangle"/>
          </a:ln>
        </p:spPr>
      </p:sp>
      <p:sp>
        <p:nvSpPr>
          <p:cNvPr id="9" name="Shape 7"/>
          <p:cNvSpPr/>
          <p:nvPr/>
        </p:nvSpPr>
        <p:spPr>
          <a:xfrm>
            <a:off x="3358896" y="1417320"/>
            <a:ext cx="2426208" cy="1051560"/>
          </a:xfrm>
          <a:prstGeom prst="roundRect">
            <a:avLst>
              <a:gd name="adj" fmla="val 8696"/>
            </a:avLst>
          </a:prstGeom>
          <a:solidFill>
            <a:srgbClr val="2F6D62"/>
          </a:solidFill>
          <a:ln w="12700">
            <a:solidFill>
              <a:srgbClr val="2F6D62"/>
            </a:solidFill>
            <a:prstDash val="solid"/>
          </a:ln>
        </p:spPr>
      </p:sp>
      <p:sp>
        <p:nvSpPr>
          <p:cNvPr id="10" name="Text 8"/>
          <p:cNvSpPr txBox="1"/>
          <p:nvPr/>
        </p:nvSpPr>
        <p:spPr>
          <a:xfrm>
            <a:off x="3432048" y="1463040"/>
            <a:ext cx="2279904" cy="9601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Deterministic</a:t>
            </a:r>
            <a:endParaRPr lang="en-US" sz="1200" dirty="0"/>
          </a:p>
          <a:p>
            <a:pPr algn="ctr" indent="0" marL="0">
              <a:buNone/>
            </a:pPr>
            <a:r>
              <a:rPr lang="en-US" sz="950" dirty="0">
                <a:solidFill>
                  <a:srgbClr val="D7E4E0"/>
                </a:solidFill>
                <a:latin typeface="Calibri" pitchFamily="34" charset="0"/>
                <a:ea typeface="Calibri" pitchFamily="34" charset="-122"/>
                <a:cs typeface="Calibri" pitchFamily="34" charset="-120"/>
              </a:rPr>
              <a:t>one seed makes them all</a:t>
            </a:r>
            <a:endParaRPr lang="en-US" sz="1200" dirty="0"/>
          </a:p>
        </p:txBody>
      </p:sp>
      <p:sp>
        <p:nvSpPr>
          <p:cNvPr id="11" name="Shape 9"/>
          <p:cNvSpPr/>
          <p:nvPr/>
        </p:nvSpPr>
        <p:spPr>
          <a:xfrm>
            <a:off x="5839968" y="1943100"/>
            <a:ext cx="365760" cy="0"/>
          </a:xfrm>
          <a:prstGeom prst="line">
            <a:avLst/>
          </a:prstGeom>
          <a:noFill/>
          <a:ln w="25400">
            <a:solidFill>
              <a:srgbClr val="D97A14"/>
            </a:solidFill>
            <a:prstDash val="solid"/>
            <a:tailEnd type="triangle"/>
          </a:ln>
        </p:spPr>
      </p:sp>
      <p:sp>
        <p:nvSpPr>
          <p:cNvPr id="12" name="Shape 10"/>
          <p:cNvSpPr/>
          <p:nvPr/>
        </p:nvSpPr>
        <p:spPr>
          <a:xfrm>
            <a:off x="6260592" y="1417320"/>
            <a:ext cx="2426208" cy="1051560"/>
          </a:xfrm>
          <a:prstGeom prst="roundRect">
            <a:avLst>
              <a:gd name="adj" fmla="val 8696"/>
            </a:avLst>
          </a:prstGeom>
          <a:solidFill>
            <a:srgbClr val="2F6D62"/>
          </a:solidFill>
          <a:ln w="12700">
            <a:solidFill>
              <a:srgbClr val="2F6D62"/>
            </a:solidFill>
            <a:prstDash val="solid"/>
          </a:ln>
        </p:spPr>
      </p:sp>
      <p:sp>
        <p:nvSpPr>
          <p:cNvPr id="13" name="Text 11"/>
          <p:cNvSpPr txBox="1"/>
          <p:nvPr/>
        </p:nvSpPr>
        <p:spPr>
          <a:xfrm>
            <a:off x="6333744" y="1463040"/>
            <a:ext cx="2279904" cy="9601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Hierarchical</a:t>
            </a:r>
            <a:endParaRPr lang="en-US" sz="1200" dirty="0"/>
          </a:p>
          <a:p>
            <a:pPr algn="ctr" indent="0" marL="0">
              <a:buNone/>
            </a:pPr>
            <a:r>
              <a:rPr lang="en-US" sz="950" dirty="0">
                <a:solidFill>
                  <a:srgbClr val="D7E4E0"/>
                </a:solidFill>
                <a:latin typeface="Calibri" pitchFamily="34" charset="0"/>
                <a:ea typeface="Calibri" pitchFamily="34" charset="-122"/>
                <a:cs typeface="Calibri" pitchFamily="34" charset="-120"/>
              </a:rPr>
              <a:t>a tree with branches</a:t>
            </a:r>
            <a:endParaRPr lang="en-US" sz="1200" dirty="0"/>
          </a:p>
        </p:txBody>
      </p:sp>
      <p:sp>
        <p:nvSpPr>
          <p:cNvPr id="14" name="Text 12"/>
          <p:cNvSpPr txBox="1"/>
          <p:nvPr/>
        </p:nvSpPr>
        <p:spPr>
          <a:xfrm>
            <a:off x="457200" y="2468880"/>
            <a:ext cx="39319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loose keys: unrelated by design</a:t>
            </a:r>
            <a:endParaRPr lang="en-US" sz="1150" dirty="0"/>
          </a:p>
        </p:txBody>
      </p:sp>
      <p:sp>
        <p:nvSpPr>
          <p:cNvPr id="15" name="Shape 13"/>
          <p:cNvSpPr/>
          <p:nvPr/>
        </p:nvSpPr>
        <p:spPr>
          <a:xfrm>
            <a:off x="457200" y="2743200"/>
            <a:ext cx="3931920" cy="777240"/>
          </a:xfrm>
          <a:prstGeom prst="roundRect">
            <a:avLst>
              <a:gd name="adj" fmla="val 11765"/>
            </a:avLst>
          </a:prstGeom>
          <a:solidFill>
            <a:srgbClr val="23272E"/>
          </a:solidFill>
          <a:ln w="12700">
            <a:solidFill>
              <a:srgbClr val="23272E"/>
            </a:solidFill>
            <a:prstDash val="solid"/>
          </a:ln>
        </p:spPr>
      </p:sp>
      <p:sp>
        <p:nvSpPr>
          <p:cNvPr id="16" name="Text 14"/>
          <p:cNvSpPr txBox="1"/>
          <p:nvPr/>
        </p:nvSpPr>
        <p:spPr>
          <a:xfrm>
            <a:off x="640080" y="2862072"/>
            <a:ext cx="3566160" cy="539496"/>
          </a:xfrm>
          <a:prstGeom prst="rect">
            <a:avLst/>
          </a:prstGeom>
          <a:noFill/>
          <a:ln/>
        </p:spPr>
        <p:txBody>
          <a:bodyPr wrap="square" lIns="0" tIns="0" rIns="0" bIns="0" rtlCol="0" anchor="t"/>
          <a:lstStyle/>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FFD28A"/>
                </a:solidFill>
                <a:latin typeface="Courier New" pitchFamily="34" charset="0"/>
                <a:ea typeface="Courier New" pitchFamily="34" charset="-122"/>
                <a:cs typeface="Courier New" pitchFamily="34" charset="-120"/>
              </a:rPr>
              <a:t>32</a:t>
            </a:r>
            <a:r>
              <a:rPr lang="en-US" sz="760" dirty="0">
                <a:solidFill>
                  <a:srgbClr val="E6EDF3"/>
                </a:solidFill>
                <a:latin typeface="Courier New" pitchFamily="34" charset="0"/>
                <a:ea typeface="Courier New" pitchFamily="34" charset="-122"/>
                <a:cs typeface="Courier New" pitchFamily="34" charset="-120"/>
              </a:rPr>
              <a:t> * </a:t>
            </a:r>
            <a:r>
              <a:rPr lang="en-US" sz="760" dirty="0">
                <a:solidFill>
                  <a:srgbClr val="FFD28A"/>
                </a:solidFill>
                <a:latin typeface="Courier New" pitchFamily="34" charset="0"/>
                <a:ea typeface="Courier New" pitchFamily="34" charset="-122"/>
                <a:cs typeface="Courier New" pitchFamily="34" charset="-120"/>
              </a:rPr>
              <a:t>1000</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32000</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FFD28A"/>
                </a:solidFill>
                <a:latin typeface="Courier New" pitchFamily="34" charset="0"/>
                <a:ea typeface="Courier New" pitchFamily="34" charset="-122"/>
                <a:cs typeface="Courier New" pitchFamily="34" charset="-120"/>
              </a:rPr>
              <a:t>32</a:t>
            </a:r>
            <a:r>
              <a:rPr lang="en-US" sz="760" dirty="0">
                <a:solidFill>
                  <a:srgbClr val="E6EDF3"/>
                </a:solidFill>
                <a:latin typeface="Courier New" pitchFamily="34" charset="0"/>
                <a:ea typeface="Courier New" pitchFamily="34" charset="-122"/>
                <a:cs typeface="Courier New" pitchFamily="34" charset="-120"/>
              </a:rPr>
              <a:t> * </a:t>
            </a:r>
            <a:r>
              <a:rPr lang="en-US" sz="760" dirty="0">
                <a:solidFill>
                  <a:srgbClr val="FFD28A"/>
                </a:solidFill>
                <a:latin typeface="Courier New" pitchFamily="34" charset="0"/>
                <a:ea typeface="Courier New" pitchFamily="34" charset="-122"/>
                <a:cs typeface="Courier New" pitchFamily="34" charset="-120"/>
              </a:rPr>
              <a:t>1001</a:t>
            </a:r>
            <a:r>
              <a:rPr lang="en-US" sz="760" dirty="0">
                <a:solidFill>
                  <a:srgbClr val="E6EDF3"/>
                </a:solidFill>
                <a:latin typeface="Courier New" pitchFamily="34" charset="0"/>
                <a:ea typeface="Courier New" pitchFamily="34" charset="-122"/>
                <a:cs typeface="Courier New" pitchFamily="34" charset="-120"/>
              </a:rPr>
              <a:t> - </a:t>
            </a:r>
            <a:r>
              <a:rPr lang="en-US" sz="760" dirty="0">
                <a:solidFill>
                  <a:srgbClr val="FFD28A"/>
                </a:solidFill>
                <a:latin typeface="Courier New" pitchFamily="34" charset="0"/>
                <a:ea typeface="Courier New" pitchFamily="34" charset="-122"/>
                <a:cs typeface="Courier New" pitchFamily="34" charset="-120"/>
              </a:rPr>
              <a:t>32</a:t>
            </a:r>
            <a:r>
              <a:rPr lang="en-US" sz="760" dirty="0">
                <a:solidFill>
                  <a:srgbClr val="E6EDF3"/>
                </a:solidFill>
                <a:latin typeface="Courier New" pitchFamily="34" charset="0"/>
                <a:ea typeface="Courier New" pitchFamily="34" charset="-122"/>
                <a:cs typeface="Courier New" pitchFamily="34" charset="-120"/>
              </a:rPr>
              <a:t> * </a:t>
            </a:r>
            <a:r>
              <a:rPr lang="en-US" sz="760" dirty="0">
                <a:solidFill>
                  <a:srgbClr val="FFD28A"/>
                </a:solidFill>
                <a:latin typeface="Courier New" pitchFamily="34" charset="0"/>
                <a:ea typeface="Courier New" pitchFamily="34" charset="-122"/>
                <a:cs typeface="Courier New" pitchFamily="34" charset="-120"/>
              </a:rPr>
              <a:t>1000</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32</a:t>
            </a:r>
            <a:endParaRPr lang="en-US" sz="760" dirty="0"/>
          </a:p>
        </p:txBody>
      </p:sp>
      <p:sp>
        <p:nvSpPr>
          <p:cNvPr id="17" name="Text 15"/>
          <p:cNvSpPr txBox="1"/>
          <p:nvPr/>
        </p:nvSpPr>
        <p:spPr>
          <a:xfrm>
            <a:off x="457200" y="3538728"/>
            <a:ext cx="39319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8" name="Text 16"/>
          <p:cNvSpPr txBox="1"/>
          <p:nvPr/>
        </p:nvSpPr>
        <p:spPr>
          <a:xfrm>
            <a:off x="4663440" y="2432304"/>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same seed in, same keys out - always</a:t>
            </a:r>
            <a:endParaRPr lang="en-US" sz="1150" dirty="0"/>
          </a:p>
        </p:txBody>
      </p:sp>
      <p:sp>
        <p:nvSpPr>
          <p:cNvPr id="19" name="Shape 17"/>
          <p:cNvSpPr/>
          <p:nvPr/>
        </p:nvSpPr>
        <p:spPr>
          <a:xfrm>
            <a:off x="4663440" y="2706624"/>
            <a:ext cx="4023360" cy="932688"/>
          </a:xfrm>
          <a:prstGeom prst="roundRect">
            <a:avLst>
              <a:gd name="adj" fmla="val 9804"/>
            </a:avLst>
          </a:prstGeom>
          <a:solidFill>
            <a:srgbClr val="23272E"/>
          </a:solidFill>
          <a:ln w="12700">
            <a:solidFill>
              <a:srgbClr val="23272E"/>
            </a:solidFill>
            <a:prstDash val="solid"/>
          </a:ln>
        </p:spPr>
      </p:sp>
      <p:sp>
        <p:nvSpPr>
          <p:cNvPr id="20" name="Text 18"/>
          <p:cNvSpPr txBox="1"/>
          <p:nvPr/>
        </p:nvSpPr>
        <p:spPr>
          <a:xfrm>
            <a:off x="4846320" y="2825496"/>
            <a:ext cx="3657600" cy="694944"/>
          </a:xfrm>
          <a:prstGeom prst="rect">
            <a:avLst/>
          </a:prstGeom>
          <a:noFill/>
          <a:ln/>
        </p:spPr>
        <p:txBody>
          <a:bodyPr wrap="square" lIns="0" tIns="0" rIns="0" bIns="0" rtlCol="0" anchor="t"/>
          <a:lstStyle/>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line = </a:t>
            </a:r>
            <a:r>
              <a:rPr lang="en-US" sz="710" b="1" dirty="0">
                <a:solidFill>
                  <a:srgbClr val="F2A860"/>
                </a:solidFill>
                <a:latin typeface="Courier New" pitchFamily="34" charset="0"/>
                <a:ea typeface="Courier New" pitchFamily="34" charset="-122"/>
                <a:cs typeface="Courier New" pitchFamily="34" charset="-120"/>
              </a:rPr>
              <a:t>lambda</a:t>
            </a:r>
            <a:r>
              <a:rPr lang="en-US" sz="710" dirty="0">
                <a:solidFill>
                  <a:srgbClr val="E6EDF3"/>
                </a:solidFill>
                <a:latin typeface="Courier New" pitchFamily="34" charset="0"/>
                <a:ea typeface="Courier New" pitchFamily="34" charset="-122"/>
                <a:cs typeface="Courier New" pitchFamily="34" charset="-120"/>
              </a:rPr>
              <a:t> i: (BOOK_SEED + </a:t>
            </a:r>
            <a:r>
              <a:rPr lang="en-US" sz="710" dirty="0">
                <a:solidFill>
                  <a:srgbClr val="9ECBFF"/>
                </a:solidFill>
                <a:latin typeface="Courier New" pitchFamily="34" charset="0"/>
                <a:ea typeface="Courier New" pitchFamily="34" charset="-122"/>
                <a:cs typeface="Courier New" pitchFamily="34" charset="-120"/>
              </a:rPr>
              <a:t>' + %d\n'</a:t>
            </a:r>
            <a:r>
              <a:rPr lang="en-US" sz="710" dirty="0">
                <a:solidFill>
                  <a:srgbClr val="E6EDF3"/>
                </a:solidFill>
                <a:latin typeface="Courier New" pitchFamily="34" charset="0"/>
                <a:ea typeface="Courier New" pitchFamily="34" charset="-122"/>
                <a:cs typeface="Courier New" pitchFamily="34" charset="-120"/>
              </a:rPr>
              <a:t> % i).encode()</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[hashlib.sha256(line(i)).hexdigest()[:</a:t>
            </a:r>
            <a:r>
              <a:rPr lang="en-US" sz="710" dirty="0">
                <a:solidFill>
                  <a:srgbClr val="FFD28A"/>
                </a:solidFill>
                <a:latin typeface="Courier New" pitchFamily="34" charset="0"/>
                <a:ea typeface="Courier New" pitchFamily="34" charset="-122"/>
                <a:cs typeface="Courier New" pitchFamily="34" charset="-120"/>
              </a:rPr>
              <a:t>8</a:t>
            </a:r>
            <a:r>
              <a:rPr lang="en-US" sz="710" dirty="0">
                <a:solidFill>
                  <a:srgbClr val="E6EDF3"/>
                </a:solidFill>
                <a:latin typeface="Courier New" pitchFamily="34" charset="0"/>
                <a:ea typeface="Courier New" pitchFamily="34" charset="-122"/>
                <a:cs typeface="Courier New" pitchFamily="34" charset="-120"/>
              </a:rPr>
              <a:t>] </a:t>
            </a:r>
            <a:r>
              <a:rPr lang="en-US" sz="710" b="1" dirty="0">
                <a:solidFill>
                  <a:srgbClr val="F2A860"/>
                </a:solidFill>
                <a:latin typeface="Courier New" pitchFamily="34" charset="0"/>
                <a:ea typeface="Courier New" pitchFamily="34" charset="-122"/>
                <a:cs typeface="Courier New" pitchFamily="34" charset="-120"/>
              </a:rPr>
              <a:t>for</a:t>
            </a:r>
            <a:r>
              <a:rPr lang="en-US" sz="710" dirty="0">
                <a:solidFill>
                  <a:srgbClr val="E6EDF3"/>
                </a:solidFill>
                <a:latin typeface="Courier New" pitchFamily="34" charset="0"/>
                <a:ea typeface="Courier New" pitchFamily="34" charset="-122"/>
                <a:cs typeface="Courier New" pitchFamily="34" charset="-120"/>
              </a:rPr>
              <a:t> i </a:t>
            </a:r>
            <a:r>
              <a:rPr lang="en-US" sz="710" b="1" dirty="0">
                <a:solidFill>
                  <a:srgbClr val="F2A860"/>
                </a:solidFill>
                <a:latin typeface="Courier New" pitchFamily="34" charset="0"/>
                <a:ea typeface="Courier New" pitchFamily="34" charset="-122"/>
                <a:cs typeface="Courier New" pitchFamily="34" charset="-120"/>
              </a:rPr>
              <a:t>in</a:t>
            </a:r>
            <a:r>
              <a:rPr lang="en-US" sz="710" dirty="0">
                <a:solidFill>
                  <a:srgbClr val="E6EDF3"/>
                </a:solidFill>
                <a:latin typeface="Courier New" pitchFamily="34" charset="0"/>
                <a:ea typeface="Courier New" pitchFamily="34" charset="-122"/>
                <a:cs typeface="Courier New" pitchFamily="34" charset="-120"/>
              </a:rPr>
              <a:t> range(</a:t>
            </a:r>
            <a:r>
              <a:rPr lang="en-US" sz="710" dirty="0">
                <a:solidFill>
                  <a:srgbClr val="FFD28A"/>
                </a:solidFill>
                <a:latin typeface="Courier New" pitchFamily="34" charset="0"/>
                <a:ea typeface="Courier New" pitchFamily="34" charset="-122"/>
                <a:cs typeface="Courier New" pitchFamily="34" charset="-120"/>
              </a:rPr>
              <a:t>3</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['50b18e0b', 'a965dbcd', '19580c97']</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hashlib.sha256((BOOK_SEED + </a:t>
            </a:r>
            <a:r>
              <a:rPr lang="en-US" sz="710" dirty="0">
                <a:solidFill>
                  <a:srgbClr val="9ECBFF"/>
                </a:solidFill>
                <a:latin typeface="Courier New" pitchFamily="34" charset="0"/>
                <a:ea typeface="Courier New" pitchFamily="34" charset="-122"/>
                <a:cs typeface="Courier New" pitchFamily="34" charset="-120"/>
              </a:rPr>
              <a:t>' + 0\n'</a:t>
            </a:r>
            <a:r>
              <a:rPr lang="en-US" sz="710" dirty="0">
                <a:solidFill>
                  <a:srgbClr val="E6EDF3"/>
                </a:solidFill>
                <a:latin typeface="Courier New" pitchFamily="34" charset="0"/>
                <a:ea typeface="Courier New" pitchFamily="34" charset="-122"/>
                <a:cs typeface="Courier New" pitchFamily="34" charset="-120"/>
              </a:rPr>
              <a:t>).encode()).hexdigest()[:</a:t>
            </a:r>
            <a:r>
              <a:rPr lang="en-US" sz="710" dirty="0">
                <a:solidFill>
                  <a:srgbClr val="FFD28A"/>
                </a:solidFill>
                <a:latin typeface="Courier New" pitchFamily="34" charset="0"/>
                <a:ea typeface="Courier New" pitchFamily="34" charset="-122"/>
                <a:cs typeface="Courier New" pitchFamily="34" charset="-120"/>
              </a:rPr>
              <a:t>8</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'50b18e0b'</a:t>
            </a:r>
            <a:endParaRPr lang="en-US" sz="710" dirty="0"/>
          </a:p>
        </p:txBody>
      </p:sp>
      <p:sp>
        <p:nvSpPr>
          <p:cNvPr id="21" name="Text 19"/>
          <p:cNvSpPr txBox="1"/>
          <p:nvPr/>
        </p:nvSpPr>
        <p:spPr>
          <a:xfrm>
            <a:off x="4663440" y="3657600"/>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2" name="Shape 20"/>
          <p:cNvSpPr/>
          <p:nvPr/>
        </p:nvSpPr>
        <p:spPr>
          <a:xfrm>
            <a:off x="2560320" y="3931920"/>
            <a:ext cx="4023360" cy="402336"/>
          </a:xfrm>
          <a:prstGeom prst="roundRect">
            <a:avLst>
              <a:gd name="adj" fmla="val 50000"/>
            </a:avLst>
          </a:prstGeom>
          <a:solidFill>
            <a:srgbClr val="2F6D62"/>
          </a:solidFill>
          <a:ln w="12700">
            <a:solidFill>
              <a:srgbClr val="2F6D62"/>
            </a:solidFill>
            <a:prstDash val="solid"/>
          </a:ln>
        </p:spPr>
      </p:sp>
      <p:sp>
        <p:nvSpPr>
          <p:cNvPr id="23" name="Text 21"/>
          <p:cNvSpPr txBox="1"/>
          <p:nvPr/>
        </p:nvSpPr>
        <p:spPr>
          <a:xfrm>
            <a:off x="2560320" y="3931920"/>
            <a:ext cx="402336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back up ONE secret, ONCE</a:t>
            </a:r>
            <a:endParaRPr lang="en-US" sz="130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Back up one secret once, instead of every key forever</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23</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Recovery codes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Entropy, dressed for handwriting</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BIP-39 words</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Checksum</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Passphrase</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rivals</a:t>
            </a:r>
            <a:endParaRPr lang="en-US" sz="1400" dirty="0"/>
          </a:p>
        </p:txBody>
      </p:sp>
      <p:pic>
        <p:nvPicPr>
          <p:cNvPr id="14" name="Image 0" descr="../../03-materials/ch05/assets/mbc3_0504.png">    </p:cNvPr>
          <p:cNvPicPr>
            <a:picLocks noChangeAspect="1"/>
          </p:cNvPicPr>
          <p:nvPr/>
        </p:nvPicPr>
        <p:blipFill>
          <a:blip r:embed="rId1"/>
          <a:srcRect l="0" r="0" t="0" b="0"/>
          <a:stretch/>
        </p:blipFill>
        <p:spPr>
          <a:xfrm>
            <a:off x="5852160" y="1645920"/>
            <a:ext cx="2834640" cy="2651760"/>
          </a:xfrm>
          <a:prstGeom prst="rect">
            <a:avLst/>
          </a:prstGeom>
        </p:spPr>
      </p:pic>
      <p:sp>
        <p:nvSpPr>
          <p:cNvPr id="15" name="Text 12"/>
          <p:cNvSpPr txBox="1"/>
          <p:nvPr/>
        </p:nvSpPr>
        <p:spPr>
          <a:xfrm>
            <a:off x="5852160" y="4315968"/>
            <a:ext cx="28346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entropy to code -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23</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Twelve words between you and 128 bits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2013-09-10</a:t>
            </a:r>
            <a:endParaRPr lang="en-US" sz="1300" dirty="0"/>
          </a:p>
        </p:txBody>
      </p:sp>
      <p:pic>
        <p:nvPicPr>
          <p:cNvPr id="6" name="Image 0" descr="../../03-materials/ch05/assets/photo_trezor_pair.jpg">    </p:cNvPr>
          <p:cNvPicPr>
            <a:picLocks noChangeAspect="1"/>
          </p:cNvPicPr>
          <p:nvPr/>
        </p:nvPicPr>
        <p:blipFill>
          <a:blip r:embed="rId1"/>
          <a:srcRect l="0" r="0" t="0" b="0"/>
          <a:stretch/>
        </p:blipFill>
        <p:spPr>
          <a:xfrm>
            <a:off x="457200" y="1371600"/>
            <a:ext cx="3017520" cy="1920240"/>
          </a:xfrm>
          <a:prstGeom prst="rect">
            <a:avLst/>
          </a:prstGeom>
        </p:spPr>
      </p:pic>
      <p:sp>
        <p:nvSpPr>
          <p:cNvPr id="7" name="Text 4"/>
          <p:cNvSpPr txBox="1"/>
          <p:nvPr/>
        </p:nvSpPr>
        <p:spPr>
          <a:xfrm>
            <a:off x="457200" y="3310128"/>
            <a:ext cx="30175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Trezor One devices - photo: Gage Skidmore, CC BY-SA 3.0</a:t>
            </a:r>
            <a:endParaRPr lang="en-US" sz="900" dirty="0"/>
          </a:p>
        </p:txBody>
      </p:sp>
      <p:sp>
        <p:nvSpPr>
          <p:cNvPr id="8" name="Shape 5"/>
          <p:cNvSpPr/>
          <p:nvPr/>
        </p:nvSpPr>
        <p:spPr>
          <a:xfrm>
            <a:off x="3840480" y="1570482"/>
            <a:ext cx="128016" cy="128016"/>
          </a:xfrm>
          <a:prstGeom prst="diamond">
            <a:avLst/>
          </a:prstGeom>
          <a:solidFill>
            <a:srgbClr val="D97A14"/>
          </a:solidFill>
          <a:ln w="12700">
            <a:solidFill>
              <a:srgbClr val="D97A14"/>
            </a:solidFill>
            <a:prstDash val="solid"/>
          </a:ln>
        </p:spPr>
      </p:sp>
      <p:sp>
        <p:nvSpPr>
          <p:cNvPr id="9" name="Text 6"/>
          <p:cNvSpPr txBox="1"/>
          <p:nvPr/>
        </p:nvSpPr>
        <p:spPr>
          <a:xfrm>
            <a:off x="4114800" y="1371600"/>
            <a:ext cx="457200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2013: the first hardware-wallet team hits a human problem</a:t>
            </a:r>
            <a:endParaRPr lang="en-US" sz="1300" dirty="0"/>
          </a:p>
        </p:txBody>
      </p:sp>
      <p:sp>
        <p:nvSpPr>
          <p:cNvPr id="10" name="Shape 7"/>
          <p:cNvSpPr/>
          <p:nvPr/>
        </p:nvSpPr>
        <p:spPr>
          <a:xfrm>
            <a:off x="3840480" y="209626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114800" y="1897380"/>
            <a:ext cx="457200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Nobody transcribes 128 raw bits correctly</a:t>
            </a:r>
            <a:endParaRPr lang="en-US" sz="1300" dirty="0"/>
          </a:p>
        </p:txBody>
      </p:sp>
      <p:sp>
        <p:nvSpPr>
          <p:cNvPr id="12" name="Shape 9"/>
          <p:cNvSpPr/>
          <p:nvPr/>
        </p:nvSpPr>
        <p:spPr>
          <a:xfrm>
            <a:off x="3840480" y="262204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114800" y="2423160"/>
            <a:ext cx="457200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BIP 39: 2,048 words, 11 bits each, checksum folded in</a:t>
            </a:r>
            <a:endParaRPr lang="en-US" sz="1300" dirty="0"/>
          </a:p>
        </p:txBody>
      </p:sp>
      <p:sp>
        <p:nvSpPr>
          <p:cNvPr id="14" name="Shape 11"/>
          <p:cNvSpPr/>
          <p:nvPr/>
        </p:nvSpPr>
        <p:spPr>
          <a:xfrm>
            <a:off x="3840480" y="31478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114800" y="2948940"/>
            <a:ext cx="457200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These slides run that standard against its own vectors</a:t>
            </a:r>
            <a:endParaRPr lang="en-US" sz="1300" dirty="0"/>
          </a:p>
        </p:txBody>
      </p:sp>
      <p:sp>
        <p:nvSpPr>
          <p:cNvPr id="16" name="Shape 13"/>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Marek Palatinus and Pavo…</a:t>
            </a:r>
            <a:endParaRPr lang="en-US" sz="750" dirty="0"/>
          </a:p>
        </p:txBody>
      </p:sp>
      <p:sp>
        <p:nvSpPr>
          <p:cNvPr id="18" name="Shape 15"/>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BIP 39, in the public …</a:t>
            </a:r>
            <a:endParaRPr lang="en-US" sz="750" dirty="0"/>
          </a:p>
        </p:txBody>
      </p:sp>
      <p:sp>
        <p:nvSpPr>
          <p:cNvPr id="20" name="Shape 17"/>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2013-09-10</a:t>
            </a:r>
            <a:endParaRPr lang="en-US" sz="750" dirty="0"/>
          </a:p>
        </p:txBody>
      </p:sp>
      <p:sp>
        <p:nvSpPr>
          <p:cNvPr id="22" name="Shape 19"/>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BIP 39: Mnemonic code (spec)</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bips.dev</a:t>
            </a:r>
            <a:endParaRPr lang="en-US" sz="750" dirty="0"/>
          </a:p>
        </p:txBody>
      </p:sp>
      <p:sp>
        <p:nvSpPr>
          <p:cNvPr id="24"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recovery code is an interface between humans and entropy</a:t>
            </a:r>
            <a:endParaRPr lang="en-US" sz="13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23</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Words to bits, measured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whole size table, computed - then checked word by word</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bars are computed, never quoted: CodeLength derived every pair, and the checker re-runs it off this file.</a:t>
            </a:r>
            <a:endParaRPr lang="en-US" sz="1250" dirty="0"/>
          </a:p>
        </p:txBody>
      </p:sp>
      <p:graphicFrame>
        <p:nvGraphicFramePr>
          <p:cNvPr id="7" name="Chart 0" descr=""/>
          <p:cNvGraphicFramePr/>
          <p:nvPr/>
        </p:nvGraphicFramePr>
        <p:xfrm>
          <a:off x="411480" y="1371600"/>
          <a:ext cx="4846320" cy="301752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5486400" y="1143000"/>
            <a:ext cx="32004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list: 2,048 words, sorted</a:t>
            </a:r>
            <a:endParaRPr lang="en-US" sz="1150" dirty="0"/>
          </a:p>
        </p:txBody>
      </p:sp>
      <p:sp>
        <p:nvSpPr>
          <p:cNvPr id="9" name="Shape 6"/>
          <p:cNvSpPr/>
          <p:nvPr/>
        </p:nvSpPr>
        <p:spPr>
          <a:xfrm>
            <a:off x="5486400" y="1417320"/>
            <a:ext cx="3200400" cy="1371600"/>
          </a:xfrm>
          <a:prstGeom prst="roundRect">
            <a:avLst>
              <a:gd name="adj" fmla="val 6667"/>
            </a:avLst>
          </a:prstGeom>
          <a:solidFill>
            <a:srgbClr val="23272E"/>
          </a:solidFill>
          <a:ln w="12700">
            <a:solidFill>
              <a:srgbClr val="23272E"/>
            </a:solidFill>
            <a:prstDash val="solid"/>
          </a:ln>
        </p:spPr>
      </p:sp>
      <p:sp>
        <p:nvSpPr>
          <p:cNvPr id="10" name="Text 7"/>
          <p:cNvSpPr txBox="1"/>
          <p:nvPr/>
        </p:nvSpPr>
        <p:spPr>
          <a:xfrm>
            <a:off x="5669280" y="1536192"/>
            <a:ext cx="2834640" cy="1133856"/>
          </a:xfrm>
          <a:prstGeom prst="rect">
            <a:avLst/>
          </a:prstGeom>
          <a:noFill/>
          <a:ln/>
        </p:spPr>
        <p:txBody>
          <a:bodyPr wrap="square" lIns="0" tIns="0" rIns="0" bIns="0" rtlCol="0" anchor="t"/>
          <a:lstStyle/>
          <a:p>
            <a:pPr indent="0" marL="0">
              <a:buNone/>
            </a:pPr>
            <a:r>
              <a:rPr lang="en-US" sz="840" b="1" dirty="0">
                <a:solidFill>
                  <a:srgbClr val="D97A14"/>
                </a:solidFill>
                <a:latin typeface="Courier New" pitchFamily="34" charset="0"/>
                <a:ea typeface="Courier New" pitchFamily="34" charset="-122"/>
                <a:cs typeface="Courier New" pitchFamily="34" charset="-120"/>
              </a:rPr>
              <a:t>&gt;&gt;&gt; </a:t>
            </a:r>
            <a:r>
              <a:rPr lang="en-US" sz="840" dirty="0">
                <a:solidFill>
                  <a:srgbClr val="FFD28A"/>
                </a:solidFill>
                <a:latin typeface="Courier New" pitchFamily="34" charset="0"/>
                <a:ea typeface="Courier New" pitchFamily="34" charset="-122"/>
                <a:cs typeface="Courier New" pitchFamily="34" charset="-120"/>
              </a:rPr>
              <a:t>2</a:t>
            </a:r>
            <a:r>
              <a:rPr lang="en-US" sz="840" dirty="0">
                <a:solidFill>
                  <a:srgbClr val="E6EDF3"/>
                </a:solidFill>
                <a:latin typeface="Courier New" pitchFamily="34" charset="0"/>
                <a:ea typeface="Courier New" pitchFamily="34" charset="-122"/>
                <a:cs typeface="Courier New" pitchFamily="34" charset="-120"/>
              </a:rPr>
              <a:t> ** </a:t>
            </a:r>
            <a:r>
              <a:rPr lang="en-US" sz="840" dirty="0">
                <a:solidFill>
                  <a:srgbClr val="FFD28A"/>
                </a:solidFill>
                <a:latin typeface="Courier New" pitchFamily="34" charset="0"/>
                <a:ea typeface="Courier New" pitchFamily="34" charset="-122"/>
                <a:cs typeface="Courier New" pitchFamily="34" charset="-120"/>
              </a:rPr>
              <a:t>11</a:t>
            </a:r>
            <a:r>
              <a:rPr lang="en-US" sz="840" dirty="0">
                <a:solidFill>
                  <a:srgbClr val="E6EDF3"/>
                </a:solidFill>
                <a:latin typeface="Courier New" pitchFamily="34" charset="0"/>
                <a:ea typeface="Courier New" pitchFamily="34" charset="-122"/>
                <a:cs typeface="Courier New" pitchFamily="34" charset="-120"/>
              </a:rPr>
              <a:t>, len(wordlist())</a:t>
            </a:r>
            <a:endParaRPr lang="en-US" sz="840" dirty="0"/>
          </a:p>
          <a:p>
            <a:pPr indent="0" marL="0">
              <a:buNone/>
            </a:pPr>
            <a:r>
              <a:rPr lang="en-US" sz="840" dirty="0">
                <a:solidFill>
                  <a:srgbClr val="7EE787"/>
                </a:solidFill>
                <a:latin typeface="Courier New" pitchFamily="34" charset="0"/>
                <a:ea typeface="Courier New" pitchFamily="34" charset="-122"/>
                <a:cs typeface="Courier New" pitchFamily="34" charset="-120"/>
              </a:rPr>
              <a:t>(2048, 2048)</a:t>
            </a:r>
            <a:endParaRPr lang="en-US" sz="840" dirty="0"/>
          </a:p>
          <a:p>
            <a:pPr indent="0" marL="0">
              <a:buNone/>
            </a:pPr>
            <a:r>
              <a:rPr lang="en-US" sz="840" b="1" dirty="0">
                <a:solidFill>
                  <a:srgbClr val="D97A14"/>
                </a:solidFill>
                <a:latin typeface="Courier New" pitchFamily="34" charset="0"/>
                <a:ea typeface="Courier New" pitchFamily="34" charset="-122"/>
                <a:cs typeface="Courier New" pitchFamily="34" charset="-120"/>
              </a:rPr>
              <a:t>&gt;&gt;&gt; </a:t>
            </a:r>
            <a:r>
              <a:rPr lang="en-US" sz="840" dirty="0">
                <a:solidFill>
                  <a:srgbClr val="E6EDF3"/>
                </a:solidFill>
                <a:latin typeface="Courier New" pitchFamily="34" charset="0"/>
                <a:ea typeface="Courier New" pitchFamily="34" charset="-122"/>
                <a:cs typeface="Courier New" pitchFamily="34" charset="-120"/>
              </a:rPr>
              <a:t>[wordlist()[i] </a:t>
            </a:r>
            <a:r>
              <a:rPr lang="en-US" sz="840" b="1" dirty="0">
                <a:solidFill>
                  <a:srgbClr val="F2A860"/>
                </a:solidFill>
                <a:latin typeface="Courier New" pitchFamily="34" charset="0"/>
                <a:ea typeface="Courier New" pitchFamily="34" charset="-122"/>
                <a:cs typeface="Courier New" pitchFamily="34" charset="-120"/>
              </a:rPr>
              <a:t>for</a:t>
            </a:r>
            <a:r>
              <a:rPr lang="en-US" sz="840" dirty="0">
                <a:solidFill>
                  <a:srgbClr val="E6EDF3"/>
                </a:solidFill>
                <a:latin typeface="Courier New" pitchFamily="34" charset="0"/>
                <a:ea typeface="Courier New" pitchFamily="34" charset="-122"/>
                <a:cs typeface="Courier New" pitchFamily="34" charset="-120"/>
              </a:rPr>
              <a:t> i </a:t>
            </a:r>
            <a:r>
              <a:rPr lang="en-US" sz="840" b="1" dirty="0">
                <a:solidFill>
                  <a:srgbClr val="F2A860"/>
                </a:solidFill>
                <a:latin typeface="Courier New" pitchFamily="34" charset="0"/>
                <a:ea typeface="Courier New" pitchFamily="34" charset="-122"/>
                <a:cs typeface="Courier New" pitchFamily="34" charset="-120"/>
              </a:rPr>
              <a:t>in</a:t>
            </a:r>
            <a:r>
              <a:rPr lang="en-US" sz="840" dirty="0">
                <a:solidFill>
                  <a:srgbClr val="E6EDF3"/>
                </a:solidFill>
                <a:latin typeface="Courier New" pitchFamily="34" charset="0"/>
                <a:ea typeface="Courier New" pitchFamily="34" charset="-122"/>
                <a:cs typeface="Courier New" pitchFamily="34" charset="-120"/>
              </a:rPr>
              <a:t> (</a:t>
            </a:r>
            <a:r>
              <a:rPr lang="en-US" sz="840" dirty="0">
                <a:solidFill>
                  <a:srgbClr val="FFD28A"/>
                </a:solidFill>
                <a:latin typeface="Courier New" pitchFamily="34" charset="0"/>
                <a:ea typeface="Courier New" pitchFamily="34" charset="-122"/>
                <a:cs typeface="Courier New" pitchFamily="34" charset="-120"/>
              </a:rPr>
              <a:t>96</a:t>
            </a:r>
            <a:r>
              <a:rPr lang="en-US" sz="840" dirty="0">
                <a:solidFill>
                  <a:srgbClr val="E6EDF3"/>
                </a:solidFill>
                <a:latin typeface="Courier New" pitchFamily="34" charset="0"/>
                <a:ea typeface="Courier New" pitchFamily="34" charset="-122"/>
                <a:cs typeface="Courier New" pitchFamily="34" charset="-120"/>
              </a:rPr>
              <a:t>, </a:t>
            </a:r>
            <a:r>
              <a:rPr lang="en-US" sz="840" dirty="0">
                <a:solidFill>
                  <a:srgbClr val="FFD28A"/>
                </a:solidFill>
                <a:latin typeface="Courier New" pitchFamily="34" charset="0"/>
                <a:ea typeface="Courier New" pitchFamily="34" charset="-122"/>
                <a:cs typeface="Courier New" pitchFamily="34" charset="-120"/>
              </a:rPr>
              <a:t>1929</a:t>
            </a:r>
            <a:r>
              <a:rPr lang="en-US" sz="840" dirty="0">
                <a:solidFill>
                  <a:srgbClr val="E6EDF3"/>
                </a:solidFill>
                <a:latin typeface="Courier New" pitchFamily="34" charset="0"/>
                <a:ea typeface="Courier New" pitchFamily="34" charset="-122"/>
                <a:cs typeface="Courier New" pitchFamily="34" charset="-120"/>
              </a:rPr>
              <a:t>, </a:t>
            </a:r>
            <a:r>
              <a:rPr lang="en-US" sz="840" dirty="0">
                <a:solidFill>
                  <a:srgbClr val="FFD28A"/>
                </a:solidFill>
                <a:latin typeface="Courier New" pitchFamily="34" charset="0"/>
                <a:ea typeface="Courier New" pitchFamily="34" charset="-122"/>
                <a:cs typeface="Courier New" pitchFamily="34" charset="-120"/>
              </a:rPr>
              <a:t>459</a:t>
            </a:r>
            <a:r>
              <a:rPr lang="en-US" sz="840" dirty="0">
                <a:solidFill>
                  <a:srgbClr val="E6EDF3"/>
                </a:solidFill>
                <a:latin typeface="Courier New" pitchFamily="34" charset="0"/>
                <a:ea typeface="Courier New" pitchFamily="34" charset="-122"/>
                <a:cs typeface="Courier New" pitchFamily="34" charset="-120"/>
              </a:rPr>
              <a:t>)]</a:t>
            </a:r>
            <a:endParaRPr lang="en-US" sz="840" dirty="0"/>
          </a:p>
          <a:p>
            <a:pPr indent="0" marL="0">
              <a:buNone/>
            </a:pPr>
            <a:r>
              <a:rPr lang="en-US" sz="840" dirty="0">
                <a:solidFill>
                  <a:srgbClr val="7EE787"/>
                </a:solidFill>
                <a:latin typeface="Courier New" pitchFamily="34" charset="0"/>
                <a:ea typeface="Courier New" pitchFamily="34" charset="-122"/>
                <a:cs typeface="Courier New" pitchFamily="34" charset="-120"/>
              </a:rPr>
              <a:t>['army', 'van', 'defense']</a:t>
            </a:r>
            <a:endParaRPr lang="en-US" sz="840" dirty="0"/>
          </a:p>
          <a:p>
            <a:pPr indent="0" marL="0">
              <a:buNone/>
            </a:pPr>
            <a:r>
              <a:rPr lang="en-US" sz="840" b="1" dirty="0">
                <a:solidFill>
                  <a:srgbClr val="D97A14"/>
                </a:solidFill>
                <a:latin typeface="Courier New" pitchFamily="34" charset="0"/>
                <a:ea typeface="Courier New" pitchFamily="34" charset="-122"/>
                <a:cs typeface="Courier New" pitchFamily="34" charset="-120"/>
              </a:rPr>
              <a:t>&gt;&gt;&gt; </a:t>
            </a:r>
            <a:r>
              <a:rPr lang="en-US" sz="840" dirty="0">
                <a:solidFill>
                  <a:srgbClr val="E6EDF3"/>
                </a:solidFill>
                <a:latin typeface="Courier New" pitchFamily="34" charset="0"/>
                <a:ea typeface="Courier New" pitchFamily="34" charset="-122"/>
                <a:cs typeface="Courier New" pitchFamily="34" charset="-120"/>
              </a:rPr>
              <a:t>sorted(wordlist()) == wordlist()</a:t>
            </a:r>
            <a:endParaRPr lang="en-US" sz="840" dirty="0"/>
          </a:p>
          <a:p>
            <a:pPr indent="0" marL="0">
              <a:buNone/>
            </a:pPr>
            <a:r>
              <a:rPr lang="en-US" sz="840" dirty="0">
                <a:solidFill>
                  <a:srgbClr val="7EE787"/>
                </a:solidFill>
                <a:latin typeface="Courier New" pitchFamily="34" charset="0"/>
                <a:ea typeface="Courier New" pitchFamily="34" charset="-122"/>
                <a:cs typeface="Courier New" pitchFamily="34" charset="-120"/>
              </a:rPr>
              <a:t>True</a:t>
            </a:r>
            <a:endParaRPr lang="en-US" sz="840" dirty="0"/>
          </a:p>
        </p:txBody>
      </p:sp>
      <p:sp>
        <p:nvSpPr>
          <p:cNvPr id="11" name="Text 8"/>
          <p:cNvSpPr txBox="1"/>
          <p:nvPr/>
        </p:nvSpPr>
        <p:spPr>
          <a:xfrm>
            <a:off x="5486400" y="2807208"/>
            <a:ext cx="32004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2" name="Text 9"/>
          <p:cNvSpPr txBox="1"/>
          <p:nvPr/>
        </p:nvSpPr>
        <p:spPr>
          <a:xfrm>
            <a:off x="5486400" y="2834640"/>
            <a:ext cx="32004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vector decodes and verifies</a:t>
            </a:r>
            <a:endParaRPr lang="en-US" sz="1150" dirty="0"/>
          </a:p>
        </p:txBody>
      </p:sp>
      <p:sp>
        <p:nvSpPr>
          <p:cNvPr id="13" name="Shape 10"/>
          <p:cNvSpPr/>
          <p:nvPr/>
        </p:nvSpPr>
        <p:spPr>
          <a:xfrm>
            <a:off x="5486400" y="3108960"/>
            <a:ext cx="3200400" cy="1280160"/>
          </a:xfrm>
          <a:prstGeom prst="roundRect">
            <a:avLst>
              <a:gd name="adj" fmla="val 7143"/>
            </a:avLst>
          </a:prstGeom>
          <a:solidFill>
            <a:srgbClr val="23272E"/>
          </a:solidFill>
          <a:ln w="12700">
            <a:solidFill>
              <a:srgbClr val="23272E"/>
            </a:solidFill>
            <a:prstDash val="solid"/>
          </a:ln>
        </p:spPr>
      </p:sp>
      <p:sp>
        <p:nvSpPr>
          <p:cNvPr id="14" name="Text 11"/>
          <p:cNvSpPr txBox="1"/>
          <p:nvPr/>
        </p:nvSpPr>
        <p:spPr>
          <a:xfrm>
            <a:off x="5669280" y="3227832"/>
            <a:ext cx="2834640" cy="1042416"/>
          </a:xfrm>
          <a:prstGeom prst="rect">
            <a:avLst/>
          </a:prstGeom>
          <a:noFill/>
          <a:ln/>
        </p:spPr>
        <p:txBody>
          <a:bodyPr wrap="square" lIns="0" tIns="0" rIns="0" bIns="0" rtlCol="0" anchor="t"/>
          <a:lstStyle/>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mnemonic_to_entropy(WORDS)[</a:t>
            </a:r>
            <a:r>
              <a:rPr lang="en-US" sz="750" dirty="0">
                <a:solidFill>
                  <a:srgbClr val="FFD28A"/>
                </a:solidFill>
                <a:latin typeface="Courier New" pitchFamily="34" charset="0"/>
                <a:ea typeface="Courier New" pitchFamily="34" charset="-122"/>
                <a:cs typeface="Courier New" pitchFamily="34" charset="-120"/>
              </a:rPr>
              <a:t>0</a:t>
            </a:r>
            <a:r>
              <a:rPr lang="en-US" sz="750" dirty="0">
                <a:solidFill>
                  <a:srgbClr val="E6EDF3"/>
                </a:solidFill>
                <a:latin typeface="Courier New" pitchFamily="34" charset="0"/>
                <a:ea typeface="Courier New" pitchFamily="34" charset="-122"/>
                <a:cs typeface="Courier New" pitchFamily="34" charset="-120"/>
              </a:rPr>
              <a:t>].hex()</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'0c1e24e5917779d297e14d45f14e1a1a'</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mnemonic_to_entropy(WORDS)[</a:t>
            </a:r>
            <a:r>
              <a:rPr lang="en-US" sz="750" dirty="0">
                <a:solidFill>
                  <a:srgbClr val="FFD28A"/>
                </a:solidFill>
                <a:latin typeface="Courier New" pitchFamily="34" charset="0"/>
                <a:ea typeface="Courier New" pitchFamily="34" charset="-122"/>
                <a:cs typeface="Courier New" pitchFamily="34" charset="-120"/>
              </a:rPr>
              <a:t>1</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True</a:t>
            </a:r>
            <a:endParaRPr lang="en-US" sz="750" dirty="0"/>
          </a:p>
        </p:txBody>
      </p:sp>
      <p:sp>
        <p:nvSpPr>
          <p:cNvPr id="15" name="Text 12"/>
          <p:cNvSpPr txBox="1"/>
          <p:nvPr/>
        </p:nvSpPr>
        <p:spPr>
          <a:xfrm>
            <a:off x="5486400" y="4407408"/>
            <a:ext cx="32004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6"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Eleven bits a word; the checksum rides along</a:t>
            </a:r>
            <a:endParaRPr lang="en-US" sz="1350" dirty="0"/>
          </a:p>
        </p:txBody>
      </p:sp>
      <p:sp>
        <p:nvSpPr>
          <p:cNvPr id="18"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23</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From words to seed, slowly on purpose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PBKDF2, salt, and the passphrase that changes everything</a:t>
            </a:r>
            <a:endParaRPr lang="en-US" sz="1300" dirty="0"/>
          </a:p>
        </p:txBody>
      </p:sp>
      <p:sp>
        <p:nvSpPr>
          <p:cNvPr id="6" name="Shape 4"/>
          <p:cNvSpPr/>
          <p:nvPr/>
        </p:nvSpPr>
        <p:spPr>
          <a:xfrm>
            <a:off x="457200" y="1371600"/>
            <a:ext cx="1700784" cy="914400"/>
          </a:xfrm>
          <a:prstGeom prst="roundRect">
            <a:avLst>
              <a:gd name="adj" fmla="val 10000"/>
            </a:avLst>
          </a:prstGeom>
          <a:solidFill>
            <a:srgbClr val="2F6D62"/>
          </a:solidFill>
          <a:ln w="12700">
            <a:solidFill>
              <a:srgbClr val="2F6D62"/>
            </a:solidFill>
            <a:prstDash val="solid"/>
          </a:ln>
        </p:spPr>
      </p:sp>
      <p:sp>
        <p:nvSpPr>
          <p:cNvPr id="7" name="Text 5"/>
          <p:cNvSpPr txBox="1"/>
          <p:nvPr/>
        </p:nvSpPr>
        <p:spPr>
          <a:xfrm>
            <a:off x="530352" y="1417320"/>
            <a:ext cx="1554480" cy="8229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words</a:t>
            </a:r>
            <a:endParaRPr lang="en-US" sz="1200" dirty="0"/>
          </a:p>
          <a:p>
            <a:pPr algn="ctr" indent="0" marL="0">
              <a:buNone/>
            </a:pPr>
            <a:r>
              <a:rPr lang="en-US" sz="950" dirty="0">
                <a:solidFill>
                  <a:srgbClr val="D7E4E0"/>
                </a:solidFill>
                <a:latin typeface="Calibri" pitchFamily="34" charset="0"/>
                <a:ea typeface="Calibri" pitchFamily="34" charset="-122"/>
                <a:cs typeface="Calibri" pitchFamily="34" charset="-120"/>
              </a:rPr>
              <a:t>the code you wrote</a:t>
            </a:r>
            <a:endParaRPr lang="en-US" sz="1200" dirty="0"/>
          </a:p>
        </p:txBody>
      </p:sp>
      <p:sp>
        <p:nvSpPr>
          <p:cNvPr id="8" name="Shape 6"/>
          <p:cNvSpPr/>
          <p:nvPr/>
        </p:nvSpPr>
        <p:spPr>
          <a:xfrm>
            <a:off x="2212848" y="1828800"/>
            <a:ext cx="365760" cy="0"/>
          </a:xfrm>
          <a:prstGeom prst="line">
            <a:avLst/>
          </a:prstGeom>
          <a:noFill/>
          <a:ln w="25400">
            <a:solidFill>
              <a:srgbClr val="D97A14"/>
            </a:solidFill>
            <a:prstDash val="solid"/>
            <a:tailEnd type="triangle"/>
          </a:ln>
        </p:spPr>
      </p:sp>
      <p:sp>
        <p:nvSpPr>
          <p:cNvPr id="9" name="Shape 7"/>
          <p:cNvSpPr/>
          <p:nvPr/>
        </p:nvSpPr>
        <p:spPr>
          <a:xfrm>
            <a:off x="2633472" y="1371600"/>
            <a:ext cx="1700784" cy="914400"/>
          </a:xfrm>
          <a:prstGeom prst="roundRect">
            <a:avLst>
              <a:gd name="adj" fmla="val 10000"/>
            </a:avLst>
          </a:prstGeom>
          <a:solidFill>
            <a:srgbClr val="2F6D62"/>
          </a:solidFill>
          <a:ln w="12700">
            <a:solidFill>
              <a:srgbClr val="2F6D62"/>
            </a:solidFill>
            <a:prstDash val="solid"/>
          </a:ln>
        </p:spPr>
      </p:sp>
      <p:sp>
        <p:nvSpPr>
          <p:cNvPr id="10" name="Text 8"/>
          <p:cNvSpPr txBox="1"/>
          <p:nvPr/>
        </p:nvSpPr>
        <p:spPr>
          <a:xfrm>
            <a:off x="2706624" y="1417320"/>
            <a:ext cx="1554480" cy="8229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'mnemonic' + passphrase</a:t>
            </a:r>
            <a:endParaRPr lang="en-US" sz="1200" dirty="0"/>
          </a:p>
          <a:p>
            <a:pPr algn="ctr" indent="0" marL="0">
              <a:buNone/>
            </a:pPr>
            <a:r>
              <a:rPr lang="en-US" sz="950" dirty="0">
                <a:solidFill>
                  <a:srgbClr val="D7E4E0"/>
                </a:solidFill>
                <a:latin typeface="Calibri" pitchFamily="34" charset="0"/>
                <a:ea typeface="Calibri" pitchFamily="34" charset="-122"/>
                <a:cs typeface="Calibri" pitchFamily="34" charset="-120"/>
              </a:rPr>
              <a:t>the salt</a:t>
            </a:r>
            <a:endParaRPr lang="en-US" sz="1200" dirty="0"/>
          </a:p>
        </p:txBody>
      </p:sp>
      <p:sp>
        <p:nvSpPr>
          <p:cNvPr id="11" name="Shape 9"/>
          <p:cNvSpPr/>
          <p:nvPr/>
        </p:nvSpPr>
        <p:spPr>
          <a:xfrm>
            <a:off x="4389120" y="1828800"/>
            <a:ext cx="365760" cy="0"/>
          </a:xfrm>
          <a:prstGeom prst="line">
            <a:avLst/>
          </a:prstGeom>
          <a:noFill/>
          <a:ln w="25400">
            <a:solidFill>
              <a:srgbClr val="D97A14"/>
            </a:solidFill>
            <a:prstDash val="solid"/>
            <a:tailEnd type="triangle"/>
          </a:ln>
        </p:spPr>
      </p:sp>
      <p:sp>
        <p:nvSpPr>
          <p:cNvPr id="12" name="Shape 10"/>
          <p:cNvSpPr/>
          <p:nvPr/>
        </p:nvSpPr>
        <p:spPr>
          <a:xfrm>
            <a:off x="4809744" y="1371600"/>
            <a:ext cx="1700784" cy="914400"/>
          </a:xfrm>
          <a:prstGeom prst="roundRect">
            <a:avLst>
              <a:gd name="adj" fmla="val 10000"/>
            </a:avLst>
          </a:prstGeom>
          <a:solidFill>
            <a:srgbClr val="2F6D62"/>
          </a:solidFill>
          <a:ln w="12700">
            <a:solidFill>
              <a:srgbClr val="2F6D62"/>
            </a:solidFill>
            <a:prstDash val="solid"/>
          </a:ln>
        </p:spPr>
      </p:sp>
      <p:sp>
        <p:nvSpPr>
          <p:cNvPr id="13" name="Text 11"/>
          <p:cNvSpPr txBox="1"/>
          <p:nvPr/>
        </p:nvSpPr>
        <p:spPr>
          <a:xfrm>
            <a:off x="4882896" y="1417320"/>
            <a:ext cx="1554480" cy="8229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PBKDF2, 2048 rounds</a:t>
            </a:r>
            <a:endParaRPr lang="en-US" sz="1200" dirty="0"/>
          </a:p>
          <a:p>
            <a:pPr algn="ctr" indent="0" marL="0">
              <a:buNone/>
            </a:pPr>
            <a:r>
              <a:rPr lang="en-US" sz="950" dirty="0">
                <a:solidFill>
                  <a:srgbClr val="D7E4E0"/>
                </a:solidFill>
                <a:latin typeface="Calibri" pitchFamily="34" charset="0"/>
                <a:ea typeface="Calibri" pitchFamily="34" charset="-122"/>
                <a:cs typeface="Calibri" pitchFamily="34" charset="-120"/>
              </a:rPr>
              <a:t>HMAC-SHA512</a:t>
            </a:r>
            <a:endParaRPr lang="en-US" sz="1200" dirty="0"/>
          </a:p>
        </p:txBody>
      </p:sp>
      <p:sp>
        <p:nvSpPr>
          <p:cNvPr id="14" name="Shape 12"/>
          <p:cNvSpPr/>
          <p:nvPr/>
        </p:nvSpPr>
        <p:spPr>
          <a:xfrm>
            <a:off x="6565392" y="1828800"/>
            <a:ext cx="365760" cy="0"/>
          </a:xfrm>
          <a:prstGeom prst="line">
            <a:avLst/>
          </a:prstGeom>
          <a:noFill/>
          <a:ln w="25400">
            <a:solidFill>
              <a:srgbClr val="D97A14"/>
            </a:solidFill>
            <a:prstDash val="solid"/>
            <a:tailEnd type="triangle"/>
          </a:ln>
        </p:spPr>
      </p:sp>
      <p:sp>
        <p:nvSpPr>
          <p:cNvPr id="15" name="Shape 13"/>
          <p:cNvSpPr/>
          <p:nvPr/>
        </p:nvSpPr>
        <p:spPr>
          <a:xfrm>
            <a:off x="6986016" y="1371600"/>
            <a:ext cx="1700784" cy="914400"/>
          </a:xfrm>
          <a:prstGeom prst="roundRect">
            <a:avLst>
              <a:gd name="adj" fmla="val 10000"/>
            </a:avLst>
          </a:prstGeom>
          <a:solidFill>
            <a:srgbClr val="2F6D62"/>
          </a:solidFill>
          <a:ln w="12700">
            <a:solidFill>
              <a:srgbClr val="2F6D62"/>
            </a:solidFill>
            <a:prstDash val="solid"/>
          </a:ln>
        </p:spPr>
      </p:sp>
      <p:sp>
        <p:nvSpPr>
          <p:cNvPr id="16" name="Text 14"/>
          <p:cNvSpPr txBox="1"/>
          <p:nvPr/>
        </p:nvSpPr>
        <p:spPr>
          <a:xfrm>
            <a:off x="7059168" y="1417320"/>
            <a:ext cx="1554480" cy="8229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512-bit seed</a:t>
            </a:r>
            <a:endParaRPr lang="en-US" sz="1200" dirty="0"/>
          </a:p>
          <a:p>
            <a:pPr algn="ctr" indent="0" marL="0">
              <a:buNone/>
            </a:pPr>
            <a:r>
              <a:rPr lang="en-US" sz="950" dirty="0">
                <a:solidFill>
                  <a:srgbClr val="D7E4E0"/>
                </a:solidFill>
                <a:latin typeface="Calibri" pitchFamily="34" charset="0"/>
                <a:ea typeface="Calibri" pitchFamily="34" charset="-122"/>
                <a:cs typeface="Calibri" pitchFamily="34" charset="-120"/>
              </a:rPr>
              <a:t>the tree's root</a:t>
            </a:r>
            <a:endParaRPr lang="en-US" sz="1200" dirty="0"/>
          </a:p>
        </p:txBody>
      </p:sp>
      <p:sp>
        <p:nvSpPr>
          <p:cNvPr id="17" name="Text 15"/>
          <p:cNvSpPr txBox="1"/>
          <p:nvPr/>
        </p:nvSpPr>
        <p:spPr>
          <a:xfrm>
            <a:off x="457200" y="2176272"/>
            <a:ext cx="39319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seed is 512 bits, counted</a:t>
            </a:r>
            <a:endParaRPr lang="en-US" sz="1150" dirty="0"/>
          </a:p>
        </p:txBody>
      </p:sp>
      <p:sp>
        <p:nvSpPr>
          <p:cNvPr id="18" name="Shape 16"/>
          <p:cNvSpPr/>
          <p:nvPr/>
        </p:nvSpPr>
        <p:spPr>
          <a:xfrm>
            <a:off x="457200" y="2450592"/>
            <a:ext cx="3931920" cy="777240"/>
          </a:xfrm>
          <a:prstGeom prst="roundRect">
            <a:avLst>
              <a:gd name="adj" fmla="val 11765"/>
            </a:avLst>
          </a:prstGeom>
          <a:solidFill>
            <a:srgbClr val="23272E"/>
          </a:solidFill>
          <a:ln w="12700">
            <a:solidFill>
              <a:srgbClr val="23272E"/>
            </a:solidFill>
            <a:prstDash val="solid"/>
          </a:ln>
        </p:spPr>
      </p:sp>
      <p:sp>
        <p:nvSpPr>
          <p:cNvPr id="19" name="Text 17"/>
          <p:cNvSpPr txBox="1"/>
          <p:nvPr/>
        </p:nvSpPr>
        <p:spPr>
          <a:xfrm>
            <a:off x="640080" y="2569464"/>
            <a:ext cx="3566160" cy="539496"/>
          </a:xfrm>
          <a:prstGeom prst="rect">
            <a:avLst/>
          </a:prstGeom>
          <a:noFill/>
          <a:ln/>
        </p:spPr>
        <p:txBody>
          <a:bodyPr wrap="square" lIns="0" tIns="0" rIns="0" bIns="0" rtlCol="0" anchor="t"/>
          <a:lstStyle/>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len(bytes.fromhex(BOOK_SEED)) * </a:t>
            </a:r>
            <a:r>
              <a:rPr lang="en-US" sz="760" dirty="0">
                <a:solidFill>
                  <a:srgbClr val="FFD28A"/>
                </a:solidFill>
                <a:latin typeface="Courier New" pitchFamily="34" charset="0"/>
                <a:ea typeface="Courier New" pitchFamily="34" charset="-122"/>
                <a:cs typeface="Courier New" pitchFamily="34" charset="-120"/>
              </a:rPr>
              <a:t>8</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256</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len(mnemonic_to_seed(WORDS)) * </a:t>
            </a:r>
            <a:r>
              <a:rPr lang="en-US" sz="760" dirty="0">
                <a:solidFill>
                  <a:srgbClr val="FFD28A"/>
                </a:solidFill>
                <a:latin typeface="Courier New" pitchFamily="34" charset="0"/>
                <a:ea typeface="Courier New" pitchFamily="34" charset="-122"/>
                <a:cs typeface="Courier New" pitchFamily="34" charset="-120"/>
              </a:rPr>
              <a:t>8</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512</a:t>
            </a:r>
            <a:endParaRPr lang="en-US" sz="760" dirty="0"/>
          </a:p>
        </p:txBody>
      </p:sp>
      <p:sp>
        <p:nvSpPr>
          <p:cNvPr id="20" name="Text 18"/>
          <p:cNvSpPr txBox="1"/>
          <p:nvPr/>
        </p:nvSpPr>
        <p:spPr>
          <a:xfrm>
            <a:off x="457200" y="3246120"/>
            <a:ext cx="39319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1" name="Text 19"/>
          <p:cNvSpPr txBox="1"/>
          <p:nvPr/>
        </p:nvSpPr>
        <p:spPr>
          <a:xfrm>
            <a:off x="4663440" y="2176272"/>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same words, new passphrase - different wallet</a:t>
            </a:r>
            <a:endParaRPr lang="en-US" sz="1150" dirty="0"/>
          </a:p>
        </p:txBody>
      </p:sp>
      <p:sp>
        <p:nvSpPr>
          <p:cNvPr id="22" name="Shape 20"/>
          <p:cNvSpPr/>
          <p:nvPr/>
        </p:nvSpPr>
        <p:spPr>
          <a:xfrm>
            <a:off x="4663440" y="2450592"/>
            <a:ext cx="4023360" cy="777240"/>
          </a:xfrm>
          <a:prstGeom prst="roundRect">
            <a:avLst>
              <a:gd name="adj" fmla="val 11765"/>
            </a:avLst>
          </a:prstGeom>
          <a:solidFill>
            <a:srgbClr val="23272E"/>
          </a:solidFill>
          <a:ln w="12700">
            <a:solidFill>
              <a:srgbClr val="23272E"/>
            </a:solidFill>
            <a:prstDash val="solid"/>
          </a:ln>
        </p:spPr>
      </p:sp>
      <p:sp>
        <p:nvSpPr>
          <p:cNvPr id="23" name="Text 21"/>
          <p:cNvSpPr txBox="1"/>
          <p:nvPr/>
        </p:nvSpPr>
        <p:spPr>
          <a:xfrm>
            <a:off x="4846320" y="2569464"/>
            <a:ext cx="3657600" cy="539496"/>
          </a:xfrm>
          <a:prstGeom prst="rect">
            <a:avLst/>
          </a:prstGeom>
          <a:noFill/>
          <a:ln/>
        </p:spPr>
        <p:txBody>
          <a:bodyPr wrap="square" lIns="0" tIns="0" rIns="0" bIns="0" rtlCol="0" anchor="t"/>
          <a:lstStyle/>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mnemonic_to_seed(WORDS).hex()[:</a:t>
            </a:r>
            <a:r>
              <a:rPr lang="en-US" sz="760" dirty="0">
                <a:solidFill>
                  <a:srgbClr val="FFD28A"/>
                </a:solidFill>
                <a:latin typeface="Courier New" pitchFamily="34" charset="0"/>
                <a:ea typeface="Courier New" pitchFamily="34" charset="-122"/>
                <a:cs typeface="Courier New" pitchFamily="34" charset="-120"/>
              </a:rPr>
              <a:t>16</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'5b56c417303faa3f'</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mnemonic_to_seed(WORDS, PASSPHRASE).hex()[:</a:t>
            </a:r>
            <a:r>
              <a:rPr lang="en-US" sz="760" dirty="0">
                <a:solidFill>
                  <a:srgbClr val="FFD28A"/>
                </a:solidFill>
                <a:latin typeface="Courier New" pitchFamily="34" charset="0"/>
                <a:ea typeface="Courier New" pitchFamily="34" charset="-122"/>
                <a:cs typeface="Courier New" pitchFamily="34" charset="-120"/>
              </a:rPr>
              <a:t>16</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'3b5df16df2157104'</a:t>
            </a:r>
            <a:endParaRPr lang="en-US" sz="760" dirty="0"/>
          </a:p>
        </p:txBody>
      </p:sp>
      <p:sp>
        <p:nvSpPr>
          <p:cNvPr id="24" name="Text 22"/>
          <p:cNvSpPr txBox="1"/>
          <p:nvPr/>
        </p:nvSpPr>
        <p:spPr>
          <a:xfrm>
            <a:off x="4663440" y="3246120"/>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5" name="Text 23"/>
          <p:cNvSpPr txBox="1"/>
          <p:nvPr/>
        </p:nvSpPr>
        <p:spPr>
          <a:xfrm>
            <a:off x="457200" y="312724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stretcher itself - and it refuses sloppy input</a:t>
            </a:r>
            <a:endParaRPr lang="en-US" sz="1150" dirty="0"/>
          </a:p>
        </p:txBody>
      </p:sp>
      <p:sp>
        <p:nvSpPr>
          <p:cNvPr id="26" name="Shape 24"/>
          <p:cNvSpPr/>
          <p:nvPr/>
        </p:nvSpPr>
        <p:spPr>
          <a:xfrm>
            <a:off x="457200" y="3401568"/>
            <a:ext cx="8229600" cy="1005840"/>
          </a:xfrm>
          <a:prstGeom prst="roundRect">
            <a:avLst>
              <a:gd name="adj" fmla="val 9091"/>
            </a:avLst>
          </a:prstGeom>
          <a:solidFill>
            <a:srgbClr val="23272E"/>
          </a:solidFill>
          <a:ln w="12700">
            <a:solidFill>
              <a:srgbClr val="23272E"/>
            </a:solidFill>
            <a:prstDash val="solid"/>
          </a:ln>
        </p:spPr>
      </p:sp>
      <p:sp>
        <p:nvSpPr>
          <p:cNvPr id="27" name="Text 25"/>
          <p:cNvSpPr txBox="1"/>
          <p:nvPr/>
        </p:nvSpPr>
        <p:spPr>
          <a:xfrm>
            <a:off x="640080" y="3520440"/>
            <a:ext cx="7863840" cy="768096"/>
          </a:xfrm>
          <a:prstGeom prst="rect">
            <a:avLst/>
          </a:prstGeom>
          <a:noFill/>
          <a:ln/>
        </p:spPr>
        <p:txBody>
          <a:bodyPr wrap="square" lIns="0" tIns="0" rIns="0" bIns="0" rtlCol="0" anchor="t"/>
          <a:lstStyle/>
          <a:p>
            <a:pPr indent="0" marL="0">
              <a:buNone/>
            </a:pPr>
            <a:r>
              <a:rPr lang="en-US" sz="740" b="1" dirty="0">
                <a:solidFill>
                  <a:srgbClr val="D97A14"/>
                </a:solidFill>
                <a:latin typeface="Courier New" pitchFamily="34" charset="0"/>
                <a:ea typeface="Courier New" pitchFamily="34" charset="-122"/>
                <a:cs typeface="Courier New" pitchFamily="34" charset="-120"/>
              </a:rPr>
              <a:t>&gt;&gt;&gt; </a:t>
            </a:r>
            <a:r>
              <a:rPr lang="en-US" sz="740" dirty="0">
                <a:solidFill>
                  <a:srgbClr val="E6EDF3"/>
                </a:solidFill>
                <a:latin typeface="Courier New" pitchFamily="34" charset="0"/>
                <a:ea typeface="Courier New" pitchFamily="34" charset="-122"/>
                <a:cs typeface="Courier New" pitchFamily="34" charset="-120"/>
              </a:rPr>
              <a:t>mnemonic_to_seed(WORDS).hex()[:</a:t>
            </a:r>
            <a:r>
              <a:rPr lang="en-US" sz="740" dirty="0">
                <a:solidFill>
                  <a:srgbClr val="FFD28A"/>
                </a:solidFill>
                <a:latin typeface="Courier New" pitchFamily="34" charset="0"/>
                <a:ea typeface="Courier New" pitchFamily="34" charset="-122"/>
                <a:cs typeface="Courier New" pitchFamily="34" charset="-120"/>
              </a:rPr>
              <a:t>16</a:t>
            </a:r>
            <a:r>
              <a:rPr lang="en-US" sz="740" dirty="0">
                <a:solidFill>
                  <a:srgbClr val="E6EDF3"/>
                </a:solidFill>
                <a:latin typeface="Courier New" pitchFamily="34" charset="0"/>
                <a:ea typeface="Courier New" pitchFamily="34" charset="-122"/>
                <a:cs typeface="Courier New" pitchFamily="34" charset="-120"/>
              </a:rPr>
              <a:t>]</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'5b56c417303faa3f'</a:t>
            </a:r>
            <a:endParaRPr lang="en-US" sz="740" dirty="0"/>
          </a:p>
          <a:p>
            <a:pPr indent="0" marL="0">
              <a:buNone/>
            </a:pPr>
            <a:r>
              <a:rPr lang="en-US" sz="740" b="1" dirty="0">
                <a:solidFill>
                  <a:srgbClr val="D97A14"/>
                </a:solidFill>
                <a:latin typeface="Courier New" pitchFamily="34" charset="0"/>
                <a:ea typeface="Courier New" pitchFamily="34" charset="-122"/>
                <a:cs typeface="Courier New" pitchFamily="34" charset="-120"/>
              </a:rPr>
              <a:t>&gt;&gt;&gt; </a:t>
            </a:r>
            <a:r>
              <a:rPr lang="en-US" sz="740" dirty="0">
                <a:solidFill>
                  <a:srgbClr val="E6EDF3"/>
                </a:solidFill>
                <a:latin typeface="Courier New" pitchFamily="34" charset="0"/>
                <a:ea typeface="Courier New" pitchFamily="34" charset="-122"/>
                <a:cs typeface="Courier New" pitchFamily="34" charset="-120"/>
              </a:rPr>
              <a:t>len(mnemonic_to_seed(WORDS))</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64</a:t>
            </a:r>
            <a:endParaRPr lang="en-US" sz="740" dirty="0"/>
          </a:p>
          <a:p>
            <a:pPr indent="0" marL="0">
              <a:buNone/>
            </a:pPr>
            <a:r>
              <a:rPr lang="en-US" sz="740" b="1" dirty="0">
                <a:solidFill>
                  <a:srgbClr val="D97A14"/>
                </a:solidFill>
                <a:latin typeface="Courier New" pitchFamily="34" charset="0"/>
                <a:ea typeface="Courier New" pitchFamily="34" charset="-122"/>
                <a:cs typeface="Courier New" pitchFamily="34" charset="-120"/>
              </a:rPr>
              <a:t>&gt;&gt;&gt; </a:t>
            </a:r>
            <a:r>
              <a:rPr lang="en-US" sz="740" dirty="0">
                <a:solidFill>
                  <a:srgbClr val="E6EDF3"/>
                </a:solidFill>
                <a:latin typeface="Courier New" pitchFamily="34" charset="0"/>
                <a:ea typeface="Courier New" pitchFamily="34" charset="-122"/>
                <a:cs typeface="Courier New" pitchFamily="34" charset="-120"/>
              </a:rPr>
              <a:t>hashlib.pbkdf2_hmac(</a:t>
            </a:r>
            <a:r>
              <a:rPr lang="en-US" sz="740" dirty="0">
                <a:solidFill>
                  <a:srgbClr val="9ECBFF"/>
                </a:solidFill>
                <a:latin typeface="Courier New" pitchFamily="34" charset="0"/>
                <a:ea typeface="Courier New" pitchFamily="34" charset="-122"/>
                <a:cs typeface="Courier New" pitchFamily="34" charset="-120"/>
              </a:rPr>
              <a:t>'sha512'</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9ECBFF"/>
                </a:solidFill>
                <a:latin typeface="Courier New" pitchFamily="34" charset="0"/>
                <a:ea typeface="Courier New" pitchFamily="34" charset="-122"/>
                <a:cs typeface="Courier New" pitchFamily="34" charset="-120"/>
              </a:rPr>
              <a:t>'words'</a:t>
            </a:r>
            <a:r>
              <a:rPr lang="en-US" sz="740" dirty="0">
                <a:solidFill>
                  <a:srgbClr val="E6EDF3"/>
                </a:solidFill>
                <a:latin typeface="Courier New" pitchFamily="34" charset="0"/>
                <a:ea typeface="Courier New" pitchFamily="34" charset="-122"/>
                <a:cs typeface="Courier New" pitchFamily="34" charset="-120"/>
              </a:rPr>
              <a:t>, b</a:t>
            </a:r>
            <a:r>
              <a:rPr lang="en-US" sz="740" dirty="0">
                <a:solidFill>
                  <a:srgbClr val="9ECBFF"/>
                </a:solidFill>
                <a:latin typeface="Courier New" pitchFamily="34" charset="0"/>
                <a:ea typeface="Courier New" pitchFamily="34" charset="-122"/>
                <a:cs typeface="Courier New" pitchFamily="34" charset="-120"/>
              </a:rPr>
              <a:t>'mnemonic'</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FFD28A"/>
                </a:solidFill>
                <a:latin typeface="Courier New" pitchFamily="34" charset="0"/>
                <a:ea typeface="Courier New" pitchFamily="34" charset="-122"/>
                <a:cs typeface="Courier New" pitchFamily="34" charset="-120"/>
              </a:rPr>
              <a:t>2048</a:t>
            </a:r>
            <a:r>
              <a:rPr lang="en-US" sz="740" dirty="0">
                <a:solidFill>
                  <a:srgbClr val="E6EDF3"/>
                </a:solidFill>
                <a:latin typeface="Courier New" pitchFamily="34" charset="0"/>
                <a:ea typeface="Courier New" pitchFamily="34" charset="-122"/>
                <a:cs typeface="Courier New" pitchFamily="34" charset="-120"/>
              </a:rPr>
              <a:t>)</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TypeError: a bytes-like object is required, not 'str'</a:t>
            </a:r>
            <a:endParaRPr lang="en-US" sz="740" dirty="0"/>
          </a:p>
        </p:txBody>
      </p:sp>
      <p:sp>
        <p:nvSpPr>
          <p:cNvPr id="28" name="Text 26"/>
          <p:cNvSpPr txBox="1"/>
          <p:nvPr/>
        </p:nvSpPr>
        <p:spPr>
          <a:xfrm>
            <a:off x="457200" y="442569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9" name="Shape 27"/>
          <p:cNvSpPr/>
          <p:nvPr/>
        </p:nvSpPr>
        <p:spPr>
          <a:xfrm>
            <a:off x="457200" y="4636008"/>
            <a:ext cx="91440" cy="310896"/>
          </a:xfrm>
          <a:prstGeom prst="rect">
            <a:avLst/>
          </a:prstGeom>
          <a:solidFill>
            <a:srgbClr val="D97A14"/>
          </a:solidFill>
          <a:ln w="12700">
            <a:solidFill>
              <a:srgbClr val="D97A14"/>
            </a:solidFill>
            <a:prstDash val="solid"/>
          </a:ln>
        </p:spPr>
      </p:sp>
      <p:sp>
        <p:nvSpPr>
          <p:cNvPr id="30" name="Text 2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passphrase changes everything - by design</a:t>
            </a:r>
            <a:endParaRPr lang="en-US" sz="1350" dirty="0"/>
          </a:p>
        </p:txBody>
      </p:sp>
      <p:sp>
        <p:nvSpPr>
          <p:cNvPr id="31" name="Text 2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23</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The tree and its paths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One seed, a numbered key for every purpose</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Master key</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Child derivation</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Hardened</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Standard paths</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23</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seed, a tree of keys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HMAC-SHA512 splits every node in two</a:t>
            </a:r>
            <a:endParaRPr lang="en-US" sz="1300" dirty="0"/>
          </a:p>
        </p:txBody>
      </p:sp>
      <p:sp>
        <p:nvSpPr>
          <p:cNvPr id="6" name="Shape 4"/>
          <p:cNvSpPr/>
          <p:nvPr/>
        </p:nvSpPr>
        <p:spPr>
          <a:xfrm>
            <a:off x="457200" y="14996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996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6304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seed makes a master key and a chain code</a:t>
            </a:r>
            <a:endParaRPr lang="en-US" sz="1050" dirty="0"/>
          </a:p>
        </p:txBody>
      </p:sp>
      <p:sp>
        <p:nvSpPr>
          <p:cNvPr id="9" name="Shape 7"/>
          <p:cNvSpPr/>
          <p:nvPr/>
        </p:nvSpPr>
        <p:spPr>
          <a:xfrm>
            <a:off x="457200" y="20787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78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4216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Each child: HMAC of parent and an index</a:t>
            </a:r>
            <a:endParaRPr lang="en-US" sz="1050" dirty="0"/>
          </a:p>
        </p:txBody>
      </p:sp>
      <p:sp>
        <p:nvSpPr>
          <p:cNvPr id="12" name="Shape 10"/>
          <p:cNvSpPr/>
          <p:nvPr/>
        </p:nvSpPr>
        <p:spPr>
          <a:xfrm>
            <a:off x="457200" y="265785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7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2128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32 bytes of key, 32 of chain code - every node</a:t>
            </a:r>
            <a:endParaRPr lang="en-US" sz="1050" dirty="0"/>
          </a:p>
        </p:txBody>
      </p:sp>
      <p:sp>
        <p:nvSpPr>
          <p:cNvPr id="15" name="Text 13"/>
          <p:cNvSpPr txBox="1"/>
          <p:nvPr/>
        </p:nvSpPr>
        <p:spPr>
          <a:xfrm>
            <a:off x="3931920" y="1188720"/>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master pair, derived and range-checked</a:t>
            </a:r>
            <a:endParaRPr lang="en-US" sz="1150" dirty="0"/>
          </a:p>
        </p:txBody>
      </p:sp>
      <p:sp>
        <p:nvSpPr>
          <p:cNvPr id="16" name="Shape 14"/>
          <p:cNvSpPr/>
          <p:nvPr/>
        </p:nvSpPr>
        <p:spPr>
          <a:xfrm>
            <a:off x="3931920" y="1463040"/>
            <a:ext cx="4754880" cy="1188720"/>
          </a:xfrm>
          <a:prstGeom prst="roundRect">
            <a:avLst>
              <a:gd name="adj" fmla="val 7692"/>
            </a:avLst>
          </a:prstGeom>
          <a:solidFill>
            <a:srgbClr val="23272E"/>
          </a:solidFill>
          <a:ln w="12700">
            <a:solidFill>
              <a:srgbClr val="23272E"/>
            </a:solidFill>
            <a:prstDash val="solid"/>
          </a:ln>
        </p:spPr>
      </p:sp>
      <p:sp>
        <p:nvSpPr>
          <p:cNvPr id="17" name="Text 15"/>
          <p:cNvSpPr txBox="1"/>
          <p:nvPr/>
        </p:nvSpPr>
        <p:spPr>
          <a:xfrm>
            <a:off x="4114800" y="1581912"/>
            <a:ext cx="4389120" cy="950976"/>
          </a:xfrm>
          <a:prstGeom prst="rect">
            <a:avLst/>
          </a:prstGeom>
          <a:noFill/>
          <a:ln/>
        </p:spPr>
        <p:txBody>
          <a:bodyPr wrap="square" lIns="0" tIns="0" rIns="0" bIns="0" rtlCol="0" anchor="t"/>
          <a:lstStyle/>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k, c = master(TV)</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9ECBFF"/>
                </a:solidFill>
                <a:latin typeface="Courier New" pitchFamily="34" charset="0"/>
                <a:ea typeface="Courier New" pitchFamily="34" charset="-122"/>
                <a:cs typeface="Courier New" pitchFamily="34" charset="-120"/>
              </a:rPr>
              <a:t>'%064x'</a:t>
            </a:r>
            <a:r>
              <a:rPr lang="en-US" sz="860" dirty="0">
                <a:solidFill>
                  <a:srgbClr val="E6EDF3"/>
                </a:solidFill>
                <a:latin typeface="Courier New" pitchFamily="34" charset="0"/>
                <a:ea typeface="Courier New" pitchFamily="34" charset="-122"/>
                <a:cs typeface="Courier New" pitchFamily="34" charset="-120"/>
              </a:rPr>
              <a:t> % k</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'e8f32e723decf4051aefac8e2c93c9c5b214313817cdb01a1494b917c8436b35'</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FFD28A"/>
                </a:solidFill>
                <a:latin typeface="Courier New" pitchFamily="34" charset="0"/>
                <a:ea typeface="Courier New" pitchFamily="34" charset="-122"/>
                <a:cs typeface="Courier New" pitchFamily="34" charset="-120"/>
              </a:rPr>
              <a:t>0</a:t>
            </a:r>
            <a:r>
              <a:rPr lang="en-US" sz="860" dirty="0">
                <a:solidFill>
                  <a:srgbClr val="E6EDF3"/>
                </a:solidFill>
                <a:latin typeface="Courier New" pitchFamily="34" charset="0"/>
                <a:ea typeface="Courier New" pitchFamily="34" charset="-122"/>
                <a:cs typeface="Courier New" pitchFamily="34" charset="-120"/>
              </a:rPr>
              <a:t> &lt; k &lt; N</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True</a:t>
            </a:r>
            <a:endParaRPr lang="en-US" sz="860" dirty="0"/>
          </a:p>
        </p:txBody>
      </p:sp>
      <p:sp>
        <p:nvSpPr>
          <p:cNvPr id="18" name="Text 16"/>
          <p:cNvSpPr txBox="1"/>
          <p:nvPr/>
        </p:nvSpPr>
        <p:spPr>
          <a:xfrm>
            <a:off x="3931920" y="2670048"/>
            <a:ext cx="475488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9" name="Text 17"/>
          <p:cNvSpPr txBox="1"/>
          <p:nvPr/>
        </p:nvSpPr>
        <p:spPr>
          <a:xfrm>
            <a:off x="3931920" y="2697480"/>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child zero, with its own chain code</a:t>
            </a:r>
            <a:endParaRPr lang="en-US" sz="1150" dirty="0"/>
          </a:p>
        </p:txBody>
      </p:sp>
      <p:sp>
        <p:nvSpPr>
          <p:cNvPr id="20" name="Shape 18"/>
          <p:cNvSpPr/>
          <p:nvPr/>
        </p:nvSpPr>
        <p:spPr>
          <a:xfrm>
            <a:off x="3931920" y="2971800"/>
            <a:ext cx="4754880" cy="1188720"/>
          </a:xfrm>
          <a:prstGeom prst="roundRect">
            <a:avLst>
              <a:gd name="adj" fmla="val 7692"/>
            </a:avLst>
          </a:prstGeom>
          <a:solidFill>
            <a:srgbClr val="23272E"/>
          </a:solidFill>
          <a:ln w="12700">
            <a:solidFill>
              <a:srgbClr val="23272E"/>
            </a:solidFill>
            <a:prstDash val="solid"/>
          </a:ln>
        </p:spPr>
      </p:sp>
      <p:sp>
        <p:nvSpPr>
          <p:cNvPr id="21" name="Text 19"/>
          <p:cNvSpPr txBox="1"/>
          <p:nvPr/>
        </p:nvSpPr>
        <p:spPr>
          <a:xfrm>
            <a:off x="4114800" y="3090672"/>
            <a:ext cx="4389120" cy="95097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FFD28A"/>
                </a:solidFill>
                <a:latin typeface="Courier New" pitchFamily="34" charset="0"/>
                <a:ea typeface="Courier New" pitchFamily="34" charset="-122"/>
                <a:cs typeface="Courier New" pitchFamily="34" charset="-120"/>
              </a:rPr>
              <a:t>512</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2</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FFD28A"/>
                </a:solidFill>
                <a:latin typeface="Courier New" pitchFamily="34" charset="0"/>
                <a:ea typeface="Courier New" pitchFamily="34" charset="-122"/>
                <a:cs typeface="Courier New" pitchFamily="34" charset="-120"/>
              </a:rPr>
              <a:t>512</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2</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8</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(256, 32)</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k, c = master(TV)</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k1, c1 = ckd_priv(k, c, </a:t>
            </a:r>
            <a:r>
              <a:rPr lang="en-US" sz="920" dirty="0">
                <a:solidFill>
                  <a:srgbClr val="FFD28A"/>
                </a:solidFill>
                <a:latin typeface="Courier New" pitchFamily="34" charset="0"/>
                <a:ea typeface="Courier New" pitchFamily="34" charset="-122"/>
                <a:cs typeface="Courier New" pitchFamily="34" charset="-120"/>
              </a:rPr>
              <a:t>0</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(len(c1), k1 &lt; N)</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(32, True)</a:t>
            </a:r>
            <a:endParaRPr lang="en-US" sz="920" dirty="0"/>
          </a:p>
        </p:txBody>
      </p:sp>
      <p:sp>
        <p:nvSpPr>
          <p:cNvPr id="22" name="Text 20"/>
          <p:cNvSpPr txBox="1"/>
          <p:nvPr/>
        </p:nvSpPr>
        <p:spPr>
          <a:xfrm>
            <a:off x="3931920" y="4178808"/>
            <a:ext cx="475488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3" name="Shape 21"/>
          <p:cNvSpPr/>
          <p:nvPr/>
        </p:nvSpPr>
        <p:spPr>
          <a:xfrm>
            <a:off x="457200" y="3611880"/>
            <a:ext cx="3246120" cy="402336"/>
          </a:xfrm>
          <a:prstGeom prst="roundRect">
            <a:avLst>
              <a:gd name="adj" fmla="val 50000"/>
            </a:avLst>
          </a:prstGeom>
          <a:solidFill>
            <a:srgbClr val="2F6D62"/>
          </a:solidFill>
          <a:ln w="12700">
            <a:solidFill>
              <a:srgbClr val="2F6D62"/>
            </a:solidFill>
            <a:prstDash val="solid"/>
          </a:ln>
        </p:spPr>
      </p:sp>
      <p:sp>
        <p:nvSpPr>
          <p:cNvPr id="24" name="Text 22"/>
          <p:cNvSpPr txBox="1"/>
          <p:nvPr/>
        </p:nvSpPr>
        <p:spPr>
          <a:xfrm>
            <a:off x="457200" y="3611880"/>
            <a:ext cx="324612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the tree never runs dry</a:t>
            </a:r>
            <a:endParaRPr lang="en-US" sz="130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Two 32-byte halves at every node keep the tree alive</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Hardened or not: one question, two columns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Can a thief with the xpub climb down?</a:t>
            </a:r>
            <a:endParaRPr lang="en-US" sz="1300" dirty="0"/>
          </a:p>
        </p:txBody>
      </p:sp>
      <p:sp>
        <p:nvSpPr>
          <p:cNvPr id="6" name="Shape 4"/>
          <p:cNvSpPr/>
          <p:nvPr/>
        </p:nvSpPr>
        <p:spPr>
          <a:xfrm>
            <a:off x="457200" y="1417320"/>
            <a:ext cx="3931920" cy="1783080"/>
          </a:xfrm>
          <a:prstGeom prst="roundRect">
            <a:avLst>
              <a:gd name="adj" fmla="val 5128"/>
            </a:avLst>
          </a:prstGeom>
          <a:solidFill>
            <a:srgbClr val="F2ECE1"/>
          </a:solidFill>
          <a:ln w="15875">
            <a:solidFill>
              <a:srgbClr val="D97A14"/>
            </a:solidFill>
            <a:prstDash val="solid"/>
          </a:ln>
        </p:spPr>
      </p:sp>
      <p:sp>
        <p:nvSpPr>
          <p:cNvPr id="7" name="Text 5"/>
          <p:cNvSpPr txBox="1"/>
          <p:nvPr/>
        </p:nvSpPr>
        <p:spPr>
          <a:xfrm>
            <a:off x="640080" y="152704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Normal derivation (index &lt; 2^31)</a:t>
            </a:r>
            <a:endParaRPr lang="en-US" sz="1500" dirty="0"/>
          </a:p>
        </p:txBody>
      </p:sp>
      <p:sp>
        <p:nvSpPr>
          <p:cNvPr id="8" name="Text 6"/>
          <p:cNvSpPr txBox="1"/>
          <p:nvPr/>
        </p:nvSpPr>
        <p:spPr>
          <a:xfrm>
            <a:off x="640080" y="1947672"/>
            <a:ext cx="3566160" cy="1124712"/>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Public keys derivable WITHOUT private keys</a:t>
            </a:r>
            <a:endParaRPr lang="en-US" sz="1200" dirty="0"/>
          </a:p>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Perfect for watch-only shops</a:t>
            </a:r>
            <a:endParaRPr lang="en-US" sz="1200" dirty="0"/>
          </a:p>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But: child private + xpub leaks the parent</a:t>
            </a:r>
            <a:endParaRPr lang="en-US" sz="1200" dirty="0"/>
          </a:p>
        </p:txBody>
      </p:sp>
      <p:sp>
        <p:nvSpPr>
          <p:cNvPr id="9" name="Shape 7"/>
          <p:cNvSpPr/>
          <p:nvPr/>
        </p:nvSpPr>
        <p:spPr>
          <a:xfrm>
            <a:off x="4754880" y="1417320"/>
            <a:ext cx="3931920" cy="1783080"/>
          </a:xfrm>
          <a:prstGeom prst="roundRect">
            <a:avLst>
              <a:gd name="adj" fmla="val 5128"/>
            </a:avLst>
          </a:prstGeom>
          <a:solidFill>
            <a:srgbClr val="F2ECE1"/>
          </a:solidFill>
          <a:ln w="15875">
            <a:solidFill>
              <a:srgbClr val="2F6D62"/>
            </a:solidFill>
            <a:prstDash val="solid"/>
          </a:ln>
        </p:spPr>
      </p:sp>
      <p:sp>
        <p:nvSpPr>
          <p:cNvPr id="10" name="Text 8"/>
          <p:cNvSpPr txBox="1"/>
          <p:nvPr/>
        </p:nvSpPr>
        <p:spPr>
          <a:xfrm>
            <a:off x="4937760" y="152704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Hardened (index &gt;= 2^31, the h)</a:t>
            </a:r>
            <a:endParaRPr lang="en-US" sz="1500" dirty="0"/>
          </a:p>
        </p:txBody>
      </p:sp>
      <p:sp>
        <p:nvSpPr>
          <p:cNvPr id="11" name="Text 9"/>
          <p:cNvSpPr txBox="1"/>
          <p:nvPr/>
        </p:nvSpPr>
        <p:spPr>
          <a:xfrm>
            <a:off x="4937760" y="1947672"/>
            <a:ext cx="3566160" cy="1124712"/>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Needs the private parent - no public shortcut</a:t>
            </a:r>
            <a:endParaRPr lang="en-US" sz="1200" dirty="0"/>
          </a:p>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Standard for account levels</a:t>
            </a:r>
            <a:endParaRPr lang="en-US" sz="1200" dirty="0"/>
          </a:p>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The run proves the two differ</a:t>
            </a:r>
            <a:endParaRPr lang="en-US" sz="1200" dirty="0"/>
          </a:p>
        </p:txBody>
      </p:sp>
      <p:sp>
        <p:nvSpPr>
          <p:cNvPr id="12" name="Text 10"/>
          <p:cNvSpPr txBox="1"/>
          <p:nvPr/>
        </p:nvSpPr>
        <p:spPr>
          <a:xfrm>
            <a:off x="457200" y="31546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same index, hardened and not - different keys, provably</a:t>
            </a:r>
            <a:endParaRPr lang="en-US" sz="1150" dirty="0"/>
          </a:p>
        </p:txBody>
      </p:sp>
      <p:sp>
        <p:nvSpPr>
          <p:cNvPr id="13" name="Shape 11"/>
          <p:cNvSpPr/>
          <p:nvPr/>
        </p:nvSpPr>
        <p:spPr>
          <a:xfrm>
            <a:off x="457200" y="3429000"/>
            <a:ext cx="8229600" cy="1097280"/>
          </a:xfrm>
          <a:prstGeom prst="roundRect">
            <a:avLst>
              <a:gd name="adj" fmla="val 8333"/>
            </a:avLst>
          </a:prstGeom>
          <a:solidFill>
            <a:srgbClr val="23272E"/>
          </a:solidFill>
          <a:ln w="12700">
            <a:solidFill>
              <a:srgbClr val="23272E"/>
            </a:solidFill>
            <a:prstDash val="solid"/>
          </a:ln>
        </p:spPr>
      </p:sp>
      <p:sp>
        <p:nvSpPr>
          <p:cNvPr id="14" name="Text 12"/>
          <p:cNvSpPr txBox="1"/>
          <p:nvPr/>
        </p:nvSpPr>
        <p:spPr>
          <a:xfrm>
            <a:off x="640080" y="3547872"/>
            <a:ext cx="7863840" cy="859536"/>
          </a:xfrm>
          <a:prstGeom prst="rect">
            <a:avLst/>
          </a:prstGeom>
          <a:noFill/>
          <a:ln/>
        </p:spPr>
        <p:txBody>
          <a:bodyPr wrap="square" lIns="0" tIns="0" rIns="0" bIns="0" rtlCol="0" anchor="t"/>
          <a:lstStyle/>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k, c = master(TV)</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kh, ch = ckd_priv(k, c, </a:t>
            </a:r>
            <a:r>
              <a:rPr lang="en-US" sz="830" dirty="0">
                <a:solidFill>
                  <a:srgbClr val="FFD28A"/>
                </a:solidFill>
                <a:latin typeface="Courier New" pitchFamily="34" charset="0"/>
                <a:ea typeface="Courier New" pitchFamily="34" charset="-122"/>
                <a:cs typeface="Courier New" pitchFamily="34" charset="-120"/>
              </a:rPr>
              <a:t>2</a:t>
            </a:r>
            <a:r>
              <a:rPr lang="en-US" sz="830" dirty="0">
                <a:solidFill>
                  <a:srgbClr val="E6EDF3"/>
                </a:solidFill>
                <a:latin typeface="Courier New" pitchFamily="34" charset="0"/>
                <a:ea typeface="Courier New" pitchFamily="34" charset="-122"/>
                <a:cs typeface="Courier New" pitchFamily="34" charset="-120"/>
              </a:rPr>
              <a:t> ** </a:t>
            </a:r>
            <a:r>
              <a:rPr lang="en-US" sz="830" dirty="0">
                <a:solidFill>
                  <a:srgbClr val="FFD28A"/>
                </a:solidFill>
                <a:latin typeface="Courier New" pitchFamily="34" charset="0"/>
                <a:ea typeface="Courier New" pitchFamily="34" charset="-122"/>
                <a:cs typeface="Courier New" pitchFamily="34" charset="-120"/>
              </a:rPr>
              <a:t>31</a:t>
            </a:r>
            <a:r>
              <a:rPr lang="en-US" sz="830" dirty="0">
                <a:solidFill>
                  <a:srgbClr val="E6EDF3"/>
                </a:solidFill>
                <a:latin typeface="Courier New" pitchFamily="34" charset="0"/>
                <a:ea typeface="Courier New" pitchFamily="34" charset="-122"/>
                <a:cs typeface="Courier New" pitchFamily="34" charset="-120"/>
              </a:rPr>
              <a:t>)</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9ECBFF"/>
                </a:solidFill>
                <a:latin typeface="Courier New" pitchFamily="34" charset="0"/>
                <a:ea typeface="Courier New" pitchFamily="34" charset="-122"/>
                <a:cs typeface="Courier New" pitchFamily="34" charset="-120"/>
              </a:rPr>
              <a:t>'%064x'</a:t>
            </a:r>
            <a:r>
              <a:rPr lang="en-US" sz="830" dirty="0">
                <a:solidFill>
                  <a:srgbClr val="E6EDF3"/>
                </a:solidFill>
                <a:latin typeface="Courier New" pitchFamily="34" charset="0"/>
                <a:ea typeface="Courier New" pitchFamily="34" charset="-122"/>
                <a:cs typeface="Courier New" pitchFamily="34" charset="-120"/>
              </a:rPr>
              <a:t> % kh</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'edb2e14f9ee77d26dd93b4ecede8d16ed408ce149b6cd80b0715a2d911a0afea'</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ckd_priv(k, c, </a:t>
            </a:r>
            <a:r>
              <a:rPr lang="en-US" sz="830" dirty="0">
                <a:solidFill>
                  <a:srgbClr val="FFD28A"/>
                </a:solidFill>
                <a:latin typeface="Courier New" pitchFamily="34" charset="0"/>
                <a:ea typeface="Courier New" pitchFamily="34" charset="-122"/>
                <a:cs typeface="Courier New" pitchFamily="34" charset="-120"/>
              </a:rPr>
              <a:t>0</a:t>
            </a:r>
            <a:r>
              <a:rPr lang="en-US" sz="830" dirty="0">
                <a:solidFill>
                  <a:srgbClr val="E6EDF3"/>
                </a:solidFill>
                <a:latin typeface="Courier New" pitchFamily="34" charset="0"/>
                <a:ea typeface="Courier New" pitchFamily="34" charset="-122"/>
                <a:cs typeface="Courier New" pitchFamily="34" charset="-120"/>
              </a:rPr>
              <a:t>)[</a:t>
            </a:r>
            <a:r>
              <a:rPr lang="en-US" sz="830" dirty="0">
                <a:solidFill>
                  <a:srgbClr val="FFD28A"/>
                </a:solidFill>
                <a:latin typeface="Courier New" pitchFamily="34" charset="0"/>
                <a:ea typeface="Courier New" pitchFamily="34" charset="-122"/>
                <a:cs typeface="Courier New" pitchFamily="34" charset="-120"/>
              </a:rPr>
              <a:t>0</a:t>
            </a:r>
            <a:r>
              <a:rPr lang="en-US" sz="830" dirty="0">
                <a:solidFill>
                  <a:srgbClr val="E6EDF3"/>
                </a:solidFill>
                <a:latin typeface="Courier New" pitchFamily="34" charset="0"/>
                <a:ea typeface="Courier New" pitchFamily="34" charset="-122"/>
                <a:cs typeface="Courier New" pitchFamily="34" charset="-120"/>
              </a:rPr>
              <a:t>] == kh</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False</a:t>
            </a:r>
            <a:endParaRPr lang="en-US" sz="830" dirty="0"/>
          </a:p>
        </p:txBody>
      </p:sp>
      <p:sp>
        <p:nvSpPr>
          <p:cNvPr id="15" name="Text 13"/>
          <p:cNvSpPr txBox="1"/>
          <p:nvPr/>
        </p:nvSpPr>
        <p:spPr>
          <a:xfrm>
            <a:off x="457200" y="45445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h in a path is a security decision, not decoration</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23</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paths everyone agreed on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Five levels, and Core derives the same address we do</a:t>
            </a:r>
            <a:endParaRPr lang="en-US" sz="1300" dirty="0"/>
          </a:p>
        </p:txBody>
      </p:sp>
      <p:sp>
        <p:nvSpPr>
          <p:cNvPr id="6" name="Text 4"/>
          <p:cNvSpPr txBox="1"/>
          <p:nvPr/>
        </p:nvSpPr>
        <p:spPr>
          <a:xfrm>
            <a:off x="457200" y="114300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purpose / coin / account / change / index - hardened where it matters</a:t>
            </a:r>
            <a:endParaRPr lang="en-US" sz="1150" dirty="0"/>
          </a:p>
        </p:txBody>
      </p:sp>
      <p:sp>
        <p:nvSpPr>
          <p:cNvPr id="7" name="Shape 5"/>
          <p:cNvSpPr/>
          <p:nvPr/>
        </p:nvSpPr>
        <p:spPr>
          <a:xfrm>
            <a:off x="457200" y="1417320"/>
            <a:ext cx="8229600" cy="868680"/>
          </a:xfrm>
          <a:prstGeom prst="roundRect">
            <a:avLst>
              <a:gd name="adj" fmla="val 10526"/>
            </a:avLst>
          </a:prstGeom>
          <a:solidFill>
            <a:srgbClr val="23272E"/>
          </a:solidFill>
          <a:ln w="12700">
            <a:solidFill>
              <a:srgbClr val="23272E"/>
            </a:solidFill>
            <a:prstDash val="solid"/>
          </a:ln>
        </p:spPr>
      </p:sp>
      <p:sp>
        <p:nvSpPr>
          <p:cNvPr id="8" name="Text 6"/>
          <p:cNvSpPr txBox="1"/>
          <p:nvPr/>
        </p:nvSpPr>
        <p:spPr>
          <a:xfrm>
            <a:off x="640080" y="1536192"/>
            <a:ext cx="7863840" cy="630936"/>
          </a:xfrm>
          <a:prstGeom prst="rect">
            <a:avLst/>
          </a:prstGeom>
          <a:noFill/>
          <a:ln/>
        </p:spPr>
        <p:txBody>
          <a:bodyPr wrap="square" lIns="0" tIns="0" rIns="0" bIns="0" rtlCol="0" anchor="t"/>
          <a:lstStyle/>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LEVELS = </a:t>
            </a:r>
            <a:r>
              <a:rPr lang="en-US" sz="720" dirty="0">
                <a:solidFill>
                  <a:srgbClr val="9ECBFF"/>
                </a:solidFill>
                <a:latin typeface="Courier New" pitchFamily="34" charset="0"/>
                <a:ea typeface="Courier New" pitchFamily="34" charset="-122"/>
                <a:cs typeface="Courier New" pitchFamily="34" charset="-120"/>
              </a:rPr>
              <a:t>'purpose / coin_type / account / change / address_index'</a:t>
            </a:r>
            <a:r>
              <a:rPr lang="en-US" sz="720" dirty="0">
                <a:solidFill>
                  <a:srgbClr val="E6EDF3"/>
                </a:solidFill>
                <a:latin typeface="Courier New" pitchFamily="34" charset="0"/>
                <a:ea typeface="Courier New" pitchFamily="34" charset="-122"/>
                <a:cs typeface="Courier New" pitchFamily="34" charset="-120"/>
              </a:rPr>
              <a:t>.split(</a:t>
            </a:r>
            <a:r>
              <a:rPr lang="en-US" sz="720" dirty="0">
                <a:solidFill>
                  <a:srgbClr val="9ECBFF"/>
                </a:solidFill>
                <a:latin typeface="Courier New" pitchFamily="34" charset="0"/>
                <a:ea typeface="Courier New" pitchFamily="34" charset="-122"/>
                <a:cs typeface="Courier New" pitchFamily="34" charset="-120"/>
              </a:rPr>
              <a:t>' / '</a:t>
            </a: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len(LEVELS)</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5</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[i &gt;= </a:t>
            </a:r>
            <a:r>
              <a:rPr lang="en-US" sz="720" dirty="0">
                <a:solidFill>
                  <a:srgbClr val="FFD28A"/>
                </a:solidFill>
                <a:latin typeface="Courier New" pitchFamily="34" charset="0"/>
                <a:ea typeface="Courier New" pitchFamily="34" charset="-122"/>
                <a:cs typeface="Courier New" pitchFamily="34" charset="-120"/>
              </a:rPr>
              <a:t>2</a:t>
            </a:r>
            <a:r>
              <a:rPr lang="en-US" sz="720" dirty="0">
                <a:solidFill>
                  <a:srgbClr val="E6EDF3"/>
                </a:solidFill>
                <a:latin typeface="Courier New" pitchFamily="34" charset="0"/>
                <a:ea typeface="Courier New" pitchFamily="34" charset="-122"/>
                <a:cs typeface="Courier New" pitchFamily="34" charset="-120"/>
              </a:rPr>
              <a:t> ** </a:t>
            </a:r>
            <a:r>
              <a:rPr lang="en-US" sz="720" dirty="0">
                <a:solidFill>
                  <a:srgbClr val="FFD28A"/>
                </a:solidFill>
                <a:latin typeface="Courier New" pitchFamily="34" charset="0"/>
                <a:ea typeface="Courier New" pitchFamily="34" charset="-122"/>
                <a:cs typeface="Courier New" pitchFamily="34" charset="-120"/>
              </a:rPr>
              <a:t>31</a:t>
            </a:r>
            <a:r>
              <a:rPr lang="en-US" sz="720" dirty="0">
                <a:solidFill>
                  <a:srgbClr val="E6EDF3"/>
                </a:solidFill>
                <a:latin typeface="Courier New" pitchFamily="34" charset="0"/>
                <a:ea typeface="Courier New" pitchFamily="34" charset="-122"/>
                <a:cs typeface="Courier New" pitchFamily="34" charset="-120"/>
              </a:rPr>
              <a:t> </a:t>
            </a:r>
            <a:r>
              <a:rPr lang="en-US" sz="720" b="1" dirty="0">
                <a:solidFill>
                  <a:srgbClr val="F2A860"/>
                </a:solidFill>
                <a:latin typeface="Courier New" pitchFamily="34" charset="0"/>
                <a:ea typeface="Courier New" pitchFamily="34" charset="-122"/>
                <a:cs typeface="Courier New" pitchFamily="34" charset="-120"/>
              </a:rPr>
              <a:t>for</a:t>
            </a:r>
            <a:r>
              <a:rPr lang="en-US" sz="720" dirty="0">
                <a:solidFill>
                  <a:srgbClr val="E6EDF3"/>
                </a:solidFill>
                <a:latin typeface="Courier New" pitchFamily="34" charset="0"/>
                <a:ea typeface="Courier New" pitchFamily="34" charset="-122"/>
                <a:cs typeface="Courier New" pitchFamily="34" charset="-120"/>
              </a:rPr>
              <a:t> i </a:t>
            </a:r>
            <a:r>
              <a:rPr lang="en-US" sz="720" b="1" dirty="0">
                <a:solidFill>
                  <a:srgbClr val="F2A860"/>
                </a:solidFill>
                <a:latin typeface="Courier New" pitchFamily="34" charset="0"/>
                <a:ea typeface="Courier New" pitchFamily="34" charset="-122"/>
                <a:cs typeface="Courier New" pitchFamily="34" charset="-120"/>
              </a:rPr>
              <a:t>in</a:t>
            </a:r>
            <a:r>
              <a:rPr lang="en-US" sz="720" dirty="0">
                <a:solidFill>
                  <a:srgbClr val="E6EDF3"/>
                </a:solidFill>
                <a:latin typeface="Courier New" pitchFamily="34" charset="0"/>
                <a:ea typeface="Courier New" pitchFamily="34" charset="-122"/>
                <a:cs typeface="Courier New" pitchFamily="34" charset="-120"/>
              </a:rPr>
              <a:t> path_indices(</a:t>
            </a:r>
            <a:r>
              <a:rPr lang="en-US" sz="720" dirty="0">
                <a:solidFill>
                  <a:srgbClr val="9ECBFF"/>
                </a:solidFill>
                <a:latin typeface="Courier New" pitchFamily="34" charset="0"/>
                <a:ea typeface="Courier New" pitchFamily="34" charset="-122"/>
                <a:cs typeface="Courier New" pitchFamily="34" charset="-120"/>
              </a:rPr>
              <a:t>'m/44h/0h/0h/0/2'</a:t>
            </a: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[True, True, True, False, False]</a:t>
            </a:r>
            <a:endParaRPr lang="en-US" sz="720" dirty="0"/>
          </a:p>
        </p:txBody>
      </p:sp>
      <p:sp>
        <p:nvSpPr>
          <p:cNvPr id="9" name="Text 7"/>
          <p:cNvSpPr txBox="1"/>
          <p:nvPr/>
        </p:nvSpPr>
        <p:spPr>
          <a:xfrm>
            <a:off x="457200" y="23042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0" name="Text 8"/>
          <p:cNvSpPr txBox="1"/>
          <p:nvPr/>
        </p:nvSpPr>
        <p:spPr>
          <a:xfrm>
            <a:off x="457200" y="2240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BIP-84's own test vector: our math, then Core's answer - equal</a:t>
            </a:r>
            <a:endParaRPr lang="en-US" sz="1150" dirty="0"/>
          </a:p>
        </p:txBody>
      </p:sp>
      <p:sp>
        <p:nvSpPr>
          <p:cNvPr id="11" name="Shape 9"/>
          <p:cNvSpPr/>
          <p:nvPr/>
        </p:nvSpPr>
        <p:spPr>
          <a:xfrm>
            <a:off x="457200" y="2514600"/>
            <a:ext cx="8229600" cy="1188720"/>
          </a:xfrm>
          <a:prstGeom prst="roundRect">
            <a:avLst>
              <a:gd name="adj" fmla="val 7692"/>
            </a:avLst>
          </a:prstGeom>
          <a:solidFill>
            <a:srgbClr val="23272E"/>
          </a:solidFill>
          <a:ln w="12700">
            <a:solidFill>
              <a:srgbClr val="23272E"/>
            </a:solidFill>
            <a:prstDash val="solid"/>
          </a:ln>
        </p:spPr>
      </p:sp>
      <p:sp>
        <p:nvSpPr>
          <p:cNvPr id="12" name="Text 10"/>
          <p:cNvSpPr txBox="1"/>
          <p:nvPr/>
        </p:nvSpPr>
        <p:spPr>
          <a:xfrm>
            <a:off x="640080" y="2633472"/>
            <a:ext cx="7863840" cy="950976"/>
          </a:xfrm>
          <a:prstGeom prst="rect">
            <a:avLst/>
          </a:prstGeom>
          <a:noFill/>
          <a:ln/>
        </p:spPr>
        <p:txBody>
          <a:bodyPr wrap="square" lIns="0" tIns="0" rIns="0" bIns="0" rtlCol="0" anchor="t"/>
          <a:lstStyle/>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k0, c0 = keys_at(B84, </a:t>
            </a:r>
            <a:r>
              <a:rPr lang="en-US" sz="790" dirty="0">
                <a:solidFill>
                  <a:srgbClr val="9ECBFF"/>
                </a:solidFill>
                <a:latin typeface="Courier New" pitchFamily="34" charset="0"/>
                <a:ea typeface="Courier New" pitchFamily="34" charset="-122"/>
                <a:cs typeface="Courier New" pitchFamily="34" charset="-120"/>
              </a:rPr>
              <a:t>'m/84h/0h/0h/0/0'</a:t>
            </a:r>
            <a:r>
              <a:rPr lang="en-US" sz="790" dirty="0">
                <a:solidFill>
                  <a:srgbClr val="E6EDF3"/>
                </a:solidFill>
                <a:latin typeface="Courier New" pitchFamily="34" charset="0"/>
                <a:ea typeface="Courier New" pitchFamily="34" charset="-122"/>
                <a:cs typeface="Courier New" pitchFamily="34" charset="-120"/>
              </a:rPr>
              <a:t>)</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p2wpkh_address(ser_p(ec_mul(k0)))</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'bc1qcr8te4kr609gcawutmrza0j4xv80jy8z306fyu'</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CORE_BIP84[</a:t>
            </a:r>
            <a:r>
              <a:rPr lang="en-US" sz="790" dirty="0">
                <a:solidFill>
                  <a:srgbClr val="9ECBFF"/>
                </a:solidFill>
                <a:latin typeface="Courier New" pitchFamily="34" charset="0"/>
                <a:ea typeface="Courier New" pitchFamily="34" charset="-122"/>
                <a:cs typeface="Courier New" pitchFamily="34" charset="-120"/>
              </a:rPr>
              <a:t>'addresses'</a:t>
            </a:r>
            <a:r>
              <a:rPr lang="en-US" sz="790" dirty="0">
                <a:solidFill>
                  <a:srgbClr val="E6EDF3"/>
                </a:solidFill>
                <a:latin typeface="Courier New" pitchFamily="34" charset="0"/>
                <a:ea typeface="Courier New" pitchFamily="34" charset="-122"/>
                <a:cs typeface="Courier New" pitchFamily="34" charset="-120"/>
              </a:rPr>
              <a:t>][</a:t>
            </a:r>
            <a:r>
              <a:rPr lang="en-US" sz="790" dirty="0">
                <a:solidFill>
                  <a:srgbClr val="FFD28A"/>
                </a:solidFill>
                <a:latin typeface="Courier New" pitchFamily="34" charset="0"/>
                <a:ea typeface="Courier New" pitchFamily="34" charset="-122"/>
                <a:cs typeface="Courier New" pitchFamily="34" charset="-120"/>
              </a:rPr>
              <a:t>0</a:t>
            </a:r>
            <a:r>
              <a:rPr lang="en-US" sz="790" dirty="0">
                <a:solidFill>
                  <a:srgbClr val="E6EDF3"/>
                </a:solidFill>
                <a:latin typeface="Courier New" pitchFamily="34" charset="0"/>
                <a:ea typeface="Courier New" pitchFamily="34" charset="-122"/>
                <a:cs typeface="Courier New" pitchFamily="34" charset="-120"/>
              </a:rPr>
              <a:t>]</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'bc1qcr8te4kr609gcawutmrza0j4xv80jy8z306fyu'</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p2wpkh_address(ser_p(ec_mul(k0))) == CORE_BIP84[</a:t>
            </a:r>
            <a:r>
              <a:rPr lang="en-US" sz="790" dirty="0">
                <a:solidFill>
                  <a:srgbClr val="9ECBFF"/>
                </a:solidFill>
                <a:latin typeface="Courier New" pitchFamily="34" charset="0"/>
                <a:ea typeface="Courier New" pitchFamily="34" charset="-122"/>
                <a:cs typeface="Courier New" pitchFamily="34" charset="-120"/>
              </a:rPr>
              <a:t>'addresses'</a:t>
            </a:r>
            <a:r>
              <a:rPr lang="en-US" sz="790" dirty="0">
                <a:solidFill>
                  <a:srgbClr val="E6EDF3"/>
                </a:solidFill>
                <a:latin typeface="Courier New" pitchFamily="34" charset="0"/>
                <a:ea typeface="Courier New" pitchFamily="34" charset="-122"/>
                <a:cs typeface="Courier New" pitchFamily="34" charset="-120"/>
              </a:rPr>
              <a:t>][</a:t>
            </a:r>
            <a:r>
              <a:rPr lang="en-US" sz="790" dirty="0">
                <a:solidFill>
                  <a:srgbClr val="FFD28A"/>
                </a:solidFill>
                <a:latin typeface="Courier New" pitchFamily="34" charset="0"/>
                <a:ea typeface="Courier New" pitchFamily="34" charset="-122"/>
                <a:cs typeface="Courier New" pitchFamily="34" charset="-120"/>
              </a:rPr>
              <a:t>0</a:t>
            </a:r>
            <a:r>
              <a:rPr lang="en-US" sz="790" dirty="0">
                <a:solidFill>
                  <a:srgbClr val="E6EDF3"/>
                </a:solidFill>
                <a:latin typeface="Courier New" pitchFamily="34" charset="0"/>
                <a:ea typeface="Courier New" pitchFamily="34" charset="-122"/>
                <a:cs typeface="Courier New" pitchFamily="34" charset="-120"/>
              </a:rPr>
              <a:t>]</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True</a:t>
            </a:r>
            <a:endParaRPr lang="en-US" sz="790" dirty="0"/>
          </a:p>
        </p:txBody>
      </p:sp>
      <p:sp>
        <p:nvSpPr>
          <p:cNvPr id="13" name="Text 11"/>
          <p:cNvSpPr txBox="1"/>
          <p:nvPr/>
        </p:nvSpPr>
        <p:spPr>
          <a:xfrm>
            <a:off x="457200" y="37216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4" name="Shape 12"/>
          <p:cNvSpPr/>
          <p:nvPr/>
        </p:nvSpPr>
        <p:spPr>
          <a:xfrm>
            <a:off x="457200" y="3931920"/>
            <a:ext cx="1645920"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457200" y="3931920"/>
            <a:ext cx="1645920"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44h legacy</a:t>
            </a:r>
            <a:endParaRPr lang="en-US" sz="1200" dirty="0"/>
          </a:p>
        </p:txBody>
      </p:sp>
      <p:sp>
        <p:nvSpPr>
          <p:cNvPr id="16" name="Shape 14"/>
          <p:cNvSpPr/>
          <p:nvPr/>
        </p:nvSpPr>
        <p:spPr>
          <a:xfrm>
            <a:off x="2304288" y="3931920"/>
            <a:ext cx="1645920"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2304288" y="3931920"/>
            <a:ext cx="1645920"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49h nested</a:t>
            </a:r>
            <a:endParaRPr lang="en-US" sz="1200" dirty="0"/>
          </a:p>
        </p:txBody>
      </p:sp>
      <p:sp>
        <p:nvSpPr>
          <p:cNvPr id="18" name="Shape 16"/>
          <p:cNvSpPr/>
          <p:nvPr/>
        </p:nvSpPr>
        <p:spPr>
          <a:xfrm>
            <a:off x="4151376" y="3931920"/>
            <a:ext cx="1645920"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151376" y="3931920"/>
            <a:ext cx="1645920"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84h segwit</a:t>
            </a:r>
            <a:endParaRPr lang="en-US" sz="1200" dirty="0"/>
          </a:p>
        </p:txBody>
      </p:sp>
      <p:sp>
        <p:nvSpPr>
          <p:cNvPr id="20" name="Shape 18"/>
          <p:cNvSpPr/>
          <p:nvPr/>
        </p:nvSpPr>
        <p:spPr>
          <a:xfrm>
            <a:off x="5998464" y="3931920"/>
            <a:ext cx="1772107"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5998464" y="3931920"/>
            <a:ext cx="1772107"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86h taproot</a:t>
            </a:r>
            <a:endParaRPr lang="en-US" sz="12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m/84h/0h/0h/0/0 - and Core derives the same address</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23</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Beyond keys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What else must survive, and how wallets ship</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Watch-only xpubs</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Labels and channels</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Split secrets</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Test the backup</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23</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Watch-only: the shop holds no keys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An xpub derives addresses; it cannot spend</a:t>
            </a:r>
            <a:endParaRPr lang="en-US" sz="1300" dirty="0"/>
          </a:p>
        </p:txBody>
      </p:sp>
      <p:sp>
        <p:nvSpPr>
          <p:cNvPr id="6" name="Shape 4"/>
          <p:cNvSpPr/>
          <p:nvPr/>
        </p:nvSpPr>
        <p:spPr>
          <a:xfrm>
            <a:off x="457200" y="136245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62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25880"/>
            <a:ext cx="7662672" cy="37490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Deploy the xpub to the web shop, keep keys cold - it mints a fresh address per customer</a:t>
            </a:r>
            <a:endParaRPr lang="en-US" sz="950" dirty="0"/>
          </a:p>
        </p:txBody>
      </p:sp>
      <p:sp>
        <p:nvSpPr>
          <p:cNvPr id="9" name="Shape 7"/>
          <p:cNvSpPr/>
          <p:nvPr/>
        </p:nvSpPr>
        <p:spPr>
          <a:xfrm>
            <a:off x="457200" y="17739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73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37360"/>
            <a:ext cx="7662672" cy="37490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The gap limit decides how far a recovery scan looks for used addresses</a:t>
            </a:r>
            <a:endParaRPr lang="en-US" sz="950" dirty="0"/>
          </a:p>
        </p:txBody>
      </p:sp>
      <p:sp>
        <p:nvSpPr>
          <p:cNvPr id="12" name="Text 10"/>
          <p:cNvSpPr txBox="1"/>
          <p:nvPr/>
        </p:nvSpPr>
        <p:spPr>
          <a:xfrm>
            <a:off x="457200" y="205740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three addresses from the public key alone - cold keys, warm addresses</a:t>
            </a:r>
            <a:endParaRPr lang="en-US" sz="1150" dirty="0"/>
          </a:p>
        </p:txBody>
      </p:sp>
      <p:sp>
        <p:nvSpPr>
          <p:cNvPr id="13" name="Shape 11"/>
          <p:cNvSpPr/>
          <p:nvPr/>
        </p:nvSpPr>
        <p:spPr>
          <a:xfrm>
            <a:off x="457200" y="2331720"/>
            <a:ext cx="8229600" cy="1188720"/>
          </a:xfrm>
          <a:prstGeom prst="roundRect">
            <a:avLst>
              <a:gd name="adj" fmla="val 7692"/>
            </a:avLst>
          </a:prstGeom>
          <a:solidFill>
            <a:srgbClr val="23272E"/>
          </a:solidFill>
          <a:ln w="12700">
            <a:solidFill>
              <a:srgbClr val="23272E"/>
            </a:solidFill>
            <a:prstDash val="solid"/>
          </a:ln>
        </p:spPr>
      </p:sp>
      <p:sp>
        <p:nvSpPr>
          <p:cNvPr id="14" name="Text 12"/>
          <p:cNvSpPr txBox="1"/>
          <p:nvPr/>
        </p:nvSpPr>
        <p:spPr>
          <a:xfrm>
            <a:off x="640080" y="2450592"/>
            <a:ext cx="7863840" cy="95097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'M/84h/0h/0h/0/%d'</a:t>
            </a:r>
            <a:r>
              <a:rPr lang="en-US" sz="850" dirty="0">
                <a:solidFill>
                  <a:srgbClr val="E6EDF3"/>
                </a:solidFill>
                <a:latin typeface="Courier New" pitchFamily="34" charset="0"/>
                <a:ea typeface="Courier New" pitchFamily="34" charset="-122"/>
                <a:cs typeface="Courier New" pitchFamily="34" charset="-120"/>
              </a:rPr>
              <a:t> % i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i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range(</a:t>
            </a:r>
            <a:r>
              <a:rPr lang="en-US" sz="850" dirty="0">
                <a:solidFill>
                  <a:srgbClr val="FFD28A"/>
                </a:solidFill>
                <a:latin typeface="Courier New" pitchFamily="34" charset="0"/>
                <a:ea typeface="Courier New" pitchFamily="34" charset="-122"/>
                <a:cs typeface="Courier New" pitchFamily="34" charset="-120"/>
              </a:rPr>
              <a:t>3</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['M/84h/0h/0h/0/0', 'M/84h/0h/0h/0/1', 'M/84h/0h/0h/0/2']</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acct = parse_extended(BOOK_XPUB)</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K, ch = decompress(acct[</a:t>
            </a:r>
            <a:r>
              <a:rPr lang="en-US" sz="850" dirty="0">
                <a:solidFill>
                  <a:srgbClr val="9ECBFF"/>
                </a:solidFill>
                <a:latin typeface="Courier New" pitchFamily="34" charset="0"/>
                <a:ea typeface="Courier New" pitchFamily="34" charset="-122"/>
                <a:cs typeface="Courier New" pitchFamily="34" charset="-120"/>
              </a:rPr>
              <a:t>'key'</a:t>
            </a:r>
            <a:r>
              <a:rPr lang="en-US" sz="850" dirty="0">
                <a:solidFill>
                  <a:srgbClr val="E6EDF3"/>
                </a:solidFill>
                <a:latin typeface="Courier New" pitchFamily="34" charset="0"/>
                <a:ea typeface="Courier New" pitchFamily="34" charset="-122"/>
                <a:cs typeface="Courier New" pitchFamily="34" charset="-120"/>
              </a:rPr>
              <a:t>]), acct[</a:t>
            </a:r>
            <a:r>
              <a:rPr lang="en-US" sz="850" dirty="0">
                <a:solidFill>
                  <a:srgbClr val="9ECBFF"/>
                </a:solidFill>
                <a:latin typeface="Courier New" pitchFamily="34" charset="0"/>
                <a:ea typeface="Courier New" pitchFamily="34" charset="-122"/>
                <a:cs typeface="Courier New" pitchFamily="34" charset="-120"/>
              </a:rPr>
              <a:t>'chain'</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[p2wpkh_address(ser_p(pub_at(K, ch, </a:t>
            </a:r>
            <a:r>
              <a:rPr lang="en-US" sz="850" dirty="0">
                <a:solidFill>
                  <a:srgbClr val="9ECBFF"/>
                </a:solidFill>
                <a:latin typeface="Courier New" pitchFamily="34" charset="0"/>
                <a:ea typeface="Courier New" pitchFamily="34" charset="-122"/>
                <a:cs typeface="Courier New" pitchFamily="34" charset="-120"/>
              </a:rPr>
              <a:t>'0/%d'</a:t>
            </a:r>
            <a:r>
              <a:rPr lang="en-US" sz="850" dirty="0">
                <a:solidFill>
                  <a:srgbClr val="E6EDF3"/>
                </a:solidFill>
                <a:latin typeface="Courier New" pitchFamily="34" charset="0"/>
                <a:ea typeface="Courier New" pitchFamily="34" charset="-122"/>
                <a:cs typeface="Courier New" pitchFamily="34" charset="-120"/>
              </a:rPr>
              <a:t> % i)[</a:t>
            </a:r>
            <a:r>
              <a:rPr lang="en-US" sz="850" dirty="0">
                <a:solidFill>
                  <a:srgbClr val="FFD28A"/>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i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range(</a:t>
            </a:r>
            <a:r>
              <a:rPr lang="en-US" sz="850" dirty="0">
                <a:solidFill>
                  <a:srgbClr val="FFD28A"/>
                </a:solidFill>
                <a:latin typeface="Courier New" pitchFamily="34" charset="0"/>
                <a:ea typeface="Courier New" pitchFamily="34" charset="-122"/>
                <a:cs typeface="Courier New" pitchFamily="34" charset="-120"/>
              </a:rPr>
              <a:t>2</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['bc1qrx4d48k7etw6cvq8czlmd8j0c5rwswccl3vk06', 'bc1qt4qgamxv55gm0lksl0aay3pkjvt02zy4h8j3lv']</a:t>
            </a:r>
            <a:endParaRPr lang="en-US" sz="850" dirty="0"/>
          </a:p>
        </p:txBody>
      </p:sp>
      <p:sp>
        <p:nvSpPr>
          <p:cNvPr id="15" name="Text 13"/>
          <p:cNvSpPr txBox="1"/>
          <p:nvPr/>
        </p:nvSpPr>
        <p:spPr>
          <a:xfrm>
            <a:off x="457200" y="353872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6" name="Text 14"/>
          <p:cNvSpPr txBox="1"/>
          <p:nvPr/>
        </p:nvSpPr>
        <p:spPr>
          <a:xfrm>
            <a:off x="457200" y="34747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scan 20: index 25 is missed; scan 30 finds it</a:t>
            </a:r>
            <a:endParaRPr lang="en-US" sz="1150" dirty="0"/>
          </a:p>
        </p:txBody>
      </p:sp>
      <p:sp>
        <p:nvSpPr>
          <p:cNvPr id="17" name="Shape 15"/>
          <p:cNvSpPr/>
          <p:nvPr/>
        </p:nvSpPr>
        <p:spPr>
          <a:xfrm>
            <a:off x="457200" y="3749040"/>
            <a:ext cx="8229600" cy="749808"/>
          </a:xfrm>
          <a:prstGeom prst="roundRect">
            <a:avLst>
              <a:gd name="adj" fmla="val 12195"/>
            </a:avLst>
          </a:prstGeom>
          <a:solidFill>
            <a:srgbClr val="23272E"/>
          </a:solidFill>
          <a:ln w="12700">
            <a:solidFill>
              <a:srgbClr val="23272E"/>
            </a:solidFill>
            <a:prstDash val="solid"/>
          </a:ln>
        </p:spPr>
      </p:sp>
      <p:sp>
        <p:nvSpPr>
          <p:cNvPr id="18" name="Text 16"/>
          <p:cNvSpPr txBox="1"/>
          <p:nvPr/>
        </p:nvSpPr>
        <p:spPr>
          <a:xfrm>
            <a:off x="640080" y="3867912"/>
            <a:ext cx="7863840" cy="512064"/>
          </a:xfrm>
          <a:prstGeom prst="rect">
            <a:avLst/>
          </a:prstGeom>
          <a:noFill/>
          <a:ln/>
        </p:spPr>
        <p:txBody>
          <a:bodyPr wrap="square" lIns="0" tIns="0" rIns="0" bIns="0" rtlCol="0" anchor="t"/>
          <a:lstStyle/>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scan_with_gap({</a:t>
            </a:r>
            <a:r>
              <a:rPr lang="en-US" sz="720" dirty="0">
                <a:solidFill>
                  <a:srgbClr val="FFD28A"/>
                </a:solidFill>
                <a:latin typeface="Courier New" pitchFamily="34" charset="0"/>
                <a:ea typeface="Courier New" pitchFamily="34" charset="-122"/>
                <a:cs typeface="Courier New" pitchFamily="34" charset="-120"/>
              </a:rPr>
              <a:t>0</a:t>
            </a:r>
            <a:r>
              <a:rPr lang="en-US" sz="720" dirty="0">
                <a:solidFill>
                  <a:srgbClr val="E6EDF3"/>
                </a:solidFill>
                <a:latin typeface="Courier New" pitchFamily="34" charset="0"/>
                <a:ea typeface="Courier New" pitchFamily="34" charset="-122"/>
                <a:cs typeface="Courier New" pitchFamily="34" charset="-120"/>
              </a:rPr>
              <a:t>, </a:t>
            </a:r>
            <a:r>
              <a:rPr lang="en-US" sz="720" dirty="0">
                <a:solidFill>
                  <a:srgbClr val="FFD28A"/>
                </a:solidFill>
                <a:latin typeface="Courier New" pitchFamily="34" charset="0"/>
                <a:ea typeface="Courier New" pitchFamily="34" charset="-122"/>
                <a:cs typeface="Courier New" pitchFamily="34" charset="-120"/>
              </a:rPr>
              <a:t>3</a:t>
            </a:r>
            <a:r>
              <a:rPr lang="en-US" sz="720" dirty="0">
                <a:solidFill>
                  <a:srgbClr val="E6EDF3"/>
                </a:solidFill>
                <a:latin typeface="Courier New" pitchFamily="34" charset="0"/>
                <a:ea typeface="Courier New" pitchFamily="34" charset="-122"/>
                <a:cs typeface="Courier New" pitchFamily="34" charset="-120"/>
              </a:rPr>
              <a:t>, </a:t>
            </a:r>
            <a:r>
              <a:rPr lang="en-US" sz="720" dirty="0">
                <a:solidFill>
                  <a:srgbClr val="FFD28A"/>
                </a:solidFill>
                <a:latin typeface="Courier New" pitchFamily="34" charset="0"/>
                <a:ea typeface="Courier New" pitchFamily="34" charset="-122"/>
                <a:cs typeface="Courier New" pitchFamily="34" charset="-120"/>
              </a:rPr>
              <a:t>25</a:t>
            </a:r>
            <a:r>
              <a:rPr lang="en-US" sz="720" dirty="0">
                <a:solidFill>
                  <a:srgbClr val="E6EDF3"/>
                </a:solidFill>
                <a:latin typeface="Courier New" pitchFamily="34" charset="0"/>
                <a:ea typeface="Courier New" pitchFamily="34" charset="-122"/>
                <a:cs typeface="Courier New" pitchFamily="34" charset="-120"/>
              </a:rPr>
              <a:t>}, </a:t>
            </a:r>
            <a:r>
              <a:rPr lang="en-US" sz="720" dirty="0">
                <a:solidFill>
                  <a:srgbClr val="FFD28A"/>
                </a:solidFill>
                <a:latin typeface="Courier New" pitchFamily="34" charset="0"/>
                <a:ea typeface="Courier New" pitchFamily="34" charset="-122"/>
                <a:cs typeface="Courier New" pitchFamily="34" charset="-120"/>
              </a:rPr>
              <a:t>20</a:t>
            </a: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[0, 3]</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scan_with_gap({</a:t>
            </a:r>
            <a:r>
              <a:rPr lang="en-US" sz="720" dirty="0">
                <a:solidFill>
                  <a:srgbClr val="FFD28A"/>
                </a:solidFill>
                <a:latin typeface="Courier New" pitchFamily="34" charset="0"/>
                <a:ea typeface="Courier New" pitchFamily="34" charset="-122"/>
                <a:cs typeface="Courier New" pitchFamily="34" charset="-120"/>
              </a:rPr>
              <a:t>0</a:t>
            </a:r>
            <a:r>
              <a:rPr lang="en-US" sz="720" dirty="0">
                <a:solidFill>
                  <a:srgbClr val="E6EDF3"/>
                </a:solidFill>
                <a:latin typeface="Courier New" pitchFamily="34" charset="0"/>
                <a:ea typeface="Courier New" pitchFamily="34" charset="-122"/>
                <a:cs typeface="Courier New" pitchFamily="34" charset="-120"/>
              </a:rPr>
              <a:t>, </a:t>
            </a:r>
            <a:r>
              <a:rPr lang="en-US" sz="720" dirty="0">
                <a:solidFill>
                  <a:srgbClr val="FFD28A"/>
                </a:solidFill>
                <a:latin typeface="Courier New" pitchFamily="34" charset="0"/>
                <a:ea typeface="Courier New" pitchFamily="34" charset="-122"/>
                <a:cs typeface="Courier New" pitchFamily="34" charset="-120"/>
              </a:rPr>
              <a:t>3</a:t>
            </a:r>
            <a:r>
              <a:rPr lang="en-US" sz="720" dirty="0">
                <a:solidFill>
                  <a:srgbClr val="E6EDF3"/>
                </a:solidFill>
                <a:latin typeface="Courier New" pitchFamily="34" charset="0"/>
                <a:ea typeface="Courier New" pitchFamily="34" charset="-122"/>
                <a:cs typeface="Courier New" pitchFamily="34" charset="-120"/>
              </a:rPr>
              <a:t>, </a:t>
            </a:r>
            <a:r>
              <a:rPr lang="en-US" sz="720" dirty="0">
                <a:solidFill>
                  <a:srgbClr val="FFD28A"/>
                </a:solidFill>
                <a:latin typeface="Courier New" pitchFamily="34" charset="0"/>
                <a:ea typeface="Courier New" pitchFamily="34" charset="-122"/>
                <a:cs typeface="Courier New" pitchFamily="34" charset="-120"/>
              </a:rPr>
              <a:t>25</a:t>
            </a:r>
            <a:r>
              <a:rPr lang="en-US" sz="720" dirty="0">
                <a:solidFill>
                  <a:srgbClr val="E6EDF3"/>
                </a:solidFill>
                <a:latin typeface="Courier New" pitchFamily="34" charset="0"/>
                <a:ea typeface="Courier New" pitchFamily="34" charset="-122"/>
                <a:cs typeface="Courier New" pitchFamily="34" charset="-120"/>
              </a:rPr>
              <a:t>}, </a:t>
            </a:r>
            <a:r>
              <a:rPr lang="en-US" sz="720" dirty="0">
                <a:solidFill>
                  <a:srgbClr val="FFD28A"/>
                </a:solidFill>
                <a:latin typeface="Courier New" pitchFamily="34" charset="0"/>
                <a:ea typeface="Courier New" pitchFamily="34" charset="-122"/>
                <a:cs typeface="Courier New" pitchFamily="34" charset="-120"/>
              </a:rPr>
              <a:t>30</a:t>
            </a: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[0, 3, 25]</a:t>
            </a:r>
            <a:endParaRPr lang="en-US" sz="720" dirty="0"/>
          </a:p>
        </p:txBody>
      </p:sp>
      <p:sp>
        <p:nvSpPr>
          <p:cNvPr id="19" name="Text 17"/>
          <p:cNvSpPr txBox="1"/>
          <p:nvPr/>
        </p:nvSpPr>
        <p:spPr>
          <a:xfrm>
            <a:off x="457200" y="451713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Publish the xpub; the keys never feel the internet</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23</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200,000 BTC in a forgotten wallet file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2014-03-21</a:t>
            </a:r>
            <a:endParaRPr lang="en-US" sz="1300" dirty="0"/>
          </a:p>
        </p:txBody>
      </p:sp>
      <p:sp>
        <p:nvSpPr>
          <p:cNvPr id="6" name="Shape 4"/>
          <p:cNvSpPr/>
          <p:nvPr/>
        </p:nvSpPr>
        <p:spPr>
          <a:xfrm>
            <a:off x="457200" y="1463040"/>
            <a:ext cx="2590800" cy="1097280"/>
          </a:xfrm>
          <a:prstGeom prst="roundRect">
            <a:avLst>
              <a:gd name="adj" fmla="val 6667"/>
            </a:avLst>
          </a:prstGeom>
          <a:solidFill>
            <a:srgbClr val="F2ECE1"/>
          </a:solidFill>
          <a:ln w="12700">
            <a:solidFill>
              <a:srgbClr val="DFD6C7"/>
            </a:solidFill>
            <a:prstDash val="solid"/>
          </a:ln>
        </p:spPr>
      </p:sp>
      <p:sp>
        <p:nvSpPr>
          <p:cNvPr id="7" name="Text 5"/>
          <p:cNvSpPr txBox="1"/>
          <p:nvPr/>
        </p:nvSpPr>
        <p:spPr>
          <a:xfrm>
            <a:off x="566928" y="1536192"/>
            <a:ext cx="2371344" cy="548640"/>
          </a:xfrm>
          <a:prstGeom prst="rect">
            <a:avLst/>
          </a:prstGeom>
          <a:noFill/>
          <a:ln/>
        </p:spPr>
        <p:txBody>
          <a:bodyPr wrap="square" lIns="0" tIns="0" rIns="0" bIns="0" rtlCol="0" anchor="ctr"/>
          <a:lstStyle/>
          <a:p>
            <a:pPr indent="0" marL="0">
              <a:buNone/>
            </a:pPr>
            <a:r>
              <a:rPr lang="en-US" sz="2200" b="1" dirty="0">
                <a:solidFill>
                  <a:srgbClr val="D97A14"/>
                </a:solidFill>
                <a:latin typeface="Cambria" pitchFamily="34" charset="0"/>
                <a:ea typeface="Cambria" pitchFamily="34" charset="-122"/>
                <a:cs typeface="Cambria" pitchFamily="34" charset="-120"/>
              </a:rPr>
              <a:t>200,000 BTC</a:t>
            </a:r>
            <a:endParaRPr lang="en-US" sz="2200" dirty="0"/>
          </a:p>
        </p:txBody>
      </p:sp>
      <p:sp>
        <p:nvSpPr>
          <p:cNvPr id="8" name="Text 6"/>
          <p:cNvSpPr txBox="1"/>
          <p:nvPr/>
        </p:nvSpPr>
        <p:spPr>
          <a:xfrm>
            <a:off x="566928" y="203362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reported found, three weeks into bankruptcy</a:t>
            </a:r>
            <a:endParaRPr lang="en-US" sz="1150" dirty="0"/>
          </a:p>
        </p:txBody>
      </p:sp>
      <p:sp>
        <p:nvSpPr>
          <p:cNvPr id="9" name="Shape 7"/>
          <p:cNvSpPr/>
          <p:nvPr/>
        </p:nvSpPr>
        <p:spPr>
          <a:xfrm>
            <a:off x="3276600" y="1463040"/>
            <a:ext cx="2590800" cy="1097280"/>
          </a:xfrm>
          <a:prstGeom prst="roundRect">
            <a:avLst>
              <a:gd name="adj" fmla="val 6667"/>
            </a:avLst>
          </a:prstGeom>
          <a:solidFill>
            <a:srgbClr val="F2ECE1"/>
          </a:solidFill>
          <a:ln w="12700">
            <a:solidFill>
              <a:srgbClr val="DFD6C7"/>
            </a:solidFill>
            <a:prstDash val="solid"/>
          </a:ln>
        </p:spPr>
      </p:sp>
      <p:sp>
        <p:nvSpPr>
          <p:cNvPr id="10" name="Text 8"/>
          <p:cNvSpPr txBox="1"/>
          <p:nvPr/>
        </p:nvSpPr>
        <p:spPr>
          <a:xfrm>
            <a:off x="3386328" y="1536192"/>
            <a:ext cx="2371344" cy="54864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2011</a:t>
            </a:r>
            <a:endParaRPr lang="en-US" sz="2800" dirty="0"/>
          </a:p>
        </p:txBody>
      </p:sp>
      <p:sp>
        <p:nvSpPr>
          <p:cNvPr id="11" name="Text 9"/>
          <p:cNvSpPr txBox="1"/>
          <p:nvPr/>
        </p:nvSpPr>
        <p:spPr>
          <a:xfrm>
            <a:off x="3386328" y="203362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when the old-format wallet file was last used</a:t>
            </a:r>
            <a:endParaRPr lang="en-US" sz="1150" dirty="0"/>
          </a:p>
        </p:txBody>
      </p:sp>
      <p:sp>
        <p:nvSpPr>
          <p:cNvPr id="12" name="Shape 10"/>
          <p:cNvSpPr/>
          <p:nvPr/>
        </p:nvSpPr>
        <p:spPr>
          <a:xfrm>
            <a:off x="6096000" y="1463040"/>
            <a:ext cx="2590800" cy="1097280"/>
          </a:xfrm>
          <a:prstGeom prst="roundRect">
            <a:avLst>
              <a:gd name="adj" fmla="val 6667"/>
            </a:avLst>
          </a:prstGeom>
          <a:solidFill>
            <a:srgbClr val="F2ECE1"/>
          </a:solidFill>
          <a:ln w="12700">
            <a:solidFill>
              <a:srgbClr val="DFD6C7"/>
            </a:solidFill>
            <a:prstDash val="solid"/>
          </a:ln>
        </p:spPr>
      </p:sp>
      <p:sp>
        <p:nvSpPr>
          <p:cNvPr id="13" name="Text 11"/>
          <p:cNvSpPr txBox="1"/>
          <p:nvPr/>
        </p:nvSpPr>
        <p:spPr>
          <a:xfrm>
            <a:off x="6205728" y="1536192"/>
            <a:ext cx="2371344" cy="54864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10+ yrs</a:t>
            </a:r>
            <a:endParaRPr lang="en-US" sz="2800" dirty="0"/>
          </a:p>
        </p:txBody>
      </p:sp>
      <p:sp>
        <p:nvSpPr>
          <p:cNvPr id="14" name="Text 12"/>
          <p:cNvSpPr txBox="1"/>
          <p:nvPr/>
        </p:nvSpPr>
        <p:spPr>
          <a:xfrm>
            <a:off x="6205728" y="203362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later, those coins began repaying creditors</a:t>
            </a:r>
            <a:endParaRPr lang="en-US" sz="1150" dirty="0"/>
          </a:p>
        </p:txBody>
      </p:sp>
      <p:sp>
        <p:nvSpPr>
          <p:cNvPr id="15" name="Shape 13"/>
          <p:cNvSpPr/>
          <p:nvPr/>
        </p:nvSpPr>
        <p:spPr>
          <a:xfrm>
            <a:off x="457200" y="296494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731520" y="2743200"/>
            <a:ext cx="7955280" cy="57150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file written by software two generations older still held spendable keys</a:t>
            </a:r>
            <a:endParaRPr lang="en-US" sz="1250" dirty="0"/>
          </a:p>
        </p:txBody>
      </p:sp>
      <p:sp>
        <p:nvSpPr>
          <p:cNvPr id="17" name="Shape 15"/>
          <p:cNvSpPr/>
          <p:nvPr/>
        </p:nvSpPr>
        <p:spPr>
          <a:xfrm>
            <a:off x="457200" y="3536442"/>
            <a:ext cx="128016" cy="128016"/>
          </a:xfrm>
          <a:prstGeom prst="diamond">
            <a:avLst/>
          </a:prstGeom>
          <a:solidFill>
            <a:srgbClr val="D97A14"/>
          </a:solidFill>
          <a:ln w="12700">
            <a:solidFill>
              <a:srgbClr val="D97A14"/>
            </a:solidFill>
            <a:prstDash val="solid"/>
          </a:ln>
        </p:spPr>
      </p:sp>
      <p:sp>
        <p:nvSpPr>
          <p:cNvPr id="18" name="Text 16"/>
          <p:cNvSpPr txBox="1"/>
          <p:nvPr/>
        </p:nvSpPr>
        <p:spPr>
          <a:xfrm>
            <a:off x="731520" y="3314700"/>
            <a:ext cx="7955280" cy="57150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Backups do not expire - label them, test them, never discard them blindly</a:t>
            </a:r>
            <a:endParaRPr lang="en-US" sz="1250" dirty="0"/>
          </a:p>
        </p:txBody>
      </p:sp>
      <p:sp>
        <p:nvSpPr>
          <p:cNvPr id="19" name="Shape 17"/>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20" name="Text 18"/>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Mt. Gox, weeks into its …</a:t>
            </a:r>
            <a:endParaRPr lang="en-US" sz="750" dirty="0"/>
          </a:p>
        </p:txBody>
      </p:sp>
      <p:sp>
        <p:nvSpPr>
          <p:cNvPr id="21" name="Shape 19"/>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22" name="Text 20"/>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an old-format wallet f…</a:t>
            </a:r>
            <a:endParaRPr lang="en-US" sz="750" dirty="0"/>
          </a:p>
        </p:txBody>
      </p:sp>
      <p:sp>
        <p:nvSpPr>
          <p:cNvPr id="23" name="Shape 21"/>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24" name="Text 22"/>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2014-03-21</a:t>
            </a:r>
            <a:endParaRPr lang="en-US" sz="750" dirty="0"/>
          </a:p>
        </p:txBody>
      </p:sp>
      <p:sp>
        <p:nvSpPr>
          <p:cNvPr id="25" name="Shape 23"/>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26" name="Text 24"/>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MtGox finds 200,000 Bitcoin (The Register)</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theregister.com</a:t>
            </a:r>
            <a:endParaRPr lang="en-US" sz="75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Backups do not expire - treat old wallet files as live keys</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23</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Split the secret, not the risk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Shamir: three of five recovers; two learn nothing</a:t>
            </a:r>
            <a:endParaRPr lang="en-US" sz="1300" dirty="0"/>
          </a:p>
        </p:txBody>
      </p:sp>
      <p:sp>
        <p:nvSpPr>
          <p:cNvPr id="6" name="Shape 4"/>
          <p:cNvSpPr/>
          <p:nvPr/>
        </p:nvSpPr>
        <p:spPr>
          <a:xfrm>
            <a:off x="457200" y="145389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538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1732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Split the seed into five shares, threshold three</a:t>
            </a:r>
            <a:endParaRPr lang="en-US" sz="1050" dirty="0"/>
          </a:p>
        </p:txBody>
      </p:sp>
      <p:sp>
        <p:nvSpPr>
          <p:cNvPr id="9" name="Shape 7"/>
          <p:cNvSpPr/>
          <p:nvPr/>
        </p:nvSpPr>
        <p:spPr>
          <a:xfrm>
            <a:off x="457200" y="203301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330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9644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Any three reconstruct it exactly</a:t>
            </a:r>
            <a:endParaRPr lang="en-US" sz="1050" dirty="0"/>
          </a:p>
        </p:txBody>
      </p:sp>
      <p:sp>
        <p:nvSpPr>
          <p:cNvPr id="12" name="Shape 10"/>
          <p:cNvSpPr/>
          <p:nvPr/>
        </p:nvSpPr>
        <p:spPr>
          <a:xfrm>
            <a:off x="457200" y="26121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2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556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Any two: provably nothing - the run shows both</a:t>
            </a:r>
            <a:endParaRPr lang="en-US" sz="1050" dirty="0"/>
          </a:p>
        </p:txBody>
      </p:sp>
      <p:sp>
        <p:nvSpPr>
          <p:cNvPr id="15" name="Text 13"/>
          <p:cNvSpPr txBox="1"/>
          <p:nvPr/>
        </p:nvSpPr>
        <p:spPr>
          <a:xfrm>
            <a:off x="3931920" y="1143000"/>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split, recover, and fail honestly</a:t>
            </a:r>
            <a:endParaRPr lang="en-US" sz="1150" dirty="0"/>
          </a:p>
        </p:txBody>
      </p:sp>
      <p:sp>
        <p:nvSpPr>
          <p:cNvPr id="16" name="Shape 14"/>
          <p:cNvSpPr/>
          <p:nvPr/>
        </p:nvSpPr>
        <p:spPr>
          <a:xfrm>
            <a:off x="3931920" y="1417320"/>
            <a:ext cx="4754880" cy="1600200"/>
          </a:xfrm>
          <a:prstGeom prst="roundRect">
            <a:avLst>
              <a:gd name="adj" fmla="val 5714"/>
            </a:avLst>
          </a:prstGeom>
          <a:solidFill>
            <a:srgbClr val="23272E"/>
          </a:solidFill>
          <a:ln w="12700">
            <a:solidFill>
              <a:srgbClr val="23272E"/>
            </a:solidFill>
            <a:prstDash val="solid"/>
          </a:ln>
        </p:spPr>
      </p:sp>
      <p:sp>
        <p:nvSpPr>
          <p:cNvPr id="17" name="Text 15"/>
          <p:cNvSpPr txBox="1"/>
          <p:nvPr/>
        </p:nvSpPr>
        <p:spPr>
          <a:xfrm>
            <a:off x="4114800" y="1536192"/>
            <a:ext cx="4389120" cy="136245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SHARES = shamir_split(0x1337c0de, </a:t>
            </a:r>
            <a:r>
              <a:rPr lang="en-US" sz="850" dirty="0">
                <a:solidFill>
                  <a:srgbClr val="FFD28A"/>
                </a:solidFill>
                <a:latin typeface="Courier New" pitchFamily="34" charset="0"/>
                <a:ea typeface="Courier New" pitchFamily="34" charset="-122"/>
                <a:cs typeface="Courier New" pitchFamily="34" charset="-120"/>
              </a:rPr>
              <a:t>3</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5</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11</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22</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len(SHARES)</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5</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shamir_combine([SHARES[</a:t>
            </a:r>
            <a:r>
              <a:rPr lang="en-US" sz="850" dirty="0">
                <a:solidFill>
                  <a:srgbClr val="FFD28A"/>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 SHARES[</a:t>
            </a:r>
            <a:r>
              <a:rPr lang="en-US" sz="850" dirty="0">
                <a:solidFill>
                  <a:srgbClr val="FFD28A"/>
                </a:solidFill>
                <a:latin typeface="Courier New" pitchFamily="34" charset="0"/>
                <a:ea typeface="Courier New" pitchFamily="34" charset="-122"/>
                <a:cs typeface="Courier New" pitchFamily="34" charset="-120"/>
              </a:rPr>
              <a:t>2</a:t>
            </a:r>
            <a:r>
              <a:rPr lang="en-US" sz="850" dirty="0">
                <a:solidFill>
                  <a:srgbClr val="E6EDF3"/>
                </a:solidFill>
                <a:latin typeface="Courier New" pitchFamily="34" charset="0"/>
                <a:ea typeface="Courier New" pitchFamily="34" charset="-122"/>
                <a:cs typeface="Courier New" pitchFamily="34" charset="-120"/>
              </a:rPr>
              <a:t>], SHARES[</a:t>
            </a:r>
            <a:r>
              <a:rPr lang="en-US" sz="850" dirty="0">
                <a:solidFill>
                  <a:srgbClr val="FFD28A"/>
                </a:solidFill>
                <a:latin typeface="Courier New" pitchFamily="34" charset="0"/>
                <a:ea typeface="Courier New" pitchFamily="34" charset="-122"/>
                <a:cs typeface="Courier New" pitchFamily="34" charset="-120"/>
              </a:rPr>
              <a:t>4</a:t>
            </a:r>
            <a:r>
              <a:rPr lang="en-US" sz="850" dirty="0">
                <a:solidFill>
                  <a:srgbClr val="E6EDF3"/>
                </a:solidFill>
                <a:latin typeface="Courier New" pitchFamily="34" charset="0"/>
                <a:ea typeface="Courier New" pitchFamily="34" charset="-122"/>
                <a:cs typeface="Courier New" pitchFamily="34" charset="-120"/>
              </a:rPr>
              <a:t>]]) == 0x1337c0de</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shamir_combine([SHARES[</a:t>
            </a:r>
            <a:r>
              <a:rPr lang="en-US" sz="850" dirty="0">
                <a:solidFill>
                  <a:srgbClr val="FFD28A"/>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 SHARES[</a:t>
            </a:r>
            <a:r>
              <a:rPr lang="en-US" sz="850" dirty="0">
                <a:solidFill>
                  <a:srgbClr val="FFD28A"/>
                </a:solidFill>
                <a:latin typeface="Courier New" pitchFamily="34" charset="0"/>
                <a:ea typeface="Courier New" pitchFamily="34" charset="-122"/>
                <a:cs typeface="Courier New" pitchFamily="34" charset="-120"/>
              </a:rPr>
              <a:t>2</a:t>
            </a:r>
            <a:r>
              <a:rPr lang="en-US" sz="850" dirty="0">
                <a:solidFill>
                  <a:srgbClr val="E6EDF3"/>
                </a:solidFill>
                <a:latin typeface="Courier New" pitchFamily="34" charset="0"/>
                <a:ea typeface="Courier New" pitchFamily="34" charset="-122"/>
                <a:cs typeface="Courier New" pitchFamily="34" charset="-120"/>
              </a:rPr>
              <a:t>]]) == 0x1337c0de</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False</a:t>
            </a:r>
            <a:endParaRPr lang="en-US" sz="850" dirty="0"/>
          </a:p>
        </p:txBody>
      </p:sp>
      <p:sp>
        <p:nvSpPr>
          <p:cNvPr id="18" name="Text 16"/>
          <p:cNvSpPr txBox="1"/>
          <p:nvPr/>
        </p:nvSpPr>
        <p:spPr>
          <a:xfrm>
            <a:off x="3931920" y="3035808"/>
            <a:ext cx="475488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9" name="Text 17"/>
          <p:cNvSpPr txBox="1"/>
          <p:nvPr/>
        </p:nvSpPr>
        <p:spPr>
          <a:xfrm>
            <a:off x="457200" y="306324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SLIP-39 does this in words; Codex32 by hand on paper</a:t>
            </a:r>
            <a:endParaRPr lang="en-US" sz="1150" dirty="0"/>
          </a:p>
        </p:txBody>
      </p:sp>
      <p:sp>
        <p:nvSpPr>
          <p:cNvPr id="20" name="Shape 18"/>
          <p:cNvSpPr/>
          <p:nvPr/>
        </p:nvSpPr>
        <p:spPr>
          <a:xfrm>
            <a:off x="457200" y="3337560"/>
            <a:ext cx="8229600" cy="1143000"/>
          </a:xfrm>
          <a:prstGeom prst="roundRect">
            <a:avLst>
              <a:gd name="adj" fmla="val 8000"/>
            </a:avLst>
          </a:prstGeom>
          <a:solidFill>
            <a:srgbClr val="23272E"/>
          </a:solidFill>
          <a:ln w="12700">
            <a:solidFill>
              <a:srgbClr val="23272E"/>
            </a:solidFill>
            <a:prstDash val="solid"/>
          </a:ln>
        </p:spPr>
      </p:sp>
      <p:sp>
        <p:nvSpPr>
          <p:cNvPr id="21" name="Text 19"/>
          <p:cNvSpPr txBox="1"/>
          <p:nvPr/>
        </p:nvSpPr>
        <p:spPr>
          <a:xfrm>
            <a:off x="640080" y="3456432"/>
            <a:ext cx="7863840" cy="905256"/>
          </a:xfrm>
          <a:prstGeom prst="rect">
            <a:avLst/>
          </a:prstGeom>
          <a:noFill/>
          <a:ln/>
        </p:spPr>
        <p:txBody>
          <a:bodyPr wrap="square" lIns="0" tIns="0" rIns="0" bIns="0" rtlCol="0" anchor="t"/>
          <a:lstStyle/>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SHARES = shamir_split(0x1337c0de, </a:t>
            </a:r>
            <a:r>
              <a:rPr lang="en-US" sz="750" dirty="0">
                <a:solidFill>
                  <a:srgbClr val="FFD28A"/>
                </a:solidFill>
                <a:latin typeface="Courier New" pitchFamily="34" charset="0"/>
                <a:ea typeface="Courier New" pitchFamily="34" charset="-122"/>
                <a:cs typeface="Courier New" pitchFamily="34" charset="-120"/>
              </a:rPr>
              <a:t>3</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5</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11</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22</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[x </a:t>
            </a:r>
            <a:r>
              <a:rPr lang="en-US" sz="750" b="1" dirty="0">
                <a:solidFill>
                  <a:srgbClr val="F2A860"/>
                </a:solidFill>
                <a:latin typeface="Courier New" pitchFamily="34" charset="0"/>
                <a:ea typeface="Courier New" pitchFamily="34" charset="-122"/>
                <a:cs typeface="Courier New" pitchFamily="34" charset="-120"/>
              </a:rPr>
              <a:t>for</a:t>
            </a:r>
            <a:r>
              <a:rPr lang="en-US" sz="750" dirty="0">
                <a:solidFill>
                  <a:srgbClr val="E6EDF3"/>
                </a:solidFill>
                <a:latin typeface="Courier New" pitchFamily="34" charset="0"/>
                <a:ea typeface="Courier New" pitchFamily="34" charset="-122"/>
                <a:cs typeface="Courier New" pitchFamily="34" charset="-120"/>
              </a:rPr>
              <a:t> x, y </a:t>
            </a:r>
            <a:r>
              <a:rPr lang="en-US" sz="750" b="1" dirty="0">
                <a:solidFill>
                  <a:srgbClr val="F2A860"/>
                </a:solidFill>
                <a:latin typeface="Courier New" pitchFamily="34" charset="0"/>
                <a:ea typeface="Courier New" pitchFamily="34" charset="-122"/>
                <a:cs typeface="Courier New" pitchFamily="34" charset="-120"/>
              </a:rPr>
              <a:t>in</a:t>
            </a:r>
            <a:r>
              <a:rPr lang="en-US" sz="750" dirty="0">
                <a:solidFill>
                  <a:srgbClr val="E6EDF3"/>
                </a:solidFill>
                <a:latin typeface="Courier New" pitchFamily="34" charset="0"/>
                <a:ea typeface="Courier New" pitchFamily="34" charset="-122"/>
                <a:cs typeface="Courier New" pitchFamily="34" charset="-120"/>
              </a:rPr>
              <a:t> SHARES]</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[1, 2, 3, 4, 5]</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shamir_combine(SHARES[:</a:t>
            </a:r>
            <a:r>
              <a:rPr lang="en-US" sz="750" dirty="0">
                <a:solidFill>
                  <a:srgbClr val="FFD28A"/>
                </a:solidFill>
                <a:latin typeface="Courier New" pitchFamily="34" charset="0"/>
                <a:ea typeface="Courier New" pitchFamily="34" charset="-122"/>
                <a:cs typeface="Courier New" pitchFamily="34" charset="-120"/>
              </a:rPr>
              <a:t>3</a:t>
            </a:r>
            <a:r>
              <a:rPr lang="en-US" sz="750" dirty="0">
                <a:solidFill>
                  <a:srgbClr val="E6EDF3"/>
                </a:solidFill>
                <a:latin typeface="Courier New" pitchFamily="34" charset="0"/>
                <a:ea typeface="Courier New" pitchFamily="34" charset="-122"/>
                <a:cs typeface="Courier New" pitchFamily="34" charset="-120"/>
              </a:rPr>
              <a:t>]) == 0x1337c0de</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True</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shamir_combine(SHARES[:</a:t>
            </a:r>
            <a:r>
              <a:rPr lang="en-US" sz="750" dirty="0">
                <a:solidFill>
                  <a:srgbClr val="FFD28A"/>
                </a:solidFill>
                <a:latin typeface="Courier New" pitchFamily="34" charset="0"/>
                <a:ea typeface="Courier New" pitchFamily="34" charset="-122"/>
                <a:cs typeface="Courier New" pitchFamily="34" charset="-120"/>
              </a:rPr>
              <a:t>2</a:t>
            </a:r>
            <a:r>
              <a:rPr lang="en-US" sz="750" dirty="0">
                <a:solidFill>
                  <a:srgbClr val="E6EDF3"/>
                </a:solidFill>
                <a:latin typeface="Courier New" pitchFamily="34" charset="0"/>
                <a:ea typeface="Courier New" pitchFamily="34" charset="-122"/>
                <a:cs typeface="Courier New" pitchFamily="34" charset="-120"/>
              </a:rPr>
              <a:t>]) == 0x1337c0de</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False</a:t>
            </a:r>
            <a:endParaRPr lang="en-US" sz="750" dirty="0"/>
          </a:p>
        </p:txBody>
      </p:sp>
      <p:sp>
        <p:nvSpPr>
          <p:cNvPr id="22" name="Text 20"/>
          <p:cNvSpPr txBox="1"/>
          <p:nvPr/>
        </p:nvSpPr>
        <p:spPr>
          <a:xfrm>
            <a:off x="457200" y="449884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Three of five recovers; two of five learns nothing</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23</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Test the backup, not your luck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closing discipline, executable</a:t>
            </a:r>
            <a:endParaRPr lang="en-US" sz="1300" dirty="0"/>
          </a:p>
        </p:txBody>
      </p:sp>
      <p:sp>
        <p:nvSpPr>
          <p:cNvPr id="6" name="Text 4"/>
          <p:cNvSpPr txBox="1"/>
          <p:nvPr/>
        </p:nvSpPr>
        <p:spPr>
          <a:xfrm>
            <a:off x="457200" y="114300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restore-drill: right words verify; one wrong word is caught</a:t>
            </a:r>
            <a:endParaRPr lang="en-US" sz="1150" dirty="0"/>
          </a:p>
        </p:txBody>
      </p:sp>
      <p:sp>
        <p:nvSpPr>
          <p:cNvPr id="7" name="Shape 5"/>
          <p:cNvSpPr/>
          <p:nvPr/>
        </p:nvSpPr>
        <p:spPr>
          <a:xfrm>
            <a:off x="457200" y="1417320"/>
            <a:ext cx="8229600" cy="1143000"/>
          </a:xfrm>
          <a:prstGeom prst="roundRect">
            <a:avLst>
              <a:gd name="adj" fmla="val 8000"/>
            </a:avLst>
          </a:prstGeom>
          <a:solidFill>
            <a:srgbClr val="23272E"/>
          </a:solidFill>
          <a:ln w="12700">
            <a:solidFill>
              <a:srgbClr val="23272E"/>
            </a:solidFill>
            <a:prstDash val="solid"/>
          </a:ln>
        </p:spPr>
      </p:sp>
      <p:sp>
        <p:nvSpPr>
          <p:cNvPr id="8" name="Text 6"/>
          <p:cNvSpPr txBox="1"/>
          <p:nvPr/>
        </p:nvSpPr>
        <p:spPr>
          <a:xfrm>
            <a:off x="640080" y="1536192"/>
            <a:ext cx="7863840" cy="905256"/>
          </a:xfrm>
          <a:prstGeom prst="rect">
            <a:avLst/>
          </a:prstGeom>
          <a:noFill/>
          <a:ln/>
        </p:spPr>
        <p:txBody>
          <a:bodyPr wrap="square" lIns="0" tIns="0" rIns="0" bIns="0" rtlCol="0" anchor="t"/>
          <a:lstStyle/>
          <a:p>
            <a:pPr indent="0" marL="0">
              <a:buNone/>
            </a:pPr>
            <a:r>
              <a:rPr lang="en-US" sz="880" b="1" dirty="0">
                <a:solidFill>
                  <a:srgbClr val="D97A14"/>
                </a:solidFill>
                <a:latin typeface="Courier New" pitchFamily="34" charset="0"/>
                <a:ea typeface="Courier New" pitchFamily="34" charset="-122"/>
                <a:cs typeface="Courier New" pitchFamily="34" charset="-120"/>
              </a:rPr>
              <a:t>&gt;&gt;&gt; </a:t>
            </a:r>
            <a:r>
              <a:rPr lang="en-US" sz="880" dirty="0">
                <a:solidFill>
                  <a:srgbClr val="E6EDF3"/>
                </a:solidFill>
                <a:latin typeface="Courier New" pitchFamily="34" charset="0"/>
                <a:ea typeface="Courier New" pitchFamily="34" charset="-122"/>
                <a:cs typeface="Courier New" pitchFamily="34" charset="-120"/>
              </a:rPr>
              <a:t>mnemonic_to_seed(WORDS) == mnemonic_to_seed(WORDS)</a:t>
            </a:r>
            <a:endParaRPr lang="en-US" sz="880" dirty="0"/>
          </a:p>
          <a:p>
            <a:pPr indent="0" marL="0">
              <a:buNone/>
            </a:pPr>
            <a:r>
              <a:rPr lang="en-US" sz="880" dirty="0">
                <a:solidFill>
                  <a:srgbClr val="7EE787"/>
                </a:solidFill>
                <a:latin typeface="Courier New" pitchFamily="34" charset="0"/>
                <a:ea typeface="Courier New" pitchFamily="34" charset="-122"/>
                <a:cs typeface="Courier New" pitchFamily="34" charset="-120"/>
              </a:rPr>
              <a:t>True</a:t>
            </a:r>
            <a:endParaRPr lang="en-US" sz="880" dirty="0"/>
          </a:p>
          <a:p>
            <a:pPr indent="0" marL="0">
              <a:buNone/>
            </a:pPr>
            <a:r>
              <a:rPr lang="en-US" sz="880" b="1" dirty="0">
                <a:solidFill>
                  <a:srgbClr val="D97A14"/>
                </a:solidFill>
                <a:latin typeface="Courier New" pitchFamily="34" charset="0"/>
                <a:ea typeface="Courier New" pitchFamily="34" charset="-122"/>
                <a:cs typeface="Courier New" pitchFamily="34" charset="-120"/>
              </a:rPr>
              <a:t>&gt;&gt;&gt; </a:t>
            </a:r>
            <a:r>
              <a:rPr lang="en-US" sz="880" dirty="0">
                <a:solidFill>
                  <a:srgbClr val="E6EDF3"/>
                </a:solidFill>
                <a:latin typeface="Courier New" pitchFamily="34" charset="0"/>
                <a:ea typeface="Courier New" pitchFamily="34" charset="-122"/>
                <a:cs typeface="Courier New" pitchFamily="34" charset="-120"/>
              </a:rPr>
              <a:t>mnemonic_to_entropy(WORDS)[</a:t>
            </a:r>
            <a:r>
              <a:rPr lang="en-US" sz="880" dirty="0">
                <a:solidFill>
                  <a:srgbClr val="FFD28A"/>
                </a:solidFill>
                <a:latin typeface="Courier New" pitchFamily="34" charset="0"/>
                <a:ea typeface="Courier New" pitchFamily="34" charset="-122"/>
                <a:cs typeface="Courier New" pitchFamily="34" charset="-120"/>
              </a:rPr>
              <a:t>1</a:t>
            </a:r>
            <a:r>
              <a:rPr lang="en-US" sz="880" dirty="0">
                <a:solidFill>
                  <a:srgbClr val="E6EDF3"/>
                </a:solidFill>
                <a:latin typeface="Courier New" pitchFamily="34" charset="0"/>
                <a:ea typeface="Courier New" pitchFamily="34" charset="-122"/>
                <a:cs typeface="Courier New" pitchFamily="34" charset="-120"/>
              </a:rPr>
              <a:t>]</a:t>
            </a:r>
            <a:endParaRPr lang="en-US" sz="880" dirty="0"/>
          </a:p>
          <a:p>
            <a:pPr indent="0" marL="0">
              <a:buNone/>
            </a:pPr>
            <a:r>
              <a:rPr lang="en-US" sz="880" dirty="0">
                <a:solidFill>
                  <a:srgbClr val="7EE787"/>
                </a:solidFill>
                <a:latin typeface="Courier New" pitchFamily="34" charset="0"/>
                <a:ea typeface="Courier New" pitchFamily="34" charset="-122"/>
                <a:cs typeface="Courier New" pitchFamily="34" charset="-120"/>
              </a:rPr>
              <a:t>True</a:t>
            </a:r>
            <a:endParaRPr lang="en-US" sz="880" dirty="0"/>
          </a:p>
          <a:p>
            <a:pPr indent="0" marL="0">
              <a:buNone/>
            </a:pPr>
            <a:r>
              <a:rPr lang="en-US" sz="880" b="1" dirty="0">
                <a:solidFill>
                  <a:srgbClr val="D97A14"/>
                </a:solidFill>
                <a:latin typeface="Courier New" pitchFamily="34" charset="0"/>
                <a:ea typeface="Courier New" pitchFamily="34" charset="-122"/>
                <a:cs typeface="Courier New" pitchFamily="34" charset="-120"/>
              </a:rPr>
              <a:t>&gt;&gt;&gt; </a:t>
            </a:r>
            <a:r>
              <a:rPr lang="en-US" sz="880" dirty="0">
                <a:solidFill>
                  <a:srgbClr val="E6EDF3"/>
                </a:solidFill>
                <a:latin typeface="Courier New" pitchFamily="34" charset="0"/>
                <a:ea typeface="Courier New" pitchFamily="34" charset="-122"/>
                <a:cs typeface="Courier New" pitchFamily="34" charset="-120"/>
              </a:rPr>
              <a:t>mnemonic_to_entropy(WORDS.replace(</a:t>
            </a:r>
            <a:r>
              <a:rPr lang="en-US" sz="880" dirty="0">
                <a:solidFill>
                  <a:srgbClr val="9ECBFF"/>
                </a:solidFill>
                <a:latin typeface="Courier New" pitchFamily="34" charset="0"/>
                <a:ea typeface="Courier New" pitchFamily="34" charset="-122"/>
                <a:cs typeface="Courier New" pitchFamily="34" charset="-120"/>
              </a:rPr>
              <a:t>'crunch'</a:t>
            </a:r>
            <a:r>
              <a:rPr lang="en-US" sz="880" dirty="0">
                <a:solidFill>
                  <a:srgbClr val="E6EDF3"/>
                </a:solidFill>
                <a:latin typeface="Courier New" pitchFamily="34" charset="0"/>
                <a:ea typeface="Courier New" pitchFamily="34" charset="-122"/>
                <a:cs typeface="Courier New" pitchFamily="34" charset="-120"/>
              </a:rPr>
              <a:t>, </a:t>
            </a:r>
            <a:r>
              <a:rPr lang="en-US" sz="880" dirty="0">
                <a:solidFill>
                  <a:srgbClr val="9ECBFF"/>
                </a:solidFill>
                <a:latin typeface="Courier New" pitchFamily="34" charset="0"/>
                <a:ea typeface="Courier New" pitchFamily="34" charset="-122"/>
                <a:cs typeface="Courier New" pitchFamily="34" charset="-120"/>
              </a:rPr>
              <a:t>'cruise'</a:t>
            </a:r>
            <a:r>
              <a:rPr lang="en-US" sz="880" dirty="0">
                <a:solidFill>
                  <a:srgbClr val="E6EDF3"/>
                </a:solidFill>
                <a:latin typeface="Courier New" pitchFamily="34" charset="0"/>
                <a:ea typeface="Courier New" pitchFamily="34" charset="-122"/>
                <a:cs typeface="Courier New" pitchFamily="34" charset="-120"/>
              </a:rPr>
              <a:t>))[</a:t>
            </a:r>
            <a:r>
              <a:rPr lang="en-US" sz="880" dirty="0">
                <a:solidFill>
                  <a:srgbClr val="FFD28A"/>
                </a:solidFill>
                <a:latin typeface="Courier New" pitchFamily="34" charset="0"/>
                <a:ea typeface="Courier New" pitchFamily="34" charset="-122"/>
                <a:cs typeface="Courier New" pitchFamily="34" charset="-120"/>
              </a:rPr>
              <a:t>1</a:t>
            </a:r>
            <a:r>
              <a:rPr lang="en-US" sz="880" dirty="0">
                <a:solidFill>
                  <a:srgbClr val="E6EDF3"/>
                </a:solidFill>
                <a:latin typeface="Courier New" pitchFamily="34" charset="0"/>
                <a:ea typeface="Courier New" pitchFamily="34" charset="-122"/>
                <a:cs typeface="Courier New" pitchFamily="34" charset="-120"/>
              </a:rPr>
              <a:t>]</a:t>
            </a:r>
            <a:endParaRPr lang="en-US" sz="880" dirty="0"/>
          </a:p>
          <a:p>
            <a:pPr indent="0" marL="0">
              <a:buNone/>
            </a:pPr>
            <a:r>
              <a:rPr lang="en-US" sz="880" dirty="0">
                <a:solidFill>
                  <a:srgbClr val="7EE787"/>
                </a:solidFill>
                <a:latin typeface="Courier New" pitchFamily="34" charset="0"/>
                <a:ea typeface="Courier New" pitchFamily="34" charset="-122"/>
                <a:cs typeface="Courier New" pitchFamily="34" charset="-120"/>
              </a:rPr>
              <a:t>False</a:t>
            </a:r>
            <a:endParaRPr lang="en-US" sz="880" dirty="0"/>
          </a:p>
        </p:txBody>
      </p:sp>
      <p:sp>
        <p:nvSpPr>
          <p:cNvPr id="9" name="Text 7"/>
          <p:cNvSpPr txBox="1"/>
          <p:nvPr/>
        </p:nvSpPr>
        <p:spPr>
          <a:xfrm>
            <a:off x="457200" y="25786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0" name="Text 8"/>
          <p:cNvSpPr txBox="1"/>
          <p:nvPr/>
        </p:nvSpPr>
        <p:spPr>
          <a:xfrm>
            <a:off x="457200" y="25603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Core's own tooling: backupwallet, and the keypool that guards gaps</a:t>
            </a:r>
            <a:endParaRPr lang="en-US" sz="1150" dirty="0"/>
          </a:p>
        </p:txBody>
      </p:sp>
      <p:sp>
        <p:nvSpPr>
          <p:cNvPr id="11" name="Shape 9"/>
          <p:cNvSpPr/>
          <p:nvPr/>
        </p:nvSpPr>
        <p:spPr>
          <a:xfrm>
            <a:off x="457200" y="2834640"/>
            <a:ext cx="8229600" cy="822960"/>
          </a:xfrm>
          <a:prstGeom prst="roundRect">
            <a:avLst>
              <a:gd name="adj" fmla="val 11111"/>
            </a:avLst>
          </a:prstGeom>
          <a:solidFill>
            <a:srgbClr val="23272E"/>
          </a:solidFill>
          <a:ln w="12700">
            <a:solidFill>
              <a:srgbClr val="23272E"/>
            </a:solidFill>
            <a:prstDash val="solid"/>
          </a:ln>
        </p:spPr>
      </p:sp>
      <p:sp>
        <p:nvSpPr>
          <p:cNvPr id="12" name="Text 10"/>
          <p:cNvSpPr txBox="1"/>
          <p:nvPr/>
        </p:nvSpPr>
        <p:spPr>
          <a:xfrm>
            <a:off x="640080" y="2953512"/>
            <a:ext cx="7863840" cy="585216"/>
          </a:xfrm>
          <a:prstGeom prst="rect">
            <a:avLst/>
          </a:prstGeom>
          <a:noFill/>
          <a:ln/>
        </p:spPr>
        <p:txBody>
          <a:bodyPr wrap="square" lIns="0" tIns="0" rIns="0" bIns="0" rtlCol="0" anchor="t"/>
          <a:lstStyle/>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9ECBFF"/>
                </a:solidFill>
                <a:latin typeface="Courier New" pitchFamily="34" charset="0"/>
                <a:ea typeface="Courier New" pitchFamily="34" charset="-122"/>
                <a:cs typeface="Courier New" pitchFamily="34" charset="-120"/>
              </a:rPr>
              <a:t>'Safely copies the current wallet file'</a:t>
            </a:r>
            <a:r>
              <a:rPr lang="en-US" sz="830" dirty="0">
                <a:solidFill>
                  <a:srgbClr val="E6EDF3"/>
                </a:solidFill>
                <a:latin typeface="Courier New" pitchFamily="34" charset="0"/>
                <a:ea typeface="Courier New" pitchFamily="34" charset="-122"/>
                <a:cs typeface="Courier New" pitchFamily="34" charset="-120"/>
              </a:rPr>
              <a:t> </a:t>
            </a:r>
            <a:r>
              <a:rPr lang="en-US" sz="830" b="1" dirty="0">
                <a:solidFill>
                  <a:srgbClr val="F2A860"/>
                </a:solidFill>
                <a:latin typeface="Courier New" pitchFamily="34" charset="0"/>
                <a:ea typeface="Courier New" pitchFamily="34" charset="-122"/>
                <a:cs typeface="Courier New" pitchFamily="34" charset="-120"/>
              </a:rPr>
              <a:t>in</a:t>
            </a:r>
            <a:r>
              <a:rPr lang="en-US" sz="830" dirty="0">
                <a:solidFill>
                  <a:srgbClr val="E6EDF3"/>
                </a:solidFill>
                <a:latin typeface="Courier New" pitchFamily="34" charset="0"/>
                <a:ea typeface="Courier New" pitchFamily="34" charset="-122"/>
                <a:cs typeface="Courier New" pitchFamily="34" charset="-120"/>
              </a:rPr>
              <a:t> flat(CORE_BACKUP)</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True</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9ECBFF"/>
                </a:solidFill>
                <a:latin typeface="Courier New" pitchFamily="34" charset="0"/>
                <a:ea typeface="Courier New" pitchFamily="34" charset="-122"/>
                <a:cs typeface="Courier New" pitchFamily="34" charset="-120"/>
              </a:rPr>
              <a:t>'(default: 1000)'</a:t>
            </a:r>
            <a:r>
              <a:rPr lang="en-US" sz="830" dirty="0">
                <a:solidFill>
                  <a:srgbClr val="E6EDF3"/>
                </a:solidFill>
                <a:latin typeface="Courier New" pitchFamily="34" charset="0"/>
                <a:ea typeface="Courier New" pitchFamily="34" charset="-122"/>
                <a:cs typeface="Courier New" pitchFamily="34" charset="-120"/>
              </a:rPr>
              <a:t> </a:t>
            </a:r>
            <a:r>
              <a:rPr lang="en-US" sz="830" b="1" dirty="0">
                <a:solidFill>
                  <a:srgbClr val="F2A860"/>
                </a:solidFill>
                <a:latin typeface="Courier New" pitchFamily="34" charset="0"/>
                <a:ea typeface="Courier New" pitchFamily="34" charset="-122"/>
                <a:cs typeface="Courier New" pitchFamily="34" charset="-120"/>
              </a:rPr>
              <a:t>in</a:t>
            </a:r>
            <a:r>
              <a:rPr lang="en-US" sz="830" dirty="0">
                <a:solidFill>
                  <a:srgbClr val="E6EDF3"/>
                </a:solidFill>
                <a:latin typeface="Courier New" pitchFamily="34" charset="0"/>
                <a:ea typeface="Courier New" pitchFamily="34" charset="-122"/>
                <a:cs typeface="Courier New" pitchFamily="34" charset="-120"/>
              </a:rPr>
              <a:t> flat(CORE_KEYPOOL)</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True</a:t>
            </a:r>
            <a:endParaRPr lang="en-US" sz="830" dirty="0"/>
          </a:p>
        </p:txBody>
      </p:sp>
      <p:sp>
        <p:nvSpPr>
          <p:cNvPr id="13" name="Text 11"/>
          <p:cNvSpPr txBox="1"/>
          <p:nvPr/>
        </p:nvSpPr>
        <p:spPr>
          <a:xfrm>
            <a:off x="457200" y="36758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4" name="Shape 12"/>
          <p:cNvSpPr/>
          <p:nvPr/>
        </p:nvSpPr>
        <p:spPr>
          <a:xfrm>
            <a:off x="457200" y="3886200"/>
            <a:ext cx="1435608"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457200" y="3886200"/>
            <a:ext cx="1435608"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write it</a:t>
            </a:r>
            <a:endParaRPr lang="en-US" sz="1250" dirty="0"/>
          </a:p>
        </p:txBody>
      </p:sp>
      <p:sp>
        <p:nvSpPr>
          <p:cNvPr id="16" name="Shape 14"/>
          <p:cNvSpPr/>
          <p:nvPr/>
        </p:nvSpPr>
        <p:spPr>
          <a:xfrm>
            <a:off x="2093976" y="3886200"/>
            <a:ext cx="2618613"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2093976" y="3886200"/>
            <a:ext cx="2618613"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split it if large</a:t>
            </a:r>
            <a:endParaRPr lang="en-US" sz="1250" dirty="0"/>
          </a:p>
        </p:txBody>
      </p:sp>
      <p:sp>
        <p:nvSpPr>
          <p:cNvPr id="18" name="Shape 16"/>
          <p:cNvSpPr/>
          <p:nvPr/>
        </p:nvSpPr>
        <p:spPr>
          <a:xfrm>
            <a:off x="4913757" y="3886200"/>
            <a:ext cx="2224278"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913757" y="3886200"/>
            <a:ext cx="2224278"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store it apart</a:t>
            </a:r>
            <a:endParaRPr lang="en-US" sz="1250" dirty="0"/>
          </a:p>
        </p:txBody>
      </p:sp>
      <p:sp>
        <p:nvSpPr>
          <p:cNvPr id="20" name="Shape 18"/>
          <p:cNvSpPr/>
          <p:nvPr/>
        </p:nvSpPr>
        <p:spPr>
          <a:xfrm>
            <a:off x="457200" y="4471416"/>
            <a:ext cx="2487168"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457200" y="4471416"/>
            <a:ext cx="2487168"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TEST the restore</a:t>
            </a:r>
            <a:endParaRPr lang="en-US" sz="12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backup counts only after a successful restore drill</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23</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 each one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Wallets stopped storing keys and started deriving them - one seed, backed up once</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recovery code is entropy in human clothing: 11 bits a word, checksum included</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Words become a 512-bit seed through deliberate slowness - and a passphrase forks the wallet</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HD tree hands every purpose a numbered key; hardened hops keep the xpub harmless</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Beyond keys: labels, channels, split secrets - and a backup only counts once restored</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slides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23</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Checked 2026-10-06;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Mastering Bitcoin, ch. 5: Wallets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Chapter text as AsciiDoc source, plain text, free to read</a:t>
            </a:r>
            <a:endParaRPr lang="en-US" sz="1000" dirty="0"/>
          </a:p>
        </p:txBody>
      </p:sp>
      <p:sp>
        <p:nvSpPr>
          <p:cNvPr id="9" name="Shape 7"/>
          <p:cNvSpPr/>
          <p:nvPr/>
        </p:nvSpPr>
        <p:spPr>
          <a:xfrm>
            <a:off x="493776" y="2121408"/>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Lost passwords lock millionaires out (NYT)</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IronKey story as reported, 12 January 2021  nytimes.com</a:t>
            </a:r>
            <a:endParaRPr lang="en-US" sz="1000" dirty="0"/>
          </a:p>
        </p:txBody>
      </p:sp>
      <p:sp>
        <p:nvSpPr>
          <p:cNvPr id="11" name="Text 9"/>
          <p:cNvSpPr txBox="1"/>
          <p:nvPr/>
        </p:nvSpPr>
        <p:spPr>
          <a:xfrm>
            <a:off x="457200" y="252374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a:t>
            </a:r>
            <a:endParaRPr lang="en-US" sz="1250" dirty="0"/>
          </a:p>
        </p:txBody>
      </p:sp>
      <p:sp>
        <p:nvSpPr>
          <p:cNvPr id="12" name="Shape 10"/>
          <p:cNvSpPr/>
          <p:nvPr/>
        </p:nvSpPr>
        <p:spPr>
          <a:xfrm>
            <a:off x="493776" y="2871216"/>
            <a:ext cx="82296" cy="82296"/>
          </a:xfrm>
          <a:prstGeom prst="ellipse">
            <a:avLst/>
          </a:prstGeom>
          <a:solidFill>
            <a:srgbClr val="D97A14"/>
          </a:solidFill>
          <a:ln w="12700">
            <a:solidFill>
              <a:srgbClr val="D97A14"/>
            </a:solidFill>
            <a:prstDash val="solid"/>
          </a:ln>
        </p:spPr>
      </p:sp>
      <p:sp>
        <p:nvSpPr>
          <p:cNvPr id="13" name="Text 11"/>
          <p:cNvSpPr txBox="1"/>
          <p:nvPr/>
        </p:nvSpPr>
        <p:spPr>
          <a:xfrm>
            <a:off x="658368" y="2798064"/>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BIP 39: Mnemonic code (spec)</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word list and how seed words become a seed  bips.dev</a:t>
            </a:r>
            <a:endParaRPr lang="en-US" sz="1000" dirty="0"/>
          </a:p>
        </p:txBody>
      </p:sp>
      <p:sp>
        <p:nvSpPr>
          <p:cNvPr id="14" name="Shape 12"/>
          <p:cNvSpPr/>
          <p:nvPr/>
        </p:nvSpPr>
        <p:spPr>
          <a:xfrm>
            <a:off x="493776" y="3273552"/>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BIP 32: HD wallets (spec)</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How one seed derives a whole tree of keys  bips.dev</a:t>
            </a:r>
            <a:endParaRPr lang="en-US" sz="1000" dirty="0"/>
          </a:p>
        </p:txBody>
      </p:sp>
      <p:sp>
        <p:nvSpPr>
          <p:cNvPr id="16" name="Shape 14"/>
          <p:cNvSpPr/>
          <p:nvPr/>
        </p:nvSpPr>
        <p:spPr>
          <a:xfrm>
            <a:off x="493776" y="3675888"/>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BIP 84: P2WPKH derivation (spec)</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m/84'/0'/0' path these slides derived  bips.dev</a:t>
            </a:r>
            <a:endParaRPr lang="en-US" sz="1000" dirty="0"/>
          </a:p>
        </p:txBody>
      </p:sp>
      <p:sp>
        <p:nvSpPr>
          <p:cNvPr id="18" name="Text 16"/>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Tools</a:t>
            </a:r>
            <a:endParaRPr lang="en-US" sz="1250" dirty="0"/>
          </a:p>
        </p:txBody>
      </p:sp>
      <p:sp>
        <p:nvSpPr>
          <p:cNvPr id="19" name="Shape 17"/>
          <p:cNvSpPr/>
          <p:nvPr/>
        </p:nvSpPr>
        <p:spPr>
          <a:xfrm>
            <a:off x="4768596" y="1719072"/>
            <a:ext cx="82296" cy="82296"/>
          </a:xfrm>
          <a:prstGeom prst="ellipse">
            <a:avLst/>
          </a:prstGeom>
          <a:solidFill>
            <a:srgbClr val="D97A14"/>
          </a:solidFill>
          <a:ln w="12700">
            <a:solidFill>
              <a:srgbClr val="D97A14"/>
            </a:solidFill>
            <a:prstDash val="solid"/>
          </a:ln>
        </p:spPr>
      </p:sp>
      <p:sp>
        <p:nvSpPr>
          <p:cNvPr id="20" name="Text 18"/>
          <p:cNvSpPr txBox="1"/>
          <p:nvPr/>
        </p:nvSpPr>
        <p:spPr>
          <a:xfrm>
            <a:off x="493318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Ian Coleman's BIP39 tool (use offline)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Turn seed words into keys and addresses; run it offline</a:t>
            </a:r>
            <a:endParaRPr lang="en-US" sz="1000" dirty="0"/>
          </a:p>
        </p:txBody>
      </p:sp>
      <p:sp>
        <p:nvSpPr>
          <p:cNvPr id="21" name="Shape 19"/>
          <p:cNvSpPr/>
          <p:nvPr/>
        </p:nvSpPr>
        <p:spPr>
          <a:xfrm>
            <a:off x="4768596" y="2121408"/>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learnmeabitcoin: HD wallets (guide)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Seed to master key to child keys, drawn  learnmeabitcoin.com</a:t>
            </a:r>
            <a:endParaRPr lang="en-US" sz="1000" dirty="0"/>
          </a:p>
        </p:txBody>
      </p:sp>
      <p:sp>
        <p:nvSpPr>
          <p:cNvPr id="23" name="Text 21"/>
          <p:cNvSpPr txBox="1"/>
          <p:nvPr/>
        </p:nvSpPr>
        <p:spPr>
          <a:xfrm>
            <a:off x="4732020" y="252374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4" name="Shape 22"/>
          <p:cNvSpPr/>
          <p:nvPr/>
        </p:nvSpPr>
        <p:spPr>
          <a:xfrm>
            <a:off x="4768596" y="2871216"/>
            <a:ext cx="82296" cy="82296"/>
          </a:xfrm>
          <a:prstGeom prst="ellipse">
            <a:avLst/>
          </a:prstGeom>
          <a:solidFill>
            <a:srgbClr val="D97A14"/>
          </a:solidFill>
          <a:ln w="12700">
            <a:solidFill>
              <a:srgbClr val="D97A14"/>
            </a:solidFill>
            <a:prstDash val="solid"/>
          </a:ln>
        </p:spPr>
      </p:sp>
      <p:sp>
        <p:nvSpPr>
          <p:cNvPr id="25" name="Text 23"/>
          <p:cNvSpPr txBox="1"/>
          <p:nvPr/>
        </p:nvSpPr>
        <p:spPr>
          <a:xfrm>
            <a:off x="4933188" y="2798064"/>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Bitcoin Stack Exchange (Q&amp;A site)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Search or ask any technical question; answers are voted</a:t>
            </a:r>
            <a:endParaRPr lang="en-US" sz="1000" dirty="0"/>
          </a:p>
        </p:txBody>
      </p:sp>
      <p:sp>
        <p:nvSpPr>
          <p:cNvPr id="26"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7"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Twelve words on paper beat every password you have ever memorized</a:t>
            </a:r>
            <a:endParaRPr lang="en-US" sz="1350" dirty="0"/>
          </a:p>
        </p:txBody>
      </p:sp>
      <p:sp>
        <p:nvSpPr>
          <p:cNvPr id="28"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23</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one seed replaced bags of keys</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twelve words carry, and how they become a tree</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Which path your wallet walks, and who else can walk it</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tested backup is - and what Stefan Thomas teaches</a:t>
            </a:r>
            <a:endParaRPr lang="en-US" sz="1600" dirty="0"/>
          </a:p>
        </p:txBody>
      </p:sp>
      <p:sp>
        <p:nvSpPr>
          <p:cNvPr id="6" name="Text 4"/>
          <p:cNvSpPr txBox="1"/>
          <p:nvPr/>
        </p:nvSpPr>
        <p:spPr>
          <a:xfrm>
            <a:off x="548640" y="4407408"/>
            <a:ext cx="80467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23</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5 - Wallet Recovery</dc:title>
  <dc:subject>PptxGenJS Presentation</dc:subject>
  <dc:creator>Yusuf Altunel</dc:creator>
  <cp:lastModifiedBy>Yusuf Altunel</cp:lastModifiedBy>
  <cp:revision>1</cp:revision>
  <dcterms:created xsi:type="dcterms:W3CDTF">2026-10-16T07:09:57Z</dcterms:created>
  <dcterms:modified xsi:type="dcterms:W3CDTF">2026-10-16T07:09:57Z</dcterms:modified>
  <cp:version>2.2.0</cp:version>
</cp:coreProperties>
</file>