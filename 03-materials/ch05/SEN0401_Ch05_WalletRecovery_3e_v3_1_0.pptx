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Concepts</c:v>
                </c:pt>
              </c:strCache>
            </c:strRef>
          </c:tx>
          <c:spPr>
            <a:solidFill>
              <a:srgbClr val="D97A14"/>
            </a:solidFill>
          </c:spPr>
          <c:cat>
            <c:strRef>
              <c:f>Sheet1!$A$2:$A$9</c:f>
              <c:strCache>
                <c:ptCount val="8"/>
                <c:pt idx="0">
                  <c:v>Foundations the chapter relies on</c:v>
                </c:pt>
                <c:pt idx="1">
                  <c:v>Deploying keys in practice</c:v>
                </c:pt>
                <c:pt idx="2">
                  <c:v>Backing up data that is not keys</c:v>
                </c:pt>
                <c:pt idx="3">
                  <c:v>Backing up derivation paths</c:v>
                </c:pt>
                <c:pt idx="4">
                  <c:v>Hierarchical deterministic wallet</c:v>
                </c:pt>
                <c:pt idx="5">
                  <c:v>The BIP39 stack</c:v>
                </c:pt>
                <c:pt idx="6">
                  <c:v>Recovery codes</c:v>
                </c:pt>
                <c:pt idx="7">
                  <c:v>Wallet keys</c:v>
                </c:pt>
              </c:strCache>
            </c:strRef>
          </c:cat>
          <c:val>
            <c:numRef>
              <c:f>Sheet1!$B$2:$B$9</c:f>
              <c:numCache>
                <c:formatCode>General</c:formatCode>
                <c:ptCount val="8"/>
                <c:pt idx="0">
                  <c:v>8</c:v>
                </c:pt>
                <c:pt idx="1">
                  <c:v>8</c:v>
                </c:pt>
                <c:pt idx="2">
                  <c:v>9</c:v>
                </c:pt>
                <c:pt idx="3">
                  <c:v>15</c:v>
                </c:pt>
                <c:pt idx="4">
                  <c:v>25</c:v>
                </c:pt>
                <c:pt idx="5">
                  <c:v>14</c:v>
                </c:pt>
                <c:pt idx="6">
                  <c:v>14</c:v>
                </c:pt>
                <c:pt idx="7">
                  <c:v>10</c:v>
                </c:pt>
              </c:numCache>
            </c:numRef>
          </c:val>
        </c:ser>
        <c:dLbls>
          <c:numFmt formatCode="0" sourceLinked="0"/>
          <c:txPr>
            <a:bodyPr/>
            <a:lstStyle/>
            <a:p>
              <a:pPr>
                <a:defRPr sz="1100" b="1"/>
              </a:pPr>
            </a:p>
          </c:txPr>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l"/>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in val="0.0"/>
        </c:scaling>
        <c:delete val="0"/>
        <c:axPos val="b"/>
        <c:majorGridlines>
          <c:spPr>
            <a:ln>
              <a:solidFill>
                <a:srgbClr val="DFD6C7"/>
              </a:solidFill>
            </a:ln>
          </c:spPr>
        </c:majorGridlines>
        <c:majorTickMark val="out"/>
        <c:minorTickMark val="none"/>
        <c:tickLblPos val="nextTo"/>
        <c:txPr>
          <a:bodyPr/>
          <a:lstStyle/>
          <a:p>
            <a:pPr>
              <a:defRPr sz="1000"/>
            </a:pPr>
          </a:p>
        </c:txPr>
        <c:crossAx val="-2068027336"/>
        <c:crosses val="autoZero"/>
      </c:valAx>
    </c:plotArea>
    <c:dispBlanksAs val="gap"/>
  </c:chart>
  <c:txPr>
    <a:bodyPr/>
    <a:lstStyle/>
    <a:p>
      <a:pPr>
        <a:defRPr sz="1100">
          <a:solidFill>
            <a:srgbClr val="2B2622"/>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bits</c:v>
                </c:pt>
              </c:strCache>
            </c:strRef>
          </c:tx>
          <c:spPr>
            <a:solidFill>
              <a:srgbClr val="D97A14"/>
            </a:solidFill>
          </c:spPr>
          <c:cat>
            <c:strRef>
              <c:f>Sheet1!$A$2:$A$3</c:f>
              <c:strCache>
                <c:ptCount val="2"/>
                <c:pt idx="0">
                  <c:v>Bits that changed</c:v>
                </c:pt>
                <c:pt idx="1">
                  <c:v>Bits unchanged</c:v>
                </c:pt>
              </c:strCache>
            </c:strRef>
          </c:cat>
          <c:val>
            <c:numRef>
              <c:f>Sheet1!$B$2:$B$3</c:f>
              <c:numCache>
                <c:formatCode>General</c:formatCode>
                <c:ptCount val="2"/>
                <c:pt idx="0">
                  <c:v>126</c:v>
                </c:pt>
                <c:pt idx="1">
                  <c:v>130</c:v>
                </c:pt>
              </c:numCache>
            </c:numRef>
          </c:val>
        </c:ser>
        <c:dLbls>
          <c:numFmt formatCode="0" sourceLinked="0"/>
          <c:txPr>
            <a:bodyPr/>
            <a:lstStyle/>
            <a:p>
              <a:pPr>
                <a:defRPr sz="1100" b="1"/>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majorTickMark val="out"/>
        <c:minorTickMark val="none"/>
        <c:tickLblPos val="nextTo"/>
        <c:txPr>
          <a:bodyPr/>
          <a:lstStyle/>
          <a:p>
            <a:pPr>
              <a:defRPr sz="1000"/>
            </a:pPr>
          </a:p>
        </c:txPr>
        <c:crossAx val="-2068027336"/>
        <c:crosses val="autoZero"/>
      </c:valAx>
    </c:plotArea>
    <c:dispBlanksAs val="gap"/>
  </c:chart>
  <c:txPr>
    <a:bodyPr/>
    <a:lstStyle/>
    <a:p>
      <a:pPr>
        <a:defRPr sz="1100">
          <a:solidFill>
            <a:srgbClr val="2B2622"/>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Words</c:v>
                </c:pt>
              </c:strCache>
            </c:strRef>
          </c:tx>
          <c:spPr>
            <a:solidFill>
              <a:srgbClr val="D97A14"/>
            </a:solidFill>
          </c:spPr>
          <c:cat>
            <c:strRef>
              <c:f>Sheet1!$A$2:$A$6</c:f>
              <c:strCache>
                <c:ptCount val="5"/>
                <c:pt idx="0">
                  <c:v>128 bits</c:v>
                </c:pt>
                <c:pt idx="1">
                  <c:v>160 bits</c:v>
                </c:pt>
                <c:pt idx="2">
                  <c:v>192 bits</c:v>
                </c:pt>
                <c:pt idx="3">
                  <c:v>224 bits</c:v>
                </c:pt>
                <c:pt idx="4">
                  <c:v>256 bits</c:v>
                </c:pt>
              </c:strCache>
            </c:strRef>
          </c:cat>
          <c:val>
            <c:numRef>
              <c:f>Sheet1!$B$2:$B$6</c:f>
              <c:numCache>
                <c:formatCode>General</c:formatCode>
                <c:ptCount val="5"/>
                <c:pt idx="0">
                  <c:v>12</c:v>
                </c:pt>
                <c:pt idx="1">
                  <c:v>15</c:v>
                </c:pt>
                <c:pt idx="2">
                  <c:v>18</c:v>
                </c:pt>
                <c:pt idx="3">
                  <c:v>21</c:v>
                </c:pt>
                <c:pt idx="4">
                  <c:v>24</c:v>
                </c:pt>
              </c:numCache>
            </c:numRef>
          </c:val>
        </c:ser>
        <c:dLbls>
          <c:numFmt formatCode="0" sourceLinked="0"/>
          <c:txPr>
            <a:bodyPr/>
            <a:lstStyle/>
            <a:p>
              <a:pPr>
                <a:defRPr sz="1100" b="1"/>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title>
          <c:tx>
            <c:rich>
              <a:bodyPr/>
              <a:lstStyle/>
              <a:p>
                <a:r>
                  <a:rPr sz="1000"/>
                  <a:t>words</a:t>
                </a:r>
              </a:p>
            </c:rich>
          </c:tx>
          <c:layout/>
          <c:overlay val="0"/>
        </c:title>
        <c:majorTickMark val="out"/>
        <c:minorTickMark val="none"/>
        <c:tickLblPos val="nextTo"/>
        <c:txPr>
          <a:bodyPr/>
          <a:lstStyle/>
          <a:p>
            <a:pPr>
              <a:defRPr sz="1000"/>
            </a:pPr>
          </a:p>
        </c:txPr>
        <c:crossAx val="-2068027336"/>
        <c:crosses val="autoZero"/>
      </c:valAx>
    </c:plotArea>
    <c:dispBlanksAs val="gap"/>
  </c:chart>
  <c:txPr>
    <a:bodyPr/>
    <a:lstStyle/>
    <a:p>
      <a:pPr>
        <a:defRPr sz="1100">
          <a:solidFill>
            <a:srgbClr val="2B2622"/>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children, in billions</c:v>
                </c:pt>
              </c:strCache>
            </c:strRef>
          </c:tx>
          <c:spPr>
            <a:solidFill>
              <a:srgbClr val="D97A14"/>
            </a:solidFill>
          </c:spPr>
          <c:cat>
            <c:strRef>
              <c:f>Sheet1!$A$2:$A$3</c:f>
              <c:strCache>
                <c:ptCount val="2"/>
                <c:pt idx="0">
                  <c:v>Normal: 0 to 2^31-1</c:v>
                </c:pt>
                <c:pt idx="1">
                  <c:v>Hardened: 2^31 to 2^32-1</c:v>
                </c:pt>
              </c:strCache>
            </c:strRef>
          </c:cat>
          <c:val>
            <c:numRef>
              <c:f>Sheet1!$B$2:$B$3</c:f>
              <c:numCache>
                <c:formatCode>General</c:formatCode>
                <c:ptCount val="2"/>
                <c:pt idx="0">
                  <c:v>2.147483648</c:v>
                </c:pt>
                <c:pt idx="1">
                  <c:v>2.147483648</c:v>
                </c:pt>
              </c:numCache>
            </c:numRef>
          </c:val>
        </c:ser>
        <c:dLbls>
          <c:numFmt formatCode="0.000" sourceLinked="0"/>
          <c:txPr>
            <a:bodyPr/>
            <a:lstStyle/>
            <a:p>
              <a:pPr>
                <a:defRPr sz="1100" b="1"/>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title>
          <c:tx>
            <c:rich>
              <a:bodyPr/>
              <a:lstStyle/>
              <a:p>
                <a:r>
                  <a:rPr sz="1000"/>
                  <a:t>billions of children</a:t>
                </a:r>
              </a:p>
            </c:rich>
          </c:tx>
          <c:layout/>
          <c:overlay val="0"/>
        </c:title>
        <c:majorTickMark val="out"/>
        <c:minorTickMark val="none"/>
        <c:tickLblPos val="nextTo"/>
        <c:txPr>
          <a:bodyPr/>
          <a:lstStyle/>
          <a:p>
            <a:pPr>
              <a:defRPr sz="1000"/>
            </a:pPr>
          </a:p>
        </c:txPr>
        <c:crossAx val="-2068027336"/>
        <c:crosses val="autoZero"/>
      </c:valAx>
    </c:plotArea>
    <c:dispBlanksAs val="gap"/>
  </c:chart>
  <c:txPr>
    <a:bodyPr/>
    <a:lstStyle/>
    <a:p>
      <a:pPr>
        <a:defRPr sz="1100">
          <a:solidFill>
            <a:srgbClr val="2B2622"/>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used keys found</c:v>
                </c:pt>
              </c:strCache>
            </c:strRef>
          </c:tx>
          <c:spPr>
            <a:solidFill>
              <a:srgbClr val="D97A14"/>
            </a:solidFill>
          </c:spPr>
          <c:cat>
            <c:strRef>
              <c:f>Sheet1!$A$2:$A$5</c:f>
              <c:strCache>
                <c:ptCount val="4"/>
                <c:pt idx="0">
                  <c:v>gap 5</c:v>
                </c:pt>
                <c:pt idx="1">
                  <c:v>gap 10</c:v>
                </c:pt>
                <c:pt idx="2">
                  <c:v>gap 20</c:v>
                </c:pt>
                <c:pt idx="3">
                  <c:v>gap 30</c:v>
                </c:pt>
              </c:strCache>
            </c:strRef>
          </c:cat>
          <c:val>
            <c:numRef>
              <c:f>Sheet1!$B$2:$B$5</c:f>
              <c:numCache>
                <c:formatCode>General</c:formatCode>
                <c:ptCount val="4"/>
                <c:pt idx="0">
                  <c:v>2</c:v>
                </c:pt>
                <c:pt idx="1">
                  <c:v>2</c:v>
                </c:pt>
                <c:pt idx="2">
                  <c:v>2</c:v>
                </c:pt>
                <c:pt idx="3">
                  <c:v>3</c:v>
                </c:pt>
              </c:numCache>
            </c:numRef>
          </c:val>
        </c:ser>
        <c:dLbls>
          <c:numFmt formatCode="0" sourceLinked="0"/>
          <c:txPr>
            <a:bodyPr/>
            <a:lstStyle/>
            <a:p>
              <a:pPr>
                <a:defRPr sz="1100" b="1"/>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title>
          <c:tx>
            <c:rich>
              <a:bodyPr/>
              <a:lstStyle/>
              <a:p>
                <a:r>
                  <a:rPr sz="1000"/>
                  <a:t>used keys found</a:t>
                </a:r>
              </a:p>
            </c:rich>
          </c:tx>
          <c:layout/>
          <c:overlay val="0"/>
        </c:title>
        <c:majorTickMark val="out"/>
        <c:minorTickMark val="none"/>
        <c:tickLblPos val="nextTo"/>
        <c:txPr>
          <a:bodyPr/>
          <a:lstStyle/>
          <a:p>
            <a:pPr>
              <a:defRPr sz="1000"/>
            </a:pPr>
          </a:p>
        </c:txPr>
        <c:crossAx val="-2068027336"/>
        <c:crosses val="autoZero"/>
      </c:valAx>
    </c:plotArea>
    <c:dispBlanksAs val="gap"/>
  </c:chart>
  <c:txPr>
    <a:bodyPr/>
    <a:lstStyle/>
    <a:p>
      <a:pPr>
        <a:defRPr sz="1100">
          <a:solidFill>
            <a:srgbClr val="2B2622"/>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chapter five. A wallet is not a bag of coins but a bag of keys, and keys can be lost. Today we learn how one seed, written as twelve words, brings every key back.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has seven parts, and every part opens with a divider. The numbers are slide numbers, so you can jump back to any part. The code slides are numbered in order and match the course page.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seven questions are the chapter's own competency questions. If you can answer them at the end, you own the chapter. Keep them in mind as we move through the parts.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 is a tree of eight branches. The bars count the concepts in each branch of the course ontology. Today we walk the spine: keys, codes, the BIP39 stack, the HD tree, paths, non-key data and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Stefan Thomas was paid 7,002 bitcoin in 2011 and locked the keys on an encrypted drive. He lost the password and has two guesses left. This chapter is the discipline that makes the story impossible to repeat.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code slide uses the same small chapter library, written for reading and checked against the standards' test vectors. It is not for real money. The sample data names on the right are reused on every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asks what a wallet really holds and why one seed beats a bag of keys. Six concepts open the part. The picture shows the idea: one seed and a rule give every key.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wallet database mostly holds keys. Some databases hold only public keys, so the application can watch funds but not spend them. Then an external signer, such as a hardware signing device, makes the signature.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Independent keys are made one by one and each needs its own backup. A deterministic wallet derives every key from one seed. A hierarchical wallet adds a tree, so one seed also gives organised branches. A key tweak is the small step between keys.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term gets one everyday picture. The recipe is the best one: ingredients are the seed, the recipe is the rule, and the dish is a key. Say the picture first, then the wallet meaning.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deterministic generation in four lines. One secret and a rule give key number i. Asking again gives the same keys, which is why one backup of the seed is enough.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is about recovery codes. A code is the seed written for human hands. The book names several schemes and one important choice: the passphrase.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BIP39 is the common scheme. Electrum version two avoids a global word list. Aezeed adds versions and a wallet birthday. Muun uses a non-word code. SLIP39 splits a seed into shares, and codex32 can be made by hand.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Words were chosen so a code is easy to remember, but the book urges writing it down. A brainwallet is a phrase you invented, which is not random. Coercion is real: the list of attacks has grown, so the book's count is a floor.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schemes, seven pictures. The torn map is the key image for SLIP39: three of five pieces reveal the treasure and two reveal nothing.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passphrase is a second lock: lose it and the first lock is not enough. A decoy purse is how plausible deniability works. A brainwallet is the weak opposite of a random code.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schemes protect against typos in different ways. codex32 uses a long checksum that can be checked by hand. Electrum marks a seed with a version that is a prefix of an HMAC.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Secret sharing splits one secret into shares. Any three of five rebuild it; two reveal nothing. This is a small model, not SLIP39 itself, which works in a different field.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follows BIP39 from random bits to a seed. First the code is generated: entropy, checksum, eleven-bit pieces, words. Then the code is stretched into a seed.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team behind the first hardware signing device faced a human problem: nobody copies 128 bits without errors. Their answer, BIP 39, is the standard we run on the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one, generate entropy. Step two, hash it with SHA-256. Step three, append the first bits as a checksum. Step four, cut the result into eleven-bit pieces. Step five, look each piece up in the word list.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hash function turns any input into a fixed-size fingerprint. SHA-256 is one. Change a single letter and about half of the 256 output bits flip, so no output hints at its input.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BIP39 allows five entropy sizes. More entropy means more words and more security strength. The checksum grows with it: one bit per 32 bits of entropy.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eleven-bit segment is a position in the BIP39 word list, 0 to 2047. The book's 128 bits of entropy become exactly the book's twelve words.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bits of a recovery code are a checksum of the entropy. Decoding recomputes it. Change one word and the check fails, so most typos are caught.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Computers can store the same letter in different ways. BIP39 first normalises the text, so a phrase gives one seed on every device and in every language setting.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key-stretching function repeats work so each guess is slow for an attacker. BIP39 uses PBKDF2 with 2048 rounds and the word mnemonic as the salt. A different salt or round count gives an unrelated result.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passphrase is part of the salt. The same twelve words with another passphrase give a completely different wallet. That makes a decoy wallet possible, and it also means a forgotten passphrase loses the funds.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Entropy is the shuffled deck, the checksum the check digit, the word list the dictionary. Stretching is kneading: it takes effort, and effort is what slows an attacker.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section of the book gets a picture too. The padlock is the one to keep: more entropy is a longer combination, and a passphrase is a second combination on the same lock.</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builds the tree. One HMAC of the seed gives the master key and chain code. Every child comes from a parent, its chain code and an index. Extended keys write the pair as text.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picture is the book's: a seed becomes a master key, the master key has children, and each child has grandchildren. Every node is two 32-byte values, the key and its chain code, so the tree never runs dry.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HMAC-SHA512 mixes a secret key with data. Using the text Bitcoin seed as the key and the seed as data gives 64 bytes. The left half is the master private key, the right half the master chain code.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child key needs the parent key, the parent chain code and an index number. The chain code is what makes children unpredictable. Each child gets its own new chain code, so the tree can keep growing.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Indexes below 2 to the 31 are normal; from 2 to the 31 up they are hardened. A hardened child is derived from the private parent key, not its public key. In a path, the letter h means hardened.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normal child private key plus the parent's extended public key reveals the parent private key. Subtract the hash value and the parent falls out. A hardened step cannot be undone this way, so account levels are hardened.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Normal derivation works on public keys too. Route one derives the private child and then its public key. Route two never touches a private key. Both give the same public key.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extended key is a key plus its chain code, written in Base58Check. It starts with xprv for private and xpub for public, and is 111 characters long. A four-byte fingerprint names the key.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book says each parent can have 2,147,483,647 children. BIP32 says 2 to the 31 normal children and as many hardened ones. The book's figure is the largest normal index, not the count.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family tree fits well. The ancestor holds the master key, each child is born from a parent and a birth number, and the chain code is the family secret that keeps children unpredictable.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xprv is the whole archive; an xpub is the guest list. The firewall picture for hardened derivation is the one to remember: a leaked child must not open the parent.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family tree is the main picture, and the rest follow from it. A parent hands a child a key, a firewall protects the parent, and two shelves hold the normal and the hardened children.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five answers the question: given a recovery code, which keys does the wallet use? A path names a key. Standards fix common paths. A descriptor writes down both script and path.</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path is a list of child numbers below the master key m. The first number, the purpose, names the scheme. BIP44 then fixes coin, account, change and address index. A trailing h marks a hardened step.</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Standards fix the purpose number: 44, 49, 84 and 86. A wallet that follows one needs no written path, an implicit path. The same recovery code gives four different kinds of address.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trust a library, compare it with a published answer. BIP84 prints the first address of its test recovery code, and Bitcoin Core derives the same one. If a path is not standard, write it down: an explicit path.</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key tweak is a number added to a key to make a related key. Taproot adds a hash-derived tweak to the internal key. The address encodes the tweaked output key, not the internal one.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standard path needs no record because everyone knows it: that is implicit. A custom path must be written with the code: that is explicit. The book's table uses coin type one for BIP49, which is the testnet type.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descriptor is text that names an output script and the keys behind it. BIP380 adds an eight-character checksum. The bracket at the start is the key origin: a fingerprint and the hardened path.</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Multisignature needs several keys: two of three is the usual example. A multipath descriptor writes the receiving and change branches once. Miniscript is a structured language for scripts that tools can analyse.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path is a street address down the tree. Implicit paths are the streets everyone knows; explicit paths are addresses you write on the envelope. A descriptor is the whole recipe card.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path is the address of one room in a building, and navigating the tree is walking down the floors. Write the address down with the key, or the key may be found but never matched to its room.</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six is about what a recovery code does not hold. Labels, protocol data such as Lightning channels, and the full database are not in the seed. They need their own backups.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Labels are notes such as rent or salary. They are not derivable from the seed, so losing them loses your bookkeeping. BIP329 stores one JSON object per line, readable by any program.</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Lightning Network keeps payment state off the blockchain. A static channel backup is saved once, when a channel opens, and helps recovery after data loss, but cannot guarantee results. An encrypted wallet backup stores everything, encrypted with a key from the seed.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March 2014, three weeks into its bankruptcy, Mt. Gox said it had found about 200,000 bitcoin in an old-format wallet it thought was empty. Backups do not expire, and an untested file is not an empty one.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seven puts keys to work. A shop holds only an extended public key. Cold storage keeps keys offline. And the chapter ends with the most important habit: test the backup before you need it.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shop can generate a fresh address per customer from an extended public key. The payment processor, such as BTCPay Server, does this. The shop never sees a private key, so a hacked server cannot spend.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recovery scan stops after a number of unused addresses in a row: the gap limit. If you used key 25 but skipped many keys, a small gap misses it. A bigger gap finds it.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signing device signs the hash of a transaction with a private key. Anyone can verify with the public key. The signature is valid only for the message that was signed. This is a toy version, not for real money.</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Cold storage keeps a reserve offline. A hardware signing device holds keys and signs without revealing them. A written backup of the recovery code is the last line of defence, kept apart from the device.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backup counts only after a successful restore. Write down the first address when the wallet is created, then restore from your written code and compare. One wrong word does not give an error, it gives a different, empty wallet.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loss is perhaps the leading cause of lost bitcoin. A complete backup is a list: the recovery code, the passphrase if used, the paths or descriptors, other signers' public keys, and data that is not keys. Then test it.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Labels are sticky notes, and they are not in the seed. A static channel backup is a photocopy: it helps but guarantees nothing. The gap limit is a patient postman who stops after a set number of empty mailboxes.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lines carry the chapter. Wallets derive keys from a seed. A recovery code is entropy in words. A seed is stretched slowly. The tree hands every purpose a numbered key. And a backup counts only once it has been restored.</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Try each question aloud before you look at the slide. If you hesitate, go back to the slide named on the right. These are the questions the exam will build on.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places to read, check and ask. Start with the book chapter and the three BIPs. Use the tool only offline. The same code examples are on the course page, in the same order as the slides.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You should now be able to say why one seed replaced bags of keys, what twelve words carry, which path your wallet walks, and what a tested backup is. Questions are welcome.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hyperlink" Target="https://www.business-standard.com/article/international/a-german-programmer-has-two-guesses-to-unlock-bitcoin-worth-240-million-121011400070_1.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5.jpg"/><Relationship Id="rId4" Type="http://schemas.openxmlformats.org/officeDocument/2006/relationships/hyperlink" Target="https://bips.dev/39/"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chart" Target="../charts/char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chart" Target="../charts/char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chart" Target="../charts/char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6.xml"/><Relationship Id="rId3" Type="http://schemas.openxmlformats.org/officeDocument/2006/relationships/image" Target="../media/image6.png"/><Relationship Id="rId4" Type="http://schemas.openxmlformats.org/officeDocument/2006/relationships/hyperlink" Target="https://www.theregister.com/2014/03/21/mtgox_finds_200000_bitcoin_in_old_wallets/"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 Id="rId3" Type="http://schemas.openxmlformats.org/officeDocument/2006/relationships/chart" Target="../charts/char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7.xml"/><Relationship Id="rId3" Type="http://schemas.openxmlformats.org/officeDocument/2006/relationships/hyperlink" Target="https://raw.githubusercontent.com/bitcoinbook/bitcoinbook/develop/ch05_wallets.adoc" TargetMode="External"/><Relationship Id="rId4" Type="http://schemas.openxmlformats.org/officeDocument/2006/relationships/hyperlink" Target="https://www.business-standard.com/article/international/a-german-programmer-has-two-guesses-to-unlock-bitcoin-worth-240-million-121011400070_1.html" TargetMode="External"/><Relationship Id="rId5" Type="http://schemas.openxmlformats.org/officeDocument/2006/relationships/hyperlink" Target="https://www.theregister.com/2014/03/21/mtgox_finds_200000_bitcoin_in_old_wallets/" TargetMode="External"/><Relationship Id="rId6" Type="http://schemas.openxmlformats.org/officeDocument/2006/relationships/hyperlink" Target="https://bips.dev/39/" TargetMode="External"/><Relationship Id="rId7" Type="http://schemas.openxmlformats.org/officeDocument/2006/relationships/hyperlink" Target="https://bips.dev/32/" TargetMode="External"/><Relationship Id="rId8" Type="http://schemas.openxmlformats.org/officeDocument/2006/relationships/hyperlink" Target="https://bips.dev/84/" TargetMode="External"/><Relationship Id="rId9" Type="http://schemas.openxmlformats.org/officeDocument/2006/relationships/hyperlink" Target="https://bips.dev/380/" TargetMode="External"/><Relationship Id="rId10" Type="http://schemas.openxmlformats.org/officeDocument/2006/relationships/hyperlink" Target="https://bitcoin.org/bitcoin.pdf" TargetMode="External"/><Relationship Id="rId11" Type="http://schemas.openxmlformats.org/officeDocument/2006/relationships/hyperlink" Target="https://iancoleman.io/bip39/" TargetMode="External"/><Relationship Id="rId12" Type="http://schemas.openxmlformats.org/officeDocument/2006/relationships/hyperlink" Target="https://btcpayserver.org" TargetMode="External"/><Relationship Id="rId13" Type="http://schemas.openxmlformats.org/officeDocument/2006/relationships/hyperlink" Target="https://en.bitcoin.it/wiki/Deterministic_wallet" TargetMode="External"/><Relationship Id="rId14" Type="http://schemas.openxmlformats.org/officeDocument/2006/relationships/hyperlink" Target="https://bitcoin.stackexchange.com" TargetMode="External"/><Relationship Id="rId15" Type="http://schemas.openxmlformats.org/officeDocument/2006/relationships/hyperlink" Target="https://bitcoinops.org/en/topics/" TargetMode="External"/><Relationship Id="rId16" Type="http://schemas.openxmlformats.org/officeDocument/2006/relationships/hyperlink" Target="https://github.com/altunelyusuf/SEN0401" TargetMode="External"/><Relationship Id="rId17" Type="http://schemas.openxmlformats.org/officeDocument/2006/relationships/hyperlink" Target="https://www.youtube.com/watch?v=hRXcY_tIlrw"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548640" y="914400"/>
            <a:ext cx="4754880" cy="1371600"/>
          </a:xfrm>
        </p:spPr>
        <p:txBody>
          <a:bodyPr wrap="square" anchor="ctr" lIns="0" rIns="0" tIns="0" bIns="0"/>
          <a:lstStyle/>
          <a:p>
            <a:pPr algn="l"/>
            <a:r>
              <a:rPr b="1" sz="3400">
                <a:solidFill>
                  <a:srgbClr val="2B2622"/>
                </a:solidFill>
                <a:latin typeface="Cambria"/>
              </a:rPr>
              <a:t>Chapter 5: Wallet Recovery</a:t>
            </a:r>
          </a:p>
        </p:txBody>
      </p:sp>
      <p:sp>
        <p:nvSpPr>
          <p:cNvPr id="3"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4" name="accent"/>
          <p:cNvSpPr/>
          <p:nvPr/>
        </p:nvSpPr>
        <p:spPr>
          <a:xfrm>
            <a:off x="548640" y="502920"/>
            <a:ext cx="822960" cy="109728"/>
          </a:xfrm>
          <a:prstGeom prst="roundRect">
            <a:avLst>
              <a:gd name="adj" fmla="val 50000"/>
            </a:avLst>
          </a:prstGeom>
          <a:solidFill>
            <a:srgbClr val="D97A14"/>
          </a:solidFill>
          <a:ln>
            <a:solidFill>
              <a:srgbClr val="D97A14"/>
            </a:solidFill>
          </a:ln>
        </p:spPr>
        <p:txBody>
          <a:bodyPr rtlCol="0" anchor="ctr"/>
          <a:lstStyle/>
          <a:p>
            <a:pPr algn="ctr"/>
          </a:p>
        </p:txBody>
      </p:sp>
      <p:sp>
        <p:nvSpPr>
          <p:cNvPr id="5" name="subtitle"/>
          <p:cNvSpPr txBox="1"/>
          <p:nvPr/>
        </p:nvSpPr>
        <p:spPr>
          <a:xfrm>
            <a:off x="548640" y="2377440"/>
            <a:ext cx="4754880" cy="822960"/>
          </a:xfrm>
          <a:prstGeom prst="rect">
            <a:avLst/>
          </a:prstGeom>
          <a:noFill/>
        </p:spPr>
        <p:txBody>
          <a:bodyPr wrap="square" anchor="t" lIns="45720" rIns="45720" tIns="36576" bIns="36576">
            <a:spAutoFit/>
          </a:bodyPr>
          <a:lstStyle/>
          <a:p>
            <a:pPr algn="l"/>
            <a:r>
              <a:rPr sz="1800" b="0" i="1">
                <a:solidFill>
                  <a:srgbClr val="2F6D62"/>
                </a:solidFill>
                <a:latin typeface="Calibri"/>
              </a:rPr>
              <a:t>One seed, twelve words, and every key you will ever need back</a:t>
            </a:r>
          </a:p>
        </p:txBody>
      </p:sp>
      <p:sp>
        <p:nvSpPr>
          <p:cNvPr id="6" name="course line"/>
          <p:cNvSpPr txBox="1"/>
          <p:nvPr/>
        </p:nvSpPr>
        <p:spPr>
          <a:xfrm>
            <a:off x="548640" y="3429000"/>
            <a:ext cx="4754880" cy="685800"/>
          </a:xfrm>
          <a:prstGeom prst="rect">
            <a:avLst/>
          </a:prstGeom>
          <a:noFill/>
        </p:spPr>
        <p:txBody>
          <a:bodyPr wrap="square" anchor="t" lIns="45720" rIns="45720" tIns="36576" bIns="36576">
            <a:spAutoFit/>
          </a:bodyPr>
          <a:lstStyle/>
          <a:p>
            <a:pPr algn="l"/>
            <a:r>
              <a:rPr sz="1200" b="0" i="0">
                <a:solidFill>
                  <a:srgbClr val="6E655C"/>
                </a:solidFill>
                <a:latin typeface="Calibri"/>
              </a:rPr>
              <a:t>SEN0401 Special Topics in Software Engineering: Block Chain  -  Fall 2026  -  Yusuf Altunel, PhD  -  Istanbul Kultur University</a:t>
            </a:r>
          </a:p>
        </p:txBody>
      </p:sp>
      <p:pic>
        <p:nvPicPr>
          <p:cNvPr id="7" name="picture" descr="mbc3_0504.png"/>
          <p:cNvPicPr>
            <a:picLocks noChangeAspect="1"/>
          </p:cNvPicPr>
          <p:nvPr/>
        </p:nvPicPr>
        <p:blipFill>
          <a:blip r:embed="rId3"/>
          <a:stretch>
            <a:fillRect/>
          </a:stretch>
        </p:blipFill>
        <p:spPr>
          <a:xfrm>
            <a:off x="5486400" y="737615"/>
            <a:ext cx="3200400" cy="3371088"/>
          </a:xfrm>
          <a:prstGeom prst="rect">
            <a:avLst/>
          </a:prstGeom>
        </p:spPr>
      </p:pic>
      <p:sp>
        <p:nvSpPr>
          <p:cNvPr id="8" name="credit"/>
          <p:cNvSpPr txBox="1"/>
          <p:nvPr/>
        </p:nvSpPr>
        <p:spPr>
          <a:xfrm>
            <a:off x="5486400" y="4215383"/>
            <a:ext cx="3200400" cy="329184"/>
          </a:xfrm>
          <a:prstGeom prst="rect">
            <a:avLst/>
          </a:prstGeom>
          <a:noFill/>
        </p:spPr>
        <p:txBody>
          <a:bodyPr wrap="square" anchor="t" lIns="45720" rIns="45720" tIns="36576" bIns="36576">
            <a:spAutoFit/>
          </a:bodyPr>
          <a:lstStyle/>
          <a:p>
            <a:pPr algn="ctr"/>
            <a:r>
              <a:rPr sz="900" b="0" i="1">
                <a:solidFill>
                  <a:srgbClr val="6E655C"/>
                </a:solidFill>
                <a:latin typeface="Calibri"/>
              </a:rPr>
              <a:t>Figure: Mastering Bitcoin 3e, CC BY-SA 4.0</a:t>
            </a:r>
          </a:p>
        </p:txBody>
      </p:sp>
      <p:sp>
        <p:nvSpPr>
          <p:cNvPr id="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 / 68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Today's route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Seven parts; every number is a slide you can jump to</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6" name="route number"/>
          <p:cNvSpPr/>
          <p:nvPr/>
        </p:nvSpPr>
        <p:spPr>
          <a:xfrm>
            <a:off x="457200" y="117043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1</a:t>
            </a:r>
          </a:p>
        </p:txBody>
      </p:sp>
      <p:sp>
        <p:nvSpPr>
          <p:cNvPr id="7" name="route row"/>
          <p:cNvSpPr/>
          <p:nvPr/>
        </p:nvSpPr>
        <p:spPr>
          <a:xfrm>
            <a:off x="914400" y="117043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Questions, map, story and tools  (slides 3-6)</a:t>
            </a:r>
          </a:p>
        </p:txBody>
      </p:sp>
      <p:sp>
        <p:nvSpPr>
          <p:cNvPr id="8" name="route number"/>
          <p:cNvSpPr/>
          <p:nvPr/>
        </p:nvSpPr>
        <p:spPr>
          <a:xfrm>
            <a:off x="457200" y="153619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2</a:t>
            </a:r>
          </a:p>
        </p:txBody>
      </p:sp>
      <p:sp>
        <p:nvSpPr>
          <p:cNvPr id="9" name="route row"/>
          <p:cNvSpPr/>
          <p:nvPr/>
        </p:nvSpPr>
        <p:spPr>
          <a:xfrm>
            <a:off x="914400" y="153619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1: Keys in wallets  (slides 7-11)</a:t>
            </a:r>
          </a:p>
        </p:txBody>
      </p:sp>
      <p:sp>
        <p:nvSpPr>
          <p:cNvPr id="10" name="route number"/>
          <p:cNvSpPr/>
          <p:nvPr/>
        </p:nvSpPr>
        <p:spPr>
          <a:xfrm>
            <a:off x="457200" y="190195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3</a:t>
            </a:r>
          </a:p>
        </p:txBody>
      </p:sp>
      <p:sp>
        <p:nvSpPr>
          <p:cNvPr id="11" name="route row"/>
          <p:cNvSpPr/>
          <p:nvPr/>
        </p:nvSpPr>
        <p:spPr>
          <a:xfrm>
            <a:off x="914400" y="190195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2: Recovery codes  (slides 12-18)</a:t>
            </a:r>
          </a:p>
        </p:txBody>
      </p:sp>
      <p:sp>
        <p:nvSpPr>
          <p:cNvPr id="12" name="route number"/>
          <p:cNvSpPr/>
          <p:nvPr/>
        </p:nvSpPr>
        <p:spPr>
          <a:xfrm>
            <a:off x="457200" y="226771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4</a:t>
            </a:r>
          </a:p>
        </p:txBody>
      </p:sp>
      <p:sp>
        <p:nvSpPr>
          <p:cNvPr id="13" name="route row"/>
          <p:cNvSpPr/>
          <p:nvPr/>
        </p:nvSpPr>
        <p:spPr>
          <a:xfrm>
            <a:off x="914400" y="226771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3: The BIP39 stack  (slides 19-30)</a:t>
            </a:r>
          </a:p>
        </p:txBody>
      </p:sp>
      <p:sp>
        <p:nvSpPr>
          <p:cNvPr id="14" name="route number"/>
          <p:cNvSpPr/>
          <p:nvPr/>
        </p:nvSpPr>
        <p:spPr>
          <a:xfrm>
            <a:off x="457200" y="263347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5</a:t>
            </a:r>
          </a:p>
        </p:txBody>
      </p:sp>
      <p:sp>
        <p:nvSpPr>
          <p:cNvPr id="15" name="route row"/>
          <p:cNvSpPr/>
          <p:nvPr/>
        </p:nvSpPr>
        <p:spPr>
          <a:xfrm>
            <a:off x="914400" y="263347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4: The HD wallet  (slides 31-42)</a:t>
            </a:r>
          </a:p>
        </p:txBody>
      </p:sp>
      <p:sp>
        <p:nvSpPr>
          <p:cNvPr id="16" name="route number"/>
          <p:cNvSpPr/>
          <p:nvPr/>
        </p:nvSpPr>
        <p:spPr>
          <a:xfrm>
            <a:off x="457200" y="299923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6</a:t>
            </a:r>
          </a:p>
        </p:txBody>
      </p:sp>
      <p:sp>
        <p:nvSpPr>
          <p:cNvPr id="17" name="route row"/>
          <p:cNvSpPr/>
          <p:nvPr/>
        </p:nvSpPr>
        <p:spPr>
          <a:xfrm>
            <a:off x="914400" y="299923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5: Paths and descriptors  (slides 43-52)</a:t>
            </a:r>
          </a:p>
        </p:txBody>
      </p:sp>
      <p:sp>
        <p:nvSpPr>
          <p:cNvPr id="18" name="route number"/>
          <p:cNvSpPr/>
          <p:nvPr/>
        </p:nvSpPr>
        <p:spPr>
          <a:xfrm>
            <a:off x="457200" y="336499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7</a:t>
            </a:r>
          </a:p>
        </p:txBody>
      </p:sp>
      <p:sp>
        <p:nvSpPr>
          <p:cNvPr id="19" name="route row"/>
          <p:cNvSpPr/>
          <p:nvPr/>
        </p:nvSpPr>
        <p:spPr>
          <a:xfrm>
            <a:off x="914400" y="336499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6: Data that is not keys  (slides 53-56)</a:t>
            </a:r>
          </a:p>
        </p:txBody>
      </p:sp>
      <p:sp>
        <p:nvSpPr>
          <p:cNvPr id="20" name="route number"/>
          <p:cNvSpPr/>
          <p:nvPr/>
        </p:nvSpPr>
        <p:spPr>
          <a:xfrm>
            <a:off x="457200" y="373075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8</a:t>
            </a:r>
          </a:p>
        </p:txBody>
      </p:sp>
      <p:sp>
        <p:nvSpPr>
          <p:cNvPr id="21" name="route row"/>
          <p:cNvSpPr/>
          <p:nvPr/>
        </p:nvSpPr>
        <p:spPr>
          <a:xfrm>
            <a:off x="914400" y="373075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7: Deploying and testing  (slides 57-64)</a:t>
            </a:r>
          </a:p>
        </p:txBody>
      </p:sp>
      <p:sp>
        <p:nvSpPr>
          <p:cNvPr id="22" name="route number"/>
          <p:cNvSpPr/>
          <p:nvPr/>
        </p:nvSpPr>
        <p:spPr>
          <a:xfrm>
            <a:off x="457200" y="409651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9</a:t>
            </a:r>
          </a:p>
        </p:txBody>
      </p:sp>
      <p:sp>
        <p:nvSpPr>
          <p:cNvPr id="23" name="route row"/>
          <p:cNvSpPr/>
          <p:nvPr/>
        </p:nvSpPr>
        <p:spPr>
          <a:xfrm>
            <a:off x="914400" y="409651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Summary, resources and questions  (slides 65-68)</a:t>
            </a:r>
          </a:p>
        </p:txBody>
      </p:sp>
      <p:sp>
        <p:nvSpPr>
          <p:cNvPr id="24" name="stat card"/>
          <p:cNvSpPr/>
          <p:nvPr/>
        </p:nvSpPr>
        <p:spPr>
          <a:xfrm>
            <a:off x="6309360" y="1170432"/>
            <a:ext cx="2377440" cy="987552"/>
          </a:xfrm>
          <a:prstGeom prst="roundRect">
            <a:avLst>
              <a:gd name="adj" fmla="val 7407"/>
            </a:avLst>
          </a:prstGeom>
          <a:solidFill>
            <a:srgbClr val="F2ECE1"/>
          </a:solidFill>
          <a:ln>
            <a:solidFill>
              <a:srgbClr val="F2ECE1"/>
            </a:solidFill>
          </a:ln>
        </p:spPr>
        <p:txBody>
          <a:bodyPr rtlCol="0" anchor="ctr"/>
          <a:lstStyle/>
          <a:p>
            <a:pPr algn="ctr"/>
          </a:p>
        </p:txBody>
      </p:sp>
      <p:sp>
        <p:nvSpPr>
          <p:cNvPr id="25" name="stat number"/>
          <p:cNvSpPr txBox="1"/>
          <p:nvPr/>
        </p:nvSpPr>
        <p:spPr>
          <a:xfrm>
            <a:off x="6355080" y="1188720"/>
            <a:ext cx="2286000" cy="457200"/>
          </a:xfrm>
          <a:prstGeom prst="rect">
            <a:avLst/>
          </a:prstGeom>
          <a:noFill/>
        </p:spPr>
        <p:txBody>
          <a:bodyPr wrap="square" anchor="t" lIns="45720" rIns="45720" tIns="36576" bIns="36576">
            <a:spAutoFit/>
          </a:bodyPr>
          <a:lstStyle/>
          <a:p>
            <a:pPr algn="ctr"/>
            <a:r>
              <a:rPr sz="2600" b="1" i="0">
                <a:solidFill>
                  <a:srgbClr val="D97A14"/>
                </a:solidFill>
                <a:latin typeface="Cambria"/>
              </a:rPr>
              <a:t>68</a:t>
            </a:r>
          </a:p>
        </p:txBody>
      </p:sp>
      <p:sp>
        <p:nvSpPr>
          <p:cNvPr id="26" name="stat label"/>
          <p:cNvSpPr txBox="1"/>
          <p:nvPr/>
        </p:nvSpPr>
        <p:spPr>
          <a:xfrm>
            <a:off x="6355080" y="1645920"/>
            <a:ext cx="2286000" cy="502920"/>
          </a:xfrm>
          <a:prstGeom prst="rect">
            <a:avLst/>
          </a:prstGeom>
          <a:noFill/>
        </p:spPr>
        <p:txBody>
          <a:bodyPr wrap="square" anchor="t" lIns="45720" rIns="45720" tIns="36576" bIns="36576">
            <a:spAutoFit/>
          </a:bodyPr>
          <a:lstStyle/>
          <a:p>
            <a:pPr algn="ctr"/>
            <a:r>
              <a:rPr sz="1150" b="0" i="0">
                <a:solidFill>
                  <a:srgbClr val="2B2622"/>
                </a:solidFill>
                <a:latin typeface="Calibri"/>
              </a:rPr>
              <a:t>slides, numbered bottom-right</a:t>
            </a:r>
          </a:p>
        </p:txBody>
      </p:sp>
      <p:sp>
        <p:nvSpPr>
          <p:cNvPr id="27" name="stat card"/>
          <p:cNvSpPr/>
          <p:nvPr/>
        </p:nvSpPr>
        <p:spPr>
          <a:xfrm>
            <a:off x="6309360" y="2267712"/>
            <a:ext cx="2377440" cy="987552"/>
          </a:xfrm>
          <a:prstGeom prst="roundRect">
            <a:avLst>
              <a:gd name="adj" fmla="val 7407"/>
            </a:avLst>
          </a:prstGeom>
          <a:solidFill>
            <a:srgbClr val="F2ECE1"/>
          </a:solidFill>
          <a:ln>
            <a:solidFill>
              <a:srgbClr val="F2ECE1"/>
            </a:solidFill>
          </a:ln>
        </p:spPr>
        <p:txBody>
          <a:bodyPr rtlCol="0" anchor="ctr"/>
          <a:lstStyle/>
          <a:p>
            <a:pPr algn="ctr"/>
          </a:p>
        </p:txBody>
      </p:sp>
      <p:sp>
        <p:nvSpPr>
          <p:cNvPr id="28" name="stat number"/>
          <p:cNvSpPr txBox="1"/>
          <p:nvPr/>
        </p:nvSpPr>
        <p:spPr>
          <a:xfrm>
            <a:off x="6355080" y="2286000"/>
            <a:ext cx="2286000" cy="457200"/>
          </a:xfrm>
          <a:prstGeom prst="rect">
            <a:avLst/>
          </a:prstGeom>
          <a:noFill/>
        </p:spPr>
        <p:txBody>
          <a:bodyPr wrap="square" anchor="t" lIns="45720" rIns="45720" tIns="36576" bIns="36576">
            <a:spAutoFit/>
          </a:bodyPr>
          <a:lstStyle/>
          <a:p>
            <a:pPr algn="ctr"/>
            <a:r>
              <a:rPr sz="2600" b="1" i="0">
                <a:solidFill>
                  <a:srgbClr val="D97A14"/>
                </a:solidFill>
                <a:latin typeface="Cambria"/>
              </a:rPr>
              <a:t>27</a:t>
            </a:r>
          </a:p>
        </p:txBody>
      </p:sp>
      <p:sp>
        <p:nvSpPr>
          <p:cNvPr id="29" name="stat label"/>
          <p:cNvSpPr txBox="1"/>
          <p:nvPr/>
        </p:nvSpPr>
        <p:spPr>
          <a:xfrm>
            <a:off x="6355080" y="2743200"/>
            <a:ext cx="2286000" cy="502920"/>
          </a:xfrm>
          <a:prstGeom prst="rect">
            <a:avLst/>
          </a:prstGeom>
          <a:noFill/>
        </p:spPr>
        <p:txBody>
          <a:bodyPr wrap="square" anchor="t" lIns="45720" rIns="45720" tIns="36576" bIns="36576">
            <a:spAutoFit/>
          </a:bodyPr>
          <a:lstStyle/>
          <a:p>
            <a:pPr algn="ctr"/>
            <a:r>
              <a:rPr sz="1150" b="0" i="0">
                <a:solidFill>
                  <a:srgbClr val="2B2622"/>
                </a:solidFill>
                <a:latin typeface="Calibri"/>
              </a:rPr>
              <a:t>code examples, each with its result</a:t>
            </a:r>
          </a:p>
        </p:txBody>
      </p:sp>
      <p:sp>
        <p:nvSpPr>
          <p:cNvPr id="30" name="stat card"/>
          <p:cNvSpPr/>
          <p:nvPr/>
        </p:nvSpPr>
        <p:spPr>
          <a:xfrm>
            <a:off x="6309360" y="3364991"/>
            <a:ext cx="2377440" cy="987552"/>
          </a:xfrm>
          <a:prstGeom prst="roundRect">
            <a:avLst>
              <a:gd name="adj" fmla="val 7407"/>
            </a:avLst>
          </a:prstGeom>
          <a:solidFill>
            <a:srgbClr val="F2ECE1"/>
          </a:solidFill>
          <a:ln>
            <a:solidFill>
              <a:srgbClr val="F2ECE1"/>
            </a:solidFill>
          </a:ln>
        </p:spPr>
        <p:txBody>
          <a:bodyPr rtlCol="0" anchor="ctr"/>
          <a:lstStyle/>
          <a:p>
            <a:pPr algn="ctr"/>
          </a:p>
        </p:txBody>
      </p:sp>
      <p:sp>
        <p:nvSpPr>
          <p:cNvPr id="31" name="stat number"/>
          <p:cNvSpPr txBox="1"/>
          <p:nvPr/>
        </p:nvSpPr>
        <p:spPr>
          <a:xfrm>
            <a:off x="6355080" y="3383280"/>
            <a:ext cx="2286000" cy="457200"/>
          </a:xfrm>
          <a:prstGeom prst="rect">
            <a:avLst/>
          </a:prstGeom>
          <a:noFill/>
        </p:spPr>
        <p:txBody>
          <a:bodyPr wrap="square" anchor="t" lIns="45720" rIns="45720" tIns="36576" bIns="36576">
            <a:spAutoFit/>
          </a:bodyPr>
          <a:lstStyle/>
          <a:p>
            <a:pPr algn="ctr"/>
            <a:r>
              <a:rPr sz="2600" b="1" i="0">
                <a:solidFill>
                  <a:srgbClr val="D97A14"/>
                </a:solidFill>
                <a:latin typeface="Cambria"/>
              </a:rPr>
              <a:t>3</a:t>
            </a:r>
          </a:p>
        </p:txBody>
      </p:sp>
      <p:sp>
        <p:nvSpPr>
          <p:cNvPr id="32" name="stat label"/>
          <p:cNvSpPr txBox="1"/>
          <p:nvPr/>
        </p:nvSpPr>
        <p:spPr>
          <a:xfrm>
            <a:off x="6355080" y="3840480"/>
            <a:ext cx="2286000" cy="502920"/>
          </a:xfrm>
          <a:prstGeom prst="rect">
            <a:avLst/>
          </a:prstGeom>
          <a:noFill/>
        </p:spPr>
        <p:txBody>
          <a:bodyPr wrap="square" anchor="t" lIns="45720" rIns="45720" tIns="36576" bIns="36576">
            <a:spAutoFit/>
          </a:bodyPr>
          <a:lstStyle/>
          <a:p>
            <a:pPr algn="ctr"/>
            <a:r>
              <a:rPr sz="1150" b="0" i="0">
                <a:solidFill>
                  <a:srgbClr val="2B2622"/>
                </a:solidFill>
                <a:latin typeface="Calibri"/>
              </a:rPr>
              <a:t>true stories, told as who, what, when, where, why, how</a:t>
            </a:r>
          </a:p>
        </p:txBody>
      </p:sp>
      <p:sp>
        <p:nvSpPr>
          <p:cNvPr id="33"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Seven parts, and at the end a backup you have actually tested.</a:t>
            </a:r>
          </a:p>
        </p:txBody>
      </p:sp>
      <p:sp>
        <p:nvSpPr>
          <p:cNvPr id="3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 / 68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The questions this chapter answers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Seven questions; each one is answered by a part of the deck</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6" name="question number"/>
          <p:cNvSpPr/>
          <p:nvPr/>
        </p:nvSpPr>
        <p:spPr>
          <a:xfrm>
            <a:off x="457200" y="11887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1</a:t>
            </a:r>
          </a:p>
        </p:txBody>
      </p:sp>
      <p:sp>
        <p:nvSpPr>
          <p:cNvPr id="7" name="question"/>
          <p:cNvSpPr/>
          <p:nvPr/>
        </p:nvSpPr>
        <p:spPr>
          <a:xfrm>
            <a:off x="1005840" y="11887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What does a Bitcoin wallet actually contain?</a:t>
            </a:r>
          </a:p>
        </p:txBody>
      </p:sp>
      <p:sp>
        <p:nvSpPr>
          <p:cNvPr id="8" name="question number"/>
          <p:cNvSpPr/>
          <p:nvPr/>
        </p:nvSpPr>
        <p:spPr>
          <a:xfrm>
            <a:off x="457200" y="16459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2</a:t>
            </a:r>
          </a:p>
        </p:txBody>
      </p:sp>
      <p:sp>
        <p:nvSpPr>
          <p:cNvPr id="9" name="question"/>
          <p:cNvSpPr/>
          <p:nvPr/>
        </p:nvSpPr>
        <p:spPr>
          <a:xfrm>
            <a:off x="1005840" y="16459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How does a recovery code turn into a seed?</a:t>
            </a:r>
          </a:p>
        </p:txBody>
      </p:sp>
      <p:sp>
        <p:nvSpPr>
          <p:cNvPr id="10" name="question number"/>
          <p:cNvSpPr/>
          <p:nvPr/>
        </p:nvSpPr>
        <p:spPr>
          <a:xfrm>
            <a:off x="457200" y="21031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3</a:t>
            </a:r>
          </a:p>
        </p:txBody>
      </p:sp>
      <p:sp>
        <p:nvSpPr>
          <p:cNvPr id="11" name="question"/>
          <p:cNvSpPr/>
          <p:nvPr/>
        </p:nvSpPr>
        <p:spPr>
          <a:xfrm>
            <a:off x="1005840" y="21031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How does one seed make a whole tree of keys?</a:t>
            </a:r>
          </a:p>
        </p:txBody>
      </p:sp>
      <p:sp>
        <p:nvSpPr>
          <p:cNvPr id="12" name="question number"/>
          <p:cNvSpPr/>
          <p:nvPr/>
        </p:nvSpPr>
        <p:spPr>
          <a:xfrm>
            <a:off x="457200" y="25603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4</a:t>
            </a:r>
          </a:p>
        </p:txBody>
      </p:sp>
      <p:sp>
        <p:nvSpPr>
          <p:cNvPr id="13" name="question"/>
          <p:cNvSpPr/>
          <p:nvPr/>
        </p:nvSpPr>
        <p:spPr>
          <a:xfrm>
            <a:off x="1005840" y="25603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Which recovery code schemes are in use?</a:t>
            </a:r>
          </a:p>
        </p:txBody>
      </p:sp>
      <p:sp>
        <p:nvSpPr>
          <p:cNvPr id="14" name="question number"/>
          <p:cNvSpPr/>
          <p:nvPr/>
        </p:nvSpPr>
        <p:spPr>
          <a:xfrm>
            <a:off x="457200" y="30175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5</a:t>
            </a:r>
          </a:p>
        </p:txBody>
      </p:sp>
      <p:sp>
        <p:nvSpPr>
          <p:cNvPr id="15" name="question"/>
          <p:cNvSpPr/>
          <p:nvPr/>
        </p:nvSpPr>
        <p:spPr>
          <a:xfrm>
            <a:off x="1005840" y="30175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Which derivation paths does a wallet use?</a:t>
            </a:r>
          </a:p>
        </p:txBody>
      </p:sp>
      <p:sp>
        <p:nvSpPr>
          <p:cNvPr id="16" name="question number"/>
          <p:cNvSpPr/>
          <p:nvPr/>
        </p:nvSpPr>
        <p:spPr>
          <a:xfrm>
            <a:off x="457200" y="34747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6</a:t>
            </a:r>
          </a:p>
        </p:txBody>
      </p:sp>
      <p:sp>
        <p:nvSpPr>
          <p:cNvPr id="17" name="question"/>
          <p:cNvSpPr/>
          <p:nvPr/>
        </p:nvSpPr>
        <p:spPr>
          <a:xfrm>
            <a:off x="1005840" y="34747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Where does the book differ from the standards?</a:t>
            </a:r>
          </a:p>
        </p:txBody>
      </p:sp>
      <p:sp>
        <p:nvSpPr>
          <p:cNvPr id="18" name="question number"/>
          <p:cNvSpPr/>
          <p:nvPr/>
        </p:nvSpPr>
        <p:spPr>
          <a:xfrm>
            <a:off x="457200" y="39319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7</a:t>
            </a:r>
          </a:p>
        </p:txBody>
      </p:sp>
      <p:sp>
        <p:nvSpPr>
          <p:cNvPr id="19" name="question"/>
          <p:cNvSpPr/>
          <p:nvPr/>
        </p:nvSpPr>
        <p:spPr>
          <a:xfrm>
            <a:off x="1005840" y="39319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What must you back up, and how do you test it?</a:t>
            </a:r>
          </a:p>
        </p:txBody>
      </p:sp>
      <p:sp>
        <p:nvSpPr>
          <p:cNvPr id="20"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If you can answer these seven, chapter 5 is yours.</a:t>
            </a:r>
          </a:p>
        </p:txBody>
      </p:sp>
      <p:sp>
        <p:nvSpPr>
          <p:cNvPr id="21"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 / 68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One chapter, eight branches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How many concepts the course page explains in each branch</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A Wallet Technology Stack in Detail</a:t>
            </a:r>
          </a:p>
        </p:txBody>
      </p:sp>
      <p:graphicFrame>
        <p:nvGraphicFramePr>
          <p:cNvPr id="6" name="concept count chart"/>
          <p:cNvGraphicFramePr>
            <a:graphicFrameLocks noGrp="1"/>
          </p:cNvGraphicFramePr>
          <p:nvPr/>
        </p:nvGraphicFramePr>
        <p:xfrm>
          <a:off x="365760" y="1143000"/>
          <a:ext cx="5486400" cy="3246120"/>
        </p:xfrm>
        <a:graphic>
          <a:graphicData uri="http://schemas.openxmlformats.org/drawingml/2006/chart">
            <c:chart xmlns:c="http://schemas.openxmlformats.org/drawingml/2006/chart" r:id="rId3"/>
          </a:graphicData>
        </a:graphic>
      </p:graphicFrame>
      <p:sp>
        <p:nvSpPr>
          <p:cNvPr id="7" name="reading guide"/>
          <p:cNvSpPr/>
          <p:nvPr/>
        </p:nvSpPr>
        <p:spPr>
          <a:xfrm>
            <a:off x="6035040" y="1188720"/>
            <a:ext cx="2651760" cy="3108960"/>
          </a:xfrm>
          <a:prstGeom prst="roundRect">
            <a:avLst>
              <a:gd name="adj" fmla="val 2758"/>
            </a:avLst>
          </a:prstGeom>
          <a:solidFill>
            <a:srgbClr val="F2ECE1"/>
          </a:solidFill>
          <a:ln>
            <a:solidFill>
              <a:srgbClr val="F2ECE1"/>
            </a:solidFill>
          </a:ln>
        </p:spPr>
        <p:txBody>
          <a:bodyPr rtlCol="0" anchor="ctr"/>
          <a:lstStyle/>
          <a:p>
            <a:pPr algn="ctr"/>
          </a:p>
        </p:txBody>
      </p:sp>
      <p:sp>
        <p:nvSpPr>
          <p:cNvPr id="8" name="guide heading"/>
          <p:cNvSpPr txBox="1"/>
          <p:nvPr/>
        </p:nvSpPr>
        <p:spPr>
          <a:xfrm>
            <a:off x="6172200" y="1261872"/>
            <a:ext cx="2377440" cy="274320"/>
          </a:xfrm>
          <a:prstGeom prst="rect">
            <a:avLst/>
          </a:prstGeom>
          <a:noFill/>
        </p:spPr>
        <p:txBody>
          <a:bodyPr wrap="square" anchor="t" lIns="45720" rIns="45720" tIns="36576" bIns="36576">
            <a:spAutoFit/>
          </a:bodyPr>
          <a:lstStyle/>
          <a:p>
            <a:pPr algn="l"/>
            <a:r>
              <a:rPr sz="1400" b="1" i="0">
                <a:solidFill>
                  <a:srgbClr val="D97A14"/>
                </a:solidFill>
                <a:latin typeface="Cambria"/>
              </a:rPr>
              <a:t>How to read the deck</a:t>
            </a:r>
          </a:p>
        </p:txBody>
      </p:sp>
      <p:sp>
        <p:nvSpPr>
          <p:cNvPr id="9" name="guide text"/>
          <p:cNvSpPr txBox="1"/>
          <p:nvPr/>
        </p:nvSpPr>
        <p:spPr>
          <a:xfrm>
            <a:off x="6172200" y="1627632"/>
            <a:ext cx="2423160" cy="2606040"/>
          </a:xfrm>
          <a:prstGeom prst="rect">
            <a:avLst/>
          </a:prstGeom>
          <a:noFill/>
        </p:spPr>
        <p:txBody>
          <a:bodyPr wrap="square" anchor="t" lIns="45720" rIns="45720" tIns="36576" bIns="36576">
            <a:spAutoFit/>
          </a:bodyPr>
          <a:lstStyle/>
          <a:p>
            <a:pPr algn="l"/>
            <a:r>
              <a:rPr sz="1250" b="0" i="0">
                <a:solidFill>
                  <a:srgbClr val="2B2622"/>
                </a:solidFill>
                <a:latin typeface="Calibri"/>
              </a:rPr>
              <a:t>Seven parts follow the branches.</a:t>
            </a:r>
          </a:p>
          <a:p>
            <a:pPr algn="l"/>
            <a:r>
              <a:rPr sz="1250" b="0" i="0">
                <a:solidFill>
                  <a:srgbClr val="2B2622"/>
                </a:solidFill>
                <a:latin typeface="Calibri"/>
              </a:rPr>
              <a:t>Every part opens with a divider.</a:t>
            </a:r>
          </a:p>
          <a:p>
            <a:pPr algn="l"/>
            <a:r>
              <a:rPr sz="1250" b="0" i="0">
                <a:solidFill>
                  <a:srgbClr val="2B2622"/>
                </a:solidFill>
                <a:latin typeface="Calibri"/>
              </a:rPr>
              <a:t>Code slides show the code, a note beside it, and the result.</a:t>
            </a:r>
          </a:p>
        </p:txBody>
      </p:sp>
      <p:sp>
        <p:nvSpPr>
          <p:cNvPr id="10"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Today's spine: keys, codes, the tree, paths, backups.</a:t>
            </a:r>
          </a:p>
        </p:txBody>
      </p:sp>
      <p:sp>
        <p:nvSpPr>
          <p:cNvPr id="11"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 / 68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Two guesses from 7,002 bitcoin</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true story, told as who, what, when, where, why and how</a:t>
            </a:r>
          </a:p>
        </p:txBody>
      </p:sp>
      <p:pic>
        <p:nvPicPr>
          <p:cNvPr id="5" name="picture" descr="photo_stefan_thomas.jpg"/>
          <p:cNvPicPr>
            <a:picLocks noChangeAspect="1"/>
          </p:cNvPicPr>
          <p:nvPr/>
        </p:nvPicPr>
        <p:blipFill>
          <a:blip r:embed="rId3"/>
          <a:stretch>
            <a:fillRect/>
          </a:stretch>
        </p:blipFill>
        <p:spPr>
          <a:xfrm>
            <a:off x="929640" y="1170432"/>
            <a:ext cx="2072640" cy="3108960"/>
          </a:xfrm>
          <a:prstGeom prst="rect">
            <a:avLst/>
          </a:prstGeom>
        </p:spPr>
      </p:pic>
      <p:sp>
        <p:nvSpPr>
          <p:cNvPr id="6" name="credit"/>
          <p:cNvSpPr txBox="1"/>
          <p:nvPr/>
        </p:nvSpPr>
        <p:spPr>
          <a:xfrm>
            <a:off x="457200" y="4288536"/>
            <a:ext cx="3017520" cy="329184"/>
          </a:xfrm>
          <a:prstGeom prst="rect">
            <a:avLst/>
          </a:prstGeom>
          <a:noFill/>
        </p:spPr>
        <p:txBody>
          <a:bodyPr wrap="square" anchor="t" lIns="45720" rIns="45720" tIns="36576" bIns="36576">
            <a:spAutoFit/>
          </a:bodyPr>
          <a:lstStyle/>
          <a:p>
            <a:pPr algn="ctr"/>
            <a:r>
              <a:rPr sz="900" b="0" i="1">
                <a:solidFill>
                  <a:srgbClr val="6E655C"/>
                </a:solidFill>
                <a:latin typeface="Calibri"/>
              </a:rPr>
              <a:t>Stefan Thomas, 2015 - Lift Conference, CC BY 2.0</a:t>
            </a:r>
          </a:p>
        </p:txBody>
      </p:sp>
      <p:sp>
        <p:nvSpPr>
          <p:cNvPr id="7" name="5N1K row"/>
          <p:cNvSpPr/>
          <p:nvPr/>
        </p:nvSpPr>
        <p:spPr>
          <a:xfrm>
            <a:off x="3611880" y="1152144"/>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8" name="5N1K label"/>
          <p:cNvSpPr txBox="1"/>
          <p:nvPr/>
        </p:nvSpPr>
        <p:spPr>
          <a:xfrm>
            <a:off x="3675887" y="1152144"/>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WHO</a:t>
            </a:r>
          </a:p>
        </p:txBody>
      </p:sp>
      <p:sp>
        <p:nvSpPr>
          <p:cNvPr id="9" name="5N1K text"/>
          <p:cNvSpPr txBox="1"/>
          <p:nvPr/>
        </p:nvSpPr>
        <p:spPr>
          <a:xfrm>
            <a:off x="4389120" y="1152144"/>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Stefan Thomas, programmer and former Ripple technology chief; reporter Nathaniel Popper, New York Times.</a:t>
            </a:r>
          </a:p>
        </p:txBody>
      </p:sp>
      <p:sp>
        <p:nvSpPr>
          <p:cNvPr id="10" name="5N1K row"/>
          <p:cNvSpPr/>
          <p:nvPr/>
        </p:nvSpPr>
        <p:spPr>
          <a:xfrm>
            <a:off x="3611880" y="1645920"/>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1" name="5N1K label"/>
          <p:cNvSpPr txBox="1"/>
          <p:nvPr/>
        </p:nvSpPr>
        <p:spPr>
          <a:xfrm>
            <a:off x="3675887" y="1645920"/>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WHAT</a:t>
            </a:r>
          </a:p>
        </p:txBody>
      </p:sp>
      <p:sp>
        <p:nvSpPr>
          <p:cNvPr id="12" name="5N1K text"/>
          <p:cNvSpPr txBox="1"/>
          <p:nvPr/>
        </p:nvSpPr>
        <p:spPr>
          <a:xfrm>
            <a:off x="4389120" y="1645920"/>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Locked out of an IronKey drive that holds the keys to 7,002 BTC; eight of ten password guesses used.</a:t>
            </a:r>
          </a:p>
        </p:txBody>
      </p:sp>
      <p:sp>
        <p:nvSpPr>
          <p:cNvPr id="13" name="5N1K row"/>
          <p:cNvSpPr/>
          <p:nvPr/>
        </p:nvSpPr>
        <p:spPr>
          <a:xfrm>
            <a:off x="3611880" y="2139696"/>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4" name="5N1K label"/>
          <p:cNvSpPr txBox="1"/>
          <p:nvPr/>
        </p:nvSpPr>
        <p:spPr>
          <a:xfrm>
            <a:off x="3675887" y="2139696"/>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WHEN</a:t>
            </a:r>
          </a:p>
        </p:txBody>
      </p:sp>
      <p:sp>
        <p:nvSpPr>
          <p:cNvPr id="15" name="5N1K text"/>
          <p:cNvSpPr txBox="1"/>
          <p:nvPr/>
        </p:nvSpPr>
        <p:spPr>
          <a:xfrm>
            <a:off x="4389120" y="2139696"/>
            <a:ext cx="4251960" cy="457200"/>
          </a:xfrm>
          <a:prstGeom prst="rect">
            <a:avLst/>
          </a:prstGeom>
          <a:noFill/>
        </p:spPr>
        <p:txBody>
          <a:bodyPr wrap="square" anchor="ctr" lIns="45720" rIns="45720" tIns="36576" bIns="36576">
            <a:spAutoFit/>
          </a:bodyPr>
          <a:lstStyle/>
          <a:p>
            <a:pPr algn="l"/>
            <a:r>
              <a:rPr sz="1100" b="1" i="0">
                <a:solidFill>
                  <a:srgbClr val="2F6D62"/>
                </a:solidFill>
                <a:latin typeface="Calibri"/>
              </a:rPr>
              <a:t>2021-01-12</a:t>
            </a:r>
            <a:r>
              <a:rPr sz="1100" b="0" i="0">
                <a:solidFill>
                  <a:srgbClr val="2B2622"/>
                </a:solidFill>
                <a:latin typeface="Calibri"/>
              </a:rPr>
              <a:t> - the story ran; the 7,002 BTC was paid in 2011.</a:t>
            </a:r>
          </a:p>
        </p:txBody>
      </p:sp>
      <p:sp>
        <p:nvSpPr>
          <p:cNvPr id="16" name="5N1K row"/>
          <p:cNvSpPr/>
          <p:nvPr/>
        </p:nvSpPr>
        <p:spPr>
          <a:xfrm>
            <a:off x="3611880" y="2633472"/>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7" name="5N1K label"/>
          <p:cNvSpPr txBox="1"/>
          <p:nvPr/>
        </p:nvSpPr>
        <p:spPr>
          <a:xfrm>
            <a:off x="3675887" y="2633472"/>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WHERE</a:t>
            </a:r>
          </a:p>
        </p:txBody>
      </p:sp>
      <p:sp>
        <p:nvSpPr>
          <p:cNvPr id="18" name="5N1K text"/>
          <p:cNvSpPr txBox="1"/>
          <p:nvPr/>
        </p:nvSpPr>
        <p:spPr>
          <a:xfrm>
            <a:off x="4389120" y="2633472"/>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An IronKey USB drive in a safe, and the front page of the New York Times.</a:t>
            </a:r>
          </a:p>
        </p:txBody>
      </p:sp>
      <p:sp>
        <p:nvSpPr>
          <p:cNvPr id="19" name="5N1K row"/>
          <p:cNvSpPr/>
          <p:nvPr/>
        </p:nvSpPr>
        <p:spPr>
          <a:xfrm>
            <a:off x="3611880" y="3127248"/>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20" name="5N1K label"/>
          <p:cNvSpPr txBox="1"/>
          <p:nvPr/>
        </p:nvSpPr>
        <p:spPr>
          <a:xfrm>
            <a:off x="3675887" y="3127248"/>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WHY</a:t>
            </a:r>
          </a:p>
        </p:txBody>
      </p:sp>
      <p:sp>
        <p:nvSpPr>
          <p:cNvPr id="21" name="5N1K text"/>
          <p:cNvSpPr txBox="1"/>
          <p:nvPr/>
        </p:nvSpPr>
        <p:spPr>
          <a:xfrm>
            <a:off x="4389120" y="3127248"/>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The password was on a paper he lost; memory was his only backup.</a:t>
            </a:r>
          </a:p>
        </p:txBody>
      </p:sp>
      <p:sp>
        <p:nvSpPr>
          <p:cNvPr id="22" name="5N1K row"/>
          <p:cNvSpPr/>
          <p:nvPr/>
        </p:nvSpPr>
        <p:spPr>
          <a:xfrm>
            <a:off x="3611880" y="3621024"/>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23" name="5N1K label"/>
          <p:cNvSpPr txBox="1"/>
          <p:nvPr/>
        </p:nvSpPr>
        <p:spPr>
          <a:xfrm>
            <a:off x="3675887" y="3621024"/>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HOW</a:t>
            </a:r>
          </a:p>
        </p:txBody>
      </p:sp>
      <p:sp>
        <p:nvSpPr>
          <p:cNvPr id="24" name="5N1K text"/>
          <p:cNvSpPr txBox="1"/>
          <p:nvPr/>
        </p:nvSpPr>
        <p:spPr>
          <a:xfrm>
            <a:off x="4389120" y="3621024"/>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The drive locks forever after ten wrong guesses. A tested recovery code is the alternative.</a:t>
            </a:r>
          </a:p>
        </p:txBody>
      </p:sp>
      <p:sp>
        <p:nvSpPr>
          <p:cNvPr id="25" name="live link"/>
          <p:cNvSpPr txBox="1"/>
          <p:nvPr/>
        </p:nvSpPr>
        <p:spPr>
          <a:xfrm>
            <a:off x="3611880" y="4133087"/>
            <a:ext cx="5074920" cy="274320"/>
          </a:xfrm>
          <a:prstGeom prst="rect">
            <a:avLst/>
          </a:prstGeom>
          <a:noFill/>
        </p:spPr>
        <p:txBody>
          <a:bodyPr wrap="square" anchor="t" lIns="45720" rIns="45720" tIns="36576" bIns="36576">
            <a:spAutoFit/>
          </a:bodyPr>
          <a:lstStyle/>
          <a:p>
            <a:pPr algn="l"/>
            <a:r>
              <a:rPr sz="1200" b="1" i="0">
                <a:solidFill>
                  <a:srgbClr val="D97A14"/>
                </a:solidFill>
                <a:latin typeface="Calibri"/>
              </a:rPr>
              <a:t>READ  </a:t>
            </a:r>
            <a:r>
              <a:rPr sz="1200" b="1" i="0">
                <a:solidFill>
                  <a:srgbClr val="2F6D62"/>
                </a:solidFill>
                <a:latin typeface="Calibri"/>
                <a:hlinkClick r:id="rId4"/>
              </a:rPr>
              <a:t>NYT via Business Standard (news)</a:t>
            </a:r>
            <a:r>
              <a:rPr sz="1050" b="0" i="0">
                <a:solidFill>
                  <a:srgbClr val="6E655C"/>
                </a:solidFill>
                <a:latin typeface="Calibri"/>
              </a:rPr>
              <a:t>   business-standard.com</a:t>
            </a:r>
          </a:p>
        </p:txBody>
      </p:sp>
      <p:sp>
        <p:nvSpPr>
          <p:cNvPr id="26"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Memory is not a backup; a recovery code you never test is barely one</a:t>
            </a:r>
          </a:p>
        </p:txBody>
      </p:sp>
      <p:sp>
        <p:nvSpPr>
          <p:cNvPr id="2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 / 68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The tools we run today</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One small Python library, written for reading</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graphicFrame>
        <p:nvGraphicFramePr>
          <p:cNvPr id="6" name="library table"/>
          <p:cNvGraphicFramePr>
            <a:graphicFrameLocks noGrp="1"/>
          </p:cNvGraphicFramePr>
          <p:nvPr/>
        </p:nvGraphicFramePr>
        <p:xfrm>
          <a:off x="365760" y="1188720"/>
          <a:ext cx="4754880" cy="2926080"/>
        </p:xfrm>
        <a:graphic>
          <a:graphicData uri="http://schemas.openxmlformats.org/drawingml/2006/table">
            <a:tbl>
              <a:tblPr firstRow="1" bandRow="1">
                <a:tableStyleId>{5C22544A-7EE6-4342-B048-85BDC9FD1C3A}</a:tableStyleId>
              </a:tblPr>
              <a:tblGrid>
                <a:gridCol w="2103120"/>
                <a:gridCol w="2651760"/>
              </a:tblGrid>
              <a:tr h="365760">
                <a:tc>
                  <a:txBody>
                    <a:bodyPr wrap="square"/>
                    <a:lstStyle/>
                    <a:p>
                      <a:r>
                        <a:rPr sz="1100" b="1">
                          <a:solidFill>
                            <a:srgbClr val="FFFFFF"/>
                          </a:solidFill>
                          <a:latin typeface="Calibri"/>
                        </a:rPr>
                        <a:t>Function</a:t>
                      </a:r>
                    </a:p>
                  </a:txBody>
                  <a:tcPr marL="64008" marR="64008" marT="18288" marB="18288" anchor="ctr">
                    <a:solidFill>
                      <a:srgbClr val="2B2622"/>
                    </a:solidFill>
                  </a:tcPr>
                </a:tc>
                <a:tc>
                  <a:txBody>
                    <a:bodyPr wrap="square"/>
                    <a:lstStyle/>
                    <a:p>
                      <a:r>
                        <a:rPr sz="1100" b="1">
                          <a:solidFill>
                            <a:srgbClr val="FFFFFF"/>
                          </a:solidFill>
                          <a:latin typeface="Calibri"/>
                        </a:rPr>
                        <a:t>What it does</a:t>
                      </a:r>
                    </a:p>
                  </a:txBody>
                  <a:tcPr marL="64008" marR="64008" marT="18288" marB="18288" anchor="ctr">
                    <a:solidFill>
                      <a:srgbClr val="2B2622"/>
                    </a:solidFill>
                  </a:tcPr>
                </a:tc>
              </a:tr>
              <a:tr h="365760">
                <a:tc>
                  <a:txBody>
                    <a:bodyPr wrap="square"/>
                    <a:lstStyle/>
                    <a:p>
                      <a:r>
                        <a:rPr sz="1100" b="0">
                          <a:solidFill>
                            <a:srgbClr val="2B2622"/>
                          </a:solidFill>
                          <a:latin typeface="Calibri"/>
                        </a:rPr>
                        <a:t>entropy_to_mnemonic</a:t>
                      </a:r>
                    </a:p>
                  </a:txBody>
                  <a:tcPr marL="64008" marR="64008" marT="18288" marB="18288" anchor="ctr">
                    <a:solidFill>
                      <a:srgbClr val="F2ECE1"/>
                    </a:solidFill>
                  </a:tcPr>
                </a:tc>
                <a:tc>
                  <a:txBody>
                    <a:bodyPr wrap="square"/>
                    <a:lstStyle/>
                    <a:p>
                      <a:r>
                        <a:rPr sz="1100" b="0">
                          <a:solidFill>
                            <a:srgbClr val="2B2622"/>
                          </a:solidFill>
                          <a:latin typeface="Calibri"/>
                        </a:rPr>
                        <a:t>random bits to recovery words</a:t>
                      </a:r>
                    </a:p>
                  </a:txBody>
                  <a:tcPr marL="64008" marR="64008" marT="18288" marB="18288" anchor="ctr">
                    <a:solidFill>
                      <a:srgbClr val="F2ECE1"/>
                    </a:solidFill>
                  </a:tcPr>
                </a:tc>
              </a:tr>
              <a:tr h="365760">
                <a:tc>
                  <a:txBody>
                    <a:bodyPr wrap="square"/>
                    <a:lstStyle/>
                    <a:p>
                      <a:r>
                        <a:rPr sz="1100" b="0">
                          <a:solidFill>
                            <a:srgbClr val="2B2622"/>
                          </a:solidFill>
                          <a:latin typeface="Calibri"/>
                        </a:rPr>
                        <a:t>mnemonic_to_seed</a:t>
                      </a:r>
                    </a:p>
                  </a:txBody>
                  <a:tcPr marL="64008" marR="64008" marT="18288" marB="18288" anchor="ctr">
                    <a:solidFill>
                      <a:srgbClr val="FFFFFF"/>
                    </a:solidFill>
                  </a:tcPr>
                </a:tc>
                <a:tc>
                  <a:txBody>
                    <a:bodyPr wrap="square"/>
                    <a:lstStyle/>
                    <a:p>
                      <a:r>
                        <a:rPr sz="1100" b="0">
                          <a:solidFill>
                            <a:srgbClr val="2B2622"/>
                          </a:solidFill>
                          <a:latin typeface="Calibri"/>
                        </a:rPr>
                        <a:t>words to a 512-bit seed</a:t>
                      </a:r>
                    </a:p>
                  </a:txBody>
                  <a:tcPr marL="64008" marR="64008" marT="18288" marB="18288" anchor="ctr">
                    <a:solidFill>
                      <a:srgbClr val="FFFFFF"/>
                    </a:solidFill>
                  </a:tcPr>
                </a:tc>
              </a:tr>
              <a:tr h="365760">
                <a:tc>
                  <a:txBody>
                    <a:bodyPr wrap="square"/>
                    <a:lstStyle/>
                    <a:p>
                      <a:r>
                        <a:rPr sz="1100" b="0">
                          <a:solidFill>
                            <a:srgbClr val="2B2622"/>
                          </a:solidFill>
                          <a:latin typeface="Calibri"/>
                        </a:rPr>
                        <a:t>master, ckd_priv, ckd_pub</a:t>
                      </a:r>
                    </a:p>
                  </a:txBody>
                  <a:tcPr marL="64008" marR="64008" marT="18288" marB="18288" anchor="ctr">
                    <a:solidFill>
                      <a:srgbClr val="F2ECE1"/>
                    </a:solidFill>
                  </a:tcPr>
                </a:tc>
                <a:tc>
                  <a:txBody>
                    <a:bodyPr wrap="square"/>
                    <a:lstStyle/>
                    <a:p>
                      <a:r>
                        <a:rPr sz="1100" b="0">
                          <a:solidFill>
                            <a:srgbClr val="2B2622"/>
                          </a:solidFill>
                          <a:latin typeface="Calibri"/>
                        </a:rPr>
                        <a:t>seed to master key, parent to child</a:t>
                      </a:r>
                    </a:p>
                  </a:txBody>
                  <a:tcPr marL="64008" marR="64008" marT="18288" marB="18288" anchor="ctr">
                    <a:solidFill>
                      <a:srgbClr val="F2ECE1"/>
                    </a:solidFill>
                  </a:tcPr>
                </a:tc>
              </a:tr>
              <a:tr h="365760">
                <a:tc>
                  <a:txBody>
                    <a:bodyPr wrap="square"/>
                    <a:lstStyle/>
                    <a:p>
                      <a:r>
                        <a:rPr sz="1100" b="0">
                          <a:solidFill>
                            <a:srgbClr val="2B2622"/>
                          </a:solidFill>
                          <a:latin typeface="Calibri"/>
                        </a:rPr>
                        <a:t>keys_at</a:t>
                      </a:r>
                    </a:p>
                  </a:txBody>
                  <a:tcPr marL="64008" marR="64008" marT="18288" marB="18288" anchor="ctr">
                    <a:solidFill>
                      <a:srgbClr val="FFFFFF"/>
                    </a:solidFill>
                  </a:tcPr>
                </a:tc>
                <a:tc>
                  <a:txBody>
                    <a:bodyPr wrap="square"/>
                    <a:lstStyle/>
                    <a:p>
                      <a:r>
                        <a:rPr sz="1100" b="0">
                          <a:solidFill>
                            <a:srgbClr val="2B2622"/>
                          </a:solidFill>
                          <a:latin typeface="Calibri"/>
                        </a:rPr>
                        <a:t>a key at a path below a code</a:t>
                      </a:r>
                    </a:p>
                  </a:txBody>
                  <a:tcPr marL="64008" marR="64008" marT="18288" marB="18288" anchor="ctr">
                    <a:solidFill>
                      <a:srgbClr val="FFFFFF"/>
                    </a:solidFill>
                  </a:tcPr>
                </a:tc>
              </a:tr>
              <a:tr h="365760">
                <a:tc>
                  <a:txBody>
                    <a:bodyPr wrap="square"/>
                    <a:lstStyle/>
                    <a:p>
                      <a:r>
                        <a:rPr sz="1100" b="0">
                          <a:solidFill>
                            <a:srgbClr val="2B2622"/>
                          </a:solidFill>
                          <a:latin typeface="Calibri"/>
                        </a:rPr>
                        <a:t>p2wpkh_address</a:t>
                      </a:r>
                    </a:p>
                  </a:txBody>
                  <a:tcPr marL="64008" marR="64008" marT="18288" marB="18288" anchor="ctr">
                    <a:solidFill>
                      <a:srgbClr val="F2ECE1"/>
                    </a:solidFill>
                  </a:tcPr>
                </a:tc>
                <a:tc>
                  <a:txBody>
                    <a:bodyPr wrap="square"/>
                    <a:lstStyle/>
                    <a:p>
                      <a:r>
                        <a:rPr sz="1100" b="0">
                          <a:solidFill>
                            <a:srgbClr val="2B2622"/>
                          </a:solidFill>
                          <a:latin typeface="Calibri"/>
                        </a:rPr>
                        <a:t>a public key to a bc1q address</a:t>
                      </a:r>
                    </a:p>
                  </a:txBody>
                  <a:tcPr marL="64008" marR="64008" marT="18288" marB="18288" anchor="ctr">
                    <a:solidFill>
                      <a:srgbClr val="F2ECE1"/>
                    </a:solidFill>
                  </a:tcPr>
                </a:tc>
              </a:tr>
              <a:tr h="365760">
                <a:tc>
                  <a:txBody>
                    <a:bodyPr wrap="square"/>
                    <a:lstStyle/>
                    <a:p>
                      <a:r>
                        <a:rPr sz="1100" b="0">
                          <a:solidFill>
                            <a:srgbClr val="2B2622"/>
                          </a:solidFill>
                          <a:latin typeface="Calibri"/>
                        </a:rPr>
                        <a:t>descsum_create</a:t>
                      </a:r>
                    </a:p>
                  </a:txBody>
                  <a:tcPr marL="64008" marR="64008" marT="18288" marB="18288" anchor="ctr">
                    <a:solidFill>
                      <a:srgbClr val="FFFFFF"/>
                    </a:solidFill>
                  </a:tcPr>
                </a:tc>
                <a:tc>
                  <a:txBody>
                    <a:bodyPr wrap="square"/>
                    <a:lstStyle/>
                    <a:p>
                      <a:r>
                        <a:rPr sz="1100" b="0">
                          <a:solidFill>
                            <a:srgbClr val="2B2622"/>
                          </a:solidFill>
                          <a:latin typeface="Calibri"/>
                        </a:rPr>
                        <a:t>a descriptor checksum</a:t>
                      </a:r>
                    </a:p>
                  </a:txBody>
                  <a:tcPr marL="64008" marR="64008" marT="18288" marB="18288" anchor="ctr">
                    <a:solidFill>
                      <a:srgbClr val="FFFFFF"/>
                    </a:solidFill>
                  </a:tcPr>
                </a:tc>
              </a:tr>
              <a:tr h="365760">
                <a:tc>
                  <a:txBody>
                    <a:bodyPr wrap="square"/>
                    <a:lstStyle/>
                    <a:p>
                      <a:r>
                        <a:rPr sz="1100" b="0">
                          <a:solidFill>
                            <a:srgbClr val="2B2622"/>
                          </a:solidFill>
                          <a:latin typeface="Calibri"/>
                        </a:rPr>
                        <a:t>shamir_split, scan_with_gap</a:t>
                      </a:r>
                    </a:p>
                  </a:txBody>
                  <a:tcPr marL="64008" marR="64008" marT="18288" marB="18288" anchor="ctr">
                    <a:solidFill>
                      <a:srgbClr val="F2ECE1"/>
                    </a:solidFill>
                  </a:tcPr>
                </a:tc>
                <a:tc>
                  <a:txBody>
                    <a:bodyPr wrap="square"/>
                    <a:lstStyle/>
                    <a:p>
                      <a:r>
                        <a:rPr sz="1100" b="0">
                          <a:solidFill>
                            <a:srgbClr val="2B2622"/>
                          </a:solidFill>
                          <a:latin typeface="Calibri"/>
                        </a:rPr>
                        <a:t>split a secret, scan addresses</a:t>
                      </a:r>
                    </a:p>
                  </a:txBody>
                  <a:tcPr marL="64008" marR="64008" marT="18288" marB="18288" anchor="ctr">
                    <a:solidFill>
                      <a:srgbClr val="F2ECE1"/>
                    </a:solidFill>
                  </a:tcPr>
                </a:tc>
              </a:tr>
            </a:tbl>
          </a:graphicData>
        </a:graphic>
      </p:graphicFrame>
      <p:graphicFrame>
        <p:nvGraphicFramePr>
          <p:cNvPr id="7" name="sample data table"/>
          <p:cNvGraphicFramePr>
            <a:graphicFrameLocks noGrp="1"/>
          </p:cNvGraphicFramePr>
          <p:nvPr/>
        </p:nvGraphicFramePr>
        <p:xfrm>
          <a:off x="5303520" y="1188720"/>
          <a:ext cx="3474720" cy="2194560"/>
        </p:xfrm>
        <a:graphic>
          <a:graphicData uri="http://schemas.openxmlformats.org/drawingml/2006/table">
            <a:tbl>
              <a:tblPr firstRow="1" bandRow="1">
                <a:tableStyleId>{5C22544A-7EE6-4342-B048-85BDC9FD1C3A}</a:tableStyleId>
              </a:tblPr>
              <a:tblGrid>
                <a:gridCol w="1280160"/>
                <a:gridCol w="2194560"/>
              </a:tblGrid>
              <a:tr h="365760">
                <a:tc>
                  <a:txBody>
                    <a:bodyPr wrap="square"/>
                    <a:lstStyle/>
                    <a:p>
                      <a:r>
                        <a:rPr sz="1100" b="1">
                          <a:solidFill>
                            <a:srgbClr val="FFFFFF"/>
                          </a:solidFill>
                          <a:latin typeface="Calibri"/>
                        </a:rPr>
                        <a:t>Name</a:t>
                      </a:r>
                    </a:p>
                  </a:txBody>
                  <a:tcPr marL="64008" marR="64008" marT="18288" marB="18288" anchor="ctr">
                    <a:solidFill>
                      <a:srgbClr val="2B2622"/>
                    </a:solidFill>
                  </a:tcPr>
                </a:tc>
                <a:tc>
                  <a:txBody>
                    <a:bodyPr wrap="square"/>
                    <a:lstStyle/>
                    <a:p>
                      <a:r>
                        <a:rPr sz="1100" b="1">
                          <a:solidFill>
                            <a:srgbClr val="FFFFFF"/>
                          </a:solidFill>
                          <a:latin typeface="Calibri"/>
                        </a:rPr>
                        <a:t>Sample data</a:t>
                      </a:r>
                    </a:p>
                  </a:txBody>
                  <a:tcPr marL="64008" marR="64008" marT="18288" marB="18288" anchor="ctr">
                    <a:solidFill>
                      <a:srgbClr val="2B2622"/>
                    </a:solidFill>
                  </a:tcPr>
                </a:tc>
              </a:tr>
              <a:tr h="365760">
                <a:tc>
                  <a:txBody>
                    <a:bodyPr wrap="square"/>
                    <a:lstStyle/>
                    <a:p>
                      <a:r>
                        <a:rPr sz="1100" b="0">
                          <a:solidFill>
                            <a:srgbClr val="2B2622"/>
                          </a:solidFill>
                          <a:latin typeface="Calibri"/>
                        </a:rPr>
                        <a:t>ENT, WORDS</a:t>
                      </a:r>
                    </a:p>
                  </a:txBody>
                  <a:tcPr marL="64008" marR="64008" marT="18288" marB="18288" anchor="ctr">
                    <a:solidFill>
                      <a:srgbClr val="F2ECE1"/>
                    </a:solidFill>
                  </a:tcPr>
                </a:tc>
                <a:tc>
                  <a:txBody>
                    <a:bodyPr wrap="square"/>
                    <a:lstStyle/>
                    <a:p>
                      <a:r>
                        <a:rPr sz="1100" b="0">
                          <a:solidFill>
                            <a:srgbClr val="2B2622"/>
                          </a:solidFill>
                          <a:latin typeface="Calibri"/>
                        </a:rPr>
                        <a:t>the book's 128 bits and its 12 words</a:t>
                      </a:r>
                    </a:p>
                  </a:txBody>
                  <a:tcPr marL="64008" marR="64008" marT="18288" marB="18288" anchor="ctr">
                    <a:solidFill>
                      <a:srgbClr val="F2ECE1"/>
                    </a:solidFill>
                  </a:tcPr>
                </a:tc>
              </a:tr>
              <a:tr h="365760">
                <a:tc>
                  <a:txBody>
                    <a:bodyPr wrap="square"/>
                    <a:lstStyle/>
                    <a:p>
                      <a:r>
                        <a:rPr sz="1100" b="0">
                          <a:solidFill>
                            <a:srgbClr val="2B2622"/>
                          </a:solidFill>
                          <a:latin typeface="Calibri"/>
                        </a:rPr>
                        <a:t>TV</a:t>
                      </a:r>
                    </a:p>
                  </a:txBody>
                  <a:tcPr marL="64008" marR="64008" marT="18288" marB="18288" anchor="ctr">
                    <a:solidFill>
                      <a:srgbClr val="FFFFFF"/>
                    </a:solidFill>
                  </a:tcPr>
                </a:tc>
                <a:tc>
                  <a:txBody>
                    <a:bodyPr wrap="square"/>
                    <a:lstStyle/>
                    <a:p>
                      <a:r>
                        <a:rPr sz="1100" b="0">
                          <a:solidFill>
                            <a:srgbClr val="2B2622"/>
                          </a:solidFill>
                          <a:latin typeface="Calibri"/>
                        </a:rPr>
                        <a:t>BIP32 test seed</a:t>
                      </a:r>
                    </a:p>
                  </a:txBody>
                  <a:tcPr marL="64008" marR="64008" marT="18288" marB="18288" anchor="ctr">
                    <a:solidFill>
                      <a:srgbClr val="FFFFFF"/>
                    </a:solidFill>
                  </a:tcPr>
                </a:tc>
              </a:tr>
              <a:tr h="365760">
                <a:tc>
                  <a:txBody>
                    <a:bodyPr wrap="square"/>
                    <a:lstStyle/>
                    <a:p>
                      <a:r>
                        <a:rPr sz="1100" b="0">
                          <a:solidFill>
                            <a:srgbClr val="2B2622"/>
                          </a:solidFill>
                          <a:latin typeface="Calibri"/>
                        </a:rPr>
                        <a:t>B84</a:t>
                      </a:r>
                    </a:p>
                  </a:txBody>
                  <a:tcPr marL="64008" marR="64008" marT="18288" marB="18288" anchor="ctr">
                    <a:solidFill>
                      <a:srgbClr val="F2ECE1"/>
                    </a:solidFill>
                  </a:tcPr>
                </a:tc>
                <a:tc>
                  <a:txBody>
                    <a:bodyPr wrap="square"/>
                    <a:lstStyle/>
                    <a:p>
                      <a:r>
                        <a:rPr sz="1100" b="0">
                          <a:solidFill>
                            <a:srgbClr val="2B2622"/>
                          </a:solidFill>
                          <a:latin typeface="Calibri"/>
                        </a:rPr>
                        <a:t>BIP84 test recovery code</a:t>
                      </a:r>
                    </a:p>
                  </a:txBody>
                  <a:tcPr marL="64008" marR="64008" marT="18288" marB="18288" anchor="ctr">
                    <a:solidFill>
                      <a:srgbClr val="F2ECE1"/>
                    </a:solidFill>
                  </a:tcPr>
                </a:tc>
              </a:tr>
              <a:tr h="365760">
                <a:tc>
                  <a:txBody>
                    <a:bodyPr wrap="square"/>
                    <a:lstStyle/>
                    <a:p>
                      <a:r>
                        <a:rPr sz="1100" b="0">
                          <a:solidFill>
                            <a:srgbClr val="2B2622"/>
                          </a:solidFill>
                          <a:latin typeface="Calibri"/>
                        </a:rPr>
                        <a:t>DESC</a:t>
                      </a:r>
                    </a:p>
                  </a:txBody>
                  <a:tcPr marL="64008" marR="64008" marT="18288" marB="18288" anchor="ctr">
                    <a:solidFill>
                      <a:srgbClr val="FFFFFF"/>
                    </a:solidFill>
                  </a:tcPr>
                </a:tc>
                <a:tc>
                  <a:txBody>
                    <a:bodyPr wrap="square"/>
                    <a:lstStyle/>
                    <a:p>
                      <a:r>
                        <a:rPr sz="1100" b="0">
                          <a:solidFill>
                            <a:srgbClr val="2B2622"/>
                          </a:solidFill>
                          <a:latin typeface="Calibri"/>
                        </a:rPr>
                        <a:t>a descriptor Core made</a:t>
                      </a:r>
                    </a:p>
                  </a:txBody>
                  <a:tcPr marL="64008" marR="64008" marT="18288" marB="18288" anchor="ctr">
                    <a:solidFill>
                      <a:srgbClr val="FFFFFF"/>
                    </a:solidFill>
                  </a:tcPr>
                </a:tc>
              </a:tr>
              <a:tr h="365760">
                <a:tc>
                  <a:txBody>
                    <a:bodyPr wrap="square"/>
                    <a:lstStyle/>
                    <a:p>
                      <a:r>
                        <a:rPr sz="1100" b="0">
                          <a:solidFill>
                            <a:srgbClr val="2B2622"/>
                          </a:solidFill>
                          <a:latin typeface="Calibri"/>
                        </a:rPr>
                        <a:t>BOOK_XPUB</a:t>
                      </a:r>
                    </a:p>
                  </a:txBody>
                  <a:tcPr marL="64008" marR="64008" marT="18288" marB="18288" anchor="ctr">
                    <a:solidFill>
                      <a:srgbClr val="F2ECE1"/>
                    </a:solidFill>
                  </a:tcPr>
                </a:tc>
                <a:tc>
                  <a:txBody>
                    <a:bodyPr wrap="square"/>
                    <a:lstStyle/>
                    <a:p>
                      <a:r>
                        <a:rPr sz="1100" b="0">
                          <a:solidFill>
                            <a:srgbClr val="2B2622"/>
                          </a:solidFill>
                          <a:latin typeface="Calibri"/>
                        </a:rPr>
                        <a:t>the book's extended public key</a:t>
                      </a:r>
                    </a:p>
                  </a:txBody>
                  <a:tcPr marL="64008" marR="64008" marT="18288" marB="18288" anchor="ctr">
                    <a:solidFill>
                      <a:srgbClr val="F2ECE1"/>
                    </a:solidFill>
                  </a:tcPr>
                </a:tc>
              </a:tr>
            </a:tbl>
          </a:graphicData>
        </a:graphic>
      </p:graphicFrame>
      <p:sp>
        <p:nvSpPr>
          <p:cNvPr id="8"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Same library, same data, every code slide: only the idea changes.</a:t>
            </a:r>
          </a:p>
        </p:txBody>
      </p:sp>
      <p:sp>
        <p:nvSpPr>
          <p:cNvPr id="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 / 68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1: Keys in wallets</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From a bag of keys to one recoverable seed</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Independent Key Generation</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wallet database</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file where a wallet keeps its keys and notes</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independent key generation</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every key made alone, so every key needs a backup</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deterministic key generation</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every key follows from one seed by a rule</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seed</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one secret all the keys come from</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key tweak</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number added to a key to make a related key</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hardware signing device</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small computer that signs and never shows its keys</a:t>
            </a:r>
          </a:p>
        </p:txBody>
      </p:sp>
      <p:graphicFrame>
        <p:nvGraphicFramePr>
          <p:cNvPr id="29" name="visual: how the concepts fit"/>
          <p:cNvGraphicFramePr>
            <a:graphicFrameLocks noGrp="1"/>
          </p:cNvGraphicFramePr>
          <p:nvPr/>
        </p:nvGraphicFramePr>
        <p:xfrm>
          <a:off x="6172200" y="1188720"/>
          <a:ext cx="2514600" cy="27432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Seed</a:t>
                      </a:r>
                    </a:p>
                  </a:txBody>
                  <a:tcPr marL="64008" marR="64008" marT="18288" marB="18288" anchor="ctr">
                    <a:solidFill>
                      <a:srgbClr val="F2ECE1"/>
                    </a:solidFill>
                  </a:tcPr>
                </a:tc>
              </a:tr>
              <a:tr h="457200">
                <a:tc>
                  <a:txBody>
                    <a:bodyPr wrap="square"/>
                    <a:lstStyle/>
                    <a:p>
                      <a:r>
                        <a:rPr sz="1150" b="0">
                          <a:solidFill>
                            <a:srgbClr val="2B2622"/>
                          </a:solidFill>
                          <a:latin typeface="Calibri"/>
                        </a:rPr>
                        <a:t>2.  A rule</a:t>
                      </a:r>
                    </a:p>
                  </a:txBody>
                  <a:tcPr marL="64008" marR="64008" marT="18288" marB="18288" anchor="ctr">
                    <a:solidFill>
                      <a:srgbClr val="FFFFFF"/>
                    </a:solidFill>
                  </a:tcPr>
                </a:tc>
              </a:tr>
              <a:tr h="457200">
                <a:tc>
                  <a:txBody>
                    <a:bodyPr wrap="square"/>
                    <a:lstStyle/>
                    <a:p>
                      <a:r>
                        <a:rPr sz="1150" b="0">
                          <a:solidFill>
                            <a:srgbClr val="2B2622"/>
                          </a:solidFill>
                          <a:latin typeface="Calibri"/>
                        </a:rPr>
                        <a:t>3.  Key 0</a:t>
                      </a:r>
                    </a:p>
                  </a:txBody>
                  <a:tcPr marL="64008" marR="64008" marT="18288" marB="18288" anchor="ctr">
                    <a:solidFill>
                      <a:srgbClr val="F2ECE1"/>
                    </a:solidFill>
                  </a:tcPr>
                </a:tc>
              </a:tr>
              <a:tr h="457200">
                <a:tc>
                  <a:txBody>
                    <a:bodyPr wrap="square"/>
                    <a:lstStyle/>
                    <a:p>
                      <a:r>
                        <a:rPr sz="1150" b="0">
                          <a:solidFill>
                            <a:srgbClr val="2B2622"/>
                          </a:solidFill>
                          <a:latin typeface="Calibri"/>
                        </a:rPr>
                        <a:t>4.  Key 1</a:t>
                      </a:r>
                    </a:p>
                  </a:txBody>
                  <a:tcPr marL="64008" marR="64008" marT="18288" marB="18288" anchor="ctr">
                    <a:solidFill>
                      <a:srgbClr val="FFFFFF"/>
                    </a:solidFill>
                  </a:tcPr>
                </a:tc>
              </a:tr>
              <a:tr h="457200">
                <a:tc>
                  <a:txBody>
                    <a:bodyPr wrap="square"/>
                    <a:lstStyle/>
                    <a:p>
                      <a:r>
                        <a:rPr sz="1150" b="0">
                          <a:solidFill>
                            <a:srgbClr val="2B2622"/>
                          </a:solidFill>
                          <a:latin typeface="Calibri"/>
                        </a:rPr>
                        <a:t>5.  Key 2</a:t>
                      </a:r>
                    </a:p>
                  </a:txBody>
                  <a:tcPr marL="64008" marR="64008" marT="18288" marB="18288" anchor="ctr">
                    <a:solidFill>
                      <a:srgbClr val="F2ECE1"/>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7 / 68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What a wallet really holds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wallet application, its database, and who signs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A Wallet Technology Stack in Detail</a:t>
            </a:r>
          </a:p>
        </p:txBody>
      </p:sp>
      <p:grpSp>
        <p:nvGrpSpPr>
          <p:cNvPr id="6" name="visual: who does what"/>
          <p:cNvGrpSpPr/>
          <p:nvPr/>
        </p:nvGrpSpPr>
        <p:grpSpPr>
          <a:xfrm>
            <a:off x="457200" y="1188720"/>
            <a:ext cx="8229600" cy="685800"/>
            <a:chOff x="457200" y="1188720"/>
            <a:chExt cx="8229600" cy="685800"/>
          </a:xfrm>
        </p:grpSpPr>
        <p:sp>
          <p:nvSpPr>
            <p:cNvPr id="7" name="Rounded Rectangle 6"/>
            <p:cNvSpPr/>
            <p:nvPr/>
          </p:nvSpPr>
          <p:spPr>
            <a:xfrm>
              <a:off x="457200" y="1188720"/>
              <a:ext cx="1865376" cy="6858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Wallet application prepares a payment</a:t>
              </a:r>
            </a:p>
          </p:txBody>
        </p:sp>
        <p:cxnSp>
          <p:nvCxnSpPr>
            <p:cNvPr id="8" name="Connector 7"/>
            <p:cNvCxnSpPr/>
            <p:nvPr/>
          </p:nvCxnSpPr>
          <p:spPr>
            <a:xfrm>
              <a:off x="2322576" y="1531620"/>
              <a:ext cx="256032" cy="0"/>
            </a:xfrm>
            <a:prstGeom prst="line">
              <a:avLst/>
            </a:prstGeom>
            <a:ln w="25400">
              <a:solidFill>
                <a:srgbClr val="6E655C"/>
              </a:solidFill>
              <a:tailEnd type="triangle"/>
            </a:ln>
          </p:spPr>
        </p:cxnSp>
        <p:sp>
          <p:nvSpPr>
            <p:cNvPr id="9" name="Rounded Rectangle 8"/>
            <p:cNvSpPr/>
            <p:nvPr/>
          </p:nvSpPr>
          <p:spPr>
            <a:xfrm>
              <a:off x="2578608" y="1188720"/>
              <a:ext cx="1865376" cy="6858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Wallet database supplies the keys</a:t>
              </a:r>
            </a:p>
          </p:txBody>
        </p:sp>
        <p:cxnSp>
          <p:nvCxnSpPr>
            <p:cNvPr id="10" name="Connector 9"/>
            <p:cNvCxnSpPr/>
            <p:nvPr/>
          </p:nvCxnSpPr>
          <p:spPr>
            <a:xfrm>
              <a:off x="4443984" y="1531620"/>
              <a:ext cx="256032" cy="0"/>
            </a:xfrm>
            <a:prstGeom prst="line">
              <a:avLst/>
            </a:prstGeom>
            <a:ln w="25400">
              <a:solidFill>
                <a:srgbClr val="6E655C"/>
              </a:solidFill>
              <a:tailEnd type="triangle"/>
            </a:ln>
          </p:spPr>
        </p:cxnSp>
        <p:sp>
          <p:nvSpPr>
            <p:cNvPr id="11" name="Rounded Rectangle 10"/>
            <p:cNvSpPr/>
            <p:nvPr/>
          </p:nvSpPr>
          <p:spPr>
            <a:xfrm>
              <a:off x="4700016" y="1188720"/>
              <a:ext cx="1865376" cy="68580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Signing device signs</a:t>
              </a:r>
            </a:p>
          </p:txBody>
        </p:sp>
        <p:cxnSp>
          <p:nvCxnSpPr>
            <p:cNvPr id="12" name="Connector 11"/>
            <p:cNvCxnSpPr/>
            <p:nvPr/>
          </p:nvCxnSpPr>
          <p:spPr>
            <a:xfrm>
              <a:off x="6565392" y="1531620"/>
              <a:ext cx="256032" cy="0"/>
            </a:xfrm>
            <a:prstGeom prst="line">
              <a:avLst/>
            </a:prstGeom>
            <a:ln w="25400">
              <a:solidFill>
                <a:srgbClr val="6E655C"/>
              </a:solidFill>
              <a:tailEnd type="triangle"/>
            </a:ln>
          </p:spPr>
        </p:cxnSp>
        <p:sp>
          <p:nvSpPr>
            <p:cNvPr id="13" name="Rounded Rectangle 12"/>
            <p:cNvSpPr/>
            <p:nvPr/>
          </p:nvSpPr>
          <p:spPr>
            <a:xfrm>
              <a:off x="6821424" y="1188720"/>
              <a:ext cx="1865376" cy="6858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Network receives it</a:t>
              </a:r>
            </a:p>
          </p:txBody>
        </p:sp>
      </p:grpSp>
      <p:sp>
        <p:nvSpPr>
          <p:cNvPr id="14" name="card"/>
          <p:cNvSpPr/>
          <p:nvPr/>
        </p:nvSpPr>
        <p:spPr>
          <a:xfrm>
            <a:off x="457200" y="2057400"/>
            <a:ext cx="4059936" cy="1088136"/>
          </a:xfrm>
          <a:prstGeom prst="roundRect">
            <a:avLst>
              <a:gd name="adj" fmla="val 6722"/>
            </a:avLst>
          </a:prstGeom>
          <a:solidFill>
            <a:srgbClr val="F2ECE1"/>
          </a:solidFill>
          <a:ln>
            <a:solidFill>
              <a:srgbClr val="F2ECE1"/>
            </a:solidFill>
          </a:ln>
        </p:spPr>
        <p:txBody>
          <a:bodyPr rtlCol="0" anchor="ctr"/>
          <a:lstStyle/>
          <a:p>
            <a:pPr algn="ctr"/>
          </a:p>
        </p:txBody>
      </p:sp>
      <p:sp>
        <p:nvSpPr>
          <p:cNvPr id="15" name="card heading"/>
          <p:cNvSpPr txBox="1"/>
          <p:nvPr/>
        </p:nvSpPr>
        <p:spPr>
          <a:xfrm>
            <a:off x="548640" y="2103120"/>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Wallet database</a:t>
            </a:r>
          </a:p>
        </p:txBody>
      </p:sp>
      <p:sp>
        <p:nvSpPr>
          <p:cNvPr id="16" name="card text"/>
          <p:cNvSpPr txBox="1"/>
          <p:nvPr/>
        </p:nvSpPr>
        <p:spPr>
          <a:xfrm>
            <a:off x="548640" y="2386584"/>
            <a:ext cx="3877056" cy="722375"/>
          </a:xfrm>
          <a:prstGeom prst="rect">
            <a:avLst/>
          </a:prstGeom>
          <a:noFill/>
        </p:spPr>
        <p:txBody>
          <a:bodyPr wrap="square" anchor="t" lIns="45720" rIns="45720" tIns="36576" bIns="36576">
            <a:spAutoFit/>
          </a:bodyPr>
          <a:lstStyle/>
          <a:p>
            <a:pPr algn="l"/>
            <a:r>
              <a:rPr sz="1250" b="0" i="0">
                <a:solidFill>
                  <a:srgbClr val="2B2622"/>
                </a:solidFill>
                <a:latin typeface="Calibri"/>
              </a:rPr>
              <a:t>The file where a wallet application keeps its keys and its notes.</a:t>
            </a:r>
          </a:p>
        </p:txBody>
      </p:sp>
      <p:sp>
        <p:nvSpPr>
          <p:cNvPr id="17" name="card"/>
          <p:cNvSpPr/>
          <p:nvPr/>
        </p:nvSpPr>
        <p:spPr>
          <a:xfrm>
            <a:off x="4626864" y="2057400"/>
            <a:ext cx="4059936" cy="1088136"/>
          </a:xfrm>
          <a:prstGeom prst="roundRect">
            <a:avLst>
              <a:gd name="adj" fmla="val 6722"/>
            </a:avLst>
          </a:prstGeom>
          <a:solidFill>
            <a:srgbClr val="F2ECE1"/>
          </a:solidFill>
          <a:ln>
            <a:solidFill>
              <a:srgbClr val="F2ECE1"/>
            </a:solidFill>
          </a:ln>
        </p:spPr>
        <p:txBody>
          <a:bodyPr rtlCol="0" anchor="ctr"/>
          <a:lstStyle/>
          <a:p>
            <a:pPr algn="ctr"/>
          </a:p>
        </p:txBody>
      </p:sp>
      <p:sp>
        <p:nvSpPr>
          <p:cNvPr id="18" name="card heading"/>
          <p:cNvSpPr txBox="1"/>
          <p:nvPr/>
        </p:nvSpPr>
        <p:spPr>
          <a:xfrm>
            <a:off x="4718304" y="2103120"/>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Wallet with public keys only</a:t>
            </a:r>
          </a:p>
        </p:txBody>
      </p:sp>
      <p:sp>
        <p:nvSpPr>
          <p:cNvPr id="19" name="card text"/>
          <p:cNvSpPr txBox="1"/>
          <p:nvPr/>
        </p:nvSpPr>
        <p:spPr>
          <a:xfrm>
            <a:off x="4718304" y="2386584"/>
            <a:ext cx="3877056" cy="722375"/>
          </a:xfrm>
          <a:prstGeom prst="rect">
            <a:avLst/>
          </a:prstGeom>
          <a:noFill/>
        </p:spPr>
        <p:txBody>
          <a:bodyPr wrap="square" anchor="t" lIns="45720" rIns="45720" tIns="36576" bIns="36576">
            <a:spAutoFit/>
          </a:bodyPr>
          <a:lstStyle/>
          <a:p>
            <a:pPr algn="l"/>
            <a:r>
              <a:rPr sz="1250" b="0" i="0">
                <a:solidFill>
                  <a:srgbClr val="2B2622"/>
                </a:solidFill>
                <a:latin typeface="Calibri"/>
              </a:rPr>
              <a:t>It can see funds sent to its keys and show them, but it cannot spend.</a:t>
            </a:r>
          </a:p>
        </p:txBody>
      </p:sp>
      <p:sp>
        <p:nvSpPr>
          <p:cNvPr id="20" name="card"/>
          <p:cNvSpPr/>
          <p:nvPr/>
        </p:nvSpPr>
        <p:spPr>
          <a:xfrm>
            <a:off x="457200" y="3255264"/>
            <a:ext cx="4059936" cy="1088136"/>
          </a:xfrm>
          <a:prstGeom prst="roundRect">
            <a:avLst>
              <a:gd name="adj" fmla="val 6722"/>
            </a:avLst>
          </a:prstGeom>
          <a:solidFill>
            <a:srgbClr val="F2ECE1"/>
          </a:solidFill>
          <a:ln>
            <a:solidFill>
              <a:srgbClr val="F2ECE1"/>
            </a:solidFill>
          </a:ln>
        </p:spPr>
        <p:txBody>
          <a:bodyPr rtlCol="0" anchor="ctr"/>
          <a:lstStyle/>
          <a:p>
            <a:pPr algn="ctr"/>
          </a:p>
        </p:txBody>
      </p:sp>
      <p:sp>
        <p:nvSpPr>
          <p:cNvPr id="21" name="card heading"/>
          <p:cNvSpPr txBox="1"/>
          <p:nvPr/>
        </p:nvSpPr>
        <p:spPr>
          <a:xfrm>
            <a:off x="548640" y="3300984"/>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External signing</a:t>
            </a:r>
          </a:p>
        </p:txBody>
      </p:sp>
      <p:sp>
        <p:nvSpPr>
          <p:cNvPr id="22" name="card text"/>
          <p:cNvSpPr txBox="1"/>
          <p:nvPr/>
        </p:nvSpPr>
        <p:spPr>
          <a:xfrm>
            <a:off x="548640" y="3584448"/>
            <a:ext cx="3877056" cy="722375"/>
          </a:xfrm>
          <a:prstGeom prst="rect">
            <a:avLst/>
          </a:prstGeom>
          <a:noFill/>
        </p:spPr>
        <p:txBody>
          <a:bodyPr wrap="square" anchor="t" lIns="45720" rIns="45720" tIns="36576" bIns="36576">
            <a:spAutoFit/>
          </a:bodyPr>
          <a:lstStyle/>
          <a:p>
            <a:pPr algn="l"/>
            <a:r>
              <a:rPr sz="1250" b="0" i="0">
                <a:solidFill>
                  <a:srgbClr val="2B2622"/>
                </a:solidFill>
                <a:latin typeface="Calibri"/>
              </a:rPr>
              <a:t>One program prepares the transaction; another program or device signs it.</a:t>
            </a:r>
          </a:p>
        </p:txBody>
      </p:sp>
      <p:sp>
        <p:nvSpPr>
          <p:cNvPr id="23" name="card"/>
          <p:cNvSpPr/>
          <p:nvPr/>
        </p:nvSpPr>
        <p:spPr>
          <a:xfrm>
            <a:off x="4626864" y="3255264"/>
            <a:ext cx="4059936" cy="1088136"/>
          </a:xfrm>
          <a:prstGeom prst="roundRect">
            <a:avLst>
              <a:gd name="adj" fmla="val 6722"/>
            </a:avLst>
          </a:prstGeom>
          <a:solidFill>
            <a:srgbClr val="F2ECE1"/>
          </a:solidFill>
          <a:ln>
            <a:solidFill>
              <a:srgbClr val="F2ECE1"/>
            </a:solidFill>
          </a:ln>
        </p:spPr>
        <p:txBody>
          <a:bodyPr rtlCol="0" anchor="ctr"/>
          <a:lstStyle/>
          <a:p>
            <a:pPr algn="ctr"/>
          </a:p>
        </p:txBody>
      </p:sp>
      <p:sp>
        <p:nvSpPr>
          <p:cNvPr id="24" name="card heading"/>
          <p:cNvSpPr txBox="1"/>
          <p:nvPr/>
        </p:nvSpPr>
        <p:spPr>
          <a:xfrm>
            <a:off x="4718304" y="3300984"/>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Hardware signing device</a:t>
            </a:r>
          </a:p>
        </p:txBody>
      </p:sp>
      <p:sp>
        <p:nvSpPr>
          <p:cNvPr id="25" name="card text"/>
          <p:cNvSpPr txBox="1"/>
          <p:nvPr/>
        </p:nvSpPr>
        <p:spPr>
          <a:xfrm>
            <a:off x="4718304" y="3584448"/>
            <a:ext cx="3877056" cy="722375"/>
          </a:xfrm>
          <a:prstGeom prst="rect">
            <a:avLst/>
          </a:prstGeom>
          <a:noFill/>
        </p:spPr>
        <p:txBody>
          <a:bodyPr wrap="square" anchor="t" lIns="45720" rIns="45720" tIns="36576" bIns="36576">
            <a:spAutoFit/>
          </a:bodyPr>
          <a:lstStyle/>
          <a:p>
            <a:pPr algn="l"/>
            <a:r>
              <a:rPr sz="1250" b="0" i="0">
                <a:solidFill>
                  <a:srgbClr val="2B2622"/>
                </a:solidFill>
                <a:latin typeface="Calibri"/>
              </a:rPr>
              <a:t>A small computer that holds private keys and signs without revealing them.</a:t>
            </a:r>
          </a:p>
        </p:txBody>
      </p:sp>
      <p:sp>
        <p:nvSpPr>
          <p:cNvPr id="26"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Keys are the wallet; everything else can be rebuilt from them.</a:t>
            </a:r>
          </a:p>
        </p:txBody>
      </p:sp>
      <p:sp>
        <p:nvSpPr>
          <p:cNvPr id="2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8 / 68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Three ways to make keys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Loose, deterministic, hierarchical</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Hierarchical Deterministic (HD) Key Generation (BIP32)</a:t>
            </a:r>
          </a:p>
        </p:txBody>
      </p:sp>
      <p:pic>
        <p:nvPicPr>
          <p:cNvPr id="6" name="picture" descr="mbc3_0502.png"/>
          <p:cNvPicPr>
            <a:picLocks noChangeAspect="1"/>
          </p:cNvPicPr>
          <p:nvPr/>
        </p:nvPicPr>
        <p:blipFill>
          <a:blip r:embed="rId3"/>
          <a:stretch>
            <a:fillRect/>
          </a:stretch>
        </p:blipFill>
        <p:spPr>
          <a:xfrm>
            <a:off x="401277" y="1188720"/>
            <a:ext cx="3860885" cy="2651760"/>
          </a:xfrm>
          <a:prstGeom prst="rect">
            <a:avLst/>
          </a:prstGeom>
        </p:spPr>
      </p:pic>
      <p:sp>
        <p:nvSpPr>
          <p:cNvPr id="7" name="credit"/>
          <p:cNvSpPr txBox="1"/>
          <p:nvPr/>
        </p:nvSpPr>
        <p:spPr>
          <a:xfrm>
            <a:off x="365760" y="3849624"/>
            <a:ext cx="3931920" cy="329184"/>
          </a:xfrm>
          <a:prstGeom prst="rect">
            <a:avLst/>
          </a:prstGeom>
          <a:noFill/>
        </p:spPr>
        <p:txBody>
          <a:bodyPr wrap="square" anchor="t" lIns="45720" rIns="45720" tIns="36576" bIns="36576">
            <a:spAutoFit/>
          </a:bodyPr>
          <a:lstStyle/>
          <a:p>
            <a:pPr algn="ctr"/>
            <a:r>
              <a:rPr sz="900" b="0" i="1">
                <a:solidFill>
                  <a:srgbClr val="6E655C"/>
                </a:solidFill>
                <a:latin typeface="Calibri"/>
              </a:rPr>
              <a:t>Figure: Mastering Bitcoin 3e, CC BY-SA 4.0</a:t>
            </a:r>
          </a:p>
        </p:txBody>
      </p:sp>
      <p:pic>
        <p:nvPicPr>
          <p:cNvPr id="8" name="picture" descr="mbc3_0503.png"/>
          <p:cNvPicPr>
            <a:picLocks noChangeAspect="1"/>
          </p:cNvPicPr>
          <p:nvPr/>
        </p:nvPicPr>
        <p:blipFill>
          <a:blip r:embed="rId4"/>
          <a:stretch>
            <a:fillRect/>
          </a:stretch>
        </p:blipFill>
        <p:spPr>
          <a:xfrm>
            <a:off x="4651775" y="1188720"/>
            <a:ext cx="3863809" cy="2651760"/>
          </a:xfrm>
          <a:prstGeom prst="rect">
            <a:avLst/>
          </a:prstGeom>
        </p:spPr>
      </p:pic>
      <p:sp>
        <p:nvSpPr>
          <p:cNvPr id="9" name="credit"/>
          <p:cNvSpPr txBox="1"/>
          <p:nvPr/>
        </p:nvSpPr>
        <p:spPr>
          <a:xfrm>
            <a:off x="4572000" y="3849624"/>
            <a:ext cx="4023360" cy="329184"/>
          </a:xfrm>
          <a:prstGeom prst="rect">
            <a:avLst/>
          </a:prstGeom>
          <a:noFill/>
        </p:spPr>
        <p:txBody>
          <a:bodyPr wrap="square" anchor="t" lIns="45720" rIns="45720" tIns="36576" bIns="36576">
            <a:spAutoFit/>
          </a:bodyPr>
          <a:lstStyle/>
          <a:p>
            <a:pPr algn="ctr"/>
            <a:r>
              <a:rPr sz="900" b="0" i="1">
                <a:solidFill>
                  <a:srgbClr val="6E655C"/>
                </a:solidFill>
                <a:latin typeface="Calibri"/>
              </a:rPr>
              <a:t>Figure: Mastering Bitcoin 3e, CC BY-SA 4.0</a:t>
            </a:r>
          </a:p>
        </p:txBody>
      </p:sp>
      <p:sp>
        <p:nvSpPr>
          <p:cNvPr id="10" name="figure label"/>
          <p:cNvSpPr txBox="1"/>
          <p:nvPr/>
        </p:nvSpPr>
        <p:spPr>
          <a:xfrm>
            <a:off x="365760" y="4133087"/>
            <a:ext cx="3931920" cy="274320"/>
          </a:xfrm>
          <a:prstGeom prst="rect">
            <a:avLst/>
          </a:prstGeom>
          <a:noFill/>
        </p:spPr>
        <p:txBody>
          <a:bodyPr wrap="square" anchor="t" lIns="45720" rIns="45720" tIns="36576" bIns="36576">
            <a:spAutoFit/>
          </a:bodyPr>
          <a:lstStyle/>
          <a:p>
            <a:pPr algn="ctr"/>
            <a:r>
              <a:rPr sz="1200" b="1" i="0">
                <a:solidFill>
                  <a:srgbClr val="2F6D62"/>
                </a:solidFill>
                <a:latin typeface="Calibri"/>
              </a:rPr>
              <a:t>Deterministic: one seed, keys k0 to kn</a:t>
            </a:r>
          </a:p>
        </p:txBody>
      </p:sp>
      <p:sp>
        <p:nvSpPr>
          <p:cNvPr id="11" name="figure label"/>
          <p:cNvSpPr txBox="1"/>
          <p:nvPr/>
        </p:nvSpPr>
        <p:spPr>
          <a:xfrm>
            <a:off x="4572000" y="4133087"/>
            <a:ext cx="4023360" cy="274320"/>
          </a:xfrm>
          <a:prstGeom prst="rect">
            <a:avLst/>
          </a:prstGeom>
          <a:noFill/>
        </p:spPr>
        <p:txBody>
          <a:bodyPr wrap="square" anchor="t" lIns="45720" rIns="45720" tIns="36576" bIns="36576">
            <a:spAutoFit/>
          </a:bodyPr>
          <a:lstStyle/>
          <a:p>
            <a:pPr algn="ctr"/>
            <a:r>
              <a:rPr sz="1200" b="1" i="0">
                <a:solidFill>
                  <a:srgbClr val="2F6D62"/>
                </a:solidFill>
                <a:latin typeface="Calibri"/>
              </a:rPr>
              <a:t>Hierarchical: a tree of keys below the seed</a:t>
            </a:r>
          </a:p>
        </p:txBody>
      </p:sp>
      <p:sp>
        <p:nvSpPr>
          <p:cNvPr id="12" name="takeaway"/>
          <p:cNvSpPr txBox="1"/>
          <p:nvPr/>
        </p:nvSpPr>
        <p:spPr>
          <a:xfrm>
            <a:off x="457200" y="4443984"/>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Independent keys: a backup for each. Seed-based keys: one backup.</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9 / 68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Everyday pictures for part 1</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key ring, a recipe and a notary</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A Wallet Technology Stack in Detail</a:t>
            </a:r>
          </a:p>
        </p:txBody>
      </p:sp>
      <p:graphicFrame>
        <p:nvGraphicFramePr>
          <p:cNvPr id="6" name="analogy table"/>
          <p:cNvGraphicFramePr>
            <a:graphicFrameLocks noGrp="1"/>
          </p:cNvGraphicFramePr>
          <p:nvPr/>
        </p:nvGraphicFramePr>
        <p:xfrm>
          <a:off x="457200" y="1188720"/>
          <a:ext cx="8229600" cy="3108960"/>
        </p:xfrm>
        <a:graphic>
          <a:graphicData uri="http://schemas.openxmlformats.org/drawingml/2006/table">
            <a:tbl>
              <a:tblPr firstRow="1" bandRow="1">
                <a:tableStyleId>{5C22544A-7EE6-4342-B048-85BDC9FD1C3A}</a:tableStyleId>
              </a:tblPr>
              <a:tblGrid>
                <a:gridCol w="2194560"/>
                <a:gridCol w="3108960"/>
                <a:gridCol w="2926080"/>
              </a:tblGrid>
              <a:tr h="345440">
                <a:tc>
                  <a:txBody>
                    <a:bodyPr wrap="square"/>
                    <a:lstStyle/>
                    <a:p>
                      <a:r>
                        <a:rPr sz="1050" b="1">
                          <a:solidFill>
                            <a:srgbClr val="FFFFFF"/>
                          </a:solidFill>
                          <a:latin typeface="Calibri"/>
                        </a:rPr>
                        <a:t>Concept</a:t>
                      </a:r>
                    </a:p>
                  </a:txBody>
                  <a:tcPr marL="64008" marR="64008" marT="18288" marB="18288" anchor="ctr">
                    <a:solidFill>
                      <a:srgbClr val="2B2622"/>
                    </a:solidFill>
                  </a:tcPr>
                </a:tc>
                <a:tc>
                  <a:txBody>
                    <a:bodyPr wrap="square"/>
                    <a:lstStyle/>
                    <a:p>
                      <a:r>
                        <a:rPr sz="1050" b="1">
                          <a:solidFill>
                            <a:srgbClr val="FFFFFF"/>
                          </a:solidFill>
                          <a:latin typeface="Calibri"/>
                        </a:rPr>
                        <a:t>In everyday life</a:t>
                      </a:r>
                    </a:p>
                  </a:txBody>
                  <a:tcPr marL="64008" marR="64008" marT="18288" marB="18288" anchor="ctr">
                    <a:solidFill>
                      <a:srgbClr val="2B2622"/>
                    </a:solidFill>
                  </a:tcPr>
                </a:tc>
                <a:tc>
                  <a:txBody>
                    <a:bodyPr wrap="square"/>
                    <a:lstStyle/>
                    <a:p>
                      <a:r>
                        <a:rPr sz="1050" b="1">
                          <a:solidFill>
                            <a:srgbClr val="FFFFFF"/>
                          </a:solidFill>
                          <a:latin typeface="Calibri"/>
                        </a:rPr>
                        <a:t>In the wallet</a:t>
                      </a:r>
                    </a:p>
                  </a:txBody>
                  <a:tcPr marL="64008" marR="64008" marT="18288" marB="18288" anchor="ctr">
                    <a:solidFill>
                      <a:srgbClr val="2B2622"/>
                    </a:solidFill>
                  </a:tcPr>
                </a:tc>
              </a:tr>
              <a:tr h="345440">
                <a:tc>
                  <a:txBody>
                    <a:bodyPr wrap="square"/>
                    <a:lstStyle/>
                    <a:p>
                      <a:r>
                        <a:rPr sz="1050" b="1">
                          <a:solidFill>
                            <a:srgbClr val="2B2622"/>
                          </a:solidFill>
                          <a:latin typeface="Calibri"/>
                        </a:rPr>
                        <a:t>wallet database</a:t>
                      </a:r>
                    </a:p>
                  </a:txBody>
                  <a:tcPr marL="64008" marR="64008" marT="18288" marB="18288" anchor="ctr">
                    <a:solidFill>
                      <a:srgbClr val="F2ECE1"/>
                    </a:solidFill>
                  </a:tcPr>
                </a:tc>
                <a:tc>
                  <a:txBody>
                    <a:bodyPr wrap="square"/>
                    <a:lstStyle/>
                    <a:p>
                      <a:r>
                        <a:rPr sz="1050" b="0">
                          <a:solidFill>
                            <a:srgbClr val="2B2622"/>
                          </a:solidFill>
                          <a:latin typeface="Calibri"/>
                        </a:rPr>
                        <a:t>A key ring in a drawer, with a notebook beside it</a:t>
                      </a:r>
                    </a:p>
                  </a:txBody>
                  <a:tcPr marL="64008" marR="64008" marT="18288" marB="18288" anchor="ctr">
                    <a:solidFill>
                      <a:srgbClr val="F2ECE1"/>
                    </a:solidFill>
                  </a:tcPr>
                </a:tc>
                <a:tc>
                  <a:txBody>
                    <a:bodyPr wrap="square"/>
                    <a:lstStyle/>
                    <a:p>
                      <a:r>
                        <a:rPr sz="1050" b="0">
                          <a:solidFill>
                            <a:srgbClr val="2B2622"/>
                          </a:solidFill>
                          <a:latin typeface="Calibri"/>
                        </a:rPr>
                        <a:t>The file that stores a wallet's keys and notes</a:t>
                      </a:r>
                    </a:p>
                  </a:txBody>
                  <a:tcPr marL="64008" marR="64008" marT="18288" marB="18288" anchor="ctr">
                    <a:solidFill>
                      <a:srgbClr val="F2ECE1"/>
                    </a:solidFill>
                  </a:tcPr>
                </a:tc>
              </a:tr>
              <a:tr h="345440">
                <a:tc>
                  <a:txBody>
                    <a:bodyPr wrap="square"/>
                    <a:lstStyle/>
                    <a:p>
                      <a:r>
                        <a:rPr sz="1050" b="1">
                          <a:solidFill>
                            <a:srgbClr val="2B2622"/>
                          </a:solidFill>
                          <a:latin typeface="Calibri"/>
                        </a:rPr>
                        <a:t>independent key generation</a:t>
                      </a:r>
                    </a:p>
                  </a:txBody>
                  <a:tcPr marL="64008" marR="64008" marT="18288" marB="18288" anchor="ctr">
                    <a:solidFill>
                      <a:srgbClr val="FFFFFF"/>
                    </a:solidFill>
                  </a:tcPr>
                </a:tc>
                <a:tc>
                  <a:txBody>
                    <a:bodyPr wrap="square"/>
                    <a:lstStyle/>
                    <a:p>
                      <a:r>
                        <a:rPr sz="1050" b="0">
                          <a:solidFill>
                            <a:srgbClr val="2B2622"/>
                          </a:solidFill>
                          <a:latin typeface="Calibri"/>
                        </a:rPr>
                        <a:t>Cutting a new, unrelated key for every door</a:t>
                      </a:r>
                    </a:p>
                  </a:txBody>
                  <a:tcPr marL="64008" marR="64008" marT="18288" marB="18288" anchor="ctr">
                    <a:solidFill>
                      <a:srgbClr val="FFFFFF"/>
                    </a:solidFill>
                  </a:tcPr>
                </a:tc>
                <a:tc>
                  <a:txBody>
                    <a:bodyPr wrap="square"/>
                    <a:lstStyle/>
                    <a:p>
                      <a:r>
                        <a:rPr sz="1050" b="0">
                          <a:solidFill>
                            <a:srgbClr val="2B2622"/>
                          </a:solidFill>
                          <a:latin typeface="Calibri"/>
                        </a:rPr>
                        <a:t>Each key is made alone, so each needs its own backup</a:t>
                      </a:r>
                    </a:p>
                  </a:txBody>
                  <a:tcPr marL="64008" marR="64008" marT="18288" marB="18288" anchor="ctr">
                    <a:solidFill>
                      <a:srgbClr val="FFFFFF"/>
                    </a:solidFill>
                  </a:tcPr>
                </a:tc>
              </a:tr>
              <a:tr h="345440">
                <a:tc>
                  <a:txBody>
                    <a:bodyPr wrap="square"/>
                    <a:lstStyle/>
                    <a:p>
                      <a:r>
                        <a:rPr sz="1050" b="1">
                          <a:solidFill>
                            <a:srgbClr val="2B2622"/>
                          </a:solidFill>
                          <a:latin typeface="Calibri"/>
                        </a:rPr>
                        <a:t>deterministic key generation</a:t>
                      </a:r>
                    </a:p>
                  </a:txBody>
                  <a:tcPr marL="64008" marR="64008" marT="18288" marB="18288" anchor="ctr">
                    <a:solidFill>
                      <a:srgbClr val="F2ECE1"/>
                    </a:solidFill>
                  </a:tcPr>
                </a:tc>
                <a:tc>
                  <a:txBody>
                    <a:bodyPr wrap="square"/>
                    <a:lstStyle/>
                    <a:p>
                      <a:r>
                        <a:rPr sz="1050" b="0">
                          <a:solidFill>
                            <a:srgbClr val="2B2622"/>
                          </a:solidFill>
                          <a:latin typeface="Calibri"/>
                        </a:rPr>
                        <a:t>A recipe: the same ingredients give the same dish</a:t>
                      </a:r>
                    </a:p>
                  </a:txBody>
                  <a:tcPr marL="64008" marR="64008" marT="18288" marB="18288" anchor="ctr">
                    <a:solidFill>
                      <a:srgbClr val="F2ECE1"/>
                    </a:solidFill>
                  </a:tcPr>
                </a:tc>
                <a:tc>
                  <a:txBody>
                    <a:bodyPr wrap="square"/>
                    <a:lstStyle/>
                    <a:p>
                      <a:r>
                        <a:rPr sz="1050" b="0">
                          <a:solidFill>
                            <a:srgbClr val="2B2622"/>
                          </a:solidFill>
                          <a:latin typeface="Calibri"/>
                        </a:rPr>
                        <a:t>One seed and a rule always give the same keys</a:t>
                      </a:r>
                    </a:p>
                  </a:txBody>
                  <a:tcPr marL="64008" marR="64008" marT="18288" marB="18288" anchor="ctr">
                    <a:solidFill>
                      <a:srgbClr val="F2ECE1"/>
                    </a:solidFill>
                  </a:tcPr>
                </a:tc>
              </a:tr>
              <a:tr h="345440">
                <a:tc>
                  <a:txBody>
                    <a:bodyPr wrap="square"/>
                    <a:lstStyle/>
                    <a:p>
                      <a:r>
                        <a:rPr sz="1050" b="1">
                          <a:solidFill>
                            <a:srgbClr val="2B2622"/>
                          </a:solidFill>
                          <a:latin typeface="Calibri"/>
                        </a:rPr>
                        <a:t>seed</a:t>
                      </a:r>
                    </a:p>
                  </a:txBody>
                  <a:tcPr marL="64008" marR="64008" marT="18288" marB="18288" anchor="ctr">
                    <a:solidFill>
                      <a:srgbClr val="FFFFFF"/>
                    </a:solidFill>
                  </a:tcPr>
                </a:tc>
                <a:tc>
                  <a:txBody>
                    <a:bodyPr wrap="square"/>
                    <a:lstStyle/>
                    <a:p>
                      <a:r>
                        <a:rPr sz="1050" b="0">
                          <a:solidFill>
                            <a:srgbClr val="2B2622"/>
                          </a:solidFill>
                          <a:latin typeface="Calibri"/>
                        </a:rPr>
                        <a:t>The master recipe card kept in a safe</a:t>
                      </a:r>
                    </a:p>
                  </a:txBody>
                  <a:tcPr marL="64008" marR="64008" marT="18288" marB="18288" anchor="ctr">
                    <a:solidFill>
                      <a:srgbClr val="FFFFFF"/>
                    </a:solidFill>
                  </a:tcPr>
                </a:tc>
                <a:tc>
                  <a:txBody>
                    <a:bodyPr wrap="square"/>
                    <a:lstStyle/>
                    <a:p>
                      <a:r>
                        <a:rPr sz="1050" b="0">
                          <a:solidFill>
                            <a:srgbClr val="2B2622"/>
                          </a:solidFill>
                          <a:latin typeface="Calibri"/>
                        </a:rPr>
                        <a:t>The one secret every key comes from</a:t>
                      </a:r>
                    </a:p>
                  </a:txBody>
                  <a:tcPr marL="64008" marR="64008" marT="18288" marB="18288" anchor="ctr">
                    <a:solidFill>
                      <a:srgbClr val="FFFFFF"/>
                    </a:solidFill>
                  </a:tcPr>
                </a:tc>
              </a:tr>
              <a:tr h="345440">
                <a:tc>
                  <a:txBody>
                    <a:bodyPr wrap="square"/>
                    <a:lstStyle/>
                    <a:p>
                      <a:r>
                        <a:rPr sz="1050" b="1">
                          <a:solidFill>
                            <a:srgbClr val="2B2622"/>
                          </a:solidFill>
                          <a:latin typeface="Calibri"/>
                        </a:rPr>
                        <a:t>key tweak</a:t>
                      </a:r>
                    </a:p>
                  </a:txBody>
                  <a:tcPr marL="64008" marR="64008" marT="18288" marB="18288" anchor="ctr">
                    <a:solidFill>
                      <a:srgbClr val="F2ECE1"/>
                    </a:solidFill>
                  </a:tcPr>
                </a:tc>
                <a:tc>
                  <a:txBody>
                    <a:bodyPr wrap="square"/>
                    <a:lstStyle/>
                    <a:p>
                      <a:r>
                        <a:rPr sz="1050" b="0">
                          <a:solidFill>
                            <a:srgbClr val="2B2622"/>
                          </a:solidFill>
                          <a:latin typeface="Calibri"/>
                        </a:rPr>
                        <a:t>A copy of a key filed down by a fixed amount</a:t>
                      </a:r>
                    </a:p>
                  </a:txBody>
                  <a:tcPr marL="64008" marR="64008" marT="18288" marB="18288" anchor="ctr">
                    <a:solidFill>
                      <a:srgbClr val="F2ECE1"/>
                    </a:solidFill>
                  </a:tcPr>
                </a:tc>
                <a:tc>
                  <a:txBody>
                    <a:bodyPr wrap="square"/>
                    <a:lstStyle/>
                    <a:p>
                      <a:r>
                        <a:rPr sz="1050" b="0">
                          <a:solidFill>
                            <a:srgbClr val="2B2622"/>
                          </a:solidFill>
                          <a:latin typeface="Calibri"/>
                        </a:rPr>
                        <a:t>A number added to a key to make a related key</a:t>
                      </a:r>
                    </a:p>
                  </a:txBody>
                  <a:tcPr marL="64008" marR="64008" marT="18288" marB="18288" anchor="ctr">
                    <a:solidFill>
                      <a:srgbClr val="F2ECE1"/>
                    </a:solidFill>
                  </a:tcPr>
                </a:tc>
              </a:tr>
              <a:tr h="345440">
                <a:tc>
                  <a:txBody>
                    <a:bodyPr wrap="square"/>
                    <a:lstStyle/>
                    <a:p>
                      <a:r>
                        <a:rPr sz="1050" b="1">
                          <a:solidFill>
                            <a:srgbClr val="2B2622"/>
                          </a:solidFill>
                          <a:latin typeface="Calibri"/>
                        </a:rPr>
                        <a:t>hardware signing device</a:t>
                      </a:r>
                    </a:p>
                  </a:txBody>
                  <a:tcPr marL="64008" marR="64008" marT="18288" marB="18288" anchor="ctr">
                    <a:solidFill>
                      <a:srgbClr val="FFFFFF"/>
                    </a:solidFill>
                  </a:tcPr>
                </a:tc>
                <a:tc>
                  <a:txBody>
                    <a:bodyPr wrap="square"/>
                    <a:lstStyle/>
                    <a:p>
                      <a:r>
                        <a:rPr sz="1050" b="0">
                          <a:solidFill>
                            <a:srgbClr val="2B2622"/>
                          </a:solidFill>
                          <a:latin typeface="Calibri"/>
                        </a:rPr>
                        <a:t>A notary who stamps letters and never hands over the stamp</a:t>
                      </a:r>
                    </a:p>
                  </a:txBody>
                  <a:tcPr marL="64008" marR="64008" marT="18288" marB="18288" anchor="ctr">
                    <a:solidFill>
                      <a:srgbClr val="FFFFFF"/>
                    </a:solidFill>
                  </a:tcPr>
                </a:tc>
                <a:tc>
                  <a:txBody>
                    <a:bodyPr wrap="square"/>
                    <a:lstStyle/>
                    <a:p>
                      <a:r>
                        <a:rPr sz="1050" b="0">
                          <a:solidFill>
                            <a:srgbClr val="2B2622"/>
                          </a:solidFill>
                          <a:latin typeface="Calibri"/>
                        </a:rPr>
                        <a:t>A device that signs and never reveals its keys</a:t>
                      </a:r>
                    </a:p>
                  </a:txBody>
                  <a:tcPr marL="64008" marR="64008" marT="18288" marB="18288" anchor="ctr">
                    <a:solidFill>
                      <a:srgbClr val="FFFFFF"/>
                    </a:solidFill>
                  </a:tcPr>
                </a:tc>
              </a:tr>
              <a:tr h="345440">
                <a:tc>
                  <a:txBody>
                    <a:bodyPr wrap="square"/>
                    <a:lstStyle/>
                    <a:p>
                      <a:r>
                        <a:rPr sz="1050" b="1">
                          <a:solidFill>
                            <a:srgbClr val="2B2622"/>
                          </a:solidFill>
                          <a:latin typeface="Calibri"/>
                        </a:rPr>
                        <a:t>Wallet Recovery</a:t>
                      </a:r>
                    </a:p>
                  </a:txBody>
                  <a:tcPr marL="64008" marR="64008" marT="18288" marB="18288" anchor="ctr">
                    <a:solidFill>
                      <a:srgbClr val="F2ECE1"/>
                    </a:solidFill>
                  </a:tcPr>
                </a:tc>
                <a:tc>
                  <a:txBody>
                    <a:bodyPr wrap="square"/>
                    <a:lstStyle/>
                    <a:p>
                      <a:r>
                        <a:rPr sz="1050" b="0">
                          <a:solidFill>
                            <a:srgbClr val="2B2622"/>
                          </a:solidFill>
                          <a:latin typeface="Calibri"/>
                        </a:rPr>
                        <a:t>Getting back into a locked house with a spare key</a:t>
                      </a:r>
                    </a:p>
                  </a:txBody>
                  <a:tcPr marL="64008" marR="64008" marT="18288" marB="18288" anchor="ctr">
                    <a:solidFill>
                      <a:srgbClr val="F2ECE1"/>
                    </a:solidFill>
                  </a:tcPr>
                </a:tc>
                <a:tc>
                  <a:txBody>
                    <a:bodyPr wrap="square"/>
                    <a:lstStyle/>
                    <a:p>
                      <a:r>
                        <a:rPr sz="1050" b="0">
                          <a:solidFill>
                            <a:srgbClr val="2B2622"/>
                          </a:solidFill>
                          <a:latin typeface="Calibri"/>
                        </a:rPr>
                        <a:t>Chapter 5: how a wallet is restored after a loss</a:t>
                      </a:r>
                    </a:p>
                  </a:txBody>
                  <a:tcPr marL="64008" marR="64008" marT="18288" marB="18288" anchor="ctr">
                    <a:solidFill>
                      <a:srgbClr val="F2ECE1"/>
                    </a:solidFill>
                  </a:tcPr>
                </a:tc>
              </a:tr>
              <a:tr h="345440">
                <a:tc>
                  <a:txBody>
                    <a:bodyPr wrap="square"/>
                    <a:lstStyle/>
                    <a:p>
                      <a:r>
                        <a:rPr sz="1050" b="1">
                          <a:solidFill>
                            <a:srgbClr val="2B2622"/>
                          </a:solidFill>
                          <a:latin typeface="Calibri"/>
                        </a:rPr>
                        <a:t>A Wallet Technology Stack in Detail</a:t>
                      </a:r>
                    </a:p>
                  </a:txBody>
                  <a:tcPr marL="64008" marR="64008" marT="18288" marB="18288" anchor="ctr">
                    <a:solidFill>
                      <a:srgbClr val="FFFFFF"/>
                    </a:solidFill>
                  </a:tcPr>
                </a:tc>
                <a:tc>
                  <a:txBody>
                    <a:bodyPr wrap="square"/>
                    <a:lstStyle/>
                    <a:p>
                      <a:r>
                        <a:rPr sz="1050" b="0">
                          <a:solidFill>
                            <a:srgbClr val="2B2622"/>
                          </a:solidFill>
                          <a:latin typeface="Calibri"/>
                        </a:rPr>
                        <a:t>A workshop manual showing every layer of a machine</a:t>
                      </a:r>
                    </a:p>
                  </a:txBody>
                  <a:tcPr marL="64008" marR="64008" marT="18288" marB="18288" anchor="ctr">
                    <a:solidFill>
                      <a:srgbClr val="FFFFFF"/>
                    </a:solidFill>
                  </a:tcPr>
                </a:tc>
                <a:tc>
                  <a:txBody>
                    <a:bodyPr wrap="square"/>
                    <a:lstStyle/>
                    <a:p>
                      <a:r>
                        <a:rPr sz="1050" b="0">
                          <a:solidFill>
                            <a:srgbClr val="2B2622"/>
                          </a:solidFill>
                          <a:latin typeface="Calibri"/>
                        </a:rPr>
                        <a:t>The layers: keys, codes, paths, backups</a:t>
                      </a:r>
                    </a:p>
                  </a:txBody>
                  <a:tcPr marL="64008" marR="64008" marT="18288" marB="18288" anchor="ctr">
                    <a:solidFill>
                      <a:srgbClr val="FFFFFF"/>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seed is a recipe: keep the card, and you can cook every key again.</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10 / 68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Code 1: Loose keys versus one seed</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seed</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b"my seed"</a:t>
            </a:r>
          </a:p>
          <a:p>
            <a:pPr algn="l"/>
            <a:r>
              <a:rPr sz="1050" b="0" i="0">
                <a:solidFill>
                  <a:srgbClr val="8A9B94"/>
                </a:solidFill>
                <a:latin typeface="Courier New"/>
              </a:rPr>
              <a:t>&gt;&gt;&gt; </a:t>
            </a:r>
            <a:r>
              <a:rPr sz="1050" b="0" i="0">
                <a:solidFill>
                  <a:srgbClr val="E6EDF3"/>
                </a:solidFill>
                <a:latin typeface="Courier New"/>
              </a:rPr>
              <a:t>key</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lambda</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sha256_hex</a:t>
            </a:r>
            <a:r>
              <a:rPr sz="1050" b="0" i="0">
                <a:solidFill>
                  <a:srgbClr val="E6EDF3"/>
                </a:solidFill>
                <a:latin typeface="Courier New"/>
              </a:rPr>
              <a:t>(</a:t>
            </a:r>
            <a:r>
              <a:rPr sz="1050" b="0" i="0">
                <a:solidFill>
                  <a:srgbClr val="E6EDF3"/>
                </a:solidFill>
                <a:latin typeface="Courier New"/>
              </a:rPr>
              <a:t>seed</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bytes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i</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keys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key</a:t>
            </a:r>
            <a:r>
              <a:rPr sz="1050" b="0" i="0">
                <a:solidFill>
                  <a:srgbClr val="E6EDF3"/>
                </a:solidFill>
                <a:latin typeface="Courier New"/>
              </a:rPr>
              <a:t>(</a:t>
            </a:r>
            <a:r>
              <a:rPr sz="1050" b="0" i="0">
                <a:solidFill>
                  <a:srgbClr val="E6EDF3"/>
                </a:solidFill>
                <a:latin typeface="Courier New"/>
              </a:rPr>
              <a:t>i</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8</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for</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 </a:t>
            </a:r>
            <a:r>
              <a:rPr sz="1050" b="0" i="0">
                <a:solidFill>
                  <a:srgbClr val="FFA657"/>
                </a:solidFill>
                <a:latin typeface="Courier New"/>
              </a:rPr>
              <a:t>in</a:t>
            </a:r>
            <a:r>
              <a:rPr sz="1050" b="0" i="0">
                <a:solidFill>
                  <a:srgbClr val="E6EDF3"/>
                </a:solidFill>
                <a:latin typeface="Courier New"/>
              </a:rPr>
              <a:t> </a:t>
            </a:r>
            <a:r>
              <a:rPr sz="1050" b="0" i="0">
                <a:solidFill>
                  <a:srgbClr val="FFA657"/>
                </a:solidFill>
                <a:latin typeface="Courier New"/>
              </a:rPr>
              <a:t>range</a:t>
            </a:r>
            <a:r>
              <a:rPr sz="1050" b="0" i="0">
                <a:solidFill>
                  <a:srgbClr val="E6EDF3"/>
                </a:solidFill>
                <a:latin typeface="Courier New"/>
              </a:rPr>
              <a:t>(</a:t>
            </a:r>
            <a:r>
              <a:rPr sz="1050" b="0" i="0">
                <a:solidFill>
                  <a:srgbClr val="79C0FF"/>
                </a:solidFill>
                <a:latin typeface="Courier New"/>
              </a:rPr>
              <a:t>3</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keys</a:t>
            </a:r>
            <a:r>
              <a:rPr sz="1050" b="0" i="0">
                <a:solidFill>
                  <a:srgbClr val="E6EDF3"/>
                </a:solidFill>
                <a:latin typeface="Courier New"/>
              </a:rPr>
              <a:t>)</a:t>
            </a:r>
          </a:p>
        </p:txBody>
      </p:sp>
      <p:sp>
        <p:nvSpPr>
          <p:cNvPr id="10" name="code"/>
          <p:cNvSpPr/>
          <p:nvPr/>
        </p:nvSpPr>
        <p:spPr>
          <a:xfrm>
            <a:off x="365760" y="2175764"/>
            <a:ext cx="4727448" cy="797052"/>
          </a:xfrm>
          <a:prstGeom prst="roundRect">
            <a:avLst>
              <a:gd name="adj" fmla="val 917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again</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key</a:t>
            </a:r>
            <a:r>
              <a:rPr sz="1050" b="0" i="0">
                <a:solidFill>
                  <a:srgbClr val="E6EDF3"/>
                </a:solidFill>
                <a:latin typeface="Courier New"/>
              </a:rPr>
              <a:t>(</a:t>
            </a:r>
            <a:r>
              <a:rPr sz="1050" b="0" i="0">
                <a:solidFill>
                  <a:srgbClr val="E6EDF3"/>
                </a:solidFill>
                <a:latin typeface="Courier New"/>
              </a:rPr>
              <a:t>i</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8</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for</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 </a:t>
            </a:r>
            <a:r>
              <a:rPr sz="1050" b="0" i="0">
                <a:solidFill>
                  <a:srgbClr val="FFA657"/>
                </a:solidFill>
                <a:latin typeface="Courier New"/>
              </a:rPr>
              <a:t>in</a:t>
            </a:r>
            <a:r>
              <a:rPr sz="1050" b="0" i="0">
                <a:solidFill>
                  <a:srgbClr val="E6EDF3"/>
                </a:solidFill>
                <a:latin typeface="Courier New"/>
              </a:rPr>
              <a:t> </a:t>
            </a:r>
            <a:r>
              <a:rPr sz="1050" b="0" i="0">
                <a:solidFill>
                  <a:srgbClr val="FFA657"/>
                </a:solidFill>
                <a:latin typeface="Courier New"/>
              </a:rPr>
              <a:t>range</a:t>
            </a:r>
            <a:r>
              <a:rPr sz="1050" b="0" i="0">
                <a:solidFill>
                  <a:srgbClr val="E6EDF3"/>
                </a:solidFill>
                <a:latin typeface="Courier New"/>
              </a:rPr>
              <a:t>(</a:t>
            </a:r>
            <a:r>
              <a:rPr sz="1050" b="0" i="0">
                <a:solidFill>
                  <a:srgbClr val="79C0FF"/>
                </a:solidFill>
                <a:latin typeface="Courier New"/>
              </a:rPr>
              <a:t>3</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keys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again</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Deterministic key generation, run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Deterministic Key Generation</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One secret, and a rule that turns it into key number i.</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Ask the rule for keys 0, 1 and 2; show the first eight characters of each.</a:t>
            </a:r>
          </a:p>
        </p:txBody>
      </p:sp>
      <p:sp>
        <p:nvSpPr>
          <p:cNvPr id="11" name="explanation"/>
          <p:cNvSpPr/>
          <p:nvPr/>
        </p:nvSpPr>
        <p:spPr>
          <a:xfrm>
            <a:off x="5074920" y="2175764"/>
            <a:ext cx="3657600" cy="797052"/>
          </a:xfrm>
          <a:prstGeom prst="roundRect">
            <a:avLst>
              <a:gd name="adj" fmla="val 917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Run it again. The same seed gives the same keys, so one backup is enough.</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4937760" cy="1114550"/>
        </p:xfrm>
        <a:graphic>
          <a:graphicData uri="http://schemas.openxmlformats.org/drawingml/2006/table">
            <a:tbl>
              <a:tblPr firstRow="1" bandRow="1">
                <a:tableStyleId>{5C22544A-7EE6-4342-B048-85BDC9FD1C3A}</a:tableStyleId>
              </a:tblPr>
              <a:tblGrid>
                <a:gridCol w="2377440"/>
                <a:gridCol w="2560320"/>
              </a:tblGrid>
              <a:tr h="222910">
                <a:tc>
                  <a:txBody>
                    <a:bodyPr wrap="square"/>
                    <a:lstStyle/>
                    <a:p>
                      <a:r>
                        <a:rPr sz="1200" b="1">
                          <a:solidFill>
                            <a:srgbClr val="FFFFFF"/>
                          </a:solidFill>
                          <a:latin typeface="Calibri"/>
                        </a:rPr>
                        <a:t>Key number</a:t>
                      </a:r>
                    </a:p>
                  </a:txBody>
                  <a:tcPr marL="64008" marR="64008" marT="18288" marB="18288" anchor="ctr">
                    <a:solidFill>
                      <a:srgbClr val="2B2622"/>
                    </a:solidFill>
                  </a:tcPr>
                </a:tc>
                <a:tc>
                  <a:txBody>
                    <a:bodyPr wrap="square"/>
                    <a:lstStyle/>
                    <a:p>
                      <a:r>
                        <a:rPr sz="1200" b="1">
                          <a:solidFill>
                            <a:srgbClr val="FFFFFF"/>
                          </a:solidFill>
                          <a:latin typeface="Calibri"/>
                        </a:rPr>
                        <a:t>First 8 characters</a:t>
                      </a:r>
                    </a:p>
                  </a:txBody>
                  <a:tcPr marL="64008" marR="64008" marT="18288" marB="18288" anchor="ctr">
                    <a:solidFill>
                      <a:srgbClr val="2B2622"/>
                    </a:solidFill>
                  </a:tcPr>
                </a:tc>
              </a:tr>
              <a:tr h="222910">
                <a:tc>
                  <a:txBody>
                    <a:bodyPr wrap="square"/>
                    <a:lstStyle/>
                    <a:p>
                      <a:r>
                        <a:rPr sz="1200" b="0">
                          <a:solidFill>
                            <a:srgbClr val="2B2622"/>
                          </a:solidFill>
                          <a:latin typeface="Calibri"/>
                        </a:rPr>
                        <a:t>0</a:t>
                      </a:r>
                    </a:p>
                  </a:txBody>
                  <a:tcPr marL="64008" marR="64008" marT="18288" marB="18288" anchor="ctr">
                    <a:solidFill>
                      <a:srgbClr val="F2ECE1"/>
                    </a:solidFill>
                  </a:tcPr>
                </a:tc>
                <a:tc>
                  <a:txBody>
                    <a:bodyPr wrap="square"/>
                    <a:lstStyle/>
                    <a:p>
                      <a:r>
                        <a:rPr sz="1200" b="0">
                          <a:solidFill>
                            <a:srgbClr val="2B2622"/>
                          </a:solidFill>
                          <a:latin typeface="Calibri"/>
                        </a:rPr>
                        <a:t>aa74b609</a:t>
                      </a:r>
                    </a:p>
                  </a:txBody>
                  <a:tcPr marL="64008" marR="64008" marT="18288" marB="18288" anchor="ctr">
                    <a:solidFill>
                      <a:srgbClr val="F2ECE1"/>
                    </a:solidFill>
                  </a:tcPr>
                </a:tc>
              </a:tr>
              <a:tr h="222910">
                <a:tc>
                  <a:txBody>
                    <a:bodyPr wrap="square"/>
                    <a:lstStyle/>
                    <a:p>
                      <a:r>
                        <a:rPr sz="1200" b="0">
                          <a:solidFill>
                            <a:srgbClr val="2B2622"/>
                          </a:solidFill>
                          <a:latin typeface="Calibri"/>
                        </a:rPr>
                        <a:t>1</a:t>
                      </a:r>
                    </a:p>
                  </a:txBody>
                  <a:tcPr marL="64008" marR="64008" marT="18288" marB="18288" anchor="ctr">
                    <a:solidFill>
                      <a:srgbClr val="FFFFFF"/>
                    </a:solidFill>
                  </a:tcPr>
                </a:tc>
                <a:tc>
                  <a:txBody>
                    <a:bodyPr wrap="square"/>
                    <a:lstStyle/>
                    <a:p>
                      <a:r>
                        <a:rPr sz="1200" b="0">
                          <a:solidFill>
                            <a:srgbClr val="2B2622"/>
                          </a:solidFill>
                          <a:latin typeface="Calibri"/>
                        </a:rPr>
                        <a:t>94af53de</a:t>
                      </a:r>
                    </a:p>
                  </a:txBody>
                  <a:tcPr marL="64008" marR="64008" marT="18288" marB="18288" anchor="ctr">
                    <a:solidFill>
                      <a:srgbClr val="FFFFFF"/>
                    </a:solidFill>
                  </a:tcPr>
                </a:tc>
              </a:tr>
              <a:tr h="222910">
                <a:tc>
                  <a:txBody>
                    <a:bodyPr wrap="square"/>
                    <a:lstStyle/>
                    <a:p>
                      <a:r>
                        <a:rPr sz="1200" b="0">
                          <a:solidFill>
                            <a:srgbClr val="2B2622"/>
                          </a:solidFill>
                          <a:latin typeface="Calibri"/>
                        </a:rPr>
                        <a:t>2</a:t>
                      </a:r>
                    </a:p>
                  </a:txBody>
                  <a:tcPr marL="64008" marR="64008" marT="18288" marB="18288" anchor="ctr">
                    <a:solidFill>
                      <a:srgbClr val="F2ECE1"/>
                    </a:solidFill>
                  </a:tcPr>
                </a:tc>
                <a:tc>
                  <a:txBody>
                    <a:bodyPr wrap="square"/>
                    <a:lstStyle/>
                    <a:p>
                      <a:r>
                        <a:rPr sz="1200" b="0">
                          <a:solidFill>
                            <a:srgbClr val="2B2622"/>
                          </a:solidFill>
                          <a:latin typeface="Calibri"/>
                        </a:rPr>
                        <a:t>fc092c45</a:t>
                      </a:r>
                    </a:p>
                  </a:txBody>
                  <a:tcPr marL="64008" marR="64008" marT="18288" marB="18288" anchor="ctr">
                    <a:solidFill>
                      <a:srgbClr val="F2ECE1"/>
                    </a:solidFill>
                  </a:tcPr>
                </a:tc>
              </a:tr>
              <a:tr h="222910">
                <a:tc>
                  <a:txBody>
                    <a:bodyPr wrap="square"/>
                    <a:lstStyle/>
                    <a:p>
                      <a:r>
                        <a:rPr sz="1200" b="0">
                          <a:solidFill>
                            <a:srgbClr val="2B2622"/>
                          </a:solidFill>
                          <a:latin typeface="Calibri"/>
                        </a:rPr>
                        <a:t>Same keys on a second run</a:t>
                      </a:r>
                    </a:p>
                  </a:txBody>
                  <a:tcPr marL="64008" marR="64008" marT="18288" marB="18288" anchor="ctr">
                    <a:solidFill>
                      <a:srgbClr val="FFFFFF"/>
                    </a:solidFill>
                  </a:tcPr>
                </a:tc>
                <a:tc>
                  <a:txBody>
                    <a:bodyPr wrap="square"/>
                    <a:lstStyle/>
                    <a:p>
                      <a:r>
                        <a:rPr sz="1200" b="0">
                          <a:solidFill>
                            <a:srgbClr val="2B2622"/>
                          </a:solidFill>
                          <a:latin typeface="Calibri"/>
                        </a:rPr>
                        <a:t>True</a:t>
                      </a:r>
                    </a:p>
                  </a:txBody>
                  <a:tcPr marL="64008" marR="64008" marT="18288" marB="18288" anchor="ctr">
                    <a:solidFill>
                      <a:srgbClr val="FFFFFF"/>
                    </a:solidFill>
                  </a:tcPr>
                </a:tc>
              </a:tr>
            </a:tbl>
          </a:graphicData>
        </a:graphic>
      </p:graphicFrame>
      <p:grpSp>
        <p:nvGrpSpPr>
          <p:cNvPr id="14" name="visual: one backup"/>
          <p:cNvGrpSpPr/>
          <p:nvPr/>
        </p:nvGrpSpPr>
        <p:grpSpPr>
          <a:xfrm>
            <a:off x="5577840" y="3311144"/>
            <a:ext cx="3108960" cy="822960"/>
            <a:chOff x="5577840" y="3311144"/>
            <a:chExt cx="3108960" cy="822960"/>
          </a:xfrm>
        </p:grpSpPr>
        <p:sp>
          <p:nvSpPr>
            <p:cNvPr id="15" name="Rounded Rectangle 14"/>
            <p:cNvSpPr/>
            <p:nvPr/>
          </p:nvSpPr>
          <p:spPr>
            <a:xfrm>
              <a:off x="5577840" y="3311144"/>
              <a:ext cx="1426464" cy="82296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1 seed to back up</a:t>
              </a:r>
            </a:p>
          </p:txBody>
        </p:sp>
        <p:cxnSp>
          <p:nvCxnSpPr>
            <p:cNvPr id="16" name="Connector 15"/>
            <p:cNvCxnSpPr/>
            <p:nvPr/>
          </p:nvCxnSpPr>
          <p:spPr>
            <a:xfrm>
              <a:off x="7004304" y="3722623"/>
              <a:ext cx="256032" cy="0"/>
            </a:xfrm>
            <a:prstGeom prst="line">
              <a:avLst/>
            </a:prstGeom>
            <a:ln w="25400">
              <a:solidFill>
                <a:srgbClr val="6E655C"/>
              </a:solidFill>
              <a:tailEnd type="triangle"/>
            </a:ln>
          </p:spPr>
        </p:cxnSp>
        <p:sp>
          <p:nvSpPr>
            <p:cNvPr id="17" name="Rounded Rectangle 16"/>
            <p:cNvSpPr/>
            <p:nvPr/>
          </p:nvSpPr>
          <p:spPr>
            <a:xfrm>
              <a:off x="7260336" y="3311144"/>
              <a:ext cx="1426464" cy="82296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all keys follow</a:t>
              </a:r>
            </a:p>
          </p:txBody>
        </p:sp>
      </p:grpSp>
      <p:sp>
        <p:nvSpPr>
          <p:cNvPr id="18"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One seed, one backup, every key.</a:t>
            </a:r>
          </a:p>
        </p:txBody>
      </p:sp>
      <p:sp>
        <p:nvSpPr>
          <p:cNvPr id="1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11 / 68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2: Recovery codes</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Seeds written down so a human can keep them</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Seeds and Recovery Codes</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recovery code</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words or characters that stand for the seed</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BIP39</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words from a list of 2,048, with a checksum</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Electrum v2, Aezeed, Muun</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rival schemes with versions, dates or encryption</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SLIP39 and codex32</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one secret split into shares you can recombine</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recovery code passphrase</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an extra secret that changes the wallet</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brainwallet</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words you chose yourself: not a recovery code</a:t>
            </a:r>
          </a:p>
        </p:txBody>
      </p:sp>
      <p:graphicFrame>
        <p:nvGraphicFramePr>
          <p:cNvPr id="29" name="visual: how the concepts fit"/>
          <p:cNvGraphicFramePr>
            <a:graphicFrameLocks noGrp="1"/>
          </p:cNvGraphicFramePr>
          <p:nvPr/>
        </p:nvGraphicFramePr>
        <p:xfrm>
          <a:off x="6172200" y="1188720"/>
          <a:ext cx="2514600" cy="22860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Entropy</a:t>
                      </a:r>
                    </a:p>
                  </a:txBody>
                  <a:tcPr marL="64008" marR="64008" marT="18288" marB="18288" anchor="ctr">
                    <a:solidFill>
                      <a:srgbClr val="F2ECE1"/>
                    </a:solidFill>
                  </a:tcPr>
                </a:tc>
              </a:tr>
              <a:tr h="457200">
                <a:tc>
                  <a:txBody>
                    <a:bodyPr wrap="square"/>
                    <a:lstStyle/>
                    <a:p>
                      <a:r>
                        <a:rPr sz="1150" b="0">
                          <a:solidFill>
                            <a:srgbClr val="2B2622"/>
                          </a:solidFill>
                          <a:latin typeface="Calibri"/>
                        </a:rPr>
                        <a:t>2.  Recovery code</a:t>
                      </a:r>
                    </a:p>
                  </a:txBody>
                  <a:tcPr marL="64008" marR="64008" marT="18288" marB="18288" anchor="ctr">
                    <a:solidFill>
                      <a:srgbClr val="FFFFFF"/>
                    </a:solidFill>
                  </a:tcPr>
                </a:tc>
              </a:tr>
              <a:tr h="457200">
                <a:tc>
                  <a:txBody>
                    <a:bodyPr wrap="square"/>
                    <a:lstStyle/>
                    <a:p>
                      <a:r>
                        <a:rPr sz="1150" b="0">
                          <a:solidFill>
                            <a:srgbClr val="2B2622"/>
                          </a:solidFill>
                          <a:latin typeface="Calibri"/>
                        </a:rPr>
                        <a:t>3.  Written on paper</a:t>
                      </a:r>
                    </a:p>
                  </a:txBody>
                  <a:tcPr marL="64008" marR="64008" marT="18288" marB="18288" anchor="ctr">
                    <a:solidFill>
                      <a:srgbClr val="F2ECE1"/>
                    </a:solidFill>
                  </a:tcPr>
                </a:tc>
              </a:tr>
              <a:tr h="457200">
                <a:tc>
                  <a:txBody>
                    <a:bodyPr wrap="square"/>
                    <a:lstStyle/>
                    <a:p>
                      <a:r>
                        <a:rPr sz="1150" b="0">
                          <a:solidFill>
                            <a:srgbClr val="2B2622"/>
                          </a:solidFill>
                          <a:latin typeface="Calibri"/>
                        </a:rPr>
                        <a:t>4.  Restored later</a:t>
                      </a:r>
                    </a:p>
                  </a:txBody>
                  <a:tcPr marL="64008" marR="64008" marT="18288" marB="18288" anchor="ctr">
                    <a:solidFill>
                      <a:srgbClr val="FFFFFF"/>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12 / 68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Six recovery code schemes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What each one adds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Seeds and Recovery Codes</a:t>
            </a:r>
          </a:p>
        </p:txBody>
      </p:sp>
      <p:graphicFrame>
        <p:nvGraphicFramePr>
          <p:cNvPr id="6" name="scheme table"/>
          <p:cNvGraphicFramePr>
            <a:graphicFrameLocks noGrp="1"/>
          </p:cNvGraphicFramePr>
          <p:nvPr/>
        </p:nvGraphicFramePr>
        <p:xfrm>
          <a:off x="365760" y="1188720"/>
          <a:ext cx="8412480" cy="3200400"/>
        </p:xfrm>
        <a:graphic>
          <a:graphicData uri="http://schemas.openxmlformats.org/drawingml/2006/table">
            <a:tbl>
              <a:tblPr firstRow="1" bandRow="1">
                <a:tableStyleId>{5C22544A-7EE6-4342-B048-85BDC9FD1C3A}</a:tableStyleId>
              </a:tblPr>
              <a:tblGrid>
                <a:gridCol w="2377440"/>
                <a:gridCol w="4572000"/>
                <a:gridCol w="1463040"/>
              </a:tblGrid>
              <a:tr h="457200">
                <a:tc>
                  <a:txBody>
                    <a:bodyPr wrap="square"/>
                    <a:lstStyle/>
                    <a:p>
                      <a:r>
                        <a:rPr sz="1150" b="1">
                          <a:solidFill>
                            <a:srgbClr val="FFFFFF"/>
                          </a:solidFill>
                          <a:latin typeface="Calibri"/>
                        </a:rPr>
                        <a:t>Scheme</a:t>
                      </a:r>
                    </a:p>
                  </a:txBody>
                  <a:tcPr marL="64008" marR="64008" marT="18288" marB="18288" anchor="ctr">
                    <a:solidFill>
                      <a:srgbClr val="2B2622"/>
                    </a:solidFill>
                  </a:tcPr>
                </a:tc>
                <a:tc>
                  <a:txBody>
                    <a:bodyPr wrap="square"/>
                    <a:lstStyle/>
                    <a:p>
                      <a:r>
                        <a:rPr sz="1150" b="1">
                          <a:solidFill>
                            <a:srgbClr val="FFFFFF"/>
                          </a:solidFill>
                          <a:latin typeface="Calibri"/>
                        </a:rPr>
                        <a:t>What it adds</a:t>
                      </a:r>
                    </a:p>
                  </a:txBody>
                  <a:tcPr marL="64008" marR="64008" marT="18288" marB="18288" anchor="ctr">
                    <a:solidFill>
                      <a:srgbClr val="2B2622"/>
                    </a:solidFill>
                  </a:tcPr>
                </a:tc>
                <a:tc>
                  <a:txBody>
                    <a:bodyPr wrap="square"/>
                    <a:lstStyle/>
                    <a:p>
                      <a:r>
                        <a:rPr sz="1150" b="1">
                          <a:solidFill>
                            <a:srgbClr val="FFFFFF"/>
                          </a:solidFill>
                          <a:latin typeface="Calibri"/>
                        </a:rPr>
                        <a:t>Source</a:t>
                      </a:r>
                    </a:p>
                  </a:txBody>
                  <a:tcPr marL="64008" marR="64008" marT="18288" marB="18288" anchor="ctr">
                    <a:solidFill>
                      <a:srgbClr val="2B2622"/>
                    </a:solidFill>
                  </a:tcPr>
                </a:tc>
              </a:tr>
              <a:tr h="457200">
                <a:tc>
                  <a:txBody>
                    <a:bodyPr wrap="square"/>
                    <a:lstStyle/>
                    <a:p>
                      <a:r>
                        <a:rPr sz="1150" b="1">
                          <a:solidFill>
                            <a:srgbClr val="2B2622"/>
                          </a:solidFill>
                          <a:latin typeface="Calibri"/>
                        </a:rPr>
                        <a:t>BIP39 recovery code</a:t>
                      </a:r>
                    </a:p>
                  </a:txBody>
                  <a:tcPr marL="64008" marR="64008" marT="18288" marB="18288" anchor="ctr">
                    <a:solidFill>
                      <a:srgbClr val="F2ECE1"/>
                    </a:solidFill>
                  </a:tcPr>
                </a:tc>
                <a:tc>
                  <a:txBody>
                    <a:bodyPr wrap="square"/>
                    <a:lstStyle/>
                    <a:p>
                      <a:r>
                        <a:rPr sz="1150" b="0">
                          <a:solidFill>
                            <a:srgbClr val="2B2622"/>
                          </a:solidFill>
                          <a:latin typeface="Calibri"/>
                        </a:rPr>
                        <a:t>Words from a list of 2,048, a checksum, an optional passphrase</a:t>
                      </a:r>
                    </a:p>
                  </a:txBody>
                  <a:tcPr marL="64008" marR="64008" marT="18288" marB="18288" anchor="ctr">
                    <a:solidFill>
                      <a:srgbClr val="F2ECE1"/>
                    </a:solidFill>
                  </a:tcPr>
                </a:tc>
                <a:tc>
                  <a:txBody>
                    <a:bodyPr wrap="square"/>
                    <a:lstStyle/>
                    <a:p>
                      <a:r>
                        <a:rPr sz="1150" b="0">
                          <a:solidFill>
                            <a:srgbClr val="2B2622"/>
                          </a:solidFill>
                          <a:latin typeface="Calibri"/>
                        </a:rPr>
                        <a:t>BIP39 standard</a:t>
                      </a:r>
                    </a:p>
                  </a:txBody>
                  <a:tcPr marL="64008" marR="64008" marT="18288" marB="18288" anchor="ctr">
                    <a:solidFill>
                      <a:srgbClr val="F2ECE1"/>
                    </a:solidFill>
                  </a:tcPr>
                </a:tc>
              </a:tr>
              <a:tr h="457200">
                <a:tc>
                  <a:txBody>
                    <a:bodyPr wrap="square"/>
                    <a:lstStyle/>
                    <a:p>
                      <a:r>
                        <a:rPr sz="1150" b="1">
                          <a:solidFill>
                            <a:srgbClr val="2B2622"/>
                          </a:solidFill>
                          <a:latin typeface="Calibri"/>
                        </a:rPr>
                        <a:t>Electrum version 2 recovery code</a:t>
                      </a:r>
                    </a:p>
                  </a:txBody>
                  <a:tcPr marL="64008" marR="64008" marT="18288" marB="18288" anchor="ctr">
                    <a:solidFill>
                      <a:srgbClr val="FFFFFF"/>
                    </a:solidFill>
                  </a:tcPr>
                </a:tc>
                <a:tc>
                  <a:txBody>
                    <a:bodyPr wrap="square"/>
                    <a:lstStyle/>
                    <a:p>
                      <a:r>
                        <a:rPr sz="1150" b="0">
                          <a:solidFill>
                            <a:srgbClr val="2B2622"/>
                          </a:solidFill>
                          <a:latin typeface="Calibri"/>
                        </a:rPr>
                        <a:t>No global word list; a version number inside the code</a:t>
                      </a:r>
                    </a:p>
                  </a:txBody>
                  <a:tcPr marL="64008" marR="64008" marT="18288" marB="18288" anchor="ctr">
                    <a:solidFill>
                      <a:srgbClr val="FFFFFF"/>
                    </a:solidFill>
                  </a:tcPr>
                </a:tc>
                <a:tc>
                  <a:txBody>
                    <a:bodyPr wrap="square"/>
                    <a:lstStyle/>
                    <a:p>
                      <a:r>
                        <a:rPr sz="1150" b="0">
                          <a:solidFill>
                            <a:srgbClr val="2B2622"/>
                          </a:solidFill>
                          <a:latin typeface="Calibri"/>
                        </a:rPr>
                        <a:t>Electrum wallet 2.0+</a:t>
                      </a:r>
                    </a:p>
                  </a:txBody>
                  <a:tcPr marL="64008" marR="64008" marT="18288" marB="18288" anchor="ctr">
                    <a:solidFill>
                      <a:srgbClr val="FFFFFF"/>
                    </a:solidFill>
                  </a:tcPr>
                </a:tc>
              </a:tr>
              <a:tr h="457200">
                <a:tc>
                  <a:txBody>
                    <a:bodyPr wrap="square"/>
                    <a:lstStyle/>
                    <a:p>
                      <a:r>
                        <a:rPr sz="1150" b="1">
                          <a:solidFill>
                            <a:srgbClr val="2B2622"/>
                          </a:solidFill>
                          <a:latin typeface="Calibri"/>
                        </a:rPr>
                        <a:t>Aezeed cipher seed</a:t>
                      </a:r>
                    </a:p>
                  </a:txBody>
                  <a:tcPr marL="64008" marR="64008" marT="18288" marB="18288" anchor="ctr">
                    <a:solidFill>
                      <a:srgbClr val="F2ECE1"/>
                    </a:solidFill>
                  </a:tcPr>
                </a:tc>
                <a:tc>
                  <a:txBody>
                    <a:bodyPr wrap="square"/>
                    <a:lstStyle/>
                    <a:p>
                      <a:r>
                        <a:rPr sz="1150" b="0">
                          <a:solidFill>
                            <a:srgbClr val="2B2622"/>
                          </a:solidFill>
                          <a:latin typeface="Calibri"/>
                        </a:rPr>
                        <a:t>Two version numbers and a wallet birthday</a:t>
                      </a:r>
                    </a:p>
                  </a:txBody>
                  <a:tcPr marL="64008" marR="64008" marT="18288" marB="18288" anchor="ctr">
                    <a:solidFill>
                      <a:srgbClr val="F2ECE1"/>
                    </a:solidFill>
                  </a:tcPr>
                </a:tc>
                <a:tc>
                  <a:txBody>
                    <a:bodyPr wrap="square"/>
                    <a:lstStyle/>
                    <a:p>
                      <a:r>
                        <a:rPr sz="1150" b="0">
                          <a:solidFill>
                            <a:srgbClr val="2B2622"/>
                          </a:solidFill>
                          <a:latin typeface="Calibri"/>
                        </a:rPr>
                        <a:t>lnd wallet</a:t>
                      </a:r>
                    </a:p>
                  </a:txBody>
                  <a:tcPr marL="64008" marR="64008" marT="18288" marB="18288" anchor="ctr">
                    <a:solidFill>
                      <a:srgbClr val="F2ECE1"/>
                    </a:solidFill>
                  </a:tcPr>
                </a:tc>
              </a:tr>
              <a:tr h="457200">
                <a:tc>
                  <a:txBody>
                    <a:bodyPr wrap="square"/>
                    <a:lstStyle/>
                    <a:p>
                      <a:r>
                        <a:rPr sz="1150" b="1">
                          <a:solidFill>
                            <a:srgbClr val="2B2622"/>
                          </a:solidFill>
                          <a:latin typeface="Calibri"/>
                        </a:rPr>
                        <a:t>Muun recovery code</a:t>
                      </a:r>
                    </a:p>
                  </a:txBody>
                  <a:tcPr marL="64008" marR="64008" marT="18288" marB="18288" anchor="ctr">
                    <a:solidFill>
                      <a:srgbClr val="FFFFFF"/>
                    </a:solidFill>
                  </a:tcPr>
                </a:tc>
                <a:tc>
                  <a:txBody>
                    <a:bodyPr wrap="square"/>
                    <a:lstStyle/>
                    <a:p>
                      <a:r>
                        <a:rPr sz="1150" b="0">
                          <a:solidFill>
                            <a:srgbClr val="2B2622"/>
                          </a:solidFill>
                          <a:latin typeface="Calibri"/>
                        </a:rPr>
                        <a:t>A non-word code that decrypts the keys in a separate document</a:t>
                      </a:r>
                    </a:p>
                  </a:txBody>
                  <a:tcPr marL="64008" marR="64008" marT="18288" marB="18288" anchor="ctr">
                    <a:solidFill>
                      <a:srgbClr val="FFFFFF"/>
                    </a:solidFill>
                  </a:tcPr>
                </a:tc>
                <a:tc>
                  <a:txBody>
                    <a:bodyPr wrap="square"/>
                    <a:lstStyle/>
                    <a:p>
                      <a:r>
                        <a:rPr sz="1150" b="0">
                          <a:solidFill>
                            <a:srgbClr val="2B2622"/>
                          </a:solidFill>
                          <a:latin typeface="Calibri"/>
                        </a:rPr>
                        <a:t>Muun wallet</a:t>
                      </a:r>
                    </a:p>
                  </a:txBody>
                  <a:tcPr marL="64008" marR="64008" marT="18288" marB="18288" anchor="ctr">
                    <a:solidFill>
                      <a:srgbClr val="FFFFFF"/>
                    </a:solidFill>
                  </a:tcPr>
                </a:tc>
              </a:tr>
              <a:tr h="457200">
                <a:tc>
                  <a:txBody>
                    <a:bodyPr wrap="square"/>
                    <a:lstStyle/>
                    <a:p>
                      <a:r>
                        <a:rPr sz="1150" b="1">
                          <a:solidFill>
                            <a:srgbClr val="2B2622"/>
                          </a:solidFill>
                          <a:latin typeface="Calibri"/>
                        </a:rPr>
                        <a:t>SLIP39 share set</a:t>
                      </a:r>
                    </a:p>
                  </a:txBody>
                  <a:tcPr marL="64008" marR="64008" marT="18288" marB="18288" anchor="ctr">
                    <a:solidFill>
                      <a:srgbClr val="F2ECE1"/>
                    </a:solidFill>
                  </a:tcPr>
                </a:tc>
                <a:tc>
                  <a:txBody>
                    <a:bodyPr wrap="square"/>
                    <a:lstStyle/>
                    <a:p>
                      <a:r>
                        <a:rPr sz="1150" b="0">
                          <a:solidFill>
                            <a:srgbClr val="2B2622"/>
                          </a:solidFill>
                          <a:latin typeface="Calibri"/>
                        </a:rPr>
                        <a:t>One seed split into several codes, for example five made, three needed</a:t>
                      </a:r>
                    </a:p>
                  </a:txBody>
                  <a:tcPr marL="64008" marR="64008" marT="18288" marB="18288" anchor="ctr">
                    <a:solidFill>
                      <a:srgbClr val="F2ECE1"/>
                    </a:solidFill>
                  </a:tcPr>
                </a:tc>
                <a:tc>
                  <a:txBody>
                    <a:bodyPr wrap="square"/>
                    <a:lstStyle/>
                    <a:p>
                      <a:r>
                        <a:rPr sz="1150" b="0">
                          <a:solidFill>
                            <a:srgbClr val="2B2622"/>
                          </a:solidFill>
                          <a:latin typeface="Calibri"/>
                        </a:rPr>
                        <a:t>SLIP-0039</a:t>
                      </a:r>
                    </a:p>
                  </a:txBody>
                  <a:tcPr marL="64008" marR="64008" marT="18288" marB="18288" anchor="ctr">
                    <a:solidFill>
                      <a:srgbClr val="F2ECE1"/>
                    </a:solidFill>
                  </a:tcPr>
                </a:tc>
              </a:tr>
              <a:tr h="457200">
                <a:tc>
                  <a:txBody>
                    <a:bodyPr wrap="square"/>
                    <a:lstStyle/>
                    <a:p>
                      <a:r>
                        <a:rPr sz="1150" b="1">
                          <a:solidFill>
                            <a:srgbClr val="2B2622"/>
                          </a:solidFill>
                          <a:latin typeface="Calibri"/>
                        </a:rPr>
                        <a:t>codex32 recovery code</a:t>
                      </a:r>
                    </a:p>
                  </a:txBody>
                  <a:tcPr marL="64008" marR="64008" marT="18288" marB="18288" anchor="ctr">
                    <a:solidFill>
                      <a:srgbClr val="FFFFFF"/>
                    </a:solidFill>
                  </a:tcPr>
                </a:tc>
                <a:tc>
                  <a:txBody>
                    <a:bodyPr wrap="square"/>
                    <a:lstStyle/>
                    <a:p>
                      <a:r>
                        <a:rPr sz="1150" b="0">
                          <a:solidFill>
                            <a:srgbClr val="2B2622"/>
                          </a:solidFill>
                          <a:latin typeface="Calibri"/>
                        </a:rPr>
                        <a:t>Shares made and checked by hand with paper and a pen</a:t>
                      </a:r>
                    </a:p>
                  </a:txBody>
                  <a:tcPr marL="64008" marR="64008" marT="18288" marB="18288" anchor="ctr">
                    <a:solidFill>
                      <a:srgbClr val="FFFFFF"/>
                    </a:solidFill>
                  </a:tcPr>
                </a:tc>
                <a:tc>
                  <a:txBody>
                    <a:bodyPr wrap="square"/>
                    <a:lstStyle/>
                    <a:p>
                      <a:r>
                        <a:rPr sz="1150" b="0">
                          <a:solidFill>
                            <a:srgbClr val="2B2622"/>
                          </a:solidFill>
                          <a:latin typeface="Calibri"/>
                        </a:rPr>
                        <a:t>BIP93 (draft)</a:t>
                      </a:r>
                    </a:p>
                  </a:txBody>
                  <a:tcPr marL="64008" marR="64008" marT="18288" marB="18288" anchor="ctr">
                    <a:solidFill>
                      <a:srgbClr val="FFFFFF"/>
                    </a:solidFill>
                  </a:tcPr>
                </a:tc>
              </a:tr>
            </a:tbl>
          </a:graphicData>
        </a:graphic>
      </p:graphicFrame>
      <p:sp>
        <p:nvSpPr>
          <p:cNvPr id="7"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Same goal, different trade-offs: reliability, privacy, splitting.</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13 / 68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Why words, and what can go wrong</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Memory, imitation and coercion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Recovery Code Passphrases</a:t>
            </a:r>
          </a:p>
        </p:txBody>
      </p:sp>
      <p:sp>
        <p:nvSpPr>
          <p:cNvPr id="6" name="card"/>
          <p:cNvSpPr/>
          <p:nvPr/>
        </p:nvSpPr>
        <p:spPr>
          <a:xfrm>
            <a:off x="457200" y="1188720"/>
            <a:ext cx="4059936" cy="1522476"/>
          </a:xfrm>
          <a:prstGeom prst="roundRect">
            <a:avLst>
              <a:gd name="adj" fmla="val 4804"/>
            </a:avLst>
          </a:prstGeom>
          <a:solidFill>
            <a:srgbClr val="F2ECE1"/>
          </a:solidFill>
          <a:ln>
            <a:solidFill>
              <a:srgbClr val="F2ECE1"/>
            </a:solidFill>
          </a:ln>
        </p:spPr>
        <p:txBody>
          <a:bodyPr rtlCol="0" anchor="ctr"/>
          <a:lstStyle/>
          <a:p>
            <a:pPr algn="ctr"/>
          </a:p>
        </p:txBody>
      </p:sp>
      <p:sp>
        <p:nvSpPr>
          <p:cNvPr id="7" name="card heading"/>
          <p:cNvSpPr txBox="1"/>
          <p:nvPr/>
        </p:nvSpPr>
        <p:spPr>
          <a:xfrm>
            <a:off x="548640" y="1234440"/>
            <a:ext cx="3877056" cy="274320"/>
          </a:xfrm>
          <a:prstGeom prst="rect">
            <a:avLst/>
          </a:prstGeom>
          <a:noFill/>
        </p:spPr>
        <p:txBody>
          <a:bodyPr wrap="square" anchor="t" lIns="45720" rIns="45720" tIns="36576" bIns="36576">
            <a:spAutoFit/>
          </a:bodyPr>
          <a:lstStyle/>
          <a:p>
            <a:pPr algn="l"/>
            <a:r>
              <a:rPr sz="1400" b="1" i="0">
                <a:solidFill>
                  <a:srgbClr val="D97A14"/>
                </a:solidFill>
                <a:latin typeface="Cambria"/>
              </a:rPr>
              <a:t>Memorising a recovery code</a:t>
            </a:r>
          </a:p>
        </p:txBody>
      </p:sp>
      <p:sp>
        <p:nvSpPr>
          <p:cNvPr id="8" name="card text"/>
          <p:cNvSpPr txBox="1"/>
          <p:nvPr/>
        </p:nvSpPr>
        <p:spPr>
          <a:xfrm>
            <a:off x="548640" y="1517904"/>
            <a:ext cx="3877056" cy="1156716"/>
          </a:xfrm>
          <a:prstGeom prst="rect">
            <a:avLst/>
          </a:prstGeom>
          <a:noFill/>
        </p:spPr>
        <p:txBody>
          <a:bodyPr wrap="square" anchor="t" lIns="45720" rIns="45720" tIns="36576" bIns="36576">
            <a:spAutoFit/>
          </a:bodyPr>
          <a:lstStyle/>
          <a:p>
            <a:pPr algn="l"/>
            <a:r>
              <a:rPr sz="1300" b="0" i="0">
                <a:solidFill>
                  <a:srgbClr val="2B2622"/>
                </a:solidFill>
                <a:latin typeface="Calibri"/>
              </a:rPr>
              <a:t>Words make a code easy to remember, yet the book strongly urges writing it down.</a:t>
            </a:r>
          </a:p>
        </p:txBody>
      </p:sp>
      <p:sp>
        <p:nvSpPr>
          <p:cNvPr id="9" name="card"/>
          <p:cNvSpPr/>
          <p:nvPr/>
        </p:nvSpPr>
        <p:spPr>
          <a:xfrm>
            <a:off x="4626864" y="1188720"/>
            <a:ext cx="4059936" cy="1522476"/>
          </a:xfrm>
          <a:prstGeom prst="roundRect">
            <a:avLst>
              <a:gd name="adj" fmla="val 4804"/>
            </a:avLst>
          </a:prstGeom>
          <a:solidFill>
            <a:srgbClr val="F2ECE1"/>
          </a:solidFill>
          <a:ln>
            <a:solidFill>
              <a:srgbClr val="F2ECE1"/>
            </a:solidFill>
          </a:ln>
        </p:spPr>
        <p:txBody>
          <a:bodyPr rtlCol="0" anchor="ctr"/>
          <a:lstStyle/>
          <a:p>
            <a:pPr algn="ctr"/>
          </a:p>
        </p:txBody>
      </p:sp>
      <p:sp>
        <p:nvSpPr>
          <p:cNvPr id="10" name="card heading"/>
          <p:cNvSpPr txBox="1"/>
          <p:nvPr/>
        </p:nvSpPr>
        <p:spPr>
          <a:xfrm>
            <a:off x="4718304" y="1234440"/>
            <a:ext cx="3877056" cy="274320"/>
          </a:xfrm>
          <a:prstGeom prst="rect">
            <a:avLst/>
          </a:prstGeom>
          <a:noFill/>
        </p:spPr>
        <p:txBody>
          <a:bodyPr wrap="square" anchor="t" lIns="45720" rIns="45720" tIns="36576" bIns="36576">
            <a:spAutoFit/>
          </a:bodyPr>
          <a:lstStyle/>
          <a:p>
            <a:pPr algn="l"/>
            <a:r>
              <a:rPr sz="1400" b="1" i="0">
                <a:solidFill>
                  <a:srgbClr val="D97A14"/>
                </a:solidFill>
                <a:latin typeface="Cambria"/>
              </a:rPr>
              <a:t>Brainwallet</a:t>
            </a:r>
          </a:p>
        </p:txBody>
      </p:sp>
      <p:sp>
        <p:nvSpPr>
          <p:cNvPr id="11" name="card text"/>
          <p:cNvSpPr txBox="1"/>
          <p:nvPr/>
        </p:nvSpPr>
        <p:spPr>
          <a:xfrm>
            <a:off x="4718304" y="1517904"/>
            <a:ext cx="3877056" cy="1156716"/>
          </a:xfrm>
          <a:prstGeom prst="rect">
            <a:avLst/>
          </a:prstGeom>
          <a:noFill/>
        </p:spPr>
        <p:txBody>
          <a:bodyPr wrap="square" anchor="t" lIns="45720" rIns="45720" tIns="36576" bIns="36576">
            <a:spAutoFit/>
          </a:bodyPr>
          <a:lstStyle/>
          <a:p>
            <a:pPr algn="l"/>
            <a:r>
              <a:rPr sz="1300" b="0" i="0">
                <a:solidFill>
                  <a:srgbClr val="2B2622"/>
                </a:solidFill>
                <a:latin typeface="Calibri"/>
              </a:rPr>
              <a:t>Words you chose yourself. A recovery code is random and made by the wallet.</a:t>
            </a:r>
          </a:p>
        </p:txBody>
      </p:sp>
      <p:sp>
        <p:nvSpPr>
          <p:cNvPr id="12" name="card"/>
          <p:cNvSpPr/>
          <p:nvPr/>
        </p:nvSpPr>
        <p:spPr>
          <a:xfrm>
            <a:off x="457200" y="2820924"/>
            <a:ext cx="4059936" cy="1522476"/>
          </a:xfrm>
          <a:prstGeom prst="roundRect">
            <a:avLst>
              <a:gd name="adj" fmla="val 4804"/>
            </a:avLst>
          </a:prstGeom>
          <a:solidFill>
            <a:srgbClr val="F2ECE1"/>
          </a:solidFill>
          <a:ln>
            <a:solidFill>
              <a:srgbClr val="F2ECE1"/>
            </a:solidFill>
          </a:ln>
        </p:spPr>
        <p:txBody>
          <a:bodyPr rtlCol="0" anchor="ctr"/>
          <a:lstStyle/>
          <a:p>
            <a:pPr algn="ctr"/>
          </a:p>
        </p:txBody>
      </p:sp>
      <p:sp>
        <p:nvSpPr>
          <p:cNvPr id="13" name="card heading"/>
          <p:cNvSpPr txBox="1"/>
          <p:nvPr/>
        </p:nvSpPr>
        <p:spPr>
          <a:xfrm>
            <a:off x="548640" y="2866644"/>
            <a:ext cx="3877056" cy="274320"/>
          </a:xfrm>
          <a:prstGeom prst="rect">
            <a:avLst/>
          </a:prstGeom>
          <a:noFill/>
        </p:spPr>
        <p:txBody>
          <a:bodyPr wrap="square" anchor="t" lIns="45720" rIns="45720" tIns="36576" bIns="36576">
            <a:spAutoFit/>
          </a:bodyPr>
          <a:lstStyle/>
          <a:p>
            <a:pPr algn="l"/>
            <a:r>
              <a:rPr sz="1400" b="1" i="0">
                <a:solidFill>
                  <a:srgbClr val="D97A14"/>
                </a:solidFill>
                <a:latin typeface="Cambria"/>
              </a:rPr>
              <a:t>Coercion and physical risk</a:t>
            </a:r>
          </a:p>
        </p:txBody>
      </p:sp>
      <p:sp>
        <p:nvSpPr>
          <p:cNvPr id="14" name="card text"/>
          <p:cNvSpPr txBox="1"/>
          <p:nvPr/>
        </p:nvSpPr>
        <p:spPr>
          <a:xfrm>
            <a:off x="548640" y="3150108"/>
            <a:ext cx="3877056" cy="1156716"/>
          </a:xfrm>
          <a:prstGeom prst="rect">
            <a:avLst/>
          </a:prstGeom>
          <a:noFill/>
        </p:spPr>
        <p:txBody>
          <a:bodyPr wrap="square" anchor="t" lIns="45720" rIns="45720" tIns="36576" bIns="36576">
            <a:spAutoFit/>
          </a:bodyPr>
          <a:lstStyle/>
          <a:p>
            <a:pPr algn="l"/>
            <a:r>
              <a:rPr sz="1300" b="0" i="0">
                <a:solidFill>
                  <a:srgbClr val="2B2622"/>
                </a:solidFill>
                <a:latin typeface="Calibri"/>
              </a:rPr>
              <a:t>Someone who thinks you remember a code may force you. The book cites over 100 attacks; the 2026 copy of the list has 364 rows.</a:t>
            </a:r>
          </a:p>
        </p:txBody>
      </p:sp>
      <p:sp>
        <p:nvSpPr>
          <p:cNvPr id="15" name="card"/>
          <p:cNvSpPr/>
          <p:nvPr/>
        </p:nvSpPr>
        <p:spPr>
          <a:xfrm>
            <a:off x="4626864" y="2820924"/>
            <a:ext cx="4059936" cy="1522476"/>
          </a:xfrm>
          <a:prstGeom prst="roundRect">
            <a:avLst>
              <a:gd name="adj" fmla="val 4804"/>
            </a:avLst>
          </a:prstGeom>
          <a:solidFill>
            <a:srgbClr val="F2ECE1"/>
          </a:solidFill>
          <a:ln>
            <a:solidFill>
              <a:srgbClr val="F2ECE1"/>
            </a:solidFill>
          </a:ln>
        </p:spPr>
        <p:txBody>
          <a:bodyPr rtlCol="0" anchor="ctr"/>
          <a:lstStyle/>
          <a:p>
            <a:pPr algn="ctr"/>
          </a:p>
        </p:txBody>
      </p:sp>
      <p:sp>
        <p:nvSpPr>
          <p:cNvPr id="16" name="card heading"/>
          <p:cNvSpPr txBox="1"/>
          <p:nvPr/>
        </p:nvSpPr>
        <p:spPr>
          <a:xfrm>
            <a:off x="4718304" y="2866644"/>
            <a:ext cx="3877056" cy="274320"/>
          </a:xfrm>
          <a:prstGeom prst="rect">
            <a:avLst/>
          </a:prstGeom>
          <a:noFill/>
        </p:spPr>
        <p:txBody>
          <a:bodyPr wrap="square" anchor="t" lIns="45720" rIns="45720" tIns="36576" bIns="36576">
            <a:spAutoFit/>
          </a:bodyPr>
          <a:lstStyle/>
          <a:p>
            <a:pPr algn="l"/>
            <a:r>
              <a:rPr sz="1400" b="1" i="0">
                <a:solidFill>
                  <a:srgbClr val="D97A14"/>
                </a:solidFill>
                <a:latin typeface="Cambria"/>
              </a:rPr>
              <a:t>Wallet birthday</a:t>
            </a:r>
          </a:p>
        </p:txBody>
      </p:sp>
      <p:sp>
        <p:nvSpPr>
          <p:cNvPr id="17" name="card text"/>
          <p:cNvSpPr txBox="1"/>
          <p:nvPr/>
        </p:nvSpPr>
        <p:spPr>
          <a:xfrm>
            <a:off x="4718304" y="3150108"/>
            <a:ext cx="3877056" cy="1156716"/>
          </a:xfrm>
          <a:prstGeom prst="rect">
            <a:avLst/>
          </a:prstGeom>
          <a:noFill/>
        </p:spPr>
        <p:txBody>
          <a:bodyPr wrap="square" anchor="t" lIns="45720" rIns="45720" tIns="36576" bIns="36576">
            <a:spAutoFit/>
          </a:bodyPr>
          <a:lstStyle/>
          <a:p>
            <a:pPr algn="l"/>
            <a:r>
              <a:rPr sz="1300" b="0" i="0">
                <a:solidFill>
                  <a:srgbClr val="2B2622"/>
                </a:solidFill>
                <a:latin typeface="Calibri"/>
              </a:rPr>
              <a:t>A date stored in the code, so a restore need not scan the whole blockchain.</a:t>
            </a:r>
          </a:p>
        </p:txBody>
      </p:sp>
      <p:sp>
        <p:nvSpPr>
          <p:cNvPr id="18"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Write it down, make it random, and do not depend on memory.</a:t>
            </a:r>
          </a:p>
        </p:txBody>
      </p:sp>
      <p:sp>
        <p:nvSpPr>
          <p:cNvPr id="1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14 / 68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for part 2, schemes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Notes, dictionaries and torn maps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Seeds and Recovery Codes</a:t>
            </a:r>
          </a:p>
        </p:txBody>
      </p:sp>
      <p:graphicFrame>
        <p:nvGraphicFramePr>
          <p:cNvPr id="6" name="analogy table"/>
          <p:cNvGraphicFramePr>
            <a:graphicFrameLocks noGrp="1"/>
          </p:cNvGraphicFramePr>
          <p:nvPr/>
        </p:nvGraphicFramePr>
        <p:xfrm>
          <a:off x="457200" y="1188720"/>
          <a:ext cx="8229600" cy="3108960"/>
        </p:xfrm>
        <a:graphic>
          <a:graphicData uri="http://schemas.openxmlformats.org/drawingml/2006/table">
            <a:tbl>
              <a:tblPr firstRow="1" bandRow="1">
                <a:tableStyleId>{5C22544A-7EE6-4342-B048-85BDC9FD1C3A}</a:tableStyleId>
              </a:tblPr>
              <a:tblGrid>
                <a:gridCol w="2194560"/>
                <a:gridCol w="3108960"/>
                <a:gridCol w="2926080"/>
              </a:tblGrid>
              <a:tr h="388620">
                <a:tc>
                  <a:txBody>
                    <a:bodyPr wrap="square"/>
                    <a:lstStyle/>
                    <a:p>
                      <a:r>
                        <a:rPr sz="1050" b="1">
                          <a:solidFill>
                            <a:srgbClr val="FFFFFF"/>
                          </a:solidFill>
                          <a:latin typeface="Calibri"/>
                        </a:rPr>
                        <a:t>Concept</a:t>
                      </a:r>
                    </a:p>
                  </a:txBody>
                  <a:tcPr marL="64008" marR="64008" marT="18288" marB="18288" anchor="ctr">
                    <a:solidFill>
                      <a:srgbClr val="2B2622"/>
                    </a:solidFill>
                  </a:tcPr>
                </a:tc>
                <a:tc>
                  <a:txBody>
                    <a:bodyPr wrap="square"/>
                    <a:lstStyle/>
                    <a:p>
                      <a:r>
                        <a:rPr sz="1050" b="1">
                          <a:solidFill>
                            <a:srgbClr val="FFFFFF"/>
                          </a:solidFill>
                          <a:latin typeface="Calibri"/>
                        </a:rPr>
                        <a:t>In everyday life</a:t>
                      </a:r>
                    </a:p>
                  </a:txBody>
                  <a:tcPr marL="64008" marR="64008" marT="18288" marB="18288" anchor="ctr">
                    <a:solidFill>
                      <a:srgbClr val="2B2622"/>
                    </a:solidFill>
                  </a:tcPr>
                </a:tc>
                <a:tc>
                  <a:txBody>
                    <a:bodyPr wrap="square"/>
                    <a:lstStyle/>
                    <a:p>
                      <a:r>
                        <a:rPr sz="1050" b="1">
                          <a:solidFill>
                            <a:srgbClr val="FFFFFF"/>
                          </a:solidFill>
                          <a:latin typeface="Calibri"/>
                        </a:rPr>
                        <a:t>In the wallet</a:t>
                      </a:r>
                    </a:p>
                  </a:txBody>
                  <a:tcPr marL="64008" marR="64008" marT="18288" marB="18288" anchor="ctr">
                    <a:solidFill>
                      <a:srgbClr val="2B2622"/>
                    </a:solidFill>
                  </a:tcPr>
                </a:tc>
              </a:tr>
              <a:tr h="388620">
                <a:tc>
                  <a:txBody>
                    <a:bodyPr wrap="square"/>
                    <a:lstStyle/>
                    <a:p>
                      <a:r>
                        <a:rPr sz="1050" b="1">
                          <a:solidFill>
                            <a:srgbClr val="2B2622"/>
                          </a:solidFill>
                          <a:latin typeface="Calibri"/>
                        </a:rPr>
                        <a:t>recovery code</a:t>
                      </a:r>
                    </a:p>
                  </a:txBody>
                  <a:tcPr marL="64008" marR="64008" marT="18288" marB="18288" anchor="ctr">
                    <a:solidFill>
                      <a:srgbClr val="F2ECE1"/>
                    </a:solidFill>
                  </a:tcPr>
                </a:tc>
                <a:tc>
                  <a:txBody>
                    <a:bodyPr wrap="square"/>
                    <a:lstStyle/>
                    <a:p>
                      <a:r>
                        <a:rPr sz="1050" b="0">
                          <a:solidFill>
                            <a:srgbClr val="2B2622"/>
                          </a:solidFill>
                          <a:latin typeface="Calibri"/>
                        </a:rPr>
                        <a:t>A spare-key note you can write by hand</a:t>
                      </a:r>
                    </a:p>
                  </a:txBody>
                  <a:tcPr marL="64008" marR="64008" marT="18288" marB="18288" anchor="ctr">
                    <a:solidFill>
                      <a:srgbClr val="F2ECE1"/>
                    </a:solidFill>
                  </a:tcPr>
                </a:tc>
                <a:tc>
                  <a:txBody>
                    <a:bodyPr wrap="square"/>
                    <a:lstStyle/>
                    <a:p>
                      <a:r>
                        <a:rPr sz="1050" b="0">
                          <a:solidFill>
                            <a:srgbClr val="2B2622"/>
                          </a:solidFill>
                          <a:latin typeface="Calibri"/>
                        </a:rPr>
                        <a:t>Words that stand for the seed</a:t>
                      </a:r>
                    </a:p>
                  </a:txBody>
                  <a:tcPr marL="64008" marR="64008" marT="18288" marB="18288" anchor="ctr">
                    <a:solidFill>
                      <a:srgbClr val="F2ECE1"/>
                    </a:solidFill>
                  </a:tcPr>
                </a:tc>
              </a:tr>
              <a:tr h="388620">
                <a:tc>
                  <a:txBody>
                    <a:bodyPr wrap="square"/>
                    <a:lstStyle/>
                    <a:p>
                      <a:r>
                        <a:rPr sz="1050" b="1">
                          <a:solidFill>
                            <a:srgbClr val="2B2622"/>
                          </a:solidFill>
                          <a:latin typeface="Calibri"/>
                        </a:rPr>
                        <a:t>BIP39</a:t>
                      </a:r>
                    </a:p>
                  </a:txBody>
                  <a:tcPr marL="64008" marR="64008" marT="18288" marB="18288" anchor="ctr">
                    <a:solidFill>
                      <a:srgbClr val="FFFFFF"/>
                    </a:solidFill>
                  </a:tcPr>
                </a:tc>
                <a:tc>
                  <a:txBody>
                    <a:bodyPr wrap="square"/>
                    <a:lstStyle/>
                    <a:p>
                      <a:r>
                        <a:rPr sz="1050" b="0">
                          <a:solidFill>
                            <a:srgbClr val="2B2622"/>
                          </a:solidFill>
                          <a:latin typeface="Calibri"/>
                        </a:rPr>
                        <a:t>A shared dictionary of 2,048 numbered words</a:t>
                      </a:r>
                    </a:p>
                  </a:txBody>
                  <a:tcPr marL="64008" marR="64008" marT="18288" marB="18288" anchor="ctr">
                    <a:solidFill>
                      <a:srgbClr val="FFFFFF"/>
                    </a:solidFill>
                  </a:tcPr>
                </a:tc>
                <a:tc>
                  <a:txBody>
                    <a:bodyPr wrap="square"/>
                    <a:lstStyle/>
                    <a:p>
                      <a:r>
                        <a:rPr sz="1050" b="0">
                          <a:solidFill>
                            <a:srgbClr val="2B2622"/>
                          </a:solidFill>
                          <a:latin typeface="Calibri"/>
                        </a:rPr>
                        <a:t>The most common recovery code scheme</a:t>
                      </a:r>
                    </a:p>
                  </a:txBody>
                  <a:tcPr marL="64008" marR="64008" marT="18288" marB="18288" anchor="ctr">
                    <a:solidFill>
                      <a:srgbClr val="FFFFFF"/>
                    </a:solidFill>
                  </a:tcPr>
                </a:tc>
              </a:tr>
              <a:tr h="388620">
                <a:tc>
                  <a:txBody>
                    <a:bodyPr wrap="square"/>
                    <a:lstStyle/>
                    <a:p>
                      <a:r>
                        <a:rPr sz="1050" b="1">
                          <a:solidFill>
                            <a:srgbClr val="2B2622"/>
                          </a:solidFill>
                          <a:latin typeface="Calibri"/>
                        </a:rPr>
                        <a:t>Electrum v2</a:t>
                      </a:r>
                    </a:p>
                  </a:txBody>
                  <a:tcPr marL="64008" marR="64008" marT="18288" marB="18288" anchor="ctr">
                    <a:solidFill>
                      <a:srgbClr val="F2ECE1"/>
                    </a:solidFill>
                  </a:tcPr>
                </a:tc>
                <a:tc>
                  <a:txBody>
                    <a:bodyPr wrap="square"/>
                    <a:lstStyle/>
                    <a:p>
                      <a:r>
                        <a:rPr sz="1050" b="0">
                          <a:solidFill>
                            <a:srgbClr val="2B2622"/>
                          </a:solidFill>
                          <a:latin typeface="Calibri"/>
                        </a:rPr>
                        <a:t>A notebook that stamps its own version</a:t>
                      </a:r>
                    </a:p>
                  </a:txBody>
                  <a:tcPr marL="64008" marR="64008" marT="18288" marB="18288" anchor="ctr">
                    <a:solidFill>
                      <a:srgbClr val="F2ECE1"/>
                    </a:solidFill>
                  </a:tcPr>
                </a:tc>
                <a:tc>
                  <a:txBody>
                    <a:bodyPr wrap="square"/>
                    <a:lstStyle/>
                    <a:p>
                      <a:r>
                        <a:rPr sz="1050" b="0">
                          <a:solidFill>
                            <a:srgbClr val="2B2622"/>
                          </a:solidFill>
                          <a:latin typeface="Calibri"/>
                        </a:rPr>
                        <a:t>No global list; a version inside the code</a:t>
                      </a:r>
                    </a:p>
                  </a:txBody>
                  <a:tcPr marL="64008" marR="64008" marT="18288" marB="18288" anchor="ctr">
                    <a:solidFill>
                      <a:srgbClr val="F2ECE1"/>
                    </a:solidFill>
                  </a:tcPr>
                </a:tc>
              </a:tr>
              <a:tr h="388620">
                <a:tc>
                  <a:txBody>
                    <a:bodyPr wrap="square"/>
                    <a:lstStyle/>
                    <a:p>
                      <a:r>
                        <a:rPr sz="1050" b="1">
                          <a:solidFill>
                            <a:srgbClr val="2B2622"/>
                          </a:solidFill>
                          <a:latin typeface="Calibri"/>
                        </a:rPr>
                        <a:t>Aezeed</a:t>
                      </a:r>
                    </a:p>
                  </a:txBody>
                  <a:tcPr marL="64008" marR="64008" marT="18288" marB="18288" anchor="ctr">
                    <a:solidFill>
                      <a:srgbClr val="FFFFFF"/>
                    </a:solidFill>
                  </a:tcPr>
                </a:tc>
                <a:tc>
                  <a:txBody>
                    <a:bodyPr wrap="square"/>
                    <a:lstStyle/>
                    <a:p>
                      <a:r>
                        <a:rPr sz="1050" b="0">
                          <a:solidFill>
                            <a:srgbClr val="2B2622"/>
                          </a:solidFill>
                          <a:latin typeface="Calibri"/>
                        </a:rPr>
                        <a:t>A sealed letter carrying its own date</a:t>
                      </a:r>
                    </a:p>
                  </a:txBody>
                  <a:tcPr marL="64008" marR="64008" marT="18288" marB="18288" anchor="ctr">
                    <a:solidFill>
                      <a:srgbClr val="FFFFFF"/>
                    </a:solidFill>
                  </a:tcPr>
                </a:tc>
                <a:tc>
                  <a:txBody>
                    <a:bodyPr wrap="square"/>
                    <a:lstStyle/>
                    <a:p>
                      <a:r>
                        <a:rPr sz="1050" b="0">
                          <a:solidFill>
                            <a:srgbClr val="2B2622"/>
                          </a:solidFill>
                          <a:latin typeface="Calibri"/>
                        </a:rPr>
                        <a:t>Versions and a wallet birthday</a:t>
                      </a:r>
                    </a:p>
                  </a:txBody>
                  <a:tcPr marL="64008" marR="64008" marT="18288" marB="18288" anchor="ctr">
                    <a:solidFill>
                      <a:srgbClr val="FFFFFF"/>
                    </a:solidFill>
                  </a:tcPr>
                </a:tc>
              </a:tr>
              <a:tr h="388620">
                <a:tc>
                  <a:txBody>
                    <a:bodyPr wrap="square"/>
                    <a:lstStyle/>
                    <a:p>
                      <a:r>
                        <a:rPr sz="1050" b="1">
                          <a:solidFill>
                            <a:srgbClr val="2B2622"/>
                          </a:solidFill>
                          <a:latin typeface="Calibri"/>
                        </a:rPr>
                        <a:t>Muun</a:t>
                      </a:r>
                    </a:p>
                  </a:txBody>
                  <a:tcPr marL="64008" marR="64008" marT="18288" marB="18288" anchor="ctr">
                    <a:solidFill>
                      <a:srgbClr val="F2ECE1"/>
                    </a:solidFill>
                  </a:tcPr>
                </a:tc>
                <a:tc>
                  <a:txBody>
                    <a:bodyPr wrap="square"/>
                    <a:lstStyle/>
                    <a:p>
                      <a:r>
                        <a:rPr sz="1050" b="0">
                          <a:solidFill>
                            <a:srgbClr val="2B2622"/>
                          </a:solidFill>
                          <a:latin typeface="Calibri"/>
                        </a:rPr>
                        <a:t>A safe-deposit key opened with a paper from the bank</a:t>
                      </a:r>
                    </a:p>
                  </a:txBody>
                  <a:tcPr marL="64008" marR="64008" marT="18288" marB="18288" anchor="ctr">
                    <a:solidFill>
                      <a:srgbClr val="F2ECE1"/>
                    </a:solidFill>
                  </a:tcPr>
                </a:tc>
                <a:tc>
                  <a:txBody>
                    <a:bodyPr wrap="square"/>
                    <a:lstStyle/>
                    <a:p>
                      <a:r>
                        <a:rPr sz="1050" b="0">
                          <a:solidFill>
                            <a:srgbClr val="2B2622"/>
                          </a:solidFill>
                          <a:latin typeface="Calibri"/>
                        </a:rPr>
                        <a:t>A code that decrypts a separate document</a:t>
                      </a:r>
                    </a:p>
                  </a:txBody>
                  <a:tcPr marL="64008" marR="64008" marT="18288" marB="18288" anchor="ctr">
                    <a:solidFill>
                      <a:srgbClr val="F2ECE1"/>
                    </a:solidFill>
                  </a:tcPr>
                </a:tc>
              </a:tr>
              <a:tr h="388620">
                <a:tc>
                  <a:txBody>
                    <a:bodyPr wrap="square"/>
                    <a:lstStyle/>
                    <a:p>
                      <a:r>
                        <a:rPr sz="1050" b="1">
                          <a:solidFill>
                            <a:srgbClr val="2B2622"/>
                          </a:solidFill>
                          <a:latin typeface="Calibri"/>
                        </a:rPr>
                        <a:t>SLIP39</a:t>
                      </a:r>
                    </a:p>
                  </a:txBody>
                  <a:tcPr marL="64008" marR="64008" marT="18288" marB="18288" anchor="ctr">
                    <a:solidFill>
                      <a:srgbClr val="FFFFFF"/>
                    </a:solidFill>
                  </a:tcPr>
                </a:tc>
                <a:tc>
                  <a:txBody>
                    <a:bodyPr wrap="square"/>
                    <a:lstStyle/>
                    <a:p>
                      <a:r>
                        <a:rPr sz="1050" b="0">
                          <a:solidFill>
                            <a:srgbClr val="2B2622"/>
                          </a:solidFill>
                          <a:latin typeface="Calibri"/>
                        </a:rPr>
                        <a:t>A map torn in five: any three pieces show the treasure</a:t>
                      </a:r>
                    </a:p>
                  </a:txBody>
                  <a:tcPr marL="64008" marR="64008" marT="18288" marB="18288" anchor="ctr">
                    <a:solidFill>
                      <a:srgbClr val="FFFFFF"/>
                    </a:solidFill>
                  </a:tcPr>
                </a:tc>
                <a:tc>
                  <a:txBody>
                    <a:bodyPr wrap="square"/>
                    <a:lstStyle/>
                    <a:p>
                      <a:r>
                        <a:rPr sz="1050" b="0">
                          <a:solidFill>
                            <a:srgbClr val="2B2622"/>
                          </a:solidFill>
                          <a:latin typeface="Calibri"/>
                        </a:rPr>
                        <a:t>Shares of one seed with a threshold</a:t>
                      </a:r>
                    </a:p>
                  </a:txBody>
                  <a:tcPr marL="64008" marR="64008" marT="18288" marB="18288" anchor="ctr">
                    <a:solidFill>
                      <a:srgbClr val="FFFFFF"/>
                    </a:solidFill>
                  </a:tcPr>
                </a:tc>
              </a:tr>
              <a:tr h="388620">
                <a:tc>
                  <a:txBody>
                    <a:bodyPr wrap="square"/>
                    <a:lstStyle/>
                    <a:p>
                      <a:r>
                        <a:rPr sz="1050" b="1">
                          <a:solidFill>
                            <a:srgbClr val="2B2622"/>
                          </a:solidFill>
                          <a:latin typeface="Calibri"/>
                        </a:rPr>
                        <a:t>Codex32</a:t>
                      </a:r>
                    </a:p>
                  </a:txBody>
                  <a:tcPr marL="64008" marR="64008" marT="18288" marB="18288" anchor="ctr">
                    <a:solidFill>
                      <a:srgbClr val="F2ECE1"/>
                    </a:solidFill>
                  </a:tcPr>
                </a:tc>
                <a:tc>
                  <a:txBody>
                    <a:bodyPr wrap="square"/>
                    <a:lstStyle/>
                    <a:p>
                      <a:r>
                        <a:rPr sz="1050" b="0">
                          <a:solidFill>
                            <a:srgbClr val="2B2622"/>
                          </a:solidFill>
                          <a:latin typeface="Calibri"/>
                        </a:rPr>
                        <a:t>A crossword you can check by hand</a:t>
                      </a:r>
                    </a:p>
                  </a:txBody>
                  <a:tcPr marL="64008" marR="64008" marT="18288" marB="18288" anchor="ctr">
                    <a:solidFill>
                      <a:srgbClr val="F2ECE1"/>
                    </a:solidFill>
                  </a:tcPr>
                </a:tc>
                <a:tc>
                  <a:txBody>
                    <a:bodyPr wrap="square"/>
                    <a:lstStyle/>
                    <a:p>
                      <a:r>
                        <a:rPr sz="1050" b="0">
                          <a:solidFill>
                            <a:srgbClr val="2B2622"/>
                          </a:solidFill>
                          <a:latin typeface="Calibri"/>
                        </a:rPr>
                        <a:t>Shares and checksums made with paper and a pen</a:t>
                      </a:r>
                    </a:p>
                  </a:txBody>
                  <a:tcPr marL="64008" marR="64008" marT="18288" marB="18288" anchor="ctr">
                    <a:solidFill>
                      <a:srgbClr val="F2ECE1"/>
                    </a:solidFill>
                  </a:tcPr>
                </a:tc>
              </a:tr>
            </a:tbl>
          </a:graphicData>
        </a:graphic>
      </p:graphicFrame>
      <p:sp>
        <p:nvSpPr>
          <p:cNvPr id="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15 / 68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for part 2, choices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second lock, a decoy and a date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Recovery Code Passphrases</a:t>
            </a:r>
          </a:p>
        </p:txBody>
      </p:sp>
      <p:graphicFrame>
        <p:nvGraphicFramePr>
          <p:cNvPr id="6" name="analogy table"/>
          <p:cNvGraphicFramePr>
            <a:graphicFrameLocks noGrp="1"/>
          </p:cNvGraphicFramePr>
          <p:nvPr/>
        </p:nvGraphicFramePr>
        <p:xfrm>
          <a:off x="457200" y="1188720"/>
          <a:ext cx="8229600" cy="3108960"/>
        </p:xfrm>
        <a:graphic>
          <a:graphicData uri="http://schemas.openxmlformats.org/drawingml/2006/table">
            <a:tbl>
              <a:tblPr firstRow="1" bandRow="1">
                <a:tableStyleId>{5C22544A-7EE6-4342-B048-85BDC9FD1C3A}</a:tableStyleId>
              </a:tblPr>
              <a:tblGrid>
                <a:gridCol w="2194560"/>
                <a:gridCol w="3108960"/>
                <a:gridCol w="2926080"/>
              </a:tblGrid>
              <a:tr h="388620">
                <a:tc>
                  <a:txBody>
                    <a:bodyPr wrap="square"/>
                    <a:lstStyle/>
                    <a:p>
                      <a:r>
                        <a:rPr sz="1050" b="1">
                          <a:solidFill>
                            <a:srgbClr val="FFFFFF"/>
                          </a:solidFill>
                          <a:latin typeface="Calibri"/>
                        </a:rPr>
                        <a:t>Concept</a:t>
                      </a:r>
                    </a:p>
                  </a:txBody>
                  <a:tcPr marL="64008" marR="64008" marT="18288" marB="18288" anchor="ctr">
                    <a:solidFill>
                      <a:srgbClr val="2B2622"/>
                    </a:solidFill>
                  </a:tcPr>
                </a:tc>
                <a:tc>
                  <a:txBody>
                    <a:bodyPr wrap="square"/>
                    <a:lstStyle/>
                    <a:p>
                      <a:r>
                        <a:rPr sz="1050" b="1">
                          <a:solidFill>
                            <a:srgbClr val="FFFFFF"/>
                          </a:solidFill>
                          <a:latin typeface="Calibri"/>
                        </a:rPr>
                        <a:t>In everyday life</a:t>
                      </a:r>
                    </a:p>
                  </a:txBody>
                  <a:tcPr marL="64008" marR="64008" marT="18288" marB="18288" anchor="ctr">
                    <a:solidFill>
                      <a:srgbClr val="2B2622"/>
                    </a:solidFill>
                  </a:tcPr>
                </a:tc>
                <a:tc>
                  <a:txBody>
                    <a:bodyPr wrap="square"/>
                    <a:lstStyle/>
                    <a:p>
                      <a:r>
                        <a:rPr sz="1050" b="1">
                          <a:solidFill>
                            <a:srgbClr val="FFFFFF"/>
                          </a:solidFill>
                          <a:latin typeface="Calibri"/>
                        </a:rPr>
                        <a:t>In the wallet</a:t>
                      </a:r>
                    </a:p>
                  </a:txBody>
                  <a:tcPr marL="64008" marR="64008" marT="18288" marB="18288" anchor="ctr">
                    <a:solidFill>
                      <a:srgbClr val="2B2622"/>
                    </a:solidFill>
                  </a:tcPr>
                </a:tc>
              </a:tr>
              <a:tr h="388620">
                <a:tc>
                  <a:txBody>
                    <a:bodyPr wrap="square"/>
                    <a:lstStyle/>
                    <a:p>
                      <a:r>
                        <a:rPr sz="1050" b="1">
                          <a:solidFill>
                            <a:srgbClr val="2B2622"/>
                          </a:solidFill>
                          <a:latin typeface="Calibri"/>
                        </a:rPr>
                        <a:t>recovery code passphrase</a:t>
                      </a:r>
                    </a:p>
                  </a:txBody>
                  <a:tcPr marL="64008" marR="64008" marT="18288" marB="18288" anchor="ctr">
                    <a:solidFill>
                      <a:srgbClr val="F2ECE1"/>
                    </a:solidFill>
                  </a:tcPr>
                </a:tc>
                <a:tc>
                  <a:txBody>
                    <a:bodyPr wrap="square"/>
                    <a:lstStyle/>
                    <a:p>
                      <a:r>
                        <a:rPr sz="1050" b="0">
                          <a:solidFill>
                            <a:srgbClr val="2B2622"/>
                          </a:solidFill>
                          <a:latin typeface="Calibri"/>
                        </a:rPr>
                        <a:t>A second lock on the safe</a:t>
                      </a:r>
                    </a:p>
                  </a:txBody>
                  <a:tcPr marL="64008" marR="64008" marT="18288" marB="18288" anchor="ctr">
                    <a:solidFill>
                      <a:srgbClr val="F2ECE1"/>
                    </a:solidFill>
                  </a:tcPr>
                </a:tc>
                <a:tc>
                  <a:txBody>
                    <a:bodyPr wrap="square"/>
                    <a:lstStyle/>
                    <a:p>
                      <a:r>
                        <a:rPr sz="1050" b="0">
                          <a:solidFill>
                            <a:srgbClr val="2B2622"/>
                          </a:solidFill>
                          <a:latin typeface="Calibri"/>
                        </a:rPr>
                        <a:t>An extra secret mixed into the seed</a:t>
                      </a:r>
                    </a:p>
                  </a:txBody>
                  <a:tcPr marL="64008" marR="64008" marT="18288" marB="18288" anchor="ctr">
                    <a:solidFill>
                      <a:srgbClr val="F2ECE1"/>
                    </a:solidFill>
                  </a:tcPr>
                </a:tc>
              </a:tr>
              <a:tr h="388620">
                <a:tc>
                  <a:txBody>
                    <a:bodyPr wrap="square"/>
                    <a:lstStyle/>
                    <a:p>
                      <a:r>
                        <a:rPr sz="1050" b="1">
                          <a:solidFill>
                            <a:srgbClr val="2B2622"/>
                          </a:solidFill>
                          <a:latin typeface="Calibri"/>
                        </a:rPr>
                        <a:t>plausible deniability</a:t>
                      </a:r>
                    </a:p>
                  </a:txBody>
                  <a:tcPr marL="64008" marR="64008" marT="18288" marB="18288" anchor="ctr">
                    <a:solidFill>
                      <a:srgbClr val="FFFFFF"/>
                    </a:solidFill>
                  </a:tcPr>
                </a:tc>
                <a:tc>
                  <a:txBody>
                    <a:bodyPr wrap="square"/>
                    <a:lstStyle/>
                    <a:p>
                      <a:r>
                        <a:rPr sz="1050" b="0">
                          <a:solidFill>
                            <a:srgbClr val="2B2622"/>
                          </a:solidFill>
                          <a:latin typeface="Calibri"/>
                        </a:rPr>
                        <a:t>A decoy purse with a little cash</a:t>
                      </a:r>
                    </a:p>
                  </a:txBody>
                  <a:tcPr marL="64008" marR="64008" marT="18288" marB="18288" anchor="ctr">
                    <a:solidFill>
                      <a:srgbClr val="FFFFFF"/>
                    </a:solidFill>
                  </a:tcPr>
                </a:tc>
                <a:tc>
                  <a:txBody>
                    <a:bodyPr wrap="square"/>
                    <a:lstStyle/>
                    <a:p>
                      <a:r>
                        <a:rPr sz="1050" b="0">
                          <a:solidFill>
                            <a:srgbClr val="2B2622"/>
                          </a:solidFill>
                          <a:latin typeface="Calibri"/>
                        </a:rPr>
                        <a:t>A wallet that looks genuine and holds little</a:t>
                      </a:r>
                    </a:p>
                  </a:txBody>
                  <a:tcPr marL="64008" marR="64008" marT="18288" marB="18288" anchor="ctr">
                    <a:solidFill>
                      <a:srgbClr val="FFFFFF"/>
                    </a:solidFill>
                  </a:tcPr>
                </a:tc>
              </a:tr>
              <a:tr h="388620">
                <a:tc>
                  <a:txBody>
                    <a:bodyPr wrap="square"/>
                    <a:lstStyle/>
                    <a:p>
                      <a:r>
                        <a:rPr sz="1050" b="1">
                          <a:solidFill>
                            <a:srgbClr val="2B2622"/>
                          </a:solidFill>
                          <a:latin typeface="Calibri"/>
                        </a:rPr>
                        <a:t>duress wallet</a:t>
                      </a:r>
                    </a:p>
                  </a:txBody>
                  <a:tcPr marL="64008" marR="64008" marT="18288" marB="18288" anchor="ctr">
                    <a:solidFill>
                      <a:srgbClr val="F2ECE1"/>
                    </a:solidFill>
                  </a:tcPr>
                </a:tc>
                <a:tc>
                  <a:txBody>
                    <a:bodyPr wrap="square"/>
                    <a:lstStyle/>
                    <a:p>
                      <a:r>
                        <a:rPr sz="1050" b="0">
                          <a:solidFill>
                            <a:srgbClr val="2B2622"/>
                          </a:solidFill>
                          <a:latin typeface="Calibri"/>
                        </a:rPr>
                        <a:t>The purse you hand over under threat</a:t>
                      </a:r>
                    </a:p>
                  </a:txBody>
                  <a:tcPr marL="64008" marR="64008" marT="18288" marB="18288" anchor="ctr">
                    <a:solidFill>
                      <a:srgbClr val="F2ECE1"/>
                    </a:solidFill>
                  </a:tcPr>
                </a:tc>
                <a:tc>
                  <a:txBody>
                    <a:bodyPr wrap="square"/>
                    <a:lstStyle/>
                    <a:p>
                      <a:r>
                        <a:rPr sz="1050" b="0">
                          <a:solidFill>
                            <a:srgbClr val="2B2622"/>
                          </a:solidFill>
                          <a:latin typeface="Calibri"/>
                        </a:rPr>
                        <a:t>A decoy wallet opened by another passphrase</a:t>
                      </a:r>
                    </a:p>
                  </a:txBody>
                  <a:tcPr marL="64008" marR="64008" marT="18288" marB="18288" anchor="ctr">
                    <a:solidFill>
                      <a:srgbClr val="F2ECE1"/>
                    </a:solidFill>
                  </a:tcPr>
                </a:tc>
              </a:tr>
              <a:tr h="388620">
                <a:tc>
                  <a:txBody>
                    <a:bodyPr wrap="square"/>
                    <a:lstStyle/>
                    <a:p>
                      <a:r>
                        <a:rPr sz="1050" b="1">
                          <a:solidFill>
                            <a:srgbClr val="2B2622"/>
                          </a:solidFill>
                          <a:latin typeface="Calibri"/>
                        </a:rPr>
                        <a:t>brainwallet</a:t>
                      </a:r>
                    </a:p>
                  </a:txBody>
                  <a:tcPr marL="64008" marR="64008" marT="18288" marB="18288" anchor="ctr">
                    <a:solidFill>
                      <a:srgbClr val="FFFFFF"/>
                    </a:solidFill>
                  </a:tcPr>
                </a:tc>
                <a:tc>
                  <a:txBody>
                    <a:bodyPr wrap="square"/>
                    <a:lstStyle/>
                    <a:p>
                      <a:r>
                        <a:rPr sz="1050" b="0">
                          <a:solidFill>
                            <a:srgbClr val="2B2622"/>
                          </a:solidFill>
                          <a:latin typeface="Calibri"/>
                        </a:rPr>
                        <a:t>A password you invented, not a random one</a:t>
                      </a:r>
                    </a:p>
                  </a:txBody>
                  <a:tcPr marL="64008" marR="64008" marT="18288" marB="18288" anchor="ctr">
                    <a:solidFill>
                      <a:srgbClr val="FFFFFF"/>
                    </a:solidFill>
                  </a:tcPr>
                </a:tc>
                <a:tc>
                  <a:txBody>
                    <a:bodyPr wrap="square"/>
                    <a:lstStyle/>
                    <a:p>
                      <a:r>
                        <a:rPr sz="1050" b="0">
                          <a:solidFill>
                            <a:srgbClr val="2B2622"/>
                          </a:solidFill>
                          <a:latin typeface="Calibri"/>
                        </a:rPr>
                        <a:t>Words you chose yourself: easy to guess</a:t>
                      </a:r>
                    </a:p>
                  </a:txBody>
                  <a:tcPr marL="64008" marR="64008" marT="18288" marB="18288" anchor="ctr">
                    <a:solidFill>
                      <a:srgbClr val="FFFFFF"/>
                    </a:solidFill>
                  </a:tcPr>
                </a:tc>
              </a:tr>
              <a:tr h="388620">
                <a:tc>
                  <a:txBody>
                    <a:bodyPr wrap="square"/>
                    <a:lstStyle/>
                    <a:p>
                      <a:r>
                        <a:rPr sz="1050" b="1">
                          <a:solidFill>
                            <a:srgbClr val="2B2622"/>
                          </a:solidFill>
                          <a:latin typeface="Calibri"/>
                        </a:rPr>
                        <a:t>wallet birthday</a:t>
                      </a:r>
                    </a:p>
                  </a:txBody>
                  <a:tcPr marL="64008" marR="64008" marT="18288" marB="18288" anchor="ctr">
                    <a:solidFill>
                      <a:srgbClr val="F2ECE1"/>
                    </a:solidFill>
                  </a:tcPr>
                </a:tc>
                <a:tc>
                  <a:txBody>
                    <a:bodyPr wrap="square"/>
                    <a:lstStyle/>
                    <a:p>
                      <a:r>
                        <a:rPr sz="1050" b="0">
                          <a:solidFill>
                            <a:srgbClr val="2B2622"/>
                          </a:solidFill>
                          <a:latin typeface="Calibri"/>
                        </a:rPr>
                        <a:t>The date the safe was bought</a:t>
                      </a:r>
                    </a:p>
                  </a:txBody>
                  <a:tcPr marL="64008" marR="64008" marT="18288" marB="18288" anchor="ctr">
                    <a:solidFill>
                      <a:srgbClr val="F2ECE1"/>
                    </a:solidFill>
                  </a:tcPr>
                </a:tc>
                <a:tc>
                  <a:txBody>
                    <a:bodyPr wrap="square"/>
                    <a:lstStyle/>
                    <a:p>
                      <a:r>
                        <a:rPr sz="1050" b="0">
                          <a:solidFill>
                            <a:srgbClr val="2B2622"/>
                          </a:solidFill>
                          <a:latin typeface="Calibri"/>
                        </a:rPr>
                        <a:t>The creation date stored in the code</a:t>
                      </a:r>
                    </a:p>
                  </a:txBody>
                  <a:tcPr marL="64008" marR="64008" marT="18288" marB="18288" anchor="ctr">
                    <a:solidFill>
                      <a:srgbClr val="F2ECE1"/>
                    </a:solidFill>
                  </a:tcPr>
                </a:tc>
              </a:tr>
              <a:tr h="388620">
                <a:tc>
                  <a:txBody>
                    <a:bodyPr wrap="square"/>
                    <a:lstStyle/>
                    <a:p>
                      <a:r>
                        <a:rPr sz="1050" b="1">
                          <a:solidFill>
                            <a:srgbClr val="2B2622"/>
                          </a:solidFill>
                          <a:latin typeface="Calibri"/>
                        </a:rPr>
                        <a:t>Seeds and Recovery Codes</a:t>
                      </a:r>
                    </a:p>
                  </a:txBody>
                  <a:tcPr marL="64008" marR="64008" marT="18288" marB="18288" anchor="ctr">
                    <a:solidFill>
                      <a:srgbClr val="FFFFFF"/>
                    </a:solidFill>
                  </a:tcPr>
                </a:tc>
                <a:tc>
                  <a:txBody>
                    <a:bodyPr wrap="square"/>
                    <a:lstStyle/>
                    <a:p>
                      <a:r>
                        <a:rPr sz="1050" b="0">
                          <a:solidFill>
                            <a:srgbClr val="2B2622"/>
                          </a:solidFill>
                          <a:latin typeface="Calibri"/>
                        </a:rPr>
                        <a:t>A master recipe written on a card</a:t>
                      </a:r>
                    </a:p>
                  </a:txBody>
                  <a:tcPr marL="64008" marR="64008" marT="18288" marB="18288" anchor="ctr">
                    <a:solidFill>
                      <a:srgbClr val="FFFFFF"/>
                    </a:solidFill>
                  </a:tcPr>
                </a:tc>
                <a:tc>
                  <a:txBody>
                    <a:bodyPr wrap="square"/>
                    <a:lstStyle/>
                    <a:p>
                      <a:r>
                        <a:rPr sz="1050" b="0">
                          <a:solidFill>
                            <a:srgbClr val="2B2622"/>
                          </a:solidFill>
                          <a:latin typeface="Calibri"/>
                        </a:rPr>
                        <a:t>Writing the seed as words a person can keep</a:t>
                      </a:r>
                    </a:p>
                  </a:txBody>
                  <a:tcPr marL="64008" marR="64008" marT="18288" marB="18288" anchor="ctr">
                    <a:solidFill>
                      <a:srgbClr val="FFFFFF"/>
                    </a:solidFill>
                  </a:tcPr>
                </a:tc>
              </a:tr>
              <a:tr h="388620">
                <a:tc>
                  <a:txBody>
                    <a:bodyPr wrap="square"/>
                    <a:lstStyle/>
                    <a:p>
                      <a:r>
                        <a:rPr sz="1050" b="1">
                          <a:solidFill>
                            <a:srgbClr val="2B2622"/>
                          </a:solidFill>
                          <a:latin typeface="Calibri"/>
                        </a:rPr>
                        <a:t>Recovery Code Passphrases</a:t>
                      </a:r>
                    </a:p>
                  </a:txBody>
                  <a:tcPr marL="64008" marR="64008" marT="18288" marB="18288" anchor="ctr">
                    <a:solidFill>
                      <a:srgbClr val="F2ECE1"/>
                    </a:solidFill>
                  </a:tcPr>
                </a:tc>
                <a:tc>
                  <a:txBody>
                    <a:bodyPr wrap="square"/>
                    <a:lstStyle/>
                    <a:p>
                      <a:r>
                        <a:rPr sz="1050" b="0">
                          <a:solidFill>
                            <a:srgbClr val="2B2622"/>
                          </a:solidFill>
                          <a:latin typeface="Calibri"/>
                        </a:rPr>
                        <a:t>A second lock on the recipe box</a:t>
                      </a:r>
                    </a:p>
                  </a:txBody>
                  <a:tcPr marL="64008" marR="64008" marT="18288" marB="18288" anchor="ctr">
                    <a:solidFill>
                      <a:srgbClr val="F2ECE1"/>
                    </a:solidFill>
                  </a:tcPr>
                </a:tc>
                <a:tc>
                  <a:txBody>
                    <a:bodyPr wrap="square"/>
                    <a:lstStyle/>
                    <a:p>
                      <a:r>
                        <a:rPr sz="1050" b="0">
                          <a:solidFill>
                            <a:srgbClr val="2B2622"/>
                          </a:solidFill>
                          <a:latin typeface="Calibri"/>
                        </a:rPr>
                        <a:t>Adding a secret word to the recovery code</a:t>
                      </a:r>
                    </a:p>
                  </a:txBody>
                  <a:tcPr marL="64008" marR="64008" marT="18288" marB="18288" anchor="ctr">
                    <a:solidFill>
                      <a:srgbClr val="F2ECE1"/>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passphrase is a second lock: lose it, and the words alone open nothing.</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16 / 68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2: Codes check themselves differently</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FFA657"/>
                </a:solidFill>
                <a:latin typeface="Courier New"/>
              </a:rPr>
              <a:t>print</a:t>
            </a:r>
            <a:r>
              <a:rPr sz="1000" b="0" i="0">
                <a:solidFill>
                  <a:srgbClr val="E6EDF3"/>
                </a:solidFill>
                <a:latin typeface="Courier New"/>
              </a:rPr>
              <a:t>(</a:t>
            </a:r>
            <a:r>
              <a:rPr sz="1000" b="0" i="0">
                <a:solidFill>
                  <a:srgbClr val="E6EDF3"/>
                </a:solidFill>
                <a:latin typeface="Courier New"/>
              </a:rPr>
              <a:t>codex32_check</a:t>
            </a:r>
            <a:r>
              <a:rPr sz="1000" b="0" i="0">
                <a:solidFill>
                  <a:srgbClr val="E6EDF3"/>
                </a:solidFill>
                <a:latin typeface="Courier New"/>
              </a:rPr>
              <a:t>(</a:t>
            </a:r>
            <a:r>
              <a:rPr sz="1000" b="0" i="0">
                <a:solidFill>
                  <a:srgbClr val="E6EDF3"/>
                </a:solidFill>
                <a:latin typeface="Courier New"/>
              </a:rPr>
              <a:t>C32</a:t>
            </a:r>
            <a:r>
              <a:rPr sz="1000" b="0" i="0">
                <a:solidFill>
                  <a:srgbClr val="E6EDF3"/>
                </a:solidFill>
                <a:latin typeface="Courier New"/>
              </a:rPr>
              <a:t>)</a:t>
            </a:r>
            <a:r>
              <a:rPr sz="100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E6EDF3"/>
                </a:solidFill>
                <a:latin typeface="Courier New"/>
              </a:rPr>
              <a:t>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FFA657"/>
                </a:solidFill>
                <a:latin typeface="Courier New"/>
              </a:rPr>
              <a:t>next</a:t>
            </a:r>
            <a:r>
              <a:rPr sz="1000" b="0" i="0">
                <a:solidFill>
                  <a:srgbClr val="E6EDF3"/>
                </a:solidFill>
                <a:latin typeface="Courier New"/>
              </a:rPr>
              <a:t>(</a:t>
            </a:r>
            <a:r>
              <a:rPr sz="1000" b="0" i="0">
                <a:solidFill>
                  <a:srgbClr val="E6EDF3"/>
                </a:solidFill>
                <a:latin typeface="Courier New"/>
              </a:rPr>
              <a:t>i</a:t>
            </a:r>
            <a:r>
              <a:rPr sz="1000" b="0" i="0">
                <a:solidFill>
                  <a:srgbClr val="E6EDF3"/>
                </a:solidFill>
                <a:latin typeface="Courier New"/>
              </a:rPr>
              <a:t> </a:t>
            </a:r>
            <a:r>
              <a:rPr sz="1000" b="0" i="0">
                <a:solidFill>
                  <a:srgbClr val="FFA657"/>
                </a:solidFill>
                <a:latin typeface="Courier New"/>
              </a:rPr>
              <a:t>for</a:t>
            </a:r>
            <a:r>
              <a:rPr sz="1000" b="0" i="0">
                <a:solidFill>
                  <a:srgbClr val="E6EDF3"/>
                </a:solidFill>
                <a:latin typeface="Courier New"/>
              </a:rPr>
              <a:t> </a:t>
            </a:r>
            <a:r>
              <a:rPr sz="1000" b="0" i="0">
                <a:solidFill>
                  <a:srgbClr val="E6EDF3"/>
                </a:solidFill>
                <a:latin typeface="Courier New"/>
              </a:rPr>
              <a:t>i</a:t>
            </a:r>
            <a:r>
              <a:rPr sz="1000" b="0" i="0">
                <a:solidFill>
                  <a:srgbClr val="E6EDF3"/>
                </a:solidFill>
                <a:latin typeface="Courier New"/>
              </a:rPr>
              <a:t> </a:t>
            </a:r>
            <a:r>
              <a:rPr sz="1000" b="0" i="0">
                <a:solidFill>
                  <a:srgbClr val="FFA657"/>
                </a:solidFill>
                <a:latin typeface="Courier New"/>
              </a:rPr>
              <a:t>in</a:t>
            </a:r>
            <a:r>
              <a:rPr sz="1000" b="0" i="0">
                <a:solidFill>
                  <a:srgbClr val="E6EDF3"/>
                </a:solidFill>
                <a:latin typeface="Courier New"/>
              </a:rPr>
              <a:t> </a:t>
            </a:r>
            <a:r>
              <a:rPr sz="1000" b="0" i="0">
                <a:solidFill>
                  <a:srgbClr val="FFA657"/>
                </a:solidFill>
                <a:latin typeface="Courier New"/>
              </a:rPr>
              <a:t>range</a:t>
            </a:r>
            <a:r>
              <a:rPr sz="1000" b="0" i="0">
                <a:solidFill>
                  <a:srgbClr val="E6EDF3"/>
                </a:solidFill>
                <a:latin typeface="Courier New"/>
              </a:rPr>
              <a:t>(</a:t>
            </a:r>
            <a:r>
              <a:rPr sz="1000" b="0" i="0">
                <a:solidFill>
                  <a:srgbClr val="79C0FF"/>
                </a:solidFill>
                <a:latin typeface="Courier New"/>
              </a:rPr>
              <a:t>99999</a:t>
            </a:r>
            <a:r>
              <a:rPr sz="1000" b="0" i="0">
                <a:solidFill>
                  <a:srgbClr val="E6EDF3"/>
                </a:solidFill>
                <a:latin typeface="Courier New"/>
              </a:rPr>
              <a:t>)</a:t>
            </a:r>
          </a:p>
          <a:p>
            <a:pPr algn="l"/>
            <a:r>
              <a:rPr sz="1000" b="0" i="0">
                <a:solidFill>
                  <a:srgbClr val="8A9B94"/>
                </a:solidFill>
                <a:latin typeface="Courier New"/>
              </a:rPr>
              <a:t>&gt;&gt;&gt; </a:t>
            </a:r>
            <a:r>
              <a:rPr sz="1000" b="0" i="0">
                <a:solidFill>
                  <a:srgbClr val="E6EDF3"/>
                </a:solidFill>
                <a:latin typeface="Courier New"/>
              </a:rPr>
              <a:t>         </a:t>
            </a:r>
            <a:r>
              <a:rPr sz="1000" b="0" i="0">
                <a:solidFill>
                  <a:srgbClr val="FFA657"/>
                </a:solidFill>
                <a:latin typeface="Courier New"/>
              </a:rPr>
              <a:t>if</a:t>
            </a:r>
            <a:r>
              <a:rPr sz="1000" b="0" i="0">
                <a:solidFill>
                  <a:srgbClr val="E6EDF3"/>
                </a:solidFill>
                <a:latin typeface="Courier New"/>
              </a:rPr>
              <a:t> </a:t>
            </a:r>
            <a:r>
              <a:rPr sz="1000" b="0" i="0">
                <a:solidFill>
                  <a:srgbClr val="E6EDF3"/>
                </a:solidFill>
                <a:latin typeface="Courier New"/>
              </a:rPr>
              <a:t>electrum_has_version</a:t>
            </a:r>
            <a:r>
              <a:rPr sz="1000" b="0" i="0">
                <a:solidFill>
                  <a:srgbClr val="E6EDF3"/>
                </a:solidFill>
                <a:latin typeface="Courier New"/>
              </a:rPr>
              <a:t>(</a:t>
            </a:r>
            <a:r>
              <a:rPr sz="1000" b="0" i="0">
                <a:solidFill>
                  <a:srgbClr val="7EE787"/>
                </a:solidFill>
                <a:latin typeface="Courier New"/>
              </a:rPr>
              <a:t>"seed %d"</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a:t>
            </a:r>
            <a:r>
              <a:rPr sz="1000" b="0" i="0">
                <a:solidFill>
                  <a:srgbClr val="E6EDF3"/>
                </a:solidFill>
                <a:latin typeface="Courier New"/>
              </a:rPr>
              <a:t>,</a:t>
            </a:r>
            <a:r>
              <a:rPr sz="1000" b="0" i="0">
                <a:solidFill>
                  <a:srgbClr val="E6EDF3"/>
                </a:solidFill>
                <a:latin typeface="Courier New"/>
              </a:rPr>
              <a:t> </a:t>
            </a:r>
            <a:r>
              <a:rPr sz="1000" b="0" i="0">
                <a:solidFill>
                  <a:srgbClr val="7EE787"/>
                </a:solidFill>
                <a:latin typeface="Courier New"/>
              </a:rPr>
              <a:t>"100"</a:t>
            </a:r>
            <a:r>
              <a:rPr sz="1000" b="0" i="0">
                <a:solidFill>
                  <a:srgbClr val="E6EDF3"/>
                </a:solidFill>
                <a:latin typeface="Courier New"/>
              </a:rPr>
              <a:t>)</a:t>
            </a:r>
            <a:r>
              <a:rPr sz="1000" b="0" i="0">
                <a:solidFill>
                  <a:srgbClr val="E6EDF3"/>
                </a:solidFill>
                <a:latin typeface="Courier New"/>
              </a:rPr>
              <a:t>)</a:t>
            </a:r>
          </a:p>
        </p:txBody>
      </p:sp>
      <p:sp>
        <p:nvSpPr>
          <p:cNvPr id="10" name="code"/>
          <p:cNvSpPr/>
          <p:nvPr/>
        </p:nvSpPr>
        <p:spPr>
          <a:xfrm>
            <a:off x="365760" y="2175764"/>
            <a:ext cx="4727448" cy="611124"/>
          </a:xfrm>
          <a:prstGeom prst="roundRect">
            <a:avLst>
              <a:gd name="adj" fmla="val 11970"/>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FFA657"/>
                </a:solidFill>
                <a:latin typeface="Courier New"/>
              </a:rPr>
              <a:t>print</a:t>
            </a:r>
            <a:r>
              <a:rPr sz="1000" b="0" i="0">
                <a:solidFill>
                  <a:srgbClr val="E6EDF3"/>
                </a:solidFill>
                <a:latin typeface="Courier New"/>
              </a:rPr>
              <a:t>(</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electrum_hash</a:t>
            </a:r>
            <a:r>
              <a:rPr sz="1000" b="0" i="0">
                <a:solidFill>
                  <a:srgbClr val="E6EDF3"/>
                </a:solidFill>
                <a:latin typeface="Courier New"/>
              </a:rPr>
              <a:t>(</a:t>
            </a:r>
            <a:r>
              <a:rPr sz="1000" b="0" i="0">
                <a:solidFill>
                  <a:srgbClr val="7EE787"/>
                </a:solidFill>
                <a:latin typeface="Courier New"/>
              </a:rPr>
              <a:t>"seed %d"</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79C0FF"/>
                </a:solidFill>
                <a:latin typeface="Courier New"/>
              </a:rPr>
              <a:t>3</a:t>
            </a:r>
            <a:r>
              <a:rPr sz="1000" b="0" i="0">
                <a:solidFill>
                  <a:srgbClr val="E6EDF3"/>
                </a:solidFill>
                <a:latin typeface="Courier New"/>
              </a:rPr>
              <a:t>]</a:t>
            </a:r>
            <a:r>
              <a:rPr sz="1000" b="0" i="0">
                <a:solidFill>
                  <a:srgbClr val="E6EDF3"/>
                </a:solidFill>
                <a:latin typeface="Courier New"/>
              </a:rPr>
              <a:t>)</a:t>
            </a:r>
          </a:p>
          <a:p>
            <a:pPr algn="l"/>
            <a:r>
              <a:rPr sz="1000" b="0" i="0">
                <a:solidFill>
                  <a:srgbClr val="8A9B94"/>
                </a:solidFill>
                <a:latin typeface="Courier New"/>
              </a:rPr>
              <a:t>&gt;&gt;&gt; </a:t>
            </a:r>
            <a:r>
              <a:rPr sz="1000" b="0" i="0">
                <a:solidFill>
                  <a:srgbClr val="E6EDF3"/>
                </a:solidFill>
                <a:latin typeface="Courier New"/>
              </a:rPr>
              <a:t>__import__</a:t>
            </a:r>
            <a:r>
              <a:rPr sz="1000" b="0" i="0">
                <a:solidFill>
                  <a:srgbClr val="E6EDF3"/>
                </a:solidFill>
                <a:latin typeface="Courier New"/>
              </a:rPr>
              <a:t>(</a:t>
            </a:r>
            <a:r>
              <a:rPr sz="1000" b="0" i="0">
                <a:solidFill>
                  <a:srgbClr val="7EE787"/>
                </a:solidFill>
                <a:latin typeface="Courier New"/>
              </a:rPr>
              <a:t>"sys"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version_info</a:t>
            </a:r>
            <a:r>
              <a:rPr sz="1000" b="0" i="0">
                <a:solidFill>
                  <a:srgbClr val="E6EDF3"/>
                </a:solidFill>
                <a:latin typeface="Courier New"/>
              </a:rPr>
              <a:t>[</a:t>
            </a:r>
            <a:r>
              <a:rPr sz="1000" b="0" i="0">
                <a:solidFill>
                  <a:srgbClr val="E6EDF3"/>
                </a:solidFill>
                <a:latin typeface="Courier New"/>
              </a:rPr>
              <a:t>:</a:t>
            </a:r>
            <a:r>
              <a:rPr sz="1000" b="0" i="0">
                <a:solidFill>
                  <a:srgbClr val="79C0FF"/>
                </a:solidFill>
                <a:latin typeface="Courier New"/>
              </a:rPr>
              <a:t>2</a:t>
            </a:r>
            <a:r>
              <a:rPr sz="1000" b="0" i="0">
                <a:solidFill>
                  <a:srgbClr val="E6EDF3"/>
                </a:solidFill>
                <a:latin typeface="Courier New"/>
              </a:rPr>
              <a:t>]</a:t>
            </a:r>
          </a:p>
          <a:p>
            <a:pPr algn="l"/>
            <a:r>
              <a:rPr sz="10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codex32 and Electrum, run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Seeds and Recovery Codes</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codex32 carries a long checksum that can be checked by hand.</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Electrum marks a seed by the first digits of an HMAC. Search for one marked 100.</a:t>
            </a:r>
          </a:p>
        </p:txBody>
      </p:sp>
      <p:sp>
        <p:nvSpPr>
          <p:cNvPr id="11" name="explanation"/>
          <p:cNvSpPr/>
          <p:nvPr/>
        </p:nvSpPr>
        <p:spPr>
          <a:xfrm>
            <a:off x="5074920" y="2175764"/>
            <a:ext cx="3657600" cy="611124"/>
          </a:xfrm>
          <a:prstGeom prst="roundRect">
            <a:avLst>
              <a:gd name="adj" fmla="val 11970"/>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The search stops at the first match and shows the marker.</a:t>
            </a:r>
          </a:p>
        </p:txBody>
      </p:sp>
      <p:sp>
        <p:nvSpPr>
          <p:cNvPr id="12" name="result label"/>
          <p:cNvSpPr txBox="1"/>
          <p:nvPr/>
        </p:nvSpPr>
        <p:spPr>
          <a:xfrm>
            <a:off x="365760" y="2878328"/>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125216"/>
          <a:ext cx="8412477" cy="1243584"/>
        </p:xfrm>
        <a:graphic>
          <a:graphicData uri="http://schemas.openxmlformats.org/drawingml/2006/table">
            <a:tbl>
              <a:tblPr firstRow="1" bandRow="1">
                <a:tableStyleId>{5C22544A-7EE6-4342-B048-85BDC9FD1C3A}</a:tableStyleId>
              </a:tblPr>
              <a:tblGrid>
                <a:gridCol w="1645919"/>
                <a:gridCol w="3840479"/>
                <a:gridCol w="2926079"/>
              </a:tblGrid>
              <a:tr h="310896">
                <a:tc>
                  <a:txBody>
                    <a:bodyPr wrap="square"/>
                    <a:lstStyle/>
                    <a:p>
                      <a:r>
                        <a:rPr sz="1200" b="1">
                          <a:solidFill>
                            <a:srgbClr val="FFFFFF"/>
                          </a:solidFill>
                          <a:latin typeface="Calibri"/>
                        </a:rPr>
                        <a:t>Scheme</a:t>
                      </a:r>
                    </a:p>
                  </a:txBody>
                  <a:tcPr marL="64008" marR="64008" marT="18288" marB="18288" anchor="ctr">
                    <a:solidFill>
                      <a:srgbClr val="2B2622"/>
                    </a:solidFill>
                  </a:tcPr>
                </a:tc>
                <a:tc>
                  <a:txBody>
                    <a:bodyPr wrap="square"/>
                    <a:lstStyle/>
                    <a:p>
                      <a:r>
                        <a:rPr sz="1200" b="1">
                          <a:solidFill>
                            <a:srgbClr val="FFFFFF"/>
                          </a:solidFill>
                          <a:latin typeface="Calibri"/>
                        </a:rPr>
                        <a:t>How it checks itself</a:t>
                      </a:r>
                    </a:p>
                  </a:txBody>
                  <a:tcPr marL="64008" marR="64008" marT="18288" marB="18288" anchor="ctr">
                    <a:solidFill>
                      <a:srgbClr val="2B2622"/>
                    </a:solidFill>
                  </a:tcPr>
                </a:tc>
                <a:tc>
                  <a:txBody>
                    <a:bodyPr wrap="square"/>
                    <a:lstStyle/>
                    <a:p>
                      <a:r>
                        <a:rPr sz="1200" b="1">
                          <a:solidFill>
                            <a:srgbClr val="FFFFFF"/>
                          </a:solidFill>
                          <a:latin typeface="Calibri"/>
                        </a:rPr>
                        <a:t>What the run printed</a:t>
                      </a:r>
                    </a:p>
                  </a:txBody>
                  <a:tcPr marL="64008" marR="64008" marT="18288" marB="18288" anchor="ctr">
                    <a:solidFill>
                      <a:srgbClr val="2B2622"/>
                    </a:solidFill>
                  </a:tcPr>
                </a:tc>
              </a:tr>
              <a:tr h="310896">
                <a:tc>
                  <a:txBody>
                    <a:bodyPr wrap="square"/>
                    <a:lstStyle/>
                    <a:p>
                      <a:r>
                        <a:rPr sz="1200" b="0">
                          <a:solidFill>
                            <a:srgbClr val="2B2622"/>
                          </a:solidFill>
                          <a:latin typeface="Calibri"/>
                        </a:rPr>
                        <a:t>codex32</a:t>
                      </a:r>
                    </a:p>
                  </a:txBody>
                  <a:tcPr marL="64008" marR="64008" marT="18288" marB="18288" anchor="ctr">
                    <a:solidFill>
                      <a:srgbClr val="F2ECE1"/>
                    </a:solidFill>
                  </a:tcPr>
                </a:tc>
                <a:tc>
                  <a:txBody>
                    <a:bodyPr wrap="square"/>
                    <a:lstStyle/>
                    <a:p>
                      <a:r>
                        <a:rPr sz="1200" b="0">
                          <a:solidFill>
                            <a:srgbClr val="2B2622"/>
                          </a:solidFill>
                          <a:latin typeface="Calibri"/>
                        </a:rPr>
                        <a:t>A checksum over the whole string</a:t>
                      </a:r>
                    </a:p>
                  </a:txBody>
                  <a:tcPr marL="64008" marR="64008" marT="18288" marB="18288" anchor="ctr">
                    <a:solidFill>
                      <a:srgbClr val="F2ECE1"/>
                    </a:solidFill>
                  </a:tcPr>
                </a:tc>
                <a:tc>
                  <a:txBody>
                    <a:bodyPr wrap="square"/>
                    <a:lstStyle/>
                    <a:p>
                      <a:r>
                        <a:rPr sz="1200" b="0">
                          <a:solidFill>
                            <a:srgbClr val="2B2622"/>
                          </a:solidFill>
                          <a:latin typeface="Calibri"/>
                        </a:rPr>
                        <a:t>valid: True</a:t>
                      </a:r>
                    </a:p>
                  </a:txBody>
                  <a:tcPr marL="64008" marR="64008" marT="18288" marB="18288" anchor="ctr">
                    <a:solidFill>
                      <a:srgbClr val="F2ECE1"/>
                    </a:solidFill>
                  </a:tcPr>
                </a:tc>
              </a:tr>
              <a:tr h="310896">
                <a:tc>
                  <a:txBody>
                    <a:bodyPr wrap="square"/>
                    <a:lstStyle/>
                    <a:p>
                      <a:r>
                        <a:rPr sz="1200" b="0">
                          <a:solidFill>
                            <a:srgbClr val="2B2622"/>
                          </a:solidFill>
                          <a:latin typeface="Calibri"/>
                        </a:rPr>
                        <a:t>Electrum v2</a:t>
                      </a:r>
                    </a:p>
                  </a:txBody>
                  <a:tcPr marL="64008" marR="64008" marT="18288" marB="18288" anchor="ctr">
                    <a:solidFill>
                      <a:srgbClr val="FFFFFF"/>
                    </a:solidFill>
                  </a:tcPr>
                </a:tc>
                <a:tc>
                  <a:txBody>
                    <a:bodyPr wrap="square"/>
                    <a:lstStyle/>
                    <a:p>
                      <a:r>
                        <a:rPr sz="1200" b="0">
                          <a:solidFill>
                            <a:srgbClr val="2B2622"/>
                          </a:solidFill>
                          <a:latin typeface="Calibri"/>
                        </a:rPr>
                        <a:t>Version = the first digits of an HMAC</a:t>
                      </a:r>
                    </a:p>
                  </a:txBody>
                  <a:tcPr marL="64008" marR="64008" marT="18288" marB="18288" anchor="ctr">
                    <a:solidFill>
                      <a:srgbClr val="FFFFFF"/>
                    </a:solidFill>
                  </a:tcPr>
                </a:tc>
                <a:tc>
                  <a:txBody>
                    <a:bodyPr wrap="square"/>
                    <a:lstStyle/>
                    <a:p>
                      <a:r>
                        <a:rPr sz="1200" b="0">
                          <a:solidFill>
                            <a:srgbClr val="2B2622"/>
                          </a:solidFill>
                          <a:latin typeface="Calibri"/>
                        </a:rPr>
                        <a:t>seed number 5483 starts with 100</a:t>
                      </a:r>
                    </a:p>
                  </a:txBody>
                  <a:tcPr marL="64008" marR="64008" marT="18288" marB="18288" anchor="ctr">
                    <a:solidFill>
                      <a:srgbClr val="FFFFFF"/>
                    </a:solidFill>
                  </a:tcPr>
                </a:tc>
              </a:tr>
              <a:tr h="310896">
                <a:tc>
                  <a:txBody>
                    <a:bodyPr wrap="square"/>
                    <a:lstStyle/>
                    <a:p>
                      <a:r>
                        <a:rPr sz="1200" b="0">
                          <a:solidFill>
                            <a:srgbClr val="2B2622"/>
                          </a:solidFill>
                          <a:latin typeface="Calibri"/>
                        </a:rPr>
                        <a:t>BIP39</a:t>
                      </a:r>
                    </a:p>
                  </a:txBody>
                  <a:tcPr marL="64008" marR="64008" marT="18288" marB="18288" anchor="ctr">
                    <a:solidFill>
                      <a:srgbClr val="F2ECE1"/>
                    </a:solidFill>
                  </a:tcPr>
                </a:tc>
                <a:tc>
                  <a:txBody>
                    <a:bodyPr wrap="square"/>
                    <a:lstStyle/>
                    <a:p>
                      <a:r>
                        <a:rPr sz="1200" b="0">
                          <a:solidFill>
                            <a:srgbClr val="2B2622"/>
                          </a:solidFill>
                          <a:latin typeface="Calibri"/>
                        </a:rPr>
                        <a:t>Checksum bits taken from SHA-256</a:t>
                      </a:r>
                    </a:p>
                  </a:txBody>
                  <a:tcPr marL="64008" marR="64008" marT="18288" marB="18288" anchor="ctr">
                    <a:solidFill>
                      <a:srgbClr val="F2ECE1"/>
                    </a:solidFill>
                  </a:tcPr>
                </a:tc>
                <a:tc>
                  <a:txBody>
                    <a:bodyPr wrap="square"/>
                    <a:lstStyle/>
                    <a:p>
                      <a:r>
                        <a:rPr sz="1200" b="0">
                          <a:solidFill>
                            <a:srgbClr val="2B2622"/>
                          </a:solidFill>
                          <a:latin typeface="Calibri"/>
                        </a:rPr>
                        <a:t>see the checksum slide</a:t>
                      </a:r>
                    </a:p>
                  </a:txBody>
                  <a:tcPr marL="64008" marR="64008" marT="18288" marB="18288" anchor="ctr">
                    <a:solidFill>
                      <a:srgbClr val="F2ECE1"/>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Every scheme has its own safety net.</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17 / 68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3: Three of five shares recover the secret</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secret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0x1337c0de</a:t>
            </a:r>
          </a:p>
          <a:p>
            <a:pPr algn="l"/>
            <a:r>
              <a:rPr sz="1200" b="0" i="0">
                <a:solidFill>
                  <a:srgbClr val="8A9B94"/>
                </a:solidFill>
                <a:latin typeface="Courier New"/>
              </a:rPr>
              <a:t>&gt;&gt;&gt; </a:t>
            </a:r>
            <a:r>
              <a:rPr sz="1200" b="0" i="0">
                <a:solidFill>
                  <a:srgbClr val="E6EDF3"/>
                </a:solidFill>
                <a:latin typeface="Courier New"/>
              </a:rPr>
              <a:t>shares</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shamir_split</a:t>
            </a:r>
            <a:r>
              <a:rPr sz="1200" b="0" i="0">
                <a:solidFill>
                  <a:srgbClr val="E6EDF3"/>
                </a:solidFill>
                <a:latin typeface="Courier New"/>
              </a:rPr>
              <a:t>(</a:t>
            </a:r>
            <a:r>
              <a:rPr sz="1200" b="0" i="0">
                <a:solidFill>
                  <a:srgbClr val="E6EDF3"/>
                </a:solidFill>
                <a:latin typeface="Courier New"/>
              </a:rPr>
              <a:t>secret</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3</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5</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79C0FF"/>
                </a:solidFill>
                <a:latin typeface="Courier New"/>
              </a:rPr>
              <a:t>11</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22</a:t>
            </a:r>
            <a:r>
              <a:rPr sz="1200" b="0" i="0">
                <a:solidFill>
                  <a:srgbClr val="E6EDF3"/>
                </a:solidFill>
                <a:latin typeface="Courier New"/>
              </a:rPr>
              <a:t>]</a:t>
            </a:r>
            <a:r>
              <a:rPr sz="1200" b="0" i="0">
                <a:solidFill>
                  <a:srgbClr val="E6EDF3"/>
                </a:solidFill>
                <a:latin typeface="Courier New"/>
              </a:rPr>
              <a:t>)</a:t>
            </a:r>
          </a:p>
        </p:txBody>
      </p:sp>
      <p:sp>
        <p:nvSpPr>
          <p:cNvPr id="8" name="code"/>
          <p:cNvSpPr/>
          <p:nvPr/>
        </p:nvSpPr>
        <p:spPr>
          <a:xfrm>
            <a:off x="365760" y="1683004"/>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shamir_combine</a:t>
            </a:r>
            <a:r>
              <a:rPr sz="1200" b="0" i="0">
                <a:solidFill>
                  <a:srgbClr val="E6EDF3"/>
                </a:solidFill>
                <a:latin typeface="Courier New"/>
              </a:rPr>
              <a:t>(</a:t>
            </a:r>
            <a:r>
              <a:rPr sz="1200" b="0" i="0">
                <a:solidFill>
                  <a:srgbClr val="E6EDF3"/>
                </a:solidFill>
                <a:latin typeface="Courier New"/>
              </a:rPr>
              <a:t>shares</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3</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secret</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shamir_combine</a:t>
            </a:r>
            <a:r>
              <a:rPr sz="1200" b="0" i="0">
                <a:solidFill>
                  <a:srgbClr val="E6EDF3"/>
                </a:solidFill>
                <a:latin typeface="Courier New"/>
              </a:rPr>
              <a:t>(</a:t>
            </a:r>
            <a:r>
              <a:rPr sz="1200" b="0" i="0">
                <a:solidFill>
                  <a:srgbClr val="E6EDF3"/>
                </a:solidFill>
                <a:latin typeface="Courier New"/>
              </a:rPr>
              <a:t>shares</a:t>
            </a:r>
            <a:r>
              <a:rPr sz="1200" b="0" i="0">
                <a:solidFill>
                  <a:srgbClr val="E6EDF3"/>
                </a:solidFill>
                <a:latin typeface="Courier New"/>
              </a:rPr>
              <a:t>[</a:t>
            </a:r>
            <a:r>
              <a:rPr sz="1200" b="0" i="0">
                <a:solidFill>
                  <a:srgbClr val="79C0FF"/>
                </a:solidFill>
                <a:latin typeface="Courier New"/>
              </a:rPr>
              <a:t>1</a:t>
            </a:r>
            <a:r>
              <a:rPr sz="1200" b="0" i="0">
                <a:solidFill>
                  <a:srgbClr val="E6EDF3"/>
                </a:solidFill>
                <a:latin typeface="Courier New"/>
              </a:rPr>
              <a:t>:</a:t>
            </a:r>
            <a:r>
              <a:rPr sz="1200" b="0" i="0">
                <a:solidFill>
                  <a:srgbClr val="79C0FF"/>
                </a:solidFill>
                <a:latin typeface="Courier New"/>
              </a:rPr>
              <a:t>4</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secret</a:t>
            </a:r>
            <a:r>
              <a:rPr sz="1200" b="0" i="0">
                <a:solidFill>
                  <a:srgbClr val="E6EDF3"/>
                </a:solidFill>
                <a:latin typeface="Courier New"/>
              </a:rPr>
              <a:t>)</a:t>
            </a:r>
          </a:p>
        </p:txBody>
      </p:sp>
      <p:sp>
        <p:nvSpPr>
          <p:cNvPr id="10" name="code"/>
          <p:cNvSpPr/>
          <p:nvPr/>
        </p:nvSpPr>
        <p:spPr>
          <a:xfrm>
            <a:off x="365760" y="2268727"/>
            <a:ext cx="4727448" cy="704088"/>
          </a:xfrm>
          <a:prstGeom prst="roundRect">
            <a:avLst>
              <a:gd name="adj" fmla="val 1038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shamir_combine</a:t>
            </a:r>
            <a:r>
              <a:rPr sz="1200" b="0" i="0">
                <a:solidFill>
                  <a:srgbClr val="E6EDF3"/>
                </a:solidFill>
                <a:latin typeface="Courier New"/>
              </a:rPr>
              <a:t>(</a:t>
            </a:r>
            <a:r>
              <a:rPr sz="1200" b="0" i="0">
                <a:solidFill>
                  <a:srgbClr val="E6EDF3"/>
                </a:solidFill>
                <a:latin typeface="Courier New"/>
              </a:rPr>
              <a:t>shares</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secret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SLIP39's idea, run on a small model</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Seeds and Recovery Codes</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Split a secret into five shares; any three can rebuild it.</a:t>
            </a:r>
          </a:p>
        </p:txBody>
      </p:sp>
      <p:sp>
        <p:nvSpPr>
          <p:cNvPr id="9" name="explanation"/>
          <p:cNvSpPr/>
          <p:nvPr/>
        </p:nvSpPr>
        <p:spPr>
          <a:xfrm>
            <a:off x="5074920" y="1683004"/>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Two different groups of three both recover the secret.</a:t>
            </a:r>
          </a:p>
        </p:txBody>
      </p:sp>
      <p:sp>
        <p:nvSpPr>
          <p:cNvPr id="11" name="explanation"/>
          <p:cNvSpPr/>
          <p:nvPr/>
        </p:nvSpPr>
        <p:spPr>
          <a:xfrm>
            <a:off x="5074920" y="2268727"/>
            <a:ext cx="3657600" cy="704088"/>
          </a:xfrm>
          <a:prstGeom prst="roundRect">
            <a:avLst>
              <a:gd name="adj" fmla="val 1038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Two shares give a wrong answer and reveal nothing.</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1114552"/>
        </p:xfrm>
        <a:graphic>
          <a:graphicData uri="http://schemas.openxmlformats.org/drawingml/2006/table">
            <a:tbl>
              <a:tblPr firstRow="1" bandRow="1">
                <a:tableStyleId>{5C22544A-7EE6-4342-B048-85BDC9FD1C3A}</a:tableStyleId>
              </a:tblPr>
              <a:tblGrid>
                <a:gridCol w="2011680"/>
                <a:gridCol w="3200400"/>
                <a:gridCol w="3200400"/>
              </a:tblGrid>
              <a:tr h="278638">
                <a:tc>
                  <a:txBody>
                    <a:bodyPr wrap="square"/>
                    <a:lstStyle/>
                    <a:p>
                      <a:r>
                        <a:rPr sz="1200" b="1">
                          <a:solidFill>
                            <a:srgbClr val="FFFFFF"/>
                          </a:solidFill>
                          <a:latin typeface="Calibri"/>
                        </a:rPr>
                        <a:t>Shares used</a:t>
                      </a:r>
                    </a:p>
                  </a:txBody>
                  <a:tcPr marL="64008" marR="64008" marT="18288" marB="18288" anchor="ctr">
                    <a:solidFill>
                      <a:srgbClr val="2B2622"/>
                    </a:solidFill>
                  </a:tcPr>
                </a:tc>
                <a:tc>
                  <a:txBody>
                    <a:bodyPr wrap="square"/>
                    <a:lstStyle/>
                    <a:p>
                      <a:r>
                        <a:rPr sz="1200" b="1">
                          <a:solidFill>
                            <a:srgbClr val="FFFFFF"/>
                          </a:solidFill>
                          <a:latin typeface="Calibri"/>
                        </a:rPr>
                        <a:t>Which ones</a:t>
                      </a:r>
                    </a:p>
                  </a:txBody>
                  <a:tcPr marL="64008" marR="64008" marT="18288" marB="18288" anchor="ctr">
                    <a:solidFill>
                      <a:srgbClr val="2B2622"/>
                    </a:solidFill>
                  </a:tcPr>
                </a:tc>
                <a:tc>
                  <a:txBody>
                    <a:bodyPr wrap="square"/>
                    <a:lstStyle/>
                    <a:p>
                      <a:r>
                        <a:rPr sz="1200" b="1">
                          <a:solidFill>
                            <a:srgbClr val="FFFFFF"/>
                          </a:solidFill>
                          <a:latin typeface="Calibri"/>
                        </a:rPr>
                        <a:t>Secret recovered?</a:t>
                      </a:r>
                    </a:p>
                  </a:txBody>
                  <a:tcPr marL="64008" marR="64008" marT="18288" marB="18288" anchor="ctr">
                    <a:solidFill>
                      <a:srgbClr val="2B2622"/>
                    </a:solidFill>
                  </a:tcPr>
                </a:tc>
              </a:tr>
              <a:tr h="278638">
                <a:tc>
                  <a:txBody>
                    <a:bodyPr wrap="square"/>
                    <a:lstStyle/>
                    <a:p>
                      <a:r>
                        <a:rPr sz="1200" b="0">
                          <a:solidFill>
                            <a:srgbClr val="2B2622"/>
                          </a:solidFill>
                          <a:latin typeface="Calibri"/>
                        </a:rPr>
                        <a:t>3 of 5</a:t>
                      </a:r>
                    </a:p>
                  </a:txBody>
                  <a:tcPr marL="64008" marR="64008" marT="18288" marB="18288" anchor="ctr">
                    <a:solidFill>
                      <a:srgbClr val="F2ECE1"/>
                    </a:solidFill>
                  </a:tcPr>
                </a:tc>
                <a:tc>
                  <a:txBody>
                    <a:bodyPr wrap="square"/>
                    <a:lstStyle/>
                    <a:p>
                      <a:r>
                        <a:rPr sz="1200" b="0">
                          <a:solidFill>
                            <a:srgbClr val="2B2622"/>
                          </a:solidFill>
                          <a:latin typeface="Calibri"/>
                        </a:rPr>
                        <a:t>shares 1, 2, 3</a:t>
                      </a:r>
                    </a:p>
                  </a:txBody>
                  <a:tcPr marL="64008" marR="64008" marT="18288" marB="18288" anchor="ctr">
                    <a:solidFill>
                      <a:srgbClr val="F2ECE1"/>
                    </a:solidFill>
                  </a:tcPr>
                </a:tc>
                <a:tc>
                  <a:txBody>
                    <a:bodyPr wrap="square"/>
                    <a:lstStyle/>
                    <a:p>
                      <a:r>
                        <a:rPr sz="1200" b="0">
                          <a:solidFill>
                            <a:srgbClr val="2B2622"/>
                          </a:solidFill>
                          <a:latin typeface="Calibri"/>
                        </a:rPr>
                        <a:t>True</a:t>
                      </a:r>
                    </a:p>
                  </a:txBody>
                  <a:tcPr marL="64008" marR="64008" marT="18288" marB="18288" anchor="ctr">
                    <a:solidFill>
                      <a:srgbClr val="F2ECE1"/>
                    </a:solidFill>
                  </a:tcPr>
                </a:tc>
              </a:tr>
              <a:tr h="278638">
                <a:tc>
                  <a:txBody>
                    <a:bodyPr wrap="square"/>
                    <a:lstStyle/>
                    <a:p>
                      <a:r>
                        <a:rPr sz="1200" b="0">
                          <a:solidFill>
                            <a:srgbClr val="2B2622"/>
                          </a:solidFill>
                          <a:latin typeface="Calibri"/>
                        </a:rPr>
                        <a:t>3 of 5</a:t>
                      </a:r>
                    </a:p>
                  </a:txBody>
                  <a:tcPr marL="64008" marR="64008" marT="18288" marB="18288" anchor="ctr">
                    <a:solidFill>
                      <a:srgbClr val="FFFFFF"/>
                    </a:solidFill>
                  </a:tcPr>
                </a:tc>
                <a:tc>
                  <a:txBody>
                    <a:bodyPr wrap="square"/>
                    <a:lstStyle/>
                    <a:p>
                      <a:r>
                        <a:rPr sz="1200" b="0">
                          <a:solidFill>
                            <a:srgbClr val="2B2622"/>
                          </a:solidFill>
                          <a:latin typeface="Calibri"/>
                        </a:rPr>
                        <a:t>shares 2, 3, 4</a:t>
                      </a:r>
                    </a:p>
                  </a:txBody>
                  <a:tcPr marL="64008" marR="64008" marT="18288" marB="18288" anchor="ctr">
                    <a:solidFill>
                      <a:srgbClr val="FFFFFF"/>
                    </a:solidFill>
                  </a:tcPr>
                </a:tc>
                <a:tc>
                  <a:txBody>
                    <a:bodyPr wrap="square"/>
                    <a:lstStyle/>
                    <a:p>
                      <a:r>
                        <a:rPr sz="1200" b="0">
                          <a:solidFill>
                            <a:srgbClr val="2B2622"/>
                          </a:solidFill>
                          <a:latin typeface="Calibri"/>
                        </a:rPr>
                        <a:t>True</a:t>
                      </a:r>
                    </a:p>
                  </a:txBody>
                  <a:tcPr marL="64008" marR="64008" marT="18288" marB="18288" anchor="ctr">
                    <a:solidFill>
                      <a:srgbClr val="FFFFFF"/>
                    </a:solidFill>
                  </a:tcPr>
                </a:tc>
              </a:tr>
              <a:tr h="278638">
                <a:tc>
                  <a:txBody>
                    <a:bodyPr wrap="square"/>
                    <a:lstStyle/>
                    <a:p>
                      <a:r>
                        <a:rPr sz="1200" b="0">
                          <a:solidFill>
                            <a:srgbClr val="2B2622"/>
                          </a:solidFill>
                          <a:latin typeface="Calibri"/>
                        </a:rPr>
                        <a:t>2 of 5</a:t>
                      </a:r>
                    </a:p>
                  </a:txBody>
                  <a:tcPr marL="64008" marR="64008" marT="18288" marB="18288" anchor="ctr">
                    <a:solidFill>
                      <a:srgbClr val="F2ECE1"/>
                    </a:solidFill>
                  </a:tcPr>
                </a:tc>
                <a:tc>
                  <a:txBody>
                    <a:bodyPr wrap="square"/>
                    <a:lstStyle/>
                    <a:p>
                      <a:r>
                        <a:rPr sz="1200" b="0">
                          <a:solidFill>
                            <a:srgbClr val="2B2622"/>
                          </a:solidFill>
                          <a:latin typeface="Calibri"/>
                        </a:rPr>
                        <a:t>shares 1, 2</a:t>
                      </a:r>
                    </a:p>
                  </a:txBody>
                  <a:tcPr marL="64008" marR="64008" marT="18288" marB="18288" anchor="ctr">
                    <a:solidFill>
                      <a:srgbClr val="F2ECE1"/>
                    </a:solidFill>
                  </a:tcPr>
                </a:tc>
                <a:tc>
                  <a:txBody>
                    <a:bodyPr wrap="square"/>
                    <a:lstStyle/>
                    <a:p>
                      <a:r>
                        <a:rPr sz="1200" b="0">
                          <a:solidFill>
                            <a:srgbClr val="2B2622"/>
                          </a:solidFill>
                          <a:latin typeface="Calibri"/>
                        </a:rPr>
                        <a:t>False</a:t>
                      </a:r>
                    </a:p>
                  </a:txBody>
                  <a:tcPr marL="64008" marR="64008" marT="18288" marB="18288" anchor="ctr">
                    <a:solidFill>
                      <a:srgbClr val="F2ECE1"/>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Any three recover; two learn nothing.</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18 / 68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3: The BIP39 stack</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Entropy in, twelve words out, then a seed</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BIP39 Recovery Codes</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entropy</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random bits the code is made from</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checksum</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few bits that reveal a typo</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word list</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2,048 numbered words everyone shares</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key-stretching function</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repeated work that makes guessing slow</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PBKDF2 and salt</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stretcher BIP39 uses, and its added string</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root seed</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512-bit result that starts the tree</a:t>
            </a:r>
          </a:p>
        </p:txBody>
      </p:sp>
      <p:graphicFrame>
        <p:nvGraphicFramePr>
          <p:cNvPr id="29" name="visual: how the concepts fit"/>
          <p:cNvGraphicFramePr>
            <a:graphicFrameLocks noGrp="1"/>
          </p:cNvGraphicFramePr>
          <p:nvPr/>
        </p:nvGraphicFramePr>
        <p:xfrm>
          <a:off x="6172200" y="1188720"/>
          <a:ext cx="2514600" cy="32004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Entropy</a:t>
                      </a:r>
                    </a:p>
                  </a:txBody>
                  <a:tcPr marL="64008" marR="64008" marT="18288" marB="18288" anchor="ctr">
                    <a:solidFill>
                      <a:srgbClr val="F2ECE1"/>
                    </a:solidFill>
                  </a:tcPr>
                </a:tc>
              </a:tr>
              <a:tr h="457200">
                <a:tc>
                  <a:txBody>
                    <a:bodyPr wrap="square"/>
                    <a:lstStyle/>
                    <a:p>
                      <a:r>
                        <a:rPr sz="1150" b="0">
                          <a:solidFill>
                            <a:srgbClr val="2B2622"/>
                          </a:solidFill>
                          <a:latin typeface="Calibri"/>
                        </a:rPr>
                        <a:t>2.  Checksum added</a:t>
                      </a:r>
                    </a:p>
                  </a:txBody>
                  <a:tcPr marL="64008" marR="64008" marT="18288" marB="18288" anchor="ctr">
                    <a:solidFill>
                      <a:srgbClr val="FFFFFF"/>
                    </a:solidFill>
                  </a:tcPr>
                </a:tc>
              </a:tr>
              <a:tr h="457200">
                <a:tc>
                  <a:txBody>
                    <a:bodyPr wrap="square"/>
                    <a:lstStyle/>
                    <a:p>
                      <a:r>
                        <a:rPr sz="1150" b="0">
                          <a:solidFill>
                            <a:srgbClr val="2B2622"/>
                          </a:solidFill>
                          <a:latin typeface="Calibri"/>
                        </a:rPr>
                        <a:t>3.  Eleven-bit pieces</a:t>
                      </a:r>
                    </a:p>
                  </a:txBody>
                  <a:tcPr marL="64008" marR="64008" marT="18288" marB="18288" anchor="ctr">
                    <a:solidFill>
                      <a:srgbClr val="F2ECE1"/>
                    </a:solidFill>
                  </a:tcPr>
                </a:tc>
              </a:tr>
              <a:tr h="457200">
                <a:tc>
                  <a:txBody>
                    <a:bodyPr wrap="square"/>
                    <a:lstStyle/>
                    <a:p>
                      <a:r>
                        <a:rPr sz="1150" b="0">
                          <a:solidFill>
                            <a:srgbClr val="2B2622"/>
                          </a:solidFill>
                          <a:latin typeface="Calibri"/>
                        </a:rPr>
                        <a:t>4.  Words</a:t>
                      </a:r>
                    </a:p>
                  </a:txBody>
                  <a:tcPr marL="64008" marR="64008" marT="18288" marB="18288" anchor="ctr">
                    <a:solidFill>
                      <a:srgbClr val="FFFFFF"/>
                    </a:solidFill>
                  </a:tcPr>
                </a:tc>
              </a:tr>
              <a:tr h="457200">
                <a:tc>
                  <a:txBody>
                    <a:bodyPr wrap="square"/>
                    <a:lstStyle/>
                    <a:p>
                      <a:r>
                        <a:rPr sz="1150" b="0">
                          <a:solidFill>
                            <a:srgbClr val="2B2622"/>
                          </a:solidFill>
                          <a:latin typeface="Calibri"/>
                        </a:rPr>
                        <a:t>5.  PBKDF2 stretch</a:t>
                      </a:r>
                    </a:p>
                  </a:txBody>
                  <a:tcPr marL="64008" marR="64008" marT="18288" marB="18288" anchor="ctr">
                    <a:solidFill>
                      <a:srgbClr val="F2ECE1"/>
                    </a:solidFill>
                  </a:tcPr>
                </a:tc>
              </a:tr>
              <a:tr h="457200">
                <a:tc>
                  <a:txBody>
                    <a:bodyPr wrap="square"/>
                    <a:lstStyle/>
                    <a:p>
                      <a:r>
                        <a:rPr sz="1150" b="0">
                          <a:solidFill>
                            <a:srgbClr val="2B2622"/>
                          </a:solidFill>
                          <a:latin typeface="Calibri"/>
                        </a:rPr>
                        <a:t>6.  512-bit seed</a:t>
                      </a:r>
                    </a:p>
                  </a:txBody>
                  <a:tcPr marL="64008" marR="64008" marT="18288" marB="18288" anchor="ctr">
                    <a:solidFill>
                      <a:srgbClr val="FFFFFF"/>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19 / 68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Twelve words between you and 128 bits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true story, told as who, what, when, where, why and how</a:t>
            </a:r>
          </a:p>
        </p:txBody>
      </p:sp>
      <p:pic>
        <p:nvPicPr>
          <p:cNvPr id="5" name="picture" descr="photo_trezor_pair.jpg"/>
          <p:cNvPicPr>
            <a:picLocks noChangeAspect="1"/>
          </p:cNvPicPr>
          <p:nvPr/>
        </p:nvPicPr>
        <p:blipFill>
          <a:blip r:embed="rId3"/>
          <a:stretch>
            <a:fillRect/>
          </a:stretch>
        </p:blipFill>
        <p:spPr>
          <a:xfrm>
            <a:off x="457200" y="1783508"/>
            <a:ext cx="3017520" cy="1882806"/>
          </a:xfrm>
          <a:prstGeom prst="rect">
            <a:avLst/>
          </a:prstGeom>
        </p:spPr>
      </p:pic>
      <p:sp>
        <p:nvSpPr>
          <p:cNvPr id="6" name="credit"/>
          <p:cNvSpPr txBox="1"/>
          <p:nvPr/>
        </p:nvSpPr>
        <p:spPr>
          <a:xfrm>
            <a:off x="457200" y="4288536"/>
            <a:ext cx="3017520" cy="329184"/>
          </a:xfrm>
          <a:prstGeom prst="rect">
            <a:avLst/>
          </a:prstGeom>
          <a:noFill/>
        </p:spPr>
        <p:txBody>
          <a:bodyPr wrap="square" anchor="t" lIns="45720" rIns="45720" tIns="36576" bIns="36576">
            <a:spAutoFit/>
          </a:bodyPr>
          <a:lstStyle/>
          <a:p>
            <a:pPr algn="ctr"/>
            <a:r>
              <a:rPr sz="900" b="0" i="1">
                <a:solidFill>
                  <a:srgbClr val="6E655C"/>
                </a:solidFill>
                <a:latin typeface="Calibri"/>
              </a:rPr>
              <a:t>Trezor One devices - Gage Skidmore, CC BY-SA 3.0</a:t>
            </a:r>
          </a:p>
        </p:txBody>
      </p:sp>
      <p:sp>
        <p:nvSpPr>
          <p:cNvPr id="7" name="5N1K row"/>
          <p:cNvSpPr/>
          <p:nvPr/>
        </p:nvSpPr>
        <p:spPr>
          <a:xfrm>
            <a:off x="3611880" y="1152144"/>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8" name="5N1K label"/>
          <p:cNvSpPr txBox="1"/>
          <p:nvPr/>
        </p:nvSpPr>
        <p:spPr>
          <a:xfrm>
            <a:off x="3675887" y="1152144"/>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WHO</a:t>
            </a:r>
          </a:p>
        </p:txBody>
      </p:sp>
      <p:sp>
        <p:nvSpPr>
          <p:cNvPr id="9" name="5N1K text"/>
          <p:cNvSpPr txBox="1"/>
          <p:nvPr/>
        </p:nvSpPr>
        <p:spPr>
          <a:xfrm>
            <a:off x="4389120" y="1152144"/>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Marek Palatinus and Pavol Rusnak (SatoshiLabs, makers of Trezor), with Aaron Voisine and Sean Bowe.</a:t>
            </a:r>
          </a:p>
        </p:txBody>
      </p:sp>
      <p:sp>
        <p:nvSpPr>
          <p:cNvPr id="10" name="5N1K row"/>
          <p:cNvSpPr/>
          <p:nvPr/>
        </p:nvSpPr>
        <p:spPr>
          <a:xfrm>
            <a:off x="3611880" y="1645920"/>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1" name="5N1K label"/>
          <p:cNvSpPr txBox="1"/>
          <p:nvPr/>
        </p:nvSpPr>
        <p:spPr>
          <a:xfrm>
            <a:off x="3675887" y="1645920"/>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WHAT</a:t>
            </a:r>
          </a:p>
        </p:txBody>
      </p:sp>
      <p:sp>
        <p:nvSpPr>
          <p:cNvPr id="12" name="5N1K text"/>
          <p:cNvSpPr txBox="1"/>
          <p:nvPr/>
        </p:nvSpPr>
        <p:spPr>
          <a:xfrm>
            <a:off x="4389120" y="1645920"/>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BIP 39: a way to write entropy as ordinary words.</a:t>
            </a:r>
          </a:p>
        </p:txBody>
      </p:sp>
      <p:sp>
        <p:nvSpPr>
          <p:cNvPr id="13" name="5N1K row"/>
          <p:cNvSpPr/>
          <p:nvPr/>
        </p:nvSpPr>
        <p:spPr>
          <a:xfrm>
            <a:off x="3611880" y="2139696"/>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4" name="5N1K label"/>
          <p:cNvSpPr txBox="1"/>
          <p:nvPr/>
        </p:nvSpPr>
        <p:spPr>
          <a:xfrm>
            <a:off x="3675887" y="2139696"/>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WHEN</a:t>
            </a:r>
          </a:p>
        </p:txBody>
      </p:sp>
      <p:sp>
        <p:nvSpPr>
          <p:cNvPr id="15" name="5N1K text"/>
          <p:cNvSpPr txBox="1"/>
          <p:nvPr/>
        </p:nvSpPr>
        <p:spPr>
          <a:xfrm>
            <a:off x="4389120" y="2139696"/>
            <a:ext cx="4251960" cy="457200"/>
          </a:xfrm>
          <a:prstGeom prst="rect">
            <a:avLst/>
          </a:prstGeom>
          <a:noFill/>
        </p:spPr>
        <p:txBody>
          <a:bodyPr wrap="square" anchor="ctr" lIns="45720" rIns="45720" tIns="36576" bIns="36576">
            <a:spAutoFit/>
          </a:bodyPr>
          <a:lstStyle/>
          <a:p>
            <a:pPr algn="l"/>
            <a:r>
              <a:rPr sz="1100" b="1" i="0">
                <a:solidFill>
                  <a:srgbClr val="2F6D62"/>
                </a:solidFill>
                <a:latin typeface="Calibri"/>
              </a:rPr>
              <a:t>2013-09-10</a:t>
            </a:r>
            <a:r>
              <a:rPr sz="1100" b="0" i="0">
                <a:solidFill>
                  <a:srgbClr val="2B2622"/>
                </a:solidFill>
                <a:latin typeface="Calibri"/>
              </a:rPr>
              <a:t> - BIP 39 was created.</a:t>
            </a:r>
          </a:p>
        </p:txBody>
      </p:sp>
      <p:sp>
        <p:nvSpPr>
          <p:cNvPr id="16" name="5N1K row"/>
          <p:cNvSpPr/>
          <p:nvPr/>
        </p:nvSpPr>
        <p:spPr>
          <a:xfrm>
            <a:off x="3611880" y="2633472"/>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7" name="5N1K label"/>
          <p:cNvSpPr txBox="1"/>
          <p:nvPr/>
        </p:nvSpPr>
        <p:spPr>
          <a:xfrm>
            <a:off x="3675887" y="2633472"/>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WHERE</a:t>
            </a:r>
          </a:p>
        </p:txBody>
      </p:sp>
      <p:sp>
        <p:nvSpPr>
          <p:cNvPr id="18" name="5N1K text"/>
          <p:cNvSpPr txBox="1"/>
          <p:nvPr/>
        </p:nvSpPr>
        <p:spPr>
          <a:xfrm>
            <a:off x="4389120" y="2633472"/>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In the public bips repository on GitHub.</a:t>
            </a:r>
          </a:p>
        </p:txBody>
      </p:sp>
      <p:sp>
        <p:nvSpPr>
          <p:cNvPr id="19" name="5N1K row"/>
          <p:cNvSpPr/>
          <p:nvPr/>
        </p:nvSpPr>
        <p:spPr>
          <a:xfrm>
            <a:off x="3611880" y="3127248"/>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20" name="5N1K label"/>
          <p:cNvSpPr txBox="1"/>
          <p:nvPr/>
        </p:nvSpPr>
        <p:spPr>
          <a:xfrm>
            <a:off x="3675887" y="3127248"/>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WHY</a:t>
            </a:r>
          </a:p>
        </p:txBody>
      </p:sp>
      <p:sp>
        <p:nvSpPr>
          <p:cNvPr id="21" name="5N1K text"/>
          <p:cNvSpPr txBox="1"/>
          <p:nvPr/>
        </p:nvSpPr>
        <p:spPr>
          <a:xfrm>
            <a:off x="4389120" y="3127248"/>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Nobody transcribes 128 raw bits correctly.</a:t>
            </a:r>
          </a:p>
        </p:txBody>
      </p:sp>
      <p:sp>
        <p:nvSpPr>
          <p:cNvPr id="22" name="5N1K row"/>
          <p:cNvSpPr/>
          <p:nvPr/>
        </p:nvSpPr>
        <p:spPr>
          <a:xfrm>
            <a:off x="3611880" y="3621024"/>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23" name="5N1K label"/>
          <p:cNvSpPr txBox="1"/>
          <p:nvPr/>
        </p:nvSpPr>
        <p:spPr>
          <a:xfrm>
            <a:off x="3675887" y="3621024"/>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HOW</a:t>
            </a:r>
          </a:p>
        </p:txBody>
      </p:sp>
      <p:sp>
        <p:nvSpPr>
          <p:cNvPr id="24" name="5N1K text"/>
          <p:cNvSpPr txBox="1"/>
          <p:nvPr/>
        </p:nvSpPr>
        <p:spPr>
          <a:xfrm>
            <a:off x="4389120" y="3621024"/>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2,048 words of eleven bits each, a checksum folded in, and key stretching from words to seed.</a:t>
            </a:r>
          </a:p>
        </p:txBody>
      </p:sp>
      <p:sp>
        <p:nvSpPr>
          <p:cNvPr id="25" name="live link"/>
          <p:cNvSpPr txBox="1"/>
          <p:nvPr/>
        </p:nvSpPr>
        <p:spPr>
          <a:xfrm>
            <a:off x="3611880" y="4133087"/>
            <a:ext cx="5074920" cy="274320"/>
          </a:xfrm>
          <a:prstGeom prst="rect">
            <a:avLst/>
          </a:prstGeom>
          <a:noFill/>
        </p:spPr>
        <p:txBody>
          <a:bodyPr wrap="square" anchor="t" lIns="45720" rIns="45720" tIns="36576" bIns="36576">
            <a:spAutoFit/>
          </a:bodyPr>
          <a:lstStyle/>
          <a:p>
            <a:pPr algn="l"/>
            <a:r>
              <a:rPr sz="1200" b="1" i="0">
                <a:solidFill>
                  <a:srgbClr val="D97A14"/>
                </a:solidFill>
                <a:latin typeface="Calibri"/>
              </a:rPr>
              <a:t>READ  </a:t>
            </a:r>
            <a:r>
              <a:rPr sz="1200" b="1" i="0">
                <a:solidFill>
                  <a:srgbClr val="2F6D62"/>
                </a:solidFill>
                <a:latin typeface="Calibri"/>
                <a:hlinkClick r:id="rId4"/>
              </a:rPr>
              <a:t>BIP 39: Mnemonic code (spec)</a:t>
            </a:r>
            <a:r>
              <a:rPr sz="1050" b="0" i="0">
                <a:solidFill>
                  <a:srgbClr val="6E655C"/>
                </a:solidFill>
                <a:latin typeface="Calibri"/>
              </a:rPr>
              <a:t>   bips.dev</a:t>
            </a:r>
          </a:p>
        </p:txBody>
      </p:sp>
      <p:sp>
        <p:nvSpPr>
          <p:cNvPr id="26"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The recovery code is an interface standard between humans and entropy</a:t>
            </a:r>
          </a:p>
        </p:txBody>
      </p:sp>
      <p:sp>
        <p:nvSpPr>
          <p:cNvPr id="2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20 / 68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Generating a recovery code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Five steps from random bits to words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Generating a recovery code</a:t>
            </a:r>
          </a:p>
        </p:txBody>
      </p:sp>
      <p:grpSp>
        <p:nvGrpSpPr>
          <p:cNvPr id="6" name="visual: 132 bits become 12 words"/>
          <p:cNvGrpSpPr/>
          <p:nvPr/>
        </p:nvGrpSpPr>
        <p:grpSpPr>
          <a:xfrm>
            <a:off x="365760" y="1234440"/>
            <a:ext cx="3657600" cy="2825496"/>
            <a:chOff x="365760" y="1234440"/>
            <a:chExt cx="3657600" cy="2825496"/>
          </a:xfrm>
        </p:grpSpPr>
        <p:sp>
          <p:nvSpPr>
            <p:cNvPr id="7" name="Rounded Rectangle 6"/>
            <p:cNvSpPr/>
            <p:nvPr/>
          </p:nvSpPr>
          <p:spPr>
            <a:xfrm>
              <a:off x="365760" y="1234440"/>
              <a:ext cx="3017520" cy="50292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Entropy: 128 bits</a:t>
              </a:r>
            </a:p>
          </p:txBody>
        </p:sp>
        <p:sp>
          <p:nvSpPr>
            <p:cNvPr id="8" name="Rounded Rectangle 7"/>
            <p:cNvSpPr/>
            <p:nvPr/>
          </p:nvSpPr>
          <p:spPr>
            <a:xfrm>
              <a:off x="3429000" y="1234440"/>
              <a:ext cx="548640" cy="502920"/>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200" b="1" i="0">
                  <a:solidFill>
                    <a:srgbClr val="FFFFFF"/>
                  </a:solidFill>
                  <a:latin typeface="Calibri"/>
                </a:rPr>
                <a:t>4</a:t>
              </a:r>
            </a:p>
          </p:txBody>
        </p:sp>
        <p:sp>
          <p:nvSpPr>
            <p:cNvPr id="10" name="Rounded Rectangle 9"/>
            <p:cNvSpPr/>
            <p:nvPr/>
          </p:nvSpPr>
          <p:spPr>
            <a:xfrm>
              <a:off x="365760" y="2194560"/>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1</a:t>
              </a:r>
            </a:p>
          </p:txBody>
        </p:sp>
        <p:sp>
          <p:nvSpPr>
            <p:cNvPr id="11" name="Rounded Rectangle 10"/>
            <p:cNvSpPr/>
            <p:nvPr/>
          </p:nvSpPr>
          <p:spPr>
            <a:xfrm>
              <a:off x="1298448" y="2194560"/>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2</a:t>
              </a:r>
            </a:p>
          </p:txBody>
        </p:sp>
        <p:sp>
          <p:nvSpPr>
            <p:cNvPr id="12" name="Rounded Rectangle 11"/>
            <p:cNvSpPr/>
            <p:nvPr/>
          </p:nvSpPr>
          <p:spPr>
            <a:xfrm>
              <a:off x="2231136" y="2194560"/>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3</a:t>
              </a:r>
            </a:p>
          </p:txBody>
        </p:sp>
        <p:sp>
          <p:nvSpPr>
            <p:cNvPr id="13" name="Rounded Rectangle 12"/>
            <p:cNvSpPr/>
            <p:nvPr/>
          </p:nvSpPr>
          <p:spPr>
            <a:xfrm>
              <a:off x="3163824" y="2194560"/>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4</a:t>
              </a:r>
            </a:p>
          </p:txBody>
        </p:sp>
        <p:sp>
          <p:nvSpPr>
            <p:cNvPr id="14" name="Rounded Rectangle 13"/>
            <p:cNvSpPr/>
            <p:nvPr/>
          </p:nvSpPr>
          <p:spPr>
            <a:xfrm>
              <a:off x="365760" y="2852928"/>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5</a:t>
              </a:r>
            </a:p>
          </p:txBody>
        </p:sp>
        <p:sp>
          <p:nvSpPr>
            <p:cNvPr id="15" name="Rounded Rectangle 14"/>
            <p:cNvSpPr/>
            <p:nvPr/>
          </p:nvSpPr>
          <p:spPr>
            <a:xfrm>
              <a:off x="1298448" y="2852928"/>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6</a:t>
              </a:r>
            </a:p>
          </p:txBody>
        </p:sp>
        <p:sp>
          <p:nvSpPr>
            <p:cNvPr id="16" name="Rounded Rectangle 15"/>
            <p:cNvSpPr/>
            <p:nvPr/>
          </p:nvSpPr>
          <p:spPr>
            <a:xfrm>
              <a:off x="2231136" y="2852928"/>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7</a:t>
              </a:r>
            </a:p>
          </p:txBody>
        </p:sp>
        <p:sp>
          <p:nvSpPr>
            <p:cNvPr id="17" name="Rounded Rectangle 16"/>
            <p:cNvSpPr/>
            <p:nvPr/>
          </p:nvSpPr>
          <p:spPr>
            <a:xfrm>
              <a:off x="3163824" y="2852928"/>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8</a:t>
              </a:r>
            </a:p>
          </p:txBody>
        </p:sp>
        <p:sp>
          <p:nvSpPr>
            <p:cNvPr id="18" name="Rounded Rectangle 17"/>
            <p:cNvSpPr/>
            <p:nvPr/>
          </p:nvSpPr>
          <p:spPr>
            <a:xfrm>
              <a:off x="365760" y="3511296"/>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9</a:t>
              </a:r>
            </a:p>
          </p:txBody>
        </p:sp>
        <p:sp>
          <p:nvSpPr>
            <p:cNvPr id="19" name="Rounded Rectangle 18"/>
            <p:cNvSpPr/>
            <p:nvPr/>
          </p:nvSpPr>
          <p:spPr>
            <a:xfrm>
              <a:off x="1298448" y="3511296"/>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10</a:t>
              </a:r>
            </a:p>
          </p:txBody>
        </p:sp>
        <p:sp>
          <p:nvSpPr>
            <p:cNvPr id="20" name="Rounded Rectangle 19"/>
            <p:cNvSpPr/>
            <p:nvPr/>
          </p:nvSpPr>
          <p:spPr>
            <a:xfrm>
              <a:off x="2231136" y="3511296"/>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11</a:t>
              </a:r>
            </a:p>
          </p:txBody>
        </p:sp>
        <p:sp>
          <p:nvSpPr>
            <p:cNvPr id="21" name="Rounded Rectangle 20"/>
            <p:cNvSpPr/>
            <p:nvPr/>
          </p:nvSpPr>
          <p:spPr>
            <a:xfrm>
              <a:off x="3163824" y="3511296"/>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12</a:t>
              </a:r>
            </a:p>
          </p:txBody>
        </p:sp>
      </p:grpSp>
      <p:sp>
        <p:nvSpPr>
          <p:cNvPr id="9" name="figure label"/>
          <p:cNvSpPr txBox="1"/>
          <p:nvPr/>
        </p:nvSpPr>
        <p:spPr>
          <a:xfrm>
            <a:off x="365760" y="1764792"/>
            <a:ext cx="3657600" cy="256032"/>
          </a:xfrm>
          <a:prstGeom prst="rect">
            <a:avLst/>
          </a:prstGeom>
          <a:noFill/>
        </p:spPr>
        <p:txBody>
          <a:bodyPr wrap="square" anchor="t" lIns="45720" rIns="45720" tIns="36576" bIns="36576">
            <a:spAutoFit/>
          </a:bodyPr>
          <a:lstStyle/>
          <a:p>
            <a:pPr algn="l"/>
            <a:r>
              <a:rPr sz="1100" b="0" i="1">
                <a:solidFill>
                  <a:srgbClr val="6E655C"/>
                </a:solidFill>
                <a:latin typeface="Calibri"/>
              </a:rPr>
              <a:t>128 bits of entropy + a 4-bit checksum = 132 bits</a:t>
            </a:r>
          </a:p>
        </p:txBody>
      </p:sp>
      <p:sp>
        <p:nvSpPr>
          <p:cNvPr id="22" name="figure label"/>
          <p:cNvSpPr txBox="1"/>
          <p:nvPr/>
        </p:nvSpPr>
        <p:spPr>
          <a:xfrm>
            <a:off x="365760" y="4133087"/>
            <a:ext cx="3657600" cy="274320"/>
          </a:xfrm>
          <a:prstGeom prst="rect">
            <a:avLst/>
          </a:prstGeom>
          <a:noFill/>
        </p:spPr>
        <p:txBody>
          <a:bodyPr wrap="square" anchor="t" lIns="45720" rIns="45720" tIns="36576" bIns="36576">
            <a:spAutoFit/>
          </a:bodyPr>
          <a:lstStyle/>
          <a:p>
            <a:pPr algn="l"/>
            <a:r>
              <a:rPr sz="1100" b="1" i="0">
                <a:solidFill>
                  <a:srgbClr val="2F6D62"/>
                </a:solidFill>
                <a:latin typeface="Calibri"/>
              </a:rPr>
              <a:t>Twelve pieces of eleven bits, one word each</a:t>
            </a:r>
          </a:p>
        </p:txBody>
      </p:sp>
      <p:sp>
        <p:nvSpPr>
          <p:cNvPr id="23" name="step"/>
          <p:cNvSpPr/>
          <p:nvPr/>
        </p:nvSpPr>
        <p:spPr>
          <a:xfrm>
            <a:off x="4389120" y="1188720"/>
            <a:ext cx="429768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1  Generate entropy (128 bits for 12 words)</a:t>
            </a:r>
          </a:p>
        </p:txBody>
      </p:sp>
      <p:sp>
        <p:nvSpPr>
          <p:cNvPr id="24" name="step"/>
          <p:cNvSpPr/>
          <p:nvPr/>
        </p:nvSpPr>
        <p:spPr>
          <a:xfrm>
            <a:off x="4389120" y="1792224"/>
            <a:ext cx="429768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2  Hash it with SHA-256</a:t>
            </a:r>
          </a:p>
        </p:txBody>
      </p:sp>
      <p:sp>
        <p:nvSpPr>
          <p:cNvPr id="25" name="step"/>
          <p:cNvSpPr/>
          <p:nvPr/>
        </p:nvSpPr>
        <p:spPr>
          <a:xfrm>
            <a:off x="4389120" y="2395728"/>
            <a:ext cx="429768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3  Append the first 4 bits as the checksum</a:t>
            </a:r>
          </a:p>
        </p:txBody>
      </p:sp>
      <p:sp>
        <p:nvSpPr>
          <p:cNvPr id="26" name="step"/>
          <p:cNvSpPr/>
          <p:nvPr/>
        </p:nvSpPr>
        <p:spPr>
          <a:xfrm>
            <a:off x="4389120" y="2999232"/>
            <a:ext cx="429768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4  Split the 132 bits into 12 pieces of 11 bits</a:t>
            </a:r>
          </a:p>
        </p:txBody>
      </p:sp>
      <p:sp>
        <p:nvSpPr>
          <p:cNvPr id="27" name="step"/>
          <p:cNvSpPr/>
          <p:nvPr/>
        </p:nvSpPr>
        <p:spPr>
          <a:xfrm>
            <a:off x="4389120" y="3602736"/>
            <a:ext cx="429768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5  Look each piece up in the word list of 2,048</a:t>
            </a:r>
          </a:p>
        </p:txBody>
      </p:sp>
      <p:sp>
        <p:nvSpPr>
          <p:cNvPr id="28"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12 words x 11 bits = 132 bits = 128 of entropy + 4 of checksum.</a:t>
            </a:r>
          </a:p>
        </p:txBody>
      </p:sp>
      <p:sp>
        <p:nvSpPr>
          <p:cNvPr id="2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21 / 68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4: A hash function changes half its bits</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a</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hashlib</a:t>
            </a:r>
            <a:r>
              <a:rPr sz="1200" b="0" i="0">
                <a:solidFill>
                  <a:srgbClr val="E6EDF3"/>
                </a:solidFill>
                <a:latin typeface="Courier New"/>
              </a:rPr>
              <a:t>.</a:t>
            </a:r>
            <a:r>
              <a:rPr sz="1200" b="0" i="0">
                <a:solidFill>
                  <a:srgbClr val="E6EDF3"/>
                </a:solidFill>
                <a:latin typeface="Courier New"/>
              </a:rPr>
              <a:t>sha256</a:t>
            </a:r>
            <a:r>
              <a:rPr sz="1200" b="0" i="0">
                <a:solidFill>
                  <a:srgbClr val="E6EDF3"/>
                </a:solidFill>
                <a:latin typeface="Courier New"/>
              </a:rPr>
              <a:t>(</a:t>
            </a:r>
            <a:r>
              <a:rPr sz="1200" b="0" i="0">
                <a:solidFill>
                  <a:srgbClr val="7EE787"/>
                </a:solidFill>
                <a:latin typeface="Courier New"/>
              </a:rPr>
              <a:t>b"seed A"</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digest</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b</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hashlib</a:t>
            </a:r>
            <a:r>
              <a:rPr sz="1200" b="0" i="0">
                <a:solidFill>
                  <a:srgbClr val="E6EDF3"/>
                </a:solidFill>
                <a:latin typeface="Courier New"/>
              </a:rPr>
              <a:t>.</a:t>
            </a:r>
            <a:r>
              <a:rPr sz="1200" b="0" i="0">
                <a:solidFill>
                  <a:srgbClr val="E6EDF3"/>
                </a:solidFill>
                <a:latin typeface="Courier New"/>
              </a:rPr>
              <a:t>sha256</a:t>
            </a:r>
            <a:r>
              <a:rPr sz="1200" b="0" i="0">
                <a:solidFill>
                  <a:srgbClr val="E6EDF3"/>
                </a:solidFill>
                <a:latin typeface="Courier New"/>
              </a:rPr>
              <a:t>(</a:t>
            </a:r>
            <a:r>
              <a:rPr sz="1200" b="0" i="0">
                <a:solidFill>
                  <a:srgbClr val="7EE787"/>
                </a:solidFill>
                <a:latin typeface="Courier New"/>
              </a:rPr>
              <a:t>b"seed B"</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digest</a:t>
            </a:r>
            <a:r>
              <a:rPr sz="1200" b="0" i="0">
                <a:solidFill>
                  <a:srgbClr val="E6EDF3"/>
                </a:solidFill>
                <a:latin typeface="Courier New"/>
              </a:rPr>
              <a:t>(</a:t>
            </a:r>
            <a:r>
              <a:rPr sz="1200" b="0" i="0">
                <a:solidFill>
                  <a:srgbClr val="E6EDF3"/>
                </a:solidFill>
                <a:latin typeface="Courier New"/>
              </a:rPr>
              <a:t>)</a:t>
            </a:r>
          </a:p>
        </p:txBody>
      </p:sp>
      <p:sp>
        <p:nvSpPr>
          <p:cNvPr id="8" name="code"/>
          <p:cNvSpPr/>
          <p:nvPr/>
        </p:nvSpPr>
        <p:spPr>
          <a:xfrm>
            <a:off x="365760" y="1683004"/>
            <a:ext cx="4727448" cy="890016"/>
          </a:xfrm>
          <a:prstGeom prst="roundRect">
            <a:avLst>
              <a:gd name="adj" fmla="val 821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diff</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FFA657"/>
                </a:solidFill>
                <a:latin typeface="Courier New"/>
              </a:rPr>
              <a:t>int</a:t>
            </a:r>
            <a:r>
              <a:rPr sz="1200" b="0" i="0">
                <a:solidFill>
                  <a:srgbClr val="E6EDF3"/>
                </a:solidFill>
                <a:latin typeface="Courier New"/>
              </a:rPr>
              <a:t>(</a:t>
            </a:r>
            <a:r>
              <a:rPr sz="1200" b="0" i="0">
                <a:solidFill>
                  <a:srgbClr val="E6EDF3"/>
                </a:solidFill>
                <a:latin typeface="Courier New"/>
              </a:rPr>
              <a:t>a</a:t>
            </a:r>
            <a:r>
              <a:rPr sz="1200" b="0" i="0">
                <a:solidFill>
                  <a:srgbClr val="E6EDF3"/>
                </a:solidFill>
                <a:latin typeface="Courier New"/>
              </a:rPr>
              <a:t>.</a:t>
            </a:r>
            <a:r>
              <a:rPr sz="1200" b="0" i="0">
                <a:solidFill>
                  <a:srgbClr val="E6EDF3"/>
                </a:solidFill>
                <a:latin typeface="Courier New"/>
              </a:rPr>
              <a:t>hex</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16</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FFA657"/>
                </a:solidFill>
                <a:latin typeface="Courier New"/>
              </a:rPr>
              <a:t>int</a:t>
            </a:r>
            <a:r>
              <a:rPr sz="1200" b="0" i="0">
                <a:solidFill>
                  <a:srgbClr val="E6EDF3"/>
                </a:solidFill>
                <a:latin typeface="Courier New"/>
              </a:rPr>
              <a:t>(</a:t>
            </a:r>
            <a:r>
              <a:rPr sz="1200" b="0" i="0">
                <a:solidFill>
                  <a:srgbClr val="E6EDF3"/>
                </a:solidFill>
                <a:latin typeface="Courier New"/>
              </a:rPr>
              <a:t>b</a:t>
            </a:r>
            <a:r>
              <a:rPr sz="1200" b="0" i="0">
                <a:solidFill>
                  <a:srgbClr val="E6EDF3"/>
                </a:solidFill>
                <a:latin typeface="Courier New"/>
              </a:rPr>
              <a:t>.</a:t>
            </a:r>
            <a:r>
              <a:rPr sz="1200" b="0" i="0">
                <a:solidFill>
                  <a:srgbClr val="E6EDF3"/>
                </a:solidFill>
                <a:latin typeface="Courier New"/>
              </a:rPr>
              <a:t>hex</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16</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FFA657"/>
                </a:solidFill>
                <a:latin typeface="Courier New"/>
              </a:rPr>
              <a:t>len</a:t>
            </a:r>
            <a:r>
              <a:rPr sz="1200" b="0" i="0">
                <a:solidFill>
                  <a:srgbClr val="E6EDF3"/>
                </a:solidFill>
                <a:latin typeface="Courier New"/>
              </a:rPr>
              <a:t>(</a:t>
            </a:r>
            <a:r>
              <a:rPr sz="1200" b="0" i="0">
                <a:solidFill>
                  <a:srgbClr val="E6EDF3"/>
                </a:solidFill>
                <a:latin typeface="Courier New"/>
              </a:rPr>
              <a:t>a</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8</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bin</a:t>
            </a:r>
            <a:r>
              <a:rPr sz="1200" b="0" i="0">
                <a:solidFill>
                  <a:srgbClr val="E6EDF3"/>
                </a:solidFill>
                <a:latin typeface="Courier New"/>
              </a:rPr>
              <a:t>(</a:t>
            </a:r>
            <a:r>
              <a:rPr sz="1200" b="0" i="0">
                <a:solidFill>
                  <a:srgbClr val="E6EDF3"/>
                </a:solidFill>
                <a:latin typeface="Courier New"/>
              </a:rPr>
              <a:t>diff</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count</a:t>
            </a:r>
            <a:r>
              <a:rPr sz="1200" b="0" i="0">
                <a:solidFill>
                  <a:srgbClr val="E6EDF3"/>
                </a:solidFill>
                <a:latin typeface="Courier New"/>
              </a:rPr>
              <a:t>(</a:t>
            </a:r>
            <a:r>
              <a:rPr sz="1200" b="0" i="0">
                <a:solidFill>
                  <a:srgbClr val="7EE787"/>
                </a:solidFill>
                <a:latin typeface="Courier New"/>
              </a:rPr>
              <a:t>"1"</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SHA-256, the tool inside BIP39</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BIP39 Recovery Codes</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Hash two inputs that differ by one letter with SHA-256.</a:t>
            </a:r>
          </a:p>
        </p:txBody>
      </p:sp>
      <p:sp>
        <p:nvSpPr>
          <p:cNvPr id="9" name="explanation"/>
          <p:cNvSpPr/>
          <p:nvPr/>
        </p:nvSpPr>
        <p:spPr>
          <a:xfrm>
            <a:off x="5074920" y="1683004"/>
            <a:ext cx="3657600" cy="890016"/>
          </a:xfrm>
          <a:prstGeom prst="roundRect">
            <a:avLst>
              <a:gd name="adj" fmla="val 821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XOR the results and count the bits that differ: about half of the 256 change.</a:t>
            </a:r>
          </a:p>
        </p:txBody>
      </p:sp>
      <p:sp>
        <p:nvSpPr>
          <p:cNvPr id="10" name="result label"/>
          <p:cNvSpPr txBox="1"/>
          <p:nvPr/>
        </p:nvSpPr>
        <p:spPr>
          <a:xfrm>
            <a:off x="365760" y="2664460"/>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chart"/>
          <p:cNvGraphicFramePr>
            <a:graphicFrameLocks noGrp="1"/>
          </p:cNvGraphicFramePr>
          <p:nvPr/>
        </p:nvGraphicFramePr>
        <p:xfrm>
          <a:off x="365760" y="2911348"/>
          <a:ext cx="4572000" cy="1514348"/>
        </p:xfrm>
        <a:graphic>
          <a:graphicData uri="http://schemas.openxmlformats.org/drawingml/2006/chart">
            <c:chart xmlns:c="http://schemas.openxmlformats.org/drawingml/2006/chart" r:id="rId3"/>
          </a:graphicData>
        </a:graphic>
      </p:graphicFrame>
      <p:sp>
        <p:nvSpPr>
          <p:cNvPr id="12" name="reading"/>
          <p:cNvSpPr/>
          <p:nvPr/>
        </p:nvSpPr>
        <p:spPr>
          <a:xfrm>
            <a:off x="5212080" y="3002788"/>
            <a:ext cx="3474720" cy="1097280"/>
          </a:xfrm>
          <a:prstGeom prst="roundRect">
            <a:avLst>
              <a:gd name="adj" fmla="val 6666"/>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Two inputs differ by one letter; the outputs differ in 126 of 256 bits.</a:t>
            </a:r>
          </a:p>
        </p:txBody>
      </p:sp>
      <p:sp>
        <p:nvSpPr>
          <p:cNvPr id="13"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tiny change makes a huge difference.</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22 / 68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5: How many words for how much entropy</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for</a:t>
            </a:r>
            <a:r>
              <a:rPr sz="1200" b="0" i="0">
                <a:solidFill>
                  <a:srgbClr val="E6EDF3"/>
                </a:solidFill>
                <a:latin typeface="Courier New"/>
              </a:rPr>
              <a:t> </a:t>
            </a:r>
            <a:r>
              <a:rPr sz="1200" b="0" i="0">
                <a:solidFill>
                  <a:srgbClr val="E6EDF3"/>
                </a:solidFill>
                <a:latin typeface="Courier New"/>
              </a:rPr>
              <a:t>bits</a:t>
            </a:r>
            <a:r>
              <a:rPr sz="1200" b="0" i="0">
                <a:solidFill>
                  <a:srgbClr val="E6EDF3"/>
                </a:solidFill>
                <a:latin typeface="Courier New"/>
              </a:rPr>
              <a:t> </a:t>
            </a:r>
            <a:r>
              <a:rPr sz="1200" b="0" i="0">
                <a:solidFill>
                  <a:srgbClr val="FFA657"/>
                </a:solidFill>
                <a:latin typeface="Courier New"/>
              </a:rPr>
              <a:t>in</a:t>
            </a:r>
            <a:r>
              <a:rPr sz="1200" b="0" i="0">
                <a:solidFill>
                  <a:srgbClr val="E6EDF3"/>
                </a:solidFill>
                <a:latin typeface="Courier New"/>
              </a:rPr>
              <a:t> </a:t>
            </a:r>
            <a:r>
              <a:rPr sz="1200" b="0" i="0">
                <a:solidFill>
                  <a:srgbClr val="E6EDF3"/>
                </a:solidFill>
                <a:latin typeface="Courier New"/>
              </a:rPr>
              <a:t>(</a:t>
            </a:r>
            <a:r>
              <a:rPr sz="1200" b="0" i="0">
                <a:solidFill>
                  <a:srgbClr val="79C0FF"/>
                </a:solidFill>
                <a:latin typeface="Courier New"/>
              </a:rPr>
              <a:t>128</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160</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192</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224</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256</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E6EDF3"/>
                </a:solidFill>
                <a:latin typeface="Courier New"/>
              </a:rPr>
              <a:t>ent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bytes</a:t>
            </a:r>
            <a:r>
              <a:rPr sz="1200" b="0" i="0">
                <a:solidFill>
                  <a:srgbClr val="E6EDF3"/>
                </a:solidFill>
                <a:latin typeface="Courier New"/>
              </a:rPr>
              <a:t>(</a:t>
            </a:r>
            <a:r>
              <a:rPr sz="1200" b="0" i="0">
                <a:solidFill>
                  <a:srgbClr val="E6EDF3"/>
                </a:solidFill>
                <a:latin typeface="Courier New"/>
              </a:rPr>
              <a:t>bits</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8</a:t>
            </a:r>
            <a:r>
              <a:rPr sz="1200" b="0" i="0">
                <a:solidFill>
                  <a:srgbClr val="E6EDF3"/>
                </a:solidFill>
                <a:latin typeface="Courier New"/>
              </a:rPr>
              <a:t>)</a:t>
            </a:r>
          </a:p>
        </p:txBody>
      </p:sp>
      <p:sp>
        <p:nvSpPr>
          <p:cNvPr id="8" name="code"/>
          <p:cNvSpPr/>
          <p:nvPr/>
        </p:nvSpPr>
        <p:spPr>
          <a:xfrm>
            <a:off x="365760" y="1683004"/>
            <a:ext cx="4727448" cy="890016"/>
          </a:xfrm>
          <a:prstGeom prst="roundRect">
            <a:avLst>
              <a:gd name="adj" fmla="val 821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FFA657"/>
                </a:solidFill>
                <a:latin typeface="Courier New"/>
              </a:rPr>
              <a:t>len</a:t>
            </a:r>
            <a:r>
              <a:rPr sz="1200" b="0" i="0">
                <a:solidFill>
                  <a:srgbClr val="E6EDF3"/>
                </a:solidFill>
                <a:latin typeface="Courier New"/>
              </a:rPr>
              <a:t>(</a:t>
            </a:r>
            <a:r>
              <a:rPr sz="1200" b="0" i="0">
                <a:solidFill>
                  <a:srgbClr val="E6EDF3"/>
                </a:solidFill>
                <a:latin typeface="Courier New"/>
              </a:rPr>
              <a:t>entropy_to_mnemonic</a:t>
            </a:r>
            <a:r>
              <a:rPr sz="1200" b="0" i="0">
                <a:solidFill>
                  <a:srgbClr val="E6EDF3"/>
                </a:solidFill>
                <a:latin typeface="Courier New"/>
              </a:rPr>
              <a:t>(</a:t>
            </a:r>
            <a:r>
              <a:rPr sz="1200" b="0" i="0">
                <a:solidFill>
                  <a:srgbClr val="E6EDF3"/>
                </a:solidFill>
                <a:latin typeface="Courier New"/>
              </a:rPr>
              <a:t>ent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split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bits</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Code length and security strength</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How Much Entropy Do You Need?</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Five allowed entropy sizes, from 128 to 256 bits.</a:t>
            </a:r>
          </a:p>
        </p:txBody>
      </p:sp>
      <p:sp>
        <p:nvSpPr>
          <p:cNvPr id="9" name="explanation"/>
          <p:cNvSpPr/>
          <p:nvPr/>
        </p:nvSpPr>
        <p:spPr>
          <a:xfrm>
            <a:off x="5074920" y="1683004"/>
            <a:ext cx="3657600" cy="890016"/>
          </a:xfrm>
          <a:prstGeom prst="roundRect">
            <a:avLst>
              <a:gd name="adj" fmla="val 821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Turn each into a recovery code and count its words: 12, 15, 18, 21 and 24.</a:t>
            </a:r>
          </a:p>
        </p:txBody>
      </p:sp>
      <p:sp>
        <p:nvSpPr>
          <p:cNvPr id="10" name="result label"/>
          <p:cNvSpPr txBox="1"/>
          <p:nvPr/>
        </p:nvSpPr>
        <p:spPr>
          <a:xfrm>
            <a:off x="365760" y="2664460"/>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chart"/>
          <p:cNvGraphicFramePr>
            <a:graphicFrameLocks noGrp="1"/>
          </p:cNvGraphicFramePr>
          <p:nvPr/>
        </p:nvGraphicFramePr>
        <p:xfrm>
          <a:off x="365760" y="2911348"/>
          <a:ext cx="5486400" cy="1514348"/>
        </p:xfrm>
        <a:graphic>
          <a:graphicData uri="http://schemas.openxmlformats.org/drawingml/2006/chart">
            <c:chart xmlns:c="http://schemas.openxmlformats.org/drawingml/2006/chart" r:id="rId3"/>
          </a:graphicData>
        </a:graphic>
      </p:graphicFrame>
      <p:sp>
        <p:nvSpPr>
          <p:cNvPr id="12" name="reading"/>
          <p:cNvSpPr/>
          <p:nvPr/>
        </p:nvSpPr>
        <p:spPr>
          <a:xfrm>
            <a:off x="6126480" y="3002788"/>
            <a:ext cx="2560320" cy="1280160"/>
          </a:xfrm>
          <a:prstGeom prst="roundRect">
            <a:avLst>
              <a:gd name="adj" fmla="val 5714"/>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128 bits is 12 words; each extra 32 bits adds 3 words.</a:t>
            </a:r>
          </a:p>
        </p:txBody>
      </p:sp>
      <p:sp>
        <p:nvSpPr>
          <p:cNvPr id="13"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More bits, more words, more security strength.</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23 / 68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6: From entropy to twelve words</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words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entropy_to_mnemonic</a:t>
            </a:r>
            <a:r>
              <a:rPr sz="1050" b="0" i="0">
                <a:solidFill>
                  <a:srgbClr val="E6EDF3"/>
                </a:solidFill>
                <a:latin typeface="Courier New"/>
              </a:rPr>
              <a:t>(</a:t>
            </a:r>
            <a:r>
              <a:rPr sz="1050" b="0" i="0">
                <a:solidFill>
                  <a:srgbClr val="E6EDF3"/>
                </a:solidFill>
                <a:latin typeface="Courier New"/>
              </a:rPr>
              <a:t>bytes</a:t>
            </a:r>
            <a:r>
              <a:rPr sz="1050" b="0" i="0">
                <a:solidFill>
                  <a:srgbClr val="E6EDF3"/>
                </a:solidFill>
                <a:latin typeface="Courier New"/>
              </a:rPr>
              <a:t>.</a:t>
            </a:r>
            <a:r>
              <a:rPr sz="1050" b="0" i="0">
                <a:solidFill>
                  <a:srgbClr val="E6EDF3"/>
                </a:solidFill>
                <a:latin typeface="Courier New"/>
              </a:rPr>
              <a:t>fromhex</a:t>
            </a:r>
            <a:r>
              <a:rPr sz="1050" b="0" i="0">
                <a:solidFill>
                  <a:srgbClr val="E6EDF3"/>
                </a:solidFill>
                <a:latin typeface="Courier New"/>
              </a:rPr>
              <a:t>(</a:t>
            </a:r>
            <a:r>
              <a:rPr sz="1050" b="0" i="0">
                <a:solidFill>
                  <a:srgbClr val="E6EDF3"/>
                </a:solidFill>
                <a:latin typeface="Courier New"/>
              </a:rPr>
              <a:t>ENT</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words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WORDS</a:t>
            </a:r>
            <a:r>
              <a:rPr sz="105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idx</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wordlist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index</a:t>
            </a:r>
            <a:r>
              <a:rPr sz="1050" b="0" i="0">
                <a:solidFill>
                  <a:srgbClr val="E6EDF3"/>
                </a:solidFill>
                <a:latin typeface="Courier New"/>
              </a:rPr>
              <a:t>(</a:t>
            </a:r>
            <a:r>
              <a:rPr sz="1050" b="0" i="0">
                <a:solidFill>
                  <a:srgbClr val="E6EDF3"/>
                </a:solidFill>
                <a:latin typeface="Courier New"/>
              </a:rPr>
              <a:t>w</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for</a:t>
            </a:r>
            <a:r>
              <a:rPr sz="1050" b="0" i="0">
                <a:solidFill>
                  <a:srgbClr val="E6EDF3"/>
                </a:solidFill>
                <a:latin typeface="Courier New"/>
              </a:rPr>
              <a:t> </a:t>
            </a:r>
            <a:r>
              <a:rPr sz="1050" b="0" i="0">
                <a:solidFill>
                  <a:srgbClr val="E6EDF3"/>
                </a:solidFill>
                <a:latin typeface="Courier New"/>
              </a:rPr>
              <a:t>w</a:t>
            </a:r>
            <a:r>
              <a:rPr sz="1050" b="0" i="0">
                <a:solidFill>
                  <a:srgbClr val="E6EDF3"/>
                </a:solidFill>
                <a:latin typeface="Courier New"/>
              </a:rPr>
              <a:t> </a:t>
            </a:r>
            <a:r>
              <a:rPr sz="1050" b="0" i="0">
                <a:solidFill>
                  <a:srgbClr val="FFA657"/>
                </a:solidFill>
                <a:latin typeface="Courier New"/>
              </a:rPr>
              <a:t>in</a:t>
            </a:r>
            <a:r>
              <a:rPr sz="1050" b="0" i="0">
                <a:solidFill>
                  <a:srgbClr val="E6EDF3"/>
                </a:solidFill>
                <a:latin typeface="Courier New"/>
              </a:rPr>
              <a:t> </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split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idx</a:t>
            </a:r>
            <a:r>
              <a:rPr sz="1050" b="0" i="0">
                <a:solidFill>
                  <a:srgbClr val="E6EDF3"/>
                </a:solidFill>
                <a:latin typeface="Courier New"/>
              </a:rPr>
              <a:t>)</a:t>
            </a:r>
          </a:p>
        </p:txBody>
      </p:sp>
      <p:sp>
        <p:nvSpPr>
          <p:cNvPr id="10" name="code"/>
          <p:cNvSpPr/>
          <p:nvPr/>
        </p:nvSpPr>
        <p:spPr>
          <a:xfrm>
            <a:off x="365760" y="2175764"/>
            <a:ext cx="4727448" cy="634365"/>
          </a:xfrm>
          <a:prstGeom prst="roundRect">
            <a:avLst>
              <a:gd name="adj" fmla="val 11531"/>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format</a:t>
            </a:r>
            <a:r>
              <a:rPr sz="1050" b="0" i="0">
                <a:solidFill>
                  <a:srgbClr val="E6EDF3"/>
                </a:solidFill>
                <a:latin typeface="Courier New"/>
              </a:rPr>
              <a:t>(</a:t>
            </a:r>
            <a:r>
              <a:rPr sz="1050" b="0" i="0">
                <a:solidFill>
                  <a:srgbClr val="E6EDF3"/>
                </a:solidFill>
                <a:latin typeface="Courier New"/>
              </a:rPr>
              <a:t>idx</a:t>
            </a:r>
            <a:r>
              <a:rPr sz="1050" b="0" i="0">
                <a:solidFill>
                  <a:srgbClr val="E6EDF3"/>
                </a:solidFill>
                <a:latin typeface="Courier New"/>
              </a:rPr>
              <a:t>[</a:t>
            </a:r>
            <a:r>
              <a:rPr sz="1050" b="0" i="0">
                <a:solidFill>
                  <a:srgbClr val="79C0FF"/>
                </a:solidFill>
                <a:latin typeface="Courier New"/>
              </a:rPr>
              <a:t>0</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"011b"</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split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0</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Eleven-bit segments and the word list</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Generating a recovery code</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The chapter's 128 bits of entropy become its twelve words.</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Each word is a position, 0 to 2047, in the BIP39 list: eleven bits each.</a:t>
            </a:r>
          </a:p>
        </p:txBody>
      </p:sp>
      <p:sp>
        <p:nvSpPr>
          <p:cNvPr id="11" name="explanation"/>
          <p:cNvSpPr/>
          <p:nvPr/>
        </p:nvSpPr>
        <p:spPr>
          <a:xfrm>
            <a:off x="5074920" y="2175764"/>
            <a:ext cx="3657600" cy="634365"/>
          </a:xfrm>
          <a:prstGeom prst="roundRect">
            <a:avLst>
              <a:gd name="adj" fmla="val 11531"/>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Position 96 is the eleven bits 00001100000, the word army.</a:t>
            </a:r>
          </a:p>
        </p:txBody>
      </p:sp>
      <p:sp>
        <p:nvSpPr>
          <p:cNvPr id="12" name="result label"/>
          <p:cNvSpPr txBox="1"/>
          <p:nvPr/>
        </p:nvSpPr>
        <p:spPr>
          <a:xfrm>
            <a:off x="365760" y="2901569"/>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148457"/>
          <a:ext cx="8412480" cy="957196"/>
        </p:xfrm>
        <a:graphic>
          <a:graphicData uri="http://schemas.openxmlformats.org/drawingml/2006/table">
            <a:tbl>
              <a:tblPr firstRow="1" bandRow="1">
                <a:tableStyleId>{5C22544A-7EE6-4342-B048-85BDC9FD1C3A}</a:tableStyleId>
              </a:tblPr>
              <a:tblGrid>
                <a:gridCol w="1121664"/>
                <a:gridCol w="1215136"/>
                <a:gridCol w="1215136"/>
                <a:gridCol w="1215136"/>
                <a:gridCol w="1215136"/>
                <a:gridCol w="1215136"/>
                <a:gridCol w="1215136"/>
              </a:tblGrid>
              <a:tr h="239299">
                <a:tc>
                  <a:txBody>
                    <a:bodyPr wrap="square"/>
                    <a:lstStyle/>
                    <a:p>
                      <a:r>
                        <a:rPr sz="1150" b="1">
                          <a:solidFill>
                            <a:srgbClr val="2B2622"/>
                          </a:solidFill>
                          <a:latin typeface="Calibri"/>
                        </a:rPr>
                        <a:t>word</a:t>
                      </a:r>
                    </a:p>
                  </a:txBody>
                  <a:tcPr marL="64008" marR="64008" marT="18288" marB="18288" anchor="ctr">
                    <a:solidFill>
                      <a:srgbClr val="FFFFFF"/>
                    </a:solidFill>
                  </a:tcPr>
                </a:tc>
                <a:tc>
                  <a:txBody>
                    <a:bodyPr wrap="square"/>
                    <a:lstStyle/>
                    <a:p>
                      <a:r>
                        <a:rPr sz="1150" b="0">
                          <a:solidFill>
                            <a:srgbClr val="2B2622"/>
                          </a:solidFill>
                          <a:latin typeface="Calibri"/>
                        </a:rPr>
                        <a:t>army</a:t>
                      </a:r>
                    </a:p>
                  </a:txBody>
                  <a:tcPr marL="64008" marR="64008" marT="18288" marB="18288" anchor="ctr">
                    <a:solidFill>
                      <a:srgbClr val="FFFFFF"/>
                    </a:solidFill>
                  </a:tcPr>
                </a:tc>
                <a:tc>
                  <a:txBody>
                    <a:bodyPr wrap="square"/>
                    <a:lstStyle/>
                    <a:p>
                      <a:r>
                        <a:rPr sz="1150" b="0">
                          <a:solidFill>
                            <a:srgbClr val="2B2622"/>
                          </a:solidFill>
                          <a:latin typeface="Calibri"/>
                        </a:rPr>
                        <a:t>van</a:t>
                      </a:r>
                    </a:p>
                  </a:txBody>
                  <a:tcPr marL="64008" marR="64008" marT="18288" marB="18288" anchor="ctr">
                    <a:solidFill>
                      <a:srgbClr val="FFFFFF"/>
                    </a:solidFill>
                  </a:tcPr>
                </a:tc>
                <a:tc>
                  <a:txBody>
                    <a:bodyPr wrap="square"/>
                    <a:lstStyle/>
                    <a:p>
                      <a:r>
                        <a:rPr sz="1150" b="0">
                          <a:solidFill>
                            <a:srgbClr val="2B2622"/>
                          </a:solidFill>
                          <a:latin typeface="Calibri"/>
                        </a:rPr>
                        <a:t>defense</a:t>
                      </a:r>
                    </a:p>
                  </a:txBody>
                  <a:tcPr marL="64008" marR="64008" marT="18288" marB="18288" anchor="ctr">
                    <a:solidFill>
                      <a:srgbClr val="FFFFFF"/>
                    </a:solidFill>
                  </a:tcPr>
                </a:tc>
                <a:tc>
                  <a:txBody>
                    <a:bodyPr wrap="square"/>
                    <a:lstStyle/>
                    <a:p>
                      <a:r>
                        <a:rPr sz="1150" b="0">
                          <a:solidFill>
                            <a:srgbClr val="2B2622"/>
                          </a:solidFill>
                          <a:latin typeface="Calibri"/>
                        </a:rPr>
                        <a:t>carry</a:t>
                      </a:r>
                    </a:p>
                  </a:txBody>
                  <a:tcPr marL="64008" marR="64008" marT="18288" marB="18288" anchor="ctr">
                    <a:solidFill>
                      <a:srgbClr val="FFFFFF"/>
                    </a:solidFill>
                  </a:tcPr>
                </a:tc>
                <a:tc>
                  <a:txBody>
                    <a:bodyPr wrap="square"/>
                    <a:lstStyle/>
                    <a:p>
                      <a:r>
                        <a:rPr sz="1150" b="0">
                          <a:solidFill>
                            <a:srgbClr val="2B2622"/>
                          </a:solidFill>
                          <a:latin typeface="Calibri"/>
                        </a:rPr>
                        <a:t>jealous</a:t>
                      </a:r>
                    </a:p>
                  </a:txBody>
                  <a:tcPr marL="64008" marR="64008" marT="18288" marB="18288" anchor="ctr">
                    <a:solidFill>
                      <a:srgbClr val="FFFFFF"/>
                    </a:solidFill>
                  </a:tcPr>
                </a:tc>
                <a:tc>
                  <a:txBody>
                    <a:bodyPr wrap="square"/>
                    <a:lstStyle/>
                    <a:p>
                      <a:r>
                        <a:rPr sz="1150" b="0">
                          <a:solidFill>
                            <a:srgbClr val="2B2622"/>
                          </a:solidFill>
                          <a:latin typeface="Calibri"/>
                        </a:rPr>
                        <a:t>true</a:t>
                      </a:r>
                    </a:p>
                  </a:txBody>
                  <a:tcPr marL="64008" marR="64008" marT="18288" marB="18288" anchor="ctr">
                    <a:solidFill>
                      <a:srgbClr val="FFFFFF"/>
                    </a:solidFill>
                  </a:tcPr>
                </a:tc>
              </a:tr>
              <a:tr h="239299">
                <a:tc>
                  <a:txBody>
                    <a:bodyPr wrap="square"/>
                    <a:lstStyle/>
                    <a:p>
                      <a:r>
                        <a:rPr sz="1150" b="1">
                          <a:solidFill>
                            <a:srgbClr val="2B2622"/>
                          </a:solidFill>
                          <a:latin typeface="Calibri"/>
                        </a:rPr>
                        <a:t>position</a:t>
                      </a:r>
                    </a:p>
                  </a:txBody>
                  <a:tcPr marL="64008" marR="64008" marT="18288" marB="18288" anchor="ctr">
                    <a:solidFill>
                      <a:srgbClr val="F2ECE1"/>
                    </a:solidFill>
                  </a:tcPr>
                </a:tc>
                <a:tc>
                  <a:txBody>
                    <a:bodyPr wrap="square"/>
                    <a:lstStyle/>
                    <a:p>
                      <a:r>
                        <a:rPr sz="1150" b="0">
                          <a:solidFill>
                            <a:srgbClr val="2B2622"/>
                          </a:solidFill>
                          <a:latin typeface="Calibri"/>
                        </a:rPr>
                        <a:t>96</a:t>
                      </a:r>
                    </a:p>
                  </a:txBody>
                  <a:tcPr marL="64008" marR="64008" marT="18288" marB="18288" anchor="ctr">
                    <a:solidFill>
                      <a:srgbClr val="F2ECE1"/>
                    </a:solidFill>
                  </a:tcPr>
                </a:tc>
                <a:tc>
                  <a:txBody>
                    <a:bodyPr wrap="square"/>
                    <a:lstStyle/>
                    <a:p>
                      <a:r>
                        <a:rPr sz="1150" b="0">
                          <a:solidFill>
                            <a:srgbClr val="2B2622"/>
                          </a:solidFill>
                          <a:latin typeface="Calibri"/>
                        </a:rPr>
                        <a:t>1929</a:t>
                      </a:r>
                    </a:p>
                  </a:txBody>
                  <a:tcPr marL="64008" marR="64008" marT="18288" marB="18288" anchor="ctr">
                    <a:solidFill>
                      <a:srgbClr val="F2ECE1"/>
                    </a:solidFill>
                  </a:tcPr>
                </a:tc>
                <a:tc>
                  <a:txBody>
                    <a:bodyPr wrap="square"/>
                    <a:lstStyle/>
                    <a:p>
                      <a:r>
                        <a:rPr sz="1150" b="0">
                          <a:solidFill>
                            <a:srgbClr val="2B2622"/>
                          </a:solidFill>
                          <a:latin typeface="Calibri"/>
                        </a:rPr>
                        <a:t>459</a:t>
                      </a:r>
                    </a:p>
                  </a:txBody>
                  <a:tcPr marL="64008" marR="64008" marT="18288" marB="18288" anchor="ctr">
                    <a:solidFill>
                      <a:srgbClr val="F2ECE1"/>
                    </a:solidFill>
                  </a:tcPr>
                </a:tc>
                <a:tc>
                  <a:txBody>
                    <a:bodyPr wrap="square"/>
                    <a:lstStyle/>
                    <a:p>
                      <a:r>
                        <a:rPr sz="1150" b="0">
                          <a:solidFill>
                            <a:srgbClr val="2B2622"/>
                          </a:solidFill>
                          <a:latin typeface="Calibri"/>
                        </a:rPr>
                        <a:t>279</a:t>
                      </a:r>
                    </a:p>
                  </a:txBody>
                  <a:tcPr marL="64008" marR="64008" marT="18288" marB="18288" anchor="ctr">
                    <a:solidFill>
                      <a:srgbClr val="F2ECE1"/>
                    </a:solidFill>
                  </a:tcPr>
                </a:tc>
                <a:tc>
                  <a:txBody>
                    <a:bodyPr wrap="square"/>
                    <a:lstStyle/>
                    <a:p>
                      <a:r>
                        <a:rPr sz="1150" b="0">
                          <a:solidFill>
                            <a:srgbClr val="2B2622"/>
                          </a:solidFill>
                          <a:latin typeface="Calibri"/>
                        </a:rPr>
                        <a:t>956</a:t>
                      </a:r>
                    </a:p>
                  </a:txBody>
                  <a:tcPr marL="64008" marR="64008" marT="18288" marB="18288" anchor="ctr">
                    <a:solidFill>
                      <a:srgbClr val="F2ECE1"/>
                    </a:solidFill>
                  </a:tcPr>
                </a:tc>
                <a:tc>
                  <a:txBody>
                    <a:bodyPr wrap="square"/>
                    <a:lstStyle/>
                    <a:p>
                      <a:r>
                        <a:rPr sz="1150" b="0">
                          <a:solidFill>
                            <a:srgbClr val="2B2622"/>
                          </a:solidFill>
                          <a:latin typeface="Calibri"/>
                        </a:rPr>
                        <a:t>1866</a:t>
                      </a:r>
                    </a:p>
                  </a:txBody>
                  <a:tcPr marL="64008" marR="64008" marT="18288" marB="18288" anchor="ctr">
                    <a:solidFill>
                      <a:srgbClr val="F2ECE1"/>
                    </a:solidFill>
                  </a:tcPr>
                </a:tc>
              </a:tr>
              <a:tr h="239299">
                <a:tc>
                  <a:txBody>
                    <a:bodyPr wrap="square"/>
                    <a:lstStyle/>
                    <a:p>
                      <a:r>
                        <a:rPr sz="1150" b="1">
                          <a:solidFill>
                            <a:srgbClr val="2B2622"/>
                          </a:solidFill>
                          <a:latin typeface="Calibri"/>
                        </a:rPr>
                        <a:t>word</a:t>
                      </a:r>
                    </a:p>
                  </a:txBody>
                  <a:tcPr marL="64008" marR="64008" marT="18288" marB="18288" anchor="ctr">
                    <a:solidFill>
                      <a:srgbClr val="FFFFFF"/>
                    </a:solidFill>
                  </a:tcPr>
                </a:tc>
                <a:tc>
                  <a:txBody>
                    <a:bodyPr wrap="square"/>
                    <a:lstStyle/>
                    <a:p>
                      <a:r>
                        <a:rPr sz="1150" b="0">
                          <a:solidFill>
                            <a:srgbClr val="2B2622"/>
                          </a:solidFill>
                          <a:latin typeface="Calibri"/>
                        </a:rPr>
                        <a:t>garbage</a:t>
                      </a:r>
                    </a:p>
                  </a:txBody>
                  <a:tcPr marL="64008" marR="64008" marT="18288" marB="18288" anchor="ctr">
                    <a:solidFill>
                      <a:srgbClr val="FFFFFF"/>
                    </a:solidFill>
                  </a:tcPr>
                </a:tc>
                <a:tc>
                  <a:txBody>
                    <a:bodyPr wrap="square"/>
                    <a:lstStyle/>
                    <a:p>
                      <a:r>
                        <a:rPr sz="1150" b="0">
                          <a:solidFill>
                            <a:srgbClr val="2B2622"/>
                          </a:solidFill>
                          <a:latin typeface="Calibri"/>
                        </a:rPr>
                        <a:t>claim</a:t>
                      </a:r>
                    </a:p>
                  </a:txBody>
                  <a:tcPr marL="64008" marR="64008" marT="18288" marB="18288" anchor="ctr">
                    <a:solidFill>
                      <a:srgbClr val="FFFFFF"/>
                    </a:solidFill>
                  </a:tcPr>
                </a:tc>
                <a:tc>
                  <a:txBody>
                    <a:bodyPr wrap="square"/>
                    <a:lstStyle/>
                    <a:p>
                      <a:r>
                        <a:rPr sz="1150" b="0">
                          <a:solidFill>
                            <a:srgbClr val="2B2622"/>
                          </a:solidFill>
                          <a:latin typeface="Calibri"/>
                        </a:rPr>
                        <a:t>echo</a:t>
                      </a:r>
                    </a:p>
                  </a:txBody>
                  <a:tcPr marL="64008" marR="64008" marT="18288" marB="18288" anchor="ctr">
                    <a:solidFill>
                      <a:srgbClr val="FFFFFF"/>
                    </a:solidFill>
                  </a:tcPr>
                </a:tc>
                <a:tc>
                  <a:txBody>
                    <a:bodyPr wrap="square"/>
                    <a:lstStyle/>
                    <a:p>
                      <a:r>
                        <a:rPr sz="1150" b="0">
                          <a:solidFill>
                            <a:srgbClr val="2B2622"/>
                          </a:solidFill>
                          <a:latin typeface="Calibri"/>
                        </a:rPr>
                        <a:t>media</a:t>
                      </a:r>
                    </a:p>
                  </a:txBody>
                  <a:tcPr marL="64008" marR="64008" marT="18288" marB="18288" anchor="ctr">
                    <a:solidFill>
                      <a:srgbClr val="FFFFFF"/>
                    </a:solidFill>
                  </a:tcPr>
                </a:tc>
                <a:tc>
                  <a:txBody>
                    <a:bodyPr wrap="square"/>
                    <a:lstStyle/>
                    <a:p>
                      <a:r>
                        <a:rPr sz="1150" b="0">
                          <a:solidFill>
                            <a:srgbClr val="2B2622"/>
                          </a:solidFill>
                          <a:latin typeface="Calibri"/>
                        </a:rPr>
                        <a:t>make</a:t>
                      </a:r>
                    </a:p>
                  </a:txBody>
                  <a:tcPr marL="64008" marR="64008" marT="18288" marB="18288" anchor="ctr">
                    <a:solidFill>
                      <a:srgbClr val="FFFFFF"/>
                    </a:solidFill>
                  </a:tcPr>
                </a:tc>
                <a:tc>
                  <a:txBody>
                    <a:bodyPr wrap="square"/>
                    <a:lstStyle/>
                    <a:p>
                      <a:r>
                        <a:rPr sz="1150" b="0">
                          <a:solidFill>
                            <a:srgbClr val="2B2622"/>
                          </a:solidFill>
                          <a:latin typeface="Calibri"/>
                        </a:rPr>
                        <a:t>crunch</a:t>
                      </a:r>
                    </a:p>
                  </a:txBody>
                  <a:tcPr marL="64008" marR="64008" marT="18288" marB="18288" anchor="ctr">
                    <a:solidFill>
                      <a:srgbClr val="FFFFFF"/>
                    </a:solidFill>
                  </a:tcPr>
                </a:tc>
              </a:tr>
              <a:tr h="239299">
                <a:tc>
                  <a:txBody>
                    <a:bodyPr wrap="square"/>
                    <a:lstStyle/>
                    <a:p>
                      <a:r>
                        <a:rPr sz="1150" b="1">
                          <a:solidFill>
                            <a:srgbClr val="2B2622"/>
                          </a:solidFill>
                          <a:latin typeface="Calibri"/>
                        </a:rPr>
                        <a:t>position</a:t>
                      </a:r>
                    </a:p>
                  </a:txBody>
                  <a:tcPr marL="64008" marR="64008" marT="18288" marB="18288" anchor="ctr">
                    <a:solidFill>
                      <a:srgbClr val="F2ECE1"/>
                    </a:solidFill>
                  </a:tcPr>
                </a:tc>
                <a:tc>
                  <a:txBody>
                    <a:bodyPr wrap="square"/>
                    <a:lstStyle/>
                    <a:p>
                      <a:r>
                        <a:rPr sz="1150" b="0">
                          <a:solidFill>
                            <a:srgbClr val="2B2622"/>
                          </a:solidFill>
                          <a:latin typeface="Calibri"/>
                        </a:rPr>
                        <a:t>764</a:t>
                      </a:r>
                    </a:p>
                  </a:txBody>
                  <a:tcPr marL="64008" marR="64008" marT="18288" marB="18288" anchor="ctr">
                    <a:solidFill>
                      <a:srgbClr val="F2ECE1"/>
                    </a:solidFill>
                  </a:tcPr>
                </a:tc>
                <a:tc>
                  <a:txBody>
                    <a:bodyPr wrap="square"/>
                    <a:lstStyle/>
                    <a:p>
                      <a:r>
                        <a:rPr sz="1150" b="0">
                          <a:solidFill>
                            <a:srgbClr val="2B2622"/>
                          </a:solidFill>
                          <a:latin typeface="Calibri"/>
                        </a:rPr>
                        <a:t>333</a:t>
                      </a:r>
                    </a:p>
                  </a:txBody>
                  <a:tcPr marL="64008" marR="64008" marT="18288" marB="18288" anchor="ctr">
                    <a:solidFill>
                      <a:srgbClr val="F2ECE1"/>
                    </a:solidFill>
                  </a:tcPr>
                </a:tc>
                <a:tc>
                  <a:txBody>
                    <a:bodyPr wrap="square"/>
                    <a:lstStyle/>
                    <a:p>
                      <a:r>
                        <a:rPr sz="1150" b="0">
                          <a:solidFill>
                            <a:srgbClr val="2B2622"/>
                          </a:solidFill>
                          <a:latin typeface="Calibri"/>
                        </a:rPr>
                        <a:t>559</a:t>
                      </a:r>
                    </a:p>
                  </a:txBody>
                  <a:tcPr marL="64008" marR="64008" marT="18288" marB="18288" anchor="ctr">
                    <a:solidFill>
                      <a:srgbClr val="F2ECE1"/>
                    </a:solidFill>
                  </a:tcPr>
                </a:tc>
                <a:tc>
                  <a:txBody>
                    <a:bodyPr wrap="square"/>
                    <a:lstStyle/>
                    <a:p>
                      <a:r>
                        <a:rPr sz="1150" b="0">
                          <a:solidFill>
                            <a:srgbClr val="2B2622"/>
                          </a:solidFill>
                          <a:latin typeface="Calibri"/>
                        </a:rPr>
                        <a:t>1107</a:t>
                      </a:r>
                    </a:p>
                  </a:txBody>
                  <a:tcPr marL="64008" marR="64008" marT="18288" marB="18288" anchor="ctr">
                    <a:solidFill>
                      <a:srgbClr val="F2ECE1"/>
                    </a:solidFill>
                  </a:tcPr>
                </a:tc>
                <a:tc>
                  <a:txBody>
                    <a:bodyPr wrap="square"/>
                    <a:lstStyle/>
                    <a:p>
                      <a:r>
                        <a:rPr sz="1150" b="0">
                          <a:solidFill>
                            <a:srgbClr val="2B2622"/>
                          </a:solidFill>
                          <a:latin typeface="Calibri"/>
                        </a:rPr>
                        <a:t>1076</a:t>
                      </a:r>
                    </a:p>
                  </a:txBody>
                  <a:tcPr marL="64008" marR="64008" marT="18288" marB="18288" anchor="ctr">
                    <a:solidFill>
                      <a:srgbClr val="F2ECE1"/>
                    </a:solidFill>
                  </a:tcPr>
                </a:tc>
                <a:tc>
                  <a:txBody>
                    <a:bodyPr wrap="square"/>
                    <a:lstStyle/>
                    <a:p>
                      <a:r>
                        <a:rPr sz="1150" b="0">
                          <a:solidFill>
                            <a:srgbClr val="2B2622"/>
                          </a:solidFill>
                          <a:latin typeface="Calibri"/>
                        </a:rPr>
                        <a:t>423</a:t>
                      </a:r>
                    </a:p>
                  </a:txBody>
                  <a:tcPr marL="64008" marR="64008" marT="18288" marB="18288" anchor="ctr">
                    <a:solidFill>
                      <a:srgbClr val="F2ECE1"/>
                    </a:solidFill>
                  </a:tcPr>
                </a:tc>
              </a:tr>
            </a:tbl>
          </a:graphicData>
        </a:graphic>
      </p:graphicFrame>
      <p:sp>
        <p:nvSpPr>
          <p:cNvPr id="14" name="reading"/>
          <p:cNvSpPr txBox="1"/>
          <p:nvPr/>
        </p:nvSpPr>
        <p:spPr>
          <a:xfrm>
            <a:off x="365760" y="4142232"/>
            <a:ext cx="8412480" cy="274320"/>
          </a:xfrm>
          <a:prstGeom prst="rect">
            <a:avLst/>
          </a:prstGeom>
          <a:noFill/>
        </p:spPr>
        <p:txBody>
          <a:bodyPr wrap="square" anchor="t" lIns="45720" rIns="45720" tIns="36576" bIns="36576">
            <a:spAutoFit/>
          </a:bodyPr>
          <a:lstStyle/>
          <a:p>
            <a:pPr algn="l"/>
            <a:r>
              <a:rPr sz="1200" b="1" i="0">
                <a:solidFill>
                  <a:srgbClr val="2F6D62"/>
                </a:solidFill>
                <a:latin typeface="Calibri"/>
              </a:rPr>
              <a:t>Word number 1 is position 96: the eleven bits 00001100000.</a:t>
            </a:r>
          </a:p>
        </p:txBody>
      </p:sp>
      <p:sp>
        <p:nvSpPr>
          <p:cNvPr id="15"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Every word is just an eleven-bit number.</a:t>
            </a:r>
          </a:p>
        </p:txBody>
      </p:sp>
      <p:sp>
        <p:nvSpPr>
          <p:cNvPr id="16"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24 / 68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7: The checksum catches a wrong word</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ent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ok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mnemonic_to_entropy</a:t>
            </a:r>
            <a:r>
              <a:rPr sz="1200" b="0" i="0">
                <a:solidFill>
                  <a:srgbClr val="E6EDF3"/>
                </a:solidFill>
                <a:latin typeface="Courier New"/>
              </a:rPr>
              <a:t>(</a:t>
            </a:r>
            <a:r>
              <a:rPr sz="1200" b="0" i="0">
                <a:solidFill>
                  <a:srgbClr val="E6EDF3"/>
                </a:solidFill>
                <a:latin typeface="Courier New"/>
              </a:rPr>
              <a:t>WORDS</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ent</a:t>
            </a:r>
            <a:r>
              <a:rPr sz="1200" b="0" i="0">
                <a:solidFill>
                  <a:srgbClr val="E6EDF3"/>
                </a:solidFill>
                <a:latin typeface="Courier New"/>
              </a:rPr>
              <a:t>.</a:t>
            </a:r>
            <a:r>
              <a:rPr sz="1200" b="0" i="0">
                <a:solidFill>
                  <a:srgbClr val="E6EDF3"/>
                </a:solidFill>
                <a:latin typeface="Courier New"/>
              </a:rPr>
              <a:t>hex</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ok</a:t>
            </a:r>
            <a:r>
              <a:rPr sz="1200" b="0" i="0">
                <a:solidFill>
                  <a:srgbClr val="E6EDF3"/>
                </a:solidFill>
                <a:latin typeface="Courier New"/>
              </a:rPr>
              <a:t>)</a:t>
            </a:r>
          </a:p>
        </p:txBody>
      </p:sp>
      <p:sp>
        <p:nvSpPr>
          <p:cNvPr id="8" name="code"/>
          <p:cNvSpPr/>
          <p:nvPr/>
        </p:nvSpPr>
        <p:spPr>
          <a:xfrm>
            <a:off x="365760" y="1683004"/>
            <a:ext cx="4727448" cy="890016"/>
          </a:xfrm>
          <a:prstGeom prst="roundRect">
            <a:avLst>
              <a:gd name="adj" fmla="val 821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bad</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WORDS</a:t>
            </a:r>
            <a:r>
              <a:rPr sz="1200" b="0" i="0">
                <a:solidFill>
                  <a:srgbClr val="E6EDF3"/>
                </a:solidFill>
                <a:latin typeface="Courier New"/>
              </a:rPr>
              <a:t>.</a:t>
            </a:r>
            <a:r>
              <a:rPr sz="1200" b="0" i="0">
                <a:solidFill>
                  <a:srgbClr val="E6EDF3"/>
                </a:solidFill>
                <a:latin typeface="Courier New"/>
              </a:rPr>
              <a:t>replace</a:t>
            </a:r>
            <a:r>
              <a:rPr sz="1200" b="0" i="0">
                <a:solidFill>
                  <a:srgbClr val="E6EDF3"/>
                </a:solidFill>
                <a:latin typeface="Courier New"/>
              </a:rPr>
              <a:t>(</a:t>
            </a:r>
            <a:r>
              <a:rPr sz="1200" b="0" i="0">
                <a:solidFill>
                  <a:srgbClr val="7EE787"/>
                </a:solidFill>
                <a:latin typeface="Courier New"/>
              </a:rPr>
              <a:t>"crunch"</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"army"</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mnemonic_to_entropy</a:t>
            </a:r>
            <a:r>
              <a:rPr sz="1200" b="0" i="0">
                <a:solidFill>
                  <a:srgbClr val="E6EDF3"/>
                </a:solidFill>
                <a:latin typeface="Courier New"/>
              </a:rPr>
              <a:t>(</a:t>
            </a:r>
            <a:r>
              <a:rPr sz="1200" b="0" i="0">
                <a:solidFill>
                  <a:srgbClr val="E6EDF3"/>
                </a:solidFill>
                <a:latin typeface="Courier New"/>
              </a:rPr>
              <a:t>bad</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1</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BIP39 checksum</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Generating a recovery code</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Decode the code back to entropy and check the last four bits.</a:t>
            </a:r>
          </a:p>
        </p:txBody>
      </p:sp>
      <p:sp>
        <p:nvSpPr>
          <p:cNvPr id="9" name="explanation"/>
          <p:cNvSpPr/>
          <p:nvPr/>
        </p:nvSpPr>
        <p:spPr>
          <a:xfrm>
            <a:off x="5074920" y="1683004"/>
            <a:ext cx="3657600" cy="890016"/>
          </a:xfrm>
          <a:prstGeom prst="roundRect">
            <a:avLst>
              <a:gd name="adj" fmla="val 821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Change the last word. The recomputed checksum no longer matches.</a:t>
            </a:r>
          </a:p>
        </p:txBody>
      </p:sp>
      <p:sp>
        <p:nvSpPr>
          <p:cNvPr id="10" name="result label"/>
          <p:cNvSpPr txBox="1"/>
          <p:nvPr/>
        </p:nvSpPr>
        <p:spPr>
          <a:xfrm>
            <a:off x="365760" y="2664460"/>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2911348"/>
          <a:ext cx="8412480" cy="987552"/>
        </p:xfrm>
        <a:graphic>
          <a:graphicData uri="http://schemas.openxmlformats.org/drawingml/2006/table">
            <a:tbl>
              <a:tblPr firstRow="1" bandRow="1">
                <a:tableStyleId>{5C22544A-7EE6-4342-B048-85BDC9FD1C3A}</a:tableStyleId>
              </a:tblPr>
              <a:tblGrid>
                <a:gridCol w="3657600"/>
                <a:gridCol w="3291840"/>
                <a:gridCol w="1463040"/>
              </a:tblGrid>
              <a:tr h="329184">
                <a:tc>
                  <a:txBody>
                    <a:bodyPr wrap="square"/>
                    <a:lstStyle/>
                    <a:p>
                      <a:r>
                        <a:rPr sz="1200" b="1">
                          <a:solidFill>
                            <a:srgbClr val="FFFFFF"/>
                          </a:solidFill>
                          <a:latin typeface="Calibri"/>
                        </a:rPr>
                        <a:t>Recovery code</a:t>
                      </a:r>
                    </a:p>
                  </a:txBody>
                  <a:tcPr marL="64008" marR="64008" marT="18288" marB="18288" anchor="ctr">
                    <a:solidFill>
                      <a:srgbClr val="2B2622"/>
                    </a:solidFill>
                  </a:tcPr>
                </a:tc>
                <a:tc>
                  <a:txBody>
                    <a:bodyPr wrap="square"/>
                    <a:lstStyle/>
                    <a:p>
                      <a:r>
                        <a:rPr sz="1200" b="1">
                          <a:solidFill>
                            <a:srgbClr val="FFFFFF"/>
                          </a:solidFill>
                          <a:latin typeface="Calibri"/>
                        </a:rPr>
                        <a:t>Entropy decoded</a:t>
                      </a:r>
                    </a:p>
                  </a:txBody>
                  <a:tcPr marL="64008" marR="64008" marT="18288" marB="18288" anchor="ctr">
                    <a:solidFill>
                      <a:srgbClr val="2B2622"/>
                    </a:solidFill>
                  </a:tcPr>
                </a:tc>
                <a:tc>
                  <a:txBody>
                    <a:bodyPr wrap="square"/>
                    <a:lstStyle/>
                    <a:p>
                      <a:r>
                        <a:rPr sz="1200" b="1">
                          <a:solidFill>
                            <a:srgbClr val="FFFFFF"/>
                          </a:solidFill>
                          <a:latin typeface="Calibri"/>
                        </a:rPr>
                        <a:t>Checksum ok?</a:t>
                      </a:r>
                    </a:p>
                  </a:txBody>
                  <a:tcPr marL="64008" marR="64008" marT="18288" marB="18288" anchor="ctr">
                    <a:solidFill>
                      <a:srgbClr val="2B2622"/>
                    </a:solidFill>
                  </a:tcPr>
                </a:tc>
              </a:tr>
              <a:tr h="329184">
                <a:tc>
                  <a:txBody>
                    <a:bodyPr wrap="square"/>
                    <a:lstStyle/>
                    <a:p>
                      <a:r>
                        <a:rPr sz="1200" b="0">
                          <a:solidFill>
                            <a:srgbClr val="2B2622"/>
                          </a:solidFill>
                          <a:latin typeface="Calibri"/>
                        </a:rPr>
                        <a:t>army van ... media make crunch</a:t>
                      </a:r>
                    </a:p>
                  </a:txBody>
                  <a:tcPr marL="64008" marR="64008" marT="18288" marB="18288" anchor="ctr">
                    <a:solidFill>
                      <a:srgbClr val="F2ECE1"/>
                    </a:solidFill>
                  </a:tcPr>
                </a:tc>
                <a:tc>
                  <a:txBody>
                    <a:bodyPr wrap="square"/>
                    <a:lstStyle/>
                    <a:p>
                      <a:r>
                        <a:rPr sz="1200" b="0">
                          <a:solidFill>
                            <a:srgbClr val="2B2622"/>
                          </a:solidFill>
                          <a:latin typeface="Courier New"/>
                        </a:rPr>
                        <a:t>0c1e24e5917779d297e14d45f14e1a1a</a:t>
                      </a:r>
                    </a:p>
                  </a:txBody>
                  <a:tcPr marL="64008" marR="64008" marT="18288" marB="18288" anchor="ctr">
                    <a:solidFill>
                      <a:srgbClr val="F2ECE1"/>
                    </a:solidFill>
                  </a:tcPr>
                </a:tc>
                <a:tc>
                  <a:txBody>
                    <a:bodyPr wrap="square"/>
                    <a:lstStyle/>
                    <a:p>
                      <a:r>
                        <a:rPr sz="1200" b="0">
                          <a:solidFill>
                            <a:srgbClr val="2B2622"/>
                          </a:solidFill>
                          <a:latin typeface="Calibri"/>
                        </a:rPr>
                        <a:t>True</a:t>
                      </a:r>
                    </a:p>
                  </a:txBody>
                  <a:tcPr marL="64008" marR="64008" marT="18288" marB="18288" anchor="ctr">
                    <a:solidFill>
                      <a:srgbClr val="F2ECE1"/>
                    </a:solidFill>
                  </a:tcPr>
                </a:tc>
              </a:tr>
              <a:tr h="329184">
                <a:tc>
                  <a:txBody>
                    <a:bodyPr wrap="square"/>
                    <a:lstStyle/>
                    <a:p>
                      <a:r>
                        <a:rPr sz="1200" b="0">
                          <a:solidFill>
                            <a:srgbClr val="2B2622"/>
                          </a:solidFill>
                          <a:latin typeface="Calibri"/>
                        </a:rPr>
                        <a:t>army van ... media make army (last word changed)</a:t>
                      </a:r>
                    </a:p>
                  </a:txBody>
                  <a:tcPr marL="64008" marR="64008" marT="18288" marB="18288" anchor="ctr">
                    <a:solidFill>
                      <a:srgbClr val="FFFFFF"/>
                    </a:solidFill>
                  </a:tcPr>
                </a:tc>
                <a:tc>
                  <a:txBody>
                    <a:bodyPr wrap="square"/>
                    <a:lstStyle/>
                    <a:p>
                      <a:r>
                        <a:rPr sz="1200" b="0">
                          <a:solidFill>
                            <a:srgbClr val="2B2622"/>
                          </a:solidFill>
                          <a:latin typeface="Courier New"/>
                        </a:rPr>
                        <a:t>not trusted</a:t>
                      </a:r>
                    </a:p>
                  </a:txBody>
                  <a:tcPr marL="64008" marR="64008" marT="18288" marB="18288" anchor="ctr">
                    <a:solidFill>
                      <a:srgbClr val="FFFFFF"/>
                    </a:solidFill>
                  </a:tcPr>
                </a:tc>
                <a:tc>
                  <a:txBody>
                    <a:bodyPr wrap="square"/>
                    <a:lstStyle/>
                    <a:p>
                      <a:r>
                        <a:rPr sz="1200" b="0">
                          <a:solidFill>
                            <a:srgbClr val="2B2622"/>
                          </a:solidFill>
                          <a:latin typeface="Calibri"/>
                        </a:rPr>
                        <a:t>False</a:t>
                      </a:r>
                    </a:p>
                  </a:txBody>
                  <a:tcPr marL="64008" marR="64008" marT="18288" marB="18288" anchor="ctr">
                    <a:solidFill>
                      <a:srgbClr val="FFFFFF"/>
                    </a:solidFill>
                  </a:tcPr>
                </a:tc>
              </a:tr>
            </a:tbl>
          </a:graphicData>
        </a:graphic>
      </p:graphicFrame>
      <p:sp>
        <p:nvSpPr>
          <p:cNvPr id="1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checksum turns a silent typo into a loud error.</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25 / 68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8: Text is normalised before stretching</a:t>
            </a:r>
          </a:p>
        </p:txBody>
      </p:sp>
      <p:sp>
        <p:nvSpPr>
          <p:cNvPr id="6" name="code"/>
          <p:cNvSpPr/>
          <p:nvPr/>
        </p:nvSpPr>
        <p:spPr>
          <a:xfrm>
            <a:off x="365760" y="1097280"/>
            <a:ext cx="4727448" cy="499871"/>
          </a:xfrm>
          <a:prstGeom prst="roundRect">
            <a:avLst>
              <a:gd name="adj" fmla="val 14634"/>
            </a:avLst>
          </a:prstGeom>
          <a:solidFill>
            <a:srgbClr val="23272E"/>
          </a:solidFill>
          <a:ln>
            <a:solidFill>
              <a:srgbClr val="23272E"/>
            </a:solidFill>
          </a:ln>
        </p:spPr>
        <p:txBody>
          <a:bodyPr rtlCol="0" anchor="ctr" wrap="none" tIns="36576" bIns="36576"/>
          <a:lstStyle/>
          <a:p>
            <a:pPr algn="l"/>
            <a:r>
              <a:rPr sz="1100" b="0" i="0">
                <a:solidFill>
                  <a:srgbClr val="8A9B94"/>
                </a:solidFill>
                <a:latin typeface="Courier New"/>
              </a:rPr>
              <a:t>&gt;&gt;&gt; </a:t>
            </a:r>
            <a:r>
              <a:rPr sz="1100" b="0" i="0">
                <a:solidFill>
                  <a:srgbClr val="E6EDF3"/>
                </a:solidFill>
                <a:latin typeface="Courier New"/>
              </a:rPr>
              <a:t>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EE787"/>
                </a:solidFill>
                <a:latin typeface="Courier New"/>
              </a:rPr>
              <a:t>"caf\u00e9"</a:t>
            </a:r>
          </a:p>
          <a:p>
            <a:pPr algn="l"/>
            <a:r>
              <a:rPr sz="1100" b="0" i="0">
                <a:solidFill>
                  <a:srgbClr val="8A9B94"/>
                </a:solidFill>
                <a:latin typeface="Courier New"/>
              </a:rPr>
              <a:t>&gt;&gt;&gt; </a:t>
            </a:r>
            <a:r>
              <a:rPr sz="1100" b="0" i="0">
                <a:solidFill>
                  <a:srgbClr val="E6EDF3"/>
                </a:solidFill>
                <a:latin typeface="Courier New"/>
              </a:rPr>
              <a:t>n</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unicodedata</a:t>
            </a:r>
            <a:r>
              <a:rPr sz="1100" b="0" i="0">
                <a:solidFill>
                  <a:srgbClr val="E6EDF3"/>
                </a:solidFill>
                <a:latin typeface="Courier New"/>
              </a:rPr>
              <a:t>.</a:t>
            </a:r>
            <a:r>
              <a:rPr sz="1100" b="0" i="0">
                <a:solidFill>
                  <a:srgbClr val="E6EDF3"/>
                </a:solidFill>
                <a:latin typeface="Courier New"/>
              </a:rPr>
              <a:t>normalize</a:t>
            </a:r>
            <a:r>
              <a:rPr sz="1100" b="0" i="0">
                <a:solidFill>
                  <a:srgbClr val="E6EDF3"/>
                </a:solidFill>
                <a:latin typeface="Courier New"/>
              </a:rPr>
              <a:t>(</a:t>
            </a:r>
            <a:r>
              <a:rPr sz="1100" b="0" i="0">
                <a:solidFill>
                  <a:srgbClr val="7EE787"/>
                </a:solidFill>
                <a:latin typeface="Courier New"/>
              </a:rPr>
              <a:t>"NFKD"</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a:t>
            </a:r>
            <a:r>
              <a:rPr sz="1100" b="0" i="0">
                <a:solidFill>
                  <a:srgbClr val="E6EDF3"/>
                </a:solidFill>
                <a:latin typeface="Courier New"/>
              </a:rPr>
              <a:t>)</a:t>
            </a:r>
          </a:p>
        </p:txBody>
      </p:sp>
      <p:sp>
        <p:nvSpPr>
          <p:cNvPr id="8" name="code"/>
          <p:cNvSpPr/>
          <p:nvPr/>
        </p:nvSpPr>
        <p:spPr>
          <a:xfrm>
            <a:off x="365760" y="1652016"/>
            <a:ext cx="4727448" cy="828040"/>
          </a:xfrm>
          <a:prstGeom prst="roundRect">
            <a:avLst>
              <a:gd name="adj" fmla="val 8834"/>
            </a:avLst>
          </a:prstGeom>
          <a:solidFill>
            <a:srgbClr val="23272E"/>
          </a:solidFill>
          <a:ln>
            <a:solidFill>
              <a:srgbClr val="23272E"/>
            </a:solidFill>
          </a:ln>
        </p:spPr>
        <p:txBody>
          <a:bodyPr rtlCol="0" anchor="ctr" wrap="none" tIns="36576" bIns="36576"/>
          <a:lstStyle/>
          <a:p>
            <a:pPr algn="l"/>
            <a:r>
              <a:rPr sz="1100" b="0" i="0">
                <a:solidFill>
                  <a:srgbClr val="8A9B94"/>
                </a:solidFill>
                <a:latin typeface="Courier New"/>
              </a:rPr>
              <a:t>&gt;&gt;&gt; </a:t>
            </a:r>
            <a:r>
              <a:rPr sz="1100" b="0" i="0">
                <a:solidFill>
                  <a:srgbClr val="FFA657"/>
                </a:solidFill>
                <a:latin typeface="Courier New"/>
              </a:rPr>
              <a:t>print</a:t>
            </a:r>
            <a:r>
              <a:rPr sz="1100" b="0" i="0">
                <a:solidFill>
                  <a:srgbClr val="E6EDF3"/>
                </a:solidFill>
                <a:latin typeface="Courier New"/>
              </a:rPr>
              <a:t>(</a:t>
            </a:r>
            <a:r>
              <a:rPr sz="1100" b="0" i="0">
                <a:solidFill>
                  <a:srgbClr val="FFA657"/>
                </a:solidFill>
                <a:latin typeface="Courier New"/>
              </a:rPr>
              <a:t>len</a:t>
            </a:r>
            <a:r>
              <a:rPr sz="1100" b="0" i="0">
                <a:solidFill>
                  <a:srgbClr val="E6EDF3"/>
                </a:solidFill>
                <a:latin typeface="Courier New"/>
              </a:rPr>
              <a:t>(</a:t>
            </a:r>
            <a:r>
              <a:rPr sz="1100" b="0" i="0">
                <a:solidFill>
                  <a:srgbClr val="E6EDF3"/>
                </a:solidFill>
                <a:latin typeface="Courier New"/>
              </a:rPr>
              <a:t>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FFA657"/>
                </a:solidFill>
                <a:latin typeface="Courier New"/>
              </a:rPr>
              <a:t>len</a:t>
            </a:r>
            <a:r>
              <a:rPr sz="1100" b="0" i="0">
                <a:solidFill>
                  <a:srgbClr val="E6EDF3"/>
                </a:solidFill>
                <a:latin typeface="Courier New"/>
              </a:rPr>
              <a:t>(</a:t>
            </a:r>
            <a:r>
              <a:rPr sz="1100" b="0" i="0">
                <a:solidFill>
                  <a:srgbClr val="E6EDF3"/>
                </a:solidFill>
                <a:latin typeface="Courier New"/>
              </a:rPr>
              <a:t>n</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FFA657"/>
                </a:solidFill>
                <a:latin typeface="Courier New"/>
              </a:rPr>
              <a:t>print</a:t>
            </a:r>
            <a:r>
              <a:rPr sz="1100" b="0" i="0">
                <a:solidFill>
                  <a:srgbClr val="E6EDF3"/>
                </a:solidFill>
                <a:latin typeface="Courier New"/>
              </a:rPr>
              <a:t>(</a:t>
            </a:r>
            <a:r>
              <a:rPr sz="1100" b="0" i="0">
                <a:solidFill>
                  <a:srgbClr val="E6EDF3"/>
                </a:solidFill>
                <a:latin typeface="Courier New"/>
              </a:rPr>
              <a:t>mnemonic_to_seed</a:t>
            </a:r>
            <a:r>
              <a:rPr sz="1100" b="0" i="0">
                <a:solidFill>
                  <a:srgbClr val="E6EDF3"/>
                </a:solidFill>
                <a:latin typeface="Courier New"/>
              </a:rPr>
              <a:t>(</a:t>
            </a:r>
            <a:r>
              <a:rPr sz="1100" b="0" i="0">
                <a:solidFill>
                  <a:srgbClr val="E6EDF3"/>
                </a:solidFill>
                <a:latin typeface="Courier New"/>
              </a:rPr>
              <a:t>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mnemonic_to_seed</a:t>
            </a:r>
            <a:r>
              <a:rPr sz="1100" b="0" i="0">
                <a:solidFill>
                  <a:srgbClr val="E6EDF3"/>
                </a:solidFill>
                <a:latin typeface="Courier New"/>
              </a:rPr>
              <a:t>(</a:t>
            </a:r>
            <a:r>
              <a:rPr sz="1100" b="0" i="0">
                <a:solidFill>
                  <a:srgbClr val="E6EDF3"/>
                </a:solidFill>
                <a:latin typeface="Courier New"/>
              </a:rPr>
              <a:t>n</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E6EDF3"/>
                </a:solidFill>
                <a:latin typeface="Courier New"/>
              </a:rPr>
              <a:t>__import__</a:t>
            </a:r>
            <a:r>
              <a:rPr sz="1100" b="0" i="0">
                <a:solidFill>
                  <a:srgbClr val="E6EDF3"/>
                </a:solidFill>
                <a:latin typeface="Courier New"/>
              </a:rPr>
              <a:t>(</a:t>
            </a:r>
            <a:r>
              <a:rPr sz="1100" b="0" i="0">
                <a:solidFill>
                  <a:srgbClr val="7EE787"/>
                </a:solidFill>
                <a:latin typeface="Courier New"/>
              </a:rPr>
              <a:t>"sys"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version_info</a:t>
            </a:r>
            <a:r>
              <a:rPr sz="1100" b="0" i="0">
                <a:solidFill>
                  <a:srgbClr val="E6EDF3"/>
                </a:solidFill>
                <a:latin typeface="Courier New"/>
              </a:rPr>
              <a:t>[</a:t>
            </a:r>
            <a:r>
              <a:rPr sz="1100" b="0" i="0">
                <a:solidFill>
                  <a:srgbClr val="E6EDF3"/>
                </a:solidFill>
                <a:latin typeface="Courier New"/>
              </a:rPr>
              <a:t>:</a:t>
            </a:r>
            <a:r>
              <a:rPr sz="1100" b="0" i="0">
                <a:solidFill>
                  <a:srgbClr val="79C0FF"/>
                </a:solidFill>
                <a:latin typeface="Courier New"/>
              </a:rPr>
              <a:t>2</a:t>
            </a:r>
            <a:r>
              <a:rPr sz="1100" b="0" i="0">
                <a:solidFill>
                  <a:srgbClr val="E6EDF3"/>
                </a:solidFill>
                <a:latin typeface="Courier New"/>
              </a:rPr>
              <a:t>]</a:t>
            </a:r>
          </a:p>
          <a:p>
            <a:pPr algn="l"/>
            <a:r>
              <a:rPr sz="11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Text normalisation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From recovery code to seed</a:t>
            </a:r>
          </a:p>
        </p:txBody>
      </p:sp>
      <p:sp>
        <p:nvSpPr>
          <p:cNvPr id="7" name="explanation"/>
          <p:cNvSpPr/>
          <p:nvPr/>
        </p:nvSpPr>
        <p:spPr>
          <a:xfrm>
            <a:off x="5074920" y="1097280"/>
            <a:ext cx="3657600" cy="499871"/>
          </a:xfrm>
          <a:prstGeom prst="roundRect">
            <a:avLst>
              <a:gd name="adj" fmla="val 14634"/>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The same word can be one character or two: e-acute, or e plus an accent.</a:t>
            </a:r>
          </a:p>
        </p:txBody>
      </p:sp>
      <p:sp>
        <p:nvSpPr>
          <p:cNvPr id="9" name="explanation"/>
          <p:cNvSpPr/>
          <p:nvPr/>
        </p:nvSpPr>
        <p:spPr>
          <a:xfrm>
            <a:off x="5074920" y="1652016"/>
            <a:ext cx="3657600" cy="828040"/>
          </a:xfrm>
          <a:prstGeom prst="roundRect">
            <a:avLst>
              <a:gd name="adj" fmla="val 8834"/>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Normalising makes both spellings give the same seed on every device.</a:t>
            </a:r>
          </a:p>
        </p:txBody>
      </p:sp>
      <p:sp>
        <p:nvSpPr>
          <p:cNvPr id="10" name="result label"/>
          <p:cNvSpPr txBox="1"/>
          <p:nvPr/>
        </p:nvSpPr>
        <p:spPr>
          <a:xfrm>
            <a:off x="365760" y="257149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2818384"/>
          <a:ext cx="8412480" cy="987552"/>
        </p:xfrm>
        <a:graphic>
          <a:graphicData uri="http://schemas.openxmlformats.org/drawingml/2006/table">
            <a:tbl>
              <a:tblPr firstRow="1" bandRow="1">
                <a:tableStyleId>{5C22544A-7EE6-4342-B048-85BDC9FD1C3A}</a:tableStyleId>
              </a:tblPr>
              <a:tblGrid>
                <a:gridCol w="4206240"/>
                <a:gridCol w="1828800"/>
                <a:gridCol w="2377440"/>
              </a:tblGrid>
              <a:tr h="329184">
                <a:tc>
                  <a:txBody>
                    <a:bodyPr wrap="square"/>
                    <a:lstStyle/>
                    <a:p>
                      <a:r>
                        <a:rPr sz="1200" b="1">
                          <a:solidFill>
                            <a:srgbClr val="FFFFFF"/>
                          </a:solidFill>
                          <a:latin typeface="Calibri"/>
                        </a:rPr>
                        <a:t>Spelling of the word</a:t>
                      </a:r>
                    </a:p>
                  </a:txBody>
                  <a:tcPr marL="64008" marR="64008" marT="18288" marB="18288" anchor="ctr">
                    <a:solidFill>
                      <a:srgbClr val="2B2622"/>
                    </a:solidFill>
                  </a:tcPr>
                </a:tc>
                <a:tc>
                  <a:txBody>
                    <a:bodyPr wrap="square"/>
                    <a:lstStyle/>
                    <a:p>
                      <a:r>
                        <a:rPr sz="1200" b="1">
                          <a:solidFill>
                            <a:srgbClr val="FFFFFF"/>
                          </a:solidFill>
                          <a:latin typeface="Calibri"/>
                        </a:rPr>
                        <a:t>Characters</a:t>
                      </a:r>
                    </a:p>
                  </a:txBody>
                  <a:tcPr marL="64008" marR="64008" marT="18288" marB="18288" anchor="ctr">
                    <a:solidFill>
                      <a:srgbClr val="2B2622"/>
                    </a:solidFill>
                  </a:tcPr>
                </a:tc>
                <a:tc>
                  <a:txBody>
                    <a:bodyPr wrap="square"/>
                    <a:lstStyle/>
                    <a:p>
                      <a:r>
                        <a:rPr sz="1200" b="1">
                          <a:solidFill>
                            <a:srgbClr val="FFFFFF"/>
                          </a:solidFill>
                          <a:latin typeface="Calibri"/>
                        </a:rPr>
                        <a:t>Same seed?</a:t>
                      </a:r>
                    </a:p>
                  </a:txBody>
                  <a:tcPr marL="64008" marR="64008" marT="18288" marB="18288" anchor="ctr">
                    <a:solidFill>
                      <a:srgbClr val="2B2622"/>
                    </a:solidFill>
                  </a:tcPr>
                </a:tc>
              </a:tr>
              <a:tr h="329184">
                <a:tc>
                  <a:txBody>
                    <a:bodyPr wrap="square"/>
                    <a:lstStyle/>
                    <a:p>
                      <a:r>
                        <a:rPr sz="1200" b="0">
                          <a:solidFill>
                            <a:srgbClr val="2B2622"/>
                          </a:solidFill>
                          <a:latin typeface="Calibri"/>
                        </a:rPr>
                        <a:t>as typed: e-acute is one character</a:t>
                      </a:r>
                    </a:p>
                  </a:txBody>
                  <a:tcPr marL="64008" marR="64008" marT="18288" marB="18288" anchor="ctr">
                    <a:solidFill>
                      <a:srgbClr val="F2ECE1"/>
                    </a:solidFill>
                  </a:tcPr>
                </a:tc>
                <a:tc>
                  <a:txBody>
                    <a:bodyPr wrap="square"/>
                    <a:lstStyle/>
                    <a:p>
                      <a:r>
                        <a:rPr sz="1200" b="0">
                          <a:solidFill>
                            <a:srgbClr val="2B2622"/>
                          </a:solidFill>
                          <a:latin typeface="Calibri"/>
                        </a:rPr>
                        <a:t>4</a:t>
                      </a:r>
                    </a:p>
                  </a:txBody>
                  <a:tcPr marL="64008" marR="64008" marT="18288" marB="18288" anchor="ctr">
                    <a:solidFill>
                      <a:srgbClr val="F2ECE1"/>
                    </a:solidFill>
                  </a:tcPr>
                </a:tc>
                <a:tc>
                  <a:txBody>
                    <a:bodyPr wrap="square"/>
                    <a:lstStyle/>
                    <a:p>
                      <a:r>
                        <a:rPr sz="1200" b="0">
                          <a:solidFill>
                            <a:srgbClr val="2B2622"/>
                          </a:solidFill>
                          <a:latin typeface="Calibri"/>
                        </a:rPr>
                        <a:t>-</a:t>
                      </a:r>
                    </a:p>
                  </a:txBody>
                  <a:tcPr marL="64008" marR="64008" marT="18288" marB="18288" anchor="ctr">
                    <a:solidFill>
                      <a:srgbClr val="F2ECE1"/>
                    </a:solidFill>
                  </a:tcPr>
                </a:tc>
              </a:tr>
              <a:tr h="329184">
                <a:tc>
                  <a:txBody>
                    <a:bodyPr wrap="square"/>
                    <a:lstStyle/>
                    <a:p>
                      <a:r>
                        <a:rPr sz="1200" b="0">
                          <a:solidFill>
                            <a:srgbClr val="2B2622"/>
                          </a:solidFill>
                          <a:latin typeface="Calibri"/>
                        </a:rPr>
                        <a:t>after normalising: e plus an accent</a:t>
                      </a:r>
                    </a:p>
                  </a:txBody>
                  <a:tcPr marL="64008" marR="64008" marT="18288" marB="18288" anchor="ctr">
                    <a:solidFill>
                      <a:srgbClr val="FFFFFF"/>
                    </a:solidFill>
                  </a:tcPr>
                </a:tc>
                <a:tc>
                  <a:txBody>
                    <a:bodyPr wrap="square"/>
                    <a:lstStyle/>
                    <a:p>
                      <a:r>
                        <a:rPr sz="1200" b="0">
                          <a:solidFill>
                            <a:srgbClr val="2B2622"/>
                          </a:solidFill>
                          <a:latin typeface="Calibri"/>
                        </a:rPr>
                        <a:t>5</a:t>
                      </a:r>
                    </a:p>
                  </a:txBody>
                  <a:tcPr marL="64008" marR="64008" marT="18288" marB="18288" anchor="ctr">
                    <a:solidFill>
                      <a:srgbClr val="FFFFFF"/>
                    </a:solidFill>
                  </a:tcPr>
                </a:tc>
                <a:tc>
                  <a:txBody>
                    <a:bodyPr wrap="square"/>
                    <a:lstStyle/>
                    <a:p>
                      <a:r>
                        <a:rPr sz="1200" b="0">
                          <a:solidFill>
                            <a:srgbClr val="2B2622"/>
                          </a:solidFill>
                          <a:latin typeface="Calibri"/>
                        </a:rPr>
                        <a:t>True</a:t>
                      </a:r>
                    </a:p>
                  </a:txBody>
                  <a:tcPr marL="64008" marR="64008" marT="18288" marB="18288" anchor="ctr">
                    <a:solidFill>
                      <a:srgbClr val="FFFFFF"/>
                    </a:solidFill>
                  </a:tcPr>
                </a:tc>
              </a:tr>
            </a:tbl>
          </a:graphicData>
        </a:graphic>
      </p:graphicFrame>
      <p:sp>
        <p:nvSpPr>
          <p:cNvPr id="1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Normalise first, so one phrase gives one seed.</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26 / 68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9: PBKDF2 stretches the words with a salt</a:t>
            </a:r>
          </a:p>
        </p:txBody>
      </p:sp>
      <p:sp>
        <p:nvSpPr>
          <p:cNvPr id="6" name="code"/>
          <p:cNvSpPr/>
          <p:nvPr/>
        </p:nvSpPr>
        <p:spPr>
          <a:xfrm>
            <a:off x="365760" y="1097280"/>
            <a:ext cx="4727448" cy="828040"/>
          </a:xfrm>
          <a:prstGeom prst="roundRect">
            <a:avLst>
              <a:gd name="adj" fmla="val 8834"/>
            </a:avLst>
          </a:prstGeom>
          <a:solidFill>
            <a:srgbClr val="23272E"/>
          </a:solidFill>
          <a:ln>
            <a:solidFill>
              <a:srgbClr val="23272E"/>
            </a:solidFill>
          </a:ln>
        </p:spPr>
        <p:txBody>
          <a:bodyPr rtlCol="0" anchor="ctr" wrap="none" tIns="36576" bIns="36576"/>
          <a:lstStyle/>
          <a:p>
            <a:pPr algn="l"/>
            <a:r>
              <a:rPr sz="1100" b="0" i="0">
                <a:solidFill>
                  <a:srgbClr val="8A9B94"/>
                </a:solidFill>
                <a:latin typeface="Courier New"/>
              </a:rPr>
              <a:t>&gt;&gt;&gt; </a:t>
            </a:r>
            <a:r>
              <a:rPr sz="1100" b="0" i="0">
                <a:solidFill>
                  <a:srgbClr val="FFA657"/>
                </a:solidFill>
                <a:latin typeface="Courier New"/>
              </a:rPr>
              <a:t>def</a:t>
            </a:r>
            <a:r>
              <a:rPr sz="1100" b="0" i="0">
                <a:solidFill>
                  <a:srgbClr val="E6EDF3"/>
                </a:solidFill>
                <a:latin typeface="Courier New"/>
              </a:rPr>
              <a:t> </a:t>
            </a:r>
            <a:r>
              <a:rPr sz="1100" b="0" i="0">
                <a:solidFill>
                  <a:srgbClr val="E6EDF3"/>
                </a:solidFill>
                <a:latin typeface="Courier New"/>
              </a:rPr>
              <a:t>stretch</a:t>
            </a:r>
            <a:r>
              <a:rPr sz="1100" b="0" i="0">
                <a:solidFill>
                  <a:srgbClr val="E6EDF3"/>
                </a:solidFill>
                <a:latin typeface="Courier New"/>
              </a:rPr>
              <a:t>(</a:t>
            </a:r>
            <a:r>
              <a:rPr sz="1100" b="0" i="0">
                <a:solidFill>
                  <a:srgbClr val="E6EDF3"/>
                </a:solidFill>
                <a:latin typeface="Courier New"/>
              </a:rPr>
              <a:t>salt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rounds</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E6EDF3"/>
                </a:solidFill>
                <a:latin typeface="Courier New"/>
              </a:rPr>
              <a:t>    </a:t>
            </a:r>
            <a:r>
              <a:rPr sz="1100" b="0" i="0">
                <a:solidFill>
                  <a:srgbClr val="E6EDF3"/>
                </a:solidFill>
                <a:latin typeface="Courier New"/>
              </a:rPr>
              <a:t>d</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hashlib</a:t>
            </a:r>
            <a:r>
              <a:rPr sz="1100" b="0" i="0">
                <a:solidFill>
                  <a:srgbClr val="E6EDF3"/>
                </a:solidFill>
                <a:latin typeface="Courier New"/>
              </a:rPr>
              <a:t>.</a:t>
            </a:r>
            <a:r>
              <a:rPr sz="1100" b="0" i="0">
                <a:solidFill>
                  <a:srgbClr val="E6EDF3"/>
                </a:solidFill>
                <a:latin typeface="Courier New"/>
              </a:rPr>
              <a:t>pbkdf2_hmac</a:t>
            </a:r>
            <a:r>
              <a:rPr sz="1100" b="0" i="0">
                <a:solidFill>
                  <a:srgbClr val="E6EDF3"/>
                </a:solidFill>
                <a:latin typeface="Courier New"/>
              </a:rPr>
              <a:t>(</a:t>
            </a:r>
          </a:p>
          <a:p>
            <a:pPr algn="l"/>
            <a:r>
              <a:rPr sz="1100" b="0" i="0">
                <a:solidFill>
                  <a:srgbClr val="8A9B94"/>
                </a:solidFill>
                <a:latin typeface="Courier New"/>
              </a:rPr>
              <a:t>&gt;&gt;&gt; </a:t>
            </a:r>
            <a:r>
              <a:rPr sz="1100" b="0" i="0">
                <a:solidFill>
                  <a:srgbClr val="E6EDF3"/>
                </a:solidFill>
                <a:latin typeface="Courier New"/>
              </a:rPr>
              <a:t>        </a:t>
            </a:r>
            <a:r>
              <a:rPr sz="1100" b="0" i="0">
                <a:solidFill>
                  <a:srgbClr val="7EE787"/>
                </a:solidFill>
                <a:latin typeface="Courier New"/>
              </a:rPr>
              <a:t>"sha512"</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WORDS</a:t>
            </a:r>
            <a:r>
              <a:rPr sz="1100" b="0" i="0">
                <a:solidFill>
                  <a:srgbClr val="E6EDF3"/>
                </a:solidFill>
                <a:latin typeface="Courier New"/>
              </a:rPr>
              <a:t>.</a:t>
            </a:r>
            <a:r>
              <a:rPr sz="1100" b="0" i="0">
                <a:solidFill>
                  <a:srgbClr val="E6EDF3"/>
                </a:solidFill>
                <a:latin typeface="Courier New"/>
              </a:rPr>
              <a:t>encode</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salt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rounds</a:t>
            </a:r>
            <a:r>
              <a:rPr sz="1100" b="0" i="0">
                <a:solidFill>
                  <a:srgbClr val="E6EDF3"/>
                </a:solidFill>
                <a:latin typeface="Courier New"/>
              </a:rPr>
              <a:t>)</a:t>
            </a:r>
          </a:p>
          <a:p>
            <a:pPr algn="l"/>
            <a:r>
              <a:rPr sz="1100" b="0" i="0">
                <a:solidFill>
                  <a:srgbClr val="8A9B94"/>
                </a:solidFill>
                <a:latin typeface="Courier New"/>
              </a:rPr>
              <a:t>&gt;&gt;&gt; </a:t>
            </a:r>
            <a:r>
              <a:rPr sz="1100" b="0" i="0">
                <a:solidFill>
                  <a:srgbClr val="E6EDF3"/>
                </a:solidFill>
                <a:latin typeface="Courier New"/>
              </a:rPr>
              <a:t>    </a:t>
            </a:r>
            <a:r>
              <a:rPr sz="1100" b="0" i="0">
                <a:solidFill>
                  <a:srgbClr val="FFA657"/>
                </a:solidFill>
                <a:latin typeface="Courier New"/>
              </a:rPr>
              <a:t>return</a:t>
            </a:r>
            <a:r>
              <a:rPr sz="1100" b="0" i="0">
                <a:solidFill>
                  <a:srgbClr val="E6EDF3"/>
                </a:solidFill>
                <a:latin typeface="Courier New"/>
              </a:rPr>
              <a:t> </a:t>
            </a:r>
            <a:r>
              <a:rPr sz="1100" b="0" i="0">
                <a:solidFill>
                  <a:srgbClr val="E6EDF3"/>
                </a:solidFill>
                <a:latin typeface="Courier New"/>
              </a:rPr>
              <a:t>d</a:t>
            </a:r>
            <a:r>
              <a:rPr sz="1100" b="0" i="0">
                <a:solidFill>
                  <a:srgbClr val="E6EDF3"/>
                </a:solidFill>
                <a:latin typeface="Courier New"/>
              </a:rPr>
              <a:t>.</a:t>
            </a:r>
            <a:r>
              <a:rPr sz="1100" b="0" i="0">
                <a:solidFill>
                  <a:srgbClr val="E6EDF3"/>
                </a:solidFill>
                <a:latin typeface="Courier New"/>
              </a:rPr>
              <a:t>hex</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79C0FF"/>
                </a:solidFill>
                <a:latin typeface="Courier New"/>
              </a:rPr>
              <a:t>12</a:t>
            </a:r>
            <a:r>
              <a:rPr sz="1100" b="0" i="0">
                <a:solidFill>
                  <a:srgbClr val="E6EDF3"/>
                </a:solidFill>
                <a:latin typeface="Courier New"/>
              </a:rPr>
              <a:t>]</a:t>
            </a:r>
          </a:p>
        </p:txBody>
      </p:sp>
      <p:sp>
        <p:nvSpPr>
          <p:cNvPr id="8" name="code"/>
          <p:cNvSpPr/>
          <p:nvPr/>
        </p:nvSpPr>
        <p:spPr>
          <a:xfrm>
            <a:off x="365760" y="1980184"/>
            <a:ext cx="4727448" cy="998474"/>
          </a:xfrm>
          <a:prstGeom prst="roundRect">
            <a:avLst>
              <a:gd name="adj" fmla="val 7326"/>
            </a:avLst>
          </a:prstGeom>
          <a:solidFill>
            <a:srgbClr val="23272E"/>
          </a:solidFill>
          <a:ln>
            <a:solidFill>
              <a:srgbClr val="23272E"/>
            </a:solidFill>
          </a:ln>
        </p:spPr>
        <p:txBody>
          <a:bodyPr rtlCol="0" anchor="ctr" wrap="none" tIns="36576" bIns="36576"/>
          <a:lstStyle/>
          <a:p>
            <a:pPr algn="l"/>
            <a:r>
              <a:rPr sz="1100" b="0" i="0">
                <a:solidFill>
                  <a:srgbClr val="8A9B94"/>
                </a:solidFill>
                <a:latin typeface="Courier New"/>
              </a:rPr>
              <a:t>&gt;&gt;&gt; </a:t>
            </a:r>
            <a:r>
              <a:rPr sz="1100" b="0" i="0">
                <a:solidFill>
                  <a:srgbClr val="FFA657"/>
                </a:solidFill>
                <a:latin typeface="Courier New"/>
              </a:rPr>
              <a:t>print</a:t>
            </a:r>
            <a:r>
              <a:rPr sz="1100" b="0" i="0">
                <a:solidFill>
                  <a:srgbClr val="E6EDF3"/>
                </a:solidFill>
                <a:latin typeface="Courier New"/>
              </a:rPr>
              <a:t>(</a:t>
            </a:r>
            <a:r>
              <a:rPr sz="1100" b="0" i="0">
                <a:solidFill>
                  <a:srgbClr val="E6EDF3"/>
                </a:solidFill>
                <a:latin typeface="Courier New"/>
              </a:rPr>
              <a:t>stretch</a:t>
            </a:r>
            <a:r>
              <a:rPr sz="1100" b="0" i="0">
                <a:solidFill>
                  <a:srgbClr val="E6EDF3"/>
                </a:solidFill>
                <a:latin typeface="Courier New"/>
              </a:rPr>
              <a:t>(</a:t>
            </a:r>
            <a:r>
              <a:rPr sz="1100" b="0" i="0">
                <a:solidFill>
                  <a:srgbClr val="7EE787"/>
                </a:solidFill>
                <a:latin typeface="Courier New"/>
              </a:rPr>
              <a:t>b"mnemonic"</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1</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FFA657"/>
                </a:solidFill>
                <a:latin typeface="Courier New"/>
              </a:rPr>
              <a:t>print</a:t>
            </a:r>
            <a:r>
              <a:rPr sz="1100" b="0" i="0">
                <a:solidFill>
                  <a:srgbClr val="E6EDF3"/>
                </a:solidFill>
                <a:latin typeface="Courier New"/>
              </a:rPr>
              <a:t>(</a:t>
            </a:r>
            <a:r>
              <a:rPr sz="1100" b="0" i="0">
                <a:solidFill>
                  <a:srgbClr val="E6EDF3"/>
                </a:solidFill>
                <a:latin typeface="Courier New"/>
              </a:rPr>
              <a:t>stretch</a:t>
            </a:r>
            <a:r>
              <a:rPr sz="1100" b="0" i="0">
                <a:solidFill>
                  <a:srgbClr val="E6EDF3"/>
                </a:solidFill>
                <a:latin typeface="Courier New"/>
              </a:rPr>
              <a:t>(</a:t>
            </a:r>
            <a:r>
              <a:rPr sz="1100" b="0" i="0">
                <a:solidFill>
                  <a:srgbClr val="7EE787"/>
                </a:solidFill>
                <a:latin typeface="Courier New"/>
              </a:rPr>
              <a:t>b"mnemonic"</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2048</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FFA657"/>
                </a:solidFill>
                <a:latin typeface="Courier New"/>
              </a:rPr>
              <a:t>print</a:t>
            </a:r>
            <a:r>
              <a:rPr sz="1100" b="0" i="0">
                <a:solidFill>
                  <a:srgbClr val="E6EDF3"/>
                </a:solidFill>
                <a:latin typeface="Courier New"/>
              </a:rPr>
              <a:t>(</a:t>
            </a:r>
            <a:r>
              <a:rPr sz="1100" b="0" i="0">
                <a:solidFill>
                  <a:srgbClr val="E6EDF3"/>
                </a:solidFill>
                <a:latin typeface="Courier New"/>
              </a:rPr>
              <a:t>stretch</a:t>
            </a:r>
            <a:r>
              <a:rPr sz="1100" b="0" i="0">
                <a:solidFill>
                  <a:srgbClr val="E6EDF3"/>
                </a:solidFill>
                <a:latin typeface="Courier New"/>
              </a:rPr>
              <a:t>(</a:t>
            </a:r>
            <a:r>
              <a:rPr sz="1100" b="0" i="0">
                <a:solidFill>
                  <a:srgbClr val="7EE787"/>
                </a:solidFill>
                <a:latin typeface="Courier New"/>
              </a:rPr>
              <a:t>b"mnemonic1"</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2048</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E6EDF3"/>
                </a:solidFill>
                <a:latin typeface="Courier New"/>
              </a:rPr>
              <a:t>__import__</a:t>
            </a:r>
            <a:r>
              <a:rPr sz="1100" b="0" i="0">
                <a:solidFill>
                  <a:srgbClr val="E6EDF3"/>
                </a:solidFill>
                <a:latin typeface="Courier New"/>
              </a:rPr>
              <a:t>(</a:t>
            </a:r>
            <a:r>
              <a:rPr sz="1100" b="0" i="0">
                <a:solidFill>
                  <a:srgbClr val="7EE787"/>
                </a:solidFill>
                <a:latin typeface="Courier New"/>
              </a:rPr>
              <a:t>"sys"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version_info</a:t>
            </a:r>
            <a:r>
              <a:rPr sz="1100" b="0" i="0">
                <a:solidFill>
                  <a:srgbClr val="E6EDF3"/>
                </a:solidFill>
                <a:latin typeface="Courier New"/>
              </a:rPr>
              <a:t>[</a:t>
            </a:r>
            <a:r>
              <a:rPr sz="1100" b="0" i="0">
                <a:solidFill>
                  <a:srgbClr val="E6EDF3"/>
                </a:solidFill>
                <a:latin typeface="Courier New"/>
              </a:rPr>
              <a:t>:</a:t>
            </a:r>
            <a:r>
              <a:rPr sz="1100" b="0" i="0">
                <a:solidFill>
                  <a:srgbClr val="79C0FF"/>
                </a:solidFill>
                <a:latin typeface="Courier New"/>
              </a:rPr>
              <a:t>2</a:t>
            </a:r>
            <a:r>
              <a:rPr sz="1100" b="0" i="0">
                <a:solidFill>
                  <a:srgbClr val="E6EDF3"/>
                </a:solidFill>
                <a:latin typeface="Courier New"/>
              </a:rPr>
              <a:t>]</a:t>
            </a:r>
          </a:p>
          <a:p>
            <a:pPr algn="l"/>
            <a:r>
              <a:rPr sz="11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Key-stretching, salt and the root seed</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From recovery code to seed</a:t>
            </a:r>
          </a:p>
        </p:txBody>
      </p:sp>
      <p:sp>
        <p:nvSpPr>
          <p:cNvPr id="7" name="explanation"/>
          <p:cNvSpPr/>
          <p:nvPr/>
        </p:nvSpPr>
        <p:spPr>
          <a:xfrm>
            <a:off x="5074920" y="1097280"/>
            <a:ext cx="3657600" cy="828040"/>
          </a:xfrm>
          <a:prstGeom prst="roundRect">
            <a:avLst>
              <a:gd name="adj" fmla="val 8834"/>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PBKDF2 with HMAC-SHA512 repeats the work many times on the words.</a:t>
            </a:r>
          </a:p>
        </p:txBody>
      </p:sp>
      <p:sp>
        <p:nvSpPr>
          <p:cNvPr id="9" name="explanation"/>
          <p:cNvSpPr/>
          <p:nvPr/>
        </p:nvSpPr>
        <p:spPr>
          <a:xfrm>
            <a:off x="5074920" y="1980184"/>
            <a:ext cx="3657600" cy="998474"/>
          </a:xfrm>
          <a:prstGeom prst="roundRect">
            <a:avLst>
              <a:gd name="adj" fmla="val 7326"/>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One round, 2048 rounds, and another salt: three unrelated results. BIP39 uses 2048 rounds.</a:t>
            </a:r>
          </a:p>
        </p:txBody>
      </p:sp>
      <p:sp>
        <p:nvSpPr>
          <p:cNvPr id="10" name="result label"/>
          <p:cNvSpPr txBox="1"/>
          <p:nvPr/>
        </p:nvSpPr>
        <p:spPr>
          <a:xfrm>
            <a:off x="365760" y="3070098"/>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3316986"/>
          <a:ext cx="8412480" cy="1108708"/>
        </p:xfrm>
        <a:graphic>
          <a:graphicData uri="http://schemas.openxmlformats.org/drawingml/2006/table">
            <a:tbl>
              <a:tblPr firstRow="1" bandRow="1">
                <a:tableStyleId>{5C22544A-7EE6-4342-B048-85BDC9FD1C3A}</a:tableStyleId>
              </a:tblPr>
              <a:tblGrid>
                <a:gridCol w="1828800"/>
                <a:gridCol w="2194560"/>
                <a:gridCol w="4389120"/>
              </a:tblGrid>
              <a:tr h="277177">
                <a:tc>
                  <a:txBody>
                    <a:bodyPr wrap="square"/>
                    <a:lstStyle/>
                    <a:p>
                      <a:r>
                        <a:rPr sz="1200" b="1">
                          <a:solidFill>
                            <a:srgbClr val="FFFFFF"/>
                          </a:solidFill>
                          <a:latin typeface="Calibri"/>
                        </a:rPr>
                        <a:t>Rounds</a:t>
                      </a:r>
                    </a:p>
                  </a:txBody>
                  <a:tcPr marL="64008" marR="64008" marT="18288" marB="18288" anchor="ctr">
                    <a:solidFill>
                      <a:srgbClr val="2B2622"/>
                    </a:solidFill>
                  </a:tcPr>
                </a:tc>
                <a:tc>
                  <a:txBody>
                    <a:bodyPr wrap="square"/>
                    <a:lstStyle/>
                    <a:p>
                      <a:r>
                        <a:rPr sz="1200" b="1">
                          <a:solidFill>
                            <a:srgbClr val="FFFFFF"/>
                          </a:solidFill>
                          <a:latin typeface="Calibri"/>
                        </a:rPr>
                        <a:t>Salt</a:t>
                      </a:r>
                    </a:p>
                  </a:txBody>
                  <a:tcPr marL="64008" marR="64008" marT="18288" marB="18288" anchor="ctr">
                    <a:solidFill>
                      <a:srgbClr val="2B2622"/>
                    </a:solidFill>
                  </a:tcPr>
                </a:tc>
                <a:tc>
                  <a:txBody>
                    <a:bodyPr wrap="square"/>
                    <a:lstStyle/>
                    <a:p>
                      <a:r>
                        <a:rPr sz="1200" b="1">
                          <a:solidFill>
                            <a:srgbClr val="FFFFFF"/>
                          </a:solidFill>
                          <a:latin typeface="Calibri"/>
                        </a:rPr>
                        <a:t>First 12 hex digits of the result</a:t>
                      </a:r>
                    </a:p>
                  </a:txBody>
                  <a:tcPr marL="64008" marR="64008" marT="18288" marB="18288" anchor="ctr">
                    <a:solidFill>
                      <a:srgbClr val="2B2622"/>
                    </a:solidFill>
                  </a:tcPr>
                </a:tc>
              </a:tr>
              <a:tr h="277177">
                <a:tc>
                  <a:txBody>
                    <a:bodyPr wrap="square"/>
                    <a:lstStyle/>
                    <a:p>
                      <a:r>
                        <a:rPr sz="1200" b="0">
                          <a:solidFill>
                            <a:srgbClr val="2B2622"/>
                          </a:solidFill>
                          <a:latin typeface="Calibri"/>
                        </a:rPr>
                        <a:t>1</a:t>
                      </a:r>
                    </a:p>
                  </a:txBody>
                  <a:tcPr marL="64008" marR="64008" marT="18288" marB="18288" anchor="ctr">
                    <a:solidFill>
                      <a:srgbClr val="F2ECE1"/>
                    </a:solidFill>
                  </a:tcPr>
                </a:tc>
                <a:tc>
                  <a:txBody>
                    <a:bodyPr wrap="square"/>
                    <a:lstStyle/>
                    <a:p>
                      <a:r>
                        <a:rPr sz="1200" b="0">
                          <a:solidFill>
                            <a:srgbClr val="2B2622"/>
                          </a:solidFill>
                          <a:latin typeface="Calibri"/>
                        </a:rPr>
                        <a:t>mnemonic</a:t>
                      </a:r>
                    </a:p>
                  </a:txBody>
                  <a:tcPr marL="64008" marR="64008" marT="18288" marB="18288" anchor="ctr">
                    <a:solidFill>
                      <a:srgbClr val="F2ECE1"/>
                    </a:solidFill>
                  </a:tcPr>
                </a:tc>
                <a:tc>
                  <a:txBody>
                    <a:bodyPr wrap="square"/>
                    <a:lstStyle/>
                    <a:p>
                      <a:r>
                        <a:rPr sz="1200" b="0">
                          <a:solidFill>
                            <a:srgbClr val="2B2622"/>
                          </a:solidFill>
                          <a:latin typeface="Courier New"/>
                        </a:rPr>
                        <a:t>d4a21305b044</a:t>
                      </a:r>
                    </a:p>
                  </a:txBody>
                  <a:tcPr marL="64008" marR="64008" marT="18288" marB="18288" anchor="ctr">
                    <a:solidFill>
                      <a:srgbClr val="F2ECE1"/>
                    </a:solidFill>
                  </a:tcPr>
                </a:tc>
              </a:tr>
              <a:tr h="277177">
                <a:tc>
                  <a:txBody>
                    <a:bodyPr wrap="square"/>
                    <a:lstStyle/>
                    <a:p>
                      <a:r>
                        <a:rPr sz="1200" b="0">
                          <a:solidFill>
                            <a:srgbClr val="2B2622"/>
                          </a:solidFill>
                          <a:latin typeface="Calibri"/>
                        </a:rPr>
                        <a:t>2048 (BIP39)</a:t>
                      </a:r>
                    </a:p>
                  </a:txBody>
                  <a:tcPr marL="64008" marR="64008" marT="18288" marB="18288" anchor="ctr">
                    <a:solidFill>
                      <a:srgbClr val="FFFFFF"/>
                    </a:solidFill>
                  </a:tcPr>
                </a:tc>
                <a:tc>
                  <a:txBody>
                    <a:bodyPr wrap="square"/>
                    <a:lstStyle/>
                    <a:p>
                      <a:r>
                        <a:rPr sz="1200" b="0">
                          <a:solidFill>
                            <a:srgbClr val="2B2622"/>
                          </a:solidFill>
                          <a:latin typeface="Calibri"/>
                        </a:rPr>
                        <a:t>mnemonic</a:t>
                      </a:r>
                    </a:p>
                  </a:txBody>
                  <a:tcPr marL="64008" marR="64008" marT="18288" marB="18288" anchor="ctr">
                    <a:solidFill>
                      <a:srgbClr val="FFFFFF"/>
                    </a:solidFill>
                  </a:tcPr>
                </a:tc>
                <a:tc>
                  <a:txBody>
                    <a:bodyPr wrap="square"/>
                    <a:lstStyle/>
                    <a:p>
                      <a:r>
                        <a:rPr sz="1200" b="0">
                          <a:solidFill>
                            <a:srgbClr val="2B2622"/>
                          </a:solidFill>
                          <a:latin typeface="Courier New"/>
                        </a:rPr>
                        <a:t>5b56c417303f</a:t>
                      </a:r>
                    </a:p>
                  </a:txBody>
                  <a:tcPr marL="64008" marR="64008" marT="18288" marB="18288" anchor="ctr">
                    <a:solidFill>
                      <a:srgbClr val="FFFFFF"/>
                    </a:solidFill>
                  </a:tcPr>
                </a:tc>
              </a:tr>
              <a:tr h="277177">
                <a:tc>
                  <a:txBody>
                    <a:bodyPr wrap="square"/>
                    <a:lstStyle/>
                    <a:p>
                      <a:r>
                        <a:rPr sz="1200" b="0">
                          <a:solidFill>
                            <a:srgbClr val="2B2622"/>
                          </a:solidFill>
                          <a:latin typeface="Calibri"/>
                        </a:rPr>
                        <a:t>2048</a:t>
                      </a:r>
                    </a:p>
                  </a:txBody>
                  <a:tcPr marL="64008" marR="64008" marT="18288" marB="18288" anchor="ctr">
                    <a:solidFill>
                      <a:srgbClr val="F2ECE1"/>
                    </a:solidFill>
                  </a:tcPr>
                </a:tc>
                <a:tc>
                  <a:txBody>
                    <a:bodyPr wrap="square"/>
                    <a:lstStyle/>
                    <a:p>
                      <a:r>
                        <a:rPr sz="1200" b="0">
                          <a:solidFill>
                            <a:srgbClr val="2B2622"/>
                          </a:solidFill>
                          <a:latin typeface="Calibri"/>
                        </a:rPr>
                        <a:t>mnemonic1</a:t>
                      </a:r>
                    </a:p>
                  </a:txBody>
                  <a:tcPr marL="64008" marR="64008" marT="18288" marB="18288" anchor="ctr">
                    <a:solidFill>
                      <a:srgbClr val="F2ECE1"/>
                    </a:solidFill>
                  </a:tcPr>
                </a:tc>
                <a:tc>
                  <a:txBody>
                    <a:bodyPr wrap="square"/>
                    <a:lstStyle/>
                    <a:p>
                      <a:r>
                        <a:rPr sz="1200" b="0">
                          <a:solidFill>
                            <a:srgbClr val="2B2622"/>
                          </a:solidFill>
                          <a:latin typeface="Courier New"/>
                        </a:rPr>
                        <a:t>6b63963292ef</a:t>
                      </a:r>
                    </a:p>
                  </a:txBody>
                  <a:tcPr marL="64008" marR="64008" marT="18288" marB="18288" anchor="ctr">
                    <a:solidFill>
                      <a:srgbClr val="F2ECE1"/>
                    </a:solidFill>
                  </a:tcPr>
                </a:tc>
              </a:tr>
            </a:tbl>
          </a:graphicData>
        </a:graphic>
      </p:graphicFrame>
      <p:sp>
        <p:nvSpPr>
          <p:cNvPr id="1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Slow on purpose: 2048 rounds make every guess costly.</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27 / 68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10: A passphrase opens a different wallet</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path</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"m/84h/0h/0h/0/0"</a:t>
            </a:r>
          </a:p>
          <a:p>
            <a:pPr algn="l"/>
            <a:r>
              <a:rPr sz="1050" b="0" i="0">
                <a:solidFill>
                  <a:srgbClr val="8A9B94"/>
                </a:solidFill>
                <a:latin typeface="Courier New"/>
              </a:rPr>
              <a:t>&gt;&gt;&gt; </a:t>
            </a:r>
            <a:r>
              <a:rPr sz="1050" b="0" i="0">
                <a:solidFill>
                  <a:srgbClr val="FFA657"/>
                </a:solidFill>
                <a:latin typeface="Courier New"/>
              </a:rPr>
              <a:t>def</a:t>
            </a:r>
            <a:r>
              <a:rPr sz="1050" b="0" i="0">
                <a:solidFill>
                  <a:srgbClr val="E6EDF3"/>
                </a:solidFill>
                <a:latin typeface="Courier New"/>
              </a:rPr>
              <a:t> </a:t>
            </a:r>
            <a:r>
              <a:rPr sz="1050" b="0" i="0">
                <a:solidFill>
                  <a:srgbClr val="E6EDF3"/>
                </a:solidFill>
                <a:latin typeface="Courier New"/>
              </a:rPr>
              <a:t>addr</a:t>
            </a:r>
            <a:r>
              <a:rPr sz="1050" b="0" i="0">
                <a:solidFill>
                  <a:srgbClr val="E6EDF3"/>
                </a:solidFill>
                <a:latin typeface="Courier New"/>
              </a:rPr>
              <a:t>(</a:t>
            </a:r>
            <a:r>
              <a:rPr sz="1050" b="0" i="0">
                <a:solidFill>
                  <a:srgbClr val="E6EDF3"/>
                </a:solidFill>
                <a:latin typeface="Courier New"/>
              </a:rPr>
              <a:t>pp</a:t>
            </a:r>
            <a:r>
              <a:rPr sz="1050" b="0" i="0">
                <a:solidFill>
                  <a:srgbClr val="E6EDF3"/>
                </a:solidFill>
                <a:latin typeface="Courier New"/>
              </a:rPr>
              <a:t>)</a:t>
            </a:r>
            <a:r>
              <a:rPr sz="105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    </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keys_at</a:t>
            </a:r>
            <a:r>
              <a:rPr sz="1050" b="0" i="0">
                <a:solidFill>
                  <a:srgbClr val="E6EDF3"/>
                </a:solidFill>
                <a:latin typeface="Courier New"/>
              </a:rPr>
              <a:t>(</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path</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pp</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    </a:t>
            </a:r>
            <a:r>
              <a:rPr sz="1050" b="0" i="0">
                <a:solidFill>
                  <a:srgbClr val="FFA657"/>
                </a:solidFill>
                <a:latin typeface="Courier New"/>
              </a:rPr>
              <a:t>return</a:t>
            </a:r>
            <a:r>
              <a:rPr sz="1050" b="0" i="0">
                <a:solidFill>
                  <a:srgbClr val="E6EDF3"/>
                </a:solidFill>
                <a:latin typeface="Courier New"/>
              </a:rPr>
              <a:t> </a:t>
            </a:r>
            <a:r>
              <a:rPr sz="1050" b="0" i="0">
                <a:solidFill>
                  <a:srgbClr val="E6EDF3"/>
                </a:solidFill>
                <a:latin typeface="Courier New"/>
              </a:rPr>
              <a:t>p2wpkh_address</a:t>
            </a:r>
            <a:r>
              <a:rPr sz="1050" b="0" i="0">
                <a:solidFill>
                  <a:srgbClr val="E6EDF3"/>
                </a:solidFill>
                <a:latin typeface="Courier New"/>
              </a:rPr>
              <a:t>(</a:t>
            </a:r>
            <a:r>
              <a:rPr sz="1050" b="0" i="0">
                <a:solidFill>
                  <a:srgbClr val="E6EDF3"/>
                </a:solidFill>
                <a:latin typeface="Courier New"/>
              </a:rPr>
              <a:t>ser_p</a:t>
            </a:r>
            <a:r>
              <a:rPr sz="1050" b="0" i="0">
                <a:solidFill>
                  <a:srgbClr val="E6EDF3"/>
                </a:solidFill>
                <a:latin typeface="Courier New"/>
              </a:rPr>
              <a:t>(</a:t>
            </a:r>
            <a:r>
              <a:rPr sz="1050" b="0" i="0">
                <a:solidFill>
                  <a:srgbClr val="E6EDF3"/>
                </a:solidFill>
                <a:latin typeface="Courier New"/>
              </a:rPr>
              <a:t>ec_mul</a:t>
            </a:r>
            <a:r>
              <a:rPr sz="1050" b="0" i="0">
                <a:solidFill>
                  <a:srgbClr val="E6EDF3"/>
                </a:solidFill>
                <a:latin typeface="Courier New"/>
              </a:rPr>
              <a:t>(</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p:txBody>
      </p:sp>
      <p:sp>
        <p:nvSpPr>
          <p:cNvPr id="10" name="code"/>
          <p:cNvSpPr/>
          <p:nvPr/>
        </p:nvSpPr>
        <p:spPr>
          <a:xfrm>
            <a:off x="365760" y="2175764"/>
            <a:ext cx="4727448" cy="797052"/>
          </a:xfrm>
          <a:prstGeom prst="roundRect">
            <a:avLst>
              <a:gd name="adj" fmla="val 917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addr</a:t>
            </a:r>
            <a:r>
              <a:rPr sz="1050" b="0" i="0">
                <a:solidFill>
                  <a:srgbClr val="E6EDF3"/>
                </a:solidFill>
                <a:latin typeface="Courier New"/>
              </a:rPr>
              <a:t>(</a:t>
            </a:r>
            <a:r>
              <a:rPr sz="1050" b="0" i="0">
                <a:solidFill>
                  <a:srgbClr val="7EE787"/>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addr</a:t>
            </a:r>
            <a:r>
              <a:rPr sz="1050" b="0" i="0">
                <a:solidFill>
                  <a:srgbClr val="E6EDF3"/>
                </a:solidFill>
                <a:latin typeface="Courier New"/>
              </a:rPr>
              <a:t>(</a:t>
            </a:r>
            <a:r>
              <a:rPr sz="1050" b="0" i="0">
                <a:solidFill>
                  <a:srgbClr val="E6EDF3"/>
                </a:solidFill>
                <a:latin typeface="Courier New"/>
              </a:rPr>
              <a:t>PASSPHRASE</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Optional passphrase in BIP39</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Optional passphrase in BIP39</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Pick one key path and define a helper that returns its address.</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The helper derives the key from the words plus the passphrase.</a:t>
            </a:r>
          </a:p>
        </p:txBody>
      </p:sp>
      <p:sp>
        <p:nvSpPr>
          <p:cNvPr id="11" name="explanation"/>
          <p:cNvSpPr/>
          <p:nvPr/>
        </p:nvSpPr>
        <p:spPr>
          <a:xfrm>
            <a:off x="5074920" y="2175764"/>
            <a:ext cx="3657600" cy="797052"/>
          </a:xfrm>
          <a:prstGeom prst="roundRect">
            <a:avLst>
              <a:gd name="adj" fmla="val 917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Same twelve words, two passphrases, two different addresses.</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987552"/>
        </p:xfrm>
        <a:graphic>
          <a:graphicData uri="http://schemas.openxmlformats.org/drawingml/2006/table">
            <a:tbl>
              <a:tblPr firstRow="1" bandRow="1">
                <a:tableStyleId>{5C22544A-7EE6-4342-B048-85BDC9FD1C3A}</a:tableStyleId>
              </a:tblPr>
              <a:tblGrid>
                <a:gridCol w="2377440"/>
                <a:gridCol w="6035040"/>
              </a:tblGrid>
              <a:tr h="329184">
                <a:tc>
                  <a:txBody>
                    <a:bodyPr wrap="square"/>
                    <a:lstStyle/>
                    <a:p>
                      <a:r>
                        <a:rPr sz="1200" b="1">
                          <a:solidFill>
                            <a:srgbClr val="FFFFFF"/>
                          </a:solidFill>
                          <a:latin typeface="Calibri"/>
                        </a:rPr>
                        <a:t>Passphrase</a:t>
                      </a:r>
                    </a:p>
                  </a:txBody>
                  <a:tcPr marL="64008" marR="64008" marT="18288" marB="18288" anchor="ctr">
                    <a:solidFill>
                      <a:srgbClr val="2B2622"/>
                    </a:solidFill>
                  </a:tcPr>
                </a:tc>
                <a:tc>
                  <a:txBody>
                    <a:bodyPr wrap="square"/>
                    <a:lstStyle/>
                    <a:p>
                      <a:r>
                        <a:rPr sz="1200" b="1">
                          <a:solidFill>
                            <a:srgbClr val="FFFFFF"/>
                          </a:solidFill>
                          <a:latin typeface="Calibri"/>
                        </a:rPr>
                        <a:t>First address of the wallet</a:t>
                      </a:r>
                    </a:p>
                  </a:txBody>
                  <a:tcPr marL="64008" marR="64008" marT="18288" marB="18288" anchor="ctr">
                    <a:solidFill>
                      <a:srgbClr val="2B2622"/>
                    </a:solidFill>
                  </a:tcPr>
                </a:tc>
              </a:tr>
              <a:tr h="329184">
                <a:tc>
                  <a:txBody>
                    <a:bodyPr wrap="square"/>
                    <a:lstStyle/>
                    <a:p>
                      <a:r>
                        <a:rPr sz="1200" b="0">
                          <a:solidFill>
                            <a:srgbClr val="2B2622"/>
                          </a:solidFill>
                          <a:latin typeface="Calibri"/>
                        </a:rPr>
                        <a:t>(none)</a:t>
                      </a:r>
                    </a:p>
                  </a:txBody>
                  <a:tcPr marL="64008" marR="64008" marT="18288" marB="18288" anchor="ctr">
                    <a:solidFill>
                      <a:srgbClr val="F2ECE1"/>
                    </a:solidFill>
                  </a:tcPr>
                </a:tc>
                <a:tc>
                  <a:txBody>
                    <a:bodyPr wrap="square"/>
                    <a:lstStyle/>
                    <a:p>
                      <a:r>
                        <a:rPr sz="1200" b="0">
                          <a:solidFill>
                            <a:srgbClr val="2B2622"/>
                          </a:solidFill>
                          <a:latin typeface="Courier New"/>
                        </a:rPr>
                        <a:t>bc1qg0azlj4w2lrq8jssrrz6eprt2fe7f7edm4vpd5</a:t>
                      </a:r>
                    </a:p>
                  </a:txBody>
                  <a:tcPr marL="64008" marR="64008" marT="18288" marB="18288" anchor="ctr">
                    <a:solidFill>
                      <a:srgbClr val="F2ECE1"/>
                    </a:solidFill>
                  </a:tcPr>
                </a:tc>
              </a:tr>
              <a:tr h="329184">
                <a:tc>
                  <a:txBody>
                    <a:bodyPr wrap="square"/>
                    <a:lstStyle/>
                    <a:p>
                      <a:r>
                        <a:rPr sz="1200" b="0">
                          <a:solidFill>
                            <a:srgbClr val="2B2622"/>
                          </a:solidFill>
                          <a:latin typeface="Calibri"/>
                        </a:rPr>
                        <a:t>SuperDuperSecret</a:t>
                      </a:r>
                    </a:p>
                  </a:txBody>
                  <a:tcPr marL="64008" marR="64008" marT="18288" marB="18288" anchor="ctr">
                    <a:solidFill>
                      <a:srgbClr val="FFFFFF"/>
                    </a:solidFill>
                  </a:tcPr>
                </a:tc>
                <a:tc>
                  <a:txBody>
                    <a:bodyPr wrap="square"/>
                    <a:lstStyle/>
                    <a:p>
                      <a:r>
                        <a:rPr sz="1200" b="0">
                          <a:solidFill>
                            <a:srgbClr val="2B2622"/>
                          </a:solidFill>
                          <a:latin typeface="Courier New"/>
                        </a:rPr>
                        <a:t>bc1qp2dvcxvj4y5p5mesfgspljzdvnyzmqy2724n04</a:t>
                      </a:r>
                    </a:p>
                  </a:txBody>
                  <a:tcPr marL="64008" marR="64008" marT="18288" marB="18288" anchor="ctr">
                    <a:solidFill>
                      <a:srgbClr val="FFFFFF"/>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passphrase is a second secret to back up.</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28 / 68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Everyday pictures for part 3</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Shuffling, check digits and kneading</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From recovery code to seed</a:t>
            </a:r>
          </a:p>
        </p:txBody>
      </p:sp>
      <p:graphicFrame>
        <p:nvGraphicFramePr>
          <p:cNvPr id="6" name="analogy table"/>
          <p:cNvGraphicFramePr>
            <a:graphicFrameLocks noGrp="1"/>
          </p:cNvGraphicFramePr>
          <p:nvPr/>
        </p:nvGraphicFramePr>
        <p:xfrm>
          <a:off x="457200" y="1188720"/>
          <a:ext cx="8229600" cy="3108960"/>
        </p:xfrm>
        <a:graphic>
          <a:graphicData uri="http://schemas.openxmlformats.org/drawingml/2006/table">
            <a:tbl>
              <a:tblPr firstRow="1" bandRow="1">
                <a:tableStyleId>{5C22544A-7EE6-4342-B048-85BDC9FD1C3A}</a:tableStyleId>
              </a:tblPr>
              <a:tblGrid>
                <a:gridCol w="2194560"/>
                <a:gridCol w="3108960"/>
                <a:gridCol w="2926080"/>
              </a:tblGrid>
              <a:tr h="388620">
                <a:tc>
                  <a:txBody>
                    <a:bodyPr wrap="square"/>
                    <a:lstStyle/>
                    <a:p>
                      <a:r>
                        <a:rPr sz="1050" b="1">
                          <a:solidFill>
                            <a:srgbClr val="FFFFFF"/>
                          </a:solidFill>
                          <a:latin typeface="Calibri"/>
                        </a:rPr>
                        <a:t>Concept</a:t>
                      </a:r>
                    </a:p>
                  </a:txBody>
                  <a:tcPr marL="64008" marR="64008" marT="18288" marB="18288" anchor="ctr">
                    <a:solidFill>
                      <a:srgbClr val="2B2622"/>
                    </a:solidFill>
                  </a:tcPr>
                </a:tc>
                <a:tc>
                  <a:txBody>
                    <a:bodyPr wrap="square"/>
                    <a:lstStyle/>
                    <a:p>
                      <a:r>
                        <a:rPr sz="1050" b="1">
                          <a:solidFill>
                            <a:srgbClr val="FFFFFF"/>
                          </a:solidFill>
                          <a:latin typeface="Calibri"/>
                        </a:rPr>
                        <a:t>In everyday life</a:t>
                      </a:r>
                    </a:p>
                  </a:txBody>
                  <a:tcPr marL="64008" marR="64008" marT="18288" marB="18288" anchor="ctr">
                    <a:solidFill>
                      <a:srgbClr val="2B2622"/>
                    </a:solidFill>
                  </a:tcPr>
                </a:tc>
                <a:tc>
                  <a:txBody>
                    <a:bodyPr wrap="square"/>
                    <a:lstStyle/>
                    <a:p>
                      <a:r>
                        <a:rPr sz="1050" b="1">
                          <a:solidFill>
                            <a:srgbClr val="FFFFFF"/>
                          </a:solidFill>
                          <a:latin typeface="Calibri"/>
                        </a:rPr>
                        <a:t>In the wallet</a:t>
                      </a:r>
                    </a:p>
                  </a:txBody>
                  <a:tcPr marL="64008" marR="64008" marT="18288" marB="18288" anchor="ctr">
                    <a:solidFill>
                      <a:srgbClr val="2B2622"/>
                    </a:solidFill>
                  </a:tcPr>
                </a:tc>
              </a:tr>
              <a:tr h="388620">
                <a:tc>
                  <a:txBody>
                    <a:bodyPr wrap="square"/>
                    <a:lstStyle/>
                    <a:p>
                      <a:r>
                        <a:rPr sz="1050" b="1">
                          <a:solidFill>
                            <a:srgbClr val="2B2622"/>
                          </a:solidFill>
                          <a:latin typeface="Calibri"/>
                        </a:rPr>
                        <a:t>entropy</a:t>
                      </a:r>
                    </a:p>
                  </a:txBody>
                  <a:tcPr marL="64008" marR="64008" marT="18288" marB="18288" anchor="ctr">
                    <a:solidFill>
                      <a:srgbClr val="F2ECE1"/>
                    </a:solidFill>
                  </a:tcPr>
                </a:tc>
                <a:tc>
                  <a:txBody>
                    <a:bodyPr wrap="square"/>
                    <a:lstStyle/>
                    <a:p>
                      <a:r>
                        <a:rPr sz="1050" b="0">
                          <a:solidFill>
                            <a:srgbClr val="2B2622"/>
                          </a:solidFill>
                          <a:latin typeface="Calibri"/>
                        </a:rPr>
                        <a:t>A deck shuffled so well nobody can guess it</a:t>
                      </a:r>
                    </a:p>
                  </a:txBody>
                  <a:tcPr marL="64008" marR="64008" marT="18288" marB="18288" anchor="ctr">
                    <a:solidFill>
                      <a:srgbClr val="F2ECE1"/>
                    </a:solidFill>
                  </a:tcPr>
                </a:tc>
                <a:tc>
                  <a:txBody>
                    <a:bodyPr wrap="square"/>
                    <a:lstStyle/>
                    <a:p>
                      <a:r>
                        <a:rPr sz="1050" b="0">
                          <a:solidFill>
                            <a:srgbClr val="2B2622"/>
                          </a:solidFill>
                          <a:latin typeface="Calibri"/>
                        </a:rPr>
                        <a:t>The random bits a code is made from</a:t>
                      </a:r>
                    </a:p>
                  </a:txBody>
                  <a:tcPr marL="64008" marR="64008" marT="18288" marB="18288" anchor="ctr">
                    <a:solidFill>
                      <a:srgbClr val="F2ECE1"/>
                    </a:solidFill>
                  </a:tcPr>
                </a:tc>
              </a:tr>
              <a:tr h="388620">
                <a:tc>
                  <a:txBody>
                    <a:bodyPr wrap="square"/>
                    <a:lstStyle/>
                    <a:p>
                      <a:r>
                        <a:rPr sz="1050" b="1">
                          <a:solidFill>
                            <a:srgbClr val="2B2622"/>
                          </a:solidFill>
                          <a:latin typeface="Calibri"/>
                        </a:rPr>
                        <a:t>checksum</a:t>
                      </a:r>
                    </a:p>
                  </a:txBody>
                  <a:tcPr marL="64008" marR="64008" marT="18288" marB="18288" anchor="ctr">
                    <a:solidFill>
                      <a:srgbClr val="FFFFFF"/>
                    </a:solidFill>
                  </a:tcPr>
                </a:tc>
                <a:tc>
                  <a:txBody>
                    <a:bodyPr wrap="square"/>
                    <a:lstStyle/>
                    <a:p>
                      <a:r>
                        <a:rPr sz="1050" b="0">
                          <a:solidFill>
                            <a:srgbClr val="2B2622"/>
                          </a:solidFill>
                          <a:latin typeface="Calibri"/>
                        </a:rPr>
                        <a:t>The check digit on a bank card number</a:t>
                      </a:r>
                    </a:p>
                  </a:txBody>
                  <a:tcPr marL="64008" marR="64008" marT="18288" marB="18288" anchor="ctr">
                    <a:solidFill>
                      <a:srgbClr val="FFFFFF"/>
                    </a:solidFill>
                  </a:tcPr>
                </a:tc>
                <a:tc>
                  <a:txBody>
                    <a:bodyPr wrap="square"/>
                    <a:lstStyle/>
                    <a:p>
                      <a:r>
                        <a:rPr sz="1050" b="0">
                          <a:solidFill>
                            <a:srgbClr val="2B2622"/>
                          </a:solidFill>
                          <a:latin typeface="Calibri"/>
                        </a:rPr>
                        <a:t>Bits that reveal a typo</a:t>
                      </a:r>
                    </a:p>
                  </a:txBody>
                  <a:tcPr marL="64008" marR="64008" marT="18288" marB="18288" anchor="ctr">
                    <a:solidFill>
                      <a:srgbClr val="FFFFFF"/>
                    </a:solidFill>
                  </a:tcPr>
                </a:tc>
              </a:tr>
              <a:tr h="388620">
                <a:tc>
                  <a:txBody>
                    <a:bodyPr wrap="square"/>
                    <a:lstStyle/>
                    <a:p>
                      <a:r>
                        <a:rPr sz="1050" b="1">
                          <a:solidFill>
                            <a:srgbClr val="2B2622"/>
                          </a:solidFill>
                          <a:latin typeface="Calibri"/>
                        </a:rPr>
                        <a:t>word list</a:t>
                      </a:r>
                    </a:p>
                  </a:txBody>
                  <a:tcPr marL="64008" marR="64008" marT="18288" marB="18288" anchor="ctr">
                    <a:solidFill>
                      <a:srgbClr val="F2ECE1"/>
                    </a:solidFill>
                  </a:tcPr>
                </a:tc>
                <a:tc>
                  <a:txBody>
                    <a:bodyPr wrap="square"/>
                    <a:lstStyle/>
                    <a:p>
                      <a:r>
                        <a:rPr sz="1050" b="0">
                          <a:solidFill>
                            <a:srgbClr val="2B2622"/>
                          </a:solidFill>
                          <a:latin typeface="Calibri"/>
                        </a:rPr>
                        <a:t>A numbered dictionary everyone shares</a:t>
                      </a:r>
                    </a:p>
                  </a:txBody>
                  <a:tcPr marL="64008" marR="64008" marT="18288" marB="18288" anchor="ctr">
                    <a:solidFill>
                      <a:srgbClr val="F2ECE1"/>
                    </a:solidFill>
                  </a:tcPr>
                </a:tc>
                <a:tc>
                  <a:txBody>
                    <a:bodyPr wrap="square"/>
                    <a:lstStyle/>
                    <a:p>
                      <a:r>
                        <a:rPr sz="1050" b="0">
                          <a:solidFill>
                            <a:srgbClr val="2B2622"/>
                          </a:solidFill>
                          <a:latin typeface="Calibri"/>
                        </a:rPr>
                        <a:t>2,048 words for eleven bits each</a:t>
                      </a:r>
                    </a:p>
                  </a:txBody>
                  <a:tcPr marL="64008" marR="64008" marT="18288" marB="18288" anchor="ctr">
                    <a:solidFill>
                      <a:srgbClr val="F2ECE1"/>
                    </a:solidFill>
                  </a:tcPr>
                </a:tc>
              </a:tr>
              <a:tr h="388620">
                <a:tc>
                  <a:txBody>
                    <a:bodyPr wrap="square"/>
                    <a:lstStyle/>
                    <a:p>
                      <a:r>
                        <a:rPr sz="1050" b="1">
                          <a:solidFill>
                            <a:srgbClr val="2B2622"/>
                          </a:solidFill>
                          <a:latin typeface="Calibri"/>
                        </a:rPr>
                        <a:t>key-stretching function</a:t>
                      </a:r>
                    </a:p>
                  </a:txBody>
                  <a:tcPr marL="64008" marR="64008" marT="18288" marB="18288" anchor="ctr">
                    <a:solidFill>
                      <a:srgbClr val="FFFFFF"/>
                    </a:solidFill>
                  </a:tcPr>
                </a:tc>
                <a:tc>
                  <a:txBody>
                    <a:bodyPr wrap="square"/>
                    <a:lstStyle/>
                    <a:p>
                      <a:r>
                        <a:rPr sz="1050" b="0">
                          <a:solidFill>
                            <a:srgbClr val="2B2622"/>
                          </a:solidFill>
                          <a:latin typeface="Calibri"/>
                        </a:rPr>
                        <a:t>Kneading dough again and again</a:t>
                      </a:r>
                    </a:p>
                  </a:txBody>
                  <a:tcPr marL="64008" marR="64008" marT="18288" marB="18288" anchor="ctr">
                    <a:solidFill>
                      <a:srgbClr val="FFFFFF"/>
                    </a:solidFill>
                  </a:tcPr>
                </a:tc>
                <a:tc>
                  <a:txBody>
                    <a:bodyPr wrap="square"/>
                    <a:lstStyle/>
                    <a:p>
                      <a:r>
                        <a:rPr sz="1050" b="0">
                          <a:solidFill>
                            <a:srgbClr val="2B2622"/>
                          </a:solidFill>
                          <a:latin typeface="Calibri"/>
                        </a:rPr>
                        <a:t>Repeated hashing that makes guessing slow</a:t>
                      </a:r>
                    </a:p>
                  </a:txBody>
                  <a:tcPr marL="64008" marR="64008" marT="18288" marB="18288" anchor="ctr">
                    <a:solidFill>
                      <a:srgbClr val="FFFFFF"/>
                    </a:solidFill>
                  </a:tcPr>
                </a:tc>
              </a:tr>
              <a:tr h="388620">
                <a:tc>
                  <a:txBody>
                    <a:bodyPr wrap="square"/>
                    <a:lstStyle/>
                    <a:p>
                      <a:r>
                        <a:rPr sz="1050" b="1">
                          <a:solidFill>
                            <a:srgbClr val="2B2622"/>
                          </a:solidFill>
                          <a:latin typeface="Calibri"/>
                        </a:rPr>
                        <a:t>PBKDF2</a:t>
                      </a:r>
                    </a:p>
                  </a:txBody>
                  <a:tcPr marL="64008" marR="64008" marT="18288" marB="18288" anchor="ctr">
                    <a:solidFill>
                      <a:srgbClr val="F2ECE1"/>
                    </a:solidFill>
                  </a:tcPr>
                </a:tc>
                <a:tc>
                  <a:txBody>
                    <a:bodyPr wrap="square"/>
                    <a:lstStyle/>
                    <a:p>
                      <a:r>
                        <a:rPr sz="1050" b="0">
                          <a:solidFill>
                            <a:srgbClr val="2B2622"/>
                          </a:solidFill>
                          <a:latin typeface="Calibri"/>
                        </a:rPr>
                        <a:t>A kneading machine set to 2,048 turns</a:t>
                      </a:r>
                    </a:p>
                  </a:txBody>
                  <a:tcPr marL="64008" marR="64008" marT="18288" marB="18288" anchor="ctr">
                    <a:solidFill>
                      <a:srgbClr val="F2ECE1"/>
                    </a:solidFill>
                  </a:tcPr>
                </a:tc>
                <a:tc>
                  <a:txBody>
                    <a:bodyPr wrap="square"/>
                    <a:lstStyle/>
                    <a:p>
                      <a:r>
                        <a:rPr sz="1050" b="0">
                          <a:solidFill>
                            <a:srgbClr val="2B2622"/>
                          </a:solidFill>
                          <a:latin typeface="Calibri"/>
                        </a:rPr>
                        <a:t>The stretcher BIP39 uses with HMAC-SHA512</a:t>
                      </a:r>
                    </a:p>
                  </a:txBody>
                  <a:tcPr marL="64008" marR="64008" marT="18288" marB="18288" anchor="ctr">
                    <a:solidFill>
                      <a:srgbClr val="F2ECE1"/>
                    </a:solidFill>
                  </a:tcPr>
                </a:tc>
              </a:tr>
              <a:tr h="388620">
                <a:tc>
                  <a:txBody>
                    <a:bodyPr wrap="square"/>
                    <a:lstStyle/>
                    <a:p>
                      <a:r>
                        <a:rPr sz="1050" b="1">
                          <a:solidFill>
                            <a:srgbClr val="2B2622"/>
                          </a:solidFill>
                          <a:latin typeface="Calibri"/>
                        </a:rPr>
                        <a:t>salt</a:t>
                      </a:r>
                    </a:p>
                  </a:txBody>
                  <a:tcPr marL="64008" marR="64008" marT="18288" marB="18288" anchor="ctr">
                    <a:solidFill>
                      <a:srgbClr val="FFFFFF"/>
                    </a:solidFill>
                  </a:tcPr>
                </a:tc>
                <a:tc>
                  <a:txBody>
                    <a:bodyPr wrap="square"/>
                    <a:lstStyle/>
                    <a:p>
                      <a:r>
                        <a:rPr sz="1050" b="0">
                          <a:solidFill>
                            <a:srgbClr val="2B2622"/>
                          </a:solidFill>
                          <a:latin typeface="Calibri"/>
                        </a:rPr>
                        <a:t>A pinch of spice that makes each dish unique</a:t>
                      </a:r>
                    </a:p>
                  </a:txBody>
                  <a:tcPr marL="64008" marR="64008" marT="18288" marB="18288" anchor="ctr">
                    <a:solidFill>
                      <a:srgbClr val="FFFFFF"/>
                    </a:solidFill>
                  </a:tcPr>
                </a:tc>
                <a:tc>
                  <a:txBody>
                    <a:bodyPr wrap="square"/>
                    <a:lstStyle/>
                    <a:p>
                      <a:r>
                        <a:rPr sz="1050" b="0">
                          <a:solidFill>
                            <a:srgbClr val="2B2622"/>
                          </a:solidFill>
                          <a:latin typeface="Calibri"/>
                        </a:rPr>
                        <a:t>A string that separates equal inputs</a:t>
                      </a:r>
                    </a:p>
                  </a:txBody>
                  <a:tcPr marL="64008" marR="64008" marT="18288" marB="18288" anchor="ctr">
                    <a:solidFill>
                      <a:srgbClr val="FFFFFF"/>
                    </a:solidFill>
                  </a:tcPr>
                </a:tc>
              </a:tr>
              <a:tr h="388620">
                <a:tc>
                  <a:txBody>
                    <a:bodyPr wrap="square"/>
                    <a:lstStyle/>
                    <a:p>
                      <a:r>
                        <a:rPr sz="1050" b="1">
                          <a:solidFill>
                            <a:srgbClr val="2B2622"/>
                          </a:solidFill>
                          <a:latin typeface="Calibri"/>
                        </a:rPr>
                        <a:t>root seed</a:t>
                      </a:r>
                    </a:p>
                  </a:txBody>
                  <a:tcPr marL="64008" marR="64008" marT="18288" marB="18288" anchor="ctr">
                    <a:solidFill>
                      <a:srgbClr val="F2ECE1"/>
                    </a:solidFill>
                  </a:tcPr>
                </a:tc>
                <a:tc>
                  <a:txBody>
                    <a:bodyPr wrap="square"/>
                    <a:lstStyle/>
                    <a:p>
                      <a:r>
                        <a:rPr sz="1050" b="0">
                          <a:solidFill>
                            <a:srgbClr val="2B2622"/>
                          </a:solidFill>
                          <a:latin typeface="Calibri"/>
                        </a:rPr>
                        <a:t>The first seed from which the garden grows</a:t>
                      </a:r>
                    </a:p>
                  </a:txBody>
                  <a:tcPr marL="64008" marR="64008" marT="18288" marB="18288" anchor="ctr">
                    <a:solidFill>
                      <a:srgbClr val="F2ECE1"/>
                    </a:solidFill>
                  </a:tcPr>
                </a:tc>
                <a:tc>
                  <a:txBody>
                    <a:bodyPr wrap="square"/>
                    <a:lstStyle/>
                    <a:p>
                      <a:r>
                        <a:rPr sz="1050" b="0">
                          <a:solidFill>
                            <a:srgbClr val="2B2622"/>
                          </a:solidFill>
                          <a:latin typeface="Calibri"/>
                        </a:rPr>
                        <a:t>The 512-bit seed that starts the tree</a:t>
                      </a:r>
                    </a:p>
                  </a:txBody>
                  <a:tcPr marL="64008" marR="64008" marT="18288" marB="18288" anchor="ctr">
                    <a:solidFill>
                      <a:srgbClr val="F2ECE1"/>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Shuffle, tag, name, knead: that is a recovery code.</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29 / 68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Everyday pictures for part 3, the book's sections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Padlocks, cards and dough</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BIP39 Recovery Codes</a:t>
            </a:r>
          </a:p>
        </p:txBody>
      </p:sp>
      <p:graphicFrame>
        <p:nvGraphicFramePr>
          <p:cNvPr id="6" name="analogy table"/>
          <p:cNvGraphicFramePr>
            <a:graphicFrameLocks noGrp="1"/>
          </p:cNvGraphicFramePr>
          <p:nvPr/>
        </p:nvGraphicFramePr>
        <p:xfrm>
          <a:off x="457200" y="1188720"/>
          <a:ext cx="8229600" cy="2743200"/>
        </p:xfrm>
        <a:graphic>
          <a:graphicData uri="http://schemas.openxmlformats.org/drawingml/2006/table">
            <a:tbl>
              <a:tblPr firstRow="1" bandRow="1">
                <a:tableStyleId>{5C22544A-7EE6-4342-B048-85BDC9FD1C3A}</a:tableStyleId>
              </a:tblPr>
              <a:tblGrid>
                <a:gridCol w="2194560"/>
                <a:gridCol w="3108960"/>
                <a:gridCol w="2926080"/>
              </a:tblGrid>
              <a:tr h="45720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457200">
                <a:tc>
                  <a:txBody>
                    <a:bodyPr wrap="square"/>
                    <a:lstStyle/>
                    <a:p>
                      <a:r>
                        <a:rPr sz="1150" b="1">
                          <a:solidFill>
                            <a:srgbClr val="2B2622"/>
                          </a:solidFill>
                          <a:latin typeface="Calibri"/>
                        </a:rPr>
                        <a:t>BIP39 Recovery Codes</a:t>
                      </a:r>
                    </a:p>
                  </a:txBody>
                  <a:tcPr marL="64008" marR="64008" marT="18288" marB="18288" anchor="ctr">
                    <a:solidFill>
                      <a:srgbClr val="F2ECE1"/>
                    </a:solidFill>
                  </a:tcPr>
                </a:tc>
                <a:tc>
                  <a:txBody>
                    <a:bodyPr wrap="square"/>
                    <a:lstStyle/>
                    <a:p>
                      <a:r>
                        <a:rPr sz="1150" b="0">
                          <a:solidFill>
                            <a:srgbClr val="2B2622"/>
                          </a:solidFill>
                          <a:latin typeface="Calibri"/>
                        </a:rPr>
                        <a:t>The shared dictionary and its spelling rules</a:t>
                      </a:r>
                    </a:p>
                  </a:txBody>
                  <a:tcPr marL="64008" marR="64008" marT="18288" marB="18288" anchor="ctr">
                    <a:solidFill>
                      <a:srgbClr val="F2ECE1"/>
                    </a:solidFill>
                  </a:tcPr>
                </a:tc>
                <a:tc>
                  <a:txBody>
                    <a:bodyPr wrap="square"/>
                    <a:lstStyle/>
                    <a:p>
                      <a:r>
                        <a:rPr sz="1150" b="0">
                          <a:solidFill>
                            <a:srgbClr val="2B2622"/>
                          </a:solidFill>
                          <a:latin typeface="Calibri"/>
                        </a:rPr>
                        <a:t>The standard that turns bits into words</a:t>
                      </a:r>
                    </a:p>
                  </a:txBody>
                  <a:tcPr marL="64008" marR="64008" marT="18288" marB="18288" anchor="ctr">
                    <a:solidFill>
                      <a:srgbClr val="F2ECE1"/>
                    </a:solidFill>
                  </a:tcPr>
                </a:tc>
              </a:tr>
              <a:tr h="457200">
                <a:tc>
                  <a:txBody>
                    <a:bodyPr wrap="square"/>
                    <a:lstStyle/>
                    <a:p>
                      <a:r>
                        <a:rPr sz="1150" b="1">
                          <a:solidFill>
                            <a:srgbClr val="2B2622"/>
                          </a:solidFill>
                          <a:latin typeface="Calibri"/>
                        </a:rPr>
                        <a:t>Generating a recovery code</a:t>
                      </a:r>
                    </a:p>
                  </a:txBody>
                  <a:tcPr marL="64008" marR="64008" marT="18288" marB="18288" anchor="ctr">
                    <a:solidFill>
                      <a:srgbClr val="FFFFFF"/>
                    </a:solidFill>
                  </a:tcPr>
                </a:tc>
                <a:tc>
                  <a:txBody>
                    <a:bodyPr wrap="square"/>
                    <a:lstStyle/>
                    <a:p>
                      <a:r>
                        <a:rPr sz="1150" b="0">
                          <a:solidFill>
                            <a:srgbClr val="2B2622"/>
                          </a:solidFill>
                          <a:latin typeface="Calibri"/>
                        </a:rPr>
                        <a:t>Shuffle the deck, then write the card order down</a:t>
                      </a:r>
                    </a:p>
                  </a:txBody>
                  <a:tcPr marL="64008" marR="64008" marT="18288" marB="18288" anchor="ctr">
                    <a:solidFill>
                      <a:srgbClr val="FFFFFF"/>
                    </a:solidFill>
                  </a:tcPr>
                </a:tc>
                <a:tc>
                  <a:txBody>
                    <a:bodyPr wrap="square"/>
                    <a:lstStyle/>
                    <a:p>
                      <a:r>
                        <a:rPr sz="1150" b="0">
                          <a:solidFill>
                            <a:srgbClr val="2B2622"/>
                          </a:solidFill>
                          <a:latin typeface="Calibri"/>
                        </a:rPr>
                        <a:t>Entropy, checksum, eleven-bit pieces, words</a:t>
                      </a:r>
                    </a:p>
                  </a:txBody>
                  <a:tcPr marL="64008" marR="64008" marT="18288" marB="18288" anchor="ctr">
                    <a:solidFill>
                      <a:srgbClr val="FFFFFF"/>
                    </a:solidFill>
                  </a:tcPr>
                </a:tc>
              </a:tr>
              <a:tr h="457200">
                <a:tc>
                  <a:txBody>
                    <a:bodyPr wrap="square"/>
                    <a:lstStyle/>
                    <a:p>
                      <a:r>
                        <a:rPr sz="1150" b="1">
                          <a:solidFill>
                            <a:srgbClr val="2B2622"/>
                          </a:solidFill>
                          <a:latin typeface="Calibri"/>
                        </a:rPr>
                        <a:t>From recovery code to seed</a:t>
                      </a:r>
                    </a:p>
                  </a:txBody>
                  <a:tcPr marL="64008" marR="64008" marT="18288" marB="18288" anchor="ctr">
                    <a:solidFill>
                      <a:srgbClr val="F2ECE1"/>
                    </a:solidFill>
                  </a:tcPr>
                </a:tc>
                <a:tc>
                  <a:txBody>
                    <a:bodyPr wrap="square"/>
                    <a:lstStyle/>
                    <a:p>
                      <a:r>
                        <a:rPr sz="1150" b="0">
                          <a:solidFill>
                            <a:srgbClr val="2B2622"/>
                          </a:solidFill>
                          <a:latin typeface="Calibri"/>
                        </a:rPr>
                        <a:t>Kneading the written card into dough</a:t>
                      </a:r>
                    </a:p>
                  </a:txBody>
                  <a:tcPr marL="64008" marR="64008" marT="18288" marB="18288" anchor="ctr">
                    <a:solidFill>
                      <a:srgbClr val="F2ECE1"/>
                    </a:solidFill>
                  </a:tcPr>
                </a:tc>
                <a:tc>
                  <a:txBody>
                    <a:bodyPr wrap="square"/>
                    <a:lstStyle/>
                    <a:p>
                      <a:r>
                        <a:rPr sz="1150" b="0">
                          <a:solidFill>
                            <a:srgbClr val="2B2622"/>
                          </a:solidFill>
                          <a:latin typeface="Calibri"/>
                        </a:rPr>
                        <a:t>Stretching the words into a 512-bit seed</a:t>
                      </a:r>
                    </a:p>
                  </a:txBody>
                  <a:tcPr marL="64008" marR="64008" marT="18288" marB="18288" anchor="ctr">
                    <a:solidFill>
                      <a:srgbClr val="F2ECE1"/>
                    </a:solidFill>
                  </a:tcPr>
                </a:tc>
              </a:tr>
              <a:tr h="457200">
                <a:tc>
                  <a:txBody>
                    <a:bodyPr wrap="square"/>
                    <a:lstStyle/>
                    <a:p>
                      <a:r>
                        <a:rPr sz="1150" b="1">
                          <a:solidFill>
                            <a:srgbClr val="2B2622"/>
                          </a:solidFill>
                          <a:latin typeface="Calibri"/>
                        </a:rPr>
                        <a:t>How Much Entropy Do You Need?</a:t>
                      </a:r>
                    </a:p>
                  </a:txBody>
                  <a:tcPr marL="64008" marR="64008" marT="18288" marB="18288" anchor="ctr">
                    <a:solidFill>
                      <a:srgbClr val="FFFFFF"/>
                    </a:solidFill>
                  </a:tcPr>
                </a:tc>
                <a:tc>
                  <a:txBody>
                    <a:bodyPr wrap="square"/>
                    <a:lstStyle/>
                    <a:p>
                      <a:r>
                        <a:rPr sz="1150" b="0">
                          <a:solidFill>
                            <a:srgbClr val="2B2622"/>
                          </a:solidFill>
                          <a:latin typeface="Calibri"/>
                        </a:rPr>
                        <a:t>How long a padlock combination should be</a:t>
                      </a:r>
                    </a:p>
                  </a:txBody>
                  <a:tcPr marL="64008" marR="64008" marT="18288" marB="18288" anchor="ctr">
                    <a:solidFill>
                      <a:srgbClr val="FFFFFF"/>
                    </a:solidFill>
                  </a:tcPr>
                </a:tc>
                <a:tc>
                  <a:txBody>
                    <a:bodyPr wrap="square"/>
                    <a:lstStyle/>
                    <a:p>
                      <a:r>
                        <a:rPr sz="1150" b="0">
                          <a:solidFill>
                            <a:srgbClr val="2B2622"/>
                          </a:solidFill>
                          <a:latin typeface="Calibri"/>
                        </a:rPr>
                        <a:t>128 to 256 bits: 12 to 24 words</a:t>
                      </a:r>
                    </a:p>
                  </a:txBody>
                  <a:tcPr marL="64008" marR="64008" marT="18288" marB="18288" anchor="ctr">
                    <a:solidFill>
                      <a:srgbClr val="FFFFFF"/>
                    </a:solidFill>
                  </a:tcPr>
                </a:tc>
              </a:tr>
              <a:tr h="457200">
                <a:tc>
                  <a:txBody>
                    <a:bodyPr wrap="square"/>
                    <a:lstStyle/>
                    <a:p>
                      <a:r>
                        <a:rPr sz="1150" b="1">
                          <a:solidFill>
                            <a:srgbClr val="2B2622"/>
                          </a:solidFill>
                          <a:latin typeface="Calibri"/>
                        </a:rPr>
                        <a:t>Optional passphrase in BIP39</a:t>
                      </a:r>
                    </a:p>
                  </a:txBody>
                  <a:tcPr marL="64008" marR="64008" marT="18288" marB="18288" anchor="ctr">
                    <a:solidFill>
                      <a:srgbClr val="F2ECE1"/>
                    </a:solidFill>
                  </a:tcPr>
                </a:tc>
                <a:tc>
                  <a:txBody>
                    <a:bodyPr wrap="square"/>
                    <a:lstStyle/>
                    <a:p>
                      <a:r>
                        <a:rPr sz="1150" b="0">
                          <a:solidFill>
                            <a:srgbClr val="2B2622"/>
                          </a:solidFill>
                          <a:latin typeface="Calibri"/>
                        </a:rPr>
                        <a:t>A second combination on the same padlock</a:t>
                      </a:r>
                    </a:p>
                  </a:txBody>
                  <a:tcPr marL="64008" marR="64008" marT="18288" marB="18288" anchor="ctr">
                    <a:solidFill>
                      <a:srgbClr val="F2ECE1"/>
                    </a:solidFill>
                  </a:tcPr>
                </a:tc>
                <a:tc>
                  <a:txBody>
                    <a:bodyPr wrap="square"/>
                    <a:lstStyle/>
                    <a:p>
                      <a:r>
                        <a:rPr sz="1150" b="0">
                          <a:solidFill>
                            <a:srgbClr val="2B2622"/>
                          </a:solidFill>
                          <a:latin typeface="Calibri"/>
                        </a:rPr>
                        <a:t>The passphrase mixed into the salt</a:t>
                      </a:r>
                    </a:p>
                  </a:txBody>
                  <a:tcPr marL="64008" marR="64008" marT="18288" marB="18288" anchor="ctr">
                    <a:solidFill>
                      <a:srgbClr val="F2ECE1"/>
                    </a:solidFill>
                  </a:tcPr>
                </a:tc>
              </a:tr>
            </a:tbl>
          </a:graphicData>
        </a:graphic>
      </p:graphicFrame>
      <p:sp>
        <p:nvSpPr>
          <p:cNvPr id="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30 / 68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4: The HD wallet</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One seed, a tree of keys</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Creating an HD Wallet from the Seed</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master private key</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first private key of the tree</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master chain code</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32 bytes that let the tree keep growing</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child key derivation</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new key from a parent, a chain code and an index</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hardened derivation</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step only the private parent key can take</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extended key</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key and its chain code written as one string</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index number</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which child: 0 to 2^31-1 normal, then hardened</a:t>
            </a:r>
          </a:p>
        </p:txBody>
      </p:sp>
      <p:graphicFrame>
        <p:nvGraphicFramePr>
          <p:cNvPr id="29" name="visual: how the concepts fit"/>
          <p:cNvGraphicFramePr>
            <a:graphicFrameLocks noGrp="1"/>
          </p:cNvGraphicFramePr>
          <p:nvPr/>
        </p:nvGraphicFramePr>
        <p:xfrm>
          <a:off x="6172200" y="1188720"/>
          <a:ext cx="2514600" cy="27432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Root seed</a:t>
                      </a:r>
                    </a:p>
                  </a:txBody>
                  <a:tcPr marL="64008" marR="64008" marT="18288" marB="18288" anchor="ctr">
                    <a:solidFill>
                      <a:srgbClr val="F2ECE1"/>
                    </a:solidFill>
                  </a:tcPr>
                </a:tc>
              </a:tr>
              <a:tr h="457200">
                <a:tc>
                  <a:txBody>
                    <a:bodyPr wrap="square"/>
                    <a:lstStyle/>
                    <a:p>
                      <a:r>
                        <a:rPr sz="1150" b="0">
                          <a:solidFill>
                            <a:srgbClr val="2B2622"/>
                          </a:solidFill>
                          <a:latin typeface="Calibri"/>
                        </a:rPr>
                        <a:t>2.  HMAC-SHA512</a:t>
                      </a:r>
                    </a:p>
                  </a:txBody>
                  <a:tcPr marL="64008" marR="64008" marT="18288" marB="18288" anchor="ctr">
                    <a:solidFill>
                      <a:srgbClr val="FFFFFF"/>
                    </a:solidFill>
                  </a:tcPr>
                </a:tc>
              </a:tr>
              <a:tr h="457200">
                <a:tc>
                  <a:txBody>
                    <a:bodyPr wrap="square"/>
                    <a:lstStyle/>
                    <a:p>
                      <a:r>
                        <a:rPr sz="1150" b="0">
                          <a:solidFill>
                            <a:srgbClr val="2B2622"/>
                          </a:solidFill>
                          <a:latin typeface="Calibri"/>
                        </a:rPr>
                        <a:t>3.  Master key + chain code</a:t>
                      </a:r>
                    </a:p>
                  </a:txBody>
                  <a:tcPr marL="64008" marR="64008" marT="18288" marB="18288" anchor="ctr">
                    <a:solidFill>
                      <a:srgbClr val="F2ECE1"/>
                    </a:solidFill>
                  </a:tcPr>
                </a:tc>
              </a:tr>
              <a:tr h="457200">
                <a:tc>
                  <a:txBody>
                    <a:bodyPr wrap="square"/>
                    <a:lstStyle/>
                    <a:p>
                      <a:r>
                        <a:rPr sz="1150" b="0">
                          <a:solidFill>
                            <a:srgbClr val="2B2622"/>
                          </a:solidFill>
                          <a:latin typeface="Calibri"/>
                        </a:rPr>
                        <a:t>4.  Children by index</a:t>
                      </a:r>
                    </a:p>
                  </a:txBody>
                  <a:tcPr marL="64008" marR="64008" marT="18288" marB="18288" anchor="ctr">
                    <a:solidFill>
                      <a:srgbClr val="FFFFFF"/>
                    </a:solidFill>
                  </a:tcPr>
                </a:tc>
              </a:tr>
              <a:tr h="457200">
                <a:tc>
                  <a:txBody>
                    <a:bodyPr wrap="square"/>
                    <a:lstStyle/>
                    <a:p>
                      <a:r>
                        <a:rPr sz="1150" b="0">
                          <a:solidFill>
                            <a:srgbClr val="2B2622"/>
                          </a:solidFill>
                          <a:latin typeface="Calibri"/>
                        </a:rPr>
                        <a:t>5.  Extended keys</a:t>
                      </a:r>
                    </a:p>
                  </a:txBody>
                  <a:tcPr marL="64008" marR="64008" marT="18288" marB="18288" anchor="ctr">
                    <a:solidFill>
                      <a:srgbClr val="F2ECE1"/>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31 / 68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One seed, a tree of keys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Every node is a key and a chain code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Hierarchical Deterministic (HD) Key Generation (BIP32)</a:t>
            </a:r>
          </a:p>
        </p:txBody>
      </p:sp>
      <p:grpSp>
        <p:nvGrpSpPr>
          <p:cNvPr id="6" name="visual: the tree of keys"/>
          <p:cNvGrpSpPr/>
          <p:nvPr/>
        </p:nvGrpSpPr>
        <p:grpSpPr>
          <a:xfrm>
            <a:off x="365760" y="1078992"/>
            <a:ext cx="4663440" cy="3236976"/>
            <a:chOff x="365760" y="1078992"/>
            <a:chExt cx="4663440" cy="3236976"/>
          </a:xfrm>
        </p:grpSpPr>
        <p:sp>
          <p:nvSpPr>
            <p:cNvPr id="7" name="Rounded Rectangle 6"/>
            <p:cNvSpPr/>
            <p:nvPr/>
          </p:nvSpPr>
          <p:spPr>
            <a:xfrm>
              <a:off x="365760" y="2331720"/>
              <a:ext cx="822960" cy="640080"/>
            </a:xfrm>
            <a:prstGeom prst="roundRect">
              <a:avLst>
                <a:gd name="adj" fmla="val 12000"/>
              </a:avLst>
            </a:prstGeom>
            <a:solidFill>
              <a:srgbClr val="2B2622"/>
            </a:solidFill>
            <a:ln>
              <a:solidFill>
                <a:srgbClr val="2B2622"/>
              </a:solidFill>
            </a:ln>
          </p:spPr>
          <p:txBody>
            <a:bodyPr rtlCol="0" anchor="ctr" wrap="square" lIns="36576" rIns="36576" tIns="36576" bIns="36576"/>
            <a:lstStyle/>
            <a:p>
              <a:pPr algn="ctr"/>
              <a:r>
                <a:rPr sz="1300" b="1" i="0">
                  <a:solidFill>
                    <a:srgbClr val="FFFFFF"/>
                  </a:solidFill>
                  <a:latin typeface="Calibri"/>
                </a:rPr>
                <a:t>seed</a:t>
              </a:r>
            </a:p>
          </p:txBody>
        </p:sp>
        <p:sp>
          <p:nvSpPr>
            <p:cNvPr id="8" name="Rounded Rectangle 7"/>
            <p:cNvSpPr/>
            <p:nvPr/>
          </p:nvSpPr>
          <p:spPr>
            <a:xfrm>
              <a:off x="1600200" y="2331720"/>
              <a:ext cx="1051560" cy="64008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master
key m</a:t>
              </a:r>
            </a:p>
          </p:txBody>
        </p:sp>
        <p:cxnSp>
          <p:nvCxnSpPr>
            <p:cNvPr id="9" name="Connector 8"/>
            <p:cNvCxnSpPr/>
            <p:nvPr/>
          </p:nvCxnSpPr>
          <p:spPr>
            <a:xfrm>
              <a:off x="1188720" y="2651760"/>
              <a:ext cx="411480" cy="0"/>
            </a:xfrm>
            <a:prstGeom prst="line">
              <a:avLst/>
            </a:prstGeom>
            <a:ln w="25400">
              <a:solidFill>
                <a:srgbClr val="6E655C"/>
              </a:solidFill>
              <a:tailEnd type="triangle"/>
            </a:ln>
          </p:spPr>
        </p:cxnSp>
        <p:sp>
          <p:nvSpPr>
            <p:cNvPr id="10" name="Rounded Rectangle 9"/>
            <p:cNvSpPr/>
            <p:nvPr/>
          </p:nvSpPr>
          <p:spPr>
            <a:xfrm>
              <a:off x="2971800" y="1371600"/>
              <a:ext cx="868680" cy="548640"/>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200" b="1" i="0">
                  <a:solidFill>
                    <a:srgbClr val="FFFFFF"/>
                  </a:solidFill>
                  <a:latin typeface="Calibri"/>
                </a:rPr>
                <a:t>m/0</a:t>
              </a:r>
            </a:p>
          </p:txBody>
        </p:sp>
        <p:cxnSp>
          <p:nvCxnSpPr>
            <p:cNvPr id="11" name="Connector 10"/>
            <p:cNvCxnSpPr/>
            <p:nvPr/>
          </p:nvCxnSpPr>
          <p:spPr>
            <a:xfrm flipV="1">
              <a:off x="2651760" y="1645920"/>
              <a:ext cx="320040" cy="1005840"/>
            </a:xfrm>
            <a:prstGeom prst="line">
              <a:avLst/>
            </a:prstGeom>
            <a:ln w="25400">
              <a:solidFill>
                <a:srgbClr val="6E655C"/>
              </a:solidFill>
              <a:tailEnd type="triangle"/>
            </a:ln>
          </p:spPr>
        </p:cxnSp>
        <p:sp>
          <p:nvSpPr>
            <p:cNvPr id="12" name="Rounded Rectangle 11"/>
            <p:cNvSpPr/>
            <p:nvPr/>
          </p:nvSpPr>
          <p:spPr>
            <a:xfrm>
              <a:off x="4160520" y="1078992"/>
              <a:ext cx="86868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00" b="0" i="0">
                  <a:solidFill>
                    <a:srgbClr val="2B2622"/>
                  </a:solidFill>
                  <a:latin typeface="Calibri"/>
                </a:rPr>
                <a:t>m/0/0</a:t>
              </a:r>
            </a:p>
          </p:txBody>
        </p:sp>
        <p:cxnSp>
          <p:nvCxnSpPr>
            <p:cNvPr id="13" name="Connector 12"/>
            <p:cNvCxnSpPr/>
            <p:nvPr/>
          </p:nvCxnSpPr>
          <p:spPr>
            <a:xfrm flipV="1">
              <a:off x="3840480" y="1307592"/>
              <a:ext cx="320040" cy="338328"/>
            </a:xfrm>
            <a:prstGeom prst="line">
              <a:avLst/>
            </a:prstGeom>
            <a:ln w="25400">
              <a:solidFill>
                <a:srgbClr val="6E655C"/>
              </a:solidFill>
              <a:tailEnd type="triangle"/>
            </a:ln>
          </p:spPr>
        </p:cxnSp>
        <p:sp>
          <p:nvSpPr>
            <p:cNvPr id="14" name="Rounded Rectangle 13"/>
            <p:cNvSpPr/>
            <p:nvPr/>
          </p:nvSpPr>
          <p:spPr>
            <a:xfrm>
              <a:off x="4160520" y="1664208"/>
              <a:ext cx="86868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00" b="0" i="0">
                  <a:solidFill>
                    <a:srgbClr val="2B2622"/>
                  </a:solidFill>
                  <a:latin typeface="Calibri"/>
                </a:rPr>
                <a:t>m/0/1</a:t>
              </a:r>
            </a:p>
          </p:txBody>
        </p:sp>
        <p:cxnSp>
          <p:nvCxnSpPr>
            <p:cNvPr id="15" name="Connector 14"/>
            <p:cNvCxnSpPr/>
            <p:nvPr/>
          </p:nvCxnSpPr>
          <p:spPr>
            <a:xfrm>
              <a:off x="3840480" y="1645920"/>
              <a:ext cx="320040" cy="246888"/>
            </a:xfrm>
            <a:prstGeom prst="line">
              <a:avLst/>
            </a:prstGeom>
            <a:ln w="25400">
              <a:solidFill>
                <a:srgbClr val="6E655C"/>
              </a:solidFill>
              <a:tailEnd type="triangle"/>
            </a:ln>
          </p:spPr>
        </p:cxnSp>
        <p:sp>
          <p:nvSpPr>
            <p:cNvPr id="16" name="Rounded Rectangle 15"/>
            <p:cNvSpPr/>
            <p:nvPr/>
          </p:nvSpPr>
          <p:spPr>
            <a:xfrm>
              <a:off x="2971800" y="2468880"/>
              <a:ext cx="868680" cy="548640"/>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200" b="1" i="0">
                  <a:solidFill>
                    <a:srgbClr val="FFFFFF"/>
                  </a:solidFill>
                  <a:latin typeface="Calibri"/>
                </a:rPr>
                <a:t>m/1</a:t>
              </a:r>
            </a:p>
          </p:txBody>
        </p:sp>
        <p:cxnSp>
          <p:nvCxnSpPr>
            <p:cNvPr id="17" name="Connector 16"/>
            <p:cNvCxnSpPr/>
            <p:nvPr/>
          </p:nvCxnSpPr>
          <p:spPr>
            <a:xfrm>
              <a:off x="2651760" y="2651760"/>
              <a:ext cx="320040" cy="91440"/>
            </a:xfrm>
            <a:prstGeom prst="line">
              <a:avLst/>
            </a:prstGeom>
            <a:ln w="25400">
              <a:solidFill>
                <a:srgbClr val="6E655C"/>
              </a:solidFill>
              <a:tailEnd type="triangle"/>
            </a:ln>
          </p:spPr>
        </p:cxnSp>
        <p:sp>
          <p:nvSpPr>
            <p:cNvPr id="18" name="Rounded Rectangle 17"/>
            <p:cNvSpPr/>
            <p:nvPr/>
          </p:nvSpPr>
          <p:spPr>
            <a:xfrm>
              <a:off x="4160520" y="2176272"/>
              <a:ext cx="86868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00" b="0" i="0">
                  <a:solidFill>
                    <a:srgbClr val="2B2622"/>
                  </a:solidFill>
                  <a:latin typeface="Calibri"/>
                </a:rPr>
                <a:t>m/1/0</a:t>
              </a:r>
            </a:p>
          </p:txBody>
        </p:sp>
        <p:cxnSp>
          <p:nvCxnSpPr>
            <p:cNvPr id="19" name="Connector 18"/>
            <p:cNvCxnSpPr/>
            <p:nvPr/>
          </p:nvCxnSpPr>
          <p:spPr>
            <a:xfrm flipV="1">
              <a:off x="3840480" y="2404872"/>
              <a:ext cx="320040" cy="338328"/>
            </a:xfrm>
            <a:prstGeom prst="line">
              <a:avLst/>
            </a:prstGeom>
            <a:ln w="25400">
              <a:solidFill>
                <a:srgbClr val="6E655C"/>
              </a:solidFill>
              <a:tailEnd type="triangle"/>
            </a:ln>
          </p:spPr>
        </p:cxnSp>
        <p:sp>
          <p:nvSpPr>
            <p:cNvPr id="20" name="Rounded Rectangle 19"/>
            <p:cNvSpPr/>
            <p:nvPr/>
          </p:nvSpPr>
          <p:spPr>
            <a:xfrm>
              <a:off x="4160520" y="2761488"/>
              <a:ext cx="86868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00" b="0" i="0">
                  <a:solidFill>
                    <a:srgbClr val="2B2622"/>
                  </a:solidFill>
                  <a:latin typeface="Calibri"/>
                </a:rPr>
                <a:t>m/1/1</a:t>
              </a:r>
            </a:p>
          </p:txBody>
        </p:sp>
        <p:cxnSp>
          <p:nvCxnSpPr>
            <p:cNvPr id="21" name="Connector 20"/>
            <p:cNvCxnSpPr/>
            <p:nvPr/>
          </p:nvCxnSpPr>
          <p:spPr>
            <a:xfrm>
              <a:off x="3840480" y="2743200"/>
              <a:ext cx="320040" cy="246888"/>
            </a:xfrm>
            <a:prstGeom prst="line">
              <a:avLst/>
            </a:prstGeom>
            <a:ln w="25400">
              <a:solidFill>
                <a:srgbClr val="6E655C"/>
              </a:solidFill>
              <a:tailEnd type="triangle"/>
            </a:ln>
          </p:spPr>
        </p:cxnSp>
        <p:sp>
          <p:nvSpPr>
            <p:cNvPr id="22" name="Rounded Rectangle 21"/>
            <p:cNvSpPr/>
            <p:nvPr/>
          </p:nvSpPr>
          <p:spPr>
            <a:xfrm>
              <a:off x="2971800" y="3566160"/>
              <a:ext cx="868680" cy="548640"/>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200" b="1" i="0">
                  <a:solidFill>
                    <a:srgbClr val="FFFFFF"/>
                  </a:solidFill>
                  <a:latin typeface="Calibri"/>
                </a:rPr>
                <a:t>m/2</a:t>
              </a:r>
            </a:p>
          </p:txBody>
        </p:sp>
        <p:cxnSp>
          <p:nvCxnSpPr>
            <p:cNvPr id="23" name="Connector 22"/>
            <p:cNvCxnSpPr/>
            <p:nvPr/>
          </p:nvCxnSpPr>
          <p:spPr>
            <a:xfrm>
              <a:off x="2651760" y="2651760"/>
              <a:ext cx="320040" cy="1188720"/>
            </a:xfrm>
            <a:prstGeom prst="line">
              <a:avLst/>
            </a:prstGeom>
            <a:ln w="25400">
              <a:solidFill>
                <a:srgbClr val="6E655C"/>
              </a:solidFill>
              <a:tailEnd type="triangle"/>
            </a:ln>
          </p:spPr>
        </p:cxnSp>
        <p:sp>
          <p:nvSpPr>
            <p:cNvPr id="24" name="Rounded Rectangle 23"/>
            <p:cNvSpPr/>
            <p:nvPr/>
          </p:nvSpPr>
          <p:spPr>
            <a:xfrm>
              <a:off x="4160520" y="3273552"/>
              <a:ext cx="86868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00" b="0" i="0">
                  <a:solidFill>
                    <a:srgbClr val="2B2622"/>
                  </a:solidFill>
                  <a:latin typeface="Calibri"/>
                </a:rPr>
                <a:t>m/2/0</a:t>
              </a:r>
            </a:p>
          </p:txBody>
        </p:sp>
        <p:cxnSp>
          <p:nvCxnSpPr>
            <p:cNvPr id="25" name="Connector 24"/>
            <p:cNvCxnSpPr/>
            <p:nvPr/>
          </p:nvCxnSpPr>
          <p:spPr>
            <a:xfrm flipV="1">
              <a:off x="3840480" y="3502152"/>
              <a:ext cx="320040" cy="338328"/>
            </a:xfrm>
            <a:prstGeom prst="line">
              <a:avLst/>
            </a:prstGeom>
            <a:ln w="25400">
              <a:solidFill>
                <a:srgbClr val="6E655C"/>
              </a:solidFill>
              <a:tailEnd type="triangle"/>
            </a:ln>
          </p:spPr>
        </p:cxnSp>
        <p:sp>
          <p:nvSpPr>
            <p:cNvPr id="26" name="Rounded Rectangle 25"/>
            <p:cNvSpPr/>
            <p:nvPr/>
          </p:nvSpPr>
          <p:spPr>
            <a:xfrm>
              <a:off x="4160520" y="3858768"/>
              <a:ext cx="86868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00" b="0" i="0">
                  <a:solidFill>
                    <a:srgbClr val="2B2622"/>
                  </a:solidFill>
                  <a:latin typeface="Calibri"/>
                </a:rPr>
                <a:t>m/2/1</a:t>
              </a:r>
            </a:p>
          </p:txBody>
        </p:sp>
        <p:cxnSp>
          <p:nvCxnSpPr>
            <p:cNvPr id="27" name="Connector 26"/>
            <p:cNvCxnSpPr/>
            <p:nvPr/>
          </p:nvCxnSpPr>
          <p:spPr>
            <a:xfrm>
              <a:off x="3840480" y="3840480"/>
              <a:ext cx="320040" cy="246888"/>
            </a:xfrm>
            <a:prstGeom prst="line">
              <a:avLst/>
            </a:prstGeom>
            <a:ln w="25400">
              <a:solidFill>
                <a:srgbClr val="6E655C"/>
              </a:solidFill>
              <a:tailEnd type="triangle"/>
            </a:ln>
          </p:spPr>
        </p:cxnSp>
      </p:grpSp>
      <p:sp>
        <p:nvSpPr>
          <p:cNvPr id="28" name="figure label"/>
          <p:cNvSpPr txBox="1"/>
          <p:nvPr/>
        </p:nvSpPr>
        <p:spPr>
          <a:xfrm>
            <a:off x="365760" y="1097280"/>
            <a:ext cx="4754880" cy="256032"/>
          </a:xfrm>
          <a:prstGeom prst="rect">
            <a:avLst/>
          </a:prstGeom>
          <a:noFill/>
        </p:spPr>
        <p:txBody>
          <a:bodyPr wrap="square" anchor="t" lIns="45720" rIns="45720" tIns="36576" bIns="36576">
            <a:spAutoFit/>
          </a:bodyPr>
          <a:lstStyle/>
          <a:p>
            <a:pPr algn="l"/>
            <a:r>
              <a:rPr sz="1150" b="1" i="0">
                <a:solidFill>
                  <a:srgbClr val="2F6D62"/>
                </a:solidFill>
                <a:latin typeface="Calibri"/>
              </a:rPr>
              <a:t>Nodes are named by their paths</a:t>
            </a:r>
          </a:p>
        </p:txBody>
      </p:sp>
      <p:sp>
        <p:nvSpPr>
          <p:cNvPr id="29" name="card"/>
          <p:cNvSpPr/>
          <p:nvPr/>
        </p:nvSpPr>
        <p:spPr>
          <a:xfrm>
            <a:off x="5166360" y="1188720"/>
            <a:ext cx="3520440" cy="963168"/>
          </a:xfrm>
          <a:prstGeom prst="roundRect">
            <a:avLst>
              <a:gd name="adj" fmla="val 7594"/>
            </a:avLst>
          </a:prstGeom>
          <a:solidFill>
            <a:srgbClr val="F2ECE1"/>
          </a:solidFill>
          <a:ln>
            <a:solidFill>
              <a:srgbClr val="F2ECE1"/>
            </a:solidFill>
          </a:ln>
        </p:spPr>
        <p:txBody>
          <a:bodyPr rtlCol="0" anchor="ctr"/>
          <a:lstStyle/>
          <a:p>
            <a:pPr algn="ctr"/>
          </a:p>
        </p:txBody>
      </p:sp>
      <p:sp>
        <p:nvSpPr>
          <p:cNvPr id="30" name="card heading"/>
          <p:cNvSpPr txBox="1"/>
          <p:nvPr/>
        </p:nvSpPr>
        <p:spPr>
          <a:xfrm>
            <a:off x="5257800" y="1234440"/>
            <a:ext cx="3337560" cy="274320"/>
          </a:xfrm>
          <a:prstGeom prst="rect">
            <a:avLst/>
          </a:prstGeom>
          <a:noFill/>
        </p:spPr>
        <p:txBody>
          <a:bodyPr wrap="square" anchor="t" lIns="45720" rIns="45720" tIns="36576" bIns="36576">
            <a:spAutoFit/>
          </a:bodyPr>
          <a:lstStyle/>
          <a:p>
            <a:pPr algn="l"/>
            <a:r>
              <a:rPr sz="1350" b="1" i="0">
                <a:solidFill>
                  <a:srgbClr val="D97A14"/>
                </a:solidFill>
                <a:latin typeface="Cambria"/>
              </a:rPr>
              <a:t>Master</a:t>
            </a:r>
          </a:p>
        </p:txBody>
      </p:sp>
      <p:sp>
        <p:nvSpPr>
          <p:cNvPr id="31" name="card text"/>
          <p:cNvSpPr txBox="1"/>
          <p:nvPr/>
        </p:nvSpPr>
        <p:spPr>
          <a:xfrm>
            <a:off x="5257800" y="1517904"/>
            <a:ext cx="3337560" cy="597408"/>
          </a:xfrm>
          <a:prstGeom prst="rect">
            <a:avLst/>
          </a:prstGeom>
          <a:noFill/>
        </p:spPr>
        <p:txBody>
          <a:bodyPr wrap="square" anchor="t" lIns="45720" rIns="45720" tIns="36576" bIns="36576">
            <a:spAutoFit/>
          </a:bodyPr>
          <a:lstStyle/>
          <a:p>
            <a:pPr algn="l"/>
            <a:r>
              <a:rPr sz="1250" b="0" i="0">
                <a:solidFill>
                  <a:srgbClr val="2B2622"/>
                </a:solidFill>
                <a:latin typeface="Calibri"/>
              </a:rPr>
              <a:t>One HMAC of the seed gives the master key and chain code.</a:t>
            </a:r>
          </a:p>
        </p:txBody>
      </p:sp>
      <p:sp>
        <p:nvSpPr>
          <p:cNvPr id="32" name="card"/>
          <p:cNvSpPr/>
          <p:nvPr/>
        </p:nvSpPr>
        <p:spPr>
          <a:xfrm>
            <a:off x="5166360" y="2261616"/>
            <a:ext cx="3520440" cy="963168"/>
          </a:xfrm>
          <a:prstGeom prst="roundRect">
            <a:avLst>
              <a:gd name="adj" fmla="val 7594"/>
            </a:avLst>
          </a:prstGeom>
          <a:solidFill>
            <a:srgbClr val="F2ECE1"/>
          </a:solidFill>
          <a:ln>
            <a:solidFill>
              <a:srgbClr val="F2ECE1"/>
            </a:solidFill>
          </a:ln>
        </p:spPr>
        <p:txBody>
          <a:bodyPr rtlCol="0" anchor="ctr"/>
          <a:lstStyle/>
          <a:p>
            <a:pPr algn="ctr"/>
          </a:p>
        </p:txBody>
      </p:sp>
      <p:sp>
        <p:nvSpPr>
          <p:cNvPr id="33" name="card heading"/>
          <p:cNvSpPr txBox="1"/>
          <p:nvPr/>
        </p:nvSpPr>
        <p:spPr>
          <a:xfrm>
            <a:off x="5257800" y="2307336"/>
            <a:ext cx="3337560" cy="274320"/>
          </a:xfrm>
          <a:prstGeom prst="rect">
            <a:avLst/>
          </a:prstGeom>
          <a:noFill/>
        </p:spPr>
        <p:txBody>
          <a:bodyPr wrap="square" anchor="t" lIns="45720" rIns="45720" tIns="36576" bIns="36576">
            <a:spAutoFit/>
          </a:bodyPr>
          <a:lstStyle/>
          <a:p>
            <a:pPr algn="l"/>
            <a:r>
              <a:rPr sz="1350" b="1" i="0">
                <a:solidFill>
                  <a:srgbClr val="D97A14"/>
                </a:solidFill>
                <a:latin typeface="Cambria"/>
              </a:rPr>
              <a:t>Children</a:t>
            </a:r>
          </a:p>
        </p:txBody>
      </p:sp>
      <p:sp>
        <p:nvSpPr>
          <p:cNvPr id="34" name="card text"/>
          <p:cNvSpPr txBox="1"/>
          <p:nvPr/>
        </p:nvSpPr>
        <p:spPr>
          <a:xfrm>
            <a:off x="5257800" y="2590800"/>
            <a:ext cx="3337560" cy="597408"/>
          </a:xfrm>
          <a:prstGeom prst="rect">
            <a:avLst/>
          </a:prstGeom>
          <a:noFill/>
        </p:spPr>
        <p:txBody>
          <a:bodyPr wrap="square" anchor="t" lIns="45720" rIns="45720" tIns="36576" bIns="36576">
            <a:spAutoFit/>
          </a:bodyPr>
          <a:lstStyle/>
          <a:p>
            <a:pPr algn="l"/>
            <a:r>
              <a:rPr sz="1250" b="0" i="0">
                <a:solidFill>
                  <a:srgbClr val="2B2622"/>
                </a:solidFill>
                <a:latin typeface="Calibri"/>
              </a:rPr>
              <a:t>A parent, its chain code and an index make each child.</a:t>
            </a:r>
          </a:p>
        </p:txBody>
      </p:sp>
      <p:sp>
        <p:nvSpPr>
          <p:cNvPr id="35" name="card"/>
          <p:cNvSpPr/>
          <p:nvPr/>
        </p:nvSpPr>
        <p:spPr>
          <a:xfrm>
            <a:off x="5166360" y="3334512"/>
            <a:ext cx="3520440" cy="963168"/>
          </a:xfrm>
          <a:prstGeom prst="roundRect">
            <a:avLst>
              <a:gd name="adj" fmla="val 7594"/>
            </a:avLst>
          </a:prstGeom>
          <a:solidFill>
            <a:srgbClr val="F2ECE1"/>
          </a:solidFill>
          <a:ln>
            <a:solidFill>
              <a:srgbClr val="F2ECE1"/>
            </a:solidFill>
          </a:ln>
        </p:spPr>
        <p:txBody>
          <a:bodyPr rtlCol="0" anchor="ctr"/>
          <a:lstStyle/>
          <a:p>
            <a:pPr algn="ctr"/>
          </a:p>
        </p:txBody>
      </p:sp>
      <p:sp>
        <p:nvSpPr>
          <p:cNvPr id="36" name="card heading"/>
          <p:cNvSpPr txBox="1"/>
          <p:nvPr/>
        </p:nvSpPr>
        <p:spPr>
          <a:xfrm>
            <a:off x="5257800" y="3380231"/>
            <a:ext cx="3337560" cy="274320"/>
          </a:xfrm>
          <a:prstGeom prst="rect">
            <a:avLst/>
          </a:prstGeom>
          <a:noFill/>
        </p:spPr>
        <p:txBody>
          <a:bodyPr wrap="square" anchor="t" lIns="45720" rIns="45720" tIns="36576" bIns="36576">
            <a:spAutoFit/>
          </a:bodyPr>
          <a:lstStyle/>
          <a:p>
            <a:pPr algn="l"/>
            <a:r>
              <a:rPr sz="1350" b="1" i="0">
                <a:solidFill>
                  <a:srgbClr val="D97A14"/>
                </a:solidFill>
                <a:latin typeface="Cambria"/>
              </a:rPr>
              <a:t>Every node</a:t>
            </a:r>
          </a:p>
        </p:txBody>
      </p:sp>
      <p:sp>
        <p:nvSpPr>
          <p:cNvPr id="37" name="card text"/>
          <p:cNvSpPr txBox="1"/>
          <p:nvPr/>
        </p:nvSpPr>
        <p:spPr>
          <a:xfrm>
            <a:off x="5257800" y="3663696"/>
            <a:ext cx="3337560" cy="597408"/>
          </a:xfrm>
          <a:prstGeom prst="rect">
            <a:avLst/>
          </a:prstGeom>
          <a:noFill/>
        </p:spPr>
        <p:txBody>
          <a:bodyPr wrap="square" anchor="t" lIns="45720" rIns="45720" tIns="36576" bIns="36576">
            <a:spAutoFit/>
          </a:bodyPr>
          <a:lstStyle/>
          <a:p>
            <a:pPr algn="l"/>
            <a:r>
              <a:rPr sz="1250" b="0" i="0">
                <a:solidFill>
                  <a:srgbClr val="2B2622"/>
                </a:solidFill>
                <a:latin typeface="Calibri"/>
              </a:rPr>
              <a:t>32 bytes of key and 32 bytes of chain code.</a:t>
            </a:r>
          </a:p>
        </p:txBody>
      </p:sp>
      <p:sp>
        <p:nvSpPr>
          <p:cNvPr id="38"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From one seed grows a tree that backs up as one secret.</a:t>
            </a:r>
          </a:p>
        </p:txBody>
      </p:sp>
      <p:sp>
        <p:nvSpPr>
          <p:cNvPr id="3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32 / 68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11: HMAC-SHA512 makes the master key</a:t>
            </a:r>
          </a:p>
        </p:txBody>
      </p:sp>
      <p:sp>
        <p:nvSpPr>
          <p:cNvPr id="6" name="code"/>
          <p:cNvSpPr/>
          <p:nvPr/>
        </p:nvSpPr>
        <p:spPr>
          <a:xfrm>
            <a:off x="365760" y="1097280"/>
            <a:ext cx="4727448" cy="587883"/>
          </a:xfrm>
          <a:prstGeom prst="roundRect">
            <a:avLst>
              <a:gd name="adj" fmla="val 12443"/>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h</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hmac</a:t>
            </a:r>
            <a:r>
              <a:rPr sz="950" b="0" i="0">
                <a:solidFill>
                  <a:srgbClr val="E6EDF3"/>
                </a:solidFill>
                <a:latin typeface="Courier New"/>
              </a:rPr>
              <a:t>.</a:t>
            </a:r>
            <a:r>
              <a:rPr sz="950" b="0" i="0">
                <a:solidFill>
                  <a:srgbClr val="E6EDF3"/>
                </a:solidFill>
                <a:latin typeface="Courier New"/>
              </a:rPr>
              <a:t>new</a:t>
            </a:r>
            <a:r>
              <a:rPr sz="950" b="0" i="0">
                <a:solidFill>
                  <a:srgbClr val="E6EDF3"/>
                </a:solidFill>
                <a:latin typeface="Courier New"/>
              </a:rPr>
              <a:t>(</a:t>
            </a:r>
            <a:r>
              <a:rPr sz="950" b="0" i="0">
                <a:solidFill>
                  <a:srgbClr val="7EE787"/>
                </a:solidFill>
                <a:latin typeface="Courier New"/>
              </a:rPr>
              <a:t>b"Bitcoin seed"</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TV</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hashlib</a:t>
            </a:r>
            <a:r>
              <a:rPr sz="950" b="0" i="0">
                <a:solidFill>
                  <a:srgbClr val="E6EDF3"/>
                </a:solidFill>
                <a:latin typeface="Courier New"/>
              </a:rPr>
              <a:t>.</a:t>
            </a:r>
            <a:r>
              <a:rPr sz="950" b="0" i="0">
                <a:solidFill>
                  <a:srgbClr val="E6EDF3"/>
                </a:solidFill>
                <a:latin typeface="Courier New"/>
              </a:rPr>
              <a:t>sha512</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I</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a:t>
            </a:r>
            <a:r>
              <a:rPr sz="950" b="0" i="0">
                <a:solidFill>
                  <a:srgbClr val="E6EDF3"/>
                </a:solidFill>
                <a:latin typeface="Courier New"/>
              </a:rPr>
              <a:t>.</a:t>
            </a:r>
            <a:r>
              <a:rPr sz="950" b="0" i="0">
                <a:solidFill>
                  <a:srgbClr val="E6EDF3"/>
                </a:solidFill>
                <a:latin typeface="Courier New"/>
              </a:rPr>
              <a:t>digest</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left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right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I</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32</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I</a:t>
            </a:r>
            <a:r>
              <a:rPr sz="950" b="0" i="0">
                <a:solidFill>
                  <a:srgbClr val="E6EDF3"/>
                </a:solidFill>
                <a:latin typeface="Courier New"/>
              </a:rPr>
              <a:t>[</a:t>
            </a:r>
            <a:r>
              <a:rPr sz="950" b="0" i="0">
                <a:solidFill>
                  <a:srgbClr val="79C0FF"/>
                </a:solidFill>
                <a:latin typeface="Courier New"/>
              </a:rPr>
              <a:t>32</a:t>
            </a:r>
            <a:r>
              <a:rPr sz="950" b="0" i="0">
                <a:solidFill>
                  <a:srgbClr val="E6EDF3"/>
                </a:solidFill>
                <a:latin typeface="Courier New"/>
              </a:rPr>
              <a:t>:</a:t>
            </a:r>
            <a:r>
              <a:rPr sz="950" b="0" i="0">
                <a:solidFill>
                  <a:srgbClr val="E6EDF3"/>
                </a:solidFill>
                <a:latin typeface="Courier New"/>
              </a:rPr>
              <a:t>]</a:t>
            </a:r>
          </a:p>
        </p:txBody>
      </p:sp>
      <p:sp>
        <p:nvSpPr>
          <p:cNvPr id="8" name="code"/>
          <p:cNvSpPr/>
          <p:nvPr/>
        </p:nvSpPr>
        <p:spPr>
          <a:xfrm>
            <a:off x="365760" y="1740027"/>
            <a:ext cx="4727448" cy="468884"/>
          </a:xfrm>
          <a:prstGeom prst="roundRect">
            <a:avLst>
              <a:gd name="adj" fmla="val 1560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FFA657"/>
                </a:solidFill>
                <a:latin typeface="Courier New"/>
              </a:rPr>
              <a:t>len</a:t>
            </a:r>
            <a:r>
              <a:rPr sz="950" b="0" i="0">
                <a:solidFill>
                  <a:srgbClr val="E6EDF3"/>
                </a:solidFill>
                <a:latin typeface="Courier New"/>
              </a:rPr>
              <a:t>(</a:t>
            </a:r>
            <a:r>
              <a:rPr sz="950" b="0" i="0">
                <a:solidFill>
                  <a:srgbClr val="E6EDF3"/>
                </a:solidFill>
                <a:latin typeface="Courier New"/>
              </a:rPr>
              <a:t>I</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FFA657"/>
                </a:solidFill>
                <a:latin typeface="Courier New"/>
              </a:rPr>
              <a:t>len</a:t>
            </a:r>
            <a:r>
              <a:rPr sz="950" b="0" i="0">
                <a:solidFill>
                  <a:srgbClr val="E6EDF3"/>
                </a:solidFill>
                <a:latin typeface="Courier New"/>
              </a:rPr>
              <a:t>(</a:t>
            </a:r>
            <a:r>
              <a:rPr sz="950" b="0" i="0">
                <a:solidFill>
                  <a:srgbClr val="E6EDF3"/>
                </a:solidFill>
                <a:latin typeface="Courier New"/>
              </a:rPr>
              <a:t>left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FFA657"/>
                </a:solidFill>
                <a:latin typeface="Courier New"/>
              </a:rPr>
              <a:t>len</a:t>
            </a:r>
            <a:r>
              <a:rPr sz="950" b="0" i="0">
                <a:solidFill>
                  <a:srgbClr val="E6EDF3"/>
                </a:solidFill>
                <a:latin typeface="Courier New"/>
              </a:rPr>
              <a:t>(</a:t>
            </a:r>
            <a:r>
              <a:rPr sz="950" b="0" i="0">
                <a:solidFill>
                  <a:srgbClr val="E6EDF3"/>
                </a:solidFill>
                <a:latin typeface="Courier New"/>
              </a:rPr>
              <a:t>right</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k</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c</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master</a:t>
            </a:r>
            <a:r>
              <a:rPr sz="950" b="0" i="0">
                <a:solidFill>
                  <a:srgbClr val="E6EDF3"/>
                </a:solidFill>
                <a:latin typeface="Courier New"/>
              </a:rPr>
              <a:t>(</a:t>
            </a:r>
            <a:r>
              <a:rPr sz="950" b="0" i="0">
                <a:solidFill>
                  <a:srgbClr val="E6EDF3"/>
                </a:solidFill>
                <a:latin typeface="Courier New"/>
              </a:rPr>
              <a:t>TV</a:t>
            </a:r>
            <a:r>
              <a:rPr sz="950" b="0" i="0">
                <a:solidFill>
                  <a:srgbClr val="E6EDF3"/>
                </a:solidFill>
                <a:latin typeface="Courier New"/>
              </a:rPr>
              <a:t>)</a:t>
            </a:r>
          </a:p>
        </p:txBody>
      </p:sp>
      <p:sp>
        <p:nvSpPr>
          <p:cNvPr id="10" name="code"/>
          <p:cNvSpPr/>
          <p:nvPr/>
        </p:nvSpPr>
        <p:spPr>
          <a:xfrm>
            <a:off x="365760" y="2263775"/>
            <a:ext cx="4727448" cy="735076"/>
          </a:xfrm>
          <a:prstGeom prst="roundRect">
            <a:avLst>
              <a:gd name="adj" fmla="val 995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k</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FFA657"/>
                </a:solidFill>
                <a:latin typeface="Courier New"/>
              </a:rPr>
              <a:t>int</a:t>
            </a:r>
            <a:r>
              <a:rPr sz="950" b="0" i="0">
                <a:solidFill>
                  <a:srgbClr val="E6EDF3"/>
                </a:solidFill>
                <a:latin typeface="Courier New"/>
              </a:rPr>
              <a:t>.</a:t>
            </a:r>
            <a:r>
              <a:rPr sz="950" b="0" i="0">
                <a:solidFill>
                  <a:srgbClr val="E6EDF3"/>
                </a:solidFill>
                <a:latin typeface="Courier New"/>
              </a:rPr>
              <a:t>from_bytes</a:t>
            </a:r>
            <a:r>
              <a:rPr sz="950" b="0" i="0">
                <a:solidFill>
                  <a:srgbClr val="E6EDF3"/>
                </a:solidFill>
                <a:latin typeface="Courier New"/>
              </a:rPr>
              <a:t>(</a:t>
            </a:r>
            <a:r>
              <a:rPr sz="950" b="0" i="0">
                <a:solidFill>
                  <a:srgbClr val="E6EDF3"/>
                </a:solidFill>
                <a:latin typeface="Courier New"/>
              </a:rPr>
              <a:t>left</a:t>
            </a:r>
            <a:r>
              <a:rPr sz="950" b="0" i="0">
                <a:solidFill>
                  <a:srgbClr val="E6EDF3"/>
                </a:solidFill>
                <a:latin typeface="Courier New"/>
              </a:rPr>
              <a:t>,</a:t>
            </a:r>
            <a:r>
              <a:rPr sz="950" b="0" i="0">
                <a:solidFill>
                  <a:srgbClr val="E6EDF3"/>
                </a:solidFill>
                <a:latin typeface="Courier New"/>
              </a:rPr>
              <a:t> </a:t>
            </a:r>
            <a:r>
              <a:rPr sz="950" b="0" i="0">
                <a:solidFill>
                  <a:srgbClr val="7EE787"/>
                </a:solidFill>
                <a:latin typeface="Courier New"/>
              </a:rPr>
              <a:t>"big"</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c</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right</a:t>
            </a:r>
            <a:r>
              <a:rPr sz="950" b="0" i="0">
                <a:solidFill>
                  <a:srgbClr val="E6EDF3"/>
                </a:solidFill>
                <a:latin typeface="Courier New"/>
              </a:rPr>
              <a:t>)</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7EE787"/>
                </a:solidFill>
                <a:latin typeface="Courier New"/>
              </a:rPr>
              <a:t>"%064x"</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k</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__import__</a:t>
            </a:r>
            <a:r>
              <a:rPr sz="950" b="0" i="0">
                <a:solidFill>
                  <a:srgbClr val="E6EDF3"/>
                </a:solidFill>
                <a:latin typeface="Courier New"/>
              </a:rPr>
              <a:t>(</a:t>
            </a:r>
            <a:r>
              <a:rPr sz="950" b="0" i="0">
                <a:solidFill>
                  <a:srgbClr val="7EE787"/>
                </a:solidFill>
                <a:latin typeface="Courier New"/>
              </a:rPr>
              <a:t>"sys"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version_info</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2</a:t>
            </a:r>
            <a:r>
              <a:rPr sz="950" b="0" i="0">
                <a:solidFill>
                  <a:srgbClr val="E6EDF3"/>
                </a:solidFill>
                <a:latin typeface="Courier New"/>
              </a:rPr>
              <a:t>]</a:t>
            </a:r>
          </a:p>
          <a:p>
            <a:pPr algn="l"/>
            <a:r>
              <a:rPr sz="9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Master private key and master chain code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Creating an HD Wallet from the Seed</a:t>
            </a:r>
          </a:p>
        </p:txBody>
      </p:sp>
      <p:sp>
        <p:nvSpPr>
          <p:cNvPr id="7" name="explanation"/>
          <p:cNvSpPr/>
          <p:nvPr/>
        </p:nvSpPr>
        <p:spPr>
          <a:xfrm>
            <a:off x="5074920" y="1097280"/>
            <a:ext cx="3657600" cy="587883"/>
          </a:xfrm>
          <a:prstGeom prst="roundRect">
            <a:avLst>
              <a:gd name="adj" fmla="val 12443"/>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One HMAC-SHA512 of the seed gives 64 bytes, split into two halves.</a:t>
            </a:r>
          </a:p>
        </p:txBody>
      </p:sp>
      <p:sp>
        <p:nvSpPr>
          <p:cNvPr id="9" name="explanation"/>
          <p:cNvSpPr/>
          <p:nvPr/>
        </p:nvSpPr>
        <p:spPr>
          <a:xfrm>
            <a:off x="5074920" y="1740027"/>
            <a:ext cx="3657600" cy="468884"/>
          </a:xfrm>
          <a:prstGeom prst="roundRect">
            <a:avLst>
              <a:gd name="adj" fmla="val 1560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The library function master() does the same in one call.</a:t>
            </a:r>
          </a:p>
        </p:txBody>
      </p:sp>
      <p:sp>
        <p:nvSpPr>
          <p:cNvPr id="11" name="explanation"/>
          <p:cNvSpPr/>
          <p:nvPr/>
        </p:nvSpPr>
        <p:spPr>
          <a:xfrm>
            <a:off x="5074920" y="2263775"/>
            <a:ext cx="3657600" cy="735076"/>
          </a:xfrm>
          <a:prstGeom prst="roundRect">
            <a:avLst>
              <a:gd name="adj" fmla="val 995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Left half is the master private key, right half the master chain code.</a:t>
            </a:r>
          </a:p>
        </p:txBody>
      </p:sp>
      <p:sp>
        <p:nvSpPr>
          <p:cNvPr id="12" name="result label"/>
          <p:cNvSpPr txBox="1"/>
          <p:nvPr/>
        </p:nvSpPr>
        <p:spPr>
          <a:xfrm>
            <a:off x="365760" y="3090291"/>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pSp>
        <p:nvGrpSpPr>
          <p:cNvPr id="13" name="visual: seed"/>
          <p:cNvGrpSpPr/>
          <p:nvPr/>
        </p:nvGrpSpPr>
        <p:grpSpPr>
          <a:xfrm>
            <a:off x="365760" y="3382899"/>
            <a:ext cx="2194560" cy="631316"/>
            <a:chOff x="365760" y="3382899"/>
            <a:chExt cx="2194560" cy="631316"/>
          </a:xfrm>
        </p:grpSpPr>
        <p:sp>
          <p:nvSpPr>
            <p:cNvPr id="14" name="Rounded Rectangle 13"/>
            <p:cNvSpPr/>
            <p:nvPr/>
          </p:nvSpPr>
          <p:spPr>
            <a:xfrm>
              <a:off x="365760" y="3382899"/>
              <a:ext cx="2194560" cy="631316"/>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Seed, 16 bytes</a:t>
              </a:r>
            </a:p>
          </p:txBody>
        </p:sp>
      </p:grpSp>
      <p:grpSp>
        <p:nvGrpSpPr>
          <p:cNvPr id="15" name="visual: 64 bytes in two halves"/>
          <p:cNvGrpSpPr/>
          <p:nvPr/>
        </p:nvGrpSpPr>
        <p:grpSpPr>
          <a:xfrm>
            <a:off x="2560320" y="3382899"/>
            <a:ext cx="6126480" cy="631316"/>
            <a:chOff x="2560320" y="3382899"/>
            <a:chExt cx="6126480" cy="631316"/>
          </a:xfrm>
        </p:grpSpPr>
        <p:sp>
          <p:nvSpPr>
            <p:cNvPr id="16" name="Rounded Rectangle 15"/>
            <p:cNvSpPr/>
            <p:nvPr/>
          </p:nvSpPr>
          <p:spPr>
            <a:xfrm>
              <a:off x="2926080" y="3382899"/>
              <a:ext cx="2743200" cy="631316"/>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50" b="1" i="0">
                  <a:solidFill>
                    <a:srgbClr val="FFFFFF"/>
                  </a:solidFill>
                  <a:latin typeface="Calibri"/>
                </a:rPr>
                <a:t>Master private key  32 bytes  e8f32e723d...</a:t>
              </a:r>
            </a:p>
          </p:txBody>
        </p:sp>
        <p:sp>
          <p:nvSpPr>
            <p:cNvPr id="17" name="Rounded Rectangle 16"/>
            <p:cNvSpPr/>
            <p:nvPr/>
          </p:nvSpPr>
          <p:spPr>
            <a:xfrm>
              <a:off x="5852160" y="3382899"/>
              <a:ext cx="2834640" cy="631316"/>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150" b="1" i="0">
                  <a:solidFill>
                    <a:srgbClr val="FFFFFF"/>
                  </a:solidFill>
                  <a:latin typeface="Calibri"/>
                </a:rPr>
                <a:t>Master chain code  32 bytes</a:t>
              </a:r>
            </a:p>
          </p:txBody>
        </p:sp>
        <p:cxnSp>
          <p:nvCxnSpPr>
            <p:cNvPr id="18" name="Connector 17"/>
            <p:cNvCxnSpPr/>
            <p:nvPr/>
          </p:nvCxnSpPr>
          <p:spPr>
            <a:xfrm>
              <a:off x="2560320" y="3698557"/>
              <a:ext cx="365760" cy="0"/>
            </a:xfrm>
            <a:prstGeom prst="line">
              <a:avLst/>
            </a:prstGeom>
            <a:ln w="25400">
              <a:solidFill>
                <a:srgbClr val="6E655C"/>
              </a:solidFill>
              <a:tailEnd type="triangle"/>
            </a:ln>
          </p:spPr>
        </p:cxnSp>
      </p:grpSp>
      <p:sp>
        <p:nvSpPr>
          <p:cNvPr id="19" name="reading"/>
          <p:cNvSpPr txBox="1"/>
          <p:nvPr/>
        </p:nvSpPr>
        <p:spPr>
          <a:xfrm>
            <a:off x="365760" y="4078224"/>
            <a:ext cx="8321040" cy="274320"/>
          </a:xfrm>
          <a:prstGeom prst="rect">
            <a:avLst/>
          </a:prstGeom>
          <a:noFill/>
        </p:spPr>
        <p:txBody>
          <a:bodyPr wrap="square" anchor="t" lIns="45720" rIns="45720" tIns="36576" bIns="36576">
            <a:spAutoFit/>
          </a:bodyPr>
          <a:lstStyle/>
          <a:p>
            <a:pPr algn="l"/>
            <a:r>
              <a:rPr sz="1200" b="1" i="0">
                <a:solidFill>
                  <a:srgbClr val="2F6D62"/>
                </a:solidFill>
                <a:latin typeface="Calibri"/>
              </a:rPr>
              <a:t>64 bytes in all = 32 + 32; both halves match the library: True True</a:t>
            </a:r>
          </a:p>
        </p:txBody>
      </p:sp>
      <p:sp>
        <p:nvSpPr>
          <p:cNvPr id="20"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Half of the HMAC is the key, half the chain code.</a:t>
            </a:r>
          </a:p>
        </p:txBody>
      </p:sp>
      <p:sp>
        <p:nvSpPr>
          <p:cNvPr id="21"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33 / 68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12: Child keys from a parent and an index</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master</a:t>
            </a:r>
            <a:r>
              <a:rPr sz="1200" b="0" i="0">
                <a:solidFill>
                  <a:srgbClr val="E6EDF3"/>
                </a:solidFill>
                <a:latin typeface="Courier New"/>
              </a:rPr>
              <a:t>(</a:t>
            </a:r>
            <a:r>
              <a:rPr sz="1200" b="0" i="0">
                <a:solidFill>
                  <a:srgbClr val="E6EDF3"/>
                </a:solidFill>
                <a:latin typeface="Courier New"/>
              </a:rPr>
              <a:t>TV</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for</a:t>
            </a:r>
            <a:r>
              <a:rPr sz="1200" b="0" i="0">
                <a:solidFill>
                  <a:srgbClr val="E6EDF3"/>
                </a:solidFill>
                <a:latin typeface="Courier New"/>
              </a:rPr>
              <a:t> </a:t>
            </a:r>
            <a:r>
              <a:rPr sz="1200" b="0" i="0">
                <a:solidFill>
                  <a:srgbClr val="E6EDF3"/>
                </a:solidFill>
                <a:latin typeface="Courier New"/>
              </a:rPr>
              <a:t>i</a:t>
            </a:r>
            <a:r>
              <a:rPr sz="1200" b="0" i="0">
                <a:solidFill>
                  <a:srgbClr val="E6EDF3"/>
                </a:solidFill>
                <a:latin typeface="Courier New"/>
              </a:rPr>
              <a:t> </a:t>
            </a:r>
            <a:r>
              <a:rPr sz="1200" b="0" i="0">
                <a:solidFill>
                  <a:srgbClr val="FFA657"/>
                </a:solidFill>
                <a:latin typeface="Courier New"/>
              </a:rPr>
              <a:t>in</a:t>
            </a:r>
            <a:r>
              <a:rPr sz="1200" b="0" i="0">
                <a:solidFill>
                  <a:srgbClr val="E6EDF3"/>
                </a:solidFill>
                <a:latin typeface="Courier New"/>
              </a:rPr>
              <a:t> </a:t>
            </a:r>
            <a:r>
              <a:rPr sz="1200" b="0" i="0">
                <a:solidFill>
                  <a:srgbClr val="FFA657"/>
                </a:solidFill>
                <a:latin typeface="Courier New"/>
              </a:rPr>
              <a:t>range</a:t>
            </a:r>
            <a:r>
              <a:rPr sz="1200" b="0" i="0">
                <a:solidFill>
                  <a:srgbClr val="E6EDF3"/>
                </a:solidFill>
                <a:latin typeface="Courier New"/>
              </a:rPr>
              <a:t>(</a:t>
            </a:r>
            <a:r>
              <a:rPr sz="1200" b="0" i="0">
                <a:solidFill>
                  <a:srgbClr val="79C0FF"/>
                </a:solidFill>
                <a:latin typeface="Courier New"/>
              </a:rPr>
              <a:t>3</a:t>
            </a:r>
            <a:r>
              <a:rPr sz="1200" b="0" i="0">
                <a:solidFill>
                  <a:srgbClr val="E6EDF3"/>
                </a:solidFill>
                <a:latin typeface="Courier New"/>
              </a:rPr>
              <a:t>)</a:t>
            </a:r>
            <a:r>
              <a:rPr sz="1200" b="0" i="0">
                <a:solidFill>
                  <a:srgbClr val="E6EDF3"/>
                </a:solidFill>
                <a:latin typeface="Courier New"/>
              </a:rPr>
              <a:t>:</a:t>
            </a:r>
          </a:p>
        </p:txBody>
      </p:sp>
      <p:sp>
        <p:nvSpPr>
          <p:cNvPr id="8" name="code"/>
          <p:cNvSpPr/>
          <p:nvPr/>
        </p:nvSpPr>
        <p:spPr>
          <a:xfrm>
            <a:off x="365760" y="1683004"/>
            <a:ext cx="4727448" cy="890016"/>
          </a:xfrm>
          <a:prstGeom prst="roundRect">
            <a:avLst>
              <a:gd name="adj" fmla="val 821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    </a:t>
            </a:r>
            <a:r>
              <a:rPr sz="1200" b="0" i="0">
                <a:solidFill>
                  <a:srgbClr val="E6EDF3"/>
                </a:solidFill>
                <a:latin typeface="Courier New"/>
              </a:rPr>
              <a:t>ki</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ci</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ckd_priv</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i</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i</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"%064x"</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ki</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ci</a:t>
            </a:r>
            <a:r>
              <a:rPr sz="1200" b="0" i="0">
                <a:solidFill>
                  <a:srgbClr val="E6EDF3"/>
                </a:solidFill>
                <a:latin typeface="Courier New"/>
              </a:rPr>
              <a:t>.</a:t>
            </a:r>
            <a:r>
              <a:rPr sz="1200" b="0" i="0">
                <a:solidFill>
                  <a:srgbClr val="E6EDF3"/>
                </a:solidFill>
                <a:latin typeface="Courier New"/>
              </a:rPr>
              <a:t>hex</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Child key derivation, chain code and index</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Private child key derivation</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Start at the master pair and ask for children 0, 1 and 2.</a:t>
            </a:r>
          </a:p>
        </p:txBody>
      </p:sp>
      <p:sp>
        <p:nvSpPr>
          <p:cNvPr id="9" name="explanation"/>
          <p:cNvSpPr/>
          <p:nvPr/>
        </p:nvSpPr>
        <p:spPr>
          <a:xfrm>
            <a:off x="5074920" y="1683004"/>
            <a:ext cx="3657600" cy="890016"/>
          </a:xfrm>
          <a:prstGeom prst="roundRect">
            <a:avLst>
              <a:gd name="adj" fmla="val 821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Each child gets its own key and its own chain code, so the tree can keep growing.</a:t>
            </a:r>
          </a:p>
        </p:txBody>
      </p:sp>
      <p:sp>
        <p:nvSpPr>
          <p:cNvPr id="10" name="result label"/>
          <p:cNvSpPr txBox="1"/>
          <p:nvPr/>
        </p:nvSpPr>
        <p:spPr>
          <a:xfrm>
            <a:off x="365760" y="2664460"/>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2911348"/>
          <a:ext cx="8412478" cy="1243584"/>
        </p:xfrm>
        <a:graphic>
          <a:graphicData uri="http://schemas.openxmlformats.org/drawingml/2006/table">
            <a:tbl>
              <a:tblPr firstRow="1" bandRow="1">
                <a:tableStyleId>{5C22544A-7EE6-4342-B048-85BDC9FD1C3A}</a:tableStyleId>
              </a:tblPr>
              <a:tblGrid>
                <a:gridCol w="914400"/>
                <a:gridCol w="3749039"/>
                <a:gridCol w="3749039"/>
              </a:tblGrid>
              <a:tr h="310896">
                <a:tc>
                  <a:txBody>
                    <a:bodyPr wrap="square"/>
                    <a:lstStyle/>
                    <a:p>
                      <a:r>
                        <a:rPr sz="1200" b="1">
                          <a:solidFill>
                            <a:srgbClr val="FFFFFF"/>
                          </a:solidFill>
                          <a:latin typeface="Calibri"/>
                        </a:rPr>
                        <a:t>Index</a:t>
                      </a:r>
                    </a:p>
                  </a:txBody>
                  <a:tcPr marL="64008" marR="64008" marT="18288" marB="18288" anchor="ctr">
                    <a:solidFill>
                      <a:srgbClr val="2B2622"/>
                    </a:solidFill>
                  </a:tcPr>
                </a:tc>
                <a:tc>
                  <a:txBody>
                    <a:bodyPr wrap="square"/>
                    <a:lstStyle/>
                    <a:p>
                      <a:r>
                        <a:rPr sz="1200" b="1">
                          <a:solidFill>
                            <a:srgbClr val="FFFFFF"/>
                          </a:solidFill>
                          <a:latin typeface="Calibri"/>
                        </a:rPr>
                        <a:t>Child private key (first 12 hex digits)</a:t>
                      </a:r>
                    </a:p>
                  </a:txBody>
                  <a:tcPr marL="64008" marR="64008" marT="18288" marB="18288" anchor="ctr">
                    <a:solidFill>
                      <a:srgbClr val="2B2622"/>
                    </a:solidFill>
                  </a:tcPr>
                </a:tc>
                <a:tc>
                  <a:txBody>
                    <a:bodyPr wrap="square"/>
                    <a:lstStyle/>
                    <a:p>
                      <a:r>
                        <a:rPr sz="1200" b="1">
                          <a:solidFill>
                            <a:srgbClr val="FFFFFF"/>
                          </a:solidFill>
                          <a:latin typeface="Calibri"/>
                        </a:rPr>
                        <a:t>Child chain code (first 12 hex)</a:t>
                      </a:r>
                    </a:p>
                  </a:txBody>
                  <a:tcPr marL="64008" marR="64008" marT="18288" marB="18288" anchor="ctr">
                    <a:solidFill>
                      <a:srgbClr val="2B2622"/>
                    </a:solidFill>
                  </a:tcPr>
                </a:tc>
              </a:tr>
              <a:tr h="310896">
                <a:tc>
                  <a:txBody>
                    <a:bodyPr wrap="square"/>
                    <a:lstStyle/>
                    <a:p>
                      <a:r>
                        <a:rPr sz="1200" b="0">
                          <a:solidFill>
                            <a:srgbClr val="2B2622"/>
                          </a:solidFill>
                          <a:latin typeface="Calibri"/>
                        </a:rPr>
                        <a:t>0</a:t>
                      </a:r>
                    </a:p>
                  </a:txBody>
                  <a:tcPr marL="64008" marR="64008" marT="18288" marB="18288" anchor="ctr">
                    <a:solidFill>
                      <a:srgbClr val="F2ECE1"/>
                    </a:solidFill>
                  </a:tcPr>
                </a:tc>
                <a:tc>
                  <a:txBody>
                    <a:bodyPr wrap="square"/>
                    <a:lstStyle/>
                    <a:p>
                      <a:r>
                        <a:rPr sz="1200" b="0">
                          <a:solidFill>
                            <a:srgbClr val="2B2622"/>
                          </a:solidFill>
                          <a:latin typeface="Courier New"/>
                        </a:rPr>
                        <a:t>4e2cdcf2f14e</a:t>
                      </a:r>
                    </a:p>
                  </a:txBody>
                  <a:tcPr marL="64008" marR="64008" marT="18288" marB="18288" anchor="ctr">
                    <a:solidFill>
                      <a:srgbClr val="F2ECE1"/>
                    </a:solidFill>
                  </a:tcPr>
                </a:tc>
                <a:tc>
                  <a:txBody>
                    <a:bodyPr wrap="square"/>
                    <a:lstStyle/>
                    <a:p>
                      <a:r>
                        <a:rPr sz="1200" b="0">
                          <a:solidFill>
                            <a:srgbClr val="2B2622"/>
                          </a:solidFill>
                          <a:latin typeface="Courier New"/>
                        </a:rPr>
                        <a:t>d323f1be5af3</a:t>
                      </a:r>
                    </a:p>
                  </a:txBody>
                  <a:tcPr marL="64008" marR="64008" marT="18288" marB="18288" anchor="ctr">
                    <a:solidFill>
                      <a:srgbClr val="F2ECE1"/>
                    </a:solidFill>
                  </a:tcPr>
                </a:tc>
              </a:tr>
              <a:tr h="310896">
                <a:tc>
                  <a:txBody>
                    <a:bodyPr wrap="square"/>
                    <a:lstStyle/>
                    <a:p>
                      <a:r>
                        <a:rPr sz="1200" b="0">
                          <a:solidFill>
                            <a:srgbClr val="2B2622"/>
                          </a:solidFill>
                          <a:latin typeface="Calibri"/>
                        </a:rPr>
                        <a:t>1</a:t>
                      </a:r>
                    </a:p>
                  </a:txBody>
                  <a:tcPr marL="64008" marR="64008" marT="18288" marB="18288" anchor="ctr">
                    <a:solidFill>
                      <a:srgbClr val="FFFFFF"/>
                    </a:solidFill>
                  </a:tcPr>
                </a:tc>
                <a:tc>
                  <a:txBody>
                    <a:bodyPr wrap="square"/>
                    <a:lstStyle/>
                    <a:p>
                      <a:r>
                        <a:rPr sz="1200" b="0">
                          <a:solidFill>
                            <a:srgbClr val="2B2622"/>
                          </a:solidFill>
                          <a:latin typeface="Courier New"/>
                        </a:rPr>
                        <a:t>4df92b81d272</a:t>
                      </a:r>
                    </a:p>
                  </a:txBody>
                  <a:tcPr marL="64008" marR="64008" marT="18288" marB="18288" anchor="ctr">
                    <a:solidFill>
                      <a:srgbClr val="FFFFFF"/>
                    </a:solidFill>
                  </a:tcPr>
                </a:tc>
                <a:tc>
                  <a:txBody>
                    <a:bodyPr wrap="square"/>
                    <a:lstStyle/>
                    <a:p>
                      <a:r>
                        <a:rPr sz="1200" b="0">
                          <a:solidFill>
                            <a:srgbClr val="2B2622"/>
                          </a:solidFill>
                          <a:latin typeface="Courier New"/>
                        </a:rPr>
                        <a:t>8dd96414ff4d</a:t>
                      </a:r>
                    </a:p>
                  </a:txBody>
                  <a:tcPr marL="64008" marR="64008" marT="18288" marB="18288" anchor="ctr">
                    <a:solidFill>
                      <a:srgbClr val="FFFFFF"/>
                    </a:solidFill>
                  </a:tcPr>
                </a:tc>
              </a:tr>
              <a:tr h="310896">
                <a:tc>
                  <a:txBody>
                    <a:bodyPr wrap="square"/>
                    <a:lstStyle/>
                    <a:p>
                      <a:r>
                        <a:rPr sz="1200" b="0">
                          <a:solidFill>
                            <a:srgbClr val="2B2622"/>
                          </a:solidFill>
                          <a:latin typeface="Calibri"/>
                        </a:rPr>
                        <a:t>2</a:t>
                      </a:r>
                    </a:p>
                  </a:txBody>
                  <a:tcPr marL="64008" marR="64008" marT="18288" marB="18288" anchor="ctr">
                    <a:solidFill>
                      <a:srgbClr val="F2ECE1"/>
                    </a:solidFill>
                  </a:tcPr>
                </a:tc>
                <a:tc>
                  <a:txBody>
                    <a:bodyPr wrap="square"/>
                    <a:lstStyle/>
                    <a:p>
                      <a:r>
                        <a:rPr sz="1200" b="0">
                          <a:solidFill>
                            <a:srgbClr val="2B2622"/>
                          </a:solidFill>
                          <a:latin typeface="Courier New"/>
                        </a:rPr>
                        <a:t>271614f2ca44</a:t>
                      </a:r>
                    </a:p>
                  </a:txBody>
                  <a:tcPr marL="64008" marR="64008" marT="18288" marB="18288" anchor="ctr">
                    <a:solidFill>
                      <a:srgbClr val="F2ECE1"/>
                    </a:solidFill>
                  </a:tcPr>
                </a:tc>
                <a:tc>
                  <a:txBody>
                    <a:bodyPr wrap="square"/>
                    <a:lstStyle/>
                    <a:p>
                      <a:r>
                        <a:rPr sz="1200" b="0">
                          <a:solidFill>
                            <a:srgbClr val="2B2622"/>
                          </a:solidFill>
                          <a:latin typeface="Courier New"/>
                        </a:rPr>
                        <a:t>6da671c6fba4</a:t>
                      </a:r>
                    </a:p>
                  </a:txBody>
                  <a:tcPr marL="64008" marR="64008" marT="18288" marB="18288" anchor="ctr">
                    <a:solidFill>
                      <a:srgbClr val="F2ECE1"/>
                    </a:solidFill>
                  </a:tcPr>
                </a:tc>
              </a:tr>
            </a:tbl>
          </a:graphicData>
        </a:graphic>
      </p:graphicFrame>
      <p:sp>
        <p:nvSpPr>
          <p:cNvPr id="1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Three indexes, three unrelated children.</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34 / 68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13: Hardened and normal children differ</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master</a:t>
            </a:r>
            <a:r>
              <a:rPr sz="1200" b="0" i="0">
                <a:solidFill>
                  <a:srgbClr val="E6EDF3"/>
                </a:solidFill>
                <a:latin typeface="Courier New"/>
              </a:rPr>
              <a:t>(</a:t>
            </a:r>
            <a:r>
              <a:rPr sz="1200" b="0" i="0">
                <a:solidFill>
                  <a:srgbClr val="E6EDF3"/>
                </a:solidFill>
                <a:latin typeface="Courier New"/>
              </a:rPr>
              <a:t>TV</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normal</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ckd_priv</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0</a:t>
            </a:r>
            <a:r>
              <a:rPr sz="1200" b="0" i="0">
                <a:solidFill>
                  <a:srgbClr val="E6EDF3"/>
                </a:solidFill>
                <a:latin typeface="Courier New"/>
              </a:rPr>
              <a:t>)</a:t>
            </a:r>
          </a:p>
        </p:txBody>
      </p:sp>
      <p:sp>
        <p:nvSpPr>
          <p:cNvPr id="8" name="code"/>
          <p:cNvSpPr/>
          <p:nvPr/>
        </p:nvSpPr>
        <p:spPr>
          <a:xfrm>
            <a:off x="365760" y="1683004"/>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hard</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ckd_priv</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HARD</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HARD</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normal</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hard</a:t>
            </a:r>
            <a:r>
              <a:rPr sz="1200" b="0" i="0">
                <a:solidFill>
                  <a:srgbClr val="E6EDF3"/>
                </a:solidFill>
                <a:latin typeface="Courier New"/>
              </a:rPr>
              <a:t>)</a:t>
            </a:r>
          </a:p>
        </p:txBody>
      </p:sp>
      <p:sp>
        <p:nvSpPr>
          <p:cNvPr id="10" name="code"/>
          <p:cNvSpPr/>
          <p:nvPr/>
        </p:nvSpPr>
        <p:spPr>
          <a:xfrm>
            <a:off x="365760" y="2268727"/>
            <a:ext cx="4727448" cy="704088"/>
          </a:xfrm>
          <a:prstGeom prst="roundRect">
            <a:avLst>
              <a:gd name="adj" fmla="val 1038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path_indices</a:t>
            </a:r>
            <a:r>
              <a:rPr sz="1200" b="0" i="0">
                <a:solidFill>
                  <a:srgbClr val="E6EDF3"/>
                </a:solidFill>
                <a:latin typeface="Courier New"/>
              </a:rPr>
              <a:t>(</a:t>
            </a:r>
            <a:r>
              <a:rPr sz="1200" b="0" i="0">
                <a:solidFill>
                  <a:srgbClr val="7EE787"/>
                </a:solidFill>
                <a:latin typeface="Courier New"/>
              </a:rPr>
              <a:t>"m/0h"</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HARD</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Hardened child key derivation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Hardened child key derivation</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Child number 0 is in the normal range, below 2 to the 31.</a:t>
            </a:r>
          </a:p>
        </p:txBody>
      </p:sp>
      <p:sp>
        <p:nvSpPr>
          <p:cNvPr id="9" name="explanation"/>
          <p:cNvSpPr/>
          <p:nvPr/>
        </p:nvSpPr>
        <p:spPr>
          <a:xfrm>
            <a:off x="5074920" y="1683004"/>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Child number 2147483648 is the first hardened one: a different key.</a:t>
            </a:r>
          </a:p>
        </p:txBody>
      </p:sp>
      <p:sp>
        <p:nvSpPr>
          <p:cNvPr id="11" name="explanation"/>
          <p:cNvSpPr/>
          <p:nvPr/>
        </p:nvSpPr>
        <p:spPr>
          <a:xfrm>
            <a:off x="5074920" y="2268727"/>
            <a:ext cx="3657600" cy="704088"/>
          </a:xfrm>
          <a:prstGeom prst="roundRect">
            <a:avLst>
              <a:gd name="adj" fmla="val 1038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In a path, the letter h adds 2 to the power 31 to the index.</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1114552"/>
        </p:xfrm>
        <a:graphic>
          <a:graphicData uri="http://schemas.openxmlformats.org/drawingml/2006/table">
            <a:tbl>
              <a:tblPr firstRow="1" bandRow="1">
                <a:tableStyleId>{5C22544A-7EE6-4342-B048-85BDC9FD1C3A}</a:tableStyleId>
              </a:tblPr>
              <a:tblGrid>
                <a:gridCol w="2743200"/>
                <a:gridCol w="2743200"/>
                <a:gridCol w="2926080"/>
              </a:tblGrid>
              <a:tr h="278638">
                <a:tc>
                  <a:txBody>
                    <a:bodyPr wrap="square"/>
                    <a:lstStyle/>
                    <a:p>
                      <a:r>
                        <a:rPr sz="1200" b="1">
                          <a:solidFill>
                            <a:srgbClr val="FFFFFF"/>
                          </a:solidFill>
                          <a:latin typeface="Calibri"/>
                        </a:rPr>
                        <a:t>Child index</a:t>
                      </a:r>
                    </a:p>
                  </a:txBody>
                  <a:tcPr marL="64008" marR="64008" marT="18288" marB="18288" anchor="ctr">
                    <a:solidFill>
                      <a:srgbClr val="2B2622"/>
                    </a:solidFill>
                  </a:tcPr>
                </a:tc>
                <a:tc>
                  <a:txBody>
                    <a:bodyPr wrap="square"/>
                    <a:lstStyle/>
                    <a:p>
                      <a:r>
                        <a:rPr sz="1200" b="1">
                          <a:solidFill>
                            <a:srgbClr val="FFFFFF"/>
                          </a:solidFill>
                          <a:latin typeface="Calibri"/>
                        </a:rPr>
                        <a:t>Kind</a:t>
                      </a:r>
                    </a:p>
                  </a:txBody>
                  <a:tcPr marL="64008" marR="64008" marT="18288" marB="18288" anchor="ctr">
                    <a:solidFill>
                      <a:srgbClr val="2B2622"/>
                    </a:solidFill>
                  </a:tcPr>
                </a:tc>
                <a:tc>
                  <a:txBody>
                    <a:bodyPr wrap="square"/>
                    <a:lstStyle/>
                    <a:p>
                      <a:r>
                        <a:rPr sz="1200" b="1">
                          <a:solidFill>
                            <a:srgbClr val="FFFFFF"/>
                          </a:solidFill>
                          <a:latin typeface="Calibri"/>
                        </a:rPr>
                        <a:t>Same key as child 0?</a:t>
                      </a:r>
                    </a:p>
                  </a:txBody>
                  <a:tcPr marL="64008" marR="64008" marT="18288" marB="18288" anchor="ctr">
                    <a:solidFill>
                      <a:srgbClr val="2B2622"/>
                    </a:solidFill>
                  </a:tcPr>
                </a:tc>
              </a:tr>
              <a:tr h="278638">
                <a:tc>
                  <a:txBody>
                    <a:bodyPr wrap="square"/>
                    <a:lstStyle/>
                    <a:p>
                      <a:r>
                        <a:rPr sz="1200" b="0">
                          <a:solidFill>
                            <a:srgbClr val="2B2622"/>
                          </a:solidFill>
                          <a:latin typeface="Calibri"/>
                        </a:rPr>
                        <a:t>0</a:t>
                      </a:r>
                    </a:p>
                  </a:txBody>
                  <a:tcPr marL="64008" marR="64008" marT="18288" marB="18288" anchor="ctr">
                    <a:solidFill>
                      <a:srgbClr val="F2ECE1"/>
                    </a:solidFill>
                  </a:tcPr>
                </a:tc>
                <a:tc>
                  <a:txBody>
                    <a:bodyPr wrap="square"/>
                    <a:lstStyle/>
                    <a:p>
                      <a:r>
                        <a:rPr sz="1200" b="0">
                          <a:solidFill>
                            <a:srgbClr val="2B2622"/>
                          </a:solidFill>
                          <a:latin typeface="Calibri"/>
                        </a:rPr>
                        <a:t>normal</a:t>
                      </a:r>
                    </a:p>
                  </a:txBody>
                  <a:tcPr marL="64008" marR="64008" marT="18288" marB="18288" anchor="ctr">
                    <a:solidFill>
                      <a:srgbClr val="F2ECE1"/>
                    </a:solidFill>
                  </a:tcPr>
                </a:tc>
                <a:tc>
                  <a:txBody>
                    <a:bodyPr wrap="square"/>
                    <a:lstStyle/>
                    <a:p>
                      <a:r>
                        <a:rPr sz="1200" b="0">
                          <a:solidFill>
                            <a:srgbClr val="2B2622"/>
                          </a:solidFill>
                          <a:latin typeface="Calibri"/>
                        </a:rPr>
                        <a:t>-</a:t>
                      </a:r>
                    </a:p>
                  </a:txBody>
                  <a:tcPr marL="64008" marR="64008" marT="18288" marB="18288" anchor="ctr">
                    <a:solidFill>
                      <a:srgbClr val="F2ECE1"/>
                    </a:solidFill>
                  </a:tcPr>
                </a:tc>
              </a:tr>
              <a:tr h="278638">
                <a:tc>
                  <a:txBody>
                    <a:bodyPr wrap="square"/>
                    <a:lstStyle/>
                    <a:p>
                      <a:r>
                        <a:rPr sz="1200" b="0">
                          <a:solidFill>
                            <a:srgbClr val="2B2622"/>
                          </a:solidFill>
                          <a:latin typeface="Calibri"/>
                        </a:rPr>
                        <a:t>2147483648</a:t>
                      </a:r>
                    </a:p>
                  </a:txBody>
                  <a:tcPr marL="64008" marR="64008" marT="18288" marB="18288" anchor="ctr">
                    <a:solidFill>
                      <a:srgbClr val="FFFFFF"/>
                    </a:solidFill>
                  </a:tcPr>
                </a:tc>
                <a:tc>
                  <a:txBody>
                    <a:bodyPr wrap="square"/>
                    <a:lstStyle/>
                    <a:p>
                      <a:r>
                        <a:rPr sz="1200" b="0">
                          <a:solidFill>
                            <a:srgbClr val="2B2622"/>
                          </a:solidFill>
                          <a:latin typeface="Calibri"/>
                        </a:rPr>
                        <a:t>hardened (first one)</a:t>
                      </a:r>
                    </a:p>
                  </a:txBody>
                  <a:tcPr marL="64008" marR="64008" marT="18288" marB="18288" anchor="ctr">
                    <a:solidFill>
                      <a:srgbClr val="FFFFFF"/>
                    </a:solidFill>
                  </a:tcPr>
                </a:tc>
                <a:tc>
                  <a:txBody>
                    <a:bodyPr wrap="square"/>
                    <a:lstStyle/>
                    <a:p>
                      <a:r>
                        <a:rPr sz="1200" b="0">
                          <a:solidFill>
                            <a:srgbClr val="2B2622"/>
                          </a:solidFill>
                          <a:latin typeface="Calibri"/>
                        </a:rPr>
                        <a:t>False</a:t>
                      </a:r>
                    </a:p>
                  </a:txBody>
                  <a:tcPr marL="64008" marR="64008" marT="18288" marB="18288" anchor="ctr">
                    <a:solidFill>
                      <a:srgbClr val="FFFFFF"/>
                    </a:solidFill>
                  </a:tcPr>
                </a:tc>
              </a:tr>
              <a:tr h="278638">
                <a:tc>
                  <a:txBody>
                    <a:bodyPr wrap="square"/>
                    <a:lstStyle/>
                    <a:p>
                      <a:r>
                        <a:rPr sz="1200" b="0">
                          <a:solidFill>
                            <a:srgbClr val="2B2622"/>
                          </a:solidFill>
                          <a:latin typeface="Calibri"/>
                        </a:rPr>
                        <a:t>the path m/0h</a:t>
                      </a:r>
                    </a:p>
                  </a:txBody>
                  <a:tcPr marL="64008" marR="64008" marT="18288" marB="18288" anchor="ctr">
                    <a:solidFill>
                      <a:srgbClr val="F2ECE1"/>
                    </a:solidFill>
                  </a:tcPr>
                </a:tc>
                <a:tc>
                  <a:txBody>
                    <a:bodyPr wrap="square"/>
                    <a:lstStyle/>
                    <a:p>
                      <a:r>
                        <a:rPr sz="1200" b="0">
                          <a:solidFill>
                            <a:srgbClr val="2B2622"/>
                          </a:solidFill>
                          <a:latin typeface="Calibri"/>
                        </a:rPr>
                        <a:t>hardened</a:t>
                      </a:r>
                    </a:p>
                  </a:txBody>
                  <a:tcPr marL="64008" marR="64008" marT="18288" marB="18288" anchor="ctr">
                    <a:solidFill>
                      <a:srgbClr val="F2ECE1"/>
                    </a:solidFill>
                  </a:tcPr>
                </a:tc>
                <a:tc>
                  <a:txBody>
                    <a:bodyPr wrap="square"/>
                    <a:lstStyle/>
                    <a:p>
                      <a:r>
                        <a:rPr sz="1200" b="0">
                          <a:solidFill>
                            <a:srgbClr val="2B2622"/>
                          </a:solidFill>
                          <a:latin typeface="Calibri"/>
                        </a:rPr>
                        <a:t>its index is 2^31: True</a:t>
                      </a:r>
                    </a:p>
                  </a:txBody>
                  <a:tcPr marL="64008" marR="64008" marT="18288" marB="18288" anchor="ctr">
                    <a:solidFill>
                      <a:srgbClr val="F2ECE1"/>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The letter h in a path is a security decision.</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35 / 68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14: Why hardened steps protect the parent</a:t>
            </a:r>
          </a:p>
        </p:txBody>
      </p:sp>
      <p:sp>
        <p:nvSpPr>
          <p:cNvPr id="6" name="code"/>
          <p:cNvSpPr/>
          <p:nvPr/>
        </p:nvSpPr>
        <p:spPr>
          <a:xfrm>
            <a:off x="365760" y="1097280"/>
            <a:ext cx="4727448" cy="518160"/>
          </a:xfrm>
          <a:prstGeom prst="roundRect">
            <a:avLst>
              <a:gd name="adj" fmla="val 14117"/>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master</a:t>
            </a:r>
            <a:r>
              <a:rPr sz="1200" b="0" i="0">
                <a:solidFill>
                  <a:srgbClr val="E6EDF3"/>
                </a:solidFill>
                <a:latin typeface="Courier New"/>
              </a:rPr>
              <a:t>(</a:t>
            </a:r>
            <a:r>
              <a:rPr sz="1200" b="0" i="0">
                <a:solidFill>
                  <a:srgbClr val="E6EDF3"/>
                </a:solidFill>
                <a:latin typeface="Courier New"/>
              </a:rPr>
              <a:t>TV</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ec_mul</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p>
        </p:txBody>
      </p:sp>
      <p:sp>
        <p:nvSpPr>
          <p:cNvPr id="8" name="code"/>
          <p:cNvSpPr/>
          <p:nvPr/>
        </p:nvSpPr>
        <p:spPr>
          <a:xfrm>
            <a:off x="365760" y="1670304"/>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kid</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ckd_priv</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5</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back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leak_parent_private_key</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5</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kid</a:t>
            </a:r>
            <a:r>
              <a:rPr sz="1200" b="0" i="0">
                <a:solidFill>
                  <a:srgbClr val="E6EDF3"/>
                </a:solidFill>
                <a:latin typeface="Courier New"/>
              </a:rPr>
              <a:t>)</a:t>
            </a:r>
          </a:p>
        </p:txBody>
      </p:sp>
      <p:sp>
        <p:nvSpPr>
          <p:cNvPr id="10" name="code"/>
          <p:cNvSpPr/>
          <p:nvPr/>
        </p:nvSpPr>
        <p:spPr>
          <a:xfrm>
            <a:off x="365760" y="2256028"/>
            <a:ext cx="4727448" cy="704088"/>
          </a:xfrm>
          <a:prstGeom prst="roundRect">
            <a:avLst>
              <a:gd name="adj" fmla="val 1038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back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k</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Using derived child keys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Using derived child keys</a:t>
            </a:r>
          </a:p>
        </p:txBody>
      </p:sp>
      <p:sp>
        <p:nvSpPr>
          <p:cNvPr id="7" name="explanation"/>
          <p:cNvSpPr/>
          <p:nvPr/>
        </p:nvSpPr>
        <p:spPr>
          <a:xfrm>
            <a:off x="5074920" y="1097280"/>
            <a:ext cx="3657600" cy="518160"/>
          </a:xfrm>
          <a:prstGeom prst="roundRect">
            <a:avLst>
              <a:gd name="adj" fmla="val 14117"/>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Take a parent key and its public key K.</a:t>
            </a:r>
          </a:p>
        </p:txBody>
      </p:sp>
      <p:sp>
        <p:nvSpPr>
          <p:cNvPr id="9" name="explanation"/>
          <p:cNvSpPr/>
          <p:nvPr/>
        </p:nvSpPr>
        <p:spPr>
          <a:xfrm>
            <a:off x="5074920" y="1670304"/>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The extended public key plus ONE normal child private key.</a:t>
            </a:r>
          </a:p>
        </p:txBody>
      </p:sp>
      <p:sp>
        <p:nvSpPr>
          <p:cNvPr id="11" name="explanation"/>
          <p:cNvSpPr/>
          <p:nvPr/>
        </p:nvSpPr>
        <p:spPr>
          <a:xfrm>
            <a:off x="5074920" y="2256028"/>
            <a:ext cx="3657600" cy="704088"/>
          </a:xfrm>
          <a:prstGeom prst="roundRect">
            <a:avLst>
              <a:gd name="adj" fmla="val 1038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The parent private key falls out. A hardened step cannot be undone this way.</a:t>
            </a:r>
          </a:p>
        </p:txBody>
      </p:sp>
      <p:sp>
        <p:nvSpPr>
          <p:cNvPr id="12" name="result label"/>
          <p:cNvSpPr txBox="1"/>
          <p:nvPr/>
        </p:nvSpPr>
        <p:spPr>
          <a:xfrm>
            <a:off x="365760" y="30515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pSp>
        <p:nvGrpSpPr>
          <p:cNvPr id="13" name="visual: the leak"/>
          <p:cNvGrpSpPr/>
          <p:nvPr/>
        </p:nvGrpSpPr>
        <p:grpSpPr>
          <a:xfrm>
            <a:off x="365760" y="3344164"/>
            <a:ext cx="8321040" cy="670051"/>
            <a:chOff x="365760" y="3344164"/>
            <a:chExt cx="8321040" cy="670051"/>
          </a:xfrm>
        </p:grpSpPr>
        <p:sp>
          <p:nvSpPr>
            <p:cNvPr id="14" name="Rounded Rectangle 13"/>
            <p:cNvSpPr/>
            <p:nvPr/>
          </p:nvSpPr>
          <p:spPr>
            <a:xfrm>
              <a:off x="365760" y="3344164"/>
              <a:ext cx="1888236" cy="670051"/>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Parent extended public key</a:t>
              </a:r>
            </a:p>
          </p:txBody>
        </p:sp>
        <p:cxnSp>
          <p:nvCxnSpPr>
            <p:cNvPr id="15" name="Connector 14"/>
            <p:cNvCxnSpPr/>
            <p:nvPr/>
          </p:nvCxnSpPr>
          <p:spPr>
            <a:xfrm>
              <a:off x="2253996" y="3679190"/>
              <a:ext cx="256031" cy="0"/>
            </a:xfrm>
            <a:prstGeom prst="line">
              <a:avLst/>
            </a:prstGeom>
            <a:ln w="25400">
              <a:solidFill>
                <a:srgbClr val="6E655C"/>
              </a:solidFill>
              <a:tailEnd type="triangle"/>
            </a:ln>
          </p:spPr>
        </p:cxnSp>
        <p:sp>
          <p:nvSpPr>
            <p:cNvPr id="16" name="Rounded Rectangle 15"/>
            <p:cNvSpPr/>
            <p:nvPr/>
          </p:nvSpPr>
          <p:spPr>
            <a:xfrm>
              <a:off x="2510027" y="3344164"/>
              <a:ext cx="1888236" cy="670051"/>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 one normal child private key</a:t>
              </a:r>
            </a:p>
          </p:txBody>
        </p:sp>
        <p:cxnSp>
          <p:nvCxnSpPr>
            <p:cNvPr id="17" name="Connector 16"/>
            <p:cNvCxnSpPr/>
            <p:nvPr/>
          </p:nvCxnSpPr>
          <p:spPr>
            <a:xfrm>
              <a:off x="4398264" y="3679190"/>
              <a:ext cx="256032" cy="0"/>
            </a:xfrm>
            <a:prstGeom prst="line">
              <a:avLst/>
            </a:prstGeom>
            <a:ln w="25400">
              <a:solidFill>
                <a:srgbClr val="6E655C"/>
              </a:solidFill>
              <a:tailEnd type="triangle"/>
            </a:ln>
          </p:spPr>
        </p:cxnSp>
        <p:sp>
          <p:nvSpPr>
            <p:cNvPr id="18" name="Rounded Rectangle 17"/>
            <p:cNvSpPr/>
            <p:nvPr/>
          </p:nvSpPr>
          <p:spPr>
            <a:xfrm>
              <a:off x="4654296" y="3344164"/>
              <a:ext cx="1888236" cy="670051"/>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 the hash value</a:t>
              </a:r>
            </a:p>
          </p:txBody>
        </p:sp>
        <p:cxnSp>
          <p:nvCxnSpPr>
            <p:cNvPr id="19" name="Connector 18"/>
            <p:cNvCxnSpPr/>
            <p:nvPr/>
          </p:nvCxnSpPr>
          <p:spPr>
            <a:xfrm>
              <a:off x="6542531" y="3679190"/>
              <a:ext cx="256033" cy="0"/>
            </a:xfrm>
            <a:prstGeom prst="line">
              <a:avLst/>
            </a:prstGeom>
            <a:ln w="25400">
              <a:solidFill>
                <a:srgbClr val="6E655C"/>
              </a:solidFill>
              <a:tailEnd type="triangle"/>
            </a:ln>
          </p:spPr>
        </p:cxnSp>
        <p:sp>
          <p:nvSpPr>
            <p:cNvPr id="20" name="Rounded Rectangle 19"/>
            <p:cNvSpPr/>
            <p:nvPr/>
          </p:nvSpPr>
          <p:spPr>
            <a:xfrm>
              <a:off x="6798564" y="3344164"/>
              <a:ext cx="1888236" cy="670051"/>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 parent private key</a:t>
              </a:r>
            </a:p>
          </p:txBody>
        </p:sp>
      </p:grpSp>
      <p:sp>
        <p:nvSpPr>
          <p:cNvPr id="21" name="reading"/>
          <p:cNvSpPr txBox="1"/>
          <p:nvPr/>
        </p:nvSpPr>
        <p:spPr>
          <a:xfrm>
            <a:off x="365760" y="4078224"/>
            <a:ext cx="8321040" cy="274320"/>
          </a:xfrm>
          <a:prstGeom prst="rect">
            <a:avLst/>
          </a:prstGeom>
          <a:noFill/>
        </p:spPr>
        <p:txBody>
          <a:bodyPr wrap="square" anchor="t" lIns="45720" rIns="45720" tIns="36576" bIns="36576">
            <a:spAutoFit/>
          </a:bodyPr>
          <a:lstStyle/>
          <a:p>
            <a:pPr algn="l"/>
            <a:r>
              <a:rPr sz="1200" b="1" i="0">
                <a:solidFill>
                  <a:srgbClr val="2F6D62"/>
                </a:solidFill>
                <a:latin typeface="Calibri"/>
              </a:rPr>
              <a:t>The run printed True: the parent private key was recovered.</a:t>
            </a:r>
          </a:p>
        </p:txBody>
      </p:sp>
      <p:sp>
        <p:nvSpPr>
          <p:cNvPr id="2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Normal child plus xpub exposes the parent; hardening stops it.</a:t>
            </a:r>
          </a:p>
        </p:txBody>
      </p:sp>
      <p:sp>
        <p:nvSpPr>
          <p:cNvPr id="2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36 / 68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15: Public keys derived without private keys</a:t>
            </a:r>
          </a:p>
        </p:txBody>
      </p:sp>
      <p:sp>
        <p:nvSpPr>
          <p:cNvPr id="6" name="code"/>
          <p:cNvSpPr/>
          <p:nvPr/>
        </p:nvSpPr>
        <p:spPr>
          <a:xfrm>
            <a:off x="365760" y="1097280"/>
            <a:ext cx="4727448" cy="518160"/>
          </a:xfrm>
          <a:prstGeom prst="roundRect">
            <a:avLst>
              <a:gd name="adj" fmla="val 14117"/>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master</a:t>
            </a:r>
            <a:r>
              <a:rPr sz="1200" b="0" i="0">
                <a:solidFill>
                  <a:srgbClr val="E6EDF3"/>
                </a:solidFill>
                <a:latin typeface="Courier New"/>
              </a:rPr>
              <a:t>(</a:t>
            </a:r>
            <a:r>
              <a:rPr sz="1200" b="0" i="0">
                <a:solidFill>
                  <a:srgbClr val="E6EDF3"/>
                </a:solidFill>
                <a:latin typeface="Courier New"/>
              </a:rPr>
              <a:t>TV</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ec_mul</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p>
        </p:txBody>
      </p:sp>
      <p:sp>
        <p:nvSpPr>
          <p:cNvPr id="8" name="code"/>
          <p:cNvSpPr/>
          <p:nvPr/>
        </p:nvSpPr>
        <p:spPr>
          <a:xfrm>
            <a:off x="365760" y="1670304"/>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k5</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ckd_priv</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5</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K5</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ckd_pub</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5</a:t>
            </a:r>
            <a:r>
              <a:rPr sz="1200" b="0" i="0">
                <a:solidFill>
                  <a:srgbClr val="E6EDF3"/>
                </a:solidFill>
                <a:latin typeface="Courier New"/>
              </a:rPr>
              <a:t>)</a:t>
            </a:r>
          </a:p>
        </p:txBody>
      </p:sp>
      <p:sp>
        <p:nvSpPr>
          <p:cNvPr id="10" name="code"/>
          <p:cNvSpPr/>
          <p:nvPr/>
        </p:nvSpPr>
        <p:spPr>
          <a:xfrm>
            <a:off x="365760" y="2256028"/>
            <a:ext cx="4727448" cy="732282"/>
          </a:xfrm>
          <a:prstGeom prst="roundRect">
            <a:avLst>
              <a:gd name="adj" fmla="val 998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ec_mul</a:t>
            </a:r>
            <a:r>
              <a:rPr sz="1200" b="0" i="0">
                <a:solidFill>
                  <a:srgbClr val="E6EDF3"/>
                </a:solidFill>
                <a:latin typeface="Courier New"/>
              </a:rPr>
              <a:t>(</a:t>
            </a:r>
            <a:r>
              <a:rPr sz="1200" b="0" i="0">
                <a:solidFill>
                  <a:srgbClr val="E6EDF3"/>
                </a:solidFill>
                <a:latin typeface="Courier New"/>
              </a:rPr>
              <a:t>k5</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K5</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Public child key derivation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Public Child Key Derivation</a:t>
            </a:r>
          </a:p>
        </p:txBody>
      </p:sp>
      <p:sp>
        <p:nvSpPr>
          <p:cNvPr id="7" name="explanation"/>
          <p:cNvSpPr/>
          <p:nvPr/>
        </p:nvSpPr>
        <p:spPr>
          <a:xfrm>
            <a:off x="5074920" y="1097280"/>
            <a:ext cx="3657600" cy="518160"/>
          </a:xfrm>
          <a:prstGeom prst="roundRect">
            <a:avLst>
              <a:gd name="adj" fmla="val 14117"/>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The parent private key and its public key.</a:t>
            </a:r>
          </a:p>
        </p:txBody>
      </p:sp>
      <p:sp>
        <p:nvSpPr>
          <p:cNvPr id="9" name="explanation"/>
          <p:cNvSpPr/>
          <p:nvPr/>
        </p:nvSpPr>
        <p:spPr>
          <a:xfrm>
            <a:off x="5074920" y="1670304"/>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Route one: derive the private child, then its public key. Route two: use only K.</a:t>
            </a:r>
          </a:p>
        </p:txBody>
      </p:sp>
      <p:sp>
        <p:nvSpPr>
          <p:cNvPr id="11" name="explanation"/>
          <p:cNvSpPr/>
          <p:nvPr/>
        </p:nvSpPr>
        <p:spPr>
          <a:xfrm>
            <a:off x="5074920" y="2256028"/>
            <a:ext cx="3657600" cy="732282"/>
          </a:xfrm>
          <a:prstGeom prst="roundRect">
            <a:avLst>
              <a:gd name="adj" fmla="val 998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Both routes give the same public key, so a shop can make addresses without any private key.</a:t>
            </a:r>
          </a:p>
        </p:txBody>
      </p:sp>
      <p:sp>
        <p:nvSpPr>
          <p:cNvPr id="12" name="result label"/>
          <p:cNvSpPr txBox="1"/>
          <p:nvPr/>
        </p:nvSpPr>
        <p:spPr>
          <a:xfrm>
            <a:off x="365760" y="3079750"/>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pSp>
        <p:nvGrpSpPr>
          <p:cNvPr id="13" name="visual: two routes, one result"/>
          <p:cNvGrpSpPr/>
          <p:nvPr/>
        </p:nvGrpSpPr>
        <p:grpSpPr>
          <a:xfrm>
            <a:off x="365760" y="3344926"/>
            <a:ext cx="8321040" cy="1035049"/>
            <a:chOff x="365760" y="3344926"/>
            <a:chExt cx="8321040" cy="1035049"/>
          </a:xfrm>
        </p:grpSpPr>
        <p:sp>
          <p:nvSpPr>
            <p:cNvPr id="14" name="Rounded Rectangle 13"/>
            <p:cNvSpPr/>
            <p:nvPr/>
          </p:nvSpPr>
          <p:spPr>
            <a:xfrm>
              <a:off x="365760" y="3344926"/>
              <a:ext cx="2377440" cy="435228"/>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50" b="0" i="0">
                  <a:solidFill>
                    <a:srgbClr val="2B2622"/>
                  </a:solidFill>
                  <a:latin typeface="Calibri"/>
                </a:rPr>
                <a:t>Parent private key</a:t>
              </a:r>
            </a:p>
          </p:txBody>
        </p:sp>
        <p:sp>
          <p:nvSpPr>
            <p:cNvPr id="15" name="Rounded Rectangle 14"/>
            <p:cNvSpPr/>
            <p:nvPr/>
          </p:nvSpPr>
          <p:spPr>
            <a:xfrm>
              <a:off x="3108960" y="3344926"/>
              <a:ext cx="2377440" cy="435228"/>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50" b="0" i="0">
                  <a:solidFill>
                    <a:srgbClr val="2B2622"/>
                  </a:solidFill>
                  <a:latin typeface="Calibri"/>
                </a:rPr>
                <a:t>Child private key</a:t>
              </a:r>
            </a:p>
          </p:txBody>
        </p:sp>
        <p:sp>
          <p:nvSpPr>
            <p:cNvPr id="16" name="Rounded Rectangle 15"/>
            <p:cNvSpPr/>
            <p:nvPr/>
          </p:nvSpPr>
          <p:spPr>
            <a:xfrm>
              <a:off x="5852160" y="3344926"/>
              <a:ext cx="2834640" cy="435228"/>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50" b="1" i="0">
                  <a:solidFill>
                    <a:srgbClr val="FFFFFF"/>
                  </a:solidFill>
                  <a:latin typeface="Calibri"/>
                </a:rPr>
                <a:t>Child public key</a:t>
              </a:r>
            </a:p>
          </p:txBody>
        </p:sp>
        <p:cxnSp>
          <p:nvCxnSpPr>
            <p:cNvPr id="17" name="Connector 16"/>
            <p:cNvCxnSpPr/>
            <p:nvPr/>
          </p:nvCxnSpPr>
          <p:spPr>
            <a:xfrm>
              <a:off x="2743200" y="3562540"/>
              <a:ext cx="365760" cy="0"/>
            </a:xfrm>
            <a:prstGeom prst="line">
              <a:avLst/>
            </a:prstGeom>
            <a:ln w="25400">
              <a:solidFill>
                <a:srgbClr val="6E655C"/>
              </a:solidFill>
              <a:tailEnd type="triangle"/>
            </a:ln>
          </p:spPr>
        </p:cxnSp>
        <p:cxnSp>
          <p:nvCxnSpPr>
            <p:cNvPr id="18" name="Connector 17"/>
            <p:cNvCxnSpPr/>
            <p:nvPr/>
          </p:nvCxnSpPr>
          <p:spPr>
            <a:xfrm>
              <a:off x="5486400" y="3562540"/>
              <a:ext cx="365760" cy="0"/>
            </a:xfrm>
            <a:prstGeom prst="line">
              <a:avLst/>
            </a:prstGeom>
            <a:ln w="25400">
              <a:solidFill>
                <a:srgbClr val="6E655C"/>
              </a:solidFill>
              <a:tailEnd type="triangle"/>
            </a:ln>
          </p:spPr>
        </p:cxnSp>
        <p:sp>
          <p:nvSpPr>
            <p:cNvPr id="19" name="Rounded Rectangle 18"/>
            <p:cNvSpPr/>
            <p:nvPr/>
          </p:nvSpPr>
          <p:spPr>
            <a:xfrm>
              <a:off x="365760" y="3944747"/>
              <a:ext cx="2377440" cy="435228"/>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50" b="0" i="0">
                  <a:solidFill>
                    <a:srgbClr val="2B2622"/>
                  </a:solidFill>
                  <a:latin typeface="Calibri"/>
                </a:rPr>
                <a:t>Parent public key</a:t>
              </a:r>
            </a:p>
          </p:txBody>
        </p:sp>
        <p:sp>
          <p:nvSpPr>
            <p:cNvPr id="20" name="Rounded Rectangle 19"/>
            <p:cNvSpPr/>
            <p:nvPr/>
          </p:nvSpPr>
          <p:spPr>
            <a:xfrm>
              <a:off x="5852160" y="3944747"/>
              <a:ext cx="2834640" cy="435228"/>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150" b="1" i="0">
                  <a:solidFill>
                    <a:srgbClr val="FFFFFF"/>
                  </a:solidFill>
                  <a:latin typeface="Calibri"/>
                </a:rPr>
                <a:t>Same child public key: True</a:t>
              </a:r>
            </a:p>
          </p:txBody>
        </p:sp>
        <p:cxnSp>
          <p:nvCxnSpPr>
            <p:cNvPr id="21" name="Connector 20"/>
            <p:cNvCxnSpPr/>
            <p:nvPr/>
          </p:nvCxnSpPr>
          <p:spPr>
            <a:xfrm>
              <a:off x="2743200" y="4162361"/>
              <a:ext cx="3108960" cy="0"/>
            </a:xfrm>
            <a:prstGeom prst="line">
              <a:avLst/>
            </a:prstGeom>
            <a:ln w="25400">
              <a:solidFill>
                <a:srgbClr val="6E655C"/>
              </a:solidFill>
              <a:tailEnd type="triangle"/>
            </a:ln>
          </p:spPr>
        </p:cxnSp>
      </p:grpSp>
      <p:sp>
        <p:nvSpPr>
          <p:cNvPr id="2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Public keys alone can make the shop's addresses.</a:t>
            </a:r>
          </a:p>
        </p:txBody>
      </p:sp>
      <p:sp>
        <p:nvSpPr>
          <p:cNvPr id="2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37 / 68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16: Extended keys, xprv and xpub</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master</a:t>
            </a:r>
            <a:r>
              <a:rPr sz="1050" b="0" i="0">
                <a:solidFill>
                  <a:srgbClr val="E6EDF3"/>
                </a:solidFill>
                <a:latin typeface="Courier New"/>
              </a:rPr>
              <a:t>(</a:t>
            </a:r>
            <a:r>
              <a:rPr sz="1050" b="0" i="0">
                <a:solidFill>
                  <a:srgbClr val="E6EDF3"/>
                </a:solidFill>
                <a:latin typeface="Courier New"/>
              </a:rPr>
              <a:t>TV</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xprv</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serialize_xprv</a:t>
            </a:r>
            <a:r>
              <a:rPr sz="1050" b="0" i="0">
                <a:solidFill>
                  <a:srgbClr val="E6EDF3"/>
                </a:solidFill>
                <a:latin typeface="Courier New"/>
              </a:rPr>
              <a:t>(</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a:t>
            </a:r>
            <a:r>
              <a:rPr sz="105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xpub</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serialize_xpub</a:t>
            </a:r>
            <a:r>
              <a:rPr sz="1050" b="0" i="0">
                <a:solidFill>
                  <a:srgbClr val="E6EDF3"/>
                </a:solidFill>
                <a:latin typeface="Courier New"/>
              </a:rPr>
              <a:t>(</a:t>
            </a:r>
            <a:r>
              <a:rPr sz="1050" b="0" i="0">
                <a:solidFill>
                  <a:srgbClr val="E6EDF3"/>
                </a:solidFill>
                <a:latin typeface="Courier New"/>
              </a:rPr>
              <a:t>ec_mul</a:t>
            </a:r>
            <a:r>
              <a:rPr sz="1050" b="0" i="0">
                <a:solidFill>
                  <a:srgbClr val="E6EDF3"/>
                </a:solidFill>
                <a:latin typeface="Courier New"/>
              </a:rPr>
              <a:t>(</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xprv</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4</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len</a:t>
            </a:r>
            <a:r>
              <a:rPr sz="1050" b="0" i="0">
                <a:solidFill>
                  <a:srgbClr val="E6EDF3"/>
                </a:solidFill>
                <a:latin typeface="Courier New"/>
              </a:rPr>
              <a:t>(</a:t>
            </a:r>
            <a:r>
              <a:rPr sz="1050" b="0" i="0">
                <a:solidFill>
                  <a:srgbClr val="E6EDF3"/>
                </a:solidFill>
                <a:latin typeface="Courier New"/>
              </a:rPr>
              <a:t>xprv</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xpub</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4</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len</a:t>
            </a:r>
            <a:r>
              <a:rPr sz="1050" b="0" i="0">
                <a:solidFill>
                  <a:srgbClr val="E6EDF3"/>
                </a:solidFill>
                <a:latin typeface="Courier New"/>
              </a:rPr>
              <a:t>(</a:t>
            </a:r>
            <a:r>
              <a:rPr sz="1050" b="0" i="0">
                <a:solidFill>
                  <a:srgbClr val="E6EDF3"/>
                </a:solidFill>
                <a:latin typeface="Courier New"/>
              </a:rPr>
              <a:t>xpub</a:t>
            </a:r>
            <a:r>
              <a:rPr sz="1050" b="0" i="0">
                <a:solidFill>
                  <a:srgbClr val="E6EDF3"/>
                </a:solidFill>
                <a:latin typeface="Courier New"/>
              </a:rPr>
              <a:t>)</a:t>
            </a:r>
            <a:r>
              <a:rPr sz="1050" b="0" i="0">
                <a:solidFill>
                  <a:srgbClr val="E6EDF3"/>
                </a:solidFill>
                <a:latin typeface="Courier New"/>
              </a:rPr>
              <a:t>)</a:t>
            </a:r>
          </a:p>
        </p:txBody>
      </p:sp>
      <p:sp>
        <p:nvSpPr>
          <p:cNvPr id="10" name="code"/>
          <p:cNvSpPr/>
          <p:nvPr/>
        </p:nvSpPr>
        <p:spPr>
          <a:xfrm>
            <a:off x="365760" y="2175764"/>
            <a:ext cx="4727448" cy="797052"/>
          </a:xfrm>
          <a:prstGeom prst="roundRect">
            <a:avLst>
              <a:gd name="adj" fmla="val 917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fingerprint</a:t>
            </a:r>
            <a:r>
              <a:rPr sz="1050" b="0" i="0">
                <a:solidFill>
                  <a:srgbClr val="E6EDF3"/>
                </a:solidFill>
                <a:latin typeface="Courier New"/>
              </a:rPr>
              <a:t>(</a:t>
            </a:r>
            <a:r>
              <a:rPr sz="1050" b="0" i="0">
                <a:solidFill>
                  <a:srgbClr val="E6EDF3"/>
                </a:solidFill>
                <a:latin typeface="Courier New"/>
              </a:rPr>
              <a:t>ec_mul</a:t>
            </a:r>
            <a:r>
              <a:rPr sz="1050" b="0" i="0">
                <a:solidFill>
                  <a:srgbClr val="E6EDF3"/>
                </a:solidFill>
                <a:latin typeface="Courier New"/>
              </a:rPr>
              <a:t>(</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hex</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parse_extended</a:t>
            </a:r>
            <a:r>
              <a:rPr sz="1050" b="0" i="0">
                <a:solidFill>
                  <a:srgbClr val="E6EDF3"/>
                </a:solidFill>
                <a:latin typeface="Courier New"/>
              </a:rPr>
              <a:t>(</a:t>
            </a:r>
            <a:r>
              <a:rPr sz="1050" b="0" i="0">
                <a:solidFill>
                  <a:srgbClr val="E6EDF3"/>
                </a:solidFill>
                <a:latin typeface="Courier New"/>
              </a:rPr>
              <a:t>xpub</a:t>
            </a:r>
            <a:r>
              <a:rPr sz="1050" b="0" i="0">
                <a:solidFill>
                  <a:srgbClr val="E6EDF3"/>
                </a:solidFill>
                <a:latin typeface="Courier New"/>
              </a:rPr>
              <a:t>)</a:t>
            </a:r>
            <a:r>
              <a:rPr sz="1050" b="0" i="0">
                <a:solidFill>
                  <a:srgbClr val="E6EDF3"/>
                </a:solidFill>
                <a:latin typeface="Courier New"/>
              </a:rPr>
              <a:t>[</a:t>
            </a:r>
            <a:r>
              <a:rPr sz="1050" b="0" i="0">
                <a:solidFill>
                  <a:srgbClr val="7EE787"/>
                </a:solidFill>
                <a:latin typeface="Courier New"/>
              </a:rPr>
              <a:t>"depth"</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Extended key encoding and key fingerprint</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Extended keys</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 key plus its chain code, written in Base58Check.</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The same for the public key: xprv and xpub, both 111 characters long.</a:t>
            </a:r>
          </a:p>
        </p:txBody>
      </p:sp>
      <p:sp>
        <p:nvSpPr>
          <p:cNvPr id="11" name="explanation"/>
          <p:cNvSpPr/>
          <p:nvPr/>
        </p:nvSpPr>
        <p:spPr>
          <a:xfrm>
            <a:off x="5074920" y="2175764"/>
            <a:ext cx="3657600" cy="797052"/>
          </a:xfrm>
          <a:prstGeom prst="roundRect">
            <a:avLst>
              <a:gd name="adj" fmla="val 917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Four bytes identify the key; the depth says how far down the tree we are.</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1114550"/>
        </p:xfrm>
        <a:graphic>
          <a:graphicData uri="http://schemas.openxmlformats.org/drawingml/2006/table">
            <a:tbl>
              <a:tblPr firstRow="1" bandRow="1">
                <a:tableStyleId>{5C22544A-7EE6-4342-B048-85BDC9FD1C3A}</a:tableStyleId>
              </a:tblPr>
              <a:tblGrid>
                <a:gridCol w="3108960"/>
                <a:gridCol w="2194560"/>
                <a:gridCol w="3108960"/>
              </a:tblGrid>
              <a:tr h="222910">
                <a:tc>
                  <a:txBody>
                    <a:bodyPr wrap="square"/>
                    <a:lstStyle/>
                    <a:p>
                      <a:r>
                        <a:rPr sz="1200" b="1">
                          <a:solidFill>
                            <a:srgbClr val="FFFFFF"/>
                          </a:solidFill>
                          <a:latin typeface="Calibri"/>
                        </a:rPr>
                        <a:t>Item</a:t>
                      </a:r>
                    </a:p>
                  </a:txBody>
                  <a:tcPr marL="64008" marR="64008" marT="18288" marB="18288" anchor="ctr">
                    <a:solidFill>
                      <a:srgbClr val="2B2622"/>
                    </a:solidFill>
                  </a:tcPr>
                </a:tc>
                <a:tc>
                  <a:txBody>
                    <a:bodyPr wrap="square"/>
                    <a:lstStyle/>
                    <a:p>
                      <a:r>
                        <a:rPr sz="1200" b="1">
                          <a:solidFill>
                            <a:srgbClr val="FFFFFF"/>
                          </a:solidFill>
                          <a:latin typeface="Calibri"/>
                        </a:rPr>
                        <a:t>Starts with</a:t>
                      </a:r>
                    </a:p>
                  </a:txBody>
                  <a:tcPr marL="64008" marR="64008" marT="18288" marB="18288" anchor="ctr">
                    <a:solidFill>
                      <a:srgbClr val="2B2622"/>
                    </a:solidFill>
                  </a:tcPr>
                </a:tc>
                <a:tc>
                  <a:txBody>
                    <a:bodyPr wrap="square"/>
                    <a:lstStyle/>
                    <a:p>
                      <a:r>
                        <a:rPr sz="1200" b="1">
                          <a:solidFill>
                            <a:srgbClr val="FFFFFF"/>
                          </a:solidFill>
                          <a:latin typeface="Calibri"/>
                        </a:rPr>
                        <a:t>Length / value</a:t>
                      </a:r>
                    </a:p>
                  </a:txBody>
                  <a:tcPr marL="64008" marR="64008" marT="18288" marB="18288" anchor="ctr">
                    <a:solidFill>
                      <a:srgbClr val="2B2622"/>
                    </a:solidFill>
                  </a:tcPr>
                </a:tc>
              </a:tr>
              <a:tr h="222910">
                <a:tc>
                  <a:txBody>
                    <a:bodyPr wrap="square"/>
                    <a:lstStyle/>
                    <a:p>
                      <a:r>
                        <a:rPr sz="1200" b="0">
                          <a:solidFill>
                            <a:srgbClr val="2B2622"/>
                          </a:solidFill>
                          <a:latin typeface="Calibri"/>
                        </a:rPr>
                        <a:t>Extended private key</a:t>
                      </a:r>
                    </a:p>
                  </a:txBody>
                  <a:tcPr marL="64008" marR="64008" marT="18288" marB="18288" anchor="ctr">
                    <a:solidFill>
                      <a:srgbClr val="F2ECE1"/>
                    </a:solidFill>
                  </a:tcPr>
                </a:tc>
                <a:tc>
                  <a:txBody>
                    <a:bodyPr wrap="square"/>
                    <a:lstStyle/>
                    <a:p>
                      <a:r>
                        <a:rPr sz="1200" b="0">
                          <a:solidFill>
                            <a:srgbClr val="2B2622"/>
                          </a:solidFill>
                          <a:latin typeface="Calibri"/>
                        </a:rPr>
                        <a:t>xprv</a:t>
                      </a:r>
                    </a:p>
                  </a:txBody>
                  <a:tcPr marL="64008" marR="64008" marT="18288" marB="18288" anchor="ctr">
                    <a:solidFill>
                      <a:srgbClr val="F2ECE1"/>
                    </a:solidFill>
                  </a:tcPr>
                </a:tc>
                <a:tc>
                  <a:txBody>
                    <a:bodyPr wrap="square"/>
                    <a:lstStyle/>
                    <a:p>
                      <a:r>
                        <a:rPr sz="1200" b="0">
                          <a:solidFill>
                            <a:srgbClr val="2B2622"/>
                          </a:solidFill>
                          <a:latin typeface="Calibri"/>
                        </a:rPr>
                        <a:t>111 characters</a:t>
                      </a:r>
                    </a:p>
                  </a:txBody>
                  <a:tcPr marL="64008" marR="64008" marT="18288" marB="18288" anchor="ctr">
                    <a:solidFill>
                      <a:srgbClr val="F2ECE1"/>
                    </a:solidFill>
                  </a:tcPr>
                </a:tc>
              </a:tr>
              <a:tr h="222910">
                <a:tc>
                  <a:txBody>
                    <a:bodyPr wrap="square"/>
                    <a:lstStyle/>
                    <a:p>
                      <a:r>
                        <a:rPr sz="1200" b="0">
                          <a:solidFill>
                            <a:srgbClr val="2B2622"/>
                          </a:solidFill>
                          <a:latin typeface="Calibri"/>
                        </a:rPr>
                        <a:t>Extended public key</a:t>
                      </a:r>
                    </a:p>
                  </a:txBody>
                  <a:tcPr marL="64008" marR="64008" marT="18288" marB="18288" anchor="ctr">
                    <a:solidFill>
                      <a:srgbClr val="FFFFFF"/>
                    </a:solidFill>
                  </a:tcPr>
                </a:tc>
                <a:tc>
                  <a:txBody>
                    <a:bodyPr wrap="square"/>
                    <a:lstStyle/>
                    <a:p>
                      <a:r>
                        <a:rPr sz="1200" b="0">
                          <a:solidFill>
                            <a:srgbClr val="2B2622"/>
                          </a:solidFill>
                          <a:latin typeface="Calibri"/>
                        </a:rPr>
                        <a:t>xpub</a:t>
                      </a:r>
                    </a:p>
                  </a:txBody>
                  <a:tcPr marL="64008" marR="64008" marT="18288" marB="18288" anchor="ctr">
                    <a:solidFill>
                      <a:srgbClr val="FFFFFF"/>
                    </a:solidFill>
                  </a:tcPr>
                </a:tc>
                <a:tc>
                  <a:txBody>
                    <a:bodyPr wrap="square"/>
                    <a:lstStyle/>
                    <a:p>
                      <a:r>
                        <a:rPr sz="1200" b="0">
                          <a:solidFill>
                            <a:srgbClr val="2B2622"/>
                          </a:solidFill>
                          <a:latin typeface="Calibri"/>
                        </a:rPr>
                        <a:t>111 characters</a:t>
                      </a:r>
                    </a:p>
                  </a:txBody>
                  <a:tcPr marL="64008" marR="64008" marT="18288" marB="18288" anchor="ctr">
                    <a:solidFill>
                      <a:srgbClr val="FFFFFF"/>
                    </a:solidFill>
                  </a:tcPr>
                </a:tc>
              </a:tr>
              <a:tr h="222910">
                <a:tc>
                  <a:txBody>
                    <a:bodyPr wrap="square"/>
                    <a:lstStyle/>
                    <a:p>
                      <a:r>
                        <a:rPr sz="1200" b="0">
                          <a:solidFill>
                            <a:srgbClr val="2B2622"/>
                          </a:solidFill>
                          <a:latin typeface="Calibri"/>
                        </a:rPr>
                        <a:t>Fingerprint of the master key</a:t>
                      </a:r>
                    </a:p>
                  </a:txBody>
                  <a:tcPr marL="64008" marR="64008" marT="18288" marB="18288" anchor="ctr">
                    <a:solidFill>
                      <a:srgbClr val="F2ECE1"/>
                    </a:solidFill>
                  </a:tcPr>
                </a:tc>
                <a:tc>
                  <a:txBody>
                    <a:bodyPr wrap="square"/>
                    <a:lstStyle/>
                    <a:p>
                      <a:r>
                        <a:rPr sz="1200" b="0">
                          <a:solidFill>
                            <a:srgbClr val="2B2622"/>
                          </a:solidFill>
                          <a:latin typeface="Calibri"/>
                        </a:rPr>
                        <a:t>-</a:t>
                      </a:r>
                    </a:p>
                  </a:txBody>
                  <a:tcPr marL="64008" marR="64008" marT="18288" marB="18288" anchor="ctr">
                    <a:solidFill>
                      <a:srgbClr val="F2ECE1"/>
                    </a:solidFill>
                  </a:tcPr>
                </a:tc>
                <a:tc>
                  <a:txBody>
                    <a:bodyPr wrap="square"/>
                    <a:lstStyle/>
                    <a:p>
                      <a:r>
                        <a:rPr sz="1200" b="0">
                          <a:solidFill>
                            <a:srgbClr val="2B2622"/>
                          </a:solidFill>
                          <a:latin typeface="Calibri"/>
                        </a:rPr>
                        <a:t>3442193e</a:t>
                      </a:r>
                    </a:p>
                  </a:txBody>
                  <a:tcPr marL="64008" marR="64008" marT="18288" marB="18288" anchor="ctr">
                    <a:solidFill>
                      <a:srgbClr val="F2ECE1"/>
                    </a:solidFill>
                  </a:tcPr>
                </a:tc>
              </a:tr>
              <a:tr h="222910">
                <a:tc>
                  <a:txBody>
                    <a:bodyPr wrap="square"/>
                    <a:lstStyle/>
                    <a:p>
                      <a:r>
                        <a:rPr sz="1200" b="0">
                          <a:solidFill>
                            <a:srgbClr val="2B2622"/>
                          </a:solidFill>
                          <a:latin typeface="Calibri"/>
                        </a:rPr>
                        <a:t>Depth of the master key</a:t>
                      </a:r>
                    </a:p>
                  </a:txBody>
                  <a:tcPr marL="64008" marR="64008" marT="18288" marB="18288" anchor="ctr">
                    <a:solidFill>
                      <a:srgbClr val="FFFFFF"/>
                    </a:solidFill>
                  </a:tcPr>
                </a:tc>
                <a:tc>
                  <a:txBody>
                    <a:bodyPr wrap="square"/>
                    <a:lstStyle/>
                    <a:p>
                      <a:r>
                        <a:rPr sz="1200" b="0">
                          <a:solidFill>
                            <a:srgbClr val="2B2622"/>
                          </a:solidFill>
                          <a:latin typeface="Calibri"/>
                        </a:rPr>
                        <a:t>-</a:t>
                      </a:r>
                    </a:p>
                  </a:txBody>
                  <a:tcPr marL="64008" marR="64008" marT="18288" marB="18288" anchor="ctr">
                    <a:solidFill>
                      <a:srgbClr val="FFFFFF"/>
                    </a:solidFill>
                  </a:tcPr>
                </a:tc>
                <a:tc>
                  <a:txBody>
                    <a:bodyPr wrap="square"/>
                    <a:lstStyle/>
                    <a:p>
                      <a:r>
                        <a:rPr sz="1200" b="0">
                          <a:solidFill>
                            <a:srgbClr val="2B2622"/>
                          </a:solidFill>
                          <a:latin typeface="Calibri"/>
                        </a:rPr>
                        <a:t>0</a:t>
                      </a:r>
                    </a:p>
                  </a:txBody>
                  <a:tcPr marL="64008" marR="64008" marT="18288" marB="18288" anchor="ctr">
                    <a:solidFill>
                      <a:srgbClr val="FFFFFF"/>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xprv can spend; xpub can only watch.</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38 / 68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17: 2 to the 31 children, normal and hardened</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FFA657"/>
                </a:solidFill>
                <a:latin typeface="Courier New"/>
              </a:rPr>
              <a:t>print</a:t>
            </a:r>
            <a:r>
              <a:rPr sz="1000" b="0" i="0">
                <a:solidFill>
                  <a:srgbClr val="E6EDF3"/>
                </a:solidFill>
                <a:latin typeface="Courier New"/>
              </a:rPr>
              <a:t>(</a:t>
            </a:r>
            <a:r>
              <a:rPr sz="1000" b="0" i="0">
                <a:solidFill>
                  <a:srgbClr val="79C0FF"/>
                </a:solidFill>
                <a:latin typeface="Courier New"/>
              </a:rPr>
              <a:t>2</a:t>
            </a:r>
            <a:r>
              <a:rPr sz="1000" b="0" i="0">
                <a:solidFill>
                  <a:srgbClr val="E6EDF3"/>
                </a:solidFill>
                <a:latin typeface="Courier New"/>
              </a:rPr>
              <a:t>*</a:t>
            </a:r>
            <a:r>
              <a:rPr sz="1000" b="0" i="0">
                <a:solidFill>
                  <a:srgbClr val="E6EDF3"/>
                </a:solidFill>
                <a:latin typeface="Courier New"/>
              </a:rPr>
              <a:t>*</a:t>
            </a:r>
            <a:r>
              <a:rPr sz="1000" b="0" i="0">
                <a:solidFill>
                  <a:srgbClr val="79C0FF"/>
                </a:solidFill>
                <a:latin typeface="Courier New"/>
              </a:rPr>
              <a:t>31</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HARD</a:t>
            </a:r>
            <a:r>
              <a:rPr sz="1000" b="0" i="0">
                <a:solidFill>
                  <a:srgbClr val="E6EDF3"/>
                </a:solidFill>
                <a:latin typeface="Courier New"/>
              </a:rPr>
              <a:t>,</a:t>
            </a:r>
            <a:r>
              <a:rPr sz="1000" b="0" i="0">
                <a:solidFill>
                  <a:srgbClr val="E6EDF3"/>
                </a:solidFill>
                <a:latin typeface="Courier New"/>
              </a:rPr>
              <a:t> </a:t>
            </a:r>
            <a:r>
              <a:rPr sz="1000" b="0" i="0">
                <a:solidFill>
                  <a:srgbClr val="79C0FF"/>
                </a:solidFill>
                <a:latin typeface="Courier New"/>
              </a:rPr>
              <a:t>2</a:t>
            </a:r>
            <a:r>
              <a:rPr sz="1000" b="0" i="0">
                <a:solidFill>
                  <a:srgbClr val="E6EDF3"/>
                </a:solidFill>
                <a:latin typeface="Courier New"/>
              </a:rPr>
              <a:t>*</a:t>
            </a:r>
            <a:r>
              <a:rPr sz="1000" b="0" i="0">
                <a:solidFill>
                  <a:srgbClr val="E6EDF3"/>
                </a:solidFill>
                <a:latin typeface="Courier New"/>
              </a:rPr>
              <a:t>*</a:t>
            </a:r>
            <a:r>
              <a:rPr sz="1000" b="0" i="0">
                <a:solidFill>
                  <a:srgbClr val="79C0FF"/>
                </a:solidFill>
                <a:latin typeface="Courier New"/>
              </a:rPr>
              <a:t>31</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79C0FF"/>
                </a:solidFill>
                <a:latin typeface="Courier New"/>
              </a:rPr>
              <a:t>1</a:t>
            </a:r>
            <a:r>
              <a:rPr sz="1000" b="0" i="0">
                <a:solidFill>
                  <a:srgbClr val="E6EDF3"/>
                </a:solidFill>
                <a:latin typeface="Courier New"/>
              </a:rPr>
              <a:t>)</a:t>
            </a:r>
          </a:p>
        </p:txBody>
      </p:sp>
      <p:sp>
        <p:nvSpPr>
          <p:cNvPr id="8" name="code"/>
          <p:cNvSpPr/>
          <p:nvPr/>
        </p:nvSpPr>
        <p:spPr>
          <a:xfrm>
            <a:off x="365760" y="1636522"/>
            <a:ext cx="4727448" cy="611124"/>
          </a:xfrm>
          <a:prstGeom prst="roundRect">
            <a:avLst>
              <a:gd name="adj" fmla="val 11970"/>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FFA657"/>
                </a:solidFill>
                <a:latin typeface="Courier New"/>
              </a:rPr>
              <a:t>print</a:t>
            </a:r>
            <a:r>
              <a:rPr sz="1000" b="0" i="0">
                <a:solidFill>
                  <a:srgbClr val="E6EDF3"/>
                </a:solidFill>
                <a:latin typeface="Courier New"/>
              </a:rPr>
              <a:t>(</a:t>
            </a:r>
            <a:r>
              <a:rPr sz="1000" b="0" i="0">
                <a:solidFill>
                  <a:srgbClr val="FFA657"/>
                </a:solidFill>
                <a:latin typeface="Courier New"/>
              </a:rPr>
              <a:t>len</a:t>
            </a:r>
            <a:r>
              <a:rPr sz="1000" b="0" i="0">
                <a:solidFill>
                  <a:srgbClr val="E6EDF3"/>
                </a:solidFill>
                <a:latin typeface="Courier New"/>
              </a:rPr>
              <a:t>(</a:t>
            </a:r>
            <a:r>
              <a:rPr sz="1000" b="0" i="0">
                <a:solidFill>
                  <a:srgbClr val="FFA657"/>
                </a:solidFill>
                <a:latin typeface="Courier New"/>
              </a:rPr>
              <a:t>range</a:t>
            </a:r>
            <a:r>
              <a:rPr sz="1000" b="0" i="0">
                <a:solidFill>
                  <a:srgbClr val="E6EDF3"/>
                </a:solidFill>
                <a:latin typeface="Courier New"/>
              </a:rPr>
              <a:t>(</a:t>
            </a:r>
            <a:r>
              <a:rPr sz="1000" b="0" i="0">
                <a:solidFill>
                  <a:srgbClr val="79C0FF"/>
                </a:solidFill>
                <a:latin typeface="Courier New"/>
              </a:rPr>
              <a:t>0</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HARD</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FFA657"/>
                </a:solidFill>
                <a:latin typeface="Courier New"/>
              </a:rPr>
              <a:t>len</a:t>
            </a:r>
            <a:r>
              <a:rPr sz="1000" b="0" i="0">
                <a:solidFill>
                  <a:srgbClr val="E6EDF3"/>
                </a:solidFill>
                <a:latin typeface="Courier New"/>
              </a:rPr>
              <a:t>(</a:t>
            </a:r>
            <a:r>
              <a:rPr sz="1000" b="0" i="0">
                <a:solidFill>
                  <a:srgbClr val="FFA657"/>
                </a:solidFill>
                <a:latin typeface="Courier New"/>
              </a:rPr>
              <a:t>range</a:t>
            </a:r>
            <a:r>
              <a:rPr sz="1000" b="0" i="0">
                <a:solidFill>
                  <a:srgbClr val="E6EDF3"/>
                </a:solidFill>
                <a:latin typeface="Courier New"/>
              </a:rPr>
              <a:t>(</a:t>
            </a:r>
            <a:r>
              <a:rPr sz="1000" b="0" i="0">
                <a:solidFill>
                  <a:srgbClr val="E6EDF3"/>
                </a:solidFill>
                <a:latin typeface="Courier New"/>
              </a:rPr>
              <a:t>HARD</a:t>
            </a:r>
            <a:r>
              <a:rPr sz="1000" b="0" i="0">
                <a:solidFill>
                  <a:srgbClr val="E6EDF3"/>
                </a:solidFill>
                <a:latin typeface="Courier New"/>
              </a:rPr>
              <a:t>,</a:t>
            </a:r>
            <a:r>
              <a:rPr sz="1000" b="0" i="0">
                <a:solidFill>
                  <a:srgbClr val="E6EDF3"/>
                </a:solidFill>
                <a:latin typeface="Courier New"/>
              </a:rPr>
              <a:t> </a:t>
            </a:r>
            <a:r>
              <a:rPr sz="1000" b="0" i="0">
                <a:solidFill>
                  <a:srgbClr val="79C0FF"/>
                </a:solidFill>
                <a:latin typeface="Courier New"/>
              </a:rPr>
              <a:t>2</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HARD</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A9B94"/>
                </a:solidFill>
                <a:latin typeface="Courier New"/>
              </a:rPr>
              <a:t>&gt;&gt;&gt; </a:t>
            </a:r>
            <a:r>
              <a:rPr sz="1000" b="0" i="0">
                <a:solidFill>
                  <a:srgbClr val="E6EDF3"/>
                </a:solidFill>
                <a:latin typeface="Courier New"/>
              </a:rPr>
              <a:t>__import__</a:t>
            </a:r>
            <a:r>
              <a:rPr sz="1000" b="0" i="0">
                <a:solidFill>
                  <a:srgbClr val="E6EDF3"/>
                </a:solidFill>
                <a:latin typeface="Courier New"/>
              </a:rPr>
              <a:t>(</a:t>
            </a:r>
            <a:r>
              <a:rPr sz="1000" b="0" i="0">
                <a:solidFill>
                  <a:srgbClr val="7EE787"/>
                </a:solidFill>
                <a:latin typeface="Courier New"/>
              </a:rPr>
              <a:t>"sys"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version_info</a:t>
            </a:r>
            <a:r>
              <a:rPr sz="1000" b="0" i="0">
                <a:solidFill>
                  <a:srgbClr val="E6EDF3"/>
                </a:solidFill>
                <a:latin typeface="Courier New"/>
              </a:rPr>
              <a:t>[</a:t>
            </a:r>
            <a:r>
              <a:rPr sz="1000" b="0" i="0">
                <a:solidFill>
                  <a:srgbClr val="E6EDF3"/>
                </a:solidFill>
                <a:latin typeface="Courier New"/>
              </a:rPr>
              <a:t>:</a:t>
            </a:r>
            <a:r>
              <a:rPr sz="1000" b="0" i="0">
                <a:solidFill>
                  <a:srgbClr val="79C0FF"/>
                </a:solidFill>
                <a:latin typeface="Courier New"/>
              </a:rPr>
              <a:t>2</a:t>
            </a:r>
            <a:r>
              <a:rPr sz="1000" b="0" i="0">
                <a:solidFill>
                  <a:srgbClr val="E6EDF3"/>
                </a:solidFill>
                <a:latin typeface="Courier New"/>
              </a:rPr>
              <a:t>]</a:t>
            </a:r>
          </a:p>
          <a:p>
            <a:pPr algn="l"/>
            <a:r>
              <a:rPr sz="10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Index numbers for normal and hardened derivation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Index numbers for normal and hardened derivation</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The book writes 2,147,483,647 for the count; BIP32 counts 2 to the 31 for each kind.</a:t>
            </a:r>
          </a:p>
        </p:txBody>
      </p:sp>
      <p:sp>
        <p:nvSpPr>
          <p:cNvPr id="9" name="explanation"/>
          <p:cNvSpPr/>
          <p:nvPr/>
        </p:nvSpPr>
        <p:spPr>
          <a:xfrm>
            <a:off x="5074920" y="1636522"/>
            <a:ext cx="3657600" cy="611124"/>
          </a:xfrm>
          <a:prstGeom prst="roundRect">
            <a:avLst>
              <a:gd name="adj" fmla="val 11970"/>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Indexes 0 to 2^31 - 1 are normal, 2^31 to 2^32 - 1 hardened: equal counts.</a:t>
            </a:r>
          </a:p>
        </p:txBody>
      </p:sp>
      <p:sp>
        <p:nvSpPr>
          <p:cNvPr id="10" name="result label"/>
          <p:cNvSpPr txBox="1"/>
          <p:nvPr/>
        </p:nvSpPr>
        <p:spPr>
          <a:xfrm>
            <a:off x="365760" y="233908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chart"/>
          <p:cNvGraphicFramePr>
            <a:graphicFrameLocks noGrp="1"/>
          </p:cNvGraphicFramePr>
          <p:nvPr/>
        </p:nvGraphicFramePr>
        <p:xfrm>
          <a:off x="365760" y="2585974"/>
          <a:ext cx="5120640" cy="1839721"/>
        </p:xfrm>
        <a:graphic>
          <a:graphicData uri="http://schemas.openxmlformats.org/drawingml/2006/chart">
            <c:chart xmlns:c="http://schemas.openxmlformats.org/drawingml/2006/chart" r:id="rId3"/>
          </a:graphicData>
        </a:graphic>
      </p:graphicFrame>
      <p:sp>
        <p:nvSpPr>
          <p:cNvPr id="12" name="reading"/>
          <p:cNvSpPr/>
          <p:nvPr/>
        </p:nvSpPr>
        <p:spPr>
          <a:xfrm>
            <a:off x="5669280" y="2677414"/>
            <a:ext cx="3017520" cy="1371600"/>
          </a:xfrm>
          <a:prstGeom prst="roundRect">
            <a:avLst>
              <a:gd name="adj" fmla="val 5333"/>
            </a:avLst>
          </a:prstGeom>
          <a:solidFill>
            <a:srgbClr val="F2ECE1"/>
          </a:solidFill>
          <a:ln>
            <a:solidFill>
              <a:srgbClr val="F2ECE1"/>
            </a:solidFill>
          </a:ln>
        </p:spPr>
        <p:txBody>
          <a:bodyPr rtlCol="0" anchor="ctr" wrap="square" lIns="73152" rIns="73152" tIns="36576" bIns="36576"/>
          <a:lstStyle/>
          <a:p>
            <a:pPr algn="l"/>
            <a:r>
              <a:rPr sz="1250" b="0" i="0">
                <a:solidFill>
                  <a:srgbClr val="2B2622"/>
                </a:solidFill>
                <a:latin typeface="Calibri"/>
              </a:rPr>
              <a:t>The largest normal index is 2147483647; the count is 2147483648.</a:t>
            </a:r>
          </a:p>
        </p:txBody>
      </p:sp>
      <p:sp>
        <p:nvSpPr>
          <p:cNvPr id="13"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The book's 2,147,483,647 is the last index, not the count.</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39 / 68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for part 4, the tree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family tree with secrets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Creating an HD Wallet from the Seed</a:t>
            </a:r>
          </a:p>
        </p:txBody>
      </p:sp>
      <p:graphicFrame>
        <p:nvGraphicFramePr>
          <p:cNvPr id="6" name="analogy table"/>
          <p:cNvGraphicFramePr>
            <a:graphicFrameLocks noGrp="1"/>
          </p:cNvGraphicFramePr>
          <p:nvPr/>
        </p:nvGraphicFramePr>
        <p:xfrm>
          <a:off x="457200" y="1188720"/>
          <a:ext cx="8229600" cy="2743200"/>
        </p:xfrm>
        <a:graphic>
          <a:graphicData uri="http://schemas.openxmlformats.org/drawingml/2006/table">
            <a:tbl>
              <a:tblPr firstRow="1" bandRow="1">
                <a:tableStyleId>{5C22544A-7EE6-4342-B048-85BDC9FD1C3A}</a:tableStyleId>
              </a:tblPr>
              <a:tblGrid>
                <a:gridCol w="2194560"/>
                <a:gridCol w="3108960"/>
                <a:gridCol w="2926080"/>
              </a:tblGrid>
              <a:tr h="45720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457200">
                <a:tc>
                  <a:txBody>
                    <a:bodyPr wrap="square"/>
                    <a:lstStyle/>
                    <a:p>
                      <a:r>
                        <a:rPr sz="1150" b="1">
                          <a:solidFill>
                            <a:srgbClr val="2B2622"/>
                          </a:solidFill>
                          <a:latin typeface="Calibri"/>
                        </a:rPr>
                        <a:t>master private key</a:t>
                      </a:r>
                    </a:p>
                  </a:txBody>
                  <a:tcPr marL="64008" marR="64008" marT="18288" marB="18288" anchor="ctr">
                    <a:solidFill>
                      <a:srgbClr val="F2ECE1"/>
                    </a:solidFill>
                  </a:tcPr>
                </a:tc>
                <a:tc>
                  <a:txBody>
                    <a:bodyPr wrap="square"/>
                    <a:lstStyle/>
                    <a:p>
                      <a:r>
                        <a:rPr sz="1150" b="0">
                          <a:solidFill>
                            <a:srgbClr val="2B2622"/>
                          </a:solidFill>
                          <a:latin typeface="Calibri"/>
                        </a:rPr>
                        <a:t>The ancestor's key at the top of the tree</a:t>
                      </a:r>
                    </a:p>
                  </a:txBody>
                  <a:tcPr marL="64008" marR="64008" marT="18288" marB="18288" anchor="ctr">
                    <a:solidFill>
                      <a:srgbClr val="F2ECE1"/>
                    </a:solidFill>
                  </a:tcPr>
                </a:tc>
                <a:tc>
                  <a:txBody>
                    <a:bodyPr wrap="square"/>
                    <a:lstStyle/>
                    <a:p>
                      <a:r>
                        <a:rPr sz="1150" b="0">
                          <a:solidFill>
                            <a:srgbClr val="2B2622"/>
                          </a:solidFill>
                          <a:latin typeface="Calibri"/>
                        </a:rPr>
                        <a:t>The first private key of the tree</a:t>
                      </a:r>
                    </a:p>
                  </a:txBody>
                  <a:tcPr marL="64008" marR="64008" marT="18288" marB="18288" anchor="ctr">
                    <a:solidFill>
                      <a:srgbClr val="F2ECE1"/>
                    </a:solidFill>
                  </a:tcPr>
                </a:tc>
              </a:tr>
              <a:tr h="457200">
                <a:tc>
                  <a:txBody>
                    <a:bodyPr wrap="square"/>
                    <a:lstStyle/>
                    <a:p>
                      <a:r>
                        <a:rPr sz="1150" b="1">
                          <a:solidFill>
                            <a:srgbClr val="2B2622"/>
                          </a:solidFill>
                          <a:latin typeface="Calibri"/>
                        </a:rPr>
                        <a:t>master chain code</a:t>
                      </a:r>
                    </a:p>
                  </a:txBody>
                  <a:tcPr marL="64008" marR="64008" marT="18288" marB="18288" anchor="ctr">
                    <a:solidFill>
                      <a:srgbClr val="FFFFFF"/>
                    </a:solidFill>
                  </a:tcPr>
                </a:tc>
                <a:tc>
                  <a:txBody>
                    <a:bodyPr wrap="square"/>
                    <a:lstStyle/>
                    <a:p>
                      <a:r>
                        <a:rPr sz="1150" b="0">
                          <a:solidFill>
                            <a:srgbClr val="2B2622"/>
                          </a:solidFill>
                          <a:latin typeface="Calibri"/>
                        </a:rPr>
                        <a:t>The ancestor's secret handshake</a:t>
                      </a:r>
                    </a:p>
                  </a:txBody>
                  <a:tcPr marL="64008" marR="64008" marT="18288" marB="18288" anchor="ctr">
                    <a:solidFill>
                      <a:srgbClr val="FFFFFF"/>
                    </a:solidFill>
                  </a:tcPr>
                </a:tc>
                <a:tc>
                  <a:txBody>
                    <a:bodyPr wrap="square"/>
                    <a:lstStyle/>
                    <a:p>
                      <a:r>
                        <a:rPr sz="1150" b="0">
                          <a:solidFill>
                            <a:srgbClr val="2B2622"/>
                          </a:solidFill>
                          <a:latin typeface="Calibri"/>
                        </a:rPr>
                        <a:t>The 32 bytes that let children be made</a:t>
                      </a:r>
                    </a:p>
                  </a:txBody>
                  <a:tcPr marL="64008" marR="64008" marT="18288" marB="18288" anchor="ctr">
                    <a:solidFill>
                      <a:srgbClr val="FFFFFF"/>
                    </a:solidFill>
                  </a:tcPr>
                </a:tc>
              </a:tr>
              <a:tr h="457200">
                <a:tc>
                  <a:txBody>
                    <a:bodyPr wrap="square"/>
                    <a:lstStyle/>
                    <a:p>
                      <a:r>
                        <a:rPr sz="1150" b="1">
                          <a:solidFill>
                            <a:srgbClr val="2B2622"/>
                          </a:solidFill>
                          <a:latin typeface="Calibri"/>
                        </a:rPr>
                        <a:t>child key derivation</a:t>
                      </a:r>
                    </a:p>
                  </a:txBody>
                  <a:tcPr marL="64008" marR="64008" marT="18288" marB="18288" anchor="ctr">
                    <a:solidFill>
                      <a:srgbClr val="F2ECE1"/>
                    </a:solidFill>
                  </a:tcPr>
                </a:tc>
                <a:tc>
                  <a:txBody>
                    <a:bodyPr wrap="square"/>
                    <a:lstStyle/>
                    <a:p>
                      <a:r>
                        <a:rPr sz="1150" b="0">
                          <a:solidFill>
                            <a:srgbClr val="2B2622"/>
                          </a:solidFill>
                          <a:latin typeface="Calibri"/>
                        </a:rPr>
                        <a:t>A child born from a parent and a birth number</a:t>
                      </a:r>
                    </a:p>
                  </a:txBody>
                  <a:tcPr marL="64008" marR="64008" marT="18288" marB="18288" anchor="ctr">
                    <a:solidFill>
                      <a:srgbClr val="F2ECE1"/>
                    </a:solidFill>
                  </a:tcPr>
                </a:tc>
                <a:tc>
                  <a:txBody>
                    <a:bodyPr wrap="square"/>
                    <a:lstStyle/>
                    <a:p>
                      <a:r>
                        <a:rPr sz="1150" b="0">
                          <a:solidFill>
                            <a:srgbClr val="2B2622"/>
                          </a:solidFill>
                          <a:latin typeface="Calibri"/>
                        </a:rPr>
                        <a:t>A new key from parent key, chain code and index</a:t>
                      </a:r>
                    </a:p>
                  </a:txBody>
                  <a:tcPr marL="64008" marR="64008" marT="18288" marB="18288" anchor="ctr">
                    <a:solidFill>
                      <a:srgbClr val="F2ECE1"/>
                    </a:solidFill>
                  </a:tcPr>
                </a:tc>
              </a:tr>
              <a:tr h="457200">
                <a:tc>
                  <a:txBody>
                    <a:bodyPr wrap="square"/>
                    <a:lstStyle/>
                    <a:p>
                      <a:r>
                        <a:rPr sz="1150" b="1">
                          <a:solidFill>
                            <a:srgbClr val="2B2622"/>
                          </a:solidFill>
                          <a:latin typeface="Calibri"/>
                        </a:rPr>
                        <a:t>chain code</a:t>
                      </a:r>
                    </a:p>
                  </a:txBody>
                  <a:tcPr marL="64008" marR="64008" marT="18288" marB="18288" anchor="ctr">
                    <a:solidFill>
                      <a:srgbClr val="FFFFFF"/>
                    </a:solidFill>
                  </a:tcPr>
                </a:tc>
                <a:tc>
                  <a:txBody>
                    <a:bodyPr wrap="square"/>
                    <a:lstStyle/>
                    <a:p>
                      <a:r>
                        <a:rPr sz="1150" b="0">
                          <a:solidFill>
                            <a:srgbClr val="2B2622"/>
                          </a:solidFill>
                          <a:latin typeface="Calibri"/>
                        </a:rPr>
                        <a:t>A family secret passed down each generation</a:t>
                      </a:r>
                    </a:p>
                  </a:txBody>
                  <a:tcPr marL="64008" marR="64008" marT="18288" marB="18288" anchor="ctr">
                    <a:solidFill>
                      <a:srgbClr val="FFFFFF"/>
                    </a:solidFill>
                  </a:tcPr>
                </a:tc>
                <a:tc>
                  <a:txBody>
                    <a:bodyPr wrap="square"/>
                    <a:lstStyle/>
                    <a:p>
                      <a:r>
                        <a:rPr sz="1150" b="0">
                          <a:solidFill>
                            <a:srgbClr val="2B2622"/>
                          </a:solidFill>
                          <a:latin typeface="Calibri"/>
                        </a:rPr>
                        <a:t>32 bytes that keep derivation unpredictable</a:t>
                      </a:r>
                    </a:p>
                  </a:txBody>
                  <a:tcPr marL="64008" marR="64008" marT="18288" marB="18288" anchor="ctr">
                    <a:solidFill>
                      <a:srgbClr val="FFFFFF"/>
                    </a:solidFill>
                  </a:tcPr>
                </a:tc>
              </a:tr>
              <a:tr h="457200">
                <a:tc>
                  <a:txBody>
                    <a:bodyPr wrap="square"/>
                    <a:lstStyle/>
                    <a:p>
                      <a:r>
                        <a:rPr sz="1150" b="1">
                          <a:solidFill>
                            <a:srgbClr val="2B2622"/>
                          </a:solidFill>
                          <a:latin typeface="Calibri"/>
                        </a:rPr>
                        <a:t>index number</a:t>
                      </a:r>
                    </a:p>
                  </a:txBody>
                  <a:tcPr marL="64008" marR="64008" marT="18288" marB="18288" anchor="ctr">
                    <a:solidFill>
                      <a:srgbClr val="F2ECE1"/>
                    </a:solidFill>
                  </a:tcPr>
                </a:tc>
                <a:tc>
                  <a:txBody>
                    <a:bodyPr wrap="square"/>
                    <a:lstStyle/>
                    <a:p>
                      <a:r>
                        <a:rPr sz="1150" b="0">
                          <a:solidFill>
                            <a:srgbClr val="2B2622"/>
                          </a:solidFill>
                          <a:latin typeface="Calibri"/>
                        </a:rPr>
                        <a:t>Birth order: first child, second child</a:t>
                      </a:r>
                    </a:p>
                  </a:txBody>
                  <a:tcPr marL="64008" marR="64008" marT="18288" marB="18288" anchor="ctr">
                    <a:solidFill>
                      <a:srgbClr val="F2ECE1"/>
                    </a:solidFill>
                  </a:tcPr>
                </a:tc>
                <a:tc>
                  <a:txBody>
                    <a:bodyPr wrap="square"/>
                    <a:lstStyle/>
                    <a:p>
                      <a:r>
                        <a:rPr sz="1150" b="0">
                          <a:solidFill>
                            <a:srgbClr val="2B2622"/>
                          </a:solidFill>
                          <a:latin typeface="Calibri"/>
                        </a:rPr>
                        <a:t>0 to 2^31-1 normal, then hardened</a:t>
                      </a:r>
                    </a:p>
                  </a:txBody>
                  <a:tcPr marL="64008" marR="64008" marT="18288" marB="18288" anchor="ctr">
                    <a:solidFill>
                      <a:srgbClr val="F2ECE1"/>
                    </a:solidFill>
                  </a:tcPr>
                </a:tc>
              </a:tr>
            </a:tbl>
          </a:graphicData>
        </a:graphic>
      </p:graphicFrame>
      <p:sp>
        <p:nvSpPr>
          <p:cNvPr id="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40 / 68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for part 4, extended keys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Notes stapled to a key</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Extended keys</a:t>
            </a:r>
          </a:p>
        </p:txBody>
      </p:sp>
      <p:graphicFrame>
        <p:nvGraphicFramePr>
          <p:cNvPr id="6" name="analogy table"/>
          <p:cNvGraphicFramePr>
            <a:graphicFrameLocks noGrp="1"/>
          </p:cNvGraphicFramePr>
          <p:nvPr/>
        </p:nvGraphicFramePr>
        <p:xfrm>
          <a:off x="457200" y="1188720"/>
          <a:ext cx="8229600" cy="2286000"/>
        </p:xfrm>
        <a:graphic>
          <a:graphicData uri="http://schemas.openxmlformats.org/drawingml/2006/table">
            <a:tbl>
              <a:tblPr firstRow="1" bandRow="1">
                <a:tableStyleId>{5C22544A-7EE6-4342-B048-85BDC9FD1C3A}</a:tableStyleId>
              </a:tblPr>
              <a:tblGrid>
                <a:gridCol w="2194560"/>
                <a:gridCol w="3108960"/>
                <a:gridCol w="2926080"/>
              </a:tblGrid>
              <a:tr h="45720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457200">
                <a:tc>
                  <a:txBody>
                    <a:bodyPr wrap="square"/>
                    <a:lstStyle/>
                    <a:p>
                      <a:r>
                        <a:rPr sz="1150" b="1">
                          <a:solidFill>
                            <a:srgbClr val="2B2622"/>
                          </a:solidFill>
                          <a:latin typeface="Calibri"/>
                        </a:rPr>
                        <a:t>extended key</a:t>
                      </a:r>
                    </a:p>
                  </a:txBody>
                  <a:tcPr marL="64008" marR="64008" marT="18288" marB="18288" anchor="ctr">
                    <a:solidFill>
                      <a:srgbClr val="F2ECE1"/>
                    </a:solidFill>
                  </a:tcPr>
                </a:tc>
                <a:tc>
                  <a:txBody>
                    <a:bodyPr wrap="square"/>
                    <a:lstStyle/>
                    <a:p>
                      <a:r>
                        <a:rPr sz="1150" b="0">
                          <a:solidFill>
                            <a:srgbClr val="2B2622"/>
                          </a:solidFill>
                          <a:latin typeface="Calibri"/>
                        </a:rPr>
                        <a:t>A key with its family notes stapled on</a:t>
                      </a:r>
                    </a:p>
                  </a:txBody>
                  <a:tcPr marL="64008" marR="64008" marT="18288" marB="18288" anchor="ctr">
                    <a:solidFill>
                      <a:srgbClr val="F2ECE1"/>
                    </a:solidFill>
                  </a:tcPr>
                </a:tc>
                <a:tc>
                  <a:txBody>
                    <a:bodyPr wrap="square"/>
                    <a:lstStyle/>
                    <a:p>
                      <a:r>
                        <a:rPr sz="1150" b="0">
                          <a:solidFill>
                            <a:srgbClr val="2B2622"/>
                          </a:solidFill>
                          <a:latin typeface="Calibri"/>
                        </a:rPr>
                        <a:t>A key plus its chain code in one string</a:t>
                      </a:r>
                    </a:p>
                  </a:txBody>
                  <a:tcPr marL="64008" marR="64008" marT="18288" marB="18288" anchor="ctr">
                    <a:solidFill>
                      <a:srgbClr val="F2ECE1"/>
                    </a:solidFill>
                  </a:tcPr>
                </a:tc>
              </a:tr>
              <a:tr h="457200">
                <a:tc>
                  <a:txBody>
                    <a:bodyPr wrap="square"/>
                    <a:lstStyle/>
                    <a:p>
                      <a:r>
                        <a:rPr sz="1150" b="1">
                          <a:solidFill>
                            <a:srgbClr val="2B2622"/>
                          </a:solidFill>
                          <a:latin typeface="Calibri"/>
                        </a:rPr>
                        <a:t>extended private key</a:t>
                      </a:r>
                    </a:p>
                  </a:txBody>
                  <a:tcPr marL="64008" marR="64008" marT="18288" marB="18288" anchor="ctr">
                    <a:solidFill>
                      <a:srgbClr val="FFFFFF"/>
                    </a:solidFill>
                  </a:tcPr>
                </a:tc>
                <a:tc>
                  <a:txBody>
                    <a:bodyPr wrap="square"/>
                    <a:lstStyle/>
                    <a:p>
                      <a:r>
                        <a:rPr sz="1150" b="0">
                          <a:solidFill>
                            <a:srgbClr val="2B2622"/>
                          </a:solidFill>
                          <a:latin typeface="Calibri"/>
                        </a:rPr>
                        <a:t>The archive where every door opens</a:t>
                      </a:r>
                    </a:p>
                  </a:txBody>
                  <a:tcPr marL="64008" marR="64008" marT="18288" marB="18288" anchor="ctr">
                    <a:solidFill>
                      <a:srgbClr val="FFFFFF"/>
                    </a:solidFill>
                  </a:tcPr>
                </a:tc>
                <a:tc>
                  <a:txBody>
                    <a:bodyPr wrap="square"/>
                    <a:lstStyle/>
                    <a:p>
                      <a:r>
                        <a:rPr sz="1150" b="0">
                          <a:solidFill>
                            <a:srgbClr val="2B2622"/>
                          </a:solidFill>
                          <a:latin typeface="Calibri"/>
                        </a:rPr>
                        <a:t>xprv: it can spend and derive</a:t>
                      </a:r>
                    </a:p>
                  </a:txBody>
                  <a:tcPr marL="64008" marR="64008" marT="18288" marB="18288" anchor="ctr">
                    <a:solidFill>
                      <a:srgbClr val="FFFFFF"/>
                    </a:solidFill>
                  </a:tcPr>
                </a:tc>
              </a:tr>
              <a:tr h="457200">
                <a:tc>
                  <a:txBody>
                    <a:bodyPr wrap="square"/>
                    <a:lstStyle/>
                    <a:p>
                      <a:r>
                        <a:rPr sz="1150" b="1">
                          <a:solidFill>
                            <a:srgbClr val="2B2622"/>
                          </a:solidFill>
                          <a:latin typeface="Calibri"/>
                        </a:rPr>
                        <a:t>extended public key</a:t>
                      </a:r>
                    </a:p>
                  </a:txBody>
                  <a:tcPr marL="64008" marR="64008" marT="18288" marB="18288" anchor="ctr">
                    <a:solidFill>
                      <a:srgbClr val="F2ECE1"/>
                    </a:solidFill>
                  </a:tcPr>
                </a:tc>
                <a:tc>
                  <a:txBody>
                    <a:bodyPr wrap="square"/>
                    <a:lstStyle/>
                    <a:p>
                      <a:r>
                        <a:rPr sz="1150" b="0">
                          <a:solidFill>
                            <a:srgbClr val="2B2622"/>
                          </a:solidFill>
                          <a:latin typeface="Calibri"/>
                        </a:rPr>
                        <a:t>A guest list that greets visitors but opens no doors</a:t>
                      </a:r>
                    </a:p>
                  </a:txBody>
                  <a:tcPr marL="64008" marR="64008" marT="18288" marB="18288" anchor="ctr">
                    <a:solidFill>
                      <a:srgbClr val="F2ECE1"/>
                    </a:solidFill>
                  </a:tcPr>
                </a:tc>
                <a:tc>
                  <a:txBody>
                    <a:bodyPr wrap="square"/>
                    <a:lstStyle/>
                    <a:p>
                      <a:r>
                        <a:rPr sz="1150" b="0">
                          <a:solidFill>
                            <a:srgbClr val="2B2622"/>
                          </a:solidFill>
                          <a:latin typeface="Calibri"/>
                        </a:rPr>
                        <a:t>xpub: it derives public keys only</a:t>
                      </a:r>
                    </a:p>
                  </a:txBody>
                  <a:tcPr marL="64008" marR="64008" marT="18288" marB="18288" anchor="ctr">
                    <a:solidFill>
                      <a:srgbClr val="F2ECE1"/>
                    </a:solidFill>
                  </a:tcPr>
                </a:tc>
              </a:tr>
              <a:tr h="457200">
                <a:tc>
                  <a:txBody>
                    <a:bodyPr wrap="square"/>
                    <a:lstStyle/>
                    <a:p>
                      <a:r>
                        <a:rPr sz="1150" b="1">
                          <a:solidFill>
                            <a:srgbClr val="2B2622"/>
                          </a:solidFill>
                          <a:latin typeface="Calibri"/>
                        </a:rPr>
                        <a:t>hardened derivation</a:t>
                      </a:r>
                    </a:p>
                  </a:txBody>
                  <a:tcPr marL="64008" marR="64008" marT="18288" marB="18288" anchor="ctr">
                    <a:solidFill>
                      <a:srgbClr val="FFFFFF"/>
                    </a:solidFill>
                  </a:tcPr>
                </a:tc>
                <a:tc>
                  <a:txBody>
                    <a:bodyPr wrap="square"/>
                    <a:lstStyle/>
                    <a:p>
                      <a:r>
                        <a:rPr sz="1150" b="0">
                          <a:solidFill>
                            <a:srgbClr val="2B2622"/>
                          </a:solidFill>
                          <a:latin typeface="Calibri"/>
                        </a:rPr>
                        <a:t>A firewall between parent and children</a:t>
                      </a:r>
                    </a:p>
                  </a:txBody>
                  <a:tcPr marL="64008" marR="64008" marT="18288" marB="18288" anchor="ctr">
                    <a:solidFill>
                      <a:srgbClr val="FFFFFF"/>
                    </a:solidFill>
                  </a:tcPr>
                </a:tc>
                <a:tc>
                  <a:txBody>
                    <a:bodyPr wrap="square"/>
                    <a:lstStyle/>
                    <a:p>
                      <a:r>
                        <a:rPr sz="1150" b="0">
                          <a:solidFill>
                            <a:srgbClr val="2B2622"/>
                          </a:solidFill>
                          <a:latin typeface="Calibri"/>
                        </a:rPr>
                        <a:t>A step that needs the private parent key</a:t>
                      </a:r>
                    </a:p>
                  </a:txBody>
                  <a:tcPr marL="64008" marR="64008" marT="18288" marB="18288" anchor="ctr">
                    <a:solidFill>
                      <a:srgbClr val="FFFFFF"/>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Give out the guest list, never the archive.</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41 / 68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Everyday pictures for part 4, the book's sections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Family trees, firewalls and shelves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Creating an HD Wallet from the Seed</a:t>
            </a:r>
          </a:p>
        </p:txBody>
      </p:sp>
      <p:graphicFrame>
        <p:nvGraphicFramePr>
          <p:cNvPr id="6" name="analogy table"/>
          <p:cNvGraphicFramePr>
            <a:graphicFrameLocks noGrp="1"/>
          </p:cNvGraphicFramePr>
          <p:nvPr/>
        </p:nvGraphicFramePr>
        <p:xfrm>
          <a:off x="457200" y="1188720"/>
          <a:ext cx="8229600" cy="3108960"/>
        </p:xfrm>
        <a:graphic>
          <a:graphicData uri="http://schemas.openxmlformats.org/drawingml/2006/table">
            <a:tbl>
              <a:tblPr firstRow="1" bandRow="1">
                <a:tableStyleId>{5C22544A-7EE6-4342-B048-85BDC9FD1C3A}</a:tableStyleId>
              </a:tblPr>
              <a:tblGrid>
                <a:gridCol w="2194560"/>
                <a:gridCol w="3108960"/>
                <a:gridCol w="2926080"/>
              </a:tblGrid>
              <a:tr h="345440">
                <a:tc>
                  <a:txBody>
                    <a:bodyPr wrap="square"/>
                    <a:lstStyle/>
                    <a:p>
                      <a:r>
                        <a:rPr sz="1050" b="1">
                          <a:solidFill>
                            <a:srgbClr val="FFFFFF"/>
                          </a:solidFill>
                          <a:latin typeface="Calibri"/>
                        </a:rPr>
                        <a:t>Concept</a:t>
                      </a:r>
                    </a:p>
                  </a:txBody>
                  <a:tcPr marL="64008" marR="64008" marT="18288" marB="18288" anchor="ctr">
                    <a:solidFill>
                      <a:srgbClr val="2B2622"/>
                    </a:solidFill>
                  </a:tcPr>
                </a:tc>
                <a:tc>
                  <a:txBody>
                    <a:bodyPr wrap="square"/>
                    <a:lstStyle/>
                    <a:p>
                      <a:r>
                        <a:rPr sz="1050" b="1">
                          <a:solidFill>
                            <a:srgbClr val="FFFFFF"/>
                          </a:solidFill>
                          <a:latin typeface="Calibri"/>
                        </a:rPr>
                        <a:t>In everyday life</a:t>
                      </a:r>
                    </a:p>
                  </a:txBody>
                  <a:tcPr marL="64008" marR="64008" marT="18288" marB="18288" anchor="ctr">
                    <a:solidFill>
                      <a:srgbClr val="2B2622"/>
                    </a:solidFill>
                  </a:tcPr>
                </a:tc>
                <a:tc>
                  <a:txBody>
                    <a:bodyPr wrap="square"/>
                    <a:lstStyle/>
                    <a:p>
                      <a:r>
                        <a:rPr sz="1050" b="1">
                          <a:solidFill>
                            <a:srgbClr val="FFFFFF"/>
                          </a:solidFill>
                          <a:latin typeface="Calibri"/>
                        </a:rPr>
                        <a:t>In the wallet</a:t>
                      </a:r>
                    </a:p>
                  </a:txBody>
                  <a:tcPr marL="64008" marR="64008" marT="18288" marB="18288" anchor="ctr">
                    <a:solidFill>
                      <a:srgbClr val="2B2622"/>
                    </a:solidFill>
                  </a:tcPr>
                </a:tc>
              </a:tr>
              <a:tr h="345440">
                <a:tc>
                  <a:txBody>
                    <a:bodyPr wrap="square"/>
                    <a:lstStyle/>
                    <a:p>
                      <a:r>
                        <a:rPr sz="1050" b="1">
                          <a:solidFill>
                            <a:srgbClr val="2B2622"/>
                          </a:solidFill>
                          <a:latin typeface="Calibri"/>
                        </a:rPr>
                        <a:t>Hierarchical Deterministic (HD) Key Generation (BIP32)</a:t>
                      </a:r>
                    </a:p>
                  </a:txBody>
                  <a:tcPr marL="64008" marR="64008" marT="18288" marB="18288" anchor="ctr">
                    <a:solidFill>
                      <a:srgbClr val="F2ECE1"/>
                    </a:solidFill>
                  </a:tcPr>
                </a:tc>
                <a:tc>
                  <a:txBody>
                    <a:bodyPr wrap="square"/>
                    <a:lstStyle/>
                    <a:p>
                      <a:r>
                        <a:rPr sz="1050" b="0">
                          <a:solidFill>
                            <a:srgbClr val="2B2622"/>
                          </a:solidFill>
                          <a:latin typeface="Calibri"/>
                        </a:rPr>
                        <a:t>A family tree grown from one ancestor</a:t>
                      </a:r>
                    </a:p>
                  </a:txBody>
                  <a:tcPr marL="64008" marR="64008" marT="18288" marB="18288" anchor="ctr">
                    <a:solidFill>
                      <a:srgbClr val="F2ECE1"/>
                    </a:solidFill>
                  </a:tcPr>
                </a:tc>
                <a:tc>
                  <a:txBody>
                    <a:bodyPr wrap="square"/>
                    <a:lstStyle/>
                    <a:p>
                      <a:r>
                        <a:rPr sz="1050" b="0">
                          <a:solidFill>
                            <a:srgbClr val="2B2622"/>
                          </a:solidFill>
                          <a:latin typeface="Calibri"/>
                        </a:rPr>
                        <a:t>One seed, a tree of keys</a:t>
                      </a:r>
                    </a:p>
                  </a:txBody>
                  <a:tcPr marL="64008" marR="64008" marT="18288" marB="18288" anchor="ctr">
                    <a:solidFill>
                      <a:srgbClr val="F2ECE1"/>
                    </a:solidFill>
                  </a:tcPr>
                </a:tc>
              </a:tr>
              <a:tr h="345440">
                <a:tc>
                  <a:txBody>
                    <a:bodyPr wrap="square"/>
                    <a:lstStyle/>
                    <a:p>
                      <a:r>
                        <a:rPr sz="1050" b="1">
                          <a:solidFill>
                            <a:srgbClr val="2B2622"/>
                          </a:solidFill>
                          <a:latin typeface="Calibri"/>
                        </a:rPr>
                        <a:t>Creating an HD Wallet from the Seed</a:t>
                      </a:r>
                    </a:p>
                  </a:txBody>
                  <a:tcPr marL="64008" marR="64008" marT="18288" marB="18288" anchor="ctr">
                    <a:solidFill>
                      <a:srgbClr val="FFFFFF"/>
                    </a:solidFill>
                  </a:tcPr>
                </a:tc>
                <a:tc>
                  <a:txBody>
                    <a:bodyPr wrap="square"/>
                    <a:lstStyle/>
                    <a:p>
                      <a:r>
                        <a:rPr sz="1050" b="0">
                          <a:solidFill>
                            <a:srgbClr val="2B2622"/>
                          </a:solidFill>
                          <a:latin typeface="Calibri"/>
                        </a:rPr>
                        <a:t>Planting the first tree from a seed</a:t>
                      </a:r>
                    </a:p>
                  </a:txBody>
                  <a:tcPr marL="64008" marR="64008" marT="18288" marB="18288" anchor="ctr">
                    <a:solidFill>
                      <a:srgbClr val="FFFFFF"/>
                    </a:solidFill>
                  </a:tcPr>
                </a:tc>
                <a:tc>
                  <a:txBody>
                    <a:bodyPr wrap="square"/>
                    <a:lstStyle/>
                    <a:p>
                      <a:r>
                        <a:rPr sz="1050" b="0">
                          <a:solidFill>
                            <a:srgbClr val="2B2622"/>
                          </a:solidFill>
                          <a:latin typeface="Calibri"/>
                        </a:rPr>
                        <a:t>Seed to master key and chain code</a:t>
                      </a:r>
                    </a:p>
                  </a:txBody>
                  <a:tcPr marL="64008" marR="64008" marT="18288" marB="18288" anchor="ctr">
                    <a:solidFill>
                      <a:srgbClr val="FFFFFF"/>
                    </a:solidFill>
                  </a:tcPr>
                </a:tc>
              </a:tr>
              <a:tr h="345440">
                <a:tc>
                  <a:txBody>
                    <a:bodyPr wrap="square"/>
                    <a:lstStyle/>
                    <a:p>
                      <a:r>
                        <a:rPr sz="1050" b="1">
                          <a:solidFill>
                            <a:srgbClr val="2B2622"/>
                          </a:solidFill>
                          <a:latin typeface="Calibri"/>
                        </a:rPr>
                        <a:t>Private child key derivation</a:t>
                      </a:r>
                    </a:p>
                  </a:txBody>
                  <a:tcPr marL="64008" marR="64008" marT="18288" marB="18288" anchor="ctr">
                    <a:solidFill>
                      <a:srgbClr val="F2ECE1"/>
                    </a:solidFill>
                  </a:tcPr>
                </a:tc>
                <a:tc>
                  <a:txBody>
                    <a:bodyPr wrap="square"/>
                    <a:lstStyle/>
                    <a:p>
                      <a:r>
                        <a:rPr sz="1050" b="0">
                          <a:solidFill>
                            <a:srgbClr val="2B2622"/>
                          </a:solidFill>
                          <a:latin typeface="Calibri"/>
                        </a:rPr>
                        <a:t>A parent handing a child their own key</a:t>
                      </a:r>
                    </a:p>
                  </a:txBody>
                  <a:tcPr marL="64008" marR="64008" marT="18288" marB="18288" anchor="ctr">
                    <a:solidFill>
                      <a:srgbClr val="F2ECE1"/>
                    </a:solidFill>
                  </a:tcPr>
                </a:tc>
                <a:tc>
                  <a:txBody>
                    <a:bodyPr wrap="square"/>
                    <a:lstStyle/>
                    <a:p>
                      <a:r>
                        <a:rPr sz="1050" b="0">
                          <a:solidFill>
                            <a:srgbClr val="2B2622"/>
                          </a:solidFill>
                          <a:latin typeface="Calibri"/>
                        </a:rPr>
                        <a:t>A child private key from the parent private key</a:t>
                      </a:r>
                    </a:p>
                  </a:txBody>
                  <a:tcPr marL="64008" marR="64008" marT="18288" marB="18288" anchor="ctr">
                    <a:solidFill>
                      <a:srgbClr val="F2ECE1"/>
                    </a:solidFill>
                  </a:tcPr>
                </a:tc>
              </a:tr>
              <a:tr h="345440">
                <a:tc>
                  <a:txBody>
                    <a:bodyPr wrap="square"/>
                    <a:lstStyle/>
                    <a:p>
                      <a:r>
                        <a:rPr sz="1050" b="1">
                          <a:solidFill>
                            <a:srgbClr val="2B2622"/>
                          </a:solidFill>
                          <a:latin typeface="Calibri"/>
                        </a:rPr>
                        <a:t>Using derived child keys</a:t>
                      </a:r>
                    </a:p>
                  </a:txBody>
                  <a:tcPr marL="64008" marR="64008" marT="18288" marB="18288" anchor="ctr">
                    <a:solidFill>
                      <a:srgbClr val="FFFFFF"/>
                    </a:solidFill>
                  </a:tcPr>
                </a:tc>
                <a:tc>
                  <a:txBody>
                    <a:bodyPr wrap="square"/>
                    <a:lstStyle/>
                    <a:p>
                      <a:r>
                        <a:rPr sz="1050" b="0">
                          <a:solidFill>
                            <a:srgbClr val="2B2622"/>
                          </a:solidFill>
                          <a:latin typeface="Calibri"/>
                        </a:rPr>
                        <a:t>Giving each room its own key, not the master</a:t>
                      </a:r>
                    </a:p>
                  </a:txBody>
                  <a:tcPr marL="64008" marR="64008" marT="18288" marB="18288" anchor="ctr">
                    <a:solidFill>
                      <a:srgbClr val="FFFFFF"/>
                    </a:solidFill>
                  </a:tcPr>
                </a:tc>
                <a:tc>
                  <a:txBody>
                    <a:bodyPr wrap="square"/>
                    <a:lstStyle/>
                    <a:p>
                      <a:r>
                        <a:rPr sz="1050" b="0">
                          <a:solidFill>
                            <a:srgbClr val="2B2622"/>
                          </a:solidFill>
                          <a:latin typeface="Calibri"/>
                        </a:rPr>
                        <a:t>Hardened children never expose the parent</a:t>
                      </a:r>
                    </a:p>
                  </a:txBody>
                  <a:tcPr marL="64008" marR="64008" marT="18288" marB="18288" anchor="ctr">
                    <a:solidFill>
                      <a:srgbClr val="FFFFFF"/>
                    </a:solidFill>
                  </a:tcPr>
                </a:tc>
              </a:tr>
              <a:tr h="345440">
                <a:tc>
                  <a:txBody>
                    <a:bodyPr wrap="square"/>
                    <a:lstStyle/>
                    <a:p>
                      <a:r>
                        <a:rPr sz="1050" b="1">
                          <a:solidFill>
                            <a:srgbClr val="2B2622"/>
                          </a:solidFill>
                          <a:latin typeface="Calibri"/>
                        </a:rPr>
                        <a:t>Extended keys</a:t>
                      </a:r>
                    </a:p>
                  </a:txBody>
                  <a:tcPr marL="64008" marR="64008" marT="18288" marB="18288" anchor="ctr">
                    <a:solidFill>
                      <a:srgbClr val="F2ECE1"/>
                    </a:solidFill>
                  </a:tcPr>
                </a:tc>
                <a:tc>
                  <a:txBody>
                    <a:bodyPr wrap="square"/>
                    <a:lstStyle/>
                    <a:p>
                      <a:r>
                        <a:rPr sz="1050" b="0">
                          <a:solidFill>
                            <a:srgbClr val="2B2622"/>
                          </a:solidFill>
                          <a:latin typeface="Calibri"/>
                        </a:rPr>
                        <a:t>A key with its family notes stapled on</a:t>
                      </a:r>
                    </a:p>
                  </a:txBody>
                  <a:tcPr marL="64008" marR="64008" marT="18288" marB="18288" anchor="ctr">
                    <a:solidFill>
                      <a:srgbClr val="F2ECE1"/>
                    </a:solidFill>
                  </a:tcPr>
                </a:tc>
                <a:tc>
                  <a:txBody>
                    <a:bodyPr wrap="square"/>
                    <a:lstStyle/>
                    <a:p>
                      <a:r>
                        <a:rPr sz="1050" b="0">
                          <a:solidFill>
                            <a:srgbClr val="2B2622"/>
                          </a:solidFill>
                          <a:latin typeface="Calibri"/>
                        </a:rPr>
                        <a:t>A key plus a chain code, as xprv or xpub</a:t>
                      </a:r>
                    </a:p>
                  </a:txBody>
                  <a:tcPr marL="64008" marR="64008" marT="18288" marB="18288" anchor="ctr">
                    <a:solidFill>
                      <a:srgbClr val="F2ECE1"/>
                    </a:solidFill>
                  </a:tcPr>
                </a:tc>
              </a:tr>
              <a:tr h="345440">
                <a:tc>
                  <a:txBody>
                    <a:bodyPr wrap="square"/>
                    <a:lstStyle/>
                    <a:p>
                      <a:r>
                        <a:rPr sz="1050" b="1">
                          <a:solidFill>
                            <a:srgbClr val="2B2622"/>
                          </a:solidFill>
                          <a:latin typeface="Calibri"/>
                        </a:rPr>
                        <a:t>Public child key derivation</a:t>
                      </a:r>
                    </a:p>
                  </a:txBody>
                  <a:tcPr marL="64008" marR="64008" marT="18288" marB="18288" anchor="ctr">
                    <a:solidFill>
                      <a:srgbClr val="FFFFFF"/>
                    </a:solidFill>
                  </a:tcPr>
                </a:tc>
                <a:tc>
                  <a:txBody>
                    <a:bodyPr wrap="square"/>
                    <a:lstStyle/>
                    <a:p>
                      <a:r>
                        <a:rPr sz="1050" b="0">
                          <a:solidFill>
                            <a:srgbClr val="2B2622"/>
                          </a:solidFill>
                          <a:latin typeface="Calibri"/>
                        </a:rPr>
                        <a:t>Numbering doors without holding any key</a:t>
                      </a:r>
                    </a:p>
                  </a:txBody>
                  <a:tcPr marL="64008" marR="64008" marT="18288" marB="18288" anchor="ctr">
                    <a:solidFill>
                      <a:srgbClr val="FFFFFF"/>
                    </a:solidFill>
                  </a:tcPr>
                </a:tc>
                <a:tc>
                  <a:txBody>
                    <a:bodyPr wrap="square"/>
                    <a:lstStyle/>
                    <a:p>
                      <a:r>
                        <a:rPr sz="1050" b="0">
                          <a:solidFill>
                            <a:srgbClr val="2B2622"/>
                          </a:solidFill>
                          <a:latin typeface="Calibri"/>
                        </a:rPr>
                        <a:t>Public keys derived from a public key</a:t>
                      </a:r>
                    </a:p>
                  </a:txBody>
                  <a:tcPr marL="64008" marR="64008" marT="18288" marB="18288" anchor="ctr">
                    <a:solidFill>
                      <a:srgbClr val="FFFFFF"/>
                    </a:solidFill>
                  </a:tcPr>
                </a:tc>
              </a:tr>
              <a:tr h="345440">
                <a:tc>
                  <a:txBody>
                    <a:bodyPr wrap="square"/>
                    <a:lstStyle/>
                    <a:p>
                      <a:r>
                        <a:rPr sz="1050" b="1">
                          <a:solidFill>
                            <a:srgbClr val="2B2622"/>
                          </a:solidFill>
                          <a:latin typeface="Calibri"/>
                        </a:rPr>
                        <a:t>Hardened child key derivation</a:t>
                      </a:r>
                    </a:p>
                  </a:txBody>
                  <a:tcPr marL="64008" marR="64008" marT="18288" marB="18288" anchor="ctr">
                    <a:solidFill>
                      <a:srgbClr val="F2ECE1"/>
                    </a:solidFill>
                  </a:tcPr>
                </a:tc>
                <a:tc>
                  <a:txBody>
                    <a:bodyPr wrap="square"/>
                    <a:lstStyle/>
                    <a:p>
                      <a:r>
                        <a:rPr sz="1050" b="0">
                          <a:solidFill>
                            <a:srgbClr val="2B2622"/>
                          </a:solidFill>
                          <a:latin typeface="Calibri"/>
                        </a:rPr>
                        <a:t>A firewall between parent and child</a:t>
                      </a:r>
                    </a:p>
                  </a:txBody>
                  <a:tcPr marL="64008" marR="64008" marT="18288" marB="18288" anchor="ctr">
                    <a:solidFill>
                      <a:srgbClr val="F2ECE1"/>
                    </a:solidFill>
                  </a:tcPr>
                </a:tc>
                <a:tc>
                  <a:txBody>
                    <a:bodyPr wrap="square"/>
                    <a:lstStyle/>
                    <a:p>
                      <a:r>
                        <a:rPr sz="1050" b="0">
                          <a:solidFill>
                            <a:srgbClr val="2B2622"/>
                          </a:solidFill>
                          <a:latin typeface="Calibri"/>
                        </a:rPr>
                        <a:t>A step that needs the private parent key</a:t>
                      </a:r>
                    </a:p>
                  </a:txBody>
                  <a:tcPr marL="64008" marR="64008" marT="18288" marB="18288" anchor="ctr">
                    <a:solidFill>
                      <a:srgbClr val="F2ECE1"/>
                    </a:solidFill>
                  </a:tcPr>
                </a:tc>
              </a:tr>
              <a:tr h="345440">
                <a:tc>
                  <a:txBody>
                    <a:bodyPr wrap="square"/>
                    <a:lstStyle/>
                    <a:p>
                      <a:r>
                        <a:rPr sz="1050" b="1">
                          <a:solidFill>
                            <a:srgbClr val="2B2622"/>
                          </a:solidFill>
                          <a:latin typeface="Calibri"/>
                        </a:rPr>
                        <a:t>Index numbers for normal and hardened derivation</a:t>
                      </a:r>
                    </a:p>
                  </a:txBody>
                  <a:tcPr marL="64008" marR="64008" marT="18288" marB="18288" anchor="ctr">
                    <a:solidFill>
                      <a:srgbClr val="FFFFFF"/>
                    </a:solidFill>
                  </a:tcPr>
                </a:tc>
                <a:tc>
                  <a:txBody>
                    <a:bodyPr wrap="square"/>
                    <a:lstStyle/>
                    <a:p>
                      <a:r>
                        <a:rPr sz="1050" b="0">
                          <a:solidFill>
                            <a:srgbClr val="2B2622"/>
                          </a:solidFill>
                          <a:latin typeface="Calibri"/>
                        </a:rPr>
                        <a:t>Two numbered shelves, one ordinary, one locked</a:t>
                      </a:r>
                    </a:p>
                  </a:txBody>
                  <a:tcPr marL="64008" marR="64008" marT="18288" marB="18288" anchor="ctr">
                    <a:solidFill>
                      <a:srgbClr val="FFFFFF"/>
                    </a:solidFill>
                  </a:tcPr>
                </a:tc>
                <a:tc>
                  <a:txBody>
                    <a:bodyPr wrap="square"/>
                    <a:lstStyle/>
                    <a:p>
                      <a:r>
                        <a:rPr sz="1050" b="0">
                          <a:solidFill>
                            <a:srgbClr val="2B2622"/>
                          </a:solidFill>
                          <a:latin typeface="Calibri"/>
                        </a:rPr>
                        <a:t>0 to 2^31-1 normal; 2^31 and up hardened</a:t>
                      </a:r>
                    </a:p>
                  </a:txBody>
                  <a:tcPr marL="64008" marR="64008" marT="18288" marB="18288" anchor="ctr">
                    <a:solidFill>
                      <a:srgbClr val="FFFFFF"/>
                    </a:solidFill>
                  </a:tcPr>
                </a:tc>
              </a:tr>
            </a:tbl>
          </a:graphicData>
        </a:graphic>
      </p:graphicFrame>
      <p:sp>
        <p:nvSpPr>
          <p:cNvPr id="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42 / 68</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5: Paths and descriptors</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Which key is which, and how to write it down</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HD wallet path</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numbers from the master key down to one key</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BIP43 and BIP44</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first number names the scheme; BIP44 fixes five levels</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implicit paths</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paths fixed by a standard, so not recorded</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explicit paths</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paths written down next to the recovery code</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output script descriptors</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text that names the script and the keys behind it</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key origin</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bracket naming a key's parent fingerprint and path</a:t>
            </a:r>
          </a:p>
        </p:txBody>
      </p:sp>
      <p:graphicFrame>
        <p:nvGraphicFramePr>
          <p:cNvPr id="29" name="visual: how the concepts fit"/>
          <p:cNvGraphicFramePr>
            <a:graphicFrameLocks noGrp="1"/>
          </p:cNvGraphicFramePr>
          <p:nvPr/>
        </p:nvGraphicFramePr>
        <p:xfrm>
          <a:off x="6172200" y="1188720"/>
          <a:ext cx="2514600" cy="22860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Recovery code</a:t>
                      </a:r>
                    </a:p>
                  </a:txBody>
                  <a:tcPr marL="64008" marR="64008" marT="18288" marB="18288" anchor="ctr">
                    <a:solidFill>
                      <a:srgbClr val="F2ECE1"/>
                    </a:solidFill>
                  </a:tcPr>
                </a:tc>
              </a:tr>
              <a:tr h="457200">
                <a:tc>
                  <a:txBody>
                    <a:bodyPr wrap="square"/>
                    <a:lstStyle/>
                    <a:p>
                      <a:r>
                        <a:rPr sz="1150" b="0">
                          <a:solidFill>
                            <a:srgbClr val="2B2622"/>
                          </a:solidFill>
                          <a:latin typeface="Calibri"/>
                        </a:rPr>
                        <a:t>2.  Path m/84h/0h/0h</a:t>
                      </a:r>
                    </a:p>
                  </a:txBody>
                  <a:tcPr marL="64008" marR="64008" marT="18288" marB="18288" anchor="ctr">
                    <a:solidFill>
                      <a:srgbClr val="FFFFFF"/>
                    </a:solidFill>
                  </a:tcPr>
                </a:tc>
              </a:tr>
              <a:tr h="457200">
                <a:tc>
                  <a:txBody>
                    <a:bodyPr wrap="square"/>
                    <a:lstStyle/>
                    <a:p>
                      <a:r>
                        <a:rPr sz="1150" b="0">
                          <a:solidFill>
                            <a:srgbClr val="2B2622"/>
                          </a:solidFill>
                          <a:latin typeface="Calibri"/>
                        </a:rPr>
                        <a:t>3.  Descriptor text</a:t>
                      </a:r>
                    </a:p>
                  </a:txBody>
                  <a:tcPr marL="64008" marR="64008" marT="18288" marB="18288" anchor="ctr">
                    <a:solidFill>
                      <a:srgbClr val="F2ECE1"/>
                    </a:solidFill>
                  </a:tcPr>
                </a:tc>
              </a:tr>
              <a:tr h="457200">
                <a:tc>
                  <a:txBody>
                    <a:bodyPr wrap="square"/>
                    <a:lstStyle/>
                    <a:p>
                      <a:r>
                        <a:rPr sz="1150" b="0">
                          <a:solidFill>
                            <a:srgbClr val="2B2622"/>
                          </a:solidFill>
                          <a:latin typeface="Calibri"/>
                        </a:rPr>
                        <a:t>4.  Addresses</a:t>
                      </a:r>
                    </a:p>
                  </a:txBody>
                  <a:tcPr marL="64008" marR="64008" marT="18288" marB="18288" anchor="ctr">
                    <a:solidFill>
                      <a:srgbClr val="FFFFFF"/>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43 / 68</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18: Reading a key path level by level</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path</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"m/84h/0h/0h/1/7"</a:t>
            </a:r>
          </a:p>
          <a:p>
            <a:pPr algn="l"/>
            <a:r>
              <a:rPr sz="1050" b="0" i="0">
                <a:solidFill>
                  <a:srgbClr val="8A9B94"/>
                </a:solidFill>
                <a:latin typeface="Courier New"/>
              </a:rPr>
              <a:t>&gt;&gt;&gt; </a:t>
            </a:r>
            <a:r>
              <a:rPr sz="1050" b="0" i="0">
                <a:solidFill>
                  <a:srgbClr val="E6EDF3"/>
                </a:solidFill>
                <a:latin typeface="Courier New"/>
              </a:rPr>
              <a:t>idx</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path_indices</a:t>
            </a:r>
            <a:r>
              <a:rPr sz="1050" b="0" i="0">
                <a:solidFill>
                  <a:srgbClr val="E6EDF3"/>
                </a:solidFill>
                <a:latin typeface="Courier New"/>
              </a:rPr>
              <a:t>(</a:t>
            </a:r>
            <a:r>
              <a:rPr sz="1050" b="0" i="0">
                <a:solidFill>
                  <a:srgbClr val="E6EDF3"/>
                </a:solidFill>
                <a:latin typeface="Courier New"/>
              </a:rPr>
              <a:t>path</a:t>
            </a:r>
            <a:r>
              <a:rPr sz="1050" b="0" i="0">
                <a:solidFill>
                  <a:srgbClr val="E6EDF3"/>
                </a:solidFill>
                <a:latin typeface="Courier New"/>
              </a:rPr>
              <a:t>)</a:t>
            </a:r>
          </a:p>
        </p:txBody>
      </p:sp>
      <p:sp>
        <p:nvSpPr>
          <p:cNvPr id="8" name="code"/>
          <p:cNvSpPr/>
          <p:nvPr/>
        </p:nvSpPr>
        <p:spPr>
          <a:xfrm>
            <a:off x="365760" y="1636522"/>
            <a:ext cx="4727448" cy="471678"/>
          </a:xfrm>
          <a:prstGeom prst="roundRect">
            <a:avLst>
              <a:gd name="adj" fmla="val 15508"/>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names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"purpose coin account change index"</a:t>
            </a:r>
            <a:r>
              <a:rPr sz="1050" b="0" i="0">
                <a:solidFill>
                  <a:srgbClr val="E6EDF3"/>
                </a:solidFill>
                <a:latin typeface="Courier New"/>
              </a:rPr>
              <a:t>.</a:t>
            </a:r>
            <a:r>
              <a:rPr sz="1050" b="0" i="0">
                <a:solidFill>
                  <a:srgbClr val="E6EDF3"/>
                </a:solidFill>
                <a:latin typeface="Courier New"/>
              </a:rPr>
              <a:t>split</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for</a:t>
            </a:r>
            <a:r>
              <a:rPr sz="1050" b="0" i="0">
                <a:solidFill>
                  <a:srgbClr val="E6EDF3"/>
                </a:solidFill>
                <a:latin typeface="Courier New"/>
              </a:rPr>
              <a:t> </a:t>
            </a:r>
            <a:r>
              <a:rPr sz="1050" b="0" i="0">
                <a:solidFill>
                  <a:srgbClr val="E6EDF3"/>
                </a:solidFill>
                <a:latin typeface="Courier New"/>
              </a:rPr>
              <a:t>n</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 </a:t>
            </a:r>
            <a:r>
              <a:rPr sz="1050" b="0" i="0">
                <a:solidFill>
                  <a:srgbClr val="FFA657"/>
                </a:solidFill>
                <a:latin typeface="Courier New"/>
              </a:rPr>
              <a:t>in</a:t>
            </a:r>
            <a:r>
              <a:rPr sz="1050" b="0" i="0">
                <a:solidFill>
                  <a:srgbClr val="E6EDF3"/>
                </a:solidFill>
                <a:latin typeface="Courier New"/>
              </a:rPr>
              <a:t> </a:t>
            </a:r>
            <a:r>
              <a:rPr sz="1050" b="0" i="0">
                <a:solidFill>
                  <a:srgbClr val="FFA657"/>
                </a:solidFill>
                <a:latin typeface="Courier New"/>
              </a:rPr>
              <a:t>zip</a:t>
            </a:r>
            <a:r>
              <a:rPr sz="1050" b="0" i="0">
                <a:solidFill>
                  <a:srgbClr val="E6EDF3"/>
                </a:solidFill>
                <a:latin typeface="Courier New"/>
              </a:rPr>
              <a:t>(</a:t>
            </a:r>
            <a:r>
              <a:rPr sz="1050" b="0" i="0">
                <a:solidFill>
                  <a:srgbClr val="E6EDF3"/>
                </a:solidFill>
                <a:latin typeface="Courier New"/>
              </a:rPr>
              <a:t>names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idx</a:t>
            </a:r>
            <a:r>
              <a:rPr sz="1050" b="0" i="0">
                <a:solidFill>
                  <a:srgbClr val="E6EDF3"/>
                </a:solidFill>
                <a:latin typeface="Courier New"/>
              </a:rPr>
              <a:t>)</a:t>
            </a:r>
            <a:r>
              <a:rPr sz="1050" b="0" i="0">
                <a:solidFill>
                  <a:srgbClr val="E6EDF3"/>
                </a:solidFill>
                <a:latin typeface="Courier New"/>
              </a:rPr>
              <a:t>:</a:t>
            </a:r>
          </a:p>
        </p:txBody>
      </p:sp>
      <p:sp>
        <p:nvSpPr>
          <p:cNvPr id="10" name="code"/>
          <p:cNvSpPr/>
          <p:nvPr/>
        </p:nvSpPr>
        <p:spPr>
          <a:xfrm>
            <a:off x="365760" y="2163064"/>
            <a:ext cx="4727448" cy="634365"/>
          </a:xfrm>
          <a:prstGeom prst="roundRect">
            <a:avLst>
              <a:gd name="adj" fmla="val 11531"/>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n</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 </a:t>
            </a:r>
            <a:r>
              <a:rPr sz="1050" b="0" i="0">
                <a:solidFill>
                  <a:srgbClr val="E6EDF3"/>
                </a:solidFill>
                <a:latin typeface="Courier New"/>
              </a:rPr>
              <a:t>&gt;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HARD</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HD wallet path, BIP43 and BIP44</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HD wallet key identifier (path)</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 path is a list of child numbers below the master key m.</a:t>
            </a:r>
          </a:p>
        </p:txBody>
      </p:sp>
      <p:sp>
        <p:nvSpPr>
          <p:cNvPr id="9" name="explanation"/>
          <p:cNvSpPr/>
          <p:nvPr/>
        </p:nvSpPr>
        <p:spPr>
          <a:xfrm>
            <a:off x="5074920" y="1636522"/>
            <a:ext cx="3657600" cy="471678"/>
          </a:xfrm>
          <a:prstGeom prst="roundRect">
            <a:avLst>
              <a:gd name="adj" fmla="val 15508"/>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Five levels, as BIP43 and BIP44 define them.</a:t>
            </a:r>
          </a:p>
        </p:txBody>
      </p:sp>
      <p:sp>
        <p:nvSpPr>
          <p:cNvPr id="11" name="explanation"/>
          <p:cNvSpPr/>
          <p:nvPr/>
        </p:nvSpPr>
        <p:spPr>
          <a:xfrm>
            <a:off x="5074920" y="2163064"/>
            <a:ext cx="3657600" cy="634365"/>
          </a:xfrm>
          <a:prstGeom prst="roundRect">
            <a:avLst>
              <a:gd name="adj" fmla="val 11531"/>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Print each number and whether it is hardened: the first three are.</a:t>
            </a:r>
          </a:p>
        </p:txBody>
      </p:sp>
      <p:sp>
        <p:nvSpPr>
          <p:cNvPr id="12" name="result label"/>
          <p:cNvSpPr txBox="1"/>
          <p:nvPr/>
        </p:nvSpPr>
        <p:spPr>
          <a:xfrm>
            <a:off x="365760" y="2888869"/>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pSp>
        <p:nvGrpSpPr>
          <p:cNvPr id="13" name="visual: the five path levels"/>
          <p:cNvGrpSpPr/>
          <p:nvPr/>
        </p:nvGrpSpPr>
        <p:grpSpPr>
          <a:xfrm>
            <a:off x="365760" y="3227197"/>
            <a:ext cx="8257032" cy="777240"/>
            <a:chOff x="365760" y="3227197"/>
            <a:chExt cx="8257032" cy="777240"/>
          </a:xfrm>
        </p:grpSpPr>
        <p:sp>
          <p:nvSpPr>
            <p:cNvPr id="14" name="Rounded Rectangle 13"/>
            <p:cNvSpPr/>
            <p:nvPr/>
          </p:nvSpPr>
          <p:spPr>
            <a:xfrm>
              <a:off x="365760" y="3227197"/>
              <a:ext cx="731520" cy="777240"/>
            </a:xfrm>
            <a:prstGeom prst="roundRect">
              <a:avLst>
                <a:gd name="adj" fmla="val 12000"/>
              </a:avLst>
            </a:prstGeom>
            <a:solidFill>
              <a:srgbClr val="2B2622"/>
            </a:solidFill>
            <a:ln>
              <a:solidFill>
                <a:srgbClr val="2B2622"/>
              </a:solidFill>
            </a:ln>
          </p:spPr>
          <p:txBody>
            <a:bodyPr rtlCol="0" anchor="ctr" wrap="square" lIns="36576" rIns="36576" tIns="36576" bIns="36576"/>
            <a:lstStyle/>
            <a:p>
              <a:pPr algn="ctr"/>
              <a:r>
                <a:rPr sz="1400" b="1" i="0">
                  <a:solidFill>
                    <a:srgbClr val="FFFFFF"/>
                  </a:solidFill>
                  <a:latin typeface="Calibri"/>
                </a:rPr>
                <a:t>m</a:t>
              </a:r>
            </a:p>
          </p:txBody>
        </p:sp>
        <p:sp>
          <p:nvSpPr>
            <p:cNvPr id="15" name="Rounded Rectangle 14"/>
            <p:cNvSpPr/>
            <p:nvPr/>
          </p:nvSpPr>
          <p:spPr>
            <a:xfrm>
              <a:off x="1371600" y="3227197"/>
              <a:ext cx="1325880" cy="77724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50" b="1" i="0">
                  <a:solidFill>
                    <a:srgbClr val="FFFFFF"/>
                  </a:solidFill>
                  <a:latin typeface="Calibri"/>
                </a:rPr>
                <a:t>purpose
84h</a:t>
              </a:r>
            </a:p>
          </p:txBody>
        </p:sp>
        <p:cxnSp>
          <p:nvCxnSpPr>
            <p:cNvPr id="16" name="Connector 15"/>
            <p:cNvCxnSpPr/>
            <p:nvPr/>
          </p:nvCxnSpPr>
          <p:spPr>
            <a:xfrm>
              <a:off x="1097280" y="3615817"/>
              <a:ext cx="274320" cy="0"/>
            </a:xfrm>
            <a:prstGeom prst="line">
              <a:avLst/>
            </a:prstGeom>
            <a:ln w="25400">
              <a:solidFill>
                <a:srgbClr val="6E655C"/>
              </a:solidFill>
              <a:tailEnd type="triangle"/>
            </a:ln>
          </p:spPr>
        </p:cxnSp>
        <p:sp>
          <p:nvSpPr>
            <p:cNvPr id="17" name="Rounded Rectangle 16"/>
            <p:cNvSpPr/>
            <p:nvPr/>
          </p:nvSpPr>
          <p:spPr>
            <a:xfrm>
              <a:off x="2852928" y="3227197"/>
              <a:ext cx="1325880" cy="77724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50" b="1" i="0">
                  <a:solidFill>
                    <a:srgbClr val="FFFFFF"/>
                  </a:solidFill>
                  <a:latin typeface="Calibri"/>
                </a:rPr>
                <a:t>coin
0h</a:t>
              </a:r>
            </a:p>
          </p:txBody>
        </p:sp>
        <p:cxnSp>
          <p:nvCxnSpPr>
            <p:cNvPr id="18" name="Connector 17"/>
            <p:cNvCxnSpPr/>
            <p:nvPr/>
          </p:nvCxnSpPr>
          <p:spPr>
            <a:xfrm>
              <a:off x="2697480" y="3615817"/>
              <a:ext cx="155448" cy="0"/>
            </a:xfrm>
            <a:prstGeom prst="line">
              <a:avLst/>
            </a:prstGeom>
            <a:ln w="25400">
              <a:solidFill>
                <a:srgbClr val="6E655C"/>
              </a:solidFill>
              <a:tailEnd type="triangle"/>
            </a:ln>
          </p:spPr>
        </p:cxnSp>
        <p:sp>
          <p:nvSpPr>
            <p:cNvPr id="19" name="Rounded Rectangle 18"/>
            <p:cNvSpPr/>
            <p:nvPr/>
          </p:nvSpPr>
          <p:spPr>
            <a:xfrm>
              <a:off x="4334256" y="3227197"/>
              <a:ext cx="1325880" cy="77724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50" b="1" i="0">
                  <a:solidFill>
                    <a:srgbClr val="FFFFFF"/>
                  </a:solidFill>
                  <a:latin typeface="Calibri"/>
                </a:rPr>
                <a:t>account
0h</a:t>
              </a:r>
            </a:p>
          </p:txBody>
        </p:sp>
        <p:cxnSp>
          <p:nvCxnSpPr>
            <p:cNvPr id="20" name="Connector 19"/>
            <p:cNvCxnSpPr/>
            <p:nvPr/>
          </p:nvCxnSpPr>
          <p:spPr>
            <a:xfrm>
              <a:off x="4178808" y="3615817"/>
              <a:ext cx="155448" cy="0"/>
            </a:xfrm>
            <a:prstGeom prst="line">
              <a:avLst/>
            </a:prstGeom>
            <a:ln w="25400">
              <a:solidFill>
                <a:srgbClr val="6E655C"/>
              </a:solidFill>
              <a:tailEnd type="triangle"/>
            </a:ln>
          </p:spPr>
        </p:cxnSp>
        <p:sp>
          <p:nvSpPr>
            <p:cNvPr id="21" name="Rounded Rectangle 20"/>
            <p:cNvSpPr/>
            <p:nvPr/>
          </p:nvSpPr>
          <p:spPr>
            <a:xfrm>
              <a:off x="5815584" y="3227197"/>
              <a:ext cx="1325880" cy="77724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150" b="1" i="0">
                  <a:solidFill>
                    <a:srgbClr val="2B2622"/>
                  </a:solidFill>
                  <a:latin typeface="Calibri"/>
                </a:rPr>
                <a:t>change
1</a:t>
              </a:r>
            </a:p>
          </p:txBody>
        </p:sp>
        <p:cxnSp>
          <p:nvCxnSpPr>
            <p:cNvPr id="22" name="Connector 21"/>
            <p:cNvCxnSpPr/>
            <p:nvPr/>
          </p:nvCxnSpPr>
          <p:spPr>
            <a:xfrm>
              <a:off x="5660136" y="3615817"/>
              <a:ext cx="155448" cy="0"/>
            </a:xfrm>
            <a:prstGeom prst="line">
              <a:avLst/>
            </a:prstGeom>
            <a:ln w="25400">
              <a:solidFill>
                <a:srgbClr val="6E655C"/>
              </a:solidFill>
              <a:tailEnd type="triangle"/>
            </a:ln>
          </p:spPr>
        </p:cxnSp>
        <p:sp>
          <p:nvSpPr>
            <p:cNvPr id="23" name="Rounded Rectangle 22"/>
            <p:cNvSpPr/>
            <p:nvPr/>
          </p:nvSpPr>
          <p:spPr>
            <a:xfrm>
              <a:off x="7296912" y="3227197"/>
              <a:ext cx="1325880" cy="77724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150" b="1" i="0">
                  <a:solidFill>
                    <a:srgbClr val="2B2622"/>
                  </a:solidFill>
                  <a:latin typeface="Calibri"/>
                </a:rPr>
                <a:t>index
7</a:t>
              </a:r>
            </a:p>
          </p:txBody>
        </p:sp>
        <p:cxnSp>
          <p:nvCxnSpPr>
            <p:cNvPr id="24" name="Connector 23"/>
            <p:cNvCxnSpPr/>
            <p:nvPr/>
          </p:nvCxnSpPr>
          <p:spPr>
            <a:xfrm>
              <a:off x="7141464" y="3615817"/>
              <a:ext cx="155448" cy="0"/>
            </a:xfrm>
            <a:prstGeom prst="line">
              <a:avLst/>
            </a:prstGeom>
            <a:ln w="25400">
              <a:solidFill>
                <a:srgbClr val="6E655C"/>
              </a:solidFill>
              <a:tailEnd type="triangle"/>
            </a:ln>
          </p:spPr>
        </p:cxnSp>
      </p:grpSp>
      <p:sp>
        <p:nvSpPr>
          <p:cNvPr id="25" name="reading"/>
          <p:cNvSpPr txBox="1"/>
          <p:nvPr/>
        </p:nvSpPr>
        <p:spPr>
          <a:xfrm>
            <a:off x="365760" y="4077589"/>
            <a:ext cx="8321040" cy="274320"/>
          </a:xfrm>
          <a:prstGeom prst="rect">
            <a:avLst/>
          </a:prstGeom>
          <a:noFill/>
        </p:spPr>
        <p:txBody>
          <a:bodyPr wrap="square" anchor="t" lIns="45720" rIns="45720" tIns="36576" bIns="36576">
            <a:spAutoFit/>
          </a:bodyPr>
          <a:lstStyle/>
          <a:p>
            <a:pPr algn="l"/>
            <a:r>
              <a:rPr sz="1200" b="1" i="0">
                <a:solidFill>
                  <a:srgbClr val="2F6D62"/>
                </a:solidFill>
                <a:latin typeface="Calibri"/>
              </a:rPr>
              <a:t>Orange levels are hardened: purpose, coin type and account. Change and index are normal.</a:t>
            </a:r>
          </a:p>
        </p:txBody>
      </p:sp>
      <p:sp>
        <p:nvSpPr>
          <p:cNvPr id="26"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Purpose, coin, account, change, index.</a:t>
            </a:r>
          </a:p>
        </p:txBody>
      </p:sp>
      <p:sp>
        <p:nvSpPr>
          <p:cNvPr id="2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44 / 68</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19: Four standard paths, four address types</a:t>
            </a:r>
          </a:p>
        </p:txBody>
      </p:sp>
      <p:sp>
        <p:nvSpPr>
          <p:cNvPr id="6" name="code"/>
          <p:cNvSpPr/>
          <p:nvPr/>
        </p:nvSpPr>
        <p:spPr>
          <a:xfrm>
            <a:off x="365760" y="1097280"/>
            <a:ext cx="4727448" cy="453390"/>
          </a:xfrm>
          <a:prstGeom prst="roundRect">
            <a:avLst>
              <a:gd name="adj" fmla="val 16134"/>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pub</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FFA657"/>
                </a:solidFill>
                <a:latin typeface="Courier New"/>
              </a:rPr>
              <a:t>lambda</a:t>
            </a:r>
            <a:r>
              <a:rPr sz="950" b="0" i="0">
                <a:solidFill>
                  <a:srgbClr val="E6EDF3"/>
                </a:solidFill>
                <a:latin typeface="Courier New"/>
              </a:rPr>
              <a:t> </a:t>
            </a:r>
            <a:r>
              <a:rPr sz="950" b="0" i="0">
                <a:solidFill>
                  <a:srgbClr val="E6EDF3"/>
                </a:solidFill>
                <a:latin typeface="Courier New"/>
              </a:rPr>
              <a:t>p</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ser_p</a:t>
            </a:r>
            <a:r>
              <a:rPr sz="950" b="0" i="0">
                <a:solidFill>
                  <a:srgbClr val="E6EDF3"/>
                </a:solidFill>
                <a:latin typeface="Courier New"/>
              </a:rPr>
              <a:t>(</a:t>
            </a:r>
            <a:r>
              <a:rPr sz="950" b="0" i="0">
                <a:solidFill>
                  <a:srgbClr val="E6EDF3"/>
                </a:solidFill>
                <a:latin typeface="Courier New"/>
              </a:rPr>
              <a:t>ec_mul</a:t>
            </a:r>
            <a:r>
              <a:rPr sz="950" b="0" i="0">
                <a:solidFill>
                  <a:srgbClr val="E6EDF3"/>
                </a:solidFill>
                <a:latin typeface="Courier New"/>
              </a:rPr>
              <a:t>(</a:t>
            </a:r>
            <a:r>
              <a:rPr sz="950" b="0" i="0">
                <a:solidFill>
                  <a:srgbClr val="E6EDF3"/>
                </a:solidFill>
                <a:latin typeface="Courier New"/>
              </a:rPr>
              <a:t>keys_at</a:t>
            </a:r>
            <a:r>
              <a:rPr sz="950" b="0" i="0">
                <a:solidFill>
                  <a:srgbClr val="E6EDF3"/>
                </a:solidFill>
                <a:latin typeface="Courier New"/>
              </a:rPr>
              <a:t>(</a:t>
            </a:r>
            <a:r>
              <a:rPr sz="950" b="0" i="0">
                <a:solidFill>
                  <a:srgbClr val="E6EDF3"/>
                </a:solidFill>
                <a:latin typeface="Courier New"/>
              </a:rPr>
              <a:t>B84</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0</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a44</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p2pkh</a:t>
            </a:r>
            <a:r>
              <a:rPr sz="950" b="0" i="0">
                <a:solidFill>
                  <a:srgbClr val="E6EDF3"/>
                </a:solidFill>
                <a:latin typeface="Courier New"/>
              </a:rPr>
              <a:t>(</a:t>
            </a:r>
            <a:r>
              <a:rPr sz="950" b="0" i="0">
                <a:solidFill>
                  <a:srgbClr val="E6EDF3"/>
                </a:solidFill>
                <a:latin typeface="Courier New"/>
              </a:rPr>
              <a:t>pub</a:t>
            </a:r>
            <a:r>
              <a:rPr sz="950" b="0" i="0">
                <a:solidFill>
                  <a:srgbClr val="E6EDF3"/>
                </a:solidFill>
                <a:latin typeface="Courier New"/>
              </a:rPr>
              <a:t>(</a:t>
            </a:r>
            <a:r>
              <a:rPr sz="950" b="0" i="0">
                <a:solidFill>
                  <a:srgbClr val="7EE787"/>
                </a:solidFill>
                <a:latin typeface="Courier New"/>
              </a:rPr>
              <a:t>"m/44h/0h/0h/0/0"</a:t>
            </a:r>
            <a:r>
              <a:rPr sz="950" b="0" i="0">
                <a:solidFill>
                  <a:srgbClr val="E6EDF3"/>
                </a:solidFill>
                <a:latin typeface="Courier New"/>
              </a:rPr>
              <a:t>)</a:t>
            </a:r>
            <a:r>
              <a:rPr sz="950" b="0" i="0">
                <a:solidFill>
                  <a:srgbClr val="E6EDF3"/>
                </a:solidFill>
                <a:latin typeface="Courier New"/>
              </a:rPr>
              <a:t>)</a:t>
            </a:r>
          </a:p>
        </p:txBody>
      </p:sp>
      <p:sp>
        <p:nvSpPr>
          <p:cNvPr id="8" name="code"/>
          <p:cNvSpPr/>
          <p:nvPr/>
        </p:nvSpPr>
        <p:spPr>
          <a:xfrm>
            <a:off x="365760" y="1605534"/>
            <a:ext cx="4727448" cy="453390"/>
          </a:xfrm>
          <a:prstGeom prst="roundRect">
            <a:avLst>
              <a:gd name="adj" fmla="val 16134"/>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s</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7EE787"/>
                </a:solidFill>
                <a:latin typeface="Courier New"/>
              </a:rPr>
              <a:t>b"\x00\x14"</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hash160</a:t>
            </a:r>
            <a:r>
              <a:rPr sz="950" b="0" i="0">
                <a:solidFill>
                  <a:srgbClr val="E6EDF3"/>
                </a:solidFill>
                <a:latin typeface="Courier New"/>
              </a:rPr>
              <a:t>(</a:t>
            </a:r>
            <a:r>
              <a:rPr sz="950" b="0" i="0">
                <a:solidFill>
                  <a:srgbClr val="E6EDF3"/>
                </a:solidFill>
                <a:latin typeface="Courier New"/>
              </a:rPr>
              <a:t>pub</a:t>
            </a:r>
            <a:r>
              <a:rPr sz="950" b="0" i="0">
                <a:solidFill>
                  <a:srgbClr val="E6EDF3"/>
                </a:solidFill>
                <a:latin typeface="Courier New"/>
              </a:rPr>
              <a:t>(</a:t>
            </a:r>
            <a:r>
              <a:rPr sz="950" b="0" i="0">
                <a:solidFill>
                  <a:srgbClr val="7EE787"/>
                </a:solidFill>
                <a:latin typeface="Courier New"/>
              </a:rPr>
              <a:t>"m/49h/0h/0h/0/0"</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a49</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b58check</a:t>
            </a:r>
            <a:r>
              <a:rPr sz="950" b="0" i="0">
                <a:solidFill>
                  <a:srgbClr val="E6EDF3"/>
                </a:solidFill>
                <a:latin typeface="Courier New"/>
              </a:rPr>
              <a:t>(</a:t>
            </a:r>
            <a:r>
              <a:rPr sz="950" b="0" i="0">
                <a:solidFill>
                  <a:srgbClr val="7EE787"/>
                </a:solidFill>
                <a:latin typeface="Courier New"/>
              </a:rPr>
              <a:t>b"\x05"</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hash160</a:t>
            </a:r>
            <a:r>
              <a:rPr sz="950" b="0" i="0">
                <a:solidFill>
                  <a:srgbClr val="E6EDF3"/>
                </a:solidFill>
                <a:latin typeface="Courier New"/>
              </a:rPr>
              <a:t>(</a:t>
            </a:r>
            <a:r>
              <a:rPr sz="950" b="0" i="0">
                <a:solidFill>
                  <a:srgbClr val="E6EDF3"/>
                </a:solidFill>
                <a:latin typeface="Courier New"/>
              </a:rPr>
              <a:t>s</a:t>
            </a:r>
            <a:r>
              <a:rPr sz="950" b="0" i="0">
                <a:solidFill>
                  <a:srgbClr val="E6EDF3"/>
                </a:solidFill>
                <a:latin typeface="Courier New"/>
              </a:rPr>
              <a:t>)</a:t>
            </a:r>
            <a:r>
              <a:rPr sz="950" b="0" i="0">
                <a:solidFill>
                  <a:srgbClr val="E6EDF3"/>
                </a:solidFill>
                <a:latin typeface="Courier New"/>
              </a:rPr>
              <a:t>)</a:t>
            </a:r>
          </a:p>
        </p:txBody>
      </p:sp>
      <p:sp>
        <p:nvSpPr>
          <p:cNvPr id="10" name="code"/>
          <p:cNvSpPr/>
          <p:nvPr/>
        </p:nvSpPr>
        <p:spPr>
          <a:xfrm>
            <a:off x="365760" y="2113788"/>
            <a:ext cx="4727448" cy="1029461"/>
          </a:xfrm>
          <a:prstGeom prst="roundRect">
            <a:avLst>
              <a:gd name="adj" fmla="val 7105"/>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a84</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p2wpkh_address</a:t>
            </a:r>
            <a:r>
              <a:rPr sz="950" b="0" i="0">
                <a:solidFill>
                  <a:srgbClr val="E6EDF3"/>
                </a:solidFill>
                <a:latin typeface="Courier New"/>
              </a:rPr>
              <a:t>(</a:t>
            </a:r>
            <a:r>
              <a:rPr sz="950" b="0" i="0">
                <a:solidFill>
                  <a:srgbClr val="E6EDF3"/>
                </a:solidFill>
                <a:latin typeface="Courier New"/>
              </a:rPr>
              <a:t>pub</a:t>
            </a:r>
            <a:r>
              <a:rPr sz="950" b="0" i="0">
                <a:solidFill>
                  <a:srgbClr val="E6EDF3"/>
                </a:solidFill>
                <a:latin typeface="Courier New"/>
              </a:rPr>
              <a:t>(</a:t>
            </a:r>
            <a:r>
              <a:rPr sz="950" b="0" i="0">
                <a:solidFill>
                  <a:srgbClr val="7EE787"/>
                </a:solidFill>
                <a:latin typeface="Courier New"/>
              </a:rPr>
              <a:t>"m/84h/0h/0h/0/0"</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q</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taproot_output_key</a:t>
            </a:r>
            <a:r>
              <a:rPr sz="950" b="0" i="0">
                <a:solidFill>
                  <a:srgbClr val="E6EDF3"/>
                </a:solidFill>
                <a:latin typeface="Courier New"/>
              </a:rPr>
              <a:t>(</a:t>
            </a:r>
            <a:r>
              <a:rPr sz="950" b="0" i="0">
                <a:solidFill>
                  <a:srgbClr val="E6EDF3"/>
                </a:solidFill>
                <a:latin typeface="Courier New"/>
              </a:rPr>
              <a:t>pub</a:t>
            </a:r>
            <a:r>
              <a:rPr sz="950" b="0" i="0">
                <a:solidFill>
                  <a:srgbClr val="E6EDF3"/>
                </a:solidFill>
                <a:latin typeface="Courier New"/>
              </a:rPr>
              <a:t>(</a:t>
            </a:r>
            <a:r>
              <a:rPr sz="950" b="0" i="0">
                <a:solidFill>
                  <a:srgbClr val="7EE787"/>
                </a:solidFill>
                <a:latin typeface="Courier New"/>
              </a:rPr>
              <a:t>"m/86h/0h/0h/0/0"</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a86</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p2tr_address</a:t>
            </a:r>
            <a:r>
              <a:rPr sz="950" b="0" i="0">
                <a:solidFill>
                  <a:srgbClr val="E6EDF3"/>
                </a:solidFill>
                <a:latin typeface="Courier New"/>
              </a:rPr>
              <a:t>(</a:t>
            </a:r>
            <a:r>
              <a:rPr sz="950" b="0" i="0">
                <a:solidFill>
                  <a:srgbClr val="E6EDF3"/>
                </a:solidFill>
                <a:latin typeface="Courier New"/>
              </a:rPr>
              <a:t>q</a:t>
            </a:r>
            <a:r>
              <a:rPr sz="950" b="0" i="0">
                <a:solidFill>
                  <a:srgbClr val="E6EDF3"/>
                </a:solidFill>
                <a:latin typeface="Courier New"/>
              </a:rPr>
              <a:t>)</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a44</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a49</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a84</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a86</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sep</a:t>
            </a:r>
            <a:r>
              <a:rPr sz="950" b="0" i="0">
                <a:solidFill>
                  <a:srgbClr val="E6EDF3"/>
                </a:solidFill>
                <a:latin typeface="Courier New"/>
              </a:rPr>
              <a:t>=</a:t>
            </a:r>
            <a:r>
              <a:rPr sz="950" b="0" i="0">
                <a:solidFill>
                  <a:srgbClr val="7EE787"/>
                </a:solidFill>
                <a:latin typeface="Courier New"/>
              </a:rPr>
              <a:t>"\n"</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__import__</a:t>
            </a:r>
            <a:r>
              <a:rPr sz="950" b="0" i="0">
                <a:solidFill>
                  <a:srgbClr val="E6EDF3"/>
                </a:solidFill>
                <a:latin typeface="Courier New"/>
              </a:rPr>
              <a:t>(</a:t>
            </a:r>
            <a:r>
              <a:rPr sz="950" b="0" i="0">
                <a:solidFill>
                  <a:srgbClr val="7EE787"/>
                </a:solidFill>
                <a:latin typeface="Courier New"/>
              </a:rPr>
              <a:t>"sys"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version_info</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2</a:t>
            </a:r>
            <a:r>
              <a:rPr sz="950" b="0" i="0">
                <a:solidFill>
                  <a:srgbClr val="E6EDF3"/>
                </a:solidFill>
                <a:latin typeface="Courier New"/>
              </a:rPr>
              <a:t>]</a:t>
            </a:r>
          </a:p>
          <a:p>
            <a:pPr algn="l"/>
            <a:r>
              <a:rPr sz="9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Implicit paths and output scripts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sp>
        <p:nvSpPr>
          <p:cNvPr id="7" name="explanation"/>
          <p:cNvSpPr/>
          <p:nvPr/>
        </p:nvSpPr>
        <p:spPr>
          <a:xfrm>
            <a:off x="5074920" y="1097280"/>
            <a:ext cx="3657600" cy="453390"/>
          </a:xfrm>
          <a:prstGeom prst="roundRect">
            <a:avLst>
              <a:gd name="adj" fmla="val 16134"/>
            </a:avLst>
          </a:prstGeom>
          <a:solidFill>
            <a:srgbClr val="F2ECE1"/>
          </a:solidFill>
          <a:ln>
            <a:solidFill>
              <a:srgbClr val="F2ECE1"/>
            </a:solidFill>
          </a:ln>
        </p:spPr>
        <p:txBody>
          <a:bodyPr rtlCol="0" anchor="ctr" wrap="square" lIns="73152" rIns="73152" tIns="36576" bIns="36576"/>
          <a:lstStyle/>
          <a:p>
            <a:pPr algn="l"/>
            <a:r>
              <a:rPr sz="1050" b="0" i="0">
                <a:solidFill>
                  <a:srgbClr val="2B2622"/>
                </a:solidFill>
                <a:latin typeface="Calibri"/>
              </a:rPr>
              <a:t>Purpose 44 gives a legacy pay-to-public-key-hash address, and it starts with 1.</a:t>
            </a:r>
          </a:p>
        </p:txBody>
      </p:sp>
      <p:sp>
        <p:nvSpPr>
          <p:cNvPr id="9" name="explanation"/>
          <p:cNvSpPr/>
          <p:nvPr/>
        </p:nvSpPr>
        <p:spPr>
          <a:xfrm>
            <a:off x="5074920" y="1605534"/>
            <a:ext cx="3657600" cy="453390"/>
          </a:xfrm>
          <a:prstGeom prst="roundRect">
            <a:avLst>
              <a:gd name="adj" fmla="val 16134"/>
            </a:avLst>
          </a:prstGeom>
          <a:solidFill>
            <a:srgbClr val="F2ECE1"/>
          </a:solidFill>
          <a:ln>
            <a:solidFill>
              <a:srgbClr val="F2ECE1"/>
            </a:solidFill>
          </a:ln>
        </p:spPr>
        <p:txBody>
          <a:bodyPr rtlCol="0" anchor="ctr" wrap="square" lIns="73152" rIns="73152" tIns="36576" bIns="36576"/>
          <a:lstStyle/>
          <a:p>
            <a:pPr algn="l"/>
            <a:r>
              <a:rPr sz="1050" b="0" i="0">
                <a:solidFill>
                  <a:srgbClr val="2B2622"/>
                </a:solidFill>
                <a:latin typeface="Calibri"/>
              </a:rPr>
              <a:t>Purpose 49 wraps a segwit script inside a script hash.</a:t>
            </a:r>
          </a:p>
        </p:txBody>
      </p:sp>
      <p:sp>
        <p:nvSpPr>
          <p:cNvPr id="11" name="explanation"/>
          <p:cNvSpPr/>
          <p:nvPr/>
        </p:nvSpPr>
        <p:spPr>
          <a:xfrm>
            <a:off x="5074920" y="2113788"/>
            <a:ext cx="3657600" cy="1029461"/>
          </a:xfrm>
          <a:prstGeom prst="roundRect">
            <a:avLst>
              <a:gd name="adj" fmla="val 7105"/>
            </a:avLst>
          </a:prstGeom>
          <a:solidFill>
            <a:srgbClr val="F2ECE1"/>
          </a:solidFill>
          <a:ln>
            <a:solidFill>
              <a:srgbClr val="F2ECE1"/>
            </a:solidFill>
          </a:ln>
        </p:spPr>
        <p:txBody>
          <a:bodyPr rtlCol="0" anchor="ctr" wrap="square" lIns="73152" rIns="73152" tIns="36576" bIns="36576"/>
          <a:lstStyle/>
          <a:p>
            <a:pPr algn="l"/>
            <a:r>
              <a:rPr sz="1050" b="0" i="0">
                <a:solidFill>
                  <a:srgbClr val="2B2622"/>
                </a:solidFill>
                <a:latin typeface="Calibri"/>
              </a:rPr>
              <a:t>Purposes 84 and 86 give native segwit and taproot addresses. Print all four.</a:t>
            </a:r>
          </a:p>
        </p:txBody>
      </p:sp>
      <p:sp>
        <p:nvSpPr>
          <p:cNvPr id="12" name="result label"/>
          <p:cNvSpPr txBox="1"/>
          <p:nvPr/>
        </p:nvSpPr>
        <p:spPr>
          <a:xfrm>
            <a:off x="365760" y="3234689"/>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481577"/>
          <a:ext cx="8412480" cy="944115"/>
        </p:xfrm>
        <a:graphic>
          <a:graphicData uri="http://schemas.openxmlformats.org/drawingml/2006/table">
            <a:tbl>
              <a:tblPr firstRow="1" bandRow="1">
                <a:tableStyleId>{5C22544A-7EE6-4342-B048-85BDC9FD1C3A}</a:tableStyleId>
              </a:tblPr>
              <a:tblGrid>
                <a:gridCol w="1371600"/>
                <a:gridCol w="1463040"/>
                <a:gridCol w="5577840"/>
              </a:tblGrid>
              <a:tr h="188823">
                <a:tc>
                  <a:txBody>
                    <a:bodyPr wrap="square"/>
                    <a:lstStyle/>
                    <a:p>
                      <a:r>
                        <a:rPr sz="1100" b="1">
                          <a:solidFill>
                            <a:srgbClr val="FFFFFF"/>
                          </a:solidFill>
                          <a:latin typeface="Calibri"/>
                        </a:rPr>
                        <a:t>Purpose</a:t>
                      </a:r>
                    </a:p>
                  </a:txBody>
                  <a:tcPr marL="64008" marR="64008" marT="18288" marB="18288" anchor="ctr">
                    <a:solidFill>
                      <a:srgbClr val="2B2622"/>
                    </a:solidFill>
                  </a:tcPr>
                </a:tc>
                <a:tc>
                  <a:txBody>
                    <a:bodyPr wrap="square"/>
                    <a:lstStyle/>
                    <a:p>
                      <a:r>
                        <a:rPr sz="1100" b="1">
                          <a:solidFill>
                            <a:srgbClr val="FFFFFF"/>
                          </a:solidFill>
                          <a:latin typeface="Calibri"/>
                        </a:rPr>
                        <a:t>Address type</a:t>
                      </a:r>
                    </a:p>
                  </a:txBody>
                  <a:tcPr marL="64008" marR="64008" marT="18288" marB="18288" anchor="ctr">
                    <a:solidFill>
                      <a:srgbClr val="2B2622"/>
                    </a:solidFill>
                  </a:tcPr>
                </a:tc>
                <a:tc>
                  <a:txBody>
                    <a:bodyPr wrap="square"/>
                    <a:lstStyle/>
                    <a:p>
                      <a:r>
                        <a:rPr sz="1100" b="1">
                          <a:solidFill>
                            <a:srgbClr val="FFFFFF"/>
                          </a:solidFill>
                          <a:latin typeface="Calibri"/>
                        </a:rPr>
                        <a:t>First address of the BIP84 test code</a:t>
                      </a:r>
                    </a:p>
                  </a:txBody>
                  <a:tcPr marL="64008" marR="64008" marT="18288" marB="18288" anchor="ctr">
                    <a:solidFill>
                      <a:srgbClr val="2B2622"/>
                    </a:solidFill>
                  </a:tcPr>
                </a:tc>
              </a:tr>
              <a:tr h="188823">
                <a:tc>
                  <a:txBody>
                    <a:bodyPr wrap="square"/>
                    <a:lstStyle/>
                    <a:p>
                      <a:r>
                        <a:rPr sz="1100" b="0">
                          <a:solidFill>
                            <a:srgbClr val="2B2622"/>
                          </a:solidFill>
                          <a:latin typeface="Calibri"/>
                        </a:rPr>
                        <a:t>44 (BIP44)</a:t>
                      </a:r>
                    </a:p>
                  </a:txBody>
                  <a:tcPr marL="64008" marR="64008" marT="18288" marB="18288" anchor="ctr">
                    <a:solidFill>
                      <a:srgbClr val="F2ECE1"/>
                    </a:solidFill>
                  </a:tcPr>
                </a:tc>
                <a:tc>
                  <a:txBody>
                    <a:bodyPr wrap="square"/>
                    <a:lstStyle/>
                    <a:p>
                      <a:r>
                        <a:rPr sz="1100" b="0">
                          <a:solidFill>
                            <a:srgbClr val="2B2622"/>
                          </a:solidFill>
                          <a:latin typeface="Calibri"/>
                        </a:rPr>
                        <a:t>legacy</a:t>
                      </a:r>
                    </a:p>
                  </a:txBody>
                  <a:tcPr marL="64008" marR="64008" marT="18288" marB="18288" anchor="ctr">
                    <a:solidFill>
                      <a:srgbClr val="F2ECE1"/>
                    </a:solidFill>
                  </a:tcPr>
                </a:tc>
                <a:tc>
                  <a:txBody>
                    <a:bodyPr wrap="square"/>
                    <a:lstStyle/>
                    <a:p>
                      <a:r>
                        <a:rPr sz="1000" b="0">
                          <a:solidFill>
                            <a:srgbClr val="2B2622"/>
                          </a:solidFill>
                          <a:latin typeface="Courier New"/>
                        </a:rPr>
                        <a:t>1LqBGSKuX5yYUonjxT5qGfpUsXKYYWeabA</a:t>
                      </a:r>
                    </a:p>
                  </a:txBody>
                  <a:tcPr marL="64008" marR="64008" marT="18288" marB="18288" anchor="ctr">
                    <a:solidFill>
                      <a:srgbClr val="F2ECE1"/>
                    </a:solidFill>
                  </a:tcPr>
                </a:tc>
              </a:tr>
              <a:tr h="188823">
                <a:tc>
                  <a:txBody>
                    <a:bodyPr wrap="square"/>
                    <a:lstStyle/>
                    <a:p>
                      <a:r>
                        <a:rPr sz="1100" b="0">
                          <a:solidFill>
                            <a:srgbClr val="2B2622"/>
                          </a:solidFill>
                          <a:latin typeface="Calibri"/>
                        </a:rPr>
                        <a:t>49 (BIP49)</a:t>
                      </a:r>
                    </a:p>
                  </a:txBody>
                  <a:tcPr marL="64008" marR="64008" marT="18288" marB="18288" anchor="ctr">
                    <a:solidFill>
                      <a:srgbClr val="FFFFFF"/>
                    </a:solidFill>
                  </a:tcPr>
                </a:tc>
                <a:tc>
                  <a:txBody>
                    <a:bodyPr wrap="square"/>
                    <a:lstStyle/>
                    <a:p>
                      <a:r>
                        <a:rPr sz="1100" b="0">
                          <a:solidFill>
                            <a:srgbClr val="2B2622"/>
                          </a:solidFill>
                          <a:latin typeface="Calibri"/>
                        </a:rPr>
                        <a:t>nested segwit</a:t>
                      </a:r>
                    </a:p>
                  </a:txBody>
                  <a:tcPr marL="64008" marR="64008" marT="18288" marB="18288" anchor="ctr">
                    <a:solidFill>
                      <a:srgbClr val="FFFFFF"/>
                    </a:solidFill>
                  </a:tcPr>
                </a:tc>
                <a:tc>
                  <a:txBody>
                    <a:bodyPr wrap="square"/>
                    <a:lstStyle/>
                    <a:p>
                      <a:r>
                        <a:rPr sz="1000" b="0">
                          <a:solidFill>
                            <a:srgbClr val="2B2622"/>
                          </a:solidFill>
                          <a:latin typeface="Courier New"/>
                        </a:rPr>
                        <a:t>37VucYSaXLCAsxYyAPfbSi9eh4iEcbShgf</a:t>
                      </a:r>
                    </a:p>
                  </a:txBody>
                  <a:tcPr marL="64008" marR="64008" marT="18288" marB="18288" anchor="ctr">
                    <a:solidFill>
                      <a:srgbClr val="FFFFFF"/>
                    </a:solidFill>
                  </a:tcPr>
                </a:tc>
              </a:tr>
              <a:tr h="188823">
                <a:tc>
                  <a:txBody>
                    <a:bodyPr wrap="square"/>
                    <a:lstStyle/>
                    <a:p>
                      <a:r>
                        <a:rPr sz="1100" b="0">
                          <a:solidFill>
                            <a:srgbClr val="2B2622"/>
                          </a:solidFill>
                          <a:latin typeface="Calibri"/>
                        </a:rPr>
                        <a:t>84 (BIP84)</a:t>
                      </a:r>
                    </a:p>
                  </a:txBody>
                  <a:tcPr marL="64008" marR="64008" marT="18288" marB="18288" anchor="ctr">
                    <a:solidFill>
                      <a:srgbClr val="F2ECE1"/>
                    </a:solidFill>
                  </a:tcPr>
                </a:tc>
                <a:tc>
                  <a:txBody>
                    <a:bodyPr wrap="square"/>
                    <a:lstStyle/>
                    <a:p>
                      <a:r>
                        <a:rPr sz="1100" b="0">
                          <a:solidFill>
                            <a:srgbClr val="2B2622"/>
                          </a:solidFill>
                          <a:latin typeface="Calibri"/>
                        </a:rPr>
                        <a:t>native segwit</a:t>
                      </a:r>
                    </a:p>
                  </a:txBody>
                  <a:tcPr marL="64008" marR="64008" marT="18288" marB="18288" anchor="ctr">
                    <a:solidFill>
                      <a:srgbClr val="F2ECE1"/>
                    </a:solidFill>
                  </a:tcPr>
                </a:tc>
                <a:tc>
                  <a:txBody>
                    <a:bodyPr wrap="square"/>
                    <a:lstStyle/>
                    <a:p>
                      <a:r>
                        <a:rPr sz="1000" b="0">
                          <a:solidFill>
                            <a:srgbClr val="2B2622"/>
                          </a:solidFill>
                          <a:latin typeface="Courier New"/>
                        </a:rPr>
                        <a:t>bc1qcr8te4kr609gcawutmrza0j4xv80jy8z306fyu</a:t>
                      </a:r>
                    </a:p>
                  </a:txBody>
                  <a:tcPr marL="64008" marR="64008" marT="18288" marB="18288" anchor="ctr">
                    <a:solidFill>
                      <a:srgbClr val="F2ECE1"/>
                    </a:solidFill>
                  </a:tcPr>
                </a:tc>
              </a:tr>
              <a:tr h="188823">
                <a:tc>
                  <a:txBody>
                    <a:bodyPr wrap="square"/>
                    <a:lstStyle/>
                    <a:p>
                      <a:r>
                        <a:rPr sz="1100" b="0">
                          <a:solidFill>
                            <a:srgbClr val="2B2622"/>
                          </a:solidFill>
                          <a:latin typeface="Calibri"/>
                        </a:rPr>
                        <a:t>86 (BIP86)</a:t>
                      </a:r>
                    </a:p>
                  </a:txBody>
                  <a:tcPr marL="64008" marR="64008" marT="18288" marB="18288" anchor="ctr">
                    <a:solidFill>
                      <a:srgbClr val="FFFFFF"/>
                    </a:solidFill>
                  </a:tcPr>
                </a:tc>
                <a:tc>
                  <a:txBody>
                    <a:bodyPr wrap="square"/>
                    <a:lstStyle/>
                    <a:p>
                      <a:r>
                        <a:rPr sz="1100" b="0">
                          <a:solidFill>
                            <a:srgbClr val="2B2622"/>
                          </a:solidFill>
                          <a:latin typeface="Calibri"/>
                        </a:rPr>
                        <a:t>taproot</a:t>
                      </a:r>
                    </a:p>
                  </a:txBody>
                  <a:tcPr marL="64008" marR="64008" marT="18288" marB="18288" anchor="ctr">
                    <a:solidFill>
                      <a:srgbClr val="FFFFFF"/>
                    </a:solidFill>
                  </a:tcPr>
                </a:tc>
                <a:tc>
                  <a:txBody>
                    <a:bodyPr wrap="square"/>
                    <a:lstStyle/>
                    <a:p>
                      <a:r>
                        <a:rPr sz="1000" b="0">
                          <a:solidFill>
                            <a:srgbClr val="2B2622"/>
                          </a:solidFill>
                          <a:latin typeface="Courier New"/>
                        </a:rPr>
                        <a:t>bc1p5cyxnuxmeuwuvkwfem96lqzszd02n6xdcjrs20cac6yqjjwudpxqkedrcr</a:t>
                      </a:r>
                    </a:p>
                  </a:txBody>
                  <a:tcPr marL="64008" marR="64008" marT="18288" marB="18288" anchor="ctr">
                    <a:solidFill>
                      <a:srgbClr val="FFFFFF"/>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One recovery code, four kinds of address.</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45 / 68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20: Our address equals the standard's own</a:t>
            </a:r>
          </a:p>
        </p:txBody>
      </p:sp>
      <p:sp>
        <p:nvSpPr>
          <p:cNvPr id="6" name="code"/>
          <p:cNvSpPr/>
          <p:nvPr/>
        </p:nvSpPr>
        <p:spPr>
          <a:xfrm>
            <a:off x="365760" y="1097280"/>
            <a:ext cx="4727448" cy="468884"/>
          </a:xfrm>
          <a:prstGeom prst="roundRect">
            <a:avLst>
              <a:gd name="adj" fmla="val 1560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k</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c</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keys_at</a:t>
            </a:r>
            <a:r>
              <a:rPr sz="950" b="0" i="0">
                <a:solidFill>
                  <a:srgbClr val="E6EDF3"/>
                </a:solidFill>
                <a:latin typeface="Courier New"/>
              </a:rPr>
              <a:t>(</a:t>
            </a:r>
            <a:r>
              <a:rPr sz="950" b="0" i="0">
                <a:solidFill>
                  <a:srgbClr val="E6EDF3"/>
                </a:solidFill>
                <a:latin typeface="Courier New"/>
              </a:rPr>
              <a:t>B84</a:t>
            </a:r>
            <a:r>
              <a:rPr sz="950" b="0" i="0">
                <a:solidFill>
                  <a:srgbClr val="E6EDF3"/>
                </a:solidFill>
                <a:latin typeface="Courier New"/>
              </a:rPr>
              <a:t>,</a:t>
            </a:r>
            <a:r>
              <a:rPr sz="950" b="0" i="0">
                <a:solidFill>
                  <a:srgbClr val="E6EDF3"/>
                </a:solidFill>
                <a:latin typeface="Courier New"/>
              </a:rPr>
              <a:t> </a:t>
            </a:r>
            <a:r>
              <a:rPr sz="950" b="0" i="0">
                <a:solidFill>
                  <a:srgbClr val="7EE787"/>
                </a:solidFill>
                <a:latin typeface="Courier New"/>
              </a:rPr>
              <a:t>"m/84h/0h/0h/0/0"</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addr</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p2wpkh_address</a:t>
            </a:r>
            <a:r>
              <a:rPr sz="950" b="0" i="0">
                <a:solidFill>
                  <a:srgbClr val="E6EDF3"/>
                </a:solidFill>
                <a:latin typeface="Courier New"/>
              </a:rPr>
              <a:t>(</a:t>
            </a:r>
            <a:r>
              <a:rPr sz="950" b="0" i="0">
                <a:solidFill>
                  <a:srgbClr val="E6EDF3"/>
                </a:solidFill>
                <a:latin typeface="Courier New"/>
              </a:rPr>
              <a:t>ser_p</a:t>
            </a:r>
            <a:r>
              <a:rPr sz="950" b="0" i="0">
                <a:solidFill>
                  <a:srgbClr val="E6EDF3"/>
                </a:solidFill>
                <a:latin typeface="Courier New"/>
              </a:rPr>
              <a:t>(</a:t>
            </a:r>
            <a:r>
              <a:rPr sz="950" b="0" i="0">
                <a:solidFill>
                  <a:srgbClr val="E6EDF3"/>
                </a:solidFill>
                <a:latin typeface="Courier New"/>
              </a:rPr>
              <a:t>ec_mul</a:t>
            </a:r>
            <a:r>
              <a:rPr sz="950" b="0" i="0">
                <a:solidFill>
                  <a:srgbClr val="E6EDF3"/>
                </a:solidFill>
                <a:latin typeface="Courier New"/>
              </a:rPr>
              <a:t>(</a:t>
            </a:r>
            <a:r>
              <a:rPr sz="950" b="0" i="0">
                <a:solidFill>
                  <a:srgbClr val="E6EDF3"/>
                </a:solidFill>
                <a:latin typeface="Courier New"/>
              </a:rPr>
              <a:t>k</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p:txBody>
      </p:sp>
      <p:sp>
        <p:nvSpPr>
          <p:cNvPr id="8" name="code"/>
          <p:cNvSpPr/>
          <p:nvPr/>
        </p:nvSpPr>
        <p:spPr>
          <a:xfrm>
            <a:off x="365760" y="1621028"/>
            <a:ext cx="4727448" cy="735076"/>
          </a:xfrm>
          <a:prstGeom prst="roundRect">
            <a:avLst>
              <a:gd name="adj" fmla="val 995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published</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7EE787"/>
                </a:solidFill>
                <a:latin typeface="Courier New"/>
              </a:rPr>
              <a:t>"bc1qcr8te4kr609gcawutmrza0j4xv80jy8z306fyu"</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addr</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published</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__import__</a:t>
            </a:r>
            <a:r>
              <a:rPr sz="950" b="0" i="0">
                <a:solidFill>
                  <a:srgbClr val="E6EDF3"/>
                </a:solidFill>
                <a:latin typeface="Courier New"/>
              </a:rPr>
              <a:t>(</a:t>
            </a:r>
            <a:r>
              <a:rPr sz="950" b="0" i="0">
                <a:solidFill>
                  <a:srgbClr val="7EE787"/>
                </a:solidFill>
                <a:latin typeface="Courier New"/>
              </a:rPr>
              <a:t>"sys"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version_info</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2</a:t>
            </a:r>
            <a:r>
              <a:rPr sz="950" b="0" i="0">
                <a:solidFill>
                  <a:srgbClr val="E6EDF3"/>
                </a:solidFill>
                <a:latin typeface="Courier New"/>
              </a:rPr>
              <a:t>]</a:t>
            </a:r>
          </a:p>
          <a:p>
            <a:pPr algn="l"/>
            <a:r>
              <a:rPr sz="9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Explicit paths and the standard's test vector</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sp>
        <p:nvSpPr>
          <p:cNvPr id="7" name="explanation"/>
          <p:cNvSpPr/>
          <p:nvPr/>
        </p:nvSpPr>
        <p:spPr>
          <a:xfrm>
            <a:off x="5074920" y="1097280"/>
            <a:ext cx="3657600" cy="468884"/>
          </a:xfrm>
          <a:prstGeom prst="roundRect">
            <a:avLst>
              <a:gd name="adj" fmla="val 1560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Derive the first address of the BIP84 test recovery code.</a:t>
            </a:r>
          </a:p>
        </p:txBody>
      </p:sp>
      <p:sp>
        <p:nvSpPr>
          <p:cNvPr id="9" name="explanation"/>
          <p:cNvSpPr/>
          <p:nvPr/>
        </p:nvSpPr>
        <p:spPr>
          <a:xfrm>
            <a:off x="5074920" y="1621028"/>
            <a:ext cx="3657600" cy="735076"/>
          </a:xfrm>
          <a:prstGeom prst="roundRect">
            <a:avLst>
              <a:gd name="adj" fmla="val 995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Compare it with the address printed in BIP84 and derived by Bitcoin Core.</a:t>
            </a:r>
          </a:p>
        </p:txBody>
      </p:sp>
      <p:sp>
        <p:nvSpPr>
          <p:cNvPr id="10" name="result label"/>
          <p:cNvSpPr txBox="1"/>
          <p:nvPr/>
        </p:nvSpPr>
        <p:spPr>
          <a:xfrm>
            <a:off x="365760" y="2447544"/>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2694432"/>
          <a:ext cx="8412480" cy="1243584"/>
        </p:xfrm>
        <a:graphic>
          <a:graphicData uri="http://schemas.openxmlformats.org/drawingml/2006/table">
            <a:tbl>
              <a:tblPr firstRow="1" bandRow="1">
                <a:tableStyleId>{5C22544A-7EE6-4342-B048-85BDC9FD1C3A}</a:tableStyleId>
              </a:tblPr>
              <a:tblGrid>
                <a:gridCol w="3108960"/>
                <a:gridCol w="5303520"/>
              </a:tblGrid>
              <a:tr h="310896">
                <a:tc>
                  <a:txBody>
                    <a:bodyPr wrap="square"/>
                    <a:lstStyle/>
                    <a:p>
                      <a:r>
                        <a:rPr sz="1200" b="1">
                          <a:solidFill>
                            <a:srgbClr val="FFFFFF"/>
                          </a:solidFill>
                          <a:latin typeface="Calibri"/>
                        </a:rPr>
                        <a:t>Source</a:t>
                      </a:r>
                    </a:p>
                  </a:txBody>
                  <a:tcPr marL="64008" marR="64008" marT="18288" marB="18288" anchor="ctr">
                    <a:solidFill>
                      <a:srgbClr val="2B2622"/>
                    </a:solidFill>
                  </a:tcPr>
                </a:tc>
                <a:tc>
                  <a:txBody>
                    <a:bodyPr wrap="square"/>
                    <a:lstStyle/>
                    <a:p>
                      <a:r>
                        <a:rPr sz="1200" b="1">
                          <a:solidFill>
                            <a:srgbClr val="FFFFFF"/>
                          </a:solidFill>
                          <a:latin typeface="Calibri"/>
                        </a:rPr>
                        <a:t>First address at m/84h/0h/0h/0/0</a:t>
                      </a:r>
                    </a:p>
                  </a:txBody>
                  <a:tcPr marL="64008" marR="64008" marT="18288" marB="18288" anchor="ctr">
                    <a:solidFill>
                      <a:srgbClr val="2B2622"/>
                    </a:solidFill>
                  </a:tcPr>
                </a:tc>
              </a:tr>
              <a:tr h="310896">
                <a:tc>
                  <a:txBody>
                    <a:bodyPr wrap="square"/>
                    <a:lstStyle/>
                    <a:p>
                      <a:r>
                        <a:rPr sz="1200" b="0">
                          <a:solidFill>
                            <a:srgbClr val="2B2622"/>
                          </a:solidFill>
                          <a:latin typeface="Calibri"/>
                        </a:rPr>
                        <a:t>Our code, in this run</a:t>
                      </a:r>
                    </a:p>
                  </a:txBody>
                  <a:tcPr marL="64008" marR="64008" marT="18288" marB="18288" anchor="ctr">
                    <a:solidFill>
                      <a:srgbClr val="F2ECE1"/>
                    </a:solidFill>
                  </a:tcPr>
                </a:tc>
                <a:tc>
                  <a:txBody>
                    <a:bodyPr wrap="square"/>
                    <a:lstStyle/>
                    <a:p>
                      <a:r>
                        <a:rPr sz="1200" b="0">
                          <a:solidFill>
                            <a:srgbClr val="2B2622"/>
                          </a:solidFill>
                          <a:latin typeface="Courier New"/>
                        </a:rPr>
                        <a:t>bc1qcr8te4kr609gcawutmrza0j4xv80jy8z306fyu</a:t>
                      </a:r>
                    </a:p>
                  </a:txBody>
                  <a:tcPr marL="64008" marR="64008" marT="18288" marB="18288" anchor="ctr">
                    <a:solidFill>
                      <a:srgbClr val="F2ECE1"/>
                    </a:solidFill>
                  </a:tcPr>
                </a:tc>
              </a:tr>
              <a:tr h="310896">
                <a:tc>
                  <a:txBody>
                    <a:bodyPr wrap="square"/>
                    <a:lstStyle/>
                    <a:p>
                      <a:r>
                        <a:rPr sz="1200" b="0">
                          <a:solidFill>
                            <a:srgbClr val="2B2622"/>
                          </a:solidFill>
                          <a:latin typeface="Calibri"/>
                        </a:rPr>
                        <a:t>BIP84 and Bitcoin Core publish</a:t>
                      </a:r>
                    </a:p>
                  </a:txBody>
                  <a:tcPr marL="64008" marR="64008" marT="18288" marB="18288" anchor="ctr">
                    <a:solidFill>
                      <a:srgbClr val="FFFFFF"/>
                    </a:solidFill>
                  </a:tcPr>
                </a:tc>
                <a:tc>
                  <a:txBody>
                    <a:bodyPr wrap="square"/>
                    <a:lstStyle/>
                    <a:p>
                      <a:r>
                        <a:rPr sz="1200" b="0">
                          <a:solidFill>
                            <a:srgbClr val="2B2622"/>
                          </a:solidFill>
                          <a:latin typeface="Courier New"/>
                        </a:rPr>
                        <a:t>bc1qcr8te4kr609gcawutmrza0j4xv80jy8z306fyu</a:t>
                      </a:r>
                    </a:p>
                  </a:txBody>
                  <a:tcPr marL="64008" marR="64008" marT="18288" marB="18288" anchor="ctr">
                    <a:solidFill>
                      <a:srgbClr val="FFFFFF"/>
                    </a:solidFill>
                  </a:tcPr>
                </a:tc>
              </a:tr>
              <a:tr h="310896">
                <a:tc>
                  <a:txBody>
                    <a:bodyPr wrap="square"/>
                    <a:lstStyle/>
                    <a:p>
                      <a:r>
                        <a:rPr sz="1200" b="0">
                          <a:solidFill>
                            <a:srgbClr val="2B2622"/>
                          </a:solidFill>
                          <a:latin typeface="Calibri"/>
                        </a:rPr>
                        <a:t>Equal?</a:t>
                      </a:r>
                    </a:p>
                  </a:txBody>
                  <a:tcPr marL="64008" marR="64008" marT="18288" marB="18288" anchor="ctr">
                    <a:solidFill>
                      <a:srgbClr val="F2ECE1"/>
                    </a:solidFill>
                  </a:tcPr>
                </a:tc>
                <a:tc>
                  <a:txBody>
                    <a:bodyPr wrap="square"/>
                    <a:lstStyle/>
                    <a:p>
                      <a:r>
                        <a:rPr sz="1200" b="0">
                          <a:solidFill>
                            <a:srgbClr val="2B2622"/>
                          </a:solidFill>
                          <a:latin typeface="Courier New"/>
                        </a:rPr>
                        <a:t>True</a:t>
                      </a:r>
                    </a:p>
                  </a:txBody>
                  <a:tcPr marL="64008" marR="64008" marT="18288" marB="18288" anchor="ctr">
                    <a:solidFill>
                      <a:srgbClr val="F2ECE1"/>
                    </a:solidFill>
                  </a:tcPr>
                </a:tc>
              </a:tr>
            </a:tbl>
          </a:graphicData>
        </a:graphic>
      </p:graphicFrame>
      <p:sp>
        <p:nvSpPr>
          <p:cNvPr id="1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Check your code against the published vector.</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46 / 68</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21: A key tweak makes the taproot key</a:t>
            </a:r>
          </a:p>
        </p:txBody>
      </p:sp>
      <p:sp>
        <p:nvSpPr>
          <p:cNvPr id="6" name="code"/>
          <p:cNvSpPr/>
          <p:nvPr/>
        </p:nvSpPr>
        <p:spPr>
          <a:xfrm>
            <a:off x="365760" y="1097280"/>
            <a:ext cx="4727448" cy="468884"/>
          </a:xfrm>
          <a:prstGeom prst="roundRect">
            <a:avLst>
              <a:gd name="adj" fmla="val 1560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k</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c</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keys_at</a:t>
            </a:r>
            <a:r>
              <a:rPr sz="950" b="0" i="0">
                <a:solidFill>
                  <a:srgbClr val="E6EDF3"/>
                </a:solidFill>
                <a:latin typeface="Courier New"/>
              </a:rPr>
              <a:t>(</a:t>
            </a:r>
            <a:r>
              <a:rPr sz="950" b="0" i="0">
                <a:solidFill>
                  <a:srgbClr val="E6EDF3"/>
                </a:solidFill>
                <a:latin typeface="Courier New"/>
              </a:rPr>
              <a:t>B84</a:t>
            </a:r>
            <a:r>
              <a:rPr sz="950" b="0" i="0">
                <a:solidFill>
                  <a:srgbClr val="E6EDF3"/>
                </a:solidFill>
                <a:latin typeface="Courier New"/>
              </a:rPr>
              <a:t>,</a:t>
            </a:r>
            <a:r>
              <a:rPr sz="950" b="0" i="0">
                <a:solidFill>
                  <a:srgbClr val="E6EDF3"/>
                </a:solidFill>
                <a:latin typeface="Courier New"/>
              </a:rPr>
              <a:t> </a:t>
            </a:r>
            <a:r>
              <a:rPr sz="950" b="0" i="0">
                <a:solidFill>
                  <a:srgbClr val="7EE787"/>
                </a:solidFill>
                <a:latin typeface="Courier New"/>
              </a:rPr>
              <a:t>"m/86h/0h/0h/0/0"</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P</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ser_p</a:t>
            </a:r>
            <a:r>
              <a:rPr sz="950" b="0" i="0">
                <a:solidFill>
                  <a:srgbClr val="E6EDF3"/>
                </a:solidFill>
                <a:latin typeface="Courier New"/>
              </a:rPr>
              <a:t>(</a:t>
            </a:r>
            <a:r>
              <a:rPr sz="950" b="0" i="0">
                <a:solidFill>
                  <a:srgbClr val="E6EDF3"/>
                </a:solidFill>
                <a:latin typeface="Courier New"/>
              </a:rPr>
              <a:t>ec_mul</a:t>
            </a:r>
            <a:r>
              <a:rPr sz="950" b="0" i="0">
                <a:solidFill>
                  <a:srgbClr val="E6EDF3"/>
                </a:solidFill>
                <a:latin typeface="Courier New"/>
              </a:rPr>
              <a:t>(</a:t>
            </a:r>
            <a:r>
              <a:rPr sz="950" b="0" i="0">
                <a:solidFill>
                  <a:srgbClr val="E6EDF3"/>
                </a:solidFill>
                <a:latin typeface="Courier New"/>
              </a:rPr>
              <a:t>k</a:t>
            </a:r>
            <a:r>
              <a:rPr sz="950" b="0" i="0">
                <a:solidFill>
                  <a:srgbClr val="E6EDF3"/>
                </a:solidFill>
                <a:latin typeface="Courier New"/>
              </a:rPr>
              <a:t>)</a:t>
            </a:r>
            <a:r>
              <a:rPr sz="950" b="0" i="0">
                <a:solidFill>
                  <a:srgbClr val="E6EDF3"/>
                </a:solidFill>
                <a:latin typeface="Courier New"/>
              </a:rPr>
              <a:t>)</a:t>
            </a:r>
          </a:p>
        </p:txBody>
      </p:sp>
      <p:sp>
        <p:nvSpPr>
          <p:cNvPr id="8" name="code"/>
          <p:cNvSpPr/>
          <p:nvPr/>
        </p:nvSpPr>
        <p:spPr>
          <a:xfrm>
            <a:off x="365760" y="1621028"/>
            <a:ext cx="4727448" cy="468884"/>
          </a:xfrm>
          <a:prstGeom prst="roundRect">
            <a:avLst>
              <a:gd name="adj" fmla="val 1560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Q</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taproot_output_key</a:t>
            </a:r>
            <a:r>
              <a:rPr sz="950" b="0" i="0">
                <a:solidFill>
                  <a:srgbClr val="E6EDF3"/>
                </a:solidFill>
                <a:latin typeface="Courier New"/>
              </a:rPr>
              <a:t>(</a:t>
            </a:r>
            <a:r>
              <a:rPr sz="950" b="0" i="0">
                <a:solidFill>
                  <a:srgbClr val="E6EDF3"/>
                </a:solidFill>
                <a:latin typeface="Courier New"/>
              </a:rPr>
              <a:t>P</a:t>
            </a:r>
            <a:r>
              <a:rPr sz="950" b="0" i="0">
                <a:solidFill>
                  <a:srgbClr val="E6EDF3"/>
                </a:solidFill>
                <a:latin typeface="Courier New"/>
              </a:rPr>
              <a:t>)</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P</a:t>
            </a:r>
            <a:r>
              <a:rPr sz="950" b="0" i="0">
                <a:solidFill>
                  <a:srgbClr val="E6EDF3"/>
                </a:solidFill>
                <a:latin typeface="Courier New"/>
              </a:rPr>
              <a:t>[</a:t>
            </a:r>
            <a:r>
              <a:rPr sz="950" b="0" i="0">
                <a:solidFill>
                  <a:srgbClr val="79C0FF"/>
                </a:solidFill>
                <a:latin typeface="Courier New"/>
              </a:rPr>
              <a:t>1</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hex</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12</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Q</a:t>
            </a:r>
            <a:r>
              <a:rPr sz="950" b="0" i="0">
                <a:solidFill>
                  <a:srgbClr val="E6EDF3"/>
                </a:solidFill>
                <a:latin typeface="Courier New"/>
              </a:rPr>
              <a:t>.</a:t>
            </a:r>
            <a:r>
              <a:rPr sz="950" b="0" i="0">
                <a:solidFill>
                  <a:srgbClr val="E6EDF3"/>
                </a:solidFill>
                <a:latin typeface="Courier New"/>
              </a:rPr>
              <a:t>hex</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12</a:t>
            </a:r>
            <a:r>
              <a:rPr sz="950" b="0" i="0">
                <a:solidFill>
                  <a:srgbClr val="E6EDF3"/>
                </a:solidFill>
                <a:latin typeface="Courier New"/>
              </a:rPr>
              <a:t>]</a:t>
            </a:r>
            <a:r>
              <a:rPr sz="950" b="0" i="0">
                <a:solidFill>
                  <a:srgbClr val="E6EDF3"/>
                </a:solidFill>
                <a:latin typeface="Courier New"/>
              </a:rPr>
              <a:t>)</a:t>
            </a:r>
          </a:p>
        </p:txBody>
      </p:sp>
      <p:sp>
        <p:nvSpPr>
          <p:cNvPr id="10" name="code"/>
          <p:cNvSpPr/>
          <p:nvPr/>
        </p:nvSpPr>
        <p:spPr>
          <a:xfrm>
            <a:off x="365760" y="2144776"/>
            <a:ext cx="4727448" cy="587883"/>
          </a:xfrm>
          <a:prstGeom prst="roundRect">
            <a:avLst>
              <a:gd name="adj" fmla="val 12443"/>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p2tr_address</a:t>
            </a:r>
            <a:r>
              <a:rPr sz="950" b="0" i="0">
                <a:solidFill>
                  <a:srgbClr val="E6EDF3"/>
                </a:solidFill>
                <a:latin typeface="Courier New"/>
              </a:rPr>
              <a:t>(</a:t>
            </a:r>
            <a:r>
              <a:rPr sz="950" b="0" i="0">
                <a:solidFill>
                  <a:srgbClr val="E6EDF3"/>
                </a:solidFill>
                <a:latin typeface="Courier New"/>
              </a:rPr>
              <a:t>Q</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__import__</a:t>
            </a:r>
            <a:r>
              <a:rPr sz="950" b="0" i="0">
                <a:solidFill>
                  <a:srgbClr val="E6EDF3"/>
                </a:solidFill>
                <a:latin typeface="Courier New"/>
              </a:rPr>
              <a:t>(</a:t>
            </a:r>
            <a:r>
              <a:rPr sz="950" b="0" i="0">
                <a:solidFill>
                  <a:srgbClr val="7EE787"/>
                </a:solidFill>
                <a:latin typeface="Courier New"/>
              </a:rPr>
              <a:t>"sys"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version_info</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2</a:t>
            </a:r>
            <a:r>
              <a:rPr sz="950" b="0" i="0">
                <a:solidFill>
                  <a:srgbClr val="E6EDF3"/>
                </a:solidFill>
                <a:latin typeface="Courier New"/>
              </a:rPr>
              <a:t>]</a:t>
            </a:r>
          </a:p>
          <a:p>
            <a:pPr algn="l"/>
            <a:r>
              <a:rPr sz="9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Key tweak and BIP86</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sp>
        <p:nvSpPr>
          <p:cNvPr id="7" name="explanation"/>
          <p:cNvSpPr/>
          <p:nvPr/>
        </p:nvSpPr>
        <p:spPr>
          <a:xfrm>
            <a:off x="5074920" y="1097280"/>
            <a:ext cx="3657600" cy="468884"/>
          </a:xfrm>
          <a:prstGeom prst="roundRect">
            <a:avLst>
              <a:gd name="adj" fmla="val 1560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This is the internal key of the BIP86 path, before the tweak.</a:t>
            </a:r>
          </a:p>
        </p:txBody>
      </p:sp>
      <p:sp>
        <p:nvSpPr>
          <p:cNvPr id="9" name="explanation"/>
          <p:cNvSpPr/>
          <p:nvPr/>
        </p:nvSpPr>
        <p:spPr>
          <a:xfrm>
            <a:off x="5074920" y="1621028"/>
            <a:ext cx="3657600" cy="468884"/>
          </a:xfrm>
          <a:prstGeom prst="roundRect">
            <a:avLst>
              <a:gd name="adj" fmla="val 1560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Add a hash-derived number times the generator point: a tweaked output key.</a:t>
            </a:r>
          </a:p>
        </p:txBody>
      </p:sp>
      <p:sp>
        <p:nvSpPr>
          <p:cNvPr id="11" name="explanation"/>
          <p:cNvSpPr/>
          <p:nvPr/>
        </p:nvSpPr>
        <p:spPr>
          <a:xfrm>
            <a:off x="5074920" y="2144776"/>
            <a:ext cx="3657600" cy="587883"/>
          </a:xfrm>
          <a:prstGeom prst="roundRect">
            <a:avLst>
              <a:gd name="adj" fmla="val 12443"/>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The address encodes the tweaked key, not the internal one.</a:t>
            </a:r>
          </a:p>
        </p:txBody>
      </p:sp>
      <p:sp>
        <p:nvSpPr>
          <p:cNvPr id="12" name="result label"/>
          <p:cNvSpPr txBox="1"/>
          <p:nvPr/>
        </p:nvSpPr>
        <p:spPr>
          <a:xfrm>
            <a:off x="365760" y="2824099"/>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070987"/>
          <a:ext cx="8412480" cy="1243584"/>
        </p:xfrm>
        <a:graphic>
          <a:graphicData uri="http://schemas.openxmlformats.org/drawingml/2006/table">
            <a:tbl>
              <a:tblPr firstRow="1" bandRow="1">
                <a:tableStyleId>{5C22544A-7EE6-4342-B048-85BDC9FD1C3A}</a:tableStyleId>
              </a:tblPr>
              <a:tblGrid>
                <a:gridCol w="2926080"/>
                <a:gridCol w="5486400"/>
              </a:tblGrid>
              <a:tr h="310896">
                <a:tc>
                  <a:txBody>
                    <a:bodyPr wrap="square"/>
                    <a:lstStyle/>
                    <a:p>
                      <a:r>
                        <a:rPr sz="1200" b="1">
                          <a:solidFill>
                            <a:srgbClr val="FFFFFF"/>
                          </a:solidFill>
                          <a:latin typeface="Calibri"/>
                        </a:rPr>
                        <a:t>Item</a:t>
                      </a:r>
                    </a:p>
                  </a:txBody>
                  <a:tcPr marL="64008" marR="64008" marT="18288" marB="18288" anchor="ctr">
                    <a:solidFill>
                      <a:srgbClr val="2B2622"/>
                    </a:solidFill>
                  </a:tcPr>
                </a:tc>
                <a:tc>
                  <a:txBody>
                    <a:bodyPr wrap="square"/>
                    <a:lstStyle/>
                    <a:p>
                      <a:r>
                        <a:rPr sz="1200" b="1">
                          <a:solidFill>
                            <a:srgbClr val="FFFFFF"/>
                          </a:solidFill>
                          <a:latin typeface="Calibri"/>
                        </a:rPr>
                        <a:t>Value</a:t>
                      </a:r>
                    </a:p>
                  </a:txBody>
                  <a:tcPr marL="64008" marR="64008" marT="18288" marB="18288" anchor="ctr">
                    <a:solidFill>
                      <a:srgbClr val="2B2622"/>
                    </a:solidFill>
                  </a:tcPr>
                </a:tc>
              </a:tr>
              <a:tr h="310896">
                <a:tc>
                  <a:txBody>
                    <a:bodyPr wrap="square"/>
                    <a:lstStyle/>
                    <a:p>
                      <a:r>
                        <a:rPr sz="1200" b="0">
                          <a:solidFill>
                            <a:srgbClr val="2B2622"/>
                          </a:solidFill>
                          <a:latin typeface="Calibri"/>
                        </a:rPr>
                        <a:t>Internal key (BIP86 path), first 12 hex</a:t>
                      </a:r>
                    </a:p>
                  </a:txBody>
                  <a:tcPr marL="64008" marR="64008" marT="18288" marB="18288" anchor="ctr">
                    <a:solidFill>
                      <a:srgbClr val="F2ECE1"/>
                    </a:solidFill>
                  </a:tcPr>
                </a:tc>
                <a:tc>
                  <a:txBody>
                    <a:bodyPr wrap="square"/>
                    <a:lstStyle/>
                    <a:p>
                      <a:r>
                        <a:rPr sz="1050" b="0">
                          <a:solidFill>
                            <a:srgbClr val="2B2622"/>
                          </a:solidFill>
                          <a:latin typeface="Courier New"/>
                        </a:rPr>
                        <a:t>cc8a4bc64d89</a:t>
                      </a:r>
                    </a:p>
                  </a:txBody>
                  <a:tcPr marL="64008" marR="64008" marT="18288" marB="18288" anchor="ctr">
                    <a:solidFill>
                      <a:srgbClr val="F2ECE1"/>
                    </a:solidFill>
                  </a:tcPr>
                </a:tc>
              </a:tr>
              <a:tr h="310896">
                <a:tc>
                  <a:txBody>
                    <a:bodyPr wrap="square"/>
                    <a:lstStyle/>
                    <a:p>
                      <a:r>
                        <a:rPr sz="1200" b="0">
                          <a:solidFill>
                            <a:srgbClr val="2B2622"/>
                          </a:solidFill>
                          <a:latin typeface="Calibri"/>
                        </a:rPr>
                        <a:t>Output key after the tweak, first 12 hex</a:t>
                      </a:r>
                    </a:p>
                  </a:txBody>
                  <a:tcPr marL="64008" marR="64008" marT="18288" marB="18288" anchor="ctr">
                    <a:solidFill>
                      <a:srgbClr val="FFFFFF"/>
                    </a:solidFill>
                  </a:tcPr>
                </a:tc>
                <a:tc>
                  <a:txBody>
                    <a:bodyPr wrap="square"/>
                    <a:lstStyle/>
                    <a:p>
                      <a:r>
                        <a:rPr sz="1050" b="0">
                          <a:solidFill>
                            <a:srgbClr val="2B2622"/>
                          </a:solidFill>
                          <a:latin typeface="Courier New"/>
                        </a:rPr>
                        <a:t>a60869f0dbcf</a:t>
                      </a:r>
                    </a:p>
                  </a:txBody>
                  <a:tcPr marL="64008" marR="64008" marT="18288" marB="18288" anchor="ctr">
                    <a:solidFill>
                      <a:srgbClr val="FFFFFF"/>
                    </a:solidFill>
                  </a:tcPr>
                </a:tc>
              </a:tr>
              <a:tr h="310896">
                <a:tc>
                  <a:txBody>
                    <a:bodyPr wrap="square"/>
                    <a:lstStyle/>
                    <a:p>
                      <a:r>
                        <a:rPr sz="1200" b="0">
                          <a:solidFill>
                            <a:srgbClr val="2B2622"/>
                          </a:solidFill>
                          <a:latin typeface="Calibri"/>
                        </a:rPr>
                        <a:t>Taproot address</a:t>
                      </a:r>
                    </a:p>
                  </a:txBody>
                  <a:tcPr marL="64008" marR="64008" marT="18288" marB="18288" anchor="ctr">
                    <a:solidFill>
                      <a:srgbClr val="F2ECE1"/>
                    </a:solidFill>
                  </a:tcPr>
                </a:tc>
                <a:tc>
                  <a:txBody>
                    <a:bodyPr wrap="square"/>
                    <a:lstStyle/>
                    <a:p>
                      <a:r>
                        <a:rPr sz="1050" b="0">
                          <a:solidFill>
                            <a:srgbClr val="2B2622"/>
                          </a:solidFill>
                          <a:latin typeface="Courier New"/>
                        </a:rPr>
                        <a:t>bc1p5cyxnuxmeuwuvkwfem96lqzszd02n6xdcjrs20cac6yqjjwudpxqkedrcr</a:t>
                      </a:r>
                    </a:p>
                  </a:txBody>
                  <a:tcPr marL="64008" marR="64008" marT="18288" marB="18288" anchor="ctr">
                    <a:solidFill>
                      <a:srgbClr val="F2ECE1"/>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Add a number to a key and you get a related key.</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47 / 68</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Implicit and explicit paths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Which paths need writing down?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sp>
        <p:nvSpPr>
          <p:cNvPr id="6" name="card"/>
          <p:cNvSpPr/>
          <p:nvPr/>
        </p:nvSpPr>
        <p:spPr>
          <a:xfrm>
            <a:off x="457200" y="1188720"/>
            <a:ext cx="4059936" cy="1051560"/>
          </a:xfrm>
          <a:prstGeom prst="roundRect">
            <a:avLst>
              <a:gd name="adj" fmla="val 6956"/>
            </a:avLst>
          </a:prstGeom>
          <a:solidFill>
            <a:srgbClr val="F2ECE1"/>
          </a:solidFill>
          <a:ln>
            <a:solidFill>
              <a:srgbClr val="F2ECE1"/>
            </a:solidFill>
          </a:ln>
        </p:spPr>
        <p:txBody>
          <a:bodyPr rtlCol="0" anchor="ctr"/>
          <a:lstStyle/>
          <a:p>
            <a:pPr algn="ctr"/>
          </a:p>
        </p:txBody>
      </p:sp>
      <p:sp>
        <p:nvSpPr>
          <p:cNvPr id="7" name="card heading"/>
          <p:cNvSpPr txBox="1"/>
          <p:nvPr/>
        </p:nvSpPr>
        <p:spPr>
          <a:xfrm>
            <a:off x="548640" y="1234440"/>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Implicit path</a:t>
            </a:r>
          </a:p>
        </p:txBody>
      </p:sp>
      <p:sp>
        <p:nvSpPr>
          <p:cNvPr id="8" name="card text"/>
          <p:cNvSpPr txBox="1"/>
          <p:nvPr/>
        </p:nvSpPr>
        <p:spPr>
          <a:xfrm>
            <a:off x="548640" y="1517904"/>
            <a:ext cx="3877056" cy="685799"/>
          </a:xfrm>
          <a:prstGeom prst="rect">
            <a:avLst/>
          </a:prstGeom>
          <a:noFill/>
        </p:spPr>
        <p:txBody>
          <a:bodyPr wrap="square" anchor="t" lIns="45720" rIns="45720" tIns="36576" bIns="36576">
            <a:spAutoFit/>
          </a:bodyPr>
          <a:lstStyle/>
          <a:p>
            <a:pPr algn="l"/>
            <a:r>
              <a:rPr sz="1250" b="0" i="0">
                <a:solidFill>
                  <a:srgbClr val="2B2622"/>
                </a:solidFill>
                <a:latin typeface="Calibri"/>
              </a:rPr>
              <a:t>Fixed by a standard such as BIP44, so the wallet does not record it.</a:t>
            </a:r>
          </a:p>
        </p:txBody>
      </p:sp>
      <p:sp>
        <p:nvSpPr>
          <p:cNvPr id="9" name="card"/>
          <p:cNvSpPr/>
          <p:nvPr/>
        </p:nvSpPr>
        <p:spPr>
          <a:xfrm>
            <a:off x="4626864" y="1188720"/>
            <a:ext cx="4059936" cy="1051560"/>
          </a:xfrm>
          <a:prstGeom prst="roundRect">
            <a:avLst>
              <a:gd name="adj" fmla="val 6956"/>
            </a:avLst>
          </a:prstGeom>
          <a:solidFill>
            <a:srgbClr val="F2ECE1"/>
          </a:solidFill>
          <a:ln>
            <a:solidFill>
              <a:srgbClr val="F2ECE1"/>
            </a:solidFill>
          </a:ln>
        </p:spPr>
        <p:txBody>
          <a:bodyPr rtlCol="0" anchor="ctr"/>
          <a:lstStyle/>
          <a:p>
            <a:pPr algn="ctr"/>
          </a:p>
        </p:txBody>
      </p:sp>
      <p:sp>
        <p:nvSpPr>
          <p:cNvPr id="10" name="card heading"/>
          <p:cNvSpPr txBox="1"/>
          <p:nvPr/>
        </p:nvSpPr>
        <p:spPr>
          <a:xfrm>
            <a:off x="4718304" y="1234440"/>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Explicit path</a:t>
            </a:r>
          </a:p>
        </p:txBody>
      </p:sp>
      <p:sp>
        <p:nvSpPr>
          <p:cNvPr id="11" name="card text"/>
          <p:cNvSpPr txBox="1"/>
          <p:nvPr/>
        </p:nvSpPr>
        <p:spPr>
          <a:xfrm>
            <a:off x="4718304" y="1517904"/>
            <a:ext cx="3877056" cy="685799"/>
          </a:xfrm>
          <a:prstGeom prst="rect">
            <a:avLst/>
          </a:prstGeom>
          <a:noFill/>
        </p:spPr>
        <p:txBody>
          <a:bodyPr wrap="square" anchor="t" lIns="45720" rIns="45720" tIns="36576" bIns="36576">
            <a:spAutoFit/>
          </a:bodyPr>
          <a:lstStyle/>
          <a:p>
            <a:pPr algn="l"/>
            <a:r>
              <a:rPr sz="1250" b="0" i="0">
                <a:solidFill>
                  <a:srgbClr val="2B2622"/>
                </a:solidFill>
                <a:latin typeface="Calibri"/>
              </a:rPr>
              <a:t>Written down with the recovery code, usually in descriptor notation.</a:t>
            </a:r>
          </a:p>
        </p:txBody>
      </p:sp>
      <p:graphicFrame>
        <p:nvGraphicFramePr>
          <p:cNvPr id="12" name="path table"/>
          <p:cNvGraphicFramePr>
            <a:graphicFrameLocks noGrp="1"/>
          </p:cNvGraphicFramePr>
          <p:nvPr/>
        </p:nvGraphicFramePr>
        <p:xfrm>
          <a:off x="457200" y="2377440"/>
          <a:ext cx="8229600" cy="1645920"/>
        </p:xfrm>
        <a:graphic>
          <a:graphicData uri="http://schemas.openxmlformats.org/drawingml/2006/table">
            <a:tbl>
              <a:tblPr firstRow="1" bandRow="1">
                <a:tableStyleId>{5C22544A-7EE6-4342-B048-85BDC9FD1C3A}</a:tableStyleId>
              </a:tblPr>
              <a:tblGrid>
                <a:gridCol w="1097280"/>
                <a:gridCol w="1371600"/>
                <a:gridCol w="2103120"/>
                <a:gridCol w="3657600"/>
              </a:tblGrid>
              <a:tr h="329184">
                <a:tc>
                  <a:txBody>
                    <a:bodyPr wrap="square"/>
                    <a:lstStyle/>
                    <a:p>
                      <a:r>
                        <a:rPr sz="1200" b="1">
                          <a:solidFill>
                            <a:srgbClr val="FFFFFF"/>
                          </a:solidFill>
                          <a:latin typeface="Calibri"/>
                        </a:rPr>
                        <a:t>Purpose</a:t>
                      </a:r>
                    </a:p>
                  </a:txBody>
                  <a:tcPr marL="64008" marR="64008" marT="18288" marB="18288" anchor="ctr">
                    <a:solidFill>
                      <a:srgbClr val="2B2622"/>
                    </a:solidFill>
                  </a:tcPr>
                </a:tc>
                <a:tc>
                  <a:txBody>
                    <a:bodyPr wrap="square"/>
                    <a:lstStyle/>
                    <a:p>
                      <a:r>
                        <a:rPr sz="1200" b="1">
                          <a:solidFill>
                            <a:srgbClr val="FFFFFF"/>
                          </a:solidFill>
                          <a:latin typeface="Calibri"/>
                        </a:rPr>
                        <a:t>Standard</a:t>
                      </a:r>
                    </a:p>
                  </a:txBody>
                  <a:tcPr marL="64008" marR="64008" marT="18288" marB="18288" anchor="ctr">
                    <a:solidFill>
                      <a:srgbClr val="2B2622"/>
                    </a:solidFill>
                  </a:tcPr>
                </a:tc>
                <a:tc>
                  <a:txBody>
                    <a:bodyPr wrap="square"/>
                    <a:lstStyle/>
                    <a:p>
                      <a:r>
                        <a:rPr sz="1200" b="1">
                          <a:solidFill>
                            <a:srgbClr val="FFFFFF"/>
                          </a:solidFill>
                          <a:latin typeface="Calibri"/>
                        </a:rPr>
                        <a:t>Path in the book</a:t>
                      </a:r>
                    </a:p>
                  </a:txBody>
                  <a:tcPr marL="64008" marR="64008" marT="18288" marB="18288" anchor="ctr">
                    <a:solidFill>
                      <a:srgbClr val="2B2622"/>
                    </a:solidFill>
                  </a:tcPr>
                </a:tc>
                <a:tc>
                  <a:txBody>
                    <a:bodyPr wrap="square"/>
                    <a:lstStyle/>
                    <a:p>
                      <a:r>
                        <a:rPr sz="1200" b="1">
                          <a:solidFill>
                            <a:srgbClr val="FFFFFF"/>
                          </a:solidFill>
                          <a:latin typeface="Calibri"/>
                        </a:rPr>
                        <a:t>Note</a:t>
                      </a:r>
                    </a:p>
                  </a:txBody>
                  <a:tcPr marL="64008" marR="64008" marT="18288" marB="18288" anchor="ctr">
                    <a:solidFill>
                      <a:srgbClr val="2B2622"/>
                    </a:solidFill>
                  </a:tcPr>
                </a:tc>
              </a:tr>
              <a:tr h="329184">
                <a:tc>
                  <a:txBody>
                    <a:bodyPr wrap="square"/>
                    <a:lstStyle/>
                    <a:p>
                      <a:r>
                        <a:rPr sz="1200" b="0">
                          <a:solidFill>
                            <a:srgbClr val="2B2622"/>
                          </a:solidFill>
                          <a:latin typeface="Calibri"/>
                        </a:rPr>
                        <a:t>44</a:t>
                      </a:r>
                    </a:p>
                  </a:txBody>
                  <a:tcPr marL="64008" marR="64008" marT="18288" marB="18288" anchor="ctr">
                    <a:solidFill>
                      <a:srgbClr val="F2ECE1"/>
                    </a:solidFill>
                  </a:tcPr>
                </a:tc>
                <a:tc>
                  <a:txBody>
                    <a:bodyPr wrap="square"/>
                    <a:lstStyle/>
                    <a:p>
                      <a:r>
                        <a:rPr sz="1200" b="0">
                          <a:solidFill>
                            <a:srgbClr val="2B2622"/>
                          </a:solidFill>
                          <a:latin typeface="Calibri"/>
                        </a:rPr>
                        <a:t>BIP44</a:t>
                      </a:r>
                    </a:p>
                  </a:txBody>
                  <a:tcPr marL="64008" marR="64008" marT="18288" marB="18288" anchor="ctr">
                    <a:solidFill>
                      <a:srgbClr val="F2ECE1"/>
                    </a:solidFill>
                  </a:tcPr>
                </a:tc>
                <a:tc>
                  <a:txBody>
                    <a:bodyPr wrap="square"/>
                    <a:lstStyle/>
                    <a:p>
                      <a:r>
                        <a:rPr sz="1200" b="0">
                          <a:solidFill>
                            <a:srgbClr val="2B2622"/>
                          </a:solidFill>
                          <a:latin typeface="Calibri"/>
                        </a:rPr>
                        <a:t>m/44'/0'/0'</a:t>
                      </a:r>
                    </a:p>
                  </a:txBody>
                  <a:tcPr marL="64008" marR="64008" marT="18288" marB="18288" anchor="ctr">
                    <a:solidFill>
                      <a:srgbClr val="F2ECE1"/>
                    </a:solidFill>
                  </a:tcPr>
                </a:tc>
                <a:tc>
                  <a:txBody>
                    <a:bodyPr wrap="square"/>
                    <a:lstStyle/>
                    <a:p>
                      <a:r>
                        <a:rPr sz="1200" b="0">
                          <a:solidFill>
                            <a:srgbClr val="2B2622"/>
                          </a:solidFill>
                          <a:latin typeface="Calibri"/>
                        </a:rPr>
                        <a:t>legacy scripts</a:t>
                      </a:r>
                    </a:p>
                  </a:txBody>
                  <a:tcPr marL="64008" marR="64008" marT="18288" marB="18288" anchor="ctr">
                    <a:solidFill>
                      <a:srgbClr val="F2ECE1"/>
                    </a:solidFill>
                  </a:tcPr>
                </a:tc>
              </a:tr>
              <a:tr h="329184">
                <a:tc>
                  <a:txBody>
                    <a:bodyPr wrap="square"/>
                    <a:lstStyle/>
                    <a:p>
                      <a:r>
                        <a:rPr sz="1200" b="0">
                          <a:solidFill>
                            <a:srgbClr val="2B2622"/>
                          </a:solidFill>
                          <a:latin typeface="Calibri"/>
                        </a:rPr>
                        <a:t>49</a:t>
                      </a:r>
                    </a:p>
                  </a:txBody>
                  <a:tcPr marL="64008" marR="64008" marT="18288" marB="18288" anchor="ctr">
                    <a:solidFill>
                      <a:srgbClr val="FFFFFF"/>
                    </a:solidFill>
                  </a:tcPr>
                </a:tc>
                <a:tc>
                  <a:txBody>
                    <a:bodyPr wrap="square"/>
                    <a:lstStyle/>
                    <a:p>
                      <a:r>
                        <a:rPr sz="1200" b="0">
                          <a:solidFill>
                            <a:srgbClr val="2B2622"/>
                          </a:solidFill>
                          <a:latin typeface="Calibri"/>
                        </a:rPr>
                        <a:t>BIP49</a:t>
                      </a:r>
                    </a:p>
                  </a:txBody>
                  <a:tcPr marL="64008" marR="64008" marT="18288" marB="18288" anchor="ctr">
                    <a:solidFill>
                      <a:srgbClr val="FFFFFF"/>
                    </a:solidFill>
                  </a:tcPr>
                </a:tc>
                <a:tc>
                  <a:txBody>
                    <a:bodyPr wrap="square"/>
                    <a:lstStyle/>
                    <a:p>
                      <a:r>
                        <a:rPr sz="1200" b="0">
                          <a:solidFill>
                            <a:srgbClr val="2B2622"/>
                          </a:solidFill>
                          <a:latin typeface="Calibri"/>
                        </a:rPr>
                        <a:t>m/49'/1'/0'</a:t>
                      </a:r>
                    </a:p>
                  </a:txBody>
                  <a:tcPr marL="64008" marR="64008" marT="18288" marB="18288" anchor="ctr">
                    <a:solidFill>
                      <a:srgbClr val="FFFFFF"/>
                    </a:solidFill>
                  </a:tcPr>
                </a:tc>
                <a:tc>
                  <a:txBody>
                    <a:bodyPr wrap="square"/>
                    <a:lstStyle/>
                    <a:p>
                      <a:r>
                        <a:rPr sz="1200" b="0">
                          <a:solidFill>
                            <a:srgbClr val="2B2622"/>
                          </a:solidFill>
                          <a:latin typeface="Calibri"/>
                        </a:rPr>
                        <a:t>coin type 1 is testnet in SLIP-0044</a:t>
                      </a:r>
                    </a:p>
                  </a:txBody>
                  <a:tcPr marL="64008" marR="64008" marT="18288" marB="18288" anchor="ctr">
                    <a:solidFill>
                      <a:srgbClr val="FFFFFF"/>
                    </a:solidFill>
                  </a:tcPr>
                </a:tc>
              </a:tr>
              <a:tr h="329184">
                <a:tc>
                  <a:txBody>
                    <a:bodyPr wrap="square"/>
                    <a:lstStyle/>
                    <a:p>
                      <a:r>
                        <a:rPr sz="1200" b="0">
                          <a:solidFill>
                            <a:srgbClr val="2B2622"/>
                          </a:solidFill>
                          <a:latin typeface="Calibri"/>
                        </a:rPr>
                        <a:t>84</a:t>
                      </a:r>
                    </a:p>
                  </a:txBody>
                  <a:tcPr marL="64008" marR="64008" marT="18288" marB="18288" anchor="ctr">
                    <a:solidFill>
                      <a:srgbClr val="F2ECE1"/>
                    </a:solidFill>
                  </a:tcPr>
                </a:tc>
                <a:tc>
                  <a:txBody>
                    <a:bodyPr wrap="square"/>
                    <a:lstStyle/>
                    <a:p>
                      <a:r>
                        <a:rPr sz="1200" b="0">
                          <a:solidFill>
                            <a:srgbClr val="2B2622"/>
                          </a:solidFill>
                          <a:latin typeface="Calibri"/>
                        </a:rPr>
                        <a:t>BIP84</a:t>
                      </a:r>
                    </a:p>
                  </a:txBody>
                  <a:tcPr marL="64008" marR="64008" marT="18288" marB="18288" anchor="ctr">
                    <a:solidFill>
                      <a:srgbClr val="F2ECE1"/>
                    </a:solidFill>
                  </a:tcPr>
                </a:tc>
                <a:tc>
                  <a:txBody>
                    <a:bodyPr wrap="square"/>
                    <a:lstStyle/>
                    <a:p>
                      <a:r>
                        <a:rPr sz="1200" b="0">
                          <a:solidFill>
                            <a:srgbClr val="2B2622"/>
                          </a:solidFill>
                          <a:latin typeface="Calibri"/>
                        </a:rPr>
                        <a:t>m/84'/0'/0'</a:t>
                      </a:r>
                    </a:p>
                  </a:txBody>
                  <a:tcPr marL="64008" marR="64008" marT="18288" marB="18288" anchor="ctr">
                    <a:solidFill>
                      <a:srgbClr val="F2ECE1"/>
                    </a:solidFill>
                  </a:tcPr>
                </a:tc>
                <a:tc>
                  <a:txBody>
                    <a:bodyPr wrap="square"/>
                    <a:lstStyle/>
                    <a:p>
                      <a:r>
                        <a:rPr sz="1200" b="0">
                          <a:solidFill>
                            <a:srgbClr val="2B2622"/>
                          </a:solidFill>
                          <a:latin typeface="Calibri"/>
                        </a:rPr>
                        <a:t>native segwit</a:t>
                      </a:r>
                    </a:p>
                  </a:txBody>
                  <a:tcPr marL="64008" marR="64008" marT="18288" marB="18288" anchor="ctr">
                    <a:solidFill>
                      <a:srgbClr val="F2ECE1"/>
                    </a:solidFill>
                  </a:tcPr>
                </a:tc>
              </a:tr>
              <a:tr h="329184">
                <a:tc>
                  <a:txBody>
                    <a:bodyPr wrap="square"/>
                    <a:lstStyle/>
                    <a:p>
                      <a:r>
                        <a:rPr sz="1200" b="0">
                          <a:solidFill>
                            <a:srgbClr val="2B2622"/>
                          </a:solidFill>
                          <a:latin typeface="Calibri"/>
                        </a:rPr>
                        <a:t>86</a:t>
                      </a:r>
                    </a:p>
                  </a:txBody>
                  <a:tcPr marL="64008" marR="64008" marT="18288" marB="18288" anchor="ctr">
                    <a:solidFill>
                      <a:srgbClr val="FFFFFF"/>
                    </a:solidFill>
                  </a:tcPr>
                </a:tc>
                <a:tc>
                  <a:txBody>
                    <a:bodyPr wrap="square"/>
                    <a:lstStyle/>
                    <a:p>
                      <a:r>
                        <a:rPr sz="1200" b="0">
                          <a:solidFill>
                            <a:srgbClr val="2B2622"/>
                          </a:solidFill>
                          <a:latin typeface="Calibri"/>
                        </a:rPr>
                        <a:t>BIP86</a:t>
                      </a:r>
                    </a:p>
                  </a:txBody>
                  <a:tcPr marL="64008" marR="64008" marT="18288" marB="18288" anchor="ctr">
                    <a:solidFill>
                      <a:srgbClr val="FFFFFF"/>
                    </a:solidFill>
                  </a:tcPr>
                </a:tc>
                <a:tc>
                  <a:txBody>
                    <a:bodyPr wrap="square"/>
                    <a:lstStyle/>
                    <a:p>
                      <a:r>
                        <a:rPr sz="1200" b="0">
                          <a:solidFill>
                            <a:srgbClr val="2B2622"/>
                          </a:solidFill>
                          <a:latin typeface="Calibri"/>
                        </a:rPr>
                        <a:t>m/86'/0'/0'</a:t>
                      </a:r>
                    </a:p>
                  </a:txBody>
                  <a:tcPr marL="64008" marR="64008" marT="18288" marB="18288" anchor="ctr">
                    <a:solidFill>
                      <a:srgbClr val="FFFFFF"/>
                    </a:solidFill>
                  </a:tcPr>
                </a:tc>
                <a:tc>
                  <a:txBody>
                    <a:bodyPr wrap="square"/>
                    <a:lstStyle/>
                    <a:p>
                      <a:r>
                        <a:rPr sz="1200" b="0">
                          <a:solidFill>
                            <a:srgbClr val="2B2622"/>
                          </a:solidFill>
                          <a:latin typeface="Calibri"/>
                        </a:rPr>
                        <a:t>single-key taproot</a:t>
                      </a:r>
                    </a:p>
                  </a:txBody>
                  <a:tcPr marL="64008" marR="64008" marT="18288" marB="18288" anchor="ctr">
                    <a:solidFill>
                      <a:srgbClr val="FFFFFF"/>
                    </a:solidFill>
                  </a:tcPr>
                </a:tc>
              </a:tr>
            </a:tbl>
          </a:graphicData>
        </a:graphic>
      </p:graphicFrame>
      <p:sp>
        <p:nvSpPr>
          <p:cNvPr id="13"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Know which paths are implicit and write down the rest.</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48 / 68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22: A descriptor with its checksum and origin</a:t>
            </a:r>
          </a:p>
        </p:txBody>
      </p:sp>
      <p:sp>
        <p:nvSpPr>
          <p:cNvPr id="6" name="code"/>
          <p:cNvSpPr/>
          <p:nvPr/>
        </p:nvSpPr>
        <p:spPr>
          <a:xfrm>
            <a:off x="365760" y="1097280"/>
            <a:ext cx="4727448" cy="453390"/>
          </a:xfrm>
          <a:prstGeom prst="roundRect">
            <a:avLst>
              <a:gd name="adj" fmla="val 16134"/>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descsum_create</a:t>
            </a:r>
            <a:r>
              <a:rPr sz="950" b="0" i="0">
                <a:solidFill>
                  <a:srgbClr val="E6EDF3"/>
                </a:solidFill>
                <a:latin typeface="Courier New"/>
              </a:rPr>
              <a:t>(</a:t>
            </a:r>
            <a:r>
              <a:rPr sz="950" b="0" i="0">
                <a:solidFill>
                  <a:srgbClr val="E6EDF3"/>
                </a:solidFill>
                <a:latin typeface="Courier New"/>
              </a:rPr>
              <a:t>DESC</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8</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p:txBody>
      </p:sp>
      <p:sp>
        <p:nvSpPr>
          <p:cNvPr id="8" name="code"/>
          <p:cNvSpPr/>
          <p:nvPr/>
        </p:nvSpPr>
        <p:spPr>
          <a:xfrm>
            <a:off x="365760" y="1605534"/>
            <a:ext cx="4727448" cy="453390"/>
          </a:xfrm>
          <a:prstGeom prst="roundRect">
            <a:avLst>
              <a:gd name="adj" fmla="val 16134"/>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fp</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steps</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parse_origin</a:t>
            </a:r>
            <a:r>
              <a:rPr sz="950" b="0" i="0">
                <a:solidFill>
                  <a:srgbClr val="E6EDF3"/>
                </a:solidFill>
                <a:latin typeface="Courier New"/>
              </a:rPr>
              <a:t>(</a:t>
            </a:r>
            <a:r>
              <a:rPr sz="950" b="0" i="0">
                <a:solidFill>
                  <a:srgbClr val="E6EDF3"/>
                </a:solidFill>
                <a:latin typeface="Courier New"/>
              </a:rPr>
              <a:t>DESC</a:t>
            </a:r>
            <a:r>
              <a:rPr sz="950" b="0" i="0">
                <a:solidFill>
                  <a:srgbClr val="E6EDF3"/>
                </a:solidFill>
                <a:latin typeface="Courier New"/>
              </a:rPr>
              <a:t>)</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fp</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s</a:t>
            </a:r>
            <a:r>
              <a:rPr sz="950" b="0" i="0">
                <a:solidFill>
                  <a:srgbClr val="E6EDF3"/>
                </a:solidFill>
                <a:latin typeface="Courier New"/>
              </a:rPr>
              <a:t> </a:t>
            </a:r>
            <a:r>
              <a:rPr sz="950" b="0" i="0">
                <a:solidFill>
                  <a:srgbClr val="E6EDF3"/>
                </a:solidFill>
                <a:latin typeface="Courier New"/>
              </a:rPr>
              <a:t>&gt;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HARD</a:t>
            </a:r>
            <a:r>
              <a:rPr sz="950" b="0" i="0">
                <a:solidFill>
                  <a:srgbClr val="E6EDF3"/>
                </a:solidFill>
                <a:latin typeface="Courier New"/>
              </a:rPr>
              <a:t> </a:t>
            </a:r>
            <a:r>
              <a:rPr sz="950" b="0" i="0">
                <a:solidFill>
                  <a:srgbClr val="FFA657"/>
                </a:solidFill>
                <a:latin typeface="Courier New"/>
              </a:rPr>
              <a:t>for</a:t>
            </a:r>
            <a:r>
              <a:rPr sz="950" b="0" i="0">
                <a:solidFill>
                  <a:srgbClr val="E6EDF3"/>
                </a:solidFill>
                <a:latin typeface="Courier New"/>
              </a:rPr>
              <a:t> </a:t>
            </a:r>
            <a:r>
              <a:rPr sz="950" b="0" i="0">
                <a:solidFill>
                  <a:srgbClr val="E6EDF3"/>
                </a:solidFill>
                <a:latin typeface="Courier New"/>
              </a:rPr>
              <a:t>s</a:t>
            </a:r>
            <a:r>
              <a:rPr sz="950" b="0" i="0">
                <a:solidFill>
                  <a:srgbClr val="E6EDF3"/>
                </a:solidFill>
                <a:latin typeface="Courier New"/>
              </a:rPr>
              <a:t> </a:t>
            </a:r>
            <a:r>
              <a:rPr sz="950" b="0" i="0">
                <a:solidFill>
                  <a:srgbClr val="FFA657"/>
                </a:solidFill>
                <a:latin typeface="Courier New"/>
              </a:rPr>
              <a:t>in</a:t>
            </a:r>
            <a:r>
              <a:rPr sz="950" b="0" i="0">
                <a:solidFill>
                  <a:srgbClr val="E6EDF3"/>
                </a:solidFill>
                <a:latin typeface="Courier New"/>
              </a:rPr>
              <a:t> </a:t>
            </a:r>
            <a:r>
              <a:rPr sz="950" b="0" i="0">
                <a:solidFill>
                  <a:srgbClr val="E6EDF3"/>
                </a:solidFill>
                <a:latin typeface="Courier New"/>
              </a:rPr>
              <a:t>steps</a:t>
            </a:r>
            <a:r>
              <a:rPr sz="950" b="0" i="0">
                <a:solidFill>
                  <a:srgbClr val="E6EDF3"/>
                </a:solidFill>
                <a:latin typeface="Courier New"/>
              </a:rPr>
              <a:t>]</a:t>
            </a:r>
            <a:r>
              <a:rPr sz="950" b="0" i="0">
                <a:solidFill>
                  <a:srgbClr val="E6EDF3"/>
                </a:solidFill>
                <a:latin typeface="Courier New"/>
              </a:rPr>
              <a:t>)</a:t>
            </a:r>
          </a:p>
        </p:txBody>
      </p:sp>
      <p:sp>
        <p:nvSpPr>
          <p:cNvPr id="10" name="code"/>
          <p:cNvSpPr/>
          <p:nvPr/>
        </p:nvSpPr>
        <p:spPr>
          <a:xfrm>
            <a:off x="365760" y="2113788"/>
            <a:ext cx="4727448" cy="735076"/>
          </a:xfrm>
          <a:prstGeom prst="roundRect">
            <a:avLst>
              <a:gd name="adj" fmla="val 995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multi</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7EE787"/>
                </a:solidFill>
                <a:latin typeface="Courier New"/>
              </a:rPr>
              <a:t>"wsh(multi(2,A,B,C))"</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descsum_create</a:t>
            </a:r>
            <a:r>
              <a:rPr sz="950" b="0" i="0">
                <a:solidFill>
                  <a:srgbClr val="E6EDF3"/>
                </a:solidFill>
                <a:latin typeface="Courier New"/>
              </a:rPr>
              <a:t>(</a:t>
            </a:r>
            <a:r>
              <a:rPr sz="950" b="0" i="0">
                <a:solidFill>
                  <a:srgbClr val="E6EDF3"/>
                </a:solidFill>
                <a:latin typeface="Courier New"/>
              </a:rPr>
              <a:t>multi</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__import__</a:t>
            </a:r>
            <a:r>
              <a:rPr sz="950" b="0" i="0">
                <a:solidFill>
                  <a:srgbClr val="E6EDF3"/>
                </a:solidFill>
                <a:latin typeface="Courier New"/>
              </a:rPr>
              <a:t>(</a:t>
            </a:r>
            <a:r>
              <a:rPr sz="950" b="0" i="0">
                <a:solidFill>
                  <a:srgbClr val="7EE787"/>
                </a:solidFill>
                <a:latin typeface="Courier New"/>
              </a:rPr>
              <a:t>"sys"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version_info</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2</a:t>
            </a:r>
            <a:r>
              <a:rPr sz="950" b="0" i="0">
                <a:solidFill>
                  <a:srgbClr val="E6EDF3"/>
                </a:solidFill>
                <a:latin typeface="Courier New"/>
              </a:rPr>
              <a:t>]</a:t>
            </a:r>
          </a:p>
          <a:p>
            <a:pPr algn="l"/>
            <a:r>
              <a:rPr sz="9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Output script descriptors, checksum and key origin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sp>
        <p:nvSpPr>
          <p:cNvPr id="7" name="explanation"/>
          <p:cNvSpPr/>
          <p:nvPr/>
        </p:nvSpPr>
        <p:spPr>
          <a:xfrm>
            <a:off x="5074920" y="1097280"/>
            <a:ext cx="3657600" cy="453390"/>
          </a:xfrm>
          <a:prstGeom prst="roundRect">
            <a:avLst>
              <a:gd name="adj" fmla="val 16134"/>
            </a:avLst>
          </a:prstGeom>
          <a:solidFill>
            <a:srgbClr val="F2ECE1"/>
          </a:solidFill>
          <a:ln>
            <a:solidFill>
              <a:srgbClr val="F2ECE1"/>
            </a:solidFill>
          </a:ln>
        </p:spPr>
        <p:txBody>
          <a:bodyPr rtlCol="0" anchor="ctr" wrap="square" lIns="73152" rIns="73152" tIns="36576" bIns="36576"/>
          <a:lstStyle/>
          <a:p>
            <a:pPr algn="l"/>
            <a:r>
              <a:rPr sz="1050" b="0" i="0">
                <a:solidFill>
                  <a:srgbClr val="2B2622"/>
                </a:solidFill>
                <a:latin typeface="Calibri"/>
              </a:rPr>
              <a:t>The eight-character checksum that BIP380 appends after the hash sign.</a:t>
            </a:r>
          </a:p>
        </p:txBody>
      </p:sp>
      <p:sp>
        <p:nvSpPr>
          <p:cNvPr id="9" name="explanation"/>
          <p:cNvSpPr/>
          <p:nvPr/>
        </p:nvSpPr>
        <p:spPr>
          <a:xfrm>
            <a:off x="5074920" y="1605534"/>
            <a:ext cx="3657600" cy="453390"/>
          </a:xfrm>
          <a:prstGeom prst="roundRect">
            <a:avLst>
              <a:gd name="adj" fmla="val 16134"/>
            </a:avLst>
          </a:prstGeom>
          <a:solidFill>
            <a:srgbClr val="F2ECE1"/>
          </a:solidFill>
          <a:ln>
            <a:solidFill>
              <a:srgbClr val="F2ECE1"/>
            </a:solidFill>
          </a:ln>
        </p:spPr>
        <p:txBody>
          <a:bodyPr rtlCol="0" anchor="ctr" wrap="square" lIns="73152" rIns="73152" tIns="36576" bIns="36576"/>
          <a:lstStyle/>
          <a:p>
            <a:pPr algn="l"/>
            <a:r>
              <a:rPr sz="1050" b="0" i="0">
                <a:solidFill>
                  <a:srgbClr val="2B2622"/>
                </a:solidFill>
                <a:latin typeface="Calibri"/>
              </a:rPr>
              <a:t>The bracket at the start names the parent fingerprint and the hardened path.</a:t>
            </a:r>
          </a:p>
        </p:txBody>
      </p:sp>
      <p:sp>
        <p:nvSpPr>
          <p:cNvPr id="11" name="explanation"/>
          <p:cNvSpPr/>
          <p:nvPr/>
        </p:nvSpPr>
        <p:spPr>
          <a:xfrm>
            <a:off x="5074920" y="2113788"/>
            <a:ext cx="3657600" cy="735076"/>
          </a:xfrm>
          <a:prstGeom prst="roundRect">
            <a:avLst>
              <a:gd name="adj" fmla="val 9951"/>
            </a:avLst>
          </a:prstGeom>
          <a:solidFill>
            <a:srgbClr val="F2ECE1"/>
          </a:solidFill>
          <a:ln>
            <a:solidFill>
              <a:srgbClr val="F2ECE1"/>
            </a:solidFill>
          </a:ln>
        </p:spPr>
        <p:txBody>
          <a:bodyPr rtlCol="0" anchor="ctr" wrap="square" lIns="73152" rIns="73152" tIns="36576" bIns="36576"/>
          <a:lstStyle/>
          <a:p>
            <a:pPr algn="l"/>
            <a:r>
              <a:rPr sz="1050" b="0" i="0">
                <a:solidFill>
                  <a:srgbClr val="2B2622"/>
                </a:solidFill>
                <a:latin typeface="Calibri"/>
              </a:rPr>
              <a:t>A two-of-three multisignature descriptor gets its own checksum.</a:t>
            </a:r>
          </a:p>
        </p:txBody>
      </p:sp>
      <p:sp>
        <p:nvSpPr>
          <p:cNvPr id="12" name="result label"/>
          <p:cNvSpPr txBox="1"/>
          <p:nvPr/>
        </p:nvSpPr>
        <p:spPr>
          <a:xfrm>
            <a:off x="365760" y="2940304"/>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187192"/>
          <a:ext cx="8412480" cy="1238504"/>
        </p:xfrm>
        <a:graphic>
          <a:graphicData uri="http://schemas.openxmlformats.org/drawingml/2006/table">
            <a:tbl>
              <a:tblPr firstRow="1" bandRow="1">
                <a:tableStyleId>{5C22544A-7EE6-4342-B048-85BDC9FD1C3A}</a:tableStyleId>
              </a:tblPr>
              <a:tblGrid>
                <a:gridCol w="4023360"/>
                <a:gridCol w="4389120"/>
              </a:tblGrid>
              <a:tr h="309626">
                <a:tc>
                  <a:txBody>
                    <a:bodyPr wrap="square"/>
                    <a:lstStyle/>
                    <a:p>
                      <a:r>
                        <a:rPr sz="1200" b="1">
                          <a:solidFill>
                            <a:srgbClr val="FFFFFF"/>
                          </a:solidFill>
                          <a:latin typeface="Calibri"/>
                        </a:rPr>
                        <a:t>Part</a:t>
                      </a:r>
                    </a:p>
                  </a:txBody>
                  <a:tcPr marL="64008" marR="64008" marT="18288" marB="18288" anchor="ctr">
                    <a:solidFill>
                      <a:srgbClr val="2B2622"/>
                    </a:solidFill>
                  </a:tcPr>
                </a:tc>
                <a:tc>
                  <a:txBody>
                    <a:bodyPr wrap="square"/>
                    <a:lstStyle/>
                    <a:p>
                      <a:r>
                        <a:rPr sz="1200" b="1">
                          <a:solidFill>
                            <a:srgbClr val="FFFFFF"/>
                          </a:solidFill>
                          <a:latin typeface="Calibri"/>
                        </a:rPr>
                        <a:t>What the run printed</a:t>
                      </a:r>
                    </a:p>
                  </a:txBody>
                  <a:tcPr marL="64008" marR="64008" marT="18288" marB="18288" anchor="ctr">
                    <a:solidFill>
                      <a:srgbClr val="2B2622"/>
                    </a:solidFill>
                  </a:tcPr>
                </a:tc>
              </a:tr>
              <a:tr h="309626">
                <a:tc>
                  <a:txBody>
                    <a:bodyPr wrap="square"/>
                    <a:lstStyle/>
                    <a:p>
                      <a:r>
                        <a:rPr sz="1200" b="0">
                          <a:solidFill>
                            <a:srgbClr val="2B2622"/>
                          </a:solidFill>
                          <a:latin typeface="Calibri"/>
                        </a:rPr>
                        <a:t>Checksum of the wpkh descriptor</a:t>
                      </a:r>
                    </a:p>
                  </a:txBody>
                  <a:tcPr marL="64008" marR="64008" marT="18288" marB="18288" anchor="ctr">
                    <a:solidFill>
                      <a:srgbClr val="F2ECE1"/>
                    </a:solidFill>
                  </a:tcPr>
                </a:tc>
                <a:tc>
                  <a:txBody>
                    <a:bodyPr wrap="square"/>
                    <a:lstStyle/>
                    <a:p>
                      <a:r>
                        <a:rPr sz="1200" b="0">
                          <a:solidFill>
                            <a:srgbClr val="2B2622"/>
                          </a:solidFill>
                          <a:latin typeface="Courier New"/>
                        </a:rPr>
                        <a:t>afwvtk2s</a:t>
                      </a:r>
                    </a:p>
                  </a:txBody>
                  <a:tcPr marL="64008" marR="64008" marT="18288" marB="18288" anchor="ctr">
                    <a:solidFill>
                      <a:srgbClr val="F2ECE1"/>
                    </a:solidFill>
                  </a:tcPr>
                </a:tc>
              </a:tr>
              <a:tr h="309626">
                <a:tc>
                  <a:txBody>
                    <a:bodyPr wrap="square"/>
                    <a:lstStyle/>
                    <a:p>
                      <a:r>
                        <a:rPr sz="1200" b="0">
                          <a:solidFill>
                            <a:srgbClr val="2B2622"/>
                          </a:solidFill>
                          <a:latin typeface="Calibri"/>
                        </a:rPr>
                        <a:t>Key origin: fingerprint, hardened steps</a:t>
                      </a:r>
                    </a:p>
                  </a:txBody>
                  <a:tcPr marL="64008" marR="64008" marT="18288" marB="18288" anchor="ctr">
                    <a:solidFill>
                      <a:srgbClr val="FFFFFF"/>
                    </a:solidFill>
                  </a:tcPr>
                </a:tc>
                <a:tc>
                  <a:txBody>
                    <a:bodyPr wrap="square"/>
                    <a:lstStyle/>
                    <a:p>
                      <a:r>
                        <a:rPr sz="1200" b="0">
                          <a:solidFill>
                            <a:srgbClr val="2B2622"/>
                          </a:solidFill>
                          <a:latin typeface="Courier New"/>
                        </a:rPr>
                        <a:t>73c5da0a [True, True, True]</a:t>
                      </a:r>
                    </a:p>
                  </a:txBody>
                  <a:tcPr marL="64008" marR="64008" marT="18288" marB="18288" anchor="ctr">
                    <a:solidFill>
                      <a:srgbClr val="FFFFFF"/>
                    </a:solidFill>
                  </a:tcPr>
                </a:tc>
              </a:tr>
              <a:tr h="309626">
                <a:tc>
                  <a:txBody>
                    <a:bodyPr wrap="square"/>
                    <a:lstStyle/>
                    <a:p>
                      <a:r>
                        <a:rPr sz="1200" b="0">
                          <a:solidFill>
                            <a:srgbClr val="2B2622"/>
                          </a:solidFill>
                          <a:latin typeface="Calibri"/>
                        </a:rPr>
                        <a:t>A 2-of-3 multisignature descriptor with its checksum</a:t>
                      </a:r>
                    </a:p>
                  </a:txBody>
                  <a:tcPr marL="64008" marR="64008" marT="18288" marB="18288" anchor="ctr">
                    <a:solidFill>
                      <a:srgbClr val="F2ECE1"/>
                    </a:solidFill>
                  </a:tcPr>
                </a:tc>
                <a:tc>
                  <a:txBody>
                    <a:bodyPr wrap="square"/>
                    <a:lstStyle/>
                    <a:p>
                      <a:r>
                        <a:rPr sz="1200" b="0">
                          <a:solidFill>
                            <a:srgbClr val="2B2622"/>
                          </a:solidFill>
                          <a:latin typeface="Courier New"/>
                        </a:rPr>
                        <a:t>wsh(multi(2,A,B,C))#uhe03042</a:t>
                      </a:r>
                    </a:p>
                  </a:txBody>
                  <a:tcPr marL="64008" marR="64008" marT="18288" marB="18288" anchor="ctr">
                    <a:solidFill>
                      <a:srgbClr val="F2ECE1"/>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One line of text can rebuild the wallet's structure.</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49 / 68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Multisignature, multipath and miniscript</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Three ways descriptors grow</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grpSp>
        <p:nvGrpSpPr>
          <p:cNvPr id="6" name="visual: two of three keys"/>
          <p:cNvGrpSpPr/>
          <p:nvPr/>
        </p:nvGrpSpPr>
        <p:grpSpPr>
          <a:xfrm>
            <a:off x="457200" y="1280160"/>
            <a:ext cx="8138160" cy="1645920"/>
            <a:chOff x="457200" y="1280160"/>
            <a:chExt cx="8138160" cy="1645920"/>
          </a:xfrm>
        </p:grpSpPr>
        <p:sp>
          <p:nvSpPr>
            <p:cNvPr id="7" name="Rounded Rectangle 6"/>
            <p:cNvSpPr/>
            <p:nvPr/>
          </p:nvSpPr>
          <p:spPr>
            <a:xfrm>
              <a:off x="457200" y="1280160"/>
              <a:ext cx="128016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200" b="0" i="0">
                  <a:solidFill>
                    <a:srgbClr val="2B2622"/>
                  </a:solidFill>
                  <a:latin typeface="Calibri"/>
                </a:rPr>
                <a:t>Key A</a:t>
              </a:r>
            </a:p>
          </p:txBody>
        </p:sp>
        <p:sp>
          <p:nvSpPr>
            <p:cNvPr id="8" name="Rounded Rectangle 7"/>
            <p:cNvSpPr/>
            <p:nvPr/>
          </p:nvSpPr>
          <p:spPr>
            <a:xfrm>
              <a:off x="457200" y="1874519"/>
              <a:ext cx="128016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200" b="0" i="0">
                  <a:solidFill>
                    <a:srgbClr val="2B2622"/>
                  </a:solidFill>
                  <a:latin typeface="Calibri"/>
                </a:rPr>
                <a:t>Key B</a:t>
              </a:r>
            </a:p>
          </p:txBody>
        </p:sp>
        <p:sp>
          <p:nvSpPr>
            <p:cNvPr id="9" name="Rounded Rectangle 8"/>
            <p:cNvSpPr/>
            <p:nvPr/>
          </p:nvSpPr>
          <p:spPr>
            <a:xfrm>
              <a:off x="457200" y="2468880"/>
              <a:ext cx="128016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200" b="0" i="0">
                  <a:solidFill>
                    <a:srgbClr val="2B2622"/>
                  </a:solidFill>
                  <a:latin typeface="Calibri"/>
                </a:rPr>
                <a:t>Key C</a:t>
              </a:r>
            </a:p>
          </p:txBody>
        </p:sp>
        <p:sp>
          <p:nvSpPr>
            <p:cNvPr id="10" name="Rounded Rectangle 9"/>
            <p:cNvSpPr/>
            <p:nvPr/>
          </p:nvSpPr>
          <p:spPr>
            <a:xfrm>
              <a:off x="2743200" y="1737360"/>
              <a:ext cx="2743200" cy="68580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ourier New"/>
                </a:rPr>
                <a:t>wsh(multi(2,A,B,C))</a:t>
              </a:r>
            </a:p>
          </p:txBody>
        </p:sp>
        <p:sp>
          <p:nvSpPr>
            <p:cNvPr id="11" name="Rounded Rectangle 10"/>
            <p:cNvSpPr/>
            <p:nvPr/>
          </p:nvSpPr>
          <p:spPr>
            <a:xfrm>
              <a:off x="6400800" y="1737360"/>
              <a:ext cx="2194560" cy="685800"/>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200" b="1" i="0">
                  <a:solidFill>
                    <a:srgbClr val="FFFFFF"/>
                  </a:solidFill>
                  <a:latin typeface="Calibri"/>
                </a:rPr>
                <a:t>Any two sign</a:t>
              </a:r>
            </a:p>
          </p:txBody>
        </p:sp>
        <p:cxnSp>
          <p:nvCxnSpPr>
            <p:cNvPr id="12" name="Connector 11"/>
            <p:cNvCxnSpPr/>
            <p:nvPr/>
          </p:nvCxnSpPr>
          <p:spPr>
            <a:xfrm>
              <a:off x="1737360" y="1508760"/>
              <a:ext cx="1005840" cy="566928"/>
            </a:xfrm>
            <a:prstGeom prst="line">
              <a:avLst/>
            </a:prstGeom>
            <a:ln w="25400">
              <a:solidFill>
                <a:srgbClr val="6E655C"/>
              </a:solidFill>
              <a:tailEnd type="triangle"/>
            </a:ln>
          </p:spPr>
        </p:cxnSp>
        <p:cxnSp>
          <p:nvCxnSpPr>
            <p:cNvPr id="13" name="Connector 12"/>
            <p:cNvCxnSpPr/>
            <p:nvPr/>
          </p:nvCxnSpPr>
          <p:spPr>
            <a:xfrm flipV="1">
              <a:off x="1737360" y="2075688"/>
              <a:ext cx="1005840" cy="27432"/>
            </a:xfrm>
            <a:prstGeom prst="line">
              <a:avLst/>
            </a:prstGeom>
            <a:ln w="25400">
              <a:solidFill>
                <a:srgbClr val="6E655C"/>
              </a:solidFill>
              <a:tailEnd type="triangle"/>
            </a:ln>
          </p:spPr>
        </p:cxnSp>
        <p:cxnSp>
          <p:nvCxnSpPr>
            <p:cNvPr id="14" name="Connector 13"/>
            <p:cNvCxnSpPr/>
            <p:nvPr/>
          </p:nvCxnSpPr>
          <p:spPr>
            <a:xfrm flipV="1">
              <a:off x="1737360" y="2075688"/>
              <a:ext cx="1005840" cy="621792"/>
            </a:xfrm>
            <a:prstGeom prst="line">
              <a:avLst/>
            </a:prstGeom>
            <a:ln w="25400">
              <a:solidFill>
                <a:srgbClr val="6E655C"/>
              </a:solidFill>
              <a:tailEnd type="triangle"/>
            </a:ln>
          </p:spPr>
        </p:cxnSp>
        <p:cxnSp>
          <p:nvCxnSpPr>
            <p:cNvPr id="15" name="Connector 14"/>
            <p:cNvCxnSpPr/>
            <p:nvPr/>
          </p:nvCxnSpPr>
          <p:spPr>
            <a:xfrm>
              <a:off x="5486400" y="2075688"/>
              <a:ext cx="914400" cy="0"/>
            </a:xfrm>
            <a:prstGeom prst="line">
              <a:avLst/>
            </a:prstGeom>
            <a:ln w="25400">
              <a:solidFill>
                <a:srgbClr val="6E655C"/>
              </a:solidFill>
              <a:tailEnd type="triangle"/>
            </a:ln>
          </p:spPr>
        </p:cxnSp>
      </p:grpSp>
      <p:sp>
        <p:nvSpPr>
          <p:cNvPr id="16" name="card"/>
          <p:cNvSpPr/>
          <p:nvPr/>
        </p:nvSpPr>
        <p:spPr>
          <a:xfrm>
            <a:off x="457200" y="3108960"/>
            <a:ext cx="2670048" cy="1280160"/>
          </a:xfrm>
          <a:prstGeom prst="roundRect">
            <a:avLst>
              <a:gd name="adj" fmla="val 5714"/>
            </a:avLst>
          </a:prstGeom>
          <a:solidFill>
            <a:srgbClr val="F2ECE1"/>
          </a:solidFill>
          <a:ln>
            <a:solidFill>
              <a:srgbClr val="F2ECE1"/>
            </a:solidFill>
          </a:ln>
        </p:spPr>
        <p:txBody>
          <a:bodyPr rtlCol="0" anchor="ctr"/>
          <a:lstStyle/>
          <a:p>
            <a:pPr algn="ctr"/>
          </a:p>
        </p:txBody>
      </p:sp>
      <p:sp>
        <p:nvSpPr>
          <p:cNvPr id="17" name="card heading"/>
          <p:cNvSpPr txBox="1"/>
          <p:nvPr/>
        </p:nvSpPr>
        <p:spPr>
          <a:xfrm>
            <a:off x="548640" y="3154679"/>
            <a:ext cx="2487168" cy="274320"/>
          </a:xfrm>
          <a:prstGeom prst="rect">
            <a:avLst/>
          </a:prstGeom>
          <a:noFill/>
        </p:spPr>
        <p:txBody>
          <a:bodyPr wrap="square" anchor="t" lIns="45720" rIns="45720" tIns="36576" bIns="36576">
            <a:spAutoFit/>
          </a:bodyPr>
          <a:lstStyle/>
          <a:p>
            <a:pPr algn="l"/>
            <a:r>
              <a:rPr sz="1250" b="1" i="0">
                <a:solidFill>
                  <a:srgbClr val="D97A14"/>
                </a:solidFill>
                <a:latin typeface="Cambria"/>
              </a:rPr>
              <a:t>Multisignature</a:t>
            </a:r>
          </a:p>
        </p:txBody>
      </p:sp>
      <p:sp>
        <p:nvSpPr>
          <p:cNvPr id="18" name="card text"/>
          <p:cNvSpPr txBox="1"/>
          <p:nvPr/>
        </p:nvSpPr>
        <p:spPr>
          <a:xfrm>
            <a:off x="548640" y="3438144"/>
            <a:ext cx="2487168" cy="914399"/>
          </a:xfrm>
          <a:prstGeom prst="rect">
            <a:avLst/>
          </a:prstGeom>
          <a:noFill/>
        </p:spPr>
        <p:txBody>
          <a:bodyPr wrap="square" anchor="t" lIns="45720" rIns="45720" tIns="36576" bIns="36576">
            <a:spAutoFit/>
          </a:bodyPr>
          <a:lstStyle/>
          <a:p>
            <a:pPr algn="l"/>
            <a:r>
              <a:rPr sz="1150" b="0" i="0">
                <a:solidFill>
                  <a:srgbClr val="2B2622"/>
                </a:solidFill>
                <a:latin typeface="Calibri"/>
              </a:rPr>
              <a:t>Spending needs signatures from at least a threshold of the listed keys.</a:t>
            </a:r>
          </a:p>
        </p:txBody>
      </p:sp>
      <p:sp>
        <p:nvSpPr>
          <p:cNvPr id="19" name="card"/>
          <p:cNvSpPr/>
          <p:nvPr/>
        </p:nvSpPr>
        <p:spPr>
          <a:xfrm>
            <a:off x="3236976" y="3108960"/>
            <a:ext cx="2670048" cy="1280160"/>
          </a:xfrm>
          <a:prstGeom prst="roundRect">
            <a:avLst>
              <a:gd name="adj" fmla="val 5714"/>
            </a:avLst>
          </a:prstGeom>
          <a:solidFill>
            <a:srgbClr val="F2ECE1"/>
          </a:solidFill>
          <a:ln>
            <a:solidFill>
              <a:srgbClr val="F2ECE1"/>
            </a:solidFill>
          </a:ln>
        </p:spPr>
        <p:txBody>
          <a:bodyPr rtlCol="0" anchor="ctr"/>
          <a:lstStyle/>
          <a:p>
            <a:pPr algn="ctr"/>
          </a:p>
        </p:txBody>
      </p:sp>
      <p:sp>
        <p:nvSpPr>
          <p:cNvPr id="20" name="card heading"/>
          <p:cNvSpPr txBox="1"/>
          <p:nvPr/>
        </p:nvSpPr>
        <p:spPr>
          <a:xfrm>
            <a:off x="3328416" y="3154679"/>
            <a:ext cx="2487168" cy="274320"/>
          </a:xfrm>
          <a:prstGeom prst="rect">
            <a:avLst/>
          </a:prstGeom>
          <a:noFill/>
        </p:spPr>
        <p:txBody>
          <a:bodyPr wrap="square" anchor="t" lIns="45720" rIns="45720" tIns="36576" bIns="36576">
            <a:spAutoFit/>
          </a:bodyPr>
          <a:lstStyle/>
          <a:p>
            <a:pPr algn="l"/>
            <a:r>
              <a:rPr sz="1250" b="1" i="0">
                <a:solidFill>
                  <a:srgbClr val="D97A14"/>
                </a:solidFill>
                <a:latin typeface="Cambria"/>
              </a:rPr>
              <a:t>Multipath descriptor</a:t>
            </a:r>
          </a:p>
        </p:txBody>
      </p:sp>
      <p:sp>
        <p:nvSpPr>
          <p:cNvPr id="21" name="card text"/>
          <p:cNvSpPr txBox="1"/>
          <p:nvPr/>
        </p:nvSpPr>
        <p:spPr>
          <a:xfrm>
            <a:off x="3328416" y="3438144"/>
            <a:ext cx="2487168" cy="914399"/>
          </a:xfrm>
          <a:prstGeom prst="rect">
            <a:avLst/>
          </a:prstGeom>
          <a:noFill/>
        </p:spPr>
        <p:txBody>
          <a:bodyPr wrap="square" anchor="t" lIns="45720" rIns="45720" tIns="36576" bIns="36576">
            <a:spAutoFit/>
          </a:bodyPr>
          <a:lstStyle/>
          <a:p>
            <a:pPr algn="l"/>
            <a:r>
              <a:rPr sz="1150" b="0" i="0">
                <a:solidFill>
                  <a:srgbClr val="2B2622"/>
                </a:solidFill>
                <a:latin typeface="Calibri"/>
              </a:rPr>
              <a:t>One path step holds a tuple, such as receiving and change, in one descriptor.</a:t>
            </a:r>
          </a:p>
        </p:txBody>
      </p:sp>
      <p:sp>
        <p:nvSpPr>
          <p:cNvPr id="22" name="card"/>
          <p:cNvSpPr/>
          <p:nvPr/>
        </p:nvSpPr>
        <p:spPr>
          <a:xfrm>
            <a:off x="6016752" y="3108960"/>
            <a:ext cx="2670048" cy="1280160"/>
          </a:xfrm>
          <a:prstGeom prst="roundRect">
            <a:avLst>
              <a:gd name="adj" fmla="val 5714"/>
            </a:avLst>
          </a:prstGeom>
          <a:solidFill>
            <a:srgbClr val="F2ECE1"/>
          </a:solidFill>
          <a:ln>
            <a:solidFill>
              <a:srgbClr val="F2ECE1"/>
            </a:solidFill>
          </a:ln>
        </p:spPr>
        <p:txBody>
          <a:bodyPr rtlCol="0" anchor="ctr"/>
          <a:lstStyle/>
          <a:p>
            <a:pPr algn="ctr"/>
          </a:p>
        </p:txBody>
      </p:sp>
      <p:sp>
        <p:nvSpPr>
          <p:cNvPr id="23" name="card heading"/>
          <p:cNvSpPr txBox="1"/>
          <p:nvPr/>
        </p:nvSpPr>
        <p:spPr>
          <a:xfrm>
            <a:off x="6108192" y="3154679"/>
            <a:ext cx="2487168" cy="274320"/>
          </a:xfrm>
          <a:prstGeom prst="rect">
            <a:avLst/>
          </a:prstGeom>
          <a:noFill/>
        </p:spPr>
        <p:txBody>
          <a:bodyPr wrap="square" anchor="t" lIns="45720" rIns="45720" tIns="36576" bIns="36576">
            <a:spAutoFit/>
          </a:bodyPr>
          <a:lstStyle/>
          <a:p>
            <a:pPr algn="l"/>
            <a:r>
              <a:rPr sz="1250" b="1" i="0">
                <a:solidFill>
                  <a:srgbClr val="D97A14"/>
                </a:solidFill>
                <a:latin typeface="Cambria"/>
              </a:rPr>
              <a:t>Miniscript</a:t>
            </a:r>
          </a:p>
        </p:txBody>
      </p:sp>
      <p:sp>
        <p:nvSpPr>
          <p:cNvPr id="24" name="card text"/>
          <p:cNvSpPr txBox="1"/>
          <p:nvPr/>
        </p:nvSpPr>
        <p:spPr>
          <a:xfrm>
            <a:off x="6108192" y="3438144"/>
            <a:ext cx="2487168" cy="914399"/>
          </a:xfrm>
          <a:prstGeom prst="rect">
            <a:avLst/>
          </a:prstGeom>
          <a:noFill/>
        </p:spPr>
        <p:txBody>
          <a:bodyPr wrap="square" anchor="t" lIns="45720" rIns="45720" tIns="36576" bIns="36576">
            <a:spAutoFit/>
          </a:bodyPr>
          <a:lstStyle/>
          <a:p>
            <a:pPr algn="l"/>
            <a:r>
              <a:rPr sz="1150" b="0" i="0">
                <a:solidFill>
                  <a:srgbClr val="2B2622"/>
                </a:solidFill>
                <a:latin typeface="Calibri"/>
              </a:rPr>
              <a:t>A language for a subset of scripts that supports analysis and generic signing.</a:t>
            </a:r>
          </a:p>
        </p:txBody>
      </p:sp>
      <p:sp>
        <p:nvSpPr>
          <p:cNvPr id="25"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Descriptors keep the wallet's rules in one line of text.</a:t>
            </a:r>
          </a:p>
        </p:txBody>
      </p:sp>
      <p:sp>
        <p:nvSpPr>
          <p:cNvPr id="26"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50 / 68</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Everyday pictures for part 5</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Street addresses and recipe cards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graphicFrame>
        <p:nvGraphicFramePr>
          <p:cNvPr id="6" name="analogy table"/>
          <p:cNvGraphicFramePr>
            <a:graphicFrameLocks noGrp="1"/>
          </p:cNvGraphicFramePr>
          <p:nvPr/>
        </p:nvGraphicFramePr>
        <p:xfrm>
          <a:off x="457200" y="1188720"/>
          <a:ext cx="8229600" cy="3200400"/>
        </p:xfrm>
        <a:graphic>
          <a:graphicData uri="http://schemas.openxmlformats.org/drawingml/2006/table">
            <a:tbl>
              <a:tblPr firstRow="1" bandRow="1">
                <a:tableStyleId>{5C22544A-7EE6-4342-B048-85BDC9FD1C3A}</a:tableStyleId>
              </a:tblPr>
              <a:tblGrid>
                <a:gridCol w="2194560"/>
                <a:gridCol w="3108960"/>
                <a:gridCol w="2926080"/>
              </a:tblGrid>
              <a:tr h="45720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457200">
                <a:tc>
                  <a:txBody>
                    <a:bodyPr wrap="square"/>
                    <a:lstStyle/>
                    <a:p>
                      <a:r>
                        <a:rPr sz="1150" b="1">
                          <a:solidFill>
                            <a:srgbClr val="2B2622"/>
                          </a:solidFill>
                          <a:latin typeface="Calibri"/>
                        </a:rPr>
                        <a:t>HD wallet path</a:t>
                      </a:r>
                    </a:p>
                  </a:txBody>
                  <a:tcPr marL="64008" marR="64008" marT="18288" marB="18288" anchor="ctr">
                    <a:solidFill>
                      <a:srgbClr val="F2ECE1"/>
                    </a:solidFill>
                  </a:tcPr>
                </a:tc>
                <a:tc>
                  <a:txBody>
                    <a:bodyPr wrap="square"/>
                    <a:lstStyle/>
                    <a:p>
                      <a:r>
                        <a:rPr sz="1150" b="0">
                          <a:solidFill>
                            <a:srgbClr val="2B2622"/>
                          </a:solidFill>
                          <a:latin typeface="Calibri"/>
                        </a:rPr>
                        <a:t>A street address: country, city, street, house</a:t>
                      </a:r>
                    </a:p>
                  </a:txBody>
                  <a:tcPr marL="64008" marR="64008" marT="18288" marB="18288" anchor="ctr">
                    <a:solidFill>
                      <a:srgbClr val="F2ECE1"/>
                    </a:solidFill>
                  </a:tcPr>
                </a:tc>
                <a:tc>
                  <a:txBody>
                    <a:bodyPr wrap="square"/>
                    <a:lstStyle/>
                    <a:p>
                      <a:r>
                        <a:rPr sz="1150" b="0">
                          <a:solidFill>
                            <a:srgbClr val="2B2622"/>
                          </a:solidFill>
                          <a:latin typeface="Calibri"/>
                        </a:rPr>
                        <a:t>A list of numbers from the master key to one key</a:t>
                      </a:r>
                    </a:p>
                  </a:txBody>
                  <a:tcPr marL="64008" marR="64008" marT="18288" marB="18288" anchor="ctr">
                    <a:solidFill>
                      <a:srgbClr val="F2ECE1"/>
                    </a:solidFill>
                  </a:tcPr>
                </a:tc>
              </a:tr>
              <a:tr h="457200">
                <a:tc>
                  <a:txBody>
                    <a:bodyPr wrap="square"/>
                    <a:lstStyle/>
                    <a:p>
                      <a:r>
                        <a:rPr sz="1150" b="1">
                          <a:solidFill>
                            <a:srgbClr val="2B2622"/>
                          </a:solidFill>
                          <a:latin typeface="Calibri"/>
                        </a:rPr>
                        <a:t>BIP43</a:t>
                      </a:r>
                    </a:p>
                  </a:txBody>
                  <a:tcPr marL="64008" marR="64008" marT="18288" marB="18288" anchor="ctr">
                    <a:solidFill>
                      <a:srgbClr val="FFFFFF"/>
                    </a:solidFill>
                  </a:tcPr>
                </a:tc>
                <a:tc>
                  <a:txBody>
                    <a:bodyPr wrap="square"/>
                    <a:lstStyle/>
                    <a:p>
                      <a:r>
                        <a:rPr sz="1150" b="0">
                          <a:solidFill>
                            <a:srgbClr val="2B2622"/>
                          </a:solidFill>
                          <a:latin typeface="Calibri"/>
                        </a:rPr>
                        <a:t>A postal rule: the first number picks the scheme</a:t>
                      </a:r>
                    </a:p>
                  </a:txBody>
                  <a:tcPr marL="64008" marR="64008" marT="18288" marB="18288" anchor="ctr">
                    <a:solidFill>
                      <a:srgbClr val="FFFFFF"/>
                    </a:solidFill>
                  </a:tcPr>
                </a:tc>
                <a:tc>
                  <a:txBody>
                    <a:bodyPr wrap="square"/>
                    <a:lstStyle/>
                    <a:p>
                      <a:r>
                        <a:rPr sz="1150" b="0">
                          <a:solidFill>
                            <a:srgbClr val="2B2622"/>
                          </a:solidFill>
                          <a:latin typeface="Calibri"/>
                        </a:rPr>
                        <a:t>The purpose number below the master key</a:t>
                      </a:r>
                    </a:p>
                  </a:txBody>
                  <a:tcPr marL="64008" marR="64008" marT="18288" marB="18288" anchor="ctr">
                    <a:solidFill>
                      <a:srgbClr val="FFFFFF"/>
                    </a:solidFill>
                  </a:tcPr>
                </a:tc>
              </a:tr>
              <a:tr h="457200">
                <a:tc>
                  <a:txBody>
                    <a:bodyPr wrap="square"/>
                    <a:lstStyle/>
                    <a:p>
                      <a:r>
                        <a:rPr sz="1150" b="1">
                          <a:solidFill>
                            <a:srgbClr val="2B2622"/>
                          </a:solidFill>
                          <a:latin typeface="Calibri"/>
                        </a:rPr>
                        <a:t>BIP44</a:t>
                      </a:r>
                    </a:p>
                  </a:txBody>
                  <a:tcPr marL="64008" marR="64008" marT="18288" marB="18288" anchor="ctr">
                    <a:solidFill>
                      <a:srgbClr val="F2ECE1"/>
                    </a:solidFill>
                  </a:tcPr>
                </a:tc>
                <a:tc>
                  <a:txBody>
                    <a:bodyPr wrap="square"/>
                    <a:lstStyle/>
                    <a:p>
                      <a:r>
                        <a:rPr sz="1150" b="0">
                          <a:solidFill>
                            <a:srgbClr val="2B2622"/>
                          </a:solidFill>
                          <a:latin typeface="Calibri"/>
                        </a:rPr>
                        <a:t>A house numbering scheme everyone adopted</a:t>
                      </a:r>
                    </a:p>
                  </a:txBody>
                  <a:tcPr marL="64008" marR="64008" marT="18288" marB="18288" anchor="ctr">
                    <a:solidFill>
                      <a:srgbClr val="F2ECE1"/>
                    </a:solidFill>
                  </a:tcPr>
                </a:tc>
                <a:tc>
                  <a:txBody>
                    <a:bodyPr wrap="square"/>
                    <a:lstStyle/>
                    <a:p>
                      <a:r>
                        <a:rPr sz="1150" b="0">
                          <a:solidFill>
                            <a:srgbClr val="2B2622"/>
                          </a:solidFill>
                          <a:latin typeface="Calibri"/>
                        </a:rPr>
                        <a:t>Five levels: purpose, coin, account, change, index</a:t>
                      </a:r>
                    </a:p>
                  </a:txBody>
                  <a:tcPr marL="64008" marR="64008" marT="18288" marB="18288" anchor="ctr">
                    <a:solidFill>
                      <a:srgbClr val="F2ECE1"/>
                    </a:solidFill>
                  </a:tcPr>
                </a:tc>
              </a:tr>
              <a:tr h="457200">
                <a:tc>
                  <a:txBody>
                    <a:bodyPr wrap="square"/>
                    <a:lstStyle/>
                    <a:p>
                      <a:r>
                        <a:rPr sz="1150" b="1">
                          <a:solidFill>
                            <a:srgbClr val="2B2622"/>
                          </a:solidFill>
                          <a:latin typeface="Calibri"/>
                        </a:rPr>
                        <a:t>implicit paths</a:t>
                      </a:r>
                    </a:p>
                  </a:txBody>
                  <a:tcPr marL="64008" marR="64008" marT="18288" marB="18288" anchor="ctr">
                    <a:solidFill>
                      <a:srgbClr val="FFFFFF"/>
                    </a:solidFill>
                  </a:tcPr>
                </a:tc>
                <a:tc>
                  <a:txBody>
                    <a:bodyPr wrap="square"/>
                    <a:lstStyle/>
                    <a:p>
                      <a:r>
                        <a:rPr sz="1150" b="0">
                          <a:solidFill>
                            <a:srgbClr val="2B2622"/>
                          </a:solidFill>
                          <a:latin typeface="Calibri"/>
                        </a:rPr>
                        <a:t>A standard everyone knows without being told</a:t>
                      </a:r>
                    </a:p>
                  </a:txBody>
                  <a:tcPr marL="64008" marR="64008" marT="18288" marB="18288" anchor="ctr">
                    <a:solidFill>
                      <a:srgbClr val="FFFFFF"/>
                    </a:solidFill>
                  </a:tcPr>
                </a:tc>
                <a:tc>
                  <a:txBody>
                    <a:bodyPr wrap="square"/>
                    <a:lstStyle/>
                    <a:p>
                      <a:r>
                        <a:rPr sz="1150" b="0">
                          <a:solidFill>
                            <a:srgbClr val="2B2622"/>
                          </a:solidFill>
                          <a:latin typeface="Calibri"/>
                        </a:rPr>
                        <a:t>A path fixed by a standard, not recorded</a:t>
                      </a:r>
                    </a:p>
                  </a:txBody>
                  <a:tcPr marL="64008" marR="64008" marT="18288" marB="18288" anchor="ctr">
                    <a:solidFill>
                      <a:srgbClr val="FFFFFF"/>
                    </a:solidFill>
                  </a:tcPr>
                </a:tc>
              </a:tr>
              <a:tr h="457200">
                <a:tc>
                  <a:txBody>
                    <a:bodyPr wrap="square"/>
                    <a:lstStyle/>
                    <a:p>
                      <a:r>
                        <a:rPr sz="1150" b="1">
                          <a:solidFill>
                            <a:srgbClr val="2B2622"/>
                          </a:solidFill>
                          <a:latin typeface="Calibri"/>
                        </a:rPr>
                        <a:t>explicit paths</a:t>
                      </a:r>
                    </a:p>
                  </a:txBody>
                  <a:tcPr marL="64008" marR="64008" marT="18288" marB="18288" anchor="ctr">
                    <a:solidFill>
                      <a:srgbClr val="F2ECE1"/>
                    </a:solidFill>
                  </a:tcPr>
                </a:tc>
                <a:tc>
                  <a:txBody>
                    <a:bodyPr wrap="square"/>
                    <a:lstStyle/>
                    <a:p>
                      <a:r>
                        <a:rPr sz="1150" b="0">
                          <a:solidFill>
                            <a:srgbClr val="2B2622"/>
                          </a:solidFill>
                          <a:latin typeface="Calibri"/>
                        </a:rPr>
                        <a:t>The address written on the envelope</a:t>
                      </a:r>
                    </a:p>
                  </a:txBody>
                  <a:tcPr marL="64008" marR="64008" marT="18288" marB="18288" anchor="ctr">
                    <a:solidFill>
                      <a:srgbClr val="F2ECE1"/>
                    </a:solidFill>
                  </a:tcPr>
                </a:tc>
                <a:tc>
                  <a:txBody>
                    <a:bodyPr wrap="square"/>
                    <a:lstStyle/>
                    <a:p>
                      <a:r>
                        <a:rPr sz="1150" b="0">
                          <a:solidFill>
                            <a:srgbClr val="2B2622"/>
                          </a:solidFill>
                          <a:latin typeface="Calibri"/>
                        </a:rPr>
                        <a:t>A path written down with the backup</a:t>
                      </a:r>
                    </a:p>
                  </a:txBody>
                  <a:tcPr marL="64008" marR="64008" marT="18288" marB="18288" anchor="ctr">
                    <a:solidFill>
                      <a:srgbClr val="F2ECE1"/>
                    </a:solidFill>
                  </a:tcPr>
                </a:tc>
              </a:tr>
              <a:tr h="457200">
                <a:tc>
                  <a:txBody>
                    <a:bodyPr wrap="square"/>
                    <a:lstStyle/>
                    <a:p>
                      <a:r>
                        <a:rPr sz="1150" b="1">
                          <a:solidFill>
                            <a:srgbClr val="2B2622"/>
                          </a:solidFill>
                          <a:latin typeface="Calibri"/>
                        </a:rPr>
                        <a:t>output script descriptors</a:t>
                      </a:r>
                    </a:p>
                  </a:txBody>
                  <a:tcPr marL="64008" marR="64008" marT="18288" marB="18288" anchor="ctr">
                    <a:solidFill>
                      <a:srgbClr val="FFFFFF"/>
                    </a:solidFill>
                  </a:tcPr>
                </a:tc>
                <a:tc>
                  <a:txBody>
                    <a:bodyPr wrap="square"/>
                    <a:lstStyle/>
                    <a:p>
                      <a:r>
                        <a:rPr sz="1150" b="0">
                          <a:solidFill>
                            <a:srgbClr val="2B2622"/>
                          </a:solidFill>
                          <a:latin typeface="Calibri"/>
                        </a:rPr>
                        <a:t>A recipe card naming the dish and its ingredients</a:t>
                      </a:r>
                    </a:p>
                  </a:txBody>
                  <a:tcPr marL="64008" marR="64008" marT="18288" marB="18288" anchor="ctr">
                    <a:solidFill>
                      <a:srgbClr val="FFFFFF"/>
                    </a:solidFill>
                  </a:tcPr>
                </a:tc>
                <a:tc>
                  <a:txBody>
                    <a:bodyPr wrap="square"/>
                    <a:lstStyle/>
                    <a:p>
                      <a:r>
                        <a:rPr sz="1150" b="0">
                          <a:solidFill>
                            <a:srgbClr val="2B2622"/>
                          </a:solidFill>
                          <a:latin typeface="Calibri"/>
                        </a:rPr>
                        <a:t>Text that names the script and the keys</a:t>
                      </a:r>
                    </a:p>
                  </a:txBody>
                  <a:tcPr marL="64008" marR="64008" marT="18288" marB="18288" anchor="ctr">
                    <a:solidFill>
                      <a:srgbClr val="FFFFFF"/>
                    </a:solidFill>
                  </a:tcPr>
                </a:tc>
              </a:tr>
            </a:tbl>
          </a:graphicData>
        </a:graphic>
      </p:graphicFrame>
      <p:sp>
        <p:nvSpPr>
          <p:cNvPr id="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51 / 68</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Everyday pictures for part 5, the book's sections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Addresses inside a building</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graphicFrame>
        <p:nvGraphicFramePr>
          <p:cNvPr id="6" name="analogy table"/>
          <p:cNvGraphicFramePr>
            <a:graphicFrameLocks noGrp="1"/>
          </p:cNvGraphicFramePr>
          <p:nvPr/>
        </p:nvGraphicFramePr>
        <p:xfrm>
          <a:off x="457200" y="1188720"/>
          <a:ext cx="8229600" cy="1828800"/>
        </p:xfrm>
        <a:graphic>
          <a:graphicData uri="http://schemas.openxmlformats.org/drawingml/2006/table">
            <a:tbl>
              <a:tblPr firstRow="1" bandRow="1">
                <a:tableStyleId>{5C22544A-7EE6-4342-B048-85BDC9FD1C3A}</a:tableStyleId>
              </a:tblPr>
              <a:tblGrid>
                <a:gridCol w="2194560"/>
                <a:gridCol w="3108960"/>
                <a:gridCol w="2926080"/>
              </a:tblGrid>
              <a:tr h="45720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457200">
                <a:tc>
                  <a:txBody>
                    <a:bodyPr wrap="square"/>
                    <a:lstStyle/>
                    <a:p>
                      <a:r>
                        <a:rPr sz="1150" b="1">
                          <a:solidFill>
                            <a:srgbClr val="2B2622"/>
                          </a:solidFill>
                          <a:latin typeface="Calibri"/>
                        </a:rPr>
                        <a:t>Backing Up Key Derivation Paths</a:t>
                      </a:r>
                    </a:p>
                  </a:txBody>
                  <a:tcPr marL="64008" marR="64008" marT="18288" marB="18288" anchor="ctr">
                    <a:solidFill>
                      <a:srgbClr val="F2ECE1"/>
                    </a:solidFill>
                  </a:tcPr>
                </a:tc>
                <a:tc>
                  <a:txBody>
                    <a:bodyPr wrap="square"/>
                    <a:lstStyle/>
                    <a:p>
                      <a:r>
                        <a:rPr sz="1150" b="0">
                          <a:solidFill>
                            <a:srgbClr val="2B2622"/>
                          </a:solidFill>
                          <a:latin typeface="Calibri"/>
                        </a:rPr>
                        <a:t>Writing the street address down with the key</a:t>
                      </a:r>
                    </a:p>
                  </a:txBody>
                  <a:tcPr marL="64008" marR="64008" marT="18288" marB="18288" anchor="ctr">
                    <a:solidFill>
                      <a:srgbClr val="F2ECE1"/>
                    </a:solidFill>
                  </a:tcPr>
                </a:tc>
                <a:tc>
                  <a:txBody>
                    <a:bodyPr wrap="square"/>
                    <a:lstStyle/>
                    <a:p>
                      <a:r>
                        <a:rPr sz="1150" b="0">
                          <a:solidFill>
                            <a:srgbClr val="2B2622"/>
                          </a:solidFill>
                          <a:latin typeface="Calibri"/>
                        </a:rPr>
                        <a:t>Paths or descriptors saved with the code</a:t>
                      </a:r>
                    </a:p>
                  </a:txBody>
                  <a:tcPr marL="64008" marR="64008" marT="18288" marB="18288" anchor="ctr">
                    <a:solidFill>
                      <a:srgbClr val="F2ECE1"/>
                    </a:solidFill>
                  </a:tcPr>
                </a:tc>
              </a:tr>
              <a:tr h="457200">
                <a:tc>
                  <a:txBody>
                    <a:bodyPr wrap="square"/>
                    <a:lstStyle/>
                    <a:p>
                      <a:r>
                        <a:rPr sz="1150" b="1">
                          <a:solidFill>
                            <a:srgbClr val="2B2622"/>
                          </a:solidFill>
                          <a:latin typeface="Calibri"/>
                        </a:rPr>
                        <a:t>HD wallet key identifier (path)</a:t>
                      </a:r>
                    </a:p>
                  </a:txBody>
                  <a:tcPr marL="64008" marR="64008" marT="18288" marB="18288" anchor="ctr">
                    <a:solidFill>
                      <a:srgbClr val="FFFFFF"/>
                    </a:solidFill>
                  </a:tcPr>
                </a:tc>
                <a:tc>
                  <a:txBody>
                    <a:bodyPr wrap="square"/>
                    <a:lstStyle/>
                    <a:p>
                      <a:r>
                        <a:rPr sz="1150" b="0">
                          <a:solidFill>
                            <a:srgbClr val="2B2622"/>
                          </a:solidFill>
                          <a:latin typeface="Calibri"/>
                        </a:rPr>
                        <a:t>The address of one room in a building</a:t>
                      </a:r>
                    </a:p>
                  </a:txBody>
                  <a:tcPr marL="64008" marR="64008" marT="18288" marB="18288" anchor="ctr">
                    <a:solidFill>
                      <a:srgbClr val="FFFFFF"/>
                    </a:solidFill>
                  </a:tcPr>
                </a:tc>
                <a:tc>
                  <a:txBody>
                    <a:bodyPr wrap="square"/>
                    <a:lstStyle/>
                    <a:p>
                      <a:r>
                        <a:rPr sz="1150" b="0">
                          <a:solidFill>
                            <a:srgbClr val="2B2622"/>
                          </a:solidFill>
                          <a:latin typeface="Calibri"/>
                        </a:rPr>
                        <a:t>m/84h/0h/0h/0/0 names exactly one key</a:t>
                      </a:r>
                    </a:p>
                  </a:txBody>
                  <a:tcPr marL="64008" marR="64008" marT="18288" marB="18288" anchor="ctr">
                    <a:solidFill>
                      <a:srgbClr val="FFFFFF"/>
                    </a:solidFill>
                  </a:tcPr>
                </a:tc>
              </a:tr>
              <a:tr h="457200">
                <a:tc>
                  <a:txBody>
                    <a:bodyPr wrap="square"/>
                    <a:lstStyle/>
                    <a:p>
                      <a:r>
                        <a:rPr sz="1150" b="1">
                          <a:solidFill>
                            <a:srgbClr val="2B2622"/>
                          </a:solidFill>
                          <a:latin typeface="Calibri"/>
                        </a:rPr>
                        <a:t>Navigating the HD wallet tree structure</a:t>
                      </a:r>
                    </a:p>
                  </a:txBody>
                  <a:tcPr marL="64008" marR="64008" marT="18288" marB="18288" anchor="ctr">
                    <a:solidFill>
                      <a:srgbClr val="F2ECE1"/>
                    </a:solidFill>
                  </a:tcPr>
                </a:tc>
                <a:tc>
                  <a:txBody>
                    <a:bodyPr wrap="square"/>
                    <a:lstStyle/>
                    <a:p>
                      <a:r>
                        <a:rPr sz="1150" b="0">
                          <a:solidFill>
                            <a:srgbClr val="2B2622"/>
                          </a:solidFill>
                          <a:latin typeface="Calibri"/>
                        </a:rPr>
                        <a:t>Walking down a family tree by birth order</a:t>
                      </a:r>
                    </a:p>
                  </a:txBody>
                  <a:tcPr marL="64008" marR="64008" marT="18288" marB="18288" anchor="ctr">
                    <a:solidFill>
                      <a:srgbClr val="F2ECE1"/>
                    </a:solidFill>
                  </a:tcPr>
                </a:tc>
                <a:tc>
                  <a:txBody>
                    <a:bodyPr wrap="square"/>
                    <a:lstStyle/>
                    <a:p>
                      <a:r>
                        <a:rPr sz="1150" b="0">
                          <a:solidFill>
                            <a:srgbClr val="2B2622"/>
                          </a:solidFill>
                          <a:latin typeface="Calibri"/>
                        </a:rPr>
                        <a:t>Levels: purpose, coin, account, change, index</a:t>
                      </a:r>
                    </a:p>
                  </a:txBody>
                  <a:tcPr marL="64008" marR="64008" marT="18288" marB="18288" anchor="ctr">
                    <a:solidFill>
                      <a:srgbClr val="F2ECE1"/>
                    </a:solidFill>
                  </a:tcPr>
                </a:tc>
              </a:tr>
            </a:tbl>
          </a:graphicData>
        </a:graphic>
      </p:graphicFrame>
      <p:sp>
        <p:nvSpPr>
          <p:cNvPr id="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52 / 68</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6: Data that is not keys</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A recovery code is not the whole backup</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Nonkey Data</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label</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note that names an address or a transaction</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BIP329</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standard file format for exporting labels</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Lightning Network</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payments off the blockchain, with their own state</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static channel backups</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one-time backup that helps recover channel funds</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encryption</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readable data turned into data only a key holder reads</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encrypted wallet backup</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whole database, encrypted by a key from the seed</a:t>
            </a:r>
          </a:p>
        </p:txBody>
      </p:sp>
      <p:graphicFrame>
        <p:nvGraphicFramePr>
          <p:cNvPr id="29" name="visual: how the concepts fit"/>
          <p:cNvGraphicFramePr>
            <a:graphicFrameLocks noGrp="1"/>
          </p:cNvGraphicFramePr>
          <p:nvPr/>
        </p:nvGraphicFramePr>
        <p:xfrm>
          <a:off x="6172200" y="1188720"/>
          <a:ext cx="2514600" cy="22860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Keys from the seed</a:t>
                      </a:r>
                    </a:p>
                  </a:txBody>
                  <a:tcPr marL="64008" marR="64008" marT="18288" marB="18288" anchor="ctr">
                    <a:solidFill>
                      <a:srgbClr val="F2ECE1"/>
                    </a:solidFill>
                  </a:tcPr>
                </a:tc>
              </a:tr>
              <a:tr h="457200">
                <a:tc>
                  <a:txBody>
                    <a:bodyPr wrap="square"/>
                    <a:lstStyle/>
                    <a:p>
                      <a:r>
                        <a:rPr sz="1150" b="0">
                          <a:solidFill>
                            <a:srgbClr val="2B2622"/>
                          </a:solidFill>
                          <a:latin typeface="Calibri"/>
                        </a:rPr>
                        <a:t>2.  Labels</a:t>
                      </a:r>
                    </a:p>
                  </a:txBody>
                  <a:tcPr marL="64008" marR="64008" marT="18288" marB="18288" anchor="ctr">
                    <a:solidFill>
                      <a:srgbClr val="FFFFFF"/>
                    </a:solidFill>
                  </a:tcPr>
                </a:tc>
              </a:tr>
              <a:tr h="457200">
                <a:tc>
                  <a:txBody>
                    <a:bodyPr wrap="square"/>
                    <a:lstStyle/>
                    <a:p>
                      <a:r>
                        <a:rPr sz="1150" b="0">
                          <a:solidFill>
                            <a:srgbClr val="2B2622"/>
                          </a:solidFill>
                          <a:latin typeface="Calibri"/>
                        </a:rPr>
                        <a:t>3.  Protocol data</a:t>
                      </a:r>
                    </a:p>
                  </a:txBody>
                  <a:tcPr marL="64008" marR="64008" marT="18288" marB="18288" anchor="ctr">
                    <a:solidFill>
                      <a:srgbClr val="F2ECE1"/>
                    </a:solidFill>
                  </a:tcPr>
                </a:tc>
              </a:tr>
              <a:tr h="457200">
                <a:tc>
                  <a:txBody>
                    <a:bodyPr wrap="square"/>
                    <a:lstStyle/>
                    <a:p>
                      <a:r>
                        <a:rPr sz="1150" b="0">
                          <a:solidFill>
                            <a:srgbClr val="2B2622"/>
                          </a:solidFill>
                          <a:latin typeface="Calibri"/>
                        </a:rPr>
                        <a:t>4.  Encrypted backup</a:t>
                      </a:r>
                    </a:p>
                  </a:txBody>
                  <a:tcPr marL="64008" marR="64008" marT="18288" marB="18288" anchor="ctr">
                    <a:solidFill>
                      <a:srgbClr val="FFFFFF"/>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53 / 68</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23: Labels exported in the BIP329 format</a:t>
            </a:r>
          </a:p>
        </p:txBody>
      </p:sp>
      <p:sp>
        <p:nvSpPr>
          <p:cNvPr id="6" name="code"/>
          <p:cNvSpPr/>
          <p:nvPr/>
        </p:nvSpPr>
        <p:spPr>
          <a:xfrm>
            <a:off x="365760" y="1097280"/>
            <a:ext cx="4727448" cy="471678"/>
          </a:xfrm>
          <a:prstGeom prst="roundRect">
            <a:avLst>
              <a:gd name="adj" fmla="val 15508"/>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a</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"bc1qcr8te4kr609gcawutmrza0j4xv80jy8z306fyu"</a:t>
            </a:r>
          </a:p>
          <a:p>
            <a:pPr algn="l"/>
            <a:r>
              <a:rPr sz="1050" b="0" i="0">
                <a:solidFill>
                  <a:srgbClr val="8A9B94"/>
                </a:solidFill>
                <a:latin typeface="Courier New"/>
              </a:rPr>
              <a:t>&gt;&gt;&gt; </a:t>
            </a:r>
            <a:r>
              <a:rPr sz="1050" b="0" i="0">
                <a:solidFill>
                  <a:srgbClr val="E6EDF3"/>
                </a:solidFill>
                <a:latin typeface="Courier New"/>
              </a:rPr>
              <a:t>rows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FFA657"/>
                </a:solidFill>
                <a:latin typeface="Courier New"/>
              </a:rPr>
              <a:t>dict</a:t>
            </a:r>
            <a:r>
              <a:rPr sz="1050" b="0" i="0">
                <a:solidFill>
                  <a:srgbClr val="E6EDF3"/>
                </a:solidFill>
                <a:latin typeface="Courier New"/>
              </a:rPr>
              <a:t>(</a:t>
            </a:r>
            <a:r>
              <a:rPr sz="1050" b="0" i="0">
                <a:solidFill>
                  <a:srgbClr val="E6EDF3"/>
                </a:solidFill>
                <a:latin typeface="Courier New"/>
              </a:rPr>
              <a:t>type</a:t>
            </a:r>
            <a:r>
              <a:rPr sz="1050" b="0" i="0">
                <a:solidFill>
                  <a:srgbClr val="E6EDF3"/>
                </a:solidFill>
                <a:latin typeface="Courier New"/>
              </a:rPr>
              <a:t>=</a:t>
            </a:r>
            <a:r>
              <a:rPr sz="1050" b="0" i="0">
                <a:solidFill>
                  <a:srgbClr val="7EE787"/>
                </a:solidFill>
                <a:latin typeface="Courier New"/>
              </a:rPr>
              <a:t>"addr"</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ref</a:t>
            </a:r>
            <a:r>
              <a:rPr sz="1050" b="0" i="0">
                <a:solidFill>
                  <a:srgbClr val="E6EDF3"/>
                </a:solidFill>
                <a:latin typeface="Courier New"/>
              </a:rPr>
              <a:t>=</a:t>
            </a:r>
            <a:r>
              <a:rPr sz="1050" b="0" i="0">
                <a:solidFill>
                  <a:srgbClr val="E6EDF3"/>
                </a:solidFill>
                <a:latin typeface="Courier New"/>
              </a:rPr>
              <a:t>a</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label</a:t>
            </a:r>
            <a:r>
              <a:rPr sz="1050" b="0" i="0">
                <a:solidFill>
                  <a:srgbClr val="E6EDF3"/>
                </a:solidFill>
                <a:latin typeface="Courier New"/>
              </a:rPr>
              <a:t>=</a:t>
            </a:r>
            <a:r>
              <a:rPr sz="1050" b="0" i="0">
                <a:solidFill>
                  <a:srgbClr val="7EE787"/>
                </a:solidFill>
                <a:latin typeface="Courier New"/>
              </a:rPr>
              <a:t>"rent"</a:t>
            </a:r>
            <a:r>
              <a:rPr sz="1050" b="0" i="0">
                <a:solidFill>
                  <a:srgbClr val="E6EDF3"/>
                </a:solidFill>
                <a:latin typeface="Courier New"/>
              </a:rPr>
              <a:t>)</a:t>
            </a:r>
            <a:r>
              <a:rPr sz="1050" b="0" i="0">
                <a:solidFill>
                  <a:srgbClr val="E6EDF3"/>
                </a:solidFill>
                <a:latin typeface="Courier New"/>
              </a:rPr>
              <a:t>,</a:t>
            </a:r>
          </a:p>
        </p:txBody>
      </p:sp>
      <p:sp>
        <p:nvSpPr>
          <p:cNvPr id="8" name="code"/>
          <p:cNvSpPr/>
          <p:nvPr/>
        </p:nvSpPr>
        <p:spPr>
          <a:xfrm>
            <a:off x="365760" y="1623822"/>
            <a:ext cx="4727448" cy="797052"/>
          </a:xfrm>
          <a:prstGeom prst="roundRect">
            <a:avLst>
              <a:gd name="adj" fmla="val 917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        </a:t>
            </a:r>
            <a:r>
              <a:rPr sz="1050" b="0" i="0">
                <a:solidFill>
                  <a:srgbClr val="FFA657"/>
                </a:solidFill>
                <a:latin typeface="Courier New"/>
              </a:rPr>
              <a:t>dict</a:t>
            </a:r>
            <a:r>
              <a:rPr sz="1050" b="0" i="0">
                <a:solidFill>
                  <a:srgbClr val="E6EDF3"/>
                </a:solidFill>
                <a:latin typeface="Courier New"/>
              </a:rPr>
              <a:t>(</a:t>
            </a:r>
            <a:r>
              <a:rPr sz="1050" b="0" i="0">
                <a:solidFill>
                  <a:srgbClr val="E6EDF3"/>
                </a:solidFill>
                <a:latin typeface="Courier New"/>
              </a:rPr>
              <a:t>type</a:t>
            </a:r>
            <a:r>
              <a:rPr sz="1050" b="0" i="0">
                <a:solidFill>
                  <a:srgbClr val="E6EDF3"/>
                </a:solidFill>
                <a:latin typeface="Courier New"/>
              </a:rPr>
              <a:t>=</a:t>
            </a:r>
            <a:r>
              <a:rPr sz="1050" b="0" i="0">
                <a:solidFill>
                  <a:srgbClr val="7EE787"/>
                </a:solidFill>
                <a:latin typeface="Courier New"/>
              </a:rPr>
              <a:t>"tx"</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ref</a:t>
            </a:r>
            <a:r>
              <a:rPr sz="1050" b="0" i="0">
                <a:solidFill>
                  <a:srgbClr val="E6EDF3"/>
                </a:solidFill>
                <a:latin typeface="Courier New"/>
              </a:rPr>
              <a:t>=</a:t>
            </a:r>
            <a:r>
              <a:rPr sz="1050" b="0" i="0">
                <a:solidFill>
                  <a:srgbClr val="7EE787"/>
                </a:solidFill>
                <a:latin typeface="Courier New"/>
              </a:rPr>
              <a:t>"ab"</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9C0FF"/>
                </a:solidFill>
                <a:latin typeface="Courier New"/>
              </a:rPr>
              <a:t>32</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label</a:t>
            </a:r>
            <a:r>
              <a:rPr sz="1050" b="0" i="0">
                <a:solidFill>
                  <a:srgbClr val="E6EDF3"/>
                </a:solidFill>
                <a:latin typeface="Courier New"/>
              </a:rPr>
              <a:t>=</a:t>
            </a:r>
            <a:r>
              <a:rPr sz="1050" b="0" i="0">
                <a:solidFill>
                  <a:srgbClr val="7EE787"/>
                </a:solidFill>
                <a:latin typeface="Courier New"/>
              </a:rPr>
              <a:t>"pay"</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for</a:t>
            </a:r>
            <a:r>
              <a:rPr sz="1050" b="0" i="0">
                <a:solidFill>
                  <a:srgbClr val="E6EDF3"/>
                </a:solidFill>
                <a:latin typeface="Courier New"/>
              </a:rPr>
              <a:t> </a:t>
            </a:r>
            <a:r>
              <a:rPr sz="1050" b="0" i="0">
                <a:solidFill>
                  <a:srgbClr val="E6EDF3"/>
                </a:solidFill>
                <a:latin typeface="Courier New"/>
              </a:rPr>
              <a:t>r</a:t>
            </a:r>
            <a:r>
              <a:rPr sz="1050" b="0" i="0">
                <a:solidFill>
                  <a:srgbClr val="E6EDF3"/>
                </a:solidFill>
                <a:latin typeface="Courier New"/>
              </a:rPr>
              <a:t> </a:t>
            </a:r>
            <a:r>
              <a:rPr sz="1050" b="0" i="0">
                <a:solidFill>
                  <a:srgbClr val="FFA657"/>
                </a:solidFill>
                <a:latin typeface="Courier New"/>
              </a:rPr>
              <a:t>in</a:t>
            </a:r>
            <a:r>
              <a:rPr sz="1050" b="0" i="0">
                <a:solidFill>
                  <a:srgbClr val="E6EDF3"/>
                </a:solidFill>
                <a:latin typeface="Courier New"/>
              </a:rPr>
              <a:t> </a:t>
            </a:r>
            <a:r>
              <a:rPr sz="1050" b="0" i="0">
                <a:solidFill>
                  <a:srgbClr val="E6EDF3"/>
                </a:solidFill>
                <a:latin typeface="Courier New"/>
              </a:rPr>
              <a:t>rows</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json</a:t>
            </a:r>
            <a:r>
              <a:rPr sz="1050" b="0" i="0">
                <a:solidFill>
                  <a:srgbClr val="E6EDF3"/>
                </a:solidFill>
                <a:latin typeface="Courier New"/>
              </a:rPr>
              <a:t>.</a:t>
            </a:r>
            <a:r>
              <a:rPr sz="1050" b="0" i="0">
                <a:solidFill>
                  <a:srgbClr val="E6EDF3"/>
                </a:solidFill>
                <a:latin typeface="Courier New"/>
              </a:rPr>
              <a:t>dumps</a:t>
            </a:r>
            <a:r>
              <a:rPr sz="1050" b="0" i="0">
                <a:solidFill>
                  <a:srgbClr val="E6EDF3"/>
                </a:solidFill>
                <a:latin typeface="Courier New"/>
              </a:rPr>
              <a:t>(</a:t>
            </a:r>
            <a:r>
              <a:rPr sz="1050" b="0" i="0">
                <a:solidFill>
                  <a:srgbClr val="E6EDF3"/>
                </a:solidFill>
                <a:latin typeface="Courier New"/>
              </a:rPr>
              <a:t>r</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Address label, transaction label, BIP329</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Nonkey Data</a:t>
            </a:r>
          </a:p>
        </p:txBody>
      </p:sp>
      <p:sp>
        <p:nvSpPr>
          <p:cNvPr id="7" name="explanation"/>
          <p:cNvSpPr/>
          <p:nvPr/>
        </p:nvSpPr>
        <p:spPr>
          <a:xfrm>
            <a:off x="5074920" y="1097280"/>
            <a:ext cx="3657600" cy="471678"/>
          </a:xfrm>
          <a:prstGeom prst="roundRect">
            <a:avLst>
              <a:gd name="adj" fmla="val 15508"/>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 label names an address or a transaction.</a:t>
            </a:r>
          </a:p>
        </p:txBody>
      </p:sp>
      <p:sp>
        <p:nvSpPr>
          <p:cNvPr id="9" name="explanation"/>
          <p:cNvSpPr/>
          <p:nvPr/>
        </p:nvSpPr>
        <p:spPr>
          <a:xfrm>
            <a:off x="5074920" y="1623822"/>
            <a:ext cx="3657600" cy="797052"/>
          </a:xfrm>
          <a:prstGeom prst="roundRect">
            <a:avLst>
              <a:gd name="adj" fmla="val 917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BIP329 writes one JSON object per line, so any program can read the backup.</a:t>
            </a:r>
          </a:p>
        </p:txBody>
      </p:sp>
      <p:sp>
        <p:nvSpPr>
          <p:cNvPr id="10" name="result label"/>
          <p:cNvSpPr txBox="1"/>
          <p:nvPr/>
        </p:nvSpPr>
        <p:spPr>
          <a:xfrm>
            <a:off x="365760" y="2512314"/>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2759202"/>
          <a:ext cx="8412480" cy="987552"/>
        </p:xfrm>
        <a:graphic>
          <a:graphicData uri="http://schemas.openxmlformats.org/drawingml/2006/table">
            <a:tbl>
              <a:tblPr firstRow="1" bandRow="1">
                <a:tableStyleId>{5C22544A-7EE6-4342-B048-85BDC9FD1C3A}</a:tableStyleId>
              </a:tblPr>
              <a:tblGrid>
                <a:gridCol w="1097280"/>
                <a:gridCol w="4754880"/>
                <a:gridCol w="2560320"/>
              </a:tblGrid>
              <a:tr h="329184">
                <a:tc>
                  <a:txBody>
                    <a:bodyPr wrap="square"/>
                    <a:lstStyle/>
                    <a:p>
                      <a:r>
                        <a:rPr sz="1200" b="1">
                          <a:solidFill>
                            <a:srgbClr val="FFFFFF"/>
                          </a:solidFill>
                          <a:latin typeface="Calibri"/>
                        </a:rPr>
                        <a:t>type</a:t>
                      </a:r>
                    </a:p>
                  </a:txBody>
                  <a:tcPr marL="64008" marR="64008" marT="18288" marB="18288" anchor="ctr">
                    <a:solidFill>
                      <a:srgbClr val="2B2622"/>
                    </a:solidFill>
                  </a:tcPr>
                </a:tc>
                <a:tc>
                  <a:txBody>
                    <a:bodyPr wrap="square"/>
                    <a:lstStyle/>
                    <a:p>
                      <a:r>
                        <a:rPr sz="1200" b="1">
                          <a:solidFill>
                            <a:srgbClr val="FFFFFF"/>
                          </a:solidFill>
                          <a:latin typeface="Calibri"/>
                        </a:rPr>
                        <a:t>reference (first 14 characters)</a:t>
                      </a:r>
                    </a:p>
                  </a:txBody>
                  <a:tcPr marL="64008" marR="64008" marT="18288" marB="18288" anchor="ctr">
                    <a:solidFill>
                      <a:srgbClr val="2B2622"/>
                    </a:solidFill>
                  </a:tcPr>
                </a:tc>
                <a:tc>
                  <a:txBody>
                    <a:bodyPr wrap="square"/>
                    <a:lstStyle/>
                    <a:p>
                      <a:r>
                        <a:rPr sz="1200" b="1">
                          <a:solidFill>
                            <a:srgbClr val="FFFFFF"/>
                          </a:solidFill>
                          <a:latin typeface="Calibri"/>
                        </a:rPr>
                        <a:t>label</a:t>
                      </a:r>
                    </a:p>
                  </a:txBody>
                  <a:tcPr marL="64008" marR="64008" marT="18288" marB="18288" anchor="ctr">
                    <a:solidFill>
                      <a:srgbClr val="2B2622"/>
                    </a:solidFill>
                  </a:tcPr>
                </a:tc>
              </a:tr>
              <a:tr h="329184">
                <a:tc>
                  <a:txBody>
                    <a:bodyPr wrap="square"/>
                    <a:lstStyle/>
                    <a:p>
                      <a:r>
                        <a:rPr sz="1200" b="0">
                          <a:solidFill>
                            <a:srgbClr val="2B2622"/>
                          </a:solidFill>
                          <a:latin typeface="Calibri"/>
                        </a:rPr>
                        <a:t>addr</a:t>
                      </a:r>
                    </a:p>
                  </a:txBody>
                  <a:tcPr marL="64008" marR="64008" marT="18288" marB="18288" anchor="ctr">
                    <a:solidFill>
                      <a:srgbClr val="F2ECE1"/>
                    </a:solidFill>
                  </a:tcPr>
                </a:tc>
                <a:tc>
                  <a:txBody>
                    <a:bodyPr wrap="square"/>
                    <a:lstStyle/>
                    <a:p>
                      <a:r>
                        <a:rPr sz="1200" b="0">
                          <a:solidFill>
                            <a:srgbClr val="2B2622"/>
                          </a:solidFill>
                          <a:latin typeface="Courier New"/>
                        </a:rPr>
                        <a:t>bc1qcr8te4kr60...</a:t>
                      </a:r>
                    </a:p>
                  </a:txBody>
                  <a:tcPr marL="64008" marR="64008" marT="18288" marB="18288" anchor="ctr">
                    <a:solidFill>
                      <a:srgbClr val="F2ECE1"/>
                    </a:solidFill>
                  </a:tcPr>
                </a:tc>
                <a:tc>
                  <a:txBody>
                    <a:bodyPr wrap="square"/>
                    <a:lstStyle/>
                    <a:p>
                      <a:r>
                        <a:rPr sz="1200" b="0">
                          <a:solidFill>
                            <a:srgbClr val="2B2622"/>
                          </a:solidFill>
                          <a:latin typeface="Calibri"/>
                        </a:rPr>
                        <a:t>rent</a:t>
                      </a:r>
                    </a:p>
                  </a:txBody>
                  <a:tcPr marL="64008" marR="64008" marT="18288" marB="18288" anchor="ctr">
                    <a:solidFill>
                      <a:srgbClr val="F2ECE1"/>
                    </a:solidFill>
                  </a:tcPr>
                </a:tc>
              </a:tr>
              <a:tr h="329184">
                <a:tc>
                  <a:txBody>
                    <a:bodyPr wrap="square"/>
                    <a:lstStyle/>
                    <a:p>
                      <a:r>
                        <a:rPr sz="1200" b="0">
                          <a:solidFill>
                            <a:srgbClr val="2B2622"/>
                          </a:solidFill>
                          <a:latin typeface="Calibri"/>
                        </a:rPr>
                        <a:t>tx</a:t>
                      </a:r>
                    </a:p>
                  </a:txBody>
                  <a:tcPr marL="64008" marR="64008" marT="18288" marB="18288" anchor="ctr">
                    <a:solidFill>
                      <a:srgbClr val="FFFFFF"/>
                    </a:solidFill>
                  </a:tcPr>
                </a:tc>
                <a:tc>
                  <a:txBody>
                    <a:bodyPr wrap="square"/>
                    <a:lstStyle/>
                    <a:p>
                      <a:r>
                        <a:rPr sz="1200" b="0">
                          <a:solidFill>
                            <a:srgbClr val="2B2622"/>
                          </a:solidFill>
                          <a:latin typeface="Courier New"/>
                        </a:rPr>
                        <a:t>ababababababab...</a:t>
                      </a:r>
                    </a:p>
                  </a:txBody>
                  <a:tcPr marL="64008" marR="64008" marT="18288" marB="18288" anchor="ctr">
                    <a:solidFill>
                      <a:srgbClr val="FFFFFF"/>
                    </a:solidFill>
                  </a:tcPr>
                </a:tc>
                <a:tc>
                  <a:txBody>
                    <a:bodyPr wrap="square"/>
                    <a:lstStyle/>
                    <a:p>
                      <a:r>
                        <a:rPr sz="1200" b="0">
                          <a:solidFill>
                            <a:srgbClr val="2B2622"/>
                          </a:solidFill>
                          <a:latin typeface="Calibri"/>
                        </a:rPr>
                        <a:t>pay</a:t>
                      </a:r>
                    </a:p>
                  </a:txBody>
                  <a:tcPr marL="64008" marR="64008" marT="18288" marB="18288" anchor="ctr">
                    <a:solidFill>
                      <a:srgbClr val="FFFFFF"/>
                    </a:solidFill>
                  </a:tcPr>
                </a:tc>
              </a:tr>
            </a:tbl>
          </a:graphicData>
        </a:graphic>
      </p:graphicFrame>
      <p:sp>
        <p:nvSpPr>
          <p:cNvPr id="12"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Labels are data too: export them.</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54 / 68</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Channels and encrypted backups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Two answers to data that keys cannot rebuild</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Nonkey Data</a:t>
            </a:r>
          </a:p>
        </p:txBody>
      </p:sp>
      <p:grpSp>
        <p:nvGrpSpPr>
          <p:cNvPr id="6" name="visual: static channel backup"/>
          <p:cNvGrpSpPr/>
          <p:nvPr/>
        </p:nvGrpSpPr>
        <p:grpSpPr>
          <a:xfrm>
            <a:off x="457200" y="1188720"/>
            <a:ext cx="8229600" cy="640080"/>
            <a:chOff x="457200" y="1188720"/>
            <a:chExt cx="8229600" cy="640080"/>
          </a:xfrm>
        </p:grpSpPr>
        <p:sp>
          <p:nvSpPr>
            <p:cNvPr id="7" name="Rounded Rectangle 6"/>
            <p:cNvSpPr/>
            <p:nvPr/>
          </p:nvSpPr>
          <p:spPr>
            <a:xfrm>
              <a:off x="457200" y="1188720"/>
              <a:ext cx="1865376" cy="64008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Channel opens</a:t>
              </a:r>
            </a:p>
          </p:txBody>
        </p:sp>
        <p:cxnSp>
          <p:nvCxnSpPr>
            <p:cNvPr id="8" name="Connector 7"/>
            <p:cNvCxnSpPr/>
            <p:nvPr/>
          </p:nvCxnSpPr>
          <p:spPr>
            <a:xfrm>
              <a:off x="2322576" y="1508760"/>
              <a:ext cx="256032" cy="0"/>
            </a:xfrm>
            <a:prstGeom prst="line">
              <a:avLst/>
            </a:prstGeom>
            <a:ln w="25400">
              <a:solidFill>
                <a:srgbClr val="6E655C"/>
              </a:solidFill>
              <a:tailEnd type="triangle"/>
            </a:ln>
          </p:spPr>
        </p:cxnSp>
        <p:sp>
          <p:nvSpPr>
            <p:cNvPr id="9" name="Rounded Rectangle 8"/>
            <p:cNvSpPr/>
            <p:nvPr/>
          </p:nvSpPr>
          <p:spPr>
            <a:xfrm>
              <a:off x="2578608" y="1188720"/>
              <a:ext cx="1865376" cy="64008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Static channel backup saved once</a:t>
              </a:r>
            </a:p>
          </p:txBody>
        </p:sp>
        <p:cxnSp>
          <p:nvCxnSpPr>
            <p:cNvPr id="10" name="Connector 9"/>
            <p:cNvCxnSpPr/>
            <p:nvPr/>
          </p:nvCxnSpPr>
          <p:spPr>
            <a:xfrm>
              <a:off x="4443984" y="1508760"/>
              <a:ext cx="256032" cy="0"/>
            </a:xfrm>
            <a:prstGeom prst="line">
              <a:avLst/>
            </a:prstGeom>
            <a:ln w="25400">
              <a:solidFill>
                <a:srgbClr val="6E655C"/>
              </a:solidFill>
              <a:tailEnd type="triangle"/>
            </a:ln>
          </p:spPr>
        </p:cxnSp>
        <p:sp>
          <p:nvSpPr>
            <p:cNvPr id="11" name="Rounded Rectangle 10"/>
            <p:cNvSpPr/>
            <p:nvPr/>
          </p:nvSpPr>
          <p:spPr>
            <a:xfrm>
              <a:off x="4700016" y="1188720"/>
              <a:ext cx="1865376" cy="64008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Data is lost</a:t>
              </a:r>
            </a:p>
          </p:txBody>
        </p:sp>
        <p:cxnSp>
          <p:nvCxnSpPr>
            <p:cNvPr id="12" name="Connector 11"/>
            <p:cNvCxnSpPr/>
            <p:nvPr/>
          </p:nvCxnSpPr>
          <p:spPr>
            <a:xfrm>
              <a:off x="6565392" y="1508760"/>
              <a:ext cx="256032" cy="0"/>
            </a:xfrm>
            <a:prstGeom prst="line">
              <a:avLst/>
            </a:prstGeom>
            <a:ln w="25400">
              <a:solidFill>
                <a:srgbClr val="6E655C"/>
              </a:solidFill>
              <a:tailEnd type="triangle"/>
            </a:ln>
          </p:spPr>
        </p:cxnSp>
        <p:sp>
          <p:nvSpPr>
            <p:cNvPr id="13" name="Rounded Rectangle 12"/>
            <p:cNvSpPr/>
            <p:nvPr/>
          </p:nvSpPr>
          <p:spPr>
            <a:xfrm>
              <a:off x="6821424" y="1188720"/>
              <a:ext cx="1865376" cy="64008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Backup helps close the channel</a:t>
              </a:r>
            </a:p>
          </p:txBody>
        </p:sp>
      </p:grpSp>
      <p:grpSp>
        <p:nvGrpSpPr>
          <p:cNvPr id="14" name="visual: encrypted wallet backup"/>
          <p:cNvGrpSpPr/>
          <p:nvPr/>
        </p:nvGrpSpPr>
        <p:grpSpPr>
          <a:xfrm>
            <a:off x="457200" y="2103120"/>
            <a:ext cx="8229600" cy="640080"/>
            <a:chOff x="457200" y="2103120"/>
            <a:chExt cx="8229600" cy="640080"/>
          </a:xfrm>
        </p:grpSpPr>
        <p:sp>
          <p:nvSpPr>
            <p:cNvPr id="15" name="Rounded Rectangle 14"/>
            <p:cNvSpPr/>
            <p:nvPr/>
          </p:nvSpPr>
          <p:spPr>
            <a:xfrm>
              <a:off x="457200" y="2103120"/>
              <a:ext cx="1865376" cy="64008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Wallet database: keys, labels, protocol data</a:t>
              </a:r>
            </a:p>
          </p:txBody>
        </p:sp>
        <p:cxnSp>
          <p:nvCxnSpPr>
            <p:cNvPr id="16" name="Connector 15"/>
            <p:cNvCxnSpPr/>
            <p:nvPr/>
          </p:nvCxnSpPr>
          <p:spPr>
            <a:xfrm>
              <a:off x="2322576" y="2423160"/>
              <a:ext cx="256032" cy="0"/>
            </a:xfrm>
            <a:prstGeom prst="line">
              <a:avLst/>
            </a:prstGeom>
            <a:ln w="25400">
              <a:solidFill>
                <a:srgbClr val="6E655C"/>
              </a:solidFill>
              <a:tailEnd type="triangle"/>
            </a:ln>
          </p:spPr>
        </p:cxnSp>
        <p:sp>
          <p:nvSpPr>
            <p:cNvPr id="17" name="Rounded Rectangle 16"/>
            <p:cNvSpPr/>
            <p:nvPr/>
          </p:nvSpPr>
          <p:spPr>
            <a:xfrm>
              <a:off x="2578608" y="2103120"/>
              <a:ext cx="1865376" cy="64008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Encrypted with a key from the seed</a:t>
              </a:r>
            </a:p>
          </p:txBody>
        </p:sp>
        <p:cxnSp>
          <p:nvCxnSpPr>
            <p:cNvPr id="18" name="Connector 17"/>
            <p:cNvCxnSpPr/>
            <p:nvPr/>
          </p:nvCxnSpPr>
          <p:spPr>
            <a:xfrm>
              <a:off x="4443984" y="2423160"/>
              <a:ext cx="256032" cy="0"/>
            </a:xfrm>
            <a:prstGeom prst="line">
              <a:avLst/>
            </a:prstGeom>
            <a:ln w="25400">
              <a:solidFill>
                <a:srgbClr val="6E655C"/>
              </a:solidFill>
              <a:tailEnd type="triangle"/>
            </a:ln>
          </p:spPr>
        </p:cxnSp>
        <p:sp>
          <p:nvSpPr>
            <p:cNvPr id="19" name="Rounded Rectangle 18"/>
            <p:cNvSpPr/>
            <p:nvPr/>
          </p:nvSpPr>
          <p:spPr>
            <a:xfrm>
              <a:off x="4700016" y="2103120"/>
              <a:ext cx="1865376" cy="64008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Stored copy</a:t>
              </a:r>
            </a:p>
          </p:txBody>
        </p:sp>
        <p:cxnSp>
          <p:nvCxnSpPr>
            <p:cNvPr id="20" name="Connector 19"/>
            <p:cNvCxnSpPr/>
            <p:nvPr/>
          </p:nvCxnSpPr>
          <p:spPr>
            <a:xfrm>
              <a:off x="6565392" y="2423160"/>
              <a:ext cx="256032" cy="0"/>
            </a:xfrm>
            <a:prstGeom prst="line">
              <a:avLst/>
            </a:prstGeom>
            <a:ln w="25400">
              <a:solidFill>
                <a:srgbClr val="6E655C"/>
              </a:solidFill>
              <a:tailEnd type="triangle"/>
            </a:ln>
          </p:spPr>
        </p:cxnSp>
        <p:sp>
          <p:nvSpPr>
            <p:cNvPr id="21" name="Rounded Rectangle 20"/>
            <p:cNvSpPr/>
            <p:nvPr/>
          </p:nvSpPr>
          <p:spPr>
            <a:xfrm>
              <a:off x="6821424" y="2103120"/>
              <a:ext cx="1865376" cy="64008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Restore: seed decrypts it</a:t>
              </a:r>
            </a:p>
          </p:txBody>
        </p:sp>
      </p:grpSp>
      <p:sp>
        <p:nvSpPr>
          <p:cNvPr id="22" name="card"/>
          <p:cNvSpPr/>
          <p:nvPr/>
        </p:nvSpPr>
        <p:spPr>
          <a:xfrm>
            <a:off x="457200" y="2971800"/>
            <a:ext cx="4059936" cy="1371600"/>
          </a:xfrm>
          <a:prstGeom prst="roundRect">
            <a:avLst>
              <a:gd name="adj" fmla="val 5333"/>
            </a:avLst>
          </a:prstGeom>
          <a:solidFill>
            <a:srgbClr val="F2ECE1"/>
          </a:solidFill>
          <a:ln>
            <a:solidFill>
              <a:srgbClr val="F2ECE1"/>
            </a:solidFill>
          </a:ln>
        </p:spPr>
        <p:txBody>
          <a:bodyPr rtlCol="0" anchor="ctr"/>
          <a:lstStyle/>
          <a:p>
            <a:pPr algn="ctr"/>
          </a:p>
        </p:txBody>
      </p:sp>
      <p:sp>
        <p:nvSpPr>
          <p:cNvPr id="23" name="card heading"/>
          <p:cNvSpPr txBox="1"/>
          <p:nvPr/>
        </p:nvSpPr>
        <p:spPr>
          <a:xfrm>
            <a:off x="548640" y="3017520"/>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Static channel backups</a:t>
            </a:r>
          </a:p>
        </p:txBody>
      </p:sp>
      <p:sp>
        <p:nvSpPr>
          <p:cNvPr id="24" name="card text"/>
          <p:cNvSpPr txBox="1"/>
          <p:nvPr/>
        </p:nvSpPr>
        <p:spPr>
          <a:xfrm>
            <a:off x="548640" y="3300984"/>
            <a:ext cx="3877056" cy="1005840"/>
          </a:xfrm>
          <a:prstGeom prst="rect">
            <a:avLst/>
          </a:prstGeom>
          <a:noFill/>
        </p:spPr>
        <p:txBody>
          <a:bodyPr wrap="square" anchor="t" lIns="45720" rIns="45720" tIns="36576" bIns="36576">
            <a:spAutoFit/>
          </a:bodyPr>
          <a:lstStyle/>
          <a:p>
            <a:pPr algn="l"/>
            <a:r>
              <a:rPr sz="1250" b="0" i="0">
                <a:solidFill>
                  <a:srgbClr val="2B2622"/>
                </a:solidFill>
                <a:latin typeface="Calibri"/>
              </a:rPr>
              <a:t>A one-time backup for the off-chain pool; it cannot guarantee results.</a:t>
            </a:r>
          </a:p>
        </p:txBody>
      </p:sp>
      <p:sp>
        <p:nvSpPr>
          <p:cNvPr id="25" name="card"/>
          <p:cNvSpPr/>
          <p:nvPr/>
        </p:nvSpPr>
        <p:spPr>
          <a:xfrm>
            <a:off x="4626864" y="2971800"/>
            <a:ext cx="4059936" cy="1371600"/>
          </a:xfrm>
          <a:prstGeom prst="roundRect">
            <a:avLst>
              <a:gd name="adj" fmla="val 5333"/>
            </a:avLst>
          </a:prstGeom>
          <a:solidFill>
            <a:srgbClr val="F2ECE1"/>
          </a:solidFill>
          <a:ln>
            <a:solidFill>
              <a:srgbClr val="F2ECE1"/>
            </a:solidFill>
          </a:ln>
        </p:spPr>
        <p:txBody>
          <a:bodyPr rtlCol="0" anchor="ctr"/>
          <a:lstStyle/>
          <a:p>
            <a:pPr algn="ctr"/>
          </a:p>
        </p:txBody>
      </p:sp>
      <p:sp>
        <p:nvSpPr>
          <p:cNvPr id="26" name="card heading"/>
          <p:cNvSpPr txBox="1"/>
          <p:nvPr/>
        </p:nvSpPr>
        <p:spPr>
          <a:xfrm>
            <a:off x="4718304" y="3017520"/>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Encrypted wallet backup</a:t>
            </a:r>
          </a:p>
        </p:txBody>
      </p:sp>
      <p:sp>
        <p:nvSpPr>
          <p:cNvPr id="27" name="card text"/>
          <p:cNvSpPr txBox="1"/>
          <p:nvPr/>
        </p:nvSpPr>
        <p:spPr>
          <a:xfrm>
            <a:off x="4718304" y="3300984"/>
            <a:ext cx="3877056" cy="1005840"/>
          </a:xfrm>
          <a:prstGeom prst="rect">
            <a:avLst/>
          </a:prstGeom>
          <a:noFill/>
        </p:spPr>
        <p:txBody>
          <a:bodyPr wrap="square" anchor="t" lIns="45720" rIns="45720" tIns="36576" bIns="36576">
            <a:spAutoFit/>
          </a:bodyPr>
          <a:lstStyle/>
          <a:p>
            <a:pPr algn="l"/>
            <a:r>
              <a:rPr sz="1250" b="0" i="0">
                <a:solidFill>
                  <a:srgbClr val="2B2622"/>
                </a:solidFill>
                <a:latin typeface="Calibri"/>
              </a:rPr>
              <a:t>Complete backups made often and automatically, encrypted by a key derived from the seed.</a:t>
            </a:r>
          </a:p>
        </p:txBody>
      </p:sp>
      <p:sp>
        <p:nvSpPr>
          <p:cNvPr id="28"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Keys come back from the seed; the rest needs its own copy.</a:t>
            </a:r>
          </a:p>
        </p:txBody>
      </p:sp>
      <p:sp>
        <p:nvSpPr>
          <p:cNvPr id="2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55 / 68</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The 200,000 BTC in a forgotten wallet file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true story, told as who, what, when, where, why and how</a:t>
            </a:r>
          </a:p>
        </p:txBody>
      </p:sp>
      <p:pic>
        <p:nvPicPr>
          <p:cNvPr id="5" name="picture" descr="photo_mtgox_logo.png"/>
          <p:cNvPicPr>
            <a:picLocks noChangeAspect="1"/>
          </p:cNvPicPr>
          <p:nvPr/>
        </p:nvPicPr>
        <p:blipFill>
          <a:blip r:embed="rId3"/>
          <a:stretch>
            <a:fillRect/>
          </a:stretch>
        </p:blipFill>
        <p:spPr>
          <a:xfrm>
            <a:off x="457200" y="2023967"/>
            <a:ext cx="3017520" cy="1401889"/>
          </a:xfrm>
          <a:prstGeom prst="rect">
            <a:avLst/>
          </a:prstGeom>
        </p:spPr>
      </p:pic>
      <p:sp>
        <p:nvSpPr>
          <p:cNvPr id="6" name="credit"/>
          <p:cNvSpPr txBox="1"/>
          <p:nvPr/>
        </p:nvSpPr>
        <p:spPr>
          <a:xfrm>
            <a:off x="457200" y="4288536"/>
            <a:ext cx="3017520" cy="329184"/>
          </a:xfrm>
          <a:prstGeom prst="rect">
            <a:avLst/>
          </a:prstGeom>
          <a:noFill/>
        </p:spPr>
        <p:txBody>
          <a:bodyPr wrap="square" anchor="t" lIns="45720" rIns="45720" tIns="36576" bIns="36576">
            <a:spAutoFit/>
          </a:bodyPr>
          <a:lstStyle/>
          <a:p>
            <a:pPr algn="ctr"/>
            <a:r>
              <a:rPr sz="900" b="0" i="1">
                <a:solidFill>
                  <a:srgbClr val="6E655C"/>
                </a:solidFill>
                <a:latin typeface="Calibri"/>
              </a:rPr>
              <a:t>Mt. Gox logo - author unknown, public domain</a:t>
            </a:r>
          </a:p>
        </p:txBody>
      </p:sp>
      <p:sp>
        <p:nvSpPr>
          <p:cNvPr id="7" name="5N1K row"/>
          <p:cNvSpPr/>
          <p:nvPr/>
        </p:nvSpPr>
        <p:spPr>
          <a:xfrm>
            <a:off x="3611880" y="1152144"/>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8" name="5N1K label"/>
          <p:cNvSpPr txBox="1"/>
          <p:nvPr/>
        </p:nvSpPr>
        <p:spPr>
          <a:xfrm>
            <a:off x="3675887" y="1152144"/>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WHO</a:t>
            </a:r>
          </a:p>
        </p:txBody>
      </p:sp>
      <p:sp>
        <p:nvSpPr>
          <p:cNvPr id="9" name="5N1K text"/>
          <p:cNvSpPr txBox="1"/>
          <p:nvPr/>
        </p:nvSpPr>
        <p:spPr>
          <a:xfrm>
            <a:off x="4389120" y="1152144"/>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Mark Karpeles, chief executive of Mt. Gox; reporter Simon Sharwood, The Register.</a:t>
            </a:r>
          </a:p>
        </p:txBody>
      </p:sp>
      <p:sp>
        <p:nvSpPr>
          <p:cNvPr id="10" name="5N1K row"/>
          <p:cNvSpPr/>
          <p:nvPr/>
        </p:nvSpPr>
        <p:spPr>
          <a:xfrm>
            <a:off x="3611880" y="1645920"/>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1" name="5N1K label"/>
          <p:cNvSpPr txBox="1"/>
          <p:nvPr/>
        </p:nvSpPr>
        <p:spPr>
          <a:xfrm>
            <a:off x="3675887" y="1645920"/>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WHAT</a:t>
            </a:r>
          </a:p>
        </p:txBody>
      </p:sp>
      <p:sp>
        <p:nvSpPr>
          <p:cNvPr id="12" name="5N1K text"/>
          <p:cNvSpPr txBox="1"/>
          <p:nvPr/>
        </p:nvSpPr>
        <p:spPr>
          <a:xfrm>
            <a:off x="4389120" y="1645920"/>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Found about 200,000 BTC in an old-format wallet file.</a:t>
            </a:r>
          </a:p>
        </p:txBody>
      </p:sp>
      <p:sp>
        <p:nvSpPr>
          <p:cNvPr id="13" name="5N1K row"/>
          <p:cNvSpPr/>
          <p:nvPr/>
        </p:nvSpPr>
        <p:spPr>
          <a:xfrm>
            <a:off x="3611880" y="2139696"/>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4" name="5N1K label"/>
          <p:cNvSpPr txBox="1"/>
          <p:nvPr/>
        </p:nvSpPr>
        <p:spPr>
          <a:xfrm>
            <a:off x="3675887" y="2139696"/>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WHEN</a:t>
            </a:r>
          </a:p>
        </p:txBody>
      </p:sp>
      <p:sp>
        <p:nvSpPr>
          <p:cNvPr id="15" name="5N1K text"/>
          <p:cNvSpPr txBox="1"/>
          <p:nvPr/>
        </p:nvSpPr>
        <p:spPr>
          <a:xfrm>
            <a:off x="4389120" y="2139696"/>
            <a:ext cx="4251960" cy="457200"/>
          </a:xfrm>
          <a:prstGeom prst="rect">
            <a:avLst/>
          </a:prstGeom>
          <a:noFill/>
        </p:spPr>
        <p:txBody>
          <a:bodyPr wrap="square" anchor="ctr" lIns="45720" rIns="45720" tIns="36576" bIns="36576">
            <a:spAutoFit/>
          </a:bodyPr>
          <a:lstStyle/>
          <a:p>
            <a:pPr algn="l"/>
            <a:r>
              <a:rPr sz="1100" b="1" i="0">
                <a:solidFill>
                  <a:srgbClr val="2F6D62"/>
                </a:solidFill>
                <a:latin typeface="Calibri"/>
              </a:rPr>
              <a:t>2014-03-21</a:t>
            </a:r>
            <a:r>
              <a:rPr sz="1100" b="0" i="0">
                <a:solidFill>
                  <a:srgbClr val="2B2622"/>
                </a:solidFill>
                <a:latin typeface="Calibri"/>
              </a:rPr>
              <a:t> - three weeks after the bankruptcy filing.</a:t>
            </a:r>
          </a:p>
        </p:txBody>
      </p:sp>
      <p:sp>
        <p:nvSpPr>
          <p:cNvPr id="16" name="5N1K row"/>
          <p:cNvSpPr/>
          <p:nvPr/>
        </p:nvSpPr>
        <p:spPr>
          <a:xfrm>
            <a:off x="3611880" y="2633472"/>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7" name="5N1K label"/>
          <p:cNvSpPr txBox="1"/>
          <p:nvPr/>
        </p:nvSpPr>
        <p:spPr>
          <a:xfrm>
            <a:off x="3675887" y="2633472"/>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WHERE</a:t>
            </a:r>
          </a:p>
        </p:txBody>
      </p:sp>
      <p:sp>
        <p:nvSpPr>
          <p:cNvPr id="18" name="5N1K text"/>
          <p:cNvSpPr txBox="1"/>
          <p:nvPr/>
        </p:nvSpPr>
        <p:spPr>
          <a:xfrm>
            <a:off x="4389120" y="2633472"/>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An old-format wallet file the exchange thought held nothing.</a:t>
            </a:r>
          </a:p>
        </p:txBody>
      </p:sp>
      <p:sp>
        <p:nvSpPr>
          <p:cNvPr id="19" name="5N1K row"/>
          <p:cNvSpPr/>
          <p:nvPr/>
        </p:nvSpPr>
        <p:spPr>
          <a:xfrm>
            <a:off x="3611880" y="3127248"/>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20" name="5N1K label"/>
          <p:cNvSpPr txBox="1"/>
          <p:nvPr/>
        </p:nvSpPr>
        <p:spPr>
          <a:xfrm>
            <a:off x="3675887" y="3127248"/>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WHY</a:t>
            </a:r>
          </a:p>
        </p:txBody>
      </p:sp>
      <p:sp>
        <p:nvSpPr>
          <p:cNvPr id="21" name="5N1K text"/>
          <p:cNvSpPr txBox="1"/>
          <p:nvPr/>
        </p:nvSpPr>
        <p:spPr>
          <a:xfrm>
            <a:off x="4389120" y="3127248"/>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The company believed its old wallets were empty and had not checked them.</a:t>
            </a:r>
          </a:p>
        </p:txBody>
      </p:sp>
      <p:sp>
        <p:nvSpPr>
          <p:cNvPr id="22" name="5N1K row"/>
          <p:cNvSpPr/>
          <p:nvPr/>
        </p:nvSpPr>
        <p:spPr>
          <a:xfrm>
            <a:off x="3611880" y="3621024"/>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23" name="5N1K label"/>
          <p:cNvSpPr txBox="1"/>
          <p:nvPr/>
        </p:nvSpPr>
        <p:spPr>
          <a:xfrm>
            <a:off x="3675887" y="3621024"/>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HOW</a:t>
            </a:r>
          </a:p>
        </p:txBody>
      </p:sp>
      <p:sp>
        <p:nvSpPr>
          <p:cNvPr id="24" name="5N1K text"/>
          <p:cNvSpPr txBox="1"/>
          <p:nvPr/>
        </p:nvSpPr>
        <p:spPr>
          <a:xfrm>
            <a:off x="4389120" y="3621024"/>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A file made by software two generations older still held spendable keys.</a:t>
            </a:r>
          </a:p>
        </p:txBody>
      </p:sp>
      <p:sp>
        <p:nvSpPr>
          <p:cNvPr id="25" name="live link"/>
          <p:cNvSpPr txBox="1"/>
          <p:nvPr/>
        </p:nvSpPr>
        <p:spPr>
          <a:xfrm>
            <a:off x="3611880" y="4133087"/>
            <a:ext cx="5074920" cy="274320"/>
          </a:xfrm>
          <a:prstGeom prst="rect">
            <a:avLst/>
          </a:prstGeom>
          <a:noFill/>
        </p:spPr>
        <p:txBody>
          <a:bodyPr wrap="square" anchor="t" lIns="45720" rIns="45720" tIns="36576" bIns="36576">
            <a:spAutoFit/>
          </a:bodyPr>
          <a:lstStyle/>
          <a:p>
            <a:pPr algn="l"/>
            <a:r>
              <a:rPr sz="1200" b="1" i="0">
                <a:solidFill>
                  <a:srgbClr val="D97A14"/>
                </a:solidFill>
                <a:latin typeface="Calibri"/>
              </a:rPr>
              <a:t>READ  </a:t>
            </a:r>
            <a:r>
              <a:rPr sz="1200" b="1" i="0">
                <a:solidFill>
                  <a:srgbClr val="2F6D62"/>
                </a:solidFill>
                <a:latin typeface="Calibri"/>
                <a:hlinkClick r:id="rId4"/>
              </a:rPr>
              <a:t>MtGox finds 200,000 Bitcoin (The Register)</a:t>
            </a:r>
            <a:r>
              <a:rPr sz="1050" b="0" i="0">
                <a:solidFill>
                  <a:srgbClr val="6E655C"/>
                </a:solidFill>
                <a:latin typeface="Calibri"/>
              </a:rPr>
              <a:t>   </a:t>
            </a:r>
          </a:p>
        </p:txBody>
      </p:sp>
      <p:sp>
        <p:nvSpPr>
          <p:cNvPr id="26"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Wallet files hold keys forever - label, test, and never discard them blindly</a:t>
            </a:r>
          </a:p>
        </p:txBody>
      </p:sp>
      <p:sp>
        <p:nvSpPr>
          <p:cNvPr id="2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56 / 68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7: Deploying and testing</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Keys at work, and a backup you have tested</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Using an Extended Public Key on a Web Store</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extended public key deployment</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an xpub placed where it makes addresses</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payment processor</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software that turns an xpub into a working shop</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gap limit</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how many unused addresses in a row a scan checks</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cold storage</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keys kept where no connected computer can read them</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written backup</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recovery code written on a physical medium</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testing a backup</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restore drill before you need it</a:t>
            </a:r>
          </a:p>
        </p:txBody>
      </p:sp>
      <p:graphicFrame>
        <p:nvGraphicFramePr>
          <p:cNvPr id="29" name="visual: how the concepts fit"/>
          <p:cNvGraphicFramePr>
            <a:graphicFrameLocks noGrp="1"/>
          </p:cNvGraphicFramePr>
          <p:nvPr/>
        </p:nvGraphicFramePr>
        <p:xfrm>
          <a:off x="6172200" y="1188720"/>
          <a:ext cx="2514600" cy="22860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Extended public key on the shop</a:t>
                      </a:r>
                    </a:p>
                  </a:txBody>
                  <a:tcPr marL="64008" marR="64008" marT="18288" marB="18288" anchor="ctr">
                    <a:solidFill>
                      <a:srgbClr val="F2ECE1"/>
                    </a:solidFill>
                  </a:tcPr>
                </a:tc>
              </a:tr>
              <a:tr h="457200">
                <a:tc>
                  <a:txBody>
                    <a:bodyPr wrap="square"/>
                    <a:lstStyle/>
                    <a:p>
                      <a:r>
                        <a:rPr sz="1150" b="0">
                          <a:solidFill>
                            <a:srgbClr val="2B2622"/>
                          </a:solidFill>
                          <a:latin typeface="Calibri"/>
                        </a:rPr>
                        <a:t>2.  Customer pays</a:t>
                      </a:r>
                    </a:p>
                  </a:txBody>
                  <a:tcPr marL="64008" marR="64008" marT="18288" marB="18288" anchor="ctr">
                    <a:solidFill>
                      <a:srgbClr val="FFFFFF"/>
                    </a:solidFill>
                  </a:tcPr>
                </a:tc>
              </a:tr>
              <a:tr h="457200">
                <a:tc>
                  <a:txBody>
                    <a:bodyPr wrap="square"/>
                    <a:lstStyle/>
                    <a:p>
                      <a:r>
                        <a:rPr sz="1150" b="0">
                          <a:solidFill>
                            <a:srgbClr val="2B2622"/>
                          </a:solidFill>
                          <a:latin typeface="Calibri"/>
                        </a:rPr>
                        <a:t>3.  Keys stay cold</a:t>
                      </a:r>
                    </a:p>
                  </a:txBody>
                  <a:tcPr marL="64008" marR="64008" marT="18288" marB="18288" anchor="ctr">
                    <a:solidFill>
                      <a:srgbClr val="F2ECE1"/>
                    </a:solidFill>
                  </a:tcPr>
                </a:tc>
              </a:tr>
              <a:tr h="457200">
                <a:tc>
                  <a:txBody>
                    <a:bodyPr wrap="square"/>
                    <a:lstStyle/>
                    <a:p>
                      <a:r>
                        <a:rPr sz="1150" b="0">
                          <a:solidFill>
                            <a:srgbClr val="2B2622"/>
                          </a:solidFill>
                          <a:latin typeface="Calibri"/>
                        </a:rPr>
                        <a:t>4.  Restore drill</a:t>
                      </a:r>
                    </a:p>
                  </a:txBody>
                  <a:tcPr marL="64008" marR="64008" marT="18288" marB="18288" anchor="ctr">
                    <a:solidFill>
                      <a:srgbClr val="FFFFFF"/>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57 / 68</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24: A web shop that holds no private key</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acct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parse_extended</a:t>
            </a:r>
            <a:r>
              <a:rPr sz="1200" b="0" i="0">
                <a:solidFill>
                  <a:srgbClr val="E6EDF3"/>
                </a:solidFill>
                <a:latin typeface="Courier New"/>
              </a:rPr>
              <a:t>(</a:t>
            </a:r>
            <a:r>
              <a:rPr sz="1200" b="0" i="0">
                <a:solidFill>
                  <a:srgbClr val="E6EDF3"/>
                </a:solidFill>
                <a:latin typeface="Courier New"/>
              </a:rPr>
              <a:t>BOOK_XPUB</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decompress</a:t>
            </a:r>
            <a:r>
              <a:rPr sz="1200" b="0" i="0">
                <a:solidFill>
                  <a:srgbClr val="E6EDF3"/>
                </a:solidFill>
                <a:latin typeface="Courier New"/>
              </a:rPr>
              <a:t>(</a:t>
            </a:r>
            <a:r>
              <a:rPr sz="1200" b="0" i="0">
                <a:solidFill>
                  <a:srgbClr val="E6EDF3"/>
                </a:solidFill>
                <a:latin typeface="Courier New"/>
              </a:rPr>
              <a:t>acct</a:t>
            </a:r>
            <a:r>
              <a:rPr sz="1200" b="0" i="0">
                <a:solidFill>
                  <a:srgbClr val="E6EDF3"/>
                </a:solidFill>
                <a:latin typeface="Courier New"/>
              </a:rPr>
              <a:t>[</a:t>
            </a:r>
            <a:r>
              <a:rPr sz="1200" b="0" i="0">
                <a:solidFill>
                  <a:srgbClr val="7EE787"/>
                </a:solidFill>
                <a:latin typeface="Courier New"/>
              </a:rPr>
              <a:t>"key"</a:t>
            </a:r>
            <a:r>
              <a:rPr sz="1200" b="0" i="0">
                <a:solidFill>
                  <a:srgbClr val="E6EDF3"/>
                </a:solidFill>
                <a:latin typeface="Courier New"/>
              </a:rPr>
              <a:t>]</a:t>
            </a:r>
            <a:r>
              <a:rPr sz="1200" b="0" i="0">
                <a:solidFill>
                  <a:srgbClr val="E6EDF3"/>
                </a:solidFill>
                <a:latin typeface="Courier New"/>
              </a:rPr>
              <a:t>)</a:t>
            </a:r>
          </a:p>
        </p:txBody>
      </p:sp>
      <p:sp>
        <p:nvSpPr>
          <p:cNvPr id="8" name="code"/>
          <p:cNvSpPr/>
          <p:nvPr/>
        </p:nvSpPr>
        <p:spPr>
          <a:xfrm>
            <a:off x="365760" y="1683004"/>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for</a:t>
            </a:r>
            <a:r>
              <a:rPr sz="1200" b="0" i="0">
                <a:solidFill>
                  <a:srgbClr val="E6EDF3"/>
                </a:solidFill>
                <a:latin typeface="Courier New"/>
              </a:rPr>
              <a:t> </a:t>
            </a:r>
            <a:r>
              <a:rPr sz="1200" b="0" i="0">
                <a:solidFill>
                  <a:srgbClr val="E6EDF3"/>
                </a:solidFill>
                <a:latin typeface="Courier New"/>
              </a:rPr>
              <a:t>i</a:t>
            </a:r>
            <a:r>
              <a:rPr sz="1200" b="0" i="0">
                <a:solidFill>
                  <a:srgbClr val="E6EDF3"/>
                </a:solidFill>
                <a:latin typeface="Courier New"/>
              </a:rPr>
              <a:t> </a:t>
            </a:r>
            <a:r>
              <a:rPr sz="1200" b="0" i="0">
                <a:solidFill>
                  <a:srgbClr val="FFA657"/>
                </a:solidFill>
                <a:latin typeface="Courier New"/>
              </a:rPr>
              <a:t>in</a:t>
            </a:r>
            <a:r>
              <a:rPr sz="1200" b="0" i="0">
                <a:solidFill>
                  <a:srgbClr val="E6EDF3"/>
                </a:solidFill>
                <a:latin typeface="Courier New"/>
              </a:rPr>
              <a:t> </a:t>
            </a:r>
            <a:r>
              <a:rPr sz="1200" b="0" i="0">
                <a:solidFill>
                  <a:srgbClr val="FFA657"/>
                </a:solidFill>
                <a:latin typeface="Courier New"/>
              </a:rPr>
              <a:t>range</a:t>
            </a:r>
            <a:r>
              <a:rPr sz="1200" b="0" i="0">
                <a:solidFill>
                  <a:srgbClr val="E6EDF3"/>
                </a:solidFill>
                <a:latin typeface="Courier New"/>
              </a:rPr>
              <a:t>(</a:t>
            </a:r>
            <a:r>
              <a:rPr sz="1200" b="0" i="0">
                <a:solidFill>
                  <a:srgbClr val="79C0FF"/>
                </a:solidFill>
                <a:latin typeface="Courier New"/>
              </a:rPr>
              <a:t>3</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E6EDF3"/>
                </a:solidFill>
                <a:latin typeface="Courier New"/>
              </a:rPr>
              <a:t>Ki</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ckd_pub</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acct</a:t>
            </a:r>
            <a:r>
              <a:rPr sz="1200" b="0" i="0">
                <a:solidFill>
                  <a:srgbClr val="E6EDF3"/>
                </a:solidFill>
                <a:latin typeface="Courier New"/>
              </a:rPr>
              <a:t>[</a:t>
            </a:r>
            <a:r>
              <a:rPr sz="1200" b="0" i="0">
                <a:solidFill>
                  <a:srgbClr val="7EE787"/>
                </a:solidFill>
                <a:latin typeface="Courier New"/>
              </a:rPr>
              <a:t>"chain"</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i</a:t>
            </a:r>
            <a:r>
              <a:rPr sz="1200" b="0" i="0">
                <a:solidFill>
                  <a:srgbClr val="E6EDF3"/>
                </a:solidFill>
                <a:latin typeface="Courier New"/>
              </a:rPr>
              <a:t>)</a:t>
            </a:r>
          </a:p>
        </p:txBody>
      </p:sp>
      <p:sp>
        <p:nvSpPr>
          <p:cNvPr id="10" name="code"/>
          <p:cNvSpPr/>
          <p:nvPr/>
        </p:nvSpPr>
        <p:spPr>
          <a:xfrm>
            <a:off x="365760" y="2268727"/>
            <a:ext cx="4727448" cy="704088"/>
          </a:xfrm>
          <a:prstGeom prst="roundRect">
            <a:avLst>
              <a:gd name="adj" fmla="val 1038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i</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p2wpkh_address</a:t>
            </a:r>
            <a:r>
              <a:rPr sz="1200" b="0" i="0">
                <a:solidFill>
                  <a:srgbClr val="E6EDF3"/>
                </a:solidFill>
                <a:latin typeface="Courier New"/>
              </a:rPr>
              <a:t>(</a:t>
            </a:r>
            <a:r>
              <a:rPr sz="1200" b="0" i="0">
                <a:solidFill>
                  <a:srgbClr val="E6EDF3"/>
                </a:solidFill>
                <a:latin typeface="Courier New"/>
              </a:rPr>
              <a:t>ser_p</a:t>
            </a:r>
            <a:r>
              <a:rPr sz="1200" b="0" i="0">
                <a:solidFill>
                  <a:srgbClr val="E6EDF3"/>
                </a:solidFill>
                <a:latin typeface="Courier New"/>
              </a:rPr>
              <a:t>(</a:t>
            </a:r>
            <a:r>
              <a:rPr sz="1200" b="0" i="0">
                <a:solidFill>
                  <a:srgbClr val="E6EDF3"/>
                </a:solidFill>
                <a:latin typeface="Courier New"/>
              </a:rPr>
              <a:t>Ki</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Extended public key on a web store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Using an Extended Public Key on a Web Store</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The shop is given only an extended public key.</a:t>
            </a:r>
          </a:p>
        </p:txBody>
      </p:sp>
      <p:sp>
        <p:nvSpPr>
          <p:cNvPr id="9" name="explanation"/>
          <p:cNvSpPr/>
          <p:nvPr/>
        </p:nvSpPr>
        <p:spPr>
          <a:xfrm>
            <a:off x="5074920" y="1683004"/>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For each customer it derives the next public key.</a:t>
            </a:r>
          </a:p>
        </p:txBody>
      </p:sp>
      <p:sp>
        <p:nvSpPr>
          <p:cNvPr id="11" name="explanation"/>
          <p:cNvSpPr/>
          <p:nvPr/>
        </p:nvSpPr>
        <p:spPr>
          <a:xfrm>
            <a:off x="5074920" y="2268727"/>
            <a:ext cx="3657600" cy="704088"/>
          </a:xfrm>
          <a:prstGeom prst="roundRect">
            <a:avLst>
              <a:gd name="adj" fmla="val 1038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A fresh address per customer, and no private key anywhere on the server.</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1114552"/>
        </p:xfrm>
        <a:graphic>
          <a:graphicData uri="http://schemas.openxmlformats.org/drawingml/2006/table">
            <a:tbl>
              <a:tblPr firstRow="1" bandRow="1">
                <a:tableStyleId>{5C22544A-7EE6-4342-B048-85BDC9FD1C3A}</a:tableStyleId>
              </a:tblPr>
              <a:tblGrid>
                <a:gridCol w="1463040"/>
                <a:gridCol w="6949440"/>
              </a:tblGrid>
              <a:tr h="278638">
                <a:tc>
                  <a:txBody>
                    <a:bodyPr wrap="square"/>
                    <a:lstStyle/>
                    <a:p>
                      <a:r>
                        <a:rPr sz="1200" b="1">
                          <a:solidFill>
                            <a:srgbClr val="FFFFFF"/>
                          </a:solidFill>
                          <a:latin typeface="Calibri"/>
                        </a:rPr>
                        <a:t>Customer</a:t>
                      </a:r>
                    </a:p>
                  </a:txBody>
                  <a:tcPr marL="64008" marR="64008" marT="18288" marB="18288" anchor="ctr">
                    <a:solidFill>
                      <a:srgbClr val="2B2622"/>
                    </a:solidFill>
                  </a:tcPr>
                </a:tc>
                <a:tc>
                  <a:txBody>
                    <a:bodyPr wrap="square"/>
                    <a:lstStyle/>
                    <a:p>
                      <a:r>
                        <a:rPr sz="1200" b="1">
                          <a:solidFill>
                            <a:srgbClr val="FFFFFF"/>
                          </a:solidFill>
                          <a:latin typeface="Calibri"/>
                        </a:rPr>
                        <a:t>Fresh address made from the xpub</a:t>
                      </a:r>
                    </a:p>
                  </a:txBody>
                  <a:tcPr marL="64008" marR="64008" marT="18288" marB="18288" anchor="ctr">
                    <a:solidFill>
                      <a:srgbClr val="2B2622"/>
                    </a:solidFill>
                  </a:tcPr>
                </a:tc>
              </a:tr>
              <a:tr h="278638">
                <a:tc>
                  <a:txBody>
                    <a:bodyPr wrap="square"/>
                    <a:lstStyle/>
                    <a:p>
                      <a:r>
                        <a:rPr sz="1200" b="0">
                          <a:solidFill>
                            <a:srgbClr val="2B2622"/>
                          </a:solidFill>
                          <a:latin typeface="Calibri"/>
                        </a:rPr>
                        <a:t>0</a:t>
                      </a:r>
                    </a:p>
                  </a:txBody>
                  <a:tcPr marL="64008" marR="64008" marT="18288" marB="18288" anchor="ctr">
                    <a:solidFill>
                      <a:srgbClr val="F2ECE1"/>
                    </a:solidFill>
                  </a:tcPr>
                </a:tc>
                <a:tc>
                  <a:txBody>
                    <a:bodyPr wrap="square"/>
                    <a:lstStyle/>
                    <a:p>
                      <a:r>
                        <a:rPr sz="1200" b="0">
                          <a:solidFill>
                            <a:srgbClr val="2B2622"/>
                          </a:solidFill>
                          <a:latin typeface="Courier New"/>
                        </a:rPr>
                        <a:t>bc1qv32edz2zpvhmmjkd7vq2wcnhacys0pku9vh5jw</a:t>
                      </a:r>
                    </a:p>
                  </a:txBody>
                  <a:tcPr marL="64008" marR="64008" marT="18288" marB="18288" anchor="ctr">
                    <a:solidFill>
                      <a:srgbClr val="F2ECE1"/>
                    </a:solidFill>
                  </a:tcPr>
                </a:tc>
              </a:tr>
              <a:tr h="278638">
                <a:tc>
                  <a:txBody>
                    <a:bodyPr wrap="square"/>
                    <a:lstStyle/>
                    <a:p>
                      <a:r>
                        <a:rPr sz="1200" b="0">
                          <a:solidFill>
                            <a:srgbClr val="2B2622"/>
                          </a:solidFill>
                          <a:latin typeface="Calibri"/>
                        </a:rPr>
                        <a:t>1</a:t>
                      </a:r>
                    </a:p>
                  </a:txBody>
                  <a:tcPr marL="64008" marR="64008" marT="18288" marB="18288" anchor="ctr">
                    <a:solidFill>
                      <a:srgbClr val="FFFFFF"/>
                    </a:solidFill>
                  </a:tcPr>
                </a:tc>
                <a:tc>
                  <a:txBody>
                    <a:bodyPr wrap="square"/>
                    <a:lstStyle/>
                    <a:p>
                      <a:r>
                        <a:rPr sz="1200" b="0">
                          <a:solidFill>
                            <a:srgbClr val="2B2622"/>
                          </a:solidFill>
                          <a:latin typeface="Courier New"/>
                        </a:rPr>
                        <a:t>bc1qtqvqy3kyl5y6dmvk65p7e966k8ycyhwg9ypw3p</a:t>
                      </a:r>
                    </a:p>
                  </a:txBody>
                  <a:tcPr marL="64008" marR="64008" marT="18288" marB="18288" anchor="ctr">
                    <a:solidFill>
                      <a:srgbClr val="FFFFFF"/>
                    </a:solidFill>
                  </a:tcPr>
                </a:tc>
              </a:tr>
              <a:tr h="278638">
                <a:tc>
                  <a:txBody>
                    <a:bodyPr wrap="square"/>
                    <a:lstStyle/>
                    <a:p>
                      <a:r>
                        <a:rPr sz="1200" b="0">
                          <a:solidFill>
                            <a:srgbClr val="2B2622"/>
                          </a:solidFill>
                          <a:latin typeface="Calibri"/>
                        </a:rPr>
                        <a:t>2</a:t>
                      </a:r>
                    </a:p>
                  </a:txBody>
                  <a:tcPr marL="64008" marR="64008" marT="18288" marB="18288" anchor="ctr">
                    <a:solidFill>
                      <a:srgbClr val="F2ECE1"/>
                    </a:solidFill>
                  </a:tcPr>
                </a:tc>
                <a:tc>
                  <a:txBody>
                    <a:bodyPr wrap="square"/>
                    <a:lstStyle/>
                    <a:p>
                      <a:r>
                        <a:rPr sz="1200" b="0">
                          <a:solidFill>
                            <a:srgbClr val="2B2622"/>
                          </a:solidFill>
                          <a:latin typeface="Courier New"/>
                        </a:rPr>
                        <a:t>bc1qw399x6vyt7jhurm7h3ylc0uldlqr7wj9clk5ng</a:t>
                      </a:r>
                    </a:p>
                  </a:txBody>
                  <a:tcPr marL="64008" marR="64008" marT="18288" marB="18288" anchor="ctr">
                    <a:solidFill>
                      <a:srgbClr val="F2ECE1"/>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Publish the xpub; the keys never touch the internet.</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58 / 68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25: The gap limit decides how far a scan looks</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used</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79C0FF"/>
                </a:solidFill>
                <a:latin typeface="Courier New"/>
              </a:rPr>
              <a:t>0</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3</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25</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for</a:t>
            </a:r>
            <a:r>
              <a:rPr sz="1200" b="0" i="0">
                <a:solidFill>
                  <a:srgbClr val="E6EDF3"/>
                </a:solidFill>
                <a:latin typeface="Courier New"/>
              </a:rPr>
              <a:t> </a:t>
            </a:r>
            <a:r>
              <a:rPr sz="1200" b="0" i="0">
                <a:solidFill>
                  <a:srgbClr val="E6EDF3"/>
                </a:solidFill>
                <a:latin typeface="Courier New"/>
              </a:rPr>
              <a:t>gap</a:t>
            </a:r>
            <a:r>
              <a:rPr sz="1200" b="0" i="0">
                <a:solidFill>
                  <a:srgbClr val="E6EDF3"/>
                </a:solidFill>
                <a:latin typeface="Courier New"/>
              </a:rPr>
              <a:t> </a:t>
            </a:r>
            <a:r>
              <a:rPr sz="1200" b="0" i="0">
                <a:solidFill>
                  <a:srgbClr val="FFA657"/>
                </a:solidFill>
                <a:latin typeface="Courier New"/>
              </a:rPr>
              <a:t>in</a:t>
            </a:r>
            <a:r>
              <a:rPr sz="1200" b="0" i="0">
                <a:solidFill>
                  <a:srgbClr val="E6EDF3"/>
                </a:solidFill>
                <a:latin typeface="Courier New"/>
              </a:rPr>
              <a:t> </a:t>
            </a:r>
            <a:r>
              <a:rPr sz="1200" b="0" i="0">
                <a:solidFill>
                  <a:srgbClr val="E6EDF3"/>
                </a:solidFill>
                <a:latin typeface="Courier New"/>
              </a:rPr>
              <a:t>(</a:t>
            </a:r>
            <a:r>
              <a:rPr sz="1200" b="0" i="0">
                <a:solidFill>
                  <a:srgbClr val="79C0FF"/>
                </a:solidFill>
                <a:latin typeface="Courier New"/>
              </a:rPr>
              <a:t>5</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10</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20</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30</a:t>
            </a:r>
            <a:r>
              <a:rPr sz="1200" b="0" i="0">
                <a:solidFill>
                  <a:srgbClr val="E6EDF3"/>
                </a:solidFill>
                <a:latin typeface="Courier New"/>
              </a:rPr>
              <a:t>)</a:t>
            </a:r>
            <a:r>
              <a:rPr sz="1200" b="0" i="0">
                <a:solidFill>
                  <a:srgbClr val="E6EDF3"/>
                </a:solidFill>
                <a:latin typeface="Courier New"/>
              </a:rPr>
              <a:t>:</a:t>
            </a:r>
          </a:p>
        </p:txBody>
      </p:sp>
      <p:sp>
        <p:nvSpPr>
          <p:cNvPr id="8" name="code"/>
          <p:cNvSpPr/>
          <p:nvPr/>
        </p:nvSpPr>
        <p:spPr>
          <a:xfrm>
            <a:off x="365760" y="1683004"/>
            <a:ext cx="4727448" cy="890016"/>
          </a:xfrm>
          <a:prstGeom prst="roundRect">
            <a:avLst>
              <a:gd name="adj" fmla="val 821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    </a:t>
            </a:r>
            <a:r>
              <a:rPr sz="1200" b="0" i="0">
                <a:solidFill>
                  <a:srgbClr val="E6EDF3"/>
                </a:solidFill>
                <a:latin typeface="Courier New"/>
              </a:rPr>
              <a:t>found</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scan_with_gap</a:t>
            </a:r>
            <a:r>
              <a:rPr sz="1200" b="0" i="0">
                <a:solidFill>
                  <a:srgbClr val="E6EDF3"/>
                </a:solidFill>
                <a:latin typeface="Courier New"/>
              </a:rPr>
              <a:t>(</a:t>
            </a:r>
            <a:r>
              <a:rPr sz="1200" b="0" i="0">
                <a:solidFill>
                  <a:srgbClr val="E6EDF3"/>
                </a:solidFill>
                <a:latin typeface="Courier New"/>
              </a:rPr>
              <a:t>used</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gap</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gap</a:t>
            </a:r>
            <a:r>
              <a:rPr sz="1200" b="0" i="0">
                <a:solidFill>
                  <a:srgbClr val="E6EDF3"/>
                </a:solidFill>
                <a:latin typeface="Courier New"/>
              </a:rPr>
              <a:t>,</a:t>
            </a:r>
            <a:r>
              <a:rPr sz="1200" b="0" i="0">
                <a:solidFill>
                  <a:srgbClr val="E6EDF3"/>
                </a:solidFill>
                <a:latin typeface="Courier New"/>
              </a:rPr>
              <a:t> </a:t>
            </a:r>
            <a:r>
              <a:rPr sz="1200" b="0" i="0">
                <a:solidFill>
                  <a:srgbClr val="FFA657"/>
                </a:solidFill>
                <a:latin typeface="Courier New"/>
              </a:rPr>
              <a:t>len</a:t>
            </a:r>
            <a:r>
              <a:rPr sz="1200" b="0" i="0">
                <a:solidFill>
                  <a:srgbClr val="E6EDF3"/>
                </a:solidFill>
                <a:latin typeface="Courier New"/>
              </a:rPr>
              <a:t>(</a:t>
            </a:r>
            <a:r>
              <a:rPr sz="1200" b="0" i="0">
                <a:solidFill>
                  <a:srgbClr val="E6EDF3"/>
                </a:solidFill>
                <a:latin typeface="Courier New"/>
              </a:rPr>
              <a:t>found</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Mind the Gap</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Mind the Gap</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A wallet received payments on keys 0, 3 and 25.</a:t>
            </a:r>
          </a:p>
        </p:txBody>
      </p:sp>
      <p:sp>
        <p:nvSpPr>
          <p:cNvPr id="9" name="explanation"/>
          <p:cNvSpPr/>
          <p:nvPr/>
        </p:nvSpPr>
        <p:spPr>
          <a:xfrm>
            <a:off x="5074920" y="1683004"/>
            <a:ext cx="3657600" cy="890016"/>
          </a:xfrm>
          <a:prstGeom prst="roundRect">
            <a:avLst>
              <a:gd name="adj" fmla="val 821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Scan, stopping after gap unused keys in a row. Gaps below 22 miss key 25.</a:t>
            </a:r>
          </a:p>
        </p:txBody>
      </p:sp>
      <p:sp>
        <p:nvSpPr>
          <p:cNvPr id="10" name="result label"/>
          <p:cNvSpPr txBox="1"/>
          <p:nvPr/>
        </p:nvSpPr>
        <p:spPr>
          <a:xfrm>
            <a:off x="365760" y="2664460"/>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chart"/>
          <p:cNvGraphicFramePr>
            <a:graphicFrameLocks noGrp="1"/>
          </p:cNvGraphicFramePr>
          <p:nvPr/>
        </p:nvGraphicFramePr>
        <p:xfrm>
          <a:off x="365760" y="2911348"/>
          <a:ext cx="5486400" cy="1514348"/>
        </p:xfrm>
        <a:graphic>
          <a:graphicData uri="http://schemas.openxmlformats.org/drawingml/2006/chart">
            <c:chart xmlns:c="http://schemas.openxmlformats.org/drawingml/2006/chart" r:id="rId3"/>
          </a:graphicData>
        </a:graphic>
      </p:graphicFrame>
      <p:sp>
        <p:nvSpPr>
          <p:cNvPr id="12" name="reading"/>
          <p:cNvSpPr/>
          <p:nvPr/>
        </p:nvSpPr>
        <p:spPr>
          <a:xfrm>
            <a:off x="6126480" y="3002788"/>
            <a:ext cx="2560320" cy="1331468"/>
          </a:xfrm>
          <a:prstGeom prst="roundRect">
            <a:avLst>
              <a:gd name="adj" fmla="val 5494"/>
            </a:avLst>
          </a:prstGeom>
          <a:solidFill>
            <a:srgbClr val="F2ECE1"/>
          </a:solidFill>
          <a:ln>
            <a:solidFill>
              <a:srgbClr val="F2ECE1"/>
            </a:solidFill>
          </a:ln>
        </p:spPr>
        <p:txBody>
          <a:bodyPr rtlCol="0" anchor="ctr" wrap="square" lIns="73152" rIns="73152" tIns="36576" bIns="36576"/>
          <a:lstStyle/>
          <a:p>
            <a:pPr algn="l"/>
            <a:r>
              <a:rPr sz="1250" b="0" i="0">
                <a:solidFill>
                  <a:srgbClr val="2B2622"/>
                </a:solidFill>
                <a:latin typeface="Calibri"/>
              </a:rPr>
              <a:t>The wallet used keys 0, 3 and 25. Only gap 30 reaches key 25.</a:t>
            </a:r>
          </a:p>
        </p:txBody>
      </p:sp>
      <p:sp>
        <p:nvSpPr>
          <p:cNvPr id="13"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scan that stops too early misses your money.</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59 / 68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26: A digital signature fails if the message changes</a:t>
            </a:r>
          </a:p>
        </p:txBody>
      </p:sp>
      <p:sp>
        <p:nvSpPr>
          <p:cNvPr id="6" name="code"/>
          <p:cNvSpPr/>
          <p:nvPr/>
        </p:nvSpPr>
        <p:spPr>
          <a:xfrm>
            <a:off x="365760" y="1097280"/>
            <a:ext cx="4727448" cy="440689"/>
          </a:xfrm>
          <a:prstGeom prst="roundRect">
            <a:avLst>
              <a:gd name="adj" fmla="val 16599"/>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d</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79C0FF"/>
                </a:solidFill>
                <a:latin typeface="Courier New"/>
              </a:rPr>
              <a:t>0x1337</a:t>
            </a:r>
          </a:p>
          <a:p>
            <a:pPr algn="l"/>
            <a:r>
              <a:rPr sz="950" b="0" i="0">
                <a:solidFill>
                  <a:srgbClr val="8A9B94"/>
                </a:solidFill>
                <a:latin typeface="Courier New"/>
              </a:rPr>
              <a:t>&gt;&gt;&gt; </a:t>
            </a:r>
            <a:r>
              <a:rPr sz="950" b="0" i="0">
                <a:solidFill>
                  <a:srgbClr val="E6EDF3"/>
                </a:solidFill>
                <a:latin typeface="Courier New"/>
              </a:rPr>
              <a:t>pub</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ec_mul</a:t>
            </a:r>
            <a:r>
              <a:rPr sz="950" b="0" i="0">
                <a:solidFill>
                  <a:srgbClr val="E6EDF3"/>
                </a:solidFill>
                <a:latin typeface="Courier New"/>
              </a:rPr>
              <a:t>(</a:t>
            </a:r>
            <a:r>
              <a:rPr sz="950" b="0" i="0">
                <a:solidFill>
                  <a:srgbClr val="E6EDF3"/>
                </a:solidFill>
                <a:latin typeface="Courier New"/>
              </a:rPr>
              <a:t>d</a:t>
            </a:r>
            <a:r>
              <a:rPr sz="950" b="0" i="0">
                <a:solidFill>
                  <a:srgbClr val="E6EDF3"/>
                </a:solidFill>
                <a:latin typeface="Courier New"/>
              </a:rPr>
              <a:t>)</a:t>
            </a:r>
          </a:p>
        </p:txBody>
      </p:sp>
      <p:sp>
        <p:nvSpPr>
          <p:cNvPr id="8" name="code"/>
          <p:cNvSpPr/>
          <p:nvPr/>
        </p:nvSpPr>
        <p:spPr>
          <a:xfrm>
            <a:off x="365760" y="1592833"/>
            <a:ext cx="4727448" cy="468884"/>
          </a:xfrm>
          <a:prstGeom prst="roundRect">
            <a:avLst>
              <a:gd name="adj" fmla="val 1560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z</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FFA657"/>
                </a:solidFill>
                <a:latin typeface="Courier New"/>
              </a:rPr>
              <a:t>int</a:t>
            </a:r>
            <a:r>
              <a:rPr sz="950" b="0" i="0">
                <a:solidFill>
                  <a:srgbClr val="E6EDF3"/>
                </a:solidFill>
                <a:latin typeface="Courier New"/>
              </a:rPr>
              <a:t>(</a:t>
            </a:r>
            <a:r>
              <a:rPr sz="950" b="0" i="0">
                <a:solidFill>
                  <a:srgbClr val="E6EDF3"/>
                </a:solidFill>
                <a:latin typeface="Courier New"/>
              </a:rPr>
              <a:t>sha256_hex</a:t>
            </a:r>
            <a:r>
              <a:rPr sz="950" b="0" i="0">
                <a:solidFill>
                  <a:srgbClr val="E6EDF3"/>
                </a:solidFill>
                <a:latin typeface="Courier New"/>
              </a:rPr>
              <a:t>(</a:t>
            </a:r>
            <a:r>
              <a:rPr sz="950" b="0" i="0">
                <a:solidFill>
                  <a:srgbClr val="7EE787"/>
                </a:solidFill>
                <a:latin typeface="Courier New"/>
              </a:rPr>
              <a:t>b"pay 1"</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79C0FF"/>
                </a:solidFill>
                <a:latin typeface="Courier New"/>
              </a:rPr>
              <a:t>16</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sig</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ecdsa_sign</a:t>
            </a:r>
            <a:r>
              <a:rPr sz="950" b="0" i="0">
                <a:solidFill>
                  <a:srgbClr val="E6EDF3"/>
                </a:solidFill>
                <a:latin typeface="Courier New"/>
              </a:rPr>
              <a:t>(</a:t>
            </a:r>
            <a:r>
              <a:rPr sz="950" b="0" i="0">
                <a:solidFill>
                  <a:srgbClr val="E6EDF3"/>
                </a:solidFill>
                <a:latin typeface="Courier New"/>
              </a:rPr>
              <a:t>d</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z</a:t>
            </a:r>
            <a:r>
              <a:rPr sz="950" b="0" i="0">
                <a:solidFill>
                  <a:srgbClr val="E6EDF3"/>
                </a:solidFill>
                <a:latin typeface="Courier New"/>
              </a:rPr>
              <a:t>,</a:t>
            </a:r>
            <a:r>
              <a:rPr sz="950" b="0" i="0">
                <a:solidFill>
                  <a:srgbClr val="E6EDF3"/>
                </a:solidFill>
                <a:latin typeface="Courier New"/>
              </a:rPr>
              <a:t> </a:t>
            </a:r>
            <a:r>
              <a:rPr sz="950" b="0" i="0">
                <a:solidFill>
                  <a:srgbClr val="79C0FF"/>
                </a:solidFill>
                <a:latin typeface="Courier New"/>
              </a:rPr>
              <a:t>4242</a:t>
            </a:r>
            <a:r>
              <a:rPr sz="950" b="0" i="0">
                <a:solidFill>
                  <a:srgbClr val="E6EDF3"/>
                </a:solidFill>
                <a:latin typeface="Courier New"/>
              </a:rPr>
              <a:t>)</a:t>
            </a:r>
          </a:p>
        </p:txBody>
      </p:sp>
      <p:sp>
        <p:nvSpPr>
          <p:cNvPr id="10" name="code"/>
          <p:cNvSpPr/>
          <p:nvPr/>
        </p:nvSpPr>
        <p:spPr>
          <a:xfrm>
            <a:off x="365760" y="2116582"/>
            <a:ext cx="4727448" cy="882269"/>
          </a:xfrm>
          <a:prstGeom prst="roundRect">
            <a:avLst>
              <a:gd name="adj" fmla="val 829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z2</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FFA657"/>
                </a:solidFill>
                <a:latin typeface="Courier New"/>
              </a:rPr>
              <a:t>int</a:t>
            </a:r>
            <a:r>
              <a:rPr sz="950" b="0" i="0">
                <a:solidFill>
                  <a:srgbClr val="E6EDF3"/>
                </a:solidFill>
                <a:latin typeface="Courier New"/>
              </a:rPr>
              <a:t>(</a:t>
            </a:r>
            <a:r>
              <a:rPr sz="950" b="0" i="0">
                <a:solidFill>
                  <a:srgbClr val="E6EDF3"/>
                </a:solidFill>
                <a:latin typeface="Courier New"/>
              </a:rPr>
              <a:t>sha256_hex</a:t>
            </a:r>
            <a:r>
              <a:rPr sz="950" b="0" i="0">
                <a:solidFill>
                  <a:srgbClr val="E6EDF3"/>
                </a:solidFill>
                <a:latin typeface="Courier New"/>
              </a:rPr>
              <a:t>(</a:t>
            </a:r>
            <a:r>
              <a:rPr sz="950" b="0" i="0">
                <a:solidFill>
                  <a:srgbClr val="7EE787"/>
                </a:solidFill>
                <a:latin typeface="Courier New"/>
              </a:rPr>
              <a:t>b"pay 2"</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79C0FF"/>
                </a:solidFill>
                <a:latin typeface="Courier New"/>
              </a:rPr>
              <a:t>16</a:t>
            </a:r>
            <a:r>
              <a:rPr sz="950" b="0" i="0">
                <a:solidFill>
                  <a:srgbClr val="E6EDF3"/>
                </a:solidFill>
                <a:latin typeface="Courier New"/>
              </a:rPr>
              <a:t>)</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ecdsa_verify</a:t>
            </a:r>
            <a:r>
              <a:rPr sz="950" b="0" i="0">
                <a:solidFill>
                  <a:srgbClr val="E6EDF3"/>
                </a:solidFill>
                <a:latin typeface="Courier New"/>
              </a:rPr>
              <a:t>(</a:t>
            </a:r>
            <a:r>
              <a:rPr sz="950" b="0" i="0">
                <a:solidFill>
                  <a:srgbClr val="E6EDF3"/>
                </a:solidFill>
                <a:latin typeface="Courier New"/>
              </a:rPr>
              <a:t>pub</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z</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sig</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ecdsa_verify</a:t>
            </a:r>
            <a:r>
              <a:rPr sz="950" b="0" i="0">
                <a:solidFill>
                  <a:srgbClr val="E6EDF3"/>
                </a:solidFill>
                <a:latin typeface="Courier New"/>
              </a:rPr>
              <a:t>(</a:t>
            </a:r>
            <a:r>
              <a:rPr sz="950" b="0" i="0">
                <a:solidFill>
                  <a:srgbClr val="E6EDF3"/>
                </a:solidFill>
                <a:latin typeface="Courier New"/>
              </a:rPr>
              <a:t>pub</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z2</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sig</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__import__</a:t>
            </a:r>
            <a:r>
              <a:rPr sz="950" b="0" i="0">
                <a:solidFill>
                  <a:srgbClr val="E6EDF3"/>
                </a:solidFill>
                <a:latin typeface="Courier New"/>
              </a:rPr>
              <a:t>(</a:t>
            </a:r>
            <a:r>
              <a:rPr sz="950" b="0" i="0">
                <a:solidFill>
                  <a:srgbClr val="7EE787"/>
                </a:solidFill>
                <a:latin typeface="Courier New"/>
              </a:rPr>
              <a:t>"sys"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version_info</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2</a:t>
            </a:r>
            <a:r>
              <a:rPr sz="950" b="0" i="0">
                <a:solidFill>
                  <a:srgbClr val="E6EDF3"/>
                </a:solidFill>
                <a:latin typeface="Courier New"/>
              </a:rPr>
              <a:t>]</a:t>
            </a:r>
          </a:p>
          <a:p>
            <a:pPr algn="l"/>
            <a:r>
              <a:rPr sz="9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Digital signature and the hardware signing device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Using an Extended Public Key on a Web Store</a:t>
            </a:r>
          </a:p>
        </p:txBody>
      </p:sp>
      <p:sp>
        <p:nvSpPr>
          <p:cNvPr id="7" name="explanation"/>
          <p:cNvSpPr/>
          <p:nvPr/>
        </p:nvSpPr>
        <p:spPr>
          <a:xfrm>
            <a:off x="5074920" y="1097280"/>
            <a:ext cx="3657600" cy="440689"/>
          </a:xfrm>
          <a:prstGeom prst="roundRect">
            <a:avLst>
              <a:gd name="adj" fmla="val 16599"/>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A toy private key and its public key.</a:t>
            </a:r>
          </a:p>
        </p:txBody>
      </p:sp>
      <p:sp>
        <p:nvSpPr>
          <p:cNvPr id="9" name="explanation"/>
          <p:cNvSpPr/>
          <p:nvPr/>
        </p:nvSpPr>
        <p:spPr>
          <a:xfrm>
            <a:off x="5074920" y="1592833"/>
            <a:ext cx="3657600" cy="468884"/>
          </a:xfrm>
          <a:prstGeom prst="roundRect">
            <a:avLst>
              <a:gd name="adj" fmla="val 1560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Sign the hash of a message (never choose the nonce yourself in real life).</a:t>
            </a:r>
          </a:p>
        </p:txBody>
      </p:sp>
      <p:sp>
        <p:nvSpPr>
          <p:cNvPr id="11" name="explanation"/>
          <p:cNvSpPr/>
          <p:nvPr/>
        </p:nvSpPr>
        <p:spPr>
          <a:xfrm>
            <a:off x="5074920" y="2116582"/>
            <a:ext cx="3657600" cy="882269"/>
          </a:xfrm>
          <a:prstGeom prst="roundRect">
            <a:avLst>
              <a:gd name="adj" fmla="val 829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The signature verifies for the signed message and fails for any other.</a:t>
            </a:r>
          </a:p>
        </p:txBody>
      </p:sp>
      <p:sp>
        <p:nvSpPr>
          <p:cNvPr id="12" name="result label"/>
          <p:cNvSpPr txBox="1"/>
          <p:nvPr/>
        </p:nvSpPr>
        <p:spPr>
          <a:xfrm>
            <a:off x="365760" y="3090291"/>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37179"/>
          <a:ext cx="8412480" cy="987552"/>
        </p:xfrm>
        <a:graphic>
          <a:graphicData uri="http://schemas.openxmlformats.org/drawingml/2006/table">
            <a:tbl>
              <a:tblPr firstRow="1" bandRow="1">
                <a:tableStyleId>{5C22544A-7EE6-4342-B048-85BDC9FD1C3A}</a:tableStyleId>
              </a:tblPr>
              <a:tblGrid>
                <a:gridCol w="5486400"/>
                <a:gridCol w="2926080"/>
              </a:tblGrid>
              <a:tr h="329184">
                <a:tc>
                  <a:txBody>
                    <a:bodyPr wrap="square"/>
                    <a:lstStyle/>
                    <a:p>
                      <a:r>
                        <a:rPr sz="1200" b="1">
                          <a:solidFill>
                            <a:srgbClr val="FFFFFF"/>
                          </a:solidFill>
                          <a:latin typeface="Calibri"/>
                        </a:rPr>
                        <a:t>Check</a:t>
                      </a:r>
                    </a:p>
                  </a:txBody>
                  <a:tcPr marL="64008" marR="64008" marT="18288" marB="18288" anchor="ctr">
                    <a:solidFill>
                      <a:srgbClr val="2B2622"/>
                    </a:solidFill>
                  </a:tcPr>
                </a:tc>
                <a:tc>
                  <a:txBody>
                    <a:bodyPr wrap="square"/>
                    <a:lstStyle/>
                    <a:p>
                      <a:r>
                        <a:rPr sz="1200" b="1">
                          <a:solidFill>
                            <a:srgbClr val="FFFFFF"/>
                          </a:solidFill>
                          <a:latin typeface="Calibri"/>
                        </a:rPr>
                        <a:t>Verifies?</a:t>
                      </a:r>
                    </a:p>
                  </a:txBody>
                  <a:tcPr marL="64008" marR="64008" marT="18288" marB="18288" anchor="ctr">
                    <a:solidFill>
                      <a:srgbClr val="2B2622"/>
                    </a:solidFill>
                  </a:tcPr>
                </a:tc>
              </a:tr>
              <a:tr h="329184">
                <a:tc>
                  <a:txBody>
                    <a:bodyPr wrap="square"/>
                    <a:lstStyle/>
                    <a:p>
                      <a:r>
                        <a:rPr sz="1200" b="0">
                          <a:solidFill>
                            <a:srgbClr val="2B2622"/>
                          </a:solidFill>
                          <a:latin typeface="Calibri"/>
                        </a:rPr>
                        <a:t>The message that was signed</a:t>
                      </a:r>
                    </a:p>
                  </a:txBody>
                  <a:tcPr marL="64008" marR="64008" marT="18288" marB="18288" anchor="ctr">
                    <a:solidFill>
                      <a:srgbClr val="F2ECE1"/>
                    </a:solidFill>
                  </a:tcPr>
                </a:tc>
                <a:tc>
                  <a:txBody>
                    <a:bodyPr wrap="square"/>
                    <a:lstStyle/>
                    <a:p>
                      <a:r>
                        <a:rPr sz="1200" b="0">
                          <a:solidFill>
                            <a:srgbClr val="2B2622"/>
                          </a:solidFill>
                          <a:latin typeface="Calibri"/>
                        </a:rPr>
                        <a:t>True</a:t>
                      </a:r>
                    </a:p>
                  </a:txBody>
                  <a:tcPr marL="64008" marR="64008" marT="18288" marB="18288" anchor="ctr">
                    <a:solidFill>
                      <a:srgbClr val="F2ECE1"/>
                    </a:solidFill>
                  </a:tcPr>
                </a:tc>
              </a:tr>
              <a:tr h="329184">
                <a:tc>
                  <a:txBody>
                    <a:bodyPr wrap="square"/>
                    <a:lstStyle/>
                    <a:p>
                      <a:r>
                        <a:rPr sz="1200" b="0">
                          <a:solidFill>
                            <a:srgbClr val="2B2622"/>
                          </a:solidFill>
                          <a:latin typeface="Calibri"/>
                        </a:rPr>
                        <a:t>Another message with the same signature</a:t>
                      </a:r>
                    </a:p>
                  </a:txBody>
                  <a:tcPr marL="64008" marR="64008" marT="18288" marB="18288" anchor="ctr">
                    <a:solidFill>
                      <a:srgbClr val="FFFFFF"/>
                    </a:solidFill>
                  </a:tcPr>
                </a:tc>
                <a:tc>
                  <a:txBody>
                    <a:bodyPr wrap="square"/>
                    <a:lstStyle/>
                    <a:p>
                      <a:r>
                        <a:rPr sz="1200" b="0">
                          <a:solidFill>
                            <a:srgbClr val="2B2622"/>
                          </a:solidFill>
                          <a:latin typeface="Calibri"/>
                        </a:rPr>
                        <a:t>False</a:t>
                      </a:r>
                    </a:p>
                  </a:txBody>
                  <a:tcPr marL="64008" marR="64008" marT="18288" marB="18288" anchor="ctr">
                    <a:solidFill>
                      <a:srgbClr val="FFFFFF"/>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signature binds one key to one message.</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60 / 68</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Cold storage and the hardware signing device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Keep keys where nothing connected can read them</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grpSp>
        <p:nvGrpSpPr>
          <p:cNvPr id="6" name="visual: offline signing"/>
          <p:cNvGrpSpPr/>
          <p:nvPr/>
        </p:nvGrpSpPr>
        <p:grpSpPr>
          <a:xfrm>
            <a:off x="457200" y="1188720"/>
            <a:ext cx="8229600" cy="685800"/>
            <a:chOff x="457200" y="1188720"/>
            <a:chExt cx="8229600" cy="685800"/>
          </a:xfrm>
        </p:grpSpPr>
        <p:sp>
          <p:nvSpPr>
            <p:cNvPr id="7" name="Rounded Rectangle 6"/>
            <p:cNvSpPr/>
            <p:nvPr/>
          </p:nvSpPr>
          <p:spPr>
            <a:xfrm>
              <a:off x="457200" y="1188720"/>
              <a:ext cx="1865376" cy="6858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Wallet on a connected computer: watch-only</a:t>
              </a:r>
            </a:p>
          </p:txBody>
        </p:sp>
        <p:cxnSp>
          <p:nvCxnSpPr>
            <p:cNvPr id="8" name="Connector 7"/>
            <p:cNvCxnSpPr/>
            <p:nvPr/>
          </p:nvCxnSpPr>
          <p:spPr>
            <a:xfrm>
              <a:off x="2322576" y="1531620"/>
              <a:ext cx="256032" cy="0"/>
            </a:xfrm>
            <a:prstGeom prst="line">
              <a:avLst/>
            </a:prstGeom>
            <a:ln w="25400">
              <a:solidFill>
                <a:srgbClr val="6E655C"/>
              </a:solidFill>
              <a:tailEnd type="triangle"/>
            </a:ln>
          </p:spPr>
        </p:cxnSp>
        <p:sp>
          <p:nvSpPr>
            <p:cNvPr id="9" name="Rounded Rectangle 8"/>
            <p:cNvSpPr/>
            <p:nvPr/>
          </p:nvSpPr>
          <p:spPr>
            <a:xfrm>
              <a:off x="2578608" y="1188720"/>
              <a:ext cx="1865376" cy="6858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Unsigned transaction</a:t>
              </a:r>
            </a:p>
          </p:txBody>
        </p:sp>
        <p:cxnSp>
          <p:nvCxnSpPr>
            <p:cNvPr id="10" name="Connector 9"/>
            <p:cNvCxnSpPr/>
            <p:nvPr/>
          </p:nvCxnSpPr>
          <p:spPr>
            <a:xfrm>
              <a:off x="4443984" y="1531620"/>
              <a:ext cx="256032" cy="0"/>
            </a:xfrm>
            <a:prstGeom prst="line">
              <a:avLst/>
            </a:prstGeom>
            <a:ln w="25400">
              <a:solidFill>
                <a:srgbClr val="6E655C"/>
              </a:solidFill>
              <a:tailEnd type="triangle"/>
            </a:ln>
          </p:spPr>
        </p:cxnSp>
        <p:sp>
          <p:nvSpPr>
            <p:cNvPr id="11" name="Rounded Rectangle 10"/>
            <p:cNvSpPr/>
            <p:nvPr/>
          </p:nvSpPr>
          <p:spPr>
            <a:xfrm>
              <a:off x="4700016" y="1188720"/>
              <a:ext cx="1865376" cy="68580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Signing device offline signs</a:t>
              </a:r>
            </a:p>
          </p:txBody>
        </p:sp>
        <p:cxnSp>
          <p:nvCxnSpPr>
            <p:cNvPr id="12" name="Connector 11"/>
            <p:cNvCxnSpPr/>
            <p:nvPr/>
          </p:nvCxnSpPr>
          <p:spPr>
            <a:xfrm>
              <a:off x="6565392" y="1531620"/>
              <a:ext cx="256032" cy="0"/>
            </a:xfrm>
            <a:prstGeom prst="line">
              <a:avLst/>
            </a:prstGeom>
            <a:ln w="25400">
              <a:solidFill>
                <a:srgbClr val="6E655C"/>
              </a:solidFill>
              <a:tailEnd type="triangle"/>
            </a:ln>
          </p:spPr>
        </p:cxnSp>
        <p:sp>
          <p:nvSpPr>
            <p:cNvPr id="13" name="Rounded Rectangle 12"/>
            <p:cNvSpPr/>
            <p:nvPr/>
          </p:nvSpPr>
          <p:spPr>
            <a:xfrm>
              <a:off x="6821424" y="1188720"/>
              <a:ext cx="1865376" cy="6858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Signed transaction returns</a:t>
              </a:r>
            </a:p>
          </p:txBody>
        </p:sp>
      </p:grpSp>
      <p:sp>
        <p:nvSpPr>
          <p:cNvPr id="14" name="card"/>
          <p:cNvSpPr/>
          <p:nvPr/>
        </p:nvSpPr>
        <p:spPr>
          <a:xfrm>
            <a:off x="457200" y="2103120"/>
            <a:ext cx="2670048" cy="2194560"/>
          </a:xfrm>
          <a:prstGeom prst="roundRect">
            <a:avLst>
              <a:gd name="adj" fmla="val 3333"/>
            </a:avLst>
          </a:prstGeom>
          <a:solidFill>
            <a:srgbClr val="F2ECE1"/>
          </a:solidFill>
          <a:ln>
            <a:solidFill>
              <a:srgbClr val="F2ECE1"/>
            </a:solidFill>
          </a:ln>
        </p:spPr>
        <p:txBody>
          <a:bodyPr rtlCol="0" anchor="ctr"/>
          <a:lstStyle/>
          <a:p>
            <a:pPr algn="ctr"/>
          </a:p>
        </p:txBody>
      </p:sp>
      <p:sp>
        <p:nvSpPr>
          <p:cNvPr id="15" name="card heading"/>
          <p:cNvSpPr txBox="1"/>
          <p:nvPr/>
        </p:nvSpPr>
        <p:spPr>
          <a:xfrm>
            <a:off x="548640" y="2148839"/>
            <a:ext cx="2487168" cy="274320"/>
          </a:xfrm>
          <a:prstGeom prst="rect">
            <a:avLst/>
          </a:prstGeom>
          <a:noFill/>
        </p:spPr>
        <p:txBody>
          <a:bodyPr wrap="square" anchor="t" lIns="45720" rIns="45720" tIns="36576" bIns="36576">
            <a:spAutoFit/>
          </a:bodyPr>
          <a:lstStyle/>
          <a:p>
            <a:pPr algn="l"/>
            <a:r>
              <a:rPr sz="1500" b="1" i="0">
                <a:solidFill>
                  <a:srgbClr val="D97A14"/>
                </a:solidFill>
                <a:latin typeface="Cambria"/>
              </a:rPr>
              <a:t>Cold storage</a:t>
            </a:r>
          </a:p>
        </p:txBody>
      </p:sp>
      <p:sp>
        <p:nvSpPr>
          <p:cNvPr id="16" name="card text"/>
          <p:cNvSpPr txBox="1"/>
          <p:nvPr/>
        </p:nvSpPr>
        <p:spPr>
          <a:xfrm>
            <a:off x="548640" y="2432303"/>
            <a:ext cx="2487168" cy="1828800"/>
          </a:xfrm>
          <a:prstGeom prst="rect">
            <a:avLst/>
          </a:prstGeom>
          <a:noFill/>
        </p:spPr>
        <p:txBody>
          <a:bodyPr wrap="square" anchor="t" lIns="45720" rIns="45720" tIns="36576" bIns="36576">
            <a:spAutoFit/>
          </a:bodyPr>
          <a:lstStyle/>
          <a:p>
            <a:pPr algn="l"/>
            <a:r>
              <a:rPr sz="1400" b="0" i="0">
                <a:solidFill>
                  <a:srgbClr val="2B2622"/>
                </a:solidFill>
                <a:latin typeface="Calibri"/>
              </a:rPr>
              <a:t>Keys created and stored offline; the book advises it for any significant holding.</a:t>
            </a:r>
          </a:p>
        </p:txBody>
      </p:sp>
      <p:sp>
        <p:nvSpPr>
          <p:cNvPr id="17" name="card"/>
          <p:cNvSpPr/>
          <p:nvPr/>
        </p:nvSpPr>
        <p:spPr>
          <a:xfrm>
            <a:off x="3236976" y="2103120"/>
            <a:ext cx="2670048" cy="2194560"/>
          </a:xfrm>
          <a:prstGeom prst="roundRect">
            <a:avLst>
              <a:gd name="adj" fmla="val 3333"/>
            </a:avLst>
          </a:prstGeom>
          <a:solidFill>
            <a:srgbClr val="F2ECE1"/>
          </a:solidFill>
          <a:ln>
            <a:solidFill>
              <a:srgbClr val="F2ECE1"/>
            </a:solidFill>
          </a:ln>
        </p:spPr>
        <p:txBody>
          <a:bodyPr rtlCol="0" anchor="ctr"/>
          <a:lstStyle/>
          <a:p>
            <a:pPr algn="ctr"/>
          </a:p>
        </p:txBody>
      </p:sp>
      <p:sp>
        <p:nvSpPr>
          <p:cNvPr id="18" name="card heading"/>
          <p:cNvSpPr txBox="1"/>
          <p:nvPr/>
        </p:nvSpPr>
        <p:spPr>
          <a:xfrm>
            <a:off x="3328416" y="2148839"/>
            <a:ext cx="2487168" cy="274320"/>
          </a:xfrm>
          <a:prstGeom prst="rect">
            <a:avLst/>
          </a:prstGeom>
          <a:noFill/>
        </p:spPr>
        <p:txBody>
          <a:bodyPr wrap="square" anchor="t" lIns="45720" rIns="45720" tIns="36576" bIns="36576">
            <a:spAutoFit/>
          </a:bodyPr>
          <a:lstStyle/>
          <a:p>
            <a:pPr algn="l"/>
            <a:r>
              <a:rPr sz="1500" b="1" i="0">
                <a:solidFill>
                  <a:srgbClr val="D97A14"/>
                </a:solidFill>
                <a:latin typeface="Cambria"/>
              </a:rPr>
              <a:t>Hardware signing device</a:t>
            </a:r>
          </a:p>
        </p:txBody>
      </p:sp>
      <p:sp>
        <p:nvSpPr>
          <p:cNvPr id="19" name="card text"/>
          <p:cNvSpPr txBox="1"/>
          <p:nvPr/>
        </p:nvSpPr>
        <p:spPr>
          <a:xfrm>
            <a:off x="3328416" y="2432303"/>
            <a:ext cx="2487168" cy="1828800"/>
          </a:xfrm>
          <a:prstGeom prst="rect">
            <a:avLst/>
          </a:prstGeom>
          <a:noFill/>
        </p:spPr>
        <p:txBody>
          <a:bodyPr wrap="square" anchor="t" lIns="45720" rIns="45720" tIns="36576" bIns="36576">
            <a:spAutoFit/>
          </a:bodyPr>
          <a:lstStyle/>
          <a:p>
            <a:pPr algn="l"/>
            <a:r>
              <a:rPr sz="1400" b="0" i="0">
                <a:solidFill>
                  <a:srgbClr val="2B2622"/>
                </a:solidFill>
                <a:latin typeface="Calibri"/>
              </a:rPr>
              <a:t>Signs transactions and never shows the private keys.</a:t>
            </a:r>
          </a:p>
        </p:txBody>
      </p:sp>
      <p:sp>
        <p:nvSpPr>
          <p:cNvPr id="20" name="card"/>
          <p:cNvSpPr/>
          <p:nvPr/>
        </p:nvSpPr>
        <p:spPr>
          <a:xfrm>
            <a:off x="6016752" y="2103120"/>
            <a:ext cx="2670048" cy="2194560"/>
          </a:xfrm>
          <a:prstGeom prst="roundRect">
            <a:avLst>
              <a:gd name="adj" fmla="val 3333"/>
            </a:avLst>
          </a:prstGeom>
          <a:solidFill>
            <a:srgbClr val="F2ECE1"/>
          </a:solidFill>
          <a:ln>
            <a:solidFill>
              <a:srgbClr val="F2ECE1"/>
            </a:solidFill>
          </a:ln>
        </p:spPr>
        <p:txBody>
          <a:bodyPr rtlCol="0" anchor="ctr"/>
          <a:lstStyle/>
          <a:p>
            <a:pPr algn="ctr"/>
          </a:p>
        </p:txBody>
      </p:sp>
      <p:sp>
        <p:nvSpPr>
          <p:cNvPr id="21" name="card heading"/>
          <p:cNvSpPr txBox="1"/>
          <p:nvPr/>
        </p:nvSpPr>
        <p:spPr>
          <a:xfrm>
            <a:off x="6108192" y="2148839"/>
            <a:ext cx="2487168" cy="274320"/>
          </a:xfrm>
          <a:prstGeom prst="rect">
            <a:avLst/>
          </a:prstGeom>
          <a:noFill/>
        </p:spPr>
        <p:txBody>
          <a:bodyPr wrap="square" anchor="t" lIns="45720" rIns="45720" tIns="36576" bIns="36576">
            <a:spAutoFit/>
          </a:bodyPr>
          <a:lstStyle/>
          <a:p>
            <a:pPr algn="l"/>
            <a:r>
              <a:rPr sz="1500" b="1" i="0">
                <a:solidFill>
                  <a:srgbClr val="D97A14"/>
                </a:solidFill>
                <a:latin typeface="Cambria"/>
              </a:rPr>
              <a:t>Written backup</a:t>
            </a:r>
          </a:p>
        </p:txBody>
      </p:sp>
      <p:sp>
        <p:nvSpPr>
          <p:cNvPr id="22" name="card text"/>
          <p:cNvSpPr txBox="1"/>
          <p:nvPr/>
        </p:nvSpPr>
        <p:spPr>
          <a:xfrm>
            <a:off x="6108192" y="2432303"/>
            <a:ext cx="2487168" cy="1828800"/>
          </a:xfrm>
          <a:prstGeom prst="rect">
            <a:avLst/>
          </a:prstGeom>
          <a:noFill/>
        </p:spPr>
        <p:txBody>
          <a:bodyPr wrap="square" anchor="t" lIns="45720" rIns="45720" tIns="36576" bIns="36576">
            <a:spAutoFit/>
          </a:bodyPr>
          <a:lstStyle/>
          <a:p>
            <a:pPr algn="l"/>
            <a:r>
              <a:rPr sz="1400" b="0" i="0">
                <a:solidFill>
                  <a:srgbClr val="2B2622"/>
                </a:solidFill>
                <a:latin typeface="Calibri"/>
              </a:rPr>
              <a:t>The recovery code on paper or metal, stored apart from the device.</a:t>
            </a:r>
          </a:p>
        </p:txBody>
      </p:sp>
      <p:sp>
        <p:nvSpPr>
          <p:cNvPr id="23"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Offline keys, a device that signs, and a code on paper.</a:t>
            </a:r>
          </a:p>
        </p:txBody>
      </p:sp>
      <p:sp>
        <p:nvSpPr>
          <p:cNvPr id="2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61 / 68</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27: The restore drill, a typo opens another wallet</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def</a:t>
            </a:r>
            <a:r>
              <a:rPr sz="1050" b="0" i="0">
                <a:solidFill>
                  <a:srgbClr val="E6EDF3"/>
                </a:solidFill>
                <a:latin typeface="Courier New"/>
              </a:rPr>
              <a:t> </a:t>
            </a:r>
            <a:r>
              <a:rPr sz="1050" b="0" i="0">
                <a:solidFill>
                  <a:srgbClr val="E6EDF3"/>
                </a:solidFill>
                <a:latin typeface="Courier New"/>
              </a:rPr>
              <a:t>first</a:t>
            </a:r>
            <a:r>
              <a:rPr sz="1050" b="0" i="0">
                <a:solidFill>
                  <a:srgbClr val="E6EDF3"/>
                </a:solidFill>
                <a:latin typeface="Courier New"/>
              </a:rPr>
              <a:t>(</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    </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keys_at</a:t>
            </a:r>
            <a:r>
              <a:rPr sz="1050" b="0" i="0">
                <a:solidFill>
                  <a:srgbClr val="E6EDF3"/>
                </a:solidFill>
                <a:latin typeface="Courier New"/>
              </a:rPr>
              <a:t>(</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"m/84h/0h/0h/0/0"</a:t>
            </a:r>
            <a:r>
              <a:rPr sz="105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    </a:t>
            </a:r>
            <a:r>
              <a:rPr sz="1050" b="0" i="0">
                <a:solidFill>
                  <a:srgbClr val="FFA657"/>
                </a:solidFill>
                <a:latin typeface="Courier New"/>
              </a:rPr>
              <a:t>return</a:t>
            </a:r>
            <a:r>
              <a:rPr sz="1050" b="0" i="0">
                <a:solidFill>
                  <a:srgbClr val="E6EDF3"/>
                </a:solidFill>
                <a:latin typeface="Courier New"/>
              </a:rPr>
              <a:t> </a:t>
            </a:r>
            <a:r>
              <a:rPr sz="1050" b="0" i="0">
                <a:solidFill>
                  <a:srgbClr val="E6EDF3"/>
                </a:solidFill>
                <a:latin typeface="Courier New"/>
              </a:rPr>
              <a:t>p2wpkh_address</a:t>
            </a:r>
            <a:r>
              <a:rPr sz="1050" b="0" i="0">
                <a:solidFill>
                  <a:srgbClr val="E6EDF3"/>
                </a:solidFill>
                <a:latin typeface="Courier New"/>
              </a:rPr>
              <a:t>(</a:t>
            </a:r>
            <a:r>
              <a:rPr sz="1050" b="0" i="0">
                <a:solidFill>
                  <a:srgbClr val="E6EDF3"/>
                </a:solidFill>
                <a:latin typeface="Courier New"/>
              </a:rPr>
              <a:t>ser_p</a:t>
            </a:r>
            <a:r>
              <a:rPr sz="1050" b="0" i="0">
                <a:solidFill>
                  <a:srgbClr val="E6EDF3"/>
                </a:solidFill>
                <a:latin typeface="Courier New"/>
              </a:rPr>
              <a:t>(</a:t>
            </a:r>
            <a:r>
              <a:rPr sz="1050" b="0" i="0">
                <a:solidFill>
                  <a:srgbClr val="E6EDF3"/>
                </a:solidFill>
                <a:latin typeface="Courier New"/>
              </a:rPr>
              <a:t>ec_mul</a:t>
            </a:r>
            <a:r>
              <a:rPr sz="1050" b="0" i="0">
                <a:solidFill>
                  <a:srgbClr val="E6EDF3"/>
                </a:solidFill>
                <a:latin typeface="Courier New"/>
              </a:rPr>
              <a:t>(</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noted</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first</a:t>
            </a:r>
            <a:r>
              <a:rPr sz="1050" b="0" i="0">
                <a:solidFill>
                  <a:srgbClr val="E6EDF3"/>
                </a:solidFill>
                <a:latin typeface="Courier New"/>
              </a:rPr>
              <a:t>(</a:t>
            </a:r>
            <a:r>
              <a:rPr sz="1050" b="0" i="0">
                <a:solidFill>
                  <a:srgbClr val="E6EDF3"/>
                </a:solidFill>
                <a:latin typeface="Courier New"/>
              </a:rPr>
              <a:t>B84</a:t>
            </a:r>
            <a:r>
              <a:rPr sz="1050" b="0" i="0">
                <a:solidFill>
                  <a:srgbClr val="E6EDF3"/>
                </a:solidFill>
                <a:latin typeface="Courier New"/>
              </a:rPr>
              <a:t>)</a:t>
            </a:r>
          </a:p>
        </p:txBody>
      </p:sp>
      <p:sp>
        <p:nvSpPr>
          <p:cNvPr id="10" name="code"/>
          <p:cNvSpPr/>
          <p:nvPr/>
        </p:nvSpPr>
        <p:spPr>
          <a:xfrm>
            <a:off x="365760" y="2175764"/>
            <a:ext cx="4727448" cy="797052"/>
          </a:xfrm>
          <a:prstGeom prst="roundRect">
            <a:avLst>
              <a:gd name="adj" fmla="val 917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first</a:t>
            </a:r>
            <a:r>
              <a:rPr sz="1050" b="0" i="0">
                <a:solidFill>
                  <a:srgbClr val="E6EDF3"/>
                </a:solidFill>
                <a:latin typeface="Courier New"/>
              </a:rPr>
              <a:t>(</a:t>
            </a:r>
            <a:r>
              <a:rPr sz="1050" b="0" i="0">
                <a:solidFill>
                  <a:srgbClr val="E6EDF3"/>
                </a:solidFill>
                <a:latin typeface="Courier New"/>
              </a:rPr>
              <a:t>B84</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noted</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first</a:t>
            </a:r>
            <a:r>
              <a:rPr sz="1050" b="0" i="0">
                <a:solidFill>
                  <a:srgbClr val="E6EDF3"/>
                </a:solidFill>
                <a:latin typeface="Courier New"/>
              </a:rPr>
              <a:t>(</a:t>
            </a:r>
            <a:r>
              <a:rPr sz="1050" b="0" i="0">
                <a:solidFill>
                  <a:srgbClr val="E6EDF3"/>
                </a:solidFill>
                <a:latin typeface="Courier New"/>
              </a:rPr>
              <a:t>B84</a:t>
            </a:r>
            <a:r>
              <a:rPr sz="1050" b="0" i="0">
                <a:solidFill>
                  <a:srgbClr val="E6EDF3"/>
                </a:solidFill>
                <a:latin typeface="Courier New"/>
              </a:rPr>
              <a:t>.</a:t>
            </a:r>
            <a:r>
              <a:rPr sz="1050" b="0" i="0">
                <a:solidFill>
                  <a:srgbClr val="E6EDF3"/>
                </a:solidFill>
                <a:latin typeface="Courier New"/>
              </a:rPr>
              <a:t>replace</a:t>
            </a:r>
            <a:r>
              <a:rPr sz="1050" b="0" i="0">
                <a:solidFill>
                  <a:srgbClr val="E6EDF3"/>
                </a:solidFill>
                <a:latin typeface="Courier New"/>
              </a:rPr>
              <a:t>(</a:t>
            </a:r>
            <a:r>
              <a:rPr sz="1050" b="0" i="0">
                <a:solidFill>
                  <a:srgbClr val="7EE787"/>
                </a:solidFill>
                <a:latin typeface="Courier New"/>
              </a:rPr>
              <a:t>"about"</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"above"</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noted</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Testing a backup</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 helper that derives the first address from a recovery code.</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Write down this address when the wallet is created.</a:t>
            </a:r>
          </a:p>
        </p:txBody>
      </p:sp>
      <p:sp>
        <p:nvSpPr>
          <p:cNvPr id="11" name="explanation"/>
          <p:cNvSpPr/>
          <p:nvPr/>
        </p:nvSpPr>
        <p:spPr>
          <a:xfrm>
            <a:off x="5074920" y="2175764"/>
            <a:ext cx="3657600" cy="797052"/>
          </a:xfrm>
          <a:prstGeom prst="roundRect">
            <a:avLst>
              <a:gd name="adj" fmla="val 917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Restore from the right code: match. One wrong word: a different, empty wallet.</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987552"/>
        </p:xfrm>
        <a:graphic>
          <a:graphicData uri="http://schemas.openxmlformats.org/drawingml/2006/table">
            <a:tbl>
              <a:tblPr firstRow="1" bandRow="1">
                <a:tableStyleId>{5C22544A-7EE6-4342-B048-85BDC9FD1C3A}</a:tableStyleId>
              </a:tblPr>
              <a:tblGrid>
                <a:gridCol w="4572000"/>
                <a:gridCol w="3840480"/>
              </a:tblGrid>
              <a:tr h="329184">
                <a:tc>
                  <a:txBody>
                    <a:bodyPr wrap="square"/>
                    <a:lstStyle/>
                    <a:p>
                      <a:r>
                        <a:rPr sz="1200" b="1">
                          <a:solidFill>
                            <a:srgbClr val="FFFFFF"/>
                          </a:solidFill>
                          <a:latin typeface="Calibri"/>
                        </a:rPr>
                        <a:t>Restore from</a:t>
                      </a:r>
                    </a:p>
                  </a:txBody>
                  <a:tcPr marL="64008" marR="64008" marT="18288" marB="18288" anchor="ctr">
                    <a:solidFill>
                      <a:srgbClr val="2B2622"/>
                    </a:solidFill>
                  </a:tcPr>
                </a:tc>
                <a:tc>
                  <a:txBody>
                    <a:bodyPr wrap="square"/>
                    <a:lstStyle/>
                    <a:p>
                      <a:r>
                        <a:rPr sz="1200" b="1">
                          <a:solidFill>
                            <a:srgbClr val="FFFFFF"/>
                          </a:solidFill>
                          <a:latin typeface="Calibri"/>
                        </a:rPr>
                        <a:t>Same first address as noted?</a:t>
                      </a:r>
                    </a:p>
                  </a:txBody>
                  <a:tcPr marL="64008" marR="64008" marT="18288" marB="18288" anchor="ctr">
                    <a:solidFill>
                      <a:srgbClr val="2B2622"/>
                    </a:solidFill>
                  </a:tcPr>
                </a:tc>
              </a:tr>
              <a:tr h="329184">
                <a:tc>
                  <a:txBody>
                    <a:bodyPr wrap="square"/>
                    <a:lstStyle/>
                    <a:p>
                      <a:r>
                        <a:rPr sz="1200" b="0">
                          <a:solidFill>
                            <a:srgbClr val="2B2622"/>
                          </a:solidFill>
                          <a:latin typeface="Calibri"/>
                        </a:rPr>
                        <a:t>the right recovery code</a:t>
                      </a:r>
                    </a:p>
                  </a:txBody>
                  <a:tcPr marL="64008" marR="64008" marT="18288" marB="18288" anchor="ctr">
                    <a:solidFill>
                      <a:srgbClr val="F2ECE1"/>
                    </a:solidFill>
                  </a:tcPr>
                </a:tc>
                <a:tc>
                  <a:txBody>
                    <a:bodyPr wrap="square"/>
                    <a:lstStyle/>
                    <a:p>
                      <a:r>
                        <a:rPr sz="1200" b="0">
                          <a:solidFill>
                            <a:srgbClr val="2B2622"/>
                          </a:solidFill>
                          <a:latin typeface="Calibri"/>
                        </a:rPr>
                        <a:t>True</a:t>
                      </a:r>
                    </a:p>
                  </a:txBody>
                  <a:tcPr marL="64008" marR="64008" marT="18288" marB="18288" anchor="ctr">
                    <a:solidFill>
                      <a:srgbClr val="F2ECE1"/>
                    </a:solidFill>
                  </a:tcPr>
                </a:tc>
              </a:tr>
              <a:tr h="329184">
                <a:tc>
                  <a:txBody>
                    <a:bodyPr wrap="square"/>
                    <a:lstStyle/>
                    <a:p>
                      <a:r>
                        <a:rPr sz="1200" b="0">
                          <a:solidFill>
                            <a:srgbClr val="2B2622"/>
                          </a:solidFill>
                          <a:latin typeface="Calibri"/>
                        </a:rPr>
                        <a:t>the code with one word changed</a:t>
                      </a:r>
                    </a:p>
                  </a:txBody>
                  <a:tcPr marL="64008" marR="64008" marT="18288" marB="18288" anchor="ctr">
                    <a:solidFill>
                      <a:srgbClr val="FFFFFF"/>
                    </a:solidFill>
                  </a:tcPr>
                </a:tc>
                <a:tc>
                  <a:txBody>
                    <a:bodyPr wrap="square"/>
                    <a:lstStyle/>
                    <a:p>
                      <a:r>
                        <a:rPr sz="1200" b="0">
                          <a:solidFill>
                            <a:srgbClr val="2B2622"/>
                          </a:solidFill>
                          <a:latin typeface="Calibri"/>
                        </a:rPr>
                        <a:t>False</a:t>
                      </a:r>
                    </a:p>
                  </a:txBody>
                  <a:tcPr marL="64008" marR="64008" marT="18288" marB="18288" anchor="ctr">
                    <a:solidFill>
                      <a:srgbClr val="FFFFFF"/>
                    </a:solidFill>
                  </a:tcPr>
                </a:tc>
              </a:tr>
            </a:tbl>
          </a:graphicData>
        </a:graphic>
      </p:graphicFrame>
      <p:sp>
        <p:nvSpPr>
          <p:cNvPr id="14" name="takeaway"/>
          <p:cNvSpPr txBox="1"/>
          <p:nvPr/>
        </p:nvSpPr>
        <p:spPr>
          <a:xfrm>
            <a:off x="457200" y="4517136"/>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Test the restore, not your luck.</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62 / 68</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What a complete backup holds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The chapter's closing list</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6" name="backup item"/>
          <p:cNvSpPr/>
          <p:nvPr/>
        </p:nvSpPr>
        <p:spPr>
          <a:xfrm>
            <a:off x="457200" y="1280160"/>
            <a:ext cx="1554480" cy="1097280"/>
          </a:xfrm>
          <a:prstGeom prst="roundRect">
            <a:avLst>
              <a:gd name="adj" fmla="val 6666"/>
            </a:avLst>
          </a:prstGeom>
          <a:solidFill>
            <a:srgbClr val="F2ECE1"/>
          </a:solidFill>
          <a:ln>
            <a:solidFill>
              <a:srgbClr val="F2ECE1"/>
            </a:solidFill>
          </a:ln>
        </p:spPr>
        <p:txBody>
          <a:bodyPr rtlCol="0" anchor="ctr" wrap="square" lIns="73152" rIns="73152" tIns="36576" bIns="36576"/>
          <a:lstStyle/>
          <a:p>
            <a:pPr algn="ctr"/>
            <a:r>
              <a:rPr sz="1300" b="1" i="0">
                <a:solidFill>
                  <a:srgbClr val="2B2622"/>
                </a:solidFill>
                <a:latin typeface="Cambria"/>
              </a:rPr>
              <a:t>Recovery code</a:t>
            </a:r>
          </a:p>
        </p:txBody>
      </p:sp>
      <p:sp>
        <p:nvSpPr>
          <p:cNvPr id="7" name="backup item"/>
          <p:cNvSpPr/>
          <p:nvPr/>
        </p:nvSpPr>
        <p:spPr>
          <a:xfrm>
            <a:off x="2121408" y="1280160"/>
            <a:ext cx="1554480" cy="1097280"/>
          </a:xfrm>
          <a:prstGeom prst="roundRect">
            <a:avLst>
              <a:gd name="adj" fmla="val 6666"/>
            </a:avLst>
          </a:prstGeom>
          <a:solidFill>
            <a:srgbClr val="F2ECE1"/>
          </a:solidFill>
          <a:ln>
            <a:solidFill>
              <a:srgbClr val="F2ECE1"/>
            </a:solidFill>
          </a:ln>
        </p:spPr>
        <p:txBody>
          <a:bodyPr rtlCol="0" anchor="ctr" wrap="square" lIns="73152" rIns="73152" tIns="36576" bIns="36576"/>
          <a:lstStyle/>
          <a:p>
            <a:pPr algn="ctr"/>
            <a:r>
              <a:rPr sz="1300" b="1" i="0">
                <a:solidFill>
                  <a:srgbClr val="2B2622"/>
                </a:solidFill>
                <a:latin typeface="Cambria"/>
              </a:rPr>
              <a:t>Passphrase, if used</a:t>
            </a:r>
          </a:p>
        </p:txBody>
      </p:sp>
      <p:sp>
        <p:nvSpPr>
          <p:cNvPr id="8" name="backup item"/>
          <p:cNvSpPr/>
          <p:nvPr/>
        </p:nvSpPr>
        <p:spPr>
          <a:xfrm>
            <a:off x="3785616" y="1280160"/>
            <a:ext cx="1554480" cy="1097280"/>
          </a:xfrm>
          <a:prstGeom prst="roundRect">
            <a:avLst>
              <a:gd name="adj" fmla="val 6666"/>
            </a:avLst>
          </a:prstGeom>
          <a:solidFill>
            <a:srgbClr val="F2ECE1"/>
          </a:solidFill>
          <a:ln>
            <a:solidFill>
              <a:srgbClr val="F2ECE1"/>
            </a:solidFill>
          </a:ln>
        </p:spPr>
        <p:txBody>
          <a:bodyPr rtlCol="0" anchor="ctr" wrap="square" lIns="73152" rIns="73152" tIns="36576" bIns="36576"/>
          <a:lstStyle/>
          <a:p>
            <a:pPr algn="ctr"/>
            <a:r>
              <a:rPr sz="1300" b="1" i="0">
                <a:solidFill>
                  <a:srgbClr val="2B2622"/>
                </a:solidFill>
                <a:latin typeface="Cambria"/>
              </a:rPr>
              <a:t>Paths or descriptors</a:t>
            </a:r>
          </a:p>
        </p:txBody>
      </p:sp>
      <p:sp>
        <p:nvSpPr>
          <p:cNvPr id="9" name="backup item"/>
          <p:cNvSpPr/>
          <p:nvPr/>
        </p:nvSpPr>
        <p:spPr>
          <a:xfrm>
            <a:off x="5449824" y="1280160"/>
            <a:ext cx="1554480" cy="1097280"/>
          </a:xfrm>
          <a:prstGeom prst="roundRect">
            <a:avLst>
              <a:gd name="adj" fmla="val 6666"/>
            </a:avLst>
          </a:prstGeom>
          <a:solidFill>
            <a:srgbClr val="F2ECE1"/>
          </a:solidFill>
          <a:ln>
            <a:solidFill>
              <a:srgbClr val="F2ECE1"/>
            </a:solidFill>
          </a:ln>
        </p:spPr>
        <p:txBody>
          <a:bodyPr rtlCol="0" anchor="ctr" wrap="square" lIns="73152" rIns="73152" tIns="36576" bIns="36576"/>
          <a:lstStyle/>
          <a:p>
            <a:pPr algn="ctr"/>
            <a:r>
              <a:rPr sz="1300" b="1" i="0">
                <a:solidFill>
                  <a:srgbClr val="2B2622"/>
                </a:solidFill>
                <a:latin typeface="Cambria"/>
              </a:rPr>
              <a:t>Other signers' public keys</a:t>
            </a:r>
          </a:p>
        </p:txBody>
      </p:sp>
      <p:sp>
        <p:nvSpPr>
          <p:cNvPr id="10" name="backup item"/>
          <p:cNvSpPr/>
          <p:nvPr/>
        </p:nvSpPr>
        <p:spPr>
          <a:xfrm>
            <a:off x="7114032" y="1280160"/>
            <a:ext cx="1554480" cy="1097280"/>
          </a:xfrm>
          <a:prstGeom prst="roundRect">
            <a:avLst>
              <a:gd name="adj" fmla="val 6666"/>
            </a:avLst>
          </a:prstGeom>
          <a:solidFill>
            <a:srgbClr val="F2ECE1"/>
          </a:solidFill>
          <a:ln>
            <a:solidFill>
              <a:srgbClr val="F2ECE1"/>
            </a:solidFill>
          </a:ln>
        </p:spPr>
        <p:txBody>
          <a:bodyPr rtlCol="0" anchor="ctr" wrap="square" lIns="73152" rIns="73152" tIns="36576" bIns="36576"/>
          <a:lstStyle/>
          <a:p>
            <a:pPr algn="ctr"/>
            <a:r>
              <a:rPr sz="1300" b="1" i="0">
                <a:solidFill>
                  <a:srgbClr val="2B2622"/>
                </a:solidFill>
                <a:latin typeface="Cambria"/>
              </a:rPr>
              <a:t>Labels and protocol data</a:t>
            </a:r>
          </a:p>
        </p:txBody>
      </p:sp>
      <p:sp>
        <p:nvSpPr>
          <p:cNvPr id="11" name="test step"/>
          <p:cNvSpPr/>
          <p:nvPr/>
        </p:nvSpPr>
        <p:spPr>
          <a:xfrm>
            <a:off x="457200" y="2651760"/>
            <a:ext cx="8229600" cy="731520"/>
          </a:xfrm>
          <a:prstGeom prst="roundRect">
            <a:avLst>
              <a:gd name="adj" fmla="val 10000"/>
            </a:avLst>
          </a:prstGeom>
          <a:solidFill>
            <a:srgbClr val="D97A14"/>
          </a:solidFill>
          <a:ln>
            <a:solidFill>
              <a:srgbClr val="D97A14"/>
            </a:solidFill>
          </a:ln>
        </p:spPr>
        <p:txBody>
          <a:bodyPr rtlCol="0" anchor="ctr" wrap="square" lIns="73152" rIns="73152" tIns="36576" bIns="36576"/>
          <a:lstStyle/>
          <a:p>
            <a:pPr algn="ctr"/>
            <a:r>
              <a:rPr sz="1600" b="1" i="0">
                <a:solidFill>
                  <a:srgbClr val="FFFFFF"/>
                </a:solidFill>
                <a:latin typeface="Cambria"/>
              </a:rPr>
              <a:t>Then restore from the backup alone, and check the first address.</a:t>
            </a:r>
          </a:p>
        </p:txBody>
      </p:sp>
      <p:sp>
        <p:nvSpPr>
          <p:cNvPr id="12" name="closing remark"/>
          <p:cNvSpPr txBox="1"/>
          <p:nvPr/>
        </p:nvSpPr>
        <p:spPr>
          <a:xfrm>
            <a:off x="457200" y="3566160"/>
            <a:ext cx="8229600" cy="548640"/>
          </a:xfrm>
          <a:prstGeom prst="rect">
            <a:avLst/>
          </a:prstGeom>
          <a:noFill/>
        </p:spPr>
        <p:txBody>
          <a:bodyPr wrap="square" anchor="t" lIns="45720" rIns="45720" tIns="36576" bIns="36576">
            <a:spAutoFit/>
          </a:bodyPr>
          <a:lstStyle/>
          <a:p>
            <a:pPr algn="l"/>
            <a:r>
              <a:rPr sz="1300" b="0" i="1">
                <a:solidFill>
                  <a:srgbClr val="6E655C"/>
                </a:solidFill>
                <a:latin typeface="Calibri"/>
              </a:rPr>
              <a:t>Data loss is nobody's fault but cannot be reversed: the holder makes the backups and tests them.</a:t>
            </a:r>
          </a:p>
        </p:txBody>
      </p:sp>
      <p:sp>
        <p:nvSpPr>
          <p:cNvPr id="13"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backup is complete when a restore drill succeeds.</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63 / 68</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for parts 6 and 7</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Sticky notes, photocopies and mailboxes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Mind the Gap</a:t>
            </a:r>
          </a:p>
        </p:txBody>
      </p:sp>
      <p:graphicFrame>
        <p:nvGraphicFramePr>
          <p:cNvPr id="6" name="analogy table"/>
          <p:cNvGraphicFramePr>
            <a:graphicFrameLocks noGrp="1"/>
          </p:cNvGraphicFramePr>
          <p:nvPr/>
        </p:nvGraphicFramePr>
        <p:xfrm>
          <a:off x="457200" y="1188720"/>
          <a:ext cx="8229600" cy="3108960"/>
        </p:xfrm>
        <a:graphic>
          <a:graphicData uri="http://schemas.openxmlformats.org/drawingml/2006/table">
            <a:tbl>
              <a:tblPr firstRow="1" bandRow="1">
                <a:tableStyleId>{5C22544A-7EE6-4342-B048-85BDC9FD1C3A}</a:tableStyleId>
              </a:tblPr>
              <a:tblGrid>
                <a:gridCol w="2194560"/>
                <a:gridCol w="3108960"/>
                <a:gridCol w="2926080"/>
              </a:tblGrid>
              <a:tr h="388620">
                <a:tc>
                  <a:txBody>
                    <a:bodyPr wrap="square"/>
                    <a:lstStyle/>
                    <a:p>
                      <a:r>
                        <a:rPr sz="1050" b="1">
                          <a:solidFill>
                            <a:srgbClr val="FFFFFF"/>
                          </a:solidFill>
                          <a:latin typeface="Calibri"/>
                        </a:rPr>
                        <a:t>Concept</a:t>
                      </a:r>
                    </a:p>
                  </a:txBody>
                  <a:tcPr marL="64008" marR="64008" marT="18288" marB="18288" anchor="ctr">
                    <a:solidFill>
                      <a:srgbClr val="2B2622"/>
                    </a:solidFill>
                  </a:tcPr>
                </a:tc>
                <a:tc>
                  <a:txBody>
                    <a:bodyPr wrap="square"/>
                    <a:lstStyle/>
                    <a:p>
                      <a:r>
                        <a:rPr sz="1050" b="1">
                          <a:solidFill>
                            <a:srgbClr val="FFFFFF"/>
                          </a:solidFill>
                          <a:latin typeface="Calibri"/>
                        </a:rPr>
                        <a:t>In everyday life</a:t>
                      </a:r>
                    </a:p>
                  </a:txBody>
                  <a:tcPr marL="64008" marR="64008" marT="18288" marB="18288" anchor="ctr">
                    <a:solidFill>
                      <a:srgbClr val="2B2622"/>
                    </a:solidFill>
                  </a:tcPr>
                </a:tc>
                <a:tc>
                  <a:txBody>
                    <a:bodyPr wrap="square"/>
                    <a:lstStyle/>
                    <a:p>
                      <a:r>
                        <a:rPr sz="1050" b="1">
                          <a:solidFill>
                            <a:srgbClr val="FFFFFF"/>
                          </a:solidFill>
                          <a:latin typeface="Calibri"/>
                        </a:rPr>
                        <a:t>In the wallet</a:t>
                      </a:r>
                    </a:p>
                  </a:txBody>
                  <a:tcPr marL="64008" marR="64008" marT="18288" marB="18288" anchor="ctr">
                    <a:solidFill>
                      <a:srgbClr val="2B2622"/>
                    </a:solidFill>
                  </a:tcPr>
                </a:tc>
              </a:tr>
              <a:tr h="388620">
                <a:tc>
                  <a:txBody>
                    <a:bodyPr wrap="square"/>
                    <a:lstStyle/>
                    <a:p>
                      <a:r>
                        <a:rPr sz="1050" b="1">
                          <a:solidFill>
                            <a:srgbClr val="2B2622"/>
                          </a:solidFill>
                          <a:latin typeface="Calibri"/>
                        </a:rPr>
                        <a:t>label</a:t>
                      </a:r>
                    </a:p>
                  </a:txBody>
                  <a:tcPr marL="64008" marR="64008" marT="18288" marB="18288" anchor="ctr">
                    <a:solidFill>
                      <a:srgbClr val="F2ECE1"/>
                    </a:solidFill>
                  </a:tcPr>
                </a:tc>
                <a:tc>
                  <a:txBody>
                    <a:bodyPr wrap="square"/>
                    <a:lstStyle/>
                    <a:p>
                      <a:r>
                        <a:rPr sz="1050" b="0">
                          <a:solidFill>
                            <a:srgbClr val="2B2622"/>
                          </a:solidFill>
                          <a:latin typeface="Calibri"/>
                        </a:rPr>
                        <a:t>A sticky note on a drawer</a:t>
                      </a:r>
                    </a:p>
                  </a:txBody>
                  <a:tcPr marL="64008" marR="64008" marT="18288" marB="18288" anchor="ctr">
                    <a:solidFill>
                      <a:srgbClr val="F2ECE1"/>
                    </a:solidFill>
                  </a:tcPr>
                </a:tc>
                <a:tc>
                  <a:txBody>
                    <a:bodyPr wrap="square"/>
                    <a:lstStyle/>
                    <a:p>
                      <a:r>
                        <a:rPr sz="1050" b="0">
                          <a:solidFill>
                            <a:srgbClr val="2B2622"/>
                          </a:solidFill>
                          <a:latin typeface="Calibri"/>
                        </a:rPr>
                        <a:t>Text naming an address or a transaction</a:t>
                      </a:r>
                    </a:p>
                  </a:txBody>
                  <a:tcPr marL="64008" marR="64008" marT="18288" marB="18288" anchor="ctr">
                    <a:solidFill>
                      <a:srgbClr val="F2ECE1"/>
                    </a:solidFill>
                  </a:tcPr>
                </a:tc>
              </a:tr>
              <a:tr h="388620">
                <a:tc>
                  <a:txBody>
                    <a:bodyPr wrap="square"/>
                    <a:lstStyle/>
                    <a:p>
                      <a:r>
                        <a:rPr sz="1050" b="1">
                          <a:solidFill>
                            <a:srgbClr val="2B2622"/>
                          </a:solidFill>
                          <a:latin typeface="Calibri"/>
                        </a:rPr>
                        <a:t>BIP329</a:t>
                      </a:r>
                    </a:p>
                  </a:txBody>
                  <a:tcPr marL="64008" marR="64008" marT="18288" marB="18288" anchor="ctr">
                    <a:solidFill>
                      <a:srgbClr val="FFFFFF"/>
                    </a:solidFill>
                  </a:tcPr>
                </a:tc>
                <a:tc>
                  <a:txBody>
                    <a:bodyPr wrap="square"/>
                    <a:lstStyle/>
                    <a:p>
                      <a:r>
                        <a:rPr sz="1050" b="0">
                          <a:solidFill>
                            <a:srgbClr val="2B2622"/>
                          </a:solidFill>
                          <a:latin typeface="Calibri"/>
                        </a:rPr>
                        <a:t>A filing format so notes move between programs</a:t>
                      </a:r>
                    </a:p>
                  </a:txBody>
                  <a:tcPr marL="64008" marR="64008" marT="18288" marB="18288" anchor="ctr">
                    <a:solidFill>
                      <a:srgbClr val="FFFFFF"/>
                    </a:solidFill>
                  </a:tcPr>
                </a:tc>
                <a:tc>
                  <a:txBody>
                    <a:bodyPr wrap="square"/>
                    <a:lstStyle/>
                    <a:p>
                      <a:r>
                        <a:rPr sz="1050" b="0">
                          <a:solidFill>
                            <a:srgbClr val="2B2622"/>
                          </a:solidFill>
                          <a:latin typeface="Calibri"/>
                        </a:rPr>
                        <a:t>One JSON line per label</a:t>
                      </a:r>
                    </a:p>
                  </a:txBody>
                  <a:tcPr marL="64008" marR="64008" marT="18288" marB="18288" anchor="ctr">
                    <a:solidFill>
                      <a:srgbClr val="FFFFFF"/>
                    </a:solidFill>
                  </a:tcPr>
                </a:tc>
              </a:tr>
              <a:tr h="388620">
                <a:tc>
                  <a:txBody>
                    <a:bodyPr wrap="square"/>
                    <a:lstStyle/>
                    <a:p>
                      <a:r>
                        <a:rPr sz="1050" b="1">
                          <a:solidFill>
                            <a:srgbClr val="2B2622"/>
                          </a:solidFill>
                          <a:latin typeface="Calibri"/>
                        </a:rPr>
                        <a:t>static channel backups</a:t>
                      </a:r>
                    </a:p>
                  </a:txBody>
                  <a:tcPr marL="64008" marR="64008" marT="18288" marB="18288" anchor="ctr">
                    <a:solidFill>
                      <a:srgbClr val="F2ECE1"/>
                    </a:solidFill>
                  </a:tcPr>
                </a:tc>
                <a:tc>
                  <a:txBody>
                    <a:bodyPr wrap="square"/>
                    <a:lstStyle/>
                    <a:p>
                      <a:r>
                        <a:rPr sz="1050" b="0">
                          <a:solidFill>
                            <a:srgbClr val="2B2622"/>
                          </a:solidFill>
                          <a:latin typeface="Calibri"/>
                        </a:rPr>
                        <a:t>A photocopy of a contract made once</a:t>
                      </a:r>
                    </a:p>
                  </a:txBody>
                  <a:tcPr marL="64008" marR="64008" marT="18288" marB="18288" anchor="ctr">
                    <a:solidFill>
                      <a:srgbClr val="F2ECE1"/>
                    </a:solidFill>
                  </a:tcPr>
                </a:tc>
                <a:tc>
                  <a:txBody>
                    <a:bodyPr wrap="square"/>
                    <a:lstStyle/>
                    <a:p>
                      <a:r>
                        <a:rPr sz="1050" b="0">
                          <a:solidFill>
                            <a:srgbClr val="2B2622"/>
                          </a:solidFill>
                          <a:latin typeface="Calibri"/>
                        </a:rPr>
                        <a:t>Helps recover channel funds; no guarantee</a:t>
                      </a:r>
                    </a:p>
                  </a:txBody>
                  <a:tcPr marL="64008" marR="64008" marT="18288" marB="18288" anchor="ctr">
                    <a:solidFill>
                      <a:srgbClr val="F2ECE1"/>
                    </a:solidFill>
                  </a:tcPr>
                </a:tc>
              </a:tr>
              <a:tr h="388620">
                <a:tc>
                  <a:txBody>
                    <a:bodyPr wrap="square"/>
                    <a:lstStyle/>
                    <a:p>
                      <a:r>
                        <a:rPr sz="1050" b="1">
                          <a:solidFill>
                            <a:srgbClr val="2B2622"/>
                          </a:solidFill>
                          <a:latin typeface="Calibri"/>
                        </a:rPr>
                        <a:t>gap limit</a:t>
                      </a:r>
                    </a:p>
                  </a:txBody>
                  <a:tcPr marL="64008" marR="64008" marT="18288" marB="18288" anchor="ctr">
                    <a:solidFill>
                      <a:srgbClr val="FFFFFF"/>
                    </a:solidFill>
                  </a:tcPr>
                </a:tc>
                <a:tc>
                  <a:txBody>
                    <a:bodyPr wrap="square"/>
                    <a:lstStyle/>
                    <a:p>
                      <a:r>
                        <a:rPr sz="1050" b="0">
                          <a:solidFill>
                            <a:srgbClr val="2B2622"/>
                          </a:solidFill>
                          <a:latin typeface="Calibri"/>
                        </a:rPr>
                        <a:t>Checking mailboxes until a set number in a row are empty</a:t>
                      </a:r>
                    </a:p>
                  </a:txBody>
                  <a:tcPr marL="64008" marR="64008" marT="18288" marB="18288" anchor="ctr">
                    <a:solidFill>
                      <a:srgbClr val="FFFFFF"/>
                    </a:solidFill>
                  </a:tcPr>
                </a:tc>
                <a:tc>
                  <a:txBody>
                    <a:bodyPr wrap="square"/>
                    <a:lstStyle/>
                    <a:p>
                      <a:r>
                        <a:rPr sz="1050" b="0">
                          <a:solidFill>
                            <a:srgbClr val="2B2622"/>
                          </a:solidFill>
                          <a:latin typeface="Calibri"/>
                        </a:rPr>
                        <a:t>How many unused addresses in a row a scan checks</a:t>
                      </a:r>
                    </a:p>
                  </a:txBody>
                  <a:tcPr marL="64008" marR="64008" marT="18288" marB="18288" anchor="ctr">
                    <a:solidFill>
                      <a:srgbClr val="FFFFFF"/>
                    </a:solidFill>
                  </a:tcPr>
                </a:tc>
              </a:tr>
              <a:tr h="388620">
                <a:tc>
                  <a:txBody>
                    <a:bodyPr wrap="square"/>
                    <a:lstStyle/>
                    <a:p>
                      <a:r>
                        <a:rPr sz="1050" b="1">
                          <a:solidFill>
                            <a:srgbClr val="2B2622"/>
                          </a:solidFill>
                          <a:latin typeface="Calibri"/>
                        </a:rPr>
                        <a:t>Backing Up Nonkey Data</a:t>
                      </a:r>
                    </a:p>
                  </a:txBody>
                  <a:tcPr marL="64008" marR="64008" marT="18288" marB="18288" anchor="ctr">
                    <a:solidFill>
                      <a:srgbClr val="F2ECE1"/>
                    </a:solidFill>
                  </a:tcPr>
                </a:tc>
                <a:tc>
                  <a:txBody>
                    <a:bodyPr wrap="square"/>
                    <a:lstStyle/>
                    <a:p>
                      <a:r>
                        <a:rPr sz="1050" b="0">
                          <a:solidFill>
                            <a:srgbClr val="2B2622"/>
                          </a:solidFill>
                          <a:latin typeface="Calibri"/>
                        </a:rPr>
                        <a:t>Photocopying your notes and contracts</a:t>
                      </a:r>
                    </a:p>
                  </a:txBody>
                  <a:tcPr marL="64008" marR="64008" marT="18288" marB="18288" anchor="ctr">
                    <a:solidFill>
                      <a:srgbClr val="F2ECE1"/>
                    </a:solidFill>
                  </a:tcPr>
                </a:tc>
                <a:tc>
                  <a:txBody>
                    <a:bodyPr wrap="square"/>
                    <a:lstStyle/>
                    <a:p>
                      <a:r>
                        <a:rPr sz="1050" b="0">
                          <a:solidFill>
                            <a:srgbClr val="2B2622"/>
                          </a:solidFill>
                          <a:latin typeface="Calibri"/>
                        </a:rPr>
                        <a:t>Labels and protocol data kept apart from the seed</a:t>
                      </a:r>
                    </a:p>
                  </a:txBody>
                  <a:tcPr marL="64008" marR="64008" marT="18288" marB="18288" anchor="ctr">
                    <a:solidFill>
                      <a:srgbClr val="F2ECE1"/>
                    </a:solidFill>
                  </a:tcPr>
                </a:tc>
              </a:tr>
              <a:tr h="388620">
                <a:tc>
                  <a:txBody>
                    <a:bodyPr wrap="square"/>
                    <a:lstStyle/>
                    <a:p>
                      <a:r>
                        <a:rPr sz="1050" b="1">
                          <a:solidFill>
                            <a:srgbClr val="2B2622"/>
                          </a:solidFill>
                          <a:latin typeface="Calibri"/>
                        </a:rPr>
                        <a:t>Mind the Gap</a:t>
                      </a:r>
                    </a:p>
                  </a:txBody>
                  <a:tcPr marL="64008" marR="64008" marT="18288" marB="18288" anchor="ctr">
                    <a:solidFill>
                      <a:srgbClr val="FFFFFF"/>
                    </a:solidFill>
                  </a:tcPr>
                </a:tc>
                <a:tc>
                  <a:txBody>
                    <a:bodyPr wrap="square"/>
                    <a:lstStyle/>
                    <a:p>
                      <a:r>
                        <a:rPr sz="1050" b="0">
                          <a:solidFill>
                            <a:srgbClr val="2B2622"/>
                          </a:solidFill>
                          <a:latin typeface="Calibri"/>
                        </a:rPr>
                        <a:t>Looking down the street for the next used mailbox</a:t>
                      </a:r>
                    </a:p>
                  </a:txBody>
                  <a:tcPr marL="64008" marR="64008" marT="18288" marB="18288" anchor="ctr">
                    <a:solidFill>
                      <a:srgbClr val="FFFFFF"/>
                    </a:solidFill>
                  </a:tcPr>
                </a:tc>
                <a:tc>
                  <a:txBody>
                    <a:bodyPr wrap="square"/>
                    <a:lstStyle/>
                    <a:p>
                      <a:r>
                        <a:rPr sz="1050" b="0">
                          <a:solidFill>
                            <a:srgbClr val="2B2622"/>
                          </a:solidFill>
                          <a:latin typeface="Calibri"/>
                        </a:rPr>
                        <a:t>The gap limit of a recovery scan</a:t>
                      </a:r>
                    </a:p>
                  </a:txBody>
                  <a:tcPr marL="64008" marR="64008" marT="18288" marB="18288" anchor="ctr">
                    <a:solidFill>
                      <a:srgbClr val="FFFFFF"/>
                    </a:solidFill>
                  </a:tcPr>
                </a:tc>
              </a:tr>
              <a:tr h="388620">
                <a:tc>
                  <a:txBody>
                    <a:bodyPr wrap="square"/>
                    <a:lstStyle/>
                    <a:p>
                      <a:r>
                        <a:rPr sz="1050" b="1">
                          <a:solidFill>
                            <a:srgbClr val="2B2622"/>
                          </a:solidFill>
                          <a:latin typeface="Calibri"/>
                        </a:rPr>
                        <a:t>Using an Extended Public Key on a Web Store</a:t>
                      </a:r>
                    </a:p>
                  </a:txBody>
                  <a:tcPr marL="64008" marR="64008" marT="18288" marB="18288" anchor="ctr">
                    <a:solidFill>
                      <a:srgbClr val="F2ECE1"/>
                    </a:solidFill>
                  </a:tcPr>
                </a:tc>
                <a:tc>
                  <a:txBody>
                    <a:bodyPr wrap="square"/>
                    <a:lstStyle/>
                    <a:p>
                      <a:r>
                        <a:rPr sz="1050" b="0">
                          <a:solidFill>
                            <a:srgbClr val="2B2622"/>
                          </a:solidFill>
                          <a:latin typeface="Calibri"/>
                        </a:rPr>
                        <a:t>Handing the shop a guest list, not the archive</a:t>
                      </a:r>
                    </a:p>
                  </a:txBody>
                  <a:tcPr marL="64008" marR="64008" marT="18288" marB="18288" anchor="ctr">
                    <a:solidFill>
                      <a:srgbClr val="F2ECE1"/>
                    </a:solidFill>
                  </a:tcPr>
                </a:tc>
                <a:tc>
                  <a:txBody>
                    <a:bodyPr wrap="square"/>
                    <a:lstStyle/>
                    <a:p>
                      <a:r>
                        <a:rPr sz="1050" b="0">
                          <a:solidFill>
                            <a:srgbClr val="2B2622"/>
                          </a:solidFill>
                          <a:latin typeface="Calibri"/>
                        </a:rPr>
                        <a:t>The xpub makes a fresh address per customer</a:t>
                      </a:r>
                    </a:p>
                  </a:txBody>
                  <a:tcPr marL="64008" marR="64008" marT="18288" marB="18288" anchor="ctr">
                    <a:solidFill>
                      <a:srgbClr val="F2ECE1"/>
                    </a:solidFill>
                  </a:tcPr>
                </a:tc>
              </a:tr>
            </a:tbl>
          </a:graphicData>
        </a:graphic>
      </p:graphicFrame>
      <p:sp>
        <p:nvSpPr>
          <p:cNvPr id="7" name="takeaway"/>
          <p:cNvSpPr txBox="1"/>
          <p:nvPr/>
        </p:nvSpPr>
        <p:spPr>
          <a:xfrm>
            <a:off x="457200" y="452628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Notes, copies and mailboxes: each needs its own backup or setting.</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64 / 68</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The chapter in five lines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One line per part</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6" name="line number"/>
          <p:cNvSpPr/>
          <p:nvPr/>
        </p:nvSpPr>
        <p:spPr>
          <a:xfrm>
            <a:off x="457200" y="1188720"/>
            <a:ext cx="457200" cy="530352"/>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600" b="1" i="0">
                <a:solidFill>
                  <a:srgbClr val="FFFFFF"/>
                </a:solidFill>
                <a:latin typeface="Cambria"/>
              </a:rPr>
              <a:t>1</a:t>
            </a:r>
          </a:p>
        </p:txBody>
      </p:sp>
      <p:sp>
        <p:nvSpPr>
          <p:cNvPr id="7" name="summary line"/>
          <p:cNvSpPr/>
          <p:nvPr/>
        </p:nvSpPr>
        <p:spPr>
          <a:xfrm>
            <a:off x="1005840" y="1188720"/>
            <a:ext cx="768096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50" b="0" i="0">
                <a:solidFill>
                  <a:srgbClr val="2B2622"/>
                </a:solidFill>
                <a:latin typeface="Calibri"/>
              </a:rPr>
              <a:t>Wallets stopped storing keys and started deriving them: one seed, backed up once.</a:t>
            </a:r>
          </a:p>
        </p:txBody>
      </p:sp>
      <p:sp>
        <p:nvSpPr>
          <p:cNvPr id="8" name="line number"/>
          <p:cNvSpPr/>
          <p:nvPr/>
        </p:nvSpPr>
        <p:spPr>
          <a:xfrm>
            <a:off x="457200" y="1810512"/>
            <a:ext cx="457200" cy="530352"/>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600" b="1" i="0">
                <a:solidFill>
                  <a:srgbClr val="FFFFFF"/>
                </a:solidFill>
                <a:latin typeface="Cambria"/>
              </a:rPr>
              <a:t>2</a:t>
            </a:r>
          </a:p>
        </p:txBody>
      </p:sp>
      <p:sp>
        <p:nvSpPr>
          <p:cNvPr id="9" name="summary line"/>
          <p:cNvSpPr/>
          <p:nvPr/>
        </p:nvSpPr>
        <p:spPr>
          <a:xfrm>
            <a:off x="1005840" y="1810512"/>
            <a:ext cx="768096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50" b="0" i="0">
                <a:solidFill>
                  <a:srgbClr val="2B2622"/>
                </a:solidFill>
                <a:latin typeface="Calibri"/>
              </a:rPr>
              <a:t>A recovery code is entropy in words: 11 bits a word, checksum included.</a:t>
            </a:r>
          </a:p>
        </p:txBody>
      </p:sp>
      <p:sp>
        <p:nvSpPr>
          <p:cNvPr id="10" name="line number"/>
          <p:cNvSpPr/>
          <p:nvPr/>
        </p:nvSpPr>
        <p:spPr>
          <a:xfrm>
            <a:off x="457200" y="2432304"/>
            <a:ext cx="457200" cy="530352"/>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600" b="1" i="0">
                <a:solidFill>
                  <a:srgbClr val="FFFFFF"/>
                </a:solidFill>
                <a:latin typeface="Cambria"/>
              </a:rPr>
              <a:t>3</a:t>
            </a:r>
          </a:p>
        </p:txBody>
      </p:sp>
      <p:sp>
        <p:nvSpPr>
          <p:cNvPr id="11" name="summary line"/>
          <p:cNvSpPr/>
          <p:nvPr/>
        </p:nvSpPr>
        <p:spPr>
          <a:xfrm>
            <a:off x="1005840" y="2432304"/>
            <a:ext cx="768096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50" b="0" i="0">
                <a:solidFill>
                  <a:srgbClr val="2B2622"/>
                </a:solidFill>
                <a:latin typeface="Calibri"/>
              </a:rPr>
              <a:t>Words become a 512-bit seed by deliberate slowness; a passphrase forks the wallet.</a:t>
            </a:r>
          </a:p>
        </p:txBody>
      </p:sp>
      <p:sp>
        <p:nvSpPr>
          <p:cNvPr id="12" name="line number"/>
          <p:cNvSpPr/>
          <p:nvPr/>
        </p:nvSpPr>
        <p:spPr>
          <a:xfrm>
            <a:off x="457200" y="3054096"/>
            <a:ext cx="457200" cy="530352"/>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600" b="1" i="0">
                <a:solidFill>
                  <a:srgbClr val="FFFFFF"/>
                </a:solidFill>
                <a:latin typeface="Cambria"/>
              </a:rPr>
              <a:t>4</a:t>
            </a:r>
          </a:p>
        </p:txBody>
      </p:sp>
      <p:sp>
        <p:nvSpPr>
          <p:cNvPr id="13" name="summary line"/>
          <p:cNvSpPr/>
          <p:nvPr/>
        </p:nvSpPr>
        <p:spPr>
          <a:xfrm>
            <a:off x="1005840" y="3054096"/>
            <a:ext cx="768096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50" b="0" i="0">
                <a:solidFill>
                  <a:srgbClr val="2B2622"/>
                </a:solidFill>
                <a:latin typeface="Calibri"/>
              </a:rPr>
              <a:t>The HD tree gives every purpose a numbered key; hardened steps protect the parent.</a:t>
            </a:r>
          </a:p>
        </p:txBody>
      </p:sp>
      <p:sp>
        <p:nvSpPr>
          <p:cNvPr id="14" name="line number"/>
          <p:cNvSpPr/>
          <p:nvPr/>
        </p:nvSpPr>
        <p:spPr>
          <a:xfrm>
            <a:off x="457200" y="3675888"/>
            <a:ext cx="457200" cy="530352"/>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600" b="1" i="0">
                <a:solidFill>
                  <a:srgbClr val="FFFFFF"/>
                </a:solidFill>
                <a:latin typeface="Cambria"/>
              </a:rPr>
              <a:t>5</a:t>
            </a:r>
          </a:p>
        </p:txBody>
      </p:sp>
      <p:sp>
        <p:nvSpPr>
          <p:cNvPr id="15" name="summary line"/>
          <p:cNvSpPr/>
          <p:nvPr/>
        </p:nvSpPr>
        <p:spPr>
          <a:xfrm>
            <a:off x="1005840" y="3675888"/>
            <a:ext cx="768096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50" b="0" i="0">
                <a:solidFill>
                  <a:srgbClr val="2B2622"/>
                </a:solidFill>
                <a:latin typeface="Calibri"/>
              </a:rPr>
              <a:t>Beyond keys: paths, labels, channels, and a backup counts only once it is restored.</a:t>
            </a:r>
          </a:p>
        </p:txBody>
      </p:sp>
      <p:sp>
        <p:nvSpPr>
          <p:cNvPr id="16"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If a line feels unproven, its part's code slides carry the receipt.</a:t>
            </a:r>
          </a:p>
        </p:txBody>
      </p:sp>
      <p:sp>
        <p:nvSpPr>
          <p:cNvPr id="1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65 / 68</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Check yourself</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Six questions, then the slides that answer them</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graphicFrame>
        <p:nvGraphicFramePr>
          <p:cNvPr id="6" name="question table"/>
          <p:cNvGraphicFramePr>
            <a:graphicFrameLocks noGrp="1"/>
          </p:cNvGraphicFramePr>
          <p:nvPr/>
        </p:nvGraphicFramePr>
        <p:xfrm>
          <a:off x="457200" y="1188720"/>
          <a:ext cx="8229600" cy="2944368"/>
        </p:xfrm>
        <a:graphic>
          <a:graphicData uri="http://schemas.openxmlformats.org/drawingml/2006/table">
            <a:tbl>
              <a:tblPr firstRow="1" bandRow="1">
                <a:tableStyleId>{5C22544A-7EE6-4342-B048-85BDC9FD1C3A}</a:tableStyleId>
              </a:tblPr>
              <a:tblGrid>
                <a:gridCol w="5852160"/>
                <a:gridCol w="2377440"/>
              </a:tblGrid>
              <a:tr h="420624">
                <a:tc>
                  <a:txBody>
                    <a:bodyPr wrap="square"/>
                    <a:lstStyle/>
                    <a:p>
                      <a:r>
                        <a:rPr sz="1300" b="1">
                          <a:solidFill>
                            <a:srgbClr val="FFFFFF"/>
                          </a:solidFill>
                          <a:latin typeface="Calibri"/>
                        </a:rPr>
                        <a:t>Question</a:t>
                      </a:r>
                    </a:p>
                  </a:txBody>
                  <a:tcPr marL="64008" marR="64008" marT="18288" marB="18288" anchor="ctr">
                    <a:solidFill>
                      <a:srgbClr val="2B2622"/>
                    </a:solidFill>
                  </a:tcPr>
                </a:tc>
                <a:tc>
                  <a:txBody>
                    <a:bodyPr wrap="square"/>
                    <a:lstStyle/>
                    <a:p>
                      <a:r>
                        <a:rPr sz="1300" b="1">
                          <a:solidFill>
                            <a:srgbClr val="FFFFFF"/>
                          </a:solidFill>
                          <a:latin typeface="Calibri"/>
                        </a:rPr>
                        <a:t>Look again at</a:t>
                      </a:r>
                    </a:p>
                  </a:txBody>
                  <a:tcPr marL="64008" marR="64008" marT="18288" marB="18288" anchor="ctr">
                    <a:solidFill>
                      <a:srgbClr val="2B2622"/>
                    </a:solidFill>
                  </a:tcPr>
                </a:tc>
              </a:tr>
              <a:tr h="420624">
                <a:tc>
                  <a:txBody>
                    <a:bodyPr wrap="square"/>
                    <a:lstStyle/>
                    <a:p>
                      <a:r>
                        <a:rPr sz="1300" b="0">
                          <a:solidFill>
                            <a:srgbClr val="2B2622"/>
                          </a:solidFill>
                          <a:latin typeface="Calibri"/>
                        </a:rPr>
                        <a:t>Why is one seed better than many loose keys?</a:t>
                      </a:r>
                    </a:p>
                  </a:txBody>
                  <a:tcPr marL="64008" marR="64008" marT="18288" marB="18288" anchor="ctr">
                    <a:solidFill>
                      <a:srgbClr val="F2ECE1"/>
                    </a:solidFill>
                  </a:tcPr>
                </a:tc>
                <a:tc>
                  <a:txBody>
                    <a:bodyPr wrap="square"/>
                    <a:lstStyle/>
                    <a:p>
                      <a:r>
                        <a:rPr sz="1300" b="0">
                          <a:solidFill>
                            <a:srgbClr val="2B2622"/>
                          </a:solidFill>
                          <a:latin typeface="Calibri"/>
                        </a:rPr>
                        <a:t>Code 1</a:t>
                      </a:r>
                    </a:p>
                  </a:txBody>
                  <a:tcPr marL="64008" marR="64008" marT="18288" marB="18288" anchor="ctr">
                    <a:solidFill>
                      <a:srgbClr val="F2ECE1"/>
                    </a:solidFill>
                  </a:tcPr>
                </a:tc>
              </a:tr>
              <a:tr h="420624">
                <a:tc>
                  <a:txBody>
                    <a:bodyPr wrap="square"/>
                    <a:lstStyle/>
                    <a:p>
                      <a:r>
                        <a:rPr sz="1300" b="0">
                          <a:solidFill>
                            <a:srgbClr val="2B2622"/>
                          </a:solidFill>
                          <a:latin typeface="Calibri"/>
                        </a:rPr>
                        <a:t>How many words does 256 bits of entropy make?</a:t>
                      </a:r>
                    </a:p>
                  </a:txBody>
                  <a:tcPr marL="64008" marR="64008" marT="18288" marB="18288" anchor="ctr">
                    <a:solidFill>
                      <a:srgbClr val="FFFFFF"/>
                    </a:solidFill>
                  </a:tcPr>
                </a:tc>
                <a:tc>
                  <a:txBody>
                    <a:bodyPr wrap="square"/>
                    <a:lstStyle/>
                    <a:p>
                      <a:r>
                        <a:rPr sz="1300" b="0">
                          <a:solidFill>
                            <a:srgbClr val="2B2622"/>
                          </a:solidFill>
                          <a:latin typeface="Calibri"/>
                        </a:rPr>
                        <a:t>Code 5</a:t>
                      </a:r>
                    </a:p>
                  </a:txBody>
                  <a:tcPr marL="64008" marR="64008" marT="18288" marB="18288" anchor="ctr">
                    <a:solidFill>
                      <a:srgbClr val="FFFFFF"/>
                    </a:solidFill>
                  </a:tcPr>
                </a:tc>
              </a:tr>
              <a:tr h="420624">
                <a:tc>
                  <a:txBody>
                    <a:bodyPr wrap="square"/>
                    <a:lstStyle/>
                    <a:p>
                      <a:r>
                        <a:rPr sz="1300" b="0">
                          <a:solidFill>
                            <a:srgbClr val="2B2622"/>
                          </a:solidFill>
                          <a:latin typeface="Calibri"/>
                        </a:rPr>
                        <a:t>What does the checksum protect against?</a:t>
                      </a:r>
                    </a:p>
                  </a:txBody>
                  <a:tcPr marL="64008" marR="64008" marT="18288" marB="18288" anchor="ctr">
                    <a:solidFill>
                      <a:srgbClr val="F2ECE1"/>
                    </a:solidFill>
                  </a:tcPr>
                </a:tc>
                <a:tc>
                  <a:txBody>
                    <a:bodyPr wrap="square"/>
                    <a:lstStyle/>
                    <a:p>
                      <a:r>
                        <a:rPr sz="1300" b="0">
                          <a:solidFill>
                            <a:srgbClr val="2B2622"/>
                          </a:solidFill>
                          <a:latin typeface="Calibri"/>
                        </a:rPr>
                        <a:t>Code 7</a:t>
                      </a:r>
                    </a:p>
                  </a:txBody>
                  <a:tcPr marL="64008" marR="64008" marT="18288" marB="18288" anchor="ctr">
                    <a:solidFill>
                      <a:srgbClr val="F2ECE1"/>
                    </a:solidFill>
                  </a:tcPr>
                </a:tc>
              </a:tr>
              <a:tr h="420624">
                <a:tc>
                  <a:txBody>
                    <a:bodyPr wrap="square"/>
                    <a:lstStyle/>
                    <a:p>
                      <a:r>
                        <a:rPr sz="1300" b="0">
                          <a:solidFill>
                            <a:srgbClr val="2B2622"/>
                          </a:solidFill>
                          <a:latin typeface="Calibri"/>
                        </a:rPr>
                        <a:t>Why does a passphrase change the wallet?</a:t>
                      </a:r>
                    </a:p>
                  </a:txBody>
                  <a:tcPr marL="64008" marR="64008" marT="18288" marB="18288" anchor="ctr">
                    <a:solidFill>
                      <a:srgbClr val="FFFFFF"/>
                    </a:solidFill>
                  </a:tcPr>
                </a:tc>
                <a:tc>
                  <a:txBody>
                    <a:bodyPr wrap="square"/>
                    <a:lstStyle/>
                    <a:p>
                      <a:r>
                        <a:rPr sz="1300" b="0">
                          <a:solidFill>
                            <a:srgbClr val="2B2622"/>
                          </a:solidFill>
                          <a:latin typeface="Calibri"/>
                        </a:rPr>
                        <a:t>Code 10</a:t>
                      </a:r>
                    </a:p>
                  </a:txBody>
                  <a:tcPr marL="64008" marR="64008" marT="18288" marB="18288" anchor="ctr">
                    <a:solidFill>
                      <a:srgbClr val="FFFFFF"/>
                    </a:solidFill>
                  </a:tcPr>
                </a:tc>
              </a:tr>
              <a:tr h="420624">
                <a:tc>
                  <a:txBody>
                    <a:bodyPr wrap="square"/>
                    <a:lstStyle/>
                    <a:p>
                      <a:r>
                        <a:rPr sz="1300" b="0">
                          <a:solidFill>
                            <a:srgbClr val="2B2622"/>
                          </a:solidFill>
                          <a:latin typeface="Calibri"/>
                        </a:rPr>
                        <a:t>Why are account levels hardened?</a:t>
                      </a:r>
                    </a:p>
                  </a:txBody>
                  <a:tcPr marL="64008" marR="64008" marT="18288" marB="18288" anchor="ctr">
                    <a:solidFill>
                      <a:srgbClr val="F2ECE1"/>
                    </a:solidFill>
                  </a:tcPr>
                </a:tc>
                <a:tc>
                  <a:txBody>
                    <a:bodyPr wrap="square"/>
                    <a:lstStyle/>
                    <a:p>
                      <a:r>
                        <a:rPr sz="1300" b="0">
                          <a:solidFill>
                            <a:srgbClr val="2B2622"/>
                          </a:solidFill>
                          <a:latin typeface="Calibri"/>
                        </a:rPr>
                        <a:t>Code 14</a:t>
                      </a:r>
                    </a:p>
                  </a:txBody>
                  <a:tcPr marL="64008" marR="64008" marT="18288" marB="18288" anchor="ctr">
                    <a:solidFill>
                      <a:srgbClr val="F2ECE1"/>
                    </a:solidFill>
                  </a:tcPr>
                </a:tc>
              </a:tr>
              <a:tr h="420624">
                <a:tc>
                  <a:txBody>
                    <a:bodyPr wrap="square"/>
                    <a:lstStyle/>
                    <a:p>
                      <a:r>
                        <a:rPr sz="1300" b="0">
                          <a:solidFill>
                            <a:srgbClr val="2B2622"/>
                          </a:solidFill>
                          <a:latin typeface="Calibri"/>
                        </a:rPr>
                        <a:t>How do you know a backup works?</a:t>
                      </a:r>
                    </a:p>
                  </a:txBody>
                  <a:tcPr marL="64008" marR="64008" marT="18288" marB="18288" anchor="ctr">
                    <a:solidFill>
                      <a:srgbClr val="FFFFFF"/>
                    </a:solidFill>
                  </a:tcPr>
                </a:tc>
                <a:tc>
                  <a:txBody>
                    <a:bodyPr wrap="square"/>
                    <a:lstStyle/>
                    <a:p>
                      <a:r>
                        <a:rPr sz="1300" b="0">
                          <a:solidFill>
                            <a:srgbClr val="2B2622"/>
                          </a:solidFill>
                          <a:latin typeface="Calibri"/>
                        </a:rPr>
                        <a:t>Code 27</a:t>
                      </a:r>
                    </a:p>
                  </a:txBody>
                  <a:tcPr marL="64008" marR="64008" marT="18288" marB="18288" anchor="ctr">
                    <a:solidFill>
                      <a:srgbClr val="FFFFFF"/>
                    </a:solidFill>
                  </a:tcPr>
                </a:tc>
              </a:tr>
            </a:tbl>
          </a:graphicData>
        </a:graphic>
      </p:graphicFrame>
      <p:sp>
        <p:nvSpPr>
          <p:cNvPr id="7"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Answer without looking, then check the code slide.</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66 / 68</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Where to go from here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Every entry is a live link; the course page holds the same code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6" name="resource group"/>
          <p:cNvSpPr/>
          <p:nvPr/>
        </p:nvSpPr>
        <p:spPr>
          <a:xfrm>
            <a:off x="457200" y="1170432"/>
            <a:ext cx="4023360" cy="914400"/>
          </a:xfrm>
          <a:prstGeom prst="roundRect">
            <a:avLst>
              <a:gd name="adj" fmla="val 8000"/>
            </a:avLst>
          </a:prstGeom>
          <a:solidFill>
            <a:srgbClr val="F2ECE1"/>
          </a:solidFill>
          <a:ln>
            <a:solidFill>
              <a:srgbClr val="F2ECE1"/>
            </a:solidFill>
          </a:ln>
        </p:spPr>
        <p:txBody>
          <a:bodyPr rtlCol="0" anchor="ctr"/>
          <a:lstStyle/>
          <a:p>
            <a:pPr algn="ctr"/>
          </a:p>
        </p:txBody>
      </p:sp>
      <p:sp>
        <p:nvSpPr>
          <p:cNvPr id="7" name="resources Read"/>
          <p:cNvSpPr txBox="1"/>
          <p:nvPr/>
        </p:nvSpPr>
        <p:spPr>
          <a:xfrm>
            <a:off x="530352" y="1188720"/>
            <a:ext cx="3877056" cy="877824"/>
          </a:xfrm>
          <a:prstGeom prst="rect">
            <a:avLst/>
          </a:prstGeom>
          <a:noFill/>
        </p:spPr>
        <p:txBody>
          <a:bodyPr wrap="square" anchor="t" lIns="45720" rIns="45720" tIns="36576" bIns="36576">
            <a:spAutoFit/>
          </a:bodyPr>
          <a:lstStyle/>
          <a:p>
            <a:pPr algn="l"/>
            <a:r>
              <a:rPr sz="1200" b="1" i="0">
                <a:solidFill>
                  <a:srgbClr val="D97A14"/>
                </a:solidFill>
                <a:latin typeface="Cambria"/>
              </a:rPr>
              <a:t>Read</a:t>
            </a:r>
          </a:p>
          <a:p>
            <a:pPr algn="l"/>
            <a:r>
              <a:rPr sz="1100" b="1" i="0">
                <a:solidFill>
                  <a:srgbClr val="2F6D62"/>
                </a:solidFill>
                <a:latin typeface="Calibri"/>
                <a:hlinkClick r:id="rId3"/>
              </a:rPr>
              <a:t>Mastering Bitcoin, ch. 5: Wallets</a:t>
            </a:r>
          </a:p>
          <a:p>
            <a:pPr algn="l"/>
            <a:r>
              <a:rPr sz="1100" b="1" i="0">
                <a:solidFill>
                  <a:srgbClr val="2F6D62"/>
                </a:solidFill>
                <a:latin typeface="Calibri"/>
                <a:hlinkClick r:id="rId4"/>
              </a:rPr>
              <a:t>NYT via Business Standard (news)</a:t>
            </a:r>
          </a:p>
          <a:p>
            <a:pPr algn="l"/>
            <a:r>
              <a:rPr sz="1100" b="1" i="0">
                <a:solidFill>
                  <a:srgbClr val="2F6D62"/>
                </a:solidFill>
                <a:latin typeface="Calibri"/>
                <a:hlinkClick r:id="rId5"/>
              </a:rPr>
              <a:t>MtGox finds 200,000 Bitcoin (The Register)</a:t>
            </a:r>
          </a:p>
        </p:txBody>
      </p:sp>
      <p:sp>
        <p:nvSpPr>
          <p:cNvPr id="8" name="resource group"/>
          <p:cNvSpPr/>
          <p:nvPr/>
        </p:nvSpPr>
        <p:spPr>
          <a:xfrm>
            <a:off x="4663440" y="1170432"/>
            <a:ext cx="4023360" cy="1170432"/>
          </a:xfrm>
          <a:prstGeom prst="roundRect">
            <a:avLst>
              <a:gd name="adj" fmla="val 6250"/>
            </a:avLst>
          </a:prstGeom>
          <a:solidFill>
            <a:srgbClr val="F2ECE1"/>
          </a:solidFill>
          <a:ln>
            <a:solidFill>
              <a:srgbClr val="F2ECE1"/>
            </a:solidFill>
          </a:ln>
        </p:spPr>
        <p:txBody>
          <a:bodyPr rtlCol="0" anchor="ctr"/>
          <a:lstStyle/>
          <a:p>
            <a:pPr algn="ctr"/>
          </a:p>
        </p:txBody>
      </p:sp>
      <p:sp>
        <p:nvSpPr>
          <p:cNvPr id="9" name="resources Standards"/>
          <p:cNvSpPr txBox="1"/>
          <p:nvPr/>
        </p:nvSpPr>
        <p:spPr>
          <a:xfrm>
            <a:off x="4736592" y="1188720"/>
            <a:ext cx="3877056" cy="1133856"/>
          </a:xfrm>
          <a:prstGeom prst="rect">
            <a:avLst/>
          </a:prstGeom>
          <a:noFill/>
        </p:spPr>
        <p:txBody>
          <a:bodyPr wrap="square" anchor="t" lIns="45720" rIns="45720" tIns="36576" bIns="36576">
            <a:spAutoFit/>
          </a:bodyPr>
          <a:lstStyle/>
          <a:p>
            <a:pPr algn="l"/>
            <a:r>
              <a:rPr sz="1200" b="1" i="0">
                <a:solidFill>
                  <a:srgbClr val="D97A14"/>
                </a:solidFill>
                <a:latin typeface="Cambria"/>
              </a:rPr>
              <a:t>Standards</a:t>
            </a:r>
          </a:p>
          <a:p>
            <a:pPr algn="l"/>
            <a:r>
              <a:rPr sz="1100" b="1" i="0">
                <a:solidFill>
                  <a:srgbClr val="2F6D62"/>
                </a:solidFill>
                <a:latin typeface="Calibri"/>
                <a:hlinkClick r:id="rId6"/>
              </a:rPr>
              <a:t>BIP 39: Mnemonic code</a:t>
            </a:r>
          </a:p>
          <a:p>
            <a:pPr algn="l"/>
            <a:r>
              <a:rPr sz="1100" b="1" i="0">
                <a:solidFill>
                  <a:srgbClr val="2F6D62"/>
                </a:solidFill>
                <a:latin typeface="Calibri"/>
                <a:hlinkClick r:id="rId7"/>
              </a:rPr>
              <a:t>BIP 32: HD wallets</a:t>
            </a:r>
          </a:p>
          <a:p>
            <a:pPr algn="l"/>
            <a:r>
              <a:rPr sz="1100" b="1" i="0">
                <a:solidFill>
                  <a:srgbClr val="2F6D62"/>
                </a:solidFill>
                <a:latin typeface="Calibri"/>
                <a:hlinkClick r:id="rId8"/>
              </a:rPr>
              <a:t>BIP 84: P2WPKH derivation</a:t>
            </a:r>
          </a:p>
          <a:p>
            <a:pPr algn="l"/>
            <a:r>
              <a:rPr sz="1100" b="1" i="0">
                <a:solidFill>
                  <a:srgbClr val="2F6D62"/>
                </a:solidFill>
                <a:latin typeface="Calibri"/>
                <a:hlinkClick r:id="rId9"/>
              </a:rPr>
              <a:t>BIP 380: Output script descriptors</a:t>
            </a:r>
          </a:p>
        </p:txBody>
      </p:sp>
      <p:sp>
        <p:nvSpPr>
          <p:cNvPr id="10" name="resource group"/>
          <p:cNvSpPr/>
          <p:nvPr/>
        </p:nvSpPr>
        <p:spPr>
          <a:xfrm>
            <a:off x="457200" y="2176272"/>
            <a:ext cx="4023360" cy="566928"/>
          </a:xfrm>
          <a:prstGeom prst="roundRect">
            <a:avLst>
              <a:gd name="adj" fmla="val 12903"/>
            </a:avLst>
          </a:prstGeom>
          <a:solidFill>
            <a:srgbClr val="F2ECE1"/>
          </a:solidFill>
          <a:ln>
            <a:solidFill>
              <a:srgbClr val="F2ECE1"/>
            </a:solidFill>
          </a:ln>
        </p:spPr>
        <p:txBody>
          <a:bodyPr rtlCol="0" anchor="ctr"/>
          <a:lstStyle/>
          <a:p>
            <a:pPr algn="ctr"/>
          </a:p>
        </p:txBody>
      </p:sp>
      <p:sp>
        <p:nvSpPr>
          <p:cNvPr id="11" name="resources Seminal work"/>
          <p:cNvSpPr txBox="1"/>
          <p:nvPr/>
        </p:nvSpPr>
        <p:spPr>
          <a:xfrm>
            <a:off x="530352" y="2194560"/>
            <a:ext cx="3877056" cy="530352"/>
          </a:xfrm>
          <a:prstGeom prst="rect">
            <a:avLst/>
          </a:prstGeom>
          <a:noFill/>
        </p:spPr>
        <p:txBody>
          <a:bodyPr wrap="square" anchor="t" lIns="45720" rIns="45720" tIns="36576" bIns="36576">
            <a:spAutoFit/>
          </a:bodyPr>
          <a:lstStyle/>
          <a:p>
            <a:pPr algn="l"/>
            <a:r>
              <a:rPr sz="1200" b="1" i="0">
                <a:solidFill>
                  <a:srgbClr val="D97A14"/>
                </a:solidFill>
                <a:latin typeface="Cambria"/>
              </a:rPr>
              <a:t>Seminal work</a:t>
            </a:r>
          </a:p>
          <a:p>
            <a:pPr algn="l"/>
            <a:r>
              <a:rPr sz="1100" b="1" i="0">
                <a:solidFill>
                  <a:srgbClr val="2F6D62"/>
                </a:solidFill>
                <a:latin typeface="Calibri"/>
                <a:hlinkClick r:id="rId10"/>
              </a:rPr>
              <a:t>Bitcoin: A Peer-to-Peer Electronic Cash System</a:t>
            </a:r>
          </a:p>
        </p:txBody>
      </p:sp>
      <p:sp>
        <p:nvSpPr>
          <p:cNvPr id="12" name="resource group"/>
          <p:cNvSpPr/>
          <p:nvPr/>
        </p:nvSpPr>
        <p:spPr>
          <a:xfrm>
            <a:off x="457200" y="2834640"/>
            <a:ext cx="4023360" cy="713232"/>
          </a:xfrm>
          <a:prstGeom prst="roundRect">
            <a:avLst>
              <a:gd name="adj" fmla="val 10256"/>
            </a:avLst>
          </a:prstGeom>
          <a:solidFill>
            <a:srgbClr val="F2ECE1"/>
          </a:solidFill>
          <a:ln>
            <a:solidFill>
              <a:srgbClr val="F2ECE1"/>
            </a:solidFill>
          </a:ln>
        </p:spPr>
        <p:txBody>
          <a:bodyPr rtlCol="0" anchor="ctr"/>
          <a:lstStyle/>
          <a:p>
            <a:pPr algn="ctr"/>
          </a:p>
        </p:txBody>
      </p:sp>
      <p:sp>
        <p:nvSpPr>
          <p:cNvPr id="13" name="resources Tools"/>
          <p:cNvSpPr txBox="1"/>
          <p:nvPr/>
        </p:nvSpPr>
        <p:spPr>
          <a:xfrm>
            <a:off x="530352" y="2852928"/>
            <a:ext cx="3877056" cy="676656"/>
          </a:xfrm>
          <a:prstGeom prst="rect">
            <a:avLst/>
          </a:prstGeom>
          <a:noFill/>
        </p:spPr>
        <p:txBody>
          <a:bodyPr wrap="square" anchor="t" lIns="45720" rIns="45720" tIns="36576" bIns="36576">
            <a:spAutoFit/>
          </a:bodyPr>
          <a:lstStyle/>
          <a:p>
            <a:pPr algn="l"/>
            <a:r>
              <a:rPr sz="1200" b="1" i="0">
                <a:solidFill>
                  <a:srgbClr val="D97A14"/>
                </a:solidFill>
                <a:latin typeface="Cambria"/>
              </a:rPr>
              <a:t>Tools</a:t>
            </a:r>
          </a:p>
          <a:p>
            <a:pPr algn="l"/>
            <a:r>
              <a:rPr sz="1100" b="1" i="0">
                <a:solidFill>
                  <a:srgbClr val="2F6D62"/>
                </a:solidFill>
                <a:latin typeface="Calibri"/>
                <a:hlinkClick r:id="rId11"/>
              </a:rPr>
              <a:t>Ian Coleman's BIP39 tool (use offline)</a:t>
            </a:r>
          </a:p>
          <a:p>
            <a:pPr algn="l"/>
            <a:r>
              <a:rPr sz="1100" b="1" i="0">
                <a:solidFill>
                  <a:srgbClr val="2F6D62"/>
                </a:solidFill>
                <a:latin typeface="Calibri"/>
                <a:hlinkClick r:id="rId12"/>
              </a:rPr>
              <a:t>BTCPay Server (the book's web store)</a:t>
            </a:r>
          </a:p>
        </p:txBody>
      </p:sp>
      <p:sp>
        <p:nvSpPr>
          <p:cNvPr id="14" name="resource group"/>
          <p:cNvSpPr/>
          <p:nvPr/>
        </p:nvSpPr>
        <p:spPr>
          <a:xfrm>
            <a:off x="457200" y="3639312"/>
            <a:ext cx="4023360" cy="566928"/>
          </a:xfrm>
          <a:prstGeom prst="roundRect">
            <a:avLst>
              <a:gd name="adj" fmla="val 12903"/>
            </a:avLst>
          </a:prstGeom>
          <a:solidFill>
            <a:srgbClr val="F2ECE1"/>
          </a:solidFill>
          <a:ln>
            <a:solidFill>
              <a:srgbClr val="F2ECE1"/>
            </a:solidFill>
          </a:ln>
        </p:spPr>
        <p:txBody>
          <a:bodyPr rtlCol="0" anchor="ctr"/>
          <a:lstStyle/>
          <a:p>
            <a:pPr algn="ctr"/>
          </a:p>
        </p:txBody>
      </p:sp>
      <p:sp>
        <p:nvSpPr>
          <p:cNvPr id="15" name="resources Tutorial"/>
          <p:cNvSpPr txBox="1"/>
          <p:nvPr/>
        </p:nvSpPr>
        <p:spPr>
          <a:xfrm>
            <a:off x="530352" y="3657600"/>
            <a:ext cx="3877056" cy="530352"/>
          </a:xfrm>
          <a:prstGeom prst="rect">
            <a:avLst/>
          </a:prstGeom>
          <a:noFill/>
        </p:spPr>
        <p:txBody>
          <a:bodyPr wrap="square" anchor="t" lIns="45720" rIns="45720" tIns="36576" bIns="36576">
            <a:spAutoFit/>
          </a:bodyPr>
          <a:lstStyle/>
          <a:p>
            <a:pPr algn="l"/>
            <a:r>
              <a:rPr sz="1200" b="1" i="0">
                <a:solidFill>
                  <a:srgbClr val="D97A14"/>
                </a:solidFill>
                <a:latin typeface="Cambria"/>
              </a:rPr>
              <a:t>Tutorial</a:t>
            </a:r>
          </a:p>
          <a:p>
            <a:pPr algn="l"/>
            <a:r>
              <a:rPr sz="1100" b="1" i="0">
                <a:solidFill>
                  <a:srgbClr val="2F6D62"/>
                </a:solidFill>
                <a:latin typeface="Calibri"/>
                <a:hlinkClick r:id="rId13"/>
              </a:rPr>
              <a:t>Bitcoin Wiki: Deterministic wallet</a:t>
            </a:r>
          </a:p>
        </p:txBody>
      </p:sp>
      <p:sp>
        <p:nvSpPr>
          <p:cNvPr id="16" name="resource group"/>
          <p:cNvSpPr/>
          <p:nvPr/>
        </p:nvSpPr>
        <p:spPr>
          <a:xfrm>
            <a:off x="4663440" y="2432304"/>
            <a:ext cx="4023360" cy="713232"/>
          </a:xfrm>
          <a:prstGeom prst="roundRect">
            <a:avLst>
              <a:gd name="adj" fmla="val 10256"/>
            </a:avLst>
          </a:prstGeom>
          <a:solidFill>
            <a:srgbClr val="F2ECE1"/>
          </a:solidFill>
          <a:ln>
            <a:solidFill>
              <a:srgbClr val="F2ECE1"/>
            </a:solidFill>
          </a:ln>
        </p:spPr>
        <p:txBody>
          <a:bodyPr rtlCol="0" anchor="ctr"/>
          <a:lstStyle/>
          <a:p>
            <a:pPr algn="ctr"/>
          </a:p>
        </p:txBody>
      </p:sp>
      <p:sp>
        <p:nvSpPr>
          <p:cNvPr id="17" name="resources Community"/>
          <p:cNvSpPr txBox="1"/>
          <p:nvPr/>
        </p:nvSpPr>
        <p:spPr>
          <a:xfrm>
            <a:off x="4736592" y="2450592"/>
            <a:ext cx="3877056" cy="676656"/>
          </a:xfrm>
          <a:prstGeom prst="rect">
            <a:avLst/>
          </a:prstGeom>
          <a:noFill/>
        </p:spPr>
        <p:txBody>
          <a:bodyPr wrap="square" anchor="t" lIns="45720" rIns="45720" tIns="36576" bIns="36576">
            <a:spAutoFit/>
          </a:bodyPr>
          <a:lstStyle/>
          <a:p>
            <a:pPr algn="l"/>
            <a:r>
              <a:rPr sz="1200" b="1" i="0">
                <a:solidFill>
                  <a:srgbClr val="D97A14"/>
                </a:solidFill>
                <a:latin typeface="Cambria"/>
              </a:rPr>
              <a:t>Community</a:t>
            </a:r>
          </a:p>
          <a:p>
            <a:pPr algn="l"/>
            <a:r>
              <a:rPr sz="1100" b="1" i="0">
                <a:solidFill>
                  <a:srgbClr val="2F6D62"/>
                </a:solidFill>
                <a:latin typeface="Calibri"/>
                <a:hlinkClick r:id="rId14"/>
              </a:rPr>
              <a:t>Bitcoin Stack Exchange</a:t>
            </a:r>
          </a:p>
          <a:p>
            <a:pPr algn="l"/>
            <a:r>
              <a:rPr sz="1100" b="1" i="0">
                <a:solidFill>
                  <a:srgbClr val="2F6D62"/>
                </a:solidFill>
                <a:latin typeface="Calibri"/>
                <a:hlinkClick r:id="rId15"/>
              </a:rPr>
              <a:t>Bitcoin Optech topics</a:t>
            </a:r>
          </a:p>
        </p:txBody>
      </p:sp>
      <p:sp>
        <p:nvSpPr>
          <p:cNvPr id="18" name="resource group"/>
          <p:cNvSpPr/>
          <p:nvPr/>
        </p:nvSpPr>
        <p:spPr>
          <a:xfrm>
            <a:off x="4663440" y="3236976"/>
            <a:ext cx="4023360" cy="566928"/>
          </a:xfrm>
          <a:prstGeom prst="roundRect">
            <a:avLst>
              <a:gd name="adj" fmla="val 12903"/>
            </a:avLst>
          </a:prstGeom>
          <a:solidFill>
            <a:srgbClr val="F2ECE1"/>
          </a:solidFill>
          <a:ln>
            <a:solidFill>
              <a:srgbClr val="F2ECE1"/>
            </a:solidFill>
          </a:ln>
        </p:spPr>
        <p:txBody>
          <a:bodyPr rtlCol="0" anchor="ctr"/>
          <a:lstStyle/>
          <a:p>
            <a:pPr algn="ctr"/>
          </a:p>
        </p:txBody>
      </p:sp>
      <p:sp>
        <p:nvSpPr>
          <p:cNvPr id="19" name="resources Course corpus"/>
          <p:cNvSpPr txBox="1"/>
          <p:nvPr/>
        </p:nvSpPr>
        <p:spPr>
          <a:xfrm>
            <a:off x="4736592" y="3255264"/>
            <a:ext cx="3877056" cy="530352"/>
          </a:xfrm>
          <a:prstGeom prst="rect">
            <a:avLst/>
          </a:prstGeom>
          <a:noFill/>
        </p:spPr>
        <p:txBody>
          <a:bodyPr wrap="square" anchor="t" lIns="45720" rIns="45720" tIns="36576" bIns="36576">
            <a:spAutoFit/>
          </a:bodyPr>
          <a:lstStyle/>
          <a:p>
            <a:pPr algn="l"/>
            <a:r>
              <a:rPr sz="1200" b="1" i="0">
                <a:solidFill>
                  <a:srgbClr val="D97A14"/>
                </a:solidFill>
                <a:latin typeface="Cambria"/>
              </a:rPr>
              <a:t>Course corpus</a:t>
            </a:r>
          </a:p>
          <a:p>
            <a:pPr algn="l"/>
            <a:r>
              <a:rPr sz="1100" b="1" i="0">
                <a:solidFill>
                  <a:srgbClr val="2F6D62"/>
                </a:solidFill>
                <a:latin typeface="Calibri"/>
                <a:hlinkClick r:id="rId16"/>
              </a:rPr>
              <a:t>SEN0401 course repository</a:t>
            </a:r>
          </a:p>
        </p:txBody>
      </p:sp>
      <p:sp>
        <p:nvSpPr>
          <p:cNvPr id="20" name="resource group"/>
          <p:cNvSpPr/>
          <p:nvPr/>
        </p:nvSpPr>
        <p:spPr>
          <a:xfrm>
            <a:off x="4663440" y="3895344"/>
            <a:ext cx="4023360" cy="566928"/>
          </a:xfrm>
          <a:prstGeom prst="roundRect">
            <a:avLst>
              <a:gd name="adj" fmla="val 12903"/>
            </a:avLst>
          </a:prstGeom>
          <a:solidFill>
            <a:srgbClr val="F2ECE1"/>
          </a:solidFill>
          <a:ln>
            <a:solidFill>
              <a:srgbClr val="F2ECE1"/>
            </a:solidFill>
          </a:ln>
        </p:spPr>
        <p:txBody>
          <a:bodyPr rtlCol="0" anchor="ctr"/>
          <a:lstStyle/>
          <a:p>
            <a:pPr algn="ctr"/>
          </a:p>
        </p:txBody>
      </p:sp>
      <p:sp>
        <p:nvSpPr>
          <p:cNvPr id="21" name="resources Watch"/>
          <p:cNvSpPr txBox="1"/>
          <p:nvPr/>
        </p:nvSpPr>
        <p:spPr>
          <a:xfrm>
            <a:off x="4736592" y="3913631"/>
            <a:ext cx="3877056" cy="530352"/>
          </a:xfrm>
          <a:prstGeom prst="rect">
            <a:avLst/>
          </a:prstGeom>
          <a:noFill/>
        </p:spPr>
        <p:txBody>
          <a:bodyPr wrap="square" anchor="t" lIns="45720" rIns="45720" tIns="36576" bIns="36576">
            <a:spAutoFit/>
          </a:bodyPr>
          <a:lstStyle/>
          <a:p>
            <a:pPr algn="l"/>
            <a:r>
              <a:rPr sz="1200" b="1" i="0">
                <a:solidFill>
                  <a:srgbClr val="D97A14"/>
                </a:solidFill>
                <a:latin typeface="Cambria"/>
              </a:rPr>
              <a:t>Watch</a:t>
            </a:r>
          </a:p>
          <a:p>
            <a:pPr algn="l"/>
            <a:r>
              <a:rPr sz="1100" b="1" i="0">
                <a:solidFill>
                  <a:srgbClr val="2F6D62"/>
                </a:solidFill>
                <a:latin typeface="Calibri"/>
                <a:hlinkClick r:id="rId17"/>
              </a:rPr>
              <a:t>BIP-39 mnemonic words (video, Mobilefish.com)</a:t>
            </a:r>
          </a:p>
        </p:txBody>
      </p:sp>
      <p:sp>
        <p:nvSpPr>
          <p:cNvPr id="22"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Twelve words on paper beat every password you have ever memorised.</a:t>
            </a:r>
          </a:p>
        </p:txBody>
      </p:sp>
      <p:sp>
        <p:nvSpPr>
          <p:cNvPr id="2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67 / 68</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What you should now be able to say</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And where each claim gets its proof</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6" name="outcome"/>
          <p:cNvSpPr/>
          <p:nvPr/>
        </p:nvSpPr>
        <p:spPr>
          <a:xfrm>
            <a:off x="731520" y="1234440"/>
            <a:ext cx="7680960" cy="566928"/>
          </a:xfrm>
          <a:prstGeom prst="roundRect">
            <a:avLst>
              <a:gd name="adj" fmla="val 12903"/>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Why one seed replaced bags of keys</a:t>
            </a:r>
          </a:p>
        </p:txBody>
      </p:sp>
      <p:sp>
        <p:nvSpPr>
          <p:cNvPr id="7" name="outcome"/>
          <p:cNvSpPr/>
          <p:nvPr/>
        </p:nvSpPr>
        <p:spPr>
          <a:xfrm>
            <a:off x="731520" y="1920240"/>
            <a:ext cx="7680960" cy="566928"/>
          </a:xfrm>
          <a:prstGeom prst="roundRect">
            <a:avLst>
              <a:gd name="adj" fmla="val 12903"/>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What twelve words carry and how they become a tree</a:t>
            </a:r>
          </a:p>
        </p:txBody>
      </p:sp>
      <p:sp>
        <p:nvSpPr>
          <p:cNvPr id="8" name="outcome"/>
          <p:cNvSpPr/>
          <p:nvPr/>
        </p:nvSpPr>
        <p:spPr>
          <a:xfrm>
            <a:off x="731520" y="2606040"/>
            <a:ext cx="7680960" cy="566928"/>
          </a:xfrm>
          <a:prstGeom prst="roundRect">
            <a:avLst>
              <a:gd name="adj" fmla="val 12903"/>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Which path your wallet walks, and who else can walk it</a:t>
            </a:r>
          </a:p>
        </p:txBody>
      </p:sp>
      <p:sp>
        <p:nvSpPr>
          <p:cNvPr id="9" name="outcome"/>
          <p:cNvSpPr/>
          <p:nvPr/>
        </p:nvSpPr>
        <p:spPr>
          <a:xfrm>
            <a:off x="731520" y="3291840"/>
            <a:ext cx="7680960" cy="566928"/>
          </a:xfrm>
          <a:prstGeom prst="roundRect">
            <a:avLst>
              <a:gd name="adj" fmla="val 12903"/>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What a tested backup is</a:t>
            </a:r>
          </a:p>
        </p:txBody>
      </p:sp>
      <p:sp>
        <p:nvSpPr>
          <p:cNvPr id="10" name="questions"/>
          <p:cNvSpPr/>
          <p:nvPr/>
        </p:nvSpPr>
        <p:spPr>
          <a:xfrm>
            <a:off x="2743200" y="3977639"/>
            <a:ext cx="3657600" cy="502920"/>
          </a:xfrm>
          <a:prstGeom prst="roundRect">
            <a:avLst>
              <a:gd name="adj" fmla="val 14545"/>
            </a:avLst>
          </a:prstGeom>
          <a:solidFill>
            <a:srgbClr val="D97A14"/>
          </a:solidFill>
          <a:ln>
            <a:solidFill>
              <a:srgbClr val="D97A14"/>
            </a:solidFill>
          </a:ln>
        </p:spPr>
        <p:txBody>
          <a:bodyPr rtlCol="0" anchor="ctr" wrap="square" lIns="73152" rIns="73152" tIns="36576" bIns="36576"/>
          <a:lstStyle/>
          <a:p>
            <a:pPr algn="ctr"/>
            <a:r>
              <a:rPr sz="2200" b="1" i="0">
                <a:solidFill>
                  <a:srgbClr val="FFFFFF"/>
                </a:solidFill>
                <a:latin typeface="Cambria"/>
              </a:rPr>
              <a:t>Questions?</a:t>
            </a:r>
          </a:p>
        </p:txBody>
      </p:sp>
      <p:sp>
        <p:nvSpPr>
          <p:cNvPr id="11"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68 / 68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5: Wallet Recovery (3rd edition), lecture deck v3.1.0</dc:title>
  <dc:subject>SEN0401 Special Topics in Software Engineering: Block Chain</dc:subject>
  <dc:creator>Yusuf Altunel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