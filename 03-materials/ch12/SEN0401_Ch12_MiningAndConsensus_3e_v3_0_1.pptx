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0</c:v>
                  </c:pt>
                  <c:pt idx="1">
                    <c:v>210,000</c:v>
                  </c:pt>
                  <c:pt idx="2">
                    <c:v>420,000</c:v>
                  </c:pt>
                  <c:pt idx="3">
                    <c:v>630,000</c:v>
                  </c:pt>
                  <c:pt idx="4">
                    <c:v>840,000</c:v>
                  </c:pt>
                </c:lvl>
              </c:multiLvlStrCache>
            </c:multiLvlStrRef>
          </c:cat>
          <c:val>
            <c:numRef>
              <c:f>Sheet1!$B$2:$B$6</c:f>
              <c:numCache>
                <c:formatCode>General</c:formatCode>
                <c:ptCount val="5"/>
                <c:pt idx="0">
                  <c:v>50</c:v>
                </c:pt>
                <c:pt idx="1">
                  <c:v>25</c:v>
                </c:pt>
                <c:pt idx="2">
                  <c:v>12.5</c:v>
                </c:pt>
                <c:pt idx="3">
                  <c:v>6.25</c:v>
                </c:pt>
                <c:pt idx="4">
                  <c:v>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Subsidy</c:v>
                  </c:pt>
                  <c:pt idx="1">
                    <c:v>Fees</c:v>
                  </c:pt>
                  <c:pt idx="2">
                    <c:v>Reward offered</c:v>
                  </c:pt>
                  <c:pt idx="3">
                    <c:v>Claimed</c:v>
                  </c:pt>
                </c:lvl>
              </c:multiLvlStrCache>
            </c:multiLvlStrRef>
          </c:cat>
          <c:val>
            <c:numRef>
              <c:f>Sheet1!$B$2:$B$5</c:f>
              <c:numCache>
                <c:formatCode>General</c:formatCode>
                <c:ptCount val="4"/>
                <c:pt idx="0">
                  <c:v>305175</c:v>
                </c:pt>
                <c:pt idx="1">
                  <c:v>40194</c:v>
                </c:pt>
                <c:pt idx="2">
                  <c:v>345369</c:v>
                </c:pt>
                <c:pt idx="3">
                  <c:v>345368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chain work</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First branch</c:v>
                  </c:pt>
                  <c:pt idx="1">
                    <c:v>Second branch</c:v>
                  </c:pt>
                </c:lvl>
              </c:multiLvlStrCache>
            </c:multiLvlStrRef>
          </c:cat>
          <c:val>
            <c:numRef>
              <c:f>Sheet1!$B$2:$B$3</c:f>
              <c:numCache>
                <c:formatCode>General</c:formatCode>
                <c:ptCount val="2"/>
                <c:pt idx="0">
                  <c:v>206</c:v>
                </c:pt>
                <c:pt idx="1">
                  <c:v>208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 zero</c:v>
                  </c:pt>
                  <c:pt idx="1">
                    <c:v>2 zeros</c:v>
                  </c:pt>
                  <c:pt idx="2">
                    <c:v>3 zeros</c:v>
                  </c:pt>
                  <c:pt idx="3">
                    <c:v>4 zeros</c:v>
                  </c:pt>
                </c:lvl>
              </c:multiLvlStrCache>
            </c:multiLvlStrRef>
          </c:cat>
          <c:val>
            <c:numRef>
              <c:f>Sheet1!$B$2:$B$5</c:f>
              <c:numCache>
                <c:formatCode>General</c:formatCode>
                <c:ptCount val="4"/>
                <c:pt idx="0">
                  <c:v>32</c:v>
                </c:pt>
                <c:pt idx="1">
                  <c:v>228</c:v>
                </c:pt>
                <c:pt idx="2">
                  <c:v>3460</c:v>
                </c:pt>
                <c:pt idx="3">
                  <c:v>27835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target ratio</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Far too fast</c:v>
                  </c:pt>
                  <c:pt idx="1">
                    <c:v>On time</c:v>
                  </c:pt>
                  <c:pt idx="2">
                    <c:v>Far too slow</c:v>
                  </c:pt>
                </c:lvl>
              </c:multiLvlStrCache>
            </c:multiLvlStrRef>
          </c:cat>
          <c:val>
            <c:numRef>
              <c:f>Sheet1!$B$2:$B$4</c:f>
              <c:numCache>
                <c:formatCode>General</c:formatCode>
                <c:ptCount val="3"/>
                <c:pt idx="0">
                  <c:v>0.25</c:v>
                </c:pt>
                <c:pt idx="1">
                  <c:v>1</c:v>
                </c:pt>
                <c:pt idx="2">
                  <c:v>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bits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Header nonce</c:v>
                  </c:pt>
                  <c:pt idx="1">
                    <c:v>Version rolling</c:v>
                  </c:pt>
                </c:lvl>
              </c:multiLvlStrCache>
            </c:multiLvlStrRef>
          </c:cat>
          <c:val>
            <c:numRef>
              <c:f>Sheet1!$B$2:$B$3</c:f>
              <c:numCache>
                <c:formatCode>General</c:formatCode>
                <c:ptCount val="2"/>
                <c:pt idx="0">
                  <c:v>32</c:v>
                </c:pt>
                <c:pt idx="1">
                  <c:v>16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days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10 percent</c:v>
                  </c:pt>
                  <c:pt idx="1">
                    <c:v>1 percent</c:v>
                  </c:pt>
                  <c:pt idx="2">
                    <c:v>0.1 percent</c:v>
                  </c:pt>
                  <c:pt idx="3">
                    <c:v>0.01 percent</c:v>
                  </c:pt>
                </c:lvl>
              </c:multiLvlStrCache>
            </c:multiLvlStrRef>
          </c:cat>
          <c:val>
            <c:numRef>
              <c:f>Sheet1!$B$2:$B$5</c:f>
              <c:numCache>
                <c:formatCode>General</c:formatCode>
                <c:ptCount val="4"/>
                <c:pt idx="0">
                  <c:v>0.1</c:v>
                </c:pt>
                <c:pt idx="1">
                  <c:v>0.7</c:v>
                </c:pt>
                <c:pt idx="2">
                  <c:v>6.9</c:v>
                </c:pt>
                <c:pt idx="3">
                  <c:v>69.4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Share 10 percent</c:v>
                  </c:pt>
                  <c:pt idx="1">
                    <c:v>Share 30 percent</c:v>
                  </c:pt>
                  <c:pt idx="2">
                    <c:v>Share 45 percent</c:v>
                  </c:pt>
                </c:lvl>
              </c:multiLvlStrCache>
            </c:multiLvlStrRef>
          </c:cat>
          <c:val>
            <c:numRef>
              <c:f>Sheet1!$B$2:$B$4</c:f>
              <c:numCache>
                <c:formatCode>General</c:formatCode>
                <c:ptCount val="3"/>
                <c:pt idx="0">
                  <c:v>0.0002</c:v>
                </c:pt>
                <c:pt idx="1">
                  <c:v>0.1321</c:v>
                </c:pt>
                <c:pt idx="2">
                  <c:v>0.7661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days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80 percent</c:v>
                  </c:pt>
                  <c:pt idx="1">
                    <c:v>50 percent</c:v>
                  </c:pt>
                  <c:pt idx="2">
                    <c:v>20 percent</c:v>
                  </c:pt>
                  <c:pt idx="3">
                    <c:v>10 percent</c:v>
                  </c:pt>
                </c:lvl>
              </c:multiLvlStrCache>
            </c:multiLvlStrRef>
          </c:cat>
          <c:val>
            <c:numRef>
              <c:f>Sheet1!$B$2:$B$5</c:f>
              <c:numCache>
                <c:formatCode>General</c:formatCode>
                <c:ptCount val="4"/>
                <c:pt idx="0">
                  <c:v>18</c:v>
                </c:pt>
                <c:pt idx="1">
                  <c:v>28</c:v>
                </c:pt>
                <c:pt idx="2">
                  <c:v>70</c:v>
                </c:pt>
                <c:pt idx="3">
                  <c:v>140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height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BIP 34</c:v>
                  </c:pt>
                  <c:pt idx="1">
                    <c:v>BIP 66</c:v>
                  </c:pt>
                  <c:pt idx="2">
                    <c:v>CSV</c:v>
                  </c:pt>
                  <c:pt idx="3">
                    <c:v>SegWit</c:v>
                  </c:pt>
                </c:lvl>
              </c:multiLvlStrCache>
            </c:multiLvlStrRef>
          </c:cat>
          <c:val>
            <c:numRef>
              <c:f>Sheet1!$B$2:$B$5</c:f>
              <c:numCache>
                <c:formatCode>General</c:formatCode>
                <c:ptCount val="4"/>
                <c:pt idx="0">
                  <c:v>227931</c:v>
                </c:pt>
                <c:pt idx="1">
                  <c:v>363725</c:v>
                </c:pt>
                <c:pt idx="2">
                  <c:v>419328</c:v>
                </c:pt>
                <c:pt idx="3">
                  <c:v>481824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a miner earns a reward, how every node checks and chooses blocks, how proof of work sets the pace, and how the rules of Bitcoin are changed. Every number on a result picture was computed with the chapter's own Python library or read from one recorded run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Four true stories and twenty-two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six parts. Together they hold 51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is paid in new coins and fees. This part shows how the subsidy halves, why the supply stops just below 21 million coins, and how Core checks that a miner claims no more than the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Money and rewards. Each pairs a short meaning with something from everyday life.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reward starts at 50 coins and is cut in half at every multiple of 210,000 blocks. The shift is done in whole satoshis, so after the 33rd halving a single satoshi is left, and after the 34th nothing. The sum of all rewards sets the supply.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the 33 non-zero rewards in whole satoshis gives a total just below 21 million coins. The book's script divides with a slash, which in Python 3 is a float division. Run as printed it ends at a float and never shows the shortfall.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offered a reward made of the subsidy and the fees of the chosen transactions. A miner claimed one satoshi less and the block was accepted. A test block that claimed one satoshi more was refused with the name bad-cb-amount.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2024-04-20. Block 840,000 was mined at 00:09:27 UTC on 20 April 2024 and was the first to pay the new subsidy of 3.125 coins, half of 6.25. The lesson is that the subsidy halves on schedule, but fees can swing wildly.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one is in charge, so every node checks everything itself. We run the rules for transactions and blocks, and see why the chain with the most work wins, not the longest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checklist, Block checklist, Coinbase maturity and Most work, not longest.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tests every transaction against the same rules. We asked a private node about a spoiled transaction and got a named reason each time. A coinbase output is refused at depth 99 and accepted at depth 100.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checks go further than the transaction checks. We handed Core blocks that each broke one rule. The reward one satoshi too high, a missing height, a wrong merkle root, a wrong clock or an old version each got its own named reason.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branches were built, and the first paid Carol. The second branch carried more chain work, so Core switched to it and the payment fell out of the chain. This is why a shop waits for confirmations.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lottery starts the miner builds a candidate block. We read the coinbase that Core makes today, take an 80-byte header apart, and see how the extra nonce gives a new search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template, Coinbase fields of Bitcoin Core today, Coinbase data and tags, BIP 34 height push, Witness commitment and The extra nonce space.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script starts with the block height as a short pushed number. Bitcoin Core 31.1 also sets the lock time to the height minus one and a sequence below the maximum. The template's weight limit leaves room for the block header.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extra nonce changes the root, Median time past and Two-hour rule.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of a regtest block is eighty bytes with six fields. Its hash, read as a number, is not larger than the target that the bits describe. On regtest the target is huge, so a few zero bits are enough.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that has used up the nonce changes a counter in the coinbase script. That changes the coinbase id, the merkle root and so the whole header. The header's own nonce can start again from zero.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lottery with a target. We play it with a text, read the target from the bits, turn difficulty into days, and follow the retarget rule on a real period of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Hello World nonce, Proof is cheap to check, Hash below target, Compact bits, The wait of a terahash miner and Hash rate from difficulty.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hashes a text with a counter added. The first hash that starts with a zero comes at counter 32. Every further zero digit makes the search about sixteen times longer, while checking the answer always takes a single hash.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2002-08-01. Proof of work did not start with Bitcoin: Cynthia Dwork and Moni Naor proposed in 1992 that a user should compute a moderately hard function before using a shared resource, to fight junk mail. The lesson is that a cheap check of an expensive search can price any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2015-gap retarget, The factor-of-four clamp, The BIP 94 branch and Regtest never retargets.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stores the target as four bytes called bits. Block 277,316 has bits 1903a30c, a target of 194 bits. The difficulty is the number of times smaller this target is than the easiest one. A valid hash must start with 62 zero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times two to the 32 is the number of hashes to find a block. A miner doing one terahash a second waits about 59 days at that difficulty. The same formula applied to today's difficulty estimates the network hash rate.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2,016 blocks Bitcoin scales the target by the real duration over the intended fourteen days. The period before block 840,672 took 1,186,047 seconds, a little short of fourteen days. The rule gives the bits that the chain really has.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period of 2,016 blocks may be much faster or slower than planned. To protect the network the rule limits the change of the target to a quarter or four times. The ratios stop at those two values.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chain has its own constants in the source file. Regtest sets a flag that stops all retargeting, so its bits stay put after 2,016 blocks. Testnet4 enforces BIP 94, a branch of the retarget code that the book's listing does not have.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Mining is a race. The nonce space runs out, small miners form pools, and a large share of the power buys the odds of an attack. We compute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nonce space is tiny, Version rolling, Covert ASICBoost, Pool shares and fees, Stratum protocols and Solo miner variance.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32-bit nonce gives 4.3 billion tries. The network does a thousand billion billion hashes a second, so the space is used up far too often. Miners vary the version field and the coinbase script to get new header contents.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withholding, Nakamoto's catch-up odds and The selfish-mining threshold.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finds 144 blocks a day. A miner with a small share of the power has to wait long for one block. A pool collects power and pays members for easy partial solutions, so the income comes in small regular amounts.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top pool against the thresholds and The limits of a majority attack.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Nakamoto's formula gives the chance that an attacker with a given share ever catches up from six blocks behind. The share needed for selfish mining falls as more honest miners follow the selfish block.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change by forks. We watch a looser and a stricter node disagree, time a minority chain, follow a BIP 9 vote and read the heights of old soft forks in the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Changing the rules. Each pairs a short meaning with something from everyday life.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with the old, looser rule accepted a block that has no height. A node with the new, stricter rule refused it. The loose node went on building, and the two nodes ended with different tips.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 fork loosens the rules, so old nodes refuse the new blocks and two histories grow. A soft fork tightens them, so old nodes still accept every new block. A soft fork needs a majority of the miners, but not of the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BIP 8 lock-in by height, Segwit activation in 2017, Speedy Trial and taproot, Buried deployments and BIP 54 consensus cleanup.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split a branch has the old difficulty but only a share of the hash rate. Blocks arrive more slowly, and the next retarget is far away. In March 2013 the old chain was kept for only six hours for this reason.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2013-03-11. On 11 March 2013 at 23:24:19 UTC block 225,430, with 797 transactions, was mined and accepted by nodes of Bitcoin 0.8 but rejected by some older nodes. The lesson is that an accident in software can become a rule of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deployment is defined, started, locked in and then active. Core, on a private chain, reported each state at six heights. BIP 9 asks for 95 percent of 2,016 blocks. The Speedy Trial of taproot asked for 90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Taproot was activated by a variant of BIP 9 called Speedy Trial, which opened on 24 April 2021, timed out on 11 August 2021 and needed 1,815 of 2,016 blocks, 90 percent, instead of 1,916. The lesson is that fail fast or succeed: a short vote keeps a soft fork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soft fork is old and settled, Bitcoin Core writes its activation as a plain height in the source file. We read the heights of four soft forks from the saved file. Nobody needs to count signals any more. It is example 22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computed there. The chapter code tab of the course page reruns all twenty-two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video of 3Blue1Brown on how Bitcoin works, then the Optech topic on soft fork activation next to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12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hyperlink" Target="http://www.hashcash.org/papers/hashcash.pdf"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bips.dev/50/"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hyperlink" Target="https://bitcoincore.org/en/releases/0.21.1/" TargetMode="External"/><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bitcoinops.org/en/topics/soft-fork-activation/" TargetMode="External"/><Relationship Id="rId2" Type="http://schemas.openxmlformats.org/officeDocument/2006/relationships/hyperlink" Target="https://bitcoinops.org/en/topics/selfish-mining/" TargetMode="External"/><Relationship Id="rId3" Type="http://schemas.openxmlformats.org/officeDocument/2006/relationships/hyperlink" Target="https://mempool.space/" TargetMode="External"/><Relationship Id="rId4" Type="http://schemas.openxmlformats.org/officeDocument/2006/relationships/hyperlink" Target="https://bips.dev/9/" TargetMode="External"/><Relationship Id="rId5" Type="http://schemas.openxmlformats.org/officeDocument/2006/relationships/hyperlink" Target="https://bips.dev/54/" TargetMode="External"/><Relationship Id="rId6" Type="http://schemas.openxmlformats.org/officeDocument/2006/relationships/hyperlink" Target="https://arxiv.org/abs/1311.0243" TargetMode="External"/><Relationship Id="rId7" Type="http://schemas.openxmlformats.org/officeDocument/2006/relationships/hyperlink" Target="https://www.youtube.com/embed/bBC-nXj3Ng4" TargetMode="External"/><Relationship Id="rId8" Type="http://schemas.openxmlformats.org/officeDocument/2006/relationships/hyperlink" Target="https://www.youtube.com/embed/9V1bipPkCTU"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12: Mining and Consensus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Where rewards and blocks come from, how nodes agree on one chain, and how the rules change</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2/assets/ch12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one recorded run, read back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2807208"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3502152"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Money and rewards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5-10)</a:t>
            </a:r>
            <a:endParaRPr lang="en-US" sz="1100" dirty="0"/>
          </a:p>
        </p:txBody>
      </p:sp>
      <p:sp>
        <p:nvSpPr>
          <p:cNvPr id="10" name="Shape 8"/>
          <p:cNvSpPr/>
          <p:nvPr/>
        </p:nvSpPr>
        <p:spPr>
          <a:xfrm>
            <a:off x="457200" y="2112264"/>
            <a:ext cx="2807208"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548640"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Verifying and agreeing</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11-15)</a:t>
            </a:r>
            <a:endParaRPr lang="en-US" sz="1100" dirty="0"/>
          </a:p>
        </p:txBody>
      </p:sp>
      <p:sp>
        <p:nvSpPr>
          <p:cNvPr id="12" name="Shape 10"/>
          <p:cNvSpPr/>
          <p:nvPr/>
        </p:nvSpPr>
        <p:spPr>
          <a:xfrm>
            <a:off x="3410712" y="2112264"/>
            <a:ext cx="2807208"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3502152"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Building the block</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16-21)</a:t>
            </a:r>
            <a:endParaRPr lang="en-US" sz="1100" dirty="0"/>
          </a:p>
        </p:txBody>
      </p:sp>
      <p:sp>
        <p:nvSpPr>
          <p:cNvPr id="14" name="Shape 12"/>
          <p:cNvSpPr/>
          <p:nvPr/>
        </p:nvSpPr>
        <p:spPr>
          <a:xfrm>
            <a:off x="457200" y="2944368"/>
            <a:ext cx="2807208"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548640"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Proof of work</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22-31)</a:t>
            </a:r>
            <a:endParaRPr lang="en-US" sz="1100" dirty="0"/>
          </a:p>
        </p:txBody>
      </p:sp>
      <p:sp>
        <p:nvSpPr>
          <p:cNvPr id="16" name="Shape 14"/>
          <p:cNvSpPr/>
          <p:nvPr/>
        </p:nvSpPr>
        <p:spPr>
          <a:xfrm>
            <a:off x="3410712" y="2944368"/>
            <a:ext cx="2807208"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3502152"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Competition and attacks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32-38)</a:t>
            </a:r>
            <a:endParaRPr lang="en-US" sz="1100" dirty="0"/>
          </a:p>
        </p:txBody>
      </p:sp>
      <p:sp>
        <p:nvSpPr>
          <p:cNvPr id="18" name="Shape 16"/>
          <p:cNvSpPr/>
          <p:nvPr/>
        </p:nvSpPr>
        <p:spPr>
          <a:xfrm>
            <a:off x="457200" y="3776472"/>
            <a:ext cx="2807208"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3831336"/>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Changing the rules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39-51)</a:t>
            </a:r>
            <a:endParaRPr lang="en-US" sz="1100" dirty="0"/>
          </a:p>
        </p:txBody>
      </p:sp>
      <p:sp>
        <p:nvSpPr>
          <p:cNvPr id="20" name="Shape 18"/>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51</a:t>
            </a:r>
            <a:endParaRPr lang="en-US" sz="2600" dirty="0"/>
          </a:p>
        </p:txBody>
      </p:sp>
      <p:sp>
        <p:nvSpPr>
          <p:cNvPr id="22" name="Text 20"/>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3" name="Shape 21"/>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4" name="Text 22"/>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5" name="Text 23"/>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6" name="Shape 24"/>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a:t>
            </a:r>
            <a:endParaRPr lang="en-US" sz="2600" dirty="0"/>
          </a:p>
        </p:txBody>
      </p:sp>
      <p:sp>
        <p:nvSpPr>
          <p:cNvPr id="28" name="Text 26"/>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twenty-two examples, four true stories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block's reward made, and why can there never be more than 21 million coins?</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checks must a transaction and a block pass before a node accepts them?</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does a node follow the chain with the most work and not the longest?</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miner put into a candidate block, and what does the coinbase carry?</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target, difficulty and retargeting set the pace of the lottery?</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do small miners join pools, and what share of the power does an attack need?</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hard and soft forks change the rules, and how is a soft fork voted in?</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Money and rewards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key concepts, 3 examples</a:t>
            </a:r>
            <a:endParaRPr lang="en-US" sz="1250" dirty="0"/>
          </a:p>
        </p:txBody>
      </p:sp>
      <p:sp>
        <p:nvSpPr>
          <p:cNvPr id="8" name="Shape 6"/>
          <p:cNvSpPr/>
          <p:nvPr/>
        </p:nvSpPr>
        <p:spPr>
          <a:xfrm>
            <a:off x="2551176" y="1280160"/>
            <a:ext cx="1947672"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2642616"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Verifying and agreeing</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3 examples</a:t>
            </a:r>
            <a:endParaRPr lang="en-US" sz="1250" dirty="0"/>
          </a:p>
        </p:txBody>
      </p:sp>
      <p:sp>
        <p:nvSpPr>
          <p:cNvPr id="10" name="Shape 8"/>
          <p:cNvSpPr/>
          <p:nvPr/>
        </p:nvSpPr>
        <p:spPr>
          <a:xfrm>
            <a:off x="4645152" y="1280160"/>
            <a:ext cx="1947672" cy="1490472"/>
          </a:xfrm>
          <a:prstGeom prst="roundRect">
            <a:avLst>
              <a:gd name="adj" fmla="val 4908"/>
            </a:avLst>
          </a:prstGeom>
          <a:solidFill>
            <a:srgbClr val="F2ECE1"/>
          </a:solidFill>
          <a:ln w="12700">
            <a:solidFill>
              <a:srgbClr val="DFD6C7"/>
            </a:solidFill>
            <a:prstDash val="solid"/>
          </a:ln>
        </p:spPr>
      </p:sp>
      <p:sp>
        <p:nvSpPr>
          <p:cNvPr id="11" name="Text 9"/>
          <p:cNvSpPr txBox="1"/>
          <p:nvPr/>
        </p:nvSpPr>
        <p:spPr>
          <a:xfrm>
            <a:off x="4736592"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Building the block</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9 key concepts, 3 examples</a:t>
            </a:r>
            <a:endParaRPr lang="en-US" sz="1250" dirty="0"/>
          </a:p>
        </p:txBody>
      </p:sp>
      <p:sp>
        <p:nvSpPr>
          <p:cNvPr id="12" name="Shape 10"/>
          <p:cNvSpPr/>
          <p:nvPr/>
        </p:nvSpPr>
        <p:spPr>
          <a:xfrm>
            <a:off x="6739128" y="1280160"/>
            <a:ext cx="1947672"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6830568"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Proof of work</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10 key concepts, 6 examples</a:t>
            </a:r>
            <a:endParaRPr lang="en-US" sz="1250" dirty="0"/>
          </a:p>
        </p:txBody>
      </p:sp>
      <p:sp>
        <p:nvSpPr>
          <p:cNvPr id="14" name="Shape 12"/>
          <p:cNvSpPr/>
          <p:nvPr/>
        </p:nvSpPr>
        <p:spPr>
          <a:xfrm>
            <a:off x="457200" y="2898648"/>
            <a:ext cx="1947672" cy="1490472"/>
          </a:xfrm>
          <a:prstGeom prst="roundRect">
            <a:avLst>
              <a:gd name="adj" fmla="val 4908"/>
            </a:avLst>
          </a:prstGeom>
          <a:solidFill>
            <a:srgbClr val="D97A14"/>
          </a:solidFill>
          <a:ln w="12700">
            <a:solidFill>
              <a:srgbClr val="D97A14"/>
            </a:solidFill>
            <a:prstDash val="solid"/>
          </a:ln>
        </p:spPr>
      </p:sp>
      <p:sp>
        <p:nvSpPr>
          <p:cNvPr id="15" name="Text 13"/>
          <p:cNvSpPr txBox="1"/>
          <p:nvPr/>
        </p:nvSpPr>
        <p:spPr>
          <a:xfrm>
            <a:off x="548640" y="2953512"/>
            <a:ext cx="1764792" cy="13807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Competition and attacks</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11 key concepts, 3 examples</a:t>
            </a:r>
            <a:endParaRPr lang="en-US" sz="1250" dirty="0"/>
          </a:p>
        </p:txBody>
      </p:sp>
      <p:sp>
        <p:nvSpPr>
          <p:cNvPr id="16" name="Shape 14"/>
          <p:cNvSpPr/>
          <p:nvPr/>
        </p:nvSpPr>
        <p:spPr>
          <a:xfrm>
            <a:off x="2551176" y="2898648"/>
            <a:ext cx="1947672"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2642616"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Changing the rules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11 key concepts, 4 examples</a:t>
            </a:r>
            <a:endParaRPr lang="en-US" sz="12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every slide today lives on this map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 and rewards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reward is a wage that halves on a fixed calendar, plus tips.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subsidy schedule</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New coins halve every 210,000 blocks, so the supply stops just below 21 million.</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wage cut in half on a fixed calendar.</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Subsidy plus fees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block pays its miner the subsidy plus the fees of its transactions, and no more.</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salary plus tips.</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Money and rewards: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Halving every 210,000 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reward is cut in half after every 210,000 blocks, about four years.</a:t>
            </a:r>
            <a:endParaRPr lang="en-US" sz="1150" dirty="0"/>
          </a:p>
        </p:txBody>
      </p:sp>
      <p:sp>
        <p:nvSpPr>
          <p:cNvPr id="9" name="Text 7"/>
          <p:cNvSpPr txBox="1"/>
          <p:nvPr/>
        </p:nvSpPr>
        <p:spPr>
          <a:xfrm>
            <a:off x="640080"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wage that is halved on every fourth birthday of the system.</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Total supply below 21 million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All rewards ever paid add up to 2,099,999,997,690,000 satoshis, just short of 21 million coins.</a:t>
            </a:r>
            <a:endParaRPr lang="en-US" sz="1150" dirty="0"/>
          </a:p>
        </p:txBody>
      </p:sp>
      <p:sp>
        <p:nvSpPr>
          <p:cNvPr id="13" name="Text 11"/>
          <p:cNvSpPr txBox="1"/>
          <p:nvPr/>
        </p:nvSpPr>
        <p:spPr>
          <a:xfrm>
            <a:off x="3432048"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mint with a fixed stock of metal that is never topped up.</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float erratum of the book's script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printed script divides with a slash, so Python 3 keeps halving fractions of a satoshi.</a:t>
            </a:r>
            <a:endParaRPr lang="en-US" sz="1150" dirty="0"/>
          </a:p>
        </p:txBody>
      </p:sp>
      <p:sp>
        <p:nvSpPr>
          <p:cNvPr id="17" name="Text 15"/>
          <p:cNvSpPr txBox="1"/>
          <p:nvPr/>
        </p:nvSpPr>
        <p:spPr>
          <a:xfrm>
            <a:off x="6224016"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calculator that keeps cutting a coin into smaller crumbs.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Reward is subsidy plus fees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miner is paid the new coins plus the fees of the included transactions.</a:t>
            </a:r>
            <a:endParaRPr lang="en-US" sz="1150" dirty="0"/>
          </a:p>
        </p:txBody>
      </p:sp>
      <p:sp>
        <p:nvSpPr>
          <p:cNvPr id="21" name="Text 19"/>
          <p:cNvSpPr txBox="1"/>
          <p:nvPr/>
        </p:nvSpPr>
        <p:spPr>
          <a:xfrm>
            <a:off x="640080" y="3908146"/>
            <a:ext cx="2371344" cy="191110"/>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wage plus tips.</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fees of block 840,000</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first block of the 3.125-coin era paid fees twelve times its subsidy.</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waiter whose tips on a busy night beat the salary.</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Regtest halves every 150 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private test chain halves the reward every 150 blocks, so a halving can be watched in minutes.</a:t>
            </a:r>
            <a:endParaRPr lang="en-US" sz="1150" dirty="0"/>
          </a:p>
        </p:txBody>
      </p:sp>
      <p:sp>
        <p:nvSpPr>
          <p:cNvPr id="29" name="Text 27"/>
          <p:cNvSpPr txBox="1"/>
          <p:nvPr/>
        </p:nvSpPr>
        <p:spPr>
          <a:xfrm>
            <a:off x="6224016" y="390814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time-lapse film of a four-year calendar.</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Halving every 210,000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reward at five heights, and the last non-zero reward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btc = [L.subsidy(h) / 1e8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hs]</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last = L.subsidy(</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(btc, last)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25.0, 12.5, 6.25, 3.125], 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reward is cut in half at each multiple of 210,000 blocks, which is about every four years.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height becomes a subsidy in coins; the halving is a right shift of whole satoshis.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the 33rd halving the subsidy is a single satoshi, and after the 34th it is zero.</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reward in coins from each height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reward falls from 50 to 3.125 coins. After the 33rd halving it is 1 satoshi, and after the 34th 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reward halves on a fixed calendar until it reaches one satoshi</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21 million limit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Whole satoshis against the book's float script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 L.total_supply()</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short = </a:t>
            </a:r>
            <a:r>
              <a:rPr lang="en-US" sz="1000" dirty="0">
                <a:solidFill>
                  <a:srgbClr val="FFD28A"/>
                </a:solidFill>
                <a:latin typeface="Courier New" pitchFamily="34" charset="0"/>
                <a:ea typeface="Courier New" pitchFamily="34" charset="-122"/>
                <a:cs typeface="Courier New" pitchFamily="34" charset="-120"/>
              </a:rPr>
              <a:t>21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a:t>
            </a:r>
            <a:r>
              <a:rPr lang="en-US" sz="1000" dirty="0">
                <a:solidFill>
                  <a:srgbClr val="E6EDF3"/>
                </a:solidFill>
                <a:latin typeface="Courier New" pitchFamily="34" charset="0"/>
                <a:ea typeface="Courier New" pitchFamily="34" charset="-122"/>
                <a:cs typeface="Courier New" pitchFamily="34" charset="-120"/>
              </a:rPr>
              <a:t> - tot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 = L.book_script_as_printed()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short, type(fl).__name__)</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(2099999997690000, 2310000, 'float')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Adding the 33 non-zero rewards, in whole satoshis, gives the real total supply.</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total falls a little short of 21 million coins, counted in satoshis.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book's script divides with a slash, which Python 3 turns into a float division.</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supply, in whole satoshis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Total, in 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2,099,999,997,690,000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Short of 21 million coins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2,310,000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Book script returns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float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Value as printed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2100000000000000.0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exact total is 2,099,999,997,690,000 satoshis. Run as printed, the book's script ends with a float, which hides the shortfall.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real total is a little under 21 million coins, and a float hides that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Subsidy plus fees is the reward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private chain: what Core offers and what a miner claims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'b5_reward'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a:t>
            </a:r>
            <a:r>
              <a:rPr lang="en-US" sz="1000" dirty="0">
                <a:solidFill>
                  <a:srgbClr val="9ECBFF"/>
                </a:solidFill>
                <a:latin typeface="Courier New" pitchFamily="34" charset="0"/>
                <a:ea typeface="Courier New" pitchFamily="34" charset="-122"/>
                <a:cs typeface="Courier New" pitchFamily="34" charset="-120"/>
              </a:rPr>
              <a:t>'coinbasevalue'</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'subsidy'</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'fees'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R[</a:t>
            </a:r>
            <a:r>
              <a:rPr lang="en-US" sz="1000" dirty="0">
                <a:solidFill>
                  <a:srgbClr val="9ECBFF"/>
                </a:solidFill>
                <a:latin typeface="Courier New" pitchFamily="34" charset="0"/>
                <a:ea typeface="Courier New" pitchFamily="34" charset="-122"/>
                <a:cs typeface="Courier New" pitchFamily="34" charset="-120"/>
              </a:rPr>
              <a:t>'b5_modest'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'coinbase_output_sat'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R[</a:t>
            </a:r>
            <a:r>
              <a:rPr lang="en-US" sz="1000" dirty="0">
                <a:solidFill>
                  <a:srgbClr val="9ECBFF"/>
                </a:solidFill>
                <a:latin typeface="Courier New" pitchFamily="34" charset="0"/>
                <a:ea typeface="Courier New" pitchFamily="34" charset="-122"/>
                <a:cs typeface="Courier New" pitchFamily="34" charset="-120"/>
              </a:rPr>
              <a:t>'b4_rules'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'reward_one_satoshi_too_high'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'subsidy'</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'fees'</a:t>
            </a:r>
            <a:r>
              <a:rPr lang="en-US" sz="1000" dirty="0">
                <a:solidFill>
                  <a:srgbClr val="E6EDF3"/>
                </a:solidFill>
                <a:latin typeface="Courier New" pitchFamily="34" charset="0"/>
                <a:ea typeface="Courier New" pitchFamily="34" charset="-122"/>
                <a:cs typeface="Courier New" pitchFamily="34" charset="-120"/>
              </a:rPr>
              <a:t>], ok, bad)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(305175, 40194, True, 'bad-cb-amount')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offers a block template that states the reward.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reward it offers equals the subsidy plus the fees of the chosen transactions.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may claim less than the reward, but one satoshi more is refused.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satoshis offered and claimed</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Subsidy plus fees equals the reward: yes. The claim is one satoshi less and is accepted; one more gives bad-cb-amount.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miner may claim less than the reward, never one satoshi more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Tips twelve times the wage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subsidy halves on schedule, but fees can swing wildly</a:t>
            </a:r>
            <a:endParaRPr lang="en-US" sz="1300" dirty="0"/>
          </a:p>
        </p:txBody>
      </p:sp>
      <p:pic>
        <p:nvPicPr>
          <p:cNvPr id="6" name="Image 0" descr="../../03-materials/ch12/assets/photo_asic_mine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Antminer ASIC Miner - Steve Rainwater, CC BY-SA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Block 840,000, mined by ViaBTC at 00:09:27 UTC on 20 April 2024, was the first to pay the new subsidy of 3.125 coins.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Its 3,050 transactions paid 3,762,561,499 satoshis in fees, 12.04 times the subsidy, so the reward was mostly tips.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sum was recomputed from the saved block; its coinbase carries the tag ViaBTC, by which pool statistics are made.</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The book says that fees are a small part of income; this block is an exception.</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mining machine, not block 840,000</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who wr…</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main chain of Bitc…</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 840,000 on mempool.space (block)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Verifying and agreeing</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Every node is a customs officer who checks each parcel against the same list.</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Independent checking</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node tests every transaction and block against the same list of rules.</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customs officer with a printed checklist.</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Choosing the chain</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Nodes follow the chain with the most accumulated work, not the one with most blocks.</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heaviest rope, not the longest.</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Verifying and agreeing: key concepts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checklist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transaction is tested against fixed rules and refused with a named reason.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customs officer with a printed checklist.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checklist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block must also obey the rules of reward, height, merkle root, time and version.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exam paper marked against a model answer.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Coinbase maturity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mining reward can be spent only after 100 confirmations.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that clears only after a hundred days.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Most work, not longest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Nodes follow the chain with the most accumulated work, not the one with the most blocks.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heaviest rope, not the longest rope.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transaction faces a checklist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Spoiled transactions and the reasons Core gave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'b3_tx_checklist'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'duplicate_input'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'negative_output'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'coinbase_99_confirmations'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[c[k][</a:t>
            </a:r>
            <a:r>
              <a:rPr lang="en-US" sz="1000" dirty="0">
                <a:solidFill>
                  <a:srgbClr val="9ECBFF"/>
                </a:solidFill>
                <a:latin typeface="Courier New" pitchFamily="34" charset="0"/>
                <a:ea typeface="Courier New" pitchFamily="34" charset="-122"/>
                <a:cs typeface="Courier New" pitchFamily="34" charset="-120"/>
              </a:rPr>
              <a:t>'reject-reason'</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c[</a:t>
            </a:r>
            <a:r>
              <a:rPr lang="en-US" sz="1000" dirty="0">
                <a:solidFill>
                  <a:srgbClr val="9ECBFF"/>
                </a:solidFill>
                <a:latin typeface="Courier New" pitchFamily="34" charset="0"/>
                <a:ea typeface="Courier New" pitchFamily="34" charset="-122"/>
                <a:cs typeface="Courier New" pitchFamily="34" charset="-120"/>
              </a:rPr>
              <a:t>'coinbase_100_confirmations'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(len(why),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was asked to test several spoiled transactions.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broken rule gets a name; a coinbase may be spent only after 100 confirmations.</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100 confirmations the same spend is allowed.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named reasons from Bitcoin Core</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Spoiled transaction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Reason (bad-txns- left out)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Same input twice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inputs-duplicate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Negative output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vout-negative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Coinbase at depth 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premature-spend-of-coinbase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Coinbase at depth 100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 time ahead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refusal names the rule it broke. Only the coinbase at depth 100 is allowed.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refusal has a name, and a fresh coinbase cannot be spent before 100 blocks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block faces its own checklist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Fourteen test blocks, each breaking one rule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rules = R[</a:t>
            </a:r>
            <a:r>
              <a:rPr lang="en-US" sz="1000" dirty="0">
                <a:solidFill>
                  <a:srgbClr val="9ECBFF"/>
                </a:solidFill>
                <a:latin typeface="Courier New" pitchFamily="34" charset="0"/>
                <a:ea typeface="Courier New" pitchFamily="34" charset="-122"/>
                <a:cs typeface="Courier New" pitchFamily="34" charset="-120"/>
              </a:rPr>
              <a:t>'b4_rules'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rules[</a:t>
            </a:r>
            <a:r>
              <a:rPr lang="en-US" sz="1000" dirty="0">
                <a:solidFill>
                  <a:srgbClr val="9ECBFF"/>
                </a:solidFill>
                <a:latin typeface="Courier New" pitchFamily="34" charset="0"/>
                <a:ea typeface="Courier New" pitchFamily="34" charset="-122"/>
                <a:cs typeface="Courier New" pitchFamily="34" charset="-120"/>
              </a:rPr>
              <a:t>'valid_block'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(len(rules),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 'accepted')</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node was given blocks that each broke exactly one rule.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broken rule answers with a short reason; the valid block is accepted.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reasons name the rule: the reward, the height, the merkle root and the clock.</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six of the 14 test blocks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63040"/>
                <a:gridCol w="15087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Rule broken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Reason given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Reward one satoshi high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bad-cb-amount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height in coinbase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bad-cb-height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Wrong merkle root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bad-txnmrklroot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 equals median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time-too-old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 two hours ahead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time-too-new</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bad-version(0x00000001)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valid block is accepted; every other block is refused with a name for its rule.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Reward, height, merkle root, clock and version each have a rule of their 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best chain has the most 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branches on a private chain, and a reversed payment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R[</a:t>
            </a:r>
            <a:r>
              <a:rPr lang="en-US" sz="1000" dirty="0">
                <a:solidFill>
                  <a:srgbClr val="9ECBFF"/>
                </a:solidFill>
                <a:latin typeface="Courier New" pitchFamily="34" charset="0"/>
                <a:ea typeface="Courier New" pitchFamily="34" charset="-122"/>
                <a:cs typeface="Courier New" pitchFamily="34" charset="-120"/>
              </a:rPr>
              <a:t>'b7_after'</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'b7_before'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w1 = int(a[</a:t>
            </a:r>
            <a:r>
              <a:rPr lang="en-US" sz="1000" dirty="0">
                <a:solidFill>
                  <a:srgbClr val="9ECBFF"/>
                </a:solidFill>
                <a:latin typeface="Courier New" pitchFamily="34" charset="0"/>
                <a:ea typeface="Courier New" pitchFamily="34" charset="-122"/>
                <a:cs typeface="Courier New" pitchFamily="34" charset="-120"/>
              </a:rPr>
              <a:t>'chainwork_x'</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w2 = int(a[</a:t>
            </a:r>
            <a:r>
              <a:rPr lang="en-US" sz="1000" dirty="0">
                <a:solidFill>
                  <a:srgbClr val="9ECBFF"/>
                </a:solidFill>
                <a:latin typeface="Courier New" pitchFamily="34" charset="0"/>
                <a:ea typeface="Courier New" pitchFamily="34" charset="-122"/>
                <a:cs typeface="Courier New" pitchFamily="34" charset="-120"/>
              </a:rPr>
              <a:t>'chainwork_tip'</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(w1, w2, a[</a:t>
            </a:r>
            <a:r>
              <a:rPr lang="en-US" sz="1000" dirty="0">
                <a:solidFill>
                  <a:srgbClr val="9ECBFF"/>
                </a:solidFill>
                <a:latin typeface="Courier New" pitchFamily="34" charset="0"/>
                <a:ea typeface="Courier New" pitchFamily="34" charset="-122"/>
                <a:cs typeface="Courier New" pitchFamily="34" charset="-120"/>
              </a:rPr>
              <a:t>'tip_is_y2'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(206, 208,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competing branches were built on a private chain; the first had paid Carol.</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chain work of each tip is a number; the larger number wins, not the longer chain.</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the switch the payment has fewer confirmations than before, and Carol holds nothing.</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chain work of the two tips</a:t>
            </a:r>
            <a:endParaRPr lang="en-US" sz="1100" dirty="0"/>
          </a:p>
        </p:txBody>
      </p:sp>
      <p:graphicFrame>
        <p:nvGraphicFramePr>
          <p:cNvPr id="23" name="Chart 0" descr=""/>
          <p:cNvGraphicFramePr/>
          <p:nvPr/>
        </p:nvGraphicFramePr>
        <p:xfrm>
          <a:off x="5715000" y="159105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second branch has more work, so it wins: yes. Carol held 49.999 before and 0.0 after; the payment went from 1 to -2 confirmations.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heavier branch replaces a lighter one, even when both have equal length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Building the block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miner packs a parcel and writes the label before sealing it.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block template</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node picks transactions by fee rate up to a weight limit.</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loader who packs the best-paying parcels first.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coinbase</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first transaction creates the reward and carries the height and a witness commitment.</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line of a ledger, with no payer.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header</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Six fields in 80 bytes, with a time that must pass two rules.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address label on the parcel.</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Building the block: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 template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node offers a template with transactions picked by fee rate, up to a weight limit.</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loader who packs the best-paying parcels first.</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1030529"/>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Coinbase fields of Bitcoin Core today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Core 31.1 fills in the lock time, the sequence and the end of the script in ways the book's table does not show.</a:t>
            </a:r>
            <a:endParaRPr lang="en-US" sz="1150" dirty="0"/>
          </a:p>
        </p:txBody>
      </p:sp>
      <p:sp>
        <p:nvSpPr>
          <p:cNvPr id="13" name="Text 11"/>
          <p:cNvSpPr txBox="1"/>
          <p:nvPr/>
        </p:nvSpPr>
        <p:spPr>
          <a:xfrm>
            <a:off x="3432048" y="2402129"/>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form that the clerk now fills in for you.</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5313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Coinbase data and tags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free bytes of the coinbase script, two to one hundred in all, are where pools sign their blocks.</a:t>
            </a:r>
            <a:endParaRPr lang="en-US" sz="1150" dirty="0"/>
          </a:p>
        </p:txBody>
      </p:sp>
      <p:sp>
        <p:nvSpPr>
          <p:cNvPr id="17" name="Text 15"/>
          <p:cNvSpPr txBox="1"/>
          <p:nvPr/>
        </p:nvSpPr>
        <p:spPr>
          <a:xfrm>
            <a:off x="6224016" y="222473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baker's mark pressed into each loaf.</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34 height push</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coinbase script starts with the block height, so every coinbase differs.</a:t>
            </a:r>
            <a:endParaRPr lang="en-US" sz="1150" dirty="0"/>
          </a:p>
        </p:txBody>
      </p:sp>
      <p:sp>
        <p:nvSpPr>
          <p:cNvPr id="21" name="Text 19"/>
          <p:cNvSpPr txBox="1"/>
          <p:nvPr/>
        </p:nvSpPr>
        <p:spPr>
          <a:xfrm>
            <a:off x="640080"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page number written on the first line of each page.</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Witness commitment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An extra coinbase output commits to the witness data of all transactions.</a:t>
            </a:r>
            <a:endParaRPr lang="en-US" sz="1150" dirty="0"/>
          </a:p>
        </p:txBody>
      </p:sp>
      <p:sp>
        <p:nvSpPr>
          <p:cNvPr id="25" name="Text 23"/>
          <p:cNvSpPr txBox="1"/>
          <p:nvPr/>
        </p:nvSpPr>
        <p:spPr>
          <a:xfrm>
            <a:off x="3432048" y="3729838"/>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sealed envelope that lists what lies in the second drawer.</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extra nonce space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Eight extra bytes in the coinbase script give a miner 2 to the 96 headers to try.</a:t>
            </a:r>
            <a:endParaRPr lang="en-US" sz="1150" dirty="0"/>
          </a:p>
        </p:txBody>
      </p:sp>
      <p:sp>
        <p:nvSpPr>
          <p:cNvPr id="29" name="Text 27"/>
          <p:cNvSpPr txBox="1"/>
          <p:nvPr/>
        </p:nvSpPr>
        <p:spPr>
          <a:xfrm>
            <a:off x="6224016"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second, far larger drum behind the lottery drum.</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51</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coinbase of Bitcoin Core today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Height, lock time and sequence in the first transaction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'b1_template0'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t[</a:t>
            </a:r>
            <a:r>
              <a:rPr lang="en-US" sz="1000" dirty="0">
                <a:solidFill>
                  <a:srgbClr val="9ECBFF"/>
                </a:solidFill>
                <a:latin typeface="Courier New" pitchFamily="34" charset="0"/>
                <a:ea typeface="Courier New" pitchFamily="34" charset="-122"/>
                <a:cs typeface="Courier New" pitchFamily="34" charset="-120"/>
              </a:rPr>
              <a:t>'weightlimit'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R[</a:t>
            </a:r>
            <a:r>
              <a:rPr lang="en-US" sz="1000" dirty="0">
                <a:solidFill>
                  <a:srgbClr val="9ECBFF"/>
                </a:solidFill>
                <a:latin typeface="Courier New" pitchFamily="34" charset="0"/>
                <a:ea typeface="Courier New" pitchFamily="34" charset="-122"/>
                <a:cs typeface="Courier New" pitchFamily="34" charset="-120"/>
              </a:rPr>
              <a:t>'b5_core_coinbase'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hx = L.push_num(k[</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k[</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 hx)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(4000000, 2204, '029c08')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builds a block template; its weight limit leaves room for the header.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coinbase script starts with the block height as a short pushed number.</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Other fields are set by Core, not by the book: the lock time and the sequence.</a:t>
            </a:r>
            <a:endParaRPr lang="en-US" sz="1050" dirty="0"/>
          </a:p>
        </p:txBody>
      </p:sp>
      <p:sp>
        <p:nvSpPr>
          <p:cNvPr id="21" name="Text 19"/>
          <p:cNvSpPr txBox="1"/>
          <p:nvPr/>
        </p:nvSpPr>
        <p:spPr>
          <a:xfrm>
            <a:off x="457200" y="417240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first transaction of a Core block</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Weight limit of the template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4,000,000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 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2204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Height as a script push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029c08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Whole script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029c0800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 time is height - 1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Sequence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0xfffffffe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script is the height as a short push, 029c08, and a zero byte. Core sets version 2.</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Core sets the lock time and the sequence, which the book does not say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Building the block: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719072"/>
          </a:xfrm>
          <a:prstGeom prst="roundRect">
            <a:avLst>
              <a:gd name="adj" fmla="val 4255"/>
            </a:avLst>
          </a:prstGeom>
          <a:solidFill>
            <a:srgbClr val="F2ECE1"/>
          </a:solidFill>
          <a:ln w="12700">
            <a:solidFill>
              <a:srgbClr val="DFD6C7"/>
            </a:solidFill>
            <a:prstDash val="solid"/>
          </a:ln>
        </p:spPr>
      </p:sp>
      <p:sp>
        <p:nvSpPr>
          <p:cNvPr id="7" name="Shape 5"/>
          <p:cNvSpPr/>
          <p:nvPr/>
        </p:nvSpPr>
        <p:spPr>
          <a:xfrm>
            <a:off x="475488" y="1408176"/>
            <a:ext cx="64008" cy="146304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170432"/>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extra nonce changes the root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counter in the coinbase script changes the merkle root and so opens a fresh search space.</a:t>
            </a:r>
            <a:endParaRPr lang="en-US" sz="1300" dirty="0"/>
          </a:p>
        </p:txBody>
      </p:sp>
      <p:sp>
        <p:nvSpPr>
          <p:cNvPr id="9" name="Text 7"/>
          <p:cNvSpPr txBox="1"/>
          <p:nvPr/>
        </p:nvSpPr>
        <p:spPr>
          <a:xfrm>
            <a:off x="640080" y="254203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reshuffling the deck before the next draw.</a:t>
            </a:r>
            <a:endParaRPr lang="en-US" sz="1150" dirty="0"/>
          </a:p>
        </p:txBody>
      </p:sp>
      <p:sp>
        <p:nvSpPr>
          <p:cNvPr id="10" name="Shape 8"/>
          <p:cNvSpPr/>
          <p:nvPr/>
        </p:nvSpPr>
        <p:spPr>
          <a:xfrm>
            <a:off x="3249168" y="1280160"/>
            <a:ext cx="2645664" cy="1719072"/>
          </a:xfrm>
          <a:prstGeom prst="roundRect">
            <a:avLst>
              <a:gd name="adj" fmla="val 4255"/>
            </a:avLst>
          </a:prstGeom>
          <a:solidFill>
            <a:srgbClr val="F2ECE1"/>
          </a:solidFill>
          <a:ln w="12700">
            <a:solidFill>
              <a:srgbClr val="DFD6C7"/>
            </a:solidFill>
            <a:prstDash val="solid"/>
          </a:ln>
        </p:spPr>
      </p:sp>
      <p:sp>
        <p:nvSpPr>
          <p:cNvPr id="11" name="Shape 9"/>
          <p:cNvSpPr/>
          <p:nvPr/>
        </p:nvSpPr>
        <p:spPr>
          <a:xfrm>
            <a:off x="3267456" y="1408176"/>
            <a:ext cx="64008" cy="1463040"/>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Median time past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block's time must be later than the median of the last eleven blocks.</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clock that follows the majority, not a single watch.</a:t>
            </a:r>
            <a:endParaRPr lang="en-US" sz="1150" dirty="0"/>
          </a:p>
        </p:txBody>
      </p:sp>
      <p:sp>
        <p:nvSpPr>
          <p:cNvPr id="14" name="Shape 12"/>
          <p:cNvSpPr/>
          <p:nvPr/>
        </p:nvSpPr>
        <p:spPr>
          <a:xfrm>
            <a:off x="6041136" y="1280160"/>
            <a:ext cx="2645664" cy="1719072"/>
          </a:xfrm>
          <a:prstGeom prst="roundRect">
            <a:avLst>
              <a:gd name="adj" fmla="val 4255"/>
            </a:avLst>
          </a:prstGeom>
          <a:solidFill>
            <a:srgbClr val="F2ECE1"/>
          </a:solidFill>
          <a:ln w="12700">
            <a:solidFill>
              <a:srgbClr val="DFD6C7"/>
            </a:solidFill>
            <a:prstDash val="solid"/>
          </a:ln>
        </p:spPr>
      </p:sp>
      <p:sp>
        <p:nvSpPr>
          <p:cNvPr id="15" name="Shape 13"/>
          <p:cNvSpPr/>
          <p:nvPr/>
        </p:nvSpPr>
        <p:spPr>
          <a:xfrm>
            <a:off x="6059424" y="1408176"/>
            <a:ext cx="64008" cy="1463040"/>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Two-hour rule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block time more than two hours ahead of a node's clock is refused.</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rule against post-dated cheques.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header of a mined 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Eighty bytes, and a hash under the target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L.header(R[</a:t>
            </a:r>
            <a:r>
              <a:rPr lang="en-US" sz="1000" dirty="0">
                <a:solidFill>
                  <a:srgbClr val="9ECBFF"/>
                </a:solidFill>
                <a:latin typeface="Courier New" pitchFamily="34" charset="0"/>
                <a:ea typeface="Courier New" pitchFamily="34" charset="-122"/>
                <a:cs typeface="Courier New" pitchFamily="34" charset="-120"/>
              </a:rPr>
              <a:t>'b1_getblock_raw_header'</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L.pow_ok(h[</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'bits'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 = L.leading_zero_bits(h[</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t>
            </a:r>
            <a:r>
              <a:rPr lang="en-US" sz="1000" dirty="0">
                <a:solidFill>
                  <a:srgbClr val="9ECBFF"/>
                </a:solidFill>
                <a:latin typeface="Courier New" pitchFamily="34" charset="0"/>
                <a:ea typeface="Courier New" pitchFamily="34" charset="-122"/>
                <a:cs typeface="Courier New" pitchFamily="34" charset="-120"/>
              </a:rPr>
              <a:t>'bytes'</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'version'</a:t>
            </a:r>
            <a:r>
              <a:rPr lang="en-US" sz="1000" dirty="0">
                <a:solidFill>
                  <a:srgbClr val="E6EDF3"/>
                </a:solidFill>
                <a:latin typeface="Courier New" pitchFamily="34" charset="0"/>
                <a:ea typeface="Courier New" pitchFamily="34" charset="-122"/>
                <a:cs typeface="Courier New" pitchFamily="34" charset="-120"/>
              </a:rPr>
              <a:t>],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536870912,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80-byte header of a regtest block is taken apart into its six fields.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hash of the header must not be larger than the target that its bits describe.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Regtest has a huge target, so one zero bit of hash is enough.</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regtest header taken apart</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Header size,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536870912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207fffff</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Zero bits at the start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Hash not above target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bits 207fffff describe a huge target, so 6 zero bits are enough on this private chain.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valid header hashes to a number that is not above its target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51</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new extra nonce, a new root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Same block, one counter changed in the coinbase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'b5_extranonce'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t1, t2 = e[</a:t>
            </a:r>
            <a:r>
              <a:rPr lang="en-US" sz="1000" dirty="0">
                <a:solidFill>
                  <a:srgbClr val="9ECBFF"/>
                </a:solidFill>
                <a:latin typeface="Courier New" pitchFamily="34" charset="0"/>
                <a:ea typeface="Courier New" pitchFamily="34" charset="-122"/>
                <a:cs typeface="Courier New" pitchFamily="34" charset="-120"/>
              </a:rPr>
              <a:t>'coinbase_txid_1'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'coinbase_txid_2'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m1, m2 = e[</a:t>
            </a:r>
            <a:r>
              <a:rPr lang="en-US" sz="1000" dirty="0">
                <a:solidFill>
                  <a:srgbClr val="9ECBFF"/>
                </a:solidFill>
                <a:latin typeface="Courier New" pitchFamily="34" charset="0"/>
                <a:ea typeface="Courier New" pitchFamily="34" charset="-122"/>
                <a:cs typeface="Courier New" pitchFamily="34" charset="-120"/>
              </a:rPr>
              <a:t>'merkle_1'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'merkle_2'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n1, n2 = e[</a:t>
            </a:r>
            <a:r>
              <a:rPr lang="en-US" sz="1000" dirty="0">
                <a:solidFill>
                  <a:srgbClr val="9ECBFF"/>
                </a:solidFill>
                <a:latin typeface="Courier New" pitchFamily="34" charset="0"/>
                <a:ea typeface="Courier New" pitchFamily="34" charset="-122"/>
                <a:cs typeface="Courier New" pitchFamily="34" charset="-120"/>
              </a:rPr>
              <a:t>'nonce_1'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'nonce_2'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(t1 != t2, m1 != m2, n1 == n2)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built the same block twice, changing only a counter in the coinbase script.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coinbase transaction id differs, so the merkle root differs as well.</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nonce in the header is the same in both, but the header hash is not.</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block, two extra nonces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Coinbase id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Merkle root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nonce is the same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hash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counter in the coinbase changed, yet the header is new.</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header's nonce stays, yet the hash is new: a fresh search space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Proof of 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Proof of work is a lottery whose tickets are costly to draw and cheap to check.</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nonce lottery</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Try numbers until the hash falls under the target; checking takes one hash.</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rolling dice until a six.</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Target and difficulty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four-byte code holds the target; difficulty says how small it is.</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height of a limbo bar.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Retargeting</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2,016 blocks the target is scaled so blocks keep coming every ten minutes.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thermostat for the pace of the lottery.</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work: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Hello World nonce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Hash a text with a counter added, again and again, until the hash starts with zeros.</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rolling a die until a six turns up.</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Proof is cheap to check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Finding a valid header takes billions of hashes, and checking it takes one.</a:t>
            </a:r>
            <a:endParaRPr lang="en-US" sz="1150" dirty="0"/>
          </a:p>
        </p:txBody>
      </p:sp>
      <p:sp>
        <p:nvSpPr>
          <p:cNvPr id="13" name="Text 11"/>
          <p:cNvSpPr txBox="1"/>
          <p:nvPr/>
        </p:nvSpPr>
        <p:spPr>
          <a:xfrm>
            <a:off x="3432048"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jigsaw piece: hard to find, easy to see that it fits.</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Hash below target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header is valid when its hash, read as a number, is not above the target.</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limbo bar that the hash must pass under.</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Compact bits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target is stored in four bytes: one for the size and three for the digits.</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scientific notation for a huge number.</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wait of a terahash miner</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At the difficulty of block 277,316 a miner doing one terahash a second waited about 59 days.</a:t>
            </a:r>
            <a:endParaRPr lang="en-US" sz="1150" dirty="0"/>
          </a:p>
        </p:txBody>
      </p:sp>
      <p:sp>
        <p:nvSpPr>
          <p:cNvPr id="25" name="Text 23"/>
          <p:cNvSpPr txBox="1"/>
          <p:nvPr/>
        </p:nvSpPr>
        <p:spPr>
          <a:xfrm>
            <a:off x="3432048"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one person with a single ticket in a national lottery.</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Hash rate from difficulty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Difficulty times 2 to the 32, over 600 seconds, estimates the hashes a second of the network.</a:t>
            </a:r>
            <a:endParaRPr lang="en-US" sz="1150" dirty="0"/>
          </a:p>
        </p:txBody>
      </p:sp>
      <p:sp>
        <p:nvSpPr>
          <p:cNvPr id="29" name="Text 27"/>
          <p:cNvSpPr txBox="1"/>
          <p:nvPr/>
        </p:nvSpPr>
        <p:spPr>
          <a:xfrm>
            <a:off x="6224016" y="3575304"/>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guessing the size of a crowd from the effort needed to get in.</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51</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Proof of work is a nonce lottery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Hello, world! with a counter, and the tries for each zero</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 = hw(</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up = hw(</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'W'</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ns = range(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n, z: hw(n).startswith(</a:t>
            </a:r>
            <a:r>
              <a:rPr lang="en-US" sz="1000" dirty="0">
                <a:solidFill>
                  <a:srgbClr val="9ECBFF"/>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z)</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z: next(n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ok(n, z))</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[f(z)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(up, 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('6bbe6a3d', [32, 228, 3460, 27835])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small w gives the book's hash; the capital W it types gives another.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try counts if the hash starts with z zero digits.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Tries needed for one, two, three and four zero digits.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tries until the hash starts with zeros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book prints the hash 09cb91f8 for the capital W, but that is the hash of the small w. The capital W gives 6bbe6a3d.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extra zero digit costs about sixteen times more tries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stamp that made email cost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Proof of work was invented to price email, years before Bitcoin</a:t>
            </a:r>
            <a:endParaRPr lang="en-US" sz="1300" dirty="0"/>
          </a:p>
        </p:txBody>
      </p:sp>
      <p:pic>
        <p:nvPicPr>
          <p:cNvPr id="6" name="Image 0" descr="../../03-materials/ch12/assets/photo_adam_back.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Adam Back - Joi Ito, CC BY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Adam Back proposed Hashcash in 1997 and wrote it up in a paper dated 1 August 2002: a stamp of computing work that makes sending mail cost a little.</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Cynthia Dwork and Moni Naor had proposed in 1992 to price junk mail with a moderately hard function; Hashcash made the idea practical.</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sender hashes a string with a growing counter until the hash starts with zeros, as in our lottery; the receiver checks it with one hash.</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Satoshi Nakamoto's paper of 2008 calls Bitcoin's proof of work similar to Adam Back's Hashcash.</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Adam Back, the cryptogra…</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paper Hashcash - A…</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2002-08-01</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hashcash.org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work: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2015-gap retarget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2,016 blocks have only 2,015 gaps, and the rule measures the span from the first block to the last.</a:t>
            </a:r>
            <a:endParaRPr lang="en-US" sz="1300" dirty="0"/>
          </a:p>
        </p:txBody>
      </p:sp>
      <p:sp>
        <p:nvSpPr>
          <p:cNvPr id="9" name="Text 7"/>
          <p:cNvSpPr txBox="1"/>
          <p:nvPr/>
        </p:nvSpPr>
        <p:spPr>
          <a:xfrm>
            <a:off x="640080"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counting fence posts and the spaces between them.</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factor-of-four clamp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retarget never moves the target by more than a factor of four either way.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speed limiter on the steering wheel.</a:t>
            </a:r>
            <a:endParaRPr lang="en-US" sz="1150" dirty="0"/>
          </a:p>
        </p:txBody>
      </p:sp>
      <p:sp>
        <p:nvSpPr>
          <p:cNvPr id="14" name="Shape 12"/>
          <p:cNvSpPr/>
          <p:nvPr/>
        </p:nvSpPr>
        <p:spPr>
          <a:xfrm>
            <a:off x="457200" y="2747772"/>
            <a:ext cx="4041648"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475488" y="2875788"/>
            <a:ext cx="64008" cy="1083564"/>
          </a:xfrm>
          <a:prstGeom prst="rect">
            <a:avLst/>
          </a:prstGeom>
          <a:solidFill>
            <a:srgbClr val="D97A14"/>
          </a:solidFill>
          <a:ln w="12700">
            <a:solidFill>
              <a:srgbClr val="D97A14"/>
            </a:solidFill>
            <a:prstDash val="solid"/>
          </a:ln>
        </p:spPr>
      </p:sp>
      <p:sp>
        <p:nvSpPr>
          <p:cNvPr id="16" name="Text 14"/>
          <p:cNvSpPr txBox="1"/>
          <p:nvPr/>
        </p:nvSpPr>
        <p:spPr>
          <a:xfrm>
            <a:off x="640080" y="281178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BIP 94 branch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Testnet4 measures the period from its first block, so a late block cannot trick the rule.</a:t>
            </a:r>
            <a:endParaRPr lang="en-US" sz="1300" dirty="0"/>
          </a:p>
        </p:txBody>
      </p:sp>
      <p:sp>
        <p:nvSpPr>
          <p:cNvPr id="17" name="Text 15"/>
          <p:cNvSpPr txBox="1"/>
          <p:nvPr/>
        </p:nvSpPr>
        <p:spPr>
          <a:xfrm>
            <a:off x="640080" y="345186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stopwatch started at the start line.</a:t>
            </a:r>
            <a:endParaRPr lang="en-US" sz="1150" dirty="0"/>
          </a:p>
        </p:txBody>
      </p:sp>
      <p:sp>
        <p:nvSpPr>
          <p:cNvPr id="18" name="Shape 16"/>
          <p:cNvSpPr/>
          <p:nvPr/>
        </p:nvSpPr>
        <p:spPr>
          <a:xfrm>
            <a:off x="4645152" y="2747772"/>
            <a:ext cx="4041648" cy="1339596"/>
          </a:xfrm>
          <a:prstGeom prst="roundRect">
            <a:avLst>
              <a:gd name="adj" fmla="val 5461"/>
            </a:avLst>
          </a:prstGeom>
          <a:solidFill>
            <a:srgbClr val="F2ECE1"/>
          </a:solidFill>
          <a:ln w="12700">
            <a:solidFill>
              <a:srgbClr val="DFD6C7"/>
            </a:solidFill>
            <a:prstDash val="solid"/>
          </a:ln>
        </p:spPr>
      </p:sp>
      <p:sp>
        <p:nvSpPr>
          <p:cNvPr id="19" name="Shape 17"/>
          <p:cNvSpPr/>
          <p:nvPr/>
        </p:nvSpPr>
        <p:spPr>
          <a:xfrm>
            <a:off x="4663440" y="2875788"/>
            <a:ext cx="64008" cy="1083564"/>
          </a:xfrm>
          <a:prstGeom prst="rect">
            <a:avLst/>
          </a:prstGeom>
          <a:solidFill>
            <a:srgbClr val="D97A14"/>
          </a:solidFill>
          <a:ln w="12700">
            <a:solidFill>
              <a:srgbClr val="D97A14"/>
            </a:solidFill>
            <a:prstDash val="solid"/>
          </a:ln>
        </p:spPr>
      </p:sp>
      <p:sp>
        <p:nvSpPr>
          <p:cNvPr id="20" name="Text 18"/>
          <p:cNvSpPr txBox="1"/>
          <p:nvPr/>
        </p:nvSpPr>
        <p:spPr>
          <a:xfrm>
            <a:off x="4828032" y="2811780"/>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Regtest never retargets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chain parameter switches the difficulty adjustment off, so the difficulty of regtest stays the same.</a:t>
            </a:r>
            <a:endParaRPr lang="en-US" sz="1300" dirty="0"/>
          </a:p>
        </p:txBody>
      </p:sp>
      <p:sp>
        <p:nvSpPr>
          <p:cNvPr id="21" name="Text 19"/>
          <p:cNvSpPr txBox="1"/>
          <p:nvPr/>
        </p:nvSpPr>
        <p:spPr>
          <a:xfrm>
            <a:off x="4828032" y="363016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thermostat that has been unplugged.</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51</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Target, bits and difficulty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277,316 as the book lists it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 = L.bits_to_target(</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L.difficulty(</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need = </a:t>
            </a:r>
            <a:r>
              <a:rPr lang="en-US" sz="1000" dirty="0">
                <a:solidFill>
                  <a:srgbClr val="FFD28A"/>
                </a:solidFill>
                <a:latin typeface="Courier New" pitchFamily="34" charset="0"/>
                <a:ea typeface="Courier New" pitchFamily="34" charset="-122"/>
                <a:cs typeface="Courier New" pitchFamily="34" charset="-120"/>
              </a:rPr>
              <a:t>256</a:t>
            </a:r>
            <a:r>
              <a:rPr lang="en-US" sz="1000" dirty="0">
                <a:solidFill>
                  <a:srgbClr val="E6EDF3"/>
                </a:solidFill>
                <a:latin typeface="Courier New" pitchFamily="34" charset="0"/>
                <a:ea typeface="Courier New" pitchFamily="34" charset="-122"/>
                <a:cs typeface="Courier New" pitchFamily="34" charset="-120"/>
              </a:rPr>
              <a:t> - tg.bit_length()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(tg.bit_length(), round(d))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(194, 1180923195)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header stores the target in four bytes: one for the size, three for the digits.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Difficulty compares this target with the easiest one that Bitcoin allows.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smaller target means more zero bits at the start of a valid hash.</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 277,316</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 in the header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1903a30c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Target is how many bits long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Difficulty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1,180,923,195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Zero bits a hash needs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 written back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0x1903a30c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valid hash must start with 62 zero bits. The bits can be rebuilt from the target.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smaller target means a higher difficulty and more zero bits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51</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wait of a one-terahash miner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Difficulty turned into days and into hashes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L.difficulty(</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secs = d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1e12</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secs / </a:t>
            </a:r>
            <a:r>
              <a:rPr lang="en-US" sz="1000" dirty="0">
                <a:solidFill>
                  <a:srgbClr val="FFD28A"/>
                </a:solidFill>
                <a:latin typeface="Courier New" pitchFamily="34" charset="0"/>
                <a:ea typeface="Courier New" pitchFamily="34" charset="-122"/>
                <a:cs typeface="Courier New" pitchFamily="34" charset="-120"/>
              </a:rPr>
              <a:t>86400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 = round(secs / </a:t>
            </a:r>
            <a:r>
              <a:rPr lang="en-US" sz="1000" dirty="0">
                <a:solidFill>
                  <a:srgbClr val="FFD28A"/>
                </a:solidFill>
                <a:latin typeface="Courier New" pitchFamily="34" charset="0"/>
                <a:ea typeface="Courier New" pitchFamily="34" charset="-122"/>
                <a:cs typeface="Courier New" pitchFamily="34" charset="-120"/>
              </a:rPr>
              <a:t>600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6509"/>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d2 = </a:t>
            </a:r>
            <a:r>
              <a:rPr lang="en-US" sz="1000" dirty="0">
                <a:solidFill>
                  <a:srgbClr val="FFD28A"/>
                </a:solidFill>
                <a:latin typeface="Courier New" pitchFamily="34" charset="0"/>
                <a:ea typeface="Courier New" pitchFamily="34" charset="-122"/>
                <a:cs typeface="Courier New" pitchFamily="34" charset="-120"/>
              </a:rPr>
              <a:t>132716002350731.3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hr = f</a:t>
            </a:r>
            <a:r>
              <a:rPr lang="en-US" sz="1000" dirty="0">
                <a:solidFill>
                  <a:srgbClr val="9ECBFF"/>
                </a:solidFill>
                <a:latin typeface="Courier New" pitchFamily="34" charset="0"/>
                <a:ea typeface="Courier New" pitchFamily="34" charset="-122"/>
                <a:cs typeface="Courier New" pitchFamily="34" charset="-120"/>
              </a:rPr>
              <a:t>'{d2 * 2 ** 32 / 600:.2e}'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(round(days,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blocks)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(58.7, 8453)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At that difficulty a block takes about difficulty times 2 to the 32 hashes.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terahash a second waits this many days, or blocks.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Today's difficulty, typed in, estimates the network hash rate.</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waiting time and hash rate</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Difficulty, block 277,316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1,180,923,195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Days for one TH/s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58.7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Blocks of waiting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8,453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Hash rate by difficulty, 2026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9.50e+20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book says 8,496 blocks. The difficulty gives 8,453 blocks, about 58.7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book's 8,496 blocks are 8,453 when recomputed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Retargeting on a real epoch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period that ended at block 840,671</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z, bits = </a:t>
            </a:r>
            <a:r>
              <a:rPr lang="en-US" sz="1000" dirty="0">
                <a:solidFill>
                  <a:srgbClr val="FFD28A"/>
                </a:solidFill>
                <a:latin typeface="Courier New" pitchFamily="34" charset="0"/>
                <a:ea typeface="Courier New" pitchFamily="34" charset="-122"/>
                <a:cs typeface="Courier New" pitchFamily="34" charset="-120"/>
              </a:rPr>
              <a:t>1712783853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1713969900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'17034219'</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new = L.retarget(a, z, bits)</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bias = round((</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 - a, hex(new), bias)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(1186047, '0x170331db', 0.05)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times of 838,656 and 840,671 and the bits of the period are typed from the saved headers.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rule of pow.cpp scales the target by the real time over the intended 14 days.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result is the bits of block 840,672; counting 2,016 blocks instead of 2,015 gaps would add a small bias.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retarget of April 2024</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Seconds the period took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1,186,047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Seconds intended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1,209,600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Intended over real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1.0199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New bits by the rule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0x170331db</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Equal to block 840,672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Bias of 2,016 for 2,015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0.05 percent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period was short, so the target shrank by 2.0 percent: mining became a little harder.</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rule reproduces the real adjustment from two block times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51</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factor-of-four clamp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period far too fast, on time, and far too slow</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t0 = L.bits_to_target(</a:t>
            </a:r>
            <a:r>
              <a:rPr lang="en-US" sz="1000" dirty="0">
                <a:solidFill>
                  <a:srgbClr val="9ECBFF"/>
                </a:solidFill>
                <a:latin typeface="Courier New" pitchFamily="34" charset="0"/>
                <a:ea typeface="Courier New" pitchFamily="34" charset="-122"/>
                <a:cs typeface="Courier New" pitchFamily="34" charset="-120"/>
              </a:rPr>
              <a:t>'17034219'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rt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s: L.retarget(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s, </a:t>
            </a:r>
            <a:r>
              <a:rPr lang="en-US" sz="1000" dirty="0">
                <a:solidFill>
                  <a:srgbClr val="9ECBFF"/>
                </a:solidFill>
                <a:latin typeface="Courier New" pitchFamily="34" charset="0"/>
                <a:ea typeface="Courier New" pitchFamily="34" charset="-122"/>
                <a:cs typeface="Courier New" pitchFamily="34" charset="-120"/>
              </a:rPr>
              <a:t>'17034219'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s: L.bits_to_target(rt(s)) / t0</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[round(tg(s),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1209600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[0.25, 1.0, 4.0]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very fast or very slow period cannot change the target by more than a factor of four.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New target over old target, for a period too fast, on time and too slow.</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ratios stop at one quarter and four.</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new target divided by old target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ratio stops at 0.25 and 4. The difficulty moves by the inverse, so it too changes at most fourfold.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retarget moves the target by at most a factor of four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51</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Regtest never retargets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Chain constants, and the BIP 94 branch</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 =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 = [cv(c, r</a:t>
            </a:r>
            <a:r>
              <a:rPr lang="en-US" sz="1000" dirty="0">
                <a:solidFill>
                  <a:srgbClr val="9ECBFF"/>
                </a:solidFill>
                <a:latin typeface="Courier New" pitchFamily="34" charset="0"/>
                <a:ea typeface="Courier New" pitchFamily="34" charset="-122"/>
                <a:cs typeface="Courier New" pitchFamily="34" charset="-120"/>
              </a:rPr>
              <a:t>'fPowNoRetargeting = (\w+)'</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ch]</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b94 = [cv(c, r</a:t>
            </a:r>
            <a:r>
              <a:rPr lang="en-US" sz="1000" dirty="0">
                <a:solidFill>
                  <a:srgbClr val="9ECBFF"/>
                </a:solidFill>
                <a:latin typeface="Courier New" pitchFamily="34" charset="0"/>
                <a:ea typeface="Courier New" pitchFamily="34" charset="-122"/>
                <a:cs typeface="Courier New" pitchFamily="34" charset="-120"/>
              </a:rPr>
              <a:t>'enforce_BIP94 = (\w+)'</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ch]</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b94[</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chain has constants in chainparams.cpp: first, whether the target is never adjusted.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Second, whether the BIP 94 branch of the retarget code is switched on.</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 regtest the bits stay the same, even after 2,016 blocks.</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constants of three chains</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100584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 retarget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BIP 94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Testnet4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Regtest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by option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Regtest keeps the bits 207fffff at block 2017. Core's pow.cpp has the BIP 94 branch: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Testnet4 turns the BIP 94 branch on; mainnet does not need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Competition and attacks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Mining is a race of lottery syndicates, and a big syndicate may cheat.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nonce space</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Four billion tries are used up at once, so miners vary other fields too.</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combination lock with too few wheels.</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Mining pools</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Small miners pool power and share the pay, at the price of trust.</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lottery syndicate that splits small wins.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Hash rate attacks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share of the power buys odds of rewriting recent history.</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runner chasing a leader.</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63040"/>
          </a:xfrm>
          <a:prstGeom prst="roundRect">
            <a:avLst>
              <a:gd name="adj" fmla="val 5000"/>
            </a:avLst>
          </a:prstGeom>
          <a:solidFill>
            <a:srgbClr val="F2ECE1"/>
          </a:solidFill>
          <a:ln w="12700">
            <a:solidFill>
              <a:srgbClr val="DFD6C7"/>
            </a:solidFill>
            <a:prstDash val="solid"/>
          </a:ln>
        </p:spPr>
      </p:sp>
      <p:sp>
        <p:nvSpPr>
          <p:cNvPr id="7" name="Shape 5"/>
          <p:cNvSpPr/>
          <p:nvPr/>
        </p:nvSpPr>
        <p:spPr>
          <a:xfrm>
            <a:off x="475488" y="1408176"/>
            <a:ext cx="64008" cy="120700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The nonce space is tiny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32 bits give 4.3 billion tries, which a modern machine uses up in a fraction of a second.</a:t>
            </a:r>
            <a:endParaRPr lang="en-US" sz="1250" dirty="0"/>
          </a:p>
        </p:txBody>
      </p:sp>
      <p:sp>
        <p:nvSpPr>
          <p:cNvPr id="9" name="Text 7"/>
          <p:cNvSpPr txBox="1"/>
          <p:nvPr/>
        </p:nvSpPr>
        <p:spPr>
          <a:xfrm>
            <a:off x="640080"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padlock with only a few wheels.</a:t>
            </a:r>
            <a:endParaRPr lang="en-US" sz="1100" dirty="0"/>
          </a:p>
        </p:txBody>
      </p:sp>
      <p:sp>
        <p:nvSpPr>
          <p:cNvPr id="10" name="Shape 8"/>
          <p:cNvSpPr/>
          <p:nvPr/>
        </p:nvSpPr>
        <p:spPr>
          <a:xfrm>
            <a:off x="3249168" y="1280160"/>
            <a:ext cx="2645664" cy="1463040"/>
          </a:xfrm>
          <a:prstGeom prst="roundRect">
            <a:avLst>
              <a:gd name="adj" fmla="val 5000"/>
            </a:avLst>
          </a:prstGeom>
          <a:solidFill>
            <a:srgbClr val="F2ECE1"/>
          </a:solidFill>
          <a:ln w="12700">
            <a:solidFill>
              <a:srgbClr val="DFD6C7"/>
            </a:solidFill>
            <a:prstDash val="solid"/>
          </a:ln>
        </p:spPr>
      </p:sp>
      <p:sp>
        <p:nvSpPr>
          <p:cNvPr id="11" name="Shape 9"/>
          <p:cNvSpPr/>
          <p:nvPr/>
        </p:nvSpPr>
        <p:spPr>
          <a:xfrm>
            <a:off x="3267456" y="1408176"/>
            <a:ext cx="64008" cy="120700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Version rolling</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16 bits of the version field may be changed freely, which multiplies the search space.</a:t>
            </a:r>
            <a:endParaRPr lang="en-US" sz="1250" dirty="0"/>
          </a:p>
        </p:txBody>
      </p:sp>
      <p:sp>
        <p:nvSpPr>
          <p:cNvPr id="13" name="Text 11"/>
          <p:cNvSpPr txBox="1"/>
          <p:nvPr/>
        </p:nvSpPr>
        <p:spPr>
          <a:xfrm>
            <a:off x="3432048"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spare dial on the lock.</a:t>
            </a:r>
            <a:endParaRPr lang="en-US" sz="1100" dirty="0"/>
          </a:p>
        </p:txBody>
      </p:sp>
      <p:sp>
        <p:nvSpPr>
          <p:cNvPr id="14" name="Shape 12"/>
          <p:cNvSpPr/>
          <p:nvPr/>
        </p:nvSpPr>
        <p:spPr>
          <a:xfrm>
            <a:off x="6041136" y="1280160"/>
            <a:ext cx="2645664" cy="1463040"/>
          </a:xfrm>
          <a:prstGeom prst="roundRect">
            <a:avLst>
              <a:gd name="adj" fmla="val 5000"/>
            </a:avLst>
          </a:prstGeom>
          <a:solidFill>
            <a:srgbClr val="F2ECE1"/>
          </a:solidFill>
          <a:ln w="12700">
            <a:solidFill>
              <a:srgbClr val="DFD6C7"/>
            </a:solidFill>
            <a:prstDash val="solid"/>
          </a:ln>
        </p:spPr>
      </p:sp>
      <p:sp>
        <p:nvSpPr>
          <p:cNvPr id="15" name="Shape 13"/>
          <p:cNvSpPr/>
          <p:nvPr/>
        </p:nvSpPr>
        <p:spPr>
          <a:xfrm>
            <a:off x="6059424" y="1408176"/>
            <a:ext cx="64008" cy="120700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Covert ASICBoost</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way of building the block header so that mining hardware does less work per hash.</a:t>
            </a:r>
            <a:endParaRPr lang="en-US" sz="1250" dirty="0"/>
          </a:p>
        </p:txBody>
      </p:sp>
      <p:sp>
        <p:nvSpPr>
          <p:cNvPr id="17" name="Text 15"/>
          <p:cNvSpPr txBox="1"/>
          <p:nvPr/>
        </p:nvSpPr>
        <p:spPr>
          <a:xfrm>
            <a:off x="6224016" y="213146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baker who reuses one batch of dough for many loaves.</a:t>
            </a:r>
            <a:endParaRPr lang="en-US" sz="1100" dirty="0"/>
          </a:p>
        </p:txBody>
      </p:sp>
      <p:sp>
        <p:nvSpPr>
          <p:cNvPr id="18" name="Shape 16"/>
          <p:cNvSpPr/>
          <p:nvPr/>
        </p:nvSpPr>
        <p:spPr>
          <a:xfrm>
            <a:off x="457200" y="2871216"/>
            <a:ext cx="2645664" cy="1463040"/>
          </a:xfrm>
          <a:prstGeom prst="roundRect">
            <a:avLst>
              <a:gd name="adj" fmla="val 5000"/>
            </a:avLst>
          </a:prstGeom>
          <a:solidFill>
            <a:srgbClr val="F2ECE1"/>
          </a:solidFill>
          <a:ln w="12700">
            <a:solidFill>
              <a:srgbClr val="DFD6C7"/>
            </a:solidFill>
            <a:prstDash val="solid"/>
          </a:ln>
        </p:spPr>
      </p:sp>
      <p:sp>
        <p:nvSpPr>
          <p:cNvPr id="19" name="Shape 17"/>
          <p:cNvSpPr/>
          <p:nvPr/>
        </p:nvSpPr>
        <p:spPr>
          <a:xfrm>
            <a:off x="475488" y="2999232"/>
            <a:ext cx="64008" cy="1207008"/>
          </a:xfrm>
          <a:prstGeom prst="rect">
            <a:avLst/>
          </a:prstGeom>
          <a:solidFill>
            <a:srgbClr val="D97A14"/>
          </a:solidFill>
          <a:ln w="12700">
            <a:solidFill>
              <a:srgbClr val="D97A14"/>
            </a:solidFill>
            <a:prstDash val="solid"/>
          </a:ln>
        </p:spPr>
      </p:sp>
      <p:sp>
        <p:nvSpPr>
          <p:cNvPr id="20" name="Text 18"/>
          <p:cNvSpPr txBox="1"/>
          <p:nvPr/>
        </p:nvSpPr>
        <p:spPr>
          <a:xfrm>
            <a:off x="640080" y="2935224"/>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Pool shares and fees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pool pays members for easy partial solutions and keeps a fee.</a:t>
            </a:r>
            <a:endParaRPr lang="en-US" sz="1250" dirty="0"/>
          </a:p>
        </p:txBody>
      </p:sp>
      <p:sp>
        <p:nvSpPr>
          <p:cNvPr id="21" name="Text 19"/>
          <p:cNvSpPr txBox="1"/>
          <p:nvPr/>
        </p:nvSpPr>
        <p:spPr>
          <a:xfrm>
            <a:off x="640080" y="3722522"/>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lottery syndicate that splits small wins.</a:t>
            </a:r>
            <a:endParaRPr lang="en-US" sz="1100" dirty="0"/>
          </a:p>
        </p:txBody>
      </p:sp>
      <p:sp>
        <p:nvSpPr>
          <p:cNvPr id="22" name="Shape 20"/>
          <p:cNvSpPr/>
          <p:nvPr/>
        </p:nvSpPr>
        <p:spPr>
          <a:xfrm>
            <a:off x="3249168" y="2871216"/>
            <a:ext cx="2645664" cy="1463040"/>
          </a:xfrm>
          <a:prstGeom prst="roundRect">
            <a:avLst>
              <a:gd name="adj" fmla="val 5000"/>
            </a:avLst>
          </a:prstGeom>
          <a:solidFill>
            <a:srgbClr val="F2ECE1"/>
          </a:solidFill>
          <a:ln w="12700">
            <a:solidFill>
              <a:srgbClr val="DFD6C7"/>
            </a:solidFill>
            <a:prstDash val="solid"/>
          </a:ln>
        </p:spPr>
      </p:sp>
      <p:sp>
        <p:nvSpPr>
          <p:cNvPr id="23" name="Shape 21"/>
          <p:cNvSpPr/>
          <p:nvPr/>
        </p:nvSpPr>
        <p:spPr>
          <a:xfrm>
            <a:off x="3267456" y="2999232"/>
            <a:ext cx="64008" cy="1207008"/>
          </a:xfrm>
          <a:prstGeom prst="rect">
            <a:avLst/>
          </a:prstGeom>
          <a:solidFill>
            <a:srgbClr val="D97A14"/>
          </a:solidFill>
          <a:ln w="12700">
            <a:solidFill>
              <a:srgbClr val="D97A14"/>
            </a:solidFill>
            <a:prstDash val="solid"/>
          </a:ln>
        </p:spPr>
      </p:sp>
      <p:sp>
        <p:nvSpPr>
          <p:cNvPr id="24" name="Text 22"/>
          <p:cNvSpPr txBox="1"/>
          <p:nvPr/>
        </p:nvSpPr>
        <p:spPr>
          <a:xfrm>
            <a:off x="3432048" y="2935224"/>
            <a:ext cx="2371344" cy="929945"/>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Stratum protocols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language a pool and a mining machine speak, in use since 2012 and followed by a second version.</a:t>
            </a:r>
            <a:endParaRPr lang="en-US" sz="1250" dirty="0"/>
          </a:p>
        </p:txBody>
      </p:sp>
      <p:sp>
        <p:nvSpPr>
          <p:cNvPr id="25" name="Text 23"/>
          <p:cNvSpPr txBox="1"/>
          <p:nvPr/>
        </p:nvSpPr>
        <p:spPr>
          <a:xfrm>
            <a:off x="3432048" y="3892601"/>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radio code between a dispatcher and a taxi.</a:t>
            </a:r>
            <a:endParaRPr lang="en-US" sz="1100" dirty="0"/>
          </a:p>
        </p:txBody>
      </p:sp>
      <p:sp>
        <p:nvSpPr>
          <p:cNvPr id="26" name="Shape 24"/>
          <p:cNvSpPr/>
          <p:nvPr/>
        </p:nvSpPr>
        <p:spPr>
          <a:xfrm>
            <a:off x="6041136" y="2871216"/>
            <a:ext cx="2645664" cy="1463040"/>
          </a:xfrm>
          <a:prstGeom prst="roundRect">
            <a:avLst>
              <a:gd name="adj" fmla="val 5000"/>
            </a:avLst>
          </a:prstGeom>
          <a:solidFill>
            <a:srgbClr val="F2ECE1"/>
          </a:solidFill>
          <a:ln w="12700">
            <a:solidFill>
              <a:srgbClr val="DFD6C7"/>
            </a:solidFill>
            <a:prstDash val="solid"/>
          </a:ln>
        </p:spPr>
      </p:sp>
      <p:sp>
        <p:nvSpPr>
          <p:cNvPr id="27" name="Shape 25"/>
          <p:cNvSpPr/>
          <p:nvPr/>
        </p:nvSpPr>
        <p:spPr>
          <a:xfrm>
            <a:off x="6059424" y="2999232"/>
            <a:ext cx="64008" cy="1207008"/>
          </a:xfrm>
          <a:prstGeom prst="rect">
            <a:avLst/>
          </a:prstGeom>
          <a:solidFill>
            <a:srgbClr val="D97A14"/>
          </a:solidFill>
          <a:ln w="12700">
            <a:solidFill>
              <a:srgbClr val="D97A14"/>
            </a:solidFill>
            <a:prstDash val="solid"/>
          </a:ln>
        </p:spPr>
      </p:sp>
      <p:sp>
        <p:nvSpPr>
          <p:cNvPr id="28" name="Text 26"/>
          <p:cNvSpPr txBox="1"/>
          <p:nvPr/>
        </p:nvSpPr>
        <p:spPr>
          <a:xfrm>
            <a:off x="6224016" y="2935224"/>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Solo miner variance</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small miner may wait years for one block, so income is very uneven.</a:t>
            </a:r>
            <a:endParaRPr lang="en-US" sz="1250" dirty="0"/>
          </a:p>
        </p:txBody>
      </p:sp>
      <p:sp>
        <p:nvSpPr>
          <p:cNvPr id="29" name="Text 27"/>
          <p:cNvSpPr txBox="1"/>
          <p:nvPr/>
        </p:nvSpPr>
        <p:spPr>
          <a:xfrm>
            <a:off x="6224016" y="3722522"/>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fishing alone in a very large lake.</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51</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32-bit nonce runs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often the nonce space is emptied each second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029e21</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 = h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bin(0x1fffe000).count(</a:t>
            </a:r>
            <a:r>
              <a:rPr lang="en-US" sz="1000" dirty="0">
                <a:solidFill>
                  <a:srgbClr val="9ECBFF"/>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f</a:t>
            </a:r>
            <a:r>
              <a:rPr lang="en-US" sz="1000" dirty="0">
                <a:solidFill>
                  <a:srgbClr val="9ECBFF"/>
                </a:solidFill>
                <a:latin typeface="Courier New" pitchFamily="34" charset="0"/>
                <a:ea typeface="Courier New" pitchFamily="34" charset="-122"/>
                <a:cs typeface="Courier New" pitchFamily="34" charset="-120"/>
              </a:rPr>
              <a:t>'{per:.1e}'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([32, 16], '2.4e+11')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hash rate of 15 October 2026, typed from the saved figure, in hashes a second.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could empty the 32-bit nonce this many times in every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Version rolling adds 16 free bits; the extra nonce adds more in the coinbase.</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free bits of the search space</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At 1.029e21 hashes a second the 32-bit nonce is emptied 2.4e+11 times a second, so more room is needed.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modern network empties the nonce space hundreds of billions of times a second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withholding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pool member who hides a full solution harms the pool and not the member.</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saboteur on a team who pockets the winning ticket.</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Nakamoto's catch-up odds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chance that an attacker catches up falls quickly with the number of blocks behind.</a:t>
            </a:r>
            <a:endParaRPr lang="en-US" sz="1300" dirty="0"/>
          </a:p>
        </p:txBody>
      </p:sp>
      <p:sp>
        <p:nvSpPr>
          <p:cNvPr id="13" name="Text 11"/>
          <p:cNvSpPr txBox="1"/>
          <p:nvPr/>
        </p:nvSpPr>
        <p:spPr>
          <a:xfrm>
            <a:off x="3432048"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runner who starts further behind each time.</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selfish-mining threshold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Above a share between one quarter and one third, hiding blocks can pay.</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card player who holds back a winning card.</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a small miner joins a pool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 for one block, by share of the hash rate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shares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0.0001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[round(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144</a:t>
            </a:r>
            <a:r>
              <a:rPr lang="en-US" sz="1000" dirty="0">
                <a:solidFill>
                  <a:srgbClr val="E6EDF3"/>
                </a:solidFill>
                <a:latin typeface="Courier New" pitchFamily="34" charset="0"/>
                <a:ea typeface="Courier New" pitchFamily="34" charset="-122"/>
                <a:cs typeface="Courier New" pitchFamily="34" charset="-120"/>
              </a:rPr>
              <a:t> * 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shares]</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0.7, 6.9, 69.4]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network finds 144 blocks a day. A miner with a share s expects 144 times s of them.</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wait for one block is the inverse of that rate, here in days.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pool pays out small, regular shares instead of one rare block.</a:t>
            </a:r>
            <a:endParaRPr lang="en-US" sz="1050" dirty="0"/>
          </a:p>
        </p:txBody>
      </p:sp>
      <p:sp>
        <p:nvSpPr>
          <p:cNvPr id="21" name="Text 19"/>
          <p:cNvSpPr txBox="1"/>
          <p:nvPr/>
        </p:nvSpPr>
        <p:spPr>
          <a:xfrm>
            <a:off x="457200" y="351403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expected days for one block, by share of power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share of 0.01 percent expects 0.014 blocks a day, so one block in about 69.4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share of one in ten thousand waits more than two months for a block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top pool against the thresholds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largest pool of the last year found about 28 percent of the blocks, between one quarter and one third.</a:t>
            </a:r>
            <a:endParaRPr lang="en-US" sz="1300" dirty="0"/>
          </a:p>
        </p:txBody>
      </p:sp>
      <p:sp>
        <p:nvSpPr>
          <p:cNvPr id="9" name="Text 7"/>
          <p:cNvSpPr txBox="1"/>
          <p:nvPr/>
        </p:nvSpPr>
        <p:spPr>
          <a:xfrm>
            <a:off x="640080"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team ahead in the league, but not yet far enough ahead to rule it.</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limits of a majority attack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majority can rewrite recent history and refuse transactions, but it cannot forge signatures.</a:t>
            </a:r>
            <a:endParaRPr lang="en-US" sz="1300" dirty="0"/>
          </a:p>
        </p:txBody>
      </p:sp>
      <p:sp>
        <p:nvSpPr>
          <p:cNvPr id="13" name="Text 11"/>
          <p:cNvSpPr txBox="1"/>
          <p:nvPr/>
        </p:nvSpPr>
        <p:spPr>
          <a:xfrm>
            <a:off x="4828032"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librarian who may reorder the shelves but cannot forge a book.</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51</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Odds of a hash rate attack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Catching up from six blocks, and the selfish-mining share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qs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0.45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 [round(pw(q,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q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qs]</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thr = [round((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x)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x),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g]</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thr)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([0.0002, 0.1321, 0.7661], [0.3333, 0.25, 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Nakamoto's formula: the chance that an attacker with a share q ever catches up from six blocks.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Selfish mining pays above a share that depends on how many honest miners follow the selfish block.</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thresholds fall from one third towards zero as more honest miners follow.</a:t>
            </a:r>
            <a:endParaRPr lang="en-US" sz="1050" dirty="0"/>
          </a:p>
        </p:txBody>
      </p:sp>
      <p:sp>
        <p:nvSpPr>
          <p:cNvPr id="21" name="Text 19"/>
          <p:cNvSpPr txBox="1"/>
          <p:nvPr/>
        </p:nvSpPr>
        <p:spPr>
          <a:xfrm>
            <a:off x="457200" y="417240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catching up from six blocks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Selfish mining pays above a share of 0.3333 if no honest miner follows, and 0.25 if half follow.</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odds climb steeply with the attacker's share of the power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51</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Changing the rules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Changing the rules is repainting the road signs while cars still drive.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Hard forks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Looser rules split the chain into two histories.</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road that forks, with no way back.</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Soft forks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Stricter rules stay valid for old nodes and are switched on by a vote.</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stricter door policy.</a:t>
            </a:r>
            <a:endParaRPr lang="en-US" sz="11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51</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Changing the rules: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A soft fork only tightens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new rules are a subset of the old, so old nodes still accept the new blocks.</a:t>
            </a:r>
            <a:endParaRPr lang="en-US" sz="1150" dirty="0"/>
          </a:p>
        </p:txBody>
      </p:sp>
      <p:sp>
        <p:nvSpPr>
          <p:cNvPr id="9" name="Text 7"/>
          <p:cNvSpPr txBox="1"/>
          <p:nvPr/>
        </p:nvSpPr>
        <p:spPr>
          <a:xfrm>
            <a:off x="640080" y="2069287"/>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stricter door policy that the old doorman still accepts.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minority chain is slow</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branch with a small share of the power keeps the old difficulty and runs slowly.</a:t>
            </a:r>
            <a:endParaRPr lang="en-US" sz="1150" dirty="0"/>
          </a:p>
        </p:txBody>
      </p:sp>
      <p:sp>
        <p:nvSpPr>
          <p:cNvPr id="13" name="Text 11"/>
          <p:cNvSpPr txBox="1"/>
          <p:nvPr/>
        </p:nvSpPr>
        <p:spPr>
          <a:xfrm>
            <a:off x="3432048"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bus timetable kept after most buses left.</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chain split of March 2013</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large block was valid for new nodes and refused by old ones, and the chain split for hours.</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two dictionaries that disagree on one word.</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1030529"/>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Bitcoin Cash fork of 2017</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group changed the rules so that its blocks were refused by the old network, and a second coin was born.</a:t>
            </a:r>
            <a:endParaRPr lang="en-US" sz="1150" dirty="0"/>
          </a:p>
        </p:txBody>
      </p:sp>
      <p:sp>
        <p:nvSpPr>
          <p:cNvPr id="21" name="Text 19"/>
          <p:cNvSpPr txBox="1"/>
          <p:nvPr/>
        </p:nvSpPr>
        <p:spPr>
          <a:xfrm>
            <a:off x="640080" y="4062679"/>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village that splits in two but keeps one history.</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5313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34 activation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first soft fork switched on by counting block versions: 750, then 950, of the last 1,000 blocks.</a:t>
            </a:r>
            <a:endParaRPr lang="en-US" sz="1150" dirty="0"/>
          </a:p>
        </p:txBody>
      </p:sp>
      <p:sp>
        <p:nvSpPr>
          <p:cNvPr id="25" name="Text 23"/>
          <p:cNvSpPr txBox="1"/>
          <p:nvPr/>
        </p:nvSpPr>
        <p:spPr>
          <a:xfrm>
            <a:off x="3432048" y="388528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show of hands among the last thousand voters.</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BIP 9 state machine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deployment moves from defined through started and locked in to active as miners signal.</a:t>
            </a:r>
            <a:endParaRPr lang="en-US" sz="1150" dirty="0"/>
          </a:p>
        </p:txBody>
      </p:sp>
      <p:sp>
        <p:nvSpPr>
          <p:cNvPr id="29" name="Text 27"/>
          <p:cNvSpPr txBox="1"/>
          <p:nvPr/>
        </p:nvSpPr>
        <p:spPr>
          <a:xfrm>
            <a:off x="6224016"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traffic light that changes in a fixed order.</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hard fork splits, a soft fork does not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loose and a strict node on a private chain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'b9_lax_block'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'b9_lax_chain'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'lax_node'</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'strict_node'</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'same_tip'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('accepted', 'bad-cb-height',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with the old, looser rule and a node with the new, stricter rule saw the same block.</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loose node accepts a block with no height; the strict node refuses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loose chain goes on, the strict node follows only blocks that obey: the two tips differ.</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block seen by two nodes</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54480"/>
                <a:gridCol w="14173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 looser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New, stricter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bad-cb-height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Height of the loose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Height of the strict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tip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two nodes now follow different chains: the chain has split.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Looser rules split the chain into two; stricter rules do not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one splits the chain and the other does not</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blocks may break the old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refuse them, and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fork in the road.</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blocks still obey the old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accept them, and the chain stays whole.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door policy.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needs most of the miners; a hard fork needs everyone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Changing the rules: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199693"/>
          </a:xfrm>
          <a:prstGeom prst="roundRect">
            <a:avLst>
              <a:gd name="adj" fmla="val 6098"/>
            </a:avLst>
          </a:prstGeom>
          <a:solidFill>
            <a:srgbClr val="F2ECE1"/>
          </a:solidFill>
          <a:ln w="12700">
            <a:solidFill>
              <a:srgbClr val="DFD6C7"/>
            </a:solidFill>
            <a:prstDash val="solid"/>
          </a:ln>
        </p:spPr>
      </p:sp>
      <p:sp>
        <p:nvSpPr>
          <p:cNvPr id="7" name="Shape 5"/>
          <p:cNvSpPr/>
          <p:nvPr/>
        </p:nvSpPr>
        <p:spPr>
          <a:xfrm>
            <a:off x="475488" y="1408176"/>
            <a:ext cx="64008" cy="943661"/>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8 lock-in by height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It counts in block heights, not time, and can force the lock-in when the timeout comes.</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deadline set by page number, not by the clock.</a:t>
            </a:r>
            <a:endParaRPr lang="en-US" sz="1000" dirty="0"/>
          </a:p>
        </p:txBody>
      </p:sp>
      <p:sp>
        <p:nvSpPr>
          <p:cNvPr id="10" name="Shape 8"/>
          <p:cNvSpPr/>
          <p:nvPr/>
        </p:nvSpPr>
        <p:spPr>
          <a:xfrm>
            <a:off x="3249168" y="1280160"/>
            <a:ext cx="2645664" cy="1199693"/>
          </a:xfrm>
          <a:prstGeom prst="roundRect">
            <a:avLst>
              <a:gd name="adj" fmla="val 6098"/>
            </a:avLst>
          </a:prstGeom>
          <a:solidFill>
            <a:srgbClr val="F2ECE1"/>
          </a:solidFill>
          <a:ln w="12700">
            <a:solidFill>
              <a:srgbClr val="DFD6C7"/>
            </a:solidFill>
            <a:prstDash val="solid"/>
          </a:ln>
        </p:spPr>
      </p:sp>
      <p:sp>
        <p:nvSpPr>
          <p:cNvPr id="11" name="Shape 9"/>
          <p:cNvSpPr/>
          <p:nvPr/>
        </p:nvSpPr>
        <p:spPr>
          <a:xfrm>
            <a:off x="3267456" y="1408176"/>
            <a:ext cx="64008" cy="943661"/>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Segwit activation in 2017</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Miners held it back under BIP 9 until BIP 91 and BIP 148; it became active on 24 August 2017.</a:t>
            </a:r>
            <a:endParaRPr lang="en-US" sz="1150" dirty="0"/>
          </a:p>
        </p:txBody>
      </p:sp>
      <p:sp>
        <p:nvSpPr>
          <p:cNvPr id="13" name="Text 11"/>
          <p:cNvSpPr txBox="1"/>
          <p:nvPr/>
        </p:nvSpPr>
        <p:spPr>
          <a:xfrm>
            <a:off x="3432048"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vote that stalled until everyone was given a deadline.</a:t>
            </a:r>
            <a:endParaRPr lang="en-US" sz="1000" dirty="0"/>
          </a:p>
        </p:txBody>
      </p:sp>
      <p:sp>
        <p:nvSpPr>
          <p:cNvPr id="14" name="Shape 12"/>
          <p:cNvSpPr/>
          <p:nvPr/>
        </p:nvSpPr>
        <p:spPr>
          <a:xfrm>
            <a:off x="6041136" y="1280160"/>
            <a:ext cx="2645664" cy="1199693"/>
          </a:xfrm>
          <a:prstGeom prst="roundRect">
            <a:avLst>
              <a:gd name="adj" fmla="val 6098"/>
            </a:avLst>
          </a:prstGeom>
          <a:solidFill>
            <a:srgbClr val="F2ECE1"/>
          </a:solidFill>
          <a:ln w="12700">
            <a:solidFill>
              <a:srgbClr val="DFD6C7"/>
            </a:solidFill>
            <a:prstDash val="solid"/>
          </a:ln>
        </p:spPr>
      </p:sp>
      <p:sp>
        <p:nvSpPr>
          <p:cNvPr id="15" name="Shape 13"/>
          <p:cNvSpPr/>
          <p:nvPr/>
        </p:nvSpPr>
        <p:spPr>
          <a:xfrm>
            <a:off x="6059424" y="1408176"/>
            <a:ext cx="64008" cy="943661"/>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Speedy Trial and taproot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three-month vote that needed 90 percent, then a delay before the new rules began.</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short referendum with a high bar.</a:t>
            </a:r>
            <a:endParaRPr lang="en-US" sz="1000" dirty="0"/>
          </a:p>
        </p:txBody>
      </p:sp>
      <p:sp>
        <p:nvSpPr>
          <p:cNvPr id="18" name="Shape 16"/>
          <p:cNvSpPr/>
          <p:nvPr/>
        </p:nvSpPr>
        <p:spPr>
          <a:xfrm>
            <a:off x="457200" y="2607869"/>
            <a:ext cx="2645664" cy="1199693"/>
          </a:xfrm>
          <a:prstGeom prst="roundRect">
            <a:avLst>
              <a:gd name="adj" fmla="val 6098"/>
            </a:avLst>
          </a:prstGeom>
          <a:solidFill>
            <a:srgbClr val="F2ECE1"/>
          </a:solidFill>
          <a:ln w="12700">
            <a:solidFill>
              <a:srgbClr val="DFD6C7"/>
            </a:solidFill>
            <a:prstDash val="solid"/>
          </a:ln>
        </p:spPr>
      </p:sp>
      <p:sp>
        <p:nvSpPr>
          <p:cNvPr id="19" name="Shape 17"/>
          <p:cNvSpPr/>
          <p:nvPr/>
        </p:nvSpPr>
        <p:spPr>
          <a:xfrm>
            <a:off x="475488" y="2735885"/>
            <a:ext cx="64008" cy="943661"/>
          </a:xfrm>
          <a:prstGeom prst="rect">
            <a:avLst/>
          </a:prstGeom>
          <a:solidFill>
            <a:srgbClr val="D97A14"/>
          </a:solidFill>
          <a:ln w="12700">
            <a:solidFill>
              <a:srgbClr val="D97A14"/>
            </a:solidFill>
            <a:prstDash val="solid"/>
          </a:ln>
        </p:spPr>
      </p:sp>
      <p:sp>
        <p:nvSpPr>
          <p:cNvPr id="20" name="Text 18"/>
          <p:cNvSpPr txBox="1"/>
          <p:nvPr/>
        </p:nvSpPr>
        <p:spPr>
          <a:xfrm>
            <a:off x="640080" y="2671877"/>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Buried deployments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Old soft forks are now plain activation heights in the source code.</a:t>
            </a:r>
            <a:endParaRPr lang="en-US" sz="1150" dirty="0"/>
          </a:p>
        </p:txBody>
      </p:sp>
      <p:sp>
        <p:nvSpPr>
          <p:cNvPr id="21" name="Text 19"/>
          <p:cNvSpPr txBox="1"/>
          <p:nvPr/>
        </p:nvSpPr>
        <p:spPr>
          <a:xfrm>
            <a:off x="640080" y="339699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law so old that it is printed in the constitution.</a:t>
            </a:r>
            <a:endParaRPr lang="en-US" sz="1000" dirty="0"/>
          </a:p>
        </p:txBody>
      </p:sp>
      <p:sp>
        <p:nvSpPr>
          <p:cNvPr id="22" name="Shape 20"/>
          <p:cNvSpPr/>
          <p:nvPr/>
        </p:nvSpPr>
        <p:spPr>
          <a:xfrm>
            <a:off x="3249168" y="2607869"/>
            <a:ext cx="2645664" cy="1199693"/>
          </a:xfrm>
          <a:prstGeom prst="roundRect">
            <a:avLst>
              <a:gd name="adj" fmla="val 6098"/>
            </a:avLst>
          </a:prstGeom>
          <a:solidFill>
            <a:srgbClr val="F2ECE1"/>
          </a:solidFill>
          <a:ln w="12700">
            <a:solidFill>
              <a:srgbClr val="DFD6C7"/>
            </a:solidFill>
            <a:prstDash val="solid"/>
          </a:ln>
        </p:spPr>
      </p:sp>
      <p:sp>
        <p:nvSpPr>
          <p:cNvPr id="23" name="Shape 21"/>
          <p:cNvSpPr/>
          <p:nvPr/>
        </p:nvSpPr>
        <p:spPr>
          <a:xfrm>
            <a:off x="3267456" y="2735885"/>
            <a:ext cx="64008" cy="943661"/>
          </a:xfrm>
          <a:prstGeom prst="rect">
            <a:avLst/>
          </a:prstGeom>
          <a:solidFill>
            <a:srgbClr val="D97A14"/>
          </a:solidFill>
          <a:ln w="12700">
            <a:solidFill>
              <a:srgbClr val="D97A14"/>
            </a:solidFill>
            <a:prstDash val="solid"/>
          </a:ln>
        </p:spPr>
      </p:sp>
      <p:sp>
        <p:nvSpPr>
          <p:cNvPr id="24" name="Text 22"/>
          <p:cNvSpPr txBox="1"/>
          <p:nvPr/>
        </p:nvSpPr>
        <p:spPr>
          <a:xfrm>
            <a:off x="3432048" y="2671877"/>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54 consensus cleanup</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proposal that would fix the time warp attack and limit signature operations and transaction size.</a:t>
            </a:r>
            <a:endParaRPr lang="en-US" sz="1150" dirty="0"/>
          </a:p>
        </p:txBody>
      </p:sp>
      <p:sp>
        <p:nvSpPr>
          <p:cNvPr id="25" name="Text 23"/>
          <p:cNvSpPr txBox="1"/>
          <p:nvPr/>
        </p:nvSpPr>
        <p:spPr>
          <a:xfrm>
            <a:off x="3432048" y="339699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spring clean of an old rulebook.</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51</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minority chain is slow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long 2,016 blocks take on a weaker branch</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 = [</a:t>
            </a:r>
            <a:r>
              <a:rPr lang="en-US" sz="1000" dirty="0">
                <a:solidFill>
                  <a:srgbClr val="FFD28A"/>
                </a:solidFill>
                <a:latin typeface="Courier New" pitchFamily="34" charset="0"/>
                <a:ea typeface="Courier New" pitchFamily="34" charset="-122"/>
                <a:cs typeface="Courier New" pitchFamily="34" charset="-120"/>
              </a:rPr>
              <a:t>0.8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[round(L.blocks_per_period(s)[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[18, 28, 70, 140]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a split a branch keeps the old difficulty but only a share of the hash rate.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Blocks come more slowly; this is the time of 2,016 blocks, in days.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branch with a tenth of the power needs 140 days for what took 14.</a:t>
            </a:r>
            <a:endParaRPr lang="en-US" sz="1050" dirty="0"/>
          </a:p>
        </p:txBody>
      </p:sp>
      <p:sp>
        <p:nvSpPr>
          <p:cNvPr id="21" name="Text 19"/>
          <p:cNvSpPr txBox="1"/>
          <p:nvPr/>
        </p:nvSpPr>
        <p:spPr>
          <a:xfrm>
            <a:off x="457200" y="351403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days for 2,016 blocks, by share of power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With a tenth of the power a block takes 100 minutes and 2,016 blocks take 140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With a tenth of the power a fortnight of blocks takes 140 days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51</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Bitcoin had two histories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accident in software became a rule of the network</a:t>
            </a:r>
            <a:endParaRPr lang="en-US" sz="1300" dirty="0"/>
          </a:p>
        </p:txBody>
      </p:sp>
      <p:pic>
        <p:nvPicPr>
          <p:cNvPr id="6" name="Image 0" descr="../../03-materials/ch12/assets/photo_fork_in_the_road.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Fork in the road - Ian Sane,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11 March 2013 block 225,430 was valid for Bitcoin 0.8 and refused by older nodes, so the chain split for 24 blocks, about six hours.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Older versions had too few Berkeley DB locks for a large block, and this accident had become a rule of consensus.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Marek Palatinus and Michael Marsee moved their pools back to 0.7, so the old chain carried the most work; Gavin Andresen wrote BIP 50.</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Most large businesses paused deposits: they knew that the chain with the most work wins.</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fork in a road stands for the split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Gavin Andresen, who wrot…</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 network, f…</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2013-03-11</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50: March 2013 Chain Fork Post-Mortem</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51</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BIP 9 states and the vote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test deployment and the two thresholds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R[</a:t>
            </a:r>
            <a:r>
              <a:rPr lang="en-US" sz="1000" dirty="0">
                <a:solidFill>
                  <a:srgbClr val="9ECBFF"/>
                </a:solidFill>
                <a:latin typeface="Courier New" pitchFamily="34" charset="0"/>
                <a:ea typeface="Courier New" pitchFamily="34" charset="-122"/>
                <a:cs typeface="Courier New" pitchFamily="34" charset="-120"/>
              </a:rPr>
              <a:t>'b8_versionbits'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'V'</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'rows'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 = [x[</a:t>
            </a:r>
            <a:r>
              <a:rPr lang="en-US" sz="1000" dirty="0">
                <a:solidFill>
                  <a:srgbClr val="9ECBFF"/>
                </a:solidFill>
                <a:latin typeface="Courier New" pitchFamily="34" charset="0"/>
                <a:ea typeface="Courier New" pitchFamily="34" charset="-122"/>
                <a:cs typeface="Courier New" pitchFamily="34" charset="-120"/>
              </a:rPr>
              <a:t>'status'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v]</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th = [math.ceil(</a:t>
            </a:r>
            <a:r>
              <a:rPr lang="en-US" sz="1000" dirty="0">
                <a:solidFill>
                  <a:srgbClr val="FFD28A"/>
                </a:solidFill>
                <a:latin typeface="Courier New" pitchFamily="34" charset="0"/>
                <a:ea typeface="Courier New" pitchFamily="34" charset="-122"/>
                <a:cs typeface="Courier New" pitchFamily="34" charset="-120"/>
              </a:rPr>
              <a:t>0.95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 math.ceil(</a:t>
            </a:r>
            <a:r>
              <a:rPr lang="en-US" sz="1000" dirty="0">
                <a:solidFill>
                  <a:srgbClr val="FFD28A"/>
                </a:solidFill>
                <a:latin typeface="Courier New" pitchFamily="34" charset="0"/>
                <a:ea typeface="Courier New" pitchFamily="34" charset="-122"/>
                <a:cs typeface="Courier New" pitchFamily="34" charset="-120"/>
              </a:rPr>
              <a:t>0.9</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('active', [1916, 1815])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reported the state of a test deployment at six heights.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Bits 9 asked for 95 percent of 2,016 blocks; the Speedy Trial of taproot asked for 90.</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version of block 709,632 signals bit 2.</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test deployment on a private chain</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14400"/>
                <a:gridCol w="2057400"/>
              </a:tblGrid>
              <a:tr h="27066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143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defined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144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started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287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started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288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locked_in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431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locked_in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active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Thresholds: 1,916 of 2,016 for 95 percent and 1,815 for 90 percent. Version 0x20200004 signals bit 2: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state moves forward only on signals; taproot needed 90 percent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ninety percent vote on a clock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Fail fast or succeed: a short vote keeps a soft fork calm</a:t>
            </a:r>
            <a:endParaRPr lang="en-US" sz="1300" dirty="0"/>
          </a:p>
        </p:txBody>
      </p:sp>
      <p:pic>
        <p:nvPicPr>
          <p:cNvPr id="6" name="Image 0" descr="../../03-materials/ch12/assets/photo_taproot_profile.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Taproot profile - Forest and Kim Starr, CC BY 3.0,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Taproot was activated by Speedy Trial: it opened on 24 April 2021, timed out on 11 August 2021 and needed 1,815 of 2,016 blocks.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short vote at 90 percent makes a soft fork succeed or fail quickly, and a minimum activation height gave nodes time to upgrade.</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F2Pool mined block 709,632 on 14 November 2021 with version 0x20200004, in which bit 2 is the taproot signal.</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31.1 still holds these parameters in chainparams.cpp, which is how the dates were recomputed.</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taproot stands for the name</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Pieter Wuille, Jonas Nic…</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main chain of Bitc…</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Core 0.21.1 release notes: Speedy Trial</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bitcoincore.org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51</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Buried deployments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Soft fork heights in the source code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pats = </a:t>
            </a:r>
            <a:r>
              <a:rPr lang="en-US" sz="1000" dirty="0">
                <a:solidFill>
                  <a:srgbClr val="9ECBFF"/>
                </a:solidFill>
                <a:latin typeface="Courier New" pitchFamily="34" charset="0"/>
                <a:ea typeface="Courier New" pitchFamily="34" charset="-122"/>
                <a:cs typeface="Courier New" pitchFamily="34" charset="-120"/>
              </a:rPr>
              <a:t>'BIP34 BIP66 CSV Segwit'</a:t>
            </a:r>
            <a:r>
              <a:rPr lang="en-US" sz="1000" dirty="0">
                <a:solidFill>
                  <a:srgbClr val="E6EDF3"/>
                </a:solidFill>
                <a:latin typeface="Courier New" pitchFamily="34" charset="0"/>
                <a:ea typeface="Courier New" pitchFamily="34" charset="-122"/>
                <a:cs typeface="Courier New" pitchFamily="34" charset="-120"/>
              </a:rPr>
              <a:t>.split()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pt = r</a:t>
            </a:r>
            <a:r>
              <a:rPr lang="en-US" sz="1000" dirty="0">
                <a:solidFill>
                  <a:srgbClr val="9ECBFF"/>
                </a:solidFill>
                <a:latin typeface="Courier New" pitchFamily="34" charset="0"/>
                <a:ea typeface="Courier New" pitchFamily="34" charset="-122"/>
                <a:cs typeface="Courier New" pitchFamily="34" charset="-120"/>
              </a:rPr>
              <a:t>'%sHeight = (\d+)'</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[int(cv(</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pt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pats]</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[227931, 363725, 419328, 481824]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Old soft forks are now written as plain heights in the source code.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Read the height of each from the saved chainparams.cpp for the main chain.</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buried fork is no longer voted on; it is simply part of the rules.</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main chain activation heights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heights run from 227,931 to 481,824; none of these forks is voted on any more.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old soft fork is no longer voted on; it is a plain height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51</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reward is subsidy plus fees; the subsidy halves every 210,000 blocks, and the supply stops just below 21 million coins.</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 node checks every transaction and block by the same rules, and follows the chain with the most work.</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candidate block has a template, a coinbase with the height, and a header whose nonce, extra nonce and version are searched.</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Proof of work is a hash below a target; retargeting every 2,016 blocks keeps the pace at ten minutes, at most fourfold per step.</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Pools smooth a miner's income, attacks need a large share, and soft forks tighten the rules by a vote.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51</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Soft fork activation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activation methods tried, with links to the debates</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Selfish mining</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the attack and what is known about it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fee rate and mempool</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9: Version bits with timeout and delay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soft forks are signalled in block versions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54: Consensus Cleanup</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Proposed fixes of long-known consensus weaknesses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Eyal and Sirer: Majority is not Enough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selfish-mining paper, free to download  arxiv.org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3Blue1Brown: But how does bitcoin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Ledger, signatures and proof of work, drawn out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Khan Academy: Bitcoin, proof of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Proof of work in a few minutes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3Blue1Brown, then read the Optech topic on soft forks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51</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the reward is fixed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nodes check and choose a chain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proof of work sets the pace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pools, attacks and forks matter</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12</dc:title>
  <dc:subject>PptxGenJS Presentation</dc:subject>
  <dc:creator>Yusuf Altunel</dc:creator>
  <cp:lastModifiedBy>Yusuf Altunel</cp:lastModifiedBy>
  <cp:revision>1</cp:revision>
  <dcterms:created xsi:type="dcterms:W3CDTF">2026-10-25T11:57:52Z</dcterms:created>
  <dcterms:modified xsi:type="dcterms:W3CDTF">2026-10-25T11:57:52Z</dcterms:modified>
  <cp:version>3.0.1</cp:version>
</cp:coreProperties>
</file>