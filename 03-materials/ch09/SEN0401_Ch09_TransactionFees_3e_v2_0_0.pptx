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Subsidy</c:v>
                  </c:pt>
                  <c:pt idx="1">
                    <c:v>Fee</c:v>
                  </c:pt>
                  <c:pt idx="2">
                    <c:v>Reward</c:v>
                  </c:pt>
                </c:lvl>
              </c:multiLvlStrCache>
            </c:multiLvlStrRef>
          </c:cat>
          <c:val>
            <c:numRef>
              <c:f>Sheet1!$B$2:$B$4</c:f>
              <c:numCache>
                <c:formatCode>General</c:formatCode>
                <c:ptCount val="3"/>
                <c:pt idx="0">
                  <c:v>2500000000</c:v>
                </c:pt>
                <c:pt idx="1">
                  <c:v>1900000000</c:v>
                </c:pt>
                <c:pt idx="2">
                  <c:v>4400000000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units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No witness</c:v>
                  </c:pt>
                  <c:pt idx="1">
                    <c:v>All bytes</c:v>
                  </c:pt>
                  <c:pt idx="2">
                    <c:v>Weight</c:v>
                  </c:pt>
                  <c:pt idx="3">
                    <c:v>Virtual size</c:v>
                  </c:pt>
                </c:lvl>
              </c:multiLvlStrCache>
            </c:multiLvlStrRef>
          </c:cat>
          <c:val>
            <c:numRef>
              <c:f>Sheet1!$B$2:$B$5</c:f>
              <c:numCache>
                <c:formatCode>General</c:formatCode>
                <c:ptCount val="4"/>
                <c:pt idx="0">
                  <c:v>113</c:v>
                </c:pt>
                <c:pt idx="1">
                  <c:v>222</c:v>
                </c:pt>
                <c:pt idx="2">
                  <c:v>561</c:v>
                </c:pt>
                <c:pt idx="3">
                  <c:v>141</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P2WPKH</c:v>
                  </c:pt>
                  <c:pt idx="1">
                    <c:v>P2TR</c:v>
                  </c:pt>
                  <c:pt idx="2">
                    <c:v>P2A anchor</c:v>
                  </c:pt>
                </c:lvl>
              </c:multiLvlStrCache>
            </c:multiLvlStrRef>
          </c:cat>
          <c:val>
            <c:numRef>
              <c:f>Sheet1!$B$2:$B$4</c:f>
              <c:numCache>
                <c:formatCode>General</c:formatCode>
                <c:ptCount val="3"/>
                <c:pt idx="0">
                  <c:v>294</c:v>
                </c:pt>
                <c:pt idx="1">
                  <c:v>330</c:v>
                </c:pt>
                <c:pt idx="2">
                  <c:v>240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sat/vB</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2 blocks</c:v>
                  </c:pt>
                  <c:pt idx="1">
                    <c:v>6 blocks</c:v>
                  </c:pt>
                  <c:pt idx="2">
                    <c:v>25 blocks</c:v>
                  </c:pt>
                </c:lvl>
              </c:multiLvlStrCache>
            </c:multiLvlStrRef>
          </c:cat>
          <c:val>
            <c:numRef>
              <c:f>Sheet1!$B$2:$B$4</c:f>
              <c:numCache>
                <c:formatCode>General</c:formatCode>
                <c:ptCount val="3"/>
                <c:pt idx="0">
                  <c:v>1.225</c:v>
                </c:pt>
                <c:pt idx="1">
                  <c:v>1.173</c:v>
                </c:pt>
                <c:pt idx="2">
                  <c:v>1.173</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sat/vB</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Block 840,000</c:v>
                  </c:pt>
                  <c:pt idx="1">
                    <c:v>Block 971,489</c:v>
                  </c:pt>
                </c:lvl>
              </c:multiLvlStrCache>
            </c:multiLvlStrRef>
          </c:cat>
          <c:val>
            <c:numRef>
              <c:f>Sheet1!$B$2:$B$3</c:f>
              <c:numCache>
                <c:formatCode>General</c:formatCode>
                <c:ptCount val="2"/>
                <c:pt idx="0">
                  <c:v>1436.45</c:v>
                </c:pt>
                <c:pt idx="1">
                  <c:v>3.02</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Payee asked</c:v>
                  </c:pt>
                  <c:pt idx="1">
                    <c:v>Payee received</c:v>
                  </c:pt>
                </c:lvl>
              </c:multiLvlStrCache>
            </c:multiLvlStrRef>
          </c:cat>
          <c:val>
            <c:numRef>
              <c:f>Sheet1!$B$2:$B$3</c:f>
              <c:numCache>
                <c:formatCode>General</c:formatCode>
                <c:ptCount val="2"/>
                <c:pt idx="0">
                  <c:v>40000000</c:v>
                </c:pt>
                <c:pt idx="1">
                  <c:v>80000000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sat/vB</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Parent alone</c:v>
                  </c:pt>
                  <c:pt idx="1">
                    <c:v>Child alone</c:v>
                  </c:pt>
                  <c:pt idx="2">
                    <c:v>Pair</c:v>
                  </c:pt>
                </c:lvl>
              </c:multiLvlStrCache>
            </c:multiLvlStrRef>
          </c:cat>
          <c:val>
            <c:numRef>
              <c:f>Sheet1!$B$2:$B$4</c:f>
              <c:numCache>
                <c:formatCode>General</c:formatCode>
                <c:ptCount val="3"/>
                <c:pt idx="0">
                  <c:v>1</c:v>
                </c:pt>
                <c:pt idx="1">
                  <c:v>100</c:v>
                </c:pt>
                <c:pt idx="2">
                  <c:v>50.77</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Child of 90,012 B</c:v>
                  </c:pt>
                  <c:pt idx="1">
                    <c:v>Child of 885 B</c:v>
                  </c:pt>
                </c:lvl>
              </c:multiLvlStrCache>
            </c:multiLvlStrRef>
          </c:cat>
          <c:val>
            <c:numRef>
              <c:f>Sheet1!$B$2:$B$3</c:f>
              <c:numCache>
                <c:formatCode>General</c:formatCode>
                <c:ptCount val="2"/>
                <c:pt idx="0">
                  <c:v>450780</c:v>
                </c:pt>
                <c:pt idx="1">
                  <c:v>5145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Block 840,000</c:v>
                  </c:pt>
                  <c:pt idx="1">
                    <c:v>Block 971,489</c:v>
                  </c:pt>
                </c:lvl>
              </c:multiLvlStrCache>
            </c:multiLvlStrRef>
          </c:cat>
          <c:val>
            <c:numRef>
              <c:f>Sheet1!$B$2:$B$3</c:f>
              <c:numCache>
                <c:formatCode>General</c:formatCode>
                <c:ptCount val="2"/>
                <c:pt idx="0">
                  <c:v>92.33</c:v>
                </c:pt>
                <c:pt idx="1">
                  <c:v>0.46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percent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10%</c:v>
                  </c:pt>
                  <c:pt idx="1">
                    <c:v>30%</c:v>
                  </c:pt>
                  <c:pt idx="2">
                    <c:v>45%</c:v>
                  </c:pt>
                  <c:pt idx="3">
                    <c:v>50%</c:v>
                  </c:pt>
                </c:lvl>
              </c:multiLvlStrCache>
            </c:multiLvlStrRef>
          </c:cat>
          <c:val>
            <c:numRef>
              <c:f>Sheet1!$B$2:$B$5</c:f>
              <c:numCache>
                <c:formatCode>General</c:formatCode>
                <c:ptCount val="4"/>
                <c:pt idx="0">
                  <c:v>1.23</c:v>
                </c:pt>
                <c:pt idx="1">
                  <c:v>18.37</c:v>
                </c:pt>
                <c:pt idx="2">
                  <c:v>66.94</c:v>
                </c:pt>
                <c:pt idx="3">
                  <c:v>100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transaction fees: who pays them, how they are priced, how a payment is replaced or bumped, and what changed since the book went to print. Every number on a result picture was computed with the chapter's own Python library. Bitcoin Core 31.1 was run once on a test network, and its answers are only read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seven parts that follow the order of the chapter. Four true stories and twenty-seven code examples are spread across them. The examples are listed in the same order in the chapter code tab of the course page, so every listing here can be run and edited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seven parts and 31 key concepts. Each part gets a divider, concept cards with everyday comparisons, code that runs, and some parts a true story. The deck follows the order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has no fee field. The fee is what the inputs hold and the outputs do not claim, so the spender pays it and only the spender can change it. This part shows how to see that, and what goes wrong when change is forgotten.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Who Pays the Transaction Fee?, transaction fees, Adding Fees to Transactions and fees. Each pairs a short meaning with something from everyday life, so that the idea can be retold in your own words. The full explanation is on the course page,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transaction lists its inputs and its outputs, and nothing else. The miner's fee is whatever the inputs hold and the outputs do not claim. We parse the raw bytes ourselves and find 1,900,000,000 satoshis left over, with no field to name them.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inputs, outputs, change output and payments. Each pairs a short meaning with something from everyday life, so that the idea can be retold in your own words. The full explanation is on the course page,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wallet forgets the change output, the difference becomes a gigantic fee. The node refuses the payment with max-fee-exceeded. Mined with the limit lifted, the miner's reward equals the subsidy plus that fee, which shows where the money went.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transactions, overpaying transaction fees, excessive fees and absurd fees. Each pairs a short meaning with something from everyday life, so that the idea can be retold in your own words. The full explanation is on the course page,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cut the first output of a signed payment by 5,000 satoshis. The node rejects the copy because the signature no longer fits. So the fee belongs to the spender; anyone else must pay in a second transaction, which is the idea of child pays for parent.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Miners are paid by the space a payment takes, not by its value. This part measures size, weight and virtual size, turns a fee into a rate, and meets the floors that nodes, wallets and dust rules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Fees and Fee Rates, fee rates and blocks. Each pairs a short meaning with something from everyday life, so that the idea can be retold in your own words. The full explanation is on the course page,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payment has 113 bytes without witness data and 222 bytes in all. Its weight is 561 units, because witness bytes count one each and the other bytes four. Its virtual size is 141, the weight over four rounded up. Fees and block space use this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rate is the fee over the virtual size: 282 over 141 gives 2 satoshis per byte. Some tools speak in coins per thousand bytes, so 0.0000657 means 6.57 satoshis per byte. Two spellings of ten satoshis per byte give the same fee, and a wrong factor gives an absurd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consensus limit is four million units of weight per block. Block 840,000 weighs 3,993,281, which is 99.83 percent of it. When blocks are full, payments must bid for room, and the fee rate is the bid.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relays only payments above its floor, here a tenth of a satoshi per byte. For 141 bytes that is 14.1 satoshis, so 8 and 14 are refused and 15 is accepted. The floor protects nodes from spam, and it is policy, not consensus.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output is dust when spending it would cost more than it holds. The limit is three satoshis for each byte of the output plus its spending input, 294 for the common segwit key. The wallet in this run also refuses rates below one satoshi per byte.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must guess a rate that will confirm in time. We see how the estimator learns from blocks, where its answers stop, and how two real blocks show a market that moves by a factor of five hundred.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Estimating Appropriate Fee Rates and Bitcoin Core. Each pairs a short meaning with something from everyday life, so that the idea can be retold in your own words. The full explanation is on the course page,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without history answers with an error: insufficient data. After 120 rounds of test traffic it can estimate, here about 1.2 satoshis per byte at every target. The estimate is a summary of what past blocks confirmed.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Asked for a target of 144 blocks, the node answers with the 60 blocks it can see. The default mode equals the economical mode at every target tried. The conservative mode is more cautious and answers differently at 144, so choose the mode that fits your risk.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census holds the 599 highest-paying payments of the halving block 840,000 and of block 971,489. The median rate in the first was 1,436.45 satoshis per byte and in the second 3.02. A fee estimate is only as good as the market it was learned in.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payment that waits too long can be replaced by a copy that pays more. We run the signal, the rules a replacement must meet, the default that changed, and the hazards of replacing.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Replace By Fee (RBF) Fee Bumping, BIP 125 opt-in replaceability signal, conflicting transactions and fee bumping. Each pairs a short meaning with something from everyday life, so that the idea can be retold in your own words. The full explanation is on the course page,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payment signals that it may be replaced when one of its inputs has a sequence number below 0xfffffffe. In the halving block 485 of 599 payments signalled; in block 971,489 only 273. The signal matters less now that replacement needs no signal.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replacement must pay more than the payment it replaces, and also pay for its own size at the incremental rate. For a payment of 564 satoshis and 141 bytes that is 579. The copies at 514, 564 and 578 are refused, and the one at 579 is accepted.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payment used the final sequence number, so it never asked to be replaceable. A conflicting payment replaced it anyway. Release 28.0 made full replacement the default and 29.0 removed the option, so starting the node with it off now fails.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2022-12-12. On Monday 12 December 2022 Peter Todd posted to the bitcoin-dev list a build of Bitcoin Core 24.0.1 with Antoine Riard's full-rbf peering code. The lesson is that policy is what most nodes choose to relay, and it changes by their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versions of a payment replace each other in turn. Versions 0 and 2 do not conflict, so once version 0 is mined, version 2 can be mined too. The payee asked for 40,000,000 satoshis and received 80,000,000. The sender pays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rules of this chapter are policy: the relay floor, the replacement rules, the version 3 limits and the cluster limits. A payment that breaks them can still be valid in a block that a miner builds. Policy changes with a release; consensus changes only by a fork.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parent cannot be changed, a child can pay for it. We measure the package rate, see why nodes now relay packages, and meet the cluster mempool that replaced the old chain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Child Pays for Parent (CPFP) Fee Bumping, Package Relay, package fee rate and ancestor fee rate mining. Each pairs a short meaning with something from everyday life, so that the idea can be retold in your own words. The full explanation is on the course page,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parent pays 1 satoshi per byte and would wait a long time. Its child pays 100. Miners treat the pair as one package of 50.77 satoshis per byte, which beats a waiting payment at 20, so the pair is mined first.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time the child pays only 5 satoshis per byte. The pair together pays 3.02, less than the waiting payment A at 20. Miners took A and left the pair out. A child must pay enough to lift the pair above the competition.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parent with 8 satoshis fails the relay floor of 15 on its own, and its child cannot be sent first because the parent is unknown. As a package the pair is judged by its combined rate and accepted. Limited package relay of one parent and one child exists since release 28.0.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31.0 groups connected payments into clusters, limited to 64 payments and 101,000 virtual bytes. Of a chain of 65, 64 are accepted and the next is refused as a too-large cluster. The old limit of 25 ancestors is gone, so a chain of 26 is accepted. It is example 19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mempool holds 300 megabytes by default. A payment that waits too long is dropped after 336 hours, which is 14 days. The book speaks of about a day's worth, which describes neither default. It is example 20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large child can make a parent costly to replace, and a pre-signed payment cannot guess a future fee. This part runs the carve-out, the TRUC limits and the pay-to-anchor output that answer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Transaction Pinning and CPFP Carve Out and Anchor Outputs. Each pairs a short meaning with something from everyday life, so that the idea can be retold in your own words. The full explanation is on the course page,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parent that pays 705 satoshis gets a child of 90,012 bytes. To replace the parent, the replacer must pay for the whole family: 450,780 satoshis. With a version 3 child, capped at 1,000 bytes, the same replacement costs 5,145, about 88 times less. It is example 21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version 3 parent may have one child of at most 1,000 virtual bytes. A child of 1,350 is refused and one of 141 is accepted. A second child at the same rate is refused, and one at a higher rate evicts its sibling, so a pin cannot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parent has a zero-value output with the script 51024e73, which anyone can spend, and it pays no fee. Alone the node refuses it. The child spends the anchor with an empty witness and pays 10,000 satoshis, so the package is accepted. It is example 23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carve-out allowed one extra child beyond the usual limits. The book gives its size as 1,000 virtual bytes, while the source code says 10,000. Release 31.0 removed the rule, because the cluster limits replaced the descendant limits it worked around. It is example 24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2018-11-29. On Thursday 29 November 2018 Matt Corallo wrote that Lightning channels exchange pre-signed transactions that are broadcast much later, so their fee has to be predicted or added afterwards by a child. The lesson is that a limit built for one attack can outlive the problem it 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pays a subsidy and fees, and the mix changes. When fees dominate, a miner may gain by re-mining a block. We compute the odds and see how wallets defend with the lock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Timelock Defense Against Fee Sniping, fee sniping, timelocks and lock time. Each pairs a short meaning with something from everyday life, so that the idea can be retold in your own words. The full explanation is on the course page, chapter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block 840,000 the fees were 3,762,561,499 satoshis of a 4,075,061,499 reward, so the subsidy of 312,500,000 was only the rest. That is 92.33 percent fees. In block 971,489 fees were 0.46 percent of the reward. It is example 25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2024-04-20. Block 840,000 was found on 20 April 2024 at 00:09 UTC by the pool ViaBTC and held 3,050 transactions. The lesson is that check a book's claim against the block, because the market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miner with a share x of the hash rate wins the race to re-mine a block with probability x over one minus x, squared. That is 1.23 percent at 10 percent of the hash rate and 66.94 percent at 45. At half the hash rate the chance is certain.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2016-10-21. On 21 October 2016 Arvind Narayanan announced on the Princeton CITP blog the paper On the Instability of Bitcoin Without the Block Reward, written with Miles Carlsten, Harry Kalodner and Matt Weinberg and presented at ACM CCS the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wallet sets the lock time of a payment to the current height, so that a miner who rewrites the block cannot take it. Of 60 payments in the test, 56 sit at the tip and four are set back. Such a payment is not final in the block of that height.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A line that feels unproven should send you back to its code slide, because every figure in it was computed there. The chapter code tab of the course page reruns all twenty-seven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 good start is the Antonopoulos talk on fees, then the Optech topic on replace by fee next to the chapter. The course page for chapter 9 carries the full text and the sources behind every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The course page for chapter 9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hyperlink" Target="https://mirror.b10c.me/lists/bitcoindev/Y5eSFbR61HleY6dw@petertodd.org" TargetMode="External"/><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hyperlink" Target="https://mirror.b10c.me/lists/bitcoindev/c3f68b73-84c6-7428-4bf6-b47802141392@mattcorallo.com" TargetMode="External"/><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charts/chart9.xm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hyperlink" Target="https://mempool.space/block/0000000000000000000320283a032748cef8227873ff4872689bf23f1cda83a5" TargetMode="External"/><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charts/chart10.xml"/><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hyperlink" Target="https://blog.citp.princeton.edu/2016/10/21/bitcoin-is-unstable-without-the-block-reward/" TargetMode="External"/><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hyperlink" Target="https://bitcoinops.org/en/topics/replace-by-fee/" TargetMode="External"/><Relationship Id="rId2" Type="http://schemas.openxmlformats.org/officeDocument/2006/relationships/hyperlink" Target="https://raw.githubusercontent.com/bitcoinbook/bitcoinbook/develop/ch09_fees.adoc" TargetMode="External"/><Relationship Id="rId3" Type="http://schemas.openxmlformats.org/officeDocument/2006/relationships/hyperlink" Target="https://mempool.space/" TargetMode="External"/><Relationship Id="rId4" Type="http://schemas.openxmlformats.org/officeDocument/2006/relationships/hyperlink" Target="https://bips.dev/125/" TargetMode="External"/><Relationship Id="rId5" Type="http://schemas.openxmlformats.org/officeDocument/2006/relationships/hyperlink" Target="https://bips.dev/431/" TargetMode="External"/><Relationship Id="rId6" Type="http://schemas.openxmlformats.org/officeDocument/2006/relationships/hyperlink" Target="https://bitcoin.org/bitcoin.pdf" TargetMode="External"/><Relationship Id="rId7" Type="http://schemas.openxmlformats.org/officeDocument/2006/relationships/hyperlink" Target="https://www.youtube.com/embed/MPQMCVVhExY" TargetMode="External"/><Relationship Id="rId8" Type="http://schemas.openxmlformats.org/officeDocument/2006/relationships/hyperlink" Target="https://ocw.mit.edu/courses/15-s12-blockchain-and-money-fall-2018/video_galleries/lecture-videos/"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9: Transaction Fees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Who pays a fee, how it is priced, replaced and bumped, and what moved since print</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
        <p:nvSpPr>
          <p:cNvPr id="11"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Python 3.14.6 on the chapter's own library; Bitcoin Core 31.1 results are recorded from one test run, not run here.</a:t>
            </a:r>
            <a:endParaRPr lang="en-US" sz="10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55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Seven parts; every number is a slide you can jump to</a:t>
            </a:r>
            <a:endParaRPr lang="en-US" sz="1300" dirty="0"/>
          </a:p>
        </p:txBody>
      </p:sp>
      <p:sp>
        <p:nvSpPr>
          <p:cNvPr id="6" name="Shape 4"/>
          <p:cNvSpPr/>
          <p:nvPr/>
        </p:nvSpPr>
        <p:spPr>
          <a:xfrm>
            <a:off x="457200" y="1280160"/>
            <a:ext cx="1822704" cy="981456"/>
          </a:xfrm>
          <a:prstGeom prst="roundRect">
            <a:avLst>
              <a:gd name="adj" fmla="val 7453"/>
            </a:avLst>
          </a:prstGeom>
          <a:solidFill>
            <a:srgbClr val="F2ECE1"/>
          </a:solidFill>
          <a:ln w="12700">
            <a:solidFill>
              <a:srgbClr val="DFD6C7"/>
            </a:solidFill>
            <a:prstDash val="solid"/>
          </a:ln>
        </p:spPr>
      </p:sp>
      <p:sp>
        <p:nvSpPr>
          <p:cNvPr id="7" name="Text 5"/>
          <p:cNvSpPr txBox="1"/>
          <p:nvPr/>
        </p:nvSpPr>
        <p:spPr>
          <a:xfrm>
            <a:off x="548640"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2426208" y="1280160"/>
            <a:ext cx="1822704" cy="981456"/>
          </a:xfrm>
          <a:prstGeom prst="roundRect">
            <a:avLst>
              <a:gd name="adj" fmla="val 7453"/>
            </a:avLst>
          </a:prstGeom>
          <a:solidFill>
            <a:srgbClr val="F2ECE1"/>
          </a:solidFill>
          <a:ln w="12700">
            <a:solidFill>
              <a:srgbClr val="DFD6C7"/>
            </a:solidFill>
            <a:prstDash val="solid"/>
          </a:ln>
        </p:spPr>
      </p:sp>
      <p:sp>
        <p:nvSpPr>
          <p:cNvPr id="9" name="Text 7"/>
          <p:cNvSpPr txBox="1"/>
          <p:nvPr/>
        </p:nvSpPr>
        <p:spPr>
          <a:xfrm>
            <a:off x="2517648"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Who pays the fee</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5-11)</a:t>
            </a:r>
            <a:endParaRPr lang="en-US" sz="1100" dirty="0"/>
          </a:p>
        </p:txBody>
      </p:sp>
      <p:sp>
        <p:nvSpPr>
          <p:cNvPr id="10" name="Shape 8"/>
          <p:cNvSpPr/>
          <p:nvPr/>
        </p:nvSpPr>
        <p:spPr>
          <a:xfrm>
            <a:off x="4395216" y="1280160"/>
            <a:ext cx="1822704" cy="981456"/>
          </a:xfrm>
          <a:prstGeom prst="roundRect">
            <a:avLst>
              <a:gd name="adj" fmla="val 7453"/>
            </a:avLst>
          </a:prstGeom>
          <a:solidFill>
            <a:srgbClr val="F2ECE1"/>
          </a:solidFill>
          <a:ln w="12700">
            <a:solidFill>
              <a:srgbClr val="DFD6C7"/>
            </a:solidFill>
            <a:prstDash val="solid"/>
          </a:ln>
        </p:spPr>
      </p:sp>
      <p:sp>
        <p:nvSpPr>
          <p:cNvPr id="11" name="Text 9"/>
          <p:cNvSpPr txBox="1"/>
          <p:nvPr/>
        </p:nvSpPr>
        <p:spPr>
          <a:xfrm>
            <a:off x="4486656" y="1335024"/>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Fees and fee rates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12-18)</a:t>
            </a:r>
            <a:endParaRPr lang="en-US" sz="1100" dirty="0"/>
          </a:p>
        </p:txBody>
      </p:sp>
      <p:sp>
        <p:nvSpPr>
          <p:cNvPr id="12" name="Shape 10"/>
          <p:cNvSpPr/>
          <p:nvPr/>
        </p:nvSpPr>
        <p:spPr>
          <a:xfrm>
            <a:off x="457200" y="2389632"/>
            <a:ext cx="1822704" cy="981456"/>
          </a:xfrm>
          <a:prstGeom prst="roundRect">
            <a:avLst>
              <a:gd name="adj" fmla="val 7453"/>
            </a:avLst>
          </a:prstGeom>
          <a:solidFill>
            <a:srgbClr val="F2ECE1"/>
          </a:solidFill>
          <a:ln w="12700">
            <a:solidFill>
              <a:srgbClr val="DFD6C7"/>
            </a:solidFill>
            <a:prstDash val="solid"/>
          </a:ln>
        </p:spPr>
      </p:sp>
      <p:sp>
        <p:nvSpPr>
          <p:cNvPr id="13" name="Text 11"/>
          <p:cNvSpPr txBox="1"/>
          <p:nvPr/>
        </p:nvSpPr>
        <p:spPr>
          <a:xfrm>
            <a:off x="548640"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Fee estimation</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19-23)</a:t>
            </a:r>
            <a:endParaRPr lang="en-US" sz="1100" dirty="0"/>
          </a:p>
        </p:txBody>
      </p:sp>
      <p:sp>
        <p:nvSpPr>
          <p:cNvPr id="14" name="Shape 12"/>
          <p:cNvSpPr/>
          <p:nvPr/>
        </p:nvSpPr>
        <p:spPr>
          <a:xfrm>
            <a:off x="2426208" y="2389632"/>
            <a:ext cx="1822704"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2517648"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Replace by fee (RBF)</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24-31)</a:t>
            </a:r>
            <a:endParaRPr lang="en-US" sz="1100" dirty="0"/>
          </a:p>
        </p:txBody>
      </p:sp>
      <p:sp>
        <p:nvSpPr>
          <p:cNvPr id="16" name="Shape 14"/>
          <p:cNvSpPr/>
          <p:nvPr/>
        </p:nvSpPr>
        <p:spPr>
          <a:xfrm>
            <a:off x="4395216" y="2389632"/>
            <a:ext cx="1822704" cy="981456"/>
          </a:xfrm>
          <a:prstGeom prst="roundRect">
            <a:avLst>
              <a:gd name="adj" fmla="val 7453"/>
            </a:avLst>
          </a:prstGeom>
          <a:solidFill>
            <a:srgbClr val="F2ECE1"/>
          </a:solidFill>
          <a:ln w="12700">
            <a:solidFill>
              <a:srgbClr val="DFD6C7"/>
            </a:solidFill>
            <a:prstDash val="solid"/>
          </a:ln>
        </p:spPr>
      </p:sp>
      <p:sp>
        <p:nvSpPr>
          <p:cNvPr id="17" name="Text 15"/>
          <p:cNvSpPr txBox="1"/>
          <p:nvPr/>
        </p:nvSpPr>
        <p:spPr>
          <a:xfrm>
            <a:off x="4486656" y="2444496"/>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Child pays for parent (CPFP)</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32-38)</a:t>
            </a:r>
            <a:endParaRPr lang="en-US" sz="1100" dirty="0"/>
          </a:p>
        </p:txBody>
      </p:sp>
      <p:sp>
        <p:nvSpPr>
          <p:cNvPr id="18" name="Shape 16"/>
          <p:cNvSpPr/>
          <p:nvPr/>
        </p:nvSpPr>
        <p:spPr>
          <a:xfrm>
            <a:off x="457200" y="3499104"/>
            <a:ext cx="1822704" cy="981456"/>
          </a:xfrm>
          <a:prstGeom prst="roundRect">
            <a:avLst>
              <a:gd name="adj" fmla="val 7453"/>
            </a:avLst>
          </a:prstGeom>
          <a:solidFill>
            <a:srgbClr val="F2ECE1"/>
          </a:solidFill>
          <a:ln w="12700">
            <a:solidFill>
              <a:srgbClr val="DFD6C7"/>
            </a:solidFill>
            <a:prstDash val="solid"/>
          </a:ln>
        </p:spPr>
      </p:sp>
      <p:sp>
        <p:nvSpPr>
          <p:cNvPr id="19" name="Text 17"/>
          <p:cNvSpPr txBox="1"/>
          <p:nvPr/>
        </p:nvSpPr>
        <p:spPr>
          <a:xfrm>
            <a:off x="548640" y="3553968"/>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Pinning and anchors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39-45)</a:t>
            </a:r>
            <a:endParaRPr lang="en-US" sz="1100" dirty="0"/>
          </a:p>
        </p:txBody>
      </p:sp>
      <p:sp>
        <p:nvSpPr>
          <p:cNvPr id="20" name="Shape 18"/>
          <p:cNvSpPr/>
          <p:nvPr/>
        </p:nvSpPr>
        <p:spPr>
          <a:xfrm>
            <a:off x="2426208" y="3499104"/>
            <a:ext cx="1822704"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2517648" y="3553968"/>
            <a:ext cx="1639824" cy="871728"/>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8. Fee sniping and incentives</a:t>
            </a:r>
            <a:endParaRPr lang="en-US" sz="1100" dirty="0"/>
          </a:p>
          <a:p>
            <a:pPr algn="ctr" indent="0" marL="0">
              <a:buNone/>
            </a:pPr>
            <a:r>
              <a:rPr lang="en-US" sz="1050" dirty="0">
                <a:solidFill>
                  <a:srgbClr val="6E655C"/>
                </a:solidFill>
                <a:latin typeface="Calibri" pitchFamily="34" charset="0"/>
                <a:ea typeface="Calibri" pitchFamily="34" charset="-122"/>
                <a:cs typeface="Calibri" pitchFamily="34" charset="-120"/>
              </a:rPr>
              <a:t>(slides 46-55)</a:t>
            </a:r>
            <a:endParaRPr lang="en-US" sz="1100" dirty="0"/>
          </a:p>
        </p:txBody>
      </p:sp>
      <p:sp>
        <p:nvSpPr>
          <p:cNvPr id="22" name="Shape 20"/>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3" name="Text 21"/>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55</a:t>
            </a:r>
            <a:endParaRPr lang="en-US" sz="2600" dirty="0"/>
          </a:p>
        </p:txBody>
      </p:sp>
      <p:sp>
        <p:nvSpPr>
          <p:cNvPr id="24" name="Text 22"/>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5" name="Shape 23"/>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6" name="Text 24"/>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7" name="Text 25"/>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28" name="Shape 26"/>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29" name="Text 27"/>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27</a:t>
            </a:r>
            <a:endParaRPr lang="en-US" sz="2600" dirty="0"/>
          </a:p>
        </p:txBody>
      </p:sp>
      <p:sp>
        <p:nvSpPr>
          <p:cNvPr id="30" name="Text 28"/>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Seven parts, twenty-seven examples, four true stories</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55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has an answer on a slide; we return to them in the summary</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Who pays a transaction fee, and why is it not a field of the transaction?</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is a fee rate computed, and which minimum rates apply?</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does a node estimate a fee, and what do two real blocks show?</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must a replacement pay, and why is full replacement now the default?</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does a child pay for its parent, and what does package relay add?</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can a family pin a payment, and what do TRUC and anchors change?</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is fee sniping, and why do wallets lock a payment to the tip?</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55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seven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1947672" cy="1490472"/>
          </a:xfrm>
          <a:prstGeom prst="roundRect">
            <a:avLst>
              <a:gd name="adj" fmla="val 4908"/>
            </a:avLst>
          </a:prstGeom>
          <a:solidFill>
            <a:srgbClr val="F2ECE1"/>
          </a:solidFill>
          <a:ln w="12700">
            <a:solidFill>
              <a:srgbClr val="DFD6C7"/>
            </a:solidFill>
            <a:prstDash val="solid"/>
          </a:ln>
        </p:spPr>
      </p:sp>
      <p:sp>
        <p:nvSpPr>
          <p:cNvPr id="7" name="Text 5"/>
          <p:cNvSpPr txBox="1"/>
          <p:nvPr/>
        </p:nvSpPr>
        <p:spPr>
          <a:xfrm>
            <a:off x="548640"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Who pays the fee</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12 key concepts, 3 examples</a:t>
            </a:r>
            <a:endParaRPr lang="en-US" sz="1250" dirty="0"/>
          </a:p>
        </p:txBody>
      </p:sp>
      <p:sp>
        <p:nvSpPr>
          <p:cNvPr id="8" name="Shape 6"/>
          <p:cNvSpPr/>
          <p:nvPr/>
        </p:nvSpPr>
        <p:spPr>
          <a:xfrm>
            <a:off x="2551176" y="1280160"/>
            <a:ext cx="1947672" cy="1490472"/>
          </a:xfrm>
          <a:prstGeom prst="roundRect">
            <a:avLst>
              <a:gd name="adj" fmla="val 4908"/>
            </a:avLst>
          </a:prstGeom>
          <a:solidFill>
            <a:srgbClr val="F2ECE1"/>
          </a:solidFill>
          <a:ln w="12700">
            <a:solidFill>
              <a:srgbClr val="DFD6C7"/>
            </a:solidFill>
            <a:prstDash val="solid"/>
          </a:ln>
        </p:spPr>
      </p:sp>
      <p:sp>
        <p:nvSpPr>
          <p:cNvPr id="9" name="Text 7"/>
          <p:cNvSpPr txBox="1"/>
          <p:nvPr/>
        </p:nvSpPr>
        <p:spPr>
          <a:xfrm>
            <a:off x="2642616"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Fees and fee rates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3 key concepts, 5 examples</a:t>
            </a:r>
            <a:endParaRPr lang="en-US" sz="1250" dirty="0"/>
          </a:p>
        </p:txBody>
      </p:sp>
      <p:sp>
        <p:nvSpPr>
          <p:cNvPr id="10" name="Shape 8"/>
          <p:cNvSpPr/>
          <p:nvPr/>
        </p:nvSpPr>
        <p:spPr>
          <a:xfrm>
            <a:off x="4645152" y="1280160"/>
            <a:ext cx="1947672" cy="1490472"/>
          </a:xfrm>
          <a:prstGeom prst="roundRect">
            <a:avLst>
              <a:gd name="adj" fmla="val 4908"/>
            </a:avLst>
          </a:prstGeom>
          <a:solidFill>
            <a:srgbClr val="F2ECE1"/>
          </a:solidFill>
          <a:ln w="12700">
            <a:solidFill>
              <a:srgbClr val="DFD6C7"/>
            </a:solidFill>
            <a:prstDash val="solid"/>
          </a:ln>
        </p:spPr>
      </p:sp>
      <p:sp>
        <p:nvSpPr>
          <p:cNvPr id="11" name="Text 9"/>
          <p:cNvSpPr txBox="1"/>
          <p:nvPr/>
        </p:nvSpPr>
        <p:spPr>
          <a:xfrm>
            <a:off x="4736592"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Fee estimation</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2 key concepts, 3 examples</a:t>
            </a:r>
            <a:endParaRPr lang="en-US" sz="1250" dirty="0"/>
          </a:p>
        </p:txBody>
      </p:sp>
      <p:sp>
        <p:nvSpPr>
          <p:cNvPr id="12" name="Shape 10"/>
          <p:cNvSpPr/>
          <p:nvPr/>
        </p:nvSpPr>
        <p:spPr>
          <a:xfrm>
            <a:off x="6739128" y="1280160"/>
            <a:ext cx="1947672" cy="1490472"/>
          </a:xfrm>
          <a:prstGeom prst="roundRect">
            <a:avLst>
              <a:gd name="adj" fmla="val 4908"/>
            </a:avLst>
          </a:prstGeom>
          <a:solidFill>
            <a:srgbClr val="F2ECE1"/>
          </a:solidFill>
          <a:ln w="12700">
            <a:solidFill>
              <a:srgbClr val="DFD6C7"/>
            </a:solidFill>
            <a:prstDash val="solid"/>
          </a:ln>
        </p:spPr>
      </p:sp>
      <p:sp>
        <p:nvSpPr>
          <p:cNvPr id="13" name="Text 11"/>
          <p:cNvSpPr txBox="1"/>
          <p:nvPr/>
        </p:nvSpPr>
        <p:spPr>
          <a:xfrm>
            <a:off x="6830568"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Replace by fee (RBF)</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4 examples</a:t>
            </a:r>
            <a:endParaRPr lang="en-US" sz="1250" dirty="0"/>
          </a:p>
        </p:txBody>
      </p:sp>
      <p:sp>
        <p:nvSpPr>
          <p:cNvPr id="14" name="Shape 12"/>
          <p:cNvSpPr/>
          <p:nvPr/>
        </p:nvSpPr>
        <p:spPr>
          <a:xfrm>
            <a:off x="457200" y="2898648"/>
            <a:ext cx="1947672" cy="1490472"/>
          </a:xfrm>
          <a:prstGeom prst="roundRect">
            <a:avLst>
              <a:gd name="adj" fmla="val 4908"/>
            </a:avLst>
          </a:prstGeom>
          <a:solidFill>
            <a:srgbClr val="F2ECE1"/>
          </a:solidFill>
          <a:ln w="12700">
            <a:solidFill>
              <a:srgbClr val="DFD6C7"/>
            </a:solidFill>
            <a:prstDash val="solid"/>
          </a:ln>
        </p:spPr>
      </p:sp>
      <p:sp>
        <p:nvSpPr>
          <p:cNvPr id="15" name="Text 13"/>
          <p:cNvSpPr txBox="1"/>
          <p:nvPr/>
        </p:nvSpPr>
        <p:spPr>
          <a:xfrm>
            <a:off x="548640"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Child pays for parent (CPFP)</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5 examples</a:t>
            </a:r>
            <a:endParaRPr lang="en-US" sz="1250" dirty="0"/>
          </a:p>
        </p:txBody>
      </p:sp>
      <p:sp>
        <p:nvSpPr>
          <p:cNvPr id="16" name="Shape 14"/>
          <p:cNvSpPr/>
          <p:nvPr/>
        </p:nvSpPr>
        <p:spPr>
          <a:xfrm>
            <a:off x="2551176" y="2898648"/>
            <a:ext cx="1947672" cy="1490472"/>
          </a:xfrm>
          <a:prstGeom prst="roundRect">
            <a:avLst>
              <a:gd name="adj" fmla="val 4908"/>
            </a:avLst>
          </a:prstGeom>
          <a:solidFill>
            <a:srgbClr val="F2ECE1"/>
          </a:solidFill>
          <a:ln w="12700">
            <a:solidFill>
              <a:srgbClr val="DFD6C7"/>
            </a:solidFill>
            <a:prstDash val="solid"/>
          </a:ln>
        </p:spPr>
      </p:sp>
      <p:sp>
        <p:nvSpPr>
          <p:cNvPr id="17" name="Text 15"/>
          <p:cNvSpPr txBox="1"/>
          <p:nvPr/>
        </p:nvSpPr>
        <p:spPr>
          <a:xfrm>
            <a:off x="2642616"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Pinning and anchors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2 key concepts, 4 examples</a:t>
            </a:r>
            <a:endParaRPr lang="en-US" sz="1250" dirty="0"/>
          </a:p>
        </p:txBody>
      </p:sp>
      <p:sp>
        <p:nvSpPr>
          <p:cNvPr id="18" name="Shape 16"/>
          <p:cNvSpPr/>
          <p:nvPr/>
        </p:nvSpPr>
        <p:spPr>
          <a:xfrm>
            <a:off x="4645152" y="2898648"/>
            <a:ext cx="1947672" cy="1490472"/>
          </a:xfrm>
          <a:prstGeom prst="roundRect">
            <a:avLst>
              <a:gd name="adj" fmla="val 4908"/>
            </a:avLst>
          </a:prstGeom>
          <a:solidFill>
            <a:srgbClr val="F2ECE1"/>
          </a:solidFill>
          <a:ln w="12700">
            <a:solidFill>
              <a:srgbClr val="DFD6C7"/>
            </a:solidFill>
            <a:prstDash val="solid"/>
          </a:ln>
        </p:spPr>
      </p:sp>
      <p:sp>
        <p:nvSpPr>
          <p:cNvPr id="19" name="Text 17"/>
          <p:cNvSpPr txBox="1"/>
          <p:nvPr/>
        </p:nvSpPr>
        <p:spPr>
          <a:xfrm>
            <a:off x="4736592"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Fee sniping and incentives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4 key concepts, 3 examples</a:t>
            </a:r>
            <a:endParaRPr lang="en-US" sz="12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Seven parts; every slide today lives on this map</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55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Who pays the fee</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spender pays the fee, like a tip left on the counter.</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Fee as difference</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fee is inputs minus outputs; no field holds it.</a:t>
            </a:r>
            <a:endParaRPr lang="en-US" sz="1150" dirty="0"/>
          </a:p>
        </p:txBody>
      </p:sp>
      <p:sp>
        <p:nvSpPr>
          <p:cNvPr id="9" name="Text 7"/>
          <p:cNvSpPr txBox="1"/>
          <p:nvPr/>
        </p:nvSpPr>
        <p:spPr>
          <a:xfrm>
            <a:off x="77724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change you forget to take back from the counter.</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Spender and signature</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Only the spender can add to the fee, since the signature covers the amounts.</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that cannot be altered after it is signed.</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Miner choice</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Miners choose what goes into a block and prefer the highest rates.</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bus driver who boards the highest bidders first.</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Who pays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Rates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Estimates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RBF</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CPFP</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Pinning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Sniping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55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pays the fee: key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Who Pays the Transaction Fee?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spender, by leaving part of the inputs unclaimed by the outputs.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tip you leave on the table when you pay the bill.</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fees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What a miner may claim for putting a payment into a block.</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postage that gets a letter carried.</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Adding Fees to Transactions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wallet chooses inputs and a fee rate, and leaves the difference.</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diner who writes a tip on the card slip.</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fees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coins that inputs hold and outputs do not claim.</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gap between the price on the tag and the note you handed over.</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55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fee is a difference, not a field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Parsing a real transaction from its raw bytes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R[</a:t>
            </a:r>
            <a:r>
              <a:rPr lang="en-US" sz="1000" dirty="0">
                <a:solidFill>
                  <a:srgbClr val="9ECBFF"/>
                </a:solidFill>
                <a:latin typeface="Courier New" pitchFamily="34" charset="0"/>
                <a:ea typeface="Courier New" pitchFamily="34" charset="-122"/>
                <a:cs typeface="Courier New" pitchFamily="34" charset="-120"/>
              </a:rPr>
              <a:t>'fee_arith'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L.parse_tx(a[</a:t>
            </a:r>
            <a:r>
              <a:rPr lang="en-US" sz="1000" dirty="0">
                <a:solidFill>
                  <a:srgbClr val="9ECBFF"/>
                </a:solidFill>
                <a:latin typeface="Courier New" pitchFamily="34" charset="0"/>
                <a:ea typeface="Courier New" pitchFamily="34" charset="-122"/>
                <a:cs typeface="Courier New" pitchFamily="34" charset="-120"/>
              </a:rPr>
              <a:t>'tx'</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'hex'</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has_fee = </a:t>
            </a:r>
            <a:r>
              <a:rPr lang="en-US" sz="1000" dirty="0">
                <a:solidFill>
                  <a:srgbClr val="9ECBFF"/>
                </a:solidFill>
                <a:latin typeface="Courier New" pitchFamily="34" charset="0"/>
                <a:ea typeface="Courier New" pitchFamily="34" charset="-122"/>
                <a:cs typeface="Courier New" pitchFamily="34" charset="-120"/>
              </a:rPr>
              <a:t>'fee'</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n_in, n_out = len(t[</a:t>
            </a:r>
            <a:r>
              <a:rPr lang="en-US" sz="1000" dirty="0">
                <a:solidFill>
                  <a:srgbClr val="9ECBFF"/>
                </a:solidFill>
                <a:latin typeface="Courier New" pitchFamily="34" charset="0"/>
                <a:ea typeface="Courier New" pitchFamily="34" charset="-122"/>
                <a:cs typeface="Courier New" pitchFamily="34" charset="-120"/>
              </a:rPr>
              <a:t>'vin'</a:t>
            </a:r>
            <a:r>
              <a:rPr lang="en-US" sz="1000" dirty="0">
                <a:solidFill>
                  <a:srgbClr val="E6EDF3"/>
                </a:solidFill>
                <a:latin typeface="Courier New" pitchFamily="34" charset="0"/>
                <a:ea typeface="Courier New" pitchFamily="34" charset="-122"/>
                <a:cs typeface="Courier New" pitchFamily="34" charset="-120"/>
              </a:rPr>
              <a:t>]), len(t[</a:t>
            </a:r>
            <a:r>
              <a:rPr lang="en-US" sz="1000" dirty="0">
                <a:solidFill>
                  <a:srgbClr val="9ECBFF"/>
                </a:solidFill>
                <a:latin typeface="Courier New" pitchFamily="34" charset="0"/>
                <a:ea typeface="Courier New" pitchFamily="34" charset="-122"/>
                <a:cs typeface="Courier New" pitchFamily="34" charset="-120"/>
              </a:rPr>
              <a:t>'vout'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outs = sum(o[</a:t>
            </a:r>
            <a:r>
              <a:rPr lang="en-US" sz="1000" dirty="0">
                <a:solidFill>
                  <a:srgbClr val="9ECBFF"/>
                </a:solidFill>
                <a:latin typeface="Courier New" pitchFamily="34" charset="0"/>
                <a:ea typeface="Courier New" pitchFamily="34" charset="-122"/>
                <a:cs typeface="Courier New" pitchFamily="34" charset="-120"/>
              </a:rPr>
              <a:t>'value'</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o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a:t>
            </a:r>
            <a:r>
              <a:rPr lang="en-US" sz="1000" dirty="0">
                <a:solidFill>
                  <a:srgbClr val="9ECBFF"/>
                </a:solidFill>
                <a:latin typeface="Courier New" pitchFamily="34" charset="0"/>
                <a:ea typeface="Courier New" pitchFamily="34" charset="-122"/>
                <a:cs typeface="Courier New" pitchFamily="34" charset="-120"/>
              </a:rPr>
              <a:t>'vout'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ins = round(a[</a:t>
            </a:r>
            <a:r>
              <a:rPr lang="en-US" sz="1000" dirty="0">
                <a:solidFill>
                  <a:srgbClr val="9ECBFF"/>
                </a:solidFill>
                <a:latin typeface="Courier New" pitchFamily="34" charset="0"/>
                <a:ea typeface="Courier New" pitchFamily="34" charset="-122"/>
                <a:cs typeface="Courier New" pitchFamily="34" charset="-120"/>
              </a:rPr>
              <a:t>'inputs_btc'</a:t>
            </a:r>
            <a:r>
              <a:rPr lang="en-US" sz="1000" dirty="0">
                <a:solidFill>
                  <a:srgbClr val="E6EDF3"/>
                </a:solidFill>
                <a:latin typeface="Courier New" pitchFamily="34" charset="0"/>
                <a:ea typeface="Courier New" pitchFamily="34" charset="-122"/>
                <a:cs typeface="Courier New" pitchFamily="34" charset="-120"/>
              </a:rPr>
              <a:t>] * 1e8)</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 = ins - outs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(has_fee, fee)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 1900000000)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 independent parser reads the raw bytes of one transaction.</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 finds inputs, outputs and a lock time, but no fee field.</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fee is what is left: inputs minus outputs.</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what the parser finds</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Fee field in the parsed payment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Inputs and outputs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 and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Value of the inputs, sat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2,000,000,000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Value of the outputs, sat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Inputs minus outputs, sat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1,900,000,000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No field states the fee. It is the difference: 1,900,000,000 satoshis, left unclaimed by the outputs.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Nothing in the transaction states the fee: it is inputs minus outputs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55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pays the fee: key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inputs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Earlier outputs that a payment spends, each one entirely.</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banknotes from your wallet, handed over whole.</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outputs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new amounts, each with the lock that says who may spend it next.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sealed envelopes you fill for each recipient.</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change output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output that sends the rest of an input back to the spender.</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coins a cashier hands back to you.</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payments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Value moving from one holder to another, as a person sees it.</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passing a note across a table to a friend.</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55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Forgetting the change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20 coin input, a 1 coin output and no change output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R[</a:t>
            </a:r>
            <a:r>
              <a:rPr lang="en-US" sz="1000" dirty="0">
                <a:solidFill>
                  <a:srgbClr val="9ECBFF"/>
                </a:solidFill>
                <a:latin typeface="Courier New" pitchFamily="34" charset="0"/>
                <a:ea typeface="Courier New" pitchFamily="34" charset="-122"/>
                <a:cs typeface="Courier New" pitchFamily="34" charset="-120"/>
              </a:rPr>
              <a:t>'fee_arith'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a[</a:t>
            </a:r>
            <a:r>
              <a:rPr lang="en-US" sz="1000" dirty="0">
                <a:solidFill>
                  <a:srgbClr val="9ECBFF"/>
                </a:solidFill>
                <a:latin typeface="Courier New" pitchFamily="34" charset="0"/>
                <a:ea typeface="Courier New" pitchFamily="34" charset="-122"/>
                <a:cs typeface="Courier New" pitchFamily="34" charset="-120"/>
              </a:rPr>
              <a:t>'testmempoolaccept'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'reject-reason'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err = a[</a:t>
            </a:r>
            <a:r>
              <a:rPr lang="en-US" sz="1000" dirty="0">
                <a:solidFill>
                  <a:srgbClr val="9ECBFF"/>
                </a:solidFill>
                <a:latin typeface="Courier New" pitchFamily="34" charset="0"/>
                <a:ea typeface="Courier New" pitchFamily="34" charset="-122"/>
                <a:cs typeface="Courier New" pitchFamily="34" charset="-120"/>
              </a:rPr>
              <a:t>'sendrawtransaction_default'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'error'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guard = </a:t>
            </a:r>
            <a:r>
              <a:rPr lang="en-US" sz="1000" dirty="0">
                <a:solidFill>
                  <a:srgbClr val="9ECBFF"/>
                </a:solidFill>
                <a:latin typeface="Courier New" pitchFamily="34" charset="0"/>
                <a:ea typeface="Courier New" pitchFamily="34" charset="-122"/>
                <a:cs typeface="Courier New" pitchFamily="34" charset="-120"/>
              </a:rPr>
              <a:t>'maxfeerate'</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err</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bs = a[</a:t>
            </a:r>
            <a:r>
              <a:rPr lang="en-US" sz="1000" dirty="0">
                <a:solidFill>
                  <a:srgbClr val="9ECBFF"/>
                </a:solidFill>
                <a:latin typeface="Courier New" pitchFamily="34" charset="0"/>
                <a:ea typeface="Courier New" pitchFamily="34" charset="-122"/>
                <a:cs typeface="Courier New" pitchFamily="34" charset="-120"/>
              </a:rPr>
              <a:t>'blockstats'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pay = bs[</a:t>
            </a:r>
            <a:r>
              <a:rPr lang="en-US" sz="1000" dirty="0">
                <a:solidFill>
                  <a:srgbClr val="9ECBFF"/>
                </a:solidFill>
                <a:latin typeface="Courier New" pitchFamily="34" charset="0"/>
                <a:ea typeface="Courier New" pitchFamily="34" charset="-122"/>
                <a:cs typeface="Courier New" pitchFamily="34" charset="-120"/>
              </a:rPr>
              <a:t>'subsidy'</a:t>
            </a:r>
            <a:r>
              <a:rPr lang="en-US" sz="1000" dirty="0">
                <a:solidFill>
                  <a:srgbClr val="E6EDF3"/>
                </a:solidFill>
                <a:latin typeface="Courier New" pitchFamily="34" charset="0"/>
                <a:ea typeface="Courier New" pitchFamily="34" charset="-122"/>
                <a:cs typeface="Courier New" pitchFamily="34" charset="-120"/>
              </a:rPr>
              <a:t>] + bs[</a:t>
            </a:r>
            <a:r>
              <a:rPr lang="en-US" sz="1000" dirty="0">
                <a:solidFill>
                  <a:srgbClr val="9ECBFF"/>
                </a:solidFill>
                <a:latin typeface="Courier New" pitchFamily="34" charset="0"/>
                <a:ea typeface="Courier New" pitchFamily="34" charset="-122"/>
                <a:cs typeface="Courier New" pitchFamily="34" charset="-120"/>
              </a:rPr>
              <a:t>'totalfee'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paid = a[</a:t>
            </a:r>
            <a:r>
              <a:rPr lang="en-US" sz="1000" dirty="0">
                <a:solidFill>
                  <a:srgbClr val="9ECBFF"/>
                </a:solidFill>
                <a:latin typeface="Courier New" pitchFamily="34" charset="0"/>
                <a:ea typeface="Courier New" pitchFamily="34" charset="-122"/>
                <a:cs typeface="Courier New" pitchFamily="34" charset="-120"/>
              </a:rPr>
              <a:t>'coinbase_out_sat'</a:t>
            </a:r>
            <a:r>
              <a:rPr lang="en-US" sz="1000" dirty="0">
                <a:solidFill>
                  <a:srgbClr val="E6EDF3"/>
                </a:solidFill>
                <a:latin typeface="Courier New" pitchFamily="34" charset="0"/>
                <a:ea typeface="Courier New" pitchFamily="34" charset="-122"/>
                <a:cs typeface="Courier New" pitchFamily="34" charset="-120"/>
              </a:rPr>
              <a:t>] == pay</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guard, paid)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('max-fee-exceeded',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payment spends 20 coins, sends 1 and forgets its change.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node's error text names the safety limit maxfeerate.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Mined with the limit lifted, the miner gets subsidy plus fee.</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miner's reward, satoshis</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node said max-fee-exceeded. With the limit lifted, the reward 4,400,000,000 equals subsidy plus fee: yes.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safety limit protects the spender from paying nearly everything as fee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55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pays the fee: key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signed records that spend inputs and create outputs.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that lists the notes it uses and who gets what.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overpaying transaction fees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fee far above what the market needs, wasted on the miner.</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paying for express delivery on an empty street.</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excessive fees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fee so high that a node refuses it unless told otherwise.</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till that rejects a price with a zero too many.</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absurd fees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fee above the safety limit, usually a forgotten change output.</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bank that asks twice before wiring a million.</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55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Only the spender can raise the fee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Editing an amount after signing</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 R2[</a:t>
            </a:r>
            <a:r>
              <a:rPr lang="en-US" sz="1000" dirty="0">
                <a:solidFill>
                  <a:srgbClr val="9ECBFF"/>
                </a:solidFill>
                <a:latin typeface="Courier New" pitchFamily="34" charset="0"/>
                <a:ea typeface="Courier New" pitchFamily="34" charset="-122"/>
                <a:cs typeface="Courier New" pitchFamily="34" charset="-120"/>
              </a:rPr>
              <a:t>'tamper'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 t = w[</a:t>
            </a:r>
            <a:r>
              <a:rPr lang="en-US" sz="1000" dirty="0">
                <a:solidFill>
                  <a:srgbClr val="9ECBFF"/>
                </a:solidFill>
                <a:latin typeface="Courier New" pitchFamily="34" charset="0"/>
                <a:ea typeface="Courier New" pitchFamily="34" charset="-122"/>
                <a:cs typeface="Courier New" pitchFamily="34" charset="-120"/>
              </a:rPr>
              <a:t>'original'</a:t>
            </a:r>
            <a:r>
              <a:rPr lang="en-US" sz="1000" dirty="0">
                <a:solidFill>
                  <a:srgbClr val="E6EDF3"/>
                </a:solidFill>
                <a:latin typeface="Courier New" pitchFamily="34" charset="0"/>
                <a:ea typeface="Courier New" pitchFamily="34" charset="-122"/>
                <a:cs typeface="Courier New" pitchFamily="34" charset="-120"/>
              </a:rPr>
              <a:t>], w[</a:t>
            </a:r>
            <a:r>
              <a:rPr lang="en-US" sz="1000" dirty="0">
                <a:solidFill>
                  <a:srgbClr val="9ECBFF"/>
                </a:solidFill>
                <a:latin typeface="Courier New" pitchFamily="34" charset="0"/>
                <a:ea typeface="Courier New" pitchFamily="34" charset="-122"/>
                <a:cs typeface="Courier New" pitchFamily="34" charset="-120"/>
              </a:rPr>
              <a:t>'tampered'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[o[</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 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t[</a:t>
            </a:r>
            <a:r>
              <a:rPr lang="en-US" sz="1000" dirty="0">
                <a:solidFill>
                  <a:srgbClr val="9ECBFF"/>
                </a:solidFill>
                <a:latin typeface="Courier New" pitchFamily="34" charset="0"/>
                <a:ea typeface="Courier New" pitchFamily="34" charset="-122"/>
                <a:cs typeface="Courier New" pitchFamily="34" charset="-120"/>
              </a:rPr>
              <a:t>'reject-reason'</a:t>
            </a:r>
            <a:r>
              <a:rPr lang="en-US" sz="1000" dirty="0">
                <a:solidFill>
                  <a:srgbClr val="E6EDF3"/>
                </a:solidFill>
                <a:latin typeface="Courier New" pitchFamily="34" charset="0"/>
                <a:ea typeface="Courier New" pitchFamily="34" charset="-122"/>
                <a:cs typeface="Courier New" pitchFamily="34" charset="-120"/>
              </a:rPr>
              <a:t>].split(</a:t>
            </a:r>
            <a:r>
              <a:rPr lang="en-US" sz="1000" dirty="0">
                <a:solidFill>
                  <a:srgbClr val="9ECBFF"/>
                </a:solidFill>
                <a:latin typeface="Courier New" pitchFamily="34" charset="0"/>
                <a:ea typeface="Courier New" pitchFamily="34" charset="-122"/>
                <a:cs typeface="Courier New" pitchFamily="34" charset="-120"/>
              </a:rPr>
              <a:t>' ('</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 = w[</a:t>
            </a:r>
            <a:r>
              <a:rPr lang="en-US" sz="1000" dirty="0">
                <a:solidFill>
                  <a:srgbClr val="9ECBFF"/>
                </a:solidFill>
                <a:latin typeface="Courier New" pitchFamily="34" charset="0"/>
                <a:ea typeface="Courier New" pitchFamily="34" charset="-122"/>
                <a:cs typeface="Courier New" pitchFamily="34" charset="-120"/>
              </a:rPr>
              <a:t>'output0_original_sat'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cut = d - w[</a:t>
            </a:r>
            <a:r>
              <a:rPr lang="en-US" sz="1000" dirty="0">
                <a:solidFill>
                  <a:srgbClr val="9ECBFF"/>
                </a:solidFill>
                <a:latin typeface="Courier New" pitchFamily="34" charset="0"/>
                <a:ea typeface="Courier New" pitchFamily="34" charset="-122"/>
                <a:cs typeface="Courier New" pitchFamily="34" charset="-120"/>
              </a:rPr>
              <a:t>'output0_tampered_sat'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cut)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5000)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payment as signed, and a copy with its output cut.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node rejects the copy: the signature covers the amounts.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cut is the extra fee; only the spender could add it.</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payment, signed and edited</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1188720"/>
                <a:gridCol w="9144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Version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Output 0, sat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As signed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50,000,000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Output cut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49,995,000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8712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cut of 5,000 satoshis breaks the signature: mempool-script-verify-flag-failed.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signature covers the amounts, so nobody else can add to the fee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55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Fees and fee rates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fee is a bill, and the rate is its price per unit of space.</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Size and weight</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Virtual size is the space a payment takes in a block.</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postage priced by the volume of the parcel.</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Fee rate arithmetic</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rate is the fee over the virtual size, in satoshis per byte.</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price per kilo on a market scale.</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Minimum rates</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Nodes, wallets and dust rules each set a floor.</a:t>
            </a:r>
            <a:endParaRPr lang="en-US" sz="1150" dirty="0"/>
          </a:p>
        </p:txBody>
      </p:sp>
      <p:sp>
        <p:nvSpPr>
          <p:cNvPr id="17" name="Text 15"/>
          <p:cNvSpPr txBox="1"/>
          <p:nvPr/>
        </p:nvSpPr>
        <p:spPr>
          <a:xfrm>
            <a:off x="614172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minimum fare below which no taxi starts the meter.</a:t>
            </a:r>
            <a:endParaRPr lang="en-US" sz="11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Who pays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Rates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Estimates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RBF</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CPFP</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Pinning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Sniping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55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Fees and fee rates: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Fees and Fee Rates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fee is a sum in satoshis; a rate divides it by size.</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freight bill: the total, and the price per cubic metre.</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fee rates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price per virtual byte by which miners sort payments.</a:t>
            </a:r>
            <a:endParaRPr lang="en-US" sz="1300" dirty="0"/>
          </a:p>
        </p:txBody>
      </p:sp>
      <p:sp>
        <p:nvSpPr>
          <p:cNvPr id="13" name="Text 11"/>
          <p:cNvSpPr txBox="1"/>
          <p:nvPr/>
        </p:nvSpPr>
        <p:spPr>
          <a:xfrm>
            <a:off x="3432048"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price per kilo at a market stall.</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Batches of payments, limited to four million units of weight.</a:t>
            </a:r>
            <a:endParaRPr lang="en-US" sz="1300" dirty="0"/>
          </a:p>
        </p:txBody>
      </p:sp>
      <p:sp>
        <p:nvSpPr>
          <p:cNvPr id="17" name="Text 15"/>
          <p:cNvSpPr txBox="1"/>
          <p:nvPr/>
        </p:nvSpPr>
        <p:spPr>
          <a:xfrm>
            <a:off x="6224016"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bus that leaves every ten minutes with fixed seats.</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55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Size, weight and virtual size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measures of one payment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 = R[</a:t>
            </a:r>
            <a:r>
              <a:rPr lang="en-US" sz="1000" dirty="0">
                <a:solidFill>
                  <a:srgbClr val="9ECBFF"/>
                </a:solidFill>
                <a:latin typeface="Courier New" pitchFamily="34" charset="0"/>
                <a:ea typeface="Courier New" pitchFamily="34" charset="-122"/>
                <a:cs typeface="Courier New" pitchFamily="34" charset="-120"/>
              </a:rPr>
              <a:t>'rbf'</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L.parse_tx(x[</a:t>
            </a:r>
            <a:r>
              <a:rPr lang="en-US" sz="1000" dirty="0">
                <a:solidFill>
                  <a:srgbClr val="9ECBFF"/>
                </a:solidFill>
                <a:latin typeface="Courier New" pitchFamily="34" charset="0"/>
                <a:ea typeface="Courier New" pitchFamily="34" charset="-122"/>
                <a:cs typeface="Courier New" pitchFamily="34" charset="-120"/>
              </a:rPr>
              <a:t>'hex'</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[t[</a:t>
            </a:r>
            <a:r>
              <a:rPr lang="en-US" sz="1000" dirty="0">
                <a:solidFill>
                  <a:srgbClr val="9ECBFF"/>
                </a:solidFill>
                <a:latin typeface="Courier New" pitchFamily="34" charset="0"/>
                <a:ea typeface="Courier New" pitchFamily="34" charset="-122"/>
                <a:cs typeface="Courier New" pitchFamily="34" charset="-120"/>
              </a:rPr>
              <a:t>'base_size'</a:t>
            </a:r>
            <a:r>
              <a:rPr lang="en-US" sz="1000" dirty="0">
                <a:solidFill>
                  <a:srgbClr val="E6EDF3"/>
                </a:solidFill>
                <a:latin typeface="Courier New" pitchFamily="34" charset="0"/>
                <a:ea typeface="Courier New" pitchFamily="34" charset="-122"/>
                <a:cs typeface="Courier New" pitchFamily="34" charset="-120"/>
              </a:rPr>
              <a:t>], t[</a:t>
            </a:r>
            <a:r>
              <a:rPr lang="en-US" sz="1000" dirty="0">
                <a:solidFill>
                  <a:srgbClr val="9ECBFF"/>
                </a:solidFill>
                <a:latin typeface="Courier New" pitchFamily="34" charset="0"/>
                <a:ea typeface="Courier New" pitchFamily="34" charset="-122"/>
                <a:cs typeface="Courier New" pitchFamily="34" charset="-120"/>
              </a:rPr>
              <a:t>'size'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wv = [t[</a:t>
            </a:r>
            <a:r>
              <a:rPr lang="en-US" sz="1000" dirty="0">
                <a:solidFill>
                  <a:srgbClr val="9ECBFF"/>
                </a:solidFill>
                <a:latin typeface="Courier New" pitchFamily="34" charset="0"/>
                <a:ea typeface="Courier New" pitchFamily="34" charset="-122"/>
                <a:cs typeface="Courier New" pitchFamily="34" charset="-120"/>
              </a:rPr>
              <a:t>'weight'</a:t>
            </a:r>
            <a:r>
              <a:rPr lang="en-US" sz="1000" dirty="0">
                <a:solidFill>
                  <a:srgbClr val="E6EDF3"/>
                </a:solidFill>
                <a:latin typeface="Courier New" pitchFamily="34" charset="0"/>
                <a:ea typeface="Courier New" pitchFamily="34" charset="-122"/>
                <a:cs typeface="Courier New" pitchFamily="34" charset="-120"/>
              </a:rPr>
              <a:t>], t[</a:t>
            </a:r>
            <a:r>
              <a:rPr lang="en-US" sz="1000" dirty="0">
                <a:solidFill>
                  <a:srgbClr val="9ECBFF"/>
                </a:solidFill>
                <a:latin typeface="Courier New" pitchFamily="34" charset="0"/>
                <a:ea typeface="Courier New" pitchFamily="34" charset="-122"/>
                <a:cs typeface="Courier New" pitchFamily="34" charset="-120"/>
              </a:rPr>
              <a:t>'vsize'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ratio = round(x[</a:t>
            </a:r>
            <a:r>
              <a:rPr lang="en-US" sz="1000" dirty="0">
                <a:solidFill>
                  <a:srgbClr val="9ECBFF"/>
                </a:solidFill>
                <a:latin typeface="Courier New" pitchFamily="34" charset="0"/>
                <a:ea typeface="Courier New" pitchFamily="34" charset="-122"/>
                <a:cs typeface="Courier New" pitchFamily="34" charset="-120"/>
              </a:rPr>
              <a:t>'vsize'</a:t>
            </a:r>
            <a:r>
              <a:rPr lang="en-US" sz="1000" dirty="0">
                <a:solidFill>
                  <a:srgbClr val="E6EDF3"/>
                </a:solidFill>
                <a:latin typeface="Courier New" pitchFamily="34" charset="0"/>
                <a:ea typeface="Courier New" pitchFamily="34" charset="-122"/>
                <a:cs typeface="Courier New" pitchFamily="34" charset="-120"/>
              </a:rPr>
              <a:t>] / x[</a:t>
            </a:r>
            <a:r>
              <a:rPr lang="en-US" sz="1000" dirty="0">
                <a:solidFill>
                  <a:srgbClr val="9ECBFF"/>
                </a:solidFill>
                <a:latin typeface="Courier New" pitchFamily="34" charset="0"/>
                <a:ea typeface="Courier New" pitchFamily="34" charset="-122"/>
                <a:cs typeface="Courier New" pitchFamily="34" charset="-120"/>
              </a:rPr>
              <a:t>'weight'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wv</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[113, 222, 561, 141]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payment of the test node, parsed from its hex text.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Witness bytes count a quarter, so weight is not size.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Virtual size is weight over four, rounded up.</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measures of one payment</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Virtual size 141 is the weight 561 over four, rounded up: the ratio is 0.2513.</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Fees are charged per virtual byte, which is the weight over four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55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fee rate and its units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Satoshis per virtual byte, or coins per thousand bytes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 = R[</a:t>
            </a:r>
            <a:r>
              <a:rPr lang="en-US" sz="1000" dirty="0">
                <a:solidFill>
                  <a:srgbClr val="9ECBFF"/>
                </a:solidFill>
                <a:latin typeface="Courier New" pitchFamily="34" charset="0"/>
                <a:ea typeface="Courier New" pitchFamily="34" charset="-122"/>
                <a:cs typeface="Courier New" pitchFamily="34" charset="-120"/>
              </a:rPr>
              <a:t>'rbf'</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rate = x[</a:t>
            </a:r>
            <a:r>
              <a:rPr lang="en-US" sz="1000" dirty="0">
                <a:solidFill>
                  <a:srgbClr val="9ECBFF"/>
                </a:solidFill>
                <a:latin typeface="Courier New" pitchFamily="34" charset="0"/>
                <a:ea typeface="Courier New" pitchFamily="34" charset="-122"/>
                <a:cs typeface="Courier New" pitchFamily="34" charset="-120"/>
              </a:rPr>
              <a:t>'fee_sat'</a:t>
            </a:r>
            <a:r>
              <a:rPr lang="en-US" sz="1000" dirty="0">
                <a:solidFill>
                  <a:srgbClr val="E6EDF3"/>
                </a:solidFill>
                <a:latin typeface="Courier New" pitchFamily="34" charset="0"/>
                <a:ea typeface="Courier New" pitchFamily="34" charset="-122"/>
                <a:cs typeface="Courier New" pitchFamily="34" charset="-120"/>
              </a:rPr>
              <a:t>] / x[</a:t>
            </a:r>
            <a:r>
              <a:rPr lang="en-US" sz="1000" dirty="0">
                <a:solidFill>
                  <a:srgbClr val="9ECBFF"/>
                </a:solidFill>
                <a:latin typeface="Courier New" pitchFamily="34" charset="0"/>
                <a:ea typeface="Courier New" pitchFamily="34" charset="-122"/>
                <a:cs typeface="Courier New" pitchFamily="34" charset="-120"/>
              </a:rPr>
              <a:t>'vsize'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float(L.btc_kvb_to_sat_vb(</a:t>
            </a:r>
            <a:r>
              <a:rPr lang="en-US" sz="1000" dirty="0">
                <a:solidFill>
                  <a:srgbClr val="9ECBFF"/>
                </a:solidFill>
                <a:latin typeface="Courier New" pitchFamily="34" charset="0"/>
                <a:ea typeface="Courier New" pitchFamily="34" charset="-122"/>
                <a:cs typeface="Courier New" pitchFamily="34" charset="-120"/>
              </a:rPr>
              <a:t>'0.00006570'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float(L.btc_kvb_to_sat_vb(</a:t>
            </a:r>
            <a:r>
              <a:rPr lang="en-US" sz="1000" dirty="0">
                <a:solidFill>
                  <a:srgbClr val="9ECBFF"/>
                </a:solidFill>
                <a:latin typeface="Courier New" pitchFamily="34" charset="0"/>
                <a:ea typeface="Courier New" pitchFamily="34" charset="-122"/>
                <a:cs typeface="Courier New" pitchFamily="34" charset="-120"/>
              </a:rPr>
              <a:t>'0.00001225'</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R[</a:t>
            </a:r>
            <a:r>
              <a:rPr lang="en-US" sz="1000" dirty="0">
                <a:solidFill>
                  <a:srgbClr val="9ECBFF"/>
                </a:solidFill>
                <a:latin typeface="Courier New" pitchFamily="34" charset="0"/>
                <a:ea typeface="Courier New" pitchFamily="34" charset="-122"/>
                <a:cs typeface="Courier New" pitchFamily="34" charset="-120"/>
              </a:rPr>
              <a:t>'units'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'fee_rate_sat_vb_10'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'ok'</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'fee'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q = R[</a:t>
            </a:r>
            <a:r>
              <a:rPr lang="en-US" sz="1000" dirty="0">
                <a:solidFill>
                  <a:srgbClr val="9ECBFF"/>
                </a:solidFill>
                <a:latin typeface="Courier New" pitchFamily="34" charset="0"/>
                <a:ea typeface="Courier New" pitchFamily="34" charset="-122"/>
                <a:cs typeface="Courier New" pitchFamily="34" charset="-120"/>
              </a:rPr>
              <a:t>'units'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'feeRate_btc_kvb_0.0001'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'ok'</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'fee'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p == q</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(rate, a, b, same)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(2.0, 6.57, 1.225,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rate is the fee divided by the virtual size.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Coins per thousand bytes convert to satoshis per byte.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spellings of one rate give one fee: mind the units.</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rates and their units</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737360"/>
                <a:gridCol w="12344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Fee over virtual size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282 / 141 = 2.0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0.00006570 BTC per kvB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6.57 sat/vB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0.00001225 BTC per kvB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1.225 sat/vB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 sat/vB or 0.0001 BTC/kvB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same fee: 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coin-per-kilobyte rate is a hundred thousand times smaller as a number than the same rate in satoshis per byte.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Mixing the units changes the fee by a factor of a hundred thousand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55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Space in a block is limited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block weight limit and a real block</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src = </a:t>
            </a:r>
            <a:r>
              <a:rPr lang="en-US" sz="1000" dirty="0">
                <a:solidFill>
                  <a:srgbClr val="9ECBFF"/>
                </a:solidFill>
                <a:latin typeface="Courier New" pitchFamily="34" charset="0"/>
                <a:ea typeface="Courier New" pitchFamily="34" charset="-122"/>
                <a:cs typeface="Courier New" pitchFamily="34" charset="-120"/>
              </a:rPr>
              <a:t>'core_src_consensus_consensus.h'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limit = int(L.const(src, </a:t>
            </a:r>
            <a:r>
              <a:rPr lang="en-US" sz="1000" dirty="0">
                <a:solidFill>
                  <a:srgbClr val="9ECBFF"/>
                </a:solidFill>
                <a:latin typeface="Courier New" pitchFamily="34" charset="0"/>
                <a:ea typeface="Courier New" pitchFamily="34" charset="-122"/>
                <a:cs typeface="Courier New" pitchFamily="34" charset="-120"/>
              </a:rPr>
              <a:t>'MAX_BLOCK_WEIGHT'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 B[</a:t>
            </a:r>
            <a:r>
              <a:rPr lang="en-US" sz="1000" dirty="0">
                <a:solidFill>
                  <a:srgbClr val="9ECBFF"/>
                </a:solidFill>
                <a:latin typeface="Courier New" pitchFamily="34" charset="0"/>
                <a:ea typeface="Courier New" pitchFamily="34" charset="-122"/>
                <a:cs typeface="Courier New" pitchFamily="34" charset="-120"/>
              </a:rPr>
              <a:t>'840000'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'weight'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 = round(</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w / limit,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limit, share)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(3993281, 4000000, 99.83)</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limit is a consensus constant in the saved source.</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Block 840,000 weighs almost exactly as much as the limit.</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weight units of a block</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Weight units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Limit of a 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 840,000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3,993,281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Room left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6,719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Share of the limit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99.83 percent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block fills 99.83 percent of the 4,000,000 units, so payments compete for room.</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full block makes fee rates compete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55</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minimum relay fee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14 satoshis were not enough for 141 bytes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 list(R[</a:t>
            </a:r>
            <a:r>
              <a:rPr lang="en-US" sz="1000" dirty="0">
                <a:solidFill>
                  <a:srgbClr val="9ECBFF"/>
                </a:solidFill>
                <a:latin typeface="Courier New" pitchFamily="34" charset="0"/>
                <a:ea typeface="Courier New" pitchFamily="34" charset="-122"/>
                <a:cs typeface="Courier New" pitchFamily="34" charset="-120"/>
              </a:rPr>
              <a:t>'minrelay'</a:t>
            </a:r>
            <a:r>
              <a:rPr lang="en-US" sz="1000" dirty="0">
                <a:solidFill>
                  <a:srgbClr val="E6EDF3"/>
                </a:solidFill>
                <a:latin typeface="Courier New" pitchFamily="34" charset="0"/>
                <a:ea typeface="Courier New" pitchFamily="34" charset="-122"/>
                <a:cs typeface="Courier New" pitchFamily="34" charset="-120"/>
              </a:rPr>
              <a:t>].values())[:</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fees = [v[</a:t>
            </a:r>
            <a:r>
              <a:rPr lang="en-US" sz="1000" dirty="0">
                <a:solidFill>
                  <a:srgbClr val="9ECBFF"/>
                </a:solidFill>
                <a:latin typeface="Courier New" pitchFamily="34" charset="0"/>
                <a:ea typeface="Courier New" pitchFamily="34" charset="-122"/>
                <a:cs typeface="Courier New" pitchFamily="34" charset="-120"/>
              </a:rPr>
              <a:t>'fee_sat'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v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m]</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taken = [v[</a:t>
            </a:r>
            <a:r>
              <a:rPr lang="en-US" sz="1000" dirty="0">
                <a:solidFill>
                  <a:srgbClr val="9ECBFF"/>
                </a:solidFill>
                <a:latin typeface="Courier New" pitchFamily="34" charset="0"/>
                <a:ea typeface="Courier New" pitchFamily="34" charset="-122"/>
                <a:cs typeface="Courier New" pitchFamily="34" charset="-120"/>
              </a:rPr>
              <a:t>'result'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'ok'</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'allowed'</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v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m]</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floor = R2[</a:t>
            </a:r>
            <a:r>
              <a:rPr lang="en-US" sz="1000" dirty="0">
                <a:solidFill>
                  <a:srgbClr val="9ECBFF"/>
                </a:solidFill>
                <a:latin typeface="Courier New" pitchFamily="34" charset="0"/>
                <a:ea typeface="Courier New" pitchFamily="34" charset="-122"/>
                <a:cs typeface="Courier New" pitchFamily="34" charset="-120"/>
              </a:rPr>
              <a:t>'mempool_min'</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'minrelaytxfee'</a:t>
            </a:r>
            <a:r>
              <a:rPr lang="en-US" sz="1000" dirty="0">
                <a:solidFill>
                  <a:srgbClr val="E6EDF3"/>
                </a:solidFill>
                <a:latin typeface="Courier New" pitchFamily="34" charset="0"/>
                <a:ea typeface="Courier New" pitchFamily="34" charset="-122"/>
                <a:cs typeface="Courier New" pitchFamily="34" charset="-120"/>
              </a:rPr>
              <a:t>] * 1e8 / </a:t>
            </a:r>
            <a:r>
              <a:rPr lang="en-US" sz="1000" dirty="0">
                <a:solidFill>
                  <a:srgbClr val="FFD28A"/>
                </a:solidFill>
                <a:latin typeface="Courier New" pitchFamily="34" charset="0"/>
                <a:ea typeface="Courier New" pitchFamily="34" charset="-122"/>
                <a:cs typeface="Courier New" pitchFamily="34" charset="-120"/>
              </a:rPr>
              <a:t>1000</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need = int(</a:t>
            </a:r>
            <a:r>
              <a:rPr lang="en-US" sz="1000" dirty="0">
                <a:solidFill>
                  <a:srgbClr val="FFD28A"/>
                </a:solidFill>
                <a:latin typeface="Courier New" pitchFamily="34" charset="0"/>
                <a:ea typeface="Courier New" pitchFamily="34" charset="-122"/>
                <a:cs typeface="Courier New" pitchFamily="34" charset="-120"/>
              </a:rPr>
              <a:t>141</a:t>
            </a:r>
            <a:r>
              <a:rPr lang="en-US" sz="1000" dirty="0">
                <a:solidFill>
                  <a:srgbClr val="E6EDF3"/>
                </a:solidFill>
                <a:latin typeface="Courier New" pitchFamily="34" charset="0"/>
                <a:ea typeface="Courier New" pitchFamily="34" charset="-122"/>
                <a:cs typeface="Courier New" pitchFamily="34" charset="-120"/>
              </a:rPr>
              <a:t> * floor) + </a:t>
            </a:r>
            <a:r>
              <a:rPr lang="en-US" sz="1000" dirty="0">
                <a:solidFill>
                  <a:srgbClr val="FFD28A"/>
                </a:solidFill>
                <a:latin typeface="Courier New" pitchFamily="34" charset="0"/>
                <a:ea typeface="Courier New" pitchFamily="34" charset="-122"/>
                <a:cs typeface="Courier New" pitchFamily="34" charset="-120"/>
              </a:rPr>
              <a:t>1</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(fees, taken, need)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 14, 15], [False, False, True], 15)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payments of 141 bytes, paying 8, 14 and 15 satoshis.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Only the last is taken; the node's floor is 0.1 per byte.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141 bytes at that floor cost 14.1, so 15 is the least.</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fees for 141 virtual bytes</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371600"/>
                <a:gridCol w="16002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Fee, sat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Node says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Floor, sat per byte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At 0.1 satoshi per byte, 141 bytes cost 14.1 satoshis: 15 is the smallest whole fee.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fee below the floor is not relayed, however valid the payment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55</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Dust and the wallet's floor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Outputs too small to be worth spending</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 R2[</a:t>
            </a:r>
            <a:r>
              <a:rPr lang="en-US" sz="1000" dirty="0">
                <a:solidFill>
                  <a:srgbClr val="9ECBFF"/>
                </a:solidFill>
                <a:latin typeface="Courier New" pitchFamily="34" charset="0"/>
                <a:ea typeface="Courier New" pitchFamily="34" charset="-122"/>
                <a:cs typeface="Courier New" pitchFamily="34" charset="-120"/>
              </a:rPr>
              <a:t>'wallet_min'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'fee_rate_0.5'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'fee_rate_0.1'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'fee_rate_1'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wal = [</a:t>
            </a:r>
            <a:r>
              <a:rPr lang="en-US" sz="1000" dirty="0">
                <a:solidFill>
                  <a:srgbClr val="9ECBFF"/>
                </a:solidFill>
                <a:latin typeface="Courier New" pitchFamily="34" charset="0"/>
                <a:ea typeface="Courier New" pitchFamily="34" charset="-122"/>
                <a:cs typeface="Courier New" pitchFamily="34" charset="-120"/>
              </a:rPr>
              <a:t>'ok'</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w[k]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ks]</a:t>
            </a:r>
            <a:endParaRPr lang="en-US" sz="1000" dirty="0"/>
          </a:p>
        </p:txBody>
      </p:sp>
      <p:sp>
        <p:nvSpPr>
          <p:cNvPr id="8" name="Shape 6"/>
          <p:cNvSpPr/>
          <p:nvPr/>
        </p:nvSpPr>
        <p:spPr>
          <a:xfrm>
            <a:off x="457200" y="2287829"/>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98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sz = {</a:t>
            </a:r>
            <a:r>
              <a:rPr lang="en-US" sz="1000" dirty="0">
                <a:solidFill>
                  <a:srgbClr val="9ECBFF"/>
                </a:solidFill>
                <a:latin typeface="Courier New" pitchFamily="34" charset="0"/>
                <a:ea typeface="Courier New" pitchFamily="34" charset="-122"/>
                <a:cs typeface="Courier New" pitchFamily="34" charset="-120"/>
              </a:rPr>
              <a:t>'P2WPKH'</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'P2TR'</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'P2A'</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dust = {k: (n + </a:t>
            </a:r>
            <a:r>
              <a:rPr lang="en-US" sz="1000" dirty="0">
                <a:solidFill>
                  <a:srgbClr val="FFD28A"/>
                </a:solidFill>
                <a:latin typeface="Courier New" pitchFamily="34" charset="0"/>
                <a:ea typeface="Courier New" pitchFamily="34" charset="-122"/>
                <a:cs typeface="Courier New" pitchFamily="34" charset="-120"/>
              </a:rPr>
              <a:t>67</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sz.items()}</a:t>
            </a:r>
            <a:endParaRPr lang="en-US" sz="1000" dirty="0"/>
          </a:p>
        </p:txBody>
      </p:sp>
      <p:sp>
        <p:nvSpPr>
          <p:cNvPr id="10" name="Shape 8"/>
          <p:cNvSpPr/>
          <p:nvPr/>
        </p:nvSpPr>
        <p:spPr>
          <a:xfrm>
            <a:off x="457200" y="3084271"/>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7423"/>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dust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{'P2WPKH': 294, 'P2TR': 330, 'P2A': 240}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wallet refuses 0.5 and 0.1 satoshis per byte, takes 1.</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Dust costs more to spend than it holds: (size + 67) x 3.</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limits in satoshis; the anchor output is smallest.</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dust limit of three output types, satoshis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wallet refused 0.5 and 0.1 satoshis per byte and took 1: refused, refused, accepted.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Wallets keep stricter floors than nodes; dust is a floor on outputs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55</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Fee estimation</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Estimating a fee is guessing the fare from past journeys.</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Estimator mechanics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estimator reads recent blocks to answer for a target.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driver who recalls the usual fare for each hour.</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Fee market</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Two real blocks show how far fee rates can move.</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seat prices at the rush hour and at midnight.</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Who pays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Rates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Estimates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RBF</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CPFP</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Pinning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Sniping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55</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Fee estimation: key concepts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Estimating Appropriate Fee Rates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node learns from past blocks which rate confirmed within a target. Also written: estimating fee rates.</a:t>
            </a:r>
            <a:endParaRPr lang="en-US" sz="1300" dirty="0"/>
          </a:p>
        </p:txBody>
      </p:sp>
      <p:sp>
        <p:nvSpPr>
          <p:cNvPr id="9" name="Text 7"/>
          <p:cNvSpPr txBox="1"/>
          <p:nvPr/>
        </p:nvSpPr>
        <p:spPr>
          <a:xfrm>
            <a:off x="640080" y="216255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taxi driver who knows the usual fare for each hour.</a:t>
            </a:r>
            <a:endParaRPr lang="en-US" sz="1150" dirty="0"/>
          </a:p>
        </p:txBody>
      </p:sp>
      <p:sp>
        <p:nvSpPr>
          <p:cNvPr id="10" name="Shape 8"/>
          <p:cNvSpPr/>
          <p:nvPr/>
        </p:nvSpPr>
        <p:spPr>
          <a:xfrm>
            <a:off x="4645152" y="1280160"/>
            <a:ext cx="4041648"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4663440"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Bitcoin Core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reference node software whose rules and estimator the chapter measures.</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reference clock by which other clocks are set.</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55</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An estimate needs history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new node cannot yet say what a fee should be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R[</a:t>
            </a:r>
            <a:r>
              <a:rPr lang="en-US" sz="1000" dirty="0">
                <a:solidFill>
                  <a:srgbClr val="9ECBFF"/>
                </a:solidFill>
                <a:latin typeface="Courier New" pitchFamily="34" charset="0"/>
                <a:ea typeface="Courier New" pitchFamily="34" charset="-122"/>
                <a:cs typeface="Courier New" pitchFamily="34" charset="-120"/>
              </a:rPr>
              <a:t>'estimate_fresh'</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'ok'</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'errors'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R[</a:t>
            </a:r>
            <a:r>
              <a:rPr lang="en-US" sz="1000" dirty="0">
                <a:solidFill>
                  <a:srgbClr val="9ECBFF"/>
                </a:solidFill>
                <a:latin typeface="Courier New" pitchFamily="34" charset="0"/>
                <a:ea typeface="Courier New" pitchFamily="34" charset="-122"/>
                <a:cs typeface="Courier New" pitchFamily="34" charset="-120"/>
              </a:rPr>
              <a:t>'estimate'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'rounds'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R[</a:t>
            </a:r>
            <a:r>
              <a:rPr lang="en-US" sz="1000" dirty="0">
                <a:solidFill>
                  <a:srgbClr val="9ECBFF"/>
                </a:solidFill>
                <a:latin typeface="Courier New" pitchFamily="34" charset="0"/>
                <a:ea typeface="Courier New" pitchFamily="34" charset="-122"/>
                <a:cs typeface="Courier New" pitchFamily="34" charset="-120"/>
              </a:rPr>
              <a:t>'estimate'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'results'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fr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t: E[f</a:t>
            </a:r>
            <a:r>
              <a:rPr lang="en-US" sz="1000" dirty="0">
                <a:solidFill>
                  <a:srgbClr val="9ECBFF"/>
                </a:solidFill>
                <a:latin typeface="Courier New" pitchFamily="34" charset="0"/>
                <a:ea typeface="Courier New" pitchFamily="34" charset="-122"/>
                <a:cs typeface="Courier New" pitchFamily="34" charset="-120"/>
              </a:rPr>
              <a:t>'{t}_default'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'ok'</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'feerate'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rates = [round(fr(t) * 1e5,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25</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[1.225, 1.173, 1.173]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node with no blocks answers an estimate with an error.</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120 rounds of test traffic it has history to use.</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Estimates for targets of 2, 6 and 25 blocks, in sat per byte.</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estimated fee rate by target, sat per byte</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Before: 'Insufficient data or no feerate found'. After 120 rounds the estimate is about 1.2 satoshis per byte at every target.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estimator answers only from blocks it has seen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55</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How far the estimator can see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target of 144 blocks answered with 60</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R[</a:t>
            </a:r>
            <a:r>
              <a:rPr lang="en-US" sz="1000" dirty="0">
                <a:solidFill>
                  <a:srgbClr val="9ECBFF"/>
                </a:solidFill>
                <a:latin typeface="Courier New" pitchFamily="34" charset="0"/>
                <a:ea typeface="Courier New" pitchFamily="34" charset="-122"/>
                <a:cs typeface="Courier New" pitchFamily="34" charset="-120"/>
              </a:rPr>
              <a:t>'estimate'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'results'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seen = E[</a:t>
            </a:r>
            <a:r>
              <a:rPr lang="en-US" sz="1000" dirty="0">
                <a:solidFill>
                  <a:srgbClr val="9ECBFF"/>
                </a:solidFill>
                <a:latin typeface="Courier New" pitchFamily="34" charset="0"/>
                <a:ea typeface="Courier New" pitchFamily="34" charset="-122"/>
                <a:cs typeface="Courier New" pitchFamily="34" charset="-120"/>
              </a:rPr>
              <a:t>'144_default'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'ok'</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'blocks'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ts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144</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eco = [E[f</a:t>
            </a:r>
            <a:r>
              <a:rPr lang="en-US" sz="1000" dirty="0">
                <a:solidFill>
                  <a:srgbClr val="9ECBFF"/>
                </a:solidFill>
                <a:latin typeface="Courier New" pitchFamily="34" charset="0"/>
                <a:ea typeface="Courier New" pitchFamily="34" charset="-122"/>
                <a:cs typeface="Courier New" pitchFamily="34" charset="-120"/>
              </a:rPr>
              <a:t>'{t}_economical'</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dft = [E[f</a:t>
            </a:r>
            <a:r>
              <a:rPr lang="en-US" sz="1000" dirty="0">
                <a:solidFill>
                  <a:srgbClr val="9ECBFF"/>
                </a:solidFill>
                <a:latin typeface="Courier New" pitchFamily="34" charset="0"/>
                <a:ea typeface="Courier New" pitchFamily="34" charset="-122"/>
                <a:cs typeface="Courier New" pitchFamily="34" charset="-120"/>
              </a:rPr>
              <a:t>'{t}_default'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eco == dft</a:t>
            </a:r>
            <a:endParaRPr lang="en-US" sz="1000" dirty="0"/>
          </a:p>
        </p:txBody>
      </p:sp>
      <p:sp>
        <p:nvSpPr>
          <p:cNvPr id="10" name="Shape 8"/>
          <p:cNvSpPr/>
          <p:nvPr/>
        </p:nvSpPr>
        <p:spPr>
          <a:xfrm>
            <a:off x="457200" y="324886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01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cons = E[</a:t>
            </a:r>
            <a:r>
              <a:rPr lang="en-US" sz="1000" dirty="0">
                <a:solidFill>
                  <a:srgbClr val="9ECBFF"/>
                </a:solidFill>
                <a:latin typeface="Courier New" pitchFamily="34" charset="0"/>
                <a:ea typeface="Courier New" pitchFamily="34" charset="-122"/>
                <a:cs typeface="Courier New" pitchFamily="34" charset="-120"/>
              </a:rPr>
              <a:t>'144_default'</a:t>
            </a:r>
            <a:r>
              <a:rPr lang="en-US" sz="1000" dirty="0">
                <a:solidFill>
                  <a:srgbClr val="E6EDF3"/>
                </a:solidFill>
                <a:latin typeface="Courier New" pitchFamily="34" charset="0"/>
                <a:ea typeface="Courier New" pitchFamily="34" charset="-122"/>
                <a:cs typeface="Courier New" pitchFamily="34" charset="-120"/>
              </a:rPr>
              <a:t>] == E[</a:t>
            </a:r>
            <a:r>
              <a:rPr lang="en-US" sz="1000" dirty="0">
                <a:solidFill>
                  <a:srgbClr val="9ECBFF"/>
                </a:solidFill>
                <a:latin typeface="Courier New" pitchFamily="34" charset="0"/>
                <a:ea typeface="Courier New" pitchFamily="34" charset="-122"/>
                <a:cs typeface="Courier New" pitchFamily="34" charset="-120"/>
              </a:rPr>
              <a:t>'144_conservative'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(seen, same, cons)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(60, True,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target of 144 blocks is answered with the 60 it can see.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default mode gives the economical answer at every target.</a:t>
            </a:r>
            <a:endParaRPr lang="en-US" sz="1050" dirty="0"/>
          </a:p>
        </p:txBody>
      </p:sp>
      <p:sp>
        <p:nvSpPr>
          <p:cNvPr id="18" name="Shape 16"/>
          <p:cNvSpPr/>
          <p:nvPr/>
        </p:nvSpPr>
        <p:spPr>
          <a:xfrm>
            <a:off x="365760" y="317571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571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cautious conservative mode differs at 144 blocks.</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what the estimator answers</a:t>
            </a:r>
            <a:endParaRPr lang="en-US" sz="11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2011680"/>
                <a:gridCol w="9601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Question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Answer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Chain height of the test node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Blocks seen for target 144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60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Default equals economical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Conservative equals default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estimator cannot see beyond its own data: a target of 144 blocks is answered for 60.</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estimator cannot see further than its data; the modes differ in caution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55</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Two blocks, two fee markets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median fee rate of the highest-paying payments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L.census_stats(</a:t>
            </a:r>
            <a:r>
              <a:rPr lang="en-US" sz="1000" dirty="0">
                <a:solidFill>
                  <a:srgbClr val="FFD28A"/>
                </a:solidFill>
                <a:latin typeface="Courier New" pitchFamily="34" charset="0"/>
                <a:ea typeface="Courier New" pitchFamily="34" charset="-122"/>
                <a:cs typeface="Courier New" pitchFamily="34" charset="-120"/>
              </a:rPr>
              <a:t>840000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L.census_stats(</a:t>
            </a:r>
            <a:r>
              <a:rPr lang="en-US" sz="1000" dirty="0">
                <a:solidFill>
                  <a:srgbClr val="FFD28A"/>
                </a:solidFill>
                <a:latin typeface="Courier New" pitchFamily="34" charset="0"/>
                <a:ea typeface="Courier New" pitchFamily="34" charset="-122"/>
                <a:cs typeface="Courier New" pitchFamily="34" charset="-120"/>
              </a:rPr>
              <a:t>971489</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a[</a:t>
            </a:r>
            <a:r>
              <a:rPr lang="en-US" sz="1000" dirty="0">
                <a:solidFill>
                  <a:srgbClr val="9ECBFF"/>
                </a:solidFill>
                <a:latin typeface="Courier New" pitchFamily="34" charset="0"/>
                <a:ea typeface="Courier New" pitchFamily="34" charset="-122"/>
                <a:cs typeface="Courier New" pitchFamily="34" charset="-120"/>
              </a:rPr>
              <a:t>'n'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med = [a[</a:t>
            </a:r>
            <a:r>
              <a:rPr lang="en-US" sz="1000" dirty="0">
                <a:solidFill>
                  <a:srgbClr val="9ECBFF"/>
                </a:solidFill>
                <a:latin typeface="Courier New" pitchFamily="34" charset="0"/>
                <a:ea typeface="Courier New" pitchFamily="34" charset="-122"/>
                <a:cs typeface="Courier New" pitchFamily="34" charset="-120"/>
              </a:rPr>
              <a:t>'median_rate'</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'median_rate'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med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[1436.45, 3.02]</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census holds the 599 best-paying payments of two blocks.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median fee rate fell from over a thousand to three.</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median fee rate, sat per byte</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Among the 599 highest-paying payments of each block, the median rate fell from 1,436.45 to 3.02.</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market moved from over a thousand satoshis per byte to three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55</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Replace by fee (RBF)</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Replacing a payment is raising your bid at an auction.</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Replaceable signal</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sequence number says whether replacement is welcome.</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sticker that says this seat may be swapped.</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Replacement rules</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new copy must pay more than the old one, by a step.</a:t>
            </a:r>
            <a:endParaRPr lang="en-US" sz="1150" dirty="0"/>
          </a:p>
        </p:txBody>
      </p:sp>
      <p:sp>
        <p:nvSpPr>
          <p:cNvPr id="13" name="Text 11"/>
          <p:cNvSpPr txBox="1"/>
          <p:nvPr/>
        </p:nvSpPr>
        <p:spPr>
          <a:xfrm>
            <a:off x="345948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auction bid that must beat the last one by a step.</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Replacement hazards</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Replacements can pay a payee twice or be cycled to cause harm.</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cashed twice because two copies exist.</a:t>
            </a:r>
            <a:endParaRPr lang="en-US" sz="11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Who pays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Rates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Estimates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RBF</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CPFP</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Pinning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Sniping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55</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Replace by fee (RBF): key concepts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Replace By Fee (RBF) Fee Bumping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Send a conflicting copy that pays more, so miners prefer it. Also written: RBF (replace by fee) fee bumping.</a:t>
            </a:r>
            <a:endParaRPr lang="en-US" sz="1300" dirty="0"/>
          </a:p>
        </p:txBody>
      </p:sp>
      <p:sp>
        <p:nvSpPr>
          <p:cNvPr id="9" name="Text 7"/>
          <p:cNvSpPr txBox="1"/>
          <p:nvPr/>
        </p:nvSpPr>
        <p:spPr>
          <a:xfrm>
            <a:off x="640080" y="216255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raising your bid at an auction by at least one step.</a:t>
            </a:r>
            <a:endParaRPr lang="en-US" sz="1150" dirty="0"/>
          </a:p>
        </p:txBody>
      </p:sp>
      <p:sp>
        <p:nvSpPr>
          <p:cNvPr id="10" name="Shape 8"/>
          <p:cNvSpPr/>
          <p:nvPr/>
        </p:nvSpPr>
        <p:spPr>
          <a:xfrm>
            <a:off x="4645152" y="1280160"/>
            <a:ext cx="4041648"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4663440"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BIP 125 opt-in replaceability signal</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input sequence below 0xfffffffe marks a payment as replaceable.</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sticker that says this seat may be swapped.</a:t>
            </a:r>
            <a:endParaRPr lang="en-US" sz="1150" dirty="0"/>
          </a:p>
        </p:txBody>
      </p:sp>
      <p:sp>
        <p:nvSpPr>
          <p:cNvPr id="14" name="Shape 12"/>
          <p:cNvSpPr/>
          <p:nvPr/>
        </p:nvSpPr>
        <p:spPr>
          <a:xfrm>
            <a:off x="457200" y="2747772"/>
            <a:ext cx="4041648" cy="1339596"/>
          </a:xfrm>
          <a:prstGeom prst="roundRect">
            <a:avLst>
              <a:gd name="adj" fmla="val 5461"/>
            </a:avLst>
          </a:prstGeom>
          <a:solidFill>
            <a:srgbClr val="F2ECE1"/>
          </a:solidFill>
          <a:ln w="12700">
            <a:solidFill>
              <a:srgbClr val="DFD6C7"/>
            </a:solidFill>
            <a:prstDash val="solid"/>
          </a:ln>
        </p:spPr>
      </p:sp>
      <p:sp>
        <p:nvSpPr>
          <p:cNvPr id="15" name="Shape 13"/>
          <p:cNvSpPr/>
          <p:nvPr/>
        </p:nvSpPr>
        <p:spPr>
          <a:xfrm>
            <a:off x="475488" y="2875788"/>
            <a:ext cx="64008" cy="1083564"/>
          </a:xfrm>
          <a:prstGeom prst="rect">
            <a:avLst/>
          </a:prstGeom>
          <a:solidFill>
            <a:srgbClr val="D97A14"/>
          </a:solidFill>
          <a:ln w="12700">
            <a:solidFill>
              <a:srgbClr val="D97A14"/>
            </a:solidFill>
            <a:prstDash val="solid"/>
          </a:ln>
        </p:spPr>
      </p:sp>
      <p:sp>
        <p:nvSpPr>
          <p:cNvPr id="16" name="Text 14"/>
          <p:cNvSpPr txBox="1"/>
          <p:nvPr/>
        </p:nvSpPr>
        <p:spPr>
          <a:xfrm>
            <a:off x="640080" y="281178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conflicting transactions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Two payments that spend the same output; only one can be mined.</a:t>
            </a:r>
            <a:endParaRPr lang="en-US" sz="1300" dirty="0"/>
          </a:p>
        </p:txBody>
      </p:sp>
      <p:sp>
        <p:nvSpPr>
          <p:cNvPr id="17" name="Text 15"/>
          <p:cNvSpPr txBox="1"/>
          <p:nvPr/>
        </p:nvSpPr>
        <p:spPr>
          <a:xfrm>
            <a:off x="640080" y="345186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cheques written against the same banknote.</a:t>
            </a:r>
            <a:endParaRPr lang="en-US" sz="1150" dirty="0"/>
          </a:p>
        </p:txBody>
      </p:sp>
      <p:sp>
        <p:nvSpPr>
          <p:cNvPr id="18" name="Shape 16"/>
          <p:cNvSpPr/>
          <p:nvPr/>
        </p:nvSpPr>
        <p:spPr>
          <a:xfrm>
            <a:off x="4645152" y="2747772"/>
            <a:ext cx="4041648" cy="1339596"/>
          </a:xfrm>
          <a:prstGeom prst="roundRect">
            <a:avLst>
              <a:gd name="adj" fmla="val 5461"/>
            </a:avLst>
          </a:prstGeom>
          <a:solidFill>
            <a:srgbClr val="F2ECE1"/>
          </a:solidFill>
          <a:ln w="12700">
            <a:solidFill>
              <a:srgbClr val="DFD6C7"/>
            </a:solidFill>
            <a:prstDash val="solid"/>
          </a:ln>
        </p:spPr>
      </p:sp>
      <p:sp>
        <p:nvSpPr>
          <p:cNvPr id="19" name="Shape 17"/>
          <p:cNvSpPr/>
          <p:nvPr/>
        </p:nvSpPr>
        <p:spPr>
          <a:xfrm>
            <a:off x="4663440" y="2875788"/>
            <a:ext cx="64008" cy="1083564"/>
          </a:xfrm>
          <a:prstGeom prst="rect">
            <a:avLst/>
          </a:prstGeom>
          <a:solidFill>
            <a:srgbClr val="D97A14"/>
          </a:solidFill>
          <a:ln w="12700">
            <a:solidFill>
              <a:srgbClr val="D97A14"/>
            </a:solidFill>
            <a:prstDash val="solid"/>
          </a:ln>
        </p:spPr>
      </p:sp>
      <p:sp>
        <p:nvSpPr>
          <p:cNvPr id="20" name="Text 18"/>
          <p:cNvSpPr txBox="1"/>
          <p:nvPr/>
        </p:nvSpPr>
        <p:spPr>
          <a:xfrm>
            <a:off x="4828032" y="281178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fee bumping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Raising the fee of a waiting payment, by replacement or by a child.</a:t>
            </a:r>
            <a:endParaRPr lang="en-US" sz="1300" dirty="0"/>
          </a:p>
        </p:txBody>
      </p:sp>
      <p:sp>
        <p:nvSpPr>
          <p:cNvPr id="21" name="Text 19"/>
          <p:cNvSpPr txBox="1"/>
          <p:nvPr/>
        </p:nvSpPr>
        <p:spPr>
          <a:xfrm>
            <a:off x="4828032" y="345186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adding stamps to a letter that is stuck in the post.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55</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opt-in replacement signal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BIP 125: a sequence number that invites replacement</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 = L.rbf_signal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flags = [sig([0xfffffffd]), sig([0xfffffffe])]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mixed = sig([0xffffffff, 0xfffffffd])</a:t>
            </a:r>
            <a:endParaRPr lang="en-US" sz="1000" dirty="0"/>
          </a:p>
        </p:txBody>
      </p:sp>
      <p:sp>
        <p:nvSpPr>
          <p:cNvPr id="8" name="Shape 6"/>
          <p:cNvSpPr/>
          <p:nvPr/>
        </p:nvSpPr>
        <p:spPr>
          <a:xfrm>
            <a:off x="457200" y="2287829"/>
            <a:ext cx="5074920" cy="972007"/>
          </a:xfrm>
          <a:prstGeom prst="roundRect">
            <a:avLst>
              <a:gd name="adj" fmla="val 7526"/>
            </a:avLst>
          </a:prstGeom>
          <a:solidFill>
            <a:srgbClr val="23272E"/>
          </a:solidFill>
          <a:ln w="12700">
            <a:solidFill>
              <a:srgbClr val="23272E"/>
            </a:solidFill>
            <a:prstDash val="solid"/>
          </a:ln>
        </p:spPr>
      </p:sp>
      <p:sp>
        <p:nvSpPr>
          <p:cNvPr id="9" name="Text 7"/>
          <p:cNvSpPr txBox="1"/>
          <p:nvPr/>
        </p:nvSpPr>
        <p:spPr>
          <a:xfrm>
            <a:off x="603504" y="2360981"/>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L.census_stats(</a:t>
            </a:r>
            <a:r>
              <a:rPr lang="en-US" sz="1000" dirty="0">
                <a:solidFill>
                  <a:srgbClr val="FFD28A"/>
                </a:solidFill>
                <a:latin typeface="Courier New" pitchFamily="34" charset="0"/>
                <a:ea typeface="Courier New" pitchFamily="34" charset="-122"/>
                <a:cs typeface="Courier New" pitchFamily="34" charset="-120"/>
              </a:rPr>
              <a:t>840000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L.census_stats(</a:t>
            </a:r>
            <a:r>
              <a:rPr lang="en-US" sz="1000" dirty="0">
                <a:solidFill>
                  <a:srgbClr val="FFD28A"/>
                </a:solidFill>
                <a:latin typeface="Courier New" pitchFamily="34" charset="0"/>
                <a:ea typeface="Courier New" pitchFamily="34" charset="-122"/>
                <a:cs typeface="Courier New" pitchFamily="34" charset="-120"/>
              </a:rPr>
              <a:t>971489</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 = [a[</a:t>
            </a:r>
            <a:r>
              <a:rPr lang="en-US" sz="1000" dirty="0">
                <a:solidFill>
                  <a:srgbClr val="9ECBFF"/>
                </a:solidFill>
                <a:latin typeface="Courier New" pitchFamily="34" charset="0"/>
                <a:ea typeface="Courier New" pitchFamily="34" charset="-122"/>
                <a:cs typeface="Courier New" pitchFamily="34" charset="-120"/>
              </a:rPr>
              <a:t>'signal_rbf'</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'signal_rbf'</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(flags, mixed, share)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 True, [485, 273])</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low enough input sequence number signals replaceability.</a:t>
            </a:r>
            <a:endParaRPr lang="en-US" sz="1050" dirty="0"/>
          </a:p>
        </p:txBody>
      </p:sp>
      <p:sp>
        <p:nvSpPr>
          <p:cNvPr id="13" name="Shape 11"/>
          <p:cNvSpPr/>
          <p:nvPr/>
        </p:nvSpPr>
        <p:spPr>
          <a:xfrm>
            <a:off x="365760" y="2214677"/>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28726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Most payments of the halving block signal; fewer later.</a:t>
            </a:r>
            <a:endParaRPr lang="en-US" sz="1050" dirty="0"/>
          </a:p>
        </p:txBody>
      </p:sp>
      <p:sp>
        <p:nvSpPr>
          <p:cNvPr id="16" name="Text 14"/>
          <p:cNvSpPr txBox="1"/>
          <p:nvPr/>
        </p:nvSpPr>
        <p:spPr>
          <a:xfrm>
            <a:off x="457200" y="354330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signal and its use</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Input sequence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Replaceable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0xfffffffd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0xfffffffe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0xffffffff with 0xfffffffd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Signalling, block 840,000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485 of 599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Signalling, block 971,489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273 of 599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One low sequence number is enough to signal, and fewer payments signal in the later block.</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Any input with a sequence below 0xfffffffe signals replaceability</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55</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replacement must pay enough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conflicting copies of one 564-satoshi payment</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 = R[</a:t>
            </a:r>
            <a:r>
              <a:rPr lang="en-US" sz="1000" dirty="0">
                <a:solidFill>
                  <a:srgbClr val="9ECBFF"/>
                </a:solidFill>
                <a:latin typeface="Courier New" pitchFamily="34" charset="0"/>
                <a:ea typeface="Courier New" pitchFamily="34" charset="-122"/>
                <a:cs typeface="Courier New" pitchFamily="34" charset="-120"/>
              </a:rPr>
              <a:t>'rbf'</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'lower_fee'</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'equal_fee'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9ECBFF"/>
                </a:solidFill>
                <a:latin typeface="Courier New" pitchFamily="34" charset="0"/>
                <a:ea typeface="Courier New" pitchFamily="34" charset="-122"/>
                <a:cs typeface="Courier New" pitchFamily="34" charset="-120"/>
              </a:rPr>
              <a:t>'short_by_one'</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'exactly_enough'</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98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fees = [X[k][</a:t>
            </a:r>
            <a:r>
              <a:rPr lang="en-US" sz="1000" dirty="0">
                <a:solidFill>
                  <a:srgbClr val="9ECBFF"/>
                </a:solidFill>
                <a:latin typeface="Courier New" pitchFamily="34" charset="0"/>
                <a:ea typeface="Courier New" pitchFamily="34" charset="-122"/>
                <a:cs typeface="Courier New" pitchFamily="34" charset="-120"/>
              </a:rPr>
              <a:t>'fee_sat'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taken = [</a:t>
            </a:r>
            <a:r>
              <a:rPr lang="en-US" sz="1000" dirty="0">
                <a:solidFill>
                  <a:srgbClr val="9ECBFF"/>
                </a:solidFill>
                <a:latin typeface="Courier New" pitchFamily="34" charset="0"/>
                <a:ea typeface="Courier New" pitchFamily="34" charset="-122"/>
                <a:cs typeface="Courier New" pitchFamily="34" charset="-120"/>
              </a:rPr>
              <a:t>'ok'</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X[k][</a:t>
            </a:r>
            <a:r>
              <a:rPr lang="en-US" sz="1000" dirty="0">
                <a:solidFill>
                  <a:srgbClr val="9ECBFF"/>
                </a:solidFill>
                <a:latin typeface="Courier New" pitchFamily="34" charset="0"/>
                <a:ea typeface="Courier New" pitchFamily="34" charset="-122"/>
                <a:cs typeface="Courier New" pitchFamily="34" charset="-120"/>
              </a:rPr>
              <a:t>'result'</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ks]</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need = L.min_replacement_fee(</a:t>
            </a:r>
            <a:r>
              <a:rPr lang="en-US" sz="1000" dirty="0">
                <a:solidFill>
                  <a:srgbClr val="FFD28A"/>
                </a:solidFill>
                <a:latin typeface="Courier New" pitchFamily="34" charset="0"/>
                <a:ea typeface="Courier New" pitchFamily="34" charset="-122"/>
                <a:cs typeface="Courier New" pitchFamily="34" charset="-120"/>
              </a:rPr>
              <a:t>564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141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(fees, taken)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([514, 564, 578, 579], [False, False, False,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payment of 564 satoshis meets four conflicting copies.</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copy has its own fee; the node accepts or refuses.</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Rule: old fee plus new size at the incremental rate.</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copies of a 564-satoshi payment</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371600"/>
                <a:gridCol w="16002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Fee, sat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Node says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514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564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578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579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Needed, sat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579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old fee plus the new size at the incremental rate: 579 pass, 578 do not.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Pay the old fee plus the new size at the incremental rate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55</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Full replacement is the default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payment that never signalled is replaced</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 = R[</a:t>
            </a:r>
            <a:r>
              <a:rPr lang="en-US" sz="1000" dirty="0">
                <a:solidFill>
                  <a:srgbClr val="9ECBFF"/>
                </a:solidFill>
                <a:latin typeface="Courier New" pitchFamily="34" charset="0"/>
                <a:ea typeface="Courier New" pitchFamily="34" charset="-122"/>
                <a:cs typeface="Courier New" pitchFamily="34" charset="-120"/>
              </a:rPr>
              <a:t>'rbf'</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seq = x[</a:t>
            </a:r>
            <a:r>
              <a:rPr lang="en-US" sz="1000" dirty="0">
                <a:solidFill>
                  <a:srgbClr val="9ECBFF"/>
                </a:solidFill>
                <a:latin typeface="Courier New" pitchFamily="34" charset="0"/>
                <a:ea typeface="Courier New" pitchFamily="34" charset="-122"/>
                <a:cs typeface="Courier New" pitchFamily="34" charset="-120"/>
              </a:rPr>
              <a:t>'t1'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'sequence'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full = x[</a:t>
            </a:r>
            <a:r>
              <a:rPr lang="en-US" sz="1000" dirty="0">
                <a:solidFill>
                  <a:srgbClr val="9ECBFF"/>
                </a:solidFill>
                <a:latin typeface="Courier New" pitchFamily="34" charset="0"/>
                <a:ea typeface="Courier New" pitchFamily="34" charset="-122"/>
                <a:cs typeface="Courier New" pitchFamily="34" charset="-120"/>
              </a:rPr>
              <a:t>'fullrbf_flag'</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swapped = </a:t>
            </a:r>
            <a:r>
              <a:rPr lang="en-US" sz="1000" dirty="0">
                <a:solidFill>
                  <a:srgbClr val="9ECBFF"/>
                </a:solidFill>
                <a:latin typeface="Courier New" pitchFamily="34" charset="0"/>
                <a:ea typeface="Courier New" pitchFamily="34" charset="-122"/>
                <a:cs typeface="Courier New" pitchFamily="34" charset="-120"/>
              </a:rPr>
              <a:t>'ok'</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x[</a:t>
            </a:r>
            <a:r>
              <a:rPr lang="en-US" sz="1000" dirty="0">
                <a:solidFill>
                  <a:srgbClr val="9ECBFF"/>
                </a:solidFill>
                <a:latin typeface="Courier New" pitchFamily="34" charset="0"/>
                <a:ea typeface="Courier New" pitchFamily="34" charset="-122"/>
                <a:cs typeface="Courier New" pitchFamily="34" charset="-120"/>
              </a:rPr>
              <a:t>'t2'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'result'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 = R2[</a:t>
            </a:r>
            <a:r>
              <a:rPr lang="en-US" sz="1000" dirty="0">
                <a:solidFill>
                  <a:srgbClr val="9ECBFF"/>
                </a:solidFill>
                <a:latin typeface="Courier New" pitchFamily="34" charset="0"/>
                <a:ea typeface="Courier New" pitchFamily="34" charset="-122"/>
                <a:cs typeface="Courier New" pitchFamily="34" charset="-120"/>
              </a:rPr>
              <a:t>'removed_option'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 = o[</a:t>
            </a:r>
            <a:r>
              <a:rPr lang="en-US" sz="1000" dirty="0">
                <a:solidFill>
                  <a:srgbClr val="9ECBFF"/>
                </a:solidFill>
                <a:latin typeface="Courier New" pitchFamily="34" charset="0"/>
                <a:ea typeface="Courier New" pitchFamily="34" charset="-122"/>
                <a:cs typeface="Courier New" pitchFamily="34" charset="-120"/>
              </a:rPr>
              <a:t>'message'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gone = (o[</a:t>
            </a:r>
            <a:r>
              <a:rPr lang="en-US" sz="1000" dirty="0">
                <a:solidFill>
                  <a:srgbClr val="9ECBFF"/>
                </a:solidFill>
                <a:latin typeface="Courier New" pitchFamily="34" charset="0"/>
                <a:ea typeface="Courier New" pitchFamily="34" charset="-122"/>
                <a:cs typeface="Courier New" pitchFamily="34" charset="-120"/>
              </a:rPr>
              <a:t>'exit_code'</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'mempoolfullrbf=0'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m)</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(full, seq, swapped, gone)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4294967295, True, (1,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first payment has a final sequence: it never signalled.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Yet a conflicting payment replaced it: full replacement is on.</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switch to turn that off was removed in 29.0.</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payment that never signalled</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920240"/>
                <a:gridCol w="10515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Sequence of the first payment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0xffffffff</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Node runs full replacement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Conflicting payment replaced it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Option switched off</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exit code 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payment without a signal was replaced, and the switch that turned this off is gone.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Bitcoin Core 31.1 replaces without a signal and has no switch to stop it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55</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node that only listens to replacements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Peter Todd's build, 12 December 2022</a:t>
            </a:r>
            <a:endParaRPr lang="en-US" sz="1300" dirty="0"/>
          </a:p>
        </p:txBody>
      </p:sp>
      <p:pic>
        <p:nvPicPr>
          <p:cNvPr id="6" name="Image 0" descr="../../03-materials/ch09/assets/photo_bitcoin_namecoin_accepted_here_sign.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Accepted Here sign - ninjarobot, CC0,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12 December 2022 Peter Todd posted a build of Bitcoin Core 24.0.1 that carries Antoine Riard's full-rbf peering code.</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Release 24.0.1 had added the option mempoolfullrbf, off by default, so only payments that signalled could be replaced.</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build advertises a FULL_RBF service bit and connects to four more nodes that do the same, so replacements travel reliably.</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Bitcoin Core 28.0 made full replacement the default and 29.0 removed the option, as the previous slide ran.</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an accepted-here sign, not the post</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Peter Todd, A. Riard</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bitcoin-dev list</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2022-12-12</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Peter Todd: Full-RBF Peering (post)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mirror.b10c.me</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55</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Paying the payee twice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Three versions of one payment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 = R2[</a:t>
            </a:r>
            <a:r>
              <a:rPr lang="en-US" sz="1000" dirty="0">
                <a:solidFill>
                  <a:srgbClr val="9ECBFF"/>
                </a:solidFill>
                <a:latin typeface="Courier New" pitchFamily="34" charset="0"/>
                <a:ea typeface="Courier New" pitchFamily="34" charset="-122"/>
                <a:cs typeface="Courier New" pitchFamily="34" charset="-120"/>
              </a:rPr>
              <a:t>'hazard'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 = h[</a:t>
            </a:r>
            <a:r>
              <a:rPr lang="en-US" sz="1000" dirty="0">
                <a:solidFill>
                  <a:srgbClr val="9ECBFF"/>
                </a:solidFill>
                <a:latin typeface="Courier New" pitchFamily="34" charset="0"/>
                <a:ea typeface="Courier New" pitchFamily="34" charset="-122"/>
                <a:cs typeface="Courier New" pitchFamily="34" charset="-120"/>
              </a:rPr>
              <a:t>'inputs'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c01 = L.conflict(i[</a:t>
            </a:r>
            <a:r>
              <a:rPr lang="en-US" sz="1000" dirty="0">
                <a:solidFill>
                  <a:srgbClr val="9ECBFF"/>
                </a:solidFill>
                <a:latin typeface="Courier New" pitchFamily="34" charset="0"/>
                <a:ea typeface="Courier New" pitchFamily="34" charset="-122"/>
                <a:cs typeface="Courier New" pitchFamily="34" charset="-120"/>
              </a:rPr>
              <a:t>'v0'</a:t>
            </a:r>
            <a:r>
              <a:rPr lang="en-US" sz="1000" dirty="0">
                <a:solidFill>
                  <a:srgbClr val="E6EDF3"/>
                </a:solidFill>
                <a:latin typeface="Courier New" pitchFamily="34" charset="0"/>
                <a:ea typeface="Courier New" pitchFamily="34" charset="-122"/>
                <a:cs typeface="Courier New" pitchFamily="34" charset="-120"/>
              </a:rPr>
              <a:t>], i[</a:t>
            </a:r>
            <a:r>
              <a:rPr lang="en-US" sz="1000" dirty="0">
                <a:solidFill>
                  <a:srgbClr val="9ECBFF"/>
                </a:solidFill>
                <a:latin typeface="Courier New" pitchFamily="34" charset="0"/>
                <a:ea typeface="Courier New" pitchFamily="34" charset="-122"/>
                <a:cs typeface="Courier New" pitchFamily="34" charset="-120"/>
              </a:rPr>
              <a:t>'v1'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c12 = L.conflict(i[</a:t>
            </a:r>
            <a:r>
              <a:rPr lang="en-US" sz="1000" dirty="0">
                <a:solidFill>
                  <a:srgbClr val="9ECBFF"/>
                </a:solidFill>
                <a:latin typeface="Courier New" pitchFamily="34" charset="0"/>
                <a:ea typeface="Courier New" pitchFamily="34" charset="-122"/>
                <a:cs typeface="Courier New" pitchFamily="34" charset="-120"/>
              </a:rPr>
              <a:t>'v1'</a:t>
            </a:r>
            <a:r>
              <a:rPr lang="en-US" sz="1000" dirty="0">
                <a:solidFill>
                  <a:srgbClr val="E6EDF3"/>
                </a:solidFill>
                <a:latin typeface="Courier New" pitchFamily="34" charset="0"/>
                <a:ea typeface="Courier New" pitchFamily="34" charset="-122"/>
                <a:cs typeface="Courier New" pitchFamily="34" charset="-120"/>
              </a:rPr>
              <a:t>], i[</a:t>
            </a:r>
            <a:r>
              <a:rPr lang="en-US" sz="1000" dirty="0">
                <a:solidFill>
                  <a:srgbClr val="9ECBFF"/>
                </a:solidFill>
                <a:latin typeface="Courier New" pitchFamily="34" charset="0"/>
                <a:ea typeface="Courier New" pitchFamily="34" charset="-122"/>
                <a:cs typeface="Courier New" pitchFamily="34" charset="-120"/>
              </a:rPr>
              <a:t>'v2'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c02 = L.conflict(i[</a:t>
            </a:r>
            <a:r>
              <a:rPr lang="en-US" sz="1000" dirty="0">
                <a:solidFill>
                  <a:srgbClr val="9ECBFF"/>
                </a:solidFill>
                <a:latin typeface="Courier New" pitchFamily="34" charset="0"/>
                <a:ea typeface="Courier New" pitchFamily="34" charset="-122"/>
                <a:cs typeface="Courier New" pitchFamily="34" charset="-120"/>
              </a:rPr>
              <a:t>'v0'</a:t>
            </a:r>
            <a:r>
              <a:rPr lang="en-US" sz="1000" dirty="0">
                <a:solidFill>
                  <a:srgbClr val="E6EDF3"/>
                </a:solidFill>
                <a:latin typeface="Courier New" pitchFamily="34" charset="0"/>
                <a:ea typeface="Courier New" pitchFamily="34" charset="-122"/>
                <a:cs typeface="Courier New" pitchFamily="34" charset="-120"/>
              </a:rPr>
              <a:t>], i[</a:t>
            </a:r>
            <a:r>
              <a:rPr lang="en-US" sz="1000" dirty="0">
                <a:solidFill>
                  <a:srgbClr val="9ECBFF"/>
                </a:solidFill>
                <a:latin typeface="Courier New" pitchFamily="34" charset="0"/>
                <a:ea typeface="Courier New" pitchFamily="34" charset="-122"/>
                <a:cs typeface="Courier New" pitchFamily="34" charset="-120"/>
              </a:rPr>
              <a:t>'v2'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15742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asked = h[</a:t>
            </a:r>
            <a:r>
              <a:rPr lang="en-US" sz="1000" dirty="0">
                <a:solidFill>
                  <a:srgbClr val="9ECBFF"/>
                </a:solidFill>
                <a:latin typeface="Courier New" pitchFamily="34" charset="0"/>
                <a:ea typeface="Courier New" pitchFamily="34" charset="-122"/>
                <a:cs typeface="Courier New" pitchFamily="34" charset="-120"/>
              </a:rPr>
              <a:t>'payee_asked_sat'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got = h[</a:t>
            </a:r>
            <a:r>
              <a:rPr lang="en-US" sz="1000" dirty="0">
                <a:solidFill>
                  <a:srgbClr val="9ECBFF"/>
                </a:solidFill>
                <a:latin typeface="Courier New" pitchFamily="34" charset="0"/>
                <a:ea typeface="Courier New" pitchFamily="34" charset="-122"/>
                <a:cs typeface="Courier New" pitchFamily="34" charset="-120"/>
              </a:rPr>
              <a:t>'payee_received_sat'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(asked, got, [c01, c12, c02])</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(40000000, 80000000, [True, True,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versions of one payment, each replacing the last.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Versions 0 and 1 conflict, 1 and 2 conflict, 0 and 2 do not.</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So 0 and 2 can both be mined: the payee is paid twice.</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payee's amount, satoshis</a:t>
            </a:r>
            <a:endParaRPr lang="en-US" sz="1100" dirty="0"/>
          </a:p>
        </p:txBody>
      </p:sp>
      <p:graphicFrame>
        <p:nvGraphicFramePr>
          <p:cNvPr id="23" name="Chart 0" descr=""/>
          <p:cNvGraphicFramePr/>
          <p:nvPr/>
        </p:nvGraphicFramePr>
        <p:xfrm>
          <a:off x="5715000" y="159105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Versions 0 and 2 do not conflict (no): both were mined and the payee got double.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Replacing is not undoing: an old version may still be mined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55</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Policy or consensus?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a payment can be valid and still not be relayed</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Consensus decides what is valid</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Every node must agree, or the chain splits.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The block weight limit is one such rule.</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A change needs a soft or hard fork.</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Policy decides what is relayed</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Each node may choose its own rules.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Relay floor, replacement rules, TRUC and cluster limits are policy.</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A change needs only a new release.</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Policy can change with a release; consensus changes only by a fork</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55</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Child pays for parent (CPFP)</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child pays for its parent, like a friend who covers your fare.</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Packages and mining</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Miners price a parent and its child together.</a:t>
            </a:r>
            <a:endParaRPr lang="en-US" sz="1150" dirty="0"/>
          </a:p>
        </p:txBody>
      </p:sp>
      <p:sp>
        <p:nvSpPr>
          <p:cNvPr id="9" name="Text 7"/>
          <p:cNvSpPr txBox="1"/>
          <p:nvPr/>
        </p:nvSpPr>
        <p:spPr>
          <a:xfrm>
            <a:off x="77724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shopper who buys the bundle with the best price per item.</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Package relay</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Nodes accept a pair that a single payment could not be.</a:t>
            </a:r>
            <a:endParaRPr lang="en-US" sz="1150" dirty="0"/>
          </a:p>
        </p:txBody>
      </p:sp>
      <p:sp>
        <p:nvSpPr>
          <p:cNvPr id="13" name="Text 11"/>
          <p:cNvSpPr txBox="1"/>
          <p:nvPr/>
        </p:nvSpPr>
        <p:spPr>
          <a:xfrm>
            <a:off x="345948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gate that admits a pair who pay the entry together.</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Cluster mempool</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Connected payments are grouped and ordered as one cluster.</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timetable that sorts linked carriages together.</a:t>
            </a:r>
            <a:endParaRPr lang="en-US" sz="115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Who pays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Rates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Estimates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RBF</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CPFP</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Pinning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Sniping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55</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Child pays for parent (CPFP): key concepts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486814"/>
          </a:xfrm>
          <a:prstGeom prst="roundRect">
            <a:avLst>
              <a:gd name="adj" fmla="val 4920"/>
            </a:avLst>
          </a:prstGeom>
          <a:solidFill>
            <a:srgbClr val="F2ECE1"/>
          </a:solidFill>
          <a:ln w="12700">
            <a:solidFill>
              <a:srgbClr val="DFD6C7"/>
            </a:solidFill>
            <a:prstDash val="solid"/>
          </a:ln>
        </p:spPr>
      </p:sp>
      <p:sp>
        <p:nvSpPr>
          <p:cNvPr id="7" name="Shape 5"/>
          <p:cNvSpPr/>
          <p:nvPr/>
        </p:nvSpPr>
        <p:spPr>
          <a:xfrm>
            <a:off x="475488" y="1408176"/>
            <a:ext cx="64008" cy="1230782"/>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953719"/>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Child Pays for Parent (CPFP) Fee Bumping</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A child spends the parent's output and pays enough for both. Also written: CPFP (child pays for parent) fee bumping.</a:t>
            </a:r>
            <a:endParaRPr lang="en-US" sz="1250" dirty="0"/>
          </a:p>
        </p:txBody>
      </p:sp>
      <p:sp>
        <p:nvSpPr>
          <p:cNvPr id="9" name="Text 7"/>
          <p:cNvSpPr txBox="1"/>
          <p:nvPr/>
        </p:nvSpPr>
        <p:spPr>
          <a:xfrm>
            <a:off x="640080" y="2325319"/>
            <a:ext cx="3767328"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friend who pays your fare together with his own.</a:t>
            </a:r>
            <a:endParaRPr lang="en-US" sz="1100" dirty="0"/>
          </a:p>
        </p:txBody>
      </p:sp>
      <p:sp>
        <p:nvSpPr>
          <p:cNvPr id="10" name="Shape 8"/>
          <p:cNvSpPr/>
          <p:nvPr/>
        </p:nvSpPr>
        <p:spPr>
          <a:xfrm>
            <a:off x="4645152" y="1280160"/>
            <a:ext cx="4041648" cy="1486814"/>
          </a:xfrm>
          <a:prstGeom prst="roundRect">
            <a:avLst>
              <a:gd name="adj" fmla="val 4920"/>
            </a:avLst>
          </a:prstGeom>
          <a:solidFill>
            <a:srgbClr val="F2ECE1"/>
          </a:solidFill>
          <a:ln w="12700">
            <a:solidFill>
              <a:srgbClr val="DFD6C7"/>
            </a:solidFill>
            <a:prstDash val="solid"/>
          </a:ln>
        </p:spPr>
      </p:sp>
      <p:sp>
        <p:nvSpPr>
          <p:cNvPr id="11" name="Shape 9"/>
          <p:cNvSpPr/>
          <p:nvPr/>
        </p:nvSpPr>
        <p:spPr>
          <a:xfrm>
            <a:off x="4663440" y="1408176"/>
            <a:ext cx="64008" cy="1230782"/>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589788"/>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Package Relay</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Nodes judge a parent and its child together, not one by one.</a:t>
            </a:r>
            <a:endParaRPr lang="en-US" sz="1250" dirty="0"/>
          </a:p>
        </p:txBody>
      </p:sp>
      <p:sp>
        <p:nvSpPr>
          <p:cNvPr id="13" name="Text 11"/>
          <p:cNvSpPr txBox="1"/>
          <p:nvPr/>
        </p:nvSpPr>
        <p:spPr>
          <a:xfrm>
            <a:off x="4828032" y="1961388"/>
            <a:ext cx="3767328"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gate that admits a pair when the pair pays the entry.</a:t>
            </a:r>
            <a:endParaRPr lang="en-US" sz="1100" dirty="0"/>
          </a:p>
        </p:txBody>
      </p:sp>
      <p:sp>
        <p:nvSpPr>
          <p:cNvPr id="14" name="Shape 12"/>
          <p:cNvSpPr/>
          <p:nvPr/>
        </p:nvSpPr>
        <p:spPr>
          <a:xfrm>
            <a:off x="457200" y="2894990"/>
            <a:ext cx="4041648" cy="1486814"/>
          </a:xfrm>
          <a:prstGeom prst="roundRect">
            <a:avLst>
              <a:gd name="adj" fmla="val 4920"/>
            </a:avLst>
          </a:prstGeom>
          <a:solidFill>
            <a:srgbClr val="F2ECE1"/>
          </a:solidFill>
          <a:ln w="12700">
            <a:solidFill>
              <a:srgbClr val="DFD6C7"/>
            </a:solidFill>
            <a:prstDash val="solid"/>
          </a:ln>
        </p:spPr>
      </p:sp>
      <p:sp>
        <p:nvSpPr>
          <p:cNvPr id="15" name="Shape 13"/>
          <p:cNvSpPr/>
          <p:nvPr/>
        </p:nvSpPr>
        <p:spPr>
          <a:xfrm>
            <a:off x="475488" y="3023006"/>
            <a:ext cx="64008" cy="1230782"/>
          </a:xfrm>
          <a:prstGeom prst="rect">
            <a:avLst/>
          </a:prstGeom>
          <a:solidFill>
            <a:srgbClr val="D97A14"/>
          </a:solidFill>
          <a:ln w="12700">
            <a:solidFill>
              <a:srgbClr val="D97A14"/>
            </a:solidFill>
            <a:prstDash val="solid"/>
          </a:ln>
        </p:spPr>
      </p:sp>
      <p:sp>
        <p:nvSpPr>
          <p:cNvPr id="16" name="Text 14"/>
          <p:cNvSpPr txBox="1"/>
          <p:nvPr/>
        </p:nvSpPr>
        <p:spPr>
          <a:xfrm>
            <a:off x="640080" y="2958998"/>
            <a:ext cx="3767328" cy="589788"/>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package fee rate</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The pair's total fee over its total virtual size.</a:t>
            </a:r>
            <a:endParaRPr lang="en-US" sz="1250" dirty="0"/>
          </a:p>
        </p:txBody>
      </p:sp>
      <p:sp>
        <p:nvSpPr>
          <p:cNvPr id="17" name="Text 15"/>
          <p:cNvSpPr txBox="1"/>
          <p:nvPr/>
        </p:nvSpPr>
        <p:spPr>
          <a:xfrm>
            <a:off x="640080" y="3576218"/>
            <a:ext cx="3767328"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price per kilo of a parcel and its box together.</a:t>
            </a:r>
            <a:endParaRPr lang="en-US" sz="1100" dirty="0"/>
          </a:p>
        </p:txBody>
      </p:sp>
      <p:sp>
        <p:nvSpPr>
          <p:cNvPr id="18" name="Shape 16"/>
          <p:cNvSpPr/>
          <p:nvPr/>
        </p:nvSpPr>
        <p:spPr>
          <a:xfrm>
            <a:off x="4645152" y="2894990"/>
            <a:ext cx="4041648" cy="1486814"/>
          </a:xfrm>
          <a:prstGeom prst="roundRect">
            <a:avLst>
              <a:gd name="adj" fmla="val 4920"/>
            </a:avLst>
          </a:prstGeom>
          <a:solidFill>
            <a:srgbClr val="F2ECE1"/>
          </a:solidFill>
          <a:ln w="12700">
            <a:solidFill>
              <a:srgbClr val="DFD6C7"/>
            </a:solidFill>
            <a:prstDash val="solid"/>
          </a:ln>
        </p:spPr>
      </p:sp>
      <p:sp>
        <p:nvSpPr>
          <p:cNvPr id="19" name="Shape 17"/>
          <p:cNvSpPr/>
          <p:nvPr/>
        </p:nvSpPr>
        <p:spPr>
          <a:xfrm>
            <a:off x="4663440" y="3023006"/>
            <a:ext cx="64008" cy="1230782"/>
          </a:xfrm>
          <a:prstGeom prst="rect">
            <a:avLst/>
          </a:prstGeom>
          <a:solidFill>
            <a:srgbClr val="D97A14"/>
          </a:solidFill>
          <a:ln w="12700">
            <a:solidFill>
              <a:srgbClr val="D97A14"/>
            </a:solidFill>
            <a:prstDash val="solid"/>
          </a:ln>
        </p:spPr>
      </p:sp>
      <p:sp>
        <p:nvSpPr>
          <p:cNvPr id="20" name="Text 18"/>
          <p:cNvSpPr txBox="1"/>
          <p:nvPr/>
        </p:nvSpPr>
        <p:spPr>
          <a:xfrm>
            <a:off x="4828032" y="2958998"/>
            <a:ext cx="3767328" cy="589788"/>
          </a:xfrm>
          <a:prstGeom prst="rect">
            <a:avLst/>
          </a:prstGeom>
          <a:noFill/>
          <a:ln/>
        </p:spPr>
        <p:txBody>
          <a:bodyPr wrap="square" lIns="0" tIns="0" rIns="0" bIns="0" rtlCol="0" anchor="t"/>
          <a:lstStyle/>
          <a:p>
            <a:pPr indent="0" marL="0">
              <a:spcAft>
                <a:spcPts val="200"/>
              </a:spcAft>
              <a:buNone/>
            </a:pPr>
            <a:r>
              <a:rPr lang="en-US" sz="1250" b="1" dirty="0">
                <a:solidFill>
                  <a:srgbClr val="2B2622"/>
                </a:solidFill>
                <a:latin typeface="Cambria" pitchFamily="34" charset="0"/>
                <a:ea typeface="Cambria" pitchFamily="34" charset="-122"/>
                <a:cs typeface="Cambria" pitchFamily="34" charset="-120"/>
              </a:rPr>
              <a:t>ancestor fee rate mining</a:t>
            </a:r>
            <a:endParaRPr lang="en-US" sz="1250" dirty="0"/>
          </a:p>
          <a:p>
            <a:pPr indent="0" marL="0">
              <a:spcAft>
                <a:spcPts val="200"/>
              </a:spcAft>
              <a:buNone/>
            </a:pPr>
            <a:r>
              <a:rPr lang="en-US" sz="1100" dirty="0">
                <a:solidFill>
                  <a:srgbClr val="2B2622"/>
                </a:solidFill>
                <a:latin typeface="Calibri" pitchFamily="34" charset="0"/>
                <a:ea typeface="Calibri" pitchFamily="34" charset="-122"/>
                <a:cs typeface="Calibri" pitchFamily="34" charset="-120"/>
              </a:rPr>
              <a:t>Miners pick a payment with the ancestors it needs, by their joint rate.</a:t>
            </a:r>
            <a:endParaRPr lang="en-US" sz="1250" dirty="0"/>
          </a:p>
        </p:txBody>
      </p:sp>
      <p:sp>
        <p:nvSpPr>
          <p:cNvPr id="21" name="Text 19"/>
          <p:cNvSpPr txBox="1"/>
          <p:nvPr/>
        </p:nvSpPr>
        <p:spPr>
          <a:xfrm>
            <a:off x="4828032" y="3576218"/>
            <a:ext cx="3767328"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shopper who buys the bundle because it is cheapest per item.</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55</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child lifts its parent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Child pays for parent, measured in a block</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 R[</a:t>
            </a:r>
            <a:r>
              <a:rPr lang="en-US" sz="1000" dirty="0">
                <a:solidFill>
                  <a:srgbClr val="9ECBFF"/>
                </a:solidFill>
                <a:latin typeface="Courier New" pitchFamily="34" charset="0"/>
                <a:ea typeface="Courier New" pitchFamily="34" charset="-122"/>
                <a:cs typeface="Courier New" pitchFamily="34" charset="-120"/>
              </a:rPr>
              <a:t>'ancestor_mining'</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'cpfp_wins'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 w[</a:t>
            </a:r>
            <a:r>
              <a:rPr lang="en-US" sz="1000" dirty="0">
                <a:solidFill>
                  <a:srgbClr val="9ECBFF"/>
                </a:solidFill>
                <a:latin typeface="Courier New" pitchFamily="34" charset="0"/>
                <a:ea typeface="Courier New" pitchFamily="34" charset="-122"/>
                <a:cs typeface="Courier New" pitchFamily="34" charset="-120"/>
              </a:rPr>
              <a:t>'mempoolentries'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 = w[</a:t>
            </a:r>
            <a:r>
              <a:rPr lang="en-US" sz="1000" dirty="0">
                <a:solidFill>
                  <a:srgbClr val="9ECBFF"/>
                </a:solidFill>
                <a:latin typeface="Courier New" pitchFamily="34" charset="0"/>
                <a:ea typeface="Courier New" pitchFamily="34" charset="-122"/>
                <a:cs typeface="Courier New" pitchFamily="34" charset="-120"/>
              </a:rPr>
              <a:t>'fees_sat'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981"/>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rate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k: fee[k] / E[k][</a:t>
            </a:r>
            <a:r>
              <a:rPr lang="en-US" sz="1000" dirty="0">
                <a:solidFill>
                  <a:srgbClr val="9ECBFF"/>
                </a:solidFill>
                <a:latin typeface="Courier New" pitchFamily="34" charset="0"/>
                <a:ea typeface="Courier New" pitchFamily="34" charset="-122"/>
                <a:cs typeface="Courier New" pitchFamily="34" charset="-120"/>
              </a:rPr>
              <a:t>'vsize'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 [rate(</a:t>
            </a:r>
            <a:r>
              <a:rPr lang="en-US" sz="1000" dirty="0">
                <a:solidFill>
                  <a:srgbClr val="9ECBFF"/>
                </a:solidFill>
                <a:latin typeface="Courier New" pitchFamily="34" charset="0"/>
                <a:ea typeface="Courier New" pitchFamily="34" charset="-122"/>
                <a:cs typeface="Courier New" pitchFamily="34" charset="-120"/>
              </a:rPr>
              <a:t>'P'</a:t>
            </a:r>
            <a:r>
              <a:rPr lang="en-US" sz="1000" dirty="0">
                <a:solidFill>
                  <a:srgbClr val="E6EDF3"/>
                </a:solidFill>
                <a:latin typeface="Courier New" pitchFamily="34" charset="0"/>
                <a:ea typeface="Courier New" pitchFamily="34" charset="-122"/>
                <a:cs typeface="Courier New" pitchFamily="34" charset="-120"/>
              </a:rPr>
              <a:t>), rate(</a:t>
            </a:r>
            <a:r>
              <a:rPr lang="en-US" sz="1000" dirty="0">
                <a:solidFill>
                  <a:srgbClr val="9ECBFF"/>
                </a:solidFill>
                <a:latin typeface="Courier New" pitchFamily="34" charset="0"/>
                <a:ea typeface="Courier New" pitchFamily="34" charset="-122"/>
                <a:cs typeface="Courier New" pitchFamily="34" charset="-120"/>
              </a:rPr>
              <a:t>'C'</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3157423"/>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E[</a:t>
            </a:r>
            <a:r>
              <a:rPr lang="en-US" sz="1000" dirty="0">
                <a:solidFill>
                  <a:srgbClr val="9ECBFF"/>
                </a:solidFill>
                <a:latin typeface="Courier New" pitchFamily="34" charset="0"/>
                <a:ea typeface="Courier New" pitchFamily="34" charset="-122"/>
                <a:cs typeface="Courier New" pitchFamily="34" charset="-120"/>
              </a:rPr>
              <a:t>'P'</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fee_c = c[</a:t>
            </a:r>
            <a:r>
              <a:rPr lang="en-US" sz="1000" dirty="0">
                <a:solidFill>
                  <a:srgbClr val="9ECBFF"/>
                </a:solidFill>
                <a:latin typeface="Courier New" pitchFamily="34" charset="0"/>
                <a:ea typeface="Courier New" pitchFamily="34" charset="-122"/>
                <a:cs typeface="Courier New" pitchFamily="34" charset="-120"/>
              </a:rPr>
              <a:t>'fees'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'chunk'</a:t>
            </a:r>
            <a:r>
              <a:rPr lang="en-US" sz="1000" dirty="0">
                <a:solidFill>
                  <a:srgbClr val="E6EDF3"/>
                </a:solidFill>
                <a:latin typeface="Courier New" pitchFamily="34" charset="0"/>
                <a:ea typeface="Courier New" pitchFamily="34" charset="-122"/>
                <a:cs typeface="Courier New" pitchFamily="34" charset="-120"/>
              </a:rPr>
              <a:t>] * 1e8</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pair = round(fee_c / (c[</a:t>
            </a:r>
            <a:r>
              <a:rPr lang="en-US" sz="1000" dirty="0">
                <a:solidFill>
                  <a:srgbClr val="9ECBFF"/>
                </a:solidFill>
                <a:latin typeface="Courier New" pitchFamily="34" charset="0"/>
                <a:ea typeface="Courier New" pitchFamily="34" charset="-122"/>
                <a:cs typeface="Courier New" pitchFamily="34" charset="-120"/>
              </a:rPr>
              <a:t>'chunkweight'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pair)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 100.0], 50.77)</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parent pays 141 satoshis, its child 14,100; 141 bytes each.</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Alone, the parent pays 1 per byte and the child 100.</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408371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miner prices the pair as one package.</a:t>
            </a:r>
            <a:endParaRPr lang="en-US" sz="1050" dirty="0"/>
          </a:p>
        </p:txBody>
      </p:sp>
      <p:sp>
        <p:nvSpPr>
          <p:cNvPr id="21" name="Text 19"/>
          <p:cNvSpPr txBox="1"/>
          <p:nvPr/>
        </p:nvSpPr>
        <p:spPr>
          <a:xfrm>
            <a:off x="457200" y="433974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fee rate, satoshis per byte</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pair's 50.77 beats the waiting payment A at 20, so parent and child are mined together.</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Miners price a parent and its child as one package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55</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weak child does not help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child at 5 satoshis per byte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 R[</a:t>
            </a:r>
            <a:r>
              <a:rPr lang="en-US" sz="1000" dirty="0">
                <a:solidFill>
                  <a:srgbClr val="9ECBFF"/>
                </a:solidFill>
                <a:latin typeface="Courier New" pitchFamily="34" charset="0"/>
                <a:ea typeface="Courier New" pitchFamily="34" charset="-122"/>
                <a:cs typeface="Courier New" pitchFamily="34" charset="-120"/>
              </a:rPr>
              <a:t>'ancestor_mining'</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'cpfp_loses'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 fee = w[</a:t>
            </a:r>
            <a:r>
              <a:rPr lang="en-US" sz="1000" dirty="0">
                <a:solidFill>
                  <a:srgbClr val="9ECBFF"/>
                </a:solidFill>
                <a:latin typeface="Courier New" pitchFamily="34" charset="0"/>
                <a:ea typeface="Courier New" pitchFamily="34" charset="-122"/>
                <a:cs typeface="Courier New" pitchFamily="34" charset="-120"/>
              </a:rPr>
              <a:t>'mempoolentries'</a:t>
            </a:r>
            <a:r>
              <a:rPr lang="en-US" sz="1000" dirty="0">
                <a:solidFill>
                  <a:srgbClr val="E6EDF3"/>
                </a:solidFill>
                <a:latin typeface="Courier New" pitchFamily="34" charset="0"/>
                <a:ea typeface="Courier New" pitchFamily="34" charset="-122"/>
                <a:cs typeface="Courier New" pitchFamily="34" charset="-120"/>
              </a:rPr>
              <a:t>], w[</a:t>
            </a:r>
            <a:r>
              <a:rPr lang="en-US" sz="1000" dirty="0">
                <a:solidFill>
                  <a:srgbClr val="9ECBFF"/>
                </a:solidFill>
                <a:latin typeface="Courier New" pitchFamily="34" charset="0"/>
                <a:ea typeface="Courier New" pitchFamily="34" charset="-122"/>
                <a:cs typeface="Courier New" pitchFamily="34" charset="-120"/>
              </a:rPr>
              <a:t>'fees_sat'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E[</a:t>
            </a:r>
            <a:r>
              <a:rPr lang="en-US" sz="1000" dirty="0">
                <a:solidFill>
                  <a:srgbClr val="9ECBFF"/>
                </a:solidFill>
                <a:latin typeface="Courier New" pitchFamily="34" charset="0"/>
                <a:ea typeface="Courier New" pitchFamily="34" charset="-122"/>
                <a:cs typeface="Courier New" pitchFamily="34" charset="-120"/>
              </a:rPr>
              <a:t>'P'</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 = fee[</a:t>
            </a:r>
            <a:r>
              <a:rPr lang="en-US" sz="1000" dirty="0">
                <a:solidFill>
                  <a:srgbClr val="9ECBFF"/>
                </a:solidFill>
                <a:latin typeface="Courier New" pitchFamily="34" charset="0"/>
                <a:ea typeface="Courier New" pitchFamily="34" charset="-122"/>
                <a:cs typeface="Courier New" pitchFamily="34" charset="-120"/>
              </a:rPr>
              <a:t>'P'</a:t>
            </a:r>
            <a:r>
              <a:rPr lang="en-US" sz="1000" dirty="0">
                <a:solidFill>
                  <a:srgbClr val="E6EDF3"/>
                </a:solidFill>
                <a:latin typeface="Courier New" pitchFamily="34" charset="0"/>
                <a:ea typeface="Courier New" pitchFamily="34" charset="-122"/>
                <a:cs typeface="Courier New" pitchFamily="34" charset="-120"/>
              </a:rPr>
              <a:t>] + fee[</a:t>
            </a:r>
            <a:r>
              <a:rPr lang="en-US" sz="1000" dirty="0">
                <a:solidFill>
                  <a:srgbClr val="9ECBFF"/>
                </a:solidFill>
                <a:latin typeface="Courier New" pitchFamily="34" charset="0"/>
                <a:ea typeface="Courier New" pitchFamily="34" charset="-122"/>
                <a:cs typeface="Courier New" pitchFamily="34" charset="-120"/>
              </a:rPr>
              <a:t>'C'</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pair = round(tot / (c[</a:t>
            </a:r>
            <a:r>
              <a:rPr lang="en-US" sz="1000" dirty="0">
                <a:solidFill>
                  <a:srgbClr val="9ECBFF"/>
                </a:solidFill>
                <a:latin typeface="Courier New" pitchFamily="34" charset="0"/>
                <a:ea typeface="Courier New" pitchFamily="34" charset="-122"/>
                <a:cs typeface="Courier New" pitchFamily="34" charset="-120"/>
              </a:rPr>
              <a:t>'chunkweight'</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15742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mined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k: w[k][</a:t>
            </a:r>
            <a:r>
              <a:rPr lang="en-US" sz="1000" dirty="0">
                <a:solidFill>
                  <a:srgbClr val="9ECBFF"/>
                </a:solidFill>
                <a:latin typeface="Courier New" pitchFamily="34" charset="0"/>
                <a:ea typeface="Courier New" pitchFamily="34" charset="-122"/>
                <a:cs typeface="Courier New" pitchFamily="34" charset="-120"/>
              </a:rPr>
              <a:t>'txid'</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w[</a:t>
            </a:r>
            <a:r>
              <a:rPr lang="en-US" sz="1000" dirty="0">
                <a:solidFill>
                  <a:srgbClr val="9ECBFF"/>
                </a:solidFill>
                <a:latin typeface="Courier New" pitchFamily="34" charset="0"/>
                <a:ea typeface="Courier New" pitchFamily="34" charset="-122"/>
                <a:cs typeface="Courier New" pitchFamily="34" charset="-120"/>
              </a:rPr>
              <a:t>'block_txids'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first = [mined(</a:t>
            </a:r>
            <a:r>
              <a:rPr lang="en-US" sz="1000" dirty="0">
                <a:solidFill>
                  <a:srgbClr val="9ECBFF"/>
                </a:solidFill>
                <a:latin typeface="Courier New" pitchFamily="34" charset="0"/>
                <a:ea typeface="Courier New" pitchFamily="34" charset="-122"/>
                <a:cs typeface="Courier New" pitchFamily="34" charset="-120"/>
              </a:rPr>
              <a:t>'A'</a:t>
            </a:r>
            <a:r>
              <a:rPr lang="en-US" sz="1000" dirty="0">
                <a:solidFill>
                  <a:srgbClr val="E6EDF3"/>
                </a:solidFill>
                <a:latin typeface="Courier New" pitchFamily="34" charset="0"/>
                <a:ea typeface="Courier New" pitchFamily="34" charset="-122"/>
                <a:cs typeface="Courier New" pitchFamily="34" charset="-120"/>
              </a:rPr>
              <a:t>), mined(</a:t>
            </a:r>
            <a:r>
              <a:rPr lang="en-US" sz="1000" dirty="0">
                <a:solidFill>
                  <a:srgbClr val="9ECBFF"/>
                </a:solidFill>
                <a:latin typeface="Courier New" pitchFamily="34" charset="0"/>
                <a:ea typeface="Courier New" pitchFamily="34" charset="-122"/>
                <a:cs typeface="Courier New" pitchFamily="34" charset="-120"/>
              </a:rPr>
              <a:t>'P'</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(pair, first)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(3.02, [True,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child pays only 5 satoshis per byte; A waits too.</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Together parent and child pay about 3 per byte, below A.</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Miners took A and left the pair out of the block.</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child that pays too little</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828800"/>
                <a:gridCol w="11430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Observation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Child pays, sat per byte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Pair pays, sat per byte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3.02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Waiting payment A pays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 was mined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The parent was mined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pair's combined rate stays below A, so miners take A and leave the pair out.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package is only as good as its combined rate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55</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Package relay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parent below the floor, sent with its child</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R[</a:t>
            </a:r>
            <a:r>
              <a:rPr lang="en-US" sz="1000" dirty="0">
                <a:solidFill>
                  <a:srgbClr val="9ECBFF"/>
                </a:solidFill>
                <a:latin typeface="Courier New" pitchFamily="34" charset="0"/>
                <a:ea typeface="Courier New" pitchFamily="34" charset="-122"/>
                <a:cs typeface="Courier New" pitchFamily="34" charset="-120"/>
              </a:rPr>
              <a:t>'package'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solo = p[</a:t>
            </a:r>
            <a:r>
              <a:rPr lang="en-US" sz="1000" dirty="0">
                <a:solidFill>
                  <a:srgbClr val="9ECBFF"/>
                </a:solidFill>
                <a:latin typeface="Courier New" pitchFamily="34" charset="0"/>
                <a:ea typeface="Courier New" pitchFamily="34" charset="-122"/>
                <a:cs typeface="Courier New" pitchFamily="34" charset="-120"/>
              </a:rPr>
              <a:t>'v2_parent_alone'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'ok'</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'reject-details'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 L.reason(p[</a:t>
            </a:r>
            <a:r>
              <a:rPr lang="en-US" sz="1000" dirty="0">
                <a:solidFill>
                  <a:srgbClr val="9ECBFF"/>
                </a:solidFill>
                <a:latin typeface="Courier New" pitchFamily="34" charset="0"/>
                <a:ea typeface="Courier New" pitchFamily="34" charset="-122"/>
                <a:cs typeface="Courier New" pitchFamily="34" charset="-120"/>
              </a:rPr>
              <a:t>'child_alone'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msg = p[</a:t>
            </a:r>
            <a:r>
              <a:rPr lang="en-US" sz="1000" dirty="0">
                <a:solidFill>
                  <a:srgbClr val="9ECBFF"/>
                </a:solidFill>
                <a:latin typeface="Courier New" pitchFamily="34" charset="0"/>
                <a:ea typeface="Courier New" pitchFamily="34" charset="-122"/>
                <a:cs typeface="Courier New" pitchFamily="34" charset="-120"/>
              </a:rPr>
              <a:t>'submitpackage_v2'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'ok'</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'package_msg'</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msg</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'success'</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parent pays 8 satoshis; alone it misses the floor of 15.</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Its child, sent first, fails: the parent is unknown.</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As a package the pair is judged together and accepted.</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ways to send the same pair</a:t>
            </a:r>
            <a:endParaRPr lang="en-US" sz="11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051560"/>
                <a:gridCol w="19202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Sent as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Node says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Parent alone (8 sat)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min relay fee not met, 8 &lt; 15</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Child first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bad-txns-inputs-missingorspent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Parent and child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success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Alone, each fails; as a package the pair is judged by its combined rate.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Nodes can judge a pair that a single payment would fail</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55</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Cluster limits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cluster mempool of Bitcoin Core 31</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R[</a:t>
            </a:r>
            <a:r>
              <a:rPr lang="en-US" sz="1000" dirty="0">
                <a:solidFill>
                  <a:srgbClr val="9ECBFF"/>
                </a:solidFill>
                <a:latin typeface="Courier New" pitchFamily="34" charset="0"/>
                <a:ea typeface="Courier New" pitchFamily="34" charset="-122"/>
                <a:cs typeface="Courier New" pitchFamily="34" charset="-120"/>
              </a:rPr>
              <a:t>'cluster'</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mi = c[</a:t>
            </a:r>
            <a:r>
              <a:rPr lang="en-US" sz="1000" dirty="0">
                <a:solidFill>
                  <a:srgbClr val="9ECBFF"/>
                </a:solidFill>
                <a:latin typeface="Courier New" pitchFamily="34" charset="0"/>
                <a:ea typeface="Courier New" pitchFamily="34" charset="-122"/>
                <a:cs typeface="Courier New" pitchFamily="34" charset="-120"/>
              </a:rPr>
              <a:t>'mempoolinfo'</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lim = (mi[</a:t>
            </a:r>
            <a:r>
              <a:rPr lang="en-US" sz="1000" dirty="0">
                <a:solidFill>
                  <a:srgbClr val="9ECBFF"/>
                </a:solidFill>
                <a:latin typeface="Courier New" pitchFamily="34" charset="0"/>
                <a:ea typeface="Courier New" pitchFamily="34" charset="-122"/>
                <a:cs typeface="Courier New" pitchFamily="34" charset="-120"/>
              </a:rPr>
              <a:t>'limitclustercount'</a:t>
            </a:r>
            <a:r>
              <a:rPr lang="en-US" sz="1000" dirty="0">
                <a:solidFill>
                  <a:srgbClr val="E6EDF3"/>
                </a:solidFill>
                <a:latin typeface="Courier New" pitchFamily="34" charset="0"/>
                <a:ea typeface="Courier New" pitchFamily="34" charset="-122"/>
                <a:cs typeface="Courier New" pitchFamily="34" charset="-120"/>
              </a:rPr>
              <a:t>], mi[</a:t>
            </a:r>
            <a:r>
              <a:rPr lang="en-US" sz="1000" dirty="0">
                <a:solidFill>
                  <a:srgbClr val="9ECBFF"/>
                </a:solidFill>
                <a:latin typeface="Courier New" pitchFamily="34" charset="0"/>
                <a:ea typeface="Courier New" pitchFamily="34" charset="-122"/>
                <a:cs typeface="Courier New" pitchFamily="34" charset="-120"/>
              </a:rPr>
              <a:t>'limitclustersize'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98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 = c[</a:t>
            </a:r>
            <a:r>
              <a:rPr lang="en-US" sz="1000" dirty="0">
                <a:solidFill>
                  <a:srgbClr val="9ECBFF"/>
                </a:solidFill>
                <a:latin typeface="Courier New" pitchFamily="34" charset="0"/>
                <a:ea typeface="Courier New" pitchFamily="34" charset="-122"/>
                <a:cs typeface="Courier New" pitchFamily="34" charset="-120"/>
              </a:rPr>
              <a:t>'chain'</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tried = (ch[</a:t>
            </a:r>
            <a:r>
              <a:rPr lang="en-US" sz="1000" dirty="0">
                <a:solidFill>
                  <a:srgbClr val="9ECBFF"/>
                </a:solidFill>
                <a:latin typeface="Courier New" pitchFamily="34" charset="0"/>
                <a:ea typeface="Courier New" pitchFamily="34" charset="-122"/>
                <a:cs typeface="Courier New" pitchFamily="34" charset="-120"/>
              </a:rPr>
              <a:t>'attempted'</a:t>
            </a:r>
            <a:r>
              <a:rPr lang="en-US" sz="1000" dirty="0">
                <a:solidFill>
                  <a:srgbClr val="E6EDF3"/>
                </a:solidFill>
                <a:latin typeface="Courier New" pitchFamily="34" charset="0"/>
                <a:ea typeface="Courier New" pitchFamily="34" charset="-122"/>
                <a:cs typeface="Courier New" pitchFamily="34" charset="-120"/>
              </a:rPr>
              <a:t>], ch[</a:t>
            </a:r>
            <a:r>
              <a:rPr lang="en-US" sz="1000" dirty="0">
                <a:solidFill>
                  <a:srgbClr val="9ECBFF"/>
                </a:solidFill>
                <a:latin typeface="Courier New" pitchFamily="34" charset="0"/>
                <a:ea typeface="Courier New" pitchFamily="34" charset="-122"/>
                <a:cs typeface="Courier New" pitchFamily="34" charset="-120"/>
              </a:rPr>
              <a:t>'accepted'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L.reason(ch[</a:t>
            </a:r>
            <a:r>
              <a:rPr lang="en-US" sz="1000" dirty="0">
                <a:solidFill>
                  <a:srgbClr val="9ECBFF"/>
                </a:solidFill>
                <a:latin typeface="Courier New" pitchFamily="34" charset="0"/>
                <a:ea typeface="Courier New" pitchFamily="34" charset="-122"/>
                <a:cs typeface="Courier New" pitchFamily="34" charset="-120"/>
              </a:rPr>
              <a:t>'first_refusal'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49778"/>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930"/>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ok26 = ch[</a:t>
            </a:r>
            <a:r>
              <a:rPr lang="en-US" sz="1000" dirty="0">
                <a:solidFill>
                  <a:srgbClr val="9ECBFF"/>
                </a:solidFill>
                <a:latin typeface="Courier New" pitchFamily="34" charset="0"/>
                <a:ea typeface="Courier New" pitchFamily="34" charset="-122"/>
                <a:cs typeface="Courier New" pitchFamily="34" charset="-120"/>
              </a:rPr>
              <a:t>'accepted_26th'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(lim, tried, why, ok26)</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((64, 101000), (65, 64), 'too-large-cluster',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mempool groups connected payments into clusters with limits.</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717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chain of 65: 64 accepted, the next one refused.</a:t>
            </a:r>
            <a:endParaRPr lang="en-US" sz="1050" dirty="0"/>
          </a:p>
        </p:txBody>
      </p:sp>
      <p:sp>
        <p:nvSpPr>
          <p:cNvPr id="18" name="Shape 16"/>
          <p:cNvSpPr/>
          <p:nvPr/>
        </p:nvSpPr>
        <p:spPr>
          <a:xfrm>
            <a:off x="365760" y="3176626"/>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662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911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old 25-ancestor limit is gone: a chain of 26 passes.</a:t>
            </a:r>
            <a:endParaRPr lang="en-US" sz="1050" dirty="0"/>
          </a:p>
        </p:txBody>
      </p:sp>
      <p:sp>
        <p:nvSpPr>
          <p:cNvPr id="21" name="Text 19"/>
          <p:cNvSpPr txBox="1"/>
          <p:nvPr/>
        </p:nvSpPr>
        <p:spPr>
          <a:xfrm>
            <a:off x="457200" y="417515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limits on one cluster</a:t>
            </a:r>
            <a:endParaRPr lang="en-US" sz="11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Cluster limit: payments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Cluster limit: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101,000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Chain tried and accepted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65 and 64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The refusal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too-large-cluster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26th of a chain accepted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yes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Size is limited per cluster; the old limit of 25 ancestors no longer applies.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Limits are set on clusters of connected payments, not on single chains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55</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Mempool size and expiry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defaults of the waiting room</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 = </a:t>
            </a:r>
            <a:r>
              <a:rPr lang="en-US" sz="1000" dirty="0">
                <a:solidFill>
                  <a:srgbClr val="9ECBFF"/>
                </a:solidFill>
                <a:latin typeface="Courier New" pitchFamily="34" charset="0"/>
                <a:ea typeface="Courier New" pitchFamily="34" charset="-122"/>
                <a:cs typeface="Courier New" pitchFamily="34" charset="-120"/>
              </a:rPr>
              <a:t>'core_src_kernel_mempool_options.h'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 int(L.const(o, </a:t>
            </a:r>
            <a:r>
              <a:rPr lang="en-US" sz="1000" dirty="0">
                <a:solidFill>
                  <a:srgbClr val="9ECBFF"/>
                </a:solidFill>
                <a:latin typeface="Courier New" pitchFamily="34" charset="0"/>
                <a:ea typeface="Courier New" pitchFamily="34" charset="-122"/>
                <a:cs typeface="Courier New" pitchFamily="34" charset="-120"/>
              </a:rPr>
              <a:t>'DEFAULT_MAX_MEMPOOL_SIZE_MB'</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195474"/>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hours = int(L.const(o, </a:t>
            </a:r>
            <a:r>
              <a:rPr lang="en-US" sz="1000" dirty="0">
                <a:solidFill>
                  <a:srgbClr val="9ECBFF"/>
                </a:solidFill>
                <a:latin typeface="Courier New" pitchFamily="34" charset="0"/>
                <a:ea typeface="Courier New" pitchFamily="34" charset="-122"/>
                <a:cs typeface="Courier New" pitchFamily="34" charset="-120"/>
              </a:rPr>
              <a:t>'DEFAULT_MEMPOOL_EXPIRY_HOURS'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days = hours // </a:t>
            </a:r>
            <a:r>
              <a:rPr lang="en-US" sz="1000" dirty="0">
                <a:solidFill>
                  <a:srgbClr val="FFD28A"/>
                </a:solidFill>
                <a:latin typeface="Courier New" pitchFamily="34" charset="0"/>
                <a:ea typeface="Courier New" pitchFamily="34" charset="-122"/>
                <a:cs typeface="Courier New" pitchFamily="34" charset="-120"/>
              </a:rPr>
              <a:t>24</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hours, days)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(300, 336, 14)</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defaults are constants in the saved Bitcoin Core source.</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waiting payment is dropped after 336 hours, which is 14 days.</a:t>
            </a:r>
            <a:endParaRPr lang="en-US" sz="1050" dirty="0"/>
          </a:p>
        </p:txBody>
      </p:sp>
      <p:sp>
        <p:nvSpPr>
          <p:cNvPr id="16" name="Text 14"/>
          <p:cNvSpPr txBox="1"/>
          <p:nvPr/>
        </p:nvSpPr>
        <p:spPr>
          <a:xfrm>
            <a:off x="457200" y="3212287"/>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two defaults of the mempool</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Setting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Default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Mempool size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300 MB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Expiry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336 hours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Expiry in days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14553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payment may wait 14 days before the node forgets it.</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payment may wait fourteen days, not one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55</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Pinning and anchors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Pinning is a lorry parked behind your car; an anchor is a spare handle.</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Carve out</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One extra small child was allowed beyond the usual limits.</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lane kept free for the ambulance.</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TRUC policy</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Version 3 payments get strict limits that bound pinning.</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parking bay with a size limit for the car behind.</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Anchor outputs</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small output lets any party add a fee later.</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spare handle on a door.</a:t>
            </a:r>
            <a:endParaRPr lang="en-US" sz="11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Who pays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Rates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Estimates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RBF</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CPFP</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Pinning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Sniping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55</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Pinning and anchors: key concepts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Pinning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cheap parent made hard to replace by a big or crowded family.</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lorry parked behind your car: the bigger it is, the dearer to move.</a:t>
            </a:r>
            <a:endParaRPr lang="en-US" sz="1150" dirty="0"/>
          </a:p>
        </p:txBody>
      </p:sp>
      <p:sp>
        <p:nvSpPr>
          <p:cNvPr id="10" name="Shape 8"/>
          <p:cNvSpPr/>
          <p:nvPr/>
        </p:nvSpPr>
        <p:spPr>
          <a:xfrm>
            <a:off x="4645152" y="1280160"/>
            <a:ext cx="4041648"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4663440"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CPFP Carve Out and Anchor Outputs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Rules and outputs that keep a child possible when the fee is unknown in advance. Also written: carve outs (CPFP), anchor outputs (CPFP).</a:t>
            </a:r>
            <a:endParaRPr lang="en-US" sz="1300" dirty="0"/>
          </a:p>
        </p:txBody>
      </p:sp>
      <p:sp>
        <p:nvSpPr>
          <p:cNvPr id="13" name="Text 11"/>
          <p:cNvSpPr txBox="1"/>
          <p:nvPr/>
        </p:nvSpPr>
        <p:spPr>
          <a:xfrm>
            <a:off x="4828032" y="216255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spare door handle that anyone can grab to add the fee later.</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55</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big child pins its parent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Replacing a parent costs more when its child is large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R[</a:t>
            </a:r>
            <a:r>
              <a:rPr lang="en-US" sz="1000" dirty="0">
                <a:solidFill>
                  <a:srgbClr val="9ECBFF"/>
                </a:solidFill>
                <a:latin typeface="Courier New" pitchFamily="34" charset="0"/>
                <a:ea typeface="Courier New" pitchFamily="34" charset="-122"/>
                <a:cs typeface="Courier New" pitchFamily="34" charset="-120"/>
              </a:rPr>
              <a:t>'pinning'</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v2, v3 = P[</a:t>
            </a:r>
            <a:r>
              <a:rPr lang="en-US" sz="1000" dirty="0">
                <a:solidFill>
                  <a:srgbClr val="9ECBFF"/>
                </a:solidFill>
                <a:latin typeface="Courier New" pitchFamily="34" charset="0"/>
                <a:ea typeface="Courier New" pitchFamily="34" charset="-122"/>
                <a:cs typeface="Courier New" pitchFamily="34" charset="-120"/>
              </a:rPr>
              <a:t>'v2'</a:t>
            </a:r>
            <a:r>
              <a:rPr lang="en-US" sz="1000" dirty="0">
                <a:solidFill>
                  <a:srgbClr val="E6EDF3"/>
                </a:solidFill>
                <a:latin typeface="Courier New" pitchFamily="34" charset="0"/>
                <a:ea typeface="Courier New" pitchFamily="34" charset="-122"/>
                <a:cs typeface="Courier New" pitchFamily="34" charset="-120"/>
              </a:rPr>
              <a:t>], P[</a:t>
            </a:r>
            <a:r>
              <a:rPr lang="en-US" sz="1000" dirty="0">
                <a:solidFill>
                  <a:srgbClr val="9ECBFF"/>
                </a:solidFill>
                <a:latin typeface="Courier New" pitchFamily="34" charset="0"/>
                <a:ea typeface="Courier New" pitchFamily="34" charset="-122"/>
                <a:cs typeface="Courier New" pitchFamily="34" charset="-120"/>
              </a:rPr>
              <a:t>'v3'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cost2 = v2[</a:t>
            </a:r>
            <a:r>
              <a:rPr lang="en-US" sz="1000" dirty="0">
                <a:solidFill>
                  <a:srgbClr val="9ECBFF"/>
                </a:solidFill>
                <a:latin typeface="Courier New" pitchFamily="34" charset="0"/>
                <a:ea typeface="Courier New" pitchFamily="34" charset="-122"/>
                <a:cs typeface="Courier New" pitchFamily="34" charset="-120"/>
              </a:rPr>
              <a:t>'replacement_enough'</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'fee_sat'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cost3 = v3[</a:t>
            </a:r>
            <a:r>
              <a:rPr lang="en-US" sz="1000" dirty="0">
                <a:solidFill>
                  <a:srgbClr val="9ECBFF"/>
                </a:solidFill>
                <a:latin typeface="Courier New" pitchFamily="34" charset="0"/>
                <a:ea typeface="Courier New" pitchFamily="34" charset="-122"/>
                <a:cs typeface="Courier New" pitchFamily="34" charset="-120"/>
              </a:rPr>
              <a:t>'replacement_enough'</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'fee_sat'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ratio = round(cost2 / cost3)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(cost2, cost3, ratio)</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(450780, 5145, 88)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parent paying 705 satoshis gets a child of 90,012 bytes or 885.</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To replace the parent, pay for the whole pinned family.</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capped version 3 child cuts the price about 88-fold.</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cost to replace the parent, satoshis</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parent pays 705. A pinned family of 90,012 bytes costs 450,780 to replace; a capped one only 5,145.</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Cap the size of the child and pinning becomes cheap to undo</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55</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TRUC limits on a family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Version 3: one small child, and a better sibling replaces it</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R[</a:t>
            </a:r>
            <a:r>
              <a:rPr lang="en-US" sz="1000" dirty="0">
                <a:solidFill>
                  <a:srgbClr val="9ECBFF"/>
                </a:solidFill>
                <a:latin typeface="Courier New" pitchFamily="34" charset="0"/>
                <a:ea typeface="Courier New" pitchFamily="34" charset="-122"/>
                <a:cs typeface="Courier New" pitchFamily="34" charset="-120"/>
              </a:rPr>
              <a:t>'truc'</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why = L.reason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a:t>
            </a:r>
            <a:r>
              <a:rPr lang="en-US" sz="1000" dirty="0">
                <a:solidFill>
                  <a:srgbClr val="9ECBFF"/>
                </a:solidFill>
                <a:latin typeface="Courier New" pitchFamily="34" charset="0"/>
                <a:ea typeface="Courier New" pitchFamily="34" charset="-122"/>
                <a:cs typeface="Courier New" pitchFamily="34" charset="-120"/>
              </a:rPr>
              <a:t>'TRUC-violation'</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why(t[</a:t>
            </a:r>
            <a:r>
              <a:rPr lang="en-US" sz="1000" dirty="0">
                <a:solidFill>
                  <a:srgbClr val="9ECBFF"/>
                </a:solidFill>
                <a:latin typeface="Courier New" pitchFamily="34" charset="0"/>
                <a:ea typeface="Courier New" pitchFamily="34" charset="-122"/>
                <a:cs typeface="Courier New" pitchFamily="34" charset="-120"/>
              </a:rPr>
              <a:t>'big_child'</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'result'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7829"/>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981"/>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a:t>
            </a:r>
            <a:r>
              <a:rPr lang="en-US" sz="1000" dirty="0">
                <a:solidFill>
                  <a:srgbClr val="9ECBFF"/>
                </a:solidFill>
                <a:latin typeface="Courier New" pitchFamily="34" charset="0"/>
                <a:ea typeface="Courier New" pitchFamily="34" charset="-122"/>
                <a:cs typeface="Courier New" pitchFamily="34" charset="-120"/>
              </a:rPr>
              <a:t>'ok'</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a:t>
            </a:r>
            <a:r>
              <a:rPr lang="en-US" sz="1000" dirty="0">
                <a:solidFill>
                  <a:srgbClr val="9ECBFF"/>
                </a:solidFill>
                <a:latin typeface="Courier New" pitchFamily="34" charset="0"/>
                <a:ea typeface="Courier New" pitchFamily="34" charset="-122"/>
                <a:cs typeface="Courier New" pitchFamily="34" charset="-120"/>
              </a:rPr>
              <a:t>'child1'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'result'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9679"/>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2831"/>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r1 = why(t[</a:t>
            </a:r>
            <a:r>
              <a:rPr lang="en-US" sz="1000" dirty="0">
                <a:solidFill>
                  <a:srgbClr val="9ECBFF"/>
                </a:solidFill>
                <a:latin typeface="Courier New" pitchFamily="34" charset="0"/>
                <a:ea typeface="Courier New" pitchFamily="34" charset="-122"/>
                <a:cs typeface="Courier New" pitchFamily="34" charset="-120"/>
              </a:rPr>
              <a:t>'sibling_same_rate'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'result'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r2 = t[</a:t>
            </a:r>
            <a:r>
              <a:rPr lang="en-US" sz="1000" dirty="0">
                <a:solidFill>
                  <a:srgbClr val="9ECBFF"/>
                </a:solidFill>
                <a:latin typeface="Courier New" pitchFamily="34" charset="0"/>
                <a:ea typeface="Courier New" pitchFamily="34" charset="-122"/>
                <a:cs typeface="Courier New" pitchFamily="34" charset="-120"/>
              </a:rPr>
              <a:t>'sibling_higher_rate'</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'result'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ev = [</a:t>
            </a:r>
            <a:r>
              <a:rPr lang="en-US" sz="1000" dirty="0">
                <a:solidFill>
                  <a:srgbClr val="9ECBFF"/>
                </a:solidFill>
                <a:latin typeface="Courier New" pitchFamily="34" charset="0"/>
                <a:ea typeface="Courier New" pitchFamily="34" charset="-122"/>
                <a:cs typeface="Courier New" pitchFamily="34" charset="-120"/>
              </a:rPr>
              <a:t>'sibling eviction'</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r1, </a:t>
            </a:r>
            <a:r>
              <a:rPr lang="en-US" sz="1000" dirty="0">
                <a:solidFill>
                  <a:srgbClr val="9ECBFF"/>
                </a:solidFill>
                <a:latin typeface="Courier New" pitchFamily="34" charset="0"/>
                <a:ea typeface="Courier New" pitchFamily="34" charset="-122"/>
                <a:cs typeface="Courier New" pitchFamily="34" charset="-120"/>
              </a:rPr>
              <a:t>'ok'</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r2]</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ok, ev)</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True,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version 3 child may be 1,000 bytes at most; 1,350 fails.</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707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small child of 141 bytes is accepted without trouble.</a:t>
            </a:r>
            <a:endParaRPr lang="en-US" sz="1050" dirty="0"/>
          </a:p>
        </p:txBody>
      </p:sp>
      <p:sp>
        <p:nvSpPr>
          <p:cNvPr id="18" name="Shape 16"/>
          <p:cNvSpPr/>
          <p:nvPr/>
        </p:nvSpPr>
        <p:spPr>
          <a:xfrm>
            <a:off x="365760" y="284652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652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911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second child replaces the first only at a higher rate.</a:t>
            </a:r>
            <a:endParaRPr lang="en-US" sz="1050" dirty="0"/>
          </a:p>
        </p:txBody>
      </p:sp>
      <p:sp>
        <p:nvSpPr>
          <p:cNvPr id="21" name="Text 19"/>
          <p:cNvSpPr txBox="1"/>
          <p:nvPr/>
        </p:nvSpPr>
        <p:spPr>
          <a:xfrm>
            <a:off x="457200" y="417515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limits of a version 3 family</a:t>
            </a:r>
            <a:endParaRPr lang="en-US" sz="11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Test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Child of 1,350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 TRUC rule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Child of 141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Sibling at the same rate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Sibling at a higher rate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replaces the first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family stays small, and a better sibling can always replace a pinning one.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Strict limits make the worst case of pinning small and known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55</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Pay to anchor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zero-fee parent with an output anyone can spend</a:t>
            </a:r>
            <a:endParaRPr lang="en-US" sz="1300" dirty="0"/>
          </a:p>
        </p:txBody>
      </p:sp>
      <p:sp>
        <p:nvSpPr>
          <p:cNvPr id="6" name="Shape 4"/>
          <p:cNvSpPr/>
          <p:nvPr/>
        </p:nvSpPr>
        <p:spPr>
          <a:xfrm>
            <a:off x="457200" y="1325880"/>
            <a:ext cx="5074920" cy="806501"/>
          </a:xfrm>
          <a:prstGeom prst="roundRect">
            <a:avLst>
              <a:gd name="adj" fmla="val 9070"/>
            </a:avLst>
          </a:prstGeom>
          <a:solidFill>
            <a:srgbClr val="23272E"/>
          </a:solidFill>
          <a:ln w="12700">
            <a:solidFill>
              <a:srgbClr val="23272E"/>
            </a:solidFill>
            <a:prstDash val="solid"/>
          </a:ln>
        </p:spPr>
      </p:sp>
      <p:sp>
        <p:nvSpPr>
          <p:cNvPr id="7" name="Text 5"/>
          <p:cNvSpPr txBox="1"/>
          <p:nvPr/>
        </p:nvSpPr>
        <p:spPr>
          <a:xfrm>
            <a:off x="603504" y="1399032"/>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R[</a:t>
            </a:r>
            <a:r>
              <a:rPr lang="en-US" sz="1000" dirty="0">
                <a:solidFill>
                  <a:srgbClr val="9ECBFF"/>
                </a:solidFill>
                <a:latin typeface="Courier New" pitchFamily="34" charset="0"/>
                <a:ea typeface="Courier New" pitchFamily="34" charset="-122"/>
                <a:cs typeface="Courier New" pitchFamily="34" charset="-120"/>
              </a:rPr>
              <a:t>'package'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 = L.parse_tx(p[</a:t>
            </a:r>
            <a:r>
              <a:rPr lang="en-US" sz="1000" dirty="0">
                <a:solidFill>
                  <a:srgbClr val="9ECBFF"/>
                </a:solidFill>
                <a:latin typeface="Courier New" pitchFamily="34" charset="0"/>
                <a:ea typeface="Courier New" pitchFamily="34" charset="-122"/>
                <a:cs typeface="Courier New" pitchFamily="34" charset="-120"/>
              </a:rPr>
              <a:t>'truc_parent'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'hex'</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 = par[</a:t>
            </a:r>
            <a:r>
              <a:rPr lang="en-US" sz="1000" dirty="0">
                <a:solidFill>
                  <a:srgbClr val="9ECBFF"/>
                </a:solidFill>
                <a:latin typeface="Courier New" pitchFamily="34" charset="0"/>
                <a:ea typeface="Courier New" pitchFamily="34" charset="-122"/>
                <a:cs typeface="Courier New" pitchFamily="34" charset="-120"/>
              </a:rPr>
              <a:t>'vout'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anchor = (o[</a:t>
            </a:r>
            <a:r>
              <a:rPr lang="en-US" sz="1000" dirty="0">
                <a:solidFill>
                  <a:srgbClr val="9ECBFF"/>
                </a:solidFill>
                <a:latin typeface="Courier New" pitchFamily="34" charset="0"/>
                <a:ea typeface="Courier New" pitchFamily="34" charset="-122"/>
                <a:cs typeface="Courier New" pitchFamily="34" charset="-120"/>
              </a:rPr>
              <a:t>'spk'</a:t>
            </a:r>
            <a:r>
              <a:rPr lang="en-US" sz="1000" dirty="0">
                <a:solidFill>
                  <a:srgbClr val="E6EDF3"/>
                </a:solidFill>
                <a:latin typeface="Courier New" pitchFamily="34" charset="0"/>
                <a:ea typeface="Courier New" pitchFamily="34" charset="-122"/>
                <a:cs typeface="Courier New" pitchFamily="34" charset="-120"/>
              </a:rPr>
              <a:t>], o[</a:t>
            </a:r>
            <a:r>
              <a:rPr lang="en-US" sz="1000" dirty="0">
                <a:solidFill>
                  <a:srgbClr val="9ECBFF"/>
                </a:solidFill>
                <a:latin typeface="Courier New" pitchFamily="34" charset="0"/>
                <a:ea typeface="Courier New" pitchFamily="34" charset="-122"/>
                <a:cs typeface="Courier New" pitchFamily="34" charset="-120"/>
              </a:rPr>
              <a:t>'value'</a:t>
            </a:r>
            <a:r>
              <a:rPr lang="en-US" sz="1000" dirty="0">
                <a:solidFill>
                  <a:srgbClr val="E6EDF3"/>
                </a:solidFill>
                <a:latin typeface="Courier New" pitchFamily="34" charset="0"/>
                <a:ea typeface="Courier New" pitchFamily="34" charset="-122"/>
                <a:cs typeface="Courier New" pitchFamily="34" charset="-120"/>
              </a:rPr>
              <a:t>], par[</a:t>
            </a:r>
            <a:r>
              <a:rPr lang="en-US" sz="1000" dirty="0">
                <a:solidFill>
                  <a:srgbClr val="9ECBFF"/>
                </a:solidFill>
                <a:latin typeface="Courier New" pitchFamily="34" charset="0"/>
                <a:ea typeface="Courier New" pitchFamily="34" charset="-122"/>
                <a:cs typeface="Courier New" pitchFamily="34" charset="-120"/>
              </a:rPr>
              <a:t>'version'</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452421"/>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525573"/>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alone = L.reason(p[</a:t>
            </a:r>
            <a:r>
              <a:rPr lang="en-US" sz="1000" dirty="0">
                <a:solidFill>
                  <a:srgbClr val="9ECBFF"/>
                </a:solidFill>
                <a:latin typeface="Courier New" pitchFamily="34" charset="0"/>
                <a:ea typeface="Courier New" pitchFamily="34" charset="-122"/>
                <a:cs typeface="Courier New" pitchFamily="34" charset="-120"/>
              </a:rPr>
              <a:t>'parent_alone'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msg = p[</a:t>
            </a:r>
            <a:r>
              <a:rPr lang="en-US" sz="1000" dirty="0">
                <a:solidFill>
                  <a:srgbClr val="9ECBFF"/>
                </a:solidFill>
                <a:latin typeface="Courier New" pitchFamily="34" charset="0"/>
                <a:ea typeface="Courier New" pitchFamily="34" charset="-122"/>
                <a:cs typeface="Courier New" pitchFamily="34" charset="-120"/>
              </a:rPr>
              <a:t>'submitpackage_truc'</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'ok'</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'package_msg'</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24886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32201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kid = L.parse_tx(p[</a:t>
            </a:r>
            <a:r>
              <a:rPr lang="en-US" sz="1000" dirty="0">
                <a:solidFill>
                  <a:srgbClr val="9ECBFF"/>
                </a:solidFill>
                <a:latin typeface="Courier New" pitchFamily="34" charset="0"/>
                <a:ea typeface="Courier New" pitchFamily="34" charset="-122"/>
                <a:cs typeface="Courier New" pitchFamily="34" charset="-120"/>
              </a:rPr>
              <a:t>'anchor_child'</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'hex'</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empty = [v[</a:t>
            </a:r>
            <a:r>
              <a:rPr lang="en-US" sz="1000" dirty="0">
                <a:solidFill>
                  <a:srgbClr val="9ECBFF"/>
                </a:solidFill>
                <a:latin typeface="Courier New" pitchFamily="34" charset="0"/>
                <a:ea typeface="Courier New" pitchFamily="34" charset="-122"/>
                <a:cs typeface="Courier New" pitchFamily="34" charset="-120"/>
              </a:rPr>
              <a:t>'witness'</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v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kid[</a:t>
            </a:r>
            <a:r>
              <a:rPr lang="en-US" sz="1000" dirty="0">
                <a:solidFill>
                  <a:srgbClr val="9ECBFF"/>
                </a:solidFill>
                <a:latin typeface="Courier New" pitchFamily="34" charset="0"/>
                <a:ea typeface="Courier New" pitchFamily="34" charset="-122"/>
                <a:cs typeface="Courier New" pitchFamily="34" charset="-120"/>
              </a:rPr>
              <a:t>'vin'</a:t>
            </a:r>
            <a:r>
              <a:rPr lang="en-US" sz="1000" dirty="0">
                <a:solidFill>
                  <a:srgbClr val="E6EDF3"/>
                </a:solidFill>
                <a:latin typeface="Courier New" pitchFamily="34" charset="0"/>
                <a:ea typeface="Courier New" pitchFamily="34" charset="-122"/>
                <a:cs typeface="Courier New" pitchFamily="34" charset="-120"/>
              </a:rPr>
              <a:t>]].count([])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anchor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('51024e73', 0, 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215981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version 3 parent pays no fee and has one anchor output.</a:t>
            </a:r>
            <a:endParaRPr lang="en-US" sz="1050" dirty="0"/>
          </a:p>
        </p:txBody>
      </p:sp>
      <p:sp>
        <p:nvSpPr>
          <p:cNvPr id="15" name="Shape 13"/>
          <p:cNvSpPr/>
          <p:nvPr/>
        </p:nvSpPr>
        <p:spPr>
          <a:xfrm>
            <a:off x="365760" y="2379269"/>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37926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625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Alone it is refused; with its child it is accepted.</a:t>
            </a:r>
            <a:endParaRPr lang="en-US" sz="1050" dirty="0"/>
          </a:p>
        </p:txBody>
      </p:sp>
      <p:sp>
        <p:nvSpPr>
          <p:cNvPr id="18" name="Shape 16"/>
          <p:cNvSpPr/>
          <p:nvPr/>
        </p:nvSpPr>
        <p:spPr>
          <a:xfrm>
            <a:off x="365760" y="317571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571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408279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child spends the anchor with an empty witness.</a:t>
            </a:r>
            <a:endParaRPr lang="en-US" sz="1050" dirty="0"/>
          </a:p>
        </p:txBody>
      </p:sp>
      <p:sp>
        <p:nvSpPr>
          <p:cNvPr id="21" name="Text 19"/>
          <p:cNvSpPr txBox="1"/>
          <p:nvPr/>
        </p:nvSpPr>
        <p:spPr>
          <a:xfrm>
            <a:off x="457200" y="433882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anchor and the package</a:t>
            </a:r>
            <a:endParaRPr lang="en-US" sz="11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97280"/>
                <a:gridCol w="187452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Anchor script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51024e73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Anchor value, sat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Parent alone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min relay fee not met, 0 &lt; 13</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Parent with child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success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Child fee, sat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10,000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51129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anchor carries no value and needs no key: the child that spends it brings the fee.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parent pays nothing; the child brings the fee when it is needed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55</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carve-out limit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the book says and what the code says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 = </a:t>
            </a:r>
            <a:r>
              <a:rPr lang="en-US" sz="1000" dirty="0">
                <a:solidFill>
                  <a:srgbClr val="9ECBFF"/>
                </a:solidFill>
                <a:latin typeface="Courier New" pitchFamily="34" charset="0"/>
                <a:ea typeface="Courier New" pitchFamily="34" charset="-122"/>
                <a:cs typeface="Courier New" pitchFamily="34" charset="-120"/>
              </a:rPr>
              <a:t>'core_src_policy_policy.h'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lim = int(L.const(p, </a:t>
            </a:r>
            <a:r>
              <a:rPr lang="en-US" sz="1000" dirty="0">
                <a:solidFill>
                  <a:srgbClr val="9ECBFF"/>
                </a:solidFill>
                <a:latin typeface="Courier New" pitchFamily="34" charset="0"/>
                <a:ea typeface="Courier New" pitchFamily="34" charset="-122"/>
                <a:cs typeface="Courier New" pitchFamily="34" charset="-120"/>
              </a:rPr>
              <a:t>'EXTRA_DESCENDANT_TX_SIZE_LIMIT'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bk = </a:t>
            </a:r>
            <a:r>
              <a:rPr lang="en-US" sz="1000" dirty="0">
                <a:solidFill>
                  <a:srgbClr val="9ECBFF"/>
                </a:solidFill>
                <a:latin typeface="Courier New" pitchFamily="34" charset="0"/>
                <a:ea typeface="Courier New" pitchFamily="34" charset="-122"/>
                <a:cs typeface="Courier New" pitchFamily="34" charset="-120"/>
              </a:rPr>
              <a:t>'book_ch09_fees.adoc'</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said = </a:t>
            </a:r>
            <a:r>
              <a:rPr lang="en-US" sz="1000" dirty="0">
                <a:solidFill>
                  <a:srgbClr val="9ECBFF"/>
                </a:solidFill>
                <a:latin typeface="Courier New" pitchFamily="34" charset="0"/>
                <a:ea typeface="Courier New" pitchFamily="34" charset="-122"/>
                <a:cs typeface="Courier New" pitchFamily="34" charset="-120"/>
              </a:rPr>
              <a:t>'additional transaction up to 1,000 vbytes'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book = L.has(bk, said)</a:t>
            </a:r>
            <a:endParaRPr lang="en-US" sz="1000" dirty="0"/>
          </a:p>
        </p:txBody>
      </p:sp>
      <p:sp>
        <p:nvSpPr>
          <p:cNvPr id="10" name="Shape 8"/>
          <p:cNvSpPr/>
          <p:nvPr/>
        </p:nvSpPr>
        <p:spPr>
          <a:xfrm>
            <a:off x="457200" y="308427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15742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a:t>
            </a:r>
            <a:r>
              <a:rPr lang="en-US" sz="1000" dirty="0">
                <a:solidFill>
                  <a:srgbClr val="9ECBFF"/>
                </a:solidFill>
                <a:latin typeface="Courier New" pitchFamily="34" charset="0"/>
                <a:ea typeface="Courier New" pitchFamily="34" charset="-122"/>
                <a:cs typeface="Courier New" pitchFamily="34" charset="-120"/>
              </a:rPr>
              <a:t>'core_relnotes_31.0.html'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gone = L.has(n, </a:t>
            </a:r>
            <a:r>
              <a:rPr lang="en-US" sz="1000" dirty="0">
                <a:solidFill>
                  <a:srgbClr val="9ECBFF"/>
                </a:solidFill>
                <a:latin typeface="Courier New" pitchFamily="34" charset="0"/>
                <a:ea typeface="Courier New" pitchFamily="34" charset="-122"/>
                <a:cs typeface="Courier New" pitchFamily="34" charset="-120"/>
              </a:rPr>
              <a:t>'removed from the mempool logic'</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(lim, book, gone)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(10000, True, 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extra descendant size is a constant in the Core source.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book states another number; the saved text confirms it.</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Release 31.0 removed the rule with the cluster mempool.</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sources compared</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371600"/>
                <a:gridCol w="16002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Source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Says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Bitcoin Core policy.h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10,000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The book, saved text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 bytes: 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Release notes 31.0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removed: 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book and the code disagree by a factor of ten.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Check the numbers of a book against the source code</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55</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pre-signed payment cannot guess its fee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Matt Corallo's proposal, 29 November 2018</a:t>
            </a:r>
            <a:endParaRPr lang="en-US" sz="1300" dirty="0"/>
          </a:p>
        </p:txBody>
      </p:sp>
      <p:pic>
        <p:nvPicPr>
          <p:cNvPr id="6" name="Image 0" descr="../../03-materials/ch09/assets/photo_lightning_network_logo.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Lightning Network logo - Ole Henrik Skogstrom, CC BY-SA 4.0,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29 November 2018 Matt Corallo proposed that a Lightning commitment transaction may carry one extra small child.</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Pre-signed transactions are broadcast much later, so their fee cannot be guessed and a child has to add it.</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 counterparty could chain a large child of moderate rate to the output and pin the transaction; the carve-out allows one more small child.</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Release 0.19.0.1 shipped it with 10,000 bytes, not the 1,000 the book states, and 31.0 removed it.</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the Lightning logo, not the proposal</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Matt Corallo</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bitcoin-dev list</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2018-11-29</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Matt Corallo: CPFP carve-out (post)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mirror.b10c.me</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55</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Fee sniping and incentives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Fee sniping is a thief rewriting the last page of the ledger.</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Block reward mix</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block pays a subsidy and the fees of its payments.</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wage plus tips whose mix changes over the years.</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Sniping attack</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miner may re-mine a block to take its best fees.</a:t>
            </a:r>
            <a:endParaRPr lang="en-US" sz="1150" dirty="0"/>
          </a:p>
        </p:txBody>
      </p:sp>
      <p:sp>
        <p:nvSpPr>
          <p:cNvPr id="13" name="Text 11"/>
          <p:cNvSpPr txBox="1"/>
          <p:nvPr/>
        </p:nvSpPr>
        <p:spPr>
          <a:xfrm>
            <a:off x="3459480" y="2907792"/>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clerk who rewrites yesterday's entries to keep the big ones.</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Lock time defense</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Wallets lock a payment to the next block height.</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dating a cheque so that it cannot be moved back.</a:t>
            </a:r>
            <a:endParaRPr lang="en-US" sz="11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1123798"/>
                <a:gridCol w="1123798"/>
                <a:gridCol w="1123798"/>
                <a:gridCol w="1123798"/>
                <a:gridCol w="1123798"/>
                <a:gridCol w="1123798"/>
                <a:gridCol w="1123798"/>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Who pays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Rates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Estimates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RBF</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CPFP</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Pinning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Sniping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55</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Fee sniping and incentives: key concepts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Timelock Defense Against Fee Sniping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wallet sets the lock time to the current height, so a rewritten block cannot take the payment.</a:t>
            </a:r>
            <a:endParaRPr lang="en-US" sz="1300" dirty="0"/>
          </a:p>
        </p:txBody>
      </p:sp>
      <p:sp>
        <p:nvSpPr>
          <p:cNvPr id="9" name="Text 7"/>
          <p:cNvSpPr txBox="1"/>
          <p:nvPr/>
        </p:nvSpPr>
        <p:spPr>
          <a:xfrm>
            <a:off x="640080" y="216255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ledger line dated today that cannot be moved to an older page.</a:t>
            </a:r>
            <a:endParaRPr lang="en-US" sz="1150" dirty="0"/>
          </a:p>
        </p:txBody>
      </p:sp>
      <p:sp>
        <p:nvSpPr>
          <p:cNvPr id="10" name="Shape 8"/>
          <p:cNvSpPr/>
          <p:nvPr/>
        </p:nvSpPr>
        <p:spPr>
          <a:xfrm>
            <a:off x="4645152" y="1280160"/>
            <a:ext cx="4041648"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4663440"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fee sniping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miner re-mines a block to take the payments with the best fees.</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clerk who rewrites yesterday's entries to keep the big ones.</a:t>
            </a:r>
            <a:endParaRPr lang="en-US" sz="1150" dirty="0"/>
          </a:p>
        </p:txBody>
      </p:sp>
      <p:sp>
        <p:nvSpPr>
          <p:cNvPr id="14" name="Shape 12"/>
          <p:cNvSpPr/>
          <p:nvPr/>
        </p:nvSpPr>
        <p:spPr>
          <a:xfrm>
            <a:off x="457200" y="2747772"/>
            <a:ext cx="4041648" cy="1339596"/>
          </a:xfrm>
          <a:prstGeom prst="roundRect">
            <a:avLst>
              <a:gd name="adj" fmla="val 5461"/>
            </a:avLst>
          </a:prstGeom>
          <a:solidFill>
            <a:srgbClr val="F2ECE1"/>
          </a:solidFill>
          <a:ln w="12700">
            <a:solidFill>
              <a:srgbClr val="DFD6C7"/>
            </a:solidFill>
            <a:prstDash val="solid"/>
          </a:ln>
        </p:spPr>
      </p:sp>
      <p:sp>
        <p:nvSpPr>
          <p:cNvPr id="15" name="Shape 13"/>
          <p:cNvSpPr/>
          <p:nvPr/>
        </p:nvSpPr>
        <p:spPr>
          <a:xfrm>
            <a:off x="475488" y="2875788"/>
            <a:ext cx="64008" cy="1083564"/>
          </a:xfrm>
          <a:prstGeom prst="rect">
            <a:avLst/>
          </a:prstGeom>
          <a:solidFill>
            <a:srgbClr val="D97A14"/>
          </a:solidFill>
          <a:ln w="12700">
            <a:solidFill>
              <a:srgbClr val="D97A14"/>
            </a:solidFill>
            <a:prstDash val="solid"/>
          </a:ln>
        </p:spPr>
      </p:sp>
      <p:sp>
        <p:nvSpPr>
          <p:cNvPr id="16" name="Text 14"/>
          <p:cNvSpPr txBox="1"/>
          <p:nvPr/>
        </p:nvSpPr>
        <p:spPr>
          <a:xfrm>
            <a:off x="640080" y="281178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timelocks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Rules that make a payment valid only after a time or a height.</a:t>
            </a:r>
            <a:endParaRPr lang="en-US" sz="1300" dirty="0"/>
          </a:p>
        </p:txBody>
      </p:sp>
      <p:sp>
        <p:nvSpPr>
          <p:cNvPr id="17" name="Text 15"/>
          <p:cNvSpPr txBox="1"/>
          <p:nvPr/>
        </p:nvSpPr>
        <p:spPr>
          <a:xfrm>
            <a:off x="640080" y="345186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post-dated cheque.</a:t>
            </a:r>
            <a:endParaRPr lang="en-US" sz="1150" dirty="0"/>
          </a:p>
        </p:txBody>
      </p:sp>
      <p:sp>
        <p:nvSpPr>
          <p:cNvPr id="18" name="Shape 16"/>
          <p:cNvSpPr/>
          <p:nvPr/>
        </p:nvSpPr>
        <p:spPr>
          <a:xfrm>
            <a:off x="4645152" y="2747772"/>
            <a:ext cx="4041648" cy="1339596"/>
          </a:xfrm>
          <a:prstGeom prst="roundRect">
            <a:avLst>
              <a:gd name="adj" fmla="val 5461"/>
            </a:avLst>
          </a:prstGeom>
          <a:solidFill>
            <a:srgbClr val="F2ECE1"/>
          </a:solidFill>
          <a:ln w="12700">
            <a:solidFill>
              <a:srgbClr val="DFD6C7"/>
            </a:solidFill>
            <a:prstDash val="solid"/>
          </a:ln>
        </p:spPr>
      </p:sp>
      <p:sp>
        <p:nvSpPr>
          <p:cNvPr id="19" name="Shape 17"/>
          <p:cNvSpPr/>
          <p:nvPr/>
        </p:nvSpPr>
        <p:spPr>
          <a:xfrm>
            <a:off x="4663440" y="2875788"/>
            <a:ext cx="64008" cy="1083564"/>
          </a:xfrm>
          <a:prstGeom prst="rect">
            <a:avLst/>
          </a:prstGeom>
          <a:solidFill>
            <a:srgbClr val="D97A14"/>
          </a:solidFill>
          <a:ln w="12700">
            <a:solidFill>
              <a:srgbClr val="D97A14"/>
            </a:solidFill>
            <a:prstDash val="solid"/>
          </a:ln>
        </p:spPr>
      </p:sp>
      <p:sp>
        <p:nvSpPr>
          <p:cNvPr id="20" name="Text 18"/>
          <p:cNvSpPr txBox="1"/>
          <p:nvPr/>
        </p:nvSpPr>
        <p:spPr>
          <a:xfrm>
            <a:off x="4828032" y="281178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lock time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field of a transaction that holds that height or time.</a:t>
            </a:r>
            <a:endParaRPr lang="en-US" sz="1300" dirty="0"/>
          </a:p>
        </p:txBody>
      </p:sp>
      <p:sp>
        <p:nvSpPr>
          <p:cNvPr id="21" name="Text 19"/>
          <p:cNvSpPr txBox="1"/>
          <p:nvPr/>
        </p:nvSpPr>
        <p:spPr>
          <a:xfrm>
            <a:off x="4828032" y="345186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date written on a post-dated cheque.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55</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Fees against the subsidy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reward of the halving block and of a later block</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b = B[</a:t>
            </a:r>
            <a:r>
              <a:rPr lang="en-US" sz="1000" dirty="0">
                <a:solidFill>
                  <a:srgbClr val="9ECBFF"/>
                </a:solidFill>
                <a:latin typeface="Courier New" pitchFamily="34" charset="0"/>
                <a:ea typeface="Courier New" pitchFamily="34" charset="-122"/>
                <a:cs typeface="Courier New" pitchFamily="34" charset="-120"/>
              </a:rPr>
              <a:t>'840000'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'extras'</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'971489'</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'extras'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fees, reward = a[</a:t>
            </a:r>
            <a:r>
              <a:rPr lang="en-US" sz="1000" dirty="0">
                <a:solidFill>
                  <a:srgbClr val="9ECBFF"/>
                </a:solidFill>
                <a:latin typeface="Courier New" pitchFamily="34" charset="0"/>
                <a:ea typeface="Courier New" pitchFamily="34" charset="-122"/>
                <a:cs typeface="Courier New" pitchFamily="34" charset="-120"/>
              </a:rPr>
              <a:t>'totalFees'</a:t>
            </a:r>
            <a:r>
              <a:rPr lang="en-US" sz="1000" dirty="0">
                <a:solidFill>
                  <a:srgbClr val="E6EDF3"/>
                </a:solidFill>
                <a:latin typeface="Courier New" pitchFamily="34" charset="0"/>
                <a:ea typeface="Courier New" pitchFamily="34" charset="-122"/>
                <a:cs typeface="Courier New" pitchFamily="34" charset="-120"/>
              </a:rPr>
              <a:t>], a[</a:t>
            </a:r>
            <a:r>
              <a:rPr lang="en-US" sz="1000" dirty="0">
                <a:solidFill>
                  <a:srgbClr val="9ECBFF"/>
                </a:solidFill>
                <a:latin typeface="Courier New" pitchFamily="34" charset="0"/>
                <a:ea typeface="Courier New" pitchFamily="34" charset="-122"/>
                <a:cs typeface="Courier New" pitchFamily="34" charset="-120"/>
              </a:rPr>
              <a:t>'reward'</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subsidy = reward - fees</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z: z[</a:t>
            </a:r>
            <a:r>
              <a:rPr lang="en-US" sz="1000" dirty="0">
                <a:solidFill>
                  <a:srgbClr val="9ECBFF"/>
                </a:solidFill>
                <a:latin typeface="Courier New" pitchFamily="34" charset="0"/>
                <a:ea typeface="Courier New" pitchFamily="34" charset="-122"/>
                <a:cs typeface="Courier New" pitchFamily="34" charset="-120"/>
              </a:rPr>
              <a:t>'totalFees'</a:t>
            </a:r>
            <a:r>
              <a:rPr lang="en-US" sz="1000" dirty="0">
                <a:solidFill>
                  <a:srgbClr val="E6EDF3"/>
                </a:solidFill>
                <a:latin typeface="Courier New" pitchFamily="34" charset="0"/>
                <a:ea typeface="Courier New" pitchFamily="34" charset="-122"/>
                <a:cs typeface="Courier New" pitchFamily="34" charset="-120"/>
              </a:rPr>
              <a:t>] / z[</a:t>
            </a:r>
            <a:r>
              <a:rPr lang="en-US" sz="1000" dirty="0">
                <a:solidFill>
                  <a:srgbClr val="9ECBFF"/>
                </a:solidFill>
                <a:latin typeface="Courier New" pitchFamily="34" charset="0"/>
                <a:ea typeface="Courier New" pitchFamily="34" charset="-122"/>
                <a:cs typeface="Courier New" pitchFamily="34" charset="-120"/>
              </a:rPr>
              <a:t>'reward'</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 = [round(</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f(z),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z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 b)]</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share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[92.33, 0.46]</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blocks of the census: halving block 840,000 and 971,489.</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In the halving block the subsidy was only the remainder.</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Fees were nearly all of one reward, a sliver of the other.</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fees as a percent of the block reward</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In the halving block the subsidy was 312,500,000 of 4,075,061,499 satoshis, the rest was fees.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claim that the subsidy dwarfs fees fails in the halving block</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55</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Block 840,000: fees were nearly the reward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ViaBTC and block 840,000, 20 April 2024</a:t>
            </a:r>
            <a:endParaRPr lang="en-US" sz="1300" dirty="0"/>
          </a:p>
        </p:txBody>
      </p:sp>
      <p:pic>
        <p:nvPicPr>
          <p:cNvPr id="6" name="Image 0" descr="../../03-materials/ch09/assets/photo_bitcoin_mining_farm.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Bitcoin mining farm - Marko Ahtisaari, CC BY 2.0,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Block 840,000 was found on 20 April 2024 at 00:09 UTC by the pool ViaBTC and held 3,050 transactions.</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It was the first block after the fourth halving, so the subsidy fell from 6.25 to 3.125 bitcoins.</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Fees were 3,762,561,499 satoshis of a 4,075,061,499 reward, which is 92.33 percent; in block 971,489 they were 0.46 percent.</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The book says the subsidy is much higher than fees, which is true of the later block and false of this one.</a:t>
            </a:r>
            <a:endParaRPr lang="en-US" sz="1150" dirty="0"/>
          </a:p>
        </p:txBody>
      </p:sp>
      <p:sp>
        <p:nvSpPr>
          <p:cNvPr id="16" name="Text 13"/>
          <p:cNvSpPr txBox="1"/>
          <p:nvPr/>
        </p:nvSpPr>
        <p:spPr>
          <a:xfrm>
            <a:off x="457200" y="3931920"/>
            <a:ext cx="3108960" cy="155448"/>
          </a:xfrm>
          <a:prstGeom prst="rect">
            <a:avLst/>
          </a:prstGeom>
          <a:noFill/>
          <a:ln/>
        </p:spPr>
        <p:txBody>
          <a:bodyPr wrap="square" lIns="0" tIns="0" rIns="0" bIns="0" rtlCol="0" anchor="t"/>
          <a:lstStyle/>
          <a:p>
            <a:pPr algn="l" indent="0" marL="0">
              <a:buNone/>
            </a:pPr>
            <a:r>
              <a:rPr lang="en-US" sz="850" i="1" dirty="0">
                <a:solidFill>
                  <a:srgbClr val="6E655C"/>
                </a:solidFill>
                <a:latin typeface="Calibri" pitchFamily="34" charset="0"/>
                <a:ea typeface="Calibri" pitchFamily="34" charset="-122"/>
                <a:cs typeface="Calibri" pitchFamily="34" charset="-120"/>
              </a:rPr>
              <a:t>Stand-in picture: a mining farm, not the pool ViaBTC</a:t>
            </a:r>
            <a:endParaRPr lang="en-US" sz="850" dirty="0"/>
          </a:p>
        </p:txBody>
      </p:sp>
      <p:sp>
        <p:nvSpPr>
          <p:cNvPr id="17" name="Shape 14"/>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8" name="Text 15"/>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ViaBTC pool</a:t>
            </a:r>
            <a:endParaRPr lang="en-US" sz="750" dirty="0"/>
          </a:p>
        </p:txBody>
      </p:sp>
      <p:sp>
        <p:nvSpPr>
          <p:cNvPr id="19" name="Shape 16"/>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20" name="Text 17"/>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840,000</a:t>
            </a:r>
            <a:endParaRPr lang="en-US" sz="750" dirty="0"/>
          </a:p>
        </p:txBody>
      </p:sp>
      <p:sp>
        <p:nvSpPr>
          <p:cNvPr id="21" name="Shape 18"/>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2" name="Text 19"/>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2024-04-20</a:t>
            </a:r>
            <a:endParaRPr lang="en-US" sz="750" dirty="0"/>
          </a:p>
        </p:txBody>
      </p:sp>
      <p:sp>
        <p:nvSpPr>
          <p:cNvPr id="23" name="Shape 20"/>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4" name="Text 21"/>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Block 840,000 on mempool.space (block)</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5"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55</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Odds of winning a sniping race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hash rate turns into the chance to re-mine a block</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xs = [</a:t>
            </a:r>
            <a:r>
              <a:rPr lang="en-US" sz="1000" dirty="0">
                <a:solidFill>
                  <a:srgbClr val="FFD28A"/>
                </a:solidFill>
                <a:latin typeface="Courier New" pitchFamily="34" charset="0"/>
                <a:ea typeface="Courier New" pitchFamily="34" charset="-122"/>
                <a:cs typeface="Courier New" pitchFamily="34" charset="-120"/>
              </a:rPr>
              <a:t>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0.45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0.5</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odds = [L.snipe_probability(x)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x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xs]</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pct = [round(</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p,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p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odds]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pct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[1.23, 18.37, 66.94, 100.0]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chance to win a re-mining race is (x/(1-x)) squared.</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At 45 percent two in three; at half the rate, certain.</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chance to win the re-mining race, percent</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At 45 percent of the hash rate the chance is 66.94 percent; at half it is certain.</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With 45 percent of the hash rate a miner wins two races in three</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55</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if nobody got a subsidy?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Princeton paper, 21 October 2016</a:t>
            </a:r>
            <a:endParaRPr lang="en-US" sz="1300" dirty="0"/>
          </a:p>
        </p:txBody>
      </p:sp>
      <p:pic>
        <p:nvPicPr>
          <p:cNvPr id="6" name="Image 0" descr="../../03-materials/ch09/assets/photo_nassau_hall_princeton.png">    </p:cNvPr>
          <p:cNvPicPr>
            <a:picLocks noChangeAspect="1"/>
          </p:cNvPicPr>
          <p:nvPr/>
        </p:nvPicPr>
        <p:blipFill>
          <a:blip r:embed="rId1"/>
          <a:srcRect l="0" r="0" t="0" b="0"/>
          <a:stretch/>
        </p:blipFill>
        <p:spPr>
          <a:xfrm>
            <a:off x="457200" y="1280160"/>
            <a:ext cx="3108960" cy="2331720"/>
          </a:xfrm>
          <a:prstGeom prst="rect">
            <a:avLst/>
          </a:prstGeom>
        </p:spPr>
      </p:pic>
      <p:sp>
        <p:nvSpPr>
          <p:cNvPr id="7" name="Text 4"/>
          <p:cNvSpPr txBox="1"/>
          <p:nvPr/>
        </p:nvSpPr>
        <p:spPr>
          <a:xfrm>
            <a:off x="457200" y="3630168"/>
            <a:ext cx="31089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Nassau Hall, Princeton University - Smallbones, CC0, Wikimedia Commons</a:t>
            </a:r>
            <a:endParaRPr lang="en-US" sz="900" dirty="0"/>
          </a:p>
        </p:txBody>
      </p:sp>
      <p:sp>
        <p:nvSpPr>
          <p:cNvPr id="8" name="Shape 5"/>
          <p:cNvSpPr/>
          <p:nvPr/>
        </p:nvSpPr>
        <p:spPr>
          <a:xfrm>
            <a:off x="374904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023360" y="128016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21 October 2016 Arvind Narayanan announced the paper On the Instability of Bitcoin Without the Block Reward on the Princeton CITP blog.</a:t>
            </a:r>
            <a:endParaRPr lang="en-US" sz="1150" dirty="0"/>
          </a:p>
        </p:txBody>
      </p:sp>
      <p:sp>
        <p:nvSpPr>
          <p:cNvPr id="10" name="Shape 7"/>
          <p:cNvSpPr/>
          <p:nvPr/>
        </p:nvSpPr>
        <p:spPr>
          <a:xfrm>
            <a:off x="374904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023360" y="189738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Rewards are expected to give way to fees, and when fees are the main income a miner can gain by undercutting a rival's block.</a:t>
            </a:r>
            <a:endParaRPr lang="en-US" sz="1150" dirty="0"/>
          </a:p>
        </p:txBody>
      </p:sp>
      <p:sp>
        <p:nvSpPr>
          <p:cNvPr id="12" name="Shape 9"/>
          <p:cNvSpPr/>
          <p:nvPr/>
        </p:nvSpPr>
        <p:spPr>
          <a:xfrm>
            <a:off x="374904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023360" y="251460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chapter computes that a miner with 45 percent of the hash rate wins the race to re-mine a block with probability 66.94 percent.</a:t>
            </a:r>
            <a:endParaRPr lang="en-US" sz="1150" dirty="0"/>
          </a:p>
        </p:txBody>
      </p:sp>
      <p:sp>
        <p:nvSpPr>
          <p:cNvPr id="14" name="Shape 11"/>
          <p:cNvSpPr/>
          <p:nvPr/>
        </p:nvSpPr>
        <p:spPr>
          <a:xfrm>
            <a:off x="374904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023360" y="3131820"/>
            <a:ext cx="466344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Fees must replace the subsidy, so the rules for fees must be stable; wallets defend with the lock time.</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Narayanan et al.</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Princeton, ACM CCS</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2016-10-21</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CITP blog: no block reward (post)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blog.citp.princeton.edu</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55</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Wallets lock to the chain tip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lock time against fee sniping</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R[</a:t>
            </a:r>
            <a:r>
              <a:rPr lang="en-US" sz="1000" dirty="0">
                <a:solidFill>
                  <a:srgbClr val="9ECBFF"/>
                </a:solidFill>
                <a:latin typeface="Courier New" pitchFamily="34" charset="0"/>
                <a:ea typeface="Courier New" pitchFamily="34" charset="-122"/>
                <a:cs typeface="Courier New" pitchFamily="34" charset="-120"/>
              </a:rPr>
              <a:t>'sniping'</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'samples'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gap = sorted(z[</a:t>
            </a:r>
            <a:r>
              <a:rPr lang="en-US" sz="1000" dirty="0">
                <a:solidFill>
                  <a:srgbClr val="9ECBFF"/>
                </a:solidFill>
                <a:latin typeface="Courier New" pitchFamily="34" charset="0"/>
                <a:ea typeface="Courier New" pitchFamily="34" charset="-122"/>
                <a:cs typeface="Courier New" pitchFamily="34" charset="-120"/>
              </a:rPr>
              <a:t>'tip'</a:t>
            </a:r>
            <a:r>
              <a:rPr lang="en-US" sz="1000" dirty="0">
                <a:solidFill>
                  <a:srgbClr val="E6EDF3"/>
                </a:solidFill>
                <a:latin typeface="Courier New" pitchFamily="34" charset="0"/>
                <a:ea typeface="Courier New" pitchFamily="34" charset="-122"/>
                <a:cs typeface="Courier New" pitchFamily="34" charset="-120"/>
              </a:rPr>
              <a:t>] - z[</a:t>
            </a:r>
            <a:r>
              <a:rPr lang="en-US" sz="1000" dirty="0">
                <a:solidFill>
                  <a:srgbClr val="9ECBFF"/>
                </a:solidFill>
                <a:latin typeface="Courier New" pitchFamily="34" charset="0"/>
                <a:ea typeface="Courier New" pitchFamily="34" charset="-122"/>
                <a:cs typeface="Courier New" pitchFamily="34" charset="-120"/>
              </a:rPr>
              <a:t>'locktime'</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z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at_tip = gap.count(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 = [g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g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gap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g]</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late = L.is_final(</a:t>
            </a:r>
            <a:r>
              <a:rPr lang="en-US" sz="1000" dirty="0">
                <a:solidFill>
                  <a:srgbClr val="FFD28A"/>
                </a:solidFill>
                <a:latin typeface="Courier New" pitchFamily="34" charset="0"/>
                <a:ea typeface="Courier New" pitchFamily="34" charset="-122"/>
                <a:cs typeface="Courier New" pitchFamily="34" charset="-120"/>
              </a:rPr>
              <a:t>100001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100001</a:t>
            </a:r>
            <a:r>
              <a:rPr lang="en-US" sz="1000" dirty="0">
                <a:solidFill>
                  <a:srgbClr val="E6EDF3"/>
                </a:solidFill>
                <a:latin typeface="Courier New" pitchFamily="34" charset="0"/>
                <a:ea typeface="Courier New" pitchFamily="34" charset="-122"/>
                <a:cs typeface="Courier New" pitchFamily="34" charset="-120"/>
              </a:rPr>
              <a:t>, [0xfffffffd])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(at_tip, back, late)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(56, [6, 28, 35, 54],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Sixty test payments: how far below the tip is each lock time?</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Most sit at the tip; a few are set back by some blocks.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payment is not final in the block of its lock time.</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is the chapter library; R, R2 its runs</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lock times of 60 payments</a:t>
            </a:r>
            <a:endParaRPr lang="en-US" sz="11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600200"/>
                <a:gridCol w="137160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Observation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Lock time at the tip</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56 of 60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Set back by, blocks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6, 28, 35, 54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Final in its own block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no (non-final)</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Mainnet, tip as lock 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89 and 33 of 599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lock time at the tip keeps a payment out of any block that a sniper re-mines.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lock time equal to the tip makes a re-mined block useless to the sniper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55</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group of parts,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fee is inputs minus outputs: no field holds it, and only the spender can change it.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Miners sort by fee rate in satoshis per virtual byte; the relay floor and dust set minimums.</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payment is replaced by a copy that pays the old fee plus its own size; full replacement is the default.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child pays for its parent as one package; clusters, TRUC and anchors bound pinning.</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When fees replace the subsidy, a miner may snipe a block, and wallets defend with the lock time.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55</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2026-10-25;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Optech topic: Replace-by-fee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Plain summary of RBF with links to newsletters and code</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Mastering Bitcoin 3e, ch. 9: Transaction Fees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chapter's AsciiDoc source on GitHub, plain text</a:t>
            </a:r>
            <a:endParaRPr lang="en-US" sz="1000" dirty="0"/>
          </a:p>
        </p:txBody>
      </p:sp>
      <p:sp>
        <p:nvSpPr>
          <p:cNvPr id="11" name="Shape 9"/>
          <p:cNvSpPr/>
          <p:nvPr/>
        </p:nvSpPr>
        <p:spPr>
          <a:xfrm>
            <a:off x="493776" y="252374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45059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mempool.space (block explorer)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Look up any block, transaction, fee rate and mempool</a:t>
            </a:r>
            <a:endParaRPr lang="en-US" sz="1000" dirty="0"/>
          </a:p>
        </p:txBody>
      </p:sp>
      <p:sp>
        <p:nvSpPr>
          <p:cNvPr id="13" name="Text 11"/>
          <p:cNvSpPr txBox="1"/>
          <p:nvPr/>
        </p:nvSpPr>
        <p:spPr>
          <a:xfrm>
            <a:off x="457200" y="292608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125: Opt-in Full Replace-by-Fee Signaling</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a transaction signals that it may be replaced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431: Topology Restrictions for Pinning</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TRUC rules: version 3 transactions and package limits</a:t>
            </a:r>
            <a:endParaRPr lang="en-US" sz="1000" dirty="0"/>
          </a:p>
        </p:txBody>
      </p:sp>
      <p:sp>
        <p:nvSpPr>
          <p:cNvPr id="18" name="Shape 16"/>
          <p:cNvSpPr/>
          <p:nvPr/>
        </p:nvSpPr>
        <p:spPr>
          <a:xfrm>
            <a:off x="493776" y="40782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4005072"/>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October 2008  bitcoin.org</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Antonopoulos: Bitcoin Transaction Fees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A talk on how fees are chosen and why they vary  youtube.com</a:t>
            </a:r>
            <a:endParaRPr lang="en-US" sz="1000" dirty="0"/>
          </a:p>
        </p:txBody>
      </p:sp>
      <p:sp>
        <p:nvSpPr>
          <p:cNvPr id="23" name="Shape 21"/>
          <p:cNvSpPr/>
          <p:nvPr/>
        </p:nvSpPr>
        <p:spPr>
          <a:xfrm>
            <a:off x="4768596" y="2121408"/>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MIT 15.S12 Blockchain and Money: lectures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2018 course, every lecture video in one list  ocw.mit.edu</a:t>
            </a:r>
            <a:endParaRPr lang="en-US" sz="1000" dirty="0"/>
          </a:p>
        </p:txBody>
      </p:sp>
      <p:sp>
        <p:nvSpPr>
          <p:cNvPr id="25" name="Text 23"/>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87121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 Optech newsletters (weekly)</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Weekly digest of protocol and wallet development; all issues</a:t>
            </a:r>
            <a:endParaRPr lang="en-US" sz="1000" dirty="0"/>
          </a:p>
        </p:txBody>
      </p:sp>
      <p:sp>
        <p:nvSpPr>
          <p:cNvPr id="28" name="Shape 26"/>
          <p:cNvSpPr/>
          <p:nvPr/>
        </p:nvSpPr>
        <p:spPr>
          <a:xfrm>
            <a:off x="4768596" y="3273552"/>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 Bitcoin (research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argue out proposals and research in public threads</a:t>
            </a:r>
            <a:endParaRPr lang="en-US" sz="1000" dirty="0"/>
          </a:p>
        </p:txBody>
      </p:sp>
      <p:sp>
        <p:nvSpPr>
          <p:cNvPr id="30" name="Shape 28"/>
          <p:cNvSpPr/>
          <p:nvPr/>
        </p:nvSpPr>
        <p:spPr>
          <a:xfrm>
            <a:off x="4768596" y="3675888"/>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bitcoin-dev (mailing list)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Where BIPs and soft forks are first proposed and debated</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fees talk,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55</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Who pays a fee, and how rates work</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payments are replaced or bumped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packages, clusters and anchors work</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sniping matters; the lock time defence</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55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9</dc:title>
  <dc:subject>PptxGenJS Presentation</dc:subject>
  <dc:creator>Yusuf Altunel</dc:creator>
  <cp:lastModifiedBy>Yusuf Altunel</cp:lastModifiedBy>
  <cp:revision>1</cp:revision>
  <dcterms:created xsi:type="dcterms:W3CDTF">2026-10-25T11:12:47Z</dcterms:created>
  <dcterms:modified xsi:type="dcterms:W3CDTF">2026-10-25T11:12:47Z</dcterms:modified>
  <cp:version>2.0.0</cp:version>
</cp:coreProperties>
</file>