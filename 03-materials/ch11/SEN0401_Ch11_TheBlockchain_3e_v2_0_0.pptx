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Header</c:v>
                  </c:pt>
                  <c:pt idx="1">
                    <c:v>Count</c:v>
                  </c:pt>
                  <c:pt idx="2">
                    <c:v>Transaction</c:v>
                  </c:pt>
                </c:lvl>
              </c:multiLvlStrCache>
            </c:multiLvlStrRef>
          </c:cat>
          <c:val>
            <c:numRef>
              <c:f>Sheet1!$B$2:$B$4</c:f>
              <c:numCache>
                <c:formatCode>General</c:formatCode>
                <c:ptCount val="3"/>
                <c:pt idx="0">
                  <c:v>80</c:v>
                </c:pt>
                <c:pt idx="1">
                  <c:v>1</c:v>
                </c:pt>
                <c:pt idx="2">
                  <c:v>204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Version</c:v>
                  </c:pt>
                  <c:pt idx="1">
                    <c:v>Previous</c:v>
                  </c:pt>
                  <c:pt idx="2">
                    <c:v>Merkle root</c:v>
                  </c:pt>
                  <c:pt idx="3">
                    <c:v>Time</c:v>
                  </c:pt>
                  <c:pt idx="4">
                    <c:v>Bits</c:v>
                  </c:pt>
                  <c:pt idx="5">
                    <c:v>Nonce</c:v>
                  </c:pt>
                </c:lvl>
              </c:multiLvlStrCache>
            </c:multiLvlStrRef>
          </c:cat>
          <c:val>
            <c:numRef>
              <c:f>Sheet1!$B$2:$B$7</c:f>
              <c:numCache>
                <c:formatCode>General</c:formatCode>
                <c:ptCount val="6"/>
                <c:pt idx="0">
                  <c:v>4</c:v>
                </c:pt>
                <c:pt idx="1">
                  <c:v>32</c:v>
                </c:pt>
                <c:pt idx="2">
                  <c:v>32</c:v>
                </c:pt>
                <c:pt idx="3">
                  <c:v>4</c:v>
                </c:pt>
                <c:pt idx="4">
                  <c:v>4</c:v>
                </c:pt>
                <c:pt idx="5">
                  <c:v>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height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cat>
            <c:multiLvlStrRef>
              <c:f>Sheet1!$A$2:$A$9</c:f>
              <c:multiLvlStrCache>
                <c:ptCount val="8"/>
                <c:lvl>
                  <c:pt idx="0">
                    <c:v>1</c:v>
                  </c:pt>
                  <c:pt idx="1">
                    <c:v>16</c:v>
                  </c:pt>
                  <c:pt idx="2">
                    <c:v>17</c:v>
                  </c:pt>
                  <c:pt idx="3">
                    <c:v>127</c:v>
                  </c:pt>
                  <c:pt idx="4">
                    <c:v>128</c:v>
                  </c:pt>
                  <c:pt idx="5">
                    <c:v>255</c:v>
                  </c:pt>
                  <c:pt idx="6">
                    <c:v>256</c:v>
                  </c:pt>
                  <c:pt idx="7">
                    <c:v>500</c:v>
                  </c:pt>
                </c:lvl>
              </c:multiLvlStrCache>
            </c:multiLvlStrRef>
          </c:cat>
          <c:val>
            <c:numRef>
              <c:f>Sheet1!$B$2:$B$9</c:f>
              <c:numCache>
                <c:formatCode>General</c:formatCode>
                <c:ptCount val="8"/>
                <c:pt idx="0">
                  <c:v>1</c:v>
                </c:pt>
                <c:pt idx="1">
                  <c:v>16</c:v>
                </c:pt>
                <c:pt idx="2">
                  <c:v>17</c:v>
                </c:pt>
                <c:pt idx="3">
                  <c:v>127</c:v>
                </c:pt>
                <c:pt idx="4">
                  <c:v>128</c:v>
                </c:pt>
                <c:pt idx="5">
                  <c:v>255</c:v>
                </c:pt>
                <c:pt idx="6">
                  <c:v>256</c:v>
                </c:pt>
                <c:pt idx="7">
                  <c:v>500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chance</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0 behind</c:v>
                  </c:pt>
                  <c:pt idx="1">
                    <c:v>1 behind</c:v>
                  </c:pt>
                  <c:pt idx="2">
                    <c:v>2 behind</c:v>
                  </c:pt>
                  <c:pt idx="3">
                    <c:v>6 behind</c:v>
                  </c:pt>
                </c:lvl>
              </c:multiLvlStrCache>
            </c:multiLvlStrRef>
          </c:cat>
          <c:val>
            <c:numRef>
              <c:f>Sheet1!$B$2:$B$5</c:f>
              <c:numCache>
                <c:formatCode>General</c:formatCode>
                <c:ptCount val="4"/>
                <c:pt idx="0">
                  <c:v>1</c:v>
                </c:pt>
                <c:pt idx="1">
                  <c:v>0.2045873</c:v>
                </c:pt>
                <c:pt idx="2">
                  <c:v>0.0509779</c:v>
                </c:pt>
                <c:pt idx="3">
                  <c:v>0.0002428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hashes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4: bottom</c:v>
                  </c:pt>
                  <c:pt idx="1">
                    <c:v>4: middle</c:v>
                  </c:pt>
                  <c:pt idx="2">
                    <c:v>4: top</c:v>
                  </c:pt>
                  <c:pt idx="3">
                    <c:v>3: bottom</c:v>
                  </c:pt>
                  <c:pt idx="4">
                    <c:v>3: middle</c:v>
                  </c:pt>
                  <c:pt idx="5">
                    <c:v>3: top</c:v>
                  </c:pt>
                </c:lvl>
              </c:multiLvlStrCache>
            </c:multiLvlStrRef>
          </c:cat>
          <c:val>
            <c:numRef>
              <c:f>Sheet1!$B$2:$B$7</c:f>
              <c:numCache>
                <c:formatCode>General</c:formatCode>
                <c:ptCount val="6"/>
                <c:pt idx="0">
                  <c:v>4</c:v>
                </c:pt>
                <c:pt idx="1">
                  <c:v>2</c:v>
                </c:pt>
                <c:pt idx="2">
                  <c:v>1</c:v>
                </c:pt>
                <c:pt idx="3">
                  <c:v>3</c:v>
                </c:pt>
                <c:pt idx="4">
                  <c:v>2</c:v>
                </c:pt>
                <c:pt idx="5">
                  <c:v>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1,024 tx</c:v>
                  </c:pt>
                  <c:pt idx="1">
                    <c:v>4,096 tx</c:v>
                  </c:pt>
                  <c:pt idx="2">
                    <c:v>16,000 tx</c:v>
                  </c:pt>
                </c:lvl>
              </c:multiLvlStrCache>
            </c:multiLvlStrRef>
          </c:cat>
          <c:val>
            <c:numRef>
              <c:f>Sheet1!$B$2:$B$4</c:f>
              <c:numCache>
                <c:formatCode>General</c:formatCode>
                <c:ptCount val="3"/>
                <c:pt idx="0">
                  <c:v>320</c:v>
                </c:pt>
                <c:pt idx="1">
                  <c:v>384</c:v>
                </c:pt>
                <c:pt idx="2">
                  <c:v>448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port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Main</c:v>
                  </c:pt>
                  <c:pt idx="1">
                    <c:v>Test</c:v>
                  </c:pt>
                  <c:pt idx="2">
                    <c:v>Testnet4</c:v>
                  </c:pt>
                  <c:pt idx="3">
                    <c:v>Signet</c:v>
                  </c:pt>
                  <c:pt idx="4">
                    <c:v>Regtest</c:v>
                  </c:pt>
                </c:lvl>
              </c:multiLvlStrCache>
            </c:multiLvlStrRef>
          </c:cat>
          <c:val>
            <c:numRef>
              <c:f>Sheet1!$B$2:$B$6</c:f>
              <c:numCache>
                <c:formatCode>General</c:formatCode>
                <c:ptCount val="5"/>
                <c:pt idx="0">
                  <c:v>8333</c:v>
                </c:pt>
                <c:pt idx="1">
                  <c:v>18333</c:v>
                </c:pt>
                <c:pt idx="2">
                  <c:v>48333</c:v>
                </c:pt>
                <c:pt idx="3">
                  <c:v>38333</c:v>
                </c:pt>
                <c:pt idx="4">
                  <c:v>18444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1</c:v>
                  </c:pt>
                  <c:pt idx="1">
                    <c:v>149</c:v>
                  </c:pt>
                  <c:pt idx="2">
                    <c:v>150</c:v>
                  </c:pt>
                  <c:pt idx="3">
                    <c:v>299</c:v>
                  </c:pt>
                  <c:pt idx="4">
                    <c:v>300</c:v>
                  </c:pt>
                  <c:pt idx="5">
                    <c:v>450</c:v>
                  </c:pt>
                </c:lvl>
              </c:multiLvlStrCache>
            </c:multiLvlStrRef>
          </c:cat>
          <c:val>
            <c:numRef>
              <c:f>Sheet1!$B$2:$B$7</c:f>
              <c:numCache>
                <c:formatCode>General</c:formatCode>
                <c:ptCount val="6"/>
                <c:pt idx="0">
                  <c:v>50</c:v>
                </c:pt>
                <c:pt idx="1">
                  <c:v>50</c:v>
                </c:pt>
                <c:pt idx="2">
                  <c:v>25</c:v>
                </c:pt>
                <c:pt idx="3">
                  <c:v>25</c:v>
                </c:pt>
                <c:pt idx="4">
                  <c:v>12.5</c:v>
                </c:pt>
                <c:pt idx="5">
                  <c:v>6.25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what a block is, how blocks are chained and named, how a merkle tree summarises transactions, and how Bitcoin's test chains differ. Every number on a result picture was computed with the chapter's own Python library or read from one recorded run of Bitcoin Core 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that follow the order of the chapter. Four true stories and seventeen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three parts and 41 key concepts. Each part gets a divider, concept cards with everyday comparisons, code that runs, and true stories.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is a header of 80 bytes and a list of transactions. This part takes the header apart, shows how a block is named, and why changing one old block breaks every later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Structure of a Block, Block Header, Block Identifiers: Block Header Hash and Block Height and The Genesis Block. Each pairs a short meaning with something from everyday life, so that the idea can be retold in your own words. The full explanation is on the course page,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genesis block is the smallest block there is. Its header takes 80 bytes, a count byte says there is one transaction, and the transaction fills the rest. Bitcoin Core on a private chain reports the same total.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Linking Blocks in the Blockchain, blockchain, parent blocks and genesis block. Each pairs a short meaning with something from everyday life, so that the idea can be retold in your own words. The full explanation is on the course page,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previous block, merkle root, time, bits and nonce always sit in the same places. Four plus thirty-two plus thirty-two plus three times four make eighty. That fixed size is what makes headers cheap to store and check.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child blocks, blocks and block header hash. Each pairs a short meaning with something from everyday life, so that the idea can be retold in your own words. The full explanation is on the course page,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field counts seconds since 1970. Median time past takes the middle of eleven timestamps, so a single lying clock cannot move it. Bits packs the target, and difficulty compares it with the easiest target.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block height, Bitcoin Core and Nakamoto, Satoshi. Each pairs a short meaning with something from everyday life, so that the idea can be retold in your own words. The full explanation is on the course page,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creator wrote a newspaper headline into the first block. The block hash, found by trying nonces, starts with ten zero digits. That is the work that made the block expensive to forge.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2009-01-03. The genesis block of Bitcoin has the timestamp 1231006505, which is 18:15:05 UTC on 3 January 2009. The lesson is that a date quoted inside a block proves the block is not 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linking blocks in blockchain, BIP 34 and Bitcoin network. Each pairs a short meaning with something from everyday life, so that the idea can be retold in your own words. The full explanation is on the course page,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SHA-256 gives a different value from the block's name. Only the second hash, taken over the first, equals the hash in the source code. Every node recomputes it, so no one has to trust a stored name.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BIP 34 the first bytes of the coinbase script spell the block height. We decode eight recorded scripts and get the heights back. Core refused to spend a reward after 99 confirmations and accepted it after 100.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header holds the hash of its parent. Flip a single bit in header 3 and the link of header 4 no longer fits. To make the chain valid again, seven headers must be mined once more.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blocks were mined on the same parent at height 511. One more block on the first child made it the active chain. The formula from the white paper shows how fast an attacker with ten percent falls behind.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merkle tree squeezes thousands of transactions into one hash in the header. We build a small tree, follow a proof of a few hashes, and meet the weakness that comes from repeating the last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Merkle Trees, Merkle Trees and Lightweight Clients, binary hash trees and balanced merkle trees. Each pairs a short meaning with something from everyday life, so that the idea can be retold in your own words. The full explanation is on the course page,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transaction ids make two hashes, then one root. The root equals the value in the block header. With three ids the last one is repeated, which gives the same number of levels.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authentication path, merkle path and lightweight clients. Each pairs a short meaning with something from everyday life, so that the idea can be retold in your own words. The full explanation is on the course page,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one transaction we hand over the sibling hash at each level. Following them upward rebuilds the root in the header. Doubling the block adds a single hash to the proof.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1982-01-05. Ralph Merkle patented the hash tree in 1979, and the United States patent 4309569, Method of providing digital signatures, was published on 5 January 1982 with the Board of Trustees of Stanford University as assignee. The lesson is that a small summary can vouch for a large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Repeating the last two ids of six transactions gives the same root as the plain list. A block with such a copy therefore looks valid by its header. Core received one in a test and rejected it as a duplicate.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client asks a full node for a proof. It gets the header, the number of transactions, five hashes and some flags. Core confirmed that the proof contains exactly the transaction we asked about.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has more than one chain. Testnet, signet and regtest follow the same rules with different constants, so developers can experiment without real money. We compare them and read their constants.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Bitcoin's Test Blockchains, Testnet: Bitcoin's Testing Playground, Using testnet and Problems with testnet. Each pairs a short meaning with something from everyday life, so that the idea can be retold in your own words. The full explanation is on the course page,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constants of every chain live in one source file. Each chain listens on its own port. The size of the data a new node must fetch ranges from hundreds of gigabytes to nothing at all.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Signet: The Proof of Authority Testnet, The default signet and custom signets, Regtest: The Local Blockchain and Using Test Blockchains for Development. Each pairs a short meaning with something from everyday life, so that the idea can be retold in your own words. The full explanation is on the course page,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Testnet, testnet4 and regtest allow a block at minimum difficulty. That keeps a small test chain moving, but it also let miners flood testnet3. Core's help text now calls testnet3 deprecated.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2024-05-04. On 4 May 2024 Jameson Lopp published Griefing Bitcoin's Testnet, which describes how the testnet3 rule of minimum difficulty after 20 minutes lets miners create hundreds of blocks in a single day. The lesson is that a test network without incentives needs rules against vandals.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test blockchains, testnet and signet. Each pairs a short meaning with something from everyday life, so that the idea can be retold in your own words. The full explanation is on the course page,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Mainnet addresses start with bc and legacy version byte 0. All test chains use tb, except regtest with bcrt, and version byte 111. A wallet can reject an address of the wrong chain at once.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default signet, custom signets and challenge script. Each pairs a short meaning with something from everyday life, so that the idea can be retold in your own words. The full explanation is on the course page,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signet asks for a signature from one of two keys. Its network magic comes from hashing that script, so a different challenge gives a different network. Challenge 51 means anyone can sign.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2019-03-20. BIP 325, Signet, was assigned on 20 March 2019 to Karl-Johan Alm and Anthony Towns: a test network in which a block is valid only if it carries a solution to a challenge script, so that its creators decide who may make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regtest, BIP 325 and mainnet. Each pairs a short meaning with something from everyday life, so that the idea can be retold in your own words. The full explanation is on the course page,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regtest the reward halves every 150 blocks, so the whole schedule can be tested in seconds. The library's rule, fed with this number, matches every height that Core recorded.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figure in it was computed there. The chapter code tab of the course page reruns all seventeen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the date in the subtitle. A good start is the visual blockchain demo by Anders Brownworth, then the Optech topic on merkle tree vulnerabilities next to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11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hyperlink" Target="https://mempool.space/block/000000000019d6689c085ae165831e934ff763ae46a2a6c172b3f1b60a8ce26f"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hyperlink" Target="https://image-ppubs.uspto.gov/dirsearch-public/print/downloadPdf/4309569"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hyperlink" Target="https://bips.dev/94/" TargetMode="External"/><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hyperlink" Target="https://bips.dev/325/" TargetMode="External"/><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hyperlink" Target="https://bitcoinops.org/en/topics/merkle-tree-vulnerabilities/" TargetMode="External"/><Relationship Id="rId2" Type="http://schemas.openxmlformats.org/officeDocument/2006/relationships/hyperlink" Target="https://bitcoinops.org/en/topics/signet/" TargetMode="External"/><Relationship Id="rId3" Type="http://schemas.openxmlformats.org/officeDocument/2006/relationships/hyperlink" Target="https://mempool.space/" TargetMode="External"/><Relationship Id="rId4" Type="http://schemas.openxmlformats.org/officeDocument/2006/relationships/hyperlink" Target="https://bips.dev/94/" TargetMode="External"/><Relationship Id="rId5" Type="http://schemas.openxmlformats.org/officeDocument/2006/relationships/hyperlink" Target="https://bips.dev/325/" TargetMode="External"/><Relationship Id="rId6" Type="http://schemas.openxmlformats.org/officeDocument/2006/relationships/hyperlink" Target="https://bitcoin.org/bitcoin.pdf" TargetMode="External"/><Relationship Id="rId7" Type="http://schemas.openxmlformats.org/officeDocument/2006/relationships/hyperlink" Target="https://www.youtube.com/embed/_160oMzblY8" TargetMode="External"/><Relationship Id="rId8" Type="http://schemas.openxmlformats.org/officeDocument/2006/relationships/hyperlink" Target="https://www.youtube.com/embed/na_omeubyYo"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11: The Blockchain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a block is built, how blocks are linked, how a merkle tree vouches for them, and which chain to test on</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1/assets/ch11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results are one recorded run, read back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43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parts; every number is a slide you can jump to</a:t>
            </a:r>
            <a:endParaRPr lang="en-US" sz="1300" dirty="0"/>
          </a:p>
        </p:txBody>
      </p:sp>
      <p:sp>
        <p:nvSpPr>
          <p:cNvPr id="6" name="Shape 4"/>
          <p:cNvSpPr/>
          <p:nvPr/>
        </p:nvSpPr>
        <p:spPr>
          <a:xfrm>
            <a:off x="457200" y="1280160"/>
            <a:ext cx="2807208" cy="1536192"/>
          </a:xfrm>
          <a:prstGeom prst="roundRect">
            <a:avLst>
              <a:gd name="adj" fmla="val 4762"/>
            </a:avLst>
          </a:prstGeom>
          <a:solidFill>
            <a:srgbClr val="F2ECE1"/>
          </a:solidFill>
          <a:ln w="12700">
            <a:solidFill>
              <a:srgbClr val="DFD6C7"/>
            </a:solidFill>
            <a:prstDash val="solid"/>
          </a:ln>
        </p:spPr>
      </p:sp>
      <p:sp>
        <p:nvSpPr>
          <p:cNvPr id="7" name="Text 5"/>
          <p:cNvSpPr txBox="1"/>
          <p:nvPr/>
        </p:nvSpPr>
        <p:spPr>
          <a:xfrm>
            <a:off x="548640" y="1335024"/>
            <a:ext cx="2624328" cy="142646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1. Questions and the chapter map</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50" dirty="0"/>
          </a:p>
        </p:txBody>
      </p:sp>
      <p:sp>
        <p:nvSpPr>
          <p:cNvPr id="8" name="Shape 6"/>
          <p:cNvSpPr/>
          <p:nvPr/>
        </p:nvSpPr>
        <p:spPr>
          <a:xfrm>
            <a:off x="3410712" y="1280160"/>
            <a:ext cx="2807208" cy="1536192"/>
          </a:xfrm>
          <a:prstGeom prst="roundRect">
            <a:avLst>
              <a:gd name="adj" fmla="val 4762"/>
            </a:avLst>
          </a:prstGeom>
          <a:solidFill>
            <a:srgbClr val="F2ECE1"/>
          </a:solidFill>
          <a:ln w="12700">
            <a:solidFill>
              <a:srgbClr val="DFD6C7"/>
            </a:solidFill>
            <a:prstDash val="solid"/>
          </a:ln>
        </p:spPr>
      </p:sp>
      <p:sp>
        <p:nvSpPr>
          <p:cNvPr id="9" name="Text 7"/>
          <p:cNvSpPr txBox="1"/>
          <p:nvPr/>
        </p:nvSpPr>
        <p:spPr>
          <a:xfrm>
            <a:off x="3502152" y="1335024"/>
            <a:ext cx="2624328" cy="142646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2. The block and the chain</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5-19)</a:t>
            </a:r>
            <a:endParaRPr lang="en-US" sz="1150" dirty="0"/>
          </a:p>
        </p:txBody>
      </p:sp>
      <p:sp>
        <p:nvSpPr>
          <p:cNvPr id="10" name="Shape 8"/>
          <p:cNvSpPr/>
          <p:nvPr/>
        </p:nvSpPr>
        <p:spPr>
          <a:xfrm>
            <a:off x="457200" y="2944368"/>
            <a:ext cx="2807208" cy="1536192"/>
          </a:xfrm>
          <a:prstGeom prst="roundRect">
            <a:avLst>
              <a:gd name="adj" fmla="val 4762"/>
            </a:avLst>
          </a:prstGeom>
          <a:solidFill>
            <a:srgbClr val="F2ECE1"/>
          </a:solidFill>
          <a:ln w="12700">
            <a:solidFill>
              <a:srgbClr val="DFD6C7"/>
            </a:solidFill>
            <a:prstDash val="solid"/>
          </a:ln>
        </p:spPr>
      </p:sp>
      <p:sp>
        <p:nvSpPr>
          <p:cNvPr id="11" name="Text 9"/>
          <p:cNvSpPr txBox="1"/>
          <p:nvPr/>
        </p:nvSpPr>
        <p:spPr>
          <a:xfrm>
            <a:off x="548640" y="2999232"/>
            <a:ext cx="2624328" cy="142646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3. Merkle trees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20-27)</a:t>
            </a:r>
            <a:endParaRPr lang="en-US" sz="1150" dirty="0"/>
          </a:p>
        </p:txBody>
      </p:sp>
      <p:sp>
        <p:nvSpPr>
          <p:cNvPr id="12" name="Shape 10"/>
          <p:cNvSpPr/>
          <p:nvPr/>
        </p:nvSpPr>
        <p:spPr>
          <a:xfrm>
            <a:off x="3410712" y="2944368"/>
            <a:ext cx="2807208" cy="1536192"/>
          </a:xfrm>
          <a:prstGeom prst="roundRect">
            <a:avLst>
              <a:gd name="adj" fmla="val 4762"/>
            </a:avLst>
          </a:prstGeom>
          <a:solidFill>
            <a:srgbClr val="F2ECE1"/>
          </a:solidFill>
          <a:ln w="12700">
            <a:solidFill>
              <a:srgbClr val="DFD6C7"/>
            </a:solidFill>
            <a:prstDash val="solid"/>
          </a:ln>
        </p:spPr>
      </p:sp>
      <p:sp>
        <p:nvSpPr>
          <p:cNvPr id="13" name="Text 11"/>
          <p:cNvSpPr txBox="1"/>
          <p:nvPr/>
        </p:nvSpPr>
        <p:spPr>
          <a:xfrm>
            <a:off x="3502152" y="2999232"/>
            <a:ext cx="2624328" cy="142646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4. Test blockchains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28-43)</a:t>
            </a:r>
            <a:endParaRPr lang="en-US" sz="1150" dirty="0"/>
          </a:p>
        </p:txBody>
      </p:sp>
      <p:sp>
        <p:nvSpPr>
          <p:cNvPr id="14" name="Shape 12"/>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43</a:t>
            </a:r>
            <a:endParaRPr lang="en-US" sz="2600" dirty="0"/>
          </a:p>
        </p:txBody>
      </p:sp>
      <p:sp>
        <p:nvSpPr>
          <p:cNvPr id="16" name="Text 14"/>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17" name="Shape 15"/>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18" name="Text 16"/>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19" name="Text 17"/>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0" name="Shape 18"/>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2" name="Text 20"/>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seventeen examples, four true stories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six fields make the 80-byte header of a block?</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block named, and where in the chain is it?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does changing one old block break every later one?</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one root hash stand for thousands of transactions?</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short is the proof that one transaction is in a block?</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testnet, signet and regtest differ, and when do I use each?</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did testnet4 replace testnet3?</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three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2645664" cy="3108960"/>
          </a:xfrm>
          <a:prstGeom prst="roundRect">
            <a:avLst>
              <a:gd name="adj" fmla="val 2765"/>
            </a:avLst>
          </a:prstGeom>
          <a:solidFill>
            <a:srgbClr val="F2ECE1"/>
          </a:solidFill>
          <a:ln w="12700">
            <a:solidFill>
              <a:srgbClr val="DFD6C7"/>
            </a:solidFill>
            <a:prstDash val="solid"/>
          </a:ln>
        </p:spPr>
      </p:sp>
      <p:sp>
        <p:nvSpPr>
          <p:cNvPr id="7" name="Text 5"/>
          <p:cNvSpPr txBox="1"/>
          <p:nvPr/>
        </p:nvSpPr>
        <p:spPr>
          <a:xfrm>
            <a:off x="548640" y="1335024"/>
            <a:ext cx="2462784" cy="299923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The block and the chain</a:t>
            </a:r>
            <a:endParaRPr lang="en-US" sz="1400" dirty="0"/>
          </a:p>
          <a:p>
            <a:pPr algn="ctr" indent="0" marL="0">
              <a:buNone/>
            </a:pPr>
            <a:r>
              <a:rPr lang="en-US" sz="1150" dirty="0">
                <a:solidFill>
                  <a:srgbClr val="6E655C"/>
                </a:solidFill>
                <a:latin typeface="Calibri" pitchFamily="34" charset="0"/>
                <a:ea typeface="Calibri" pitchFamily="34" charset="-122"/>
                <a:cs typeface="Calibri" pitchFamily="34" charset="-120"/>
              </a:rPr>
              <a:t>17 key concepts, 8 examples</a:t>
            </a:r>
            <a:endParaRPr lang="en-US" sz="1400" dirty="0"/>
          </a:p>
        </p:txBody>
      </p:sp>
      <p:sp>
        <p:nvSpPr>
          <p:cNvPr id="8" name="Shape 6"/>
          <p:cNvSpPr/>
          <p:nvPr/>
        </p:nvSpPr>
        <p:spPr>
          <a:xfrm>
            <a:off x="3249168" y="1280160"/>
            <a:ext cx="2645664" cy="3108960"/>
          </a:xfrm>
          <a:prstGeom prst="roundRect">
            <a:avLst>
              <a:gd name="adj" fmla="val 2765"/>
            </a:avLst>
          </a:prstGeom>
          <a:solidFill>
            <a:srgbClr val="D97A14"/>
          </a:solidFill>
          <a:ln w="12700">
            <a:solidFill>
              <a:srgbClr val="D97A14"/>
            </a:solidFill>
            <a:prstDash val="solid"/>
          </a:ln>
        </p:spPr>
      </p:sp>
      <p:sp>
        <p:nvSpPr>
          <p:cNvPr id="9" name="Text 7"/>
          <p:cNvSpPr txBox="1"/>
          <p:nvPr/>
        </p:nvSpPr>
        <p:spPr>
          <a:xfrm>
            <a:off x="3340608" y="1335024"/>
            <a:ext cx="2462784" cy="2999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trees</a:t>
            </a:r>
            <a:endParaRPr lang="en-US" sz="1400" dirty="0"/>
          </a:p>
          <a:p>
            <a:pPr algn="ctr" indent="0" marL="0">
              <a:buNone/>
            </a:pPr>
            <a:r>
              <a:rPr lang="en-US" sz="1150" dirty="0">
                <a:solidFill>
                  <a:srgbClr val="FFFFFF"/>
                </a:solidFill>
                <a:latin typeface="Calibri" pitchFamily="34" charset="0"/>
                <a:ea typeface="Calibri" pitchFamily="34" charset="-122"/>
                <a:cs typeface="Calibri" pitchFamily="34" charset="-120"/>
              </a:rPr>
              <a:t>7 key concepts, 4 examples</a:t>
            </a:r>
            <a:endParaRPr lang="en-US" sz="1400" dirty="0"/>
          </a:p>
        </p:txBody>
      </p:sp>
      <p:sp>
        <p:nvSpPr>
          <p:cNvPr id="10" name="Shape 8"/>
          <p:cNvSpPr/>
          <p:nvPr/>
        </p:nvSpPr>
        <p:spPr>
          <a:xfrm>
            <a:off x="6041136" y="1280160"/>
            <a:ext cx="2645664" cy="3108960"/>
          </a:xfrm>
          <a:prstGeom prst="roundRect">
            <a:avLst>
              <a:gd name="adj" fmla="val 2765"/>
            </a:avLst>
          </a:prstGeom>
          <a:solidFill>
            <a:srgbClr val="F2ECE1"/>
          </a:solidFill>
          <a:ln w="12700">
            <a:solidFill>
              <a:srgbClr val="DFD6C7"/>
            </a:solidFill>
            <a:prstDash val="solid"/>
          </a:ln>
        </p:spPr>
      </p:sp>
      <p:sp>
        <p:nvSpPr>
          <p:cNvPr id="11" name="Text 9"/>
          <p:cNvSpPr txBox="1"/>
          <p:nvPr/>
        </p:nvSpPr>
        <p:spPr>
          <a:xfrm>
            <a:off x="6132576" y="1335024"/>
            <a:ext cx="2462784" cy="299923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Test blockchains</a:t>
            </a:r>
            <a:endParaRPr lang="en-US" sz="1400" dirty="0"/>
          </a:p>
          <a:p>
            <a:pPr algn="ctr" indent="0" marL="0">
              <a:buNone/>
            </a:pPr>
            <a:r>
              <a:rPr lang="en-US" sz="1150" dirty="0">
                <a:solidFill>
                  <a:srgbClr val="6E655C"/>
                </a:solidFill>
                <a:latin typeface="Calibri" pitchFamily="34" charset="0"/>
                <a:ea typeface="Calibri" pitchFamily="34" charset="-122"/>
                <a:cs typeface="Calibri" pitchFamily="34" charset="-120"/>
              </a:rPr>
              <a:t>17 key concepts, 5 examples</a:t>
            </a:r>
            <a:endParaRPr lang="en-US" sz="14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every slide today lives on this map</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block and the chain</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chain is a train: every carriage is coupled to the one before it.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Anatomy of a block</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block is an 80-byte header with six fields and a list of transactions.</a:t>
            </a:r>
            <a:endParaRPr lang="en-US" sz="1150" dirty="0"/>
          </a:p>
        </p:txBody>
      </p:sp>
      <p:sp>
        <p:nvSpPr>
          <p:cNvPr id="9" name="Text 7"/>
          <p:cNvSpPr txBox="1"/>
          <p:nvPr/>
        </p:nvSpPr>
        <p:spPr>
          <a:xfrm>
            <a:off x="777240" y="3086100"/>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parcel with a label on top, an item count, then the items.</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Hash, height, genesis</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block has a name, the hash of its header, and a position, its height.</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fingerprint and a seat number.</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Links and forks</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Each header names its parent, so changing one block breaks every later link.</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train carriages coupled one behind the other.</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2621585"/>
                <a:gridCol w="2621585"/>
                <a:gridCol w="262158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Block and chain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Merkle 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Test chains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and the chain: concepts (1 of 5)</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Structure of a Block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80-byte header, a count of transactions, then the transactions themselves.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parcel with a label on top, an item count, then the items.</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Header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Six fixed fields in 80 bytes that summarise the whole block.</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cover page of a report that lists what follows.</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Identifiers: Block Header Hash and Block Height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Two names for a block: the hash of its header, and its position in the chain.</a:t>
            </a:r>
            <a:endParaRPr lang="en-US" sz="1300" dirty="0"/>
          </a:p>
        </p:txBody>
      </p:sp>
      <p:sp>
        <p:nvSpPr>
          <p:cNvPr id="17" name="Text 15"/>
          <p:cNvSpPr txBox="1"/>
          <p:nvPr/>
        </p:nvSpPr>
        <p:spPr>
          <a:xfrm>
            <a:off x="640080" y="367588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person's fingerprint and their seat number in a queue.</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Genesis Block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Block zero, mined on 3 January 2009, has no parent and quotes a newspaper headline.</a:t>
            </a:r>
            <a:endParaRPr lang="en-US" sz="1300" dirty="0"/>
          </a:p>
        </p:txBody>
      </p:sp>
      <p:sp>
        <p:nvSpPr>
          <p:cNvPr id="21" name="Text 19"/>
          <p:cNvSpPr txBox="1"/>
          <p:nvPr/>
        </p:nvSpPr>
        <p:spPr>
          <a:xfrm>
            <a:off x="4828032"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page of a diary, with no page before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block is header, count, transactions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Sizes of the genesis block, rebuilt from the source code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 = L.chainparams_genesis(</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a:t>
            </a:r>
            <a:r>
              <a:rPr lang="en-US" sz="1000" dirty="0">
                <a:solidFill>
                  <a:srgbClr val="FFD28A"/>
                </a:solidFill>
                <a:latin typeface="Courier New" pitchFamily="34" charset="0"/>
                <a:ea typeface="Courier New" pitchFamily="34" charset="-122"/>
                <a:cs typeface="Courier New" pitchFamily="34" charset="-120"/>
              </a:rPr>
              <a:t>80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g[</a:t>
            </a:r>
            <a:r>
              <a:rPr lang="en-US" sz="1000" dirty="0">
                <a:solidFill>
                  <a:srgbClr val="9ECBFF"/>
                </a:solidFill>
                <a:latin typeface="Courier New" pitchFamily="34" charset="0"/>
                <a:ea typeface="Courier New" pitchFamily="34" charset="-122"/>
                <a:cs typeface="Courier New" pitchFamily="34" charset="-120"/>
              </a:rPr>
              <a:t>'tx_bytes'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core = R[</a:t>
            </a:r>
            <a:r>
              <a:rPr lang="en-US" sz="1000" dirty="0">
                <a:solidFill>
                  <a:srgbClr val="9ECBFF"/>
                </a:solidFill>
                <a:latin typeface="Courier New" pitchFamily="34" charset="0"/>
                <a:ea typeface="Courier New" pitchFamily="34" charset="-122"/>
                <a:cs typeface="Courier New" pitchFamily="34" charset="-120"/>
              </a:rPr>
              <a:t>'b1_genesis'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'block'</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core, g[</a:t>
            </a:r>
            <a:r>
              <a:rPr lang="en-US" sz="1000" dirty="0">
                <a:solidFill>
                  <a:srgbClr val="9ECBFF"/>
                </a:solidFill>
                <a:latin typeface="Courier New" pitchFamily="34" charset="0"/>
                <a:ea typeface="Courier New" pitchFamily="34" charset="-122"/>
                <a:cs typeface="Courier New" pitchFamily="34" charset="-120"/>
              </a:rPr>
              <a:t>'tx_bytes'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(285, 285, 204)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genesis block's only transaction is rebuilt from the constants in the source code.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block is an 80-byte header, a count of transactions, then the transactions.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Core's own genesis block on a private chain has the same size.</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of each part, 285 in all</a:t>
            </a:r>
            <a:endParaRPr lang="en-US" sz="1100" dirty="0"/>
          </a:p>
        </p:txBody>
      </p:sp>
      <p:graphicFrame>
        <p:nvGraphicFramePr>
          <p:cNvPr id="23"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Core's own genesis block on the private chain is also 285 bytes.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Header, count byte and transaction make the whole block</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and the chain: concepts (2 of 5)</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Linking Blocks in the Blockchain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header holds the hash of its parent, so the blocks form one chain.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train carriages, each coupled to the one before.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blockchain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chain of blocks, each linked to its parent, that every node keeps.</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layers of a glacier: disturb one and every later layer is disturbed.</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parent blocks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block that a header names as the one before it.</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parent named on a child's birth certificate.</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genesis block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only block with no parent; its hash is fixed in the software.</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founder at the top of a family tree.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Six fields in 80 bytes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header of the private chain, cut at fixed places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hx = R[</a:t>
            </a:r>
            <a:r>
              <a:rPr lang="en-US" sz="1000" dirty="0">
                <a:solidFill>
                  <a:srgbClr val="9ECBFF"/>
                </a:solidFill>
                <a:latin typeface="Courier New" pitchFamily="34" charset="0"/>
                <a:ea typeface="Courier New" pitchFamily="34" charset="-122"/>
                <a:cs typeface="Courier New" pitchFamily="34" charset="-120"/>
              </a:rPr>
              <a:t>'b3_headers_480_489'</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h = bytes.fromhex(hx), L.header(hx)</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cuts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72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76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widths = [y - 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y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zip(cuts, cuts[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7949"/>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32110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(widths, len(b), h[</a:t>
            </a:r>
            <a:r>
              <a:rPr lang="en-US" sz="1000" dirty="0">
                <a:solidFill>
                  <a:srgbClr val="9ECBFF"/>
                </a:solidFill>
                <a:latin typeface="Courier New" pitchFamily="34" charset="0"/>
                <a:ea typeface="Courier New" pitchFamily="34" charset="-122"/>
                <a:cs typeface="Courier New" pitchFamily="34" charset="-120"/>
              </a:rPr>
              <a:t>'bits'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 32, 32, 4, 4, 4], 80, '207fffff')</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header of block 480 on the private chain is 80 bytes of hexadecimal.</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 fields follow one another; their widths are the gaps between the cut points.</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178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compact target, bits, is read back from the same bytes.</a:t>
            </a:r>
            <a:endParaRPr lang="en-US" sz="1050" dirty="0"/>
          </a:p>
        </p:txBody>
      </p:sp>
      <p:sp>
        <p:nvSpPr>
          <p:cNvPr id="21" name="Text 19"/>
          <p:cNvSpPr txBox="1"/>
          <p:nvPr/>
        </p:nvSpPr>
        <p:spPr>
          <a:xfrm>
            <a:off x="457200" y="400781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per field, 80 in all</a:t>
            </a:r>
            <a:endParaRPr lang="en-US" sz="1100" dirty="0"/>
          </a:p>
        </p:txBody>
      </p:sp>
      <p:graphicFrame>
        <p:nvGraphicFramePr>
          <p:cNvPr id="23"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same bytes give the version 0x20000000 and the compact target 207fffff.</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header has the same six fields in the same order and widths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and the chain: concepts (3 of 5)</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child blocks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Blocks that name an earlier block as parent; one parent may have several children.</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children of one parent, only one of whom carries the family on.</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Bundles of transactions with a header, added to the chain about every ten minutes.</a:t>
            </a:r>
            <a:endParaRPr lang="en-US" sz="1300" dirty="0"/>
          </a:p>
        </p:txBody>
      </p:sp>
      <p:sp>
        <p:nvSpPr>
          <p:cNvPr id="13" name="Text 11"/>
          <p:cNvSpPr txBox="1"/>
          <p:nvPr/>
        </p:nvSpPr>
        <p:spPr>
          <a:xfrm>
            <a:off x="3432048"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pages of a ledger, sealed when full.</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header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double SHA-256 of the 80 header bytes: the name of the block.</a:t>
            </a:r>
            <a:endParaRPr lang="en-US" sz="1300" dirty="0"/>
          </a:p>
        </p:txBody>
      </p:sp>
      <p:sp>
        <p:nvSpPr>
          <p:cNvPr id="17" name="Text 15"/>
          <p:cNvSpPr txBox="1"/>
          <p:nvPr/>
        </p:nvSpPr>
        <p:spPr>
          <a:xfrm>
            <a:off x="6224016"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fingerprint taken from the block and never printed inside it.</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Time, target and difficulty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numbers that the header carries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t0 = L.chainparams_genesis(</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'time'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when = L.iso(t0)</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mtp = L.median_time_past(R[</a:t>
            </a:r>
            <a:r>
              <a:rPr lang="en-US" sz="1000" dirty="0">
                <a:solidFill>
                  <a:srgbClr val="9ECBFF"/>
                </a:solidFill>
                <a:latin typeface="Courier New" pitchFamily="34" charset="0"/>
                <a:ea typeface="Courier New" pitchFamily="34" charset="-122"/>
                <a:cs typeface="Courier New" pitchFamily="34" charset="-120"/>
              </a:rPr>
              <a:t>'b3_timestamps_110_121'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tg = L.bits_to_target(</a:t>
            </a:r>
            <a:r>
              <a:rPr lang="en-US" sz="1000" dirty="0">
                <a:solidFill>
                  <a:srgbClr val="9ECBFF"/>
                </a:solidFill>
                <a:latin typeface="Courier New" pitchFamily="34" charset="0"/>
                <a:ea typeface="Courier New" pitchFamily="34" charset="-122"/>
                <a:cs typeface="Courier New" pitchFamily="34" charset="-120"/>
              </a:rPr>
              <a:t>'1d00ffff'</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diff = L.difficulty(</a:t>
            </a:r>
            <a:r>
              <a:rPr lang="en-US" sz="1000" dirty="0">
                <a:solidFill>
                  <a:srgbClr val="9ECBFF"/>
                </a:solidFill>
                <a:latin typeface="Courier New" pitchFamily="34" charset="0"/>
                <a:ea typeface="Courier New" pitchFamily="34" charset="-122"/>
                <a:cs typeface="Courier New" pitchFamily="34" charset="-120"/>
              </a:rPr>
              <a:t>'1903a30c'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(when, mtp, tg.bit_length(), round(diff))</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('2009-01-03 18:15:05', 1792052132, 224, 1180923195)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block's time is a count of seconds since 1 January 1970.</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Median time past is the middle one of the last eleven timestamps.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Bits packs a target; difficulty says how much smaller it is than the easiest.</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time, target and difficulty</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54480"/>
                <a:gridCol w="14173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Genesis block time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2009-01-03 18:15:05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Median time past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1792052132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Easiest target,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224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Difficulty of 1903a30c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1,180,923,195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easiest target has 224 bits; the difficulty is how many times smaller a target is.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Bits is a compressed target; a smaller target means more difficulty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and the chain: concepts (4 of 5)</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height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number of blocks between a block and the genesis block.</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floors of a building counted from the ground.</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Core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reference software that checks every rule and stores the chain.</a:t>
            </a:r>
            <a:endParaRPr lang="en-US" sz="1300" dirty="0"/>
          </a:p>
        </p:txBody>
      </p:sp>
      <p:sp>
        <p:nvSpPr>
          <p:cNvPr id="13" name="Text 11"/>
          <p:cNvSpPr txBox="1"/>
          <p:nvPr/>
        </p:nvSpPr>
        <p:spPr>
          <a:xfrm>
            <a:off x="3432048"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rulebook and the referee in one program.</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6926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Nakamoto, Satoshi</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pseudonymous creator of Bitcoin, who mined the genesis block and wrote the 2008 paper.</a:t>
            </a:r>
            <a:endParaRPr lang="en-US" sz="1300" dirty="0"/>
          </a:p>
        </p:txBody>
      </p:sp>
      <p:sp>
        <p:nvSpPr>
          <p:cNvPr id="17" name="Text 15"/>
          <p:cNvSpPr txBox="1"/>
          <p:nvPr/>
        </p:nvSpPr>
        <p:spPr>
          <a:xfrm>
            <a:off x="6224016" y="234086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author known only by a pen name.</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block quotes a newspaper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Message, time and name of block zero</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 = L.chainparams_genesis(</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g[</a:t>
            </a:r>
            <a:r>
              <a:rPr lang="en-US" sz="1000" dirty="0">
                <a:solidFill>
                  <a:srgbClr val="9ECBFF"/>
                </a:solidFill>
                <a:latin typeface="Courier New" pitchFamily="34" charset="0"/>
                <a:ea typeface="Courier New" pitchFamily="34" charset="-122"/>
                <a:cs typeface="Courier New" pitchFamily="34" charset="-120"/>
              </a:rPr>
              <a:t>'message'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zeros = L.leading_zero_hex(g[</a:t>
            </a:r>
            <a:r>
              <a:rPr lang="en-US" sz="1000" dirty="0">
                <a:solidFill>
                  <a:srgbClr val="9ECBFF"/>
                </a:solidFill>
                <a:latin typeface="Courier New" pitchFamily="34" charset="0"/>
                <a:ea typeface="Courier New" pitchFamily="34" charset="-122"/>
                <a:cs typeface="Courier New" pitchFamily="34" charset="-120"/>
              </a:rPr>
              <a:t>'hash'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a:t>
            </a:r>
            <a:r>
              <a:rPr lang="en-US" sz="1000" dirty="0">
                <a:solidFill>
                  <a:srgbClr val="FFD28A"/>
                </a:solidFill>
                <a:latin typeface="Courier New" pitchFamily="34" charset="0"/>
                <a:ea typeface="Courier New" pitchFamily="34" charset="-122"/>
                <a:cs typeface="Courier New" pitchFamily="34" charset="-120"/>
              </a:rPr>
              <a:t>24</a:t>
            </a:r>
            <a:r>
              <a:rPr lang="en-US" sz="1000" dirty="0">
                <a:solidFill>
                  <a:srgbClr val="E6EDF3"/>
                </a:solidFill>
                <a:latin typeface="Courier New" pitchFamily="34" charset="0"/>
                <a:ea typeface="Courier New" pitchFamily="34" charset="-122"/>
                <a:cs typeface="Courier New" pitchFamily="34" charset="-120"/>
              </a:rPr>
              <a:t>], zeros)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('The Times 03/Jan/2009 Ch', 10)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text that the creator wrote into the first block is saved in the source code.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block's name starts with zeros: count them in the genesis block's hash.</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block zero</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hash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000000000019d668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Zero digits at the start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Time 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1231006505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Message length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69 characters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message reads: The Times 03/Jan/2009 Chancellor on brink of second bailout for banks.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ten zeros at the start of the name are the proof of work</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Times in the first block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newspaper headline nailed into the first block</a:t>
            </a:r>
            <a:endParaRPr lang="en-US" sz="1300" dirty="0"/>
          </a:p>
        </p:txBody>
      </p:sp>
      <p:pic>
        <p:nvPicPr>
          <p:cNvPr id="6" name="Image 0" descr="../../03-materials/ch11/assets/photo_satoshi_bust_budapest.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Bust of Satoshi Nakamoto, Budapest - Fekist, CC BY-SA 4.0,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Satoshi Nakamoto wrote the headline of The Times of 3 January 2009 into the first block: Chancellor on brink of second bailout for banks.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 text proves the block is not older than that day, and the book adds that it recalls why an independent monetary system matters.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chapter rebuilt the block from the constants in chainparams.cpp and hashed it to 000000000019d668; its 50 coins can never be spent.</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date quoted inside a block proves the block is not older.</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statue, not the creator (unknown)</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the ps…</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first block of the…</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2009-01-03</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Genesis block 0 on mempool.space (block)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and the chain: concepts (5 of 5)</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897380"/>
          </a:xfrm>
          <a:prstGeom prst="roundRect">
            <a:avLst>
              <a:gd name="adj" fmla="val 3855"/>
            </a:avLst>
          </a:prstGeom>
          <a:solidFill>
            <a:srgbClr val="F2ECE1"/>
          </a:solidFill>
          <a:ln w="12700">
            <a:solidFill>
              <a:srgbClr val="DFD6C7"/>
            </a:solidFill>
            <a:prstDash val="solid"/>
          </a:ln>
        </p:spPr>
      </p:sp>
      <p:sp>
        <p:nvSpPr>
          <p:cNvPr id="7" name="Shape 5"/>
          <p:cNvSpPr/>
          <p:nvPr/>
        </p:nvSpPr>
        <p:spPr>
          <a:xfrm>
            <a:off x="475488" y="1408176"/>
            <a:ext cx="64008" cy="164134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1170432"/>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linking blocks in blockchain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block commits to its parent's hash, so rewriting history means redoing all later work.</a:t>
            </a:r>
            <a:endParaRPr lang="en-US" sz="1300" dirty="0"/>
          </a:p>
        </p:txBody>
      </p:sp>
      <p:sp>
        <p:nvSpPr>
          <p:cNvPr id="9" name="Text 7"/>
          <p:cNvSpPr txBox="1"/>
          <p:nvPr/>
        </p:nvSpPr>
        <p:spPr>
          <a:xfrm>
            <a:off x="640080" y="2542032"/>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wax seal pressed over the seal of the previous letter.</a:t>
            </a:r>
            <a:endParaRPr lang="en-US" sz="1150" dirty="0"/>
          </a:p>
        </p:txBody>
      </p:sp>
      <p:sp>
        <p:nvSpPr>
          <p:cNvPr id="10" name="Shape 8"/>
          <p:cNvSpPr/>
          <p:nvPr/>
        </p:nvSpPr>
        <p:spPr>
          <a:xfrm>
            <a:off x="3249168" y="1280160"/>
            <a:ext cx="2645664" cy="1897380"/>
          </a:xfrm>
          <a:prstGeom prst="roundRect">
            <a:avLst>
              <a:gd name="adj" fmla="val 3855"/>
            </a:avLst>
          </a:prstGeom>
          <a:solidFill>
            <a:srgbClr val="F2ECE1"/>
          </a:solidFill>
          <a:ln w="12700">
            <a:solidFill>
              <a:srgbClr val="DFD6C7"/>
            </a:solidFill>
            <a:prstDash val="solid"/>
          </a:ln>
        </p:spPr>
      </p:sp>
      <p:sp>
        <p:nvSpPr>
          <p:cNvPr id="11" name="Shape 9"/>
          <p:cNvSpPr/>
          <p:nvPr/>
        </p:nvSpPr>
        <p:spPr>
          <a:xfrm>
            <a:off x="3267456" y="1408176"/>
            <a:ext cx="64008" cy="164134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BIP 34</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proposal that puts the block height at the start of every coinbase script.</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page number written on the first line of each page.</a:t>
            </a:r>
            <a:endParaRPr lang="en-US" sz="1150" dirty="0"/>
          </a:p>
        </p:txBody>
      </p:sp>
      <p:sp>
        <p:nvSpPr>
          <p:cNvPr id="14" name="Shape 12"/>
          <p:cNvSpPr/>
          <p:nvPr/>
        </p:nvSpPr>
        <p:spPr>
          <a:xfrm>
            <a:off x="6041136" y="1280160"/>
            <a:ext cx="2645664" cy="1897380"/>
          </a:xfrm>
          <a:prstGeom prst="roundRect">
            <a:avLst>
              <a:gd name="adj" fmla="val 3855"/>
            </a:avLst>
          </a:prstGeom>
          <a:solidFill>
            <a:srgbClr val="F2ECE1"/>
          </a:solidFill>
          <a:ln w="12700">
            <a:solidFill>
              <a:srgbClr val="DFD6C7"/>
            </a:solidFill>
            <a:prstDash val="solid"/>
          </a:ln>
        </p:spPr>
      </p:sp>
      <p:sp>
        <p:nvSpPr>
          <p:cNvPr id="15" name="Shape 13"/>
          <p:cNvSpPr/>
          <p:nvPr/>
        </p:nvSpPr>
        <p:spPr>
          <a:xfrm>
            <a:off x="6059424" y="1408176"/>
            <a:ext cx="64008" cy="164134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network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peer-to-peer system of nodes that relay blocks and transactions.</a:t>
            </a:r>
            <a:endParaRPr lang="en-US" sz="1300" dirty="0"/>
          </a:p>
        </p:txBody>
      </p:sp>
      <p:sp>
        <p:nvSpPr>
          <p:cNvPr id="17" name="Text 15"/>
          <p:cNvSpPr txBox="1"/>
          <p:nvPr/>
        </p:nvSpPr>
        <p:spPr>
          <a:xfrm>
            <a:off x="6224016"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postal system where every office copies the letters it sees.</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Hash twice to get the name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block is named by the double SHA-256 of its header</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 = L.chainparams_genesis(</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bytes.fromhex(g[</a:t>
            </a:r>
            <a:r>
              <a:rPr lang="en-US" sz="1000" dirty="0">
                <a:solidFill>
                  <a:srgbClr val="9ECBFF"/>
                </a:solidFill>
                <a:latin typeface="Courier New" pitchFamily="34" charset="0"/>
                <a:ea typeface="Courier New" pitchFamily="34" charset="-122"/>
                <a:cs typeface="Courier New" pitchFamily="34" charset="-120"/>
              </a:rPr>
              <a:t>'header'</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once = hashlib.sha256(b).digest()[::-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twice = L.sha256d(b)[::-</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(once[:</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 twice == g[</a:t>
            </a:r>
            <a:r>
              <a:rPr lang="en-US" sz="1000" dirty="0">
                <a:solidFill>
                  <a:srgbClr val="9ECBFF"/>
                </a:solidFill>
                <a:latin typeface="Courier New" pitchFamily="34" charset="0"/>
                <a:ea typeface="Courier New" pitchFamily="34" charset="-122"/>
                <a:cs typeface="Courier New" pitchFamily="34" charset="-120"/>
              </a:rPr>
              <a:t>'hash'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('6dd6c5716cc8',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block is named by hashing its 80-byte header twice with SHA-256.</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Hash once, then hash twice; only the second is the name Core uses.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name is stored nowhere inside the block; every node recomputes it.</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hash and two</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Hash of the header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SHA-256 once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6dd6c5716cc8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SHA-256 twice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000000000019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Equals Core's source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double hash starts with zeros and matches the name in the source.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name is computed again by every node; it is never stored in the block</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Height in the coinbase script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BIP 34 and the hundred-block wait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'b3_bip34'</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heights = sorted(L.bip34_height(v)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v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c.values())</a:t>
            </a:r>
            <a:endParaRPr lang="en-US" sz="1000" dirty="0"/>
          </a:p>
        </p:txBody>
      </p:sp>
      <p:sp>
        <p:nvSpPr>
          <p:cNvPr id="10" name="Shape 8"/>
          <p:cNvSpPr/>
          <p:nvPr/>
        </p:nvSpPr>
        <p:spPr>
          <a:xfrm>
            <a:off x="457200" y="2754173"/>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827325"/>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 R[</a:t>
            </a:r>
            <a:r>
              <a:rPr lang="en-US" sz="1000" dirty="0">
                <a:solidFill>
                  <a:srgbClr val="9ECBFF"/>
                </a:solidFill>
                <a:latin typeface="Courier New" pitchFamily="34" charset="0"/>
                <a:ea typeface="Courier New" pitchFamily="34" charset="-122"/>
                <a:cs typeface="Courier New" pitchFamily="34" charset="-120"/>
              </a:rPr>
              <a:t>'b7_maturity'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b = m[</a:t>
            </a:r>
            <a:r>
              <a:rPr lang="en-US" sz="1000" dirty="0">
                <a:solidFill>
                  <a:srgbClr val="9ECBFF"/>
                </a:solidFill>
                <a:latin typeface="Courier New" pitchFamily="34" charset="0"/>
                <a:ea typeface="Courier New" pitchFamily="34" charset="-122"/>
                <a:cs typeface="Courier New" pitchFamily="34" charset="-120"/>
              </a:rPr>
              <a:t>'confirmations_99'</a:t>
            </a:r>
            <a:r>
              <a:rPr lang="en-US" sz="1000" dirty="0">
                <a:solidFill>
                  <a:srgbClr val="E6EDF3"/>
                </a:solidFill>
                <a:latin typeface="Courier New" pitchFamily="34" charset="0"/>
                <a:ea typeface="Courier New" pitchFamily="34" charset="-122"/>
                <a:cs typeface="Courier New" pitchFamily="34" charset="-120"/>
              </a:rPr>
              <a:t>], m[</a:t>
            </a:r>
            <a:r>
              <a:rPr lang="en-US" sz="1000" dirty="0">
                <a:solidFill>
                  <a:srgbClr val="9ECBFF"/>
                </a:solidFill>
                <a:latin typeface="Courier New" pitchFamily="34" charset="0"/>
                <a:ea typeface="Courier New" pitchFamily="34" charset="-122"/>
                <a:cs typeface="Courier New" pitchFamily="34" charset="-120"/>
              </a:rPr>
              <a:t>'confirmations_100'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[a[</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(heights, 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16, 17, 127, 128, 255, 256, 500], [False,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Since BIP 34 the first bytes of the coinbase script carry the block's height.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Read the height back from the script of each recorded block.</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coinbase may be spent only with 100 confirmations: 99 failed, 100 passed.</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heights decoded from eight coinbase scripts</a:t>
            </a:r>
            <a:endParaRPr lang="en-US" sz="1100" dirty="0"/>
          </a:p>
        </p:txBody>
      </p:sp>
      <p:graphicFrame>
        <p:nvGraphicFramePr>
          <p:cNvPr id="23"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Spending after 99 confirmations: refused. After 100: allowed.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newly mined reward cannot be spent until 100 blocks are on top of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Changing one block breaks the chain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Ten headers, one bit flipped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R[</a:t>
            </a:r>
            <a:r>
              <a:rPr lang="en-US" sz="1000" dirty="0">
                <a:solidFill>
                  <a:srgbClr val="9ECBFF"/>
                </a:solidFill>
                <a:latin typeface="Courier New" pitchFamily="34" charset="0"/>
                <a:ea typeface="Courier New" pitchFamily="34" charset="-122"/>
                <a:cs typeface="Courier New" pitchFamily="34" charset="-120"/>
              </a:rPr>
              <a:t>'b3_headers_480_489'</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[L.header(x)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link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x, y: y[</a:t>
            </a:r>
            <a:r>
              <a:rPr lang="en-US" sz="1000" dirty="0">
                <a:solidFill>
                  <a:srgbClr val="9ECBFF"/>
                </a:solidFill>
                <a:latin typeface="Courier New" pitchFamily="34" charset="0"/>
                <a:ea typeface="Courier New" pitchFamily="34" charset="-122"/>
                <a:cs typeface="Courier New" pitchFamily="34" charset="-120"/>
              </a:rPr>
              <a:t>'prev'</a:t>
            </a:r>
            <a:r>
              <a:rPr lang="en-US" sz="1000" dirty="0">
                <a:solidFill>
                  <a:srgbClr val="E6EDF3"/>
                </a:solidFill>
                <a:latin typeface="Courier New" pitchFamily="34" charset="0"/>
                <a:ea typeface="Courier New" pitchFamily="34" charset="-122"/>
                <a:cs typeface="Courier New" pitchFamily="34" charset="-120"/>
              </a:rPr>
              <a:t>] == x[</a:t>
            </a:r>
            <a:r>
              <a:rPr lang="en-US" sz="1000" dirty="0">
                <a:solidFill>
                  <a:srgbClr val="9ECBFF"/>
                </a:solidFill>
                <a:latin typeface="Courier New" pitchFamily="34" charset="0"/>
                <a:ea typeface="Courier New" pitchFamily="34" charset="-122"/>
                <a:cs typeface="Courier New" pitchFamily="34" charset="-120"/>
              </a:rPr>
              <a:t>'hash'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sum(map(link, p, p[</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L.tamper_chain(hs,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t[</a:t>
            </a:r>
            <a:r>
              <a:rPr lang="en-US" sz="1000" dirty="0">
                <a:solidFill>
                  <a:srgbClr val="9ECBFF"/>
                </a:solidFill>
                <a:latin typeface="Courier New" pitchFamily="34" charset="0"/>
                <a:ea typeface="Courier New" pitchFamily="34" charset="-122"/>
                <a:cs typeface="Courier New" pitchFamily="34" charset="-120"/>
              </a:rPr>
              <a:t>'broken_links'</a:t>
            </a:r>
            <a:r>
              <a:rPr lang="en-US" sz="1000" dirty="0">
                <a:solidFill>
                  <a:srgbClr val="E6EDF3"/>
                </a:solidFill>
                <a:latin typeface="Courier New" pitchFamily="34" charset="0"/>
                <a:ea typeface="Courier New" pitchFamily="34" charset="-122"/>
                <a:cs typeface="Courier New" pitchFamily="34" charset="-120"/>
              </a:rPr>
              <a:t>], t[</a:t>
            </a:r>
            <a:r>
              <a:rPr lang="en-US" sz="1000" dirty="0">
                <a:solidFill>
                  <a:srgbClr val="9ECBFF"/>
                </a:solidFill>
                <a:latin typeface="Courier New" pitchFamily="34" charset="0"/>
                <a:ea typeface="Courier New" pitchFamily="34" charset="-122"/>
                <a:cs typeface="Courier New" pitchFamily="34" charset="-120"/>
              </a:rPr>
              <a:t>'must_remine'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(9, [4], 7)</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Ten consecutive headers of the private chain, each taken apart.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header names its parent: count the links that hold.</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Flip one bit in header 3: which links break, and how many headers must be mined again?</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bit flipped in header 3</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Links that hold, of 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Link broken at header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Headers to mine again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 of header 3 changed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change cannot stay hidden: header 4 no longer names its parent.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Alter block 3 and you must mine seven headers again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fork, and the odds of catching up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children of one parent, and Nakamoto's formula</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R[</a:t>
            </a:r>
            <a:r>
              <a:rPr lang="en-US" sz="1000" dirty="0">
                <a:solidFill>
                  <a:srgbClr val="9ECBFF"/>
                </a:solidFill>
                <a:latin typeface="Courier New" pitchFamily="34" charset="0"/>
                <a:ea typeface="Courier New" pitchFamily="34" charset="-122"/>
                <a:cs typeface="Courier New" pitchFamily="34" charset="-120"/>
              </a:rPr>
              <a:t>'b6_fork'</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f[</a:t>
            </a:r>
            <a:r>
              <a:rPr lang="en-US" sz="1000" dirty="0">
                <a:solidFill>
                  <a:srgbClr val="9ECBFF"/>
                </a:solidFill>
                <a:latin typeface="Courier New" pitchFamily="34" charset="0"/>
                <a:ea typeface="Courier New" pitchFamily="34" charset="-122"/>
                <a:cs typeface="Courier New" pitchFamily="34" charset="-120"/>
              </a:rPr>
              <a:t>'prev1'</a:t>
            </a:r>
            <a:r>
              <a:rPr lang="en-US" sz="1000" dirty="0">
                <a:solidFill>
                  <a:srgbClr val="E6EDF3"/>
                </a:solidFill>
                <a:latin typeface="Courier New" pitchFamily="34" charset="0"/>
                <a:ea typeface="Courier New" pitchFamily="34" charset="-122"/>
                <a:cs typeface="Courier New" pitchFamily="34" charset="-120"/>
              </a:rPr>
              <a:t>] == f[</a:t>
            </a:r>
            <a:r>
              <a:rPr lang="en-US" sz="1000" dirty="0">
                <a:solidFill>
                  <a:srgbClr val="9ECBFF"/>
                </a:solidFill>
                <a:latin typeface="Courier New" pitchFamily="34" charset="0"/>
                <a:ea typeface="Courier New" pitchFamily="34" charset="-122"/>
                <a:cs typeface="Courier New" pitchFamily="34" charset="-120"/>
              </a:rPr>
              <a:t>'prev2'</a:t>
            </a:r>
            <a:r>
              <a:rPr lang="en-US" sz="1000" dirty="0">
                <a:solidFill>
                  <a:srgbClr val="E6EDF3"/>
                </a:solidFill>
                <a:latin typeface="Courier New" pitchFamily="34" charset="0"/>
                <a:ea typeface="Courier New" pitchFamily="34" charset="-122"/>
                <a:cs typeface="Courier New" pitchFamily="34" charset="-120"/>
              </a:rPr>
              <a:t>] == f[</a:t>
            </a:r>
            <a:r>
              <a:rPr lang="en-US" sz="1000" dirty="0">
                <a:solidFill>
                  <a:srgbClr val="9ECBFF"/>
                </a:solidFill>
                <a:latin typeface="Courier New" pitchFamily="34" charset="0"/>
                <a:ea typeface="Courier New" pitchFamily="34" charset="-122"/>
                <a:cs typeface="Courier New" pitchFamily="34" charset="-120"/>
              </a:rPr>
              <a:t>'parent'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grew = f[</a:t>
            </a:r>
            <a:r>
              <a:rPr lang="en-US" sz="1000" dirty="0">
                <a:solidFill>
                  <a:srgbClr val="9ECBFF"/>
                </a:solidFill>
                <a:latin typeface="Courier New" pitchFamily="34" charset="0"/>
                <a:ea typeface="Courier New" pitchFamily="34" charset="-122"/>
                <a:cs typeface="Courier New" pitchFamily="34" charset="-120"/>
              </a:rPr>
              <a:t>'active_is'</a:t>
            </a:r>
            <a:r>
              <a:rPr lang="en-US" sz="1000" dirty="0">
                <a:solidFill>
                  <a:srgbClr val="E6EDF3"/>
                </a:solidFill>
                <a:latin typeface="Courier New" pitchFamily="34" charset="0"/>
                <a:ea typeface="Courier New" pitchFamily="34" charset="-122"/>
                <a:cs typeface="Courier New" pitchFamily="34" charset="-120"/>
              </a:rPr>
              <a:t>] == f[</a:t>
            </a:r>
            <a:r>
              <a:rPr lang="en-US" sz="1000" dirty="0">
                <a:solidFill>
                  <a:srgbClr val="9ECBFF"/>
                </a:solidFill>
                <a:latin typeface="Courier New" pitchFamily="34" charset="0"/>
                <a:ea typeface="Courier New" pitchFamily="34" charset="-122"/>
                <a:cs typeface="Courier New" pitchFamily="34" charset="-120"/>
              </a:rPr>
              <a:t>'extension'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cu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z: round(L.catchup(</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z), </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 = [cu(z)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grew, odds)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[1.0, 0.2045873, 0.0509779, 0.0002428])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children of one parent block, both at height 511: a fork.</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more block on one child decides which branch is the active chain.</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Nakamoto's odds that a ten percent attacker ever catches up, z blocks behind.</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catching up, attacker with 10 percent</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children had one parent: yes. The longer branch became active: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fork ends when one branch grows longer; an attacker's odds fall fast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Merkle trees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merkle tree is a knockout draw that ends with one winner, the root.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tree of hashes</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Pairs of hashes are hashed again until one root remains in the header.</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knockout draw with one winner at the top.</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Short proofs</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path of sibling hashes proves one transaction without the whole block.</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subtotals that prove one line of a ledger.</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Weaknesses</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Repeating the last hash can make two lists share one root.</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lone dancer paired with their own mirror image.</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2621585"/>
                <a:gridCol w="2621585"/>
                <a:gridCol w="262158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 and chain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Merkle 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Test chains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Merkle trees: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Merkle Trees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tree of hashes: each parent hashes its two children and the top is a single root.</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knockout tournament, matched in pairs until one name is left.</a:t>
            </a:r>
            <a:endParaRPr lang="en-US" sz="1150" dirty="0"/>
          </a:p>
        </p:txBody>
      </p:sp>
      <p:sp>
        <p:nvSpPr>
          <p:cNvPr id="10" name="Shape 8"/>
          <p:cNvSpPr/>
          <p:nvPr/>
        </p:nvSpPr>
        <p:spPr>
          <a:xfrm>
            <a:off x="4645152" y="1280160"/>
            <a:ext cx="4041648"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4663440"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Merkle Trees and Lightweight Clients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light client keeps headers only and asks for a short proof that a transaction is in a block.</a:t>
            </a:r>
            <a:endParaRPr lang="en-US" sz="1300" dirty="0"/>
          </a:p>
        </p:txBody>
      </p:sp>
      <p:sp>
        <p:nvSpPr>
          <p:cNvPr id="13" name="Text 11"/>
          <p:cNvSpPr txBox="1"/>
          <p:nvPr/>
        </p:nvSpPr>
        <p:spPr>
          <a:xfrm>
            <a:off x="4828032"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checking one ledger line against a signed total using subtotals.</a:t>
            </a:r>
            <a:endParaRPr lang="en-US" sz="1150" dirty="0"/>
          </a:p>
        </p:txBody>
      </p:sp>
      <p:sp>
        <p:nvSpPr>
          <p:cNvPr id="14" name="Shape 12"/>
          <p:cNvSpPr/>
          <p:nvPr/>
        </p:nvSpPr>
        <p:spPr>
          <a:xfrm>
            <a:off x="457200" y="2747772"/>
            <a:ext cx="4041648"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475488" y="2875788"/>
            <a:ext cx="64008" cy="1083564"/>
          </a:xfrm>
          <a:prstGeom prst="rect">
            <a:avLst/>
          </a:prstGeom>
          <a:solidFill>
            <a:srgbClr val="D97A14"/>
          </a:solidFill>
          <a:ln w="12700">
            <a:solidFill>
              <a:srgbClr val="D97A14"/>
            </a:solidFill>
            <a:prstDash val="solid"/>
          </a:ln>
        </p:spPr>
      </p:sp>
      <p:sp>
        <p:nvSpPr>
          <p:cNvPr id="16" name="Text 14"/>
          <p:cNvSpPr txBox="1"/>
          <p:nvPr/>
        </p:nvSpPr>
        <p:spPr>
          <a:xfrm>
            <a:off x="640080" y="281178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binary hash trees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node has two children, so a tree over many leaves is only a few levels deep.</a:t>
            </a:r>
            <a:endParaRPr lang="en-US" sz="1300" dirty="0"/>
          </a:p>
        </p:txBody>
      </p:sp>
      <p:sp>
        <p:nvSpPr>
          <p:cNvPr id="17" name="Text 15"/>
          <p:cNvSpPr txBox="1"/>
          <p:nvPr/>
        </p:nvSpPr>
        <p:spPr>
          <a:xfrm>
            <a:off x="640080" y="345186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sports bracket folded in pairs.</a:t>
            </a:r>
            <a:endParaRPr lang="en-US" sz="1150" dirty="0"/>
          </a:p>
        </p:txBody>
      </p:sp>
      <p:sp>
        <p:nvSpPr>
          <p:cNvPr id="18" name="Shape 16"/>
          <p:cNvSpPr/>
          <p:nvPr/>
        </p:nvSpPr>
        <p:spPr>
          <a:xfrm>
            <a:off x="4645152" y="2747772"/>
            <a:ext cx="4041648" cy="1339596"/>
          </a:xfrm>
          <a:prstGeom prst="roundRect">
            <a:avLst>
              <a:gd name="adj" fmla="val 5461"/>
            </a:avLst>
          </a:prstGeom>
          <a:solidFill>
            <a:srgbClr val="F2ECE1"/>
          </a:solidFill>
          <a:ln w="12700">
            <a:solidFill>
              <a:srgbClr val="DFD6C7"/>
            </a:solidFill>
            <a:prstDash val="solid"/>
          </a:ln>
        </p:spPr>
      </p:sp>
      <p:sp>
        <p:nvSpPr>
          <p:cNvPr id="19" name="Shape 17"/>
          <p:cNvSpPr/>
          <p:nvPr/>
        </p:nvSpPr>
        <p:spPr>
          <a:xfrm>
            <a:off x="4663440" y="2875788"/>
            <a:ext cx="64008" cy="1083564"/>
          </a:xfrm>
          <a:prstGeom prst="rect">
            <a:avLst/>
          </a:prstGeom>
          <a:solidFill>
            <a:srgbClr val="D97A14"/>
          </a:solidFill>
          <a:ln w="12700">
            <a:solidFill>
              <a:srgbClr val="D97A14"/>
            </a:solidFill>
            <a:prstDash val="solid"/>
          </a:ln>
        </p:spPr>
      </p:sp>
      <p:sp>
        <p:nvSpPr>
          <p:cNvPr id="20" name="Text 18"/>
          <p:cNvSpPr txBox="1"/>
          <p:nvPr/>
        </p:nvSpPr>
        <p:spPr>
          <a:xfrm>
            <a:off x="4828032" y="281178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balanced merkle trees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odd level is padded by repeating its last hash, so every level pairs up.</a:t>
            </a:r>
            <a:endParaRPr lang="en-US" sz="1300" dirty="0"/>
          </a:p>
        </p:txBody>
      </p:sp>
      <p:sp>
        <p:nvSpPr>
          <p:cNvPr id="21" name="Text 19"/>
          <p:cNvSpPr txBox="1"/>
          <p:nvPr/>
        </p:nvSpPr>
        <p:spPr>
          <a:xfrm>
            <a:off x="4828032" y="345186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lone dancer given a mirror image as partner.</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Pair, hash, repeat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merkle tree of four, and of three, transactions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R[</a:t>
            </a:r>
            <a:r>
              <a:rPr lang="en-US" sz="1000" dirty="0">
                <a:solidFill>
                  <a:srgbClr val="9ECBFF"/>
                </a:solidFill>
                <a:latin typeface="Courier New" pitchFamily="34" charset="0"/>
                <a:ea typeface="Courier New" pitchFamily="34" charset="-122"/>
                <a:cs typeface="Courier New" pitchFamily="34" charset="-120"/>
              </a:rPr>
              <a:t>'b4_blocks'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lv = [len(x)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L.merkle_levels(b[</a:t>
            </a:r>
            <a:r>
              <a:rPr lang="en-US" sz="1000" dirty="0">
                <a:solidFill>
                  <a:srgbClr val="9ECBFF"/>
                </a:solidFill>
                <a:latin typeface="Courier New" pitchFamily="34" charset="0"/>
                <a:ea typeface="Courier New" pitchFamily="34" charset="-122"/>
                <a:cs typeface="Courier New" pitchFamily="34" charset="-120"/>
              </a:rPr>
              <a:t>'txids'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root = L.merkle_root(b[</a:t>
            </a:r>
            <a:r>
              <a:rPr lang="en-US" sz="1000" dirty="0">
                <a:solidFill>
                  <a:srgbClr val="9ECBFF"/>
                </a:solidFill>
                <a:latin typeface="Courier New" pitchFamily="34" charset="0"/>
                <a:ea typeface="Courier New" pitchFamily="34" charset="-122"/>
                <a:cs typeface="Courier New" pitchFamily="34" charset="-120"/>
              </a:rPr>
              <a:t>'txids'</a:t>
            </a:r>
            <a:r>
              <a:rPr lang="en-US" sz="1000" dirty="0">
                <a:solidFill>
                  <a:srgbClr val="E6EDF3"/>
                </a:solidFill>
                <a:latin typeface="Courier New" pitchFamily="34" charset="0"/>
                <a:ea typeface="Courier New" pitchFamily="34" charset="-122"/>
                <a:cs typeface="Courier New" pitchFamily="34" charset="-120"/>
              </a:rPr>
              <a:t>]) == b[</a:t>
            </a:r>
            <a:r>
              <a:rPr lang="en-US" sz="1000" dirty="0">
                <a:solidFill>
                  <a:srgbClr val="9ECBFF"/>
                </a:solidFill>
                <a:latin typeface="Courier New" pitchFamily="34" charset="0"/>
                <a:ea typeface="Courier New" pitchFamily="34" charset="-122"/>
                <a:cs typeface="Courier New" pitchFamily="34" charset="-120"/>
              </a:rPr>
              <a:t>'merkleroot'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6509"/>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 = R[</a:t>
            </a:r>
            <a:r>
              <a:rPr lang="en-US" sz="1000" dirty="0">
                <a:solidFill>
                  <a:srgbClr val="9ECBFF"/>
                </a:solidFill>
                <a:latin typeface="Courier New" pitchFamily="34" charset="0"/>
                <a:ea typeface="Courier New" pitchFamily="34" charset="-122"/>
                <a:cs typeface="Courier New" pitchFamily="34" charset="-120"/>
              </a:rPr>
              <a:t>'b4_blocks'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 = [len(x)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L.merkle_levels(o[</a:t>
            </a:r>
            <a:r>
              <a:rPr lang="en-US" sz="1000" dirty="0">
                <a:solidFill>
                  <a:srgbClr val="9ECBFF"/>
                </a:solidFill>
                <a:latin typeface="Courier New" pitchFamily="34" charset="0"/>
                <a:ea typeface="Courier New" pitchFamily="34" charset="-122"/>
                <a:cs typeface="Courier New" pitchFamily="34" charset="-120"/>
              </a:rPr>
              <a:t>'txids'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(lv, lo, root)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 2, 1], [3, 2, 1],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Four transaction ids of a private block become the tree's bottom level.</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Hash the pairs level by level; the top must equal the root in the header.</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three leaves the last one is paired with itself.</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hashes per level, 4 and 3 transactions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rebuilt root equals the one in the header: yes. Three leaves still make three levels.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odd level is completed by pairing the last hash with itself</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Merkle trees: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695298"/>
          </a:xfrm>
          <a:prstGeom prst="roundRect">
            <a:avLst>
              <a:gd name="adj" fmla="val 4315"/>
            </a:avLst>
          </a:prstGeom>
          <a:solidFill>
            <a:srgbClr val="F2ECE1"/>
          </a:solidFill>
          <a:ln w="12700">
            <a:solidFill>
              <a:srgbClr val="DFD6C7"/>
            </a:solidFill>
            <a:prstDash val="solid"/>
          </a:ln>
        </p:spPr>
      </p:sp>
      <p:sp>
        <p:nvSpPr>
          <p:cNvPr id="7" name="Shape 5"/>
          <p:cNvSpPr/>
          <p:nvPr/>
        </p:nvSpPr>
        <p:spPr>
          <a:xfrm>
            <a:off x="475488" y="1408176"/>
            <a:ext cx="64008" cy="1439266"/>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96926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authentication path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sibling hashes from a leaf up to the root; with them anyone can recompute the root.</a:t>
            </a:r>
            <a:endParaRPr lang="en-US" sz="1300" dirty="0"/>
          </a:p>
        </p:txBody>
      </p:sp>
      <p:sp>
        <p:nvSpPr>
          <p:cNvPr id="9" name="Text 7"/>
          <p:cNvSpPr txBox="1"/>
          <p:nvPr/>
        </p:nvSpPr>
        <p:spPr>
          <a:xfrm>
            <a:off x="640080" y="2340864"/>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receipts that prove one subtotal belongs in the grand total.</a:t>
            </a:r>
            <a:endParaRPr lang="en-US" sz="1150" dirty="0"/>
          </a:p>
        </p:txBody>
      </p:sp>
      <p:sp>
        <p:nvSpPr>
          <p:cNvPr id="10" name="Shape 8"/>
          <p:cNvSpPr/>
          <p:nvPr/>
        </p:nvSpPr>
        <p:spPr>
          <a:xfrm>
            <a:off x="3249168" y="1280160"/>
            <a:ext cx="2645664" cy="1695298"/>
          </a:xfrm>
          <a:prstGeom prst="roundRect">
            <a:avLst>
              <a:gd name="adj" fmla="val 4315"/>
            </a:avLst>
          </a:prstGeom>
          <a:solidFill>
            <a:srgbClr val="F2ECE1"/>
          </a:solidFill>
          <a:ln w="12700">
            <a:solidFill>
              <a:srgbClr val="DFD6C7"/>
            </a:solidFill>
            <a:prstDash val="solid"/>
          </a:ln>
        </p:spPr>
      </p:sp>
      <p:sp>
        <p:nvSpPr>
          <p:cNvPr id="11" name="Shape 9"/>
          <p:cNvSpPr/>
          <p:nvPr/>
        </p:nvSpPr>
        <p:spPr>
          <a:xfrm>
            <a:off x="3267456" y="1408176"/>
            <a:ext cx="64008" cy="1439266"/>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merkle path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Another name for the authentication path: one sibling hash for each level.</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directions that list each turn on the way up a staircase.</a:t>
            </a:r>
            <a:endParaRPr lang="en-US" sz="1150" dirty="0"/>
          </a:p>
        </p:txBody>
      </p:sp>
      <p:sp>
        <p:nvSpPr>
          <p:cNvPr id="14" name="Shape 12"/>
          <p:cNvSpPr/>
          <p:nvPr/>
        </p:nvSpPr>
        <p:spPr>
          <a:xfrm>
            <a:off x="6041136" y="1280160"/>
            <a:ext cx="2645664" cy="1695298"/>
          </a:xfrm>
          <a:prstGeom prst="roundRect">
            <a:avLst>
              <a:gd name="adj" fmla="val 4315"/>
            </a:avLst>
          </a:prstGeom>
          <a:solidFill>
            <a:srgbClr val="F2ECE1"/>
          </a:solidFill>
          <a:ln w="12700">
            <a:solidFill>
              <a:srgbClr val="DFD6C7"/>
            </a:solidFill>
            <a:prstDash val="solid"/>
          </a:ln>
        </p:spPr>
      </p:sp>
      <p:sp>
        <p:nvSpPr>
          <p:cNvPr id="15" name="Shape 13"/>
          <p:cNvSpPr/>
          <p:nvPr/>
        </p:nvSpPr>
        <p:spPr>
          <a:xfrm>
            <a:off x="6059424" y="1408176"/>
            <a:ext cx="64008" cy="1439266"/>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lightweight clients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Wallets that download headers only and verify transactions with merkle proofs.</a:t>
            </a:r>
            <a:endParaRPr lang="en-US" sz="1300" dirty="0"/>
          </a:p>
        </p:txBody>
      </p:sp>
      <p:sp>
        <p:nvSpPr>
          <p:cNvPr id="17" name="Text 15"/>
          <p:cNvSpPr txBox="1"/>
          <p:nvPr/>
        </p:nvSpPr>
        <p:spPr>
          <a:xfrm>
            <a:off x="6224016"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reader who keeps the table of contents, not the whole book.</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proof of four hashes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transaction of sixteen, proved with its siblings</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R[</a:t>
            </a:r>
            <a:r>
              <a:rPr lang="en-US" sz="1000" dirty="0">
                <a:solidFill>
                  <a:srgbClr val="9ECBFF"/>
                </a:solidFill>
                <a:latin typeface="Courier New" pitchFamily="34" charset="0"/>
                <a:ea typeface="Courier New" pitchFamily="34" charset="-122"/>
                <a:cs typeface="Courier New" pitchFamily="34" charset="-120"/>
              </a:rPr>
              <a:t>'b4_blocks'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ids = b[</a:t>
            </a:r>
            <a:r>
              <a:rPr lang="en-US" sz="1000" dirty="0">
                <a:solidFill>
                  <a:srgbClr val="9ECBFF"/>
                </a:solidFill>
                <a:latin typeface="Courier New" pitchFamily="34" charset="0"/>
                <a:ea typeface="Courier New" pitchFamily="34" charset="-122"/>
                <a:cs typeface="Courier New" pitchFamily="34" charset="-120"/>
              </a:rPr>
              <a:t>'txids'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L.merkle_path(ids,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452421"/>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525573"/>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good = L.follow_path(ids[</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p) == b[</a:t>
            </a:r>
            <a:r>
              <a:rPr lang="en-US" sz="1000" dirty="0">
                <a:solidFill>
                  <a:srgbClr val="9ECBFF"/>
                </a:solidFill>
                <a:latin typeface="Courier New" pitchFamily="34" charset="0"/>
                <a:ea typeface="Courier New" pitchFamily="34" charset="-122"/>
                <a:cs typeface="Courier New" pitchFamily="34" charset="-120"/>
              </a:rPr>
              <a:t>'merkleroot'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(len(p),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len(p))</a:t>
            </a:r>
            <a:endParaRPr lang="en-US" sz="1000" dirty="0"/>
          </a:p>
        </p:txBody>
      </p:sp>
      <p:sp>
        <p:nvSpPr>
          <p:cNvPr id="10" name="Shape 8"/>
          <p:cNvSpPr/>
          <p:nvPr/>
        </p:nvSpPr>
        <p:spPr>
          <a:xfrm>
            <a:off x="457200" y="341345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48660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L.depth(n)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1024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4096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good, 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 128), True, [320, 384, 448])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 16 holds sixteen transactions; prove that the eleventh is among them.</a:t>
            </a:r>
            <a:endParaRPr lang="en-US" sz="1050" dirty="0"/>
          </a:p>
        </p:txBody>
      </p:sp>
      <p:sp>
        <p:nvSpPr>
          <p:cNvPr id="15" name="Shape 13"/>
          <p:cNvSpPr/>
          <p:nvPr/>
        </p:nvSpPr>
        <p:spPr>
          <a:xfrm>
            <a:off x="365760" y="2379269"/>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37926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path is four sibling hashes of 32 bytes; following it rebuilds the root.</a:t>
            </a:r>
            <a:endParaRPr lang="en-US" sz="1050" dirty="0"/>
          </a:p>
        </p:txBody>
      </p:sp>
      <p:sp>
        <p:nvSpPr>
          <p:cNvPr id="18" name="Shape 16"/>
          <p:cNvSpPr/>
          <p:nvPr/>
        </p:nvSpPr>
        <p:spPr>
          <a:xfrm>
            <a:off x="365760" y="334030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34030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408279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proof grows only with the logarithm of the number of transactions.</a:t>
            </a:r>
            <a:endParaRPr lang="en-US" sz="1050" dirty="0"/>
          </a:p>
        </p:txBody>
      </p:sp>
      <p:sp>
        <p:nvSpPr>
          <p:cNvPr id="21" name="Text 19"/>
          <p:cNvSpPr txBox="1"/>
          <p:nvPr/>
        </p:nvSpPr>
        <p:spPr>
          <a:xfrm>
            <a:off x="457200" y="433882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proof bytes by number of transactions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path of 4 hashes, 128 bytes, proves one of 16 transactions; it rebuilds the root: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proof grows slowly: 16,000 transactions need 14 hashes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43</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Ralph Merkle's hash tree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small hash that vouches for a whole list</a:t>
            </a:r>
            <a:endParaRPr lang="en-US" sz="1300" dirty="0"/>
          </a:p>
        </p:txBody>
      </p:sp>
      <p:pic>
        <p:nvPicPr>
          <p:cNvPr id="6" name="Image 0" descr="../../03-materials/ch11/assets/photo_ralph_merkle.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Ralph Merkle - david.orban (Flickr), CC BY 2.0,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Ralph Merkle patented the hash tree in 1979; United States patent 4,309,569 was published on 5 January 1982, with Stanford University as assignee.</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tree of hashes lets one small root vouch for a long list, which is how a block header covers every transaction.</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40 transaction ids of block 277,315 were hashed in pairs, six levels up, to the root in its header.</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small summary can vouch for a large list.</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Ralph Merkle, the crypto…</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Stanford University in…</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1982-01-05</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Merkle's patent US 4,309,569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image-ppubs.uspto.gov</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43</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lists, one root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weakness of the tree and Core's answer</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ids = [L.sha256d(bytes([i])).hex()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twin = ids + [ids[</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ids[</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L.merkle_root(ids) == L.merkle_root(twin)</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 R[</a:t>
            </a:r>
            <a:r>
              <a:rPr lang="en-US" sz="1000" dirty="0">
                <a:solidFill>
                  <a:srgbClr val="9ECBFF"/>
                </a:solidFill>
                <a:latin typeface="Courier New" pitchFamily="34" charset="0"/>
                <a:ea typeface="Courier New" pitchFamily="34" charset="-122"/>
                <a:cs typeface="Courier New" pitchFamily="34" charset="-120"/>
              </a:rPr>
              <a:t>'b5_mutation'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m[</a:t>
            </a:r>
            <a:r>
              <a:rPr lang="en-US" sz="1000" dirty="0">
                <a:solidFill>
                  <a:srgbClr val="9ECBFF"/>
                </a:solidFill>
                <a:latin typeface="Courier New" pitchFamily="34" charset="0"/>
                <a:ea typeface="Courier New" pitchFamily="34" charset="-122"/>
                <a:cs typeface="Courier New" pitchFamily="34" charset="-120"/>
              </a:rPr>
              <a:t>'n_original'</a:t>
            </a:r>
            <a:r>
              <a:rPr lang="en-US" sz="1000" dirty="0">
                <a:solidFill>
                  <a:srgbClr val="E6EDF3"/>
                </a:solidFill>
                <a:latin typeface="Courier New" pitchFamily="34" charset="0"/>
                <a:ea typeface="Courier New" pitchFamily="34" charset="-122"/>
                <a:cs typeface="Courier New" pitchFamily="34" charset="-120"/>
              </a:rPr>
              <a:t>], m[</a:t>
            </a:r>
            <a:r>
              <a:rPr lang="en-US" sz="1000" dirty="0">
                <a:solidFill>
                  <a:srgbClr val="9ECBFF"/>
                </a:solidFill>
                <a:latin typeface="Courier New" pitchFamily="34" charset="0"/>
                <a:ea typeface="Courier New" pitchFamily="34" charset="-122"/>
                <a:cs typeface="Courier New" pitchFamily="34" charset="-120"/>
              </a:rPr>
              <a:t>'n_mutated'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3, 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Repeating the last two ids of six transactions gives the same merkle root.</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different lists, one root: the first weakness.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Core received such a mutated block and refused it; the original stayed.</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duplicate weakness</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Twin list, same root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Transactions, original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Transactions, mutated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Core's verdict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bad-txns-duplicate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Original stayed the tip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Same header, different lists: Core must refuse the copy by its content.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Core refuses a block whose transaction list repeats a hash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43</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light client needs 248 bytes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merkleblock proof read apart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pm = R[</a:t>
            </a:r>
            <a:r>
              <a:rPr lang="en-US" sz="1000" dirty="0">
                <a:solidFill>
                  <a:srgbClr val="9ECBFF"/>
                </a:solidFill>
                <a:latin typeface="Courier New" pitchFamily="34" charset="0"/>
                <a:ea typeface="Courier New" pitchFamily="34" charset="-122"/>
                <a:cs typeface="Courier New" pitchFamily="34" charset="-120"/>
              </a:rPr>
              <a:t>'b4_proof_for_k_of_16'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'proof_hex'</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mb = L.parse_merkleblock(pm)</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k = mb[</a:t>
            </a:r>
            <a:r>
              <a:rPr lang="en-US" sz="1000" dirty="0">
                <a:solidFill>
                  <a:srgbClr val="9ECBFF"/>
                </a:solidFill>
                <a:latin typeface="Courier New" pitchFamily="34" charset="0"/>
                <a:ea typeface="Courier New" pitchFamily="34" charset="-122"/>
                <a:cs typeface="Courier New" pitchFamily="34" charset="-120"/>
              </a:rPr>
              <a:t>'ntx'</a:t>
            </a:r>
            <a:r>
              <a:rPr lang="en-US" sz="1000" dirty="0">
                <a:solidFill>
                  <a:srgbClr val="E6EDF3"/>
                </a:solidFill>
                <a:latin typeface="Courier New" pitchFamily="34" charset="0"/>
                <a:ea typeface="Courier New" pitchFamily="34" charset="-122"/>
                <a:cs typeface="Courier New" pitchFamily="34" charset="-120"/>
              </a:rPr>
              <a:t>], len(mb[</a:t>
            </a:r>
            <a:r>
              <a:rPr lang="en-US" sz="1000" dirty="0">
                <a:solidFill>
                  <a:srgbClr val="9ECBFF"/>
                </a:solidFill>
                <a:latin typeface="Courier New" pitchFamily="34" charset="0"/>
                <a:ea typeface="Courier New" pitchFamily="34" charset="-122"/>
                <a:cs typeface="Courier New" pitchFamily="34" charset="-120"/>
              </a:rPr>
              <a:t>'hashes'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k, mb[</a:t>
            </a:r>
            <a:r>
              <a:rPr lang="en-US" sz="1000" dirty="0">
                <a:solidFill>
                  <a:srgbClr val="9ECBFF"/>
                </a:solidFill>
                <a:latin typeface="Courier New" pitchFamily="34" charset="0"/>
                <a:ea typeface="Courier New" pitchFamily="34" charset="-122"/>
                <a:cs typeface="Courier New" pitchFamily="34" charset="-120"/>
              </a:rPr>
              <a:t>'total'</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(16, 5, 248)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light client asks a full node for a proof: a header plus a few hashes.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the header, a count and a handful of hashes cross the wire.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proof says one transaction of sixteen is in the block, in under 250 bytes.</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merkleblock proof</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Transactions in the 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Hashes in the proof</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Proof size,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Core confirms the match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Five hashes and a header stand in for sixteen transactions.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phone can check one payment without the other fifteen transactions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43</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Test blockchains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test chain is a rehearsal room: same stage, no real audience.</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Five chains</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Mainnet and four test chains share one code base with different constants.</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five stages built to one plan with different props.</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Testnet</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public test chain with worthless coins and a minimum-difficulty rule.</a:t>
            </a:r>
            <a:endParaRPr lang="en-US" sz="1150" dirty="0"/>
          </a:p>
        </p:txBody>
      </p:sp>
      <p:sp>
        <p:nvSpPr>
          <p:cNvPr id="13" name="Text 11"/>
          <p:cNvSpPr txBox="1"/>
          <p:nvPr/>
        </p:nvSpPr>
        <p:spPr>
          <a:xfrm>
            <a:off x="3459480" y="3086100"/>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sandpit in a park where castles may be knocked down.</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Signet and regtest</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Signet needs a signature for each block; regtest is private and mined on demand.</a:t>
            </a:r>
            <a:endParaRPr lang="en-US" sz="1150" dirty="0"/>
          </a:p>
        </p:txBody>
      </p:sp>
      <p:sp>
        <p:nvSpPr>
          <p:cNvPr id="17" name="Text 15"/>
          <p:cNvSpPr txBox="1"/>
          <p:nvPr/>
        </p:nvSpPr>
        <p:spPr>
          <a:xfrm>
            <a:off x="6141720" y="3086100"/>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club with a doorman, and a private rehearsal room.</a:t>
            </a:r>
            <a:endParaRPr lang="en-US" sz="11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2621585"/>
                <a:gridCol w="2621585"/>
                <a:gridCol w="262158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Block and chain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Merkle 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Test chains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43</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Test blockchains: key concepts (1 of 5)</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84148"/>
          </a:xfrm>
          <a:prstGeom prst="roundRect">
            <a:avLst>
              <a:gd name="adj" fmla="val 6178"/>
            </a:avLst>
          </a:prstGeom>
          <a:solidFill>
            <a:srgbClr val="F2ECE1"/>
          </a:solidFill>
          <a:ln w="12700">
            <a:solidFill>
              <a:srgbClr val="DFD6C7"/>
            </a:solidFill>
            <a:prstDash val="solid"/>
          </a:ln>
        </p:spPr>
      </p:sp>
      <p:sp>
        <p:nvSpPr>
          <p:cNvPr id="7" name="Shape 5"/>
          <p:cNvSpPr/>
          <p:nvPr/>
        </p:nvSpPr>
        <p:spPr>
          <a:xfrm>
            <a:off x="475488" y="1408176"/>
            <a:ext cx="64008" cy="92811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Bitcoin's Test Blockchains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Separate chains with Bitcoin's rules and worthless coins, for experiments.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flight simulator, a training pitch and the match: same rules, different stakes.</a:t>
            </a:r>
            <a:endParaRPr lang="en-US" sz="1150" dirty="0"/>
          </a:p>
        </p:txBody>
      </p:sp>
      <p:sp>
        <p:nvSpPr>
          <p:cNvPr id="10" name="Shape 8"/>
          <p:cNvSpPr/>
          <p:nvPr/>
        </p:nvSpPr>
        <p:spPr>
          <a:xfrm>
            <a:off x="4645152" y="1280160"/>
            <a:ext cx="4041648" cy="1184148"/>
          </a:xfrm>
          <a:prstGeom prst="roundRect">
            <a:avLst>
              <a:gd name="adj" fmla="val 6178"/>
            </a:avLst>
          </a:prstGeom>
          <a:solidFill>
            <a:srgbClr val="F2ECE1"/>
          </a:solidFill>
          <a:ln w="12700">
            <a:solidFill>
              <a:srgbClr val="DFD6C7"/>
            </a:solidFill>
            <a:prstDash val="solid"/>
          </a:ln>
        </p:spPr>
      </p:sp>
      <p:sp>
        <p:nvSpPr>
          <p:cNvPr id="11" name="Shape 9"/>
          <p:cNvSpPr/>
          <p:nvPr/>
        </p:nvSpPr>
        <p:spPr>
          <a:xfrm>
            <a:off x="4663440" y="1408176"/>
            <a:ext cx="64008" cy="92811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Testnet: Bitcoin's Testing Playground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public test chain whose coins have no value.</a:t>
            </a:r>
            <a:endParaRPr lang="en-US" sz="1300" dirty="0"/>
          </a:p>
        </p:txBody>
      </p:sp>
      <p:sp>
        <p:nvSpPr>
          <p:cNvPr id="13" name="Text 11"/>
          <p:cNvSpPr txBox="1"/>
          <p:nvPr/>
        </p:nvSpPr>
        <p:spPr>
          <a:xfrm>
            <a:off x="4828032" y="200710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sandpit in a park, where castles may be knocked down.</a:t>
            </a:r>
            <a:endParaRPr lang="en-US" sz="1150" dirty="0"/>
          </a:p>
        </p:txBody>
      </p:sp>
      <p:sp>
        <p:nvSpPr>
          <p:cNvPr id="14" name="Shape 12"/>
          <p:cNvSpPr/>
          <p:nvPr/>
        </p:nvSpPr>
        <p:spPr>
          <a:xfrm>
            <a:off x="457200" y="2592324"/>
            <a:ext cx="4041648" cy="1184148"/>
          </a:xfrm>
          <a:prstGeom prst="roundRect">
            <a:avLst>
              <a:gd name="adj" fmla="val 6178"/>
            </a:avLst>
          </a:prstGeom>
          <a:solidFill>
            <a:srgbClr val="F2ECE1"/>
          </a:solidFill>
          <a:ln w="12700">
            <a:solidFill>
              <a:srgbClr val="DFD6C7"/>
            </a:solidFill>
            <a:prstDash val="solid"/>
          </a:ln>
        </p:spPr>
      </p:sp>
      <p:sp>
        <p:nvSpPr>
          <p:cNvPr id="15" name="Shape 13"/>
          <p:cNvSpPr/>
          <p:nvPr/>
        </p:nvSpPr>
        <p:spPr>
          <a:xfrm>
            <a:off x="475488" y="2720340"/>
            <a:ext cx="64008" cy="928116"/>
          </a:xfrm>
          <a:prstGeom prst="rect">
            <a:avLst/>
          </a:prstGeom>
          <a:solidFill>
            <a:srgbClr val="D97A14"/>
          </a:solidFill>
          <a:ln w="12700">
            <a:solidFill>
              <a:srgbClr val="D97A14"/>
            </a:solidFill>
            <a:prstDash val="solid"/>
          </a:ln>
        </p:spPr>
      </p:sp>
      <p:sp>
        <p:nvSpPr>
          <p:cNvPr id="16" name="Text 14"/>
          <p:cNvSpPr txBox="1"/>
          <p:nvPr/>
        </p:nvSpPr>
        <p:spPr>
          <a:xfrm>
            <a:off x="640080" y="265633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Using testnet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Point a wallet or node at testnet and take free coins from a faucet.</a:t>
            </a:r>
            <a:endParaRPr lang="en-US" sz="1300" dirty="0"/>
          </a:p>
        </p:txBody>
      </p:sp>
      <p:sp>
        <p:nvSpPr>
          <p:cNvPr id="17" name="Text 15"/>
          <p:cNvSpPr txBox="1"/>
          <p:nvPr/>
        </p:nvSpPr>
        <p:spPr>
          <a:xfrm>
            <a:off x="640080" y="3296412"/>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practising with play money.</a:t>
            </a:r>
            <a:endParaRPr lang="en-US" sz="1150" dirty="0"/>
          </a:p>
        </p:txBody>
      </p:sp>
      <p:sp>
        <p:nvSpPr>
          <p:cNvPr id="18" name="Shape 16"/>
          <p:cNvSpPr/>
          <p:nvPr/>
        </p:nvSpPr>
        <p:spPr>
          <a:xfrm>
            <a:off x="4645152" y="2592324"/>
            <a:ext cx="4041648" cy="1184148"/>
          </a:xfrm>
          <a:prstGeom prst="roundRect">
            <a:avLst>
              <a:gd name="adj" fmla="val 6178"/>
            </a:avLst>
          </a:prstGeom>
          <a:solidFill>
            <a:srgbClr val="F2ECE1"/>
          </a:solidFill>
          <a:ln w="12700">
            <a:solidFill>
              <a:srgbClr val="DFD6C7"/>
            </a:solidFill>
            <a:prstDash val="solid"/>
          </a:ln>
        </p:spPr>
      </p:sp>
      <p:sp>
        <p:nvSpPr>
          <p:cNvPr id="19" name="Shape 17"/>
          <p:cNvSpPr/>
          <p:nvPr/>
        </p:nvSpPr>
        <p:spPr>
          <a:xfrm>
            <a:off x="4663440" y="2720340"/>
            <a:ext cx="64008" cy="928116"/>
          </a:xfrm>
          <a:prstGeom prst="rect">
            <a:avLst/>
          </a:prstGeom>
          <a:solidFill>
            <a:srgbClr val="D97A14"/>
          </a:solidFill>
          <a:ln w="12700">
            <a:solidFill>
              <a:srgbClr val="D97A14"/>
            </a:solidFill>
            <a:prstDash val="solid"/>
          </a:ln>
        </p:spPr>
      </p:sp>
      <p:sp>
        <p:nvSpPr>
          <p:cNvPr id="20" name="Text 18"/>
          <p:cNvSpPr txBox="1"/>
          <p:nvPr/>
        </p:nvSpPr>
        <p:spPr>
          <a:xfrm>
            <a:off x="4828032" y="265633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Problems with testnet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Its minimum-difficulty rule let miners flood it with blocks, so testnet4 replaced it.</a:t>
            </a:r>
            <a:endParaRPr lang="en-US" sz="1300" dirty="0"/>
          </a:p>
        </p:txBody>
      </p:sp>
      <p:sp>
        <p:nvSpPr>
          <p:cNvPr id="21" name="Text 19"/>
          <p:cNvSpPr txBox="1"/>
          <p:nvPr/>
        </p:nvSpPr>
        <p:spPr>
          <a:xfrm>
            <a:off x="4828032" y="3296412"/>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sandpit that nobody tidies.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43</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code base, five chains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Ports and expected sizes from the source file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names = </a:t>
            </a:r>
            <a:r>
              <a:rPr lang="en-US" sz="1000" dirty="0">
                <a:solidFill>
                  <a:srgbClr val="9ECBFF"/>
                </a:solidFill>
                <a:latin typeface="Courier New" pitchFamily="34" charset="0"/>
                <a:ea typeface="Courier New" pitchFamily="34" charset="-122"/>
                <a:cs typeface="Courier New" pitchFamily="34" charset="-120"/>
              </a:rPr>
              <a:t>'main test testnet4 signet regtest'</a:t>
            </a:r>
            <a:r>
              <a:rPr lang="en-US" sz="1000" dirty="0">
                <a:solidFill>
                  <a:srgbClr val="E6EDF3"/>
                </a:solidFill>
                <a:latin typeface="Courier New" pitchFamily="34" charset="0"/>
                <a:ea typeface="Courier New" pitchFamily="34" charset="-122"/>
                <a:cs typeface="Courier New" pitchFamily="34" charset="-120"/>
              </a:rPr>
              <a:t>.split()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ports = [L.chain_facts(k)[</a:t>
            </a:r>
            <a:r>
              <a:rPr lang="en-US" sz="1000" dirty="0">
                <a:solidFill>
                  <a:srgbClr val="9ECBFF"/>
                </a:solidFill>
                <a:latin typeface="Courier New" pitchFamily="34" charset="0"/>
                <a:ea typeface="Courier New" pitchFamily="34" charset="-122"/>
                <a:cs typeface="Courier New" pitchFamily="34" charset="-120"/>
              </a:rPr>
              <a:t>'port'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names]</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gb = [L.chain_facts(k)[</a:t>
            </a:r>
            <a:r>
              <a:rPr lang="en-US" sz="1000" dirty="0">
                <a:solidFill>
                  <a:srgbClr val="9ECBFF"/>
                </a:solidFill>
                <a:latin typeface="Courier New" pitchFamily="34" charset="0"/>
                <a:ea typeface="Courier New" pitchFamily="34" charset="-122"/>
                <a:cs typeface="Courier New" pitchFamily="34" charset="-120"/>
              </a:rPr>
              <a:t>'assumed_gb'</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names]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ports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[8333, 18333, 48333, 38333, 18444]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Five chains share one code base but differ in their constants.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default network port of each chain, read from the saved chainparams.cpp.</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size of the chain that a new node is assumed to download, in gigabytes.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default port of each chain</a:t>
            </a:r>
            <a:endParaRPr lang="en-US" sz="1100" dirty="0"/>
          </a:p>
        </p:txBody>
      </p:sp>
      <p:graphicFrame>
        <p:nvGraphicFramePr>
          <p:cNvPr id="23"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Assumed chain size in gigabytes: main 856, test 245, testnet4 31, signet 24, regtest 0.</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chain has its own port, so nodes of different chains never mix</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43</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Test blockchains: key concepts (2 of 5)</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Signet: The Proof of Authority Testnet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test chain whose blocks need a signature from a trusted signer.</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club with a doorman who knows the guests.</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default signet and custom signets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public signet is maintained, and anyone can start another with their own challenge.</a:t>
            </a:r>
            <a:endParaRPr lang="en-US" sz="1300" dirty="0"/>
          </a:p>
        </p:txBody>
      </p:sp>
      <p:sp>
        <p:nvSpPr>
          <p:cNvPr id="13" name="Text 11"/>
          <p:cNvSpPr txBox="1"/>
          <p:nvPr/>
        </p:nvSpPr>
        <p:spPr>
          <a:xfrm>
            <a:off x="4828032"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public park and a private garden with your own gate.</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Regtest: The Local Blockchain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private chain on your own computer where blocks are mined on demand.</a:t>
            </a:r>
            <a:endParaRPr lang="en-US" sz="1300" dirty="0"/>
          </a:p>
        </p:txBody>
      </p:sp>
      <p:sp>
        <p:nvSpPr>
          <p:cNvPr id="17" name="Text 15"/>
          <p:cNvSpPr txBox="1"/>
          <p:nvPr/>
        </p:nvSpPr>
        <p:spPr>
          <a:xfrm>
            <a:off x="640080"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private rehearsal room that only you can enter.</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Using Test Blockchains for Development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Build on regtest, try on signet or testnet, release on mainnet.</a:t>
            </a:r>
            <a:endParaRPr lang="en-US" sz="1300" dirty="0"/>
          </a:p>
        </p:txBody>
      </p:sp>
      <p:sp>
        <p:nvSpPr>
          <p:cNvPr id="21" name="Text 19"/>
          <p:cNvSpPr txBox="1"/>
          <p:nvPr/>
        </p:nvSpPr>
        <p:spPr>
          <a:xfrm>
            <a:off x="4828032" y="367588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rehearsal, dress rehearsal and opening night.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43</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Testnet allows easy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minimum-difficulty rule, read from the source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names = </a:t>
            </a:r>
            <a:r>
              <a:rPr lang="en-US" sz="1000" dirty="0">
                <a:solidFill>
                  <a:srgbClr val="9ECBFF"/>
                </a:solidFill>
                <a:latin typeface="Courier New" pitchFamily="34" charset="0"/>
                <a:ea typeface="Courier New" pitchFamily="34" charset="-122"/>
                <a:cs typeface="Courier New" pitchFamily="34" charset="-120"/>
              </a:rPr>
              <a:t>'main test testnet4 signet regtest'</a:t>
            </a:r>
            <a:r>
              <a:rPr lang="en-US" sz="1000" dirty="0">
                <a:solidFill>
                  <a:srgbClr val="E6EDF3"/>
                </a:solidFill>
                <a:latin typeface="Courier New" pitchFamily="34" charset="0"/>
                <a:ea typeface="Courier New" pitchFamily="34" charset="-122"/>
                <a:cs typeface="Courier New" pitchFamily="34" charset="-120"/>
              </a:rPr>
              <a:t>.split()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flags = [L.chain_facts(k)[</a:t>
            </a:r>
            <a:r>
              <a:rPr lang="en-US" sz="1000" dirty="0">
                <a:solidFill>
                  <a:srgbClr val="9ECBFF"/>
                </a:solidFill>
                <a:latin typeface="Courier New" pitchFamily="34" charset="0"/>
                <a:ea typeface="Courier New" pitchFamily="34" charset="-122"/>
                <a:cs typeface="Courier New" pitchFamily="34" charset="-120"/>
              </a:rPr>
              <a:t>'min_diff'</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names]</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a:t>
            </a:r>
            <a:r>
              <a:rPr lang="en-US" sz="1000" dirty="0">
                <a:solidFill>
                  <a:srgbClr val="9ECBFF"/>
                </a:solidFill>
                <a:latin typeface="Courier New" pitchFamily="34" charset="0"/>
                <a:ea typeface="Courier New" pitchFamily="34" charset="-122"/>
                <a:cs typeface="Courier New" pitchFamily="34" charset="-120"/>
              </a:rPr>
              <a:t>'bitcoind_help_31.1.txt'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dep = L.has(h, </a:t>
            </a:r>
            <a:r>
              <a:rPr lang="en-US" sz="1000" dirty="0">
                <a:solidFill>
                  <a:srgbClr val="9ECBFF"/>
                </a:solidFill>
                <a:latin typeface="Courier New" pitchFamily="34" charset="0"/>
                <a:ea typeface="Courier New" pitchFamily="34" charset="-122"/>
                <a:cs typeface="Courier New" pitchFamily="34" charset="-120"/>
              </a:rPr>
              <a:t>'testnet3 is deprecated'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7949"/>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110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g4 = L.chainparams_genesis(</a:t>
            </a:r>
            <a:r>
              <a:rPr lang="en-US" sz="1000" dirty="0">
                <a:solidFill>
                  <a:srgbClr val="9ECBFF"/>
                </a:solidFill>
                <a:latin typeface="Courier New" pitchFamily="34" charset="0"/>
                <a:ea typeface="Courier New" pitchFamily="34" charset="-122"/>
                <a:cs typeface="Courier New" pitchFamily="34" charset="-120"/>
              </a:rPr>
              <a:t>'testnet4'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'hash'</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(flags, dep)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True, True, False,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Testnet allows a block at minimum difficulty after twenty idle minutes.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Core's own help text already says that support for testnet3 is deprecated.</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Testnet4 starts again from a new genesis block.</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may a block drop to the easiest difficulty?</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16002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Minimum difficulty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Testnet4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Regtest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Core's help calls testnet3 deprecated: yes. Testnet4's genesis hash starts 00000000da.</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of the test chains may drop to the easiest difficulty after twenty minutes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43</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the sandbox was flooded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test network without incentives gets flooded</a:t>
            </a:r>
            <a:endParaRPr lang="en-US" sz="1300" dirty="0"/>
          </a:p>
        </p:txBody>
      </p:sp>
      <p:pic>
        <p:nvPicPr>
          <p:cNvPr id="6" name="Image 0" descr="../../03-materials/ch11/assets/photo_children_sandpit.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Children in a sandpit - Shixart1985, CC BY 2.0,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4 May 2024 Jameson Lopp described how the minimum-difficulty rule of testnet3 let miners create hundreds of blocks in a single day.</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test network without incentives needs rules against vandals, so testnet4 and BIP 94, written by Fabian Jahr, replaced it.</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BIP 94 notes that three years of blocks were mined in a few weeks; on 15 October 2026 testnet3 stood at height 5,189,394, testnet4 at 156,618.</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Core 31.1 still starts testnet3 but its help says that the support will be removed.</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sandpit stands for the test network</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Jameson Lopp, who wrote …</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blog of Jameson Lo…</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2024-05-04</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94: Testnet 4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Test blockchains: key concepts (3 of 5)</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test blockchains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Chains that follow Bitcoin's rules with different constants.</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model railway with the same signals as the real one.</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testnet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public test chain; the current one is testnet4.</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sandpit for trying things.</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signet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test chain where each block must carry a valid signature.</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doorman who checks every guest.</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43</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Addresses show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Prefixes of the five chains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names = </a:t>
            </a:r>
            <a:r>
              <a:rPr lang="en-US" sz="1000" dirty="0">
                <a:solidFill>
                  <a:srgbClr val="9ECBFF"/>
                </a:solidFill>
                <a:latin typeface="Courier New" pitchFamily="34" charset="0"/>
                <a:ea typeface="Courier New" pitchFamily="34" charset="-122"/>
                <a:cs typeface="Courier New" pitchFamily="34" charset="-120"/>
              </a:rPr>
              <a:t>'main test testnet4 signet regtest'</a:t>
            </a:r>
            <a:r>
              <a:rPr lang="en-US" sz="1000" dirty="0">
                <a:solidFill>
                  <a:srgbClr val="E6EDF3"/>
                </a:solidFill>
                <a:latin typeface="Courier New" pitchFamily="34" charset="0"/>
                <a:ea typeface="Courier New" pitchFamily="34" charset="-122"/>
                <a:cs typeface="Courier New" pitchFamily="34" charset="-120"/>
              </a:rPr>
              <a:t>.split()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[L.chain_facts(k)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names]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hrp = [x[</a:t>
            </a:r>
            <a:r>
              <a:rPr lang="en-US" sz="1000" dirty="0">
                <a:solidFill>
                  <a:srgbClr val="9ECBFF"/>
                </a:solidFill>
                <a:latin typeface="Courier New" pitchFamily="34" charset="0"/>
                <a:ea typeface="Courier New" pitchFamily="34" charset="-122"/>
                <a:cs typeface="Courier New" pitchFamily="34" charset="-120"/>
              </a:rPr>
              <a:t>'hrp'</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p2pkh = [x[</a:t>
            </a:r>
            <a:r>
              <a:rPr lang="en-US" sz="1000" dirty="0">
                <a:solidFill>
                  <a:srgbClr val="9ECBFF"/>
                </a:solidFill>
                <a:latin typeface="Courier New" pitchFamily="34" charset="0"/>
                <a:ea typeface="Courier New" pitchFamily="34" charset="-122"/>
                <a:cs typeface="Courier New" pitchFamily="34" charset="-120"/>
              </a:rPr>
              <a:t>'p2pkh'</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R[</a:t>
            </a:r>
            <a:r>
              <a:rPr lang="en-US" sz="1000" dirty="0">
                <a:solidFill>
                  <a:srgbClr val="9ECBFF"/>
                </a:solidFill>
                <a:latin typeface="Courier New" pitchFamily="34" charset="0"/>
                <a:ea typeface="Courier New" pitchFamily="34" charset="-122"/>
                <a:cs typeface="Courier New" pitchFamily="34" charset="-120"/>
              </a:rPr>
              <a:t>'b8_regtest_addresses'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'bech32'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hrp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['bc', 'tb', 'tb', 'tb', 'bcrt']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chain writes its addresses with a prefix of its own.</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readable prefix of a SegWit address, and the version byte of a legacy one.</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Core made a real regtest address that starts with that prefix.</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address prefixes</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1051560"/>
                <a:gridCol w="8229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SegWit prefix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Legacy byte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Testnet4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Regtest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bcrt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regtest address made by Core starts with bcrt1q.</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testnet address can never be mistaken for a real one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43</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Test blockchains: key concepts (4 of 5)</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default signet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public signet that most developers share.</a:t>
            </a:r>
            <a:endParaRPr lang="en-US" sz="1300" dirty="0"/>
          </a:p>
        </p:txBody>
      </p:sp>
      <p:sp>
        <p:nvSpPr>
          <p:cNvPr id="9" name="Text 7"/>
          <p:cNvSpPr txBox="1"/>
          <p:nvPr/>
        </p:nvSpPr>
        <p:spPr>
          <a:xfrm>
            <a:off x="640080"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village green that everyone may use.</a:t>
            </a:r>
            <a:endParaRPr lang="en-US" sz="1150" dirty="0"/>
          </a:p>
        </p:txBody>
      </p:sp>
      <p:sp>
        <p:nvSpPr>
          <p:cNvPr id="10" name="Shape 8"/>
          <p:cNvSpPr/>
          <p:nvPr/>
        </p:nvSpPr>
        <p:spPr>
          <a:xfrm>
            <a:off x="3249168" y="1280160"/>
            <a:ext cx="2645664"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3267456"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custom signets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Signets you create by choosing your own challenge script.</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members' club with your own guest list.</a:t>
            </a:r>
            <a:endParaRPr lang="en-US" sz="1150" dirty="0"/>
          </a:p>
        </p:txBody>
      </p:sp>
      <p:sp>
        <p:nvSpPr>
          <p:cNvPr id="14" name="Shape 12"/>
          <p:cNvSpPr/>
          <p:nvPr/>
        </p:nvSpPr>
        <p:spPr>
          <a:xfrm>
            <a:off x="6041136" y="1280160"/>
            <a:ext cx="2645664"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6059424" y="1408176"/>
            <a:ext cx="64008" cy="905256"/>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challenge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script that a signet block's signature must satisfy.</a:t>
            </a:r>
            <a:endParaRPr lang="en-US" sz="1300" dirty="0"/>
          </a:p>
        </p:txBody>
      </p:sp>
      <p:sp>
        <p:nvSpPr>
          <p:cNvPr id="17" name="Text 15"/>
          <p:cNvSpPr txBox="1"/>
          <p:nvPr/>
        </p:nvSpPr>
        <p:spPr>
          <a:xfrm>
            <a:off x="6224016"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password that the doorman checks.</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43</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Signet: a challenge script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doorman's rule, and the bytes that identify the chain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'b9_chains'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'signet'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'info'</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'signet_challenge'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ops = L.script_ops(c)</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magic = L.signet_magic(c)</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easy = L.signet_magic(</a:t>
            </a:r>
            <a:r>
              <a:rPr lang="en-US" sz="1000" dirty="0">
                <a:solidFill>
                  <a:srgbClr val="9ECBFF"/>
                </a:solidFill>
                <a:latin typeface="Courier New" pitchFamily="34" charset="0"/>
                <a:ea typeface="Courier New" pitchFamily="34" charset="-122"/>
                <a:cs typeface="Courier New" pitchFamily="34" charset="-120"/>
              </a:rPr>
              <a:t>'51'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(len(c)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magic, easy)</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(71, '0a03cf40', '54d26fbd')</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default signet's challenge is a short script saved from Core.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Its four message-start bytes are the start of the hash of that script.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signet that anyone can sign has the challenge 51, which is OP_TRUE.</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default signet</a:t>
            </a:r>
            <a:endParaRPr lang="en-US" sz="11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Challenge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1-of-2 multisig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Script size,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Magic, default signet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0a03cf40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Magic, challenge 51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54d26fbd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doorman asks for one of two signatures; change the script and the magic changes.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four magic bytes are the start of the hash of the challenge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43</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test network with a doorman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Replace mining by a signature and the test network stays calm</a:t>
            </a:r>
            <a:endParaRPr lang="en-US" sz="1300" dirty="0"/>
          </a:p>
        </p:txBody>
      </p:sp>
      <p:pic>
        <p:nvPicPr>
          <p:cNvPr id="6" name="Image 0" descr="../../03-materials/ch11/assets/photo_signet_ring.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Signet ring of Ramesses II - akhenatenator, CC0 1.0, Flickr</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BIP 325 defines signet: a block is valid only if it carries a solution to a challenge script, so its creators decide who may make blocks.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Replace mining by a signature and a test network stays calm, with no flood of blocks.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default challenge is a 1-of-2 multisig, and its four magic bytes, 0a03cf40, start the double SHA-256 of that script.</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Core 0.21.0 added it; on 15 October 2026 the tip was at height 326,440, 2.27 times the book's listing.</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signet ring stands for the signature</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Karl-Johan Alm and Antho…</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2019-03-20</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325: Signet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43</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Test blockchains: key concepts (5 of 5)</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regtest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Regression-test mode: a private chain with trivial difficulty.</a:t>
            </a:r>
            <a:endParaRPr lang="en-US" sz="1300" dirty="0"/>
          </a:p>
        </p:txBody>
      </p:sp>
      <p:sp>
        <p:nvSpPr>
          <p:cNvPr id="9" name="Text 7"/>
          <p:cNvSpPr txBox="1"/>
          <p:nvPr/>
        </p:nvSpPr>
        <p:spPr>
          <a:xfrm>
            <a:off x="640080"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rehearsal room with the lights already on.</a:t>
            </a:r>
            <a:endParaRPr lang="en-US" sz="1150" dirty="0"/>
          </a:p>
        </p:txBody>
      </p:sp>
      <p:sp>
        <p:nvSpPr>
          <p:cNvPr id="10" name="Shape 8"/>
          <p:cNvSpPr/>
          <p:nvPr/>
        </p:nvSpPr>
        <p:spPr>
          <a:xfrm>
            <a:off x="3249168" y="1280160"/>
            <a:ext cx="2645664"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3267456"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BIP 325</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proposal that defines signet.</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club's written rules.</a:t>
            </a:r>
            <a:endParaRPr lang="en-US" sz="1150" dirty="0"/>
          </a:p>
        </p:txBody>
      </p:sp>
      <p:sp>
        <p:nvSpPr>
          <p:cNvPr id="14" name="Shape 12"/>
          <p:cNvSpPr/>
          <p:nvPr/>
        </p:nvSpPr>
        <p:spPr>
          <a:xfrm>
            <a:off x="6041136" y="1280160"/>
            <a:ext cx="2645664"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6059424" y="1408176"/>
            <a:ext cx="64008" cy="1083564"/>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mainnet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real Bitcoin chain, where coins have value.</a:t>
            </a:r>
            <a:endParaRPr lang="en-US" sz="1300" dirty="0"/>
          </a:p>
        </p:txBody>
      </p:sp>
      <p:sp>
        <p:nvSpPr>
          <p:cNvPr id="17" name="Text 15"/>
          <p:cNvSpPr txBox="1"/>
          <p:nvPr/>
        </p:nvSpPr>
        <p:spPr>
          <a:xfrm>
            <a:off x="6224016"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match itself, with real stakes.</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43</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Halving every 150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Regtest compresses the reward schedule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half = L.chain_facts(</a:t>
            </a:r>
            <a:r>
              <a:rPr lang="en-US" sz="1000" dirty="0">
                <a:solidFill>
                  <a:srgbClr val="9ECBFF"/>
                </a:solidFill>
                <a:latin typeface="Courier New" pitchFamily="34" charset="0"/>
                <a:ea typeface="Courier New" pitchFamily="34" charset="-122"/>
                <a:cs typeface="Courier New" pitchFamily="34" charset="-120"/>
              </a:rPr>
              <a:t>'regtest'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'halving'</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a:t>
            </a:r>
            <a:r>
              <a:rPr lang="en-US" sz="1000" dirty="0">
                <a:solidFill>
                  <a:srgbClr val="9ECBFF"/>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'149'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'150'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'299'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'300'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'450'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btc = [L.subsidy(int(h), half)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hs]</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R[</a:t>
            </a:r>
            <a:r>
              <a:rPr lang="en-US" sz="1000" dirty="0">
                <a:solidFill>
                  <a:srgbClr val="9ECBFF"/>
                </a:solidFill>
                <a:latin typeface="Courier New" pitchFamily="34" charset="0"/>
                <a:ea typeface="Courier New" pitchFamily="34" charset="-122"/>
                <a:cs typeface="Courier New" pitchFamily="34" charset="-120"/>
              </a:rPr>
              <a:t>'b2_subsidy'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all(L.subsidy(int(h), half) == s[h]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(half, btc, same)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(150, [50.0, 50.0, 25.0, 25.0, 12.5, 6.25],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Regtest halves the reward every 150 blocks, not every 210,000.</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reward in coins at chosen heights, from the library's own rule.</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rule gives the same numbers as the record of Core's 500 mined blocks.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 R its regtest record</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reward in coins by block height</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reward halves every 150 blocks; the rule matches Core's record: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Mine 500 blocks in seconds and see the reward halve three times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43</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block is an 80-byte header of six fields plus its transactions; its name is the double hash of the header.</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header names its parent, so changing one old block breaks every later link; a fork ends when one branch is longer.</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merkle tree puts all transactions under one root, and a path of a few hashes proves one of them.</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tree has a known weakness: repeating the last hash can give two lists one root, and Core refuses the copy.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Testnet, signet and regtest share the rules with other constants; each serves another stage of development.</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43</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Merkle tree vulnerabilities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Why a 64-byte transaction can fake an inner node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Signet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signet use and public signets  bitcoinops.org</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fee rate and mempool</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94: Testnet 4</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rules of the new test network and why it replaced testnet3</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325: Signet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a block on the signed test network proves its signer</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October 2008  bitcoin.org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Brownworth: Blockchain 101, a visual demo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Hashing, blocks and chains shown step by step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Chainlink: What Actually Are Merkle Trees?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 short animated explanation of Merkle trees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Brownworth demo,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43</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block is built and named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the chain resists change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merkle proof works and where it is weak</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test chain to use, and when</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43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11</dc:title>
  <dc:subject>PptxGenJS Presentation</dc:subject>
  <dc:creator>Yusuf Altunel</dc:creator>
  <cp:lastModifiedBy>Yusuf Altunel</cp:lastModifiedBy>
  <cp:revision>1</cp:revision>
  <dcterms:created xsi:type="dcterms:W3CDTF">2026-10-25T11:04:40Z</dcterms:created>
  <dcterms:modified xsi:type="dcterms:W3CDTF">2026-10-25T11:04:40Z</dcterms:modified>
  <cp:version>2.0.0</cp:version>
</cp:coreProperties>
</file>